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9" r:id="rId1"/>
  </p:sldMasterIdLst>
  <p:notesMasterIdLst>
    <p:notesMasterId r:id="rId27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6" r:id="rId13"/>
    <p:sldId id="267" r:id="rId14"/>
    <p:sldId id="268" r:id="rId15"/>
    <p:sldId id="269" r:id="rId16"/>
    <p:sldId id="273" r:id="rId17"/>
    <p:sldId id="274" r:id="rId18"/>
    <p:sldId id="275" r:id="rId19"/>
    <p:sldId id="276" r:id="rId20"/>
    <p:sldId id="278" r:id="rId21"/>
    <p:sldId id="279" r:id="rId22"/>
    <p:sldId id="280" r:id="rId23"/>
    <p:sldId id="277" r:id="rId24"/>
    <p:sldId id="270" r:id="rId25"/>
    <p:sldId id="271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30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286BD0-C2A7-49C6-BDEC-91020E067912}" type="datetimeFigureOut">
              <a:rPr lang="en-US" smtClean="0"/>
              <a:t>9/15/2009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B2E03E-6BBC-4737-93DF-0739B46FB23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2E03E-6BBC-4737-93DF-0739B46FB23E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33600" y="1371600"/>
            <a:ext cx="6477000" cy="1752600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3733800"/>
            <a:ext cx="6477000" cy="19812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7086600" y="6248400"/>
            <a:ext cx="15240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810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2209800" y="6248400"/>
            <a:ext cx="1219200" cy="457200"/>
          </a:xfrm>
        </p:spPr>
        <p:txBody>
          <a:bodyPr/>
          <a:lstStyle>
            <a:lvl1pPr>
              <a:defRPr/>
            </a:lvl1pPr>
          </a:lstStyle>
          <a:p>
            <a:fld id="{0D62D3CA-CFA1-4B03-B0AF-72AE2682F7DE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7175" name="Line 7"/>
          <p:cNvSpPr>
            <a:spLocks noChangeShapeType="1"/>
          </p:cNvSpPr>
          <p:nvPr/>
        </p:nvSpPr>
        <p:spPr bwMode="auto">
          <a:xfrm>
            <a:off x="1905000" y="1219200"/>
            <a:ext cx="0" cy="2057400"/>
          </a:xfrm>
          <a:prstGeom prst="line">
            <a:avLst/>
          </a:prstGeom>
          <a:noFill/>
          <a:ln w="34925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176" name="Oval 8"/>
          <p:cNvSpPr>
            <a:spLocks noChangeArrowheads="1"/>
          </p:cNvSpPr>
          <p:nvPr/>
        </p:nvSpPr>
        <p:spPr bwMode="auto">
          <a:xfrm>
            <a:off x="163513" y="2103438"/>
            <a:ext cx="347662" cy="347662"/>
          </a:xfrm>
          <a:prstGeom prst="ellipse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GB" sz="2400">
              <a:latin typeface="Times New Roman" pitchFamily="18" charset="0"/>
            </a:endParaRPr>
          </a:p>
        </p:txBody>
      </p:sp>
      <p:sp>
        <p:nvSpPr>
          <p:cNvPr id="7177" name="Oval 9"/>
          <p:cNvSpPr>
            <a:spLocks noChangeArrowheads="1"/>
          </p:cNvSpPr>
          <p:nvPr/>
        </p:nvSpPr>
        <p:spPr bwMode="auto">
          <a:xfrm>
            <a:off x="739775" y="2105025"/>
            <a:ext cx="349250" cy="347663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GB" sz="2400">
              <a:latin typeface="Times New Roman" pitchFamily="18" charset="0"/>
            </a:endParaRPr>
          </a:p>
        </p:txBody>
      </p:sp>
      <p:sp>
        <p:nvSpPr>
          <p:cNvPr id="7178" name="Oval 10"/>
          <p:cNvSpPr>
            <a:spLocks noChangeArrowheads="1"/>
          </p:cNvSpPr>
          <p:nvPr/>
        </p:nvSpPr>
        <p:spPr bwMode="auto">
          <a:xfrm>
            <a:off x="1317625" y="2105025"/>
            <a:ext cx="347663" cy="347663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GB" sz="240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008D89-F6C7-4322-877A-B1348C50FAF4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38B64C-8747-4529-B38E-FDFF7813B78B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54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288AD1-630F-4215-B3B5-BD634D629E6A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6847A3-B0F3-4EFB-B3AB-FAB47334D179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CB0F7C-3BBE-4C75-B24F-83F9220967AC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667493-4D20-4A89-A3EE-66D131804142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4D3829-D176-4C2B-B5EE-F379A0B1065D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E73054-C8D0-434F-A1B2-A95C60AD366D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57C3E7-F2A1-4198-8C87-5B68A6268596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90500"/>
            <a:ext cx="1752600" cy="58293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190500"/>
            <a:ext cx="5105400" cy="58293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D4AF5-5B06-473F-AF69-B86ACFB38013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190500"/>
            <a:ext cx="7010400" cy="152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905000"/>
            <a:ext cx="7010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endParaRPr lang="en-GB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n-GB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24000" y="6248400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0190DA80-69AB-4DCD-B2FD-C79DDBD12A6A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151" name="Line 7"/>
          <p:cNvSpPr>
            <a:spLocks noChangeShapeType="1"/>
          </p:cNvSpPr>
          <p:nvPr/>
        </p:nvSpPr>
        <p:spPr bwMode="auto">
          <a:xfrm flipV="1">
            <a:off x="1371600" y="304800"/>
            <a:ext cx="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52" name="Oval 8"/>
          <p:cNvSpPr>
            <a:spLocks noChangeArrowheads="1"/>
          </p:cNvSpPr>
          <p:nvPr/>
        </p:nvSpPr>
        <p:spPr bwMode="auto">
          <a:xfrm>
            <a:off x="152400" y="8382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GB" sz="2400">
              <a:latin typeface="Times New Roman" pitchFamily="18" charset="0"/>
            </a:endParaRPr>
          </a:p>
        </p:txBody>
      </p:sp>
      <p:sp>
        <p:nvSpPr>
          <p:cNvPr id="6153" name="Oval 9"/>
          <p:cNvSpPr>
            <a:spLocks noChangeArrowheads="1"/>
          </p:cNvSpPr>
          <p:nvPr/>
        </p:nvSpPr>
        <p:spPr bwMode="auto">
          <a:xfrm>
            <a:off x="539750" y="838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GB" sz="2400">
              <a:latin typeface="Times New Roman" pitchFamily="18" charset="0"/>
            </a:endParaRPr>
          </a:p>
        </p:txBody>
      </p:sp>
      <p:sp>
        <p:nvSpPr>
          <p:cNvPr id="6154" name="Oval 10"/>
          <p:cNvSpPr>
            <a:spLocks noChangeArrowheads="1"/>
          </p:cNvSpPr>
          <p:nvPr/>
        </p:nvSpPr>
        <p:spPr bwMode="auto">
          <a:xfrm>
            <a:off x="927100" y="838200"/>
            <a:ext cx="228600" cy="228600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GB" sz="24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itchFamily="2" charset="2"/>
        <a:buChar char="¢"/>
        <a:defRPr sz="30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l"/>
        <a:defRPr sz="2800">
          <a:solidFill>
            <a:schemeClr val="tx2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2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httpd.apache.org/docs-2.0/mod/mod_access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httpd.apache.org/docs/2.0/mod/core.html#allowoverrid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secure.org/tools.html" TargetMode="External"/><Relationship Id="rId7" Type="http://schemas.openxmlformats.org/officeDocument/2006/relationships/hyperlink" Target="http://www.saintcorporation.com/products/saint_engine.htm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-arc.com/sara/" TargetMode="External"/><Relationship Id="rId5" Type="http://schemas.openxmlformats.org/officeDocument/2006/relationships/hyperlink" Target="http://www.nessus.org/" TargetMode="External"/><Relationship Id="rId4" Type="http://schemas.openxmlformats.org/officeDocument/2006/relationships/hyperlink" Target="http://www.cirt.net/code/nikto.shtml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httpd.apache.org/docs/2.0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httpd.apache.org/docs/2.0/howto/auth.html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Apache Web Server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Apache Overview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Process control:</a:t>
            </a:r>
          </a:p>
          <a:p>
            <a:pPr lvl="1"/>
            <a:r>
              <a:rPr lang="en-GB"/>
              <a:t>Spawn processes before needed</a:t>
            </a:r>
          </a:p>
          <a:p>
            <a:pPr lvl="1"/>
            <a:r>
              <a:rPr lang="en-GB"/>
              <a:t>Adapt number of processes to demand</a:t>
            </a:r>
          </a:p>
          <a:p>
            <a:r>
              <a:rPr lang="en-GB"/>
              <a:t>Dynamic module loading:</a:t>
            </a:r>
          </a:p>
          <a:p>
            <a:pPr lvl="1"/>
            <a:r>
              <a:rPr lang="en-GB"/>
              <a:t>Run-time extensibility without recompiling</a:t>
            </a:r>
          </a:p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Core and other modules</a:t>
            </a:r>
          </a:p>
        </p:txBody>
      </p:sp>
      <p:pic>
        <p:nvPicPr>
          <p:cNvPr id="26632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68538" y="1916113"/>
            <a:ext cx="4895850" cy="451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Apache 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Virtual Hosts:</a:t>
            </a:r>
          </a:p>
          <a:p>
            <a:pPr lvl="1"/>
            <a:r>
              <a:rPr lang="en-GB"/>
              <a:t>Multiple web sites may share the same web server</a:t>
            </a:r>
          </a:p>
          <a:p>
            <a:pPr lvl="1"/>
            <a:r>
              <a:rPr lang="en-GB"/>
              <a:t>Must be able to resolve website name for multiple websites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Apache Configuration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Main server configuration stored in /etc/apache2/apache2.conf</a:t>
            </a:r>
          </a:p>
          <a:p>
            <a:pPr lvl="1"/>
            <a:r>
              <a:rPr lang="en-GB"/>
              <a:t>Controls general web server parameters, regular virtual hosts and access</a:t>
            </a:r>
          </a:p>
          <a:p>
            <a:pPr lvl="1"/>
            <a:r>
              <a:rPr lang="en-GB"/>
              <a:t>Defines the filenames and mime-types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Apache Configuration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Sample module configuration files are stored in /etc/apache2/mods-available</a:t>
            </a:r>
          </a:p>
          <a:p>
            <a:pPr lvl="1"/>
            <a:r>
              <a:rPr lang="en-GB"/>
              <a:t>Enabled module configurations files are symbolic linked to /etc/apache2/mods-enabled</a:t>
            </a:r>
          </a:p>
          <a:p>
            <a:r>
              <a:rPr lang="en-GB"/>
              <a:t>DocumentRoot default </a:t>
            </a:r>
          </a:p>
          <a:p>
            <a:pPr lvl="1"/>
            <a:r>
              <a:rPr lang="en-GB"/>
              <a:t>/var/www/</a:t>
            </a:r>
          </a:p>
          <a:p>
            <a:pPr lvl="1">
              <a:buFont typeface="Wingdings" pitchFamily="2" charset="2"/>
              <a:buNone/>
            </a:pPr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Apache Configuration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Virtual hosts</a:t>
            </a:r>
          </a:p>
          <a:p>
            <a:pPr lvl="1"/>
            <a:r>
              <a:rPr lang="en-GB" dirty="0"/>
              <a:t>Declare at /etc/apache2/sites-enabled/</a:t>
            </a:r>
          </a:p>
          <a:p>
            <a:pPr lvl="1"/>
            <a:r>
              <a:rPr lang="en-GB" dirty="0"/>
              <a:t>Sample configuration files can be copied or linked from /etc/apache2/sites-available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Virtual Hosts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GB"/>
              <a:t>&lt;VirtualHost 192.168.0.100</a:t>
            </a:r>
            <a:r>
              <a:rPr lang="en-GB" i="1"/>
              <a:t>:&lt;port&gt;</a:t>
            </a:r>
            <a:r>
              <a:rPr lang="en-GB"/>
              <a:t>&gt;</a:t>
            </a:r>
          </a:p>
          <a:p>
            <a:pPr>
              <a:buFont typeface="Wingdings" pitchFamily="2" charset="2"/>
              <a:buNone/>
            </a:pPr>
            <a:r>
              <a:rPr lang="en-GB"/>
              <a:t>	ServerName test.domain.com</a:t>
            </a:r>
          </a:p>
          <a:p>
            <a:pPr>
              <a:buFont typeface="Wingdings" pitchFamily="2" charset="2"/>
              <a:buNone/>
            </a:pPr>
            <a:r>
              <a:rPr lang="en-GB"/>
              <a:t>	DocumentRoot /&lt;path&gt;</a:t>
            </a:r>
          </a:p>
          <a:p>
            <a:pPr>
              <a:buFont typeface="Wingdings" pitchFamily="2" charset="2"/>
              <a:buNone/>
            </a:pPr>
            <a:r>
              <a:rPr lang="en-GB"/>
              <a:t>&lt;/VirtualHost&gt;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Apache Access Configuration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Apache provides directory and file-level host based access control</a:t>
            </a:r>
          </a:p>
          <a:p>
            <a:r>
              <a:rPr lang="en-GB"/>
              <a:t>Host specifications may include dot notation, numeric, network/netmask, and dot notation hostnames and domains.</a:t>
            </a:r>
          </a:p>
          <a:p>
            <a:r>
              <a:rPr lang="en-US">
                <a:hlinkClick r:id="rId3"/>
              </a:rPr>
              <a:t>http://httpd.apache.org/docs-2.0/mod/mod_access.html</a:t>
            </a:r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Apache Access Configuration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GB" sz="2500"/>
              <a:t>The </a:t>
            </a:r>
            <a:r>
              <a:rPr lang="en-GB" sz="2500" b="1">
                <a:latin typeface="Courier New" pitchFamily="49" charset="0"/>
              </a:rPr>
              <a:t>order</a:t>
            </a:r>
            <a:r>
              <a:rPr lang="en-GB" sz="2500"/>
              <a:t> statement provides control over “order”, but not always in the way one might expect.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GB" sz="2500"/>
          </a:p>
          <a:p>
            <a:pPr>
              <a:lnSpc>
                <a:spcPct val="80000"/>
              </a:lnSpc>
            </a:pPr>
            <a:r>
              <a:rPr lang="en-GB" sz="2500"/>
              <a:t>order allow,deny</a:t>
            </a:r>
          </a:p>
          <a:p>
            <a:pPr lvl="1">
              <a:lnSpc>
                <a:spcPct val="80000"/>
              </a:lnSpc>
            </a:pPr>
            <a:r>
              <a:rPr lang="en-GB" sz="2400"/>
              <a:t>Allows explicitly allowed clients, denies everyone else; clients matched by both allow and deny are denied</a:t>
            </a:r>
          </a:p>
          <a:p>
            <a:pPr>
              <a:lnSpc>
                <a:spcPct val="80000"/>
              </a:lnSpc>
            </a:pPr>
            <a:r>
              <a:rPr lang="en-GB" sz="2500"/>
              <a:t>order deny,allow</a:t>
            </a:r>
          </a:p>
          <a:p>
            <a:pPr lvl="1">
              <a:lnSpc>
                <a:spcPct val="80000"/>
              </a:lnSpc>
            </a:pPr>
            <a:r>
              <a:rPr lang="en-GB" sz="2400"/>
              <a:t>Denies explicitly denied clients, allows everyone else, clients matched by both allow and deny are allowed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Apache Access Configuration Example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GB"/>
              <a:t>&lt;Directory&gt;</a:t>
            </a:r>
          </a:p>
          <a:p>
            <a:pPr>
              <a:buFont typeface="Wingdings" pitchFamily="2" charset="2"/>
              <a:buNone/>
            </a:pPr>
            <a:r>
              <a:rPr lang="en-GB"/>
              <a:t>	order allow, deny</a:t>
            </a:r>
          </a:p>
          <a:p>
            <a:pPr>
              <a:buFont typeface="Wingdings" pitchFamily="2" charset="2"/>
              <a:buNone/>
            </a:pPr>
            <a:r>
              <a:rPr lang="en-GB"/>
              <a:t>	allow from  .example.com</a:t>
            </a:r>
          </a:p>
          <a:p>
            <a:pPr>
              <a:buFont typeface="Wingdings" pitchFamily="2" charset="2"/>
              <a:buNone/>
            </a:pPr>
            <a:r>
              <a:rPr lang="en-GB"/>
              <a:t>&lt;/Directory&gt;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Securing Access to Website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Prompt the user for valid credentials before allowing access to the site contents or directories</a:t>
            </a:r>
          </a:p>
          <a:p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Configuring Secure Access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600"/>
              <a:t>Add the following lines to the respective sections of &lt;Directory&gt; in the &lt;VirtualHost&gt; to allow </a:t>
            </a:r>
            <a:r>
              <a:rPr lang="en-US" sz="2600"/>
              <a:t>use of the authorization directives</a:t>
            </a:r>
            <a:r>
              <a:rPr lang="en-GB" sz="2600"/>
              <a:t>:</a:t>
            </a:r>
          </a:p>
          <a:p>
            <a:pPr>
              <a:buFont typeface="Wingdings" pitchFamily="2" charset="2"/>
              <a:buNone/>
            </a:pPr>
            <a:r>
              <a:rPr lang="en-GB" sz="2600"/>
              <a:t>	</a:t>
            </a:r>
          </a:p>
          <a:p>
            <a:pPr>
              <a:buFont typeface="Wingdings" pitchFamily="2" charset="2"/>
              <a:buNone/>
            </a:pPr>
            <a:r>
              <a:rPr lang="en-GB" sz="2600"/>
              <a:t>		AllowOverride AuthConfig</a:t>
            </a:r>
          </a:p>
          <a:p>
            <a:pPr>
              <a:buFont typeface="Wingdings" pitchFamily="2" charset="2"/>
              <a:buNone/>
            </a:pPr>
            <a:endParaRPr lang="en-GB" sz="2600"/>
          </a:p>
          <a:p>
            <a:pPr>
              <a:buFont typeface="Wingdings" pitchFamily="2" charset="2"/>
              <a:buNone/>
            </a:pPr>
            <a:r>
              <a:rPr lang="en-GB">
                <a:hlinkClick r:id="rId3"/>
              </a:rPr>
              <a:t>http://httpd.apache.org/docs/2.0/mod/core.html#allowoverride</a:t>
            </a:r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Configuring Secure Access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600"/>
              <a:t>Create a new hidden file to state authentication parameters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GB" sz="220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GB" sz="2600"/>
              <a:t>E.G /etc/apache2/.htaccess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GB" sz="260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GB" sz="2600"/>
              <a:t>AuthName		&lt;Description&gt;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GB" sz="2600"/>
              <a:t>AuthType		Basic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GB" sz="2600"/>
              <a:t>AuthUserFile	&lt;password filename&gt;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GB" sz="2600"/>
              <a:t>require		valid-user</a:t>
            </a:r>
            <a:endParaRPr lang="en-GB" sz="3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Configuring Secure Access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GB" sz="2600"/>
              <a:t>Create the password file by running the command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GB" sz="260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GB" sz="2600"/>
              <a:t>htpasswd -mc /etc/apache2/&lt;password filename&gt;  &lt;username&gt;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GB" sz="260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GB" sz="2600"/>
              <a:t>To Run in script use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GB" sz="260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GB" sz="2600"/>
              <a:t>htpasswd –bmc /etc/apache2/&lt;password filename&gt; &lt;username&gt; &lt;password&gt;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Apache Security Feature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User www-data</a:t>
            </a:r>
          </a:p>
          <a:p>
            <a:r>
              <a:rPr lang="en-US"/>
              <a:t>Group www-data</a:t>
            </a:r>
          </a:p>
          <a:p>
            <a:r>
              <a:rPr lang="en-US"/>
              <a:t>HostnameLookups Off</a:t>
            </a:r>
          </a:p>
          <a:p>
            <a:r>
              <a:rPr lang="en-US"/>
              <a:t>ServerSignature Off</a:t>
            </a:r>
          </a:p>
          <a:p>
            <a:r>
              <a:rPr lang="en-US"/>
              <a:t>ServerTokens ProductOnly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Server Header Field 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1258888" y="1916113"/>
            <a:ext cx="7343775" cy="338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latin typeface="Courier New" pitchFamily="49" charset="0"/>
              </a:rPr>
              <a:t>debian:/# telnet localhost 80</a:t>
            </a:r>
          </a:p>
          <a:p>
            <a:r>
              <a:rPr lang="en-US">
                <a:latin typeface="Courier New" pitchFamily="49" charset="0"/>
              </a:rPr>
              <a:t>Trying 127.0.0.1...</a:t>
            </a:r>
          </a:p>
          <a:p>
            <a:r>
              <a:rPr lang="en-US">
                <a:latin typeface="Courier New" pitchFamily="49" charset="0"/>
              </a:rPr>
              <a:t>Connected to localhost.</a:t>
            </a:r>
          </a:p>
          <a:p>
            <a:r>
              <a:rPr lang="en-US">
                <a:latin typeface="Courier New" pitchFamily="49" charset="0"/>
              </a:rPr>
              <a:t>Escape character is '^]'.</a:t>
            </a:r>
          </a:p>
          <a:p>
            <a:r>
              <a:rPr lang="en-US">
                <a:latin typeface="Courier New" pitchFamily="49" charset="0"/>
              </a:rPr>
              <a:t>HEAD / HTTP/1.0</a:t>
            </a:r>
          </a:p>
          <a:p>
            <a:endParaRPr lang="en-US">
              <a:latin typeface="Courier New" pitchFamily="49" charset="0"/>
            </a:endParaRPr>
          </a:p>
          <a:p>
            <a:r>
              <a:rPr lang="en-US">
                <a:latin typeface="Courier New" pitchFamily="49" charset="0"/>
              </a:rPr>
              <a:t>HTTP/1.1 302 Found</a:t>
            </a:r>
          </a:p>
          <a:p>
            <a:r>
              <a:rPr lang="en-US">
                <a:latin typeface="Courier New" pitchFamily="49" charset="0"/>
              </a:rPr>
              <a:t>Date: Wed, 16 May 2007 02:54:21 GMT</a:t>
            </a:r>
          </a:p>
          <a:p>
            <a:r>
              <a:rPr lang="en-US" b="1">
                <a:latin typeface="Courier New" pitchFamily="49" charset="0"/>
              </a:rPr>
              <a:t>Server: Apache/2.2.3 (Debian)</a:t>
            </a:r>
          </a:p>
          <a:p>
            <a:r>
              <a:rPr lang="en-US">
                <a:latin typeface="Courier New" pitchFamily="49" charset="0"/>
              </a:rPr>
              <a:t>Location: http://debian.localdomain/apache2-default/</a:t>
            </a:r>
          </a:p>
          <a:p>
            <a:r>
              <a:rPr lang="en-US">
                <a:latin typeface="Courier New" pitchFamily="49" charset="0"/>
              </a:rPr>
              <a:t>Connection: close</a:t>
            </a:r>
          </a:p>
          <a:p>
            <a:r>
              <a:rPr lang="en-US">
                <a:latin typeface="Courier New" pitchFamily="49" charset="0"/>
              </a:rPr>
              <a:t>Content-Type: text/html; charset=iso-8859-1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Server Header Field 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1258888" y="1916113"/>
            <a:ext cx="6769100" cy="421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latin typeface="Courier New" pitchFamily="49" charset="0"/>
              </a:rPr>
              <a:t>debian:/# telnet www.nyp.edu.sg 80</a:t>
            </a:r>
          </a:p>
          <a:p>
            <a:r>
              <a:rPr lang="en-US">
                <a:latin typeface="Courier New" pitchFamily="49" charset="0"/>
              </a:rPr>
              <a:t>Trying 172.22.16.100...</a:t>
            </a:r>
          </a:p>
          <a:p>
            <a:r>
              <a:rPr lang="en-US">
                <a:latin typeface="Courier New" pitchFamily="49" charset="0"/>
              </a:rPr>
              <a:t>Connected to www.nyp.edu.sg.</a:t>
            </a:r>
          </a:p>
          <a:p>
            <a:r>
              <a:rPr lang="en-US">
                <a:latin typeface="Courier New" pitchFamily="49" charset="0"/>
              </a:rPr>
              <a:t>Escape character is '^]'.</a:t>
            </a:r>
          </a:p>
          <a:p>
            <a:r>
              <a:rPr lang="en-US">
                <a:latin typeface="Courier New" pitchFamily="49" charset="0"/>
              </a:rPr>
              <a:t>HEAD / HTTP/1.0</a:t>
            </a:r>
          </a:p>
          <a:p>
            <a:endParaRPr lang="en-US">
              <a:latin typeface="Courier New" pitchFamily="49" charset="0"/>
            </a:endParaRPr>
          </a:p>
          <a:p>
            <a:r>
              <a:rPr lang="en-US">
                <a:latin typeface="Courier New" pitchFamily="49" charset="0"/>
              </a:rPr>
              <a:t>HTTP/1.1 200 OK</a:t>
            </a:r>
          </a:p>
          <a:p>
            <a:r>
              <a:rPr lang="en-US">
                <a:latin typeface="Courier New" pitchFamily="49" charset="0"/>
              </a:rPr>
              <a:t>Date: Wed, 16 May 2007 02:58:37 GMT</a:t>
            </a:r>
          </a:p>
          <a:p>
            <a:r>
              <a:rPr lang="en-US" b="1">
                <a:latin typeface="Courier New" pitchFamily="49" charset="0"/>
              </a:rPr>
              <a:t>Server: NYP</a:t>
            </a:r>
          </a:p>
          <a:p>
            <a:r>
              <a:rPr lang="en-US">
                <a:latin typeface="Courier New" pitchFamily="49" charset="0"/>
              </a:rPr>
              <a:t>Last-Modified: Thu, 10 May 2007 09:59:44 GMT</a:t>
            </a:r>
          </a:p>
          <a:p>
            <a:r>
              <a:rPr lang="en-US">
                <a:latin typeface="Courier New" pitchFamily="49" charset="0"/>
              </a:rPr>
              <a:t>ETag: "11036a-983e-b5c96400"</a:t>
            </a:r>
          </a:p>
          <a:p>
            <a:r>
              <a:rPr lang="en-US">
                <a:latin typeface="Courier New" pitchFamily="49" charset="0"/>
              </a:rPr>
              <a:t>Accept-Ranges: bytes</a:t>
            </a:r>
          </a:p>
          <a:p>
            <a:r>
              <a:rPr lang="en-US">
                <a:latin typeface="Courier New" pitchFamily="49" charset="0"/>
              </a:rPr>
              <a:t>Content-Length: 38974</a:t>
            </a:r>
          </a:p>
          <a:p>
            <a:r>
              <a:rPr lang="en-US">
                <a:latin typeface="Courier New" pitchFamily="49" charset="0"/>
              </a:rPr>
              <a:t>Connection: close</a:t>
            </a:r>
          </a:p>
          <a:p>
            <a:r>
              <a:rPr lang="en-US">
                <a:latin typeface="Courier New" pitchFamily="49" charset="0"/>
              </a:rPr>
              <a:t>Content-Type: text/html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Server Header Field 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05000"/>
            <a:ext cx="7850187" cy="4114800"/>
          </a:xfrm>
        </p:spPr>
        <p:txBody>
          <a:bodyPr/>
          <a:lstStyle/>
          <a:p>
            <a:r>
              <a:rPr lang="en-US"/>
              <a:t>Changing the name in the source code </a:t>
            </a:r>
          </a:p>
          <a:p>
            <a:r>
              <a:rPr lang="en-US"/>
              <a:t>Changing the name using mod_security</a:t>
            </a:r>
          </a:p>
          <a:p>
            <a:r>
              <a:rPr lang="en-US"/>
              <a:t>Changing the name using mod_headers with Apache 2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Apache Security Modules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mod_security</a:t>
            </a:r>
          </a:p>
          <a:p>
            <a:pPr lvl="1"/>
            <a:r>
              <a:rPr lang="en-US"/>
              <a:t>Open source Intrusion Detection and Prevention module for Web applications </a:t>
            </a:r>
          </a:p>
          <a:p>
            <a:r>
              <a:rPr lang="en-US"/>
              <a:t>mod_bandwidth </a:t>
            </a:r>
          </a:p>
          <a:p>
            <a:pPr lvl="1"/>
            <a:r>
              <a:rPr lang="en-US"/>
              <a:t>Limits bandwidth uses per virtual server depending on the number of connections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Apache Security Modules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mod_dosevasive</a:t>
            </a:r>
          </a:p>
          <a:p>
            <a:pPr lvl="1"/>
            <a:r>
              <a:rPr lang="en-US"/>
              <a:t>Module to provide evasive maneuvers during DOS or brute-force attacks to both conserve CPU and bandwidth, and serve as a means of detection. </a:t>
            </a:r>
          </a:p>
          <a:p>
            <a:r>
              <a:rPr lang="en-US"/>
              <a:t>mod_parmguard </a:t>
            </a:r>
          </a:p>
          <a:p>
            <a:pPr lvl="1"/>
            <a:r>
              <a:rPr lang="en-US"/>
              <a:t>Checks the script parameters' consistency and blocks evil requests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Apache Security Modules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mod_hackprotect </a:t>
            </a:r>
          </a:p>
          <a:p>
            <a:pPr lvl="1">
              <a:lnSpc>
                <a:spcPct val="90000"/>
              </a:lnSpc>
            </a:pPr>
            <a:r>
              <a:rPr lang="en-US"/>
              <a:t>detects brute-force password hacking attempts, and bans offending IPs automatically. </a:t>
            </a:r>
          </a:p>
          <a:p>
            <a:pPr>
              <a:lnSpc>
                <a:spcPct val="90000"/>
              </a:lnSpc>
            </a:pPr>
            <a:r>
              <a:rPr lang="en-US"/>
              <a:t>mod_hackdetect </a:t>
            </a:r>
          </a:p>
          <a:p>
            <a:pPr lvl="1">
              <a:lnSpc>
                <a:spcPct val="90000"/>
              </a:lnSpc>
            </a:pPr>
            <a:r>
              <a:rPr lang="en-US"/>
              <a:t>detects leaked passwords via increase in traffic for a user account, and runs a custom script to deactivate the user and/or notify an administrator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905000"/>
            <a:ext cx="7369175" cy="469265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700"/>
              <a:t>Putting Apache in Jail </a:t>
            </a:r>
          </a:p>
          <a:p>
            <a:pPr>
              <a:lnSpc>
                <a:spcPct val="80000"/>
              </a:lnSpc>
            </a:pPr>
            <a:r>
              <a:rPr lang="en-US" sz="1700"/>
              <a:t>Vulnerability Scanners and Searching Tools</a:t>
            </a:r>
          </a:p>
          <a:p>
            <a:pPr>
              <a:lnSpc>
                <a:spcPct val="80000"/>
              </a:lnSpc>
            </a:pPr>
            <a:r>
              <a:rPr lang="en-US" sz="1700" b="1"/>
              <a:t>Insecure.org's top 75 Security Tools</a:t>
            </a:r>
          </a:p>
          <a:p>
            <a:pPr lvl="1">
              <a:lnSpc>
                <a:spcPct val="80000"/>
              </a:lnSpc>
            </a:pPr>
            <a:r>
              <a:rPr lang="en-US" sz="1600">
                <a:hlinkClick r:id="rId3"/>
              </a:rPr>
              <a:t>http://www.insecure.org/tools.html</a:t>
            </a:r>
            <a:endParaRPr lang="en-US" sz="1600"/>
          </a:p>
          <a:p>
            <a:pPr lvl="1">
              <a:lnSpc>
                <a:spcPct val="80000"/>
              </a:lnSpc>
            </a:pPr>
            <a:r>
              <a:rPr lang="en-US" sz="1600"/>
              <a:t>A valuable resource that lists the most important security programs available today.</a:t>
            </a:r>
          </a:p>
          <a:p>
            <a:pPr>
              <a:lnSpc>
                <a:spcPct val="80000"/>
              </a:lnSpc>
            </a:pPr>
            <a:r>
              <a:rPr lang="en-US" sz="1700" b="1"/>
              <a:t>Nikto</a:t>
            </a:r>
          </a:p>
          <a:p>
            <a:pPr lvl="1">
              <a:lnSpc>
                <a:spcPct val="80000"/>
              </a:lnSpc>
            </a:pPr>
            <a:r>
              <a:rPr lang="en-US" sz="1600">
                <a:hlinkClick r:id="rId4"/>
              </a:rPr>
              <a:t>http://www.cirt.net/code/nikto.shtml</a:t>
            </a:r>
            <a:endParaRPr lang="en-US" sz="1600"/>
          </a:p>
          <a:p>
            <a:pPr lvl="1">
              <a:lnSpc>
                <a:spcPct val="80000"/>
              </a:lnSpc>
            </a:pPr>
            <a:r>
              <a:rPr lang="en-US" sz="1600"/>
              <a:t>A powerful, free web server scanner.</a:t>
            </a:r>
          </a:p>
          <a:p>
            <a:pPr>
              <a:lnSpc>
                <a:spcPct val="80000"/>
              </a:lnSpc>
            </a:pPr>
            <a:r>
              <a:rPr lang="en-US" sz="1700" b="1"/>
              <a:t>Nessus</a:t>
            </a:r>
          </a:p>
          <a:p>
            <a:pPr lvl="1">
              <a:lnSpc>
                <a:spcPct val="80000"/>
              </a:lnSpc>
            </a:pPr>
            <a:r>
              <a:rPr lang="en-US" sz="1600">
                <a:hlinkClick r:id="rId5"/>
              </a:rPr>
              <a:t>http://www.nessus.org</a:t>
            </a:r>
            <a:endParaRPr lang="en-US" sz="1600"/>
          </a:p>
          <a:p>
            <a:pPr lvl="1">
              <a:lnSpc>
                <a:spcPct val="80000"/>
              </a:lnSpc>
            </a:pPr>
            <a:r>
              <a:rPr lang="en-US" sz="1600"/>
              <a:t>Probably the best known and most powerful vulnerability assessment tool existing today.</a:t>
            </a:r>
          </a:p>
          <a:p>
            <a:pPr>
              <a:lnSpc>
                <a:spcPct val="80000"/>
              </a:lnSpc>
            </a:pPr>
            <a:r>
              <a:rPr lang="en-US" sz="1700" b="1"/>
              <a:t>SARA</a:t>
            </a:r>
          </a:p>
          <a:p>
            <a:pPr lvl="1">
              <a:lnSpc>
                <a:spcPct val="80000"/>
              </a:lnSpc>
            </a:pPr>
            <a:r>
              <a:rPr lang="en-US" sz="1600">
                <a:hlinkClick r:id="rId6"/>
              </a:rPr>
              <a:t>http://www-arc.com/sara/</a:t>
            </a:r>
            <a:endParaRPr lang="en-US" sz="1600"/>
          </a:p>
          <a:p>
            <a:pPr lvl="1">
              <a:lnSpc>
                <a:spcPct val="80000"/>
              </a:lnSpc>
            </a:pPr>
            <a:r>
              <a:rPr lang="en-US" sz="1600"/>
              <a:t>A free assessment tool derived from SATAN.</a:t>
            </a:r>
          </a:p>
          <a:p>
            <a:pPr>
              <a:lnSpc>
                <a:spcPct val="80000"/>
              </a:lnSpc>
            </a:pPr>
            <a:r>
              <a:rPr lang="en-US" sz="1700" b="1"/>
              <a:t>SAINT</a:t>
            </a:r>
          </a:p>
          <a:p>
            <a:pPr lvl="1">
              <a:lnSpc>
                <a:spcPct val="80000"/>
              </a:lnSpc>
            </a:pPr>
            <a:r>
              <a:rPr lang="en-US" sz="1600">
                <a:hlinkClick r:id="rId7"/>
              </a:rPr>
              <a:t>http://www.saintcorporation.com/products/saint_engine.html</a:t>
            </a:r>
            <a:endParaRPr lang="en-US" sz="1600"/>
          </a:p>
          <a:p>
            <a:pPr lvl="1">
              <a:lnSpc>
                <a:spcPct val="80000"/>
              </a:lnSpc>
            </a:pPr>
            <a:r>
              <a:rPr lang="en-US" sz="1600"/>
              <a:t>A commercial assessment tool for Unix.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Useful Websites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905000"/>
            <a:ext cx="7634287" cy="4114800"/>
          </a:xfrm>
        </p:spPr>
        <p:txBody>
          <a:bodyPr/>
          <a:lstStyle/>
          <a:p>
            <a:r>
              <a:rPr lang="en-GB"/>
              <a:t>General Tutorials and guides</a:t>
            </a:r>
          </a:p>
          <a:p>
            <a:pPr>
              <a:buFont typeface="Wingdings" pitchFamily="2" charset="2"/>
              <a:buNone/>
            </a:pPr>
            <a:r>
              <a:rPr lang="en-GB">
                <a:hlinkClick r:id="rId3"/>
              </a:rPr>
              <a:t>http://httpd.apache.org/docs/2.0/</a:t>
            </a:r>
            <a:endParaRPr lang="en-GB"/>
          </a:p>
          <a:p>
            <a:pPr>
              <a:buFont typeface="Wingdings" pitchFamily="2" charset="2"/>
              <a:buNone/>
            </a:pPr>
            <a:endParaRPr lang="en-GB"/>
          </a:p>
          <a:p>
            <a:r>
              <a:rPr lang="en-GB"/>
              <a:t>Authentication</a:t>
            </a:r>
          </a:p>
          <a:p>
            <a:pPr>
              <a:buFont typeface="Wingdings" pitchFamily="2" charset="2"/>
              <a:buNone/>
            </a:pPr>
            <a:r>
              <a:rPr lang="en-GB" sz="2600">
                <a:hlinkClick r:id="rId4"/>
              </a:rPr>
              <a:t>http://httpd.apache.org/docs/2.0/howto/auth.html</a:t>
            </a:r>
            <a:endParaRPr lang="en-GB" sz="2600"/>
          </a:p>
          <a:p>
            <a:pPr>
              <a:buFont typeface="Wingdings" pitchFamily="2" charset="2"/>
              <a:buNone/>
            </a:pPr>
            <a:endParaRPr lang="en-GB" sz="2600"/>
          </a:p>
          <a:p>
            <a:pPr>
              <a:buFont typeface="Wingdings" pitchFamily="2" charset="2"/>
              <a:buNone/>
            </a:pPr>
            <a:endParaRPr lang="en-GB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Questions?</a:t>
            </a:r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Apache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ho">
  <a:themeElements>
    <a:clrScheme name="Echo 7">
      <a:dk1>
        <a:srgbClr val="336666"/>
      </a:dk1>
      <a:lt1>
        <a:srgbClr val="FFFFFF"/>
      </a:lt1>
      <a:dk2>
        <a:srgbClr val="000000"/>
      </a:dk2>
      <a:lt2>
        <a:srgbClr val="666699"/>
      </a:lt2>
      <a:accent1>
        <a:srgbClr val="99CCCC"/>
      </a:accent1>
      <a:accent2>
        <a:srgbClr val="CCCCCC"/>
      </a:accent2>
      <a:accent3>
        <a:srgbClr val="FFFFFF"/>
      </a:accent3>
      <a:accent4>
        <a:srgbClr val="2A5656"/>
      </a:accent4>
      <a:accent5>
        <a:srgbClr val="CAE2E2"/>
      </a:accent5>
      <a:accent6>
        <a:srgbClr val="B9B9B9"/>
      </a:accent6>
      <a:hlink>
        <a:srgbClr val="006666"/>
      </a:hlink>
      <a:folHlink>
        <a:srgbClr val="B2B2B2"/>
      </a:folHlink>
    </a:clrScheme>
    <a:fontScheme name="Ech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cho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Echo</Template>
  <TotalTime>0</TotalTime>
  <Words>732</Words>
  <Application>Microsoft Office PowerPoint</Application>
  <PresentationFormat>On-screen Show (4:3)</PresentationFormat>
  <Paragraphs>176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Times New Roman</vt:lpstr>
      <vt:lpstr>Arial</vt:lpstr>
      <vt:lpstr>Wingdings</vt:lpstr>
      <vt:lpstr>Courier New</vt:lpstr>
      <vt:lpstr>Echo</vt:lpstr>
      <vt:lpstr>Apache Web Server</vt:lpstr>
      <vt:lpstr>Apache Overview</vt:lpstr>
      <vt:lpstr>Core and other modules</vt:lpstr>
      <vt:lpstr>Apache Overview</vt:lpstr>
      <vt:lpstr>Apache Configuration</vt:lpstr>
      <vt:lpstr>Apache Configuration</vt:lpstr>
      <vt:lpstr>Apache Configuration</vt:lpstr>
      <vt:lpstr>Virtual Hosts</vt:lpstr>
      <vt:lpstr>Apache Access Configuration</vt:lpstr>
      <vt:lpstr>Apache Access Configuration</vt:lpstr>
      <vt:lpstr>Apache Access Configuration Example</vt:lpstr>
      <vt:lpstr>Securing Access to Website</vt:lpstr>
      <vt:lpstr>Configuring Secure Access</vt:lpstr>
      <vt:lpstr>Configuring Secure Access</vt:lpstr>
      <vt:lpstr>Configuring Secure Access</vt:lpstr>
      <vt:lpstr>Apache Security Feature</vt:lpstr>
      <vt:lpstr>Server Header Field </vt:lpstr>
      <vt:lpstr>Server Header Field </vt:lpstr>
      <vt:lpstr>Server Header Field </vt:lpstr>
      <vt:lpstr>Apache Security Modules</vt:lpstr>
      <vt:lpstr>Apache Security Modules</vt:lpstr>
      <vt:lpstr>Apache Security Modules</vt:lpstr>
      <vt:lpstr>Others</vt:lpstr>
      <vt:lpstr>Useful Websites</vt:lpstr>
      <vt:lpstr>Questions?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2009-09-14T17:00:44Z</dcterms:created>
  <dcterms:modified xsi:type="dcterms:W3CDTF">2009-09-14T17:00:47Z</dcterms:modified>
</cp:coreProperties>
</file>