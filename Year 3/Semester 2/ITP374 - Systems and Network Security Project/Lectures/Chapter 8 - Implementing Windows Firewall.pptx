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3" r:id="rId1"/>
  </p:sldMasterIdLst>
  <p:notesMasterIdLst>
    <p:notesMasterId r:id="rId13"/>
  </p:notesMasterIdLst>
  <p:sldIdLst>
    <p:sldId id="256" r:id="rId2"/>
    <p:sldId id="257" r:id="rId3"/>
    <p:sldId id="258" r:id="rId4"/>
    <p:sldId id="260" r:id="rId5"/>
    <p:sldId id="270" r:id="rId6"/>
    <p:sldId id="271" r:id="rId7"/>
    <p:sldId id="261" r:id="rId8"/>
    <p:sldId id="267" r:id="rId9"/>
    <p:sldId id="268" r:id="rId10"/>
    <p:sldId id="262"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2" d="100"/>
          <a:sy n="92" d="100"/>
        </p:scale>
        <p:origin x="90"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79234-5863-4025-A214-132C277D3C0D}" type="datetimeFigureOut">
              <a:rPr lang="en-SG" smtClean="0"/>
              <a:t>4/4/2018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E5B36-5801-4ABE-A611-570DDD5C4C93}" type="slidenum">
              <a:rPr lang="en-SG" smtClean="0"/>
              <a:t>‹#›</a:t>
            </a:fld>
            <a:endParaRPr lang="en-SG"/>
          </a:p>
        </p:txBody>
      </p:sp>
    </p:spTree>
    <p:extLst>
      <p:ext uri="{BB962C8B-B14F-4D97-AF65-F5344CB8AC3E}">
        <p14:creationId xmlns:p14="http://schemas.microsoft.com/office/powerpoint/2010/main" val="2683740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GB" sz="1000">
                <a:latin typeface="Arial"/>
                <a:ea typeface="Calibri"/>
                <a:cs typeface="Times New Roman"/>
              </a:rPr>
              <a:t>Describe the different kinds of firewalls. Remind the students about the Open Systems Interconnection (OSI) model, and if necessary, display it on the whiteboard so that they can envision the way these firewalls work.</a:t>
            </a:r>
          </a:p>
          <a:p>
            <a:pPr>
              <a:lnSpc>
                <a:spcPct val="115000"/>
              </a:lnSpc>
              <a:spcAft>
                <a:spcPts val="1000"/>
              </a:spcAft>
            </a:pPr>
            <a:r>
              <a:rPr lang="en-GB" sz="1000">
                <a:latin typeface="Arial"/>
                <a:ea typeface="Calibri"/>
                <a:cs typeface="Times New Roman"/>
              </a:rPr>
              <a:t>The topic is intended to get the students to think about where they implement firewalls and what they want to configure and control.</a:t>
            </a:r>
          </a:p>
        </p:txBody>
      </p:sp>
      <p:sp>
        <p:nvSpPr>
          <p:cNvPr id="4" name="Slide Number Placeholder 3"/>
          <p:cNvSpPr>
            <a:spLocks noGrp="1"/>
          </p:cNvSpPr>
          <p:nvPr>
            <p:ph type="sldNum" sz="quarter" idx="10"/>
          </p:nvPr>
        </p:nvSpPr>
        <p:spPr/>
        <p:txBody>
          <a:bodyPr/>
          <a:lstStyle/>
          <a:p>
            <a:fld id="{1666D764-422C-4C28-84A1-EAF150CBBC1F}" type="slidenum">
              <a:rPr lang="en-GB" smtClean="0"/>
              <a:t>2</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2608137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GB" sz="1000">
                <a:latin typeface="Arial"/>
                <a:ea typeface="Calibri"/>
                <a:cs typeface="Times New Roman"/>
              </a:rPr>
              <a:t>Discuss some of the well-known ports and how using well-known ports helps firewalls to provide better protection to the network.</a:t>
            </a:r>
          </a:p>
        </p:txBody>
      </p:sp>
      <p:sp>
        <p:nvSpPr>
          <p:cNvPr id="4" name="Slide Number Placeholder 3"/>
          <p:cNvSpPr>
            <a:spLocks noGrp="1"/>
          </p:cNvSpPr>
          <p:nvPr>
            <p:ph type="sldNum" sz="quarter" idx="10"/>
          </p:nvPr>
        </p:nvSpPr>
        <p:spPr/>
        <p:txBody>
          <a:bodyPr/>
          <a:lstStyle/>
          <a:p>
            <a:fld id="{1666D764-422C-4C28-84A1-EAF150CBBC1F}" type="slidenum">
              <a:rPr lang="en-GB" smtClean="0"/>
              <a:t>3</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3222437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GB" sz="1000">
                <a:latin typeface="Arial"/>
                <a:ea typeface="Calibri"/>
                <a:cs typeface="Times New Roman"/>
              </a:rPr>
              <a:t>If possible, reconfigure your virtual machine so that it connects to a new network. Show the students the network location profile option, or display the user interface in Control Panel and discuss the settings.</a:t>
            </a:r>
          </a:p>
          <a:p>
            <a:pPr>
              <a:lnSpc>
                <a:spcPct val="115000"/>
              </a:lnSpc>
              <a:spcAft>
                <a:spcPts val="1000"/>
              </a:spcAft>
            </a:pPr>
            <a:r>
              <a:rPr lang="en-GB" sz="1000">
                <a:latin typeface="Arial"/>
                <a:ea typeface="Calibri"/>
                <a:cs typeface="Times New Roman"/>
              </a:rPr>
              <a:t>One of the key points that the students need to understand is that only domain members use the </a:t>
            </a:r>
            <a:r>
              <a:rPr lang="en-GB" sz="1000" b="1">
                <a:latin typeface="Arial"/>
                <a:ea typeface="Calibri"/>
                <a:cs typeface="Times New Roman"/>
              </a:rPr>
              <a:t>Domain networks</a:t>
            </a:r>
            <a:r>
              <a:rPr lang="en-GB" sz="1000">
                <a:latin typeface="Arial"/>
                <a:ea typeface="Calibri"/>
                <a:cs typeface="Times New Roman"/>
              </a:rPr>
              <a:t> profile.</a:t>
            </a:r>
          </a:p>
        </p:txBody>
      </p:sp>
      <p:sp>
        <p:nvSpPr>
          <p:cNvPr id="4" name="Slide Number Placeholder 3"/>
          <p:cNvSpPr>
            <a:spLocks noGrp="1"/>
          </p:cNvSpPr>
          <p:nvPr>
            <p:ph type="sldNum" sz="quarter" idx="10"/>
          </p:nvPr>
        </p:nvSpPr>
        <p:spPr/>
        <p:txBody>
          <a:bodyPr/>
          <a:lstStyle/>
          <a:p>
            <a:fld id="{1666D764-422C-4C28-84A1-EAF150CBBC1F}" type="slidenum">
              <a:rPr lang="en-GB" smtClean="0"/>
              <a:t>4</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3709050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GB" sz="1000">
                <a:latin typeface="Arial"/>
                <a:ea typeface="Calibri"/>
                <a:cs typeface="Times New Roman"/>
              </a:rPr>
              <a:t>If possible, reconfigure your virtual machine so that it connects to a new network. Show the students the network location profile option, or display the user interface in Control Panel and discuss the settings.</a:t>
            </a:r>
          </a:p>
          <a:p>
            <a:pPr>
              <a:lnSpc>
                <a:spcPct val="115000"/>
              </a:lnSpc>
              <a:spcAft>
                <a:spcPts val="1000"/>
              </a:spcAft>
            </a:pPr>
            <a:r>
              <a:rPr lang="en-GB" sz="1000">
                <a:latin typeface="Arial"/>
                <a:ea typeface="Calibri"/>
                <a:cs typeface="Times New Roman"/>
              </a:rPr>
              <a:t>One of the key points that the students need to understand is that only domain members use the </a:t>
            </a:r>
            <a:r>
              <a:rPr lang="en-GB" sz="1000" b="1">
                <a:latin typeface="Arial"/>
                <a:ea typeface="Calibri"/>
                <a:cs typeface="Times New Roman"/>
              </a:rPr>
              <a:t>Domain networks</a:t>
            </a:r>
            <a:r>
              <a:rPr lang="en-GB" sz="1000">
                <a:latin typeface="Arial"/>
                <a:ea typeface="Calibri"/>
                <a:cs typeface="Times New Roman"/>
              </a:rPr>
              <a:t> profile.</a:t>
            </a:r>
          </a:p>
        </p:txBody>
      </p:sp>
      <p:sp>
        <p:nvSpPr>
          <p:cNvPr id="4" name="Slide Number Placeholder 3"/>
          <p:cNvSpPr>
            <a:spLocks noGrp="1"/>
          </p:cNvSpPr>
          <p:nvPr>
            <p:ph type="sldNum" sz="quarter" idx="10"/>
          </p:nvPr>
        </p:nvSpPr>
        <p:spPr/>
        <p:txBody>
          <a:bodyPr/>
          <a:lstStyle/>
          <a:p>
            <a:fld id="{1666D764-422C-4C28-84A1-EAF150CBBC1F}" type="slidenum">
              <a:rPr lang="en-GB" smtClean="0"/>
              <a:t>5</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4195198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GB" sz="1000">
                <a:latin typeface="Arial"/>
                <a:ea typeface="Calibri"/>
                <a:cs typeface="Times New Roman"/>
              </a:rPr>
              <a:t>If possible, reconfigure your virtual machine so that it connects to a new network. Show the students the network location profile option, or display the user interface in Control Panel and discuss the settings.</a:t>
            </a:r>
          </a:p>
          <a:p>
            <a:pPr>
              <a:lnSpc>
                <a:spcPct val="115000"/>
              </a:lnSpc>
              <a:spcAft>
                <a:spcPts val="1000"/>
              </a:spcAft>
            </a:pPr>
            <a:r>
              <a:rPr lang="en-GB" sz="1000">
                <a:latin typeface="Arial"/>
                <a:ea typeface="Calibri"/>
                <a:cs typeface="Times New Roman"/>
              </a:rPr>
              <a:t>One of the key points that the students need to understand is that only domain members use the </a:t>
            </a:r>
            <a:r>
              <a:rPr lang="en-GB" sz="1000" b="1">
                <a:latin typeface="Arial"/>
                <a:ea typeface="Calibri"/>
                <a:cs typeface="Times New Roman"/>
              </a:rPr>
              <a:t>Domain networks</a:t>
            </a:r>
            <a:r>
              <a:rPr lang="en-GB" sz="1000">
                <a:latin typeface="Arial"/>
                <a:ea typeface="Calibri"/>
                <a:cs typeface="Times New Roman"/>
              </a:rPr>
              <a:t> profile.</a:t>
            </a:r>
          </a:p>
        </p:txBody>
      </p:sp>
      <p:sp>
        <p:nvSpPr>
          <p:cNvPr id="4" name="Slide Number Placeholder 3"/>
          <p:cNvSpPr>
            <a:spLocks noGrp="1"/>
          </p:cNvSpPr>
          <p:nvPr>
            <p:ph type="sldNum" sz="quarter" idx="10"/>
          </p:nvPr>
        </p:nvSpPr>
        <p:spPr/>
        <p:txBody>
          <a:bodyPr/>
          <a:lstStyle/>
          <a:p>
            <a:fld id="{1666D764-422C-4C28-84A1-EAF150CBBC1F}" type="slidenum">
              <a:rPr lang="en-GB" smtClean="0"/>
              <a:t>6</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1141265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GB" sz="1000" b="1" dirty="0">
                <a:latin typeface="Arial"/>
                <a:ea typeface="Calibri"/>
                <a:cs typeface="Times New Roman"/>
              </a:rPr>
              <a:t>Note</a:t>
            </a:r>
            <a:r>
              <a:rPr lang="en-GB" sz="1000" dirty="0">
                <a:latin typeface="Arial"/>
                <a:ea typeface="Calibri"/>
                <a:cs typeface="Times New Roman"/>
              </a:rPr>
              <a:t>: There is one additional slide in this topic. </a:t>
            </a:r>
          </a:p>
          <a:p>
            <a:pPr>
              <a:lnSpc>
                <a:spcPct val="115000"/>
              </a:lnSpc>
              <a:spcAft>
                <a:spcPts val="1000"/>
              </a:spcAft>
            </a:pPr>
            <a:r>
              <a:rPr lang="en-GB" sz="1000" dirty="0">
                <a:latin typeface="Arial"/>
                <a:ea typeface="Calibri"/>
                <a:cs typeface="Segoe UI"/>
              </a:rPr>
              <a:t>Demonstrate the </a:t>
            </a:r>
            <a:r>
              <a:rPr lang="en-GB" sz="1000" b="1" dirty="0">
                <a:latin typeface="Arial"/>
                <a:ea typeface="Calibri"/>
                <a:cs typeface="Times New Roman"/>
              </a:rPr>
              <a:t>Windows Firewall with Advanced Security</a:t>
            </a:r>
            <a:r>
              <a:rPr lang="en-GB" sz="1000" dirty="0">
                <a:latin typeface="Arial"/>
                <a:ea typeface="Calibri"/>
                <a:cs typeface="Segoe UI"/>
              </a:rPr>
              <a:t> interface as you discuss each option. The next topic covers a formal demonstration of inbound rules.</a:t>
            </a:r>
            <a:endParaRPr lang="en-GB" sz="1000" dirty="0">
              <a:latin typeface="Arial"/>
              <a:ea typeface="Calibri"/>
              <a:cs typeface="Times New Roman"/>
            </a:endParaRPr>
          </a:p>
          <a:p>
            <a:pPr>
              <a:lnSpc>
                <a:spcPct val="115000"/>
              </a:lnSpc>
              <a:spcAft>
                <a:spcPts val="1000"/>
              </a:spcAft>
            </a:pPr>
            <a:r>
              <a:rPr lang="en-GB" sz="1000" dirty="0">
                <a:latin typeface="Arial"/>
                <a:ea typeface="Calibri"/>
                <a:cs typeface="Segoe UI"/>
              </a:rPr>
              <a:t>Mention that the default Windows Firewall status is to block all incoming traffic, unless it is solicited or matches a configured rule, and to allow all outgoing traffic, unless it matches a configured rule.</a:t>
            </a:r>
            <a:endParaRPr lang="en-GB" sz="1000" dirty="0">
              <a:latin typeface="Arial"/>
              <a:ea typeface="Calibri"/>
              <a:cs typeface="Times New Roman"/>
            </a:endParaRPr>
          </a:p>
          <a:p>
            <a:pPr>
              <a:lnSpc>
                <a:spcPct val="115000"/>
              </a:lnSpc>
              <a:spcAft>
                <a:spcPts val="1000"/>
              </a:spcAft>
            </a:pPr>
            <a:r>
              <a:rPr lang="en-GB" sz="1000" dirty="0">
                <a:latin typeface="Arial"/>
                <a:ea typeface="Calibri"/>
                <a:cs typeface="Segoe UI"/>
              </a:rPr>
              <a:t>Mention the following rules:</a:t>
            </a:r>
            <a:endParaRPr lang="en-GB" sz="1000" dirty="0">
              <a:latin typeface="Arial"/>
              <a:ea typeface="Calibri"/>
              <a:cs typeface="Times New Roman"/>
            </a:endParaRPr>
          </a:p>
          <a:p>
            <a:pPr marL="342900" lvl="0" indent="-342900">
              <a:lnSpc>
                <a:spcPct val="115000"/>
              </a:lnSpc>
              <a:spcAft>
                <a:spcPts val="995"/>
              </a:spcAft>
              <a:buFont typeface="Symbol"/>
              <a:buChar char=""/>
              <a:tabLst>
                <a:tab pos="457200" algn="l"/>
              </a:tabLst>
            </a:pPr>
            <a:r>
              <a:rPr lang="en-GB" sz="1000" dirty="0">
                <a:latin typeface="Arial"/>
                <a:ea typeface="Calibri"/>
                <a:cs typeface="Segoe UI"/>
              </a:rPr>
              <a:t>Password policies TCP port 20 blocks outbound traffic.</a:t>
            </a:r>
            <a:endParaRPr lang="en-GB" sz="1000" dirty="0">
              <a:latin typeface="Arial"/>
              <a:ea typeface="Calibri"/>
              <a:cs typeface="Times New Roman"/>
            </a:endParaRPr>
          </a:p>
          <a:p>
            <a:pPr marL="342900" lvl="0" indent="-342900">
              <a:lnSpc>
                <a:spcPct val="115000"/>
              </a:lnSpc>
              <a:spcAft>
                <a:spcPts val="995"/>
              </a:spcAft>
              <a:buFont typeface="Symbol"/>
              <a:buChar char=""/>
              <a:tabLst>
                <a:tab pos="457200" algn="l"/>
              </a:tabLst>
            </a:pPr>
            <a:r>
              <a:rPr lang="en-GB" sz="1000" dirty="0">
                <a:latin typeface="Arial"/>
                <a:ea typeface="Calibri"/>
                <a:cs typeface="Segoe UI"/>
              </a:rPr>
              <a:t>Remote Desktop allows inbound traffic.</a:t>
            </a:r>
            <a:endParaRPr lang="en-GB" sz="1000" dirty="0">
              <a:latin typeface="Arial"/>
              <a:ea typeface="Calibri"/>
              <a:cs typeface="Times New Roman"/>
            </a:endParaRPr>
          </a:p>
          <a:p>
            <a:pPr marL="342900" lvl="0" indent="-342900">
              <a:lnSpc>
                <a:spcPct val="115000"/>
              </a:lnSpc>
              <a:spcAft>
                <a:spcPts val="995"/>
              </a:spcAft>
              <a:buFont typeface="Symbol"/>
              <a:buChar char=""/>
              <a:tabLst>
                <a:tab pos="457200" algn="l"/>
              </a:tabLst>
            </a:pPr>
            <a:r>
              <a:rPr lang="en-GB" sz="1000" dirty="0">
                <a:latin typeface="Arial"/>
                <a:ea typeface="Calibri"/>
                <a:cs typeface="Segoe UI"/>
              </a:rPr>
              <a:t>Custom application TCP port 6543 allows inbound traffic.</a:t>
            </a:r>
            <a:endParaRPr lang="en-GB"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666D764-422C-4C28-84A1-EAF150CBBC1F}" type="slidenum">
              <a:rPr lang="en-GB" smtClean="0"/>
              <a:t>7</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161055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GB" sz="1000">
                <a:latin typeface="Arial"/>
                <a:ea typeface="Calibri"/>
                <a:cs typeface="Times New Roman"/>
              </a:rPr>
              <a:t>This is the second of two slides in this topic.</a:t>
            </a:r>
          </a:p>
        </p:txBody>
      </p:sp>
      <p:sp>
        <p:nvSpPr>
          <p:cNvPr id="4" name="Slide Number Placeholder 3"/>
          <p:cNvSpPr>
            <a:spLocks noGrp="1"/>
          </p:cNvSpPr>
          <p:nvPr>
            <p:ph type="sldNum" sz="quarter" idx="10"/>
          </p:nvPr>
        </p:nvSpPr>
        <p:spPr/>
        <p:txBody>
          <a:bodyPr/>
          <a:lstStyle/>
          <a:p>
            <a:fld id="{1666D764-422C-4C28-84A1-EAF150CBBC1F}" type="slidenum">
              <a:rPr lang="en-GB" smtClean="0"/>
              <a:t>10</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2413913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GB" sz="1000">
                <a:latin typeface="Arial"/>
                <a:ea typeface="Calibri"/>
                <a:cs typeface="Segoe UI"/>
              </a:rPr>
              <a:t>Explain to the students that they should choose the deployment method for Windows Firewall rules based on how many computers will be affected. If they need to create a firewall rule on hundreds of computers, they should use Group Policy. For a single computer, they can manually configure it.</a:t>
            </a:r>
            <a:endParaRPr lang="en-GB" sz="1000">
              <a:latin typeface="Arial"/>
              <a:ea typeface="Calibri"/>
              <a:cs typeface="Times New Roman"/>
            </a:endParaRPr>
          </a:p>
          <a:p>
            <a:pPr>
              <a:lnSpc>
                <a:spcPct val="115000"/>
              </a:lnSpc>
              <a:spcAft>
                <a:spcPts val="1000"/>
              </a:spcAft>
            </a:pPr>
            <a:r>
              <a:rPr lang="en-GB" sz="1000">
                <a:latin typeface="Arial"/>
                <a:ea typeface="Calibri"/>
                <a:cs typeface="Segoe UI"/>
              </a:rPr>
              <a:t>Stress to the students that they should be very careful when they use Group Policy to configure Windows Firewall rules. Some employees might use applications that need additional ports to be open on their computers, and improperly configured firewall rules might block those applications. We recommend that you test firewall rules in an isolated, nonproduction environment before you deploy them in production.</a:t>
            </a:r>
            <a:endParaRPr lang="en-GB"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666D764-422C-4C28-84A1-EAF150CBBC1F}" type="slidenum">
              <a:rPr lang="en-GB" smtClean="0"/>
              <a:t>11</a:t>
            </a:fld>
            <a:endParaRPr lang="en-GB"/>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0000"/>
                </a:solidFill>
                <a:latin typeface="Arial"/>
              </a:rPr>
              <a:t>20744B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b="1">
                <a:solidFill>
                  <a:srgbClr val="336699"/>
                </a:solidFill>
                <a:latin typeface="Arial"/>
              </a:rPr>
              <a:t>12: Securing network traffic with firewalls and encryption</a:t>
            </a:r>
            <a:endParaRPr lang="en-GB" sz="1200" b="1">
              <a:solidFill>
                <a:srgbClr val="336699"/>
              </a:solidFill>
              <a:latin typeface="Arial"/>
            </a:endParaRPr>
          </a:p>
        </p:txBody>
      </p:sp>
    </p:spTree>
    <p:extLst>
      <p:ext uri="{BB962C8B-B14F-4D97-AF65-F5344CB8AC3E}">
        <p14:creationId xmlns:p14="http://schemas.microsoft.com/office/powerpoint/2010/main" val="1533211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76035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19807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0207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4/4/2018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04997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4/4/2018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68687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94711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59539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3199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63988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035105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1030093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6580940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7764054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268944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4/4/2018</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9295304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57542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7410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4/4/2018</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654158476"/>
      </p:ext>
    </p:extLst>
  </p:cSld>
  <p:clrMap bg1="dk1" tx1="lt1" bg2="dk2"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8.xml"/><Relationship Id="rId4"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sz="4800" dirty="0" smtClean="0"/>
              <a:t>Chapter 8 - Implementing </a:t>
            </a:r>
            <a:r>
              <a:rPr lang="en-SG" sz="4800" dirty="0"/>
              <a:t>Windows Firewall</a:t>
            </a:r>
          </a:p>
        </p:txBody>
      </p:sp>
      <p:sp>
        <p:nvSpPr>
          <p:cNvPr id="3" name="Subtitle 2"/>
          <p:cNvSpPr>
            <a:spLocks noGrp="1"/>
          </p:cNvSpPr>
          <p:nvPr>
            <p:ph type="subTitle" idx="1"/>
          </p:nvPr>
        </p:nvSpPr>
        <p:spPr/>
        <p:txBody>
          <a:bodyPr/>
          <a:lstStyle/>
          <a:p>
            <a:endParaRPr lang="en-SG"/>
          </a:p>
        </p:txBody>
      </p:sp>
    </p:spTree>
    <p:extLst>
      <p:ext uri="{BB962C8B-B14F-4D97-AF65-F5344CB8AC3E}">
        <p14:creationId xmlns:p14="http://schemas.microsoft.com/office/powerpoint/2010/main" val="38295097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Firewall types</a:t>
            </a:r>
          </a:p>
        </p:txBody>
      </p:sp>
      <p:sp>
        <p:nvSpPr>
          <p:cNvPr id="4" name="Content Placeholder 2"/>
          <p:cNvSpPr>
            <a:spLocks noGrp="1"/>
          </p:cNvSpPr>
          <p:nvPr/>
        </p:nvSpPr>
        <p:spPr bwMode="auto">
          <a:xfrm>
            <a:off x="1828242" y="1710644"/>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t>Firewalls can be installed on hosts, such as those running Windows Server, or implemented as software in devices, such as routers</a:t>
            </a:r>
          </a:p>
          <a:p>
            <a:r>
              <a:rPr lang="en-US" dirty="0"/>
              <a:t>Different types of firewalls exist:</a:t>
            </a:r>
          </a:p>
          <a:p>
            <a:pPr marL="449263" lvl="1" indent="-165100">
              <a:lnSpc>
                <a:spcPct val="90000"/>
              </a:lnSpc>
              <a:spcBef>
                <a:spcPct val="40000"/>
              </a:spcBef>
              <a:buClr>
                <a:srgbClr val="006699"/>
              </a:buClr>
              <a:buFontTx/>
              <a:buChar char="•"/>
              <a:tabLst>
                <a:tab pos="854075" algn="l"/>
              </a:tabLst>
            </a:pPr>
            <a:r>
              <a:rPr lang="en-GB" dirty="0"/>
              <a:t>Application-layer gateway</a:t>
            </a:r>
          </a:p>
          <a:p>
            <a:pPr marL="449263" lvl="1" indent="-165100">
              <a:lnSpc>
                <a:spcPct val="90000"/>
              </a:lnSpc>
              <a:spcBef>
                <a:spcPct val="40000"/>
              </a:spcBef>
              <a:buClr>
                <a:srgbClr val="006699"/>
              </a:buClr>
              <a:buFontTx/>
              <a:buChar char="•"/>
              <a:tabLst>
                <a:tab pos="854075" algn="l"/>
              </a:tabLst>
            </a:pPr>
            <a:r>
              <a:rPr lang="en-GB" dirty="0"/>
              <a:t>Circuit-level gateway</a:t>
            </a:r>
          </a:p>
          <a:p>
            <a:pPr marL="449263" lvl="1" indent="-165100">
              <a:lnSpc>
                <a:spcPct val="90000"/>
              </a:lnSpc>
              <a:spcBef>
                <a:spcPct val="40000"/>
              </a:spcBef>
              <a:buClr>
                <a:srgbClr val="006699"/>
              </a:buClr>
              <a:buFontTx/>
              <a:buChar char="•"/>
              <a:tabLst>
                <a:tab pos="854075" algn="l"/>
              </a:tabLst>
            </a:pPr>
            <a:r>
              <a:rPr lang="en-GB" dirty="0"/>
              <a:t>Packet filter</a:t>
            </a:r>
          </a:p>
          <a:p>
            <a:pPr marL="449263" lvl="1" indent="-165100">
              <a:lnSpc>
                <a:spcPct val="90000"/>
              </a:lnSpc>
              <a:spcBef>
                <a:spcPct val="40000"/>
              </a:spcBef>
              <a:buClr>
                <a:srgbClr val="006699"/>
              </a:buClr>
              <a:buFontTx/>
              <a:buChar char="•"/>
              <a:tabLst>
                <a:tab pos="854075" algn="l"/>
              </a:tabLst>
            </a:pPr>
            <a:r>
              <a:rPr lang="en-GB" dirty="0" err="1"/>
              <a:t>Stateful</a:t>
            </a:r>
            <a:r>
              <a:rPr lang="en-GB" dirty="0"/>
              <a:t> multilayer inspection</a:t>
            </a:r>
          </a:p>
          <a:p>
            <a:endParaRPr lang="en-US" dirty="0"/>
          </a:p>
        </p:txBody>
      </p:sp>
    </p:spTree>
    <p:custDataLst>
      <p:tags r:id="rId1"/>
    </p:custDataLst>
    <p:extLst>
      <p:ext uri="{BB962C8B-B14F-4D97-AF65-F5344CB8AC3E}">
        <p14:creationId xmlns:p14="http://schemas.microsoft.com/office/powerpoint/2010/main" val="8097649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Well-known ports</a:t>
            </a:r>
          </a:p>
        </p:txBody>
      </p:sp>
      <p:sp>
        <p:nvSpPr>
          <p:cNvPr id="4" name="Content Placeholder 3"/>
          <p:cNvSpPr>
            <a:spLocks noGrp="1"/>
          </p:cNvSpPr>
          <p:nvPr/>
        </p:nvSpPr>
        <p:spPr bwMode="auto">
          <a:xfrm>
            <a:off x="1931678" y="776518"/>
            <a:ext cx="8119156" cy="138510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endParaRPr lang="en-US" dirty="0" smtClean="0"/>
          </a:p>
          <a:p>
            <a:r>
              <a:rPr lang="en-US" dirty="0" smtClean="0"/>
              <a:t>Well-known </a:t>
            </a:r>
            <a:r>
              <a:rPr lang="en-US" dirty="0"/>
              <a:t>ports designate specific traffic types</a:t>
            </a:r>
          </a:p>
          <a:p>
            <a:r>
              <a:rPr lang="en-US" dirty="0"/>
              <a:t>The following table shows some common well-known ports</a:t>
            </a:r>
          </a:p>
        </p:txBody>
      </p:sp>
      <p:graphicFrame>
        <p:nvGraphicFramePr>
          <p:cNvPr id="5" name="Table 4"/>
          <p:cNvGraphicFramePr>
            <a:graphicFrameLocks noGrp="1"/>
          </p:cNvGraphicFramePr>
          <p:nvPr>
            <p:extLst>
              <p:ext uri="{D42A27DB-BD31-4B8C-83A1-F6EECF244321}">
                <p14:modId xmlns:p14="http://schemas.microsoft.com/office/powerpoint/2010/main" val="4211887859"/>
              </p:ext>
            </p:extLst>
          </p:nvPr>
        </p:nvGraphicFramePr>
        <p:xfrm>
          <a:off x="2137334" y="2741054"/>
          <a:ext cx="8119158" cy="3962400"/>
        </p:xfrm>
        <a:graphic>
          <a:graphicData uri="http://schemas.openxmlformats.org/drawingml/2006/table">
            <a:tbl>
              <a:tblPr firstRow="1" bandRow="1">
                <a:tableStyleId>{5940675A-B579-460E-94D1-54222C63F5DA}</a:tableStyleId>
              </a:tblPr>
              <a:tblGrid>
                <a:gridCol w="2011697">
                  <a:extLst>
                    <a:ext uri="{9D8B030D-6E8A-4147-A177-3AD203B41FA5}">
                      <a16:colId xmlns="" xmlns:a16="http://schemas.microsoft.com/office/drawing/2014/main" val="2317241091"/>
                    </a:ext>
                  </a:extLst>
                </a:gridCol>
                <a:gridCol w="1347537">
                  <a:extLst>
                    <a:ext uri="{9D8B030D-6E8A-4147-A177-3AD203B41FA5}">
                      <a16:colId xmlns="" xmlns:a16="http://schemas.microsoft.com/office/drawing/2014/main" val="4034658478"/>
                    </a:ext>
                  </a:extLst>
                </a:gridCol>
                <a:gridCol w="4759924">
                  <a:extLst>
                    <a:ext uri="{9D8B030D-6E8A-4147-A177-3AD203B41FA5}">
                      <a16:colId xmlns="" xmlns:a16="http://schemas.microsoft.com/office/drawing/2014/main" val="1479228479"/>
                    </a:ext>
                  </a:extLst>
                </a:gridCol>
              </a:tblGrid>
              <a:tr h="370840">
                <a:tc>
                  <a:txBody>
                    <a:bodyPr/>
                    <a:lstStyle/>
                    <a:p>
                      <a:r>
                        <a:rPr lang="en-US" sz="2000" dirty="0"/>
                        <a:t>Service</a:t>
                      </a:r>
                      <a:endParaRPr lang="en-US" sz="2000" b="1" dirty="0">
                        <a:latin typeface="Segoe UI" panose="020B0502040204020203" pitchFamily="34" charset="0"/>
                        <a:cs typeface="Segoe UI" panose="020B0502040204020203" pitchFamily="34" charset="0"/>
                      </a:endParaRPr>
                    </a:p>
                  </a:txBody>
                  <a:tcPr/>
                </a:tc>
                <a:tc>
                  <a:txBody>
                    <a:bodyPr/>
                    <a:lstStyle/>
                    <a:p>
                      <a:r>
                        <a:rPr lang="en-US" sz="2000" dirty="0"/>
                        <a:t>Port</a:t>
                      </a:r>
                      <a:endParaRPr lang="en-US" sz="2000" b="1" dirty="0">
                        <a:latin typeface="Segoe UI" panose="020B0502040204020203" pitchFamily="34" charset="0"/>
                        <a:cs typeface="Segoe UI" panose="020B0502040204020203" pitchFamily="34" charset="0"/>
                      </a:endParaRPr>
                    </a:p>
                  </a:txBody>
                  <a:tcPr/>
                </a:tc>
                <a:tc>
                  <a:txBody>
                    <a:bodyPr/>
                    <a:lstStyle/>
                    <a:p>
                      <a:r>
                        <a:rPr lang="en-US" sz="2000" dirty="0"/>
                        <a:t>Function</a:t>
                      </a:r>
                      <a:endParaRPr lang="en-US" sz="2000" b="1"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3641074804"/>
                  </a:ext>
                </a:extLst>
              </a:tr>
              <a:tr h="370840">
                <a:tc>
                  <a:txBody>
                    <a:bodyPr/>
                    <a:lstStyle/>
                    <a:p>
                      <a:r>
                        <a:rPr lang="en-US" sz="2000" dirty="0"/>
                        <a:t>HTTP</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80</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Web traffic</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3244013249"/>
                  </a:ext>
                </a:extLst>
              </a:tr>
              <a:tr h="370840">
                <a:tc>
                  <a:txBody>
                    <a:bodyPr/>
                    <a:lstStyle/>
                    <a:p>
                      <a:r>
                        <a:rPr lang="en-US" sz="2000" dirty="0"/>
                        <a:t>HTTPS</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443</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Secure web traffic</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466174624"/>
                  </a:ext>
                </a:extLst>
              </a:tr>
              <a:tr h="370840">
                <a:tc>
                  <a:txBody>
                    <a:bodyPr/>
                    <a:lstStyle/>
                    <a:p>
                      <a:r>
                        <a:rPr lang="en-US" sz="2000" dirty="0"/>
                        <a:t>FTP</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20,</a:t>
                      </a:r>
                      <a:r>
                        <a:rPr lang="en-US" sz="2000" baseline="0" dirty="0"/>
                        <a:t> 21</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File transfer</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3239473716"/>
                  </a:ext>
                </a:extLst>
              </a:tr>
              <a:tr h="370840">
                <a:tc>
                  <a:txBody>
                    <a:bodyPr/>
                    <a:lstStyle/>
                    <a:p>
                      <a:r>
                        <a:rPr lang="en-US" sz="2000" dirty="0"/>
                        <a:t>FTPS</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989, 990</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Secure file transfer</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684437125"/>
                  </a:ext>
                </a:extLst>
              </a:tr>
              <a:tr h="370840">
                <a:tc>
                  <a:txBody>
                    <a:bodyPr/>
                    <a:lstStyle/>
                    <a:p>
                      <a:r>
                        <a:rPr lang="en-US" sz="2000" dirty="0"/>
                        <a:t>DNS</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53</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Name resolution</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639106622"/>
                  </a:ext>
                </a:extLst>
              </a:tr>
              <a:tr h="370840">
                <a:tc>
                  <a:txBody>
                    <a:bodyPr/>
                    <a:lstStyle/>
                    <a:p>
                      <a:r>
                        <a:rPr lang="en-US" sz="2000" dirty="0"/>
                        <a:t>SMTP</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25</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Internet</a:t>
                      </a:r>
                      <a:r>
                        <a:rPr lang="en-US" sz="2000" baseline="0" dirty="0"/>
                        <a:t> mail</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3925581553"/>
                  </a:ext>
                </a:extLst>
              </a:tr>
              <a:tr h="370840">
                <a:tc>
                  <a:txBody>
                    <a:bodyPr/>
                    <a:lstStyle/>
                    <a:p>
                      <a:r>
                        <a:rPr lang="en-US" sz="2000" dirty="0"/>
                        <a:t>TELNET</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23</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Remote login</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4105508785"/>
                  </a:ext>
                </a:extLst>
              </a:tr>
              <a:tr h="370840">
                <a:tc>
                  <a:txBody>
                    <a:bodyPr/>
                    <a:lstStyle/>
                    <a:p>
                      <a:r>
                        <a:rPr lang="en-US" sz="2000" dirty="0"/>
                        <a:t>SSH</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22</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Secure remote login</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2652839301"/>
                  </a:ext>
                </a:extLst>
              </a:tr>
              <a:tr h="370840">
                <a:tc>
                  <a:txBody>
                    <a:bodyPr/>
                    <a:lstStyle/>
                    <a:p>
                      <a:r>
                        <a:rPr lang="en-US" sz="2000" dirty="0"/>
                        <a:t>SNMP</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161, 162</a:t>
                      </a:r>
                      <a:endParaRPr lang="en-US" sz="2000" dirty="0">
                        <a:latin typeface="Segoe UI" panose="020B0502040204020203" pitchFamily="34" charset="0"/>
                        <a:cs typeface="Segoe UI" panose="020B0502040204020203" pitchFamily="34" charset="0"/>
                      </a:endParaRPr>
                    </a:p>
                  </a:txBody>
                  <a:tcPr/>
                </a:tc>
                <a:tc>
                  <a:txBody>
                    <a:bodyPr/>
                    <a:lstStyle/>
                    <a:p>
                      <a:r>
                        <a:rPr lang="en-US" sz="2000" dirty="0"/>
                        <a:t>Network management</a:t>
                      </a:r>
                      <a:endParaRPr lang="en-US" sz="2000" dirty="0">
                        <a:latin typeface="Segoe UI" panose="020B0502040204020203" pitchFamily="34" charset="0"/>
                        <a:cs typeface="Segoe UI" panose="020B0502040204020203" pitchFamily="34" charset="0"/>
                      </a:endParaRPr>
                    </a:p>
                  </a:txBody>
                  <a:tcPr/>
                </a:tc>
                <a:extLst>
                  <a:ext uri="{0D108BD9-81ED-4DB2-BD59-A6C34878D82A}">
                    <a16:rowId xmlns="" xmlns:a16="http://schemas.microsoft.com/office/drawing/2014/main" val="2224629292"/>
                  </a:ext>
                </a:extLst>
              </a:tr>
            </a:tbl>
          </a:graphicData>
        </a:graphic>
      </p:graphicFrame>
    </p:spTree>
    <p:custDataLst>
      <p:tags r:id="rId1"/>
    </p:custDataLst>
    <p:extLst>
      <p:ext uri="{BB962C8B-B14F-4D97-AF65-F5344CB8AC3E}">
        <p14:creationId xmlns:p14="http://schemas.microsoft.com/office/powerpoint/2010/main" val="309008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 location profiles</a:t>
            </a:r>
          </a:p>
        </p:txBody>
      </p:sp>
      <p:sp>
        <p:nvSpPr>
          <p:cNvPr id="4" name="Content Placeholder 2"/>
          <p:cNvSpPr>
            <a:spLocks noGrp="1"/>
          </p:cNvSpPr>
          <p:nvPr/>
        </p:nvSpPr>
        <p:spPr bwMode="auto">
          <a:xfrm>
            <a:off x="1931678" y="1710644"/>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t>The first time that your server connects to a network, you must select a network location</a:t>
            </a:r>
          </a:p>
          <a:p>
            <a:r>
              <a:rPr lang="en-US" dirty="0"/>
              <a:t>Three network profiles exist:</a:t>
            </a:r>
          </a:p>
          <a:p>
            <a:pPr marL="449263" lvl="1" indent="-165100">
              <a:lnSpc>
                <a:spcPct val="90000"/>
              </a:lnSpc>
              <a:spcBef>
                <a:spcPct val="40000"/>
              </a:spcBef>
              <a:buFontTx/>
              <a:buChar char="•"/>
              <a:tabLst>
                <a:tab pos="854075" algn="l"/>
              </a:tabLst>
            </a:pPr>
            <a:r>
              <a:rPr lang="en-US" dirty="0"/>
              <a:t>Domain networks</a:t>
            </a:r>
          </a:p>
          <a:p>
            <a:pPr marL="449263" lvl="1" indent="-165100">
              <a:lnSpc>
                <a:spcPct val="90000"/>
              </a:lnSpc>
              <a:spcBef>
                <a:spcPct val="40000"/>
              </a:spcBef>
              <a:buFontTx/>
              <a:buChar char="•"/>
              <a:tabLst>
                <a:tab pos="854075" algn="l"/>
              </a:tabLst>
            </a:pPr>
            <a:r>
              <a:rPr lang="en-US" dirty="0"/>
              <a:t>Private networks</a:t>
            </a:r>
          </a:p>
          <a:p>
            <a:pPr marL="449263" lvl="1" indent="-165100">
              <a:lnSpc>
                <a:spcPct val="90000"/>
              </a:lnSpc>
              <a:spcBef>
                <a:spcPct val="40000"/>
              </a:spcBef>
              <a:buFontTx/>
              <a:buChar char="•"/>
              <a:tabLst>
                <a:tab pos="854075" algn="l"/>
              </a:tabLst>
            </a:pPr>
            <a:r>
              <a:rPr lang="en-US" dirty="0"/>
              <a:t>Guest or public networks</a:t>
            </a:r>
          </a:p>
          <a:p>
            <a:pPr marL="165100" indent="-165100">
              <a:lnSpc>
                <a:spcPct val="90000"/>
              </a:lnSpc>
              <a:spcBef>
                <a:spcPct val="40000"/>
              </a:spcBef>
              <a:buClr>
                <a:srgbClr val="006699"/>
              </a:buClr>
              <a:buFontTx/>
              <a:buChar char="•"/>
              <a:tabLst>
                <a:tab pos="854075" algn="l"/>
              </a:tabLst>
            </a:pPr>
            <a:r>
              <a:rPr lang="en-US" dirty="0"/>
              <a:t>Windows Server 2016 includes the ability to have multiple active firewall profiles</a:t>
            </a:r>
          </a:p>
          <a:p>
            <a:endParaRPr lang="en-US" dirty="0"/>
          </a:p>
        </p:txBody>
      </p:sp>
    </p:spTree>
    <p:custDataLst>
      <p:tags r:id="rId1"/>
    </p:custDataLst>
    <p:extLst>
      <p:ext uri="{BB962C8B-B14F-4D97-AF65-F5344CB8AC3E}">
        <p14:creationId xmlns:p14="http://schemas.microsoft.com/office/powerpoint/2010/main" val="3740092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 location profiles</a:t>
            </a:r>
          </a:p>
        </p:txBody>
      </p:sp>
      <p:sp>
        <p:nvSpPr>
          <p:cNvPr id="4" name="Content Placeholder 2"/>
          <p:cNvSpPr>
            <a:spLocks noGrp="1"/>
          </p:cNvSpPr>
          <p:nvPr/>
        </p:nvSpPr>
        <p:spPr bwMode="auto">
          <a:xfrm>
            <a:off x="1931678" y="1710644"/>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SG" dirty="0" smtClean="0"/>
              <a:t>The </a:t>
            </a:r>
            <a:r>
              <a:rPr lang="en-SG" dirty="0"/>
              <a:t>domain profile applies to networks where the host system can authenticate to a domain controller. </a:t>
            </a:r>
            <a:endParaRPr lang="en-SG" dirty="0" smtClean="0"/>
          </a:p>
          <a:p>
            <a:r>
              <a:rPr lang="en-SG" dirty="0" smtClean="0"/>
              <a:t>The </a:t>
            </a:r>
            <a:r>
              <a:rPr lang="en-SG" dirty="0"/>
              <a:t>private profile is a user-assigned profile and is used to designate private or home networks</a:t>
            </a:r>
            <a:r>
              <a:rPr lang="en-SG" dirty="0" smtClean="0"/>
              <a:t>.</a:t>
            </a:r>
          </a:p>
          <a:p>
            <a:r>
              <a:rPr lang="en-SG" dirty="0" smtClean="0"/>
              <a:t> </a:t>
            </a:r>
            <a:r>
              <a:rPr lang="en-SG" dirty="0"/>
              <a:t>Lastly, the default profile is the public profile, which is used to designate public networks such as Wi-Fi hotspots at coffee shops, airports, and other locations.</a:t>
            </a:r>
            <a:endParaRPr lang="en-US" dirty="0"/>
          </a:p>
        </p:txBody>
      </p:sp>
    </p:spTree>
    <p:custDataLst>
      <p:tags r:id="rId1"/>
    </p:custDataLst>
    <p:extLst>
      <p:ext uri="{BB962C8B-B14F-4D97-AF65-F5344CB8AC3E}">
        <p14:creationId xmlns:p14="http://schemas.microsoft.com/office/powerpoint/2010/main" val="32043334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 location profiles</a:t>
            </a:r>
          </a:p>
        </p:txBody>
      </p:sp>
      <p:sp>
        <p:nvSpPr>
          <p:cNvPr id="4" name="Content Placeholder 2"/>
          <p:cNvSpPr>
            <a:spLocks noGrp="1"/>
          </p:cNvSpPr>
          <p:nvPr/>
        </p:nvSpPr>
        <p:spPr bwMode="auto">
          <a:xfrm>
            <a:off x="1931678" y="1710644"/>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SG" dirty="0"/>
              <a:t>Best practices are to create your rules in all three profiles, but only enable the firewall rule group on the profiles that suit your scenarios. </a:t>
            </a:r>
            <a:endParaRPr lang="en-SG" dirty="0" smtClean="0"/>
          </a:p>
          <a:p>
            <a:r>
              <a:rPr lang="en-SG" dirty="0" smtClean="0"/>
              <a:t>For </a:t>
            </a:r>
            <a:r>
              <a:rPr lang="en-SG" dirty="0"/>
              <a:t>example, if you are installing a home media sharing application that is only used on a private network then it would be best to create firewall rules in all three profiles, but only enable the firewall rule group containing your rules on the private profile.</a:t>
            </a:r>
            <a:endParaRPr lang="en-US" dirty="0"/>
          </a:p>
        </p:txBody>
      </p:sp>
    </p:spTree>
    <p:custDataLst>
      <p:tags r:id="rId1"/>
    </p:custDataLst>
    <p:extLst>
      <p:ext uri="{BB962C8B-B14F-4D97-AF65-F5344CB8AC3E}">
        <p14:creationId xmlns:p14="http://schemas.microsoft.com/office/powerpoint/2010/main" val="26383719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375" y="-2"/>
            <a:ext cx="8342189" cy="740664"/>
          </a:xfrm>
        </p:spPr>
        <p:txBody>
          <a:bodyPr>
            <a:normAutofit fontScale="90000"/>
          </a:bodyPr>
          <a:lstStyle/>
          <a:p>
            <a:r>
              <a:rPr lang="en-IN" dirty="0"/>
              <a:t>What is Windows Firewall with Advanced Security?</a:t>
            </a:r>
            <a:endParaRPr lang="en-GB" dirty="0"/>
          </a:p>
        </p:txBody>
      </p:sp>
      <p:pic>
        <p:nvPicPr>
          <p:cNvPr id="4" name="alt text here, screen shot" descr="A screenshot of the Windows Firewall with Advanced Security interface.&#10;&#10;"/>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258648" y="1470033"/>
            <a:ext cx="5793642" cy="3989701"/>
          </a:xfrm>
          <a:prstGeom prst="rect">
            <a:avLst/>
          </a:prstGeom>
          <a:noFill/>
          <a:ln w="28575">
            <a:solidFill>
              <a:srgbClr val="75C3D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p:cNvSpPr>
            <a:spLocks noChangeArrowheads="1"/>
          </p:cNvSpPr>
          <p:nvPr/>
        </p:nvSpPr>
        <p:spPr bwMode="auto">
          <a:xfrm>
            <a:off x="1984375" y="5784860"/>
            <a:ext cx="8693150" cy="808489"/>
          </a:xfrm>
          <a:prstGeom prst="roundRect">
            <a:avLst>
              <a:gd name="adj" fmla="val 5634"/>
            </a:avLst>
          </a:prstGeom>
          <a:no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defRPr/>
            </a:pPr>
            <a:r>
              <a:rPr lang="en-US" sz="2400" b="0" dirty="0">
                <a:latin typeface="Segoe UI" pitchFamily="34" charset="0"/>
                <a:ea typeface="Segoe UI" pitchFamily="34" charset="0"/>
                <a:cs typeface="Segoe UI" pitchFamily="34" charset="0"/>
              </a:rPr>
              <a:t>Inbound and outbound rules define which traffic you will allow, block, or secure</a:t>
            </a:r>
          </a:p>
        </p:txBody>
      </p:sp>
    </p:spTree>
    <p:custDataLst>
      <p:tags r:id="rId1"/>
    </p:custDataLst>
    <p:extLst>
      <p:ext uri="{BB962C8B-B14F-4D97-AF65-F5344CB8AC3E}">
        <p14:creationId xmlns:p14="http://schemas.microsoft.com/office/powerpoint/2010/main" val="6114624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Windows Firewall with Advanced Security?</a:t>
            </a:r>
            <a:endParaRPr lang="en-SG" dirty="0"/>
          </a:p>
        </p:txBody>
      </p:sp>
      <p:pic>
        <p:nvPicPr>
          <p:cNvPr id="1026" name="Picture 2" descr="Image result for windows firewall 2016 ru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5926" y="1853248"/>
            <a:ext cx="6500566" cy="4875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6972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Windows Firewall with Advanced Security?</a:t>
            </a:r>
            <a:endParaRPr lang="en-SG" dirty="0"/>
          </a:p>
        </p:txBody>
      </p:sp>
      <p:pic>
        <p:nvPicPr>
          <p:cNvPr id="2050" name="Picture 2" descr="Image result for windows central how to configure fire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5440" y="1853248"/>
            <a:ext cx="5981700" cy="482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658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375" y="-2"/>
            <a:ext cx="8342189" cy="740664"/>
          </a:xfrm>
        </p:spPr>
        <p:txBody>
          <a:bodyPr>
            <a:normAutofit fontScale="90000"/>
          </a:bodyPr>
          <a:lstStyle/>
          <a:p>
            <a:r>
              <a:rPr lang="en-IN"/>
              <a:t>What is Windows Firewall with Advanced Security?</a:t>
            </a:r>
            <a:endParaRPr lang="en-GB"/>
          </a:p>
        </p:txBody>
      </p:sp>
      <p:sp>
        <p:nvSpPr>
          <p:cNvPr id="4" name="text box"/>
          <p:cNvSpPr>
            <a:spLocks noChangeArrowheads="1"/>
          </p:cNvSpPr>
          <p:nvPr/>
        </p:nvSpPr>
        <p:spPr bwMode="auto">
          <a:xfrm>
            <a:off x="1726541" y="2044589"/>
            <a:ext cx="8693150" cy="3128719"/>
          </a:xfrm>
          <a:prstGeom prst="roundRect">
            <a:avLst>
              <a:gd name="adj" fmla="val 5634"/>
            </a:avLst>
          </a:prstGeom>
          <a:ln>
            <a:headEnd/>
            <a:tailEnd/>
          </a:ln>
        </p:spPr>
        <p:style>
          <a:lnRef idx="2">
            <a:schemeClr val="accent1"/>
          </a:lnRef>
          <a:fillRef idx="1">
            <a:schemeClr val="lt1"/>
          </a:fillRef>
          <a:effectRef idx="0">
            <a:schemeClr val="accent1"/>
          </a:effectRef>
          <a:fontRef idx="minor">
            <a:schemeClr val="dk1"/>
          </a:fontRef>
        </p:style>
        <p:txBody>
          <a:bodyPr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auto">
              <a:spcBef>
                <a:spcPts val="0"/>
              </a:spcBef>
              <a:spcAft>
                <a:spcPts val="0"/>
              </a:spcAft>
              <a:buClr>
                <a:srgbClr val="0070C0"/>
              </a:buClr>
              <a:defRPr/>
            </a:pPr>
            <a:r>
              <a:rPr lang="en-CA" sz="2400" b="0" dirty="0">
                <a:solidFill>
                  <a:srgbClr val="000000"/>
                </a:solidFill>
                <a:latin typeface="Segoe UI" pitchFamily="34" charset="0"/>
                <a:ea typeface="Segoe UI" pitchFamily="34" charset="0"/>
                <a:cs typeface="Segoe UI" pitchFamily="34" charset="0"/>
              </a:rPr>
              <a:t>The benefits of Windows Firewall with Advanced security include that it:</a:t>
            </a:r>
          </a:p>
          <a:p>
            <a:pPr fontAlgn="auto">
              <a:spcBef>
                <a:spcPts val="0"/>
              </a:spcBef>
              <a:spcAft>
                <a:spcPts val="0"/>
              </a:spcAft>
              <a:buClr>
                <a:srgbClr val="0070C0"/>
              </a:buClr>
              <a:defRPr/>
            </a:pPr>
            <a:endParaRPr lang="en-US" sz="2400" b="0" dirty="0">
              <a:solidFill>
                <a:srgbClr val="000000"/>
              </a:solidFill>
              <a:latin typeface="Segoe UI" pitchFamily="34" charset="0"/>
              <a:ea typeface="Segoe UI" pitchFamily="34" charset="0"/>
              <a:cs typeface="Segoe UI" pitchFamily="34" charset="0"/>
            </a:endParaRPr>
          </a:p>
          <a:p>
            <a:pPr marL="180000" indent="-180000" fontAlgn="auto">
              <a:spcBef>
                <a:spcPts val="0"/>
              </a:spcBef>
              <a:spcAft>
                <a:spcPts val="0"/>
              </a:spcAft>
              <a:buClr>
                <a:srgbClr val="0070C0"/>
              </a:buClr>
              <a:buFont typeface="Arial" panose="020B0604020202020204" pitchFamily="34" charset="0"/>
              <a:buChar char="•"/>
              <a:defRPr/>
            </a:pPr>
            <a:r>
              <a:rPr lang="en-US" sz="2400" b="0" dirty="0">
                <a:solidFill>
                  <a:srgbClr val="000000"/>
                </a:solidFill>
                <a:latin typeface="Segoe UI" pitchFamily="34" charset="0"/>
                <a:ea typeface="Segoe UI" pitchFamily="34" charset="0"/>
                <a:cs typeface="Segoe UI" pitchFamily="34" charset="0"/>
              </a:rPr>
              <a:t>Supports filtering for both incoming and outgoing traffic</a:t>
            </a:r>
          </a:p>
          <a:p>
            <a:pPr marL="180000" indent="-180000" fontAlgn="auto">
              <a:spcBef>
                <a:spcPts val="0"/>
              </a:spcBef>
              <a:spcAft>
                <a:spcPts val="0"/>
              </a:spcAft>
              <a:buClr>
                <a:srgbClr val="0070C0"/>
              </a:buClr>
              <a:buFont typeface="Arial" panose="020B0604020202020204" pitchFamily="34" charset="0"/>
              <a:buChar char="•"/>
              <a:defRPr/>
            </a:pPr>
            <a:r>
              <a:rPr lang="en-US" sz="2400" b="0" dirty="0">
                <a:solidFill>
                  <a:srgbClr val="000000"/>
                </a:solidFill>
                <a:latin typeface="Segoe UI" pitchFamily="34" charset="0"/>
                <a:ea typeface="Segoe UI" pitchFamily="34" charset="0"/>
                <a:cs typeface="Segoe UI" pitchFamily="34" charset="0"/>
              </a:rPr>
              <a:t>Integrates firewall filtering and IPsec protection settings</a:t>
            </a:r>
          </a:p>
          <a:p>
            <a:pPr marL="180000" indent="-180000" fontAlgn="auto">
              <a:spcBef>
                <a:spcPts val="0"/>
              </a:spcBef>
              <a:spcAft>
                <a:spcPts val="0"/>
              </a:spcAft>
              <a:buClr>
                <a:srgbClr val="0070C0"/>
              </a:buClr>
              <a:buFont typeface="Arial" panose="020B0604020202020204" pitchFamily="34" charset="0"/>
              <a:buChar char="•"/>
              <a:defRPr/>
            </a:pPr>
            <a:r>
              <a:rPr lang="en-US" sz="2400" b="0" dirty="0">
                <a:solidFill>
                  <a:srgbClr val="000000"/>
                </a:solidFill>
                <a:latin typeface="Segoe UI" pitchFamily="34" charset="0"/>
                <a:ea typeface="Segoe UI" pitchFamily="34" charset="0"/>
                <a:cs typeface="Segoe UI" pitchFamily="34" charset="0"/>
              </a:rPr>
              <a:t>Allows you to configure rules to control network traffic</a:t>
            </a:r>
          </a:p>
          <a:p>
            <a:pPr marL="180000" indent="-180000" fontAlgn="auto">
              <a:spcBef>
                <a:spcPts val="0"/>
              </a:spcBef>
              <a:spcAft>
                <a:spcPts val="0"/>
              </a:spcAft>
              <a:buClr>
                <a:srgbClr val="0070C0"/>
              </a:buClr>
              <a:buFont typeface="Arial" panose="020B0604020202020204" pitchFamily="34" charset="0"/>
              <a:buChar char="•"/>
              <a:defRPr/>
            </a:pPr>
            <a:r>
              <a:rPr lang="en-US" sz="2400" b="0" dirty="0">
                <a:solidFill>
                  <a:srgbClr val="000000"/>
                </a:solidFill>
                <a:latin typeface="Segoe UI" pitchFamily="34" charset="0"/>
                <a:ea typeface="Segoe UI" pitchFamily="34" charset="0"/>
                <a:cs typeface="Segoe UI" pitchFamily="34" charset="0"/>
              </a:rPr>
              <a:t>Provides network location</a:t>
            </a:r>
            <a:r>
              <a:rPr lang="en-US" sz="2400" dirty="0"/>
              <a:t>–</a:t>
            </a:r>
            <a:r>
              <a:rPr lang="en-US" sz="2400" b="0" dirty="0">
                <a:solidFill>
                  <a:srgbClr val="000000"/>
                </a:solidFill>
                <a:latin typeface="Segoe UI" pitchFamily="34" charset="0"/>
                <a:ea typeface="Segoe UI" pitchFamily="34" charset="0"/>
                <a:cs typeface="Segoe UI" pitchFamily="34" charset="0"/>
              </a:rPr>
              <a:t>aware profiles</a:t>
            </a:r>
          </a:p>
          <a:p>
            <a:pPr marL="180000" indent="-180000" fontAlgn="auto">
              <a:spcBef>
                <a:spcPts val="0"/>
              </a:spcBef>
              <a:spcAft>
                <a:spcPts val="0"/>
              </a:spcAft>
              <a:buClr>
                <a:srgbClr val="0070C0"/>
              </a:buClr>
              <a:buFont typeface="Arial" panose="020B0604020202020204" pitchFamily="34" charset="0"/>
              <a:buChar char="•"/>
              <a:defRPr/>
            </a:pPr>
            <a:r>
              <a:rPr lang="en-US" sz="2400" b="0" dirty="0">
                <a:solidFill>
                  <a:srgbClr val="000000"/>
                </a:solidFill>
                <a:latin typeface="Segoe UI" pitchFamily="34" charset="0"/>
                <a:ea typeface="Segoe UI" pitchFamily="34" charset="0"/>
                <a:cs typeface="Segoe UI" pitchFamily="34" charset="0"/>
              </a:rPr>
              <a:t>Enables you to import or export policies</a:t>
            </a:r>
          </a:p>
        </p:txBody>
      </p:sp>
    </p:spTree>
    <p:custDataLst>
      <p:tags r:id="rId1"/>
    </p:custDataLst>
    <p:extLst>
      <p:ext uri="{BB962C8B-B14F-4D97-AF65-F5344CB8AC3E}">
        <p14:creationId xmlns:p14="http://schemas.microsoft.com/office/powerpoint/2010/main" val="13476072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Deploying firewall rules</a:t>
            </a:r>
          </a:p>
        </p:txBody>
      </p:sp>
      <p:sp>
        <p:nvSpPr>
          <p:cNvPr id="4" name="Rounded Rectangle 3"/>
          <p:cNvSpPr>
            <a:spLocks noChangeArrowheads="1"/>
          </p:cNvSpPr>
          <p:nvPr/>
        </p:nvSpPr>
        <p:spPr bwMode="auto">
          <a:xfrm>
            <a:off x="1596981" y="1609859"/>
            <a:ext cx="8809124" cy="2781167"/>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a:spcBef>
                <a:spcPts val="600"/>
              </a:spcBef>
              <a:buClr>
                <a:srgbClr val="0070C0"/>
              </a:buClr>
              <a:buFont typeface="Arial" panose="020B0604020202020204" pitchFamily="34" charset="0"/>
              <a:buChar char="•"/>
            </a:pPr>
            <a:endParaRPr lang="en-US" b="0" dirty="0" smtClean="0">
              <a:latin typeface="Segoe UI" pitchFamily="34" charset="0"/>
              <a:ea typeface="Segoe UI" pitchFamily="34" charset="0"/>
              <a:cs typeface="Segoe UI" pitchFamily="34" charset="0"/>
            </a:endParaRPr>
          </a:p>
          <a:p>
            <a:pPr marL="180000" indent="-180000">
              <a:spcBef>
                <a:spcPts val="600"/>
              </a:spcBef>
              <a:buClr>
                <a:srgbClr val="0070C0"/>
              </a:buClr>
              <a:buFont typeface="Arial" panose="020B0604020202020204" pitchFamily="34" charset="0"/>
              <a:buChar char="•"/>
            </a:pPr>
            <a:r>
              <a:rPr lang="en-US" b="0" dirty="0" smtClean="0">
                <a:latin typeface="Segoe UI" pitchFamily="34" charset="0"/>
                <a:ea typeface="Segoe UI" pitchFamily="34" charset="0"/>
                <a:cs typeface="Segoe UI" pitchFamily="34" charset="0"/>
              </a:rPr>
              <a:t>You </a:t>
            </a:r>
            <a:r>
              <a:rPr lang="en-US" b="0" dirty="0">
                <a:latin typeface="Segoe UI" pitchFamily="34" charset="0"/>
                <a:ea typeface="Segoe UI" pitchFamily="34" charset="0"/>
                <a:cs typeface="Segoe UI" pitchFamily="34" charset="0"/>
              </a:rPr>
              <a:t>can deploy Windows Firewall rules:</a:t>
            </a:r>
            <a:endParaRPr lang="en-CA" b="0" dirty="0">
              <a:latin typeface="Segoe UI" panose="020B0502040204020203" pitchFamily="34" charset="0"/>
              <a:ea typeface="Segoe UI" panose="020B0502040204020203" pitchFamily="34" charset="0"/>
              <a:cs typeface="Segoe UI" panose="020B0502040204020203" pitchFamily="34" charset="0"/>
            </a:endParaRPr>
          </a:p>
          <a:p>
            <a:pPr lvl="1" indent="-169200">
              <a:spcBef>
                <a:spcPts val="600"/>
              </a:spcBef>
              <a:buClr>
                <a:srgbClr val="0070C0"/>
              </a:buClr>
              <a:buFont typeface="Arial" panose="020B0604020202020204" pitchFamily="34" charset="0"/>
              <a:buChar char="•"/>
            </a:pPr>
            <a:r>
              <a:rPr lang="en-CA" b="0" dirty="0">
                <a:latin typeface="Segoe UI" panose="020B0502040204020203" pitchFamily="34" charset="0"/>
                <a:ea typeface="Segoe UI" panose="020B0502040204020203" pitchFamily="34" charset="0"/>
                <a:cs typeface="Segoe UI" panose="020B0502040204020203" pitchFamily="34" charset="0"/>
              </a:rPr>
              <a:t>Manually. Use during testing or troubleshooting or for individual computers.</a:t>
            </a:r>
          </a:p>
          <a:p>
            <a:pPr lvl="1" indent="-169200">
              <a:spcBef>
                <a:spcPts val="600"/>
              </a:spcBef>
              <a:buClr>
                <a:srgbClr val="0070C0"/>
              </a:buClr>
              <a:buFont typeface="Arial" panose="020B0604020202020204" pitchFamily="34" charset="0"/>
              <a:buChar char="•"/>
            </a:pPr>
            <a:r>
              <a:rPr lang="en-CA" b="0" dirty="0">
                <a:latin typeface="Segoe UI" panose="020B0502040204020203" pitchFamily="34" charset="0"/>
                <a:ea typeface="Segoe UI" panose="020B0502040204020203" pitchFamily="34" charset="0"/>
                <a:cs typeface="Segoe UI" panose="020B0502040204020203" pitchFamily="34" charset="0"/>
              </a:rPr>
              <a:t>By using Group Policy. Note that this is the preferred way. Create and test the rules, and then deploy them to a large number of computers.</a:t>
            </a:r>
          </a:p>
          <a:p>
            <a:pPr lvl="1" indent="-169200">
              <a:spcBef>
                <a:spcPts val="600"/>
              </a:spcBef>
              <a:buClr>
                <a:srgbClr val="0070C0"/>
              </a:buClr>
              <a:buFont typeface="Arial" panose="020B0604020202020204" pitchFamily="34" charset="0"/>
              <a:buChar char="•"/>
            </a:pPr>
            <a:r>
              <a:rPr lang="en-CA" b="0" dirty="0">
                <a:latin typeface="Segoe UI" panose="020B0502040204020203" pitchFamily="34" charset="0"/>
                <a:ea typeface="Segoe UI" panose="020B0502040204020203" pitchFamily="34" charset="0"/>
                <a:cs typeface="Segoe UI" panose="020B0502040204020203" pitchFamily="34" charset="0"/>
              </a:rPr>
              <a:t>By exporting and importing. Use with Windows Firewall with Advanced </a:t>
            </a:r>
            <a:r>
              <a:rPr lang="en-CA" b="0" dirty="0" smtClean="0">
                <a:latin typeface="Segoe UI" panose="020B0502040204020203" pitchFamily="34" charset="0"/>
                <a:ea typeface="Segoe UI" panose="020B0502040204020203" pitchFamily="34" charset="0"/>
                <a:cs typeface="Segoe UI" panose="020B0502040204020203" pitchFamily="34" charset="0"/>
              </a:rPr>
              <a:t>Security.</a:t>
            </a:r>
          </a:p>
          <a:p>
            <a:pPr lvl="1" indent="-169200">
              <a:spcBef>
                <a:spcPts val="600"/>
              </a:spcBef>
              <a:buClr>
                <a:srgbClr val="0070C0"/>
              </a:buClr>
              <a:buFont typeface="Arial" panose="020B0604020202020204" pitchFamily="34" charset="0"/>
              <a:buChar char="•"/>
            </a:pPr>
            <a:r>
              <a:rPr lang="en-CA" b="0" dirty="0" smtClean="0">
                <a:latin typeface="Segoe UI" panose="020B0502040204020203" pitchFamily="34" charset="0"/>
                <a:ea typeface="Segoe UI" panose="020B0502040204020203" pitchFamily="34" charset="0"/>
                <a:cs typeface="Segoe UI" panose="020B0502040204020203" pitchFamily="34" charset="0"/>
              </a:rPr>
              <a:t>When </a:t>
            </a:r>
            <a:r>
              <a:rPr lang="en-CA" b="0" dirty="0">
                <a:latin typeface="Segoe UI" panose="020B0502040204020203" pitchFamily="34" charset="0"/>
                <a:ea typeface="Segoe UI" panose="020B0502040204020203" pitchFamily="34" charset="0"/>
                <a:cs typeface="Segoe UI" panose="020B0502040204020203" pitchFamily="34" charset="0"/>
              </a:rPr>
              <a:t>you import rules, they replace all the current rules.</a:t>
            </a:r>
          </a:p>
          <a:p>
            <a:r>
              <a:rPr lang="en-CA" sz="2000" b="0" dirty="0">
                <a:latin typeface="Segoe UI" panose="020B0502040204020203" pitchFamily="34" charset="0"/>
                <a:ea typeface="Segoe UI" panose="020B0502040204020203" pitchFamily="34" charset="0"/>
                <a:cs typeface="Segoe UI" panose="020B0502040204020203" pitchFamily="34" charset="0"/>
              </a:rPr>
              <a:t> </a:t>
            </a:r>
          </a:p>
          <a:p>
            <a:endParaRPr lang="en-US" sz="2600" b="0" dirty="0">
              <a:latin typeface="Segoe UI" pitchFamily="34" charset="0"/>
              <a:ea typeface="Segoe UI" pitchFamily="34" charset="0"/>
              <a:cs typeface="Segoe UI" pitchFamily="34" charset="0"/>
            </a:endParaRPr>
          </a:p>
          <a:p>
            <a:endParaRPr lang="en-US" sz="2600" b="0" dirty="0">
              <a:latin typeface="Segoe UI" pitchFamily="34" charset="0"/>
              <a:ea typeface="Segoe UI" pitchFamily="34" charset="0"/>
              <a:cs typeface="Segoe UI" pitchFamily="34" charset="0"/>
            </a:endParaRPr>
          </a:p>
          <a:p>
            <a:pPr>
              <a:buNone/>
            </a:pPr>
            <a:endParaRPr lang="en-US" sz="2600" b="0" dirty="0">
              <a:latin typeface="Segoe UI" pitchFamily="34" charset="0"/>
              <a:ea typeface="Segoe UI" pitchFamily="34" charset="0"/>
              <a:cs typeface="Segoe UI" pitchFamily="34" charset="0"/>
            </a:endParaRPr>
          </a:p>
          <a:p>
            <a:pPr>
              <a:buNone/>
            </a:pPr>
            <a:endParaRPr lang="en-US" sz="2600" b="0" dirty="0">
              <a:latin typeface="Segoe UI" pitchFamily="34" charset="0"/>
              <a:ea typeface="Segoe UI" pitchFamily="34" charset="0"/>
              <a:cs typeface="Segoe UI" pitchFamily="34" charset="0"/>
            </a:endParaRPr>
          </a:p>
          <a:p>
            <a:pPr>
              <a:buNone/>
            </a:pPr>
            <a:endParaRPr lang="en-US" sz="2600" b="0" dirty="0">
              <a:latin typeface="Segoe UI" pitchFamily="34" charset="0"/>
              <a:ea typeface="Segoe UI" pitchFamily="34" charset="0"/>
              <a:cs typeface="Segoe UI" pitchFamily="34" charset="0"/>
            </a:endParaRPr>
          </a:p>
        </p:txBody>
      </p:sp>
      <p:sp>
        <p:nvSpPr>
          <p:cNvPr id="5" name="TextBox 1"/>
          <p:cNvSpPr txBox="1"/>
          <p:nvPr/>
        </p:nvSpPr>
        <p:spPr>
          <a:xfrm>
            <a:off x="2002966" y="4911676"/>
            <a:ext cx="5000624" cy="1141439"/>
          </a:xfrm>
          <a:prstGeom prst="rect">
            <a:avLst/>
          </a:prstGeom>
          <a:noFill/>
          <a:ln w="44450" cmpd="sng">
            <a:solidFill>
              <a:srgbClr val="FF0000"/>
            </a:solidFill>
            <a:prstDash val="sysDash"/>
          </a:ln>
          <a:effectLst/>
        </p:spPr>
        <p:txBody>
          <a:bodyPr wrap="square" tIns="108000" bIns="10800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000" b="0" dirty="0">
                <a:latin typeface="Segoe UI" panose="020B0502040204020203" pitchFamily="34" charset="0"/>
                <a:ea typeface="Segoe UI" panose="020B0502040204020203" pitchFamily="34" charset="0"/>
                <a:cs typeface="Segoe UI" panose="020B0502040204020203" pitchFamily="34" charset="0"/>
              </a:rPr>
              <a:t>Always test firewall rules in an isolated, nonproduction environment before you deploy them in production.</a:t>
            </a:r>
            <a:endParaRPr lang="en-CA" sz="2000" dirty="0"/>
          </a:p>
        </p:txBody>
      </p:sp>
      <p:grpSp>
        <p:nvGrpSpPr>
          <p:cNvPr id="6" name="Group 5"/>
          <p:cNvGrpSpPr/>
          <p:nvPr/>
        </p:nvGrpSpPr>
        <p:grpSpPr>
          <a:xfrm>
            <a:off x="7525864" y="4360983"/>
            <a:ext cx="2797290" cy="1967565"/>
            <a:chOff x="8453465" y="3231599"/>
            <a:chExt cx="3128640" cy="2200631"/>
          </a:xfrm>
        </p:grpSpPr>
        <p:grpSp>
          <p:nvGrpSpPr>
            <p:cNvPr id="7" name="Group 6"/>
            <p:cNvGrpSpPr>
              <a:grpSpLocks noChangeAspect="1"/>
            </p:cNvGrpSpPr>
            <p:nvPr/>
          </p:nvGrpSpPr>
          <p:grpSpPr bwMode="auto">
            <a:xfrm>
              <a:off x="9906000" y="3231599"/>
              <a:ext cx="1676105" cy="2020626"/>
              <a:chOff x="1780" y="1364"/>
              <a:chExt cx="793" cy="956"/>
            </a:xfrm>
          </p:grpSpPr>
          <p:sp>
            <p:nvSpPr>
              <p:cNvPr id="43" name="AutoShape 3"/>
              <p:cNvSpPr>
                <a:spLocks noChangeAspect="1" noChangeArrowheads="1" noTextEdit="1"/>
              </p:cNvSpPr>
              <p:nvPr/>
            </p:nvSpPr>
            <p:spPr bwMode="auto">
              <a:xfrm>
                <a:off x="1780" y="1364"/>
                <a:ext cx="793" cy="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44" name="Freeform 43"/>
              <p:cNvSpPr>
                <a:spLocks/>
              </p:cNvSpPr>
              <p:nvPr/>
            </p:nvSpPr>
            <p:spPr bwMode="auto">
              <a:xfrm>
                <a:off x="1818" y="1494"/>
                <a:ext cx="700" cy="717"/>
              </a:xfrm>
              <a:custGeom>
                <a:avLst/>
                <a:gdLst>
                  <a:gd name="T0" fmla="*/ 1472 w 1487"/>
                  <a:gd name="T1" fmla="*/ 646 h 1524"/>
                  <a:gd name="T2" fmla="*/ 646 w 1487"/>
                  <a:gd name="T3" fmla="*/ 69 h 1524"/>
                  <a:gd name="T4" fmla="*/ 69 w 1487"/>
                  <a:gd name="T5" fmla="*/ 895 h 1524"/>
                  <a:gd name="T6" fmla="*/ 170 w 1487"/>
                  <a:gd name="T7" fmla="*/ 1154 h 1524"/>
                  <a:gd name="T8" fmla="*/ 895 w 1487"/>
                  <a:gd name="T9" fmla="*/ 1472 h 1524"/>
                  <a:gd name="T10" fmla="*/ 1477 w 1487"/>
                  <a:gd name="T11" fmla="*/ 862 h 1524"/>
                  <a:gd name="T12" fmla="*/ 1472 w 1487"/>
                  <a:gd name="T13" fmla="*/ 646 h 1524"/>
                </a:gdLst>
                <a:ahLst/>
                <a:cxnLst>
                  <a:cxn ang="0">
                    <a:pos x="T0" y="T1"/>
                  </a:cxn>
                  <a:cxn ang="0">
                    <a:pos x="T2" y="T3"/>
                  </a:cxn>
                  <a:cxn ang="0">
                    <a:pos x="T4" y="T5"/>
                  </a:cxn>
                  <a:cxn ang="0">
                    <a:pos x="T6" y="T7"/>
                  </a:cxn>
                  <a:cxn ang="0">
                    <a:pos x="T8" y="T9"/>
                  </a:cxn>
                  <a:cxn ang="0">
                    <a:pos x="T10" y="T11"/>
                  </a:cxn>
                  <a:cxn ang="0">
                    <a:pos x="T12" y="T13"/>
                  </a:cxn>
                </a:cxnLst>
                <a:rect l="0" t="0" r="r" b="b"/>
                <a:pathLst>
                  <a:path w="1487" h="1524">
                    <a:moveTo>
                      <a:pt x="1472" y="646"/>
                    </a:moveTo>
                    <a:cubicBezTo>
                      <a:pt x="1403" y="258"/>
                      <a:pt x="1033" y="0"/>
                      <a:pt x="646" y="69"/>
                    </a:cubicBezTo>
                    <a:cubicBezTo>
                      <a:pt x="258" y="138"/>
                      <a:pt x="0" y="508"/>
                      <a:pt x="69" y="895"/>
                    </a:cubicBezTo>
                    <a:cubicBezTo>
                      <a:pt x="86" y="990"/>
                      <a:pt x="121" y="1078"/>
                      <a:pt x="170" y="1154"/>
                    </a:cubicBezTo>
                    <a:cubicBezTo>
                      <a:pt x="320" y="1390"/>
                      <a:pt x="603" y="1524"/>
                      <a:pt x="895" y="1472"/>
                    </a:cubicBezTo>
                    <a:cubicBezTo>
                      <a:pt x="1209" y="1416"/>
                      <a:pt x="1439" y="1163"/>
                      <a:pt x="1477" y="862"/>
                    </a:cubicBezTo>
                    <a:cubicBezTo>
                      <a:pt x="1487" y="792"/>
                      <a:pt x="1485" y="719"/>
                      <a:pt x="1472" y="646"/>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45" name="Freeform 44"/>
              <p:cNvSpPr>
                <a:spLocks/>
              </p:cNvSpPr>
              <p:nvPr/>
            </p:nvSpPr>
            <p:spPr bwMode="auto">
              <a:xfrm>
                <a:off x="1845" y="1860"/>
                <a:ext cx="21" cy="41"/>
              </a:xfrm>
              <a:custGeom>
                <a:avLst/>
                <a:gdLst>
                  <a:gd name="T0" fmla="*/ 42 w 45"/>
                  <a:gd name="T1" fmla="*/ 29 h 87"/>
                  <a:gd name="T2" fmla="*/ 43 w 45"/>
                  <a:gd name="T3" fmla="*/ 16 h 87"/>
                  <a:gd name="T4" fmla="*/ 33 w 45"/>
                  <a:gd name="T5" fmla="*/ 8 h 87"/>
                  <a:gd name="T6" fmla="*/ 0 w 45"/>
                  <a:gd name="T7" fmla="*/ 0 h 87"/>
                  <a:gd name="T8" fmla="*/ 6 w 45"/>
                  <a:gd name="T9" fmla="*/ 87 h 87"/>
                  <a:gd name="T10" fmla="*/ 42 w 45"/>
                  <a:gd name="T11" fmla="*/ 29 h 87"/>
                </a:gdLst>
                <a:ahLst/>
                <a:cxnLst>
                  <a:cxn ang="0">
                    <a:pos x="T0" y="T1"/>
                  </a:cxn>
                  <a:cxn ang="0">
                    <a:pos x="T2" y="T3"/>
                  </a:cxn>
                  <a:cxn ang="0">
                    <a:pos x="T4" y="T5"/>
                  </a:cxn>
                  <a:cxn ang="0">
                    <a:pos x="T6" y="T7"/>
                  </a:cxn>
                  <a:cxn ang="0">
                    <a:pos x="T8" y="T9"/>
                  </a:cxn>
                  <a:cxn ang="0">
                    <a:pos x="T10" y="T11"/>
                  </a:cxn>
                </a:cxnLst>
                <a:rect l="0" t="0" r="r" b="b"/>
                <a:pathLst>
                  <a:path w="45" h="87">
                    <a:moveTo>
                      <a:pt x="42" y="29"/>
                    </a:moveTo>
                    <a:cubicBezTo>
                      <a:pt x="44" y="25"/>
                      <a:pt x="45" y="20"/>
                      <a:pt x="43" y="16"/>
                    </a:cubicBezTo>
                    <a:cubicBezTo>
                      <a:pt x="41" y="12"/>
                      <a:pt x="38" y="9"/>
                      <a:pt x="33" y="8"/>
                    </a:cubicBezTo>
                    <a:cubicBezTo>
                      <a:pt x="0" y="0"/>
                      <a:pt x="0" y="0"/>
                      <a:pt x="0" y="0"/>
                    </a:cubicBezTo>
                    <a:cubicBezTo>
                      <a:pt x="0" y="29"/>
                      <a:pt x="2" y="58"/>
                      <a:pt x="6" y="87"/>
                    </a:cubicBezTo>
                    <a:lnTo>
                      <a:pt x="42" y="29"/>
                    </a:ln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46" name="Freeform 45"/>
              <p:cNvSpPr>
                <a:spLocks/>
              </p:cNvSpPr>
              <p:nvPr/>
            </p:nvSpPr>
            <p:spPr bwMode="auto">
              <a:xfrm>
                <a:off x="1845" y="1589"/>
                <a:ext cx="366" cy="339"/>
              </a:xfrm>
              <a:custGeom>
                <a:avLst/>
                <a:gdLst>
                  <a:gd name="T0" fmla="*/ 329 w 778"/>
                  <a:gd name="T1" fmla="*/ 265 h 721"/>
                  <a:gd name="T2" fmla="*/ 620 w 778"/>
                  <a:gd name="T3" fmla="*/ 103 h 721"/>
                  <a:gd name="T4" fmla="*/ 631 w 778"/>
                  <a:gd name="T5" fmla="*/ 101 h 721"/>
                  <a:gd name="T6" fmla="*/ 631 w 778"/>
                  <a:gd name="T7" fmla="*/ 102 h 721"/>
                  <a:gd name="T8" fmla="*/ 688 w 778"/>
                  <a:gd name="T9" fmla="*/ 105 h 721"/>
                  <a:gd name="T10" fmla="*/ 688 w 778"/>
                  <a:gd name="T11" fmla="*/ 105 h 721"/>
                  <a:gd name="T12" fmla="*/ 729 w 778"/>
                  <a:gd name="T13" fmla="*/ 76 h 721"/>
                  <a:gd name="T14" fmla="*/ 735 w 778"/>
                  <a:gd name="T15" fmla="*/ 66 h 721"/>
                  <a:gd name="T16" fmla="*/ 732 w 778"/>
                  <a:gd name="T17" fmla="*/ 55 h 721"/>
                  <a:gd name="T18" fmla="*/ 724 w 778"/>
                  <a:gd name="T19" fmla="*/ 46 h 721"/>
                  <a:gd name="T20" fmla="*/ 768 w 778"/>
                  <a:gd name="T21" fmla="*/ 36 h 721"/>
                  <a:gd name="T22" fmla="*/ 778 w 778"/>
                  <a:gd name="T23" fmla="*/ 22 h 721"/>
                  <a:gd name="T24" fmla="*/ 767 w 778"/>
                  <a:gd name="T25" fmla="*/ 9 h 721"/>
                  <a:gd name="T26" fmla="*/ 714 w 778"/>
                  <a:gd name="T27" fmla="*/ 1 h 721"/>
                  <a:gd name="T28" fmla="*/ 370 w 778"/>
                  <a:gd name="T29" fmla="*/ 23 h 721"/>
                  <a:gd name="T30" fmla="*/ 366 w 778"/>
                  <a:gd name="T31" fmla="*/ 25 h 721"/>
                  <a:gd name="T32" fmla="*/ 315 w 778"/>
                  <a:gd name="T33" fmla="*/ 45 h 721"/>
                  <a:gd name="T34" fmla="*/ 221 w 778"/>
                  <a:gd name="T35" fmla="*/ 53 h 721"/>
                  <a:gd name="T36" fmla="*/ 0 w 778"/>
                  <a:gd name="T37" fmla="*/ 550 h 721"/>
                  <a:gd name="T38" fmla="*/ 17 w 778"/>
                  <a:gd name="T39" fmla="*/ 550 h 721"/>
                  <a:gd name="T40" fmla="*/ 89 w 778"/>
                  <a:gd name="T41" fmla="*/ 572 h 721"/>
                  <a:gd name="T42" fmla="*/ 118 w 778"/>
                  <a:gd name="T43" fmla="*/ 599 h 721"/>
                  <a:gd name="T44" fmla="*/ 120 w 778"/>
                  <a:gd name="T45" fmla="*/ 600 h 721"/>
                  <a:gd name="T46" fmla="*/ 153 w 778"/>
                  <a:gd name="T47" fmla="*/ 621 h 721"/>
                  <a:gd name="T48" fmla="*/ 174 w 778"/>
                  <a:gd name="T49" fmla="*/ 649 h 721"/>
                  <a:gd name="T50" fmla="*/ 202 w 778"/>
                  <a:gd name="T51" fmla="*/ 703 h 721"/>
                  <a:gd name="T52" fmla="*/ 209 w 778"/>
                  <a:gd name="T53" fmla="*/ 710 h 721"/>
                  <a:gd name="T54" fmla="*/ 235 w 778"/>
                  <a:gd name="T55" fmla="*/ 720 h 721"/>
                  <a:gd name="T56" fmla="*/ 247 w 778"/>
                  <a:gd name="T57" fmla="*/ 718 h 721"/>
                  <a:gd name="T58" fmla="*/ 254 w 778"/>
                  <a:gd name="T59" fmla="*/ 709 h 721"/>
                  <a:gd name="T60" fmla="*/ 264 w 778"/>
                  <a:gd name="T61" fmla="*/ 648 h 721"/>
                  <a:gd name="T62" fmla="*/ 261 w 778"/>
                  <a:gd name="T63" fmla="*/ 637 h 721"/>
                  <a:gd name="T64" fmla="*/ 256 w 778"/>
                  <a:gd name="T65" fmla="*/ 632 h 721"/>
                  <a:gd name="T66" fmla="*/ 267 w 778"/>
                  <a:gd name="T67" fmla="*/ 623 h 721"/>
                  <a:gd name="T68" fmla="*/ 270 w 778"/>
                  <a:gd name="T69" fmla="*/ 618 h 721"/>
                  <a:gd name="T70" fmla="*/ 279 w 778"/>
                  <a:gd name="T71" fmla="*/ 601 h 721"/>
                  <a:gd name="T72" fmla="*/ 329 w 778"/>
                  <a:gd name="T73" fmla="*/ 265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8" h="721">
                    <a:moveTo>
                      <a:pt x="329" y="265"/>
                    </a:moveTo>
                    <a:cubicBezTo>
                      <a:pt x="398" y="165"/>
                      <a:pt x="507" y="109"/>
                      <a:pt x="620" y="103"/>
                    </a:cubicBezTo>
                    <a:cubicBezTo>
                      <a:pt x="631" y="101"/>
                      <a:pt x="631" y="101"/>
                      <a:pt x="631" y="101"/>
                    </a:cubicBezTo>
                    <a:cubicBezTo>
                      <a:pt x="631" y="102"/>
                      <a:pt x="631" y="102"/>
                      <a:pt x="631" y="102"/>
                    </a:cubicBezTo>
                    <a:cubicBezTo>
                      <a:pt x="650" y="102"/>
                      <a:pt x="669" y="103"/>
                      <a:pt x="688" y="105"/>
                    </a:cubicBezTo>
                    <a:cubicBezTo>
                      <a:pt x="688" y="105"/>
                      <a:pt x="688" y="105"/>
                      <a:pt x="688" y="105"/>
                    </a:cubicBezTo>
                    <a:cubicBezTo>
                      <a:pt x="729" y="76"/>
                      <a:pt x="729" y="76"/>
                      <a:pt x="729" y="76"/>
                    </a:cubicBezTo>
                    <a:cubicBezTo>
                      <a:pt x="732" y="74"/>
                      <a:pt x="735" y="70"/>
                      <a:pt x="735" y="66"/>
                    </a:cubicBezTo>
                    <a:cubicBezTo>
                      <a:pt x="736" y="62"/>
                      <a:pt x="734" y="58"/>
                      <a:pt x="732" y="55"/>
                    </a:cubicBezTo>
                    <a:cubicBezTo>
                      <a:pt x="724" y="46"/>
                      <a:pt x="724" y="46"/>
                      <a:pt x="724" y="46"/>
                    </a:cubicBezTo>
                    <a:cubicBezTo>
                      <a:pt x="768" y="36"/>
                      <a:pt x="768" y="36"/>
                      <a:pt x="768" y="36"/>
                    </a:cubicBezTo>
                    <a:cubicBezTo>
                      <a:pt x="774" y="34"/>
                      <a:pt x="778" y="29"/>
                      <a:pt x="778" y="22"/>
                    </a:cubicBezTo>
                    <a:cubicBezTo>
                      <a:pt x="778" y="16"/>
                      <a:pt x="774" y="10"/>
                      <a:pt x="767" y="9"/>
                    </a:cubicBezTo>
                    <a:cubicBezTo>
                      <a:pt x="725" y="0"/>
                      <a:pt x="717" y="0"/>
                      <a:pt x="714" y="1"/>
                    </a:cubicBezTo>
                    <a:cubicBezTo>
                      <a:pt x="703" y="2"/>
                      <a:pt x="503" y="15"/>
                      <a:pt x="370" y="23"/>
                    </a:cubicBezTo>
                    <a:cubicBezTo>
                      <a:pt x="369" y="24"/>
                      <a:pt x="367" y="24"/>
                      <a:pt x="366" y="25"/>
                    </a:cubicBezTo>
                    <a:cubicBezTo>
                      <a:pt x="315" y="45"/>
                      <a:pt x="315" y="45"/>
                      <a:pt x="315" y="45"/>
                    </a:cubicBezTo>
                    <a:cubicBezTo>
                      <a:pt x="221" y="53"/>
                      <a:pt x="221" y="53"/>
                      <a:pt x="221" y="53"/>
                    </a:cubicBezTo>
                    <a:cubicBezTo>
                      <a:pt x="87" y="180"/>
                      <a:pt x="5" y="358"/>
                      <a:pt x="0" y="550"/>
                    </a:cubicBezTo>
                    <a:cubicBezTo>
                      <a:pt x="17" y="550"/>
                      <a:pt x="17" y="550"/>
                      <a:pt x="17" y="550"/>
                    </a:cubicBezTo>
                    <a:cubicBezTo>
                      <a:pt x="89" y="572"/>
                      <a:pt x="89" y="572"/>
                      <a:pt x="89" y="572"/>
                    </a:cubicBezTo>
                    <a:cubicBezTo>
                      <a:pt x="118" y="599"/>
                      <a:pt x="118" y="599"/>
                      <a:pt x="118" y="599"/>
                    </a:cubicBezTo>
                    <a:cubicBezTo>
                      <a:pt x="119" y="599"/>
                      <a:pt x="120" y="600"/>
                      <a:pt x="120" y="600"/>
                    </a:cubicBezTo>
                    <a:cubicBezTo>
                      <a:pt x="153" y="621"/>
                      <a:pt x="153" y="621"/>
                      <a:pt x="153" y="621"/>
                    </a:cubicBezTo>
                    <a:cubicBezTo>
                      <a:pt x="174" y="649"/>
                      <a:pt x="174" y="649"/>
                      <a:pt x="174" y="649"/>
                    </a:cubicBezTo>
                    <a:cubicBezTo>
                      <a:pt x="202" y="703"/>
                      <a:pt x="202" y="703"/>
                      <a:pt x="202" y="703"/>
                    </a:cubicBezTo>
                    <a:cubicBezTo>
                      <a:pt x="203" y="706"/>
                      <a:pt x="206" y="709"/>
                      <a:pt x="209" y="710"/>
                    </a:cubicBezTo>
                    <a:cubicBezTo>
                      <a:pt x="235" y="720"/>
                      <a:pt x="235" y="720"/>
                      <a:pt x="235" y="720"/>
                    </a:cubicBezTo>
                    <a:cubicBezTo>
                      <a:pt x="239" y="721"/>
                      <a:pt x="244" y="721"/>
                      <a:pt x="247" y="718"/>
                    </a:cubicBezTo>
                    <a:cubicBezTo>
                      <a:pt x="251" y="716"/>
                      <a:pt x="253" y="713"/>
                      <a:pt x="254" y="709"/>
                    </a:cubicBezTo>
                    <a:cubicBezTo>
                      <a:pt x="264" y="648"/>
                      <a:pt x="264" y="648"/>
                      <a:pt x="264" y="648"/>
                    </a:cubicBezTo>
                    <a:cubicBezTo>
                      <a:pt x="264" y="644"/>
                      <a:pt x="263" y="640"/>
                      <a:pt x="261" y="637"/>
                    </a:cubicBezTo>
                    <a:cubicBezTo>
                      <a:pt x="256" y="632"/>
                      <a:pt x="256" y="632"/>
                      <a:pt x="256" y="632"/>
                    </a:cubicBezTo>
                    <a:cubicBezTo>
                      <a:pt x="267" y="623"/>
                      <a:pt x="267" y="623"/>
                      <a:pt x="267" y="623"/>
                    </a:cubicBezTo>
                    <a:cubicBezTo>
                      <a:pt x="268" y="621"/>
                      <a:pt x="270" y="620"/>
                      <a:pt x="270" y="618"/>
                    </a:cubicBezTo>
                    <a:cubicBezTo>
                      <a:pt x="279" y="601"/>
                      <a:pt x="279" y="601"/>
                      <a:pt x="279" y="601"/>
                    </a:cubicBezTo>
                    <a:cubicBezTo>
                      <a:pt x="243" y="492"/>
                      <a:pt x="257" y="367"/>
                      <a:pt x="329" y="265"/>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47" name="Freeform 46"/>
              <p:cNvSpPr>
                <a:spLocks/>
              </p:cNvSpPr>
              <p:nvPr/>
            </p:nvSpPr>
            <p:spPr bwMode="auto">
              <a:xfrm>
                <a:off x="2252" y="1934"/>
                <a:ext cx="50" cy="30"/>
              </a:xfrm>
              <a:custGeom>
                <a:avLst/>
                <a:gdLst>
                  <a:gd name="T0" fmla="*/ 3 w 105"/>
                  <a:gd name="T1" fmla="*/ 54 h 62"/>
                  <a:gd name="T2" fmla="*/ 18 w 105"/>
                  <a:gd name="T3" fmla="*/ 49 h 62"/>
                  <a:gd name="T4" fmla="*/ 27 w 105"/>
                  <a:gd name="T5" fmla="*/ 36 h 62"/>
                  <a:gd name="T6" fmla="*/ 84 w 105"/>
                  <a:gd name="T7" fmla="*/ 61 h 62"/>
                  <a:gd name="T8" fmla="*/ 92 w 105"/>
                  <a:gd name="T9" fmla="*/ 62 h 62"/>
                  <a:gd name="T10" fmla="*/ 101 w 105"/>
                  <a:gd name="T11" fmla="*/ 56 h 62"/>
                  <a:gd name="T12" fmla="*/ 99 w 105"/>
                  <a:gd name="T13" fmla="*/ 38 h 62"/>
                  <a:gd name="T14" fmla="*/ 58 w 105"/>
                  <a:gd name="T15" fmla="*/ 0 h 62"/>
                  <a:gd name="T16" fmla="*/ 0 w 105"/>
                  <a:gd name="T17" fmla="*/ 53 h 62"/>
                  <a:gd name="T18" fmla="*/ 3 w 105"/>
                  <a:gd name="T19" fmla="*/ 5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62">
                    <a:moveTo>
                      <a:pt x="3" y="54"/>
                    </a:moveTo>
                    <a:cubicBezTo>
                      <a:pt x="9" y="56"/>
                      <a:pt x="15" y="53"/>
                      <a:pt x="18" y="49"/>
                    </a:cubicBezTo>
                    <a:cubicBezTo>
                      <a:pt x="27" y="36"/>
                      <a:pt x="27" y="36"/>
                      <a:pt x="27" y="36"/>
                    </a:cubicBezTo>
                    <a:cubicBezTo>
                      <a:pt x="84" y="61"/>
                      <a:pt x="84" y="61"/>
                      <a:pt x="84" y="61"/>
                    </a:cubicBezTo>
                    <a:cubicBezTo>
                      <a:pt x="86" y="62"/>
                      <a:pt x="89" y="62"/>
                      <a:pt x="92" y="62"/>
                    </a:cubicBezTo>
                    <a:cubicBezTo>
                      <a:pt x="96" y="61"/>
                      <a:pt x="99" y="59"/>
                      <a:pt x="101" y="56"/>
                    </a:cubicBezTo>
                    <a:cubicBezTo>
                      <a:pt x="105" y="50"/>
                      <a:pt x="104" y="43"/>
                      <a:pt x="99" y="38"/>
                    </a:cubicBezTo>
                    <a:cubicBezTo>
                      <a:pt x="58" y="0"/>
                      <a:pt x="58" y="0"/>
                      <a:pt x="58" y="0"/>
                    </a:cubicBezTo>
                    <a:cubicBezTo>
                      <a:pt x="41" y="20"/>
                      <a:pt x="21" y="38"/>
                      <a:pt x="0" y="53"/>
                    </a:cubicBezTo>
                    <a:lnTo>
                      <a:pt x="3" y="54"/>
                    </a:ln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48" name="Freeform 47"/>
              <p:cNvSpPr>
                <a:spLocks/>
              </p:cNvSpPr>
              <p:nvPr/>
            </p:nvSpPr>
            <p:spPr bwMode="auto">
              <a:xfrm>
                <a:off x="2285" y="1914"/>
                <a:ext cx="17" cy="22"/>
              </a:xfrm>
              <a:custGeom>
                <a:avLst/>
                <a:gdLst>
                  <a:gd name="T0" fmla="*/ 4 w 37"/>
                  <a:gd name="T1" fmla="*/ 26 h 47"/>
                  <a:gd name="T2" fmla="*/ 3 w 37"/>
                  <a:gd name="T3" fmla="*/ 29 h 47"/>
                  <a:gd name="T4" fmla="*/ 12 w 37"/>
                  <a:gd name="T5" fmla="*/ 46 h 47"/>
                  <a:gd name="T6" fmla="*/ 19 w 37"/>
                  <a:gd name="T7" fmla="*/ 47 h 47"/>
                  <a:gd name="T8" fmla="*/ 29 w 37"/>
                  <a:gd name="T9" fmla="*/ 37 h 47"/>
                  <a:gd name="T10" fmla="*/ 35 w 37"/>
                  <a:gd name="T11" fmla="*/ 20 h 47"/>
                  <a:gd name="T12" fmla="*/ 29 w 37"/>
                  <a:gd name="T13" fmla="*/ 4 h 47"/>
                  <a:gd name="T14" fmla="*/ 23 w 37"/>
                  <a:gd name="T15" fmla="*/ 0 h 47"/>
                  <a:gd name="T16" fmla="*/ 18 w 37"/>
                  <a:gd name="T17" fmla="*/ 8 h 47"/>
                  <a:gd name="T18" fmla="*/ 4 w 37"/>
                  <a:gd name="T1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47">
                    <a:moveTo>
                      <a:pt x="4" y="26"/>
                    </a:moveTo>
                    <a:cubicBezTo>
                      <a:pt x="3" y="29"/>
                      <a:pt x="3" y="29"/>
                      <a:pt x="3" y="29"/>
                    </a:cubicBezTo>
                    <a:cubicBezTo>
                      <a:pt x="0" y="36"/>
                      <a:pt x="4" y="44"/>
                      <a:pt x="12" y="46"/>
                    </a:cubicBezTo>
                    <a:cubicBezTo>
                      <a:pt x="14" y="47"/>
                      <a:pt x="16" y="47"/>
                      <a:pt x="19" y="47"/>
                    </a:cubicBezTo>
                    <a:cubicBezTo>
                      <a:pt x="24" y="46"/>
                      <a:pt x="28" y="43"/>
                      <a:pt x="29" y="37"/>
                    </a:cubicBezTo>
                    <a:cubicBezTo>
                      <a:pt x="35" y="20"/>
                      <a:pt x="35" y="20"/>
                      <a:pt x="35" y="20"/>
                    </a:cubicBezTo>
                    <a:cubicBezTo>
                      <a:pt x="37" y="14"/>
                      <a:pt x="35" y="7"/>
                      <a:pt x="29" y="4"/>
                    </a:cubicBezTo>
                    <a:cubicBezTo>
                      <a:pt x="23" y="0"/>
                      <a:pt x="23" y="0"/>
                      <a:pt x="23" y="0"/>
                    </a:cubicBezTo>
                    <a:cubicBezTo>
                      <a:pt x="21" y="3"/>
                      <a:pt x="19" y="5"/>
                      <a:pt x="18" y="8"/>
                    </a:cubicBezTo>
                    <a:cubicBezTo>
                      <a:pt x="13" y="14"/>
                      <a:pt x="8" y="20"/>
                      <a:pt x="4" y="26"/>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49" name="Freeform 48"/>
              <p:cNvSpPr>
                <a:spLocks/>
              </p:cNvSpPr>
              <p:nvPr/>
            </p:nvSpPr>
            <p:spPr bwMode="auto">
              <a:xfrm>
                <a:off x="2299" y="1922"/>
                <a:ext cx="40" cy="28"/>
              </a:xfrm>
              <a:custGeom>
                <a:avLst/>
                <a:gdLst>
                  <a:gd name="T0" fmla="*/ 10 w 85"/>
                  <a:gd name="T1" fmla="*/ 28 h 59"/>
                  <a:gd name="T2" fmla="*/ 63 w 85"/>
                  <a:gd name="T3" fmla="*/ 57 h 59"/>
                  <a:gd name="T4" fmla="*/ 72 w 85"/>
                  <a:gd name="T5" fmla="*/ 58 h 59"/>
                  <a:gd name="T6" fmla="*/ 82 w 85"/>
                  <a:gd name="T7" fmla="*/ 51 h 59"/>
                  <a:gd name="T8" fmla="*/ 76 w 85"/>
                  <a:gd name="T9" fmla="*/ 32 h 59"/>
                  <a:gd name="T10" fmla="*/ 23 w 85"/>
                  <a:gd name="T11" fmla="*/ 4 h 59"/>
                  <a:gd name="T12" fmla="*/ 4 w 85"/>
                  <a:gd name="T13" fmla="*/ 9 h 59"/>
                  <a:gd name="T14" fmla="*/ 10 w 85"/>
                  <a:gd name="T15" fmla="*/ 28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 h="59">
                    <a:moveTo>
                      <a:pt x="10" y="28"/>
                    </a:moveTo>
                    <a:cubicBezTo>
                      <a:pt x="63" y="57"/>
                      <a:pt x="63" y="57"/>
                      <a:pt x="63" y="57"/>
                    </a:cubicBezTo>
                    <a:cubicBezTo>
                      <a:pt x="66" y="58"/>
                      <a:pt x="69" y="59"/>
                      <a:pt x="72" y="58"/>
                    </a:cubicBezTo>
                    <a:cubicBezTo>
                      <a:pt x="76" y="57"/>
                      <a:pt x="80" y="55"/>
                      <a:pt x="82" y="51"/>
                    </a:cubicBezTo>
                    <a:cubicBezTo>
                      <a:pt x="85" y="44"/>
                      <a:pt x="83" y="36"/>
                      <a:pt x="76" y="32"/>
                    </a:cubicBezTo>
                    <a:cubicBezTo>
                      <a:pt x="23" y="4"/>
                      <a:pt x="23" y="4"/>
                      <a:pt x="23" y="4"/>
                    </a:cubicBezTo>
                    <a:cubicBezTo>
                      <a:pt x="16" y="0"/>
                      <a:pt x="8" y="3"/>
                      <a:pt x="4" y="9"/>
                    </a:cubicBezTo>
                    <a:cubicBezTo>
                      <a:pt x="0" y="16"/>
                      <a:pt x="3" y="25"/>
                      <a:pt x="10" y="28"/>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0" name="Freeform 49"/>
              <p:cNvSpPr>
                <a:spLocks/>
              </p:cNvSpPr>
              <p:nvPr/>
            </p:nvSpPr>
            <p:spPr bwMode="auto">
              <a:xfrm>
                <a:off x="2124" y="1964"/>
                <a:ext cx="183" cy="143"/>
              </a:xfrm>
              <a:custGeom>
                <a:avLst/>
                <a:gdLst>
                  <a:gd name="T0" fmla="*/ 265 w 388"/>
                  <a:gd name="T1" fmla="*/ 303 h 304"/>
                  <a:gd name="T2" fmla="*/ 269 w 388"/>
                  <a:gd name="T3" fmla="*/ 301 h 304"/>
                  <a:gd name="T4" fmla="*/ 312 w 388"/>
                  <a:gd name="T5" fmla="*/ 279 h 304"/>
                  <a:gd name="T6" fmla="*/ 317 w 388"/>
                  <a:gd name="T7" fmla="*/ 275 h 304"/>
                  <a:gd name="T8" fmla="*/ 358 w 388"/>
                  <a:gd name="T9" fmla="*/ 225 h 304"/>
                  <a:gd name="T10" fmla="*/ 361 w 388"/>
                  <a:gd name="T11" fmla="*/ 220 h 304"/>
                  <a:gd name="T12" fmla="*/ 386 w 388"/>
                  <a:gd name="T13" fmla="*/ 137 h 304"/>
                  <a:gd name="T14" fmla="*/ 383 w 388"/>
                  <a:gd name="T15" fmla="*/ 123 h 304"/>
                  <a:gd name="T16" fmla="*/ 336 w 388"/>
                  <a:gd name="T17" fmla="*/ 73 h 304"/>
                  <a:gd name="T18" fmla="*/ 318 w 388"/>
                  <a:gd name="T19" fmla="*/ 26 h 304"/>
                  <a:gd name="T20" fmla="*/ 312 w 388"/>
                  <a:gd name="T21" fmla="*/ 19 h 304"/>
                  <a:gd name="T22" fmla="*/ 285 w 388"/>
                  <a:gd name="T23" fmla="*/ 2 h 304"/>
                  <a:gd name="T24" fmla="*/ 273 w 388"/>
                  <a:gd name="T25" fmla="*/ 1 h 304"/>
                  <a:gd name="T26" fmla="*/ 265 w 388"/>
                  <a:gd name="T27" fmla="*/ 10 h 304"/>
                  <a:gd name="T28" fmla="*/ 252 w 388"/>
                  <a:gd name="T29" fmla="*/ 44 h 304"/>
                  <a:gd name="T30" fmla="*/ 233 w 388"/>
                  <a:gd name="T31" fmla="*/ 42 h 304"/>
                  <a:gd name="T32" fmla="*/ 234 w 388"/>
                  <a:gd name="T33" fmla="*/ 31 h 304"/>
                  <a:gd name="T34" fmla="*/ 230 w 388"/>
                  <a:gd name="T35" fmla="*/ 20 h 304"/>
                  <a:gd name="T36" fmla="*/ 229 w 388"/>
                  <a:gd name="T37" fmla="*/ 18 h 304"/>
                  <a:gd name="T38" fmla="*/ 151 w 388"/>
                  <a:gd name="T39" fmla="*/ 50 h 304"/>
                  <a:gd name="T40" fmla="*/ 150 w 388"/>
                  <a:gd name="T41" fmla="*/ 52 h 304"/>
                  <a:gd name="T42" fmla="*/ 146 w 388"/>
                  <a:gd name="T43" fmla="*/ 51 h 304"/>
                  <a:gd name="T44" fmla="*/ 115 w 388"/>
                  <a:gd name="T45" fmla="*/ 58 h 304"/>
                  <a:gd name="T46" fmla="*/ 77 w 388"/>
                  <a:gd name="T47" fmla="*/ 100 h 304"/>
                  <a:gd name="T48" fmla="*/ 75 w 388"/>
                  <a:gd name="T49" fmla="*/ 102 h 304"/>
                  <a:gd name="T50" fmla="*/ 62 w 388"/>
                  <a:gd name="T51" fmla="*/ 123 h 304"/>
                  <a:gd name="T52" fmla="*/ 8 w 388"/>
                  <a:gd name="T53" fmla="*/ 147 h 304"/>
                  <a:gd name="T54" fmla="*/ 0 w 388"/>
                  <a:gd name="T55" fmla="*/ 161 h 304"/>
                  <a:gd name="T56" fmla="*/ 12 w 388"/>
                  <a:gd name="T57" fmla="*/ 266 h 304"/>
                  <a:gd name="T58" fmla="*/ 6 w 388"/>
                  <a:gd name="T59" fmla="*/ 285 h 304"/>
                  <a:gd name="T60" fmla="*/ 10 w 388"/>
                  <a:gd name="T61" fmla="*/ 299 h 304"/>
                  <a:gd name="T62" fmla="*/ 23 w 388"/>
                  <a:gd name="T63" fmla="*/ 303 h 304"/>
                  <a:gd name="T64" fmla="*/ 90 w 388"/>
                  <a:gd name="T65" fmla="*/ 287 h 304"/>
                  <a:gd name="T66" fmla="*/ 95 w 388"/>
                  <a:gd name="T67" fmla="*/ 285 h 304"/>
                  <a:gd name="T68" fmla="*/ 157 w 388"/>
                  <a:gd name="T69" fmla="*/ 238 h 304"/>
                  <a:gd name="T70" fmla="*/ 194 w 388"/>
                  <a:gd name="T71" fmla="*/ 259 h 304"/>
                  <a:gd name="T72" fmla="*/ 216 w 388"/>
                  <a:gd name="T73" fmla="*/ 282 h 304"/>
                  <a:gd name="T74" fmla="*/ 259 w 388"/>
                  <a:gd name="T75" fmla="*/ 303 h 304"/>
                  <a:gd name="T76" fmla="*/ 265 w 388"/>
                  <a:gd name="T77" fmla="*/ 303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304">
                    <a:moveTo>
                      <a:pt x="265" y="303"/>
                    </a:moveTo>
                    <a:cubicBezTo>
                      <a:pt x="266" y="303"/>
                      <a:pt x="268" y="302"/>
                      <a:pt x="269" y="301"/>
                    </a:cubicBezTo>
                    <a:cubicBezTo>
                      <a:pt x="312" y="279"/>
                      <a:pt x="312" y="279"/>
                      <a:pt x="312" y="279"/>
                    </a:cubicBezTo>
                    <a:cubicBezTo>
                      <a:pt x="314" y="278"/>
                      <a:pt x="315" y="277"/>
                      <a:pt x="317" y="275"/>
                    </a:cubicBezTo>
                    <a:cubicBezTo>
                      <a:pt x="358" y="225"/>
                      <a:pt x="358" y="225"/>
                      <a:pt x="358" y="225"/>
                    </a:cubicBezTo>
                    <a:cubicBezTo>
                      <a:pt x="360" y="224"/>
                      <a:pt x="361" y="222"/>
                      <a:pt x="361" y="220"/>
                    </a:cubicBezTo>
                    <a:cubicBezTo>
                      <a:pt x="386" y="137"/>
                      <a:pt x="386" y="137"/>
                      <a:pt x="386" y="137"/>
                    </a:cubicBezTo>
                    <a:cubicBezTo>
                      <a:pt x="388" y="132"/>
                      <a:pt x="386" y="127"/>
                      <a:pt x="383" y="123"/>
                    </a:cubicBezTo>
                    <a:cubicBezTo>
                      <a:pt x="336" y="73"/>
                      <a:pt x="336" y="73"/>
                      <a:pt x="336" y="73"/>
                    </a:cubicBezTo>
                    <a:cubicBezTo>
                      <a:pt x="318" y="26"/>
                      <a:pt x="318" y="26"/>
                      <a:pt x="318" y="26"/>
                    </a:cubicBezTo>
                    <a:cubicBezTo>
                      <a:pt x="316" y="23"/>
                      <a:pt x="314" y="20"/>
                      <a:pt x="312" y="19"/>
                    </a:cubicBezTo>
                    <a:cubicBezTo>
                      <a:pt x="285" y="2"/>
                      <a:pt x="285" y="2"/>
                      <a:pt x="285" y="2"/>
                    </a:cubicBezTo>
                    <a:cubicBezTo>
                      <a:pt x="282" y="0"/>
                      <a:pt x="277" y="0"/>
                      <a:pt x="273" y="1"/>
                    </a:cubicBezTo>
                    <a:cubicBezTo>
                      <a:pt x="269" y="2"/>
                      <a:pt x="266" y="6"/>
                      <a:pt x="265" y="10"/>
                    </a:cubicBezTo>
                    <a:cubicBezTo>
                      <a:pt x="252" y="44"/>
                      <a:pt x="252" y="44"/>
                      <a:pt x="252" y="44"/>
                    </a:cubicBezTo>
                    <a:cubicBezTo>
                      <a:pt x="233" y="42"/>
                      <a:pt x="233" y="42"/>
                      <a:pt x="233" y="42"/>
                    </a:cubicBezTo>
                    <a:cubicBezTo>
                      <a:pt x="234" y="31"/>
                      <a:pt x="234" y="31"/>
                      <a:pt x="234" y="31"/>
                    </a:cubicBezTo>
                    <a:cubicBezTo>
                      <a:pt x="235" y="27"/>
                      <a:pt x="233" y="23"/>
                      <a:pt x="230" y="20"/>
                    </a:cubicBezTo>
                    <a:cubicBezTo>
                      <a:pt x="230" y="19"/>
                      <a:pt x="229" y="18"/>
                      <a:pt x="229" y="18"/>
                    </a:cubicBezTo>
                    <a:cubicBezTo>
                      <a:pt x="204" y="31"/>
                      <a:pt x="178" y="42"/>
                      <a:pt x="151" y="50"/>
                    </a:cubicBezTo>
                    <a:cubicBezTo>
                      <a:pt x="150" y="52"/>
                      <a:pt x="150" y="52"/>
                      <a:pt x="150" y="52"/>
                    </a:cubicBezTo>
                    <a:cubicBezTo>
                      <a:pt x="146" y="51"/>
                      <a:pt x="146" y="51"/>
                      <a:pt x="146" y="51"/>
                    </a:cubicBezTo>
                    <a:cubicBezTo>
                      <a:pt x="136" y="54"/>
                      <a:pt x="126" y="56"/>
                      <a:pt x="115" y="58"/>
                    </a:cubicBezTo>
                    <a:cubicBezTo>
                      <a:pt x="77" y="100"/>
                      <a:pt x="77" y="100"/>
                      <a:pt x="77" y="100"/>
                    </a:cubicBezTo>
                    <a:cubicBezTo>
                      <a:pt x="76" y="100"/>
                      <a:pt x="76" y="101"/>
                      <a:pt x="75" y="102"/>
                    </a:cubicBezTo>
                    <a:cubicBezTo>
                      <a:pt x="62" y="123"/>
                      <a:pt x="62" y="123"/>
                      <a:pt x="62" y="123"/>
                    </a:cubicBezTo>
                    <a:cubicBezTo>
                      <a:pt x="8" y="147"/>
                      <a:pt x="8" y="147"/>
                      <a:pt x="8" y="147"/>
                    </a:cubicBezTo>
                    <a:cubicBezTo>
                      <a:pt x="3" y="150"/>
                      <a:pt x="0" y="155"/>
                      <a:pt x="0" y="161"/>
                    </a:cubicBezTo>
                    <a:cubicBezTo>
                      <a:pt x="12" y="266"/>
                      <a:pt x="12" y="266"/>
                      <a:pt x="12" y="266"/>
                    </a:cubicBezTo>
                    <a:cubicBezTo>
                      <a:pt x="6" y="285"/>
                      <a:pt x="6" y="285"/>
                      <a:pt x="6" y="285"/>
                    </a:cubicBezTo>
                    <a:cubicBezTo>
                      <a:pt x="5" y="290"/>
                      <a:pt x="6" y="295"/>
                      <a:pt x="10" y="299"/>
                    </a:cubicBezTo>
                    <a:cubicBezTo>
                      <a:pt x="13" y="302"/>
                      <a:pt x="18" y="304"/>
                      <a:pt x="23" y="303"/>
                    </a:cubicBezTo>
                    <a:cubicBezTo>
                      <a:pt x="90" y="287"/>
                      <a:pt x="90" y="287"/>
                      <a:pt x="90" y="287"/>
                    </a:cubicBezTo>
                    <a:cubicBezTo>
                      <a:pt x="92" y="287"/>
                      <a:pt x="93" y="286"/>
                      <a:pt x="95" y="285"/>
                    </a:cubicBezTo>
                    <a:cubicBezTo>
                      <a:pt x="157" y="238"/>
                      <a:pt x="157" y="238"/>
                      <a:pt x="157" y="238"/>
                    </a:cubicBezTo>
                    <a:cubicBezTo>
                      <a:pt x="194" y="259"/>
                      <a:pt x="194" y="259"/>
                      <a:pt x="194" y="259"/>
                    </a:cubicBezTo>
                    <a:cubicBezTo>
                      <a:pt x="203" y="268"/>
                      <a:pt x="213" y="278"/>
                      <a:pt x="216" y="282"/>
                    </a:cubicBezTo>
                    <a:cubicBezTo>
                      <a:pt x="218" y="292"/>
                      <a:pt x="230" y="296"/>
                      <a:pt x="259" y="303"/>
                    </a:cubicBezTo>
                    <a:cubicBezTo>
                      <a:pt x="261" y="303"/>
                      <a:pt x="263" y="303"/>
                      <a:pt x="265" y="303"/>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1" name="Freeform 50"/>
              <p:cNvSpPr>
                <a:spLocks/>
              </p:cNvSpPr>
              <p:nvPr/>
            </p:nvSpPr>
            <p:spPr bwMode="auto">
              <a:xfrm>
                <a:off x="2238" y="2107"/>
                <a:ext cx="26" cy="25"/>
              </a:xfrm>
              <a:custGeom>
                <a:avLst/>
                <a:gdLst>
                  <a:gd name="T0" fmla="*/ 52 w 54"/>
                  <a:gd name="T1" fmla="*/ 7 h 52"/>
                  <a:gd name="T2" fmla="*/ 38 w 54"/>
                  <a:gd name="T3" fmla="*/ 0 h 52"/>
                  <a:gd name="T4" fmla="*/ 17 w 54"/>
                  <a:gd name="T5" fmla="*/ 1 h 52"/>
                  <a:gd name="T6" fmla="*/ 4 w 54"/>
                  <a:gd name="T7" fmla="*/ 6 h 52"/>
                  <a:gd name="T8" fmla="*/ 1 w 54"/>
                  <a:gd name="T9" fmla="*/ 20 h 52"/>
                  <a:gd name="T10" fmla="*/ 10 w 54"/>
                  <a:gd name="T11" fmla="*/ 43 h 52"/>
                  <a:gd name="T12" fmla="*/ 21 w 54"/>
                  <a:gd name="T13" fmla="*/ 52 h 52"/>
                  <a:gd name="T14" fmla="*/ 25 w 54"/>
                  <a:gd name="T15" fmla="*/ 52 h 52"/>
                  <a:gd name="T16" fmla="*/ 34 w 54"/>
                  <a:gd name="T17" fmla="*/ 46 h 52"/>
                  <a:gd name="T18" fmla="*/ 51 w 54"/>
                  <a:gd name="T19" fmla="*/ 22 h 52"/>
                  <a:gd name="T20" fmla="*/ 52 w 54"/>
                  <a:gd name="T21" fmla="*/ 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52">
                    <a:moveTo>
                      <a:pt x="52" y="7"/>
                    </a:moveTo>
                    <a:cubicBezTo>
                      <a:pt x="49" y="2"/>
                      <a:pt x="44" y="0"/>
                      <a:pt x="38" y="0"/>
                    </a:cubicBezTo>
                    <a:cubicBezTo>
                      <a:pt x="30" y="1"/>
                      <a:pt x="20" y="1"/>
                      <a:pt x="17" y="1"/>
                    </a:cubicBezTo>
                    <a:cubicBezTo>
                      <a:pt x="12" y="0"/>
                      <a:pt x="7" y="2"/>
                      <a:pt x="4" y="6"/>
                    </a:cubicBezTo>
                    <a:cubicBezTo>
                      <a:pt x="1" y="10"/>
                      <a:pt x="0" y="15"/>
                      <a:pt x="1" y="20"/>
                    </a:cubicBezTo>
                    <a:cubicBezTo>
                      <a:pt x="10" y="43"/>
                      <a:pt x="10" y="43"/>
                      <a:pt x="10" y="43"/>
                    </a:cubicBezTo>
                    <a:cubicBezTo>
                      <a:pt x="11" y="48"/>
                      <a:pt x="16" y="51"/>
                      <a:pt x="21" y="52"/>
                    </a:cubicBezTo>
                    <a:cubicBezTo>
                      <a:pt x="22" y="52"/>
                      <a:pt x="24" y="52"/>
                      <a:pt x="25" y="52"/>
                    </a:cubicBezTo>
                    <a:cubicBezTo>
                      <a:pt x="29" y="51"/>
                      <a:pt x="32" y="49"/>
                      <a:pt x="34" y="46"/>
                    </a:cubicBezTo>
                    <a:cubicBezTo>
                      <a:pt x="51" y="22"/>
                      <a:pt x="51" y="22"/>
                      <a:pt x="51" y="22"/>
                    </a:cubicBezTo>
                    <a:cubicBezTo>
                      <a:pt x="54" y="18"/>
                      <a:pt x="54" y="12"/>
                      <a:pt x="52" y="7"/>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2" name="Freeform 51"/>
              <p:cNvSpPr>
                <a:spLocks/>
              </p:cNvSpPr>
              <p:nvPr/>
            </p:nvSpPr>
            <p:spPr bwMode="auto">
              <a:xfrm>
                <a:off x="2361" y="2057"/>
                <a:ext cx="32" cy="42"/>
              </a:xfrm>
              <a:custGeom>
                <a:avLst/>
                <a:gdLst>
                  <a:gd name="T0" fmla="*/ 66 w 68"/>
                  <a:gd name="T1" fmla="*/ 30 h 90"/>
                  <a:gd name="T2" fmla="*/ 52 w 68"/>
                  <a:gd name="T3" fmla="*/ 22 h 90"/>
                  <a:gd name="T4" fmla="*/ 45 w 68"/>
                  <a:gd name="T5" fmla="*/ 8 h 90"/>
                  <a:gd name="T6" fmla="*/ 31 w 68"/>
                  <a:gd name="T7" fmla="*/ 0 h 90"/>
                  <a:gd name="T8" fmla="*/ 19 w 68"/>
                  <a:gd name="T9" fmla="*/ 10 h 90"/>
                  <a:gd name="T10" fmla="*/ 1 w 68"/>
                  <a:gd name="T11" fmla="*/ 72 h 90"/>
                  <a:gd name="T12" fmla="*/ 8 w 68"/>
                  <a:gd name="T13" fmla="*/ 88 h 90"/>
                  <a:gd name="T14" fmla="*/ 17 w 68"/>
                  <a:gd name="T15" fmla="*/ 89 h 90"/>
                  <a:gd name="T16" fmla="*/ 25 w 68"/>
                  <a:gd name="T17" fmla="*/ 85 h 90"/>
                  <a:gd name="T18" fmla="*/ 63 w 68"/>
                  <a:gd name="T19" fmla="*/ 46 h 90"/>
                  <a:gd name="T20" fmla="*/ 66 w 68"/>
                  <a:gd name="T21" fmla="*/ 3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90">
                    <a:moveTo>
                      <a:pt x="66" y="30"/>
                    </a:moveTo>
                    <a:cubicBezTo>
                      <a:pt x="63" y="25"/>
                      <a:pt x="57" y="22"/>
                      <a:pt x="52" y="22"/>
                    </a:cubicBezTo>
                    <a:cubicBezTo>
                      <a:pt x="45" y="8"/>
                      <a:pt x="45" y="8"/>
                      <a:pt x="45" y="8"/>
                    </a:cubicBezTo>
                    <a:cubicBezTo>
                      <a:pt x="43" y="3"/>
                      <a:pt x="37" y="0"/>
                      <a:pt x="31" y="0"/>
                    </a:cubicBezTo>
                    <a:cubicBezTo>
                      <a:pt x="25" y="1"/>
                      <a:pt x="20" y="5"/>
                      <a:pt x="19" y="10"/>
                    </a:cubicBezTo>
                    <a:cubicBezTo>
                      <a:pt x="1" y="72"/>
                      <a:pt x="1" y="72"/>
                      <a:pt x="1" y="72"/>
                    </a:cubicBezTo>
                    <a:cubicBezTo>
                      <a:pt x="0" y="78"/>
                      <a:pt x="2" y="84"/>
                      <a:pt x="8" y="88"/>
                    </a:cubicBezTo>
                    <a:cubicBezTo>
                      <a:pt x="11" y="89"/>
                      <a:pt x="14" y="90"/>
                      <a:pt x="17" y="89"/>
                    </a:cubicBezTo>
                    <a:cubicBezTo>
                      <a:pt x="20" y="89"/>
                      <a:pt x="23" y="88"/>
                      <a:pt x="25" y="85"/>
                    </a:cubicBezTo>
                    <a:cubicBezTo>
                      <a:pt x="63" y="46"/>
                      <a:pt x="63" y="46"/>
                      <a:pt x="63" y="46"/>
                    </a:cubicBezTo>
                    <a:cubicBezTo>
                      <a:pt x="67" y="42"/>
                      <a:pt x="68" y="35"/>
                      <a:pt x="66" y="30"/>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3" name="Freeform 52"/>
              <p:cNvSpPr>
                <a:spLocks/>
              </p:cNvSpPr>
              <p:nvPr/>
            </p:nvSpPr>
            <p:spPr bwMode="auto">
              <a:xfrm>
                <a:off x="2307" y="2091"/>
                <a:ext cx="54" cy="48"/>
              </a:xfrm>
              <a:custGeom>
                <a:avLst/>
                <a:gdLst>
                  <a:gd name="T0" fmla="*/ 112 w 116"/>
                  <a:gd name="T1" fmla="*/ 22 h 101"/>
                  <a:gd name="T2" fmla="*/ 105 w 116"/>
                  <a:gd name="T3" fmla="*/ 8 h 101"/>
                  <a:gd name="T4" fmla="*/ 95 w 116"/>
                  <a:gd name="T5" fmla="*/ 0 h 101"/>
                  <a:gd name="T6" fmla="*/ 83 w 116"/>
                  <a:gd name="T7" fmla="*/ 4 h 101"/>
                  <a:gd name="T8" fmla="*/ 6 w 116"/>
                  <a:gd name="T9" fmla="*/ 77 h 101"/>
                  <a:gd name="T10" fmla="*/ 4 w 116"/>
                  <a:gd name="T11" fmla="*/ 96 h 101"/>
                  <a:gd name="T12" fmla="*/ 18 w 116"/>
                  <a:gd name="T13" fmla="*/ 101 h 101"/>
                  <a:gd name="T14" fmla="*/ 23 w 116"/>
                  <a:gd name="T15" fmla="*/ 98 h 101"/>
                  <a:gd name="T16" fmla="*/ 108 w 116"/>
                  <a:gd name="T17" fmla="*/ 40 h 101"/>
                  <a:gd name="T18" fmla="*/ 112 w 116"/>
                  <a:gd name="T19" fmla="*/ 2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101">
                    <a:moveTo>
                      <a:pt x="112" y="22"/>
                    </a:moveTo>
                    <a:cubicBezTo>
                      <a:pt x="105" y="8"/>
                      <a:pt x="105" y="8"/>
                      <a:pt x="105" y="8"/>
                    </a:cubicBezTo>
                    <a:cubicBezTo>
                      <a:pt x="103" y="4"/>
                      <a:pt x="99" y="1"/>
                      <a:pt x="95" y="0"/>
                    </a:cubicBezTo>
                    <a:cubicBezTo>
                      <a:pt x="91" y="0"/>
                      <a:pt x="86" y="1"/>
                      <a:pt x="83" y="4"/>
                    </a:cubicBezTo>
                    <a:cubicBezTo>
                      <a:pt x="6" y="77"/>
                      <a:pt x="6" y="77"/>
                      <a:pt x="6" y="77"/>
                    </a:cubicBezTo>
                    <a:cubicBezTo>
                      <a:pt x="0" y="82"/>
                      <a:pt x="0" y="90"/>
                      <a:pt x="4" y="96"/>
                    </a:cubicBezTo>
                    <a:cubicBezTo>
                      <a:pt x="8" y="100"/>
                      <a:pt x="13" y="101"/>
                      <a:pt x="18" y="101"/>
                    </a:cubicBezTo>
                    <a:cubicBezTo>
                      <a:pt x="20" y="100"/>
                      <a:pt x="21" y="99"/>
                      <a:pt x="23" y="98"/>
                    </a:cubicBezTo>
                    <a:cubicBezTo>
                      <a:pt x="108" y="40"/>
                      <a:pt x="108" y="40"/>
                      <a:pt x="108" y="40"/>
                    </a:cubicBezTo>
                    <a:cubicBezTo>
                      <a:pt x="114" y="36"/>
                      <a:pt x="116" y="28"/>
                      <a:pt x="112" y="22"/>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4" name="Freeform 53"/>
              <p:cNvSpPr>
                <a:spLocks/>
              </p:cNvSpPr>
              <p:nvPr/>
            </p:nvSpPr>
            <p:spPr bwMode="auto">
              <a:xfrm>
                <a:off x="2339" y="1982"/>
                <a:ext cx="23" cy="19"/>
              </a:xfrm>
              <a:custGeom>
                <a:avLst/>
                <a:gdLst>
                  <a:gd name="T0" fmla="*/ 41 w 49"/>
                  <a:gd name="T1" fmla="*/ 16 h 42"/>
                  <a:gd name="T2" fmla="*/ 23 w 49"/>
                  <a:gd name="T3" fmla="*/ 4 h 42"/>
                  <a:gd name="T4" fmla="*/ 4 w 49"/>
                  <a:gd name="T5" fmla="*/ 8 h 42"/>
                  <a:gd name="T6" fmla="*/ 8 w 49"/>
                  <a:gd name="T7" fmla="*/ 28 h 42"/>
                  <a:gd name="T8" fmla="*/ 26 w 49"/>
                  <a:gd name="T9" fmla="*/ 39 h 42"/>
                  <a:gd name="T10" fmla="*/ 36 w 49"/>
                  <a:gd name="T11" fmla="*/ 41 h 42"/>
                  <a:gd name="T12" fmla="*/ 45 w 49"/>
                  <a:gd name="T13" fmla="*/ 35 h 42"/>
                  <a:gd name="T14" fmla="*/ 41 w 49"/>
                  <a:gd name="T15" fmla="*/ 16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42">
                    <a:moveTo>
                      <a:pt x="41" y="16"/>
                    </a:moveTo>
                    <a:cubicBezTo>
                      <a:pt x="23" y="4"/>
                      <a:pt x="23" y="4"/>
                      <a:pt x="23" y="4"/>
                    </a:cubicBezTo>
                    <a:cubicBezTo>
                      <a:pt x="17" y="0"/>
                      <a:pt x="8" y="2"/>
                      <a:pt x="4" y="8"/>
                    </a:cubicBezTo>
                    <a:cubicBezTo>
                      <a:pt x="0" y="15"/>
                      <a:pt x="1" y="23"/>
                      <a:pt x="8" y="28"/>
                    </a:cubicBezTo>
                    <a:cubicBezTo>
                      <a:pt x="26" y="39"/>
                      <a:pt x="26" y="39"/>
                      <a:pt x="26" y="39"/>
                    </a:cubicBezTo>
                    <a:cubicBezTo>
                      <a:pt x="29" y="41"/>
                      <a:pt x="32" y="42"/>
                      <a:pt x="36" y="41"/>
                    </a:cubicBezTo>
                    <a:cubicBezTo>
                      <a:pt x="39" y="41"/>
                      <a:pt x="43" y="39"/>
                      <a:pt x="45" y="35"/>
                    </a:cubicBezTo>
                    <a:cubicBezTo>
                      <a:pt x="49" y="29"/>
                      <a:pt x="47" y="20"/>
                      <a:pt x="41" y="16"/>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5" name="Freeform 54"/>
              <p:cNvSpPr>
                <a:spLocks/>
              </p:cNvSpPr>
              <p:nvPr/>
            </p:nvSpPr>
            <p:spPr bwMode="auto">
              <a:xfrm>
                <a:off x="2156" y="1643"/>
                <a:ext cx="5" cy="6"/>
              </a:xfrm>
              <a:custGeom>
                <a:avLst/>
                <a:gdLst>
                  <a:gd name="T0" fmla="*/ 5 w 5"/>
                  <a:gd name="T1" fmla="*/ 6 h 6"/>
                  <a:gd name="T2" fmla="*/ 0 w 5"/>
                  <a:gd name="T3" fmla="*/ 0 h 6"/>
                  <a:gd name="T4" fmla="*/ 0 w 5"/>
                  <a:gd name="T5" fmla="*/ 5 h 6"/>
                  <a:gd name="T6" fmla="*/ 5 w 5"/>
                  <a:gd name="T7" fmla="*/ 6 h 6"/>
                </a:gdLst>
                <a:ahLst/>
                <a:cxnLst>
                  <a:cxn ang="0">
                    <a:pos x="T0" y="T1"/>
                  </a:cxn>
                  <a:cxn ang="0">
                    <a:pos x="T2" y="T3"/>
                  </a:cxn>
                  <a:cxn ang="0">
                    <a:pos x="T4" y="T5"/>
                  </a:cxn>
                  <a:cxn ang="0">
                    <a:pos x="T6" y="T7"/>
                  </a:cxn>
                </a:cxnLst>
                <a:rect l="0" t="0" r="r" b="b"/>
                <a:pathLst>
                  <a:path w="5" h="6">
                    <a:moveTo>
                      <a:pt x="5" y="6"/>
                    </a:moveTo>
                    <a:lnTo>
                      <a:pt x="0" y="0"/>
                    </a:lnTo>
                    <a:lnTo>
                      <a:pt x="0" y="5"/>
                    </a:lnTo>
                    <a:lnTo>
                      <a:pt x="5"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6" name="Freeform 55"/>
              <p:cNvSpPr>
                <a:spLocks/>
              </p:cNvSpPr>
              <p:nvPr/>
            </p:nvSpPr>
            <p:spPr bwMode="auto">
              <a:xfrm>
                <a:off x="2142" y="1853"/>
                <a:ext cx="1" cy="1"/>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7" name="Freeform 56"/>
              <p:cNvSpPr>
                <a:spLocks/>
              </p:cNvSpPr>
              <p:nvPr/>
            </p:nvSpPr>
            <p:spPr bwMode="auto">
              <a:xfrm>
                <a:off x="1959" y="1637"/>
                <a:ext cx="190" cy="297"/>
              </a:xfrm>
              <a:custGeom>
                <a:avLst/>
                <a:gdLst>
                  <a:gd name="T0" fmla="*/ 86 w 403"/>
                  <a:gd name="T1" fmla="*/ 456 h 631"/>
                  <a:gd name="T2" fmla="*/ 102 w 403"/>
                  <a:gd name="T3" fmla="*/ 477 h 631"/>
                  <a:gd name="T4" fmla="*/ 103 w 403"/>
                  <a:gd name="T5" fmla="*/ 478 h 631"/>
                  <a:gd name="T6" fmla="*/ 121 w 403"/>
                  <a:gd name="T7" fmla="*/ 499 h 631"/>
                  <a:gd name="T8" fmla="*/ 137 w 403"/>
                  <a:gd name="T9" fmla="*/ 503 h 631"/>
                  <a:gd name="T10" fmla="*/ 140 w 403"/>
                  <a:gd name="T11" fmla="*/ 502 h 631"/>
                  <a:gd name="T12" fmla="*/ 167 w 403"/>
                  <a:gd name="T13" fmla="*/ 552 h 631"/>
                  <a:gd name="T14" fmla="*/ 182 w 403"/>
                  <a:gd name="T15" fmla="*/ 589 h 631"/>
                  <a:gd name="T16" fmla="*/ 187 w 403"/>
                  <a:gd name="T17" fmla="*/ 595 h 631"/>
                  <a:gd name="T18" fmla="*/ 232 w 403"/>
                  <a:gd name="T19" fmla="*/ 628 h 631"/>
                  <a:gd name="T20" fmla="*/ 243 w 403"/>
                  <a:gd name="T21" fmla="*/ 631 h 631"/>
                  <a:gd name="T22" fmla="*/ 243 w 403"/>
                  <a:gd name="T23" fmla="*/ 631 h 631"/>
                  <a:gd name="T24" fmla="*/ 255 w 403"/>
                  <a:gd name="T25" fmla="*/ 615 h 631"/>
                  <a:gd name="T26" fmla="*/ 252 w 403"/>
                  <a:gd name="T27" fmla="*/ 609 h 631"/>
                  <a:gd name="T28" fmla="*/ 230 w 403"/>
                  <a:gd name="T29" fmla="*/ 570 h 631"/>
                  <a:gd name="T30" fmla="*/ 217 w 403"/>
                  <a:gd name="T31" fmla="*/ 538 h 631"/>
                  <a:gd name="T32" fmla="*/ 239 w 403"/>
                  <a:gd name="T33" fmla="*/ 548 h 631"/>
                  <a:gd name="T34" fmla="*/ 253 w 403"/>
                  <a:gd name="T35" fmla="*/ 547 h 631"/>
                  <a:gd name="T36" fmla="*/ 279 w 403"/>
                  <a:gd name="T37" fmla="*/ 509 h 631"/>
                  <a:gd name="T38" fmla="*/ 266 w 403"/>
                  <a:gd name="T39" fmla="*/ 471 h 631"/>
                  <a:gd name="T40" fmla="*/ 258 w 403"/>
                  <a:gd name="T41" fmla="*/ 464 h 631"/>
                  <a:gd name="T42" fmla="*/ 233 w 403"/>
                  <a:gd name="T43" fmla="*/ 454 h 631"/>
                  <a:gd name="T44" fmla="*/ 231 w 403"/>
                  <a:gd name="T45" fmla="*/ 445 h 631"/>
                  <a:gd name="T46" fmla="*/ 256 w 403"/>
                  <a:gd name="T47" fmla="*/ 438 h 631"/>
                  <a:gd name="T48" fmla="*/ 260 w 403"/>
                  <a:gd name="T49" fmla="*/ 436 h 631"/>
                  <a:gd name="T50" fmla="*/ 332 w 403"/>
                  <a:gd name="T51" fmla="*/ 384 h 631"/>
                  <a:gd name="T52" fmla="*/ 338 w 403"/>
                  <a:gd name="T53" fmla="*/ 373 h 631"/>
                  <a:gd name="T54" fmla="*/ 338 w 403"/>
                  <a:gd name="T55" fmla="*/ 314 h 631"/>
                  <a:gd name="T56" fmla="*/ 333 w 403"/>
                  <a:gd name="T57" fmla="*/ 303 h 631"/>
                  <a:gd name="T58" fmla="*/ 295 w 403"/>
                  <a:gd name="T59" fmla="*/ 271 h 631"/>
                  <a:gd name="T60" fmla="*/ 296 w 403"/>
                  <a:gd name="T61" fmla="*/ 256 h 631"/>
                  <a:gd name="T62" fmla="*/ 293 w 403"/>
                  <a:gd name="T63" fmla="*/ 245 h 631"/>
                  <a:gd name="T64" fmla="*/ 283 w 403"/>
                  <a:gd name="T65" fmla="*/ 240 h 631"/>
                  <a:gd name="T66" fmla="*/ 259 w 403"/>
                  <a:gd name="T67" fmla="*/ 239 h 631"/>
                  <a:gd name="T68" fmla="*/ 260 w 403"/>
                  <a:gd name="T69" fmla="*/ 236 h 631"/>
                  <a:gd name="T70" fmla="*/ 290 w 403"/>
                  <a:gd name="T71" fmla="*/ 232 h 631"/>
                  <a:gd name="T72" fmla="*/ 302 w 403"/>
                  <a:gd name="T73" fmla="*/ 243 h 631"/>
                  <a:gd name="T74" fmla="*/ 303 w 403"/>
                  <a:gd name="T75" fmla="*/ 244 h 631"/>
                  <a:gd name="T76" fmla="*/ 345 w 403"/>
                  <a:gd name="T77" fmla="*/ 274 h 631"/>
                  <a:gd name="T78" fmla="*/ 356 w 403"/>
                  <a:gd name="T79" fmla="*/ 276 h 631"/>
                  <a:gd name="T80" fmla="*/ 365 w 403"/>
                  <a:gd name="T81" fmla="*/ 268 h 631"/>
                  <a:gd name="T82" fmla="*/ 379 w 403"/>
                  <a:gd name="T83" fmla="*/ 242 h 631"/>
                  <a:gd name="T84" fmla="*/ 373 w 403"/>
                  <a:gd name="T85" fmla="*/ 223 h 631"/>
                  <a:gd name="T86" fmla="*/ 347 w 403"/>
                  <a:gd name="T87" fmla="*/ 209 h 631"/>
                  <a:gd name="T88" fmla="*/ 355 w 403"/>
                  <a:gd name="T89" fmla="*/ 178 h 631"/>
                  <a:gd name="T90" fmla="*/ 355 w 403"/>
                  <a:gd name="T91" fmla="*/ 176 h 631"/>
                  <a:gd name="T92" fmla="*/ 358 w 403"/>
                  <a:gd name="T93" fmla="*/ 142 h 631"/>
                  <a:gd name="T94" fmla="*/ 389 w 403"/>
                  <a:gd name="T95" fmla="*/ 140 h 631"/>
                  <a:gd name="T96" fmla="*/ 402 w 403"/>
                  <a:gd name="T97" fmla="*/ 129 h 631"/>
                  <a:gd name="T98" fmla="*/ 396 w 403"/>
                  <a:gd name="T99" fmla="*/ 114 h 631"/>
                  <a:gd name="T100" fmla="*/ 322 w 403"/>
                  <a:gd name="T101" fmla="*/ 68 h 631"/>
                  <a:gd name="T102" fmla="*/ 315 w 403"/>
                  <a:gd name="T103" fmla="*/ 66 h 631"/>
                  <a:gd name="T104" fmla="*/ 267 w 403"/>
                  <a:gd name="T105" fmla="*/ 63 h 631"/>
                  <a:gd name="T106" fmla="*/ 278 w 403"/>
                  <a:gd name="T107" fmla="*/ 38 h 631"/>
                  <a:gd name="T108" fmla="*/ 345 w 403"/>
                  <a:gd name="T109" fmla="*/ 26 h 631"/>
                  <a:gd name="T110" fmla="*/ 356 w 403"/>
                  <a:gd name="T111" fmla="*/ 16 h 631"/>
                  <a:gd name="T112" fmla="*/ 354 w 403"/>
                  <a:gd name="T113" fmla="*/ 4 h 631"/>
                  <a:gd name="T114" fmla="*/ 377 w 403"/>
                  <a:gd name="T115" fmla="*/ 0 h 631"/>
                  <a:gd name="T116" fmla="*/ 86 w 403"/>
                  <a:gd name="T117" fmla="*/ 162 h 631"/>
                  <a:gd name="T118" fmla="*/ 36 w 403"/>
                  <a:gd name="T119" fmla="*/ 498 h 631"/>
                  <a:gd name="T120" fmla="*/ 56 w 403"/>
                  <a:gd name="T121" fmla="*/ 461 h 631"/>
                  <a:gd name="T122" fmla="*/ 86 w 403"/>
                  <a:gd name="T123" fmla="*/ 456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03" h="631">
                    <a:moveTo>
                      <a:pt x="86" y="456"/>
                    </a:moveTo>
                    <a:cubicBezTo>
                      <a:pt x="102" y="477"/>
                      <a:pt x="102" y="477"/>
                      <a:pt x="102" y="477"/>
                    </a:cubicBezTo>
                    <a:cubicBezTo>
                      <a:pt x="102" y="478"/>
                      <a:pt x="103" y="478"/>
                      <a:pt x="103" y="478"/>
                    </a:cubicBezTo>
                    <a:cubicBezTo>
                      <a:pt x="121" y="499"/>
                      <a:pt x="121" y="499"/>
                      <a:pt x="121" y="499"/>
                    </a:cubicBezTo>
                    <a:cubicBezTo>
                      <a:pt x="125" y="504"/>
                      <a:pt x="132" y="506"/>
                      <a:pt x="137" y="503"/>
                    </a:cubicBezTo>
                    <a:cubicBezTo>
                      <a:pt x="140" y="502"/>
                      <a:pt x="140" y="502"/>
                      <a:pt x="140" y="502"/>
                    </a:cubicBezTo>
                    <a:cubicBezTo>
                      <a:pt x="167" y="552"/>
                      <a:pt x="167" y="552"/>
                      <a:pt x="167" y="552"/>
                    </a:cubicBezTo>
                    <a:cubicBezTo>
                      <a:pt x="182" y="589"/>
                      <a:pt x="182" y="589"/>
                      <a:pt x="182" y="589"/>
                    </a:cubicBezTo>
                    <a:cubicBezTo>
                      <a:pt x="183" y="591"/>
                      <a:pt x="185" y="593"/>
                      <a:pt x="187" y="595"/>
                    </a:cubicBezTo>
                    <a:cubicBezTo>
                      <a:pt x="232" y="628"/>
                      <a:pt x="232" y="628"/>
                      <a:pt x="232" y="628"/>
                    </a:cubicBezTo>
                    <a:cubicBezTo>
                      <a:pt x="236" y="631"/>
                      <a:pt x="239" y="631"/>
                      <a:pt x="243" y="631"/>
                    </a:cubicBezTo>
                    <a:cubicBezTo>
                      <a:pt x="243" y="631"/>
                      <a:pt x="243" y="631"/>
                      <a:pt x="243" y="631"/>
                    </a:cubicBezTo>
                    <a:cubicBezTo>
                      <a:pt x="251" y="629"/>
                      <a:pt x="256" y="622"/>
                      <a:pt x="255" y="615"/>
                    </a:cubicBezTo>
                    <a:cubicBezTo>
                      <a:pt x="254" y="612"/>
                      <a:pt x="253" y="611"/>
                      <a:pt x="252" y="609"/>
                    </a:cubicBezTo>
                    <a:cubicBezTo>
                      <a:pt x="230" y="570"/>
                      <a:pt x="230" y="570"/>
                      <a:pt x="230" y="570"/>
                    </a:cubicBezTo>
                    <a:cubicBezTo>
                      <a:pt x="217" y="538"/>
                      <a:pt x="217" y="538"/>
                      <a:pt x="217" y="538"/>
                    </a:cubicBezTo>
                    <a:cubicBezTo>
                      <a:pt x="239" y="548"/>
                      <a:pt x="239" y="548"/>
                      <a:pt x="239" y="548"/>
                    </a:cubicBezTo>
                    <a:cubicBezTo>
                      <a:pt x="244" y="550"/>
                      <a:pt x="249" y="549"/>
                      <a:pt x="253" y="547"/>
                    </a:cubicBezTo>
                    <a:cubicBezTo>
                      <a:pt x="264" y="540"/>
                      <a:pt x="282" y="525"/>
                      <a:pt x="279" y="509"/>
                    </a:cubicBezTo>
                    <a:cubicBezTo>
                      <a:pt x="277" y="498"/>
                      <a:pt x="268" y="476"/>
                      <a:pt x="266" y="471"/>
                    </a:cubicBezTo>
                    <a:cubicBezTo>
                      <a:pt x="264" y="468"/>
                      <a:pt x="261" y="465"/>
                      <a:pt x="258" y="464"/>
                    </a:cubicBezTo>
                    <a:cubicBezTo>
                      <a:pt x="233" y="454"/>
                      <a:pt x="233" y="454"/>
                      <a:pt x="233" y="454"/>
                    </a:cubicBezTo>
                    <a:cubicBezTo>
                      <a:pt x="231" y="445"/>
                      <a:pt x="231" y="445"/>
                      <a:pt x="231" y="445"/>
                    </a:cubicBezTo>
                    <a:cubicBezTo>
                      <a:pt x="256" y="438"/>
                      <a:pt x="256" y="438"/>
                      <a:pt x="256" y="438"/>
                    </a:cubicBezTo>
                    <a:cubicBezTo>
                      <a:pt x="257" y="437"/>
                      <a:pt x="259" y="436"/>
                      <a:pt x="260" y="436"/>
                    </a:cubicBezTo>
                    <a:cubicBezTo>
                      <a:pt x="332" y="384"/>
                      <a:pt x="332" y="384"/>
                      <a:pt x="332" y="384"/>
                    </a:cubicBezTo>
                    <a:cubicBezTo>
                      <a:pt x="336" y="382"/>
                      <a:pt x="338" y="377"/>
                      <a:pt x="338" y="373"/>
                    </a:cubicBezTo>
                    <a:cubicBezTo>
                      <a:pt x="338" y="314"/>
                      <a:pt x="338" y="314"/>
                      <a:pt x="338" y="314"/>
                    </a:cubicBezTo>
                    <a:cubicBezTo>
                      <a:pt x="337" y="310"/>
                      <a:pt x="336" y="306"/>
                      <a:pt x="333" y="303"/>
                    </a:cubicBezTo>
                    <a:cubicBezTo>
                      <a:pt x="295" y="271"/>
                      <a:pt x="295" y="271"/>
                      <a:pt x="295" y="271"/>
                    </a:cubicBezTo>
                    <a:cubicBezTo>
                      <a:pt x="296" y="256"/>
                      <a:pt x="296" y="256"/>
                      <a:pt x="296" y="256"/>
                    </a:cubicBezTo>
                    <a:cubicBezTo>
                      <a:pt x="297" y="252"/>
                      <a:pt x="296" y="248"/>
                      <a:pt x="293" y="245"/>
                    </a:cubicBezTo>
                    <a:cubicBezTo>
                      <a:pt x="291" y="242"/>
                      <a:pt x="287" y="241"/>
                      <a:pt x="283" y="240"/>
                    </a:cubicBezTo>
                    <a:cubicBezTo>
                      <a:pt x="259" y="239"/>
                      <a:pt x="259" y="239"/>
                      <a:pt x="259" y="239"/>
                    </a:cubicBezTo>
                    <a:cubicBezTo>
                      <a:pt x="260" y="236"/>
                      <a:pt x="260" y="236"/>
                      <a:pt x="260" y="236"/>
                    </a:cubicBezTo>
                    <a:cubicBezTo>
                      <a:pt x="290" y="232"/>
                      <a:pt x="290" y="232"/>
                      <a:pt x="290" y="232"/>
                    </a:cubicBezTo>
                    <a:cubicBezTo>
                      <a:pt x="302" y="243"/>
                      <a:pt x="302" y="243"/>
                      <a:pt x="302" y="243"/>
                    </a:cubicBezTo>
                    <a:cubicBezTo>
                      <a:pt x="302" y="244"/>
                      <a:pt x="303" y="244"/>
                      <a:pt x="303" y="244"/>
                    </a:cubicBezTo>
                    <a:cubicBezTo>
                      <a:pt x="345" y="274"/>
                      <a:pt x="345" y="274"/>
                      <a:pt x="345" y="274"/>
                    </a:cubicBezTo>
                    <a:cubicBezTo>
                      <a:pt x="348" y="276"/>
                      <a:pt x="352" y="277"/>
                      <a:pt x="356" y="276"/>
                    </a:cubicBezTo>
                    <a:cubicBezTo>
                      <a:pt x="360" y="275"/>
                      <a:pt x="364" y="272"/>
                      <a:pt x="365" y="268"/>
                    </a:cubicBezTo>
                    <a:cubicBezTo>
                      <a:pt x="379" y="242"/>
                      <a:pt x="379" y="242"/>
                      <a:pt x="379" y="242"/>
                    </a:cubicBezTo>
                    <a:cubicBezTo>
                      <a:pt x="382" y="235"/>
                      <a:pt x="380" y="227"/>
                      <a:pt x="373" y="223"/>
                    </a:cubicBezTo>
                    <a:cubicBezTo>
                      <a:pt x="347" y="209"/>
                      <a:pt x="347" y="209"/>
                      <a:pt x="347" y="209"/>
                    </a:cubicBezTo>
                    <a:cubicBezTo>
                      <a:pt x="355" y="178"/>
                      <a:pt x="355" y="178"/>
                      <a:pt x="355" y="178"/>
                    </a:cubicBezTo>
                    <a:cubicBezTo>
                      <a:pt x="355" y="178"/>
                      <a:pt x="355" y="177"/>
                      <a:pt x="355" y="176"/>
                    </a:cubicBezTo>
                    <a:cubicBezTo>
                      <a:pt x="358" y="142"/>
                      <a:pt x="358" y="142"/>
                      <a:pt x="358" y="142"/>
                    </a:cubicBezTo>
                    <a:cubicBezTo>
                      <a:pt x="389" y="140"/>
                      <a:pt x="389" y="140"/>
                      <a:pt x="389" y="140"/>
                    </a:cubicBezTo>
                    <a:cubicBezTo>
                      <a:pt x="395" y="139"/>
                      <a:pt x="400" y="135"/>
                      <a:pt x="402" y="129"/>
                    </a:cubicBezTo>
                    <a:cubicBezTo>
                      <a:pt x="403" y="123"/>
                      <a:pt x="401" y="117"/>
                      <a:pt x="396" y="114"/>
                    </a:cubicBezTo>
                    <a:cubicBezTo>
                      <a:pt x="322" y="68"/>
                      <a:pt x="322" y="68"/>
                      <a:pt x="322" y="68"/>
                    </a:cubicBezTo>
                    <a:cubicBezTo>
                      <a:pt x="320" y="67"/>
                      <a:pt x="318" y="66"/>
                      <a:pt x="315" y="66"/>
                    </a:cubicBezTo>
                    <a:cubicBezTo>
                      <a:pt x="267" y="63"/>
                      <a:pt x="267" y="63"/>
                      <a:pt x="267" y="63"/>
                    </a:cubicBezTo>
                    <a:cubicBezTo>
                      <a:pt x="278" y="38"/>
                      <a:pt x="278" y="38"/>
                      <a:pt x="278" y="38"/>
                    </a:cubicBezTo>
                    <a:cubicBezTo>
                      <a:pt x="345" y="26"/>
                      <a:pt x="345" y="26"/>
                      <a:pt x="345" y="26"/>
                    </a:cubicBezTo>
                    <a:cubicBezTo>
                      <a:pt x="351" y="25"/>
                      <a:pt x="355" y="21"/>
                      <a:pt x="356" y="16"/>
                    </a:cubicBezTo>
                    <a:cubicBezTo>
                      <a:pt x="358" y="12"/>
                      <a:pt x="357" y="7"/>
                      <a:pt x="354" y="4"/>
                    </a:cubicBezTo>
                    <a:cubicBezTo>
                      <a:pt x="377" y="0"/>
                      <a:pt x="377" y="0"/>
                      <a:pt x="377" y="0"/>
                    </a:cubicBezTo>
                    <a:cubicBezTo>
                      <a:pt x="264" y="6"/>
                      <a:pt x="155" y="62"/>
                      <a:pt x="86" y="162"/>
                    </a:cubicBezTo>
                    <a:cubicBezTo>
                      <a:pt x="14" y="264"/>
                      <a:pt x="0" y="389"/>
                      <a:pt x="36" y="498"/>
                    </a:cubicBezTo>
                    <a:cubicBezTo>
                      <a:pt x="56" y="461"/>
                      <a:pt x="56" y="461"/>
                      <a:pt x="56" y="461"/>
                    </a:cubicBezTo>
                    <a:lnTo>
                      <a:pt x="86" y="456"/>
                    </a:lnTo>
                    <a:close/>
                  </a:path>
                </a:pathLst>
              </a:custGeom>
              <a:solidFill>
                <a:srgbClr val="FFFFFF"/>
              </a:solidFill>
              <a:ln w="9525">
                <a:noFill/>
                <a:round/>
                <a:headEnd/>
                <a:tailEnd/>
              </a:ln>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8" name="Freeform 57"/>
              <p:cNvSpPr>
                <a:spLocks noEditPoints="1"/>
              </p:cNvSpPr>
              <p:nvPr/>
            </p:nvSpPr>
            <p:spPr bwMode="auto">
              <a:xfrm>
                <a:off x="2142" y="1637"/>
                <a:ext cx="42" cy="33"/>
              </a:xfrm>
              <a:custGeom>
                <a:avLst/>
                <a:gdLst>
                  <a:gd name="T0" fmla="*/ 3 w 89"/>
                  <a:gd name="T1" fmla="*/ 34 h 70"/>
                  <a:gd name="T2" fmla="*/ 12 w 89"/>
                  <a:gd name="T3" fmla="*/ 45 h 70"/>
                  <a:gd name="T4" fmla="*/ 62 w 89"/>
                  <a:gd name="T5" fmla="*/ 67 h 70"/>
                  <a:gd name="T6" fmla="*/ 80 w 89"/>
                  <a:gd name="T7" fmla="*/ 61 h 70"/>
                  <a:gd name="T8" fmla="*/ 86 w 89"/>
                  <a:gd name="T9" fmla="*/ 49 h 70"/>
                  <a:gd name="T10" fmla="*/ 84 w 89"/>
                  <a:gd name="T11" fmla="*/ 33 h 70"/>
                  <a:gd name="T12" fmla="*/ 57 w 89"/>
                  <a:gd name="T13" fmla="*/ 3 h 70"/>
                  <a:gd name="T14" fmla="*/ 0 w 89"/>
                  <a:gd name="T15" fmla="*/ 0 h 70"/>
                  <a:gd name="T16" fmla="*/ 3 w 89"/>
                  <a:gd name="T17" fmla="*/ 34 h 70"/>
                  <a:gd name="T18" fmla="*/ 41 w 89"/>
                  <a:gd name="T19" fmla="*/ 27 h 70"/>
                  <a:gd name="T20" fmla="*/ 30 w 89"/>
                  <a:gd name="T21" fmla="*/ 23 h 70"/>
                  <a:gd name="T22" fmla="*/ 30 w 89"/>
                  <a:gd name="T23" fmla="*/ 14 h 70"/>
                  <a:gd name="T24" fmla="*/ 41 w 89"/>
                  <a:gd name="T2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70">
                    <a:moveTo>
                      <a:pt x="3" y="34"/>
                    </a:moveTo>
                    <a:cubicBezTo>
                      <a:pt x="4" y="39"/>
                      <a:pt x="7" y="43"/>
                      <a:pt x="12" y="45"/>
                    </a:cubicBezTo>
                    <a:cubicBezTo>
                      <a:pt x="62" y="67"/>
                      <a:pt x="62" y="67"/>
                      <a:pt x="62" y="67"/>
                    </a:cubicBezTo>
                    <a:cubicBezTo>
                      <a:pt x="69" y="70"/>
                      <a:pt x="77" y="67"/>
                      <a:pt x="80" y="61"/>
                    </a:cubicBezTo>
                    <a:cubicBezTo>
                      <a:pt x="86" y="49"/>
                      <a:pt x="86" y="49"/>
                      <a:pt x="86" y="49"/>
                    </a:cubicBezTo>
                    <a:cubicBezTo>
                      <a:pt x="89" y="44"/>
                      <a:pt x="88" y="38"/>
                      <a:pt x="84" y="33"/>
                    </a:cubicBezTo>
                    <a:cubicBezTo>
                      <a:pt x="57" y="3"/>
                      <a:pt x="57" y="3"/>
                      <a:pt x="57" y="3"/>
                    </a:cubicBezTo>
                    <a:cubicBezTo>
                      <a:pt x="38" y="1"/>
                      <a:pt x="19" y="0"/>
                      <a:pt x="0" y="0"/>
                    </a:cubicBezTo>
                    <a:lnTo>
                      <a:pt x="3" y="34"/>
                    </a:lnTo>
                    <a:close/>
                    <a:moveTo>
                      <a:pt x="41" y="27"/>
                    </a:moveTo>
                    <a:cubicBezTo>
                      <a:pt x="30" y="23"/>
                      <a:pt x="30" y="23"/>
                      <a:pt x="30" y="23"/>
                    </a:cubicBezTo>
                    <a:cubicBezTo>
                      <a:pt x="30" y="14"/>
                      <a:pt x="30" y="14"/>
                      <a:pt x="30" y="14"/>
                    </a:cubicBezTo>
                    <a:lnTo>
                      <a:pt x="41"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59" name="Freeform 58"/>
              <p:cNvSpPr>
                <a:spLocks/>
              </p:cNvSpPr>
              <p:nvPr/>
            </p:nvSpPr>
            <p:spPr bwMode="auto">
              <a:xfrm>
                <a:off x="2145" y="1705"/>
                <a:ext cx="35" cy="27"/>
              </a:xfrm>
              <a:custGeom>
                <a:avLst/>
                <a:gdLst>
                  <a:gd name="T0" fmla="*/ 73 w 74"/>
                  <a:gd name="T1" fmla="*/ 19 h 56"/>
                  <a:gd name="T2" fmla="*/ 61 w 74"/>
                  <a:gd name="T3" fmla="*/ 8 h 56"/>
                  <a:gd name="T4" fmla="*/ 17 w 74"/>
                  <a:gd name="T5" fmla="*/ 1 h 56"/>
                  <a:gd name="T6" fmla="*/ 3 w 74"/>
                  <a:gd name="T7" fmla="*/ 7 h 56"/>
                  <a:gd name="T8" fmla="*/ 2 w 74"/>
                  <a:gd name="T9" fmla="*/ 22 h 56"/>
                  <a:gd name="T10" fmla="*/ 16 w 74"/>
                  <a:gd name="T11" fmla="*/ 48 h 56"/>
                  <a:gd name="T12" fmla="*/ 25 w 74"/>
                  <a:gd name="T13" fmla="*/ 55 h 56"/>
                  <a:gd name="T14" fmla="*/ 31 w 74"/>
                  <a:gd name="T15" fmla="*/ 55 h 56"/>
                  <a:gd name="T16" fmla="*/ 36 w 74"/>
                  <a:gd name="T17" fmla="*/ 53 h 56"/>
                  <a:gd name="T18" fmla="*/ 67 w 74"/>
                  <a:gd name="T19" fmla="*/ 33 h 56"/>
                  <a:gd name="T20" fmla="*/ 73 w 74"/>
                  <a:gd name="T21" fmla="*/ 1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6">
                    <a:moveTo>
                      <a:pt x="73" y="19"/>
                    </a:moveTo>
                    <a:cubicBezTo>
                      <a:pt x="71" y="13"/>
                      <a:pt x="67" y="9"/>
                      <a:pt x="61" y="8"/>
                    </a:cubicBezTo>
                    <a:cubicBezTo>
                      <a:pt x="17" y="1"/>
                      <a:pt x="17" y="1"/>
                      <a:pt x="17" y="1"/>
                    </a:cubicBezTo>
                    <a:cubicBezTo>
                      <a:pt x="11" y="0"/>
                      <a:pt x="6" y="3"/>
                      <a:pt x="3" y="7"/>
                    </a:cubicBezTo>
                    <a:cubicBezTo>
                      <a:pt x="0" y="11"/>
                      <a:pt x="0" y="17"/>
                      <a:pt x="2" y="22"/>
                    </a:cubicBezTo>
                    <a:cubicBezTo>
                      <a:pt x="16" y="48"/>
                      <a:pt x="16" y="48"/>
                      <a:pt x="16" y="48"/>
                    </a:cubicBezTo>
                    <a:cubicBezTo>
                      <a:pt x="18" y="52"/>
                      <a:pt x="21" y="54"/>
                      <a:pt x="25" y="55"/>
                    </a:cubicBezTo>
                    <a:cubicBezTo>
                      <a:pt x="27" y="56"/>
                      <a:pt x="29" y="56"/>
                      <a:pt x="31" y="55"/>
                    </a:cubicBezTo>
                    <a:cubicBezTo>
                      <a:pt x="33" y="55"/>
                      <a:pt x="35" y="54"/>
                      <a:pt x="36" y="53"/>
                    </a:cubicBezTo>
                    <a:cubicBezTo>
                      <a:pt x="67" y="33"/>
                      <a:pt x="67" y="33"/>
                      <a:pt x="67" y="33"/>
                    </a:cubicBezTo>
                    <a:cubicBezTo>
                      <a:pt x="71" y="30"/>
                      <a:pt x="74" y="24"/>
                      <a:pt x="73"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0" name="Freeform 59"/>
              <p:cNvSpPr>
                <a:spLocks/>
              </p:cNvSpPr>
              <p:nvPr/>
            </p:nvSpPr>
            <p:spPr bwMode="auto">
              <a:xfrm>
                <a:off x="2145" y="1730"/>
                <a:ext cx="44" cy="54"/>
              </a:xfrm>
              <a:custGeom>
                <a:avLst/>
                <a:gdLst>
                  <a:gd name="T0" fmla="*/ 88 w 93"/>
                  <a:gd name="T1" fmla="*/ 39 h 114"/>
                  <a:gd name="T2" fmla="*/ 86 w 93"/>
                  <a:gd name="T3" fmla="*/ 33 h 114"/>
                  <a:gd name="T4" fmla="*/ 66 w 93"/>
                  <a:gd name="T5" fmla="*/ 6 h 114"/>
                  <a:gd name="T6" fmla="*/ 52 w 93"/>
                  <a:gd name="T7" fmla="*/ 1 h 114"/>
                  <a:gd name="T8" fmla="*/ 41 w 93"/>
                  <a:gd name="T9" fmla="*/ 9 h 114"/>
                  <a:gd name="T10" fmla="*/ 23 w 93"/>
                  <a:gd name="T11" fmla="*/ 58 h 114"/>
                  <a:gd name="T12" fmla="*/ 3 w 93"/>
                  <a:gd name="T13" fmla="*/ 93 h 114"/>
                  <a:gd name="T14" fmla="*/ 5 w 93"/>
                  <a:gd name="T15" fmla="*/ 110 h 114"/>
                  <a:gd name="T16" fmla="*/ 18 w 93"/>
                  <a:gd name="T17" fmla="*/ 114 h 114"/>
                  <a:gd name="T18" fmla="*/ 22 w 93"/>
                  <a:gd name="T19" fmla="*/ 112 h 114"/>
                  <a:gd name="T20" fmla="*/ 73 w 93"/>
                  <a:gd name="T21" fmla="*/ 85 h 114"/>
                  <a:gd name="T22" fmla="*/ 88 w 93"/>
                  <a:gd name="T23" fmla="*/ 3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114">
                    <a:moveTo>
                      <a:pt x="88" y="39"/>
                    </a:moveTo>
                    <a:cubicBezTo>
                      <a:pt x="88" y="37"/>
                      <a:pt x="87" y="35"/>
                      <a:pt x="86" y="33"/>
                    </a:cubicBezTo>
                    <a:cubicBezTo>
                      <a:pt x="66" y="6"/>
                      <a:pt x="66" y="6"/>
                      <a:pt x="66" y="6"/>
                    </a:cubicBezTo>
                    <a:cubicBezTo>
                      <a:pt x="62" y="2"/>
                      <a:pt x="57" y="0"/>
                      <a:pt x="52" y="1"/>
                    </a:cubicBezTo>
                    <a:cubicBezTo>
                      <a:pt x="47" y="1"/>
                      <a:pt x="43" y="5"/>
                      <a:pt x="41" y="9"/>
                    </a:cubicBezTo>
                    <a:cubicBezTo>
                      <a:pt x="23" y="58"/>
                      <a:pt x="23" y="58"/>
                      <a:pt x="23" y="58"/>
                    </a:cubicBezTo>
                    <a:cubicBezTo>
                      <a:pt x="3" y="93"/>
                      <a:pt x="3" y="93"/>
                      <a:pt x="3" y="93"/>
                    </a:cubicBezTo>
                    <a:cubicBezTo>
                      <a:pt x="0" y="98"/>
                      <a:pt x="1" y="105"/>
                      <a:pt x="5" y="110"/>
                    </a:cubicBezTo>
                    <a:cubicBezTo>
                      <a:pt x="9" y="113"/>
                      <a:pt x="13" y="114"/>
                      <a:pt x="18" y="114"/>
                    </a:cubicBezTo>
                    <a:cubicBezTo>
                      <a:pt x="19" y="113"/>
                      <a:pt x="20" y="113"/>
                      <a:pt x="22" y="112"/>
                    </a:cubicBezTo>
                    <a:cubicBezTo>
                      <a:pt x="23" y="112"/>
                      <a:pt x="58" y="94"/>
                      <a:pt x="73" y="85"/>
                    </a:cubicBezTo>
                    <a:cubicBezTo>
                      <a:pt x="93" y="71"/>
                      <a:pt x="89" y="42"/>
                      <a:pt x="88" y="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1" name="Freeform 60"/>
              <p:cNvSpPr>
                <a:spLocks/>
              </p:cNvSpPr>
              <p:nvPr/>
            </p:nvSpPr>
            <p:spPr bwMode="auto">
              <a:xfrm>
                <a:off x="2094" y="1891"/>
                <a:ext cx="52" cy="61"/>
              </a:xfrm>
              <a:custGeom>
                <a:avLst/>
                <a:gdLst>
                  <a:gd name="T0" fmla="*/ 28 w 111"/>
                  <a:gd name="T1" fmla="*/ 124 h 129"/>
                  <a:gd name="T2" fmla="*/ 83 w 111"/>
                  <a:gd name="T3" fmla="*/ 129 h 129"/>
                  <a:gd name="T4" fmla="*/ 87 w 111"/>
                  <a:gd name="T5" fmla="*/ 129 h 129"/>
                  <a:gd name="T6" fmla="*/ 98 w 111"/>
                  <a:gd name="T7" fmla="*/ 117 h 129"/>
                  <a:gd name="T8" fmla="*/ 110 w 111"/>
                  <a:gd name="T9" fmla="*/ 37 h 129"/>
                  <a:gd name="T10" fmla="*/ 106 w 111"/>
                  <a:gd name="T11" fmla="*/ 25 h 129"/>
                  <a:gd name="T12" fmla="*/ 69 w 111"/>
                  <a:gd name="T13" fmla="*/ 1 h 129"/>
                  <a:gd name="T14" fmla="*/ 42 w 111"/>
                  <a:gd name="T15" fmla="*/ 34 h 129"/>
                  <a:gd name="T16" fmla="*/ 27 w 111"/>
                  <a:gd name="T17" fmla="*/ 59 h 129"/>
                  <a:gd name="T18" fmla="*/ 7 w 111"/>
                  <a:gd name="T19" fmla="*/ 71 h 129"/>
                  <a:gd name="T20" fmla="*/ 0 w 111"/>
                  <a:gd name="T21" fmla="*/ 80 h 129"/>
                  <a:gd name="T22" fmla="*/ 2 w 111"/>
                  <a:gd name="T23" fmla="*/ 90 h 129"/>
                  <a:gd name="T24" fmla="*/ 18 w 111"/>
                  <a:gd name="T25" fmla="*/ 117 h 129"/>
                  <a:gd name="T26" fmla="*/ 28 w 111"/>
                  <a:gd name="T27" fmla="*/ 12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29">
                    <a:moveTo>
                      <a:pt x="28" y="124"/>
                    </a:moveTo>
                    <a:cubicBezTo>
                      <a:pt x="83" y="129"/>
                      <a:pt x="83" y="129"/>
                      <a:pt x="83" y="129"/>
                    </a:cubicBezTo>
                    <a:cubicBezTo>
                      <a:pt x="85" y="129"/>
                      <a:pt x="86" y="129"/>
                      <a:pt x="87" y="129"/>
                    </a:cubicBezTo>
                    <a:cubicBezTo>
                      <a:pt x="93" y="128"/>
                      <a:pt x="98" y="123"/>
                      <a:pt x="98" y="117"/>
                    </a:cubicBezTo>
                    <a:cubicBezTo>
                      <a:pt x="110" y="37"/>
                      <a:pt x="110" y="37"/>
                      <a:pt x="110" y="37"/>
                    </a:cubicBezTo>
                    <a:cubicBezTo>
                      <a:pt x="111" y="32"/>
                      <a:pt x="109" y="28"/>
                      <a:pt x="106" y="25"/>
                    </a:cubicBezTo>
                    <a:cubicBezTo>
                      <a:pt x="81" y="1"/>
                      <a:pt x="75" y="0"/>
                      <a:pt x="69" y="1"/>
                    </a:cubicBezTo>
                    <a:cubicBezTo>
                      <a:pt x="62" y="2"/>
                      <a:pt x="59" y="5"/>
                      <a:pt x="42" y="34"/>
                    </a:cubicBezTo>
                    <a:cubicBezTo>
                      <a:pt x="38" y="40"/>
                      <a:pt x="30" y="53"/>
                      <a:pt x="27" y="59"/>
                    </a:cubicBezTo>
                    <a:cubicBezTo>
                      <a:pt x="23" y="62"/>
                      <a:pt x="14" y="67"/>
                      <a:pt x="7" y="71"/>
                    </a:cubicBezTo>
                    <a:cubicBezTo>
                      <a:pt x="4" y="73"/>
                      <a:pt x="1" y="76"/>
                      <a:pt x="0" y="80"/>
                    </a:cubicBezTo>
                    <a:cubicBezTo>
                      <a:pt x="0" y="83"/>
                      <a:pt x="0" y="87"/>
                      <a:pt x="2" y="90"/>
                    </a:cubicBezTo>
                    <a:cubicBezTo>
                      <a:pt x="18" y="117"/>
                      <a:pt x="18" y="117"/>
                      <a:pt x="18" y="117"/>
                    </a:cubicBezTo>
                    <a:cubicBezTo>
                      <a:pt x="20" y="121"/>
                      <a:pt x="24" y="124"/>
                      <a:pt x="28" y="1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2" name="Freeform 61"/>
              <p:cNvSpPr>
                <a:spLocks/>
              </p:cNvSpPr>
              <p:nvPr/>
            </p:nvSpPr>
            <p:spPr bwMode="auto">
              <a:xfrm>
                <a:off x="2090" y="1963"/>
                <a:ext cx="41" cy="15"/>
              </a:xfrm>
              <a:custGeom>
                <a:avLst/>
                <a:gdLst>
                  <a:gd name="T0" fmla="*/ 74 w 88"/>
                  <a:gd name="T1" fmla="*/ 4 h 32"/>
                  <a:gd name="T2" fmla="*/ 15 w 88"/>
                  <a:gd name="T3" fmla="*/ 0 h 32"/>
                  <a:gd name="T4" fmla="*/ 0 w 88"/>
                  <a:gd name="T5" fmla="*/ 13 h 32"/>
                  <a:gd name="T6" fmla="*/ 13 w 88"/>
                  <a:gd name="T7" fmla="*/ 28 h 32"/>
                  <a:gd name="T8" fmla="*/ 73 w 88"/>
                  <a:gd name="T9" fmla="*/ 32 h 32"/>
                  <a:gd name="T10" fmla="*/ 76 w 88"/>
                  <a:gd name="T11" fmla="*/ 32 h 32"/>
                  <a:gd name="T12" fmla="*/ 88 w 88"/>
                  <a:gd name="T13" fmla="*/ 19 h 32"/>
                  <a:gd name="T14" fmla="*/ 74 w 88"/>
                  <a:gd name="T15" fmla="*/ 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32">
                    <a:moveTo>
                      <a:pt x="74" y="4"/>
                    </a:moveTo>
                    <a:cubicBezTo>
                      <a:pt x="15" y="0"/>
                      <a:pt x="15" y="0"/>
                      <a:pt x="15" y="0"/>
                    </a:cubicBezTo>
                    <a:cubicBezTo>
                      <a:pt x="7" y="0"/>
                      <a:pt x="1" y="6"/>
                      <a:pt x="0" y="13"/>
                    </a:cubicBezTo>
                    <a:cubicBezTo>
                      <a:pt x="0" y="21"/>
                      <a:pt x="5" y="28"/>
                      <a:pt x="13" y="28"/>
                    </a:cubicBezTo>
                    <a:cubicBezTo>
                      <a:pt x="73" y="32"/>
                      <a:pt x="73" y="32"/>
                      <a:pt x="73" y="32"/>
                    </a:cubicBezTo>
                    <a:cubicBezTo>
                      <a:pt x="74" y="32"/>
                      <a:pt x="75" y="32"/>
                      <a:pt x="76" y="32"/>
                    </a:cubicBezTo>
                    <a:cubicBezTo>
                      <a:pt x="82" y="30"/>
                      <a:pt x="87" y="25"/>
                      <a:pt x="88" y="19"/>
                    </a:cubicBezTo>
                    <a:cubicBezTo>
                      <a:pt x="88" y="11"/>
                      <a:pt x="82" y="4"/>
                      <a:pt x="74"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3" name="Freeform 62"/>
              <p:cNvSpPr>
                <a:spLocks/>
              </p:cNvSpPr>
              <p:nvPr/>
            </p:nvSpPr>
            <p:spPr bwMode="auto">
              <a:xfrm>
                <a:off x="2132" y="1964"/>
                <a:ext cx="23" cy="14"/>
              </a:xfrm>
              <a:custGeom>
                <a:avLst/>
                <a:gdLst>
                  <a:gd name="T0" fmla="*/ 34 w 49"/>
                  <a:gd name="T1" fmla="*/ 0 h 29"/>
                  <a:gd name="T2" fmla="*/ 14 w 49"/>
                  <a:gd name="T3" fmla="*/ 1 h 29"/>
                  <a:gd name="T4" fmla="*/ 0 w 49"/>
                  <a:gd name="T5" fmla="*/ 16 h 29"/>
                  <a:gd name="T6" fmla="*/ 15 w 49"/>
                  <a:gd name="T7" fmla="*/ 29 h 29"/>
                  <a:gd name="T8" fmla="*/ 35 w 49"/>
                  <a:gd name="T9" fmla="*/ 28 h 29"/>
                  <a:gd name="T10" fmla="*/ 37 w 49"/>
                  <a:gd name="T11" fmla="*/ 28 h 29"/>
                  <a:gd name="T12" fmla="*/ 48 w 49"/>
                  <a:gd name="T13" fmla="*/ 13 h 29"/>
                  <a:gd name="T14" fmla="*/ 34 w 49"/>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9">
                    <a:moveTo>
                      <a:pt x="34" y="0"/>
                    </a:moveTo>
                    <a:cubicBezTo>
                      <a:pt x="14" y="1"/>
                      <a:pt x="14" y="1"/>
                      <a:pt x="14" y="1"/>
                    </a:cubicBezTo>
                    <a:cubicBezTo>
                      <a:pt x="6" y="1"/>
                      <a:pt x="0" y="8"/>
                      <a:pt x="0" y="16"/>
                    </a:cubicBezTo>
                    <a:cubicBezTo>
                      <a:pt x="1" y="23"/>
                      <a:pt x="7" y="29"/>
                      <a:pt x="15" y="29"/>
                    </a:cubicBezTo>
                    <a:cubicBezTo>
                      <a:pt x="35" y="28"/>
                      <a:pt x="35" y="28"/>
                      <a:pt x="35" y="28"/>
                    </a:cubicBezTo>
                    <a:cubicBezTo>
                      <a:pt x="36" y="28"/>
                      <a:pt x="36" y="28"/>
                      <a:pt x="37" y="28"/>
                    </a:cubicBezTo>
                    <a:cubicBezTo>
                      <a:pt x="44" y="27"/>
                      <a:pt x="49" y="21"/>
                      <a:pt x="48" y="13"/>
                    </a:cubicBezTo>
                    <a:cubicBezTo>
                      <a:pt x="48" y="6"/>
                      <a:pt x="42" y="0"/>
                      <a:pt x="3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4" name="Freeform 63"/>
              <p:cNvSpPr>
                <a:spLocks/>
              </p:cNvSpPr>
              <p:nvPr/>
            </p:nvSpPr>
            <p:spPr bwMode="auto">
              <a:xfrm>
                <a:off x="2198" y="1869"/>
                <a:ext cx="15" cy="18"/>
              </a:xfrm>
              <a:custGeom>
                <a:avLst/>
                <a:gdLst>
                  <a:gd name="T0" fmla="*/ 2 w 31"/>
                  <a:gd name="T1" fmla="*/ 25 h 38"/>
                  <a:gd name="T2" fmla="*/ 19 w 31"/>
                  <a:gd name="T3" fmla="*/ 37 h 38"/>
                  <a:gd name="T4" fmla="*/ 30 w 31"/>
                  <a:gd name="T5" fmla="*/ 21 h 38"/>
                  <a:gd name="T6" fmla="*/ 29 w 31"/>
                  <a:gd name="T7" fmla="*/ 13 h 38"/>
                  <a:gd name="T8" fmla="*/ 12 w 31"/>
                  <a:gd name="T9" fmla="*/ 1 h 38"/>
                  <a:gd name="T10" fmla="*/ 1 w 31"/>
                  <a:gd name="T11" fmla="*/ 18 h 38"/>
                  <a:gd name="T12" fmla="*/ 2 w 31"/>
                  <a:gd name="T13" fmla="*/ 25 h 38"/>
                </a:gdLst>
                <a:ahLst/>
                <a:cxnLst>
                  <a:cxn ang="0">
                    <a:pos x="T0" y="T1"/>
                  </a:cxn>
                  <a:cxn ang="0">
                    <a:pos x="T2" y="T3"/>
                  </a:cxn>
                  <a:cxn ang="0">
                    <a:pos x="T4" y="T5"/>
                  </a:cxn>
                  <a:cxn ang="0">
                    <a:pos x="T6" y="T7"/>
                  </a:cxn>
                  <a:cxn ang="0">
                    <a:pos x="T8" y="T9"/>
                  </a:cxn>
                  <a:cxn ang="0">
                    <a:pos x="T10" y="T11"/>
                  </a:cxn>
                  <a:cxn ang="0">
                    <a:pos x="T12" y="T13"/>
                  </a:cxn>
                </a:cxnLst>
                <a:rect l="0" t="0" r="r" b="b"/>
                <a:pathLst>
                  <a:path w="31" h="38">
                    <a:moveTo>
                      <a:pt x="2" y="25"/>
                    </a:moveTo>
                    <a:cubicBezTo>
                      <a:pt x="4" y="33"/>
                      <a:pt x="11" y="38"/>
                      <a:pt x="19" y="37"/>
                    </a:cubicBezTo>
                    <a:cubicBezTo>
                      <a:pt x="26" y="35"/>
                      <a:pt x="31" y="28"/>
                      <a:pt x="30" y="21"/>
                    </a:cubicBezTo>
                    <a:cubicBezTo>
                      <a:pt x="29" y="13"/>
                      <a:pt x="29" y="13"/>
                      <a:pt x="29" y="13"/>
                    </a:cubicBezTo>
                    <a:cubicBezTo>
                      <a:pt x="27" y="5"/>
                      <a:pt x="20" y="0"/>
                      <a:pt x="12" y="1"/>
                    </a:cubicBezTo>
                    <a:cubicBezTo>
                      <a:pt x="5" y="3"/>
                      <a:pt x="0" y="10"/>
                      <a:pt x="1" y="18"/>
                    </a:cubicBezTo>
                    <a:lnTo>
                      <a:pt x="2"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5" name="Freeform 64"/>
              <p:cNvSpPr>
                <a:spLocks/>
              </p:cNvSpPr>
              <p:nvPr/>
            </p:nvSpPr>
            <p:spPr bwMode="auto">
              <a:xfrm>
                <a:off x="2147" y="1871"/>
                <a:ext cx="26" cy="33"/>
              </a:xfrm>
              <a:custGeom>
                <a:avLst/>
                <a:gdLst>
                  <a:gd name="T0" fmla="*/ 5 w 55"/>
                  <a:gd name="T1" fmla="*/ 52 h 72"/>
                  <a:gd name="T2" fmla="*/ 27 w 55"/>
                  <a:gd name="T3" fmla="*/ 69 h 72"/>
                  <a:gd name="T4" fmla="*/ 38 w 55"/>
                  <a:gd name="T5" fmla="*/ 71 h 72"/>
                  <a:gd name="T6" fmla="*/ 41 w 55"/>
                  <a:gd name="T7" fmla="*/ 70 h 72"/>
                  <a:gd name="T8" fmla="*/ 50 w 55"/>
                  <a:gd name="T9" fmla="*/ 59 h 72"/>
                  <a:gd name="T10" fmla="*/ 54 w 55"/>
                  <a:gd name="T11" fmla="*/ 17 h 72"/>
                  <a:gd name="T12" fmla="*/ 47 w 55"/>
                  <a:gd name="T13" fmla="*/ 3 h 72"/>
                  <a:gd name="T14" fmla="*/ 31 w 55"/>
                  <a:gd name="T15" fmla="*/ 5 h 72"/>
                  <a:gd name="T16" fmla="*/ 4 w 55"/>
                  <a:gd name="T17" fmla="*/ 31 h 72"/>
                  <a:gd name="T18" fmla="*/ 0 w 55"/>
                  <a:gd name="T19" fmla="*/ 42 h 72"/>
                  <a:gd name="T20" fmla="*/ 5 w 55"/>
                  <a:gd name="T21" fmla="*/ 5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72">
                    <a:moveTo>
                      <a:pt x="5" y="52"/>
                    </a:moveTo>
                    <a:cubicBezTo>
                      <a:pt x="27" y="69"/>
                      <a:pt x="27" y="69"/>
                      <a:pt x="27" y="69"/>
                    </a:cubicBezTo>
                    <a:cubicBezTo>
                      <a:pt x="30" y="71"/>
                      <a:pt x="34" y="72"/>
                      <a:pt x="38" y="71"/>
                    </a:cubicBezTo>
                    <a:cubicBezTo>
                      <a:pt x="39" y="71"/>
                      <a:pt x="40" y="71"/>
                      <a:pt x="41" y="70"/>
                    </a:cubicBezTo>
                    <a:cubicBezTo>
                      <a:pt x="46" y="68"/>
                      <a:pt x="49" y="64"/>
                      <a:pt x="50" y="59"/>
                    </a:cubicBezTo>
                    <a:cubicBezTo>
                      <a:pt x="54" y="17"/>
                      <a:pt x="54" y="17"/>
                      <a:pt x="54" y="17"/>
                    </a:cubicBezTo>
                    <a:cubicBezTo>
                      <a:pt x="55" y="11"/>
                      <a:pt x="52" y="6"/>
                      <a:pt x="47" y="3"/>
                    </a:cubicBezTo>
                    <a:cubicBezTo>
                      <a:pt x="41" y="0"/>
                      <a:pt x="35" y="1"/>
                      <a:pt x="31" y="5"/>
                    </a:cubicBezTo>
                    <a:cubicBezTo>
                      <a:pt x="4" y="31"/>
                      <a:pt x="4" y="31"/>
                      <a:pt x="4" y="31"/>
                    </a:cubicBezTo>
                    <a:cubicBezTo>
                      <a:pt x="1" y="34"/>
                      <a:pt x="0" y="37"/>
                      <a:pt x="0" y="42"/>
                    </a:cubicBezTo>
                    <a:cubicBezTo>
                      <a:pt x="0" y="46"/>
                      <a:pt x="2" y="49"/>
                      <a:pt x="5" y="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6" name="Freeform 65"/>
              <p:cNvSpPr>
                <a:spLocks/>
              </p:cNvSpPr>
              <p:nvPr/>
            </p:nvSpPr>
            <p:spPr bwMode="auto">
              <a:xfrm>
                <a:off x="2127" y="1870"/>
                <a:ext cx="20" cy="22"/>
              </a:xfrm>
              <a:custGeom>
                <a:avLst/>
                <a:gdLst>
                  <a:gd name="T0" fmla="*/ 32 w 41"/>
                  <a:gd name="T1" fmla="*/ 3 h 46"/>
                  <a:gd name="T2" fmla="*/ 13 w 41"/>
                  <a:gd name="T3" fmla="*/ 9 h 46"/>
                  <a:gd name="T4" fmla="*/ 4 w 41"/>
                  <a:gd name="T5" fmla="*/ 25 h 46"/>
                  <a:gd name="T6" fmla="*/ 10 w 41"/>
                  <a:gd name="T7" fmla="*/ 44 h 46"/>
                  <a:gd name="T8" fmla="*/ 19 w 41"/>
                  <a:gd name="T9" fmla="*/ 45 h 46"/>
                  <a:gd name="T10" fmla="*/ 29 w 41"/>
                  <a:gd name="T11" fmla="*/ 38 h 46"/>
                  <a:gd name="T12" fmla="*/ 37 w 41"/>
                  <a:gd name="T13" fmla="*/ 22 h 46"/>
                  <a:gd name="T14" fmla="*/ 32 w 41"/>
                  <a:gd name="T15" fmla="*/ 3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46">
                    <a:moveTo>
                      <a:pt x="32" y="3"/>
                    </a:moveTo>
                    <a:cubicBezTo>
                      <a:pt x="25" y="0"/>
                      <a:pt x="17" y="2"/>
                      <a:pt x="13" y="9"/>
                    </a:cubicBezTo>
                    <a:cubicBezTo>
                      <a:pt x="4" y="25"/>
                      <a:pt x="4" y="25"/>
                      <a:pt x="4" y="25"/>
                    </a:cubicBezTo>
                    <a:cubicBezTo>
                      <a:pt x="0" y="31"/>
                      <a:pt x="3" y="40"/>
                      <a:pt x="10" y="44"/>
                    </a:cubicBezTo>
                    <a:cubicBezTo>
                      <a:pt x="13" y="45"/>
                      <a:pt x="16" y="46"/>
                      <a:pt x="19" y="45"/>
                    </a:cubicBezTo>
                    <a:cubicBezTo>
                      <a:pt x="23" y="44"/>
                      <a:pt x="27" y="42"/>
                      <a:pt x="29" y="38"/>
                    </a:cubicBezTo>
                    <a:cubicBezTo>
                      <a:pt x="37" y="22"/>
                      <a:pt x="37" y="22"/>
                      <a:pt x="37" y="22"/>
                    </a:cubicBezTo>
                    <a:cubicBezTo>
                      <a:pt x="41" y="16"/>
                      <a:pt x="39" y="7"/>
                      <a:pt x="3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7" name="Freeform 66"/>
              <p:cNvSpPr>
                <a:spLocks noEditPoints="1"/>
              </p:cNvSpPr>
              <p:nvPr/>
            </p:nvSpPr>
            <p:spPr bwMode="auto">
              <a:xfrm>
                <a:off x="2127" y="1827"/>
                <a:ext cx="37" cy="41"/>
              </a:xfrm>
              <a:custGeom>
                <a:avLst/>
                <a:gdLst>
                  <a:gd name="T0" fmla="*/ 10 w 78"/>
                  <a:gd name="T1" fmla="*/ 84 h 88"/>
                  <a:gd name="T2" fmla="*/ 20 w 78"/>
                  <a:gd name="T3" fmla="*/ 87 h 88"/>
                  <a:gd name="T4" fmla="*/ 64 w 78"/>
                  <a:gd name="T5" fmla="*/ 83 h 88"/>
                  <a:gd name="T6" fmla="*/ 65 w 78"/>
                  <a:gd name="T7" fmla="*/ 83 h 88"/>
                  <a:gd name="T8" fmla="*/ 65 w 78"/>
                  <a:gd name="T9" fmla="*/ 83 h 88"/>
                  <a:gd name="T10" fmla="*/ 77 w 78"/>
                  <a:gd name="T11" fmla="*/ 67 h 88"/>
                  <a:gd name="T12" fmla="*/ 72 w 78"/>
                  <a:gd name="T13" fmla="*/ 59 h 88"/>
                  <a:gd name="T14" fmla="*/ 24 w 78"/>
                  <a:gd name="T15" fmla="*/ 6 h 88"/>
                  <a:gd name="T16" fmla="*/ 9 w 78"/>
                  <a:gd name="T17" fmla="*/ 2 h 88"/>
                  <a:gd name="T18" fmla="*/ 0 w 78"/>
                  <a:gd name="T19" fmla="*/ 16 h 88"/>
                  <a:gd name="T20" fmla="*/ 5 w 78"/>
                  <a:gd name="T21" fmla="*/ 75 h 88"/>
                  <a:gd name="T22" fmla="*/ 10 w 78"/>
                  <a:gd name="T23" fmla="*/ 84 h 88"/>
                  <a:gd name="T24" fmla="*/ 34 w 78"/>
                  <a:gd name="T25" fmla="*/ 58 h 88"/>
                  <a:gd name="T26" fmla="*/ 32 w 78"/>
                  <a:gd name="T27" fmla="*/ 58 h 88"/>
                  <a:gd name="T28" fmla="*/ 32 w 78"/>
                  <a:gd name="T29" fmla="*/ 55 h 88"/>
                  <a:gd name="T30" fmla="*/ 34 w 78"/>
                  <a:gd name="T31"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 h="88">
                    <a:moveTo>
                      <a:pt x="10" y="84"/>
                    </a:moveTo>
                    <a:cubicBezTo>
                      <a:pt x="13" y="87"/>
                      <a:pt x="17" y="88"/>
                      <a:pt x="20" y="87"/>
                    </a:cubicBezTo>
                    <a:cubicBezTo>
                      <a:pt x="64" y="83"/>
                      <a:pt x="64" y="83"/>
                      <a:pt x="64" y="83"/>
                    </a:cubicBezTo>
                    <a:cubicBezTo>
                      <a:pt x="65" y="83"/>
                      <a:pt x="65" y="83"/>
                      <a:pt x="65" y="83"/>
                    </a:cubicBezTo>
                    <a:cubicBezTo>
                      <a:pt x="65" y="83"/>
                      <a:pt x="65" y="83"/>
                      <a:pt x="65" y="83"/>
                    </a:cubicBezTo>
                    <a:cubicBezTo>
                      <a:pt x="73" y="82"/>
                      <a:pt x="78" y="74"/>
                      <a:pt x="77" y="67"/>
                    </a:cubicBezTo>
                    <a:cubicBezTo>
                      <a:pt x="76" y="63"/>
                      <a:pt x="75" y="61"/>
                      <a:pt x="72" y="59"/>
                    </a:cubicBezTo>
                    <a:cubicBezTo>
                      <a:pt x="24" y="6"/>
                      <a:pt x="24" y="6"/>
                      <a:pt x="24" y="6"/>
                    </a:cubicBezTo>
                    <a:cubicBezTo>
                      <a:pt x="20" y="1"/>
                      <a:pt x="14" y="0"/>
                      <a:pt x="9" y="2"/>
                    </a:cubicBezTo>
                    <a:cubicBezTo>
                      <a:pt x="3" y="5"/>
                      <a:pt x="0" y="10"/>
                      <a:pt x="0" y="16"/>
                    </a:cubicBezTo>
                    <a:cubicBezTo>
                      <a:pt x="5" y="75"/>
                      <a:pt x="5" y="75"/>
                      <a:pt x="5" y="75"/>
                    </a:cubicBezTo>
                    <a:cubicBezTo>
                      <a:pt x="5" y="78"/>
                      <a:pt x="7" y="82"/>
                      <a:pt x="10" y="84"/>
                    </a:cubicBezTo>
                    <a:close/>
                    <a:moveTo>
                      <a:pt x="34" y="58"/>
                    </a:moveTo>
                    <a:cubicBezTo>
                      <a:pt x="32" y="58"/>
                      <a:pt x="32" y="58"/>
                      <a:pt x="32" y="58"/>
                    </a:cubicBezTo>
                    <a:cubicBezTo>
                      <a:pt x="32" y="55"/>
                      <a:pt x="32" y="55"/>
                      <a:pt x="32" y="55"/>
                    </a:cubicBezTo>
                    <a:lnTo>
                      <a:pt x="34"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8" name="Freeform 67"/>
              <p:cNvSpPr>
                <a:spLocks/>
              </p:cNvSpPr>
              <p:nvPr/>
            </p:nvSpPr>
            <p:spPr bwMode="auto">
              <a:xfrm>
                <a:off x="2177" y="1903"/>
                <a:ext cx="13" cy="22"/>
              </a:xfrm>
              <a:custGeom>
                <a:avLst/>
                <a:gdLst>
                  <a:gd name="T0" fmla="*/ 15 w 29"/>
                  <a:gd name="T1" fmla="*/ 0 h 47"/>
                  <a:gd name="T2" fmla="*/ 1 w 29"/>
                  <a:gd name="T3" fmla="*/ 14 h 47"/>
                  <a:gd name="T4" fmla="*/ 0 w 29"/>
                  <a:gd name="T5" fmla="*/ 33 h 47"/>
                  <a:gd name="T6" fmla="*/ 14 w 29"/>
                  <a:gd name="T7" fmla="*/ 47 h 47"/>
                  <a:gd name="T8" fmla="*/ 17 w 29"/>
                  <a:gd name="T9" fmla="*/ 47 h 47"/>
                  <a:gd name="T10" fmla="*/ 28 w 29"/>
                  <a:gd name="T11" fmla="*/ 34 h 47"/>
                  <a:gd name="T12" fmla="*/ 29 w 29"/>
                  <a:gd name="T13" fmla="*/ 15 h 47"/>
                  <a:gd name="T14" fmla="*/ 15 w 29"/>
                  <a:gd name="T15" fmla="*/ 0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47">
                    <a:moveTo>
                      <a:pt x="15" y="0"/>
                    </a:moveTo>
                    <a:cubicBezTo>
                      <a:pt x="8" y="0"/>
                      <a:pt x="1" y="6"/>
                      <a:pt x="1" y="14"/>
                    </a:cubicBezTo>
                    <a:cubicBezTo>
                      <a:pt x="0" y="33"/>
                      <a:pt x="0" y="33"/>
                      <a:pt x="0" y="33"/>
                    </a:cubicBezTo>
                    <a:cubicBezTo>
                      <a:pt x="0" y="41"/>
                      <a:pt x="6" y="47"/>
                      <a:pt x="14" y="47"/>
                    </a:cubicBezTo>
                    <a:cubicBezTo>
                      <a:pt x="15" y="47"/>
                      <a:pt x="16" y="47"/>
                      <a:pt x="17" y="47"/>
                    </a:cubicBezTo>
                    <a:cubicBezTo>
                      <a:pt x="23" y="46"/>
                      <a:pt x="28" y="41"/>
                      <a:pt x="28" y="34"/>
                    </a:cubicBezTo>
                    <a:cubicBezTo>
                      <a:pt x="29" y="15"/>
                      <a:pt x="29" y="15"/>
                      <a:pt x="29" y="15"/>
                    </a:cubicBezTo>
                    <a:cubicBezTo>
                      <a:pt x="29" y="7"/>
                      <a:pt x="23" y="1"/>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69" name="Freeform 68"/>
              <p:cNvSpPr>
                <a:spLocks/>
              </p:cNvSpPr>
              <p:nvPr/>
            </p:nvSpPr>
            <p:spPr bwMode="auto">
              <a:xfrm>
                <a:off x="2182" y="1929"/>
                <a:ext cx="19" cy="15"/>
              </a:xfrm>
              <a:custGeom>
                <a:avLst/>
                <a:gdLst>
                  <a:gd name="T0" fmla="*/ 29 w 42"/>
                  <a:gd name="T1" fmla="*/ 28 h 32"/>
                  <a:gd name="T2" fmla="*/ 41 w 42"/>
                  <a:gd name="T3" fmla="*/ 12 h 32"/>
                  <a:gd name="T4" fmla="*/ 24 w 42"/>
                  <a:gd name="T5" fmla="*/ 1 h 32"/>
                  <a:gd name="T6" fmla="*/ 13 w 42"/>
                  <a:gd name="T7" fmla="*/ 3 h 32"/>
                  <a:gd name="T8" fmla="*/ 1 w 42"/>
                  <a:gd name="T9" fmla="*/ 19 h 32"/>
                  <a:gd name="T10" fmla="*/ 18 w 42"/>
                  <a:gd name="T11" fmla="*/ 31 h 32"/>
                  <a:gd name="T12" fmla="*/ 29 w 42"/>
                  <a:gd name="T13" fmla="*/ 28 h 32"/>
                </a:gdLst>
                <a:ahLst/>
                <a:cxnLst>
                  <a:cxn ang="0">
                    <a:pos x="T0" y="T1"/>
                  </a:cxn>
                  <a:cxn ang="0">
                    <a:pos x="T2" y="T3"/>
                  </a:cxn>
                  <a:cxn ang="0">
                    <a:pos x="T4" y="T5"/>
                  </a:cxn>
                  <a:cxn ang="0">
                    <a:pos x="T6" y="T7"/>
                  </a:cxn>
                  <a:cxn ang="0">
                    <a:pos x="T8" y="T9"/>
                  </a:cxn>
                  <a:cxn ang="0">
                    <a:pos x="T10" y="T11"/>
                  </a:cxn>
                  <a:cxn ang="0">
                    <a:pos x="T12" y="T13"/>
                  </a:cxn>
                </a:cxnLst>
                <a:rect l="0" t="0" r="r" b="b"/>
                <a:pathLst>
                  <a:path w="42" h="32">
                    <a:moveTo>
                      <a:pt x="29" y="28"/>
                    </a:moveTo>
                    <a:cubicBezTo>
                      <a:pt x="37" y="27"/>
                      <a:pt x="42" y="20"/>
                      <a:pt x="41" y="12"/>
                    </a:cubicBezTo>
                    <a:cubicBezTo>
                      <a:pt x="39" y="5"/>
                      <a:pt x="32" y="0"/>
                      <a:pt x="24" y="1"/>
                    </a:cubicBezTo>
                    <a:cubicBezTo>
                      <a:pt x="13" y="3"/>
                      <a:pt x="13" y="3"/>
                      <a:pt x="13" y="3"/>
                    </a:cubicBezTo>
                    <a:cubicBezTo>
                      <a:pt x="5" y="4"/>
                      <a:pt x="0" y="12"/>
                      <a:pt x="1" y="19"/>
                    </a:cubicBezTo>
                    <a:cubicBezTo>
                      <a:pt x="3" y="27"/>
                      <a:pt x="10" y="32"/>
                      <a:pt x="18" y="31"/>
                    </a:cubicBezTo>
                    <a:lnTo>
                      <a:pt x="29"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0" name="Freeform 69"/>
              <p:cNvSpPr>
                <a:spLocks/>
              </p:cNvSpPr>
              <p:nvPr/>
            </p:nvSpPr>
            <p:spPr bwMode="auto">
              <a:xfrm>
                <a:off x="2144" y="1916"/>
                <a:ext cx="30" cy="38"/>
              </a:xfrm>
              <a:custGeom>
                <a:avLst/>
                <a:gdLst>
                  <a:gd name="T0" fmla="*/ 12 w 62"/>
                  <a:gd name="T1" fmla="*/ 16 h 81"/>
                  <a:gd name="T2" fmla="*/ 2 w 62"/>
                  <a:gd name="T3" fmla="*/ 64 h 81"/>
                  <a:gd name="T4" fmla="*/ 12 w 62"/>
                  <a:gd name="T5" fmla="*/ 81 h 81"/>
                  <a:gd name="T6" fmla="*/ 18 w 62"/>
                  <a:gd name="T7" fmla="*/ 81 h 81"/>
                  <a:gd name="T8" fmla="*/ 29 w 62"/>
                  <a:gd name="T9" fmla="*/ 70 h 81"/>
                  <a:gd name="T10" fmla="*/ 38 w 62"/>
                  <a:gd name="T11" fmla="*/ 31 h 81"/>
                  <a:gd name="T12" fmla="*/ 49 w 62"/>
                  <a:gd name="T13" fmla="*/ 29 h 81"/>
                  <a:gd name="T14" fmla="*/ 61 w 62"/>
                  <a:gd name="T15" fmla="*/ 13 h 81"/>
                  <a:gd name="T16" fmla="*/ 44 w 62"/>
                  <a:gd name="T17" fmla="*/ 2 h 81"/>
                  <a:gd name="T18" fmla="*/ 23 w 62"/>
                  <a:gd name="T19" fmla="*/ 5 h 81"/>
                  <a:gd name="T20" fmla="*/ 12 w 62"/>
                  <a:gd name="T21" fmla="*/ 1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81">
                    <a:moveTo>
                      <a:pt x="12" y="16"/>
                    </a:moveTo>
                    <a:cubicBezTo>
                      <a:pt x="2" y="64"/>
                      <a:pt x="2" y="64"/>
                      <a:pt x="2" y="64"/>
                    </a:cubicBezTo>
                    <a:cubicBezTo>
                      <a:pt x="0" y="71"/>
                      <a:pt x="5" y="79"/>
                      <a:pt x="12" y="81"/>
                    </a:cubicBezTo>
                    <a:cubicBezTo>
                      <a:pt x="14" y="81"/>
                      <a:pt x="16" y="81"/>
                      <a:pt x="18" y="81"/>
                    </a:cubicBezTo>
                    <a:cubicBezTo>
                      <a:pt x="23" y="80"/>
                      <a:pt x="28" y="76"/>
                      <a:pt x="29" y="70"/>
                    </a:cubicBezTo>
                    <a:cubicBezTo>
                      <a:pt x="38" y="31"/>
                      <a:pt x="38" y="31"/>
                      <a:pt x="38" y="31"/>
                    </a:cubicBezTo>
                    <a:cubicBezTo>
                      <a:pt x="49" y="29"/>
                      <a:pt x="49" y="29"/>
                      <a:pt x="49" y="29"/>
                    </a:cubicBezTo>
                    <a:cubicBezTo>
                      <a:pt x="57" y="28"/>
                      <a:pt x="62" y="20"/>
                      <a:pt x="61" y="13"/>
                    </a:cubicBezTo>
                    <a:cubicBezTo>
                      <a:pt x="59" y="5"/>
                      <a:pt x="52" y="0"/>
                      <a:pt x="44" y="2"/>
                    </a:cubicBezTo>
                    <a:cubicBezTo>
                      <a:pt x="23" y="5"/>
                      <a:pt x="23" y="5"/>
                      <a:pt x="23" y="5"/>
                    </a:cubicBezTo>
                    <a:cubicBezTo>
                      <a:pt x="18" y="6"/>
                      <a:pt x="13" y="10"/>
                      <a:pt x="12"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1" name="Freeform 70"/>
              <p:cNvSpPr>
                <a:spLocks/>
              </p:cNvSpPr>
              <p:nvPr/>
            </p:nvSpPr>
            <p:spPr bwMode="auto">
              <a:xfrm>
                <a:off x="2204" y="1914"/>
                <a:ext cx="75" cy="45"/>
              </a:xfrm>
              <a:custGeom>
                <a:avLst/>
                <a:gdLst>
                  <a:gd name="T0" fmla="*/ 145 w 160"/>
                  <a:gd name="T1" fmla="*/ 31 h 96"/>
                  <a:gd name="T2" fmla="*/ 64 w 160"/>
                  <a:gd name="T3" fmla="*/ 6 h 96"/>
                  <a:gd name="T4" fmla="*/ 51 w 160"/>
                  <a:gd name="T5" fmla="*/ 8 h 96"/>
                  <a:gd name="T6" fmla="*/ 38 w 160"/>
                  <a:gd name="T7" fmla="*/ 17 h 96"/>
                  <a:gd name="T8" fmla="*/ 25 w 160"/>
                  <a:gd name="T9" fmla="*/ 5 h 96"/>
                  <a:gd name="T10" fmla="*/ 10 w 160"/>
                  <a:gd name="T11" fmla="*/ 3 h 96"/>
                  <a:gd name="T12" fmla="*/ 2 w 160"/>
                  <a:gd name="T13" fmla="*/ 15 h 96"/>
                  <a:gd name="T14" fmla="*/ 1 w 160"/>
                  <a:gd name="T15" fmla="*/ 44 h 96"/>
                  <a:gd name="T16" fmla="*/ 12 w 160"/>
                  <a:gd name="T17" fmla="*/ 58 h 96"/>
                  <a:gd name="T18" fmla="*/ 54 w 160"/>
                  <a:gd name="T19" fmla="*/ 67 h 96"/>
                  <a:gd name="T20" fmla="*/ 53 w 160"/>
                  <a:gd name="T21" fmla="*/ 71 h 96"/>
                  <a:gd name="T22" fmla="*/ 64 w 160"/>
                  <a:gd name="T23" fmla="*/ 85 h 96"/>
                  <a:gd name="T24" fmla="*/ 102 w 160"/>
                  <a:gd name="T25" fmla="*/ 96 h 96"/>
                  <a:gd name="T26" fmla="*/ 160 w 160"/>
                  <a:gd name="T27" fmla="*/ 43 h 96"/>
                  <a:gd name="T28" fmla="*/ 151 w 160"/>
                  <a:gd name="T29" fmla="*/ 34 h 96"/>
                  <a:gd name="T30" fmla="*/ 145 w 160"/>
                  <a:gd name="T31" fmla="*/ 3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0" h="96">
                    <a:moveTo>
                      <a:pt x="145" y="31"/>
                    </a:moveTo>
                    <a:cubicBezTo>
                      <a:pt x="64" y="6"/>
                      <a:pt x="64" y="6"/>
                      <a:pt x="64" y="6"/>
                    </a:cubicBezTo>
                    <a:cubicBezTo>
                      <a:pt x="60" y="5"/>
                      <a:pt x="55" y="6"/>
                      <a:pt x="51" y="8"/>
                    </a:cubicBezTo>
                    <a:cubicBezTo>
                      <a:pt x="38" y="17"/>
                      <a:pt x="38" y="17"/>
                      <a:pt x="38" y="17"/>
                    </a:cubicBezTo>
                    <a:cubicBezTo>
                      <a:pt x="25" y="5"/>
                      <a:pt x="25" y="5"/>
                      <a:pt x="25" y="5"/>
                    </a:cubicBezTo>
                    <a:cubicBezTo>
                      <a:pt x="21" y="1"/>
                      <a:pt x="15" y="0"/>
                      <a:pt x="10" y="3"/>
                    </a:cubicBezTo>
                    <a:cubicBezTo>
                      <a:pt x="5" y="5"/>
                      <a:pt x="2" y="10"/>
                      <a:pt x="2" y="15"/>
                    </a:cubicBezTo>
                    <a:cubicBezTo>
                      <a:pt x="1" y="44"/>
                      <a:pt x="1" y="44"/>
                      <a:pt x="1" y="44"/>
                    </a:cubicBezTo>
                    <a:cubicBezTo>
                      <a:pt x="0" y="50"/>
                      <a:pt x="5" y="56"/>
                      <a:pt x="12" y="58"/>
                    </a:cubicBezTo>
                    <a:cubicBezTo>
                      <a:pt x="54" y="67"/>
                      <a:pt x="54" y="67"/>
                      <a:pt x="54" y="67"/>
                    </a:cubicBezTo>
                    <a:cubicBezTo>
                      <a:pt x="53" y="71"/>
                      <a:pt x="53" y="71"/>
                      <a:pt x="53" y="71"/>
                    </a:cubicBezTo>
                    <a:cubicBezTo>
                      <a:pt x="53" y="78"/>
                      <a:pt x="57" y="83"/>
                      <a:pt x="64" y="85"/>
                    </a:cubicBezTo>
                    <a:cubicBezTo>
                      <a:pt x="102" y="96"/>
                      <a:pt x="102" y="96"/>
                      <a:pt x="102" y="96"/>
                    </a:cubicBezTo>
                    <a:cubicBezTo>
                      <a:pt x="123" y="81"/>
                      <a:pt x="143" y="63"/>
                      <a:pt x="160" y="43"/>
                    </a:cubicBezTo>
                    <a:cubicBezTo>
                      <a:pt x="151" y="34"/>
                      <a:pt x="151" y="34"/>
                      <a:pt x="151" y="34"/>
                    </a:cubicBezTo>
                    <a:cubicBezTo>
                      <a:pt x="149" y="33"/>
                      <a:pt x="147" y="32"/>
                      <a:pt x="145"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2" name="Freeform 71"/>
              <p:cNvSpPr>
                <a:spLocks/>
              </p:cNvSpPr>
              <p:nvPr/>
            </p:nvSpPr>
            <p:spPr bwMode="auto">
              <a:xfrm>
                <a:off x="2279" y="1910"/>
                <a:ext cx="16" cy="16"/>
              </a:xfrm>
              <a:custGeom>
                <a:avLst/>
                <a:gdLst>
                  <a:gd name="T0" fmla="*/ 4 w 34"/>
                  <a:gd name="T1" fmla="*/ 9 h 36"/>
                  <a:gd name="T2" fmla="*/ 9 w 34"/>
                  <a:gd name="T3" fmla="*/ 28 h 36"/>
                  <a:gd name="T4" fmla="*/ 16 w 34"/>
                  <a:gd name="T5" fmla="*/ 32 h 36"/>
                  <a:gd name="T6" fmla="*/ 15 w 34"/>
                  <a:gd name="T7" fmla="*/ 36 h 36"/>
                  <a:gd name="T8" fmla="*/ 29 w 34"/>
                  <a:gd name="T9" fmla="*/ 18 h 36"/>
                  <a:gd name="T10" fmla="*/ 34 w 34"/>
                  <a:gd name="T11" fmla="*/ 10 h 36"/>
                  <a:gd name="T12" fmla="*/ 23 w 34"/>
                  <a:gd name="T13" fmla="*/ 4 h 36"/>
                  <a:gd name="T14" fmla="*/ 4 w 34"/>
                  <a:gd name="T15" fmla="*/ 9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6">
                    <a:moveTo>
                      <a:pt x="4" y="9"/>
                    </a:moveTo>
                    <a:cubicBezTo>
                      <a:pt x="0" y="15"/>
                      <a:pt x="2" y="24"/>
                      <a:pt x="9" y="28"/>
                    </a:cubicBezTo>
                    <a:cubicBezTo>
                      <a:pt x="16" y="32"/>
                      <a:pt x="16" y="32"/>
                      <a:pt x="16" y="32"/>
                    </a:cubicBezTo>
                    <a:cubicBezTo>
                      <a:pt x="15" y="36"/>
                      <a:pt x="15" y="36"/>
                      <a:pt x="15" y="36"/>
                    </a:cubicBezTo>
                    <a:cubicBezTo>
                      <a:pt x="19" y="30"/>
                      <a:pt x="24" y="24"/>
                      <a:pt x="29" y="18"/>
                    </a:cubicBezTo>
                    <a:cubicBezTo>
                      <a:pt x="30" y="15"/>
                      <a:pt x="32" y="13"/>
                      <a:pt x="34" y="10"/>
                    </a:cubicBezTo>
                    <a:cubicBezTo>
                      <a:pt x="23" y="4"/>
                      <a:pt x="23" y="4"/>
                      <a:pt x="23" y="4"/>
                    </a:cubicBezTo>
                    <a:cubicBezTo>
                      <a:pt x="17" y="0"/>
                      <a:pt x="8" y="2"/>
                      <a:pt x="4"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3" name="Freeform 72"/>
              <p:cNvSpPr>
                <a:spLocks/>
              </p:cNvSpPr>
              <p:nvPr/>
            </p:nvSpPr>
            <p:spPr bwMode="auto">
              <a:xfrm>
                <a:off x="2299" y="1855"/>
                <a:ext cx="18" cy="15"/>
              </a:xfrm>
              <a:custGeom>
                <a:avLst/>
                <a:gdLst>
                  <a:gd name="T0" fmla="*/ 17 w 37"/>
                  <a:gd name="T1" fmla="*/ 30 h 31"/>
                  <a:gd name="T2" fmla="*/ 24 w 37"/>
                  <a:gd name="T3" fmla="*/ 29 h 31"/>
                  <a:gd name="T4" fmla="*/ 36 w 37"/>
                  <a:gd name="T5" fmla="*/ 12 h 31"/>
                  <a:gd name="T6" fmla="*/ 19 w 37"/>
                  <a:gd name="T7" fmla="*/ 1 h 31"/>
                  <a:gd name="T8" fmla="*/ 12 w 37"/>
                  <a:gd name="T9" fmla="*/ 2 h 31"/>
                  <a:gd name="T10" fmla="*/ 1 w 37"/>
                  <a:gd name="T11" fmla="*/ 18 h 31"/>
                  <a:gd name="T12" fmla="*/ 17 w 37"/>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7" h="31">
                    <a:moveTo>
                      <a:pt x="17" y="30"/>
                    </a:moveTo>
                    <a:cubicBezTo>
                      <a:pt x="24" y="29"/>
                      <a:pt x="24" y="29"/>
                      <a:pt x="24" y="29"/>
                    </a:cubicBezTo>
                    <a:cubicBezTo>
                      <a:pt x="32" y="27"/>
                      <a:pt x="37" y="20"/>
                      <a:pt x="36" y="12"/>
                    </a:cubicBezTo>
                    <a:cubicBezTo>
                      <a:pt x="34" y="5"/>
                      <a:pt x="27" y="0"/>
                      <a:pt x="19" y="1"/>
                    </a:cubicBezTo>
                    <a:cubicBezTo>
                      <a:pt x="12" y="2"/>
                      <a:pt x="12" y="2"/>
                      <a:pt x="12" y="2"/>
                    </a:cubicBezTo>
                    <a:cubicBezTo>
                      <a:pt x="5" y="4"/>
                      <a:pt x="0" y="11"/>
                      <a:pt x="1" y="18"/>
                    </a:cubicBezTo>
                    <a:cubicBezTo>
                      <a:pt x="2" y="26"/>
                      <a:pt x="10" y="31"/>
                      <a:pt x="17" y="3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4" name="Freeform 73"/>
              <p:cNvSpPr>
                <a:spLocks/>
              </p:cNvSpPr>
              <p:nvPr/>
            </p:nvSpPr>
            <p:spPr bwMode="auto">
              <a:xfrm>
                <a:off x="2166" y="1957"/>
                <a:ext cx="27" cy="23"/>
              </a:xfrm>
              <a:custGeom>
                <a:avLst/>
                <a:gdLst>
                  <a:gd name="T0" fmla="*/ 42 w 58"/>
                  <a:gd name="T1" fmla="*/ 1 h 49"/>
                  <a:gd name="T2" fmla="*/ 23 w 58"/>
                  <a:gd name="T3" fmla="*/ 3 h 49"/>
                  <a:gd name="T4" fmla="*/ 12 w 58"/>
                  <a:gd name="T5" fmla="*/ 11 h 49"/>
                  <a:gd name="T6" fmla="*/ 4 w 58"/>
                  <a:gd name="T7" fmla="*/ 28 h 49"/>
                  <a:gd name="T8" fmla="*/ 10 w 58"/>
                  <a:gd name="T9" fmla="*/ 47 h 49"/>
                  <a:gd name="T10" fmla="*/ 19 w 58"/>
                  <a:gd name="T11" fmla="*/ 48 h 49"/>
                  <a:gd name="T12" fmla="*/ 29 w 58"/>
                  <a:gd name="T13" fmla="*/ 40 h 49"/>
                  <a:gd name="T14" fmla="*/ 34 w 58"/>
                  <a:gd name="T15" fmla="*/ 30 h 49"/>
                  <a:gd name="T16" fmla="*/ 45 w 58"/>
                  <a:gd name="T17" fmla="*/ 29 h 49"/>
                  <a:gd name="T18" fmla="*/ 57 w 58"/>
                  <a:gd name="T19" fmla="*/ 13 h 49"/>
                  <a:gd name="T20" fmla="*/ 42 w 58"/>
                  <a:gd name="T2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49">
                    <a:moveTo>
                      <a:pt x="42" y="1"/>
                    </a:moveTo>
                    <a:cubicBezTo>
                      <a:pt x="23" y="3"/>
                      <a:pt x="23" y="3"/>
                      <a:pt x="23" y="3"/>
                    </a:cubicBezTo>
                    <a:cubicBezTo>
                      <a:pt x="18" y="3"/>
                      <a:pt x="14" y="6"/>
                      <a:pt x="12" y="11"/>
                    </a:cubicBezTo>
                    <a:cubicBezTo>
                      <a:pt x="4" y="28"/>
                      <a:pt x="4" y="28"/>
                      <a:pt x="4" y="28"/>
                    </a:cubicBezTo>
                    <a:cubicBezTo>
                      <a:pt x="0" y="35"/>
                      <a:pt x="3" y="44"/>
                      <a:pt x="10" y="47"/>
                    </a:cubicBezTo>
                    <a:cubicBezTo>
                      <a:pt x="13" y="48"/>
                      <a:pt x="16" y="49"/>
                      <a:pt x="19" y="48"/>
                    </a:cubicBezTo>
                    <a:cubicBezTo>
                      <a:pt x="23" y="47"/>
                      <a:pt x="27" y="45"/>
                      <a:pt x="29" y="40"/>
                    </a:cubicBezTo>
                    <a:cubicBezTo>
                      <a:pt x="34" y="30"/>
                      <a:pt x="34" y="30"/>
                      <a:pt x="34" y="30"/>
                    </a:cubicBezTo>
                    <a:cubicBezTo>
                      <a:pt x="45" y="29"/>
                      <a:pt x="45" y="29"/>
                      <a:pt x="45" y="29"/>
                    </a:cubicBezTo>
                    <a:cubicBezTo>
                      <a:pt x="52" y="28"/>
                      <a:pt x="58" y="21"/>
                      <a:pt x="57" y="13"/>
                    </a:cubicBezTo>
                    <a:cubicBezTo>
                      <a:pt x="56" y="6"/>
                      <a:pt x="49" y="0"/>
                      <a:pt x="4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5" name="Freeform 74"/>
              <p:cNvSpPr>
                <a:spLocks/>
              </p:cNvSpPr>
              <p:nvPr/>
            </p:nvSpPr>
            <p:spPr bwMode="auto">
              <a:xfrm>
                <a:off x="2038" y="1921"/>
                <a:ext cx="45" cy="54"/>
              </a:xfrm>
              <a:custGeom>
                <a:avLst/>
                <a:gdLst>
                  <a:gd name="T0" fmla="*/ 97 w 97"/>
                  <a:gd name="T1" fmla="*/ 66 h 116"/>
                  <a:gd name="T2" fmla="*/ 91 w 97"/>
                  <a:gd name="T3" fmla="*/ 54 h 116"/>
                  <a:gd name="T4" fmla="*/ 23 w 97"/>
                  <a:gd name="T5" fmla="*/ 5 h 116"/>
                  <a:gd name="T6" fmla="*/ 4 w 97"/>
                  <a:gd name="T7" fmla="*/ 7 h 116"/>
                  <a:gd name="T8" fmla="*/ 5 w 97"/>
                  <a:gd name="T9" fmla="*/ 25 h 116"/>
                  <a:gd name="T10" fmla="*/ 30 w 97"/>
                  <a:gd name="T11" fmla="*/ 52 h 116"/>
                  <a:gd name="T12" fmla="*/ 50 w 97"/>
                  <a:gd name="T13" fmla="*/ 93 h 116"/>
                  <a:gd name="T14" fmla="*/ 54 w 97"/>
                  <a:gd name="T15" fmla="*/ 99 h 116"/>
                  <a:gd name="T16" fmla="*/ 74 w 97"/>
                  <a:gd name="T17" fmla="*/ 113 h 116"/>
                  <a:gd name="T18" fmla="*/ 85 w 97"/>
                  <a:gd name="T19" fmla="*/ 115 h 116"/>
                  <a:gd name="T20" fmla="*/ 88 w 97"/>
                  <a:gd name="T21" fmla="*/ 114 h 116"/>
                  <a:gd name="T22" fmla="*/ 96 w 97"/>
                  <a:gd name="T23" fmla="*/ 102 h 116"/>
                  <a:gd name="T24" fmla="*/ 97 w 97"/>
                  <a:gd name="T25" fmla="*/ 6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16">
                    <a:moveTo>
                      <a:pt x="97" y="66"/>
                    </a:moveTo>
                    <a:cubicBezTo>
                      <a:pt x="97" y="61"/>
                      <a:pt x="95" y="57"/>
                      <a:pt x="91" y="54"/>
                    </a:cubicBezTo>
                    <a:cubicBezTo>
                      <a:pt x="23" y="5"/>
                      <a:pt x="23" y="5"/>
                      <a:pt x="23" y="5"/>
                    </a:cubicBezTo>
                    <a:cubicBezTo>
                      <a:pt x="17" y="0"/>
                      <a:pt x="9" y="1"/>
                      <a:pt x="4" y="7"/>
                    </a:cubicBezTo>
                    <a:cubicBezTo>
                      <a:pt x="0" y="12"/>
                      <a:pt x="0" y="20"/>
                      <a:pt x="5" y="25"/>
                    </a:cubicBezTo>
                    <a:cubicBezTo>
                      <a:pt x="15" y="36"/>
                      <a:pt x="27" y="49"/>
                      <a:pt x="30" y="52"/>
                    </a:cubicBezTo>
                    <a:cubicBezTo>
                      <a:pt x="32" y="58"/>
                      <a:pt x="43" y="80"/>
                      <a:pt x="50" y="93"/>
                    </a:cubicBezTo>
                    <a:cubicBezTo>
                      <a:pt x="51" y="95"/>
                      <a:pt x="53" y="97"/>
                      <a:pt x="54" y="99"/>
                    </a:cubicBezTo>
                    <a:cubicBezTo>
                      <a:pt x="74" y="113"/>
                      <a:pt x="74" y="113"/>
                      <a:pt x="74" y="113"/>
                    </a:cubicBezTo>
                    <a:cubicBezTo>
                      <a:pt x="77" y="115"/>
                      <a:pt x="81" y="116"/>
                      <a:pt x="85" y="115"/>
                    </a:cubicBezTo>
                    <a:cubicBezTo>
                      <a:pt x="86" y="115"/>
                      <a:pt x="87" y="114"/>
                      <a:pt x="88" y="114"/>
                    </a:cubicBezTo>
                    <a:cubicBezTo>
                      <a:pt x="93" y="112"/>
                      <a:pt x="96" y="107"/>
                      <a:pt x="96" y="102"/>
                    </a:cubicBezTo>
                    <a:lnTo>
                      <a:pt x="97"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6" name="Freeform 75"/>
              <p:cNvSpPr>
                <a:spLocks/>
              </p:cNvSpPr>
              <p:nvPr/>
            </p:nvSpPr>
            <p:spPr bwMode="auto">
              <a:xfrm>
                <a:off x="2178" y="1985"/>
                <a:ext cx="15" cy="6"/>
              </a:xfrm>
              <a:custGeom>
                <a:avLst/>
                <a:gdLst>
                  <a:gd name="T0" fmla="*/ 22 w 31"/>
                  <a:gd name="T1" fmla="*/ 2 h 13"/>
                  <a:gd name="T2" fmla="*/ 7 w 31"/>
                  <a:gd name="T3" fmla="*/ 6 h 13"/>
                  <a:gd name="T4" fmla="*/ 0 w 31"/>
                  <a:gd name="T5" fmla="*/ 13 h 13"/>
                  <a:gd name="T6" fmla="*/ 31 w 31"/>
                  <a:gd name="T7" fmla="*/ 6 h 13"/>
                  <a:gd name="T8" fmla="*/ 22 w 31"/>
                  <a:gd name="T9" fmla="*/ 2 h 13"/>
                </a:gdLst>
                <a:ahLst/>
                <a:cxnLst>
                  <a:cxn ang="0">
                    <a:pos x="T0" y="T1"/>
                  </a:cxn>
                  <a:cxn ang="0">
                    <a:pos x="T2" y="T3"/>
                  </a:cxn>
                  <a:cxn ang="0">
                    <a:pos x="T4" y="T5"/>
                  </a:cxn>
                  <a:cxn ang="0">
                    <a:pos x="T6" y="T7"/>
                  </a:cxn>
                  <a:cxn ang="0">
                    <a:pos x="T8" y="T9"/>
                  </a:cxn>
                </a:cxnLst>
                <a:rect l="0" t="0" r="r" b="b"/>
                <a:pathLst>
                  <a:path w="31" h="13">
                    <a:moveTo>
                      <a:pt x="22" y="2"/>
                    </a:moveTo>
                    <a:cubicBezTo>
                      <a:pt x="16" y="0"/>
                      <a:pt x="10" y="2"/>
                      <a:pt x="7" y="6"/>
                    </a:cubicBezTo>
                    <a:cubicBezTo>
                      <a:pt x="0" y="13"/>
                      <a:pt x="0" y="13"/>
                      <a:pt x="0" y="13"/>
                    </a:cubicBezTo>
                    <a:cubicBezTo>
                      <a:pt x="11" y="11"/>
                      <a:pt x="21" y="9"/>
                      <a:pt x="31" y="6"/>
                    </a:cubicBezTo>
                    <a:lnTo>
                      <a:pt x="22"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77" name="Freeform 76"/>
              <p:cNvSpPr>
                <a:spLocks/>
              </p:cNvSpPr>
              <p:nvPr/>
            </p:nvSpPr>
            <p:spPr bwMode="auto">
              <a:xfrm>
                <a:off x="2195" y="1971"/>
                <a:ext cx="37" cy="17"/>
              </a:xfrm>
              <a:custGeom>
                <a:avLst/>
                <a:gdLst>
                  <a:gd name="T0" fmla="*/ 68 w 78"/>
                  <a:gd name="T1" fmla="*/ 0 h 35"/>
                  <a:gd name="T2" fmla="*/ 16 w 78"/>
                  <a:gd name="T3" fmla="*/ 5 h 35"/>
                  <a:gd name="T4" fmla="*/ 4 w 78"/>
                  <a:gd name="T5" fmla="*/ 16 h 35"/>
                  <a:gd name="T6" fmla="*/ 0 w 78"/>
                  <a:gd name="T7" fmla="*/ 35 h 35"/>
                  <a:gd name="T8" fmla="*/ 78 w 78"/>
                  <a:gd name="T9" fmla="*/ 3 h 35"/>
                  <a:gd name="T10" fmla="*/ 68 w 78"/>
                  <a:gd name="T11" fmla="*/ 0 h 35"/>
                </a:gdLst>
                <a:ahLst/>
                <a:cxnLst>
                  <a:cxn ang="0">
                    <a:pos x="T0" y="T1"/>
                  </a:cxn>
                  <a:cxn ang="0">
                    <a:pos x="T2" y="T3"/>
                  </a:cxn>
                  <a:cxn ang="0">
                    <a:pos x="T4" y="T5"/>
                  </a:cxn>
                  <a:cxn ang="0">
                    <a:pos x="T6" y="T7"/>
                  </a:cxn>
                  <a:cxn ang="0">
                    <a:pos x="T8" y="T9"/>
                  </a:cxn>
                  <a:cxn ang="0">
                    <a:pos x="T10" y="T11"/>
                  </a:cxn>
                </a:cxnLst>
                <a:rect l="0" t="0" r="r" b="b"/>
                <a:pathLst>
                  <a:path w="78" h="35">
                    <a:moveTo>
                      <a:pt x="68" y="0"/>
                    </a:moveTo>
                    <a:cubicBezTo>
                      <a:pt x="16" y="5"/>
                      <a:pt x="16" y="5"/>
                      <a:pt x="16" y="5"/>
                    </a:cubicBezTo>
                    <a:cubicBezTo>
                      <a:pt x="10" y="5"/>
                      <a:pt x="5" y="10"/>
                      <a:pt x="4" y="16"/>
                    </a:cubicBezTo>
                    <a:cubicBezTo>
                      <a:pt x="0" y="35"/>
                      <a:pt x="0" y="35"/>
                      <a:pt x="0" y="35"/>
                    </a:cubicBezTo>
                    <a:cubicBezTo>
                      <a:pt x="27" y="27"/>
                      <a:pt x="53" y="16"/>
                      <a:pt x="78" y="3"/>
                    </a:cubicBezTo>
                    <a:cubicBezTo>
                      <a:pt x="75" y="1"/>
                      <a:pt x="72" y="0"/>
                      <a:pt x="6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grpSp>
        <p:grpSp>
          <p:nvGrpSpPr>
            <p:cNvPr id="8" name="Group 7"/>
            <p:cNvGrpSpPr>
              <a:grpSpLocks noChangeAspect="1"/>
            </p:cNvGrpSpPr>
            <p:nvPr/>
          </p:nvGrpSpPr>
          <p:grpSpPr>
            <a:xfrm>
              <a:off x="8940669" y="4025976"/>
              <a:ext cx="2146850" cy="1406254"/>
              <a:chOff x="3034223" y="2037174"/>
              <a:chExt cx="2311441" cy="1478128"/>
            </a:xfrm>
          </p:grpSpPr>
          <p:sp>
            <p:nvSpPr>
              <p:cNvPr id="28" name="Rectangle 27"/>
              <p:cNvSpPr/>
              <p:nvPr/>
            </p:nvSpPr>
            <p:spPr bwMode="auto">
              <a:xfrm>
                <a:off x="3037597" y="2049462"/>
                <a:ext cx="2305927" cy="146584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9" name="Rectangle 28"/>
              <p:cNvSpPr/>
              <p:nvPr/>
            </p:nvSpPr>
            <p:spPr bwMode="auto">
              <a:xfrm>
                <a:off x="3037597" y="2049462"/>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0" name="Rectangle 29"/>
              <p:cNvSpPr/>
              <p:nvPr/>
            </p:nvSpPr>
            <p:spPr bwMode="auto">
              <a:xfrm>
                <a:off x="3816348" y="2049462"/>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p:cNvSpPr/>
              <p:nvPr/>
            </p:nvSpPr>
            <p:spPr bwMode="auto">
              <a:xfrm>
                <a:off x="4601284" y="2037174"/>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Rectangle 31"/>
              <p:cNvSpPr/>
              <p:nvPr/>
            </p:nvSpPr>
            <p:spPr bwMode="auto">
              <a:xfrm>
                <a:off x="3037597" y="2799681"/>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3" name="Rectangle 32"/>
              <p:cNvSpPr/>
              <p:nvPr/>
            </p:nvSpPr>
            <p:spPr bwMode="auto">
              <a:xfrm>
                <a:off x="3815074" y="2799681"/>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4" name="Rectangle 33"/>
              <p:cNvSpPr/>
              <p:nvPr/>
            </p:nvSpPr>
            <p:spPr bwMode="auto">
              <a:xfrm>
                <a:off x="4603424" y="2799680"/>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5" name="Rectangle 34"/>
              <p:cNvSpPr/>
              <p:nvPr/>
            </p:nvSpPr>
            <p:spPr bwMode="auto">
              <a:xfrm>
                <a:off x="3034223" y="2421945"/>
                <a:ext cx="37112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p:cNvSpPr/>
              <p:nvPr/>
            </p:nvSpPr>
            <p:spPr bwMode="auto">
              <a:xfrm>
                <a:off x="5016480" y="2422921"/>
                <a:ext cx="329184"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p:cNvSpPr/>
              <p:nvPr/>
            </p:nvSpPr>
            <p:spPr bwMode="auto">
              <a:xfrm>
                <a:off x="3448320" y="2421944"/>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8" name="Rectangle 37"/>
              <p:cNvSpPr/>
              <p:nvPr/>
            </p:nvSpPr>
            <p:spPr bwMode="auto">
              <a:xfrm>
                <a:off x="4232304" y="2421945"/>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p:cNvSpPr/>
              <p:nvPr/>
            </p:nvSpPr>
            <p:spPr bwMode="auto">
              <a:xfrm>
                <a:off x="3037597" y="3178354"/>
                <a:ext cx="329184"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p:cNvSpPr/>
              <p:nvPr/>
            </p:nvSpPr>
            <p:spPr bwMode="auto">
              <a:xfrm>
                <a:off x="4974544" y="3178352"/>
                <a:ext cx="37112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p:nvSpPr>
            <p:spPr bwMode="auto">
              <a:xfrm>
                <a:off x="3405343" y="3178353"/>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p:cNvSpPr/>
              <p:nvPr/>
            </p:nvSpPr>
            <p:spPr bwMode="auto">
              <a:xfrm>
                <a:off x="4190560" y="3178355"/>
                <a:ext cx="742240" cy="336947"/>
              </a:xfrm>
              <a:prstGeom prst="rect">
                <a:avLst/>
              </a:prstGeom>
              <a:solidFill>
                <a:srgbClr val="FF66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a:lnSpc>
                    <a:spcPct val="90000"/>
                  </a:lnSpc>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9" name="Group 8"/>
            <p:cNvGrpSpPr/>
            <p:nvPr/>
          </p:nvGrpSpPr>
          <p:grpSpPr>
            <a:xfrm>
              <a:off x="8453465" y="3543710"/>
              <a:ext cx="1188206" cy="1559151"/>
              <a:chOff x="-2292350" y="2082800"/>
              <a:chExt cx="2552700" cy="3349625"/>
            </a:xfrm>
          </p:grpSpPr>
          <p:grpSp>
            <p:nvGrpSpPr>
              <p:cNvPr id="10" name="Group 9"/>
              <p:cNvGrpSpPr/>
              <p:nvPr/>
            </p:nvGrpSpPr>
            <p:grpSpPr>
              <a:xfrm flipH="1">
                <a:off x="-2292350" y="2082800"/>
                <a:ext cx="2552700" cy="3349625"/>
                <a:chOff x="-2292350" y="2082800"/>
                <a:chExt cx="2552700" cy="3349625"/>
              </a:xfrm>
            </p:grpSpPr>
            <p:grpSp>
              <p:nvGrpSpPr>
                <p:cNvPr id="23" name="Group 22"/>
                <p:cNvGrpSpPr>
                  <a:grpSpLocks noChangeAspect="1"/>
                </p:cNvGrpSpPr>
                <p:nvPr/>
              </p:nvGrpSpPr>
              <p:grpSpPr bwMode="auto">
                <a:xfrm>
                  <a:off x="-2292350" y="2082800"/>
                  <a:ext cx="2552700" cy="3349625"/>
                  <a:chOff x="-1444" y="1312"/>
                  <a:chExt cx="1608" cy="2110"/>
                </a:xfrm>
              </p:grpSpPr>
              <p:sp>
                <p:nvSpPr>
                  <p:cNvPr id="25" name="AutoShape 3"/>
                  <p:cNvSpPr>
                    <a:spLocks noChangeAspect="1" noChangeArrowheads="1" noTextEdit="1"/>
                  </p:cNvSpPr>
                  <p:nvPr/>
                </p:nvSpPr>
                <p:spPr bwMode="auto">
                  <a:xfrm>
                    <a:off x="-1444" y="1314"/>
                    <a:ext cx="1608" cy="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26" name="Freeform 25"/>
                  <p:cNvSpPr>
                    <a:spLocks noEditPoints="1"/>
                  </p:cNvSpPr>
                  <p:nvPr/>
                </p:nvSpPr>
                <p:spPr bwMode="auto">
                  <a:xfrm flipV="1">
                    <a:off x="-1444" y="1312"/>
                    <a:ext cx="1606" cy="2110"/>
                  </a:xfrm>
                  <a:custGeom>
                    <a:avLst/>
                    <a:gdLst>
                      <a:gd name="T0" fmla="*/ 2232 w 7055"/>
                      <a:gd name="T1" fmla="*/ 9278 h 9278"/>
                      <a:gd name="T2" fmla="*/ 7045 w 7055"/>
                      <a:gd name="T3" fmla="*/ 9278 h 9278"/>
                      <a:gd name="T4" fmla="*/ 7055 w 7055"/>
                      <a:gd name="T5" fmla="*/ 9268 h 9278"/>
                      <a:gd name="T6" fmla="*/ 7055 w 7055"/>
                      <a:gd name="T7" fmla="*/ 9 h 9278"/>
                      <a:gd name="T8" fmla="*/ 7046 w 7055"/>
                      <a:gd name="T9" fmla="*/ 0 h 9278"/>
                      <a:gd name="T10" fmla="*/ 9 w 7055"/>
                      <a:gd name="T11" fmla="*/ 0 h 9278"/>
                      <a:gd name="T12" fmla="*/ 0 w 7055"/>
                      <a:gd name="T13" fmla="*/ 9 h 9278"/>
                      <a:gd name="T14" fmla="*/ 0 w 7055"/>
                      <a:gd name="T15" fmla="*/ 7174 h 9278"/>
                      <a:gd name="T16" fmla="*/ 2232 w 7055"/>
                      <a:gd name="T17" fmla="*/ 9278 h 9278"/>
                      <a:gd name="T18" fmla="*/ 2265 w 7055"/>
                      <a:gd name="T19" fmla="*/ 9169 h 9278"/>
                      <a:gd name="T20" fmla="*/ 2221 w 7055"/>
                      <a:gd name="T21" fmla="*/ 9033 h 9278"/>
                      <a:gd name="T22" fmla="*/ 2221 w 7055"/>
                      <a:gd name="T23" fmla="*/ 7162 h 9278"/>
                      <a:gd name="T24" fmla="*/ 110 w 7055"/>
                      <a:gd name="T25" fmla="*/ 7155 h 9278"/>
                      <a:gd name="T26" fmla="*/ 102 w 7055"/>
                      <a:gd name="T27" fmla="*/ 6843 h 9278"/>
                      <a:gd name="T28" fmla="*/ 105 w 7055"/>
                      <a:gd name="T29" fmla="*/ 105 h 9278"/>
                      <a:gd name="T30" fmla="*/ 6949 w 7055"/>
                      <a:gd name="T31" fmla="*/ 105 h 9278"/>
                      <a:gd name="T32" fmla="*/ 6949 w 7055"/>
                      <a:gd name="T33" fmla="*/ 9172 h 9278"/>
                      <a:gd name="T34" fmla="*/ 2504 w 7055"/>
                      <a:gd name="T35" fmla="*/ 9175 h 9278"/>
                      <a:gd name="T36" fmla="*/ 2265 w 7055"/>
                      <a:gd name="T37" fmla="*/ 9169 h 9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55" h="9278">
                        <a:moveTo>
                          <a:pt x="2232" y="9278"/>
                        </a:moveTo>
                        <a:lnTo>
                          <a:pt x="7045" y="9278"/>
                        </a:lnTo>
                        <a:cubicBezTo>
                          <a:pt x="7048" y="9275"/>
                          <a:pt x="7053" y="9271"/>
                          <a:pt x="7055" y="9268"/>
                        </a:cubicBezTo>
                        <a:lnTo>
                          <a:pt x="7055" y="9"/>
                        </a:lnTo>
                        <a:cubicBezTo>
                          <a:pt x="7053" y="7"/>
                          <a:pt x="7048" y="2"/>
                          <a:pt x="7046" y="0"/>
                        </a:cubicBezTo>
                        <a:lnTo>
                          <a:pt x="9" y="0"/>
                        </a:lnTo>
                        <a:cubicBezTo>
                          <a:pt x="7" y="2"/>
                          <a:pt x="2" y="6"/>
                          <a:pt x="0" y="9"/>
                        </a:cubicBezTo>
                        <a:lnTo>
                          <a:pt x="0" y="7174"/>
                        </a:lnTo>
                        <a:cubicBezTo>
                          <a:pt x="740" y="7878"/>
                          <a:pt x="1483" y="8581"/>
                          <a:pt x="2232" y="9278"/>
                        </a:cubicBezTo>
                        <a:moveTo>
                          <a:pt x="2265" y="9169"/>
                        </a:moveTo>
                        <a:cubicBezTo>
                          <a:pt x="2213" y="9141"/>
                          <a:pt x="2224" y="9081"/>
                          <a:pt x="2221" y="9033"/>
                        </a:cubicBezTo>
                        <a:cubicBezTo>
                          <a:pt x="2222" y="8409"/>
                          <a:pt x="2224" y="7786"/>
                          <a:pt x="2221" y="7162"/>
                        </a:cubicBezTo>
                        <a:cubicBezTo>
                          <a:pt x="1517" y="7155"/>
                          <a:pt x="813" y="7169"/>
                          <a:pt x="110" y="7155"/>
                        </a:cubicBezTo>
                        <a:cubicBezTo>
                          <a:pt x="103" y="7051"/>
                          <a:pt x="101" y="6947"/>
                          <a:pt x="102" y="6843"/>
                        </a:cubicBezTo>
                        <a:cubicBezTo>
                          <a:pt x="105" y="4597"/>
                          <a:pt x="99" y="2351"/>
                          <a:pt x="105" y="105"/>
                        </a:cubicBezTo>
                        <a:cubicBezTo>
                          <a:pt x="2386" y="101"/>
                          <a:pt x="4668" y="101"/>
                          <a:pt x="6949" y="105"/>
                        </a:cubicBezTo>
                        <a:cubicBezTo>
                          <a:pt x="6954" y="3127"/>
                          <a:pt x="6954" y="6150"/>
                          <a:pt x="6949" y="9172"/>
                        </a:cubicBezTo>
                        <a:cubicBezTo>
                          <a:pt x="5468" y="9179"/>
                          <a:pt x="3986" y="9171"/>
                          <a:pt x="2504" y="9175"/>
                        </a:cubicBezTo>
                        <a:cubicBezTo>
                          <a:pt x="2425" y="9175"/>
                          <a:pt x="2344" y="9179"/>
                          <a:pt x="2265" y="9169"/>
                        </a:cubicBezTo>
                      </a:path>
                    </a:pathLst>
                  </a:custGeom>
                  <a:solidFill>
                    <a:srgbClr val="7575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sp>
                <p:nvSpPr>
                  <p:cNvPr id="27" name="Freeform 26"/>
                  <p:cNvSpPr>
                    <a:spLocks noEditPoints="1"/>
                  </p:cNvSpPr>
                  <p:nvPr/>
                </p:nvSpPr>
                <p:spPr bwMode="auto">
                  <a:xfrm flipV="1">
                    <a:off x="-1421" y="1335"/>
                    <a:ext cx="1560" cy="2064"/>
                  </a:xfrm>
                  <a:custGeom>
                    <a:avLst/>
                    <a:gdLst>
                      <a:gd name="T0" fmla="*/ 2405 w 6855"/>
                      <a:gd name="T1" fmla="*/ 9074 h 9078"/>
                      <a:gd name="T2" fmla="*/ 6850 w 6855"/>
                      <a:gd name="T3" fmla="*/ 4 h 9078"/>
                      <a:gd name="T4" fmla="*/ 3 w 6855"/>
                      <a:gd name="T5" fmla="*/ 6742 h 9078"/>
                      <a:gd name="T6" fmla="*/ 2122 w 6855"/>
                      <a:gd name="T7" fmla="*/ 7061 h 9078"/>
                      <a:gd name="T8" fmla="*/ 2166 w 6855"/>
                      <a:gd name="T9" fmla="*/ 9068 h 9078"/>
                      <a:gd name="T10" fmla="*/ 712 w 6855"/>
                      <a:gd name="T11" fmla="*/ 6567 h 9078"/>
                      <a:gd name="T12" fmla="*/ 6145 w 6855"/>
                      <a:gd name="T13" fmla="*/ 6812 h 9078"/>
                      <a:gd name="T14" fmla="*/ 712 w 6855"/>
                      <a:gd name="T15" fmla="*/ 6424 h 9078"/>
                      <a:gd name="T16" fmla="*/ 6145 w 6855"/>
                      <a:gd name="T17" fmla="*/ 6179 h 9078"/>
                      <a:gd name="T18" fmla="*/ 712 w 6855"/>
                      <a:gd name="T19" fmla="*/ 6424 h 9078"/>
                      <a:gd name="T20" fmla="*/ 712 w 6855"/>
                      <a:gd name="T21" fmla="*/ 5791 h 9078"/>
                      <a:gd name="T22" fmla="*/ 6144 w 6855"/>
                      <a:gd name="T23" fmla="*/ 6036 h 9078"/>
                      <a:gd name="T24" fmla="*/ 712 w 6855"/>
                      <a:gd name="T25" fmla="*/ 5013 h 9078"/>
                      <a:gd name="T26" fmla="*/ 6145 w 6855"/>
                      <a:gd name="T27" fmla="*/ 4768 h 9078"/>
                      <a:gd name="T28" fmla="*/ 712 w 6855"/>
                      <a:gd name="T29" fmla="*/ 5013 h 9078"/>
                      <a:gd name="T30" fmla="*/ 712 w 6855"/>
                      <a:gd name="T31" fmla="*/ 4380 h 9078"/>
                      <a:gd name="T32" fmla="*/ 6145 w 6855"/>
                      <a:gd name="T33" fmla="*/ 4624 h 9078"/>
                      <a:gd name="T34" fmla="*/ 712 w 6855"/>
                      <a:gd name="T35" fmla="*/ 4236 h 9078"/>
                      <a:gd name="T36" fmla="*/ 6145 w 6855"/>
                      <a:gd name="T37" fmla="*/ 3992 h 9078"/>
                      <a:gd name="T38" fmla="*/ 712 w 6855"/>
                      <a:gd name="T39" fmla="*/ 4236 h 9078"/>
                      <a:gd name="T40" fmla="*/ 712 w 6855"/>
                      <a:gd name="T41" fmla="*/ 2969 h 9078"/>
                      <a:gd name="T42" fmla="*/ 6144 w 6855"/>
                      <a:gd name="T43" fmla="*/ 3213 h 9078"/>
                      <a:gd name="T44" fmla="*/ 712 w 6855"/>
                      <a:gd name="T45" fmla="*/ 2825 h 9078"/>
                      <a:gd name="T46" fmla="*/ 6145 w 6855"/>
                      <a:gd name="T47" fmla="*/ 2581 h 9078"/>
                      <a:gd name="T48" fmla="*/ 712 w 6855"/>
                      <a:gd name="T49" fmla="*/ 2825 h 9078"/>
                      <a:gd name="T50" fmla="*/ 712 w 6855"/>
                      <a:gd name="T51" fmla="*/ 2193 h 9078"/>
                      <a:gd name="T52" fmla="*/ 6145 w 6855"/>
                      <a:gd name="T53" fmla="*/ 2437 h 9078"/>
                      <a:gd name="T54" fmla="*/ 712 w 6855"/>
                      <a:gd name="T55" fmla="*/ 1414 h 9078"/>
                      <a:gd name="T56" fmla="*/ 6145 w 6855"/>
                      <a:gd name="T57" fmla="*/ 1170 h 9078"/>
                      <a:gd name="T58" fmla="*/ 712 w 6855"/>
                      <a:gd name="T59" fmla="*/ 1414 h 9078"/>
                      <a:gd name="T60" fmla="*/ 712 w 6855"/>
                      <a:gd name="T61" fmla="*/ 782 h 9078"/>
                      <a:gd name="T62" fmla="*/ 6144 w 6855"/>
                      <a:gd name="T63" fmla="*/ 1026 h 9078"/>
                      <a:gd name="T64" fmla="*/ 712 w 6855"/>
                      <a:gd name="T65" fmla="*/ 638 h 9078"/>
                      <a:gd name="T66" fmla="*/ 6145 w 6855"/>
                      <a:gd name="T67" fmla="*/ 394 h 9078"/>
                      <a:gd name="T68" fmla="*/ 712 w 6855"/>
                      <a:gd name="T69" fmla="*/ 638 h 9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55" h="9078">
                        <a:moveTo>
                          <a:pt x="2166" y="9068"/>
                        </a:moveTo>
                        <a:cubicBezTo>
                          <a:pt x="2245" y="9078"/>
                          <a:pt x="2326" y="9074"/>
                          <a:pt x="2405" y="9074"/>
                        </a:cubicBezTo>
                        <a:cubicBezTo>
                          <a:pt x="3887" y="9070"/>
                          <a:pt x="5369" y="9078"/>
                          <a:pt x="6850" y="9071"/>
                        </a:cubicBezTo>
                        <a:cubicBezTo>
                          <a:pt x="6855" y="6049"/>
                          <a:pt x="6855" y="3026"/>
                          <a:pt x="6850" y="4"/>
                        </a:cubicBezTo>
                        <a:cubicBezTo>
                          <a:pt x="4569" y="0"/>
                          <a:pt x="2287" y="0"/>
                          <a:pt x="6" y="4"/>
                        </a:cubicBezTo>
                        <a:cubicBezTo>
                          <a:pt x="0" y="2250"/>
                          <a:pt x="6" y="4496"/>
                          <a:pt x="3" y="6742"/>
                        </a:cubicBezTo>
                        <a:cubicBezTo>
                          <a:pt x="2" y="6846"/>
                          <a:pt x="4" y="6950"/>
                          <a:pt x="11" y="7054"/>
                        </a:cubicBezTo>
                        <a:cubicBezTo>
                          <a:pt x="714" y="7068"/>
                          <a:pt x="1418" y="7054"/>
                          <a:pt x="2122" y="7061"/>
                        </a:cubicBezTo>
                        <a:cubicBezTo>
                          <a:pt x="2125" y="7685"/>
                          <a:pt x="2123" y="8308"/>
                          <a:pt x="2122" y="8932"/>
                        </a:cubicBezTo>
                        <a:cubicBezTo>
                          <a:pt x="2125" y="8980"/>
                          <a:pt x="2114" y="9040"/>
                          <a:pt x="2166" y="9068"/>
                        </a:cubicBezTo>
                        <a:moveTo>
                          <a:pt x="712" y="6812"/>
                        </a:moveTo>
                        <a:cubicBezTo>
                          <a:pt x="711" y="6730"/>
                          <a:pt x="711" y="6649"/>
                          <a:pt x="712" y="6567"/>
                        </a:cubicBezTo>
                        <a:cubicBezTo>
                          <a:pt x="2523" y="6565"/>
                          <a:pt x="4334" y="6565"/>
                          <a:pt x="6144" y="6567"/>
                        </a:cubicBezTo>
                        <a:cubicBezTo>
                          <a:pt x="6145" y="6649"/>
                          <a:pt x="6146" y="6730"/>
                          <a:pt x="6145" y="6812"/>
                        </a:cubicBezTo>
                        <a:cubicBezTo>
                          <a:pt x="4334" y="6814"/>
                          <a:pt x="2523" y="6814"/>
                          <a:pt x="712" y="6812"/>
                        </a:cubicBezTo>
                        <a:moveTo>
                          <a:pt x="712" y="6424"/>
                        </a:moveTo>
                        <a:cubicBezTo>
                          <a:pt x="711" y="6342"/>
                          <a:pt x="711" y="6261"/>
                          <a:pt x="712" y="6179"/>
                        </a:cubicBezTo>
                        <a:cubicBezTo>
                          <a:pt x="2523" y="6177"/>
                          <a:pt x="4334" y="6177"/>
                          <a:pt x="6145" y="6179"/>
                        </a:cubicBezTo>
                        <a:cubicBezTo>
                          <a:pt x="6146" y="6261"/>
                          <a:pt x="6145" y="6342"/>
                          <a:pt x="6145" y="6424"/>
                        </a:cubicBezTo>
                        <a:cubicBezTo>
                          <a:pt x="4334" y="6426"/>
                          <a:pt x="2523" y="6426"/>
                          <a:pt x="712" y="6424"/>
                        </a:cubicBezTo>
                        <a:moveTo>
                          <a:pt x="712" y="6036"/>
                        </a:moveTo>
                        <a:cubicBezTo>
                          <a:pt x="711" y="5954"/>
                          <a:pt x="711" y="5873"/>
                          <a:pt x="712" y="5791"/>
                        </a:cubicBezTo>
                        <a:cubicBezTo>
                          <a:pt x="2523" y="5789"/>
                          <a:pt x="4334" y="5789"/>
                          <a:pt x="6145" y="5791"/>
                        </a:cubicBezTo>
                        <a:cubicBezTo>
                          <a:pt x="6145" y="5873"/>
                          <a:pt x="6145" y="5954"/>
                          <a:pt x="6144" y="6036"/>
                        </a:cubicBezTo>
                        <a:cubicBezTo>
                          <a:pt x="4334" y="6038"/>
                          <a:pt x="2523" y="6038"/>
                          <a:pt x="712" y="6036"/>
                        </a:cubicBezTo>
                        <a:moveTo>
                          <a:pt x="712" y="5013"/>
                        </a:moveTo>
                        <a:cubicBezTo>
                          <a:pt x="711" y="4931"/>
                          <a:pt x="711" y="4850"/>
                          <a:pt x="712" y="4768"/>
                        </a:cubicBezTo>
                        <a:cubicBezTo>
                          <a:pt x="2523" y="4766"/>
                          <a:pt x="4334" y="4766"/>
                          <a:pt x="6145" y="4768"/>
                        </a:cubicBezTo>
                        <a:cubicBezTo>
                          <a:pt x="6145" y="4850"/>
                          <a:pt x="6145" y="4931"/>
                          <a:pt x="6144" y="5013"/>
                        </a:cubicBezTo>
                        <a:cubicBezTo>
                          <a:pt x="4334" y="5015"/>
                          <a:pt x="2523" y="5015"/>
                          <a:pt x="712" y="5013"/>
                        </a:cubicBezTo>
                        <a:moveTo>
                          <a:pt x="712" y="4624"/>
                        </a:moveTo>
                        <a:cubicBezTo>
                          <a:pt x="711" y="4543"/>
                          <a:pt x="711" y="4462"/>
                          <a:pt x="712" y="4380"/>
                        </a:cubicBezTo>
                        <a:cubicBezTo>
                          <a:pt x="2523" y="4378"/>
                          <a:pt x="4334" y="4378"/>
                          <a:pt x="6145" y="4380"/>
                        </a:cubicBezTo>
                        <a:cubicBezTo>
                          <a:pt x="6146" y="4462"/>
                          <a:pt x="6146" y="4543"/>
                          <a:pt x="6145" y="4624"/>
                        </a:cubicBezTo>
                        <a:cubicBezTo>
                          <a:pt x="4334" y="4627"/>
                          <a:pt x="2523" y="4627"/>
                          <a:pt x="712" y="4624"/>
                        </a:cubicBezTo>
                        <a:moveTo>
                          <a:pt x="712" y="4236"/>
                        </a:moveTo>
                        <a:cubicBezTo>
                          <a:pt x="711" y="4155"/>
                          <a:pt x="711" y="4073"/>
                          <a:pt x="712" y="3992"/>
                        </a:cubicBezTo>
                        <a:cubicBezTo>
                          <a:pt x="2523" y="3990"/>
                          <a:pt x="4334" y="3990"/>
                          <a:pt x="6145" y="3992"/>
                        </a:cubicBezTo>
                        <a:cubicBezTo>
                          <a:pt x="6146" y="4074"/>
                          <a:pt x="6145" y="4155"/>
                          <a:pt x="6144" y="4236"/>
                        </a:cubicBezTo>
                        <a:cubicBezTo>
                          <a:pt x="4334" y="4239"/>
                          <a:pt x="2523" y="4239"/>
                          <a:pt x="712" y="4236"/>
                        </a:cubicBezTo>
                        <a:moveTo>
                          <a:pt x="712" y="3213"/>
                        </a:moveTo>
                        <a:cubicBezTo>
                          <a:pt x="711" y="3132"/>
                          <a:pt x="711" y="3050"/>
                          <a:pt x="712" y="2969"/>
                        </a:cubicBezTo>
                        <a:cubicBezTo>
                          <a:pt x="2523" y="2967"/>
                          <a:pt x="4334" y="2967"/>
                          <a:pt x="6145" y="2969"/>
                        </a:cubicBezTo>
                        <a:cubicBezTo>
                          <a:pt x="6146" y="3050"/>
                          <a:pt x="6145" y="3132"/>
                          <a:pt x="6144" y="3213"/>
                        </a:cubicBezTo>
                        <a:cubicBezTo>
                          <a:pt x="4334" y="3216"/>
                          <a:pt x="2523" y="3216"/>
                          <a:pt x="712" y="3213"/>
                        </a:cubicBezTo>
                        <a:moveTo>
                          <a:pt x="712" y="2825"/>
                        </a:moveTo>
                        <a:cubicBezTo>
                          <a:pt x="711" y="2744"/>
                          <a:pt x="711" y="2662"/>
                          <a:pt x="712" y="2581"/>
                        </a:cubicBezTo>
                        <a:cubicBezTo>
                          <a:pt x="2523" y="2579"/>
                          <a:pt x="4334" y="2579"/>
                          <a:pt x="6145" y="2581"/>
                        </a:cubicBezTo>
                        <a:cubicBezTo>
                          <a:pt x="6145" y="2662"/>
                          <a:pt x="6145" y="2744"/>
                          <a:pt x="6144" y="2825"/>
                        </a:cubicBezTo>
                        <a:cubicBezTo>
                          <a:pt x="4334" y="2828"/>
                          <a:pt x="2523" y="2828"/>
                          <a:pt x="712" y="2825"/>
                        </a:cubicBezTo>
                        <a:moveTo>
                          <a:pt x="712" y="2437"/>
                        </a:moveTo>
                        <a:cubicBezTo>
                          <a:pt x="711" y="2356"/>
                          <a:pt x="711" y="2274"/>
                          <a:pt x="712" y="2193"/>
                        </a:cubicBezTo>
                        <a:cubicBezTo>
                          <a:pt x="2523" y="2191"/>
                          <a:pt x="4334" y="2191"/>
                          <a:pt x="6145" y="2193"/>
                        </a:cubicBezTo>
                        <a:cubicBezTo>
                          <a:pt x="6146" y="2274"/>
                          <a:pt x="6146" y="2356"/>
                          <a:pt x="6145" y="2437"/>
                        </a:cubicBezTo>
                        <a:cubicBezTo>
                          <a:pt x="4334" y="2440"/>
                          <a:pt x="2523" y="2440"/>
                          <a:pt x="712" y="2437"/>
                        </a:cubicBezTo>
                        <a:moveTo>
                          <a:pt x="712" y="1414"/>
                        </a:moveTo>
                        <a:cubicBezTo>
                          <a:pt x="711" y="1333"/>
                          <a:pt x="711" y="1251"/>
                          <a:pt x="712" y="1170"/>
                        </a:cubicBezTo>
                        <a:cubicBezTo>
                          <a:pt x="2523" y="1168"/>
                          <a:pt x="4334" y="1167"/>
                          <a:pt x="6145" y="1170"/>
                        </a:cubicBezTo>
                        <a:cubicBezTo>
                          <a:pt x="6146" y="1251"/>
                          <a:pt x="6146" y="1333"/>
                          <a:pt x="6145" y="1414"/>
                        </a:cubicBezTo>
                        <a:cubicBezTo>
                          <a:pt x="4334" y="1416"/>
                          <a:pt x="2523" y="1416"/>
                          <a:pt x="712" y="1414"/>
                        </a:cubicBezTo>
                        <a:moveTo>
                          <a:pt x="712" y="1026"/>
                        </a:moveTo>
                        <a:cubicBezTo>
                          <a:pt x="711" y="945"/>
                          <a:pt x="711" y="863"/>
                          <a:pt x="712" y="782"/>
                        </a:cubicBezTo>
                        <a:cubicBezTo>
                          <a:pt x="2523" y="779"/>
                          <a:pt x="4334" y="780"/>
                          <a:pt x="6145" y="782"/>
                        </a:cubicBezTo>
                        <a:cubicBezTo>
                          <a:pt x="6145" y="863"/>
                          <a:pt x="6145" y="945"/>
                          <a:pt x="6144" y="1026"/>
                        </a:cubicBezTo>
                        <a:cubicBezTo>
                          <a:pt x="4334" y="1028"/>
                          <a:pt x="2523" y="1029"/>
                          <a:pt x="712" y="1026"/>
                        </a:cubicBezTo>
                        <a:moveTo>
                          <a:pt x="712" y="638"/>
                        </a:moveTo>
                        <a:cubicBezTo>
                          <a:pt x="711" y="557"/>
                          <a:pt x="711" y="475"/>
                          <a:pt x="712" y="394"/>
                        </a:cubicBezTo>
                        <a:cubicBezTo>
                          <a:pt x="2523" y="391"/>
                          <a:pt x="4334" y="391"/>
                          <a:pt x="6145" y="394"/>
                        </a:cubicBezTo>
                        <a:cubicBezTo>
                          <a:pt x="6146" y="475"/>
                          <a:pt x="6145" y="557"/>
                          <a:pt x="6144" y="638"/>
                        </a:cubicBezTo>
                        <a:cubicBezTo>
                          <a:pt x="4334" y="640"/>
                          <a:pt x="2523" y="640"/>
                          <a:pt x="712" y="638"/>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a:p>
                </p:txBody>
              </p:sp>
            </p:grpSp>
            <p:sp>
              <p:nvSpPr>
                <p:cNvPr id="24" name="Rectangle 23"/>
                <p:cNvSpPr/>
                <p:nvPr/>
              </p:nvSpPr>
              <p:spPr bwMode="auto">
                <a:xfrm>
                  <a:off x="-2133600" y="2895600"/>
                  <a:ext cx="2133600" cy="2376345"/>
                </a:xfrm>
                <a:prstGeom prst="rect">
                  <a:avLst/>
                </a:prstGeom>
                <a:solidFill>
                  <a:schemeClr val="accent1"/>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914400" eaLnBrk="0" hangingPunct="0"/>
                  <a:endParaRPr lang="en-US"/>
                </a:p>
              </p:txBody>
            </p:sp>
          </p:grpSp>
          <p:grpSp>
            <p:nvGrpSpPr>
              <p:cNvPr id="11" name="Group 10"/>
              <p:cNvGrpSpPr/>
              <p:nvPr/>
            </p:nvGrpSpPr>
            <p:grpSpPr>
              <a:xfrm>
                <a:off x="-1979563" y="2819400"/>
                <a:ext cx="379363" cy="345716"/>
                <a:chOff x="-2032000" y="2503592"/>
                <a:chExt cx="379363" cy="345716"/>
              </a:xfrm>
            </p:grpSpPr>
            <p:sp>
              <p:nvSpPr>
                <p:cNvPr id="21" name="Rectangle 20"/>
                <p:cNvSpPr/>
                <p:nvPr/>
              </p:nvSpPr>
              <p:spPr bwMode="auto">
                <a:xfrm>
                  <a:off x="-2032000" y="2565939"/>
                  <a:ext cx="308457" cy="283369"/>
                </a:xfrm>
                <a:prstGeom prst="rect">
                  <a:avLst/>
                </a:prstGeom>
                <a:noFill/>
                <a:ln w="38100" cap="flat" cmpd="sng" algn="ctr">
                  <a:solidFill>
                    <a:srgbClr val="00BCF2"/>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914400" eaLnBrk="0" hangingPunct="0"/>
                  <a:endParaRPr lang="en-US"/>
                </a:p>
              </p:txBody>
            </p:sp>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620990">
                  <a:off x="-1986725" y="2503592"/>
                  <a:ext cx="334088" cy="320645"/>
                </a:xfrm>
                <a:prstGeom prst="rect">
                  <a:avLst/>
                </a:prstGeom>
              </p:spPr>
            </p:pic>
          </p:grpSp>
          <p:grpSp>
            <p:nvGrpSpPr>
              <p:cNvPr id="12" name="Group 11"/>
              <p:cNvGrpSpPr/>
              <p:nvPr/>
            </p:nvGrpSpPr>
            <p:grpSpPr>
              <a:xfrm>
                <a:off x="-1982630" y="3440761"/>
                <a:ext cx="379363" cy="345716"/>
                <a:chOff x="-2032000" y="2503592"/>
                <a:chExt cx="379363" cy="345716"/>
              </a:xfrm>
            </p:grpSpPr>
            <p:sp>
              <p:nvSpPr>
                <p:cNvPr id="19" name="Rectangle 18"/>
                <p:cNvSpPr/>
                <p:nvPr/>
              </p:nvSpPr>
              <p:spPr bwMode="auto">
                <a:xfrm>
                  <a:off x="-2032000" y="2565939"/>
                  <a:ext cx="308457" cy="283369"/>
                </a:xfrm>
                <a:prstGeom prst="rect">
                  <a:avLst/>
                </a:prstGeom>
                <a:noFill/>
                <a:ln w="38100" cap="flat" cmpd="sng" algn="ctr">
                  <a:solidFill>
                    <a:srgbClr val="00BCF2"/>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914400" eaLnBrk="0" hangingPunct="0"/>
                  <a:endParaRPr lang="en-US"/>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620990">
                  <a:off x="-1986725" y="2503592"/>
                  <a:ext cx="334088" cy="320645"/>
                </a:xfrm>
                <a:prstGeom prst="rect">
                  <a:avLst/>
                </a:prstGeom>
              </p:spPr>
            </p:pic>
          </p:grpSp>
          <p:grpSp>
            <p:nvGrpSpPr>
              <p:cNvPr id="13" name="Group 12"/>
              <p:cNvGrpSpPr/>
              <p:nvPr/>
            </p:nvGrpSpPr>
            <p:grpSpPr>
              <a:xfrm>
                <a:off x="-1985697" y="4062122"/>
                <a:ext cx="379363" cy="345716"/>
                <a:chOff x="-2032000" y="2503592"/>
                <a:chExt cx="379363" cy="345716"/>
              </a:xfrm>
            </p:grpSpPr>
            <p:sp>
              <p:nvSpPr>
                <p:cNvPr id="17" name="Rectangle 16"/>
                <p:cNvSpPr/>
                <p:nvPr/>
              </p:nvSpPr>
              <p:spPr bwMode="auto">
                <a:xfrm>
                  <a:off x="-2032000" y="2565939"/>
                  <a:ext cx="308457" cy="283369"/>
                </a:xfrm>
                <a:prstGeom prst="rect">
                  <a:avLst/>
                </a:prstGeom>
                <a:noFill/>
                <a:ln w="38100" cap="flat" cmpd="sng" algn="ctr">
                  <a:solidFill>
                    <a:srgbClr val="00BCF2"/>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914400" eaLnBrk="0" hangingPunct="0"/>
                  <a:endParaRPr lang="en-US"/>
                </a:p>
              </p:txBody>
            </p:sp>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620990">
                  <a:off x="-1986725" y="2503592"/>
                  <a:ext cx="334088" cy="320645"/>
                </a:xfrm>
                <a:prstGeom prst="rect">
                  <a:avLst/>
                </a:prstGeom>
              </p:spPr>
            </p:pic>
          </p:grpSp>
          <p:grpSp>
            <p:nvGrpSpPr>
              <p:cNvPr id="14" name="Group 13"/>
              <p:cNvGrpSpPr/>
              <p:nvPr/>
            </p:nvGrpSpPr>
            <p:grpSpPr>
              <a:xfrm>
                <a:off x="-1988764" y="4683484"/>
                <a:ext cx="379363" cy="345716"/>
                <a:chOff x="-2032000" y="2503592"/>
                <a:chExt cx="379363" cy="345716"/>
              </a:xfrm>
            </p:grpSpPr>
            <p:sp>
              <p:nvSpPr>
                <p:cNvPr id="15" name="Rectangle 14"/>
                <p:cNvSpPr/>
                <p:nvPr/>
              </p:nvSpPr>
              <p:spPr bwMode="auto">
                <a:xfrm>
                  <a:off x="-2032000" y="2565939"/>
                  <a:ext cx="308457" cy="283369"/>
                </a:xfrm>
                <a:prstGeom prst="rect">
                  <a:avLst/>
                </a:prstGeom>
                <a:noFill/>
                <a:ln w="38100" cap="flat" cmpd="sng" algn="ctr">
                  <a:solidFill>
                    <a:srgbClr val="00BCF2"/>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914400" eaLnBrk="0" hangingPunct="0"/>
                  <a:endParaRPr lang="en-US"/>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620990">
                  <a:off x="-1986725" y="2503592"/>
                  <a:ext cx="334088" cy="320645"/>
                </a:xfrm>
                <a:prstGeom prst="rect">
                  <a:avLst/>
                </a:prstGeom>
              </p:spPr>
            </p:pic>
          </p:grpSp>
        </p:grpSp>
      </p:grpSp>
    </p:spTree>
    <p:custDataLst>
      <p:tags r:id="rId1"/>
    </p:custDataLst>
    <p:extLst>
      <p:ext uri="{BB962C8B-B14F-4D97-AF65-F5344CB8AC3E}">
        <p14:creationId xmlns:p14="http://schemas.microsoft.com/office/powerpoint/2010/main" val="245417744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23</TotalTime>
  <Words>1080</Words>
  <Application>Microsoft Office PowerPoint</Application>
  <PresentationFormat>Widescreen</PresentationFormat>
  <Paragraphs>123</Paragraphs>
  <Slides>11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Century Gothic</vt:lpstr>
      <vt:lpstr>Segoe UI</vt:lpstr>
      <vt:lpstr>Symbol</vt:lpstr>
      <vt:lpstr>Times New Roman</vt:lpstr>
      <vt:lpstr>Verdana</vt:lpstr>
      <vt:lpstr>Wingdings 3</vt:lpstr>
      <vt:lpstr>Ion</vt:lpstr>
      <vt:lpstr>Chapter 8 - Implementing Windows Firewall</vt:lpstr>
      <vt:lpstr>Firewall types</vt:lpstr>
      <vt:lpstr>Well-known ports</vt:lpstr>
      <vt:lpstr>Network location profiles</vt:lpstr>
      <vt:lpstr>Network location profiles</vt:lpstr>
      <vt:lpstr>Network location profiles</vt:lpstr>
      <vt:lpstr>What is Windows Firewall with Advanced Security?</vt:lpstr>
      <vt:lpstr>What is Windows Firewall with Advanced Security?</vt:lpstr>
      <vt:lpstr>What is Windows Firewall with Advanced Security?</vt:lpstr>
      <vt:lpstr>What is Windows Firewall with Advanced Security?</vt:lpstr>
      <vt:lpstr>Deploying firewall rules</vt:lpstr>
    </vt:vector>
  </TitlesOfParts>
  <Company>Nanyang Polytechnic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 Implementing Windows Firewall</dc:title>
  <dc:creator>TEO CHEA WAN</dc:creator>
  <cp:lastModifiedBy>TEO CHEA WAN</cp:lastModifiedBy>
  <cp:revision>5</cp:revision>
  <dcterms:created xsi:type="dcterms:W3CDTF">2018-03-22T04:56:24Z</dcterms:created>
  <dcterms:modified xsi:type="dcterms:W3CDTF">2018-04-04T05:48:05Z</dcterms:modified>
</cp:coreProperties>
</file>