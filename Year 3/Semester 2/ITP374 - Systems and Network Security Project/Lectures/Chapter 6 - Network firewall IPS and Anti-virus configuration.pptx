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1"/>
  </p:sldMasterIdLst>
  <p:notesMasterIdLst>
    <p:notesMasterId r:id="rId64"/>
  </p:notesMasterIdLst>
  <p:sldIdLst>
    <p:sldId id="256" r:id="rId2"/>
    <p:sldId id="260" r:id="rId3"/>
    <p:sldId id="261" r:id="rId4"/>
    <p:sldId id="262" r:id="rId5"/>
    <p:sldId id="263" r:id="rId6"/>
    <p:sldId id="264" r:id="rId7"/>
    <p:sldId id="265" r:id="rId8"/>
    <p:sldId id="266" r:id="rId9"/>
    <p:sldId id="267" r:id="rId10"/>
    <p:sldId id="268" r:id="rId11"/>
    <p:sldId id="272" r:id="rId12"/>
    <p:sldId id="273"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3" r:id="rId31"/>
    <p:sldId id="294" r:id="rId32"/>
    <p:sldId id="295" r:id="rId33"/>
    <p:sldId id="296" r:id="rId34"/>
    <p:sldId id="297" r:id="rId35"/>
    <p:sldId id="298" r:id="rId36"/>
    <p:sldId id="299" r:id="rId37"/>
    <p:sldId id="300" r:id="rId38"/>
    <p:sldId id="301" r:id="rId39"/>
    <p:sldId id="302" r:id="rId40"/>
    <p:sldId id="303" r:id="rId41"/>
    <p:sldId id="304" r:id="rId42"/>
    <p:sldId id="305" r:id="rId43"/>
    <p:sldId id="306" r:id="rId44"/>
    <p:sldId id="307" r:id="rId45"/>
    <p:sldId id="308" r:id="rId46"/>
    <p:sldId id="309" r:id="rId47"/>
    <p:sldId id="310" r:id="rId48"/>
    <p:sldId id="311" r:id="rId49"/>
    <p:sldId id="312" r:id="rId50"/>
    <p:sldId id="315" r:id="rId51"/>
    <p:sldId id="316" r:id="rId52"/>
    <p:sldId id="317" r:id="rId53"/>
    <p:sldId id="318" r:id="rId54"/>
    <p:sldId id="319" r:id="rId55"/>
    <p:sldId id="320" r:id="rId56"/>
    <p:sldId id="321" r:id="rId57"/>
    <p:sldId id="322" r:id="rId58"/>
    <p:sldId id="323" r:id="rId59"/>
    <p:sldId id="324" r:id="rId60"/>
    <p:sldId id="325" r:id="rId61"/>
    <p:sldId id="326" r:id="rId62"/>
    <p:sldId id="327"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DA366E-D436-4DC8-B38A-FA98E4390125}" type="datetimeFigureOut">
              <a:rPr lang="en-SG" smtClean="0"/>
              <a:t>22/3/2018</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C34072-7F07-4F98-9800-1EE0AF12075C}" type="slidenum">
              <a:rPr lang="en-SG" smtClean="0"/>
              <a:t>‹#›</a:t>
            </a:fld>
            <a:endParaRPr lang="en-SG"/>
          </a:p>
        </p:txBody>
      </p:sp>
    </p:spTree>
    <p:extLst>
      <p:ext uri="{BB962C8B-B14F-4D97-AF65-F5344CB8AC3E}">
        <p14:creationId xmlns:p14="http://schemas.microsoft.com/office/powerpoint/2010/main" val="10086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3" Type="http://schemas.openxmlformats.org/officeDocument/2006/relationships/hyperlink" Target="http://docs.fortinet.com/" TargetMode="External"/><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smtClean="0"/>
              <a:t>IDS – provides visibility (</a:t>
            </a:r>
            <a:r>
              <a:rPr lang="en-SG" sz="1200" b="0" i="0" kern="1200" dirty="0" smtClean="0">
                <a:solidFill>
                  <a:schemeClr val="tx1"/>
                </a:solidFill>
                <a:effectLst/>
                <a:latin typeface="Arial" charset="0"/>
                <a:ea typeface="+mn-ea"/>
                <a:cs typeface="+mn-cs"/>
              </a:rPr>
              <a:t>see what is happening)</a:t>
            </a:r>
            <a:endParaRPr lang="en-SG" dirty="0" smtClean="0"/>
          </a:p>
          <a:p>
            <a:r>
              <a:rPr lang="en-SG" dirty="0" smtClean="0"/>
              <a:t>IPS</a:t>
            </a:r>
            <a:r>
              <a:rPr lang="en-SG" baseline="0" dirty="0" smtClean="0"/>
              <a:t> – provides control</a:t>
            </a:r>
            <a:endParaRPr lang="en-SG" dirty="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2</a:t>
            </a:fld>
            <a:endParaRPr lang="en-US" altLang="en-US"/>
          </a:p>
        </p:txBody>
      </p:sp>
    </p:spTree>
    <p:extLst>
      <p:ext uri="{BB962C8B-B14F-4D97-AF65-F5344CB8AC3E}">
        <p14:creationId xmlns:p14="http://schemas.microsoft.com/office/powerpoint/2010/main" val="21931040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sz="1200" b="0" i="0" kern="1200" dirty="0" smtClean="0">
              <a:solidFill>
                <a:schemeClr val="tx1"/>
              </a:solidFill>
              <a:effectLst/>
              <a:latin typeface="Arial" charset="0"/>
              <a:ea typeface="+mn-ea"/>
              <a:cs typeface="+mn-cs"/>
            </a:endParaRPr>
          </a:p>
          <a:p>
            <a:endParaRPr lang="en-SG" dirty="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3</a:t>
            </a:fld>
            <a:endParaRPr lang="en-US" altLang="en-US"/>
          </a:p>
        </p:txBody>
      </p:sp>
    </p:spTree>
    <p:extLst>
      <p:ext uri="{BB962C8B-B14F-4D97-AF65-F5344CB8AC3E}">
        <p14:creationId xmlns:p14="http://schemas.microsoft.com/office/powerpoint/2010/main" val="26239722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sz="1200" b="0" i="0" kern="1200" dirty="0" smtClean="0">
              <a:solidFill>
                <a:schemeClr val="tx1"/>
              </a:solidFill>
              <a:effectLst/>
              <a:latin typeface="Arial" charset="0"/>
              <a:ea typeface="+mn-ea"/>
              <a:cs typeface="+mn-cs"/>
            </a:endParaRPr>
          </a:p>
          <a:p>
            <a:r>
              <a:rPr lang="en-SG" sz="1200" b="0" i="0" kern="1200" dirty="0" smtClean="0">
                <a:solidFill>
                  <a:schemeClr val="tx1"/>
                </a:solidFill>
                <a:effectLst/>
                <a:latin typeface="Arial" charset="0"/>
                <a:ea typeface="+mn-ea"/>
                <a:cs typeface="+mn-cs"/>
              </a:rPr>
              <a:t>Network forensics, and analysis capabilities, the most important part of the picture is the IDS management console -quick and natural way to gain network and security visibility.</a:t>
            </a:r>
          </a:p>
          <a:p>
            <a:r>
              <a:rPr lang="en-SG" sz="1200" b="0" i="0" kern="1200" dirty="0" smtClean="0">
                <a:solidFill>
                  <a:schemeClr val="tx1"/>
                </a:solidFill>
                <a:effectLst/>
                <a:latin typeface="Arial" charset="0"/>
                <a:ea typeface="+mn-ea"/>
                <a:cs typeface="+mn-cs"/>
              </a:rPr>
              <a:t>Without an effective way of extracting information from the IDS</a:t>
            </a:r>
            <a:endParaRPr lang="en-SG" dirty="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4</a:t>
            </a:fld>
            <a:endParaRPr lang="en-US" altLang="en-US"/>
          </a:p>
        </p:txBody>
      </p:sp>
    </p:spTree>
    <p:extLst>
      <p:ext uri="{BB962C8B-B14F-4D97-AF65-F5344CB8AC3E}">
        <p14:creationId xmlns:p14="http://schemas.microsoft.com/office/powerpoint/2010/main" val="20326445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kern="1200" dirty="0" smtClean="0">
                <a:solidFill>
                  <a:schemeClr val="tx1"/>
                </a:solidFill>
                <a:effectLst/>
                <a:latin typeface="Arial" charset="0"/>
                <a:ea typeface="+mn-ea"/>
                <a:cs typeface="+mn-cs"/>
              </a:rPr>
              <a:t>Not in the true real-time communication path between the sender and receiver of information</a:t>
            </a:r>
            <a:endParaRPr lang="en-SG" dirty="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5</a:t>
            </a:fld>
            <a:endParaRPr lang="en-US" altLang="en-US"/>
          </a:p>
        </p:txBody>
      </p:sp>
    </p:spTree>
    <p:extLst>
      <p:ext uri="{BB962C8B-B14F-4D97-AF65-F5344CB8AC3E}">
        <p14:creationId xmlns:p14="http://schemas.microsoft.com/office/powerpoint/2010/main" val="37137544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smtClean="0"/>
              <a:t>IDS – provides visibility (</a:t>
            </a:r>
            <a:r>
              <a:rPr lang="en-SG" sz="1200" b="0" i="0" kern="1200" dirty="0" smtClean="0">
                <a:solidFill>
                  <a:schemeClr val="tx1"/>
                </a:solidFill>
                <a:effectLst/>
                <a:latin typeface="Arial" charset="0"/>
                <a:ea typeface="+mn-ea"/>
                <a:cs typeface="+mn-cs"/>
              </a:rPr>
              <a:t>see what is happening)</a:t>
            </a:r>
            <a:endParaRPr lang="en-SG" dirty="0" smtClean="0"/>
          </a:p>
          <a:p>
            <a:r>
              <a:rPr lang="en-SG" dirty="0" smtClean="0"/>
              <a:t>IPS</a:t>
            </a:r>
            <a:r>
              <a:rPr lang="en-SG" baseline="0" dirty="0" smtClean="0"/>
              <a:t> – provides control</a:t>
            </a:r>
            <a:endParaRPr lang="en-SG" dirty="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6</a:t>
            </a:fld>
            <a:endParaRPr lang="en-US" altLang="en-US"/>
          </a:p>
        </p:txBody>
      </p:sp>
    </p:spTree>
    <p:extLst>
      <p:ext uri="{BB962C8B-B14F-4D97-AF65-F5344CB8AC3E}">
        <p14:creationId xmlns:p14="http://schemas.microsoft.com/office/powerpoint/2010/main" val="5886902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sz="1200" b="0" i="0" kern="1200" dirty="0" smtClean="0">
              <a:solidFill>
                <a:schemeClr val="tx1"/>
              </a:solidFill>
              <a:effectLst/>
              <a:latin typeface="Arial" charset="0"/>
              <a:ea typeface="+mn-ea"/>
              <a:cs typeface="+mn-cs"/>
            </a:endParaRPr>
          </a:p>
          <a:p>
            <a:r>
              <a:rPr lang="en-SG" sz="1200" b="1" i="0" kern="1200" dirty="0" smtClean="0">
                <a:solidFill>
                  <a:schemeClr val="tx1"/>
                </a:solidFill>
                <a:effectLst/>
                <a:latin typeface="Arial" charset="0"/>
                <a:ea typeface="+mn-ea"/>
                <a:cs typeface="+mn-cs"/>
              </a:rPr>
              <a:t>Exploit-facing</a:t>
            </a:r>
            <a:r>
              <a:rPr lang="en-SG" sz="1200" b="0" i="0" kern="1200" dirty="0" smtClean="0">
                <a:solidFill>
                  <a:schemeClr val="tx1"/>
                </a:solidFill>
                <a:effectLst/>
                <a:latin typeface="Arial" charset="0"/>
                <a:ea typeface="+mn-ea"/>
                <a:cs typeface="+mn-cs"/>
              </a:rPr>
              <a:t> signatures identify individual exploits by triggering on the unique patterns of a particular exploit attempt. The IPS can identify specific exploits by finding a match with an exploit-facing signature in the traffic stream</a:t>
            </a:r>
          </a:p>
          <a:p>
            <a:r>
              <a:rPr lang="en-SG" sz="1200" b="1" i="0" kern="1200" dirty="0" smtClean="0">
                <a:solidFill>
                  <a:schemeClr val="tx1"/>
                </a:solidFill>
                <a:effectLst/>
                <a:latin typeface="Arial" charset="0"/>
                <a:ea typeface="+mn-ea"/>
                <a:cs typeface="+mn-cs"/>
              </a:rPr>
              <a:t>Vulnerability-facing</a:t>
            </a:r>
            <a:r>
              <a:rPr lang="en-SG" sz="1200" b="0" i="0" kern="1200" dirty="0" smtClean="0">
                <a:solidFill>
                  <a:schemeClr val="tx1"/>
                </a:solidFill>
                <a:effectLst/>
                <a:latin typeface="Arial" charset="0"/>
                <a:ea typeface="+mn-ea"/>
                <a:cs typeface="+mn-cs"/>
              </a:rPr>
              <a:t> signatures are broader signatures that target the underlying vulnerability in the system that is being targeted. These signatures allow networks to be protected from variants of an exploit that may not have been directly observed in the wild, but also raise the risk of false-positives. </a:t>
            </a:r>
          </a:p>
          <a:p>
            <a:endParaRPr lang="en-SG" dirty="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7</a:t>
            </a:fld>
            <a:endParaRPr lang="en-US" altLang="en-US"/>
          </a:p>
        </p:txBody>
      </p:sp>
    </p:spTree>
    <p:extLst>
      <p:ext uri="{BB962C8B-B14F-4D97-AF65-F5344CB8AC3E}">
        <p14:creationId xmlns:p14="http://schemas.microsoft.com/office/powerpoint/2010/main" val="22110313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sz="1200" b="0" i="0" kern="1200" dirty="0" smtClean="0">
              <a:solidFill>
                <a:schemeClr val="tx1"/>
              </a:solidFill>
              <a:effectLst/>
              <a:latin typeface="Arial" charset="0"/>
              <a:ea typeface="+mn-ea"/>
              <a:cs typeface="+mn-cs"/>
            </a:endParaRPr>
          </a:p>
          <a:p>
            <a:r>
              <a:rPr lang="en-SG" sz="1200" b="1" i="0" kern="1200" dirty="0" smtClean="0">
                <a:solidFill>
                  <a:schemeClr val="tx1"/>
                </a:solidFill>
                <a:effectLst/>
                <a:latin typeface="Arial" charset="0"/>
                <a:ea typeface="+mn-ea"/>
                <a:cs typeface="+mn-cs"/>
              </a:rPr>
              <a:t>Exploit-facing</a:t>
            </a:r>
            <a:r>
              <a:rPr lang="en-SG" sz="1200" b="0" i="0" kern="1200" dirty="0" smtClean="0">
                <a:solidFill>
                  <a:schemeClr val="tx1"/>
                </a:solidFill>
                <a:effectLst/>
                <a:latin typeface="Arial" charset="0"/>
                <a:ea typeface="+mn-ea"/>
                <a:cs typeface="+mn-cs"/>
              </a:rPr>
              <a:t> signatures identify individual exploits by triggering on the unique patterns of a particular exploit attempt. The IPS can identify specific exploits by finding a match with an exploit-facing signature in the traffic stream</a:t>
            </a:r>
          </a:p>
          <a:p>
            <a:r>
              <a:rPr lang="en-SG" sz="1200" b="1" i="0" kern="1200" dirty="0" smtClean="0">
                <a:solidFill>
                  <a:schemeClr val="tx1"/>
                </a:solidFill>
                <a:effectLst/>
                <a:latin typeface="Arial" charset="0"/>
                <a:ea typeface="+mn-ea"/>
                <a:cs typeface="+mn-cs"/>
              </a:rPr>
              <a:t>Vulnerability-facing</a:t>
            </a:r>
            <a:r>
              <a:rPr lang="en-SG" sz="1200" b="0" i="0" kern="1200" dirty="0" smtClean="0">
                <a:solidFill>
                  <a:schemeClr val="tx1"/>
                </a:solidFill>
                <a:effectLst/>
                <a:latin typeface="Arial" charset="0"/>
                <a:ea typeface="+mn-ea"/>
                <a:cs typeface="+mn-cs"/>
              </a:rPr>
              <a:t> signatures are broader signatures that target the underlying vulnerability in the system that is being targeted. These signatures allow networks to be protected from variants of an exploit that may not have been directly observed in the wild, but also raise the risk of false-positives. </a:t>
            </a:r>
          </a:p>
          <a:p>
            <a:endParaRPr lang="en-SG" dirty="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8</a:t>
            </a:fld>
            <a:endParaRPr lang="en-US" altLang="en-US"/>
          </a:p>
        </p:txBody>
      </p:sp>
    </p:spTree>
    <p:extLst>
      <p:ext uri="{BB962C8B-B14F-4D97-AF65-F5344CB8AC3E}">
        <p14:creationId xmlns:p14="http://schemas.microsoft.com/office/powerpoint/2010/main" val="9682192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kern="1200" dirty="0" smtClean="0">
                <a:solidFill>
                  <a:schemeClr val="tx1"/>
                </a:solidFill>
                <a:effectLst/>
                <a:latin typeface="Arial" charset="0"/>
                <a:ea typeface="+mn-ea"/>
                <a:cs typeface="+mn-cs"/>
              </a:rPr>
              <a:t> high rate of false positives, which can interrupt legitimate traffic, or you'll miss a lot of attacks</a:t>
            </a:r>
          </a:p>
          <a:p>
            <a:endParaRPr lang="en-SG" sz="1200" b="0" i="0" kern="1200" dirty="0" smtClean="0">
              <a:solidFill>
                <a:schemeClr val="tx1"/>
              </a:solidFill>
              <a:effectLst/>
              <a:latin typeface="Arial" charset="0"/>
              <a:ea typeface="+mn-ea"/>
              <a:cs typeface="+mn-cs"/>
            </a:endParaRPr>
          </a:p>
          <a:p>
            <a:r>
              <a:rPr lang="en-SG" sz="1200" b="0" i="0" kern="1200" dirty="0" smtClean="0">
                <a:solidFill>
                  <a:schemeClr val="tx1"/>
                </a:solidFill>
                <a:effectLst/>
                <a:latin typeface="Arial" charset="0"/>
                <a:ea typeface="+mn-ea"/>
                <a:cs typeface="+mn-cs"/>
              </a:rPr>
              <a:t>Must be efficient</a:t>
            </a:r>
            <a:r>
              <a:rPr lang="en-SG" sz="1200" b="0" i="0" kern="1200" baseline="0" dirty="0" smtClean="0">
                <a:solidFill>
                  <a:schemeClr val="tx1"/>
                </a:solidFill>
                <a:effectLst/>
                <a:latin typeface="Arial" charset="0"/>
                <a:ea typeface="+mn-ea"/>
                <a:cs typeface="+mn-cs"/>
              </a:rPr>
              <a:t> </a:t>
            </a:r>
            <a:r>
              <a:rPr lang="en-SG" sz="1200" b="0" i="0" kern="1200" dirty="0" smtClean="0">
                <a:solidFill>
                  <a:schemeClr val="tx1"/>
                </a:solidFill>
                <a:effectLst/>
                <a:latin typeface="Arial" charset="0"/>
                <a:ea typeface="+mn-ea"/>
                <a:cs typeface="+mn-cs"/>
              </a:rPr>
              <a:t>to avoid degrading network performance</a:t>
            </a:r>
            <a:endParaRPr lang="en-SG" dirty="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9</a:t>
            </a:fld>
            <a:endParaRPr lang="en-US" altLang="en-US"/>
          </a:p>
        </p:txBody>
      </p:sp>
    </p:spTree>
    <p:extLst>
      <p:ext uri="{BB962C8B-B14F-4D97-AF65-F5344CB8AC3E}">
        <p14:creationId xmlns:p14="http://schemas.microsoft.com/office/powerpoint/2010/main" val="18127754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kern="1200" dirty="0" smtClean="0">
                <a:solidFill>
                  <a:schemeClr val="tx1"/>
                </a:solidFill>
                <a:effectLst/>
                <a:latin typeface="Arial" charset="0"/>
                <a:ea typeface="+mn-ea"/>
                <a:cs typeface="+mn-cs"/>
              </a:rPr>
              <a:t> high rate of false positives, which can interrupt legitimate traffic, or you'll miss a lot of attacks</a:t>
            </a:r>
          </a:p>
          <a:p>
            <a:endParaRPr lang="en-SG" sz="1200" b="0" i="0" kern="1200" dirty="0" smtClean="0">
              <a:solidFill>
                <a:schemeClr val="tx1"/>
              </a:solidFill>
              <a:effectLst/>
              <a:latin typeface="Arial" charset="0"/>
              <a:ea typeface="+mn-ea"/>
              <a:cs typeface="+mn-cs"/>
            </a:endParaRPr>
          </a:p>
          <a:p>
            <a:r>
              <a:rPr lang="en-SG" sz="1200" b="0" i="0" kern="1200" dirty="0" smtClean="0">
                <a:solidFill>
                  <a:schemeClr val="tx1"/>
                </a:solidFill>
                <a:effectLst/>
                <a:latin typeface="Arial" charset="0"/>
                <a:ea typeface="+mn-ea"/>
                <a:cs typeface="+mn-cs"/>
              </a:rPr>
              <a:t>Must be efficient</a:t>
            </a:r>
            <a:r>
              <a:rPr lang="en-SG" sz="1200" b="0" i="0" kern="1200" baseline="0" dirty="0" smtClean="0">
                <a:solidFill>
                  <a:schemeClr val="tx1"/>
                </a:solidFill>
                <a:effectLst/>
                <a:latin typeface="Arial" charset="0"/>
                <a:ea typeface="+mn-ea"/>
                <a:cs typeface="+mn-cs"/>
              </a:rPr>
              <a:t> </a:t>
            </a:r>
            <a:r>
              <a:rPr lang="en-SG" sz="1200" b="0" i="0" kern="1200" dirty="0" smtClean="0">
                <a:solidFill>
                  <a:schemeClr val="tx1"/>
                </a:solidFill>
                <a:effectLst/>
                <a:latin typeface="Arial" charset="0"/>
                <a:ea typeface="+mn-ea"/>
                <a:cs typeface="+mn-cs"/>
              </a:rPr>
              <a:t>to avoid degrading network performance</a:t>
            </a:r>
            <a:endParaRPr lang="en-SG" dirty="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10</a:t>
            </a:fld>
            <a:endParaRPr lang="en-US" altLang="en-US"/>
          </a:p>
        </p:txBody>
      </p:sp>
    </p:spTree>
    <p:extLst>
      <p:ext uri="{BB962C8B-B14F-4D97-AF65-F5344CB8AC3E}">
        <p14:creationId xmlns:p14="http://schemas.microsoft.com/office/powerpoint/2010/main" val="24760179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kern="1200" smtClean="0">
                <a:solidFill>
                  <a:schemeClr val="tx1"/>
                </a:solidFill>
                <a:effectLst/>
                <a:latin typeface="Arial" charset="0"/>
                <a:ea typeface="+mn-ea"/>
                <a:cs typeface="+mn-cs"/>
              </a:rPr>
              <a:t>Not in </a:t>
            </a:r>
            <a:r>
              <a:rPr lang="en-SG" sz="1200" b="0" i="0" kern="1200" dirty="0" smtClean="0">
                <a:solidFill>
                  <a:schemeClr val="tx1"/>
                </a:solidFill>
                <a:effectLst/>
                <a:latin typeface="Arial" charset="0"/>
                <a:ea typeface="+mn-ea"/>
                <a:cs typeface="+mn-cs"/>
              </a:rPr>
              <a:t>the true real-time communication path between the sender and receiver of information</a:t>
            </a:r>
            <a:endParaRPr lang="en-SG" dirty="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11</a:t>
            </a:fld>
            <a:endParaRPr lang="en-US" altLang="en-US"/>
          </a:p>
        </p:txBody>
      </p:sp>
    </p:spTree>
    <p:extLst>
      <p:ext uri="{BB962C8B-B14F-4D97-AF65-F5344CB8AC3E}">
        <p14:creationId xmlns:p14="http://schemas.microsoft.com/office/powerpoint/2010/main" val="11128581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SG" sz="1200" b="0" i="0" kern="1200" dirty="0" smtClean="0">
                <a:solidFill>
                  <a:schemeClr val="tx1"/>
                </a:solidFill>
                <a:effectLst/>
                <a:latin typeface="Arial" charset="0"/>
                <a:ea typeface="+mn-ea"/>
                <a:cs typeface="+mn-cs"/>
              </a:rPr>
              <a:t>Any well-planned and well-tuned intrusion detection system will be an excellent addition to your </a:t>
            </a:r>
            <a:r>
              <a:rPr lang="en-SG" sz="1200" b="0" i="0" kern="1200" dirty="0" err="1" smtClean="0">
                <a:solidFill>
                  <a:schemeClr val="tx1"/>
                </a:solidFill>
                <a:effectLst/>
                <a:latin typeface="Arial" charset="0"/>
                <a:ea typeface="+mn-ea"/>
                <a:cs typeface="+mn-cs"/>
              </a:rPr>
              <a:t>defense</a:t>
            </a:r>
            <a:r>
              <a:rPr lang="en-SG" sz="1200" b="0" i="0" kern="1200" dirty="0" smtClean="0">
                <a:solidFill>
                  <a:schemeClr val="tx1"/>
                </a:solidFill>
                <a:effectLst/>
                <a:latin typeface="Arial" charset="0"/>
                <a:ea typeface="+mn-ea"/>
                <a:cs typeface="+mn-cs"/>
              </a:rPr>
              <a:t>-in-depth strategy. </a:t>
            </a:r>
          </a:p>
          <a:p>
            <a:pPr lvl="1"/>
            <a:r>
              <a:rPr lang="en-SG" sz="1200" b="0" i="0" kern="1200" dirty="0" smtClean="0">
                <a:solidFill>
                  <a:schemeClr val="tx1"/>
                </a:solidFill>
                <a:effectLst/>
                <a:latin typeface="Arial" charset="0"/>
                <a:ea typeface="+mn-ea"/>
                <a:cs typeface="+mn-cs"/>
              </a:rPr>
              <a:t>A poorly planned and noisy IDS will just be a nuisance.</a:t>
            </a:r>
            <a:endParaRPr lang="en-GB" dirty="0" smtClean="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12</a:t>
            </a:fld>
            <a:endParaRPr lang="en-US" altLang="en-US"/>
          </a:p>
        </p:txBody>
      </p:sp>
    </p:spTree>
    <p:extLst>
      <p:ext uri="{BB962C8B-B14F-4D97-AF65-F5344CB8AC3E}">
        <p14:creationId xmlns:p14="http://schemas.microsoft.com/office/powerpoint/2010/main" val="16317486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SG" sz="1200" b="0" i="0" kern="1200" dirty="0" smtClean="0">
                <a:solidFill>
                  <a:schemeClr val="tx1"/>
                </a:solidFill>
                <a:effectLst/>
                <a:latin typeface="Arial" charset="0"/>
                <a:ea typeface="+mn-ea"/>
                <a:cs typeface="+mn-cs"/>
              </a:rPr>
              <a:t>Why not outside firewall? </a:t>
            </a:r>
          </a:p>
          <a:p>
            <a:pPr lvl="1"/>
            <a:r>
              <a:rPr lang="en-SG" sz="1200" b="0" i="0" kern="1200" dirty="0" smtClean="0">
                <a:solidFill>
                  <a:schemeClr val="tx1"/>
                </a:solidFill>
                <a:effectLst/>
                <a:latin typeface="Arial" charset="0"/>
                <a:ea typeface="+mn-ea"/>
                <a:cs typeface="+mn-cs"/>
              </a:rPr>
              <a:t>unfiltered Internet activity is likely to fill up quickly</a:t>
            </a:r>
          </a:p>
          <a:p>
            <a:pPr lvl="1"/>
            <a:r>
              <a:rPr lang="en-SG" sz="1200" b="0" i="0" kern="1200" dirty="0" smtClean="0">
                <a:solidFill>
                  <a:schemeClr val="tx1"/>
                </a:solidFill>
                <a:effectLst/>
                <a:latin typeface="Arial" charset="0"/>
                <a:ea typeface="+mn-ea"/>
                <a:cs typeface="+mn-cs"/>
              </a:rPr>
              <a:t>traffic that doesn't get through the firewall is of no interest</a:t>
            </a:r>
            <a:endParaRPr lang="en-GB" dirty="0" smtClean="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13</a:t>
            </a:fld>
            <a:endParaRPr lang="en-US" altLang="en-US"/>
          </a:p>
        </p:txBody>
      </p:sp>
    </p:spTree>
    <p:extLst>
      <p:ext uri="{BB962C8B-B14F-4D97-AF65-F5344CB8AC3E}">
        <p14:creationId xmlns:p14="http://schemas.microsoft.com/office/powerpoint/2010/main" val="5367469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SG" sz="1200" b="0" i="0" kern="1200" dirty="0" smtClean="0">
                <a:solidFill>
                  <a:schemeClr val="tx1"/>
                </a:solidFill>
                <a:effectLst/>
                <a:latin typeface="Arial" charset="0"/>
                <a:ea typeface="+mn-ea"/>
                <a:cs typeface="+mn-cs"/>
              </a:rPr>
              <a:t>Not wise to have log storage system filling up and copying over log files while you're under attack.</a:t>
            </a:r>
            <a:endParaRPr lang="en-GB" dirty="0" smtClean="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14</a:t>
            </a:fld>
            <a:endParaRPr lang="en-US" altLang="en-US"/>
          </a:p>
        </p:txBody>
      </p:sp>
    </p:spTree>
    <p:extLst>
      <p:ext uri="{BB962C8B-B14F-4D97-AF65-F5344CB8AC3E}">
        <p14:creationId xmlns:p14="http://schemas.microsoft.com/office/powerpoint/2010/main" val="31228889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endParaRPr lang="en-GB" dirty="0" smtClean="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15</a:t>
            </a:fld>
            <a:endParaRPr lang="en-US" altLang="en-US"/>
          </a:p>
        </p:txBody>
      </p:sp>
    </p:spTree>
    <p:extLst>
      <p:ext uri="{BB962C8B-B14F-4D97-AF65-F5344CB8AC3E}">
        <p14:creationId xmlns:p14="http://schemas.microsoft.com/office/powerpoint/2010/main" val="9369699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1" indent="0" algn="l" defTabSz="914400" rtl="0" eaLnBrk="0" fontAlgn="base" latinLnBrk="0" hangingPunct="0">
              <a:lnSpc>
                <a:spcPct val="100000"/>
              </a:lnSpc>
              <a:spcBef>
                <a:spcPct val="30000"/>
              </a:spcBef>
              <a:spcAft>
                <a:spcPct val="0"/>
              </a:spcAft>
              <a:buClrTx/>
              <a:buSzTx/>
              <a:buFontTx/>
              <a:buNone/>
              <a:tabLst/>
              <a:defRPr/>
            </a:pPr>
            <a:endParaRPr lang="en-US" sz="1200" dirty="0" smtClean="0"/>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sz="1200" dirty="0" smtClean="0"/>
              <a:t>The longer it takes to match a malicious pattern, the less time the IDS or human operator has to </a:t>
            </a:r>
            <a:r>
              <a:rPr lang="en-US" sz="1200" u="sng" dirty="0" smtClean="0"/>
              <a:t>react to malicious traffic</a:t>
            </a:r>
            <a:r>
              <a:rPr lang="en-US" sz="1200" dirty="0" smtClean="0"/>
              <a:t>. </a:t>
            </a:r>
          </a:p>
          <a:p>
            <a:pPr lvl="1"/>
            <a:endParaRPr lang="en-GB" dirty="0" smtClean="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16</a:t>
            </a:fld>
            <a:endParaRPr lang="en-US" altLang="en-US"/>
          </a:p>
        </p:txBody>
      </p:sp>
    </p:spTree>
    <p:extLst>
      <p:ext uri="{BB962C8B-B14F-4D97-AF65-F5344CB8AC3E}">
        <p14:creationId xmlns:p14="http://schemas.microsoft.com/office/powerpoint/2010/main" val="13704592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eaLnBrk="1" hangingPunct="1"/>
            <a:r>
              <a:rPr lang="en-US" sz="1200" dirty="0" smtClean="0"/>
              <a:t>Behaves the same way as a network traffic </a:t>
            </a:r>
            <a:r>
              <a:rPr lang="en-US" sz="1200" u="sng" dirty="0" smtClean="0"/>
              <a:t>sniffer</a:t>
            </a:r>
            <a:r>
              <a:rPr lang="en-US" sz="1200" dirty="0" smtClean="0"/>
              <a:t>.</a:t>
            </a:r>
          </a:p>
          <a:p>
            <a:pPr marL="457200" marR="0" lvl="1" indent="0" algn="l" defTabSz="914400" rtl="0" eaLnBrk="1" fontAlgn="base" latinLnBrk="0" hangingPunct="1">
              <a:lnSpc>
                <a:spcPct val="100000"/>
              </a:lnSpc>
              <a:spcBef>
                <a:spcPct val="30000"/>
              </a:spcBef>
              <a:spcAft>
                <a:spcPct val="0"/>
              </a:spcAft>
              <a:buClrTx/>
              <a:buSzTx/>
              <a:buFontTx/>
              <a:buNone/>
              <a:tabLst/>
              <a:defRPr/>
            </a:pPr>
            <a:r>
              <a:rPr lang="en-US" sz="1200" u="sng" dirty="0" smtClean="0"/>
              <a:t>Pulls every packet </a:t>
            </a:r>
            <a:r>
              <a:rPr lang="en-US" sz="1200" dirty="0" smtClean="0"/>
              <a:t>from the connected network. </a:t>
            </a:r>
          </a:p>
          <a:p>
            <a:pPr lvl="1" eaLnBrk="1" hangingPunct="1"/>
            <a:endParaRPr lang="en-US" sz="1200" dirty="0" smtClean="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17</a:t>
            </a:fld>
            <a:endParaRPr lang="en-US" altLang="en-US"/>
          </a:p>
        </p:txBody>
      </p:sp>
    </p:spTree>
    <p:extLst>
      <p:ext uri="{BB962C8B-B14F-4D97-AF65-F5344CB8AC3E}">
        <p14:creationId xmlns:p14="http://schemas.microsoft.com/office/powerpoint/2010/main" val="16340429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2" eaLnBrk="1" hangingPunct="1"/>
            <a:r>
              <a:rPr lang="en-US" dirty="0" smtClean="0"/>
              <a:t>The IDS must be able to handle traffic at whatever speed the network operates to be effective.</a:t>
            </a:r>
          </a:p>
          <a:p>
            <a:pPr lvl="1"/>
            <a:endParaRPr lang="en-US" dirty="0" smtClean="0"/>
          </a:p>
          <a:p>
            <a:pPr lvl="1"/>
            <a:endParaRPr lang="en-GB" dirty="0" smtClean="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18</a:t>
            </a:fld>
            <a:endParaRPr lang="en-US" altLang="en-US"/>
          </a:p>
        </p:txBody>
      </p:sp>
    </p:spTree>
    <p:extLst>
      <p:ext uri="{BB962C8B-B14F-4D97-AF65-F5344CB8AC3E}">
        <p14:creationId xmlns:p14="http://schemas.microsoft.com/office/powerpoint/2010/main" val="31900072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SG" sz="1200" b="0" i="0" kern="1200" dirty="0" smtClean="0">
                <a:solidFill>
                  <a:schemeClr val="tx1"/>
                </a:solidFill>
                <a:effectLst/>
                <a:latin typeface="Arial" charset="0"/>
                <a:ea typeface="+mn-ea"/>
                <a:cs typeface="+mn-cs"/>
              </a:rPr>
              <a:t>Not wise to have log storage system filling up and copying over log files while you're under attack.</a:t>
            </a:r>
            <a:endParaRPr lang="en-GB" dirty="0" smtClean="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19</a:t>
            </a:fld>
            <a:endParaRPr lang="en-US" altLang="en-US"/>
          </a:p>
        </p:txBody>
      </p:sp>
    </p:spTree>
    <p:extLst>
      <p:ext uri="{BB962C8B-B14F-4D97-AF65-F5344CB8AC3E}">
        <p14:creationId xmlns:p14="http://schemas.microsoft.com/office/powerpoint/2010/main" val="33312137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sz="3200" dirty="0" smtClean="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20</a:t>
            </a:fld>
            <a:endParaRPr lang="en-US" altLang="en-US"/>
          </a:p>
        </p:txBody>
      </p:sp>
    </p:spTree>
    <p:extLst>
      <p:ext uri="{BB962C8B-B14F-4D97-AF65-F5344CB8AC3E}">
        <p14:creationId xmlns:p14="http://schemas.microsoft.com/office/powerpoint/2010/main" val="10213962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3200" dirty="0" smtClean="0"/>
              <a:t>For an content-based / atomic signature, a single packet, activity, or event is examined to determine if the signature should trigger a signature action. Because these signatures trigger on a single event, they do not require your intrusion system to maintain state. The entire inspection can be accomplished in an atomic operation that does not require any knowledge of past or future activities.</a:t>
            </a:r>
          </a:p>
          <a:p>
            <a:endParaRPr lang="en-US" sz="3200" baseline="0" dirty="0" smtClean="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21</a:t>
            </a:fld>
            <a:endParaRPr lang="en-US" altLang="en-US"/>
          </a:p>
        </p:txBody>
      </p:sp>
    </p:spTree>
    <p:extLst>
      <p:ext uri="{BB962C8B-B14F-4D97-AF65-F5344CB8AC3E}">
        <p14:creationId xmlns:p14="http://schemas.microsoft.com/office/powerpoint/2010/main" val="29560840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3200" dirty="0" smtClean="0"/>
              <a:t>Context-based</a:t>
            </a:r>
            <a:r>
              <a:rPr lang="en-US" sz="3200" baseline="0" dirty="0" smtClean="0"/>
              <a:t> or </a:t>
            </a:r>
            <a:r>
              <a:rPr lang="en-US" sz="3200" baseline="0" dirty="0" err="1" smtClean="0"/>
              <a:t>stateful</a:t>
            </a:r>
            <a:r>
              <a:rPr lang="en-US" sz="3200" baseline="0" dirty="0" smtClean="0"/>
              <a:t> signatures trigger on a sequence of specific events that requires the IDS to maintain state.</a:t>
            </a:r>
          </a:p>
          <a:p>
            <a:endParaRPr lang="en-US" sz="3200" baseline="0" dirty="0" smtClean="0"/>
          </a:p>
          <a:p>
            <a:pPr defTabSz="928207">
              <a:defRPr/>
            </a:pPr>
            <a:r>
              <a:rPr lang="en-US" sz="3200" dirty="0" err="1" smtClean="0"/>
              <a:t>Stateful</a:t>
            </a:r>
            <a:r>
              <a:rPr lang="en-US" sz="3200" dirty="0" smtClean="0"/>
              <a:t> signatures usually require several pieces of data to match an attack signature. The maximum amount of time over which an attack signature can successfully be detected (from the initial data piece to the final data piece needed to complete the attack signature) is known as the event horizon. The intrusion system must maintain state information for the duration of the event horizon. The length of event horizon varies from one signature to another. The important point to consider is that an IPS cannot maintain state information indefinitely without eventually running out of resources. Therefore, an IPS uses a configured event horizon to determine how long it looks for a specific attack signature once an initial signature component is detected.</a:t>
            </a:r>
            <a:endParaRPr lang="en-US" sz="3200" dirty="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22</a:t>
            </a:fld>
            <a:endParaRPr lang="en-US" altLang="en-US"/>
          </a:p>
        </p:txBody>
      </p:sp>
    </p:spTree>
    <p:extLst>
      <p:ext uri="{BB962C8B-B14F-4D97-AF65-F5344CB8AC3E}">
        <p14:creationId xmlns:p14="http://schemas.microsoft.com/office/powerpoint/2010/main" val="1350571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3200" dirty="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23</a:t>
            </a:fld>
            <a:endParaRPr lang="en-US" altLang="en-US"/>
          </a:p>
        </p:txBody>
      </p:sp>
    </p:spTree>
    <p:extLst>
      <p:ext uri="{BB962C8B-B14F-4D97-AF65-F5344CB8AC3E}">
        <p14:creationId xmlns:p14="http://schemas.microsoft.com/office/powerpoint/2010/main" val="2468101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3200" dirty="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24</a:t>
            </a:fld>
            <a:endParaRPr lang="en-US" altLang="en-US"/>
          </a:p>
        </p:txBody>
      </p:sp>
    </p:spTree>
    <p:extLst>
      <p:ext uri="{BB962C8B-B14F-4D97-AF65-F5344CB8AC3E}">
        <p14:creationId xmlns:p14="http://schemas.microsoft.com/office/powerpoint/2010/main" val="24608147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3200" dirty="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25</a:t>
            </a:fld>
            <a:endParaRPr lang="en-US" altLang="en-US"/>
          </a:p>
        </p:txBody>
      </p:sp>
    </p:spTree>
    <p:extLst>
      <p:ext uri="{BB962C8B-B14F-4D97-AF65-F5344CB8AC3E}">
        <p14:creationId xmlns:p14="http://schemas.microsoft.com/office/powerpoint/2010/main" val="17605083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SG" sz="1200" b="0" i="0" kern="1200" dirty="0" smtClean="0">
                <a:solidFill>
                  <a:schemeClr val="tx1"/>
                </a:solidFill>
                <a:effectLst/>
                <a:latin typeface="Arial" charset="0"/>
                <a:ea typeface="+mn-ea"/>
                <a:cs typeface="+mn-cs"/>
              </a:rPr>
              <a:t>Popular IDS products</a:t>
            </a:r>
            <a:r>
              <a:rPr lang="en-SG" sz="1200" b="0" i="0" kern="1200" baseline="0" dirty="0" smtClean="0">
                <a:solidFill>
                  <a:schemeClr val="tx1"/>
                </a:solidFill>
                <a:effectLst/>
                <a:latin typeface="Arial" charset="0"/>
                <a:ea typeface="+mn-ea"/>
                <a:cs typeface="+mn-cs"/>
              </a:rPr>
              <a:t> and vendors</a:t>
            </a:r>
            <a:endParaRPr lang="en-GB" dirty="0" smtClean="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26</a:t>
            </a:fld>
            <a:endParaRPr lang="en-US" altLang="en-US"/>
          </a:p>
        </p:txBody>
      </p:sp>
    </p:spTree>
    <p:extLst>
      <p:ext uri="{BB962C8B-B14F-4D97-AF65-F5344CB8AC3E}">
        <p14:creationId xmlns:p14="http://schemas.microsoft.com/office/powerpoint/2010/main" val="19654895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3200" dirty="0" smtClean="0"/>
              <a:t>Disadvantages:</a:t>
            </a:r>
          </a:p>
          <a:p>
            <a:pPr marL="174039" indent="-174039">
              <a:buFontTx/>
              <a:buChar char="-"/>
            </a:pPr>
            <a:r>
              <a:rPr lang="en-US" sz="3200" baseline="0" dirty="0" smtClean="0"/>
              <a:t>Consumes more resources, can lead to a slow response time, dropped packets, missed signatures</a:t>
            </a:r>
          </a:p>
          <a:p>
            <a:pPr marL="174039" indent="-174039">
              <a:buFontTx/>
              <a:buChar char="-"/>
            </a:pPr>
            <a:endParaRPr lang="en-US" sz="3200" baseline="0" dirty="0" smtClean="0"/>
          </a:p>
          <a:p>
            <a:r>
              <a:rPr lang="en-US" sz="3200" baseline="0" dirty="0" smtClean="0"/>
              <a:t>Example:</a:t>
            </a:r>
          </a:p>
          <a:p>
            <a:pPr defTabSz="928207">
              <a:defRPr/>
            </a:pPr>
            <a:r>
              <a:rPr lang="en-US" sz="3200" baseline="0" dirty="0" smtClean="0"/>
              <a:t>Windows command shell, cmd.exe can be invoke remotely by attackers. To remotely execute cmd.exe, the attacker must make a network connection to the host. This information can be used to refine by adding state. </a:t>
            </a:r>
            <a:r>
              <a:rPr lang="en-US" sz="3200" dirty="0" smtClean="0"/>
              <a:t>The </a:t>
            </a:r>
            <a:r>
              <a:rPr lang="en-US" sz="3200" dirty="0" err="1" smtClean="0"/>
              <a:t>stateful</a:t>
            </a:r>
            <a:r>
              <a:rPr lang="en-US" sz="3200" dirty="0" smtClean="0"/>
              <a:t> signature triggers a signature action when </a:t>
            </a:r>
            <a:r>
              <a:rPr lang="en-US" sz="3200" b="1" dirty="0" smtClean="0"/>
              <a:t>cmd.exe</a:t>
            </a:r>
            <a:r>
              <a:rPr lang="en-US" sz="3200" dirty="0" smtClean="0"/>
              <a:t> is invoked, but only if the application invoking </a:t>
            </a:r>
            <a:r>
              <a:rPr lang="en-US" sz="3200" b="1" dirty="0" smtClean="0"/>
              <a:t>cmd.exe</a:t>
            </a:r>
            <a:r>
              <a:rPr lang="en-US" sz="3200" dirty="0" smtClean="0"/>
              <a:t> first accepted a network connection.</a:t>
            </a:r>
          </a:p>
          <a:p>
            <a:pPr defTabSz="928207">
              <a:defRPr/>
            </a:pPr>
            <a:endParaRPr lang="en-US" sz="3200" dirty="0" smtClean="0"/>
          </a:p>
          <a:p>
            <a:pPr marL="0" marR="0" indent="0" algn="l" defTabSz="928207" rtl="0" eaLnBrk="1" fontAlgn="auto" latinLnBrk="0" hangingPunct="1">
              <a:lnSpc>
                <a:spcPct val="100000"/>
              </a:lnSpc>
              <a:spcBef>
                <a:spcPts val="0"/>
              </a:spcBef>
              <a:spcAft>
                <a:spcPts val="0"/>
              </a:spcAft>
              <a:buClrTx/>
              <a:buSzTx/>
              <a:buFontTx/>
              <a:buNone/>
              <a:tabLst/>
              <a:defRPr/>
            </a:pPr>
            <a:r>
              <a:rPr lang="en-US" sz="3200" kern="1200" dirty="0" smtClean="0">
                <a:solidFill>
                  <a:schemeClr val="tx1"/>
                </a:solidFill>
                <a:latin typeface="Arial" charset="0"/>
                <a:ea typeface="+mn-ea"/>
                <a:cs typeface="+mn-cs"/>
              </a:rPr>
              <a:t>For example, attacks against a web server often occur in the URL request. The sensor starts looking for buffer overflow signatures after the client sends the HTTP request. The Cisco sensor must be aware of the flow and parameters of each traffic type being searched for context-based signatures.</a:t>
            </a:r>
            <a:endParaRPr lang="en-US" sz="3200" dirty="0" smtClean="0"/>
          </a:p>
          <a:p>
            <a:endParaRPr lang="en-US" sz="3200" dirty="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27</a:t>
            </a:fld>
            <a:endParaRPr lang="en-US" altLang="en-US"/>
          </a:p>
        </p:txBody>
      </p:sp>
    </p:spTree>
    <p:extLst>
      <p:ext uri="{BB962C8B-B14F-4D97-AF65-F5344CB8AC3E}">
        <p14:creationId xmlns:p14="http://schemas.microsoft.com/office/powerpoint/2010/main" val="27821439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3200" dirty="0" smtClean="0"/>
              <a:t>Needs considerable amount</a:t>
            </a:r>
            <a:r>
              <a:rPr lang="en-US" sz="3200" baseline="0" dirty="0" smtClean="0"/>
              <a:t> of Security experts analysis</a:t>
            </a:r>
            <a:endParaRPr lang="en-US" sz="3200" dirty="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28</a:t>
            </a:fld>
            <a:endParaRPr lang="en-US" altLang="en-US"/>
          </a:p>
        </p:txBody>
      </p:sp>
    </p:spTree>
    <p:extLst>
      <p:ext uri="{BB962C8B-B14F-4D97-AF65-F5344CB8AC3E}">
        <p14:creationId xmlns:p14="http://schemas.microsoft.com/office/powerpoint/2010/main" val="21696501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3200" dirty="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29</a:t>
            </a:fld>
            <a:endParaRPr lang="en-US" altLang="en-US"/>
          </a:p>
        </p:txBody>
      </p:sp>
    </p:spTree>
    <p:extLst>
      <p:ext uri="{BB962C8B-B14F-4D97-AF65-F5344CB8AC3E}">
        <p14:creationId xmlns:p14="http://schemas.microsoft.com/office/powerpoint/2010/main" val="26083600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endParaRPr lang="en-GB" dirty="0" smtClean="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30</a:t>
            </a:fld>
            <a:endParaRPr lang="en-US" altLang="en-US"/>
          </a:p>
        </p:txBody>
      </p:sp>
    </p:spTree>
    <p:extLst>
      <p:ext uri="{BB962C8B-B14F-4D97-AF65-F5344CB8AC3E}">
        <p14:creationId xmlns:p14="http://schemas.microsoft.com/office/powerpoint/2010/main" val="3286742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000" b="0" i="1" baseline="0" dirty="0" smtClean="0"/>
              <a:t>Exploits</a:t>
            </a:r>
            <a:r>
              <a:rPr lang="en-US" sz="1000" b="0" i="0" baseline="0" dirty="0" smtClean="0"/>
              <a:t> are known attacks</a:t>
            </a:r>
            <a:r>
              <a:rPr lang="en-US" sz="1000" baseline="0" dirty="0" smtClean="0"/>
              <a:t>, with known patterns that can be matched by IPS, web application firewall, or antivirus signatures.</a:t>
            </a:r>
          </a:p>
          <a:p>
            <a:pPr lvl="0"/>
            <a:endParaRPr lang="en-US" sz="1000" baseline="0" dirty="0" smtClean="0"/>
          </a:p>
          <a:p>
            <a:pPr lvl="0"/>
            <a:r>
              <a:rPr lang="en-US" sz="1000" b="0" i="1" baseline="0" dirty="0" smtClean="0"/>
              <a:t>Anomalies </a:t>
            </a:r>
            <a:r>
              <a:rPr lang="en-US" sz="1000" b="0" i="0" baseline="0" dirty="0" smtClean="0"/>
              <a:t>are unusual behaviors in the network</a:t>
            </a:r>
            <a:r>
              <a:rPr lang="en-US" sz="1000" baseline="0" dirty="0" smtClean="0"/>
              <a:t>, such as higher-than-usual CPU usage or network traffic. Anomalies must be detected and monitored (and, in some cases, blocked or mitigated) because they can be the symptoms of a new, never-seen-before attack. Anomalies are usually better detected by behavioral analysis, such as rate-based IPS signatures, </a:t>
            </a:r>
            <a:r>
              <a:rPr lang="en-US" sz="1000" baseline="0" dirty="0" err="1" smtClean="0"/>
              <a:t>DoS</a:t>
            </a:r>
            <a:r>
              <a:rPr lang="en-US" sz="1000" baseline="0" dirty="0" smtClean="0"/>
              <a:t> policies, and protocol constrains inspection.</a:t>
            </a:r>
            <a:endParaRPr lang="en-CA" sz="1000" dirty="0" smtClean="0"/>
          </a:p>
          <a:p>
            <a:pPr lvl="1"/>
            <a:endParaRPr lang="en-GB" dirty="0" smtClean="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31</a:t>
            </a:fld>
            <a:endParaRPr lang="en-US" altLang="en-US"/>
          </a:p>
        </p:txBody>
      </p:sp>
    </p:spTree>
    <p:extLst>
      <p:ext uri="{BB962C8B-B14F-4D97-AF65-F5344CB8AC3E}">
        <p14:creationId xmlns:p14="http://schemas.microsoft.com/office/powerpoint/2010/main" val="21765817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SG" sz="1000" b="0" i="1" baseline="0" dirty="0" smtClean="0"/>
              <a:t>Signatures similar to IDS signatures</a:t>
            </a:r>
          </a:p>
          <a:p>
            <a:pPr lvl="0"/>
            <a:endParaRPr lang="en-GB" dirty="0" smtClean="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32</a:t>
            </a:fld>
            <a:endParaRPr lang="en-US" altLang="en-US"/>
          </a:p>
        </p:txBody>
      </p:sp>
    </p:spTree>
    <p:extLst>
      <p:ext uri="{BB962C8B-B14F-4D97-AF65-F5344CB8AC3E}">
        <p14:creationId xmlns:p14="http://schemas.microsoft.com/office/powerpoint/2010/main" val="36847733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SG" sz="1000" b="0" i="1" baseline="0" dirty="0" smtClean="0"/>
              <a:t>Signatures similar to IDS signatures</a:t>
            </a:r>
          </a:p>
          <a:p>
            <a:pPr lvl="0"/>
            <a:r>
              <a:rPr lang="en-GB" dirty="0" smtClean="0"/>
              <a:t>Web filtering – </a:t>
            </a:r>
            <a:r>
              <a:rPr lang="en-GB" dirty="0" err="1" smtClean="0"/>
              <a:t>Fortiguard</a:t>
            </a:r>
            <a:endParaRPr lang="en-GB" dirty="0" smtClean="0"/>
          </a:p>
          <a:p>
            <a:pPr lvl="0"/>
            <a:r>
              <a:rPr lang="en-GB" dirty="0" smtClean="0"/>
              <a:t>Application</a:t>
            </a:r>
            <a:r>
              <a:rPr lang="en-GB" baseline="0" dirty="0" smtClean="0"/>
              <a:t> control </a:t>
            </a:r>
          </a:p>
          <a:p>
            <a:r>
              <a:rPr lang="en-US" b="0" dirty="0" smtClean="0"/>
              <a:t>Not all URL requests to </a:t>
            </a:r>
            <a:r>
              <a:rPr lang="en-US" b="0" dirty="0" smtClean="0">
                <a:latin typeface="Courier New" panose="02070309020205020404" pitchFamily="49" charset="0"/>
                <a:cs typeface="Courier New" panose="02070309020205020404" pitchFamily="49" charset="0"/>
              </a:rPr>
              <a:t>www.youtube.com</a:t>
            </a:r>
            <a:r>
              <a:rPr lang="en-US" b="0" dirty="0" smtClean="0"/>
              <a:t> are for video</a:t>
            </a:r>
            <a:r>
              <a:rPr lang="en-US" dirty="0" smtClean="0"/>
              <a:t>. Your browser makes several HTTPS requests for:</a:t>
            </a:r>
          </a:p>
          <a:p>
            <a:pPr marL="171450" indent="-171450">
              <a:buFont typeface="Arial" panose="020B0604020202020204" pitchFamily="34" charset="0"/>
              <a:buChar char="•"/>
            </a:pPr>
            <a:r>
              <a:rPr lang="en-US" dirty="0" smtClean="0"/>
              <a:t>the web page itself</a:t>
            </a:r>
          </a:p>
          <a:p>
            <a:pPr marL="171450" indent="-171450">
              <a:buFont typeface="Arial" panose="020B0604020202020204" pitchFamily="34" charset="0"/>
              <a:buChar char="•"/>
            </a:pPr>
            <a:r>
              <a:rPr lang="en-US" dirty="0" smtClean="0"/>
              <a:t>images</a:t>
            </a:r>
          </a:p>
          <a:p>
            <a:pPr marL="171450" indent="-171450">
              <a:buFont typeface="Arial" panose="020B0604020202020204" pitchFamily="34" charset="0"/>
              <a:buChar char="•"/>
            </a:pPr>
            <a:r>
              <a:rPr lang="en-US" dirty="0" smtClean="0"/>
              <a:t>scripts and style sheets</a:t>
            </a:r>
          </a:p>
          <a:p>
            <a:pPr marL="171450" indent="-171450">
              <a:buFont typeface="Arial" panose="020B0604020202020204" pitchFamily="34" charset="0"/>
              <a:buChar char="•"/>
            </a:pPr>
            <a:r>
              <a:rPr lang="en-US" dirty="0" smtClean="0"/>
              <a:t>Video</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dirty="0" smtClean="0"/>
              <a:t>If an application is necessary, but you need to prevent it from impacting bandwidth,</a:t>
            </a:r>
            <a:r>
              <a:rPr lang="en-US" baseline="0" dirty="0" smtClean="0"/>
              <a:t> </a:t>
            </a:r>
            <a:r>
              <a:rPr lang="en-US" dirty="0" smtClean="0"/>
              <a:t>then instead of blocking it entirely, you can apply a rate limit to the application. For</a:t>
            </a:r>
            <a:r>
              <a:rPr lang="en-US" baseline="0" dirty="0" smtClean="0"/>
              <a:t> example, you can rate limit applications used for storage or backup leaving enough bandwidth </a:t>
            </a:r>
            <a:r>
              <a:rPr lang="en-US" dirty="0" smtClean="0"/>
              <a:t>for more sensitive streaming applications, such as video conferencing.</a:t>
            </a:r>
            <a:r>
              <a:rPr lang="en-US" baseline="0" dirty="0" smtClean="0"/>
              <a:t> </a:t>
            </a:r>
            <a:endParaRPr lang="en-US" dirty="0" smtClean="0"/>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endParaRPr lang="en-US" dirty="0" smtClean="0"/>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dirty="0" smtClean="0"/>
              <a:t>All of these</a:t>
            </a:r>
            <a:r>
              <a:rPr lang="en-US" baseline="0" dirty="0" smtClean="0"/>
              <a:t> items</a:t>
            </a:r>
            <a:r>
              <a:rPr lang="en-US" dirty="0" smtClean="0"/>
              <a:t> have separate URLs. If you analyze a site like YouTube, the web pages themselves don’t use much bandwidth;</a:t>
            </a:r>
            <a:r>
              <a:rPr lang="en-US" baseline="0" dirty="0" smtClean="0"/>
              <a:t> </a:t>
            </a:r>
            <a:r>
              <a:rPr lang="en-US" dirty="0" smtClean="0"/>
              <a:t>it is the video content that uses the most</a:t>
            </a:r>
            <a:r>
              <a:rPr lang="en-US" baseline="0" dirty="0" smtClean="0"/>
              <a:t> bandwidth</a:t>
            </a:r>
            <a:r>
              <a:rPr lang="en-US" dirty="0" smtClean="0"/>
              <a:t>. But, since all content is transported using the same protocol (HTTPS), and the URLs contain dynamically generated alphanumeric strings</a:t>
            </a:r>
            <a:r>
              <a:rPr lang="en-CA" dirty="0" smtClean="0"/>
              <a:t>, traditional firewall policies can't block or throttle the traffic by port number or protocol, because they are the same. </a:t>
            </a:r>
            <a:r>
              <a:rPr lang="en-US" dirty="0" smtClean="0"/>
              <a:t>Using application control, you can rate limit only videos. Doing this prevents users from saturating your network bandwidth while still allowing them to access the other content on the site, such as for comments or sharing links.</a:t>
            </a:r>
          </a:p>
          <a:p>
            <a:pPr marL="171450" indent="-171450">
              <a:buFont typeface="Arial" panose="020B0604020202020204" pitchFamily="34" charset="0"/>
              <a:buChar char="•"/>
            </a:pPr>
            <a:endParaRPr lang="en-US" dirty="0" smtClean="0"/>
          </a:p>
          <a:p>
            <a:pPr lvl="0"/>
            <a:endParaRPr lang="en-GB" dirty="0" smtClean="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33</a:t>
            </a:fld>
            <a:endParaRPr lang="en-US" altLang="en-US"/>
          </a:p>
        </p:txBody>
      </p:sp>
    </p:spTree>
    <p:extLst>
      <p:ext uri="{BB962C8B-B14F-4D97-AF65-F5344CB8AC3E}">
        <p14:creationId xmlns:p14="http://schemas.microsoft.com/office/powerpoint/2010/main" val="25313034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endParaRPr lang="en-GB" dirty="0" smtClean="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34</a:t>
            </a:fld>
            <a:endParaRPr lang="en-US" altLang="en-US"/>
          </a:p>
        </p:txBody>
      </p:sp>
    </p:spTree>
    <p:extLst>
      <p:ext uri="{BB962C8B-B14F-4D97-AF65-F5344CB8AC3E}">
        <p14:creationId xmlns:p14="http://schemas.microsoft.com/office/powerpoint/2010/main" val="37307586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SG" sz="1000" b="0" i="1" baseline="0" dirty="0" smtClean="0"/>
              <a:t>Extended Signature can contain WAF signatures</a:t>
            </a:r>
          </a:p>
          <a:p>
            <a:pPr lvl="0"/>
            <a:endParaRPr lang="en-GB" dirty="0" smtClean="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35</a:t>
            </a:fld>
            <a:endParaRPr lang="en-US" altLang="en-US"/>
          </a:p>
        </p:txBody>
      </p:sp>
    </p:spTree>
    <p:extLst>
      <p:ext uri="{BB962C8B-B14F-4D97-AF65-F5344CB8AC3E}">
        <p14:creationId xmlns:p14="http://schemas.microsoft.com/office/powerpoint/2010/main" val="35406378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SG" sz="1000" b="0" i="1" baseline="0" dirty="0" smtClean="0"/>
              <a:t>Signatures similar to IDS signatures</a:t>
            </a:r>
          </a:p>
          <a:p>
            <a:pPr lvl="0"/>
            <a:endParaRPr lang="en-GB" dirty="0" smtClean="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36</a:t>
            </a:fld>
            <a:endParaRPr lang="en-US" altLang="en-US"/>
          </a:p>
        </p:txBody>
      </p:sp>
    </p:spTree>
    <p:extLst>
      <p:ext uri="{BB962C8B-B14F-4D97-AF65-F5344CB8AC3E}">
        <p14:creationId xmlns:p14="http://schemas.microsoft.com/office/powerpoint/2010/main" val="6001344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SG" sz="1000" b="0" i="1" baseline="0" dirty="0" smtClean="0"/>
              <a:t>Signatures similar to IDS signatures</a:t>
            </a:r>
          </a:p>
          <a:p>
            <a:pPr lvl="0"/>
            <a:endParaRPr lang="en-GB" dirty="0" smtClean="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37</a:t>
            </a:fld>
            <a:endParaRPr lang="en-US" altLang="en-US"/>
          </a:p>
        </p:txBody>
      </p:sp>
    </p:spTree>
    <p:extLst>
      <p:ext uri="{BB962C8B-B14F-4D97-AF65-F5344CB8AC3E}">
        <p14:creationId xmlns:p14="http://schemas.microsoft.com/office/powerpoint/2010/main" val="7177933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000" dirty="0" smtClean="0"/>
              <a:t>does not provide support for problems created by misconfigured custom signatures. So, if possible, you should test your custom signatures in a lab.</a:t>
            </a:r>
          </a:p>
          <a:p>
            <a:pPr lvl="0"/>
            <a:endParaRPr lang="en-GB" dirty="0" smtClean="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38</a:t>
            </a:fld>
            <a:endParaRPr lang="en-US" altLang="en-US"/>
          </a:p>
        </p:txBody>
      </p:sp>
    </p:spTree>
    <p:extLst>
      <p:ext uri="{BB962C8B-B14F-4D97-AF65-F5344CB8AC3E}">
        <p14:creationId xmlns:p14="http://schemas.microsoft.com/office/powerpoint/2010/main" val="35537913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000" dirty="0" smtClean="0"/>
              <a:t>does not provide support for problems created by misconfigured custom signatures. So, if possible, you should test your custom signatures in a lab.</a:t>
            </a:r>
          </a:p>
          <a:p>
            <a:pPr lvl="0"/>
            <a:endParaRPr lang="en-GB" dirty="0" smtClean="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39</a:t>
            </a:fld>
            <a:endParaRPr lang="en-US" altLang="en-US"/>
          </a:p>
        </p:txBody>
      </p:sp>
    </p:spTree>
    <p:extLst>
      <p:ext uri="{BB962C8B-B14F-4D97-AF65-F5344CB8AC3E}">
        <p14:creationId xmlns:p14="http://schemas.microsoft.com/office/powerpoint/2010/main" val="17249643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000" dirty="0" smtClean="0"/>
              <a:t>Custom signature is product</a:t>
            </a:r>
            <a:r>
              <a:rPr lang="en-US" sz="1000" baseline="0" dirty="0" smtClean="0"/>
              <a:t> specific</a:t>
            </a:r>
            <a:endParaRPr lang="en-US" sz="1000" dirty="0" smtClean="0"/>
          </a:p>
          <a:p>
            <a:pPr lvl="0"/>
            <a:endParaRPr lang="en-GB" dirty="0" smtClean="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40</a:t>
            </a:fld>
            <a:endParaRPr lang="en-US" altLang="en-US"/>
          </a:p>
        </p:txBody>
      </p:sp>
    </p:spTree>
    <p:extLst>
      <p:ext uri="{BB962C8B-B14F-4D97-AF65-F5344CB8AC3E}">
        <p14:creationId xmlns:p14="http://schemas.microsoft.com/office/powerpoint/2010/main" val="38778276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dirty="0" smtClean="0"/>
              <a:t>In this</a:t>
            </a:r>
            <a:r>
              <a:rPr lang="en-US" sz="1000" baseline="0" dirty="0" smtClean="0"/>
              <a:t> example, the first </a:t>
            </a:r>
            <a:r>
              <a:rPr lang="en-US" sz="1000" dirty="0" smtClean="0"/>
              <a:t>sample custom signature is called </a:t>
            </a:r>
            <a:r>
              <a:rPr lang="en-US" sz="1000" dirty="0" err="1" smtClean="0">
                <a:latin typeface="Courier New" pitchFamily="49" charset="0"/>
                <a:cs typeface="Courier New" pitchFamily="49" charset="0"/>
              </a:rPr>
              <a:t>Ping.Death</a:t>
            </a:r>
            <a:r>
              <a:rPr lang="en-US" sz="1000" dirty="0" smtClean="0"/>
              <a:t>. It searches for ICMP traffic that exceeds about 32 KB.</a:t>
            </a:r>
          </a:p>
          <a:p>
            <a:endParaRPr lang="en-US" sz="1000" dirty="0" smtClean="0"/>
          </a:p>
          <a:p>
            <a:pPr lvl="0"/>
            <a:r>
              <a:rPr lang="en-US" sz="1000" dirty="0" smtClean="0"/>
              <a:t>The</a:t>
            </a:r>
            <a:r>
              <a:rPr lang="en-US" sz="1000" baseline="0" dirty="0" smtClean="0"/>
              <a:t> n</a:t>
            </a:r>
            <a:r>
              <a:rPr lang="en-US" sz="1000" dirty="0" smtClean="0"/>
              <a:t>ext sample custom signature is called </a:t>
            </a:r>
            <a:r>
              <a:rPr lang="en-US" sz="1000" dirty="0" err="1" smtClean="0">
                <a:latin typeface="Courier New" pitchFamily="49" charset="0"/>
                <a:cs typeface="Courier New" pitchFamily="49" charset="0"/>
              </a:rPr>
              <a:t>Block.HTTP.POST</a:t>
            </a:r>
            <a:r>
              <a:rPr lang="en-US" sz="1000" dirty="0" smtClean="0"/>
              <a:t>. It</a:t>
            </a:r>
            <a:r>
              <a:rPr lang="en-US" sz="1000" baseline="0" dirty="0" smtClean="0"/>
              <a:t> </a:t>
            </a:r>
            <a:r>
              <a:rPr lang="en-US" sz="1000" dirty="0" smtClean="0"/>
              <a:t>searches for the pattern </a:t>
            </a:r>
            <a:r>
              <a:rPr lang="en-US" sz="1000" dirty="0" smtClean="0">
                <a:latin typeface="Courier New" panose="02070309020205020404" pitchFamily="49" charset="0"/>
                <a:cs typeface="Courier New" panose="02070309020205020404" pitchFamily="49" charset="0"/>
              </a:rPr>
              <a:t>POST</a:t>
            </a:r>
            <a:r>
              <a:rPr lang="en-US" sz="1000" dirty="0" smtClean="0"/>
              <a:t> in a specific location inside the packet. In normal HTTP POST requests, the method should be in this specific location. Using a</a:t>
            </a:r>
            <a:r>
              <a:rPr lang="en-US" sz="1000" baseline="0" dirty="0" smtClean="0"/>
              <a:t> specific location in the signature </a:t>
            </a:r>
            <a:r>
              <a:rPr lang="en-US" sz="1000" dirty="0" smtClean="0"/>
              <a:t>prevents IPS from scanning the entire HTTP payload, which could contain a web page that accidentally matches the</a:t>
            </a:r>
            <a:r>
              <a:rPr lang="en-US" sz="1000" baseline="0" dirty="0" smtClean="0"/>
              <a:t> pattern (f</a:t>
            </a:r>
            <a:r>
              <a:rPr lang="en-US" sz="1000" dirty="0" smtClean="0"/>
              <a:t>or example, the words </a:t>
            </a:r>
            <a:r>
              <a:rPr lang="en-US" sz="1000" dirty="0" smtClean="0">
                <a:latin typeface="Courier New" pitchFamily="49" charset="0"/>
                <a:cs typeface="Courier New" pitchFamily="49" charset="0"/>
              </a:rPr>
              <a:t>POSTAL CODE</a:t>
            </a:r>
            <a:r>
              <a:rPr lang="en-US" sz="1000" dirty="0" smtClean="0"/>
              <a:t>). Your signature should be specific, but not too specific – extra comparisons reduce performance.</a:t>
            </a:r>
          </a:p>
          <a:p>
            <a:pPr lvl="0"/>
            <a:endParaRPr lang="en-GB" dirty="0" smtClean="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41</a:t>
            </a:fld>
            <a:endParaRPr lang="en-US" altLang="en-US"/>
          </a:p>
        </p:txBody>
      </p:sp>
    </p:spTree>
    <p:extLst>
      <p:ext uri="{BB962C8B-B14F-4D97-AF65-F5344CB8AC3E}">
        <p14:creationId xmlns:p14="http://schemas.microsoft.com/office/powerpoint/2010/main" val="309336699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smtClean="0"/>
              <a:t>. A single IPS sensor can combine multiple predefined and custom signatures.</a:t>
            </a:r>
            <a:endParaRPr lang="en-CA" dirty="0" smtClean="0"/>
          </a:p>
          <a:p>
            <a:pPr lvl="0"/>
            <a:endParaRPr lang="en-GB" dirty="0" smtClean="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42</a:t>
            </a:fld>
            <a:endParaRPr lang="en-US" altLang="en-US"/>
          </a:p>
        </p:txBody>
      </p:sp>
    </p:spTree>
    <p:extLst>
      <p:ext uri="{BB962C8B-B14F-4D97-AF65-F5344CB8AC3E}">
        <p14:creationId xmlns:p14="http://schemas.microsoft.com/office/powerpoint/2010/main" val="37791598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endParaRPr lang="en-SG" dirty="0" smtClean="0"/>
          </a:p>
          <a:p>
            <a:pPr lvl="0"/>
            <a:r>
              <a:rPr lang="en-SG" dirty="0" smtClean="0"/>
              <a:t>select the signatures individually</a:t>
            </a:r>
          </a:p>
          <a:p>
            <a:pPr lvl="0"/>
            <a:r>
              <a:rPr lang="en-SG" dirty="0" smtClean="0"/>
              <a:t>you can create an exemption list based on the source or destination IP address. Once a signature has been selected from the list, it is added to the sensor with its default action. After that, you can right-click the signature and change the action</a:t>
            </a:r>
            <a:endParaRPr lang="en-GB" dirty="0" smtClean="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43</a:t>
            </a:fld>
            <a:endParaRPr lang="en-US" altLang="en-US"/>
          </a:p>
        </p:txBody>
      </p:sp>
    </p:spTree>
    <p:extLst>
      <p:ext uri="{BB962C8B-B14F-4D97-AF65-F5344CB8AC3E}">
        <p14:creationId xmlns:p14="http://schemas.microsoft.com/office/powerpoint/2010/main" val="10632229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smtClean="0"/>
              <a:t>Using filters. Add all the signatures that match the filters.</a:t>
            </a:r>
          </a:p>
          <a:p>
            <a:pPr lvl="0"/>
            <a:endParaRPr lang="en-US" dirty="0" smtClean="0"/>
          </a:p>
          <a:p>
            <a:pPr lvl="0"/>
            <a:r>
              <a:rPr lang="en-US" dirty="0" smtClean="0"/>
              <a:t>Create a filter to include all the signatures that protect Apache severs running over a Linux OS. The action is set to block all traffic that matches those signatures.</a:t>
            </a:r>
          </a:p>
          <a:p>
            <a:pPr lvl="0"/>
            <a:endParaRPr lang="en-US" dirty="0" smtClean="0"/>
          </a:p>
          <a:p>
            <a:pPr lvl="0"/>
            <a:r>
              <a:rPr lang="en-US" dirty="0" smtClean="0"/>
              <a:t>Each individual signature can include multiple tags, such as HTTP, Microsoft, IIS, and TCP. The more specific you can make your filter, the less resources will be used to scan your traffic. This is because the signature’s parts will seldom match the traffic, so the IPS engine can quickly continue with the next comparison or scan.</a:t>
            </a:r>
          </a:p>
          <a:p>
            <a:pPr lvl="0"/>
            <a:endParaRPr lang="en-US" dirty="0" smtClean="0"/>
          </a:p>
          <a:p>
            <a:pPr lvl="0"/>
            <a:r>
              <a:rPr lang="en-US" dirty="0" smtClean="0"/>
              <a:t>If the signature that matches the traffic is both in the </a:t>
            </a:r>
            <a:r>
              <a:rPr lang="en-US" b="1" dirty="0" smtClean="0"/>
              <a:t>IPS Signature </a:t>
            </a:r>
            <a:r>
              <a:rPr lang="en-US" dirty="0" smtClean="0"/>
              <a:t>list and the </a:t>
            </a:r>
            <a:r>
              <a:rPr lang="en-US" b="1" dirty="0" smtClean="0"/>
              <a:t>IPS Filter </a:t>
            </a:r>
            <a:r>
              <a:rPr lang="en-US" dirty="0" smtClean="0"/>
              <a:t>list, the </a:t>
            </a:r>
            <a:r>
              <a:rPr lang="en-US" dirty="0" err="1" smtClean="0"/>
              <a:t>FortiGate</a:t>
            </a:r>
            <a:r>
              <a:rPr lang="en-US" dirty="0" smtClean="0"/>
              <a:t> applies the action specified in the former one.</a:t>
            </a:r>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44</a:t>
            </a:fld>
            <a:endParaRPr lang="en-US" altLang="en-US"/>
          </a:p>
        </p:txBody>
      </p:sp>
    </p:spTree>
    <p:extLst>
      <p:ext uri="{BB962C8B-B14F-4D97-AF65-F5344CB8AC3E}">
        <p14:creationId xmlns:p14="http://schemas.microsoft.com/office/powerpoint/2010/main" val="393893278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dirty="0" err="1" smtClean="0"/>
              <a:t>DoS</a:t>
            </a:r>
            <a:r>
              <a:rPr lang="en-SG" sz="1200" dirty="0" smtClean="0"/>
              <a:t> attacks </a:t>
            </a:r>
            <a:r>
              <a:rPr lang="en-SG" sz="1200" u="sng" dirty="0" smtClean="0"/>
              <a:t>exhaust</a:t>
            </a:r>
            <a:r>
              <a:rPr lang="en-SG" sz="1200" dirty="0" smtClean="0"/>
              <a:t> limited server-side bandwidth or sockets.</a:t>
            </a:r>
          </a:p>
          <a:p>
            <a:endParaRPr lang="en-SG" sz="1200" dirty="0" smtClean="0"/>
          </a:p>
          <a:p>
            <a:r>
              <a:rPr lang="en-SG" sz="1200" dirty="0" smtClean="0"/>
              <a:t>The goal of a </a:t>
            </a:r>
            <a:r>
              <a:rPr lang="en-SG" sz="1200" dirty="0" err="1" smtClean="0"/>
              <a:t>DoS</a:t>
            </a:r>
            <a:r>
              <a:rPr lang="en-SG" sz="1200" dirty="0" smtClean="0"/>
              <a:t> attack is to </a:t>
            </a:r>
            <a:r>
              <a:rPr lang="en-SG" sz="1200" u="sng" dirty="0" smtClean="0"/>
              <a:t>overwhelm</a:t>
            </a:r>
            <a:r>
              <a:rPr lang="en-SG" sz="1200" dirty="0" smtClean="0"/>
              <a:t> the target – to consume resources until the target can’t respond to legitimate traffic.</a:t>
            </a:r>
          </a:p>
          <a:p>
            <a:endParaRPr lang="en-SG" sz="1200" dirty="0" smtClean="0"/>
          </a:p>
          <a:p>
            <a:r>
              <a:rPr lang="en-SG" sz="1200" dirty="0" smtClean="0"/>
              <a:t>This saves system resources and can discourage a repeat attack</a:t>
            </a:r>
          </a:p>
          <a:p>
            <a:r>
              <a:rPr lang="en-SG" sz="1200" dirty="0" err="1" smtClean="0"/>
              <a:t>eg</a:t>
            </a:r>
            <a:r>
              <a:rPr lang="en-SG" sz="1200" dirty="0" smtClean="0"/>
              <a:t> </a:t>
            </a:r>
            <a:r>
              <a:rPr lang="en-SG" sz="1200" dirty="0" err="1" smtClean="0"/>
              <a:t>FortiGate</a:t>
            </a:r>
            <a:r>
              <a:rPr lang="en-SG" sz="1200" dirty="0" smtClean="0"/>
              <a:t> will not track statistics for that client while it is temporarily blacklisted.</a:t>
            </a:r>
          </a:p>
          <a:p>
            <a:pPr lvl="0"/>
            <a:endParaRPr lang="en-GB" dirty="0" smtClean="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45</a:t>
            </a:fld>
            <a:endParaRPr lang="en-US" altLang="en-US"/>
          </a:p>
        </p:txBody>
      </p:sp>
    </p:spTree>
    <p:extLst>
      <p:ext uri="{BB962C8B-B14F-4D97-AF65-F5344CB8AC3E}">
        <p14:creationId xmlns:p14="http://schemas.microsoft.com/office/powerpoint/2010/main" val="297738466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dirty="0" smtClean="0"/>
              <a:t>A flood sensor detects a high volume of that particular protocol, or signal in the protocol. </a:t>
            </a:r>
          </a:p>
          <a:p>
            <a:r>
              <a:rPr lang="en-SG" sz="1200" dirty="0" smtClean="0"/>
              <a:t>A sweep/scan detects attempts to map which of a host’s ports respond and therefore may be vulnerable.</a:t>
            </a:r>
          </a:p>
          <a:p>
            <a:r>
              <a:rPr lang="en-SG" sz="1200" dirty="0" smtClean="0"/>
              <a:t>Source signatures look for large volumes of traffic originating from a single IP. </a:t>
            </a:r>
          </a:p>
          <a:p>
            <a:r>
              <a:rPr lang="en-SG" sz="1200" dirty="0" smtClean="0"/>
              <a:t>Destination signatures look for large volumes of traffic destined for a single IP.</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smtClean="0"/>
              <a:t>All four protocols in the </a:t>
            </a:r>
            <a:r>
              <a:rPr lang="en-US" dirty="0" err="1" smtClean="0"/>
              <a:t>DoS</a:t>
            </a:r>
            <a:r>
              <a:rPr lang="en-US" dirty="0" smtClean="0"/>
              <a:t> profile (ICMP, TCP, UDP, SCTP) have an anomaly sensor for the source. These are built to examine the traffic that each IP is generating and compare that traffic to the threshold value.</a:t>
            </a:r>
          </a:p>
          <a:p>
            <a:endParaRPr lang="en-GB" dirty="0" smtClean="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46</a:t>
            </a:fld>
            <a:endParaRPr lang="en-US" altLang="en-US"/>
          </a:p>
        </p:txBody>
      </p:sp>
    </p:spTree>
    <p:extLst>
      <p:ext uri="{BB962C8B-B14F-4D97-AF65-F5344CB8AC3E}">
        <p14:creationId xmlns:p14="http://schemas.microsoft.com/office/powerpoint/2010/main" val="8488183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dirty="0" smtClean="0"/>
              <a:t>This saves system resources and can discourage a repeat attack</a:t>
            </a:r>
          </a:p>
          <a:p>
            <a:r>
              <a:rPr lang="en-SG" sz="1200" dirty="0" err="1" smtClean="0"/>
              <a:t>eg</a:t>
            </a:r>
            <a:r>
              <a:rPr lang="en-SG" sz="1200" dirty="0" smtClean="0"/>
              <a:t> </a:t>
            </a:r>
            <a:r>
              <a:rPr lang="en-SG" sz="1200" dirty="0" err="1" smtClean="0"/>
              <a:t>FortiGate</a:t>
            </a:r>
            <a:r>
              <a:rPr lang="en-SG" sz="1200" dirty="0" smtClean="0"/>
              <a:t> will not track statistics for that client while it is temporarily blacklisted.</a:t>
            </a:r>
          </a:p>
          <a:p>
            <a:pPr lvl="0"/>
            <a:endParaRPr lang="en-GB" dirty="0" smtClean="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47</a:t>
            </a:fld>
            <a:endParaRPr lang="en-US" altLang="en-US"/>
          </a:p>
        </p:txBody>
      </p:sp>
    </p:spTree>
    <p:extLst>
      <p:ext uri="{BB962C8B-B14F-4D97-AF65-F5344CB8AC3E}">
        <p14:creationId xmlns:p14="http://schemas.microsoft.com/office/powerpoint/2010/main" val="50401940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smtClean="0"/>
              <a:t>Unless you know what bandwidth is abnormal for your network, you may not be able to confirm an attack</a:t>
            </a:r>
            <a:endParaRPr lang="en-GB" dirty="0" smtClean="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48</a:t>
            </a:fld>
            <a:endParaRPr lang="en-US" altLang="en-US"/>
          </a:p>
        </p:txBody>
      </p:sp>
    </p:spTree>
    <p:extLst>
      <p:ext uri="{BB962C8B-B14F-4D97-AF65-F5344CB8AC3E}">
        <p14:creationId xmlns:p14="http://schemas.microsoft.com/office/powerpoint/2010/main" val="189789379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smtClean="0"/>
              <a:t>Unless you know what bandwidth is abnormal for your network, you may not be able to confirm an attack</a:t>
            </a:r>
            <a:endParaRPr lang="en-GB" dirty="0" smtClean="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49</a:t>
            </a:fld>
            <a:endParaRPr lang="en-US" altLang="en-US"/>
          </a:p>
        </p:txBody>
      </p:sp>
    </p:spTree>
    <p:extLst>
      <p:ext uri="{BB962C8B-B14F-4D97-AF65-F5344CB8AC3E}">
        <p14:creationId xmlns:p14="http://schemas.microsoft.com/office/powerpoint/2010/main" val="98078052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GB" dirty="0" smtClean="0"/>
              <a:t>Also called the sniffer mode</a:t>
            </a:r>
          </a:p>
          <a:p>
            <a:pPr lvl="1"/>
            <a:r>
              <a:rPr lang="en-US" sz="1200" dirty="0" smtClean="0"/>
              <a:t>deploy IPS</a:t>
            </a:r>
            <a:r>
              <a:rPr lang="en-US" sz="1200" baseline="0" dirty="0" smtClean="0"/>
              <a:t> </a:t>
            </a:r>
            <a:r>
              <a:rPr lang="en-US" sz="1200" dirty="0" smtClean="0"/>
              <a:t>outside of the direct path of packets, in a one-arm topology with a monitor-only mechanism</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sz="1200" dirty="0" smtClean="0"/>
              <a:t>The switch will send a duplicate of egressing packets to IPS </a:t>
            </a:r>
            <a:r>
              <a:rPr lang="en-CA" sz="1200" baseline="0" dirty="0" smtClean="0"/>
              <a:t>for</a:t>
            </a:r>
            <a:r>
              <a:rPr lang="en-US" sz="1200" dirty="0" smtClean="0"/>
              <a:t> </a:t>
            </a:r>
            <a:r>
              <a:rPr lang="en-CA" sz="1200" dirty="0" smtClean="0"/>
              <a:t>inspection</a:t>
            </a:r>
            <a:r>
              <a:rPr lang="en-US" sz="1200" dirty="0" smtClean="0"/>
              <a:t>. Notice that because </a:t>
            </a:r>
            <a:r>
              <a:rPr lang="en-CA" sz="1200" dirty="0" smtClean="0"/>
              <a:t>IPS </a:t>
            </a:r>
            <a:r>
              <a:rPr lang="en-CA" sz="1200" baseline="0" dirty="0" smtClean="0"/>
              <a:t>is</a:t>
            </a:r>
            <a:r>
              <a:rPr lang="en-US" sz="1200" dirty="0" smtClean="0"/>
              <a:t> </a:t>
            </a:r>
            <a:r>
              <a:rPr lang="en-CA" sz="1200" dirty="0" smtClean="0"/>
              <a:t>inspecting</a:t>
            </a:r>
            <a:r>
              <a:rPr lang="en-US" sz="1200" dirty="0" smtClean="0"/>
              <a:t> a copy – not the original packet – it can’t modify or block the </a:t>
            </a:r>
            <a:r>
              <a:rPr lang="en-CA" sz="1200" dirty="0" smtClean="0"/>
              <a:t>connection</a:t>
            </a:r>
            <a:r>
              <a:rPr lang="en-US" sz="1200" dirty="0" smtClean="0"/>
              <a:t>.</a:t>
            </a:r>
          </a:p>
          <a:p>
            <a:pPr marL="457200" marR="0" lvl="1" indent="0" algn="l" defTabSz="914400" rtl="0" eaLnBrk="0" fontAlgn="base" latinLnBrk="0" hangingPunct="0">
              <a:lnSpc>
                <a:spcPct val="100000"/>
              </a:lnSpc>
              <a:spcBef>
                <a:spcPct val="30000"/>
              </a:spcBef>
              <a:spcAft>
                <a:spcPct val="0"/>
              </a:spcAft>
              <a:buClrTx/>
              <a:buSzTx/>
              <a:buFontTx/>
              <a:buNone/>
              <a:tabLst/>
              <a:defRPr/>
            </a:pPr>
            <a:endParaRPr lang="en-US" sz="1200" dirty="0" smtClean="0"/>
          </a:p>
          <a:p>
            <a:pPr lvl="0"/>
            <a:r>
              <a:rPr lang="en-US" sz="1000" dirty="0" smtClean="0"/>
              <a:t>Historically, when IPS scanning was first invented, it was slow. Old IPS could introduce high latency. So, one-arm deployment was common, but IPS on an </a:t>
            </a:r>
            <a:r>
              <a:rPr lang="en-US" sz="1000" i="0" dirty="0" smtClean="0"/>
              <a:t>inline</a:t>
            </a:r>
            <a:r>
              <a:rPr lang="en-US" sz="1000" dirty="0" smtClean="0"/>
              <a:t> firewall wasn’t. </a:t>
            </a:r>
          </a:p>
          <a:p>
            <a:pPr lvl="0"/>
            <a:endParaRPr lang="en-US" sz="1000" dirty="0" smtClean="0"/>
          </a:p>
          <a:p>
            <a:pPr lvl="0"/>
            <a:r>
              <a:rPr lang="en-US" sz="1000" dirty="0" smtClean="0"/>
              <a:t>Now, hardware performance is much better,</a:t>
            </a:r>
            <a:r>
              <a:rPr lang="en-US" sz="1000" baseline="0" dirty="0" smtClean="0"/>
              <a:t> a</a:t>
            </a:r>
            <a:r>
              <a:rPr lang="en-US" sz="1000" dirty="0" smtClean="0"/>
              <a:t>nd one-arm </a:t>
            </a:r>
            <a:r>
              <a:rPr lang="en-CA" sz="1000" dirty="0" smtClean="0"/>
              <a:t>sniffer </a:t>
            </a:r>
            <a:r>
              <a:rPr lang="en-US" sz="1000" dirty="0" smtClean="0"/>
              <a:t>has a significant limitation: </a:t>
            </a:r>
            <a:r>
              <a:rPr lang="en-US" sz="1000" b="0" i="1" dirty="0" smtClean="0"/>
              <a:t>cannot block traffic</a:t>
            </a:r>
            <a:r>
              <a:rPr lang="en-US" sz="1000" dirty="0" smtClean="0"/>
              <a:t>. </a:t>
            </a:r>
            <a:endParaRPr lang="en-GB" dirty="0" smtClean="0"/>
          </a:p>
          <a:p>
            <a:pPr lvl="1"/>
            <a:endParaRPr lang="en-GB" dirty="0" smtClean="0"/>
          </a:p>
          <a:p>
            <a:pPr lvl="1"/>
            <a:endParaRPr lang="en-GB" dirty="0" smtClean="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50</a:t>
            </a:fld>
            <a:endParaRPr lang="en-US" altLang="en-US"/>
          </a:p>
        </p:txBody>
      </p:sp>
    </p:spTree>
    <p:extLst>
      <p:ext uri="{BB962C8B-B14F-4D97-AF65-F5344CB8AC3E}">
        <p14:creationId xmlns:p14="http://schemas.microsoft.com/office/powerpoint/2010/main" val="422725190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smtClean="0"/>
              <a:t>Exploits of unknown vulnerabilities – called zero-day attacks – are sold for large amounts of money on the black market.  Since these exploits aren’t known to their vendors, or to security experts, there’s no available patch or signature for detection. That’s what makes them so dangerous. </a:t>
            </a:r>
          </a:p>
          <a:p>
            <a:pPr lvl="0"/>
            <a:endParaRPr lang="en-US" dirty="0" smtClean="0"/>
          </a:p>
          <a:p>
            <a:pPr lvl="0"/>
            <a:r>
              <a:rPr lang="en-US" dirty="0" smtClean="0"/>
              <a:t>Some companies and organizations, like Facebook and Google, have offered bounties for the responsible disclosure of these exploits, but there’s a very profitable market for black hat hackers to sell these discoveries to everyone from covert government surveillance to organized crime syndicates. </a:t>
            </a:r>
          </a:p>
          <a:p>
            <a:pPr lvl="1"/>
            <a:endParaRPr lang="en-GB" dirty="0" smtClean="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51</a:t>
            </a:fld>
            <a:endParaRPr lang="en-US" altLang="en-US"/>
          </a:p>
        </p:txBody>
      </p:sp>
    </p:spTree>
    <p:extLst>
      <p:ext uri="{BB962C8B-B14F-4D97-AF65-F5344CB8AC3E}">
        <p14:creationId xmlns:p14="http://schemas.microsoft.com/office/powerpoint/2010/main" val="196191226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smtClean="0"/>
              <a:t>If you detect a zero-day attack, your initial instinct may be to take the server offline immediately, then format it to remove all traces of malware. But by doing this, you’ll alert the attacker, and destroy forensic evidence. This will only educate motivated attackers – their next attack will be harder to detect, and more sophisticated. Make sure your  PSIRT(product</a:t>
            </a:r>
            <a:r>
              <a:rPr lang="en-US" baseline="0" dirty="0" smtClean="0"/>
              <a:t> security incidence response team</a:t>
            </a:r>
            <a:r>
              <a:rPr lang="en-US" dirty="0" smtClean="0"/>
              <a:t>) team understands the most appropriate way to respond to each different type of intrusion.</a:t>
            </a:r>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52</a:t>
            </a:fld>
            <a:endParaRPr lang="en-US" altLang="en-US"/>
          </a:p>
        </p:txBody>
      </p:sp>
    </p:spTree>
    <p:extLst>
      <p:ext uri="{BB962C8B-B14F-4D97-AF65-F5344CB8AC3E}">
        <p14:creationId xmlns:p14="http://schemas.microsoft.com/office/powerpoint/2010/main" val="306005662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purpose of logs is to help you monitor your network traffic, locate problems, establish baselines, and more. Logs provide you with a greater perspective of your network, allowing you to make adjustments to your network security, if necessary.</a:t>
            </a:r>
            <a:endParaRPr lang="en-US" dirty="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53</a:t>
            </a:fld>
            <a:endParaRPr lang="en-US" altLang="en-US"/>
          </a:p>
        </p:txBody>
      </p:sp>
    </p:spTree>
    <p:extLst>
      <p:ext uri="{BB962C8B-B14F-4D97-AF65-F5344CB8AC3E}">
        <p14:creationId xmlns:p14="http://schemas.microsoft.com/office/powerpoint/2010/main" val="53570705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endParaRPr lang="en-US" dirty="0" smtClean="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54</a:t>
            </a:fld>
            <a:endParaRPr lang="en-US" altLang="en-US"/>
          </a:p>
        </p:txBody>
      </p:sp>
    </p:spTree>
    <p:extLst>
      <p:ext uri="{BB962C8B-B14F-4D97-AF65-F5344CB8AC3E}">
        <p14:creationId xmlns:p14="http://schemas.microsoft.com/office/powerpoint/2010/main" val="80128262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Traffic logs </a:t>
            </a:r>
            <a:r>
              <a:rPr lang="en-CA" dirty="0" smtClean="0"/>
              <a:t>record traffic flow information, such as an HTTP/HTTPS request and its response, if any. It </a:t>
            </a:r>
            <a:r>
              <a:rPr lang="en-US" dirty="0" smtClean="0"/>
              <a:t>contains subtypes named forward, local, and sniffer. </a:t>
            </a:r>
          </a:p>
          <a:p>
            <a:pPr marL="171450" indent="-171450">
              <a:buFont typeface="Arial" panose="020B0604020202020204" pitchFamily="34" charset="0"/>
              <a:buChar char="•"/>
            </a:pPr>
            <a:r>
              <a:rPr lang="en-US" dirty="0" smtClean="0"/>
              <a:t>Forward traffic logs contain information about traffic that </a:t>
            </a:r>
            <a:r>
              <a:rPr lang="en-US" dirty="0" err="1" smtClean="0"/>
              <a:t>FortiGate</a:t>
            </a:r>
            <a:r>
              <a:rPr lang="en-US" dirty="0" smtClean="0"/>
              <a:t> either accepted or rejected according to a firewall policy.</a:t>
            </a:r>
          </a:p>
          <a:p>
            <a:pPr marL="171450" indent="-171450">
              <a:buFont typeface="Arial" panose="020B0604020202020204" pitchFamily="34" charset="0"/>
              <a:buChar char="•"/>
            </a:pPr>
            <a:r>
              <a:rPr lang="en-US" dirty="0" smtClean="0"/>
              <a:t>Local traffic logs contain information about traffic directly to and from the </a:t>
            </a:r>
            <a:r>
              <a:rPr lang="en-US" dirty="0" err="1" smtClean="0"/>
              <a:t>FortiGate’s</a:t>
            </a:r>
            <a:r>
              <a:rPr lang="en-US" dirty="0" smtClean="0"/>
              <a:t> management IP addresses. They also include connections to the GUI and </a:t>
            </a:r>
            <a:r>
              <a:rPr lang="en-US" dirty="0" err="1" smtClean="0"/>
              <a:t>FortiGuard</a:t>
            </a:r>
            <a:r>
              <a:rPr lang="en-US" dirty="0" smtClean="0"/>
              <a:t> queries.</a:t>
            </a:r>
          </a:p>
          <a:p>
            <a:pPr marL="171450" indent="-171450">
              <a:buFont typeface="Arial" panose="020B0604020202020204" pitchFamily="34" charset="0"/>
              <a:buChar char="•"/>
            </a:pPr>
            <a:r>
              <a:rPr lang="en-US" dirty="0" smtClean="0"/>
              <a:t>Sniffer logs contain information related to packet capture.</a:t>
            </a:r>
          </a:p>
          <a:p>
            <a:endParaRPr lang="en-US" dirty="0" smtClean="0"/>
          </a:p>
          <a:p>
            <a:r>
              <a:rPr lang="en-US" dirty="0" smtClean="0"/>
              <a:t>Event logs </a:t>
            </a:r>
            <a:r>
              <a:rPr lang="en-CA" dirty="0" smtClean="0"/>
              <a:t>record system and administrative events, such as adding or modifying configuration, or daemon activities. It contains subtypes named endpoint control, high availability, system, user, router, VPN, WAD, and wireless.</a:t>
            </a:r>
            <a:endParaRPr lang="en-US" dirty="0" smtClean="0"/>
          </a:p>
          <a:p>
            <a:pPr marL="171450" indent="-171450">
              <a:buFont typeface="Arial" panose="020B0604020202020204" pitchFamily="34" charset="0"/>
              <a:buChar char="•"/>
            </a:pPr>
            <a:r>
              <a:rPr lang="en-US" dirty="0" smtClean="0"/>
              <a:t>System event logs contain information related to operations, such as automatic </a:t>
            </a:r>
            <a:r>
              <a:rPr lang="en-US" dirty="0" err="1" smtClean="0"/>
              <a:t>FortiGuard</a:t>
            </a:r>
            <a:r>
              <a:rPr lang="en-US" dirty="0" smtClean="0"/>
              <a:t> updates and GUI logins. </a:t>
            </a:r>
          </a:p>
          <a:p>
            <a:pPr marL="171450" indent="-171450">
              <a:buFont typeface="Arial" panose="020B0604020202020204" pitchFamily="34" charset="0"/>
              <a:buChar char="•"/>
            </a:pPr>
            <a:r>
              <a:rPr lang="en-US" dirty="0" smtClean="0"/>
              <a:t>User logs contain logon and logoff events for firewall policies with user authentication. </a:t>
            </a:r>
          </a:p>
          <a:p>
            <a:pPr marL="171450" indent="-171450">
              <a:buFont typeface="Arial" panose="020B0604020202020204" pitchFamily="34" charset="0"/>
              <a:buChar char="•"/>
            </a:pPr>
            <a:r>
              <a:rPr lang="en-US" dirty="0" smtClean="0"/>
              <a:t>Router, VPN, WAD, and wireless subtypes include logs for those features. For example, VPN contains IPsec and SSL VPN log entries.</a:t>
            </a:r>
          </a:p>
          <a:p>
            <a:endParaRPr lang="en-US" dirty="0" smtClean="0"/>
          </a:p>
          <a:p>
            <a:r>
              <a:rPr lang="en-US" dirty="0" smtClean="0"/>
              <a:t>Finally, security</a:t>
            </a:r>
            <a:r>
              <a:rPr lang="en-US" b="1" i="1" dirty="0" smtClean="0"/>
              <a:t> </a:t>
            </a:r>
            <a:r>
              <a:rPr lang="en-US" dirty="0" smtClean="0"/>
              <a:t>logs </a:t>
            </a:r>
            <a:r>
              <a:rPr lang="en-CA" dirty="0" smtClean="0"/>
              <a:t>record logs for the security events such as virus attacks and intrusion attempts. They contain </a:t>
            </a:r>
            <a:r>
              <a:rPr lang="en-US" dirty="0" smtClean="0"/>
              <a:t>log entries based on the security profile type (log type = </a:t>
            </a:r>
            <a:r>
              <a:rPr lang="en-US" dirty="0" err="1" smtClean="0"/>
              <a:t>utm</a:t>
            </a:r>
            <a:r>
              <a:rPr lang="en-US" dirty="0" smtClean="0"/>
              <a:t>), including Application Control, Antivirus, DLP, Anti-Spam (Email Filter), Web Filter, Intrusion Protection, Anomaly (</a:t>
            </a:r>
            <a:r>
              <a:rPr lang="en-CA" dirty="0" err="1" smtClean="0"/>
              <a:t>DoS</a:t>
            </a:r>
            <a:r>
              <a:rPr lang="en-CA" dirty="0" smtClean="0"/>
              <a:t>-policy)</a:t>
            </a:r>
            <a:r>
              <a:rPr lang="en-US" dirty="0" smtClean="0"/>
              <a:t>, and WAF. Security logs and subtypes are only visible in the GUI menu if logs are created within it—if no security logs exists, the log menu item does not appear.</a:t>
            </a:r>
            <a:endParaRPr lang="en-US" dirty="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55</a:t>
            </a:fld>
            <a:endParaRPr lang="en-US" altLang="en-US"/>
          </a:p>
        </p:txBody>
      </p:sp>
    </p:spTree>
    <p:extLst>
      <p:ext uri="{BB962C8B-B14F-4D97-AF65-F5344CB8AC3E}">
        <p14:creationId xmlns:p14="http://schemas.microsoft.com/office/powerpoint/2010/main" val="329005642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Each log entry includes a log level (or priority level) that ranges in order of importance from emergency to information. </a:t>
            </a:r>
          </a:p>
          <a:p>
            <a:endParaRPr lang="en-US" dirty="0" smtClean="0"/>
          </a:p>
          <a:p>
            <a:r>
              <a:rPr lang="en-US" dirty="0" smtClean="0"/>
              <a:t>There is also a debug level, the lowest level. It puts diagnostic information into the event log. The debug level is rarely used, unless you are actively investigating an issue with Fortinet Technical Support. Generally, the lowest level you want to use is information, but even this level generates many logs and could cause premature hard disk failure. Depending on the type of log and the needs of your organization, you may want to log only notification</a:t>
            </a:r>
            <a:r>
              <a:rPr lang="en-US" b="1" i="1" dirty="0" smtClean="0"/>
              <a:t> </a:t>
            </a:r>
            <a:r>
              <a:rPr lang="en-US" dirty="0" smtClean="0"/>
              <a:t>levels or higher.</a:t>
            </a:r>
          </a:p>
          <a:p>
            <a:endParaRPr lang="en-US" dirty="0" smtClean="0"/>
          </a:p>
          <a:p>
            <a:r>
              <a:rPr lang="en-US" dirty="0" smtClean="0"/>
              <a:t>You and your organization’s policies dictate what must be logged.   </a:t>
            </a:r>
            <a:endParaRPr lang="en-US" dirty="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56</a:t>
            </a:fld>
            <a:endParaRPr lang="en-US" altLang="en-US"/>
          </a:p>
        </p:txBody>
      </p:sp>
    </p:spTree>
    <p:extLst>
      <p:ext uri="{BB962C8B-B14F-4D97-AF65-F5344CB8AC3E}">
        <p14:creationId xmlns:p14="http://schemas.microsoft.com/office/powerpoint/2010/main" val="297797292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dirty="0" smtClean="0"/>
              <a:t>Every log message has a standard layout comprised of two sections: a header and a body.</a:t>
            </a:r>
          </a:p>
          <a:p>
            <a:pPr>
              <a:defRPr/>
            </a:pPr>
            <a:endParaRPr lang="en-US" dirty="0" smtClean="0"/>
          </a:p>
          <a:p>
            <a:pPr>
              <a:defRPr/>
            </a:pPr>
            <a:r>
              <a:rPr lang="en-US" dirty="0" smtClean="0"/>
              <a:t>The header contains fields that are common to all log types, such as originating date and time</a:t>
            </a:r>
            <a:r>
              <a:rPr lang="en-CA" dirty="0" smtClean="0"/>
              <a:t>, log identifier, log category, severity level, and virtual domain (VDOM). </a:t>
            </a:r>
            <a:r>
              <a:rPr lang="en-US" dirty="0" smtClean="0"/>
              <a:t>The value of each field, however, is specific to the log message. As you can see in the raw log entry example, the log type is </a:t>
            </a:r>
            <a:r>
              <a:rPr lang="en-US" dirty="0" smtClean="0">
                <a:latin typeface="Courier New" panose="02070309020205020404" pitchFamily="49" charset="0"/>
                <a:cs typeface="Courier New" panose="02070309020205020404" pitchFamily="49" charset="0"/>
              </a:rPr>
              <a:t>UTM</a:t>
            </a:r>
            <a:r>
              <a:rPr lang="en-US" dirty="0" smtClean="0"/>
              <a:t>, the subtype is </a:t>
            </a:r>
            <a:r>
              <a:rPr lang="en-US" dirty="0" err="1" smtClean="0">
                <a:latin typeface="Courier New" panose="02070309020205020404" pitchFamily="49" charset="0"/>
                <a:cs typeface="Courier New" panose="02070309020205020404" pitchFamily="49" charset="0"/>
              </a:rPr>
              <a:t>webfilter</a:t>
            </a:r>
            <a:r>
              <a:rPr lang="en-US" dirty="0" smtClean="0"/>
              <a:t>, and the level is </a:t>
            </a:r>
            <a:r>
              <a:rPr lang="en-US" dirty="0" smtClean="0">
                <a:latin typeface="Courier New" panose="02070309020205020404" pitchFamily="49" charset="0"/>
                <a:cs typeface="Courier New" panose="02070309020205020404" pitchFamily="49" charset="0"/>
              </a:rPr>
              <a:t>warning</a:t>
            </a:r>
            <a:r>
              <a:rPr lang="en-US" dirty="0" smtClean="0"/>
              <a:t>. The type and subtype of logs determine what fields appear in the log body.</a:t>
            </a:r>
          </a:p>
          <a:p>
            <a:endParaRPr lang="en-US" dirty="0" smtClean="0"/>
          </a:p>
          <a:p>
            <a:pPr>
              <a:defRPr/>
            </a:pPr>
            <a:r>
              <a:rPr lang="en-US" dirty="0" smtClean="0"/>
              <a:t>The body, therefore, </a:t>
            </a:r>
            <a:r>
              <a:rPr lang="en-CA" dirty="0" smtClean="0"/>
              <a:t>describes the reason why the log was created and actions taken by </a:t>
            </a:r>
            <a:r>
              <a:rPr lang="en-CA" dirty="0" err="1" smtClean="0"/>
              <a:t>FortiGate</a:t>
            </a:r>
            <a:r>
              <a:rPr lang="en-CA" dirty="0" smtClean="0"/>
              <a:t>. These fields vary by log type. I</a:t>
            </a:r>
            <a:r>
              <a:rPr lang="en-US" dirty="0" smtClean="0"/>
              <a:t>n the above example, the </a:t>
            </a:r>
            <a:r>
              <a:rPr lang="en-US" dirty="0" err="1" smtClean="0">
                <a:latin typeface="Courier" pitchFamily="49" charset="0"/>
              </a:rPr>
              <a:t>policyid</a:t>
            </a:r>
            <a:r>
              <a:rPr lang="en-US" dirty="0" smtClean="0"/>
              <a:t> field indicates which firewall rule matched the traffic, the </a:t>
            </a:r>
            <a:r>
              <a:rPr lang="en-US" dirty="0" smtClean="0">
                <a:latin typeface="Courier New" panose="02070309020205020404" pitchFamily="49" charset="0"/>
                <a:cs typeface="Courier New" panose="02070309020205020404" pitchFamily="49" charset="0"/>
              </a:rPr>
              <a:t>scrip</a:t>
            </a:r>
            <a:r>
              <a:rPr lang="en-US" dirty="0" smtClean="0"/>
              <a:t> field indicates the source IP address, the </a:t>
            </a:r>
            <a:r>
              <a:rPr lang="en-US" dirty="0" err="1" smtClean="0">
                <a:latin typeface="Courier New" panose="02070309020205020404" pitchFamily="49" charset="0"/>
                <a:cs typeface="Courier New" panose="02070309020205020404" pitchFamily="49" charset="0"/>
              </a:rPr>
              <a:t>dstip</a:t>
            </a:r>
            <a:r>
              <a:rPr lang="en-US" dirty="0" smtClean="0"/>
              <a:t> field indicates the destination IP address, the </a:t>
            </a:r>
            <a:r>
              <a:rPr lang="en-US" dirty="0" smtClean="0">
                <a:latin typeface="Courier New" panose="02070309020205020404" pitchFamily="49" charset="0"/>
                <a:cs typeface="Courier New" panose="02070309020205020404" pitchFamily="49" charset="0"/>
              </a:rPr>
              <a:t>hostname</a:t>
            </a:r>
            <a:r>
              <a:rPr lang="en-US" dirty="0" smtClean="0"/>
              <a:t> indicates the URL or IP of the host, the </a:t>
            </a:r>
            <a:r>
              <a:rPr lang="en-US" dirty="0" smtClean="0">
                <a:latin typeface="Courier" pitchFamily="49" charset="0"/>
              </a:rPr>
              <a:t>action</a:t>
            </a:r>
            <a:r>
              <a:rPr lang="en-US" dirty="0" smtClean="0"/>
              <a:t> field indicates what </a:t>
            </a:r>
            <a:r>
              <a:rPr lang="en-US" dirty="0" err="1" smtClean="0"/>
              <a:t>FortiGate</a:t>
            </a:r>
            <a:r>
              <a:rPr lang="en-US" dirty="0" smtClean="0"/>
              <a:t> did when it found a policy that matched the traffic, and the </a:t>
            </a:r>
            <a:r>
              <a:rPr lang="en-US" dirty="0" err="1" smtClean="0">
                <a:latin typeface="Courier New" panose="02070309020205020404" pitchFamily="49" charset="0"/>
                <a:cs typeface="Courier New" panose="02070309020205020404" pitchFamily="49" charset="0"/>
              </a:rPr>
              <a:t>msg</a:t>
            </a:r>
            <a:r>
              <a:rPr lang="en-US" dirty="0" smtClean="0"/>
              <a:t> fields indicates the reason for the action taken. In this example, the action is </a:t>
            </a:r>
            <a:r>
              <a:rPr lang="en-US" dirty="0" smtClean="0">
                <a:latin typeface="Courier New" panose="02070309020205020404" pitchFamily="49" charset="0"/>
                <a:cs typeface="Courier New" panose="02070309020205020404" pitchFamily="49" charset="0"/>
              </a:rPr>
              <a:t>blocked</a:t>
            </a:r>
            <a:r>
              <a:rPr lang="en-US" dirty="0" smtClean="0"/>
              <a:t>, which means that </a:t>
            </a:r>
            <a:r>
              <a:rPr lang="en-US" dirty="0" err="1" smtClean="0"/>
              <a:t>FortiGate</a:t>
            </a:r>
            <a:r>
              <a:rPr lang="en-US" dirty="0" smtClean="0"/>
              <a:t> prevented this IP packet from passing, and the reason is because it belonged to a denied category in the firewall policy.</a:t>
            </a:r>
          </a:p>
          <a:p>
            <a:pPr>
              <a:defRPr/>
            </a:pPr>
            <a:endParaRPr lang="en-US" dirty="0" smtClean="0"/>
          </a:p>
          <a:p>
            <a:pPr>
              <a:defRPr/>
            </a:pPr>
            <a:r>
              <a:rPr lang="en-US" dirty="0" smtClean="0"/>
              <a:t>If you log to a third-party device, such as a syslog server, knowing the log structure is crucial to integration. For information on log structures and associated meanings, visit </a:t>
            </a:r>
            <a:r>
              <a:rPr lang="en-US" dirty="0" smtClean="0">
                <a:hlinkClick r:id="rId3"/>
              </a:rPr>
              <a:t>http://docs.fortinet.com</a:t>
            </a:r>
            <a:r>
              <a:rPr lang="en-US" dirty="0" smtClean="0"/>
              <a:t>.</a:t>
            </a:r>
            <a:endParaRPr lang="en-US" dirty="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57</a:t>
            </a:fld>
            <a:endParaRPr lang="en-US" altLang="en-US"/>
          </a:p>
        </p:txBody>
      </p:sp>
    </p:spTree>
    <p:extLst>
      <p:ext uri="{BB962C8B-B14F-4D97-AF65-F5344CB8AC3E}">
        <p14:creationId xmlns:p14="http://schemas.microsoft.com/office/powerpoint/2010/main" val="353560710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You can view your logs in the GUI under the </a:t>
            </a:r>
            <a:r>
              <a:rPr lang="en-US" b="1" dirty="0" smtClean="0"/>
              <a:t>Log &amp; Report </a:t>
            </a:r>
            <a:r>
              <a:rPr lang="en-US" dirty="0" smtClean="0"/>
              <a:t>menu. The options that appear in this menu depend on your configuration. Security logs appear only if security events exist. </a:t>
            </a:r>
          </a:p>
          <a:p>
            <a:endParaRPr lang="en-US" dirty="0" smtClean="0"/>
          </a:p>
          <a:p>
            <a:r>
              <a:rPr lang="en-US" dirty="0" smtClean="0"/>
              <a:t>Select the type of log you want to view, such as </a:t>
            </a:r>
            <a:r>
              <a:rPr lang="en-US" b="1" dirty="0" smtClean="0"/>
              <a:t>Forward Traffic</a:t>
            </a:r>
            <a:r>
              <a:rPr lang="en-US" dirty="0" smtClean="0"/>
              <a:t>. </a:t>
            </a:r>
            <a:r>
              <a:rPr lang="en-CA" dirty="0" smtClean="0"/>
              <a:t>Logs then appear in a formatted table view. </a:t>
            </a:r>
            <a:r>
              <a:rPr lang="en-US" dirty="0" smtClean="0"/>
              <a:t>To view the log details, select the log from the table. The log details then appear in the </a:t>
            </a:r>
            <a:r>
              <a:rPr lang="en-US" b="1" dirty="0" smtClean="0"/>
              <a:t>Log Details </a:t>
            </a:r>
            <a:r>
              <a:rPr lang="en-US" dirty="0" smtClean="0"/>
              <a:t>pane to the right. </a:t>
            </a:r>
          </a:p>
          <a:p>
            <a:endParaRPr lang="en-US" dirty="0" smtClean="0"/>
          </a:p>
          <a:p>
            <a:r>
              <a:rPr lang="en-CA" dirty="0" smtClean="0"/>
              <a:t>If archiving is enabled on security profiles that support it (such as DLP), archiving information appears within the </a:t>
            </a:r>
            <a:r>
              <a:rPr lang="en-CA" b="1" dirty="0" smtClean="0"/>
              <a:t>Log Details </a:t>
            </a:r>
            <a:r>
              <a:rPr lang="en-CA" dirty="0" smtClean="0"/>
              <a:t>pane under the </a:t>
            </a:r>
            <a:r>
              <a:rPr lang="en-CA" b="1" dirty="0" smtClean="0"/>
              <a:t>Archived Data </a:t>
            </a:r>
            <a:r>
              <a:rPr lang="en-CA" dirty="0" smtClean="0"/>
              <a:t>section. Archived logs are also recorded when using </a:t>
            </a:r>
            <a:r>
              <a:rPr lang="en-CA" dirty="0" err="1" smtClean="0"/>
              <a:t>FortiAnalyzer</a:t>
            </a:r>
            <a:r>
              <a:rPr lang="en-CA" dirty="0" smtClean="0"/>
              <a:t> or </a:t>
            </a:r>
            <a:r>
              <a:rPr lang="en-CA" dirty="0" err="1" smtClean="0"/>
              <a:t>FortiCloud</a:t>
            </a:r>
            <a:r>
              <a:rPr lang="en-CA" dirty="0" smtClean="0"/>
              <a:t>.</a:t>
            </a:r>
          </a:p>
          <a:p>
            <a:endParaRPr lang="en-US" dirty="0" smtClean="0"/>
          </a:p>
          <a:p>
            <a:r>
              <a:rPr lang="en-US" dirty="0" smtClean="0"/>
              <a:t>If you configured </a:t>
            </a:r>
            <a:r>
              <a:rPr lang="en-US" dirty="0" err="1" smtClean="0"/>
              <a:t>FortiGate</a:t>
            </a:r>
            <a:r>
              <a:rPr lang="en-US" dirty="0" smtClean="0"/>
              <a:t> to log to multiple locations and want to view logs from those locations, you must specify the location from the </a:t>
            </a:r>
            <a:r>
              <a:rPr lang="en-US" b="1" dirty="0" smtClean="0"/>
              <a:t>Log Settings </a:t>
            </a:r>
            <a:r>
              <a:rPr lang="en-US" dirty="0" smtClean="0"/>
              <a:t>page. In this screenshot, the log location is set to </a:t>
            </a:r>
            <a:r>
              <a:rPr lang="en-US" b="1" dirty="0" smtClean="0"/>
              <a:t>Disk</a:t>
            </a:r>
            <a:r>
              <a:rPr lang="en-US" dirty="0" smtClean="0"/>
              <a:t>, as that is the configured setting on the </a:t>
            </a:r>
            <a:r>
              <a:rPr lang="en-US" b="1" dirty="0" smtClean="0"/>
              <a:t>Log Settings </a:t>
            </a:r>
            <a:r>
              <a:rPr lang="en-US" dirty="0" smtClean="0"/>
              <a:t>page. If logging to a remote location, such as Syslog, you must view logs through that device instead.</a:t>
            </a:r>
            <a:endParaRPr lang="en-US" dirty="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58</a:t>
            </a:fld>
            <a:endParaRPr lang="en-US" altLang="en-US"/>
          </a:p>
        </p:txBody>
      </p:sp>
    </p:spTree>
    <p:extLst>
      <p:ext uri="{BB962C8B-B14F-4D97-AF65-F5344CB8AC3E}">
        <p14:creationId xmlns:p14="http://schemas.microsoft.com/office/powerpoint/2010/main" val="182052620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Some of the areas you can monitor under the </a:t>
            </a:r>
            <a:r>
              <a:rPr lang="en-CA" b="1" i="1" dirty="0" err="1" smtClean="0"/>
              <a:t>FortiView</a:t>
            </a:r>
            <a:r>
              <a:rPr lang="en-CA" b="1" i="1" dirty="0" smtClean="0"/>
              <a:t> </a:t>
            </a:r>
            <a:r>
              <a:rPr lang="en-CA" dirty="0" smtClean="0"/>
              <a:t>menu include:</a:t>
            </a:r>
          </a:p>
          <a:p>
            <a:endParaRPr lang="en-CA" dirty="0" smtClean="0"/>
          </a:p>
          <a:p>
            <a:pPr marL="171450" indent="-171450">
              <a:buFont typeface="Arial" panose="020B0604020202020204" pitchFamily="34" charset="0"/>
              <a:buChar char="•"/>
            </a:pPr>
            <a:r>
              <a:rPr lang="en-CA" b="1" dirty="0" smtClean="0"/>
              <a:t>Sources</a:t>
            </a:r>
            <a:r>
              <a:rPr lang="en-CA" dirty="0" smtClean="0"/>
              <a:t>: Allows you to view information about the sources of traffic on your </a:t>
            </a:r>
            <a:r>
              <a:rPr lang="en-CA" dirty="0" err="1" smtClean="0"/>
              <a:t>FortiGate</a:t>
            </a:r>
            <a:r>
              <a:rPr lang="en-CA" dirty="0" smtClean="0"/>
              <a:t>. You can use this to investigate a spike in traffic, for example.</a:t>
            </a:r>
          </a:p>
          <a:p>
            <a:pPr marL="171450" indent="-171450">
              <a:buFont typeface="Arial" panose="020B0604020202020204" pitchFamily="34" charset="0"/>
              <a:buChar char="•"/>
              <a:defRPr/>
            </a:pPr>
            <a:r>
              <a:rPr lang="en-CA" b="1" dirty="0" smtClean="0"/>
              <a:t>Interfaces</a:t>
            </a:r>
            <a:r>
              <a:rPr lang="en-CA" b="1" i="1" dirty="0" smtClean="0"/>
              <a:t>: </a:t>
            </a:r>
            <a:r>
              <a:rPr lang="en-CA" dirty="0" smtClean="0"/>
              <a:t>Allows you to perform current and historical monitoring by interface, with the ability to monitor bandwidth, in particular. You can use this to investigate traffic spikes associated with an IP address, for example.</a:t>
            </a:r>
          </a:p>
          <a:p>
            <a:pPr marL="171450" indent="-171450">
              <a:buFont typeface="Arial" panose="020B0604020202020204" pitchFamily="34" charset="0"/>
              <a:buChar char="•"/>
            </a:pPr>
            <a:r>
              <a:rPr lang="en-CA" b="1" dirty="0" smtClean="0"/>
              <a:t>Countries</a:t>
            </a:r>
            <a:r>
              <a:rPr lang="en-CA" dirty="0" smtClean="0"/>
              <a:t>: Allows you to filter traffic according to source and destination countries. This includes the option to view the country map visualization. You can use this to investigate international source bandwidth usage for specific sources, for example.</a:t>
            </a:r>
          </a:p>
          <a:p>
            <a:pPr marL="171450" indent="-171450">
              <a:buFont typeface="Arial" panose="020B0604020202020204" pitchFamily="34" charset="0"/>
              <a:buChar char="•"/>
            </a:pPr>
            <a:r>
              <a:rPr lang="en-CA" b="1" dirty="0" smtClean="0"/>
              <a:t>All Sessions</a:t>
            </a:r>
            <a:r>
              <a:rPr lang="en-CA" dirty="0" smtClean="0"/>
              <a:t>: Allows you to view information about all </a:t>
            </a:r>
            <a:r>
              <a:rPr lang="en-CA" dirty="0" err="1" smtClean="0"/>
              <a:t>FortiGate</a:t>
            </a:r>
            <a:r>
              <a:rPr lang="en-CA" dirty="0" smtClean="0"/>
              <a:t> traffic. This console has the greatest number of column filter options. You can use this to filter sessions by port number and application type, for example.</a:t>
            </a:r>
          </a:p>
          <a:p>
            <a:pPr marL="171450" indent="-171450">
              <a:buFont typeface="Arial" panose="020B0604020202020204" pitchFamily="34" charset="0"/>
              <a:buChar char="•"/>
            </a:pPr>
            <a:r>
              <a:rPr lang="en-CA" b="1" dirty="0" smtClean="0"/>
              <a:t>Applications</a:t>
            </a:r>
            <a:r>
              <a:rPr lang="en-CA" dirty="0" smtClean="0"/>
              <a:t>: Allows you to view information about the applications being used on your network.</a:t>
            </a:r>
          </a:p>
          <a:p>
            <a:pPr marL="171450" indent="-171450">
              <a:buFont typeface="Arial" panose="020B0604020202020204" pitchFamily="34" charset="0"/>
              <a:buChar char="•"/>
            </a:pPr>
            <a:r>
              <a:rPr lang="en-CA" b="1" dirty="0" smtClean="0"/>
              <a:t>Cloud Applications</a:t>
            </a:r>
            <a:r>
              <a:rPr lang="en-CA" dirty="0" smtClean="0"/>
              <a:t>: Allows you to view information about the cloud-based applications being used on your network. </a:t>
            </a:r>
          </a:p>
          <a:p>
            <a:pPr marL="171450" indent="-171450">
              <a:buFont typeface="Arial" panose="020B0604020202020204" pitchFamily="34" charset="0"/>
              <a:buChar char="•"/>
            </a:pPr>
            <a:r>
              <a:rPr lang="en-CA" b="1" dirty="0" smtClean="0"/>
              <a:t>Web Sites</a:t>
            </a:r>
            <a:r>
              <a:rPr lang="en-CA" dirty="0" smtClean="0"/>
              <a:t>: Allows you to view information about the top allowed and top blocked websites by domain or </a:t>
            </a:r>
            <a:r>
              <a:rPr lang="en-CA" dirty="0" err="1" smtClean="0"/>
              <a:t>FortiGuard</a:t>
            </a:r>
            <a:r>
              <a:rPr lang="en-CA" dirty="0" smtClean="0"/>
              <a:t> categories. You can use this to investigate an instance of proxy avoidance, for example.</a:t>
            </a:r>
          </a:p>
          <a:p>
            <a:pPr marL="171450" indent="-171450">
              <a:buFont typeface="Arial" panose="020B0604020202020204" pitchFamily="34" charset="0"/>
              <a:buChar char="•"/>
            </a:pPr>
            <a:r>
              <a:rPr lang="en-CA" b="1" dirty="0" smtClean="0"/>
              <a:t>Threats</a:t>
            </a:r>
            <a:r>
              <a:rPr lang="en-CA" dirty="0" smtClean="0"/>
              <a:t>: Allows you to view information about the top users involved in incidences as well as the top threats in your network. </a:t>
            </a:r>
          </a:p>
          <a:p>
            <a:pPr marL="171450" indent="-171450">
              <a:buFont typeface="Arial" panose="020B0604020202020204" pitchFamily="34" charset="0"/>
              <a:buChar char="•"/>
            </a:pPr>
            <a:r>
              <a:rPr lang="en-CA" b="1" dirty="0" smtClean="0"/>
              <a:t>Threat Map</a:t>
            </a:r>
            <a:r>
              <a:rPr lang="en-CA" dirty="0" smtClean="0"/>
              <a:t>: Allows you to view risks coming from various international locations arriving at your location, displayed through a map. You can use this to investigate various international threats.</a:t>
            </a:r>
          </a:p>
          <a:p>
            <a:endParaRPr lang="en-US" dirty="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59</a:t>
            </a:fld>
            <a:endParaRPr lang="en-US" altLang="en-US"/>
          </a:p>
        </p:txBody>
      </p:sp>
    </p:spTree>
    <p:extLst>
      <p:ext uri="{BB962C8B-B14F-4D97-AF65-F5344CB8AC3E}">
        <p14:creationId xmlns:p14="http://schemas.microsoft.com/office/powerpoint/2010/main" val="215473446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60</a:t>
            </a:fld>
            <a:endParaRPr lang="en-US" altLang="en-US"/>
          </a:p>
        </p:txBody>
      </p:sp>
    </p:spTree>
    <p:extLst>
      <p:ext uri="{BB962C8B-B14F-4D97-AF65-F5344CB8AC3E}">
        <p14:creationId xmlns:p14="http://schemas.microsoft.com/office/powerpoint/2010/main" val="311816713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z="1200" b="0" i="0" u="none" strike="noStrike" kern="1200" baseline="0" dirty="0" smtClean="0">
                <a:solidFill>
                  <a:schemeClr val="tx1"/>
                </a:solidFill>
                <a:latin typeface="Arial" charset="0"/>
                <a:ea typeface="+mn-ea"/>
                <a:cs typeface="Arial" pitchFamily="34" charset="0"/>
              </a:rPr>
              <a:t>In Fortinet,</a:t>
            </a:r>
          </a:p>
          <a:p>
            <a:pPr marL="0" marR="0" indent="0" algn="l" defTabSz="914400" rtl="0" eaLnBrk="1" fontAlgn="auto" latinLnBrk="0" hangingPunct="1">
              <a:lnSpc>
                <a:spcPct val="100000"/>
              </a:lnSpc>
              <a:spcBef>
                <a:spcPts val="0"/>
              </a:spcBef>
              <a:spcAft>
                <a:spcPts val="0"/>
              </a:spcAft>
              <a:buClrTx/>
              <a:buSzTx/>
              <a:buFontTx/>
              <a:buNone/>
              <a:tabLst/>
              <a:defRPr/>
            </a:pPr>
            <a:r>
              <a:rPr lang="en-CA" sz="1200" b="0" i="0" u="none" strike="noStrike" kern="1200" baseline="0" dirty="0" smtClean="0">
                <a:solidFill>
                  <a:schemeClr val="tx1"/>
                </a:solidFill>
                <a:latin typeface="Arial" charset="0"/>
                <a:ea typeface="+mn-ea"/>
                <a:cs typeface="Arial" pitchFamily="34" charset="0"/>
              </a:rPr>
              <a:t>When learning mode is enabled on a firewall policy, data across all traffic and security vectors is captured and generated in the </a:t>
            </a:r>
            <a:r>
              <a:rPr lang="en-CA" sz="1200" b="1" u="none" strike="noStrike" kern="1200" baseline="0" dirty="0" smtClean="0">
                <a:solidFill>
                  <a:schemeClr val="tx1"/>
                </a:solidFill>
                <a:latin typeface="Arial" charset="0"/>
                <a:ea typeface="+mn-ea"/>
                <a:cs typeface="Arial" pitchFamily="34" charset="0"/>
              </a:rPr>
              <a:t>Cyber Threat Assessment Learning Report</a:t>
            </a:r>
            <a:r>
              <a:rPr lang="en-CA" sz="1200" b="0" i="0" u="none" strike="noStrike" kern="1200" baseline="0" dirty="0" smtClean="0">
                <a:solidFill>
                  <a:schemeClr val="tx1"/>
                </a:solidFill>
                <a:latin typeface="Arial" charset="0"/>
                <a:ea typeface="+mn-ea"/>
                <a:cs typeface="Arial" pitchFamily="34" charset="0"/>
              </a:rPr>
              <a:t>. The purpose of this report is to allow users to easily implement a </a:t>
            </a:r>
            <a:r>
              <a:rPr lang="en-CA" sz="1200" i="1" u="none" strike="noStrike" kern="1200" baseline="0" dirty="0" smtClean="0">
                <a:solidFill>
                  <a:schemeClr val="tx1"/>
                </a:solidFill>
                <a:latin typeface="Arial" charset="0"/>
                <a:ea typeface="+mn-ea"/>
                <a:cs typeface="Arial" pitchFamily="34" charset="0"/>
              </a:rPr>
              <a:t>monitor then enforce </a:t>
            </a:r>
            <a:r>
              <a:rPr lang="en-CA" sz="1200" b="0" i="0" u="none" strike="noStrike" kern="1200" baseline="0" dirty="0" smtClean="0">
                <a:solidFill>
                  <a:schemeClr val="tx1"/>
                </a:solidFill>
                <a:latin typeface="Arial" charset="0"/>
                <a:ea typeface="+mn-ea"/>
                <a:cs typeface="Arial" pitchFamily="34" charset="0"/>
              </a:rPr>
              <a:t>process.</a:t>
            </a:r>
          </a:p>
          <a:p>
            <a:pPr marL="0" marR="0" indent="0" algn="l" defTabSz="914400" rtl="0" eaLnBrk="1" fontAlgn="auto" latinLnBrk="0" hangingPunct="1">
              <a:lnSpc>
                <a:spcPct val="100000"/>
              </a:lnSpc>
              <a:spcBef>
                <a:spcPts val="0"/>
              </a:spcBef>
              <a:spcAft>
                <a:spcPts val="0"/>
              </a:spcAft>
              <a:buClrTx/>
              <a:buSzTx/>
              <a:buFontTx/>
              <a:buNone/>
              <a:tabLst/>
              <a:defRPr/>
            </a:pPr>
            <a:endParaRPr lang="en-CA" sz="1200" b="0" i="0" u="none" strike="noStrike" kern="1200" baseline="0" dirty="0" smtClean="0">
              <a:solidFill>
                <a:schemeClr val="tx1"/>
              </a:solidFill>
              <a:latin typeface="Arial" charset="0"/>
              <a:ea typeface="+mn-ea"/>
              <a:cs typeface="Arial"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CA" sz="1200" b="0" i="0" u="none" strike="noStrike" kern="1200" baseline="0" dirty="0" smtClean="0">
                <a:solidFill>
                  <a:schemeClr val="tx1"/>
                </a:solidFill>
                <a:latin typeface="Arial" charset="0"/>
                <a:ea typeface="+mn-ea"/>
                <a:cs typeface="Arial" pitchFamily="34" charset="0"/>
              </a:rPr>
              <a:t>Data includes:</a:t>
            </a:r>
          </a:p>
          <a:p>
            <a:pPr marL="0" marR="0" indent="0" algn="l" defTabSz="914400" rtl="0" eaLnBrk="1" fontAlgn="auto" latinLnBrk="0" hangingPunct="1">
              <a:lnSpc>
                <a:spcPct val="100000"/>
              </a:lnSpc>
              <a:spcBef>
                <a:spcPts val="0"/>
              </a:spcBef>
              <a:spcAft>
                <a:spcPts val="0"/>
              </a:spcAft>
              <a:buClrTx/>
              <a:buSzTx/>
              <a:buFontTx/>
              <a:buNone/>
              <a:tabLst/>
              <a:defRPr/>
            </a:pPr>
            <a:endParaRPr lang="en-CA" sz="1200" b="0" i="0" u="none" strike="noStrike" kern="1200" baseline="0" dirty="0" smtClean="0">
              <a:solidFill>
                <a:schemeClr val="tx1"/>
              </a:solidFill>
              <a:latin typeface="Arial" charset="0"/>
              <a:ea typeface="+mn-ea"/>
              <a:cs typeface="Arial" pitchFamily="34" charset="0"/>
            </a:endParaRP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b="0" i="0" u="none" strike="noStrike" kern="1200" baseline="0" dirty="0" smtClean="0">
                <a:solidFill>
                  <a:schemeClr val="tx1"/>
                </a:solidFill>
                <a:latin typeface="Arial" charset="0"/>
                <a:ea typeface="+mn-ea"/>
                <a:cs typeface="Arial" pitchFamily="34" charset="0"/>
              </a:rPr>
              <a:t>Deployment methodology</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b="0" i="0" u="none" strike="noStrike" kern="1200" baseline="0" dirty="0" smtClean="0">
                <a:solidFill>
                  <a:schemeClr val="tx1"/>
                </a:solidFill>
                <a:latin typeface="Arial" charset="0"/>
                <a:ea typeface="+mn-ea"/>
                <a:cs typeface="Arial" pitchFamily="34" charset="0"/>
              </a:rPr>
              <a:t>Executive summary</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b="0" i="0" u="none" strike="noStrike" kern="1200" baseline="0" dirty="0" smtClean="0">
                <a:solidFill>
                  <a:schemeClr val="tx1"/>
                </a:solidFill>
                <a:latin typeface="Arial" charset="0"/>
                <a:ea typeface="+mn-ea"/>
                <a:cs typeface="Arial" pitchFamily="34" charset="0"/>
              </a:rPr>
              <a:t>Security and threat prevention, which includes high risk applications; application vulnerability exploits; malware, botnets, and spyware/adware; and at-risk devices and hosts</a:t>
            </a:r>
          </a:p>
          <a:p>
            <a:pPr marL="171450" indent="-171450">
              <a:buFont typeface="Arial" panose="020B0604020202020204" pitchFamily="34" charset="0"/>
              <a:buChar char="•"/>
            </a:pPr>
            <a:r>
              <a:rPr lang="en-CA" dirty="0" smtClean="0"/>
              <a:t>User productivity,</a:t>
            </a:r>
            <a:r>
              <a:rPr lang="en-CA" baseline="0" dirty="0" smtClean="0"/>
              <a:t> which includes application usage and web usage</a:t>
            </a:r>
            <a:endParaRPr lang="en-CA" dirty="0" smtClean="0"/>
          </a:p>
          <a:p>
            <a:endParaRPr lang="en-US" dirty="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61</a:t>
            </a:fld>
            <a:endParaRPr lang="en-US" altLang="en-US"/>
          </a:p>
        </p:txBody>
      </p:sp>
    </p:spTree>
    <p:extLst>
      <p:ext uri="{BB962C8B-B14F-4D97-AF65-F5344CB8AC3E}">
        <p14:creationId xmlns:p14="http://schemas.microsoft.com/office/powerpoint/2010/main" val="94975425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aseline="0" dirty="0" smtClean="0"/>
              <a:t>You can configure report options, run reports on demand, and view reports from the </a:t>
            </a:r>
            <a:r>
              <a:rPr lang="en-CA" sz="1200" b="1" u="none" strike="noStrike" kern="1200" baseline="0" dirty="0" smtClean="0">
                <a:solidFill>
                  <a:schemeClr val="tx1"/>
                </a:solidFill>
                <a:latin typeface="Arial" charset="0"/>
                <a:ea typeface="+mn-ea"/>
                <a:cs typeface="Arial" pitchFamily="34" charset="0"/>
              </a:rPr>
              <a:t>Local Reports </a:t>
            </a:r>
            <a:r>
              <a:rPr lang="en-CA" baseline="0" dirty="0" smtClean="0"/>
              <a:t>page. </a:t>
            </a:r>
          </a:p>
          <a:p>
            <a:endParaRPr lang="en-CA" baseline="0" dirty="0" smtClean="0"/>
          </a:p>
          <a:p>
            <a:r>
              <a:rPr lang="en-CA" baseline="0" dirty="0" smtClean="0"/>
              <a:t>Report options include specifying a schedule to run a report (for example, daily or weekly at a specific time of day), and specifying whether to email the generated reports. If you do not want to schedule reports, you can choose to generate on demand instead. You can run on demand reports even if scheduling is enabled by clicking </a:t>
            </a:r>
            <a:r>
              <a:rPr lang="en-CA" b="1" baseline="0" dirty="0" smtClean="0"/>
              <a:t>Run Now</a:t>
            </a:r>
            <a:r>
              <a:rPr lang="en-CA" baseline="0" dirty="0" smtClean="0"/>
              <a:t>.</a:t>
            </a:r>
          </a:p>
          <a:p>
            <a:endParaRPr lang="en-CA" baseline="0" dirty="0" smtClean="0"/>
          </a:p>
          <a:p>
            <a:r>
              <a:rPr lang="en-CA" baseline="0" dirty="0" smtClean="0"/>
              <a:t>You can view all generated reports from the </a:t>
            </a:r>
            <a:r>
              <a:rPr lang="en-CA" b="1" baseline="0" dirty="0" smtClean="0"/>
              <a:t>Historical Reports </a:t>
            </a:r>
            <a:r>
              <a:rPr lang="en-CA" baseline="0" dirty="0" smtClean="0"/>
              <a:t>table.</a:t>
            </a:r>
            <a:endParaRPr lang="en-CA" dirty="0"/>
          </a:p>
        </p:txBody>
      </p:sp>
      <p:sp>
        <p:nvSpPr>
          <p:cNvPr id="4" name="Slide Number Placeholder 3"/>
          <p:cNvSpPr>
            <a:spLocks noGrp="1"/>
          </p:cNvSpPr>
          <p:nvPr>
            <p:ph type="sldNum" sz="quarter" idx="10"/>
          </p:nvPr>
        </p:nvSpPr>
        <p:spPr/>
        <p:txBody>
          <a:bodyPr/>
          <a:lstStyle/>
          <a:p>
            <a:pPr>
              <a:defRPr/>
            </a:pPr>
            <a:fld id="{012C8814-C8D6-4323-B49E-12841A6BBC7D}" type="slidenum">
              <a:rPr lang="en-US" altLang="en-US" smtClean="0"/>
              <a:pPr>
                <a:defRPr/>
              </a:pPr>
              <a:t>62</a:t>
            </a:fld>
            <a:endParaRPr lang="en-US" altLang="en-US"/>
          </a:p>
        </p:txBody>
      </p:sp>
    </p:spTree>
    <p:extLst>
      <p:ext uri="{BB962C8B-B14F-4D97-AF65-F5344CB8AC3E}">
        <p14:creationId xmlns:p14="http://schemas.microsoft.com/office/powerpoint/2010/main" val="29945045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3B4C34E-EB69-4CBD-A85D-3B561193F290}" type="datetimeFigureOut">
              <a:rPr lang="en-SG" smtClean="0"/>
              <a:t>22/3/2018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082B36DB-EE43-45A2-8917-6A3A80077050}" type="slidenum">
              <a:rPr lang="en-SG" smtClean="0"/>
              <a:t>‹#›</a:t>
            </a:fld>
            <a:endParaRPr lang="en-SG"/>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1012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3B4C34E-EB69-4CBD-A85D-3B561193F290}" type="datetimeFigureOut">
              <a:rPr lang="en-SG" smtClean="0"/>
              <a:t>22/3/2018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082B36DB-EE43-45A2-8917-6A3A80077050}" type="slidenum">
              <a:rPr lang="en-SG" smtClean="0"/>
              <a:t>‹#›</a:t>
            </a:fld>
            <a:endParaRPr lang="en-SG"/>
          </a:p>
        </p:txBody>
      </p:sp>
    </p:spTree>
    <p:extLst>
      <p:ext uri="{BB962C8B-B14F-4D97-AF65-F5344CB8AC3E}">
        <p14:creationId xmlns:p14="http://schemas.microsoft.com/office/powerpoint/2010/main" val="4264505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3B4C34E-EB69-4CBD-A85D-3B561193F290}" type="datetimeFigureOut">
              <a:rPr lang="en-SG" smtClean="0"/>
              <a:t>22/3/2018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082B36DB-EE43-45A2-8917-6A3A80077050}" type="slidenum">
              <a:rPr lang="en-SG" smtClean="0"/>
              <a:t>‹#›</a:t>
            </a:fld>
            <a:endParaRPr lang="en-SG"/>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6014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3B4C34E-EB69-4CBD-A85D-3B561193F290}" type="datetimeFigureOut">
              <a:rPr lang="en-SG" smtClean="0"/>
              <a:t>22/3/2018</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082B36DB-EE43-45A2-8917-6A3A80077050}" type="slidenum">
              <a:rPr lang="en-SG" smtClean="0"/>
              <a:t>‹#›</a:t>
            </a:fld>
            <a:endParaRPr lang="en-SG"/>
          </a:p>
        </p:txBody>
      </p:sp>
    </p:spTree>
    <p:extLst>
      <p:ext uri="{BB962C8B-B14F-4D97-AF65-F5344CB8AC3E}">
        <p14:creationId xmlns:p14="http://schemas.microsoft.com/office/powerpoint/2010/main" val="34766918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3B4C34E-EB69-4CBD-A85D-3B561193F290}" type="datetimeFigureOut">
              <a:rPr lang="en-SG" smtClean="0"/>
              <a:t>22/3/2018</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082B36DB-EE43-45A2-8917-6A3A80077050}" type="slidenum">
              <a:rPr lang="en-SG" smtClean="0"/>
              <a:t>‹#›</a:t>
            </a:fld>
            <a:endParaRPr lang="en-SG"/>
          </a:p>
        </p:txBody>
      </p:sp>
    </p:spTree>
    <p:extLst>
      <p:ext uri="{BB962C8B-B14F-4D97-AF65-F5344CB8AC3E}">
        <p14:creationId xmlns:p14="http://schemas.microsoft.com/office/powerpoint/2010/main" val="1541102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3B4C34E-EB69-4CBD-A85D-3B561193F290}" type="datetimeFigureOut">
              <a:rPr lang="en-SG" smtClean="0"/>
              <a:t>22/3/2018</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082B36DB-EE43-45A2-8917-6A3A80077050}" type="slidenum">
              <a:rPr lang="en-SG" smtClean="0"/>
              <a:t>‹#›</a:t>
            </a:fld>
            <a:endParaRPr lang="en-SG"/>
          </a:p>
        </p:txBody>
      </p:sp>
    </p:spTree>
    <p:extLst>
      <p:ext uri="{BB962C8B-B14F-4D97-AF65-F5344CB8AC3E}">
        <p14:creationId xmlns:p14="http://schemas.microsoft.com/office/powerpoint/2010/main" val="2378148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3B4C34E-EB69-4CBD-A85D-3B561193F290}" type="datetimeFigureOut">
              <a:rPr lang="en-SG" smtClean="0"/>
              <a:t>22/3/2018</a:t>
            </a:fld>
            <a:endParaRPr lang="en-SG"/>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SG"/>
          </a:p>
        </p:txBody>
      </p:sp>
      <p:sp>
        <p:nvSpPr>
          <p:cNvPr id="9" name="Slide Number Placeholder 8"/>
          <p:cNvSpPr>
            <a:spLocks noGrp="1"/>
          </p:cNvSpPr>
          <p:nvPr>
            <p:ph type="sldNum" sz="quarter" idx="12"/>
          </p:nvPr>
        </p:nvSpPr>
        <p:spPr/>
        <p:txBody>
          <a:bodyPr/>
          <a:lstStyle/>
          <a:p>
            <a:fld id="{082B36DB-EE43-45A2-8917-6A3A80077050}" type="slidenum">
              <a:rPr lang="en-SG" smtClean="0"/>
              <a:t>‹#›</a:t>
            </a:fld>
            <a:endParaRPr lang="en-SG"/>
          </a:p>
        </p:txBody>
      </p:sp>
    </p:spTree>
    <p:extLst>
      <p:ext uri="{BB962C8B-B14F-4D97-AF65-F5344CB8AC3E}">
        <p14:creationId xmlns:p14="http://schemas.microsoft.com/office/powerpoint/2010/main" val="1865844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3B4C34E-EB69-4CBD-A85D-3B561193F290}" type="datetimeFigureOut">
              <a:rPr lang="en-SG" smtClean="0"/>
              <a:t>22/3/2018</a:t>
            </a:fld>
            <a:endParaRPr lang="en-SG"/>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SG"/>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082B36DB-EE43-45A2-8917-6A3A80077050}" type="slidenum">
              <a:rPr lang="en-SG" smtClean="0"/>
              <a:t>‹#›</a:t>
            </a:fld>
            <a:endParaRPr lang="en-SG"/>
          </a:p>
        </p:txBody>
      </p:sp>
    </p:spTree>
    <p:extLst>
      <p:ext uri="{BB962C8B-B14F-4D97-AF65-F5344CB8AC3E}">
        <p14:creationId xmlns:p14="http://schemas.microsoft.com/office/powerpoint/2010/main" val="1917510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B4C34E-EB69-4CBD-A85D-3B561193F290}" type="datetimeFigureOut">
              <a:rPr lang="en-SG" smtClean="0"/>
              <a:t>22/3/2018</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082B36DB-EE43-45A2-8917-6A3A80077050}" type="slidenum">
              <a:rPr lang="en-SG" smtClean="0"/>
              <a:t>‹#›</a:t>
            </a:fld>
            <a:endParaRPr lang="en-SG"/>
          </a:p>
        </p:txBody>
      </p:sp>
    </p:spTree>
    <p:extLst>
      <p:ext uri="{BB962C8B-B14F-4D97-AF65-F5344CB8AC3E}">
        <p14:creationId xmlns:p14="http://schemas.microsoft.com/office/powerpoint/2010/main" val="20761427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3B4C34E-EB69-4CBD-A85D-3B561193F290}" type="datetimeFigureOut">
              <a:rPr lang="en-SG" smtClean="0"/>
              <a:t>22/3/2018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082B36DB-EE43-45A2-8917-6A3A80077050}" type="slidenum">
              <a:rPr lang="en-SG" smtClean="0"/>
              <a:t>‹#›</a:t>
            </a:fld>
            <a:endParaRPr lang="en-SG"/>
          </a:p>
        </p:txBody>
      </p:sp>
    </p:spTree>
    <p:extLst>
      <p:ext uri="{BB962C8B-B14F-4D97-AF65-F5344CB8AC3E}">
        <p14:creationId xmlns:p14="http://schemas.microsoft.com/office/powerpoint/2010/main" val="718824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3B4C34E-EB69-4CBD-A85D-3B561193F290}" type="datetimeFigureOut">
              <a:rPr lang="en-SG" smtClean="0"/>
              <a:t>22/3/2018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082B36DB-EE43-45A2-8917-6A3A80077050}" type="slidenum">
              <a:rPr lang="en-SG" smtClean="0"/>
              <a:t>‹#›</a:t>
            </a:fld>
            <a:endParaRPr lang="en-SG"/>
          </a:p>
        </p:txBody>
      </p:sp>
    </p:spTree>
    <p:extLst>
      <p:ext uri="{BB962C8B-B14F-4D97-AF65-F5344CB8AC3E}">
        <p14:creationId xmlns:p14="http://schemas.microsoft.com/office/powerpoint/2010/main" val="38170578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3B4C34E-EB69-4CBD-A85D-3B561193F290}" type="datetimeFigureOut">
              <a:rPr lang="en-SG" smtClean="0"/>
              <a:t>22/3/2018</a:t>
            </a:fld>
            <a:endParaRPr lang="en-SG"/>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SG"/>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082B36DB-EE43-45A2-8917-6A3A80077050}" type="slidenum">
              <a:rPr lang="en-SG" smtClean="0"/>
              <a:t>‹#›</a:t>
            </a:fld>
            <a:endParaRPr lang="en-SG"/>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5576580"/>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SG" sz="4800" dirty="0"/>
              <a:t>Chapter 6 - Network firewall IPS and Anti-virus configuration</a:t>
            </a:r>
          </a:p>
        </p:txBody>
      </p:sp>
      <p:sp>
        <p:nvSpPr>
          <p:cNvPr id="3" name="Subtitle 2"/>
          <p:cNvSpPr>
            <a:spLocks noGrp="1"/>
          </p:cNvSpPr>
          <p:nvPr>
            <p:ph type="subTitle" idx="1"/>
          </p:nvPr>
        </p:nvSpPr>
        <p:spPr/>
        <p:txBody>
          <a:bodyPr/>
          <a:lstStyle/>
          <a:p>
            <a:endParaRPr lang="en-SG" dirty="0"/>
          </a:p>
        </p:txBody>
      </p:sp>
    </p:spTree>
    <p:extLst>
      <p:ext uri="{BB962C8B-B14F-4D97-AF65-F5344CB8AC3E}">
        <p14:creationId xmlns:p14="http://schemas.microsoft.com/office/powerpoint/2010/main" val="389452860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64664" y="268224"/>
            <a:ext cx="7896458" cy="1046440"/>
          </a:xfrm>
        </p:spPr>
        <p:txBody>
          <a:bodyPr>
            <a:normAutofit/>
          </a:bodyPr>
          <a:lstStyle/>
          <a:p>
            <a:r>
              <a:rPr lang="en-SG" dirty="0" smtClean="0"/>
              <a:t>IDS/IPS and its role in security</a:t>
            </a:r>
            <a:endParaRPr lang="en-SG" dirty="0"/>
          </a:p>
        </p:txBody>
      </p:sp>
      <p:sp>
        <p:nvSpPr>
          <p:cNvPr id="5" name="Content Placeholder 2"/>
          <p:cNvSpPr>
            <a:spLocks noGrp="1"/>
          </p:cNvSpPr>
          <p:nvPr>
            <p:ph idx="1"/>
          </p:nvPr>
        </p:nvSpPr>
        <p:spPr>
          <a:xfrm>
            <a:off x="2514600" y="2081704"/>
            <a:ext cx="6858000" cy="4719360"/>
          </a:xfrm>
        </p:spPr>
        <p:txBody>
          <a:bodyPr>
            <a:normAutofit/>
          </a:bodyPr>
          <a:lstStyle/>
          <a:p>
            <a:pPr marL="101600" indent="0">
              <a:buNone/>
            </a:pPr>
            <a:r>
              <a:rPr lang="en-US" sz="2500" dirty="0"/>
              <a:t>IDS </a:t>
            </a:r>
          </a:p>
          <a:p>
            <a:pPr marL="95250" indent="6350"/>
            <a:r>
              <a:rPr lang="en-US" sz="2500" dirty="0"/>
              <a:t>A </a:t>
            </a:r>
            <a:r>
              <a:rPr lang="en-US" sz="2500" u="sng" dirty="0"/>
              <a:t>device or software application</a:t>
            </a:r>
            <a:r>
              <a:rPr lang="en-US" sz="2500" dirty="0"/>
              <a:t> that </a:t>
            </a:r>
            <a:r>
              <a:rPr lang="en-US" sz="2500" u="sng" dirty="0"/>
              <a:t>DETECTS and alert </a:t>
            </a:r>
            <a:r>
              <a:rPr lang="en-SG" sz="2500" dirty="0"/>
              <a:t>computer or network breaches.</a:t>
            </a:r>
          </a:p>
          <a:p>
            <a:pPr marL="438150" indent="-336550"/>
            <a:endParaRPr lang="en-SG" sz="2500" b="1" dirty="0"/>
          </a:p>
          <a:p>
            <a:pPr marL="95250" indent="6350"/>
            <a:r>
              <a:rPr lang="en-SG" sz="2500" u="sng" dirty="0"/>
              <a:t>Reporting</a:t>
            </a:r>
            <a:r>
              <a:rPr lang="en-SG" sz="2500" dirty="0"/>
              <a:t> tools to help administrators </a:t>
            </a:r>
            <a:r>
              <a:rPr lang="en-SG" sz="2500" dirty="0" err="1"/>
              <a:t>analyze</a:t>
            </a:r>
            <a:r>
              <a:rPr lang="en-SG" sz="2500" dirty="0"/>
              <a:t> the data interactively during &amp; after the incident</a:t>
            </a:r>
          </a:p>
        </p:txBody>
      </p:sp>
    </p:spTree>
    <p:extLst>
      <p:ext uri="{BB962C8B-B14F-4D97-AF65-F5344CB8AC3E}">
        <p14:creationId xmlns:p14="http://schemas.microsoft.com/office/powerpoint/2010/main" val="429338769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262589" y="271272"/>
            <a:ext cx="7896458" cy="1046440"/>
          </a:xfrm>
        </p:spPr>
        <p:txBody>
          <a:bodyPr>
            <a:normAutofit/>
          </a:bodyPr>
          <a:lstStyle/>
          <a:p>
            <a:r>
              <a:rPr lang="en-SG" dirty="0"/>
              <a:t>IDS/IPS and its role in security</a:t>
            </a:r>
          </a:p>
        </p:txBody>
      </p:sp>
      <p:sp>
        <p:nvSpPr>
          <p:cNvPr id="3" name="Content Placeholder 2"/>
          <p:cNvSpPr>
            <a:spLocks noGrp="1"/>
          </p:cNvSpPr>
          <p:nvPr>
            <p:ph idx="1"/>
          </p:nvPr>
        </p:nvSpPr>
        <p:spPr>
          <a:xfrm>
            <a:off x="1892818" y="2057400"/>
            <a:ext cx="8636000" cy="4231928"/>
          </a:xfrm>
        </p:spPr>
        <p:txBody>
          <a:bodyPr>
            <a:noAutofit/>
          </a:bodyPr>
          <a:lstStyle/>
          <a:p>
            <a:pPr marL="101600" indent="0">
              <a:buNone/>
            </a:pPr>
            <a:r>
              <a:rPr lang="en-SG" sz="2500" u="sng" dirty="0"/>
              <a:t>Types of breaches</a:t>
            </a:r>
            <a:br>
              <a:rPr lang="en-SG" sz="2500" u="sng" dirty="0"/>
            </a:br>
            <a:endParaRPr lang="en-SG" sz="2500" u="sng" dirty="0"/>
          </a:p>
          <a:p>
            <a:pPr marL="342900" indent="-342900">
              <a:buFont typeface="Arial" panose="020B0604020202020204" pitchFamily="34" charset="0"/>
              <a:buChar char="•"/>
            </a:pPr>
            <a:r>
              <a:rPr lang="en-SG" sz="2500" u="sng" dirty="0"/>
              <a:t>Security policy violations</a:t>
            </a:r>
            <a:r>
              <a:rPr lang="en-SG" sz="2500" dirty="0"/>
              <a:t>: Systems or users who are running applications </a:t>
            </a:r>
            <a:r>
              <a:rPr lang="en-SG" sz="2500" u="sng" dirty="0"/>
              <a:t>against</a:t>
            </a:r>
            <a:r>
              <a:rPr lang="en-SG" sz="2500" dirty="0"/>
              <a:t> </a:t>
            </a:r>
            <a:r>
              <a:rPr lang="en-SG" sz="2500" dirty="0" smtClean="0"/>
              <a:t>policy</a:t>
            </a:r>
            <a:endParaRPr lang="en-SG" sz="2500" dirty="0"/>
          </a:p>
          <a:p>
            <a:pPr marL="342900" indent="-342900">
              <a:buFont typeface="Arial" panose="020B0604020202020204" pitchFamily="34" charset="0"/>
              <a:buChar char="•"/>
            </a:pPr>
            <a:r>
              <a:rPr lang="en-SG" sz="2500" u="sng" dirty="0"/>
              <a:t>Infections</a:t>
            </a:r>
            <a:r>
              <a:rPr lang="en-SG" sz="2500" dirty="0"/>
              <a:t>: Viruses or Trojan horses that have partial or full control of internal systems, using them to spread infection and attack other </a:t>
            </a:r>
            <a:r>
              <a:rPr lang="en-SG" sz="2500" dirty="0" smtClean="0"/>
              <a:t>systems</a:t>
            </a:r>
            <a:endParaRPr lang="en-SG" sz="2500" dirty="0"/>
          </a:p>
          <a:p>
            <a:pPr marL="342900" indent="-342900">
              <a:buFont typeface="Arial" panose="020B0604020202020204" pitchFamily="34" charset="0"/>
              <a:buChar char="•"/>
            </a:pPr>
            <a:r>
              <a:rPr lang="en-SG" sz="2500" u="sng" dirty="0"/>
              <a:t>Information leakage</a:t>
            </a:r>
            <a:r>
              <a:rPr lang="en-SG" sz="2500" dirty="0"/>
              <a:t> : Running spyware and key loggers, as well as accidental information leakage by valid users</a:t>
            </a:r>
          </a:p>
        </p:txBody>
      </p:sp>
    </p:spTree>
    <p:extLst>
      <p:ext uri="{BB962C8B-B14F-4D97-AF65-F5344CB8AC3E}">
        <p14:creationId xmlns:p14="http://schemas.microsoft.com/office/powerpoint/2010/main" val="2993439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276856" y="271272"/>
            <a:ext cx="7896458" cy="1046440"/>
          </a:xfrm>
        </p:spPr>
        <p:txBody>
          <a:bodyPr>
            <a:normAutofit/>
          </a:bodyPr>
          <a:lstStyle/>
          <a:p>
            <a:r>
              <a:rPr lang="en-SG" dirty="0"/>
              <a:t>IDS/IPS and its role in security</a:t>
            </a:r>
          </a:p>
        </p:txBody>
      </p:sp>
      <p:sp>
        <p:nvSpPr>
          <p:cNvPr id="3" name="Content Placeholder 2"/>
          <p:cNvSpPr>
            <a:spLocks noGrp="1"/>
          </p:cNvSpPr>
          <p:nvPr>
            <p:ph idx="1"/>
          </p:nvPr>
        </p:nvSpPr>
        <p:spPr>
          <a:xfrm>
            <a:off x="1907085" y="1905000"/>
            <a:ext cx="8636000" cy="4231928"/>
          </a:xfrm>
        </p:spPr>
        <p:txBody>
          <a:bodyPr>
            <a:normAutofit/>
          </a:bodyPr>
          <a:lstStyle/>
          <a:p>
            <a:pPr marL="0" indent="0">
              <a:buNone/>
            </a:pPr>
            <a:endParaRPr lang="en-SG" sz="2500" dirty="0"/>
          </a:p>
          <a:p>
            <a:pPr marL="342900" indent="-342900">
              <a:buFont typeface="Arial" panose="020B0604020202020204" pitchFamily="34" charset="0"/>
              <a:buChar char="•"/>
            </a:pPr>
            <a:r>
              <a:rPr lang="en-SG" sz="2500" u="sng" dirty="0"/>
              <a:t>Configuration errors</a:t>
            </a:r>
            <a:r>
              <a:rPr lang="en-SG" sz="2500" dirty="0"/>
              <a:t>: Applications or systems with incorrect security settings or performance-killing network misconfiguration, as well as misconfigured firewalls where the </a:t>
            </a:r>
            <a:r>
              <a:rPr lang="en-SG" sz="2500" u="sng" dirty="0"/>
              <a:t>rule set does not match </a:t>
            </a:r>
            <a:r>
              <a:rPr lang="en-SG" sz="2500" u="sng" dirty="0" smtClean="0"/>
              <a:t>policy</a:t>
            </a:r>
            <a:endParaRPr lang="en-SG" sz="2500" dirty="0"/>
          </a:p>
          <a:p>
            <a:pPr marL="342900" indent="-342900">
              <a:buFont typeface="Arial" panose="020B0604020202020204" pitchFamily="34" charset="0"/>
              <a:buChar char="•"/>
            </a:pPr>
            <a:r>
              <a:rPr lang="en-SG" sz="2500" u="sng" dirty="0"/>
              <a:t>Unauthorized clients and servers including network-threatening server applications</a:t>
            </a:r>
            <a:r>
              <a:rPr lang="en-SG" sz="2500" dirty="0"/>
              <a:t> : DHCP or DNS service, along with </a:t>
            </a:r>
            <a:r>
              <a:rPr lang="en-SG" sz="2500" u="sng" dirty="0"/>
              <a:t>unauthorized applications</a:t>
            </a:r>
            <a:r>
              <a:rPr lang="en-SG" sz="2500" dirty="0"/>
              <a:t> such as network scanning tools or unsecured remote desktop.</a:t>
            </a:r>
          </a:p>
        </p:txBody>
      </p:sp>
    </p:spTree>
    <p:extLst>
      <p:ext uri="{BB962C8B-B14F-4D97-AF65-F5344CB8AC3E}">
        <p14:creationId xmlns:p14="http://schemas.microsoft.com/office/powerpoint/2010/main" val="756801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669698" y="457200"/>
            <a:ext cx="7896458" cy="1046440"/>
          </a:xfrm>
        </p:spPr>
        <p:txBody>
          <a:bodyPr>
            <a:normAutofit/>
          </a:bodyPr>
          <a:lstStyle/>
          <a:p>
            <a:r>
              <a:rPr lang="en-SG" dirty="0"/>
              <a:t>IDS/IPS and its role in security</a:t>
            </a:r>
          </a:p>
        </p:txBody>
      </p:sp>
      <p:sp>
        <p:nvSpPr>
          <p:cNvPr id="3" name="Content Placeholder 2"/>
          <p:cNvSpPr>
            <a:spLocks noGrp="1"/>
          </p:cNvSpPr>
          <p:nvPr>
            <p:ph idx="1"/>
          </p:nvPr>
        </p:nvSpPr>
        <p:spPr>
          <a:xfrm>
            <a:off x="1911106" y="1752600"/>
            <a:ext cx="8636000" cy="4616648"/>
          </a:xfrm>
        </p:spPr>
        <p:txBody>
          <a:bodyPr>
            <a:normAutofit fontScale="92500" lnSpcReduction="20000"/>
          </a:bodyPr>
          <a:lstStyle/>
          <a:p>
            <a:pPr marL="101600" indent="0">
              <a:buNone/>
            </a:pPr>
            <a:r>
              <a:rPr lang="en-SG" sz="2500" u="sng" dirty="0"/>
              <a:t>Key takeaways for IDS</a:t>
            </a:r>
          </a:p>
          <a:p>
            <a:endParaRPr lang="en-SG" sz="2500" dirty="0"/>
          </a:p>
          <a:p>
            <a:pPr marL="342900" indent="-342900">
              <a:buFont typeface="Arial" panose="020B0604020202020204" pitchFamily="34" charset="0"/>
              <a:buChar char="•"/>
            </a:pPr>
            <a:r>
              <a:rPr lang="en-SG" sz="2500" dirty="0"/>
              <a:t>Extended by IPS by adding the ability to block threats, which became the dominant deployment option.</a:t>
            </a:r>
          </a:p>
          <a:p>
            <a:pPr marL="342900" indent="-342900">
              <a:buFont typeface="Arial" panose="020B0604020202020204" pitchFamily="34" charset="0"/>
              <a:buChar char="•"/>
            </a:pPr>
            <a:endParaRPr lang="en-SG" sz="2500" dirty="0"/>
          </a:p>
          <a:p>
            <a:pPr marL="342900" indent="-342900">
              <a:buFont typeface="Arial" panose="020B0604020202020204" pitchFamily="34" charset="0"/>
              <a:buChar char="•"/>
            </a:pPr>
            <a:r>
              <a:rPr lang="en-SG" sz="2500" dirty="0"/>
              <a:t>A listen-only device.</a:t>
            </a:r>
          </a:p>
          <a:p>
            <a:pPr marL="342900" indent="-342900">
              <a:buFont typeface="Arial" panose="020B0604020202020204" pitchFamily="34" charset="0"/>
              <a:buChar char="•"/>
            </a:pPr>
            <a:endParaRPr lang="en-SG" sz="2500" dirty="0"/>
          </a:p>
          <a:p>
            <a:pPr marL="342900" indent="-342900">
              <a:buFont typeface="Arial" panose="020B0604020202020204" pitchFamily="34" charset="0"/>
              <a:buChar char="•"/>
            </a:pPr>
            <a:r>
              <a:rPr lang="en-SG" sz="2500" dirty="0"/>
              <a:t>Capable attackers which can exploit vulnerabilities very quickly often render IDS useless as a preventive measure.</a:t>
            </a:r>
          </a:p>
          <a:p>
            <a:pPr marL="342900" indent="-342900">
              <a:buFont typeface="Arial" panose="020B0604020202020204" pitchFamily="34" charset="0"/>
              <a:buChar char="•"/>
            </a:pPr>
            <a:endParaRPr lang="en-SG" sz="2500" dirty="0"/>
          </a:p>
          <a:p>
            <a:pPr marL="342900" indent="-342900">
              <a:buFont typeface="Arial" panose="020B0604020202020204" pitchFamily="34" charset="0"/>
              <a:buChar char="•"/>
            </a:pPr>
            <a:r>
              <a:rPr lang="en-SG" sz="2500" dirty="0"/>
              <a:t>Detection usually achieved by using copies of network traffic to reduce impact on network performance	</a:t>
            </a:r>
          </a:p>
        </p:txBody>
      </p:sp>
    </p:spTree>
    <p:extLst>
      <p:ext uri="{BB962C8B-B14F-4D97-AF65-F5344CB8AC3E}">
        <p14:creationId xmlns:p14="http://schemas.microsoft.com/office/powerpoint/2010/main" val="4116606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4971" y="687110"/>
            <a:ext cx="7896458" cy="1046440"/>
          </a:xfrm>
        </p:spPr>
        <p:txBody>
          <a:bodyPr>
            <a:normAutofit/>
          </a:bodyPr>
          <a:lstStyle/>
          <a:p>
            <a:r>
              <a:rPr lang="en-SG" dirty="0" smtClean="0"/>
              <a:t>IDS/IPS and its role in security</a:t>
            </a:r>
            <a:endParaRPr lang="en-SG" dirty="0"/>
          </a:p>
        </p:txBody>
      </p:sp>
      <p:sp>
        <p:nvSpPr>
          <p:cNvPr id="5" name="Content Placeholder 2"/>
          <p:cNvSpPr>
            <a:spLocks noGrp="1"/>
          </p:cNvSpPr>
          <p:nvPr>
            <p:ph idx="1"/>
          </p:nvPr>
        </p:nvSpPr>
        <p:spPr>
          <a:xfrm>
            <a:off x="1531792" y="1905000"/>
            <a:ext cx="4724400" cy="4592360"/>
          </a:xfrm>
        </p:spPr>
        <p:txBody>
          <a:bodyPr>
            <a:normAutofit fontScale="92500" lnSpcReduction="10000"/>
          </a:bodyPr>
          <a:lstStyle/>
          <a:p>
            <a:pPr marL="101600" indent="0">
              <a:buNone/>
            </a:pPr>
            <a:r>
              <a:rPr lang="en-US" sz="2500" u="sng" dirty="0"/>
              <a:t>IPS</a:t>
            </a:r>
            <a:r>
              <a:rPr lang="en-US" sz="2500" dirty="0"/>
              <a:t> </a:t>
            </a:r>
          </a:p>
          <a:p>
            <a:pPr marL="438150" indent="-336550"/>
            <a:r>
              <a:rPr lang="en-US" sz="2500" dirty="0"/>
              <a:t> </a:t>
            </a:r>
            <a:r>
              <a:rPr lang="en-SG" sz="2500" dirty="0"/>
              <a:t>A device that monitors network and/or system activities for malicious or unwanted </a:t>
            </a:r>
            <a:r>
              <a:rPr lang="en-SG" sz="2500" dirty="0" err="1"/>
              <a:t>behavior</a:t>
            </a:r>
            <a:r>
              <a:rPr lang="en-SG" sz="2500" dirty="0"/>
              <a:t> and react in </a:t>
            </a:r>
            <a:r>
              <a:rPr lang="en-SG" sz="2500" u="sng" dirty="0"/>
              <a:t>real-time</a:t>
            </a:r>
            <a:r>
              <a:rPr lang="en-SG" sz="2500" dirty="0"/>
              <a:t>.</a:t>
            </a:r>
          </a:p>
          <a:p>
            <a:pPr marL="438150" indent="-336550"/>
            <a:r>
              <a:rPr lang="en-US" sz="2500" dirty="0"/>
              <a:t>Works </a:t>
            </a:r>
            <a:r>
              <a:rPr lang="en-US" sz="2500" u="sng" dirty="0"/>
              <a:t>like a firewall</a:t>
            </a:r>
            <a:r>
              <a:rPr lang="en-US" sz="2500" dirty="0"/>
              <a:t> but instead of finding reasons to let a packet pass through, it looks for reasons to </a:t>
            </a:r>
            <a:r>
              <a:rPr lang="en-US" sz="2500" u="sng" dirty="0"/>
              <a:t>BLOCK</a:t>
            </a:r>
            <a:r>
              <a:rPr lang="en-US" sz="2500" dirty="0"/>
              <a:t> the packet into the network.</a:t>
            </a:r>
          </a:p>
          <a:p>
            <a:pPr marL="438150" indent="-336550"/>
            <a:r>
              <a:rPr lang="en-SG" sz="2500" dirty="0"/>
              <a:t>A </a:t>
            </a:r>
            <a:r>
              <a:rPr lang="en-SG" sz="2500" u="sng" dirty="0"/>
              <a:t>proactive</a:t>
            </a:r>
            <a:r>
              <a:rPr lang="en-SG" sz="2500" dirty="0"/>
              <a:t> mechanism that has the ability to detect attacks as in IDS and prevent the attacks from being successful.</a:t>
            </a:r>
            <a:endParaRPr lang="en-US" sz="2500" dirty="0"/>
          </a:p>
        </p:txBody>
      </p:sp>
      <p:pic>
        <p:nvPicPr>
          <p:cNvPr id="3" name="Picture 2"/>
          <p:cNvPicPr>
            <a:picLocks noChangeAspect="1"/>
          </p:cNvPicPr>
          <p:nvPr/>
        </p:nvPicPr>
        <p:blipFill>
          <a:blip r:embed="rId3"/>
          <a:stretch>
            <a:fillRect/>
          </a:stretch>
        </p:blipFill>
        <p:spPr>
          <a:xfrm>
            <a:off x="6553200" y="1752600"/>
            <a:ext cx="4321956" cy="3505200"/>
          </a:xfrm>
          <a:prstGeom prst="rect">
            <a:avLst/>
          </a:prstGeom>
        </p:spPr>
      </p:pic>
    </p:spTree>
    <p:extLst>
      <p:ext uri="{BB962C8B-B14F-4D97-AF65-F5344CB8AC3E}">
        <p14:creationId xmlns:p14="http://schemas.microsoft.com/office/powerpoint/2010/main" val="3555941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650648" y="609600"/>
            <a:ext cx="7896458" cy="1046440"/>
          </a:xfrm>
        </p:spPr>
        <p:txBody>
          <a:bodyPr>
            <a:normAutofit/>
          </a:bodyPr>
          <a:lstStyle/>
          <a:p>
            <a:r>
              <a:rPr lang="en-SG" dirty="0"/>
              <a:t>IDS/IPS and its role in security</a:t>
            </a:r>
          </a:p>
        </p:txBody>
      </p:sp>
      <p:sp>
        <p:nvSpPr>
          <p:cNvPr id="3" name="Content Placeholder 2"/>
          <p:cNvSpPr>
            <a:spLocks noGrp="1"/>
          </p:cNvSpPr>
          <p:nvPr>
            <p:ph idx="1"/>
          </p:nvPr>
        </p:nvSpPr>
        <p:spPr>
          <a:xfrm>
            <a:off x="1911106" y="1981200"/>
            <a:ext cx="8636000" cy="3462486"/>
          </a:xfrm>
        </p:spPr>
        <p:txBody>
          <a:bodyPr/>
          <a:lstStyle/>
          <a:p>
            <a:pPr marL="101600" indent="0">
              <a:buNone/>
            </a:pPr>
            <a:r>
              <a:rPr lang="en-SG" sz="2500" u="sng" dirty="0"/>
              <a:t>IPS preventive actions</a:t>
            </a:r>
          </a:p>
          <a:p>
            <a:endParaRPr lang="en-SG" sz="2500" dirty="0"/>
          </a:p>
          <a:p>
            <a:pPr marL="342900" indent="-342900"/>
            <a:r>
              <a:rPr lang="en-SG" sz="2500" u="sng" dirty="0"/>
              <a:t>Dropping the malicious packets</a:t>
            </a:r>
            <a:r>
              <a:rPr lang="en-SG" sz="2500" dirty="0"/>
              <a:t>: Identified via known signatures or hashes. Two types: Exploit-facing and Vulnerability-facing</a:t>
            </a:r>
          </a:p>
          <a:p>
            <a:pPr marL="342900" indent="-342900"/>
            <a:endParaRPr lang="en-SG" sz="2500" dirty="0"/>
          </a:p>
          <a:p>
            <a:pPr marL="342900" indent="-342900"/>
            <a:r>
              <a:rPr lang="en-SG" sz="2500" u="sng" dirty="0"/>
              <a:t>Blocking traffic from the source address</a:t>
            </a:r>
            <a:r>
              <a:rPr lang="en-SG" sz="2500" dirty="0"/>
              <a:t>: Deny traffic from known malicious URLs, domains</a:t>
            </a:r>
          </a:p>
          <a:p>
            <a:pPr marL="342900" indent="-342900">
              <a:buFontTx/>
              <a:buChar char="-"/>
            </a:pPr>
            <a:endParaRPr lang="en-SG" sz="2500" dirty="0"/>
          </a:p>
        </p:txBody>
      </p:sp>
    </p:spTree>
    <p:extLst>
      <p:ext uri="{BB962C8B-B14F-4D97-AF65-F5344CB8AC3E}">
        <p14:creationId xmlns:p14="http://schemas.microsoft.com/office/powerpoint/2010/main" val="1184258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643579" y="457200"/>
            <a:ext cx="7896458" cy="1046440"/>
          </a:xfrm>
        </p:spPr>
        <p:txBody>
          <a:bodyPr>
            <a:normAutofit/>
          </a:bodyPr>
          <a:lstStyle/>
          <a:p>
            <a:r>
              <a:rPr lang="en-SG" dirty="0"/>
              <a:t>IDS/IPS and its role in security</a:t>
            </a:r>
          </a:p>
        </p:txBody>
      </p:sp>
      <p:sp>
        <p:nvSpPr>
          <p:cNvPr id="3" name="Content Placeholder 2"/>
          <p:cNvSpPr>
            <a:spLocks noGrp="1"/>
          </p:cNvSpPr>
          <p:nvPr>
            <p:ph idx="1"/>
          </p:nvPr>
        </p:nvSpPr>
        <p:spPr>
          <a:xfrm>
            <a:off x="1904037" y="2057400"/>
            <a:ext cx="8636000" cy="4616648"/>
          </a:xfrm>
        </p:spPr>
        <p:txBody>
          <a:bodyPr>
            <a:normAutofit/>
          </a:bodyPr>
          <a:lstStyle/>
          <a:p>
            <a:pPr marL="342900" indent="-342900"/>
            <a:r>
              <a:rPr lang="en-SG" sz="2500" u="sng" dirty="0"/>
              <a:t>Statistical anomaly detection</a:t>
            </a:r>
            <a:r>
              <a:rPr lang="en-SG" sz="2500" dirty="0"/>
              <a:t>: Takes samples of network traffic at random and compares them to a pre-calculated baseline performance level. When this sample falls outside the parameters of baseline performance, the IPS takes action to handle the situation. </a:t>
            </a:r>
          </a:p>
          <a:p>
            <a:pPr marL="342900" indent="-342900"/>
            <a:endParaRPr lang="en-SG" sz="2500" dirty="0"/>
          </a:p>
          <a:p>
            <a:pPr marL="342900" indent="-342900"/>
            <a:r>
              <a:rPr lang="en-SG" sz="2500" u="sng" dirty="0"/>
              <a:t>Integration Capability</a:t>
            </a:r>
            <a:r>
              <a:rPr lang="en-SG" sz="2500" dirty="0"/>
              <a:t>: Commonly integrated into Unified Threat Management (UTM) solutions (for small and medium size companies) and next-generation firewalls (at the enterprise level).</a:t>
            </a:r>
          </a:p>
        </p:txBody>
      </p:sp>
    </p:spTree>
    <p:extLst>
      <p:ext uri="{BB962C8B-B14F-4D97-AF65-F5344CB8AC3E}">
        <p14:creationId xmlns:p14="http://schemas.microsoft.com/office/powerpoint/2010/main" val="1977201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652152" y="609600"/>
            <a:ext cx="7896458" cy="1046440"/>
          </a:xfrm>
        </p:spPr>
        <p:txBody>
          <a:bodyPr>
            <a:normAutofit/>
          </a:bodyPr>
          <a:lstStyle/>
          <a:p>
            <a:r>
              <a:rPr lang="en-SG" dirty="0"/>
              <a:t>IDS/IPS and its role in security</a:t>
            </a:r>
          </a:p>
        </p:txBody>
      </p:sp>
      <p:sp>
        <p:nvSpPr>
          <p:cNvPr id="3" name="Content Placeholder 2"/>
          <p:cNvSpPr>
            <a:spLocks noGrp="1"/>
          </p:cNvSpPr>
          <p:nvPr>
            <p:ph idx="1"/>
          </p:nvPr>
        </p:nvSpPr>
        <p:spPr>
          <a:xfrm>
            <a:off x="1912610" y="2133601"/>
            <a:ext cx="8636000" cy="4285159"/>
          </a:xfrm>
        </p:spPr>
        <p:txBody>
          <a:bodyPr>
            <a:normAutofit/>
          </a:bodyPr>
          <a:lstStyle/>
          <a:p>
            <a:pPr marL="101600" indent="0">
              <a:buNone/>
            </a:pPr>
            <a:r>
              <a:rPr lang="en-SG" sz="2500" u="sng" dirty="0"/>
              <a:t>Key takeaways for IPS</a:t>
            </a:r>
          </a:p>
          <a:p>
            <a:endParaRPr lang="en-SG" sz="2500" dirty="0"/>
          </a:p>
          <a:p>
            <a:r>
              <a:rPr lang="en-SG" sz="2500" dirty="0"/>
              <a:t>Needs tuning to match network and application to avoid </a:t>
            </a:r>
            <a:r>
              <a:rPr lang="en-SG" sz="2500" u="sng" dirty="0"/>
              <a:t>high rate of false positives</a:t>
            </a:r>
            <a:r>
              <a:rPr lang="en-SG" sz="2500" dirty="0"/>
              <a:t>.</a:t>
            </a:r>
          </a:p>
          <a:p>
            <a:pPr marL="342900" indent="-342900"/>
            <a:endParaRPr lang="en-SG" sz="2500" dirty="0"/>
          </a:p>
          <a:p>
            <a:r>
              <a:rPr lang="en-SG" sz="2500" dirty="0"/>
              <a:t>Outstanding tool employed in </a:t>
            </a:r>
            <a:r>
              <a:rPr lang="en-SG" sz="2500" u="sng" dirty="0"/>
              <a:t>defence-in-depth</a:t>
            </a:r>
            <a:r>
              <a:rPr lang="en-SG" sz="2500" dirty="0"/>
              <a:t> strategy to network security</a:t>
            </a:r>
          </a:p>
          <a:p>
            <a:pPr marL="342900" indent="-342900">
              <a:buFontTx/>
              <a:buChar char="-"/>
            </a:pPr>
            <a:endParaRPr lang="en-SG" sz="2500" dirty="0"/>
          </a:p>
        </p:txBody>
      </p:sp>
    </p:spTree>
    <p:extLst>
      <p:ext uri="{BB962C8B-B14F-4D97-AF65-F5344CB8AC3E}">
        <p14:creationId xmlns:p14="http://schemas.microsoft.com/office/powerpoint/2010/main" val="3077653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646214" y="457200"/>
            <a:ext cx="7896458" cy="1046440"/>
          </a:xfrm>
        </p:spPr>
        <p:txBody>
          <a:bodyPr>
            <a:normAutofit/>
          </a:bodyPr>
          <a:lstStyle/>
          <a:p>
            <a:r>
              <a:rPr lang="en-SG" dirty="0"/>
              <a:t>IDS/IPS and its role in security</a:t>
            </a:r>
          </a:p>
        </p:txBody>
      </p:sp>
      <p:sp>
        <p:nvSpPr>
          <p:cNvPr id="3" name="Content Placeholder 2"/>
          <p:cNvSpPr>
            <a:spLocks noGrp="1"/>
          </p:cNvSpPr>
          <p:nvPr>
            <p:ph idx="1"/>
          </p:nvPr>
        </p:nvSpPr>
        <p:spPr>
          <a:xfrm>
            <a:off x="1906672" y="1981201"/>
            <a:ext cx="8636000" cy="4056559"/>
          </a:xfrm>
        </p:spPr>
        <p:txBody>
          <a:bodyPr>
            <a:normAutofit/>
          </a:bodyPr>
          <a:lstStyle/>
          <a:p>
            <a:pPr marL="342900" indent="-342900">
              <a:buFontTx/>
              <a:buChar char="-"/>
            </a:pPr>
            <a:endParaRPr lang="en-SG" sz="2500" dirty="0"/>
          </a:p>
          <a:p>
            <a:r>
              <a:rPr lang="en-SG" sz="2500" dirty="0"/>
              <a:t>Needs to quickly detect and respond accurately, so as to eliminate threats and false positives (legitimate packets misread as threats) because exploits can happen in near real-time</a:t>
            </a:r>
          </a:p>
          <a:p>
            <a:pPr marL="342900" indent="-342900"/>
            <a:endParaRPr lang="en-SG" sz="2500" dirty="0"/>
          </a:p>
          <a:p>
            <a:pPr marL="342900" indent="-342900"/>
            <a:r>
              <a:rPr lang="en-SG" sz="2500" dirty="0"/>
              <a:t>Efficient enough not to hamper network performance</a:t>
            </a:r>
          </a:p>
        </p:txBody>
      </p:sp>
    </p:spTree>
    <p:extLst>
      <p:ext uri="{BB962C8B-B14F-4D97-AF65-F5344CB8AC3E}">
        <p14:creationId xmlns:p14="http://schemas.microsoft.com/office/powerpoint/2010/main" val="3777214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363542" y="1981201"/>
            <a:ext cx="9404782" cy="3429000"/>
          </a:xfrm>
          <a:prstGeom prst="rect">
            <a:avLst/>
          </a:prstGeom>
        </p:spPr>
      </p:pic>
      <p:sp>
        <p:nvSpPr>
          <p:cNvPr id="6" name="Title 1"/>
          <p:cNvSpPr>
            <a:spLocks noGrp="1"/>
          </p:cNvSpPr>
          <p:nvPr>
            <p:ph type="title"/>
          </p:nvPr>
        </p:nvSpPr>
        <p:spPr>
          <a:xfrm>
            <a:off x="2667000" y="533400"/>
            <a:ext cx="7896458" cy="1046440"/>
          </a:xfrm>
        </p:spPr>
        <p:txBody>
          <a:bodyPr>
            <a:normAutofit/>
          </a:bodyPr>
          <a:lstStyle/>
          <a:p>
            <a:r>
              <a:rPr lang="en-SG" dirty="0"/>
              <a:t>IDS rules, configuration</a:t>
            </a:r>
          </a:p>
        </p:txBody>
      </p:sp>
    </p:spTree>
    <p:extLst>
      <p:ext uri="{BB962C8B-B14F-4D97-AF65-F5344CB8AC3E}">
        <p14:creationId xmlns:p14="http://schemas.microsoft.com/office/powerpoint/2010/main" val="320873961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478949" y="524530"/>
            <a:ext cx="7896458" cy="523220"/>
          </a:xfrm>
        </p:spPr>
        <p:txBody>
          <a:bodyPr>
            <a:normAutofit fontScale="90000"/>
          </a:bodyPr>
          <a:lstStyle/>
          <a:p>
            <a:r>
              <a:rPr lang="en-SG" dirty="0" smtClean="0"/>
              <a:t>IDS rules, configuration</a:t>
            </a:r>
            <a:endParaRPr lang="en-SG" dirty="0"/>
          </a:p>
        </p:txBody>
      </p:sp>
      <p:sp>
        <p:nvSpPr>
          <p:cNvPr id="3" name="Content Placeholder 2"/>
          <p:cNvSpPr>
            <a:spLocks noGrp="1"/>
          </p:cNvSpPr>
          <p:nvPr>
            <p:ph idx="1"/>
          </p:nvPr>
        </p:nvSpPr>
        <p:spPr>
          <a:xfrm>
            <a:off x="2109178" y="1462015"/>
            <a:ext cx="8636000" cy="1154162"/>
          </a:xfrm>
        </p:spPr>
        <p:txBody>
          <a:bodyPr/>
          <a:lstStyle/>
          <a:p>
            <a:r>
              <a:rPr lang="en-SG" sz="2500" u="sng" dirty="0"/>
              <a:t>Logical Layout</a:t>
            </a:r>
          </a:p>
          <a:p>
            <a:endParaRPr lang="en-SG" sz="2500" u="sng" dirty="0"/>
          </a:p>
          <a:p>
            <a:endParaRPr lang="en-SG" sz="2500" dirty="0"/>
          </a:p>
        </p:txBody>
      </p:sp>
      <p:grpSp>
        <p:nvGrpSpPr>
          <p:cNvPr id="5" name="Group 4"/>
          <p:cNvGrpSpPr/>
          <p:nvPr/>
        </p:nvGrpSpPr>
        <p:grpSpPr>
          <a:xfrm>
            <a:off x="3200401" y="2362201"/>
            <a:ext cx="4484077" cy="3171825"/>
            <a:chOff x="2828925" y="1871663"/>
            <a:chExt cx="4857750" cy="3171825"/>
          </a:xfrm>
        </p:grpSpPr>
        <p:sp>
          <p:nvSpPr>
            <p:cNvPr id="7" name="Rectangle 6"/>
            <p:cNvSpPr/>
            <p:nvPr/>
          </p:nvSpPr>
          <p:spPr bwMode="auto">
            <a:xfrm>
              <a:off x="2828925" y="1871663"/>
              <a:ext cx="4857750" cy="317182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400">
                <a:latin typeface="Times New Roman" charset="0"/>
              </a:endParaRPr>
            </a:p>
          </p:txBody>
        </p:sp>
        <p:sp>
          <p:nvSpPr>
            <p:cNvPr id="8" name="Oval 7"/>
            <p:cNvSpPr/>
            <p:nvPr/>
          </p:nvSpPr>
          <p:spPr bwMode="auto">
            <a:xfrm>
              <a:off x="4214819" y="3086100"/>
              <a:ext cx="814387" cy="628650"/>
            </a:xfrm>
            <a:prstGeom prst="ellipse">
              <a:avLst/>
            </a:prstGeom>
            <a:solidFill>
              <a:srgbClr val="0070C0"/>
            </a:solidFill>
            <a:ln w="9525" cap="flat" cmpd="sng" algn="ctr">
              <a:solidFill>
                <a:schemeClr val="tx1"/>
              </a:solidFill>
              <a:prstDash val="solid"/>
              <a:round/>
              <a:headEnd type="none" w="med" len="med"/>
              <a:tailEnd type="none" w="med" len="med"/>
            </a:ln>
            <a:effectLst>
              <a:outerShdw blurRad="50800" dist="38100" dir="13500000" algn="br"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sz="1400" b="1" dirty="0">
                  <a:latin typeface="Times New Roman" charset="0"/>
                </a:rPr>
                <a:t>Traffic </a:t>
              </a:r>
            </a:p>
            <a:p>
              <a:pPr algn="ctr" eaLnBrk="0" fontAlgn="base" hangingPunct="0">
                <a:spcBef>
                  <a:spcPct val="0"/>
                </a:spcBef>
                <a:spcAft>
                  <a:spcPct val="0"/>
                </a:spcAft>
              </a:pPr>
              <a:r>
                <a:rPr lang="en-US" sz="1400" b="1" dirty="0">
                  <a:latin typeface="Times New Roman" charset="0"/>
                </a:rPr>
                <a:t>Collector</a:t>
              </a:r>
              <a:endParaRPr lang="en-GB" sz="1400" b="1" dirty="0">
                <a:latin typeface="Times New Roman" charset="0"/>
              </a:endParaRPr>
            </a:p>
          </p:txBody>
        </p:sp>
        <p:sp>
          <p:nvSpPr>
            <p:cNvPr id="9" name="Oval 8"/>
            <p:cNvSpPr/>
            <p:nvPr/>
          </p:nvSpPr>
          <p:spPr bwMode="auto">
            <a:xfrm>
              <a:off x="6657975" y="3081340"/>
              <a:ext cx="757238" cy="661987"/>
            </a:xfrm>
            <a:prstGeom prst="ellipse">
              <a:avLst/>
            </a:prstGeom>
            <a:solidFill>
              <a:srgbClr val="0070C0"/>
            </a:solidFill>
            <a:ln w="9525" cap="flat" cmpd="sng" algn="ctr">
              <a:solidFill>
                <a:schemeClr val="tx1"/>
              </a:solidFill>
              <a:prstDash val="solid"/>
              <a:round/>
              <a:headEnd type="none" w="med" len="med"/>
              <a:tailEnd type="none" w="med" len="med"/>
            </a:ln>
            <a:effectLst>
              <a:outerShdw blurRad="50800" dist="38100" dir="13500000" algn="br"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sz="1400" b="1" dirty="0">
                  <a:latin typeface="Times New Roman" charset="0"/>
                </a:rPr>
                <a:t>User</a:t>
              </a:r>
            </a:p>
            <a:p>
              <a:pPr algn="ctr" eaLnBrk="0" fontAlgn="base" hangingPunct="0">
                <a:spcBef>
                  <a:spcPct val="0"/>
                </a:spcBef>
                <a:spcAft>
                  <a:spcPct val="0"/>
                </a:spcAft>
              </a:pPr>
              <a:r>
                <a:rPr lang="en-US" sz="1400" b="1" dirty="0">
                  <a:latin typeface="Times New Roman" charset="0"/>
                </a:rPr>
                <a:t>Interface</a:t>
              </a:r>
              <a:endParaRPr lang="en-GB" sz="1400" b="1" dirty="0">
                <a:latin typeface="Times New Roman" charset="0"/>
              </a:endParaRPr>
            </a:p>
          </p:txBody>
        </p:sp>
        <p:sp>
          <p:nvSpPr>
            <p:cNvPr id="10" name="Oval 9"/>
            <p:cNvSpPr/>
            <p:nvPr/>
          </p:nvSpPr>
          <p:spPr bwMode="auto">
            <a:xfrm>
              <a:off x="5443537" y="3086101"/>
              <a:ext cx="800101" cy="685801"/>
            </a:xfrm>
            <a:prstGeom prst="ellipse">
              <a:avLst/>
            </a:prstGeom>
            <a:solidFill>
              <a:srgbClr val="0070C0"/>
            </a:solidFill>
            <a:ln w="9525" cap="flat" cmpd="sng" algn="ctr">
              <a:solidFill>
                <a:schemeClr val="tx1"/>
              </a:solidFill>
              <a:prstDash val="solid"/>
              <a:round/>
              <a:headEnd type="none" w="med" len="med"/>
              <a:tailEnd type="none" w="med" len="med"/>
            </a:ln>
            <a:effectLst>
              <a:outerShdw blurRad="50800" dist="38100" dir="13500000" algn="br"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sz="1400" b="1" dirty="0">
                  <a:latin typeface="Times New Roman" charset="0"/>
                </a:rPr>
                <a:t>Analysis</a:t>
              </a:r>
            </a:p>
            <a:p>
              <a:pPr algn="ctr" eaLnBrk="0" fontAlgn="base" hangingPunct="0">
                <a:spcBef>
                  <a:spcPct val="0"/>
                </a:spcBef>
                <a:spcAft>
                  <a:spcPct val="0"/>
                </a:spcAft>
              </a:pPr>
              <a:r>
                <a:rPr lang="en-US" sz="1400" b="1" dirty="0">
                  <a:latin typeface="Times New Roman" charset="0"/>
                </a:rPr>
                <a:t>Engine</a:t>
              </a:r>
              <a:endParaRPr lang="en-GB" sz="1400" b="1" dirty="0">
                <a:latin typeface="Times New Roman" charset="0"/>
              </a:endParaRPr>
            </a:p>
          </p:txBody>
        </p:sp>
        <p:sp>
          <p:nvSpPr>
            <p:cNvPr id="11" name="Flowchart: Document 10"/>
            <p:cNvSpPr/>
            <p:nvPr/>
          </p:nvSpPr>
          <p:spPr bwMode="auto">
            <a:xfrm>
              <a:off x="3286131" y="2128839"/>
              <a:ext cx="885826" cy="557212"/>
            </a:xfrm>
            <a:prstGeom prst="flowChartDocument">
              <a:avLst/>
            </a:prstGeom>
            <a:solidFill>
              <a:srgbClr val="0070C0"/>
            </a:solidFill>
            <a:ln w="9525" cap="flat" cmpd="sng" algn="ctr">
              <a:solidFill>
                <a:schemeClr val="tx1"/>
              </a:solidFill>
              <a:prstDash val="solid"/>
              <a:round/>
              <a:headEnd type="none" w="med" len="med"/>
              <a:tailEnd type="none" w="med" len="med"/>
            </a:ln>
            <a:effectLst>
              <a:outerShdw blurRad="50800" dist="38100" dir="13500000" algn="br"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sz="1400" b="1" dirty="0">
                  <a:latin typeface="Times New Roman" charset="0"/>
                </a:rPr>
                <a:t>Critical</a:t>
              </a:r>
            </a:p>
            <a:p>
              <a:pPr algn="ctr" eaLnBrk="0" fontAlgn="base" hangingPunct="0">
                <a:spcBef>
                  <a:spcPct val="0"/>
                </a:spcBef>
                <a:spcAft>
                  <a:spcPct val="0"/>
                </a:spcAft>
              </a:pPr>
              <a:r>
                <a:rPr lang="en-US" sz="1400" b="1" dirty="0">
                  <a:latin typeface="Times New Roman" charset="0"/>
                </a:rPr>
                <a:t>Files</a:t>
              </a:r>
              <a:endParaRPr lang="en-GB" sz="1400" b="1" dirty="0">
                <a:latin typeface="Times New Roman" charset="0"/>
              </a:endParaRPr>
            </a:p>
          </p:txBody>
        </p:sp>
        <p:sp>
          <p:nvSpPr>
            <p:cNvPr id="12" name="Flowchart: Document 11"/>
            <p:cNvSpPr/>
            <p:nvPr/>
          </p:nvSpPr>
          <p:spPr bwMode="auto">
            <a:xfrm>
              <a:off x="3238506" y="4252914"/>
              <a:ext cx="847726" cy="533400"/>
            </a:xfrm>
            <a:prstGeom prst="flowChartDocument">
              <a:avLst/>
            </a:prstGeom>
            <a:solidFill>
              <a:srgbClr val="0070C0"/>
            </a:solidFill>
            <a:ln w="9525" cap="flat" cmpd="sng" algn="ctr">
              <a:solidFill>
                <a:schemeClr val="tx1"/>
              </a:solidFill>
              <a:prstDash val="solid"/>
              <a:round/>
              <a:headEnd type="none" w="med" len="med"/>
              <a:tailEnd type="none" w="med" len="med"/>
            </a:ln>
            <a:effectLst>
              <a:outerShdw blurRad="50800" dist="38100" dir="13500000" algn="br"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sz="1400" b="1" dirty="0">
                  <a:latin typeface="Times New Roman" charset="0"/>
                </a:rPr>
                <a:t>Log</a:t>
              </a:r>
            </a:p>
            <a:p>
              <a:pPr algn="ctr" eaLnBrk="0" fontAlgn="base" hangingPunct="0">
                <a:spcBef>
                  <a:spcPct val="0"/>
                </a:spcBef>
                <a:spcAft>
                  <a:spcPct val="0"/>
                </a:spcAft>
              </a:pPr>
              <a:r>
                <a:rPr lang="en-US" sz="1400" b="1" dirty="0">
                  <a:latin typeface="Times New Roman" charset="0"/>
                </a:rPr>
                <a:t>Files</a:t>
              </a:r>
              <a:endParaRPr lang="en-GB" sz="1400" b="1" dirty="0">
                <a:latin typeface="Times New Roman" charset="0"/>
              </a:endParaRPr>
            </a:p>
          </p:txBody>
        </p:sp>
        <p:sp>
          <p:nvSpPr>
            <p:cNvPr id="13" name="Flowchart: Document 12"/>
            <p:cNvSpPr/>
            <p:nvPr/>
          </p:nvSpPr>
          <p:spPr bwMode="auto">
            <a:xfrm>
              <a:off x="2948002" y="3162300"/>
              <a:ext cx="852488" cy="566738"/>
            </a:xfrm>
            <a:prstGeom prst="flowChartDocument">
              <a:avLst/>
            </a:prstGeom>
            <a:solidFill>
              <a:srgbClr val="0070C0"/>
            </a:solidFill>
            <a:ln w="9525" cap="flat" cmpd="sng" algn="ctr">
              <a:solidFill>
                <a:schemeClr val="tx1"/>
              </a:solidFill>
              <a:prstDash val="solid"/>
              <a:round/>
              <a:headEnd type="none" w="med" len="med"/>
              <a:tailEnd type="none" w="med" len="med"/>
            </a:ln>
            <a:effectLst>
              <a:outerShdw blurRad="50800" dist="38100" dir="13500000" algn="br"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sz="1400" b="1" dirty="0">
                  <a:latin typeface="Times New Roman" charset="0"/>
                </a:rPr>
                <a:t>Network</a:t>
              </a:r>
            </a:p>
            <a:p>
              <a:pPr algn="ctr" eaLnBrk="0" fontAlgn="base" hangingPunct="0">
                <a:spcBef>
                  <a:spcPct val="0"/>
                </a:spcBef>
                <a:spcAft>
                  <a:spcPct val="0"/>
                </a:spcAft>
              </a:pPr>
              <a:r>
                <a:rPr lang="en-US" sz="1400" b="1" dirty="0">
                  <a:latin typeface="Times New Roman" charset="0"/>
                </a:rPr>
                <a:t>Traffic</a:t>
              </a:r>
              <a:endParaRPr lang="en-GB" sz="1400" b="1" dirty="0">
                <a:latin typeface="Times New Roman" charset="0"/>
              </a:endParaRPr>
            </a:p>
          </p:txBody>
        </p:sp>
        <p:sp>
          <p:nvSpPr>
            <p:cNvPr id="14" name="Flowchart: Magnetic Disk 13"/>
            <p:cNvSpPr/>
            <p:nvPr/>
          </p:nvSpPr>
          <p:spPr bwMode="auto">
            <a:xfrm>
              <a:off x="5414970" y="2000250"/>
              <a:ext cx="785806" cy="728666"/>
            </a:xfrm>
            <a:prstGeom prst="flowChartMagneticDisk">
              <a:avLst/>
            </a:prstGeom>
            <a:solidFill>
              <a:srgbClr val="0070C0"/>
            </a:solidFill>
            <a:ln w="9525" cap="flat" cmpd="sng" algn="ctr">
              <a:solidFill>
                <a:schemeClr val="tx1"/>
              </a:solidFill>
              <a:prstDash val="solid"/>
              <a:round/>
              <a:headEnd type="none" w="med" len="med"/>
              <a:tailEnd type="none" w="med" len="med"/>
            </a:ln>
            <a:effectLst>
              <a:outerShdw blurRad="50800" dist="38100" dir="13500000" algn="br"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sz="1400" b="1" dirty="0">
                  <a:latin typeface="Times New Roman" charset="0"/>
                </a:rPr>
                <a:t>Signature</a:t>
              </a:r>
            </a:p>
            <a:p>
              <a:pPr algn="ctr" eaLnBrk="0" fontAlgn="base" hangingPunct="0">
                <a:spcBef>
                  <a:spcPct val="0"/>
                </a:spcBef>
                <a:spcAft>
                  <a:spcPct val="0"/>
                </a:spcAft>
              </a:pPr>
              <a:r>
                <a:rPr lang="en-US" sz="1400" b="1" dirty="0">
                  <a:latin typeface="Times New Roman" charset="0"/>
                </a:rPr>
                <a:t>Database</a:t>
              </a:r>
              <a:endParaRPr lang="en-GB" sz="1400" b="1" dirty="0">
                <a:latin typeface="Times New Roman" charset="0"/>
              </a:endParaRPr>
            </a:p>
          </p:txBody>
        </p:sp>
        <p:sp>
          <p:nvSpPr>
            <p:cNvPr id="15" name="Flowchart: Magnetic Disk 14"/>
            <p:cNvSpPr/>
            <p:nvPr/>
          </p:nvSpPr>
          <p:spPr bwMode="auto">
            <a:xfrm>
              <a:off x="5529262" y="4167188"/>
              <a:ext cx="800103" cy="676275"/>
            </a:xfrm>
            <a:prstGeom prst="flowChartMagneticDisk">
              <a:avLst/>
            </a:prstGeom>
            <a:solidFill>
              <a:srgbClr val="0070C0"/>
            </a:solidFill>
            <a:ln w="9525" cap="flat" cmpd="sng" algn="ctr">
              <a:solidFill>
                <a:schemeClr val="tx1"/>
              </a:solidFill>
              <a:prstDash val="solid"/>
              <a:round/>
              <a:headEnd type="none" w="med" len="med"/>
              <a:tailEnd type="none" w="med" len="med"/>
            </a:ln>
            <a:effectLst>
              <a:outerShdw blurRad="50800" dist="38100" dir="13500000" algn="br"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sz="1400" b="1" dirty="0">
                  <a:latin typeface="Times New Roman" charset="0"/>
                </a:rPr>
                <a:t>Alarm</a:t>
              </a:r>
            </a:p>
            <a:p>
              <a:pPr algn="ctr" eaLnBrk="0" fontAlgn="base" hangingPunct="0">
                <a:spcBef>
                  <a:spcPct val="0"/>
                </a:spcBef>
                <a:spcAft>
                  <a:spcPct val="0"/>
                </a:spcAft>
              </a:pPr>
              <a:r>
                <a:rPr lang="en-US" sz="1400" b="1" dirty="0">
                  <a:latin typeface="Times New Roman" charset="0"/>
                </a:rPr>
                <a:t>Storage</a:t>
              </a:r>
              <a:endParaRPr lang="en-GB" sz="1400" b="1" dirty="0">
                <a:latin typeface="Times New Roman" charset="0"/>
              </a:endParaRPr>
            </a:p>
          </p:txBody>
        </p:sp>
        <p:sp>
          <p:nvSpPr>
            <p:cNvPr id="16" name="Flowchart: Document 15"/>
            <p:cNvSpPr/>
            <p:nvPr/>
          </p:nvSpPr>
          <p:spPr bwMode="auto">
            <a:xfrm>
              <a:off x="6757988" y="4276728"/>
              <a:ext cx="771521" cy="509586"/>
            </a:xfrm>
            <a:prstGeom prst="flowChartDocument">
              <a:avLst/>
            </a:prstGeom>
            <a:solidFill>
              <a:srgbClr val="0070C0"/>
            </a:solidFill>
            <a:ln w="9525" cap="flat" cmpd="sng" algn="ctr">
              <a:solidFill>
                <a:schemeClr val="tx1"/>
              </a:solidFill>
              <a:prstDash val="solid"/>
              <a:round/>
              <a:headEnd type="none" w="med" len="med"/>
              <a:tailEnd type="none" w="med" len="med"/>
            </a:ln>
            <a:effectLst>
              <a:outerShdw blurRad="50800" dist="38100" dir="13500000" algn="br"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sz="1400" b="1" dirty="0">
                  <a:latin typeface="Times New Roman" charset="0"/>
                </a:rPr>
                <a:t>Reports</a:t>
              </a:r>
              <a:endParaRPr lang="en-GB" sz="1400" b="1" dirty="0">
                <a:latin typeface="Times New Roman" charset="0"/>
              </a:endParaRPr>
            </a:p>
          </p:txBody>
        </p:sp>
        <p:sp>
          <p:nvSpPr>
            <p:cNvPr id="17" name="Right Arrow 16"/>
            <p:cNvSpPr/>
            <p:nvPr/>
          </p:nvSpPr>
          <p:spPr bwMode="auto">
            <a:xfrm>
              <a:off x="3871930" y="3271839"/>
              <a:ext cx="271462" cy="300036"/>
            </a:xfrm>
            <a:prstGeom prst="rightArrow">
              <a:avLst/>
            </a:prstGeom>
            <a:solidFill>
              <a:srgbClr val="C0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400">
                <a:latin typeface="Times New Roman" charset="0"/>
              </a:endParaRPr>
            </a:p>
          </p:txBody>
        </p:sp>
        <p:sp>
          <p:nvSpPr>
            <p:cNvPr id="18" name="Right Arrow 17"/>
            <p:cNvSpPr/>
            <p:nvPr/>
          </p:nvSpPr>
          <p:spPr bwMode="auto">
            <a:xfrm>
              <a:off x="6324601" y="3281364"/>
              <a:ext cx="271462" cy="300036"/>
            </a:xfrm>
            <a:prstGeom prst="rightArrow">
              <a:avLst/>
            </a:prstGeom>
            <a:solidFill>
              <a:srgbClr val="C0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400">
                <a:latin typeface="Times New Roman" charset="0"/>
              </a:endParaRPr>
            </a:p>
          </p:txBody>
        </p:sp>
        <p:sp>
          <p:nvSpPr>
            <p:cNvPr id="19" name="Right Arrow 18"/>
            <p:cNvSpPr/>
            <p:nvPr/>
          </p:nvSpPr>
          <p:spPr bwMode="auto">
            <a:xfrm>
              <a:off x="5105407" y="3276601"/>
              <a:ext cx="271462" cy="300036"/>
            </a:xfrm>
            <a:prstGeom prst="rightArrow">
              <a:avLst/>
            </a:prstGeom>
            <a:solidFill>
              <a:srgbClr val="C0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400">
                <a:latin typeface="Times New Roman" charset="0"/>
              </a:endParaRPr>
            </a:p>
          </p:txBody>
        </p:sp>
        <p:sp>
          <p:nvSpPr>
            <p:cNvPr id="20" name="Right Arrow 19"/>
            <p:cNvSpPr/>
            <p:nvPr/>
          </p:nvSpPr>
          <p:spPr bwMode="auto">
            <a:xfrm rot="2119351">
              <a:off x="3824296" y="2752725"/>
              <a:ext cx="376235" cy="304799"/>
            </a:xfrm>
            <a:prstGeom prst="rightArrow">
              <a:avLst/>
            </a:prstGeom>
            <a:solidFill>
              <a:srgbClr val="C0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400">
                <a:latin typeface="Times New Roman" charset="0"/>
              </a:endParaRPr>
            </a:p>
          </p:txBody>
        </p:sp>
        <p:sp>
          <p:nvSpPr>
            <p:cNvPr id="21" name="Right Arrow 20"/>
            <p:cNvSpPr/>
            <p:nvPr/>
          </p:nvSpPr>
          <p:spPr bwMode="auto">
            <a:xfrm rot="19011993">
              <a:off x="3905259" y="3819524"/>
              <a:ext cx="376235" cy="304799"/>
            </a:xfrm>
            <a:prstGeom prst="rightArrow">
              <a:avLst/>
            </a:prstGeom>
            <a:solidFill>
              <a:srgbClr val="C0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400">
                <a:latin typeface="Times New Roman" charset="0"/>
              </a:endParaRPr>
            </a:p>
          </p:txBody>
        </p:sp>
        <p:sp>
          <p:nvSpPr>
            <p:cNvPr id="22" name="Right Arrow 21"/>
            <p:cNvSpPr/>
            <p:nvPr/>
          </p:nvSpPr>
          <p:spPr bwMode="auto">
            <a:xfrm rot="5400000">
              <a:off x="5719767" y="2747964"/>
              <a:ext cx="259556" cy="302418"/>
            </a:xfrm>
            <a:prstGeom prst="rightArrow">
              <a:avLst/>
            </a:prstGeom>
            <a:solidFill>
              <a:srgbClr val="C0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400">
                <a:latin typeface="Times New Roman" charset="0"/>
              </a:endParaRPr>
            </a:p>
          </p:txBody>
        </p:sp>
        <p:sp>
          <p:nvSpPr>
            <p:cNvPr id="23" name="Right Arrow 22"/>
            <p:cNvSpPr/>
            <p:nvPr/>
          </p:nvSpPr>
          <p:spPr bwMode="auto">
            <a:xfrm rot="5400000">
              <a:off x="5772155" y="3814764"/>
              <a:ext cx="259556" cy="302418"/>
            </a:xfrm>
            <a:prstGeom prst="rightArrow">
              <a:avLst/>
            </a:prstGeom>
            <a:solidFill>
              <a:srgbClr val="C0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400">
                <a:latin typeface="Times New Roman" charset="0"/>
              </a:endParaRPr>
            </a:p>
          </p:txBody>
        </p:sp>
        <p:sp>
          <p:nvSpPr>
            <p:cNvPr id="24" name="Right Arrow 23"/>
            <p:cNvSpPr/>
            <p:nvPr/>
          </p:nvSpPr>
          <p:spPr bwMode="auto">
            <a:xfrm>
              <a:off x="6376991" y="4348164"/>
              <a:ext cx="271462" cy="300036"/>
            </a:xfrm>
            <a:prstGeom prst="rightArrow">
              <a:avLst/>
            </a:prstGeom>
            <a:solidFill>
              <a:srgbClr val="C0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400">
                <a:latin typeface="Times New Roman" charset="0"/>
              </a:endParaRPr>
            </a:p>
          </p:txBody>
        </p:sp>
        <p:sp>
          <p:nvSpPr>
            <p:cNvPr id="25" name="Up-Down Arrow 24"/>
            <p:cNvSpPr/>
            <p:nvPr/>
          </p:nvSpPr>
          <p:spPr bwMode="auto">
            <a:xfrm>
              <a:off x="6986586" y="3843337"/>
              <a:ext cx="257175" cy="357188"/>
            </a:xfrm>
            <a:prstGeom prst="upDownArrow">
              <a:avLst/>
            </a:prstGeom>
            <a:solidFill>
              <a:srgbClr val="C0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400">
                <a:latin typeface="Times New Roman" charset="0"/>
              </a:endParaRPr>
            </a:p>
          </p:txBody>
        </p:sp>
      </p:grpSp>
    </p:spTree>
    <p:extLst>
      <p:ext uri="{BB962C8B-B14F-4D97-AF65-F5344CB8AC3E}">
        <p14:creationId xmlns:p14="http://schemas.microsoft.com/office/powerpoint/2010/main" val="137143100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590800" y="533400"/>
            <a:ext cx="7896458" cy="523220"/>
          </a:xfrm>
        </p:spPr>
        <p:txBody>
          <a:bodyPr>
            <a:normAutofit fontScale="90000"/>
          </a:bodyPr>
          <a:lstStyle/>
          <a:p>
            <a:r>
              <a:rPr lang="en-SG" dirty="0" smtClean="0"/>
              <a:t>IDS rules, configuration</a:t>
            </a:r>
            <a:endParaRPr lang="en-SG" dirty="0"/>
          </a:p>
        </p:txBody>
      </p:sp>
      <p:sp>
        <p:nvSpPr>
          <p:cNvPr id="3" name="Content Placeholder 2"/>
          <p:cNvSpPr>
            <a:spLocks noGrp="1"/>
          </p:cNvSpPr>
          <p:nvPr>
            <p:ph idx="1"/>
          </p:nvPr>
        </p:nvSpPr>
        <p:spPr>
          <a:xfrm>
            <a:off x="1526085" y="2362200"/>
            <a:ext cx="8636000" cy="4231928"/>
          </a:xfrm>
        </p:spPr>
        <p:txBody>
          <a:bodyPr>
            <a:normAutofit/>
          </a:bodyPr>
          <a:lstStyle/>
          <a:p>
            <a:pPr marL="0" indent="0">
              <a:buNone/>
            </a:pPr>
            <a:r>
              <a:rPr lang="en-SG" sz="2500" u="sng" dirty="0"/>
              <a:t>Location</a:t>
            </a:r>
            <a:r>
              <a:rPr lang="en-SG" sz="2500" dirty="0"/>
              <a:t>:</a:t>
            </a:r>
          </a:p>
          <a:p>
            <a:pPr marL="434975" indent="-342900">
              <a:buFont typeface="Arial" panose="020B0604020202020204" pitchFamily="34" charset="0"/>
              <a:buChar char="•"/>
            </a:pPr>
            <a:r>
              <a:rPr lang="en-SG" sz="2500" dirty="0"/>
              <a:t>   Network Perimeter (Just </a:t>
            </a:r>
            <a:r>
              <a:rPr lang="en-SG" sz="2500" u="sng" dirty="0"/>
              <a:t>inside</a:t>
            </a:r>
            <a:r>
              <a:rPr lang="en-SG" sz="2500" dirty="0"/>
              <a:t> the firewall)</a:t>
            </a:r>
          </a:p>
          <a:p>
            <a:pPr marL="723900" indent="-631825">
              <a:buFont typeface="Arial" panose="020B0604020202020204" pitchFamily="34" charset="0"/>
              <a:buChar char="•"/>
            </a:pPr>
            <a:r>
              <a:rPr lang="en-SG" sz="2500" dirty="0"/>
              <a:t>Helps understand attacks that originate outside your    network.</a:t>
            </a:r>
            <a:br>
              <a:rPr lang="en-SG" sz="2500" dirty="0"/>
            </a:br>
            <a:r>
              <a:rPr lang="en-SG" sz="2500" dirty="0"/>
              <a:t>Downside: Unable to cover exploits that originate from internal network  </a:t>
            </a:r>
          </a:p>
          <a:p>
            <a:pPr marL="714375" indent="-619125">
              <a:buFont typeface="Arial" panose="020B0604020202020204" pitchFamily="34" charset="0"/>
              <a:buChar char="•"/>
            </a:pPr>
            <a:r>
              <a:rPr lang="en-SG" sz="2500" dirty="0"/>
              <a:t>At core router/switch (or more locations) to examine packets traversing at both directions. More locations means more data to store, examine and act upon.</a:t>
            </a:r>
          </a:p>
        </p:txBody>
      </p:sp>
    </p:spTree>
    <p:extLst>
      <p:ext uri="{BB962C8B-B14F-4D97-AF65-F5344CB8AC3E}">
        <p14:creationId xmlns:p14="http://schemas.microsoft.com/office/powerpoint/2010/main" val="127267278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892808" y="304800"/>
            <a:ext cx="7896458" cy="523220"/>
          </a:xfrm>
        </p:spPr>
        <p:txBody>
          <a:bodyPr>
            <a:normAutofit fontScale="90000"/>
          </a:bodyPr>
          <a:lstStyle/>
          <a:p>
            <a:r>
              <a:rPr lang="en-SG" dirty="0" smtClean="0"/>
              <a:t>IDS rules, configuration</a:t>
            </a:r>
            <a:endParaRPr lang="en-SG" dirty="0"/>
          </a:p>
        </p:txBody>
      </p:sp>
      <p:sp>
        <p:nvSpPr>
          <p:cNvPr id="3" name="Content Placeholder 2"/>
          <p:cNvSpPr>
            <a:spLocks noGrp="1"/>
          </p:cNvSpPr>
          <p:nvPr>
            <p:ph idx="1"/>
          </p:nvPr>
        </p:nvSpPr>
        <p:spPr>
          <a:xfrm>
            <a:off x="1828440" y="2279452"/>
            <a:ext cx="9258661" cy="4616648"/>
          </a:xfrm>
        </p:spPr>
        <p:txBody>
          <a:bodyPr/>
          <a:lstStyle/>
          <a:p>
            <a:pPr marL="101600" indent="0">
              <a:buNone/>
            </a:pPr>
            <a:r>
              <a:rPr lang="en-SG" sz="2500" u="sng" dirty="0"/>
              <a:t>Other considerations:</a:t>
            </a:r>
          </a:p>
          <a:p>
            <a:pPr marL="0" indent="0">
              <a:buNone/>
            </a:pPr>
            <a:r>
              <a:rPr lang="en-SG" sz="2500" dirty="0"/>
              <a:t> </a:t>
            </a:r>
            <a:r>
              <a:rPr lang="en-SG" sz="2500" u="sng" dirty="0"/>
              <a:t>Admin console (User Interface)</a:t>
            </a:r>
            <a:r>
              <a:rPr lang="en-SG" sz="2500" dirty="0"/>
              <a:t>:</a:t>
            </a:r>
          </a:p>
          <a:p>
            <a:r>
              <a:rPr lang="en-SG" sz="2500" dirty="0"/>
              <a:t>    An interface for administration and control.</a:t>
            </a:r>
          </a:p>
          <a:p>
            <a:r>
              <a:rPr lang="en-SG" sz="2500" dirty="0"/>
              <a:t>    Should be on a separate, secure network.</a:t>
            </a:r>
          </a:p>
          <a:p>
            <a:endParaRPr lang="en-SG" sz="2500" dirty="0"/>
          </a:p>
          <a:p>
            <a:pPr marL="0" indent="0">
              <a:buNone/>
            </a:pPr>
            <a:r>
              <a:rPr lang="en-SG" sz="2500" dirty="0"/>
              <a:t> </a:t>
            </a:r>
            <a:r>
              <a:rPr lang="en-SG" sz="2500" u="sng" dirty="0"/>
              <a:t>Storage (includes Signature Library)</a:t>
            </a:r>
            <a:r>
              <a:rPr lang="en-SG" sz="2500" dirty="0"/>
              <a:t>:</a:t>
            </a:r>
          </a:p>
          <a:p>
            <a:r>
              <a:rPr lang="en-SG" sz="2500" dirty="0"/>
              <a:t>    IDS log files can get huge. </a:t>
            </a:r>
          </a:p>
          <a:p>
            <a:r>
              <a:rPr lang="en-SG" sz="2500" dirty="0"/>
              <a:t>    Needs data on the history and genesis of a successful attack.</a:t>
            </a:r>
          </a:p>
          <a:p>
            <a:endParaRPr lang="en-SG" sz="2500" dirty="0"/>
          </a:p>
          <a:p>
            <a:endParaRPr lang="en-SG" sz="2500" dirty="0"/>
          </a:p>
        </p:txBody>
      </p:sp>
    </p:spTree>
    <p:extLst>
      <p:ext uri="{BB962C8B-B14F-4D97-AF65-F5344CB8AC3E}">
        <p14:creationId xmlns:p14="http://schemas.microsoft.com/office/powerpoint/2010/main" val="254975328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743200" y="609600"/>
            <a:ext cx="7896458" cy="523220"/>
          </a:xfrm>
        </p:spPr>
        <p:txBody>
          <a:bodyPr>
            <a:normAutofit fontScale="90000"/>
          </a:bodyPr>
          <a:lstStyle/>
          <a:p>
            <a:r>
              <a:rPr lang="en-SG" dirty="0" smtClean="0"/>
              <a:t>IDS rules, configuration</a:t>
            </a:r>
            <a:endParaRPr lang="en-SG" dirty="0"/>
          </a:p>
        </p:txBody>
      </p:sp>
      <p:sp>
        <p:nvSpPr>
          <p:cNvPr id="3" name="Content Placeholder 2"/>
          <p:cNvSpPr>
            <a:spLocks noGrp="1"/>
          </p:cNvSpPr>
          <p:nvPr>
            <p:ph idx="1"/>
          </p:nvPr>
        </p:nvSpPr>
        <p:spPr>
          <a:xfrm>
            <a:off x="1600201" y="2819401"/>
            <a:ext cx="9258661" cy="1538883"/>
          </a:xfrm>
        </p:spPr>
        <p:txBody>
          <a:bodyPr>
            <a:noAutofit/>
          </a:bodyPr>
          <a:lstStyle/>
          <a:p>
            <a:endParaRPr lang="en-SG" sz="3200" dirty="0"/>
          </a:p>
          <a:p>
            <a:pPr marL="457200" indent="-457200"/>
            <a:r>
              <a:rPr lang="en-SG" sz="3200" u="sng" dirty="0"/>
              <a:t>Host Based Set Up (HIDS) </a:t>
            </a:r>
          </a:p>
          <a:p>
            <a:pPr marL="457200" indent="-457200"/>
            <a:r>
              <a:rPr lang="en-SG" sz="3200" u="sng" dirty="0"/>
              <a:t>Network Based Setup (NIDS)</a:t>
            </a:r>
            <a:r>
              <a:rPr lang="en-SG" sz="3200" dirty="0"/>
              <a:t> </a:t>
            </a:r>
          </a:p>
          <a:p>
            <a:endParaRPr lang="en-SG" sz="3200" dirty="0"/>
          </a:p>
        </p:txBody>
      </p:sp>
    </p:spTree>
    <p:extLst>
      <p:ext uri="{BB962C8B-B14F-4D97-AF65-F5344CB8AC3E}">
        <p14:creationId xmlns:p14="http://schemas.microsoft.com/office/powerpoint/2010/main" val="69703507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3133492" y="609600"/>
            <a:ext cx="7896458" cy="523220"/>
          </a:xfrm>
        </p:spPr>
        <p:txBody>
          <a:bodyPr>
            <a:normAutofit fontScale="90000"/>
          </a:bodyPr>
          <a:lstStyle/>
          <a:p>
            <a:r>
              <a:rPr lang="en-SG" dirty="0" smtClean="0"/>
              <a:t>IDS rules, configuration</a:t>
            </a:r>
            <a:endParaRPr lang="en-SG" dirty="0"/>
          </a:p>
        </p:txBody>
      </p:sp>
      <p:sp>
        <p:nvSpPr>
          <p:cNvPr id="3" name="Content Placeholder 2"/>
          <p:cNvSpPr>
            <a:spLocks noGrp="1"/>
          </p:cNvSpPr>
          <p:nvPr>
            <p:ph idx="1"/>
          </p:nvPr>
        </p:nvSpPr>
        <p:spPr>
          <a:xfrm>
            <a:off x="1447801" y="2339232"/>
            <a:ext cx="9258661" cy="4518769"/>
          </a:xfrm>
        </p:spPr>
        <p:txBody>
          <a:bodyPr>
            <a:normAutofit/>
          </a:bodyPr>
          <a:lstStyle/>
          <a:p>
            <a:pPr marL="0" indent="0">
              <a:buNone/>
            </a:pPr>
            <a:r>
              <a:rPr lang="en-SG" sz="2500" u="sng" dirty="0"/>
              <a:t>Host Based Set Up (HIDS)</a:t>
            </a:r>
            <a:r>
              <a:rPr lang="en-SG" sz="2500" dirty="0"/>
              <a:t>: </a:t>
            </a:r>
          </a:p>
          <a:p>
            <a:pPr marL="342900" indent="-342900">
              <a:buFontTx/>
              <a:buChar char="-"/>
            </a:pPr>
            <a:endParaRPr lang="en-SG" sz="2500" dirty="0"/>
          </a:p>
          <a:p>
            <a:r>
              <a:rPr lang="en-SG" sz="2500" dirty="0"/>
              <a:t>   Looks at data given to it by the traffic collector and matches it </a:t>
            </a:r>
            <a:br>
              <a:rPr lang="en-SG" sz="2500" dirty="0"/>
            </a:br>
            <a:r>
              <a:rPr lang="en-SG" sz="2500" dirty="0"/>
              <a:t>   to </a:t>
            </a:r>
            <a:r>
              <a:rPr lang="en-SG" sz="2500" u="sng" dirty="0"/>
              <a:t>known patterns of activity</a:t>
            </a:r>
            <a:r>
              <a:rPr lang="en-SG" sz="2500" dirty="0"/>
              <a:t> stored in the signature database.</a:t>
            </a:r>
            <a:br>
              <a:rPr lang="en-SG" sz="2500" dirty="0"/>
            </a:br>
            <a:endParaRPr lang="en-SG" sz="2500" dirty="0"/>
          </a:p>
          <a:p>
            <a:pPr marL="266700"/>
            <a:r>
              <a:rPr lang="en-SG" sz="2500" dirty="0"/>
              <a:t>Analysis: Remember how the current activity compares to </a:t>
            </a:r>
            <a:br>
              <a:rPr lang="en-SG" sz="2500" dirty="0"/>
            </a:br>
            <a:r>
              <a:rPr lang="en-SG" sz="2500" dirty="0"/>
              <a:t>historic or future traffic, so that it may match more complicated, multi-step malicious activity patterns</a:t>
            </a:r>
          </a:p>
          <a:p>
            <a:pPr marL="0" indent="0">
              <a:buNone/>
            </a:pPr>
            <a:endParaRPr lang="en-SG" sz="2500" dirty="0"/>
          </a:p>
          <a:p>
            <a:endParaRPr lang="en-SG" sz="2500" dirty="0"/>
          </a:p>
        </p:txBody>
      </p:sp>
    </p:spTree>
    <p:extLst>
      <p:ext uri="{BB962C8B-B14F-4D97-AF65-F5344CB8AC3E}">
        <p14:creationId xmlns:p14="http://schemas.microsoft.com/office/powerpoint/2010/main" val="773993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897080" y="532537"/>
            <a:ext cx="7896458" cy="523220"/>
          </a:xfrm>
        </p:spPr>
        <p:txBody>
          <a:bodyPr>
            <a:normAutofit fontScale="90000"/>
          </a:bodyPr>
          <a:lstStyle/>
          <a:p>
            <a:r>
              <a:rPr lang="en-SG" dirty="0" smtClean="0"/>
              <a:t>IDS rules, configuration</a:t>
            </a:r>
            <a:endParaRPr lang="en-SG" dirty="0"/>
          </a:p>
        </p:txBody>
      </p:sp>
      <p:sp>
        <p:nvSpPr>
          <p:cNvPr id="3" name="Content Placeholder 2"/>
          <p:cNvSpPr>
            <a:spLocks noGrp="1"/>
          </p:cNvSpPr>
          <p:nvPr>
            <p:ph idx="1"/>
          </p:nvPr>
        </p:nvSpPr>
        <p:spPr>
          <a:xfrm>
            <a:off x="2157538" y="1593138"/>
            <a:ext cx="8636000" cy="659744"/>
          </a:xfrm>
        </p:spPr>
        <p:txBody>
          <a:bodyPr>
            <a:normAutofit/>
          </a:bodyPr>
          <a:lstStyle/>
          <a:p>
            <a:pPr marL="0" indent="0">
              <a:buNone/>
            </a:pPr>
            <a:r>
              <a:rPr lang="en-SG" sz="2500" u="sng" dirty="0"/>
              <a:t>Network Based Set Up (NIDS)</a:t>
            </a:r>
            <a:r>
              <a:rPr lang="en-SG" sz="2500" dirty="0"/>
              <a:t>:</a:t>
            </a:r>
          </a:p>
        </p:txBody>
      </p:sp>
      <p:grpSp>
        <p:nvGrpSpPr>
          <p:cNvPr id="5" name="Group 4"/>
          <p:cNvGrpSpPr/>
          <p:nvPr/>
        </p:nvGrpSpPr>
        <p:grpSpPr>
          <a:xfrm>
            <a:off x="3200401" y="2286001"/>
            <a:ext cx="4484077" cy="3171825"/>
            <a:chOff x="2828925" y="1871663"/>
            <a:chExt cx="4857750" cy="3171825"/>
          </a:xfrm>
        </p:grpSpPr>
        <p:sp>
          <p:nvSpPr>
            <p:cNvPr id="7" name="Rectangle 6"/>
            <p:cNvSpPr/>
            <p:nvPr/>
          </p:nvSpPr>
          <p:spPr bwMode="auto">
            <a:xfrm>
              <a:off x="2828925" y="1871663"/>
              <a:ext cx="4857750" cy="317182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400">
                <a:latin typeface="Times New Roman" charset="0"/>
              </a:endParaRPr>
            </a:p>
          </p:txBody>
        </p:sp>
        <p:sp>
          <p:nvSpPr>
            <p:cNvPr id="8" name="Oval 7"/>
            <p:cNvSpPr/>
            <p:nvPr/>
          </p:nvSpPr>
          <p:spPr bwMode="auto">
            <a:xfrm>
              <a:off x="4214819" y="3086100"/>
              <a:ext cx="814387" cy="628650"/>
            </a:xfrm>
            <a:prstGeom prst="ellipse">
              <a:avLst/>
            </a:prstGeom>
            <a:solidFill>
              <a:srgbClr val="FF3300"/>
            </a:solidFill>
            <a:ln w="9525" cap="flat" cmpd="sng" algn="ctr">
              <a:solidFill>
                <a:schemeClr val="tx1"/>
              </a:solidFill>
              <a:prstDash val="solid"/>
              <a:round/>
              <a:headEnd type="none" w="med" len="med"/>
              <a:tailEnd type="none" w="med" len="med"/>
            </a:ln>
            <a:effectLst>
              <a:outerShdw blurRad="50800" dist="38100" dir="13500000" algn="br"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sz="1400" b="1" dirty="0">
                  <a:latin typeface="Times New Roman" charset="0"/>
                </a:rPr>
                <a:t>Traffic </a:t>
              </a:r>
            </a:p>
            <a:p>
              <a:pPr algn="ctr" eaLnBrk="0" fontAlgn="base" hangingPunct="0">
                <a:spcBef>
                  <a:spcPct val="0"/>
                </a:spcBef>
                <a:spcAft>
                  <a:spcPct val="0"/>
                </a:spcAft>
              </a:pPr>
              <a:r>
                <a:rPr lang="en-US" sz="1400" b="1" dirty="0">
                  <a:latin typeface="Times New Roman" charset="0"/>
                </a:rPr>
                <a:t>Collector</a:t>
              </a:r>
              <a:endParaRPr lang="en-GB" sz="1400" b="1" dirty="0">
                <a:latin typeface="Times New Roman" charset="0"/>
              </a:endParaRPr>
            </a:p>
          </p:txBody>
        </p:sp>
        <p:sp>
          <p:nvSpPr>
            <p:cNvPr id="9" name="Oval 8"/>
            <p:cNvSpPr/>
            <p:nvPr/>
          </p:nvSpPr>
          <p:spPr bwMode="auto">
            <a:xfrm>
              <a:off x="6657975" y="3081340"/>
              <a:ext cx="757238" cy="661987"/>
            </a:xfrm>
            <a:prstGeom prst="ellipse">
              <a:avLst/>
            </a:prstGeom>
            <a:solidFill>
              <a:srgbClr val="0070C0"/>
            </a:solidFill>
            <a:ln w="9525" cap="flat" cmpd="sng" algn="ctr">
              <a:solidFill>
                <a:schemeClr val="tx1"/>
              </a:solidFill>
              <a:prstDash val="solid"/>
              <a:round/>
              <a:headEnd type="none" w="med" len="med"/>
              <a:tailEnd type="none" w="med" len="med"/>
            </a:ln>
            <a:effectLst>
              <a:outerShdw blurRad="50800" dist="38100" dir="13500000" algn="br"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sz="1400" b="1" dirty="0">
                  <a:latin typeface="Times New Roman" charset="0"/>
                </a:rPr>
                <a:t>User</a:t>
              </a:r>
            </a:p>
            <a:p>
              <a:pPr algn="ctr" eaLnBrk="0" fontAlgn="base" hangingPunct="0">
                <a:spcBef>
                  <a:spcPct val="0"/>
                </a:spcBef>
                <a:spcAft>
                  <a:spcPct val="0"/>
                </a:spcAft>
              </a:pPr>
              <a:r>
                <a:rPr lang="en-US" sz="1400" b="1" dirty="0">
                  <a:latin typeface="Times New Roman" charset="0"/>
                </a:rPr>
                <a:t>Interface</a:t>
              </a:r>
              <a:endParaRPr lang="en-GB" sz="1400" b="1" dirty="0">
                <a:latin typeface="Times New Roman" charset="0"/>
              </a:endParaRPr>
            </a:p>
          </p:txBody>
        </p:sp>
        <p:sp>
          <p:nvSpPr>
            <p:cNvPr id="10" name="Oval 9"/>
            <p:cNvSpPr/>
            <p:nvPr/>
          </p:nvSpPr>
          <p:spPr bwMode="auto">
            <a:xfrm>
              <a:off x="5443537" y="3086101"/>
              <a:ext cx="800101" cy="685801"/>
            </a:xfrm>
            <a:prstGeom prst="ellipse">
              <a:avLst/>
            </a:prstGeom>
            <a:solidFill>
              <a:srgbClr val="0070C0"/>
            </a:solidFill>
            <a:ln w="9525" cap="flat" cmpd="sng" algn="ctr">
              <a:solidFill>
                <a:schemeClr val="tx1"/>
              </a:solidFill>
              <a:prstDash val="solid"/>
              <a:round/>
              <a:headEnd type="none" w="med" len="med"/>
              <a:tailEnd type="none" w="med" len="med"/>
            </a:ln>
            <a:effectLst>
              <a:outerShdw blurRad="50800" dist="38100" dir="13500000" algn="br"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sz="1400" b="1" dirty="0">
                  <a:latin typeface="Times New Roman" charset="0"/>
                </a:rPr>
                <a:t>Analysis</a:t>
              </a:r>
            </a:p>
            <a:p>
              <a:pPr algn="ctr" eaLnBrk="0" fontAlgn="base" hangingPunct="0">
                <a:spcBef>
                  <a:spcPct val="0"/>
                </a:spcBef>
                <a:spcAft>
                  <a:spcPct val="0"/>
                </a:spcAft>
              </a:pPr>
              <a:r>
                <a:rPr lang="en-US" sz="1400" b="1" dirty="0">
                  <a:latin typeface="Times New Roman" charset="0"/>
                </a:rPr>
                <a:t>Engine</a:t>
              </a:r>
              <a:endParaRPr lang="en-GB" sz="1400" b="1" dirty="0">
                <a:latin typeface="Times New Roman" charset="0"/>
              </a:endParaRPr>
            </a:p>
          </p:txBody>
        </p:sp>
        <p:sp>
          <p:nvSpPr>
            <p:cNvPr id="11" name="Flowchart: Document 10"/>
            <p:cNvSpPr/>
            <p:nvPr/>
          </p:nvSpPr>
          <p:spPr bwMode="auto">
            <a:xfrm>
              <a:off x="3286131" y="2128839"/>
              <a:ext cx="885826" cy="557212"/>
            </a:xfrm>
            <a:prstGeom prst="flowChartDocument">
              <a:avLst/>
            </a:prstGeom>
            <a:solidFill>
              <a:srgbClr val="0070C0"/>
            </a:solidFill>
            <a:ln w="9525" cap="flat" cmpd="sng" algn="ctr">
              <a:solidFill>
                <a:schemeClr val="tx1"/>
              </a:solidFill>
              <a:prstDash val="solid"/>
              <a:round/>
              <a:headEnd type="none" w="med" len="med"/>
              <a:tailEnd type="none" w="med" len="med"/>
            </a:ln>
            <a:effectLst>
              <a:outerShdw blurRad="50800" dist="38100" dir="13500000" algn="br"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sz="1400" b="1" dirty="0">
                  <a:latin typeface="Times New Roman" charset="0"/>
                </a:rPr>
                <a:t>Critical</a:t>
              </a:r>
            </a:p>
            <a:p>
              <a:pPr algn="ctr" eaLnBrk="0" fontAlgn="base" hangingPunct="0">
                <a:spcBef>
                  <a:spcPct val="0"/>
                </a:spcBef>
                <a:spcAft>
                  <a:spcPct val="0"/>
                </a:spcAft>
              </a:pPr>
              <a:r>
                <a:rPr lang="en-US" sz="1400" b="1" dirty="0">
                  <a:latin typeface="Times New Roman" charset="0"/>
                </a:rPr>
                <a:t>Files</a:t>
              </a:r>
              <a:endParaRPr lang="en-GB" sz="1400" b="1" dirty="0">
                <a:latin typeface="Times New Roman" charset="0"/>
              </a:endParaRPr>
            </a:p>
          </p:txBody>
        </p:sp>
        <p:sp>
          <p:nvSpPr>
            <p:cNvPr id="12" name="Flowchart: Document 11"/>
            <p:cNvSpPr/>
            <p:nvPr/>
          </p:nvSpPr>
          <p:spPr bwMode="auto">
            <a:xfrm>
              <a:off x="3238506" y="4252914"/>
              <a:ext cx="847726" cy="533400"/>
            </a:xfrm>
            <a:prstGeom prst="flowChartDocument">
              <a:avLst/>
            </a:prstGeom>
            <a:solidFill>
              <a:srgbClr val="0070C0"/>
            </a:solidFill>
            <a:ln w="9525" cap="flat" cmpd="sng" algn="ctr">
              <a:solidFill>
                <a:schemeClr val="tx1"/>
              </a:solidFill>
              <a:prstDash val="solid"/>
              <a:round/>
              <a:headEnd type="none" w="med" len="med"/>
              <a:tailEnd type="none" w="med" len="med"/>
            </a:ln>
            <a:effectLst>
              <a:outerShdw blurRad="50800" dist="38100" dir="13500000" algn="br"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sz="1400" b="1" dirty="0">
                  <a:latin typeface="Times New Roman" charset="0"/>
                </a:rPr>
                <a:t>Log</a:t>
              </a:r>
            </a:p>
            <a:p>
              <a:pPr algn="ctr" eaLnBrk="0" fontAlgn="base" hangingPunct="0">
                <a:spcBef>
                  <a:spcPct val="0"/>
                </a:spcBef>
                <a:spcAft>
                  <a:spcPct val="0"/>
                </a:spcAft>
              </a:pPr>
              <a:r>
                <a:rPr lang="en-US" sz="1400" b="1" dirty="0">
                  <a:latin typeface="Times New Roman" charset="0"/>
                </a:rPr>
                <a:t>Files</a:t>
              </a:r>
              <a:endParaRPr lang="en-GB" sz="1400" b="1" dirty="0">
                <a:latin typeface="Times New Roman" charset="0"/>
              </a:endParaRPr>
            </a:p>
          </p:txBody>
        </p:sp>
        <p:sp>
          <p:nvSpPr>
            <p:cNvPr id="13" name="Flowchart: Document 12"/>
            <p:cNvSpPr/>
            <p:nvPr/>
          </p:nvSpPr>
          <p:spPr bwMode="auto">
            <a:xfrm>
              <a:off x="2948002" y="3162300"/>
              <a:ext cx="852488" cy="566738"/>
            </a:xfrm>
            <a:prstGeom prst="flowChartDocument">
              <a:avLst/>
            </a:prstGeom>
            <a:solidFill>
              <a:srgbClr val="FF0000"/>
            </a:solidFill>
            <a:ln w="9525" cap="flat" cmpd="sng" algn="ctr">
              <a:solidFill>
                <a:schemeClr val="tx1"/>
              </a:solidFill>
              <a:prstDash val="solid"/>
              <a:round/>
              <a:headEnd type="none" w="med" len="med"/>
              <a:tailEnd type="none" w="med" len="med"/>
            </a:ln>
            <a:effectLst>
              <a:outerShdw blurRad="50800" dist="38100" dir="13500000" algn="br"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sz="1400" b="1" dirty="0">
                  <a:latin typeface="Times New Roman" charset="0"/>
                </a:rPr>
                <a:t>Network</a:t>
              </a:r>
            </a:p>
            <a:p>
              <a:pPr algn="ctr" eaLnBrk="0" fontAlgn="base" hangingPunct="0">
                <a:spcBef>
                  <a:spcPct val="0"/>
                </a:spcBef>
                <a:spcAft>
                  <a:spcPct val="0"/>
                </a:spcAft>
              </a:pPr>
              <a:r>
                <a:rPr lang="en-US" sz="1400" b="1" dirty="0">
                  <a:latin typeface="Times New Roman" charset="0"/>
                </a:rPr>
                <a:t>Traffic</a:t>
              </a:r>
              <a:endParaRPr lang="en-GB" sz="1400" b="1" dirty="0">
                <a:latin typeface="Times New Roman" charset="0"/>
              </a:endParaRPr>
            </a:p>
          </p:txBody>
        </p:sp>
        <p:sp>
          <p:nvSpPr>
            <p:cNvPr id="14" name="Flowchart: Magnetic Disk 13"/>
            <p:cNvSpPr/>
            <p:nvPr/>
          </p:nvSpPr>
          <p:spPr bwMode="auto">
            <a:xfrm>
              <a:off x="5414970" y="2000250"/>
              <a:ext cx="785806" cy="728666"/>
            </a:xfrm>
            <a:prstGeom prst="flowChartMagneticDisk">
              <a:avLst/>
            </a:prstGeom>
            <a:solidFill>
              <a:srgbClr val="0070C0"/>
            </a:solidFill>
            <a:ln w="9525" cap="flat" cmpd="sng" algn="ctr">
              <a:solidFill>
                <a:schemeClr val="tx1"/>
              </a:solidFill>
              <a:prstDash val="solid"/>
              <a:round/>
              <a:headEnd type="none" w="med" len="med"/>
              <a:tailEnd type="none" w="med" len="med"/>
            </a:ln>
            <a:effectLst>
              <a:outerShdw blurRad="50800" dist="38100" dir="13500000" algn="br"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sz="1400" b="1" dirty="0">
                  <a:latin typeface="Times New Roman" charset="0"/>
                </a:rPr>
                <a:t>Signature</a:t>
              </a:r>
            </a:p>
            <a:p>
              <a:pPr algn="ctr" eaLnBrk="0" fontAlgn="base" hangingPunct="0">
                <a:spcBef>
                  <a:spcPct val="0"/>
                </a:spcBef>
                <a:spcAft>
                  <a:spcPct val="0"/>
                </a:spcAft>
              </a:pPr>
              <a:r>
                <a:rPr lang="en-US" sz="1400" b="1" dirty="0">
                  <a:latin typeface="Times New Roman" charset="0"/>
                </a:rPr>
                <a:t>Database</a:t>
              </a:r>
              <a:endParaRPr lang="en-GB" sz="1400" b="1" dirty="0">
                <a:latin typeface="Times New Roman" charset="0"/>
              </a:endParaRPr>
            </a:p>
          </p:txBody>
        </p:sp>
        <p:sp>
          <p:nvSpPr>
            <p:cNvPr id="15" name="Flowchart: Magnetic Disk 14"/>
            <p:cNvSpPr/>
            <p:nvPr/>
          </p:nvSpPr>
          <p:spPr bwMode="auto">
            <a:xfrm>
              <a:off x="5529262" y="4167188"/>
              <a:ext cx="800103" cy="676275"/>
            </a:xfrm>
            <a:prstGeom prst="flowChartMagneticDisk">
              <a:avLst/>
            </a:prstGeom>
            <a:solidFill>
              <a:srgbClr val="0070C0"/>
            </a:solidFill>
            <a:ln w="9525" cap="flat" cmpd="sng" algn="ctr">
              <a:solidFill>
                <a:schemeClr val="tx1"/>
              </a:solidFill>
              <a:prstDash val="solid"/>
              <a:round/>
              <a:headEnd type="none" w="med" len="med"/>
              <a:tailEnd type="none" w="med" len="med"/>
            </a:ln>
            <a:effectLst>
              <a:outerShdw blurRad="50800" dist="38100" dir="13500000" algn="br"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sz="1400" b="1" dirty="0">
                  <a:latin typeface="Times New Roman" charset="0"/>
                </a:rPr>
                <a:t>Alarm</a:t>
              </a:r>
            </a:p>
            <a:p>
              <a:pPr algn="ctr" eaLnBrk="0" fontAlgn="base" hangingPunct="0">
                <a:spcBef>
                  <a:spcPct val="0"/>
                </a:spcBef>
                <a:spcAft>
                  <a:spcPct val="0"/>
                </a:spcAft>
              </a:pPr>
              <a:r>
                <a:rPr lang="en-US" sz="1400" b="1" dirty="0">
                  <a:latin typeface="Times New Roman" charset="0"/>
                </a:rPr>
                <a:t>Storage</a:t>
              </a:r>
              <a:endParaRPr lang="en-GB" sz="1400" b="1" dirty="0">
                <a:latin typeface="Times New Roman" charset="0"/>
              </a:endParaRPr>
            </a:p>
          </p:txBody>
        </p:sp>
        <p:sp>
          <p:nvSpPr>
            <p:cNvPr id="16" name="Flowchart: Document 15"/>
            <p:cNvSpPr/>
            <p:nvPr/>
          </p:nvSpPr>
          <p:spPr bwMode="auto">
            <a:xfrm>
              <a:off x="6757988" y="4276728"/>
              <a:ext cx="771521" cy="509586"/>
            </a:xfrm>
            <a:prstGeom prst="flowChartDocument">
              <a:avLst/>
            </a:prstGeom>
            <a:solidFill>
              <a:srgbClr val="0070C0"/>
            </a:solidFill>
            <a:ln w="9525" cap="flat" cmpd="sng" algn="ctr">
              <a:solidFill>
                <a:schemeClr val="tx1"/>
              </a:solidFill>
              <a:prstDash val="solid"/>
              <a:round/>
              <a:headEnd type="none" w="med" len="med"/>
              <a:tailEnd type="none" w="med" len="med"/>
            </a:ln>
            <a:effectLst>
              <a:outerShdw blurRad="50800" dist="38100" dir="13500000" algn="br"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sz="1400" b="1" dirty="0">
                  <a:latin typeface="Times New Roman" charset="0"/>
                </a:rPr>
                <a:t>Reports</a:t>
              </a:r>
              <a:endParaRPr lang="en-GB" sz="1400" b="1" dirty="0">
                <a:latin typeface="Times New Roman" charset="0"/>
              </a:endParaRPr>
            </a:p>
          </p:txBody>
        </p:sp>
        <p:sp>
          <p:nvSpPr>
            <p:cNvPr id="17" name="Right Arrow 16"/>
            <p:cNvSpPr/>
            <p:nvPr/>
          </p:nvSpPr>
          <p:spPr bwMode="auto">
            <a:xfrm>
              <a:off x="3871930" y="3271839"/>
              <a:ext cx="271462" cy="300036"/>
            </a:xfrm>
            <a:prstGeom prst="rightArrow">
              <a:avLst/>
            </a:prstGeom>
            <a:solidFill>
              <a:srgbClr val="C0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400">
                <a:latin typeface="Times New Roman" charset="0"/>
              </a:endParaRPr>
            </a:p>
          </p:txBody>
        </p:sp>
        <p:sp>
          <p:nvSpPr>
            <p:cNvPr id="18" name="Right Arrow 17"/>
            <p:cNvSpPr/>
            <p:nvPr/>
          </p:nvSpPr>
          <p:spPr bwMode="auto">
            <a:xfrm>
              <a:off x="6324601" y="3281364"/>
              <a:ext cx="271462" cy="300036"/>
            </a:xfrm>
            <a:prstGeom prst="rightArrow">
              <a:avLst/>
            </a:prstGeom>
            <a:solidFill>
              <a:srgbClr val="C0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400">
                <a:latin typeface="Times New Roman" charset="0"/>
              </a:endParaRPr>
            </a:p>
          </p:txBody>
        </p:sp>
        <p:sp>
          <p:nvSpPr>
            <p:cNvPr id="19" name="Right Arrow 18"/>
            <p:cNvSpPr/>
            <p:nvPr/>
          </p:nvSpPr>
          <p:spPr bwMode="auto">
            <a:xfrm>
              <a:off x="5105407" y="3276601"/>
              <a:ext cx="271462" cy="300036"/>
            </a:xfrm>
            <a:prstGeom prst="rightArrow">
              <a:avLst/>
            </a:prstGeom>
            <a:solidFill>
              <a:srgbClr val="C0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400">
                <a:latin typeface="Times New Roman" charset="0"/>
              </a:endParaRPr>
            </a:p>
          </p:txBody>
        </p:sp>
        <p:sp>
          <p:nvSpPr>
            <p:cNvPr id="20" name="Right Arrow 19"/>
            <p:cNvSpPr/>
            <p:nvPr/>
          </p:nvSpPr>
          <p:spPr bwMode="auto">
            <a:xfrm rot="2119351">
              <a:off x="3824296" y="2752725"/>
              <a:ext cx="376235" cy="304799"/>
            </a:xfrm>
            <a:prstGeom prst="rightArrow">
              <a:avLst/>
            </a:prstGeom>
            <a:solidFill>
              <a:srgbClr val="C0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400">
                <a:latin typeface="Times New Roman" charset="0"/>
              </a:endParaRPr>
            </a:p>
          </p:txBody>
        </p:sp>
        <p:sp>
          <p:nvSpPr>
            <p:cNvPr id="21" name="Right Arrow 20"/>
            <p:cNvSpPr/>
            <p:nvPr/>
          </p:nvSpPr>
          <p:spPr bwMode="auto">
            <a:xfrm rot="19011993">
              <a:off x="3905259" y="3819524"/>
              <a:ext cx="376235" cy="304799"/>
            </a:xfrm>
            <a:prstGeom prst="rightArrow">
              <a:avLst/>
            </a:prstGeom>
            <a:solidFill>
              <a:srgbClr val="C0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400">
                <a:latin typeface="Times New Roman" charset="0"/>
              </a:endParaRPr>
            </a:p>
          </p:txBody>
        </p:sp>
        <p:sp>
          <p:nvSpPr>
            <p:cNvPr id="22" name="Right Arrow 21"/>
            <p:cNvSpPr/>
            <p:nvPr/>
          </p:nvSpPr>
          <p:spPr bwMode="auto">
            <a:xfrm rot="5400000">
              <a:off x="5719767" y="2747964"/>
              <a:ext cx="259556" cy="302418"/>
            </a:xfrm>
            <a:prstGeom prst="rightArrow">
              <a:avLst/>
            </a:prstGeom>
            <a:solidFill>
              <a:srgbClr val="C0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400">
                <a:latin typeface="Times New Roman" charset="0"/>
              </a:endParaRPr>
            </a:p>
          </p:txBody>
        </p:sp>
        <p:sp>
          <p:nvSpPr>
            <p:cNvPr id="23" name="Right Arrow 22"/>
            <p:cNvSpPr/>
            <p:nvPr/>
          </p:nvSpPr>
          <p:spPr bwMode="auto">
            <a:xfrm rot="5400000">
              <a:off x="5772155" y="3814764"/>
              <a:ext cx="259556" cy="302418"/>
            </a:xfrm>
            <a:prstGeom prst="rightArrow">
              <a:avLst/>
            </a:prstGeom>
            <a:solidFill>
              <a:srgbClr val="C0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400">
                <a:latin typeface="Times New Roman" charset="0"/>
              </a:endParaRPr>
            </a:p>
          </p:txBody>
        </p:sp>
        <p:sp>
          <p:nvSpPr>
            <p:cNvPr id="24" name="Right Arrow 23"/>
            <p:cNvSpPr/>
            <p:nvPr/>
          </p:nvSpPr>
          <p:spPr bwMode="auto">
            <a:xfrm>
              <a:off x="6376991" y="4348164"/>
              <a:ext cx="271462" cy="300036"/>
            </a:xfrm>
            <a:prstGeom prst="rightArrow">
              <a:avLst/>
            </a:prstGeom>
            <a:solidFill>
              <a:srgbClr val="C0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400">
                <a:latin typeface="Times New Roman" charset="0"/>
              </a:endParaRPr>
            </a:p>
          </p:txBody>
        </p:sp>
        <p:sp>
          <p:nvSpPr>
            <p:cNvPr id="25" name="Up-Down Arrow 24"/>
            <p:cNvSpPr/>
            <p:nvPr/>
          </p:nvSpPr>
          <p:spPr bwMode="auto">
            <a:xfrm>
              <a:off x="6986586" y="3843337"/>
              <a:ext cx="257175" cy="357188"/>
            </a:xfrm>
            <a:prstGeom prst="upDownArrow">
              <a:avLst/>
            </a:prstGeom>
            <a:solidFill>
              <a:srgbClr val="C0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GB" sz="2400">
                <a:latin typeface="Times New Roman" charset="0"/>
              </a:endParaRPr>
            </a:p>
          </p:txBody>
        </p:sp>
      </p:grpSp>
    </p:spTree>
    <p:extLst>
      <p:ext uri="{BB962C8B-B14F-4D97-AF65-F5344CB8AC3E}">
        <p14:creationId xmlns:p14="http://schemas.microsoft.com/office/powerpoint/2010/main" val="366412850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3152542" y="457200"/>
            <a:ext cx="7896458" cy="523220"/>
          </a:xfrm>
        </p:spPr>
        <p:txBody>
          <a:bodyPr>
            <a:normAutofit fontScale="90000"/>
          </a:bodyPr>
          <a:lstStyle/>
          <a:p>
            <a:r>
              <a:rPr lang="en-SG" dirty="0" smtClean="0"/>
              <a:t>IDS rules, configuration</a:t>
            </a:r>
            <a:endParaRPr lang="en-SG" dirty="0"/>
          </a:p>
        </p:txBody>
      </p:sp>
      <p:sp>
        <p:nvSpPr>
          <p:cNvPr id="3" name="Content Placeholder 2"/>
          <p:cNvSpPr>
            <a:spLocks noGrp="1"/>
          </p:cNvSpPr>
          <p:nvPr>
            <p:ph idx="1"/>
          </p:nvPr>
        </p:nvSpPr>
        <p:spPr>
          <a:xfrm>
            <a:off x="1524001" y="1828801"/>
            <a:ext cx="9258661" cy="4870047"/>
          </a:xfrm>
        </p:spPr>
        <p:txBody>
          <a:bodyPr>
            <a:normAutofit lnSpcReduction="10000"/>
          </a:bodyPr>
          <a:lstStyle/>
          <a:p>
            <a:pPr marL="0" indent="0">
              <a:buNone/>
            </a:pPr>
            <a:r>
              <a:rPr lang="en-SG" sz="2500" u="sng" dirty="0"/>
              <a:t>Network Based Set Up (NIDS)</a:t>
            </a:r>
            <a:r>
              <a:rPr lang="en-SG" sz="2500" dirty="0"/>
              <a:t>:</a:t>
            </a:r>
          </a:p>
          <a:p>
            <a:pPr marL="342900" indent="-342900">
              <a:buFontTx/>
              <a:buChar char="-"/>
            </a:pPr>
            <a:endParaRPr lang="en-SG" sz="2500" dirty="0"/>
          </a:p>
          <a:p>
            <a:pPr marL="95250" indent="6350"/>
            <a:r>
              <a:rPr lang="en-SG" sz="2500" dirty="0"/>
              <a:t>Concerned with </a:t>
            </a:r>
            <a:r>
              <a:rPr lang="en-SG" sz="2500" u="sng" dirty="0"/>
              <a:t>bits and bytes</a:t>
            </a:r>
            <a:r>
              <a:rPr lang="en-SG" sz="2500" dirty="0"/>
              <a:t> traveling through cables </a:t>
            </a:r>
            <a:br>
              <a:rPr lang="en-SG" sz="2500" dirty="0"/>
            </a:br>
            <a:r>
              <a:rPr lang="en-SG" sz="2500" dirty="0"/>
              <a:t>interconnecting the systems. Capable of collecting packets and examining them individually, or reassembles them into an entire</a:t>
            </a:r>
            <a:br>
              <a:rPr lang="en-SG" sz="2500" dirty="0"/>
            </a:br>
            <a:r>
              <a:rPr lang="en-SG" sz="2500" dirty="0"/>
              <a:t>traffic session.</a:t>
            </a:r>
          </a:p>
          <a:p>
            <a:pPr marL="530225" indent="-428625"/>
            <a:endParaRPr lang="en-SG" sz="2500" dirty="0"/>
          </a:p>
          <a:p>
            <a:pPr marL="1428750" indent="-1327150"/>
            <a:r>
              <a:rPr lang="en-SG" sz="2500" dirty="0"/>
              <a:t>Analysis: Analyse traffic by </a:t>
            </a:r>
            <a:r>
              <a:rPr lang="en-SG" sz="2500" u="sng" dirty="0"/>
              <a:t>protocol, type, amount, source,</a:t>
            </a:r>
            <a:br>
              <a:rPr lang="en-SG" sz="2500" u="sng" dirty="0"/>
            </a:br>
            <a:r>
              <a:rPr lang="en-SG" sz="2500" u="sng" dirty="0"/>
              <a:t>destination, content, and traffic</a:t>
            </a:r>
            <a:r>
              <a:rPr lang="en-SG" sz="2500" dirty="0"/>
              <a:t> already seen. </a:t>
            </a:r>
          </a:p>
          <a:p>
            <a:pPr marL="530225" indent="-428625"/>
            <a:endParaRPr lang="en-SG" sz="2500" dirty="0"/>
          </a:p>
          <a:p>
            <a:pPr marL="2419350" indent="-2317750"/>
            <a:r>
              <a:rPr lang="en-SG" sz="2500" dirty="0" err="1"/>
              <a:t>Eg</a:t>
            </a:r>
            <a:r>
              <a:rPr lang="en-SG" sz="2500" dirty="0"/>
              <a:t>. Ping Flood – To remember and count the number of ping   from a specific IP.</a:t>
            </a:r>
          </a:p>
          <a:p>
            <a:endParaRPr lang="en-SG" sz="2500" dirty="0"/>
          </a:p>
          <a:p>
            <a:endParaRPr lang="en-SG" sz="2500" dirty="0"/>
          </a:p>
        </p:txBody>
      </p:sp>
    </p:spTree>
    <p:extLst>
      <p:ext uri="{BB962C8B-B14F-4D97-AF65-F5344CB8AC3E}">
        <p14:creationId xmlns:p14="http://schemas.microsoft.com/office/powerpoint/2010/main" val="1146646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895600" y="533400"/>
            <a:ext cx="7896458" cy="523220"/>
          </a:xfrm>
        </p:spPr>
        <p:txBody>
          <a:bodyPr>
            <a:normAutofit fontScale="90000"/>
          </a:bodyPr>
          <a:lstStyle/>
          <a:p>
            <a:r>
              <a:rPr lang="en-SG" dirty="0" smtClean="0"/>
              <a:t>IDS rules, configuration</a:t>
            </a:r>
            <a:endParaRPr lang="en-SG" dirty="0"/>
          </a:p>
        </p:txBody>
      </p:sp>
      <p:sp>
        <p:nvSpPr>
          <p:cNvPr id="3" name="Content Placeholder 2"/>
          <p:cNvSpPr>
            <a:spLocks noGrp="1"/>
          </p:cNvSpPr>
          <p:nvPr>
            <p:ph idx="1"/>
          </p:nvPr>
        </p:nvSpPr>
        <p:spPr>
          <a:xfrm>
            <a:off x="1892818" y="2133600"/>
            <a:ext cx="8636000" cy="4231928"/>
          </a:xfrm>
        </p:spPr>
        <p:txBody>
          <a:bodyPr>
            <a:normAutofit fontScale="92500" lnSpcReduction="10000"/>
          </a:bodyPr>
          <a:lstStyle/>
          <a:p>
            <a:pPr marL="0" indent="0">
              <a:buNone/>
            </a:pPr>
            <a:r>
              <a:rPr lang="en-SG" sz="2500" u="sng" dirty="0"/>
              <a:t>Network Based Set Up (NIDS)</a:t>
            </a:r>
            <a:r>
              <a:rPr lang="en-SG" sz="2500" dirty="0"/>
              <a:t>:</a:t>
            </a:r>
          </a:p>
          <a:p>
            <a:pPr marL="530225" indent="-428625">
              <a:buFont typeface="Arial" panose="020B0604020202020204" pitchFamily="34" charset="0"/>
              <a:buChar char="•"/>
            </a:pPr>
            <a:r>
              <a:rPr lang="en-SG" sz="2500" dirty="0"/>
              <a:t>Looks for activities that </a:t>
            </a:r>
            <a:r>
              <a:rPr lang="en-SG" sz="2500" u="sng" dirty="0"/>
              <a:t>represent hostile actions or misuse</a:t>
            </a:r>
          </a:p>
          <a:p>
            <a:pPr marL="530225" indent="-428625">
              <a:buFont typeface="Arial" panose="020B0604020202020204" pitchFamily="34" charset="0"/>
              <a:buChar char="•"/>
            </a:pPr>
            <a:r>
              <a:rPr lang="en-SG" sz="2500" dirty="0"/>
              <a:t>Denial-of-Service attacks</a:t>
            </a:r>
          </a:p>
          <a:p>
            <a:pPr marL="530225" indent="-428625">
              <a:buFont typeface="Arial" panose="020B0604020202020204" pitchFamily="34" charset="0"/>
              <a:buChar char="•"/>
            </a:pPr>
            <a:r>
              <a:rPr lang="en-SG" sz="2500" dirty="0"/>
              <a:t>Port scans or sweeps</a:t>
            </a:r>
          </a:p>
          <a:p>
            <a:pPr marL="530225" indent="-428625">
              <a:buFont typeface="Arial" panose="020B0604020202020204" pitchFamily="34" charset="0"/>
              <a:buChar char="•"/>
            </a:pPr>
            <a:r>
              <a:rPr lang="en-SG" sz="2500" dirty="0"/>
              <a:t>Malicious content in the data payload of a packet or packets</a:t>
            </a:r>
          </a:p>
          <a:p>
            <a:pPr marL="530225" indent="-428625">
              <a:buFont typeface="Arial" panose="020B0604020202020204" pitchFamily="34" charset="0"/>
              <a:buChar char="•"/>
            </a:pPr>
            <a:r>
              <a:rPr lang="en-SG" sz="2500" dirty="0"/>
              <a:t>Vulnerability scanning</a:t>
            </a:r>
          </a:p>
          <a:p>
            <a:pPr marL="530225" indent="-428625">
              <a:buFont typeface="Arial" panose="020B0604020202020204" pitchFamily="34" charset="0"/>
              <a:buChar char="•"/>
            </a:pPr>
            <a:r>
              <a:rPr lang="en-SG" sz="2500" dirty="0"/>
              <a:t>Trojans, viruses, or worms</a:t>
            </a:r>
          </a:p>
          <a:p>
            <a:pPr marL="530225" indent="-428625">
              <a:buFont typeface="Arial" panose="020B0604020202020204" pitchFamily="34" charset="0"/>
              <a:buChar char="•"/>
            </a:pPr>
            <a:r>
              <a:rPr lang="en-SG" sz="2500" dirty="0" err="1"/>
              <a:t>Tunneling</a:t>
            </a:r>
            <a:endParaRPr lang="en-SG" sz="2500" dirty="0"/>
          </a:p>
          <a:p>
            <a:pPr marL="530225" indent="-428625">
              <a:buFont typeface="Arial" panose="020B0604020202020204" pitchFamily="34" charset="0"/>
              <a:buChar char="•"/>
            </a:pPr>
            <a:r>
              <a:rPr lang="en-SG" sz="2500" dirty="0"/>
              <a:t>Brute-force attacks</a:t>
            </a:r>
          </a:p>
        </p:txBody>
      </p:sp>
    </p:spTree>
    <p:extLst>
      <p:ext uri="{BB962C8B-B14F-4D97-AF65-F5344CB8AC3E}">
        <p14:creationId xmlns:p14="http://schemas.microsoft.com/office/powerpoint/2010/main" val="925224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886203" y="457200"/>
            <a:ext cx="7896458" cy="523220"/>
          </a:xfrm>
        </p:spPr>
        <p:txBody>
          <a:bodyPr>
            <a:normAutofit fontScale="90000"/>
          </a:bodyPr>
          <a:lstStyle/>
          <a:p>
            <a:r>
              <a:rPr lang="en-SG" dirty="0" smtClean="0"/>
              <a:t>IDS rules, configuration</a:t>
            </a:r>
            <a:endParaRPr lang="en-SG" dirty="0"/>
          </a:p>
        </p:txBody>
      </p:sp>
      <p:sp>
        <p:nvSpPr>
          <p:cNvPr id="3" name="Content Placeholder 2"/>
          <p:cNvSpPr>
            <a:spLocks noGrp="1"/>
          </p:cNvSpPr>
          <p:nvPr>
            <p:ph idx="1"/>
          </p:nvPr>
        </p:nvSpPr>
        <p:spPr>
          <a:xfrm>
            <a:off x="1524001" y="2514601"/>
            <a:ext cx="9258661" cy="1538883"/>
          </a:xfrm>
        </p:spPr>
        <p:txBody>
          <a:bodyPr/>
          <a:lstStyle/>
          <a:p>
            <a:pPr marL="0" indent="0">
              <a:buNone/>
            </a:pPr>
            <a:r>
              <a:rPr lang="en-SG" sz="2500" u="sng" dirty="0"/>
              <a:t>IDS Signatures</a:t>
            </a:r>
            <a:r>
              <a:rPr lang="en-SG" sz="2500" dirty="0"/>
              <a:t>: </a:t>
            </a:r>
          </a:p>
          <a:p>
            <a:pPr marL="0" indent="0">
              <a:buNone/>
            </a:pPr>
            <a:endParaRPr lang="en-SG" sz="2500" dirty="0"/>
          </a:p>
          <a:p>
            <a:pPr marL="0" indent="0">
              <a:buNone/>
            </a:pPr>
            <a:r>
              <a:rPr lang="en-SG" sz="2500" dirty="0"/>
              <a:t>Two main types: </a:t>
            </a:r>
            <a:r>
              <a:rPr lang="en-SG" sz="2500" u="sng" dirty="0"/>
              <a:t>Content</a:t>
            </a:r>
            <a:r>
              <a:rPr lang="en-SG" sz="2500" dirty="0"/>
              <a:t> and </a:t>
            </a:r>
            <a:r>
              <a:rPr lang="en-SG" sz="2500" u="sng" dirty="0"/>
              <a:t>Context</a:t>
            </a:r>
          </a:p>
          <a:p>
            <a:endParaRPr lang="en-SG" sz="2500" dirty="0"/>
          </a:p>
        </p:txBody>
      </p:sp>
    </p:spTree>
    <p:extLst>
      <p:ext uri="{BB962C8B-B14F-4D97-AF65-F5344CB8AC3E}">
        <p14:creationId xmlns:p14="http://schemas.microsoft.com/office/powerpoint/2010/main" val="299642103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743200" y="457200"/>
            <a:ext cx="7896458" cy="523220"/>
          </a:xfrm>
        </p:spPr>
        <p:txBody>
          <a:bodyPr>
            <a:normAutofit fontScale="90000"/>
          </a:bodyPr>
          <a:lstStyle/>
          <a:p>
            <a:r>
              <a:rPr lang="en-SG" dirty="0" smtClean="0"/>
              <a:t>IDS rules, configuration</a:t>
            </a:r>
            <a:endParaRPr lang="en-SG" dirty="0"/>
          </a:p>
        </p:txBody>
      </p:sp>
      <p:sp>
        <p:nvSpPr>
          <p:cNvPr id="3" name="Content Placeholder 2"/>
          <p:cNvSpPr>
            <a:spLocks noGrp="1"/>
          </p:cNvSpPr>
          <p:nvPr>
            <p:ph idx="1"/>
          </p:nvPr>
        </p:nvSpPr>
        <p:spPr>
          <a:xfrm>
            <a:off x="1600201" y="1981200"/>
            <a:ext cx="9258661" cy="4876800"/>
          </a:xfrm>
        </p:spPr>
        <p:txBody>
          <a:bodyPr>
            <a:normAutofit lnSpcReduction="10000"/>
          </a:bodyPr>
          <a:lstStyle/>
          <a:p>
            <a:pPr marL="0" indent="0">
              <a:buNone/>
            </a:pPr>
            <a:r>
              <a:rPr lang="en-SG" sz="2500" u="sng" dirty="0"/>
              <a:t>IDS Content Signatures</a:t>
            </a:r>
            <a:r>
              <a:rPr lang="en-SG" sz="2500" dirty="0"/>
              <a:t>: </a:t>
            </a:r>
          </a:p>
          <a:p>
            <a:pPr marL="342900" indent="-342900">
              <a:buFontTx/>
              <a:buChar char="-"/>
            </a:pPr>
            <a:endParaRPr lang="en-SG" sz="2500" dirty="0"/>
          </a:p>
          <a:p>
            <a:pPr marL="0" indent="0">
              <a:buNone/>
            </a:pPr>
            <a:r>
              <a:rPr lang="en-US" sz="2800" dirty="0"/>
              <a:t>Look at the </a:t>
            </a:r>
            <a:r>
              <a:rPr lang="en-US" sz="2800" u="sng" dirty="0"/>
              <a:t>content</a:t>
            </a:r>
            <a:r>
              <a:rPr lang="en-US" sz="2800" dirty="0"/>
              <a:t> of network packets or log entries</a:t>
            </a:r>
          </a:p>
          <a:p>
            <a:pPr marL="0" indent="0">
              <a:buNone/>
            </a:pPr>
            <a:r>
              <a:rPr lang="en-US" sz="2800" dirty="0"/>
              <a:t>Easy to build</a:t>
            </a:r>
          </a:p>
          <a:p>
            <a:pPr marL="101600" indent="0">
              <a:buNone/>
            </a:pPr>
            <a:r>
              <a:rPr lang="en-US" sz="2800" dirty="0" err="1"/>
              <a:t>eg</a:t>
            </a:r>
            <a:r>
              <a:rPr lang="en-US" sz="2800" dirty="0"/>
              <a:t>.</a:t>
            </a:r>
            <a:r>
              <a:rPr lang="en-US" sz="2400" dirty="0"/>
              <a:t> </a:t>
            </a:r>
            <a:r>
              <a:rPr lang="en-US" sz="2400" u="sng" dirty="0"/>
              <a:t>certain string of characters or a certain flag </a:t>
            </a:r>
            <a:r>
              <a:rPr lang="en-US" sz="2400" dirty="0"/>
              <a:t>set in a TCP packet.</a:t>
            </a:r>
          </a:p>
          <a:p>
            <a:pPr marL="101600" indent="0">
              <a:buNone/>
            </a:pPr>
            <a:r>
              <a:rPr lang="en-SG" sz="2500" dirty="0"/>
              <a:t>      Matching the characters “/</a:t>
            </a:r>
            <a:r>
              <a:rPr lang="en-SG" sz="2500" dirty="0" err="1"/>
              <a:t>etc</a:t>
            </a:r>
            <a:r>
              <a:rPr lang="en-SG" sz="2500" dirty="0"/>
              <a:t>/</a:t>
            </a:r>
            <a:r>
              <a:rPr lang="en-SG" sz="2500" dirty="0" err="1"/>
              <a:t>passwd</a:t>
            </a:r>
            <a:r>
              <a:rPr lang="en-SG" sz="2500" dirty="0"/>
              <a:t>” in a telnet session </a:t>
            </a:r>
          </a:p>
          <a:p>
            <a:pPr marL="530225" indent="0">
              <a:buNone/>
            </a:pPr>
            <a:r>
              <a:rPr lang="en-SG" sz="2500" dirty="0"/>
              <a:t>someone is trying to retrieve the UNIX password file.</a:t>
            </a:r>
            <a:br>
              <a:rPr lang="en-SG" sz="2500" dirty="0"/>
            </a:br>
            <a:r>
              <a:rPr lang="en-SG" sz="2500" dirty="0"/>
              <a:t/>
            </a:r>
            <a:br>
              <a:rPr lang="en-SG" sz="2500" dirty="0"/>
            </a:br>
            <a:r>
              <a:rPr lang="en-SG" sz="2500" dirty="0"/>
              <a:t>Matching a TCP segment with the sync, reset and urgent flags all set combination of these flags is abnormal and indicates the segment is hand-crafted!</a:t>
            </a:r>
          </a:p>
          <a:p>
            <a:pPr marL="101600" indent="0">
              <a:buNone/>
            </a:pPr>
            <a:endParaRPr lang="en-SG" sz="2500" dirty="0"/>
          </a:p>
        </p:txBody>
      </p:sp>
    </p:spTree>
    <p:extLst>
      <p:ext uri="{BB962C8B-B14F-4D97-AF65-F5344CB8AC3E}">
        <p14:creationId xmlns:p14="http://schemas.microsoft.com/office/powerpoint/2010/main" val="149546589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971800" y="533400"/>
            <a:ext cx="7896458" cy="523220"/>
          </a:xfrm>
        </p:spPr>
        <p:txBody>
          <a:bodyPr>
            <a:normAutofit fontScale="90000"/>
          </a:bodyPr>
          <a:lstStyle/>
          <a:p>
            <a:r>
              <a:rPr lang="en-SG" dirty="0" smtClean="0"/>
              <a:t>IDS rules, configuration</a:t>
            </a:r>
            <a:endParaRPr lang="en-SG" dirty="0"/>
          </a:p>
        </p:txBody>
      </p:sp>
      <p:sp>
        <p:nvSpPr>
          <p:cNvPr id="3" name="Content Placeholder 2"/>
          <p:cNvSpPr>
            <a:spLocks noGrp="1"/>
          </p:cNvSpPr>
          <p:nvPr>
            <p:ph idx="1"/>
          </p:nvPr>
        </p:nvSpPr>
        <p:spPr>
          <a:xfrm>
            <a:off x="1447801" y="2590801"/>
            <a:ext cx="9258661" cy="2693045"/>
          </a:xfrm>
        </p:spPr>
        <p:txBody>
          <a:bodyPr>
            <a:normAutofit fontScale="92500" lnSpcReduction="20000"/>
          </a:bodyPr>
          <a:lstStyle/>
          <a:p>
            <a:pPr marL="0" indent="0">
              <a:buNone/>
            </a:pPr>
            <a:r>
              <a:rPr lang="en-SG" sz="2500" u="sng" dirty="0"/>
              <a:t>IDS Context Signatures</a:t>
            </a:r>
            <a:r>
              <a:rPr lang="en-SG" sz="2500" dirty="0"/>
              <a:t>: </a:t>
            </a:r>
          </a:p>
          <a:p>
            <a:pPr marL="342900" indent="-342900">
              <a:buFontTx/>
              <a:buChar char="-"/>
            </a:pPr>
            <a:endParaRPr lang="en-SG" sz="2500" dirty="0"/>
          </a:p>
          <a:p>
            <a:r>
              <a:rPr lang="en-SG" sz="2500" dirty="0"/>
              <a:t>Match </a:t>
            </a:r>
            <a:r>
              <a:rPr lang="en-SG" sz="2500" u="sng" dirty="0"/>
              <a:t>large patterns of activity</a:t>
            </a:r>
            <a:r>
              <a:rPr lang="en-SG" sz="2500" dirty="0"/>
              <a:t> and examine </a:t>
            </a:r>
            <a:r>
              <a:rPr lang="en-SG" sz="2500" u="sng" dirty="0"/>
              <a:t>how</a:t>
            </a:r>
            <a:r>
              <a:rPr lang="en-SG" sz="2500" dirty="0"/>
              <a:t> certain types of activities fit into the other activities </a:t>
            </a:r>
            <a:r>
              <a:rPr lang="en-SG" sz="2500" u="sng" dirty="0"/>
              <a:t>going on around them</a:t>
            </a:r>
            <a:r>
              <a:rPr lang="en-SG" sz="2500" dirty="0"/>
              <a:t>.</a:t>
            </a:r>
          </a:p>
          <a:p>
            <a:pPr marL="0" indent="0">
              <a:buNone/>
            </a:pPr>
            <a:endParaRPr lang="en-SG" sz="2500" dirty="0"/>
          </a:p>
          <a:p>
            <a:pPr marL="438150" indent="-73025">
              <a:buNone/>
            </a:pPr>
            <a:r>
              <a:rPr lang="en-SG" sz="2500" dirty="0" err="1"/>
              <a:t>Eg</a:t>
            </a:r>
            <a:r>
              <a:rPr lang="en-SG" sz="2500" dirty="0"/>
              <a:t>: “how does this event compare to other events that have already happened or might happen in the near future?”</a:t>
            </a:r>
          </a:p>
        </p:txBody>
      </p:sp>
    </p:spTree>
    <p:extLst>
      <p:ext uri="{BB962C8B-B14F-4D97-AF65-F5344CB8AC3E}">
        <p14:creationId xmlns:p14="http://schemas.microsoft.com/office/powerpoint/2010/main" val="272029632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609598" y="1971613"/>
            <a:ext cx="9258661" cy="769441"/>
          </a:xfrm>
        </p:spPr>
        <p:txBody>
          <a:bodyPr/>
          <a:lstStyle/>
          <a:p>
            <a:pPr marL="342900" indent="-342900">
              <a:buFontTx/>
              <a:buChar char="-"/>
            </a:pPr>
            <a:r>
              <a:rPr lang="en-SG" sz="2500" u="sng" dirty="0"/>
              <a:t>Signatures Examples (Snort)</a:t>
            </a:r>
            <a:r>
              <a:rPr lang="en-SG" sz="2500" dirty="0"/>
              <a:t>: </a:t>
            </a:r>
          </a:p>
          <a:p>
            <a:pPr marL="342900" indent="-342900">
              <a:buFontTx/>
              <a:buChar char="-"/>
            </a:pPr>
            <a:endParaRPr lang="en-SG" sz="2500" dirty="0"/>
          </a:p>
        </p:txBody>
      </p:sp>
      <p:sp>
        <p:nvSpPr>
          <p:cNvPr id="4" name="Slide Number Placeholder 3"/>
          <p:cNvSpPr>
            <a:spLocks noGrp="1"/>
          </p:cNvSpPr>
          <p:nvPr>
            <p:ph type="sldNum" sz="quarter" idx="4294967295"/>
          </p:nvPr>
        </p:nvSpPr>
        <p:spPr>
          <a:xfrm>
            <a:off x="10328064" y="6490380"/>
            <a:ext cx="237331" cy="500137"/>
          </a:xfrm>
          <a:prstGeom prst="rect">
            <a:avLst/>
          </a:prstGeom>
        </p:spPr>
        <p:txBody>
          <a:bodyPr/>
          <a:lstStyle/>
          <a:p>
            <a:pPr>
              <a:defRPr/>
            </a:pPr>
            <a:fld id="{D87A0F89-ED2C-476F-A165-8F2BC3D842C9}" type="slidenum">
              <a:rPr lang="en-US" altLang="en-US" smtClean="0"/>
              <a:pPr>
                <a:defRPr/>
              </a:pPr>
              <a:t>23</a:t>
            </a:fld>
            <a:endParaRPr lang="en-US" altLang="en-US"/>
          </a:p>
        </p:txBody>
      </p:sp>
      <p:sp>
        <p:nvSpPr>
          <p:cNvPr id="6" name="Title 1"/>
          <p:cNvSpPr>
            <a:spLocks noGrp="1"/>
          </p:cNvSpPr>
          <p:nvPr>
            <p:ph type="title"/>
          </p:nvPr>
        </p:nvSpPr>
        <p:spPr>
          <a:xfrm>
            <a:off x="2971800" y="685800"/>
            <a:ext cx="7896458" cy="523220"/>
          </a:xfrm>
        </p:spPr>
        <p:txBody>
          <a:bodyPr>
            <a:normAutofit fontScale="90000"/>
          </a:bodyPr>
          <a:lstStyle/>
          <a:p>
            <a:r>
              <a:rPr lang="en-SG" dirty="0" smtClean="0"/>
              <a:t>IDS rules, configuration</a:t>
            </a:r>
            <a:endParaRPr lang="en-SG" dirty="0"/>
          </a:p>
        </p:txBody>
      </p:sp>
      <p:sp>
        <p:nvSpPr>
          <p:cNvPr id="7" name="Content Placeholder 2"/>
          <p:cNvSpPr txBox="1">
            <a:spLocks/>
          </p:cNvSpPr>
          <p:nvPr/>
        </p:nvSpPr>
        <p:spPr>
          <a:xfrm>
            <a:off x="1828800" y="2498421"/>
            <a:ext cx="8229600" cy="4359580"/>
          </a:xfrm>
          <a:prstGeom prst="rect">
            <a:avLst/>
          </a:prstGeom>
        </p:spPr>
        <p:txBody>
          <a:bodyPr wrap="square" lIns="0" tIns="0" rIns="0" bIns="0">
            <a:normAutofit/>
          </a:bodyPr>
          <a:lstStyle>
            <a:lvl1pPr marL="0" eaLnBrk="1" hangingPunct="1">
              <a:defRPr sz="3200" b="0" i="0">
                <a:solidFill>
                  <a:schemeClr val="tx1"/>
                </a:solidFill>
                <a:latin typeface="Tahoma"/>
                <a:ea typeface="+mn-ea"/>
                <a:cs typeface="Tahoma"/>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r>
              <a:rPr lang="en-US" sz="1600" kern="0">
                <a:latin typeface="Courier New"/>
                <a:cs typeface="Courier New"/>
              </a:rPr>
              <a:t>alert icmp $EXTERNAL_NET any -&gt; $HOME_NET any</a:t>
            </a:r>
          </a:p>
          <a:p>
            <a:r>
              <a:rPr lang="en-US" sz="1600" kern="0">
                <a:latin typeface="Courier New"/>
                <a:cs typeface="Courier New"/>
              </a:rPr>
              <a:t>(msg:</a:t>
            </a:r>
            <a:r>
              <a:rPr lang="ja-JP" altLang="en-US" sz="1600" kern="0">
                <a:latin typeface="Courier New"/>
                <a:cs typeface="Courier New"/>
              </a:rPr>
              <a:t>”</a:t>
            </a:r>
            <a:r>
              <a:rPr lang="en-US" sz="1600" kern="0">
                <a:latin typeface="Courier New"/>
                <a:cs typeface="Courier New"/>
              </a:rPr>
              <a:t>ICMP PING NMAP</a:t>
            </a:r>
            <a:r>
              <a:rPr lang="ja-JP" altLang="en-US" sz="1600" kern="0">
                <a:latin typeface="Courier New"/>
                <a:cs typeface="Courier New"/>
              </a:rPr>
              <a:t>”</a:t>
            </a:r>
            <a:r>
              <a:rPr lang="en-US" sz="1600" kern="0">
                <a:latin typeface="Courier New"/>
                <a:cs typeface="Courier New"/>
              </a:rPr>
              <a:t>; dsize: 0; itype: 8;)</a:t>
            </a:r>
          </a:p>
          <a:p>
            <a:endParaRPr lang="en-US" sz="1400" kern="0">
              <a:latin typeface="Courier New" charset="0"/>
            </a:endParaRPr>
          </a:p>
          <a:p>
            <a:pPr lvl="1"/>
            <a:r>
              <a:rPr lang="en-US" kern="0">
                <a:solidFill>
                  <a:sysClr val="windowText" lastClr="000000"/>
                </a:solidFill>
              </a:rPr>
              <a:t>Rule generates alert for ICMP having empty payload, ICMP type 8, and</a:t>
            </a:r>
            <a:br>
              <a:rPr lang="en-US" kern="0">
                <a:solidFill>
                  <a:sysClr val="windowText" lastClr="000000"/>
                </a:solidFill>
              </a:rPr>
            </a:br>
            <a:r>
              <a:rPr lang="en-US" kern="0">
                <a:solidFill>
                  <a:sysClr val="windowText" lastClr="000000"/>
                </a:solidFill>
              </a:rPr>
              <a:t>arriving from the outside. </a:t>
            </a:r>
          </a:p>
          <a:p>
            <a:pPr lvl="1"/>
            <a:r>
              <a:rPr lang="en-US" kern="0">
                <a:solidFill>
                  <a:sysClr val="windowText" lastClr="000000"/>
                </a:solidFill>
              </a:rPr>
              <a:t>This is part of an NMAP ping.</a:t>
            </a:r>
          </a:p>
          <a:p>
            <a:endParaRPr lang="en-US" sz="1600" kern="0">
              <a:latin typeface="Comic Sans MS" charset="0"/>
            </a:endParaRPr>
          </a:p>
          <a:p>
            <a:r>
              <a:rPr lang="en-US" sz="1600" kern="0">
                <a:latin typeface="Courier New"/>
                <a:cs typeface="Courier New"/>
              </a:rPr>
              <a:t>alert tcp $EXTERNAL_NET any -&gt; $HOME_NET 139</a:t>
            </a:r>
          </a:p>
          <a:p>
            <a:r>
              <a:rPr lang="en-US" sz="1600" kern="0">
                <a:latin typeface="Courier New"/>
                <a:cs typeface="Courier New"/>
              </a:rPr>
              <a:t>(msg: </a:t>
            </a:r>
            <a:r>
              <a:rPr lang="ja-JP" altLang="en-US" sz="1600" kern="0">
                <a:latin typeface="Courier New"/>
                <a:cs typeface="Courier New"/>
              </a:rPr>
              <a:t>“</a:t>
            </a:r>
            <a:r>
              <a:rPr lang="en-US" sz="1600" kern="0">
                <a:latin typeface="Courier New"/>
                <a:cs typeface="Courier New"/>
              </a:rPr>
              <a:t>DOS SMBdie attack</a:t>
            </a:r>
            <a:r>
              <a:rPr lang="ja-JP" altLang="en-US" sz="1600" kern="0">
                <a:latin typeface="Courier New"/>
                <a:cs typeface="Courier New"/>
              </a:rPr>
              <a:t>”</a:t>
            </a:r>
            <a:r>
              <a:rPr lang="en-US" sz="1600" kern="0">
                <a:latin typeface="Courier New"/>
                <a:cs typeface="Courier New"/>
              </a:rPr>
              <a:t>:; flags: A+; content:</a:t>
            </a:r>
            <a:r>
              <a:rPr lang="ja-JP" altLang="en-US" sz="1600" kern="0">
                <a:latin typeface="Courier New"/>
                <a:cs typeface="Courier New"/>
              </a:rPr>
              <a:t>“</a:t>
            </a:r>
            <a:r>
              <a:rPr lang="en-US" sz="1600" kern="0">
                <a:latin typeface="Courier New"/>
                <a:cs typeface="Courier New"/>
              </a:rPr>
              <a:t>57724c6568004577a|</a:t>
            </a:r>
            <a:r>
              <a:rPr lang="ja-JP" altLang="en-US" sz="1600" kern="0">
                <a:latin typeface="Courier New"/>
                <a:cs typeface="Courier New"/>
              </a:rPr>
              <a:t>”</a:t>
            </a:r>
            <a:r>
              <a:rPr lang="en-US" sz="1600" kern="0">
                <a:latin typeface="Courier New"/>
                <a:cs typeface="Courier New"/>
              </a:rPr>
              <a:t>;)</a:t>
            </a:r>
          </a:p>
          <a:p>
            <a:endParaRPr lang="en-US" sz="1400" kern="0">
              <a:latin typeface="Courier New" charset="0"/>
            </a:endParaRPr>
          </a:p>
          <a:p>
            <a:pPr lvl="1"/>
            <a:r>
              <a:rPr lang="en-US" kern="0">
                <a:solidFill>
                  <a:sysClr val="windowText" lastClr="000000"/>
                </a:solidFill>
              </a:rPr>
              <a:t>Rule generates alert if a TCP packet from outside contains |57724c6568004577a| in payload and is headed to port 139 (netbios) </a:t>
            </a:r>
            <a:br>
              <a:rPr lang="en-US" kern="0">
                <a:solidFill>
                  <a:sysClr val="windowText" lastClr="000000"/>
                </a:solidFill>
              </a:rPr>
            </a:br>
            <a:r>
              <a:rPr lang="en-US" kern="0">
                <a:solidFill>
                  <a:sysClr val="windowText" lastClr="000000"/>
                </a:solidFill>
              </a:rPr>
              <a:t>for some internal host. </a:t>
            </a:r>
          </a:p>
          <a:p>
            <a:pPr lvl="1"/>
            <a:r>
              <a:rPr lang="en-US" kern="0">
                <a:solidFill>
                  <a:sysClr val="windowText" lastClr="000000"/>
                </a:solidFill>
              </a:rPr>
              <a:t>This is part of a buffer overflow attack on a computer running Server Message Block Service.</a:t>
            </a:r>
          </a:p>
          <a:p>
            <a:endParaRPr lang="en-US" sz="1600" kern="0">
              <a:latin typeface="Comic Sans MS" charset="0"/>
            </a:endParaRPr>
          </a:p>
          <a:p>
            <a:endParaRPr lang="en-US" sz="1400" kern="0">
              <a:latin typeface="Courier New" charset="0"/>
            </a:endParaRPr>
          </a:p>
          <a:p>
            <a:endParaRPr lang="en-US" kern="0" dirty="0"/>
          </a:p>
        </p:txBody>
      </p:sp>
    </p:spTree>
    <p:extLst>
      <p:ext uri="{BB962C8B-B14F-4D97-AF65-F5344CB8AC3E}">
        <p14:creationId xmlns:p14="http://schemas.microsoft.com/office/powerpoint/2010/main" val="117280951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609598" y="1971613"/>
            <a:ext cx="9258661" cy="769441"/>
          </a:xfrm>
        </p:spPr>
        <p:txBody>
          <a:bodyPr/>
          <a:lstStyle/>
          <a:p>
            <a:pPr marL="342900" indent="-342900">
              <a:buFontTx/>
              <a:buChar char="-"/>
            </a:pPr>
            <a:r>
              <a:rPr lang="en-SG" sz="2500" u="sng" dirty="0"/>
              <a:t>Signatures Examples (Snort)</a:t>
            </a:r>
            <a:r>
              <a:rPr lang="en-SG" sz="2500" dirty="0"/>
              <a:t>: </a:t>
            </a:r>
          </a:p>
          <a:p>
            <a:pPr marL="342900" indent="-342900">
              <a:buFontTx/>
              <a:buChar char="-"/>
            </a:pPr>
            <a:endParaRPr lang="en-SG" sz="2500" dirty="0"/>
          </a:p>
        </p:txBody>
      </p:sp>
      <p:sp>
        <p:nvSpPr>
          <p:cNvPr id="4" name="Slide Number Placeholder 3"/>
          <p:cNvSpPr>
            <a:spLocks noGrp="1"/>
          </p:cNvSpPr>
          <p:nvPr>
            <p:ph type="sldNum" sz="quarter" idx="4294967295"/>
          </p:nvPr>
        </p:nvSpPr>
        <p:spPr>
          <a:xfrm>
            <a:off x="10328064" y="6490380"/>
            <a:ext cx="237331" cy="500137"/>
          </a:xfrm>
          <a:prstGeom prst="rect">
            <a:avLst/>
          </a:prstGeom>
        </p:spPr>
        <p:txBody>
          <a:bodyPr/>
          <a:lstStyle/>
          <a:p>
            <a:pPr>
              <a:defRPr/>
            </a:pPr>
            <a:fld id="{D87A0F89-ED2C-476F-A165-8F2BC3D842C9}" type="slidenum">
              <a:rPr lang="en-US" altLang="en-US" smtClean="0"/>
              <a:pPr>
                <a:defRPr/>
              </a:pPr>
              <a:t>24</a:t>
            </a:fld>
            <a:endParaRPr lang="en-US" altLang="en-US"/>
          </a:p>
        </p:txBody>
      </p:sp>
      <p:sp>
        <p:nvSpPr>
          <p:cNvPr id="6" name="Title 1"/>
          <p:cNvSpPr>
            <a:spLocks noGrp="1"/>
          </p:cNvSpPr>
          <p:nvPr>
            <p:ph type="title"/>
          </p:nvPr>
        </p:nvSpPr>
        <p:spPr>
          <a:xfrm>
            <a:off x="2971800" y="685800"/>
            <a:ext cx="7896458" cy="523220"/>
          </a:xfrm>
        </p:spPr>
        <p:txBody>
          <a:bodyPr>
            <a:normAutofit fontScale="90000"/>
          </a:bodyPr>
          <a:lstStyle/>
          <a:p>
            <a:r>
              <a:rPr lang="en-SG" dirty="0" smtClean="0"/>
              <a:t>IDS rules, configuration</a:t>
            </a:r>
            <a:endParaRPr lang="en-SG" dirty="0"/>
          </a:p>
        </p:txBody>
      </p:sp>
      <p:sp>
        <p:nvSpPr>
          <p:cNvPr id="8" name="Content Placeholder 2"/>
          <p:cNvSpPr txBox="1">
            <a:spLocks/>
          </p:cNvSpPr>
          <p:nvPr/>
        </p:nvSpPr>
        <p:spPr>
          <a:xfrm>
            <a:off x="1905000" y="2943549"/>
            <a:ext cx="8229600" cy="3276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Clr>
                <a:schemeClr val="accent2"/>
              </a:buClr>
              <a:buSzPct val="85000"/>
              <a:buNone/>
            </a:pPr>
            <a:r>
              <a:rPr lang="en-US" sz="1600" dirty="0">
                <a:latin typeface="Courier New" charset="0"/>
              </a:rPr>
              <a:t>alert </a:t>
            </a:r>
            <a:r>
              <a:rPr lang="en-US" sz="1600" dirty="0" err="1">
                <a:latin typeface="Courier New" charset="0"/>
              </a:rPr>
              <a:t>tcp</a:t>
            </a:r>
            <a:r>
              <a:rPr lang="en-US" sz="1600" dirty="0">
                <a:latin typeface="Courier New" charset="0"/>
              </a:rPr>
              <a:t> $EXTERNAL_NET any -&gt; $HTTP_SERVERS $HTTP_PORTS</a:t>
            </a:r>
          </a:p>
          <a:p>
            <a:pPr>
              <a:buClr>
                <a:schemeClr val="accent2"/>
              </a:buClr>
              <a:buSzPct val="85000"/>
              <a:buNone/>
            </a:pPr>
            <a:r>
              <a:rPr lang="en-US" sz="1600" dirty="0">
                <a:latin typeface="Courier New" charset="0"/>
              </a:rPr>
              <a:t>(</a:t>
            </a:r>
            <a:r>
              <a:rPr lang="en-US" sz="1600" dirty="0" err="1">
                <a:latin typeface="Courier New" charset="0"/>
              </a:rPr>
              <a:t>msg</a:t>
            </a:r>
            <a:r>
              <a:rPr lang="en-US" sz="1600" dirty="0">
                <a:latin typeface="Courier New" charset="0"/>
              </a:rPr>
              <a:t>:</a:t>
            </a:r>
            <a:r>
              <a:rPr lang="ja-JP" altLang="en-US" sz="1600" dirty="0">
                <a:latin typeface="Courier New" charset="0"/>
              </a:rPr>
              <a:t>”</a:t>
            </a:r>
            <a:r>
              <a:rPr lang="en-US" sz="1600" dirty="0">
                <a:latin typeface="Courier New" charset="0"/>
              </a:rPr>
              <a:t>WEB-IIS ISAPI .</a:t>
            </a:r>
            <a:r>
              <a:rPr lang="en-US" sz="1600" dirty="0" err="1">
                <a:latin typeface="Courier New" charset="0"/>
              </a:rPr>
              <a:t>ida</a:t>
            </a:r>
            <a:r>
              <a:rPr lang="en-US" sz="1600" dirty="0">
                <a:latin typeface="Courier New" charset="0"/>
              </a:rPr>
              <a:t> attempt</a:t>
            </a:r>
            <a:r>
              <a:rPr lang="ja-JP" altLang="en-US" sz="1600" dirty="0">
                <a:latin typeface="Courier New" charset="0"/>
              </a:rPr>
              <a:t>”</a:t>
            </a:r>
            <a:r>
              <a:rPr lang="en-US" sz="1600" dirty="0">
                <a:latin typeface="Courier New" charset="0"/>
              </a:rPr>
              <a:t>; </a:t>
            </a:r>
            <a:r>
              <a:rPr lang="en-US" sz="1600" dirty="0" err="1">
                <a:latin typeface="Courier New" charset="0"/>
              </a:rPr>
              <a:t>uricontent</a:t>
            </a:r>
            <a:r>
              <a:rPr lang="en-US" sz="1600" dirty="0">
                <a:latin typeface="Courier New" charset="0"/>
              </a:rPr>
              <a:t>:</a:t>
            </a:r>
            <a:r>
              <a:rPr lang="ja-JP" altLang="en-US" sz="1600" dirty="0">
                <a:latin typeface="Courier New" charset="0"/>
              </a:rPr>
              <a:t>”</a:t>
            </a:r>
            <a:r>
              <a:rPr lang="en-US" sz="1600" dirty="0">
                <a:latin typeface="Courier New" charset="0"/>
              </a:rPr>
              <a:t>.</a:t>
            </a:r>
            <a:r>
              <a:rPr lang="en-US" sz="1600" dirty="0" err="1">
                <a:latin typeface="Courier New" charset="0"/>
              </a:rPr>
              <a:t>ida</a:t>
            </a:r>
            <a:r>
              <a:rPr lang="en-US" sz="1600" dirty="0">
                <a:latin typeface="Courier New" charset="0"/>
              </a:rPr>
              <a:t>?</a:t>
            </a:r>
            <a:r>
              <a:rPr lang="ja-JP" altLang="en-US" sz="1600" dirty="0">
                <a:latin typeface="Courier New" charset="0"/>
              </a:rPr>
              <a:t>”</a:t>
            </a:r>
            <a:r>
              <a:rPr lang="en-US" sz="1600" dirty="0">
                <a:latin typeface="Courier New" charset="0"/>
              </a:rPr>
              <a:t>;</a:t>
            </a:r>
          </a:p>
          <a:p>
            <a:pPr>
              <a:buClr>
                <a:schemeClr val="accent2"/>
              </a:buClr>
              <a:buSzPct val="85000"/>
              <a:buNone/>
            </a:pPr>
            <a:r>
              <a:rPr lang="en-US" sz="1600" dirty="0" err="1">
                <a:latin typeface="Courier New" charset="0"/>
              </a:rPr>
              <a:t>nocase</a:t>
            </a:r>
            <a:r>
              <a:rPr lang="en-US" sz="1600" dirty="0">
                <a:latin typeface="Courier New" charset="0"/>
              </a:rPr>
              <a:t>; </a:t>
            </a:r>
            <a:r>
              <a:rPr lang="en-US" sz="1600" dirty="0" err="1">
                <a:latin typeface="Courier New" charset="0"/>
              </a:rPr>
              <a:t>dsize</a:t>
            </a:r>
            <a:r>
              <a:rPr lang="en-US" sz="1600" dirty="0">
                <a:latin typeface="Courier New" charset="0"/>
              </a:rPr>
              <a:t>:&gt;239; </a:t>
            </a:r>
            <a:r>
              <a:rPr lang="en-US" sz="1600" dirty="0" err="1">
                <a:latin typeface="Courier New" charset="0"/>
              </a:rPr>
              <a:t>flags:A</a:t>
            </a:r>
            <a:r>
              <a:rPr lang="en-US" sz="1600" dirty="0">
                <a:latin typeface="Courier New" charset="0"/>
              </a:rPr>
              <a:t>+;)</a:t>
            </a:r>
          </a:p>
          <a:p>
            <a:pPr>
              <a:buClr>
                <a:schemeClr val="accent2"/>
              </a:buClr>
              <a:buSzPct val="85000"/>
              <a:buNone/>
            </a:pPr>
            <a:endParaRPr lang="en-US" sz="1600" dirty="0">
              <a:latin typeface="Courier New" charset="0"/>
            </a:endParaRPr>
          </a:p>
          <a:p>
            <a:pPr lvl="1"/>
            <a:r>
              <a:rPr lang="en-US" sz="1800" dirty="0"/>
              <a:t>Rule generates alert for packet heading to Web server with .</a:t>
            </a:r>
            <a:r>
              <a:rPr lang="en-US" sz="1800" dirty="0" err="1"/>
              <a:t>ida</a:t>
            </a:r>
            <a:r>
              <a:rPr lang="en-US" sz="1800" dirty="0"/>
              <a:t>? in URL in GET message</a:t>
            </a:r>
          </a:p>
          <a:p>
            <a:pPr lvl="1"/>
            <a:r>
              <a:rPr lang="en-US" sz="1800" dirty="0"/>
              <a:t>Buffer overflow attack that allows attacker to take over server.</a:t>
            </a:r>
            <a:endParaRPr lang="en-US" sz="1600" dirty="0"/>
          </a:p>
          <a:p>
            <a:pPr>
              <a:buFont typeface="ZapfDingbats" charset="0"/>
              <a:buNone/>
            </a:pPr>
            <a:endParaRPr lang="en-US" sz="1400" dirty="0">
              <a:latin typeface="Courier New" charset="0"/>
            </a:endParaRPr>
          </a:p>
          <a:p>
            <a:endParaRPr lang="en-US" dirty="0"/>
          </a:p>
        </p:txBody>
      </p:sp>
    </p:spTree>
    <p:extLst>
      <p:ext uri="{BB962C8B-B14F-4D97-AF65-F5344CB8AC3E}">
        <p14:creationId xmlns:p14="http://schemas.microsoft.com/office/powerpoint/2010/main" val="302761621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609598" y="1971613"/>
            <a:ext cx="9258661" cy="769441"/>
          </a:xfrm>
        </p:spPr>
        <p:txBody>
          <a:bodyPr/>
          <a:lstStyle/>
          <a:p>
            <a:pPr marL="342900" indent="-342900">
              <a:buFontTx/>
              <a:buChar char="-"/>
            </a:pPr>
            <a:r>
              <a:rPr lang="en-SG" sz="2500" u="sng" dirty="0"/>
              <a:t>Signatures Examples (Snort Rule Set)</a:t>
            </a:r>
            <a:r>
              <a:rPr lang="en-SG" sz="2500" dirty="0"/>
              <a:t>: </a:t>
            </a:r>
          </a:p>
          <a:p>
            <a:pPr marL="342900" indent="-342900">
              <a:buFontTx/>
              <a:buChar char="-"/>
            </a:pPr>
            <a:endParaRPr lang="en-SG" sz="2500" dirty="0"/>
          </a:p>
        </p:txBody>
      </p:sp>
      <p:sp>
        <p:nvSpPr>
          <p:cNvPr id="4" name="Slide Number Placeholder 3"/>
          <p:cNvSpPr>
            <a:spLocks noGrp="1"/>
          </p:cNvSpPr>
          <p:nvPr>
            <p:ph type="sldNum" sz="quarter" idx="4294967295"/>
          </p:nvPr>
        </p:nvSpPr>
        <p:spPr>
          <a:xfrm>
            <a:off x="10328064" y="6490380"/>
            <a:ext cx="237331" cy="500137"/>
          </a:xfrm>
          <a:prstGeom prst="rect">
            <a:avLst/>
          </a:prstGeom>
        </p:spPr>
        <p:txBody>
          <a:bodyPr/>
          <a:lstStyle/>
          <a:p>
            <a:pPr>
              <a:defRPr/>
            </a:pPr>
            <a:fld id="{D87A0F89-ED2C-476F-A165-8F2BC3D842C9}" type="slidenum">
              <a:rPr lang="en-US" altLang="en-US" smtClean="0"/>
              <a:pPr>
                <a:defRPr/>
              </a:pPr>
              <a:t>25</a:t>
            </a:fld>
            <a:endParaRPr lang="en-US" altLang="en-US"/>
          </a:p>
        </p:txBody>
      </p:sp>
      <p:sp>
        <p:nvSpPr>
          <p:cNvPr id="6" name="Title 1"/>
          <p:cNvSpPr>
            <a:spLocks noGrp="1"/>
          </p:cNvSpPr>
          <p:nvPr>
            <p:ph type="title"/>
          </p:nvPr>
        </p:nvSpPr>
        <p:spPr>
          <a:xfrm>
            <a:off x="2971800" y="685800"/>
            <a:ext cx="7896458" cy="523220"/>
          </a:xfrm>
        </p:spPr>
        <p:txBody>
          <a:bodyPr>
            <a:normAutofit fontScale="90000"/>
          </a:bodyPr>
          <a:lstStyle/>
          <a:p>
            <a:r>
              <a:rPr lang="en-SG" dirty="0" smtClean="0"/>
              <a:t>IDS rules, configuration</a:t>
            </a:r>
            <a:endParaRPr lang="en-SG" dirty="0"/>
          </a:p>
        </p:txBody>
      </p:sp>
      <p:pic>
        <p:nvPicPr>
          <p:cNvPr id="7" name="Content Placeholder 5" descr="Snort-Rules.tiff"/>
          <p:cNvPicPr>
            <a:picLocks noChangeAspect="1"/>
          </p:cNvPicPr>
          <p:nvPr/>
        </p:nvPicPr>
        <p:blipFill>
          <a:blip r:embed="rId3">
            <a:extLst>
              <a:ext uri="{28A0092B-C50C-407E-A947-70E740481C1C}">
                <a14:useLocalDpi xmlns:a14="http://schemas.microsoft.com/office/drawing/2010/main" val="0"/>
              </a:ext>
            </a:extLst>
          </a:blip>
          <a:srcRect l="-19508" r="-19508"/>
          <a:stretch>
            <a:fillRect/>
          </a:stretch>
        </p:blipFill>
        <p:spPr>
          <a:xfrm>
            <a:off x="1443600" y="2356333"/>
            <a:ext cx="8867530" cy="4366201"/>
          </a:xfrm>
          <a:prstGeom prst="rect">
            <a:avLst/>
          </a:prstGeom>
        </p:spPr>
      </p:pic>
    </p:spTree>
    <p:extLst>
      <p:ext uri="{BB962C8B-B14F-4D97-AF65-F5344CB8AC3E}">
        <p14:creationId xmlns:p14="http://schemas.microsoft.com/office/powerpoint/2010/main" val="232666816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10328064" y="6490380"/>
            <a:ext cx="237331" cy="500137"/>
          </a:xfrm>
          <a:prstGeom prst="rect">
            <a:avLst/>
          </a:prstGeom>
        </p:spPr>
        <p:txBody>
          <a:bodyPr/>
          <a:lstStyle/>
          <a:p>
            <a:pPr>
              <a:defRPr/>
            </a:pPr>
            <a:fld id="{D87A0F89-ED2C-476F-A165-8F2BC3D842C9}" type="slidenum">
              <a:rPr lang="en-US" altLang="en-US" smtClean="0"/>
              <a:pPr>
                <a:defRPr/>
              </a:pPr>
              <a:t>26</a:t>
            </a:fld>
            <a:endParaRPr lang="en-US" altLang="en-US"/>
          </a:p>
        </p:txBody>
      </p:sp>
      <p:sp>
        <p:nvSpPr>
          <p:cNvPr id="6" name="Title 1"/>
          <p:cNvSpPr>
            <a:spLocks noGrp="1"/>
          </p:cNvSpPr>
          <p:nvPr>
            <p:ph type="title"/>
          </p:nvPr>
        </p:nvSpPr>
        <p:spPr>
          <a:xfrm>
            <a:off x="2971800" y="685800"/>
            <a:ext cx="7896458" cy="523220"/>
          </a:xfrm>
        </p:spPr>
        <p:txBody>
          <a:bodyPr>
            <a:normAutofit fontScale="90000"/>
          </a:bodyPr>
          <a:lstStyle/>
          <a:p>
            <a:r>
              <a:rPr lang="en-SG" dirty="0" smtClean="0"/>
              <a:t>IDS rules, configuration</a:t>
            </a:r>
            <a:endParaRPr lang="en-SG" dirty="0"/>
          </a:p>
        </p:txBody>
      </p:sp>
      <p:sp>
        <p:nvSpPr>
          <p:cNvPr id="2" name="Text Placeholder 1"/>
          <p:cNvSpPr>
            <a:spLocks noGrp="1"/>
          </p:cNvSpPr>
          <p:nvPr>
            <p:ph type="body" idx="1"/>
          </p:nvPr>
        </p:nvSpPr>
        <p:spPr/>
        <p:txBody>
          <a:bodyPr/>
          <a:lstStyle/>
          <a:p>
            <a:endParaRPr lang="en-SG"/>
          </a:p>
        </p:txBody>
      </p:sp>
      <p:pic>
        <p:nvPicPr>
          <p:cNvPr id="7" name="Picture 5"/>
          <p:cNvPicPr>
            <a:picLocks noChangeAspect="1" noChangeArrowheads="1"/>
          </p:cNvPicPr>
          <p:nvPr/>
        </p:nvPicPr>
        <p:blipFill>
          <a:blip r:embed="rId3" cstate="print"/>
          <a:srcRect/>
          <a:stretch>
            <a:fillRect/>
          </a:stretch>
        </p:blipFill>
        <p:spPr bwMode="auto">
          <a:xfrm>
            <a:off x="1759928" y="1779511"/>
            <a:ext cx="8686800" cy="4960937"/>
          </a:xfrm>
          <a:prstGeom prst="rect">
            <a:avLst/>
          </a:prstGeom>
          <a:noFill/>
          <a:ln w="12700" cap="sq">
            <a:noFill/>
            <a:miter lim="800000"/>
            <a:headEnd type="none" w="sm" len="sm"/>
            <a:tailEnd type="none" w="sm" len="sm"/>
          </a:ln>
        </p:spPr>
      </p:pic>
    </p:spTree>
    <p:extLst>
      <p:ext uri="{BB962C8B-B14F-4D97-AF65-F5344CB8AC3E}">
        <p14:creationId xmlns:p14="http://schemas.microsoft.com/office/powerpoint/2010/main" val="331519288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3152542" y="457200"/>
            <a:ext cx="7896458" cy="523220"/>
          </a:xfrm>
        </p:spPr>
        <p:txBody>
          <a:bodyPr>
            <a:normAutofit fontScale="90000"/>
          </a:bodyPr>
          <a:lstStyle/>
          <a:p>
            <a:r>
              <a:rPr lang="en-SG" dirty="0" smtClean="0"/>
              <a:t>IDS rules, configuration</a:t>
            </a:r>
            <a:endParaRPr lang="en-SG" dirty="0"/>
          </a:p>
        </p:txBody>
      </p:sp>
      <p:sp>
        <p:nvSpPr>
          <p:cNvPr id="3" name="Content Placeholder 2"/>
          <p:cNvSpPr>
            <a:spLocks noGrp="1"/>
          </p:cNvSpPr>
          <p:nvPr>
            <p:ph idx="1"/>
          </p:nvPr>
        </p:nvSpPr>
        <p:spPr>
          <a:xfrm>
            <a:off x="1600201" y="2286001"/>
            <a:ext cx="9258661" cy="3847207"/>
          </a:xfrm>
        </p:spPr>
        <p:txBody>
          <a:bodyPr>
            <a:normAutofit fontScale="92500" lnSpcReduction="10000"/>
          </a:bodyPr>
          <a:lstStyle/>
          <a:p>
            <a:pPr marL="0" indent="0">
              <a:buNone/>
            </a:pPr>
            <a:r>
              <a:rPr lang="en-SG" sz="2500" u="sng" dirty="0"/>
              <a:t>IDS Context Signatures</a:t>
            </a:r>
            <a:r>
              <a:rPr lang="en-SG" sz="2500" dirty="0"/>
              <a:t>: </a:t>
            </a:r>
          </a:p>
          <a:p>
            <a:pPr marL="342900" indent="-342900">
              <a:buFontTx/>
              <a:buChar char="-"/>
            </a:pPr>
            <a:endParaRPr lang="en-SG" sz="2500" dirty="0"/>
          </a:p>
          <a:p>
            <a:pPr marL="0" indent="0">
              <a:buNone/>
            </a:pPr>
            <a:r>
              <a:rPr lang="en-SG" sz="2500" dirty="0"/>
              <a:t>     </a:t>
            </a:r>
            <a:r>
              <a:rPr lang="en-SG" sz="2500" dirty="0" err="1"/>
              <a:t>Eg</a:t>
            </a:r>
            <a:r>
              <a:rPr lang="en-SG" sz="2500" dirty="0"/>
              <a:t>: Matching a ping flood attack</a:t>
            </a:r>
          </a:p>
          <a:p>
            <a:pPr marL="342900" indent="-342900">
              <a:buFontTx/>
              <a:buChar char="-"/>
            </a:pPr>
            <a:endParaRPr lang="en-SG" sz="2500" dirty="0"/>
          </a:p>
          <a:p>
            <a:pPr marL="342900" indent="-342900">
              <a:buFont typeface="Arial" panose="020B0604020202020204" pitchFamily="34" charset="0"/>
              <a:buChar char="•"/>
            </a:pPr>
            <a:r>
              <a:rPr lang="en-SG" sz="2500" dirty="0"/>
              <a:t>A single ICMP packet on its own is generally regarded as harmless</a:t>
            </a:r>
          </a:p>
          <a:p>
            <a:pPr marL="342900" indent="-342900">
              <a:buFont typeface="Arial" panose="020B0604020202020204" pitchFamily="34" charset="0"/>
              <a:buChar char="•"/>
            </a:pPr>
            <a:r>
              <a:rPr lang="en-SG" sz="2500" dirty="0"/>
              <a:t>Thousands of ICMP packets coming from a single system in a short</a:t>
            </a:r>
            <a:br>
              <a:rPr lang="en-SG" sz="2500" dirty="0"/>
            </a:br>
            <a:r>
              <a:rPr lang="en-SG" sz="2500" dirty="0"/>
              <a:t>period of time can cause a DOS</a:t>
            </a:r>
          </a:p>
          <a:p>
            <a:pPr marL="342900" indent="-342900">
              <a:buFont typeface="Arial" panose="020B0604020202020204" pitchFamily="34" charset="0"/>
              <a:buChar char="•"/>
            </a:pPr>
            <a:r>
              <a:rPr lang="en-SG" sz="2500" dirty="0"/>
              <a:t>IDS must be able to count number of ICMP packets received from</a:t>
            </a:r>
            <a:br>
              <a:rPr lang="en-SG" sz="2500" dirty="0"/>
            </a:br>
            <a:r>
              <a:rPr lang="en-SG" sz="2500" dirty="0"/>
              <a:t>same source by various machines.</a:t>
            </a:r>
          </a:p>
        </p:txBody>
      </p:sp>
    </p:spTree>
    <p:extLst>
      <p:ext uri="{BB962C8B-B14F-4D97-AF65-F5344CB8AC3E}">
        <p14:creationId xmlns:p14="http://schemas.microsoft.com/office/powerpoint/2010/main" val="20474125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3152542" y="457200"/>
            <a:ext cx="7896458" cy="523220"/>
          </a:xfrm>
        </p:spPr>
        <p:txBody>
          <a:bodyPr>
            <a:normAutofit fontScale="90000"/>
          </a:bodyPr>
          <a:lstStyle/>
          <a:p>
            <a:r>
              <a:rPr lang="en-SG" dirty="0" smtClean="0"/>
              <a:t>IDS rules, configuration</a:t>
            </a:r>
            <a:endParaRPr lang="en-SG" dirty="0"/>
          </a:p>
        </p:txBody>
      </p:sp>
      <p:sp>
        <p:nvSpPr>
          <p:cNvPr id="3" name="Content Placeholder 2"/>
          <p:cNvSpPr>
            <a:spLocks noGrp="1"/>
          </p:cNvSpPr>
          <p:nvPr>
            <p:ph idx="1"/>
          </p:nvPr>
        </p:nvSpPr>
        <p:spPr>
          <a:xfrm>
            <a:off x="1524001" y="2209801"/>
            <a:ext cx="9258661" cy="3847207"/>
          </a:xfrm>
        </p:spPr>
        <p:txBody>
          <a:bodyPr>
            <a:normAutofit fontScale="92500" lnSpcReduction="10000"/>
          </a:bodyPr>
          <a:lstStyle/>
          <a:p>
            <a:pPr marL="0" indent="0">
              <a:buNone/>
            </a:pPr>
            <a:r>
              <a:rPr lang="en-SG" sz="2500" u="sng" dirty="0"/>
              <a:t>IDS is not </a:t>
            </a:r>
            <a:r>
              <a:rPr lang="en-SG" sz="2500" u="sng" dirty="0" err="1"/>
              <a:t>foolproof</a:t>
            </a:r>
            <a:r>
              <a:rPr lang="en-SG" sz="2500" u="sng" dirty="0"/>
              <a:t>!</a:t>
            </a:r>
          </a:p>
          <a:p>
            <a:pPr marL="342900" indent="-342900">
              <a:buFontTx/>
              <a:buChar char="-"/>
            </a:pPr>
            <a:endParaRPr lang="en-SG" sz="2500" u="sng" dirty="0"/>
          </a:p>
          <a:p>
            <a:pPr marL="342900" indent="-342900">
              <a:buFont typeface="Arial" panose="020B0604020202020204" pitchFamily="34" charset="0"/>
              <a:buChar char="•"/>
            </a:pPr>
            <a:r>
              <a:rPr lang="en-SG" sz="2500" dirty="0"/>
              <a:t>There is no way for an IDS to know the </a:t>
            </a:r>
            <a:r>
              <a:rPr lang="en-SG" sz="2500" u="sng" dirty="0"/>
              <a:t>true intent </a:t>
            </a:r>
            <a:r>
              <a:rPr lang="en-SG" sz="2500" dirty="0"/>
              <a:t>behind an activity and determine whether or not it is </a:t>
            </a:r>
            <a:r>
              <a:rPr lang="en-SG" sz="2500" u="sng" dirty="0"/>
              <a:t>benign or hostile</a:t>
            </a:r>
            <a:r>
              <a:rPr lang="en-SG" sz="2500" dirty="0"/>
              <a:t>. </a:t>
            </a:r>
          </a:p>
          <a:p>
            <a:pPr marL="342900" indent="-342900">
              <a:buFont typeface="Arial" panose="020B0604020202020204" pitchFamily="34" charset="0"/>
              <a:buChar char="•"/>
            </a:pPr>
            <a:endParaRPr lang="en-SG" sz="2500" dirty="0"/>
          </a:p>
          <a:p>
            <a:pPr marL="342900" indent="-342900">
              <a:buFont typeface="Arial" panose="020B0604020202020204" pitchFamily="34" charset="0"/>
              <a:buChar char="•"/>
            </a:pPr>
            <a:r>
              <a:rPr lang="en-SG" sz="2500" dirty="0"/>
              <a:t>Therefore, the IDS </a:t>
            </a:r>
            <a:r>
              <a:rPr lang="en-SG" sz="2500" u="sng" dirty="0"/>
              <a:t>can react only as it has been programmed</a:t>
            </a:r>
            <a:r>
              <a:rPr lang="en-SG" sz="2500" dirty="0"/>
              <a:t>.</a:t>
            </a:r>
          </a:p>
          <a:p>
            <a:pPr marL="342900" indent="-342900">
              <a:buFont typeface="Arial" panose="020B0604020202020204" pitchFamily="34" charset="0"/>
              <a:buChar char="•"/>
            </a:pPr>
            <a:endParaRPr lang="en-SG" sz="2500" dirty="0"/>
          </a:p>
          <a:p>
            <a:pPr marL="342900" indent="-342900">
              <a:buFont typeface="Arial" panose="020B0604020202020204" pitchFamily="34" charset="0"/>
              <a:buChar char="•"/>
            </a:pPr>
            <a:r>
              <a:rPr lang="en-SG" sz="2500" dirty="0"/>
              <a:t>Need to take false positives and false negatives into </a:t>
            </a:r>
            <a:br>
              <a:rPr lang="en-SG" sz="2500" dirty="0"/>
            </a:br>
            <a:r>
              <a:rPr lang="en-SG" sz="2500" dirty="0"/>
              <a:t>consideration.</a:t>
            </a:r>
          </a:p>
          <a:p>
            <a:endParaRPr lang="en-SG" sz="2500" dirty="0"/>
          </a:p>
        </p:txBody>
      </p:sp>
    </p:spTree>
    <p:extLst>
      <p:ext uri="{BB962C8B-B14F-4D97-AF65-F5344CB8AC3E}">
        <p14:creationId xmlns:p14="http://schemas.microsoft.com/office/powerpoint/2010/main" val="407943487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971800" y="457200"/>
            <a:ext cx="7896458" cy="523220"/>
          </a:xfrm>
        </p:spPr>
        <p:txBody>
          <a:bodyPr>
            <a:normAutofit fontScale="90000"/>
          </a:bodyPr>
          <a:lstStyle/>
          <a:p>
            <a:r>
              <a:rPr lang="en-SG" dirty="0" smtClean="0"/>
              <a:t>IDS rules, configuration</a:t>
            </a:r>
            <a:endParaRPr lang="en-SG" dirty="0"/>
          </a:p>
        </p:txBody>
      </p:sp>
      <p:sp>
        <p:nvSpPr>
          <p:cNvPr id="3" name="Content Placeholder 2"/>
          <p:cNvSpPr>
            <a:spLocks noGrp="1"/>
          </p:cNvSpPr>
          <p:nvPr>
            <p:ph idx="1"/>
          </p:nvPr>
        </p:nvSpPr>
        <p:spPr>
          <a:xfrm>
            <a:off x="1790340" y="2133600"/>
            <a:ext cx="9258661" cy="4231928"/>
          </a:xfrm>
        </p:spPr>
        <p:txBody>
          <a:bodyPr>
            <a:normAutofit lnSpcReduction="10000"/>
          </a:bodyPr>
          <a:lstStyle/>
          <a:p>
            <a:pPr marL="0" indent="0">
              <a:buNone/>
            </a:pPr>
            <a:r>
              <a:rPr lang="en-SG" sz="2500" u="sng" dirty="0"/>
              <a:t>False Positives</a:t>
            </a:r>
          </a:p>
          <a:p>
            <a:pPr marL="342900" indent="-342900">
              <a:buFontTx/>
              <a:buChar char="-"/>
            </a:pPr>
            <a:endParaRPr lang="en-SG" sz="2500" u="sng" dirty="0"/>
          </a:p>
          <a:p>
            <a:r>
              <a:rPr lang="en-SG" sz="2500" dirty="0"/>
              <a:t>When an IDS matches a pattern and generates an alarm for benign traffic, meaning the traffic was not hostile and not a threat, </a:t>
            </a:r>
            <a:br>
              <a:rPr lang="en-SG" sz="2500" dirty="0"/>
            </a:br>
            <a:r>
              <a:rPr lang="en-SG" sz="2500" dirty="0"/>
              <a:t>this is called a false positive. </a:t>
            </a:r>
          </a:p>
          <a:p>
            <a:pPr marL="342900" indent="-342900">
              <a:buFontTx/>
              <a:buChar char="-"/>
            </a:pPr>
            <a:endParaRPr lang="en-SG" sz="2500" dirty="0"/>
          </a:p>
          <a:p>
            <a:pPr marL="0" indent="0">
              <a:buNone/>
            </a:pPr>
            <a:r>
              <a:rPr lang="en-SG" sz="2500" u="sng" dirty="0"/>
              <a:t>False Negatives</a:t>
            </a:r>
          </a:p>
          <a:p>
            <a:pPr marL="342900" indent="-342900">
              <a:buFontTx/>
              <a:buChar char="-"/>
            </a:pPr>
            <a:endParaRPr lang="en-SG" sz="2500" u="sng" dirty="0"/>
          </a:p>
          <a:p>
            <a:r>
              <a:rPr lang="en-SG" sz="2500" dirty="0"/>
              <a:t>Hostile activity that does not match an IDS signature and,</a:t>
            </a:r>
            <a:br>
              <a:rPr lang="en-SG" sz="2500" dirty="0"/>
            </a:br>
            <a:r>
              <a:rPr lang="en-SG" sz="2500" dirty="0"/>
              <a:t>therefore, goes undetected is called a false negative.</a:t>
            </a:r>
          </a:p>
          <a:p>
            <a:pPr marL="342900" indent="-342900">
              <a:buFontTx/>
              <a:buChar char="-"/>
            </a:pPr>
            <a:endParaRPr lang="en-SG" sz="2500" dirty="0"/>
          </a:p>
        </p:txBody>
      </p:sp>
    </p:spTree>
    <p:extLst>
      <p:ext uri="{BB962C8B-B14F-4D97-AF65-F5344CB8AC3E}">
        <p14:creationId xmlns:p14="http://schemas.microsoft.com/office/powerpoint/2010/main" val="42859333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3152542" y="533400"/>
            <a:ext cx="7896458" cy="523220"/>
          </a:xfrm>
        </p:spPr>
        <p:txBody>
          <a:bodyPr>
            <a:normAutofit fontScale="90000"/>
          </a:bodyPr>
          <a:lstStyle/>
          <a:p>
            <a:r>
              <a:rPr lang="en-SG" dirty="0" smtClean="0"/>
              <a:t>IPS rules, configuration</a:t>
            </a:r>
            <a:endParaRPr lang="en-SG" dirty="0"/>
          </a:p>
        </p:txBody>
      </p:sp>
      <p:sp>
        <p:nvSpPr>
          <p:cNvPr id="3" name="Content Placeholder 2"/>
          <p:cNvSpPr>
            <a:spLocks noGrp="1"/>
          </p:cNvSpPr>
          <p:nvPr>
            <p:ph idx="1"/>
          </p:nvPr>
        </p:nvSpPr>
        <p:spPr>
          <a:xfrm>
            <a:off x="1532181" y="2438400"/>
            <a:ext cx="8636000" cy="2308324"/>
          </a:xfrm>
        </p:spPr>
        <p:txBody>
          <a:bodyPr>
            <a:normAutofit fontScale="92500" lnSpcReduction="10000"/>
          </a:bodyPr>
          <a:lstStyle/>
          <a:p>
            <a:pPr marL="101600" indent="0">
              <a:buNone/>
            </a:pPr>
            <a:r>
              <a:rPr lang="en-SG" sz="2500" u="sng" dirty="0"/>
              <a:t>IPS can do more – </a:t>
            </a:r>
            <a:r>
              <a:rPr lang="en-SG" sz="2500" b="1" u="sng" dirty="0"/>
              <a:t>BLOCK</a:t>
            </a:r>
            <a:r>
              <a:rPr lang="en-SG" sz="2500" u="sng" dirty="0"/>
              <a:t> malicious traffic</a:t>
            </a:r>
          </a:p>
          <a:p>
            <a:endParaRPr lang="en-SG" sz="2500" u="sng" dirty="0"/>
          </a:p>
          <a:p>
            <a:pPr marL="101600" indent="0">
              <a:buNone/>
            </a:pPr>
            <a:r>
              <a:rPr lang="en-SG" sz="2500" dirty="0"/>
              <a:t>Typical IPS Setup is to block </a:t>
            </a:r>
            <a:r>
              <a:rPr lang="en-SG" sz="2500" u="sng" dirty="0"/>
              <a:t>two types</a:t>
            </a:r>
            <a:r>
              <a:rPr lang="en-SG" sz="2500" dirty="0"/>
              <a:t> of malicious traffic:</a:t>
            </a:r>
          </a:p>
          <a:p>
            <a:pPr marL="530225" indent="-428625"/>
            <a:endParaRPr lang="en-SG" sz="2500" dirty="0"/>
          </a:p>
          <a:p>
            <a:pPr marL="530225" indent="-428625"/>
            <a:r>
              <a:rPr lang="en-SG" sz="2500" u="sng" dirty="0"/>
              <a:t>Exploit</a:t>
            </a:r>
            <a:r>
              <a:rPr lang="en-SG" sz="2500" dirty="0"/>
              <a:t> and </a:t>
            </a:r>
            <a:r>
              <a:rPr lang="en-SG" sz="2500" u="sng" dirty="0"/>
              <a:t>Anomaly</a:t>
            </a:r>
          </a:p>
          <a:p>
            <a:endParaRPr lang="en-SG" sz="2500" dirty="0"/>
          </a:p>
        </p:txBody>
      </p:sp>
    </p:spTree>
    <p:extLst>
      <p:ext uri="{BB962C8B-B14F-4D97-AF65-F5344CB8AC3E}">
        <p14:creationId xmlns:p14="http://schemas.microsoft.com/office/powerpoint/2010/main" val="401794505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176867" y="1447800"/>
            <a:ext cx="9902754" cy="4191000"/>
          </a:xfrm>
          <a:prstGeom prst="rect">
            <a:avLst/>
          </a:prstGeom>
        </p:spPr>
      </p:pic>
      <p:sp>
        <p:nvSpPr>
          <p:cNvPr id="6" name="Title 1"/>
          <p:cNvSpPr>
            <a:spLocks noGrp="1"/>
          </p:cNvSpPr>
          <p:nvPr>
            <p:ph type="title"/>
          </p:nvPr>
        </p:nvSpPr>
        <p:spPr>
          <a:xfrm>
            <a:off x="3152542" y="457200"/>
            <a:ext cx="7896458" cy="523220"/>
          </a:xfrm>
        </p:spPr>
        <p:txBody>
          <a:bodyPr>
            <a:normAutofit fontScale="90000"/>
          </a:bodyPr>
          <a:lstStyle/>
          <a:p>
            <a:r>
              <a:rPr lang="en-SG" dirty="0" smtClean="0"/>
              <a:t>IPS rules, configuration</a:t>
            </a:r>
            <a:endParaRPr lang="en-SG" dirty="0"/>
          </a:p>
        </p:txBody>
      </p:sp>
    </p:spTree>
    <p:extLst>
      <p:ext uri="{BB962C8B-B14F-4D97-AF65-F5344CB8AC3E}">
        <p14:creationId xmlns:p14="http://schemas.microsoft.com/office/powerpoint/2010/main" val="71913148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895600" y="533400"/>
            <a:ext cx="7896458" cy="523220"/>
          </a:xfrm>
        </p:spPr>
        <p:txBody>
          <a:bodyPr>
            <a:normAutofit fontScale="90000"/>
          </a:bodyPr>
          <a:lstStyle/>
          <a:p>
            <a:r>
              <a:rPr lang="en-SG" dirty="0" smtClean="0"/>
              <a:t>IPS rules, configuration</a:t>
            </a:r>
            <a:endParaRPr lang="en-SG" dirty="0"/>
          </a:p>
        </p:txBody>
      </p:sp>
      <p:sp>
        <p:nvSpPr>
          <p:cNvPr id="3" name="Content Placeholder 2"/>
          <p:cNvSpPr>
            <a:spLocks noGrp="1"/>
          </p:cNvSpPr>
          <p:nvPr>
            <p:ph idx="1"/>
          </p:nvPr>
        </p:nvSpPr>
        <p:spPr>
          <a:xfrm>
            <a:off x="1544373" y="2362200"/>
            <a:ext cx="8636000" cy="3429000"/>
          </a:xfrm>
        </p:spPr>
        <p:txBody>
          <a:bodyPr>
            <a:noAutofit/>
          </a:bodyPr>
          <a:lstStyle/>
          <a:p>
            <a:pPr marL="101600" indent="0">
              <a:buNone/>
            </a:pPr>
            <a:r>
              <a:rPr lang="en-SG" sz="2400" dirty="0"/>
              <a:t>IPS can be configured with Flow-based (real traffic), or Proxy-based (copy of traffic – more time to </a:t>
            </a:r>
            <a:r>
              <a:rPr lang="en-SG" sz="2400" dirty="0" err="1"/>
              <a:t>analyze</a:t>
            </a:r>
            <a:r>
              <a:rPr lang="en-SG" sz="2400" dirty="0"/>
              <a:t>).</a:t>
            </a:r>
          </a:p>
          <a:p>
            <a:pPr marL="101600" indent="0">
              <a:buNone/>
            </a:pPr>
            <a:endParaRPr lang="en-SG" sz="2400" dirty="0"/>
          </a:p>
          <a:p>
            <a:pPr marL="101600" indent="0">
              <a:buNone/>
            </a:pPr>
            <a:r>
              <a:rPr lang="en-SG" sz="2400" dirty="0"/>
              <a:t>Both consist of:</a:t>
            </a:r>
          </a:p>
          <a:p>
            <a:pPr marL="457200" indent="-457200">
              <a:buAutoNum type="arabicPeriod"/>
            </a:pPr>
            <a:r>
              <a:rPr lang="en-SG" sz="2400" dirty="0"/>
              <a:t>IPS Engine</a:t>
            </a:r>
          </a:p>
          <a:p>
            <a:pPr marL="457200" indent="-457200">
              <a:buFont typeface="Arial"/>
              <a:buAutoNum type="arabicPeriod"/>
            </a:pPr>
            <a:r>
              <a:rPr lang="en-SG" sz="2400" dirty="0"/>
              <a:t>IPS Signatures</a:t>
            </a:r>
          </a:p>
          <a:p>
            <a:pPr marL="457200" indent="-457200">
              <a:buAutoNum type="arabicPeriod"/>
            </a:pPr>
            <a:endParaRPr lang="en-SG" sz="2400" dirty="0"/>
          </a:p>
        </p:txBody>
      </p:sp>
    </p:spTree>
    <p:extLst>
      <p:ext uri="{BB962C8B-B14F-4D97-AF65-F5344CB8AC3E}">
        <p14:creationId xmlns:p14="http://schemas.microsoft.com/office/powerpoint/2010/main" val="322460001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819400" y="533400"/>
            <a:ext cx="7896458" cy="523220"/>
          </a:xfrm>
        </p:spPr>
        <p:txBody>
          <a:bodyPr>
            <a:normAutofit fontScale="90000"/>
          </a:bodyPr>
          <a:lstStyle/>
          <a:p>
            <a:r>
              <a:rPr lang="en-SG" dirty="0" smtClean="0"/>
              <a:t>IPS rules, configuration</a:t>
            </a:r>
            <a:endParaRPr lang="en-SG" dirty="0"/>
          </a:p>
        </p:txBody>
      </p:sp>
      <p:sp>
        <p:nvSpPr>
          <p:cNvPr id="3" name="Content Placeholder 2"/>
          <p:cNvSpPr>
            <a:spLocks noGrp="1"/>
          </p:cNvSpPr>
          <p:nvPr>
            <p:ph idx="1"/>
          </p:nvPr>
        </p:nvSpPr>
        <p:spPr>
          <a:xfrm>
            <a:off x="1539240" y="2133600"/>
            <a:ext cx="8636000" cy="4231928"/>
          </a:xfrm>
        </p:spPr>
        <p:txBody>
          <a:bodyPr>
            <a:normAutofit fontScale="92500" lnSpcReduction="20000"/>
          </a:bodyPr>
          <a:lstStyle/>
          <a:p>
            <a:pPr marL="101600" indent="0">
              <a:buNone/>
            </a:pPr>
            <a:r>
              <a:rPr lang="en-SG" sz="2500" dirty="0"/>
              <a:t>1. </a:t>
            </a:r>
            <a:r>
              <a:rPr lang="en-SG" sz="2500" u="sng" dirty="0"/>
              <a:t>IPS Engine (handles both </a:t>
            </a:r>
            <a:r>
              <a:rPr lang="en-SG" sz="2500" b="1" u="sng" dirty="0"/>
              <a:t>Exploit</a:t>
            </a:r>
            <a:r>
              <a:rPr lang="en-SG" sz="2500" u="sng" dirty="0"/>
              <a:t> and </a:t>
            </a:r>
            <a:r>
              <a:rPr lang="en-SG" sz="2500" b="1" u="sng" dirty="0"/>
              <a:t>Anomalies</a:t>
            </a:r>
            <a:r>
              <a:rPr lang="en-SG" sz="2500" u="sng" dirty="0"/>
              <a:t>)</a:t>
            </a:r>
          </a:p>
          <a:p>
            <a:endParaRPr lang="en-SG" sz="2500" dirty="0"/>
          </a:p>
          <a:p>
            <a:pPr marL="438150" indent="-342900">
              <a:buFont typeface="Arial" panose="020B0604020202020204" pitchFamily="34" charset="0"/>
              <a:buChar char="•"/>
            </a:pPr>
            <a:r>
              <a:rPr lang="en-SG" sz="2500" dirty="0"/>
              <a:t>Protocol decoders – used to determine packet has anomaly or exploit</a:t>
            </a:r>
          </a:p>
          <a:p>
            <a:pPr marL="530225" indent="-428625">
              <a:buFont typeface="Arial" panose="020B0604020202020204" pitchFamily="34" charset="0"/>
              <a:buChar char="•"/>
            </a:pPr>
            <a:r>
              <a:rPr lang="en-SG" sz="2500" dirty="0"/>
              <a:t>Application control (Block Peer to Peer traffic)</a:t>
            </a:r>
          </a:p>
          <a:p>
            <a:pPr marL="438150" indent="-342900">
              <a:buFont typeface="Arial" panose="020B0604020202020204" pitchFamily="34" charset="0"/>
              <a:buChar char="•"/>
            </a:pPr>
            <a:r>
              <a:rPr lang="en-SG" sz="2500" dirty="0"/>
              <a:t>Flow-based antivirus protection (prevent clients from downloading spywares, worms)</a:t>
            </a:r>
          </a:p>
          <a:p>
            <a:pPr marL="438150" indent="-342900">
              <a:buFont typeface="Arial" panose="020B0604020202020204" pitchFamily="34" charset="0"/>
              <a:buChar char="•"/>
            </a:pPr>
            <a:r>
              <a:rPr lang="en-SG" sz="2500" dirty="0"/>
              <a:t>Web filtering (blocks requests based on category of web server pages)</a:t>
            </a:r>
          </a:p>
          <a:p>
            <a:pPr marL="530225" indent="-428625">
              <a:buFont typeface="Arial" panose="020B0604020202020204" pitchFamily="34" charset="0"/>
              <a:buChar char="•"/>
            </a:pPr>
            <a:r>
              <a:rPr lang="en-SG" sz="2500" dirty="0"/>
              <a:t>Email filtering</a:t>
            </a:r>
          </a:p>
          <a:p>
            <a:pPr marL="530225" indent="-428625">
              <a:buFont typeface="Arial" panose="020B0604020202020204" pitchFamily="34" charset="0"/>
              <a:buChar char="•"/>
            </a:pPr>
            <a:r>
              <a:rPr lang="en-SG" sz="2500" dirty="0"/>
              <a:t>Data Leakage Prevention. </a:t>
            </a:r>
          </a:p>
        </p:txBody>
      </p:sp>
    </p:spTree>
    <p:extLst>
      <p:ext uri="{BB962C8B-B14F-4D97-AF65-F5344CB8AC3E}">
        <p14:creationId xmlns:p14="http://schemas.microsoft.com/office/powerpoint/2010/main" val="2222150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674271" y="457200"/>
            <a:ext cx="7896458" cy="523220"/>
          </a:xfrm>
        </p:spPr>
        <p:txBody>
          <a:bodyPr>
            <a:normAutofit fontScale="90000"/>
          </a:bodyPr>
          <a:lstStyle/>
          <a:p>
            <a:r>
              <a:rPr lang="en-SG" dirty="0" smtClean="0"/>
              <a:t>IPS rules, configuration</a:t>
            </a:r>
            <a:endParaRPr lang="en-SG" dirty="0"/>
          </a:p>
        </p:txBody>
      </p:sp>
      <p:sp>
        <p:nvSpPr>
          <p:cNvPr id="3" name="Content Placeholder 2"/>
          <p:cNvSpPr>
            <a:spLocks noGrp="1"/>
          </p:cNvSpPr>
          <p:nvPr>
            <p:ph idx="1"/>
          </p:nvPr>
        </p:nvSpPr>
        <p:spPr>
          <a:xfrm>
            <a:off x="2304500" y="1672680"/>
            <a:ext cx="8636000" cy="769441"/>
          </a:xfrm>
        </p:spPr>
        <p:txBody>
          <a:bodyPr/>
          <a:lstStyle/>
          <a:p>
            <a:pPr marL="101600" indent="0">
              <a:buNone/>
            </a:pPr>
            <a:r>
              <a:rPr lang="en-SG" sz="2500" dirty="0"/>
              <a:t>IPS Engine – Protocol Decoders</a:t>
            </a:r>
          </a:p>
          <a:p>
            <a:endParaRPr lang="en-SG" sz="2500" dirty="0"/>
          </a:p>
        </p:txBody>
      </p:sp>
      <p:pic>
        <p:nvPicPr>
          <p:cNvPr id="2" name="Picture 1"/>
          <p:cNvPicPr>
            <a:picLocks noChangeAspect="1"/>
          </p:cNvPicPr>
          <p:nvPr/>
        </p:nvPicPr>
        <p:blipFill>
          <a:blip r:embed="rId3"/>
          <a:stretch>
            <a:fillRect/>
          </a:stretch>
        </p:blipFill>
        <p:spPr>
          <a:xfrm>
            <a:off x="2034096" y="2057401"/>
            <a:ext cx="7792508" cy="3726359"/>
          </a:xfrm>
          <a:prstGeom prst="rect">
            <a:avLst/>
          </a:prstGeom>
        </p:spPr>
      </p:pic>
    </p:spTree>
    <p:extLst>
      <p:ext uri="{BB962C8B-B14F-4D97-AF65-F5344CB8AC3E}">
        <p14:creationId xmlns:p14="http://schemas.microsoft.com/office/powerpoint/2010/main" val="405607726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971800" y="457200"/>
            <a:ext cx="7896458" cy="523220"/>
          </a:xfrm>
        </p:spPr>
        <p:txBody>
          <a:bodyPr>
            <a:normAutofit fontScale="90000"/>
          </a:bodyPr>
          <a:lstStyle/>
          <a:p>
            <a:r>
              <a:rPr lang="en-SG" dirty="0" smtClean="0"/>
              <a:t>IPS rules, configuration</a:t>
            </a:r>
            <a:endParaRPr lang="en-SG" dirty="0"/>
          </a:p>
        </p:txBody>
      </p:sp>
      <p:sp>
        <p:nvSpPr>
          <p:cNvPr id="3" name="Content Placeholder 2"/>
          <p:cNvSpPr>
            <a:spLocks noGrp="1"/>
          </p:cNvSpPr>
          <p:nvPr>
            <p:ph idx="1"/>
          </p:nvPr>
        </p:nvSpPr>
        <p:spPr>
          <a:xfrm>
            <a:off x="1886913" y="2438400"/>
            <a:ext cx="8636000" cy="4231928"/>
          </a:xfrm>
        </p:spPr>
        <p:txBody>
          <a:bodyPr>
            <a:normAutofit/>
          </a:bodyPr>
          <a:lstStyle/>
          <a:p>
            <a:pPr marL="0" indent="0">
              <a:buNone/>
            </a:pPr>
            <a:r>
              <a:rPr lang="en-SG" sz="2500" dirty="0"/>
              <a:t>2a  </a:t>
            </a:r>
            <a:r>
              <a:rPr lang="en-SG" sz="2500" u="sng" dirty="0"/>
              <a:t>IPS Signatures – Preventing Exploits</a:t>
            </a:r>
          </a:p>
          <a:p>
            <a:endParaRPr lang="en-SG" sz="2500" dirty="0"/>
          </a:p>
          <a:p>
            <a:pPr marL="438150" indent="-342900">
              <a:buFont typeface="Arial" panose="020B0604020202020204" pitchFamily="34" charset="0"/>
              <a:buChar char="•"/>
            </a:pPr>
            <a:r>
              <a:rPr lang="en-SG" sz="2500" dirty="0"/>
              <a:t>Signature database contains signatures for common attacks whose signatures cause rare or no false positives.</a:t>
            </a:r>
            <a:br>
              <a:rPr lang="en-SG" sz="2500" dirty="0"/>
            </a:br>
            <a:endParaRPr lang="en-SG" sz="2500" dirty="0"/>
          </a:p>
          <a:p>
            <a:pPr marL="438150" indent="-342900">
              <a:buFont typeface="Arial" panose="020B0604020202020204" pitchFamily="34" charset="0"/>
              <a:buChar char="•"/>
            </a:pPr>
            <a:r>
              <a:rPr lang="en-SG" sz="2500" dirty="0"/>
              <a:t> It's a smaller database, and its default action is to block the detected attack.</a:t>
            </a:r>
          </a:p>
        </p:txBody>
      </p:sp>
    </p:spTree>
    <p:extLst>
      <p:ext uri="{BB962C8B-B14F-4D97-AF65-F5344CB8AC3E}">
        <p14:creationId xmlns:p14="http://schemas.microsoft.com/office/powerpoint/2010/main" val="377048333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810728" y="2118457"/>
            <a:ext cx="8636000" cy="769441"/>
          </a:xfrm>
        </p:spPr>
        <p:txBody>
          <a:bodyPr/>
          <a:lstStyle/>
          <a:p>
            <a:r>
              <a:rPr lang="en-SG" sz="2500" u="sng" dirty="0"/>
              <a:t>Exploits – Intrusion Prevention using signatures</a:t>
            </a:r>
          </a:p>
          <a:p>
            <a:endParaRPr lang="en-SG" sz="2500" dirty="0"/>
          </a:p>
        </p:txBody>
      </p:sp>
      <p:sp>
        <p:nvSpPr>
          <p:cNvPr id="4" name="Slide Number Placeholder 3"/>
          <p:cNvSpPr>
            <a:spLocks noGrp="1"/>
          </p:cNvSpPr>
          <p:nvPr>
            <p:ph type="sldNum" sz="quarter" idx="4294967295"/>
          </p:nvPr>
        </p:nvSpPr>
        <p:spPr>
          <a:xfrm>
            <a:off x="10328064" y="6490380"/>
            <a:ext cx="237331" cy="500137"/>
          </a:xfrm>
          <a:prstGeom prst="rect">
            <a:avLst/>
          </a:prstGeom>
        </p:spPr>
        <p:txBody>
          <a:bodyPr/>
          <a:lstStyle/>
          <a:p>
            <a:pPr>
              <a:defRPr/>
            </a:pPr>
            <a:fld id="{D87A0F89-ED2C-476F-A165-8F2BC3D842C9}" type="slidenum">
              <a:rPr lang="en-US" altLang="en-US" smtClean="0"/>
              <a:pPr>
                <a:defRPr/>
              </a:pPr>
              <a:t>36</a:t>
            </a:fld>
            <a:endParaRPr lang="en-US" altLang="en-US"/>
          </a:p>
        </p:txBody>
      </p:sp>
      <p:sp>
        <p:nvSpPr>
          <p:cNvPr id="6" name="Title 1"/>
          <p:cNvSpPr>
            <a:spLocks noGrp="1"/>
          </p:cNvSpPr>
          <p:nvPr>
            <p:ph type="title"/>
          </p:nvPr>
        </p:nvSpPr>
        <p:spPr>
          <a:xfrm>
            <a:off x="2971800" y="685800"/>
            <a:ext cx="7896458" cy="523220"/>
          </a:xfrm>
        </p:spPr>
        <p:txBody>
          <a:bodyPr>
            <a:normAutofit fontScale="90000"/>
          </a:bodyPr>
          <a:lstStyle/>
          <a:p>
            <a:r>
              <a:rPr lang="en-SG" dirty="0" smtClean="0"/>
              <a:t>IPS rules, configuration</a:t>
            </a:r>
            <a:endParaRPr lang="en-SG" dirty="0"/>
          </a:p>
        </p:txBody>
      </p:sp>
      <p:pic>
        <p:nvPicPr>
          <p:cNvPr id="2" name="Picture 1"/>
          <p:cNvPicPr>
            <a:picLocks noChangeAspect="1"/>
          </p:cNvPicPr>
          <p:nvPr/>
        </p:nvPicPr>
        <p:blipFill>
          <a:blip r:embed="rId3"/>
          <a:stretch>
            <a:fillRect/>
          </a:stretch>
        </p:blipFill>
        <p:spPr>
          <a:xfrm>
            <a:off x="1810728" y="2609091"/>
            <a:ext cx="7239000" cy="3881288"/>
          </a:xfrm>
          <a:prstGeom prst="rect">
            <a:avLst/>
          </a:prstGeom>
        </p:spPr>
      </p:pic>
    </p:spTree>
    <p:extLst>
      <p:ext uri="{BB962C8B-B14F-4D97-AF65-F5344CB8AC3E}">
        <p14:creationId xmlns:p14="http://schemas.microsoft.com/office/powerpoint/2010/main" val="179400316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810728" y="2118456"/>
            <a:ext cx="8636000" cy="1154162"/>
          </a:xfrm>
        </p:spPr>
        <p:txBody>
          <a:bodyPr>
            <a:normAutofit fontScale="85000" lnSpcReduction="20000"/>
          </a:bodyPr>
          <a:lstStyle/>
          <a:p>
            <a:r>
              <a:rPr lang="en-SG" sz="2500" u="sng" dirty="0"/>
              <a:t>Exploits – Intrusion Prevention using signatures</a:t>
            </a:r>
          </a:p>
          <a:p>
            <a:endParaRPr lang="en-SG" sz="2500" dirty="0"/>
          </a:p>
          <a:p>
            <a:r>
              <a:rPr lang="en-SG" sz="2500" dirty="0"/>
              <a:t>Setting severity levels example</a:t>
            </a:r>
          </a:p>
        </p:txBody>
      </p:sp>
      <p:sp>
        <p:nvSpPr>
          <p:cNvPr id="4" name="Slide Number Placeholder 3"/>
          <p:cNvSpPr>
            <a:spLocks noGrp="1"/>
          </p:cNvSpPr>
          <p:nvPr>
            <p:ph type="sldNum" sz="quarter" idx="4294967295"/>
          </p:nvPr>
        </p:nvSpPr>
        <p:spPr>
          <a:xfrm>
            <a:off x="10328064" y="6490380"/>
            <a:ext cx="237331" cy="500137"/>
          </a:xfrm>
          <a:prstGeom prst="rect">
            <a:avLst/>
          </a:prstGeom>
        </p:spPr>
        <p:txBody>
          <a:bodyPr/>
          <a:lstStyle/>
          <a:p>
            <a:pPr>
              <a:defRPr/>
            </a:pPr>
            <a:fld id="{D87A0F89-ED2C-476F-A165-8F2BC3D842C9}" type="slidenum">
              <a:rPr lang="en-US" altLang="en-US" smtClean="0"/>
              <a:pPr>
                <a:defRPr/>
              </a:pPr>
              <a:t>37</a:t>
            </a:fld>
            <a:endParaRPr lang="en-US" altLang="en-US"/>
          </a:p>
        </p:txBody>
      </p:sp>
      <p:sp>
        <p:nvSpPr>
          <p:cNvPr id="6" name="Title 1"/>
          <p:cNvSpPr>
            <a:spLocks noGrp="1"/>
          </p:cNvSpPr>
          <p:nvPr>
            <p:ph type="title"/>
          </p:nvPr>
        </p:nvSpPr>
        <p:spPr>
          <a:xfrm>
            <a:off x="2971800" y="685800"/>
            <a:ext cx="7896458" cy="523220"/>
          </a:xfrm>
        </p:spPr>
        <p:txBody>
          <a:bodyPr>
            <a:normAutofit fontScale="90000"/>
          </a:bodyPr>
          <a:lstStyle/>
          <a:p>
            <a:r>
              <a:rPr lang="en-SG" dirty="0" smtClean="0"/>
              <a:t>IPS rules, configuration</a:t>
            </a:r>
            <a:endParaRPr lang="en-SG" dirty="0"/>
          </a:p>
        </p:txBody>
      </p:sp>
      <p:pic>
        <p:nvPicPr>
          <p:cNvPr id="2" name="Picture 1"/>
          <p:cNvPicPr>
            <a:picLocks noChangeAspect="1"/>
          </p:cNvPicPr>
          <p:nvPr/>
        </p:nvPicPr>
        <p:blipFill>
          <a:blip r:embed="rId3"/>
          <a:stretch>
            <a:fillRect/>
          </a:stretch>
        </p:blipFill>
        <p:spPr>
          <a:xfrm>
            <a:off x="1810728" y="3327336"/>
            <a:ext cx="7561872" cy="3232172"/>
          </a:xfrm>
          <a:prstGeom prst="rect">
            <a:avLst/>
          </a:prstGeom>
        </p:spPr>
      </p:pic>
    </p:spTree>
    <p:extLst>
      <p:ext uri="{BB962C8B-B14F-4D97-AF65-F5344CB8AC3E}">
        <p14:creationId xmlns:p14="http://schemas.microsoft.com/office/powerpoint/2010/main" val="407331052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810728" y="2118456"/>
            <a:ext cx="8636000" cy="3077766"/>
          </a:xfrm>
        </p:spPr>
        <p:txBody>
          <a:bodyPr>
            <a:normAutofit lnSpcReduction="10000"/>
          </a:bodyPr>
          <a:lstStyle/>
          <a:p>
            <a:r>
              <a:rPr lang="en-SG" sz="2500" u="sng" dirty="0"/>
              <a:t>Exploits – Intrusion Prevention using signatures</a:t>
            </a:r>
          </a:p>
          <a:p>
            <a:endParaRPr lang="en-SG" sz="2500" dirty="0"/>
          </a:p>
          <a:p>
            <a:r>
              <a:rPr lang="en-SG" sz="2500" dirty="0"/>
              <a:t>Writing </a:t>
            </a:r>
            <a:r>
              <a:rPr lang="en-SG" sz="2500" u="sng" dirty="0"/>
              <a:t>Custom Signatures</a:t>
            </a:r>
          </a:p>
          <a:p>
            <a:endParaRPr lang="en-SG" sz="2500" dirty="0"/>
          </a:p>
          <a:p>
            <a:r>
              <a:rPr lang="en-SG" sz="2500" dirty="0"/>
              <a:t>Use packet capture to record packet samples. This is to help you understand and avoid mismatches with normal packets on your network.</a:t>
            </a:r>
          </a:p>
          <a:p>
            <a:endParaRPr lang="en-SG" sz="2500" dirty="0"/>
          </a:p>
        </p:txBody>
      </p:sp>
      <p:sp>
        <p:nvSpPr>
          <p:cNvPr id="4" name="Slide Number Placeholder 3"/>
          <p:cNvSpPr>
            <a:spLocks noGrp="1"/>
          </p:cNvSpPr>
          <p:nvPr>
            <p:ph type="sldNum" sz="quarter" idx="4294967295"/>
          </p:nvPr>
        </p:nvSpPr>
        <p:spPr>
          <a:xfrm>
            <a:off x="10328064" y="6490380"/>
            <a:ext cx="237331" cy="500137"/>
          </a:xfrm>
          <a:prstGeom prst="rect">
            <a:avLst/>
          </a:prstGeom>
        </p:spPr>
        <p:txBody>
          <a:bodyPr/>
          <a:lstStyle/>
          <a:p>
            <a:pPr>
              <a:defRPr/>
            </a:pPr>
            <a:fld id="{D87A0F89-ED2C-476F-A165-8F2BC3D842C9}" type="slidenum">
              <a:rPr lang="en-US" altLang="en-US" smtClean="0"/>
              <a:pPr>
                <a:defRPr/>
              </a:pPr>
              <a:t>38</a:t>
            </a:fld>
            <a:endParaRPr lang="en-US" altLang="en-US"/>
          </a:p>
        </p:txBody>
      </p:sp>
      <p:sp>
        <p:nvSpPr>
          <p:cNvPr id="6" name="Title 1"/>
          <p:cNvSpPr>
            <a:spLocks noGrp="1"/>
          </p:cNvSpPr>
          <p:nvPr>
            <p:ph type="title"/>
          </p:nvPr>
        </p:nvSpPr>
        <p:spPr>
          <a:xfrm>
            <a:off x="2971800" y="685800"/>
            <a:ext cx="7896458" cy="523220"/>
          </a:xfrm>
        </p:spPr>
        <p:txBody>
          <a:bodyPr>
            <a:normAutofit fontScale="90000"/>
          </a:bodyPr>
          <a:lstStyle/>
          <a:p>
            <a:r>
              <a:rPr lang="en-SG" dirty="0" smtClean="0"/>
              <a:t>IPS rules, configuration</a:t>
            </a:r>
            <a:endParaRPr lang="en-SG" dirty="0"/>
          </a:p>
        </p:txBody>
      </p:sp>
    </p:spTree>
    <p:extLst>
      <p:ext uri="{BB962C8B-B14F-4D97-AF65-F5344CB8AC3E}">
        <p14:creationId xmlns:p14="http://schemas.microsoft.com/office/powerpoint/2010/main" val="379152097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810728" y="2118456"/>
            <a:ext cx="8636000" cy="1154162"/>
          </a:xfrm>
        </p:spPr>
        <p:txBody>
          <a:bodyPr/>
          <a:lstStyle/>
          <a:p>
            <a:r>
              <a:rPr lang="en-SG" sz="2500" u="sng" dirty="0"/>
              <a:t>Exploits – Intrusion Prevention using signatures</a:t>
            </a:r>
            <a:endParaRPr lang="en-SG" sz="2500" dirty="0"/>
          </a:p>
          <a:p>
            <a:r>
              <a:rPr lang="en-SG" sz="2500" dirty="0"/>
              <a:t>Writing </a:t>
            </a:r>
            <a:r>
              <a:rPr lang="en-SG" sz="2500" u="sng" dirty="0"/>
              <a:t>Custom Signatures</a:t>
            </a:r>
          </a:p>
          <a:p>
            <a:endParaRPr lang="en-SG" sz="2500" dirty="0"/>
          </a:p>
        </p:txBody>
      </p:sp>
      <p:sp>
        <p:nvSpPr>
          <p:cNvPr id="4" name="Slide Number Placeholder 3"/>
          <p:cNvSpPr>
            <a:spLocks noGrp="1"/>
          </p:cNvSpPr>
          <p:nvPr>
            <p:ph type="sldNum" sz="quarter" idx="4294967295"/>
          </p:nvPr>
        </p:nvSpPr>
        <p:spPr>
          <a:xfrm>
            <a:off x="10328064" y="6490380"/>
            <a:ext cx="237331" cy="500137"/>
          </a:xfrm>
          <a:prstGeom prst="rect">
            <a:avLst/>
          </a:prstGeom>
        </p:spPr>
        <p:txBody>
          <a:bodyPr/>
          <a:lstStyle/>
          <a:p>
            <a:pPr>
              <a:defRPr/>
            </a:pPr>
            <a:fld id="{D87A0F89-ED2C-476F-A165-8F2BC3D842C9}" type="slidenum">
              <a:rPr lang="en-US" altLang="en-US" smtClean="0"/>
              <a:pPr>
                <a:defRPr/>
              </a:pPr>
              <a:t>39</a:t>
            </a:fld>
            <a:endParaRPr lang="en-US" altLang="en-US"/>
          </a:p>
        </p:txBody>
      </p:sp>
      <p:sp>
        <p:nvSpPr>
          <p:cNvPr id="6" name="Title 1"/>
          <p:cNvSpPr>
            <a:spLocks noGrp="1"/>
          </p:cNvSpPr>
          <p:nvPr>
            <p:ph type="title"/>
          </p:nvPr>
        </p:nvSpPr>
        <p:spPr>
          <a:xfrm>
            <a:off x="2971800" y="685800"/>
            <a:ext cx="7896458" cy="523220"/>
          </a:xfrm>
        </p:spPr>
        <p:txBody>
          <a:bodyPr>
            <a:normAutofit fontScale="90000"/>
          </a:bodyPr>
          <a:lstStyle/>
          <a:p>
            <a:r>
              <a:rPr lang="en-SG" dirty="0" smtClean="0"/>
              <a:t>IPS rules, configuration</a:t>
            </a:r>
            <a:endParaRPr lang="en-SG" dirty="0"/>
          </a:p>
        </p:txBody>
      </p:sp>
      <p:pic>
        <p:nvPicPr>
          <p:cNvPr id="2" name="Picture 1"/>
          <p:cNvPicPr>
            <a:picLocks noChangeAspect="1"/>
          </p:cNvPicPr>
          <p:nvPr/>
        </p:nvPicPr>
        <p:blipFill>
          <a:blip r:embed="rId3"/>
          <a:stretch>
            <a:fillRect/>
          </a:stretch>
        </p:blipFill>
        <p:spPr>
          <a:xfrm>
            <a:off x="1810729" y="3048001"/>
            <a:ext cx="6867525" cy="3248025"/>
          </a:xfrm>
          <a:prstGeom prst="rect">
            <a:avLst/>
          </a:prstGeom>
        </p:spPr>
      </p:pic>
    </p:spTree>
    <p:extLst>
      <p:ext uri="{BB962C8B-B14F-4D97-AF65-F5344CB8AC3E}">
        <p14:creationId xmlns:p14="http://schemas.microsoft.com/office/powerpoint/2010/main" val="184198998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810728" y="2118456"/>
            <a:ext cx="8636000" cy="1154162"/>
          </a:xfrm>
        </p:spPr>
        <p:txBody>
          <a:bodyPr/>
          <a:lstStyle/>
          <a:p>
            <a:r>
              <a:rPr lang="en-SG" sz="2500" u="sng" dirty="0"/>
              <a:t>Exploits – Intrusion Prevention using signatures</a:t>
            </a:r>
            <a:endParaRPr lang="en-SG" sz="2500" dirty="0"/>
          </a:p>
          <a:p>
            <a:r>
              <a:rPr lang="en-SG" sz="2500" u="sng" dirty="0"/>
              <a:t>Custom Signatures Syntax – </a:t>
            </a:r>
            <a:r>
              <a:rPr lang="en-SG" sz="2500" u="sng" dirty="0" err="1"/>
              <a:t>Eg</a:t>
            </a:r>
            <a:r>
              <a:rPr lang="en-SG" sz="2500" u="sng" dirty="0"/>
              <a:t> Fortinet</a:t>
            </a:r>
          </a:p>
          <a:p>
            <a:endParaRPr lang="en-SG" sz="2500" dirty="0"/>
          </a:p>
        </p:txBody>
      </p:sp>
      <p:sp>
        <p:nvSpPr>
          <p:cNvPr id="4" name="Slide Number Placeholder 3"/>
          <p:cNvSpPr>
            <a:spLocks noGrp="1"/>
          </p:cNvSpPr>
          <p:nvPr>
            <p:ph type="sldNum" sz="quarter" idx="4294967295"/>
          </p:nvPr>
        </p:nvSpPr>
        <p:spPr>
          <a:xfrm>
            <a:off x="10328064" y="6490380"/>
            <a:ext cx="237331" cy="500137"/>
          </a:xfrm>
          <a:prstGeom prst="rect">
            <a:avLst/>
          </a:prstGeom>
        </p:spPr>
        <p:txBody>
          <a:bodyPr/>
          <a:lstStyle/>
          <a:p>
            <a:pPr>
              <a:defRPr/>
            </a:pPr>
            <a:fld id="{D87A0F89-ED2C-476F-A165-8F2BC3D842C9}" type="slidenum">
              <a:rPr lang="en-US" altLang="en-US" smtClean="0"/>
              <a:pPr>
                <a:defRPr/>
              </a:pPr>
              <a:t>40</a:t>
            </a:fld>
            <a:endParaRPr lang="en-US" altLang="en-US"/>
          </a:p>
        </p:txBody>
      </p:sp>
      <p:sp>
        <p:nvSpPr>
          <p:cNvPr id="6" name="Title 1"/>
          <p:cNvSpPr>
            <a:spLocks noGrp="1"/>
          </p:cNvSpPr>
          <p:nvPr>
            <p:ph type="title"/>
          </p:nvPr>
        </p:nvSpPr>
        <p:spPr>
          <a:xfrm>
            <a:off x="2971800" y="685800"/>
            <a:ext cx="7896458" cy="523220"/>
          </a:xfrm>
        </p:spPr>
        <p:txBody>
          <a:bodyPr>
            <a:normAutofit fontScale="90000"/>
          </a:bodyPr>
          <a:lstStyle/>
          <a:p>
            <a:r>
              <a:rPr lang="en-SG" dirty="0" smtClean="0"/>
              <a:t>IPS rules, configuration</a:t>
            </a:r>
            <a:endParaRPr lang="en-SG" dirty="0"/>
          </a:p>
        </p:txBody>
      </p:sp>
      <p:pic>
        <p:nvPicPr>
          <p:cNvPr id="5" name="Picture 4"/>
          <p:cNvPicPr>
            <a:picLocks noChangeAspect="1"/>
          </p:cNvPicPr>
          <p:nvPr/>
        </p:nvPicPr>
        <p:blipFill>
          <a:blip r:embed="rId3"/>
          <a:stretch>
            <a:fillRect/>
          </a:stretch>
        </p:blipFill>
        <p:spPr>
          <a:xfrm>
            <a:off x="2590800" y="3327904"/>
            <a:ext cx="6115050" cy="2581275"/>
          </a:xfrm>
          <a:prstGeom prst="rect">
            <a:avLst/>
          </a:prstGeom>
        </p:spPr>
      </p:pic>
    </p:spTree>
    <p:extLst>
      <p:ext uri="{BB962C8B-B14F-4D97-AF65-F5344CB8AC3E}">
        <p14:creationId xmlns:p14="http://schemas.microsoft.com/office/powerpoint/2010/main" val="253355491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810728" y="2118456"/>
            <a:ext cx="8636000" cy="1154162"/>
          </a:xfrm>
        </p:spPr>
        <p:txBody>
          <a:bodyPr/>
          <a:lstStyle/>
          <a:p>
            <a:r>
              <a:rPr lang="en-SG" sz="2500" u="sng" dirty="0"/>
              <a:t>Exploits – Intrusion Prevention using signatures</a:t>
            </a:r>
            <a:endParaRPr lang="en-SG" sz="2500" dirty="0"/>
          </a:p>
          <a:p>
            <a:r>
              <a:rPr lang="en-SG" sz="2500" u="sng" dirty="0"/>
              <a:t>Custom Signatures Syntax – </a:t>
            </a:r>
            <a:r>
              <a:rPr lang="en-SG" sz="2500" u="sng" dirty="0" err="1"/>
              <a:t>Eg</a:t>
            </a:r>
            <a:r>
              <a:rPr lang="en-SG" sz="2500" u="sng" dirty="0"/>
              <a:t> </a:t>
            </a:r>
            <a:r>
              <a:rPr lang="en-SG" sz="2500" u="sng" dirty="0" err="1"/>
              <a:t>Fortigate</a:t>
            </a:r>
            <a:endParaRPr lang="en-SG" sz="2500" u="sng" dirty="0"/>
          </a:p>
          <a:p>
            <a:endParaRPr lang="en-SG" sz="2500" dirty="0"/>
          </a:p>
        </p:txBody>
      </p:sp>
      <p:sp>
        <p:nvSpPr>
          <p:cNvPr id="4" name="Slide Number Placeholder 3"/>
          <p:cNvSpPr>
            <a:spLocks noGrp="1"/>
          </p:cNvSpPr>
          <p:nvPr>
            <p:ph type="sldNum" sz="quarter" idx="4294967295"/>
          </p:nvPr>
        </p:nvSpPr>
        <p:spPr>
          <a:xfrm>
            <a:off x="10328064" y="6490380"/>
            <a:ext cx="237331" cy="500137"/>
          </a:xfrm>
          <a:prstGeom prst="rect">
            <a:avLst/>
          </a:prstGeom>
        </p:spPr>
        <p:txBody>
          <a:bodyPr/>
          <a:lstStyle/>
          <a:p>
            <a:pPr>
              <a:defRPr/>
            </a:pPr>
            <a:fld id="{D87A0F89-ED2C-476F-A165-8F2BC3D842C9}" type="slidenum">
              <a:rPr lang="en-US" altLang="en-US" smtClean="0"/>
              <a:pPr>
                <a:defRPr/>
              </a:pPr>
              <a:t>41</a:t>
            </a:fld>
            <a:endParaRPr lang="en-US" altLang="en-US"/>
          </a:p>
        </p:txBody>
      </p:sp>
      <p:sp>
        <p:nvSpPr>
          <p:cNvPr id="6" name="Title 1"/>
          <p:cNvSpPr>
            <a:spLocks noGrp="1"/>
          </p:cNvSpPr>
          <p:nvPr>
            <p:ph type="title"/>
          </p:nvPr>
        </p:nvSpPr>
        <p:spPr>
          <a:xfrm>
            <a:off x="2971800" y="685800"/>
            <a:ext cx="7896458" cy="523220"/>
          </a:xfrm>
        </p:spPr>
        <p:txBody>
          <a:bodyPr>
            <a:normAutofit fontScale="90000"/>
          </a:bodyPr>
          <a:lstStyle/>
          <a:p>
            <a:r>
              <a:rPr lang="en-SG" dirty="0" smtClean="0"/>
              <a:t>IPS rules, configuration</a:t>
            </a:r>
            <a:endParaRPr lang="en-SG" dirty="0"/>
          </a:p>
        </p:txBody>
      </p:sp>
      <p:pic>
        <p:nvPicPr>
          <p:cNvPr id="2" name="Picture 1"/>
          <p:cNvPicPr>
            <a:picLocks noChangeAspect="1"/>
          </p:cNvPicPr>
          <p:nvPr/>
        </p:nvPicPr>
        <p:blipFill>
          <a:blip r:embed="rId3"/>
          <a:stretch>
            <a:fillRect/>
          </a:stretch>
        </p:blipFill>
        <p:spPr>
          <a:xfrm>
            <a:off x="2286000" y="3429001"/>
            <a:ext cx="7029450" cy="2581275"/>
          </a:xfrm>
          <a:prstGeom prst="rect">
            <a:avLst/>
          </a:prstGeom>
        </p:spPr>
      </p:pic>
    </p:spTree>
    <p:extLst>
      <p:ext uri="{BB962C8B-B14F-4D97-AF65-F5344CB8AC3E}">
        <p14:creationId xmlns:p14="http://schemas.microsoft.com/office/powerpoint/2010/main" val="257514521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810728" y="2118456"/>
            <a:ext cx="8636000" cy="2308324"/>
          </a:xfrm>
        </p:spPr>
        <p:txBody>
          <a:bodyPr>
            <a:normAutofit fontScale="92500" lnSpcReduction="20000"/>
          </a:bodyPr>
          <a:lstStyle/>
          <a:p>
            <a:r>
              <a:rPr lang="en-SG" sz="2500" u="sng" dirty="0"/>
              <a:t>Exploits – Intrusion Prevention using signature</a:t>
            </a:r>
          </a:p>
          <a:p>
            <a:endParaRPr lang="en-SG" sz="2500" u="sng" dirty="0"/>
          </a:p>
          <a:p>
            <a:r>
              <a:rPr lang="en-SG" sz="2500" dirty="0"/>
              <a:t>How to use the custom signatures?</a:t>
            </a:r>
          </a:p>
          <a:p>
            <a:endParaRPr lang="en-SG" sz="2500" dirty="0"/>
          </a:p>
          <a:p>
            <a:r>
              <a:rPr lang="en-SG" sz="2500" dirty="0"/>
              <a:t>Typically pair it with </a:t>
            </a:r>
            <a:r>
              <a:rPr lang="en-SG" sz="2500" u="sng" dirty="0"/>
              <a:t>an action</a:t>
            </a:r>
            <a:r>
              <a:rPr lang="en-SG" sz="2500" dirty="0"/>
              <a:t> within an </a:t>
            </a:r>
            <a:r>
              <a:rPr lang="en-SG" sz="2500" u="sng" dirty="0"/>
              <a:t>IPS sensor</a:t>
            </a:r>
            <a:r>
              <a:rPr lang="en-SG" sz="2500" dirty="0"/>
              <a:t>, then reference that IPS sensor in a </a:t>
            </a:r>
            <a:r>
              <a:rPr lang="en-SG" sz="2500" u="sng" dirty="0"/>
              <a:t>firewall policy</a:t>
            </a:r>
            <a:r>
              <a:rPr lang="en-SG" sz="2500" dirty="0"/>
              <a:t>. </a:t>
            </a:r>
          </a:p>
        </p:txBody>
      </p:sp>
      <p:sp>
        <p:nvSpPr>
          <p:cNvPr id="4" name="Slide Number Placeholder 3"/>
          <p:cNvSpPr>
            <a:spLocks noGrp="1"/>
          </p:cNvSpPr>
          <p:nvPr>
            <p:ph type="sldNum" sz="quarter" idx="4294967295"/>
          </p:nvPr>
        </p:nvSpPr>
        <p:spPr>
          <a:xfrm>
            <a:off x="10328064" y="6490380"/>
            <a:ext cx="237331" cy="500137"/>
          </a:xfrm>
          <a:prstGeom prst="rect">
            <a:avLst/>
          </a:prstGeom>
        </p:spPr>
        <p:txBody>
          <a:bodyPr/>
          <a:lstStyle/>
          <a:p>
            <a:pPr>
              <a:defRPr/>
            </a:pPr>
            <a:fld id="{D87A0F89-ED2C-476F-A165-8F2BC3D842C9}" type="slidenum">
              <a:rPr lang="en-US" altLang="en-US" smtClean="0"/>
              <a:pPr>
                <a:defRPr/>
              </a:pPr>
              <a:t>42</a:t>
            </a:fld>
            <a:endParaRPr lang="en-US" altLang="en-US"/>
          </a:p>
        </p:txBody>
      </p:sp>
      <p:sp>
        <p:nvSpPr>
          <p:cNvPr id="6" name="Title 1"/>
          <p:cNvSpPr>
            <a:spLocks noGrp="1"/>
          </p:cNvSpPr>
          <p:nvPr>
            <p:ph type="title"/>
          </p:nvPr>
        </p:nvSpPr>
        <p:spPr>
          <a:xfrm>
            <a:off x="2971800" y="685800"/>
            <a:ext cx="7896458" cy="523220"/>
          </a:xfrm>
        </p:spPr>
        <p:txBody>
          <a:bodyPr>
            <a:normAutofit fontScale="90000"/>
          </a:bodyPr>
          <a:lstStyle/>
          <a:p>
            <a:r>
              <a:rPr lang="en-SG" dirty="0" smtClean="0"/>
              <a:t>IPS rules, configuration</a:t>
            </a:r>
            <a:endParaRPr lang="en-SG" dirty="0"/>
          </a:p>
        </p:txBody>
      </p:sp>
      <p:pic>
        <p:nvPicPr>
          <p:cNvPr id="5" name="Picture 4"/>
          <p:cNvPicPr>
            <a:picLocks noChangeAspect="1"/>
          </p:cNvPicPr>
          <p:nvPr/>
        </p:nvPicPr>
        <p:blipFill>
          <a:blip r:embed="rId3"/>
          <a:stretch>
            <a:fillRect/>
          </a:stretch>
        </p:blipFill>
        <p:spPr>
          <a:xfrm>
            <a:off x="2209801" y="4498016"/>
            <a:ext cx="6791325" cy="1676400"/>
          </a:xfrm>
          <a:prstGeom prst="rect">
            <a:avLst/>
          </a:prstGeom>
        </p:spPr>
      </p:pic>
    </p:spTree>
    <p:extLst>
      <p:ext uri="{BB962C8B-B14F-4D97-AF65-F5344CB8AC3E}">
        <p14:creationId xmlns:p14="http://schemas.microsoft.com/office/powerpoint/2010/main" val="371581918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793795" y="1926096"/>
            <a:ext cx="8636000" cy="1923604"/>
          </a:xfrm>
        </p:spPr>
        <p:txBody>
          <a:bodyPr/>
          <a:lstStyle/>
          <a:p>
            <a:r>
              <a:rPr lang="en-SG" sz="2500" u="sng" dirty="0"/>
              <a:t>Exploits – Intrusion Prevention using signature</a:t>
            </a:r>
          </a:p>
          <a:p>
            <a:endParaRPr lang="en-SG" sz="2500" u="sng" dirty="0"/>
          </a:p>
          <a:p>
            <a:r>
              <a:rPr lang="en-SG" sz="2500" dirty="0"/>
              <a:t>Adding predefined signatures to an IPS sensor –Method 1</a:t>
            </a:r>
          </a:p>
          <a:p>
            <a:endParaRPr lang="en-SG" sz="2500" dirty="0"/>
          </a:p>
          <a:p>
            <a:endParaRPr lang="en-SG" sz="2500" dirty="0"/>
          </a:p>
        </p:txBody>
      </p:sp>
      <p:sp>
        <p:nvSpPr>
          <p:cNvPr id="4" name="Slide Number Placeholder 3"/>
          <p:cNvSpPr>
            <a:spLocks noGrp="1"/>
          </p:cNvSpPr>
          <p:nvPr>
            <p:ph type="sldNum" sz="quarter" idx="4294967295"/>
          </p:nvPr>
        </p:nvSpPr>
        <p:spPr>
          <a:xfrm>
            <a:off x="10328064" y="6490380"/>
            <a:ext cx="237331" cy="500137"/>
          </a:xfrm>
          <a:prstGeom prst="rect">
            <a:avLst/>
          </a:prstGeom>
        </p:spPr>
        <p:txBody>
          <a:bodyPr/>
          <a:lstStyle/>
          <a:p>
            <a:pPr>
              <a:defRPr/>
            </a:pPr>
            <a:fld id="{D87A0F89-ED2C-476F-A165-8F2BC3D842C9}" type="slidenum">
              <a:rPr lang="en-US" altLang="en-US" smtClean="0"/>
              <a:pPr>
                <a:defRPr/>
              </a:pPr>
              <a:t>43</a:t>
            </a:fld>
            <a:endParaRPr lang="en-US" altLang="en-US"/>
          </a:p>
        </p:txBody>
      </p:sp>
      <p:sp>
        <p:nvSpPr>
          <p:cNvPr id="6" name="Title 1"/>
          <p:cNvSpPr>
            <a:spLocks noGrp="1"/>
          </p:cNvSpPr>
          <p:nvPr>
            <p:ph type="title"/>
          </p:nvPr>
        </p:nvSpPr>
        <p:spPr>
          <a:xfrm>
            <a:off x="2971800" y="685800"/>
            <a:ext cx="7896458" cy="523220"/>
          </a:xfrm>
        </p:spPr>
        <p:txBody>
          <a:bodyPr>
            <a:normAutofit fontScale="90000"/>
          </a:bodyPr>
          <a:lstStyle/>
          <a:p>
            <a:r>
              <a:rPr lang="en-SG" dirty="0" smtClean="0"/>
              <a:t>IPS rules, configuration</a:t>
            </a:r>
            <a:endParaRPr lang="en-SG" dirty="0"/>
          </a:p>
        </p:txBody>
      </p:sp>
      <p:pic>
        <p:nvPicPr>
          <p:cNvPr id="2" name="Picture 1"/>
          <p:cNvPicPr>
            <a:picLocks noChangeAspect="1"/>
          </p:cNvPicPr>
          <p:nvPr/>
        </p:nvPicPr>
        <p:blipFill>
          <a:blip r:embed="rId3"/>
          <a:stretch>
            <a:fillRect/>
          </a:stretch>
        </p:blipFill>
        <p:spPr>
          <a:xfrm>
            <a:off x="1793795" y="3413209"/>
            <a:ext cx="7315200" cy="3076575"/>
          </a:xfrm>
          <a:prstGeom prst="rect">
            <a:avLst/>
          </a:prstGeom>
        </p:spPr>
      </p:pic>
    </p:spTree>
    <p:extLst>
      <p:ext uri="{BB962C8B-B14F-4D97-AF65-F5344CB8AC3E}">
        <p14:creationId xmlns:p14="http://schemas.microsoft.com/office/powerpoint/2010/main" val="337853918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810729" y="1926096"/>
            <a:ext cx="8636000" cy="1923604"/>
          </a:xfrm>
        </p:spPr>
        <p:txBody>
          <a:bodyPr/>
          <a:lstStyle/>
          <a:p>
            <a:r>
              <a:rPr lang="en-SG" sz="2500" u="sng" dirty="0"/>
              <a:t>Exploits – Intrusion Prevention using signature</a:t>
            </a:r>
          </a:p>
          <a:p>
            <a:endParaRPr lang="en-SG" sz="2500" u="sng" dirty="0"/>
          </a:p>
          <a:p>
            <a:r>
              <a:rPr lang="en-SG" sz="2500" dirty="0"/>
              <a:t>Adding predefined signatures to an IPS sensor –Method 2</a:t>
            </a:r>
          </a:p>
          <a:p>
            <a:endParaRPr lang="en-SG" sz="2500" dirty="0"/>
          </a:p>
          <a:p>
            <a:endParaRPr lang="en-SG" sz="2500" dirty="0"/>
          </a:p>
        </p:txBody>
      </p:sp>
      <p:sp>
        <p:nvSpPr>
          <p:cNvPr id="4" name="Slide Number Placeholder 3"/>
          <p:cNvSpPr>
            <a:spLocks noGrp="1"/>
          </p:cNvSpPr>
          <p:nvPr>
            <p:ph type="sldNum" sz="quarter" idx="4294967295"/>
          </p:nvPr>
        </p:nvSpPr>
        <p:spPr>
          <a:xfrm>
            <a:off x="10328064" y="6490380"/>
            <a:ext cx="237331" cy="500137"/>
          </a:xfrm>
          <a:prstGeom prst="rect">
            <a:avLst/>
          </a:prstGeom>
        </p:spPr>
        <p:txBody>
          <a:bodyPr/>
          <a:lstStyle/>
          <a:p>
            <a:pPr>
              <a:defRPr/>
            </a:pPr>
            <a:fld id="{D87A0F89-ED2C-476F-A165-8F2BC3D842C9}" type="slidenum">
              <a:rPr lang="en-US" altLang="en-US" smtClean="0"/>
              <a:pPr>
                <a:defRPr/>
              </a:pPr>
              <a:t>44</a:t>
            </a:fld>
            <a:endParaRPr lang="en-US" altLang="en-US"/>
          </a:p>
        </p:txBody>
      </p:sp>
      <p:sp>
        <p:nvSpPr>
          <p:cNvPr id="6" name="Title 1"/>
          <p:cNvSpPr>
            <a:spLocks noGrp="1"/>
          </p:cNvSpPr>
          <p:nvPr>
            <p:ph type="title"/>
          </p:nvPr>
        </p:nvSpPr>
        <p:spPr>
          <a:xfrm>
            <a:off x="2971800" y="685800"/>
            <a:ext cx="7896458" cy="523220"/>
          </a:xfrm>
        </p:spPr>
        <p:txBody>
          <a:bodyPr>
            <a:normAutofit fontScale="90000"/>
          </a:bodyPr>
          <a:lstStyle/>
          <a:p>
            <a:r>
              <a:rPr lang="en-SG" dirty="0" smtClean="0"/>
              <a:t>IPS rules, configuration</a:t>
            </a:r>
            <a:endParaRPr lang="en-SG" dirty="0"/>
          </a:p>
        </p:txBody>
      </p:sp>
      <p:pic>
        <p:nvPicPr>
          <p:cNvPr id="5" name="Picture 4"/>
          <p:cNvPicPr>
            <a:picLocks noChangeAspect="1"/>
          </p:cNvPicPr>
          <p:nvPr/>
        </p:nvPicPr>
        <p:blipFill>
          <a:blip r:embed="rId3"/>
          <a:stretch>
            <a:fillRect/>
          </a:stretch>
        </p:blipFill>
        <p:spPr>
          <a:xfrm>
            <a:off x="1810729" y="3451309"/>
            <a:ext cx="7534275" cy="3000375"/>
          </a:xfrm>
          <a:prstGeom prst="rect">
            <a:avLst/>
          </a:prstGeom>
        </p:spPr>
      </p:pic>
    </p:spTree>
    <p:extLst>
      <p:ext uri="{BB962C8B-B14F-4D97-AF65-F5344CB8AC3E}">
        <p14:creationId xmlns:p14="http://schemas.microsoft.com/office/powerpoint/2010/main" val="232036146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698644" y="533400"/>
            <a:ext cx="7896458" cy="523220"/>
          </a:xfrm>
        </p:spPr>
        <p:txBody>
          <a:bodyPr>
            <a:normAutofit fontScale="90000"/>
          </a:bodyPr>
          <a:lstStyle/>
          <a:p>
            <a:r>
              <a:rPr lang="en-SG" dirty="0" smtClean="0"/>
              <a:t>IPS rules, configuration</a:t>
            </a:r>
            <a:endParaRPr lang="en-SG" dirty="0"/>
          </a:p>
        </p:txBody>
      </p:sp>
      <p:sp>
        <p:nvSpPr>
          <p:cNvPr id="3" name="Content Placeholder 2"/>
          <p:cNvSpPr>
            <a:spLocks noGrp="1"/>
          </p:cNvSpPr>
          <p:nvPr>
            <p:ph idx="1"/>
          </p:nvPr>
        </p:nvSpPr>
        <p:spPr>
          <a:xfrm>
            <a:off x="1940052" y="2133601"/>
            <a:ext cx="8636000" cy="3847207"/>
          </a:xfrm>
        </p:spPr>
        <p:txBody>
          <a:bodyPr>
            <a:normAutofit/>
          </a:bodyPr>
          <a:lstStyle/>
          <a:p>
            <a:pPr marL="0" indent="0">
              <a:buNone/>
            </a:pPr>
            <a:r>
              <a:rPr lang="en-SG" sz="2500" dirty="0"/>
              <a:t>2b  </a:t>
            </a:r>
            <a:r>
              <a:rPr lang="en-SG" sz="2500" u="sng" dirty="0"/>
              <a:t>Rate-based signatures (Anomalies)</a:t>
            </a:r>
          </a:p>
          <a:p>
            <a:endParaRPr lang="en-SG" sz="2500" dirty="0"/>
          </a:p>
          <a:p>
            <a:pPr marL="438150" indent="-342900">
              <a:buFont typeface="Arial" panose="020B0604020202020204" pitchFamily="34" charset="0"/>
              <a:buChar char="•"/>
            </a:pPr>
            <a:r>
              <a:rPr lang="en-SG" sz="2500" dirty="0"/>
              <a:t>Block specific traffic when one of the </a:t>
            </a:r>
            <a:r>
              <a:rPr lang="en-SG" sz="2500" u="sng" dirty="0"/>
              <a:t>thresholds</a:t>
            </a:r>
            <a:r>
              <a:rPr lang="en-SG" sz="2500" dirty="0"/>
              <a:t> is exceeded during the </a:t>
            </a:r>
            <a:r>
              <a:rPr lang="en-SG" sz="2500" u="sng" dirty="0"/>
              <a:t>configured time period (Duration)</a:t>
            </a:r>
            <a:r>
              <a:rPr lang="en-SG" sz="2500" dirty="0"/>
              <a:t>. </a:t>
            </a:r>
          </a:p>
          <a:p>
            <a:pPr marL="444500" indent="-342900">
              <a:buFont typeface="Arial" panose="020B0604020202020204" pitchFamily="34" charset="0"/>
              <a:buChar char="•"/>
            </a:pPr>
            <a:endParaRPr lang="en-SG" sz="2500" dirty="0"/>
          </a:p>
          <a:p>
            <a:pPr marL="438150" indent="-342900">
              <a:buFont typeface="Arial" panose="020B0604020202020204" pitchFamily="34" charset="0"/>
              <a:buChar char="•"/>
            </a:pPr>
            <a:r>
              <a:rPr lang="en-SG" sz="2500" dirty="0"/>
              <a:t>Rate based signatures should be applied only to </a:t>
            </a:r>
            <a:r>
              <a:rPr lang="en-SG" sz="2500" u="sng" dirty="0"/>
              <a:t>protocols</a:t>
            </a:r>
            <a:r>
              <a:rPr lang="en-SG" sz="2500" dirty="0"/>
              <a:t> you actually use. Then block malicious clients for extended periods. </a:t>
            </a:r>
          </a:p>
        </p:txBody>
      </p:sp>
    </p:spTree>
    <p:extLst>
      <p:ext uri="{BB962C8B-B14F-4D97-AF65-F5344CB8AC3E}">
        <p14:creationId xmlns:p14="http://schemas.microsoft.com/office/powerpoint/2010/main" val="237423119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692063" y="1828800"/>
            <a:ext cx="8636000" cy="6540252"/>
          </a:xfrm>
        </p:spPr>
        <p:txBody>
          <a:bodyPr/>
          <a:lstStyle/>
          <a:p>
            <a:r>
              <a:rPr lang="en-SG" sz="2500" u="sng" dirty="0"/>
              <a:t>Anomalies – Preventing </a:t>
            </a:r>
            <a:r>
              <a:rPr lang="en-SG" sz="2500" u="sng" dirty="0" err="1"/>
              <a:t>DoS</a:t>
            </a:r>
            <a:r>
              <a:rPr lang="en-SG" sz="2500" u="sng" dirty="0"/>
              <a:t> attack</a:t>
            </a:r>
          </a:p>
          <a:p>
            <a:endParaRPr lang="en-SG" sz="2500" u="sng" dirty="0"/>
          </a:p>
          <a:p>
            <a:r>
              <a:rPr lang="en-SG" sz="2500" dirty="0"/>
              <a:t>4 protocols: TCP, UDP, ICMP and SCTP for anomaly detection.</a:t>
            </a:r>
          </a:p>
          <a:p>
            <a:endParaRPr lang="en-SG" sz="2500" dirty="0"/>
          </a:p>
          <a:p>
            <a:r>
              <a:rPr lang="en-SG" sz="2500" dirty="0"/>
              <a:t>Initially configure the </a:t>
            </a:r>
            <a:r>
              <a:rPr lang="en-SG" sz="2500" dirty="0" err="1"/>
              <a:t>DoS</a:t>
            </a:r>
            <a:r>
              <a:rPr lang="en-SG" sz="2500" dirty="0"/>
              <a:t> policy </a:t>
            </a:r>
            <a:r>
              <a:rPr lang="en-SG" sz="2500" u="sng" dirty="0"/>
              <a:t>to log, but not block</a:t>
            </a:r>
            <a:r>
              <a:rPr lang="en-SG" sz="2500" dirty="0"/>
              <a:t>. Using the logs, </a:t>
            </a:r>
            <a:r>
              <a:rPr lang="en-SG" sz="2500" u="sng" dirty="0"/>
              <a:t>analyse and determine</a:t>
            </a:r>
            <a:r>
              <a:rPr lang="en-SG" sz="2500" dirty="0"/>
              <a:t> normal and peak levels for each protocol. Then, adjust the thresholds to comfortably, but not loosely, allow the usual peaks. </a:t>
            </a:r>
          </a:p>
          <a:p>
            <a:endParaRPr lang="en-SG" sz="2500" dirty="0"/>
          </a:p>
          <a:p>
            <a:r>
              <a:rPr lang="en-SG" sz="2500" dirty="0"/>
              <a:t>Thresholds that are too high can allow your resources to be exhausted before the </a:t>
            </a:r>
            <a:r>
              <a:rPr lang="en-SG" sz="2500" dirty="0" err="1"/>
              <a:t>DoS</a:t>
            </a:r>
            <a:r>
              <a:rPr lang="en-SG" sz="2500" dirty="0"/>
              <a:t> policies trigger. Thresholds that are too low will cause IPS to drop normal traffic.</a:t>
            </a:r>
          </a:p>
          <a:p>
            <a:endParaRPr lang="en-SG" sz="2500" dirty="0"/>
          </a:p>
          <a:p>
            <a:endParaRPr lang="en-SG" sz="2500" dirty="0"/>
          </a:p>
          <a:p>
            <a:endParaRPr lang="en-SG" sz="2500" u="sng" dirty="0"/>
          </a:p>
          <a:p>
            <a:endParaRPr lang="en-SG" sz="2500" u="sng" dirty="0"/>
          </a:p>
        </p:txBody>
      </p:sp>
      <p:sp>
        <p:nvSpPr>
          <p:cNvPr id="4" name="Slide Number Placeholder 3"/>
          <p:cNvSpPr>
            <a:spLocks noGrp="1"/>
          </p:cNvSpPr>
          <p:nvPr>
            <p:ph type="sldNum" sz="quarter" idx="4294967295"/>
          </p:nvPr>
        </p:nvSpPr>
        <p:spPr>
          <a:xfrm>
            <a:off x="10328064" y="6490380"/>
            <a:ext cx="237331" cy="500137"/>
          </a:xfrm>
          <a:prstGeom prst="rect">
            <a:avLst/>
          </a:prstGeom>
        </p:spPr>
        <p:txBody>
          <a:bodyPr/>
          <a:lstStyle/>
          <a:p>
            <a:pPr>
              <a:defRPr/>
            </a:pPr>
            <a:fld id="{D87A0F89-ED2C-476F-A165-8F2BC3D842C9}" type="slidenum">
              <a:rPr lang="en-US" altLang="en-US" smtClean="0"/>
              <a:pPr>
                <a:defRPr/>
              </a:pPr>
              <a:t>46</a:t>
            </a:fld>
            <a:endParaRPr lang="en-US" altLang="en-US"/>
          </a:p>
        </p:txBody>
      </p:sp>
      <p:sp>
        <p:nvSpPr>
          <p:cNvPr id="6" name="Title 1"/>
          <p:cNvSpPr>
            <a:spLocks noGrp="1"/>
          </p:cNvSpPr>
          <p:nvPr>
            <p:ph type="title"/>
          </p:nvPr>
        </p:nvSpPr>
        <p:spPr>
          <a:xfrm>
            <a:off x="2971800" y="685800"/>
            <a:ext cx="7896458" cy="523220"/>
          </a:xfrm>
        </p:spPr>
        <p:txBody>
          <a:bodyPr>
            <a:normAutofit fontScale="90000"/>
          </a:bodyPr>
          <a:lstStyle/>
          <a:p>
            <a:r>
              <a:rPr lang="en-SG" dirty="0" smtClean="0"/>
              <a:t>IPS rules, configuration</a:t>
            </a:r>
            <a:endParaRPr lang="en-SG" dirty="0"/>
          </a:p>
        </p:txBody>
      </p:sp>
    </p:spTree>
    <p:extLst>
      <p:ext uri="{BB962C8B-B14F-4D97-AF65-F5344CB8AC3E}">
        <p14:creationId xmlns:p14="http://schemas.microsoft.com/office/powerpoint/2010/main" val="397032893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810728" y="2118456"/>
            <a:ext cx="8636000" cy="1154162"/>
          </a:xfrm>
        </p:spPr>
        <p:txBody>
          <a:bodyPr>
            <a:normAutofit fontScale="85000" lnSpcReduction="20000"/>
          </a:bodyPr>
          <a:lstStyle/>
          <a:p>
            <a:r>
              <a:rPr lang="en-SG" sz="2500" u="sng" dirty="0"/>
              <a:t>Anomalies – Preventing </a:t>
            </a:r>
            <a:r>
              <a:rPr lang="en-SG" sz="2500" u="sng" dirty="0" err="1"/>
              <a:t>DoS</a:t>
            </a:r>
            <a:r>
              <a:rPr lang="en-SG" sz="2500" u="sng" dirty="0"/>
              <a:t> attack</a:t>
            </a:r>
          </a:p>
          <a:p>
            <a:endParaRPr lang="en-SG" sz="2500" u="sng" dirty="0"/>
          </a:p>
          <a:p>
            <a:r>
              <a:rPr lang="en-SG" sz="2500" dirty="0"/>
              <a:t>Rate-based signatures</a:t>
            </a:r>
          </a:p>
        </p:txBody>
      </p:sp>
      <p:sp>
        <p:nvSpPr>
          <p:cNvPr id="4" name="Slide Number Placeholder 3"/>
          <p:cNvSpPr>
            <a:spLocks noGrp="1"/>
          </p:cNvSpPr>
          <p:nvPr>
            <p:ph type="sldNum" sz="quarter" idx="4294967295"/>
          </p:nvPr>
        </p:nvSpPr>
        <p:spPr>
          <a:xfrm>
            <a:off x="10328064" y="6490380"/>
            <a:ext cx="237331" cy="500137"/>
          </a:xfrm>
          <a:prstGeom prst="rect">
            <a:avLst/>
          </a:prstGeom>
        </p:spPr>
        <p:txBody>
          <a:bodyPr/>
          <a:lstStyle/>
          <a:p>
            <a:pPr>
              <a:defRPr/>
            </a:pPr>
            <a:fld id="{D87A0F89-ED2C-476F-A165-8F2BC3D842C9}" type="slidenum">
              <a:rPr lang="en-US" altLang="en-US" smtClean="0"/>
              <a:pPr>
                <a:defRPr/>
              </a:pPr>
              <a:t>47</a:t>
            </a:fld>
            <a:endParaRPr lang="en-US" altLang="en-US"/>
          </a:p>
        </p:txBody>
      </p:sp>
      <p:sp>
        <p:nvSpPr>
          <p:cNvPr id="6" name="Title 1"/>
          <p:cNvSpPr>
            <a:spLocks noGrp="1"/>
          </p:cNvSpPr>
          <p:nvPr>
            <p:ph type="title"/>
          </p:nvPr>
        </p:nvSpPr>
        <p:spPr>
          <a:xfrm>
            <a:off x="2971800" y="685800"/>
            <a:ext cx="7896458" cy="523220"/>
          </a:xfrm>
        </p:spPr>
        <p:txBody>
          <a:bodyPr>
            <a:normAutofit fontScale="90000"/>
          </a:bodyPr>
          <a:lstStyle/>
          <a:p>
            <a:r>
              <a:rPr lang="en-SG" dirty="0" smtClean="0"/>
              <a:t>IPS rules, configuration</a:t>
            </a:r>
            <a:endParaRPr lang="en-SG" dirty="0"/>
          </a:p>
        </p:txBody>
      </p:sp>
      <p:pic>
        <p:nvPicPr>
          <p:cNvPr id="5" name="Picture 4"/>
          <p:cNvPicPr>
            <a:picLocks noChangeAspect="1"/>
          </p:cNvPicPr>
          <p:nvPr/>
        </p:nvPicPr>
        <p:blipFill>
          <a:blip r:embed="rId3"/>
          <a:stretch>
            <a:fillRect/>
          </a:stretch>
        </p:blipFill>
        <p:spPr>
          <a:xfrm>
            <a:off x="1810728" y="3277104"/>
            <a:ext cx="9140504" cy="2666497"/>
          </a:xfrm>
          <a:prstGeom prst="rect">
            <a:avLst/>
          </a:prstGeom>
        </p:spPr>
      </p:pic>
    </p:spTree>
    <p:extLst>
      <p:ext uri="{BB962C8B-B14F-4D97-AF65-F5344CB8AC3E}">
        <p14:creationId xmlns:p14="http://schemas.microsoft.com/office/powerpoint/2010/main" val="167734598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692063" y="1828800"/>
            <a:ext cx="8636000" cy="1996344"/>
          </a:xfrm>
        </p:spPr>
        <p:txBody>
          <a:bodyPr/>
          <a:lstStyle/>
          <a:p>
            <a:r>
              <a:rPr lang="en-SG" sz="2500" u="sng" dirty="0"/>
              <a:t>Anomalies – Preventing </a:t>
            </a:r>
            <a:r>
              <a:rPr lang="en-SG" sz="2500" u="sng" dirty="0" err="1"/>
              <a:t>DoS</a:t>
            </a:r>
            <a:r>
              <a:rPr lang="en-SG" sz="2500" u="sng" dirty="0"/>
              <a:t> attack</a:t>
            </a:r>
          </a:p>
          <a:p>
            <a:pPr marL="0" indent="0">
              <a:buNone/>
            </a:pPr>
            <a:r>
              <a:rPr lang="en-SG" sz="2500" dirty="0" smtClean="0"/>
              <a:t>To </a:t>
            </a:r>
            <a:r>
              <a:rPr lang="en-SG" sz="2500" dirty="0"/>
              <a:t>block </a:t>
            </a:r>
            <a:r>
              <a:rPr lang="en-SG" sz="2500" dirty="0" err="1"/>
              <a:t>DoS</a:t>
            </a:r>
            <a:r>
              <a:rPr lang="en-SG" sz="2500" dirty="0"/>
              <a:t> attacks, apply a </a:t>
            </a:r>
            <a:r>
              <a:rPr lang="en-SG" sz="2500" dirty="0" err="1"/>
              <a:t>DoS</a:t>
            </a:r>
            <a:r>
              <a:rPr lang="en-SG" sz="2500" dirty="0"/>
              <a:t> policy on a IPS that sits between attackers and all the resources that you want to protect.</a:t>
            </a:r>
          </a:p>
          <a:p>
            <a:endParaRPr lang="en-SG" sz="2500" u="sng" dirty="0"/>
          </a:p>
        </p:txBody>
      </p:sp>
      <p:sp>
        <p:nvSpPr>
          <p:cNvPr id="4" name="Slide Number Placeholder 3"/>
          <p:cNvSpPr>
            <a:spLocks noGrp="1"/>
          </p:cNvSpPr>
          <p:nvPr>
            <p:ph type="sldNum" sz="quarter" idx="4294967295"/>
          </p:nvPr>
        </p:nvSpPr>
        <p:spPr>
          <a:xfrm>
            <a:off x="10328064" y="6490380"/>
            <a:ext cx="237331" cy="500137"/>
          </a:xfrm>
          <a:prstGeom prst="rect">
            <a:avLst/>
          </a:prstGeom>
        </p:spPr>
        <p:txBody>
          <a:bodyPr/>
          <a:lstStyle/>
          <a:p>
            <a:pPr>
              <a:defRPr/>
            </a:pPr>
            <a:fld id="{D87A0F89-ED2C-476F-A165-8F2BC3D842C9}" type="slidenum">
              <a:rPr lang="en-US" altLang="en-US" smtClean="0"/>
              <a:pPr>
                <a:defRPr/>
              </a:pPr>
              <a:t>48</a:t>
            </a:fld>
            <a:endParaRPr lang="en-US" altLang="en-US"/>
          </a:p>
        </p:txBody>
      </p:sp>
      <p:sp>
        <p:nvSpPr>
          <p:cNvPr id="6" name="Title 1"/>
          <p:cNvSpPr>
            <a:spLocks noGrp="1"/>
          </p:cNvSpPr>
          <p:nvPr>
            <p:ph type="title"/>
          </p:nvPr>
        </p:nvSpPr>
        <p:spPr>
          <a:xfrm>
            <a:off x="2971800" y="685800"/>
            <a:ext cx="7896458" cy="523220"/>
          </a:xfrm>
        </p:spPr>
        <p:txBody>
          <a:bodyPr>
            <a:normAutofit fontScale="90000"/>
          </a:bodyPr>
          <a:lstStyle/>
          <a:p>
            <a:r>
              <a:rPr lang="en-SG" dirty="0" smtClean="0"/>
              <a:t>IPS rules, configuration</a:t>
            </a:r>
            <a:endParaRPr lang="en-SG" dirty="0"/>
          </a:p>
        </p:txBody>
      </p:sp>
      <p:pic>
        <p:nvPicPr>
          <p:cNvPr id="2" name="Picture 1"/>
          <p:cNvPicPr>
            <a:picLocks noChangeAspect="1"/>
          </p:cNvPicPr>
          <p:nvPr/>
        </p:nvPicPr>
        <p:blipFill>
          <a:blip r:embed="rId3"/>
          <a:stretch>
            <a:fillRect/>
          </a:stretch>
        </p:blipFill>
        <p:spPr>
          <a:xfrm>
            <a:off x="2962064" y="3429000"/>
            <a:ext cx="6905625" cy="2933700"/>
          </a:xfrm>
          <a:prstGeom prst="rect">
            <a:avLst/>
          </a:prstGeom>
        </p:spPr>
      </p:pic>
    </p:spTree>
    <p:extLst>
      <p:ext uri="{BB962C8B-B14F-4D97-AF65-F5344CB8AC3E}">
        <p14:creationId xmlns:p14="http://schemas.microsoft.com/office/powerpoint/2010/main" val="55728959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692063" y="1828800"/>
            <a:ext cx="8636000" cy="1154162"/>
          </a:xfrm>
        </p:spPr>
        <p:txBody>
          <a:bodyPr/>
          <a:lstStyle/>
          <a:p>
            <a:r>
              <a:rPr lang="en-SG" sz="2500" u="sng" dirty="0"/>
              <a:t>Anomalies – Preventing </a:t>
            </a:r>
            <a:r>
              <a:rPr lang="en-SG" sz="2500" u="sng" dirty="0" err="1"/>
              <a:t>DoS</a:t>
            </a:r>
            <a:r>
              <a:rPr lang="en-SG" sz="2500" u="sng" dirty="0"/>
              <a:t> attack</a:t>
            </a:r>
          </a:p>
          <a:p>
            <a:endParaRPr lang="en-SG" sz="2500" u="sng" dirty="0"/>
          </a:p>
          <a:p>
            <a:endParaRPr lang="en-SG" sz="2500" u="sng" dirty="0"/>
          </a:p>
        </p:txBody>
      </p:sp>
      <p:sp>
        <p:nvSpPr>
          <p:cNvPr id="4" name="Slide Number Placeholder 3"/>
          <p:cNvSpPr>
            <a:spLocks noGrp="1"/>
          </p:cNvSpPr>
          <p:nvPr>
            <p:ph type="sldNum" sz="quarter" idx="4294967295"/>
          </p:nvPr>
        </p:nvSpPr>
        <p:spPr>
          <a:xfrm>
            <a:off x="10328064" y="6490380"/>
            <a:ext cx="237331" cy="500137"/>
          </a:xfrm>
          <a:prstGeom prst="rect">
            <a:avLst/>
          </a:prstGeom>
        </p:spPr>
        <p:txBody>
          <a:bodyPr/>
          <a:lstStyle/>
          <a:p>
            <a:pPr>
              <a:defRPr/>
            </a:pPr>
            <a:fld id="{D87A0F89-ED2C-476F-A165-8F2BC3D842C9}" type="slidenum">
              <a:rPr lang="en-US" altLang="en-US" smtClean="0"/>
              <a:pPr>
                <a:defRPr/>
              </a:pPr>
              <a:t>49</a:t>
            </a:fld>
            <a:endParaRPr lang="en-US" altLang="en-US"/>
          </a:p>
        </p:txBody>
      </p:sp>
      <p:sp>
        <p:nvSpPr>
          <p:cNvPr id="6" name="Title 1"/>
          <p:cNvSpPr>
            <a:spLocks noGrp="1"/>
          </p:cNvSpPr>
          <p:nvPr>
            <p:ph type="title"/>
          </p:nvPr>
        </p:nvSpPr>
        <p:spPr>
          <a:xfrm>
            <a:off x="2971800" y="685800"/>
            <a:ext cx="7896458" cy="523220"/>
          </a:xfrm>
        </p:spPr>
        <p:txBody>
          <a:bodyPr>
            <a:normAutofit fontScale="90000"/>
          </a:bodyPr>
          <a:lstStyle/>
          <a:p>
            <a:r>
              <a:rPr lang="en-SG" dirty="0" smtClean="0"/>
              <a:t>IPS rules, configuration</a:t>
            </a:r>
            <a:endParaRPr lang="en-SG" dirty="0"/>
          </a:p>
        </p:txBody>
      </p:sp>
      <p:pic>
        <p:nvPicPr>
          <p:cNvPr id="5" name="Picture 4"/>
          <p:cNvPicPr>
            <a:picLocks noChangeAspect="1"/>
          </p:cNvPicPr>
          <p:nvPr/>
        </p:nvPicPr>
        <p:blipFill>
          <a:blip r:embed="rId3"/>
          <a:stretch>
            <a:fillRect/>
          </a:stretch>
        </p:blipFill>
        <p:spPr>
          <a:xfrm>
            <a:off x="1692063" y="2405881"/>
            <a:ext cx="8218846" cy="3994919"/>
          </a:xfrm>
          <a:prstGeom prst="rect">
            <a:avLst/>
          </a:prstGeom>
        </p:spPr>
      </p:pic>
    </p:spTree>
    <p:extLst>
      <p:ext uri="{BB962C8B-B14F-4D97-AF65-F5344CB8AC3E}">
        <p14:creationId xmlns:p14="http://schemas.microsoft.com/office/powerpoint/2010/main" val="154027946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955718" y="2209800"/>
            <a:ext cx="8636000" cy="4231928"/>
          </a:xfrm>
        </p:spPr>
        <p:txBody>
          <a:bodyPr>
            <a:normAutofit fontScale="92500" lnSpcReduction="10000"/>
          </a:bodyPr>
          <a:lstStyle/>
          <a:p>
            <a:r>
              <a:rPr lang="en-SG" sz="2500" u="sng" dirty="0"/>
              <a:t>Can IPS do what the IDS can do?</a:t>
            </a:r>
          </a:p>
          <a:p>
            <a:endParaRPr lang="en-SG" sz="2500" u="sng" dirty="0"/>
          </a:p>
          <a:p>
            <a:r>
              <a:rPr lang="en-SG" sz="2500" dirty="0"/>
              <a:t>Answer: </a:t>
            </a:r>
            <a:r>
              <a:rPr lang="en-SG" sz="2500" u="sng" dirty="0"/>
              <a:t>One-arm sniffer deployment</a:t>
            </a:r>
          </a:p>
          <a:p>
            <a:endParaRPr lang="en-SG" sz="2500" dirty="0"/>
          </a:p>
          <a:p>
            <a:r>
              <a:rPr lang="en-SG" sz="2500" dirty="0"/>
              <a:t>Using Mirror/SPAN port forwards packets to IPS</a:t>
            </a:r>
          </a:p>
          <a:p>
            <a:endParaRPr lang="en-SG" sz="2500" dirty="0"/>
          </a:p>
          <a:p>
            <a:r>
              <a:rPr lang="en-SG" sz="2500" dirty="0"/>
              <a:t>IPS scans a </a:t>
            </a:r>
            <a:r>
              <a:rPr lang="en-SG" sz="2500" u="sng" dirty="0"/>
              <a:t>copy</a:t>
            </a:r>
          </a:p>
          <a:p>
            <a:r>
              <a:rPr lang="en-SG" sz="2500" dirty="0"/>
              <a:t>Does not block/intervene (Non disruptive)</a:t>
            </a:r>
          </a:p>
          <a:p>
            <a:r>
              <a:rPr lang="en-SG" sz="2500" dirty="0"/>
              <a:t>Records log of the action the IPS would have taken in normal mode.</a:t>
            </a:r>
          </a:p>
          <a:p>
            <a:endParaRPr lang="en-SG" sz="2500" dirty="0"/>
          </a:p>
        </p:txBody>
      </p:sp>
      <p:sp>
        <p:nvSpPr>
          <p:cNvPr id="4" name="Slide Number Placeholder 3"/>
          <p:cNvSpPr>
            <a:spLocks noGrp="1"/>
          </p:cNvSpPr>
          <p:nvPr>
            <p:ph type="sldNum" sz="quarter" idx="4294967295"/>
          </p:nvPr>
        </p:nvSpPr>
        <p:spPr>
          <a:xfrm>
            <a:off x="10328064" y="6490380"/>
            <a:ext cx="237331" cy="500137"/>
          </a:xfrm>
          <a:prstGeom prst="rect">
            <a:avLst/>
          </a:prstGeom>
        </p:spPr>
        <p:txBody>
          <a:bodyPr/>
          <a:lstStyle/>
          <a:p>
            <a:pPr>
              <a:defRPr/>
            </a:pPr>
            <a:fld id="{D87A0F89-ED2C-476F-A165-8F2BC3D842C9}" type="slidenum">
              <a:rPr lang="en-US" altLang="en-US" smtClean="0"/>
              <a:pPr>
                <a:defRPr/>
              </a:pPr>
              <a:t>50</a:t>
            </a:fld>
            <a:endParaRPr lang="en-US" altLang="en-US"/>
          </a:p>
        </p:txBody>
      </p:sp>
      <p:sp>
        <p:nvSpPr>
          <p:cNvPr id="6" name="Title 1"/>
          <p:cNvSpPr>
            <a:spLocks noGrp="1"/>
          </p:cNvSpPr>
          <p:nvPr>
            <p:ph type="title"/>
          </p:nvPr>
        </p:nvSpPr>
        <p:spPr>
          <a:xfrm>
            <a:off x="2971800" y="685800"/>
            <a:ext cx="7896458" cy="523220"/>
          </a:xfrm>
        </p:spPr>
        <p:txBody>
          <a:bodyPr>
            <a:normAutofit fontScale="90000"/>
          </a:bodyPr>
          <a:lstStyle/>
          <a:p>
            <a:r>
              <a:rPr lang="en-SG" dirty="0" smtClean="0"/>
              <a:t>IPS rules, configuration</a:t>
            </a:r>
            <a:endParaRPr lang="en-SG" dirty="0"/>
          </a:p>
        </p:txBody>
      </p:sp>
    </p:spTree>
    <p:extLst>
      <p:ext uri="{BB962C8B-B14F-4D97-AF65-F5344CB8AC3E}">
        <p14:creationId xmlns:p14="http://schemas.microsoft.com/office/powerpoint/2010/main" val="386890017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955718" y="2209800"/>
            <a:ext cx="8636000" cy="1154162"/>
          </a:xfrm>
        </p:spPr>
        <p:txBody>
          <a:bodyPr>
            <a:normAutofit fontScale="85000" lnSpcReduction="20000"/>
          </a:bodyPr>
          <a:lstStyle/>
          <a:p>
            <a:r>
              <a:rPr lang="en-SG" sz="2500" u="sng" dirty="0"/>
              <a:t>Typical IPS Setup</a:t>
            </a:r>
          </a:p>
          <a:p>
            <a:endParaRPr lang="en-SG" sz="2500" u="sng" dirty="0"/>
          </a:p>
          <a:p>
            <a:r>
              <a:rPr lang="en-SG" sz="2500" dirty="0"/>
              <a:t>How about Zero-day attacks?</a:t>
            </a:r>
          </a:p>
        </p:txBody>
      </p:sp>
      <p:sp>
        <p:nvSpPr>
          <p:cNvPr id="4" name="Slide Number Placeholder 3"/>
          <p:cNvSpPr>
            <a:spLocks noGrp="1"/>
          </p:cNvSpPr>
          <p:nvPr>
            <p:ph type="sldNum" sz="quarter" idx="4294967295"/>
          </p:nvPr>
        </p:nvSpPr>
        <p:spPr>
          <a:xfrm>
            <a:off x="10328064" y="6490380"/>
            <a:ext cx="237331" cy="500137"/>
          </a:xfrm>
          <a:prstGeom prst="rect">
            <a:avLst/>
          </a:prstGeom>
        </p:spPr>
        <p:txBody>
          <a:bodyPr/>
          <a:lstStyle/>
          <a:p>
            <a:pPr>
              <a:defRPr/>
            </a:pPr>
            <a:fld id="{D87A0F89-ED2C-476F-A165-8F2BC3D842C9}" type="slidenum">
              <a:rPr lang="en-US" altLang="en-US" smtClean="0"/>
              <a:pPr>
                <a:defRPr/>
              </a:pPr>
              <a:t>51</a:t>
            </a:fld>
            <a:endParaRPr lang="en-US" altLang="en-US"/>
          </a:p>
        </p:txBody>
      </p:sp>
      <p:sp>
        <p:nvSpPr>
          <p:cNvPr id="6" name="Title 1"/>
          <p:cNvSpPr>
            <a:spLocks noGrp="1"/>
          </p:cNvSpPr>
          <p:nvPr>
            <p:ph type="title"/>
          </p:nvPr>
        </p:nvSpPr>
        <p:spPr>
          <a:xfrm>
            <a:off x="2971800" y="685800"/>
            <a:ext cx="7896458" cy="523220"/>
          </a:xfrm>
        </p:spPr>
        <p:txBody>
          <a:bodyPr>
            <a:normAutofit fontScale="90000"/>
          </a:bodyPr>
          <a:lstStyle/>
          <a:p>
            <a:r>
              <a:rPr lang="en-SG" dirty="0" smtClean="0"/>
              <a:t>IPS rules, configuration</a:t>
            </a:r>
            <a:endParaRPr lang="en-SG" dirty="0"/>
          </a:p>
        </p:txBody>
      </p:sp>
    </p:spTree>
    <p:extLst>
      <p:ext uri="{BB962C8B-B14F-4D97-AF65-F5344CB8AC3E}">
        <p14:creationId xmlns:p14="http://schemas.microsoft.com/office/powerpoint/2010/main" val="113080989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955718" y="2209801"/>
            <a:ext cx="8636000" cy="3847207"/>
          </a:xfrm>
        </p:spPr>
        <p:txBody>
          <a:bodyPr>
            <a:normAutofit lnSpcReduction="10000"/>
          </a:bodyPr>
          <a:lstStyle/>
          <a:p>
            <a:r>
              <a:rPr lang="en-SG" sz="2500" u="sng" dirty="0"/>
              <a:t>Typical IPS Setup</a:t>
            </a:r>
          </a:p>
          <a:p>
            <a:endParaRPr lang="en-SG" sz="2500" u="sng" dirty="0"/>
          </a:p>
          <a:p>
            <a:r>
              <a:rPr lang="en-SG" sz="2500" dirty="0"/>
              <a:t>You can </a:t>
            </a:r>
            <a:r>
              <a:rPr lang="en-SG" sz="2500" u="sng" dirty="0"/>
              <a:t>prevent</a:t>
            </a:r>
            <a:r>
              <a:rPr lang="en-SG" sz="2500" dirty="0"/>
              <a:t> Zero-day attacks.</a:t>
            </a:r>
          </a:p>
          <a:p>
            <a:endParaRPr lang="en-SG" sz="2500" dirty="0"/>
          </a:p>
          <a:p>
            <a:r>
              <a:rPr lang="en-SG" sz="2500" dirty="0"/>
              <a:t>-Study your network’s baseline of normal behaviour</a:t>
            </a:r>
          </a:p>
          <a:p>
            <a:r>
              <a:rPr lang="en-SG" sz="2500" dirty="0"/>
              <a:t>-Monitor unusual traffic volumes and patterns</a:t>
            </a:r>
          </a:p>
          <a:p>
            <a:r>
              <a:rPr lang="en-SG" sz="2500" dirty="0"/>
              <a:t>-Firewall policies must allow only the connections required</a:t>
            </a:r>
          </a:p>
          <a:p>
            <a:r>
              <a:rPr lang="en-SG" sz="2500" dirty="0"/>
              <a:t>-Prevent buffer overflows, cross-site scripting and so on.</a:t>
            </a:r>
          </a:p>
          <a:p>
            <a:endParaRPr lang="en-SG" sz="2500" dirty="0"/>
          </a:p>
          <a:p>
            <a:endParaRPr lang="en-SG" sz="2500" dirty="0"/>
          </a:p>
        </p:txBody>
      </p:sp>
      <p:sp>
        <p:nvSpPr>
          <p:cNvPr id="4" name="Slide Number Placeholder 3"/>
          <p:cNvSpPr>
            <a:spLocks noGrp="1"/>
          </p:cNvSpPr>
          <p:nvPr>
            <p:ph type="sldNum" sz="quarter" idx="4294967295"/>
          </p:nvPr>
        </p:nvSpPr>
        <p:spPr>
          <a:xfrm>
            <a:off x="10328064" y="6490380"/>
            <a:ext cx="237331" cy="500137"/>
          </a:xfrm>
          <a:prstGeom prst="rect">
            <a:avLst/>
          </a:prstGeom>
        </p:spPr>
        <p:txBody>
          <a:bodyPr/>
          <a:lstStyle/>
          <a:p>
            <a:pPr>
              <a:defRPr/>
            </a:pPr>
            <a:fld id="{D87A0F89-ED2C-476F-A165-8F2BC3D842C9}" type="slidenum">
              <a:rPr lang="en-US" altLang="en-US" smtClean="0"/>
              <a:pPr>
                <a:defRPr/>
              </a:pPr>
              <a:t>52</a:t>
            </a:fld>
            <a:endParaRPr lang="en-US" altLang="en-US"/>
          </a:p>
        </p:txBody>
      </p:sp>
      <p:sp>
        <p:nvSpPr>
          <p:cNvPr id="6" name="Title 1"/>
          <p:cNvSpPr>
            <a:spLocks noGrp="1"/>
          </p:cNvSpPr>
          <p:nvPr>
            <p:ph type="title"/>
          </p:nvPr>
        </p:nvSpPr>
        <p:spPr>
          <a:xfrm>
            <a:off x="2971800" y="685800"/>
            <a:ext cx="7896458" cy="523220"/>
          </a:xfrm>
        </p:spPr>
        <p:txBody>
          <a:bodyPr>
            <a:normAutofit fontScale="90000"/>
          </a:bodyPr>
          <a:lstStyle/>
          <a:p>
            <a:r>
              <a:rPr lang="en-SG" dirty="0" smtClean="0"/>
              <a:t>IPS rules, configuration</a:t>
            </a:r>
            <a:endParaRPr lang="en-SG" dirty="0"/>
          </a:p>
        </p:txBody>
      </p:sp>
    </p:spTree>
    <p:extLst>
      <p:ext uri="{BB962C8B-B14F-4D97-AF65-F5344CB8AC3E}">
        <p14:creationId xmlns:p14="http://schemas.microsoft.com/office/powerpoint/2010/main" val="371344594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955718" y="2209800"/>
            <a:ext cx="8636000" cy="3462486"/>
          </a:xfrm>
        </p:spPr>
        <p:txBody>
          <a:bodyPr>
            <a:normAutofit lnSpcReduction="10000"/>
          </a:bodyPr>
          <a:lstStyle/>
          <a:p>
            <a:r>
              <a:rPr lang="en-SG" sz="2500" dirty="0"/>
              <a:t>When traffic passes through your network, IPS/IDS scans the traffic and then takes action based on the policies in place. This activity is recorded and the information is contained in a log message. The log message is stored in a log file that is then stored on a device capable of storing logs</a:t>
            </a:r>
          </a:p>
          <a:p>
            <a:endParaRPr lang="en-SG" sz="2500" dirty="0"/>
          </a:p>
          <a:p>
            <a:r>
              <a:rPr lang="en-SG" sz="2500" dirty="0"/>
              <a:t>Logs provide you intelligence and with a greater perspective of your network, allowing you to make adjustments to your network security.</a:t>
            </a:r>
          </a:p>
        </p:txBody>
      </p:sp>
      <p:sp>
        <p:nvSpPr>
          <p:cNvPr id="4" name="Slide Number Placeholder 3"/>
          <p:cNvSpPr>
            <a:spLocks noGrp="1"/>
          </p:cNvSpPr>
          <p:nvPr>
            <p:ph type="sldNum" sz="quarter" idx="4294967295"/>
          </p:nvPr>
        </p:nvSpPr>
        <p:spPr>
          <a:xfrm>
            <a:off x="10328064" y="6490380"/>
            <a:ext cx="237331" cy="500137"/>
          </a:xfrm>
          <a:prstGeom prst="rect">
            <a:avLst/>
          </a:prstGeom>
        </p:spPr>
        <p:txBody>
          <a:bodyPr/>
          <a:lstStyle/>
          <a:p>
            <a:pPr>
              <a:defRPr/>
            </a:pPr>
            <a:fld id="{D87A0F89-ED2C-476F-A165-8F2BC3D842C9}" type="slidenum">
              <a:rPr lang="en-US" altLang="en-US" smtClean="0"/>
              <a:pPr>
                <a:defRPr/>
              </a:pPr>
              <a:t>53</a:t>
            </a:fld>
            <a:endParaRPr lang="en-US" altLang="en-US"/>
          </a:p>
        </p:txBody>
      </p:sp>
      <p:sp>
        <p:nvSpPr>
          <p:cNvPr id="6" name="Title 1"/>
          <p:cNvSpPr>
            <a:spLocks noGrp="1"/>
          </p:cNvSpPr>
          <p:nvPr>
            <p:ph type="title"/>
          </p:nvPr>
        </p:nvSpPr>
        <p:spPr>
          <a:xfrm>
            <a:off x="2971800" y="685800"/>
            <a:ext cx="7896458" cy="523220"/>
          </a:xfrm>
        </p:spPr>
        <p:txBody>
          <a:bodyPr>
            <a:normAutofit fontScale="90000"/>
          </a:bodyPr>
          <a:lstStyle/>
          <a:p>
            <a:r>
              <a:rPr lang="en-SG" dirty="0" smtClean="0"/>
              <a:t>Cyber Intelligence from Logs</a:t>
            </a:r>
            <a:endParaRPr lang="en-SG" dirty="0"/>
          </a:p>
        </p:txBody>
      </p:sp>
    </p:spTree>
    <p:extLst>
      <p:ext uri="{BB962C8B-B14F-4D97-AF65-F5344CB8AC3E}">
        <p14:creationId xmlns:p14="http://schemas.microsoft.com/office/powerpoint/2010/main" val="198754948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955718" y="2209801"/>
            <a:ext cx="8636000" cy="2693045"/>
          </a:xfrm>
        </p:spPr>
        <p:txBody>
          <a:bodyPr>
            <a:normAutofit fontScale="92500" lnSpcReduction="10000"/>
          </a:bodyPr>
          <a:lstStyle/>
          <a:p>
            <a:r>
              <a:rPr lang="en-SG" sz="2500" dirty="0"/>
              <a:t>Describing log types and subtypes</a:t>
            </a:r>
          </a:p>
          <a:p>
            <a:r>
              <a:rPr lang="en-SG" sz="2500" dirty="0"/>
              <a:t>Describing log severity levels</a:t>
            </a:r>
          </a:p>
          <a:p>
            <a:r>
              <a:rPr lang="en-SG" sz="2500" dirty="0"/>
              <a:t>Message log layout</a:t>
            </a:r>
          </a:p>
          <a:p>
            <a:r>
              <a:rPr lang="en-SG" sz="2500" dirty="0"/>
              <a:t>Viewing logs</a:t>
            </a:r>
          </a:p>
          <a:p>
            <a:r>
              <a:rPr lang="en-SG" sz="2500" dirty="0"/>
              <a:t>Monitoring your network</a:t>
            </a:r>
          </a:p>
          <a:p>
            <a:r>
              <a:rPr lang="en-SG" sz="2500" dirty="0"/>
              <a:t>Reporting</a:t>
            </a:r>
          </a:p>
          <a:p>
            <a:endParaRPr lang="en-SG" sz="2500" dirty="0"/>
          </a:p>
        </p:txBody>
      </p:sp>
      <p:sp>
        <p:nvSpPr>
          <p:cNvPr id="4" name="Slide Number Placeholder 3"/>
          <p:cNvSpPr>
            <a:spLocks noGrp="1"/>
          </p:cNvSpPr>
          <p:nvPr>
            <p:ph type="sldNum" sz="quarter" idx="4294967295"/>
          </p:nvPr>
        </p:nvSpPr>
        <p:spPr>
          <a:xfrm>
            <a:off x="10328064" y="6490380"/>
            <a:ext cx="237331" cy="500137"/>
          </a:xfrm>
          <a:prstGeom prst="rect">
            <a:avLst/>
          </a:prstGeom>
        </p:spPr>
        <p:txBody>
          <a:bodyPr/>
          <a:lstStyle/>
          <a:p>
            <a:pPr>
              <a:defRPr/>
            </a:pPr>
            <a:fld id="{D87A0F89-ED2C-476F-A165-8F2BC3D842C9}" type="slidenum">
              <a:rPr lang="en-US" altLang="en-US" smtClean="0"/>
              <a:pPr>
                <a:defRPr/>
              </a:pPr>
              <a:t>54</a:t>
            </a:fld>
            <a:endParaRPr lang="en-US" altLang="en-US"/>
          </a:p>
        </p:txBody>
      </p:sp>
      <p:sp>
        <p:nvSpPr>
          <p:cNvPr id="6" name="Title 1"/>
          <p:cNvSpPr>
            <a:spLocks noGrp="1"/>
          </p:cNvSpPr>
          <p:nvPr>
            <p:ph type="title"/>
          </p:nvPr>
        </p:nvSpPr>
        <p:spPr>
          <a:xfrm>
            <a:off x="2971800" y="685800"/>
            <a:ext cx="7896458" cy="523220"/>
          </a:xfrm>
        </p:spPr>
        <p:txBody>
          <a:bodyPr>
            <a:normAutofit fontScale="90000"/>
          </a:bodyPr>
          <a:lstStyle/>
          <a:p>
            <a:r>
              <a:rPr lang="en-SG" dirty="0" smtClean="0"/>
              <a:t>Cyber Intelligence from Logs</a:t>
            </a:r>
            <a:endParaRPr lang="en-SG" dirty="0"/>
          </a:p>
        </p:txBody>
      </p:sp>
    </p:spTree>
    <p:extLst>
      <p:ext uri="{BB962C8B-B14F-4D97-AF65-F5344CB8AC3E}">
        <p14:creationId xmlns:p14="http://schemas.microsoft.com/office/powerpoint/2010/main" val="43662026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955718" y="2209801"/>
            <a:ext cx="8636000" cy="384721"/>
          </a:xfrm>
        </p:spPr>
        <p:txBody>
          <a:bodyPr>
            <a:normAutofit fontScale="92500" lnSpcReduction="10000"/>
          </a:bodyPr>
          <a:lstStyle/>
          <a:p>
            <a:r>
              <a:rPr lang="en-SG" sz="2500" u="sng" dirty="0"/>
              <a:t>Log Types and Sub Types</a:t>
            </a:r>
          </a:p>
        </p:txBody>
      </p:sp>
      <p:sp>
        <p:nvSpPr>
          <p:cNvPr id="4" name="Slide Number Placeholder 3"/>
          <p:cNvSpPr>
            <a:spLocks noGrp="1"/>
          </p:cNvSpPr>
          <p:nvPr>
            <p:ph type="sldNum" sz="quarter" idx="4294967295"/>
          </p:nvPr>
        </p:nvSpPr>
        <p:spPr>
          <a:xfrm>
            <a:off x="10328064" y="6490380"/>
            <a:ext cx="237331" cy="500137"/>
          </a:xfrm>
          <a:prstGeom prst="rect">
            <a:avLst/>
          </a:prstGeom>
        </p:spPr>
        <p:txBody>
          <a:bodyPr/>
          <a:lstStyle/>
          <a:p>
            <a:pPr>
              <a:defRPr/>
            </a:pPr>
            <a:fld id="{D87A0F89-ED2C-476F-A165-8F2BC3D842C9}" type="slidenum">
              <a:rPr lang="en-US" altLang="en-US" smtClean="0"/>
              <a:pPr>
                <a:defRPr/>
              </a:pPr>
              <a:t>55</a:t>
            </a:fld>
            <a:endParaRPr lang="en-US" altLang="en-US"/>
          </a:p>
        </p:txBody>
      </p:sp>
      <p:sp>
        <p:nvSpPr>
          <p:cNvPr id="6" name="Title 1"/>
          <p:cNvSpPr>
            <a:spLocks noGrp="1"/>
          </p:cNvSpPr>
          <p:nvPr>
            <p:ph type="title"/>
          </p:nvPr>
        </p:nvSpPr>
        <p:spPr>
          <a:xfrm>
            <a:off x="2971800" y="685800"/>
            <a:ext cx="7896458" cy="523220"/>
          </a:xfrm>
        </p:spPr>
        <p:txBody>
          <a:bodyPr>
            <a:normAutofit fontScale="90000"/>
          </a:bodyPr>
          <a:lstStyle/>
          <a:p>
            <a:r>
              <a:rPr lang="en-SG" dirty="0" smtClean="0"/>
              <a:t>Cyber Intelligence from Logs</a:t>
            </a:r>
            <a:endParaRPr lang="en-SG" dirty="0"/>
          </a:p>
        </p:txBody>
      </p:sp>
      <p:pic>
        <p:nvPicPr>
          <p:cNvPr id="5" name="Picture 4"/>
          <p:cNvPicPr>
            <a:picLocks noChangeAspect="1"/>
          </p:cNvPicPr>
          <p:nvPr/>
        </p:nvPicPr>
        <p:blipFill>
          <a:blip r:embed="rId3"/>
          <a:stretch>
            <a:fillRect/>
          </a:stretch>
        </p:blipFill>
        <p:spPr>
          <a:xfrm>
            <a:off x="2590801" y="2970825"/>
            <a:ext cx="5591175" cy="3143250"/>
          </a:xfrm>
          <a:prstGeom prst="rect">
            <a:avLst/>
          </a:prstGeom>
        </p:spPr>
      </p:pic>
    </p:spTree>
    <p:extLst>
      <p:ext uri="{BB962C8B-B14F-4D97-AF65-F5344CB8AC3E}">
        <p14:creationId xmlns:p14="http://schemas.microsoft.com/office/powerpoint/2010/main" val="379008829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955718" y="2209801"/>
            <a:ext cx="8636000" cy="384721"/>
          </a:xfrm>
        </p:spPr>
        <p:txBody>
          <a:bodyPr>
            <a:normAutofit fontScale="92500" lnSpcReduction="10000"/>
          </a:bodyPr>
          <a:lstStyle/>
          <a:p>
            <a:r>
              <a:rPr lang="en-SG" sz="2500" u="sng" dirty="0"/>
              <a:t>Log Security Levels</a:t>
            </a:r>
          </a:p>
        </p:txBody>
      </p:sp>
      <p:sp>
        <p:nvSpPr>
          <p:cNvPr id="4" name="Slide Number Placeholder 3"/>
          <p:cNvSpPr>
            <a:spLocks noGrp="1"/>
          </p:cNvSpPr>
          <p:nvPr>
            <p:ph type="sldNum" sz="quarter" idx="4294967295"/>
          </p:nvPr>
        </p:nvSpPr>
        <p:spPr>
          <a:xfrm>
            <a:off x="10328064" y="6490380"/>
            <a:ext cx="237331" cy="500137"/>
          </a:xfrm>
          <a:prstGeom prst="rect">
            <a:avLst/>
          </a:prstGeom>
        </p:spPr>
        <p:txBody>
          <a:bodyPr/>
          <a:lstStyle/>
          <a:p>
            <a:pPr>
              <a:defRPr/>
            </a:pPr>
            <a:fld id="{D87A0F89-ED2C-476F-A165-8F2BC3D842C9}" type="slidenum">
              <a:rPr lang="en-US" altLang="en-US" smtClean="0"/>
              <a:pPr>
                <a:defRPr/>
              </a:pPr>
              <a:t>56</a:t>
            </a:fld>
            <a:endParaRPr lang="en-US" altLang="en-US"/>
          </a:p>
        </p:txBody>
      </p:sp>
      <p:sp>
        <p:nvSpPr>
          <p:cNvPr id="6" name="Title 1"/>
          <p:cNvSpPr>
            <a:spLocks noGrp="1"/>
          </p:cNvSpPr>
          <p:nvPr>
            <p:ph type="title"/>
          </p:nvPr>
        </p:nvSpPr>
        <p:spPr>
          <a:xfrm>
            <a:off x="2971800" y="685800"/>
            <a:ext cx="7896458" cy="523220"/>
          </a:xfrm>
        </p:spPr>
        <p:txBody>
          <a:bodyPr>
            <a:normAutofit fontScale="90000"/>
          </a:bodyPr>
          <a:lstStyle/>
          <a:p>
            <a:r>
              <a:rPr lang="en-SG" dirty="0" smtClean="0"/>
              <a:t>Cyber Intelligence from Logs</a:t>
            </a:r>
            <a:endParaRPr lang="en-SG" dirty="0"/>
          </a:p>
        </p:txBody>
      </p:sp>
      <p:pic>
        <p:nvPicPr>
          <p:cNvPr id="5" name="Picture 4"/>
          <p:cNvPicPr>
            <a:picLocks noChangeAspect="1"/>
          </p:cNvPicPr>
          <p:nvPr/>
        </p:nvPicPr>
        <p:blipFill>
          <a:blip r:embed="rId3"/>
          <a:stretch>
            <a:fillRect/>
          </a:stretch>
        </p:blipFill>
        <p:spPr>
          <a:xfrm>
            <a:off x="1955718" y="2971800"/>
            <a:ext cx="6654882" cy="3292852"/>
          </a:xfrm>
          <a:prstGeom prst="rect">
            <a:avLst/>
          </a:prstGeom>
        </p:spPr>
      </p:pic>
    </p:spTree>
    <p:extLst>
      <p:ext uri="{BB962C8B-B14F-4D97-AF65-F5344CB8AC3E}">
        <p14:creationId xmlns:p14="http://schemas.microsoft.com/office/powerpoint/2010/main" val="89976833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955718" y="2209801"/>
            <a:ext cx="8636000" cy="384721"/>
          </a:xfrm>
        </p:spPr>
        <p:txBody>
          <a:bodyPr>
            <a:normAutofit fontScale="92500" lnSpcReduction="10000"/>
          </a:bodyPr>
          <a:lstStyle/>
          <a:p>
            <a:r>
              <a:rPr lang="en-SG" sz="2500" u="sng" dirty="0"/>
              <a:t>Log Message Layout</a:t>
            </a:r>
          </a:p>
        </p:txBody>
      </p:sp>
      <p:sp>
        <p:nvSpPr>
          <p:cNvPr id="4" name="Slide Number Placeholder 3"/>
          <p:cNvSpPr>
            <a:spLocks noGrp="1"/>
          </p:cNvSpPr>
          <p:nvPr>
            <p:ph type="sldNum" sz="quarter" idx="4294967295"/>
          </p:nvPr>
        </p:nvSpPr>
        <p:spPr>
          <a:xfrm>
            <a:off x="10328064" y="6490380"/>
            <a:ext cx="237331" cy="500137"/>
          </a:xfrm>
          <a:prstGeom prst="rect">
            <a:avLst/>
          </a:prstGeom>
        </p:spPr>
        <p:txBody>
          <a:bodyPr/>
          <a:lstStyle/>
          <a:p>
            <a:pPr>
              <a:defRPr/>
            </a:pPr>
            <a:fld id="{D87A0F89-ED2C-476F-A165-8F2BC3D842C9}" type="slidenum">
              <a:rPr lang="en-US" altLang="en-US" smtClean="0"/>
              <a:pPr>
                <a:defRPr/>
              </a:pPr>
              <a:t>57</a:t>
            </a:fld>
            <a:endParaRPr lang="en-US" altLang="en-US"/>
          </a:p>
        </p:txBody>
      </p:sp>
      <p:sp>
        <p:nvSpPr>
          <p:cNvPr id="6" name="Title 1"/>
          <p:cNvSpPr>
            <a:spLocks noGrp="1"/>
          </p:cNvSpPr>
          <p:nvPr>
            <p:ph type="title"/>
          </p:nvPr>
        </p:nvSpPr>
        <p:spPr>
          <a:xfrm>
            <a:off x="2971800" y="685800"/>
            <a:ext cx="7896458" cy="523220"/>
          </a:xfrm>
        </p:spPr>
        <p:txBody>
          <a:bodyPr>
            <a:normAutofit fontScale="90000"/>
          </a:bodyPr>
          <a:lstStyle/>
          <a:p>
            <a:r>
              <a:rPr lang="en-SG" dirty="0" smtClean="0"/>
              <a:t>Cyber Intelligence from Logs</a:t>
            </a:r>
            <a:endParaRPr lang="en-SG" dirty="0"/>
          </a:p>
        </p:txBody>
      </p:sp>
      <p:pic>
        <p:nvPicPr>
          <p:cNvPr id="2" name="Picture 1"/>
          <p:cNvPicPr>
            <a:picLocks noChangeAspect="1"/>
          </p:cNvPicPr>
          <p:nvPr/>
        </p:nvPicPr>
        <p:blipFill>
          <a:blip r:embed="rId3"/>
          <a:stretch>
            <a:fillRect/>
          </a:stretch>
        </p:blipFill>
        <p:spPr>
          <a:xfrm>
            <a:off x="1955718" y="2895600"/>
            <a:ext cx="7645482" cy="3415585"/>
          </a:xfrm>
          <a:prstGeom prst="rect">
            <a:avLst/>
          </a:prstGeom>
        </p:spPr>
      </p:pic>
    </p:spTree>
    <p:extLst>
      <p:ext uri="{BB962C8B-B14F-4D97-AF65-F5344CB8AC3E}">
        <p14:creationId xmlns:p14="http://schemas.microsoft.com/office/powerpoint/2010/main" val="424321530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955718" y="2209801"/>
            <a:ext cx="8636000" cy="384721"/>
          </a:xfrm>
        </p:spPr>
        <p:txBody>
          <a:bodyPr>
            <a:normAutofit fontScale="92500" lnSpcReduction="10000"/>
          </a:bodyPr>
          <a:lstStyle/>
          <a:p>
            <a:r>
              <a:rPr lang="en-SG" sz="2500" u="sng" dirty="0"/>
              <a:t>View Log Message	</a:t>
            </a:r>
          </a:p>
        </p:txBody>
      </p:sp>
      <p:sp>
        <p:nvSpPr>
          <p:cNvPr id="4" name="Slide Number Placeholder 3"/>
          <p:cNvSpPr>
            <a:spLocks noGrp="1"/>
          </p:cNvSpPr>
          <p:nvPr>
            <p:ph type="sldNum" sz="quarter" idx="4294967295"/>
          </p:nvPr>
        </p:nvSpPr>
        <p:spPr>
          <a:xfrm>
            <a:off x="10328064" y="6490380"/>
            <a:ext cx="237331" cy="500137"/>
          </a:xfrm>
          <a:prstGeom prst="rect">
            <a:avLst/>
          </a:prstGeom>
        </p:spPr>
        <p:txBody>
          <a:bodyPr/>
          <a:lstStyle/>
          <a:p>
            <a:pPr>
              <a:defRPr/>
            </a:pPr>
            <a:fld id="{D87A0F89-ED2C-476F-A165-8F2BC3D842C9}" type="slidenum">
              <a:rPr lang="en-US" altLang="en-US" smtClean="0"/>
              <a:pPr>
                <a:defRPr/>
              </a:pPr>
              <a:t>58</a:t>
            </a:fld>
            <a:endParaRPr lang="en-US" altLang="en-US"/>
          </a:p>
        </p:txBody>
      </p:sp>
      <p:sp>
        <p:nvSpPr>
          <p:cNvPr id="6" name="Title 1"/>
          <p:cNvSpPr>
            <a:spLocks noGrp="1"/>
          </p:cNvSpPr>
          <p:nvPr>
            <p:ph type="title"/>
          </p:nvPr>
        </p:nvSpPr>
        <p:spPr>
          <a:xfrm>
            <a:off x="2971800" y="685800"/>
            <a:ext cx="7896458" cy="523220"/>
          </a:xfrm>
        </p:spPr>
        <p:txBody>
          <a:bodyPr>
            <a:normAutofit fontScale="90000"/>
          </a:bodyPr>
          <a:lstStyle/>
          <a:p>
            <a:r>
              <a:rPr lang="en-SG" dirty="0" smtClean="0"/>
              <a:t>Cyber Intelligence from Logs</a:t>
            </a:r>
            <a:endParaRPr lang="en-SG" dirty="0"/>
          </a:p>
        </p:txBody>
      </p:sp>
      <p:pic>
        <p:nvPicPr>
          <p:cNvPr id="5" name="Picture 4"/>
          <p:cNvPicPr>
            <a:picLocks noChangeAspect="1"/>
          </p:cNvPicPr>
          <p:nvPr/>
        </p:nvPicPr>
        <p:blipFill>
          <a:blip r:embed="rId3"/>
          <a:stretch>
            <a:fillRect/>
          </a:stretch>
        </p:blipFill>
        <p:spPr>
          <a:xfrm>
            <a:off x="1676401" y="2819400"/>
            <a:ext cx="8890927" cy="3505200"/>
          </a:xfrm>
          <a:prstGeom prst="rect">
            <a:avLst/>
          </a:prstGeom>
        </p:spPr>
      </p:pic>
    </p:spTree>
    <p:extLst>
      <p:ext uri="{BB962C8B-B14F-4D97-AF65-F5344CB8AC3E}">
        <p14:creationId xmlns:p14="http://schemas.microsoft.com/office/powerpoint/2010/main" val="88731269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955718" y="2209801"/>
            <a:ext cx="8636000" cy="384721"/>
          </a:xfrm>
        </p:spPr>
        <p:txBody>
          <a:bodyPr>
            <a:normAutofit fontScale="92500" lnSpcReduction="10000"/>
          </a:bodyPr>
          <a:lstStyle/>
          <a:p>
            <a:r>
              <a:rPr lang="en-SG" sz="2500" u="sng" dirty="0"/>
              <a:t>Log Monitoring Options (</a:t>
            </a:r>
            <a:r>
              <a:rPr lang="en-SG" sz="2500" u="sng" dirty="0" err="1"/>
              <a:t>Fortigate</a:t>
            </a:r>
            <a:r>
              <a:rPr lang="en-SG" sz="2500" u="sng" dirty="0"/>
              <a:t>)</a:t>
            </a:r>
          </a:p>
        </p:txBody>
      </p:sp>
      <p:sp>
        <p:nvSpPr>
          <p:cNvPr id="4" name="Slide Number Placeholder 3"/>
          <p:cNvSpPr>
            <a:spLocks noGrp="1"/>
          </p:cNvSpPr>
          <p:nvPr>
            <p:ph type="sldNum" sz="quarter" idx="4294967295"/>
          </p:nvPr>
        </p:nvSpPr>
        <p:spPr>
          <a:xfrm>
            <a:off x="10328064" y="6490380"/>
            <a:ext cx="237331" cy="500137"/>
          </a:xfrm>
          <a:prstGeom prst="rect">
            <a:avLst/>
          </a:prstGeom>
        </p:spPr>
        <p:txBody>
          <a:bodyPr/>
          <a:lstStyle/>
          <a:p>
            <a:pPr>
              <a:defRPr/>
            </a:pPr>
            <a:fld id="{D87A0F89-ED2C-476F-A165-8F2BC3D842C9}" type="slidenum">
              <a:rPr lang="en-US" altLang="en-US" smtClean="0"/>
              <a:pPr>
                <a:defRPr/>
              </a:pPr>
              <a:t>59</a:t>
            </a:fld>
            <a:endParaRPr lang="en-US" altLang="en-US"/>
          </a:p>
        </p:txBody>
      </p:sp>
      <p:sp>
        <p:nvSpPr>
          <p:cNvPr id="6" name="Title 1"/>
          <p:cNvSpPr>
            <a:spLocks noGrp="1"/>
          </p:cNvSpPr>
          <p:nvPr>
            <p:ph type="title"/>
          </p:nvPr>
        </p:nvSpPr>
        <p:spPr>
          <a:xfrm>
            <a:off x="2971800" y="685800"/>
            <a:ext cx="7896458" cy="523220"/>
          </a:xfrm>
        </p:spPr>
        <p:txBody>
          <a:bodyPr>
            <a:normAutofit fontScale="90000"/>
          </a:bodyPr>
          <a:lstStyle/>
          <a:p>
            <a:r>
              <a:rPr lang="en-SG" dirty="0" smtClean="0"/>
              <a:t>Cyber Intelligence from Logs</a:t>
            </a:r>
            <a:endParaRPr lang="en-SG" dirty="0"/>
          </a:p>
        </p:txBody>
      </p:sp>
      <p:pic>
        <p:nvPicPr>
          <p:cNvPr id="2" name="Picture 1"/>
          <p:cNvPicPr>
            <a:picLocks noChangeAspect="1"/>
          </p:cNvPicPr>
          <p:nvPr/>
        </p:nvPicPr>
        <p:blipFill>
          <a:blip r:embed="rId3"/>
          <a:stretch>
            <a:fillRect/>
          </a:stretch>
        </p:blipFill>
        <p:spPr>
          <a:xfrm>
            <a:off x="1711244" y="2619921"/>
            <a:ext cx="7051757" cy="4092669"/>
          </a:xfrm>
          <a:prstGeom prst="rect">
            <a:avLst/>
          </a:prstGeom>
        </p:spPr>
      </p:pic>
    </p:spTree>
    <p:extLst>
      <p:ext uri="{BB962C8B-B14F-4D97-AF65-F5344CB8AC3E}">
        <p14:creationId xmlns:p14="http://schemas.microsoft.com/office/powerpoint/2010/main" val="394389681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929394" y="1981201"/>
            <a:ext cx="8636000" cy="384721"/>
          </a:xfrm>
        </p:spPr>
        <p:txBody>
          <a:bodyPr>
            <a:normAutofit fontScale="92500" lnSpcReduction="10000"/>
          </a:bodyPr>
          <a:lstStyle/>
          <a:p>
            <a:r>
              <a:rPr lang="en-SG" sz="2500" u="sng" dirty="0"/>
              <a:t>Reporting</a:t>
            </a:r>
          </a:p>
        </p:txBody>
      </p:sp>
      <p:sp>
        <p:nvSpPr>
          <p:cNvPr id="4" name="Slide Number Placeholder 3"/>
          <p:cNvSpPr>
            <a:spLocks noGrp="1"/>
          </p:cNvSpPr>
          <p:nvPr>
            <p:ph type="sldNum" sz="quarter" idx="4294967295"/>
          </p:nvPr>
        </p:nvSpPr>
        <p:spPr>
          <a:xfrm>
            <a:off x="10328064" y="6490380"/>
            <a:ext cx="237331" cy="500137"/>
          </a:xfrm>
          <a:prstGeom prst="rect">
            <a:avLst/>
          </a:prstGeom>
        </p:spPr>
        <p:txBody>
          <a:bodyPr/>
          <a:lstStyle/>
          <a:p>
            <a:pPr>
              <a:defRPr/>
            </a:pPr>
            <a:fld id="{D87A0F89-ED2C-476F-A165-8F2BC3D842C9}" type="slidenum">
              <a:rPr lang="en-US" altLang="en-US" smtClean="0"/>
              <a:pPr>
                <a:defRPr/>
              </a:pPr>
              <a:t>60</a:t>
            </a:fld>
            <a:endParaRPr lang="en-US" altLang="en-US"/>
          </a:p>
        </p:txBody>
      </p:sp>
      <p:sp>
        <p:nvSpPr>
          <p:cNvPr id="6" name="Title 1"/>
          <p:cNvSpPr>
            <a:spLocks noGrp="1"/>
          </p:cNvSpPr>
          <p:nvPr>
            <p:ph type="title"/>
          </p:nvPr>
        </p:nvSpPr>
        <p:spPr>
          <a:xfrm>
            <a:off x="2971800" y="685800"/>
            <a:ext cx="7896458" cy="523220"/>
          </a:xfrm>
        </p:spPr>
        <p:txBody>
          <a:bodyPr>
            <a:normAutofit fontScale="90000"/>
          </a:bodyPr>
          <a:lstStyle/>
          <a:p>
            <a:r>
              <a:rPr lang="en-SG" dirty="0" smtClean="0"/>
              <a:t>Cyber Intelligence from Logs</a:t>
            </a:r>
            <a:endParaRPr lang="en-SG" dirty="0"/>
          </a:p>
        </p:txBody>
      </p:sp>
      <p:pic>
        <p:nvPicPr>
          <p:cNvPr id="5" name="Picture 4"/>
          <p:cNvPicPr>
            <a:picLocks noChangeAspect="1"/>
          </p:cNvPicPr>
          <p:nvPr/>
        </p:nvPicPr>
        <p:blipFill>
          <a:blip r:embed="rId3"/>
          <a:stretch>
            <a:fillRect/>
          </a:stretch>
        </p:blipFill>
        <p:spPr>
          <a:xfrm>
            <a:off x="1929394" y="2508262"/>
            <a:ext cx="5843006" cy="4285942"/>
          </a:xfrm>
          <a:prstGeom prst="rect">
            <a:avLst/>
          </a:prstGeom>
        </p:spPr>
      </p:pic>
    </p:spTree>
    <p:extLst>
      <p:ext uri="{BB962C8B-B14F-4D97-AF65-F5344CB8AC3E}">
        <p14:creationId xmlns:p14="http://schemas.microsoft.com/office/powerpoint/2010/main" val="386256685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929394" y="1981201"/>
            <a:ext cx="8636000" cy="384721"/>
          </a:xfrm>
        </p:spPr>
        <p:txBody>
          <a:bodyPr>
            <a:normAutofit fontScale="92500" lnSpcReduction="10000"/>
          </a:bodyPr>
          <a:lstStyle/>
          <a:p>
            <a:r>
              <a:rPr lang="en-SG" sz="2500" u="sng" dirty="0"/>
              <a:t>Reporting – Learning Report</a:t>
            </a:r>
          </a:p>
        </p:txBody>
      </p:sp>
      <p:sp>
        <p:nvSpPr>
          <p:cNvPr id="4" name="Slide Number Placeholder 3"/>
          <p:cNvSpPr>
            <a:spLocks noGrp="1"/>
          </p:cNvSpPr>
          <p:nvPr>
            <p:ph type="sldNum" sz="quarter" idx="4294967295"/>
          </p:nvPr>
        </p:nvSpPr>
        <p:spPr>
          <a:xfrm>
            <a:off x="10328064" y="6490380"/>
            <a:ext cx="237331" cy="500137"/>
          </a:xfrm>
          <a:prstGeom prst="rect">
            <a:avLst/>
          </a:prstGeom>
        </p:spPr>
        <p:txBody>
          <a:bodyPr/>
          <a:lstStyle/>
          <a:p>
            <a:pPr>
              <a:defRPr/>
            </a:pPr>
            <a:fld id="{D87A0F89-ED2C-476F-A165-8F2BC3D842C9}" type="slidenum">
              <a:rPr lang="en-US" altLang="en-US" smtClean="0"/>
              <a:pPr>
                <a:defRPr/>
              </a:pPr>
              <a:t>61</a:t>
            </a:fld>
            <a:endParaRPr lang="en-US" altLang="en-US"/>
          </a:p>
        </p:txBody>
      </p:sp>
      <p:sp>
        <p:nvSpPr>
          <p:cNvPr id="6" name="Title 1"/>
          <p:cNvSpPr>
            <a:spLocks noGrp="1"/>
          </p:cNvSpPr>
          <p:nvPr>
            <p:ph type="title"/>
          </p:nvPr>
        </p:nvSpPr>
        <p:spPr>
          <a:xfrm>
            <a:off x="2971800" y="685800"/>
            <a:ext cx="7896458" cy="523220"/>
          </a:xfrm>
        </p:spPr>
        <p:txBody>
          <a:bodyPr>
            <a:normAutofit fontScale="90000"/>
          </a:bodyPr>
          <a:lstStyle/>
          <a:p>
            <a:r>
              <a:rPr lang="en-SG" dirty="0" smtClean="0"/>
              <a:t>Cyber Intelligence from Logs</a:t>
            </a:r>
            <a:endParaRPr lang="en-SG" dirty="0"/>
          </a:p>
        </p:txBody>
      </p:sp>
      <p:pic>
        <p:nvPicPr>
          <p:cNvPr id="2" name="Picture 1"/>
          <p:cNvPicPr>
            <a:picLocks noChangeAspect="1"/>
          </p:cNvPicPr>
          <p:nvPr/>
        </p:nvPicPr>
        <p:blipFill>
          <a:blip r:embed="rId3"/>
          <a:stretch>
            <a:fillRect/>
          </a:stretch>
        </p:blipFill>
        <p:spPr>
          <a:xfrm>
            <a:off x="1929394" y="2667000"/>
            <a:ext cx="7519406" cy="3654058"/>
          </a:xfrm>
          <a:prstGeom prst="rect">
            <a:avLst/>
          </a:prstGeom>
        </p:spPr>
      </p:pic>
    </p:spTree>
    <p:extLst>
      <p:ext uri="{BB962C8B-B14F-4D97-AF65-F5344CB8AC3E}">
        <p14:creationId xmlns:p14="http://schemas.microsoft.com/office/powerpoint/2010/main" val="287900570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929394" y="1981201"/>
            <a:ext cx="8636000" cy="384721"/>
          </a:xfrm>
        </p:spPr>
        <p:txBody>
          <a:bodyPr>
            <a:normAutofit fontScale="92500" lnSpcReduction="10000"/>
          </a:bodyPr>
          <a:lstStyle/>
          <a:p>
            <a:r>
              <a:rPr lang="en-SG" sz="2500" u="sng" dirty="0"/>
              <a:t>Reporting – Local Report</a:t>
            </a:r>
          </a:p>
        </p:txBody>
      </p:sp>
      <p:sp>
        <p:nvSpPr>
          <p:cNvPr id="4" name="Slide Number Placeholder 3"/>
          <p:cNvSpPr>
            <a:spLocks noGrp="1"/>
          </p:cNvSpPr>
          <p:nvPr>
            <p:ph type="sldNum" sz="quarter" idx="4294967295"/>
          </p:nvPr>
        </p:nvSpPr>
        <p:spPr>
          <a:xfrm>
            <a:off x="10328064" y="6490380"/>
            <a:ext cx="237331" cy="500137"/>
          </a:xfrm>
          <a:prstGeom prst="rect">
            <a:avLst/>
          </a:prstGeom>
        </p:spPr>
        <p:txBody>
          <a:bodyPr/>
          <a:lstStyle/>
          <a:p>
            <a:pPr>
              <a:defRPr/>
            </a:pPr>
            <a:fld id="{D87A0F89-ED2C-476F-A165-8F2BC3D842C9}" type="slidenum">
              <a:rPr lang="en-US" altLang="en-US" smtClean="0"/>
              <a:pPr>
                <a:defRPr/>
              </a:pPr>
              <a:t>62</a:t>
            </a:fld>
            <a:endParaRPr lang="en-US" altLang="en-US"/>
          </a:p>
        </p:txBody>
      </p:sp>
      <p:sp>
        <p:nvSpPr>
          <p:cNvPr id="6" name="Title 1"/>
          <p:cNvSpPr>
            <a:spLocks noGrp="1"/>
          </p:cNvSpPr>
          <p:nvPr>
            <p:ph type="title"/>
          </p:nvPr>
        </p:nvSpPr>
        <p:spPr>
          <a:xfrm>
            <a:off x="2971800" y="685800"/>
            <a:ext cx="7896458" cy="523220"/>
          </a:xfrm>
        </p:spPr>
        <p:txBody>
          <a:bodyPr>
            <a:normAutofit fontScale="90000"/>
          </a:bodyPr>
          <a:lstStyle/>
          <a:p>
            <a:r>
              <a:rPr lang="en-SG" dirty="0" smtClean="0"/>
              <a:t>Cyber Intelligence from Logs</a:t>
            </a:r>
            <a:endParaRPr lang="en-SG" dirty="0"/>
          </a:p>
        </p:txBody>
      </p:sp>
      <p:pic>
        <p:nvPicPr>
          <p:cNvPr id="5" name="Picture 4"/>
          <p:cNvPicPr>
            <a:picLocks noChangeAspect="1"/>
          </p:cNvPicPr>
          <p:nvPr/>
        </p:nvPicPr>
        <p:blipFill>
          <a:blip r:embed="rId3"/>
          <a:stretch>
            <a:fillRect/>
          </a:stretch>
        </p:blipFill>
        <p:spPr>
          <a:xfrm>
            <a:off x="1428227" y="2667000"/>
            <a:ext cx="8899836" cy="3517888"/>
          </a:xfrm>
          <a:prstGeom prst="rect">
            <a:avLst/>
          </a:prstGeom>
        </p:spPr>
      </p:pic>
    </p:spTree>
    <p:extLst>
      <p:ext uri="{BB962C8B-B14F-4D97-AF65-F5344CB8AC3E}">
        <p14:creationId xmlns:p14="http://schemas.microsoft.com/office/powerpoint/2010/main" val="848756899"/>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105</TotalTime>
  <Words>5289</Words>
  <Application>Microsoft Office PowerPoint</Application>
  <PresentationFormat>Widescreen</PresentationFormat>
  <Paragraphs>591</Paragraphs>
  <Slides>62</Slides>
  <Notes>61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62</vt:i4>
      </vt:variant>
    </vt:vector>
  </HeadingPairs>
  <TitlesOfParts>
    <vt:vector size="73" baseType="lpstr">
      <vt:lpstr>Courier</vt:lpstr>
      <vt:lpstr>ＭＳ Ｐゴシック</vt:lpstr>
      <vt:lpstr>ZapfDingbats</vt:lpstr>
      <vt:lpstr>Arial</vt:lpstr>
      <vt:lpstr>Calibri</vt:lpstr>
      <vt:lpstr>Calibri Light</vt:lpstr>
      <vt:lpstr>Comic Sans MS</vt:lpstr>
      <vt:lpstr>Courier New</vt:lpstr>
      <vt:lpstr>Tahoma</vt:lpstr>
      <vt:lpstr>Times New Roman</vt:lpstr>
      <vt:lpstr>Retrospect</vt:lpstr>
      <vt:lpstr>Chapter 6 - Network firewall IPS and Anti-virus configuration</vt:lpstr>
      <vt:lpstr>IDS/IPS and its role in security</vt:lpstr>
      <vt:lpstr>IDS/IPS and its role in security</vt:lpstr>
      <vt:lpstr>IDS/IPS and its role in security</vt:lpstr>
      <vt:lpstr>IDS/IPS and its role in security</vt:lpstr>
      <vt:lpstr>IDS/IPS and its role in security</vt:lpstr>
      <vt:lpstr>IDS/IPS and its role in security</vt:lpstr>
      <vt:lpstr>IDS/IPS and its role in security</vt:lpstr>
      <vt:lpstr>IDS/IPS and its role in security</vt:lpstr>
      <vt:lpstr>IDS/IPS and its role in security</vt:lpstr>
      <vt:lpstr>IDS rules, configuration</vt:lpstr>
      <vt:lpstr>IDS rules, configuration</vt:lpstr>
      <vt:lpstr>IDS rules, configuration</vt:lpstr>
      <vt:lpstr>IDS rules, configuration</vt:lpstr>
      <vt:lpstr>IDS rules, configuration</vt:lpstr>
      <vt:lpstr>IDS rules, configuration</vt:lpstr>
      <vt:lpstr>IDS rules, configuration</vt:lpstr>
      <vt:lpstr>IDS rules, configuration</vt:lpstr>
      <vt:lpstr>IDS rules, configuration</vt:lpstr>
      <vt:lpstr>IDS rules, configuration</vt:lpstr>
      <vt:lpstr>IDS rules, configuration</vt:lpstr>
      <vt:lpstr>IDS rules, configuration</vt:lpstr>
      <vt:lpstr>IDS rules, configuration</vt:lpstr>
      <vt:lpstr>IDS rules, configuration</vt:lpstr>
      <vt:lpstr>IDS rules, configuration</vt:lpstr>
      <vt:lpstr>IDS rules, configuration</vt:lpstr>
      <vt:lpstr>IDS rules, configuration</vt:lpstr>
      <vt:lpstr>IDS rules, configuration</vt:lpstr>
      <vt:lpstr>IDS rules, configuration</vt:lpstr>
      <vt:lpstr>IPS rules, configuration</vt:lpstr>
      <vt:lpstr>IPS rules, configuration</vt:lpstr>
      <vt:lpstr>IPS rules, configuration</vt:lpstr>
      <vt:lpstr>IPS rules, configuration</vt:lpstr>
      <vt:lpstr>IPS rules, configuration</vt:lpstr>
      <vt:lpstr>IPS rules, configuration</vt:lpstr>
      <vt:lpstr>IPS rules, configuration</vt:lpstr>
      <vt:lpstr>IPS rules, configuration</vt:lpstr>
      <vt:lpstr>IPS rules, configuration</vt:lpstr>
      <vt:lpstr>IPS rules, configuration</vt:lpstr>
      <vt:lpstr>IPS rules, configuration</vt:lpstr>
      <vt:lpstr>IPS rules, configuration</vt:lpstr>
      <vt:lpstr>IPS rules, configuration</vt:lpstr>
      <vt:lpstr>IPS rules, configuration</vt:lpstr>
      <vt:lpstr>IPS rules, configuration</vt:lpstr>
      <vt:lpstr>IPS rules, configuration</vt:lpstr>
      <vt:lpstr>IPS rules, configuration</vt:lpstr>
      <vt:lpstr>IPS rules, configuration</vt:lpstr>
      <vt:lpstr>IPS rules, configuration</vt:lpstr>
      <vt:lpstr>IPS rules, configuration</vt:lpstr>
      <vt:lpstr>IPS rules, configuration</vt:lpstr>
      <vt:lpstr>IPS rules, configuration</vt:lpstr>
      <vt:lpstr>IPS rules, configuration</vt:lpstr>
      <vt:lpstr>Cyber Intelligence from Logs</vt:lpstr>
      <vt:lpstr>Cyber Intelligence from Logs</vt:lpstr>
      <vt:lpstr>Cyber Intelligence from Logs</vt:lpstr>
      <vt:lpstr>Cyber Intelligence from Logs</vt:lpstr>
      <vt:lpstr>Cyber Intelligence from Logs</vt:lpstr>
      <vt:lpstr>Cyber Intelligence from Logs</vt:lpstr>
      <vt:lpstr>Cyber Intelligence from Logs</vt:lpstr>
      <vt:lpstr>Cyber Intelligence from Logs</vt:lpstr>
      <vt:lpstr>Cyber Intelligence from Logs</vt:lpstr>
      <vt:lpstr>Cyber Intelligence from Logs</vt:lpstr>
    </vt:vector>
  </TitlesOfParts>
  <Company>Nanyang Polytechnic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TEO CHEA WAN</dc:creator>
  <cp:lastModifiedBy>TEO CHEA WAN</cp:lastModifiedBy>
  <cp:revision>5</cp:revision>
  <dcterms:created xsi:type="dcterms:W3CDTF">2018-03-19T05:47:04Z</dcterms:created>
  <dcterms:modified xsi:type="dcterms:W3CDTF">2018-03-22T05:45:25Z</dcterms:modified>
</cp:coreProperties>
</file>