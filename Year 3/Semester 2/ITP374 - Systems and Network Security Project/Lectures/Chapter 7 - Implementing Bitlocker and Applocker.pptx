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9" r:id="rId4"/>
    <p:sldId id="258" r:id="rId5"/>
    <p:sldId id="261" r:id="rId6"/>
    <p:sldId id="260" r:id="rId7"/>
    <p:sldId id="262" r:id="rId8"/>
    <p:sldId id="263" r:id="rId9"/>
    <p:sldId id="266" r:id="rId10"/>
    <p:sldId id="264" r:id="rId11"/>
    <p:sldId id="265"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6071F751-0480-414B-A39E-B7CFB126125A}" type="datetimeFigureOut">
              <a:rPr lang="en-SG" smtClean="0"/>
              <a:t>22/3/2018</a:t>
            </a:fld>
            <a:endParaRPr lang="en-SG"/>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SG"/>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72669D93-1322-42D6-9706-49912E2F812B}" type="slidenum">
              <a:rPr lang="en-SG" smtClean="0"/>
              <a:t>‹#›</a:t>
            </a:fld>
            <a:endParaRPr lang="en-SG"/>
          </a:p>
        </p:txBody>
      </p:sp>
    </p:spTree>
    <p:extLst>
      <p:ext uri="{BB962C8B-B14F-4D97-AF65-F5344CB8AC3E}">
        <p14:creationId xmlns:p14="http://schemas.microsoft.com/office/powerpoint/2010/main" val="593973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071F751-0480-414B-A39E-B7CFB126125A}" type="datetimeFigureOut">
              <a:rPr lang="en-SG" smtClean="0"/>
              <a:t>22/3/2018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3440063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71F751-0480-414B-A39E-B7CFB126125A}" type="datetimeFigureOut">
              <a:rPr lang="en-SG" smtClean="0"/>
              <a:t>22/3/2018</a:t>
            </a:fld>
            <a:endParaRPr lang="en-SG"/>
          </a:p>
        </p:txBody>
      </p:sp>
      <p:sp>
        <p:nvSpPr>
          <p:cNvPr id="5" name="Footer Placeholder 4"/>
          <p:cNvSpPr>
            <a:spLocks noGrp="1"/>
          </p:cNvSpPr>
          <p:nvPr>
            <p:ph type="ftr" sz="quarter" idx="11"/>
          </p:nvPr>
        </p:nvSpPr>
        <p:spPr/>
        <p:txBody>
          <a:bodyPr/>
          <a:lstStyle/>
          <a:p>
            <a:endParaRPr lang="en-SG"/>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2390954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6071F751-0480-414B-A39E-B7CFB126125A}" type="datetimeFigureOut">
              <a:rPr lang="en-SG" smtClean="0"/>
              <a:t>22/3/2018</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934586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6071F751-0480-414B-A39E-B7CFB126125A}" type="datetimeFigureOut">
              <a:rPr lang="en-SG" smtClean="0"/>
              <a:t>22/3/2018</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2601234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6071F751-0480-414B-A39E-B7CFB126125A}" type="datetimeFigureOut">
              <a:rPr lang="en-SG" smtClean="0"/>
              <a:t>22/3/2018</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4852949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71F751-0480-414B-A39E-B7CFB126125A}" type="datetimeFigureOut">
              <a:rPr lang="en-SG" smtClean="0"/>
              <a:t>22/3/2018</a:t>
            </a:fld>
            <a:endParaRPr lang="en-SG"/>
          </a:p>
        </p:txBody>
      </p:sp>
      <p:sp>
        <p:nvSpPr>
          <p:cNvPr id="3" name="Footer Placeholder 2"/>
          <p:cNvSpPr>
            <a:spLocks noGrp="1"/>
          </p:cNvSpPr>
          <p:nvPr>
            <p:ph type="ftr" sz="quarter" idx="11"/>
          </p:nvPr>
        </p:nvSpPr>
        <p:spPr/>
        <p:txBody>
          <a:bodyPr/>
          <a:lstStyle/>
          <a:p>
            <a:endParaRPr lang="en-SG"/>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2563920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71F751-0480-414B-A39E-B7CFB126125A}" type="datetimeFigureOut">
              <a:rPr lang="en-SG" smtClean="0"/>
              <a:t>22/3/2018</a:t>
            </a:fld>
            <a:endParaRPr lang="en-SG"/>
          </a:p>
        </p:txBody>
      </p:sp>
      <p:sp>
        <p:nvSpPr>
          <p:cNvPr id="6" name="Footer Placeholder 5"/>
          <p:cNvSpPr>
            <a:spLocks noGrp="1"/>
          </p:cNvSpPr>
          <p:nvPr>
            <p:ph type="ftr" sz="quarter" idx="11"/>
          </p:nvPr>
        </p:nvSpPr>
        <p:spPr/>
        <p:txBody>
          <a:bodyPr/>
          <a:lstStyle/>
          <a:p>
            <a:endParaRPr lang="en-SG"/>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292728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71F751-0480-414B-A39E-B7CFB126125A}" type="datetimeFigureOut">
              <a:rPr lang="en-SG" smtClean="0"/>
              <a:t>22/3/2018</a:t>
            </a:fld>
            <a:endParaRPr lang="en-SG"/>
          </a:p>
        </p:txBody>
      </p:sp>
      <p:sp>
        <p:nvSpPr>
          <p:cNvPr id="6" name="Footer Placeholder 5"/>
          <p:cNvSpPr>
            <a:spLocks noGrp="1"/>
          </p:cNvSpPr>
          <p:nvPr>
            <p:ph type="ftr" sz="quarter" idx="11"/>
          </p:nvPr>
        </p:nvSpPr>
        <p:spPr/>
        <p:txBody>
          <a:bodyPr/>
          <a:lstStyle/>
          <a:p>
            <a:endParaRPr lang="en-SG"/>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1237521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071F751-0480-414B-A39E-B7CFB126125A}" type="datetimeFigureOut">
              <a:rPr lang="en-SG" smtClean="0"/>
              <a:t>22/3/2018</a:t>
            </a:fld>
            <a:endParaRPr lang="en-SG"/>
          </a:p>
        </p:txBody>
      </p:sp>
      <p:sp>
        <p:nvSpPr>
          <p:cNvPr id="6" name="Footer Placeholder 5"/>
          <p:cNvSpPr>
            <a:spLocks noGrp="1"/>
          </p:cNvSpPr>
          <p:nvPr>
            <p:ph type="ftr" sz="quarter" idx="11"/>
          </p:nvPr>
        </p:nvSpPr>
        <p:spPr/>
        <p:txBody>
          <a:bodyPr/>
          <a:lstStyle/>
          <a:p>
            <a:endParaRPr lang="en-SG"/>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311380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71F751-0480-414B-A39E-B7CFB126125A}" type="datetimeFigureOut">
              <a:rPr lang="en-SG" smtClean="0"/>
              <a:t>22/3/2018</a:t>
            </a:fld>
            <a:endParaRPr lang="en-SG"/>
          </a:p>
        </p:txBody>
      </p:sp>
      <p:sp>
        <p:nvSpPr>
          <p:cNvPr id="5" name="Footer Placeholder 4"/>
          <p:cNvSpPr>
            <a:spLocks noGrp="1"/>
          </p:cNvSpPr>
          <p:nvPr>
            <p:ph type="ftr" sz="quarter" idx="11"/>
          </p:nvPr>
        </p:nvSpPr>
        <p:spPr/>
        <p:txBody>
          <a:bodyPr/>
          <a:lstStyle/>
          <a:p>
            <a:endParaRPr lang="en-SG"/>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13651716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71F751-0480-414B-A39E-B7CFB126125A}" type="datetimeFigureOut">
              <a:rPr lang="en-SG" smtClean="0"/>
              <a:t>22/3/2018</a:t>
            </a:fld>
            <a:endParaRPr lang="en-SG"/>
          </a:p>
        </p:txBody>
      </p:sp>
      <p:sp>
        <p:nvSpPr>
          <p:cNvPr id="5" name="Footer Placeholder 4"/>
          <p:cNvSpPr>
            <a:spLocks noGrp="1"/>
          </p:cNvSpPr>
          <p:nvPr>
            <p:ph type="ftr" sz="quarter" idx="11"/>
          </p:nvPr>
        </p:nvSpPr>
        <p:spPr/>
        <p:txBody>
          <a:bodyPr/>
          <a:lstStyle/>
          <a:p>
            <a:endParaRPr lang="en-SG"/>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31198935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071F751-0480-414B-A39E-B7CFB126125A}" type="datetimeFigureOut">
              <a:rPr lang="en-SG" smtClean="0"/>
              <a:t>22/3/2018</a:t>
            </a:fld>
            <a:endParaRPr lang="en-SG"/>
          </a:p>
        </p:txBody>
      </p:sp>
      <p:sp>
        <p:nvSpPr>
          <p:cNvPr id="5" name="Footer Placeholder 4"/>
          <p:cNvSpPr>
            <a:spLocks noGrp="1"/>
          </p:cNvSpPr>
          <p:nvPr>
            <p:ph type="ftr" sz="quarter" idx="11"/>
          </p:nvPr>
        </p:nvSpPr>
        <p:spPr/>
        <p:txBody>
          <a:bodyPr/>
          <a:lstStyle/>
          <a:p>
            <a:endParaRPr lang="en-SG"/>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9255634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071F751-0480-414B-A39E-B7CFB126125A}" type="datetimeFigureOut">
              <a:rPr lang="en-SG" smtClean="0"/>
              <a:t>22/3/2018</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2847864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071F751-0480-414B-A39E-B7CFB126125A}" type="datetimeFigureOut">
              <a:rPr lang="en-SG" smtClean="0"/>
              <a:t>22/3/2018</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39865842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071F751-0480-414B-A39E-B7CFB126125A}" type="datetimeFigureOut">
              <a:rPr lang="en-SG" smtClean="0"/>
              <a:t>22/3/2018</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10055177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6071F751-0480-414B-A39E-B7CFB126125A}" type="datetimeFigureOut">
              <a:rPr lang="en-SG" smtClean="0"/>
              <a:t>22/3/2018</a:t>
            </a:fld>
            <a:endParaRPr lang="en-SG"/>
          </a:p>
        </p:txBody>
      </p:sp>
      <p:sp>
        <p:nvSpPr>
          <p:cNvPr id="5" name="Footer Placeholder 4"/>
          <p:cNvSpPr>
            <a:spLocks noGrp="1"/>
          </p:cNvSpPr>
          <p:nvPr>
            <p:ph type="ftr" sz="quarter" idx="11"/>
          </p:nvPr>
        </p:nvSpPr>
        <p:spPr/>
        <p:txBody>
          <a:bodyPr/>
          <a:lstStyle/>
          <a:p>
            <a:endParaRPr lang="en-SG"/>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72669D93-1322-42D6-9706-49912E2F812B}" type="slidenum">
              <a:rPr lang="en-SG" smtClean="0"/>
              <a:t>‹#›</a:t>
            </a:fld>
            <a:endParaRPr lang="en-SG"/>
          </a:p>
        </p:txBody>
      </p:sp>
    </p:spTree>
    <p:extLst>
      <p:ext uri="{BB962C8B-B14F-4D97-AF65-F5344CB8AC3E}">
        <p14:creationId xmlns:p14="http://schemas.microsoft.com/office/powerpoint/2010/main" val="2939987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6071F751-0480-414B-A39E-B7CFB126125A}" type="datetimeFigureOut">
              <a:rPr lang="en-SG" smtClean="0"/>
              <a:t>22/3/2018</a:t>
            </a:fld>
            <a:endParaRPr lang="en-SG"/>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SG"/>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72669D93-1322-42D6-9706-49912E2F812B}" type="slidenum">
              <a:rPr lang="en-SG" smtClean="0"/>
              <a:t>‹#›</a:t>
            </a:fld>
            <a:endParaRPr lang="en-SG"/>
          </a:p>
        </p:txBody>
      </p:sp>
    </p:spTree>
    <p:extLst>
      <p:ext uri="{BB962C8B-B14F-4D97-AF65-F5344CB8AC3E}">
        <p14:creationId xmlns:p14="http://schemas.microsoft.com/office/powerpoint/2010/main" val="225156837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SG" dirty="0" smtClean="0"/>
              <a:t>Chapter 7 - Implementing </a:t>
            </a:r>
            <a:r>
              <a:rPr lang="en-SG" dirty="0" err="1" smtClean="0"/>
              <a:t>Bitlocker</a:t>
            </a:r>
            <a:r>
              <a:rPr lang="en-SG" dirty="0" smtClean="0"/>
              <a:t> and </a:t>
            </a:r>
            <a:r>
              <a:rPr lang="en-SG" dirty="0" err="1" smtClean="0"/>
              <a:t>Applocker</a:t>
            </a:r>
            <a:endParaRPr lang="en-SG" dirty="0"/>
          </a:p>
        </p:txBody>
      </p:sp>
      <p:sp>
        <p:nvSpPr>
          <p:cNvPr id="3" name="Subtitle 2"/>
          <p:cNvSpPr>
            <a:spLocks noGrp="1"/>
          </p:cNvSpPr>
          <p:nvPr>
            <p:ph type="subTitle" idx="1"/>
          </p:nvPr>
        </p:nvSpPr>
        <p:spPr/>
        <p:txBody>
          <a:bodyPr/>
          <a:lstStyle/>
          <a:p>
            <a:endParaRPr lang="en-SG"/>
          </a:p>
        </p:txBody>
      </p:sp>
    </p:spTree>
    <p:extLst>
      <p:ext uri="{BB962C8B-B14F-4D97-AF65-F5344CB8AC3E}">
        <p14:creationId xmlns:p14="http://schemas.microsoft.com/office/powerpoint/2010/main" val="28054636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What is application control?</a:t>
            </a:r>
            <a:endParaRPr lang="en-SG" dirty="0"/>
          </a:p>
        </p:txBody>
      </p:sp>
      <p:sp>
        <p:nvSpPr>
          <p:cNvPr id="3" name="Content Placeholder 2"/>
          <p:cNvSpPr>
            <a:spLocks noGrp="1"/>
          </p:cNvSpPr>
          <p:nvPr>
            <p:ph idx="1"/>
          </p:nvPr>
        </p:nvSpPr>
        <p:spPr/>
        <p:txBody>
          <a:bodyPr>
            <a:normAutofit/>
          </a:bodyPr>
          <a:lstStyle/>
          <a:p>
            <a:r>
              <a:rPr lang="en-SG" sz="2800" dirty="0"/>
              <a:t>Application control is a security </a:t>
            </a:r>
            <a:r>
              <a:rPr lang="en-SG" sz="2800" dirty="0" smtClean="0"/>
              <a:t>practice that </a:t>
            </a:r>
            <a:r>
              <a:rPr lang="en-SG" sz="2800" dirty="0"/>
              <a:t>blocks or restricts </a:t>
            </a:r>
            <a:r>
              <a:rPr lang="en-SG" sz="2800" dirty="0" smtClean="0"/>
              <a:t>unauthorized applications </a:t>
            </a:r>
            <a:r>
              <a:rPr lang="en-SG" sz="2800" dirty="0"/>
              <a:t>from executing in ways </a:t>
            </a:r>
            <a:r>
              <a:rPr lang="en-SG" sz="2800" dirty="0" smtClean="0"/>
              <a:t>that put </a:t>
            </a:r>
            <a:r>
              <a:rPr lang="en-SG" sz="2800" dirty="0"/>
              <a:t>data at </a:t>
            </a:r>
            <a:r>
              <a:rPr lang="en-SG" sz="2800" dirty="0" smtClean="0"/>
              <a:t>risk</a:t>
            </a:r>
          </a:p>
        </p:txBody>
      </p:sp>
    </p:spTree>
    <p:extLst>
      <p:ext uri="{BB962C8B-B14F-4D97-AF65-F5344CB8AC3E}">
        <p14:creationId xmlns:p14="http://schemas.microsoft.com/office/powerpoint/2010/main" val="1603410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What is application control?</a:t>
            </a:r>
            <a:endParaRPr lang="en-SG" dirty="0"/>
          </a:p>
        </p:txBody>
      </p:sp>
      <p:sp>
        <p:nvSpPr>
          <p:cNvPr id="3" name="Content Placeholder 2"/>
          <p:cNvSpPr>
            <a:spLocks noGrp="1"/>
          </p:cNvSpPr>
          <p:nvPr>
            <p:ph idx="1"/>
          </p:nvPr>
        </p:nvSpPr>
        <p:spPr/>
        <p:txBody>
          <a:bodyPr>
            <a:normAutofit/>
          </a:bodyPr>
          <a:lstStyle/>
          <a:p>
            <a:r>
              <a:rPr lang="en-SG" dirty="0"/>
              <a:t>Prevent all other, unauthorized applications from executing – they may be malicious, untrusted, or simply unwanted</a:t>
            </a:r>
          </a:p>
          <a:p>
            <a:r>
              <a:rPr lang="en-SG" dirty="0"/>
              <a:t>Eliminate unknown and unwanted applications in your network to reduce IT complexity and application risk</a:t>
            </a:r>
          </a:p>
          <a:p>
            <a:r>
              <a:rPr lang="en-SG" dirty="0"/>
              <a:t>Reduce the risks and costs associated with malware</a:t>
            </a:r>
          </a:p>
          <a:p>
            <a:r>
              <a:rPr lang="en-SG" dirty="0"/>
              <a:t>Improve your overall network stability</a:t>
            </a:r>
          </a:p>
          <a:p>
            <a:r>
              <a:rPr lang="en-SG" dirty="0"/>
              <a:t>Identify all applications running within the endpoint environment</a:t>
            </a:r>
          </a:p>
          <a:p>
            <a:r>
              <a:rPr lang="en-SG" dirty="0"/>
              <a:t>Protect against exploits of unpatched OS and third-party application vulnerabilities</a:t>
            </a:r>
          </a:p>
        </p:txBody>
      </p:sp>
    </p:spTree>
    <p:extLst>
      <p:ext uri="{BB962C8B-B14F-4D97-AF65-F5344CB8AC3E}">
        <p14:creationId xmlns:p14="http://schemas.microsoft.com/office/powerpoint/2010/main" val="18887508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AppLocker</a:t>
            </a:r>
            <a:endParaRPr lang="en-SG" dirty="0"/>
          </a:p>
        </p:txBody>
      </p:sp>
      <p:sp>
        <p:nvSpPr>
          <p:cNvPr id="3" name="Content Placeholder 2"/>
          <p:cNvSpPr>
            <a:spLocks noGrp="1"/>
          </p:cNvSpPr>
          <p:nvPr>
            <p:ph idx="1"/>
          </p:nvPr>
        </p:nvSpPr>
        <p:spPr/>
        <p:txBody>
          <a:bodyPr/>
          <a:lstStyle/>
          <a:p>
            <a:r>
              <a:rPr lang="en-SG" dirty="0" smtClean="0"/>
              <a:t>An </a:t>
            </a:r>
            <a:r>
              <a:rPr lang="en-SG" dirty="0"/>
              <a:t>application whitelisting technology introduced with Microsoft's Windows 7 operating </a:t>
            </a:r>
            <a:r>
              <a:rPr lang="en-SG" dirty="0" smtClean="0"/>
              <a:t>system.</a:t>
            </a:r>
          </a:p>
          <a:p>
            <a:r>
              <a:rPr lang="en-SG" dirty="0"/>
              <a:t>A</a:t>
            </a:r>
            <a:r>
              <a:rPr lang="en-SG" dirty="0" smtClean="0"/>
              <a:t>llows </a:t>
            </a:r>
            <a:r>
              <a:rPr lang="en-SG" dirty="0"/>
              <a:t>restricting which programs users can execute based on the program's path, publisher, or hash</a:t>
            </a:r>
            <a:r>
              <a:rPr lang="en-SG" dirty="0" smtClean="0"/>
              <a:t>.</a:t>
            </a:r>
          </a:p>
          <a:p>
            <a:r>
              <a:rPr lang="en-SG" dirty="0" smtClean="0"/>
              <a:t>Administrators </a:t>
            </a:r>
            <a:r>
              <a:rPr lang="en-SG" dirty="0"/>
              <a:t>are able to create rules based on file names, publishers or file location that will allow certain files to </a:t>
            </a:r>
            <a:r>
              <a:rPr lang="en-SG" dirty="0" smtClean="0"/>
              <a:t>execute</a:t>
            </a:r>
          </a:p>
          <a:p>
            <a:r>
              <a:rPr lang="en-SG" dirty="0"/>
              <a:t>C</a:t>
            </a:r>
            <a:r>
              <a:rPr lang="en-SG" dirty="0" smtClean="0"/>
              <a:t>an </a:t>
            </a:r>
            <a:r>
              <a:rPr lang="en-SG" dirty="0"/>
              <a:t>be configured for an enterprise via Group Policy</a:t>
            </a:r>
            <a:r>
              <a:rPr lang="en-SG" dirty="0" smtClean="0"/>
              <a:t>.</a:t>
            </a:r>
          </a:p>
          <a:p>
            <a:r>
              <a:rPr lang="en-SG" dirty="0"/>
              <a:t>U</a:t>
            </a:r>
            <a:r>
              <a:rPr lang="en-SG" dirty="0" smtClean="0"/>
              <a:t>sed </a:t>
            </a:r>
            <a:r>
              <a:rPr lang="en-SG" dirty="0"/>
              <a:t>to group users into different enforcement levels</a:t>
            </a:r>
          </a:p>
        </p:txBody>
      </p:sp>
    </p:spTree>
    <p:extLst>
      <p:ext uri="{BB962C8B-B14F-4D97-AF65-F5344CB8AC3E}">
        <p14:creationId xmlns:p14="http://schemas.microsoft.com/office/powerpoint/2010/main" val="169505020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AppLocker</a:t>
            </a:r>
          </a:p>
        </p:txBody>
      </p:sp>
      <p:sp>
        <p:nvSpPr>
          <p:cNvPr id="3" name="Content Placeholder 2"/>
          <p:cNvSpPr>
            <a:spLocks noGrp="1"/>
          </p:cNvSpPr>
          <p:nvPr>
            <p:ph idx="1"/>
          </p:nvPr>
        </p:nvSpPr>
        <p:spPr/>
        <p:txBody>
          <a:bodyPr>
            <a:normAutofit fontScale="85000" lnSpcReduction="10000"/>
          </a:bodyPr>
          <a:lstStyle/>
          <a:p>
            <a:r>
              <a:rPr lang="en-SG" dirty="0"/>
              <a:t>Control the following types of apps: executable files (.exe and .com), scripts (.</a:t>
            </a:r>
            <a:r>
              <a:rPr lang="en-SG" dirty="0" err="1"/>
              <a:t>js</a:t>
            </a:r>
            <a:r>
              <a:rPr lang="en-SG" dirty="0"/>
              <a:t>, .ps1, .</a:t>
            </a:r>
            <a:r>
              <a:rPr lang="en-SG" dirty="0" err="1"/>
              <a:t>vbs</a:t>
            </a:r>
            <a:r>
              <a:rPr lang="en-SG" dirty="0"/>
              <a:t>, .</a:t>
            </a:r>
            <a:r>
              <a:rPr lang="en-SG" dirty="0" err="1"/>
              <a:t>cmd</a:t>
            </a:r>
            <a:r>
              <a:rPr lang="en-SG" dirty="0"/>
              <a:t>, and .bat), Windows Installer files (.</a:t>
            </a:r>
            <a:r>
              <a:rPr lang="en-SG" dirty="0" err="1"/>
              <a:t>mst</a:t>
            </a:r>
            <a:r>
              <a:rPr lang="en-SG" dirty="0"/>
              <a:t>, .</a:t>
            </a:r>
            <a:r>
              <a:rPr lang="en-SG" dirty="0" err="1"/>
              <a:t>msi</a:t>
            </a:r>
            <a:r>
              <a:rPr lang="en-SG" dirty="0"/>
              <a:t> and .</a:t>
            </a:r>
            <a:r>
              <a:rPr lang="en-SG" dirty="0" err="1"/>
              <a:t>msp</a:t>
            </a:r>
            <a:r>
              <a:rPr lang="en-SG" dirty="0"/>
              <a:t>), and DLL files (.</a:t>
            </a:r>
            <a:r>
              <a:rPr lang="en-SG" dirty="0" err="1"/>
              <a:t>dll</a:t>
            </a:r>
            <a:r>
              <a:rPr lang="en-SG" dirty="0"/>
              <a:t> and .</a:t>
            </a:r>
            <a:r>
              <a:rPr lang="en-SG" dirty="0" err="1"/>
              <a:t>ocx</a:t>
            </a:r>
            <a:r>
              <a:rPr lang="en-SG" dirty="0"/>
              <a:t>), and packaged apps and packaged app installers (appx).</a:t>
            </a:r>
          </a:p>
          <a:p>
            <a:r>
              <a:rPr lang="en-SG" dirty="0"/>
              <a:t>Define rules based on file attributes derived from the digital signature, including the publisher, product name, file name, and file version. For example, you can create rules based on the publisher attribute that is persistent through updates, or you can create rules for a specific version of a file.</a:t>
            </a:r>
          </a:p>
          <a:p>
            <a:r>
              <a:rPr lang="en-SG" dirty="0"/>
              <a:t>Assign a rule to a security group or an individual user.</a:t>
            </a:r>
          </a:p>
          <a:p>
            <a:r>
              <a:rPr lang="en-SG" dirty="0"/>
              <a:t>Create exceptions to rules. For example, you can create a rule that allows all Windows processes to run except Registry Editor (Regedit.exe).</a:t>
            </a:r>
          </a:p>
          <a:p>
            <a:r>
              <a:rPr lang="en-SG" dirty="0"/>
              <a:t>Use audit-only mode to deploy the policy and understand its impact before enforcing it</a:t>
            </a:r>
            <a:r>
              <a:rPr lang="en-SG" dirty="0" smtClean="0"/>
              <a:t>.</a:t>
            </a:r>
            <a:endParaRPr lang="en-SG" dirty="0"/>
          </a:p>
        </p:txBody>
      </p:sp>
    </p:spTree>
    <p:extLst>
      <p:ext uri="{BB962C8B-B14F-4D97-AF65-F5344CB8AC3E}">
        <p14:creationId xmlns:p14="http://schemas.microsoft.com/office/powerpoint/2010/main" val="15395898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a:t>AppLocker</a:t>
            </a:r>
          </a:p>
        </p:txBody>
      </p:sp>
      <p:sp>
        <p:nvSpPr>
          <p:cNvPr id="3" name="Content Placeholder 2"/>
          <p:cNvSpPr>
            <a:spLocks noGrp="1"/>
          </p:cNvSpPr>
          <p:nvPr>
            <p:ph idx="1"/>
          </p:nvPr>
        </p:nvSpPr>
        <p:spPr/>
        <p:txBody>
          <a:bodyPr/>
          <a:lstStyle/>
          <a:p>
            <a:endParaRPr lang="en-SG"/>
          </a:p>
        </p:txBody>
      </p:sp>
      <p:pic>
        <p:nvPicPr>
          <p:cNvPr id="1026" name="Picture 2" descr="Image result for what is applock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0745" y="2526072"/>
            <a:ext cx="5627213" cy="407634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956537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What is Full Disk Encryption?</a:t>
            </a:r>
            <a:endParaRPr lang="en-SG" dirty="0"/>
          </a:p>
        </p:txBody>
      </p:sp>
      <p:sp>
        <p:nvSpPr>
          <p:cNvPr id="3" name="Content Placeholder 2"/>
          <p:cNvSpPr>
            <a:spLocks noGrp="1"/>
          </p:cNvSpPr>
          <p:nvPr>
            <p:ph idx="1"/>
          </p:nvPr>
        </p:nvSpPr>
        <p:spPr/>
        <p:txBody>
          <a:bodyPr>
            <a:normAutofit fontScale="92500"/>
          </a:bodyPr>
          <a:lstStyle/>
          <a:p>
            <a:r>
              <a:rPr lang="en-SG" dirty="0" smtClean="0"/>
              <a:t>Encryption of the hard disk at the hardware level</a:t>
            </a:r>
          </a:p>
          <a:p>
            <a:r>
              <a:rPr lang="en-SG" dirty="0" smtClean="0"/>
              <a:t>Automatically </a:t>
            </a:r>
            <a:r>
              <a:rPr lang="en-SG" dirty="0" smtClean="0"/>
              <a:t>converting data on a hard drive into a form that cannot be understood by anyone who doesn’t have the key to “undo” the conversion</a:t>
            </a:r>
          </a:p>
          <a:p>
            <a:r>
              <a:rPr lang="en-SG" dirty="0" smtClean="0"/>
              <a:t>Without the proper authentication key, even if the hard drive is removed and placed in another machine, the data remains inaccessible. </a:t>
            </a:r>
          </a:p>
          <a:p>
            <a:r>
              <a:rPr lang="en-SG" dirty="0"/>
              <a:t>As data is written, it is automatically encrypted. When it is read, it is automatically decrypted. </a:t>
            </a:r>
            <a:endParaRPr lang="en-SG" dirty="0" smtClean="0"/>
          </a:p>
          <a:p>
            <a:r>
              <a:rPr lang="en-SG" dirty="0" smtClean="0"/>
              <a:t>Can </a:t>
            </a:r>
            <a:r>
              <a:rPr lang="en-SG" dirty="0" smtClean="0"/>
              <a:t>slow down data access times</a:t>
            </a:r>
          </a:p>
          <a:p>
            <a:r>
              <a:rPr lang="en-SG" dirty="0" smtClean="0"/>
              <a:t>Specially useful for laptops and other small computing devices that can be physically lost or stolen.</a:t>
            </a:r>
            <a:endParaRPr lang="en-SG" dirty="0"/>
          </a:p>
        </p:txBody>
      </p:sp>
    </p:spTree>
    <p:extLst>
      <p:ext uri="{BB962C8B-B14F-4D97-AF65-F5344CB8AC3E}">
        <p14:creationId xmlns:p14="http://schemas.microsoft.com/office/powerpoint/2010/main" val="34208664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SG" dirty="0" smtClean="0"/>
              <a:t>BitLocker</a:t>
            </a:r>
            <a:endParaRPr lang="en-SG" dirty="0"/>
          </a:p>
        </p:txBody>
      </p:sp>
      <p:sp>
        <p:nvSpPr>
          <p:cNvPr id="3" name="Content Placeholder 2"/>
          <p:cNvSpPr>
            <a:spLocks noGrp="1"/>
          </p:cNvSpPr>
          <p:nvPr>
            <p:ph idx="1"/>
          </p:nvPr>
        </p:nvSpPr>
        <p:spPr/>
        <p:txBody>
          <a:bodyPr>
            <a:normAutofit lnSpcReduction="10000"/>
          </a:bodyPr>
          <a:lstStyle/>
          <a:p>
            <a:r>
              <a:rPr lang="en-SG" dirty="0"/>
              <a:t>Microsoft’s easy-to-use, proprietary encryption program for Windows that can encrypt your entire drive </a:t>
            </a:r>
            <a:endParaRPr lang="en-SG" dirty="0" smtClean="0"/>
          </a:p>
          <a:p>
            <a:r>
              <a:rPr lang="en-SG" dirty="0"/>
              <a:t>BitLocker is primarily designed to prevent a user’s data from being viewed, extracted or retrieved in case a drive is stolen</a:t>
            </a:r>
            <a:r>
              <a:rPr lang="en-SG" dirty="0" smtClean="0"/>
              <a:t>.</a:t>
            </a:r>
          </a:p>
          <a:p>
            <a:r>
              <a:rPr lang="en-SG" dirty="0"/>
              <a:t>BitLocker uses an AES encryption algorithm with a 128-bit key or 256-bit key to encrypt disk </a:t>
            </a:r>
            <a:r>
              <a:rPr lang="en-SG" dirty="0" smtClean="0"/>
              <a:t>volumes</a:t>
            </a:r>
          </a:p>
          <a:p>
            <a:r>
              <a:rPr lang="en-SG" dirty="0"/>
              <a:t>For best results your computer must be equipped with a Trusted Platform Module (TPM) chip. This is a special microchip that enables your device to support advanced security features.</a:t>
            </a:r>
          </a:p>
          <a:p>
            <a:r>
              <a:rPr lang="en-SG" dirty="0"/>
              <a:t>You can use BitLocker without a TPM chip by using software-based encryption, but it requires some extra steps for additional authentication.</a:t>
            </a:r>
          </a:p>
          <a:p>
            <a:endParaRPr lang="en-SG" dirty="0"/>
          </a:p>
        </p:txBody>
      </p:sp>
    </p:spTree>
    <p:extLst>
      <p:ext uri="{BB962C8B-B14F-4D97-AF65-F5344CB8AC3E}">
        <p14:creationId xmlns:p14="http://schemas.microsoft.com/office/powerpoint/2010/main" val="35644973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SG"/>
          </a:p>
        </p:txBody>
      </p:sp>
      <p:sp>
        <p:nvSpPr>
          <p:cNvPr id="3" name="Content Placeholder 2"/>
          <p:cNvSpPr>
            <a:spLocks noGrp="1"/>
          </p:cNvSpPr>
          <p:nvPr>
            <p:ph idx="1"/>
          </p:nvPr>
        </p:nvSpPr>
        <p:spPr/>
        <p:txBody>
          <a:bodyPr/>
          <a:lstStyle/>
          <a:p>
            <a:endParaRPr lang="en-SG"/>
          </a:p>
        </p:txBody>
      </p:sp>
      <p:pic>
        <p:nvPicPr>
          <p:cNvPr id="4098" name="Picture 2" descr="https://www.windowscentral.com/sites/wpcentral.com/files/styles/xlarge/public/field/image/2016/06/surface-tmp-devicemanager.jpg?itok=OV4LAT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4333" y="820650"/>
            <a:ext cx="7858116" cy="57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13475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SG"/>
          </a:p>
        </p:txBody>
      </p:sp>
      <p:sp>
        <p:nvSpPr>
          <p:cNvPr id="3" name="Content Placeholder 2"/>
          <p:cNvSpPr>
            <a:spLocks noGrp="1"/>
          </p:cNvSpPr>
          <p:nvPr>
            <p:ph idx="1"/>
          </p:nvPr>
        </p:nvSpPr>
        <p:spPr/>
        <p:txBody>
          <a:bodyPr/>
          <a:lstStyle/>
          <a:p>
            <a:endParaRPr lang="en-SG" dirty="0"/>
          </a:p>
        </p:txBody>
      </p:sp>
      <p:pic>
        <p:nvPicPr>
          <p:cNvPr id="2050" name="Picture 2" descr="https://www.windowscentral.com/sites/wpcentral.com/files/styles/xlarge/public/field/image/2016/06/additional-authentication-bitlocker.jpg?itok=zSxfcC7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2155" y="803085"/>
            <a:ext cx="7274774" cy="5760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19793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SG"/>
          </a:p>
        </p:txBody>
      </p:sp>
      <p:sp>
        <p:nvSpPr>
          <p:cNvPr id="3" name="Content Placeholder 2"/>
          <p:cNvSpPr>
            <a:spLocks noGrp="1"/>
          </p:cNvSpPr>
          <p:nvPr>
            <p:ph idx="1"/>
          </p:nvPr>
        </p:nvSpPr>
        <p:spPr/>
        <p:txBody>
          <a:bodyPr/>
          <a:lstStyle/>
          <a:p>
            <a:endParaRPr lang="en-SG"/>
          </a:p>
        </p:txBody>
      </p:sp>
      <p:pic>
        <p:nvPicPr>
          <p:cNvPr id="3074" name="Picture 2" descr="https://www.windowscentral.com/sites/wpcentral.com/files/styles/xlarge/public/field/image/2016/06/gpedit-authentication-startup-bitlocker.jpg?itok=GOqBlFT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5694" y="685822"/>
            <a:ext cx="6534150" cy="605790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98442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SG"/>
          </a:p>
        </p:txBody>
      </p:sp>
      <p:sp>
        <p:nvSpPr>
          <p:cNvPr id="3" name="Content Placeholder 2"/>
          <p:cNvSpPr>
            <a:spLocks noGrp="1"/>
          </p:cNvSpPr>
          <p:nvPr>
            <p:ph idx="1"/>
          </p:nvPr>
        </p:nvSpPr>
        <p:spPr/>
        <p:txBody>
          <a:bodyPr/>
          <a:lstStyle/>
          <a:p>
            <a:endParaRPr lang="en-SG"/>
          </a:p>
        </p:txBody>
      </p:sp>
      <p:pic>
        <p:nvPicPr>
          <p:cNvPr id="5122" name="Picture 2" descr="https://www.windowscentral.com/sites/wpcentral.com/files/styles/xlarge/public/field/image/2016/06/bitlocker-drive-encryption-windows-10.jpg?itok=c8D3w3F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2016" y="802375"/>
            <a:ext cx="8134350" cy="56483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36693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SG"/>
          </a:p>
        </p:txBody>
      </p:sp>
      <p:sp>
        <p:nvSpPr>
          <p:cNvPr id="3" name="Content Placeholder 2"/>
          <p:cNvSpPr>
            <a:spLocks noGrp="1"/>
          </p:cNvSpPr>
          <p:nvPr>
            <p:ph idx="1"/>
          </p:nvPr>
        </p:nvSpPr>
        <p:spPr/>
        <p:txBody>
          <a:bodyPr/>
          <a:lstStyle/>
          <a:p>
            <a:endParaRPr lang="en-SG"/>
          </a:p>
        </p:txBody>
      </p:sp>
      <p:pic>
        <p:nvPicPr>
          <p:cNvPr id="6146" name="Picture 2" descr="https://www.windowscentral.com/sites/wpcentral.com/files/styles/xlarge/public/field/image/2016/06/turnon-bitlocker-windows-10.jpg?itok=1fflD7s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2016" y="973668"/>
            <a:ext cx="8134350" cy="56483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22960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SG"/>
          </a:p>
        </p:txBody>
      </p:sp>
      <p:sp>
        <p:nvSpPr>
          <p:cNvPr id="3" name="Content Placeholder 2"/>
          <p:cNvSpPr>
            <a:spLocks noGrp="1"/>
          </p:cNvSpPr>
          <p:nvPr>
            <p:ph idx="1"/>
          </p:nvPr>
        </p:nvSpPr>
        <p:spPr/>
        <p:txBody>
          <a:bodyPr/>
          <a:lstStyle/>
          <a:p>
            <a:endParaRPr lang="en-SG" dirty="0"/>
          </a:p>
        </p:txBody>
      </p:sp>
      <p:pic>
        <p:nvPicPr>
          <p:cNvPr id="7170" name="Picture 2" descr="https://www.windowscentral.com/sites/wpcentral.com/files/styles/xlarge/public/field/image/2016/06/create-bitlocker-password.jpg?itok=sBLuciv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7521" y="973668"/>
            <a:ext cx="7275786" cy="567324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94988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SG"/>
          </a:p>
        </p:txBody>
      </p:sp>
      <p:sp>
        <p:nvSpPr>
          <p:cNvPr id="3" name="Content Placeholder 2"/>
          <p:cNvSpPr>
            <a:spLocks noGrp="1"/>
          </p:cNvSpPr>
          <p:nvPr>
            <p:ph idx="1"/>
          </p:nvPr>
        </p:nvSpPr>
        <p:spPr/>
        <p:txBody>
          <a:bodyPr/>
          <a:lstStyle/>
          <a:p>
            <a:endParaRPr lang="en-SG"/>
          </a:p>
        </p:txBody>
      </p:sp>
      <p:pic>
        <p:nvPicPr>
          <p:cNvPr id="8194" name="Picture 2" descr="https://www.windowscentral.com/sites/wpcentral.com/files/styles/xlarge/public/field/image/2016/06/bitlocker-password-startup.jpg?itok=0dbSOR_x"/>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3808" y="1148687"/>
            <a:ext cx="7009500" cy="525712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187249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Ion Boardroom</Template>
  <TotalTime>75</TotalTime>
  <Words>450</Words>
  <Application>Microsoft Office PowerPoint</Application>
  <PresentationFormat>Widescreen</PresentationFormat>
  <Paragraphs>36</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Century Gothic</vt:lpstr>
      <vt:lpstr>Wingdings 3</vt:lpstr>
      <vt:lpstr>Ion Boardroom</vt:lpstr>
      <vt:lpstr>Chapter 7 - Implementing Bitlocker and Applocker</vt:lpstr>
      <vt:lpstr>What is application control?</vt:lpstr>
      <vt:lpstr>What is application control?</vt:lpstr>
      <vt:lpstr>AppLocker</vt:lpstr>
      <vt:lpstr>AppLocker</vt:lpstr>
      <vt:lpstr>AppLocker</vt:lpstr>
      <vt:lpstr>What is Full Disk Encryption?</vt:lpstr>
      <vt:lpstr>BitLocker</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Nanyang Polytechnic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7 - Implementing Bitlocker and Applocker</dc:title>
  <dc:creator>TEO CHEA WAN</dc:creator>
  <cp:lastModifiedBy>TEO CHEA WAN</cp:lastModifiedBy>
  <cp:revision>8</cp:revision>
  <dcterms:created xsi:type="dcterms:W3CDTF">2018-03-22T03:33:23Z</dcterms:created>
  <dcterms:modified xsi:type="dcterms:W3CDTF">2018-03-22T05:49:14Z</dcterms:modified>
</cp:coreProperties>
</file>