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 id="2147483945" r:id="rId2"/>
  </p:sldMasterIdLst>
  <p:notesMasterIdLst>
    <p:notesMasterId r:id="rId39"/>
  </p:notesMasterIdLst>
  <p:handoutMasterIdLst>
    <p:handoutMasterId r:id="rId40"/>
  </p:handoutMasterIdLst>
  <p:sldIdLst>
    <p:sldId id="500" r:id="rId3"/>
    <p:sldId id="994" r:id="rId4"/>
    <p:sldId id="998" r:id="rId5"/>
    <p:sldId id="997" r:id="rId6"/>
    <p:sldId id="1013" r:id="rId7"/>
    <p:sldId id="1007" r:id="rId8"/>
    <p:sldId id="1008" r:id="rId9"/>
    <p:sldId id="1014" r:id="rId10"/>
    <p:sldId id="1015" r:id="rId11"/>
    <p:sldId id="1016" r:id="rId12"/>
    <p:sldId id="1010" r:id="rId13"/>
    <p:sldId id="1011" r:id="rId14"/>
    <p:sldId id="1017" r:id="rId15"/>
    <p:sldId id="1018" r:id="rId16"/>
    <p:sldId id="1019" r:id="rId17"/>
    <p:sldId id="1020" r:id="rId18"/>
    <p:sldId id="1021" r:id="rId19"/>
    <p:sldId id="1022" r:id="rId20"/>
    <p:sldId id="1023" r:id="rId21"/>
    <p:sldId id="1024" r:id="rId22"/>
    <p:sldId id="1025" r:id="rId23"/>
    <p:sldId id="1026" r:id="rId24"/>
    <p:sldId id="1027" r:id="rId25"/>
    <p:sldId id="1028" r:id="rId26"/>
    <p:sldId id="1029" r:id="rId27"/>
    <p:sldId id="1030" r:id="rId28"/>
    <p:sldId id="1031" r:id="rId29"/>
    <p:sldId id="1033" r:id="rId30"/>
    <p:sldId id="1036" r:id="rId31"/>
    <p:sldId id="1041" r:id="rId32"/>
    <p:sldId id="1044" r:id="rId33"/>
    <p:sldId id="1045" r:id="rId34"/>
    <p:sldId id="1046" r:id="rId35"/>
    <p:sldId id="1047" r:id="rId36"/>
    <p:sldId id="1049" r:id="rId37"/>
    <p:sldId id="1048" r:id="rId38"/>
  </p:sldIdLst>
  <p:sldSz cx="9144000" cy="6858000" type="screen4x3"/>
  <p:notesSz cx="7010400" cy="9296400"/>
  <p:defaultTextStyle>
    <a:defPPr>
      <a:defRPr lang="en-US"/>
    </a:defPPr>
    <a:lvl1pPr algn="ctr" rtl="0" eaLnBrk="0" fontAlgn="base" hangingPunct="0">
      <a:lnSpc>
        <a:spcPct val="90000"/>
      </a:lnSpc>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ctr" rtl="0" eaLnBrk="0" fontAlgn="base" hangingPunct="0">
      <a:lnSpc>
        <a:spcPct val="90000"/>
      </a:lnSpc>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ctr" rtl="0" eaLnBrk="0" fontAlgn="base" hangingPunct="0">
      <a:lnSpc>
        <a:spcPct val="90000"/>
      </a:lnSpc>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ctr" rtl="0" eaLnBrk="0" fontAlgn="base" hangingPunct="0">
      <a:lnSpc>
        <a:spcPct val="90000"/>
      </a:lnSpc>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ctr" rtl="0" eaLnBrk="0" fontAlgn="base" hangingPunct="0">
      <a:lnSpc>
        <a:spcPct val="90000"/>
      </a:lnSpc>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ane Gibbons" initials="JG" lastIdx="12" clrIdx="0"/>
  <p:cmAuthor id="1" name="Rodrigo Floriano" initials="RF"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4"/>
    <a:srgbClr val="678DC5"/>
    <a:srgbClr val="3E67A4"/>
    <a:srgbClr val="3E8DC5"/>
    <a:srgbClr val="5F5F65"/>
    <a:srgbClr val="7E7E86"/>
    <a:srgbClr val="FFFFFF"/>
    <a:srgbClr val="8E8E9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autoAdjust="0"/>
    <p:restoredTop sz="89302" autoAdjust="0"/>
  </p:normalViewPr>
  <p:slideViewPr>
    <p:cSldViewPr snapToGrid="0">
      <p:cViewPr varScale="1">
        <p:scale>
          <a:sx n="61" d="100"/>
          <a:sy n="61" d="100"/>
        </p:scale>
        <p:origin x="1500" y="72"/>
      </p:cViewPr>
      <p:guideLst>
        <p:guide orient="horz" pos="2160"/>
        <p:guide pos="2880"/>
      </p:guideLst>
    </p:cSldViewPr>
  </p:slideViewPr>
  <p:outlineViewPr>
    <p:cViewPr>
      <p:scale>
        <a:sx n="33" d="100"/>
        <a:sy n="33" d="100"/>
      </p:scale>
      <p:origin x="0" y="5022"/>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Lst>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13" Type="http://schemas.openxmlformats.org/officeDocument/2006/relationships/slide" Target="slides/slide14.xml"/><Relationship Id="rId18" Type="http://schemas.openxmlformats.org/officeDocument/2006/relationships/slide" Target="slides/slide19.xml"/><Relationship Id="rId26" Type="http://schemas.openxmlformats.org/officeDocument/2006/relationships/slide" Target="slides/slide27.xml"/><Relationship Id="rId3" Type="http://schemas.openxmlformats.org/officeDocument/2006/relationships/slide" Target="slides/slide4.xml"/><Relationship Id="rId21" Type="http://schemas.openxmlformats.org/officeDocument/2006/relationships/slide" Target="slides/slide22.xml"/><Relationship Id="rId34" Type="http://schemas.openxmlformats.org/officeDocument/2006/relationships/slide" Target="slides/slide35.xml"/><Relationship Id="rId7" Type="http://schemas.openxmlformats.org/officeDocument/2006/relationships/slide" Target="slides/slide8.xml"/><Relationship Id="rId12" Type="http://schemas.openxmlformats.org/officeDocument/2006/relationships/slide" Target="slides/slide13.xml"/><Relationship Id="rId17" Type="http://schemas.openxmlformats.org/officeDocument/2006/relationships/slide" Target="slides/slide18.xml"/><Relationship Id="rId25" Type="http://schemas.openxmlformats.org/officeDocument/2006/relationships/slide" Target="slides/slide26.xml"/><Relationship Id="rId33" Type="http://schemas.openxmlformats.org/officeDocument/2006/relationships/slide" Target="slides/slide34.xml"/><Relationship Id="rId2" Type="http://schemas.openxmlformats.org/officeDocument/2006/relationships/slide" Target="slides/slide3.xml"/><Relationship Id="rId16" Type="http://schemas.openxmlformats.org/officeDocument/2006/relationships/slide" Target="slides/slide17.xml"/><Relationship Id="rId20" Type="http://schemas.openxmlformats.org/officeDocument/2006/relationships/slide" Target="slides/slide21.xml"/><Relationship Id="rId29" Type="http://schemas.openxmlformats.org/officeDocument/2006/relationships/slide" Target="slides/slide30.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24" Type="http://schemas.openxmlformats.org/officeDocument/2006/relationships/slide" Target="slides/slide25.xml"/><Relationship Id="rId32" Type="http://schemas.openxmlformats.org/officeDocument/2006/relationships/slide" Target="slides/slide33.xml"/><Relationship Id="rId5" Type="http://schemas.openxmlformats.org/officeDocument/2006/relationships/slide" Target="slides/slide6.xml"/><Relationship Id="rId15" Type="http://schemas.openxmlformats.org/officeDocument/2006/relationships/slide" Target="slides/slide16.xml"/><Relationship Id="rId23" Type="http://schemas.openxmlformats.org/officeDocument/2006/relationships/slide" Target="slides/slide24.xml"/><Relationship Id="rId28" Type="http://schemas.openxmlformats.org/officeDocument/2006/relationships/slide" Target="slides/slide29.xml"/><Relationship Id="rId10" Type="http://schemas.openxmlformats.org/officeDocument/2006/relationships/slide" Target="slides/slide11.xml"/><Relationship Id="rId19" Type="http://schemas.openxmlformats.org/officeDocument/2006/relationships/slide" Target="slides/slide20.xml"/><Relationship Id="rId31" Type="http://schemas.openxmlformats.org/officeDocument/2006/relationships/slide" Target="slides/slide32.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 Id="rId22" Type="http://schemas.openxmlformats.org/officeDocument/2006/relationships/slide" Target="slides/slide23.xml"/><Relationship Id="rId27" Type="http://schemas.openxmlformats.org/officeDocument/2006/relationships/slide" Target="slides/slide28.xml"/><Relationship Id="rId30" Type="http://schemas.openxmlformats.org/officeDocument/2006/relationships/slide" Target="slides/slide31.xml"/><Relationship Id="rId35" Type="http://schemas.openxmlformats.org/officeDocument/2006/relationships/slide" Target="slides/slide36.xml"/><Relationship Id="rId8"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11"/>
          <p:cNvSpPr>
            <a:spLocks noChangeArrowheads="1"/>
          </p:cNvSpPr>
          <p:nvPr/>
        </p:nvSpPr>
        <p:spPr bwMode="auto">
          <a:xfrm>
            <a:off x="6249988" y="8609013"/>
            <a:ext cx="4492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5123" name="Rectangle 12"/>
          <p:cNvSpPr>
            <a:spLocks noChangeArrowheads="1"/>
          </p:cNvSpPr>
          <p:nvPr/>
        </p:nvSpPr>
        <p:spPr bwMode="auto">
          <a:xfrm>
            <a:off x="57150" y="8785225"/>
            <a:ext cx="26193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67" tIns="50185" rIns="95667" bIns="50185">
            <a:spAutoFit/>
          </a:bodyPr>
          <a:lstStyle/>
          <a:p>
            <a:pPr algn="l" defTabSz="611188">
              <a:lnSpc>
                <a:spcPct val="100000"/>
              </a:lnSpc>
              <a:tabLst>
                <a:tab pos="2387600" algn="l"/>
                <a:tab pos="4830763" algn="l"/>
              </a:tabLst>
            </a:pPr>
            <a:r>
              <a:rPr lang="en-US" sz="800"/>
              <a:t>© 2006, Cisco Systems, Inc. All rights reserved.</a:t>
            </a:r>
          </a:p>
          <a:p>
            <a:pPr algn="l" defTabSz="611188">
              <a:lnSpc>
                <a:spcPct val="100000"/>
              </a:lnSpc>
              <a:tabLst>
                <a:tab pos="2387600" algn="l"/>
                <a:tab pos="4830763" algn="l"/>
              </a:tabLst>
            </a:pPr>
            <a:r>
              <a:rPr lang="en-US" sz="800"/>
              <a:t>Presentation_ID.scr</a:t>
            </a:r>
          </a:p>
        </p:txBody>
      </p:sp>
      <p:sp>
        <p:nvSpPr>
          <p:cNvPr id="5124" name="Line 13"/>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25" name="Rectangle 14"/>
          <p:cNvSpPr>
            <a:spLocks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p>
            <a:pPr algn="r" defTabSz="903288">
              <a:lnSpc>
                <a:spcPct val="100000"/>
              </a:lnSpc>
            </a:pPr>
            <a:fld id="{22244E67-557B-7741-B9F5-F61AA18495DF}" type="slidenum">
              <a:rPr lang="en-US" sz="800"/>
              <a:pPr algn="r" defTabSz="903288">
                <a:lnSpc>
                  <a:spcPct val="100000"/>
                </a:lnSpc>
              </a:pPr>
              <a:t>‹#›</a:t>
            </a:fld>
            <a:endParaRPr lang="en-US" sz="800"/>
          </a:p>
        </p:txBody>
      </p:sp>
    </p:spTree>
    <p:extLst>
      <p:ext uri="{BB962C8B-B14F-4D97-AF65-F5344CB8AC3E}">
        <p14:creationId xmlns:p14="http://schemas.microsoft.com/office/powerpoint/2010/main" val="2181015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8"/>
          <p:cNvSpPr>
            <a:spLocks noChangeArrowheads="1"/>
          </p:cNvSpPr>
          <p:nvPr/>
        </p:nvSpPr>
        <p:spPr bwMode="auto">
          <a:xfrm>
            <a:off x="6249988" y="8609013"/>
            <a:ext cx="4492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6147" name="Rectangle 9"/>
          <p:cNvSpPr>
            <a:spLocks noChangeArrowheads="1"/>
          </p:cNvSpPr>
          <p:nvPr/>
        </p:nvSpPr>
        <p:spPr bwMode="auto">
          <a:xfrm>
            <a:off x="57150" y="8785225"/>
            <a:ext cx="26193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67" tIns="50185" rIns="95667" bIns="50185">
            <a:spAutoFit/>
          </a:bodyPr>
          <a:lstStyle/>
          <a:p>
            <a:pPr algn="l" defTabSz="611188">
              <a:lnSpc>
                <a:spcPct val="100000"/>
              </a:lnSpc>
              <a:tabLst>
                <a:tab pos="2387600" algn="l"/>
                <a:tab pos="4830763" algn="l"/>
              </a:tabLst>
            </a:pPr>
            <a:r>
              <a:rPr lang="en-US" sz="800"/>
              <a:t>© 2006, Cisco Systems, Inc. All rights reserved.</a:t>
            </a:r>
          </a:p>
          <a:p>
            <a:pPr algn="l" defTabSz="611188">
              <a:lnSpc>
                <a:spcPct val="100000"/>
              </a:lnSpc>
              <a:tabLst>
                <a:tab pos="2387600" algn="l"/>
                <a:tab pos="4830763" algn="l"/>
              </a:tabLst>
            </a:pPr>
            <a:r>
              <a:rPr lang="en-US" sz="800"/>
              <a:t>Presentation_ID.scr</a:t>
            </a:r>
          </a:p>
        </p:txBody>
      </p:sp>
      <p:sp>
        <p:nvSpPr>
          <p:cNvPr id="6148" name="Line 10"/>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3307" name="Rectangle 11"/>
          <p:cNvSpPr>
            <a:spLocks noGrp="1" noChangeArrowheads="1"/>
          </p:cNvSpPr>
          <p:nvPr>
            <p:ph type="sldNum" sz="quarter" idx="5"/>
          </p:nvPr>
        </p:nvSpPr>
        <p:spPr bwMode="auto">
          <a:xfrm>
            <a:off x="5929313" y="8680450"/>
            <a:ext cx="812800" cy="287338"/>
          </a:xfrm>
          <a:prstGeom prst="rect">
            <a:avLst/>
          </a:prstGeom>
          <a:noFill/>
          <a:ln w="9525">
            <a:noFill/>
            <a:miter lim="800000"/>
            <a:headEnd/>
            <a:tailEnd/>
          </a:ln>
          <a:effectLst/>
        </p:spPr>
        <p:txBody>
          <a:bodyPr vert="horz" wrap="square" lIns="18819" tIns="0" rIns="18819" bIns="0" numCol="1" anchor="b" anchorCtr="0" compatLnSpc="1">
            <a:prstTxWarp prst="textNoShape">
              <a:avLst/>
            </a:prstTxWarp>
          </a:bodyPr>
          <a:lstStyle>
            <a:lvl1pPr algn="r" defTabSz="903288">
              <a:lnSpc>
                <a:spcPct val="100000"/>
              </a:lnSpc>
              <a:defRPr sz="800" smtClean="0">
                <a:cs typeface="+mn-cs"/>
              </a:defRPr>
            </a:lvl1pPr>
          </a:lstStyle>
          <a:p>
            <a:pPr>
              <a:defRPr/>
            </a:pPr>
            <a:fld id="{F4CE0E46-7F05-B940-8356-5580BE265E49}" type="slidenum">
              <a:rPr lang="en-US"/>
              <a:pPr>
                <a:defRPr/>
              </a:pPr>
              <a:t>‹#›</a:t>
            </a:fld>
            <a:endParaRPr lang="en-US"/>
          </a:p>
        </p:txBody>
      </p:sp>
      <p:sp>
        <p:nvSpPr>
          <p:cNvPr id="6150" name="Rectangle 12"/>
          <p:cNvSpPr>
            <a:spLocks noGrp="1" noRot="1" noChangeAspect="1" noChangeArrowheads="1" noTextEdit="1"/>
          </p:cNvSpPr>
          <p:nvPr>
            <p:ph type="sldImg" idx="2"/>
          </p:nvPr>
        </p:nvSpPr>
        <p:spPr bwMode="auto">
          <a:xfrm>
            <a:off x="873125" y="244475"/>
            <a:ext cx="5321300" cy="39909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83309" name="Rectangle 13"/>
          <p:cNvSpPr>
            <a:spLocks noGrp="1" noChangeArrowheads="1"/>
          </p:cNvSpPr>
          <p:nvPr>
            <p:ph type="body" sz="quarter" idx="3"/>
          </p:nvPr>
        </p:nvSpPr>
        <p:spPr bwMode="auto">
          <a:xfrm>
            <a:off x="768350" y="4378325"/>
            <a:ext cx="5468938" cy="4252913"/>
          </a:xfrm>
          <a:prstGeom prst="rect">
            <a:avLst/>
          </a:prstGeom>
          <a:noFill/>
          <a:ln w="9525">
            <a:noFill/>
            <a:miter lim="800000"/>
            <a:headEnd/>
            <a:tailEnd/>
          </a:ln>
          <a:effectLst/>
        </p:spPr>
        <p:txBody>
          <a:bodyPr vert="horz" wrap="square" lIns="95667" tIns="50185" rIns="95667" bIns="5018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26460584"/>
      </p:ext>
    </p:extLst>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50000"/>
      </a:spcBef>
      <a:spcAft>
        <a:spcPct val="0"/>
      </a:spcAft>
      <a:buSzPct val="100000"/>
      <a:buChar char="•"/>
      <a:defRPr sz="1200" kern="1200">
        <a:solidFill>
          <a:schemeClr val="tx1"/>
        </a:solidFill>
        <a:latin typeface="Arial" charset="0"/>
        <a:ea typeface="ＭＳ Ｐゴシック" charset="0"/>
        <a:cs typeface="ＭＳ Ｐゴシック" charset="0"/>
      </a:defRPr>
    </a:lvl1pPr>
    <a:lvl2pPr marL="482600" indent="-120650"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ＭＳ Ｐゴシック" charset="0"/>
        <a:cs typeface="+mn-cs"/>
      </a:defRPr>
    </a:lvl2pPr>
    <a:lvl3pPr marL="9667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ＭＳ Ｐゴシック" charset="0"/>
        <a:cs typeface="+mn-cs"/>
      </a:defRPr>
    </a:lvl3pPr>
    <a:lvl4pPr marL="14493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ＭＳ Ｐゴシック" charset="0"/>
        <a:cs typeface="+mn-cs"/>
      </a:defRPr>
    </a:lvl4pPr>
    <a:lvl5pPr marL="19319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CD9030C1-C977-B14B-8EB7-BA2B30FCDB63}" type="slidenum">
              <a:rPr lang="en-US" sz="800"/>
              <a:pPr/>
              <a:t>1</a:t>
            </a:fld>
            <a:endParaRPr lang="en-US" sz="800"/>
          </a:p>
        </p:txBody>
      </p:sp>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a:xfrm>
            <a:off x="404813" y="4378325"/>
            <a:ext cx="6121400" cy="42529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a:t>Cisco Networking Academy Program</a:t>
            </a:r>
          </a:p>
          <a:p>
            <a:pPr>
              <a:buFontTx/>
              <a:buNone/>
            </a:pPr>
            <a:r>
              <a:rPr lang="en-US" b="0" dirty="0"/>
              <a:t>Routing and Switching Essentials </a:t>
            </a:r>
            <a:r>
              <a:rPr lang="en-US" b="0" baseline="0" dirty="0"/>
              <a:t>v6.0</a:t>
            </a:r>
            <a:endParaRPr lang="en-US" b="0" dirty="0"/>
          </a:p>
          <a:p>
            <a:pPr>
              <a:buFontTx/>
              <a:buNone/>
            </a:pPr>
            <a:r>
              <a:rPr lang="en-US" sz="1200" dirty="0">
                <a:latin typeface="Arial" charset="0"/>
              </a:rPr>
              <a:t>Chapter 6: VLANs</a:t>
            </a:r>
            <a:endParaRPr lang="en-GB" b="0" dirty="0"/>
          </a:p>
        </p:txBody>
      </p:sp>
    </p:spTree>
    <p:extLst>
      <p:ext uri="{BB962C8B-B14F-4D97-AF65-F5344CB8AC3E}">
        <p14:creationId xmlns:p14="http://schemas.microsoft.com/office/powerpoint/2010/main" val="476943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latin typeface="Arial" charset="0"/>
              </a:rPr>
              <a:t>VLAN Segmentation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6.1.1 – Overview of VLANs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t>6.1.1.3</a:t>
            </a:r>
            <a:r>
              <a:rPr lang="en-US" baseline="0" dirty="0"/>
              <a:t> – Types of VLANs (cont.)</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latin typeface="Arial" charset="0"/>
              </a:rPr>
              <a:t>VLAN Segmentation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6.1.2 – VLANs in a Multi-Switched</a:t>
            </a:r>
            <a:r>
              <a:rPr lang="en-US" baseline="0" dirty="0">
                <a:latin typeface="Arial" charset="0"/>
              </a:rPr>
              <a:t> Environment</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t>6.1.2.1</a:t>
            </a:r>
            <a:r>
              <a:rPr lang="en-US" baseline="0" dirty="0"/>
              <a:t> – VLAN Trunks</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latin typeface="Arial" charset="0"/>
              </a:rPr>
              <a:t>VLAN Segmentation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6.1.2 – VLANs in a Multi-Switched</a:t>
            </a:r>
            <a:r>
              <a:rPr lang="en-US" baseline="0" dirty="0">
                <a:latin typeface="Arial" charset="0"/>
              </a:rPr>
              <a:t> Environment</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t>6.1.2.1</a:t>
            </a:r>
            <a:r>
              <a:rPr lang="en-US" baseline="0" dirty="0"/>
              <a:t> – VLAN Trunks (cont.)</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6.2.1 – VLAN Assignment</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6.2.1.1 - VLAN Ranges on Catalyst Switches</a:t>
            </a:r>
            <a:endParaRPr lang="en-US" dirty="0"/>
          </a:p>
          <a:p>
            <a:pPr>
              <a:lnSpc>
                <a:spcPct val="80000"/>
              </a:lnSpc>
              <a:buFontTx/>
              <a:buNone/>
            </a:pP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6.2.1 – VLAN Assignment</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6.2.1.2</a:t>
            </a:r>
            <a:r>
              <a:rPr lang="en-US" baseline="0" dirty="0">
                <a:latin typeface="Arial" charset="0"/>
              </a:rPr>
              <a:t> – Creating a VLAN</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6.2.1 – VLAN Assignment</a:t>
            </a:r>
            <a:endParaRPr lang="en-US" dirty="0"/>
          </a:p>
          <a:p>
            <a:pPr>
              <a:lnSpc>
                <a:spcPct val="80000"/>
              </a:lnSpc>
              <a:buFontTx/>
              <a:buNone/>
            </a:pPr>
            <a:r>
              <a:rPr lang="en-US" dirty="0">
                <a:latin typeface="Arial" charset="0"/>
              </a:rPr>
              <a:t>6.2.1.3</a:t>
            </a:r>
            <a:r>
              <a:rPr lang="en-US" baseline="0" dirty="0">
                <a:latin typeface="Arial" charset="0"/>
              </a:rPr>
              <a:t> – Assigning Ports to VLANs </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6.2.1 – VLAN Assignment</a:t>
            </a:r>
            <a:endParaRPr lang="en-US" dirty="0"/>
          </a:p>
          <a:p>
            <a:pPr>
              <a:lnSpc>
                <a:spcPct val="80000"/>
              </a:lnSpc>
              <a:buFontTx/>
              <a:buNone/>
            </a:pPr>
            <a:r>
              <a:rPr lang="en-US" dirty="0">
                <a:latin typeface="Arial" charset="0"/>
              </a:rPr>
              <a:t>6.2.1.4</a:t>
            </a:r>
            <a:r>
              <a:rPr lang="en-US" baseline="0" dirty="0">
                <a:latin typeface="Arial" charset="0"/>
              </a:rPr>
              <a:t> - </a:t>
            </a:r>
            <a:r>
              <a:rPr lang="en-US" dirty="0">
                <a:latin typeface="Arial" charset="0"/>
              </a:rPr>
              <a:t>Changing VLAN Port Membership</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6.2.1 – VLAN Assignment</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6.2.1.4</a:t>
            </a:r>
            <a:r>
              <a:rPr lang="en-US" baseline="0" dirty="0">
                <a:latin typeface="Arial" charset="0"/>
              </a:rPr>
              <a:t> - </a:t>
            </a:r>
            <a:r>
              <a:rPr lang="en-US" dirty="0">
                <a:latin typeface="Arial" charset="0"/>
              </a:rPr>
              <a:t>Changing VLAN Port Membership (cont.)</a:t>
            </a:r>
            <a:endParaRPr lang="en-US" dirty="0"/>
          </a:p>
          <a:p>
            <a:pPr>
              <a:lnSpc>
                <a:spcPct val="80000"/>
              </a:lnSpc>
              <a:buFontTx/>
              <a:buNone/>
            </a:pP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6.2.1 – VLAN Assignment</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6.2.1.4</a:t>
            </a:r>
            <a:r>
              <a:rPr lang="en-US" baseline="0" dirty="0">
                <a:latin typeface="Arial" charset="0"/>
              </a:rPr>
              <a:t> - </a:t>
            </a:r>
            <a:r>
              <a:rPr lang="en-US" dirty="0">
                <a:latin typeface="Arial" charset="0"/>
              </a:rPr>
              <a:t>Changing VLAN Port Membership (cont.)</a:t>
            </a:r>
            <a:endParaRPr lang="en-US" dirty="0"/>
          </a:p>
          <a:p>
            <a:pPr>
              <a:lnSpc>
                <a:spcPct val="80000"/>
              </a:lnSpc>
              <a:buFontTx/>
              <a:buNone/>
            </a:pP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6.2.1 – VLAN Assignment</a:t>
            </a:r>
            <a:endParaRPr lang="en-US" dirty="0"/>
          </a:p>
          <a:p>
            <a:pPr>
              <a:lnSpc>
                <a:spcPct val="80000"/>
              </a:lnSpc>
              <a:buFontTx/>
              <a:buNone/>
            </a:pPr>
            <a:r>
              <a:rPr lang="en-US" dirty="0">
                <a:latin typeface="Arial" charset="0"/>
              </a:rPr>
              <a:t>6.2.1.5</a:t>
            </a:r>
            <a:r>
              <a:rPr lang="en-US" baseline="0" dirty="0">
                <a:latin typeface="Arial" charset="0"/>
              </a:rPr>
              <a:t> – Deleting VLANs</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6.2.1 – VLAN Assignment</a:t>
            </a:r>
            <a:endParaRPr lang="en-US" dirty="0"/>
          </a:p>
          <a:p>
            <a:pPr>
              <a:lnSpc>
                <a:spcPct val="80000"/>
              </a:lnSpc>
              <a:buFontTx/>
              <a:buNone/>
            </a:pPr>
            <a:r>
              <a:rPr lang="en-US" dirty="0">
                <a:latin typeface="Arial" charset="0"/>
              </a:rPr>
              <a:t>6.2.1.6</a:t>
            </a:r>
            <a:r>
              <a:rPr lang="en-US" baseline="0" dirty="0">
                <a:latin typeface="Arial" charset="0"/>
              </a:rPr>
              <a:t> - </a:t>
            </a:r>
            <a:r>
              <a:rPr lang="en-US" dirty="0">
                <a:latin typeface="Arial" charset="0"/>
              </a:rPr>
              <a:t>Verifying VLAN Information</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6.2.1 – VLAN Assignment</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6.2.1.6</a:t>
            </a:r>
            <a:r>
              <a:rPr lang="en-US" baseline="0" dirty="0">
                <a:latin typeface="Arial" charset="0"/>
              </a:rPr>
              <a:t> - </a:t>
            </a:r>
            <a:r>
              <a:rPr lang="en-US" dirty="0">
                <a:latin typeface="Arial" charset="0"/>
              </a:rPr>
              <a:t>Verifying VLAN Information</a:t>
            </a:r>
            <a:endParaRPr lang="en-US" dirty="0"/>
          </a:p>
          <a:p>
            <a:pPr>
              <a:lnSpc>
                <a:spcPct val="80000"/>
              </a:lnSpc>
              <a:buFontTx/>
              <a:buNone/>
            </a:pP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6.2.2 – VLAN Trunks</a:t>
            </a:r>
            <a:endParaRPr lang="en-US" dirty="0"/>
          </a:p>
          <a:p>
            <a:pPr>
              <a:lnSpc>
                <a:spcPct val="80000"/>
              </a:lnSpc>
              <a:buFontTx/>
              <a:buNone/>
            </a:pPr>
            <a:r>
              <a:rPr lang="en-US" dirty="0">
                <a:latin typeface="Arial" charset="0"/>
              </a:rPr>
              <a:t>6.2.2.1</a:t>
            </a:r>
            <a:r>
              <a:rPr lang="en-US" baseline="0" dirty="0">
                <a:latin typeface="Arial" charset="0"/>
              </a:rPr>
              <a:t> - </a:t>
            </a:r>
            <a:r>
              <a:rPr lang="en-US" dirty="0">
                <a:ea typeface="ＭＳ Ｐゴシック" pitchFamily="34" charset="-128"/>
              </a:rPr>
              <a:t>Configuring IEEE 802.1q Trunk Links</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6.2.2 – VLAN Trunks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6.2.2.1</a:t>
            </a:r>
            <a:r>
              <a:rPr lang="en-US" baseline="0" dirty="0">
                <a:latin typeface="Arial" charset="0"/>
              </a:rPr>
              <a:t> - </a:t>
            </a:r>
            <a:r>
              <a:rPr lang="en-US" dirty="0">
                <a:ea typeface="ＭＳ Ｐゴシック" pitchFamily="34" charset="-128"/>
              </a:rPr>
              <a:t>Configuring IEEE 802.1q Trunk Links (cont.)</a:t>
            </a:r>
            <a:endParaRPr lang="en-US" dirty="0"/>
          </a:p>
          <a:p>
            <a:pPr>
              <a:lnSpc>
                <a:spcPct val="80000"/>
              </a:lnSpc>
              <a:buFontTx/>
              <a:buNone/>
            </a:pP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6.2.2 – VLAN Trunks</a:t>
            </a:r>
            <a:endParaRPr lang="en-US" dirty="0"/>
          </a:p>
          <a:p>
            <a:pPr>
              <a:lnSpc>
                <a:spcPct val="80000"/>
              </a:lnSpc>
              <a:buFontTx/>
              <a:buNone/>
            </a:pPr>
            <a:r>
              <a:rPr lang="en-US" dirty="0">
                <a:latin typeface="Arial" charset="0"/>
              </a:rPr>
              <a:t>6.2.2.2 - </a:t>
            </a:r>
            <a:r>
              <a:rPr lang="en-US" dirty="0">
                <a:ea typeface="ＭＳ Ｐゴシック" pitchFamily="34" charset="-128"/>
              </a:rPr>
              <a:t>Resetting the Trunk to Default State</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6.2.2 – VLAN Trunks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6.2.2.2 - </a:t>
            </a:r>
            <a:r>
              <a:rPr lang="en-US" dirty="0">
                <a:ea typeface="ＭＳ Ｐゴシック" pitchFamily="34" charset="-128"/>
              </a:rPr>
              <a:t>Resetting the Trunk to Default State (cont.)</a:t>
            </a:r>
            <a:endParaRPr lang="en-US" dirty="0"/>
          </a:p>
          <a:p>
            <a:pPr>
              <a:lnSpc>
                <a:spcPct val="80000"/>
              </a:lnSpc>
              <a:buFontTx/>
              <a:buNone/>
            </a:pP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6.2.2 – VLAN Trunk</a:t>
            </a:r>
            <a:endParaRPr lang="en-US" dirty="0"/>
          </a:p>
          <a:p>
            <a:pPr>
              <a:lnSpc>
                <a:spcPct val="80000"/>
              </a:lnSpc>
              <a:buFontTx/>
              <a:buNone/>
            </a:pPr>
            <a:r>
              <a:rPr lang="en-US" dirty="0">
                <a:latin typeface="Arial" charset="0"/>
              </a:rPr>
              <a:t>6.2.2.3 - </a:t>
            </a:r>
            <a:r>
              <a:rPr lang="en-US" dirty="0">
                <a:ea typeface="ＭＳ Ｐゴシック" pitchFamily="34" charset="-128"/>
              </a:rPr>
              <a:t>Verifying Trunk Configuration</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6.2.3 – Troubleshoot</a:t>
            </a:r>
            <a:r>
              <a:rPr lang="en-US" baseline="0" dirty="0">
                <a:latin typeface="Arial" charset="0"/>
              </a:rPr>
              <a:t> VLANs and Trunks</a:t>
            </a:r>
            <a:endParaRPr lang="en-US" dirty="0"/>
          </a:p>
          <a:p>
            <a:pPr>
              <a:lnSpc>
                <a:spcPct val="80000"/>
              </a:lnSpc>
              <a:buFontTx/>
              <a:buNone/>
            </a:pPr>
            <a:r>
              <a:rPr lang="en-US" dirty="0">
                <a:latin typeface="Arial" charset="0"/>
              </a:rPr>
              <a:t>6.2.3.1 - </a:t>
            </a:r>
            <a:r>
              <a:rPr lang="en-US" dirty="0">
                <a:ea typeface="ＭＳ Ｐゴシック" pitchFamily="34" charset="-128"/>
              </a:rPr>
              <a:t>IP Addressing Issues with VLANs</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6.2.3 – Troubleshoot</a:t>
            </a:r>
            <a:r>
              <a:rPr lang="en-US" baseline="0" dirty="0">
                <a:latin typeface="Arial" charset="0"/>
              </a:rPr>
              <a:t> VLANs and Trunks</a:t>
            </a:r>
            <a:endParaRPr lang="en-US" dirty="0"/>
          </a:p>
          <a:p>
            <a:pPr>
              <a:lnSpc>
                <a:spcPct val="80000"/>
              </a:lnSpc>
              <a:buFontTx/>
              <a:buNone/>
            </a:pPr>
            <a:r>
              <a:rPr lang="en-US" dirty="0">
                <a:latin typeface="Arial" charset="0"/>
              </a:rPr>
              <a:t>6.2.3.2</a:t>
            </a:r>
            <a:r>
              <a:rPr lang="en-US" baseline="0" dirty="0">
                <a:latin typeface="Arial" charset="0"/>
              </a:rPr>
              <a:t> - </a:t>
            </a:r>
            <a:r>
              <a:rPr lang="en-US" dirty="0">
                <a:ea typeface="ＭＳ Ｐゴシック" pitchFamily="34" charset="-128"/>
              </a:rPr>
              <a:t>Missing VLANs</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6.2.3 – Troubleshoot</a:t>
            </a:r>
            <a:r>
              <a:rPr lang="en-US" baseline="0" dirty="0">
                <a:latin typeface="Arial" charset="0"/>
              </a:rPr>
              <a:t> VLANs and Trunks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6.2.3.2</a:t>
            </a:r>
            <a:r>
              <a:rPr lang="en-US" baseline="0" dirty="0">
                <a:latin typeface="Arial" charset="0"/>
              </a:rPr>
              <a:t> - </a:t>
            </a:r>
            <a:r>
              <a:rPr lang="en-US" dirty="0">
                <a:ea typeface="ＭＳ Ｐゴシック" pitchFamily="34" charset="-128"/>
              </a:rPr>
              <a:t>Missing VLANs (cont.)</a:t>
            </a:r>
            <a:endParaRPr lang="en-US" dirty="0"/>
          </a:p>
          <a:p>
            <a:pPr>
              <a:lnSpc>
                <a:spcPct val="80000"/>
              </a:lnSpc>
              <a:buFontTx/>
              <a:buNone/>
            </a:pP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6.2.3 – Troubleshoot</a:t>
            </a:r>
            <a:r>
              <a:rPr lang="en-US" baseline="0" dirty="0">
                <a:latin typeface="Arial" charset="0"/>
              </a:rPr>
              <a:t> VLANs and Trunks</a:t>
            </a:r>
            <a:endParaRPr lang="en-US" dirty="0"/>
          </a:p>
          <a:p>
            <a:pPr>
              <a:lnSpc>
                <a:spcPct val="80000"/>
              </a:lnSpc>
              <a:buFontTx/>
              <a:buNone/>
            </a:pPr>
            <a:r>
              <a:rPr lang="en-US" dirty="0">
                <a:latin typeface="Arial" charset="0"/>
              </a:rPr>
              <a:t>6.2.3.3 - </a:t>
            </a:r>
            <a:r>
              <a:rPr lang="en-US" dirty="0">
                <a:ea typeface="ＭＳ Ｐゴシック" pitchFamily="34" charset="-128"/>
              </a:rPr>
              <a:t>Introduction to Troubleshooting Trunks</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6.2.3 – Troubleshoot</a:t>
            </a:r>
            <a:r>
              <a:rPr lang="en-US" baseline="0" dirty="0">
                <a:latin typeface="Arial" charset="0"/>
              </a:rPr>
              <a:t> VLANs and Trunks</a:t>
            </a:r>
            <a:endParaRPr lang="en-US" dirty="0"/>
          </a:p>
          <a:p>
            <a:pPr>
              <a:lnSpc>
                <a:spcPct val="80000"/>
              </a:lnSpc>
              <a:buFontTx/>
              <a:buNone/>
            </a:pPr>
            <a:r>
              <a:rPr lang="en-US" dirty="0">
                <a:latin typeface="Arial" charset="0"/>
              </a:rPr>
              <a:t>6.2.3.4</a:t>
            </a:r>
            <a:r>
              <a:rPr lang="en-US" baseline="0" dirty="0">
                <a:latin typeface="Arial" charset="0"/>
              </a:rPr>
              <a:t> - </a:t>
            </a:r>
            <a:r>
              <a:rPr lang="en-US" dirty="0">
                <a:ea typeface="ＭＳ Ｐゴシック" pitchFamily="34" charset="-128"/>
              </a:rPr>
              <a:t>Common Problems with Trunks</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6.2.3 – Troubleshoot</a:t>
            </a:r>
            <a:r>
              <a:rPr lang="en-US" baseline="0" dirty="0">
                <a:latin typeface="Arial" charset="0"/>
              </a:rPr>
              <a:t> VLANs and Trunks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6.2.3.4</a:t>
            </a:r>
            <a:r>
              <a:rPr lang="en-US" baseline="0" dirty="0">
                <a:latin typeface="Arial" charset="0"/>
              </a:rPr>
              <a:t> - </a:t>
            </a:r>
            <a:r>
              <a:rPr lang="en-US" dirty="0">
                <a:ea typeface="ＭＳ Ｐゴシック" pitchFamily="34" charset="-128"/>
              </a:rPr>
              <a:t>Common Problems with Trunks</a:t>
            </a:r>
            <a:endParaRPr lang="en-US" dirty="0"/>
          </a:p>
          <a:p>
            <a:pPr>
              <a:lnSpc>
                <a:spcPct val="80000"/>
              </a:lnSpc>
              <a:buFontTx/>
              <a:buNone/>
            </a:pP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6.2.3 – Troubleshoot</a:t>
            </a:r>
            <a:r>
              <a:rPr lang="en-US" baseline="0" dirty="0">
                <a:latin typeface="Arial" charset="0"/>
              </a:rPr>
              <a:t> VLANs and Trunks</a:t>
            </a:r>
            <a:endParaRPr lang="en-US" dirty="0"/>
          </a:p>
          <a:p>
            <a:pPr>
              <a:lnSpc>
                <a:spcPct val="80000"/>
              </a:lnSpc>
              <a:buFontTx/>
              <a:buNone/>
            </a:pPr>
            <a:r>
              <a:rPr lang="en-US" dirty="0">
                <a:latin typeface="Arial" charset="0"/>
              </a:rPr>
              <a:t>6.2.3.</a:t>
            </a:r>
            <a:r>
              <a:rPr lang="en-US" baseline="0" dirty="0">
                <a:latin typeface="Arial" charset="0"/>
              </a:rPr>
              <a:t>5 - </a:t>
            </a:r>
            <a:r>
              <a:rPr lang="en-US" dirty="0">
                <a:ea typeface="ＭＳ Ｐゴシック" pitchFamily="34" charset="-128"/>
              </a:rPr>
              <a:t>Incorrect Port Mode</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6.2.3 – Troubleshoot</a:t>
            </a:r>
            <a:r>
              <a:rPr lang="en-US" baseline="0" dirty="0">
                <a:latin typeface="Arial" charset="0"/>
              </a:rPr>
              <a:t> VLANs and Trunks</a:t>
            </a:r>
            <a:endParaRPr lang="en-US" dirty="0"/>
          </a:p>
          <a:p>
            <a:pPr>
              <a:lnSpc>
                <a:spcPct val="80000"/>
              </a:lnSpc>
              <a:buFontTx/>
              <a:buNone/>
            </a:pPr>
            <a:r>
              <a:rPr lang="en-US" dirty="0">
                <a:latin typeface="Arial" charset="0"/>
              </a:rPr>
              <a:t>6.2.3.6 -</a:t>
            </a:r>
            <a:r>
              <a:rPr lang="en-US" baseline="0" dirty="0">
                <a:latin typeface="Arial" charset="0"/>
              </a:rPr>
              <a:t> </a:t>
            </a:r>
            <a:r>
              <a:rPr lang="en-US" dirty="0">
                <a:ea typeface="ＭＳ Ｐゴシック" pitchFamily="34" charset="-128"/>
              </a:rPr>
              <a:t>Incorrect VLAN List</a:t>
            </a: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6.2 – </a:t>
            </a:r>
            <a:r>
              <a:rPr lang="en-US" sz="1200" dirty="0">
                <a:latin typeface="Arial" charset="0"/>
              </a:rPr>
              <a:t>VLAN Implementations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6.2.3 – Troubleshoot</a:t>
            </a:r>
            <a:r>
              <a:rPr lang="en-US" baseline="0" dirty="0">
                <a:latin typeface="Arial" charset="0"/>
              </a:rPr>
              <a:t> VLANs and Trunks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6.2.3.6 -</a:t>
            </a:r>
            <a:r>
              <a:rPr lang="en-US" baseline="0" dirty="0">
                <a:latin typeface="Arial" charset="0"/>
              </a:rPr>
              <a:t> </a:t>
            </a:r>
            <a:r>
              <a:rPr lang="en-US" dirty="0">
                <a:ea typeface="ＭＳ Ｐゴシック" pitchFamily="34" charset="-128"/>
              </a:rPr>
              <a:t>Incorrect VLAN List (cont.)</a:t>
            </a:r>
            <a:endParaRPr lang="en-US" dirty="0"/>
          </a:p>
          <a:p>
            <a:pPr>
              <a:lnSpc>
                <a:spcPct val="80000"/>
              </a:lnSpc>
              <a:buFontTx/>
              <a:buNone/>
            </a:pPr>
            <a:endParaRPr lang="en-US" dirty="0"/>
          </a:p>
        </p:txBody>
      </p:sp>
    </p:spTree>
    <p:extLst>
      <p:ext uri="{BB962C8B-B14F-4D97-AF65-F5344CB8AC3E}">
        <p14:creationId xmlns:p14="http://schemas.microsoft.com/office/powerpoint/2010/main" val="32722365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6.3 – </a:t>
            </a:r>
            <a:r>
              <a:rPr lang="en-US" sz="1200" dirty="0">
                <a:latin typeface="Arial" charset="0"/>
              </a:rPr>
              <a:t>Inter-VLAN Routing Using Routers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6.3.1 – Inter-VLAN Routing</a:t>
            </a:r>
            <a:r>
              <a:rPr lang="en-US" baseline="0" dirty="0">
                <a:latin typeface="Arial" charset="0"/>
              </a:rPr>
              <a:t> Operation</a:t>
            </a:r>
            <a:endParaRPr lang="en-US" dirty="0"/>
          </a:p>
          <a:p>
            <a:pPr>
              <a:lnSpc>
                <a:spcPct val="80000"/>
              </a:lnSpc>
              <a:buFontTx/>
              <a:buNone/>
            </a:pPr>
            <a:r>
              <a:rPr lang="en-US" dirty="0">
                <a:latin typeface="Arial" charset="0"/>
              </a:rPr>
              <a:t>6.3.1.3 - Router-on-a-Stick Inter-VLAN Routing</a:t>
            </a:r>
            <a:endParaRPr lang="en-US" dirty="0"/>
          </a:p>
        </p:txBody>
      </p:sp>
    </p:spTree>
    <p:extLst>
      <p:ext uri="{BB962C8B-B14F-4D97-AF65-F5344CB8AC3E}">
        <p14:creationId xmlns:p14="http://schemas.microsoft.com/office/powerpoint/2010/main" val="11680857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6.3 – </a:t>
            </a:r>
            <a:r>
              <a:rPr lang="en-US" sz="1200" dirty="0">
                <a:latin typeface="Arial" charset="0"/>
              </a:rPr>
              <a:t>Inter-VLAN Routing Using Routers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6.3.1 – Inter-VLAN Routing</a:t>
            </a:r>
            <a:r>
              <a:rPr lang="en-US" baseline="0" dirty="0">
                <a:latin typeface="Arial" charset="0"/>
              </a:rPr>
              <a:t> Operation</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6.3.1.3 - Router-on-a-Stick Inter-VLAN Routing (cont.)</a:t>
            </a:r>
            <a:endParaRPr lang="en-US" dirty="0"/>
          </a:p>
          <a:p>
            <a:pPr>
              <a:lnSpc>
                <a:spcPct val="80000"/>
              </a:lnSpc>
              <a:buFontTx/>
              <a:buNone/>
            </a:pPr>
            <a:endParaRPr lang="en-US" dirty="0"/>
          </a:p>
        </p:txBody>
      </p:sp>
    </p:spTree>
    <p:extLst>
      <p:ext uri="{BB962C8B-B14F-4D97-AF65-F5344CB8AC3E}">
        <p14:creationId xmlns:p14="http://schemas.microsoft.com/office/powerpoint/2010/main" val="11680857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6.3 – </a:t>
            </a:r>
            <a:r>
              <a:rPr lang="en-US" sz="1200" dirty="0">
                <a:latin typeface="Arial" charset="0"/>
              </a:rPr>
              <a:t>Inter-VLAN Routing Using Routers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6.3.2 – Configure Legacy Inter-VLAN Routing</a:t>
            </a:r>
            <a:endParaRPr lang="en-US" dirty="0"/>
          </a:p>
          <a:p>
            <a:pPr>
              <a:lnSpc>
                <a:spcPct val="80000"/>
              </a:lnSpc>
              <a:buFontTx/>
              <a:buNone/>
            </a:pPr>
            <a:r>
              <a:rPr lang="en-US" dirty="0">
                <a:latin typeface="Arial" charset="0"/>
              </a:rPr>
              <a:t>6.3.2.2 - Configure Legacy Inter-VLAN Routing: Switch Configuration</a:t>
            </a:r>
            <a:endParaRPr lang="en-US" dirty="0"/>
          </a:p>
        </p:txBody>
      </p:sp>
    </p:spTree>
    <p:extLst>
      <p:ext uri="{BB962C8B-B14F-4D97-AF65-F5344CB8AC3E}">
        <p14:creationId xmlns:p14="http://schemas.microsoft.com/office/powerpoint/2010/main" val="11680857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6.3 – </a:t>
            </a:r>
            <a:r>
              <a:rPr lang="en-US" sz="1200" dirty="0">
                <a:latin typeface="Arial" charset="0"/>
              </a:rPr>
              <a:t>Inter-VLAN Routing Using Routers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6.3.3 – </a:t>
            </a:r>
            <a:r>
              <a:rPr lang="en-US" sz="1200" dirty="0">
                <a:latin typeface="Arial" charset="0"/>
              </a:rPr>
              <a:t>Configure Router-on-a-Stick Inter-VLAN Routing</a:t>
            </a:r>
          </a:p>
          <a:p>
            <a:pPr>
              <a:lnSpc>
                <a:spcPct val="80000"/>
              </a:lnSpc>
              <a:buFontTx/>
              <a:buNone/>
            </a:pPr>
            <a:r>
              <a:rPr lang="en-US" dirty="0">
                <a:latin typeface="Arial" charset="0"/>
              </a:rPr>
              <a:t>6.3.3.1 - Configure Router-on-a Stick: Preparation</a:t>
            </a:r>
            <a:endParaRPr lang="en-US" dirty="0"/>
          </a:p>
        </p:txBody>
      </p:sp>
    </p:spTree>
    <p:extLst>
      <p:ext uri="{BB962C8B-B14F-4D97-AF65-F5344CB8AC3E}">
        <p14:creationId xmlns:p14="http://schemas.microsoft.com/office/powerpoint/2010/main" val="11680857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6.3 – </a:t>
            </a:r>
            <a:r>
              <a:rPr lang="en-US" sz="1200" dirty="0">
                <a:latin typeface="Arial" charset="0"/>
              </a:rPr>
              <a:t>Inter-VLAN Routing Using Routers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6.3.3 – </a:t>
            </a:r>
            <a:r>
              <a:rPr lang="en-US" sz="1200" dirty="0">
                <a:latin typeface="Arial" charset="0"/>
              </a:rPr>
              <a:t>Configure Router-on-a-Stick Inter-VLAN Routing</a:t>
            </a:r>
          </a:p>
          <a:p>
            <a:pPr>
              <a:lnSpc>
                <a:spcPct val="80000"/>
              </a:lnSpc>
              <a:buFontTx/>
              <a:buNone/>
            </a:pPr>
            <a:r>
              <a:rPr lang="en-US" dirty="0">
                <a:latin typeface="Arial" charset="0"/>
              </a:rPr>
              <a:t>6.3.3.2 -</a:t>
            </a:r>
            <a:r>
              <a:rPr lang="en-US" baseline="0" dirty="0">
                <a:latin typeface="Arial" charset="0"/>
              </a:rPr>
              <a:t> </a:t>
            </a:r>
            <a:r>
              <a:rPr lang="en-US" dirty="0">
                <a:latin typeface="Arial" charset="0"/>
              </a:rPr>
              <a:t>Configure Router-on-a Stick: Switch Configuration</a:t>
            </a:r>
            <a:endParaRPr lang="en-US" dirty="0"/>
          </a:p>
        </p:txBody>
      </p:sp>
    </p:spTree>
    <p:extLst>
      <p:ext uri="{BB962C8B-B14F-4D97-AF65-F5344CB8AC3E}">
        <p14:creationId xmlns:p14="http://schemas.microsoft.com/office/powerpoint/2010/main" val="11680857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6.3 – </a:t>
            </a:r>
            <a:r>
              <a:rPr lang="en-US" sz="1200" dirty="0">
                <a:latin typeface="Arial" charset="0"/>
              </a:rPr>
              <a:t>Inter-VLAN Routing Using Routers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6.3.3 – </a:t>
            </a:r>
            <a:r>
              <a:rPr lang="en-US" sz="1200" dirty="0">
                <a:latin typeface="Arial" charset="0"/>
              </a:rPr>
              <a:t>Configure Router-on-a-Stick Inter-VLAN Routing</a:t>
            </a:r>
          </a:p>
          <a:p>
            <a:pPr>
              <a:lnSpc>
                <a:spcPct val="80000"/>
              </a:lnSpc>
              <a:buFontTx/>
              <a:buNone/>
            </a:pPr>
            <a:r>
              <a:rPr lang="en-US" dirty="0">
                <a:latin typeface="Arial" charset="0"/>
              </a:rPr>
              <a:t>6.3.3.3</a:t>
            </a:r>
            <a:r>
              <a:rPr lang="en-US" baseline="0" dirty="0">
                <a:latin typeface="Arial" charset="0"/>
              </a:rPr>
              <a:t> - </a:t>
            </a:r>
            <a:r>
              <a:rPr lang="en-US" dirty="0">
                <a:latin typeface="Arial" charset="0"/>
              </a:rPr>
              <a:t>Configure Router-on-a Stick: Router Subinterface Configuration</a:t>
            </a:r>
            <a:endParaRPr lang="en-US" dirty="0"/>
          </a:p>
        </p:txBody>
      </p:sp>
    </p:spTree>
    <p:extLst>
      <p:ext uri="{BB962C8B-B14F-4D97-AF65-F5344CB8AC3E}">
        <p14:creationId xmlns:p14="http://schemas.microsoft.com/office/powerpoint/2010/main" val="11680857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6.3 – </a:t>
            </a:r>
            <a:r>
              <a:rPr lang="en-US" sz="1200" dirty="0">
                <a:latin typeface="Arial" charset="0"/>
              </a:rPr>
              <a:t>Inter-VLAN Routing Using Routers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6.3.3 – </a:t>
            </a:r>
            <a:r>
              <a:rPr lang="en-US" sz="1200" dirty="0">
                <a:latin typeface="Arial" charset="0"/>
              </a:rPr>
              <a:t>Configure Router-on-a-Stick Inter-VLAN Routing</a:t>
            </a:r>
          </a:p>
          <a:p>
            <a:pPr>
              <a:lnSpc>
                <a:spcPct val="80000"/>
              </a:lnSpc>
              <a:buFontTx/>
              <a:buNone/>
            </a:pPr>
            <a:r>
              <a:rPr lang="en-US" dirty="0">
                <a:latin typeface="Arial" charset="0"/>
              </a:rPr>
              <a:t>6.3.3.4 - Configure Router-on-a Stick: Verifying </a:t>
            </a:r>
            <a:r>
              <a:rPr lang="en-US" dirty="0" err="1">
                <a:latin typeface="Arial" charset="0"/>
              </a:rPr>
              <a:t>Subinterfaces</a:t>
            </a:r>
            <a:endParaRPr lang="en-US" dirty="0"/>
          </a:p>
        </p:txBody>
      </p:sp>
    </p:spTree>
    <p:extLst>
      <p:ext uri="{BB962C8B-B14F-4D97-AF65-F5344CB8AC3E}">
        <p14:creationId xmlns:p14="http://schemas.microsoft.com/office/powerpoint/2010/main" val="11680857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6.3 – </a:t>
            </a:r>
            <a:r>
              <a:rPr lang="en-US" sz="1200" dirty="0">
                <a:latin typeface="Arial" charset="0"/>
              </a:rPr>
              <a:t>Inter-VLAN Routing Using Routers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6.3.2 – </a:t>
            </a:r>
            <a:r>
              <a:rPr lang="en-US" sz="1200" dirty="0">
                <a:latin typeface="Arial" charset="0"/>
              </a:rPr>
              <a:t>Configure Router-on-a-Stick Inter-VLAN Routing</a:t>
            </a:r>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6.3.3.4 - Configure Router-on-a Stick: Verifying </a:t>
            </a:r>
            <a:r>
              <a:rPr lang="en-US" dirty="0" err="1">
                <a:latin typeface="Arial" charset="0"/>
              </a:rPr>
              <a:t>Subinterfaces</a:t>
            </a:r>
            <a:r>
              <a:rPr lang="en-US" dirty="0">
                <a:latin typeface="Arial" charset="0"/>
              </a:rPr>
              <a:t> (cont.)</a:t>
            </a:r>
            <a:endParaRPr lang="en-US" dirty="0"/>
          </a:p>
          <a:p>
            <a:pPr>
              <a:lnSpc>
                <a:spcPct val="80000"/>
              </a:lnSpc>
              <a:buFontTx/>
              <a:buNone/>
            </a:pPr>
            <a:endParaRPr lang="en-US" dirty="0"/>
          </a:p>
        </p:txBody>
      </p:sp>
    </p:spTree>
    <p:extLst>
      <p:ext uri="{BB962C8B-B14F-4D97-AF65-F5344CB8AC3E}">
        <p14:creationId xmlns:p14="http://schemas.microsoft.com/office/powerpoint/2010/main" val="11680857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6.3 – </a:t>
            </a:r>
            <a:r>
              <a:rPr lang="en-US" sz="1200" dirty="0">
                <a:latin typeface="Arial" charset="0"/>
              </a:rPr>
              <a:t>Inter-VLAN Routing Using Routers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6.3.3 – </a:t>
            </a:r>
            <a:r>
              <a:rPr lang="en-US" sz="1200" dirty="0">
                <a:latin typeface="Arial" charset="0"/>
              </a:rPr>
              <a:t>Configure Router-on-a-Stick Inter-VLAN Routing</a:t>
            </a:r>
          </a:p>
          <a:p>
            <a:pPr>
              <a:lnSpc>
                <a:spcPct val="80000"/>
              </a:lnSpc>
              <a:buFontTx/>
              <a:buNone/>
            </a:pPr>
            <a:r>
              <a:rPr lang="en-US" dirty="0">
                <a:latin typeface="Arial" charset="0"/>
              </a:rPr>
              <a:t>6.3.3.5</a:t>
            </a:r>
            <a:r>
              <a:rPr lang="en-US" baseline="0" dirty="0">
                <a:latin typeface="Arial" charset="0"/>
              </a:rPr>
              <a:t> - </a:t>
            </a:r>
            <a:r>
              <a:rPr lang="en-US" dirty="0">
                <a:latin typeface="Arial" charset="0"/>
              </a:rPr>
              <a:t>Configure Router-on-a Stick: Verifying Routing</a:t>
            </a:r>
            <a:endParaRPr lang="en-US" dirty="0"/>
          </a:p>
        </p:txBody>
      </p:sp>
    </p:spTree>
    <p:extLst>
      <p:ext uri="{BB962C8B-B14F-4D97-AF65-F5344CB8AC3E}">
        <p14:creationId xmlns:p14="http://schemas.microsoft.com/office/powerpoint/2010/main" val="11680857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PPt_CoverArt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93888"/>
            <a:ext cx="9140825" cy="244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a:spLocks noChangeArrowheads="1"/>
          </p:cNvSpPr>
          <p:nvPr/>
        </p:nvSpPr>
        <p:spPr bwMode="auto">
          <a:xfrm>
            <a:off x="4498975" y="6670675"/>
            <a:ext cx="234791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88">
              <a:lnSpc>
                <a:spcPct val="100000"/>
              </a:lnSpc>
            </a:pPr>
            <a:r>
              <a:rPr lang="en-US" sz="700">
                <a:solidFill>
                  <a:srgbClr val="D3D3D3"/>
                </a:solidFill>
              </a:rPr>
              <a:t>© 2007 – 2010, Cisco Systems, Inc. All rights reserved.</a:t>
            </a:r>
          </a:p>
        </p:txBody>
      </p:sp>
      <p:sp>
        <p:nvSpPr>
          <p:cNvPr id="6" name="Rectangle 4"/>
          <p:cNvSpPr>
            <a:spLocks noChangeArrowheads="1"/>
          </p:cNvSpPr>
          <p:nvPr/>
        </p:nvSpPr>
        <p:spPr bwMode="auto">
          <a:xfrm>
            <a:off x="7123113" y="6672263"/>
            <a:ext cx="6508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r>
              <a:rPr lang="en-US" sz="700">
                <a:solidFill>
                  <a:srgbClr val="D3D3D3"/>
                </a:solidFill>
              </a:rPr>
              <a:t>Cisco Public</a:t>
            </a:r>
          </a:p>
        </p:txBody>
      </p:sp>
      <p:sp>
        <p:nvSpPr>
          <p:cNvPr id="7" name="Rectangle 5"/>
          <p:cNvSpPr>
            <a:spLocks noChangeArrowheads="1"/>
          </p:cNvSpPr>
          <p:nvPr/>
        </p:nvSpPr>
        <p:spPr bwMode="auto">
          <a:xfrm>
            <a:off x="193675" y="6562725"/>
            <a:ext cx="96202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88">
              <a:lnSpc>
                <a:spcPct val="100000"/>
              </a:lnSpc>
            </a:pPr>
            <a:r>
              <a:rPr lang="en-US" sz="700" dirty="0">
                <a:solidFill>
                  <a:srgbClr val="D3D3D3"/>
                </a:solidFill>
              </a:rPr>
              <a:t>ITE PC v4.1</a:t>
            </a:r>
          </a:p>
          <a:p>
            <a:pPr algn="l" defTabSz="814388">
              <a:lnSpc>
                <a:spcPct val="100000"/>
              </a:lnSpc>
            </a:pPr>
            <a:r>
              <a:rPr lang="en-US" sz="700" dirty="0">
                <a:solidFill>
                  <a:srgbClr val="D3D3D3"/>
                </a:solidFill>
              </a:rPr>
              <a:t>Chapter 6</a:t>
            </a:r>
          </a:p>
        </p:txBody>
      </p:sp>
      <p:sp>
        <p:nvSpPr>
          <p:cNvPr id="8" name="Rectangle 6"/>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fld id="{DC7FBAF0-BCF5-8741-945F-3C6763791038}" type="slidenum">
              <a:rPr lang="en-US" sz="1000">
                <a:solidFill>
                  <a:srgbClr val="D3D3D3"/>
                </a:solidFill>
              </a:rPr>
              <a:pPr algn="r" defTabSz="814388">
                <a:lnSpc>
                  <a:spcPct val="100000"/>
                </a:lnSpc>
              </a:pPr>
              <a:t>‹#›</a:t>
            </a:fld>
            <a:endParaRPr lang="en-US" sz="1000">
              <a:solidFill>
                <a:srgbClr val="D3D3D3"/>
              </a:solidFill>
            </a:endParaRPr>
          </a:p>
        </p:txBody>
      </p:sp>
      <p:pic>
        <p:nvPicPr>
          <p:cNvPr id="9" name="Picture 9" descr="Cisco_New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483225" y="5940425"/>
            <a:ext cx="3354388"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descr="Cisc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63" y="119063"/>
            <a:ext cx="11715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47" name="Rectangle 7"/>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dirty="0"/>
              <a:t>Click To Edit Master Title Style</a:t>
            </a:r>
          </a:p>
        </p:txBody>
      </p:sp>
      <p:sp>
        <p:nvSpPr>
          <p:cNvPr id="1290248" name="Rectangle 8"/>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extLst>
      <p:ext uri="{BB962C8B-B14F-4D97-AF65-F5344CB8AC3E}">
        <p14:creationId xmlns:p14="http://schemas.microsoft.com/office/powerpoint/2010/main" val="3854027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702293"/>
            <a:ext cx="8145462" cy="838200"/>
          </a:xfrm>
        </p:spPr>
        <p:txBody>
          <a:bodyPr/>
          <a:lstStyle/>
          <a:p>
            <a:r>
              <a:rPr lang="en-US" dirty="0"/>
              <a:t>Click to edit Master title style</a:t>
            </a:r>
          </a:p>
        </p:txBody>
      </p:sp>
      <p:sp>
        <p:nvSpPr>
          <p:cNvPr id="3" name="Content Placeholder 2"/>
          <p:cNvSpPr>
            <a:spLocks noGrp="1"/>
          </p:cNvSpPr>
          <p:nvPr>
            <p:ph idx="1"/>
          </p:nvPr>
        </p:nvSpPr>
        <p:spPr>
          <a:xfrm>
            <a:off x="655638" y="1687390"/>
            <a:ext cx="7940675" cy="4720787"/>
          </a:xfrm>
        </p:spPr>
        <p:txBody>
          <a:bodyPr/>
          <a:lstStyle>
            <a:lvl2pPr marL="457200" indent="-228600">
              <a:buFont typeface="Arial" panose="020B0604020202020204" pitchFamily="34" charset="0"/>
              <a:buChar char="•"/>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097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781150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8947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0279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88369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4858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74995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91901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7525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766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a:t>Click to edit Master title style</a:t>
            </a:r>
          </a:p>
        </p:txBody>
      </p:sp>
      <p:sp>
        <p:nvSpPr>
          <p:cNvPr id="3" name="Table Placeholder 2"/>
          <p:cNvSpPr>
            <a:spLocks noGrp="1"/>
          </p:cNvSpPr>
          <p:nvPr>
            <p:ph type="tbl" idx="1"/>
          </p:nvPr>
        </p:nvSpPr>
        <p:spPr>
          <a:xfrm>
            <a:off x="655638" y="2014538"/>
            <a:ext cx="7940675" cy="3571875"/>
          </a:xfrm>
        </p:spPr>
        <p:txBody>
          <a:bodyPr/>
          <a:lstStyle/>
          <a:p>
            <a:pPr lvl="0"/>
            <a:endParaRPr lang="en-US" noProof="0" dirty="0"/>
          </a:p>
        </p:txBody>
      </p:sp>
    </p:spTree>
    <p:extLst>
      <p:ext uri="{BB962C8B-B14F-4D97-AF65-F5344CB8AC3E}">
        <p14:creationId xmlns:p14="http://schemas.microsoft.com/office/powerpoint/2010/main" val="39697481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PPt_4face_021208.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911350"/>
            <a:ext cx="914400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78"/>
          <p:cNvSpPr>
            <a:spLocks noChangeArrowheads="1"/>
          </p:cNvSpPr>
          <p:nvPr/>
        </p:nvSpPr>
        <p:spPr bwMode="auto">
          <a:xfrm>
            <a:off x="4498975" y="6672263"/>
            <a:ext cx="20224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88">
              <a:lnSpc>
                <a:spcPct val="100000"/>
              </a:lnSpc>
            </a:pPr>
            <a:r>
              <a:rPr lang="en-US" sz="700">
                <a:solidFill>
                  <a:srgbClr val="D3D3D3"/>
                </a:solidFill>
              </a:rPr>
              <a:t>© 2008 Cisco Systems, Inc. All rights reserved.</a:t>
            </a:r>
          </a:p>
        </p:txBody>
      </p:sp>
      <p:sp>
        <p:nvSpPr>
          <p:cNvPr id="6" name="Rectangle 279"/>
          <p:cNvSpPr>
            <a:spLocks noChangeArrowheads="1"/>
          </p:cNvSpPr>
          <p:nvPr/>
        </p:nvSpPr>
        <p:spPr bwMode="auto">
          <a:xfrm>
            <a:off x="6896100" y="6672263"/>
            <a:ext cx="877888"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r>
              <a:rPr lang="en-US" sz="700">
                <a:solidFill>
                  <a:srgbClr val="D3D3D3"/>
                </a:solidFill>
              </a:rPr>
              <a:t>Cisco Confidential</a:t>
            </a:r>
          </a:p>
        </p:txBody>
      </p:sp>
      <p:sp>
        <p:nvSpPr>
          <p:cNvPr id="7" name="Rectangle 280"/>
          <p:cNvSpPr>
            <a:spLocks noChangeArrowheads="1"/>
          </p:cNvSpPr>
          <p:nvPr/>
        </p:nvSpPr>
        <p:spPr bwMode="auto">
          <a:xfrm>
            <a:off x="193675" y="6672263"/>
            <a:ext cx="96202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88">
              <a:lnSpc>
                <a:spcPct val="100000"/>
              </a:lnSpc>
            </a:pPr>
            <a:r>
              <a:rPr lang="en-US" sz="700">
                <a:solidFill>
                  <a:srgbClr val="D3D3D3"/>
                </a:solidFill>
              </a:rPr>
              <a:t>Presentation_ID</a:t>
            </a:r>
          </a:p>
        </p:txBody>
      </p:sp>
      <p:sp>
        <p:nvSpPr>
          <p:cNvPr id="8" name="Rectangle 281"/>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fld id="{7F1BC4EF-034A-F647-AA58-B71D58802FDB}" type="slidenum">
              <a:rPr lang="en-US" sz="1000">
                <a:solidFill>
                  <a:srgbClr val="D3D3D3"/>
                </a:solidFill>
              </a:rPr>
              <a:pPr algn="r" defTabSz="814388">
                <a:lnSpc>
                  <a:spcPct val="100000"/>
                </a:lnSpc>
              </a:pPr>
              <a:t>‹#›</a:t>
            </a:fld>
            <a:endParaRPr lang="en-US" sz="1000">
              <a:solidFill>
                <a:srgbClr val="D3D3D3"/>
              </a:solidFill>
            </a:endParaRPr>
          </a:p>
        </p:txBody>
      </p:sp>
      <p:pic>
        <p:nvPicPr>
          <p:cNvPr id="9" name="Picture 331" descr="Cisco_New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483225" y="5940425"/>
            <a:ext cx="3354388"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33" descr="Cisc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63" y="119063"/>
            <a:ext cx="11715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873" name="Rectangle 209"/>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dirty="0"/>
              <a:t>Click to edit Master title style</a:t>
            </a:r>
          </a:p>
        </p:txBody>
      </p:sp>
      <p:sp>
        <p:nvSpPr>
          <p:cNvPr id="369874" name="Rectangle 210"/>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dirty="0"/>
              <a:t>Click to edit Master subtitle style</a:t>
            </a:r>
          </a:p>
        </p:txBody>
      </p:sp>
    </p:spTree>
    <p:extLst>
      <p:ext uri="{BB962C8B-B14F-4D97-AF65-F5344CB8AC3E}">
        <p14:creationId xmlns:p14="http://schemas.microsoft.com/office/powerpoint/2010/main" val="884885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2pPr marL="457200" indent="-228600">
              <a:buFont typeface="Arial" panose="020B0604020202020204" pitchFamily="34" charset="0"/>
              <a:buChar char="•"/>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61047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228517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2319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4373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8482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5695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542533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374911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86291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1607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5638" y="798513"/>
            <a:ext cx="81454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82124" tIns="41061" rIns="82124" bIns="41061" numCol="1" anchor="b" anchorCtr="0" compatLnSpc="1">
            <a:prstTxWarp prst="textNoShape">
              <a:avLst/>
            </a:prstTxWarp>
          </a:bodyPr>
          <a:lstStyle/>
          <a:p>
            <a:pPr lvl="0"/>
            <a:r>
              <a:rPr lang="en-US"/>
              <a:t>Slide Title</a:t>
            </a:r>
          </a:p>
        </p:txBody>
      </p:sp>
      <p:sp>
        <p:nvSpPr>
          <p:cNvPr id="1027" name="Rectangle 4"/>
          <p:cNvSpPr>
            <a:spLocks noChangeArrowheads="1"/>
          </p:cNvSpPr>
          <p:nvPr/>
        </p:nvSpPr>
        <p:spPr bwMode="auto">
          <a:xfrm>
            <a:off x="193675" y="6562725"/>
            <a:ext cx="96202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88">
              <a:lnSpc>
                <a:spcPct val="100000"/>
              </a:lnSpc>
            </a:pPr>
            <a:r>
              <a:rPr lang="en-US" sz="700" dirty="0">
                <a:solidFill>
                  <a:srgbClr val="D3D3D3"/>
                </a:solidFill>
              </a:rPr>
              <a:t>ITE PC v4.1</a:t>
            </a:r>
          </a:p>
          <a:p>
            <a:pPr algn="l" defTabSz="814388">
              <a:lnSpc>
                <a:spcPct val="100000"/>
              </a:lnSpc>
            </a:pPr>
            <a:r>
              <a:rPr lang="en-US" sz="700" dirty="0">
                <a:solidFill>
                  <a:srgbClr val="D3D3D3"/>
                </a:solidFill>
              </a:rPr>
              <a:t>Chapter 6</a:t>
            </a:r>
          </a:p>
        </p:txBody>
      </p:sp>
      <p:sp>
        <p:nvSpPr>
          <p:cNvPr id="1028" name="Rectangle 5"/>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fld id="{28856D66-2D7E-BA44-8BF8-F720D8CAD36C}" type="slidenum">
              <a:rPr lang="en-US" sz="1000">
                <a:solidFill>
                  <a:srgbClr val="D3D3D3"/>
                </a:solidFill>
              </a:rPr>
              <a:pPr algn="r" defTabSz="814388">
                <a:lnSpc>
                  <a:spcPct val="100000"/>
                </a:lnSpc>
              </a:pPr>
              <a:t>‹#›</a:t>
            </a:fld>
            <a:endParaRPr lang="en-US" sz="1000">
              <a:solidFill>
                <a:srgbClr val="D3D3D3"/>
              </a:solidFill>
            </a:endParaRPr>
          </a:p>
        </p:txBody>
      </p:sp>
      <p:sp>
        <p:nvSpPr>
          <p:cNvPr id="1029" name="Rectangle 6"/>
          <p:cNvSpPr>
            <a:spLocks noGrp="1" noChangeArrowheads="1"/>
          </p:cNvSpPr>
          <p:nvPr>
            <p:ph type="body" idx="1"/>
          </p:nvPr>
        </p:nvSpPr>
        <p:spPr bwMode="auto">
          <a:xfrm>
            <a:off x="636398" y="2078328"/>
            <a:ext cx="7940675" cy="3950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82124" tIns="41061" rIns="82124" bIns="41061"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pic>
        <p:nvPicPr>
          <p:cNvPr id="1030" name="Picture 7" descr="PPt_TopBand_Artwork"/>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0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Rectangle 8"/>
          <p:cNvSpPr>
            <a:spLocks noChangeArrowheads="1"/>
          </p:cNvSpPr>
          <p:nvPr/>
        </p:nvSpPr>
        <p:spPr bwMode="auto">
          <a:xfrm>
            <a:off x="4498975" y="6670675"/>
            <a:ext cx="234791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88">
              <a:lnSpc>
                <a:spcPct val="100000"/>
              </a:lnSpc>
            </a:pPr>
            <a:r>
              <a:rPr lang="en-US" sz="700">
                <a:solidFill>
                  <a:srgbClr val="D3D3D3"/>
                </a:solidFill>
              </a:rPr>
              <a:t>© 2007 – 2010, Cisco Systems, Inc. All rights reserved.</a:t>
            </a:r>
          </a:p>
        </p:txBody>
      </p:sp>
      <p:sp>
        <p:nvSpPr>
          <p:cNvPr id="1032" name="Rectangle 9"/>
          <p:cNvSpPr>
            <a:spLocks noChangeArrowheads="1"/>
          </p:cNvSpPr>
          <p:nvPr/>
        </p:nvSpPr>
        <p:spPr bwMode="auto">
          <a:xfrm>
            <a:off x="7123113" y="6672263"/>
            <a:ext cx="6508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r>
              <a:rPr lang="en-US" sz="700">
                <a:solidFill>
                  <a:srgbClr val="D3D3D3"/>
                </a:solidFill>
              </a:rPr>
              <a:t>Cisco Public</a:t>
            </a:r>
          </a:p>
        </p:txBody>
      </p:sp>
    </p:spTree>
  </p:cSld>
  <p:clrMap bg1="lt1" tx1="dk1" bg2="lt2" tx2="dk2" accent1="accent1" accent2="accent2" accent3="accent3" accent4="accent4" accent5="accent5" accent6="accent6" hlink="hlink" folHlink="folHlink"/>
  <p:sldLayoutIdLst>
    <p:sldLayoutId id="2147484055"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Lst>
  <p:txStyles>
    <p:titleStyle>
      <a:lvl1pPr algn="l" defTabSz="814388" rtl="0" eaLnBrk="0" fontAlgn="base" hangingPunct="0">
        <a:lnSpc>
          <a:spcPct val="90000"/>
        </a:lnSpc>
        <a:spcBef>
          <a:spcPct val="0"/>
        </a:spcBef>
        <a:spcAft>
          <a:spcPct val="0"/>
        </a:spcAft>
        <a:defRPr sz="3200" b="1">
          <a:solidFill>
            <a:srgbClr val="708CA1"/>
          </a:solidFill>
          <a:latin typeface="+mj-lt"/>
          <a:ea typeface="ＭＳ Ｐゴシック" charset="0"/>
          <a:cs typeface="ＭＳ Ｐゴシック" charset="0"/>
        </a:defRPr>
      </a:lvl1pPr>
      <a:lvl2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2pPr>
      <a:lvl3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3pPr>
      <a:lvl4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4pPr>
      <a:lvl5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5pPr>
      <a:lvl6pPr marL="457200" algn="l" defTabSz="814388" rtl="0" fontAlgn="base">
        <a:lnSpc>
          <a:spcPct val="90000"/>
        </a:lnSpc>
        <a:spcBef>
          <a:spcPct val="0"/>
        </a:spcBef>
        <a:spcAft>
          <a:spcPct val="0"/>
        </a:spcAft>
        <a:defRPr sz="3200" b="1">
          <a:solidFill>
            <a:srgbClr val="708CA1"/>
          </a:solidFill>
          <a:latin typeface="Arial" charset="0"/>
        </a:defRPr>
      </a:lvl6pPr>
      <a:lvl7pPr marL="914400" algn="l" defTabSz="814388" rtl="0" fontAlgn="base">
        <a:lnSpc>
          <a:spcPct val="90000"/>
        </a:lnSpc>
        <a:spcBef>
          <a:spcPct val="0"/>
        </a:spcBef>
        <a:spcAft>
          <a:spcPct val="0"/>
        </a:spcAft>
        <a:defRPr sz="3200" b="1">
          <a:solidFill>
            <a:srgbClr val="708CA1"/>
          </a:solidFill>
          <a:latin typeface="Arial" charset="0"/>
        </a:defRPr>
      </a:lvl7pPr>
      <a:lvl8pPr marL="1371600" algn="l" defTabSz="814388" rtl="0" fontAlgn="base">
        <a:lnSpc>
          <a:spcPct val="90000"/>
        </a:lnSpc>
        <a:spcBef>
          <a:spcPct val="0"/>
        </a:spcBef>
        <a:spcAft>
          <a:spcPct val="0"/>
        </a:spcAft>
        <a:defRPr sz="3200" b="1">
          <a:solidFill>
            <a:srgbClr val="708CA1"/>
          </a:solidFill>
          <a:latin typeface="Arial" charset="0"/>
        </a:defRPr>
      </a:lvl8pPr>
      <a:lvl9pPr marL="1828800" algn="l" defTabSz="814388" rtl="0" fontAlgn="base">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0" fontAlgn="base" hangingPunct="0">
        <a:lnSpc>
          <a:spcPct val="95000"/>
        </a:lnSpc>
        <a:spcBef>
          <a:spcPct val="35000"/>
        </a:spcBef>
        <a:spcAft>
          <a:spcPct val="0"/>
        </a:spcAft>
        <a:buClr>
          <a:srgbClr val="708CA1"/>
        </a:buClr>
        <a:defRPr sz="2000">
          <a:solidFill>
            <a:schemeClr val="tx1"/>
          </a:solidFill>
          <a:latin typeface="+mn-lt"/>
        </a:defRPr>
      </a:lvl6pPr>
      <a:lvl7pPr marL="2519363" algn="l" defTabSz="814388" rtl="0" eaLnBrk="0" fontAlgn="base" hangingPunct="0">
        <a:lnSpc>
          <a:spcPct val="95000"/>
        </a:lnSpc>
        <a:spcBef>
          <a:spcPct val="35000"/>
        </a:spcBef>
        <a:spcAft>
          <a:spcPct val="0"/>
        </a:spcAft>
        <a:buClr>
          <a:srgbClr val="708CA1"/>
        </a:buClr>
        <a:defRPr sz="2000">
          <a:solidFill>
            <a:schemeClr val="tx1"/>
          </a:solidFill>
          <a:latin typeface="+mn-lt"/>
        </a:defRPr>
      </a:lvl7pPr>
      <a:lvl8pPr marL="2976563" algn="l" defTabSz="814388" rtl="0" eaLnBrk="0" fontAlgn="base" hangingPunct="0">
        <a:lnSpc>
          <a:spcPct val="95000"/>
        </a:lnSpc>
        <a:spcBef>
          <a:spcPct val="35000"/>
        </a:spcBef>
        <a:spcAft>
          <a:spcPct val="0"/>
        </a:spcAft>
        <a:buClr>
          <a:srgbClr val="708CA1"/>
        </a:buClr>
        <a:defRPr sz="2000">
          <a:solidFill>
            <a:schemeClr val="tx1"/>
          </a:solidFill>
          <a:latin typeface="+mn-lt"/>
        </a:defRPr>
      </a:lvl8pPr>
      <a:lvl9pPr marL="3433763" algn="l" defTabSz="814388" rtl="0" eaLnBrk="0" fontAlgn="base" hangingPunct="0">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6146"/>
          <p:cNvSpPr>
            <a:spLocks noGrp="1" noChangeArrowheads="1"/>
          </p:cNvSpPr>
          <p:nvPr>
            <p:ph type="title"/>
          </p:nvPr>
        </p:nvSpPr>
        <p:spPr bwMode="auto">
          <a:xfrm>
            <a:off x="193868" y="394392"/>
            <a:ext cx="877215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82124" tIns="41061" rIns="82124" bIns="41061" numCol="1" anchor="b" anchorCtr="0" compatLnSpc="1">
            <a:prstTxWarp prst="textNoShape">
              <a:avLst/>
            </a:prstTxWarp>
          </a:bodyPr>
          <a:lstStyle/>
          <a:p>
            <a:pPr lvl="0"/>
            <a:r>
              <a:rPr lang="en-US"/>
              <a:t>Slide Title</a:t>
            </a:r>
          </a:p>
        </p:txBody>
      </p:sp>
      <p:sp>
        <p:nvSpPr>
          <p:cNvPr id="3075" name="Rectangle 6281"/>
          <p:cNvSpPr>
            <a:spLocks noChangeArrowheads="1"/>
          </p:cNvSpPr>
          <p:nvPr/>
        </p:nvSpPr>
        <p:spPr bwMode="auto">
          <a:xfrm>
            <a:off x="193675" y="6672263"/>
            <a:ext cx="96202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88">
              <a:lnSpc>
                <a:spcPct val="100000"/>
              </a:lnSpc>
            </a:pPr>
            <a:r>
              <a:rPr lang="en-US" sz="700">
                <a:solidFill>
                  <a:srgbClr val="D3D3D3"/>
                </a:solidFill>
              </a:rPr>
              <a:t>Presentation_ID</a:t>
            </a:r>
          </a:p>
        </p:txBody>
      </p:sp>
      <p:sp>
        <p:nvSpPr>
          <p:cNvPr id="3076" name="Rectangle 6282"/>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fld id="{6084AB3D-AE30-934E-B0BC-A74C2CCEE444}" type="slidenum">
              <a:rPr lang="en-US" sz="1000">
                <a:solidFill>
                  <a:srgbClr val="D3D3D3"/>
                </a:solidFill>
              </a:rPr>
              <a:pPr algn="r" defTabSz="814388">
                <a:lnSpc>
                  <a:spcPct val="100000"/>
                </a:lnSpc>
              </a:pPr>
              <a:t>‹#›</a:t>
            </a:fld>
            <a:endParaRPr lang="en-US" sz="1000">
              <a:solidFill>
                <a:srgbClr val="D3D3D3"/>
              </a:solidFill>
            </a:endParaRPr>
          </a:p>
        </p:txBody>
      </p:sp>
      <p:sp>
        <p:nvSpPr>
          <p:cNvPr id="3077" name="Rectangle 6284"/>
          <p:cNvSpPr>
            <a:spLocks noGrp="1" noChangeArrowheads="1"/>
          </p:cNvSpPr>
          <p:nvPr>
            <p:ph type="body" idx="1"/>
          </p:nvPr>
        </p:nvSpPr>
        <p:spPr bwMode="auto">
          <a:xfrm>
            <a:off x="213109" y="1539502"/>
            <a:ext cx="8733677" cy="4926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82124" tIns="41061" rIns="82124" bIns="41061"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78" name="Rectangle 6312"/>
          <p:cNvSpPr>
            <a:spLocks noChangeArrowheads="1"/>
          </p:cNvSpPr>
          <p:nvPr/>
        </p:nvSpPr>
        <p:spPr bwMode="auto">
          <a:xfrm>
            <a:off x="4498975" y="6672263"/>
            <a:ext cx="20224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88">
              <a:lnSpc>
                <a:spcPct val="100000"/>
              </a:lnSpc>
            </a:pPr>
            <a:r>
              <a:rPr lang="en-US" sz="700">
                <a:solidFill>
                  <a:srgbClr val="D3D3D3"/>
                </a:solidFill>
              </a:rPr>
              <a:t>© 2008 Cisco Systems, Inc. All rights reserved.</a:t>
            </a:r>
          </a:p>
        </p:txBody>
      </p:sp>
      <p:sp>
        <p:nvSpPr>
          <p:cNvPr id="3079" name="Rectangle 6313"/>
          <p:cNvSpPr>
            <a:spLocks noChangeArrowheads="1"/>
          </p:cNvSpPr>
          <p:nvPr/>
        </p:nvSpPr>
        <p:spPr bwMode="auto">
          <a:xfrm>
            <a:off x="6896100" y="6672263"/>
            <a:ext cx="877888"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r>
              <a:rPr lang="en-US" sz="700">
                <a:solidFill>
                  <a:srgbClr val="D3D3D3"/>
                </a:solidFill>
              </a:rPr>
              <a:t>Cisco Confidential</a:t>
            </a:r>
          </a:p>
        </p:txBody>
      </p:sp>
      <p:pic>
        <p:nvPicPr>
          <p:cNvPr id="3080" name="Picture 8" descr="Rev08_Cisco_BrandBar10_060408.png"/>
          <p:cNvPicPr>
            <a:picLocks noChangeAspect="1"/>
          </p:cNvPicPr>
          <p:nvPr/>
        </p:nvPicPr>
        <p:blipFill>
          <a:blip r:embed="rId13" cstate="email">
            <a:extLst>
              <a:ext uri="{28A0092B-C50C-407E-A947-70E740481C1C}">
                <a14:useLocalDpi xmlns:a14="http://schemas.microsoft.com/office/drawing/2010/main" val="0"/>
              </a:ext>
            </a:extLst>
          </a:blip>
          <a:srcRect/>
          <a:stretch>
            <a:fillRect/>
          </a:stretch>
        </p:blipFill>
        <p:spPr bwMode="auto">
          <a:xfrm>
            <a:off x="0" y="0"/>
            <a:ext cx="91440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56" r:id="rId1"/>
    <p:sldLayoutId id="2147484045" r:id="rId2"/>
    <p:sldLayoutId id="2147484046" r:id="rId3"/>
    <p:sldLayoutId id="2147484047" r:id="rId4"/>
    <p:sldLayoutId id="2147484048" r:id="rId5"/>
    <p:sldLayoutId id="2147484049" r:id="rId6"/>
    <p:sldLayoutId id="2147484050" r:id="rId7"/>
    <p:sldLayoutId id="2147484051" r:id="rId8"/>
    <p:sldLayoutId id="2147484052" r:id="rId9"/>
    <p:sldLayoutId id="2147484053" r:id="rId10"/>
    <p:sldLayoutId id="2147484054" r:id="rId11"/>
  </p:sldLayoutIdLst>
  <p:txStyles>
    <p:titleStyle>
      <a:lvl1pPr algn="l" defTabSz="814388" rtl="0" eaLnBrk="0" fontAlgn="base" hangingPunct="0">
        <a:lnSpc>
          <a:spcPct val="90000"/>
        </a:lnSpc>
        <a:spcBef>
          <a:spcPct val="0"/>
        </a:spcBef>
        <a:spcAft>
          <a:spcPct val="0"/>
        </a:spcAft>
        <a:defRPr sz="3200" b="1">
          <a:solidFill>
            <a:srgbClr val="708CA1"/>
          </a:solidFill>
          <a:latin typeface="+mj-lt"/>
          <a:ea typeface="ＭＳ Ｐゴシック" charset="0"/>
          <a:cs typeface="ＭＳ Ｐゴシック" charset="0"/>
        </a:defRPr>
      </a:lvl1pPr>
      <a:lvl2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2pPr>
      <a:lvl3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3pPr>
      <a:lvl4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4pPr>
      <a:lvl5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5pPr>
      <a:lvl6pPr marL="457200" algn="l" defTabSz="814388" rtl="0" eaLnBrk="1" fontAlgn="base" hangingPunct="1">
        <a:lnSpc>
          <a:spcPct val="90000"/>
        </a:lnSpc>
        <a:spcBef>
          <a:spcPct val="0"/>
        </a:spcBef>
        <a:spcAft>
          <a:spcPct val="0"/>
        </a:spcAft>
        <a:defRPr sz="3200" b="1">
          <a:solidFill>
            <a:srgbClr val="708CA1"/>
          </a:solidFill>
          <a:latin typeface="Arial" charset="0"/>
        </a:defRPr>
      </a:lvl6pPr>
      <a:lvl7pPr marL="914400" algn="l" defTabSz="814388" rtl="0" eaLnBrk="1" fontAlgn="base" hangingPunct="1">
        <a:lnSpc>
          <a:spcPct val="90000"/>
        </a:lnSpc>
        <a:spcBef>
          <a:spcPct val="0"/>
        </a:spcBef>
        <a:spcAft>
          <a:spcPct val="0"/>
        </a:spcAft>
        <a:defRPr sz="3200" b="1">
          <a:solidFill>
            <a:srgbClr val="708CA1"/>
          </a:solidFill>
          <a:latin typeface="Arial" charset="0"/>
        </a:defRPr>
      </a:lvl7pPr>
      <a:lvl8pPr marL="1371600" algn="l" defTabSz="814388" rtl="0" eaLnBrk="1" fontAlgn="base" hangingPunct="1">
        <a:lnSpc>
          <a:spcPct val="90000"/>
        </a:lnSpc>
        <a:spcBef>
          <a:spcPct val="0"/>
        </a:spcBef>
        <a:spcAft>
          <a:spcPct val="0"/>
        </a:spcAft>
        <a:defRPr sz="3200" b="1">
          <a:solidFill>
            <a:srgbClr val="708CA1"/>
          </a:solidFill>
          <a:latin typeface="Arial" charset="0"/>
        </a:defRPr>
      </a:lvl8pPr>
      <a:lvl9pPr marL="1828800" algn="l" defTabSz="814388" rtl="0" eaLnBrk="1" fontAlgn="base" hangingPunct="1">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ctrTitle"/>
          </p:nvPr>
        </p:nvSpPr>
        <p:spPr>
          <a:xfrm>
            <a:off x="311150" y="2263775"/>
            <a:ext cx="3854450" cy="1481138"/>
          </a:xfrm>
        </p:spPr>
        <p:txBody>
          <a:bodyPr/>
          <a:lstStyle/>
          <a:p>
            <a:pPr eaLnBrk="1" hangingPunct="1"/>
            <a:r>
              <a:rPr lang="en-US" sz="2400" dirty="0">
                <a:latin typeface="Arial" charset="0"/>
              </a:rPr>
              <a:t>Chapter 3a: VLANs</a:t>
            </a:r>
            <a:endParaRPr lang="en-US" sz="2400" dirty="0">
              <a:solidFill>
                <a:srgbClr val="00B0F0"/>
              </a:solidFill>
              <a:latin typeface="Arial" charset="0"/>
            </a:endParaRPr>
          </a:p>
        </p:txBody>
      </p:sp>
      <p:sp>
        <p:nvSpPr>
          <p:cNvPr id="3" name="Subtitle 2">
            <a:extLst>
              <a:ext uri="{FF2B5EF4-FFF2-40B4-BE49-F238E27FC236}">
                <a16:creationId xmlns:a16="http://schemas.microsoft.com/office/drawing/2014/main" id="{0BCFC2FB-7FEC-436B-8429-E456199B4FCE}"/>
              </a:ext>
            </a:extLst>
          </p:cNvPr>
          <p:cNvSpPr>
            <a:spLocks noGrp="1"/>
          </p:cNvSpPr>
          <p:nvPr>
            <p:ph type="subTitle" idx="1"/>
          </p:nvPr>
        </p:nvSpPr>
        <p:spPr/>
        <p:txBody>
          <a:bodyPr/>
          <a:lstStyle/>
          <a:p>
            <a:endParaRPr lang="en-SG"/>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Overview of VLANs</a:t>
            </a:r>
            <a:br>
              <a:rPr lang="en-US" dirty="0">
                <a:latin typeface="Arial" charset="0"/>
              </a:rPr>
            </a:br>
            <a:r>
              <a:rPr lang="en-US" dirty="0">
                <a:latin typeface="Arial" charset="0"/>
              </a:rPr>
              <a:t>Types of VLANs (cont.)</a:t>
            </a:r>
            <a:endParaRPr lang="en-US" dirty="0">
              <a:solidFill>
                <a:srgbClr val="00B0F0"/>
              </a:solidFill>
              <a:latin typeface="Arial"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236" y="1352550"/>
            <a:ext cx="6443138" cy="497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64388934"/>
      </p:ext>
    </p:extLst>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VLANs in a Multi-Switched Environment</a:t>
            </a:r>
            <a:br>
              <a:rPr lang="en-US" dirty="0">
                <a:latin typeface="Arial" charset="0"/>
              </a:rPr>
            </a:br>
            <a:r>
              <a:rPr lang="en-US" dirty="0">
                <a:latin typeface="Arial" charset="0"/>
              </a:rPr>
              <a:t>VLAN Trunks</a:t>
            </a:r>
            <a:endParaRPr lang="en-US" dirty="0">
              <a:solidFill>
                <a:srgbClr val="00B0F0"/>
              </a:solidFill>
              <a:latin typeface="Arial" charset="0"/>
            </a:endParaRPr>
          </a:p>
        </p:txBody>
      </p:sp>
      <p:sp>
        <p:nvSpPr>
          <p:cNvPr id="5" name="Content Placeholder 4"/>
          <p:cNvSpPr>
            <a:spLocks noGrp="1"/>
          </p:cNvSpPr>
          <p:nvPr>
            <p:ph idx="1"/>
          </p:nvPr>
        </p:nvSpPr>
        <p:spPr>
          <a:xfrm>
            <a:off x="1203960" y="5593079"/>
            <a:ext cx="7238999" cy="634983"/>
          </a:xfrm>
        </p:spPr>
        <p:txBody>
          <a:bodyPr/>
          <a:lstStyle/>
          <a:p>
            <a:pPr marL="0" indent="0">
              <a:buNone/>
            </a:pPr>
            <a:r>
              <a:rPr lang="en-US" sz="1600" dirty="0"/>
              <a:t>The links between switches S1 and S2, and S1 and S3 are configured to transmit traffic coming from VLANs 10, 20, 30, and 99 across the network. This network could not function without VLAN trunks.</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5389" y="1247301"/>
            <a:ext cx="5912686" cy="4110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34825791"/>
      </p:ext>
    </p:extLst>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VLANs in a Multi-Switched Environment</a:t>
            </a:r>
            <a:br>
              <a:rPr lang="en-US" dirty="0">
                <a:latin typeface="Arial" charset="0"/>
              </a:rPr>
            </a:br>
            <a:r>
              <a:rPr lang="en-US" dirty="0">
                <a:latin typeface="Arial" charset="0"/>
              </a:rPr>
              <a:t>VLAN Trunks (cont.)</a:t>
            </a:r>
            <a:endParaRPr lang="en-US" dirty="0">
              <a:solidFill>
                <a:srgbClr val="00B0F0"/>
              </a:solidFill>
              <a:latin typeface="Arial" charset="0"/>
            </a:endParaRPr>
          </a:p>
        </p:txBody>
      </p:sp>
      <p:sp>
        <p:nvSpPr>
          <p:cNvPr id="2" name="Content Placeholder 1"/>
          <p:cNvSpPr>
            <a:spLocks noGrp="1"/>
          </p:cNvSpPr>
          <p:nvPr>
            <p:ph idx="1"/>
          </p:nvPr>
        </p:nvSpPr>
        <p:spPr>
          <a:xfrm>
            <a:off x="213110" y="1554480"/>
            <a:ext cx="8752915" cy="4771892"/>
          </a:xfrm>
        </p:spPr>
        <p:txBody>
          <a:bodyPr/>
          <a:lstStyle/>
          <a:p>
            <a:r>
              <a:rPr lang="en-US" sz="2000" dirty="0"/>
              <a:t>A VLAN trunk is a point-to-point link that carries more than one VLAN.</a:t>
            </a:r>
          </a:p>
          <a:p>
            <a:r>
              <a:rPr lang="en-US" sz="2000" dirty="0"/>
              <a:t>A VLAN trunk is usually established between switches so same-VLAN devices can communicate, even if physically connected to different switches.</a:t>
            </a:r>
          </a:p>
          <a:p>
            <a:r>
              <a:rPr lang="en-US" sz="2000" dirty="0"/>
              <a:t>A VLAN trunk is not associated to any VLANs; neither is the trunk ports used to establish the trunk link.</a:t>
            </a:r>
          </a:p>
          <a:p>
            <a:r>
              <a:rPr lang="en-US" sz="2000" dirty="0"/>
              <a:t>Cisco IOS supports IEEE802.1q, a popular VLAN trunk protocol.</a:t>
            </a:r>
          </a:p>
        </p:txBody>
      </p:sp>
    </p:spTree>
    <p:extLst>
      <p:ext uri="{BB962C8B-B14F-4D97-AF65-F5344CB8AC3E}">
        <p14:creationId xmlns:p14="http://schemas.microsoft.com/office/powerpoint/2010/main" val="624581686"/>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Assignment</a:t>
            </a:r>
            <a:br>
              <a:rPr lang="en-US" dirty="0">
                <a:latin typeface="Arial" charset="0"/>
              </a:rPr>
            </a:br>
            <a:r>
              <a:rPr lang="en-US" dirty="0">
                <a:latin typeface="Arial" charset="0"/>
              </a:rPr>
              <a:t>VLAN Ranges on Catalyst Switches (cont.)</a:t>
            </a:r>
            <a:endParaRPr lang="en-US" dirty="0">
              <a:solidFill>
                <a:srgbClr val="00B0F0"/>
              </a:solidFill>
              <a:latin typeface="Arial" charset="0"/>
            </a:endParaRPr>
          </a:p>
        </p:txBody>
      </p:sp>
      <p:sp>
        <p:nvSpPr>
          <p:cNvPr id="2" name="Content Placeholder 1"/>
          <p:cNvSpPr>
            <a:spLocks noGrp="1"/>
          </p:cNvSpPr>
          <p:nvPr>
            <p:ph idx="1"/>
          </p:nvPr>
        </p:nvSpPr>
        <p:spPr>
          <a:xfrm>
            <a:off x="167390" y="1445952"/>
            <a:ext cx="8752915" cy="5093780"/>
          </a:xfrm>
        </p:spPr>
        <p:txBody>
          <a:bodyPr/>
          <a:lstStyle/>
          <a:p>
            <a:r>
              <a:rPr lang="en-US" sz="2000" dirty="0"/>
              <a:t>Normal Range VLANs</a:t>
            </a:r>
            <a:endParaRPr lang="en-US" sz="1600" dirty="0"/>
          </a:p>
          <a:p>
            <a:endParaRPr lang="en-US" sz="2000"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131" y="1982153"/>
            <a:ext cx="7040154" cy="41290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53062988"/>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Assignment</a:t>
            </a:r>
            <a:br>
              <a:rPr lang="en-US" dirty="0">
                <a:latin typeface="Arial" charset="0"/>
              </a:rPr>
            </a:br>
            <a:r>
              <a:rPr lang="en-US" dirty="0">
                <a:latin typeface="Arial" charset="0"/>
              </a:rPr>
              <a:t>Creating a VLAN</a:t>
            </a:r>
            <a:endParaRPr lang="en-US" dirty="0">
              <a:solidFill>
                <a:srgbClr val="00B0F0"/>
              </a:solidFill>
              <a:latin typeface="Arial" charset="0"/>
            </a:endParaRPr>
          </a:p>
        </p:txBody>
      </p:sp>
      <p:pic>
        <p:nvPicPr>
          <p:cNvPr id="1331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18348" y="1360329"/>
            <a:ext cx="4391025" cy="1562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3108" y="3090862"/>
            <a:ext cx="4595812" cy="3155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7143955"/>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Assignment</a:t>
            </a:r>
            <a:br>
              <a:rPr lang="en-US" dirty="0">
                <a:latin typeface="Arial" charset="0"/>
              </a:rPr>
            </a:br>
            <a:r>
              <a:rPr lang="en-US" dirty="0">
                <a:latin typeface="Arial" charset="0"/>
              </a:rPr>
              <a:t>Assigning Ports to VLANs</a:t>
            </a:r>
            <a:endParaRPr lang="en-US" dirty="0">
              <a:solidFill>
                <a:srgbClr val="00B0F0"/>
              </a:solidFill>
              <a:latin typeface="Arial" charset="0"/>
            </a:endParaRP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 y="1283970"/>
            <a:ext cx="4994910" cy="33299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789045"/>
            <a:ext cx="4095750" cy="2724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04426902"/>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Assignment</a:t>
            </a:r>
            <a:br>
              <a:rPr lang="en-US" dirty="0">
                <a:latin typeface="Arial" charset="0"/>
              </a:rPr>
            </a:br>
            <a:r>
              <a:rPr lang="en-US" dirty="0">
                <a:latin typeface="Arial" charset="0"/>
              </a:rPr>
              <a:t>Changing VLAN Port Membership</a:t>
            </a:r>
            <a:endParaRPr lang="en-US" dirty="0">
              <a:solidFill>
                <a:srgbClr val="00B0F0"/>
              </a:solidFill>
              <a:latin typeface="Arial" charset="0"/>
            </a:endParaRPr>
          </a:p>
        </p:txBody>
      </p:sp>
      <p:sp>
        <p:nvSpPr>
          <p:cNvPr id="2" name="Content Placeholder 1"/>
          <p:cNvSpPr>
            <a:spLocks noGrp="1"/>
          </p:cNvSpPr>
          <p:nvPr>
            <p:ph idx="1"/>
          </p:nvPr>
        </p:nvSpPr>
        <p:spPr>
          <a:xfrm>
            <a:off x="213360" y="1263072"/>
            <a:ext cx="8752915" cy="5093780"/>
          </a:xfrm>
        </p:spPr>
        <p:txBody>
          <a:bodyPr/>
          <a:lstStyle/>
          <a:p>
            <a:r>
              <a:rPr lang="en-US" sz="1600" dirty="0"/>
              <a:t>Remove VLAN Assignment</a:t>
            </a:r>
          </a:p>
          <a:p>
            <a:endParaRPr lang="en-US" sz="2000" dirty="0"/>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9264" y="1531670"/>
            <a:ext cx="5601576" cy="1842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228600" y="3373799"/>
            <a:ext cx="7848600" cy="560153"/>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charset="0"/>
              <a:buChar char="§"/>
            </a:pPr>
            <a:r>
              <a:rPr lang="en-US" sz="1600" dirty="0">
                <a:latin typeface="+mn-lt"/>
              </a:rPr>
              <a:t>Interface F0/18 was previously assigned to VLAN 20 which is still active, F0/18 reset to VLAN1 </a:t>
            </a:r>
          </a:p>
        </p:txBody>
      </p:sp>
      <p:pic>
        <p:nvPicPr>
          <p:cNvPr id="15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4679" y="3653875"/>
            <a:ext cx="4244001" cy="3049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805956"/>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Assignment</a:t>
            </a:r>
            <a:br>
              <a:rPr lang="en-US" dirty="0">
                <a:latin typeface="Arial" charset="0"/>
              </a:rPr>
            </a:br>
            <a:r>
              <a:rPr lang="en-US" dirty="0">
                <a:latin typeface="Arial" charset="0"/>
              </a:rPr>
              <a:t>Changing VLAN Port Membership (cont.)</a:t>
            </a:r>
            <a:endParaRPr lang="en-US" dirty="0">
              <a:solidFill>
                <a:srgbClr val="00B0F0"/>
              </a:solidFill>
              <a:latin typeface="Arial" charset="0"/>
            </a:endParaRPr>
          </a:p>
        </p:txBody>
      </p:sp>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 y="1776412"/>
            <a:ext cx="7140870" cy="42281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3196071"/>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Assignment</a:t>
            </a:r>
            <a:br>
              <a:rPr lang="en-US" dirty="0">
                <a:latin typeface="Arial" charset="0"/>
              </a:rPr>
            </a:br>
            <a:r>
              <a:rPr lang="en-US" dirty="0">
                <a:latin typeface="Arial" charset="0"/>
              </a:rPr>
              <a:t>Changing VLAN Port Membership (cont.)</a:t>
            </a:r>
            <a:endParaRPr lang="en-US" dirty="0">
              <a:solidFill>
                <a:srgbClr val="00B0F0"/>
              </a:solidFill>
              <a:latin typeface="Arial" charset="0"/>
            </a:endParaRP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2568" y="1599248"/>
            <a:ext cx="5325992" cy="4740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5357164"/>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Assignment</a:t>
            </a:r>
            <a:br>
              <a:rPr lang="en-US" dirty="0">
                <a:latin typeface="Arial" charset="0"/>
              </a:rPr>
            </a:br>
            <a:r>
              <a:rPr lang="en-US" dirty="0">
                <a:latin typeface="Arial" charset="0"/>
              </a:rPr>
              <a:t>Deleting VLANs</a:t>
            </a:r>
            <a:endParaRPr lang="en-US" dirty="0">
              <a:solidFill>
                <a:srgbClr val="00B0F0"/>
              </a:solidFill>
              <a:latin typeface="Arial" charset="0"/>
            </a:endParaRPr>
          </a:p>
        </p:txBody>
      </p:sp>
      <p:sp>
        <p:nvSpPr>
          <p:cNvPr id="2" name="Content Placeholder 1"/>
          <p:cNvSpPr>
            <a:spLocks noGrp="1"/>
          </p:cNvSpPr>
          <p:nvPr>
            <p:ph idx="1"/>
          </p:nvPr>
        </p:nvSpPr>
        <p:spPr>
          <a:xfrm>
            <a:off x="335280" y="5079683"/>
            <a:ext cx="8473440" cy="1366837"/>
          </a:xfrm>
        </p:spPr>
        <p:txBody>
          <a:bodyPr/>
          <a:lstStyle/>
          <a:p>
            <a:r>
              <a:rPr lang="en-US" sz="2000" dirty="0"/>
              <a:t>The entire vlan.dat file can be deleted using the</a:t>
            </a:r>
            <a:r>
              <a:rPr lang="en-US" sz="2000" b="1" dirty="0"/>
              <a:t> delete </a:t>
            </a:r>
            <a:r>
              <a:rPr lang="en-US" sz="2000" b="1" dirty="0" err="1"/>
              <a:t>flash:vlan.dat</a:t>
            </a:r>
            <a:r>
              <a:rPr lang="en-US" sz="2000" b="1" dirty="0"/>
              <a:t> </a:t>
            </a:r>
            <a:r>
              <a:rPr lang="en-US" sz="2000" dirty="0"/>
              <a:t>privileged EXEC mode command </a:t>
            </a:r>
          </a:p>
          <a:p>
            <a:r>
              <a:rPr lang="en-US" sz="2000" dirty="0"/>
              <a:t>Abbreviated command version (</a:t>
            </a:r>
            <a:r>
              <a:rPr lang="en-US" sz="2000" b="1" dirty="0"/>
              <a:t>delete vlan.dat</a:t>
            </a:r>
            <a:r>
              <a:rPr lang="en-US" sz="2000" dirty="0"/>
              <a:t>) can be used if the vlan.dat file has not been moved from its default location</a:t>
            </a:r>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7387" y="1260158"/>
            <a:ext cx="5229225" cy="381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86590341"/>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Assignment</a:t>
            </a:r>
            <a:br>
              <a:rPr lang="en-US" dirty="0">
                <a:latin typeface="Arial" charset="0"/>
              </a:rPr>
            </a:br>
            <a:r>
              <a:rPr lang="en-US" dirty="0">
                <a:latin typeface="Arial" charset="0"/>
              </a:rPr>
              <a:t>Verifying VLAN Information</a:t>
            </a:r>
            <a:endParaRPr lang="en-US" dirty="0">
              <a:solidFill>
                <a:srgbClr val="00B0F0"/>
              </a:solidFill>
              <a:latin typeface="Arial" charset="0"/>
            </a:endParaRP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5960" y="1228723"/>
            <a:ext cx="5318760" cy="5491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6029793"/>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Assignment</a:t>
            </a:r>
            <a:br>
              <a:rPr lang="en-US" dirty="0">
                <a:latin typeface="Arial" charset="0"/>
              </a:rPr>
            </a:br>
            <a:r>
              <a:rPr lang="en-US" dirty="0">
                <a:latin typeface="Arial" charset="0"/>
              </a:rPr>
              <a:t>Verifying VLAN Information (cont.)</a:t>
            </a:r>
            <a:endParaRPr lang="en-US" dirty="0">
              <a:solidFill>
                <a:srgbClr val="00B0F0"/>
              </a:solidFill>
              <a:latin typeface="Arial" charset="0"/>
            </a:endParaRP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347788"/>
            <a:ext cx="4604471" cy="3376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5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3361" y="2758826"/>
            <a:ext cx="5063490" cy="39311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5988037"/>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Trunks</a:t>
            </a:r>
            <a:br>
              <a:rPr lang="en-US" dirty="0">
                <a:latin typeface="Arial" charset="0"/>
              </a:rPr>
            </a:br>
            <a:r>
              <a:rPr lang="en-US" dirty="0">
                <a:ea typeface="ＭＳ Ｐゴシック" pitchFamily="34" charset="-128"/>
              </a:rPr>
              <a:t>Configuring IEEE 802.1q Trunk Links</a:t>
            </a:r>
            <a:endParaRPr lang="en-US" dirty="0">
              <a:solidFill>
                <a:srgbClr val="00B0F0"/>
              </a:solidFill>
              <a:latin typeface="Arial" charset="0"/>
            </a:endParaRP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120" y="1173480"/>
            <a:ext cx="6681400" cy="422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5947" y="5362574"/>
            <a:ext cx="5229225" cy="1495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14380033"/>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Assignment</a:t>
            </a:r>
            <a:br>
              <a:rPr lang="en-US" dirty="0">
                <a:latin typeface="Arial" charset="0"/>
              </a:rPr>
            </a:br>
            <a:r>
              <a:rPr lang="en-US" dirty="0">
                <a:ea typeface="ＭＳ Ｐゴシック" pitchFamily="34" charset="-128"/>
              </a:rPr>
              <a:t>Configuring IEEE 802.1q Trunk Links (cont.)</a:t>
            </a:r>
            <a:endParaRPr lang="en-US" dirty="0">
              <a:solidFill>
                <a:srgbClr val="00B0F0"/>
              </a:solidFill>
              <a:latin typeface="Arial" charset="0"/>
            </a:endParaRPr>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3560" y="1437323"/>
            <a:ext cx="5351145" cy="5056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4614915"/>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Trunks</a:t>
            </a:r>
            <a:br>
              <a:rPr lang="en-US" dirty="0">
                <a:latin typeface="Arial" charset="0"/>
              </a:rPr>
            </a:br>
            <a:r>
              <a:rPr lang="en-US" dirty="0">
                <a:ea typeface="ＭＳ Ｐゴシック" pitchFamily="34" charset="-128"/>
              </a:rPr>
              <a:t>Resetting the Trunk to Default State</a:t>
            </a:r>
            <a:endParaRPr lang="en-US" dirty="0">
              <a:solidFill>
                <a:srgbClr val="00B0F0"/>
              </a:solidFill>
              <a:latin typeface="Arial" charset="0"/>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1171" y="1657350"/>
            <a:ext cx="6337894" cy="4255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0258883"/>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Trunks</a:t>
            </a:r>
            <a:br>
              <a:rPr lang="en-US" dirty="0">
                <a:latin typeface="Arial" charset="0"/>
              </a:rPr>
            </a:br>
            <a:r>
              <a:rPr lang="en-US" dirty="0">
                <a:ea typeface="ＭＳ Ｐゴシック" pitchFamily="34" charset="-128"/>
              </a:rPr>
              <a:t>Resetting the Trunk to Default State (cont.)</a:t>
            </a:r>
            <a:endParaRPr lang="en-US" dirty="0">
              <a:solidFill>
                <a:srgbClr val="00B0F0"/>
              </a:solidFill>
              <a:latin typeface="Arial" charset="0"/>
            </a:endParaRPr>
          </a:p>
        </p:txBody>
      </p:sp>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41132"/>
            <a:ext cx="5238750" cy="3762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8568" y="3322319"/>
            <a:ext cx="5000625" cy="3343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199372"/>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VLAN Trunks</a:t>
            </a:r>
            <a:br>
              <a:rPr lang="en-US" dirty="0">
                <a:latin typeface="Arial" charset="0"/>
              </a:rPr>
            </a:br>
            <a:r>
              <a:rPr lang="en-US" dirty="0">
                <a:ea typeface="ＭＳ Ｐゴシック" pitchFamily="34" charset="-128"/>
              </a:rPr>
              <a:t>Verifying Trunk Configuration</a:t>
            </a:r>
            <a:endParaRPr lang="en-US" dirty="0">
              <a:solidFill>
                <a:srgbClr val="00B0F0"/>
              </a:solidFill>
              <a:latin typeface="Arial" charset="0"/>
            </a:endParaRPr>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7110" y="1784984"/>
            <a:ext cx="5085695" cy="4570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0157893"/>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Troubleshoot VLANs and Trunks</a:t>
            </a:r>
            <a:br>
              <a:rPr lang="en-US" dirty="0">
                <a:latin typeface="Arial" charset="0"/>
              </a:rPr>
            </a:br>
            <a:r>
              <a:rPr lang="en-US" dirty="0">
                <a:ea typeface="ＭＳ Ｐゴシック" pitchFamily="34" charset="-128"/>
              </a:rPr>
              <a:t>IP Addressing Issues with VLANs</a:t>
            </a:r>
            <a:endParaRPr lang="en-US" dirty="0">
              <a:solidFill>
                <a:srgbClr val="00B0F0"/>
              </a:solidFill>
              <a:latin typeface="Arial" charset="0"/>
            </a:endParaRPr>
          </a:p>
        </p:txBody>
      </p:sp>
      <p:sp>
        <p:nvSpPr>
          <p:cNvPr id="2" name="Rectangle 1"/>
          <p:cNvSpPr/>
          <p:nvPr/>
        </p:nvSpPr>
        <p:spPr>
          <a:xfrm>
            <a:off x="243840" y="1222242"/>
            <a:ext cx="8656320" cy="2431435"/>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charset="0"/>
              <a:buChar char="§"/>
            </a:pPr>
            <a:r>
              <a:rPr lang="en-US" sz="2000" dirty="0">
                <a:latin typeface="+mn-lt"/>
              </a:rPr>
              <a:t>It is a common practice to associate a VLAN with an IP network.</a:t>
            </a:r>
          </a:p>
          <a:p>
            <a:pPr marL="236538" indent="-236538" algn="l" defTabSz="814388">
              <a:lnSpc>
                <a:spcPct val="95000"/>
              </a:lnSpc>
              <a:spcBef>
                <a:spcPct val="50000"/>
              </a:spcBef>
              <a:buClr>
                <a:srgbClr val="708CA1"/>
              </a:buClr>
              <a:buFont typeface="Wingdings" charset="0"/>
              <a:buChar char="§"/>
            </a:pPr>
            <a:r>
              <a:rPr lang="en-US" sz="2000" dirty="0">
                <a:latin typeface="+mn-lt"/>
              </a:rPr>
              <a:t>Because different IP networks only communicate through a router, all devices within a VLAN must be part of the same IP network to communicate.</a:t>
            </a:r>
          </a:p>
          <a:p>
            <a:pPr marL="236538" indent="-236538" algn="l" defTabSz="814388">
              <a:lnSpc>
                <a:spcPct val="95000"/>
              </a:lnSpc>
              <a:spcBef>
                <a:spcPct val="50000"/>
              </a:spcBef>
              <a:buClr>
                <a:srgbClr val="708CA1"/>
              </a:buClr>
              <a:buFont typeface="Wingdings" charset="0"/>
              <a:buChar char="§"/>
            </a:pPr>
            <a:r>
              <a:rPr lang="en-US" sz="2000" dirty="0">
                <a:latin typeface="+mn-lt"/>
              </a:rPr>
              <a:t>The figure displays that PC1 cannot communicate to the server because it has a wrong IP address configured.</a:t>
            </a:r>
          </a:p>
          <a:p>
            <a:pPr marL="342900" indent="-342900" algn="l">
              <a:buFont typeface="Arial" panose="020B0604020202020204" pitchFamily="34" charset="0"/>
              <a:buChar char="•"/>
            </a:pPr>
            <a:endParaRPr lang="en-US" sz="2000" dirty="0">
              <a:latin typeface="+mn-lt"/>
            </a:endParaRPr>
          </a:p>
        </p:txBody>
      </p:sp>
      <p:pic>
        <p:nvPicPr>
          <p:cNvPr id="256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8662" y="3291841"/>
            <a:ext cx="5327922" cy="3383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8552042"/>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Troubleshoot VLANs and Trunks</a:t>
            </a:r>
            <a:br>
              <a:rPr lang="en-US" dirty="0">
                <a:latin typeface="Arial" charset="0"/>
              </a:rPr>
            </a:br>
            <a:r>
              <a:rPr lang="en-US" dirty="0">
                <a:ea typeface="ＭＳ Ｐゴシック" pitchFamily="34" charset="-128"/>
              </a:rPr>
              <a:t>Missing VLANs</a:t>
            </a:r>
            <a:endParaRPr lang="en-US" dirty="0">
              <a:solidFill>
                <a:srgbClr val="00B0F0"/>
              </a:solidFill>
              <a:latin typeface="Arial" charset="0"/>
            </a:endParaRPr>
          </a:p>
        </p:txBody>
      </p:sp>
      <p:sp>
        <p:nvSpPr>
          <p:cNvPr id="2" name="Rectangle 1"/>
          <p:cNvSpPr/>
          <p:nvPr/>
        </p:nvSpPr>
        <p:spPr>
          <a:xfrm>
            <a:off x="243840" y="1222242"/>
            <a:ext cx="8656320" cy="954107"/>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charset="0"/>
              <a:buChar char="§"/>
            </a:pPr>
            <a:r>
              <a:rPr lang="en-US" sz="2000" dirty="0">
                <a:latin typeface="+mn-lt"/>
              </a:rPr>
              <a:t>If all the IP address mismatches have been solved, but the device still cannot connect, check if the VLAN exists in the switch.</a:t>
            </a:r>
          </a:p>
          <a:p>
            <a:pPr marL="342900" indent="-342900" algn="l">
              <a:buFont typeface="Arial" panose="020B0604020202020204" pitchFamily="34" charset="0"/>
              <a:buChar char="•"/>
            </a:pPr>
            <a:endParaRPr lang="en-US" sz="2000" dirty="0">
              <a:latin typeface="+mn-lt"/>
            </a:endParaRPr>
          </a:p>
        </p:txBody>
      </p:sp>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1669" y="1982153"/>
            <a:ext cx="6586960" cy="44643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2430795"/>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Troubleshoot VLANs and Trunks</a:t>
            </a:r>
            <a:br>
              <a:rPr lang="en-US" dirty="0">
                <a:latin typeface="Arial" charset="0"/>
              </a:rPr>
            </a:br>
            <a:r>
              <a:rPr lang="en-US" dirty="0">
                <a:ea typeface="ＭＳ Ｐゴシック" pitchFamily="34" charset="-128"/>
              </a:rPr>
              <a:t>Missing VLANs (cont.)</a:t>
            </a:r>
            <a:endParaRPr lang="en-US" dirty="0">
              <a:solidFill>
                <a:srgbClr val="00B0F0"/>
              </a:solidFill>
              <a:latin typeface="Arial" charset="0"/>
            </a:endParaRPr>
          </a:p>
        </p:txBody>
      </p:sp>
      <p:sp>
        <p:nvSpPr>
          <p:cNvPr id="2" name="Rectangle 1"/>
          <p:cNvSpPr/>
          <p:nvPr/>
        </p:nvSpPr>
        <p:spPr>
          <a:xfrm>
            <a:off x="213360" y="1222242"/>
            <a:ext cx="8656320" cy="1384995"/>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charset="0"/>
              <a:buChar char="§"/>
            </a:pPr>
            <a:r>
              <a:rPr lang="en-US" sz="1600" dirty="0"/>
              <a:t>If the VLAN to which a port belongs is deleted, the port becomes inactive. All ports belonging to the VLAN that was deleted are unable to communicate with the rest of the network. </a:t>
            </a:r>
          </a:p>
          <a:p>
            <a:pPr marL="236538" indent="-236538" algn="l" defTabSz="814388">
              <a:lnSpc>
                <a:spcPct val="95000"/>
              </a:lnSpc>
              <a:spcBef>
                <a:spcPct val="50000"/>
              </a:spcBef>
              <a:buClr>
                <a:srgbClr val="708CA1"/>
              </a:buClr>
              <a:buFont typeface="Wingdings" charset="0"/>
              <a:buChar char="§"/>
            </a:pPr>
            <a:r>
              <a:rPr lang="en-US" sz="1600" dirty="0"/>
              <a:t>Not functional until the missing VLAN is created using the</a:t>
            </a:r>
            <a:r>
              <a:rPr lang="en-US" sz="1600" b="1" dirty="0"/>
              <a:t> </a:t>
            </a:r>
            <a:r>
              <a:rPr lang="en-US" sz="1600" b="1" dirty="0" err="1"/>
              <a:t>vlan</a:t>
            </a:r>
            <a:r>
              <a:rPr lang="en-US" sz="1600" i="1" dirty="0"/>
              <a:t> </a:t>
            </a:r>
            <a:r>
              <a:rPr lang="en-US" sz="1600" i="1" dirty="0" err="1"/>
              <a:t>vlan_id</a:t>
            </a:r>
            <a:r>
              <a:rPr lang="en-US" sz="1600" i="1" dirty="0"/>
              <a:t> </a:t>
            </a:r>
            <a:r>
              <a:rPr lang="en-US" sz="1600" dirty="0"/>
              <a:t>global configuration. </a:t>
            </a:r>
            <a:endParaRPr lang="en-US" sz="1600" dirty="0">
              <a:latin typeface="+mn-lt"/>
            </a:endParaRPr>
          </a:p>
        </p:txBody>
      </p:sp>
      <p:pic>
        <p:nvPicPr>
          <p:cNvPr id="27650"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331720" y="2558035"/>
            <a:ext cx="4940158" cy="41026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97425425"/>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Troubleshoot VLANs and Trunks</a:t>
            </a:r>
            <a:br>
              <a:rPr lang="en-US" dirty="0">
                <a:latin typeface="Arial" charset="0"/>
              </a:rPr>
            </a:br>
            <a:r>
              <a:rPr lang="en-US" dirty="0">
                <a:ea typeface="ＭＳ Ｐゴシック" pitchFamily="34" charset="-128"/>
              </a:rPr>
              <a:t>Introduction to Troubleshooting Trunks</a:t>
            </a:r>
            <a:endParaRPr lang="en-US" dirty="0">
              <a:solidFill>
                <a:srgbClr val="00B0F0"/>
              </a:solidFill>
              <a:latin typeface="Arial" charset="0"/>
            </a:endParaRPr>
          </a:p>
        </p:txBody>
      </p:sp>
      <p:pic>
        <p:nvPicPr>
          <p:cNvPr id="286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6759" y="1315403"/>
            <a:ext cx="6075116" cy="37995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6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955" y="4977765"/>
            <a:ext cx="5200650" cy="174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5836920" y="4977765"/>
            <a:ext cx="2727960" cy="1495794"/>
          </a:xfrm>
          <a:prstGeom prst="rect">
            <a:avLst/>
          </a:prstGeom>
          <a:noFill/>
        </p:spPr>
        <p:txBody>
          <a:bodyPr wrap="square" rtlCol="0">
            <a:spAutoFit/>
          </a:bodyPr>
          <a:lstStyle/>
          <a:p>
            <a:pPr marL="228600" lvl="1" algn="l" defTabSz="814388">
              <a:lnSpc>
                <a:spcPct val="95000"/>
              </a:lnSpc>
              <a:spcBef>
                <a:spcPct val="35000"/>
              </a:spcBef>
              <a:buClr>
                <a:srgbClr val="708CA1"/>
              </a:buClr>
            </a:pPr>
            <a:r>
              <a:rPr lang="en-US" sz="1600" b="1" dirty="0">
                <a:latin typeface="+mn-lt"/>
              </a:rPr>
              <a:t>Note:</a:t>
            </a:r>
            <a:r>
              <a:rPr lang="en-US" sz="1600" dirty="0">
                <a:latin typeface="+mn-lt"/>
              </a:rPr>
              <a:t> To solve a native VLAN mismatch, configure the native VLAN to be the same VLAN on both sides of the link.</a:t>
            </a:r>
          </a:p>
        </p:txBody>
      </p:sp>
    </p:spTree>
    <p:extLst>
      <p:ext uri="{BB962C8B-B14F-4D97-AF65-F5344CB8AC3E}">
        <p14:creationId xmlns:p14="http://schemas.microsoft.com/office/powerpoint/2010/main" val="3452762467"/>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Troubleshoot VLANs and Trunks</a:t>
            </a:r>
            <a:br>
              <a:rPr lang="en-US" dirty="0">
                <a:latin typeface="Arial" charset="0"/>
              </a:rPr>
            </a:br>
            <a:r>
              <a:rPr lang="en-US" dirty="0">
                <a:ea typeface="ＭＳ Ｐゴシック" pitchFamily="34" charset="-128"/>
              </a:rPr>
              <a:t>Common Problems with Trunks</a:t>
            </a:r>
            <a:endParaRPr lang="en-US" dirty="0">
              <a:solidFill>
                <a:srgbClr val="00B0F0"/>
              </a:solidFill>
              <a:latin typeface="Arial" charset="0"/>
            </a:endParaRPr>
          </a:p>
        </p:txBody>
      </p:sp>
      <p:sp>
        <p:nvSpPr>
          <p:cNvPr id="2" name="Rectangle 1"/>
          <p:cNvSpPr/>
          <p:nvPr/>
        </p:nvSpPr>
        <p:spPr>
          <a:xfrm>
            <a:off x="472440" y="1417320"/>
            <a:ext cx="8199120" cy="2908489"/>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charset="0"/>
              <a:buChar char="§"/>
            </a:pPr>
            <a:r>
              <a:rPr lang="en-US" sz="2000" dirty="0" err="1">
                <a:latin typeface="+mn-lt"/>
              </a:rPr>
              <a:t>Trunking</a:t>
            </a:r>
            <a:r>
              <a:rPr lang="en-US" sz="2000" dirty="0">
                <a:latin typeface="+mn-lt"/>
              </a:rPr>
              <a:t> issues are usually associated with incorrect configurations. </a:t>
            </a:r>
          </a:p>
          <a:p>
            <a:pPr marL="236538" indent="-236538" algn="l" defTabSz="814388">
              <a:lnSpc>
                <a:spcPct val="95000"/>
              </a:lnSpc>
              <a:spcBef>
                <a:spcPct val="50000"/>
              </a:spcBef>
              <a:buClr>
                <a:srgbClr val="708CA1"/>
              </a:buClr>
              <a:buFont typeface="Wingdings" charset="0"/>
              <a:buChar char="§"/>
            </a:pPr>
            <a:r>
              <a:rPr lang="en-US" sz="2000" dirty="0">
                <a:latin typeface="+mn-lt"/>
              </a:rPr>
              <a:t>The most common type of trunk configuration errors are:</a:t>
            </a:r>
          </a:p>
          <a:p>
            <a:pPr marL="693738" lvl="2" indent="-236538" algn="l" defTabSz="814388">
              <a:lnSpc>
                <a:spcPct val="95000"/>
              </a:lnSpc>
              <a:spcBef>
                <a:spcPct val="50000"/>
              </a:spcBef>
              <a:buClr>
                <a:srgbClr val="708CA1"/>
              </a:buClr>
              <a:buFont typeface="Wingdings" charset="0"/>
              <a:buChar char="§"/>
            </a:pPr>
            <a:r>
              <a:rPr lang="en-US" sz="2000" dirty="0">
                <a:latin typeface="+mn-lt"/>
              </a:rPr>
              <a:t>Native VLAN mismatches</a:t>
            </a:r>
          </a:p>
          <a:p>
            <a:pPr marL="693738" lvl="2" indent="-236538" algn="l" defTabSz="814388">
              <a:lnSpc>
                <a:spcPct val="95000"/>
              </a:lnSpc>
              <a:spcBef>
                <a:spcPct val="50000"/>
              </a:spcBef>
              <a:buClr>
                <a:srgbClr val="708CA1"/>
              </a:buClr>
              <a:buFont typeface="Wingdings" charset="0"/>
              <a:buChar char="§"/>
            </a:pPr>
            <a:r>
              <a:rPr lang="en-US" sz="2000" dirty="0">
                <a:latin typeface="+mn-lt"/>
              </a:rPr>
              <a:t>Trunk mode mismatches </a:t>
            </a:r>
          </a:p>
          <a:p>
            <a:pPr marL="693738" lvl="2" indent="-236538" algn="l" defTabSz="814388">
              <a:lnSpc>
                <a:spcPct val="95000"/>
              </a:lnSpc>
              <a:spcBef>
                <a:spcPct val="50000"/>
              </a:spcBef>
              <a:buClr>
                <a:srgbClr val="708CA1"/>
              </a:buClr>
              <a:buFont typeface="Wingdings" charset="0"/>
              <a:buChar char="§"/>
            </a:pPr>
            <a:r>
              <a:rPr lang="en-US" sz="2000" dirty="0">
                <a:latin typeface="+mn-lt"/>
              </a:rPr>
              <a:t>Allowed VLANs on trunks</a:t>
            </a:r>
          </a:p>
          <a:p>
            <a:pPr marL="236538" indent="-236538" algn="l" defTabSz="814388">
              <a:lnSpc>
                <a:spcPct val="95000"/>
              </a:lnSpc>
              <a:spcBef>
                <a:spcPct val="50000"/>
              </a:spcBef>
              <a:buClr>
                <a:srgbClr val="708CA1"/>
              </a:buClr>
              <a:buFont typeface="Wingdings" charset="0"/>
              <a:buChar char="§"/>
            </a:pPr>
            <a:r>
              <a:rPr lang="en-US" sz="2000" dirty="0">
                <a:latin typeface="+mn-lt"/>
              </a:rPr>
              <a:t>If a trunk problem is detected, the best practice guidelines recommend to troubleshoot in the order shown above.</a:t>
            </a:r>
          </a:p>
        </p:txBody>
      </p:sp>
    </p:spTree>
    <p:extLst>
      <p:ext uri="{BB962C8B-B14F-4D97-AF65-F5344CB8AC3E}">
        <p14:creationId xmlns:p14="http://schemas.microsoft.com/office/powerpoint/2010/main" val="1928235836"/>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Troubleshoot VLANs and Trunks</a:t>
            </a:r>
            <a:br>
              <a:rPr lang="en-US" dirty="0">
                <a:latin typeface="Arial" charset="0"/>
              </a:rPr>
            </a:br>
            <a:r>
              <a:rPr lang="en-US" dirty="0">
                <a:ea typeface="ＭＳ Ｐゴシック" pitchFamily="34" charset="-128"/>
              </a:rPr>
              <a:t>Common Problems with Trunks (cont.)</a:t>
            </a:r>
            <a:endParaRPr lang="en-US" dirty="0">
              <a:solidFill>
                <a:srgbClr val="00B0F0"/>
              </a:solidFill>
              <a:latin typeface="Arial" charset="0"/>
            </a:endParaRP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794" y="1600201"/>
            <a:ext cx="8623279" cy="46329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98196696"/>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Troubleshoot VLANs and Trunks</a:t>
            </a:r>
            <a:br>
              <a:rPr lang="en-US" dirty="0">
                <a:latin typeface="Arial" charset="0"/>
              </a:rPr>
            </a:br>
            <a:r>
              <a:rPr lang="en-US" dirty="0">
                <a:ea typeface="ＭＳ Ｐゴシック" pitchFamily="34" charset="-128"/>
              </a:rPr>
              <a:t>Incorrect Port Mode</a:t>
            </a:r>
            <a:endParaRPr lang="en-US" dirty="0">
              <a:solidFill>
                <a:srgbClr val="00B0F0"/>
              </a:solidFill>
              <a:latin typeface="Arial" charset="0"/>
            </a:endParaRPr>
          </a:p>
        </p:txBody>
      </p:sp>
      <p:pic>
        <p:nvPicPr>
          <p:cNvPr id="307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831" y="1227771"/>
            <a:ext cx="6010104" cy="5019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4295" y="5114925"/>
            <a:ext cx="5124450" cy="174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2958258"/>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5680" y="938213"/>
            <a:ext cx="5608320" cy="452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505" name="Rectangle 2"/>
          <p:cNvSpPr>
            <a:spLocks noGrp="1" noChangeArrowheads="1"/>
          </p:cNvSpPr>
          <p:nvPr>
            <p:ph type="title"/>
          </p:nvPr>
        </p:nvSpPr>
        <p:spPr/>
        <p:txBody>
          <a:bodyPr/>
          <a:lstStyle/>
          <a:p>
            <a:pPr eaLnBrk="1" hangingPunct="1"/>
            <a:r>
              <a:rPr lang="en-US" sz="1800" dirty="0">
                <a:latin typeface="Arial" charset="0"/>
              </a:rPr>
              <a:t>Troubleshoot VLANs and Trunks</a:t>
            </a:r>
            <a:br>
              <a:rPr lang="en-US" dirty="0">
                <a:latin typeface="Arial" charset="0"/>
              </a:rPr>
            </a:br>
            <a:r>
              <a:rPr lang="en-US" dirty="0">
                <a:ea typeface="ＭＳ Ｐゴシック" pitchFamily="34" charset="-128"/>
              </a:rPr>
              <a:t>Incorrect VLAN List</a:t>
            </a:r>
            <a:endParaRPr lang="en-US" dirty="0">
              <a:solidFill>
                <a:srgbClr val="00B0F0"/>
              </a:solidFill>
              <a:latin typeface="Arial" charset="0"/>
            </a:endParaRPr>
          </a:p>
        </p:txBody>
      </p:sp>
      <p:pic>
        <p:nvPicPr>
          <p:cNvPr id="31747"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28599" y="4707602"/>
            <a:ext cx="4693922" cy="19624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60182872"/>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Troubleshoot VLANs and Trunks</a:t>
            </a:r>
            <a:br>
              <a:rPr lang="en-US" dirty="0">
                <a:latin typeface="Arial" charset="0"/>
              </a:rPr>
            </a:br>
            <a:r>
              <a:rPr lang="en-US" dirty="0">
                <a:ea typeface="ＭＳ Ｐゴシック" pitchFamily="34" charset="-128"/>
              </a:rPr>
              <a:t>Incorrect VLAN List (cont.)</a:t>
            </a:r>
            <a:endParaRPr lang="en-US" dirty="0">
              <a:solidFill>
                <a:srgbClr val="00B0F0"/>
              </a:solidFill>
              <a:latin typeface="Arial" charset="0"/>
            </a:endParaRPr>
          </a:p>
        </p:txBody>
      </p:sp>
      <p:sp>
        <p:nvSpPr>
          <p:cNvPr id="2" name="Rectangle 1"/>
          <p:cNvSpPr/>
          <p:nvPr/>
        </p:nvSpPr>
        <p:spPr>
          <a:xfrm>
            <a:off x="259080" y="1447801"/>
            <a:ext cx="8260080" cy="2600712"/>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charset="0"/>
              <a:buChar char="§"/>
            </a:pPr>
            <a:r>
              <a:rPr lang="en-US" sz="2000" dirty="0">
                <a:latin typeface="+mn-lt"/>
              </a:rPr>
              <a:t>VLANs must be allowed in the trunk before their frames can be transmitted across the link.</a:t>
            </a:r>
          </a:p>
          <a:p>
            <a:pPr marL="236538" indent="-236538" algn="l" defTabSz="814388">
              <a:lnSpc>
                <a:spcPct val="95000"/>
              </a:lnSpc>
              <a:spcBef>
                <a:spcPct val="50000"/>
              </a:spcBef>
              <a:buClr>
                <a:srgbClr val="708CA1"/>
              </a:buClr>
              <a:buFont typeface="Wingdings" charset="0"/>
              <a:buChar char="§"/>
            </a:pPr>
            <a:r>
              <a:rPr lang="en-US" sz="2000" dirty="0">
                <a:latin typeface="+mn-lt"/>
              </a:rPr>
              <a:t>Use the </a:t>
            </a:r>
            <a:r>
              <a:rPr lang="en-US" sz="2000" b="1" dirty="0" err="1">
                <a:latin typeface="+mn-lt"/>
              </a:rPr>
              <a:t>switchport</a:t>
            </a:r>
            <a:r>
              <a:rPr lang="en-US" sz="2000" b="1" dirty="0">
                <a:latin typeface="+mn-lt"/>
              </a:rPr>
              <a:t> trunk allowed </a:t>
            </a:r>
            <a:r>
              <a:rPr lang="en-US" sz="2000" b="1" dirty="0" err="1">
                <a:latin typeface="+mn-lt"/>
              </a:rPr>
              <a:t>vlan</a:t>
            </a:r>
            <a:r>
              <a:rPr lang="en-US" sz="2000" b="1" dirty="0">
                <a:latin typeface="+mn-lt"/>
              </a:rPr>
              <a:t> </a:t>
            </a:r>
            <a:r>
              <a:rPr lang="en-US" sz="2000" dirty="0">
                <a:latin typeface="+mn-lt"/>
              </a:rPr>
              <a:t>command to specify which VLANs are allowed in a trunk link.</a:t>
            </a:r>
          </a:p>
          <a:p>
            <a:pPr marL="236538" indent="-236538" algn="l" defTabSz="814388">
              <a:lnSpc>
                <a:spcPct val="95000"/>
              </a:lnSpc>
              <a:spcBef>
                <a:spcPct val="50000"/>
              </a:spcBef>
              <a:buClr>
                <a:srgbClr val="708CA1"/>
              </a:buClr>
              <a:buFont typeface="Wingdings" charset="0"/>
              <a:buChar char="§"/>
            </a:pPr>
            <a:r>
              <a:rPr lang="en-US" sz="2000" dirty="0">
                <a:latin typeface="+mn-lt"/>
              </a:rPr>
              <a:t>Use the </a:t>
            </a:r>
            <a:r>
              <a:rPr lang="en-US" sz="2000" b="1" dirty="0">
                <a:latin typeface="+mn-lt"/>
              </a:rPr>
              <a:t>show interfaces trunk </a:t>
            </a:r>
            <a:r>
              <a:rPr lang="en-US" sz="2000" dirty="0">
                <a:latin typeface="+mn-lt"/>
              </a:rPr>
              <a:t>command to ensure the correct VLANs are permitted in a trunk.</a:t>
            </a:r>
          </a:p>
          <a:p>
            <a:pPr marL="236538" indent="-236538" algn="l" defTabSz="814388">
              <a:lnSpc>
                <a:spcPct val="95000"/>
              </a:lnSpc>
              <a:spcBef>
                <a:spcPct val="50000"/>
              </a:spcBef>
              <a:buClr>
                <a:srgbClr val="708CA1"/>
              </a:buClr>
              <a:buFont typeface="Wingdings" charset="0"/>
              <a:buChar char="§"/>
            </a:pPr>
            <a:endParaRPr lang="en-US" sz="2000" dirty="0">
              <a:latin typeface="+mn-lt"/>
            </a:endParaRPr>
          </a:p>
        </p:txBody>
      </p:sp>
    </p:spTree>
    <p:extLst>
      <p:ext uri="{BB962C8B-B14F-4D97-AF65-F5344CB8AC3E}">
        <p14:creationId xmlns:p14="http://schemas.microsoft.com/office/powerpoint/2010/main" val="3080146314"/>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Inter-VLAN Routing Operation</a:t>
            </a:r>
            <a:br>
              <a:rPr lang="en-US" dirty="0">
                <a:latin typeface="Arial" charset="0"/>
              </a:rPr>
            </a:br>
            <a:r>
              <a:rPr lang="en-US" dirty="0">
                <a:latin typeface="Arial" charset="0"/>
              </a:rPr>
              <a:t>Router-on-a-Stick Inter-VLAN Routing</a:t>
            </a:r>
            <a:endParaRPr lang="en-US" dirty="0">
              <a:solidFill>
                <a:srgbClr val="00B0F0"/>
              </a:solidFill>
              <a:latin typeface="Arial" charset="0"/>
            </a:endParaRPr>
          </a:p>
        </p:txBody>
      </p:sp>
      <p:sp>
        <p:nvSpPr>
          <p:cNvPr id="2" name="Content Placeholder 1"/>
          <p:cNvSpPr>
            <a:spLocks noGrp="1"/>
          </p:cNvSpPr>
          <p:nvPr>
            <p:ph idx="1"/>
          </p:nvPr>
        </p:nvSpPr>
        <p:spPr>
          <a:xfrm>
            <a:off x="213110" y="1537392"/>
            <a:ext cx="8752915" cy="5093780"/>
          </a:xfrm>
        </p:spPr>
        <p:txBody>
          <a:bodyPr/>
          <a:lstStyle/>
          <a:p>
            <a:r>
              <a:rPr lang="en-US" sz="2000" dirty="0"/>
              <a:t>The router-on-a-stick approach uses only one of the router’s physical interface.</a:t>
            </a:r>
          </a:p>
          <a:p>
            <a:r>
              <a:rPr lang="en-US" sz="2000" dirty="0"/>
              <a:t>One of the router’s physical interfaces is configured as a 802.1Q trunk port so it can understand VLAN tags.</a:t>
            </a:r>
          </a:p>
          <a:p>
            <a:r>
              <a:rPr lang="en-US" sz="2000" dirty="0"/>
              <a:t>Logical </a:t>
            </a:r>
            <a:r>
              <a:rPr lang="en-US" sz="2000" dirty="0" err="1"/>
              <a:t>subinterfaces</a:t>
            </a:r>
            <a:r>
              <a:rPr lang="en-US" sz="2000" dirty="0"/>
              <a:t> are created; one </a:t>
            </a:r>
            <a:r>
              <a:rPr lang="en-US" sz="2000" dirty="0" err="1"/>
              <a:t>subinterface</a:t>
            </a:r>
            <a:r>
              <a:rPr lang="en-US" sz="2000" dirty="0"/>
              <a:t> per VLAN.</a:t>
            </a:r>
          </a:p>
          <a:p>
            <a:r>
              <a:rPr lang="en-US" sz="2000" dirty="0"/>
              <a:t>Each </a:t>
            </a:r>
            <a:r>
              <a:rPr lang="en-US" sz="2000" dirty="0" err="1"/>
              <a:t>subinterface</a:t>
            </a:r>
            <a:r>
              <a:rPr lang="en-US" sz="2000" dirty="0"/>
              <a:t> is configured with an IP address from the VLAN it represents.</a:t>
            </a:r>
          </a:p>
          <a:p>
            <a:r>
              <a:rPr lang="en-US" sz="2000" dirty="0"/>
              <a:t>VLAN members (hosts) are configured to use the </a:t>
            </a:r>
            <a:r>
              <a:rPr lang="en-US" sz="2000" dirty="0" err="1"/>
              <a:t>subinterface</a:t>
            </a:r>
            <a:r>
              <a:rPr lang="en-US" sz="2000" dirty="0"/>
              <a:t> address as a default gateway.</a:t>
            </a:r>
          </a:p>
          <a:p>
            <a:pPr marL="0" indent="0">
              <a:buNone/>
            </a:pPr>
            <a:endParaRPr lang="en-US" sz="1600" dirty="0"/>
          </a:p>
          <a:p>
            <a:endParaRPr lang="en-US" sz="2000" dirty="0"/>
          </a:p>
        </p:txBody>
      </p:sp>
    </p:spTree>
    <p:extLst>
      <p:ext uri="{BB962C8B-B14F-4D97-AF65-F5344CB8AC3E}">
        <p14:creationId xmlns:p14="http://schemas.microsoft.com/office/powerpoint/2010/main" val="802054690"/>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93868" y="394392"/>
            <a:ext cx="8772157" cy="1190568"/>
          </a:xfrm>
        </p:spPr>
        <p:txBody>
          <a:bodyPr/>
          <a:lstStyle/>
          <a:p>
            <a:pPr eaLnBrk="1" hangingPunct="1"/>
            <a:r>
              <a:rPr lang="en-US" sz="1800" dirty="0">
                <a:latin typeface="Arial" charset="0"/>
              </a:rPr>
              <a:t>Inter-VLAN Routing Operation</a:t>
            </a:r>
            <a:br>
              <a:rPr lang="en-US" dirty="0">
                <a:latin typeface="Arial" charset="0"/>
              </a:rPr>
            </a:br>
            <a:r>
              <a:rPr lang="en-US" dirty="0">
                <a:latin typeface="Arial" charset="0"/>
              </a:rPr>
              <a:t>Router-on-a-Stick Inter-VLAN Routing (cont.)</a:t>
            </a:r>
            <a:endParaRPr lang="en-US" dirty="0">
              <a:solidFill>
                <a:srgbClr val="00B0F0"/>
              </a:solidFill>
              <a:latin typeface="Arial" charset="0"/>
            </a:endParaRPr>
          </a:p>
        </p:txBody>
      </p:sp>
      <p:pic>
        <p:nvPicPr>
          <p:cNvPr id="348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8320" y="1362710"/>
            <a:ext cx="5543550" cy="3818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94334" y="5181600"/>
            <a:ext cx="8460105" cy="1261884"/>
          </a:xfrm>
          <a:prstGeom prst="rect">
            <a:avLst/>
          </a:prstGeom>
          <a:noFill/>
        </p:spPr>
        <p:txBody>
          <a:bodyPr wrap="square" rtlCol="0">
            <a:spAutoFit/>
          </a:bodyPr>
          <a:lstStyle/>
          <a:p>
            <a:pPr algn="l" defTabSz="814388">
              <a:lnSpc>
                <a:spcPct val="95000"/>
              </a:lnSpc>
              <a:spcBef>
                <a:spcPct val="50000"/>
              </a:spcBef>
              <a:buClr>
                <a:srgbClr val="708CA1"/>
              </a:buClr>
            </a:pPr>
            <a:r>
              <a:rPr lang="en-US" sz="1600" dirty="0">
                <a:latin typeface="+mn-lt"/>
              </a:rPr>
              <a:t>Router interface configured to operate as a trunk link and is connected to a trunked switch port. The router performs inter-VLAN routing by accepting VLAN-tagged traffic on the trunk interface coming from the adjacent switch, and then, internally routing between the VLANs using </a:t>
            </a:r>
            <a:r>
              <a:rPr lang="en-US" sz="1600" dirty="0" err="1">
                <a:latin typeface="+mn-lt"/>
              </a:rPr>
              <a:t>subinterfaces</a:t>
            </a:r>
            <a:r>
              <a:rPr lang="en-US" sz="1600" dirty="0">
                <a:latin typeface="+mn-lt"/>
              </a:rPr>
              <a:t>. The router then forwards the routed traffic, VLAN-tagged for the destination VLAN, out the same physical interface as it used to receive the traffic.</a:t>
            </a:r>
          </a:p>
        </p:txBody>
      </p:sp>
    </p:spTree>
    <p:extLst>
      <p:ext uri="{BB962C8B-B14F-4D97-AF65-F5344CB8AC3E}">
        <p14:creationId xmlns:p14="http://schemas.microsoft.com/office/powerpoint/2010/main" val="1203403714"/>
      </p:ext>
    </p:extLst>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39588" y="350520"/>
            <a:ext cx="8772157" cy="1232592"/>
          </a:xfrm>
        </p:spPr>
        <p:txBody>
          <a:bodyPr/>
          <a:lstStyle/>
          <a:p>
            <a:pPr eaLnBrk="1" hangingPunct="1"/>
            <a:r>
              <a:rPr lang="en-US" sz="1800" dirty="0">
                <a:latin typeface="Arial" charset="0"/>
              </a:rPr>
              <a:t>Configure Legacy Inter-VLAN Routing</a:t>
            </a:r>
            <a:br>
              <a:rPr lang="en-US" dirty="0">
                <a:latin typeface="Arial" charset="0"/>
              </a:rPr>
            </a:br>
            <a:r>
              <a:rPr lang="en-US" dirty="0">
                <a:latin typeface="Arial" charset="0"/>
              </a:rPr>
              <a:t>Configure Legacy Inter-VLAN Routing: Switch Configuration</a:t>
            </a:r>
            <a:endParaRPr lang="en-US" dirty="0">
              <a:solidFill>
                <a:srgbClr val="00B0F0"/>
              </a:solidFill>
              <a:latin typeface="Arial" charset="0"/>
            </a:endParaRPr>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433" y="1550910"/>
            <a:ext cx="8227877" cy="4830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3033679"/>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41166" y="259080"/>
            <a:ext cx="8772157" cy="958272"/>
          </a:xfrm>
        </p:spPr>
        <p:txBody>
          <a:bodyPr/>
          <a:lstStyle/>
          <a:p>
            <a:pPr eaLnBrk="1" hangingPunct="1"/>
            <a:r>
              <a:rPr lang="en-US" sz="1800" dirty="0">
                <a:latin typeface="Arial" charset="0"/>
              </a:rPr>
              <a:t>Configure Router-on-a-Stick Inter-VLAN Routing</a:t>
            </a:r>
            <a:br>
              <a:rPr lang="en-US" dirty="0">
                <a:latin typeface="Arial" charset="0"/>
              </a:rPr>
            </a:br>
            <a:r>
              <a:rPr lang="en-US" dirty="0">
                <a:latin typeface="Arial" charset="0"/>
              </a:rPr>
              <a:t>Configure Router-on-a Stick: Preparation</a:t>
            </a:r>
            <a:endParaRPr lang="en-US" dirty="0">
              <a:solidFill>
                <a:srgbClr val="00B0F0"/>
              </a:solidFill>
              <a:latin typeface="Arial" charset="0"/>
            </a:endParaRPr>
          </a:p>
        </p:txBody>
      </p:sp>
      <p:sp>
        <p:nvSpPr>
          <p:cNvPr id="2" name="Content Placeholder 1"/>
          <p:cNvSpPr>
            <a:spLocks noGrp="1"/>
          </p:cNvSpPr>
          <p:nvPr>
            <p:ph idx="1"/>
          </p:nvPr>
        </p:nvSpPr>
        <p:spPr>
          <a:xfrm>
            <a:off x="197870" y="1522152"/>
            <a:ext cx="8752915" cy="2104968"/>
          </a:xfrm>
        </p:spPr>
        <p:txBody>
          <a:bodyPr/>
          <a:lstStyle/>
          <a:p>
            <a:r>
              <a:rPr lang="en-US" sz="1600" dirty="0"/>
              <a:t>An alternative to legacy inter-VLAN routing is to use VLAN </a:t>
            </a:r>
            <a:r>
              <a:rPr lang="en-US" sz="1600" dirty="0" err="1"/>
              <a:t>trunking</a:t>
            </a:r>
            <a:r>
              <a:rPr lang="en-US" sz="1600" dirty="0"/>
              <a:t> and </a:t>
            </a:r>
            <a:r>
              <a:rPr lang="en-US" sz="1600" dirty="0" err="1"/>
              <a:t>subinterfaces</a:t>
            </a:r>
            <a:r>
              <a:rPr lang="en-US" sz="1600" dirty="0"/>
              <a:t>.</a:t>
            </a:r>
          </a:p>
          <a:p>
            <a:r>
              <a:rPr lang="en-US" sz="1600" dirty="0"/>
              <a:t>VLAN </a:t>
            </a:r>
            <a:r>
              <a:rPr lang="en-US" sz="1600" dirty="0" err="1"/>
              <a:t>trunking</a:t>
            </a:r>
            <a:r>
              <a:rPr lang="en-US" sz="1600" dirty="0"/>
              <a:t> allows a single physical router interface to route traffic for multiple VLANs.</a:t>
            </a:r>
          </a:p>
          <a:p>
            <a:r>
              <a:rPr lang="en-US" sz="1600" dirty="0"/>
              <a:t>The physical interface of the router must be connected to a trunk link on the adjacent switch.</a:t>
            </a:r>
          </a:p>
          <a:p>
            <a:r>
              <a:rPr lang="en-US" sz="1600" dirty="0"/>
              <a:t>On the router, </a:t>
            </a:r>
            <a:r>
              <a:rPr lang="en-US" sz="1600" dirty="0" err="1"/>
              <a:t>subinterfaces</a:t>
            </a:r>
            <a:r>
              <a:rPr lang="en-US" sz="1600" dirty="0"/>
              <a:t> are created for each unique VLAN.</a:t>
            </a:r>
          </a:p>
          <a:p>
            <a:r>
              <a:rPr lang="en-US" sz="1600" dirty="0"/>
              <a:t>Each </a:t>
            </a:r>
            <a:r>
              <a:rPr lang="en-US" sz="1600" dirty="0" err="1"/>
              <a:t>subinterface</a:t>
            </a:r>
            <a:r>
              <a:rPr lang="en-US" sz="1600" dirty="0"/>
              <a:t> is assigned an IP address specific to its subnet or VLAN and is also configured to tag frames for that VLAN.</a:t>
            </a:r>
          </a:p>
          <a:p>
            <a:pPr marL="0" indent="0">
              <a:buNone/>
            </a:pPr>
            <a:endParaRPr lang="en-US" sz="1600" dirty="0"/>
          </a:p>
          <a:p>
            <a:endParaRPr lang="en-US" sz="2000" dirty="0"/>
          </a:p>
        </p:txBody>
      </p:sp>
      <p:pic>
        <p:nvPicPr>
          <p:cNvPr id="41986"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655570" y="3403642"/>
            <a:ext cx="3943350" cy="32143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7149788"/>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39588" y="350520"/>
            <a:ext cx="8772157" cy="1232592"/>
          </a:xfrm>
        </p:spPr>
        <p:txBody>
          <a:bodyPr/>
          <a:lstStyle/>
          <a:p>
            <a:pPr eaLnBrk="1" hangingPunct="1"/>
            <a:r>
              <a:rPr lang="en-US" sz="1800" dirty="0">
                <a:latin typeface="Arial" charset="0"/>
              </a:rPr>
              <a:t>Configure Router-on-a-Stick Inter-VLAN Routing</a:t>
            </a:r>
            <a:br>
              <a:rPr lang="en-US" dirty="0">
                <a:latin typeface="Arial" charset="0"/>
              </a:rPr>
            </a:br>
            <a:r>
              <a:rPr lang="en-US" dirty="0">
                <a:latin typeface="Arial" charset="0"/>
              </a:rPr>
              <a:t>Configure Router-on-a Stick: Switch Configuration</a:t>
            </a:r>
            <a:endParaRPr lang="en-US" dirty="0">
              <a:solidFill>
                <a:srgbClr val="00B0F0"/>
              </a:solidFill>
              <a:latin typeface="Arial" charset="0"/>
            </a:endParaRPr>
          </a:p>
        </p:txBody>
      </p:sp>
      <p:pic>
        <p:nvPicPr>
          <p:cNvPr id="430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325" y="2054543"/>
            <a:ext cx="5467350" cy="418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7411865"/>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39588" y="350520"/>
            <a:ext cx="8772157" cy="1232592"/>
          </a:xfrm>
        </p:spPr>
        <p:txBody>
          <a:bodyPr/>
          <a:lstStyle/>
          <a:p>
            <a:pPr eaLnBrk="1" hangingPunct="1"/>
            <a:r>
              <a:rPr lang="en-US" sz="1800" dirty="0">
                <a:latin typeface="Arial" charset="0"/>
              </a:rPr>
              <a:t>Configure Router-on-a-Stick Inter-VLAN Routing</a:t>
            </a:r>
            <a:br>
              <a:rPr lang="en-US" dirty="0">
                <a:latin typeface="Arial" charset="0"/>
              </a:rPr>
            </a:br>
            <a:r>
              <a:rPr lang="en-US" dirty="0">
                <a:latin typeface="Arial" charset="0"/>
              </a:rPr>
              <a:t>Configure Router-on-a Stick: Router </a:t>
            </a:r>
            <a:r>
              <a:rPr lang="en-US" dirty="0" err="1">
                <a:latin typeface="Arial" charset="0"/>
              </a:rPr>
              <a:t>Subinterface</a:t>
            </a:r>
            <a:r>
              <a:rPr lang="en-US" dirty="0">
                <a:latin typeface="Arial" charset="0"/>
              </a:rPr>
              <a:t> Configuration</a:t>
            </a:r>
            <a:endParaRPr lang="en-US" dirty="0">
              <a:solidFill>
                <a:srgbClr val="00B0F0"/>
              </a:solidFill>
              <a:latin typeface="Arial" charset="0"/>
            </a:endParaRPr>
          </a:p>
        </p:txBody>
      </p:sp>
      <p:pic>
        <p:nvPicPr>
          <p:cNvPr id="5"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43000" y="1653221"/>
            <a:ext cx="6468428" cy="4975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4608402"/>
      </p:ext>
    </p:extLst>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39588" y="350520"/>
            <a:ext cx="8772157" cy="1232592"/>
          </a:xfrm>
        </p:spPr>
        <p:txBody>
          <a:bodyPr/>
          <a:lstStyle/>
          <a:p>
            <a:pPr eaLnBrk="1" hangingPunct="1"/>
            <a:r>
              <a:rPr lang="en-US" sz="1800" dirty="0">
                <a:latin typeface="Arial" charset="0"/>
              </a:rPr>
              <a:t>Configure Router-on-a-Stick Inter-VLAN Routing</a:t>
            </a:r>
            <a:br>
              <a:rPr lang="en-US" dirty="0">
                <a:latin typeface="Arial" charset="0"/>
              </a:rPr>
            </a:br>
            <a:r>
              <a:rPr lang="en-US" dirty="0">
                <a:latin typeface="Arial" charset="0"/>
              </a:rPr>
              <a:t>Configure Router-on-a Stick: Verifying </a:t>
            </a:r>
            <a:r>
              <a:rPr lang="en-US" dirty="0" err="1">
                <a:latin typeface="Arial" charset="0"/>
              </a:rPr>
              <a:t>Subinterfaces</a:t>
            </a:r>
            <a:endParaRPr lang="en-US" dirty="0">
              <a:solidFill>
                <a:srgbClr val="00B0F0"/>
              </a:solidFill>
              <a:latin typeface="Arial"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5802" y="1734483"/>
            <a:ext cx="8370449" cy="4715583"/>
          </a:xfrm>
          <a:prstGeom prst="rect">
            <a:avLst/>
          </a:prstGeom>
        </p:spPr>
      </p:pic>
    </p:spTree>
    <p:extLst>
      <p:ext uri="{BB962C8B-B14F-4D97-AF65-F5344CB8AC3E}">
        <p14:creationId xmlns:p14="http://schemas.microsoft.com/office/powerpoint/2010/main" val="1795877663"/>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39588" y="350520"/>
            <a:ext cx="8772157" cy="1232592"/>
          </a:xfrm>
        </p:spPr>
        <p:txBody>
          <a:bodyPr/>
          <a:lstStyle/>
          <a:p>
            <a:pPr eaLnBrk="1" hangingPunct="1"/>
            <a:r>
              <a:rPr lang="en-US" sz="1800" dirty="0">
                <a:latin typeface="Arial" charset="0"/>
              </a:rPr>
              <a:t>Configure Router-on-a-Stick Inter-VLAN Routing</a:t>
            </a:r>
            <a:br>
              <a:rPr lang="en-US" dirty="0">
                <a:latin typeface="Arial" charset="0"/>
              </a:rPr>
            </a:br>
            <a:r>
              <a:rPr lang="en-US" dirty="0">
                <a:latin typeface="Arial" charset="0"/>
              </a:rPr>
              <a:t>Configure Router-on-a Stick: Verifying </a:t>
            </a:r>
            <a:r>
              <a:rPr lang="en-US" dirty="0" err="1">
                <a:latin typeface="Arial" charset="0"/>
              </a:rPr>
              <a:t>Subinterfaces</a:t>
            </a:r>
            <a:r>
              <a:rPr lang="en-US" dirty="0">
                <a:latin typeface="Arial" charset="0"/>
              </a:rPr>
              <a:t> (cont.)</a:t>
            </a:r>
            <a:endParaRPr lang="en-US" dirty="0">
              <a:solidFill>
                <a:srgbClr val="00B0F0"/>
              </a:solidFill>
              <a:latin typeface="Arial" charset="0"/>
            </a:endParaRPr>
          </a:p>
        </p:txBody>
      </p:sp>
      <p:pic>
        <p:nvPicPr>
          <p:cNvPr id="440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3248" y="1795463"/>
            <a:ext cx="6045792" cy="45878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96322406"/>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39588" y="350520"/>
            <a:ext cx="8772157" cy="1232592"/>
          </a:xfrm>
        </p:spPr>
        <p:txBody>
          <a:bodyPr/>
          <a:lstStyle/>
          <a:p>
            <a:pPr eaLnBrk="1" hangingPunct="1"/>
            <a:r>
              <a:rPr lang="en-US" sz="1800" dirty="0">
                <a:latin typeface="Arial" charset="0"/>
              </a:rPr>
              <a:t>Configure Router-on-a-Stick Inter-VLAN Routing</a:t>
            </a:r>
            <a:br>
              <a:rPr lang="en-US" dirty="0">
                <a:latin typeface="Arial" charset="0"/>
              </a:rPr>
            </a:br>
            <a:r>
              <a:rPr lang="en-US" dirty="0">
                <a:latin typeface="Arial" charset="0"/>
              </a:rPr>
              <a:t>Configure Router-on-a Stick: Verifying Routing</a:t>
            </a:r>
            <a:endParaRPr lang="en-US" dirty="0">
              <a:solidFill>
                <a:srgbClr val="00B0F0"/>
              </a:solidFill>
              <a:latin typeface="Arial" charset="0"/>
            </a:endParaRPr>
          </a:p>
        </p:txBody>
      </p:sp>
      <p:sp>
        <p:nvSpPr>
          <p:cNvPr id="2" name="Content Placeholder 1"/>
          <p:cNvSpPr>
            <a:spLocks noGrp="1"/>
          </p:cNvSpPr>
          <p:nvPr>
            <p:ph idx="1"/>
          </p:nvPr>
        </p:nvSpPr>
        <p:spPr>
          <a:xfrm>
            <a:off x="182630" y="1887912"/>
            <a:ext cx="8752915" cy="3095568"/>
          </a:xfrm>
        </p:spPr>
        <p:txBody>
          <a:bodyPr/>
          <a:lstStyle/>
          <a:p>
            <a:r>
              <a:rPr lang="en-US" sz="2000" dirty="0"/>
              <a:t>Access to devices on remote VLANs can be tested using the</a:t>
            </a:r>
            <a:r>
              <a:rPr lang="en-US" sz="2000" b="1" dirty="0"/>
              <a:t> </a:t>
            </a:r>
            <a:r>
              <a:rPr lang="en-US" sz="2000" b="1" dirty="0">
                <a:latin typeface="Courier New" pitchFamily="49" charset="0"/>
                <a:cs typeface="Courier New" pitchFamily="49" charset="0"/>
              </a:rPr>
              <a:t>ping</a:t>
            </a:r>
            <a:r>
              <a:rPr lang="en-US" sz="2000" b="1" dirty="0"/>
              <a:t> </a:t>
            </a:r>
            <a:r>
              <a:rPr lang="en-US" sz="2000" dirty="0"/>
              <a:t>command.</a:t>
            </a:r>
          </a:p>
          <a:p>
            <a:r>
              <a:rPr lang="en-US" sz="2000" dirty="0"/>
              <a:t>The</a:t>
            </a:r>
            <a:r>
              <a:rPr lang="en-US" sz="2000" b="1" dirty="0"/>
              <a:t> </a:t>
            </a:r>
            <a:r>
              <a:rPr lang="en-US" sz="2000" b="1" dirty="0">
                <a:latin typeface="Courier New" pitchFamily="49" charset="0"/>
                <a:cs typeface="Courier New" pitchFamily="49" charset="0"/>
              </a:rPr>
              <a:t>ping</a:t>
            </a:r>
            <a:r>
              <a:rPr lang="en-US" sz="2000" b="1" dirty="0"/>
              <a:t> </a:t>
            </a:r>
            <a:r>
              <a:rPr lang="en-US" sz="2000" dirty="0"/>
              <a:t>command sends an ICMP echo request to the destination address.</a:t>
            </a:r>
          </a:p>
          <a:p>
            <a:r>
              <a:rPr lang="en-US" sz="2000" dirty="0"/>
              <a:t>When a host receives an ICMP echo request, it responds with an ICMP echo reply.</a:t>
            </a:r>
          </a:p>
          <a:p>
            <a:r>
              <a:rPr lang="en-US" sz="2000" b="1" dirty="0" err="1">
                <a:latin typeface="Courier New" pitchFamily="49" charset="0"/>
                <a:cs typeface="Courier New" pitchFamily="49" charset="0"/>
              </a:rPr>
              <a:t>Tracert</a:t>
            </a:r>
            <a:r>
              <a:rPr lang="en-US" sz="2000" b="1" dirty="0">
                <a:latin typeface="Courier New" pitchFamily="49" charset="0"/>
                <a:cs typeface="Courier New" pitchFamily="49" charset="0"/>
              </a:rPr>
              <a:t> </a:t>
            </a:r>
            <a:r>
              <a:rPr lang="en-US" sz="2000" dirty="0"/>
              <a:t>is a useful utility for confirming the routed path taken between two devices.</a:t>
            </a:r>
          </a:p>
          <a:p>
            <a:pPr marL="0" indent="0">
              <a:buNone/>
            </a:pPr>
            <a:endParaRPr lang="en-US" sz="1600" dirty="0"/>
          </a:p>
          <a:p>
            <a:endParaRPr lang="en-US" sz="2000" dirty="0"/>
          </a:p>
        </p:txBody>
      </p:sp>
    </p:spTree>
    <p:extLst>
      <p:ext uri="{BB962C8B-B14F-4D97-AF65-F5344CB8AC3E}">
        <p14:creationId xmlns:p14="http://schemas.microsoft.com/office/powerpoint/2010/main" val="3992377219"/>
      </p:ext>
    </p:extLst>
  </p:cSld>
  <p:clrMapOvr>
    <a:masterClrMapping/>
  </p:clrMapOvr>
  <p:transition spd="med">
    <p:wipe dir="r"/>
  </p:transition>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etAcad-4F_PPT-WHT_060408">
  <a:themeElements>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Oct_2006_Cisco White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28888</TotalTime>
  <Pages>28</Pages>
  <Words>1332</Words>
  <Application>Microsoft Office PowerPoint</Application>
  <PresentationFormat>On-screen Show (4:3)</PresentationFormat>
  <Paragraphs>221</Paragraphs>
  <Slides>36</Slides>
  <Notes>36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36</vt:i4>
      </vt:variant>
    </vt:vector>
  </HeadingPairs>
  <TitlesOfParts>
    <vt:vector size="42" baseType="lpstr">
      <vt:lpstr>ＭＳ Ｐゴシック</vt:lpstr>
      <vt:lpstr>Arial</vt:lpstr>
      <vt:lpstr>Courier New</vt:lpstr>
      <vt:lpstr>Wingdings</vt:lpstr>
      <vt:lpstr>PPT-TMPLT-WHT_C</vt:lpstr>
      <vt:lpstr>NetAcad-4F_PPT-WHT_060408</vt:lpstr>
      <vt:lpstr>Chapter 3a: VLANs</vt:lpstr>
      <vt:lpstr>Overview of VLANs Types of VLANs (cont.)</vt:lpstr>
      <vt:lpstr>VLANs in a Multi-Switched Environment VLAN Trunks</vt:lpstr>
      <vt:lpstr>VLANs in a Multi-Switched Environment VLAN Trunks (cont.)</vt:lpstr>
      <vt:lpstr>VLAN Assignment VLAN Ranges on Catalyst Switches (cont.)</vt:lpstr>
      <vt:lpstr>VLAN Assignment Creating a VLAN</vt:lpstr>
      <vt:lpstr>VLAN Assignment Assigning Ports to VLANs</vt:lpstr>
      <vt:lpstr>VLAN Assignment Changing VLAN Port Membership</vt:lpstr>
      <vt:lpstr>VLAN Assignment Changing VLAN Port Membership (cont.)</vt:lpstr>
      <vt:lpstr>VLAN Assignment Changing VLAN Port Membership (cont.)</vt:lpstr>
      <vt:lpstr>VLAN Assignment Deleting VLANs</vt:lpstr>
      <vt:lpstr>VLAN Assignment Verifying VLAN Information</vt:lpstr>
      <vt:lpstr>VLAN Assignment Verifying VLAN Information (cont.)</vt:lpstr>
      <vt:lpstr>VLAN Trunks Configuring IEEE 802.1q Trunk Links</vt:lpstr>
      <vt:lpstr>VLAN Assignment Configuring IEEE 802.1q Trunk Links (cont.)</vt:lpstr>
      <vt:lpstr>VLAN Trunks Resetting the Trunk to Default State</vt:lpstr>
      <vt:lpstr>VLAN Trunks Resetting the Trunk to Default State (cont.)</vt:lpstr>
      <vt:lpstr>VLAN Trunks Verifying Trunk Configuration</vt:lpstr>
      <vt:lpstr>Troubleshoot VLANs and Trunks IP Addressing Issues with VLANs</vt:lpstr>
      <vt:lpstr>Troubleshoot VLANs and Trunks Missing VLANs</vt:lpstr>
      <vt:lpstr>Troubleshoot VLANs and Trunks Missing VLANs (cont.)</vt:lpstr>
      <vt:lpstr>Troubleshoot VLANs and Trunks Introduction to Troubleshooting Trunks</vt:lpstr>
      <vt:lpstr>Troubleshoot VLANs and Trunks Common Problems with Trunks</vt:lpstr>
      <vt:lpstr>Troubleshoot VLANs and Trunks Common Problems with Trunks (cont.)</vt:lpstr>
      <vt:lpstr>Troubleshoot VLANs and Trunks Incorrect Port Mode</vt:lpstr>
      <vt:lpstr>Troubleshoot VLANs and Trunks Incorrect VLAN List</vt:lpstr>
      <vt:lpstr>Troubleshoot VLANs and Trunks Incorrect VLAN List (cont.)</vt:lpstr>
      <vt:lpstr>Inter-VLAN Routing Operation Router-on-a-Stick Inter-VLAN Routing</vt:lpstr>
      <vt:lpstr>Inter-VLAN Routing Operation Router-on-a-Stick Inter-VLAN Routing (cont.)</vt:lpstr>
      <vt:lpstr>Configure Legacy Inter-VLAN Routing Configure Legacy Inter-VLAN Routing: Switch Configuration</vt:lpstr>
      <vt:lpstr>Configure Router-on-a-Stick Inter-VLAN Routing Configure Router-on-a Stick: Preparation</vt:lpstr>
      <vt:lpstr>Configure Router-on-a-Stick Inter-VLAN Routing Configure Router-on-a Stick: Switch Configuration</vt:lpstr>
      <vt:lpstr>Configure Router-on-a-Stick Inter-VLAN Routing Configure Router-on-a Stick: Router Subinterface Configuration</vt:lpstr>
      <vt:lpstr>Configure Router-on-a-Stick Inter-VLAN Routing Configure Router-on-a Stick: Verifying Subinterfaces</vt:lpstr>
      <vt:lpstr>Configure Router-on-a-Stick Inter-VLAN Routing Configure Router-on-a Stick: Verifying Subinterfaces (cont.)</vt:lpstr>
      <vt:lpstr>Configure Router-on-a-Stick Inter-VLAN Routing Configure Router-on-a Stick: Verifying Routing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 PC v4.0 Chapter 1</dc:title>
  <dc:creator>Karen Alderson</dc:creator>
  <cp:lastModifiedBy>HOO BRYAN</cp:lastModifiedBy>
  <cp:revision>1044</cp:revision>
  <cp:lastPrinted>1999-01-27T00:54:54Z</cp:lastPrinted>
  <dcterms:created xsi:type="dcterms:W3CDTF">2006-10-23T15:07:30Z</dcterms:created>
  <dcterms:modified xsi:type="dcterms:W3CDTF">2018-10-12T08:51:46Z</dcterms:modified>
</cp:coreProperties>
</file>