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2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7D98D-3B5A-423D-AB3B-823AF9A053FD}" type="datetimeFigureOut">
              <a:rPr lang="en-SG" smtClean="0"/>
              <a:t>22/3/2018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5C2529-8422-4418-96DB-3D61D6E309F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47403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smtClean="0"/>
              <a:t>Denial of service</a:t>
            </a:r>
          </a:p>
          <a:p>
            <a:r>
              <a:rPr lang="en-SG" dirty="0" smtClean="0"/>
              <a:t>An attacker sends specially crafted packets to a Web server, causing it to crash.</a:t>
            </a:r>
          </a:p>
          <a:p>
            <a:r>
              <a:rPr lang="en-SG" dirty="0" smtClean="0"/>
              <a:t>Malicious code</a:t>
            </a:r>
          </a:p>
          <a:p>
            <a:r>
              <a:rPr lang="en-SG" dirty="0" smtClean="0"/>
              <a:t>A worm uses open file shares to quickly infect several hundred workstations within an organization</a:t>
            </a:r>
          </a:p>
          <a:p>
            <a:r>
              <a:rPr lang="en-SG" dirty="0" smtClean="0"/>
              <a:t>An organization receives a warning from an antivirus vendor that a new virus is spreading rapidly via e-mail throughout the Internet, the organization expects that the new virus will infect some of its hosts within the next three hours 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C8814-C8D6-4323-B49E-12841A6BBC7D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7776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smtClean="0"/>
              <a:t>Denial of service</a:t>
            </a:r>
          </a:p>
          <a:p>
            <a:r>
              <a:rPr lang="en-SG" dirty="0" smtClean="0"/>
              <a:t>An attacker sends specially crafted packets to a Web server, causing it to crash.</a:t>
            </a:r>
          </a:p>
          <a:p>
            <a:r>
              <a:rPr lang="en-SG" dirty="0" smtClean="0"/>
              <a:t>Malicious code</a:t>
            </a:r>
          </a:p>
          <a:p>
            <a:r>
              <a:rPr lang="en-SG" dirty="0" smtClean="0"/>
              <a:t>A worm uses open file shares to quickly infect several hundred workstations within an organization</a:t>
            </a:r>
          </a:p>
          <a:p>
            <a:r>
              <a:rPr lang="en-SG" dirty="0" smtClean="0"/>
              <a:t>An organization receives a warning from an antivirus vendor that a new virus is spreading rapidly via e-mail throughout the Internet, the organization expects that the new virus will infect some of its hosts within the next three hours 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C8814-C8D6-4323-B49E-12841A6BBC7D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9107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smtClean="0"/>
              <a:t>Denial of service</a:t>
            </a:r>
          </a:p>
          <a:p>
            <a:r>
              <a:rPr lang="en-SG" dirty="0" smtClean="0"/>
              <a:t>An attacker sends specially crafted packets to a Web server, causing it to crash.</a:t>
            </a:r>
          </a:p>
          <a:p>
            <a:r>
              <a:rPr lang="en-SG" dirty="0" smtClean="0"/>
              <a:t>Malicious code</a:t>
            </a:r>
          </a:p>
          <a:p>
            <a:r>
              <a:rPr lang="en-SG" dirty="0" smtClean="0"/>
              <a:t>A worm uses open file shares to quickly infect several hundred workstations within an organization</a:t>
            </a:r>
          </a:p>
          <a:p>
            <a:r>
              <a:rPr lang="en-SG" dirty="0" smtClean="0"/>
              <a:t>An organization receives a warning from an antivirus vendor that a new virus is spreading rapidly via e-mail throughout the Internet, the organization expects that the new virus will infect some of its hosts within the next three hours 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C8814-C8D6-4323-B49E-12841A6BBC7D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8701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smtClean="0"/>
              <a:t>Denial of service</a:t>
            </a:r>
          </a:p>
          <a:p>
            <a:r>
              <a:rPr lang="en-SG" dirty="0" smtClean="0"/>
              <a:t>An attacker sends specially crafted packets to a Web server, causing it to crash.</a:t>
            </a:r>
          </a:p>
          <a:p>
            <a:r>
              <a:rPr lang="en-SG" dirty="0" smtClean="0"/>
              <a:t>Malicious code</a:t>
            </a:r>
          </a:p>
          <a:p>
            <a:r>
              <a:rPr lang="en-SG" dirty="0" smtClean="0"/>
              <a:t>A worm uses open file shares to quickly infect several hundred workstations within an organization</a:t>
            </a:r>
          </a:p>
          <a:p>
            <a:r>
              <a:rPr lang="en-SG" dirty="0" smtClean="0"/>
              <a:t>An organization receives a warning from an antivirus vendor that a new virus is spreading rapidly via e-mail throughout the Internet, the organization expects that the new virus will infect some of its hosts within the next three hours 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C8814-C8D6-4323-B49E-12841A6BBC7D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9288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smtClean="0"/>
              <a:t>Denial of service</a:t>
            </a:r>
          </a:p>
          <a:p>
            <a:r>
              <a:rPr lang="en-SG" dirty="0" smtClean="0"/>
              <a:t>An attacker sends specially crafted packets to a Web server, causing it to crash.</a:t>
            </a:r>
          </a:p>
          <a:p>
            <a:r>
              <a:rPr lang="en-SG" dirty="0" smtClean="0"/>
              <a:t>Malicious code</a:t>
            </a:r>
          </a:p>
          <a:p>
            <a:r>
              <a:rPr lang="en-SG" dirty="0" smtClean="0"/>
              <a:t>A worm uses open file shares to quickly infect several hundred workstations within an organization</a:t>
            </a:r>
          </a:p>
          <a:p>
            <a:r>
              <a:rPr lang="en-SG" dirty="0" smtClean="0"/>
              <a:t>An organization receives a warning from an antivirus vendor that a new virus is spreading rapidly via e-mail throughout the Internet, the organization expects that the new virus will infect some of its hosts within the next three hours 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C8814-C8D6-4323-B49E-12841A6BBC7D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7890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SG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While tracking firewall "deny" actions is a good way to identify threats, logging the "allow" actions can give greater insight into malicious traffic that could be both more subtle and more dangerous.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C8814-C8D6-4323-B49E-12841A6BBC7D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5836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smtClean="0"/>
              <a:t>Denial of service</a:t>
            </a:r>
          </a:p>
          <a:p>
            <a:r>
              <a:rPr lang="en-SG" dirty="0" smtClean="0"/>
              <a:t>An attacker sends specially crafted packets to a Web server, causing it to crash.</a:t>
            </a:r>
          </a:p>
          <a:p>
            <a:r>
              <a:rPr lang="en-SG" dirty="0" smtClean="0"/>
              <a:t>Malicious code</a:t>
            </a:r>
          </a:p>
          <a:p>
            <a:r>
              <a:rPr lang="en-SG" dirty="0" smtClean="0"/>
              <a:t>A worm uses open file shares to quickly infect several hundred workstations within an organization</a:t>
            </a:r>
          </a:p>
          <a:p>
            <a:r>
              <a:rPr lang="en-SG" dirty="0" smtClean="0"/>
              <a:t>An organization receives a warning from an antivirus vendor that a new virus is spreading rapidly via e-mail throughout the Internet, the organization expects that the new virus will infect some of its hosts within the next three hours 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C8814-C8D6-4323-B49E-12841A6BBC7D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7856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lIns="91432" tIns="45716" rIns="91432" bIns="45716"/>
          <a:lstStyle/>
          <a:p>
            <a:endParaRPr lang="en-US" altLang="en-US"/>
          </a:p>
        </p:txBody>
      </p:sp>
      <p:sp>
        <p:nvSpPr>
          <p:cNvPr id="6861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b"/>
          <a:lstStyle>
            <a:lvl1pPr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03263" indent="-271463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81088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12888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6275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34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606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78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50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BA2AAA4-0659-4E74-8E4A-9DED9E661FE1}" type="slidenum">
              <a:rPr lang="en-US" altLang="en-US" sz="1200">
                <a:latin typeface="Times New Roman" panose="02020603050405020304" pitchFamily="18" charset="0"/>
              </a:rPr>
              <a:pPr algn="r"/>
              <a:t>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035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lIns="91432" tIns="45716" rIns="91432" bIns="45716"/>
          <a:lstStyle/>
          <a:p>
            <a:endParaRPr lang="en-US" altLang="en-US"/>
          </a:p>
        </p:txBody>
      </p:sp>
      <p:sp>
        <p:nvSpPr>
          <p:cNvPr id="70660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b"/>
          <a:lstStyle>
            <a:lvl1pPr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03263" indent="-271463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81088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12888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6275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34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606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78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50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D08E0FD-22A5-4A45-834D-A95AD364196C}" type="slidenum">
              <a:rPr lang="en-US" altLang="en-US" sz="1200">
                <a:latin typeface="Times New Roman" panose="02020603050405020304" pitchFamily="18" charset="0"/>
              </a:rPr>
              <a:pPr algn="r"/>
              <a:t>10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3857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lIns="91432" tIns="45716" rIns="91432" bIns="45716"/>
          <a:lstStyle/>
          <a:p>
            <a:endParaRPr lang="en-US" altLang="en-US"/>
          </a:p>
        </p:txBody>
      </p:sp>
      <p:sp>
        <p:nvSpPr>
          <p:cNvPr id="72708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b"/>
          <a:lstStyle>
            <a:lvl1pPr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03263" indent="-271463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81088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12888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6275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34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606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78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50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4EEC667-CDBC-4B39-9A17-07CBFEB9E518}" type="slidenum">
              <a:rPr lang="en-US" altLang="en-US" sz="1200">
                <a:latin typeface="Times New Roman" panose="02020603050405020304" pitchFamily="18" charset="0"/>
              </a:rPr>
              <a:pPr algn="r"/>
              <a:t>11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0417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lIns="91432" tIns="45716" rIns="91432" bIns="45716"/>
          <a:lstStyle/>
          <a:p>
            <a:endParaRPr lang="en-US" altLang="en-US"/>
          </a:p>
        </p:txBody>
      </p:sp>
      <p:sp>
        <p:nvSpPr>
          <p:cNvPr id="74756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b"/>
          <a:lstStyle>
            <a:lvl1pPr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03263" indent="-271463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81088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12888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6275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34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606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78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50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9D961DF-6EAA-4F18-9306-B6A9CBC38450}" type="slidenum">
              <a:rPr lang="en-US" altLang="en-US" sz="1200">
                <a:latin typeface="Times New Roman" panose="02020603050405020304" pitchFamily="18" charset="0"/>
              </a:rPr>
              <a:pPr algn="r"/>
              <a:t>12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272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lIns="91432" tIns="45716" rIns="91432" bIns="45716"/>
          <a:lstStyle/>
          <a:p>
            <a:endParaRPr lang="en-US" altLang="en-US"/>
          </a:p>
        </p:txBody>
      </p:sp>
      <p:sp>
        <p:nvSpPr>
          <p:cNvPr id="76804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b"/>
          <a:lstStyle>
            <a:lvl1pPr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03263" indent="-271463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81088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12888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6275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34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606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78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50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F659CFB-C549-475B-8FA4-3A8518CF6669}" type="slidenum">
              <a:rPr lang="en-US" altLang="en-US" sz="1200">
                <a:latin typeface="Times New Roman" panose="02020603050405020304" pitchFamily="18" charset="0"/>
              </a:rPr>
              <a:pPr algn="r"/>
              <a:t>13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311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lIns="91432" tIns="45716" rIns="91432" bIns="45716"/>
          <a:lstStyle/>
          <a:p>
            <a:endParaRPr lang="en-US" altLang="en-US"/>
          </a:p>
        </p:txBody>
      </p:sp>
      <p:sp>
        <p:nvSpPr>
          <p:cNvPr id="78852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b"/>
          <a:lstStyle>
            <a:lvl1pPr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03263" indent="-271463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81088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12888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6275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34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606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78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50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FAC2C34-5654-46CF-9E1C-70ADF1F1DF35}" type="slidenum">
              <a:rPr lang="en-US" altLang="en-US" sz="1200">
                <a:latin typeface="Times New Roman" panose="02020603050405020304" pitchFamily="18" charset="0"/>
              </a:rPr>
              <a:pPr algn="r"/>
              <a:t>14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7617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lIns="91432" tIns="45716" rIns="91432" bIns="45716"/>
          <a:lstStyle/>
          <a:p>
            <a:endParaRPr lang="en-US" altLang="en-US"/>
          </a:p>
        </p:txBody>
      </p:sp>
      <p:sp>
        <p:nvSpPr>
          <p:cNvPr id="80900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b"/>
          <a:lstStyle>
            <a:lvl1pPr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03263" indent="-271463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81088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12888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6275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34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606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78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50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7B63D29-C4FF-487F-B15F-2FE0867397F5}" type="slidenum">
              <a:rPr lang="en-US" altLang="en-US" sz="1200">
                <a:latin typeface="Times New Roman" panose="02020603050405020304" pitchFamily="18" charset="0"/>
              </a:rPr>
              <a:pPr algn="r"/>
              <a:t>15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6686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lIns="91432" tIns="45716" rIns="91432" bIns="45716"/>
          <a:lstStyle/>
          <a:p>
            <a:endParaRPr lang="en-US" altLang="en-US"/>
          </a:p>
        </p:txBody>
      </p:sp>
      <p:sp>
        <p:nvSpPr>
          <p:cNvPr id="82948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b"/>
          <a:lstStyle>
            <a:lvl1pPr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03263" indent="-271463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81088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12888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6275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34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606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78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50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86E3C70-ABC5-47DA-93E0-9D419BD2F124}" type="slidenum">
              <a:rPr lang="en-US" altLang="en-US" sz="1200">
                <a:latin typeface="Times New Roman" panose="02020603050405020304" pitchFamily="18" charset="0"/>
              </a:rPr>
              <a:pPr algn="r"/>
              <a:t>16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1745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lIns="91432" tIns="45716" rIns="91432" bIns="45716"/>
          <a:lstStyle/>
          <a:p>
            <a:endParaRPr lang="en-US" altLang="en-US"/>
          </a:p>
        </p:txBody>
      </p:sp>
      <p:sp>
        <p:nvSpPr>
          <p:cNvPr id="84996" name="Slide Number Placeholder 3"/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b"/>
          <a:lstStyle>
            <a:lvl1pPr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03263" indent="-271463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81088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12888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6275" indent="-215900" defTabSz="865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34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606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78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5075" indent="-215900" defTabSz="865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7FD0ADE-8F68-4041-BA17-3A6D6508085E}" type="slidenum">
              <a:rPr lang="en-US" altLang="en-US" sz="1200">
                <a:latin typeface="Times New Roman" panose="02020603050405020304" pitchFamily="18" charset="0"/>
              </a:rPr>
              <a:pPr algn="r"/>
              <a:t>17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9297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smtClean="0"/>
              <a:t>Denial of service</a:t>
            </a:r>
          </a:p>
          <a:p>
            <a:r>
              <a:rPr lang="en-SG" dirty="0" smtClean="0"/>
              <a:t>An attacker sends specially crafted packets to a Web server, causing it to crash.</a:t>
            </a:r>
          </a:p>
          <a:p>
            <a:r>
              <a:rPr lang="en-SG" dirty="0" smtClean="0"/>
              <a:t>Malicious code</a:t>
            </a:r>
          </a:p>
          <a:p>
            <a:r>
              <a:rPr lang="en-SG" dirty="0" smtClean="0"/>
              <a:t>A worm uses open file shares to quickly infect several hundred workstations within an organization</a:t>
            </a:r>
          </a:p>
          <a:p>
            <a:r>
              <a:rPr lang="en-SG" dirty="0" smtClean="0"/>
              <a:t>An organization receives a warning from an antivirus vendor that a new virus is spreading rapidly via e-mail throughout the Internet, the organization expects that the new virus will infect some of its hosts within the next three hours 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C8814-C8D6-4323-B49E-12841A6BBC7D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50324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C8814-C8D6-4323-B49E-12841A6BBC7D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96340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Once all your logging settings are configured, you can enable logging on your firewall policies. Only when enabled on a firewall policy</a:t>
            </a:r>
            <a:r>
              <a:rPr lang="en-US" baseline="0" dirty="0" smtClean="0"/>
              <a:t> can a log message generate (based on configured log settings).</a:t>
            </a:r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b="0" i="0" u="none" strike="noStrike" kern="1200" baseline="0" dirty="0" smtClean="0">
              <a:solidFill>
                <a:schemeClr val="tx1"/>
              </a:solidFill>
              <a:latin typeface="Arial" charset="0"/>
              <a:ea typeface="+mn-ea"/>
              <a:cs typeface="Arial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pitchFamily="34" charset="0"/>
              </a:rPr>
              <a:t>Generally, if you configure your </a:t>
            </a:r>
            <a:r>
              <a:rPr lang="en-CA" sz="1200" b="0" i="0" u="none" strike="noStrike" kern="1200" baseline="0" dirty="0" err="1" smtClean="0">
                <a:solidFill>
                  <a:schemeClr val="tx1"/>
                </a:solidFill>
                <a:latin typeface="Arial" charset="0"/>
                <a:ea typeface="+mn-ea"/>
                <a:cs typeface="Arial" pitchFamily="34" charset="0"/>
              </a:rPr>
              <a:t>FortiGate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pitchFamily="34" charset="0"/>
              </a:rPr>
              <a:t> to inspect traffic, you should also enable logging for that security feature to help you track and debug your traffic flow. </a:t>
            </a:r>
            <a:r>
              <a:rPr lang="en-US" sz="1800" b="0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Except for violations that you consider to be low in severity – web filtering, for example – you’ll want to know if your </a:t>
            </a:r>
            <a:r>
              <a:rPr lang="en-US" sz="1800" b="0" kern="1200" baseline="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FortiGate</a:t>
            </a:r>
            <a:r>
              <a:rPr lang="en-US" sz="1800" b="0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is blocking attacks. Most attacks don’t succeed in a security breach on the first try. A proactive approach, when you notice a persistent attacker whose methods seem to be evolving, can avoid a security breach. To get early warnings like this, enable logging for your security profiles.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0" kern="1200" baseline="0" dirty="0" smtClean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To enable logging on security profiles, edit your firewall policy, enable the security profile, and select your configured security profile from the associated drop-down list. Remember that you will not get logs of any kind if </a:t>
            </a:r>
            <a:r>
              <a:rPr lang="en-US" sz="1800" b="1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Log Allowed Traffic </a:t>
            </a:r>
            <a:r>
              <a:rPr lang="en-US" sz="1800" b="0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isn’t enabled in the </a:t>
            </a:r>
            <a:r>
              <a:rPr lang="en-US" b="1" dirty="0" smtClean="0"/>
              <a:t>Logging</a:t>
            </a:r>
            <a:r>
              <a:rPr lang="en-US" b="1" baseline="0" dirty="0" smtClean="0"/>
              <a:t> </a:t>
            </a:r>
            <a:r>
              <a:rPr lang="en-US" b="1" i="0" baseline="0" dirty="0" smtClean="0"/>
              <a:t>Options</a:t>
            </a:r>
            <a:r>
              <a:rPr lang="en-US" b="1" i="1" baseline="0" dirty="0" smtClean="0"/>
              <a:t> </a:t>
            </a:r>
            <a:r>
              <a:rPr lang="en-US" baseline="0" dirty="0" smtClean="0"/>
              <a:t>section.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C8814-C8D6-4323-B49E-12841A6BBC7D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33648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C8814-C8D6-4323-B49E-12841A6BBC7D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32494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smtClean="0"/>
              <a:t>These connections would generally not be captured when log fidelity is set to track only "deny" actions.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C8814-C8D6-4323-B49E-12841A6BBC7D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46490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Your firewall logs can be a great source of information on what's actually leaving, or trying to leave, your network.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C8814-C8D6-4323-B49E-12841A6BBC7D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158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C8814-C8D6-4323-B49E-12841A6BBC7D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75862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2C8814-C8D6-4323-B49E-12841A6BBC7D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6754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7E88-82E5-4E4E-9131-F606F59AA282}" type="datetimeFigureOut">
              <a:rPr lang="en-SG" smtClean="0"/>
              <a:t>22/3/2018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DF33-92A2-442D-AC9E-FECAA4736FB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6736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7E88-82E5-4E4E-9131-F606F59AA282}" type="datetimeFigureOut">
              <a:rPr lang="en-SG" smtClean="0"/>
              <a:t>22/3/2018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DF33-92A2-442D-AC9E-FECAA4736FB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64529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7E88-82E5-4E4E-9131-F606F59AA282}" type="datetimeFigureOut">
              <a:rPr lang="en-SG" smtClean="0"/>
              <a:t>22/3/2018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DF33-92A2-442D-AC9E-FECAA4736FB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51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7E88-82E5-4E4E-9131-F606F59AA282}" type="datetimeFigureOut">
              <a:rPr lang="en-SG" smtClean="0"/>
              <a:t>22/3/2018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DF33-92A2-442D-AC9E-FECAA4736FB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1370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7E88-82E5-4E4E-9131-F606F59AA282}" type="datetimeFigureOut">
              <a:rPr lang="en-SG" smtClean="0"/>
              <a:t>22/3/2018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DF33-92A2-442D-AC9E-FECAA4736FB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1701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7E88-82E5-4E4E-9131-F606F59AA282}" type="datetimeFigureOut">
              <a:rPr lang="en-SG" smtClean="0"/>
              <a:t>22/3/2018</a:t>
            </a:fld>
            <a:endParaRPr lang="en-S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DF33-92A2-442D-AC9E-FECAA4736FB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3110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7E88-82E5-4E4E-9131-F606F59AA282}" type="datetimeFigureOut">
              <a:rPr lang="en-SG" smtClean="0"/>
              <a:t>22/3/2018</a:t>
            </a:fld>
            <a:endParaRPr lang="en-S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DF33-92A2-442D-AC9E-FECAA4736FB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77259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7E88-82E5-4E4E-9131-F606F59AA282}" type="datetimeFigureOut">
              <a:rPr lang="en-SG" smtClean="0"/>
              <a:t>22/3/2018</a:t>
            </a:fld>
            <a:endParaRPr lang="en-S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DF33-92A2-442D-AC9E-FECAA4736FB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6973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7E88-82E5-4E4E-9131-F606F59AA282}" type="datetimeFigureOut">
              <a:rPr lang="en-SG" smtClean="0"/>
              <a:t>22/3/2018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DF33-92A2-442D-AC9E-FECAA4736FB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4457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7E88-82E5-4E4E-9131-F606F59AA282}" type="datetimeFigureOut">
              <a:rPr lang="en-SG" smtClean="0"/>
              <a:t>22/3/2018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DF33-92A2-442D-AC9E-FECAA4736FB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5967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7E88-82E5-4E4E-9131-F606F59AA282}" type="datetimeFigureOut">
              <a:rPr lang="en-SG" smtClean="0"/>
              <a:t>22/3/2018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DF33-92A2-442D-AC9E-FECAA4736FB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314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7E88-82E5-4E4E-9131-F606F59AA282}" type="datetimeFigureOut">
              <a:rPr lang="en-SG" smtClean="0"/>
              <a:t>22/3/2018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DF33-92A2-442D-AC9E-FECAA4736FB6}" type="slidenum">
              <a:rPr lang="en-SG" smtClean="0"/>
              <a:t>‹#›</a:t>
            </a:fld>
            <a:endParaRPr lang="en-S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7650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7E88-82E5-4E4E-9131-F606F59AA282}" type="datetimeFigureOut">
              <a:rPr lang="en-SG" smtClean="0"/>
              <a:t>22/3/2018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DF33-92A2-442D-AC9E-FECAA4736FB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33615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7E88-82E5-4E4E-9131-F606F59AA282}" type="datetimeFigureOut">
              <a:rPr lang="en-SG" smtClean="0"/>
              <a:t>22/3/2018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DF33-92A2-442D-AC9E-FECAA4736FB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9286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7E88-82E5-4E4E-9131-F606F59AA282}" type="datetimeFigureOut">
              <a:rPr lang="en-SG" smtClean="0"/>
              <a:t>22/3/2018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DF33-92A2-442D-AC9E-FECAA4736FB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47059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7E88-82E5-4E4E-9131-F606F59AA282}" type="datetimeFigureOut">
              <a:rPr lang="en-SG" smtClean="0"/>
              <a:t>22/3/2018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DF33-92A2-442D-AC9E-FECAA4736FB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903618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57E88-82E5-4E4E-9131-F606F59AA282}" type="datetimeFigureOut">
              <a:rPr lang="en-SG" smtClean="0"/>
              <a:t>22/3/2018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2DF33-92A2-442D-AC9E-FECAA4736FB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84253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5157E88-82E5-4E4E-9131-F606F59AA282}" type="datetimeFigureOut">
              <a:rPr lang="en-SG" smtClean="0"/>
              <a:t>22/3/2018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2DF33-92A2-442D-AC9E-FECAA4736FB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527875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SG" sz="4800" dirty="0" smtClean="0"/>
              <a:t>Chapter 5 - </a:t>
            </a:r>
            <a:r>
              <a:rPr lang="en-SG" sz="4800" dirty="0"/>
              <a:t>Network firewall </a:t>
            </a:r>
            <a:r>
              <a:rPr lang="en-SG" sz="4800" dirty="0" smtClean="0"/>
              <a:t>policies </a:t>
            </a:r>
            <a:r>
              <a:rPr lang="en-SG" sz="4800" dirty="0"/>
              <a:t>configuration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90539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1" y="609600"/>
            <a:ext cx="7280063" cy="619764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ea typeface="ＭＳ Ｐゴシック" pitchFamily="34" charset="-128"/>
              </a:rPr>
              <a:t>Firewall rules and configurations</a:t>
            </a:r>
            <a:endParaRPr lang="en-SG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65416" y="2057400"/>
            <a:ext cx="8636000" cy="3462486"/>
          </a:xfrm>
        </p:spPr>
        <p:txBody>
          <a:bodyPr>
            <a:normAutofit fontScale="92500" lnSpcReduction="20000"/>
          </a:bodyPr>
          <a:lstStyle/>
          <a:p>
            <a:r>
              <a:rPr lang="en-SG" sz="2500" dirty="0"/>
              <a:t>You create firewall rules to allow a computer to </a:t>
            </a:r>
            <a:r>
              <a:rPr lang="en-SG" sz="2500" u="sng" dirty="0"/>
              <a:t>send traffic to, or receive traffic from</a:t>
            </a:r>
            <a:r>
              <a:rPr lang="en-SG" sz="2500" dirty="0"/>
              <a:t>, programs, system services, computers, or users. </a:t>
            </a:r>
          </a:p>
          <a:p>
            <a:endParaRPr lang="en-SG" sz="2500" dirty="0"/>
          </a:p>
          <a:p>
            <a:r>
              <a:rPr lang="en-SG" sz="2500" dirty="0"/>
              <a:t>Firewall rules can be created to:</a:t>
            </a:r>
          </a:p>
          <a:p>
            <a:pPr marL="457200" indent="-457200">
              <a:buAutoNum type="arabicParenR"/>
            </a:pPr>
            <a:r>
              <a:rPr lang="en-SG" sz="2500" dirty="0"/>
              <a:t>Allow the connection.</a:t>
            </a:r>
          </a:p>
          <a:p>
            <a:pPr marL="457200" indent="-457200">
              <a:buAutoNum type="arabicParenR"/>
            </a:pPr>
            <a:r>
              <a:rPr lang="en-SG" sz="2500" dirty="0"/>
              <a:t>Allow a connection only if it is secured through the use of Internet Protocol security (IPsec).</a:t>
            </a:r>
          </a:p>
          <a:p>
            <a:pPr marL="457200" indent="-457200">
              <a:buAutoNum type="arabicParenR"/>
            </a:pPr>
            <a:r>
              <a:rPr lang="en-SG" sz="2500" dirty="0"/>
              <a:t>Block the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28064" y="6490380"/>
            <a:ext cx="237331" cy="5001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87A0F89-ED2C-476F-A165-8F2BC3D842C9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1956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1" y="609600"/>
            <a:ext cx="7280063" cy="619764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ea typeface="ＭＳ Ｐゴシック" pitchFamily="34" charset="-128"/>
              </a:rPr>
              <a:t>Firewall rules and configurations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28064" y="6490380"/>
            <a:ext cx="237331" cy="5001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87A0F89-ED2C-476F-A165-8F2BC3D842C9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905000"/>
            <a:ext cx="6324600" cy="434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283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1" y="609600"/>
            <a:ext cx="7280063" cy="619764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ea typeface="ＭＳ Ｐゴシック" pitchFamily="34" charset="-128"/>
              </a:rPr>
              <a:t>Firewall rules and configurations</a:t>
            </a:r>
            <a:endParaRPr lang="en-SG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95896" y="4695159"/>
            <a:ext cx="8636000" cy="1538883"/>
          </a:xfrm>
        </p:spPr>
        <p:txBody>
          <a:bodyPr>
            <a:normAutofit fontScale="92500" lnSpcReduction="10000"/>
          </a:bodyPr>
          <a:lstStyle/>
          <a:p>
            <a:r>
              <a:rPr lang="en-SG" sz="2500" dirty="0"/>
              <a:t>Filtering rules are applied to the packet in </a:t>
            </a:r>
            <a:r>
              <a:rPr lang="en-SG" sz="2500" u="sng" dirty="0"/>
              <a:t>order</a:t>
            </a:r>
            <a:r>
              <a:rPr lang="en-SG" sz="2500" dirty="0"/>
              <a:t>.  The first matching condition is the rule applied the packet.</a:t>
            </a:r>
          </a:p>
          <a:p>
            <a:r>
              <a:rPr lang="en-SG" sz="2500" dirty="0"/>
              <a:t>For safety, filtering rules should have a </a:t>
            </a:r>
            <a:r>
              <a:rPr lang="en-SG" sz="2500" u="sng" dirty="0"/>
              <a:t>deny all condition at the end of the rules</a:t>
            </a:r>
            <a:r>
              <a:rPr lang="en-SG" sz="25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28064" y="6490380"/>
            <a:ext cx="237331" cy="5001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87A0F89-ED2C-476F-A165-8F2BC3D842C9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1991740" y="2260496"/>
            <a:ext cx="8138366" cy="2133600"/>
            <a:chOff x="288" y="768"/>
            <a:chExt cx="4776" cy="1152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672" y="768"/>
              <a:ext cx="576" cy="296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 dirty="0">
                  <a:solidFill>
                    <a:srgbClr val="000099"/>
                  </a:solidFill>
                </a:rPr>
                <a:t>Direction</a:t>
              </a: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1248" y="768"/>
              <a:ext cx="624" cy="296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Source Address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872" y="768"/>
              <a:ext cx="720" cy="294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Destination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Address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2592" y="768"/>
              <a:ext cx="624" cy="294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 dirty="0">
                  <a:solidFill>
                    <a:srgbClr val="000099"/>
                  </a:solidFill>
                </a:rPr>
                <a:t>Protocol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3216" y="768"/>
              <a:ext cx="624" cy="294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Source Port</a:t>
              </a: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3840" y="768"/>
              <a:ext cx="720" cy="294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Destination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Port</a:t>
              </a: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672" y="1064"/>
              <a:ext cx="576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Out</a:t>
              </a: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248" y="1064"/>
              <a:ext cx="624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Internal</a:t>
              </a: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872" y="1062"/>
              <a:ext cx="720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Any</a:t>
              </a: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2592" y="1062"/>
              <a:ext cx="624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TCP</a:t>
              </a:r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3216" y="1062"/>
              <a:ext cx="624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&gt;1023</a:t>
              </a:r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3840" y="1062"/>
              <a:ext cx="720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23</a:t>
              </a:r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672" y="1352"/>
              <a:ext cx="576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In</a:t>
              </a:r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1248" y="1352"/>
              <a:ext cx="624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Any</a:t>
              </a:r>
            </a:p>
          </p:txBody>
        </p:sp>
        <p:sp>
          <p:nvSpPr>
            <p:cNvPr id="21" name="Rectangle 21"/>
            <p:cNvSpPr>
              <a:spLocks noChangeArrowheads="1"/>
            </p:cNvSpPr>
            <p:nvPr/>
          </p:nvSpPr>
          <p:spPr bwMode="auto">
            <a:xfrm>
              <a:off x="1872" y="1350"/>
              <a:ext cx="720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Internal</a:t>
              </a:r>
            </a:p>
          </p:txBody>
        </p:sp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2592" y="1350"/>
              <a:ext cx="624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TCP</a:t>
              </a:r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3216" y="1350"/>
              <a:ext cx="624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23</a:t>
              </a:r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3840" y="1350"/>
              <a:ext cx="720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&gt;1023</a:t>
              </a:r>
            </a:p>
          </p:txBody>
        </p:sp>
        <p:sp>
          <p:nvSpPr>
            <p:cNvPr id="25" name="Rectangle 26"/>
            <p:cNvSpPr>
              <a:spLocks noChangeArrowheads="1"/>
            </p:cNvSpPr>
            <p:nvPr/>
          </p:nvSpPr>
          <p:spPr bwMode="auto">
            <a:xfrm>
              <a:off x="672" y="1640"/>
              <a:ext cx="576" cy="28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Any</a:t>
              </a:r>
            </a:p>
          </p:txBody>
        </p:sp>
        <p:sp>
          <p:nvSpPr>
            <p:cNvPr id="26" name="Rectangle 27"/>
            <p:cNvSpPr>
              <a:spLocks noChangeArrowheads="1"/>
            </p:cNvSpPr>
            <p:nvPr/>
          </p:nvSpPr>
          <p:spPr bwMode="auto">
            <a:xfrm>
              <a:off x="1248" y="1640"/>
              <a:ext cx="624" cy="28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Any</a:t>
              </a:r>
            </a:p>
          </p:txBody>
        </p:sp>
        <p:sp>
          <p:nvSpPr>
            <p:cNvPr id="27" name="Rectangle 28"/>
            <p:cNvSpPr>
              <a:spLocks noChangeArrowheads="1"/>
            </p:cNvSpPr>
            <p:nvPr/>
          </p:nvSpPr>
          <p:spPr bwMode="auto">
            <a:xfrm>
              <a:off x="1872" y="1638"/>
              <a:ext cx="720" cy="28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Any</a:t>
              </a:r>
            </a:p>
          </p:txBody>
        </p:sp>
        <p:sp>
          <p:nvSpPr>
            <p:cNvPr id="28" name="Rectangle 29"/>
            <p:cNvSpPr>
              <a:spLocks noChangeArrowheads="1"/>
            </p:cNvSpPr>
            <p:nvPr/>
          </p:nvSpPr>
          <p:spPr bwMode="auto">
            <a:xfrm>
              <a:off x="2592" y="1638"/>
              <a:ext cx="624" cy="28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Any</a:t>
              </a:r>
            </a:p>
          </p:txBody>
        </p:sp>
        <p:sp>
          <p:nvSpPr>
            <p:cNvPr id="29" name="Rectangle 30"/>
            <p:cNvSpPr>
              <a:spLocks noChangeArrowheads="1"/>
            </p:cNvSpPr>
            <p:nvPr/>
          </p:nvSpPr>
          <p:spPr bwMode="auto">
            <a:xfrm>
              <a:off x="3216" y="1638"/>
              <a:ext cx="624" cy="28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Any</a:t>
              </a:r>
            </a:p>
          </p:txBody>
        </p:sp>
        <p:sp>
          <p:nvSpPr>
            <p:cNvPr id="30" name="Rectangle 31"/>
            <p:cNvSpPr>
              <a:spLocks noChangeArrowheads="1"/>
            </p:cNvSpPr>
            <p:nvPr/>
          </p:nvSpPr>
          <p:spPr bwMode="auto">
            <a:xfrm>
              <a:off x="3840" y="1638"/>
              <a:ext cx="720" cy="28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Any</a:t>
              </a:r>
            </a:p>
          </p:txBody>
        </p:sp>
        <p:sp>
          <p:nvSpPr>
            <p:cNvPr id="31" name="Rectangle 33"/>
            <p:cNvSpPr>
              <a:spLocks noChangeArrowheads="1"/>
            </p:cNvSpPr>
            <p:nvPr/>
          </p:nvSpPr>
          <p:spPr bwMode="auto">
            <a:xfrm>
              <a:off x="4536" y="768"/>
              <a:ext cx="528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Action</a:t>
              </a:r>
            </a:p>
          </p:txBody>
        </p:sp>
        <p:sp>
          <p:nvSpPr>
            <p:cNvPr id="32" name="Rectangle 34"/>
            <p:cNvSpPr>
              <a:spLocks noChangeArrowheads="1"/>
            </p:cNvSpPr>
            <p:nvPr/>
          </p:nvSpPr>
          <p:spPr bwMode="auto">
            <a:xfrm>
              <a:off x="4536" y="1056"/>
              <a:ext cx="528" cy="287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Permit</a:t>
              </a:r>
            </a:p>
          </p:txBody>
        </p:sp>
        <p:sp>
          <p:nvSpPr>
            <p:cNvPr id="33" name="Rectangle 35"/>
            <p:cNvSpPr>
              <a:spLocks noChangeArrowheads="1"/>
            </p:cNvSpPr>
            <p:nvPr/>
          </p:nvSpPr>
          <p:spPr bwMode="auto">
            <a:xfrm>
              <a:off x="4536" y="1344"/>
              <a:ext cx="528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Permit</a:t>
              </a:r>
            </a:p>
          </p:txBody>
        </p:sp>
        <p:sp>
          <p:nvSpPr>
            <p:cNvPr id="34" name="Rectangle 36"/>
            <p:cNvSpPr>
              <a:spLocks noChangeArrowheads="1"/>
            </p:cNvSpPr>
            <p:nvPr/>
          </p:nvSpPr>
          <p:spPr bwMode="auto">
            <a:xfrm>
              <a:off x="4536" y="1632"/>
              <a:ext cx="528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Deny</a:t>
              </a:r>
            </a:p>
          </p:txBody>
        </p:sp>
        <p:sp>
          <p:nvSpPr>
            <p:cNvPr id="35" name="Rectangle 37"/>
            <p:cNvSpPr>
              <a:spLocks noChangeArrowheads="1"/>
            </p:cNvSpPr>
            <p:nvPr/>
          </p:nvSpPr>
          <p:spPr bwMode="auto">
            <a:xfrm>
              <a:off x="288" y="768"/>
              <a:ext cx="384" cy="296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Rule</a:t>
              </a:r>
            </a:p>
          </p:txBody>
        </p:sp>
        <p:sp>
          <p:nvSpPr>
            <p:cNvPr id="36" name="Rectangle 38"/>
            <p:cNvSpPr>
              <a:spLocks noChangeArrowheads="1"/>
            </p:cNvSpPr>
            <p:nvPr/>
          </p:nvSpPr>
          <p:spPr bwMode="auto">
            <a:xfrm>
              <a:off x="288" y="1056"/>
              <a:ext cx="384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1</a:t>
              </a:r>
            </a:p>
          </p:txBody>
        </p:sp>
        <p:sp>
          <p:nvSpPr>
            <p:cNvPr id="37" name="Rectangle 39"/>
            <p:cNvSpPr>
              <a:spLocks noChangeArrowheads="1"/>
            </p:cNvSpPr>
            <p:nvPr/>
          </p:nvSpPr>
          <p:spPr bwMode="auto">
            <a:xfrm>
              <a:off x="288" y="1344"/>
              <a:ext cx="384" cy="296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2</a:t>
              </a:r>
            </a:p>
          </p:txBody>
        </p:sp>
        <p:sp>
          <p:nvSpPr>
            <p:cNvPr id="38" name="Rectangle 40"/>
            <p:cNvSpPr>
              <a:spLocks noChangeArrowheads="1"/>
            </p:cNvSpPr>
            <p:nvPr/>
          </p:nvSpPr>
          <p:spPr bwMode="auto">
            <a:xfrm>
              <a:off x="288" y="1632"/>
              <a:ext cx="384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580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1" y="609600"/>
            <a:ext cx="7280063" cy="619764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ea typeface="ＭＳ Ｐゴシック" pitchFamily="34" charset="-128"/>
              </a:rPr>
              <a:t>Firewall rules and configurations</a:t>
            </a:r>
            <a:endParaRPr lang="en-SG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91740" y="4447730"/>
            <a:ext cx="8636000" cy="2308324"/>
          </a:xfrm>
        </p:spPr>
        <p:txBody>
          <a:bodyPr/>
          <a:lstStyle/>
          <a:p>
            <a:r>
              <a:rPr lang="en-SG" sz="2500" u="sng" dirty="0" err="1"/>
              <a:t>Eg</a:t>
            </a:r>
            <a:r>
              <a:rPr lang="en-SG" sz="2500" u="sng" dirty="0"/>
              <a:t>: Filtering telnet</a:t>
            </a:r>
          </a:p>
          <a:p>
            <a:r>
              <a:rPr lang="en-GB" sz="2500" dirty="0"/>
              <a:t>Rule 1 - allows outgoing Telnet (port 23)</a:t>
            </a:r>
          </a:p>
          <a:p>
            <a:r>
              <a:rPr lang="en-GB" sz="2500" dirty="0"/>
              <a:t>Rule 2 - allows response from Telnet server</a:t>
            </a:r>
          </a:p>
          <a:p>
            <a:r>
              <a:rPr lang="en-GB" sz="2500" dirty="0"/>
              <a:t>Rule 3 - is the default deny rule</a:t>
            </a:r>
          </a:p>
          <a:p>
            <a:endParaRPr lang="en-SG" sz="2500" dirty="0"/>
          </a:p>
          <a:p>
            <a:endParaRPr lang="en-SG" sz="25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28064" y="6490380"/>
            <a:ext cx="237331" cy="5001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87A0F89-ED2C-476F-A165-8F2BC3D842C9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grpSp>
        <p:nvGrpSpPr>
          <p:cNvPr id="39" name="Group 4"/>
          <p:cNvGrpSpPr>
            <a:grpSpLocks/>
          </p:cNvGrpSpPr>
          <p:nvPr/>
        </p:nvGrpSpPr>
        <p:grpSpPr bwMode="auto">
          <a:xfrm>
            <a:off x="1961097" y="2023630"/>
            <a:ext cx="8138366" cy="2133600"/>
            <a:chOff x="288" y="768"/>
            <a:chExt cx="4776" cy="1152"/>
          </a:xfrm>
        </p:grpSpPr>
        <p:sp>
          <p:nvSpPr>
            <p:cNvPr id="40" name="Rectangle 5"/>
            <p:cNvSpPr>
              <a:spLocks noChangeArrowheads="1"/>
            </p:cNvSpPr>
            <p:nvPr/>
          </p:nvSpPr>
          <p:spPr bwMode="auto">
            <a:xfrm>
              <a:off x="672" y="768"/>
              <a:ext cx="576" cy="296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 dirty="0">
                  <a:solidFill>
                    <a:srgbClr val="000099"/>
                  </a:solidFill>
                </a:rPr>
                <a:t>Direction</a:t>
              </a:r>
            </a:p>
          </p:txBody>
        </p:sp>
        <p:sp>
          <p:nvSpPr>
            <p:cNvPr id="41" name="Rectangle 6"/>
            <p:cNvSpPr>
              <a:spLocks noChangeArrowheads="1"/>
            </p:cNvSpPr>
            <p:nvPr/>
          </p:nvSpPr>
          <p:spPr bwMode="auto">
            <a:xfrm>
              <a:off x="1248" y="768"/>
              <a:ext cx="624" cy="296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Source Address</a:t>
              </a:r>
            </a:p>
          </p:txBody>
        </p:sp>
        <p:sp>
          <p:nvSpPr>
            <p:cNvPr id="42" name="Rectangle 7"/>
            <p:cNvSpPr>
              <a:spLocks noChangeArrowheads="1"/>
            </p:cNvSpPr>
            <p:nvPr/>
          </p:nvSpPr>
          <p:spPr bwMode="auto">
            <a:xfrm>
              <a:off x="1872" y="768"/>
              <a:ext cx="720" cy="294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Destination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Address</a:t>
              </a:r>
            </a:p>
          </p:txBody>
        </p:sp>
        <p:sp>
          <p:nvSpPr>
            <p:cNvPr id="43" name="Rectangle 8"/>
            <p:cNvSpPr>
              <a:spLocks noChangeArrowheads="1"/>
            </p:cNvSpPr>
            <p:nvPr/>
          </p:nvSpPr>
          <p:spPr bwMode="auto">
            <a:xfrm>
              <a:off x="2592" y="768"/>
              <a:ext cx="624" cy="294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Protocol</a:t>
              </a:r>
            </a:p>
          </p:txBody>
        </p:sp>
        <p:sp>
          <p:nvSpPr>
            <p:cNvPr id="44" name="Rectangle 9"/>
            <p:cNvSpPr>
              <a:spLocks noChangeArrowheads="1"/>
            </p:cNvSpPr>
            <p:nvPr/>
          </p:nvSpPr>
          <p:spPr bwMode="auto">
            <a:xfrm>
              <a:off x="3216" y="768"/>
              <a:ext cx="624" cy="294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Source Port</a:t>
              </a:r>
            </a:p>
          </p:txBody>
        </p:sp>
        <p:sp>
          <p:nvSpPr>
            <p:cNvPr id="45" name="Rectangle 10"/>
            <p:cNvSpPr>
              <a:spLocks noChangeArrowheads="1"/>
            </p:cNvSpPr>
            <p:nvPr/>
          </p:nvSpPr>
          <p:spPr bwMode="auto">
            <a:xfrm>
              <a:off x="3840" y="768"/>
              <a:ext cx="720" cy="294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Destination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Port</a:t>
              </a:r>
            </a:p>
          </p:txBody>
        </p:sp>
        <p:sp>
          <p:nvSpPr>
            <p:cNvPr id="46" name="Rectangle 12"/>
            <p:cNvSpPr>
              <a:spLocks noChangeArrowheads="1"/>
            </p:cNvSpPr>
            <p:nvPr/>
          </p:nvSpPr>
          <p:spPr bwMode="auto">
            <a:xfrm>
              <a:off x="672" y="1064"/>
              <a:ext cx="576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Out</a:t>
              </a:r>
            </a:p>
          </p:txBody>
        </p:sp>
        <p:sp>
          <p:nvSpPr>
            <p:cNvPr id="47" name="Rectangle 13"/>
            <p:cNvSpPr>
              <a:spLocks noChangeArrowheads="1"/>
            </p:cNvSpPr>
            <p:nvPr/>
          </p:nvSpPr>
          <p:spPr bwMode="auto">
            <a:xfrm>
              <a:off x="1248" y="1064"/>
              <a:ext cx="624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Internal</a:t>
              </a:r>
            </a:p>
          </p:txBody>
        </p:sp>
        <p:sp>
          <p:nvSpPr>
            <p:cNvPr id="48" name="Rectangle 14"/>
            <p:cNvSpPr>
              <a:spLocks noChangeArrowheads="1"/>
            </p:cNvSpPr>
            <p:nvPr/>
          </p:nvSpPr>
          <p:spPr bwMode="auto">
            <a:xfrm>
              <a:off x="1872" y="1062"/>
              <a:ext cx="720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Any</a:t>
              </a:r>
            </a:p>
          </p:txBody>
        </p:sp>
        <p:sp>
          <p:nvSpPr>
            <p:cNvPr id="49" name="Rectangle 15"/>
            <p:cNvSpPr>
              <a:spLocks noChangeArrowheads="1"/>
            </p:cNvSpPr>
            <p:nvPr/>
          </p:nvSpPr>
          <p:spPr bwMode="auto">
            <a:xfrm>
              <a:off x="2592" y="1062"/>
              <a:ext cx="624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TCP</a:t>
              </a:r>
            </a:p>
          </p:txBody>
        </p:sp>
        <p:sp>
          <p:nvSpPr>
            <p:cNvPr id="50" name="Rectangle 16"/>
            <p:cNvSpPr>
              <a:spLocks noChangeArrowheads="1"/>
            </p:cNvSpPr>
            <p:nvPr/>
          </p:nvSpPr>
          <p:spPr bwMode="auto">
            <a:xfrm>
              <a:off x="3216" y="1062"/>
              <a:ext cx="624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&gt;1023</a:t>
              </a:r>
            </a:p>
          </p:txBody>
        </p:sp>
        <p:sp>
          <p:nvSpPr>
            <p:cNvPr id="51" name="Rectangle 17"/>
            <p:cNvSpPr>
              <a:spLocks noChangeArrowheads="1"/>
            </p:cNvSpPr>
            <p:nvPr/>
          </p:nvSpPr>
          <p:spPr bwMode="auto">
            <a:xfrm>
              <a:off x="3840" y="1062"/>
              <a:ext cx="720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23</a:t>
              </a:r>
            </a:p>
          </p:txBody>
        </p:sp>
        <p:sp>
          <p:nvSpPr>
            <p:cNvPr id="52" name="Rectangle 19"/>
            <p:cNvSpPr>
              <a:spLocks noChangeArrowheads="1"/>
            </p:cNvSpPr>
            <p:nvPr/>
          </p:nvSpPr>
          <p:spPr bwMode="auto">
            <a:xfrm>
              <a:off x="672" y="1352"/>
              <a:ext cx="576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In</a:t>
              </a:r>
            </a:p>
          </p:txBody>
        </p:sp>
        <p:sp>
          <p:nvSpPr>
            <p:cNvPr id="53" name="Rectangle 20"/>
            <p:cNvSpPr>
              <a:spLocks noChangeArrowheads="1"/>
            </p:cNvSpPr>
            <p:nvPr/>
          </p:nvSpPr>
          <p:spPr bwMode="auto">
            <a:xfrm>
              <a:off x="1248" y="1352"/>
              <a:ext cx="624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Any</a:t>
              </a:r>
            </a:p>
          </p:txBody>
        </p:sp>
        <p:sp>
          <p:nvSpPr>
            <p:cNvPr id="54" name="Rectangle 21"/>
            <p:cNvSpPr>
              <a:spLocks noChangeArrowheads="1"/>
            </p:cNvSpPr>
            <p:nvPr/>
          </p:nvSpPr>
          <p:spPr bwMode="auto">
            <a:xfrm>
              <a:off x="1872" y="1350"/>
              <a:ext cx="720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Internal</a:t>
              </a:r>
            </a:p>
          </p:txBody>
        </p:sp>
        <p:sp>
          <p:nvSpPr>
            <p:cNvPr id="55" name="Rectangle 22"/>
            <p:cNvSpPr>
              <a:spLocks noChangeArrowheads="1"/>
            </p:cNvSpPr>
            <p:nvPr/>
          </p:nvSpPr>
          <p:spPr bwMode="auto">
            <a:xfrm>
              <a:off x="2592" y="1350"/>
              <a:ext cx="624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TCP</a:t>
              </a:r>
            </a:p>
          </p:txBody>
        </p:sp>
        <p:sp>
          <p:nvSpPr>
            <p:cNvPr id="56" name="Rectangle 23"/>
            <p:cNvSpPr>
              <a:spLocks noChangeArrowheads="1"/>
            </p:cNvSpPr>
            <p:nvPr/>
          </p:nvSpPr>
          <p:spPr bwMode="auto">
            <a:xfrm>
              <a:off x="3216" y="1350"/>
              <a:ext cx="624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23</a:t>
              </a:r>
            </a:p>
          </p:txBody>
        </p:sp>
        <p:sp>
          <p:nvSpPr>
            <p:cNvPr id="57" name="Rectangle 24"/>
            <p:cNvSpPr>
              <a:spLocks noChangeArrowheads="1"/>
            </p:cNvSpPr>
            <p:nvPr/>
          </p:nvSpPr>
          <p:spPr bwMode="auto">
            <a:xfrm>
              <a:off x="3840" y="1350"/>
              <a:ext cx="720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&gt;1023</a:t>
              </a:r>
            </a:p>
          </p:txBody>
        </p:sp>
        <p:sp>
          <p:nvSpPr>
            <p:cNvPr id="58" name="Rectangle 26"/>
            <p:cNvSpPr>
              <a:spLocks noChangeArrowheads="1"/>
            </p:cNvSpPr>
            <p:nvPr/>
          </p:nvSpPr>
          <p:spPr bwMode="auto">
            <a:xfrm>
              <a:off x="672" y="1640"/>
              <a:ext cx="576" cy="28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Any</a:t>
              </a:r>
            </a:p>
          </p:txBody>
        </p:sp>
        <p:sp>
          <p:nvSpPr>
            <p:cNvPr id="59" name="Rectangle 27"/>
            <p:cNvSpPr>
              <a:spLocks noChangeArrowheads="1"/>
            </p:cNvSpPr>
            <p:nvPr/>
          </p:nvSpPr>
          <p:spPr bwMode="auto">
            <a:xfrm>
              <a:off x="1248" y="1640"/>
              <a:ext cx="624" cy="28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Any</a:t>
              </a:r>
            </a:p>
          </p:txBody>
        </p:sp>
        <p:sp>
          <p:nvSpPr>
            <p:cNvPr id="60" name="Rectangle 28"/>
            <p:cNvSpPr>
              <a:spLocks noChangeArrowheads="1"/>
            </p:cNvSpPr>
            <p:nvPr/>
          </p:nvSpPr>
          <p:spPr bwMode="auto">
            <a:xfrm>
              <a:off x="1872" y="1638"/>
              <a:ext cx="720" cy="28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Any</a:t>
              </a:r>
            </a:p>
          </p:txBody>
        </p:sp>
        <p:sp>
          <p:nvSpPr>
            <p:cNvPr id="61" name="Rectangle 29"/>
            <p:cNvSpPr>
              <a:spLocks noChangeArrowheads="1"/>
            </p:cNvSpPr>
            <p:nvPr/>
          </p:nvSpPr>
          <p:spPr bwMode="auto">
            <a:xfrm>
              <a:off x="2592" y="1638"/>
              <a:ext cx="624" cy="28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Any</a:t>
              </a:r>
            </a:p>
          </p:txBody>
        </p:sp>
        <p:sp>
          <p:nvSpPr>
            <p:cNvPr id="62" name="Rectangle 30"/>
            <p:cNvSpPr>
              <a:spLocks noChangeArrowheads="1"/>
            </p:cNvSpPr>
            <p:nvPr/>
          </p:nvSpPr>
          <p:spPr bwMode="auto">
            <a:xfrm>
              <a:off x="3216" y="1638"/>
              <a:ext cx="624" cy="28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Any</a:t>
              </a:r>
            </a:p>
          </p:txBody>
        </p:sp>
        <p:sp>
          <p:nvSpPr>
            <p:cNvPr id="63" name="Rectangle 31"/>
            <p:cNvSpPr>
              <a:spLocks noChangeArrowheads="1"/>
            </p:cNvSpPr>
            <p:nvPr/>
          </p:nvSpPr>
          <p:spPr bwMode="auto">
            <a:xfrm>
              <a:off x="3840" y="1638"/>
              <a:ext cx="720" cy="28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Any</a:t>
              </a:r>
            </a:p>
          </p:txBody>
        </p:sp>
        <p:sp>
          <p:nvSpPr>
            <p:cNvPr id="64" name="Rectangle 33"/>
            <p:cNvSpPr>
              <a:spLocks noChangeArrowheads="1"/>
            </p:cNvSpPr>
            <p:nvPr/>
          </p:nvSpPr>
          <p:spPr bwMode="auto">
            <a:xfrm>
              <a:off x="4536" y="768"/>
              <a:ext cx="528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Action</a:t>
              </a:r>
            </a:p>
          </p:txBody>
        </p:sp>
        <p:sp>
          <p:nvSpPr>
            <p:cNvPr id="65" name="Rectangle 34"/>
            <p:cNvSpPr>
              <a:spLocks noChangeArrowheads="1"/>
            </p:cNvSpPr>
            <p:nvPr/>
          </p:nvSpPr>
          <p:spPr bwMode="auto">
            <a:xfrm>
              <a:off x="4536" y="1056"/>
              <a:ext cx="528" cy="287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Permit</a:t>
              </a:r>
            </a:p>
          </p:txBody>
        </p:sp>
        <p:sp>
          <p:nvSpPr>
            <p:cNvPr id="66" name="Rectangle 35"/>
            <p:cNvSpPr>
              <a:spLocks noChangeArrowheads="1"/>
            </p:cNvSpPr>
            <p:nvPr/>
          </p:nvSpPr>
          <p:spPr bwMode="auto">
            <a:xfrm>
              <a:off x="4536" y="1344"/>
              <a:ext cx="528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Permit</a:t>
              </a:r>
            </a:p>
          </p:txBody>
        </p:sp>
        <p:sp>
          <p:nvSpPr>
            <p:cNvPr id="67" name="Rectangle 36"/>
            <p:cNvSpPr>
              <a:spLocks noChangeArrowheads="1"/>
            </p:cNvSpPr>
            <p:nvPr/>
          </p:nvSpPr>
          <p:spPr bwMode="auto">
            <a:xfrm>
              <a:off x="4536" y="1632"/>
              <a:ext cx="528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Deny</a:t>
              </a:r>
            </a:p>
          </p:txBody>
        </p:sp>
        <p:sp>
          <p:nvSpPr>
            <p:cNvPr id="68" name="Rectangle 37"/>
            <p:cNvSpPr>
              <a:spLocks noChangeArrowheads="1"/>
            </p:cNvSpPr>
            <p:nvPr/>
          </p:nvSpPr>
          <p:spPr bwMode="auto">
            <a:xfrm>
              <a:off x="288" y="768"/>
              <a:ext cx="384" cy="296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Rule</a:t>
              </a:r>
            </a:p>
          </p:txBody>
        </p:sp>
        <p:sp>
          <p:nvSpPr>
            <p:cNvPr id="69" name="Rectangle 38"/>
            <p:cNvSpPr>
              <a:spLocks noChangeArrowheads="1"/>
            </p:cNvSpPr>
            <p:nvPr/>
          </p:nvSpPr>
          <p:spPr bwMode="auto">
            <a:xfrm>
              <a:off x="288" y="1056"/>
              <a:ext cx="384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1</a:t>
              </a:r>
            </a:p>
          </p:txBody>
        </p:sp>
        <p:sp>
          <p:nvSpPr>
            <p:cNvPr id="70" name="Rectangle 39"/>
            <p:cNvSpPr>
              <a:spLocks noChangeArrowheads="1"/>
            </p:cNvSpPr>
            <p:nvPr/>
          </p:nvSpPr>
          <p:spPr bwMode="auto">
            <a:xfrm>
              <a:off x="288" y="1344"/>
              <a:ext cx="384" cy="296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2</a:t>
              </a:r>
            </a:p>
          </p:txBody>
        </p:sp>
        <p:sp>
          <p:nvSpPr>
            <p:cNvPr id="71" name="Rectangle 40"/>
            <p:cNvSpPr>
              <a:spLocks noChangeArrowheads="1"/>
            </p:cNvSpPr>
            <p:nvPr/>
          </p:nvSpPr>
          <p:spPr bwMode="auto">
            <a:xfrm>
              <a:off x="288" y="1632"/>
              <a:ext cx="384" cy="28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GB" sz="1400" b="1">
                  <a:solidFill>
                    <a:srgbClr val="000099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8008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1" y="609600"/>
            <a:ext cx="7280063" cy="619764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ea typeface="ＭＳ Ｐゴシック" pitchFamily="34" charset="-128"/>
              </a:rPr>
              <a:t>Firewall rules and configurations</a:t>
            </a:r>
            <a:endParaRPr lang="en-SG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65416" y="2057400"/>
            <a:ext cx="8636000" cy="3077766"/>
          </a:xfrm>
        </p:spPr>
        <p:txBody>
          <a:bodyPr>
            <a:normAutofit fontScale="92500" lnSpcReduction="20000"/>
          </a:bodyPr>
          <a:lstStyle/>
          <a:p>
            <a:r>
              <a:rPr lang="en-SG" sz="2500" u="sng" dirty="0"/>
              <a:t>Packet Filtering Rules (Two common strategies)</a:t>
            </a:r>
          </a:p>
          <a:p>
            <a:endParaRPr lang="en-SG" sz="2500" u="sng" dirty="0"/>
          </a:p>
          <a:p>
            <a:pPr marL="457200" indent="-457200">
              <a:buAutoNum type="arabicParenR"/>
            </a:pPr>
            <a:r>
              <a:rPr lang="en-SG" sz="2500" dirty="0"/>
              <a:t>Build rules from most specific to most general. This is to ensure that a general rule does not “override” a more specific but conflicting rule.</a:t>
            </a:r>
          </a:p>
          <a:p>
            <a:pPr marL="457200" indent="-457200">
              <a:buAutoNum type="arabicParenR"/>
            </a:pPr>
            <a:endParaRPr lang="en-SG" sz="2500" dirty="0"/>
          </a:p>
          <a:p>
            <a:pPr marL="457200" indent="-457200">
              <a:buAutoNum type="arabicParenR"/>
            </a:pPr>
            <a:r>
              <a:rPr lang="en-SG" sz="2500" dirty="0"/>
              <a:t>Rules should be ordered such that the ones most often used are at top of list. Done for performance reasons.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28064" y="6490380"/>
            <a:ext cx="237331" cy="5001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87A0F89-ED2C-476F-A165-8F2BC3D842C9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2844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1" y="609600"/>
            <a:ext cx="7280063" cy="619764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ea typeface="ＭＳ Ｐゴシック" pitchFamily="34" charset="-128"/>
              </a:rPr>
              <a:t>Firewall rules and configurations</a:t>
            </a:r>
            <a:endParaRPr lang="en-SG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65416" y="2057401"/>
            <a:ext cx="8636000" cy="3847207"/>
          </a:xfrm>
        </p:spPr>
        <p:txBody>
          <a:bodyPr>
            <a:normAutofit fontScale="92500" lnSpcReduction="20000"/>
          </a:bodyPr>
          <a:lstStyle/>
          <a:p>
            <a:r>
              <a:rPr lang="en-SG" sz="2500" u="sng" dirty="0"/>
              <a:t>Best Practices</a:t>
            </a:r>
          </a:p>
          <a:p>
            <a:endParaRPr lang="en-SG" sz="2500" u="sng" dirty="0"/>
          </a:p>
          <a:p>
            <a:pPr marL="457200" indent="-457200">
              <a:buAutoNum type="arabicParenR"/>
            </a:pPr>
            <a:r>
              <a:rPr lang="en-SG" sz="2500" dirty="0"/>
              <a:t>Deny all traffic by default, and only enable those services that are needed. (Good or bad?)</a:t>
            </a:r>
          </a:p>
          <a:p>
            <a:pPr marL="457200" indent="-457200">
              <a:buAutoNum type="arabicParenR"/>
            </a:pPr>
            <a:r>
              <a:rPr lang="en-SG" sz="2500" dirty="0"/>
              <a:t>Disable or uninstall any unnecessary services and software on the firewall that are not specifically required.</a:t>
            </a:r>
          </a:p>
          <a:p>
            <a:pPr marL="457200" indent="-457200">
              <a:buAutoNum type="arabicParenR"/>
            </a:pPr>
            <a:r>
              <a:rPr lang="en-SG" sz="2500" dirty="0"/>
              <a:t>Limit the number of applications that run on the firewall in order to let the firewall do what it's best at doing. </a:t>
            </a:r>
          </a:p>
          <a:p>
            <a:pPr marL="457200" indent="-457200">
              <a:buAutoNum type="arabicParenR"/>
            </a:pPr>
            <a:r>
              <a:rPr lang="en-SG" sz="2500" dirty="0"/>
              <a:t>Run the firewall service as a unique user ID instead of administrator or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28064" y="6490380"/>
            <a:ext cx="237331" cy="5001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87A0F89-ED2C-476F-A165-8F2BC3D842C9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5922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1" y="609600"/>
            <a:ext cx="7280063" cy="619764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ea typeface="ＭＳ Ｐゴシック" pitchFamily="34" charset="-128"/>
              </a:rPr>
              <a:t>Firewall rules and configurations</a:t>
            </a:r>
            <a:endParaRPr lang="en-SG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65416" y="2057400"/>
            <a:ext cx="8854984" cy="3077766"/>
          </a:xfrm>
        </p:spPr>
        <p:txBody>
          <a:bodyPr>
            <a:normAutofit fontScale="85000" lnSpcReduction="20000"/>
          </a:bodyPr>
          <a:lstStyle/>
          <a:p>
            <a:r>
              <a:rPr lang="en-SG" sz="2500" u="sng" dirty="0"/>
              <a:t>Best Practices (</a:t>
            </a:r>
            <a:r>
              <a:rPr lang="en-SG" sz="2500" u="sng" dirty="0" err="1"/>
              <a:t>contd</a:t>
            </a:r>
            <a:r>
              <a:rPr lang="en-SG" sz="2500" u="sng" dirty="0"/>
              <a:t>)</a:t>
            </a:r>
          </a:p>
          <a:p>
            <a:endParaRPr lang="en-SG" sz="2500" u="sng" dirty="0"/>
          </a:p>
          <a:p>
            <a:pPr marL="0" indent="0">
              <a:buNone/>
            </a:pPr>
            <a:r>
              <a:rPr lang="en-SG" sz="2500" dirty="0"/>
              <a:t>5) Change the default firewall administrator or root password</a:t>
            </a:r>
          </a:p>
          <a:p>
            <a:pPr marL="0" indent="0">
              <a:buNone/>
            </a:pPr>
            <a:r>
              <a:rPr lang="en-SG" sz="2500" dirty="0"/>
              <a:t>6) Do not rely on packet filtering alone. Use </a:t>
            </a:r>
            <a:r>
              <a:rPr lang="en-SG" sz="2500" dirty="0" err="1"/>
              <a:t>stateful</a:t>
            </a:r>
            <a:r>
              <a:rPr lang="en-SG" sz="2500" dirty="0"/>
              <a:t> inspection and application proxies if possible.</a:t>
            </a:r>
          </a:p>
          <a:p>
            <a:pPr marL="0" indent="0">
              <a:buNone/>
            </a:pPr>
            <a:r>
              <a:rPr lang="en-SG" sz="2500" dirty="0" smtClean="0"/>
              <a:t>7) Ensure </a:t>
            </a:r>
            <a:r>
              <a:rPr lang="en-SG" sz="2500" dirty="0"/>
              <a:t>that physical access to the firewall is controlled.</a:t>
            </a:r>
          </a:p>
          <a:p>
            <a:pPr marL="0" indent="0">
              <a:buNone/>
            </a:pPr>
            <a:r>
              <a:rPr lang="en-SG" sz="2500" dirty="0"/>
              <a:t>8) Regularly monitor firewall logs.</a:t>
            </a:r>
          </a:p>
          <a:p>
            <a:pPr marL="0" indent="0">
              <a:buNone/>
            </a:pPr>
            <a:r>
              <a:rPr lang="en-SG" sz="2500" dirty="0"/>
              <a:t>9) Document all firewall rule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28064" y="6490380"/>
            <a:ext cx="237331" cy="5001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87A0F89-ED2C-476F-A165-8F2BC3D842C9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9960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6704C-0FC6-4F40-814F-424B283E028D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z="3600" dirty="0"/>
              <a:t>Sample Network to Be Protected by a Firewall</a:t>
            </a:r>
          </a:p>
        </p:txBody>
      </p:sp>
      <p:pic>
        <p:nvPicPr>
          <p:cNvPr id="67587" name="Picture 4" descr="Fig04-0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02"/>
          <a:stretch>
            <a:fillRect/>
          </a:stretch>
        </p:blipFill>
        <p:spPr bwMode="auto">
          <a:xfrm>
            <a:off x="2362201" y="1600200"/>
            <a:ext cx="7845425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9760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15732B-6552-440A-A1ED-CE0EEADD3C32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696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z="3600" dirty="0"/>
              <a:t>Rules for ICMP Packets</a:t>
            </a:r>
          </a:p>
        </p:txBody>
      </p:sp>
      <p:sp>
        <p:nvSpPr>
          <p:cNvPr id="696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/>
              <a:t>ICMP lets you test network connectivity and makes you aware of communications problems</a:t>
            </a:r>
          </a:p>
          <a:p>
            <a:r>
              <a:rPr lang="en-US" altLang="en-US"/>
              <a:t>Rules are especially important because ICMP packets can be easily forged and used to redirect other communications</a:t>
            </a:r>
          </a:p>
        </p:txBody>
      </p:sp>
    </p:spTree>
    <p:extLst>
      <p:ext uri="{BB962C8B-B14F-4D97-AF65-F5344CB8AC3E}">
        <p14:creationId xmlns:p14="http://schemas.microsoft.com/office/powerpoint/2010/main" val="394640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A255CB-C7FB-49F1-AE9D-99C691ADB172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z="3600" dirty="0"/>
              <a:t>ICMP Packet-Filter Rules</a:t>
            </a:r>
          </a:p>
        </p:txBody>
      </p:sp>
      <p:pic>
        <p:nvPicPr>
          <p:cNvPr id="71683" name="Picture 4" descr="Tbl04-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9"/>
          <a:stretch>
            <a:fillRect/>
          </a:stretch>
        </p:blipFill>
        <p:spPr bwMode="auto">
          <a:xfrm>
            <a:off x="2286000" y="1301750"/>
            <a:ext cx="7696200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8705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58C50-5526-4CD6-B45E-9BC9C00AB5BB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z="3600" dirty="0"/>
              <a:t>Rules That Enable Web Access</a:t>
            </a:r>
          </a:p>
        </p:txBody>
      </p:sp>
      <p:sp>
        <p:nvSpPr>
          <p:cNvPr id="737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/>
              <a:t>Rules need to cover both standard HTTP traffic on TCP Port 80 as well as Secure HTTP (HTTPS) traffic on TCP Port 443</a:t>
            </a:r>
          </a:p>
        </p:txBody>
      </p:sp>
      <p:pic>
        <p:nvPicPr>
          <p:cNvPr id="73732" name="Picture 4" descr="Tbl04-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37" b="25209"/>
          <a:stretch>
            <a:fillRect/>
          </a:stretch>
        </p:blipFill>
        <p:spPr bwMode="auto">
          <a:xfrm>
            <a:off x="1712914" y="3276600"/>
            <a:ext cx="8878887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542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F6BB33-9DA4-4507-AFCD-EDFFA7537481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z="3600" dirty="0"/>
              <a:t>Rules That Enable DNS</a:t>
            </a:r>
          </a:p>
        </p:txBody>
      </p:sp>
      <p:sp>
        <p:nvSpPr>
          <p:cNvPr id="757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/>
              <a:t>Set up rules that enable external clients to access computers in your network using the same TCP and UDP ports</a:t>
            </a:r>
          </a:p>
        </p:txBody>
      </p:sp>
      <p:pic>
        <p:nvPicPr>
          <p:cNvPr id="75780" name="Picture 4" descr="Tbl04-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25" b="25235"/>
          <a:stretch>
            <a:fillRect/>
          </a:stretch>
        </p:blipFill>
        <p:spPr bwMode="auto">
          <a:xfrm>
            <a:off x="1795463" y="3200400"/>
            <a:ext cx="8640762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2429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440431-641D-4028-BF60-ABD4565ECA87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z="3600" dirty="0"/>
              <a:t>Rules That Enable FTP</a:t>
            </a:r>
          </a:p>
        </p:txBody>
      </p:sp>
      <p:sp>
        <p:nvSpPr>
          <p:cNvPr id="778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/>
              <a:t>Rules need to support two separate connections</a:t>
            </a:r>
          </a:p>
          <a:p>
            <a:pPr lvl="1"/>
            <a:r>
              <a:rPr lang="en-US" altLang="en-US"/>
              <a:t>TCP Port 21 (FTP Control port)</a:t>
            </a:r>
          </a:p>
          <a:p>
            <a:pPr lvl="1"/>
            <a:r>
              <a:rPr lang="en-US" altLang="en-US"/>
              <a:t>TCP 20 (FTP Data port)</a:t>
            </a:r>
          </a:p>
        </p:txBody>
      </p:sp>
    </p:spTree>
    <p:extLst>
      <p:ext uri="{BB962C8B-B14F-4D97-AF65-F5344CB8AC3E}">
        <p14:creationId xmlns:p14="http://schemas.microsoft.com/office/powerpoint/2010/main" val="317169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1BCCF6-DEB5-4C39-BCD3-B44E80E4907D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79874" name="Rectangle 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z="3600" dirty="0"/>
              <a:t>Rules That Enable FTP (continued)</a:t>
            </a:r>
          </a:p>
        </p:txBody>
      </p:sp>
      <p:grpSp>
        <p:nvGrpSpPr>
          <p:cNvPr id="79875" name="Group 8"/>
          <p:cNvGrpSpPr>
            <a:grpSpLocks/>
          </p:cNvGrpSpPr>
          <p:nvPr/>
        </p:nvGrpSpPr>
        <p:grpSpPr bwMode="auto">
          <a:xfrm>
            <a:off x="1981200" y="1752600"/>
            <a:ext cx="8382000" cy="4800600"/>
            <a:chOff x="310" y="1396"/>
            <a:chExt cx="5119" cy="2671"/>
          </a:xfrm>
        </p:grpSpPr>
        <p:pic>
          <p:nvPicPr>
            <p:cNvPr id="79876" name="Picture 5" descr="Tbl04-06b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218" b="29869"/>
            <a:stretch>
              <a:fillRect/>
            </a:stretch>
          </p:blipFill>
          <p:spPr bwMode="auto">
            <a:xfrm>
              <a:off x="310" y="3072"/>
              <a:ext cx="5119" cy="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877" name="Picture 4" descr="Tbl04-06a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106" b="25443"/>
            <a:stretch>
              <a:fillRect/>
            </a:stretch>
          </p:blipFill>
          <p:spPr bwMode="auto">
            <a:xfrm>
              <a:off x="311" y="1396"/>
              <a:ext cx="5115" cy="17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92554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FDA6FE-D2CE-4732-A303-28B2CE6693EC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819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z="3600" dirty="0"/>
              <a:t>Rules That Enable E-Mail</a:t>
            </a:r>
          </a:p>
        </p:txBody>
      </p:sp>
      <p:sp>
        <p:nvSpPr>
          <p:cNvPr id="819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295400"/>
            <a:ext cx="8229600" cy="5257800"/>
          </a:xfrm>
        </p:spPr>
        <p:txBody>
          <a:bodyPr/>
          <a:lstStyle/>
          <a:p>
            <a:r>
              <a:rPr lang="en-US" altLang="en-US"/>
              <a:t>Complicated; a variety of protocols might be used</a:t>
            </a:r>
          </a:p>
          <a:p>
            <a:pPr lvl="1"/>
            <a:r>
              <a:rPr lang="en-US" altLang="en-US"/>
              <a:t>For inbound mail transport</a:t>
            </a:r>
          </a:p>
          <a:p>
            <a:pPr lvl="2"/>
            <a:r>
              <a:rPr lang="en-US" altLang="en-US"/>
              <a:t>Post Office Protocol version 3 (POP3)</a:t>
            </a:r>
          </a:p>
          <a:p>
            <a:pPr lvl="2"/>
            <a:r>
              <a:rPr lang="en-US" altLang="en-US"/>
              <a:t>Internet E-mail Access Protocol version 4 (IMAP4)</a:t>
            </a:r>
          </a:p>
          <a:p>
            <a:pPr lvl="1"/>
            <a:r>
              <a:rPr lang="en-US" altLang="en-US"/>
              <a:t>For outbound mail transport</a:t>
            </a:r>
          </a:p>
          <a:p>
            <a:pPr lvl="2"/>
            <a:r>
              <a:rPr lang="en-US" altLang="en-US"/>
              <a:t>Simple Mail Transfer Protocol (SMTP)</a:t>
            </a:r>
          </a:p>
          <a:p>
            <a:pPr lvl="1"/>
            <a:r>
              <a:rPr lang="en-US" altLang="en-US"/>
              <a:t>For looking up e-mail addresses</a:t>
            </a:r>
          </a:p>
          <a:p>
            <a:pPr lvl="2"/>
            <a:r>
              <a:rPr lang="en-US" altLang="en-US"/>
              <a:t>Lightweight Directory Access Protocol (LDAP)</a:t>
            </a:r>
          </a:p>
          <a:p>
            <a:pPr lvl="1"/>
            <a:r>
              <a:rPr lang="en-US" altLang="en-US"/>
              <a:t>For Web-based mail service</a:t>
            </a:r>
          </a:p>
          <a:p>
            <a:pPr lvl="2"/>
            <a:r>
              <a:rPr lang="en-US" altLang="en-US"/>
              <a:t>HyperText Transport Protocol (HTTP)</a:t>
            </a:r>
          </a:p>
        </p:txBody>
      </p:sp>
    </p:spTree>
    <p:extLst>
      <p:ext uri="{BB962C8B-B14F-4D97-AF65-F5344CB8AC3E}">
        <p14:creationId xmlns:p14="http://schemas.microsoft.com/office/powerpoint/2010/main" val="308359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48BEA-6F07-4D98-9D9E-5C5915A558EA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83970" name="Rectangle 7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z="4800"/>
              <a:t>POP3 and SMTP E-Mail Rules</a:t>
            </a:r>
          </a:p>
        </p:txBody>
      </p:sp>
      <p:pic>
        <p:nvPicPr>
          <p:cNvPr id="83971" name="Picture 4" descr="Tbl04-07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22" b="20000"/>
          <a:stretch>
            <a:fillRect/>
          </a:stretch>
        </p:blipFill>
        <p:spPr bwMode="auto">
          <a:xfrm>
            <a:off x="1828801" y="1447800"/>
            <a:ext cx="8462963" cy="353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972" name="Picture 5" descr="Tbl04-07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032" b="29323"/>
          <a:stretch>
            <a:fillRect/>
          </a:stretch>
        </p:blipFill>
        <p:spPr bwMode="auto">
          <a:xfrm>
            <a:off x="1828800" y="4876801"/>
            <a:ext cx="8458200" cy="167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344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1" y="381000"/>
            <a:ext cx="7280063" cy="1046440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ea typeface="ＭＳ Ｐゴシック" pitchFamily="34" charset="-128"/>
              </a:rPr>
              <a:t>Cyber Intelligence from firewall logs and rules</a:t>
            </a:r>
            <a:endParaRPr lang="en-SG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828800" y="3276600"/>
            <a:ext cx="8854984" cy="1292662"/>
          </a:xfrm>
        </p:spPr>
        <p:txBody>
          <a:bodyPr/>
          <a:lstStyle/>
          <a:p>
            <a:r>
              <a:rPr lang="en-SG" dirty="0"/>
              <a:t>An enterprise can often learn more about its network security not from traffic that was denied, but from what was allowed in.</a:t>
            </a:r>
            <a:endParaRPr lang="en-SG" sz="2500" dirty="0"/>
          </a:p>
        </p:txBody>
      </p:sp>
    </p:spTree>
    <p:extLst>
      <p:ext uri="{BB962C8B-B14F-4D97-AF65-F5344CB8AC3E}">
        <p14:creationId xmlns:p14="http://schemas.microsoft.com/office/powerpoint/2010/main" val="1821087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1" y="381000"/>
            <a:ext cx="7280063" cy="1046440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ea typeface="ＭＳ Ｐゴシック" pitchFamily="34" charset="-128"/>
              </a:rPr>
              <a:t>Cyber Intelligence from firewall logs and rules</a:t>
            </a:r>
            <a:endParaRPr lang="en-SG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689628" y="2070780"/>
            <a:ext cx="8854984" cy="4558621"/>
          </a:xfrm>
        </p:spPr>
        <p:txBody>
          <a:bodyPr/>
          <a:lstStyle/>
          <a:p>
            <a:r>
              <a:rPr lang="en-SG" u="sng" dirty="0"/>
              <a:t>Enabling logging of "allow" actions </a:t>
            </a:r>
            <a:r>
              <a:rPr lang="en-SG" dirty="0"/>
              <a:t>gives you </a:t>
            </a:r>
            <a:r>
              <a:rPr lang="en-SG" u="sng" dirty="0"/>
              <a:t>visibility</a:t>
            </a:r>
            <a:r>
              <a:rPr lang="en-SG" dirty="0"/>
              <a:t> into all traffic into the environment. Most threats target open ports rather than closed. </a:t>
            </a:r>
          </a:p>
          <a:p>
            <a:endParaRPr lang="en-SG" dirty="0"/>
          </a:p>
          <a:p>
            <a:r>
              <a:rPr lang="en-SG" sz="2500" u="sng" dirty="0"/>
              <a:t>Problem</a:t>
            </a:r>
            <a:r>
              <a:rPr lang="en-SG" sz="2500" dirty="0"/>
              <a:t>: there is a large amount of data that is collected. How to use effectively?</a:t>
            </a:r>
          </a:p>
          <a:p>
            <a:endParaRPr lang="en-SG" sz="2500" dirty="0"/>
          </a:p>
          <a:p>
            <a:r>
              <a:rPr lang="en-SG" sz="2500" u="sng" dirty="0"/>
              <a:t>Answer</a:t>
            </a:r>
            <a:r>
              <a:rPr lang="en-SG" sz="2500" dirty="0"/>
              <a:t>: Use scripts, to parse through the logs and identify suspicious connections and run periodically. Or, use a centralized log management product which offer a searchable interface into the "allow" actions. </a:t>
            </a:r>
          </a:p>
          <a:p>
            <a:endParaRPr lang="en-SG" sz="2500" dirty="0"/>
          </a:p>
        </p:txBody>
      </p:sp>
    </p:spTree>
    <p:extLst>
      <p:ext uri="{BB962C8B-B14F-4D97-AF65-F5344CB8AC3E}">
        <p14:creationId xmlns:p14="http://schemas.microsoft.com/office/powerpoint/2010/main" val="355560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1" y="381000"/>
            <a:ext cx="7280063" cy="1046440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ea typeface="ＭＳ Ｐゴシック" pitchFamily="34" charset="-128"/>
              </a:rPr>
              <a:t>Cyber Intelligence from firewall logs and rules</a:t>
            </a:r>
            <a:endParaRPr lang="en-SG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91744" y="2362200"/>
            <a:ext cx="8854984" cy="609600"/>
          </a:xfrm>
        </p:spPr>
        <p:txBody>
          <a:bodyPr/>
          <a:lstStyle/>
          <a:p>
            <a:r>
              <a:rPr lang="en-SG" sz="2500" dirty="0"/>
              <a:t>Enable logging on Firewall policy</a:t>
            </a:r>
          </a:p>
          <a:p>
            <a:endParaRPr lang="en-SG" sz="2500" dirty="0"/>
          </a:p>
          <a:p>
            <a:endParaRPr lang="en-SG" sz="25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3074760"/>
            <a:ext cx="8077200" cy="354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12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1" y="381000"/>
            <a:ext cx="7280063" cy="1046440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ea typeface="ＭＳ Ｐゴシック" pitchFamily="34" charset="-128"/>
              </a:rPr>
              <a:t>Cyber Intelligence from firewall logs and rules</a:t>
            </a:r>
            <a:endParaRPr lang="en-SG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614156" y="1939030"/>
            <a:ext cx="8854984" cy="609600"/>
          </a:xfrm>
        </p:spPr>
        <p:txBody>
          <a:bodyPr/>
          <a:lstStyle/>
          <a:p>
            <a:r>
              <a:rPr lang="en-SG" sz="2500" dirty="0"/>
              <a:t>Enable logging on Firewall policy</a:t>
            </a:r>
          </a:p>
          <a:p>
            <a:endParaRPr lang="en-SG" sz="2500" dirty="0"/>
          </a:p>
          <a:p>
            <a:endParaRPr lang="en-SG" sz="25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157" y="2743201"/>
            <a:ext cx="8561507" cy="364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927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1" y="381000"/>
            <a:ext cx="7280063" cy="1046440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ea typeface="ＭＳ Ｐゴシック" pitchFamily="34" charset="-128"/>
              </a:rPr>
              <a:t>Cyber Intelligence from firewall logs and rules</a:t>
            </a:r>
            <a:endParaRPr lang="en-SG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591744" y="2362200"/>
            <a:ext cx="8854984" cy="4343400"/>
          </a:xfrm>
        </p:spPr>
        <p:txBody>
          <a:bodyPr>
            <a:normAutofit fontScale="92500" lnSpcReduction="10000"/>
          </a:bodyPr>
          <a:lstStyle/>
          <a:p>
            <a:r>
              <a:rPr lang="en-SG" sz="2500" dirty="0"/>
              <a:t>To detect </a:t>
            </a:r>
            <a:r>
              <a:rPr lang="en-SG" sz="2500" u="sng" dirty="0"/>
              <a:t>Advanced persistent threats</a:t>
            </a:r>
            <a:r>
              <a:rPr lang="en-SG" sz="2500" dirty="0"/>
              <a:t> </a:t>
            </a:r>
          </a:p>
          <a:p>
            <a:endParaRPr lang="en-SG" sz="2500" dirty="0"/>
          </a:p>
          <a:p>
            <a:r>
              <a:rPr lang="en-SG" sz="2500" u="sng" dirty="0" err="1"/>
              <a:t>Senario</a:t>
            </a:r>
            <a:r>
              <a:rPr lang="en-SG" sz="2500" u="sng" dirty="0"/>
              <a:t>:</a:t>
            </a:r>
          </a:p>
          <a:p>
            <a:r>
              <a:rPr lang="en-SG" sz="2500" dirty="0"/>
              <a:t>Attacker has gained access to the environment through targeted techniques like spear phishing (not a regular, network-based vector) and is using connections initiated within the network to steal sensitive information, makes it critical to capture these allowed connections. </a:t>
            </a:r>
          </a:p>
          <a:p>
            <a:endParaRPr lang="en-SG" sz="2500" dirty="0"/>
          </a:p>
          <a:p>
            <a:r>
              <a:rPr lang="en-SG" sz="2500" dirty="0"/>
              <a:t>These connections would generally not be captured when log fidelity is set to track only "deny" actions.</a:t>
            </a:r>
          </a:p>
          <a:p>
            <a:endParaRPr lang="en-SG" sz="2500" dirty="0"/>
          </a:p>
        </p:txBody>
      </p:sp>
    </p:spTree>
    <p:extLst>
      <p:ext uri="{BB962C8B-B14F-4D97-AF65-F5344CB8AC3E}">
        <p14:creationId xmlns:p14="http://schemas.microsoft.com/office/powerpoint/2010/main" val="4031717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1" y="381000"/>
            <a:ext cx="7280063" cy="1046440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ea typeface="ＭＳ Ｐゴシック" pitchFamily="34" charset="-128"/>
              </a:rPr>
              <a:t>Cyber Intelligence from firewall logs and rules</a:t>
            </a:r>
            <a:endParaRPr lang="en-SG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697941" y="1871873"/>
            <a:ext cx="8854984" cy="5001369"/>
          </a:xfrm>
        </p:spPr>
        <p:txBody>
          <a:bodyPr>
            <a:normAutofit fontScale="92500" lnSpcReduction="20000"/>
          </a:bodyPr>
          <a:lstStyle/>
          <a:p>
            <a:r>
              <a:rPr lang="en-SG" sz="2500" dirty="0"/>
              <a:t>Using ‘Deny’ strategically.</a:t>
            </a:r>
          </a:p>
          <a:p>
            <a:endParaRPr lang="en-SG" sz="2500" dirty="0"/>
          </a:p>
          <a:p>
            <a:r>
              <a:rPr lang="en-SG" sz="2500" dirty="0"/>
              <a:t>Egress filtering involves the use of </a:t>
            </a:r>
            <a:r>
              <a:rPr lang="en-SG" sz="2500" u="sng" dirty="0"/>
              <a:t>outbound access control lists</a:t>
            </a:r>
            <a:r>
              <a:rPr lang="en-SG" sz="2500" dirty="0"/>
              <a:t>, which permit only certain types of traffic to pass through.</a:t>
            </a:r>
          </a:p>
          <a:p>
            <a:endParaRPr lang="en-SG" sz="2500" dirty="0"/>
          </a:p>
          <a:p>
            <a:r>
              <a:rPr lang="en-SG" sz="2500" dirty="0" err="1"/>
              <a:t>Eg</a:t>
            </a:r>
            <a:r>
              <a:rPr lang="en-SG" sz="2500" dirty="0"/>
              <a:t>: a basic egress filter to allow Web traffic (HTTP/HTTPS) outbound from user workstations. Any outbound connections that are not Web traffic would trigger a "deny" alert. </a:t>
            </a:r>
          </a:p>
          <a:p>
            <a:r>
              <a:rPr lang="en-SG" sz="2500" dirty="0" err="1"/>
              <a:t>Eg</a:t>
            </a:r>
            <a:r>
              <a:rPr lang="en-SG" sz="2500" dirty="0"/>
              <a:t>: Traffic with destination ports </a:t>
            </a:r>
            <a:r>
              <a:rPr lang="en-SG" sz="2500" u="sng" dirty="0"/>
              <a:t>6660/</a:t>
            </a:r>
            <a:r>
              <a:rPr lang="en-SG" sz="2500" u="sng" dirty="0" err="1"/>
              <a:t>tcp</a:t>
            </a:r>
            <a:r>
              <a:rPr lang="en-SG" sz="2500" u="sng" dirty="0"/>
              <a:t> to 6669/</a:t>
            </a:r>
            <a:r>
              <a:rPr lang="en-SG" sz="2500" u="sng" dirty="0" err="1"/>
              <a:t>tcp</a:t>
            </a:r>
            <a:r>
              <a:rPr lang="en-SG" sz="2500" u="sng" dirty="0"/>
              <a:t> </a:t>
            </a:r>
            <a:r>
              <a:rPr lang="en-SG" sz="2500" dirty="0"/>
              <a:t>could be indicative of IRC traffic and would be logged. This traffic could be indicative of a potential </a:t>
            </a:r>
            <a:r>
              <a:rPr lang="en-SG" sz="2500" u="sng" dirty="0"/>
              <a:t>command-and-control channel</a:t>
            </a:r>
            <a:r>
              <a:rPr lang="en-SG" sz="2500" dirty="0"/>
              <a:t> to a bot herder.</a:t>
            </a:r>
          </a:p>
          <a:p>
            <a:endParaRPr lang="en-SG" sz="2500" dirty="0"/>
          </a:p>
        </p:txBody>
      </p:sp>
    </p:spTree>
    <p:extLst>
      <p:ext uri="{BB962C8B-B14F-4D97-AF65-F5344CB8AC3E}">
        <p14:creationId xmlns:p14="http://schemas.microsoft.com/office/powerpoint/2010/main" val="2993681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1" y="381000"/>
            <a:ext cx="7280063" cy="1046440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ea typeface="ＭＳ Ｐゴシック" pitchFamily="34" charset="-128"/>
              </a:rPr>
              <a:t>Cyber Intelligence from firewall logs and rules</a:t>
            </a:r>
            <a:endParaRPr lang="en-SG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619453" y="2133601"/>
            <a:ext cx="8854984" cy="4356778"/>
          </a:xfrm>
        </p:spPr>
        <p:txBody>
          <a:bodyPr>
            <a:normAutofit fontScale="85000" lnSpcReduction="20000"/>
          </a:bodyPr>
          <a:lstStyle/>
          <a:p>
            <a:r>
              <a:rPr lang="en-SG" sz="2500" u="sng" dirty="0"/>
              <a:t>Blacklists</a:t>
            </a:r>
          </a:p>
          <a:p>
            <a:endParaRPr lang="en-SG" sz="2500" u="sng" dirty="0"/>
          </a:p>
          <a:p>
            <a:r>
              <a:rPr lang="en-SG" sz="2500" dirty="0"/>
              <a:t>Used to validate the reputation of the source address against external reputation registries like those listed below:</a:t>
            </a:r>
          </a:p>
          <a:p>
            <a:endParaRPr lang="en-SG" sz="2500" dirty="0"/>
          </a:p>
          <a:p>
            <a:r>
              <a:rPr lang="en-SG" sz="2500" dirty="0"/>
              <a:t>http://safeweb.norton.com/</a:t>
            </a:r>
          </a:p>
          <a:p>
            <a:r>
              <a:rPr lang="en-SG" sz="2500" dirty="0"/>
              <a:t>http://www.phishtank.com/</a:t>
            </a:r>
          </a:p>
          <a:p>
            <a:r>
              <a:rPr lang="en-SG" sz="2500" dirty="0"/>
              <a:t>http://www.siteadvisor.com/</a:t>
            </a:r>
          </a:p>
          <a:p>
            <a:r>
              <a:rPr lang="en-SG" sz="2500" dirty="0"/>
              <a:t>http://www.trustedsource.org/</a:t>
            </a:r>
          </a:p>
          <a:p>
            <a:r>
              <a:rPr lang="en-SG" sz="2500" dirty="0"/>
              <a:t>http://urlblacklist.com/</a:t>
            </a:r>
          </a:p>
          <a:p>
            <a:r>
              <a:rPr lang="en-SG" sz="2500" dirty="0"/>
              <a:t>http://www.mywot.com/</a:t>
            </a:r>
          </a:p>
          <a:p>
            <a:endParaRPr lang="en-SG" sz="2500" dirty="0"/>
          </a:p>
        </p:txBody>
      </p:sp>
    </p:spTree>
    <p:extLst>
      <p:ext uri="{BB962C8B-B14F-4D97-AF65-F5344CB8AC3E}">
        <p14:creationId xmlns:p14="http://schemas.microsoft.com/office/powerpoint/2010/main" val="2020922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1" y="381000"/>
            <a:ext cx="7280063" cy="1046440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ea typeface="ＭＳ Ｐゴシック" pitchFamily="34" charset="-128"/>
              </a:rPr>
              <a:t>Cyber Intelligence from firewall logs and rules</a:t>
            </a:r>
            <a:endParaRPr lang="en-SG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619453" y="2133603"/>
            <a:ext cx="8854984" cy="4356777"/>
          </a:xfrm>
        </p:spPr>
        <p:txBody>
          <a:bodyPr>
            <a:normAutofit fontScale="92500" lnSpcReduction="20000"/>
          </a:bodyPr>
          <a:lstStyle/>
          <a:p>
            <a:r>
              <a:rPr lang="en-SG" sz="2500" u="sng" dirty="0"/>
              <a:t>Blacklists features:</a:t>
            </a:r>
          </a:p>
          <a:p>
            <a:endParaRPr lang="en-SG" sz="2500" u="sng" dirty="0"/>
          </a:p>
          <a:p>
            <a:pPr marL="0" indent="0">
              <a:buNone/>
            </a:pPr>
            <a:r>
              <a:rPr lang="en-SG" sz="2500" dirty="0"/>
              <a:t>-  Considerably larger than most unmaintained blacklists</a:t>
            </a:r>
          </a:p>
          <a:p>
            <a:pPr marL="0" indent="0">
              <a:buNone/>
            </a:pPr>
            <a:r>
              <a:rPr lang="en-SG" sz="2500" dirty="0"/>
              <a:t>-  Human verified user submissions</a:t>
            </a:r>
          </a:p>
          <a:p>
            <a:pPr marL="342900" indent="-342900">
              <a:buFontTx/>
              <a:buChar char="-"/>
            </a:pPr>
            <a:r>
              <a:rPr lang="en-SG" sz="2500" dirty="0"/>
              <a:t>A maintained 'remove' list which avoids common accidentally listed sites such as msn.com</a:t>
            </a:r>
          </a:p>
          <a:p>
            <a:pPr marL="342900" indent="-342900">
              <a:buFontTx/>
              <a:buChar char="-"/>
            </a:pPr>
            <a:r>
              <a:rPr lang="en-SG" sz="2500" dirty="0"/>
              <a:t>A maintained 'add' list which ensures common 'bad' sites are always included</a:t>
            </a:r>
          </a:p>
          <a:p>
            <a:pPr marL="342900" indent="-342900">
              <a:buFontTx/>
              <a:buChar char="-"/>
            </a:pPr>
            <a:r>
              <a:rPr lang="en-SG" sz="2500" dirty="0"/>
              <a:t>May also contains many other categories that can be used as white or grey lists</a:t>
            </a:r>
          </a:p>
          <a:p>
            <a:pPr marL="342900" indent="-342900">
              <a:buFontTx/>
              <a:buChar char="-"/>
            </a:pPr>
            <a:r>
              <a:rPr lang="en-SG" sz="2500" dirty="0"/>
              <a:t>Paid or free</a:t>
            </a:r>
          </a:p>
          <a:p>
            <a:pPr marL="342900" indent="-342900">
              <a:buFontTx/>
              <a:buChar char="-"/>
            </a:pPr>
            <a:endParaRPr lang="en-SG" sz="2500" dirty="0"/>
          </a:p>
          <a:p>
            <a:endParaRPr lang="en-SG" sz="2500" u="sng" dirty="0"/>
          </a:p>
          <a:p>
            <a:endParaRPr lang="en-SG" sz="2500" u="sng" dirty="0"/>
          </a:p>
          <a:p>
            <a:endParaRPr lang="en-SG" sz="2500" dirty="0"/>
          </a:p>
        </p:txBody>
      </p:sp>
    </p:spTree>
    <p:extLst>
      <p:ext uri="{BB962C8B-B14F-4D97-AF65-F5344CB8AC3E}">
        <p14:creationId xmlns:p14="http://schemas.microsoft.com/office/powerpoint/2010/main" val="1363983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</TotalTime>
  <Words>1934</Words>
  <Application>Microsoft Office PowerPoint</Application>
  <PresentationFormat>Widescreen</PresentationFormat>
  <Paragraphs>263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ＭＳ Ｐゴシック</vt:lpstr>
      <vt:lpstr>Arial</vt:lpstr>
      <vt:lpstr>Calibri</vt:lpstr>
      <vt:lpstr>Century Gothic</vt:lpstr>
      <vt:lpstr>Times New Roman</vt:lpstr>
      <vt:lpstr>Wingdings 3</vt:lpstr>
      <vt:lpstr>Ion</vt:lpstr>
      <vt:lpstr>Chapter 5 - Network firewall policies configuration</vt:lpstr>
      <vt:lpstr>Firewall rules and configurations</vt:lpstr>
      <vt:lpstr>Firewall rules and configurations</vt:lpstr>
      <vt:lpstr>Firewall rules and configurations</vt:lpstr>
      <vt:lpstr>Firewall rules and configurations</vt:lpstr>
      <vt:lpstr>Firewall rules and configurations</vt:lpstr>
      <vt:lpstr>Firewall rules and configurations</vt:lpstr>
      <vt:lpstr>Firewall rules and configurations</vt:lpstr>
      <vt:lpstr>Sample Network to Be Protected by a Firewall</vt:lpstr>
      <vt:lpstr>Rules for ICMP Packets</vt:lpstr>
      <vt:lpstr>ICMP Packet-Filter Rules</vt:lpstr>
      <vt:lpstr>Rules That Enable Web Access</vt:lpstr>
      <vt:lpstr>Rules That Enable DNS</vt:lpstr>
      <vt:lpstr>Rules That Enable FTP</vt:lpstr>
      <vt:lpstr>Rules That Enable FTP (continued)</vt:lpstr>
      <vt:lpstr>Rules That Enable E-Mail</vt:lpstr>
      <vt:lpstr>POP3 and SMTP E-Mail Rules</vt:lpstr>
      <vt:lpstr>Cyber Intelligence from firewall logs and rules</vt:lpstr>
      <vt:lpstr>Cyber Intelligence from firewall logs and rules</vt:lpstr>
      <vt:lpstr>Cyber Intelligence from firewall logs and rules</vt:lpstr>
      <vt:lpstr>Cyber Intelligence from firewall logs and rules</vt:lpstr>
      <vt:lpstr>Cyber Intelligence from firewall logs and rules</vt:lpstr>
      <vt:lpstr>Cyber Intelligence from firewall logs and rules</vt:lpstr>
      <vt:lpstr>Cyber Intelligence from firewall logs and rules</vt:lpstr>
      <vt:lpstr>Cyber Intelligence from firewall logs and rules</vt:lpstr>
    </vt:vector>
  </TitlesOfParts>
  <Company>Nanyang Polytechnic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5 - Network firewall polices configuration</dc:title>
  <dc:creator>TEO CHEA WAN</dc:creator>
  <cp:lastModifiedBy>TEO CHEA WAN</cp:lastModifiedBy>
  <cp:revision>6</cp:revision>
  <dcterms:created xsi:type="dcterms:W3CDTF">2018-03-19T04:44:32Z</dcterms:created>
  <dcterms:modified xsi:type="dcterms:W3CDTF">2018-03-22T05:35:16Z</dcterms:modified>
</cp:coreProperties>
</file>