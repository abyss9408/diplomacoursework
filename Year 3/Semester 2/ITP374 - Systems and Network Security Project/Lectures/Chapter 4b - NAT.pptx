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4"/>
  </p:notesMasterIdLst>
  <p:handoutMasterIdLst>
    <p:handoutMasterId r:id="rId25"/>
  </p:handoutMasterIdLst>
  <p:sldIdLst>
    <p:sldId id="500" r:id="rId3"/>
    <p:sldId id="786" r:id="rId4"/>
    <p:sldId id="791" r:id="rId5"/>
    <p:sldId id="912" r:id="rId6"/>
    <p:sldId id="992" r:id="rId7"/>
    <p:sldId id="993" r:id="rId8"/>
    <p:sldId id="995" r:id="rId9"/>
    <p:sldId id="994" r:id="rId10"/>
    <p:sldId id="996" r:id="rId11"/>
    <p:sldId id="1003" r:id="rId12"/>
    <p:sldId id="1004" r:id="rId13"/>
    <p:sldId id="997" r:id="rId14"/>
    <p:sldId id="1005" r:id="rId15"/>
    <p:sldId id="1006" r:id="rId16"/>
    <p:sldId id="998" r:id="rId17"/>
    <p:sldId id="999" r:id="rId18"/>
    <p:sldId id="1007" r:id="rId19"/>
    <p:sldId id="1000" r:id="rId20"/>
    <p:sldId id="1001" r:id="rId21"/>
    <p:sldId id="976" r:id="rId22"/>
    <p:sldId id="883" r:id="rId23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 autoAdjust="0"/>
    <p:restoredTop sz="89277" autoAdjust="0"/>
  </p:normalViewPr>
  <p:slideViewPr>
    <p:cSldViewPr snapToGrid="0">
      <p:cViewPr varScale="1">
        <p:scale>
          <a:sx n="61" d="100"/>
          <a:sy n="61" d="100"/>
        </p:scale>
        <p:origin x="15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2.xml"/><Relationship Id="rId13" Type="http://schemas.openxmlformats.org/officeDocument/2006/relationships/slide" Target="slides/slide17.xml"/><Relationship Id="rId3" Type="http://schemas.openxmlformats.org/officeDocument/2006/relationships/slide" Target="slides/slide6.xml"/><Relationship Id="rId7" Type="http://schemas.openxmlformats.org/officeDocument/2006/relationships/slide" Target="slides/slide11.xml"/><Relationship Id="rId12" Type="http://schemas.openxmlformats.org/officeDocument/2006/relationships/slide" Target="slides/slide16.xml"/><Relationship Id="rId2" Type="http://schemas.openxmlformats.org/officeDocument/2006/relationships/slide" Target="slides/slide5.xml"/><Relationship Id="rId1" Type="http://schemas.openxmlformats.org/officeDocument/2006/relationships/slide" Target="slides/slide4.xml"/><Relationship Id="rId6" Type="http://schemas.openxmlformats.org/officeDocument/2006/relationships/slide" Target="slides/slide10.xml"/><Relationship Id="rId11" Type="http://schemas.openxmlformats.org/officeDocument/2006/relationships/slide" Target="slides/slide15.xml"/><Relationship Id="rId5" Type="http://schemas.openxmlformats.org/officeDocument/2006/relationships/slide" Target="slides/slide9.xml"/><Relationship Id="rId15" Type="http://schemas.openxmlformats.org/officeDocument/2006/relationships/slide" Target="slides/slide21.xml"/><Relationship Id="rId10" Type="http://schemas.openxmlformats.org/officeDocument/2006/relationships/slide" Target="slides/slide14.xml"/><Relationship Id="rId4" Type="http://schemas.openxmlformats.org/officeDocument/2006/relationships/slide" Target="slides/slide8.xml"/><Relationship Id="rId9" Type="http://schemas.openxmlformats.org/officeDocument/2006/relationships/slide" Target="slides/slide13.xml"/><Relationship Id="rId14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1</a:t>
            </a:fld>
            <a:endParaRPr lang="en-U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Routing and Switching Essentials v6.0</a:t>
            </a:r>
            <a:endParaRPr lang="en-US" b="0" dirty="0"/>
          </a:p>
          <a:p>
            <a:pPr>
              <a:buFontTx/>
              <a:buNone/>
            </a:pPr>
            <a:r>
              <a:rPr lang="en-US" sz="1200" dirty="0">
                <a:latin typeface="Arial" charset="0"/>
              </a:rPr>
              <a:t>Chapter 9: NAT for IPv4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476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2</a:t>
            </a:fld>
            <a:endParaRPr lang="en-US" sz="800" b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3805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Routing and Switching Essentials v6.0</a:t>
            </a:r>
          </a:p>
          <a:p>
            <a:pPr>
              <a:buFontTx/>
              <a:buNone/>
            </a:pPr>
            <a:r>
              <a:rPr lang="en-US" sz="1400" dirty="0">
                <a:latin typeface="Arial" charset="0"/>
              </a:rPr>
              <a:t>Chapter 9: NAT for IPv4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86773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9.1 – </a:t>
            </a:r>
            <a:r>
              <a:rPr lang="en-CA" sz="1200" dirty="0"/>
              <a:t>NAT Operation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9.1.1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NAT Characteristics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448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9.1 – </a:t>
            </a:r>
            <a:r>
              <a:rPr lang="en-CA" sz="1200" dirty="0"/>
              <a:t>NAT Operation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9.1.2</a:t>
            </a:r>
            <a:r>
              <a:rPr lang="en-US" baseline="0" dirty="0">
                <a:latin typeface="Arial" charset="0"/>
              </a:rPr>
              <a:t> – Types of NAT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47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9.1 – </a:t>
            </a:r>
            <a:r>
              <a:rPr lang="en-CA" sz="1200" dirty="0"/>
              <a:t>NAT Operation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9.1.3</a:t>
            </a:r>
            <a:r>
              <a:rPr lang="en-US" baseline="0" dirty="0">
                <a:latin typeface="Arial" charset="0"/>
              </a:rPr>
              <a:t> – NAT Advantages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35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Routing and Switching Essentials v6.0</a:t>
            </a:r>
          </a:p>
          <a:p>
            <a:pPr>
              <a:buFontTx/>
              <a:buNone/>
            </a:pPr>
            <a:r>
              <a:rPr lang="en-US" sz="1400" dirty="0">
                <a:latin typeface="Arial" charset="0"/>
              </a:rPr>
              <a:t>Chapter 9: NAT for IPv4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652146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9.2.1</a:t>
            </a:r>
            <a:r>
              <a:rPr lang="en-US" baseline="0" dirty="0">
                <a:latin typeface="Arial" charset="0"/>
              </a:rPr>
              <a:t> – Configuring Static NAT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12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9.2.2</a:t>
            </a:r>
            <a:r>
              <a:rPr lang="en-US" baseline="0" dirty="0">
                <a:latin typeface="Arial" charset="0"/>
              </a:rPr>
              <a:t> – Configuring Dynamic NAT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21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9.2.2</a:t>
            </a:r>
            <a:r>
              <a:rPr lang="en-US" baseline="0" dirty="0">
                <a:latin typeface="Arial" charset="0"/>
              </a:rPr>
              <a:t> – Configuring Dynamic NAT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329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9.2.2</a:t>
            </a:r>
            <a:r>
              <a:rPr lang="en-US" baseline="0" dirty="0">
                <a:latin typeface="Arial" charset="0"/>
              </a:rPr>
              <a:t> – Configuring Dynamic NAT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348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9.2.3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dirty="0"/>
              <a:t>Configuring Port Address Translations (PAT)</a:t>
            </a:r>
          </a:p>
        </p:txBody>
      </p:sp>
    </p:spTree>
    <p:extLst>
      <p:ext uri="{BB962C8B-B14F-4D97-AF65-F5344CB8AC3E}">
        <p14:creationId xmlns:p14="http://schemas.microsoft.com/office/powerpoint/2010/main" val="3796554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13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9.2.3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dirty="0"/>
              <a:t>Configuring Port Address Translations (PAT)</a:t>
            </a:r>
          </a:p>
        </p:txBody>
      </p:sp>
    </p:spTree>
    <p:extLst>
      <p:ext uri="{BB962C8B-B14F-4D97-AF65-F5344CB8AC3E}">
        <p14:creationId xmlns:p14="http://schemas.microsoft.com/office/powerpoint/2010/main" val="2070792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9.2.3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dirty="0"/>
              <a:t>Configuring Port Address Translations (PAT) </a:t>
            </a:r>
          </a:p>
        </p:txBody>
      </p:sp>
    </p:spTree>
    <p:extLst>
      <p:ext uri="{BB962C8B-B14F-4D97-AF65-F5344CB8AC3E}">
        <p14:creationId xmlns:p14="http://schemas.microsoft.com/office/powerpoint/2010/main" val="2032957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9.2.4</a:t>
            </a:r>
            <a:r>
              <a:rPr lang="en-US" baseline="0" dirty="0">
                <a:latin typeface="Arial" charset="0"/>
              </a:rPr>
              <a:t> – Port Forwarding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8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9.2.5</a:t>
            </a:r>
            <a:r>
              <a:rPr lang="en-US" baseline="0" dirty="0">
                <a:latin typeface="Arial" charset="0"/>
              </a:rPr>
              <a:t> – Configuring NAT and IPv6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50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9.2 – Configuring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9.2.5</a:t>
            </a:r>
            <a:r>
              <a:rPr lang="en-US" baseline="0" dirty="0">
                <a:latin typeface="Arial" charset="0"/>
              </a:rPr>
              <a:t> – Configuring NAT and IPv6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62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Routing and Switching Essentials v6.0</a:t>
            </a:r>
          </a:p>
          <a:p>
            <a:pPr>
              <a:buFontTx/>
              <a:buNone/>
            </a:pPr>
            <a:r>
              <a:rPr lang="en-US" sz="1400" dirty="0">
                <a:latin typeface="Arial" charset="0"/>
              </a:rPr>
              <a:t>Chapter 9: NAT for IPv4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638563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Troubleshooting </a:t>
            </a:r>
            <a:r>
              <a:rPr lang="en-CA" sz="1200" dirty="0"/>
              <a:t>NAT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9.3.1</a:t>
            </a:r>
            <a:r>
              <a:rPr lang="en-US" baseline="0" dirty="0">
                <a:latin typeface="Arial" charset="0"/>
              </a:rPr>
              <a:t> – Troubleshooting NAT Configurations</a:t>
            </a:r>
            <a:endParaRPr lang="en-US" b="0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98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 marL="0" indent="0" eaLnBrk="1" hangingPunct="1">
              <a:buNone/>
            </a:pPr>
            <a:r>
              <a:rPr lang="en-US" dirty="0">
                <a:solidFill>
                  <a:schemeClr val="tx1"/>
                </a:solidFill>
                <a:latin typeface="Arial" charset="0"/>
              </a:rPr>
              <a:t>Routing and Switching Essentials v6.0</a:t>
            </a:r>
          </a:p>
          <a:p>
            <a:pPr>
              <a:buFontTx/>
              <a:buNone/>
            </a:pPr>
            <a:r>
              <a:rPr lang="en-US" sz="1400" dirty="0">
                <a:latin typeface="Arial" charset="0"/>
              </a:rPr>
              <a:t>Chapter 9: NAT for IPv4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882555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9.4.1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- </a:t>
            </a:r>
            <a:r>
              <a:rPr lang="en-US" dirty="0">
                <a:latin typeface="Arial" charset="0"/>
              </a:rPr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828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Chapter 6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Chapter 6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Arial" charset="0"/>
              </a:rPr>
              <a:t>Chapter 4: NAT for IPv4</a:t>
            </a:r>
            <a:endParaRPr lang="en-US" sz="2400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93868" y="331332"/>
            <a:ext cx="8772157" cy="838200"/>
          </a:xfrm>
        </p:spPr>
        <p:txBody>
          <a:bodyPr/>
          <a:lstStyle/>
          <a:p>
            <a:r>
              <a:rPr lang="en-US" dirty="0"/>
              <a:t>Chapter 4 - Sections &amp; Objectives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213109" y="1476442"/>
            <a:ext cx="8733677" cy="4926405"/>
          </a:xfrm>
        </p:spPr>
        <p:txBody>
          <a:bodyPr/>
          <a:lstStyle/>
          <a:p>
            <a:r>
              <a:rPr lang="en-CA" dirty="0"/>
              <a:t>4.1 Network Layer Protocols</a:t>
            </a:r>
          </a:p>
          <a:p>
            <a:pPr lvl="1"/>
            <a:r>
              <a:rPr lang="en-US" dirty="0"/>
              <a:t>Explain how NAT provides IPv4 address scalability in a small to medium-sized business network.</a:t>
            </a:r>
          </a:p>
          <a:p>
            <a:r>
              <a:rPr lang="en-CA" dirty="0"/>
              <a:t>4.2 Configuring NAT</a:t>
            </a:r>
          </a:p>
          <a:p>
            <a:pPr lvl="1"/>
            <a:r>
              <a:rPr lang="en-US" dirty="0"/>
              <a:t>Configure NAT services on the edge router to provide IPv4 address scalability in a small to medium-sized business network.</a:t>
            </a:r>
          </a:p>
          <a:p>
            <a:r>
              <a:rPr lang="en-US" dirty="0"/>
              <a:t>4.3 Troubleshoot NAT Configurations</a:t>
            </a:r>
          </a:p>
          <a:p>
            <a:pPr lvl="1"/>
            <a:r>
              <a:rPr lang="en-US" dirty="0"/>
              <a:t>Troubleshoot NAT issues in a small to medium-sized business network.</a:t>
            </a:r>
          </a:p>
        </p:txBody>
      </p:sp>
    </p:spTree>
    <p:extLst>
      <p:ext uri="{BB962C8B-B14F-4D97-AF65-F5344CB8AC3E}">
        <p14:creationId xmlns:p14="http://schemas.microsoft.com/office/powerpoint/2010/main" val="1065710895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CA" sz="2400" dirty="0"/>
              <a:t>4.1 NAT Operation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2121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NAT Operation</a:t>
            </a:r>
            <a:br>
              <a:rPr lang="en-US" dirty="0"/>
            </a:br>
            <a:r>
              <a:rPr lang="en-US" dirty="0"/>
              <a:t>NAT Characteristics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868" y="1232592"/>
            <a:ext cx="8733677" cy="492640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IPv4 Private Address Space</a:t>
            </a:r>
          </a:p>
          <a:p>
            <a:pPr lvl="1"/>
            <a:r>
              <a:rPr lang="en-US" dirty="0"/>
              <a:t>10.0.0.0 /8, 172.16.0.0 /12, and 192.168.0.0 /16</a:t>
            </a:r>
          </a:p>
          <a:p>
            <a:r>
              <a:rPr lang="en-US" dirty="0"/>
              <a:t>What is NAT?</a:t>
            </a:r>
          </a:p>
          <a:p>
            <a:pPr lvl="1"/>
            <a:r>
              <a:rPr lang="en-US" dirty="0"/>
              <a:t>Process to translate network IPv4 address</a:t>
            </a:r>
          </a:p>
          <a:p>
            <a:pPr lvl="1"/>
            <a:r>
              <a:rPr lang="en-US" dirty="0"/>
              <a:t>Conserve public IPv4 addresses</a:t>
            </a:r>
          </a:p>
          <a:p>
            <a:pPr lvl="1"/>
            <a:r>
              <a:rPr lang="en-US" dirty="0"/>
              <a:t>Configured at the border router for translation</a:t>
            </a:r>
          </a:p>
          <a:p>
            <a:r>
              <a:rPr lang="en-US" dirty="0"/>
              <a:t>NAT Terminology</a:t>
            </a:r>
          </a:p>
          <a:p>
            <a:pPr lvl="1"/>
            <a:r>
              <a:rPr lang="en-US" dirty="0"/>
              <a:t>Inside address</a:t>
            </a:r>
          </a:p>
          <a:p>
            <a:pPr lvl="1"/>
            <a:r>
              <a:rPr lang="en-US" dirty="0"/>
              <a:t>Inside local address</a:t>
            </a:r>
          </a:p>
          <a:p>
            <a:pPr lvl="1"/>
            <a:r>
              <a:rPr lang="en-US" dirty="0"/>
              <a:t>Inside global address</a:t>
            </a:r>
          </a:p>
          <a:p>
            <a:pPr lvl="1"/>
            <a:r>
              <a:rPr lang="en-US" dirty="0"/>
              <a:t>Outside address</a:t>
            </a:r>
          </a:p>
          <a:p>
            <a:pPr lvl="1"/>
            <a:r>
              <a:rPr lang="en-US" dirty="0"/>
              <a:t>Outside local address</a:t>
            </a:r>
          </a:p>
          <a:p>
            <a:pPr lvl="1"/>
            <a:r>
              <a:rPr lang="en-US" dirty="0"/>
              <a:t>Outside global address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325" y="3558718"/>
            <a:ext cx="4460700" cy="3139241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030874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NAT Operation</a:t>
            </a:r>
            <a:br>
              <a:rPr lang="en-US" sz="1600" dirty="0"/>
            </a:br>
            <a:r>
              <a:rPr lang="en-US" dirty="0"/>
              <a:t>Types of NAT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869" y="1380752"/>
            <a:ext cx="5416356" cy="536294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Static NAT</a:t>
            </a:r>
          </a:p>
          <a:p>
            <a:pPr lvl="1"/>
            <a:r>
              <a:rPr lang="en-US" dirty="0"/>
              <a:t>One-to-one mapping of local and global addresses</a:t>
            </a:r>
          </a:p>
          <a:p>
            <a:pPr lvl="1"/>
            <a:r>
              <a:rPr lang="en-US" dirty="0"/>
              <a:t>Configured by the network administrator and remain constant.</a:t>
            </a:r>
          </a:p>
          <a:p>
            <a:r>
              <a:rPr lang="en-US" dirty="0"/>
              <a:t>Dynamic NAT</a:t>
            </a:r>
          </a:p>
          <a:p>
            <a:pPr lvl="1"/>
            <a:r>
              <a:rPr lang="en-US" dirty="0"/>
              <a:t>Uses a pool of public addresses and assigns them on a first-come, first-served basis</a:t>
            </a:r>
          </a:p>
          <a:p>
            <a:pPr lvl="1"/>
            <a:r>
              <a:rPr lang="en-US" dirty="0"/>
              <a:t>Requires that enough public addresses for the total number of simultaneous user sessions</a:t>
            </a:r>
          </a:p>
          <a:p>
            <a:r>
              <a:rPr lang="en-US" dirty="0"/>
              <a:t>Port Address Translation (PAT)</a:t>
            </a:r>
          </a:p>
          <a:p>
            <a:pPr lvl="1"/>
            <a:r>
              <a:rPr lang="en-US" dirty="0"/>
              <a:t>Maps multiple private IPv4 addresses to a single public IPv4 address or a few addresses</a:t>
            </a:r>
          </a:p>
          <a:p>
            <a:pPr lvl="1"/>
            <a:r>
              <a:rPr lang="en-US" dirty="0"/>
              <a:t>Also known as NAT overload</a:t>
            </a:r>
          </a:p>
          <a:p>
            <a:pPr lvl="1"/>
            <a:r>
              <a:rPr lang="en-US" dirty="0"/>
              <a:t>Validates that the incoming packets were requested</a:t>
            </a:r>
          </a:p>
          <a:p>
            <a:pPr lvl="1"/>
            <a:r>
              <a:rPr lang="en-US" dirty="0"/>
              <a:t>Uses port numbers to forward the response packets to the correct internal device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6" y="1229516"/>
            <a:ext cx="3070049" cy="2614439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6" y="4024838"/>
            <a:ext cx="3070050" cy="2608259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1459269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NAT Operation</a:t>
            </a:r>
            <a:br>
              <a:rPr lang="en-US" sz="1600" dirty="0"/>
            </a:br>
            <a:r>
              <a:rPr lang="en-US" dirty="0"/>
              <a:t>NAT Advantages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09" y="1232592"/>
            <a:ext cx="8733677" cy="41496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Advantages of NAT</a:t>
            </a:r>
          </a:p>
          <a:p>
            <a:pPr lvl="1"/>
            <a:r>
              <a:rPr lang="en-US" dirty="0"/>
              <a:t>Conserves the legally registered addressing scheme</a:t>
            </a:r>
          </a:p>
          <a:p>
            <a:pPr lvl="1"/>
            <a:r>
              <a:rPr lang="pt-BR" dirty="0"/>
              <a:t>Increases the flexibility of connections to the public network</a:t>
            </a:r>
          </a:p>
          <a:p>
            <a:pPr lvl="1"/>
            <a:r>
              <a:rPr lang="pt-BR" dirty="0"/>
              <a:t>Provides consistency for internal network addressing schemes</a:t>
            </a:r>
          </a:p>
          <a:p>
            <a:pPr lvl="1"/>
            <a:r>
              <a:rPr lang="pt-BR" dirty="0"/>
              <a:t>Provides network security</a:t>
            </a:r>
            <a:endParaRPr lang="en-US" dirty="0"/>
          </a:p>
          <a:p>
            <a:r>
              <a:rPr lang="en-US" dirty="0"/>
              <a:t>Disadvantages of NAT</a:t>
            </a:r>
          </a:p>
          <a:p>
            <a:pPr lvl="1"/>
            <a:r>
              <a:rPr lang="en-US" dirty="0"/>
              <a:t>Performance is degraded</a:t>
            </a:r>
          </a:p>
          <a:p>
            <a:pPr lvl="1"/>
            <a:r>
              <a:rPr lang="pt-BR" dirty="0"/>
              <a:t>End-to-end functionality is degraded</a:t>
            </a:r>
          </a:p>
          <a:p>
            <a:pPr lvl="1"/>
            <a:r>
              <a:rPr lang="pt-BR" dirty="0"/>
              <a:t>End-to-end IP traceability is lost</a:t>
            </a:r>
          </a:p>
          <a:p>
            <a:pPr lvl="1"/>
            <a:r>
              <a:rPr lang="pt-BR" dirty="0"/>
              <a:t>Tunneling is more complicated</a:t>
            </a:r>
          </a:p>
          <a:p>
            <a:pPr lvl="1"/>
            <a:r>
              <a:rPr lang="pt-BR" dirty="0"/>
              <a:t>Initiating TCP connections can be disrupted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350" y="5092700"/>
            <a:ext cx="46386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9755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CA" sz="2400" dirty="0"/>
              <a:t>4</a:t>
            </a:r>
            <a:r>
              <a:rPr lang="en-CA" sz="2400"/>
              <a:t>.2 </a:t>
            </a:r>
            <a:r>
              <a:rPr lang="en-CA" sz="2400" dirty="0"/>
              <a:t>Configuring NAT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594900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Configuring NAT</a:t>
            </a:r>
            <a:br>
              <a:rPr lang="en-US" sz="1600" dirty="0"/>
            </a:br>
            <a:r>
              <a:rPr lang="en-US" dirty="0"/>
              <a:t>Configuring Static NAT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2347" y="1232592"/>
            <a:ext cx="8733677" cy="5329463"/>
          </a:xfrm>
        </p:spPr>
        <p:txBody>
          <a:bodyPr/>
          <a:lstStyle/>
          <a:p>
            <a:r>
              <a:rPr lang="en-US" dirty="0"/>
              <a:t>Configuring Static NAT</a:t>
            </a:r>
          </a:p>
          <a:p>
            <a:pPr lvl="1"/>
            <a:r>
              <a:rPr lang="en-US" dirty="0"/>
              <a:t>Create the mapping between the inside local and outside local addresses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 source static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local-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global-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Define which interfaces belong to the inside network and which belong to the outside network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outside</a:t>
            </a:r>
          </a:p>
          <a:p>
            <a:r>
              <a:rPr lang="en-US" dirty="0"/>
              <a:t>Analyzing Static NAT</a:t>
            </a:r>
          </a:p>
          <a:p>
            <a:r>
              <a:rPr lang="en-US" dirty="0"/>
              <a:t>Verifying Static NAT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909" y="3539959"/>
            <a:ext cx="4896091" cy="302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8456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Configuring NAT</a:t>
            </a:r>
            <a:br>
              <a:rPr lang="en-US" dirty="0"/>
            </a:br>
            <a:r>
              <a:rPr lang="en-US" dirty="0"/>
              <a:t>Configuring Dynamic NAT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2348" y="1232592"/>
            <a:ext cx="8733677" cy="4926405"/>
          </a:xfrm>
        </p:spPr>
        <p:txBody>
          <a:bodyPr/>
          <a:lstStyle/>
          <a:p>
            <a:r>
              <a:rPr lang="en-US" dirty="0"/>
              <a:t>Dynamic NAT Operation</a:t>
            </a:r>
          </a:p>
          <a:p>
            <a:pPr lvl="1"/>
            <a:r>
              <a:rPr lang="en-US" dirty="0"/>
              <a:t>The pool of public IPv4 addresses (inside global address pool) is available to any device on the inside network on a first-come, first-served basis.</a:t>
            </a:r>
          </a:p>
          <a:p>
            <a:pPr lvl="1"/>
            <a:r>
              <a:rPr lang="en-US" dirty="0"/>
              <a:t>With dynamic NAT, a single inside address is translated to a single outside address.</a:t>
            </a:r>
          </a:p>
          <a:p>
            <a:pPr lvl="1"/>
            <a:r>
              <a:rPr lang="en-US" dirty="0"/>
              <a:t>The pool must be large enough to accommodate all inside devices.</a:t>
            </a:r>
          </a:p>
          <a:p>
            <a:pPr lvl="1"/>
            <a:r>
              <a:rPr lang="en-US" dirty="0"/>
              <a:t>A device is unable to communicate to any external networks if no addresses are available in the pool.</a:t>
            </a:r>
          </a:p>
        </p:txBody>
      </p:sp>
    </p:spTree>
    <p:extLst>
      <p:ext uri="{BB962C8B-B14F-4D97-AF65-F5344CB8AC3E}">
        <p14:creationId xmlns:p14="http://schemas.microsoft.com/office/powerpoint/2010/main" val="2664835298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Configuring NAT</a:t>
            </a:r>
            <a:br>
              <a:rPr lang="en-US" dirty="0"/>
            </a:br>
            <a:r>
              <a:rPr lang="en-US" dirty="0"/>
              <a:t>Configuring Dynamic NAT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2348" y="1232592"/>
            <a:ext cx="8733677" cy="4926405"/>
          </a:xfrm>
        </p:spPr>
        <p:txBody>
          <a:bodyPr/>
          <a:lstStyle/>
          <a:p>
            <a:r>
              <a:rPr lang="en-US" dirty="0"/>
              <a:t>Configuring Dynamic NAT</a:t>
            </a:r>
          </a:p>
          <a:p>
            <a:pPr lvl="1"/>
            <a:r>
              <a:rPr lang="en-US" dirty="0"/>
              <a:t>Create the mapping between the inside local and outside local addresses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pool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start-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end-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netmask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netmask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prefix-length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prefix-length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/>
              <a:t>Create a standard ACL to permit those addresses to be translated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access-list-number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permit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source-wildcard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dirty="0"/>
              <a:t>Bind the ACL to the pool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 source list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access-list-number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pool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</a:p>
          <a:p>
            <a:pPr lvl="1"/>
            <a:r>
              <a:rPr lang="en-US" dirty="0"/>
              <a:t>Identify the inside and outside interfaces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outside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723822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Configuring NAT</a:t>
            </a:r>
            <a:br>
              <a:rPr lang="en-US" dirty="0"/>
            </a:br>
            <a:r>
              <a:rPr lang="en-US" dirty="0"/>
              <a:t>Configuring Dynamic NAT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2348" y="1232593"/>
            <a:ext cx="8733677" cy="22861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Analyzing Dynamic NAT</a:t>
            </a:r>
          </a:p>
          <a:p>
            <a:r>
              <a:rPr lang="en-US" dirty="0"/>
              <a:t>Verifying Dynamic NAT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 verbose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 *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98" y="3686841"/>
            <a:ext cx="3517848" cy="2899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601" y="3686841"/>
            <a:ext cx="3424453" cy="280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48757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9" y="336517"/>
            <a:ext cx="8772157" cy="838200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Configuring NAT</a:t>
            </a:r>
            <a:br>
              <a:rPr lang="en-US" sz="1600" dirty="0"/>
            </a:br>
            <a:r>
              <a:rPr lang="en-US" dirty="0"/>
              <a:t>Configuring Port Address Translations (PAT)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07" y="1232592"/>
            <a:ext cx="8733677" cy="369822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Configuring PAT: Address Pool</a:t>
            </a:r>
          </a:p>
          <a:p>
            <a:pPr lvl="1"/>
            <a:r>
              <a:rPr lang="en-US" dirty="0"/>
              <a:t>Create the mapping between the inside local and outside local addresses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pool name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start-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end-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netmask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netmask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prefix-length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prefix-length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/>
              <a:t>Create a standard ACL to permit those addresses to be translated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access-list-number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permit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source-wildcard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dirty="0"/>
              <a:t>Bind the ACL to the pool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 source list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access-list-number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pool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</a:p>
          <a:p>
            <a:pPr lvl="1"/>
            <a:r>
              <a:rPr lang="en-US" dirty="0"/>
              <a:t>Identify the inside and outside interfaces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outside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452" y="4694281"/>
            <a:ext cx="5331574" cy="195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21960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48092"/>
            <a:ext cx="8772157" cy="838200"/>
          </a:xfrm>
        </p:spPr>
        <p:txBody>
          <a:bodyPr>
            <a:normAutofit/>
          </a:bodyPr>
          <a:lstStyle/>
          <a:p>
            <a:r>
              <a:rPr lang="en-US" sz="1600" dirty="0"/>
              <a:t>Configuring NAT</a:t>
            </a:r>
            <a:br>
              <a:rPr lang="en-US" sz="1600" dirty="0"/>
            </a:br>
            <a:r>
              <a:rPr lang="en-US" sz="2700" dirty="0"/>
              <a:t>Configuring Port Address Translations (PAT)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07" y="1232593"/>
            <a:ext cx="8733677" cy="35824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Configuring PAT: Single Address</a:t>
            </a:r>
          </a:p>
          <a:p>
            <a:pPr lvl="1"/>
            <a:r>
              <a:rPr lang="en-US" dirty="0"/>
              <a:t>Define a standard ACL to permit those addresses to be translated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access-list-number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permit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source-wildcard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dirty="0"/>
              <a:t>Establish dynamic source translation, specify the ACL, exit interface, and overload option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 source list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access-list-number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type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overload</a:t>
            </a:r>
          </a:p>
          <a:p>
            <a:pPr lvl="1"/>
            <a:r>
              <a:rPr lang="en-US" dirty="0"/>
              <a:t>Identify the inside and outside interfaces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outside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315" y="4815068"/>
            <a:ext cx="5489708" cy="183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40189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48092"/>
            <a:ext cx="8772157" cy="838200"/>
          </a:xfrm>
        </p:spPr>
        <p:txBody>
          <a:bodyPr/>
          <a:lstStyle/>
          <a:p>
            <a:r>
              <a:rPr lang="en-US" sz="1600" dirty="0"/>
              <a:t>Configuring NAT</a:t>
            </a:r>
            <a:br>
              <a:rPr lang="en-US" sz="1600" dirty="0"/>
            </a:br>
            <a:r>
              <a:rPr lang="en-US" sz="2700" dirty="0"/>
              <a:t>Configuring Port Address Translations (PAT)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07" y="1232592"/>
            <a:ext cx="8733677" cy="18925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Analyzing PAT</a:t>
            </a:r>
          </a:p>
          <a:p>
            <a:r>
              <a:rPr lang="en-US" dirty="0"/>
              <a:t>Verifying PAT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pPr marL="2286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slear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395" y="3419633"/>
            <a:ext cx="3938010" cy="31192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56" y="3432906"/>
            <a:ext cx="3928389" cy="310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84178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Configuring NAT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Port Forwarding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1" y="1232592"/>
            <a:ext cx="8514200" cy="3513028"/>
          </a:xfrm>
        </p:spPr>
        <p:txBody>
          <a:bodyPr/>
          <a:lstStyle/>
          <a:p>
            <a:r>
              <a:rPr lang="en-US" sz="2000" dirty="0"/>
              <a:t>Port Forwarding</a:t>
            </a:r>
          </a:p>
          <a:p>
            <a:pPr lvl="1"/>
            <a:r>
              <a:rPr lang="en-US" sz="1600" dirty="0"/>
              <a:t>Port forwarding is the act of forwarding a network port from one network node to another.</a:t>
            </a:r>
          </a:p>
          <a:p>
            <a:pPr lvl="1"/>
            <a:r>
              <a:rPr lang="en-US" sz="1600" dirty="0"/>
              <a:t>A packet sent to the public IP address and port of a router can be forwarded to a private IP address and port in inside network.</a:t>
            </a:r>
          </a:p>
          <a:p>
            <a:pPr lvl="1"/>
            <a:r>
              <a:rPr lang="en-US" sz="1600" dirty="0"/>
              <a:t>Port forwarding is helpful in situations where servers have private addresses, not reachable from the outside networks.</a:t>
            </a:r>
            <a:endParaRPr lang="en-US" sz="2000" dirty="0"/>
          </a:p>
          <a:p>
            <a:r>
              <a:rPr lang="en-US" sz="2000" dirty="0"/>
              <a:t>Wireless Router Example</a:t>
            </a:r>
          </a:p>
          <a:p>
            <a:r>
              <a:rPr lang="en-US" sz="2000" dirty="0"/>
              <a:t>Configuring Port Forwarding with IOS</a:t>
            </a:r>
          </a:p>
          <a:p>
            <a:pPr marL="228600" lvl="1" indent="0"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inside source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local-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local-port global-</a:t>
            </a:r>
            <a:r>
              <a:rPr lang="en-US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 global-port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extendable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66" y="4822034"/>
            <a:ext cx="4332759" cy="15845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68" y="4965538"/>
            <a:ext cx="4179314" cy="14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00629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Configuring NAT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Configuring NAT and IPv6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232592"/>
            <a:ext cx="8752915" cy="3594052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NAT for IPv6?</a:t>
            </a:r>
            <a:endParaRPr lang="en-US" sz="1600" dirty="0"/>
          </a:p>
          <a:p>
            <a:pPr lvl="1"/>
            <a:r>
              <a:rPr lang="en-US" sz="1600" dirty="0"/>
              <a:t>IPv6 with a 128-bit address provides 340 undecillion addresses.</a:t>
            </a:r>
          </a:p>
          <a:p>
            <a:pPr lvl="1"/>
            <a:r>
              <a:rPr lang="en-US" sz="1600" dirty="0"/>
              <a:t>Address space is not an issue for IPv6.</a:t>
            </a:r>
          </a:p>
          <a:p>
            <a:pPr lvl="1"/>
            <a:r>
              <a:rPr lang="en-US" sz="1600" dirty="0"/>
              <a:t>IPv6 makes IPv4 public-private NAT unnecessary by design; however, IPv6 does implement a form of private addresses, and it is implemented differently than they are for IPv4.</a:t>
            </a:r>
            <a:endParaRPr lang="en-US" sz="2000" dirty="0"/>
          </a:p>
          <a:p>
            <a:r>
              <a:rPr lang="en-US" sz="2000" dirty="0"/>
              <a:t>IPv6 Unique Local Address</a:t>
            </a:r>
          </a:p>
          <a:p>
            <a:pPr lvl="1"/>
            <a:r>
              <a:rPr lang="en-US" sz="1600" dirty="0"/>
              <a:t>IPv6 unique local addresses (ULAs) are designed to allow IPv6 communications within a local site.</a:t>
            </a:r>
          </a:p>
          <a:p>
            <a:pPr lvl="1"/>
            <a:r>
              <a:rPr lang="en-US" sz="1600" dirty="0"/>
              <a:t>ULAs are not meant to provide additional IPv6 address space.</a:t>
            </a:r>
          </a:p>
          <a:p>
            <a:pPr lvl="1"/>
            <a:r>
              <a:rPr lang="en-US" sz="1600" dirty="0"/>
              <a:t>ULAs have the prefix FC00::/7, which results in a first </a:t>
            </a:r>
            <a:r>
              <a:rPr lang="en-US" sz="1600" dirty="0" err="1"/>
              <a:t>hextet</a:t>
            </a:r>
            <a:r>
              <a:rPr lang="en-US" sz="1600" dirty="0"/>
              <a:t> range of FC00 to FDFF.</a:t>
            </a:r>
          </a:p>
          <a:p>
            <a:pPr lvl="1"/>
            <a:r>
              <a:rPr lang="en-US" sz="1600" dirty="0"/>
              <a:t>ULAs are also known as local IPv6 addresses (not to be confused with IPv6 link-local addresses).</a:t>
            </a:r>
            <a:endParaRPr lang="en-US" sz="2000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208" y="4689598"/>
            <a:ext cx="4691059" cy="195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95250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Configuring NAT</a:t>
            </a:r>
            <a:br>
              <a:rPr lang="en-US" sz="1800" dirty="0">
                <a:latin typeface="Arial" charset="0"/>
              </a:rPr>
            </a:br>
            <a:r>
              <a:rPr lang="en-US" dirty="0">
                <a:latin typeface="Arial" charset="0"/>
              </a:rPr>
              <a:t>Configuring NAT and IPv6 (Cont.)</a:t>
            </a:r>
            <a:endParaRPr lang="en-US" dirty="0">
              <a:solidFill>
                <a:srgbClr val="00B0F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10" y="1232591"/>
            <a:ext cx="8752915" cy="2471307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NAT for IPv6</a:t>
            </a:r>
            <a:endParaRPr lang="en-US" sz="1600" dirty="0"/>
          </a:p>
          <a:p>
            <a:pPr lvl="1"/>
            <a:r>
              <a:rPr lang="en-US" dirty="0"/>
              <a:t>IPv6 also uses NAT, but in a much different context.</a:t>
            </a:r>
          </a:p>
          <a:p>
            <a:pPr lvl="1"/>
            <a:r>
              <a:rPr lang="en-US" dirty="0"/>
              <a:t>In IPv6, NAT is used to provide transparent communication between IPv6 and IPv4.</a:t>
            </a:r>
          </a:p>
          <a:p>
            <a:pPr lvl="1"/>
            <a:r>
              <a:rPr lang="en-US" dirty="0"/>
              <a:t>NAT64 is not intended to be a permanent solution; it is meant to be a transition mechanism.</a:t>
            </a:r>
          </a:p>
          <a:p>
            <a:pPr lvl="1"/>
            <a:r>
              <a:rPr lang="en-US" dirty="0"/>
              <a:t>Network Address Translation-Protocol Translation (NAT-PT) was another NAT-based transition mechanism for IPv6, but is now deprecated by IETF.</a:t>
            </a:r>
          </a:p>
          <a:p>
            <a:pPr lvl="1"/>
            <a:r>
              <a:rPr lang="en-US" dirty="0"/>
              <a:t>NAT64 is now recommended.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110" y="3255259"/>
            <a:ext cx="54102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86275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CA" sz="2400" dirty="0"/>
              <a:t>4.3 Troubleshooting NAT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202008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Troubleshooting NAT</a:t>
            </a:r>
            <a:br>
              <a:rPr lang="en-US" sz="1600" dirty="0"/>
            </a:br>
            <a:r>
              <a:rPr lang="en-US" dirty="0"/>
              <a:t>Troubleshooting NAT Configurations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2348" y="1232592"/>
            <a:ext cx="8733677" cy="25870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Troubleshooting NAT: show commands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 *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translations</a:t>
            </a:r>
          </a:p>
          <a:p>
            <a:r>
              <a:rPr lang="en-US" dirty="0"/>
              <a:t>Troubleshooting NAT: debug commands</a:t>
            </a:r>
          </a:p>
          <a:p>
            <a:pPr marL="2286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debug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184" y="3703628"/>
            <a:ext cx="4559981" cy="294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90660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/>
              <a:t>4.4 Chapter Summary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46901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Chapter 11 Summary</a:t>
            </a:r>
            <a:br>
              <a:rPr lang="en-US" sz="1600" dirty="0"/>
            </a:br>
            <a:r>
              <a:rPr lang="en-US" dirty="0" err="1"/>
              <a:t>Summary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13107" y="1232592"/>
            <a:ext cx="8733677" cy="524440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How NAT is used to help alleviate the depletion of the IPv4 address space. </a:t>
            </a:r>
          </a:p>
          <a:p>
            <a:r>
              <a:rPr lang="en-US" sz="2000" dirty="0"/>
              <a:t>NAT conserves public address space and saves considerable administrative overhead in managing adds, moves, and changes. </a:t>
            </a:r>
          </a:p>
          <a:p>
            <a:r>
              <a:rPr lang="en-US" sz="2000" dirty="0"/>
              <a:t>NAT for IPv4, including:</a:t>
            </a:r>
          </a:p>
          <a:p>
            <a:pPr lvl="1"/>
            <a:r>
              <a:rPr lang="en-US" dirty="0"/>
              <a:t>NAT characteristics, terminology, and general operations</a:t>
            </a:r>
          </a:p>
          <a:p>
            <a:pPr lvl="1"/>
            <a:r>
              <a:rPr lang="en-US" dirty="0"/>
              <a:t>Different types of NAT, including static NAT, dynamic NAT, and NAT with overloading</a:t>
            </a:r>
          </a:p>
          <a:p>
            <a:pPr lvl="1"/>
            <a:r>
              <a:rPr lang="en-US" dirty="0"/>
              <a:t>Benefits and disadvantages of NAT</a:t>
            </a:r>
          </a:p>
          <a:p>
            <a:r>
              <a:rPr lang="en-US" sz="2000" dirty="0"/>
              <a:t>The configuration, verification, and analysis of static NAT, dynamic NAT, and NAT with overloading.</a:t>
            </a:r>
          </a:p>
          <a:p>
            <a:r>
              <a:rPr lang="en-US" sz="2000" dirty="0"/>
              <a:t>How port forwarding can be used to access an internal devices from the Internet.</a:t>
            </a:r>
          </a:p>
          <a:p>
            <a:r>
              <a:rPr lang="en-US" sz="2000" dirty="0"/>
              <a:t>Troubleshooting NAT using 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show</a:t>
            </a:r>
            <a:r>
              <a:rPr lang="en-US" sz="2000" dirty="0"/>
              <a:t> and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debug</a:t>
            </a:r>
            <a:r>
              <a:rPr lang="en-US" sz="2000" dirty="0"/>
              <a:t> commands.</a:t>
            </a:r>
          </a:p>
          <a:p>
            <a:r>
              <a:rPr lang="en-US" sz="2000" dirty="0"/>
              <a:t>How NAT for IPv6 is used to translate between IPv6 addresses and IPv4 addresses.</a:t>
            </a:r>
          </a:p>
        </p:txBody>
      </p:sp>
    </p:spTree>
    <p:extLst>
      <p:ext uri="{BB962C8B-B14F-4D97-AF65-F5344CB8AC3E}">
        <p14:creationId xmlns:p14="http://schemas.microsoft.com/office/powerpoint/2010/main" val="249776092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31197</TotalTime>
  <Pages>28</Pages>
  <Words>1360</Words>
  <Application>Microsoft Office PowerPoint</Application>
  <PresentationFormat>On-screen Show (4:3)</PresentationFormat>
  <Paragraphs>222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ＭＳ Ｐゴシック</vt:lpstr>
      <vt:lpstr>Arial</vt:lpstr>
      <vt:lpstr>Courier New</vt:lpstr>
      <vt:lpstr>Wingdings</vt:lpstr>
      <vt:lpstr>PPT-TMPLT-WHT_C</vt:lpstr>
      <vt:lpstr>NetAcad-4F_PPT-WHT_060408</vt:lpstr>
      <vt:lpstr>Chapter 4: NAT for IPv4</vt:lpstr>
      <vt:lpstr>Chapter 4 - Sections &amp; Objectives</vt:lpstr>
      <vt:lpstr>4.1 NAT Operation</vt:lpstr>
      <vt:lpstr>NAT Operation NAT Characteristics</vt:lpstr>
      <vt:lpstr>NAT Operation Types of NAT</vt:lpstr>
      <vt:lpstr>NAT Operation NAT Advantages</vt:lpstr>
      <vt:lpstr>4.2 Configuring NAT</vt:lpstr>
      <vt:lpstr>Configuring NAT Configuring Static NAT</vt:lpstr>
      <vt:lpstr>Configuring NAT Configuring Dynamic NAT</vt:lpstr>
      <vt:lpstr>Configuring NAT Configuring Dynamic NAT (Cont.)</vt:lpstr>
      <vt:lpstr>Configuring NAT Configuring Dynamic NAT (Cont.)</vt:lpstr>
      <vt:lpstr>Configuring NAT Configuring Port Address Translations (PAT)</vt:lpstr>
      <vt:lpstr>Configuring NAT Configuring Port Address Translations (PAT) (Cont.)</vt:lpstr>
      <vt:lpstr>Configuring NAT Configuring Port Address Translations (PAT) (Cont.)</vt:lpstr>
      <vt:lpstr>Configuring NAT Port Forwarding</vt:lpstr>
      <vt:lpstr>Configuring NAT Configuring NAT and IPv6</vt:lpstr>
      <vt:lpstr>Configuring NAT Configuring NAT and IPv6 (Cont.)</vt:lpstr>
      <vt:lpstr>4.3 Troubleshooting NAT</vt:lpstr>
      <vt:lpstr>Troubleshooting NAT Troubleshooting NAT Configurations</vt:lpstr>
      <vt:lpstr>4.4 Chapter Summary</vt:lpstr>
      <vt:lpstr>Chapter 11 Summary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HOO BRYAN</cp:lastModifiedBy>
  <cp:revision>1057</cp:revision>
  <cp:lastPrinted>1999-01-27T00:54:54Z</cp:lastPrinted>
  <dcterms:created xsi:type="dcterms:W3CDTF">2006-10-23T15:07:30Z</dcterms:created>
  <dcterms:modified xsi:type="dcterms:W3CDTF">2019-04-29T07:09:22Z</dcterms:modified>
</cp:coreProperties>
</file>