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9" r:id="rId22"/>
    <p:sldId id="280" r:id="rId23"/>
    <p:sldId id="281"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A6EC0-DC1D-4994-A128-939A421CDB0E}" type="datetimeFigureOut">
              <a:rPr lang="en-SG" smtClean="0"/>
              <a:t>2/4/2018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84F817-37F4-4938-9136-71B5A45BAF43}" type="slidenum">
              <a:rPr lang="en-SG" smtClean="0"/>
              <a:t>‹#›</a:t>
            </a:fld>
            <a:endParaRPr lang="en-SG"/>
          </a:p>
        </p:txBody>
      </p:sp>
    </p:spTree>
    <p:extLst>
      <p:ext uri="{BB962C8B-B14F-4D97-AF65-F5344CB8AC3E}">
        <p14:creationId xmlns:p14="http://schemas.microsoft.com/office/powerpoint/2010/main" val="3902768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D0CC76D7-E935-4C5F-A7B8-335EDDAE581B}" type="slidenum">
              <a:rPr lang="en-AU" altLang="en-US"/>
              <a:pPr eaLnBrk="1" hangingPunct="1">
                <a:spcBef>
                  <a:spcPct val="0"/>
                </a:spcBef>
              </a:pPr>
              <a:t>9</a:t>
            </a:fld>
            <a:endParaRPr lang="en-AU" alt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firewall is positioned to provide a protective barrier between an external, potentially untrusted source of traffic and an internal network. With that general principal in mind, a security administrator must decide on the location and on the number of firewalls needed. In this section, we look at some common options. Figure 9.3 suggests the most common distinction, that between an internal and an external firewall. An external firewall is placed at the edge of a local or enterprise network. One or more internal firewalls protect the bulk of the enterprise network. Between these two types of firewalls are one or more networked devices in a region referred to as a DMZ (demilitarized zone) network. Systems that are externally accessible but need some protections are usually located on DMZ networks. </a:t>
            </a:r>
          </a:p>
          <a:p>
            <a:pPr eaLnBrk="1" hangingPunct="1"/>
            <a:r>
              <a:rPr lang="en-US" altLang="en-US" smtClean="0">
                <a:latin typeface="Times New Roman" panose="02020603050405020304" pitchFamily="18" charset="0"/>
              </a:rPr>
              <a:t>The external firewall provides a measure of access control and protection for the DMZ systems consistent with their need for external connectivity. The external firewall also provides a basic level of protection for the remainder of the enterprise network.</a:t>
            </a:r>
          </a:p>
          <a:p>
            <a:pPr eaLnBrk="1" hangingPunct="1"/>
            <a:r>
              <a:rPr lang="en-US" altLang="en-US" smtClean="0">
                <a:latin typeface="Times New Roman" panose="02020603050405020304" pitchFamily="18" charset="0"/>
              </a:rPr>
              <a:t>In this type of configuration, internal firewalls server three purposes:</a:t>
            </a:r>
          </a:p>
          <a:p>
            <a:pPr eaLnBrk="1" hangingPunct="1"/>
            <a:r>
              <a:rPr lang="en-US" altLang="en-US" b="1" smtClean="0">
                <a:latin typeface="Times New Roman" panose="02020603050405020304" pitchFamily="18" charset="0"/>
              </a:rPr>
              <a:t>1. </a:t>
            </a:r>
            <a:r>
              <a:rPr lang="en-US" altLang="en-US" smtClean="0">
                <a:latin typeface="Times New Roman" panose="02020603050405020304" pitchFamily="18" charset="0"/>
              </a:rPr>
              <a:t>it adds more stringent filtering capability, compared to the external firewall, in order to protect enterprise servers and workstations from external attack.</a:t>
            </a:r>
          </a:p>
          <a:p>
            <a:pPr eaLnBrk="1" hangingPunct="1"/>
            <a:r>
              <a:rPr lang="en-US" altLang="en-US" b="1" smtClean="0">
                <a:latin typeface="Times New Roman" panose="02020603050405020304" pitchFamily="18" charset="0"/>
              </a:rPr>
              <a:t>2. </a:t>
            </a:r>
            <a:r>
              <a:rPr lang="en-US" altLang="en-US" smtClean="0">
                <a:latin typeface="Times New Roman" panose="02020603050405020304" pitchFamily="18" charset="0"/>
              </a:rPr>
              <a:t>it provides two-way protection with respect to the DMZ, protecting the remainder of the network from attacks launched from DMZ and protecting DMZ systems from attack from the internal protected network.</a:t>
            </a:r>
          </a:p>
          <a:p>
            <a:pPr eaLnBrk="1" hangingPunct="1"/>
            <a:r>
              <a:rPr lang="en-US" altLang="en-US" b="1" smtClean="0">
                <a:latin typeface="Times New Roman" panose="02020603050405020304" pitchFamily="18" charset="0"/>
              </a:rPr>
              <a:t>3. </a:t>
            </a:r>
            <a:r>
              <a:rPr lang="en-US" altLang="en-US" smtClean="0">
                <a:latin typeface="Times New Roman" panose="02020603050405020304" pitchFamily="18" charset="0"/>
              </a:rPr>
              <a:t>Multiple internal firewalls can be used to protect portions of the internal network from each other. Figure 6.5 in the text shows a configuration in which the internal servers are protected from internal workstations and vice versa.</a:t>
            </a:r>
          </a:p>
          <a:p>
            <a:pPr lvl="2"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028084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Here the Firewall is separate from the Intrusion Detection System.  An IDS does not directly filter traffic.</a:t>
            </a:r>
          </a:p>
          <a:p>
            <a:pPr eaLnBrk="1" hangingPunct="1"/>
            <a:r>
              <a:rPr lang="en-US" altLang="en-US" smtClean="0"/>
              <a:t>Some Firewalls may include Intrusion Prevention Systems (IPS) which directly filters traffic.</a:t>
            </a:r>
          </a:p>
          <a:p>
            <a:pPr eaLnBrk="1" hangingPunct="1"/>
            <a:r>
              <a:rPr lang="en-US" altLang="en-US" smtClean="0"/>
              <a:t>In Unified Threat Management systems they are integrated into one box.</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BBA8701D-8CB2-45AE-850A-3C2F75F5B49B}" type="slidenum">
              <a:rPr lang="en-AU" altLang="en-US"/>
              <a:pPr eaLnBrk="1" hangingPunct="1">
                <a:spcBef>
                  <a:spcPct val="0"/>
                </a:spcBef>
              </a:pPr>
              <a:t>10</a:t>
            </a:fld>
            <a:endParaRPr lang="en-AU" altLang="en-US"/>
          </a:p>
        </p:txBody>
      </p:sp>
    </p:spTree>
    <p:extLst>
      <p:ext uri="{BB962C8B-B14F-4D97-AF65-F5344CB8AC3E}">
        <p14:creationId xmlns:p14="http://schemas.microsoft.com/office/powerpoint/2010/main" val="3770638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The firewall can route to 3 different zones, with different routing rules to each zone.</a:t>
            </a:r>
          </a:p>
          <a:p>
            <a:pPr eaLnBrk="1" hangingPunct="1"/>
            <a:r>
              <a:rPr lang="en-US" altLang="en-US" smtClean="0"/>
              <a:t>Multihomed means being able to route to more than 2 zones.</a:t>
            </a: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A79A64C-661E-4506-B44A-6BB3B99F4EAE}" type="slidenum">
              <a:rPr lang="en-AU" altLang="en-US"/>
              <a:pPr eaLnBrk="1" hangingPunct="1">
                <a:spcBef>
                  <a:spcPct val="0"/>
                </a:spcBef>
              </a:pPr>
              <a:t>12</a:t>
            </a:fld>
            <a:endParaRPr lang="en-AU" altLang="en-US"/>
          </a:p>
        </p:txBody>
      </p:sp>
    </p:spTree>
    <p:extLst>
      <p:ext uri="{BB962C8B-B14F-4D97-AF65-F5344CB8AC3E}">
        <p14:creationId xmlns:p14="http://schemas.microsoft.com/office/powerpoint/2010/main" val="3494541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Here the Firewall is separate from the Intrusion Detection System.  An IDS does not directly filter traffic.</a:t>
            </a:r>
          </a:p>
          <a:p>
            <a:pPr eaLnBrk="1" hangingPunct="1"/>
            <a:r>
              <a:rPr lang="en-US" altLang="en-US" smtClean="0"/>
              <a:t>Some Firewalls may include Intrusion Prevention Systems (IPS) which directly filters traffic.</a:t>
            </a:r>
          </a:p>
          <a:p>
            <a:pPr eaLnBrk="1" hangingPunct="1"/>
            <a:r>
              <a:rPr lang="en-US" altLang="en-US" smtClean="0"/>
              <a:t>In Unified Threat Management systems they are integrated into one box.</a:t>
            </a: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2FC419D9-7D3F-417E-94CF-33ED13E591EE}" type="slidenum">
              <a:rPr lang="en-AU" altLang="en-US"/>
              <a:pPr eaLnBrk="1" hangingPunct="1">
                <a:spcBef>
                  <a:spcPct val="0"/>
                </a:spcBef>
              </a:pPr>
              <a:t>13</a:t>
            </a:fld>
            <a:endParaRPr lang="en-AU" altLang="en-US"/>
          </a:p>
        </p:txBody>
      </p:sp>
    </p:spTree>
    <p:extLst>
      <p:ext uri="{BB962C8B-B14F-4D97-AF65-F5344CB8AC3E}">
        <p14:creationId xmlns:p14="http://schemas.microsoft.com/office/powerpoint/2010/main" val="90179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C144055-CC2C-4831-A97C-7F57FE57285E}" type="slidenum">
              <a:rPr lang="en-AU" altLang="en-US"/>
              <a:pPr eaLnBrk="1" hangingPunct="1">
                <a:spcBef>
                  <a:spcPct val="0"/>
                </a:spcBef>
              </a:pPr>
              <a:t>14</a:t>
            </a:fld>
            <a:endParaRPr lang="en-AU"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bastion host is a system identified by the firewall administrator as a critical strong point in the network's security. Typically, the bastion host serves as a platform for an application-level or circuit-level gateway. Common characteristics of a bastion host:</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executes a secure version of its operating system, making it a trusted system.</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only essential services are installed on the bastion host. These include proxy applications such as Telnet, DNS, FTP, SMTP, and user authentication.</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may require additional authentication before a user is allowed access to the proxy services, and may require its own authentication before granting user access.</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is configured to support only a subset of the application’s command set. </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is configured to allow access only to specific host systems. </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maintains detailed audit information by logging all traffic, each connection, and the duration of each connection. </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module is a very small software package specifically designed for network security, hence is easier to check such modules for security flaws. </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is independent of other proxies on the bastion host, and can be uninstalled without affecting the operation of the other proxy applications. </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generally performs no disk access other than to read its initial configuration file.</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each proxy runs as a nonprivileged user in a private and secured directory on host.</a:t>
            </a:r>
          </a:p>
        </p:txBody>
      </p:sp>
    </p:spTree>
    <p:extLst>
      <p:ext uri="{BB962C8B-B14F-4D97-AF65-F5344CB8AC3E}">
        <p14:creationId xmlns:p14="http://schemas.microsoft.com/office/powerpoint/2010/main" val="2303566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FA2BDDFB-C59F-49E7-8A55-E2B936EE0043}" type="slidenum">
              <a:rPr lang="en-AU" altLang="en-US"/>
              <a:pPr eaLnBrk="1" hangingPunct="1">
                <a:spcBef>
                  <a:spcPct val="0"/>
                </a:spcBef>
              </a:pPr>
              <a:t>15</a:t>
            </a:fld>
            <a:endParaRPr lang="en-AU" alt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We can now summarize the discussion from Sections 9.4 and 9.5 to define a spectrum of firewall locations and topologies. The following alternatives can be identified:</a:t>
            </a:r>
          </a:p>
          <a:p>
            <a:pPr eaLnBrk="1" hangingPunct="1"/>
            <a:r>
              <a:rPr lang="en-US" altLang="en-US" smtClean="0">
                <a:latin typeface="Times New Roman" panose="02020603050405020304" pitchFamily="18" charset="0"/>
              </a:rPr>
              <a:t>• Host-resident firewall: This category includes personal firewall software and firewall software on servers, used alone or as part of an in-depth firewall deployment. </a:t>
            </a:r>
          </a:p>
          <a:p>
            <a:pPr eaLnBrk="1" hangingPunct="1"/>
            <a:r>
              <a:rPr lang="en-US" altLang="en-US" smtClean="0">
                <a:latin typeface="Times New Roman" panose="02020603050405020304" pitchFamily="18" charset="0"/>
              </a:rPr>
              <a:t>• Screening router: single router between internal and external networks with stateless or full packet filtering. Typical for small office/home office (SOHO) applications. </a:t>
            </a:r>
          </a:p>
          <a:p>
            <a:pPr eaLnBrk="1" hangingPunct="1"/>
            <a:r>
              <a:rPr lang="en-US" altLang="en-US" smtClean="0">
                <a:latin typeface="Times New Roman" panose="02020603050405020304" pitchFamily="18" charset="0"/>
              </a:rPr>
              <a:t>• Single bastion inline: single firewall device between an internal and external router (Fig 9.1a) .The firewall may implement stateful filters and/or application proxies. This is the typical firewall appliance configuration for small to medium-sized organizations. </a:t>
            </a:r>
          </a:p>
          <a:p>
            <a:pPr eaLnBrk="1" hangingPunct="1"/>
            <a:r>
              <a:rPr lang="en-US" altLang="en-US" smtClean="0">
                <a:latin typeface="Times New Roman" panose="02020603050405020304" pitchFamily="18" charset="0"/>
              </a:rPr>
              <a:t>• Single bastion T: Similar to single bastion inline but has a third network interface on bastion to a DMZ where externally visible servers are placed. Again, this is a common appliance configuration for medium to large organizations. </a:t>
            </a:r>
          </a:p>
          <a:p>
            <a:pPr eaLnBrk="1" hangingPunct="1"/>
            <a:r>
              <a:rPr lang="en-US" altLang="en-US" smtClean="0">
                <a:latin typeface="Times New Roman" panose="02020603050405020304" pitchFamily="18" charset="0"/>
              </a:rPr>
              <a:t>• Double bastion inline: Fig 9.3 illustrates this configuration, where the DMZ is sandwiched between bastion firewalls. This configuration is common for large businesses and government organizations. </a:t>
            </a:r>
          </a:p>
          <a:p>
            <a:pPr eaLnBrk="1" hangingPunct="1"/>
            <a:r>
              <a:rPr lang="en-US" altLang="en-US" smtClean="0">
                <a:latin typeface="Times New Roman" panose="02020603050405020304" pitchFamily="18" charset="0"/>
              </a:rPr>
              <a:t>• Double bastion T: Fig 6.5 illustrates this configuration. The DMZ is on a separate network interface on the bastion firewall. This configuration is also common for large businesses and government organizations and may be legally required in some cases.</a:t>
            </a:r>
          </a:p>
          <a:p>
            <a:pPr eaLnBrk="1" hangingPunct="1"/>
            <a:r>
              <a:rPr lang="en-US" altLang="en-US" smtClean="0">
                <a:latin typeface="Times New Roman" panose="02020603050405020304" pitchFamily="18" charset="0"/>
              </a:rPr>
              <a:t>• Distributed firewall configuration: Illustrated in Fig 9.5. This configuration is used by some large businesses and government organizations. </a:t>
            </a:r>
          </a:p>
        </p:txBody>
      </p:sp>
    </p:spTree>
    <p:extLst>
      <p:ext uri="{BB962C8B-B14F-4D97-AF65-F5344CB8AC3E}">
        <p14:creationId xmlns:p14="http://schemas.microsoft.com/office/powerpoint/2010/main" val="1428109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Notice there is a physically separate network to carry logs (in the best protected companies).  </a:t>
            </a: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1170B93E-930C-401D-B0B7-3CE0D307A5F6}" type="slidenum">
              <a:rPr lang="en-AU" altLang="en-US"/>
              <a:pPr eaLnBrk="1" hangingPunct="1">
                <a:spcBef>
                  <a:spcPct val="0"/>
                </a:spcBef>
              </a:pPr>
              <a:t>16</a:t>
            </a:fld>
            <a:endParaRPr lang="en-AU" altLang="en-US"/>
          </a:p>
        </p:txBody>
      </p:sp>
    </p:spTree>
    <p:extLst>
      <p:ext uri="{BB962C8B-B14F-4D97-AF65-F5344CB8AC3E}">
        <p14:creationId xmlns:p14="http://schemas.microsoft.com/office/powerpoint/2010/main" val="4038273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5BB4BF0-1B5C-4013-87D7-6ED5342715B8}" type="slidenum">
              <a:rPr lang="en-AU" altLang="en-US"/>
              <a:pPr eaLnBrk="1" hangingPunct="1">
                <a:spcBef>
                  <a:spcPct val="0"/>
                </a:spcBef>
              </a:pPr>
              <a:t>17</a:t>
            </a:fld>
            <a:endParaRPr lang="en-AU"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firewall may act as a packet filter. It can operate as a positive filter, allowing to pass only packets that meet specific criteria, or as a negative filter,rejecting any packet that meets certain criteria. Depending on the type of firewall, it may examine one or more protocol headers in each packet, the payload of each packet, or the pattern generated by a sequence of packets. In this section, we look at the principal types of firewalls, which include:</a:t>
            </a:r>
          </a:p>
          <a:p>
            <a:pPr eaLnBrk="1" hangingPunct="1">
              <a:buFontTx/>
              <a:buChar char="•"/>
            </a:pPr>
            <a:r>
              <a:rPr lang="en-US" altLang="en-US" smtClean="0">
                <a:latin typeface="Times New Roman" panose="02020603050405020304" pitchFamily="18" charset="0"/>
              </a:rPr>
              <a:t>Packet Filtering Firewall: applies a set of rules to each incoming and outgoing IP packet and then forwards or discards the packet (Figure 9.1b). </a:t>
            </a:r>
          </a:p>
          <a:p>
            <a:pPr eaLnBrk="1" hangingPunct="1">
              <a:buFontTx/>
              <a:buChar char="•"/>
            </a:pPr>
            <a:r>
              <a:rPr lang="en-US" altLang="en-US" smtClean="0">
                <a:latin typeface="Times New Roman" panose="02020603050405020304" pitchFamily="18" charset="0"/>
              </a:rPr>
              <a:t>Stateful Inspection Firewalls: reviews the same packet information as a packet filtering firewall, but also records information about TCP connections (Figure 9.1c). May also keep track of TCP sequence numbers to prevent attacks that depend in some fashion on the sequence number, such as session hijacking.</a:t>
            </a:r>
          </a:p>
          <a:p>
            <a:pPr eaLnBrk="1" hangingPunct="1">
              <a:buFontTx/>
              <a:buChar char="•"/>
            </a:pPr>
            <a:r>
              <a:rPr lang="en-US" altLang="en-US" smtClean="0">
                <a:latin typeface="Times New Roman" panose="02020603050405020304" pitchFamily="18" charset="0"/>
              </a:rPr>
              <a:t>Application-Level Gateway: acts as a relay of application-level traffic (Figure 9.1d). The user contacts the gateway with the name of the remote host to be accessed. When the user responds and provides a valid user ID and authentication information, the gateway contacts the application on the remote host and relays TCP segments containing the application data between the two endpoints.</a:t>
            </a:r>
          </a:p>
          <a:p>
            <a:pPr eaLnBrk="1" hangingPunct="1">
              <a:buFontTx/>
              <a:buChar char="•"/>
            </a:pPr>
            <a:r>
              <a:rPr lang="en-US" altLang="en-US" smtClean="0">
                <a:latin typeface="Times New Roman" panose="02020603050405020304" pitchFamily="18" charset="0"/>
              </a:rPr>
              <a:t>Circuit-Level Gateway: or circuit-level proxy (Figure 9.1e) determining which connections will be allowed, and if so, sets up two TCP connections, one between itself and a TCP user on an inner host and one between itself and a TCP user on an outside host. Once the two connections are established, the gateway typically relays TCP segments from one connection to the other without examining the contents.</a:t>
            </a:r>
          </a:p>
        </p:txBody>
      </p:sp>
    </p:spTree>
    <p:extLst>
      <p:ext uri="{BB962C8B-B14F-4D97-AF65-F5344CB8AC3E}">
        <p14:creationId xmlns:p14="http://schemas.microsoft.com/office/powerpoint/2010/main" val="2004716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Here the red is the packet header being inspected, and the green is the part of the packet which is not inspected.</a:t>
            </a:r>
          </a:p>
          <a:p>
            <a:pPr eaLnBrk="1" hangingPunct="1"/>
            <a:r>
              <a:rPr lang="en-US" altLang="en-US" smtClean="0"/>
              <a:t>When an A is displayed in the firewall, this means that the firewall has state information about each connection and can detect more anomalies.</a:t>
            </a: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6900995-D605-4FE9-8FE0-ECABB9D86175}" type="slidenum">
              <a:rPr lang="en-US" altLang="en-US"/>
              <a:pPr eaLnBrk="1" hangingPunct="1">
                <a:spcBef>
                  <a:spcPct val="0"/>
                </a:spcBef>
              </a:pPr>
              <a:t>18</a:t>
            </a:fld>
            <a:endParaRPr lang="en-US" altLang="en-US"/>
          </a:p>
        </p:txBody>
      </p:sp>
    </p:spTree>
    <p:extLst>
      <p:ext uri="{BB962C8B-B14F-4D97-AF65-F5344CB8AC3E}">
        <p14:creationId xmlns:p14="http://schemas.microsoft.com/office/powerpoint/2010/main" val="3913247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45EA0C72-A4EE-4B72-8A76-7B583DBA1EE6}" type="slidenum">
              <a:rPr lang="en-AU" altLang="en-US"/>
              <a:pPr eaLnBrk="1" hangingPunct="1">
                <a:spcBef>
                  <a:spcPct val="0"/>
                </a:spcBef>
              </a:pPr>
              <a:t>19</a:t>
            </a:fld>
            <a:endParaRPr lang="en-AU" alt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packet filtering firewall applies a set of rules to each incoming and outgoing IP packet and then forwards or discards the packet. The firewall is typically configured to filter packets going in both directions (from and to the internal network). Filtering rules are based on information contained in a network packet: source IP address, destination IP address, source and destination transport-level address (port number), IP protocol field, interface (on firewall packet came from or is destined for). </a:t>
            </a:r>
            <a:r>
              <a:rPr lang="en-US" altLang="en-US" smtClean="0">
                <a:latin typeface="Times" panose="02020603050405020304" pitchFamily="18" charset="0"/>
              </a:rPr>
              <a:t>One advantage of a packet filtering firewall is its simplicity. Also, packet filters typically are transparent to users and are very fast.</a:t>
            </a:r>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The packet filter is typically set up as a list of rules based on matches to fields in the IP or TCP header. If there is a match to one of the rules, that rule is invoked to determine whether to forward or discard the packet. If there is no match to any rule, then a default action is taken. Two default policies are possible:</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Default = discard: That which is not expressly permitted is prohibited.</a:t>
            </a:r>
          </a:p>
          <a:p>
            <a:pPr eaLnBrk="1" hangingPunct="1"/>
            <a:r>
              <a:rPr lang="en-US" altLang="en-US" smtClean="0">
                <a:latin typeface="Times New Roman" panose="02020603050405020304" pitchFamily="18" charset="0"/>
                <a:cs typeface="Times New Roman" panose="02020603050405020304" pitchFamily="18" charset="0"/>
              </a:rPr>
              <a:t>• </a:t>
            </a:r>
            <a:r>
              <a:rPr lang="en-US" altLang="en-US" smtClean="0">
                <a:latin typeface="Times New Roman" panose="02020603050405020304" pitchFamily="18" charset="0"/>
              </a:rPr>
              <a:t>Default = forward: That which is not expressly prohibited is permitted.</a:t>
            </a:r>
          </a:p>
          <a:p>
            <a:pPr eaLnBrk="1" hangingPunct="1"/>
            <a:r>
              <a:rPr lang="en-US" altLang="en-US" smtClean="0">
                <a:latin typeface="Times New Roman" panose="02020603050405020304" pitchFamily="18" charset="0"/>
              </a:rPr>
              <a:t>The default discard policy is more conservative. Initially, everything is blocked, and services must be added on a case-by-case basis. This policy is more visible to users, who are more likely to see the firewall as a hindrance. The default forward policy increases ease of use for end users but provides reduced security; the security administrator must, in essence, react to each new security threat as it becomes known.</a:t>
            </a:r>
          </a:p>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80008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0F03D48-B220-44F3-8D5D-FF6C398F6083}" type="slidenum">
              <a:rPr lang="en-AU" altLang="en-US"/>
              <a:pPr eaLnBrk="1" hangingPunct="1">
                <a:spcBef>
                  <a:spcPct val="0"/>
                </a:spcBef>
              </a:pPr>
              <a:t>20</a:t>
            </a:fld>
            <a:endParaRPr lang="en-AU" alt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traditional packet filter makes filtering decisions on an individual packet basis and does not take into consideration any higher layer context. A Stateful Inspection Firewalls reviews the same packet information but also records information about TCP connections. In general, when an application that uses TCP creates a session with a remote host, it creates a TCP connection in which the TCP port number for the remote (server) application is a number less than 1024 and the TCP port number for the local (client) application is a number between 1024 and 65535. The numbers less than 1024 are the "well-known" port numbers and are assigned permanently to particular applications (e.g., 25 for server SMTP). The numbers between 1024 and 65535 are generated dynamically and have temporary significance only for the lifetime of a TCP connection. A simple packet filtering firewall must permit inbound network traffic on all these high-numbered ports for TCP-based traffic to occur. This creates a vulnerability that can be exploited by unauthorized users. A stateful inspection packet firewall tightens up the rules for TCP traffic by creating a directory of outbound TCP connections, as shown in Table 9.2 in the text. There is an entry for each currently established connection. The packet filter will now allow incoming traffic to high-numbered ports only for those packets that fit the profile of one of the entries in this directory. A stateful packet inspection firewall reviews the same packet information as a packet filtering firewall, but also records information about TCP connections. Some stateful firewalls also keep track of TCP sequence numbers to prevent attacks that depend in some fashion on the sequence number, such as session hijacking.</a:t>
            </a:r>
          </a:p>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484291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B13997-BDFC-4994-A737-6528219F9901}" type="slidenum">
              <a:rPr lang="en-AU" altLang="en-US"/>
              <a:pPr>
                <a:spcBef>
                  <a:spcPct val="0"/>
                </a:spcBef>
              </a:pPr>
              <a:t>21</a:t>
            </a:fld>
            <a:endParaRPr lang="en-AU"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An application-level gateway, also called an </a:t>
            </a:r>
            <a:r>
              <a:rPr lang="en-US" altLang="en-US" b="1" smtClean="0">
                <a:latin typeface="Times New Roman" panose="02020603050405020304" pitchFamily="18" charset="0"/>
              </a:rPr>
              <a:t>application proxy</a:t>
            </a:r>
            <a:r>
              <a:rPr lang="en-US" altLang="en-US" smtClean="0">
                <a:latin typeface="Times New Roman" panose="02020603050405020304" pitchFamily="18" charset="0"/>
              </a:rPr>
              <a:t>, acts as a relay of application-level traffic. The user contacts the gateway using a TCP/IP application, such as Telnet or FTP, and the gateway asks the user for the name of the remote host to be accessed. When the user responds and provides a valid user ID and authentication information, the gateway contacts the application on the remote host and relays TCP segments containing the application data between the two endpoints. If the gateway does not implement the proxy code for a specific application, the service is not supported and cannot be forwarded across the firewall. Further, the gateway can be configured to support only specific features of an application that the network administrator considers acceptable while denying all other features.</a:t>
            </a:r>
          </a:p>
          <a:p>
            <a:pPr eaLnBrk="1" hangingPunct="1"/>
            <a:r>
              <a:rPr lang="en-US" altLang="en-US" smtClean="0">
                <a:latin typeface="Times New Roman" panose="02020603050405020304" pitchFamily="18" charset="0"/>
              </a:rPr>
              <a:t>Application-level gateways tend to be more secure than packet filters. Rather than trying to deal with the numerous possible combinations that are to be allowed and forbidden at the TCP and IP level, the application-level gateway need only scrutinize a few allowable applications. In addition, it is easy to log and audit all incoming traffic at the application level.</a:t>
            </a:r>
          </a:p>
          <a:p>
            <a:pPr eaLnBrk="1" hangingPunct="1"/>
            <a:r>
              <a:rPr lang="en-US" altLang="en-US" smtClean="0">
                <a:latin typeface="Times New Roman" panose="02020603050405020304" pitchFamily="18" charset="0"/>
              </a:rPr>
              <a:t>A prime disadvantage of this type of gateway is the additional processing overhead on each connection. In effect, there are two spliced connections between the end users, with the gateway at the splice point, and the gateway must examine and forward all traffic in both directions.</a:t>
            </a:r>
          </a:p>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908745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E06D110-30C4-424C-B0D2-03329ECF2169}" type="slidenum">
              <a:rPr lang="en-AU" altLang="en-US"/>
              <a:pPr>
                <a:spcBef>
                  <a:spcPct val="0"/>
                </a:spcBef>
              </a:pPr>
              <a:t>22</a:t>
            </a:fld>
            <a:endParaRPr lang="en-AU"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Times New Roman" panose="02020603050405020304" pitchFamily="18" charset="0"/>
              </a:rPr>
              <a:t>A fourth type of firewall is the circuit-level gateway or </a:t>
            </a:r>
            <a:r>
              <a:rPr lang="en-US" altLang="en-US" b="1" smtClean="0">
                <a:latin typeface="Times New Roman" panose="02020603050405020304" pitchFamily="18" charset="0"/>
              </a:rPr>
              <a:t>circuit-level proxy</a:t>
            </a:r>
            <a:r>
              <a:rPr lang="en-US" altLang="en-US" smtClean="0">
                <a:latin typeface="Times New Roman" panose="02020603050405020304" pitchFamily="18" charset="0"/>
              </a:rPr>
              <a:t> (Figure 9.1e). This can be a stand-alone system or it can be a specialized function performed by an application-level gateway for certain applications. As with an application gateway, a circuit-level gateway does not permit an end-to-end TCP connection; rather, the gateway sets up two TCP connections, one between itself and a TCP user on an inner host and one between itself and a TCP user on an outside host. Once the two connections are established, the gateway typically relays TCP segments from one connection to the other without examining the contents. The security function consists of determining which connections will be allowed.</a:t>
            </a:r>
          </a:p>
          <a:p>
            <a:pPr eaLnBrk="1" hangingPunct="1"/>
            <a:r>
              <a:rPr lang="en-US" altLang="en-US" smtClean="0">
                <a:latin typeface="Times New Roman" panose="02020603050405020304" pitchFamily="18" charset="0"/>
              </a:rPr>
              <a:t>A typical use of circuit-level gateways is a situation in which the system administrator trusts the internal users. The gateway can be configured to support application-level or proxy service on inbound connections and circuit-level functions for outbound connections. In this configuration, the gateway can incur the processing overhead of examining incoming application data for forbidden functions but does not incur that overhead on outgoing data.</a:t>
            </a:r>
          </a:p>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534308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fld id="{5C58E962-7BBE-4DD7-B5D9-3FABF312FCF7}" type="slidenum">
              <a:rPr lang="en-AU" altLang="en-US" sz="1200"/>
              <a:pPr/>
              <a:t>23</a:t>
            </a:fld>
            <a:endParaRPr lang="en-AU" altLang="en-US" sz="1200"/>
          </a:p>
        </p:txBody>
      </p:sp>
    </p:spTree>
    <p:extLst>
      <p:ext uri="{BB962C8B-B14F-4D97-AF65-F5344CB8AC3E}">
        <p14:creationId xmlns:p14="http://schemas.microsoft.com/office/powerpoint/2010/main" val="2674005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47AD5CF-9DC4-46F8-9695-F64C29B223DD}" type="datetimeFigureOut">
              <a:rPr lang="en-SG" smtClean="0"/>
              <a:t>2/4/2018</a:t>
            </a:fld>
            <a:endParaRPr lang="en-SG"/>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SG"/>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82AE0D9-2CDF-412C-A7EA-E1D9816AF907}" type="slidenum">
              <a:rPr lang="en-SG" smtClean="0"/>
              <a:t>‹#›</a:t>
            </a:fld>
            <a:endParaRPr lang="en-SG"/>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5848996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7AD5CF-9DC4-46F8-9695-F64C29B223DD}" type="datetimeFigureOut">
              <a:rPr lang="en-SG" smtClean="0"/>
              <a:t>2/4/2018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3521771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47AD5CF-9DC4-46F8-9695-F64C29B223DD}" type="datetimeFigureOut">
              <a:rPr lang="en-SG" smtClean="0"/>
              <a:t>2/4/2018</a:t>
            </a:fld>
            <a:endParaRPr lang="en-SG"/>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SG"/>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82AE0D9-2CDF-412C-A7EA-E1D9816AF907}" type="slidenum">
              <a:rPr lang="en-SG" smtClean="0"/>
              <a:t>‹#›</a:t>
            </a:fld>
            <a:endParaRPr lang="en-SG"/>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3360285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47AD5CF-9DC4-46F8-9695-F64C29B223DD}" type="datetimeFigureOut">
              <a:rPr lang="en-SG" smtClean="0"/>
              <a:t>2/4/2018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263853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47AD5CF-9DC4-46F8-9695-F64C29B223DD}" type="datetimeFigureOut">
              <a:rPr lang="en-SG" smtClean="0"/>
              <a:t>2/4/2018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330620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47AD5CF-9DC4-46F8-9695-F64C29B223DD}" type="datetimeFigureOut">
              <a:rPr lang="en-SG" smtClean="0"/>
              <a:t>2/4/2018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3321487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7AD5CF-9DC4-46F8-9695-F64C29B223DD}" type="datetimeFigureOut">
              <a:rPr lang="en-SG" smtClean="0"/>
              <a:t>2/4/2018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9656003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47AD5CF-9DC4-46F8-9695-F64C29B223DD}" type="datetimeFigureOut">
              <a:rPr lang="en-SG" smtClean="0"/>
              <a:t>2/4/2018</a:t>
            </a:fld>
            <a:endParaRPr lang="en-SG"/>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SG"/>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82AE0D9-2CDF-412C-A7EA-E1D9816AF907}" type="slidenum">
              <a:rPr lang="en-SG" smtClean="0"/>
              <a:t>‹#›</a:t>
            </a:fld>
            <a:endParaRPr lang="en-SG"/>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7619402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47AD5CF-9DC4-46F8-9695-F64C29B223DD}" type="datetimeFigureOut">
              <a:rPr lang="en-SG" smtClean="0"/>
              <a:t>2/4/2018</a:t>
            </a:fld>
            <a:endParaRPr lang="en-SG"/>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82AE0D9-2CDF-412C-A7EA-E1D9816AF907}" type="slidenum">
              <a:rPr lang="en-SG" smtClean="0"/>
              <a:t>‹#›</a:t>
            </a:fld>
            <a:endParaRPr lang="en-SG"/>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2104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7AD5CF-9DC4-46F8-9695-F64C29B223DD}" type="datetimeFigureOut">
              <a:rPr lang="en-SG" smtClean="0"/>
              <a:t>2/4/2018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4072702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7AD5CF-9DC4-46F8-9695-F64C29B223DD}" type="datetimeFigureOut">
              <a:rPr lang="en-SG" smtClean="0"/>
              <a:t>2/4/2018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182AE0D9-2CDF-412C-A7EA-E1D9816AF907}" type="slidenum">
              <a:rPr lang="en-SG" smtClean="0"/>
              <a:t>‹#›</a:t>
            </a:fld>
            <a:endParaRPr lang="en-SG"/>
          </a:p>
        </p:txBody>
      </p:sp>
    </p:spTree>
    <p:extLst>
      <p:ext uri="{BB962C8B-B14F-4D97-AF65-F5344CB8AC3E}">
        <p14:creationId xmlns:p14="http://schemas.microsoft.com/office/powerpoint/2010/main" val="3483287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SG"/>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Slide Number Placeholder 4"/>
          <p:cNvSpPr>
            <a:spLocks noGrp="1"/>
          </p:cNvSpPr>
          <p:nvPr>
            <p:ph type="sldNum" sz="quarter" idx="10"/>
          </p:nvPr>
        </p:nvSpPr>
        <p:spPr>
          <a:xfrm>
            <a:off x="112184" y="6242050"/>
            <a:ext cx="783167" cy="488950"/>
          </a:xfrm>
        </p:spPr>
        <p:txBody>
          <a:bodyPr/>
          <a:lstStyle>
            <a:lvl1pPr>
              <a:defRPr/>
            </a:lvl1pPr>
          </a:lstStyle>
          <a:p>
            <a:fld id="{A052B2E8-279F-4CE9-9D0A-184EEBDDFF0B}" type="slidenum">
              <a:rPr lang="en-US" altLang="en-US"/>
              <a:pPr/>
              <a:t>‹#›</a:t>
            </a:fld>
            <a:endParaRPr lang="en-US" altLang="en-US"/>
          </a:p>
        </p:txBody>
      </p:sp>
    </p:spTree>
    <p:extLst>
      <p:ext uri="{BB962C8B-B14F-4D97-AF65-F5344CB8AC3E}">
        <p14:creationId xmlns:p14="http://schemas.microsoft.com/office/powerpoint/2010/main" val="347313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47AD5CF-9DC4-46F8-9695-F64C29B223DD}" type="datetimeFigureOut">
              <a:rPr lang="en-SG" smtClean="0"/>
              <a:t>2/4/2018</a:t>
            </a:fld>
            <a:endParaRPr lang="en-SG"/>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SG"/>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82AE0D9-2CDF-412C-A7EA-E1D9816AF907}" type="slidenum">
              <a:rPr lang="en-SG" smtClean="0"/>
              <a:t>‹#›</a:t>
            </a:fld>
            <a:endParaRPr lang="en-SG"/>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28543554"/>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8.wmf"/><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5127" y="2401171"/>
            <a:ext cx="8361229" cy="2098226"/>
          </a:xfrm>
        </p:spPr>
        <p:txBody>
          <a:bodyPr>
            <a:noAutofit/>
          </a:bodyPr>
          <a:lstStyle/>
          <a:p>
            <a:r>
              <a:rPr lang="en-SG" sz="4800" dirty="0" smtClean="0"/>
              <a:t/>
            </a:r>
            <a:br>
              <a:rPr lang="en-SG" sz="4800" dirty="0" smtClean="0"/>
            </a:br>
            <a:r>
              <a:rPr lang="en-SG" sz="4800" dirty="0"/>
              <a:t/>
            </a:r>
            <a:br>
              <a:rPr lang="en-SG" sz="4800" dirty="0"/>
            </a:br>
            <a:r>
              <a:rPr lang="en-SG" sz="4800" dirty="0" smtClean="0"/>
              <a:t/>
            </a:r>
            <a:br>
              <a:rPr lang="en-SG" sz="4800" dirty="0" smtClean="0"/>
            </a:br>
            <a:r>
              <a:rPr lang="en-SG" sz="4800" dirty="0"/>
              <a:t/>
            </a:r>
            <a:br>
              <a:rPr lang="en-SG" sz="4800" dirty="0"/>
            </a:br>
            <a:r>
              <a:rPr lang="en-SG" sz="4800" dirty="0" smtClean="0"/>
              <a:t>Chapter 4 - Basic </a:t>
            </a:r>
            <a:r>
              <a:rPr lang="en-SG" sz="4800" dirty="0"/>
              <a:t>network firewall topologies and setup</a:t>
            </a:r>
          </a:p>
        </p:txBody>
      </p:sp>
    </p:spTree>
    <p:extLst>
      <p:ext uri="{BB962C8B-B14F-4D97-AF65-F5344CB8AC3E}">
        <p14:creationId xmlns:p14="http://schemas.microsoft.com/office/powerpoint/2010/main" val="2873203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AutoShape 2"/>
          <p:cNvSpPr>
            <a:spLocks noGrp="1" noChangeArrowheads="1"/>
          </p:cNvSpPr>
          <p:nvPr>
            <p:ph type="title"/>
          </p:nvPr>
        </p:nvSpPr>
        <p:spPr/>
        <p:txBody>
          <a:bodyPr/>
          <a:lstStyle/>
          <a:p>
            <a:r>
              <a:rPr lang="en-US" altLang="en-US">
                <a:latin typeface="Times New Roman" panose="02020603050405020304" pitchFamily="18" charset="0"/>
              </a:rPr>
              <a:t>What is a firewall?</a:t>
            </a:r>
          </a:p>
        </p:txBody>
      </p:sp>
      <p:sp>
        <p:nvSpPr>
          <p:cNvPr id="300035" name="Rectangle 3"/>
          <p:cNvSpPr>
            <a:spLocks noGrp="1" noChangeArrowheads="1"/>
          </p:cNvSpPr>
          <p:nvPr>
            <p:ph type="body" sz="half" idx="1"/>
          </p:nvPr>
        </p:nvSpPr>
        <p:spPr>
          <a:xfrm>
            <a:off x="2362201" y="2362200"/>
            <a:ext cx="7548563" cy="1881188"/>
          </a:xfrm>
        </p:spPr>
        <p:txBody>
          <a:bodyPr>
            <a:normAutofit/>
          </a:bodyPr>
          <a:lstStyle/>
          <a:p>
            <a:pPr marL="0" indent="0" algn="ctr">
              <a:buNone/>
            </a:pPr>
            <a:r>
              <a:rPr lang="en-US" altLang="en-US" sz="2400">
                <a:latin typeface="Times New Roman" panose="02020603050405020304" pitchFamily="18" charset="0"/>
              </a:rPr>
              <a:t>A firewall is a device (or software feature) designed to control the flow of traffic into and out-of a network.</a:t>
            </a:r>
          </a:p>
          <a:p>
            <a:pPr marL="0" indent="0" algn="ctr">
              <a:buNone/>
            </a:pPr>
            <a:r>
              <a:rPr lang="en-US" altLang="en-US" sz="2400">
                <a:latin typeface="Times New Roman" panose="02020603050405020304" pitchFamily="18" charset="0"/>
              </a:rPr>
              <a:t>In general, firewalls are installed to prevent attacks.</a:t>
            </a:r>
          </a:p>
        </p:txBody>
      </p:sp>
      <p:graphicFrame>
        <p:nvGraphicFramePr>
          <p:cNvPr id="300036" name="Object 4"/>
          <p:cNvGraphicFramePr>
            <a:graphicFrameLocks noGrp="1" noChangeAspect="1"/>
          </p:cNvGraphicFramePr>
          <p:nvPr>
            <p:ph sz="half" idx="2"/>
          </p:nvPr>
        </p:nvGraphicFramePr>
        <p:xfrm>
          <a:off x="5662613" y="4371975"/>
          <a:ext cx="1336675" cy="915988"/>
        </p:xfrm>
        <a:graphic>
          <a:graphicData uri="http://schemas.openxmlformats.org/presentationml/2006/ole">
            <mc:AlternateContent xmlns:mc="http://schemas.openxmlformats.org/markup-compatibility/2006">
              <mc:Choice xmlns:v="urn:schemas-microsoft-com:vml" Requires="v">
                <p:oleObj spid="_x0000_s1032" name="VISIO" r:id="rId3" imgW="1633680" imgH="1118880" progId="Visio.Drawing.6">
                  <p:embed/>
                </p:oleObj>
              </mc:Choice>
              <mc:Fallback>
                <p:oleObj name="VISIO" r:id="rId3" imgW="1633680" imgH="111888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2613" y="4371975"/>
                        <a:ext cx="13366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4"/>
          <p:cNvSpPr>
            <a:spLocks noGrp="1"/>
          </p:cNvSpPr>
          <p:nvPr>
            <p:ph type="sldNum" sz="quarter" idx="10"/>
          </p:nvPr>
        </p:nvSpPr>
        <p:spPr/>
        <p:txBody>
          <a:bodyPr/>
          <a:lstStyle/>
          <a:p>
            <a:fld id="{A4563A5B-1139-44CF-B401-CF1A33D4684A}" type="slidenum">
              <a:rPr lang="en-US" altLang="en-US"/>
              <a:pPr/>
              <a:t>2</a:t>
            </a:fld>
            <a:endParaRPr lang="en-US" altLang="en-US"/>
          </a:p>
        </p:txBody>
      </p:sp>
    </p:spTree>
    <p:extLst>
      <p:ext uri="{BB962C8B-B14F-4D97-AF65-F5344CB8AC3E}">
        <p14:creationId xmlns:p14="http://schemas.microsoft.com/office/powerpoint/2010/main" val="3378805038"/>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AutoShape 2"/>
          <p:cNvSpPr>
            <a:spLocks noGrp="1" noChangeArrowheads="1"/>
          </p:cNvSpPr>
          <p:nvPr>
            <p:ph type="title"/>
          </p:nvPr>
        </p:nvSpPr>
        <p:spPr/>
        <p:txBody>
          <a:bodyPr/>
          <a:lstStyle/>
          <a:p>
            <a:r>
              <a:rPr lang="en-US" altLang="en-US">
                <a:latin typeface="Times New Roman" panose="02020603050405020304" pitchFamily="18" charset="0"/>
              </a:rPr>
              <a:t>What is an attack?</a:t>
            </a:r>
          </a:p>
        </p:txBody>
      </p:sp>
      <p:sp>
        <p:nvSpPr>
          <p:cNvPr id="301059" name="Rectangle 3"/>
          <p:cNvSpPr>
            <a:spLocks noGrp="1" noChangeArrowheads="1"/>
          </p:cNvSpPr>
          <p:nvPr>
            <p:ph type="body" sz="half" idx="1"/>
          </p:nvPr>
        </p:nvSpPr>
        <p:spPr>
          <a:xfrm>
            <a:off x="2362201" y="2362201"/>
            <a:ext cx="7548563" cy="3573463"/>
          </a:xfrm>
        </p:spPr>
        <p:txBody>
          <a:bodyPr>
            <a:normAutofit/>
          </a:bodyPr>
          <a:lstStyle/>
          <a:p>
            <a:pPr marL="533400" indent="-533400">
              <a:buFontTx/>
              <a:buAutoNum type="arabicPeriod"/>
            </a:pPr>
            <a:r>
              <a:rPr lang="en-US" altLang="en-US" sz="2400" dirty="0" smtClean="0">
                <a:latin typeface="Times New Roman" panose="02020603050405020304" pitchFamily="18" charset="0"/>
              </a:rPr>
              <a:t>Someone </a:t>
            </a:r>
            <a:r>
              <a:rPr lang="en-US" altLang="en-US" sz="2400" dirty="0">
                <a:latin typeface="Times New Roman" panose="02020603050405020304" pitchFamily="18" charset="0"/>
              </a:rPr>
              <a:t>probing a network for computers.</a:t>
            </a:r>
          </a:p>
          <a:p>
            <a:pPr marL="533400" indent="-533400">
              <a:buFontTx/>
              <a:buAutoNum type="arabicPeriod"/>
            </a:pPr>
            <a:r>
              <a:rPr lang="en-US" altLang="en-US" sz="2400" dirty="0">
                <a:latin typeface="Times New Roman" panose="02020603050405020304" pitchFamily="18" charset="0"/>
              </a:rPr>
              <a:t>Someone attempting to crash services on a computer.</a:t>
            </a:r>
          </a:p>
          <a:p>
            <a:pPr marL="533400" indent="-533400">
              <a:buFontTx/>
              <a:buAutoNum type="arabicPeriod"/>
            </a:pPr>
            <a:r>
              <a:rPr lang="en-US" altLang="en-US" sz="2400" dirty="0">
                <a:latin typeface="Times New Roman" panose="02020603050405020304" pitchFamily="18" charset="0"/>
              </a:rPr>
              <a:t>Someone attempting to crash a </a:t>
            </a:r>
            <a:r>
              <a:rPr lang="en-US" altLang="en-US" sz="2400" dirty="0" smtClean="0">
                <a:latin typeface="Times New Roman" panose="02020603050405020304" pitchFamily="18" charset="0"/>
              </a:rPr>
              <a:t>computer</a:t>
            </a:r>
            <a:endParaRPr lang="en-US" altLang="en-US" sz="2400" dirty="0">
              <a:latin typeface="Times New Roman" panose="02020603050405020304" pitchFamily="18" charset="0"/>
            </a:endParaRPr>
          </a:p>
          <a:p>
            <a:pPr marL="533400" indent="-533400">
              <a:buFontTx/>
              <a:buAutoNum type="arabicPeriod"/>
            </a:pPr>
            <a:r>
              <a:rPr lang="en-US" altLang="en-US" sz="2400" dirty="0" smtClean="0">
                <a:latin typeface="Times New Roman" panose="02020603050405020304" pitchFamily="18" charset="0"/>
              </a:rPr>
              <a:t>Someone </a:t>
            </a:r>
            <a:r>
              <a:rPr lang="en-US" altLang="en-US" sz="2400" dirty="0">
                <a:latin typeface="Times New Roman" panose="02020603050405020304" pitchFamily="18" charset="0"/>
              </a:rPr>
              <a:t>attempting to gain access to a computer to use resources or information.</a:t>
            </a:r>
          </a:p>
          <a:p>
            <a:pPr marL="914400" lvl="1" indent="-457200"/>
            <a:endParaRPr lang="en-US" altLang="en-US" sz="2000"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EFFA1D0-1851-4A04-9BFD-8E8DE5D413AE}" type="slidenum">
              <a:rPr lang="en-US" altLang="en-US"/>
              <a:pPr/>
              <a:t>3</a:t>
            </a:fld>
            <a:endParaRPr lang="en-US" altLang="en-US"/>
          </a:p>
        </p:txBody>
      </p:sp>
    </p:spTree>
    <p:extLst>
      <p:ext uri="{BB962C8B-B14F-4D97-AF65-F5344CB8AC3E}">
        <p14:creationId xmlns:p14="http://schemas.microsoft.com/office/powerpoint/2010/main" val="83237524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AutoShape 2"/>
          <p:cNvSpPr>
            <a:spLocks noGrp="1" noChangeArrowheads="1"/>
          </p:cNvSpPr>
          <p:nvPr>
            <p:ph type="title"/>
          </p:nvPr>
        </p:nvSpPr>
        <p:spPr/>
        <p:txBody>
          <a:bodyPr/>
          <a:lstStyle/>
          <a:p>
            <a:r>
              <a:rPr lang="en-US" altLang="en-US">
                <a:latin typeface="Times New Roman" panose="02020603050405020304" pitchFamily="18" charset="0"/>
              </a:rPr>
              <a:t>Edge Firewall</a:t>
            </a:r>
          </a:p>
        </p:txBody>
      </p:sp>
      <p:sp>
        <p:nvSpPr>
          <p:cNvPr id="177155" name="Rectangle 3"/>
          <p:cNvSpPr>
            <a:spLocks noGrp="1" noChangeArrowheads="1"/>
          </p:cNvSpPr>
          <p:nvPr>
            <p:ph idx="1"/>
          </p:nvPr>
        </p:nvSpPr>
        <p:spPr/>
        <p:txBody>
          <a:bodyPr>
            <a:normAutofit/>
          </a:bodyPr>
          <a:lstStyle/>
          <a:p>
            <a:pPr marL="0" indent="0">
              <a:buNone/>
            </a:pPr>
            <a:r>
              <a:rPr lang="en-US" altLang="en-US" sz="2400" dirty="0">
                <a:latin typeface="Times New Roman" panose="02020603050405020304" pitchFamily="18" charset="0"/>
              </a:rPr>
              <a:t>An edge firewall is usually software running on a server or workstation.  An edge firewall protects a single computer from attacks directed against it.</a:t>
            </a:r>
          </a:p>
          <a:p>
            <a:pPr marL="0" indent="0">
              <a:buNone/>
            </a:pPr>
            <a:endParaRPr lang="en-US" altLang="en-US" sz="2400" dirty="0">
              <a:latin typeface="Times New Roman" panose="02020603050405020304" pitchFamily="18" charset="0"/>
            </a:endParaRPr>
          </a:p>
          <a:p>
            <a:pPr marL="0" indent="0">
              <a:buNone/>
            </a:pPr>
            <a:r>
              <a:rPr lang="en-US" altLang="en-US" sz="2400" dirty="0">
                <a:latin typeface="Times New Roman" panose="02020603050405020304" pitchFamily="18" charset="0"/>
              </a:rPr>
              <a:t>Examples of these firewalls are:</a:t>
            </a: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Windows Firewall</a:t>
            </a: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	Symantec End Point Protection</a:t>
            </a: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	Zone Alarm</a:t>
            </a:r>
            <a:endParaRPr lang="en-US" altLang="en-US" sz="2400" dirty="0">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2ABD9A0-F5AB-47AA-B68B-6088B49ECF8D}" type="slidenum">
              <a:rPr lang="en-US" altLang="en-US"/>
              <a:pPr/>
              <a:t>4</a:t>
            </a:fld>
            <a:endParaRPr lang="en-US" altLang="en-US"/>
          </a:p>
        </p:txBody>
      </p:sp>
    </p:spTree>
    <p:extLst>
      <p:ext uri="{BB962C8B-B14F-4D97-AF65-F5344CB8AC3E}">
        <p14:creationId xmlns:p14="http://schemas.microsoft.com/office/powerpoint/2010/main" val="65747327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AutoShape 2"/>
          <p:cNvSpPr>
            <a:spLocks noGrp="1" noChangeArrowheads="1"/>
          </p:cNvSpPr>
          <p:nvPr>
            <p:ph type="title"/>
          </p:nvPr>
        </p:nvSpPr>
        <p:spPr/>
        <p:txBody>
          <a:bodyPr/>
          <a:lstStyle/>
          <a:p>
            <a:r>
              <a:rPr lang="en-US" altLang="en-US" dirty="0">
                <a:latin typeface="Times New Roman" panose="02020603050405020304" pitchFamily="18" charset="0"/>
              </a:rPr>
              <a:t>Appliance Firewall</a:t>
            </a:r>
          </a:p>
        </p:txBody>
      </p:sp>
      <p:sp>
        <p:nvSpPr>
          <p:cNvPr id="179203" name="Rectangle 3"/>
          <p:cNvSpPr>
            <a:spLocks noGrp="1" noChangeArrowheads="1"/>
          </p:cNvSpPr>
          <p:nvPr>
            <p:ph idx="1"/>
          </p:nvPr>
        </p:nvSpPr>
        <p:spPr/>
        <p:txBody>
          <a:bodyPr>
            <a:normAutofit/>
          </a:bodyPr>
          <a:lstStyle/>
          <a:p>
            <a:pPr marL="0" indent="0">
              <a:buNone/>
            </a:pPr>
            <a:r>
              <a:rPr lang="en-US" altLang="en-US" sz="2400" dirty="0">
                <a:latin typeface="Times New Roman" panose="02020603050405020304" pitchFamily="18" charset="0"/>
              </a:rPr>
              <a:t>An appliance firewall is a device whose sole function is to act as a firewall.  </a:t>
            </a:r>
            <a:endParaRPr lang="en-US" altLang="en-US" sz="2400" dirty="0" smtClean="0">
              <a:latin typeface="Times New Roman" panose="02020603050405020304" pitchFamily="18" charset="0"/>
            </a:endParaRPr>
          </a:p>
          <a:p>
            <a:pPr marL="0" indent="0">
              <a:buNone/>
            </a:pPr>
            <a:endParaRPr lang="en-US" altLang="en-US" sz="2400" dirty="0">
              <a:latin typeface="Times New Roman" panose="02020603050405020304" pitchFamily="18" charset="0"/>
            </a:endParaRPr>
          </a:p>
          <a:p>
            <a:pPr marL="0" indent="0">
              <a:buNone/>
            </a:pPr>
            <a:r>
              <a:rPr lang="en-US" altLang="en-US" sz="2400" dirty="0" smtClean="0">
                <a:latin typeface="Times New Roman" panose="02020603050405020304" pitchFamily="18" charset="0"/>
              </a:rPr>
              <a:t>Examples </a:t>
            </a:r>
            <a:r>
              <a:rPr lang="en-US" altLang="en-US" sz="2400" dirty="0">
                <a:latin typeface="Times New Roman" panose="02020603050405020304" pitchFamily="18" charset="0"/>
              </a:rPr>
              <a:t>of these firewalls are:</a:t>
            </a:r>
          </a:p>
          <a:p>
            <a:pPr marL="0" indent="0">
              <a:buNone/>
            </a:pPr>
            <a:r>
              <a:rPr lang="en-US" altLang="en-US" sz="2400" dirty="0">
                <a:latin typeface="Times New Roman" panose="02020603050405020304" pitchFamily="18" charset="0"/>
              </a:rPr>
              <a:t>		Cisco </a:t>
            </a:r>
            <a:r>
              <a:rPr lang="en-US" altLang="en-US" sz="2400" dirty="0" smtClean="0">
                <a:latin typeface="Times New Roman" panose="02020603050405020304" pitchFamily="18" charset="0"/>
              </a:rPr>
              <a:t>ASA</a:t>
            </a: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	Check Point NGFW</a:t>
            </a:r>
            <a:endParaRPr lang="en-US" altLang="en-US" sz="2400" dirty="0">
              <a:latin typeface="Times New Roman" panose="02020603050405020304" pitchFamily="18" charset="0"/>
            </a:endParaRP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Fortinet </a:t>
            </a:r>
            <a:r>
              <a:rPr lang="en-US" altLang="en-US" sz="2400" dirty="0" err="1" smtClean="0">
                <a:latin typeface="Times New Roman" panose="02020603050405020304" pitchFamily="18" charset="0"/>
              </a:rPr>
              <a:t>Fortigate</a:t>
            </a:r>
            <a:endParaRPr lang="en-US" altLang="en-US" sz="2400" dirty="0" smtClean="0">
              <a:latin typeface="Times New Roman" panose="02020603050405020304" pitchFamily="18" charset="0"/>
            </a:endParaRPr>
          </a:p>
          <a:p>
            <a:pPr marL="0" indent="0">
              <a:buNone/>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	</a:t>
            </a:r>
            <a:endParaRPr lang="en-US" altLang="en-US" sz="2400" dirty="0">
              <a:latin typeface="Times New Roman" panose="02020603050405020304" pitchFamily="18" charset="0"/>
            </a:endParaRPr>
          </a:p>
          <a:p>
            <a:pPr marL="0" indent="0"/>
            <a:endParaRPr lang="en-US" altLang="en-US" sz="2400" dirty="0"/>
          </a:p>
        </p:txBody>
      </p:sp>
      <p:sp>
        <p:nvSpPr>
          <p:cNvPr id="4" name="Slide Number Placeholder 3"/>
          <p:cNvSpPr>
            <a:spLocks noGrp="1"/>
          </p:cNvSpPr>
          <p:nvPr>
            <p:ph type="sldNum" sz="quarter" idx="12"/>
          </p:nvPr>
        </p:nvSpPr>
        <p:spPr/>
        <p:txBody>
          <a:bodyPr/>
          <a:lstStyle/>
          <a:p>
            <a:fld id="{E776BD7C-F00A-4CCE-89CC-C195D5A77C76}" type="slidenum">
              <a:rPr lang="en-US" altLang="en-US"/>
              <a:pPr/>
              <a:t>5</a:t>
            </a:fld>
            <a:endParaRPr lang="en-US" altLang="en-US"/>
          </a:p>
        </p:txBody>
      </p:sp>
    </p:spTree>
    <p:extLst>
      <p:ext uri="{BB962C8B-B14F-4D97-AF65-F5344CB8AC3E}">
        <p14:creationId xmlns:p14="http://schemas.microsoft.com/office/powerpoint/2010/main" val="339942321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AutoShape 2"/>
          <p:cNvSpPr>
            <a:spLocks noGrp="1" noChangeArrowheads="1"/>
          </p:cNvSpPr>
          <p:nvPr>
            <p:ph type="title"/>
          </p:nvPr>
        </p:nvSpPr>
        <p:spPr/>
        <p:txBody>
          <a:bodyPr/>
          <a:lstStyle/>
          <a:p>
            <a:r>
              <a:rPr lang="en-US" altLang="en-US"/>
              <a:t>Network Firewall</a:t>
            </a:r>
          </a:p>
        </p:txBody>
      </p:sp>
      <p:sp>
        <p:nvSpPr>
          <p:cNvPr id="180227" name="Rectangle 3"/>
          <p:cNvSpPr>
            <a:spLocks noGrp="1" noChangeArrowheads="1"/>
          </p:cNvSpPr>
          <p:nvPr>
            <p:ph idx="1"/>
          </p:nvPr>
        </p:nvSpPr>
        <p:spPr/>
        <p:txBody>
          <a:bodyPr>
            <a:noAutofit/>
          </a:bodyPr>
          <a:lstStyle/>
          <a:p>
            <a:pPr>
              <a:lnSpc>
                <a:spcPct val="80000"/>
              </a:lnSpc>
            </a:pPr>
            <a:r>
              <a:rPr lang="en-US" altLang="en-US" sz="2400" dirty="0">
                <a:latin typeface="Times New Roman" panose="02020603050405020304" pitchFamily="18" charset="0"/>
              </a:rPr>
              <a:t>Router/Bridge based Firewall</a:t>
            </a:r>
          </a:p>
          <a:p>
            <a:pPr lvl="1">
              <a:lnSpc>
                <a:spcPct val="80000"/>
              </a:lnSpc>
            </a:pPr>
            <a:r>
              <a:rPr lang="en-US" altLang="en-US" sz="2400" i="0" dirty="0">
                <a:latin typeface="Times New Roman" panose="02020603050405020304" pitchFamily="18" charset="0"/>
              </a:rPr>
              <a:t>A firewall running on a bridge or a router protects from a group of devices to an entire network.  Cisco has firewall feature sets in their IOS operating system.</a:t>
            </a:r>
          </a:p>
          <a:p>
            <a:pPr>
              <a:lnSpc>
                <a:spcPct val="80000"/>
              </a:lnSpc>
            </a:pPr>
            <a:r>
              <a:rPr lang="en-US" altLang="en-US" sz="2400" dirty="0">
                <a:latin typeface="Times New Roman" panose="02020603050405020304" pitchFamily="18" charset="0"/>
              </a:rPr>
              <a:t>Computer-based Network Firewall</a:t>
            </a:r>
          </a:p>
          <a:p>
            <a:pPr lvl="1">
              <a:lnSpc>
                <a:spcPct val="80000"/>
              </a:lnSpc>
            </a:pPr>
            <a:r>
              <a:rPr lang="en-US" altLang="en-US" sz="2400" i="0" dirty="0">
                <a:latin typeface="Times New Roman" panose="02020603050405020304" pitchFamily="18" charset="0"/>
              </a:rPr>
              <a:t>A network firewall runs on a computer (such as a PC or Unix computer).  These firewalls are some of the most flexible.  Many free products are available including </a:t>
            </a:r>
            <a:r>
              <a:rPr lang="en-US" altLang="en-US" sz="2400" i="0" dirty="0" err="1">
                <a:latin typeface="Times New Roman" panose="02020603050405020304" pitchFamily="18" charset="0"/>
              </a:rPr>
              <a:t>IPFilter</a:t>
            </a:r>
            <a:r>
              <a:rPr lang="en-US" altLang="en-US" sz="2400" i="0" dirty="0">
                <a:latin typeface="Times New Roman" panose="02020603050405020304" pitchFamily="18" charset="0"/>
              </a:rPr>
              <a:t> (the first package we tried), PF (the current package we are using found on </a:t>
            </a:r>
            <a:r>
              <a:rPr lang="en-US" altLang="en-US" sz="2400" i="0" dirty="0" err="1">
                <a:latin typeface="Times New Roman" panose="02020603050405020304" pitchFamily="18" charset="0"/>
              </a:rPr>
              <a:t>OpenBSD</a:t>
            </a:r>
            <a:r>
              <a:rPr lang="en-US" altLang="en-US" sz="2400" i="0" dirty="0">
                <a:latin typeface="Times New Roman" panose="02020603050405020304" pitchFamily="18" charset="0"/>
              </a:rPr>
              <a:t> 3.0 and later) and </a:t>
            </a:r>
            <a:r>
              <a:rPr lang="en-US" altLang="en-US" sz="2400" i="0" dirty="0" err="1">
                <a:latin typeface="Times New Roman" panose="02020603050405020304" pitchFamily="18" charset="0"/>
              </a:rPr>
              <a:t>IPTables</a:t>
            </a:r>
            <a:r>
              <a:rPr lang="en-US" altLang="en-US" sz="2400" i="0" dirty="0">
                <a:latin typeface="Times New Roman" panose="02020603050405020304" pitchFamily="18" charset="0"/>
              </a:rPr>
              <a:t> (found on Linux).  Commercial products include: Checkpoint Firewall-1. Apple OSX includes IPFW (included in an operating system you </a:t>
            </a:r>
            <a:r>
              <a:rPr lang="en-US" altLang="en-US" sz="2400" i="0" dirty="0" err="1">
                <a:latin typeface="Times New Roman" panose="02020603050405020304" pitchFamily="18" charset="0"/>
              </a:rPr>
              <a:t>gotta</a:t>
            </a:r>
            <a:r>
              <a:rPr lang="en-US" altLang="en-US" sz="2400" i="0" dirty="0">
                <a:latin typeface="Times New Roman" panose="02020603050405020304" pitchFamily="18" charset="0"/>
              </a:rPr>
              <a:t> purchase).</a:t>
            </a:r>
          </a:p>
          <a:p>
            <a:pPr>
              <a:lnSpc>
                <a:spcPct val="80000"/>
              </a:lnSpc>
              <a:buFont typeface="Wingdings" panose="05000000000000000000" pitchFamily="2" charset="2"/>
              <a:buNone/>
            </a:pPr>
            <a:endParaRPr lang="en-US" altLang="en-US" sz="2400" dirty="0"/>
          </a:p>
        </p:txBody>
      </p:sp>
      <p:sp>
        <p:nvSpPr>
          <p:cNvPr id="4" name="Slide Number Placeholder 3"/>
          <p:cNvSpPr>
            <a:spLocks noGrp="1"/>
          </p:cNvSpPr>
          <p:nvPr>
            <p:ph type="sldNum" sz="quarter" idx="12"/>
          </p:nvPr>
        </p:nvSpPr>
        <p:spPr/>
        <p:txBody>
          <a:bodyPr/>
          <a:lstStyle/>
          <a:p>
            <a:fld id="{8C3F0702-9929-44D6-B947-B2E012D7BF70}" type="slidenum">
              <a:rPr lang="en-US" altLang="en-US"/>
              <a:pPr/>
              <a:t>6</a:t>
            </a:fld>
            <a:endParaRPr lang="en-US" altLang="en-US"/>
          </a:p>
        </p:txBody>
      </p:sp>
    </p:spTree>
    <p:extLst>
      <p:ext uri="{BB962C8B-B14F-4D97-AF65-F5344CB8AC3E}">
        <p14:creationId xmlns:p14="http://schemas.microsoft.com/office/powerpoint/2010/main" val="247944896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p:txBody>
          <a:bodyPr/>
          <a:lstStyle/>
          <a:p>
            <a:r>
              <a:rPr lang="en-US" altLang="en-US">
                <a:latin typeface="Times New Roman" panose="02020603050405020304" pitchFamily="18" charset="0"/>
              </a:rPr>
              <a:t>Why use a firewall?</a:t>
            </a:r>
          </a:p>
        </p:txBody>
      </p:sp>
      <p:sp>
        <p:nvSpPr>
          <p:cNvPr id="17411" name="Rectangle 3"/>
          <p:cNvSpPr>
            <a:spLocks noGrp="1" noChangeArrowheads="1"/>
          </p:cNvSpPr>
          <p:nvPr>
            <p:ph idx="1"/>
          </p:nvPr>
        </p:nvSpPr>
        <p:spPr/>
        <p:txBody>
          <a:bodyPr>
            <a:normAutofit/>
          </a:bodyPr>
          <a:lstStyle/>
          <a:p>
            <a:r>
              <a:rPr lang="en-US" altLang="en-US" sz="2400" dirty="0">
                <a:latin typeface="Times New Roman" panose="02020603050405020304" pitchFamily="18" charset="0"/>
              </a:rPr>
              <a:t>Protect a wide range of machines from general probes and many attacks.</a:t>
            </a:r>
          </a:p>
          <a:p>
            <a:r>
              <a:rPr lang="en-US" altLang="en-US" sz="2400" dirty="0">
                <a:latin typeface="Times New Roman" panose="02020603050405020304" pitchFamily="18" charset="0"/>
              </a:rPr>
              <a:t>Provides some protection for machines lacking in security.</a:t>
            </a:r>
          </a:p>
        </p:txBody>
      </p:sp>
      <p:sp>
        <p:nvSpPr>
          <p:cNvPr id="4" name="Slide Number Placeholder 3"/>
          <p:cNvSpPr>
            <a:spLocks noGrp="1"/>
          </p:cNvSpPr>
          <p:nvPr>
            <p:ph type="sldNum" sz="quarter" idx="12"/>
          </p:nvPr>
        </p:nvSpPr>
        <p:spPr/>
        <p:txBody>
          <a:bodyPr/>
          <a:lstStyle/>
          <a:p>
            <a:fld id="{C7A11E65-6897-4835-BC1B-6916674B9DD0}" type="slidenum">
              <a:rPr lang="en-US" altLang="en-US"/>
              <a:pPr/>
              <a:t>7</a:t>
            </a:fld>
            <a:endParaRPr lang="en-US" altLang="en-US"/>
          </a:p>
        </p:txBody>
      </p:sp>
    </p:spTree>
    <p:extLst>
      <p:ext uri="{BB962C8B-B14F-4D97-AF65-F5344CB8AC3E}">
        <p14:creationId xmlns:p14="http://schemas.microsoft.com/office/powerpoint/2010/main" val="82774537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p:txBody>
          <a:bodyPr/>
          <a:lstStyle/>
          <a:p>
            <a:r>
              <a:rPr lang="en-US" altLang="en-US">
                <a:latin typeface="Times New Roman" panose="02020603050405020304" pitchFamily="18" charset="0"/>
              </a:rPr>
              <a:t>Great first line of defense.</a:t>
            </a:r>
          </a:p>
        </p:txBody>
      </p:sp>
      <p:sp>
        <p:nvSpPr>
          <p:cNvPr id="18435" name="Rectangle 3"/>
          <p:cNvSpPr>
            <a:spLocks noGrp="1" noChangeArrowheads="1"/>
          </p:cNvSpPr>
          <p:nvPr>
            <p:ph idx="1"/>
          </p:nvPr>
        </p:nvSpPr>
        <p:spPr/>
        <p:txBody>
          <a:bodyPr>
            <a:normAutofit/>
          </a:bodyPr>
          <a:lstStyle/>
          <a:p>
            <a:r>
              <a:rPr lang="en-US" altLang="en-US" sz="2400" dirty="0">
                <a:latin typeface="Times New Roman" panose="02020603050405020304" pitchFamily="18" charset="0"/>
              </a:rPr>
              <a:t>Having a firewall is a necessary evil.  It’s like living in a gated community.  The gate may stop 99% of unwanted visitors.  The locks on your doors stop the remaining 1% </a:t>
            </a:r>
            <a:r>
              <a:rPr lang="en-US" altLang="en-US" sz="2400" dirty="0" smtClean="0">
                <a:latin typeface="Times New Roman" panose="02020603050405020304" pitchFamily="18" charset="0"/>
              </a:rPr>
              <a:t>.</a:t>
            </a:r>
          </a:p>
          <a:p>
            <a:r>
              <a:rPr lang="en-US" altLang="en-US" sz="2400" dirty="0" smtClean="0">
                <a:latin typeface="Times New Roman" panose="02020603050405020304" pitchFamily="18" charset="0"/>
              </a:rPr>
              <a:t>Don’t </a:t>
            </a:r>
            <a:r>
              <a:rPr lang="en-US" altLang="en-US" sz="2400" dirty="0">
                <a:latin typeface="Times New Roman" panose="02020603050405020304" pitchFamily="18" charset="0"/>
              </a:rPr>
              <a:t>let the firewall give you a false sense of security.  Harden your machines by turning off services you don’t need.</a:t>
            </a:r>
          </a:p>
          <a:p>
            <a:pPr>
              <a:buFont typeface="Wingdings" panose="05000000000000000000" pitchFamily="2" charset="2"/>
              <a:buNone/>
            </a:pPr>
            <a:endParaRPr lang="en-US" altLang="en-US" sz="2400" dirty="0">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8F103D0-8EF2-4C02-9123-D2F48C05AF4B}" type="slidenum">
              <a:rPr lang="en-US" altLang="en-US"/>
              <a:pPr/>
              <a:t>8</a:t>
            </a:fld>
            <a:endParaRPr lang="en-US" altLang="en-US"/>
          </a:p>
        </p:txBody>
      </p:sp>
    </p:spTree>
    <p:extLst>
      <p:ext uri="{BB962C8B-B14F-4D97-AF65-F5344CB8AC3E}">
        <p14:creationId xmlns:p14="http://schemas.microsoft.com/office/powerpoint/2010/main" val="261448723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52600" y="304800"/>
            <a:ext cx="3124200" cy="5410200"/>
          </a:xfrm>
        </p:spPr>
        <p:txBody>
          <a:bodyPr/>
          <a:lstStyle/>
          <a:p>
            <a:pPr eaLnBrk="1" hangingPunct="1"/>
            <a:r>
              <a:rPr lang="en-US" altLang="en-US" smtClean="0"/>
              <a:t>Firewall Locations</a:t>
            </a:r>
          </a:p>
        </p:txBody>
      </p:sp>
      <p:pic>
        <p:nvPicPr>
          <p:cNvPr id="9219" name="Picture 4" descr="&#10;fig9.3.pdf                                                     002C63FFMacintosh HD                   BFC49AD8:"/>
          <p:cNvPicPr>
            <a:picLocks noChangeAspect="1" noChangeArrowheads="1"/>
          </p:cNvPicPr>
          <p:nvPr/>
        </p:nvPicPr>
        <p:blipFill>
          <a:blip r:embed="rId3">
            <a:extLst>
              <a:ext uri="{28A0092B-C50C-407E-A947-70E740481C1C}">
                <a14:useLocalDpi xmlns:a14="http://schemas.microsoft.com/office/drawing/2010/main" val="0"/>
              </a:ext>
            </a:extLst>
          </a:blip>
          <a:srcRect l="4633" t="3580" r="6949" b="10739"/>
          <a:stretch>
            <a:fillRect/>
          </a:stretch>
        </p:blipFill>
        <p:spPr bwMode="auto">
          <a:xfrm>
            <a:off x="5105400" y="127001"/>
            <a:ext cx="5151438" cy="646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9583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4229100" y="2341563"/>
            <a:ext cx="914400" cy="468312"/>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ScreeningRouter</a:t>
            </a:r>
            <a:endParaRPr lang="en-US" altLang="en-US" sz="1800">
              <a:latin typeface="Arial" panose="020B0604020202020204" pitchFamily="34" charset="0"/>
            </a:endParaRPr>
          </a:p>
        </p:txBody>
      </p:sp>
      <p:sp>
        <p:nvSpPr>
          <p:cNvPr id="10243" name="Text Box 3"/>
          <p:cNvSpPr txBox="1">
            <a:spLocks noChangeArrowheads="1"/>
          </p:cNvSpPr>
          <p:nvPr/>
        </p:nvSpPr>
        <p:spPr bwMode="auto">
          <a:xfrm>
            <a:off x="4114800" y="304165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r>
              <a:rPr lang="en-US" altLang="en-US" sz="1200">
                <a:latin typeface="Arial" panose="020B0604020202020204" pitchFamily="34" charset="0"/>
                <a:cs typeface="Times New Roman" panose="02020603050405020304" pitchFamily="18" charset="0"/>
              </a:rPr>
              <a:t>A</a:t>
            </a:r>
            <a:endParaRPr lang="en-US" altLang="en-US" sz="1800">
              <a:latin typeface="Arial" panose="020B0604020202020204" pitchFamily="34" charset="0"/>
            </a:endParaRPr>
          </a:p>
        </p:txBody>
      </p:sp>
      <p:sp>
        <p:nvSpPr>
          <p:cNvPr id="10244" name="Text Box 4"/>
          <p:cNvSpPr txBox="1">
            <a:spLocks noChangeArrowheads="1"/>
          </p:cNvSpPr>
          <p:nvPr/>
        </p:nvSpPr>
        <p:spPr bwMode="auto">
          <a:xfrm>
            <a:off x="5029200" y="3962400"/>
            <a:ext cx="8001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External DNS</a:t>
            </a:r>
            <a:endParaRPr lang="en-US" altLang="en-US" sz="1800">
              <a:latin typeface="Arial" panose="020B0604020202020204" pitchFamily="34" charset="0"/>
            </a:endParaRPr>
          </a:p>
        </p:txBody>
      </p:sp>
      <p:sp>
        <p:nvSpPr>
          <p:cNvPr id="10245" name="Text Box 5"/>
          <p:cNvSpPr txBox="1">
            <a:spLocks noChangeArrowheads="1"/>
          </p:cNvSpPr>
          <p:nvPr/>
        </p:nvSpPr>
        <p:spPr bwMode="auto">
          <a:xfrm>
            <a:off x="6057900" y="39703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0246" name="Text Box 6"/>
          <p:cNvSpPr txBox="1">
            <a:spLocks noChangeArrowheads="1"/>
          </p:cNvSpPr>
          <p:nvPr/>
        </p:nvSpPr>
        <p:spPr bwMode="auto">
          <a:xfrm>
            <a:off x="6858000" y="3970338"/>
            <a:ext cx="685800" cy="4572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Web Server</a:t>
            </a:r>
            <a:endParaRPr lang="en-US" altLang="en-US" sz="1800">
              <a:latin typeface="Arial" panose="020B0604020202020204" pitchFamily="34" charset="0"/>
            </a:endParaRPr>
          </a:p>
        </p:txBody>
      </p:sp>
      <p:sp>
        <p:nvSpPr>
          <p:cNvPr id="10247" name="Text Box 7"/>
          <p:cNvSpPr txBox="1">
            <a:spLocks noChangeArrowheads="1"/>
          </p:cNvSpPr>
          <p:nvPr/>
        </p:nvSpPr>
        <p:spPr bwMode="auto">
          <a:xfrm>
            <a:off x="7772400" y="3970338"/>
            <a:ext cx="1143000" cy="3429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E-Commerce</a:t>
            </a:r>
            <a:endParaRPr lang="en-US" altLang="en-US" sz="1800">
              <a:latin typeface="Arial" panose="020B0604020202020204" pitchFamily="34" charset="0"/>
            </a:endParaRPr>
          </a:p>
        </p:txBody>
      </p:sp>
      <p:sp>
        <p:nvSpPr>
          <p:cNvPr id="10248" name="Text Box 8"/>
          <p:cNvSpPr txBox="1">
            <a:spLocks noChangeArrowheads="1"/>
          </p:cNvSpPr>
          <p:nvPr/>
        </p:nvSpPr>
        <p:spPr bwMode="auto">
          <a:xfrm>
            <a:off x="3543300" y="3970338"/>
            <a:ext cx="6858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VPN</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Server</a:t>
            </a:r>
            <a:endParaRPr lang="en-US" altLang="en-US" sz="1800">
              <a:latin typeface="Arial" panose="020B0604020202020204" pitchFamily="34" charset="0"/>
            </a:endParaRPr>
          </a:p>
        </p:txBody>
      </p:sp>
      <p:sp>
        <p:nvSpPr>
          <p:cNvPr id="10249" name="Text Box 9"/>
          <p:cNvSpPr txBox="1">
            <a:spLocks noChangeArrowheads="1"/>
          </p:cNvSpPr>
          <p:nvPr/>
        </p:nvSpPr>
        <p:spPr bwMode="auto">
          <a:xfrm>
            <a:off x="4114800" y="4648200"/>
            <a:ext cx="914400" cy="465138"/>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 B</a:t>
            </a:r>
            <a:endParaRPr lang="en-US" altLang="en-US" sz="1800">
              <a:latin typeface="Arial" panose="020B0604020202020204" pitchFamily="34" charset="0"/>
            </a:endParaRPr>
          </a:p>
        </p:txBody>
      </p:sp>
      <p:sp>
        <p:nvSpPr>
          <p:cNvPr id="10250" name="Text Box 10"/>
          <p:cNvSpPr txBox="1">
            <a:spLocks noChangeArrowheads="1"/>
          </p:cNvSpPr>
          <p:nvPr/>
        </p:nvSpPr>
        <p:spPr bwMode="auto">
          <a:xfrm>
            <a:off x="6057900" y="2695575"/>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0251" name="Oval 11"/>
          <p:cNvSpPr>
            <a:spLocks noChangeArrowheads="1"/>
          </p:cNvSpPr>
          <p:nvPr/>
        </p:nvSpPr>
        <p:spPr bwMode="auto">
          <a:xfrm>
            <a:off x="3657600" y="5227638"/>
            <a:ext cx="1714500" cy="1143000"/>
          </a:xfrm>
          <a:prstGeom prst="ellipse">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0252" name="Text Box 12"/>
          <p:cNvSpPr txBox="1">
            <a:spLocks noChangeArrowheads="1"/>
          </p:cNvSpPr>
          <p:nvPr/>
        </p:nvSpPr>
        <p:spPr bwMode="auto">
          <a:xfrm>
            <a:off x="4229100" y="5456238"/>
            <a:ext cx="914400"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Protected Internal Network</a:t>
            </a:r>
            <a:endParaRPr lang="en-US" altLang="en-US" sz="1800">
              <a:latin typeface="Arial" panose="020B0604020202020204" pitchFamily="34" charset="0"/>
            </a:endParaRPr>
          </a:p>
        </p:txBody>
      </p:sp>
      <p:sp>
        <p:nvSpPr>
          <p:cNvPr id="10253" name="Text Box 13"/>
          <p:cNvSpPr txBox="1">
            <a:spLocks noChangeArrowheads="1"/>
          </p:cNvSpPr>
          <p:nvPr/>
        </p:nvSpPr>
        <p:spPr bwMode="auto">
          <a:xfrm>
            <a:off x="6057900" y="52276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0254" name="AutoShape 14"/>
          <p:cNvSpPr>
            <a:spLocks noChangeArrowheads="1"/>
          </p:cNvSpPr>
          <p:nvPr/>
        </p:nvSpPr>
        <p:spPr bwMode="auto">
          <a:xfrm>
            <a:off x="6057900" y="5799138"/>
            <a:ext cx="571500" cy="4572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0255" name="Text Box 15"/>
          <p:cNvSpPr txBox="1">
            <a:spLocks noChangeArrowheads="1"/>
          </p:cNvSpPr>
          <p:nvPr/>
        </p:nvSpPr>
        <p:spPr bwMode="auto">
          <a:xfrm>
            <a:off x="6743700" y="5799138"/>
            <a:ext cx="1257300" cy="571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Database/File Servers</a:t>
            </a:r>
            <a:endParaRPr lang="en-US" altLang="en-US" sz="1800">
              <a:latin typeface="Arial" panose="020B0604020202020204" pitchFamily="34" charset="0"/>
            </a:endParaRPr>
          </a:p>
        </p:txBody>
      </p:sp>
      <p:sp>
        <p:nvSpPr>
          <p:cNvPr id="10256" name="Line 16"/>
          <p:cNvSpPr>
            <a:spLocks noChangeShapeType="1"/>
          </p:cNvSpPr>
          <p:nvPr/>
        </p:nvSpPr>
        <p:spPr bwMode="auto">
          <a:xfrm>
            <a:off x="4572000" y="2695575"/>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57" name="Line 17"/>
          <p:cNvSpPr>
            <a:spLocks noChangeShapeType="1"/>
          </p:cNvSpPr>
          <p:nvPr/>
        </p:nvSpPr>
        <p:spPr bwMode="auto">
          <a:xfrm>
            <a:off x="4572000" y="3513138"/>
            <a:ext cx="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58" name="Line 18"/>
          <p:cNvSpPr>
            <a:spLocks noChangeShapeType="1"/>
          </p:cNvSpPr>
          <p:nvPr/>
        </p:nvSpPr>
        <p:spPr bwMode="auto">
          <a:xfrm>
            <a:off x="4572000" y="51133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59" name="Line 19"/>
          <p:cNvSpPr>
            <a:spLocks noChangeShapeType="1"/>
          </p:cNvSpPr>
          <p:nvPr/>
        </p:nvSpPr>
        <p:spPr bwMode="auto">
          <a:xfrm>
            <a:off x="3886200" y="3741738"/>
            <a:ext cx="4343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0" name="Line 20"/>
          <p:cNvSpPr>
            <a:spLocks noChangeShapeType="1"/>
          </p:cNvSpPr>
          <p:nvPr/>
        </p:nvSpPr>
        <p:spPr bwMode="auto">
          <a:xfrm>
            <a:off x="38862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1" name="Line 21"/>
          <p:cNvSpPr>
            <a:spLocks noChangeShapeType="1"/>
          </p:cNvSpPr>
          <p:nvPr/>
        </p:nvSpPr>
        <p:spPr bwMode="auto">
          <a:xfrm>
            <a:off x="54864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2" name="Line 22"/>
          <p:cNvSpPr>
            <a:spLocks noChangeShapeType="1"/>
          </p:cNvSpPr>
          <p:nvPr/>
        </p:nvSpPr>
        <p:spPr bwMode="auto">
          <a:xfrm>
            <a:off x="62865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3" name="Line 23"/>
          <p:cNvSpPr>
            <a:spLocks noChangeShapeType="1"/>
          </p:cNvSpPr>
          <p:nvPr/>
        </p:nvSpPr>
        <p:spPr bwMode="auto">
          <a:xfrm>
            <a:off x="7086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4" name="Line 24"/>
          <p:cNvSpPr>
            <a:spLocks noChangeShapeType="1"/>
          </p:cNvSpPr>
          <p:nvPr/>
        </p:nvSpPr>
        <p:spPr bwMode="auto">
          <a:xfrm>
            <a:off x="8229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5" name="Line 25"/>
          <p:cNvSpPr>
            <a:spLocks noChangeShapeType="1"/>
          </p:cNvSpPr>
          <p:nvPr/>
        </p:nvSpPr>
        <p:spPr bwMode="auto">
          <a:xfrm flipV="1">
            <a:off x="5257800" y="5341938"/>
            <a:ext cx="80010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6" name="Line 26"/>
          <p:cNvSpPr>
            <a:spLocks noChangeShapeType="1"/>
          </p:cNvSpPr>
          <p:nvPr/>
        </p:nvSpPr>
        <p:spPr bwMode="auto">
          <a:xfrm>
            <a:off x="5257800" y="5913438"/>
            <a:ext cx="80010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7" name="Line 27"/>
          <p:cNvSpPr>
            <a:spLocks noChangeShapeType="1"/>
          </p:cNvSpPr>
          <p:nvPr/>
        </p:nvSpPr>
        <p:spPr bwMode="auto">
          <a:xfrm>
            <a:off x="4572000" y="2941638"/>
            <a:ext cx="1485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68" name="Oval 28"/>
          <p:cNvSpPr>
            <a:spLocks noChangeArrowheads="1"/>
          </p:cNvSpPr>
          <p:nvPr/>
        </p:nvSpPr>
        <p:spPr bwMode="auto">
          <a:xfrm>
            <a:off x="4000500" y="1633538"/>
            <a:ext cx="1143000" cy="5715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0269" name="Text Box 29"/>
          <p:cNvSpPr txBox="1">
            <a:spLocks noChangeArrowheads="1"/>
          </p:cNvSpPr>
          <p:nvPr/>
        </p:nvSpPr>
        <p:spPr bwMode="auto">
          <a:xfrm>
            <a:off x="4114800" y="1747838"/>
            <a:ext cx="914400" cy="228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Internet</a:t>
            </a:r>
            <a:endParaRPr lang="en-US" altLang="en-US" sz="1800">
              <a:latin typeface="Arial" panose="020B0604020202020204" pitchFamily="34" charset="0"/>
            </a:endParaRPr>
          </a:p>
        </p:txBody>
      </p:sp>
      <p:sp>
        <p:nvSpPr>
          <p:cNvPr id="10270" name="Line 30"/>
          <p:cNvSpPr>
            <a:spLocks noChangeShapeType="1"/>
          </p:cNvSpPr>
          <p:nvPr/>
        </p:nvSpPr>
        <p:spPr bwMode="auto">
          <a:xfrm>
            <a:off x="4572000" y="2220913"/>
            <a:ext cx="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0271" name="Rectangle 31"/>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0272" name="Rectangle 32"/>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tabLst>
                <a:tab pos="457200" algn="r"/>
                <a:tab pos="2743200" algn="ctr"/>
                <a:tab pos="5486400" algn="r"/>
              </a:tabLst>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tabLst>
                <a:tab pos="457200" algn="r"/>
                <a:tab pos="2743200" algn="ctr"/>
                <a:tab pos="5486400" algn="r"/>
              </a:tabLst>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r"/>
                <a:tab pos="2743200" algn="ctr"/>
                <a:tab pos="5486400" algn="r"/>
              </a:tabLst>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7" name="Rectangle 33"/>
          <p:cNvSpPr>
            <a:spLocks noGrp="1" noChangeArrowheads="1"/>
          </p:cNvSpPr>
          <p:nvPr>
            <p:ph type="title"/>
          </p:nvPr>
        </p:nvSpPr>
        <p:spPr>
          <a:ln>
            <a:miter lim="800000"/>
            <a:headEnd/>
            <a:tailEnd/>
          </a:ln>
          <a:extLst/>
        </p:spPr>
        <p:txBody>
          <a:bodyPr>
            <a:normAutofit/>
          </a:bodyPr>
          <a:lstStyle/>
          <a:p>
            <a:pPr>
              <a:defRPr/>
            </a:pPr>
            <a:r>
              <a:rPr lang="en-US" sz="4000" dirty="0"/>
              <a:t>Network Defense Configuration:</a:t>
            </a:r>
            <a:br>
              <a:rPr lang="en-US" sz="4000" dirty="0"/>
            </a:br>
            <a:r>
              <a:rPr lang="en-US" sz="4000" dirty="0"/>
              <a:t>Double Inline Firewalls</a:t>
            </a:r>
          </a:p>
        </p:txBody>
      </p:sp>
      <p:pic>
        <p:nvPicPr>
          <p:cNvPr id="10274" name="Picture 35" descr="MCBD06706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9225" y="1584326"/>
            <a:ext cx="137953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4503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4229100" y="2341563"/>
            <a:ext cx="685800" cy="342900"/>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Router</a:t>
            </a:r>
            <a:endParaRPr lang="en-US" altLang="en-US" sz="1800">
              <a:latin typeface="Arial" panose="020B0604020202020204" pitchFamily="34" charset="0"/>
            </a:endParaRPr>
          </a:p>
        </p:txBody>
      </p:sp>
      <p:sp>
        <p:nvSpPr>
          <p:cNvPr id="11267" name="Text Box 3"/>
          <p:cNvSpPr txBox="1">
            <a:spLocks noChangeArrowheads="1"/>
          </p:cNvSpPr>
          <p:nvPr/>
        </p:nvSpPr>
        <p:spPr bwMode="auto">
          <a:xfrm>
            <a:off x="4724400" y="304800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 B</a:t>
            </a:r>
            <a:endParaRPr lang="en-US" altLang="en-US" sz="1800">
              <a:latin typeface="Arial" panose="020B0604020202020204" pitchFamily="34" charset="0"/>
            </a:endParaRPr>
          </a:p>
        </p:txBody>
      </p:sp>
      <p:sp>
        <p:nvSpPr>
          <p:cNvPr id="11268" name="Text Box 4"/>
          <p:cNvSpPr txBox="1">
            <a:spLocks noChangeArrowheads="1"/>
          </p:cNvSpPr>
          <p:nvPr/>
        </p:nvSpPr>
        <p:spPr bwMode="auto">
          <a:xfrm>
            <a:off x="5029200" y="3962400"/>
            <a:ext cx="8001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External DNS</a:t>
            </a:r>
            <a:endParaRPr lang="en-US" altLang="en-US" sz="1800">
              <a:latin typeface="Arial" panose="020B0604020202020204" pitchFamily="34" charset="0"/>
            </a:endParaRPr>
          </a:p>
        </p:txBody>
      </p:sp>
      <p:sp>
        <p:nvSpPr>
          <p:cNvPr id="11269" name="Text Box 5"/>
          <p:cNvSpPr txBox="1">
            <a:spLocks noChangeArrowheads="1"/>
          </p:cNvSpPr>
          <p:nvPr/>
        </p:nvSpPr>
        <p:spPr bwMode="auto">
          <a:xfrm>
            <a:off x="6057900" y="39703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1270" name="Text Box 6"/>
          <p:cNvSpPr txBox="1">
            <a:spLocks noChangeArrowheads="1"/>
          </p:cNvSpPr>
          <p:nvPr/>
        </p:nvSpPr>
        <p:spPr bwMode="auto">
          <a:xfrm>
            <a:off x="6858000" y="3970338"/>
            <a:ext cx="685800" cy="4572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Web Server</a:t>
            </a:r>
            <a:endParaRPr lang="en-US" altLang="en-US" sz="1800">
              <a:latin typeface="Arial" panose="020B0604020202020204" pitchFamily="34" charset="0"/>
            </a:endParaRPr>
          </a:p>
        </p:txBody>
      </p:sp>
      <p:sp>
        <p:nvSpPr>
          <p:cNvPr id="11271" name="Text Box 7"/>
          <p:cNvSpPr txBox="1">
            <a:spLocks noChangeArrowheads="1"/>
          </p:cNvSpPr>
          <p:nvPr/>
        </p:nvSpPr>
        <p:spPr bwMode="auto">
          <a:xfrm>
            <a:off x="7772400" y="3970338"/>
            <a:ext cx="1143000" cy="3429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E-Commerce</a:t>
            </a:r>
            <a:endParaRPr lang="en-US" altLang="en-US" sz="1800">
              <a:latin typeface="Arial" panose="020B0604020202020204" pitchFamily="34" charset="0"/>
            </a:endParaRPr>
          </a:p>
        </p:txBody>
      </p:sp>
      <p:sp>
        <p:nvSpPr>
          <p:cNvPr id="11272" name="Text Box 8"/>
          <p:cNvSpPr txBox="1">
            <a:spLocks noChangeArrowheads="1"/>
          </p:cNvSpPr>
          <p:nvPr/>
        </p:nvSpPr>
        <p:spPr bwMode="auto">
          <a:xfrm>
            <a:off x="9144000" y="3962400"/>
            <a:ext cx="6858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VPN</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Server</a:t>
            </a:r>
            <a:endParaRPr lang="en-US" altLang="en-US" sz="1800">
              <a:latin typeface="Arial" panose="020B0604020202020204" pitchFamily="34" charset="0"/>
            </a:endParaRPr>
          </a:p>
        </p:txBody>
      </p:sp>
      <p:sp>
        <p:nvSpPr>
          <p:cNvPr id="11273" name="Text Box 9"/>
          <p:cNvSpPr txBox="1">
            <a:spLocks noChangeArrowheads="1"/>
          </p:cNvSpPr>
          <p:nvPr/>
        </p:nvSpPr>
        <p:spPr bwMode="auto">
          <a:xfrm>
            <a:off x="3581400" y="304800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 A</a:t>
            </a:r>
            <a:endParaRPr lang="en-US" altLang="en-US" sz="1800">
              <a:latin typeface="Arial" panose="020B0604020202020204" pitchFamily="34" charset="0"/>
            </a:endParaRPr>
          </a:p>
        </p:txBody>
      </p:sp>
      <p:sp>
        <p:nvSpPr>
          <p:cNvPr id="11274" name="Oval 11"/>
          <p:cNvSpPr>
            <a:spLocks noChangeArrowheads="1"/>
          </p:cNvSpPr>
          <p:nvPr/>
        </p:nvSpPr>
        <p:spPr bwMode="auto">
          <a:xfrm>
            <a:off x="2819400" y="4572000"/>
            <a:ext cx="1714500" cy="1143000"/>
          </a:xfrm>
          <a:prstGeom prst="ellipse">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1275" name="Text Box 12"/>
          <p:cNvSpPr txBox="1">
            <a:spLocks noChangeArrowheads="1"/>
          </p:cNvSpPr>
          <p:nvPr/>
        </p:nvSpPr>
        <p:spPr bwMode="auto">
          <a:xfrm>
            <a:off x="3276600" y="4800600"/>
            <a:ext cx="914400"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Protected Internal Network</a:t>
            </a:r>
            <a:endParaRPr lang="en-US" altLang="en-US" sz="1800">
              <a:latin typeface="Arial" panose="020B0604020202020204" pitchFamily="34" charset="0"/>
            </a:endParaRPr>
          </a:p>
        </p:txBody>
      </p:sp>
      <p:sp>
        <p:nvSpPr>
          <p:cNvPr id="11276" name="Text Box 13"/>
          <p:cNvSpPr txBox="1">
            <a:spLocks noChangeArrowheads="1"/>
          </p:cNvSpPr>
          <p:nvPr/>
        </p:nvSpPr>
        <p:spPr bwMode="auto">
          <a:xfrm>
            <a:off x="1828800" y="6096000"/>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1277" name="AutoShape 14"/>
          <p:cNvSpPr>
            <a:spLocks noChangeArrowheads="1"/>
          </p:cNvSpPr>
          <p:nvPr/>
        </p:nvSpPr>
        <p:spPr bwMode="auto">
          <a:xfrm>
            <a:off x="2743200" y="6172200"/>
            <a:ext cx="571500" cy="4572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1278" name="Text Box 15"/>
          <p:cNvSpPr txBox="1">
            <a:spLocks noChangeArrowheads="1"/>
          </p:cNvSpPr>
          <p:nvPr/>
        </p:nvSpPr>
        <p:spPr bwMode="auto">
          <a:xfrm>
            <a:off x="3505200" y="6286500"/>
            <a:ext cx="1257300" cy="571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Database/File Servers</a:t>
            </a:r>
            <a:endParaRPr lang="en-US" altLang="en-US" sz="1800">
              <a:latin typeface="Arial" panose="020B0604020202020204" pitchFamily="34" charset="0"/>
            </a:endParaRPr>
          </a:p>
        </p:txBody>
      </p:sp>
      <p:sp>
        <p:nvSpPr>
          <p:cNvPr id="11279" name="Line 16"/>
          <p:cNvSpPr>
            <a:spLocks noChangeShapeType="1"/>
          </p:cNvSpPr>
          <p:nvPr/>
        </p:nvSpPr>
        <p:spPr bwMode="auto">
          <a:xfrm>
            <a:off x="4572000" y="2695576"/>
            <a:ext cx="304800" cy="352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0" name="Line 17"/>
          <p:cNvSpPr>
            <a:spLocks noChangeShapeType="1"/>
          </p:cNvSpPr>
          <p:nvPr/>
        </p:nvSpPr>
        <p:spPr bwMode="auto">
          <a:xfrm>
            <a:off x="3886200" y="3505200"/>
            <a:ext cx="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1" name="Line 18"/>
          <p:cNvSpPr>
            <a:spLocks noChangeShapeType="1"/>
          </p:cNvSpPr>
          <p:nvPr/>
        </p:nvSpPr>
        <p:spPr bwMode="auto">
          <a:xfrm>
            <a:off x="5181600" y="3733800"/>
            <a:ext cx="4191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2" name="Line 19"/>
          <p:cNvSpPr>
            <a:spLocks noChangeShapeType="1"/>
          </p:cNvSpPr>
          <p:nvPr/>
        </p:nvSpPr>
        <p:spPr bwMode="auto">
          <a:xfrm>
            <a:off x="9372600" y="3733800"/>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3" name="Line 20"/>
          <p:cNvSpPr>
            <a:spLocks noChangeShapeType="1"/>
          </p:cNvSpPr>
          <p:nvPr/>
        </p:nvSpPr>
        <p:spPr bwMode="auto">
          <a:xfrm>
            <a:off x="54864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4" name="Line 21"/>
          <p:cNvSpPr>
            <a:spLocks noChangeShapeType="1"/>
          </p:cNvSpPr>
          <p:nvPr/>
        </p:nvSpPr>
        <p:spPr bwMode="auto">
          <a:xfrm>
            <a:off x="62865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5" name="Line 22"/>
          <p:cNvSpPr>
            <a:spLocks noChangeShapeType="1"/>
          </p:cNvSpPr>
          <p:nvPr/>
        </p:nvSpPr>
        <p:spPr bwMode="auto">
          <a:xfrm>
            <a:off x="7086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6" name="Line 23"/>
          <p:cNvSpPr>
            <a:spLocks noChangeShapeType="1"/>
          </p:cNvSpPr>
          <p:nvPr/>
        </p:nvSpPr>
        <p:spPr bwMode="auto">
          <a:xfrm>
            <a:off x="8229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7" name="Line 24"/>
          <p:cNvSpPr>
            <a:spLocks noChangeShapeType="1"/>
          </p:cNvSpPr>
          <p:nvPr/>
        </p:nvSpPr>
        <p:spPr bwMode="auto">
          <a:xfrm flipV="1">
            <a:off x="2133600" y="5486400"/>
            <a:ext cx="8382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8" name="Line 25"/>
          <p:cNvSpPr>
            <a:spLocks noChangeShapeType="1"/>
          </p:cNvSpPr>
          <p:nvPr/>
        </p:nvSpPr>
        <p:spPr bwMode="auto">
          <a:xfrm flipH="1">
            <a:off x="3124200" y="5638800"/>
            <a:ext cx="152400" cy="533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89" name="Oval 27"/>
          <p:cNvSpPr>
            <a:spLocks noChangeArrowheads="1"/>
          </p:cNvSpPr>
          <p:nvPr/>
        </p:nvSpPr>
        <p:spPr bwMode="auto">
          <a:xfrm>
            <a:off x="4000500" y="1633538"/>
            <a:ext cx="1143000" cy="5715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1290" name="Text Box 28"/>
          <p:cNvSpPr txBox="1">
            <a:spLocks noChangeArrowheads="1"/>
          </p:cNvSpPr>
          <p:nvPr/>
        </p:nvSpPr>
        <p:spPr bwMode="auto">
          <a:xfrm>
            <a:off x="4114800" y="1747838"/>
            <a:ext cx="914400" cy="228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Internet</a:t>
            </a:r>
            <a:endParaRPr lang="en-US" altLang="en-US" sz="1800">
              <a:latin typeface="Arial" panose="020B0604020202020204" pitchFamily="34" charset="0"/>
            </a:endParaRPr>
          </a:p>
        </p:txBody>
      </p:sp>
      <p:sp>
        <p:nvSpPr>
          <p:cNvPr id="11291" name="Line 29"/>
          <p:cNvSpPr>
            <a:spLocks noChangeShapeType="1"/>
          </p:cNvSpPr>
          <p:nvPr/>
        </p:nvSpPr>
        <p:spPr bwMode="auto">
          <a:xfrm>
            <a:off x="4572000" y="2220913"/>
            <a:ext cx="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92" name="Rectangle 30"/>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1293" name="Rectangle 31"/>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tabLst>
                <a:tab pos="457200" algn="r"/>
                <a:tab pos="2743200" algn="ctr"/>
                <a:tab pos="5486400" algn="r"/>
              </a:tabLst>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tabLst>
                <a:tab pos="457200" algn="r"/>
                <a:tab pos="2743200" algn="ctr"/>
                <a:tab pos="5486400" algn="r"/>
              </a:tabLst>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r"/>
                <a:tab pos="2743200" algn="ctr"/>
                <a:tab pos="5486400" algn="r"/>
              </a:tabLst>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4" name="Rectangle 32"/>
          <p:cNvSpPr>
            <a:spLocks noGrp="1" noChangeArrowheads="1"/>
          </p:cNvSpPr>
          <p:nvPr>
            <p:ph type="title"/>
          </p:nvPr>
        </p:nvSpPr>
        <p:spPr>
          <a:ln>
            <a:miter lim="800000"/>
            <a:headEnd/>
            <a:tailEnd/>
          </a:ln>
          <a:extLst/>
        </p:spPr>
        <p:txBody>
          <a:bodyPr>
            <a:normAutofit/>
          </a:bodyPr>
          <a:lstStyle/>
          <a:p>
            <a:pPr>
              <a:defRPr/>
            </a:pPr>
            <a:r>
              <a:rPr lang="en-US" sz="4000"/>
              <a:t>Network Defense Configuration:</a:t>
            </a:r>
            <a:br>
              <a:rPr lang="en-US" sz="4000"/>
            </a:br>
            <a:r>
              <a:rPr lang="en-US" sz="4000"/>
              <a:t>Load Balanced Firewalls</a:t>
            </a:r>
          </a:p>
        </p:txBody>
      </p:sp>
      <p:pic>
        <p:nvPicPr>
          <p:cNvPr id="11295" name="Picture 33" descr="MCBD06706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9225" y="1584326"/>
            <a:ext cx="137953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6" name="Line 34"/>
          <p:cNvSpPr>
            <a:spLocks noChangeShapeType="1"/>
          </p:cNvSpPr>
          <p:nvPr/>
        </p:nvSpPr>
        <p:spPr bwMode="auto">
          <a:xfrm flipH="1">
            <a:off x="4114800" y="2667000"/>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97" name="Line 35"/>
          <p:cNvSpPr>
            <a:spLocks noChangeShapeType="1"/>
          </p:cNvSpPr>
          <p:nvPr/>
        </p:nvSpPr>
        <p:spPr bwMode="auto">
          <a:xfrm>
            <a:off x="5181600" y="35052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1298" name="Line 36"/>
          <p:cNvSpPr>
            <a:spLocks noChangeShapeType="1"/>
          </p:cNvSpPr>
          <p:nvPr/>
        </p:nvSpPr>
        <p:spPr bwMode="auto">
          <a:xfrm>
            <a:off x="4267200" y="3505200"/>
            <a:ext cx="0" cy="228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SG"/>
          </a:p>
        </p:txBody>
      </p:sp>
      <p:sp>
        <p:nvSpPr>
          <p:cNvPr id="11299" name="Line 37"/>
          <p:cNvSpPr>
            <a:spLocks noChangeShapeType="1"/>
          </p:cNvSpPr>
          <p:nvPr/>
        </p:nvSpPr>
        <p:spPr bwMode="auto">
          <a:xfrm flipH="1">
            <a:off x="4038600" y="3505200"/>
            <a:ext cx="685800" cy="1219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SG"/>
          </a:p>
        </p:txBody>
      </p:sp>
      <p:sp>
        <p:nvSpPr>
          <p:cNvPr id="11300" name="Line 38"/>
          <p:cNvSpPr>
            <a:spLocks noChangeShapeType="1"/>
          </p:cNvSpPr>
          <p:nvPr/>
        </p:nvSpPr>
        <p:spPr bwMode="auto">
          <a:xfrm>
            <a:off x="4267200" y="3733800"/>
            <a:ext cx="990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SG"/>
          </a:p>
        </p:txBody>
      </p:sp>
      <p:sp>
        <p:nvSpPr>
          <p:cNvPr id="11301" name="Text Box 2"/>
          <p:cNvSpPr txBox="1">
            <a:spLocks noChangeArrowheads="1"/>
          </p:cNvSpPr>
          <p:nvPr/>
        </p:nvSpPr>
        <p:spPr bwMode="auto">
          <a:xfrm>
            <a:off x="4229100" y="2341563"/>
            <a:ext cx="914400" cy="468312"/>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ScreeningRouter</a:t>
            </a:r>
            <a:endParaRPr lang="en-US" altLang="en-US" sz="1800">
              <a:latin typeface="Arial" panose="020B0604020202020204" pitchFamily="34" charset="0"/>
            </a:endParaRPr>
          </a:p>
        </p:txBody>
      </p:sp>
    </p:spTree>
    <p:extLst>
      <p:ext uri="{BB962C8B-B14F-4D97-AF65-F5344CB8AC3E}">
        <p14:creationId xmlns:p14="http://schemas.microsoft.com/office/powerpoint/2010/main" val="33623890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4229100" y="2341563"/>
            <a:ext cx="685800" cy="342900"/>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Router</a:t>
            </a:r>
            <a:endParaRPr lang="en-US" altLang="en-US" sz="1800">
              <a:latin typeface="Arial" panose="020B0604020202020204" pitchFamily="34" charset="0"/>
            </a:endParaRPr>
          </a:p>
        </p:txBody>
      </p:sp>
      <p:sp>
        <p:nvSpPr>
          <p:cNvPr id="12291" name="Text Box 3"/>
          <p:cNvSpPr txBox="1">
            <a:spLocks noChangeArrowheads="1"/>
          </p:cNvSpPr>
          <p:nvPr/>
        </p:nvSpPr>
        <p:spPr bwMode="auto">
          <a:xfrm>
            <a:off x="5029200" y="3962400"/>
            <a:ext cx="8001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External DNS</a:t>
            </a:r>
            <a:endParaRPr lang="en-US" altLang="en-US" sz="1800">
              <a:latin typeface="Arial" panose="020B0604020202020204" pitchFamily="34" charset="0"/>
            </a:endParaRPr>
          </a:p>
        </p:txBody>
      </p:sp>
      <p:sp>
        <p:nvSpPr>
          <p:cNvPr id="12292" name="Text Box 4"/>
          <p:cNvSpPr txBox="1">
            <a:spLocks noChangeArrowheads="1"/>
          </p:cNvSpPr>
          <p:nvPr/>
        </p:nvSpPr>
        <p:spPr bwMode="auto">
          <a:xfrm>
            <a:off x="6057900" y="39703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IPS</a:t>
            </a:r>
            <a:endParaRPr lang="en-US" altLang="en-US" sz="1800">
              <a:latin typeface="Arial" panose="020B0604020202020204" pitchFamily="34" charset="0"/>
            </a:endParaRPr>
          </a:p>
        </p:txBody>
      </p:sp>
      <p:sp>
        <p:nvSpPr>
          <p:cNvPr id="12293" name="Text Box 5"/>
          <p:cNvSpPr txBox="1">
            <a:spLocks noChangeArrowheads="1"/>
          </p:cNvSpPr>
          <p:nvPr/>
        </p:nvSpPr>
        <p:spPr bwMode="auto">
          <a:xfrm>
            <a:off x="6858000" y="3970338"/>
            <a:ext cx="685800" cy="4572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Web Server</a:t>
            </a:r>
            <a:endParaRPr lang="en-US" altLang="en-US" sz="1800">
              <a:latin typeface="Arial" panose="020B0604020202020204" pitchFamily="34" charset="0"/>
            </a:endParaRPr>
          </a:p>
        </p:txBody>
      </p:sp>
      <p:sp>
        <p:nvSpPr>
          <p:cNvPr id="12294" name="Text Box 6"/>
          <p:cNvSpPr txBox="1">
            <a:spLocks noChangeArrowheads="1"/>
          </p:cNvSpPr>
          <p:nvPr/>
        </p:nvSpPr>
        <p:spPr bwMode="auto">
          <a:xfrm>
            <a:off x="7772400" y="3970338"/>
            <a:ext cx="1143000" cy="3429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E-Commerce</a:t>
            </a:r>
            <a:endParaRPr lang="en-US" altLang="en-US" sz="1800">
              <a:latin typeface="Arial" panose="020B0604020202020204" pitchFamily="34" charset="0"/>
            </a:endParaRPr>
          </a:p>
        </p:txBody>
      </p:sp>
      <p:sp>
        <p:nvSpPr>
          <p:cNvPr id="12295" name="Text Box 7"/>
          <p:cNvSpPr txBox="1">
            <a:spLocks noChangeArrowheads="1"/>
          </p:cNvSpPr>
          <p:nvPr/>
        </p:nvSpPr>
        <p:spPr bwMode="auto">
          <a:xfrm>
            <a:off x="9144000" y="3962400"/>
            <a:ext cx="6858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VPN</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Server</a:t>
            </a:r>
            <a:endParaRPr lang="en-US" altLang="en-US" sz="1800">
              <a:latin typeface="Arial" panose="020B0604020202020204" pitchFamily="34" charset="0"/>
            </a:endParaRPr>
          </a:p>
        </p:txBody>
      </p:sp>
      <p:sp>
        <p:nvSpPr>
          <p:cNvPr id="12296" name="Text Box 8"/>
          <p:cNvSpPr txBox="1">
            <a:spLocks noChangeArrowheads="1"/>
          </p:cNvSpPr>
          <p:nvPr/>
        </p:nvSpPr>
        <p:spPr bwMode="auto">
          <a:xfrm>
            <a:off x="4038600" y="304800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endParaRPr lang="en-US" altLang="en-US" sz="1800">
              <a:latin typeface="Arial" panose="020B0604020202020204" pitchFamily="34" charset="0"/>
            </a:endParaRPr>
          </a:p>
        </p:txBody>
      </p:sp>
      <p:sp>
        <p:nvSpPr>
          <p:cNvPr id="12297" name="Oval 10"/>
          <p:cNvSpPr>
            <a:spLocks noChangeArrowheads="1"/>
          </p:cNvSpPr>
          <p:nvPr/>
        </p:nvSpPr>
        <p:spPr bwMode="auto">
          <a:xfrm>
            <a:off x="2819400" y="4572000"/>
            <a:ext cx="1714500" cy="1143000"/>
          </a:xfrm>
          <a:prstGeom prst="ellipse">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2298" name="Text Box 11"/>
          <p:cNvSpPr txBox="1">
            <a:spLocks noChangeArrowheads="1"/>
          </p:cNvSpPr>
          <p:nvPr/>
        </p:nvSpPr>
        <p:spPr bwMode="auto">
          <a:xfrm>
            <a:off x="3276600" y="4800600"/>
            <a:ext cx="914400"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Protected Internal Network</a:t>
            </a: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Zone</a:t>
            </a:r>
            <a:endParaRPr lang="en-US" altLang="en-US" sz="1800">
              <a:latin typeface="Arial" panose="020B0604020202020204" pitchFamily="34" charset="0"/>
            </a:endParaRPr>
          </a:p>
        </p:txBody>
      </p:sp>
      <p:sp>
        <p:nvSpPr>
          <p:cNvPr id="12299" name="Text Box 12"/>
          <p:cNvSpPr txBox="1">
            <a:spLocks noChangeArrowheads="1"/>
          </p:cNvSpPr>
          <p:nvPr/>
        </p:nvSpPr>
        <p:spPr bwMode="auto">
          <a:xfrm>
            <a:off x="1828800" y="6096000"/>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IPS</a:t>
            </a:r>
            <a:endParaRPr lang="en-US" altLang="en-US" sz="1800">
              <a:latin typeface="Arial" panose="020B0604020202020204" pitchFamily="34" charset="0"/>
            </a:endParaRPr>
          </a:p>
        </p:txBody>
      </p:sp>
      <p:sp>
        <p:nvSpPr>
          <p:cNvPr id="12300" name="AutoShape 13"/>
          <p:cNvSpPr>
            <a:spLocks noChangeArrowheads="1"/>
          </p:cNvSpPr>
          <p:nvPr/>
        </p:nvSpPr>
        <p:spPr bwMode="auto">
          <a:xfrm>
            <a:off x="2743200" y="6172200"/>
            <a:ext cx="571500" cy="4572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2301" name="Text Box 14"/>
          <p:cNvSpPr txBox="1">
            <a:spLocks noChangeArrowheads="1"/>
          </p:cNvSpPr>
          <p:nvPr/>
        </p:nvSpPr>
        <p:spPr bwMode="auto">
          <a:xfrm>
            <a:off x="3505200" y="6286500"/>
            <a:ext cx="1257300" cy="571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Database/File Servers</a:t>
            </a:r>
            <a:endParaRPr lang="en-US" altLang="en-US" sz="1800">
              <a:latin typeface="Arial" panose="020B0604020202020204" pitchFamily="34" charset="0"/>
            </a:endParaRPr>
          </a:p>
        </p:txBody>
      </p:sp>
      <p:sp>
        <p:nvSpPr>
          <p:cNvPr id="12302" name="Line 15"/>
          <p:cNvSpPr>
            <a:spLocks noChangeShapeType="1"/>
          </p:cNvSpPr>
          <p:nvPr/>
        </p:nvSpPr>
        <p:spPr bwMode="auto">
          <a:xfrm>
            <a:off x="4572000" y="2695576"/>
            <a:ext cx="0" cy="352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3" name="Line 16"/>
          <p:cNvSpPr>
            <a:spLocks noChangeShapeType="1"/>
          </p:cNvSpPr>
          <p:nvPr/>
        </p:nvSpPr>
        <p:spPr bwMode="auto">
          <a:xfrm flipH="1">
            <a:off x="3886200" y="3505200"/>
            <a:ext cx="45720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4" name="Line 17"/>
          <p:cNvSpPr>
            <a:spLocks noChangeShapeType="1"/>
          </p:cNvSpPr>
          <p:nvPr/>
        </p:nvSpPr>
        <p:spPr bwMode="auto">
          <a:xfrm>
            <a:off x="4724400" y="3733800"/>
            <a:ext cx="4648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5" name="Line 18"/>
          <p:cNvSpPr>
            <a:spLocks noChangeShapeType="1"/>
          </p:cNvSpPr>
          <p:nvPr/>
        </p:nvSpPr>
        <p:spPr bwMode="auto">
          <a:xfrm>
            <a:off x="9372600" y="3733800"/>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6" name="Line 19"/>
          <p:cNvSpPr>
            <a:spLocks noChangeShapeType="1"/>
          </p:cNvSpPr>
          <p:nvPr/>
        </p:nvSpPr>
        <p:spPr bwMode="auto">
          <a:xfrm>
            <a:off x="54864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7" name="Line 20"/>
          <p:cNvSpPr>
            <a:spLocks noChangeShapeType="1"/>
          </p:cNvSpPr>
          <p:nvPr/>
        </p:nvSpPr>
        <p:spPr bwMode="auto">
          <a:xfrm>
            <a:off x="62865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8" name="Line 21"/>
          <p:cNvSpPr>
            <a:spLocks noChangeShapeType="1"/>
          </p:cNvSpPr>
          <p:nvPr/>
        </p:nvSpPr>
        <p:spPr bwMode="auto">
          <a:xfrm>
            <a:off x="7086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09" name="Line 22"/>
          <p:cNvSpPr>
            <a:spLocks noChangeShapeType="1"/>
          </p:cNvSpPr>
          <p:nvPr/>
        </p:nvSpPr>
        <p:spPr bwMode="auto">
          <a:xfrm>
            <a:off x="8229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10" name="Line 23"/>
          <p:cNvSpPr>
            <a:spLocks noChangeShapeType="1"/>
          </p:cNvSpPr>
          <p:nvPr/>
        </p:nvSpPr>
        <p:spPr bwMode="auto">
          <a:xfrm flipV="1">
            <a:off x="2133600" y="5486400"/>
            <a:ext cx="8382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11" name="Line 24"/>
          <p:cNvSpPr>
            <a:spLocks noChangeShapeType="1"/>
          </p:cNvSpPr>
          <p:nvPr/>
        </p:nvSpPr>
        <p:spPr bwMode="auto">
          <a:xfrm flipH="1">
            <a:off x="3124200" y="5638800"/>
            <a:ext cx="152400" cy="533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12" name="Oval 26"/>
          <p:cNvSpPr>
            <a:spLocks noChangeArrowheads="1"/>
          </p:cNvSpPr>
          <p:nvPr/>
        </p:nvSpPr>
        <p:spPr bwMode="auto">
          <a:xfrm>
            <a:off x="4000500" y="1633538"/>
            <a:ext cx="1143000" cy="5715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2313" name="Text Box 27"/>
          <p:cNvSpPr txBox="1">
            <a:spLocks noChangeArrowheads="1"/>
          </p:cNvSpPr>
          <p:nvPr/>
        </p:nvSpPr>
        <p:spPr bwMode="auto">
          <a:xfrm>
            <a:off x="4114800" y="1747838"/>
            <a:ext cx="914400" cy="228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Internet</a:t>
            </a:r>
            <a:endParaRPr lang="en-US" altLang="en-US" sz="1800">
              <a:latin typeface="Arial" panose="020B0604020202020204" pitchFamily="34" charset="0"/>
            </a:endParaRPr>
          </a:p>
        </p:txBody>
      </p:sp>
      <p:sp>
        <p:nvSpPr>
          <p:cNvPr id="12314" name="Line 28"/>
          <p:cNvSpPr>
            <a:spLocks noChangeShapeType="1"/>
          </p:cNvSpPr>
          <p:nvPr/>
        </p:nvSpPr>
        <p:spPr bwMode="auto">
          <a:xfrm>
            <a:off x="4572000" y="2220913"/>
            <a:ext cx="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15" name="Rectangle 29"/>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2316" name="Rectangle 30"/>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tabLst>
                <a:tab pos="457200" algn="r"/>
                <a:tab pos="2743200" algn="ctr"/>
                <a:tab pos="5486400" algn="r"/>
              </a:tabLst>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tabLst>
                <a:tab pos="457200" algn="r"/>
                <a:tab pos="2743200" algn="ctr"/>
                <a:tab pos="5486400" algn="r"/>
              </a:tabLst>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r"/>
                <a:tab pos="2743200" algn="ctr"/>
                <a:tab pos="5486400" algn="r"/>
              </a:tabLst>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7" name="Rectangle 31"/>
          <p:cNvSpPr>
            <a:spLocks noGrp="1" noChangeArrowheads="1"/>
          </p:cNvSpPr>
          <p:nvPr>
            <p:ph type="title"/>
          </p:nvPr>
        </p:nvSpPr>
        <p:spPr>
          <a:ln>
            <a:miter lim="800000"/>
            <a:headEnd/>
            <a:tailEnd/>
          </a:ln>
          <a:extLst/>
        </p:spPr>
        <p:txBody>
          <a:bodyPr>
            <a:normAutofit/>
          </a:bodyPr>
          <a:lstStyle/>
          <a:p>
            <a:pPr>
              <a:defRPr/>
            </a:pPr>
            <a:r>
              <a:rPr lang="en-US" sz="4000" dirty="0"/>
              <a:t>Network Defense Configuration:</a:t>
            </a:r>
            <a:br>
              <a:rPr lang="en-US" sz="4000" dirty="0"/>
            </a:br>
            <a:r>
              <a:rPr lang="en-US" sz="4000" dirty="0"/>
              <a:t>Single T or </a:t>
            </a:r>
            <a:r>
              <a:rPr lang="en-US" sz="4000" dirty="0" err="1"/>
              <a:t>Multihomed</a:t>
            </a:r>
            <a:r>
              <a:rPr lang="en-US" sz="4000" dirty="0"/>
              <a:t> (Separate Zones) </a:t>
            </a:r>
          </a:p>
        </p:txBody>
      </p:sp>
      <p:pic>
        <p:nvPicPr>
          <p:cNvPr id="12318" name="Picture 32" descr="MCBD06706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3439" y="1985964"/>
            <a:ext cx="1381125"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19" name="Line 33"/>
          <p:cNvSpPr>
            <a:spLocks noChangeShapeType="1"/>
          </p:cNvSpPr>
          <p:nvPr/>
        </p:nvSpPr>
        <p:spPr bwMode="auto">
          <a:xfrm>
            <a:off x="4724400" y="35052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320" name="Text Box 34"/>
          <p:cNvSpPr txBox="1">
            <a:spLocks noChangeArrowheads="1"/>
          </p:cNvSpPr>
          <p:nvPr/>
        </p:nvSpPr>
        <p:spPr bwMode="auto">
          <a:xfrm>
            <a:off x="5927725" y="3313113"/>
            <a:ext cx="208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Demilitarized Zone</a:t>
            </a:r>
          </a:p>
        </p:txBody>
      </p:sp>
      <p:sp>
        <p:nvSpPr>
          <p:cNvPr id="12321" name="Text Box 2"/>
          <p:cNvSpPr txBox="1">
            <a:spLocks noChangeArrowheads="1"/>
          </p:cNvSpPr>
          <p:nvPr/>
        </p:nvSpPr>
        <p:spPr bwMode="auto">
          <a:xfrm>
            <a:off x="4229100" y="2341563"/>
            <a:ext cx="914400" cy="468312"/>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ScreeningRouter</a:t>
            </a:r>
            <a:endParaRPr lang="en-US" altLang="en-US" sz="1800">
              <a:latin typeface="Arial" panose="020B0604020202020204" pitchFamily="34" charset="0"/>
            </a:endParaRPr>
          </a:p>
        </p:txBody>
      </p:sp>
    </p:spTree>
    <p:extLst>
      <p:ext uri="{BB962C8B-B14F-4D97-AF65-F5344CB8AC3E}">
        <p14:creationId xmlns:p14="http://schemas.microsoft.com/office/powerpoint/2010/main" val="3287247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4229100" y="2341563"/>
            <a:ext cx="914400" cy="468312"/>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ScreeningRouter</a:t>
            </a:r>
            <a:endParaRPr lang="en-US" altLang="en-US" sz="1800">
              <a:latin typeface="Arial" panose="020B0604020202020204" pitchFamily="34" charset="0"/>
            </a:endParaRPr>
          </a:p>
        </p:txBody>
      </p:sp>
      <p:sp>
        <p:nvSpPr>
          <p:cNvPr id="13315" name="Text Box 3"/>
          <p:cNvSpPr txBox="1">
            <a:spLocks noChangeArrowheads="1"/>
          </p:cNvSpPr>
          <p:nvPr/>
        </p:nvSpPr>
        <p:spPr bwMode="auto">
          <a:xfrm>
            <a:off x="4114800" y="304165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r>
              <a:rPr lang="en-US" altLang="en-US" sz="1200">
                <a:latin typeface="Arial" panose="020B0604020202020204" pitchFamily="34" charset="0"/>
                <a:cs typeface="Times New Roman" panose="02020603050405020304" pitchFamily="18" charset="0"/>
              </a:rPr>
              <a:t>A</a:t>
            </a:r>
            <a:endParaRPr lang="en-US" altLang="en-US" sz="1800">
              <a:latin typeface="Arial" panose="020B0604020202020204" pitchFamily="34" charset="0"/>
            </a:endParaRPr>
          </a:p>
        </p:txBody>
      </p:sp>
      <p:sp>
        <p:nvSpPr>
          <p:cNvPr id="13316" name="Text Box 4"/>
          <p:cNvSpPr txBox="1">
            <a:spLocks noChangeArrowheads="1"/>
          </p:cNvSpPr>
          <p:nvPr/>
        </p:nvSpPr>
        <p:spPr bwMode="auto">
          <a:xfrm>
            <a:off x="5029200" y="3962400"/>
            <a:ext cx="8001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External DNS</a:t>
            </a:r>
            <a:endParaRPr lang="en-US" altLang="en-US" sz="1800">
              <a:latin typeface="Arial" panose="020B0604020202020204" pitchFamily="34" charset="0"/>
            </a:endParaRPr>
          </a:p>
        </p:txBody>
      </p:sp>
      <p:sp>
        <p:nvSpPr>
          <p:cNvPr id="13317" name="Text Box 5"/>
          <p:cNvSpPr txBox="1">
            <a:spLocks noChangeArrowheads="1"/>
          </p:cNvSpPr>
          <p:nvPr/>
        </p:nvSpPr>
        <p:spPr bwMode="auto">
          <a:xfrm>
            <a:off x="6057900" y="39703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3318" name="Text Box 6"/>
          <p:cNvSpPr txBox="1">
            <a:spLocks noChangeArrowheads="1"/>
          </p:cNvSpPr>
          <p:nvPr/>
        </p:nvSpPr>
        <p:spPr bwMode="auto">
          <a:xfrm>
            <a:off x="6858000" y="3970338"/>
            <a:ext cx="685800" cy="4572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Web Server</a:t>
            </a:r>
            <a:endParaRPr lang="en-US" altLang="en-US" sz="1800">
              <a:latin typeface="Arial" panose="020B0604020202020204" pitchFamily="34" charset="0"/>
            </a:endParaRPr>
          </a:p>
        </p:txBody>
      </p:sp>
      <p:sp>
        <p:nvSpPr>
          <p:cNvPr id="13319" name="Text Box 7"/>
          <p:cNvSpPr txBox="1">
            <a:spLocks noChangeArrowheads="1"/>
          </p:cNvSpPr>
          <p:nvPr/>
        </p:nvSpPr>
        <p:spPr bwMode="auto">
          <a:xfrm>
            <a:off x="7772400" y="3970338"/>
            <a:ext cx="1143000" cy="3429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E-Commerce</a:t>
            </a:r>
            <a:endParaRPr lang="en-US" altLang="en-US" sz="1800">
              <a:latin typeface="Arial" panose="020B0604020202020204" pitchFamily="34" charset="0"/>
            </a:endParaRPr>
          </a:p>
        </p:txBody>
      </p:sp>
      <p:sp>
        <p:nvSpPr>
          <p:cNvPr id="13320" name="Text Box 8"/>
          <p:cNvSpPr txBox="1">
            <a:spLocks noChangeArrowheads="1"/>
          </p:cNvSpPr>
          <p:nvPr/>
        </p:nvSpPr>
        <p:spPr bwMode="auto">
          <a:xfrm>
            <a:off x="3543300" y="3970338"/>
            <a:ext cx="6858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VPN</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Server</a:t>
            </a:r>
            <a:endParaRPr lang="en-US" altLang="en-US" sz="1800">
              <a:latin typeface="Arial" panose="020B0604020202020204" pitchFamily="34" charset="0"/>
            </a:endParaRPr>
          </a:p>
        </p:txBody>
      </p:sp>
      <p:sp>
        <p:nvSpPr>
          <p:cNvPr id="13321" name="Text Box 9"/>
          <p:cNvSpPr txBox="1">
            <a:spLocks noChangeArrowheads="1"/>
          </p:cNvSpPr>
          <p:nvPr/>
        </p:nvSpPr>
        <p:spPr bwMode="auto">
          <a:xfrm>
            <a:off x="4114800" y="4648200"/>
            <a:ext cx="914400" cy="465138"/>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 B</a:t>
            </a:r>
            <a:endParaRPr lang="en-US" altLang="en-US" sz="1800">
              <a:latin typeface="Arial" panose="020B0604020202020204" pitchFamily="34" charset="0"/>
            </a:endParaRPr>
          </a:p>
        </p:txBody>
      </p:sp>
      <p:sp>
        <p:nvSpPr>
          <p:cNvPr id="13322" name="Text Box 10"/>
          <p:cNvSpPr txBox="1">
            <a:spLocks noChangeArrowheads="1"/>
          </p:cNvSpPr>
          <p:nvPr/>
        </p:nvSpPr>
        <p:spPr bwMode="auto">
          <a:xfrm>
            <a:off x="6057900" y="2695575"/>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3323" name="Oval 11"/>
          <p:cNvSpPr>
            <a:spLocks noChangeArrowheads="1"/>
          </p:cNvSpPr>
          <p:nvPr/>
        </p:nvSpPr>
        <p:spPr bwMode="auto">
          <a:xfrm>
            <a:off x="3657600" y="5227638"/>
            <a:ext cx="1714500" cy="1143000"/>
          </a:xfrm>
          <a:prstGeom prst="ellipse">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3324" name="Text Box 12"/>
          <p:cNvSpPr txBox="1">
            <a:spLocks noChangeArrowheads="1"/>
          </p:cNvSpPr>
          <p:nvPr/>
        </p:nvSpPr>
        <p:spPr bwMode="auto">
          <a:xfrm>
            <a:off x="4229100" y="5456238"/>
            <a:ext cx="914400"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Protected Internal Network</a:t>
            </a:r>
            <a:endParaRPr lang="en-US" altLang="en-US" sz="1800">
              <a:latin typeface="Arial" panose="020B0604020202020204" pitchFamily="34" charset="0"/>
            </a:endParaRPr>
          </a:p>
        </p:txBody>
      </p:sp>
      <p:sp>
        <p:nvSpPr>
          <p:cNvPr id="13325" name="Text Box 13"/>
          <p:cNvSpPr txBox="1">
            <a:spLocks noChangeArrowheads="1"/>
          </p:cNvSpPr>
          <p:nvPr/>
        </p:nvSpPr>
        <p:spPr bwMode="auto">
          <a:xfrm>
            <a:off x="6057900" y="52276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3326" name="AutoShape 14"/>
          <p:cNvSpPr>
            <a:spLocks noChangeArrowheads="1"/>
          </p:cNvSpPr>
          <p:nvPr/>
        </p:nvSpPr>
        <p:spPr bwMode="auto">
          <a:xfrm>
            <a:off x="6057900" y="5799138"/>
            <a:ext cx="571500" cy="4572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3327" name="Text Box 15"/>
          <p:cNvSpPr txBox="1">
            <a:spLocks noChangeArrowheads="1"/>
          </p:cNvSpPr>
          <p:nvPr/>
        </p:nvSpPr>
        <p:spPr bwMode="auto">
          <a:xfrm>
            <a:off x="6743700" y="5799138"/>
            <a:ext cx="1257300" cy="571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Database/File Servers</a:t>
            </a:r>
            <a:endParaRPr lang="en-US" altLang="en-US" sz="1800">
              <a:latin typeface="Arial" panose="020B0604020202020204" pitchFamily="34" charset="0"/>
            </a:endParaRPr>
          </a:p>
        </p:txBody>
      </p:sp>
      <p:sp>
        <p:nvSpPr>
          <p:cNvPr id="13328" name="Line 16"/>
          <p:cNvSpPr>
            <a:spLocks noChangeShapeType="1"/>
          </p:cNvSpPr>
          <p:nvPr/>
        </p:nvSpPr>
        <p:spPr bwMode="auto">
          <a:xfrm>
            <a:off x="4572000" y="2695575"/>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29" name="Line 17"/>
          <p:cNvSpPr>
            <a:spLocks noChangeShapeType="1"/>
          </p:cNvSpPr>
          <p:nvPr/>
        </p:nvSpPr>
        <p:spPr bwMode="auto">
          <a:xfrm>
            <a:off x="4572000" y="3513138"/>
            <a:ext cx="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0" name="Line 18"/>
          <p:cNvSpPr>
            <a:spLocks noChangeShapeType="1"/>
          </p:cNvSpPr>
          <p:nvPr/>
        </p:nvSpPr>
        <p:spPr bwMode="auto">
          <a:xfrm>
            <a:off x="4572000" y="51133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1" name="Line 19"/>
          <p:cNvSpPr>
            <a:spLocks noChangeShapeType="1"/>
          </p:cNvSpPr>
          <p:nvPr/>
        </p:nvSpPr>
        <p:spPr bwMode="auto">
          <a:xfrm>
            <a:off x="3886200" y="3741738"/>
            <a:ext cx="4343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2" name="Line 20"/>
          <p:cNvSpPr>
            <a:spLocks noChangeShapeType="1"/>
          </p:cNvSpPr>
          <p:nvPr/>
        </p:nvSpPr>
        <p:spPr bwMode="auto">
          <a:xfrm>
            <a:off x="38862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3" name="Line 21"/>
          <p:cNvSpPr>
            <a:spLocks noChangeShapeType="1"/>
          </p:cNvSpPr>
          <p:nvPr/>
        </p:nvSpPr>
        <p:spPr bwMode="auto">
          <a:xfrm>
            <a:off x="54864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4" name="Line 22"/>
          <p:cNvSpPr>
            <a:spLocks noChangeShapeType="1"/>
          </p:cNvSpPr>
          <p:nvPr/>
        </p:nvSpPr>
        <p:spPr bwMode="auto">
          <a:xfrm>
            <a:off x="62865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5" name="Line 23"/>
          <p:cNvSpPr>
            <a:spLocks noChangeShapeType="1"/>
          </p:cNvSpPr>
          <p:nvPr/>
        </p:nvSpPr>
        <p:spPr bwMode="auto">
          <a:xfrm>
            <a:off x="7086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6" name="Line 24"/>
          <p:cNvSpPr>
            <a:spLocks noChangeShapeType="1"/>
          </p:cNvSpPr>
          <p:nvPr/>
        </p:nvSpPr>
        <p:spPr bwMode="auto">
          <a:xfrm>
            <a:off x="8229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7" name="Line 25"/>
          <p:cNvSpPr>
            <a:spLocks noChangeShapeType="1"/>
          </p:cNvSpPr>
          <p:nvPr/>
        </p:nvSpPr>
        <p:spPr bwMode="auto">
          <a:xfrm flipV="1">
            <a:off x="5257800" y="5341938"/>
            <a:ext cx="80010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8" name="Line 26"/>
          <p:cNvSpPr>
            <a:spLocks noChangeShapeType="1"/>
          </p:cNvSpPr>
          <p:nvPr/>
        </p:nvSpPr>
        <p:spPr bwMode="auto">
          <a:xfrm>
            <a:off x="5257800" y="5913438"/>
            <a:ext cx="80010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39" name="Line 27"/>
          <p:cNvSpPr>
            <a:spLocks noChangeShapeType="1"/>
          </p:cNvSpPr>
          <p:nvPr/>
        </p:nvSpPr>
        <p:spPr bwMode="auto">
          <a:xfrm>
            <a:off x="4572000" y="2941638"/>
            <a:ext cx="1485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40" name="Oval 28"/>
          <p:cNvSpPr>
            <a:spLocks noChangeArrowheads="1"/>
          </p:cNvSpPr>
          <p:nvPr/>
        </p:nvSpPr>
        <p:spPr bwMode="auto">
          <a:xfrm>
            <a:off x="4000500" y="1633538"/>
            <a:ext cx="1143000" cy="5715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3341" name="Text Box 29"/>
          <p:cNvSpPr txBox="1">
            <a:spLocks noChangeArrowheads="1"/>
          </p:cNvSpPr>
          <p:nvPr/>
        </p:nvSpPr>
        <p:spPr bwMode="auto">
          <a:xfrm>
            <a:off x="4114800" y="1747838"/>
            <a:ext cx="914400" cy="228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Internet</a:t>
            </a:r>
            <a:endParaRPr lang="en-US" altLang="en-US" sz="1800">
              <a:latin typeface="Arial" panose="020B0604020202020204" pitchFamily="34" charset="0"/>
            </a:endParaRPr>
          </a:p>
        </p:txBody>
      </p:sp>
      <p:sp>
        <p:nvSpPr>
          <p:cNvPr id="13342" name="Line 30"/>
          <p:cNvSpPr>
            <a:spLocks noChangeShapeType="1"/>
          </p:cNvSpPr>
          <p:nvPr/>
        </p:nvSpPr>
        <p:spPr bwMode="auto">
          <a:xfrm>
            <a:off x="4572000" y="2220913"/>
            <a:ext cx="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343" name="Rectangle 31"/>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3344" name="Rectangle 32"/>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tabLst>
                <a:tab pos="457200" algn="r"/>
                <a:tab pos="2743200" algn="ctr"/>
                <a:tab pos="5486400" algn="r"/>
              </a:tabLst>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tabLst>
                <a:tab pos="457200" algn="r"/>
                <a:tab pos="2743200" algn="ctr"/>
                <a:tab pos="5486400" algn="r"/>
              </a:tabLst>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r"/>
                <a:tab pos="2743200" algn="ctr"/>
                <a:tab pos="5486400" algn="r"/>
              </a:tabLst>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7" name="Rectangle 33"/>
          <p:cNvSpPr>
            <a:spLocks noGrp="1" noChangeArrowheads="1"/>
          </p:cNvSpPr>
          <p:nvPr>
            <p:ph type="title"/>
          </p:nvPr>
        </p:nvSpPr>
        <p:spPr>
          <a:ln>
            <a:miter lim="800000"/>
            <a:headEnd/>
            <a:tailEnd/>
          </a:ln>
          <a:extLst/>
        </p:spPr>
        <p:txBody>
          <a:bodyPr>
            <a:normAutofit/>
          </a:bodyPr>
          <a:lstStyle/>
          <a:p>
            <a:pPr>
              <a:defRPr/>
            </a:pPr>
            <a:r>
              <a:rPr lang="en-US" sz="4000" dirty="0"/>
              <a:t>Network Defense Configuration:</a:t>
            </a:r>
            <a:br>
              <a:rPr lang="en-US" sz="4000" dirty="0"/>
            </a:br>
            <a:r>
              <a:rPr lang="en-US" sz="4000" dirty="0"/>
              <a:t>Distributed Firewall</a:t>
            </a:r>
          </a:p>
        </p:txBody>
      </p:sp>
      <p:pic>
        <p:nvPicPr>
          <p:cNvPr id="13346" name="Picture 35" descr="MCBD06706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9225" y="1584326"/>
            <a:ext cx="137953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7" name="Text Box 3"/>
          <p:cNvSpPr txBox="1">
            <a:spLocks noChangeArrowheads="1"/>
          </p:cNvSpPr>
          <p:nvPr/>
        </p:nvSpPr>
        <p:spPr bwMode="auto">
          <a:xfrm>
            <a:off x="3543300" y="3748089"/>
            <a:ext cx="685800" cy="206375"/>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endParaRPr lang="en-US" altLang="en-US" sz="1800">
              <a:latin typeface="Arial" panose="020B0604020202020204" pitchFamily="34" charset="0"/>
            </a:endParaRPr>
          </a:p>
        </p:txBody>
      </p:sp>
      <p:sp>
        <p:nvSpPr>
          <p:cNvPr id="13348" name="Text Box 3"/>
          <p:cNvSpPr txBox="1">
            <a:spLocks noChangeArrowheads="1"/>
          </p:cNvSpPr>
          <p:nvPr/>
        </p:nvSpPr>
        <p:spPr bwMode="auto">
          <a:xfrm>
            <a:off x="5072064" y="3741738"/>
            <a:ext cx="714375" cy="2286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endParaRPr lang="en-US" altLang="en-US" sz="1800">
              <a:latin typeface="Arial" panose="020B0604020202020204" pitchFamily="34" charset="0"/>
            </a:endParaRPr>
          </a:p>
        </p:txBody>
      </p:sp>
      <p:sp>
        <p:nvSpPr>
          <p:cNvPr id="13349" name="Text Box 3"/>
          <p:cNvSpPr txBox="1">
            <a:spLocks noChangeArrowheads="1"/>
          </p:cNvSpPr>
          <p:nvPr/>
        </p:nvSpPr>
        <p:spPr bwMode="auto">
          <a:xfrm>
            <a:off x="6831014" y="3767138"/>
            <a:ext cx="712787" cy="2286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endParaRPr lang="en-US" altLang="en-US" sz="1800">
              <a:latin typeface="Arial" panose="020B0604020202020204" pitchFamily="34" charset="0"/>
            </a:endParaRPr>
          </a:p>
        </p:txBody>
      </p:sp>
      <p:sp>
        <p:nvSpPr>
          <p:cNvPr id="13350" name="Text Box 3"/>
          <p:cNvSpPr txBox="1">
            <a:spLocks noChangeArrowheads="1"/>
          </p:cNvSpPr>
          <p:nvPr/>
        </p:nvSpPr>
        <p:spPr bwMode="auto">
          <a:xfrm>
            <a:off x="7872414" y="3768725"/>
            <a:ext cx="714375" cy="2286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endParaRPr lang="en-US" altLang="en-US" sz="1800">
              <a:latin typeface="Arial" panose="020B0604020202020204" pitchFamily="34" charset="0"/>
            </a:endParaRPr>
          </a:p>
        </p:txBody>
      </p:sp>
      <p:sp>
        <p:nvSpPr>
          <p:cNvPr id="13351" name="Text Box 3"/>
          <p:cNvSpPr txBox="1">
            <a:spLocks noChangeArrowheads="1"/>
          </p:cNvSpPr>
          <p:nvPr/>
        </p:nvSpPr>
        <p:spPr bwMode="auto">
          <a:xfrm rot="-3827447">
            <a:off x="5248276" y="5856288"/>
            <a:ext cx="714375" cy="2286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r>
              <a:rPr lang="en-US" altLang="en-US" sz="900">
                <a:latin typeface="Arial" panose="020B0604020202020204" pitchFamily="34" charset="0"/>
              </a:rPr>
              <a:t> </a:t>
            </a:r>
            <a:endParaRPr lang="en-US" altLang="en-US" sz="1800">
              <a:latin typeface="Arial" panose="020B0604020202020204" pitchFamily="34" charset="0"/>
            </a:endParaRPr>
          </a:p>
        </p:txBody>
      </p:sp>
    </p:spTree>
    <p:extLst>
      <p:ext uri="{BB962C8B-B14F-4D97-AF65-F5344CB8AC3E}">
        <p14:creationId xmlns:p14="http://schemas.microsoft.com/office/powerpoint/2010/main" val="20837005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p:txBody>
          <a:bodyPr/>
          <a:lstStyle/>
          <a:p>
            <a:pPr eaLnBrk="1" hangingPunct="1"/>
            <a:r>
              <a:rPr lang="en-US" altLang="en-US" smtClean="0"/>
              <a:t>Bastion Hosts</a:t>
            </a:r>
          </a:p>
        </p:txBody>
      </p:sp>
      <p:sp>
        <p:nvSpPr>
          <p:cNvPr id="14339" name="Rectangle 1027"/>
          <p:cNvSpPr>
            <a:spLocks noGrp="1" noChangeArrowheads="1"/>
          </p:cNvSpPr>
          <p:nvPr>
            <p:ph idx="1"/>
          </p:nvPr>
        </p:nvSpPr>
        <p:spPr>
          <a:xfrm>
            <a:off x="1828800" y="2133600"/>
            <a:ext cx="8458200" cy="4191000"/>
          </a:xfrm>
        </p:spPr>
        <p:txBody>
          <a:bodyPr/>
          <a:lstStyle/>
          <a:p>
            <a:pPr eaLnBrk="1" hangingPunct="1">
              <a:lnSpc>
                <a:spcPct val="90000"/>
              </a:lnSpc>
            </a:pPr>
            <a:r>
              <a:rPr lang="en-US" altLang="en-US" smtClean="0"/>
              <a:t>critical strongpoint in network</a:t>
            </a:r>
          </a:p>
          <a:p>
            <a:pPr eaLnBrk="1" hangingPunct="1">
              <a:lnSpc>
                <a:spcPct val="90000"/>
              </a:lnSpc>
            </a:pPr>
            <a:r>
              <a:rPr lang="en-US" altLang="en-US" smtClean="0"/>
              <a:t>hosts application/circuit-level gateways</a:t>
            </a:r>
          </a:p>
          <a:p>
            <a:pPr eaLnBrk="1" hangingPunct="1">
              <a:lnSpc>
                <a:spcPct val="90000"/>
              </a:lnSpc>
            </a:pPr>
            <a:r>
              <a:rPr lang="en-US" altLang="en-US" smtClean="0"/>
              <a:t>common characteristics:</a:t>
            </a:r>
          </a:p>
          <a:p>
            <a:pPr lvl="1" eaLnBrk="1" hangingPunct="1">
              <a:lnSpc>
                <a:spcPct val="90000"/>
              </a:lnSpc>
            </a:pPr>
            <a:r>
              <a:rPr lang="en-US" altLang="en-US" smtClean="0"/>
              <a:t>runs secure O/S, only essential services</a:t>
            </a:r>
          </a:p>
          <a:p>
            <a:pPr lvl="1" eaLnBrk="1" hangingPunct="1">
              <a:lnSpc>
                <a:spcPct val="90000"/>
              </a:lnSpc>
            </a:pPr>
            <a:r>
              <a:rPr lang="en-US" altLang="en-US" smtClean="0"/>
              <a:t>may require user auth to access proxy or host</a:t>
            </a:r>
          </a:p>
          <a:p>
            <a:pPr lvl="1" eaLnBrk="1" hangingPunct="1">
              <a:lnSpc>
                <a:spcPct val="90000"/>
              </a:lnSpc>
            </a:pPr>
            <a:r>
              <a:rPr lang="en-US" altLang="en-US" smtClean="0"/>
              <a:t>each proxy can restrict services &amp; hosts accessed</a:t>
            </a:r>
          </a:p>
          <a:p>
            <a:pPr lvl="1" eaLnBrk="1" hangingPunct="1">
              <a:lnSpc>
                <a:spcPct val="90000"/>
              </a:lnSpc>
            </a:pPr>
            <a:r>
              <a:rPr lang="en-US" altLang="en-US" smtClean="0"/>
              <a:t>each proxy small, simple, checked for security</a:t>
            </a:r>
          </a:p>
          <a:p>
            <a:pPr lvl="1" eaLnBrk="1" hangingPunct="1">
              <a:lnSpc>
                <a:spcPct val="90000"/>
              </a:lnSpc>
            </a:pPr>
            <a:r>
              <a:rPr lang="en-US" altLang="en-US" smtClean="0"/>
              <a:t>each proxy is independent, non-privileged</a:t>
            </a:r>
          </a:p>
          <a:p>
            <a:pPr lvl="1" eaLnBrk="1" hangingPunct="1">
              <a:lnSpc>
                <a:spcPct val="90000"/>
              </a:lnSpc>
            </a:pPr>
            <a:r>
              <a:rPr lang="en-US" altLang="en-US" smtClean="0"/>
              <a:t>proxy disk use is boot only; hence read-only code</a:t>
            </a:r>
          </a:p>
        </p:txBody>
      </p:sp>
    </p:spTree>
    <p:extLst>
      <p:ext uri="{BB962C8B-B14F-4D97-AF65-F5344CB8AC3E}">
        <p14:creationId xmlns:p14="http://schemas.microsoft.com/office/powerpoint/2010/main" val="21000770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smtClean="0"/>
              <a:t>Firewall Topologies</a:t>
            </a:r>
          </a:p>
        </p:txBody>
      </p:sp>
      <p:sp>
        <p:nvSpPr>
          <p:cNvPr id="15363" name="Rectangle 3"/>
          <p:cNvSpPr>
            <a:spLocks noGrp="1" noChangeArrowheads="1"/>
          </p:cNvSpPr>
          <p:nvPr>
            <p:ph idx="1"/>
          </p:nvPr>
        </p:nvSpPr>
        <p:spPr/>
        <p:txBody>
          <a:bodyPr>
            <a:normAutofit lnSpcReduction="10000"/>
          </a:bodyPr>
          <a:lstStyle/>
          <a:p>
            <a:pPr>
              <a:defRPr/>
            </a:pPr>
            <a:r>
              <a:rPr lang="en-US" altLang="en-US" dirty="0">
                <a:solidFill>
                  <a:schemeClr val="tx1"/>
                </a:solidFill>
              </a:rPr>
              <a:t>Host-resident firewall: personal firewall and firewall on servers (used alone or part of a defense in-depth)</a:t>
            </a:r>
          </a:p>
          <a:p>
            <a:pPr>
              <a:defRPr/>
            </a:pPr>
            <a:r>
              <a:rPr lang="en-US" altLang="en-US" dirty="0">
                <a:solidFill>
                  <a:schemeClr val="tx1"/>
                </a:solidFill>
              </a:rPr>
              <a:t>Screening router: a single router between internal and external networks, e.g., SOHO apps)</a:t>
            </a:r>
          </a:p>
          <a:p>
            <a:pPr>
              <a:defRPr/>
            </a:pPr>
            <a:r>
              <a:rPr lang="en-US" altLang="en-US" dirty="0">
                <a:solidFill>
                  <a:schemeClr val="tx1"/>
                </a:solidFill>
              </a:rPr>
              <a:t>Single bastion inline: single firewall device between an internal and external router (</a:t>
            </a:r>
            <a:r>
              <a:rPr lang="en-US" altLang="en-US" i="1" dirty="0" err="1">
                <a:solidFill>
                  <a:schemeClr val="tx1"/>
                </a:solidFill>
              </a:rPr>
              <a:t>stateful</a:t>
            </a:r>
            <a:r>
              <a:rPr lang="en-US" altLang="en-US" i="1" dirty="0">
                <a:solidFill>
                  <a:schemeClr val="tx1"/>
                </a:solidFill>
              </a:rPr>
              <a:t> or app proxies</a:t>
            </a:r>
            <a:r>
              <a:rPr lang="en-US" altLang="en-US" dirty="0">
                <a:solidFill>
                  <a:schemeClr val="tx1"/>
                </a:solidFill>
              </a:rPr>
              <a:t>)</a:t>
            </a:r>
          </a:p>
          <a:p>
            <a:pPr>
              <a:defRPr/>
            </a:pPr>
            <a:r>
              <a:rPr lang="en-US" altLang="en-US" dirty="0">
                <a:solidFill>
                  <a:schemeClr val="tx1"/>
                </a:solidFill>
              </a:rPr>
              <a:t>Single bastion T: similar to above but has a 3</a:t>
            </a:r>
            <a:r>
              <a:rPr lang="en-US" altLang="en-US" baseline="30000" dirty="0">
                <a:solidFill>
                  <a:schemeClr val="tx1"/>
                </a:solidFill>
              </a:rPr>
              <a:t>rd</a:t>
            </a:r>
            <a:r>
              <a:rPr lang="en-US" altLang="en-US" dirty="0">
                <a:solidFill>
                  <a:schemeClr val="tx1"/>
                </a:solidFill>
              </a:rPr>
              <a:t> NIC on bastion to a DMZ (for medium to large organizations)</a:t>
            </a:r>
          </a:p>
          <a:p>
            <a:pPr>
              <a:defRPr/>
            </a:pPr>
            <a:r>
              <a:rPr lang="en-US" altLang="en-US" dirty="0">
                <a:solidFill>
                  <a:schemeClr val="tx1"/>
                </a:solidFill>
              </a:rPr>
              <a:t>Double bastion inline: DMZ is between (for large organizations)</a:t>
            </a:r>
          </a:p>
          <a:p>
            <a:pPr>
              <a:defRPr/>
            </a:pPr>
            <a:r>
              <a:rPr lang="en-US" altLang="en-US" dirty="0">
                <a:solidFill>
                  <a:schemeClr val="tx1"/>
                </a:solidFill>
              </a:rPr>
              <a:t>Distributed firewall configuration</a:t>
            </a:r>
          </a:p>
        </p:txBody>
      </p:sp>
    </p:spTree>
    <p:extLst>
      <p:ext uri="{BB962C8B-B14F-4D97-AF65-F5344CB8AC3E}">
        <p14:creationId xmlns:p14="http://schemas.microsoft.com/office/powerpoint/2010/main" val="40450774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4229100" y="2341563"/>
            <a:ext cx="685800" cy="342900"/>
          </a:xfrm>
          <a:prstGeom prst="rect">
            <a:avLst/>
          </a:prstGeom>
          <a:solidFill>
            <a:srgbClr val="FF00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Router</a:t>
            </a:r>
            <a:endParaRPr lang="en-US" altLang="en-US" sz="1800">
              <a:latin typeface="Arial" panose="020B0604020202020204" pitchFamily="34" charset="0"/>
            </a:endParaRPr>
          </a:p>
        </p:txBody>
      </p:sp>
      <p:sp>
        <p:nvSpPr>
          <p:cNvPr id="16387" name="Text Box 3"/>
          <p:cNvSpPr txBox="1">
            <a:spLocks noChangeArrowheads="1"/>
          </p:cNvSpPr>
          <p:nvPr/>
        </p:nvSpPr>
        <p:spPr bwMode="auto">
          <a:xfrm>
            <a:off x="4114800" y="3041650"/>
            <a:ext cx="914400" cy="457200"/>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Vendor A</a:t>
            </a:r>
            <a:endParaRPr lang="en-US" altLang="en-US" sz="1800">
              <a:latin typeface="Arial" panose="020B0604020202020204" pitchFamily="34" charset="0"/>
            </a:endParaRPr>
          </a:p>
        </p:txBody>
      </p:sp>
      <p:sp>
        <p:nvSpPr>
          <p:cNvPr id="16388" name="Text Box 4"/>
          <p:cNvSpPr txBox="1">
            <a:spLocks noChangeArrowheads="1"/>
          </p:cNvSpPr>
          <p:nvPr/>
        </p:nvSpPr>
        <p:spPr bwMode="auto">
          <a:xfrm>
            <a:off x="5029200" y="3962400"/>
            <a:ext cx="8001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External DNS</a:t>
            </a:r>
            <a:endParaRPr lang="en-US" altLang="en-US" sz="1800">
              <a:latin typeface="Arial" panose="020B0604020202020204" pitchFamily="34" charset="0"/>
            </a:endParaRPr>
          </a:p>
        </p:txBody>
      </p:sp>
      <p:sp>
        <p:nvSpPr>
          <p:cNvPr id="16389" name="Text Box 5"/>
          <p:cNvSpPr txBox="1">
            <a:spLocks noChangeArrowheads="1"/>
          </p:cNvSpPr>
          <p:nvPr/>
        </p:nvSpPr>
        <p:spPr bwMode="auto">
          <a:xfrm>
            <a:off x="6057900" y="39703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IPS</a:t>
            </a:r>
            <a:endParaRPr lang="en-US" altLang="en-US" sz="1800">
              <a:latin typeface="Arial" panose="020B0604020202020204" pitchFamily="34" charset="0"/>
            </a:endParaRPr>
          </a:p>
        </p:txBody>
      </p:sp>
      <p:sp>
        <p:nvSpPr>
          <p:cNvPr id="16390" name="Text Box 6"/>
          <p:cNvSpPr txBox="1">
            <a:spLocks noChangeArrowheads="1"/>
          </p:cNvSpPr>
          <p:nvPr/>
        </p:nvSpPr>
        <p:spPr bwMode="auto">
          <a:xfrm>
            <a:off x="6858000" y="3970338"/>
            <a:ext cx="685800" cy="4572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Web Server</a:t>
            </a:r>
            <a:endParaRPr lang="en-US" altLang="en-US" sz="1800">
              <a:latin typeface="Arial" panose="020B0604020202020204" pitchFamily="34" charset="0"/>
            </a:endParaRPr>
          </a:p>
        </p:txBody>
      </p:sp>
      <p:sp>
        <p:nvSpPr>
          <p:cNvPr id="16391" name="Text Box 7"/>
          <p:cNvSpPr txBox="1">
            <a:spLocks noChangeArrowheads="1"/>
          </p:cNvSpPr>
          <p:nvPr/>
        </p:nvSpPr>
        <p:spPr bwMode="auto">
          <a:xfrm>
            <a:off x="7772400" y="3970338"/>
            <a:ext cx="1143000" cy="342900"/>
          </a:xfrm>
          <a:prstGeom prst="rect">
            <a:avLst/>
          </a:prstGeom>
          <a:solidFill>
            <a:srgbClr val="00FF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E-Commerce</a:t>
            </a:r>
            <a:endParaRPr lang="en-US" altLang="en-US" sz="1800">
              <a:latin typeface="Arial" panose="020B0604020202020204" pitchFamily="34" charset="0"/>
            </a:endParaRPr>
          </a:p>
        </p:txBody>
      </p:sp>
      <p:sp>
        <p:nvSpPr>
          <p:cNvPr id="16392" name="Text Box 8"/>
          <p:cNvSpPr txBox="1">
            <a:spLocks noChangeArrowheads="1"/>
          </p:cNvSpPr>
          <p:nvPr/>
        </p:nvSpPr>
        <p:spPr bwMode="auto">
          <a:xfrm>
            <a:off x="3543300" y="3970338"/>
            <a:ext cx="685800" cy="457200"/>
          </a:xfrm>
          <a:prstGeom prst="rect">
            <a:avLst/>
          </a:prstGeom>
          <a:solidFill>
            <a:srgbClr val="CC99FF"/>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VPN</a:t>
            </a:r>
            <a:endParaRPr lang="en-US" altLang="en-US" sz="900">
              <a:latin typeface="Arial" panose="020B0604020202020204" pitchFamily="34" charset="0"/>
            </a:endParaRPr>
          </a:p>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Server</a:t>
            </a:r>
            <a:endParaRPr lang="en-US" altLang="en-US" sz="1800">
              <a:latin typeface="Arial" panose="020B0604020202020204" pitchFamily="34" charset="0"/>
            </a:endParaRPr>
          </a:p>
        </p:txBody>
      </p:sp>
      <p:sp>
        <p:nvSpPr>
          <p:cNvPr id="16393" name="Text Box 9"/>
          <p:cNvSpPr txBox="1">
            <a:spLocks noChangeArrowheads="1"/>
          </p:cNvSpPr>
          <p:nvPr/>
        </p:nvSpPr>
        <p:spPr bwMode="auto">
          <a:xfrm>
            <a:off x="4114800" y="4648200"/>
            <a:ext cx="914400" cy="465138"/>
          </a:xfrm>
          <a:prstGeom prst="rect">
            <a:avLst/>
          </a:prstGeom>
          <a:solidFill>
            <a:srgbClr val="FF99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Firewall Vendor B</a:t>
            </a:r>
            <a:endParaRPr lang="en-US" altLang="en-US" sz="1800">
              <a:latin typeface="Arial" panose="020B0604020202020204" pitchFamily="34" charset="0"/>
            </a:endParaRPr>
          </a:p>
        </p:txBody>
      </p:sp>
      <p:sp>
        <p:nvSpPr>
          <p:cNvPr id="16394" name="Text Box 10"/>
          <p:cNvSpPr txBox="1">
            <a:spLocks noChangeArrowheads="1"/>
          </p:cNvSpPr>
          <p:nvPr/>
        </p:nvSpPr>
        <p:spPr bwMode="auto">
          <a:xfrm>
            <a:off x="6057900" y="2695575"/>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IDS</a:t>
            </a:r>
            <a:endParaRPr lang="en-US" altLang="en-US" sz="1800">
              <a:latin typeface="Arial" panose="020B0604020202020204" pitchFamily="34" charset="0"/>
            </a:endParaRPr>
          </a:p>
        </p:txBody>
      </p:sp>
      <p:sp>
        <p:nvSpPr>
          <p:cNvPr id="16395" name="Oval 11"/>
          <p:cNvSpPr>
            <a:spLocks noChangeArrowheads="1"/>
          </p:cNvSpPr>
          <p:nvPr/>
        </p:nvSpPr>
        <p:spPr bwMode="auto">
          <a:xfrm>
            <a:off x="3657600" y="5227638"/>
            <a:ext cx="1714500" cy="1143000"/>
          </a:xfrm>
          <a:prstGeom prst="ellipse">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6396" name="Text Box 12"/>
          <p:cNvSpPr txBox="1">
            <a:spLocks noChangeArrowheads="1"/>
          </p:cNvSpPr>
          <p:nvPr/>
        </p:nvSpPr>
        <p:spPr bwMode="auto">
          <a:xfrm>
            <a:off x="4229100" y="5456238"/>
            <a:ext cx="914400"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Protected Internal Network</a:t>
            </a:r>
            <a:endParaRPr lang="en-US" altLang="en-US" sz="1800">
              <a:latin typeface="Arial" panose="020B0604020202020204" pitchFamily="34" charset="0"/>
            </a:endParaRPr>
          </a:p>
        </p:txBody>
      </p:sp>
      <p:sp>
        <p:nvSpPr>
          <p:cNvPr id="16397" name="Text Box 13"/>
          <p:cNvSpPr txBox="1">
            <a:spLocks noChangeArrowheads="1"/>
          </p:cNvSpPr>
          <p:nvPr/>
        </p:nvSpPr>
        <p:spPr bwMode="auto">
          <a:xfrm>
            <a:off x="6057900" y="5227638"/>
            <a:ext cx="571500" cy="342900"/>
          </a:xfrm>
          <a:prstGeom prst="rect">
            <a:avLst/>
          </a:prstGeom>
          <a:solidFill>
            <a:srgbClr val="FF0000"/>
          </a:solidFill>
          <a:ln w="9525">
            <a:solidFill>
              <a:srgbClr val="000000"/>
            </a:solidFill>
            <a:miter lim="800000"/>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solidFill>
                  <a:srgbClr val="FFFFFF"/>
                </a:solidFill>
                <a:latin typeface="Arial" panose="020B0604020202020204" pitchFamily="34" charset="0"/>
                <a:cs typeface="Times New Roman" panose="02020603050405020304" pitchFamily="18" charset="0"/>
              </a:rPr>
              <a:t>IPS</a:t>
            </a:r>
            <a:endParaRPr lang="en-US" altLang="en-US" sz="1800">
              <a:latin typeface="Arial" panose="020B0604020202020204" pitchFamily="34" charset="0"/>
            </a:endParaRPr>
          </a:p>
        </p:txBody>
      </p:sp>
      <p:sp>
        <p:nvSpPr>
          <p:cNvPr id="16398" name="AutoShape 14"/>
          <p:cNvSpPr>
            <a:spLocks noChangeArrowheads="1"/>
          </p:cNvSpPr>
          <p:nvPr/>
        </p:nvSpPr>
        <p:spPr bwMode="auto">
          <a:xfrm>
            <a:off x="6057900" y="5799138"/>
            <a:ext cx="571500" cy="4572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6399" name="Text Box 15"/>
          <p:cNvSpPr txBox="1">
            <a:spLocks noChangeArrowheads="1"/>
          </p:cNvSpPr>
          <p:nvPr/>
        </p:nvSpPr>
        <p:spPr bwMode="auto">
          <a:xfrm>
            <a:off x="6743700" y="5799138"/>
            <a:ext cx="1257300" cy="571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Database/File Servers</a:t>
            </a:r>
            <a:endParaRPr lang="en-US" altLang="en-US" sz="1800">
              <a:latin typeface="Arial" panose="020B0604020202020204" pitchFamily="34" charset="0"/>
            </a:endParaRPr>
          </a:p>
        </p:txBody>
      </p:sp>
      <p:sp>
        <p:nvSpPr>
          <p:cNvPr id="16400" name="Line 16"/>
          <p:cNvSpPr>
            <a:spLocks noChangeShapeType="1"/>
          </p:cNvSpPr>
          <p:nvPr/>
        </p:nvSpPr>
        <p:spPr bwMode="auto">
          <a:xfrm>
            <a:off x="4572000" y="2695575"/>
            <a:ext cx="0" cy="342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1" name="Line 17"/>
          <p:cNvSpPr>
            <a:spLocks noChangeShapeType="1"/>
          </p:cNvSpPr>
          <p:nvPr/>
        </p:nvSpPr>
        <p:spPr bwMode="auto">
          <a:xfrm>
            <a:off x="4572000" y="3513138"/>
            <a:ext cx="0" cy="1143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2" name="Line 18"/>
          <p:cNvSpPr>
            <a:spLocks noChangeShapeType="1"/>
          </p:cNvSpPr>
          <p:nvPr/>
        </p:nvSpPr>
        <p:spPr bwMode="auto">
          <a:xfrm>
            <a:off x="4572000" y="51133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3" name="Line 19"/>
          <p:cNvSpPr>
            <a:spLocks noChangeShapeType="1"/>
          </p:cNvSpPr>
          <p:nvPr/>
        </p:nvSpPr>
        <p:spPr bwMode="auto">
          <a:xfrm>
            <a:off x="3886200" y="3741738"/>
            <a:ext cx="4343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4" name="Line 20"/>
          <p:cNvSpPr>
            <a:spLocks noChangeShapeType="1"/>
          </p:cNvSpPr>
          <p:nvPr/>
        </p:nvSpPr>
        <p:spPr bwMode="auto">
          <a:xfrm>
            <a:off x="38862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5" name="Line 21"/>
          <p:cNvSpPr>
            <a:spLocks noChangeShapeType="1"/>
          </p:cNvSpPr>
          <p:nvPr/>
        </p:nvSpPr>
        <p:spPr bwMode="auto">
          <a:xfrm>
            <a:off x="54864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6" name="Line 22"/>
          <p:cNvSpPr>
            <a:spLocks noChangeShapeType="1"/>
          </p:cNvSpPr>
          <p:nvPr/>
        </p:nvSpPr>
        <p:spPr bwMode="auto">
          <a:xfrm>
            <a:off x="62865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7" name="Line 23"/>
          <p:cNvSpPr>
            <a:spLocks noChangeShapeType="1"/>
          </p:cNvSpPr>
          <p:nvPr/>
        </p:nvSpPr>
        <p:spPr bwMode="auto">
          <a:xfrm>
            <a:off x="7086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8" name="Line 24"/>
          <p:cNvSpPr>
            <a:spLocks noChangeShapeType="1"/>
          </p:cNvSpPr>
          <p:nvPr/>
        </p:nvSpPr>
        <p:spPr bwMode="auto">
          <a:xfrm>
            <a:off x="8229600" y="3741738"/>
            <a:ext cx="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09" name="Line 25"/>
          <p:cNvSpPr>
            <a:spLocks noChangeShapeType="1"/>
          </p:cNvSpPr>
          <p:nvPr/>
        </p:nvSpPr>
        <p:spPr bwMode="auto">
          <a:xfrm flipV="1">
            <a:off x="5257800" y="5341938"/>
            <a:ext cx="800100"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10" name="Line 26"/>
          <p:cNvSpPr>
            <a:spLocks noChangeShapeType="1"/>
          </p:cNvSpPr>
          <p:nvPr/>
        </p:nvSpPr>
        <p:spPr bwMode="auto">
          <a:xfrm>
            <a:off x="5257800" y="5913438"/>
            <a:ext cx="80010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11" name="Line 27"/>
          <p:cNvSpPr>
            <a:spLocks noChangeShapeType="1"/>
          </p:cNvSpPr>
          <p:nvPr/>
        </p:nvSpPr>
        <p:spPr bwMode="auto">
          <a:xfrm>
            <a:off x="4572000" y="2809875"/>
            <a:ext cx="1485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12" name="Oval 28"/>
          <p:cNvSpPr>
            <a:spLocks noChangeArrowheads="1"/>
          </p:cNvSpPr>
          <p:nvPr/>
        </p:nvSpPr>
        <p:spPr bwMode="auto">
          <a:xfrm>
            <a:off x="4000500" y="1633538"/>
            <a:ext cx="1143000" cy="571500"/>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6413" name="Text Box 29"/>
          <p:cNvSpPr txBox="1">
            <a:spLocks noChangeArrowheads="1"/>
          </p:cNvSpPr>
          <p:nvPr/>
        </p:nvSpPr>
        <p:spPr bwMode="auto">
          <a:xfrm>
            <a:off x="4114800" y="1747838"/>
            <a:ext cx="914400" cy="228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200">
                <a:latin typeface="Arial" panose="020B0604020202020204" pitchFamily="34" charset="0"/>
                <a:cs typeface="Times New Roman" panose="02020603050405020304" pitchFamily="18" charset="0"/>
              </a:rPr>
              <a:t>Internet</a:t>
            </a:r>
            <a:endParaRPr lang="en-US" altLang="en-US" sz="1800">
              <a:latin typeface="Arial" panose="020B0604020202020204" pitchFamily="34" charset="0"/>
            </a:endParaRPr>
          </a:p>
        </p:txBody>
      </p:sp>
      <p:sp>
        <p:nvSpPr>
          <p:cNvPr id="16414" name="Line 30"/>
          <p:cNvSpPr>
            <a:spLocks noChangeShapeType="1"/>
          </p:cNvSpPr>
          <p:nvPr/>
        </p:nvSpPr>
        <p:spPr bwMode="auto">
          <a:xfrm>
            <a:off x="4572000" y="2220913"/>
            <a:ext cx="0" cy="114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15" name="Rectangle 31"/>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6416" name="Rectangle 32"/>
          <p:cNvSpPr>
            <a:spLocks noChangeArrowheads="1"/>
          </p:cNvSpPr>
          <p:nvPr/>
        </p:nvSpPr>
        <p:spPr bwMode="auto">
          <a:xfrm>
            <a:off x="1524001" y="848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BD0D9"/>
              </a:buClr>
              <a:buSzPct val="95000"/>
              <a:buFont typeface="Wingdings 2" panose="05020102010507070707" pitchFamily="18" charset="2"/>
              <a:buChar char=""/>
              <a:tabLst>
                <a:tab pos="457200" algn="r"/>
                <a:tab pos="2743200" algn="ctr"/>
                <a:tab pos="5486400" algn="r"/>
              </a:tabLst>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tabLst>
                <a:tab pos="457200" algn="r"/>
                <a:tab pos="2743200" algn="ctr"/>
                <a:tab pos="5486400" algn="r"/>
              </a:tabLst>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r"/>
                <a:tab pos="2743200" algn="ctr"/>
                <a:tab pos="5486400" algn="r"/>
              </a:tabLst>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r"/>
                <a:tab pos="2743200" algn="ctr"/>
                <a:tab pos="5486400" algn="r"/>
              </a:tabLst>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61" name="Rectangle 33"/>
          <p:cNvSpPr>
            <a:spLocks noGrp="1" noChangeArrowheads="1"/>
          </p:cNvSpPr>
          <p:nvPr>
            <p:ph type="title"/>
          </p:nvPr>
        </p:nvSpPr>
        <p:spPr>
          <a:xfrm>
            <a:off x="1991544" y="620688"/>
            <a:ext cx="8305800" cy="1143000"/>
          </a:xfrm>
          <a:ln>
            <a:miter lim="800000"/>
            <a:headEnd/>
            <a:tailEnd/>
          </a:ln>
          <a:extLst/>
        </p:spPr>
        <p:txBody>
          <a:bodyPr>
            <a:normAutofit/>
          </a:bodyPr>
          <a:lstStyle/>
          <a:p>
            <a:pPr>
              <a:defRPr/>
            </a:pPr>
            <a:r>
              <a:rPr lang="en-US" dirty="0" smtClean="0"/>
              <a:t>Network Defenses – with Logs</a:t>
            </a:r>
          </a:p>
        </p:txBody>
      </p:sp>
      <p:sp>
        <p:nvSpPr>
          <p:cNvPr id="16418" name="Rectangle 34"/>
          <p:cNvSpPr>
            <a:spLocks noChangeArrowheads="1"/>
          </p:cNvSpPr>
          <p:nvPr/>
        </p:nvSpPr>
        <p:spPr bwMode="auto">
          <a:xfrm>
            <a:off x="8534400" y="2438400"/>
            <a:ext cx="838200" cy="5334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600">
                <a:latin typeface="Arial" panose="020B0604020202020204" pitchFamily="34" charset="0"/>
              </a:rPr>
              <a:t>Security</a:t>
            </a:r>
          </a:p>
          <a:p>
            <a:pPr algn="ctr" eaLnBrk="1" hangingPunct="1">
              <a:spcBef>
                <a:spcPct val="0"/>
              </a:spcBef>
              <a:buClrTx/>
              <a:buSzTx/>
              <a:buFontTx/>
              <a:buNone/>
            </a:pPr>
            <a:r>
              <a:rPr lang="en-US" altLang="en-US" sz="1600">
                <a:latin typeface="Arial" panose="020B0604020202020204" pitchFamily="34" charset="0"/>
              </a:rPr>
              <a:t>Mgmt</a:t>
            </a:r>
          </a:p>
        </p:txBody>
      </p:sp>
      <p:sp>
        <p:nvSpPr>
          <p:cNvPr id="16419" name="AutoShape 35"/>
          <p:cNvSpPr>
            <a:spLocks noChangeArrowheads="1"/>
          </p:cNvSpPr>
          <p:nvPr/>
        </p:nvSpPr>
        <p:spPr bwMode="auto">
          <a:xfrm>
            <a:off x="9525000" y="2514600"/>
            <a:ext cx="762000" cy="685800"/>
          </a:xfrm>
          <a:prstGeom prst="can">
            <a:avLst>
              <a:gd name="adj" fmla="val 25000"/>
            </a:avLst>
          </a:prstGeom>
          <a:solidFill>
            <a:srgbClr val="969696"/>
          </a:solidFill>
          <a:ln w="9525">
            <a:solidFill>
              <a:srgbClr val="000000"/>
            </a:solidFill>
            <a:round/>
            <a:headEnd/>
            <a:tailEnd/>
          </a:ln>
        </p:spPr>
        <p:txBody>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400">
                <a:latin typeface="Arial" panose="020B0604020202020204" pitchFamily="34" charset="0"/>
              </a:rPr>
              <a:t>Syslog</a:t>
            </a:r>
          </a:p>
        </p:txBody>
      </p:sp>
      <p:sp>
        <p:nvSpPr>
          <p:cNvPr id="16420" name="Line 36"/>
          <p:cNvSpPr>
            <a:spLocks noChangeShapeType="1"/>
          </p:cNvSpPr>
          <p:nvPr/>
        </p:nvSpPr>
        <p:spPr bwMode="auto">
          <a:xfrm>
            <a:off x="9372600" y="27432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1" name="Line 37"/>
          <p:cNvSpPr>
            <a:spLocks noChangeShapeType="1"/>
          </p:cNvSpPr>
          <p:nvPr/>
        </p:nvSpPr>
        <p:spPr bwMode="auto">
          <a:xfrm>
            <a:off x="6629400" y="2819400"/>
            <a:ext cx="1905000"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2" name="Line 38"/>
          <p:cNvSpPr>
            <a:spLocks noChangeShapeType="1"/>
          </p:cNvSpPr>
          <p:nvPr/>
        </p:nvSpPr>
        <p:spPr bwMode="auto">
          <a:xfrm>
            <a:off x="5029200" y="3276600"/>
            <a:ext cx="4114800"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3" name="Line 39"/>
          <p:cNvSpPr>
            <a:spLocks noChangeShapeType="1"/>
          </p:cNvSpPr>
          <p:nvPr/>
        </p:nvSpPr>
        <p:spPr bwMode="auto">
          <a:xfrm>
            <a:off x="5029200" y="4800600"/>
            <a:ext cx="4114800"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4" name="Line 40"/>
          <p:cNvSpPr>
            <a:spLocks noChangeShapeType="1"/>
          </p:cNvSpPr>
          <p:nvPr/>
        </p:nvSpPr>
        <p:spPr bwMode="auto">
          <a:xfrm>
            <a:off x="6629400" y="5334000"/>
            <a:ext cx="2514600"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5" name="Line 41"/>
          <p:cNvSpPr>
            <a:spLocks noChangeShapeType="1"/>
          </p:cNvSpPr>
          <p:nvPr/>
        </p:nvSpPr>
        <p:spPr bwMode="auto">
          <a:xfrm>
            <a:off x="6324600" y="4267200"/>
            <a:ext cx="0" cy="5334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6" name="Line 42"/>
          <p:cNvSpPr>
            <a:spLocks noChangeShapeType="1"/>
          </p:cNvSpPr>
          <p:nvPr/>
        </p:nvSpPr>
        <p:spPr bwMode="auto">
          <a:xfrm flipV="1">
            <a:off x="9144000" y="2971800"/>
            <a:ext cx="0" cy="23622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427" name="Line 43"/>
          <p:cNvSpPr>
            <a:spLocks noChangeShapeType="1"/>
          </p:cNvSpPr>
          <p:nvPr/>
        </p:nvSpPr>
        <p:spPr bwMode="auto">
          <a:xfrm>
            <a:off x="4953000" y="2514600"/>
            <a:ext cx="3581400"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SG"/>
          </a:p>
        </p:txBody>
      </p:sp>
      <p:pic>
        <p:nvPicPr>
          <p:cNvPr id="16428" name="Picture 44" descr="MCPE02393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5486401"/>
            <a:ext cx="935038"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13821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74825" y="2349500"/>
            <a:ext cx="3048000" cy="2654300"/>
          </a:xfrm>
        </p:spPr>
        <p:txBody>
          <a:bodyPr>
            <a:normAutofit/>
          </a:bodyPr>
          <a:lstStyle/>
          <a:p>
            <a:pPr eaLnBrk="1" hangingPunct="1"/>
            <a:r>
              <a:rPr lang="en-US" altLang="en-US" smtClean="0"/>
              <a:t>Types of Firewalls</a:t>
            </a:r>
          </a:p>
        </p:txBody>
      </p:sp>
      <p:pic>
        <p:nvPicPr>
          <p:cNvPr id="17411" name="Picture 4" descr="&#10;fig9.1.pdf                                                     002C63FFMacintosh HD                   BFC49AD8:"/>
          <p:cNvPicPr>
            <a:picLocks noChangeAspect="1" noChangeArrowheads="1"/>
          </p:cNvPicPr>
          <p:nvPr/>
        </p:nvPicPr>
        <p:blipFill>
          <a:blip r:embed="rId3">
            <a:extLst>
              <a:ext uri="{28A0092B-C50C-407E-A947-70E740481C1C}">
                <a14:useLocalDpi xmlns:a14="http://schemas.microsoft.com/office/drawing/2010/main" val="0"/>
              </a:ext>
            </a:extLst>
          </a:blip>
          <a:srcRect l="4633" t="3580" r="4633" b="8949"/>
          <a:stretch>
            <a:fillRect/>
          </a:stretch>
        </p:blipFill>
        <p:spPr bwMode="auto">
          <a:xfrm>
            <a:off x="5181601" y="128589"/>
            <a:ext cx="5286375" cy="659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9026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ln>
            <a:miter lim="800000"/>
            <a:headEnd/>
            <a:tailEnd/>
          </a:ln>
          <a:extLst/>
        </p:spPr>
        <p:txBody>
          <a:bodyPr>
            <a:normAutofit/>
          </a:bodyPr>
          <a:lstStyle/>
          <a:p>
            <a:pPr>
              <a:defRPr/>
            </a:pPr>
            <a:r>
              <a:rPr lang="en-US" sz="4000"/>
              <a:t>Firewall</a:t>
            </a:r>
            <a:br>
              <a:rPr lang="en-US" sz="4000"/>
            </a:br>
            <a:r>
              <a:rPr lang="en-US" sz="4000"/>
              <a:t>Configurations</a:t>
            </a:r>
          </a:p>
        </p:txBody>
      </p:sp>
      <p:pic>
        <p:nvPicPr>
          <p:cNvPr id="18435" name="Picture 5" descr="BD1821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914401"/>
            <a:ext cx="7620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7" descr="BD18219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86800" y="533400"/>
            <a:ext cx="1066800" cy="10668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18437" name="Line 11"/>
          <p:cNvSpPr>
            <a:spLocks noChangeShapeType="1"/>
          </p:cNvSpPr>
          <p:nvPr/>
        </p:nvSpPr>
        <p:spPr bwMode="auto">
          <a:xfrm>
            <a:off x="6172200" y="1295400"/>
            <a:ext cx="251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pic>
        <p:nvPicPr>
          <p:cNvPr id="18438" name="Picture 6" descr="BD18221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67600" y="1066800"/>
            <a:ext cx="7620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Rectangle 12"/>
          <p:cNvSpPr>
            <a:spLocks noChangeArrowheads="1"/>
          </p:cNvSpPr>
          <p:nvPr/>
        </p:nvSpPr>
        <p:spPr bwMode="auto">
          <a:xfrm>
            <a:off x="2209800" y="2286000"/>
            <a:ext cx="838200" cy="838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40" name="Rectangle 13"/>
          <p:cNvSpPr>
            <a:spLocks noChangeArrowheads="1"/>
          </p:cNvSpPr>
          <p:nvPr/>
        </p:nvSpPr>
        <p:spPr bwMode="auto">
          <a:xfrm>
            <a:off x="3657600" y="2667000"/>
            <a:ext cx="838200" cy="838200"/>
          </a:xfrm>
          <a:prstGeom prst="rect">
            <a:avLst/>
          </a:prstGeom>
          <a:solidFill>
            <a:srgbClr val="5353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41" name="Rectangle 14"/>
          <p:cNvSpPr>
            <a:spLocks noChangeArrowheads="1"/>
          </p:cNvSpPr>
          <p:nvPr/>
        </p:nvSpPr>
        <p:spPr bwMode="auto">
          <a:xfrm>
            <a:off x="5181600" y="2286000"/>
            <a:ext cx="838200" cy="838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cxnSp>
        <p:nvCxnSpPr>
          <p:cNvPr id="18442" name="AutoShape 15"/>
          <p:cNvCxnSpPr>
            <a:cxnSpLocks noChangeShapeType="1"/>
            <a:stCxn id="18439" idx="2"/>
            <a:endCxn id="18441" idx="2"/>
          </p:cNvCxnSpPr>
          <p:nvPr/>
        </p:nvCxnSpPr>
        <p:spPr bwMode="auto">
          <a:xfrm rot="16200000" flipH="1">
            <a:off x="4114006" y="1639094"/>
            <a:ext cx="1588" cy="2971800"/>
          </a:xfrm>
          <a:prstGeom prst="bentConnector3">
            <a:avLst>
              <a:gd name="adj1" fmla="val 1980000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8443" name="Rectangle 16"/>
          <p:cNvSpPr>
            <a:spLocks noChangeArrowheads="1"/>
          </p:cNvSpPr>
          <p:nvPr/>
        </p:nvSpPr>
        <p:spPr bwMode="auto">
          <a:xfrm>
            <a:off x="2362200" y="2743200"/>
            <a:ext cx="533400" cy="228600"/>
          </a:xfrm>
          <a:prstGeom prst="rect">
            <a:avLst/>
          </a:prstGeom>
          <a:solidFill>
            <a:srgbClr val="CCCC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800">
                <a:latin typeface="Arial" panose="020B0604020202020204" pitchFamily="34" charset="0"/>
              </a:rPr>
              <a:t>A</a:t>
            </a:r>
          </a:p>
        </p:txBody>
      </p:sp>
      <p:sp>
        <p:nvSpPr>
          <p:cNvPr id="18444" name="Rectangle 17"/>
          <p:cNvSpPr>
            <a:spLocks noChangeArrowheads="1"/>
          </p:cNvSpPr>
          <p:nvPr/>
        </p:nvSpPr>
        <p:spPr bwMode="auto">
          <a:xfrm>
            <a:off x="5257800" y="2743200"/>
            <a:ext cx="609600" cy="228600"/>
          </a:xfrm>
          <a:prstGeom prst="rect">
            <a:avLst/>
          </a:prstGeom>
          <a:solidFill>
            <a:srgbClr val="CCCC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800">
                <a:latin typeface="Arial" panose="020B0604020202020204" pitchFamily="34" charset="0"/>
              </a:rPr>
              <a:t>A</a:t>
            </a:r>
          </a:p>
        </p:txBody>
      </p:sp>
      <p:sp>
        <p:nvSpPr>
          <p:cNvPr id="18445" name="Rectangle 18"/>
          <p:cNvSpPr>
            <a:spLocks noChangeArrowheads="1"/>
          </p:cNvSpPr>
          <p:nvPr/>
        </p:nvSpPr>
        <p:spPr bwMode="auto">
          <a:xfrm>
            <a:off x="3657600" y="3657600"/>
            <a:ext cx="1143000" cy="228600"/>
          </a:xfrm>
          <a:prstGeom prst="rect">
            <a:avLst/>
          </a:prstGeom>
          <a:solidFill>
            <a:srgbClr val="66FF66"/>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46" name="Rectangle 19"/>
          <p:cNvSpPr>
            <a:spLocks noChangeArrowheads="1"/>
          </p:cNvSpPr>
          <p:nvPr/>
        </p:nvSpPr>
        <p:spPr bwMode="auto">
          <a:xfrm>
            <a:off x="4572000" y="3657600"/>
            <a:ext cx="228600" cy="228600"/>
          </a:xfrm>
          <a:prstGeom prst="rect">
            <a:avLst/>
          </a:prstGeom>
          <a:solidFill>
            <a:srgbClr val="FF0066"/>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47" name="Text Box 20"/>
          <p:cNvSpPr txBox="1">
            <a:spLocks noChangeArrowheads="1"/>
          </p:cNvSpPr>
          <p:nvPr/>
        </p:nvSpPr>
        <p:spPr bwMode="auto">
          <a:xfrm>
            <a:off x="2193925" y="1941513"/>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terminal</a:t>
            </a:r>
          </a:p>
        </p:txBody>
      </p:sp>
      <p:sp>
        <p:nvSpPr>
          <p:cNvPr id="18448" name="Text Box 21"/>
          <p:cNvSpPr txBox="1">
            <a:spLocks noChangeArrowheads="1"/>
          </p:cNvSpPr>
          <p:nvPr/>
        </p:nvSpPr>
        <p:spPr bwMode="auto">
          <a:xfrm>
            <a:off x="3565525" y="2322513"/>
            <a:ext cx="895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firewall</a:t>
            </a:r>
          </a:p>
        </p:txBody>
      </p:sp>
      <p:sp>
        <p:nvSpPr>
          <p:cNvPr id="18449" name="Text Box 22"/>
          <p:cNvSpPr txBox="1">
            <a:spLocks noChangeArrowheads="1"/>
          </p:cNvSpPr>
          <p:nvPr/>
        </p:nvSpPr>
        <p:spPr bwMode="auto">
          <a:xfrm>
            <a:off x="5241925" y="1941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host</a:t>
            </a:r>
          </a:p>
        </p:txBody>
      </p:sp>
      <p:sp>
        <p:nvSpPr>
          <p:cNvPr id="18450" name="Text Box 23"/>
          <p:cNvSpPr txBox="1">
            <a:spLocks noChangeArrowheads="1"/>
          </p:cNvSpPr>
          <p:nvPr/>
        </p:nvSpPr>
        <p:spPr bwMode="auto">
          <a:xfrm>
            <a:off x="6172200" y="2209801"/>
            <a:ext cx="43116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b="1">
                <a:latin typeface="Arial" panose="020B0604020202020204" pitchFamily="34" charset="0"/>
              </a:rPr>
              <a:t>Router Packet Filtering</a:t>
            </a:r>
            <a:r>
              <a:rPr lang="en-US" altLang="en-US" sz="1800">
                <a:latin typeface="Arial" panose="020B0604020202020204" pitchFamily="34" charset="0"/>
              </a:rPr>
              <a:t>:</a:t>
            </a:r>
          </a:p>
          <a:p>
            <a:pPr eaLnBrk="1" hangingPunct="1">
              <a:spcBef>
                <a:spcPct val="0"/>
              </a:spcBef>
              <a:buClrTx/>
              <a:buSzTx/>
              <a:buFontTx/>
              <a:buNone/>
            </a:pPr>
            <a:r>
              <a:rPr lang="en-US" altLang="en-US" sz="1800">
                <a:latin typeface="Arial" panose="020B0604020202020204" pitchFamily="34" charset="0"/>
              </a:rPr>
              <a:t>Packet header is inspected</a:t>
            </a:r>
          </a:p>
          <a:p>
            <a:pPr eaLnBrk="1" hangingPunct="1">
              <a:spcBef>
                <a:spcPct val="0"/>
              </a:spcBef>
              <a:buClrTx/>
              <a:buSzTx/>
              <a:buFontTx/>
              <a:buNone/>
            </a:pPr>
            <a:r>
              <a:rPr lang="en-US" altLang="en-US" sz="1800">
                <a:latin typeface="Arial" panose="020B0604020202020204" pitchFamily="34" charset="0"/>
              </a:rPr>
              <a:t>Single packet attacks caught</a:t>
            </a:r>
          </a:p>
          <a:p>
            <a:pPr eaLnBrk="1" hangingPunct="1">
              <a:spcBef>
                <a:spcPct val="0"/>
              </a:spcBef>
              <a:buClrTx/>
              <a:buSzTx/>
              <a:buFontTx/>
              <a:buNone/>
            </a:pPr>
            <a:r>
              <a:rPr lang="en-US" altLang="en-US" sz="1800">
                <a:latin typeface="Arial" panose="020B0604020202020204" pitchFamily="34" charset="0"/>
              </a:rPr>
              <a:t>Very little overhead in firewall: very quick</a:t>
            </a:r>
          </a:p>
          <a:p>
            <a:pPr eaLnBrk="1" hangingPunct="1">
              <a:spcBef>
                <a:spcPct val="0"/>
              </a:spcBef>
              <a:buClrTx/>
              <a:buSzTx/>
              <a:buFontTx/>
              <a:buNone/>
            </a:pPr>
            <a:r>
              <a:rPr lang="en-US" altLang="en-US" sz="1800">
                <a:latin typeface="Arial" panose="020B0604020202020204" pitchFamily="34" charset="0"/>
              </a:rPr>
              <a:t>High volume filter</a:t>
            </a:r>
          </a:p>
        </p:txBody>
      </p:sp>
      <p:sp>
        <p:nvSpPr>
          <p:cNvPr id="18451" name="Rectangle 24"/>
          <p:cNvSpPr>
            <a:spLocks noChangeArrowheads="1"/>
          </p:cNvSpPr>
          <p:nvPr/>
        </p:nvSpPr>
        <p:spPr bwMode="auto">
          <a:xfrm>
            <a:off x="2209800" y="4572000"/>
            <a:ext cx="838200" cy="838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52" name="Rectangle 25"/>
          <p:cNvSpPr>
            <a:spLocks noChangeArrowheads="1"/>
          </p:cNvSpPr>
          <p:nvPr/>
        </p:nvSpPr>
        <p:spPr bwMode="auto">
          <a:xfrm>
            <a:off x="3657600" y="4953000"/>
            <a:ext cx="838200" cy="838200"/>
          </a:xfrm>
          <a:prstGeom prst="rect">
            <a:avLst/>
          </a:prstGeom>
          <a:solidFill>
            <a:srgbClr val="5353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53" name="Rectangle 26"/>
          <p:cNvSpPr>
            <a:spLocks noChangeArrowheads="1"/>
          </p:cNvSpPr>
          <p:nvPr/>
        </p:nvSpPr>
        <p:spPr bwMode="auto">
          <a:xfrm>
            <a:off x="5181600" y="4572000"/>
            <a:ext cx="838200" cy="838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cxnSp>
        <p:nvCxnSpPr>
          <p:cNvPr id="18454" name="AutoShape 27"/>
          <p:cNvCxnSpPr>
            <a:cxnSpLocks noChangeShapeType="1"/>
            <a:stCxn id="18451" idx="2"/>
            <a:endCxn id="18453" idx="2"/>
          </p:cNvCxnSpPr>
          <p:nvPr/>
        </p:nvCxnSpPr>
        <p:spPr bwMode="auto">
          <a:xfrm rot="16200000" flipH="1">
            <a:off x="4114006" y="3925094"/>
            <a:ext cx="1588" cy="2971800"/>
          </a:xfrm>
          <a:prstGeom prst="bentConnector3">
            <a:avLst>
              <a:gd name="adj1" fmla="val 1980000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8455" name="Rectangle 28"/>
          <p:cNvSpPr>
            <a:spLocks noChangeArrowheads="1"/>
          </p:cNvSpPr>
          <p:nvPr/>
        </p:nvSpPr>
        <p:spPr bwMode="auto">
          <a:xfrm>
            <a:off x="2362200" y="5029200"/>
            <a:ext cx="533400" cy="228600"/>
          </a:xfrm>
          <a:prstGeom prst="rect">
            <a:avLst/>
          </a:prstGeom>
          <a:solidFill>
            <a:srgbClr val="CCCC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800">
                <a:latin typeface="Arial" panose="020B0604020202020204" pitchFamily="34" charset="0"/>
              </a:rPr>
              <a:t>A</a:t>
            </a:r>
          </a:p>
        </p:txBody>
      </p:sp>
      <p:sp>
        <p:nvSpPr>
          <p:cNvPr id="18456" name="Rectangle 29"/>
          <p:cNvSpPr>
            <a:spLocks noChangeArrowheads="1"/>
          </p:cNvSpPr>
          <p:nvPr/>
        </p:nvSpPr>
        <p:spPr bwMode="auto">
          <a:xfrm>
            <a:off x="5257800" y="5029200"/>
            <a:ext cx="609600" cy="228600"/>
          </a:xfrm>
          <a:prstGeom prst="rect">
            <a:avLst/>
          </a:prstGeom>
          <a:solidFill>
            <a:srgbClr val="CCCCFF"/>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800">
                <a:latin typeface="Arial" panose="020B0604020202020204" pitchFamily="34" charset="0"/>
              </a:rPr>
              <a:t>A</a:t>
            </a:r>
          </a:p>
        </p:txBody>
      </p:sp>
      <p:sp>
        <p:nvSpPr>
          <p:cNvPr id="18457" name="Rectangle 30"/>
          <p:cNvSpPr>
            <a:spLocks noChangeArrowheads="1"/>
          </p:cNvSpPr>
          <p:nvPr/>
        </p:nvSpPr>
        <p:spPr bwMode="auto">
          <a:xfrm>
            <a:off x="3657600" y="5943600"/>
            <a:ext cx="1143000" cy="228600"/>
          </a:xfrm>
          <a:prstGeom prst="rect">
            <a:avLst/>
          </a:prstGeom>
          <a:solidFill>
            <a:srgbClr val="66FF66"/>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58" name="Rectangle 31"/>
          <p:cNvSpPr>
            <a:spLocks noChangeArrowheads="1"/>
          </p:cNvSpPr>
          <p:nvPr/>
        </p:nvSpPr>
        <p:spPr bwMode="auto">
          <a:xfrm>
            <a:off x="4419600" y="5943600"/>
            <a:ext cx="381000" cy="228600"/>
          </a:xfrm>
          <a:prstGeom prst="rect">
            <a:avLst/>
          </a:prstGeom>
          <a:solidFill>
            <a:srgbClr val="FF0066"/>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8459" name="Text Box 32"/>
          <p:cNvSpPr txBox="1">
            <a:spLocks noChangeArrowheads="1"/>
          </p:cNvSpPr>
          <p:nvPr/>
        </p:nvSpPr>
        <p:spPr bwMode="auto">
          <a:xfrm>
            <a:off x="2193925" y="4227513"/>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terminal</a:t>
            </a:r>
          </a:p>
        </p:txBody>
      </p:sp>
      <p:sp>
        <p:nvSpPr>
          <p:cNvPr id="18460" name="Text Box 33"/>
          <p:cNvSpPr txBox="1">
            <a:spLocks noChangeArrowheads="1"/>
          </p:cNvSpPr>
          <p:nvPr/>
        </p:nvSpPr>
        <p:spPr bwMode="auto">
          <a:xfrm>
            <a:off x="3565525" y="4608513"/>
            <a:ext cx="895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firewall</a:t>
            </a:r>
          </a:p>
        </p:txBody>
      </p:sp>
      <p:sp>
        <p:nvSpPr>
          <p:cNvPr id="18461" name="Text Box 34"/>
          <p:cNvSpPr txBox="1">
            <a:spLocks noChangeArrowheads="1"/>
          </p:cNvSpPr>
          <p:nvPr/>
        </p:nvSpPr>
        <p:spPr bwMode="auto">
          <a:xfrm>
            <a:off x="5241925" y="4227513"/>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a:latin typeface="Arial" panose="020B0604020202020204" pitchFamily="34" charset="0"/>
              </a:rPr>
              <a:t>host</a:t>
            </a:r>
          </a:p>
        </p:txBody>
      </p:sp>
      <p:sp>
        <p:nvSpPr>
          <p:cNvPr id="18462" name="Rectangle 35"/>
          <p:cNvSpPr>
            <a:spLocks noChangeArrowheads="1"/>
          </p:cNvSpPr>
          <p:nvPr/>
        </p:nvSpPr>
        <p:spPr bwMode="auto">
          <a:xfrm>
            <a:off x="3810000" y="5334000"/>
            <a:ext cx="533400" cy="228600"/>
          </a:xfrm>
          <a:prstGeom prst="rect">
            <a:avLst/>
          </a:prstGeom>
          <a:solidFill>
            <a:schemeClr val="folHlink"/>
          </a:solidFill>
          <a:ln w="9525">
            <a:solidFill>
              <a:schemeClr val="tx1"/>
            </a:solidFill>
            <a:miter lim="800000"/>
            <a:headEnd/>
            <a:tailEnd/>
          </a:ln>
        </p:spPr>
        <p:txBody>
          <a:bodyPr wrap="none" anchor="ct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1800">
                <a:latin typeface="Arial" panose="020B0604020202020204" pitchFamily="34" charset="0"/>
              </a:rPr>
              <a:t>A</a:t>
            </a:r>
          </a:p>
        </p:txBody>
      </p:sp>
      <p:sp>
        <p:nvSpPr>
          <p:cNvPr id="18463" name="Text Box 36"/>
          <p:cNvSpPr txBox="1">
            <a:spLocks noChangeArrowheads="1"/>
          </p:cNvSpPr>
          <p:nvPr/>
        </p:nvSpPr>
        <p:spPr bwMode="auto">
          <a:xfrm>
            <a:off x="6324600" y="4419601"/>
            <a:ext cx="40957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eaLnBrk="0" hangingPunct="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eaLnBrk="0" hangingPunct="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eaLnBrk="0" hangingPunct="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eaLnBrk="0" hangingPunct="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1800" b="1">
                <a:latin typeface="Arial" panose="020B0604020202020204" pitchFamily="34" charset="0"/>
              </a:rPr>
              <a:t>Stateful Inspection</a:t>
            </a:r>
          </a:p>
          <a:p>
            <a:pPr eaLnBrk="1" hangingPunct="1">
              <a:spcBef>
                <a:spcPct val="0"/>
              </a:spcBef>
              <a:buClrTx/>
              <a:buSzTx/>
              <a:buFontTx/>
              <a:buNone/>
            </a:pPr>
            <a:r>
              <a:rPr lang="en-US" altLang="en-US" sz="1800">
                <a:latin typeface="Arial" panose="020B0604020202020204" pitchFamily="34" charset="0"/>
              </a:rPr>
              <a:t>State retained in firewall memory</a:t>
            </a:r>
          </a:p>
          <a:p>
            <a:pPr eaLnBrk="1" hangingPunct="1">
              <a:spcBef>
                <a:spcPct val="0"/>
              </a:spcBef>
              <a:buClrTx/>
              <a:buSzTx/>
              <a:buFontTx/>
              <a:buNone/>
            </a:pPr>
            <a:r>
              <a:rPr lang="en-US" altLang="en-US" sz="1800">
                <a:latin typeface="Arial" panose="020B0604020202020204" pitchFamily="34" charset="0"/>
              </a:rPr>
              <a:t>Most multi-packet attacks caught</a:t>
            </a:r>
          </a:p>
          <a:p>
            <a:pPr eaLnBrk="1" hangingPunct="1">
              <a:spcBef>
                <a:spcPct val="0"/>
              </a:spcBef>
              <a:buClrTx/>
              <a:buSzTx/>
              <a:buFontTx/>
              <a:buNone/>
            </a:pPr>
            <a:r>
              <a:rPr lang="en-US" altLang="en-US" sz="1800">
                <a:latin typeface="Arial" panose="020B0604020202020204" pitchFamily="34" charset="0"/>
              </a:rPr>
              <a:t>More fields in packet header inspected</a:t>
            </a:r>
          </a:p>
          <a:p>
            <a:pPr eaLnBrk="1" hangingPunct="1">
              <a:spcBef>
                <a:spcPct val="0"/>
              </a:spcBef>
              <a:buClrTx/>
              <a:buSzTx/>
              <a:buFontTx/>
              <a:buNone/>
            </a:pPr>
            <a:r>
              <a:rPr lang="en-US" altLang="en-US" sz="1800">
                <a:latin typeface="Arial" panose="020B0604020202020204" pitchFamily="34" charset="0"/>
              </a:rPr>
              <a:t>Little overhead in firewall: quick</a:t>
            </a:r>
          </a:p>
        </p:txBody>
      </p:sp>
    </p:spTree>
    <p:extLst>
      <p:ext uri="{BB962C8B-B14F-4D97-AF65-F5344CB8AC3E}">
        <p14:creationId xmlns:p14="http://schemas.microsoft.com/office/powerpoint/2010/main" val="28357576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dirty="0" smtClean="0"/>
              <a:t>Packet Filtering Firewall</a:t>
            </a:r>
            <a:endParaRPr lang="en-US" altLang="en-US" dirty="0" smtClean="0">
              <a:latin typeface="Times New Roman" panose="02020603050405020304" pitchFamily="18" charset="0"/>
            </a:endParaRPr>
          </a:p>
        </p:txBody>
      </p:sp>
      <p:sp>
        <p:nvSpPr>
          <p:cNvPr id="19459" name="Rectangle 3"/>
          <p:cNvSpPr>
            <a:spLocks noGrp="1" noChangeArrowheads="1"/>
          </p:cNvSpPr>
          <p:nvPr>
            <p:ph idx="1"/>
          </p:nvPr>
        </p:nvSpPr>
        <p:spPr>
          <a:xfrm>
            <a:off x="1981200" y="1844676"/>
            <a:ext cx="8229600" cy="4784725"/>
          </a:xfrm>
        </p:spPr>
        <p:txBody>
          <a:bodyPr/>
          <a:lstStyle/>
          <a:p>
            <a:pPr eaLnBrk="1" hangingPunct="1">
              <a:lnSpc>
                <a:spcPct val="90000"/>
              </a:lnSpc>
            </a:pPr>
            <a:r>
              <a:rPr lang="en-US" altLang="en-US" smtClean="0"/>
              <a:t>applies rules to packets in/out of firewall</a:t>
            </a:r>
          </a:p>
          <a:p>
            <a:pPr eaLnBrk="1" hangingPunct="1">
              <a:lnSpc>
                <a:spcPct val="90000"/>
              </a:lnSpc>
            </a:pPr>
            <a:r>
              <a:rPr lang="en-US" altLang="en-US" smtClean="0"/>
              <a:t>based on information in packet header</a:t>
            </a:r>
          </a:p>
          <a:p>
            <a:pPr lvl="1" eaLnBrk="1" hangingPunct="1">
              <a:lnSpc>
                <a:spcPct val="90000"/>
              </a:lnSpc>
            </a:pPr>
            <a:r>
              <a:rPr lang="en-US" altLang="en-US" smtClean="0"/>
              <a:t>src/dest IP addr &amp; port, IP protocol, interface</a:t>
            </a:r>
          </a:p>
          <a:p>
            <a:pPr eaLnBrk="1" hangingPunct="1">
              <a:lnSpc>
                <a:spcPct val="90000"/>
              </a:lnSpc>
            </a:pPr>
            <a:r>
              <a:rPr lang="en-US" altLang="en-US" smtClean="0"/>
              <a:t>typically a list of rules of matches on fields</a:t>
            </a:r>
          </a:p>
          <a:p>
            <a:pPr lvl="1" eaLnBrk="1" hangingPunct="1">
              <a:lnSpc>
                <a:spcPct val="90000"/>
              </a:lnSpc>
            </a:pPr>
            <a:r>
              <a:rPr lang="en-US" altLang="en-US" smtClean="0"/>
              <a:t>if match rule says if forward or discard packet</a:t>
            </a:r>
          </a:p>
          <a:p>
            <a:pPr eaLnBrk="1" hangingPunct="1">
              <a:lnSpc>
                <a:spcPct val="90000"/>
              </a:lnSpc>
            </a:pPr>
            <a:r>
              <a:rPr lang="en-US" altLang="en-US" smtClean="0"/>
              <a:t>two default policies:</a:t>
            </a:r>
          </a:p>
          <a:p>
            <a:pPr lvl="1" eaLnBrk="1" hangingPunct="1">
              <a:lnSpc>
                <a:spcPct val="90000"/>
              </a:lnSpc>
            </a:pPr>
            <a:r>
              <a:rPr lang="en-US" altLang="en-US" smtClean="0"/>
              <a:t>discard - prohibit unless expressly permitted</a:t>
            </a:r>
          </a:p>
          <a:p>
            <a:pPr lvl="1" eaLnBrk="1" hangingPunct="1">
              <a:lnSpc>
                <a:spcPct val="90000"/>
              </a:lnSpc>
            </a:pPr>
            <a:r>
              <a:rPr lang="en-US" altLang="en-US" smtClean="0"/>
              <a:t>forward - permit unless expressly prohibited</a:t>
            </a:r>
          </a:p>
        </p:txBody>
      </p:sp>
    </p:spTree>
    <p:extLst>
      <p:ext uri="{BB962C8B-B14F-4D97-AF65-F5344CB8AC3E}">
        <p14:creationId xmlns:p14="http://schemas.microsoft.com/office/powerpoint/2010/main" val="14632326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Stateful Inspection Firewall</a:t>
            </a:r>
          </a:p>
        </p:txBody>
      </p:sp>
      <p:sp>
        <p:nvSpPr>
          <p:cNvPr id="21507" name="Rectangle 3"/>
          <p:cNvSpPr>
            <a:spLocks noGrp="1" noChangeArrowheads="1"/>
          </p:cNvSpPr>
          <p:nvPr>
            <p:ph idx="1"/>
          </p:nvPr>
        </p:nvSpPr>
        <p:spPr>
          <a:xfrm>
            <a:off x="1981200" y="1676400"/>
            <a:ext cx="8229600" cy="4800600"/>
          </a:xfrm>
        </p:spPr>
        <p:txBody>
          <a:bodyPr/>
          <a:lstStyle/>
          <a:p>
            <a:pPr eaLnBrk="1" hangingPunct="1"/>
            <a:r>
              <a:rPr lang="en-US" altLang="en-US" dirty="0"/>
              <a:t>reviews packet header information but also keeps info on TCP connections</a:t>
            </a:r>
          </a:p>
          <a:p>
            <a:pPr lvl="1" eaLnBrk="1" hangingPunct="1"/>
            <a:r>
              <a:rPr lang="en-US" altLang="en-US" dirty="0" smtClean="0"/>
              <a:t>typically have low, “known” port no for server</a:t>
            </a:r>
          </a:p>
          <a:p>
            <a:pPr lvl="1" eaLnBrk="1" hangingPunct="1"/>
            <a:r>
              <a:rPr lang="en-US" altLang="en-US" dirty="0" smtClean="0"/>
              <a:t>and high, dynamically assigned client port no</a:t>
            </a:r>
          </a:p>
          <a:p>
            <a:pPr lvl="1" eaLnBrk="1" hangingPunct="1"/>
            <a:r>
              <a:rPr lang="en-US" altLang="en-US" dirty="0" smtClean="0"/>
              <a:t>simple packet filter must allow all return high port numbered packets back in</a:t>
            </a:r>
          </a:p>
          <a:p>
            <a:pPr lvl="1" eaLnBrk="1" hangingPunct="1"/>
            <a:r>
              <a:rPr lang="en-US" altLang="en-US" dirty="0" err="1" smtClean="0"/>
              <a:t>stateful</a:t>
            </a:r>
            <a:r>
              <a:rPr lang="en-US" altLang="en-US" dirty="0" smtClean="0"/>
              <a:t> inspection packet firewall tightens rules for TCP traffic using a directory of TCP connections</a:t>
            </a:r>
          </a:p>
          <a:p>
            <a:pPr lvl="1" eaLnBrk="1" hangingPunct="1"/>
            <a:r>
              <a:rPr lang="en-US" altLang="en-US" dirty="0" smtClean="0"/>
              <a:t>only allow incoming traffic to high-numbered ports for packets matching an entry in this directory</a:t>
            </a:r>
          </a:p>
          <a:p>
            <a:pPr lvl="1" eaLnBrk="1" hangingPunct="1"/>
            <a:r>
              <a:rPr lang="en-US" altLang="en-US" dirty="0" smtClean="0"/>
              <a:t>may also track TCP </a:t>
            </a:r>
            <a:r>
              <a:rPr lang="en-US" altLang="en-US" dirty="0" err="1" smtClean="0"/>
              <a:t>seq</a:t>
            </a:r>
            <a:r>
              <a:rPr lang="en-US" altLang="en-US" dirty="0" smtClean="0"/>
              <a:t> numbers as well</a:t>
            </a:r>
          </a:p>
        </p:txBody>
      </p:sp>
    </p:spTree>
    <p:extLst>
      <p:ext uri="{BB962C8B-B14F-4D97-AF65-F5344CB8AC3E}">
        <p14:creationId xmlns:p14="http://schemas.microsoft.com/office/powerpoint/2010/main" val="26414189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mtClean="0"/>
              <a:t>Application-Level (Proxy) Gateway</a:t>
            </a:r>
          </a:p>
        </p:txBody>
      </p:sp>
      <p:sp>
        <p:nvSpPr>
          <p:cNvPr id="26627" name="Rectangle 3"/>
          <p:cNvSpPr>
            <a:spLocks noGrp="1" noChangeArrowheads="1"/>
          </p:cNvSpPr>
          <p:nvPr>
            <p:ph type="body" idx="1"/>
          </p:nvPr>
        </p:nvSpPr>
        <p:spPr>
          <a:xfrm>
            <a:off x="1981200" y="1676400"/>
            <a:ext cx="8229600" cy="4800600"/>
          </a:xfrm>
        </p:spPr>
        <p:txBody>
          <a:bodyPr/>
          <a:lstStyle/>
          <a:p>
            <a:pPr eaLnBrk="1" hangingPunct="1">
              <a:lnSpc>
                <a:spcPct val="90000"/>
              </a:lnSpc>
            </a:pPr>
            <a:r>
              <a:rPr lang="en-US" altLang="en-US" smtClean="0"/>
              <a:t>Acts as a relay of application-level traffic</a:t>
            </a:r>
          </a:p>
          <a:p>
            <a:pPr lvl="1" eaLnBrk="1" hangingPunct="1">
              <a:lnSpc>
                <a:spcPct val="90000"/>
              </a:lnSpc>
            </a:pPr>
            <a:r>
              <a:rPr lang="en-US" altLang="en-US" smtClean="0"/>
              <a:t>User contacts gateway with remote host name</a:t>
            </a:r>
          </a:p>
          <a:p>
            <a:pPr lvl="1" eaLnBrk="1" hangingPunct="1">
              <a:lnSpc>
                <a:spcPct val="90000"/>
              </a:lnSpc>
            </a:pPr>
            <a:r>
              <a:rPr lang="en-US" altLang="en-US" smtClean="0"/>
              <a:t>Authenticates themselves</a:t>
            </a:r>
          </a:p>
          <a:p>
            <a:pPr lvl="1" eaLnBrk="1" hangingPunct="1">
              <a:lnSpc>
                <a:spcPct val="90000"/>
              </a:lnSpc>
            </a:pPr>
            <a:r>
              <a:rPr lang="en-US" altLang="en-US" smtClean="0"/>
              <a:t>Gateway contacts application on remote host and relays TCP segments between server and user</a:t>
            </a:r>
          </a:p>
          <a:p>
            <a:pPr eaLnBrk="1" hangingPunct="1">
              <a:lnSpc>
                <a:spcPct val="90000"/>
              </a:lnSpc>
            </a:pPr>
            <a:r>
              <a:rPr lang="en-US" altLang="en-US" smtClean="0"/>
              <a:t>Must have proxy code for each application</a:t>
            </a:r>
          </a:p>
          <a:p>
            <a:pPr lvl="1" eaLnBrk="1" hangingPunct="1">
              <a:lnSpc>
                <a:spcPct val="90000"/>
              </a:lnSpc>
            </a:pPr>
            <a:r>
              <a:rPr lang="en-US" altLang="en-US" smtClean="0"/>
              <a:t>May restrict application features supported</a:t>
            </a:r>
          </a:p>
          <a:p>
            <a:pPr lvl="1" eaLnBrk="1" hangingPunct="1">
              <a:lnSpc>
                <a:spcPct val="90000"/>
              </a:lnSpc>
            </a:pPr>
            <a:r>
              <a:rPr lang="en-US" altLang="en-US" smtClean="0"/>
              <a:t>Some services may not be available</a:t>
            </a:r>
          </a:p>
          <a:p>
            <a:pPr eaLnBrk="1" hangingPunct="1">
              <a:lnSpc>
                <a:spcPct val="90000"/>
              </a:lnSpc>
            </a:pPr>
            <a:r>
              <a:rPr lang="en-US" altLang="en-US" smtClean="0"/>
              <a:t>More secure than packet filters</a:t>
            </a:r>
          </a:p>
          <a:p>
            <a:pPr eaLnBrk="1" hangingPunct="1">
              <a:lnSpc>
                <a:spcPct val="90000"/>
              </a:lnSpc>
            </a:pPr>
            <a:r>
              <a:rPr lang="en-US" altLang="en-US" smtClean="0"/>
              <a:t>But have higher overheads </a:t>
            </a:r>
          </a:p>
        </p:txBody>
      </p:sp>
    </p:spTree>
    <p:extLst>
      <p:ext uri="{BB962C8B-B14F-4D97-AF65-F5344CB8AC3E}">
        <p14:creationId xmlns:p14="http://schemas.microsoft.com/office/powerpoint/2010/main" val="34412788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smtClean="0"/>
              <a:t>Circuit-Level Gateway</a:t>
            </a:r>
          </a:p>
        </p:txBody>
      </p:sp>
      <p:sp>
        <p:nvSpPr>
          <p:cNvPr id="28675" name="Rectangle 3"/>
          <p:cNvSpPr>
            <a:spLocks noGrp="1" noChangeArrowheads="1"/>
          </p:cNvSpPr>
          <p:nvPr>
            <p:ph type="body" idx="1"/>
          </p:nvPr>
        </p:nvSpPr>
        <p:spPr>
          <a:xfrm>
            <a:off x="1981200" y="1676400"/>
            <a:ext cx="8229600" cy="4800600"/>
          </a:xfrm>
        </p:spPr>
        <p:txBody>
          <a:bodyPr/>
          <a:lstStyle/>
          <a:p>
            <a:pPr eaLnBrk="1" hangingPunct="1">
              <a:lnSpc>
                <a:spcPct val="90000"/>
              </a:lnSpc>
            </a:pPr>
            <a:r>
              <a:rPr lang="en-US" altLang="en-US" smtClean="0"/>
              <a:t>Sets up two TCP connections, to an inside user and to an outside host</a:t>
            </a:r>
          </a:p>
          <a:p>
            <a:pPr eaLnBrk="1" hangingPunct="1">
              <a:lnSpc>
                <a:spcPct val="90000"/>
              </a:lnSpc>
            </a:pPr>
            <a:r>
              <a:rPr lang="en-US" altLang="en-US" smtClean="0"/>
              <a:t>Once connection is established, relays TCP segments from one connection to the other without examining contents</a:t>
            </a:r>
          </a:p>
          <a:p>
            <a:pPr lvl="1" eaLnBrk="1" hangingPunct="1">
              <a:lnSpc>
                <a:spcPct val="90000"/>
              </a:lnSpc>
            </a:pPr>
            <a:r>
              <a:rPr lang="en-US" altLang="en-US" smtClean="0"/>
              <a:t>Hence independent of application logic</a:t>
            </a:r>
          </a:p>
          <a:p>
            <a:pPr lvl="1" eaLnBrk="1" hangingPunct="1">
              <a:lnSpc>
                <a:spcPct val="90000"/>
              </a:lnSpc>
            </a:pPr>
            <a:r>
              <a:rPr lang="en-US" altLang="en-US" smtClean="0"/>
              <a:t>Just determines whether relay is permitted</a:t>
            </a:r>
          </a:p>
          <a:p>
            <a:pPr eaLnBrk="1" hangingPunct="1">
              <a:lnSpc>
                <a:spcPct val="90000"/>
              </a:lnSpc>
            </a:pPr>
            <a:r>
              <a:rPr lang="en-US" altLang="en-US" smtClean="0"/>
              <a:t>Typically used when inside users trusted</a:t>
            </a:r>
          </a:p>
          <a:p>
            <a:pPr lvl="1" eaLnBrk="1" hangingPunct="1">
              <a:lnSpc>
                <a:spcPct val="90000"/>
              </a:lnSpc>
            </a:pPr>
            <a:r>
              <a:rPr lang="en-US" altLang="en-US" smtClean="0"/>
              <a:t>May use application-level gateway inbound and circuit-level gateway outbound</a:t>
            </a:r>
          </a:p>
          <a:p>
            <a:pPr lvl="1" eaLnBrk="1" hangingPunct="1">
              <a:lnSpc>
                <a:spcPct val="90000"/>
              </a:lnSpc>
            </a:pPr>
            <a:r>
              <a:rPr lang="en-US" altLang="en-US" smtClean="0"/>
              <a:t>Hence lower overheads </a:t>
            </a:r>
          </a:p>
        </p:txBody>
      </p:sp>
    </p:spTree>
    <p:extLst>
      <p:ext uri="{BB962C8B-B14F-4D97-AF65-F5344CB8AC3E}">
        <p14:creationId xmlns:p14="http://schemas.microsoft.com/office/powerpoint/2010/main" val="36152027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371600" y="352427"/>
            <a:ext cx="9601200" cy="1485900"/>
          </a:xfrm>
        </p:spPr>
        <p:txBody>
          <a:bodyPr/>
          <a:lstStyle/>
          <a:p>
            <a:r>
              <a:rPr lang="en-US" altLang="en-US" dirty="0" smtClean="0"/>
              <a:t>Packet Filtering vs Gateway vs Application-Level Firewall </a:t>
            </a:r>
          </a:p>
        </p:txBody>
      </p:sp>
      <p:pic>
        <p:nvPicPr>
          <p:cNvPr id="30723"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58275" y="1735137"/>
            <a:ext cx="4471771"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30046" y="1735138"/>
            <a:ext cx="432435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67077" y="4335462"/>
            <a:ext cx="4325937"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91567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Research Activity</a:t>
            </a:r>
            <a:endParaRPr lang="en-SG" dirty="0"/>
          </a:p>
        </p:txBody>
      </p:sp>
      <p:sp>
        <p:nvSpPr>
          <p:cNvPr id="3" name="Content Placeholder 2"/>
          <p:cNvSpPr>
            <a:spLocks noGrp="1"/>
          </p:cNvSpPr>
          <p:nvPr>
            <p:ph idx="1"/>
          </p:nvPr>
        </p:nvSpPr>
        <p:spPr/>
        <p:txBody>
          <a:bodyPr>
            <a:normAutofit/>
          </a:bodyPr>
          <a:lstStyle/>
          <a:p>
            <a:r>
              <a:rPr lang="en-SG" sz="2400" dirty="0" smtClean="0"/>
              <a:t>Discuss with your chosen team</a:t>
            </a:r>
          </a:p>
          <a:p>
            <a:r>
              <a:rPr lang="en-SG" sz="2400" dirty="0" smtClean="0"/>
              <a:t>You are required to </a:t>
            </a:r>
            <a:r>
              <a:rPr lang="en-SG" sz="2400" smtClean="0"/>
              <a:t>spend </a:t>
            </a:r>
            <a:r>
              <a:rPr lang="en-SG" sz="2400" smtClean="0"/>
              <a:t>2 </a:t>
            </a:r>
            <a:r>
              <a:rPr lang="en-SG" sz="2400" dirty="0" smtClean="0"/>
              <a:t>hour to research on the Internet on the different firewall topologies</a:t>
            </a:r>
          </a:p>
          <a:p>
            <a:r>
              <a:rPr lang="en-SG" sz="2400" dirty="0" smtClean="0"/>
              <a:t>Prepare a 10 slides presentation to go through each firewall topology and its advantages and disadvantages</a:t>
            </a:r>
          </a:p>
          <a:p>
            <a:r>
              <a:rPr lang="en-SG" sz="2400" dirty="0" smtClean="0"/>
              <a:t>Restrict your presentation to 15 mins max</a:t>
            </a:r>
          </a:p>
          <a:p>
            <a:pPr marL="0" indent="0">
              <a:buNone/>
            </a:pPr>
            <a:endParaRPr lang="en-SG" sz="2400" dirty="0" smtClean="0"/>
          </a:p>
          <a:p>
            <a:endParaRPr lang="en-SG" sz="2400" dirty="0"/>
          </a:p>
        </p:txBody>
      </p:sp>
    </p:spTree>
    <p:extLst>
      <p:ext uri="{BB962C8B-B14F-4D97-AF65-F5344CB8AC3E}">
        <p14:creationId xmlns:p14="http://schemas.microsoft.com/office/powerpoint/2010/main" val="1396265201"/>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TM10001105[[fn=Crop]]</Template>
  <TotalTime>38</TotalTime>
  <Words>3412</Words>
  <Application>Microsoft Office PowerPoint</Application>
  <PresentationFormat>Widescreen</PresentationFormat>
  <Paragraphs>275</Paragraphs>
  <Slides>24</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Franklin Gothic Book</vt:lpstr>
      <vt:lpstr>Arial</vt:lpstr>
      <vt:lpstr>Calibri</vt:lpstr>
      <vt:lpstr>Times</vt:lpstr>
      <vt:lpstr>Times New Roman</vt:lpstr>
      <vt:lpstr>Wingdings</vt:lpstr>
      <vt:lpstr>Crop</vt:lpstr>
      <vt:lpstr>VISIO</vt:lpstr>
      <vt:lpstr>    Chapter 4 - Basic network firewall topologies and setup</vt:lpstr>
      <vt:lpstr>What is a firewall?</vt:lpstr>
      <vt:lpstr>What is an attack?</vt:lpstr>
      <vt:lpstr>Edge Firewall</vt:lpstr>
      <vt:lpstr>Appliance Firewall</vt:lpstr>
      <vt:lpstr>Network Firewall</vt:lpstr>
      <vt:lpstr>Why use a firewall?</vt:lpstr>
      <vt:lpstr>Great first line of defense.</vt:lpstr>
      <vt:lpstr>Firewall Locations</vt:lpstr>
      <vt:lpstr>Network Defense Configuration: Double Inline Firewalls</vt:lpstr>
      <vt:lpstr>Network Defense Configuration: Load Balanced Firewalls</vt:lpstr>
      <vt:lpstr>Network Defense Configuration: Single T or Multihomed (Separate Zones) </vt:lpstr>
      <vt:lpstr>Network Defense Configuration: Distributed Firewall</vt:lpstr>
      <vt:lpstr>Bastion Hosts</vt:lpstr>
      <vt:lpstr>Firewall Topologies</vt:lpstr>
      <vt:lpstr>Network Defenses – with Logs</vt:lpstr>
      <vt:lpstr>Types of Firewalls</vt:lpstr>
      <vt:lpstr>Firewall Configurations</vt:lpstr>
      <vt:lpstr>Packet Filtering Firewall</vt:lpstr>
      <vt:lpstr>Stateful Inspection Firewall</vt:lpstr>
      <vt:lpstr>Application-Level (Proxy) Gateway</vt:lpstr>
      <vt:lpstr>Circuit-Level Gateway</vt:lpstr>
      <vt:lpstr>Packet Filtering vs Gateway vs Application-Level Firewall </vt:lpstr>
      <vt:lpstr>Research Activity</vt:lpstr>
    </vt:vector>
  </TitlesOfParts>
  <Company>Nanyang Polytechnic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Basic network firewall topologies and setup</dc:title>
  <dc:creator>TEO CHEA WAN</dc:creator>
  <cp:lastModifiedBy>TEO CHEA WAN</cp:lastModifiedBy>
  <cp:revision>6</cp:revision>
  <dcterms:created xsi:type="dcterms:W3CDTF">2018-03-19T04:24:01Z</dcterms:created>
  <dcterms:modified xsi:type="dcterms:W3CDTF">2018-04-02T06:56:17Z</dcterms:modified>
</cp:coreProperties>
</file>