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88" r:id="rId2"/>
  </p:sldMasterIdLst>
  <p:notesMasterIdLst>
    <p:notesMasterId r:id="rId41"/>
  </p:notesMasterIdLst>
  <p:sldIdLst>
    <p:sldId id="256" r:id="rId3"/>
    <p:sldId id="257" r:id="rId4"/>
    <p:sldId id="258"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8" r:id="rId22"/>
    <p:sldId id="279" r:id="rId23"/>
    <p:sldId id="280" r:id="rId24"/>
    <p:sldId id="281" r:id="rId25"/>
    <p:sldId id="282" r:id="rId26"/>
    <p:sldId id="284" r:id="rId27"/>
    <p:sldId id="285" r:id="rId28"/>
    <p:sldId id="286" r:id="rId29"/>
    <p:sldId id="287" r:id="rId30"/>
    <p:sldId id="288" r:id="rId31"/>
    <p:sldId id="293" r:id="rId32"/>
    <p:sldId id="294" r:id="rId33"/>
    <p:sldId id="295" r:id="rId34"/>
    <p:sldId id="296" r:id="rId35"/>
    <p:sldId id="297" r:id="rId36"/>
    <p:sldId id="298" r:id="rId37"/>
    <p:sldId id="300" r:id="rId38"/>
    <p:sldId id="301" r:id="rId39"/>
    <p:sldId id="302" r:id="rId40"/>
  </p:sldIdLst>
  <p:sldSz cx="9144000" cy="6858000" type="screen4x3"/>
  <p:notesSz cx="6858000" cy="9144000"/>
  <p:embeddedFontLst>
    <p:embeddedFont>
      <p:font typeface="Calibri" panose="020F0502020204030204" pitchFamily="34" charset="0"/>
      <p:regular r:id="rId42"/>
      <p:bold r:id="rId43"/>
      <p:italic r:id="rId44"/>
      <p:boldItalic r:id="rId45"/>
    </p:embeddedFont>
    <p:embeddedFont>
      <p:font typeface="Euphemia" panose="020B0503040102020104" pitchFamily="34" charset="0"/>
      <p:regular r:id="rId46"/>
    </p:embeddedFont>
    <p:embeddedFont>
      <p:font typeface="Segoe UI" panose="020B0502040204020203" pitchFamily="34" charset="0"/>
      <p:regular r:id="rId47"/>
      <p:bold r:id="rId48"/>
      <p:italic r:id="rId49"/>
      <p:boldItalic r:id="rId50"/>
    </p:embeddedFont>
    <p:embeddedFont>
      <p:font typeface="Verdana" panose="020B0604030504040204" pitchFamily="34" charset="0"/>
      <p:regular r:id="rId51"/>
      <p:bold r:id="rId52"/>
      <p:italic r:id="rId53"/>
      <p:boldItalic r:id="rId54"/>
    </p:embeddedFont>
  </p:embeddedFontLst>
  <p:custDataLst>
    <p:tags r:id="rId5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9" autoAdjust="0"/>
    <p:restoredTop sz="65789" autoAdjust="0"/>
  </p:normalViewPr>
  <p:slideViewPr>
    <p:cSldViewPr>
      <p:cViewPr varScale="1">
        <p:scale>
          <a:sx n="69" d="100"/>
          <a:sy n="69" d="100"/>
        </p:scale>
        <p:origin x="1470" y="78"/>
      </p:cViewPr>
      <p:guideLst>
        <p:guide orient="horz" pos="2160"/>
        <p:guide pos="2880"/>
      </p:guideLst>
    </p:cSldViewPr>
  </p:slideViewPr>
  <p:notesTextViewPr>
    <p:cViewPr>
      <p:scale>
        <a:sx n="1" d="1"/>
        <a:sy n="1" d="1"/>
      </p:scale>
      <p:origin x="0" y="0"/>
    </p:cViewPr>
  </p:notesTextViewPr>
  <p:notesViewPr>
    <p:cSldViewPr>
      <p:cViewPr varScale="1">
        <p:scale>
          <a:sx n="87" d="100"/>
          <a:sy n="87" d="100"/>
        </p:scale>
        <p:origin x="1686"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10.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5.fntdata"/><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 Id="rId54"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3.fntdata"/><Relationship Id="rId5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49ED8C-0CC1-4EDB-A3A9-6A04A0CB4135}" type="datetimeFigureOut">
              <a:rPr lang="en-US" smtClean="0"/>
              <a:t>6/24/2019</a:t>
            </a:fld>
            <a:endParaRPr lang="en-US"/>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BBCD6C-38EB-40C8-9EB1-1CDD56126DF1}" type="slidenum">
              <a:rPr lang="en-US" smtClean="0"/>
              <a:t>‹#›</a:t>
            </a:fld>
            <a:endParaRPr lang="en-US"/>
          </a:p>
        </p:txBody>
      </p:sp>
    </p:spTree>
    <p:extLst>
      <p:ext uri="{BB962C8B-B14F-4D97-AF65-F5344CB8AC3E}">
        <p14:creationId xmlns:p14="http://schemas.microsoft.com/office/powerpoint/2010/main" val="414351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dirty="0">
                <a:latin typeface="Arial"/>
                <a:ea typeface="Calibri"/>
                <a:cs typeface="Times New Roman"/>
              </a:rPr>
              <a:t>Presentation:</a:t>
            </a:r>
            <a:r>
              <a:rPr lang="en-US" sz="1000" b="1" dirty="0">
                <a:latin typeface="Arial"/>
                <a:ea typeface="Calibri"/>
                <a:cs typeface="Times New Roman"/>
              </a:rPr>
              <a:t> 90 minutes </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Times New Roman"/>
              </a:rPr>
              <a:t>Lab:</a:t>
            </a:r>
            <a:r>
              <a:rPr lang="en-US" sz="1000" b="1" dirty="0">
                <a:latin typeface="Arial"/>
                <a:ea typeface="Calibri"/>
                <a:cs typeface="Times New Roman"/>
              </a:rPr>
              <a:t> 80 minutes </a:t>
            </a:r>
            <a:endParaRPr lang="en-US" sz="1000" dirty="0">
              <a:latin typeface="Arial"/>
              <a:ea typeface="Calibri"/>
              <a:cs typeface="Times New Roman"/>
            </a:endParaRPr>
          </a:p>
          <a:p>
            <a:pPr>
              <a:lnSpc>
                <a:spcPct val="115000"/>
              </a:lnSpc>
              <a:spcAft>
                <a:spcPts val="1000"/>
              </a:spcAft>
            </a:pPr>
            <a:r>
              <a:rPr lang="en-US" sz="1000" dirty="0">
                <a:latin typeface="Arial"/>
                <a:ea typeface="Times New Roman"/>
                <a:cs typeface="Times New Roman"/>
              </a:rPr>
              <a:t>After completing this module, students will be able to:</a:t>
            </a:r>
            <a:endParaRPr lang="en-US" sz="1000" dirty="0">
              <a:latin typeface="Arial"/>
              <a:ea typeface="Calibri"/>
              <a:cs typeface="Times New Roman"/>
            </a:endParaRPr>
          </a:p>
          <a:p>
            <a:pPr marL="342900" marR="0" lvl="0" indent="-342900">
              <a:lnSpc>
                <a:spcPct val="115000"/>
              </a:lnSpc>
              <a:spcBef>
                <a:spcPts val="0"/>
              </a:spcBef>
              <a:spcAft>
                <a:spcPts val="995"/>
              </a:spcAft>
              <a:buFont typeface="Symbol"/>
              <a:buChar char=""/>
            </a:pPr>
            <a:r>
              <a:rPr lang="en-US" sz="1000" dirty="0">
                <a:solidFill>
                  <a:srgbClr val="000000"/>
                </a:solidFill>
                <a:effectLst/>
                <a:latin typeface="Arial"/>
                <a:ea typeface="Times New Roman"/>
                <a:cs typeface="Segoe UI"/>
              </a:rPr>
              <a:t>Explain what Group Policy is.</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dirty="0">
                <a:solidFill>
                  <a:srgbClr val="000000"/>
                </a:solidFill>
                <a:effectLst/>
                <a:latin typeface="Arial"/>
                <a:ea typeface="Times New Roman"/>
                <a:cs typeface="Segoe UI"/>
              </a:rPr>
              <a:t>Implement and administer Group Policy Objects (GPOs).</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dirty="0">
                <a:solidFill>
                  <a:srgbClr val="000000"/>
                </a:solidFill>
                <a:effectLst/>
                <a:latin typeface="Arial"/>
                <a:ea typeface="Times New Roman"/>
                <a:cs typeface="Segoe UI"/>
              </a:rPr>
              <a:t>Describe Group Policy scope and Group Policy processing.</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dirty="0">
                <a:solidFill>
                  <a:srgbClr val="000000"/>
                </a:solidFill>
                <a:effectLst/>
                <a:latin typeface="Arial"/>
                <a:ea typeface="Times New Roman"/>
                <a:cs typeface="Segoe UI"/>
              </a:rPr>
              <a:t>Troubleshoot GPO application.</a:t>
            </a:r>
            <a:endParaRPr lang="en-US" sz="1000" dirty="0">
              <a:effectLst/>
              <a:latin typeface="Arial"/>
              <a:ea typeface="Times New Roman"/>
              <a:cs typeface="Times New Roman"/>
            </a:endParaRPr>
          </a:p>
          <a:p>
            <a:pPr>
              <a:lnSpc>
                <a:spcPct val="115000"/>
              </a:lnSpc>
              <a:spcAft>
                <a:spcPts val="995"/>
              </a:spcAft>
            </a:pPr>
            <a:r>
              <a:rPr lang="en-US" sz="1000" b="1" dirty="0">
                <a:latin typeface="Arial"/>
                <a:ea typeface="Calibri"/>
                <a:cs typeface="Times New Roman"/>
              </a:rPr>
              <a:t>Required materials </a:t>
            </a:r>
            <a:endParaRPr lang="en-US" sz="1000" dirty="0">
              <a:latin typeface="Arial"/>
              <a:ea typeface="Calibri"/>
              <a:cs typeface="Times New Roman"/>
            </a:endParaRPr>
          </a:p>
          <a:p>
            <a:pPr>
              <a:lnSpc>
                <a:spcPct val="115000"/>
              </a:lnSpc>
              <a:spcAft>
                <a:spcPts val="995"/>
              </a:spcAft>
            </a:pPr>
            <a:r>
              <a:rPr lang="en-US" sz="1000" dirty="0">
                <a:latin typeface="Arial"/>
                <a:ea typeface="Calibri"/>
                <a:cs typeface="Segoe UI"/>
              </a:rPr>
              <a:t>To teach this module, you need the Microsoft Office PowerPoint file </a:t>
            </a:r>
            <a:r>
              <a:rPr lang="en-US" sz="1000" b="1" dirty="0">
                <a:latin typeface="Arial"/>
                <a:ea typeface="Calibri"/>
                <a:cs typeface="Segoe UI"/>
              </a:rPr>
              <a:t>20742B_05.pptx</a:t>
            </a:r>
            <a:r>
              <a:rPr lang="en-US" sz="1000" dirty="0">
                <a:latin typeface="Arial"/>
                <a:ea typeface="Calibri"/>
                <a:cs typeface="Segoe UI"/>
              </a:rPr>
              <a:t>.</a:t>
            </a:r>
            <a:endParaRPr lang="en-US" sz="1000" dirty="0">
              <a:latin typeface="Arial"/>
              <a:ea typeface="Calibri"/>
              <a:cs typeface="Times New Roman"/>
            </a:endParaRPr>
          </a:p>
          <a:p>
            <a:pPr>
              <a:lnSpc>
                <a:spcPct val="115000"/>
              </a:lnSpc>
              <a:spcAft>
                <a:spcPts val="995"/>
              </a:spcAft>
            </a:pPr>
            <a:r>
              <a:rPr lang="en-US" sz="1000" b="1" dirty="0">
                <a:latin typeface="Arial"/>
                <a:ea typeface="Calibri"/>
                <a:cs typeface="Times New Roman"/>
              </a:rPr>
              <a:t>Preparation tasks </a:t>
            </a:r>
            <a:endParaRPr lang="en-US" sz="1000" dirty="0">
              <a:latin typeface="Arial"/>
              <a:ea typeface="Calibri"/>
              <a:cs typeface="Times New Roman"/>
            </a:endParaRPr>
          </a:p>
          <a:p>
            <a:pPr>
              <a:lnSpc>
                <a:spcPct val="115000"/>
              </a:lnSpc>
              <a:spcAft>
                <a:spcPts val="995"/>
              </a:spcAft>
            </a:pPr>
            <a:r>
              <a:rPr lang="en-US" sz="1000" dirty="0">
                <a:latin typeface="Arial"/>
                <a:ea typeface="Calibri"/>
                <a:cs typeface="Times New Roman"/>
              </a:rPr>
              <a:t>To prepare for this module:</a:t>
            </a:r>
          </a:p>
          <a:p>
            <a:pPr marL="342900" marR="0" lvl="0" indent="-342900">
              <a:lnSpc>
                <a:spcPct val="115000"/>
              </a:lnSpc>
              <a:spcBef>
                <a:spcPts val="0"/>
              </a:spcBef>
              <a:spcAft>
                <a:spcPts val="995"/>
              </a:spcAft>
              <a:buFont typeface="Symbol"/>
              <a:buChar char=""/>
            </a:pPr>
            <a:r>
              <a:rPr lang="en-US" sz="1000" dirty="0">
                <a:effectLst/>
                <a:latin typeface="Arial"/>
                <a:ea typeface="Times New Roman"/>
                <a:cs typeface="Times New Roman"/>
              </a:rPr>
              <a:t>Read all of the materials for this module.</a:t>
            </a:r>
          </a:p>
          <a:p>
            <a:pPr marL="342900" marR="0" lvl="0" indent="-342900">
              <a:lnSpc>
                <a:spcPct val="115000"/>
              </a:lnSpc>
              <a:spcBef>
                <a:spcPts val="0"/>
              </a:spcBef>
              <a:spcAft>
                <a:spcPts val="995"/>
              </a:spcAft>
              <a:buFont typeface="Symbol"/>
              <a:buChar char=""/>
            </a:pPr>
            <a:r>
              <a:rPr lang="en-US" sz="1000" dirty="0">
                <a:effectLst/>
                <a:latin typeface="Arial"/>
                <a:ea typeface="Times New Roman"/>
                <a:cs typeface="Times New Roman"/>
              </a:rPr>
              <a:t>Practice performing the demonstrations and labs.</a:t>
            </a:r>
          </a:p>
          <a:p>
            <a:pPr marL="342900" marR="0" lvl="0" indent="-342900">
              <a:lnSpc>
                <a:spcPct val="115000"/>
              </a:lnSpc>
              <a:spcBef>
                <a:spcPts val="0"/>
              </a:spcBef>
              <a:spcAft>
                <a:spcPts val="995"/>
              </a:spcAft>
              <a:buFont typeface="Symbol"/>
              <a:buChar char=""/>
            </a:pPr>
            <a:r>
              <a:rPr lang="en-US" sz="1000" dirty="0">
                <a:effectLst/>
                <a:latin typeface="Arial"/>
                <a:ea typeface="Times New Roman"/>
                <a:cs typeface="Times New Roman"/>
              </a:rPr>
              <a:t>Work through the Module Review and Takeaways section and determine how you will use the information to reinforce student learning and promote knowledge transfer to on-the-job performance.</a:t>
            </a:r>
          </a:p>
          <a:p>
            <a:pPr fontAlgn="base">
              <a:lnSpc>
                <a:spcPct val="90000"/>
              </a:lnSpc>
              <a:spcAft>
                <a:spcPts val="720"/>
              </a:spcAft>
            </a:pPr>
            <a:r>
              <a:rPr lang="en-US" sz="1000" dirty="0">
                <a:effectLst/>
                <a:latin typeface="Arial"/>
                <a:ea typeface="Times New Roman"/>
                <a:cs typeface="Segoe UI"/>
              </a:rPr>
              <a:t>As you prepare for this class, it is imperative that you complete the labs yourself. This gives you an understanding of how the labs work and the concepts that each covers, so that you can provide meaningful hints to students who might have issues. Furthermore, it will help guide your lecture to ensure that you discuss the concepts that the labs cover.</a:t>
            </a:r>
            <a:endParaRPr lang="en-US" sz="1000" dirty="0">
              <a:effectLst/>
              <a:latin typeface="Arial"/>
              <a:ea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1</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983650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Segoe UI"/>
              </a:rPr>
              <a:t>Introduce the core components and functionality of the Group Policy infrastructure based on Windows operating systems. Prepare students for managing GPOs, GPO links, and GPO processing.</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2</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1224313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dirty="0">
                <a:latin typeface="Arial"/>
                <a:ea typeface="Calibri"/>
                <a:cs typeface="Segoe UI"/>
              </a:rPr>
              <a:t>In this lesson, provide an overview of Group Policy. The goal of this lesson is to introduce the core concepts, terms, and components of Group Policy so that students have a big-picture understanding of Group Policy. They must see the overview and have a familiarity for the pieces and how they fit together. Do not go into too much detail about any one concept, term, or component. Remaining lessons in this module provide greater detail about each concept, term, and component.</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Segoe UI"/>
              </a:rPr>
              <a:t>We recommend that you read the text in the student manual for this lesson and use that text as a guide or even as a script for delivering this module. The text provides just enough detail to get students on the same page, regardless of their previous experience levels.</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Segoe UI"/>
              </a:rPr>
              <a:t>We also recommended that rather than stepping through the slides, you demonstrate functionalities as much as possible in the UI while you discuss policy settings, GPOs, and GPO links. Again, the text in the Workbook provides a guide for the demonstrations. You can use the policy setting that restricts access to the registry tools and then follow that through a GPO, linking the GPO to an </a:t>
            </a:r>
            <a:r>
              <a:rPr lang="en-US" sz="1000" dirty="0">
                <a:solidFill>
                  <a:srgbClr val="000000"/>
                </a:solidFill>
                <a:latin typeface="Arial"/>
                <a:ea typeface="Calibri"/>
                <a:cs typeface="Segoe UI"/>
              </a:rPr>
              <a:t>organizational unit (</a:t>
            </a:r>
            <a:r>
              <a:rPr lang="en-US" sz="1000" dirty="0">
                <a:latin typeface="Arial"/>
                <a:ea typeface="Calibri"/>
                <a:cs typeface="Segoe UI"/>
              </a:rPr>
              <a:t>OU), and then perhaps even showing the results of the GPO on a client.</a:t>
            </a:r>
          </a:p>
          <a:p>
            <a:pPr>
              <a:lnSpc>
                <a:spcPct val="115000"/>
              </a:lnSpc>
              <a:spcAft>
                <a:spcPts val="1000"/>
              </a:spcAft>
            </a:pPr>
            <a:r>
              <a:rPr lang="en-US" sz="1000" b="1" dirty="0">
                <a:latin typeface="Arial"/>
                <a:ea typeface="Calibri"/>
                <a:cs typeface="Segoe UI"/>
              </a:rPr>
              <a:t>Categorize Activity</a:t>
            </a:r>
          </a:p>
          <a:p>
            <a:pPr>
              <a:lnSpc>
                <a:spcPct val="115000"/>
              </a:lnSpc>
              <a:spcAft>
                <a:spcPts val="1000"/>
              </a:spcAft>
            </a:pPr>
            <a:r>
              <a:rPr lang="en-US" sz="1000" b="1" dirty="0">
                <a:latin typeface="Arial"/>
                <a:ea typeface="Calibri"/>
                <a:cs typeface="Segoe UI"/>
              </a:rPr>
              <a:t>Question</a:t>
            </a:r>
          </a:p>
          <a:p>
            <a:pPr>
              <a:lnSpc>
                <a:spcPct val="115000"/>
              </a:lnSpc>
              <a:spcAft>
                <a:spcPts val="1000"/>
              </a:spcAft>
            </a:pPr>
            <a:r>
              <a:rPr lang="en-US" sz="1000" dirty="0">
                <a:latin typeface="Arial"/>
                <a:ea typeface="Calibri"/>
                <a:cs typeface="Segoe UI"/>
              </a:rPr>
              <a:t>Categorize each item into the appropriate category. Indicate your answer by writing the category number to the right of each item.</a:t>
            </a:r>
          </a:p>
          <a:p>
            <a:pPr>
              <a:lnSpc>
                <a:spcPct val="115000"/>
              </a:lnSpc>
              <a:spcAft>
                <a:spcPts val="1000"/>
              </a:spcAft>
            </a:pPr>
            <a:r>
              <a:rPr lang="en-US" sz="1000" b="1" dirty="0">
                <a:latin typeface="Arial"/>
                <a:ea typeface="Calibri"/>
                <a:cs typeface="Segoe UI"/>
              </a:rPr>
              <a:t>Answer</a:t>
            </a:r>
          </a:p>
          <a:p>
            <a:pPr>
              <a:lnSpc>
                <a:spcPct val="115000"/>
              </a:lnSpc>
              <a:spcAft>
                <a:spcPts val="1000"/>
              </a:spcAft>
            </a:pPr>
            <a:r>
              <a:rPr lang="en-US" sz="1000" b="1" dirty="0">
                <a:latin typeface="Arial"/>
                <a:ea typeface="Calibri"/>
                <a:cs typeface="Segoe UI"/>
              </a:rPr>
              <a:t>Category 1: Can link GPOs to</a:t>
            </a:r>
          </a:p>
          <a:p>
            <a:pPr>
              <a:lnSpc>
                <a:spcPct val="115000"/>
              </a:lnSpc>
              <a:spcAft>
                <a:spcPts val="1000"/>
              </a:spcAft>
            </a:pPr>
            <a:r>
              <a:rPr lang="en-US" sz="1000" dirty="0">
                <a:latin typeface="Arial"/>
                <a:ea typeface="Calibri"/>
                <a:cs typeface="Segoe UI"/>
              </a:rPr>
              <a:t>Domain</a:t>
            </a:r>
          </a:p>
          <a:p>
            <a:pPr>
              <a:lnSpc>
                <a:spcPct val="115000"/>
              </a:lnSpc>
              <a:spcAft>
                <a:spcPts val="1000"/>
              </a:spcAft>
            </a:pPr>
            <a:r>
              <a:rPr lang="en-US" sz="1000" dirty="0">
                <a:latin typeface="Arial"/>
                <a:ea typeface="Calibri"/>
                <a:cs typeface="Segoe UI"/>
              </a:rPr>
              <a:t>Organizational unit</a:t>
            </a:r>
          </a:p>
          <a:p>
            <a:pPr>
              <a:lnSpc>
                <a:spcPct val="115000"/>
              </a:lnSpc>
              <a:spcAft>
                <a:spcPts val="1000"/>
              </a:spcAft>
            </a:pPr>
            <a:r>
              <a:rPr lang="en-US" sz="1000" dirty="0">
                <a:latin typeface="Arial"/>
                <a:ea typeface="Calibri"/>
                <a:cs typeface="Segoe UI"/>
              </a:rPr>
              <a:t>Site</a:t>
            </a:r>
          </a:p>
        </p:txBody>
      </p:sp>
      <p:sp>
        <p:nvSpPr>
          <p:cNvPr id="4" name="Slide Number Placeholder 3"/>
          <p:cNvSpPr>
            <a:spLocks noGrp="1"/>
          </p:cNvSpPr>
          <p:nvPr>
            <p:ph type="sldNum" sz="quarter" idx="10"/>
          </p:nvPr>
        </p:nvSpPr>
        <p:spPr/>
        <p:txBody>
          <a:bodyPr/>
          <a:lstStyle/>
          <a:p>
            <a:fld id="{F0BBCD6C-38EB-40C8-9EB1-1CDD56126DF1}" type="slidenum">
              <a:rPr lang="en-US" smtClean="0"/>
              <a:t>3</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US" sz="1000">
                <a:latin typeface="Arial"/>
              </a:rPr>
              <a:t>(More notes on the next slide)</a:t>
            </a:r>
          </a:p>
        </p:txBody>
      </p:sp>
    </p:spTree>
    <p:extLst>
      <p:ext uri="{BB962C8B-B14F-4D97-AF65-F5344CB8AC3E}">
        <p14:creationId xmlns:p14="http://schemas.microsoft.com/office/powerpoint/2010/main" val="350403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Because there are so many components within Group Policy, it is helpful to start by taking a step back from the technology. Make sure that students understand the broad concept and business value of configuration management.</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By presenting configuration management as three elements—setting, scope, and application—you create a framework in the students’ minds for understanding the role of each Group Policy component. Explain that with configuration management, and Group Policy, in particular, information technology (IT) administrators can automate the management of users and computers. This simplifies administrative tasks and reduces IT costs. Administrators can implement security settings, enforce IT policies, and distribute software consistently for the local computer or across a given site, domain, or range of OUs.</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The information assurance topic that builds the case for GPO usage is configuration management. This is an industry best practice that requires emphasis.</a:t>
            </a:r>
            <a:r>
              <a:rPr lang="en-US" sz="1000">
                <a:latin typeface="Arial"/>
                <a:ea typeface="Calibri"/>
                <a:cs typeface="Times New Roman"/>
              </a:rPr>
              <a:t> </a:t>
            </a:r>
            <a:r>
              <a:rPr lang="en-US" sz="1000">
                <a:latin typeface="Arial"/>
                <a:ea typeface="Calibri"/>
                <a:cs typeface="Segoe UI"/>
              </a:rPr>
              <a:t>Resultant Set of Policy (RSoP) also provides good documentation for the standardization of computers and user accounts. Furthermore, this is a good place to mention how an organization’s security posture improves with the effective use of Group Policy. GPOs also are a method for mitigating the risk associated with specific security threats that organizations face.</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4</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065611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F0BBCD6C-38EB-40C8-9EB1-1CDD56126DF1}" type="slidenum">
              <a:rPr lang="en-US" smtClean="0"/>
              <a:t>5</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051370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Segoe UI"/>
              </a:rPr>
              <a:t>Consider demonstrating some of the settings that the slide lists.</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6</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827993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Segoe UI"/>
              </a:rPr>
              <a:t>Consider demonstrating each point in the slide to help reinforce student understanding.</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7</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3052307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Mention that a GPO, and all of the settings that it contains, does not take effect until you have defined its scope. The first step to scoping a GPO is linking it to a site, domain, or OU. Introduce students to the mnemonic device: Site-Domain-OU (S-D-OU). </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Emphasize that GPOs apply to users and computers only, and not to groups, despite the </a:t>
            </a:r>
            <a:r>
              <a:rPr lang="en-US" sz="1000">
                <a:latin typeface="Arial"/>
                <a:ea typeface="Calibri"/>
                <a:cs typeface="Times New Roman"/>
              </a:rPr>
              <a:t>Group Policy</a:t>
            </a:r>
            <a:r>
              <a:rPr lang="en-US" sz="1000" i="1">
                <a:latin typeface="Arial"/>
                <a:ea typeface="Calibri"/>
                <a:cs typeface="Times New Roman"/>
              </a:rPr>
              <a:t> </a:t>
            </a:r>
            <a:r>
              <a:rPr lang="en-US" sz="1000">
                <a:latin typeface="Arial"/>
                <a:ea typeface="Calibri"/>
                <a:cs typeface="Segoe UI"/>
              </a:rPr>
              <a:t>name. If you choose to demonstrate the points on the slide, create a new GPO, and then link it to the domain. Emphasize the idea that the link or links define the maximum scope of the GPO. </a:t>
            </a:r>
            <a:endParaRPr lang="en-US" sz="1000">
              <a:latin typeface="Arial"/>
              <a:ea typeface="Calibri"/>
              <a:cs typeface="Times New Roman"/>
            </a:endParaRPr>
          </a:p>
          <a:p>
            <a:pPr>
              <a:lnSpc>
                <a:spcPct val="115000"/>
              </a:lnSpc>
              <a:spcAft>
                <a:spcPts val="1000"/>
              </a:spcAft>
            </a:pPr>
            <a:r>
              <a:rPr lang="en-US" sz="1000" b="1">
                <a:latin typeface="Arial"/>
                <a:ea typeface="Calibri"/>
                <a:cs typeface="Times New Roman"/>
              </a:rPr>
              <a:t>Discussion prompt: </a:t>
            </a:r>
            <a:r>
              <a:rPr lang="en-US" sz="1000">
                <a:latin typeface="Arial"/>
                <a:ea typeface="Calibri"/>
                <a:cs typeface="Segoe UI"/>
              </a:rPr>
              <a:t>Pose a question: What if you do not want the GPO settings to apply to all objects within the scope?</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Use the question to transition to the concept of security group filtering, emphasizing that such filtering creates a subset of objects within the broader scope of the GPO link.</a:t>
            </a:r>
            <a:endParaRPr lang="en-US" sz="1000">
              <a:latin typeface="Arial"/>
              <a:ea typeface="Calibri"/>
              <a:cs typeface="Times New Roman"/>
            </a:endParaRPr>
          </a:p>
          <a:p>
            <a:pPr>
              <a:lnSpc>
                <a:spcPct val="115000"/>
              </a:lnSpc>
              <a:spcAft>
                <a:spcPts val="1000"/>
              </a:spcAft>
            </a:pPr>
            <a:r>
              <a:rPr lang="en-US" sz="1000" b="1">
                <a:latin typeface="Arial"/>
                <a:ea typeface="Calibri"/>
                <a:cs typeface="Times New Roman"/>
              </a:rPr>
              <a:t>Important note:</a:t>
            </a:r>
            <a:endParaRPr lang="en-US" sz="1000">
              <a:latin typeface="Arial"/>
              <a:ea typeface="Calibri"/>
              <a:cs typeface="Times New Roman"/>
            </a:endParaRPr>
          </a:p>
          <a:p>
            <a:pPr>
              <a:lnSpc>
                <a:spcPct val="115000"/>
              </a:lnSpc>
              <a:spcAft>
                <a:spcPts val="1000"/>
              </a:spcAft>
            </a:pPr>
            <a:r>
              <a:rPr lang="en-US" sz="1000">
                <a:latin typeface="Arial"/>
                <a:ea typeface="Calibri"/>
                <a:cs typeface="Times New Roman"/>
              </a:rPr>
              <a:t>Many experienced administrators rely too heavily on GPO links to manage the scope of GPOs. This often leads to less-than-ideal design of Active Directory Domain Services (AD DS) OUs at the expense of efficiently applied and managed security, such as with access control lists (ACLs) and delegation. </a:t>
            </a:r>
          </a:p>
          <a:p>
            <a:pPr>
              <a:lnSpc>
                <a:spcPct val="115000"/>
              </a:lnSpc>
              <a:spcAft>
                <a:spcPts val="1000"/>
              </a:spcAft>
            </a:pPr>
            <a:r>
              <a:rPr lang="en-US" sz="1000">
                <a:latin typeface="Arial"/>
                <a:ea typeface="Calibri"/>
                <a:cs typeface="Segoe UI"/>
              </a:rPr>
              <a:t>Continue with a very brief discussion of Windows Management Instrumentation (WMI) filtering, keeping the discussion at a high level. Use the example of a policy setting that you want to apply to a certain operating system only. Define WMI filtering as a way of querying the system and then determining whether to apply a GPO.</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End the discussion with a mention of preferences targeting. The goal is simply to introduce the term and to prepare students for the idea that it is now possible to apply only part of a GPO to clients, as long as that </a:t>
            </a:r>
            <a:r>
              <a:rPr lang="en-US" sz="1000">
                <a:latin typeface="Arial"/>
                <a:ea typeface="Calibri"/>
                <a:cs typeface="Times New Roman"/>
              </a:rPr>
              <a:t>part</a:t>
            </a:r>
            <a:r>
              <a:rPr lang="en-US" sz="1000" i="1">
                <a:latin typeface="Arial"/>
                <a:ea typeface="Calibri"/>
                <a:cs typeface="Times New Roman"/>
              </a:rPr>
              <a:t> </a:t>
            </a:r>
            <a:r>
              <a:rPr lang="en-US" sz="1000">
                <a:latin typeface="Arial"/>
                <a:ea typeface="Calibri"/>
                <a:cs typeface="Segoe UI"/>
              </a:rPr>
              <a:t>is only a segment of preferences.</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8</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371477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a:latin typeface="Arial"/>
                <a:ea typeface="Calibri"/>
                <a:cs typeface="Times New Roman"/>
              </a:rPr>
              <a:t>While you explain that there are exceptions to the typical precedence in Group Policy processing, explain when you would use each of the following options:</a:t>
            </a:r>
            <a:endParaRPr lang="en-US" sz="1000">
              <a:latin typeface="Arial"/>
              <a:ea typeface="Calibri"/>
              <a:cs typeface="Times New Roman"/>
            </a:endParaRPr>
          </a:p>
          <a:p>
            <a:pPr marL="342900" marR="0" lvl="0" indent="-342900">
              <a:lnSpc>
                <a:spcPct val="115000"/>
              </a:lnSpc>
              <a:spcBef>
                <a:spcPts val="0"/>
              </a:spcBef>
              <a:spcAft>
                <a:spcPts val="995"/>
              </a:spcAft>
              <a:buFont typeface="Symbol"/>
              <a:buChar char=""/>
            </a:pPr>
            <a:r>
              <a:rPr lang="en-CA" sz="1000" b="1">
                <a:effectLst/>
                <a:latin typeface="Arial"/>
                <a:ea typeface="Calibri"/>
                <a:cs typeface="Times New Roman"/>
              </a:rPr>
              <a:t>Link Order</a:t>
            </a:r>
            <a:r>
              <a:rPr lang="en-CA" sz="1000">
                <a:effectLst/>
                <a:latin typeface="Arial"/>
                <a:ea typeface="Calibri"/>
                <a:cs typeface="Times New Roman"/>
              </a:rPr>
              <a:t>. To ensure that a specific GPO linked to an OU has precedence at that OU.</a:t>
            </a:r>
            <a:endParaRPr lang="en-US" sz="1000">
              <a:effectLst/>
              <a:latin typeface="Arial"/>
              <a:ea typeface="Calibri"/>
              <a:cs typeface="Times New Roman"/>
            </a:endParaRPr>
          </a:p>
          <a:p>
            <a:pPr marL="342900" marR="0" lvl="0" indent="-342900">
              <a:lnSpc>
                <a:spcPct val="115000"/>
              </a:lnSpc>
              <a:spcBef>
                <a:spcPts val="0"/>
              </a:spcBef>
              <a:spcAft>
                <a:spcPts val="995"/>
              </a:spcAft>
              <a:buFont typeface="Symbol"/>
              <a:buChar char=""/>
            </a:pPr>
            <a:r>
              <a:rPr lang="en-CA" sz="1000" b="1">
                <a:effectLst/>
                <a:latin typeface="Arial"/>
                <a:ea typeface="Calibri"/>
                <a:cs typeface="Times New Roman"/>
              </a:rPr>
              <a:t>Enforced</a:t>
            </a:r>
            <a:r>
              <a:rPr lang="en-CA" sz="1000">
                <a:effectLst/>
                <a:latin typeface="Arial"/>
                <a:ea typeface="Calibri"/>
                <a:cs typeface="Times New Roman"/>
              </a:rPr>
              <a:t>. To apply standardized settings for an organization or department.</a:t>
            </a:r>
            <a:endParaRPr lang="en-US" sz="1000">
              <a:effectLst/>
              <a:latin typeface="Arial"/>
              <a:ea typeface="Calibri"/>
              <a:cs typeface="Times New Roman"/>
            </a:endParaRPr>
          </a:p>
          <a:p>
            <a:pPr marL="342900" marR="0" lvl="0" indent="-342900">
              <a:lnSpc>
                <a:spcPct val="115000"/>
              </a:lnSpc>
              <a:spcBef>
                <a:spcPts val="0"/>
              </a:spcBef>
              <a:spcAft>
                <a:spcPts val="995"/>
              </a:spcAft>
              <a:buFont typeface="Symbol"/>
              <a:buChar char=""/>
            </a:pPr>
            <a:r>
              <a:rPr lang="en-CA" sz="1000" b="1">
                <a:effectLst/>
                <a:latin typeface="Arial"/>
                <a:ea typeface="Calibri"/>
                <a:cs typeface="Times New Roman"/>
              </a:rPr>
              <a:t>Block Inheritance</a:t>
            </a:r>
            <a:r>
              <a:rPr lang="en-CA" sz="1000">
                <a:effectLst/>
                <a:latin typeface="Arial"/>
                <a:ea typeface="Calibri"/>
                <a:cs typeface="Times New Roman"/>
              </a:rPr>
              <a:t>. To allow a department to operate independently of the GPOs applied in the rest of the organization.</a:t>
            </a:r>
            <a:endParaRPr lang="en-US" sz="1000">
              <a:effectLst/>
              <a:latin typeface="Arial"/>
              <a:ea typeface="Calibri"/>
              <a:cs typeface="Times New Roman"/>
            </a:endParaRPr>
          </a:p>
          <a:p>
            <a:pPr marL="342900" marR="0" lvl="0" indent="-342900">
              <a:lnSpc>
                <a:spcPct val="115000"/>
              </a:lnSpc>
              <a:spcBef>
                <a:spcPts val="0"/>
              </a:spcBef>
              <a:spcAft>
                <a:spcPts val="995"/>
              </a:spcAft>
              <a:buFont typeface="Symbol"/>
              <a:buChar char=""/>
            </a:pPr>
            <a:r>
              <a:rPr lang="en-CA" sz="1000" b="1">
                <a:effectLst/>
                <a:latin typeface="Arial"/>
                <a:ea typeface="Calibri"/>
                <a:cs typeface="Times New Roman"/>
              </a:rPr>
              <a:t>Link Enabled</a:t>
            </a:r>
            <a:r>
              <a:rPr lang="en-CA" sz="1000">
                <a:effectLst/>
                <a:latin typeface="Arial"/>
                <a:ea typeface="Calibri"/>
                <a:cs typeface="Times New Roman"/>
              </a:rPr>
              <a:t>. To disable processing of a GPO during troubleshooting.</a:t>
            </a:r>
            <a:endParaRPr lang="en-US" sz="1000">
              <a:effectLst/>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9</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958516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Use this topic to introduce the fact that Group Policy is applied by using client-side </a:t>
            </a:r>
            <a:r>
              <a:rPr lang="en-US" sz="1000">
                <a:latin typeface="Arial"/>
                <a:ea typeface="Calibri"/>
                <a:cs typeface="Times New Roman"/>
              </a:rPr>
              <a:t>pull</a:t>
            </a:r>
            <a:r>
              <a:rPr lang="en-US" sz="1000">
                <a:latin typeface="Arial"/>
                <a:ea typeface="Calibri"/>
                <a:cs typeface="Segoe UI"/>
              </a:rPr>
              <a:t> processes. Introduce students to the idea that there are two major phases to an application. First, the Group Policy Client service asks AD DS which GPOs to apply. Then, enhanced GPOs go to the client-side extensions, which apply the settings.</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Present the fact that most Group Policy client-side extensions apply settings only if the GPO has changed. This improves performance by eliminating unnecessary reapplications of the same settings. </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You also might choose to discuss the </a:t>
            </a:r>
            <a:r>
              <a:rPr lang="en-US" sz="1000" b="1">
                <a:latin typeface="Arial"/>
                <a:ea typeface="Calibri"/>
                <a:cs typeface="Times New Roman"/>
              </a:rPr>
              <a:t>Always Wait For Network At Startup And Logon</a:t>
            </a:r>
            <a:r>
              <a:rPr lang="en-US" sz="1000">
                <a:latin typeface="Arial"/>
                <a:ea typeface="Calibri"/>
                <a:cs typeface="Segoe UI"/>
              </a:rPr>
              <a:t> policy setting as you discuss Group Policy refresh and application. Information about this setting is presented in the Workbook. </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10</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1309666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Times New Roman"/>
              </a:rPr>
              <a:t> Discuss the changes and improvements with students.</a:t>
            </a:r>
          </a:p>
        </p:txBody>
      </p:sp>
      <p:sp>
        <p:nvSpPr>
          <p:cNvPr id="4" name="Slide Number Placeholder 3"/>
          <p:cNvSpPr>
            <a:spLocks noGrp="1"/>
          </p:cNvSpPr>
          <p:nvPr>
            <p:ph type="sldNum" sz="quarter" idx="10"/>
          </p:nvPr>
        </p:nvSpPr>
        <p:spPr/>
        <p:txBody>
          <a:bodyPr/>
          <a:lstStyle/>
          <a:p>
            <a:fld id="{F0BBCD6C-38EB-40C8-9EB1-1CDD56126DF1}" type="slidenum">
              <a:rPr lang="en-US" smtClean="0"/>
              <a:t>11</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509752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dirty="0">
                <a:latin typeface="Arial"/>
                <a:ea typeface="Calibri"/>
                <a:cs typeface="Segoe UI"/>
              </a:rPr>
              <a:t>In this lesson, you will discuss how to implement Group Policy. Stay focused on the fundamentals in this module. The next module will take the students’ knowledge a step further.</a:t>
            </a:r>
            <a:endParaRPr lang="en-US" sz="1000" dirty="0">
              <a:latin typeface="Arial"/>
              <a:ea typeface="Calibri"/>
              <a:cs typeface="Times New Roman"/>
            </a:endParaRPr>
          </a:p>
          <a:p>
            <a:pPr>
              <a:lnSpc>
                <a:spcPct val="115000"/>
              </a:lnSpc>
              <a:spcAft>
                <a:spcPts val="1000"/>
              </a:spcAft>
            </a:pPr>
            <a:r>
              <a:rPr lang="en-US" sz="1000" b="1" dirty="0">
                <a:latin typeface="Arial"/>
                <a:ea typeface="Calibri"/>
                <a:cs typeface="Times New Roman"/>
              </a:rPr>
              <a:t>Question</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Times New Roman"/>
              </a:rPr>
              <a:t>Members of which built-in AD DS groups can create GPOs by default? (Select three.)</a:t>
            </a:r>
          </a:p>
          <a:p>
            <a:pPr>
              <a:lnSpc>
                <a:spcPct val="115000"/>
              </a:lnSpc>
              <a:spcAft>
                <a:spcPts val="1000"/>
              </a:spcAft>
            </a:pPr>
            <a:r>
              <a:rPr lang="en-US" sz="1000" dirty="0">
                <a:latin typeface="Arial"/>
                <a:ea typeface="Calibri"/>
                <a:cs typeface="Times New Roman"/>
              </a:rPr>
              <a:t>(   ) Option 1: Domain Admins</a:t>
            </a:r>
          </a:p>
          <a:p>
            <a:pPr>
              <a:lnSpc>
                <a:spcPct val="115000"/>
              </a:lnSpc>
              <a:spcAft>
                <a:spcPts val="1000"/>
              </a:spcAft>
            </a:pPr>
            <a:r>
              <a:rPr lang="en-US" sz="1000" dirty="0">
                <a:latin typeface="Arial"/>
                <a:ea typeface="Calibri"/>
                <a:cs typeface="Times New Roman"/>
              </a:rPr>
              <a:t>(   ) Option 2: Account Operators</a:t>
            </a:r>
          </a:p>
          <a:p>
            <a:pPr>
              <a:lnSpc>
                <a:spcPct val="115000"/>
              </a:lnSpc>
              <a:spcAft>
                <a:spcPts val="1000"/>
              </a:spcAft>
            </a:pPr>
            <a:r>
              <a:rPr lang="en-US" sz="1000" dirty="0">
                <a:latin typeface="Arial"/>
                <a:ea typeface="Calibri"/>
                <a:cs typeface="Times New Roman"/>
              </a:rPr>
              <a:t>(   ) Option 3: Enterprise Admins</a:t>
            </a:r>
          </a:p>
          <a:p>
            <a:pPr>
              <a:lnSpc>
                <a:spcPct val="115000"/>
              </a:lnSpc>
              <a:spcAft>
                <a:spcPts val="1000"/>
              </a:spcAft>
            </a:pPr>
            <a:r>
              <a:rPr lang="en-US" sz="1000" dirty="0">
                <a:latin typeface="Arial"/>
                <a:ea typeface="Calibri"/>
                <a:cs typeface="Times New Roman"/>
              </a:rPr>
              <a:t>(   ) Option 4: GPO Admins</a:t>
            </a:r>
          </a:p>
          <a:p>
            <a:pPr>
              <a:lnSpc>
                <a:spcPct val="115000"/>
              </a:lnSpc>
              <a:spcAft>
                <a:spcPts val="1000"/>
              </a:spcAft>
            </a:pPr>
            <a:r>
              <a:rPr lang="en-US" sz="1000" dirty="0">
                <a:latin typeface="Arial"/>
                <a:ea typeface="Calibri"/>
                <a:cs typeface="Times New Roman"/>
              </a:rPr>
              <a:t>(   ) Option 5: Group Policy Creator Owners</a:t>
            </a:r>
          </a:p>
          <a:p>
            <a:pPr>
              <a:lnSpc>
                <a:spcPct val="115000"/>
              </a:lnSpc>
              <a:spcAft>
                <a:spcPts val="1000"/>
              </a:spcAft>
            </a:pPr>
            <a:r>
              <a:rPr lang="en-US" sz="1000" b="1" dirty="0">
                <a:latin typeface="Arial"/>
                <a:ea typeface="Calibri"/>
                <a:cs typeface="Times New Roman"/>
              </a:rPr>
              <a:t>Answer</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Times New Roman"/>
              </a:rPr>
              <a:t>(√ ) Option 1: Domain Admins</a:t>
            </a:r>
          </a:p>
          <a:p>
            <a:pPr>
              <a:lnSpc>
                <a:spcPct val="115000"/>
              </a:lnSpc>
              <a:spcAft>
                <a:spcPts val="1000"/>
              </a:spcAft>
            </a:pPr>
            <a:r>
              <a:rPr lang="en-US" sz="1000" dirty="0">
                <a:latin typeface="Arial"/>
                <a:ea typeface="Calibri"/>
                <a:cs typeface="Times New Roman"/>
              </a:rPr>
              <a:t>(   ) Option 2: Account Operators</a:t>
            </a:r>
          </a:p>
          <a:p>
            <a:pPr>
              <a:lnSpc>
                <a:spcPct val="115000"/>
              </a:lnSpc>
              <a:spcAft>
                <a:spcPts val="1000"/>
              </a:spcAft>
            </a:pPr>
            <a:r>
              <a:rPr lang="en-US" sz="1000" dirty="0">
                <a:latin typeface="Arial"/>
                <a:ea typeface="Calibri"/>
                <a:cs typeface="Times New Roman"/>
              </a:rPr>
              <a:t>(√ ) Option 3: Enterprise Admins</a:t>
            </a:r>
          </a:p>
          <a:p>
            <a:pPr>
              <a:lnSpc>
                <a:spcPct val="115000"/>
              </a:lnSpc>
              <a:spcAft>
                <a:spcPts val="1000"/>
              </a:spcAft>
            </a:pPr>
            <a:r>
              <a:rPr lang="en-US" sz="1000" dirty="0">
                <a:latin typeface="Arial"/>
                <a:ea typeface="Calibri"/>
                <a:cs typeface="Times New Roman"/>
              </a:rPr>
              <a:t>(   ) Option 4: GPO Admins</a:t>
            </a:r>
          </a:p>
          <a:p>
            <a:pPr>
              <a:lnSpc>
                <a:spcPct val="115000"/>
              </a:lnSpc>
              <a:spcAft>
                <a:spcPts val="1000"/>
              </a:spcAft>
            </a:pPr>
            <a:r>
              <a:rPr lang="en-US" sz="1000" dirty="0">
                <a:latin typeface="Arial"/>
                <a:ea typeface="Calibri"/>
                <a:cs typeface="Times New Roman"/>
              </a:rPr>
              <a:t>(√ ) Option 5: Group Policy Creator Owners</a:t>
            </a:r>
          </a:p>
          <a:p>
            <a:pPr>
              <a:lnSpc>
                <a:spcPct val="115000"/>
              </a:lnSpc>
              <a:spcAft>
                <a:spcPts val="1000"/>
              </a:spcAft>
            </a:pPr>
            <a:r>
              <a:rPr lang="en-US" sz="1000" b="1" dirty="0">
                <a:latin typeface="Arial"/>
                <a:ea typeface="Calibri"/>
                <a:cs typeface="Times New Roman"/>
              </a:rPr>
              <a:t>Feedback</a:t>
            </a:r>
          </a:p>
          <a:p>
            <a:pPr>
              <a:lnSpc>
                <a:spcPct val="115000"/>
              </a:lnSpc>
              <a:spcAft>
                <a:spcPts val="1000"/>
              </a:spcAft>
            </a:pPr>
            <a:r>
              <a:rPr lang="en-US" sz="1000" dirty="0">
                <a:latin typeface="Arial"/>
                <a:ea typeface="Calibri"/>
                <a:cs typeface="Times New Roman"/>
              </a:rPr>
              <a:t>The GPO Admins group does not exist. The Domain Admins and Enterprise Admins groups can perform all administrative tasks in the domain including create GPOs. Group Policy Creator Owners is the only group that you can add users to if you want them to be able to create GPOs without getting administrative rights on the domain or forest. Account Operators do not have any permissions regarding Group Policy. Only administering users, computers and groups in AD DS.</a:t>
            </a:r>
          </a:p>
        </p:txBody>
      </p:sp>
      <p:sp>
        <p:nvSpPr>
          <p:cNvPr id="4" name="Slide Number Placeholder 3"/>
          <p:cNvSpPr>
            <a:spLocks noGrp="1"/>
          </p:cNvSpPr>
          <p:nvPr>
            <p:ph type="sldNum" sz="quarter" idx="10"/>
          </p:nvPr>
        </p:nvSpPr>
        <p:spPr/>
        <p:txBody>
          <a:bodyPr/>
          <a:lstStyle/>
          <a:p>
            <a:fld id="{F0BBCD6C-38EB-40C8-9EB1-1CDD56126DF1}" type="slidenum">
              <a:rPr lang="en-US" smtClean="0"/>
              <a:t>12</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3337889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Explain the purpose of the two default domain-based GPOs. Also, tell students that we do not recommend that they change settings in these GPOs. Rather, they should create new ones. Emphasize that Default Domain Controllers Policy is used only on domain controllers.</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Briefly mention local GPOs, but do not focus much on them. Emphasize that domain-based GPOs take precedence because of the processing order.</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13</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850949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Segoe UI"/>
              </a:rPr>
              <a:t>Consider showing students the Group Policy template and Group Policy container. </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14</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88614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Explain that you can store preconfigured administrative template settings in starter GPOs that act as templates for creating new GPOs. You can export these starter GPOs into </a:t>
            </a:r>
            <a:r>
              <a:rPr lang="en-US" sz="1000" b="1">
                <a:latin typeface="Arial"/>
                <a:ea typeface="Calibri"/>
                <a:cs typeface="Times New Roman"/>
              </a:rPr>
              <a:t>.cab</a:t>
            </a:r>
            <a:r>
              <a:rPr lang="en-US" sz="1000">
                <a:latin typeface="Arial"/>
                <a:ea typeface="Calibri"/>
                <a:cs typeface="Segoe UI"/>
              </a:rPr>
              <a:t> files that you can import easily into other areas of your organization. This can help provide consistency in large organizations. You can store comments about the starter GPO in the template itself.</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15</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509204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Like critical data and AD DS–related resources, you must backup GPOs to protect the integrity of AD DS and GPOs. The GPMC not only provides the basic backup and restore options, but it also provides additional control over GPOs for administrative purposes, including that:</a:t>
            </a:r>
            <a:endParaRPr lang="en-US" sz="1000">
              <a:latin typeface="Arial"/>
              <a:ea typeface="Calibri"/>
              <a:cs typeface="Times New Roman"/>
            </a:endParaRPr>
          </a:p>
          <a:p>
            <a:pPr marL="342900" marR="0" lvl="0" indent="-342900">
              <a:lnSpc>
                <a:spcPct val="115000"/>
              </a:lnSpc>
              <a:spcBef>
                <a:spcPts val="0"/>
              </a:spcBef>
              <a:spcAft>
                <a:spcPts val="995"/>
              </a:spcAft>
              <a:buFont typeface="Symbol"/>
              <a:buChar char=""/>
            </a:pPr>
            <a:r>
              <a:rPr lang="en-US" sz="1000">
                <a:effectLst/>
                <a:latin typeface="Arial"/>
                <a:ea typeface="Times New Roman"/>
                <a:cs typeface="Segoe UI"/>
              </a:rPr>
              <a:t>You can back up GPOs individually or as a whole with the GPMC. </a:t>
            </a:r>
            <a:endParaRPr lang="en-US" sz="100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a:effectLst/>
                <a:latin typeface="Arial"/>
                <a:ea typeface="Times New Roman"/>
                <a:cs typeface="Segoe UI"/>
              </a:rPr>
              <a:t>The restore interface provides the ability for you to view the settings stored in the backed-up version before restoring it.</a:t>
            </a:r>
            <a:endParaRPr lang="en-US" sz="100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a:effectLst/>
                <a:latin typeface="Arial"/>
                <a:ea typeface="Times New Roman"/>
                <a:cs typeface="Segoe UI"/>
              </a:rPr>
              <a:t>If you import a GPO, you can transfer settings from a backed-up GPO to an existing GPO. It does not modify the existing security or links on the destination GPO.</a:t>
            </a:r>
            <a:endParaRPr lang="en-US" sz="100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a:effectLst/>
                <a:latin typeface="Arial"/>
                <a:ea typeface="Times New Roman"/>
                <a:cs typeface="Segoe UI"/>
              </a:rPr>
              <a:t>You can copy GPOs by using the GPMC, both in the same domain and across domains.</a:t>
            </a:r>
            <a:endParaRPr lang="en-US" sz="1000">
              <a:effectLst/>
              <a:latin typeface="Arial"/>
              <a:ea typeface="Times New Roman"/>
              <a:cs typeface="Times New Roman"/>
            </a:endParaRPr>
          </a:p>
          <a:p>
            <a:pPr>
              <a:lnSpc>
                <a:spcPct val="115000"/>
              </a:lnSpc>
              <a:spcAft>
                <a:spcPts val="1000"/>
              </a:spcAft>
            </a:pPr>
            <a:r>
              <a:rPr lang="en-US" sz="1000">
                <a:latin typeface="Arial"/>
                <a:ea typeface="Calibri"/>
                <a:cs typeface="Segoe UI"/>
              </a:rPr>
              <a:t>Consider demonstrating how to perform these tasks.</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16</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68940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Segoe UI"/>
              </a:rPr>
              <a:t>Explain that you can delegate different aspects of GPO management. Emphasize that creating, linking, and editing GPOs are three separate operations and that having the right to perform one of these operations does not give you any rights to perform other operations. The administrator is the only user who has the rights to perform all of these actions by default. </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You can use </a:t>
            </a:r>
            <a:r>
              <a:rPr lang="en-US" sz="1000" b="1">
                <a:latin typeface="Arial"/>
                <a:ea typeface="Calibri"/>
                <a:cs typeface="Times New Roman"/>
              </a:rPr>
              <a:t>Delegation of Control Wizard</a:t>
            </a:r>
            <a:r>
              <a:rPr lang="en-US" sz="1000">
                <a:latin typeface="Arial"/>
                <a:ea typeface="Calibri"/>
                <a:cs typeface="Segoe UI"/>
              </a:rPr>
              <a:t> or the GPMC to delegate linking GPOs and to enable the use of reporting tools. Explain that you can use membership in the Group Policy Creator Owners group or through the GPMC to delegate the right to create new group policies. You can configure each policy to allow users or groups to edit that policy.</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Members of the Group Policy Creator Owners group can create new GPOs and edit or delete the GPOs that they create.</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Consider demonstrating how to perform these tasks.</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17</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3408331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b="1" dirty="0">
                <a:latin typeface="Arial"/>
                <a:ea typeface="Calibri"/>
                <a:cs typeface="Times New Roman"/>
              </a:rPr>
              <a:t>Question</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Times New Roman"/>
              </a:rPr>
              <a:t>It is possible to link more than one WMI filter to a GPO.</a:t>
            </a:r>
          </a:p>
          <a:p>
            <a:pPr>
              <a:lnSpc>
                <a:spcPct val="115000"/>
              </a:lnSpc>
              <a:spcAft>
                <a:spcPts val="1000"/>
              </a:spcAft>
            </a:pPr>
            <a:r>
              <a:rPr lang="en-US" sz="1000" dirty="0">
                <a:latin typeface="Arial"/>
                <a:ea typeface="Calibri"/>
                <a:cs typeface="Times New Roman"/>
              </a:rPr>
              <a:t>(   ) False</a:t>
            </a:r>
          </a:p>
          <a:p>
            <a:pPr>
              <a:lnSpc>
                <a:spcPct val="115000"/>
              </a:lnSpc>
              <a:spcAft>
                <a:spcPts val="1000"/>
              </a:spcAft>
            </a:pPr>
            <a:r>
              <a:rPr lang="en-US" sz="1000" dirty="0">
                <a:latin typeface="Arial"/>
                <a:ea typeface="Calibri"/>
                <a:cs typeface="Times New Roman"/>
              </a:rPr>
              <a:t>(   ) True</a:t>
            </a:r>
          </a:p>
          <a:p>
            <a:pPr>
              <a:lnSpc>
                <a:spcPct val="115000"/>
              </a:lnSpc>
              <a:spcAft>
                <a:spcPts val="1000"/>
              </a:spcAft>
            </a:pPr>
            <a:r>
              <a:rPr lang="en-US" sz="1000" b="1" dirty="0">
                <a:latin typeface="Arial"/>
                <a:ea typeface="Calibri"/>
                <a:cs typeface="Times New Roman"/>
              </a:rPr>
              <a:t>Answer</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Times New Roman"/>
              </a:rPr>
              <a:t>(√ ) False</a:t>
            </a:r>
          </a:p>
          <a:p>
            <a:pPr>
              <a:lnSpc>
                <a:spcPct val="115000"/>
              </a:lnSpc>
              <a:spcAft>
                <a:spcPts val="1000"/>
              </a:spcAft>
            </a:pPr>
            <a:r>
              <a:rPr lang="en-US" sz="1000" dirty="0">
                <a:latin typeface="Arial"/>
                <a:ea typeface="Calibri"/>
                <a:cs typeface="Times New Roman"/>
              </a:rPr>
              <a:t>(   ) True</a:t>
            </a:r>
          </a:p>
          <a:p>
            <a:pPr>
              <a:lnSpc>
                <a:spcPct val="115000"/>
              </a:lnSpc>
              <a:spcAft>
                <a:spcPts val="1000"/>
              </a:spcAft>
            </a:pPr>
            <a:r>
              <a:rPr lang="en-US" sz="1000" b="1" dirty="0">
                <a:latin typeface="Arial"/>
                <a:ea typeface="Calibri"/>
                <a:cs typeface="Times New Roman"/>
              </a:rPr>
              <a:t>Feedback</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Times New Roman"/>
              </a:rPr>
              <a:t>Although you cannot link more than one WMI filter to a GPO, you can create advanced WMI filters that include more than one WMI query.</a:t>
            </a:r>
          </a:p>
          <a:p>
            <a:pPr>
              <a:lnSpc>
                <a:spcPct val="115000"/>
              </a:lnSpc>
              <a:spcAft>
                <a:spcPts val="1000"/>
              </a:spcAft>
            </a:pPr>
            <a:endParaRPr lang="en-US"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18</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US" sz="1000">
                <a:latin typeface="Arial"/>
              </a:rPr>
              <a:t>(More notes on the next slide)</a:t>
            </a:r>
          </a:p>
        </p:txBody>
      </p:sp>
    </p:spTree>
    <p:extLst>
      <p:ext uri="{BB962C8B-B14F-4D97-AF65-F5344CB8AC3E}">
        <p14:creationId xmlns:p14="http://schemas.microsoft.com/office/powerpoint/2010/main" val="2930827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The key point of this topic is to explain what students can do with GPO links. It is very important to emphasize that a GPO link actually connects Group Policy settings to a container in AD DS. Also, explain in which state the link can be and the differences between these states. </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Consider demonstrating each of the activities described in the topic.</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19</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1430786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Segoe UI"/>
              </a:rPr>
              <a:t>Illustration depicting the generic Group Policy application order. You can use it to modify and enforce the L-S-D-OU (L-S-D-OU) mnemonic. </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20</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31471283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Segoe UI"/>
              </a:rPr>
              <a:t>While you discuss Group Policy inheritance and precedence, make sure that students understand that what is called </a:t>
            </a:r>
            <a:r>
              <a:rPr lang="en-US" sz="1000" i="1">
                <a:latin typeface="Arial"/>
                <a:ea typeface="Calibri"/>
                <a:cs typeface="Times New Roman"/>
              </a:rPr>
              <a:t>inheritance</a:t>
            </a:r>
            <a:r>
              <a:rPr lang="en-US" sz="1000">
                <a:latin typeface="Arial"/>
                <a:ea typeface="Calibri"/>
                <a:cs typeface="Segoe UI"/>
              </a:rPr>
              <a:t> is really just the effect of repeated, layered application of settings in GPOs, in a specific order.</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Consider demonstrating this topic’s points by creating GPOs and then enforcing them. It is not necessary to show the effect of the enforcement. Also, demonstrate the procedure for blocking inheritance. Again, merely show the procedure.</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21</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008099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Segoe UI"/>
              </a:rPr>
              <a:t>Many organizations struggle with how to maintain governance over Group Policy and, specifically, how to test a GPO effectively before using it in production. Talk through a simple but effective best practice: using security group filtering to manage the scope of a GPO during testing. Instead of creating a child OU to manage the GPO’s scope for testing, link the GPO to the location to which it belongs in production. But instead of allowing the GPO to apply to the Authenticated Users group, or to the production security group, configure a security group specifically designed to limit the scope of the GPO to appropriate users and computers. The benefit of this practice is that it gives a much more realistic picture of how the GPO will perform in production because you are not artificially limiting its scope or precedence by linking it to a separate </a:t>
            </a:r>
            <a:r>
              <a:rPr lang="en-US" sz="1000">
                <a:latin typeface="Arial"/>
                <a:ea typeface="Calibri"/>
                <a:cs typeface="Times New Roman"/>
              </a:rPr>
              <a:t>test</a:t>
            </a:r>
            <a:r>
              <a:rPr lang="en-US" sz="1000">
                <a:latin typeface="Arial"/>
                <a:ea typeface="Calibri"/>
                <a:cs typeface="Segoe UI"/>
              </a:rPr>
              <a:t> OU. In other words, you get a better picture for how the GPO interacts with other GPOs that are already in production. And yet, you still maintain full control over the specific users and computers that are within the test’s scope.</a:t>
            </a:r>
            <a:endParaRPr lang="en-US" sz="1000">
              <a:latin typeface="Arial"/>
              <a:ea typeface="Calibri"/>
              <a:cs typeface="Times New Roman"/>
            </a:endParaRPr>
          </a:p>
          <a:p>
            <a:pPr>
              <a:lnSpc>
                <a:spcPct val="115000"/>
              </a:lnSpc>
              <a:spcAft>
                <a:spcPts val="1000"/>
              </a:spcAft>
            </a:pPr>
            <a:r>
              <a:rPr lang="en-US" sz="1000" b="1">
                <a:latin typeface="Arial"/>
                <a:ea typeface="Calibri"/>
                <a:cs typeface="Times New Roman"/>
              </a:rPr>
              <a:t>Tip: </a:t>
            </a:r>
            <a:r>
              <a:rPr lang="en-US" sz="1000">
                <a:latin typeface="Arial"/>
                <a:ea typeface="Calibri"/>
                <a:cs typeface="Segoe UI"/>
              </a:rPr>
              <a:t>If you remove the Authenticated Users group, and then scope a GPO to a specific group, support personnel will not be able to read the policy to perform Group Policy management tasks. Be sure to assign appropriate support personnel the Read permission to the GPO, but do not assign them the Apply Policy permission. </a:t>
            </a:r>
            <a:endParaRPr lang="en-US" sz="1000">
              <a:latin typeface="Arial"/>
              <a:ea typeface="Calibri"/>
              <a:cs typeface="Times New Roman"/>
            </a:endParaRPr>
          </a:p>
          <a:p>
            <a:pPr>
              <a:lnSpc>
                <a:spcPct val="115000"/>
              </a:lnSpc>
              <a:spcAft>
                <a:spcPts val="1000"/>
              </a:spcAft>
            </a:pPr>
            <a:r>
              <a:rPr lang="en-US" sz="1000">
                <a:solidFill>
                  <a:srgbClr val="000000"/>
                </a:solidFill>
                <a:latin typeface="Arial"/>
                <a:ea typeface="Calibri"/>
                <a:cs typeface="Segoe UI"/>
              </a:rPr>
              <a:t>Consider demonstrating the points raised in this topic as you discuss them. </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22</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4018113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b="1" dirty="0">
                <a:latin typeface="Arial"/>
                <a:ea typeface="Calibri"/>
                <a:cs typeface="Times New Roman"/>
              </a:rPr>
              <a:t>Note:</a:t>
            </a:r>
            <a:r>
              <a:rPr lang="en-US" sz="1000" dirty="0">
                <a:latin typeface="Arial"/>
                <a:ea typeface="Calibri"/>
                <a:cs typeface="Segoe UI"/>
              </a:rPr>
              <a:t> This topic has one additional slide.</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Segoe UI"/>
              </a:rPr>
              <a:t>You should be familiar with the basic functionality of WMI queries, which this section discusses.</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Segoe UI"/>
              </a:rPr>
              <a:t>Remember that WMI filters can query based on services and processes on a system, not just hardware.</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Segoe UI"/>
              </a:rPr>
              <a:t>Consider demonstrating the creation and application of a WMI filter. Use the example in the student manual for this purpose.</a:t>
            </a:r>
            <a:endParaRPr lang="en-US" sz="1000" dirty="0">
              <a:latin typeface="Arial"/>
              <a:ea typeface="Calibri"/>
              <a:cs typeface="Times New Roman"/>
            </a:endParaRPr>
          </a:p>
          <a:p>
            <a:pPr>
              <a:lnSpc>
                <a:spcPct val="115000"/>
              </a:lnSpc>
              <a:spcAft>
                <a:spcPts val="1000"/>
              </a:spcAft>
            </a:pPr>
            <a:r>
              <a:rPr lang="en-US" sz="1000" dirty="0">
                <a:latin typeface="Arial"/>
                <a:ea typeface="Calibri"/>
                <a:cs typeface="Times New Roman"/>
              </a:rPr>
              <a:t>Mention to the students that depending on the specific WMI query, processing can be a performance issue. Also, use your own experience and mention any WMI filters that you have used in the past.</a:t>
            </a:r>
          </a:p>
        </p:txBody>
      </p:sp>
      <p:sp>
        <p:nvSpPr>
          <p:cNvPr id="4" name="Slide Number Placeholder 3"/>
          <p:cNvSpPr>
            <a:spLocks noGrp="1"/>
          </p:cNvSpPr>
          <p:nvPr>
            <p:ph type="sldNum" sz="quarter" idx="10"/>
          </p:nvPr>
        </p:nvSpPr>
        <p:spPr/>
        <p:txBody>
          <a:bodyPr/>
          <a:lstStyle/>
          <a:p>
            <a:fld id="{F0BBCD6C-38EB-40C8-9EB1-1CDD56126DF1}" type="slidenum">
              <a:rPr lang="en-US" smtClean="0"/>
              <a:t>23</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2771651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F0BBCD6C-38EB-40C8-9EB1-1CDD56126DF1}" type="slidenum">
              <a:rPr lang="en-US" smtClean="0"/>
              <a:t>24</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3080131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In addition to explaining the settings in the </a:t>
            </a:r>
            <a:r>
              <a:rPr lang="en-US" sz="1000" b="1">
                <a:latin typeface="Arial"/>
                <a:ea typeface="Calibri"/>
                <a:cs typeface="Times New Roman"/>
              </a:rPr>
              <a:t>GPO Status</a:t>
            </a:r>
            <a:r>
              <a:rPr lang="en-US" sz="1000">
                <a:latin typeface="Arial"/>
                <a:ea typeface="Calibri"/>
                <a:cs typeface="Segoe UI"/>
              </a:rPr>
              <a:t> drop-down list, mention the performance benefits gained specifically by disabling nodes of GPOs that have no settings.</a:t>
            </a:r>
            <a:endParaRPr lang="en-US" sz="1000">
              <a:latin typeface="Arial"/>
              <a:ea typeface="Calibri"/>
              <a:cs typeface="Times New Roman"/>
            </a:endParaRPr>
          </a:p>
          <a:p>
            <a:pPr>
              <a:lnSpc>
                <a:spcPct val="115000"/>
              </a:lnSpc>
              <a:spcAft>
                <a:spcPts val="1000"/>
              </a:spcAft>
            </a:pPr>
            <a:r>
              <a:rPr lang="en-US" sz="1000" b="1">
                <a:latin typeface="Arial"/>
                <a:ea typeface="Calibri"/>
                <a:cs typeface="Times New Roman"/>
              </a:rPr>
              <a:t>Discussion Prompt: </a:t>
            </a:r>
            <a:r>
              <a:rPr lang="en-US" sz="1000">
                <a:latin typeface="Arial"/>
                <a:ea typeface="Calibri"/>
                <a:cs typeface="Segoe UI"/>
              </a:rPr>
              <a:t>Ask students to consider what scenarios might lead to disabling a GPO that has settings. Answers might include GPOs that configure strict lockdown in the event of a security incident or GPOs that configure disaster recovery settings. In other words, those that are disabled until needed.</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25</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34663553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b="1">
                <a:latin typeface="Arial"/>
                <a:ea typeface="Calibri"/>
                <a:cs typeface="Times New Roman"/>
              </a:rPr>
              <a:t>Note:</a:t>
            </a:r>
            <a:r>
              <a:rPr lang="en-US" sz="1000">
                <a:latin typeface="Arial"/>
                <a:ea typeface="Calibri"/>
                <a:cs typeface="Segoe UI"/>
              </a:rPr>
              <a:t> This topic has one additional slide.</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Both the user objects and the computer objects potentially can have different Group Policy settings applied, depending on where each object resides in AD DS. Loopback processing ensures that the computer object’s policy takes precedence over the user object’s Group Policy settings.</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Loopback processing operates by using the following two modes:</a:t>
            </a:r>
            <a:endParaRPr lang="en-US" sz="1000">
              <a:latin typeface="Arial"/>
              <a:ea typeface="Calibri"/>
              <a:cs typeface="Times New Roman"/>
            </a:endParaRPr>
          </a:p>
          <a:p>
            <a:pPr marL="342900" marR="0" lvl="0" indent="-342900">
              <a:lnSpc>
                <a:spcPct val="115000"/>
              </a:lnSpc>
              <a:spcBef>
                <a:spcPts val="0"/>
              </a:spcBef>
              <a:spcAft>
                <a:spcPts val="995"/>
              </a:spcAft>
              <a:buFont typeface="Symbol"/>
              <a:buChar char=""/>
            </a:pPr>
            <a:r>
              <a:rPr lang="en-US" sz="1000">
                <a:effectLst/>
                <a:latin typeface="Arial"/>
                <a:ea typeface="Times New Roman"/>
                <a:cs typeface="Segoe UI"/>
              </a:rPr>
              <a:t>Merge</a:t>
            </a:r>
            <a:r>
              <a:rPr lang="en-US" sz="1000" b="1">
                <a:effectLst/>
                <a:latin typeface="Arial"/>
                <a:ea typeface="Times New Roman"/>
                <a:cs typeface="Times New Roman"/>
              </a:rPr>
              <a:t> </a:t>
            </a:r>
            <a:r>
              <a:rPr lang="en-US" sz="1000">
                <a:effectLst/>
                <a:latin typeface="Arial"/>
                <a:ea typeface="Times New Roman"/>
                <a:cs typeface="Segoe UI"/>
              </a:rPr>
              <a:t>mode applies the user’s normal Group Policy settings and the user settings associated with the location of the computer object. Both sets of policies will be merged, but in the case of a conflict between settings, it will apply the computer loopback policy settings.</a:t>
            </a:r>
            <a:endParaRPr lang="en-US" sz="100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a:effectLst/>
                <a:latin typeface="Arial"/>
                <a:ea typeface="Times New Roman"/>
                <a:cs typeface="Segoe UI"/>
              </a:rPr>
              <a:t>Replace mode ignores the user’s normal Group Policy settings and instead applies the user settings associated with the policy that delivered the loopback settings.</a:t>
            </a:r>
            <a:endParaRPr lang="en-US" sz="1000">
              <a:effectLst/>
              <a:latin typeface="Arial"/>
              <a:ea typeface="Times New Roman"/>
              <a:cs typeface="Times New Roman"/>
            </a:endParaRPr>
          </a:p>
          <a:p>
            <a:pPr>
              <a:lnSpc>
                <a:spcPct val="115000"/>
              </a:lnSpc>
              <a:spcAft>
                <a:spcPts val="1000"/>
              </a:spcAft>
            </a:pPr>
            <a:r>
              <a:rPr lang="en-US" sz="1000">
                <a:latin typeface="Arial"/>
                <a:ea typeface="Calibri"/>
                <a:cs typeface="Segoe UI"/>
              </a:rPr>
              <a:t>For example, a public-access computer in the lobby might have a user policy that locks down the desktop completely and allows access only to certain software. Loopback processing in Replace mode would ensure that whoever signs in to the computer would be subject to those restrictions.</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Give examples of when you might implement loopback processing. </a:t>
            </a:r>
            <a:endParaRPr lang="en-US" sz="1000">
              <a:latin typeface="Arial"/>
              <a:ea typeface="Calibri"/>
              <a:cs typeface="Times New Roman"/>
            </a:endParaRPr>
          </a:p>
          <a:p>
            <a:pPr>
              <a:lnSpc>
                <a:spcPct val="115000"/>
              </a:lnSpc>
              <a:spcAft>
                <a:spcPts val="1000"/>
              </a:spcAft>
            </a:pPr>
            <a:r>
              <a:rPr lang="en-US" sz="1000">
                <a:latin typeface="Arial"/>
                <a:ea typeface="Calibri"/>
                <a:cs typeface="Times New Roman"/>
              </a:rPr>
              <a:t>This is often one of the harder topics regarding Group Policy to deliver to the students. Ideally, use an example to demonstrate. For example, you could change the CTRL-ALT-DEL options when users sign in to a server.</a:t>
            </a:r>
          </a:p>
        </p:txBody>
      </p:sp>
      <p:sp>
        <p:nvSpPr>
          <p:cNvPr id="4" name="Slide Number Placeholder 3"/>
          <p:cNvSpPr>
            <a:spLocks noGrp="1"/>
          </p:cNvSpPr>
          <p:nvPr>
            <p:ph type="sldNum" sz="quarter" idx="10"/>
          </p:nvPr>
        </p:nvSpPr>
        <p:spPr/>
        <p:txBody>
          <a:bodyPr/>
          <a:lstStyle/>
          <a:p>
            <a:fld id="{F0BBCD6C-38EB-40C8-9EB1-1CDD56126DF1}" type="slidenum">
              <a:rPr lang="en-US" smtClean="0"/>
              <a:t>26</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9734886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F0BBCD6C-38EB-40C8-9EB1-1CDD56126DF1}" type="slidenum">
              <a:rPr lang="en-US" smtClean="0"/>
              <a:t>27</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10494570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Times New Roman"/>
              </a:rPr>
              <a:t>Discuss the issues associated with slow links and disconnected systems. Make sure that students understand that when a computer is disconnected, the previously applied settings will continue to take effect. There are several exceptions to this rule—most notably that startup, shutdown, logon, and logoff scripts do not run when the system is disconnected.</a:t>
            </a:r>
          </a:p>
        </p:txBody>
      </p:sp>
      <p:sp>
        <p:nvSpPr>
          <p:cNvPr id="4" name="Slide Number Placeholder 3"/>
          <p:cNvSpPr>
            <a:spLocks noGrp="1"/>
          </p:cNvSpPr>
          <p:nvPr>
            <p:ph type="sldNum" sz="quarter" idx="10"/>
          </p:nvPr>
        </p:nvSpPr>
        <p:spPr/>
        <p:txBody>
          <a:bodyPr/>
          <a:lstStyle/>
          <a:p>
            <a:fld id="{F0BBCD6C-38EB-40C8-9EB1-1CDD56126DF1}" type="slidenum">
              <a:rPr lang="en-US" smtClean="0"/>
              <a:t>28</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38023574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Use this slide to summarize the details regarding when GPO settings actually take effect. This should answer the question, “When I change a policy setting, when will that setting actually be applied to a user or computer?“</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The Workbook contains a lot of information that will help you talk about the slide and answer questions from students.</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Do not provide too much detail about the replication technologies themselves, but rather, point out that both the Group Policy container and Group Policy template must replicate to the domain controller from which a client obtains its policies. Also, point out that the Group Policy container and Group Policy template use two different replication technologies that are not always in sync.</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Other points to make:</a:t>
            </a:r>
            <a:endParaRPr lang="en-US" sz="1000">
              <a:latin typeface="Arial"/>
              <a:ea typeface="Calibri"/>
              <a:cs typeface="Times New Roman"/>
            </a:endParaRPr>
          </a:p>
          <a:p>
            <a:pPr marL="342900" marR="0" lvl="0" indent="-342900">
              <a:lnSpc>
                <a:spcPct val="115000"/>
              </a:lnSpc>
              <a:spcBef>
                <a:spcPts val="0"/>
              </a:spcBef>
              <a:spcAft>
                <a:spcPts val="995"/>
              </a:spcAft>
              <a:buFont typeface="Symbol"/>
              <a:buChar char=""/>
            </a:pPr>
            <a:r>
              <a:rPr lang="en-US" sz="1000">
                <a:effectLst/>
                <a:latin typeface="Arial"/>
                <a:ea typeface="Times New Roman"/>
                <a:cs typeface="Segoe UI"/>
              </a:rPr>
              <a:t>We highly recommend that organizations implement the </a:t>
            </a:r>
            <a:r>
              <a:rPr lang="en-US" sz="1000" b="1">
                <a:effectLst/>
                <a:latin typeface="Arial"/>
                <a:ea typeface="Times New Roman"/>
                <a:cs typeface="Times New Roman"/>
              </a:rPr>
              <a:t>Always Wait For Network At Startup And Logon</a:t>
            </a:r>
            <a:r>
              <a:rPr lang="en-US" sz="1000">
                <a:effectLst/>
                <a:latin typeface="Arial"/>
                <a:ea typeface="Times New Roman"/>
                <a:cs typeface="Segoe UI"/>
              </a:rPr>
              <a:t> policy setting. Without that, a change to a policy setting might take several sign out and sign in or restart cycles before it takes effect, and there is no good way to predict the exact timing. To truly manage the application of new policy settings, administrators should enable </a:t>
            </a:r>
            <a:r>
              <a:rPr lang="en-US" sz="1000" b="1">
                <a:effectLst/>
                <a:latin typeface="Arial"/>
                <a:ea typeface="Times New Roman"/>
                <a:cs typeface="Times New Roman"/>
              </a:rPr>
              <a:t>Always Wait For Network At Startup And Logon</a:t>
            </a:r>
            <a:r>
              <a:rPr lang="en-US" sz="1000">
                <a:effectLst/>
                <a:latin typeface="Arial"/>
                <a:ea typeface="Times New Roman"/>
                <a:cs typeface="Segoe UI"/>
              </a:rPr>
              <a:t>. Make sure that students understand that this does not slow down the startup or logon process significantly. Users will not complain that it is noticeably slower. Also, make sure that students understand that when a system is not connected to the network, it ignores this setting, so this setting is not a problem for disconnected laptop computers or tablet users.</a:t>
            </a:r>
            <a:endParaRPr lang="en-US" sz="100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en-US" sz="1000">
                <a:effectLst/>
                <a:latin typeface="Arial"/>
                <a:ea typeface="Times New Roman"/>
                <a:cs typeface="Segoe UI"/>
              </a:rPr>
              <a:t>Users cannot change most policy settings, particularly managed policy settings. However, if users are administrators of their computers, it is possible for them to change some settings. Those changes will never be reverted to match the settings specified by the GPOs, because most client-side extensions will reapply policy settings only when a GPO has changed. The exceptions to this rule are security settings, which are reapplied every 16 hours, regardless of whether the GPO has changed. If an organization is concerned about enforcing its policy settings, and if it is possible for users to change those settings, then administrators should configure the client-side extensions to reapply policy settings even if the GPO has not changed. They can use Group Policy to configure the policy processing behavior of each CSE.</a:t>
            </a:r>
            <a:endParaRPr lang="en-US" sz="100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29</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13925054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Segoe UI"/>
              </a:rPr>
              <a:t>In this lesson, you will help students understand that in large, networked environments, Group Policy application can be problematic sometimes. It is important that students know how to use the provided tools to help solve Group Policy application issues.</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30</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1264298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Times New Roman"/>
              </a:rPr>
              <a:t>Emphasize that changing the refresh interval might affect the performance of both the client computer and the network and therefore should be tested before implementation.</a:t>
            </a:r>
          </a:p>
          <a:p>
            <a:pPr>
              <a:lnSpc>
                <a:spcPct val="115000"/>
              </a:lnSpc>
              <a:spcAft>
                <a:spcPts val="1000"/>
              </a:spcAft>
            </a:pPr>
            <a:r>
              <a:rPr lang="en-US" sz="1000">
                <a:latin typeface="Arial"/>
                <a:ea typeface="Calibri"/>
                <a:cs typeface="Times New Roman"/>
              </a:rPr>
              <a:t>Make sure that students understand the idea of users logging on with cached credentials and the effect that this has on Group Policy settings.</a:t>
            </a:r>
          </a:p>
          <a:p>
            <a:pPr>
              <a:lnSpc>
                <a:spcPct val="115000"/>
              </a:lnSpc>
              <a:spcAft>
                <a:spcPts val="1000"/>
              </a:spcAft>
            </a:pPr>
            <a:r>
              <a:rPr lang="en-US" sz="1000">
                <a:latin typeface="Arial"/>
                <a:ea typeface="Calibri"/>
                <a:cs typeface="Times New Roman"/>
              </a:rPr>
              <a:t>Point out the feature Remote Group Policy Refresh.</a:t>
            </a:r>
          </a:p>
        </p:txBody>
      </p:sp>
      <p:sp>
        <p:nvSpPr>
          <p:cNvPr id="4" name="Slide Number Placeholder 3"/>
          <p:cNvSpPr>
            <a:spLocks noGrp="1"/>
          </p:cNvSpPr>
          <p:nvPr>
            <p:ph type="sldNum" sz="quarter" idx="10"/>
          </p:nvPr>
        </p:nvSpPr>
        <p:spPr/>
        <p:txBody>
          <a:bodyPr/>
          <a:lstStyle/>
          <a:p>
            <a:fld id="{F0BBCD6C-38EB-40C8-9EB1-1CDD56126DF1}" type="slidenum">
              <a:rPr lang="en-US" smtClean="0"/>
              <a:t>31</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182708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b="1">
                <a:latin typeface="Arial"/>
                <a:ea typeface="Calibri"/>
                <a:cs typeface="Times New Roman"/>
              </a:rPr>
              <a:t>Note:</a:t>
            </a:r>
            <a:r>
              <a:rPr lang="en-US" sz="1000">
                <a:latin typeface="Arial"/>
                <a:ea typeface="Calibri"/>
                <a:cs typeface="Segoe UI"/>
              </a:rPr>
              <a:t> this topic has one additional slide</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Use this topic to introduce the term, concepts, and tools of RSoP. Remind students how complex it can become to evaluate RSoP with factors including inheritance, filters, loopback, the interaction between GPOs in client-side extensions and the large number of policy settings.</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Help students understand that RSoP is both a descriptor that means </a:t>
            </a:r>
            <a:r>
              <a:rPr lang="en-US" sz="1000" i="1">
                <a:latin typeface="Arial"/>
                <a:ea typeface="Calibri"/>
                <a:cs typeface="Times New Roman"/>
              </a:rPr>
              <a:t>the end result</a:t>
            </a:r>
            <a:r>
              <a:rPr lang="en-US" sz="1000">
                <a:latin typeface="Arial"/>
                <a:ea typeface="Calibri"/>
                <a:cs typeface="Segoe UI"/>
              </a:rPr>
              <a:t> of policy application and also the name of a collection of tools and processes.</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32</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5235554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F0BBCD6C-38EB-40C8-9EB1-1CDD56126DF1}" type="slidenum">
              <a:rPr lang="en-US" smtClean="0"/>
              <a:t>33</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42246079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b="1">
                <a:latin typeface="Arial"/>
                <a:ea typeface="Calibri"/>
                <a:cs typeface="Times New Roman"/>
              </a:rPr>
              <a:t>Note:</a:t>
            </a:r>
            <a:r>
              <a:rPr lang="en-US" sz="1000">
                <a:latin typeface="Arial"/>
                <a:ea typeface="Calibri"/>
                <a:cs typeface="Segoe UI"/>
              </a:rPr>
              <a:t> This topic has one additional slide.</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Talk in detail about RSoP reports, preferably with demonstrations. Make sure that students understand how to generate, interpret, and save RSoP reports created by </a:t>
            </a:r>
            <a:r>
              <a:rPr lang="en-US" sz="1000" b="1">
                <a:latin typeface="Arial"/>
                <a:ea typeface="Calibri"/>
                <a:cs typeface="Times New Roman"/>
              </a:rPr>
              <a:t>Group Policy Results Wizard</a:t>
            </a:r>
            <a:r>
              <a:rPr lang="en-US" sz="1000">
                <a:latin typeface="Arial"/>
                <a:ea typeface="Calibri"/>
                <a:cs typeface="Segoe UI"/>
              </a:rPr>
              <a:t> in the GPMC or by the </a:t>
            </a:r>
            <a:r>
              <a:rPr lang="en-US" sz="1000" b="1">
                <a:latin typeface="Arial"/>
                <a:ea typeface="Calibri"/>
                <a:cs typeface="Times New Roman"/>
              </a:rPr>
              <a:t>GPResult</a:t>
            </a:r>
            <a:r>
              <a:rPr lang="en-US" sz="1000">
                <a:latin typeface="Arial"/>
                <a:ea typeface="Calibri"/>
                <a:cs typeface="Segoe UI"/>
              </a:rPr>
              <a:t> command.</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Emphasize the critical importance of RSoP reports in analyzing and troubleshooting Group Policy application in an enterprise.</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34</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38808376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F0BBCD6C-38EB-40C8-9EB1-1CDD56126DF1}" type="slidenum">
              <a:rPr lang="en-US" smtClean="0"/>
              <a:t>35</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10711563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a:latin typeface="Arial"/>
                <a:ea typeface="Calibri"/>
                <a:cs typeface="Segoe UI"/>
              </a:rPr>
              <a:t>Consider demonstrating the three major logs in which you can find Group Policy events. Also, point out that RSoP reports expose Group Policy events, particularly in </a:t>
            </a:r>
            <a:r>
              <a:rPr lang="en-US" sz="1000" b="1">
                <a:latin typeface="Arial"/>
                <a:ea typeface="Calibri"/>
                <a:cs typeface="Times New Roman"/>
              </a:rPr>
              <a:t>Advanced View</a:t>
            </a:r>
            <a:r>
              <a:rPr lang="en-US" sz="1000">
                <a:latin typeface="Arial"/>
                <a:ea typeface="Calibri"/>
                <a:cs typeface="Segoe UI"/>
              </a:rPr>
              <a:t>.</a:t>
            </a:r>
            <a:endParaRPr lang="en-US" sz="1000">
              <a:latin typeface="Arial"/>
              <a:ea typeface="Calibri"/>
              <a:cs typeface="Times New Roman"/>
            </a:endParaRPr>
          </a:p>
          <a:p>
            <a:pPr>
              <a:lnSpc>
                <a:spcPct val="115000"/>
              </a:lnSpc>
              <a:spcAft>
                <a:spcPts val="1000"/>
              </a:spcAft>
            </a:pPr>
            <a:r>
              <a:rPr lang="en-US" sz="1000">
                <a:latin typeface="Arial"/>
                <a:ea typeface="Calibri"/>
                <a:cs typeface="Segoe UI"/>
              </a:rPr>
              <a:t>Mention that the Group Policy Operational log is a great way to learn exactly how Group Policy is applied in Windows operating systems. You can trace every step of Group Policy application described in the previous lesson.</a:t>
            </a:r>
            <a:endParaRPr lang="en-US" sz="1000">
              <a:latin typeface="Arial"/>
              <a:ea typeface="Calibri"/>
              <a:cs typeface="Times New Roman"/>
            </a:endParaRPr>
          </a:p>
        </p:txBody>
      </p:sp>
      <p:sp>
        <p:nvSpPr>
          <p:cNvPr id="4" name="Slide Number Placeholder 3"/>
          <p:cNvSpPr>
            <a:spLocks noGrp="1"/>
          </p:cNvSpPr>
          <p:nvPr>
            <p:ph type="sldNum" sz="quarter" idx="10"/>
          </p:nvPr>
        </p:nvSpPr>
        <p:spPr/>
        <p:txBody>
          <a:bodyPr/>
          <a:lstStyle/>
          <a:p>
            <a:fld id="{F0BBCD6C-38EB-40C8-9EB1-1CDD56126DF1}" type="slidenum">
              <a:rPr lang="en-US" smtClean="0"/>
              <a:t>36</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2203692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US" sz="1000" b="1">
                <a:latin typeface="Arial"/>
                <a:ea typeface="Calibri"/>
                <a:cs typeface="Times New Roman"/>
              </a:rPr>
              <a:t>Note:</a:t>
            </a:r>
            <a:r>
              <a:rPr lang="en-US" sz="1000">
                <a:latin typeface="Arial"/>
                <a:ea typeface="Calibri"/>
                <a:cs typeface="Times New Roman"/>
              </a:rPr>
              <a:t> This topic has one additional slide.</a:t>
            </a:r>
          </a:p>
          <a:p>
            <a:pPr>
              <a:lnSpc>
                <a:spcPct val="115000"/>
              </a:lnSpc>
              <a:spcAft>
                <a:spcPts val="1000"/>
              </a:spcAft>
            </a:pPr>
            <a:r>
              <a:rPr lang="en-US" sz="1000">
                <a:latin typeface="Arial"/>
                <a:ea typeface="Calibri"/>
                <a:cs typeface="Times New Roman"/>
              </a:rPr>
              <a:t>Some students might have used the </a:t>
            </a:r>
            <a:r>
              <a:rPr lang="en-US" sz="1000" b="1">
                <a:latin typeface="Arial"/>
                <a:ea typeface="Calibri"/>
                <a:cs typeface="Times New Roman"/>
              </a:rPr>
              <a:t>gpotool.exe</a:t>
            </a:r>
            <a:r>
              <a:rPr lang="en-US" sz="1000">
                <a:latin typeface="Arial"/>
                <a:ea typeface="Calibri"/>
                <a:cs typeface="Times New Roman"/>
              </a:rPr>
              <a:t> previously. The health status performed by </a:t>
            </a:r>
            <a:r>
              <a:rPr lang="en-US" sz="1000" b="1">
                <a:latin typeface="Arial"/>
                <a:ea typeface="Calibri"/>
                <a:cs typeface="Times New Roman"/>
              </a:rPr>
              <a:t>Group Policy Management Console</a:t>
            </a:r>
            <a:r>
              <a:rPr lang="en-US" sz="1000">
                <a:latin typeface="Arial"/>
                <a:ea typeface="Calibri"/>
                <a:cs typeface="Times New Roman"/>
              </a:rPr>
              <a:t> is more extensive. Consider demonstrating the health check. There is no longer a second domain controller, but you can still demonstrate where to perform this action.</a:t>
            </a:r>
          </a:p>
        </p:txBody>
      </p:sp>
      <p:sp>
        <p:nvSpPr>
          <p:cNvPr id="4" name="Slide Number Placeholder 3"/>
          <p:cNvSpPr>
            <a:spLocks noGrp="1"/>
          </p:cNvSpPr>
          <p:nvPr>
            <p:ph type="sldNum" sz="quarter" idx="10"/>
          </p:nvPr>
        </p:nvSpPr>
        <p:spPr/>
        <p:txBody>
          <a:bodyPr/>
          <a:lstStyle/>
          <a:p>
            <a:fld id="{F0BBCD6C-38EB-40C8-9EB1-1CDD56126DF1}" type="slidenum">
              <a:rPr lang="en-US" smtClean="0"/>
              <a:t>37</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14636110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latin typeface="Arial"/>
                <a:ea typeface="Calibri"/>
                <a:cs typeface="Times New Roman"/>
              </a:rPr>
              <a:t>If you want to demonstrate this, you can show where this is done in the GPMC. There is no second domain controller. Mention that this feature was introduced with Windows Server 2012.</a:t>
            </a:r>
          </a:p>
        </p:txBody>
      </p:sp>
      <p:sp>
        <p:nvSpPr>
          <p:cNvPr id="4" name="Slide Number Placeholder 3"/>
          <p:cNvSpPr>
            <a:spLocks noGrp="1"/>
          </p:cNvSpPr>
          <p:nvPr>
            <p:ph type="sldNum" sz="quarter" idx="10"/>
          </p:nvPr>
        </p:nvSpPr>
        <p:spPr/>
        <p:txBody>
          <a:bodyPr/>
          <a:lstStyle/>
          <a:p>
            <a:fld id="{F0BBCD6C-38EB-40C8-9EB1-1CDD56126DF1}" type="slidenum">
              <a:rPr lang="en-US" smtClean="0"/>
              <a:t>38</a:t>
            </a:fld>
            <a:endParaRPr lang="en-US"/>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000000"/>
                </a:solidFill>
                <a:latin typeface="Arial"/>
              </a:rPr>
              <a:t>20742B</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rgbClr val="336699"/>
                </a:solidFill>
                <a:latin typeface="Arial"/>
              </a:rPr>
              <a:t>5: Implementing Group Policy</a:t>
            </a:r>
          </a:p>
        </p:txBody>
      </p:sp>
    </p:spTree>
    <p:extLst>
      <p:ext uri="{BB962C8B-B14F-4D97-AF65-F5344CB8AC3E}">
        <p14:creationId xmlns:p14="http://schemas.microsoft.com/office/powerpoint/2010/main" val="2644490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0"/>
            <a:ext cx="9144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019" name="Rectangle 3"/>
          <p:cNvSpPr>
            <a:spLocks noGrp="1" noChangeArrowheads="1"/>
          </p:cNvSpPr>
          <p:nvPr>
            <p:ph type="ctrTitle" sz="quarter" hasCustomPrompt="1"/>
          </p:nvPr>
        </p:nvSpPr>
        <p:spPr>
          <a:xfrm>
            <a:off x="3200400" y="1828800"/>
            <a:ext cx="5732417" cy="627864"/>
          </a:xfrm>
          <a:solidFill>
            <a:srgbClr val="3399FF"/>
          </a:solidFill>
          <a:ln algn="ctr"/>
        </p:spPr>
        <p:txBody>
          <a:bodyPr wrap="square" tIns="0" rIns="0" bIns="0">
            <a:spAutoFit/>
          </a:bodyPr>
          <a:lstStyle>
            <a:lvl1pPr algn="l">
              <a:spcBef>
                <a:spcPct val="60000"/>
              </a:spcBef>
              <a:buClr>
                <a:schemeClr val="hlink"/>
              </a:buClr>
              <a:buSzPct val="90000"/>
              <a:buFontTx/>
              <a:buNone/>
              <a:defRPr sz="4800" baseline="0">
                <a:solidFill>
                  <a:schemeClr val="bg1"/>
                </a:solidFill>
                <a:latin typeface="Segoe UI" pitchFamily="34" charset="0"/>
                <a:ea typeface="Segoe UI" pitchFamily="34" charset="0"/>
                <a:cs typeface="Segoe UI"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200400" y="2895600"/>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7019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ltGray">
      <p:bgPr>
        <a:gradFill rotWithShape="1">
          <a:gsLst>
            <a:gs pos="0">
              <a:schemeClr val="tx2">
                <a:lumMod val="20000"/>
                <a:lumOff val="80000"/>
              </a:schemeClr>
            </a:gs>
            <a:gs pos="90000">
              <a:schemeClr val="tx2">
                <a:lumMod val="60000"/>
                <a:lumOff val="4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21977" y="1600201"/>
            <a:ext cx="6248400" cy="2680127"/>
          </a:xfrm>
        </p:spPr>
        <p:txBody>
          <a:bodyPr>
            <a:noAutofit/>
          </a:bodyPr>
          <a:lstStyle>
            <a:lvl1pPr>
              <a:defRPr sz="4051">
                <a:solidFill>
                  <a:schemeClr val="tx2">
                    <a:lumMod val="75000"/>
                  </a:schemeClr>
                </a:solidFill>
              </a:defRPr>
            </a:lvl1pPr>
          </a:lstStyle>
          <a:p>
            <a:r>
              <a:rPr lang="en-US"/>
              <a:t>Click to edit Master title style</a:t>
            </a:r>
            <a:endParaRPr dirty="0"/>
          </a:p>
        </p:txBody>
      </p:sp>
      <p:sp>
        <p:nvSpPr>
          <p:cNvPr id="3" name="Subtitle 2"/>
          <p:cNvSpPr>
            <a:spLocks noGrp="1"/>
          </p:cNvSpPr>
          <p:nvPr>
            <p:ph type="subTitle" idx="1"/>
          </p:nvPr>
        </p:nvSpPr>
        <p:spPr>
          <a:xfrm>
            <a:off x="1821976" y="4344916"/>
            <a:ext cx="5638800" cy="1116085"/>
          </a:xfrm>
        </p:spPr>
        <p:txBody>
          <a:bodyPr>
            <a:normAutofit/>
          </a:bodyPr>
          <a:lstStyle>
            <a:lvl1pPr marL="0" indent="0" algn="l">
              <a:spcBef>
                <a:spcPts val="0"/>
              </a:spcBef>
              <a:buNone/>
              <a:defRPr sz="2401">
                <a:solidFill>
                  <a:schemeClr val="tx1"/>
                </a:solidFill>
              </a:defRPr>
            </a:lvl1pPr>
            <a:lvl2pPr marL="342991" indent="0" algn="ctr">
              <a:buNone/>
              <a:defRPr>
                <a:solidFill>
                  <a:schemeClr val="tx1">
                    <a:tint val="75000"/>
                  </a:schemeClr>
                </a:solidFill>
              </a:defRPr>
            </a:lvl2pPr>
            <a:lvl3pPr marL="685983" indent="0" algn="ctr">
              <a:buNone/>
              <a:defRPr>
                <a:solidFill>
                  <a:schemeClr val="tx1">
                    <a:tint val="75000"/>
                  </a:schemeClr>
                </a:solidFill>
              </a:defRPr>
            </a:lvl3pPr>
            <a:lvl4pPr marL="1028974" indent="0" algn="ctr">
              <a:buNone/>
              <a:defRPr>
                <a:solidFill>
                  <a:schemeClr val="tx1">
                    <a:tint val="75000"/>
                  </a:schemeClr>
                </a:solidFill>
              </a:defRPr>
            </a:lvl4pPr>
            <a:lvl5pPr marL="1371966" indent="0" algn="ctr">
              <a:buNone/>
              <a:defRPr>
                <a:solidFill>
                  <a:schemeClr val="tx1">
                    <a:tint val="75000"/>
                  </a:schemeClr>
                </a:solidFill>
              </a:defRPr>
            </a:lvl5pPr>
            <a:lvl6pPr marL="1714957" indent="0" algn="ctr">
              <a:buNone/>
              <a:defRPr>
                <a:solidFill>
                  <a:schemeClr val="tx1">
                    <a:tint val="75000"/>
                  </a:schemeClr>
                </a:solidFill>
              </a:defRPr>
            </a:lvl6pPr>
            <a:lvl7pPr marL="2057949" indent="0" algn="ctr">
              <a:buNone/>
              <a:defRPr>
                <a:solidFill>
                  <a:schemeClr val="tx1">
                    <a:tint val="75000"/>
                  </a:schemeClr>
                </a:solidFill>
              </a:defRPr>
            </a:lvl7pPr>
            <a:lvl8pPr marL="2400940" indent="0" algn="ctr">
              <a:buNone/>
              <a:defRPr>
                <a:solidFill>
                  <a:schemeClr val="tx1">
                    <a:tint val="75000"/>
                  </a:schemeClr>
                </a:solidFill>
              </a:defRPr>
            </a:lvl8pPr>
            <a:lvl9pPr marL="2743932"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3525187" y="6356352"/>
            <a:ext cx="914400" cy="365125"/>
          </a:xfrm>
        </p:spPr>
        <p:txBody>
          <a:bodyPr/>
          <a:lstStyle>
            <a:lvl1pPr>
              <a:defRPr>
                <a:solidFill>
                  <a:schemeClr val="tx1"/>
                </a:solidFill>
              </a:defRPr>
            </a:lvl1pPr>
          </a:lstStyle>
          <a:p>
            <a:fld id="{80BBE6BF-C811-45BB-8BA9-22EFF2B83FFA}" type="datetime1">
              <a:rPr lang="en-US" smtClean="0"/>
              <a:t>6/24/2019</a:t>
            </a:fld>
            <a:endParaRPr lang="en-US"/>
          </a:p>
        </p:txBody>
      </p:sp>
      <p:sp>
        <p:nvSpPr>
          <p:cNvPr id="5" name="Footer Placeholder 4"/>
          <p:cNvSpPr>
            <a:spLocks noGrp="1"/>
          </p:cNvSpPr>
          <p:nvPr>
            <p:ph type="ftr" sz="quarter" idx="11"/>
          </p:nvPr>
        </p:nvSpPr>
        <p:spPr>
          <a:xfrm>
            <a:off x="4587226" y="6356352"/>
            <a:ext cx="2981325" cy="365125"/>
          </a:xfrm>
        </p:spPr>
        <p:txBody>
          <a:bodyPr/>
          <a:lstStyle>
            <a:lvl1pPr>
              <a:defRPr>
                <a:solidFill>
                  <a:schemeClr val="tx1"/>
                </a:solidFill>
              </a:defRPr>
            </a:lvl1pPr>
          </a:lstStyle>
          <a:p>
            <a:r>
              <a:rPr lang="en-US" dirty="0"/>
              <a:t>Add a footer</a:t>
            </a:r>
          </a:p>
        </p:txBody>
      </p:sp>
      <p:sp>
        <p:nvSpPr>
          <p:cNvPr id="6" name="Slide Number Placeholder 5"/>
          <p:cNvSpPr>
            <a:spLocks noGrp="1"/>
          </p:cNvSpPr>
          <p:nvPr>
            <p:ph type="sldNum" sz="quarter" idx="12"/>
          </p:nvPr>
        </p:nvSpPr>
        <p:spPr>
          <a:xfrm>
            <a:off x="7716188" y="6356352"/>
            <a:ext cx="457200" cy="365125"/>
          </a:xfrm>
        </p:spPr>
        <p:txBody>
          <a:bodyPr/>
          <a:lstStyle>
            <a:lvl1pPr>
              <a:defRPr>
                <a:solidFill>
                  <a:schemeClr val="tx1"/>
                </a:solidFill>
              </a:defRPr>
            </a:lvl1pPr>
          </a:lstStyle>
          <a:p>
            <a:fld id="{7DC1BBB0-96F0-4077-A278-0F3FB5C104D3}" type="slidenum">
              <a:rPr lang="en-US" smtClean="0"/>
              <a:pPr/>
              <a:t>‹#›</a:t>
            </a:fld>
            <a:endParaRPr lang="en-US"/>
          </a:p>
        </p:txBody>
      </p:sp>
      <p:pic>
        <p:nvPicPr>
          <p:cNvPr id="55"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ltGray">
          <a:xfrm>
            <a:off x="0" y="0"/>
            <a:ext cx="1352902" cy="6858000"/>
          </a:xfrm>
          <a:prstGeom prst="rect">
            <a:avLst/>
          </a:prstGeom>
          <a:noFill/>
          <a:ln>
            <a:noFill/>
          </a:ln>
        </p:spPr>
      </p:pic>
      <p:sp>
        <p:nvSpPr>
          <p:cNvPr id="36" name="Rectangle 35"/>
          <p:cNvSpPr/>
          <p:nvPr/>
        </p:nvSpPr>
        <p:spPr>
          <a:xfrm>
            <a:off x="8921746" y="0"/>
            <a:ext cx="228600"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8" tIns="45724" rIns="91448" bIns="45724" rtlCol="0" anchor="ctr"/>
          <a:lstStyle/>
          <a:p>
            <a:pPr lvl="0" algn="ctr"/>
            <a:endParaRPr sz="1350"/>
          </a:p>
        </p:txBody>
      </p:sp>
    </p:spTree>
    <p:extLst>
      <p:ext uri="{BB962C8B-B14F-4D97-AF65-F5344CB8AC3E}">
        <p14:creationId xmlns:p14="http://schemas.microsoft.com/office/powerpoint/2010/main" val="429068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dirty="0"/>
          </a:p>
        </p:txBody>
      </p:sp>
      <p:sp>
        <p:nvSpPr>
          <p:cNvPr id="3" name="Content Placeholder 2"/>
          <p:cNvSpPr>
            <a:spLocks noGrp="1"/>
          </p:cNvSpPr>
          <p:nvPr>
            <p:ph idx="1"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9E583DDF-CA54-461A-A486-592D2374C532}" type="datetimeFigureOut">
              <a:rPr lang="en-US" smtClean="0"/>
              <a:t>6/24/2019</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SG"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A8D9AD5-F248-4919-864A-CFD76CC027D6}" type="slidenum">
              <a:rPr lang="en-SG" smtClean="0"/>
              <a:t>‹#›</a:t>
            </a:fld>
            <a:endParaRPr lang="en-SG"/>
          </a:p>
        </p:txBody>
      </p:sp>
    </p:spTree>
    <p:extLst>
      <p:ext uri="{BB962C8B-B14F-4D97-AF65-F5344CB8AC3E}">
        <p14:creationId xmlns:p14="http://schemas.microsoft.com/office/powerpoint/2010/main" val="2903409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39966" y="1600201"/>
            <a:ext cx="6214072" cy="2654064"/>
          </a:xfrm>
        </p:spPr>
        <p:txBody>
          <a:bodyPr anchor="b">
            <a:normAutofit/>
          </a:bodyPr>
          <a:lstStyle>
            <a:lvl1pPr algn="l">
              <a:defRPr sz="4051" b="0" cap="none" baseline="0">
                <a:solidFill>
                  <a:schemeClr val="tx2">
                    <a:lumMod val="75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1439966" y="4259997"/>
            <a:ext cx="5449886" cy="1150203"/>
          </a:xfrm>
        </p:spPr>
        <p:txBody>
          <a:bodyPr anchor="t">
            <a:normAutofit/>
          </a:bodyPr>
          <a:lstStyle>
            <a:lvl1pPr marL="0" indent="0">
              <a:spcBef>
                <a:spcPts val="0"/>
              </a:spcBef>
              <a:buNone/>
              <a:defRPr sz="2401">
                <a:solidFill>
                  <a:schemeClr val="tx1"/>
                </a:solidFill>
              </a:defRPr>
            </a:lvl1pPr>
            <a:lvl2pPr marL="342991" indent="0">
              <a:buNone/>
              <a:defRPr sz="1350">
                <a:solidFill>
                  <a:schemeClr val="tx1">
                    <a:tint val="75000"/>
                  </a:schemeClr>
                </a:solidFill>
              </a:defRPr>
            </a:lvl2pPr>
            <a:lvl3pPr marL="685983" indent="0">
              <a:buNone/>
              <a:defRPr sz="1200">
                <a:solidFill>
                  <a:schemeClr val="tx1">
                    <a:tint val="75000"/>
                  </a:schemeClr>
                </a:solidFill>
              </a:defRPr>
            </a:lvl3pPr>
            <a:lvl4pPr marL="1028974" indent="0">
              <a:buNone/>
              <a:defRPr sz="1050">
                <a:solidFill>
                  <a:schemeClr val="tx1">
                    <a:tint val="75000"/>
                  </a:schemeClr>
                </a:solidFill>
              </a:defRPr>
            </a:lvl4pPr>
            <a:lvl5pPr marL="1371966" indent="0">
              <a:buNone/>
              <a:defRPr sz="1050">
                <a:solidFill>
                  <a:schemeClr val="tx1">
                    <a:tint val="75000"/>
                  </a:schemeClr>
                </a:solidFill>
              </a:defRPr>
            </a:lvl5pPr>
            <a:lvl6pPr marL="1714957" indent="0">
              <a:buNone/>
              <a:defRPr sz="1050">
                <a:solidFill>
                  <a:schemeClr val="tx1">
                    <a:tint val="75000"/>
                  </a:schemeClr>
                </a:solidFill>
              </a:defRPr>
            </a:lvl6pPr>
            <a:lvl7pPr marL="2057949" indent="0">
              <a:buNone/>
              <a:defRPr sz="1050">
                <a:solidFill>
                  <a:schemeClr val="tx1">
                    <a:tint val="75000"/>
                  </a:schemeClr>
                </a:solidFill>
              </a:defRPr>
            </a:lvl7pPr>
            <a:lvl8pPr marL="2400940" indent="0">
              <a:buNone/>
              <a:defRPr sz="1050">
                <a:solidFill>
                  <a:schemeClr val="tx1">
                    <a:tint val="75000"/>
                  </a:schemeClr>
                </a:solidFill>
              </a:defRPr>
            </a:lvl8pPr>
            <a:lvl9pPr marL="2743932"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9E583DDF-CA54-461A-A486-592D2374C532}" type="datetimeFigureOut">
              <a:rPr lang="en-US" smtClean="0"/>
              <a:t>6/24/2019</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SG"/>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A8D9AD5-F248-4919-864A-CFD76CC027D6}" type="slidenum">
              <a:rPr lang="en-SG" smtClean="0"/>
              <a:t>‹#›</a:t>
            </a:fld>
            <a:endParaRPr lang="en-SG"/>
          </a:p>
        </p:txBody>
      </p:sp>
      <p:pic>
        <p:nvPicPr>
          <p:cNvPr id="7"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ltGray">
          <a:xfrm>
            <a:off x="0" y="0"/>
            <a:ext cx="1352902" cy="6858000"/>
          </a:xfrm>
          <a:prstGeom prst="rect">
            <a:avLst/>
          </a:prstGeom>
          <a:noFill/>
          <a:ln>
            <a:noFill/>
          </a:ln>
        </p:spPr>
      </p:pic>
      <p:sp>
        <p:nvSpPr>
          <p:cNvPr id="9" name="Rectangle 8"/>
          <p:cNvSpPr/>
          <p:nvPr/>
        </p:nvSpPr>
        <p:spPr>
          <a:xfrm>
            <a:off x="8921746" y="0"/>
            <a:ext cx="228600"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8" tIns="45724" rIns="91448" bIns="45724" rtlCol="0" anchor="ctr"/>
          <a:lstStyle/>
          <a:p>
            <a:pPr lvl="0" algn="ctr"/>
            <a:endParaRPr sz="1350"/>
          </a:p>
        </p:txBody>
      </p:sp>
    </p:spTree>
    <p:extLst>
      <p:ext uri="{BB962C8B-B14F-4D97-AF65-F5344CB8AC3E}">
        <p14:creationId xmlns:p14="http://schemas.microsoft.com/office/powerpoint/2010/main" val="261338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a:p>
        </p:txBody>
      </p:sp>
      <p:sp>
        <p:nvSpPr>
          <p:cNvPr id="3" name="Content Placeholder 2"/>
          <p:cNvSpPr>
            <a:spLocks noGrp="1"/>
          </p:cNvSpPr>
          <p:nvPr>
            <p:ph sz="half" idx="1" hasCustomPrompt="1"/>
          </p:nvPr>
        </p:nvSpPr>
        <p:spPr>
          <a:xfrm>
            <a:off x="1452000" y="1600200"/>
            <a:ext cx="3429893" cy="4572000"/>
          </a:xfrm>
        </p:spPr>
        <p:txBody>
          <a:bodyPr/>
          <a:lstStyle>
            <a:lvl1pPr>
              <a:defRPr sz="2101">
                <a:solidFill>
                  <a:schemeClr val="tx1"/>
                </a:solidFill>
              </a:defRPr>
            </a:lvl1pPr>
            <a:lvl2pPr>
              <a:defRPr sz="1800">
                <a:solidFill>
                  <a:schemeClr val="tx1"/>
                </a:solidFill>
              </a:defRPr>
            </a:lvl2pPr>
            <a:lvl3pPr>
              <a:defRPr sz="1500">
                <a:solidFill>
                  <a:schemeClr val="tx1"/>
                </a:solidFill>
              </a:defRPr>
            </a:lvl3pPr>
            <a:lvl4pPr>
              <a:defRPr sz="1350">
                <a:solidFill>
                  <a:schemeClr val="tx1"/>
                </a:solidFill>
              </a:defRPr>
            </a:lvl4pPr>
            <a:lvl5pPr>
              <a:defRPr sz="1350">
                <a:solidFill>
                  <a:schemeClr val="tx1"/>
                </a:solidFill>
              </a:defRPr>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hasCustomPrompt="1"/>
          </p:nvPr>
        </p:nvSpPr>
        <p:spPr>
          <a:xfrm>
            <a:off x="5119579" y="1600200"/>
            <a:ext cx="3429893" cy="4572000"/>
          </a:xfrm>
        </p:spPr>
        <p:txBody>
          <a:bodyPr/>
          <a:lstStyle>
            <a:lvl1pPr>
              <a:defRPr sz="2101">
                <a:solidFill>
                  <a:schemeClr val="tx1"/>
                </a:solidFill>
              </a:defRPr>
            </a:lvl1pPr>
            <a:lvl2pPr>
              <a:defRPr sz="1800">
                <a:solidFill>
                  <a:schemeClr val="tx1"/>
                </a:solidFill>
              </a:defRPr>
            </a:lvl2pPr>
            <a:lvl3pPr>
              <a:defRPr sz="1500">
                <a:solidFill>
                  <a:schemeClr val="tx1"/>
                </a:solidFill>
              </a:defRPr>
            </a:lvl3pPr>
            <a:lvl4pPr>
              <a:defRPr sz="1350">
                <a:solidFill>
                  <a:schemeClr val="tx1"/>
                </a:solidFill>
              </a:defRPr>
            </a:lvl4pPr>
            <a:lvl5pPr>
              <a:defRPr sz="1350">
                <a:solidFill>
                  <a:schemeClr val="tx1"/>
                </a:solidFill>
              </a:defRPr>
            </a:lvl5pPr>
            <a:lvl6pPr>
              <a:defRPr sz="1350" baseline="0"/>
            </a:lvl6pPr>
            <a:lvl7pPr>
              <a:defRPr sz="1350" baseline="0"/>
            </a:lvl7pPr>
            <a:lvl8pPr>
              <a:defRPr sz="1350" baseline="0"/>
            </a:lvl8pPr>
            <a:lvl9pPr>
              <a:defRPr sz="135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lvl1pPr>
              <a:defRPr>
                <a:solidFill>
                  <a:schemeClr val="tx1"/>
                </a:solidFill>
              </a:defRPr>
            </a:lvl1pPr>
          </a:lstStyle>
          <a:p>
            <a:fld id="{9DD7D43D-6574-4C7B-808D-C6C12215A4D4}" type="datetimeFigureOut">
              <a:rPr lang="en-US" smtClean="0"/>
              <a:t>6/24/2019</a:t>
            </a:fld>
            <a:endParaRPr lang="en-US"/>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A0ECE5F2-81AA-4605-B028-6FBA391056AF}" type="slidenum">
              <a:rPr lang="en-SG" smtClean="0"/>
              <a:t>‹#›</a:t>
            </a:fld>
            <a:endParaRPr lang="en-SG"/>
          </a:p>
        </p:txBody>
      </p:sp>
    </p:spTree>
    <p:extLst>
      <p:ext uri="{BB962C8B-B14F-4D97-AF65-F5344CB8AC3E}">
        <p14:creationId xmlns:p14="http://schemas.microsoft.com/office/powerpoint/2010/main" val="534799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27931" y="177801"/>
            <a:ext cx="7106469" cy="1239837"/>
          </a:xfrm>
        </p:spPr>
        <p:txBody>
          <a:bodyPr/>
          <a:lstStyle>
            <a:lvl1pPr>
              <a:defRPr>
                <a:solidFill>
                  <a:schemeClr val="tx2">
                    <a:lumMod val="75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1452840" y="1499616"/>
            <a:ext cx="3429893" cy="938784"/>
          </a:xfrm>
        </p:spPr>
        <p:txBody>
          <a:bodyPr anchor="b">
            <a:noAutofit/>
          </a:bodyPr>
          <a:lstStyle>
            <a:lvl1pPr marL="0" indent="0">
              <a:spcBef>
                <a:spcPts val="0"/>
              </a:spcBef>
              <a:buNone/>
              <a:defRPr sz="1800" b="0" cap="all" baseline="0">
                <a:solidFill>
                  <a:schemeClr val="tx1"/>
                </a:solidFill>
              </a:defRPr>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a:t>Edit Master text styles</a:t>
            </a:r>
          </a:p>
        </p:txBody>
      </p:sp>
      <p:sp>
        <p:nvSpPr>
          <p:cNvPr id="4" name="Content Placeholder 3"/>
          <p:cNvSpPr>
            <a:spLocks noGrp="1"/>
          </p:cNvSpPr>
          <p:nvPr>
            <p:ph sz="half" idx="2" hasCustomPrompt="1"/>
          </p:nvPr>
        </p:nvSpPr>
        <p:spPr>
          <a:xfrm>
            <a:off x="1452840" y="2514707"/>
            <a:ext cx="3429893" cy="3657493"/>
          </a:xfrm>
        </p:spPr>
        <p:txBody>
          <a:bodyPr>
            <a:normAutofit/>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baseline="0"/>
            </a:lvl8pPr>
            <a:lvl9pPr>
              <a:defRPr sz="12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5119579" y="1499616"/>
            <a:ext cx="3429893" cy="938784"/>
          </a:xfrm>
        </p:spPr>
        <p:txBody>
          <a:bodyPr anchor="b">
            <a:noAutofit/>
          </a:bodyPr>
          <a:lstStyle>
            <a:lvl1pPr marL="0" indent="0">
              <a:spcBef>
                <a:spcPts val="0"/>
              </a:spcBef>
              <a:buNone/>
              <a:defRPr sz="1800" b="0" cap="all" baseline="0">
                <a:solidFill>
                  <a:schemeClr val="tx1"/>
                </a:solidFill>
              </a:defRPr>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a:t>Edit Master text styles</a:t>
            </a:r>
          </a:p>
        </p:txBody>
      </p:sp>
      <p:sp>
        <p:nvSpPr>
          <p:cNvPr id="6" name="Content Placeholder 5"/>
          <p:cNvSpPr>
            <a:spLocks noGrp="1"/>
          </p:cNvSpPr>
          <p:nvPr>
            <p:ph sz="quarter" idx="4" hasCustomPrompt="1"/>
          </p:nvPr>
        </p:nvSpPr>
        <p:spPr>
          <a:xfrm>
            <a:off x="5119579" y="2514600"/>
            <a:ext cx="3429893" cy="3655568"/>
          </a:xfrm>
        </p:spPr>
        <p:txBody>
          <a:bodyPr>
            <a:normAutofit/>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lvl1pPr>
              <a:defRPr>
                <a:solidFill>
                  <a:schemeClr val="tx1"/>
                </a:solidFill>
              </a:defRPr>
            </a:lvl1pPr>
          </a:lstStyle>
          <a:p>
            <a:fld id="{9E583DDF-CA54-461A-A486-592D2374C532}" type="datetimeFigureOut">
              <a:rPr lang="en-US" smtClean="0"/>
              <a:t>6/24/2019</a:t>
            </a:fld>
            <a:endParaRPr lang="en-US"/>
          </a:p>
        </p:txBody>
      </p:sp>
      <p:sp>
        <p:nvSpPr>
          <p:cNvPr id="8" name="Footer Placeholder 7"/>
          <p:cNvSpPr>
            <a:spLocks noGrp="1"/>
          </p:cNvSpPr>
          <p:nvPr>
            <p:ph type="ftr" sz="quarter" idx="11"/>
          </p:nvPr>
        </p:nvSpPr>
        <p:spPr/>
        <p:txBody>
          <a:bodyPr/>
          <a:lstStyle>
            <a:lvl1pPr>
              <a:defRPr>
                <a:solidFill>
                  <a:schemeClr val="tx1"/>
                </a:solidFill>
              </a:defRPr>
            </a:lvl1pPr>
          </a:lstStyle>
          <a:p>
            <a:endParaRPr lang="en-SG"/>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CA8D9AD5-F248-4919-864A-CFD76CC027D6}" type="slidenum">
              <a:rPr lang="en-SG" smtClean="0"/>
              <a:t>‹#›</a:t>
            </a:fld>
            <a:endParaRPr lang="en-SG"/>
          </a:p>
        </p:txBody>
      </p:sp>
    </p:spTree>
    <p:extLst>
      <p:ext uri="{BB962C8B-B14F-4D97-AF65-F5344CB8AC3E}">
        <p14:creationId xmlns:p14="http://schemas.microsoft.com/office/powerpoint/2010/main" val="3384147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dirty="0"/>
          </a:p>
        </p:txBody>
      </p:sp>
      <p:sp>
        <p:nvSpPr>
          <p:cNvPr id="3" name="Date Placeholder 2"/>
          <p:cNvSpPr>
            <a:spLocks noGrp="1"/>
          </p:cNvSpPr>
          <p:nvPr>
            <p:ph type="dt" sz="half" idx="10"/>
          </p:nvPr>
        </p:nvSpPr>
        <p:spPr/>
        <p:txBody>
          <a:bodyPr/>
          <a:lstStyle>
            <a:lvl1pPr>
              <a:defRPr>
                <a:solidFill>
                  <a:schemeClr val="tx1"/>
                </a:solidFill>
              </a:defRPr>
            </a:lvl1pPr>
          </a:lstStyle>
          <a:p>
            <a:fld id="{9E583DDF-CA54-461A-A486-592D2374C532}" type="datetimeFigureOut">
              <a:rPr lang="en-US" smtClean="0"/>
              <a:t>6/24/2019</a:t>
            </a:fld>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endParaRPr lang="en-SG"/>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CA8D9AD5-F248-4919-864A-CFD76CC027D6}" type="slidenum">
              <a:rPr lang="en-SG" smtClean="0"/>
              <a:t>‹#›</a:t>
            </a:fld>
            <a:endParaRPr lang="en-SG"/>
          </a:p>
        </p:txBody>
      </p:sp>
    </p:spTree>
    <p:extLst>
      <p:ext uri="{BB962C8B-B14F-4D97-AF65-F5344CB8AC3E}">
        <p14:creationId xmlns:p14="http://schemas.microsoft.com/office/powerpoint/2010/main" val="3089308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2"/>
          <p:cNvSpPr>
            <a:spLocks noGrp="1"/>
          </p:cNvSpPr>
          <p:nvPr>
            <p:ph type="dt" sz="half" idx="10"/>
          </p:nvPr>
        </p:nvSpPr>
        <p:spPr>
          <a:xfrm>
            <a:off x="3886200" y="6356352"/>
            <a:ext cx="914400" cy="365125"/>
          </a:xfrm>
        </p:spPr>
        <p:txBody>
          <a:bodyPr/>
          <a:lstStyle/>
          <a:p>
            <a:fld id="{9E583DDF-CA54-461A-A486-592D2374C532}" type="datetimeFigureOut">
              <a:rPr lang="en-US" smtClean="0"/>
              <a:pPr/>
              <a:t>6/24/2019</a:t>
            </a:fld>
            <a:endParaRPr lang="en-US"/>
          </a:p>
        </p:txBody>
      </p:sp>
      <p:sp>
        <p:nvSpPr>
          <p:cNvPr id="6" name="Footer Placeholder 3"/>
          <p:cNvSpPr>
            <a:spLocks noGrp="1"/>
          </p:cNvSpPr>
          <p:nvPr>
            <p:ph type="ftr" sz="quarter" idx="11"/>
          </p:nvPr>
        </p:nvSpPr>
        <p:spPr>
          <a:xfrm>
            <a:off x="4948239" y="6356352"/>
            <a:ext cx="2981325" cy="365125"/>
          </a:xfrm>
        </p:spPr>
        <p:txBody>
          <a:bodyPr/>
          <a:lstStyle/>
          <a:p>
            <a:endParaRPr lang="en-SG"/>
          </a:p>
        </p:txBody>
      </p:sp>
      <p:sp>
        <p:nvSpPr>
          <p:cNvPr id="7" name="Slide Number Placeholder 4"/>
          <p:cNvSpPr>
            <a:spLocks noGrp="1"/>
          </p:cNvSpPr>
          <p:nvPr>
            <p:ph type="sldNum" sz="quarter" idx="12"/>
          </p:nvPr>
        </p:nvSpPr>
        <p:spPr>
          <a:xfrm>
            <a:off x="8077201" y="6356352"/>
            <a:ext cx="457200" cy="365125"/>
          </a:xfrm>
        </p:spPr>
        <p:txBody>
          <a:bodyPr/>
          <a:lstStyle/>
          <a:p>
            <a:fld id="{CA8D9AD5-F248-4919-864A-CFD76CC027D6}" type="slidenum">
              <a:rPr lang="en-SG" smtClean="0"/>
              <a:pPr/>
              <a:t>‹#›</a:t>
            </a:fld>
            <a:endParaRPr lang="en-SG"/>
          </a:p>
        </p:txBody>
      </p:sp>
    </p:spTree>
    <p:extLst>
      <p:ext uri="{BB962C8B-B14F-4D97-AF65-F5344CB8AC3E}">
        <p14:creationId xmlns:p14="http://schemas.microsoft.com/office/powerpoint/2010/main" val="4217156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05890" y="381000"/>
            <a:ext cx="2470710" cy="1371600"/>
          </a:xfrm>
        </p:spPr>
        <p:txBody>
          <a:bodyPr anchor="b">
            <a:normAutofit/>
          </a:bodyPr>
          <a:lstStyle>
            <a:lvl1pPr algn="l">
              <a:defRPr sz="2101" b="0" cap="all" baseline="0">
                <a:solidFill>
                  <a:schemeClr val="tx2">
                    <a:lumMod val="75000"/>
                  </a:schemeClr>
                </a:solidFill>
              </a:defRPr>
            </a:lvl1pPr>
          </a:lstStyle>
          <a:p>
            <a:r>
              <a:rPr lang="en-US"/>
              <a:t>Click to edit Master title style</a:t>
            </a:r>
            <a:endParaRPr dirty="0"/>
          </a:p>
        </p:txBody>
      </p:sp>
      <p:sp>
        <p:nvSpPr>
          <p:cNvPr id="3" name="Content Placeholder 2"/>
          <p:cNvSpPr>
            <a:spLocks noGrp="1"/>
          </p:cNvSpPr>
          <p:nvPr>
            <p:ph idx="1" hasCustomPrompt="1"/>
          </p:nvPr>
        </p:nvSpPr>
        <p:spPr>
          <a:xfrm>
            <a:off x="3886200" y="482600"/>
            <a:ext cx="4648200" cy="5689600"/>
          </a:xfrm>
        </p:spPr>
        <p:txBody>
          <a:bodyPr>
            <a:normAutofit/>
          </a:bodyPr>
          <a:lstStyle>
            <a:lvl1pPr>
              <a:defRPr sz="2101">
                <a:solidFill>
                  <a:schemeClr val="tx1"/>
                </a:solidFill>
              </a:defRPr>
            </a:lvl1pPr>
            <a:lvl2pPr>
              <a:defRPr sz="1800">
                <a:solidFill>
                  <a:schemeClr val="tx1"/>
                </a:solidFill>
              </a:defRPr>
            </a:lvl2pPr>
            <a:lvl3pPr>
              <a:defRPr sz="1500">
                <a:solidFill>
                  <a:schemeClr val="tx1"/>
                </a:solidFill>
              </a:defRPr>
            </a:lvl3pPr>
            <a:lvl4pPr>
              <a:defRPr sz="1350">
                <a:solidFill>
                  <a:schemeClr val="tx1"/>
                </a:solidFill>
              </a:defRPr>
            </a:lvl4pPr>
            <a:lvl5pPr>
              <a:defRPr sz="1350">
                <a:solidFill>
                  <a:schemeClr val="tx1"/>
                </a:solidFill>
              </a:defRPr>
            </a:lvl5pPr>
            <a:lvl6pPr>
              <a:defRPr sz="1350"/>
            </a:lvl6pPr>
            <a:lvl7pPr>
              <a:defRPr sz="1350"/>
            </a:lvl7pPr>
            <a:lvl8pPr>
              <a:defRPr sz="1350" baseline="0"/>
            </a:lvl8pPr>
            <a:lvl9pPr>
              <a:defRPr sz="135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bwMode="white">
          <a:xfrm>
            <a:off x="805890" y="1828800"/>
            <a:ext cx="2470710" cy="4343400"/>
          </a:xfrm>
        </p:spPr>
        <p:txBody>
          <a:bodyPr>
            <a:normAutofit/>
          </a:bodyPr>
          <a:lstStyle>
            <a:lvl1pPr marL="0" indent="0">
              <a:buNone/>
              <a:defRPr sz="1500">
                <a:solidFill>
                  <a:schemeClr val="tx1"/>
                </a:solidFill>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1"/>
                </a:solidFill>
              </a:defRPr>
            </a:lvl1pPr>
          </a:lstStyle>
          <a:p>
            <a:fld id="{9E583DDF-CA54-461A-A486-592D2374C532}" type="datetimeFigureOut">
              <a:rPr lang="en-US" smtClean="0"/>
              <a:t>6/24/2019</a:t>
            </a:fld>
            <a:endParaRPr lang="en-US"/>
          </a:p>
        </p:txBody>
      </p:sp>
      <p:sp>
        <p:nvSpPr>
          <p:cNvPr id="6" name="Footer Placeholder 5"/>
          <p:cNvSpPr>
            <a:spLocks noGrp="1"/>
          </p:cNvSpPr>
          <p:nvPr>
            <p:ph type="ftr" sz="quarter" idx="11"/>
          </p:nvPr>
        </p:nvSpPr>
        <p:spPr/>
        <p:txBody>
          <a:bodyPr/>
          <a:lstStyle>
            <a:lvl1pPr>
              <a:defRPr>
                <a:solidFill>
                  <a:schemeClr val="tx1"/>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A8D9AD5-F248-4919-864A-CFD76CC027D6}" type="slidenum">
              <a:rPr lang="en-SG" smtClean="0"/>
              <a:t>‹#›</a:t>
            </a:fld>
            <a:endParaRPr lang="en-SG"/>
          </a:p>
        </p:txBody>
      </p:sp>
      <p:sp>
        <p:nvSpPr>
          <p:cNvPr id="9" name="Rectangle 8"/>
          <p:cNvSpPr/>
          <p:nvPr/>
        </p:nvSpPr>
        <p:spPr>
          <a:xfrm>
            <a:off x="8915400"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8" tIns="45724" rIns="91448" bIns="45724" rtlCol="0" anchor="ctr"/>
          <a:lstStyle/>
          <a:p>
            <a:pPr lvl="0" algn="ctr"/>
            <a:endParaRPr sz="1350"/>
          </a:p>
        </p:txBody>
      </p:sp>
    </p:spTree>
    <p:extLst>
      <p:ext uri="{BB962C8B-B14F-4D97-AF65-F5344CB8AC3E}">
        <p14:creationId xmlns:p14="http://schemas.microsoft.com/office/powerpoint/2010/main" val="991035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5890" y="381000"/>
            <a:ext cx="2470710" cy="1371600"/>
          </a:xfrm>
        </p:spPr>
        <p:txBody>
          <a:bodyPr anchor="b">
            <a:normAutofit/>
          </a:bodyPr>
          <a:lstStyle>
            <a:lvl1pPr algn="l">
              <a:defRPr sz="2101" b="0" cap="all" baseline="0">
                <a:solidFill>
                  <a:schemeClr val="tx2">
                    <a:lumMod val="75000"/>
                  </a:schemeClr>
                </a:solidFill>
              </a:defRPr>
            </a:lvl1pPr>
          </a:lstStyle>
          <a:p>
            <a:r>
              <a:rPr lang="en-US"/>
              <a:t>Click to edit Master title style</a:t>
            </a:r>
            <a:endParaRPr dirty="0"/>
          </a:p>
        </p:txBody>
      </p:sp>
      <p:sp>
        <p:nvSpPr>
          <p:cNvPr id="3" name="Picture Placeholder 2" descr="An empty placeholder to add an image. Click on the placeholder and select the image that you wish to add"/>
          <p:cNvSpPr>
            <a:spLocks noGrp="1"/>
          </p:cNvSpPr>
          <p:nvPr>
            <p:ph type="pic" idx="1"/>
          </p:nvPr>
        </p:nvSpPr>
        <p:spPr bwMode="auto">
          <a:xfrm>
            <a:off x="3886200" y="482600"/>
            <a:ext cx="4648200" cy="5689600"/>
          </a:xfrm>
          <a:ln w="19050">
            <a:solidFill>
              <a:schemeClr val="bg1"/>
            </a:solidFill>
          </a:ln>
        </p:spPr>
        <p:txBody>
          <a:bodyPr>
            <a:normAutofit/>
          </a:bodyPr>
          <a:lstStyle>
            <a:lvl1pPr marL="0" indent="0">
              <a:buNone/>
              <a:defRPr sz="2101"/>
            </a:lvl1pPr>
            <a:lvl2pPr marL="342991" indent="0">
              <a:buNone/>
              <a:defRPr sz="2101"/>
            </a:lvl2pPr>
            <a:lvl3pPr marL="685983" indent="0">
              <a:buNone/>
              <a:defRPr sz="1800"/>
            </a:lvl3pPr>
            <a:lvl4pPr marL="1028974" indent="0">
              <a:buNone/>
              <a:defRPr sz="1500"/>
            </a:lvl4pPr>
            <a:lvl5pPr marL="1371966" indent="0">
              <a:buNone/>
              <a:defRPr sz="1500"/>
            </a:lvl5pPr>
            <a:lvl6pPr marL="1714957" indent="0">
              <a:buNone/>
              <a:defRPr sz="1500"/>
            </a:lvl6pPr>
            <a:lvl7pPr marL="2057949" indent="0">
              <a:buNone/>
              <a:defRPr sz="1500"/>
            </a:lvl7pPr>
            <a:lvl8pPr marL="2400940" indent="0">
              <a:buNone/>
              <a:defRPr sz="1500"/>
            </a:lvl8pPr>
            <a:lvl9pPr marL="2743932" indent="0">
              <a:buNone/>
              <a:defRPr sz="1500"/>
            </a:lvl9pPr>
          </a:lstStyle>
          <a:p>
            <a:r>
              <a:rPr lang="en-US"/>
              <a:t>Click icon to add picture</a:t>
            </a:r>
            <a:endParaRPr dirty="0"/>
          </a:p>
        </p:txBody>
      </p:sp>
      <p:sp>
        <p:nvSpPr>
          <p:cNvPr id="4" name="Text Placeholder 3"/>
          <p:cNvSpPr>
            <a:spLocks noGrp="1"/>
          </p:cNvSpPr>
          <p:nvPr>
            <p:ph type="body" sz="half" idx="2"/>
          </p:nvPr>
        </p:nvSpPr>
        <p:spPr>
          <a:xfrm>
            <a:off x="805890" y="1828800"/>
            <a:ext cx="2470710" cy="4343400"/>
          </a:xfrm>
        </p:spPr>
        <p:txBody>
          <a:bodyPr>
            <a:normAutofit/>
          </a:bodyPr>
          <a:lstStyle>
            <a:lvl1pPr marL="0" indent="0">
              <a:buNone/>
              <a:defRPr sz="1500">
                <a:solidFill>
                  <a:schemeClr val="tx1"/>
                </a:solidFill>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9E583DDF-CA54-461A-A486-592D2374C532}" type="datetimeFigureOut">
              <a:rPr lang="en-US" smtClean="0"/>
              <a:t>6/24/2019</a:t>
            </a:fld>
            <a:endParaRPr lang="en-US"/>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A8D9AD5-F248-4919-864A-CFD76CC027D6}" type="slidenum">
              <a:rPr lang="en-SG" smtClean="0"/>
              <a:t>‹#›</a:t>
            </a:fld>
            <a:endParaRPr lang="en-SG"/>
          </a:p>
        </p:txBody>
      </p:sp>
      <p:sp>
        <p:nvSpPr>
          <p:cNvPr id="9" name="Rectangle 8"/>
          <p:cNvSpPr/>
          <p:nvPr/>
        </p:nvSpPr>
        <p:spPr>
          <a:xfrm>
            <a:off x="8915400"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8" tIns="45724" rIns="91448" bIns="45724" rtlCol="0" anchor="ctr"/>
          <a:lstStyle/>
          <a:p>
            <a:pPr lvl="0" algn="ctr"/>
            <a:endParaRPr sz="1350"/>
          </a:p>
        </p:txBody>
      </p:sp>
    </p:spTree>
    <p:extLst>
      <p:ext uri="{BB962C8B-B14F-4D97-AF65-F5344CB8AC3E}">
        <p14:creationId xmlns:p14="http://schemas.microsoft.com/office/powerpoint/2010/main" val="1833844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dirty="0"/>
          </a:p>
        </p:txBody>
      </p:sp>
      <p:sp>
        <p:nvSpPr>
          <p:cNvPr id="3" name="Vertical Text Placeholder 2"/>
          <p:cNvSpPr>
            <a:spLocks noGrp="1"/>
          </p:cNvSpPr>
          <p:nvPr>
            <p:ph type="body" orient="vert" idx="1" hasCustomPrompt="1"/>
          </p:nvPr>
        </p:nvSpPr>
        <p:spPr/>
        <p:txBody>
          <a:bodyPr vert="eaVert"/>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9E583DDF-CA54-461A-A486-592D2374C532}" type="datetimeFigureOut">
              <a:rPr lang="en-US" smtClean="0"/>
              <a:t>6/24/2019</a:t>
            </a:fld>
            <a:endParaRPr lang="en-US"/>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A8D9AD5-F248-4919-864A-CFD76CC027D6}" type="slidenum">
              <a:rPr lang="en-SG" smtClean="0"/>
              <a:t>‹#›</a:t>
            </a:fld>
            <a:endParaRPr lang="en-SG"/>
          </a:p>
        </p:txBody>
      </p:sp>
    </p:spTree>
    <p:extLst>
      <p:ext uri="{BB962C8B-B14F-4D97-AF65-F5344CB8AC3E}">
        <p14:creationId xmlns:p14="http://schemas.microsoft.com/office/powerpoint/2010/main" val="135052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01584" y="685800"/>
            <a:ext cx="1340994" cy="5486400"/>
          </a:xfrm>
        </p:spPr>
        <p:txBody>
          <a:bodyPr vert="eaVert"/>
          <a:lstStyle/>
          <a:p>
            <a:r>
              <a:rPr lang="en-US"/>
              <a:t>Click to edit Master title style</a:t>
            </a:r>
            <a:endParaRPr dirty="0"/>
          </a:p>
        </p:txBody>
      </p:sp>
      <p:sp>
        <p:nvSpPr>
          <p:cNvPr id="3" name="Vertical Text Placeholder 2"/>
          <p:cNvSpPr>
            <a:spLocks noGrp="1"/>
          </p:cNvSpPr>
          <p:nvPr>
            <p:ph type="body" orient="vert" idx="1" hasCustomPrompt="1"/>
          </p:nvPr>
        </p:nvSpPr>
        <p:spPr>
          <a:xfrm>
            <a:off x="1199272" y="685800"/>
            <a:ext cx="5887983" cy="5486400"/>
          </a:xfrm>
        </p:spPr>
        <p:txBody>
          <a:bodyPr vert="eaVert"/>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9E583DDF-CA54-461A-A486-592D2374C532}" type="datetimeFigureOut">
              <a:rPr lang="en-US" smtClean="0"/>
              <a:t>6/24/2019</a:t>
            </a:fld>
            <a:endParaRPr lang="en-US"/>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A8D9AD5-F248-4919-864A-CFD76CC027D6}" type="slidenum">
              <a:rPr lang="en-SG" smtClean="0"/>
              <a:t>‹#›</a:t>
            </a:fld>
            <a:endParaRPr lang="en-SG"/>
          </a:p>
        </p:txBody>
      </p:sp>
      <p:sp>
        <p:nvSpPr>
          <p:cNvPr id="8" name="Rectangle 7"/>
          <p:cNvSpPr/>
          <p:nvPr/>
        </p:nvSpPr>
        <p:spPr>
          <a:xfrm>
            <a:off x="8916591" y="0"/>
            <a:ext cx="228600" cy="6858000"/>
          </a:xfrm>
          <a:prstGeom prst="rect">
            <a:avLst/>
          </a:prstGeom>
          <a:solidFill>
            <a:schemeClr val="tx2">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8" tIns="45724" rIns="91448" bIns="45724" rtlCol="0" anchor="ctr"/>
          <a:lstStyle/>
          <a:p>
            <a:pPr lvl="0" algn="ctr"/>
            <a:endParaRPr sz="1350"/>
          </a:p>
        </p:txBody>
      </p:sp>
    </p:spTree>
    <p:extLst>
      <p:ext uri="{BB962C8B-B14F-4D97-AF65-F5344CB8AC3E}">
        <p14:creationId xmlns:p14="http://schemas.microsoft.com/office/powerpoint/2010/main" val="2533873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3554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tx2">
                <a:lumMod val="20000"/>
                <a:lumOff val="80000"/>
              </a:schemeClr>
            </a:gs>
            <a:gs pos="90000">
              <a:schemeClr val="tx2">
                <a:lumMod val="60000"/>
                <a:lumOff val="4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27931" y="177801"/>
            <a:ext cx="7106469" cy="1239837"/>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427931" y="1600200"/>
            <a:ext cx="7106469"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3886200" y="6356352"/>
            <a:ext cx="914400" cy="365125"/>
          </a:xfrm>
          <a:prstGeom prst="rect">
            <a:avLst/>
          </a:prstGeom>
        </p:spPr>
        <p:txBody>
          <a:bodyPr vert="horz" lIns="91440" tIns="45720" rIns="91440" bIns="45720" rtlCol="0" anchor="ctr"/>
          <a:lstStyle>
            <a:lvl1pPr algn="l">
              <a:defRPr sz="825" cap="all" baseline="0">
                <a:solidFill>
                  <a:schemeClr val="tx1"/>
                </a:solidFill>
              </a:defRPr>
            </a:lvl1pPr>
          </a:lstStyle>
          <a:p>
            <a:fld id="{FD004168-AADC-4457-9784-543656FEE4FC}" type="datetime1">
              <a:rPr lang="en-US" smtClean="0"/>
              <a:pPr/>
              <a:t>6/24/2019</a:t>
            </a:fld>
            <a:endParaRPr lang="en-US"/>
          </a:p>
        </p:txBody>
      </p:sp>
      <p:sp>
        <p:nvSpPr>
          <p:cNvPr id="5" name="Footer Placeholder 4"/>
          <p:cNvSpPr>
            <a:spLocks noGrp="1"/>
          </p:cNvSpPr>
          <p:nvPr>
            <p:ph type="ftr" sz="quarter" idx="3"/>
          </p:nvPr>
        </p:nvSpPr>
        <p:spPr>
          <a:xfrm>
            <a:off x="4948239" y="6356352"/>
            <a:ext cx="2981325" cy="365125"/>
          </a:xfrm>
          <a:prstGeom prst="rect">
            <a:avLst/>
          </a:prstGeom>
        </p:spPr>
        <p:txBody>
          <a:bodyPr vert="horz" lIns="91440" tIns="45720" rIns="91440" bIns="45720" rtlCol="0" anchor="ctr"/>
          <a:lstStyle>
            <a:lvl1pPr algn="ctr">
              <a:defRPr sz="825" cap="all" baseline="0">
                <a:solidFill>
                  <a:schemeClr val="tx1"/>
                </a:solidFill>
              </a:defRPr>
            </a:lvl1pPr>
          </a:lstStyle>
          <a:p>
            <a:r>
              <a:rPr lang="en-US"/>
              <a:t>Add a footer</a:t>
            </a:r>
            <a:endParaRPr lang="en-US" dirty="0"/>
          </a:p>
        </p:txBody>
      </p:sp>
      <p:sp>
        <p:nvSpPr>
          <p:cNvPr id="6" name="Slide Number Placeholder 5"/>
          <p:cNvSpPr>
            <a:spLocks noGrp="1"/>
          </p:cNvSpPr>
          <p:nvPr>
            <p:ph type="sldNum" sz="quarter" idx="4"/>
          </p:nvPr>
        </p:nvSpPr>
        <p:spPr>
          <a:xfrm>
            <a:off x="8077201" y="6356352"/>
            <a:ext cx="457200" cy="365125"/>
          </a:xfrm>
          <a:prstGeom prst="rect">
            <a:avLst/>
          </a:prstGeom>
        </p:spPr>
        <p:txBody>
          <a:bodyPr vert="horz" lIns="91440" tIns="45720" rIns="91440" bIns="45720" rtlCol="0" anchor="ctr"/>
          <a:lstStyle>
            <a:lvl1pPr algn="r">
              <a:defRPr sz="825" cap="all" baseline="0">
                <a:solidFill>
                  <a:schemeClr val="tx1"/>
                </a:solidFill>
              </a:defRPr>
            </a:lvl1pPr>
          </a:lstStyle>
          <a:p>
            <a:fld id="{7DC1BBB0-96F0-4077-A278-0F3FB5C104D3}" type="slidenum">
              <a:rPr lang="en-US" smtClean="0"/>
              <a:pPr/>
              <a:t>‹#›</a:t>
            </a:fld>
            <a:endParaRPr lang="en-US"/>
          </a:p>
        </p:txBody>
      </p:sp>
      <p:sp>
        <p:nvSpPr>
          <p:cNvPr id="9" name="Rectangle 8"/>
          <p:cNvSpPr/>
          <p:nvPr/>
        </p:nvSpPr>
        <p:spPr>
          <a:xfrm>
            <a:off x="8916591" y="0"/>
            <a:ext cx="228600" cy="6858000"/>
          </a:xfrm>
          <a:prstGeom prst="rect">
            <a:avLst/>
          </a:prstGeom>
          <a:solidFill>
            <a:schemeClr val="tx2">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8" tIns="45724" rIns="91448" bIns="45724" rtlCol="0" anchor="ctr"/>
          <a:lstStyle/>
          <a:p>
            <a:pPr lvl="0" algn="ctr"/>
            <a:endParaRPr sz="1350"/>
          </a:p>
        </p:txBody>
      </p:sp>
      <p:pic>
        <p:nvPicPr>
          <p:cNvPr id="46" name="Picture 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ltGray">
          <a:xfrm>
            <a:off x="0" y="0"/>
            <a:ext cx="1352902" cy="6858000"/>
          </a:xfrm>
          <a:prstGeom prst="rect">
            <a:avLst/>
          </a:prstGeom>
          <a:noFill/>
          <a:ln>
            <a:noFill/>
          </a:ln>
        </p:spPr>
      </p:pic>
    </p:spTree>
    <p:extLst>
      <p:ext uri="{BB962C8B-B14F-4D97-AF65-F5344CB8AC3E}">
        <p14:creationId xmlns:p14="http://schemas.microsoft.com/office/powerpoint/2010/main" val="341385356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983" rtl="0" eaLnBrk="1" latinLnBrk="0" hangingPunct="1">
        <a:lnSpc>
          <a:spcPct val="90000"/>
        </a:lnSpc>
        <a:spcBef>
          <a:spcPct val="0"/>
        </a:spcBef>
        <a:buNone/>
        <a:defRPr sz="2701" kern="1200">
          <a:solidFill>
            <a:schemeClr val="tx2">
              <a:lumMod val="75000"/>
            </a:schemeClr>
          </a:solidFill>
          <a:latin typeface="+mj-lt"/>
          <a:ea typeface="+mj-ea"/>
          <a:cs typeface="+mj-cs"/>
        </a:defRPr>
      </a:lvl1pPr>
    </p:titleStyle>
    <p:bodyStyle>
      <a:lvl1pPr marL="185215" indent="-185215" algn="l" defTabSz="685983" rtl="0" eaLnBrk="1" latinLnBrk="0" hangingPunct="1">
        <a:lnSpc>
          <a:spcPct val="90000"/>
        </a:lnSpc>
        <a:spcBef>
          <a:spcPts val="1050"/>
        </a:spcBef>
        <a:buFont typeface="Euphemia" pitchFamily="34" charset="0"/>
        <a:buChar char="›"/>
        <a:defRPr sz="2101" kern="1200">
          <a:solidFill>
            <a:schemeClr val="tx1"/>
          </a:solidFill>
          <a:latin typeface="+mn-lt"/>
          <a:ea typeface="+mn-ea"/>
          <a:cs typeface="+mn-cs"/>
        </a:defRPr>
      </a:lvl1pPr>
      <a:lvl2pPr marL="459609" indent="-185215" algn="l" defTabSz="685983" rtl="0" eaLnBrk="1" latinLnBrk="0" hangingPunct="1">
        <a:lnSpc>
          <a:spcPct val="90000"/>
        </a:lnSpc>
        <a:spcBef>
          <a:spcPts val="450"/>
        </a:spcBef>
        <a:buFont typeface="Euphemia" pitchFamily="34" charset="0"/>
        <a:buChar char="–"/>
        <a:defRPr sz="1800" kern="1200">
          <a:solidFill>
            <a:schemeClr val="tx1"/>
          </a:solidFill>
          <a:latin typeface="+mn-lt"/>
          <a:ea typeface="+mn-ea"/>
          <a:cs typeface="+mn-cs"/>
        </a:defRPr>
      </a:lvl2pPr>
      <a:lvl3pPr marL="734002" indent="-185215" algn="l" defTabSz="685983" rtl="0" eaLnBrk="1" latinLnBrk="0" hangingPunct="1">
        <a:lnSpc>
          <a:spcPct val="90000"/>
        </a:lnSpc>
        <a:spcBef>
          <a:spcPts val="450"/>
        </a:spcBef>
        <a:buFont typeface="Euphemia" pitchFamily="34" charset="0"/>
        <a:buChar char="›"/>
        <a:defRPr sz="1500" kern="1200">
          <a:solidFill>
            <a:schemeClr val="tx1"/>
          </a:solidFill>
          <a:latin typeface="+mn-lt"/>
          <a:ea typeface="+mn-ea"/>
          <a:cs typeface="+mn-cs"/>
        </a:defRPr>
      </a:lvl3pPr>
      <a:lvl4pPr marL="1008395" indent="-185215" algn="l" defTabSz="685983" rtl="0" eaLnBrk="1" latinLnBrk="0" hangingPunct="1">
        <a:lnSpc>
          <a:spcPct val="90000"/>
        </a:lnSpc>
        <a:spcBef>
          <a:spcPts val="450"/>
        </a:spcBef>
        <a:buFont typeface="Arial" pitchFamily="34" charset="0"/>
        <a:buChar char="–"/>
        <a:defRPr sz="1350" kern="1200">
          <a:solidFill>
            <a:schemeClr val="tx1"/>
          </a:solidFill>
          <a:latin typeface="+mn-lt"/>
          <a:ea typeface="+mn-ea"/>
          <a:cs typeface="+mn-cs"/>
        </a:defRPr>
      </a:lvl4pPr>
      <a:lvl5pPr marL="1282788" indent="-185215" algn="l" defTabSz="685983" rtl="0" eaLnBrk="1" latinLnBrk="0" hangingPunct="1">
        <a:lnSpc>
          <a:spcPct val="90000"/>
        </a:lnSpc>
        <a:spcBef>
          <a:spcPts val="450"/>
        </a:spcBef>
        <a:buFont typeface="Euphemia" pitchFamily="34" charset="0"/>
        <a:buChar char="›"/>
        <a:defRPr sz="1350" kern="1200">
          <a:solidFill>
            <a:schemeClr val="tx1"/>
          </a:solidFill>
          <a:latin typeface="+mn-lt"/>
          <a:ea typeface="+mn-ea"/>
          <a:cs typeface="+mn-cs"/>
        </a:defRPr>
      </a:lvl5pPr>
      <a:lvl6pPr marL="1557181" indent="-185215" algn="l" defTabSz="685983" rtl="0" eaLnBrk="1" latinLnBrk="0" hangingPunct="1">
        <a:lnSpc>
          <a:spcPct val="90000"/>
        </a:lnSpc>
        <a:spcBef>
          <a:spcPts val="450"/>
        </a:spcBef>
        <a:buFont typeface="Euphemia" pitchFamily="34" charset="0"/>
        <a:buChar char="–"/>
        <a:defRPr sz="1350" kern="1200">
          <a:solidFill>
            <a:schemeClr val="tx1"/>
          </a:solidFill>
          <a:latin typeface="+mn-lt"/>
          <a:ea typeface="+mn-ea"/>
          <a:cs typeface="+mn-cs"/>
        </a:defRPr>
      </a:lvl6pPr>
      <a:lvl7pPr marL="1831574" indent="-185215" algn="l" defTabSz="685983" rtl="0" eaLnBrk="1" latinLnBrk="0" hangingPunct="1">
        <a:lnSpc>
          <a:spcPct val="90000"/>
        </a:lnSpc>
        <a:spcBef>
          <a:spcPts val="450"/>
        </a:spcBef>
        <a:buFont typeface="Euphemia" pitchFamily="34" charset="0"/>
        <a:buChar char="›"/>
        <a:defRPr sz="1350" kern="1200">
          <a:solidFill>
            <a:schemeClr val="tx1"/>
          </a:solidFill>
          <a:latin typeface="+mn-lt"/>
          <a:ea typeface="+mn-ea"/>
          <a:cs typeface="+mn-cs"/>
        </a:defRPr>
      </a:lvl7pPr>
      <a:lvl8pPr marL="2105967" indent="-185215" algn="l" defTabSz="685983" rtl="0" eaLnBrk="1" latinLnBrk="0" hangingPunct="1">
        <a:lnSpc>
          <a:spcPct val="90000"/>
        </a:lnSpc>
        <a:spcBef>
          <a:spcPts val="450"/>
        </a:spcBef>
        <a:buFont typeface="Euphemia" pitchFamily="34" charset="0"/>
        <a:buChar char="–"/>
        <a:defRPr sz="1350" kern="1200" baseline="0">
          <a:solidFill>
            <a:schemeClr val="tx1"/>
          </a:solidFill>
          <a:latin typeface="+mn-lt"/>
          <a:ea typeface="+mn-ea"/>
          <a:cs typeface="+mn-cs"/>
        </a:defRPr>
      </a:lvl8pPr>
      <a:lvl9pPr marL="2380361" indent="-185215" algn="l" defTabSz="685983" rtl="0" eaLnBrk="1" latinLnBrk="0" hangingPunct="1">
        <a:lnSpc>
          <a:spcPct val="90000"/>
        </a:lnSpc>
        <a:spcBef>
          <a:spcPts val="450"/>
        </a:spcBef>
        <a:buFont typeface="Euphemia" pitchFamily="34" charset="0"/>
        <a:buChar char="›"/>
        <a:defRPr sz="1350" kern="1200" baseline="0">
          <a:solidFill>
            <a:schemeClr val="tx1"/>
          </a:solidFill>
          <a:latin typeface="+mn-lt"/>
          <a:ea typeface="+mn-ea"/>
          <a:cs typeface="+mn-cs"/>
        </a:defRPr>
      </a:lvl9pPr>
    </p:bodyStyle>
    <p:otherStyle>
      <a:defPPr>
        <a:defRPr/>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0" orient="horz" pos="2160">
          <p15:clr>
            <a:srgbClr val="F26B43"/>
          </p15:clr>
        </p15:guide>
        <p15:guide id="1" pos="3839">
          <p15:clr>
            <a:srgbClr val="F26B43"/>
          </p15:clr>
        </p15:guide>
        <p15:guide id="2" pos="1199">
          <p15:clr>
            <a:srgbClr val="F26B43"/>
          </p15:clr>
        </p15:guide>
        <p15:guide id="3" pos="719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image" Target="../media/image6.emf"/></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5.xml"/><Relationship Id="rId1" Type="http://schemas.openxmlformats.org/officeDocument/2006/relationships/slideLayout" Target="../slideLayouts/slideLayout18.xml"/><Relationship Id="rId5" Type="http://schemas.openxmlformats.org/officeDocument/2006/relationships/image" Target="../media/image7.emf"/><Relationship Id="rId4" Type="http://schemas.openxmlformats.org/officeDocument/2006/relationships/image" Target="../media/image6.emf"/></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7.emf"/><Relationship Id="rId4" Type="http://schemas.openxmlformats.org/officeDocument/2006/relationships/image" Target="../media/image6.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8.xml"/><Relationship Id="rId5" Type="http://schemas.openxmlformats.org/officeDocument/2006/relationships/image" Target="../media/image13.emf"/><Relationship Id="rId4" Type="http://schemas.openxmlformats.org/officeDocument/2006/relationships/image" Target="../media/image11.emf"/></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image" Target="../media/image11.emf"/></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8.xml"/><Relationship Id="rId5" Type="http://schemas.openxmlformats.org/officeDocument/2006/relationships/image" Target="../media/image13.emf"/><Relationship Id="rId4" Type="http://schemas.openxmlformats.org/officeDocument/2006/relationships/image" Target="../media/image11.emf"/></Relationships>
</file>

<file path=ppt/slides/_rels/slide3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8.xml"/><Relationship Id="rId4" Type="http://schemas.openxmlformats.org/officeDocument/2006/relationships/image" Target="../media/image11.emf"/></Relationships>
</file>

<file path=ppt/slides/_rels/slide3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8.xml"/><Relationship Id="rId1" Type="http://schemas.openxmlformats.org/officeDocument/2006/relationships/slideLayout" Target="../slideLayouts/slideLayout18.xml"/><Relationship Id="rId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0"/>
            <a:ext cx="7561217" cy="1447801"/>
          </a:xfrm>
        </p:spPr>
        <p:txBody>
          <a:bodyPr/>
          <a:lstStyle/>
          <a:p>
            <a:r>
              <a:rPr lang="en-US" dirty="0"/>
              <a:t>Chapter 11 – Configuring Windows Group Policy</a:t>
            </a:r>
          </a:p>
        </p:txBody>
      </p:sp>
      <p:sp>
        <p:nvSpPr>
          <p:cNvPr id="5" name="Subtitle 4">
            <a:extLst>
              <a:ext uri="{FF2B5EF4-FFF2-40B4-BE49-F238E27FC236}">
                <a16:creationId xmlns:a16="http://schemas.microsoft.com/office/drawing/2014/main" id="{7C23E1EF-3EB3-4FAD-9C9F-D47C5388DA3B}"/>
              </a:ext>
            </a:extLst>
          </p:cNvPr>
          <p:cNvSpPr>
            <a:spLocks noGrp="1"/>
          </p:cNvSpPr>
          <p:nvPr>
            <p:ph type="subTitle" idx="1"/>
          </p:nvPr>
        </p:nvSpPr>
        <p:spPr/>
        <p:txBody>
          <a:bodyPr/>
          <a:lstStyle/>
          <a:p>
            <a:endParaRPr lang="en-SG"/>
          </a:p>
        </p:txBody>
      </p:sp>
    </p:spTree>
    <p:custDataLst>
      <p:tags r:id="rId1"/>
    </p:custDataLst>
    <p:extLst>
      <p:ext uri="{BB962C8B-B14F-4D97-AF65-F5344CB8AC3E}">
        <p14:creationId xmlns:p14="http://schemas.microsoft.com/office/powerpoint/2010/main" val="61356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Chapter </a:t>
            </a:r>
            <a:r>
              <a:rPr lang="en-US" dirty="0"/>
              <a:t>Overview</a:t>
            </a:r>
          </a:p>
        </p:txBody>
      </p:sp>
      <p:sp>
        <p:nvSpPr>
          <p:cNvPr id="3" name="Text Placeholder 2"/>
          <p:cNvSpPr>
            <a:spLocks noGrp="1"/>
          </p:cNvSpPr>
          <p:nvPr>
            <p:ph type="body" idx="1"/>
          </p:nvPr>
        </p:nvSpPr>
        <p:spPr/>
        <p:txBody>
          <a:bodyPr/>
          <a:lstStyle/>
          <a:p>
            <a:r>
              <a:rPr lang="en-US"/>
              <a:t>Introducing Group Policy
Implementing and administering GPOs
Group Policy scope and Group Policy processing
Troubleshooting the application of GPOs</a:t>
            </a:r>
          </a:p>
        </p:txBody>
      </p:sp>
    </p:spTree>
    <p:extLst>
      <p:ext uri="{BB962C8B-B14F-4D97-AF65-F5344CB8AC3E}">
        <p14:creationId xmlns:p14="http://schemas.microsoft.com/office/powerpoint/2010/main" val="3731097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a:xfrm>
            <a:off x="1400221" y="34636"/>
            <a:ext cx="7106469" cy="507999"/>
          </a:xfrm>
        </p:spPr>
        <p:txBody>
          <a:bodyPr/>
          <a:lstStyle/>
          <a:p>
            <a:r>
              <a:rPr lang="en-US" dirty="0"/>
              <a:t>Introducing Group Policy</a:t>
            </a:r>
          </a:p>
        </p:txBody>
      </p:sp>
      <p:sp>
        <p:nvSpPr>
          <p:cNvPr id="3" name="Text Placeholder 2"/>
          <p:cNvSpPr>
            <a:spLocks noGrp="1"/>
          </p:cNvSpPr>
          <p:nvPr>
            <p:ph type="body" idx="1"/>
          </p:nvPr>
        </p:nvSpPr>
        <p:spPr>
          <a:xfrm>
            <a:off x="1427930" y="1417638"/>
            <a:ext cx="7411269" cy="5211762"/>
          </a:xfrm>
        </p:spPr>
        <p:txBody>
          <a:bodyPr/>
          <a:lstStyle/>
          <a:p>
            <a:r>
              <a:rPr lang="en-US" dirty="0"/>
              <a:t>What is configuration management?
Overview of Group Policy tools and consoles
Demonstration: Exploring Group Policy tools and consoles
Benefits of using Group Policy
Group Policy Objects
Overview of GPO scope
Overview of GPO inheritance
The Group Policy Client service and client-side extensions
New features in Group Policy in </a:t>
            </a:r>
            <a:br>
              <a:rPr lang="en-US" dirty="0"/>
            </a:br>
            <a:r>
              <a:rPr lang="en-US" dirty="0"/>
              <a:t>Windows Server 2016</a:t>
            </a:r>
          </a:p>
        </p:txBody>
      </p:sp>
    </p:spTree>
    <p:extLst>
      <p:ext uri="{BB962C8B-B14F-4D97-AF65-F5344CB8AC3E}">
        <p14:creationId xmlns:p14="http://schemas.microsoft.com/office/powerpoint/2010/main" val="2105630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b8aab6b7-4085-4b30-a6f5-86648cdc69bf">
    <p:spTree>
      <p:nvGrpSpPr>
        <p:cNvPr id="1" name=""/>
        <p:cNvGrpSpPr/>
        <p:nvPr/>
      </p:nvGrpSpPr>
      <p:grpSpPr>
        <a:xfrm>
          <a:off x="0" y="0"/>
          <a:ext cx="0" cy="0"/>
          <a:chOff x="0" y="0"/>
          <a:chExt cx="0" cy="0"/>
        </a:xfrm>
      </p:grpSpPr>
      <p:sp>
        <p:nvSpPr>
          <p:cNvPr id="2" name="Title 1"/>
          <p:cNvSpPr>
            <a:spLocks noGrp="1"/>
          </p:cNvSpPr>
          <p:nvPr>
            <p:ph type="title"/>
          </p:nvPr>
        </p:nvSpPr>
        <p:spPr>
          <a:xfrm>
            <a:off x="1407149" y="0"/>
            <a:ext cx="7106469" cy="660399"/>
          </a:xfrm>
        </p:spPr>
        <p:txBody>
          <a:bodyPr/>
          <a:lstStyle/>
          <a:p>
            <a:r>
              <a:rPr lang="en-US" dirty="0"/>
              <a:t>What is configuration management?</a:t>
            </a:r>
          </a:p>
        </p:txBody>
      </p:sp>
      <p:sp>
        <p:nvSpPr>
          <p:cNvPr id="4" name="Content Placeholder 2"/>
          <p:cNvSpPr>
            <a:spLocks noGrp="1"/>
          </p:cNvSpPr>
          <p:nvPr/>
        </p:nvSpPr>
        <p:spPr bwMode="auto">
          <a:xfrm>
            <a:off x="1427931" y="1417637"/>
            <a:ext cx="7335068" cy="473147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defRPr/>
            </a:pPr>
            <a:r>
              <a:rPr lang="en-US" sz="2800" i="1" dirty="0">
                <a:latin typeface="Segoe UI" pitchFamily="34" charset="0"/>
                <a:ea typeface="Segoe UI" pitchFamily="34" charset="0"/>
                <a:cs typeface="Segoe UI" pitchFamily="34" charset="0"/>
              </a:rPr>
              <a:t>Configuration management </a:t>
            </a:r>
            <a:r>
              <a:rPr lang="en-US" sz="2800" dirty="0">
                <a:latin typeface="Segoe UI" pitchFamily="34" charset="0"/>
                <a:ea typeface="Segoe UI" pitchFamily="34" charset="0"/>
                <a:cs typeface="Segoe UI" pitchFamily="34" charset="0"/>
              </a:rPr>
              <a:t>is a centralized approach to applying one or more changes to more than one user or computer</a:t>
            </a:r>
          </a:p>
          <a:p>
            <a:pPr>
              <a:defRPr/>
            </a:pPr>
            <a:r>
              <a:rPr lang="en-US" sz="2800" dirty="0">
                <a:latin typeface="Segoe UI" pitchFamily="34" charset="0"/>
                <a:ea typeface="Segoe UI" pitchFamily="34" charset="0"/>
                <a:cs typeface="Segoe UI" pitchFamily="34" charset="0"/>
              </a:rPr>
              <a:t>The key elements of configuration management are:</a:t>
            </a:r>
          </a:p>
          <a:p>
            <a:pPr marL="411480" lvl="1" indent="-182880">
              <a:buFont typeface="Arial" panose="020B0604020202020204" pitchFamily="34" charset="0"/>
              <a:buChar char="•"/>
              <a:defRPr/>
            </a:pPr>
            <a:r>
              <a:rPr lang="en-US" sz="2400" dirty="0">
                <a:latin typeface="Segoe UI" pitchFamily="34" charset="0"/>
                <a:ea typeface="Segoe UI" pitchFamily="34" charset="0"/>
                <a:cs typeface="Segoe UI" pitchFamily="34" charset="0"/>
              </a:rPr>
              <a:t>Setting</a:t>
            </a:r>
          </a:p>
          <a:p>
            <a:pPr marL="411480" lvl="1" indent="-182880">
              <a:buFont typeface="Arial" panose="020B0604020202020204" pitchFamily="34" charset="0"/>
              <a:buChar char="•"/>
              <a:defRPr/>
            </a:pPr>
            <a:r>
              <a:rPr lang="en-US" sz="2400" dirty="0">
                <a:latin typeface="Segoe UI" pitchFamily="34" charset="0"/>
                <a:ea typeface="Segoe UI" pitchFamily="34" charset="0"/>
                <a:cs typeface="Segoe UI" pitchFamily="34" charset="0"/>
              </a:rPr>
              <a:t>Scope</a:t>
            </a:r>
          </a:p>
          <a:p>
            <a:pPr marL="411480" lvl="1" indent="-182880">
              <a:buFont typeface="Arial" panose="020B0604020202020204" pitchFamily="34" charset="0"/>
              <a:buChar char="•"/>
              <a:defRPr/>
            </a:pPr>
            <a:r>
              <a:rPr lang="en-US" sz="2400" dirty="0">
                <a:latin typeface="Segoe UI" pitchFamily="34" charset="0"/>
                <a:ea typeface="Segoe UI" pitchFamily="34" charset="0"/>
                <a:cs typeface="Segoe UI" pitchFamily="34" charset="0"/>
              </a:rPr>
              <a:t>Application</a:t>
            </a:r>
          </a:p>
        </p:txBody>
      </p:sp>
    </p:spTree>
    <p:extLst>
      <p:ext uri="{BB962C8B-B14F-4D97-AF65-F5344CB8AC3E}">
        <p14:creationId xmlns:p14="http://schemas.microsoft.com/office/powerpoint/2010/main" val="263816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ccddc3ea-0e3d-4399-b65e-1c3aa144ff08">
    <p:spTree>
      <p:nvGrpSpPr>
        <p:cNvPr id="1" name=""/>
        <p:cNvGrpSpPr/>
        <p:nvPr/>
      </p:nvGrpSpPr>
      <p:grpSpPr>
        <a:xfrm>
          <a:off x="0" y="0"/>
          <a:ext cx="0" cy="0"/>
          <a:chOff x="0" y="0"/>
          <a:chExt cx="0" cy="0"/>
        </a:xfrm>
      </p:grpSpPr>
      <p:sp>
        <p:nvSpPr>
          <p:cNvPr id="2" name="Title 1"/>
          <p:cNvSpPr>
            <a:spLocks noGrp="1"/>
          </p:cNvSpPr>
          <p:nvPr>
            <p:ph type="title"/>
          </p:nvPr>
        </p:nvSpPr>
        <p:spPr>
          <a:xfrm>
            <a:off x="1427931" y="177801"/>
            <a:ext cx="7106469" cy="646331"/>
          </a:xfrm>
        </p:spPr>
        <p:txBody>
          <a:bodyPr/>
          <a:lstStyle/>
          <a:p>
            <a:r>
              <a:rPr lang="en-US" dirty="0"/>
              <a:t>Overview of Group Policy tools and consoles</a:t>
            </a:r>
          </a:p>
        </p:txBody>
      </p:sp>
      <p:pic>
        <p:nvPicPr>
          <p:cNvPr id="4" name="Content Placeholder 3" descr="The slide includes two screenshots. On the left is a screenshot of Group Policy Management Console. The Domains node expanded, and the Group Policy Objects folder under Adatum.com is selected. On the right pane the Contents tab for Group Policy Objects in Adatum.com is displayed. On the right is a screnshot of Group Policy Management Editor.&#10;&#10;"/>
          <p:cNvPicPr>
            <a:picLocks noGrp="1" noChangeAspect="1"/>
          </p:cNvPicPr>
          <p:nvPr/>
        </p:nvPicPr>
        <p:blipFill rotWithShape="1">
          <a:blip r:embed="rId3"/>
          <a:srcRect r="12499"/>
          <a:stretch/>
        </p:blipFill>
        <p:spPr bwMode="auto">
          <a:xfrm>
            <a:off x="261711" y="1021215"/>
            <a:ext cx="5734140" cy="3962400"/>
          </a:xfrm>
          <a:prstGeom prst="rect">
            <a:avLst/>
          </a:prstGeom>
          <a:noFill/>
          <a:ln w="9525">
            <a:solidFill>
              <a:srgbClr val="0070C0"/>
            </a:solidFill>
            <a:miter lim="800000"/>
            <a:headEnd/>
            <a:tailEnd/>
          </a:ln>
        </p:spPr>
      </p:pic>
      <p:pic>
        <p:nvPicPr>
          <p:cNvPr id="5" name="Picture 4"/>
          <p:cNvPicPr>
            <a:picLocks noChangeAspect="1"/>
          </p:cNvPicPr>
          <p:nvPr/>
        </p:nvPicPr>
        <p:blipFill>
          <a:blip r:embed="rId4"/>
          <a:stretch>
            <a:fillRect/>
          </a:stretch>
        </p:blipFill>
        <p:spPr>
          <a:xfrm>
            <a:off x="6199417" y="1021215"/>
            <a:ext cx="2582015" cy="3962400"/>
          </a:xfrm>
          <a:prstGeom prst="rect">
            <a:avLst/>
          </a:prstGeom>
          <a:ln>
            <a:solidFill>
              <a:srgbClr val="0070C0"/>
            </a:solidFill>
          </a:ln>
        </p:spPr>
      </p:pic>
      <p:sp>
        <p:nvSpPr>
          <p:cNvPr id="6" name="TextBox 4"/>
          <p:cNvSpPr txBox="1"/>
          <p:nvPr/>
        </p:nvSpPr>
        <p:spPr>
          <a:xfrm>
            <a:off x="229052" y="4991490"/>
            <a:ext cx="5796191" cy="646331"/>
          </a:xfrm>
          <a:prstGeom prst="rect">
            <a:avLst/>
          </a:prstGeom>
          <a:solidFill>
            <a:srgbClr val="0070C0"/>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da-DK" dirty="0">
                <a:solidFill>
                  <a:schemeClr val="bg1"/>
                </a:solidFill>
                <a:latin typeface="Segoe UI" pitchFamily="34" charset="0"/>
                <a:cs typeface="Segoe UI" pitchFamily="34" charset="0"/>
              </a:rPr>
              <a:t>Group Policy Management Console</a:t>
            </a:r>
          </a:p>
          <a:p>
            <a:pPr algn="ctr"/>
            <a:endParaRPr lang="da-DK" dirty="0">
              <a:solidFill>
                <a:schemeClr val="bg1"/>
              </a:solidFill>
              <a:latin typeface="Segoe UI" pitchFamily="34" charset="0"/>
              <a:cs typeface="Segoe UI" pitchFamily="34" charset="0"/>
            </a:endParaRPr>
          </a:p>
        </p:txBody>
      </p:sp>
      <p:sp>
        <p:nvSpPr>
          <p:cNvPr id="7" name="TextBox 5"/>
          <p:cNvSpPr txBox="1"/>
          <p:nvPr/>
        </p:nvSpPr>
        <p:spPr>
          <a:xfrm>
            <a:off x="6183088" y="4999944"/>
            <a:ext cx="2598344" cy="646331"/>
          </a:xfrm>
          <a:prstGeom prst="rect">
            <a:avLst/>
          </a:prstGeom>
          <a:solidFill>
            <a:srgbClr val="0070C0"/>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da-DK" dirty="0">
                <a:solidFill>
                  <a:schemeClr val="bg1"/>
                </a:solidFill>
                <a:latin typeface="Segoe UI" pitchFamily="34" charset="0"/>
                <a:cs typeface="Segoe UI" pitchFamily="34" charset="0"/>
              </a:rPr>
              <a:t>Group Policy Management Editor</a:t>
            </a:r>
          </a:p>
        </p:txBody>
      </p:sp>
      <p:sp>
        <p:nvSpPr>
          <p:cNvPr id="8" name="TextBox 6"/>
          <p:cNvSpPr txBox="1"/>
          <p:nvPr/>
        </p:nvSpPr>
        <p:spPr>
          <a:xfrm>
            <a:off x="229052" y="6102877"/>
            <a:ext cx="8552380" cy="461665"/>
          </a:xfrm>
          <a:prstGeom prst="rect">
            <a:avLst/>
          </a:prstGeom>
          <a:solidFill>
            <a:srgbClr val="00B050"/>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da-DK" sz="2400" b="0" dirty="0">
                <a:solidFill>
                  <a:schemeClr val="bg1"/>
                </a:solidFill>
                <a:latin typeface="Segoe UI" pitchFamily="34" charset="0"/>
                <a:cs typeface="Segoe UI" pitchFamily="34" charset="0"/>
              </a:rPr>
              <a:t>Command-line utilities: </a:t>
            </a:r>
            <a:r>
              <a:rPr lang="da-DK" sz="2400" dirty="0">
                <a:solidFill>
                  <a:schemeClr val="bg1"/>
                </a:solidFill>
                <a:latin typeface="Segoe UI" pitchFamily="34" charset="0"/>
                <a:cs typeface="Segoe UI" pitchFamily="34" charset="0"/>
              </a:rPr>
              <a:t>GPUpdate</a:t>
            </a:r>
            <a:r>
              <a:rPr lang="da-DK" sz="2400" b="0" dirty="0">
                <a:solidFill>
                  <a:schemeClr val="bg1"/>
                </a:solidFill>
                <a:latin typeface="Segoe UI" pitchFamily="34" charset="0"/>
                <a:cs typeface="Segoe UI" pitchFamily="34" charset="0"/>
              </a:rPr>
              <a:t> and </a:t>
            </a:r>
            <a:r>
              <a:rPr lang="da-DK" sz="2400" dirty="0">
                <a:solidFill>
                  <a:schemeClr val="bg1"/>
                </a:solidFill>
                <a:latin typeface="Segoe UI" pitchFamily="34" charset="0"/>
                <a:cs typeface="Segoe UI" pitchFamily="34" charset="0"/>
              </a:rPr>
              <a:t>GPResult</a:t>
            </a:r>
          </a:p>
        </p:txBody>
      </p:sp>
    </p:spTree>
    <p:extLst>
      <p:ext uri="{BB962C8B-B14F-4D97-AF65-F5344CB8AC3E}">
        <p14:creationId xmlns:p14="http://schemas.microsoft.com/office/powerpoint/2010/main" val="275969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321cb6a5-ec29-406c-a085-01ca2a9b2328">
    <p:spTree>
      <p:nvGrpSpPr>
        <p:cNvPr id="1" name=""/>
        <p:cNvGrpSpPr/>
        <p:nvPr/>
      </p:nvGrpSpPr>
      <p:grpSpPr>
        <a:xfrm>
          <a:off x="0" y="0"/>
          <a:ext cx="0" cy="0"/>
          <a:chOff x="0" y="0"/>
          <a:chExt cx="0" cy="0"/>
        </a:xfrm>
      </p:grpSpPr>
      <p:sp>
        <p:nvSpPr>
          <p:cNvPr id="2" name="Title 1"/>
          <p:cNvSpPr>
            <a:spLocks noGrp="1"/>
          </p:cNvSpPr>
          <p:nvPr>
            <p:ph type="title"/>
          </p:nvPr>
        </p:nvSpPr>
        <p:spPr>
          <a:xfrm>
            <a:off x="1442178" y="25401"/>
            <a:ext cx="7106469" cy="584199"/>
          </a:xfrm>
        </p:spPr>
        <p:txBody>
          <a:bodyPr/>
          <a:lstStyle/>
          <a:p>
            <a:r>
              <a:rPr lang="en-US" dirty="0"/>
              <a:t>Benefits of using Group Policy</a:t>
            </a:r>
          </a:p>
        </p:txBody>
      </p:sp>
      <p:sp>
        <p:nvSpPr>
          <p:cNvPr id="4" name="Content Placeholder 2"/>
          <p:cNvSpPr>
            <a:spLocks noGrp="1"/>
          </p:cNvSpPr>
          <p:nvPr/>
        </p:nvSpPr>
        <p:spPr bwMode="auto">
          <a:xfrm>
            <a:off x="1442178" y="609599"/>
            <a:ext cx="7134178" cy="622299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sz="2800" dirty="0">
                <a:latin typeface="Segoe UI" pitchFamily="34" charset="0"/>
                <a:ea typeface="Segoe UI" pitchFamily="34" charset="0"/>
                <a:cs typeface="Segoe UI" pitchFamily="34" charset="0"/>
              </a:rPr>
              <a:t>Group Policy is a very powerful administrative tool</a:t>
            </a:r>
          </a:p>
          <a:p>
            <a:r>
              <a:rPr lang="en-US" sz="2800" dirty="0">
                <a:latin typeface="Segoe UI" pitchFamily="34" charset="0"/>
                <a:ea typeface="Segoe UI" pitchFamily="34" charset="0"/>
                <a:cs typeface="Segoe UI" pitchFamily="34" charset="0"/>
              </a:rPr>
              <a:t>You can use it to enforce various types of settings to a large number of users and computers</a:t>
            </a:r>
            <a:endParaRPr lang="en-US" dirty="0">
              <a:latin typeface="Segoe UI" pitchFamily="34" charset="0"/>
              <a:ea typeface="Segoe UI" pitchFamily="34" charset="0"/>
              <a:cs typeface="Segoe UI" pitchFamily="34" charset="0"/>
            </a:endParaRPr>
          </a:p>
          <a:p>
            <a:r>
              <a:rPr lang="en-US" sz="2800" dirty="0">
                <a:latin typeface="Segoe UI" pitchFamily="34" charset="0"/>
                <a:ea typeface="Segoe UI" pitchFamily="34" charset="0"/>
                <a:cs typeface="Segoe UI" pitchFamily="34" charset="0"/>
              </a:rPr>
              <a:t>Typically, you use GPOs to:</a:t>
            </a:r>
          </a:p>
          <a:p>
            <a:pPr marL="411480" lvl="1">
              <a:buFont typeface="Arial" pitchFamily="34" charset="0"/>
              <a:buChar char="•"/>
            </a:pPr>
            <a:r>
              <a:rPr lang="en-US" sz="2400" dirty="0">
                <a:latin typeface="Segoe UI" pitchFamily="34" charset="0"/>
                <a:ea typeface="Segoe UI" pitchFamily="34" charset="0"/>
                <a:cs typeface="Segoe UI" pitchFamily="34" charset="0"/>
              </a:rPr>
              <a:t>Apply security settings</a:t>
            </a:r>
          </a:p>
          <a:p>
            <a:pPr marL="411480" lvl="1">
              <a:buFont typeface="Arial" pitchFamily="34" charset="0"/>
              <a:buChar char="•"/>
            </a:pPr>
            <a:r>
              <a:rPr lang="en-US" sz="2400" dirty="0">
                <a:latin typeface="Segoe UI" pitchFamily="34" charset="0"/>
                <a:ea typeface="Segoe UI" pitchFamily="34" charset="0"/>
                <a:cs typeface="Segoe UI" pitchFamily="34" charset="0"/>
              </a:rPr>
              <a:t>Manage desktop application settings</a:t>
            </a:r>
          </a:p>
          <a:p>
            <a:pPr marL="411480" lvl="1">
              <a:buFont typeface="Arial" pitchFamily="34" charset="0"/>
              <a:buChar char="•"/>
            </a:pPr>
            <a:r>
              <a:rPr lang="en-US" sz="2400" dirty="0">
                <a:latin typeface="Segoe UI" pitchFamily="34" charset="0"/>
                <a:ea typeface="Segoe UI" pitchFamily="34" charset="0"/>
                <a:cs typeface="Segoe UI" pitchFamily="34" charset="0"/>
              </a:rPr>
              <a:t>Deploy application software</a:t>
            </a:r>
          </a:p>
          <a:p>
            <a:pPr marL="411480" lvl="1">
              <a:buFont typeface="Arial" pitchFamily="34" charset="0"/>
              <a:buChar char="•"/>
            </a:pPr>
            <a:r>
              <a:rPr lang="en-US" sz="2400" dirty="0">
                <a:latin typeface="Segoe UI" pitchFamily="34" charset="0"/>
                <a:ea typeface="Segoe UI" pitchFamily="34" charset="0"/>
                <a:cs typeface="Segoe UI" pitchFamily="34" charset="0"/>
              </a:rPr>
              <a:t>Manage Folder Redirection</a:t>
            </a:r>
          </a:p>
          <a:p>
            <a:pPr marL="411480" lvl="1">
              <a:buFont typeface="Arial" pitchFamily="34" charset="0"/>
              <a:buChar char="•"/>
            </a:pPr>
            <a:r>
              <a:rPr lang="en-US" sz="2400" dirty="0">
                <a:latin typeface="Segoe UI" pitchFamily="34" charset="0"/>
                <a:ea typeface="Segoe UI" pitchFamily="34" charset="0"/>
                <a:cs typeface="Segoe UI" pitchFamily="34" charset="0"/>
              </a:rPr>
              <a:t>Configure network settings</a:t>
            </a:r>
          </a:p>
        </p:txBody>
      </p:sp>
    </p:spTree>
    <p:extLst>
      <p:ext uri="{BB962C8B-B14F-4D97-AF65-F5344CB8AC3E}">
        <p14:creationId xmlns:p14="http://schemas.microsoft.com/office/powerpoint/2010/main" val="2208383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497320e0-ad74-45d7-a97f-852ebf841799">
    <p:spTree>
      <p:nvGrpSpPr>
        <p:cNvPr id="1" name=""/>
        <p:cNvGrpSpPr/>
        <p:nvPr/>
      </p:nvGrpSpPr>
      <p:grpSpPr>
        <a:xfrm>
          <a:off x="0" y="0"/>
          <a:ext cx="0" cy="0"/>
          <a:chOff x="0" y="0"/>
          <a:chExt cx="0" cy="0"/>
        </a:xfrm>
      </p:grpSpPr>
      <p:sp>
        <p:nvSpPr>
          <p:cNvPr id="2" name="Title 1"/>
          <p:cNvSpPr>
            <a:spLocks noGrp="1"/>
          </p:cNvSpPr>
          <p:nvPr>
            <p:ph type="title"/>
          </p:nvPr>
        </p:nvSpPr>
        <p:spPr>
          <a:xfrm>
            <a:off x="1365193" y="34636"/>
            <a:ext cx="7106469" cy="660399"/>
          </a:xfrm>
        </p:spPr>
        <p:txBody>
          <a:bodyPr/>
          <a:lstStyle/>
          <a:p>
            <a:r>
              <a:rPr lang="en-US" dirty="0"/>
              <a:t>Group Policy Objects</a:t>
            </a:r>
          </a:p>
        </p:txBody>
      </p:sp>
      <p:sp>
        <p:nvSpPr>
          <p:cNvPr id="4" name="Content Placeholder 2"/>
          <p:cNvSpPr>
            <a:spLocks noGrp="1"/>
          </p:cNvSpPr>
          <p:nvPr/>
        </p:nvSpPr>
        <p:spPr bwMode="auto">
          <a:xfrm>
            <a:off x="1427930" y="1417638"/>
            <a:ext cx="7148425" cy="479651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None/>
            </a:pPr>
            <a:r>
              <a:rPr lang="en-US" sz="2800" dirty="0">
                <a:latin typeface="Segoe UI" pitchFamily="34" charset="0"/>
                <a:ea typeface="Segoe UI" pitchFamily="34" charset="0"/>
                <a:cs typeface="Segoe UI" pitchFamily="34" charset="0"/>
              </a:rPr>
              <a:t>A GPO is:</a:t>
            </a:r>
          </a:p>
          <a:p>
            <a:pPr>
              <a:buFont typeface="Arial" pitchFamily="34" charset="0"/>
              <a:buChar char="•"/>
            </a:pPr>
            <a:r>
              <a:rPr lang="en-US" sz="2600" dirty="0">
                <a:latin typeface="Segoe UI" pitchFamily="34" charset="0"/>
                <a:ea typeface="Segoe UI" pitchFamily="34" charset="0"/>
                <a:cs typeface="Segoe UI" pitchFamily="34" charset="0"/>
              </a:rPr>
              <a:t>A container for one or more policy settings</a:t>
            </a:r>
          </a:p>
          <a:p>
            <a:pPr>
              <a:buFont typeface="Arial" pitchFamily="34" charset="0"/>
              <a:buChar char="•"/>
            </a:pPr>
            <a:r>
              <a:rPr lang="en-GB" sz="2600" dirty="0">
                <a:latin typeface="Segoe UI" pitchFamily="34" charset="0"/>
                <a:ea typeface="Segoe UI" pitchFamily="34" charset="0"/>
                <a:cs typeface="Segoe UI" pitchFamily="34" charset="0"/>
              </a:rPr>
              <a:t>Managed with the GPMC</a:t>
            </a:r>
            <a:endParaRPr lang="en-US" sz="2600" dirty="0">
              <a:latin typeface="Segoe UI" pitchFamily="34" charset="0"/>
              <a:ea typeface="Segoe UI" pitchFamily="34" charset="0"/>
              <a:cs typeface="Segoe UI" pitchFamily="34" charset="0"/>
            </a:endParaRPr>
          </a:p>
          <a:p>
            <a:pPr>
              <a:buFont typeface="Arial" pitchFamily="34" charset="0"/>
              <a:buChar char="•"/>
            </a:pPr>
            <a:r>
              <a:rPr lang="en-GB" sz="2600" dirty="0">
                <a:latin typeface="Segoe UI" pitchFamily="34" charset="0"/>
                <a:ea typeface="Segoe UI" pitchFamily="34" charset="0"/>
                <a:cs typeface="Segoe UI" pitchFamily="34" charset="0"/>
              </a:rPr>
              <a:t>Stored in the GPOs container</a:t>
            </a:r>
            <a:endParaRPr lang="en-US" sz="2600" dirty="0">
              <a:latin typeface="Segoe UI" pitchFamily="34" charset="0"/>
              <a:ea typeface="Segoe UI" pitchFamily="34" charset="0"/>
              <a:cs typeface="Segoe UI" pitchFamily="34" charset="0"/>
            </a:endParaRPr>
          </a:p>
          <a:p>
            <a:pPr>
              <a:buFont typeface="Arial" pitchFamily="34" charset="0"/>
              <a:buChar char="•"/>
            </a:pPr>
            <a:r>
              <a:rPr lang="en-US" sz="2600" dirty="0">
                <a:latin typeface="Segoe UI" pitchFamily="34" charset="0"/>
                <a:ea typeface="Segoe UI" pitchFamily="34" charset="0"/>
                <a:cs typeface="Segoe UI" pitchFamily="34" charset="0"/>
              </a:rPr>
              <a:t>Edited with Group Policy Management Editor</a:t>
            </a:r>
          </a:p>
          <a:p>
            <a:pPr>
              <a:buFont typeface="Arial" pitchFamily="34" charset="0"/>
              <a:buChar char="•"/>
            </a:pPr>
            <a:r>
              <a:rPr lang="en-GB" sz="2600" dirty="0">
                <a:latin typeface="Segoe UI" pitchFamily="34" charset="0"/>
                <a:ea typeface="Segoe UI" pitchFamily="34" charset="0"/>
                <a:cs typeface="Segoe UI" pitchFamily="34" charset="0"/>
              </a:rPr>
              <a:t>Applied to a specific level in the AD DS hierarchy</a:t>
            </a:r>
          </a:p>
        </p:txBody>
      </p:sp>
    </p:spTree>
    <p:extLst>
      <p:ext uri="{BB962C8B-B14F-4D97-AF65-F5344CB8AC3E}">
        <p14:creationId xmlns:p14="http://schemas.microsoft.com/office/powerpoint/2010/main" val="146517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8fb78ead-9aac-492e-aaa3-2de8b37fe0c4">
    <p:spTree>
      <p:nvGrpSpPr>
        <p:cNvPr id="1" name=""/>
        <p:cNvGrpSpPr/>
        <p:nvPr/>
      </p:nvGrpSpPr>
      <p:grpSpPr>
        <a:xfrm>
          <a:off x="0" y="0"/>
          <a:ext cx="0" cy="0"/>
          <a:chOff x="0" y="0"/>
          <a:chExt cx="0" cy="0"/>
        </a:xfrm>
      </p:grpSpPr>
      <p:sp>
        <p:nvSpPr>
          <p:cNvPr id="2" name="Title 1"/>
          <p:cNvSpPr>
            <a:spLocks noGrp="1"/>
          </p:cNvSpPr>
          <p:nvPr>
            <p:ph type="title"/>
          </p:nvPr>
        </p:nvSpPr>
        <p:spPr>
          <a:xfrm>
            <a:off x="1372120" y="20782"/>
            <a:ext cx="7106469" cy="466043"/>
          </a:xfrm>
        </p:spPr>
        <p:txBody>
          <a:bodyPr/>
          <a:lstStyle/>
          <a:p>
            <a:r>
              <a:rPr lang="en-US" dirty="0"/>
              <a:t>Overview of GPO scope</a:t>
            </a:r>
          </a:p>
        </p:txBody>
      </p:sp>
      <p:sp>
        <p:nvSpPr>
          <p:cNvPr id="4" name="Content Placeholder 2"/>
          <p:cNvSpPr>
            <a:spLocks noGrp="1"/>
          </p:cNvSpPr>
          <p:nvPr/>
        </p:nvSpPr>
        <p:spPr bwMode="auto">
          <a:xfrm>
            <a:off x="1427930" y="486825"/>
            <a:ext cx="7148425" cy="63711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sz="2800" dirty="0">
                <a:latin typeface="Segoe UI" pitchFamily="34" charset="0"/>
                <a:ea typeface="Segoe UI" pitchFamily="34" charset="0"/>
                <a:cs typeface="Segoe UI" pitchFamily="34" charset="0"/>
              </a:rPr>
              <a:t>The </a:t>
            </a:r>
            <a:r>
              <a:rPr lang="en-US" sz="2800" i="1" dirty="0">
                <a:latin typeface="Segoe UI" pitchFamily="34" charset="0"/>
                <a:ea typeface="Segoe UI" pitchFamily="34" charset="0"/>
                <a:cs typeface="Segoe UI" pitchFamily="34" charset="0"/>
              </a:rPr>
              <a:t>scope</a:t>
            </a:r>
            <a:r>
              <a:rPr lang="en-US" sz="2800" dirty="0">
                <a:latin typeface="Segoe UI" pitchFamily="34" charset="0"/>
                <a:ea typeface="Segoe UI" pitchFamily="34" charset="0"/>
                <a:cs typeface="Segoe UI" pitchFamily="34" charset="0"/>
              </a:rPr>
              <a:t> of a GPO is the collection of users and computers that will apply the settings in the GPO</a:t>
            </a:r>
          </a:p>
          <a:p>
            <a:r>
              <a:rPr lang="en-US" sz="2800" dirty="0">
                <a:latin typeface="Segoe UI" pitchFamily="34" charset="0"/>
                <a:ea typeface="Segoe UI" pitchFamily="34" charset="0"/>
                <a:cs typeface="Segoe UI" pitchFamily="34" charset="0"/>
              </a:rPr>
              <a:t> You can use several methods to scope a GPO:</a:t>
            </a:r>
          </a:p>
          <a:p>
            <a:pPr marL="502920" lvl="1">
              <a:buFont typeface="Arial" pitchFamily="34" charset="0"/>
              <a:buChar char="•"/>
            </a:pPr>
            <a:r>
              <a:rPr lang="en-US" sz="2400" dirty="0">
                <a:latin typeface="Segoe UI" pitchFamily="34" charset="0"/>
                <a:ea typeface="Segoe UI" pitchFamily="34" charset="0"/>
                <a:cs typeface="Segoe UI" pitchFamily="34" charset="0"/>
              </a:rPr>
              <a:t>Link the GPO to a container, such as an OU</a:t>
            </a:r>
          </a:p>
          <a:p>
            <a:pPr marL="502920" lvl="1">
              <a:buFont typeface="Arial" pitchFamily="34" charset="0"/>
              <a:buChar char="•"/>
            </a:pPr>
            <a:r>
              <a:rPr lang="en-GB" sz="2400" dirty="0">
                <a:latin typeface="Segoe UI" pitchFamily="34" charset="0"/>
                <a:ea typeface="Segoe UI" pitchFamily="34" charset="0"/>
                <a:cs typeface="Segoe UI" pitchFamily="34" charset="0"/>
              </a:rPr>
              <a:t>Filter by using security settings</a:t>
            </a:r>
            <a:endParaRPr lang="en-US" sz="2400" dirty="0">
              <a:latin typeface="Segoe UI" pitchFamily="34" charset="0"/>
              <a:ea typeface="Segoe UI" pitchFamily="34" charset="0"/>
              <a:cs typeface="Segoe UI" pitchFamily="34" charset="0"/>
            </a:endParaRPr>
          </a:p>
          <a:p>
            <a:pPr marL="502920" lvl="1">
              <a:buFont typeface="Arial" pitchFamily="34" charset="0"/>
              <a:buChar char="•"/>
            </a:pPr>
            <a:r>
              <a:rPr lang="en-GB" sz="2400" dirty="0">
                <a:latin typeface="Segoe UI" pitchFamily="34" charset="0"/>
                <a:ea typeface="Segoe UI" pitchFamily="34" charset="0"/>
                <a:cs typeface="Segoe UI" pitchFamily="34" charset="0"/>
              </a:rPr>
              <a:t>Filter by using WMI filters</a:t>
            </a:r>
          </a:p>
          <a:p>
            <a:pPr>
              <a:buFont typeface="Arial" pitchFamily="34" charset="0"/>
              <a:buChar char="•"/>
            </a:pPr>
            <a:r>
              <a:rPr lang="en-GB" sz="2600" dirty="0">
                <a:latin typeface="Segoe UI" pitchFamily="34" charset="0"/>
                <a:ea typeface="Segoe UI" pitchFamily="34" charset="0"/>
                <a:cs typeface="Segoe UI" pitchFamily="34" charset="0"/>
              </a:rPr>
              <a:t>For Group Policy preferences:</a:t>
            </a:r>
          </a:p>
          <a:p>
            <a:pPr marL="411480" lvl="1">
              <a:buFont typeface="Arial" pitchFamily="34" charset="0"/>
              <a:buChar char="•"/>
            </a:pPr>
            <a:r>
              <a:rPr lang="en-GB" sz="2400" dirty="0">
                <a:latin typeface="Segoe UI" pitchFamily="34" charset="0"/>
                <a:ea typeface="Segoe UI" pitchFamily="34" charset="0"/>
                <a:cs typeface="Segoe UI" pitchFamily="34" charset="0"/>
              </a:rPr>
              <a:t>Y</a:t>
            </a:r>
            <a:r>
              <a:rPr lang="en-US" sz="2400" dirty="0" err="1">
                <a:latin typeface="Segoe UI" pitchFamily="34" charset="0"/>
                <a:ea typeface="Segoe UI" pitchFamily="34" charset="0"/>
                <a:cs typeface="Segoe UI" pitchFamily="34" charset="0"/>
              </a:rPr>
              <a:t>ou</a:t>
            </a:r>
            <a:r>
              <a:rPr lang="en-US" sz="2400" dirty="0">
                <a:latin typeface="Segoe UI" pitchFamily="34" charset="0"/>
                <a:ea typeface="Segoe UI" pitchFamily="34" charset="0"/>
                <a:cs typeface="Segoe UI" pitchFamily="34" charset="0"/>
              </a:rPr>
              <a:t> can filter or target the settings that you configure by Group Policy preferences within a GPO based on several criteria</a:t>
            </a:r>
          </a:p>
        </p:txBody>
      </p:sp>
    </p:spTree>
    <p:extLst>
      <p:ext uri="{BB962C8B-B14F-4D97-AF65-F5344CB8AC3E}">
        <p14:creationId xmlns:p14="http://schemas.microsoft.com/office/powerpoint/2010/main" val="2876248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bd1ac81b-a510-42ad-b1d7-7a3f1ec8b56a">
    <p:spTree>
      <p:nvGrpSpPr>
        <p:cNvPr id="1" name=""/>
        <p:cNvGrpSpPr/>
        <p:nvPr/>
      </p:nvGrpSpPr>
      <p:grpSpPr>
        <a:xfrm>
          <a:off x="0" y="0"/>
          <a:ext cx="0" cy="0"/>
          <a:chOff x="0" y="0"/>
          <a:chExt cx="0" cy="0"/>
        </a:xfrm>
      </p:grpSpPr>
      <p:sp>
        <p:nvSpPr>
          <p:cNvPr id="2" name="Title 1"/>
          <p:cNvSpPr>
            <a:spLocks noGrp="1"/>
          </p:cNvSpPr>
          <p:nvPr>
            <p:ph type="title"/>
          </p:nvPr>
        </p:nvSpPr>
        <p:spPr>
          <a:xfrm>
            <a:off x="1427931" y="177801"/>
            <a:ext cx="7106469" cy="660399"/>
          </a:xfrm>
        </p:spPr>
        <p:txBody>
          <a:bodyPr/>
          <a:lstStyle/>
          <a:p>
            <a:r>
              <a:rPr lang="en-US" dirty="0"/>
              <a:t>Overview of GPO inheritance</a:t>
            </a:r>
          </a:p>
        </p:txBody>
      </p:sp>
      <p:sp>
        <p:nvSpPr>
          <p:cNvPr id="4" name="Content Placeholder 2"/>
          <p:cNvSpPr>
            <a:spLocks noGrp="1"/>
          </p:cNvSpPr>
          <p:nvPr/>
        </p:nvSpPr>
        <p:spPr bwMode="auto">
          <a:xfrm>
            <a:off x="1427930" y="1523999"/>
            <a:ext cx="7150013" cy="46445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a:t>GPOs are processed on a client computer in the following order:</a:t>
            </a:r>
            <a:endParaRPr lang="en-GB" dirty="0"/>
          </a:p>
          <a:p>
            <a:pPr marL="514350" indent="-514350">
              <a:buFont typeface="+mj-lt"/>
              <a:buAutoNum type="arabicPeriod"/>
            </a:pPr>
            <a:r>
              <a:rPr lang="en-US" sz="2400" dirty="0"/>
              <a:t>Local GPOs</a:t>
            </a:r>
          </a:p>
          <a:p>
            <a:pPr marL="514350" indent="-514350">
              <a:buFont typeface="+mj-lt"/>
              <a:buAutoNum type="arabicPeriod"/>
            </a:pPr>
            <a:endParaRPr lang="en-GB" sz="400" dirty="0"/>
          </a:p>
          <a:p>
            <a:pPr marL="514350" indent="-514350">
              <a:buFont typeface="+mj-lt"/>
              <a:buAutoNum type="arabicPeriod"/>
            </a:pPr>
            <a:r>
              <a:rPr lang="en-US" sz="2400" dirty="0"/>
              <a:t>Site-level GPOs </a:t>
            </a:r>
          </a:p>
          <a:p>
            <a:pPr marL="514350" indent="-514350">
              <a:buFont typeface="+mj-lt"/>
              <a:buAutoNum type="arabicPeriod"/>
            </a:pPr>
            <a:endParaRPr lang="en-GB" sz="400" dirty="0"/>
          </a:p>
          <a:p>
            <a:pPr marL="514350" indent="-514350">
              <a:buFont typeface="+mj-lt"/>
              <a:buAutoNum type="arabicPeriod"/>
            </a:pPr>
            <a:r>
              <a:rPr lang="en-US" sz="2400" dirty="0"/>
              <a:t>Domain-level GPOs</a:t>
            </a:r>
          </a:p>
          <a:p>
            <a:pPr marL="514350" indent="-514350">
              <a:buFont typeface="+mj-lt"/>
              <a:buAutoNum type="arabicPeriod"/>
            </a:pPr>
            <a:endParaRPr lang="en-GB" sz="400" dirty="0"/>
          </a:p>
          <a:p>
            <a:pPr marL="514350" indent="-514350">
              <a:buFont typeface="+mj-lt"/>
              <a:buAutoNum type="arabicPeriod"/>
            </a:pPr>
            <a:r>
              <a:rPr lang="en-US" sz="2400" dirty="0"/>
              <a:t>OU GPOs, including any nested OUs</a:t>
            </a:r>
            <a:endParaRPr lang="en-GB" sz="2400" dirty="0"/>
          </a:p>
          <a:p>
            <a:endParaRPr lang="en-US" dirty="0"/>
          </a:p>
        </p:txBody>
      </p:sp>
    </p:spTree>
    <p:extLst>
      <p:ext uri="{BB962C8B-B14F-4D97-AF65-F5344CB8AC3E}">
        <p14:creationId xmlns:p14="http://schemas.microsoft.com/office/powerpoint/2010/main" val="2826215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ccf1914d-f3fd-4ba6-857a-5504d194f492">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6914972" cy="740664"/>
          </a:xfrm>
        </p:spPr>
        <p:txBody>
          <a:bodyPr>
            <a:normAutofit fontScale="90000"/>
          </a:bodyPr>
          <a:lstStyle/>
          <a:p>
            <a:r>
              <a:rPr lang="en-US" dirty="0"/>
              <a:t>The Group Policy Client service and client-side extensions</a:t>
            </a:r>
          </a:p>
        </p:txBody>
      </p:sp>
      <p:sp>
        <p:nvSpPr>
          <p:cNvPr id="4" name="Content Placeholder 2"/>
          <p:cNvSpPr>
            <a:spLocks noGrp="1"/>
          </p:cNvSpPr>
          <p:nvPr/>
        </p:nvSpPr>
        <p:spPr bwMode="auto">
          <a:xfrm>
            <a:off x="1295400" y="1066800"/>
            <a:ext cx="7620000"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Clr>
                <a:srgbClr val="0070C0"/>
              </a:buClr>
              <a:buSzPct val="80000"/>
              <a:defRPr/>
            </a:pPr>
            <a:r>
              <a:rPr lang="en-US" sz="2800" dirty="0">
                <a:latin typeface="Segoe UI" pitchFamily="34" charset="0"/>
                <a:ea typeface="Segoe UI" pitchFamily="34" charset="0"/>
                <a:cs typeface="Segoe UI" pitchFamily="34" charset="0"/>
              </a:rPr>
              <a:t>Group Policy application process:</a:t>
            </a:r>
          </a:p>
          <a:p>
            <a:pPr marL="658368" lvl="1" indent="-457200">
              <a:buFont typeface="+mj-lt"/>
              <a:buAutoNum type="arabicPeriod"/>
            </a:pPr>
            <a:r>
              <a:rPr lang="en-US" sz="2200" dirty="0">
                <a:latin typeface="Segoe UI" pitchFamily="34" charset="0"/>
                <a:ea typeface="Segoe UI" pitchFamily="34" charset="0"/>
                <a:cs typeface="Segoe UI" pitchFamily="34" charset="0"/>
              </a:rPr>
              <a:t>Group Policy Client retrieves GPOs</a:t>
            </a:r>
          </a:p>
          <a:p>
            <a:pPr marL="658368" lvl="1" indent="-457200">
              <a:buFont typeface="+mj-lt"/>
              <a:buAutoNum type="arabicPeriod"/>
            </a:pPr>
            <a:r>
              <a:rPr lang="en-US" sz="2200" dirty="0">
                <a:latin typeface="Segoe UI" pitchFamily="34" charset="0"/>
                <a:ea typeface="Segoe UI" pitchFamily="34" charset="0"/>
                <a:cs typeface="Segoe UI" pitchFamily="34" charset="0"/>
              </a:rPr>
              <a:t>Client downloads and caches GPOs</a:t>
            </a:r>
          </a:p>
          <a:p>
            <a:pPr marL="658368" lvl="1" indent="-457200">
              <a:buFont typeface="+mj-lt"/>
              <a:buAutoNum type="arabicPeriod"/>
            </a:pPr>
            <a:r>
              <a:rPr lang="en-US" sz="2200" dirty="0">
                <a:latin typeface="Segoe UI" pitchFamily="34" charset="0"/>
                <a:ea typeface="Segoe UI" pitchFamily="34" charset="0"/>
                <a:cs typeface="Segoe UI" pitchFamily="34" charset="0"/>
              </a:rPr>
              <a:t>Client-side extensions process the settings</a:t>
            </a:r>
          </a:p>
          <a:p>
            <a:pPr>
              <a:lnSpc>
                <a:spcPct val="90000"/>
              </a:lnSpc>
              <a:buClr>
                <a:srgbClr val="0070C0"/>
              </a:buClr>
              <a:buSzPct val="80000"/>
              <a:defRPr/>
            </a:pPr>
            <a:r>
              <a:rPr lang="en-US" sz="2800" dirty="0">
                <a:latin typeface="Segoe UI" pitchFamily="34" charset="0"/>
                <a:ea typeface="Segoe UI" pitchFamily="34" charset="0"/>
                <a:cs typeface="Segoe UI" pitchFamily="34" charset="0"/>
              </a:rPr>
              <a:t>Policy settings in the </a:t>
            </a:r>
            <a:r>
              <a:rPr lang="en-US" sz="2800" b="1" dirty="0">
                <a:latin typeface="Segoe UI" pitchFamily="34" charset="0"/>
                <a:ea typeface="Segoe UI" pitchFamily="34" charset="0"/>
                <a:cs typeface="Segoe UI" pitchFamily="34" charset="0"/>
              </a:rPr>
              <a:t>Computer Configuration </a:t>
            </a:r>
            <a:r>
              <a:rPr lang="en-US" sz="2800" dirty="0">
                <a:latin typeface="Segoe UI" pitchFamily="34" charset="0"/>
                <a:ea typeface="Segoe UI" pitchFamily="34" charset="0"/>
                <a:cs typeface="Segoe UI" pitchFamily="34" charset="0"/>
              </a:rPr>
              <a:t>node apply at system startup and every 90–120 minutes thereafter</a:t>
            </a:r>
            <a:endParaRPr lang="en-US" sz="2400" dirty="0">
              <a:latin typeface="Segoe UI" pitchFamily="34" charset="0"/>
              <a:ea typeface="Segoe UI" pitchFamily="34" charset="0"/>
              <a:cs typeface="Segoe UI" pitchFamily="34" charset="0"/>
            </a:endParaRPr>
          </a:p>
          <a:p>
            <a:pPr>
              <a:buClr>
                <a:srgbClr val="0070C0"/>
              </a:buClr>
              <a:buSzPct val="80000"/>
              <a:defRPr/>
            </a:pPr>
            <a:r>
              <a:rPr lang="en-US" sz="2800" dirty="0">
                <a:latin typeface="Segoe UI" pitchFamily="34" charset="0"/>
                <a:ea typeface="Segoe UI" pitchFamily="34" charset="0"/>
                <a:cs typeface="Segoe UI" pitchFamily="34" charset="0"/>
              </a:rPr>
              <a:t>Policy settings in the </a:t>
            </a:r>
            <a:r>
              <a:rPr lang="en-US" sz="2800" b="1" dirty="0">
                <a:latin typeface="Segoe UI" pitchFamily="34" charset="0"/>
                <a:ea typeface="Segoe UI" pitchFamily="34" charset="0"/>
                <a:cs typeface="Segoe UI" pitchFamily="34" charset="0"/>
              </a:rPr>
              <a:t>User Configuration </a:t>
            </a:r>
            <a:r>
              <a:rPr lang="en-US" sz="2800" dirty="0">
                <a:latin typeface="Segoe UI" pitchFamily="34" charset="0"/>
                <a:ea typeface="Segoe UI" pitchFamily="34" charset="0"/>
                <a:cs typeface="Segoe UI" pitchFamily="34" charset="0"/>
              </a:rPr>
              <a:t>node apply at sign-in and every 90–120 minutes thereafter</a:t>
            </a:r>
          </a:p>
          <a:p>
            <a:endParaRPr lang="en-US"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983344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286eef9a-688c-4b35-a7f6-19d82d3bcaa8">
    <p:spTree>
      <p:nvGrpSpPr>
        <p:cNvPr id="1" name=""/>
        <p:cNvGrpSpPr/>
        <p:nvPr/>
      </p:nvGrpSpPr>
      <p:grpSpPr>
        <a:xfrm>
          <a:off x="0" y="0"/>
          <a:ext cx="0" cy="0"/>
          <a:chOff x="0" y="0"/>
          <a:chExt cx="0" cy="0"/>
        </a:xfrm>
      </p:grpSpPr>
      <p:sp>
        <p:nvSpPr>
          <p:cNvPr id="2" name="Title 1"/>
          <p:cNvSpPr>
            <a:spLocks noGrp="1"/>
          </p:cNvSpPr>
          <p:nvPr>
            <p:ph type="title"/>
          </p:nvPr>
        </p:nvSpPr>
        <p:spPr>
          <a:xfrm>
            <a:off x="1371601" y="-2"/>
            <a:ext cx="7467600" cy="740664"/>
          </a:xfrm>
        </p:spPr>
        <p:txBody>
          <a:bodyPr>
            <a:normAutofit fontScale="90000"/>
          </a:bodyPr>
          <a:lstStyle/>
          <a:p>
            <a:r>
              <a:rPr lang="en-US" dirty="0"/>
              <a:t>New features in Group Policy in Windows Server 2016</a:t>
            </a:r>
          </a:p>
        </p:txBody>
      </p:sp>
      <p:sp>
        <p:nvSpPr>
          <p:cNvPr id="4" name="Content Placeholder 2"/>
          <p:cNvSpPr>
            <a:spLocks noGrp="1"/>
          </p:cNvSpPr>
          <p:nvPr/>
        </p:nvSpPr>
        <p:spPr bwMode="auto">
          <a:xfrm>
            <a:off x="1371600" y="1021215"/>
            <a:ext cx="7206344"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a:t>Windows Server 2016 introduces a few changes and improvements to Group Policy, including:</a:t>
            </a:r>
          </a:p>
          <a:p>
            <a:r>
              <a:rPr lang="en-US" sz="2400" dirty="0"/>
              <a:t>Importing the following types of policy settings on Nano Server:</a:t>
            </a:r>
          </a:p>
          <a:p>
            <a:pPr marL="365760" lvl="1"/>
            <a:r>
              <a:rPr lang="en-US" sz="2000" dirty="0"/>
              <a:t>Registry settings</a:t>
            </a:r>
          </a:p>
          <a:p>
            <a:pPr marL="365760" lvl="1"/>
            <a:r>
              <a:rPr lang="en-US" sz="2000" dirty="0"/>
              <a:t>Security settings</a:t>
            </a:r>
          </a:p>
          <a:p>
            <a:pPr marL="365760" lvl="1"/>
            <a:r>
              <a:rPr lang="en-US" sz="2000" dirty="0"/>
              <a:t>Audit settings</a:t>
            </a:r>
          </a:p>
          <a:p>
            <a:r>
              <a:rPr lang="en-US" sz="2400" dirty="0"/>
              <a:t>Including Windows 10 administrative templates</a:t>
            </a:r>
          </a:p>
          <a:p>
            <a:pPr lvl="2"/>
            <a:endParaRPr lang="en-US" dirty="0"/>
          </a:p>
          <a:p>
            <a:pPr lvl="2"/>
            <a:endParaRPr lang="en-US" dirty="0"/>
          </a:p>
          <a:p>
            <a:pPr lvl="1"/>
            <a:endParaRPr lang="en-GB" dirty="0"/>
          </a:p>
          <a:p>
            <a:endParaRPr lang="en-US" dirty="0"/>
          </a:p>
        </p:txBody>
      </p:sp>
    </p:spTree>
    <p:extLst>
      <p:ext uri="{BB962C8B-B14F-4D97-AF65-F5344CB8AC3E}">
        <p14:creationId xmlns:p14="http://schemas.microsoft.com/office/powerpoint/2010/main" val="429809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a:xfrm>
            <a:off x="1393295" y="6927"/>
            <a:ext cx="7106469" cy="736599"/>
          </a:xfrm>
        </p:spPr>
        <p:txBody>
          <a:bodyPr/>
          <a:lstStyle/>
          <a:p>
            <a:r>
              <a:rPr lang="en-US" dirty="0"/>
              <a:t>Implementing and administering GPOs</a:t>
            </a:r>
          </a:p>
        </p:txBody>
      </p:sp>
      <p:sp>
        <p:nvSpPr>
          <p:cNvPr id="3" name="Text Placeholder 2"/>
          <p:cNvSpPr>
            <a:spLocks noGrp="1"/>
          </p:cNvSpPr>
          <p:nvPr>
            <p:ph type="body" idx="1"/>
          </p:nvPr>
        </p:nvSpPr>
        <p:spPr/>
        <p:txBody>
          <a:bodyPr/>
          <a:lstStyle/>
          <a:p>
            <a:r>
              <a:rPr lang="en-US"/>
              <a:t>What are domain-based GPOs?
GPO storage
What are starter GPOs?
Common GPO management tasks
Delegating administration of Group Policy
Demonstration: Delegating administration of Group Policy</a:t>
            </a:r>
          </a:p>
        </p:txBody>
      </p:sp>
    </p:spTree>
    <p:extLst>
      <p:ext uri="{BB962C8B-B14F-4D97-AF65-F5344CB8AC3E}">
        <p14:creationId xmlns:p14="http://schemas.microsoft.com/office/powerpoint/2010/main" val="3712736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7339bc7e-4049-4070-9711-c16902e7834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are domain-based GPOs?</a:t>
            </a:r>
          </a:p>
        </p:txBody>
      </p:sp>
      <p:pic>
        <p:nvPicPr>
          <p:cNvPr id="4" name="Picture 3" descr="Screenshot of Group Policy Management Console (GPMC). The Default Domain Policy Group Policy Object (GPO) is selected, and the related details appear in the right pane under the Details tab.&#10;&#10;"/>
          <p:cNvPicPr>
            <a:picLocks noChangeAspect="1"/>
          </p:cNvPicPr>
          <p:nvPr/>
        </p:nvPicPr>
        <p:blipFill>
          <a:blip r:embed="rId3"/>
          <a:stretch>
            <a:fillRect/>
          </a:stretch>
        </p:blipFill>
        <p:spPr>
          <a:xfrm>
            <a:off x="1524000" y="790792"/>
            <a:ext cx="7162800" cy="5019675"/>
          </a:xfrm>
          <a:prstGeom prst="rect">
            <a:avLst/>
          </a:prstGeom>
          <a:ln>
            <a:solidFill>
              <a:srgbClr val="0070C0"/>
            </a:solidFill>
          </a:ln>
        </p:spPr>
      </p:pic>
    </p:spTree>
    <p:extLst>
      <p:ext uri="{BB962C8B-B14F-4D97-AF65-F5344CB8AC3E}">
        <p14:creationId xmlns:p14="http://schemas.microsoft.com/office/powerpoint/2010/main" val="1395243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09e22a35-317f-4c31-8509-340ad39792a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GPO storage</a:t>
            </a:r>
          </a:p>
        </p:txBody>
      </p:sp>
      <p:sp>
        <p:nvSpPr>
          <p:cNvPr id="4" name="TextBox 16"/>
          <p:cNvSpPr txBox="1"/>
          <p:nvPr/>
        </p:nvSpPr>
        <p:spPr>
          <a:xfrm>
            <a:off x="1670324" y="1964985"/>
            <a:ext cx="953904"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a:latin typeface="Segoe UI" pitchFamily="34" charset="0"/>
                <a:ea typeface="Segoe UI" pitchFamily="34" charset="0"/>
                <a:cs typeface="Segoe UI" pitchFamily="34" charset="0"/>
              </a:rPr>
              <a:t>GPO</a:t>
            </a:r>
          </a:p>
        </p:txBody>
      </p:sp>
      <p:sp>
        <p:nvSpPr>
          <p:cNvPr id="5" name="TextBox 17"/>
          <p:cNvSpPr txBox="1"/>
          <p:nvPr/>
        </p:nvSpPr>
        <p:spPr>
          <a:xfrm>
            <a:off x="164969" y="4021575"/>
            <a:ext cx="4515255" cy="1200329"/>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7800" indent="-177800">
              <a:buClr>
                <a:srgbClr val="0070C0"/>
              </a:buClr>
              <a:buFontTx/>
              <a:buChar char="•"/>
            </a:pPr>
            <a:r>
              <a:rPr lang="en-US" sz="2400" b="0" dirty="0">
                <a:latin typeface="Segoe UI" pitchFamily="34" charset="0"/>
                <a:ea typeface="Segoe UI" pitchFamily="34" charset="0"/>
                <a:cs typeface="Segoe UI" pitchFamily="34" charset="0"/>
              </a:rPr>
              <a:t>Contains Group Policy settings</a:t>
            </a:r>
          </a:p>
          <a:p>
            <a:pPr marL="177800" indent="-177800">
              <a:buClr>
                <a:srgbClr val="0070C0"/>
              </a:buClr>
              <a:buFontTx/>
              <a:buChar char="•"/>
            </a:pPr>
            <a:r>
              <a:rPr lang="en-US" sz="2400" b="0" dirty="0">
                <a:latin typeface="Segoe UI" pitchFamily="34" charset="0"/>
                <a:ea typeface="Segoe UI" pitchFamily="34" charset="0"/>
                <a:cs typeface="Segoe UI" pitchFamily="34" charset="0"/>
              </a:rPr>
              <a:t>Stores content in two locations</a:t>
            </a:r>
          </a:p>
          <a:p>
            <a:endParaRPr lang="en-US" sz="2400" dirty="0"/>
          </a:p>
        </p:txBody>
      </p:sp>
      <p:sp>
        <p:nvSpPr>
          <p:cNvPr id="6" name="TextBox 15"/>
          <p:cNvSpPr txBox="1"/>
          <p:nvPr/>
        </p:nvSpPr>
        <p:spPr>
          <a:xfrm>
            <a:off x="4949759" y="947235"/>
            <a:ext cx="3616839"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lang="en-US" sz="2400" dirty="0">
                <a:latin typeface="Segoe UI" pitchFamily="34" charset="0"/>
                <a:ea typeface="Segoe UI" pitchFamily="34" charset="0"/>
                <a:cs typeface="Segoe UI" pitchFamily="34" charset="0"/>
              </a:rPr>
              <a:t>Group Policy container</a:t>
            </a:r>
          </a:p>
        </p:txBody>
      </p:sp>
      <p:sp>
        <p:nvSpPr>
          <p:cNvPr id="7" name="TextBox 18"/>
          <p:cNvSpPr txBox="1"/>
          <p:nvPr/>
        </p:nvSpPr>
        <p:spPr>
          <a:xfrm>
            <a:off x="4451219" y="2552700"/>
            <a:ext cx="4515255" cy="830997"/>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buClr>
                <a:srgbClr val="0070C0"/>
              </a:buClr>
              <a:buFontTx/>
              <a:buChar char="•"/>
            </a:pPr>
            <a:r>
              <a:rPr lang="en-US" sz="2400" b="0" dirty="0">
                <a:latin typeface="Segoe UI" pitchFamily="34" charset="0"/>
                <a:ea typeface="Segoe UI" pitchFamily="34" charset="0"/>
                <a:cs typeface="Segoe UI" pitchFamily="34" charset="0"/>
              </a:rPr>
              <a:t>Stored in AD DS</a:t>
            </a:r>
          </a:p>
          <a:p>
            <a:pPr marL="228600" indent="-228600">
              <a:buClr>
                <a:srgbClr val="0070C0"/>
              </a:buClr>
              <a:buFontTx/>
              <a:buChar char="•"/>
            </a:pPr>
            <a:r>
              <a:rPr lang="en-US" sz="2400" b="0" dirty="0">
                <a:latin typeface="Segoe UI" pitchFamily="34" charset="0"/>
                <a:ea typeface="Segoe UI" pitchFamily="34" charset="0"/>
                <a:cs typeface="Segoe UI" pitchFamily="34" charset="0"/>
              </a:rPr>
              <a:t>Provides version information</a:t>
            </a:r>
          </a:p>
        </p:txBody>
      </p:sp>
      <p:sp>
        <p:nvSpPr>
          <p:cNvPr id="8" name="TextBox 19"/>
          <p:cNvSpPr txBox="1"/>
          <p:nvPr/>
        </p:nvSpPr>
        <p:spPr>
          <a:xfrm>
            <a:off x="4933139" y="3815265"/>
            <a:ext cx="3616839" cy="461665"/>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lang="en-US" sz="2400" dirty="0">
                <a:latin typeface="Segoe UI" pitchFamily="34" charset="0"/>
                <a:ea typeface="Segoe UI" pitchFamily="34" charset="0"/>
                <a:cs typeface="Segoe UI" pitchFamily="34" charset="0"/>
              </a:rPr>
              <a:t>Group Policy template</a:t>
            </a:r>
          </a:p>
        </p:txBody>
      </p:sp>
      <p:sp>
        <p:nvSpPr>
          <p:cNvPr id="9" name="TextBox 20"/>
          <p:cNvSpPr txBox="1"/>
          <p:nvPr/>
        </p:nvSpPr>
        <p:spPr>
          <a:xfrm>
            <a:off x="4241669" y="5487595"/>
            <a:ext cx="4724805" cy="1200329"/>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buClr>
                <a:srgbClr val="0070C0"/>
              </a:buClr>
              <a:buFontTx/>
              <a:buChar char="•"/>
            </a:pPr>
            <a:r>
              <a:rPr lang="en-US" sz="2400" b="0" dirty="0">
                <a:latin typeface="Segoe UI" pitchFamily="34" charset="0"/>
                <a:ea typeface="Segoe UI" pitchFamily="34" charset="0"/>
                <a:cs typeface="Segoe UI" pitchFamily="34" charset="0"/>
              </a:rPr>
              <a:t>Stored in shared SYSVOL folder </a:t>
            </a:r>
          </a:p>
          <a:p>
            <a:pPr marL="228600" indent="-228600">
              <a:buClr>
                <a:srgbClr val="0070C0"/>
              </a:buClr>
              <a:buFontTx/>
              <a:buChar char="•"/>
            </a:pPr>
            <a:r>
              <a:rPr lang="en-US" sz="2400" b="0" dirty="0">
                <a:latin typeface="Segoe UI" pitchFamily="34" charset="0"/>
                <a:ea typeface="Segoe UI" pitchFamily="34" charset="0"/>
                <a:cs typeface="Segoe UI" pitchFamily="34" charset="0"/>
              </a:rPr>
              <a:t>Provides Group Policy settings</a:t>
            </a:r>
          </a:p>
          <a:p>
            <a:endParaRPr lang="en-US" sz="2400" dirty="0">
              <a:latin typeface="Segoe UI" pitchFamily="34" charset="0"/>
              <a:ea typeface="Segoe UI" pitchFamily="34" charset="0"/>
              <a:cs typeface="Segoe UI" pitchFamily="34" charset="0"/>
            </a:endParaRPr>
          </a:p>
        </p:txBody>
      </p:sp>
      <p:grpSp>
        <p:nvGrpSpPr>
          <p:cNvPr id="10" name="Group 9" descr="Illustration depicting how a GPO is constructed from both the Group Policy container and the Group Policy template. Arrows point from images of a Group Policy container and a Group Policy template to an image of a GPO on the left.&#10;&#10;&#10;&#10;"/>
          <p:cNvGrpSpPr/>
          <p:nvPr/>
        </p:nvGrpSpPr>
        <p:grpSpPr>
          <a:xfrm>
            <a:off x="1517510" y="1445508"/>
            <a:ext cx="6520908" cy="4031192"/>
            <a:chOff x="1517510" y="1445508"/>
            <a:chExt cx="6520908" cy="4031192"/>
          </a:xfrm>
        </p:grpSpPr>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86098" y="4260676"/>
              <a:ext cx="623682" cy="1160501"/>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41868" y="1445508"/>
              <a:ext cx="623682" cy="1160501"/>
            </a:xfrm>
            <a:prstGeom prst="rect">
              <a:avLst/>
            </a:prstGeom>
          </p:spPr>
        </p:pic>
        <p:pic>
          <p:nvPicPr>
            <p:cNvPr id="13" name="Picture 1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2551082" y="2773263"/>
              <a:ext cx="789244" cy="71728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1517510" y="2688161"/>
              <a:ext cx="951715" cy="89242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215698" y="1953361"/>
              <a:ext cx="619188" cy="56273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509780" y="1708033"/>
              <a:ext cx="733172" cy="687494"/>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p:cNvGrpSpPr/>
            <p:nvPr/>
          </p:nvGrpSpPr>
          <p:grpSpPr>
            <a:xfrm>
              <a:off x="6868521" y="4343348"/>
              <a:ext cx="1169897" cy="717513"/>
              <a:chOff x="7063071" y="3759698"/>
              <a:chExt cx="1169897" cy="717513"/>
            </a:xfrm>
          </p:grpSpPr>
          <p:pic>
            <p:nvPicPr>
              <p:cNvPr id="21" name="Picture 20"/>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662735" y="3958971"/>
                <a:ext cx="570233" cy="51824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063071" y="3759698"/>
                <a:ext cx="694355" cy="651095"/>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17" descr="C:\ID Resources\ID_Editor_Reference\LeX Graphics 7_2013\folder_ope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79502" y="4840926"/>
              <a:ext cx="646062" cy="635774"/>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p:cNvCxnSpPr/>
            <p:nvPr/>
          </p:nvCxnSpPr>
          <p:spPr bwMode="auto">
            <a:xfrm flipH="1">
              <a:off x="3326860" y="1945028"/>
              <a:ext cx="1622899" cy="1001937"/>
            </a:xfrm>
            <a:prstGeom prst="straightConnector1">
              <a:avLst/>
            </a:prstGeom>
            <a:ln>
              <a:solidFill>
                <a:srgbClr val="FF0000"/>
              </a:solidFill>
              <a:headEnd type="none" w="med" len="med"/>
              <a:tailEnd type="arrow"/>
            </a:ln>
            <a:effectLst/>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bwMode="auto">
            <a:xfrm flipH="1" flipV="1">
              <a:off x="3326861" y="3309435"/>
              <a:ext cx="1606278" cy="951241"/>
            </a:xfrm>
            <a:prstGeom prst="straightConnector1">
              <a:avLst/>
            </a:prstGeom>
            <a:ln>
              <a:solidFill>
                <a:srgbClr val="FF0000"/>
              </a:solidFill>
              <a:headEnd type="none" w="med" len="med"/>
              <a:tailEnd type="arrow"/>
            </a:ln>
            <a:effectLst/>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2266070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208a7d51-decb-4aed-ba40-7c5462991fd6">
    <p:spTree>
      <p:nvGrpSpPr>
        <p:cNvPr id="1" name=""/>
        <p:cNvGrpSpPr/>
        <p:nvPr/>
      </p:nvGrpSpPr>
      <p:grpSpPr>
        <a:xfrm>
          <a:off x="0" y="0"/>
          <a:ext cx="0" cy="0"/>
          <a:chOff x="0" y="0"/>
          <a:chExt cx="0" cy="0"/>
        </a:xfrm>
      </p:grpSpPr>
      <p:sp>
        <p:nvSpPr>
          <p:cNvPr id="2" name="Title 1"/>
          <p:cNvSpPr>
            <a:spLocks noGrp="1"/>
          </p:cNvSpPr>
          <p:nvPr>
            <p:ph type="title"/>
          </p:nvPr>
        </p:nvSpPr>
        <p:spPr>
          <a:xfrm>
            <a:off x="1258757" y="105453"/>
            <a:ext cx="7106469" cy="627899"/>
          </a:xfrm>
        </p:spPr>
        <p:txBody>
          <a:bodyPr/>
          <a:lstStyle/>
          <a:p>
            <a:r>
              <a:rPr lang="en-US" dirty="0"/>
              <a:t>What are starter GPOs?</a:t>
            </a:r>
          </a:p>
        </p:txBody>
      </p:sp>
      <p:sp>
        <p:nvSpPr>
          <p:cNvPr id="4" name="Line 6"/>
          <p:cNvSpPr>
            <a:spLocks noChangeShapeType="1"/>
          </p:cNvSpPr>
          <p:nvPr/>
        </p:nvSpPr>
        <p:spPr bwMode="auto">
          <a:xfrm>
            <a:off x="3244850" y="4835525"/>
            <a:ext cx="933450" cy="0"/>
          </a:xfrm>
          <a:prstGeom prst="line">
            <a:avLst/>
          </a:prstGeom>
          <a:noFill/>
          <a:ln w="9525">
            <a:noFill/>
            <a:round/>
            <a:headEnd/>
            <a:tailEnd type="triangle" w="med" len="med"/>
          </a:ln>
          <a:effectLst>
            <a:outerShdw dist="35921" dir="2700000" algn="ctr" rotWithShape="0">
              <a:srgbClr val="AFAFAF"/>
            </a:outerShdw>
          </a:effectLst>
        </p:spPr>
        <p:txBody>
          <a:bodyPr lIns="182880" rIns="18288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defRPr/>
            </a:pPr>
            <a:endParaRPr lang="en-US">
              <a:cs typeface="Arial" charset="0"/>
            </a:endParaRPr>
          </a:p>
        </p:txBody>
      </p:sp>
      <p:sp>
        <p:nvSpPr>
          <p:cNvPr id="5" name="AutoShape 17"/>
          <p:cNvSpPr>
            <a:spLocks noChangeArrowheads="1"/>
          </p:cNvSpPr>
          <p:nvPr/>
        </p:nvSpPr>
        <p:spPr bwMode="auto">
          <a:xfrm>
            <a:off x="468634" y="3785318"/>
            <a:ext cx="4162474" cy="407988"/>
          </a:xfrm>
          <a:prstGeom prst="roundRect">
            <a:avLst>
              <a:gd name="adj" fmla="val 10921"/>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defRPr/>
            </a:pPr>
            <a:r>
              <a:rPr lang="en-US" sz="2400" dirty="0">
                <a:latin typeface="Segoe UI" pitchFamily="34" charset="0"/>
                <a:ea typeface="Segoe UI" pitchFamily="34" charset="0"/>
                <a:cs typeface="Segoe UI" pitchFamily="34" charset="0"/>
              </a:rPr>
              <a:t>Exported to .cab file</a:t>
            </a:r>
          </a:p>
        </p:txBody>
      </p:sp>
      <p:sp>
        <p:nvSpPr>
          <p:cNvPr id="6" name="AutoShape 18"/>
          <p:cNvSpPr>
            <a:spLocks noChangeArrowheads="1"/>
          </p:cNvSpPr>
          <p:nvPr/>
        </p:nvSpPr>
        <p:spPr bwMode="auto">
          <a:xfrm>
            <a:off x="1108075" y="5631612"/>
            <a:ext cx="1470025" cy="193672"/>
          </a:xfrm>
          <a:prstGeom prst="roundRect">
            <a:avLst>
              <a:gd name="adj" fmla="val 10921"/>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defRPr/>
            </a:pPr>
            <a:r>
              <a:rPr lang="en-US" sz="2400" b="0" dirty="0">
                <a:latin typeface="Segoe UI" pitchFamily="34" charset="0"/>
                <a:ea typeface="Segoe UI" pitchFamily="34" charset="0"/>
                <a:cs typeface="Segoe UI" pitchFamily="34" charset="0"/>
              </a:rPr>
              <a:t>Starter GPO</a:t>
            </a:r>
          </a:p>
        </p:txBody>
      </p:sp>
      <p:sp>
        <p:nvSpPr>
          <p:cNvPr id="7" name="AutoShape 21"/>
          <p:cNvSpPr>
            <a:spLocks noChangeArrowheads="1"/>
          </p:cNvSpPr>
          <p:nvPr/>
        </p:nvSpPr>
        <p:spPr bwMode="auto">
          <a:xfrm>
            <a:off x="3590925" y="5631612"/>
            <a:ext cx="1470025" cy="420688"/>
          </a:xfrm>
          <a:prstGeom prst="roundRect">
            <a:avLst>
              <a:gd name="adj" fmla="val 10921"/>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defRPr/>
            </a:pPr>
            <a:r>
              <a:rPr lang="en-US" sz="2400" b="0" dirty="0">
                <a:latin typeface="Segoe UI" pitchFamily="34" charset="0"/>
                <a:ea typeface="Segoe UI" pitchFamily="34" charset="0"/>
                <a:cs typeface="Segoe UI" pitchFamily="34" charset="0"/>
              </a:rPr>
              <a:t>.cab file</a:t>
            </a:r>
          </a:p>
        </p:txBody>
      </p:sp>
      <p:sp>
        <p:nvSpPr>
          <p:cNvPr id="8" name="AutoShape 24"/>
          <p:cNvSpPr>
            <a:spLocks noChangeArrowheads="1"/>
          </p:cNvSpPr>
          <p:nvPr/>
        </p:nvSpPr>
        <p:spPr bwMode="auto">
          <a:xfrm>
            <a:off x="4905326" y="3785318"/>
            <a:ext cx="4162474" cy="398283"/>
          </a:xfrm>
          <a:prstGeom prst="roundRect">
            <a:avLst>
              <a:gd name="adj" fmla="val 10921"/>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defRPr/>
            </a:pPr>
            <a:r>
              <a:rPr lang="en-US" sz="2400" dirty="0">
                <a:latin typeface="Segoe UI" pitchFamily="34" charset="0"/>
                <a:ea typeface="Segoe UI" pitchFamily="34" charset="0"/>
                <a:cs typeface="Segoe UI" pitchFamily="34" charset="0"/>
              </a:rPr>
              <a:t>Imported to the GPMC</a:t>
            </a:r>
          </a:p>
        </p:txBody>
      </p:sp>
      <p:sp>
        <p:nvSpPr>
          <p:cNvPr id="9" name="AutoShape 25"/>
          <p:cNvSpPr>
            <a:spLocks noChangeArrowheads="1"/>
          </p:cNvSpPr>
          <p:nvPr/>
        </p:nvSpPr>
        <p:spPr bwMode="auto">
          <a:xfrm>
            <a:off x="5667375" y="5631612"/>
            <a:ext cx="1685925" cy="636588"/>
          </a:xfrm>
          <a:prstGeom prst="roundRect">
            <a:avLst>
              <a:gd name="adj" fmla="val 10921"/>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defRPr/>
            </a:pPr>
            <a:r>
              <a:rPr lang="en-US" sz="2400" b="0" dirty="0">
                <a:latin typeface="Segoe UI" pitchFamily="34" charset="0"/>
                <a:ea typeface="Segoe UI" pitchFamily="34" charset="0"/>
                <a:cs typeface="Segoe UI" pitchFamily="34" charset="0"/>
              </a:rPr>
              <a:t>Load </a:t>
            </a:r>
            <a:br>
              <a:rPr lang="en-US" sz="2400" b="0" dirty="0">
                <a:latin typeface="Segoe UI" pitchFamily="34" charset="0"/>
                <a:ea typeface="Segoe UI" pitchFamily="34" charset="0"/>
                <a:cs typeface="Segoe UI" pitchFamily="34" charset="0"/>
              </a:rPr>
            </a:br>
            <a:r>
              <a:rPr lang="en-US" sz="2400" b="0" dirty="0">
                <a:latin typeface="Segoe UI" pitchFamily="34" charset="0"/>
                <a:ea typeface="Segoe UI" pitchFamily="34" charset="0"/>
                <a:cs typeface="Segoe UI" pitchFamily="34" charset="0"/>
              </a:rPr>
              <a:t>.cab file</a:t>
            </a:r>
          </a:p>
        </p:txBody>
      </p:sp>
      <p:sp>
        <p:nvSpPr>
          <p:cNvPr id="10" name="Content Placeholder 2"/>
          <p:cNvSpPr>
            <a:spLocks noGrp="1"/>
          </p:cNvSpPr>
          <p:nvPr/>
        </p:nvSpPr>
        <p:spPr bwMode="auto">
          <a:xfrm>
            <a:off x="1427930" y="790379"/>
            <a:ext cx="7150013" cy="260052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None/>
            </a:pPr>
            <a:r>
              <a:rPr lang="en-US" sz="2800" dirty="0">
                <a:latin typeface="Segoe UI" pitchFamily="34" charset="0"/>
                <a:ea typeface="Segoe UI" pitchFamily="34" charset="0"/>
                <a:cs typeface="Segoe UI" pitchFamily="34" charset="0"/>
              </a:rPr>
              <a:t>A starter GPO:</a:t>
            </a:r>
          </a:p>
          <a:p>
            <a:pPr>
              <a:spcBef>
                <a:spcPct val="40000"/>
              </a:spcBef>
              <a:buClr>
                <a:srgbClr val="006699"/>
              </a:buClr>
            </a:pPr>
            <a:r>
              <a:rPr lang="en-US" sz="2600" dirty="0">
                <a:latin typeface="Segoe UI" pitchFamily="34" charset="0"/>
                <a:ea typeface="Segoe UI" pitchFamily="34" charset="0"/>
                <a:cs typeface="Segoe UI" pitchFamily="34" charset="0"/>
              </a:rPr>
              <a:t> </a:t>
            </a:r>
            <a:r>
              <a:rPr lang="en-US" sz="2400" dirty="0">
                <a:latin typeface="Segoe UI" pitchFamily="34" charset="0"/>
                <a:ea typeface="Segoe UI" pitchFamily="34" charset="0"/>
                <a:cs typeface="Segoe UI" pitchFamily="34" charset="0"/>
              </a:rPr>
              <a:t>Stores administrative template settings on which new GPOs will be based</a:t>
            </a:r>
          </a:p>
          <a:p>
            <a:pPr marL="228600" indent="-228600">
              <a:spcBef>
                <a:spcPct val="40000"/>
              </a:spcBef>
              <a:buClr>
                <a:srgbClr val="006699"/>
              </a:buClr>
            </a:pPr>
            <a:r>
              <a:rPr lang="en-US" sz="2400" dirty="0">
                <a:latin typeface="Segoe UI" pitchFamily="34" charset="0"/>
                <a:ea typeface="Segoe UI" pitchFamily="34" charset="0"/>
                <a:cs typeface="Segoe UI" pitchFamily="34" charset="0"/>
              </a:rPr>
              <a:t>Can be exported to .cab files </a:t>
            </a:r>
          </a:p>
          <a:p>
            <a:pPr marL="228600" indent="-228600">
              <a:spcBef>
                <a:spcPct val="40000"/>
              </a:spcBef>
              <a:buClr>
                <a:srgbClr val="006699"/>
              </a:buClr>
            </a:pPr>
            <a:r>
              <a:rPr lang="en-US" sz="2400" dirty="0">
                <a:latin typeface="Segoe UI" pitchFamily="34" charset="0"/>
                <a:ea typeface="Segoe UI" pitchFamily="34" charset="0"/>
                <a:cs typeface="Segoe UI" pitchFamily="34" charset="0"/>
              </a:rPr>
              <a:t>Can be imported into other areas of an organization</a:t>
            </a:r>
          </a:p>
        </p:txBody>
      </p:sp>
      <p:grpSp>
        <p:nvGrpSpPr>
          <p:cNvPr id="11" name="Group 10" descr="Illustration depicting three folders that are connected in a straight line by two arrows. A starter GPO is exported from the first folder to a .cab file, represented by the second folder, and then imported into the GPMC, represented by the third folder. &#10;&#10;"/>
          <p:cNvGrpSpPr/>
          <p:nvPr/>
        </p:nvGrpSpPr>
        <p:grpSpPr>
          <a:xfrm>
            <a:off x="1250712" y="4295165"/>
            <a:ext cx="5673355" cy="1234586"/>
            <a:chOff x="1250712" y="4295165"/>
            <a:chExt cx="5673355" cy="1234586"/>
          </a:xfrm>
        </p:grpSpPr>
        <p:pic>
          <p:nvPicPr>
            <p:cNvPr id="12" name="Picture 11"/>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250712" y="4778498"/>
              <a:ext cx="957635" cy="751253"/>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p:cNvGrpSpPr/>
            <p:nvPr/>
          </p:nvGrpSpPr>
          <p:grpSpPr>
            <a:xfrm>
              <a:off x="1861315" y="4295165"/>
              <a:ext cx="1069865" cy="548627"/>
              <a:chOff x="7106337" y="3751588"/>
              <a:chExt cx="1190574" cy="692599"/>
            </a:xfrm>
          </p:grpSpPr>
          <p:pic>
            <p:nvPicPr>
              <p:cNvPr id="18" name="Picture 17"/>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766498" y="3856060"/>
                <a:ext cx="530413" cy="54685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106337" y="3751588"/>
                <a:ext cx="651089" cy="692599"/>
              </a:xfrm>
              <a:prstGeom prst="rect">
                <a:avLst/>
              </a:prstGeom>
              <a:noFill/>
              <a:extLst>
                <a:ext uri="{909E8E84-426E-40DD-AFC4-6F175D3DCCD1}">
                  <a14:hiddenFill xmlns:a14="http://schemas.microsoft.com/office/drawing/2010/main">
                    <a:solidFill>
                      <a:srgbClr val="FFFFFF"/>
                    </a:solidFill>
                  </a14:hiddenFill>
                </a:ext>
              </a:extLst>
            </p:spPr>
          </p:pic>
        </p:grpSp>
        <p:pic>
          <p:nvPicPr>
            <p:cNvPr id="14" name="Picture 13"/>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673473" y="4778498"/>
              <a:ext cx="957635" cy="75125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966432" y="4778498"/>
              <a:ext cx="957635" cy="751253"/>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p:cNvCxnSpPr/>
            <p:nvPr/>
          </p:nvCxnSpPr>
          <p:spPr bwMode="auto">
            <a:xfrm>
              <a:off x="2454554" y="5180326"/>
              <a:ext cx="979209" cy="0"/>
            </a:xfrm>
            <a:prstGeom prst="straightConnector1">
              <a:avLst/>
            </a:prstGeom>
            <a:ln>
              <a:solidFill>
                <a:srgbClr val="FF0000"/>
              </a:solidFill>
              <a:headEnd type="none" w="med" len="med"/>
              <a:tailEnd type="arrow"/>
            </a:ln>
            <a:effectLst/>
          </p:spPr>
          <p:style>
            <a:lnRef idx="3">
              <a:schemeClr val="dk1"/>
            </a:lnRef>
            <a:fillRef idx="0">
              <a:schemeClr val="dk1"/>
            </a:fillRef>
            <a:effectRef idx="2">
              <a:schemeClr val="dk1"/>
            </a:effectRef>
            <a:fontRef idx="minor">
              <a:schemeClr val="tx1"/>
            </a:fontRef>
          </p:style>
        </p:cxnSp>
        <p:cxnSp>
          <p:nvCxnSpPr>
            <p:cNvPr id="17" name="Straight Arrow Connector 16"/>
            <p:cNvCxnSpPr/>
            <p:nvPr/>
          </p:nvCxnSpPr>
          <p:spPr bwMode="auto">
            <a:xfrm>
              <a:off x="4811992" y="5180326"/>
              <a:ext cx="979209" cy="0"/>
            </a:xfrm>
            <a:prstGeom prst="straightConnector1">
              <a:avLst/>
            </a:prstGeom>
            <a:ln>
              <a:solidFill>
                <a:srgbClr val="FF0000"/>
              </a:solidFill>
              <a:headEnd type="none" w="med" len="med"/>
              <a:tailEnd type="arrow"/>
            </a:ln>
            <a:effectLst/>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139432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356b62ec-82c4-4bd0-8479-f665b9f8e5f7">
    <p:spTree>
      <p:nvGrpSpPr>
        <p:cNvPr id="1" name=""/>
        <p:cNvGrpSpPr/>
        <p:nvPr/>
      </p:nvGrpSpPr>
      <p:grpSpPr>
        <a:xfrm>
          <a:off x="0" y="0"/>
          <a:ext cx="0" cy="0"/>
          <a:chOff x="0" y="0"/>
          <a:chExt cx="0" cy="0"/>
        </a:xfrm>
      </p:grpSpPr>
      <p:sp>
        <p:nvSpPr>
          <p:cNvPr id="2" name="Title 1"/>
          <p:cNvSpPr>
            <a:spLocks noGrp="1"/>
          </p:cNvSpPr>
          <p:nvPr>
            <p:ph type="title"/>
          </p:nvPr>
        </p:nvSpPr>
        <p:spPr>
          <a:xfrm>
            <a:off x="1427931" y="177801"/>
            <a:ext cx="7106469" cy="630189"/>
          </a:xfrm>
        </p:spPr>
        <p:txBody>
          <a:bodyPr/>
          <a:lstStyle/>
          <a:p>
            <a:r>
              <a:rPr lang="en-US" dirty="0"/>
              <a:t>Common GPO management tasks</a:t>
            </a:r>
          </a:p>
        </p:txBody>
      </p:sp>
      <p:sp>
        <p:nvSpPr>
          <p:cNvPr id="4" name="Content Placeholder 2"/>
          <p:cNvSpPr>
            <a:spLocks noGrp="1"/>
          </p:cNvSpPr>
          <p:nvPr/>
        </p:nvSpPr>
        <p:spPr bwMode="auto">
          <a:xfrm>
            <a:off x="1427931" y="817007"/>
            <a:ext cx="7169596" cy="139066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lnSpc>
                <a:spcPct val="90000"/>
              </a:lnSpc>
              <a:buNone/>
              <a:defRPr/>
            </a:pPr>
            <a:r>
              <a:rPr lang="en-US" sz="2800" dirty="0">
                <a:latin typeface="Segoe UI" pitchFamily="34" charset="0"/>
                <a:ea typeface="Segoe UI" pitchFamily="34" charset="0"/>
                <a:cs typeface="Segoe UI" pitchFamily="34" charset="0"/>
              </a:rPr>
              <a:t>You can manage GPOs by using GPMC or Windows PowerShell. These are some of the options for managing the state of GPOs:</a:t>
            </a:r>
          </a:p>
          <a:p>
            <a:endParaRPr lang="en-US" dirty="0">
              <a:latin typeface="Segoe UI" pitchFamily="34" charset="0"/>
              <a:ea typeface="Segoe UI" pitchFamily="34" charset="0"/>
              <a:cs typeface="Segoe UI" pitchFamily="34" charset="0"/>
            </a:endParaRPr>
          </a:p>
        </p:txBody>
      </p:sp>
      <p:grpSp>
        <p:nvGrpSpPr>
          <p:cNvPr id="5" name="Group 4" descr="Illustration depicting four options for managing GPOs: back up GPOs, restore GPOs, copy GPOs, and import GPOs. The slide consists of icons depicting a group of people with a settings icon to illustrate a GPO and a folder to illustrate a folder on a disk. First is a GPO icon with an arrow pointing to a folder to illustrate backing up a GPO. Second is a folder icon with an arrow pointing to a GPO icon to illustrate restoring a GPO. Third is a GPO icon with an arrow pointing to another GPO icon to illustrate copying a GPO. Fourth, and last, is a folder icon with a little GPO icon with an arrow pointing to two GPO icons to illustrate importing a GPO."/>
          <p:cNvGrpSpPr/>
          <p:nvPr/>
        </p:nvGrpSpPr>
        <p:grpSpPr>
          <a:xfrm>
            <a:off x="505183" y="2614792"/>
            <a:ext cx="7878831" cy="3760976"/>
            <a:chOff x="505183" y="2614792"/>
            <a:chExt cx="7878831" cy="3760976"/>
          </a:xfrm>
        </p:grpSpPr>
        <p:sp>
          <p:nvSpPr>
            <p:cNvPr id="6" name="TextBox 25"/>
            <p:cNvSpPr txBox="1"/>
            <p:nvPr/>
          </p:nvSpPr>
          <p:spPr>
            <a:xfrm>
              <a:off x="1276350" y="2614792"/>
              <a:ext cx="2190023" cy="830997"/>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a:latin typeface="Segoe UI" pitchFamily="34" charset="0"/>
                  <a:ea typeface="Segoe UI" pitchFamily="34" charset="0"/>
                  <a:cs typeface="Segoe UI" pitchFamily="34" charset="0"/>
                </a:rPr>
                <a:t>Back up GPOs</a:t>
              </a:r>
            </a:p>
            <a:p>
              <a:endParaRPr lang="en-US" sz="2400" dirty="0">
                <a:latin typeface="Segoe UI" pitchFamily="34" charset="0"/>
                <a:ea typeface="Segoe UI" pitchFamily="34" charset="0"/>
                <a:cs typeface="Segoe UI" pitchFamily="34" charset="0"/>
              </a:endParaRPr>
            </a:p>
          </p:txBody>
        </p:sp>
        <p:sp>
          <p:nvSpPr>
            <p:cNvPr id="7" name="TextBox 26"/>
            <p:cNvSpPr txBox="1"/>
            <p:nvPr/>
          </p:nvSpPr>
          <p:spPr>
            <a:xfrm>
              <a:off x="5753100" y="2614792"/>
              <a:ext cx="2135008" cy="830997"/>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a:latin typeface="Segoe UI" pitchFamily="34" charset="0"/>
                  <a:ea typeface="Segoe UI" pitchFamily="34" charset="0"/>
                  <a:cs typeface="Segoe UI" pitchFamily="34" charset="0"/>
                </a:rPr>
                <a:t>Restore GPOs</a:t>
              </a:r>
            </a:p>
            <a:p>
              <a:endParaRPr lang="en-US" sz="2400" dirty="0">
                <a:latin typeface="Segoe UI" pitchFamily="34" charset="0"/>
                <a:ea typeface="Segoe UI" pitchFamily="34" charset="0"/>
                <a:cs typeface="Segoe UI" pitchFamily="34" charset="0"/>
              </a:endParaRPr>
            </a:p>
          </p:txBody>
        </p:sp>
        <p:sp>
          <p:nvSpPr>
            <p:cNvPr id="8" name="TextBox 27"/>
            <p:cNvSpPr txBox="1"/>
            <p:nvPr/>
          </p:nvSpPr>
          <p:spPr>
            <a:xfrm>
              <a:off x="5854938" y="4650244"/>
              <a:ext cx="2056204" cy="830997"/>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a:latin typeface="Segoe UI" pitchFamily="34" charset="0"/>
                  <a:ea typeface="Segoe UI" pitchFamily="34" charset="0"/>
                  <a:cs typeface="Segoe UI" pitchFamily="34" charset="0"/>
                </a:rPr>
                <a:t>Import GPOs</a:t>
              </a:r>
            </a:p>
            <a:p>
              <a:endParaRPr lang="en-US" sz="2400" dirty="0">
                <a:latin typeface="Segoe UI" pitchFamily="34" charset="0"/>
                <a:ea typeface="Segoe UI" pitchFamily="34" charset="0"/>
                <a:cs typeface="Segoe UI" pitchFamily="34" charset="0"/>
              </a:endParaRPr>
            </a:p>
          </p:txBody>
        </p:sp>
        <p:sp>
          <p:nvSpPr>
            <p:cNvPr id="9" name="TextBox 28"/>
            <p:cNvSpPr txBox="1"/>
            <p:nvPr/>
          </p:nvSpPr>
          <p:spPr>
            <a:xfrm>
              <a:off x="1539000" y="4689154"/>
              <a:ext cx="1782860" cy="830997"/>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a:latin typeface="Segoe UI" pitchFamily="34" charset="0"/>
                  <a:ea typeface="Segoe UI" pitchFamily="34" charset="0"/>
                  <a:cs typeface="Segoe UI" pitchFamily="34" charset="0"/>
                </a:rPr>
                <a:t>Copy GPOs</a:t>
              </a:r>
            </a:p>
            <a:p>
              <a:endParaRPr lang="en-US" sz="2400" dirty="0">
                <a:latin typeface="Segoe UI" pitchFamily="34" charset="0"/>
                <a:ea typeface="Segoe UI" pitchFamily="34" charset="0"/>
                <a:cs typeface="Segoe UI" pitchFamily="34" charset="0"/>
              </a:endParaRPr>
            </a:p>
          </p:txBody>
        </p:sp>
        <p:pic>
          <p:nvPicPr>
            <p:cNvPr id="10" name="Picture 9"/>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701785" y="3369887"/>
              <a:ext cx="1004791" cy="78824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547141" y="3383423"/>
              <a:ext cx="1252939" cy="622571"/>
              <a:chOff x="7227602" y="3913164"/>
              <a:chExt cx="999853" cy="498444"/>
            </a:xfrm>
          </p:grpSpPr>
          <p:pic>
            <p:nvPicPr>
              <p:cNvPr id="36" name="Picture 35"/>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766498" y="3963096"/>
                <a:ext cx="460957" cy="42030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227602" y="3913164"/>
                <a:ext cx="529824" cy="49844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2" name="Straight Arrow Connector 11"/>
            <p:cNvCxnSpPr/>
            <p:nvPr/>
          </p:nvCxnSpPr>
          <p:spPr bwMode="auto">
            <a:xfrm>
              <a:off x="1795605" y="3784303"/>
              <a:ext cx="926277" cy="2674"/>
            </a:xfrm>
            <a:prstGeom prst="straightConnector1">
              <a:avLst/>
            </a:prstGeom>
            <a:ln>
              <a:solidFill>
                <a:srgbClr val="FF0000"/>
              </a:solidFill>
              <a:headEnd type="none" w="med" len="med"/>
              <a:tailEnd type="arrow"/>
            </a:ln>
            <a:effectLst/>
          </p:spPr>
          <p:style>
            <a:lnRef idx="3">
              <a:schemeClr val="dk1"/>
            </a:lnRef>
            <a:fillRef idx="0">
              <a:schemeClr val="dk1"/>
            </a:fillRef>
            <a:effectRef idx="2">
              <a:schemeClr val="dk1"/>
            </a:effectRef>
            <a:fontRef idx="minor">
              <a:schemeClr val="tx1"/>
            </a:fontRef>
          </p:style>
        </p:cxnSp>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010247" y="3410544"/>
              <a:ext cx="1004791" cy="78824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p:cNvCxnSpPr/>
            <p:nvPr/>
          </p:nvCxnSpPr>
          <p:spPr bwMode="auto">
            <a:xfrm>
              <a:off x="6140214" y="3743628"/>
              <a:ext cx="926277" cy="2674"/>
            </a:xfrm>
            <a:prstGeom prst="straightConnector1">
              <a:avLst/>
            </a:prstGeom>
            <a:ln>
              <a:solidFill>
                <a:srgbClr val="FF0000"/>
              </a:solidFill>
              <a:headEnd type="none" w="med" len="med"/>
              <a:tailEnd type="arrow"/>
            </a:ln>
            <a:effectLst/>
          </p:spPr>
          <p:style>
            <a:lnRef idx="3">
              <a:schemeClr val="dk1"/>
            </a:lnRef>
            <a:fillRef idx="0">
              <a:schemeClr val="dk1"/>
            </a:fillRef>
            <a:effectRef idx="2">
              <a:schemeClr val="dk1"/>
            </a:effectRef>
            <a:fontRef idx="minor">
              <a:schemeClr val="tx1"/>
            </a:fontRef>
          </p:style>
        </p:cxnSp>
        <p:grpSp>
          <p:nvGrpSpPr>
            <p:cNvPr id="15" name="Group 14"/>
            <p:cNvGrpSpPr/>
            <p:nvPr/>
          </p:nvGrpSpPr>
          <p:grpSpPr>
            <a:xfrm>
              <a:off x="505183" y="5483638"/>
              <a:ext cx="1175828" cy="622571"/>
              <a:chOff x="7227602" y="3913164"/>
              <a:chExt cx="938318" cy="498444"/>
            </a:xfrm>
          </p:grpSpPr>
          <p:pic>
            <p:nvPicPr>
              <p:cNvPr id="34" name="Picture 33"/>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766498" y="4019204"/>
                <a:ext cx="399422" cy="36419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227602" y="3913164"/>
                <a:ext cx="529824" cy="49844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6" name="Straight Arrow Connector 15"/>
            <p:cNvCxnSpPr/>
            <p:nvPr/>
          </p:nvCxnSpPr>
          <p:spPr bwMode="auto">
            <a:xfrm>
              <a:off x="1795605" y="5818099"/>
              <a:ext cx="926277" cy="2674"/>
            </a:xfrm>
            <a:prstGeom prst="straightConnector1">
              <a:avLst/>
            </a:prstGeom>
            <a:ln>
              <a:solidFill>
                <a:srgbClr val="FF0000"/>
              </a:solidFill>
              <a:headEnd type="none" w="med" len="med"/>
              <a:tailEnd type="arrow"/>
            </a:ln>
            <a:effectLst/>
          </p:spPr>
          <p:style>
            <a:lnRef idx="3">
              <a:schemeClr val="dk1"/>
            </a:lnRef>
            <a:fillRef idx="0">
              <a:schemeClr val="dk1"/>
            </a:fillRef>
            <a:effectRef idx="2">
              <a:schemeClr val="dk1"/>
            </a:effectRef>
            <a:fontRef idx="minor">
              <a:schemeClr val="tx1"/>
            </a:fontRef>
          </p:style>
        </p:cxnSp>
        <p:pic>
          <p:nvPicPr>
            <p:cNvPr id="17" name="Picture 1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010247" y="5511116"/>
              <a:ext cx="1004791" cy="788246"/>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p:cNvGrpSpPr/>
            <p:nvPr/>
          </p:nvGrpSpPr>
          <p:grpSpPr>
            <a:xfrm>
              <a:off x="7200900" y="3454806"/>
              <a:ext cx="1183114" cy="622571"/>
              <a:chOff x="7227602" y="3913164"/>
              <a:chExt cx="944131" cy="498444"/>
            </a:xfrm>
          </p:grpSpPr>
          <p:pic>
            <p:nvPicPr>
              <p:cNvPr id="32" name="Picture 31"/>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766498" y="4013904"/>
                <a:ext cx="405235" cy="36949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227602" y="3913164"/>
                <a:ext cx="529824" cy="49844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9" name="Straight Arrow Connector 18"/>
            <p:cNvCxnSpPr/>
            <p:nvPr/>
          </p:nvCxnSpPr>
          <p:spPr bwMode="auto">
            <a:xfrm>
              <a:off x="6140214" y="5769785"/>
              <a:ext cx="926277" cy="2674"/>
            </a:xfrm>
            <a:prstGeom prst="straightConnector1">
              <a:avLst/>
            </a:prstGeom>
            <a:ln>
              <a:solidFill>
                <a:srgbClr val="FF0000"/>
              </a:solidFill>
              <a:headEnd type="none" w="med" len="med"/>
              <a:tailEnd type="arrow"/>
            </a:ln>
            <a:effectLst/>
          </p:spPr>
          <p:style>
            <a:lnRef idx="3">
              <a:schemeClr val="dk1"/>
            </a:lnRef>
            <a:fillRef idx="0">
              <a:schemeClr val="dk1"/>
            </a:fillRef>
            <a:effectRef idx="2">
              <a:schemeClr val="dk1"/>
            </a:effectRef>
            <a:fontRef idx="minor">
              <a:schemeClr val="tx1"/>
            </a:fontRef>
          </p:style>
        </p:cxnSp>
        <p:grpSp>
          <p:nvGrpSpPr>
            <p:cNvPr id="20" name="Group 19"/>
            <p:cNvGrpSpPr/>
            <p:nvPr/>
          </p:nvGrpSpPr>
          <p:grpSpPr>
            <a:xfrm>
              <a:off x="2913821" y="5506813"/>
              <a:ext cx="1175828" cy="622571"/>
              <a:chOff x="7227602" y="3913164"/>
              <a:chExt cx="938318" cy="498444"/>
            </a:xfrm>
          </p:grpSpPr>
          <p:pic>
            <p:nvPicPr>
              <p:cNvPr id="30" name="Picture 29"/>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766498" y="4019204"/>
                <a:ext cx="399422" cy="36419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227602" y="3913164"/>
                <a:ext cx="529824" cy="4984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p:cNvGrpSpPr/>
            <p:nvPr/>
          </p:nvGrpSpPr>
          <p:grpSpPr>
            <a:xfrm>
              <a:off x="6982123" y="5104652"/>
              <a:ext cx="1001539" cy="530289"/>
              <a:chOff x="7227602" y="3913164"/>
              <a:chExt cx="938318" cy="498444"/>
            </a:xfrm>
          </p:grpSpPr>
          <p:pic>
            <p:nvPicPr>
              <p:cNvPr id="28" name="Picture 27"/>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766498" y="4019204"/>
                <a:ext cx="399422" cy="36419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227602" y="3913164"/>
                <a:ext cx="529824" cy="4984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p:nvPr/>
          </p:nvGrpSpPr>
          <p:grpSpPr>
            <a:xfrm>
              <a:off x="7200884" y="5753197"/>
              <a:ext cx="1175828" cy="622571"/>
              <a:chOff x="7227602" y="3913164"/>
              <a:chExt cx="938318" cy="498444"/>
            </a:xfrm>
          </p:grpSpPr>
          <p:pic>
            <p:nvPicPr>
              <p:cNvPr id="26" name="Picture 25"/>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766498" y="4019204"/>
                <a:ext cx="399422" cy="364194"/>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227602" y="3913164"/>
                <a:ext cx="529824" cy="4984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Group 22"/>
            <p:cNvGrpSpPr/>
            <p:nvPr/>
          </p:nvGrpSpPr>
          <p:grpSpPr>
            <a:xfrm>
              <a:off x="5415035" y="5094406"/>
              <a:ext cx="875745" cy="463685"/>
              <a:chOff x="7227602" y="3913164"/>
              <a:chExt cx="938318" cy="498444"/>
            </a:xfrm>
          </p:grpSpPr>
          <p:pic>
            <p:nvPicPr>
              <p:cNvPr id="24" name="Picture 23"/>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766498" y="4019204"/>
                <a:ext cx="399422" cy="36419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227602" y="3913164"/>
                <a:ext cx="529824" cy="498444"/>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94634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3544f878-ebda-4f47-990f-e40aa8547774">
    <p:spTree>
      <p:nvGrpSpPr>
        <p:cNvPr id="1" name=""/>
        <p:cNvGrpSpPr/>
        <p:nvPr/>
      </p:nvGrpSpPr>
      <p:grpSpPr>
        <a:xfrm>
          <a:off x="0" y="0"/>
          <a:ext cx="0" cy="0"/>
          <a:chOff x="0" y="0"/>
          <a:chExt cx="0" cy="0"/>
        </a:xfrm>
      </p:grpSpPr>
      <p:sp>
        <p:nvSpPr>
          <p:cNvPr id="2" name="Title 1"/>
          <p:cNvSpPr>
            <a:spLocks noGrp="1"/>
          </p:cNvSpPr>
          <p:nvPr>
            <p:ph type="title"/>
          </p:nvPr>
        </p:nvSpPr>
        <p:spPr>
          <a:xfrm>
            <a:off x="1427931" y="0"/>
            <a:ext cx="7106469" cy="584199"/>
          </a:xfrm>
        </p:spPr>
        <p:txBody>
          <a:bodyPr/>
          <a:lstStyle/>
          <a:p>
            <a:r>
              <a:rPr lang="en-US" dirty="0"/>
              <a:t>Delegating administration of Group Policy</a:t>
            </a:r>
          </a:p>
        </p:txBody>
      </p:sp>
      <p:sp>
        <p:nvSpPr>
          <p:cNvPr id="4" name="Content Placeholder 2"/>
          <p:cNvSpPr>
            <a:spLocks noGrp="1"/>
          </p:cNvSpPr>
          <p:nvPr/>
        </p:nvSpPr>
        <p:spPr bwMode="auto">
          <a:xfrm>
            <a:off x="1427931" y="1600199"/>
            <a:ext cx="7405825" cy="525780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sz="2400" dirty="0">
                <a:latin typeface="Segoe UI" pitchFamily="34" charset="0"/>
                <a:ea typeface="Segoe UI" pitchFamily="34" charset="0"/>
                <a:cs typeface="Segoe UI" pitchFamily="34" charset="0"/>
              </a:rPr>
              <a:t>Delegation of GPO-related tasks allows the administrative workload to be distributed across the enterprise</a:t>
            </a:r>
            <a:endParaRPr lang="en-US" dirty="0">
              <a:latin typeface="Segoe UI" pitchFamily="34" charset="0"/>
              <a:ea typeface="Segoe UI" pitchFamily="34" charset="0"/>
              <a:cs typeface="Segoe UI" pitchFamily="34" charset="0"/>
            </a:endParaRPr>
          </a:p>
          <a:p>
            <a:r>
              <a:rPr lang="en-US" sz="2400" dirty="0">
                <a:latin typeface="Segoe UI" pitchFamily="34" charset="0"/>
                <a:ea typeface="Segoe UI" pitchFamily="34" charset="0"/>
                <a:cs typeface="Segoe UI" pitchFamily="34" charset="0"/>
              </a:rPr>
              <a:t>You can delegate the following Group Policy tasks independently:</a:t>
            </a:r>
          </a:p>
          <a:p>
            <a:pPr marL="365760" lvl="1">
              <a:buFont typeface="Arial" panose="020B0604020202020204" pitchFamily="34" charset="0"/>
              <a:buChar char="•"/>
            </a:pPr>
            <a:r>
              <a:rPr lang="en-US" sz="2000" dirty="0">
                <a:latin typeface="Segoe UI" pitchFamily="34" charset="0"/>
                <a:ea typeface="Segoe UI" pitchFamily="34" charset="0"/>
                <a:cs typeface="Segoe UI" pitchFamily="34" charset="0"/>
              </a:rPr>
              <a:t>Creating GPOs</a:t>
            </a:r>
          </a:p>
          <a:p>
            <a:pPr marL="365760" lvl="1">
              <a:buFont typeface="Arial" panose="020B0604020202020204" pitchFamily="34" charset="0"/>
              <a:buChar char="•"/>
            </a:pPr>
            <a:r>
              <a:rPr lang="en-US" sz="2000" dirty="0">
                <a:latin typeface="Segoe UI" pitchFamily="34" charset="0"/>
                <a:ea typeface="Segoe UI" pitchFamily="34" charset="0"/>
                <a:cs typeface="Segoe UI" pitchFamily="34" charset="0"/>
              </a:rPr>
              <a:t>Editing GPOs</a:t>
            </a:r>
          </a:p>
          <a:p>
            <a:pPr marL="365760" lvl="1">
              <a:buFont typeface="Arial" panose="020B0604020202020204" pitchFamily="34" charset="0"/>
              <a:buChar char="•"/>
            </a:pPr>
            <a:r>
              <a:rPr lang="en-US" sz="2000" dirty="0">
                <a:latin typeface="Segoe UI" pitchFamily="34" charset="0"/>
                <a:ea typeface="Segoe UI" pitchFamily="34" charset="0"/>
                <a:cs typeface="Segoe UI" pitchFamily="34" charset="0"/>
              </a:rPr>
              <a:t>Managing Group Policy links for a site, domain, or OU</a:t>
            </a:r>
          </a:p>
          <a:p>
            <a:pPr marL="365760" lvl="1">
              <a:buFont typeface="Arial" panose="020B0604020202020204" pitchFamily="34" charset="0"/>
              <a:buChar char="•"/>
            </a:pPr>
            <a:r>
              <a:rPr lang="en-US" sz="2000" dirty="0">
                <a:latin typeface="Segoe UI" pitchFamily="34" charset="0"/>
                <a:ea typeface="Segoe UI" pitchFamily="34" charset="0"/>
                <a:cs typeface="Segoe UI" pitchFamily="34" charset="0"/>
              </a:rPr>
              <a:t>Performing Group Policy modeling analysis in a domain or OU</a:t>
            </a:r>
          </a:p>
          <a:p>
            <a:pPr marL="365760" lvl="1">
              <a:buFont typeface="Arial" panose="020B0604020202020204" pitchFamily="34" charset="0"/>
              <a:buChar char="•"/>
            </a:pPr>
            <a:r>
              <a:rPr lang="en-US" sz="2000" dirty="0">
                <a:latin typeface="Segoe UI" pitchFamily="34" charset="0"/>
                <a:ea typeface="Segoe UI" pitchFamily="34" charset="0"/>
                <a:cs typeface="Segoe UI" pitchFamily="34" charset="0"/>
              </a:rPr>
              <a:t>Reading Group Policy results data in a domain or OU</a:t>
            </a:r>
          </a:p>
          <a:p>
            <a:pPr marL="365760" lvl="1">
              <a:buFont typeface="Arial" panose="020B0604020202020204" pitchFamily="34" charset="0"/>
              <a:buChar char="•"/>
            </a:pPr>
            <a:r>
              <a:rPr lang="en-US" sz="2000" dirty="0">
                <a:latin typeface="Segoe UI" pitchFamily="34" charset="0"/>
                <a:ea typeface="Segoe UI" pitchFamily="34" charset="0"/>
                <a:cs typeface="Segoe UI" pitchFamily="34" charset="0"/>
              </a:rPr>
              <a:t>Creating WMI filters in a domain </a:t>
            </a:r>
          </a:p>
        </p:txBody>
      </p:sp>
    </p:spTree>
    <p:extLst>
      <p:ext uri="{BB962C8B-B14F-4D97-AF65-F5344CB8AC3E}">
        <p14:creationId xmlns:p14="http://schemas.microsoft.com/office/powerpoint/2010/main" val="121430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a:xfrm>
            <a:off x="1371600" y="-8469"/>
            <a:ext cx="7696199" cy="740664"/>
          </a:xfrm>
        </p:spPr>
        <p:txBody>
          <a:bodyPr/>
          <a:lstStyle/>
          <a:p>
            <a:r>
              <a:rPr lang="en-US" dirty="0"/>
              <a:t>Group Policy scope and Group Policy processing</a:t>
            </a:r>
          </a:p>
        </p:txBody>
      </p:sp>
      <p:sp>
        <p:nvSpPr>
          <p:cNvPr id="3" name="Text Placeholder 2"/>
          <p:cNvSpPr>
            <a:spLocks noGrp="1"/>
          </p:cNvSpPr>
          <p:nvPr>
            <p:ph type="body" idx="1"/>
          </p:nvPr>
        </p:nvSpPr>
        <p:spPr>
          <a:xfrm>
            <a:off x="1371600" y="948644"/>
            <a:ext cx="7543800" cy="5909356"/>
          </a:xfrm>
        </p:spPr>
        <p:txBody>
          <a:bodyPr>
            <a:normAutofit/>
          </a:bodyPr>
          <a:lstStyle/>
          <a:p>
            <a:r>
              <a:rPr lang="en-US" sz="2600" dirty="0"/>
              <a:t>What are GPO links?
Group Policy processing order
Configuring GPO inheritance and precedence
Using security filtering to modify Group Policy scope
What are WMI filters?
Demonstration: Filtering Group Policy application
How to enable or disable GPOs and GPO nodes
Loopback policy processing
Considerations for slow links and disconnected systems
Identifying when settings become effective</a:t>
            </a:r>
          </a:p>
        </p:txBody>
      </p:sp>
    </p:spTree>
    <p:extLst>
      <p:ext uri="{BB962C8B-B14F-4D97-AF65-F5344CB8AC3E}">
        <p14:creationId xmlns:p14="http://schemas.microsoft.com/office/powerpoint/2010/main" val="226747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4a0586fc-c7ce-4710-a90e-463b971db14c">
    <p:spTree>
      <p:nvGrpSpPr>
        <p:cNvPr id="1" name=""/>
        <p:cNvGrpSpPr/>
        <p:nvPr/>
      </p:nvGrpSpPr>
      <p:grpSpPr>
        <a:xfrm>
          <a:off x="0" y="0"/>
          <a:ext cx="0" cy="0"/>
          <a:chOff x="0" y="0"/>
          <a:chExt cx="0" cy="0"/>
        </a:xfrm>
      </p:grpSpPr>
      <p:sp>
        <p:nvSpPr>
          <p:cNvPr id="2" name="Title 1"/>
          <p:cNvSpPr>
            <a:spLocks noGrp="1"/>
          </p:cNvSpPr>
          <p:nvPr>
            <p:ph type="title"/>
          </p:nvPr>
        </p:nvSpPr>
        <p:spPr>
          <a:xfrm>
            <a:off x="1371600" y="20782"/>
            <a:ext cx="7106469" cy="584199"/>
          </a:xfrm>
        </p:spPr>
        <p:txBody>
          <a:bodyPr/>
          <a:lstStyle/>
          <a:p>
            <a:r>
              <a:rPr lang="en-US" dirty="0"/>
              <a:t>What are GPO links?</a:t>
            </a:r>
          </a:p>
        </p:txBody>
      </p:sp>
      <p:pic>
        <p:nvPicPr>
          <p:cNvPr id="4" name="Picture 3" descr="Screenshot of Group Policy Management Console displaying the linked GPOs for the Adatum.com domain and the shortcut menu shown for the Development OU with the Link an Existing GPO item highlighted.&#10;&#10;"/>
          <p:cNvPicPr>
            <a:picLocks noChangeAspect="1"/>
          </p:cNvPicPr>
          <p:nvPr/>
        </p:nvPicPr>
        <p:blipFill>
          <a:blip r:embed="rId3"/>
          <a:stretch>
            <a:fillRect/>
          </a:stretch>
        </p:blipFill>
        <p:spPr>
          <a:xfrm>
            <a:off x="1608271" y="1439253"/>
            <a:ext cx="6862871" cy="4815890"/>
          </a:xfrm>
          <a:prstGeom prst="rect">
            <a:avLst/>
          </a:prstGeom>
          <a:ln>
            <a:solidFill>
              <a:srgbClr val="0070C0"/>
            </a:solidFill>
          </a:ln>
        </p:spPr>
      </p:pic>
      <p:sp>
        <p:nvSpPr>
          <p:cNvPr id="5" name="TextBox 3"/>
          <p:cNvSpPr txBox="1"/>
          <p:nvPr/>
        </p:nvSpPr>
        <p:spPr>
          <a:xfrm>
            <a:off x="1371600" y="616712"/>
            <a:ext cx="7800109" cy="92333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b="0" dirty="0">
                <a:latin typeface="Segoe UI" pitchFamily="34" charset="0"/>
                <a:cs typeface="Segoe UI" pitchFamily="34" charset="0"/>
              </a:rPr>
              <a:t>After you have linked a GPO, the users or computers in that container are within the scope of the GPO, including computers and users in child OUs</a:t>
            </a:r>
          </a:p>
          <a:p>
            <a:endParaRPr lang="en-US" b="0" dirty="0">
              <a:latin typeface="Segoe UI" pitchFamily="34" charset="0"/>
              <a:cs typeface="Segoe UI" pitchFamily="34" charset="0"/>
            </a:endParaRPr>
          </a:p>
        </p:txBody>
      </p:sp>
    </p:spTree>
    <p:extLst>
      <p:ext uri="{BB962C8B-B14F-4D97-AF65-F5344CB8AC3E}">
        <p14:creationId xmlns:p14="http://schemas.microsoft.com/office/powerpoint/2010/main" val="424784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35e24c0d-a98d-4881-9598-d396814807b9">
    <p:spTree>
      <p:nvGrpSpPr>
        <p:cNvPr id="1" name=""/>
        <p:cNvGrpSpPr/>
        <p:nvPr/>
      </p:nvGrpSpPr>
      <p:grpSpPr>
        <a:xfrm>
          <a:off x="0" y="0"/>
          <a:ext cx="0" cy="0"/>
          <a:chOff x="0" y="0"/>
          <a:chExt cx="0" cy="0"/>
        </a:xfrm>
      </p:grpSpPr>
      <p:sp>
        <p:nvSpPr>
          <p:cNvPr id="2" name="Title 1"/>
          <p:cNvSpPr>
            <a:spLocks noGrp="1"/>
          </p:cNvSpPr>
          <p:nvPr>
            <p:ph type="title"/>
          </p:nvPr>
        </p:nvSpPr>
        <p:spPr>
          <a:xfrm>
            <a:off x="1427931" y="177801"/>
            <a:ext cx="7106469" cy="539181"/>
          </a:xfrm>
        </p:spPr>
        <p:txBody>
          <a:bodyPr/>
          <a:lstStyle/>
          <a:p>
            <a:r>
              <a:rPr lang="en-US" dirty="0"/>
              <a:t>Group Policy processing order</a:t>
            </a:r>
          </a:p>
        </p:txBody>
      </p:sp>
      <p:grpSp>
        <p:nvGrpSpPr>
          <p:cNvPr id="4" name="Group 3" descr="Illustration depicting the inheritance of GPOs in a vertical diagram, in which each stage is represented by a shape with an arrow pointing down to the next shape, starting with the application of local GPOs, then the application of site GPOs, domain GPOs, and finally OU GPOs and child OU GPOs. The illustration depicts the various GPOs that are applied to a user or computer in a given OU. At the top of the diagram is local GPO, which represents GPO 1. Below that, an arrow points to site GPOs, which represent GPO 2. Below that are domain GPOs, which represent GPO 3. Below that are OU GPOs, which represent GPO 4. The last arrow points to the child OU GPOs, which represent GPO 5."/>
          <p:cNvGrpSpPr/>
          <p:nvPr/>
        </p:nvGrpSpPr>
        <p:grpSpPr>
          <a:xfrm>
            <a:off x="2852499" y="934279"/>
            <a:ext cx="5263855" cy="5267784"/>
            <a:chOff x="2852499" y="934279"/>
            <a:chExt cx="5263855" cy="5267784"/>
          </a:xfrm>
        </p:grpSpPr>
        <p:grpSp>
          <p:nvGrpSpPr>
            <p:cNvPr id="5" name="Group 4"/>
            <p:cNvGrpSpPr/>
            <p:nvPr/>
          </p:nvGrpSpPr>
          <p:grpSpPr>
            <a:xfrm>
              <a:off x="2852499" y="934279"/>
              <a:ext cx="4824632" cy="690900"/>
              <a:chOff x="1997745" y="934279"/>
              <a:chExt cx="4824632" cy="690900"/>
            </a:xfrm>
          </p:grpSpPr>
          <p:sp>
            <p:nvSpPr>
              <p:cNvPr id="25" name="TextBox 1"/>
              <p:cNvSpPr txBox="1"/>
              <p:nvPr/>
            </p:nvSpPr>
            <p:spPr>
              <a:xfrm>
                <a:off x="4369526" y="1154246"/>
                <a:ext cx="2452851"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b="0" dirty="0">
                    <a:latin typeface="Segoe UI" panose="020B0502040204020203" pitchFamily="34" charset="0"/>
                    <a:ea typeface="Segoe UI" panose="020B0502040204020203" pitchFamily="34" charset="0"/>
                    <a:cs typeface="Segoe UI" panose="020B0502040204020203" pitchFamily="34" charset="0"/>
                  </a:rPr>
                  <a:t>Local group policies</a:t>
                </a:r>
              </a:p>
            </p:txBody>
          </p:sp>
          <p:sp>
            <p:nvSpPr>
              <p:cNvPr id="26" name="Oval 25" title="GPO 1"/>
              <p:cNvSpPr/>
              <p:nvPr/>
            </p:nvSpPr>
            <p:spPr bwMode="auto">
              <a:xfrm>
                <a:off x="1997745" y="934279"/>
                <a:ext cx="1617935" cy="690900"/>
              </a:xfrm>
              <a:prstGeom prst="ellipse">
                <a:avLst/>
              </a:prstGeom>
              <a:solidFill>
                <a:schemeClr val="bg1"/>
              </a:solidFill>
              <a:ln w="9525" cap="flat" cmpd="sng" algn="ctr">
                <a:solidFill>
                  <a:schemeClr val="tx2"/>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rPr>
                  <a:t>Local group</a:t>
                </a:r>
              </a:p>
            </p:txBody>
          </p:sp>
          <p:sp>
            <p:nvSpPr>
              <p:cNvPr id="27" name="TextBox 80"/>
              <p:cNvSpPr txBox="1"/>
              <p:nvPr/>
            </p:nvSpPr>
            <p:spPr>
              <a:xfrm>
                <a:off x="3725156" y="1126794"/>
                <a:ext cx="532518"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solidFill>
                      <a:srgbClr val="FF0000"/>
                    </a:solidFill>
                    <a:latin typeface="Segoe UI" panose="020B0502040204020203" pitchFamily="34" charset="0"/>
                    <a:ea typeface="Segoe UI" panose="020B0502040204020203" pitchFamily="34" charset="0"/>
                    <a:cs typeface="Segoe UI" panose="020B0502040204020203" pitchFamily="34" charset="0"/>
                  </a:rPr>
                  <a:t>. . .</a:t>
                </a:r>
              </a:p>
            </p:txBody>
          </p:sp>
        </p:grpSp>
        <p:grpSp>
          <p:nvGrpSpPr>
            <p:cNvPr id="6" name="Group 5"/>
            <p:cNvGrpSpPr/>
            <p:nvPr/>
          </p:nvGrpSpPr>
          <p:grpSpPr>
            <a:xfrm>
              <a:off x="2852499" y="2133191"/>
              <a:ext cx="4660741" cy="550281"/>
              <a:chOff x="1997745" y="2133191"/>
              <a:chExt cx="4660741" cy="550281"/>
            </a:xfrm>
          </p:grpSpPr>
          <p:sp>
            <p:nvSpPr>
              <p:cNvPr id="22" name="TextBox 49"/>
              <p:cNvSpPr txBox="1"/>
              <p:nvPr/>
            </p:nvSpPr>
            <p:spPr>
              <a:xfrm>
                <a:off x="4369526" y="2281086"/>
                <a:ext cx="2288960"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b="0" dirty="0">
                    <a:latin typeface="Segoe UI" panose="020B0502040204020203" pitchFamily="34" charset="0"/>
                    <a:ea typeface="Segoe UI" panose="020B0502040204020203" pitchFamily="34" charset="0"/>
                    <a:cs typeface="Segoe UI" panose="020B0502040204020203" pitchFamily="34" charset="0"/>
                  </a:rPr>
                  <a:t>Site group policies</a:t>
                </a:r>
              </a:p>
            </p:txBody>
          </p:sp>
          <p:sp>
            <p:nvSpPr>
              <p:cNvPr id="23" name="Oval 22"/>
              <p:cNvSpPr/>
              <p:nvPr/>
            </p:nvSpPr>
            <p:spPr bwMode="auto">
              <a:xfrm>
                <a:off x="1997745" y="2133191"/>
                <a:ext cx="1617935" cy="550281"/>
              </a:xfrm>
              <a:prstGeom prst="ellipse">
                <a:avLst/>
              </a:prstGeom>
              <a:solidFill>
                <a:schemeClr val="bg1"/>
              </a:solidFill>
              <a:ln w="9525" cap="flat" cmpd="sng" algn="ctr">
                <a:solidFill>
                  <a:schemeClr val="tx2"/>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rPr>
                  <a:t>Site</a:t>
                </a:r>
              </a:p>
            </p:txBody>
          </p:sp>
          <p:sp>
            <p:nvSpPr>
              <p:cNvPr id="24" name="TextBox 118"/>
              <p:cNvSpPr txBox="1"/>
              <p:nvPr/>
            </p:nvSpPr>
            <p:spPr>
              <a:xfrm>
                <a:off x="3725156" y="2195505"/>
                <a:ext cx="532518"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solidFill>
                      <a:srgbClr val="FF0000"/>
                    </a:solidFill>
                    <a:latin typeface="Segoe UI" panose="020B0502040204020203" pitchFamily="34" charset="0"/>
                    <a:ea typeface="Segoe UI" panose="020B0502040204020203" pitchFamily="34" charset="0"/>
                    <a:cs typeface="Segoe UI" panose="020B0502040204020203" pitchFamily="34" charset="0"/>
                  </a:rPr>
                  <a:t>. . .</a:t>
                </a:r>
              </a:p>
            </p:txBody>
          </p:sp>
        </p:grpSp>
        <p:grpSp>
          <p:nvGrpSpPr>
            <p:cNvPr id="7" name="Group 6"/>
            <p:cNvGrpSpPr/>
            <p:nvPr/>
          </p:nvGrpSpPr>
          <p:grpSpPr>
            <a:xfrm>
              <a:off x="2952105" y="3187221"/>
              <a:ext cx="5032803" cy="807958"/>
              <a:chOff x="2097351" y="3187221"/>
              <a:chExt cx="5032803" cy="807958"/>
            </a:xfrm>
          </p:grpSpPr>
          <p:sp>
            <p:nvSpPr>
              <p:cNvPr id="18" name="TextBox 58"/>
              <p:cNvSpPr txBox="1"/>
              <p:nvPr/>
            </p:nvSpPr>
            <p:spPr>
              <a:xfrm>
                <a:off x="4369526" y="3441060"/>
                <a:ext cx="2760628"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b="0" dirty="0">
                    <a:latin typeface="Segoe UI" panose="020B0502040204020203" pitchFamily="34" charset="0"/>
                    <a:ea typeface="Segoe UI" panose="020B0502040204020203" pitchFamily="34" charset="0"/>
                    <a:cs typeface="Segoe UI" panose="020B0502040204020203" pitchFamily="34" charset="0"/>
                  </a:rPr>
                  <a:t>Domain group policies</a:t>
                </a:r>
              </a:p>
            </p:txBody>
          </p:sp>
          <p:sp>
            <p:nvSpPr>
              <p:cNvPr id="19" name="Isosceles Triangle 18"/>
              <p:cNvSpPr/>
              <p:nvPr/>
            </p:nvSpPr>
            <p:spPr bwMode="auto">
              <a:xfrm>
                <a:off x="2097351" y="3187221"/>
                <a:ext cx="1317123" cy="732576"/>
              </a:xfrm>
              <a:prstGeom prst="triangle">
                <a:avLst>
                  <a:gd name="adj" fmla="val 53120"/>
                </a:avLst>
              </a:prstGeom>
              <a:solidFill>
                <a:srgbClr val="569AD2"/>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b"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n-US" sz="2000" dirty="0">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n-US" sz="2000" dirty="0">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n-US" sz="2000" dirty="0">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n-US" sz="2000" dirty="0">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lang="en-US" sz="2000" dirty="0">
                  <a:latin typeface="Segoe UI" panose="020B0502040204020203" pitchFamily="34" charset="0"/>
                  <a:ea typeface="Segoe UI" panose="020B0502040204020203" pitchFamily="34" charset="0"/>
                  <a:cs typeface="Segoe UI" panose="020B0502040204020203"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endParaRPr>
              </a:p>
            </p:txBody>
          </p:sp>
          <p:sp>
            <p:nvSpPr>
              <p:cNvPr id="20" name="TextBox 104"/>
              <p:cNvSpPr txBox="1"/>
              <p:nvPr/>
            </p:nvSpPr>
            <p:spPr>
              <a:xfrm>
                <a:off x="2224942" y="3595069"/>
                <a:ext cx="1074333"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b="0" dirty="0">
                    <a:latin typeface="Segoe UI" panose="020B0502040204020203" pitchFamily="34" charset="0"/>
                    <a:ea typeface="Segoe UI" panose="020B0502040204020203" pitchFamily="34" charset="0"/>
                    <a:cs typeface="Segoe UI" panose="020B0502040204020203" pitchFamily="34" charset="0"/>
                  </a:rPr>
                  <a:t>Domain</a:t>
                </a:r>
              </a:p>
            </p:txBody>
          </p:sp>
          <p:sp>
            <p:nvSpPr>
              <p:cNvPr id="21" name="TextBox 119"/>
              <p:cNvSpPr txBox="1"/>
              <p:nvPr/>
            </p:nvSpPr>
            <p:spPr>
              <a:xfrm>
                <a:off x="3725156" y="3357259"/>
                <a:ext cx="532518"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solidFill>
                      <a:srgbClr val="FF0000"/>
                    </a:solidFill>
                    <a:latin typeface="Segoe UI" panose="020B0502040204020203" pitchFamily="34" charset="0"/>
                    <a:ea typeface="Segoe UI" panose="020B0502040204020203" pitchFamily="34" charset="0"/>
                    <a:cs typeface="Segoe UI" panose="020B0502040204020203" pitchFamily="34" charset="0"/>
                  </a:rPr>
                  <a:t>. . .</a:t>
                </a:r>
              </a:p>
            </p:txBody>
          </p:sp>
        </p:grpSp>
        <p:grpSp>
          <p:nvGrpSpPr>
            <p:cNvPr id="8" name="Group 7"/>
            <p:cNvGrpSpPr/>
            <p:nvPr/>
          </p:nvGrpSpPr>
          <p:grpSpPr>
            <a:xfrm>
              <a:off x="3327275" y="4404991"/>
              <a:ext cx="4177170" cy="668382"/>
              <a:chOff x="2472521" y="4404991"/>
              <a:chExt cx="4177170" cy="668382"/>
            </a:xfrm>
          </p:grpSpPr>
          <p:sp>
            <p:nvSpPr>
              <p:cNvPr id="14" name="TextBox 63"/>
              <p:cNvSpPr txBox="1"/>
              <p:nvPr/>
            </p:nvSpPr>
            <p:spPr>
              <a:xfrm>
                <a:off x="4408436" y="4512953"/>
                <a:ext cx="2241255"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b="0" dirty="0">
                    <a:latin typeface="Segoe UI" panose="020B0502040204020203" pitchFamily="34" charset="0"/>
                    <a:ea typeface="Segoe UI" panose="020B0502040204020203" pitchFamily="34" charset="0"/>
                    <a:cs typeface="Segoe UI" panose="020B0502040204020203" pitchFamily="34" charset="0"/>
                  </a:rPr>
                  <a:t>OU group policies</a:t>
                </a:r>
              </a:p>
            </p:txBody>
          </p:sp>
          <p:sp>
            <p:nvSpPr>
              <p:cNvPr id="15" name="Oval 14"/>
              <p:cNvSpPr/>
              <p:nvPr/>
            </p:nvSpPr>
            <p:spPr bwMode="auto">
              <a:xfrm>
                <a:off x="2472521" y="4404991"/>
                <a:ext cx="668382" cy="668382"/>
              </a:xfrm>
              <a:prstGeom prst="ellipse">
                <a:avLst/>
              </a:prstGeom>
              <a:solidFill>
                <a:srgbClr val="92D050"/>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endParaRPr>
              </a:p>
            </p:txBody>
          </p:sp>
          <p:sp>
            <p:nvSpPr>
              <p:cNvPr id="16" name="TextBox 111"/>
              <p:cNvSpPr txBox="1"/>
              <p:nvPr/>
            </p:nvSpPr>
            <p:spPr>
              <a:xfrm>
                <a:off x="2539652" y="4574394"/>
                <a:ext cx="554960"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b="0" dirty="0">
                    <a:latin typeface="Segoe UI" panose="020B0502040204020203" pitchFamily="34" charset="0"/>
                    <a:ea typeface="Segoe UI" panose="020B0502040204020203" pitchFamily="34" charset="0"/>
                    <a:cs typeface="Segoe UI" panose="020B0502040204020203" pitchFamily="34" charset="0"/>
                  </a:rPr>
                  <a:t>OU</a:t>
                </a:r>
              </a:p>
            </p:txBody>
          </p:sp>
          <p:sp>
            <p:nvSpPr>
              <p:cNvPr id="17" name="TextBox 120"/>
              <p:cNvSpPr txBox="1"/>
              <p:nvPr/>
            </p:nvSpPr>
            <p:spPr>
              <a:xfrm>
                <a:off x="3744188" y="4449030"/>
                <a:ext cx="532518"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solidFill>
                      <a:srgbClr val="FF0000"/>
                    </a:solidFill>
                    <a:latin typeface="Segoe UI" panose="020B0502040204020203" pitchFamily="34" charset="0"/>
                    <a:ea typeface="Segoe UI" panose="020B0502040204020203" pitchFamily="34" charset="0"/>
                    <a:cs typeface="Segoe UI" panose="020B0502040204020203" pitchFamily="34" charset="0"/>
                  </a:rPr>
                  <a:t>. . .</a:t>
                </a:r>
              </a:p>
            </p:txBody>
          </p:sp>
        </p:grpSp>
        <p:grpSp>
          <p:nvGrpSpPr>
            <p:cNvPr id="9" name="Group 8"/>
            <p:cNvGrpSpPr/>
            <p:nvPr/>
          </p:nvGrpSpPr>
          <p:grpSpPr>
            <a:xfrm>
              <a:off x="3327275" y="5452767"/>
              <a:ext cx="4789079" cy="749296"/>
              <a:chOff x="2472521" y="5452767"/>
              <a:chExt cx="4789079" cy="749296"/>
            </a:xfrm>
          </p:grpSpPr>
          <p:sp>
            <p:nvSpPr>
              <p:cNvPr id="10" name="Oval 9"/>
              <p:cNvSpPr/>
              <p:nvPr/>
            </p:nvSpPr>
            <p:spPr bwMode="auto">
              <a:xfrm>
                <a:off x="2472521" y="5533681"/>
                <a:ext cx="668382" cy="668382"/>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Segoe UI" panose="020B0502040204020203" pitchFamily="34" charset="0"/>
                  <a:ea typeface="Segoe UI" panose="020B0502040204020203" pitchFamily="34" charset="0"/>
                  <a:cs typeface="Segoe UI" panose="020B0502040204020203" pitchFamily="34" charset="0"/>
                </a:endParaRPr>
              </a:p>
            </p:txBody>
          </p:sp>
          <p:sp>
            <p:nvSpPr>
              <p:cNvPr id="11" name="TextBox 110"/>
              <p:cNvSpPr txBox="1"/>
              <p:nvPr/>
            </p:nvSpPr>
            <p:spPr>
              <a:xfrm>
                <a:off x="2539652" y="5703084"/>
                <a:ext cx="554960"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b="0" dirty="0">
                    <a:latin typeface="Segoe UI" panose="020B0502040204020203" pitchFamily="34" charset="0"/>
                    <a:ea typeface="Segoe UI" panose="020B0502040204020203" pitchFamily="34" charset="0"/>
                    <a:cs typeface="Segoe UI" panose="020B0502040204020203" pitchFamily="34" charset="0"/>
                  </a:rPr>
                  <a:t>OU</a:t>
                </a:r>
              </a:p>
            </p:txBody>
          </p:sp>
          <p:sp>
            <p:nvSpPr>
              <p:cNvPr id="12" name="TextBox 66"/>
              <p:cNvSpPr txBox="1"/>
              <p:nvPr/>
            </p:nvSpPr>
            <p:spPr>
              <a:xfrm>
                <a:off x="4369526" y="5487267"/>
                <a:ext cx="2892074"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b="0" dirty="0">
                    <a:latin typeface="Segoe UI" panose="020B0502040204020203" pitchFamily="34" charset="0"/>
                    <a:ea typeface="Segoe UI" panose="020B0502040204020203" pitchFamily="34" charset="0"/>
                    <a:cs typeface="Segoe UI" panose="020B0502040204020203" pitchFamily="34" charset="0"/>
                  </a:rPr>
                  <a:t>Child OU group policies</a:t>
                </a:r>
              </a:p>
            </p:txBody>
          </p:sp>
          <p:sp>
            <p:nvSpPr>
              <p:cNvPr id="13" name="TextBox 121"/>
              <p:cNvSpPr txBox="1"/>
              <p:nvPr/>
            </p:nvSpPr>
            <p:spPr>
              <a:xfrm>
                <a:off x="3725156" y="5452767"/>
                <a:ext cx="532518"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solidFill>
                      <a:srgbClr val="FF0000"/>
                    </a:solidFill>
                    <a:latin typeface="Segoe UI" panose="020B0502040204020203" pitchFamily="34" charset="0"/>
                    <a:ea typeface="Segoe UI" panose="020B0502040204020203" pitchFamily="34" charset="0"/>
                    <a:cs typeface="Segoe UI" panose="020B0502040204020203" pitchFamily="34" charset="0"/>
                  </a:rPr>
                  <a:t>. . .</a:t>
                </a:r>
              </a:p>
            </p:txBody>
          </p:sp>
        </p:grpSp>
      </p:grpSp>
      <p:grpSp>
        <p:nvGrpSpPr>
          <p:cNvPr id="28" name="Group 27"/>
          <p:cNvGrpSpPr/>
          <p:nvPr/>
        </p:nvGrpSpPr>
        <p:grpSpPr>
          <a:xfrm>
            <a:off x="1814718" y="1055306"/>
            <a:ext cx="1846755" cy="4997626"/>
            <a:chOff x="1814718" y="1055306"/>
            <a:chExt cx="1846755" cy="4997626"/>
          </a:xfrm>
        </p:grpSpPr>
        <p:cxnSp>
          <p:nvCxnSpPr>
            <p:cNvPr id="29" name="Straight Arrow Connector 28"/>
            <p:cNvCxnSpPr/>
            <p:nvPr/>
          </p:nvCxnSpPr>
          <p:spPr bwMode="auto">
            <a:xfrm>
              <a:off x="3661473" y="3889368"/>
              <a:ext cx="0" cy="508013"/>
            </a:xfrm>
            <a:prstGeom prst="straightConnector1">
              <a:avLst/>
            </a:prstGeom>
            <a:ln>
              <a:solidFill>
                <a:srgbClr val="FF0000"/>
              </a:solidFill>
              <a:headEnd type="none" w="med" len="med"/>
              <a:tailEnd type="triangle"/>
            </a:ln>
            <a:effectLst/>
          </p:spPr>
          <p:style>
            <a:lnRef idx="3">
              <a:schemeClr val="dk1"/>
            </a:lnRef>
            <a:fillRef idx="0">
              <a:schemeClr val="dk1"/>
            </a:fillRef>
            <a:effectRef idx="2">
              <a:schemeClr val="dk1"/>
            </a:effectRef>
            <a:fontRef idx="minor">
              <a:schemeClr val="tx1"/>
            </a:fontRef>
          </p:style>
        </p:cxnSp>
        <p:cxnSp>
          <p:nvCxnSpPr>
            <p:cNvPr id="30" name="Straight Arrow Connector 29"/>
            <p:cNvCxnSpPr/>
            <p:nvPr/>
          </p:nvCxnSpPr>
          <p:spPr bwMode="auto">
            <a:xfrm>
              <a:off x="3661467" y="1625179"/>
              <a:ext cx="0" cy="508012"/>
            </a:xfrm>
            <a:prstGeom prst="straightConnector1">
              <a:avLst/>
            </a:prstGeom>
            <a:ln>
              <a:solidFill>
                <a:srgbClr val="FF0000"/>
              </a:solidFill>
              <a:headEnd type="none" w="med" len="med"/>
              <a:tailEnd type="triangle"/>
            </a:ln>
            <a:effectLst/>
          </p:spPr>
          <p:style>
            <a:lnRef idx="3">
              <a:schemeClr val="dk1"/>
            </a:lnRef>
            <a:fillRef idx="0">
              <a:schemeClr val="dk1"/>
            </a:fillRef>
            <a:effectRef idx="2">
              <a:schemeClr val="dk1"/>
            </a:effectRef>
            <a:fontRef idx="minor">
              <a:schemeClr val="tx1"/>
            </a:fontRef>
          </p:style>
        </p:cxnSp>
        <p:cxnSp>
          <p:nvCxnSpPr>
            <p:cNvPr id="31" name="Straight Arrow Connector 30"/>
            <p:cNvCxnSpPr/>
            <p:nvPr/>
          </p:nvCxnSpPr>
          <p:spPr bwMode="auto">
            <a:xfrm>
              <a:off x="3661466" y="5073373"/>
              <a:ext cx="0" cy="460308"/>
            </a:xfrm>
            <a:prstGeom prst="straightConnector1">
              <a:avLst/>
            </a:prstGeom>
            <a:ln>
              <a:solidFill>
                <a:srgbClr val="FF0000"/>
              </a:solidFill>
              <a:headEnd type="none" w="med" len="med"/>
              <a:tailEnd type="triangle"/>
            </a:ln>
            <a:effectLst/>
          </p:spPr>
          <p:style>
            <a:lnRef idx="3">
              <a:schemeClr val="dk1"/>
            </a:lnRef>
            <a:fillRef idx="0">
              <a:schemeClr val="dk1"/>
            </a:fillRef>
            <a:effectRef idx="2">
              <a:schemeClr val="dk1"/>
            </a:effectRef>
            <a:fontRef idx="minor">
              <a:schemeClr val="tx1"/>
            </a:fontRef>
          </p:style>
        </p:cxnSp>
        <p:cxnSp>
          <p:nvCxnSpPr>
            <p:cNvPr id="32" name="Straight Arrow Connector 31"/>
            <p:cNvCxnSpPr/>
            <p:nvPr/>
          </p:nvCxnSpPr>
          <p:spPr bwMode="auto">
            <a:xfrm>
              <a:off x="3661470" y="2690067"/>
              <a:ext cx="0" cy="508013"/>
            </a:xfrm>
            <a:prstGeom prst="straightConnector1">
              <a:avLst/>
            </a:prstGeom>
            <a:ln>
              <a:solidFill>
                <a:srgbClr val="FF0000"/>
              </a:solidFill>
              <a:headEnd type="none" w="med" len="med"/>
              <a:tailEnd type="triangle"/>
            </a:ln>
            <a:effectLst/>
          </p:spPr>
          <p:style>
            <a:lnRef idx="3">
              <a:schemeClr val="dk1"/>
            </a:lnRef>
            <a:fillRef idx="0">
              <a:schemeClr val="dk1"/>
            </a:fillRef>
            <a:effectRef idx="2">
              <a:schemeClr val="dk1"/>
            </a:effectRef>
            <a:fontRef idx="minor">
              <a:schemeClr val="tx1"/>
            </a:fontRef>
          </p:style>
        </p:cxnSp>
        <p:sp>
          <p:nvSpPr>
            <p:cNvPr id="33" name="TextBox 1"/>
            <p:cNvSpPr txBox="1"/>
            <p:nvPr/>
          </p:nvSpPr>
          <p:spPr>
            <a:xfrm>
              <a:off x="1814718" y="1055306"/>
              <a:ext cx="936475"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latin typeface="Segoe UI" panose="020B0502040204020203" pitchFamily="34" charset="0"/>
                  <a:ea typeface="Segoe UI" panose="020B0502040204020203" pitchFamily="34" charset="0"/>
                  <a:cs typeface="Segoe UI" panose="020B0502040204020203" pitchFamily="34" charset="0"/>
                </a:rPr>
                <a:t>GPO 1</a:t>
              </a:r>
            </a:p>
          </p:txBody>
        </p:sp>
        <p:sp>
          <p:nvSpPr>
            <p:cNvPr id="34" name="TextBox 1"/>
            <p:cNvSpPr txBox="1"/>
            <p:nvPr/>
          </p:nvSpPr>
          <p:spPr>
            <a:xfrm>
              <a:off x="1814718" y="2204685"/>
              <a:ext cx="936475"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latin typeface="Segoe UI" panose="020B0502040204020203" pitchFamily="34" charset="0"/>
                  <a:ea typeface="Segoe UI" panose="020B0502040204020203" pitchFamily="34" charset="0"/>
                  <a:cs typeface="Segoe UI" panose="020B0502040204020203" pitchFamily="34" charset="0"/>
                </a:rPr>
                <a:t>GPO 2</a:t>
              </a:r>
            </a:p>
          </p:txBody>
        </p:sp>
        <p:sp>
          <p:nvSpPr>
            <p:cNvPr id="35" name="TextBox 1"/>
            <p:cNvSpPr txBox="1"/>
            <p:nvPr/>
          </p:nvSpPr>
          <p:spPr>
            <a:xfrm>
              <a:off x="1814718" y="3354064"/>
              <a:ext cx="936475"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latin typeface="Segoe UI" panose="020B0502040204020203" pitchFamily="34" charset="0"/>
                  <a:ea typeface="Segoe UI" panose="020B0502040204020203" pitchFamily="34" charset="0"/>
                  <a:cs typeface="Segoe UI" panose="020B0502040204020203" pitchFamily="34" charset="0"/>
                </a:rPr>
                <a:t>GPO 3</a:t>
              </a:r>
            </a:p>
          </p:txBody>
        </p:sp>
        <p:sp>
          <p:nvSpPr>
            <p:cNvPr id="36" name="TextBox 1"/>
            <p:cNvSpPr txBox="1"/>
            <p:nvPr/>
          </p:nvSpPr>
          <p:spPr>
            <a:xfrm>
              <a:off x="1814718" y="4503443"/>
              <a:ext cx="936475"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latin typeface="Segoe UI" panose="020B0502040204020203" pitchFamily="34" charset="0"/>
                  <a:ea typeface="Segoe UI" panose="020B0502040204020203" pitchFamily="34" charset="0"/>
                  <a:cs typeface="Segoe UI" panose="020B0502040204020203" pitchFamily="34" charset="0"/>
                </a:rPr>
                <a:t>GPO 4</a:t>
              </a:r>
            </a:p>
          </p:txBody>
        </p:sp>
        <p:sp>
          <p:nvSpPr>
            <p:cNvPr id="37" name="TextBox 1"/>
            <p:cNvSpPr txBox="1"/>
            <p:nvPr/>
          </p:nvSpPr>
          <p:spPr>
            <a:xfrm>
              <a:off x="1814718" y="5652822"/>
              <a:ext cx="936475" cy="40011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latin typeface="Segoe UI" panose="020B0502040204020203" pitchFamily="34" charset="0"/>
                  <a:ea typeface="Segoe UI" panose="020B0502040204020203" pitchFamily="34" charset="0"/>
                  <a:cs typeface="Segoe UI" panose="020B0502040204020203" pitchFamily="34" charset="0"/>
                </a:rPr>
                <a:t>GPO 5</a:t>
              </a:r>
            </a:p>
          </p:txBody>
        </p:sp>
      </p:grpSp>
    </p:spTree>
    <p:extLst>
      <p:ext uri="{BB962C8B-B14F-4D97-AF65-F5344CB8AC3E}">
        <p14:creationId xmlns:p14="http://schemas.microsoft.com/office/powerpoint/2010/main" val="87930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4a1e5dfa-35fd-4491-94d1-b5a9f6f7870f">
    <p:spTree>
      <p:nvGrpSpPr>
        <p:cNvPr id="1" name=""/>
        <p:cNvGrpSpPr/>
        <p:nvPr/>
      </p:nvGrpSpPr>
      <p:grpSpPr>
        <a:xfrm>
          <a:off x="0" y="0"/>
          <a:ext cx="0" cy="0"/>
          <a:chOff x="0" y="0"/>
          <a:chExt cx="0" cy="0"/>
        </a:xfrm>
      </p:grpSpPr>
      <p:sp>
        <p:nvSpPr>
          <p:cNvPr id="2" name="Title 1"/>
          <p:cNvSpPr>
            <a:spLocks noGrp="1"/>
          </p:cNvSpPr>
          <p:nvPr>
            <p:ph type="title"/>
          </p:nvPr>
        </p:nvSpPr>
        <p:spPr>
          <a:xfrm>
            <a:off x="1295400" y="21089"/>
            <a:ext cx="7106469" cy="660399"/>
          </a:xfrm>
        </p:spPr>
        <p:txBody>
          <a:bodyPr/>
          <a:lstStyle/>
          <a:p>
            <a:r>
              <a:rPr lang="en-US" dirty="0"/>
              <a:t>Configuring GPO inheritance and precedence</a:t>
            </a:r>
          </a:p>
        </p:txBody>
      </p:sp>
      <p:sp>
        <p:nvSpPr>
          <p:cNvPr id="4" name="Content Placeholder 2"/>
          <p:cNvSpPr>
            <a:spLocks noGrp="1"/>
          </p:cNvSpPr>
          <p:nvPr/>
        </p:nvSpPr>
        <p:spPr bwMode="auto">
          <a:xfrm>
            <a:off x="1295400" y="1417637"/>
            <a:ext cx="7417278" cy="47588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dirty="0">
                <a:latin typeface="Segoe UI" pitchFamily="34" charset="0"/>
                <a:cs typeface="Segoe UI" pitchFamily="34" charset="0"/>
              </a:rPr>
              <a:t>The application of GPOs linked to each container results in a cumulative effect called </a:t>
            </a:r>
            <a:r>
              <a:rPr lang="en-US" i="1" dirty="0">
                <a:latin typeface="Segoe UI" pitchFamily="34" charset="0"/>
                <a:cs typeface="Segoe UI" pitchFamily="34" charset="0"/>
              </a:rPr>
              <a:t>policy</a:t>
            </a:r>
            <a:r>
              <a:rPr lang="en-US" dirty="0">
                <a:latin typeface="Segoe UI" pitchFamily="34" charset="0"/>
                <a:cs typeface="Segoe UI" pitchFamily="34" charset="0"/>
              </a:rPr>
              <a:t> </a:t>
            </a:r>
            <a:r>
              <a:rPr lang="en-US" i="1" dirty="0">
                <a:latin typeface="Segoe UI" pitchFamily="34" charset="0"/>
                <a:cs typeface="Segoe UI" pitchFamily="34" charset="0"/>
              </a:rPr>
              <a:t>inheritance:</a:t>
            </a:r>
          </a:p>
          <a:p>
            <a:pPr marL="365760" lvl="1">
              <a:buClr>
                <a:srgbClr val="0070C0"/>
              </a:buClr>
              <a:buFont typeface="Arial" panose="020B0604020202020204" pitchFamily="34" charset="0"/>
              <a:buChar char="•"/>
            </a:pPr>
            <a:r>
              <a:rPr lang="en-US" dirty="0">
                <a:latin typeface="Segoe UI" pitchFamily="34" charset="0"/>
                <a:cs typeface="Segoe UI" pitchFamily="34" charset="0"/>
              </a:rPr>
              <a:t>Default precedence: Local </a:t>
            </a:r>
            <a:r>
              <a:rPr lang="en-US" dirty="0">
                <a:latin typeface="Segoe UI" pitchFamily="34" charset="0"/>
                <a:cs typeface="Segoe UI" pitchFamily="34" charset="0"/>
                <a:sym typeface="Wingdings" pitchFamily="2" charset="2"/>
              </a:rPr>
              <a:t> Site  Domain  OU  Child OU… (LSDOU)</a:t>
            </a:r>
          </a:p>
          <a:p>
            <a:pPr marL="365760" lvl="1">
              <a:buClr>
                <a:srgbClr val="0070C0"/>
              </a:buClr>
              <a:buFont typeface="Arial" panose="020B0604020202020204" pitchFamily="34" charset="0"/>
              <a:buChar char="•"/>
            </a:pPr>
            <a:r>
              <a:rPr lang="en-US" dirty="0">
                <a:latin typeface="Segoe UI" pitchFamily="34" charset="0"/>
                <a:cs typeface="Segoe UI" pitchFamily="34" charset="0"/>
              </a:rPr>
              <a:t>Visible on the </a:t>
            </a:r>
            <a:r>
              <a:rPr lang="en-US" b="1" dirty="0">
                <a:latin typeface="Segoe UI" pitchFamily="34" charset="0"/>
                <a:cs typeface="Segoe UI" pitchFamily="34" charset="0"/>
              </a:rPr>
              <a:t>Group Policy Inheritance </a:t>
            </a:r>
            <a:r>
              <a:rPr lang="en-US" dirty="0">
                <a:latin typeface="Segoe UI" pitchFamily="34" charset="0"/>
                <a:cs typeface="Segoe UI" pitchFamily="34" charset="0"/>
              </a:rPr>
              <a:t>tab</a:t>
            </a:r>
          </a:p>
          <a:p>
            <a:r>
              <a:rPr lang="en-US" dirty="0">
                <a:latin typeface="Segoe UI" pitchFamily="34" charset="0"/>
                <a:cs typeface="Segoe UI" pitchFamily="34" charset="0"/>
              </a:rPr>
              <a:t>Link order (attribute of GPO link):</a:t>
            </a:r>
          </a:p>
          <a:p>
            <a:pPr marL="365760" lvl="1">
              <a:buClr>
                <a:srgbClr val="0070C0"/>
              </a:buClr>
              <a:buFont typeface="Arial" panose="020B0604020202020204" pitchFamily="34" charset="0"/>
              <a:buChar char="•"/>
            </a:pPr>
            <a:r>
              <a:rPr lang="en-US" dirty="0">
                <a:latin typeface="Segoe UI" pitchFamily="34" charset="0"/>
                <a:cs typeface="Segoe UI" pitchFamily="34" charset="0"/>
              </a:rPr>
              <a:t>Lower number </a:t>
            </a:r>
            <a:r>
              <a:rPr lang="en-US" dirty="0">
                <a:latin typeface="Segoe UI" pitchFamily="34" charset="0"/>
                <a:cs typeface="Segoe UI" pitchFamily="34" charset="0"/>
                <a:sym typeface="Wingdings" pitchFamily="2" charset="2"/>
              </a:rPr>
              <a:t> </a:t>
            </a:r>
            <a:r>
              <a:rPr lang="en-US" dirty="0">
                <a:latin typeface="Segoe UI" pitchFamily="34" charset="0"/>
                <a:cs typeface="Segoe UI" pitchFamily="34" charset="0"/>
              </a:rPr>
              <a:t>Higher on list </a:t>
            </a:r>
            <a:r>
              <a:rPr lang="en-US" dirty="0">
                <a:latin typeface="Segoe UI" pitchFamily="34" charset="0"/>
                <a:cs typeface="Segoe UI" pitchFamily="34" charset="0"/>
                <a:sym typeface="Wingdings" pitchFamily="2" charset="2"/>
              </a:rPr>
              <a:t> Precedence</a:t>
            </a:r>
            <a:endParaRPr lang="en-US" dirty="0">
              <a:latin typeface="Segoe UI" pitchFamily="34" charset="0"/>
              <a:cs typeface="Segoe UI" pitchFamily="34" charset="0"/>
            </a:endParaRPr>
          </a:p>
          <a:p>
            <a:r>
              <a:rPr lang="en-US" dirty="0">
                <a:latin typeface="Segoe UI" pitchFamily="34" charset="0"/>
                <a:cs typeface="Segoe UI" pitchFamily="34" charset="0"/>
              </a:rPr>
              <a:t>Block Inheritance (attribute of OU):</a:t>
            </a:r>
          </a:p>
          <a:p>
            <a:pPr marL="365760" lvl="1">
              <a:buClr>
                <a:srgbClr val="0070C0"/>
              </a:buClr>
              <a:buFont typeface="Arial" panose="020B0604020202020204" pitchFamily="34" charset="0"/>
              <a:buChar char="•"/>
            </a:pPr>
            <a:r>
              <a:rPr lang="en-US" dirty="0">
                <a:latin typeface="Segoe UI" pitchFamily="34" charset="0"/>
                <a:cs typeface="Segoe UI" pitchFamily="34" charset="0"/>
              </a:rPr>
              <a:t>Blocks the processing of GPOs from a higher level</a:t>
            </a:r>
          </a:p>
          <a:p>
            <a:r>
              <a:rPr lang="en-US" dirty="0">
                <a:latin typeface="Segoe UI" pitchFamily="34" charset="0"/>
                <a:cs typeface="Segoe UI" pitchFamily="34" charset="0"/>
              </a:rPr>
              <a:t>Enforced (attribute of GPO link):</a:t>
            </a:r>
          </a:p>
          <a:p>
            <a:pPr marL="365760" lvl="1">
              <a:buClr>
                <a:srgbClr val="0070C0"/>
              </a:buClr>
              <a:buFont typeface="Arial" panose="020B0604020202020204" pitchFamily="34" charset="0"/>
              <a:buChar char="•"/>
            </a:pPr>
            <a:r>
              <a:rPr lang="en-US" dirty="0">
                <a:latin typeface="Segoe UI" pitchFamily="34" charset="0"/>
                <a:cs typeface="Segoe UI" pitchFamily="34" charset="0"/>
              </a:rPr>
              <a:t>Enforced GPOs override Block Inheritance</a:t>
            </a:r>
          </a:p>
          <a:p>
            <a:pPr marL="365760" lvl="1">
              <a:buClr>
                <a:srgbClr val="0070C0"/>
              </a:buClr>
              <a:buFont typeface="Arial" panose="020B0604020202020204" pitchFamily="34" charset="0"/>
              <a:buChar char="•"/>
            </a:pPr>
            <a:r>
              <a:rPr lang="en-US" dirty="0">
                <a:latin typeface="Segoe UI" pitchFamily="34" charset="0"/>
                <a:cs typeface="Segoe UI" pitchFamily="34" charset="0"/>
              </a:rPr>
              <a:t>Enforced GPO settings win over conflicting settings in lower GPOs</a:t>
            </a:r>
          </a:p>
        </p:txBody>
      </p:sp>
    </p:spTree>
    <p:extLst>
      <p:ext uri="{BB962C8B-B14F-4D97-AF65-F5344CB8AC3E}">
        <p14:creationId xmlns:p14="http://schemas.microsoft.com/office/powerpoint/2010/main" val="3885273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804f9f78-d598-4f10-af92-a7cb60eea4a7">
    <p:spTree>
      <p:nvGrpSpPr>
        <p:cNvPr id="1" name=""/>
        <p:cNvGrpSpPr/>
        <p:nvPr/>
      </p:nvGrpSpPr>
      <p:grpSpPr>
        <a:xfrm>
          <a:off x="0" y="0"/>
          <a:ext cx="0" cy="0"/>
          <a:chOff x="0" y="0"/>
          <a:chExt cx="0" cy="0"/>
        </a:xfrm>
      </p:grpSpPr>
      <p:sp>
        <p:nvSpPr>
          <p:cNvPr id="2" name="Title 1"/>
          <p:cNvSpPr>
            <a:spLocks noGrp="1"/>
          </p:cNvSpPr>
          <p:nvPr>
            <p:ph type="title"/>
          </p:nvPr>
        </p:nvSpPr>
        <p:spPr>
          <a:xfrm>
            <a:off x="1371600" y="-2"/>
            <a:ext cx="7543799" cy="740664"/>
          </a:xfrm>
        </p:spPr>
        <p:txBody>
          <a:bodyPr/>
          <a:lstStyle/>
          <a:p>
            <a:r>
              <a:rPr lang="en-US" dirty="0"/>
              <a:t>Using security filtering to modify Group Policy scope</a:t>
            </a:r>
          </a:p>
        </p:txBody>
      </p:sp>
      <p:sp>
        <p:nvSpPr>
          <p:cNvPr id="4" name="Content Placeholder 2"/>
          <p:cNvSpPr>
            <a:spLocks noGrp="1"/>
          </p:cNvSpPr>
          <p:nvPr/>
        </p:nvSpPr>
        <p:spPr bwMode="auto">
          <a:xfrm>
            <a:off x="1371599" y="933822"/>
            <a:ext cx="7543799" cy="592417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eaLnBrk="1" hangingPunct="1"/>
            <a:r>
              <a:rPr lang="en-US" sz="2400" dirty="0">
                <a:latin typeface="Segoe UI" pitchFamily="34" charset="0"/>
                <a:ea typeface="Segoe UI" pitchFamily="34" charset="0"/>
                <a:cs typeface="Segoe UI" pitchFamily="34" charset="0"/>
              </a:rPr>
              <a:t>Apply Group Policy permission:</a:t>
            </a:r>
          </a:p>
          <a:p>
            <a:pPr marL="365760" lvl="1" eaLnBrk="1" hangingPunct="1">
              <a:buFont typeface="Arial" pitchFamily="34" charset="0"/>
              <a:buChar char="•"/>
            </a:pPr>
            <a:r>
              <a:rPr lang="en-US" sz="1800" dirty="0">
                <a:latin typeface="Segoe UI" pitchFamily="34" charset="0"/>
                <a:ea typeface="Segoe UI" pitchFamily="34" charset="0"/>
                <a:cs typeface="Segoe UI" pitchFamily="34" charset="0"/>
              </a:rPr>
              <a:t>GPO has an ACL (</a:t>
            </a:r>
            <a:r>
              <a:rPr lang="en-US" sz="1800" b="1" dirty="0">
                <a:latin typeface="Segoe UI" pitchFamily="34" charset="0"/>
                <a:ea typeface="Segoe UI" pitchFamily="34" charset="0"/>
                <a:cs typeface="Segoe UI" pitchFamily="34" charset="0"/>
              </a:rPr>
              <a:t>Delegation</a:t>
            </a:r>
            <a:r>
              <a:rPr lang="en-US" sz="1800" dirty="0">
                <a:latin typeface="Segoe UI" pitchFamily="34" charset="0"/>
                <a:ea typeface="Segoe UI" pitchFamily="34" charset="0"/>
                <a:cs typeface="Segoe UI" pitchFamily="34" charset="0"/>
              </a:rPr>
              <a:t> tab </a:t>
            </a:r>
            <a:r>
              <a:rPr lang="en-US" sz="1800" dirty="0">
                <a:latin typeface="Segoe UI" pitchFamily="34" charset="0"/>
                <a:ea typeface="Segoe UI" pitchFamily="34" charset="0"/>
                <a:cs typeface="Segoe UI" pitchFamily="34" charset="0"/>
                <a:sym typeface="Wingdings" pitchFamily="2" charset="2"/>
              </a:rPr>
              <a:t> </a:t>
            </a:r>
            <a:r>
              <a:rPr lang="en-US" sz="1800" b="1" dirty="0">
                <a:latin typeface="Segoe UI" pitchFamily="34" charset="0"/>
                <a:ea typeface="Segoe UI" pitchFamily="34" charset="0"/>
                <a:cs typeface="Segoe UI" pitchFamily="34" charset="0"/>
                <a:sym typeface="Wingdings" pitchFamily="2" charset="2"/>
              </a:rPr>
              <a:t>Advanced</a:t>
            </a:r>
            <a:r>
              <a:rPr lang="en-US" sz="1800" dirty="0">
                <a:latin typeface="Segoe UI" pitchFamily="34" charset="0"/>
                <a:ea typeface="Segoe UI" pitchFamily="34" charset="0"/>
                <a:cs typeface="Segoe UI" pitchFamily="34" charset="0"/>
                <a:sym typeface="Wingdings" pitchFamily="2" charset="2"/>
              </a:rPr>
              <a:t>)</a:t>
            </a:r>
            <a:endParaRPr lang="en-US" sz="1800" dirty="0">
              <a:latin typeface="Segoe UI" pitchFamily="34" charset="0"/>
              <a:ea typeface="Segoe UI" pitchFamily="34" charset="0"/>
              <a:cs typeface="Segoe UI" pitchFamily="34" charset="0"/>
            </a:endParaRPr>
          </a:p>
          <a:p>
            <a:pPr marL="365760" lvl="1" eaLnBrk="1" hangingPunct="1">
              <a:buFont typeface="Arial" pitchFamily="34" charset="0"/>
              <a:buChar char="•"/>
            </a:pPr>
            <a:r>
              <a:rPr lang="en-US" sz="1800" dirty="0">
                <a:latin typeface="Segoe UI" pitchFamily="34" charset="0"/>
                <a:ea typeface="Segoe UI" pitchFamily="34" charset="0"/>
                <a:cs typeface="Segoe UI" pitchFamily="34" charset="0"/>
              </a:rPr>
              <a:t>Members of the Authenticated Users group have Allow Apply Group Policy permissions by default</a:t>
            </a:r>
          </a:p>
          <a:p>
            <a:pPr eaLnBrk="1" hangingPunct="1"/>
            <a:r>
              <a:rPr lang="en-US" sz="2400" dirty="0">
                <a:latin typeface="Segoe UI" pitchFamily="34" charset="0"/>
                <a:ea typeface="Segoe UI" pitchFamily="34" charset="0"/>
                <a:cs typeface="Segoe UI" pitchFamily="34" charset="0"/>
              </a:rPr>
              <a:t>To scope only to users in selected global groups:</a:t>
            </a:r>
          </a:p>
          <a:p>
            <a:pPr marL="411480" lvl="1">
              <a:buFont typeface="Arial" pitchFamily="34" charset="0"/>
              <a:buChar char="•"/>
            </a:pPr>
            <a:r>
              <a:rPr lang="en-US" dirty="0">
                <a:latin typeface="Segoe UI" pitchFamily="34" charset="0"/>
                <a:ea typeface="Segoe UI" pitchFamily="34" charset="0"/>
                <a:cs typeface="Segoe UI" pitchFamily="34" charset="0"/>
              </a:rPr>
              <a:t>Remove the Authenticated Users group</a:t>
            </a:r>
          </a:p>
          <a:p>
            <a:pPr marL="411480" lvl="1">
              <a:buFont typeface="Arial" pitchFamily="34" charset="0"/>
              <a:buChar char="•"/>
            </a:pPr>
            <a:r>
              <a:rPr lang="en-US" dirty="0">
                <a:latin typeface="Segoe UI" pitchFamily="34" charset="0"/>
                <a:ea typeface="Segoe UI" pitchFamily="34" charset="0"/>
                <a:cs typeface="Segoe UI" pitchFamily="34" charset="0"/>
              </a:rPr>
              <a:t>Add appropriate global groups: Must be global groups (GPOs do not scope to domain local)</a:t>
            </a:r>
          </a:p>
          <a:p>
            <a:pPr eaLnBrk="1" hangingPunct="1"/>
            <a:r>
              <a:rPr lang="en-US" sz="2400" dirty="0">
                <a:latin typeface="Segoe UI" pitchFamily="34" charset="0"/>
                <a:ea typeface="Segoe UI" pitchFamily="34" charset="0"/>
                <a:cs typeface="Segoe UI" pitchFamily="34" charset="0"/>
              </a:rPr>
              <a:t>To scope to users except for those in selected groups:</a:t>
            </a:r>
          </a:p>
          <a:p>
            <a:pPr marL="411480" lvl="1">
              <a:buFont typeface="Arial" pitchFamily="34" charset="0"/>
              <a:buChar char="•"/>
            </a:pPr>
            <a:r>
              <a:rPr lang="en-US" dirty="0">
                <a:latin typeface="Segoe UI" pitchFamily="34" charset="0"/>
                <a:ea typeface="Segoe UI" pitchFamily="34" charset="0"/>
                <a:cs typeface="Segoe UI" pitchFamily="34" charset="0"/>
              </a:rPr>
              <a:t>On the </a:t>
            </a:r>
            <a:r>
              <a:rPr lang="en-US" b="1" dirty="0">
                <a:latin typeface="Segoe UI" pitchFamily="34" charset="0"/>
                <a:ea typeface="Segoe UI" pitchFamily="34" charset="0"/>
                <a:cs typeface="Segoe UI" pitchFamily="34" charset="0"/>
              </a:rPr>
              <a:t>Delegation</a:t>
            </a:r>
            <a:r>
              <a:rPr lang="en-US" dirty="0">
                <a:latin typeface="Segoe UI" pitchFamily="34" charset="0"/>
                <a:ea typeface="Segoe UI" pitchFamily="34" charset="0"/>
                <a:cs typeface="Segoe UI" pitchFamily="34" charset="0"/>
              </a:rPr>
              <a:t> tab, click </a:t>
            </a:r>
            <a:r>
              <a:rPr lang="en-US" b="1" dirty="0">
                <a:latin typeface="Segoe UI" pitchFamily="34" charset="0"/>
                <a:ea typeface="Segoe UI" pitchFamily="34" charset="0"/>
                <a:cs typeface="Segoe UI" pitchFamily="34" charset="0"/>
              </a:rPr>
              <a:t>Advanced</a:t>
            </a:r>
          </a:p>
          <a:p>
            <a:pPr marL="411480" lvl="1">
              <a:buFont typeface="Arial" pitchFamily="34" charset="0"/>
              <a:buChar char="•"/>
            </a:pPr>
            <a:r>
              <a:rPr lang="en-US" dirty="0">
                <a:latin typeface="Segoe UI" pitchFamily="34" charset="0"/>
                <a:ea typeface="Segoe UI" pitchFamily="34" charset="0"/>
                <a:cs typeface="Segoe UI" pitchFamily="34" charset="0"/>
              </a:rPr>
              <a:t>Add appropriate global groups</a:t>
            </a:r>
          </a:p>
          <a:p>
            <a:pPr marL="411480" lvl="1">
              <a:buFont typeface="Arial" pitchFamily="34" charset="0"/>
              <a:buChar char="•"/>
            </a:pPr>
            <a:r>
              <a:rPr lang="en-US" dirty="0">
                <a:latin typeface="Segoe UI" pitchFamily="34" charset="0"/>
                <a:ea typeface="Segoe UI" pitchFamily="34" charset="0"/>
                <a:cs typeface="Segoe UI" pitchFamily="34" charset="0"/>
              </a:rPr>
              <a:t>Deny the Apply Group Policy permission</a:t>
            </a:r>
            <a:endParaRPr lang="en-US" sz="1800" dirty="0">
              <a:latin typeface="Segoe UI" pitchFamily="34" charset="0"/>
              <a:ea typeface="Segoe UI" pitchFamily="34" charset="0"/>
              <a:cs typeface="Segoe UI" pitchFamily="34" charset="0"/>
            </a:endParaRPr>
          </a:p>
          <a:p>
            <a:pPr eaLnBrk="1" hangingPunct="1"/>
            <a:endParaRPr lang="en-US"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976728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0970a716-40bd-4832-9687-5e596e9b450e">
    <p:spTree>
      <p:nvGrpSpPr>
        <p:cNvPr id="1" name=""/>
        <p:cNvGrpSpPr/>
        <p:nvPr/>
      </p:nvGrpSpPr>
      <p:grpSpPr>
        <a:xfrm>
          <a:off x="0" y="0"/>
          <a:ext cx="0" cy="0"/>
          <a:chOff x="0" y="0"/>
          <a:chExt cx="0" cy="0"/>
        </a:xfrm>
      </p:grpSpPr>
      <p:sp>
        <p:nvSpPr>
          <p:cNvPr id="2" name="Title 1"/>
          <p:cNvSpPr>
            <a:spLocks noGrp="1"/>
          </p:cNvSpPr>
          <p:nvPr>
            <p:ph type="title"/>
          </p:nvPr>
        </p:nvSpPr>
        <p:spPr>
          <a:xfrm>
            <a:off x="1332121" y="0"/>
            <a:ext cx="7106469" cy="507999"/>
          </a:xfrm>
        </p:spPr>
        <p:txBody>
          <a:bodyPr/>
          <a:lstStyle/>
          <a:p>
            <a:r>
              <a:rPr lang="en-US" dirty="0"/>
              <a:t>What are WMI filters?</a:t>
            </a:r>
          </a:p>
        </p:txBody>
      </p:sp>
      <p:sp>
        <p:nvSpPr>
          <p:cNvPr id="4" name="Content Placeholder 1"/>
          <p:cNvSpPr>
            <a:spLocks noGrp="1"/>
          </p:cNvSpPr>
          <p:nvPr/>
        </p:nvSpPr>
        <p:spPr bwMode="auto">
          <a:xfrm>
            <a:off x="1332121" y="609600"/>
            <a:ext cx="7583279" cy="5638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spcBef>
                <a:spcPts val="1200"/>
              </a:spcBef>
              <a:buClr>
                <a:srgbClr val="0070C0"/>
              </a:buClr>
            </a:pPr>
            <a:r>
              <a:rPr lang="en-US" sz="2600" dirty="0">
                <a:latin typeface="Segoe UI" pitchFamily="34" charset="0"/>
                <a:ea typeface="Segoe UI" pitchFamily="34" charset="0"/>
                <a:cs typeface="Segoe UI" pitchFamily="34" charset="0"/>
              </a:rPr>
              <a:t>WMI queries can filter GPOs based on system characteristics, including:</a:t>
            </a:r>
          </a:p>
          <a:p>
            <a:pPr marL="565149" lvl="2" indent="-342900">
              <a:spcBef>
                <a:spcPts val="1200"/>
              </a:spcBef>
              <a:buClr>
                <a:srgbClr val="0070C0"/>
              </a:buClr>
            </a:pPr>
            <a:r>
              <a:rPr lang="en-US" sz="2400" dirty="0">
                <a:latin typeface="Segoe UI" pitchFamily="34" charset="0"/>
                <a:cs typeface="Segoe UI" pitchFamily="34" charset="0"/>
              </a:rPr>
              <a:t>RAM</a:t>
            </a:r>
          </a:p>
          <a:p>
            <a:pPr marL="565149" lvl="2" indent="-342900">
              <a:spcBef>
                <a:spcPts val="1200"/>
              </a:spcBef>
              <a:buClr>
                <a:srgbClr val="0070C0"/>
              </a:buClr>
            </a:pPr>
            <a:r>
              <a:rPr lang="en-US" sz="2400" dirty="0">
                <a:latin typeface="Segoe UI" pitchFamily="34" charset="0"/>
                <a:cs typeface="Segoe UI" pitchFamily="34" charset="0"/>
              </a:rPr>
              <a:t>Processor speed</a:t>
            </a:r>
          </a:p>
          <a:p>
            <a:pPr marL="565149" lvl="2" indent="-342900">
              <a:spcBef>
                <a:spcPts val="1200"/>
              </a:spcBef>
              <a:buClr>
                <a:srgbClr val="0070C0"/>
              </a:buClr>
            </a:pPr>
            <a:r>
              <a:rPr lang="en-US" sz="2400" dirty="0">
                <a:latin typeface="Segoe UI" pitchFamily="34" charset="0"/>
                <a:cs typeface="Segoe UI" pitchFamily="34" charset="0"/>
              </a:rPr>
              <a:t>Disk capacity</a:t>
            </a:r>
          </a:p>
          <a:p>
            <a:pPr marL="565149" lvl="2" indent="-342900">
              <a:spcBef>
                <a:spcPts val="1200"/>
              </a:spcBef>
              <a:buClr>
                <a:srgbClr val="0070C0"/>
              </a:buClr>
            </a:pPr>
            <a:r>
              <a:rPr lang="en-US" sz="2400" dirty="0">
                <a:latin typeface="Segoe UI" pitchFamily="34" charset="0"/>
                <a:cs typeface="Segoe UI" pitchFamily="34" charset="0"/>
              </a:rPr>
              <a:t>IP address</a:t>
            </a:r>
          </a:p>
          <a:p>
            <a:pPr marL="565149" lvl="2" indent="-342900">
              <a:spcBef>
                <a:spcPts val="1200"/>
              </a:spcBef>
              <a:buClr>
                <a:srgbClr val="0070C0"/>
              </a:buClr>
            </a:pPr>
            <a:r>
              <a:rPr lang="en-US" sz="2400" dirty="0">
                <a:latin typeface="Segoe UI" pitchFamily="34" charset="0"/>
                <a:cs typeface="Segoe UI" pitchFamily="34" charset="0"/>
              </a:rPr>
              <a:t>Operating system version</a:t>
            </a:r>
          </a:p>
          <a:p>
            <a:pPr>
              <a:spcBef>
                <a:spcPts val="1200"/>
              </a:spcBef>
              <a:buClr>
                <a:srgbClr val="0070C0"/>
              </a:buClr>
            </a:pPr>
            <a:r>
              <a:rPr lang="en-US" sz="2400" dirty="0">
                <a:latin typeface="Segoe UI" pitchFamily="34" charset="0"/>
                <a:cs typeface="Segoe UI" pitchFamily="34" charset="0"/>
              </a:rPr>
              <a:t>WMI queries are written by using WQL, for example</a:t>
            </a:r>
          </a:p>
          <a:p>
            <a:pPr marL="0" lvl="1" indent="0">
              <a:spcBef>
                <a:spcPts val="1200"/>
              </a:spcBef>
              <a:buNone/>
            </a:pPr>
            <a:r>
              <a:rPr lang="en-US" sz="2000" b="1" dirty="0">
                <a:latin typeface="Segoe UI" pitchFamily="34" charset="0"/>
                <a:cs typeface="Segoe UI" pitchFamily="34" charset="0"/>
              </a:rPr>
              <a:t>     select * from Win32_OperatingSystem where Version like "10.%"</a:t>
            </a:r>
          </a:p>
          <a:p>
            <a:pPr>
              <a:spcBef>
                <a:spcPts val="1200"/>
              </a:spcBef>
              <a:buClr>
                <a:srgbClr val="0070C0"/>
              </a:buClr>
            </a:pPr>
            <a:r>
              <a:rPr lang="en-US" sz="2400" dirty="0">
                <a:latin typeface="Segoe UI" pitchFamily="34" charset="0"/>
                <a:cs typeface="Segoe UI" pitchFamily="34" charset="0"/>
              </a:rPr>
              <a:t>WMI filters can be expensive in terms of Group Policy processing performance</a:t>
            </a:r>
          </a:p>
          <a:p>
            <a:endParaRPr lang="en-US" sz="1800"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7115" y="60245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6125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5c7a00db-a6e3-4624-94e1-f527a901a03c">
    <p:spTree>
      <p:nvGrpSpPr>
        <p:cNvPr id="1" name=""/>
        <p:cNvGrpSpPr/>
        <p:nvPr/>
      </p:nvGrpSpPr>
      <p:grpSpPr>
        <a:xfrm>
          <a:off x="0" y="0"/>
          <a:ext cx="0" cy="0"/>
          <a:chOff x="0" y="0"/>
          <a:chExt cx="0" cy="0"/>
        </a:xfrm>
      </p:grpSpPr>
      <p:sp>
        <p:nvSpPr>
          <p:cNvPr id="2" name="Title 1"/>
          <p:cNvSpPr>
            <a:spLocks noGrp="1"/>
          </p:cNvSpPr>
          <p:nvPr>
            <p:ph type="title"/>
          </p:nvPr>
        </p:nvSpPr>
        <p:spPr>
          <a:xfrm>
            <a:off x="1332121" y="54534"/>
            <a:ext cx="7106469" cy="469880"/>
          </a:xfrm>
        </p:spPr>
        <p:txBody>
          <a:bodyPr/>
          <a:lstStyle/>
          <a:p>
            <a:r>
              <a:rPr lang="en-US" dirty="0"/>
              <a:t>What are WMI filters?</a:t>
            </a:r>
          </a:p>
        </p:txBody>
      </p:sp>
      <p:pic>
        <p:nvPicPr>
          <p:cNvPr id="4" name="Picture 3" descr="Screenshot depicting the WMI Filter dialog box in which a query is created. The name of the query is Windows 10 or Windows Server 2016, and the query reads Select * from Win32_OperatingSystem Where Version Like “10.%”.&#10;&#10;"/>
          <p:cNvPicPr>
            <a:picLocks noChangeAspect="1"/>
          </p:cNvPicPr>
          <p:nvPr/>
        </p:nvPicPr>
        <p:blipFill>
          <a:blip r:embed="rId3"/>
          <a:stretch>
            <a:fillRect/>
          </a:stretch>
        </p:blipFill>
        <p:spPr>
          <a:xfrm>
            <a:off x="1340190" y="1193242"/>
            <a:ext cx="7143750" cy="5010150"/>
          </a:xfrm>
          <a:prstGeom prst="rect">
            <a:avLst/>
          </a:prstGeom>
          <a:ln>
            <a:solidFill>
              <a:srgbClr val="0070C0"/>
            </a:solidFill>
          </a:ln>
        </p:spPr>
      </p:pic>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7115" y="60245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hlinkClick r:id="" action="ppaction://hlinkshowjump?jump=nextslid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83940" y="60245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0455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47a2aab4-82a0-4944-a531-55b0e4092e70">
    <p:spTree>
      <p:nvGrpSpPr>
        <p:cNvPr id="1" name=""/>
        <p:cNvGrpSpPr/>
        <p:nvPr/>
      </p:nvGrpSpPr>
      <p:grpSpPr>
        <a:xfrm>
          <a:off x="0" y="0"/>
          <a:ext cx="0" cy="0"/>
          <a:chOff x="0" y="0"/>
          <a:chExt cx="0" cy="0"/>
        </a:xfrm>
      </p:grpSpPr>
      <p:sp>
        <p:nvSpPr>
          <p:cNvPr id="2" name="Title 1"/>
          <p:cNvSpPr>
            <a:spLocks noGrp="1"/>
          </p:cNvSpPr>
          <p:nvPr>
            <p:ph type="title"/>
          </p:nvPr>
        </p:nvSpPr>
        <p:spPr>
          <a:xfrm>
            <a:off x="1427931" y="177801"/>
            <a:ext cx="7106469" cy="584199"/>
          </a:xfrm>
        </p:spPr>
        <p:txBody>
          <a:bodyPr/>
          <a:lstStyle/>
          <a:p>
            <a:r>
              <a:rPr lang="en-US" dirty="0"/>
              <a:t>How to enable or disable GPOs and GPO nodes</a:t>
            </a:r>
          </a:p>
        </p:txBody>
      </p:sp>
      <p:pic>
        <p:nvPicPr>
          <p:cNvPr id="4" name="Picture 3" descr="A screenshot depicting Group Policy Management Console and a view of the Details tab. For the Remove Run GPO, the GPO status dropdown list is open with the Enabled option selected. "/>
          <p:cNvPicPr>
            <a:picLocks noChangeAspect="1"/>
          </p:cNvPicPr>
          <p:nvPr/>
        </p:nvPicPr>
        <p:blipFill>
          <a:blip r:embed="rId3"/>
          <a:stretch>
            <a:fillRect/>
          </a:stretch>
        </p:blipFill>
        <p:spPr>
          <a:xfrm>
            <a:off x="1512837" y="990600"/>
            <a:ext cx="7191375" cy="5048250"/>
          </a:xfrm>
          <a:prstGeom prst="rect">
            <a:avLst/>
          </a:prstGeom>
        </p:spPr>
      </p:pic>
    </p:spTree>
    <p:extLst>
      <p:ext uri="{BB962C8B-B14F-4D97-AF65-F5344CB8AC3E}">
        <p14:creationId xmlns:p14="http://schemas.microsoft.com/office/powerpoint/2010/main" val="2379162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82fcce4b-d60f-45d4-bc08-04ad37be1f19">
    <p:spTree>
      <p:nvGrpSpPr>
        <p:cNvPr id="1" name=""/>
        <p:cNvGrpSpPr/>
        <p:nvPr/>
      </p:nvGrpSpPr>
      <p:grpSpPr>
        <a:xfrm>
          <a:off x="0" y="0"/>
          <a:ext cx="0" cy="0"/>
          <a:chOff x="0" y="0"/>
          <a:chExt cx="0" cy="0"/>
        </a:xfrm>
      </p:grpSpPr>
      <p:sp>
        <p:nvSpPr>
          <p:cNvPr id="2" name="Title 1"/>
          <p:cNvSpPr>
            <a:spLocks noGrp="1"/>
          </p:cNvSpPr>
          <p:nvPr>
            <p:ph type="title"/>
          </p:nvPr>
        </p:nvSpPr>
        <p:spPr>
          <a:xfrm>
            <a:off x="1332121" y="-6927"/>
            <a:ext cx="7106469" cy="584199"/>
          </a:xfrm>
        </p:spPr>
        <p:txBody>
          <a:bodyPr/>
          <a:lstStyle/>
          <a:p>
            <a:r>
              <a:rPr lang="en-US" dirty="0"/>
              <a:t>Loopback policy processing</a:t>
            </a:r>
          </a:p>
        </p:txBody>
      </p:sp>
      <p:sp>
        <p:nvSpPr>
          <p:cNvPr id="4" name="Content Placeholder 2"/>
          <p:cNvSpPr>
            <a:spLocks noGrp="1"/>
          </p:cNvSpPr>
          <p:nvPr/>
        </p:nvSpPr>
        <p:spPr bwMode="auto">
          <a:xfrm>
            <a:off x="1427930" y="1600199"/>
            <a:ext cx="7487470" cy="525780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sz="2400" dirty="0">
                <a:latin typeface="Segoe UI" pitchFamily="34" charset="0"/>
                <a:cs typeface="Segoe UI" pitchFamily="34" charset="0"/>
              </a:rPr>
              <a:t>Provides the ability to apply user Group Policy settings based on the computer to which the user is signing in</a:t>
            </a:r>
          </a:p>
          <a:p>
            <a:r>
              <a:rPr lang="en-US" sz="2400" dirty="0">
                <a:latin typeface="Segoe UI" pitchFamily="34" charset="0"/>
                <a:cs typeface="Segoe UI" pitchFamily="34" charset="0"/>
              </a:rPr>
              <a:t>Replace mode:</a:t>
            </a:r>
          </a:p>
          <a:p>
            <a:pPr marL="411480" lvl="1">
              <a:buFont typeface="Arial" panose="020B0604020202020204" pitchFamily="34" charset="0"/>
              <a:buChar char="•"/>
            </a:pPr>
            <a:r>
              <a:rPr lang="en-US" sz="2000" dirty="0">
                <a:latin typeface="Segoe UI" pitchFamily="34" charset="0"/>
                <a:cs typeface="Segoe UI" pitchFamily="34" charset="0"/>
              </a:rPr>
              <a:t>Only the list of GPOs based on the computer object is used</a:t>
            </a:r>
          </a:p>
          <a:p>
            <a:r>
              <a:rPr lang="en-US" sz="2400" dirty="0">
                <a:latin typeface="Segoe UI" pitchFamily="34" charset="0"/>
                <a:cs typeface="Segoe UI" pitchFamily="34" charset="0"/>
              </a:rPr>
              <a:t>Merge mode: </a:t>
            </a:r>
          </a:p>
          <a:p>
            <a:pPr lvl="1">
              <a:buFont typeface="Arial" panose="020B0604020202020204" pitchFamily="34" charset="0"/>
              <a:buChar char="•"/>
            </a:pPr>
            <a:r>
              <a:rPr lang="en-US" sz="2000" dirty="0">
                <a:latin typeface="Segoe UI" pitchFamily="34" charset="0"/>
                <a:cs typeface="Segoe UI" pitchFamily="34" charset="0"/>
              </a:rPr>
              <a:t>The list of the GPOs based on the computer have higher precedence than the list of GPOs based on the user</a:t>
            </a:r>
            <a:endParaRPr lang="en-US" sz="2400" dirty="0">
              <a:latin typeface="Segoe UI" pitchFamily="34" charset="0"/>
              <a:cs typeface="Segoe UI" pitchFamily="34" charset="0"/>
            </a:endParaRPr>
          </a:p>
          <a:p>
            <a:r>
              <a:rPr lang="en-US" sz="2400" dirty="0">
                <a:latin typeface="Segoe UI" pitchFamily="34" charset="0"/>
                <a:cs typeface="Segoe UI" pitchFamily="34" charset="0"/>
              </a:rPr>
              <a:t>Useful in closely managed environments and special-use computers, such as:</a:t>
            </a:r>
          </a:p>
          <a:p>
            <a:pPr lvl="1">
              <a:buFont typeface="Arial" panose="020B0604020202020204" pitchFamily="34" charset="0"/>
              <a:buChar char="•"/>
            </a:pPr>
            <a:r>
              <a:rPr lang="en-US" sz="2000" dirty="0">
                <a:latin typeface="Segoe UI" pitchFamily="34" charset="0"/>
                <a:cs typeface="Segoe UI" pitchFamily="34" charset="0"/>
              </a:rPr>
              <a:t>Terminal servers, public-use computers, and classrooms</a:t>
            </a:r>
          </a:p>
          <a:p>
            <a:pPr lvl="1"/>
            <a:endParaRPr lang="en-US" sz="2000" dirty="0">
              <a:latin typeface="Segoe UI" pitchFamily="34" charset="0"/>
              <a:cs typeface="Segoe UI" pitchFamily="34" charset="0"/>
            </a:endParaRPr>
          </a:p>
          <a:p>
            <a:pPr lvl="1"/>
            <a:endParaRPr lang="en-US" sz="2000" dirty="0">
              <a:latin typeface="Segoe UI" pitchFamily="34" charset="0"/>
              <a:cs typeface="Segoe UI" pitchFamily="34" charset="0"/>
            </a:endParaRPr>
          </a:p>
          <a:p>
            <a:endParaRPr lang="en-US" sz="2400" dirty="0">
              <a:latin typeface="Segoe UI" pitchFamily="34" charset="0"/>
              <a:cs typeface="Segoe UI" pitchFamily="34" charset="0"/>
            </a:endParaRPr>
          </a:p>
          <a:p>
            <a:endParaRPr lang="en-US" sz="2400" dirty="0">
              <a:latin typeface="Segoe UI" pitchFamily="34" charset="0"/>
              <a:cs typeface="Segoe UI" pitchFamily="34" charset="0"/>
            </a:endParaRPr>
          </a:p>
          <a:p>
            <a:endParaRPr lang="en-US" sz="2400" dirty="0">
              <a:latin typeface="Segoe UI" pitchFamily="34" charset="0"/>
              <a:cs typeface="Segoe UI" pitchFamily="34" charset="0"/>
            </a:endParaRPr>
          </a:p>
          <a:p>
            <a:endParaRPr lang="en-US" sz="2400" dirty="0">
              <a:latin typeface="Segoe UI" pitchFamily="34" charset="0"/>
              <a:cs typeface="Segoe UI" pitchFamily="34" charset="0"/>
            </a:endParaRP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7115" y="605619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4271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5d403d7b-7a50-48d1-97ab-464f547a6aa5">
    <p:spTree>
      <p:nvGrpSpPr>
        <p:cNvPr id="1" name=""/>
        <p:cNvGrpSpPr/>
        <p:nvPr/>
      </p:nvGrpSpPr>
      <p:grpSpPr>
        <a:xfrm>
          <a:off x="0" y="0"/>
          <a:ext cx="0" cy="0"/>
          <a:chOff x="0" y="0"/>
          <a:chExt cx="0" cy="0"/>
        </a:xfrm>
      </p:grpSpPr>
      <p:sp>
        <p:nvSpPr>
          <p:cNvPr id="2" name="Title 1"/>
          <p:cNvSpPr>
            <a:spLocks noGrp="1"/>
          </p:cNvSpPr>
          <p:nvPr>
            <p:ph type="title"/>
          </p:nvPr>
        </p:nvSpPr>
        <p:spPr>
          <a:xfrm>
            <a:off x="1427931" y="177801"/>
            <a:ext cx="7106469" cy="584199"/>
          </a:xfrm>
        </p:spPr>
        <p:txBody>
          <a:bodyPr/>
          <a:lstStyle/>
          <a:p>
            <a:r>
              <a:rPr lang="en-US" dirty="0"/>
              <a:t>Loopback policy processing</a:t>
            </a:r>
          </a:p>
        </p:txBody>
      </p:sp>
      <p:pic>
        <p:nvPicPr>
          <p:cNvPr id="4" name="Picture 3" descr="Screenshot depicting the Group Policy setting that enables loopback processing. It is set to the mode Replace."/>
          <p:cNvPicPr>
            <a:picLocks noChangeAspect="1"/>
          </p:cNvPicPr>
          <p:nvPr/>
        </p:nvPicPr>
        <p:blipFill>
          <a:blip r:embed="rId3"/>
          <a:stretch>
            <a:fillRect/>
          </a:stretch>
        </p:blipFill>
        <p:spPr>
          <a:xfrm>
            <a:off x="1407149" y="914400"/>
            <a:ext cx="7459435" cy="5233106"/>
          </a:xfrm>
          <a:prstGeom prst="rect">
            <a:avLst/>
          </a:prstGeom>
          <a:ln>
            <a:solidFill>
              <a:srgbClr val="0070C0"/>
            </a:solidFill>
          </a:ln>
        </p:spPr>
      </p:pic>
    </p:spTree>
    <p:extLst>
      <p:ext uri="{BB962C8B-B14F-4D97-AF65-F5344CB8AC3E}">
        <p14:creationId xmlns:p14="http://schemas.microsoft.com/office/powerpoint/2010/main" val="1234385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2141e502-c101-48aa-a686-a98a48a45a5e">
    <p:spTree>
      <p:nvGrpSpPr>
        <p:cNvPr id="1" name=""/>
        <p:cNvGrpSpPr/>
        <p:nvPr/>
      </p:nvGrpSpPr>
      <p:grpSpPr>
        <a:xfrm>
          <a:off x="0" y="0"/>
          <a:ext cx="0" cy="0"/>
          <a:chOff x="0" y="0"/>
          <a:chExt cx="0" cy="0"/>
        </a:xfrm>
      </p:grpSpPr>
      <p:sp>
        <p:nvSpPr>
          <p:cNvPr id="2" name="Title 1"/>
          <p:cNvSpPr>
            <a:spLocks noGrp="1"/>
          </p:cNvSpPr>
          <p:nvPr>
            <p:ph type="title"/>
          </p:nvPr>
        </p:nvSpPr>
        <p:spPr>
          <a:xfrm>
            <a:off x="1371599" y="0"/>
            <a:ext cx="7772401" cy="740664"/>
          </a:xfrm>
        </p:spPr>
        <p:txBody>
          <a:bodyPr>
            <a:normAutofit fontScale="90000"/>
          </a:bodyPr>
          <a:lstStyle/>
          <a:p>
            <a:r>
              <a:rPr lang="en-US" dirty="0"/>
              <a:t>Considerations for slow links and disconnected systems</a:t>
            </a:r>
          </a:p>
        </p:txBody>
      </p:sp>
      <p:sp>
        <p:nvSpPr>
          <p:cNvPr id="4" name="Content Placeholder 2"/>
          <p:cNvSpPr>
            <a:spLocks noGrp="1"/>
          </p:cNvSpPr>
          <p:nvPr/>
        </p:nvSpPr>
        <p:spPr bwMode="auto">
          <a:xfrm>
            <a:off x="1371600" y="1066799"/>
            <a:ext cx="7441660" cy="518885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dirty="0">
                <a:latin typeface="Segoe UI" pitchFamily="34" charset="0"/>
                <a:ea typeface="Segoe UI" pitchFamily="34" charset="0"/>
                <a:cs typeface="Segoe UI" pitchFamily="34" charset="0"/>
              </a:rPr>
              <a:t>Slow link detection:</a:t>
            </a:r>
          </a:p>
          <a:p>
            <a:pPr marL="365760" lvl="1"/>
            <a:r>
              <a:rPr lang="en-US" dirty="0"/>
              <a:t>By default, connection speeds below 500 kbps</a:t>
            </a:r>
          </a:p>
          <a:p>
            <a:pPr marL="365760" lvl="1"/>
            <a:r>
              <a:rPr lang="en-US" dirty="0"/>
              <a:t>The following CSEs apply by default:</a:t>
            </a:r>
          </a:p>
          <a:p>
            <a:pPr marL="594360" lvl="2"/>
            <a:r>
              <a:rPr lang="en-US" dirty="0">
                <a:latin typeface="Segoe UI" pitchFamily="34" charset="0"/>
                <a:ea typeface="Segoe UI" pitchFamily="34" charset="0"/>
                <a:cs typeface="Segoe UI" pitchFamily="34" charset="0"/>
              </a:rPr>
              <a:t>Security Settings</a:t>
            </a:r>
          </a:p>
          <a:p>
            <a:pPr marL="594360" lvl="2"/>
            <a:r>
              <a:rPr lang="en-US" dirty="0">
                <a:latin typeface="Segoe UI" pitchFamily="34" charset="0"/>
                <a:ea typeface="Segoe UI" pitchFamily="34" charset="0"/>
                <a:cs typeface="Segoe UI" pitchFamily="34" charset="0"/>
              </a:rPr>
              <a:t>Administrative Templates</a:t>
            </a:r>
          </a:p>
          <a:p>
            <a:r>
              <a:rPr lang="en-US" dirty="0">
                <a:latin typeface="Segoe UI" pitchFamily="34" charset="0"/>
                <a:ea typeface="Segoe UI" pitchFamily="34" charset="0"/>
                <a:cs typeface="Segoe UI" pitchFamily="34" charset="0"/>
              </a:rPr>
              <a:t>Disconnected computers:</a:t>
            </a:r>
          </a:p>
          <a:p>
            <a:pPr marL="411480" lvl="1">
              <a:buFont typeface="Arial" pitchFamily="34" charset="0"/>
              <a:buChar char="•"/>
            </a:pPr>
            <a:r>
              <a:rPr lang="en-US" dirty="0">
                <a:latin typeface="Segoe UI" pitchFamily="34" charset="0"/>
                <a:ea typeface="Segoe UI" pitchFamily="34" charset="0"/>
                <a:cs typeface="Segoe UI" pitchFamily="34" charset="0"/>
              </a:rPr>
              <a:t>Cache Group Policy so that settings still apply</a:t>
            </a:r>
          </a:p>
          <a:p>
            <a:pPr marL="411480" lvl="1">
              <a:buFont typeface="Arial" pitchFamily="34" charset="0"/>
              <a:buChar char="•"/>
            </a:pPr>
            <a:r>
              <a:rPr lang="en-US" dirty="0">
                <a:latin typeface="Segoe UI" pitchFamily="34" charset="0"/>
                <a:ea typeface="Segoe UI" pitchFamily="34" charset="0"/>
                <a:cs typeface="Segoe UI" pitchFamily="34" charset="0"/>
              </a:rPr>
              <a:t>Perform Group Policy refresh when reconnecting with the domain network if a background refresh has been missed</a:t>
            </a:r>
          </a:p>
        </p:txBody>
      </p:sp>
    </p:spTree>
    <p:extLst>
      <p:ext uri="{BB962C8B-B14F-4D97-AF65-F5344CB8AC3E}">
        <p14:creationId xmlns:p14="http://schemas.microsoft.com/office/powerpoint/2010/main" val="356137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9c170728-04b2-4b5a-a9da-50082118a790">
    <p:spTree>
      <p:nvGrpSpPr>
        <p:cNvPr id="1" name=""/>
        <p:cNvGrpSpPr/>
        <p:nvPr/>
      </p:nvGrpSpPr>
      <p:grpSpPr>
        <a:xfrm>
          <a:off x="0" y="0"/>
          <a:ext cx="0" cy="0"/>
          <a:chOff x="0" y="0"/>
          <a:chExt cx="0" cy="0"/>
        </a:xfrm>
      </p:grpSpPr>
      <p:sp>
        <p:nvSpPr>
          <p:cNvPr id="2" name="Title 1"/>
          <p:cNvSpPr>
            <a:spLocks noGrp="1"/>
          </p:cNvSpPr>
          <p:nvPr>
            <p:ph type="title"/>
          </p:nvPr>
        </p:nvSpPr>
        <p:spPr>
          <a:xfrm>
            <a:off x="1384387" y="105231"/>
            <a:ext cx="7106469" cy="584199"/>
          </a:xfrm>
        </p:spPr>
        <p:txBody>
          <a:bodyPr/>
          <a:lstStyle/>
          <a:p>
            <a:r>
              <a:rPr lang="en-US" dirty="0"/>
              <a:t>Identifying when settings become effective</a:t>
            </a:r>
          </a:p>
        </p:txBody>
      </p:sp>
      <p:sp>
        <p:nvSpPr>
          <p:cNvPr id="4" name="Content Placeholder 2"/>
          <p:cNvSpPr>
            <a:spLocks noGrp="1"/>
          </p:cNvSpPr>
          <p:nvPr/>
        </p:nvSpPr>
        <p:spPr bwMode="auto">
          <a:xfrm>
            <a:off x="1427930" y="1600199"/>
            <a:ext cx="7150013" cy="45683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dirty="0">
                <a:cs typeface="Arial" charset="0"/>
              </a:rPr>
              <a:t>GPO replication must occur</a:t>
            </a:r>
          </a:p>
          <a:p>
            <a:r>
              <a:rPr lang="en-US" dirty="0">
                <a:cs typeface="Arial" charset="0"/>
              </a:rPr>
              <a:t>Group changes must replicate</a:t>
            </a:r>
          </a:p>
          <a:p>
            <a:pPr>
              <a:spcBef>
                <a:spcPct val="30000"/>
              </a:spcBef>
              <a:defRPr/>
            </a:pPr>
            <a:r>
              <a:rPr lang="en-US" dirty="0">
                <a:cs typeface="Arial" charset="0"/>
              </a:rPr>
              <a:t>Group Policy refresh must occur</a:t>
            </a:r>
          </a:p>
          <a:p>
            <a:pPr>
              <a:spcBef>
                <a:spcPct val="30000"/>
              </a:spcBef>
              <a:defRPr/>
            </a:pPr>
            <a:r>
              <a:rPr lang="en-US" dirty="0">
                <a:cs typeface="Arial" charset="0"/>
              </a:rPr>
              <a:t>User must sign out and sign in or the computer must restart</a:t>
            </a:r>
          </a:p>
          <a:p>
            <a:pPr>
              <a:spcBef>
                <a:spcPct val="30000"/>
              </a:spcBef>
              <a:defRPr/>
            </a:pPr>
            <a:r>
              <a:rPr lang="en-US" dirty="0">
                <a:cs typeface="Arial" charset="0"/>
              </a:rPr>
              <a:t>You must perform a manual refresh</a:t>
            </a:r>
          </a:p>
          <a:p>
            <a:pPr>
              <a:spcBef>
                <a:spcPct val="30000"/>
              </a:spcBef>
              <a:defRPr/>
            </a:pPr>
            <a:r>
              <a:rPr lang="en-US" dirty="0">
                <a:cs typeface="Arial" charset="0"/>
              </a:rPr>
              <a:t>Most CSEs do not reapply unchanged GPO settings</a:t>
            </a:r>
          </a:p>
          <a:p>
            <a:endParaRPr lang="en-US" dirty="0"/>
          </a:p>
        </p:txBody>
      </p:sp>
    </p:spTree>
    <p:extLst>
      <p:ext uri="{BB962C8B-B14F-4D97-AF65-F5344CB8AC3E}">
        <p14:creationId xmlns:p14="http://schemas.microsoft.com/office/powerpoint/2010/main" val="38769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11349e6b-9bb3-431d-a240-0f0d38fd3d3f">
    <p:spTree>
      <p:nvGrpSpPr>
        <p:cNvPr id="1" name=""/>
        <p:cNvGrpSpPr/>
        <p:nvPr/>
      </p:nvGrpSpPr>
      <p:grpSpPr>
        <a:xfrm>
          <a:off x="0" y="0"/>
          <a:ext cx="0" cy="0"/>
          <a:chOff x="0" y="0"/>
          <a:chExt cx="0" cy="0"/>
        </a:xfrm>
      </p:grpSpPr>
      <p:sp>
        <p:nvSpPr>
          <p:cNvPr id="2" name="Title 1"/>
          <p:cNvSpPr>
            <a:spLocks noGrp="1"/>
          </p:cNvSpPr>
          <p:nvPr>
            <p:ph type="title"/>
          </p:nvPr>
        </p:nvSpPr>
        <p:spPr>
          <a:xfrm>
            <a:off x="1427931" y="-2"/>
            <a:ext cx="7487468" cy="740664"/>
          </a:xfrm>
        </p:spPr>
        <p:txBody>
          <a:bodyPr/>
          <a:lstStyle/>
          <a:p>
            <a:r>
              <a:rPr lang="en-US" dirty="0"/>
              <a:t>Troubleshooting the application of GPOs</a:t>
            </a:r>
          </a:p>
        </p:txBody>
      </p:sp>
      <p:sp>
        <p:nvSpPr>
          <p:cNvPr id="3" name="Text Placeholder 2"/>
          <p:cNvSpPr>
            <a:spLocks noGrp="1"/>
          </p:cNvSpPr>
          <p:nvPr>
            <p:ph type="body" idx="1"/>
          </p:nvPr>
        </p:nvSpPr>
        <p:spPr/>
        <p:txBody>
          <a:bodyPr/>
          <a:lstStyle/>
          <a:p>
            <a:r>
              <a:rPr lang="en-US"/>
              <a:t>Refreshing GPOs
What is RSoP?
Generating RSoP reports
Demonstration: Performing a what-if analysis with Group Policy Modeling Wizard
Examining Group Policy event logs
Detecting Group Policy health issues</a:t>
            </a:r>
          </a:p>
        </p:txBody>
      </p:sp>
    </p:spTree>
    <p:extLst>
      <p:ext uri="{BB962C8B-B14F-4D97-AF65-F5344CB8AC3E}">
        <p14:creationId xmlns:p14="http://schemas.microsoft.com/office/powerpoint/2010/main" val="2462805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6a360a04-c148-42af-ad8f-9ad4a60aeb20">
    <p:spTree>
      <p:nvGrpSpPr>
        <p:cNvPr id="1" name=""/>
        <p:cNvGrpSpPr/>
        <p:nvPr/>
      </p:nvGrpSpPr>
      <p:grpSpPr>
        <a:xfrm>
          <a:off x="0" y="0"/>
          <a:ext cx="0" cy="0"/>
          <a:chOff x="0" y="0"/>
          <a:chExt cx="0" cy="0"/>
        </a:xfrm>
      </p:grpSpPr>
      <p:sp>
        <p:nvSpPr>
          <p:cNvPr id="2" name="Title 1"/>
          <p:cNvSpPr>
            <a:spLocks noGrp="1"/>
          </p:cNvSpPr>
          <p:nvPr>
            <p:ph type="title"/>
          </p:nvPr>
        </p:nvSpPr>
        <p:spPr>
          <a:xfrm>
            <a:off x="1384387" y="6927"/>
            <a:ext cx="7106469" cy="511629"/>
          </a:xfrm>
        </p:spPr>
        <p:txBody>
          <a:bodyPr/>
          <a:lstStyle/>
          <a:p>
            <a:r>
              <a:rPr lang="en-US" dirty="0"/>
              <a:t>Refreshing GPOs</a:t>
            </a:r>
          </a:p>
        </p:txBody>
      </p:sp>
      <p:sp>
        <p:nvSpPr>
          <p:cNvPr id="4" name="Content Placeholder 2"/>
          <p:cNvSpPr>
            <a:spLocks noGrp="1"/>
          </p:cNvSpPr>
          <p:nvPr/>
        </p:nvSpPr>
        <p:spPr bwMode="auto">
          <a:xfrm>
            <a:off x="1427930" y="1417637"/>
            <a:ext cx="7150013" cy="475093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dirty="0"/>
              <a:t>When you apply GPOs, remember that:</a:t>
            </a:r>
          </a:p>
          <a:p>
            <a:pPr lvl="1"/>
            <a:r>
              <a:rPr lang="en-US" dirty="0"/>
              <a:t>Computer settings apply at startup</a:t>
            </a:r>
          </a:p>
          <a:p>
            <a:pPr lvl="1"/>
            <a:r>
              <a:rPr lang="en-US" dirty="0"/>
              <a:t>User settings apply at sign-in</a:t>
            </a:r>
          </a:p>
          <a:p>
            <a:pPr lvl="1"/>
            <a:r>
              <a:rPr lang="en-US" dirty="0"/>
              <a:t>Polices refresh at regular, configurable intervals</a:t>
            </a:r>
          </a:p>
          <a:p>
            <a:pPr lvl="1"/>
            <a:r>
              <a:rPr lang="en-US" dirty="0"/>
              <a:t>Security settings refresh at least every 16 hours</a:t>
            </a:r>
          </a:p>
          <a:p>
            <a:pPr lvl="1"/>
            <a:r>
              <a:rPr lang="en-US" dirty="0"/>
              <a:t>Policies refresh manually by using:</a:t>
            </a:r>
          </a:p>
          <a:p>
            <a:pPr marL="640080" lvl="2"/>
            <a:r>
              <a:rPr lang="en-US" sz="2400" dirty="0"/>
              <a:t>The</a:t>
            </a:r>
            <a:r>
              <a:rPr lang="en-US" sz="2400" b="1" dirty="0"/>
              <a:t> </a:t>
            </a:r>
            <a:r>
              <a:rPr lang="en-US" sz="2400" b="1" dirty="0" err="1"/>
              <a:t>gpupdate</a:t>
            </a:r>
            <a:r>
              <a:rPr lang="en-US" sz="2400" dirty="0"/>
              <a:t> command-line utility</a:t>
            </a:r>
          </a:p>
          <a:p>
            <a:pPr marL="640080" lvl="2"/>
            <a:r>
              <a:rPr lang="en-US" sz="2400" dirty="0"/>
              <a:t>The Windows PowerShell </a:t>
            </a:r>
            <a:r>
              <a:rPr lang="en-US" sz="2400" dirty="0" err="1"/>
              <a:t>cmdlet</a:t>
            </a:r>
            <a:r>
              <a:rPr lang="en-US" sz="2400" dirty="0"/>
              <a:t> </a:t>
            </a:r>
            <a:r>
              <a:rPr lang="en-US" sz="2400" b="1" dirty="0"/>
              <a:t>Invoke-</a:t>
            </a:r>
            <a:r>
              <a:rPr lang="en-US" sz="2400" b="1" dirty="0" err="1"/>
              <a:t>gpupdate</a:t>
            </a:r>
            <a:endParaRPr lang="en-US" sz="2400" b="1" dirty="0"/>
          </a:p>
          <a:p>
            <a:pPr lvl="1"/>
            <a:r>
              <a:rPr lang="en-US" dirty="0"/>
              <a:t>With the Remote Group Policy Refresh feature, you can refresh policies remotely</a:t>
            </a:r>
          </a:p>
          <a:p>
            <a:endParaRPr lang="en-US" dirty="0"/>
          </a:p>
        </p:txBody>
      </p:sp>
    </p:spTree>
    <p:extLst>
      <p:ext uri="{BB962C8B-B14F-4D97-AF65-F5344CB8AC3E}">
        <p14:creationId xmlns:p14="http://schemas.microsoft.com/office/powerpoint/2010/main" val="2204984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87d64506-4404-4609-99b6-0212555cc62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RSoP?</a:t>
            </a:r>
          </a:p>
        </p:txBody>
      </p:sp>
      <p:pic>
        <p:nvPicPr>
          <p:cNvPr id="4" name="Picture 3" descr="Screenshot displaying a Group Policy Results Wizard report.&#10;&#10;&#10;&#10;"/>
          <p:cNvPicPr>
            <a:picLocks noChangeAspect="1"/>
          </p:cNvPicPr>
          <p:nvPr/>
        </p:nvPicPr>
        <p:blipFill>
          <a:blip r:embed="rId3"/>
          <a:stretch>
            <a:fillRect/>
          </a:stretch>
        </p:blipFill>
        <p:spPr>
          <a:xfrm>
            <a:off x="1536123" y="1740722"/>
            <a:ext cx="6629309" cy="4904841"/>
          </a:xfrm>
          <a:prstGeom prst="rect">
            <a:avLst/>
          </a:prstGeom>
          <a:ln>
            <a:solidFill>
              <a:srgbClr val="0070C0"/>
            </a:solidFill>
          </a:ln>
        </p:spPr>
      </p:pic>
      <p:sp>
        <p:nvSpPr>
          <p:cNvPr id="5" name="TextBox 1"/>
          <p:cNvSpPr txBox="1"/>
          <p:nvPr/>
        </p:nvSpPr>
        <p:spPr>
          <a:xfrm>
            <a:off x="1427930" y="-13577"/>
            <a:ext cx="7566315" cy="830997"/>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err="1">
                <a:latin typeface="Segoe UI" pitchFamily="34" charset="0"/>
                <a:cs typeface="Segoe UI" pitchFamily="34" charset="0"/>
              </a:rPr>
              <a:t>RSoP</a:t>
            </a:r>
            <a:r>
              <a:rPr lang="en-US" sz="2400" b="0" dirty="0">
                <a:latin typeface="Segoe UI" pitchFamily="34" charset="0"/>
                <a:cs typeface="Segoe UI" pitchFamily="34" charset="0"/>
              </a:rPr>
              <a:t> is the net effect of GPOs applied to a user or computer</a:t>
            </a:r>
          </a:p>
        </p:txBody>
      </p:sp>
      <p:sp>
        <p:nvSpPr>
          <p:cNvPr id="6" name="TextBox 3"/>
          <p:cNvSpPr txBox="1"/>
          <p:nvPr/>
        </p:nvSpPr>
        <p:spPr>
          <a:xfrm>
            <a:off x="1543050" y="1394403"/>
            <a:ext cx="6650813" cy="400110"/>
          </a:xfrm>
          <a:prstGeom prst="rect">
            <a:avLst/>
          </a:prstGeom>
          <a:solidFill>
            <a:srgbClr val="0070C0"/>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000" dirty="0">
                <a:solidFill>
                  <a:schemeClr val="bg1"/>
                </a:solidFill>
                <a:latin typeface="Segoe UI" pitchFamily="34" charset="0"/>
                <a:cs typeface="Segoe UI" pitchFamily="34" charset="0"/>
              </a:rPr>
              <a:t>Group Policy Management</a:t>
            </a:r>
          </a:p>
        </p:txBody>
      </p:sp>
      <p:pic>
        <p:nvPicPr>
          <p:cNvPr id="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7115" y="60245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0379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281e5821-8dc0-43fc-8f69-1efc7a6e93c9">
    <p:spTree>
      <p:nvGrpSpPr>
        <p:cNvPr id="1" name=""/>
        <p:cNvGrpSpPr/>
        <p:nvPr/>
      </p:nvGrpSpPr>
      <p:grpSpPr>
        <a:xfrm>
          <a:off x="0" y="0"/>
          <a:ext cx="0" cy="0"/>
          <a:chOff x="0" y="0"/>
          <a:chExt cx="0" cy="0"/>
        </a:xfrm>
      </p:grpSpPr>
      <p:sp>
        <p:nvSpPr>
          <p:cNvPr id="2" name="Title 1"/>
          <p:cNvSpPr>
            <a:spLocks noGrp="1"/>
          </p:cNvSpPr>
          <p:nvPr>
            <p:ph type="title"/>
          </p:nvPr>
        </p:nvSpPr>
        <p:spPr>
          <a:xfrm>
            <a:off x="1427931" y="177801"/>
            <a:ext cx="7106469" cy="400111"/>
          </a:xfrm>
        </p:spPr>
        <p:txBody>
          <a:bodyPr>
            <a:normAutofit fontScale="90000"/>
          </a:bodyPr>
          <a:lstStyle/>
          <a:p>
            <a:r>
              <a:rPr lang="en-US" dirty="0"/>
              <a:t>What is </a:t>
            </a:r>
            <a:r>
              <a:rPr lang="en-US" dirty="0" err="1"/>
              <a:t>RSoP</a:t>
            </a:r>
            <a:r>
              <a:rPr lang="en-US" dirty="0"/>
              <a:t>?</a:t>
            </a:r>
          </a:p>
        </p:txBody>
      </p:sp>
      <p:pic>
        <p:nvPicPr>
          <p:cNvPr id="4" name="Content Placeholder 1" descr="Screenshot of Group Policy Modeling Wizard. The page shown is the User and Computer Selection page with the User information container selected shown as OU=IT,DC=Adatum,DC=com and the Computer information computer selected shown as ADATUM\LON-CL1.&#10;&#10;"/>
          <p:cNvPicPr>
            <a:picLocks noGrp="1" noChangeAspect="1"/>
          </p:cNvPicPr>
          <p:nvPr/>
        </p:nvPicPr>
        <p:blipFill>
          <a:blip r:embed="rId3"/>
          <a:stretch>
            <a:fillRect/>
          </a:stretch>
        </p:blipFill>
        <p:spPr bwMode="auto">
          <a:xfrm>
            <a:off x="1835124" y="1696307"/>
            <a:ext cx="5308625" cy="4681912"/>
          </a:xfrm>
          <a:prstGeom prst="rect">
            <a:avLst/>
          </a:prstGeom>
          <a:noFill/>
          <a:ln w="9525">
            <a:solidFill>
              <a:srgbClr val="0070C0"/>
            </a:solidFill>
            <a:miter lim="800000"/>
            <a:headEnd/>
            <a:tailEnd/>
          </a:ln>
        </p:spPr>
      </p:pic>
      <p:sp>
        <p:nvSpPr>
          <p:cNvPr id="5" name="TextBox 2"/>
          <p:cNvSpPr txBox="1"/>
          <p:nvPr/>
        </p:nvSpPr>
        <p:spPr>
          <a:xfrm>
            <a:off x="1828800" y="1289706"/>
            <a:ext cx="5334000" cy="400110"/>
          </a:xfrm>
          <a:prstGeom prst="rect">
            <a:avLst/>
          </a:prstGeom>
          <a:solidFill>
            <a:srgbClr val="0070C0"/>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000" dirty="0">
                <a:solidFill>
                  <a:schemeClr val="bg1"/>
                </a:solidFill>
                <a:latin typeface="Segoe UI" pitchFamily="34" charset="0"/>
                <a:cs typeface="Segoe UI" pitchFamily="34" charset="0"/>
              </a:rPr>
              <a:t>Group Policy Modeling Wizard</a:t>
            </a:r>
          </a:p>
        </p:txBody>
      </p:sp>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9515" y="61769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hlinkClick r:id="" action="ppaction://hlinkshowjump?jump=nextslid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36340" y="61769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363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fd46ddfc-fab4-4dd2-8f85-d703680674e0">
    <p:spTree>
      <p:nvGrpSpPr>
        <p:cNvPr id="1" name=""/>
        <p:cNvGrpSpPr/>
        <p:nvPr/>
      </p:nvGrpSpPr>
      <p:grpSpPr>
        <a:xfrm>
          <a:off x="0" y="0"/>
          <a:ext cx="0" cy="0"/>
          <a:chOff x="0" y="0"/>
          <a:chExt cx="0" cy="0"/>
        </a:xfrm>
      </p:grpSpPr>
      <p:sp>
        <p:nvSpPr>
          <p:cNvPr id="2" name="Title 1"/>
          <p:cNvSpPr>
            <a:spLocks noGrp="1"/>
          </p:cNvSpPr>
          <p:nvPr>
            <p:ph type="title"/>
          </p:nvPr>
        </p:nvSpPr>
        <p:spPr>
          <a:xfrm>
            <a:off x="1295400" y="-18184"/>
            <a:ext cx="7106469" cy="660399"/>
          </a:xfrm>
        </p:spPr>
        <p:txBody>
          <a:bodyPr/>
          <a:lstStyle/>
          <a:p>
            <a:r>
              <a:rPr lang="en-US" dirty="0"/>
              <a:t>Generating </a:t>
            </a:r>
            <a:r>
              <a:rPr lang="en-US" dirty="0" err="1"/>
              <a:t>RSoP</a:t>
            </a:r>
            <a:r>
              <a:rPr lang="en-US" dirty="0"/>
              <a:t> reports</a:t>
            </a:r>
          </a:p>
        </p:txBody>
      </p:sp>
      <p:sp>
        <p:nvSpPr>
          <p:cNvPr id="4" name="Content Placeholder 2"/>
          <p:cNvSpPr>
            <a:spLocks noGrp="1"/>
          </p:cNvSpPr>
          <p:nvPr/>
        </p:nvSpPr>
        <p:spPr bwMode="auto">
          <a:xfrm>
            <a:off x="1295400" y="1600199"/>
            <a:ext cx="7282544" cy="45683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sz="2400" dirty="0" err="1">
                <a:latin typeface="Segoe UI" pitchFamily="34" charset="0"/>
                <a:cs typeface="Segoe UI" pitchFamily="34" charset="0"/>
              </a:rPr>
              <a:t>RSoP</a:t>
            </a:r>
            <a:r>
              <a:rPr lang="en-US" sz="2400" dirty="0">
                <a:latin typeface="Segoe UI" pitchFamily="34" charset="0"/>
                <a:cs typeface="Segoe UI" pitchFamily="34" charset="0"/>
              </a:rPr>
              <a:t> reports show the actual settings being applied to the user and computer</a:t>
            </a:r>
          </a:p>
          <a:p>
            <a:r>
              <a:rPr lang="en-US" sz="2400" dirty="0">
                <a:latin typeface="Segoe UI" pitchFamily="34" charset="0"/>
                <a:cs typeface="Segoe UI" pitchFamily="34" charset="0"/>
              </a:rPr>
              <a:t>Might show the time taken to apply Group Policy</a:t>
            </a:r>
          </a:p>
          <a:p>
            <a:r>
              <a:rPr lang="en-US" sz="2400" dirty="0">
                <a:latin typeface="Segoe UI" pitchFamily="34" charset="0"/>
                <a:cs typeface="Segoe UI" pitchFamily="34" charset="0"/>
              </a:rPr>
              <a:t>You can generate </a:t>
            </a:r>
            <a:r>
              <a:rPr lang="en-US" sz="2400" dirty="0" err="1">
                <a:latin typeface="Segoe UI" pitchFamily="34" charset="0"/>
                <a:cs typeface="Segoe UI" pitchFamily="34" charset="0"/>
              </a:rPr>
              <a:t>RSoP</a:t>
            </a:r>
            <a:r>
              <a:rPr lang="en-US" sz="2400" dirty="0">
                <a:latin typeface="Segoe UI" pitchFamily="34" charset="0"/>
                <a:cs typeface="Segoe UI" pitchFamily="34" charset="0"/>
              </a:rPr>
              <a:t> reports by using:</a:t>
            </a:r>
          </a:p>
          <a:p>
            <a:pPr marL="411480" lvl="1">
              <a:buFont typeface="Arial" panose="020B0604020202020204" pitchFamily="34" charset="0"/>
              <a:buChar char="•"/>
            </a:pPr>
            <a:r>
              <a:rPr lang="en-US" sz="2000" b="1" dirty="0">
                <a:latin typeface="Segoe UI" pitchFamily="34" charset="0"/>
                <a:cs typeface="Segoe UI" pitchFamily="34" charset="0"/>
              </a:rPr>
              <a:t>Group Policy Results Wizard</a:t>
            </a:r>
          </a:p>
          <a:p>
            <a:pPr marL="411480" lvl="1">
              <a:buFont typeface="Arial" panose="020B0604020202020204" pitchFamily="34" charset="0"/>
              <a:buChar char="•"/>
            </a:pPr>
            <a:r>
              <a:rPr lang="en-US" sz="2000" b="1" dirty="0" err="1">
                <a:latin typeface="Segoe UI" pitchFamily="34" charset="0"/>
                <a:cs typeface="Segoe UI" pitchFamily="34" charset="0"/>
              </a:rPr>
              <a:t>GPResults</a:t>
            </a:r>
            <a:endParaRPr lang="en-US" sz="2000" b="1" dirty="0">
              <a:latin typeface="Segoe UI" pitchFamily="34" charset="0"/>
              <a:cs typeface="Segoe UI" pitchFamily="34" charset="0"/>
            </a:endParaRPr>
          </a:p>
          <a:p>
            <a:pPr marL="411480" lvl="1">
              <a:buFont typeface="Arial" panose="020B0604020202020204" pitchFamily="34" charset="0"/>
              <a:buChar char="•"/>
            </a:pPr>
            <a:r>
              <a:rPr lang="da-DK" sz="2000" b="1" dirty="0" err="1">
                <a:latin typeface="Segoe UI" pitchFamily="34" charset="0"/>
                <a:cs typeface="Segoe UI" pitchFamily="34" charset="0"/>
              </a:rPr>
              <a:t>Get-GPResultantSetOfPolicy</a:t>
            </a:r>
            <a:endParaRPr lang="da-DK" sz="2000" b="1" dirty="0">
              <a:latin typeface="Segoe UI" pitchFamily="34" charset="0"/>
              <a:cs typeface="Segoe UI" pitchFamily="34" charset="0"/>
            </a:endParaRPr>
          </a:p>
          <a:p>
            <a:r>
              <a:rPr lang="en-US" sz="2400" dirty="0">
                <a:latin typeface="Segoe UI" pitchFamily="34" charset="0"/>
                <a:cs typeface="Segoe UI" pitchFamily="34" charset="0"/>
              </a:rPr>
              <a:t>Target computer must be online</a:t>
            </a:r>
          </a:p>
          <a:p>
            <a:r>
              <a:rPr lang="en-US" sz="2400" dirty="0">
                <a:latin typeface="Segoe UI" pitchFamily="34" charset="0"/>
                <a:cs typeface="Segoe UI" pitchFamily="34" charset="0"/>
              </a:rPr>
              <a:t>Remote WMI must be enabled</a:t>
            </a:r>
          </a:p>
          <a:p>
            <a:endParaRPr lang="en-US" sz="2400" dirty="0">
              <a:latin typeface="Segoe UI" pitchFamily="34" charset="0"/>
              <a:cs typeface="Segoe UI" pitchFamily="34" charset="0"/>
            </a:endParaRP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600" y="6324600"/>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9700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e0677de0-ab43-4d4d-9d14-5fc3f1da8fd1">
    <p:spTree>
      <p:nvGrpSpPr>
        <p:cNvPr id="1" name=""/>
        <p:cNvGrpSpPr/>
        <p:nvPr/>
      </p:nvGrpSpPr>
      <p:grpSpPr>
        <a:xfrm>
          <a:off x="0" y="0"/>
          <a:ext cx="0" cy="0"/>
          <a:chOff x="0" y="0"/>
          <a:chExt cx="0" cy="0"/>
        </a:xfrm>
      </p:grpSpPr>
      <p:sp>
        <p:nvSpPr>
          <p:cNvPr id="2" name="Title 1"/>
          <p:cNvSpPr>
            <a:spLocks noGrp="1"/>
          </p:cNvSpPr>
          <p:nvPr>
            <p:ph type="title"/>
          </p:nvPr>
        </p:nvSpPr>
        <p:spPr>
          <a:xfrm>
            <a:off x="1371600" y="50800"/>
            <a:ext cx="7106469" cy="507999"/>
          </a:xfrm>
        </p:spPr>
        <p:txBody>
          <a:bodyPr/>
          <a:lstStyle/>
          <a:p>
            <a:r>
              <a:rPr lang="en-US" dirty="0"/>
              <a:t>Generating </a:t>
            </a:r>
            <a:r>
              <a:rPr lang="en-US" dirty="0" err="1"/>
              <a:t>RSoP</a:t>
            </a:r>
            <a:r>
              <a:rPr lang="en-US" dirty="0"/>
              <a:t> reports</a:t>
            </a:r>
          </a:p>
        </p:txBody>
      </p:sp>
      <p:pic>
        <p:nvPicPr>
          <p:cNvPr id="4" name="Picture 3" descr="Screenshot displaying Group Policy Results Wizar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1200" y="1219200"/>
            <a:ext cx="78867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2376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e174b4cc-acba-42d3-992a-8f9e40686982">
    <p:spTree>
      <p:nvGrpSpPr>
        <p:cNvPr id="1" name=""/>
        <p:cNvGrpSpPr/>
        <p:nvPr/>
      </p:nvGrpSpPr>
      <p:grpSpPr>
        <a:xfrm>
          <a:off x="0" y="0"/>
          <a:ext cx="0" cy="0"/>
          <a:chOff x="0" y="0"/>
          <a:chExt cx="0" cy="0"/>
        </a:xfrm>
      </p:grpSpPr>
      <p:sp>
        <p:nvSpPr>
          <p:cNvPr id="2" name="Title 1"/>
          <p:cNvSpPr>
            <a:spLocks noGrp="1"/>
          </p:cNvSpPr>
          <p:nvPr>
            <p:ph type="title"/>
          </p:nvPr>
        </p:nvSpPr>
        <p:spPr>
          <a:xfrm>
            <a:off x="1427931" y="177801"/>
            <a:ext cx="7106469" cy="507999"/>
          </a:xfrm>
        </p:spPr>
        <p:txBody>
          <a:bodyPr/>
          <a:lstStyle/>
          <a:p>
            <a:r>
              <a:rPr lang="en-US" dirty="0"/>
              <a:t>Examining Group Policy event logs</a:t>
            </a:r>
          </a:p>
        </p:txBody>
      </p:sp>
      <p:pic>
        <p:nvPicPr>
          <p:cNvPr id="4" name="Picture 3" descr="Screenshot displaying the Group Policy operational log in Event Viewer.&#10;&#10;&#10;&#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838200"/>
            <a:ext cx="7810500" cy="554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7763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a7e2dbf9-b3ff-43ad-8dbc-095e1810da9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Detecting Group Policy health issues</a:t>
            </a:r>
          </a:p>
        </p:txBody>
      </p:sp>
      <p:pic>
        <p:nvPicPr>
          <p:cNvPr id="4" name="Content Placeholder 4" descr="Screenshot displaying the Group Policy health check in Group Policy Management Console."/>
          <p:cNvPicPr>
            <a:picLocks noGrp="1" noChangeAspect="1"/>
          </p:cNvPicPr>
          <p:nvPr/>
        </p:nvPicPr>
        <p:blipFill>
          <a:blip r:embed="rId3"/>
          <a:stretch>
            <a:fillRect/>
          </a:stretch>
        </p:blipFill>
        <p:spPr bwMode="auto">
          <a:xfrm>
            <a:off x="1600200" y="1601131"/>
            <a:ext cx="7062579" cy="4978724"/>
          </a:xfrm>
          <a:prstGeom prst="rect">
            <a:avLst/>
          </a:prstGeom>
          <a:noFill/>
          <a:ln w="9525">
            <a:solidFill>
              <a:srgbClr val="0070C0"/>
            </a:solidFill>
            <a:miter lim="800000"/>
            <a:headEnd/>
            <a:tailEnd/>
          </a:ln>
        </p:spPr>
      </p:pic>
      <p:sp>
        <p:nvSpPr>
          <p:cNvPr id="5" name="TextBox 2"/>
          <p:cNvSpPr txBox="1"/>
          <p:nvPr/>
        </p:nvSpPr>
        <p:spPr>
          <a:xfrm>
            <a:off x="1572372" y="890075"/>
            <a:ext cx="7131168" cy="707886"/>
          </a:xfrm>
          <a:prstGeom prst="rect">
            <a:avLst/>
          </a:prstGeom>
          <a:solidFill>
            <a:srgbClr val="0070C0"/>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000" dirty="0">
                <a:solidFill>
                  <a:schemeClr val="bg1"/>
                </a:solidFill>
                <a:latin typeface="Segoe UI" pitchFamily="34" charset="0"/>
                <a:cs typeface="Segoe UI" pitchFamily="34" charset="0"/>
              </a:rPr>
              <a:t>Group Policy health check in Group Policy Management Console</a:t>
            </a:r>
          </a:p>
        </p:txBody>
      </p:sp>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7115" y="60245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798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9cf0ff7b-3232-4fed-9a25-87d0a95bb6fd">
    <p:spTree>
      <p:nvGrpSpPr>
        <p:cNvPr id="1" name=""/>
        <p:cNvGrpSpPr/>
        <p:nvPr/>
      </p:nvGrpSpPr>
      <p:grpSpPr>
        <a:xfrm>
          <a:off x="0" y="0"/>
          <a:ext cx="0" cy="0"/>
          <a:chOff x="0" y="0"/>
          <a:chExt cx="0" cy="0"/>
        </a:xfrm>
      </p:grpSpPr>
      <p:sp>
        <p:nvSpPr>
          <p:cNvPr id="2" name="Title 1"/>
          <p:cNvSpPr>
            <a:spLocks noGrp="1"/>
          </p:cNvSpPr>
          <p:nvPr>
            <p:ph type="title"/>
          </p:nvPr>
        </p:nvSpPr>
        <p:spPr>
          <a:xfrm>
            <a:off x="1377471" y="35958"/>
            <a:ext cx="7106469" cy="660399"/>
          </a:xfrm>
        </p:spPr>
        <p:txBody>
          <a:bodyPr/>
          <a:lstStyle/>
          <a:p>
            <a:r>
              <a:rPr lang="en-US" dirty="0"/>
              <a:t>Detecting Group Policy health issues</a:t>
            </a:r>
          </a:p>
        </p:txBody>
      </p:sp>
      <p:sp>
        <p:nvSpPr>
          <p:cNvPr id="4" name="Content Placeholder 2"/>
          <p:cNvSpPr>
            <a:spLocks noGrp="1"/>
          </p:cNvSpPr>
          <p:nvPr/>
        </p:nvSpPr>
        <p:spPr bwMode="auto">
          <a:xfrm>
            <a:off x="1471474" y="696357"/>
            <a:ext cx="7106470" cy="61256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a:t>In Group Policy Management Console: </a:t>
            </a:r>
          </a:p>
          <a:p>
            <a:r>
              <a:rPr lang="en-US" sz="2400" dirty="0"/>
              <a:t>The </a:t>
            </a:r>
            <a:r>
              <a:rPr lang="en-US" sz="2400" b="1" dirty="0"/>
              <a:t>Status</a:t>
            </a:r>
            <a:r>
              <a:rPr lang="en-US" sz="2400" dirty="0"/>
              <a:t> tab displays information that indicates the health of the Group Policy infrastructure:</a:t>
            </a:r>
          </a:p>
          <a:p>
            <a:pPr marL="411480" lvl="1"/>
            <a:r>
              <a:rPr lang="en-US" sz="2000" dirty="0"/>
              <a:t>Domain</a:t>
            </a:r>
          </a:p>
          <a:p>
            <a:pPr marL="411480" lvl="1"/>
            <a:r>
              <a:rPr lang="en-US" sz="2000" dirty="0"/>
              <a:t>GPO</a:t>
            </a:r>
          </a:p>
          <a:p>
            <a:r>
              <a:rPr lang="en-US" sz="2400" dirty="0"/>
              <a:t>Information displayed includes:</a:t>
            </a:r>
          </a:p>
          <a:p>
            <a:pPr marL="365760" lvl="1"/>
            <a:r>
              <a:rPr lang="en-US" sz="2000" dirty="0"/>
              <a:t>Domain controllers</a:t>
            </a:r>
          </a:p>
          <a:p>
            <a:pPr marL="365760" lvl="1"/>
            <a:r>
              <a:rPr lang="en-US" sz="2000" dirty="0"/>
              <a:t>Permissions on the Group Policy container and the Group Policy template</a:t>
            </a:r>
          </a:p>
          <a:p>
            <a:pPr marL="365760" lvl="1"/>
            <a:r>
              <a:rPr lang="en-US" sz="2000" dirty="0"/>
              <a:t>GPO replication</a:t>
            </a:r>
          </a:p>
          <a:p>
            <a:pPr marL="365760" lvl="1"/>
            <a:r>
              <a:rPr lang="en-US" sz="2000" dirty="0"/>
              <a:t>GPO versioning</a:t>
            </a:r>
          </a:p>
          <a:p>
            <a:r>
              <a:rPr lang="en-US" sz="2400" dirty="0"/>
              <a:t>Domain controllers not reachable or inconsistent with the baseline domain controller are added to the </a:t>
            </a:r>
            <a:r>
              <a:rPr lang="en-US" sz="2400" b="1" dirty="0"/>
              <a:t>Domain controller(s) with replication in progress</a:t>
            </a:r>
            <a:r>
              <a:rPr lang="en-US" sz="2400" dirty="0"/>
              <a:t> list</a:t>
            </a:r>
          </a:p>
          <a:p>
            <a:endParaRPr lang="en-US"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7115" y="60245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hlinkClick r:id="" action="ppaction://hlinkshowjump?jump=next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3940" y="60245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994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65"/>
  <p:tag name="ISPRING_RESOURCE_PATHS_HASH_PRESENTER" val="33c2c95be6a1247ed6431316e67b7dcb2b5ede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1">
          <a:schemeClr val="accent2"/>
        </a:lnRef>
        <a:fillRef idx="3">
          <a:schemeClr val="accent2"/>
        </a:fillRef>
        <a:effectRef idx="2">
          <a:schemeClr val="accent2"/>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tx2">
              <a:lumMod val="20000"/>
              <a:lumOff val="80000"/>
            </a:schemeClr>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heme1" id="{0B837463-E660-40A1-B560-2D5F0625EA2A}" vid="{929C359C-1C4D-4A1C-8358-5B8EA3248A3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121</TotalTime>
  <Words>5498</Words>
  <Application>Microsoft Office PowerPoint</Application>
  <PresentationFormat>On-screen Show (4:3)</PresentationFormat>
  <Paragraphs>494</Paragraphs>
  <Slides>38</Slides>
  <Notes>38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38</vt:i4>
      </vt:variant>
    </vt:vector>
  </HeadingPairs>
  <TitlesOfParts>
    <vt:vector size="48" baseType="lpstr">
      <vt:lpstr>Segoe UI</vt:lpstr>
      <vt:lpstr>Euphemia</vt:lpstr>
      <vt:lpstr>Times New Roman</vt:lpstr>
      <vt:lpstr>Verdana</vt:lpstr>
      <vt:lpstr>Symbol</vt:lpstr>
      <vt:lpstr>Calibri</vt:lpstr>
      <vt:lpstr>Wingdings</vt:lpstr>
      <vt:lpstr>Arial</vt:lpstr>
      <vt:lpstr>NG_MOC_Core_ModuleNew2</vt:lpstr>
      <vt:lpstr>Theme1</vt:lpstr>
      <vt:lpstr>Chapter 11 – Configuring Windows Group Policy</vt:lpstr>
      <vt:lpstr>Chapter Overview</vt:lpstr>
      <vt:lpstr>Introducing Group Policy</vt:lpstr>
      <vt:lpstr>What is configuration management?</vt:lpstr>
      <vt:lpstr>Overview of Group Policy tools and consoles</vt:lpstr>
      <vt:lpstr>Benefits of using Group Policy</vt:lpstr>
      <vt:lpstr>Group Policy Objects</vt:lpstr>
      <vt:lpstr>Overview of GPO scope</vt:lpstr>
      <vt:lpstr>Overview of GPO inheritance</vt:lpstr>
      <vt:lpstr>The Group Policy Client service and client-side extensions</vt:lpstr>
      <vt:lpstr>New features in Group Policy in Windows Server 2016</vt:lpstr>
      <vt:lpstr>Implementing and administering GPOs</vt:lpstr>
      <vt:lpstr>What are domain-based GPOs?</vt:lpstr>
      <vt:lpstr>GPO storage</vt:lpstr>
      <vt:lpstr>What are starter GPOs?</vt:lpstr>
      <vt:lpstr>Common GPO management tasks</vt:lpstr>
      <vt:lpstr>Delegating administration of Group Policy</vt:lpstr>
      <vt:lpstr>Group Policy scope and Group Policy processing</vt:lpstr>
      <vt:lpstr>What are GPO links?</vt:lpstr>
      <vt:lpstr>Group Policy processing order</vt:lpstr>
      <vt:lpstr>Configuring GPO inheritance and precedence</vt:lpstr>
      <vt:lpstr>Using security filtering to modify Group Policy scope</vt:lpstr>
      <vt:lpstr>What are WMI filters?</vt:lpstr>
      <vt:lpstr>What are WMI filters?</vt:lpstr>
      <vt:lpstr>How to enable or disable GPOs and GPO nodes</vt:lpstr>
      <vt:lpstr>Loopback policy processing</vt:lpstr>
      <vt:lpstr>Loopback policy processing</vt:lpstr>
      <vt:lpstr>Considerations for slow links and disconnected systems</vt:lpstr>
      <vt:lpstr>Identifying when settings become effective</vt:lpstr>
      <vt:lpstr>Troubleshooting the application of GPOs</vt:lpstr>
      <vt:lpstr>Refreshing GPOs</vt:lpstr>
      <vt:lpstr>What is RSoP?</vt:lpstr>
      <vt:lpstr>What is RSoP?</vt:lpstr>
      <vt:lpstr>Generating RSoP reports</vt:lpstr>
      <vt:lpstr>Generating RSoP reports</vt:lpstr>
      <vt:lpstr>Examining Group Policy event logs</vt:lpstr>
      <vt:lpstr>Detecting Group Policy health issues</vt:lpstr>
      <vt:lpstr>Detecting Group Policy health issues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dc:title>
  <dc:creator>apposite_emp1@outlook.com</dc:creator>
  <cp:lastModifiedBy>HOO BRYAN</cp:lastModifiedBy>
  <cp:revision>28</cp:revision>
  <dcterms:created xsi:type="dcterms:W3CDTF">2016-12-29T08:22:18Z</dcterms:created>
  <dcterms:modified xsi:type="dcterms:W3CDTF">2019-06-24T02:08:45Z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7FBFADD4-B02B-4377-AD08-D63FC3864570</vt:lpwstr>
  </property>
  <property fmtid="{D5CDD505-2E9C-101B-9397-08002B2CF9AE}" pid="3" name="ArticulatePath">
    <vt:lpwstr>20742B_05_Source</vt:lpwstr>
  </property>
</Properties>
</file>