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18"/>
  </p:notesMasterIdLst>
  <p:handoutMasterIdLst>
    <p:handoutMasterId r:id="rId19"/>
  </p:handoutMasterIdLst>
  <p:sldIdLst>
    <p:sldId id="500" r:id="rId3"/>
    <p:sldId id="541" r:id="rId4"/>
    <p:sldId id="828" r:id="rId5"/>
    <p:sldId id="855" r:id="rId6"/>
    <p:sldId id="898" r:id="rId7"/>
    <p:sldId id="858" r:id="rId8"/>
    <p:sldId id="835" r:id="rId9"/>
    <p:sldId id="837" r:id="rId10"/>
    <p:sldId id="896" r:id="rId11"/>
    <p:sldId id="883" r:id="rId12"/>
    <p:sldId id="884" r:id="rId13"/>
    <p:sldId id="900" r:id="rId14"/>
    <p:sldId id="901" r:id="rId15"/>
    <p:sldId id="902" r:id="rId16"/>
    <p:sldId id="836" r:id="rId17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ne Gibbons" initials="JG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4"/>
    <a:srgbClr val="678DC5"/>
    <a:srgbClr val="3E67A4"/>
    <a:srgbClr val="3E8DC5"/>
    <a:srgbClr val="5F5F65"/>
    <a:srgbClr val="7E7E86"/>
    <a:srgbClr val="FFFFFF"/>
    <a:srgbClr val="8E8E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76" autoAdjust="0"/>
    <p:restoredTop sz="88794" autoAdjust="0"/>
  </p:normalViewPr>
  <p:slideViewPr>
    <p:cSldViewPr snapToGrid="0">
      <p:cViewPr varScale="1">
        <p:scale>
          <a:sx n="58" d="100"/>
          <a:sy n="58" d="100"/>
        </p:scale>
        <p:origin x="19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2610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1.xml"/><Relationship Id="rId3" Type="http://schemas.openxmlformats.org/officeDocument/2006/relationships/slide" Target="slides/slide5.xml"/><Relationship Id="rId7" Type="http://schemas.openxmlformats.org/officeDocument/2006/relationships/slide" Target="slides/slide10.xml"/><Relationship Id="rId12" Type="http://schemas.openxmlformats.org/officeDocument/2006/relationships/slide" Target="slides/slide15.xml"/><Relationship Id="rId2" Type="http://schemas.openxmlformats.org/officeDocument/2006/relationships/slide" Target="slides/slide4.xml"/><Relationship Id="rId1" Type="http://schemas.openxmlformats.org/officeDocument/2006/relationships/slide" Target="slides/slide3.xml"/><Relationship Id="rId6" Type="http://schemas.openxmlformats.org/officeDocument/2006/relationships/slide" Target="slides/slide8.xml"/><Relationship Id="rId11" Type="http://schemas.openxmlformats.org/officeDocument/2006/relationships/slide" Target="slides/slide14.xml"/><Relationship Id="rId5" Type="http://schemas.openxmlformats.org/officeDocument/2006/relationships/slide" Target="slides/slide7.xml"/><Relationship Id="rId10" Type="http://schemas.openxmlformats.org/officeDocument/2006/relationships/slide" Target="slides/slide13.xml"/><Relationship Id="rId4" Type="http://schemas.openxmlformats.org/officeDocument/2006/relationships/slide" Target="slides/slide6.xml"/><Relationship Id="rId9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9728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  <a:defRPr/>
            </a:pPr>
            <a:fld id="{DA18195A-CB64-47E2-B402-53696444ACC8}" type="slidenum">
              <a:rPr lang="en-US" sz="800"/>
              <a:pPr algn="r" defTabSz="903288">
                <a:lnSpc>
                  <a:spcPct val="100000"/>
                </a:lnSpc>
                <a:defRPr/>
              </a:pPr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365603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1203" name="Rectangle 9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51204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/>
            </a:lvl1pPr>
          </a:lstStyle>
          <a:p>
            <a:pPr>
              <a:defRPr/>
            </a:pPr>
            <a:fld id="{1C615CF7-9F59-4C8A-B650-E68E69E0FCF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4278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6782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1347AE-0112-4774-B739-631BBB09207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Cisco Networking Academy program</a:t>
            </a:r>
          </a:p>
          <a:p>
            <a:pPr>
              <a:buFontTx/>
              <a:buNone/>
            </a:pPr>
            <a:r>
              <a:rPr lang="en-US" b="1" dirty="0"/>
              <a:t>Routing Protocols</a:t>
            </a:r>
          </a:p>
          <a:p>
            <a:pPr>
              <a:buFontTx/>
              <a:buNone/>
            </a:pPr>
            <a:r>
              <a:rPr lang="en-US" b="1" dirty="0"/>
              <a:t>Chapter 8</a:t>
            </a:r>
            <a:endParaRPr lang="en-GB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3E50C7-A33A-4B96-B5B8-3BD9C10BC48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Chapter 8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8.1.1.1 Evolution of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8.1.1.2 Features of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fr-FR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8.2.1.2 Router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Configuration Mode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8.2.1.3 Router IDs</a:t>
            </a:r>
          </a:p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8.2.1.4 Configuring an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Router ID</a:t>
            </a:r>
          </a:p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8.2.1.5 Modifying a Router ID</a:t>
            </a:r>
          </a:p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8.2.1.6 Using a Loopback Interface as the Router ID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8.1.3.3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DR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and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BDR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8.2.2.1 Enabling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on Interfaces</a:t>
            </a:r>
          </a:p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8.2.2.2 Wildcard Mask</a:t>
            </a:r>
          </a:p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8.2.2.3 The network Command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8.2.2.4 Passive Interface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15CF7-9F59-4C8A-B650-E68E69E0FCFD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305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8.2.4.1 Verify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Neighbors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it-IT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8.2.4.2 Verify OSPF Protocol Settings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it-IT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8.2.4.2 Verify OSPF Protocol Settings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it-IT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8.2.4.2 Verify OSPF Protocol Settings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it-IT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8.2.4.2 Verify OSPF Protocol Settings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fr-FR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8.2.1.2 Router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Configuration Mode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Chapter 1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8549DCE3-6259-4D7A-B1A4-505BEFE2CF19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68B39EAB-15C0-47DB-80CA-636A5D3D8FC3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Chapter 1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934F42D9-89E1-4620-9E58-D735D372F12F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30" r:id="rId1"/>
    <p:sldLayoutId id="2147484509" r:id="rId2"/>
    <p:sldLayoutId id="2147484510" r:id="rId3"/>
    <p:sldLayoutId id="2147484511" r:id="rId4"/>
    <p:sldLayoutId id="2147484512" r:id="rId5"/>
    <p:sldLayoutId id="2147484513" r:id="rId6"/>
    <p:sldLayoutId id="2147484514" r:id="rId7"/>
    <p:sldLayoutId id="2147484515" r:id="rId8"/>
    <p:sldLayoutId id="2147484516" r:id="rId9"/>
    <p:sldLayoutId id="2147484517" r:id="rId10"/>
    <p:sldLayoutId id="2147484518" r:id="rId11"/>
    <p:sldLayoutId id="2147484519" r:id="rId12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2051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2052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9C83DDDE-9DCD-477B-857E-9601FF96A69C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2053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4" name="Rectangle 6312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2055" name="Rectangle 6313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pic>
        <p:nvPicPr>
          <p:cNvPr id="2056" name="Picture 8" descr="Rev08_Cisco_BrandBar10_060408.pn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31" r:id="rId1"/>
    <p:sldLayoutId id="2147484520" r:id="rId2"/>
    <p:sldLayoutId id="2147484521" r:id="rId3"/>
    <p:sldLayoutId id="2147484522" r:id="rId4"/>
    <p:sldLayoutId id="2147484523" r:id="rId5"/>
    <p:sldLayoutId id="2147484524" r:id="rId6"/>
    <p:sldLayoutId id="2147484525" r:id="rId7"/>
    <p:sldLayoutId id="2147484526" r:id="rId8"/>
    <p:sldLayoutId id="2147484527" r:id="rId9"/>
    <p:sldLayoutId id="2147484528" r:id="rId10"/>
    <p:sldLayoutId id="2147484529" r:id="rId11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6113" y="2263775"/>
            <a:ext cx="4513943" cy="1481138"/>
          </a:xfrm>
        </p:spPr>
        <p:txBody>
          <a:bodyPr/>
          <a:lstStyle/>
          <a:p>
            <a:pPr eaLnBrk="1" hangingPunct="1"/>
            <a:r>
              <a:rPr lang="en-US" sz="2800" dirty="0"/>
              <a:t>Chapter 2b: </a:t>
            </a:r>
            <a:br>
              <a:rPr lang="en-US" sz="2800" dirty="0"/>
            </a:br>
            <a:r>
              <a:rPr lang="en-US" sz="2800" dirty="0"/>
              <a:t>Single-Area OSPFv2</a:t>
            </a:r>
            <a:endParaRPr lang="en-US" sz="2800" dirty="0">
              <a:solidFill>
                <a:schemeClr val="folHlink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6CAF1C-2595-4ECB-920A-7DC483D64D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74638" y="493713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ea typeface="ＭＳ Ｐゴシック" pitchFamily="34" charset="-128"/>
              </a:rPr>
              <a:t>Chapter 2b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47713" y="1799772"/>
            <a:ext cx="8131175" cy="4239078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dirty="0">
                <a:cs typeface="Arial" charset="0"/>
              </a:rPr>
              <a:t>8.1 Characteristics of OSPF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b="1" dirty="0">
                <a:cs typeface="Arial" charset="0"/>
              </a:rPr>
              <a:t>8.2 Configuring Single-area OSPFv2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43" y="1767131"/>
            <a:ext cx="7430046" cy="2035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/>
          <p:cNvCxnSpPr>
            <a:endCxn id="4" idx="0"/>
          </p:cNvCxnSpPr>
          <p:nvPr/>
        </p:nvCxnSpPr>
        <p:spPr bwMode="auto">
          <a:xfrm flipH="1">
            <a:off x="2328883" y="3055842"/>
            <a:ext cx="1550392" cy="10806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778492" y="4136498"/>
            <a:ext cx="310078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Invented in 1991, OSPFv2 supports IPv4</a:t>
            </a:r>
          </a:p>
        </p:txBody>
      </p:sp>
      <p:cxnSp>
        <p:nvCxnSpPr>
          <p:cNvPr id="8" name="Straight Arrow Connector 7"/>
          <p:cNvCxnSpPr>
            <a:endCxn id="9" idx="0"/>
          </p:cNvCxnSpPr>
          <p:nvPr/>
        </p:nvCxnSpPr>
        <p:spPr bwMode="auto">
          <a:xfrm>
            <a:off x="4368800" y="3367332"/>
            <a:ext cx="1586675" cy="12308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4417620" y="4598163"/>
            <a:ext cx="307571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In 1999, OSPFv3 was created to support IPv6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493" y="5221073"/>
            <a:ext cx="568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AutoNum type="arabicPeriod"/>
            </a:pPr>
            <a:r>
              <a:rPr lang="en-US" sz="2000" dirty="0">
                <a:solidFill>
                  <a:srgbClr val="FF0000"/>
                </a:solidFill>
              </a:rPr>
              <a:t>OSPF Is a Link-State routing protocol</a:t>
            </a:r>
          </a:p>
          <a:p>
            <a:pPr marL="457200" indent="-457200" algn="l">
              <a:buAutoNum type="arabicPeriod"/>
            </a:pPr>
            <a:r>
              <a:rPr lang="en-US" sz="2000" dirty="0">
                <a:solidFill>
                  <a:srgbClr val="FF0000"/>
                </a:solidFill>
              </a:rPr>
              <a:t>Administrative Distance (AD) is 110</a:t>
            </a:r>
          </a:p>
          <a:p>
            <a:pPr marL="457200" indent="-457200" algn="l">
              <a:buAutoNum type="arabicPeriod"/>
            </a:pPr>
            <a:r>
              <a:rPr lang="en-US" sz="2000" dirty="0">
                <a:solidFill>
                  <a:srgbClr val="FF0000"/>
                </a:solidFill>
              </a:rPr>
              <a:t>Metric is known as “Cost”</a:t>
            </a:r>
          </a:p>
          <a:p>
            <a:pPr marL="457200" indent="-457200" algn="l">
              <a:buAutoNum type="arabicPeriod"/>
            </a:pP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Open Shortest Path First</a:t>
            </a:r>
            <a:br>
              <a:rPr lang="en-US" dirty="0"/>
            </a:br>
            <a:r>
              <a:rPr lang="en-US" dirty="0"/>
              <a:t>Evolution of OSPF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539524" y="1724932"/>
            <a:ext cx="7940675" cy="553811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Interior Gateway Protocols</a:t>
            </a:r>
            <a:r>
              <a:rPr lang="en-CA" dirty="0"/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542314"/>
      </p:ext>
    </p:extLst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1456" y="333579"/>
            <a:ext cx="4202544" cy="3433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126" y="371001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Open Shortest Path First</a:t>
            </a:r>
            <a:br>
              <a:rPr lang="en-US" dirty="0"/>
            </a:br>
            <a:r>
              <a:rPr lang="en-US" dirty="0"/>
              <a:t>Features of OSPF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7503" y="2914832"/>
            <a:ext cx="7940675" cy="357187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SG" sz="2000" b="1" dirty="0"/>
              <a:t>Classless </a:t>
            </a:r>
            <a:r>
              <a:rPr lang="en-SG" sz="2000" dirty="0"/>
              <a:t>- supports VLSM and CIDR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2000" b="1" dirty="0"/>
              <a:t>Efficient </a:t>
            </a:r>
            <a:r>
              <a:rPr lang="en-SG" sz="2000" dirty="0"/>
              <a:t>- triggered updates (not periodic updates). It uses the Shortest Path First (SPF) algorithm to choose best paths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2000" b="1" dirty="0"/>
              <a:t>Fast convergence </a:t>
            </a:r>
            <a:r>
              <a:rPr lang="en-SG" sz="2000" dirty="0"/>
              <a:t>- network changes are propagated quickly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2000" b="1" dirty="0"/>
              <a:t>Scalable </a:t>
            </a:r>
            <a:r>
              <a:rPr lang="en-SG" sz="2000" dirty="0"/>
              <a:t>- works well in small or large networks. For large networks, routers can be grouped into areas to support a hierarchical system (multi-area OSPF) 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2000" b="1" dirty="0"/>
              <a:t>Secure </a:t>
            </a:r>
            <a:r>
              <a:rPr lang="en-SG" sz="2000" dirty="0"/>
              <a:t>- supports Message Digest 5 (MD5) authentication which accepts routing updates from peer routers with the same pre-shared password.</a:t>
            </a:r>
          </a:p>
        </p:txBody>
      </p:sp>
    </p:spTree>
    <p:extLst>
      <p:ext uri="{BB962C8B-B14F-4D97-AF65-F5344CB8AC3E}">
        <p14:creationId xmlns:p14="http://schemas.microsoft.com/office/powerpoint/2010/main" val="1786396496"/>
      </p:ext>
    </p:extLst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 Router ID</a:t>
            </a:r>
            <a:br>
              <a:rPr lang="en-US" sz="1800" dirty="0"/>
            </a:br>
            <a:r>
              <a:rPr lang="en-US" dirty="0"/>
              <a:t>OSPF Network Topology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91"/>
          <a:stretch/>
        </p:blipFill>
        <p:spPr bwMode="auto">
          <a:xfrm>
            <a:off x="343359" y="2938882"/>
            <a:ext cx="6449328" cy="3570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692"/>
          <a:stretch/>
        </p:blipFill>
        <p:spPr bwMode="auto">
          <a:xfrm>
            <a:off x="24752" y="1325059"/>
            <a:ext cx="7028189" cy="478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538846" y="1681857"/>
            <a:ext cx="5403272" cy="136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router 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ospf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[ </a:t>
            </a:r>
            <a:r>
              <a:rPr lang="en-SG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process-id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]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SG" sz="1800" dirty="0">
              <a:latin typeface="+mj-lt"/>
              <a:cs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800" dirty="0">
                <a:latin typeface="+mj-lt"/>
                <a:cs typeface="Courier New" panose="02070309020205020404" pitchFamily="49" charset="0"/>
              </a:rPr>
              <a:t>Using process-id 10 in this example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800" dirty="0">
                <a:latin typeface="+mj-lt"/>
                <a:cs typeface="Courier New" panose="02070309020205020404" pitchFamily="49" charset="0"/>
              </a:rPr>
              <a:t>Note that process-id is of local significance only. It doesn’t have to be the same across all routers.</a:t>
            </a:r>
          </a:p>
        </p:txBody>
      </p:sp>
    </p:spTree>
    <p:extLst>
      <p:ext uri="{BB962C8B-B14F-4D97-AF65-F5344CB8AC3E}">
        <p14:creationId xmlns:p14="http://schemas.microsoft.com/office/powerpoint/2010/main" val="2983622055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 Router ID</a:t>
            </a:r>
            <a:br>
              <a:rPr lang="en-US" dirty="0"/>
            </a:br>
            <a:r>
              <a:rPr lang="en-US" dirty="0"/>
              <a:t>Router IDs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3"/>
          <a:stretch/>
        </p:blipFill>
        <p:spPr bwMode="auto">
          <a:xfrm>
            <a:off x="4536374" y="1091498"/>
            <a:ext cx="4441371" cy="3662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66" b="29881"/>
          <a:stretch/>
        </p:blipFill>
        <p:spPr bwMode="auto">
          <a:xfrm>
            <a:off x="154832" y="4644698"/>
            <a:ext cx="5319694" cy="1248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8834" y="5533900"/>
            <a:ext cx="4848911" cy="113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90945" y="1476158"/>
            <a:ext cx="4572000" cy="13388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SG" sz="1800" dirty="0"/>
              <a:t>Every router in an OSPF domain requires a router ID to: </a:t>
            </a:r>
          </a:p>
          <a:p>
            <a:pPr marL="342900" indent="-342900" algn="just">
              <a:buAutoNum type="arabicPeriod"/>
            </a:pPr>
            <a:r>
              <a:rPr lang="en-SG" sz="1800" u="sng" dirty="0"/>
              <a:t>Uniquely identify the router</a:t>
            </a:r>
          </a:p>
          <a:p>
            <a:pPr marL="342900" indent="-342900" algn="just">
              <a:buAutoNum type="arabicPeriod"/>
            </a:pPr>
            <a:r>
              <a:rPr lang="en-SG" sz="1800" u="sng" dirty="0"/>
              <a:t>Participate in the election of the DR in a multi-access LAN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195" y="3174779"/>
            <a:ext cx="334750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1800" dirty="0"/>
              <a:t>Order of precedence:-</a:t>
            </a:r>
          </a:p>
          <a:p>
            <a:pPr marL="457200" indent="-457200" algn="l">
              <a:buAutoNum type="arabicPeriod"/>
            </a:pPr>
            <a:r>
              <a:rPr lang="en-SG" sz="1800" dirty="0"/>
              <a:t>router-id command</a:t>
            </a:r>
          </a:p>
          <a:p>
            <a:pPr marL="457200" indent="-457200" algn="l">
              <a:buAutoNum type="arabicPeriod"/>
            </a:pPr>
            <a:r>
              <a:rPr lang="en-SG" sz="1800" dirty="0"/>
              <a:t>Highest loopback interface</a:t>
            </a:r>
          </a:p>
          <a:p>
            <a:pPr marL="457200" indent="-457200" algn="l">
              <a:buAutoNum type="arabicPeriod"/>
            </a:pPr>
            <a:r>
              <a:rPr lang="en-SG" sz="1800" dirty="0"/>
              <a:t>Highest active interface IP address</a:t>
            </a:r>
          </a:p>
        </p:txBody>
      </p:sp>
    </p:spTree>
    <p:extLst>
      <p:ext uri="{BB962C8B-B14F-4D97-AF65-F5344CB8AC3E}">
        <p14:creationId xmlns:p14="http://schemas.microsoft.com/office/powerpoint/2010/main" val="2265768974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 Operation</a:t>
            </a:r>
            <a:br>
              <a:rPr lang="en-US" dirty="0"/>
            </a:br>
            <a:r>
              <a:rPr lang="en-US" dirty="0"/>
              <a:t>OSPF DR and BDR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569" y="1465943"/>
            <a:ext cx="4605431" cy="521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71250" y="1589770"/>
            <a:ext cx="427256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SG" sz="2000" dirty="0"/>
              <a:t>Question: </a:t>
            </a:r>
          </a:p>
          <a:p>
            <a:pPr algn="l"/>
            <a:r>
              <a:rPr lang="en-SG" sz="2000" dirty="0"/>
              <a:t>Why is a DR and BDR election necessary?</a:t>
            </a:r>
          </a:p>
          <a:p>
            <a:pPr algn="l"/>
            <a:endParaRPr lang="en-SG" sz="2000" dirty="0"/>
          </a:p>
          <a:p>
            <a:pPr marL="457200" indent="-457200" algn="l">
              <a:buAutoNum type="arabicPeriod"/>
            </a:pPr>
            <a:r>
              <a:rPr lang="en-SG" sz="2000" u="sng" dirty="0"/>
              <a:t>Creation of multiple adjacencies</a:t>
            </a:r>
            <a:r>
              <a:rPr lang="en-SG" sz="2000" dirty="0"/>
              <a:t> is unnecessary and undesirable as it leads to excessive exchange of LSAs.</a:t>
            </a:r>
          </a:p>
          <a:p>
            <a:pPr marL="457200" indent="-457200" algn="l">
              <a:buAutoNum type="arabicPeriod"/>
            </a:pPr>
            <a:endParaRPr lang="en-SG" sz="2000" dirty="0"/>
          </a:p>
          <a:p>
            <a:pPr marL="457200" indent="-457200" algn="l">
              <a:buAutoNum type="arabicPeriod"/>
            </a:pPr>
            <a:r>
              <a:rPr lang="en-SG" sz="2000" u="sng" dirty="0"/>
              <a:t>Excessive flooding of LSAs</a:t>
            </a:r>
            <a:r>
              <a:rPr lang="en-SG" sz="2000" dirty="0"/>
              <a:t> each time there is a change in network topology.</a:t>
            </a:r>
          </a:p>
          <a:p>
            <a:pPr marL="457200" indent="-457200" algn="l">
              <a:buAutoNum type="arabicPeriod"/>
            </a:pPr>
            <a:endParaRPr lang="en-SG" sz="2000" dirty="0"/>
          </a:p>
          <a:p>
            <a:pPr algn="l"/>
            <a:r>
              <a:rPr lang="en-SG" sz="2000" dirty="0"/>
              <a:t>Solution:</a:t>
            </a:r>
          </a:p>
          <a:p>
            <a:pPr algn="l"/>
            <a:r>
              <a:rPr lang="en-SG" sz="2000" dirty="0"/>
              <a:t>Elect a DR and BDR to manage the collection and distribution of LSAs.</a:t>
            </a:r>
          </a:p>
        </p:txBody>
      </p:sp>
    </p:spTree>
    <p:extLst>
      <p:ext uri="{BB962C8B-B14F-4D97-AF65-F5344CB8AC3E}">
        <p14:creationId xmlns:p14="http://schemas.microsoft.com/office/powerpoint/2010/main" val="3221401386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 Configure Single-area OSPFv2</a:t>
            </a:r>
            <a:br>
              <a:rPr lang="en-US" dirty="0"/>
            </a:br>
            <a:r>
              <a:rPr lang="en-US" dirty="0"/>
              <a:t>The network Command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850" y="1633003"/>
            <a:ext cx="6300365" cy="2332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69891" y="4362387"/>
            <a:ext cx="84534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2000" dirty="0"/>
              <a:t>First, identify the router’s directly connected networks.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SG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2000" dirty="0"/>
              <a:t>In the router configuration mode, </a:t>
            </a:r>
            <a:r>
              <a:rPr lang="en-SG" sz="2000" u="sng" dirty="0"/>
              <a:t>advertise</a:t>
            </a:r>
            <a:r>
              <a:rPr lang="en-SG" sz="2000" dirty="0"/>
              <a:t> the network address of the directly connected networks using the “network” command together with the OSPF area number</a:t>
            </a:r>
          </a:p>
        </p:txBody>
      </p:sp>
    </p:spTree>
    <p:extLst>
      <p:ext uri="{BB962C8B-B14F-4D97-AF65-F5344CB8AC3E}">
        <p14:creationId xmlns:p14="http://schemas.microsoft.com/office/powerpoint/2010/main" val="1001952212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636" y="1651688"/>
            <a:ext cx="8336478" cy="3571875"/>
          </a:xfrm>
        </p:spPr>
        <p:txBody>
          <a:bodyPr/>
          <a:lstStyle/>
          <a:p>
            <a:r>
              <a:rPr lang="en-US" sz="1800" dirty="0"/>
              <a:t>By default, OSPF LSAs are forwarded out all OSPF-enabled interfaces, but these LSAs are useful only to other OSPF-enabled routers.</a:t>
            </a:r>
          </a:p>
          <a:p>
            <a:r>
              <a:rPr lang="en-US" sz="1800" dirty="0"/>
              <a:t>Sending out unneeded messages on a LAN (switch and PCs) affects the network in three ways:</a:t>
            </a:r>
          </a:p>
          <a:p>
            <a:pPr marL="681037" lvl="1" indent="-342900">
              <a:buFont typeface="Wingdings" pitchFamily="2" charset="2"/>
              <a:buChar char="§"/>
            </a:pPr>
            <a:r>
              <a:rPr lang="en-US" sz="1800" dirty="0"/>
              <a:t>Inefficient Use of Bandwidth</a:t>
            </a:r>
          </a:p>
          <a:p>
            <a:pPr marL="681037" lvl="1" indent="-342900">
              <a:buFont typeface="Wingdings" pitchFamily="2" charset="2"/>
              <a:buChar char="§"/>
            </a:pPr>
            <a:r>
              <a:rPr lang="en-US" sz="1800" dirty="0"/>
              <a:t>Inefficient Use of Resources</a:t>
            </a:r>
          </a:p>
          <a:p>
            <a:pPr marL="681037" lvl="1" indent="-342900">
              <a:buFont typeface="Wingdings" pitchFamily="2" charset="2"/>
              <a:buChar char="§"/>
            </a:pPr>
            <a:r>
              <a:rPr lang="en-US" sz="1800" dirty="0"/>
              <a:t>Increased Security Risk</a:t>
            </a:r>
          </a:p>
          <a:p>
            <a:endParaRPr lang="pt-BR" sz="1800" dirty="0"/>
          </a:p>
          <a:p>
            <a:endParaRPr lang="pt-BR" sz="180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55638" y="595317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Configure Single-Area OSPFv2</a:t>
            </a:r>
            <a:br>
              <a:rPr lang="en-US" dirty="0"/>
            </a:br>
            <a:r>
              <a:rPr lang="en-US" dirty="0"/>
              <a:t>Passive Interface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48" t="54776" r="42416" b="16279"/>
          <a:stretch/>
        </p:blipFill>
        <p:spPr bwMode="auto">
          <a:xfrm>
            <a:off x="6495800" y="2728356"/>
            <a:ext cx="2232563" cy="2547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62198" y="4181614"/>
            <a:ext cx="4572000" cy="20867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800" dirty="0"/>
              <a:t>Use the Passive Interface feature to limit the scope of routing updates advertisements.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800" dirty="0"/>
              <a:t>Using the example here, from the router config mode, run the command:-</a:t>
            </a:r>
          </a:p>
          <a:p>
            <a:pPr algn="l"/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# router ospf 10</a:t>
            </a:r>
          </a:p>
          <a:p>
            <a:pPr algn="l"/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# passive-interface g0/0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6258296" y="4358244"/>
            <a:ext cx="0" cy="55814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637654" y="5021844"/>
            <a:ext cx="856004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600" dirty="0"/>
              <a:t>To LAN</a:t>
            </a:r>
          </a:p>
        </p:txBody>
      </p:sp>
    </p:spTree>
    <p:extLst>
      <p:ext uri="{BB962C8B-B14F-4D97-AF65-F5344CB8AC3E}">
        <p14:creationId xmlns:p14="http://schemas.microsoft.com/office/powerpoint/2010/main" val="67748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Verify OSPF</a:t>
            </a:r>
            <a:br>
              <a:rPr lang="en-US" sz="1800" dirty="0"/>
            </a:br>
            <a:r>
              <a:rPr lang="en-US" dirty="0"/>
              <a:t>Verify OSPF Operation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300" y="4765160"/>
            <a:ext cx="6110515" cy="1845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23550" y="1537445"/>
            <a:ext cx="82929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Verify OSPF operation using these commands:-</a:t>
            </a:r>
          </a:p>
          <a:p>
            <a:pPr algn="l"/>
            <a:endParaRPr lang="en-US" sz="2000" dirty="0"/>
          </a:p>
          <a:p>
            <a:pPr marL="457200" indent="-457200" algn="l">
              <a:buAutoNum type="arabicPeriod"/>
            </a:pPr>
            <a:r>
              <a:rPr lang="en-US" sz="2000" dirty="0"/>
              <a:t>OSPF </a:t>
            </a:r>
            <a:r>
              <a:rPr lang="en-US" sz="2000" dirty="0" err="1"/>
              <a:t>neighbours</a:t>
            </a:r>
            <a:endParaRPr lang="en-US" sz="2000" dirty="0"/>
          </a:p>
          <a:p>
            <a:pPr marL="457200" indent="-457200" algn="l">
              <a:buAutoNum type="arabicPeriod"/>
            </a:pPr>
            <a:r>
              <a:rPr lang="en-US" sz="2000" dirty="0"/>
              <a:t>OSPF protocol configured</a:t>
            </a:r>
          </a:p>
          <a:p>
            <a:pPr marL="457200" indent="-457200" algn="l">
              <a:buAutoNum type="arabicPeriod"/>
            </a:pPr>
            <a:r>
              <a:rPr lang="en-US" sz="2000" dirty="0"/>
              <a:t>Running configuration</a:t>
            </a:r>
          </a:p>
          <a:p>
            <a:pPr marL="457200" indent="-457200" algn="l">
              <a:buAutoNum type="arabicPeriod"/>
            </a:pPr>
            <a:r>
              <a:rPr lang="en-US" sz="2000" dirty="0"/>
              <a:t>Routing table</a:t>
            </a:r>
          </a:p>
          <a:p>
            <a:pPr marL="457200" indent="-457200" algn="l">
              <a:buAutoNum type="arabicPeriod"/>
            </a:pPr>
            <a:r>
              <a:rPr lang="en-US" sz="2000" dirty="0"/>
              <a:t>OSPF interfaces configured</a:t>
            </a:r>
          </a:p>
        </p:txBody>
      </p:sp>
      <p:sp>
        <p:nvSpPr>
          <p:cNvPr id="2" name="Rectangle 1"/>
          <p:cNvSpPr/>
          <p:nvPr/>
        </p:nvSpPr>
        <p:spPr>
          <a:xfrm>
            <a:off x="423549" y="4122768"/>
            <a:ext cx="8174185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800" u="sng" dirty="0"/>
              <a:t>1. OSPF neighbors:</a:t>
            </a:r>
            <a:r>
              <a:rPr lang="en-US" sz="1800" dirty="0"/>
              <a:t>	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#show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ospf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neighbors</a:t>
            </a:r>
            <a:endParaRPr lang="en-US" sz="1800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Verify that the router has formed an adjacency with its neighboring routers.</a:t>
            </a:r>
          </a:p>
        </p:txBody>
      </p:sp>
    </p:spTree>
    <p:extLst>
      <p:ext uri="{BB962C8B-B14F-4D97-AF65-F5344CB8AC3E}">
        <p14:creationId xmlns:p14="http://schemas.microsoft.com/office/powerpoint/2010/main" val="2612333853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Verify OSPF</a:t>
            </a:r>
            <a:br>
              <a:rPr lang="en-US" sz="1800" dirty="0"/>
            </a:br>
            <a:r>
              <a:rPr lang="en-US" dirty="0"/>
              <a:t>Verify OSPF Operation (cont’d)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2" t="9676"/>
          <a:stretch/>
        </p:blipFill>
        <p:spPr bwMode="auto">
          <a:xfrm>
            <a:off x="3859482" y="2243630"/>
            <a:ext cx="4999736" cy="428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81044" y="1403400"/>
            <a:ext cx="8174185" cy="4579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800" u="sng" dirty="0"/>
              <a:t>2. OSPF protocol configured</a:t>
            </a:r>
            <a:r>
              <a:rPr lang="en-US" sz="1800" dirty="0"/>
              <a:t>	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#show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protocols</a:t>
            </a:r>
            <a:endParaRPr lang="en-US" sz="1800" u="sng" dirty="0"/>
          </a:p>
          <a:p>
            <a:pPr algn="l"/>
            <a:endParaRPr lang="en-US" sz="1800" dirty="0"/>
          </a:p>
          <a:p>
            <a:pPr algn="l"/>
            <a:endParaRPr lang="en-US" sz="1800" dirty="0"/>
          </a:p>
          <a:p>
            <a:pPr algn="l"/>
            <a:endParaRPr lang="en-US" sz="1800" dirty="0"/>
          </a:p>
          <a:p>
            <a:pPr algn="l"/>
            <a:endParaRPr lang="en-US" sz="1800" dirty="0"/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Process ID</a:t>
            </a:r>
          </a:p>
          <a:p>
            <a:pPr algn="l"/>
            <a:endParaRPr lang="en-US" sz="1800" dirty="0"/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Router ID</a:t>
            </a:r>
          </a:p>
          <a:p>
            <a:pPr algn="l"/>
            <a:endParaRPr lang="en-US" sz="1800" dirty="0"/>
          </a:p>
          <a:p>
            <a:pPr algn="l"/>
            <a:endParaRPr lang="en-US" sz="1800" dirty="0"/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Networks advertised</a:t>
            </a:r>
          </a:p>
          <a:p>
            <a:pPr algn="l"/>
            <a:endParaRPr lang="en-US" sz="1800" dirty="0"/>
          </a:p>
          <a:p>
            <a:pPr algn="l"/>
            <a:endParaRPr lang="en-US" sz="1800" dirty="0"/>
          </a:p>
          <a:p>
            <a:pPr algn="l"/>
            <a:r>
              <a:rPr lang="en-US" sz="1800" dirty="0" err="1"/>
              <a:t>Neighbour</a:t>
            </a:r>
            <a:r>
              <a:rPr lang="en-US" sz="1800" dirty="0"/>
              <a:t> routers</a:t>
            </a:r>
          </a:p>
          <a:p>
            <a:pPr algn="l"/>
            <a:r>
              <a:rPr lang="en-US" sz="1800" dirty="0"/>
              <a:t>AD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>
            <a:off x="1686296" y="3028208"/>
            <a:ext cx="1959429" cy="237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>
            <a:off x="1686295" y="3798125"/>
            <a:ext cx="1959429" cy="237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>
            <a:off x="2563091" y="4807528"/>
            <a:ext cx="1082633" cy="237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>
            <a:off x="2257796" y="5496296"/>
            <a:ext cx="1387929" cy="237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914400" y="5803075"/>
            <a:ext cx="2731325" cy="237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4093810883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Verify OSPF</a:t>
            </a:r>
            <a:br>
              <a:rPr lang="en-US" sz="1800" dirty="0"/>
            </a:br>
            <a:r>
              <a:rPr lang="en-US" dirty="0"/>
              <a:t>Verify OSPF Operation (cont’d)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1044" y="1403400"/>
            <a:ext cx="817418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800" u="sng" dirty="0"/>
              <a:t>3. Running </a:t>
            </a:r>
            <a:r>
              <a:rPr lang="en-US" sz="1800" u="sng" dirty="0" err="1"/>
              <a:t>config</a:t>
            </a:r>
            <a:r>
              <a:rPr lang="en-US" sz="1800" u="sng" dirty="0"/>
              <a:t> file</a:t>
            </a:r>
            <a:r>
              <a:rPr lang="en-US" sz="1800" dirty="0"/>
              <a:t>	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#show run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Check that the configuration is correct.</a:t>
            </a:r>
          </a:p>
          <a:p>
            <a:pPr algn="l"/>
            <a:endParaRPr lang="en-US" sz="1800" dirty="0"/>
          </a:p>
          <a:p>
            <a:pPr algn="l"/>
            <a:endParaRPr lang="en-US" sz="1800" dirty="0"/>
          </a:p>
        </p:txBody>
      </p:sp>
      <p:sp>
        <p:nvSpPr>
          <p:cNvPr id="2" name="Rectangle 1"/>
          <p:cNvSpPr/>
          <p:nvPr/>
        </p:nvSpPr>
        <p:spPr>
          <a:xfrm>
            <a:off x="3372592" y="2302897"/>
            <a:ext cx="5314208" cy="28346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show run</a:t>
            </a:r>
          </a:p>
          <a:p>
            <a:pPr algn="l"/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&lt;-- output omitted --&gt;</a:t>
            </a:r>
          </a:p>
          <a:p>
            <a:pPr algn="l"/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 algn="l"/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router </a:t>
            </a:r>
            <a:r>
              <a:rPr lang="en-SG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ospf</a:t>
            </a:r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1</a:t>
            </a:r>
          </a:p>
          <a:p>
            <a:pPr algn="l"/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router-id 1.1.1.1</a:t>
            </a:r>
          </a:p>
          <a:p>
            <a:pPr algn="l"/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log-adjacency-changes</a:t>
            </a:r>
          </a:p>
          <a:p>
            <a:pPr algn="l"/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passive-interface GigabitEthernet0/0</a:t>
            </a:r>
          </a:p>
          <a:p>
            <a:pPr algn="l"/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network 172.16.1.0 0.0.0.255 area 0</a:t>
            </a:r>
          </a:p>
          <a:p>
            <a:pPr algn="l"/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network 172.16.3.0 0.0.0.3 area 0</a:t>
            </a:r>
          </a:p>
          <a:p>
            <a:pPr algn="l"/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network 192.168.10.4 0.0.0.3 area 0</a:t>
            </a:r>
          </a:p>
          <a:p>
            <a:pPr algn="l"/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893914304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Verify OSPF</a:t>
            </a:r>
            <a:br>
              <a:rPr lang="en-US" sz="1800" dirty="0"/>
            </a:br>
            <a:r>
              <a:rPr lang="en-US" dirty="0"/>
              <a:t>Verify OSPF Operation (cont’d)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1044" y="1403400"/>
            <a:ext cx="817418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800" u="sng" dirty="0"/>
              <a:t>4. Routing Table</a:t>
            </a:r>
            <a:r>
              <a:rPr lang="en-US" sz="1800" dirty="0"/>
              <a:t>	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#show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ospf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Check that the number of remote routes learned is correct.</a:t>
            </a:r>
          </a:p>
          <a:p>
            <a:pPr algn="l"/>
            <a:endParaRPr lang="en-US" sz="1800" dirty="0"/>
          </a:p>
          <a:p>
            <a:pPr algn="l"/>
            <a:endParaRPr lang="en-US" sz="1800" dirty="0"/>
          </a:p>
        </p:txBody>
      </p:sp>
      <p:sp>
        <p:nvSpPr>
          <p:cNvPr id="2" name="Rectangle 1"/>
          <p:cNvSpPr/>
          <p:nvPr/>
        </p:nvSpPr>
        <p:spPr>
          <a:xfrm>
            <a:off x="843149" y="2599780"/>
            <a:ext cx="8027720" cy="184281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R1#show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ospf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172.16.0.0/16 is variably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subnetted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5 subnets, 3 masks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      172.16.2.0/24 [110/65] via 172.16.3.2, 00:06:22, Serial0/0/0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   192.168.1.0/24 [110/65] via 192.168.10.6, 00:03:08, Serial0/0/1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192.168.10.0/24 is variably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subnetted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3 subnets, 2 masks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      192.168.10.8/30 [110/128] via 172.16.3.2, 00:03:08, Serial0/0/0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[110/128] via 192.168.10.6, 00:03:08, Serial0/0/1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4136564403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Verify OSPF</a:t>
            </a:r>
            <a:br>
              <a:rPr lang="en-US" sz="1800" dirty="0"/>
            </a:br>
            <a:r>
              <a:rPr lang="en-US" dirty="0"/>
              <a:t>Verify OSPF Operation (cont’d)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1044" y="1403400"/>
            <a:ext cx="848294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800" u="sng" dirty="0"/>
              <a:t>5. OSPF interfaces configured</a:t>
            </a:r>
            <a:r>
              <a:rPr lang="en-US" sz="1800" dirty="0"/>
              <a:t>	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#show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ospf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interface { </a:t>
            </a:r>
            <a:r>
              <a:rPr lang="en-US" sz="1800" b="1" i="1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-ID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More info about the OSPF interfaces like cost, IP address, timers etc.</a:t>
            </a:r>
          </a:p>
          <a:p>
            <a:pPr algn="l"/>
            <a:endParaRPr lang="en-US" sz="1800" dirty="0"/>
          </a:p>
          <a:p>
            <a:pPr algn="l"/>
            <a:endParaRPr lang="en-US" sz="1800" dirty="0"/>
          </a:p>
        </p:txBody>
      </p:sp>
      <p:sp>
        <p:nvSpPr>
          <p:cNvPr id="2" name="Rectangle 1"/>
          <p:cNvSpPr/>
          <p:nvPr/>
        </p:nvSpPr>
        <p:spPr>
          <a:xfrm>
            <a:off x="843149" y="2599780"/>
            <a:ext cx="8027720" cy="39703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R1#show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ospf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interface g0/0</a:t>
            </a:r>
          </a:p>
          <a:p>
            <a:pPr algn="l"/>
            <a:b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GigabitEthernet0/0 is up, line protocol is up</a:t>
            </a:r>
          </a:p>
          <a:p>
            <a:pPr algn="l"/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Internet address is 172.16.1.1/24, Area 0</a:t>
            </a:r>
          </a:p>
          <a:p>
            <a:pPr algn="l"/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Process ID 1, Router ID 1.1.1.1, Network Type BROADCAST, Cost: 1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Transmit Delay is 1 sec, State WAITING, Priority 1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No designated router on this network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No backup designated router on this network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Timer intervals configured, </a:t>
            </a:r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Hello 10, Dead 40,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Wait 40, Retransmit 5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No Hellos (Passive interface)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Index 1/1, flood queue length 0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Next 0x0(0)/0x0(0)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Last flood scan length is 1, maximum is 1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Last flood scan time is 0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msec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maximum is 0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msec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Neighbor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Count is 0, Adjacent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neighbor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count is 0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Suppress hello for 0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neighbor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(s)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Serial0/0/0 is up, line protocol is up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Internet address is 172.16.3.1/30, Area 0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Process ID 1, Router ID 1.1.1.1, Network Type POINT-TO-POINT, Cost: 64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Transmit Delay is 1 sec, State POINT-TO-POINT, Priority 0</a:t>
            </a:r>
          </a:p>
        </p:txBody>
      </p:sp>
    </p:spTree>
    <p:extLst>
      <p:ext uri="{BB962C8B-B14F-4D97-AF65-F5344CB8AC3E}">
        <p14:creationId xmlns:p14="http://schemas.microsoft.com/office/powerpoint/2010/main" val="2573337257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 Router ID</a:t>
            </a:r>
            <a:br>
              <a:rPr lang="en-US" sz="1800" dirty="0"/>
            </a:br>
            <a:r>
              <a:rPr lang="en-US" dirty="0"/>
              <a:t>OSPF Network Topology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48" t="31749" r="19351" b="16279"/>
          <a:stretch/>
        </p:blipFill>
        <p:spPr bwMode="auto">
          <a:xfrm>
            <a:off x="2505692" y="1975575"/>
            <a:ext cx="6008916" cy="457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1797" y="1524313"/>
            <a:ext cx="6175088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Lets use this network topology as example:-</a:t>
            </a:r>
          </a:p>
        </p:txBody>
      </p:sp>
    </p:spTree>
    <p:extLst>
      <p:ext uri="{BB962C8B-B14F-4D97-AF65-F5344CB8AC3E}">
        <p14:creationId xmlns:p14="http://schemas.microsoft.com/office/powerpoint/2010/main" val="528547545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17806</TotalTime>
  <Pages>28</Pages>
  <Words>704</Words>
  <Application>Microsoft Office PowerPoint</Application>
  <PresentationFormat>On-screen Show (4:3)</PresentationFormat>
  <Paragraphs>176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MS PGothic</vt:lpstr>
      <vt:lpstr>Arial</vt:lpstr>
      <vt:lpstr>Courier New</vt:lpstr>
      <vt:lpstr>Wingdings</vt:lpstr>
      <vt:lpstr>PPT-TMPLT-WHT_C</vt:lpstr>
      <vt:lpstr>NetAcad-4F_PPT-WHT_060408</vt:lpstr>
      <vt:lpstr>Chapter 2b:  Single-Area OSPFv2</vt:lpstr>
      <vt:lpstr>Chapter 2b</vt:lpstr>
      <vt:lpstr>Open Shortest Path First Evolution of OSPF</vt:lpstr>
      <vt:lpstr>Open Shortest Path First Features of OSPF</vt:lpstr>
      <vt:lpstr>OSPF Router ID OSPF Network Topology</vt:lpstr>
      <vt:lpstr>OSPF Router ID Router IDs</vt:lpstr>
      <vt:lpstr>OSPF Operation OSPF DR and BDR</vt:lpstr>
      <vt:lpstr> Configure Single-area OSPFv2 The network Command</vt:lpstr>
      <vt:lpstr>Configure Single-Area OSPFv2 Passive Interface</vt:lpstr>
      <vt:lpstr>Verify OSPF Verify OSPF Operation</vt:lpstr>
      <vt:lpstr>Verify OSPF Verify OSPF Operation (cont’d)</vt:lpstr>
      <vt:lpstr>Verify OSPF Verify OSPF Operation (cont’d)</vt:lpstr>
      <vt:lpstr>Verify OSPF Verify OSPF Operation (cont’d)</vt:lpstr>
      <vt:lpstr>Verify OSPF Verify OSPF Operation (cont’d)</vt:lpstr>
      <vt:lpstr>OSPF Router ID OSPF Network Topology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CCNA5.0 Instructor PPT</dc:title>
  <dc:creator>Karen Alderson</dc:creator>
  <cp:lastModifiedBy>HOO BRYAN</cp:lastModifiedBy>
  <cp:revision>1076</cp:revision>
  <cp:lastPrinted>1999-01-27T00:54:54Z</cp:lastPrinted>
  <dcterms:created xsi:type="dcterms:W3CDTF">2006-10-23T15:07:30Z</dcterms:created>
  <dcterms:modified xsi:type="dcterms:W3CDTF">2018-10-12T08:01:15Z</dcterms:modified>
</cp:coreProperties>
</file>