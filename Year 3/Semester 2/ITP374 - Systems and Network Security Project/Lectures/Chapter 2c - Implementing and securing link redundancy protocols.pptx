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2"/>
  </p:notesMasterIdLst>
  <p:sldIdLst>
    <p:sldId id="833" r:id="rId2"/>
    <p:sldId id="628" r:id="rId3"/>
    <p:sldId id="830" r:id="rId4"/>
    <p:sldId id="786" r:id="rId5"/>
    <p:sldId id="787" r:id="rId6"/>
    <p:sldId id="788" r:id="rId7"/>
    <p:sldId id="790" r:id="rId8"/>
    <p:sldId id="791" r:id="rId9"/>
    <p:sldId id="792" r:id="rId10"/>
    <p:sldId id="784" r:id="rId11"/>
    <p:sldId id="793" r:id="rId12"/>
    <p:sldId id="794" r:id="rId13"/>
    <p:sldId id="795" r:id="rId14"/>
    <p:sldId id="796" r:id="rId15"/>
    <p:sldId id="798" r:id="rId16"/>
    <p:sldId id="799" r:id="rId17"/>
    <p:sldId id="800" r:id="rId18"/>
    <p:sldId id="801" r:id="rId19"/>
    <p:sldId id="802" r:id="rId20"/>
    <p:sldId id="803" r:id="rId21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/>
  </p:cmAuthor>
  <p:cmAuthor id="2" name="Bob Vachon" initials="BV" lastIdx="24" clrIdx="2">
    <p:extLst/>
  </p:cmAuthor>
  <p:cmAuthor id="3" name="Microsoft Office User" initials="Office" lastIdx="0" clrIdx="3">
    <p:extLst/>
  </p:cmAuthor>
  <p:cmAuthor id="4" name="Milton Camille" initials="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6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43" autoAdjust="0"/>
    <p:restoredTop sz="81000" autoAdjust="0"/>
  </p:normalViewPr>
  <p:slideViewPr>
    <p:cSldViewPr snapToGrid="0" showGuides="1">
      <p:cViewPr varScale="1">
        <p:scale>
          <a:sx n="79" d="100"/>
          <a:sy n="79" d="100"/>
        </p:scale>
        <p:origin x="1326" y="90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3/19/2018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4.1 – Link</a:t>
            </a:r>
            <a:r>
              <a:rPr lang="en-US" sz="1200" b="0" baseline="0" dirty="0" smtClean="0"/>
              <a:t> Aggregation Concepts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4.1.1 – Link Aggregation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4.1.1.1</a:t>
            </a:r>
            <a:r>
              <a:rPr lang="en-US" baseline="0" dirty="0" smtClean="0">
                <a:latin typeface="Arial" charset="0"/>
              </a:rPr>
              <a:t> – Introduction to Link Aggregation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4.1 – Link</a:t>
            </a:r>
            <a:r>
              <a:rPr lang="en-US" sz="1200" b="0" baseline="0" dirty="0" smtClean="0"/>
              <a:t> Aggregation Concepts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4.1.1 – Link Aggregation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4.1.1.2</a:t>
            </a:r>
            <a:r>
              <a:rPr lang="en-US" baseline="0" dirty="0" smtClean="0">
                <a:latin typeface="Arial" charset="0"/>
              </a:rPr>
              <a:t> – Advantages of EtherChannel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81402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4.1 – Link</a:t>
            </a:r>
            <a:r>
              <a:rPr lang="en-US" sz="1200" b="0" baseline="0" dirty="0" smtClean="0"/>
              <a:t> Aggregation Concepts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4.1.2 – </a:t>
            </a:r>
            <a:r>
              <a:rPr lang="en-US" dirty="0" err="1" smtClean="0">
                <a:latin typeface="Arial" charset="0"/>
              </a:rPr>
              <a:t>EtherChannel</a:t>
            </a:r>
            <a:r>
              <a:rPr lang="en-US" baseline="0" dirty="0" smtClean="0">
                <a:latin typeface="Arial" charset="0"/>
              </a:rPr>
              <a:t> Operation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4.1.2.1</a:t>
            </a:r>
            <a:r>
              <a:rPr lang="en-US" baseline="0" dirty="0" smtClean="0">
                <a:latin typeface="Arial" charset="0"/>
              </a:rPr>
              <a:t> – Implementation Restrictions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23543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5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4.1 – Link</a:t>
            </a:r>
            <a:r>
              <a:rPr lang="en-US" sz="1200" b="0" baseline="0" dirty="0" smtClean="0"/>
              <a:t> Aggregation Concepts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4.1.2 – </a:t>
            </a:r>
            <a:r>
              <a:rPr lang="en-US" dirty="0" err="1" smtClean="0">
                <a:latin typeface="Arial" charset="0"/>
              </a:rPr>
              <a:t>EtherChannel</a:t>
            </a:r>
            <a:r>
              <a:rPr lang="en-US" baseline="0" dirty="0" smtClean="0">
                <a:latin typeface="Arial" charset="0"/>
              </a:rPr>
              <a:t> Operation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4.1.2.2</a:t>
            </a:r>
            <a:r>
              <a:rPr lang="en-US" baseline="0" dirty="0" smtClean="0">
                <a:latin typeface="Arial" charset="0"/>
              </a:rPr>
              <a:t> – Port Aggregation Protocol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40217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6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4.1 – Link</a:t>
            </a:r>
            <a:r>
              <a:rPr lang="en-US" sz="1200" b="0" baseline="0" dirty="0" smtClean="0"/>
              <a:t> Aggregation Concepts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4.1.2 – </a:t>
            </a:r>
            <a:r>
              <a:rPr lang="en-US" dirty="0" err="1" smtClean="0">
                <a:latin typeface="Arial" charset="0"/>
              </a:rPr>
              <a:t>EtherChannel</a:t>
            </a:r>
            <a:r>
              <a:rPr lang="en-US" baseline="0" dirty="0" smtClean="0">
                <a:latin typeface="Arial" charset="0"/>
              </a:rPr>
              <a:t> Operation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4.1.2.3</a:t>
            </a:r>
            <a:r>
              <a:rPr lang="en-US" baseline="0" dirty="0" smtClean="0">
                <a:latin typeface="Arial" charset="0"/>
              </a:rPr>
              <a:t> – Link Aggregation Control Protocol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852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7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 – Configuring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4.2.1.1</a:t>
            </a:r>
            <a:r>
              <a:rPr lang="en-US" baseline="0" dirty="0" smtClean="0">
                <a:latin typeface="Arial" charset="0"/>
              </a:rPr>
              <a:t> – Configuration Guidelines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50449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8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 – Configuring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4.2.1.1</a:t>
            </a:r>
            <a:r>
              <a:rPr lang="en-US" baseline="0" dirty="0" smtClean="0">
                <a:latin typeface="Arial" charset="0"/>
              </a:rPr>
              <a:t> – Configuration Guidelines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7082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9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 – Configuring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4.2.1.2</a:t>
            </a:r>
            <a:r>
              <a:rPr lang="en-US" baseline="0" dirty="0" smtClean="0">
                <a:latin typeface="Arial" charset="0"/>
              </a:rPr>
              <a:t> – Configuring Interfaces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88687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 – Configuring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4.2.1.3</a:t>
            </a:r>
            <a:r>
              <a:rPr lang="en-US" baseline="0" dirty="0" smtClean="0">
                <a:latin typeface="Arial" charset="0"/>
              </a:rPr>
              <a:t> – Configuring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760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 – Configuring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4.2.1.4</a:t>
            </a:r>
            <a:r>
              <a:rPr lang="en-US" baseline="0" dirty="0" smtClean="0">
                <a:latin typeface="Arial" charset="0"/>
              </a:rPr>
              <a:t> – Configuring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6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12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 – Verifying and</a:t>
            </a:r>
            <a:r>
              <a:rPr lang="en-US" baseline="0" dirty="0" smtClean="0">
                <a:latin typeface="Arial" charset="0"/>
              </a:rPr>
              <a:t>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4.2.2.1</a:t>
            </a:r>
            <a:r>
              <a:rPr lang="en-US" baseline="0" dirty="0" smtClean="0">
                <a:latin typeface="Arial" charset="0"/>
              </a:rPr>
              <a:t> – Verifying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09677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13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 – Verifying and</a:t>
            </a:r>
            <a:r>
              <a:rPr lang="en-US" baseline="0" dirty="0" smtClean="0">
                <a:latin typeface="Arial" charset="0"/>
              </a:rPr>
              <a:t>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4.2.2.1</a:t>
            </a:r>
            <a:r>
              <a:rPr lang="en-US" baseline="0" dirty="0" smtClean="0">
                <a:latin typeface="Arial" charset="0"/>
              </a:rPr>
              <a:t> – Verifying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58026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14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 – Verifying and</a:t>
            </a:r>
            <a:r>
              <a:rPr lang="en-US" baseline="0" dirty="0" smtClean="0">
                <a:latin typeface="Arial" charset="0"/>
              </a:rPr>
              <a:t>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4.2.2.1</a:t>
            </a:r>
            <a:r>
              <a:rPr lang="en-US" baseline="0" dirty="0" smtClean="0">
                <a:latin typeface="Arial" charset="0"/>
              </a:rPr>
              <a:t> – Verifying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41549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15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 – Verifying and</a:t>
            </a:r>
            <a:r>
              <a:rPr lang="en-US" baseline="0" dirty="0" smtClean="0">
                <a:latin typeface="Arial" charset="0"/>
              </a:rPr>
              <a:t>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4.2.2.2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smtClean="0">
                <a:latin typeface="Arial" charset="0"/>
              </a:rPr>
              <a:t>–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97907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16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 – Verifying and</a:t>
            </a:r>
            <a:r>
              <a:rPr lang="en-US" baseline="0" dirty="0" smtClean="0">
                <a:latin typeface="Arial" charset="0"/>
              </a:rPr>
              <a:t>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4.2.2.2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smtClean="0">
                <a:latin typeface="Arial" charset="0"/>
              </a:rPr>
              <a:t>–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58912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17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 – Verifying and</a:t>
            </a:r>
            <a:r>
              <a:rPr lang="en-US" baseline="0" dirty="0" smtClean="0">
                <a:latin typeface="Arial" charset="0"/>
              </a:rPr>
              <a:t>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4.2.2.2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smtClean="0">
                <a:latin typeface="Arial" charset="0"/>
              </a:rPr>
              <a:t>–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43752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18</a:t>
            </a:fld>
            <a:endParaRPr lang="en-US" altLang="en-US" sz="800" dirty="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 – Verifying and</a:t>
            </a:r>
            <a:r>
              <a:rPr lang="en-US" baseline="0" dirty="0" smtClean="0">
                <a:latin typeface="Arial" charset="0"/>
              </a:rPr>
              <a:t>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4.2.2.2</a:t>
            </a:r>
            <a:r>
              <a:rPr lang="en-US" baseline="0" dirty="0" smtClean="0">
                <a:latin typeface="Arial" charset="0"/>
              </a:rPr>
              <a:t> –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10980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 – Verifying and</a:t>
            </a:r>
            <a:r>
              <a:rPr lang="en-US" baseline="0" dirty="0" smtClean="0">
                <a:latin typeface="Arial" charset="0"/>
              </a:rPr>
              <a:t>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4.2.2.3</a:t>
            </a:r>
            <a:r>
              <a:rPr lang="en-US" baseline="0" dirty="0" smtClean="0">
                <a:latin typeface="Arial" charset="0"/>
              </a:rPr>
              <a:t> – Packet Tracer -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96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4.2 – Link</a:t>
            </a:r>
            <a:r>
              <a:rPr lang="en-US" sz="1200" b="0" baseline="0" dirty="0" smtClean="0"/>
              <a:t> Aggregation Configuration</a:t>
            </a:r>
            <a:endParaRPr lang="en-GB" b="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 – Verifying and</a:t>
            </a:r>
            <a:r>
              <a:rPr lang="en-US" baseline="0" dirty="0" smtClean="0">
                <a:latin typeface="Arial" charset="0"/>
              </a:rPr>
              <a:t>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4.2.2.4</a:t>
            </a:r>
            <a:r>
              <a:rPr lang="en-US" baseline="0" dirty="0" smtClean="0">
                <a:latin typeface="Arial" charset="0"/>
              </a:rPr>
              <a:t> – Lab- Troubleshooting </a:t>
            </a:r>
            <a:r>
              <a:rPr lang="en-US" baseline="0" dirty="0" err="1" smtClean="0">
                <a:latin typeface="Arial" charset="0"/>
              </a:rPr>
              <a:t>EtherChannel</a:t>
            </a: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 smtClean="0">
              <a:latin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433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</a:t>
            </a:r>
            <a:r>
              <a:rPr lang="en-US" sz="600" dirty="0" smtClean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2016  </a:t>
            </a: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 smtClean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 smtClean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 smtClean="0">
                <a:sym typeface="Arial" pitchFamily="34" charset="0"/>
              </a:rPr>
              <a:t>Third level</a:t>
            </a:r>
          </a:p>
          <a:p>
            <a:pPr lvl="3"/>
            <a:r>
              <a:rPr lang="en-US" dirty="0" smtClean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 smtClean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</a:t>
            </a:r>
            <a:r>
              <a:rPr lang="en-US" sz="600" dirty="0" smtClean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2016  </a:t>
            </a: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iming>
    <p:tnLst>
      <p:par>
        <p:cTn id="1" dur="indefinite" restart="never" nodeType="tmRoot"/>
      </p:par>
    </p:tnLst>
  </p:timing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04545" y="1443473"/>
            <a:ext cx="7095743" cy="2031247"/>
          </a:xfrm>
        </p:spPr>
        <p:txBody>
          <a:bodyPr/>
          <a:lstStyle/>
          <a:p>
            <a:r>
              <a:rPr lang="en-SG" sz="2800" dirty="0" smtClean="0">
                <a:solidFill>
                  <a:schemeClr val="accent1">
                    <a:lumMod val="50000"/>
                  </a:schemeClr>
                </a:solidFill>
              </a:rPr>
              <a:t>Chapter 2 – </a:t>
            </a:r>
            <a:r>
              <a:rPr lang="en-SG" sz="2800" dirty="0">
                <a:solidFill>
                  <a:schemeClr val="accent1">
                    <a:lumMod val="50000"/>
                  </a:schemeClr>
                </a:solidFill>
              </a:rPr>
              <a:t>Implementing and securing link </a:t>
            </a:r>
            <a:r>
              <a:rPr lang="en-SG" sz="2800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SG" sz="2800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SG" sz="2800" dirty="0" smtClean="0">
                <a:solidFill>
                  <a:schemeClr val="accent1">
                    <a:lumMod val="50000"/>
                  </a:schemeClr>
                </a:solidFill>
              </a:rPr>
              <a:t>redundancy </a:t>
            </a:r>
            <a:r>
              <a:rPr lang="en-SG" sz="2800" dirty="0">
                <a:solidFill>
                  <a:schemeClr val="accent1">
                    <a:lumMod val="50000"/>
                  </a:schemeClr>
                </a:solidFill>
              </a:rPr>
              <a:t>protocols </a:t>
            </a:r>
            <a:endParaRPr lang="en-SG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7583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It is possible to combine the number of physical links between switches to increase the overall speed of switch-to-switch communication.</a:t>
            </a:r>
          </a:p>
          <a:p>
            <a:pPr lvl="1"/>
            <a:r>
              <a:rPr lang="en-US" altLang="ja-JP" dirty="0" smtClean="0"/>
              <a:t>STP will block redundant links to prevent routing loops.                                                     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Link Aggregation</a:t>
            </a:r>
            <a:br>
              <a:rPr lang="en-US" altLang="en-US" sz="1600" dirty="0" smtClean="0"/>
            </a:br>
            <a:r>
              <a:rPr lang="en-US" altLang="en-US" dirty="0" smtClean="0"/>
              <a:t>Introduction to Link Aggregation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019" y="1690017"/>
            <a:ext cx="4397095" cy="2702381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585018" y="4392398"/>
            <a:ext cx="439709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Redundant Links with </a:t>
            </a: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STP (by default blocked)</a:t>
            </a:r>
            <a:endParaRPr lang="en-US" sz="14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</p:spTree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Link Aggregation</a:t>
            </a:r>
            <a:br>
              <a:rPr lang="en-US" altLang="en-US" sz="1600" dirty="0" smtClean="0"/>
            </a:br>
            <a:r>
              <a:rPr lang="en-US" altLang="en-US" dirty="0" smtClean="0"/>
              <a:t>Advantages of EtherChannel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559" y="1358323"/>
            <a:ext cx="4602847" cy="2890525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4065" y="798944"/>
            <a:ext cx="4050430" cy="4155319"/>
          </a:xfrm>
        </p:spPr>
        <p:txBody>
          <a:bodyPr/>
          <a:lstStyle/>
          <a:p>
            <a:r>
              <a:rPr lang="en-US" dirty="0"/>
              <a:t>Most configuration tasks can be done on the EtherChannel interface instead of on each individual </a:t>
            </a:r>
            <a:r>
              <a:rPr lang="en-US" dirty="0" smtClean="0"/>
              <a:t>port.</a:t>
            </a:r>
          </a:p>
          <a:p>
            <a:r>
              <a:rPr lang="en-US" dirty="0"/>
              <a:t>EtherChannel relies on existing switch </a:t>
            </a:r>
            <a:r>
              <a:rPr lang="en-US" dirty="0" smtClean="0"/>
              <a:t>ports.</a:t>
            </a:r>
          </a:p>
          <a:p>
            <a:r>
              <a:rPr lang="en-US" dirty="0"/>
              <a:t>Load balancing takes place between links that are part of the same </a:t>
            </a:r>
            <a:r>
              <a:rPr lang="en-US" dirty="0" smtClean="0"/>
              <a:t>EtherChannel.</a:t>
            </a:r>
          </a:p>
          <a:p>
            <a:r>
              <a:rPr lang="en-US" dirty="0"/>
              <a:t>EtherChannel creates an aggregation that is seen as one logical link</a:t>
            </a:r>
            <a:r>
              <a:rPr lang="en-US" dirty="0" smtClean="0"/>
              <a:t>.</a:t>
            </a:r>
          </a:p>
          <a:p>
            <a:r>
              <a:rPr lang="en-US" dirty="0"/>
              <a:t>EtherChannel provides redundancy because the overall link is seen as one logical connection. </a:t>
            </a:r>
          </a:p>
        </p:txBody>
      </p:sp>
    </p:spTree>
    <p:extLst>
      <p:ext uri="{BB962C8B-B14F-4D97-AF65-F5344CB8AC3E}">
        <p14:creationId xmlns:p14="http://schemas.microsoft.com/office/powerpoint/2010/main" val="22833206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EtherChannel</a:t>
            </a:r>
            <a:r>
              <a:rPr lang="en-US" altLang="ja-JP" dirty="0" smtClean="0"/>
              <a:t> groups multiple physical ports into one or more logical </a:t>
            </a:r>
            <a:r>
              <a:rPr lang="en-US" altLang="ja-JP" dirty="0" err="1" smtClean="0"/>
              <a:t>EtherChannel</a:t>
            </a:r>
            <a:r>
              <a:rPr lang="en-US" altLang="ja-JP" dirty="0" smtClean="0"/>
              <a:t> links.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> Operation</a:t>
            </a:r>
            <a:br>
              <a:rPr lang="en-US" altLang="en-US" sz="1600" dirty="0" smtClean="0"/>
            </a:br>
            <a:r>
              <a:rPr lang="en-US" altLang="en-US" dirty="0" smtClean="0"/>
              <a:t>Implementation Restrictions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460" y="1718757"/>
            <a:ext cx="4063662" cy="28400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065" y="1135709"/>
            <a:ext cx="4387475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sz="15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Restrictions</a:t>
            </a: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altLang="ja-JP" sz="1400" b="1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Interface types cannot be </a:t>
            </a:r>
            <a:r>
              <a:rPr lang="en-US" altLang="ja-JP" sz="1400" b="1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mixed</a:t>
            </a:r>
            <a:r>
              <a:rPr lang="en-US" altLang="ja-JP" sz="1400" b="1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.</a:t>
            </a:r>
            <a:r>
              <a:rPr lang="en-US" altLang="ja-JP" sz="1400" b="1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</a:t>
            </a:r>
            <a:r>
              <a:rPr lang="en-US" altLang="ja-JP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(Fast Ethernet + Gigabit Ethernet cannot be </a:t>
            </a:r>
            <a:r>
              <a:rPr lang="en-US" altLang="ja-JP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grouped.)</a:t>
            </a:r>
            <a:endParaRPr lang="en-US" sz="14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Provides full-duplex bandwidth up to 800 Mbps (Fast </a:t>
            </a:r>
            <a:r>
              <a:rPr lang="en-US" sz="14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) or 8 </a:t>
            </a:r>
            <a:r>
              <a:rPr lang="en-US" sz="14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Gb</a:t>
            </a:r>
            <a:r>
              <a:rPr lang="en-US" sz="1400" dirty="0" err="1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p</a:t>
            </a:r>
            <a:r>
              <a:rPr lang="en-US" sz="14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s</a:t>
            </a: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(Gigabit </a:t>
            </a:r>
            <a:r>
              <a:rPr lang="en-US" sz="14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)</a:t>
            </a: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Cisco IOS Switch can support 6 </a:t>
            </a:r>
            <a:r>
              <a:rPr lang="en-US" sz="14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EtherChannels</a:t>
            </a: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.</a:t>
            </a: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Created between two switches or a server and switch.</a:t>
            </a: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If one side is configured as trunk, the other side must be a trunk within same native VLAN.</a:t>
            </a: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Each </a:t>
            </a:r>
            <a:r>
              <a:rPr lang="en-US" sz="14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has a logical port channel </a:t>
            </a:r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interface and changes to a channel affects its physical interfaces.</a:t>
            </a:r>
            <a:endParaRPr lang="en-US" sz="14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</p:spTree>
    <p:extLst>
      <p:ext uri="{BB962C8B-B14F-4D97-AF65-F5344CB8AC3E}">
        <p14:creationId xmlns:p14="http://schemas.microsoft.com/office/powerpoint/2010/main" val="9898454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517" y="1532016"/>
            <a:ext cx="5352881" cy="151868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518" y="2667938"/>
            <a:ext cx="5421663" cy="2095533"/>
          </a:xfrm>
          <a:prstGeom prst="rect">
            <a:avLst/>
          </a:prstGeom>
        </p:spPr>
      </p:pic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673806"/>
          </a:xfrm>
        </p:spPr>
        <p:txBody>
          <a:bodyPr/>
          <a:lstStyle/>
          <a:p>
            <a:r>
              <a:rPr lang="en-US" altLang="ja-JP" dirty="0" err="1" smtClean="0"/>
              <a:t>EtherChannels</a:t>
            </a:r>
            <a:r>
              <a:rPr lang="en-US" altLang="ja-JP" dirty="0" smtClean="0"/>
              <a:t> can be formed by using </a:t>
            </a:r>
            <a:r>
              <a:rPr lang="en-US" altLang="ja-JP" dirty="0" err="1" smtClean="0"/>
              <a:t>PAgP</a:t>
            </a:r>
            <a:r>
              <a:rPr lang="en-US" altLang="ja-JP" dirty="0" smtClean="0"/>
              <a:t> or LACP protocol</a:t>
            </a:r>
          </a:p>
          <a:p>
            <a:r>
              <a:rPr lang="en-US" dirty="0" err="1"/>
              <a:t>PAgP</a:t>
            </a:r>
            <a:r>
              <a:rPr lang="en-US" dirty="0"/>
              <a:t> (“</a:t>
            </a:r>
            <a:r>
              <a:rPr lang="en-US" dirty="0" err="1"/>
              <a:t>Pag</a:t>
            </a:r>
            <a:r>
              <a:rPr lang="en-US" dirty="0"/>
              <a:t>-P</a:t>
            </a:r>
            <a:r>
              <a:rPr lang="en-US" dirty="0" smtClean="0"/>
              <a:t>”) </a:t>
            </a:r>
            <a:r>
              <a:rPr lang="en-US" altLang="ja-JP" dirty="0" smtClean="0"/>
              <a:t>Cisco-proprietary protocol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> Operation</a:t>
            </a:r>
            <a:br>
              <a:rPr lang="en-US" altLang="en-US" sz="1600" dirty="0" smtClean="0"/>
            </a:br>
            <a:r>
              <a:rPr lang="en-US" altLang="en-US" dirty="0" smtClean="0"/>
              <a:t>Port Aggregation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0350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673806"/>
          </a:xfrm>
        </p:spPr>
        <p:txBody>
          <a:bodyPr/>
          <a:lstStyle/>
          <a:p>
            <a:r>
              <a:rPr lang="en-US" altLang="ja-JP" dirty="0" smtClean="0"/>
              <a:t>LACP multivendor environment 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> Operation</a:t>
            </a:r>
            <a:br>
              <a:rPr lang="en-US" altLang="en-US" sz="1600" dirty="0" smtClean="0"/>
            </a:br>
            <a:r>
              <a:rPr lang="en-US" altLang="en-US" dirty="0" smtClean="0"/>
              <a:t>Link Aggregation Control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996" y="1268999"/>
            <a:ext cx="5385149" cy="14756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996" y="2313974"/>
            <a:ext cx="5385150" cy="211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838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673806"/>
          </a:xfrm>
        </p:spPr>
        <p:txBody>
          <a:bodyPr/>
          <a:lstStyle/>
          <a:p>
            <a:r>
              <a:rPr lang="en-US" altLang="ja-JP" dirty="0" smtClean="0"/>
              <a:t>Configuration Settings Match on Both Switches</a:t>
            </a:r>
          </a:p>
          <a:p>
            <a:pPr lvl="1"/>
            <a:r>
              <a:rPr lang="en-US" altLang="ja-JP" dirty="0" smtClean="0"/>
              <a:t>Same speed and duplex mode.</a:t>
            </a:r>
          </a:p>
          <a:p>
            <a:pPr lvl="1"/>
            <a:r>
              <a:rPr lang="en-US" altLang="ja-JP" dirty="0" smtClean="0"/>
              <a:t>All interfaces in a bundle must be assigned to the same VLAN, or configured as a trunk.</a:t>
            </a:r>
          </a:p>
          <a:p>
            <a:pPr lvl="1"/>
            <a:r>
              <a:rPr lang="en-US" altLang="ja-JP" dirty="0" smtClean="0"/>
              <a:t>Trunk must support same range of VLANs.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Configuration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756" y="2043928"/>
            <a:ext cx="4943053" cy="25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8821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673806"/>
          </a:xfrm>
        </p:spPr>
        <p:txBody>
          <a:bodyPr/>
          <a:lstStyle/>
          <a:p>
            <a:r>
              <a:rPr lang="en-US" altLang="ja-JP" dirty="0" smtClean="0"/>
              <a:t>If Configuration Settings Do Not Match</a:t>
            </a:r>
          </a:p>
          <a:p>
            <a:r>
              <a:rPr lang="en-US" altLang="ja-JP" dirty="0" err="1" smtClean="0"/>
              <a:t>EtherChannel</a:t>
            </a:r>
            <a:r>
              <a:rPr lang="en-US" altLang="ja-JP" dirty="0" smtClean="0"/>
              <a:t> not formed between S1 and S2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Configuration Guidelines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038" y="1617040"/>
            <a:ext cx="4411339" cy="237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65037" y="3990273"/>
            <a:ext cx="42491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rgbClr val="FF0000"/>
                </a:solidFill>
                <a:latin typeface="+mn-lt"/>
                <a:ea typeface="ＭＳ Ｐゴシック" charset="0"/>
                <a:cs typeface="CiscoSans"/>
              </a:rPr>
              <a:t>Note: When changing settings, configure them in port channel interface configuration mode. The configuration applied to the port channel interface also affects the individual interfaces. </a:t>
            </a:r>
          </a:p>
        </p:txBody>
      </p:sp>
    </p:spTree>
    <p:extLst>
      <p:ext uri="{BB962C8B-B14F-4D97-AF65-F5344CB8AC3E}">
        <p14:creationId xmlns:p14="http://schemas.microsoft.com/office/powerpoint/2010/main" val="13590630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673806"/>
          </a:xfrm>
        </p:spPr>
        <p:txBody>
          <a:bodyPr/>
          <a:lstStyle/>
          <a:p>
            <a:r>
              <a:rPr lang="en-US" altLang="ja-JP" dirty="0" smtClean="0"/>
              <a:t>This configuration creates </a:t>
            </a:r>
            <a:r>
              <a:rPr lang="en-US" altLang="ja-JP" dirty="0" err="1" smtClean="0"/>
              <a:t>EtherChannel</a:t>
            </a:r>
            <a:r>
              <a:rPr lang="en-US" altLang="ja-JP" dirty="0" smtClean="0"/>
              <a:t> with LACP and configures </a:t>
            </a:r>
            <a:r>
              <a:rPr lang="en-US" altLang="ja-JP" dirty="0" err="1" smtClean="0"/>
              <a:t>trunking</a:t>
            </a:r>
            <a:r>
              <a:rPr lang="en-US" altLang="ja-JP" dirty="0" smtClean="0"/>
              <a:t>.</a:t>
            </a:r>
          </a:p>
          <a:p>
            <a:pPr lvl="1"/>
            <a:r>
              <a:rPr lang="en-US" altLang="ja-JP" dirty="0" smtClean="0"/>
              <a:t>Step 1: Specify the interfaces that compose the </a:t>
            </a:r>
            <a:r>
              <a:rPr lang="en-US" altLang="ja-JP" dirty="0" err="1" smtClean="0"/>
              <a:t>EtherChannel</a:t>
            </a:r>
            <a:r>
              <a:rPr lang="en-US" altLang="ja-JP" dirty="0" smtClean="0"/>
              <a:t> group.</a:t>
            </a:r>
          </a:p>
          <a:p>
            <a:pPr lvl="1"/>
            <a:r>
              <a:rPr lang="en-US" altLang="ja-JP" dirty="0" smtClean="0"/>
              <a:t>Step 2: Create the port channel interface with the </a:t>
            </a:r>
            <a:r>
              <a:rPr lang="en-US" altLang="ja-JP" b="1" dirty="0" smtClean="0"/>
              <a:t>channel-group </a:t>
            </a:r>
            <a:r>
              <a:rPr lang="en-US" altLang="ja-JP" dirty="0" smtClean="0"/>
              <a:t>command in </a:t>
            </a:r>
            <a:r>
              <a:rPr lang="en-US" altLang="ja-JP" b="1" dirty="0" smtClean="0"/>
              <a:t>active</a:t>
            </a:r>
            <a:r>
              <a:rPr lang="en-US" altLang="ja-JP" dirty="0" smtClean="0"/>
              <a:t> mode. (Channel group number needs to be selected.)</a:t>
            </a:r>
          </a:p>
          <a:p>
            <a:pPr lvl="1"/>
            <a:r>
              <a:rPr lang="en-US" altLang="ja-JP" dirty="0" smtClean="0"/>
              <a:t>Step 3: Change Layer 2 settings in port channel interface configuration mode.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Configuring 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66698"/>
          <a:stretch/>
        </p:blipFill>
        <p:spPr>
          <a:xfrm>
            <a:off x="1343278" y="2326949"/>
            <a:ext cx="6738243" cy="13964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004" y="3792579"/>
            <a:ext cx="4353908" cy="78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91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334" y="124332"/>
            <a:ext cx="9144000" cy="757551"/>
          </a:xfrm>
        </p:spPr>
        <p:txBody>
          <a:bodyPr/>
          <a:lstStyle/>
          <a:p>
            <a:r>
              <a:rPr lang="en-US" sz="1600" dirty="0" smtClean="0"/>
              <a:t>Configuring </a:t>
            </a:r>
            <a:r>
              <a:rPr lang="en-US" sz="1600" dirty="0" err="1" smtClean="0"/>
              <a:t>EtherChannel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dirty="0" smtClean="0"/>
              <a:t>Packet </a:t>
            </a:r>
            <a:r>
              <a:rPr lang="en-US" dirty="0"/>
              <a:t>Tracer </a:t>
            </a:r>
            <a:r>
              <a:rPr lang="en-US" dirty="0" smtClean="0"/>
              <a:t>– Configuring </a:t>
            </a:r>
            <a:r>
              <a:rPr lang="en-US" dirty="0" err="1" smtClean="0"/>
              <a:t>EtherChannel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3461" b="3244"/>
          <a:stretch/>
        </p:blipFill>
        <p:spPr>
          <a:xfrm>
            <a:off x="2225764" y="1205714"/>
            <a:ext cx="4449350" cy="3398656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272533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334" y="124332"/>
            <a:ext cx="9144000" cy="757551"/>
          </a:xfrm>
        </p:spPr>
        <p:txBody>
          <a:bodyPr/>
          <a:lstStyle/>
          <a:p>
            <a:r>
              <a:rPr lang="en-US" sz="1600" dirty="0" smtClean="0"/>
              <a:t>Configuring </a:t>
            </a:r>
            <a:r>
              <a:rPr lang="en-US" sz="1600" dirty="0" err="1" smtClean="0"/>
              <a:t>EtherChannel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dirty="0" smtClean="0"/>
              <a:t>Lab – Configuring </a:t>
            </a:r>
            <a:r>
              <a:rPr lang="en-US" dirty="0" err="1" smtClean="0"/>
              <a:t>EtherChannel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761" y="881883"/>
            <a:ext cx="3939471" cy="392969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548159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Verifying and Troubleshooting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Verifying </a:t>
            </a:r>
            <a:r>
              <a:rPr lang="en-US" altLang="en-US" dirty="0" err="1" smtClean="0"/>
              <a:t>EtherChannel</a:t>
            </a:r>
            <a:endParaRPr lang="en-US" alt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773" y="483987"/>
            <a:ext cx="4353908" cy="7850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92" y="1453665"/>
            <a:ext cx="5413571" cy="1230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31463" y="1900161"/>
            <a:ext cx="2236155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Verifies the interface status.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b="20079"/>
          <a:stretch/>
        </p:blipFill>
        <p:spPr>
          <a:xfrm>
            <a:off x="1213834" y="2761610"/>
            <a:ext cx="4143093" cy="19560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3605" y="3462634"/>
            <a:ext cx="2236155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Displays a one-line summary per channel group.</a:t>
            </a:r>
          </a:p>
          <a:p>
            <a:pPr algn="ctr"/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SU indicates in use.</a:t>
            </a:r>
            <a:endParaRPr lang="en-US" sz="12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</p:spTree>
    <p:extLst>
      <p:ext uri="{BB962C8B-B14F-4D97-AF65-F5344CB8AC3E}">
        <p14:creationId xmlns:p14="http://schemas.microsoft.com/office/powerpoint/2010/main" val="5653464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Verifying and Troubleshooting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Verifying </a:t>
            </a:r>
            <a:r>
              <a:rPr lang="en-US" altLang="en-US" dirty="0" err="1" smtClean="0"/>
              <a:t>EtherChannel</a:t>
            </a:r>
            <a:r>
              <a:rPr lang="en-US" altLang="en-US" dirty="0" smtClean="0"/>
              <a:t>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969" y="295209"/>
            <a:ext cx="3835418" cy="691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9287" y="1685665"/>
            <a:ext cx="223615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Displays port channel information.</a:t>
            </a:r>
            <a:endParaRPr lang="en-US" sz="12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54" y="1084333"/>
            <a:ext cx="5445940" cy="26735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645"/>
          <a:stretch/>
        </p:blipFill>
        <p:spPr>
          <a:xfrm>
            <a:off x="453154" y="3611617"/>
            <a:ext cx="5445940" cy="133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05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Verifying and Troubleshooting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Verifying </a:t>
            </a:r>
            <a:r>
              <a:rPr lang="en-US" altLang="en-US" dirty="0" err="1" smtClean="0"/>
              <a:t>EtherChannel</a:t>
            </a:r>
            <a:r>
              <a:rPr lang="en-US" altLang="en-US" dirty="0" smtClean="0"/>
              <a:t>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969" y="295209"/>
            <a:ext cx="3835418" cy="691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3237" y="1704715"/>
            <a:ext cx="223615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Displays role of particular interface in an </a:t>
            </a:r>
            <a:r>
              <a:rPr lang="en-US" sz="12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.</a:t>
            </a:r>
            <a:endParaRPr lang="en-US" sz="12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1018" t="955" r="399"/>
          <a:stretch/>
        </p:blipFill>
        <p:spPr>
          <a:xfrm>
            <a:off x="209551" y="1086813"/>
            <a:ext cx="5518150" cy="327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452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Verifying and Troubleshooting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Troubleshooting </a:t>
            </a:r>
            <a:r>
              <a:rPr lang="en-US" altLang="en-US" dirty="0" err="1" smtClean="0"/>
              <a:t>EtherChannel</a:t>
            </a:r>
            <a:endParaRPr lang="en-US" alt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969" y="295209"/>
            <a:ext cx="3835418" cy="6915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3700" y="1240553"/>
            <a:ext cx="7867650" cy="1746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All interfaces within </a:t>
            </a:r>
            <a:r>
              <a:rPr lang="en-US" altLang="en-US" sz="1500" dirty="0" err="1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alt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must have the same:</a:t>
            </a: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speed</a:t>
            </a: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duplex mode</a:t>
            </a: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native and allowed VLANs on trunk </a:t>
            </a:r>
            <a:r>
              <a:rPr lang="en-US" alt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(Ports </a:t>
            </a:r>
            <a:r>
              <a:rPr lang="en-US" alt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with different native VLANs cannot form an </a:t>
            </a:r>
            <a:r>
              <a:rPr lang="en-US" altLang="en-US" sz="14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alt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.)</a:t>
            </a:r>
            <a:endParaRPr lang="en-US" altLang="en-US" sz="14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90000"/>
              <a:buFont typeface="Arial" charset="0"/>
              <a:buChar char="•"/>
            </a:pPr>
            <a:r>
              <a:rPr lang="en-US" alt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assigned to same VLAN </a:t>
            </a:r>
            <a:endParaRPr lang="en-US" altLang="en-US" sz="14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</p:spTree>
    <p:extLst>
      <p:ext uri="{BB962C8B-B14F-4D97-AF65-F5344CB8AC3E}">
        <p14:creationId xmlns:p14="http://schemas.microsoft.com/office/powerpoint/2010/main" val="1052404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Verifying and Troubleshooting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Troubleshooting </a:t>
            </a:r>
            <a:r>
              <a:rPr lang="en-US" altLang="en-US" dirty="0" err="1" smtClean="0"/>
              <a:t>EtherChannel</a:t>
            </a:r>
            <a:r>
              <a:rPr lang="en-US" altLang="en-US" dirty="0" smtClean="0"/>
              <a:t>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70" y="277923"/>
            <a:ext cx="3122487" cy="5629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3237" y="1704715"/>
            <a:ext cx="223615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Output indicates that the </a:t>
            </a:r>
            <a:r>
              <a:rPr lang="en-US" sz="12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is down (</a:t>
            </a:r>
            <a:r>
              <a:rPr lang="en-US" sz="1200" dirty="0" smtClean="0">
                <a:solidFill>
                  <a:srgbClr val="FF8E26"/>
                </a:solidFill>
                <a:latin typeface="+mn-lt"/>
                <a:ea typeface="ＭＳ Ｐゴシック" charset="0"/>
                <a:cs typeface="CiscoSans"/>
              </a:rPr>
              <a:t>SD</a:t>
            </a:r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).</a:t>
            </a:r>
            <a:endParaRPr lang="en-US" sz="12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833" r="1049"/>
          <a:stretch/>
        </p:blipFill>
        <p:spPr>
          <a:xfrm>
            <a:off x="110915" y="1013457"/>
            <a:ext cx="5781886" cy="288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131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Verifying and Troubleshooting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Troubleshooting </a:t>
            </a:r>
            <a:r>
              <a:rPr lang="en-US" altLang="en-US" dirty="0" err="1" smtClean="0"/>
              <a:t>EtherChannel</a:t>
            </a:r>
            <a:r>
              <a:rPr lang="en-US" altLang="en-US" dirty="0" smtClean="0"/>
              <a:t>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70" y="277923"/>
            <a:ext cx="3122487" cy="5629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69037" y="1847256"/>
            <a:ext cx="223615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Incompatible </a:t>
            </a:r>
            <a:r>
              <a:rPr lang="en-US" sz="12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PAgP</a:t>
            </a:r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modes configured on S1 and S2.</a:t>
            </a:r>
            <a:endParaRPr lang="en-US" sz="12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62" y="990600"/>
            <a:ext cx="4465437" cy="30595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704" y="2644957"/>
            <a:ext cx="3355946" cy="70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250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Verifying and Troubleshooting </a:t>
            </a:r>
            <a:r>
              <a:rPr lang="en-US" altLang="en-US" sz="1600" dirty="0" err="1" smtClean="0"/>
              <a:t>EtherChannel</a:t>
            </a: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dirty="0" smtClean="0"/>
              <a:t>Troubleshooting </a:t>
            </a:r>
            <a:r>
              <a:rPr lang="en-US" altLang="en-US" dirty="0" err="1" smtClean="0"/>
              <a:t>EtherChannel</a:t>
            </a:r>
            <a:r>
              <a:rPr lang="en-US" altLang="en-US" dirty="0" smtClean="0"/>
              <a:t>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419" y="1084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70" y="277923"/>
            <a:ext cx="3122487" cy="5629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35601" y="1899019"/>
            <a:ext cx="244104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PAgP</a:t>
            </a:r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mode on the </a:t>
            </a:r>
            <a:r>
              <a:rPr lang="en-US" sz="12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sz="12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is changed to desirable and the </a:t>
            </a:r>
            <a:r>
              <a:rPr lang="en-US" sz="1200" dirty="0" err="1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EtherChannel</a:t>
            </a:r>
            <a:r>
              <a:rPr lang="en-US" sz="12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becomes active.</a:t>
            </a:r>
            <a:endParaRPr lang="en-US" sz="12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704" y="2644957"/>
            <a:ext cx="3355946" cy="70064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87" y="1084333"/>
            <a:ext cx="4730609" cy="328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8855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334" y="124332"/>
            <a:ext cx="9144000" cy="757551"/>
          </a:xfrm>
        </p:spPr>
        <p:txBody>
          <a:bodyPr/>
          <a:lstStyle/>
          <a:p>
            <a:r>
              <a:rPr lang="en-US" sz="1600" dirty="0" smtClean="0"/>
              <a:t>Verifying and Troubleshooting </a:t>
            </a:r>
            <a:r>
              <a:rPr lang="en-US" sz="1600" dirty="0" err="1" smtClean="0"/>
              <a:t>EtherChannel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dirty="0" smtClean="0"/>
              <a:t>Packet </a:t>
            </a:r>
            <a:r>
              <a:rPr lang="en-US" dirty="0"/>
              <a:t>Tracer </a:t>
            </a:r>
            <a:r>
              <a:rPr lang="en-US" dirty="0" smtClean="0"/>
              <a:t>– Troubleshooting </a:t>
            </a:r>
            <a:r>
              <a:rPr lang="en-US" dirty="0" err="1" smtClean="0"/>
              <a:t>EtherChannel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21" y="881883"/>
            <a:ext cx="5148101" cy="392175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734982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334" y="124332"/>
            <a:ext cx="9144000" cy="757551"/>
          </a:xfrm>
        </p:spPr>
        <p:txBody>
          <a:bodyPr/>
          <a:lstStyle/>
          <a:p>
            <a:r>
              <a:rPr lang="en-US" sz="1600" dirty="0" smtClean="0"/>
              <a:t>Verifying and Troubleshooting </a:t>
            </a:r>
            <a:r>
              <a:rPr lang="en-US" sz="1600" dirty="0" err="1" smtClean="0"/>
              <a:t>EtherChannel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dirty="0" smtClean="0"/>
              <a:t>Lab – Troubleshooting </a:t>
            </a:r>
            <a:r>
              <a:rPr lang="en-US" dirty="0" err="1" smtClean="0"/>
              <a:t>EtherChannel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808" y="946150"/>
            <a:ext cx="4038096" cy="40132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386717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22970</TotalTime>
  <Words>826</Words>
  <Application>Microsoft Office PowerPoint</Application>
  <PresentationFormat>On-screen Show (16:9)</PresentationFormat>
  <Paragraphs>141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CiscoSans</vt:lpstr>
      <vt:lpstr>CiscoSans ExtraLight</vt:lpstr>
      <vt:lpstr>CiscoSans Thin</vt:lpstr>
      <vt:lpstr>ＭＳ Ｐゴシック</vt:lpstr>
      <vt:lpstr>Arial</vt:lpstr>
      <vt:lpstr>Calibri</vt:lpstr>
      <vt:lpstr>Wingdings</vt:lpstr>
      <vt:lpstr>Default Theme</vt:lpstr>
      <vt:lpstr>Chapter 2 – Implementing and securing link  redundancy protocols </vt:lpstr>
      <vt:lpstr>Link Aggregation Introduction to Link Aggregation</vt:lpstr>
      <vt:lpstr>Link Aggregation Advantages of EtherChannel</vt:lpstr>
      <vt:lpstr>EtherChannel Operation Implementation Restrictions</vt:lpstr>
      <vt:lpstr>EtherChannel Operation Port Aggregation Protocol</vt:lpstr>
      <vt:lpstr>EtherChannel Operation Link Aggregation Control Protocol</vt:lpstr>
      <vt:lpstr>Configuring EtherChannel Configuration Guidelines</vt:lpstr>
      <vt:lpstr>Configuring EtherChannel Configuration Guidelines (Cont.)</vt:lpstr>
      <vt:lpstr>Configuring EtherChannel Configuring Interfaces</vt:lpstr>
      <vt:lpstr>Configuring EtherChannel Packet Tracer – Configuring EtherChannel</vt:lpstr>
      <vt:lpstr>Configuring EtherChannel Lab – Configuring EtherChannel</vt:lpstr>
      <vt:lpstr>Verifying and Troubleshooting EtherChannel Verifying EtherChannel</vt:lpstr>
      <vt:lpstr>Verifying and Troubleshooting EtherChannel Verifying EtherChannel (Cont.)</vt:lpstr>
      <vt:lpstr>Verifying and Troubleshooting EtherChannel Verifying EtherChannel (Cont.)</vt:lpstr>
      <vt:lpstr>Verifying and Troubleshooting EtherChannel Troubleshooting EtherChannel</vt:lpstr>
      <vt:lpstr>Verifying and Troubleshooting EtherChannel Troubleshooting EtherChannel (Cont.)</vt:lpstr>
      <vt:lpstr>Verifying and Troubleshooting EtherChannel Troubleshooting EtherChannel (Cont.)</vt:lpstr>
      <vt:lpstr>Verifying and Troubleshooting EtherChannel Troubleshooting EtherChannel (Cont.)</vt:lpstr>
      <vt:lpstr>Verifying and Troubleshooting EtherChannel Packet Tracer – Troubleshooting EtherChannel</vt:lpstr>
      <vt:lpstr>Verifying and Troubleshooting EtherChannel Lab – Troubleshooting EtherChannel</vt:lpstr>
    </vt:vector>
  </TitlesOfParts>
  <Company>Cisco Systems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TEO CHEA WAN</cp:lastModifiedBy>
  <cp:revision>336</cp:revision>
  <dcterms:created xsi:type="dcterms:W3CDTF">2016-08-22T22:27:36Z</dcterms:created>
  <dcterms:modified xsi:type="dcterms:W3CDTF">2018-03-19T03:38:41Z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</Properties>
</file>