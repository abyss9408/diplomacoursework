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notesMasterIdLst>
    <p:notesMasterId r:id="rId26"/>
  </p:notesMasterIdLst>
  <p:sldIdLst>
    <p:sldId id="256" r:id="rId2"/>
    <p:sldId id="258" r:id="rId3"/>
    <p:sldId id="259" r:id="rId4"/>
    <p:sldId id="264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8" r:id="rId18"/>
    <p:sldId id="293" r:id="rId19"/>
    <p:sldId id="294" r:id="rId20"/>
    <p:sldId id="295" r:id="rId21"/>
    <p:sldId id="296" r:id="rId22"/>
    <p:sldId id="297" r:id="rId23"/>
    <p:sldId id="298" r:id="rId24"/>
    <p:sldId id="292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21B0EC-BAE4-477E-9761-7551A21CB0D9}" type="datetimeFigureOut">
              <a:rPr lang="en-SG" smtClean="0"/>
              <a:t>4/4/2018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6602F9-58C7-4F90-969E-1900B9A72B7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71720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60420" name="Header Placeholder 3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MIS 324 -- Professor Sandvig</a:t>
            </a:r>
          </a:p>
        </p:txBody>
      </p:sp>
      <p:sp>
        <p:nvSpPr>
          <p:cNvPr id="60421" name="Date Placeholder 4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712FE7F-C646-4D74-8AD7-7E499A78DFD1}" type="datetime1">
              <a:rPr lang="en-US" altLang="en-US" smtClean="0"/>
              <a:pPr/>
              <a:t>4/4/2018</a:t>
            </a:fld>
            <a:endParaRPr lang="en-US" altLang="en-US" smtClean="0"/>
          </a:p>
        </p:txBody>
      </p:sp>
      <p:sp>
        <p:nvSpPr>
          <p:cNvPr id="60422" name="Slide Number Placeholder 5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4BB06CC-5EB3-42E5-B7DC-E9C95D570D1B}" type="slidenum">
              <a:rPr lang="en-US" altLang="en-US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883631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MIS 324 -- Professor Sandvig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6BA84CC-71C2-4819-94CE-395B4A84E7AA}" type="datetime1">
              <a:rPr lang="en-US" altLang="en-US" smtClean="0"/>
              <a:pPr/>
              <a:t>4/4/2018</a:t>
            </a:fld>
            <a:endParaRPr lang="en-US" altLang="en-US" smtClean="0"/>
          </a:p>
        </p:txBody>
      </p:sp>
      <p:sp>
        <p:nvSpPr>
          <p:cNvPr id="614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A872DC0-7CE2-4AD7-816A-9AA0EDFE3BF2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614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60919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MIS 324 -- Professor Sandvig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64BBCE0-5C24-4BAA-8D84-FF0046DA60A5}" type="datetime1">
              <a:rPr lang="en-US" altLang="en-US" smtClean="0"/>
              <a:pPr/>
              <a:t>4/4/2018</a:t>
            </a:fld>
            <a:endParaRPr lang="en-US" altLang="en-US" smtClean="0"/>
          </a:p>
        </p:txBody>
      </p:sp>
      <p:sp>
        <p:nvSpPr>
          <p:cNvPr id="6656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ECA8E72-4552-4BC9-B9F1-62A6BE17BA4D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665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57391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MIS 324 -- Professor Sandvig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AEAB6EC-E825-4F54-803D-564DF3A7E9E8}" type="datetime1">
              <a:rPr lang="en-US" altLang="en-US" smtClean="0"/>
              <a:pPr/>
              <a:t>4/4/2018</a:t>
            </a:fld>
            <a:endParaRPr lang="en-US" altLang="en-US" smtClean="0"/>
          </a:p>
        </p:txBody>
      </p:sp>
      <p:sp>
        <p:nvSpPr>
          <p:cNvPr id="624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859F4F4-935B-4B62-B4D7-A4E58D8841B7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624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53710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63492" name="Header Placeholder 3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MIS 324 -- Professor Sandvig</a:t>
            </a:r>
          </a:p>
        </p:txBody>
      </p:sp>
      <p:sp>
        <p:nvSpPr>
          <p:cNvPr id="63493" name="Date Placeholder 4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7098668-C99A-4968-AB58-38A02276AA1C}" type="datetime1">
              <a:rPr lang="en-US" altLang="en-US" smtClean="0"/>
              <a:pPr/>
              <a:t>4/4/2018</a:t>
            </a:fld>
            <a:endParaRPr lang="en-US" altLang="en-US" smtClean="0"/>
          </a:p>
        </p:txBody>
      </p:sp>
      <p:sp>
        <p:nvSpPr>
          <p:cNvPr id="63494" name="Slide Number Placeholder 5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ADEE6CC-103D-4705-B33A-A247A648E2C0}" type="slidenum">
              <a:rPr lang="en-US" altLang="en-US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27622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MIS 324 -- Professor Sandvig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9B2D692-F551-4C77-9D34-6A7B0AAF78CE}" type="datetime1">
              <a:rPr lang="en-US" altLang="en-US" smtClean="0"/>
              <a:pPr/>
              <a:t>4/4/2018</a:t>
            </a:fld>
            <a:endParaRPr lang="en-US" altLang="en-US" smtClean="0"/>
          </a:p>
        </p:txBody>
      </p:sp>
      <p:sp>
        <p:nvSpPr>
          <p:cNvPr id="6451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6AACC11-868B-4C1F-960D-0AC83E5617D3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645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34964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MIS 324 -- Professor Sandvig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1717B76-FFBD-4706-BF6A-CC8740F3C5F0}" type="datetime1">
              <a:rPr lang="en-US" altLang="en-US" smtClean="0"/>
              <a:pPr/>
              <a:t>4/4/2018</a:t>
            </a:fld>
            <a:endParaRPr lang="en-US" altLang="en-US" smtClean="0"/>
          </a:p>
        </p:txBody>
      </p:sp>
      <p:sp>
        <p:nvSpPr>
          <p:cNvPr id="6554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7B01C4D-835E-4009-8D9A-E09EBAEBD5F0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655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88800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MIS 324 -- Professor Sandvig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15EFDD4-108D-483E-89D2-1ABBF85925B3}" type="datetime1">
              <a:rPr lang="en-US" altLang="en-US" smtClean="0"/>
              <a:pPr/>
              <a:t>4/4/2018</a:t>
            </a:fld>
            <a:endParaRPr lang="en-US" altLang="en-US" smtClean="0"/>
          </a:p>
        </p:txBody>
      </p:sp>
      <p:sp>
        <p:nvSpPr>
          <p:cNvPr id="6758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7A1E1A0-445F-4297-BA66-9D86D02D1B4E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675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9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8297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MIS 324 -- Professor Sandvig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3DF4ADC-47EC-4A1F-9AA2-BCA4A7356862}" type="datetime1">
              <a:rPr lang="en-US" altLang="en-US" smtClean="0"/>
              <a:pPr/>
              <a:t>4/4/2018</a:t>
            </a:fld>
            <a:endParaRPr lang="en-US" altLang="en-US" smtClean="0"/>
          </a:p>
        </p:txBody>
      </p:sp>
      <p:sp>
        <p:nvSpPr>
          <p:cNvPr id="6861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1A4EC9D-E007-45A2-90F1-63B67E043576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686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17033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69636" name="Header Placeholder 3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MIS 324 -- Professor Sandvig</a:t>
            </a:r>
          </a:p>
        </p:txBody>
      </p:sp>
      <p:sp>
        <p:nvSpPr>
          <p:cNvPr id="69637" name="Date Placeholder 4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0B971EB-3D0B-4B9C-8BA7-447C410F4171}" type="datetime1">
              <a:rPr lang="en-US" altLang="en-US" smtClean="0"/>
              <a:pPr/>
              <a:t>4/4/2018</a:t>
            </a:fld>
            <a:endParaRPr lang="en-US" altLang="en-US" smtClean="0"/>
          </a:p>
        </p:txBody>
      </p:sp>
      <p:sp>
        <p:nvSpPr>
          <p:cNvPr id="69638" name="Slide Number Placeholder 5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7FF22FE-112A-4D31-96E2-08CEAEFC772D}" type="slidenum">
              <a:rPr lang="en-US" altLang="en-US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17604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70660" name="Header Placeholder 3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MIS 324 -- Professor Sandvig</a:t>
            </a:r>
          </a:p>
        </p:txBody>
      </p:sp>
      <p:sp>
        <p:nvSpPr>
          <p:cNvPr id="70661" name="Date Placeholder 4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4D91F82-6509-4747-A97E-10AAAC2C9328}" type="datetime1">
              <a:rPr lang="en-US" altLang="en-US" smtClean="0"/>
              <a:pPr/>
              <a:t>4/4/2018</a:t>
            </a:fld>
            <a:endParaRPr lang="en-US" altLang="en-US" smtClean="0"/>
          </a:p>
        </p:txBody>
      </p:sp>
      <p:sp>
        <p:nvSpPr>
          <p:cNvPr id="70662" name="Slide Number Placeholder 5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8CA21D2-B724-4139-A9EE-798AC07A28C8}" type="slidenum">
              <a:rPr lang="en-US" altLang="en-US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20304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MIS 324 -- Professor Sandvig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28F1C5B-711F-4366-8837-2D3F86FC6BF8}" type="datetime1">
              <a:rPr lang="en-US" altLang="en-US" smtClean="0"/>
              <a:pPr/>
              <a:t>4/4/2018</a:t>
            </a:fld>
            <a:endParaRPr lang="en-US" altLang="en-US" smtClean="0"/>
          </a:p>
        </p:txBody>
      </p:sp>
      <p:sp>
        <p:nvSpPr>
          <p:cNvPr id="7168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97F99FC-EB11-4250-9A9D-C0EA4ED104A8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716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4490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MIS 324 -- Professor Sandvig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DA34216-7AA1-490E-8A72-D14300EA34FE}" type="datetime1">
              <a:rPr lang="en-US" altLang="en-US" smtClean="0"/>
              <a:pPr/>
              <a:t>4/4/2018</a:t>
            </a:fld>
            <a:endParaRPr lang="en-US" altLang="en-US" smtClean="0"/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4D02029-1F9B-4D4B-AF7D-F35AC0972FC4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7270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16103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73732" name="Header Placeholder 3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MIS 324 -- Professor Sandvig</a:t>
            </a:r>
          </a:p>
        </p:txBody>
      </p:sp>
      <p:sp>
        <p:nvSpPr>
          <p:cNvPr id="73733" name="Date Placeholder 4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42735D6-95FB-4672-87B6-6EB89DCE40F9}" type="datetime1">
              <a:rPr lang="en-US" altLang="en-US" smtClean="0"/>
              <a:pPr/>
              <a:t>4/4/2018</a:t>
            </a:fld>
            <a:endParaRPr lang="en-US" altLang="en-US" smtClean="0"/>
          </a:p>
        </p:txBody>
      </p:sp>
      <p:sp>
        <p:nvSpPr>
          <p:cNvPr id="73734" name="Slide Number Placeholder 5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5FF542E-5F64-4EA1-B901-B61A93354B4F}" type="slidenum">
              <a:rPr lang="en-US" altLang="en-US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78293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47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74756" name="Header Placeholder 3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MIS 324 -- Professor Sandvig</a:t>
            </a:r>
          </a:p>
        </p:txBody>
      </p:sp>
      <p:sp>
        <p:nvSpPr>
          <p:cNvPr id="74757" name="Date Placeholder 4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273775C-2991-44B2-80CA-BAAF7FB6F303}" type="datetime1">
              <a:rPr lang="en-US" altLang="en-US" smtClean="0"/>
              <a:pPr/>
              <a:t>4/4/2018</a:t>
            </a:fld>
            <a:endParaRPr lang="en-US" altLang="en-US" smtClean="0"/>
          </a:p>
        </p:txBody>
      </p:sp>
      <p:sp>
        <p:nvSpPr>
          <p:cNvPr id="74758" name="Slide Number Placeholder 5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C78167C-3240-480A-992F-811026BB6014}" type="slidenum">
              <a:rPr lang="en-US" altLang="en-US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84661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73050" indent="-273050"/>
            <a:r>
              <a:rPr lang="en-US" altLang="en-US" smtClean="0"/>
              <a:t>Run the IIS Lockdown Tool</a:t>
            </a:r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48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4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4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4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48" charset="-128"/>
              </a:defRPr>
            </a:lvl9pPr>
          </a:lstStyle>
          <a:p>
            <a:fld id="{B5820903-4CFA-44C4-A520-214C638EAFAE}" type="slidenum">
              <a:rPr lang="en-US" altLang="en-US" sz="1200"/>
              <a:pPr/>
              <a:t>24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557951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F7DFC692-A88C-462D-AF3A-8064FBD44131}" type="datetimeFigureOut">
              <a:rPr lang="en-SG" smtClean="0"/>
              <a:t>4/4/2018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45720" tIns="45720" rIns="45720" bIns="45720" rtlCol="0" anchor="ctr">
            <a:normAutofit/>
          </a:bodyPr>
          <a:lstStyle>
            <a:lvl1pPr>
              <a:defRPr lang="en-US"/>
            </a:lvl1pPr>
          </a:lstStyle>
          <a:p>
            <a:fld id="{C3629C96-E187-4B9F-BA33-6F5EEA19A56A}" type="slidenum">
              <a:rPr lang="en-SG" smtClean="0"/>
              <a:t>‹#›</a:t>
            </a:fld>
            <a:endParaRPr lang="en-SG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85546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FC692-A88C-462D-AF3A-8064FBD44131}" type="datetimeFigureOut">
              <a:rPr lang="en-SG" smtClean="0"/>
              <a:t>4/4/2018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9C96-E187-4B9F-BA33-6F5EEA19A56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531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FC692-A88C-462D-AF3A-8064FBD44131}" type="datetimeFigureOut">
              <a:rPr lang="en-SG" smtClean="0"/>
              <a:t>4/4/2018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9C96-E187-4B9F-BA33-6F5EEA19A56A}" type="slidenum">
              <a:rPr lang="en-SG" smtClean="0"/>
              <a:t>‹#›</a:t>
            </a:fld>
            <a:endParaRPr lang="en-SG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54808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FC692-A88C-462D-AF3A-8064FBD44131}" type="datetimeFigureOut">
              <a:rPr lang="en-SG" smtClean="0"/>
              <a:t>4/4/2018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9C96-E187-4B9F-BA33-6F5EEA19A56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55025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7879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126480" y="1717879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lang="en-US" sz="2000" b="0" kern="1200" spc="10" baseline="0" dirty="0">
                <a:solidFill>
                  <a:schemeClr val="tx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FC692-A88C-462D-AF3A-8064FBD44131}" type="datetimeFigureOut">
              <a:rPr lang="en-SG" smtClean="0"/>
              <a:t>4/4/2018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9C96-E187-4B9F-BA33-6F5EEA19A56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73739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FC692-A88C-462D-AF3A-8064FBD44131}" type="datetimeFigureOut">
              <a:rPr lang="en-SG" smtClean="0"/>
              <a:t>4/4/2018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9C96-E187-4B9F-BA33-6F5EEA19A56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96320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FC692-A88C-462D-AF3A-8064FBD44131}" type="datetimeFigureOut">
              <a:rPr lang="en-SG" smtClean="0"/>
              <a:t>4/4/2018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9C96-E187-4B9F-BA33-6F5EEA19A56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07138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FC692-A88C-462D-AF3A-8064FBD44131}" type="datetimeFigureOut">
              <a:rPr lang="en-SG" smtClean="0"/>
              <a:t>4/4/2018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9C96-E187-4B9F-BA33-6F5EEA19A56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14337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FC692-A88C-462D-AF3A-8064FBD44131}" type="datetimeFigureOut">
              <a:rPr lang="en-SG" smtClean="0"/>
              <a:t>4/4/2018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9C96-E187-4B9F-BA33-6F5EEA19A56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12004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FC692-A88C-462D-AF3A-8064FBD44131}" type="datetimeFigureOut">
              <a:rPr lang="en-SG" smtClean="0"/>
              <a:t>4/4/2018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9C96-E187-4B9F-BA33-6F5EEA19A56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9975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FC692-A88C-462D-AF3A-8064FBD44131}" type="datetimeFigureOut">
              <a:rPr lang="en-SG" smtClean="0"/>
              <a:t>4/4/2018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9C96-E187-4B9F-BA33-6F5EEA19A56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86361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F7DFC692-A88C-462D-AF3A-8064FBD44131}" type="datetimeFigureOut">
              <a:rPr lang="en-SG" smtClean="0"/>
              <a:t>4/4/2018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rgbClr val="969696"/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rgbClr val="777777"/>
                </a:solidFill>
              </a:defRPr>
            </a:lvl1pPr>
          </a:lstStyle>
          <a:p>
            <a:fld id="{C3629C96-E187-4B9F-BA33-6F5EEA19A56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009611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SG" sz="4400" dirty="0" smtClean="0"/>
              <a:t>Chapter 9 – Securing Windows IIS</a:t>
            </a:r>
            <a:endParaRPr lang="en-SG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64003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Web Server (IIS)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6272" y="1790164"/>
            <a:ext cx="8595360" cy="4351337"/>
          </a:xfrm>
        </p:spPr>
        <p:txBody>
          <a:bodyPr/>
          <a:lstStyle/>
          <a:p>
            <a:pPr marL="0" indent="0">
              <a:buNone/>
              <a:defRPr/>
            </a:pPr>
            <a:endParaRPr lang="en-US" sz="3200" dirty="0" smtClean="0"/>
          </a:p>
          <a:p>
            <a:pPr marL="0" indent="0">
              <a:buNone/>
              <a:defRPr/>
            </a:pPr>
            <a:r>
              <a:rPr lang="en-US" sz="3200" dirty="0" smtClean="0"/>
              <a:t>    Role of Web Server (IIS)</a:t>
            </a:r>
          </a:p>
          <a:p>
            <a:pPr marL="990600" lvl="1" indent="-533400">
              <a:buFont typeface="Wingdings" panose="05000000000000000000" pitchFamily="2" charset="2"/>
              <a:buAutoNum type="arabicPeriod"/>
              <a:defRPr/>
            </a:pPr>
            <a:r>
              <a:rPr lang="en-US" sz="3200" dirty="0" smtClean="0"/>
              <a:t>Handle http requests</a:t>
            </a:r>
          </a:p>
          <a:p>
            <a:pPr marL="990600" lvl="1" indent="-533400">
              <a:buFont typeface="Wingdings" panose="05000000000000000000" pitchFamily="2" charset="2"/>
              <a:buAutoNum type="arabicPeriod"/>
              <a:defRPr/>
            </a:pPr>
            <a:r>
              <a:rPr lang="en-US" sz="3200" dirty="0" smtClean="0"/>
              <a:t>Application reliability</a:t>
            </a:r>
          </a:p>
          <a:p>
            <a:pPr marL="990600" lvl="1" indent="-533400">
              <a:buFont typeface="Wingdings" panose="05000000000000000000" pitchFamily="2" charset="2"/>
              <a:buAutoNum type="arabicPeriod"/>
              <a:defRPr/>
            </a:pPr>
            <a:r>
              <a:rPr lang="en-US" sz="3200" dirty="0" smtClean="0"/>
              <a:t>Security – check credentials</a:t>
            </a:r>
          </a:p>
          <a:p>
            <a:pPr marL="990600" lvl="1" indent="-533400">
              <a:buFont typeface="Wingdings" panose="05000000000000000000" pitchFamily="2" charset="2"/>
              <a:buAutoNum type="arabicPeriod"/>
              <a:defRPr/>
            </a:pPr>
            <a:r>
              <a:rPr lang="en-US" sz="3200" dirty="0" smtClean="0"/>
              <a:t>Log activity</a:t>
            </a:r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054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Handle Requests</a:t>
            </a:r>
          </a:p>
        </p:txBody>
      </p:sp>
      <p:sp>
        <p:nvSpPr>
          <p:cNvPr id="23555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 smtClean="0"/>
          </a:p>
        </p:txBody>
      </p:sp>
      <p:pic>
        <p:nvPicPr>
          <p:cNvPr id="23556" name="Picture 5" descr="http://i2.iis.net/media/7179635/aspnet-integration-with-iis-243-fig1.jpg?cdn_id=2013-05-01-00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6814" y="1838325"/>
            <a:ext cx="5705475" cy="501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00347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Handle Requests</a:t>
            </a:r>
          </a:p>
        </p:txBody>
      </p:sp>
      <p:sp>
        <p:nvSpPr>
          <p:cNvPr id="28675" name="Rectangle 5"/>
          <p:cNvSpPr>
            <a:spLocks noChangeArrowheads="1"/>
          </p:cNvSpPr>
          <p:nvPr/>
        </p:nvSpPr>
        <p:spPr bwMode="auto">
          <a:xfrm>
            <a:off x="2133600" y="1905000"/>
            <a:ext cx="7010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Application  transfers request</a:t>
            </a:r>
            <a:br>
              <a:rPr lang="en-US" altLang="en-US"/>
            </a:br>
            <a:r>
              <a:rPr lang="en-US" altLang="en-US"/>
              <a:t>to appropriate handler</a:t>
            </a:r>
          </a:p>
        </p:txBody>
      </p:sp>
      <p:pic>
        <p:nvPicPr>
          <p:cNvPr id="2867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7263" y="3200400"/>
            <a:ext cx="7804150" cy="348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82869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Set up web sites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1905000" y="1828800"/>
            <a:ext cx="7010400" cy="4114800"/>
          </a:xfrm>
        </p:spPr>
        <p:txBody>
          <a:bodyPr/>
          <a:lstStyle/>
          <a:p>
            <a:pPr eaLnBrk="1" hangingPunct="1"/>
            <a:r>
              <a:rPr lang="en-US" altLang="en-US" smtClean="0"/>
              <a:t>IIS Manager</a:t>
            </a:r>
          </a:p>
          <a:p>
            <a:pPr lvl="1" eaLnBrk="1" hangingPunct="1"/>
            <a:r>
              <a:rPr lang="en-US" altLang="en-US" smtClean="0"/>
              <a:t>GUI to manage web site configuration</a:t>
            </a:r>
          </a:p>
          <a:p>
            <a:pPr lvl="1" eaLnBrk="1" hangingPunct="1"/>
            <a:r>
              <a:rPr lang="en-US" altLang="en-US" smtClean="0"/>
              <a:t>Host multiple web sites on single server </a:t>
            </a:r>
          </a:p>
        </p:txBody>
      </p:sp>
      <p:pic>
        <p:nvPicPr>
          <p:cNvPr id="2458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1905" y="3078051"/>
            <a:ext cx="5067300" cy="3200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79090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Set up new web site</a:t>
            </a:r>
          </a:p>
        </p:txBody>
      </p:sp>
      <p:pic>
        <p:nvPicPr>
          <p:cNvPr id="2560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8318" y="2189409"/>
            <a:ext cx="42672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39902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Set up web site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2133600" y="1905000"/>
            <a:ext cx="7010400" cy="4114800"/>
          </a:xfrm>
        </p:spPr>
        <p:txBody>
          <a:bodyPr/>
          <a:lstStyle/>
          <a:p>
            <a:pPr eaLnBrk="1" hangingPunct="1"/>
            <a:r>
              <a:rPr lang="en-US" altLang="en-US" smtClean="0"/>
              <a:t>Each web site </a:t>
            </a:r>
            <a:br>
              <a:rPr lang="en-US" altLang="en-US" smtClean="0"/>
            </a:br>
            <a:r>
              <a:rPr lang="en-US" altLang="en-US" smtClean="0"/>
              <a:t>has many </a:t>
            </a:r>
            <a:br>
              <a:rPr lang="en-US" altLang="en-US" smtClean="0"/>
            </a:br>
            <a:r>
              <a:rPr lang="en-US" altLang="en-US" smtClean="0"/>
              <a:t>configuration </a:t>
            </a:r>
            <a:br>
              <a:rPr lang="en-US" altLang="en-US" smtClean="0"/>
            </a:br>
            <a:r>
              <a:rPr lang="en-US" altLang="en-US" smtClean="0"/>
              <a:t>options</a:t>
            </a:r>
          </a:p>
          <a:p>
            <a:pPr eaLnBrk="1" hangingPunct="1"/>
            <a:r>
              <a:rPr lang="en-US" altLang="en-US" smtClean="0"/>
              <a:t>Goals:</a:t>
            </a:r>
          </a:p>
          <a:p>
            <a:pPr lvl="1" eaLnBrk="1" hangingPunct="1"/>
            <a:r>
              <a:rPr lang="en-US" altLang="en-US" smtClean="0"/>
              <a:t>Reliability</a:t>
            </a:r>
          </a:p>
          <a:p>
            <a:pPr lvl="1" eaLnBrk="1" hangingPunct="1"/>
            <a:r>
              <a:rPr lang="en-US" altLang="en-US" smtClean="0"/>
              <a:t>Security</a:t>
            </a:r>
          </a:p>
        </p:txBody>
      </p:sp>
      <p:pic>
        <p:nvPicPr>
          <p:cNvPr id="2662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9172" y="1905000"/>
            <a:ext cx="5233988" cy="38512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52068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ASP.NET applications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1905000" y="1905000"/>
            <a:ext cx="70104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 smtClean="0"/>
              <a:t>Web sites </a:t>
            </a:r>
            <a:br>
              <a:rPr lang="en-US" altLang="en-US" dirty="0" smtClean="0"/>
            </a:br>
            <a:r>
              <a:rPr lang="en-US" altLang="en-US" dirty="0" smtClean="0"/>
              <a:t>partitioned into</a:t>
            </a:r>
            <a:br>
              <a:rPr lang="en-US" altLang="en-US" dirty="0" smtClean="0"/>
            </a:br>
            <a:r>
              <a:rPr lang="en-US" altLang="en-US" dirty="0" smtClean="0"/>
              <a:t>applications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 smtClean="0"/>
              <a:t>Each application</a:t>
            </a:r>
            <a:br>
              <a:rPr lang="en-US" altLang="en-US" dirty="0" smtClean="0"/>
            </a:br>
            <a:r>
              <a:rPr lang="en-US" altLang="en-US" dirty="0" smtClean="0"/>
              <a:t>has many </a:t>
            </a:r>
            <a:r>
              <a:rPr lang="en-US" altLang="en-US" dirty="0" err="1" smtClean="0"/>
              <a:t>config</a:t>
            </a:r>
            <a:r>
              <a:rPr lang="en-US" altLang="en-US" dirty="0" smtClean="0"/>
              <a:t>.</a:t>
            </a:r>
            <a:br>
              <a:rPr lang="en-US" altLang="en-US" dirty="0" smtClean="0"/>
            </a:br>
            <a:r>
              <a:rPr lang="en-US" altLang="en-US" dirty="0" smtClean="0"/>
              <a:t>options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 smtClean="0"/>
              <a:t>Goals: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/>
              <a:t>Reliability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/>
              <a:t>Security</a:t>
            </a:r>
          </a:p>
        </p:txBody>
      </p:sp>
      <p:pic>
        <p:nvPicPr>
          <p:cNvPr id="27652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6451" y="1905000"/>
            <a:ext cx="2647950" cy="44862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75502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Application pools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2000" dirty="0" smtClean="0"/>
              <a:t>Applications can become “un-healthy”</a:t>
            </a:r>
          </a:p>
          <a:p>
            <a:pPr lvl="1" eaLnBrk="1" hangingPunct="1"/>
            <a:r>
              <a:rPr lang="en-US" altLang="en-US" sz="2000" dirty="0" smtClean="0"/>
              <a:t>Memory leaks</a:t>
            </a:r>
          </a:p>
          <a:p>
            <a:pPr lvl="1" eaLnBrk="1" hangingPunct="1"/>
            <a:r>
              <a:rPr lang="en-US" altLang="en-US" sz="2000" dirty="0" smtClean="0"/>
              <a:t>Errors</a:t>
            </a:r>
          </a:p>
          <a:p>
            <a:pPr lvl="1" eaLnBrk="1" hangingPunct="1"/>
            <a:r>
              <a:rPr lang="en-US" altLang="en-US" sz="2000" dirty="0" smtClean="0"/>
              <a:t>Abandoned data stored in Application</a:t>
            </a:r>
          </a:p>
          <a:p>
            <a:pPr lvl="1" eaLnBrk="1" hangingPunct="1"/>
            <a:r>
              <a:rPr lang="en-US" altLang="en-US" sz="2000" dirty="0" smtClean="0"/>
              <a:t>etc. etc.</a:t>
            </a:r>
          </a:p>
          <a:p>
            <a:pPr eaLnBrk="1" hangingPunct="1"/>
            <a:r>
              <a:rPr lang="en-US" altLang="en-US" sz="2000" dirty="0" smtClean="0"/>
              <a:t>Become slow</a:t>
            </a:r>
          </a:p>
          <a:p>
            <a:pPr eaLnBrk="1" hangingPunct="1"/>
            <a:r>
              <a:rPr lang="en-US" altLang="en-US" sz="2000" dirty="0" smtClean="0"/>
              <a:t>Consume lots of memory</a:t>
            </a:r>
          </a:p>
        </p:txBody>
      </p:sp>
    </p:spTree>
    <p:extLst>
      <p:ext uri="{BB962C8B-B14F-4D97-AF65-F5344CB8AC3E}">
        <p14:creationId xmlns:p14="http://schemas.microsoft.com/office/powerpoint/2010/main" val="3382991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Application pools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2000" dirty="0" smtClean="0"/>
              <a:t>Application Pools</a:t>
            </a:r>
          </a:p>
          <a:p>
            <a:pPr lvl="1" eaLnBrk="1" hangingPunct="1"/>
            <a:r>
              <a:rPr lang="en-US" altLang="en-US" sz="2000" dirty="0" smtClean="0"/>
              <a:t>Added in Server 2003</a:t>
            </a:r>
          </a:p>
          <a:p>
            <a:pPr eaLnBrk="1" hangingPunct="1"/>
            <a:r>
              <a:rPr lang="en-US" altLang="en-US" sz="2000" dirty="0" smtClean="0"/>
              <a:t>Assign applications to “pools”</a:t>
            </a:r>
          </a:p>
          <a:p>
            <a:pPr lvl="1" eaLnBrk="1" hangingPunct="1"/>
            <a:r>
              <a:rPr lang="en-US" altLang="en-US" sz="2000" dirty="0" smtClean="0"/>
              <a:t>Each pool is Windows process</a:t>
            </a:r>
          </a:p>
          <a:p>
            <a:pPr eaLnBrk="1" hangingPunct="1"/>
            <a:r>
              <a:rPr lang="en-US" altLang="en-US" sz="2000" dirty="0" smtClean="0"/>
              <a:t>Create rules to:</a:t>
            </a:r>
          </a:p>
          <a:p>
            <a:pPr lvl="1" eaLnBrk="1" hangingPunct="1"/>
            <a:r>
              <a:rPr lang="en-US" altLang="en-US" sz="2000" dirty="0" smtClean="0"/>
              <a:t>close unused applications</a:t>
            </a:r>
          </a:p>
          <a:p>
            <a:pPr lvl="1" eaLnBrk="1" hangingPunct="1"/>
            <a:r>
              <a:rPr lang="en-US" altLang="en-US" sz="2000" dirty="0" smtClean="0"/>
              <a:t>restart unhealthy applications</a:t>
            </a:r>
          </a:p>
          <a:p>
            <a:pPr lvl="1" eaLnBrk="1" hangingPunct="1"/>
            <a:r>
              <a:rPr lang="en-US" altLang="en-US" sz="2000" dirty="0" smtClean="0"/>
              <a:t>release memory</a:t>
            </a:r>
          </a:p>
        </p:txBody>
      </p:sp>
    </p:spTree>
    <p:extLst>
      <p:ext uri="{BB962C8B-B14F-4D97-AF65-F5344CB8AC3E}">
        <p14:creationId xmlns:p14="http://schemas.microsoft.com/office/powerpoint/2010/main" val="1558356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Application pools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Create new application pools in IIS</a:t>
            </a:r>
          </a:p>
          <a:p>
            <a:endParaRPr lang="en-US" altLang="en-US" smtClean="0"/>
          </a:p>
        </p:txBody>
      </p:sp>
      <p:pic>
        <p:nvPicPr>
          <p:cNvPr id="3174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514600"/>
            <a:ext cx="7785100" cy="353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03561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Application pools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Assign applications to pools</a:t>
            </a:r>
          </a:p>
          <a:p>
            <a:pPr marL="0" indent="0">
              <a:buNone/>
              <a:defRPr/>
            </a:pPr>
            <a:endParaRPr lang="en-US" dirty="0"/>
          </a:p>
        </p:txBody>
      </p:sp>
      <p:pic>
        <p:nvPicPr>
          <p:cNvPr id="3277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2590800"/>
            <a:ext cx="6172200" cy="413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18735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 smtClean="0"/>
          </a:p>
        </p:txBody>
      </p:sp>
      <p:sp>
        <p:nvSpPr>
          <p:cNvPr id="33795" name="Text Box 5"/>
          <p:cNvSpPr txBox="1">
            <a:spLocks noChangeArrowheads="1"/>
          </p:cNvSpPr>
          <p:nvPr/>
        </p:nvSpPr>
        <p:spPr bwMode="auto">
          <a:xfrm>
            <a:off x="6461125" y="1712913"/>
            <a:ext cx="1631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Very effective!</a:t>
            </a:r>
          </a:p>
        </p:txBody>
      </p:sp>
      <p:pic>
        <p:nvPicPr>
          <p:cNvPr id="33797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219200"/>
            <a:ext cx="4038600" cy="5208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3798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01" y="2286000"/>
            <a:ext cx="4200525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86676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Security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Every request requires authentication and authorization</a:t>
            </a:r>
          </a:p>
          <a:p>
            <a:pPr eaLnBrk="1" hangingPunct="1"/>
            <a:r>
              <a:rPr lang="en-US" altLang="en-US" smtClean="0"/>
              <a:t>Anonymous users</a:t>
            </a:r>
          </a:p>
          <a:p>
            <a:pPr eaLnBrk="1" hangingPunct="1"/>
            <a:r>
              <a:rPr lang="en-US" altLang="en-US" smtClean="0"/>
              <a:t>Permissions from IIS</a:t>
            </a:r>
          </a:p>
          <a:p>
            <a:pPr lvl="1" eaLnBrk="1" hangingPunct="1"/>
            <a:r>
              <a:rPr lang="en-US" altLang="en-US" smtClean="0"/>
              <a:t>Network Service account</a:t>
            </a:r>
          </a:p>
          <a:p>
            <a:pPr lvl="2" eaLnBrk="1" hangingPunct="1"/>
            <a:r>
              <a:rPr lang="en-US" altLang="en-US" smtClean="0"/>
              <a:t>Built-in Windows account</a:t>
            </a:r>
          </a:p>
        </p:txBody>
      </p:sp>
    </p:spTree>
    <p:extLst>
      <p:ext uri="{BB962C8B-B14F-4D97-AF65-F5344CB8AC3E}">
        <p14:creationId xmlns:p14="http://schemas.microsoft.com/office/powerpoint/2010/main" val="4087874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IIS Security</a:t>
            </a:r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Assigning identities to requests</a:t>
            </a:r>
          </a:p>
        </p:txBody>
      </p:sp>
      <p:pic>
        <p:nvPicPr>
          <p:cNvPr id="3584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1" y="2590801"/>
            <a:ext cx="7781925" cy="3533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879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IIS Security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Windows permissions on folder</a:t>
            </a:r>
          </a:p>
        </p:txBody>
      </p:sp>
      <p:pic>
        <p:nvPicPr>
          <p:cNvPr id="3686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1" y="2514600"/>
            <a:ext cx="4498975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4819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838503" y="572081"/>
            <a:ext cx="7772400" cy="838200"/>
          </a:xfrm>
        </p:spPr>
        <p:txBody>
          <a:bodyPr>
            <a:noAutofit/>
          </a:bodyPr>
          <a:lstStyle/>
          <a:p>
            <a:r>
              <a:rPr lang="en-US" altLang="en-US" dirty="0"/>
              <a:t>Best Practices for Website Folders</a:t>
            </a:r>
            <a:endParaRPr lang="en-US" altLang="en-US" dirty="0" smtClean="0"/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>
          <a:xfrm>
            <a:off x="1955442" y="1756939"/>
            <a:ext cx="7772400" cy="472757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1600" dirty="0"/>
              <a:t>Physical folder structure</a:t>
            </a:r>
          </a:p>
          <a:p>
            <a:pPr>
              <a:defRPr/>
            </a:pPr>
            <a:r>
              <a:rPr lang="en-US" sz="1600" dirty="0"/>
              <a:t> /root – starting point of the website</a:t>
            </a:r>
          </a:p>
          <a:p>
            <a:pPr>
              <a:defRPr/>
            </a:pPr>
            <a:r>
              <a:rPr lang="en-US" sz="1600" dirty="0"/>
              <a:t>Home page </a:t>
            </a:r>
          </a:p>
          <a:p>
            <a:pPr>
              <a:defRPr/>
            </a:pPr>
            <a:r>
              <a:rPr lang="en-US" sz="1600" dirty="0"/>
              <a:t>/</a:t>
            </a:r>
            <a:r>
              <a:rPr lang="en-US" sz="1600" dirty="0" err="1"/>
              <a:t>scr</a:t>
            </a:r>
            <a:r>
              <a:rPr lang="en-US" sz="1600" dirty="0"/>
              <a:t> – stores scripts</a:t>
            </a:r>
          </a:p>
          <a:p>
            <a:pPr>
              <a:defRPr/>
            </a:pPr>
            <a:r>
              <a:rPr lang="en-US" sz="1600" dirty="0"/>
              <a:t>-Don’t call it “scripts” as this is a tip -off for </a:t>
            </a:r>
            <a:r>
              <a:rPr lang="en-US" sz="1600" dirty="0" smtClean="0"/>
              <a:t>hackers</a:t>
            </a:r>
            <a:endParaRPr lang="en-US" sz="1600" dirty="0"/>
          </a:p>
          <a:p>
            <a:pPr>
              <a:defRPr/>
            </a:pPr>
            <a:r>
              <a:rPr lang="en-US" sz="1600" dirty="0"/>
              <a:t>/exe – executables</a:t>
            </a:r>
          </a:p>
          <a:p>
            <a:pPr>
              <a:defRPr/>
            </a:pPr>
            <a:r>
              <a:rPr lang="en-US" sz="1600" dirty="0"/>
              <a:t>-Don’t call it “bin” or “</a:t>
            </a:r>
            <a:r>
              <a:rPr lang="en-US" sz="1600" dirty="0" err="1"/>
              <a:t>cgi</a:t>
            </a:r>
            <a:r>
              <a:rPr lang="en-US" sz="1600" dirty="0"/>
              <a:t>-bin” as this is a tip-off for hackers; may not even want to call it “exe</a:t>
            </a:r>
            <a:r>
              <a:rPr lang="en-US" sz="1600" dirty="0" smtClean="0"/>
              <a:t>”</a:t>
            </a:r>
            <a:endParaRPr lang="en-US" sz="1600" dirty="0"/>
          </a:p>
          <a:p>
            <a:pPr>
              <a:defRPr/>
            </a:pPr>
            <a:r>
              <a:rPr lang="en-US" sz="1600" dirty="0"/>
              <a:t> images – graphics </a:t>
            </a:r>
          </a:p>
          <a:p>
            <a:pPr>
              <a:defRPr/>
            </a:pPr>
            <a:r>
              <a:rPr lang="en-US" sz="1600" dirty="0"/>
              <a:t>-Reduces clutter in other folders and can be removed from logging</a:t>
            </a:r>
          </a:p>
          <a:p>
            <a:pPr>
              <a:defRPr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504365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Secure Sockets Layer (SSL)</a:t>
            </a:r>
          </a:p>
        </p:txBody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A digital certificate issued by a certification authority (CA) identifies an organization</a:t>
            </a:r>
          </a:p>
          <a:p>
            <a:pPr>
              <a:lnSpc>
                <a:spcPct val="90000"/>
              </a:lnSpc>
            </a:pPr>
            <a:r>
              <a:rPr lang="en-US" altLang="en-US"/>
              <a:t>The public key infrastructure (PKI) defines the system of CAs and certificates</a:t>
            </a:r>
          </a:p>
          <a:p>
            <a:pPr>
              <a:lnSpc>
                <a:spcPct val="90000"/>
              </a:lnSpc>
            </a:pPr>
            <a:r>
              <a:rPr lang="en-US" altLang="en-US"/>
              <a:t>Public key cryptography depends on two keys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A public key is shared with everyone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The public key can be used to encrypt data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Only the owner of the public key has the corresponding private key which is needed to decrypt the data</a:t>
            </a:r>
          </a:p>
        </p:txBody>
      </p:sp>
    </p:spTree>
    <p:extLst>
      <p:ext uri="{BB962C8B-B14F-4D97-AF65-F5344CB8AC3E}">
        <p14:creationId xmlns:p14="http://schemas.microsoft.com/office/powerpoint/2010/main" val="2180138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Establishing an SSL Connection</a:t>
            </a:r>
          </a:p>
        </p:txBody>
      </p:sp>
      <p:pic>
        <p:nvPicPr>
          <p:cNvPr id="116740" name="Picture 4" descr="Fig10-0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81200" y="2133601"/>
            <a:ext cx="8305800" cy="30892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48081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Vulnerabilities in Web servers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Static HTML pages pose virtually no problem</a:t>
            </a:r>
          </a:p>
          <a:p>
            <a:r>
              <a:rPr lang="en-US" altLang="en-US"/>
              <a:t>Programming environments and databases add complexity that a hacker can exploit</a:t>
            </a:r>
          </a:p>
          <a:p>
            <a:r>
              <a:rPr lang="en-US" altLang="en-US"/>
              <a:t>Programmers often do not have time to focus on security</a:t>
            </a:r>
          </a:p>
        </p:txBody>
      </p:sp>
    </p:spTree>
    <p:extLst>
      <p:ext uri="{BB962C8B-B14F-4D97-AF65-F5344CB8AC3E}">
        <p14:creationId xmlns:p14="http://schemas.microsoft.com/office/powerpoint/2010/main" val="1088797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Securing the Web Server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Enable the minimum features</a:t>
            </a:r>
          </a:p>
          <a:p>
            <a:pPr lvl="1"/>
            <a:r>
              <a:rPr lang="en-US" altLang="en-US"/>
              <a:t>If you don't need a programming language, do not enable it</a:t>
            </a:r>
          </a:p>
          <a:p>
            <a:r>
              <a:rPr lang="en-US" altLang="en-US"/>
              <a:t>Make sure programmers understand security issues</a:t>
            </a:r>
          </a:p>
          <a:p>
            <a:r>
              <a:rPr lang="en-US" altLang="en-US"/>
              <a:t>Implement SSL where appropriate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63890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Securing the Web Server-</a:t>
            </a:r>
            <a:br>
              <a:rPr lang="en-US" altLang="en-US"/>
            </a:br>
            <a:r>
              <a:rPr lang="en-US" altLang="en-US"/>
              <a:t>IIS</a:t>
            </a:r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 dirty="0"/>
              <a:t>The </a:t>
            </a:r>
            <a:r>
              <a:rPr lang="en-US" altLang="en-US" sz="2400" dirty="0" err="1"/>
              <a:t>URLScan</a:t>
            </a:r>
            <a:r>
              <a:rPr lang="en-US" altLang="en-US" sz="2400" dirty="0"/>
              <a:t> utility blocks potentially harmful page requests </a:t>
            </a:r>
          </a:p>
          <a:p>
            <a:pPr>
              <a:lnSpc>
                <a:spcPct val="90000"/>
              </a:lnSpc>
            </a:pPr>
            <a:r>
              <a:rPr lang="en-US" altLang="en-US" sz="2400" dirty="0"/>
              <a:t>The IIS Lockdown utility has templates to ensure that you only enable what you need</a:t>
            </a:r>
          </a:p>
          <a:p>
            <a:pPr>
              <a:lnSpc>
                <a:spcPct val="90000"/>
              </a:lnSpc>
            </a:pPr>
            <a:r>
              <a:rPr lang="en-US" altLang="en-US" sz="2400" dirty="0"/>
              <a:t>Change NTFS permissions in \</a:t>
            </a:r>
            <a:r>
              <a:rPr lang="en-US" altLang="en-US" sz="2400" dirty="0" err="1"/>
              <a:t>inetpub</a:t>
            </a:r>
            <a:r>
              <a:rPr lang="en-US" altLang="en-US" sz="2400" dirty="0"/>
              <a:t>\</a:t>
            </a:r>
            <a:r>
              <a:rPr lang="en-US" altLang="en-US" sz="2400" dirty="0" err="1"/>
              <a:t>wwwroot</a:t>
            </a:r>
            <a:r>
              <a:rPr lang="en-US" altLang="en-US" sz="2400" dirty="0"/>
              <a:t> from Everyone Full Control to Everyone Execute</a:t>
            </a:r>
          </a:p>
          <a:p>
            <a:pPr>
              <a:lnSpc>
                <a:spcPct val="90000"/>
              </a:lnSpc>
            </a:pPr>
            <a:r>
              <a:rPr lang="en-US" altLang="en-US" sz="2400" dirty="0" smtClean="0"/>
              <a:t>Delete </a:t>
            </a:r>
            <a:r>
              <a:rPr lang="en-US" altLang="en-US" sz="2400" dirty="0"/>
              <a:t>extensions you do not use, such as .</a:t>
            </a:r>
            <a:r>
              <a:rPr lang="en-US" altLang="en-US" sz="2400" dirty="0" err="1"/>
              <a:t>htr</a:t>
            </a:r>
            <a:r>
              <a:rPr lang="en-US" altLang="en-US" sz="2400" dirty="0"/>
              <a:t>, .</a:t>
            </a:r>
            <a:r>
              <a:rPr lang="en-US" altLang="en-US" sz="2400" dirty="0" err="1"/>
              <a:t>idc</a:t>
            </a:r>
            <a:r>
              <a:rPr lang="en-US" altLang="en-US" sz="2400" dirty="0"/>
              <a:t>, .</a:t>
            </a:r>
            <a:r>
              <a:rPr lang="en-US" altLang="en-US" sz="2400" dirty="0" err="1"/>
              <a:t>stm</a:t>
            </a:r>
            <a:r>
              <a:rPr lang="en-US" altLang="en-US" sz="2400" dirty="0"/>
              <a:t>, and others</a:t>
            </a:r>
          </a:p>
          <a:p>
            <a:pPr>
              <a:lnSpc>
                <a:spcPct val="90000"/>
              </a:lnSpc>
            </a:pP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329929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Authenticating Web Users</a:t>
            </a:r>
          </a:p>
        </p:txBody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Both Apache and IIS use HTTP to enable authentication</a:t>
            </a:r>
          </a:p>
          <a:p>
            <a:pPr lvl="1"/>
            <a:r>
              <a:rPr lang="en-US" altLang="en-US"/>
              <a:t>HTTP tries to access a protected directory and fails</a:t>
            </a:r>
          </a:p>
          <a:p>
            <a:pPr lvl="1"/>
            <a:r>
              <a:rPr lang="en-US" altLang="en-US"/>
              <a:t>Then it requests authentication from the user in a dialog box</a:t>
            </a:r>
          </a:p>
          <a:p>
            <a:pPr lvl="1"/>
            <a:r>
              <a:rPr lang="en-US" altLang="en-US"/>
              <a:t>Accesses directory with user information</a:t>
            </a:r>
          </a:p>
          <a:p>
            <a:r>
              <a:rPr lang="en-US" altLang="en-US"/>
              <a:t>Used in conjunction with SSL</a:t>
            </a:r>
          </a:p>
        </p:txBody>
      </p:sp>
    </p:spTree>
    <p:extLst>
      <p:ext uri="{BB962C8B-B14F-4D97-AF65-F5344CB8AC3E}">
        <p14:creationId xmlns:p14="http://schemas.microsoft.com/office/powerpoint/2010/main" val="2188888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825625" y="558130"/>
            <a:ext cx="7772400" cy="838200"/>
          </a:xfrm>
        </p:spPr>
        <p:txBody>
          <a:bodyPr>
            <a:normAutofit fontScale="90000"/>
          </a:bodyPr>
          <a:lstStyle/>
          <a:p>
            <a:r>
              <a:rPr lang="en-US" altLang="en-US" dirty="0" smtClean="0"/>
              <a:t>Top 10 Actions to Secure IIS</a:t>
            </a:r>
            <a:br>
              <a:rPr lang="en-US" altLang="en-US" dirty="0" smtClean="0"/>
            </a:br>
            <a:endParaRPr lang="en-US" altLang="en-US" dirty="0" smtClean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216025"/>
            <a:ext cx="7772400" cy="4419600"/>
          </a:xfrm>
        </p:spPr>
        <p:txBody>
          <a:bodyPr>
            <a:normAutofit fontScale="92500" lnSpcReduction="20000"/>
          </a:bodyPr>
          <a:lstStyle/>
          <a:p>
            <a:pPr marL="273050" indent="-273050">
              <a:defRPr/>
            </a:pPr>
            <a:r>
              <a:rPr lang="en-US" sz="1800" dirty="0"/>
              <a:t>Harden the operating system and apply all relevant security updates</a:t>
            </a:r>
          </a:p>
          <a:p>
            <a:pPr marL="273050" indent="-273050">
              <a:defRPr/>
            </a:pPr>
            <a:r>
              <a:rPr lang="en-US" sz="1800" dirty="0"/>
              <a:t>Remove unnecessary components</a:t>
            </a:r>
          </a:p>
          <a:p>
            <a:pPr marL="273050" indent="-273050">
              <a:defRPr/>
            </a:pPr>
            <a:r>
              <a:rPr lang="en-US" sz="1800" dirty="0"/>
              <a:t>Configure </a:t>
            </a:r>
            <a:r>
              <a:rPr lang="en-US" sz="1800" dirty="0" err="1"/>
              <a:t>URLScan</a:t>
            </a:r>
            <a:endParaRPr lang="en-US" sz="1800" dirty="0"/>
          </a:p>
          <a:p>
            <a:pPr marL="273050" indent="-273050">
              <a:defRPr/>
            </a:pPr>
            <a:r>
              <a:rPr lang="en-US" sz="1800" dirty="0"/>
              <a:t>Place content on a separate NTFS partition</a:t>
            </a:r>
          </a:p>
          <a:p>
            <a:pPr marL="273050" indent="-273050">
              <a:defRPr/>
            </a:pPr>
            <a:r>
              <a:rPr lang="en-US" sz="1800" dirty="0"/>
              <a:t>Protect files by using minimal permissions</a:t>
            </a:r>
          </a:p>
          <a:p>
            <a:pPr marL="274320" indent="-274320">
              <a:defRPr/>
            </a:pPr>
            <a:r>
              <a:rPr lang="en-US" sz="1800" dirty="0"/>
              <a:t>Require encryption for sensitive Web traffic</a:t>
            </a:r>
          </a:p>
          <a:p>
            <a:pPr marL="274320" indent="-274320">
              <a:defRPr/>
            </a:pPr>
            <a:r>
              <a:rPr lang="en-US" sz="1800" dirty="0"/>
              <a:t>Do not enable both the Execute and Write permissions on the same Web site</a:t>
            </a:r>
          </a:p>
          <a:p>
            <a:pPr marL="274320" indent="-274320">
              <a:defRPr/>
            </a:pPr>
            <a:r>
              <a:rPr lang="en-US" sz="1800" dirty="0"/>
              <a:t>Run applications using Medium or High application protection</a:t>
            </a:r>
          </a:p>
          <a:p>
            <a:pPr marL="274320" indent="-274320">
              <a:defRPr/>
            </a:pPr>
            <a:r>
              <a:rPr lang="en-US" sz="1800" dirty="0"/>
              <a:t>Use LPA for App Pool Account</a:t>
            </a:r>
          </a:p>
          <a:p>
            <a:pPr marL="274320" indent="-274320">
              <a:defRPr/>
            </a:pPr>
            <a:r>
              <a:rPr lang="en-US" sz="1800" dirty="0"/>
              <a:t>Use </a:t>
            </a:r>
            <a:r>
              <a:rPr lang="en-US" sz="1800" dirty="0" err="1"/>
              <a:t>IPSec</a:t>
            </a:r>
            <a:r>
              <a:rPr lang="en-US" sz="1800" dirty="0"/>
              <a:t> filtering to allow only required traffic (HTTP and HTTPS) to the Web server</a:t>
            </a:r>
          </a:p>
        </p:txBody>
      </p:sp>
    </p:spTree>
    <p:extLst>
      <p:ext uri="{BB962C8B-B14F-4D97-AF65-F5344CB8AC3E}">
        <p14:creationId xmlns:p14="http://schemas.microsoft.com/office/powerpoint/2010/main" val="3834705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iew">
  <a:themeElements>
    <a:clrScheme name="View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B4B30"/>
      </a:accent2>
      <a:accent3>
        <a:srgbClr val="B5AE53"/>
      </a:accent3>
      <a:accent4>
        <a:srgbClr val="6F6A7A"/>
      </a:accent4>
      <a:accent5>
        <a:srgbClr val="E8B54D"/>
      </a:accent5>
      <a:accent6>
        <a:srgbClr val="8A7952"/>
      </a:accent6>
      <a:hlink>
        <a:srgbClr val="9F9F0B"/>
      </a:hlink>
      <a:folHlink>
        <a:srgbClr val="B2B2B2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3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3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866257B-E5CE-4C43-9210-F2DE76BE10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28</TotalTime>
  <Words>705</Words>
  <Application>Microsoft Office PowerPoint</Application>
  <PresentationFormat>Widescreen</PresentationFormat>
  <Paragraphs>155</Paragraphs>
  <Slides>24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Century Schoolbook</vt:lpstr>
      <vt:lpstr>ヒラギノ角ゴ Pro W3</vt:lpstr>
      <vt:lpstr>Arial</vt:lpstr>
      <vt:lpstr>Calibri</vt:lpstr>
      <vt:lpstr>Wingdings</vt:lpstr>
      <vt:lpstr>Wingdings 2</vt:lpstr>
      <vt:lpstr>View</vt:lpstr>
      <vt:lpstr>Chapter 9 – Securing Windows IIS</vt:lpstr>
      <vt:lpstr>Web Server (IIS)</vt:lpstr>
      <vt:lpstr>Handle Requests</vt:lpstr>
      <vt:lpstr>Handle Requests</vt:lpstr>
      <vt:lpstr>Set up web sites</vt:lpstr>
      <vt:lpstr>Set up new web site</vt:lpstr>
      <vt:lpstr>Set up web site</vt:lpstr>
      <vt:lpstr>ASP.NET applications</vt:lpstr>
      <vt:lpstr>Application pools</vt:lpstr>
      <vt:lpstr>Application pools</vt:lpstr>
      <vt:lpstr>Application pools</vt:lpstr>
      <vt:lpstr>Application pools</vt:lpstr>
      <vt:lpstr>PowerPoint Presentation</vt:lpstr>
      <vt:lpstr>Security</vt:lpstr>
      <vt:lpstr>IIS Security</vt:lpstr>
      <vt:lpstr>IIS Security</vt:lpstr>
      <vt:lpstr>Best Practices for Website Folders</vt:lpstr>
      <vt:lpstr>Secure Sockets Layer (SSL)</vt:lpstr>
      <vt:lpstr>Establishing an SSL Connection</vt:lpstr>
      <vt:lpstr>Vulnerabilities in Web servers</vt:lpstr>
      <vt:lpstr>Securing the Web Server</vt:lpstr>
      <vt:lpstr>Securing the Web Server- IIS</vt:lpstr>
      <vt:lpstr>Authenticating Web Users</vt:lpstr>
      <vt:lpstr>Top 10 Actions to Secure IIS </vt:lpstr>
    </vt:vector>
  </TitlesOfParts>
  <Company>Nanyang Polytechnic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8 – Securing Web Server (IIS)</dc:title>
  <dc:creator>TEO CHEA WAN</dc:creator>
  <cp:lastModifiedBy>TEO CHEA WAN</cp:lastModifiedBy>
  <cp:revision>10</cp:revision>
  <dcterms:created xsi:type="dcterms:W3CDTF">2018-04-04T09:36:41Z</dcterms:created>
  <dcterms:modified xsi:type="dcterms:W3CDTF">2018-04-04T10:19:48Z</dcterms:modified>
</cp:coreProperties>
</file>