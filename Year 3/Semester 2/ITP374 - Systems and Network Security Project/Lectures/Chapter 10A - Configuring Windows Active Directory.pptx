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7"/>
  </p:notesMasterIdLst>
  <p:sldIdLst>
    <p:sldId id="256" r:id="rId2"/>
    <p:sldId id="259" r:id="rId3"/>
    <p:sldId id="260" r:id="rId4"/>
    <p:sldId id="261" r:id="rId5"/>
    <p:sldId id="262" r:id="rId6"/>
    <p:sldId id="263" r:id="rId7"/>
    <p:sldId id="267" r:id="rId8"/>
    <p:sldId id="268" r:id="rId9"/>
    <p:sldId id="269" r:id="rId10"/>
    <p:sldId id="273" r:id="rId11"/>
    <p:sldId id="274" r:id="rId12"/>
    <p:sldId id="275" r:id="rId13"/>
    <p:sldId id="276" r:id="rId14"/>
    <p:sldId id="277" r:id="rId15"/>
    <p:sldId id="266" r:id="rId16"/>
    <p:sldId id="278" r:id="rId17"/>
    <p:sldId id="279" r:id="rId18"/>
    <p:sldId id="280" r:id="rId19"/>
    <p:sldId id="270" r:id="rId20"/>
    <p:sldId id="271" r:id="rId21"/>
    <p:sldId id="272" r:id="rId22"/>
    <p:sldId id="281" r:id="rId23"/>
    <p:sldId id="282" r:id="rId24"/>
    <p:sldId id="283" r:id="rId25"/>
    <p:sldId id="2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16A467-6E4E-4438-865C-19709012AEC4}" type="datetimeFigureOut">
              <a:rPr lang="en-SG" smtClean="0"/>
              <a:t>24/6/2019</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B72803-4BBD-440F-9950-EB23D171C79D}" type="slidenum">
              <a:rPr lang="en-SG" smtClean="0"/>
              <a:t>‹#›</a:t>
            </a:fld>
            <a:endParaRPr lang="en-SG"/>
          </a:p>
        </p:txBody>
      </p:sp>
    </p:spTree>
    <p:extLst>
      <p:ext uri="{BB962C8B-B14F-4D97-AF65-F5344CB8AC3E}">
        <p14:creationId xmlns:p14="http://schemas.microsoft.com/office/powerpoint/2010/main" val="380156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go.microsoft.com/fwlink/?LinkID=331090"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go.microsoft.com/fwlink/?LinkID=331085"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go.microsoft.com/fwlink/?LinkID=331089"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Explain the logical and physical components that make-up AD DS. Provide brief descriptions of each.</a:t>
            </a:r>
          </a:p>
        </p:txBody>
      </p:sp>
      <p:sp>
        <p:nvSpPr>
          <p:cNvPr id="4" name="Slide Number Placeholder 3"/>
          <p:cNvSpPr>
            <a:spLocks noGrp="1"/>
          </p:cNvSpPr>
          <p:nvPr>
            <p:ph type="sldNum" sz="quarter" idx="10"/>
          </p:nvPr>
        </p:nvSpPr>
        <p:spPr/>
        <p:txBody>
          <a:bodyPr/>
          <a:lstStyle/>
          <a:p>
            <a:fld id="{34AEEBBA-4BE6-4868-B96C-1EFBA8B820E6}" type="slidenum">
              <a:rPr lang="en-CA" smtClean="0"/>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23444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Explain that a multimaster replication model means that every domain controller can make changes to most directory objects. Emphasize that the AD DS domain provides structure for managing users and computers.</a:t>
            </a:r>
          </a:p>
        </p:txBody>
      </p:sp>
      <p:sp>
        <p:nvSpPr>
          <p:cNvPr id="4" name="Slide Number Placeholder 3"/>
          <p:cNvSpPr>
            <a:spLocks noGrp="1"/>
          </p:cNvSpPr>
          <p:nvPr>
            <p:ph type="sldNum" sz="quarter" idx="10"/>
          </p:nvPr>
        </p:nvSpPr>
        <p:spPr/>
        <p:txBody>
          <a:bodyPr/>
          <a:lstStyle/>
          <a:p>
            <a:fld id="{34AEEBBA-4BE6-4868-B96C-1EFBA8B820E6}" type="slidenum">
              <a:rPr lang="en-CA" smtClean="0"/>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2884096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Clearly establish for students the difference between OUs and containers: explain that containers are not OUs. Although containers can hold objects, they cannot have Group Policy Objects (GPOs) linked to them. Therefore, if you want to assign a GPO to an object, other than Domain level GPOs, it must be in an OU.</a:t>
            </a:r>
          </a:p>
          <a:p>
            <a:pPr>
              <a:lnSpc>
                <a:spcPct val="115000"/>
              </a:lnSpc>
              <a:spcAft>
                <a:spcPts val="1000"/>
              </a:spcAft>
            </a:pPr>
            <a:r>
              <a:rPr lang="en-CA" sz="1000" dirty="0">
                <a:latin typeface="Arial"/>
                <a:ea typeface="Calibri"/>
                <a:cs typeface="Times New Roman"/>
              </a:rPr>
              <a:t>Be sure to point out the visual difference between an OU and a container: OUs are represented by a folder with a book on it, and containers are represented by a blank folder.</a:t>
            </a:r>
          </a:p>
          <a:p>
            <a:pPr>
              <a:lnSpc>
                <a:spcPct val="115000"/>
              </a:lnSpc>
              <a:spcAft>
                <a:spcPts val="1000"/>
              </a:spcAft>
            </a:pPr>
            <a:r>
              <a:rPr lang="en-CA" sz="1000" dirty="0">
                <a:latin typeface="Arial"/>
                <a:ea typeface="Calibri"/>
                <a:cs typeface="Times New Roman"/>
              </a:rPr>
              <a:t>Explain to students that objects become orphaned most likely when an administrator on one domain controller deletes a container object, typically an OU, and an administrator on a different domain controller creates a child object, such as a user, in that container before the deletion has been replicated.</a:t>
            </a:r>
          </a:p>
          <a:p>
            <a:pPr>
              <a:lnSpc>
                <a:spcPct val="115000"/>
              </a:lnSpc>
              <a:spcAft>
                <a:spcPts val="1000"/>
              </a:spcAft>
            </a:pPr>
            <a:r>
              <a:rPr lang="en-CA" sz="1000" dirty="0">
                <a:latin typeface="Arial"/>
                <a:ea typeface="Calibri"/>
                <a:cs typeface="Times New Roman"/>
              </a:rPr>
              <a:t>Remind students that the OU structure usually does not match the organizational chart, but is designed to support the delegation of administration, and should be a framework to support GPO linking. In a large organization, one with 50,000 users and computers, for example, it is much more manageable to divide those objects into OUs instead of trying to manage them in one very large unit.</a:t>
            </a:r>
          </a:p>
          <a:p>
            <a:pPr>
              <a:lnSpc>
                <a:spcPct val="115000"/>
              </a:lnSpc>
              <a:spcAft>
                <a:spcPts val="1000"/>
              </a:spcAft>
            </a:pPr>
            <a:r>
              <a:rPr lang="en-CA" sz="1000" dirty="0">
                <a:latin typeface="Arial"/>
                <a:ea typeface="Calibri"/>
                <a:cs typeface="Times New Roman"/>
              </a:rPr>
              <a:t>Discuss some of the criteria that might drive the OU structure design, such as geographical location, department, object type, and cost center.</a:t>
            </a:r>
          </a:p>
        </p:txBody>
      </p:sp>
      <p:sp>
        <p:nvSpPr>
          <p:cNvPr id="4" name="Slide Number Placeholder 3"/>
          <p:cNvSpPr>
            <a:spLocks noGrp="1"/>
          </p:cNvSpPr>
          <p:nvPr>
            <p:ph type="sldNum" sz="quarter" idx="10"/>
          </p:nvPr>
        </p:nvSpPr>
        <p:spPr/>
        <p:txBody>
          <a:bodyPr/>
          <a:lstStyle/>
          <a:p>
            <a:fld id="{34AEEBBA-4BE6-4868-B96C-1EFBA8B820E6}" type="slidenum">
              <a:rPr lang="en-CA" smtClean="0"/>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1417951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Use this slide to explain the relationships among the forest root domain, a child domain, and another tree. Emphasize that there is no administrative difference between the child domain and another tree, apart from the names.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1377483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solidFill>
                  <a:srgbClr val="000000"/>
                </a:solidFill>
                <a:latin typeface="Arial"/>
                <a:ea typeface="Calibri"/>
                <a:cs typeface="Segoe UI"/>
              </a:rPr>
              <a:t>Reinforce the concept that the schema defines the rules and syntax of the AD DS database, and provides the blueprint for the objects within it.</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Optionally, you can demonstrate the Active Directory Schema snap-in to show how the objects are defined from attributes.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also can show the hierarchy of objects and the inherited attributes. For example, </a:t>
            </a:r>
            <a:r>
              <a:rPr lang="en-CA" sz="1000" dirty="0">
                <a:latin typeface="Arial"/>
                <a:ea typeface="Calibri"/>
                <a:cs typeface="Times New Roman"/>
              </a:rPr>
              <a:t>the parent object for User is Organizational Person, the parent object for Organizational Person is Person, and the parent object for Person is an object called Top.</a:t>
            </a:r>
          </a:p>
          <a:p>
            <a:pPr>
              <a:lnSpc>
                <a:spcPct val="115000"/>
              </a:lnSpc>
              <a:spcAft>
                <a:spcPts val="1000"/>
              </a:spcAft>
            </a:pPr>
            <a:r>
              <a:rPr lang="en-CA" sz="1000" dirty="0">
                <a:latin typeface="Arial"/>
                <a:ea typeface="Calibri"/>
                <a:cs typeface="Times New Roman"/>
              </a:rPr>
              <a:t>Point out that attributes are defined at each level in the hierarchy. This means that the User object contains all of the attributes that are defined on the User class, and all of the attributes defined farther up the objects hierarchy (Organizational Person, Person, Top).</a:t>
            </a:r>
          </a:p>
        </p:txBody>
      </p:sp>
      <p:sp>
        <p:nvSpPr>
          <p:cNvPr id="4" name="Slide Number Placeholder 3"/>
          <p:cNvSpPr>
            <a:spLocks noGrp="1"/>
          </p:cNvSpPr>
          <p:nvPr>
            <p:ph type="sldNum" sz="quarter" idx="10"/>
          </p:nvPr>
        </p:nvSpPr>
        <p:spPr/>
        <p:txBody>
          <a:bodyPr/>
          <a:lstStyle/>
          <a:p>
            <a:fld id="{34AEEBBA-4BE6-4868-B96C-1EFBA8B820E6}" type="slidenum">
              <a:rPr lang="en-CA" smtClean="0"/>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519070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Emphasize that the database and services are stored on servers called domain controllers.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Domain controllers—servers that perform the AD DS role—host the Active Directory database, SYSVOL, the Kerberos authentication service, and other Active Directory services. For redundancy purposes, it is best to have at least two available domain controllers.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Highlight that all domain controllers in a domain essentially are equal. Each domain controller contains a copy of the directory store, and updates can be made to the AD DS data on all domain controllers except for RODCs.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Emphasize the importance of having multiple domain controllers in each domain. This provides load balancing, but more importantly, it also provides recoverability if a server failure occurs.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Mention that all domain controllers engage in authentication and authorization, therefore the system has redundancy, with fewer fail points.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This topic does not provide much information about best practices. If students are interested, you can go into more detail about installing domain controllers in remote sites to protect against an unavailable wide area network (WAN) connection. You also can talk about increasing the number of domain controllers to account for redundancy and performance.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1215531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Describe the role of the global catalog server when searching for objects across domains in a forest. Define a global catalog as a domain controller that replicates the partial attribute set for each domain in the forest. The domain controller does not need the partial attribute set for its own domain because it already has the full copy of the domain database, and needs only the changes made to other domains. That is why, in a single-domain environment, making every domain controller a global catalog server adds no significant replication.</a:t>
            </a: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Should a domain controller be a global catalog?</a:t>
            </a: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Global catalog placement affects how long a user’s sign-in takes. Therefore, global catalog placement must be planned carefully. In a single-domain environment, every domain controller should host the global catalog because every domain controller already holds a complete copy of the domain. In a multi‑domain scenario, you need to consider user sign-in times, program dependencies, global catalog high availability, and replication traffic when planning global catalog placement.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4286375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Use this slide to illustrate how the sign‑in process works.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a:effectLst/>
                <a:latin typeface="Arial"/>
                <a:ea typeface="Times New Roman"/>
                <a:cs typeface="Segoe UI"/>
              </a:rPr>
              <a:t>In the first phase, the user account is authenticated to the domain controller.</a:t>
            </a:r>
            <a:endParaRPr lang="en-CA" sz="1000" dirty="0">
              <a:effectLst/>
              <a:latin typeface="Arial"/>
              <a:ea typeface="Times New Roman"/>
              <a:cs typeface="Times New Roman"/>
            </a:endParaRPr>
          </a:p>
          <a:p>
            <a:pPr marL="342900" lvl="0" indent="-342900">
              <a:lnSpc>
                <a:spcPct val="115000"/>
              </a:lnSpc>
              <a:spcAft>
                <a:spcPts val="995"/>
              </a:spcAft>
              <a:buFont typeface="Symbol"/>
              <a:buChar char=""/>
            </a:pPr>
            <a:r>
              <a:rPr lang="en-US" sz="1000" dirty="0">
                <a:effectLst/>
                <a:latin typeface="Arial"/>
                <a:ea typeface="Times New Roman"/>
                <a:cs typeface="Segoe UI"/>
              </a:rPr>
              <a:t>In the second phase, the user account applies to the domain controller for a ticket to gain authorization to connect with the local computer.</a:t>
            </a:r>
            <a:endParaRPr lang="en-CA" sz="1000" dirty="0">
              <a:effectLst/>
              <a:latin typeface="Arial"/>
              <a:ea typeface="Times New Roman"/>
              <a:cs typeface="Times New Roman"/>
            </a:endParaRPr>
          </a:p>
          <a:p>
            <a:pPr>
              <a:lnSpc>
                <a:spcPct val="115000"/>
              </a:lnSpc>
              <a:spcAft>
                <a:spcPts val="1000"/>
              </a:spcAft>
            </a:pPr>
            <a:r>
              <a:rPr lang="en-CA" sz="1000" dirty="0">
                <a:latin typeface="Arial"/>
                <a:ea typeface="Calibri"/>
                <a:cs typeface="Times New Roman"/>
              </a:rPr>
              <a:t>A centralized directory service such as AD DS provides a single identity store, authentication service, and point of management for administration.</a:t>
            </a:r>
          </a:p>
          <a:p>
            <a:pPr>
              <a:lnSpc>
                <a:spcPct val="115000"/>
              </a:lnSpc>
              <a:spcAft>
                <a:spcPts val="1000"/>
              </a:spcAft>
            </a:pPr>
            <a:r>
              <a:rPr lang="en-CA" sz="1000" dirty="0">
                <a:latin typeface="Arial"/>
                <a:ea typeface="Calibri"/>
                <a:cs typeface="Times New Roman"/>
              </a:rPr>
              <a:t>Emphasize the advantages of a single identity store for security and manageability.</a:t>
            </a:r>
          </a:p>
          <a:p>
            <a:pPr>
              <a:lnSpc>
                <a:spcPct val="115000"/>
              </a:lnSpc>
              <a:spcAft>
                <a:spcPts val="1000"/>
              </a:spcAft>
            </a:pPr>
            <a:r>
              <a:rPr lang="en-CA" sz="1000" dirty="0">
                <a:latin typeface="Arial"/>
                <a:ea typeface="Calibri"/>
                <a:cs typeface="Times New Roman"/>
              </a:rPr>
              <a:t>Review the following information to prepare for this topic:</a:t>
            </a:r>
          </a:p>
          <a:p>
            <a:pPr marL="342900" lvl="0" indent="-342900">
              <a:lnSpc>
                <a:spcPct val="115000"/>
              </a:lnSpc>
              <a:buFont typeface="Symbol"/>
              <a:buChar char=""/>
            </a:pPr>
            <a:r>
              <a:rPr lang="en-US" sz="1000" dirty="0">
                <a:effectLst/>
                <a:latin typeface="Arial"/>
                <a:ea typeface="Times New Roman"/>
                <a:cs typeface="Segoe UI"/>
              </a:rPr>
              <a:t>Security Identifiers Technical Reference: </a:t>
            </a:r>
            <a:endParaRPr lang="en-CA" sz="1000" dirty="0">
              <a:effectLst/>
              <a:latin typeface="Arial"/>
              <a:ea typeface="Times New Roman"/>
              <a:cs typeface="Times New Roman"/>
            </a:endParaRPr>
          </a:p>
          <a:p>
            <a:pPr marL="360000">
              <a:lnSpc>
                <a:spcPct val="115000"/>
              </a:lnSpc>
              <a:spcAft>
                <a:spcPts val="995"/>
              </a:spcAft>
            </a:pPr>
            <a:r>
              <a:rPr lang="en-US" sz="1000" u="sng" dirty="0">
                <a:effectLst/>
                <a:latin typeface="Arial"/>
                <a:ea typeface="Times New Roman"/>
                <a:cs typeface="Segoe UI"/>
                <a:hlinkClick r:id="rId3"/>
              </a:rPr>
              <a:t>http://go.microsoft.com/fwlink/?LinkID=331090</a:t>
            </a:r>
            <a:endParaRPr lang="en-CA" sz="1000" dirty="0">
              <a:effectLst/>
              <a:latin typeface="Arial"/>
              <a:ea typeface="Times New Roman"/>
              <a:cs typeface="Times New Roman"/>
            </a:endParaRPr>
          </a:p>
          <a:p>
            <a:pPr marL="342900" lvl="0" indent="-342900">
              <a:lnSpc>
                <a:spcPct val="115000"/>
              </a:lnSpc>
              <a:buFont typeface="Symbol"/>
              <a:buChar char=""/>
            </a:pPr>
            <a:r>
              <a:rPr lang="en-US" sz="1000" dirty="0">
                <a:effectLst/>
                <a:latin typeface="Arial"/>
                <a:ea typeface="Times New Roman"/>
                <a:cs typeface="Segoe UI"/>
              </a:rPr>
              <a:t>Well-known security identifiers in Windows operating systems:</a:t>
            </a:r>
            <a:endParaRPr lang="en-CA" sz="1000" dirty="0">
              <a:effectLst/>
              <a:latin typeface="Arial"/>
              <a:ea typeface="Times New Roman"/>
              <a:cs typeface="Times New Roman"/>
            </a:endParaRPr>
          </a:p>
          <a:p>
            <a:pPr marL="360000">
              <a:lnSpc>
                <a:spcPts val="1300"/>
              </a:lnSpc>
              <a:spcAft>
                <a:spcPts val="0"/>
              </a:spcAft>
            </a:pPr>
            <a:r>
              <a:rPr lang="en-US" sz="1000" u="sng" dirty="0">
                <a:effectLst/>
                <a:latin typeface="Arial"/>
                <a:ea typeface="Times New Roman"/>
                <a:cs typeface="Segoe UI"/>
                <a:hlinkClick r:id="rId4"/>
              </a:rPr>
              <a:t>http://go.microsoft.com/fwlink/?LinkID=331085</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651575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Use Server Manager to describe the initial process of installing an AD DS domain controller. Explain that the Active Directory </a:t>
            </a:r>
            <a:r>
              <a:rPr lang="en-CA" sz="1000" dirty="0">
                <a:solidFill>
                  <a:srgbClr val="000000"/>
                </a:solidFill>
                <a:latin typeface="Arial"/>
                <a:ea typeface="Calibri"/>
                <a:cs typeface="Segoe UI"/>
              </a:rPr>
              <a:t>Domain Services </a:t>
            </a:r>
            <a:r>
              <a:rPr lang="en-CA" sz="1000" dirty="0">
                <a:latin typeface="Arial"/>
                <a:ea typeface="Calibri"/>
                <a:cs typeface="Segoe UI"/>
              </a:rPr>
              <a:t>Installation Wizard has been depreciated. However, you still can run the command, </a:t>
            </a:r>
            <a:r>
              <a:rPr lang="en-CA" sz="1000" b="1" dirty="0">
                <a:latin typeface="Arial"/>
                <a:ea typeface="Calibri"/>
                <a:cs typeface="Times New Roman"/>
              </a:rPr>
              <a:t>dcpromo</a:t>
            </a:r>
            <a:r>
              <a:rPr lang="en-CA" sz="1000" dirty="0">
                <a:latin typeface="Arial"/>
                <a:ea typeface="Calibri"/>
                <a:cs typeface="Segoe UI"/>
              </a:rPr>
              <a:t>, with an answer file and that this functionality was retained to allow companies that use automation to convert to </a:t>
            </a:r>
            <a:r>
              <a:rPr lang="en-CA" sz="1000" dirty="0">
                <a:solidFill>
                  <a:srgbClr val="000000"/>
                </a:solidFill>
                <a:latin typeface="Arial"/>
                <a:ea typeface="Calibri"/>
                <a:cs typeface="Segoe UI"/>
              </a:rPr>
              <a:t>Windows</a:t>
            </a:r>
            <a:r>
              <a:rPr lang="en-CA" sz="1000" dirty="0">
                <a:latin typeface="Arial"/>
                <a:ea typeface="Calibri"/>
                <a:cs typeface="Segoe UI"/>
              </a:rPr>
              <a:t> PowerShell deployments. Explain that the initial pass installs the files for AD DS, and then you can continue to configure the AD DS installation.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2107048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solidFill>
                  <a:srgbClr val="000000"/>
                </a:solidFill>
                <a:latin typeface="Arial"/>
                <a:ea typeface="Calibri"/>
                <a:cs typeface="Segoe UI"/>
              </a:rPr>
              <a:t>Explain the supported methods for installing the domain controller role on Windows Server 2012 servers remotely.</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Refer to the links on the following web page to prepare for this topic:</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AD DS Deployment Cmdlets in Windows PowerShell, at </a:t>
            </a:r>
            <a:r>
              <a:rPr lang="en-CA" sz="1000" u="sng" dirty="0">
                <a:latin typeface="Arial"/>
                <a:ea typeface="Calibri"/>
                <a:cs typeface="Segoe UI"/>
                <a:hlinkClick r:id="rId3"/>
              </a:rPr>
              <a:t>http://go.microsoft.com/fwlink/?LinkID=331089</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34AEEBBA-4BE6-4868-B96C-1EFBA8B820E6}" type="slidenum">
              <a:rPr lang="en-CA" smtClean="0"/>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2: Introduction to Active Directory Domain Services</a:t>
            </a:r>
          </a:p>
        </p:txBody>
      </p:sp>
    </p:spTree>
    <p:extLst>
      <p:ext uri="{BB962C8B-B14F-4D97-AF65-F5344CB8AC3E}">
        <p14:creationId xmlns:p14="http://schemas.microsoft.com/office/powerpoint/2010/main" val="1596035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Consider demonstrating each tool as you discuss it.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4064267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Consider performing a demonstration of creating a user account, by using the steps that the student handbook provides.</a:t>
            </a:r>
            <a:endParaRPr lang="en-CA" sz="1000" dirty="0">
              <a:latin typeface="Arial"/>
              <a:ea typeface="Calibri"/>
              <a:cs typeface="Times New Roman"/>
            </a:endParaRPr>
          </a:p>
          <a:p>
            <a:pPr>
              <a:lnSpc>
                <a:spcPts val="1300"/>
              </a:lnSpc>
              <a:spcBef>
                <a:spcPts val="900"/>
              </a:spcBef>
              <a:spcAft>
                <a:spcPts val="300"/>
              </a:spcAft>
            </a:pPr>
            <a:r>
              <a:rPr lang="en-US" sz="1000" b="1" dirty="0">
                <a:effectLst/>
                <a:latin typeface="Arial"/>
                <a:ea typeface="Times New Roman"/>
                <a:cs typeface="Segoe UI"/>
              </a:rPr>
              <a:t>Discussion Prompt</a:t>
            </a:r>
            <a:endParaRPr lang="en-CA" sz="1000" b="1" dirty="0">
              <a:effectLst/>
              <a:latin typeface="Arial"/>
              <a:ea typeface="Times New Roman"/>
              <a:cs typeface="Segoe UI"/>
            </a:endParaRPr>
          </a:p>
          <a:p>
            <a:pPr>
              <a:lnSpc>
                <a:spcPct val="115000"/>
              </a:lnSpc>
              <a:spcAft>
                <a:spcPts val="1000"/>
              </a:spcAft>
            </a:pPr>
            <a:r>
              <a:rPr lang="en-CA" sz="1000" dirty="0">
                <a:latin typeface="Arial"/>
                <a:ea typeface="Calibri"/>
                <a:cs typeface="Segoe UI"/>
              </a:rPr>
              <a:t>Ask your students about their user account naming strategies. </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1957267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Consider opening users’ accounts and viewing their account properties as you discuss this content with students.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919706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Explain to students that they can use distribution groups to send email messages to collections of users, but only with messaging programs such as Microsoft Exchange Server. Stress that distribution lists are not security-enabled, so they cannot be listed in discretionary access control lists (DACLs).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Also explain to students that they can use security groups to assign rights and permissions to both groups of users and groups of computers. A security group is security-enabled, and you can use it to assign permissions to local and network resources.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856977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Use the table to describe group scopes. Consider drawing a diagram with several domains that shows where you can create groups, and the implications of each group scope.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3872772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This slide and the next five explain the example in the student notes. This slide summarizes the example, and the next five slides build up the example frame by frame. The five frames are:</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Identities</a:t>
            </a:r>
            <a:endParaRPr lang="en-CA" sz="1000" dirty="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Global groups</a:t>
            </a:r>
            <a:endParaRPr lang="en-CA" sz="1000" dirty="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Domain-local groups</a:t>
            </a:r>
            <a:endParaRPr lang="en-CA" sz="1000" dirty="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Assigned resource access</a:t>
            </a:r>
            <a:endParaRPr lang="en-CA" sz="1000" dirty="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A copy of the summary, as shown in the first slide above</a:t>
            </a:r>
            <a:endParaRPr lang="en-CA" sz="1000" dirty="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Alternatively, draw an illustration on the whiteboard by using the following guidelines to illustrate the advantage of group nesting:</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a:effectLst/>
                <a:latin typeface="Arial"/>
                <a:ea typeface="Times New Roman"/>
                <a:cs typeface="Segoe UI"/>
              </a:rPr>
              <a:t>Draw three domain objects, each containing five users. Draw a file object in one of the three domains.</a:t>
            </a:r>
            <a:endParaRPr lang="en-CA" sz="1000" dirty="0">
              <a:effectLst/>
              <a:latin typeface="Arial"/>
              <a:ea typeface="Times New Roman"/>
              <a:cs typeface="Times New Roman"/>
            </a:endParaRPr>
          </a:p>
          <a:p>
            <a:pPr marL="342000">
              <a:lnSpc>
                <a:spcPct val="115000"/>
              </a:lnSpc>
              <a:spcAft>
                <a:spcPts val="995"/>
              </a:spcAft>
            </a:pPr>
            <a:r>
              <a:rPr lang="en-CA" sz="1000" b="1" dirty="0">
                <a:latin typeface="Arial"/>
                <a:ea typeface="Calibri"/>
                <a:cs typeface="Times New Roman"/>
              </a:rPr>
              <a:t>Question:</a:t>
            </a:r>
            <a:r>
              <a:rPr lang="en-CA" sz="1000" dirty="0">
                <a:latin typeface="Arial"/>
                <a:ea typeface="Calibri"/>
                <a:cs typeface="Segoe UI"/>
              </a:rPr>
              <a:t> How many file permissions do you need to create to assign permissions on this file for each user?</a:t>
            </a:r>
            <a:endParaRPr lang="en-CA" sz="1000" dirty="0">
              <a:latin typeface="Arial"/>
              <a:ea typeface="Calibri"/>
              <a:cs typeface="Times New Roman"/>
            </a:endParaRPr>
          </a:p>
          <a:p>
            <a:pPr marL="342000">
              <a:lnSpc>
                <a:spcPct val="115000"/>
              </a:lnSpc>
              <a:spcAft>
                <a:spcPts val="995"/>
              </a:spcAft>
            </a:pPr>
            <a:r>
              <a:rPr lang="en-CA" sz="1000" b="1" dirty="0">
                <a:latin typeface="Arial"/>
                <a:ea typeface="Calibri"/>
                <a:cs typeface="Times New Roman"/>
              </a:rPr>
              <a:t>Answer:</a:t>
            </a:r>
            <a:r>
              <a:rPr lang="en-CA" sz="1000" dirty="0">
                <a:latin typeface="Arial"/>
                <a:ea typeface="Calibri"/>
                <a:cs typeface="Segoe UI"/>
              </a:rPr>
              <a:t> You need to create 15 file permissions.</a:t>
            </a:r>
            <a:endParaRPr lang="en-CA" sz="1000" dirty="0">
              <a:latin typeface="Arial"/>
              <a:ea typeface="Calibri"/>
              <a:cs typeface="Times New Roman"/>
            </a:endParaRPr>
          </a:p>
          <a:p>
            <a:pPr marL="342900" indent="-342900">
              <a:lnSpc>
                <a:spcPct val="115000"/>
              </a:lnSpc>
              <a:spcAft>
                <a:spcPts val="995"/>
              </a:spcAft>
              <a:buFont typeface="+mj-lt"/>
              <a:buAutoNum type="arabicPeriod" startAt="2"/>
            </a:pPr>
            <a:r>
              <a:rPr lang="en-US" sz="1000" dirty="0">
                <a:latin typeface="Arial"/>
                <a:ea typeface="Times New Roman"/>
                <a:cs typeface="Segoe UI"/>
              </a:rPr>
              <a:t>Draw a circle around the five users in each domain, and explain that the circles represent global groups.</a:t>
            </a:r>
            <a:endParaRPr lang="en-CA" sz="1000" dirty="0">
              <a:latin typeface="Arial"/>
              <a:ea typeface="Times New Roman"/>
              <a:cs typeface="Segoe UI"/>
            </a:endParaRPr>
          </a:p>
          <a:p>
            <a:pPr marL="342000">
              <a:lnSpc>
                <a:spcPct val="115000"/>
              </a:lnSpc>
              <a:spcAft>
                <a:spcPts val="995"/>
              </a:spcAft>
            </a:pPr>
            <a:r>
              <a:rPr lang="en-CA" sz="1000" b="1" dirty="0">
                <a:latin typeface="Arial"/>
                <a:ea typeface="Calibri"/>
                <a:cs typeface="Times New Roman"/>
              </a:rPr>
              <a:t>Question:</a:t>
            </a:r>
            <a:r>
              <a:rPr lang="en-CA" sz="1000" dirty="0">
                <a:latin typeface="Arial"/>
                <a:ea typeface="Calibri"/>
                <a:cs typeface="Segoe UI"/>
              </a:rPr>
              <a:t> How many permissions on the file do you need to assign at the global group level?</a:t>
            </a:r>
            <a:endParaRPr lang="en-CA" sz="1000" dirty="0">
              <a:latin typeface="Arial"/>
              <a:ea typeface="Calibri"/>
              <a:cs typeface="Times New Roman"/>
            </a:endParaRPr>
          </a:p>
          <a:p>
            <a:pPr marL="342000">
              <a:lnSpc>
                <a:spcPct val="115000"/>
              </a:lnSpc>
              <a:spcAft>
                <a:spcPts val="995"/>
              </a:spcAft>
            </a:pPr>
            <a:r>
              <a:rPr lang="en-CA" sz="1000" b="1" dirty="0">
                <a:latin typeface="Arial"/>
                <a:ea typeface="Calibri"/>
                <a:cs typeface="Times New Roman"/>
              </a:rPr>
              <a:t>Answer:</a:t>
            </a:r>
            <a:r>
              <a:rPr lang="en-CA" sz="1000" dirty="0">
                <a:latin typeface="Arial"/>
                <a:ea typeface="Calibri"/>
                <a:cs typeface="Segoe UI"/>
              </a:rPr>
              <a:t> You need to assign three permissions.</a:t>
            </a:r>
            <a:endParaRPr lang="en-CA" sz="1000" dirty="0">
              <a:latin typeface="Arial"/>
              <a:ea typeface="Calibri"/>
              <a:cs typeface="Times New Roman"/>
            </a:endParaRPr>
          </a:p>
          <a:p>
            <a:pPr marL="342900" lvl="0" indent="-342900">
              <a:lnSpc>
                <a:spcPct val="115000"/>
              </a:lnSpc>
              <a:spcAft>
                <a:spcPts val="995"/>
              </a:spcAft>
              <a:buFont typeface="+mj-lt"/>
              <a:buAutoNum type="arabicPeriod" startAt="3"/>
            </a:pPr>
            <a:r>
              <a:rPr lang="en-US" sz="1000" dirty="0">
                <a:effectLst/>
                <a:latin typeface="Arial"/>
                <a:ea typeface="Times New Roman"/>
                <a:cs typeface="Segoe UI"/>
              </a:rPr>
              <a:t>Draw a circle adjacent to the file. Draw arrows from your global groups to this circle, indicating that you have added these groups to a local group in the resource holding domain.</a:t>
            </a:r>
            <a:endParaRPr lang="en-CA" sz="1000" dirty="0">
              <a:effectLst/>
              <a:latin typeface="Arial"/>
              <a:ea typeface="Times New Roman"/>
              <a:cs typeface="Times New Roman"/>
            </a:endParaRPr>
          </a:p>
          <a:p>
            <a:pPr marL="342000">
              <a:lnSpc>
                <a:spcPct val="115000"/>
              </a:lnSpc>
              <a:spcAft>
                <a:spcPts val="1000"/>
              </a:spcAft>
            </a:pPr>
            <a:r>
              <a:rPr lang="en-CA" sz="1000" b="1" dirty="0">
                <a:latin typeface="Arial"/>
                <a:ea typeface="Calibri"/>
                <a:cs typeface="Times New Roman"/>
              </a:rPr>
              <a:t>Question:</a:t>
            </a:r>
            <a:r>
              <a:rPr lang="en-CA" sz="1000" dirty="0">
                <a:latin typeface="Arial"/>
                <a:ea typeface="Calibri"/>
                <a:cs typeface="Segoe UI"/>
              </a:rPr>
              <a:t> How many permissions must you assign to the local group?</a:t>
            </a:r>
            <a:endParaRPr lang="en-CA" sz="1000" dirty="0">
              <a:latin typeface="Arial"/>
              <a:ea typeface="Calibri"/>
              <a:cs typeface="Times New Roman"/>
            </a:endParaRPr>
          </a:p>
          <a:p>
            <a:pPr marL="342000">
              <a:lnSpc>
                <a:spcPct val="115000"/>
              </a:lnSpc>
              <a:spcAft>
                <a:spcPts val="1000"/>
              </a:spcAft>
            </a:pPr>
            <a:r>
              <a:rPr lang="en-CA" sz="1000" b="1" dirty="0">
                <a:latin typeface="Arial"/>
                <a:ea typeface="Calibri"/>
                <a:cs typeface="Times New Roman"/>
              </a:rPr>
              <a:t>Answer:</a:t>
            </a:r>
            <a:r>
              <a:rPr lang="en-CA" sz="1000" dirty="0">
                <a:latin typeface="Arial"/>
                <a:ea typeface="Calibri"/>
                <a:cs typeface="Segoe UI"/>
              </a:rPr>
              <a:t> You must assign one permission to the local group.</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17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1787185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1</a:t>
            </a:r>
            <a:r>
              <a:rPr lang="en-CA" sz="1000" baseline="30000" dirty="0">
                <a:latin typeface="Arial"/>
                <a:ea typeface="Calibri"/>
                <a:cs typeface="Times New Roman"/>
              </a:rPr>
              <a:t>st</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Identities are assigned to users or groups.</a:t>
            </a:r>
          </a:p>
        </p:txBody>
      </p:sp>
      <p:sp>
        <p:nvSpPr>
          <p:cNvPr id="4" name="Slide Number Placeholder 3"/>
          <p:cNvSpPr>
            <a:spLocks noGrp="1"/>
          </p:cNvSpPr>
          <p:nvPr>
            <p:ph type="sldNum" sz="quarter" idx="10"/>
          </p:nvPr>
        </p:nvSpPr>
        <p:spPr/>
        <p:txBody>
          <a:bodyPr/>
          <a:lstStyle/>
          <a:p>
            <a:fld id="{BC25D2D6-B00A-4B22-9A9A-ED999C7BB1C0}" type="slidenum">
              <a:rPr lang="en-CA" smtClean="0"/>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40320713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2</a:t>
            </a:r>
            <a:r>
              <a:rPr lang="en-CA" sz="1000" baseline="30000" dirty="0">
                <a:latin typeface="Arial"/>
                <a:ea typeface="Calibri"/>
                <a:cs typeface="Times New Roman"/>
              </a:rPr>
              <a:t>nd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The users and computers have been collected into two separate groups, the Sales (global group) and the Auditors (global group).</a:t>
            </a:r>
          </a:p>
        </p:txBody>
      </p:sp>
      <p:sp>
        <p:nvSpPr>
          <p:cNvPr id="4" name="Slide Number Placeholder 3"/>
          <p:cNvSpPr>
            <a:spLocks noGrp="1"/>
          </p:cNvSpPr>
          <p:nvPr>
            <p:ph type="sldNum" sz="quarter" idx="10"/>
          </p:nvPr>
        </p:nvSpPr>
        <p:spPr/>
        <p:txBody>
          <a:bodyPr/>
          <a:lstStyle/>
          <a:p>
            <a:fld id="{BC25D2D6-B00A-4B22-9A9A-ED999C7BB1C0}" type="slidenum">
              <a:rPr lang="en-CA" smtClean="0"/>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2363250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3</a:t>
            </a:r>
            <a:r>
              <a:rPr lang="en-CA" sz="1000" baseline="30000" dirty="0">
                <a:latin typeface="Arial"/>
                <a:ea typeface="Calibri"/>
                <a:cs typeface="Times New Roman"/>
              </a:rPr>
              <a:t>rd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The two global groups have been combined into one </a:t>
            </a:r>
            <a:r>
              <a:rPr lang="en-CA" sz="1000" dirty="0">
                <a:solidFill>
                  <a:srgbClr val="000000"/>
                </a:solidFill>
                <a:latin typeface="Arial"/>
                <a:ea typeface="Calibri"/>
                <a:cs typeface="Times New Roman"/>
              </a:rPr>
              <a:t>domain local group, which is called ACL_Sales_Read.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20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1015000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4</a:t>
            </a:r>
            <a:r>
              <a:rPr lang="en-CA" sz="1000" baseline="30000" dirty="0">
                <a:latin typeface="Arial"/>
                <a:ea typeface="Calibri"/>
                <a:cs typeface="Times New Roman"/>
              </a:rPr>
              <a:t>th</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The domain-local group has been given access to a resource</a:t>
            </a:r>
            <a:r>
              <a:rPr lang="en-CA" sz="1000" dirty="0">
                <a:solidFill>
                  <a:srgbClr val="000000"/>
                </a:solidFill>
                <a:latin typeface="Arial"/>
                <a:ea typeface="Calibri"/>
                <a:cs typeface="Times New Roman"/>
              </a:rPr>
              <a: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2501331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5</a:t>
            </a:r>
            <a:r>
              <a:rPr lang="en-CA" sz="1000" baseline="30000" dirty="0">
                <a:latin typeface="Arial"/>
                <a:ea typeface="Calibri"/>
                <a:cs typeface="Times New Roman"/>
              </a:rPr>
              <a:t>th</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This is a summary of the example. It is the same as the slide in the Student Manual.</a:t>
            </a:r>
          </a:p>
        </p:txBody>
      </p:sp>
      <p:sp>
        <p:nvSpPr>
          <p:cNvPr id="4" name="Slide Number Placeholder 3"/>
          <p:cNvSpPr>
            <a:spLocks noGrp="1"/>
          </p:cNvSpPr>
          <p:nvPr>
            <p:ph type="sldNum" sz="quarter" idx="10"/>
          </p:nvPr>
        </p:nvSpPr>
        <p:spPr/>
        <p:txBody>
          <a:bodyPr/>
          <a:lstStyle/>
          <a:p>
            <a:fld id="{BC25D2D6-B00A-4B22-9A9A-ED999C7BB1C0}" type="slidenum">
              <a:rPr lang="en-CA" smtClean="0"/>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1544100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Show your students the groups mentioned on the slide as you discuss them.</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804657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Show your students the identities that are mentioned on the slide, as you discuss them.</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BC25D2D6-B00A-4B22-9A9A-ED999C7BB1C0}" type="slidenum">
              <a:rPr lang="en-CA" smtClean="0"/>
              <a:t>24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9584740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14775" y="73025"/>
            <a:ext cx="3289300"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Discuss the design of an organizational unit (OU) hierarchy. Discuss your experience with OU design, and students’ environments and the reasons they have created OUs. Explain that you should create OUs with a specific management goal in mind, with ease of management as a goal.</a:t>
            </a:r>
          </a:p>
        </p:txBody>
      </p:sp>
      <p:sp>
        <p:nvSpPr>
          <p:cNvPr id="4" name="Slide Number Placeholder 3"/>
          <p:cNvSpPr>
            <a:spLocks noGrp="1"/>
          </p:cNvSpPr>
          <p:nvPr>
            <p:ph type="sldNum" sz="quarter" idx="10"/>
          </p:nvPr>
        </p:nvSpPr>
        <p:spPr/>
        <p:txBody>
          <a:bodyPr/>
          <a:lstStyle/>
          <a:p>
            <a:fld id="{BC25D2D6-B00A-4B22-9A9A-ED999C7BB1C0}" type="slidenum">
              <a:rPr lang="en-CA" smtClean="0"/>
              <a:t>25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000000"/>
                </a:solidFill>
                <a:latin typeface="Arial"/>
              </a:rPr>
              <a:t>20410D</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a:solidFill>
                  <a:srgbClr val="336699"/>
                </a:solidFill>
                <a:latin typeface="Arial"/>
              </a:rPr>
              <a:t>3: Managing Active Directory Domain Services Objects</a:t>
            </a:r>
          </a:p>
        </p:txBody>
      </p:sp>
    </p:spTree>
    <p:extLst>
      <p:ext uri="{BB962C8B-B14F-4D97-AF65-F5344CB8AC3E}">
        <p14:creationId xmlns:p14="http://schemas.microsoft.com/office/powerpoint/2010/main" val="1934578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29302" y="1600201"/>
            <a:ext cx="8331201" cy="2680127"/>
          </a:xfrm>
        </p:spPr>
        <p:txBody>
          <a:bodyPr>
            <a:noAutofit/>
          </a:bodyPr>
          <a:lstStyle>
            <a:lvl1pPr>
              <a:defRPr sz="5400">
                <a:solidFill>
                  <a:schemeClr val="tx2">
                    <a:lumMod val="75000"/>
                  </a:schemeClr>
                </a:solidFill>
              </a:defRPr>
            </a:lvl1pPr>
          </a:lstStyle>
          <a:p>
            <a:r>
              <a:rPr lang="en-US"/>
              <a:t>Click to edit Master title style</a:t>
            </a:r>
            <a:endParaRPr dirty="0"/>
          </a:p>
        </p:txBody>
      </p:sp>
      <p:sp>
        <p:nvSpPr>
          <p:cNvPr id="3" name="Subtitle 2"/>
          <p:cNvSpPr>
            <a:spLocks noGrp="1"/>
          </p:cNvSpPr>
          <p:nvPr>
            <p:ph type="subTitle" idx="1"/>
          </p:nvPr>
        </p:nvSpPr>
        <p:spPr>
          <a:xfrm>
            <a:off x="2429302" y="4344916"/>
            <a:ext cx="7518400"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700249" y="6356352"/>
            <a:ext cx="1219201" cy="365125"/>
          </a:xfrm>
        </p:spPr>
        <p:txBody>
          <a:bodyPr/>
          <a:lstStyle>
            <a:lvl1pPr>
              <a:defRPr>
                <a:solidFill>
                  <a:schemeClr val="tx1"/>
                </a:solidFill>
              </a:defRPr>
            </a:lvl1pPr>
          </a:lstStyle>
          <a:p>
            <a:fld id="{80BBE6BF-C811-45BB-8BA9-22EFF2B83FFA}" type="datetime1">
              <a:rPr lang="en-US" smtClean="0"/>
              <a:t>6/24/2019</a:t>
            </a:fld>
            <a:endParaRPr lang="en-US"/>
          </a:p>
        </p:txBody>
      </p:sp>
      <p:sp>
        <p:nvSpPr>
          <p:cNvPr id="5" name="Footer Placeholder 4"/>
          <p:cNvSpPr>
            <a:spLocks noGrp="1"/>
          </p:cNvSpPr>
          <p:nvPr>
            <p:ph type="ftr" sz="quarter" idx="11"/>
          </p:nvPr>
        </p:nvSpPr>
        <p:spPr>
          <a:xfrm>
            <a:off x="6116301" y="6356352"/>
            <a:ext cx="3975100" cy="365125"/>
          </a:xfrm>
        </p:spPr>
        <p:txBody>
          <a:bodyPr/>
          <a:lstStyle>
            <a:lvl1pPr>
              <a:defRPr>
                <a:solidFill>
                  <a:schemeClr val="tx1"/>
                </a:solidFill>
              </a:defRPr>
            </a:lvl1pPr>
          </a:lstStyle>
          <a:p>
            <a:r>
              <a:rPr lang="en-US" dirty="0"/>
              <a:t>Add a footer</a:t>
            </a:r>
          </a:p>
        </p:txBody>
      </p:sp>
      <p:sp>
        <p:nvSpPr>
          <p:cNvPr id="6" name="Slide Number Placeholder 5"/>
          <p:cNvSpPr>
            <a:spLocks noGrp="1"/>
          </p:cNvSpPr>
          <p:nvPr>
            <p:ph type="sldNum" sz="quarter" idx="12"/>
          </p:nvPr>
        </p:nvSpPr>
        <p:spPr>
          <a:xfrm>
            <a:off x="10288251" y="6356352"/>
            <a:ext cx="609600" cy="365125"/>
          </a:xfrm>
        </p:spPr>
        <p:txBody>
          <a:bodyPr/>
          <a:lstStyle>
            <a:lvl1pPr>
              <a:defRPr>
                <a:solidFill>
                  <a:schemeClr val="tx1"/>
                </a:solidFill>
              </a:defRPr>
            </a:lvl1pPr>
          </a:lstStyle>
          <a:p>
            <a:fld id="{7DC1BBB0-96F0-4077-A278-0F3FB5C104D3}" type="slidenum">
              <a:rPr lang="en-US" smtClean="0"/>
              <a:pPr/>
              <a:t>‹#›</a:t>
            </a:fld>
            <a:endParaRPr lang="en-US"/>
          </a:p>
        </p:txBody>
      </p:sp>
      <p:pic>
        <p:nvPicPr>
          <p:cNvPr id="5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803870" cy="6858000"/>
          </a:xfrm>
          <a:prstGeom prst="rect">
            <a:avLst/>
          </a:prstGeom>
          <a:noFill/>
          <a:ln>
            <a:noFill/>
          </a:ln>
        </p:spPr>
      </p:pic>
      <p:sp>
        <p:nvSpPr>
          <p:cNvPr id="36" name="Rectangle 35"/>
          <p:cNvSpPr/>
          <p:nvPr/>
        </p:nvSpPr>
        <p:spPr>
          <a:xfrm>
            <a:off x="11895662" y="0"/>
            <a:ext cx="3048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spTree>
    <p:extLst>
      <p:ext uri="{BB962C8B-B14F-4D97-AF65-F5344CB8AC3E}">
        <p14:creationId xmlns:p14="http://schemas.microsoft.com/office/powerpoint/2010/main" val="95511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SG"/>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spTree>
    <p:extLst>
      <p:ext uri="{BB962C8B-B14F-4D97-AF65-F5344CB8AC3E}">
        <p14:creationId xmlns:p14="http://schemas.microsoft.com/office/powerpoint/2010/main" val="357040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19954" y="1600201"/>
            <a:ext cx="8285430" cy="2654064"/>
          </a:xfrm>
        </p:spPr>
        <p:txBody>
          <a:bodyPr anchor="b">
            <a:normAutofit/>
          </a:bodyPr>
          <a:lstStyle>
            <a:lvl1pPr algn="l">
              <a:defRPr sz="5400" b="0" cap="none" baseline="0">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919955" y="4259997"/>
            <a:ext cx="7266515"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SG"/>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pic>
        <p:nvPicPr>
          <p:cNvPr id="7"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803870" cy="6858000"/>
          </a:xfrm>
          <a:prstGeom prst="rect">
            <a:avLst/>
          </a:prstGeom>
          <a:noFill/>
          <a:ln>
            <a:noFill/>
          </a:ln>
        </p:spPr>
      </p:pic>
      <p:sp>
        <p:nvSpPr>
          <p:cNvPr id="9" name="Rectangle 8"/>
          <p:cNvSpPr/>
          <p:nvPr/>
        </p:nvSpPr>
        <p:spPr>
          <a:xfrm>
            <a:off x="11895662" y="0"/>
            <a:ext cx="3048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spTree>
    <p:extLst>
      <p:ext uri="{BB962C8B-B14F-4D97-AF65-F5344CB8AC3E}">
        <p14:creationId xmlns:p14="http://schemas.microsoft.com/office/powerpoint/2010/main" val="13429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Content Placeholder 2"/>
          <p:cNvSpPr>
            <a:spLocks noGrp="1"/>
          </p:cNvSpPr>
          <p:nvPr>
            <p:ph sz="half" idx="1" hasCustomPrompt="1"/>
          </p:nvPr>
        </p:nvSpPr>
        <p:spPr>
          <a:xfrm>
            <a:off x="1936000" y="1600200"/>
            <a:ext cx="4573191"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hasCustomPrompt="1"/>
          </p:nvPr>
        </p:nvSpPr>
        <p:spPr>
          <a:xfrm>
            <a:off x="6826106" y="1600200"/>
            <a:ext cx="4573191"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baseline="0"/>
            </a:lvl6pPr>
            <a:lvl7pPr>
              <a:defRPr sz="1800" baseline="0"/>
            </a:lvl7pPr>
            <a:lvl8pPr>
              <a:defRPr sz="1800" baseline="0"/>
            </a:lvl8pPr>
            <a:lvl9pPr>
              <a:defRPr sz="18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spTree>
    <p:extLst>
      <p:ext uri="{BB962C8B-B14F-4D97-AF65-F5344CB8AC3E}">
        <p14:creationId xmlns:p14="http://schemas.microsoft.com/office/powerpoint/2010/main" val="243993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03909" y="177801"/>
            <a:ext cx="9475292" cy="1239837"/>
          </a:xfrm>
        </p:spPr>
        <p:txBody>
          <a:bodyPr/>
          <a:lstStyle>
            <a:lvl1pPr>
              <a:defRPr>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937119" y="1499616"/>
            <a:ext cx="4573191"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hasCustomPrompt="1"/>
          </p:nvPr>
        </p:nvSpPr>
        <p:spPr>
          <a:xfrm>
            <a:off x="1937119" y="2514707"/>
            <a:ext cx="4573191" cy="365749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baseline="0"/>
            </a:lvl8pPr>
            <a:lvl9pPr>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826106" y="1499616"/>
            <a:ext cx="4573191"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hasCustomPrompt="1"/>
          </p:nvPr>
        </p:nvSpPr>
        <p:spPr>
          <a:xfrm>
            <a:off x="6826106" y="2514600"/>
            <a:ext cx="4573191" cy="3655568"/>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SG"/>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spTree>
    <p:extLst>
      <p:ext uri="{BB962C8B-B14F-4D97-AF65-F5344CB8AC3E}">
        <p14:creationId xmlns:p14="http://schemas.microsoft.com/office/powerpoint/2010/main" val="87842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Date Placeholder 2"/>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SG"/>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spTree>
    <p:extLst>
      <p:ext uri="{BB962C8B-B14F-4D97-AF65-F5344CB8AC3E}">
        <p14:creationId xmlns:p14="http://schemas.microsoft.com/office/powerpoint/2010/main" val="673587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2"/>
          <p:cNvSpPr>
            <a:spLocks noGrp="1"/>
          </p:cNvSpPr>
          <p:nvPr>
            <p:ph type="dt" sz="half" idx="10"/>
          </p:nvPr>
        </p:nvSpPr>
        <p:spPr>
          <a:xfrm>
            <a:off x="5181600" y="6356352"/>
            <a:ext cx="1219201" cy="365125"/>
          </a:xfrm>
        </p:spPr>
        <p:txBody>
          <a:bodyPr/>
          <a:lstStyle/>
          <a:p>
            <a:fld id="{D7A8CFA8-DC74-4F18-A072-E90EC69EAF8B}" type="datetimeFigureOut">
              <a:rPr lang="en-SG" smtClean="0"/>
              <a:t>24/6/2019</a:t>
            </a:fld>
            <a:endParaRPr lang="en-SG"/>
          </a:p>
        </p:txBody>
      </p:sp>
      <p:sp>
        <p:nvSpPr>
          <p:cNvPr id="6" name="Footer Placeholder 3"/>
          <p:cNvSpPr>
            <a:spLocks noGrp="1"/>
          </p:cNvSpPr>
          <p:nvPr>
            <p:ph type="ftr" sz="quarter" idx="11"/>
          </p:nvPr>
        </p:nvSpPr>
        <p:spPr>
          <a:xfrm>
            <a:off x="6597652" y="6356352"/>
            <a:ext cx="3975100" cy="365125"/>
          </a:xfrm>
        </p:spPr>
        <p:txBody>
          <a:bodyPr/>
          <a:lstStyle/>
          <a:p>
            <a:endParaRPr lang="en-SG"/>
          </a:p>
        </p:txBody>
      </p:sp>
      <p:sp>
        <p:nvSpPr>
          <p:cNvPr id="7" name="Slide Number Placeholder 4"/>
          <p:cNvSpPr>
            <a:spLocks noGrp="1"/>
          </p:cNvSpPr>
          <p:nvPr>
            <p:ph type="sldNum" sz="quarter" idx="12"/>
          </p:nvPr>
        </p:nvSpPr>
        <p:spPr>
          <a:xfrm>
            <a:off x="10769601" y="6356352"/>
            <a:ext cx="609600" cy="365125"/>
          </a:xfrm>
        </p:spPr>
        <p:txBody>
          <a:bodyPr/>
          <a:lstStyle/>
          <a:p>
            <a:fld id="{728BB334-312C-4E2A-AFC8-2ED82C3EE9A4}" type="slidenum">
              <a:rPr lang="en-SG" smtClean="0"/>
              <a:t>‹#›</a:t>
            </a:fld>
            <a:endParaRPr lang="en-SG"/>
          </a:p>
        </p:txBody>
      </p:sp>
    </p:spTree>
    <p:extLst>
      <p:ext uri="{BB962C8B-B14F-4D97-AF65-F5344CB8AC3E}">
        <p14:creationId xmlns:p14="http://schemas.microsoft.com/office/powerpoint/2010/main" val="3405936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74520" y="381000"/>
            <a:ext cx="3294280"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a:xfrm>
            <a:off x="5181600" y="482600"/>
            <a:ext cx="6197600" cy="5689600"/>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baseline="0"/>
            </a:lvl8pPr>
            <a:lvl9pPr>
              <a:defRPr sz="18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bwMode="white">
          <a:xfrm>
            <a:off x="1074520" y="1828800"/>
            <a:ext cx="3294280"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D7A8CFA8-DC74-4F18-A072-E90EC69EAF8B}" type="datetimeFigureOut">
              <a:rPr lang="en-SG" smtClean="0"/>
              <a:t>24/6/2019</a:t>
            </a:fld>
            <a:endParaRPr lang="en-SG"/>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28BB334-312C-4E2A-AFC8-2ED82C3EE9A4}" type="slidenum">
              <a:rPr lang="en-SG" smtClean="0"/>
              <a:t>‹#›</a:t>
            </a:fld>
            <a:endParaRPr lang="en-SG"/>
          </a:p>
        </p:txBody>
      </p:sp>
      <p:sp>
        <p:nvSpPr>
          <p:cNvPr id="9" name="Rectangle 8"/>
          <p:cNvSpPr/>
          <p:nvPr/>
        </p:nvSpPr>
        <p:spPr>
          <a:xfrm>
            <a:off x="11887200" y="0"/>
            <a:ext cx="304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spTree>
    <p:extLst>
      <p:ext uri="{BB962C8B-B14F-4D97-AF65-F5344CB8AC3E}">
        <p14:creationId xmlns:p14="http://schemas.microsoft.com/office/powerpoint/2010/main" val="420018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4520" y="381000"/>
            <a:ext cx="3294280"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bwMode="auto">
          <a:xfrm>
            <a:off x="5181600" y="482600"/>
            <a:ext cx="6197600" cy="5689600"/>
          </a:xfrm>
          <a:ln w="19050">
            <a:solidFill>
              <a:schemeClr val="bg1"/>
            </a:solidFill>
          </a:ln>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520" y="1828800"/>
            <a:ext cx="3294280"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7A8CFA8-DC74-4F18-A072-E90EC69EAF8B}" type="datetimeFigureOut">
              <a:rPr lang="en-SG" smtClean="0"/>
              <a:t>24/6/2019</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28BB334-312C-4E2A-AFC8-2ED82C3EE9A4}" type="slidenum">
              <a:rPr lang="en-SG" smtClean="0"/>
              <a:t>‹#›</a:t>
            </a:fld>
            <a:endParaRPr lang="en-SG"/>
          </a:p>
        </p:txBody>
      </p:sp>
      <p:sp>
        <p:nvSpPr>
          <p:cNvPr id="9" name="Rectangle 8"/>
          <p:cNvSpPr/>
          <p:nvPr/>
        </p:nvSpPr>
        <p:spPr>
          <a:xfrm>
            <a:off x="11887200" y="0"/>
            <a:ext cx="304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spTree>
    <p:extLst>
      <p:ext uri="{BB962C8B-B14F-4D97-AF65-F5344CB8AC3E}">
        <p14:creationId xmlns:p14="http://schemas.microsoft.com/office/powerpoint/2010/main" val="148196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Vertical Text Placeholder 2"/>
          <p:cNvSpPr>
            <a:spLocks noGrp="1"/>
          </p:cNvSpPr>
          <p:nvPr>
            <p:ph type="body" orient="vert" idx="1" hasCustomPrompt="1"/>
          </p:nvPr>
        </p:nvSpPr>
        <p:spPr/>
        <p:txBody>
          <a:bodyPr vert="eaVert"/>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7A8CFA8-DC74-4F18-A072-E90EC69EAF8B}" type="datetimeFigureOut">
              <a:rPr lang="en-SG" smtClean="0"/>
              <a:t>24/6/2019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28BB334-312C-4E2A-AFC8-2ED82C3EE9A4}" type="slidenum">
              <a:rPr lang="en-SG" smtClean="0"/>
              <a:t>‹#›</a:t>
            </a:fld>
            <a:endParaRPr lang="en-SG"/>
          </a:p>
        </p:txBody>
      </p:sp>
    </p:spTree>
    <p:extLst>
      <p:ext uri="{BB962C8B-B14F-4D97-AF65-F5344CB8AC3E}">
        <p14:creationId xmlns:p14="http://schemas.microsoft.com/office/powerpoint/2010/main" val="3492147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02112" y="685800"/>
            <a:ext cx="1787992" cy="5486400"/>
          </a:xfrm>
        </p:spPr>
        <p:txBody>
          <a:bodyPr vert="eaVert"/>
          <a:lstStyle/>
          <a:p>
            <a:r>
              <a:rPr lang="en-US"/>
              <a:t>Click to edit Master title style</a:t>
            </a:r>
            <a:endParaRPr dirty="0"/>
          </a:p>
        </p:txBody>
      </p:sp>
      <p:sp>
        <p:nvSpPr>
          <p:cNvPr id="3" name="Vertical Text Placeholder 2"/>
          <p:cNvSpPr>
            <a:spLocks noGrp="1"/>
          </p:cNvSpPr>
          <p:nvPr>
            <p:ph type="body" orient="vert" idx="1" hasCustomPrompt="1"/>
          </p:nvPr>
        </p:nvSpPr>
        <p:spPr>
          <a:xfrm>
            <a:off x="1599030" y="685800"/>
            <a:ext cx="7850643" cy="5486400"/>
          </a:xfrm>
        </p:spPr>
        <p:txBody>
          <a:bodyPr vert="eaVert"/>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7A8CFA8-DC74-4F18-A072-E90EC69EAF8B}" type="datetimeFigureOut">
              <a:rPr lang="en-SG" smtClean="0"/>
              <a:t>24/6/2019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28BB334-312C-4E2A-AFC8-2ED82C3EE9A4}" type="slidenum">
              <a:rPr lang="en-SG" smtClean="0"/>
              <a:t>‹#›</a:t>
            </a:fld>
            <a:endParaRPr lang="en-SG"/>
          </a:p>
        </p:txBody>
      </p:sp>
      <p:sp>
        <p:nvSpPr>
          <p:cNvPr id="8" name="Rectangle 7"/>
          <p:cNvSpPr/>
          <p:nvPr/>
        </p:nvSpPr>
        <p:spPr>
          <a:xfrm>
            <a:off x="11888788" y="0"/>
            <a:ext cx="304800"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spTree>
    <p:extLst>
      <p:ext uri="{BB962C8B-B14F-4D97-AF65-F5344CB8AC3E}">
        <p14:creationId xmlns:p14="http://schemas.microsoft.com/office/powerpoint/2010/main" val="3141443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3909" y="177801"/>
            <a:ext cx="9475292" cy="1239837"/>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903909" y="1600200"/>
            <a:ext cx="9475292"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5181600" y="6356352"/>
            <a:ext cx="1219201" cy="365125"/>
          </a:xfrm>
          <a:prstGeom prst="rect">
            <a:avLst/>
          </a:prstGeom>
        </p:spPr>
        <p:txBody>
          <a:bodyPr vert="horz" lIns="91440" tIns="45720" rIns="91440" bIns="45720" rtlCol="0" anchor="ctr"/>
          <a:lstStyle>
            <a:lvl1pPr algn="l">
              <a:defRPr sz="1100" cap="all" baseline="0">
                <a:solidFill>
                  <a:schemeClr val="tx1"/>
                </a:solidFill>
              </a:defRPr>
            </a:lvl1pPr>
          </a:lstStyle>
          <a:p>
            <a:fld id="{D7A8CFA8-DC74-4F18-A072-E90EC69EAF8B}" type="datetimeFigureOut">
              <a:rPr lang="en-SG" smtClean="0"/>
              <a:t>24/6/2019</a:t>
            </a:fld>
            <a:endParaRPr lang="en-SG"/>
          </a:p>
        </p:txBody>
      </p:sp>
      <p:sp>
        <p:nvSpPr>
          <p:cNvPr id="5" name="Footer Placeholder 4"/>
          <p:cNvSpPr>
            <a:spLocks noGrp="1"/>
          </p:cNvSpPr>
          <p:nvPr>
            <p:ph type="ftr" sz="quarter" idx="3"/>
          </p:nvPr>
        </p:nvSpPr>
        <p:spPr>
          <a:xfrm>
            <a:off x="6597652" y="6356352"/>
            <a:ext cx="3975100" cy="365125"/>
          </a:xfrm>
          <a:prstGeom prst="rect">
            <a:avLst/>
          </a:prstGeom>
        </p:spPr>
        <p:txBody>
          <a:bodyPr vert="horz" lIns="91440" tIns="45720" rIns="91440" bIns="45720" rtlCol="0" anchor="ctr"/>
          <a:lstStyle>
            <a:lvl1pPr algn="ctr">
              <a:defRPr sz="1100" cap="all" baseline="0">
                <a:solidFill>
                  <a:schemeClr val="tx1"/>
                </a:solidFill>
              </a:defRPr>
            </a:lvl1pPr>
          </a:lstStyle>
          <a:p>
            <a:endParaRPr lang="en-SG"/>
          </a:p>
        </p:txBody>
      </p:sp>
      <p:sp>
        <p:nvSpPr>
          <p:cNvPr id="6" name="Slide Number Placeholder 5"/>
          <p:cNvSpPr>
            <a:spLocks noGrp="1"/>
          </p:cNvSpPr>
          <p:nvPr>
            <p:ph type="sldNum" sz="quarter" idx="4"/>
          </p:nvPr>
        </p:nvSpPr>
        <p:spPr>
          <a:xfrm>
            <a:off x="10769601" y="6356352"/>
            <a:ext cx="609600" cy="365125"/>
          </a:xfrm>
          <a:prstGeom prst="rect">
            <a:avLst/>
          </a:prstGeom>
        </p:spPr>
        <p:txBody>
          <a:bodyPr vert="horz" lIns="91440" tIns="45720" rIns="91440" bIns="45720" rtlCol="0" anchor="ctr"/>
          <a:lstStyle>
            <a:lvl1pPr algn="r">
              <a:defRPr sz="1100" cap="all" baseline="0">
                <a:solidFill>
                  <a:schemeClr val="tx1"/>
                </a:solidFill>
              </a:defRPr>
            </a:lvl1pPr>
          </a:lstStyle>
          <a:p>
            <a:fld id="{728BB334-312C-4E2A-AFC8-2ED82C3EE9A4}" type="slidenum">
              <a:rPr lang="en-SG" smtClean="0"/>
              <a:t>‹#›</a:t>
            </a:fld>
            <a:endParaRPr lang="en-SG"/>
          </a:p>
        </p:txBody>
      </p:sp>
      <p:sp>
        <p:nvSpPr>
          <p:cNvPr id="9" name="Rectangle 8"/>
          <p:cNvSpPr/>
          <p:nvPr/>
        </p:nvSpPr>
        <p:spPr>
          <a:xfrm>
            <a:off x="11888788" y="0"/>
            <a:ext cx="304800"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sz="1800"/>
          </a:p>
        </p:txBody>
      </p:sp>
      <p:pic>
        <p:nvPicPr>
          <p:cNvPr id="46" name="Picture 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1803870" cy="6858000"/>
          </a:xfrm>
          <a:prstGeom prst="rect">
            <a:avLst/>
          </a:prstGeom>
          <a:noFill/>
          <a:ln>
            <a:noFill/>
          </a:ln>
        </p:spPr>
      </p:pic>
    </p:spTree>
    <p:extLst>
      <p:ext uri="{BB962C8B-B14F-4D97-AF65-F5344CB8AC3E}">
        <p14:creationId xmlns:p14="http://schemas.microsoft.com/office/powerpoint/2010/main" val="195917263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2">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p15:clr>
            <a:srgbClr val="F26B43"/>
          </p15:clr>
        </p15:guide>
        <p15:guide id="1" pos="3839">
          <p15:clr>
            <a:srgbClr val="F26B43"/>
          </p15:clr>
        </p15:guide>
        <p15:guide id="2" pos="1199">
          <p15:clr>
            <a:srgbClr val="F26B43"/>
          </p15:clr>
        </p15:guide>
        <p15:guide id="3" pos="719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7.emf"/><Relationship Id="rId4" Type="http://schemas.openxmlformats.org/officeDocument/2006/relationships/image" Target="../media/image29.pn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emf"/><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emf"/><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em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7.emf"/><Relationship Id="rId4" Type="http://schemas.openxmlformats.org/officeDocument/2006/relationships/image" Target="../media/image29.png"/><Relationship Id="rId9" Type="http://schemas.openxmlformats.org/officeDocument/2006/relationships/image" Target="../media/image36.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emf"/><Relationship Id="rId4" Type="http://schemas.openxmlformats.org/officeDocument/2006/relationships/image" Target="../media/image29.png"/><Relationship Id="rId9"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49352-04AB-412A-AACE-59A4BB9541CF}"/>
              </a:ext>
            </a:extLst>
          </p:cNvPr>
          <p:cNvSpPr>
            <a:spLocks noGrp="1"/>
          </p:cNvSpPr>
          <p:nvPr>
            <p:ph type="ctrTitle"/>
          </p:nvPr>
        </p:nvSpPr>
        <p:spPr/>
        <p:txBody>
          <a:bodyPr>
            <a:normAutofit/>
          </a:bodyPr>
          <a:lstStyle/>
          <a:p>
            <a:r>
              <a:rPr lang="en-SG" b="1" dirty="0"/>
              <a:t>Configuring Windows Active Directory</a:t>
            </a:r>
          </a:p>
        </p:txBody>
      </p:sp>
      <p:sp>
        <p:nvSpPr>
          <p:cNvPr id="3" name="Subtitle 2">
            <a:extLst>
              <a:ext uri="{FF2B5EF4-FFF2-40B4-BE49-F238E27FC236}">
                <a16:creationId xmlns:a16="http://schemas.microsoft.com/office/drawing/2014/main" id="{0F990B4B-C561-4ED3-A8B3-D66F1DA39188}"/>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val="255002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646" y="0"/>
            <a:ext cx="8648953" cy="654783"/>
          </a:xfrm>
        </p:spPr>
        <p:txBody>
          <a:bodyPr>
            <a:normAutofit/>
          </a:bodyPr>
          <a:lstStyle/>
          <a:p>
            <a:r>
              <a:rPr lang="en-CA" b="1" dirty="0"/>
              <a:t>Overview of AD DS</a:t>
            </a:r>
          </a:p>
        </p:txBody>
      </p:sp>
      <p:graphicFrame>
        <p:nvGraphicFramePr>
          <p:cNvPr id="4" name="Group 81"/>
          <p:cNvGraphicFramePr>
            <a:graphicFrameLocks/>
          </p:cNvGraphicFramePr>
          <p:nvPr>
            <p:extLst/>
          </p:nvPr>
        </p:nvGraphicFramePr>
        <p:xfrm>
          <a:off x="2502883" y="1885937"/>
          <a:ext cx="6929441" cy="4154424"/>
        </p:xfrm>
        <a:graphic>
          <a:graphicData uri="http://schemas.openxmlformats.org/drawingml/2006/table">
            <a:tbl>
              <a:tblPr>
                <a:tableStyleId>{5DA37D80-6434-44D0-A028-1B22A696006F}</a:tableStyleId>
              </a:tblPr>
              <a:tblGrid>
                <a:gridCol w="3553180">
                  <a:extLst>
                    <a:ext uri="{9D8B030D-6E8A-4147-A177-3AD203B41FA5}">
                      <a16:colId xmlns:a16="http://schemas.microsoft.com/office/drawing/2014/main" val="20000"/>
                    </a:ext>
                  </a:extLst>
                </a:gridCol>
                <a:gridCol w="3376261">
                  <a:extLst>
                    <a:ext uri="{9D8B030D-6E8A-4147-A177-3AD203B41FA5}">
                      <a16:colId xmlns:a16="http://schemas.microsoft.com/office/drawing/2014/main" val="20001"/>
                    </a:ext>
                  </a:extLst>
                </a:gridCol>
              </a:tblGrid>
              <a:tr h="48260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400" b="0" i="0" u="none" strike="noStrike" cap="none" normalizeH="0" baseline="0" dirty="0">
                          <a:ln>
                            <a:noFill/>
                          </a:ln>
                          <a:effectLst/>
                          <a:latin typeface="Segoe UI" pitchFamily="34" charset="0"/>
                          <a:ea typeface="Segoe UI" pitchFamily="34" charset="0"/>
                          <a:cs typeface="Segoe UI" pitchFamily="34" charset="0"/>
                        </a:rPr>
                        <a:t>Logical components</a:t>
                      </a:r>
                      <a:endParaRPr kumimoji="0" lang="en-US" sz="24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400" b="0" i="0" u="none" strike="noStrike" cap="none" normalizeH="0" baseline="0" dirty="0">
                          <a:ln>
                            <a:noFill/>
                          </a:ln>
                          <a:effectLst/>
                          <a:latin typeface="Segoe UI" pitchFamily="34" charset="0"/>
                          <a:ea typeface="Segoe UI" pitchFamily="34" charset="0"/>
                          <a:cs typeface="Segoe UI" pitchFamily="34" charset="0"/>
                        </a:rPr>
                        <a:t>Physical components</a:t>
                      </a:r>
                      <a:endParaRPr kumimoji="0" lang="en-US" sz="24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extLst>
                  <a:ext uri="{0D108BD9-81ED-4DB2-BD59-A6C34878D82A}">
                    <a16:rowId xmlns:a16="http://schemas.microsoft.com/office/drawing/2014/main" val="10000"/>
                  </a:ext>
                </a:extLst>
              </a:tr>
              <a:tr h="3175000">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Partitions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Schema</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Domains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Domain trees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Forests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Sites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OUs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Containers</a:t>
                      </a:r>
                    </a:p>
                  </a:txBody>
                  <a:tcPr marT="91440" marB="91440" horzOverflow="overflow"/>
                </a:tc>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Domain controllers </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defRPr/>
                      </a:pPr>
                      <a:r>
                        <a:rPr lang="en-US" sz="2400" kern="1200" dirty="0">
                          <a:solidFill>
                            <a:schemeClr val="tx1"/>
                          </a:solidFill>
                          <a:effectLst/>
                          <a:latin typeface="Segoe UI" pitchFamily="34" charset="0"/>
                          <a:ea typeface="Segoe UI" pitchFamily="34" charset="0"/>
                          <a:cs typeface="Segoe UI" pitchFamily="34" charset="0"/>
                        </a:rPr>
                        <a:t>Data stores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Global catalog servers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en-US" sz="2400" kern="1200" dirty="0">
                          <a:solidFill>
                            <a:schemeClr val="tx1"/>
                          </a:solidFill>
                          <a:effectLst/>
                          <a:latin typeface="Segoe UI" pitchFamily="34" charset="0"/>
                          <a:ea typeface="Segoe UI" pitchFamily="34" charset="0"/>
                          <a:cs typeface="Segoe UI" pitchFamily="34" charset="0"/>
                        </a:rPr>
                        <a:t>RODCs </a:t>
                      </a:r>
                      <a:endParaRPr kumimoji="0" lang="en-US" sz="2400" u="none" strike="noStrike" cap="none" normalizeH="0" baseline="0" dirty="0">
                        <a:ln>
                          <a:noFill/>
                        </a:ln>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None/>
                        <a:tabLst/>
                      </a:pPr>
                      <a:endParaRPr kumimoji="0" lang="en-US" sz="24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horzOverflow="overflow"/>
                </a:tc>
                <a:extLst>
                  <a:ext uri="{0D108BD9-81ED-4DB2-BD59-A6C34878D82A}">
                    <a16:rowId xmlns:a16="http://schemas.microsoft.com/office/drawing/2014/main" val="10001"/>
                  </a:ext>
                </a:extLst>
              </a:tr>
            </a:tbl>
          </a:graphicData>
        </a:graphic>
      </p:graphicFrame>
      <p:sp>
        <p:nvSpPr>
          <p:cNvPr id="5" name="AutoShape 29"/>
          <p:cNvSpPr>
            <a:spLocks noChangeArrowheads="1"/>
          </p:cNvSpPr>
          <p:nvPr/>
        </p:nvSpPr>
        <p:spPr bwMode="auto">
          <a:xfrm>
            <a:off x="1866647" y="739659"/>
            <a:ext cx="8399416" cy="1097042"/>
          </a:xfrm>
          <a:prstGeom prst="roundRect">
            <a:avLst>
              <a:gd name="adj" fmla="val 8718"/>
            </a:avLst>
          </a:prstGeom>
          <a:noFill/>
          <a:ln w="9525" algn="ctr">
            <a:noFill/>
            <a:round/>
            <a:headEnd/>
            <a:tailEnd/>
          </a:ln>
          <a:effectLst/>
        </p:spPr>
        <p:txBody>
          <a:bodyPr wrap="square" tIns="91440" bIns="9144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en-US" sz="2800" b="0" dirty="0">
                <a:latin typeface="Segoe UI" pitchFamily="34" charset="0"/>
                <a:ea typeface="Segoe UI" pitchFamily="34" charset="0"/>
                <a:cs typeface="Segoe UI" pitchFamily="34" charset="0"/>
              </a:rPr>
              <a:t>AD DS is composed of both logical and physical components</a:t>
            </a:r>
          </a:p>
        </p:txBody>
      </p:sp>
    </p:spTree>
    <p:extLst>
      <p:ext uri="{BB962C8B-B14F-4D97-AF65-F5344CB8AC3E}">
        <p14:creationId xmlns:p14="http://schemas.microsoft.com/office/powerpoint/2010/main" val="352522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945" y="0"/>
            <a:ext cx="10515600" cy="852406"/>
          </a:xfrm>
        </p:spPr>
        <p:txBody>
          <a:bodyPr/>
          <a:lstStyle/>
          <a:p>
            <a:r>
              <a:rPr lang="en-CA" b="1" dirty="0"/>
              <a:t>What Are AD DS Domains?</a:t>
            </a:r>
          </a:p>
        </p:txBody>
      </p:sp>
      <p:sp>
        <p:nvSpPr>
          <p:cNvPr id="4" name="bottom bullets"/>
          <p:cNvSpPr>
            <a:spLocks noChangeArrowheads="1"/>
          </p:cNvSpPr>
          <p:nvPr/>
        </p:nvSpPr>
        <p:spPr bwMode="auto">
          <a:xfrm>
            <a:off x="-1" y="2785843"/>
            <a:ext cx="8362927" cy="3527976"/>
          </a:xfrm>
          <a:prstGeom prst="roundRect">
            <a:avLst>
              <a:gd name="adj" fmla="val 8866"/>
            </a:avLst>
          </a:prstGeom>
          <a:ln>
            <a:headEnd/>
            <a:tailEnd/>
          </a:ln>
        </p:spPr>
        <p:style>
          <a:lnRef idx="2">
            <a:schemeClr val="accent1"/>
          </a:lnRef>
          <a:fillRef idx="1">
            <a:schemeClr val="lt1"/>
          </a:fillRef>
          <a:effectRef idx="0">
            <a:schemeClr val="accent1"/>
          </a:effectRef>
          <a:fontRef idx="minor">
            <a:schemeClr val="dk1"/>
          </a:fontRef>
        </p:style>
        <p:txBody>
          <a:bodyPr tIns="0" numCol="1" spcCol="274320"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The domain is a replication boundary</a:t>
            </a:r>
          </a:p>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The domain is an administrative center for configuring and managing objects</a:t>
            </a:r>
          </a:p>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Any domain controller can authenticate any sign-in </a:t>
            </a:r>
          </a:p>
          <a:p>
            <a:pPr marL="180000" lvl="1">
              <a:spcAft>
                <a:spcPts val="300"/>
              </a:spcAft>
              <a:buClr>
                <a:srgbClr val="0070C0"/>
              </a:buClr>
              <a:buSzPct val="120000"/>
            </a:pPr>
            <a:r>
              <a:rPr lang="en-US" sz="2400" b="0" dirty="0">
                <a:solidFill>
                  <a:srgbClr val="000000"/>
                </a:solidFill>
                <a:latin typeface="Segoe UI" pitchFamily="34" charset="0"/>
                <a:ea typeface="Segoe UI" pitchFamily="34" charset="0"/>
                <a:cs typeface="Segoe UI" pitchFamily="34" charset="0"/>
              </a:rPr>
              <a:t>anywhere in the domain</a:t>
            </a:r>
          </a:p>
          <a:p>
            <a:pPr marL="180000" indent="-180000">
              <a:spcAft>
                <a:spcPts val="300"/>
              </a:spcAft>
              <a:buClr>
                <a:srgbClr val="0070C0"/>
              </a:buClr>
              <a:buSzPct val="120000"/>
              <a:buFont typeface="Arial" pitchFamily="34" charset="0"/>
              <a:buChar char="•"/>
            </a:pPr>
            <a:r>
              <a:rPr lang="en-CA" sz="2400" b="0" dirty="0">
                <a:solidFill>
                  <a:srgbClr val="000000"/>
                </a:solidFill>
                <a:latin typeface="Segoe UI" pitchFamily="34" charset="0"/>
                <a:ea typeface="Segoe UI" pitchFamily="34" charset="0"/>
                <a:cs typeface="Segoe UI" pitchFamily="34" charset="0"/>
              </a:rPr>
              <a:t>The domain provides authorization</a:t>
            </a:r>
            <a:endParaRPr lang="en-US" sz="2400" b="0" dirty="0">
              <a:solidFill>
                <a:srgbClr val="000000"/>
              </a:solidFill>
              <a:latin typeface="Segoe UI" pitchFamily="34" charset="0"/>
              <a:ea typeface="Segoe UI" pitchFamily="34" charset="0"/>
              <a:cs typeface="Segoe UI" pitchFamily="34" charset="0"/>
            </a:endParaRPr>
          </a:p>
        </p:txBody>
      </p:sp>
      <p:grpSp>
        <p:nvGrpSpPr>
          <p:cNvPr id="5" name="alt text here  diagram of AD DS" descr="A simple diagram of an AD DS domain (represented by a triangle) which contains users, computers, and groups."/>
          <p:cNvGrpSpPr/>
          <p:nvPr/>
        </p:nvGrpSpPr>
        <p:grpSpPr>
          <a:xfrm>
            <a:off x="8362926" y="2774017"/>
            <a:ext cx="3422982" cy="3323944"/>
            <a:chOff x="5318605" y="2548745"/>
            <a:chExt cx="3422982" cy="3323944"/>
          </a:xfrm>
        </p:grpSpPr>
        <p:sp>
          <p:nvSpPr>
            <p:cNvPr id="6" name="triangle"/>
            <p:cNvSpPr>
              <a:spLocks noChangeAspect="1"/>
            </p:cNvSpPr>
            <p:nvPr/>
          </p:nvSpPr>
          <p:spPr>
            <a:xfrm>
              <a:off x="5318605" y="2548745"/>
              <a:ext cx="3422982" cy="2849531"/>
            </a:xfrm>
            <a:prstGeom prst="triangle">
              <a:avLst/>
            </a:prstGeom>
            <a:noFill/>
            <a:ln>
              <a:solidFill>
                <a:srgbClr val="569A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7" name="&quot;AD DS"/>
            <p:cNvSpPr>
              <a:spLocks noChangeArrowheads="1"/>
            </p:cNvSpPr>
            <p:nvPr/>
          </p:nvSpPr>
          <p:spPr bwMode="auto">
            <a:xfrm>
              <a:off x="7376637" y="3973510"/>
              <a:ext cx="1056840" cy="362366"/>
            </a:xfrm>
            <a:prstGeom prst="roundRect">
              <a:avLst>
                <a:gd name="adj" fmla="val 5798"/>
              </a:avLst>
            </a:prstGeom>
            <a:solidFill>
              <a:schemeClr val="lt1"/>
            </a:solid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Aft>
                  <a:spcPts val="600"/>
                </a:spcAft>
                <a:buClr>
                  <a:srgbClr val="0070C0"/>
                </a:buClr>
                <a:buSzPct val="120000"/>
              </a:pPr>
              <a:r>
                <a:rPr lang="en-US" sz="2400" b="0" dirty="0">
                  <a:solidFill>
                    <a:srgbClr val="000000"/>
                  </a:solidFill>
                  <a:latin typeface="Segoe UI" pitchFamily="34" charset="0"/>
                  <a:ea typeface="Segoe UI" pitchFamily="34" charset="0"/>
                  <a:cs typeface="Segoe UI" pitchFamily="34" charset="0"/>
                </a:rPr>
                <a:t>AD DS</a:t>
              </a: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p:txBody>
        </p:sp>
        <p:grpSp>
          <p:nvGrpSpPr>
            <p:cNvPr id="8" name="computers"/>
            <p:cNvGrpSpPr/>
            <p:nvPr/>
          </p:nvGrpSpPr>
          <p:grpSpPr>
            <a:xfrm>
              <a:off x="5537882" y="4545870"/>
              <a:ext cx="1389288" cy="1326819"/>
              <a:chOff x="7662969" y="4596840"/>
              <a:chExt cx="1389288" cy="1326819"/>
            </a:xfrm>
          </p:grpSpPr>
          <p:sp>
            <p:nvSpPr>
              <p:cNvPr id="17" name="&quot;Computers"/>
              <p:cNvSpPr>
                <a:spLocks noChangeArrowheads="1"/>
              </p:cNvSpPr>
              <p:nvPr/>
            </p:nvSpPr>
            <p:spPr bwMode="auto">
              <a:xfrm>
                <a:off x="7662969" y="5561293"/>
                <a:ext cx="1389288"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Aft>
                    <a:spcPts val="600"/>
                  </a:spcAft>
                  <a:buClr>
                    <a:srgbClr val="0070C0"/>
                  </a:buClr>
                  <a:buSzPct val="120000"/>
                </a:pPr>
                <a:r>
                  <a:rPr lang="en-US" sz="2000" b="0" dirty="0">
                    <a:solidFill>
                      <a:srgbClr val="000000"/>
                    </a:solidFill>
                    <a:latin typeface="Segoe UI" pitchFamily="34" charset="0"/>
                    <a:ea typeface="Segoe UI" pitchFamily="34" charset="0"/>
                    <a:cs typeface="Segoe UI" pitchFamily="34" charset="0"/>
                  </a:rPr>
                  <a:t>Computers</a:t>
                </a:r>
              </a:p>
            </p:txBody>
          </p:sp>
          <p:pic>
            <p:nvPicPr>
              <p:cNvPr id="18" name="serv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1461" y="4626008"/>
                <a:ext cx="528210" cy="923459"/>
              </a:xfrm>
              <a:prstGeom prst="rect">
                <a:avLst/>
              </a:prstGeom>
            </p:spPr>
          </p:pic>
          <p:pic>
            <p:nvPicPr>
              <p:cNvPr id="19" name="folder w documen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76843" y="4596840"/>
                <a:ext cx="409622" cy="543989"/>
              </a:xfrm>
              <a:prstGeom prst="rect">
                <a:avLst/>
              </a:prstGeom>
            </p:spPr>
          </p:pic>
          <p:pic>
            <p:nvPicPr>
              <p:cNvPr id="20" name="lock"/>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32309" y="4961839"/>
                <a:ext cx="441154" cy="591399"/>
              </a:xfrm>
              <a:prstGeom prst="rect">
                <a:avLst/>
              </a:prstGeom>
            </p:spPr>
          </p:pic>
        </p:grpSp>
        <p:grpSp>
          <p:nvGrpSpPr>
            <p:cNvPr id="9" name="users"/>
            <p:cNvGrpSpPr/>
            <p:nvPr/>
          </p:nvGrpSpPr>
          <p:grpSpPr>
            <a:xfrm>
              <a:off x="6596357" y="2718311"/>
              <a:ext cx="920159" cy="1255199"/>
              <a:chOff x="5368956" y="4601713"/>
              <a:chExt cx="920159" cy="1255199"/>
            </a:xfrm>
          </p:grpSpPr>
          <p:sp>
            <p:nvSpPr>
              <p:cNvPr id="14" name="&quot;Users"/>
              <p:cNvSpPr>
                <a:spLocks noChangeArrowheads="1"/>
              </p:cNvSpPr>
              <p:nvPr/>
            </p:nvSpPr>
            <p:spPr bwMode="auto">
              <a:xfrm>
                <a:off x="5368956" y="5494546"/>
                <a:ext cx="661627"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Aft>
                    <a:spcPts val="600"/>
                  </a:spcAft>
                  <a:buClr>
                    <a:srgbClr val="0070C0"/>
                  </a:buClr>
                  <a:buSzPct val="120000"/>
                </a:pPr>
                <a:r>
                  <a:rPr lang="en-US" sz="2000" b="0" dirty="0">
                    <a:solidFill>
                      <a:srgbClr val="000000"/>
                    </a:solidFill>
                    <a:latin typeface="Segoe UI" pitchFamily="34" charset="0"/>
                    <a:ea typeface="Segoe UI" pitchFamily="34" charset="0"/>
                    <a:cs typeface="Segoe UI" pitchFamily="34" charset="0"/>
                  </a:rPr>
                  <a:t>Users</a:t>
                </a:r>
              </a:p>
            </p:txBody>
          </p:sp>
          <p:pic>
            <p:nvPicPr>
              <p:cNvPr id="15" name="work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49474" y="4601713"/>
                <a:ext cx="681396" cy="769246"/>
              </a:xfrm>
              <a:prstGeom prst="rect">
                <a:avLst/>
              </a:prstGeom>
            </p:spPr>
          </p:pic>
          <p:pic>
            <p:nvPicPr>
              <p:cNvPr id="16" name="use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72052" y="4768271"/>
                <a:ext cx="517063" cy="816956"/>
              </a:xfrm>
              <a:prstGeom prst="rect">
                <a:avLst/>
              </a:prstGeom>
            </p:spPr>
          </p:pic>
        </p:grpSp>
        <p:grpSp>
          <p:nvGrpSpPr>
            <p:cNvPr id="10" name="groups"/>
            <p:cNvGrpSpPr/>
            <p:nvPr/>
          </p:nvGrpSpPr>
          <p:grpSpPr>
            <a:xfrm>
              <a:off x="7376637" y="4575038"/>
              <a:ext cx="1117188" cy="1297651"/>
              <a:chOff x="6857913" y="2113829"/>
              <a:chExt cx="1117188" cy="1297651"/>
            </a:xfrm>
          </p:grpSpPr>
          <p:sp>
            <p:nvSpPr>
              <p:cNvPr id="11" name="&quot;Gropus"/>
              <p:cNvSpPr>
                <a:spLocks noChangeArrowheads="1"/>
              </p:cNvSpPr>
              <p:nvPr/>
            </p:nvSpPr>
            <p:spPr bwMode="auto">
              <a:xfrm>
                <a:off x="7097479" y="3049114"/>
                <a:ext cx="877622"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Aft>
                    <a:spcPts val="600"/>
                  </a:spcAft>
                  <a:buClr>
                    <a:srgbClr val="0070C0"/>
                  </a:buClr>
                  <a:buSzPct val="120000"/>
                </a:pPr>
                <a:r>
                  <a:rPr lang="en-US" sz="2000" b="0" dirty="0">
                    <a:solidFill>
                      <a:srgbClr val="000000"/>
                    </a:solidFill>
                    <a:latin typeface="Segoe UI" pitchFamily="34" charset="0"/>
                    <a:ea typeface="Segoe UI" pitchFamily="34" charset="0"/>
                    <a:cs typeface="Segoe UI" pitchFamily="34" charset="0"/>
                  </a:rPr>
                  <a:t>Groups</a:t>
                </a: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en-US" sz="2000" b="0" dirty="0">
                  <a:solidFill>
                    <a:srgbClr val="000000"/>
                  </a:solidFill>
                  <a:latin typeface="Segoe UI" pitchFamily="34" charset="0"/>
                  <a:ea typeface="Segoe UI" pitchFamily="34" charset="0"/>
                  <a:cs typeface="Segoe UI" pitchFamily="34" charset="0"/>
                </a:endParaRPr>
              </a:p>
            </p:txBody>
          </p:sp>
          <p:pic>
            <p:nvPicPr>
              <p:cNvPr id="12" name="gropus"/>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3594" y="2113829"/>
                <a:ext cx="542797" cy="720000"/>
              </a:xfrm>
              <a:prstGeom prst="rect">
                <a:avLst/>
              </a:prstGeom>
            </p:spPr>
          </p:pic>
          <p:pic>
            <p:nvPicPr>
              <p:cNvPr id="13" name="groups"/>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57913" y="2393771"/>
                <a:ext cx="542797" cy="720000"/>
              </a:xfrm>
              <a:prstGeom prst="rect">
                <a:avLst/>
              </a:prstGeom>
            </p:spPr>
          </p:pic>
        </p:grpSp>
      </p:grpSp>
      <p:sp>
        <p:nvSpPr>
          <p:cNvPr id="21" name="top bullets"/>
          <p:cNvSpPr>
            <a:spLocks noChangeArrowheads="1"/>
          </p:cNvSpPr>
          <p:nvPr/>
        </p:nvSpPr>
        <p:spPr bwMode="auto">
          <a:xfrm>
            <a:off x="1814944" y="719164"/>
            <a:ext cx="9970964" cy="2054853"/>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AD DS requires one or more domain controllers</a:t>
            </a:r>
          </a:p>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All domain controllers hold a copy of the domain </a:t>
            </a:r>
            <a:br>
              <a:rPr lang="en-US" sz="2400" b="0" dirty="0">
                <a:solidFill>
                  <a:srgbClr val="000000"/>
                </a:solidFill>
                <a:latin typeface="Segoe UI" pitchFamily="34" charset="0"/>
                <a:ea typeface="Segoe UI" pitchFamily="34" charset="0"/>
                <a:cs typeface="Segoe UI" pitchFamily="34" charset="0"/>
              </a:rPr>
            </a:br>
            <a:r>
              <a:rPr lang="en-US" sz="2400" b="0" dirty="0">
                <a:solidFill>
                  <a:srgbClr val="000000"/>
                </a:solidFill>
                <a:latin typeface="Segoe UI" pitchFamily="34" charset="0"/>
                <a:ea typeface="Segoe UI" pitchFamily="34" charset="0"/>
                <a:cs typeface="Segoe UI" pitchFamily="34" charset="0"/>
              </a:rPr>
              <a:t>database, which is continually synchronized</a:t>
            </a:r>
          </a:p>
          <a:p>
            <a:pPr marL="180000" indent="-180000">
              <a:spcAft>
                <a:spcPts val="300"/>
              </a:spcAft>
              <a:buClr>
                <a:srgbClr val="0070C0"/>
              </a:buClr>
              <a:buSzPct val="120000"/>
              <a:buFont typeface="Arial" pitchFamily="34" charset="0"/>
              <a:buChar char="•"/>
            </a:pPr>
            <a:r>
              <a:rPr lang="en-US" sz="2400" b="0" dirty="0">
                <a:solidFill>
                  <a:srgbClr val="000000"/>
                </a:solidFill>
                <a:latin typeface="Segoe UI" pitchFamily="34" charset="0"/>
                <a:ea typeface="Segoe UI" pitchFamily="34" charset="0"/>
                <a:cs typeface="Segoe UI" pitchFamily="34" charset="0"/>
              </a:rPr>
              <a:t>The domain is the context within which user accounts, computer accounts, and groups are created</a:t>
            </a:r>
          </a:p>
          <a:p>
            <a:pPr marL="285750" indent="-285750">
              <a:spcAft>
                <a:spcPts val="600"/>
              </a:spcAft>
              <a:buClr>
                <a:srgbClr val="0070C0"/>
              </a:buClr>
              <a:buSzPct val="120000"/>
              <a:buFont typeface="Arial" pitchFamily="34" charset="0"/>
              <a:buChar char="•"/>
            </a:pPr>
            <a:endParaRPr lang="en-US" sz="2400" b="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3970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9" y="4279"/>
            <a:ext cx="8172995" cy="758016"/>
          </a:xfrm>
        </p:spPr>
        <p:txBody>
          <a:bodyPr/>
          <a:lstStyle/>
          <a:p>
            <a:r>
              <a:rPr lang="en-CA" b="1" dirty="0"/>
              <a:t>What Are OUs (Organisational Units)?</a:t>
            </a:r>
          </a:p>
        </p:txBody>
      </p:sp>
      <p:sp>
        <p:nvSpPr>
          <p:cNvPr id="4" name="Rounded Rectangle 3"/>
          <p:cNvSpPr>
            <a:spLocks noChangeArrowheads="1"/>
          </p:cNvSpPr>
          <p:nvPr/>
        </p:nvSpPr>
        <p:spPr bwMode="auto">
          <a:xfrm>
            <a:off x="1639272" y="1204870"/>
            <a:ext cx="4678468" cy="3148385"/>
          </a:xfrm>
          <a:prstGeom prst="roundRect">
            <a:avLst>
              <a:gd name="adj" fmla="val 6533"/>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80000" indent="-180000">
              <a:lnSpc>
                <a:spcPct val="90000"/>
              </a:lnSpc>
              <a:spcBef>
                <a:spcPts val="600"/>
              </a:spcBef>
              <a:buClr>
                <a:srgbClr val="006699"/>
              </a:buClr>
              <a:buFontTx/>
              <a:buChar char="•"/>
            </a:pPr>
            <a:r>
              <a:rPr lang="en-US" sz="2400" b="0" dirty="0">
                <a:latin typeface="Segoe UI" pitchFamily="34" charset="0"/>
                <a:ea typeface="Segoe UI" pitchFamily="34" charset="0"/>
                <a:cs typeface="Segoe UI" pitchFamily="34" charset="0"/>
              </a:rPr>
              <a:t>Containers that can be used to group objects within a domain</a:t>
            </a:r>
          </a:p>
          <a:p>
            <a:pPr marL="180000" indent="-180000">
              <a:lnSpc>
                <a:spcPct val="90000"/>
              </a:lnSpc>
              <a:spcBef>
                <a:spcPct val="40000"/>
              </a:spcBef>
              <a:buClr>
                <a:srgbClr val="006699"/>
              </a:buClr>
              <a:buFontTx/>
              <a:buChar char="•"/>
            </a:pPr>
            <a:r>
              <a:rPr lang="en-US" sz="2400" b="0" dirty="0">
                <a:latin typeface="Segoe UI" pitchFamily="34" charset="0"/>
                <a:ea typeface="Segoe UI" pitchFamily="34" charset="0"/>
                <a:cs typeface="Segoe UI" pitchFamily="34" charset="0"/>
              </a:rPr>
              <a:t>Create OUs to:</a:t>
            </a:r>
          </a:p>
          <a:p>
            <a:pPr marL="468000" lvl="1" indent="-180000">
              <a:lnSpc>
                <a:spcPct val="90000"/>
              </a:lnSpc>
              <a:spcBef>
                <a:spcPts val="600"/>
              </a:spcBef>
              <a:buClr>
                <a:srgbClr val="006699"/>
              </a:buClr>
              <a:buFontTx/>
              <a:buChar char="•"/>
            </a:pPr>
            <a:r>
              <a:rPr lang="en-US" sz="2200" b="0" dirty="0">
                <a:latin typeface="Segoe UI" pitchFamily="34" charset="0"/>
                <a:ea typeface="Segoe UI" pitchFamily="34" charset="0"/>
                <a:cs typeface="Segoe UI" pitchFamily="34" charset="0"/>
              </a:rPr>
              <a:t>Configure objects by assigning GPOs </a:t>
            </a:r>
          </a:p>
          <a:p>
            <a:pPr marL="468000" lvl="1" indent="-180000">
              <a:lnSpc>
                <a:spcPct val="90000"/>
              </a:lnSpc>
              <a:spcBef>
                <a:spcPts val="600"/>
              </a:spcBef>
              <a:buClr>
                <a:srgbClr val="006699"/>
              </a:buClr>
              <a:buFontTx/>
              <a:buChar char="•"/>
            </a:pPr>
            <a:r>
              <a:rPr lang="en-US" sz="2200" b="0" dirty="0">
                <a:latin typeface="Segoe UI" pitchFamily="34" charset="0"/>
                <a:ea typeface="Segoe UI" pitchFamily="34" charset="0"/>
                <a:cs typeface="Segoe UI" pitchFamily="34" charset="0"/>
              </a:rPr>
              <a:t>Delegate administrative permissions</a:t>
            </a:r>
          </a:p>
        </p:txBody>
      </p:sp>
      <p:grpSp>
        <p:nvGrpSpPr>
          <p:cNvPr id="5" name="alt text Group 14" descr="Screen shot of a possible OU structure with several levels of OUs. The structure has both OUs and containers. OUs are represented by a folder with a book on it, and containers are represented by a blank folder."/>
          <p:cNvGrpSpPr/>
          <p:nvPr/>
        </p:nvGrpSpPr>
        <p:grpSpPr>
          <a:xfrm>
            <a:off x="6916564" y="784051"/>
            <a:ext cx="3085231" cy="5512245"/>
            <a:chOff x="5396216" y="825375"/>
            <a:chExt cx="3424256" cy="5902596"/>
          </a:xfrm>
        </p:grpSpPr>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72874" b="18382"/>
            <a:stretch/>
          </p:blipFill>
          <p:spPr bwMode="auto">
            <a:xfrm>
              <a:off x="5396216" y="4666264"/>
              <a:ext cx="3424256" cy="891504"/>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b="81630"/>
            <a:stretch/>
          </p:blipFill>
          <p:spPr bwMode="auto">
            <a:xfrm>
              <a:off x="5396216" y="825375"/>
              <a:ext cx="3424256" cy="1872967"/>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8"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48222" b="36312"/>
            <a:stretch/>
          </p:blipFill>
          <p:spPr bwMode="auto">
            <a:xfrm>
              <a:off x="5396216" y="3089455"/>
              <a:ext cx="3424256" cy="1576809"/>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t="38956" b="57435"/>
            <a:stretch/>
          </p:blipFill>
          <p:spPr bwMode="auto">
            <a:xfrm>
              <a:off x="5396216" y="2721521"/>
              <a:ext cx="3424256" cy="367935"/>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t="87685" b="838"/>
            <a:stretch/>
          </p:blipFill>
          <p:spPr bwMode="auto">
            <a:xfrm>
              <a:off x="5396216" y="5557768"/>
              <a:ext cx="3424256" cy="1170203"/>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pic>
      </p:grpSp>
      <p:sp>
        <p:nvSpPr>
          <p:cNvPr id="11" name="TextBox 1"/>
          <p:cNvSpPr txBox="1"/>
          <p:nvPr/>
        </p:nvSpPr>
        <p:spPr>
          <a:xfrm>
            <a:off x="2477492" y="4246109"/>
            <a:ext cx="3750734" cy="7571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r">
              <a:lnSpc>
                <a:spcPct val="90000"/>
              </a:lnSpc>
              <a:spcBef>
                <a:spcPct val="40000"/>
              </a:spcBef>
              <a:buClr>
                <a:srgbClr val="006699"/>
              </a:buClr>
            </a:pPr>
            <a:r>
              <a:rPr lang="en-US" sz="2400" b="0" dirty="0">
                <a:latin typeface="Segoe UI" pitchFamily="34" charset="0"/>
                <a:ea typeface="Segoe UI" pitchFamily="34" charset="0"/>
                <a:cs typeface="Segoe UI" pitchFamily="34" charset="0"/>
              </a:rPr>
              <a:t>OUs are </a:t>
            </a:r>
            <a:r>
              <a:rPr lang="en-CA" sz="2400" b="0" dirty="0">
                <a:latin typeface="Segoe UI" pitchFamily="34" charset="0"/>
                <a:ea typeface="Segoe UI" pitchFamily="34" charset="0"/>
                <a:cs typeface="Segoe UI" pitchFamily="34" charset="0"/>
              </a:rPr>
              <a:t>represented by a folder with a book on it</a:t>
            </a:r>
            <a:endParaRPr lang="en-US" sz="2400" b="0" dirty="0">
              <a:latin typeface="Segoe UI" pitchFamily="34" charset="0"/>
              <a:ea typeface="Segoe UI" pitchFamily="34" charset="0"/>
              <a:cs typeface="Segoe UI" pitchFamily="34" charset="0"/>
            </a:endParaRPr>
          </a:p>
        </p:txBody>
      </p:sp>
      <p:sp>
        <p:nvSpPr>
          <p:cNvPr id="12" name="TextBox 9"/>
          <p:cNvSpPr txBox="1"/>
          <p:nvPr/>
        </p:nvSpPr>
        <p:spPr>
          <a:xfrm>
            <a:off x="2240015" y="5146143"/>
            <a:ext cx="3848705" cy="75713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r">
              <a:lnSpc>
                <a:spcPct val="90000"/>
              </a:lnSpc>
              <a:spcBef>
                <a:spcPct val="40000"/>
              </a:spcBef>
              <a:buClr>
                <a:srgbClr val="006699"/>
              </a:buClr>
            </a:pPr>
            <a:r>
              <a:rPr lang="en-US" sz="2400" b="0" dirty="0">
                <a:latin typeface="Segoe UI" pitchFamily="34" charset="0"/>
                <a:ea typeface="Segoe UI" pitchFamily="34" charset="0"/>
                <a:cs typeface="Segoe UI" pitchFamily="34" charset="0"/>
              </a:rPr>
              <a:t>Containers are </a:t>
            </a:r>
            <a:r>
              <a:rPr lang="en-CA" sz="2400" b="0" dirty="0">
                <a:latin typeface="Segoe UI" pitchFamily="34" charset="0"/>
                <a:ea typeface="Segoe UI" pitchFamily="34" charset="0"/>
                <a:cs typeface="Segoe UI" pitchFamily="34" charset="0"/>
              </a:rPr>
              <a:t>represented by a blank folder</a:t>
            </a:r>
          </a:p>
        </p:txBody>
      </p:sp>
      <p:cxnSp>
        <p:nvCxnSpPr>
          <p:cNvPr id="13" name="Straight Arrow Connector 12"/>
          <p:cNvCxnSpPr/>
          <p:nvPr/>
        </p:nvCxnSpPr>
        <p:spPr bwMode="auto">
          <a:xfrm flipV="1">
            <a:off x="6228226" y="3438147"/>
            <a:ext cx="1083926" cy="932789"/>
          </a:xfrm>
          <a:prstGeom prst="straightConnector1">
            <a:avLst/>
          </a:prstGeom>
          <a:gradFill rotWithShape="1">
            <a:gsLst>
              <a:gs pos="0">
                <a:srgbClr val="E4CD9A"/>
              </a:gs>
              <a:gs pos="100000">
                <a:srgbClr val="EEEFD7"/>
              </a:gs>
            </a:gsLst>
            <a:lin ang="2700000" scaled="1"/>
          </a:gradFill>
          <a:ln w="1905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6088720" y="5646057"/>
            <a:ext cx="1206015" cy="481868"/>
          </a:xfrm>
          <a:prstGeom prst="straightConnector1">
            <a:avLst/>
          </a:prstGeom>
          <a:gradFill rotWithShape="1">
            <a:gsLst>
              <a:gs pos="0">
                <a:srgbClr val="E4CD9A"/>
              </a:gs>
              <a:gs pos="100000">
                <a:srgbClr val="EEEFD7"/>
              </a:gs>
            </a:gsLst>
            <a:lin ang="2700000" scaled="1"/>
          </a:grad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1865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7386" y="14482"/>
            <a:ext cx="8618214" cy="693111"/>
          </a:xfrm>
        </p:spPr>
        <p:txBody>
          <a:bodyPr/>
          <a:lstStyle/>
          <a:p>
            <a:r>
              <a:rPr lang="en-CA" b="1" dirty="0"/>
              <a:t>What Is an AD DS Forest?</a:t>
            </a:r>
          </a:p>
        </p:txBody>
      </p:sp>
      <p:grpSp>
        <p:nvGrpSpPr>
          <p:cNvPr id="4" name="alt text - everything in this one large group" descr="A diagram of a forest root domain named adatum.com, with a child domain named atl.adatum.com and a second domain tree named fabrikam.com."/>
          <p:cNvGrpSpPr/>
          <p:nvPr/>
        </p:nvGrpSpPr>
        <p:grpSpPr>
          <a:xfrm>
            <a:off x="1897386" y="1058220"/>
            <a:ext cx="7732353" cy="5143563"/>
            <a:chOff x="373385" y="1058219"/>
            <a:chExt cx="7732353" cy="5143563"/>
          </a:xfrm>
        </p:grpSpPr>
        <p:grpSp>
          <p:nvGrpSpPr>
            <p:cNvPr id="5" name="Group 4"/>
            <p:cNvGrpSpPr/>
            <p:nvPr/>
          </p:nvGrpSpPr>
          <p:grpSpPr>
            <a:xfrm>
              <a:off x="3203643" y="1904999"/>
              <a:ext cx="1431426" cy="784141"/>
              <a:chOff x="3203643" y="1904999"/>
              <a:chExt cx="1431426" cy="784141"/>
            </a:xfrm>
          </p:grpSpPr>
          <p:sp>
            <p:nvSpPr>
              <p:cNvPr id="31" name="arrow"/>
              <p:cNvSpPr>
                <a:spLocks noChangeShapeType="1"/>
              </p:cNvSpPr>
              <p:nvPr/>
            </p:nvSpPr>
            <p:spPr bwMode="auto">
              <a:xfrm flipV="1">
                <a:off x="3236980" y="2065519"/>
                <a:ext cx="1398089" cy="623621"/>
              </a:xfrm>
              <a:prstGeom prst="line">
                <a:avLst/>
              </a:prstGeom>
              <a:noFill/>
              <a:ln w="50800">
                <a:solidFill>
                  <a:srgbClr val="CC0000"/>
                </a:solidFill>
                <a:round/>
                <a:headEnd type="triangle" w="med" len="med"/>
                <a:tailEn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sp>
            <p:nvSpPr>
              <p:cNvPr id="32" name="arrow"/>
              <p:cNvSpPr>
                <a:spLocks noChangeShapeType="1"/>
              </p:cNvSpPr>
              <p:nvPr/>
            </p:nvSpPr>
            <p:spPr bwMode="auto">
              <a:xfrm flipV="1">
                <a:off x="3203643" y="1904999"/>
                <a:ext cx="1431426" cy="631741"/>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grpSp>
        <p:grpSp>
          <p:nvGrpSpPr>
            <p:cNvPr id="6" name="Group 5"/>
            <p:cNvGrpSpPr/>
            <p:nvPr/>
          </p:nvGrpSpPr>
          <p:grpSpPr>
            <a:xfrm>
              <a:off x="5359351" y="3188526"/>
              <a:ext cx="737375" cy="940958"/>
              <a:chOff x="5359351" y="3188526"/>
              <a:chExt cx="737375" cy="940958"/>
            </a:xfrm>
          </p:grpSpPr>
          <p:sp>
            <p:nvSpPr>
              <p:cNvPr id="29" name="arrow"/>
              <p:cNvSpPr>
                <a:spLocks noChangeAspect="1" noChangeShapeType="1"/>
              </p:cNvSpPr>
              <p:nvPr/>
            </p:nvSpPr>
            <p:spPr bwMode="auto">
              <a:xfrm flipH="1" flipV="1">
                <a:off x="5628413" y="3188526"/>
                <a:ext cx="468313" cy="719137"/>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sp>
            <p:nvSpPr>
              <p:cNvPr id="30" name="arrow"/>
              <p:cNvSpPr>
                <a:spLocks noChangeAspect="1" noChangeShapeType="1"/>
              </p:cNvSpPr>
              <p:nvPr/>
            </p:nvSpPr>
            <p:spPr bwMode="auto">
              <a:xfrm flipH="1" flipV="1">
                <a:off x="5359351" y="3265884"/>
                <a:ext cx="577850" cy="863600"/>
              </a:xfrm>
              <a:prstGeom prst="line">
                <a:avLst/>
              </a:prstGeom>
              <a:noFill/>
              <a:ln w="50800">
                <a:solidFill>
                  <a:srgbClr val="CC0000"/>
                </a:solidFill>
                <a:round/>
                <a:headEnd type="triangle" w="med" len="med"/>
                <a:tailEn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grpSp>
        <p:grpSp>
          <p:nvGrpSpPr>
            <p:cNvPr id="7" name="Tree Root Domain"/>
            <p:cNvGrpSpPr/>
            <p:nvPr/>
          </p:nvGrpSpPr>
          <p:grpSpPr>
            <a:xfrm>
              <a:off x="373385" y="2057400"/>
              <a:ext cx="3288059" cy="2256575"/>
              <a:chOff x="373385" y="2057400"/>
              <a:chExt cx="3288059" cy="2256575"/>
            </a:xfrm>
          </p:grpSpPr>
          <p:sp>
            <p:nvSpPr>
              <p:cNvPr id="23" name="Text Box 12"/>
              <p:cNvSpPr txBox="1">
                <a:spLocks noChangeArrowheads="1"/>
              </p:cNvSpPr>
              <p:nvPr/>
            </p:nvSpPr>
            <p:spPr bwMode="auto">
              <a:xfrm>
                <a:off x="373385" y="2436659"/>
                <a:ext cx="1694053" cy="91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Tree root </a:t>
                </a:r>
              </a:p>
              <a:p>
                <a:pPr eaLnBrk="1" hangingPunct="1"/>
                <a:r>
                  <a:rPr lang="en-US" sz="2800" b="0" dirty="0">
                    <a:latin typeface="Segoe UI" pitchFamily="34" charset="0"/>
                    <a:ea typeface="Segoe UI" pitchFamily="34" charset="0"/>
                    <a:cs typeface="Segoe UI" pitchFamily="34" charset="0"/>
                  </a:rPr>
                  <a:t>domain</a:t>
                </a:r>
              </a:p>
            </p:txBody>
          </p:sp>
          <p:sp>
            <p:nvSpPr>
              <p:cNvPr id="24" name="Text Box 39"/>
              <p:cNvSpPr txBox="1">
                <a:spLocks noChangeArrowheads="1"/>
              </p:cNvSpPr>
              <p:nvPr/>
            </p:nvSpPr>
            <p:spPr bwMode="auto">
              <a:xfrm>
                <a:off x="1325548" y="3827688"/>
                <a:ext cx="2335896"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fabrikam.com</a:t>
                </a:r>
              </a:p>
            </p:txBody>
          </p:sp>
          <p:sp>
            <p:nvSpPr>
              <p:cNvPr id="25" name="triangle"/>
              <p:cNvSpPr>
                <a:spLocks noChangeArrowheads="1"/>
              </p:cNvSpPr>
              <p:nvPr/>
            </p:nvSpPr>
            <p:spPr bwMode="auto">
              <a:xfrm>
                <a:off x="1560310" y="2057400"/>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8270" y="2332621"/>
                <a:ext cx="420261" cy="745291"/>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61427" y="2359595"/>
                <a:ext cx="365271" cy="593781"/>
              </a:xfrm>
              <a:prstGeom prst="rect">
                <a:avLst/>
              </a:prstGeom>
            </p:spPr>
          </p:pic>
          <p:pic>
            <p:nvPicPr>
              <p:cNvPr id="28" name="Pictur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92537" y="2705267"/>
                <a:ext cx="482531" cy="511834"/>
              </a:xfrm>
              <a:prstGeom prst="rect">
                <a:avLst/>
              </a:prstGeom>
            </p:spPr>
          </p:pic>
        </p:grpSp>
        <p:grpSp>
          <p:nvGrpSpPr>
            <p:cNvPr id="8" name="Child Domain"/>
            <p:cNvGrpSpPr/>
            <p:nvPr/>
          </p:nvGrpSpPr>
          <p:grpSpPr>
            <a:xfrm>
              <a:off x="5283005" y="3443817"/>
              <a:ext cx="2629246" cy="2757965"/>
              <a:chOff x="5283005" y="3443817"/>
              <a:chExt cx="2629246" cy="2757965"/>
            </a:xfrm>
          </p:grpSpPr>
          <p:sp>
            <p:nvSpPr>
              <p:cNvPr id="16" name="c atl.adatum.com"/>
              <p:cNvSpPr txBox="1">
                <a:spLocks noChangeArrowheads="1"/>
              </p:cNvSpPr>
              <p:nvPr/>
            </p:nvSpPr>
            <p:spPr bwMode="auto">
              <a:xfrm>
                <a:off x="5283005" y="5230457"/>
                <a:ext cx="2629246"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atl.adatum.com</a:t>
                </a:r>
              </a:p>
            </p:txBody>
          </p:sp>
          <p:sp>
            <p:nvSpPr>
              <p:cNvPr id="17" name="c triangle"/>
              <p:cNvSpPr>
                <a:spLocks noChangeArrowheads="1"/>
              </p:cNvSpPr>
              <p:nvPr/>
            </p:nvSpPr>
            <p:spPr bwMode="auto">
              <a:xfrm>
                <a:off x="5567979" y="3443817"/>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18" name="c serv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5939" y="3719038"/>
                <a:ext cx="420261" cy="745291"/>
              </a:xfrm>
              <a:prstGeom prst="rect">
                <a:avLst/>
              </a:prstGeom>
            </p:spPr>
          </p:pic>
          <p:pic>
            <p:nvPicPr>
              <p:cNvPr id="19" name="c dateabs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9096" y="3746012"/>
                <a:ext cx="365271" cy="593781"/>
              </a:xfrm>
              <a:prstGeom prst="rect">
                <a:avLst/>
              </a:prstGeom>
            </p:spPr>
          </p:pic>
          <p:pic>
            <p:nvPicPr>
              <p:cNvPr id="20" name="c folde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03997" y="4476606"/>
                <a:ext cx="640074" cy="630287"/>
              </a:xfrm>
              <a:prstGeom prst="rect">
                <a:avLst/>
              </a:prstGeom>
            </p:spPr>
          </p:pic>
          <p:pic>
            <p:nvPicPr>
              <p:cNvPr id="21" name="c lock"/>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953571" y="4546038"/>
                <a:ext cx="515518" cy="714755"/>
              </a:xfrm>
              <a:prstGeom prst="rect">
                <a:avLst/>
              </a:prstGeom>
            </p:spPr>
          </p:pic>
          <p:sp>
            <p:nvSpPr>
              <p:cNvPr id="22" name="&quot;child domain &quot;"/>
              <p:cNvSpPr txBox="1">
                <a:spLocks noChangeArrowheads="1"/>
              </p:cNvSpPr>
              <p:nvPr/>
            </p:nvSpPr>
            <p:spPr bwMode="auto">
              <a:xfrm>
                <a:off x="5358559" y="5715495"/>
                <a:ext cx="2435282"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Child domain </a:t>
                </a:r>
              </a:p>
            </p:txBody>
          </p:sp>
        </p:grpSp>
        <p:grpSp>
          <p:nvGrpSpPr>
            <p:cNvPr id="9" name="Forest Root Domain"/>
            <p:cNvGrpSpPr/>
            <p:nvPr/>
          </p:nvGrpSpPr>
          <p:grpSpPr>
            <a:xfrm>
              <a:off x="4381888" y="1058219"/>
              <a:ext cx="3723850" cy="2213051"/>
              <a:chOff x="4381888" y="1058219"/>
              <a:chExt cx="3723850" cy="2213051"/>
            </a:xfrm>
          </p:grpSpPr>
          <p:sp>
            <p:nvSpPr>
              <p:cNvPr id="10" name="b triangle"/>
              <p:cNvSpPr>
                <a:spLocks noChangeArrowheads="1"/>
              </p:cNvSpPr>
              <p:nvPr/>
            </p:nvSpPr>
            <p:spPr bwMode="auto">
              <a:xfrm>
                <a:off x="4381888" y="1058219"/>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11" name="b serv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9848" y="1333440"/>
                <a:ext cx="420261" cy="745291"/>
              </a:xfrm>
              <a:prstGeom prst="rect">
                <a:avLst/>
              </a:prstGeom>
            </p:spPr>
          </p:pic>
          <p:sp>
            <p:nvSpPr>
              <p:cNvPr id="12" name="b  &quot;adatum.com&quot;"/>
              <p:cNvSpPr txBox="1">
                <a:spLocks noChangeArrowheads="1"/>
              </p:cNvSpPr>
              <p:nvPr/>
            </p:nvSpPr>
            <p:spPr bwMode="auto">
              <a:xfrm>
                <a:off x="4401014" y="2784983"/>
                <a:ext cx="2159566"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adatum.com</a:t>
                </a:r>
              </a:p>
            </p:txBody>
          </p:sp>
          <p:pic>
            <p:nvPicPr>
              <p:cNvPr id="13" name="b databas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3005" y="1360414"/>
                <a:ext cx="365271" cy="593781"/>
              </a:xfrm>
              <a:prstGeom prst="rect">
                <a:avLst/>
              </a:prstGeom>
            </p:spPr>
          </p:pic>
          <p:pic>
            <p:nvPicPr>
              <p:cNvPr id="14" name="b data cube"/>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4115" y="1706086"/>
                <a:ext cx="482531" cy="511834"/>
              </a:xfrm>
              <a:prstGeom prst="rect">
                <a:avLst/>
              </a:prstGeom>
            </p:spPr>
          </p:pic>
          <p:sp>
            <p:nvSpPr>
              <p:cNvPr id="15" name="b &quot;Forest Root &quot;"/>
              <p:cNvSpPr txBox="1">
                <a:spLocks noChangeArrowheads="1"/>
              </p:cNvSpPr>
              <p:nvPr/>
            </p:nvSpPr>
            <p:spPr bwMode="auto">
              <a:xfrm>
                <a:off x="6096726" y="1577664"/>
                <a:ext cx="2009012" cy="91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en-US" sz="2800" b="0" dirty="0">
                    <a:latin typeface="Segoe UI" pitchFamily="34" charset="0"/>
                    <a:ea typeface="Segoe UI" pitchFamily="34" charset="0"/>
                    <a:cs typeface="Segoe UI" pitchFamily="34" charset="0"/>
                  </a:rPr>
                  <a:t>Forest root </a:t>
                </a:r>
              </a:p>
              <a:p>
                <a:pPr eaLnBrk="1" hangingPunct="1"/>
                <a:r>
                  <a:rPr lang="en-US" sz="2800" b="0" dirty="0">
                    <a:latin typeface="Segoe UI" pitchFamily="34" charset="0"/>
                    <a:ea typeface="Segoe UI" pitchFamily="34" charset="0"/>
                    <a:cs typeface="Segoe UI" pitchFamily="34" charset="0"/>
                  </a:rPr>
                  <a:t>domain</a:t>
                </a:r>
              </a:p>
            </p:txBody>
          </p:sp>
        </p:grpSp>
      </p:grpSp>
    </p:spTree>
    <p:extLst>
      <p:ext uri="{BB962C8B-B14F-4D97-AF65-F5344CB8AC3E}">
        <p14:creationId xmlns:p14="http://schemas.microsoft.com/office/powerpoint/2010/main" val="4076084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382" y="1"/>
            <a:ext cx="8742218" cy="562707"/>
          </a:xfrm>
        </p:spPr>
        <p:txBody>
          <a:bodyPr>
            <a:normAutofit fontScale="90000"/>
          </a:bodyPr>
          <a:lstStyle/>
          <a:p>
            <a:r>
              <a:rPr lang="en-CA" b="1" dirty="0"/>
              <a:t>What Is the AD DS Schema?</a:t>
            </a:r>
          </a:p>
        </p:txBody>
      </p:sp>
      <p:pic>
        <p:nvPicPr>
          <p:cNvPr id="4" name="alt text here Picture 3" descr="An illustration of the relationships between the schema objects, classes, and attributes that define the objects within AD D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150" y="1804525"/>
            <a:ext cx="8249306" cy="4287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a:spLocks noChangeArrowheads="1"/>
          </p:cNvSpPr>
          <p:nvPr/>
        </p:nvSpPr>
        <p:spPr bwMode="auto">
          <a:xfrm>
            <a:off x="1880050" y="1037432"/>
            <a:ext cx="8353509" cy="433460"/>
          </a:xfrm>
          <a:prstGeom prst="roundRect">
            <a:avLst>
              <a:gd name="adj" fmla="val 6533"/>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600"/>
              </a:spcBef>
              <a:buClr>
                <a:srgbClr val="006699"/>
              </a:buClr>
            </a:pPr>
            <a:r>
              <a:rPr lang="en-US" sz="2400" b="0" dirty="0">
                <a:latin typeface="Segoe UI" pitchFamily="34" charset="0"/>
                <a:ea typeface="Segoe UI" pitchFamily="34" charset="0"/>
                <a:cs typeface="Segoe UI" pitchFamily="34" charset="0"/>
              </a:rPr>
              <a:t>The schema defines the objects that can be stored in AD DS</a:t>
            </a:r>
            <a:endParaRPr lang="en-US" sz="22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91528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7768" y="1"/>
            <a:ext cx="8687832" cy="615462"/>
          </a:xfrm>
        </p:spPr>
        <p:txBody>
          <a:bodyPr/>
          <a:lstStyle/>
          <a:p>
            <a:r>
              <a:rPr lang="en-CA" b="1" dirty="0"/>
              <a:t>What Is a Domain Controller?</a:t>
            </a:r>
          </a:p>
        </p:txBody>
      </p:sp>
      <p:sp>
        <p:nvSpPr>
          <p:cNvPr id="4" name="TextBox 3"/>
          <p:cNvSpPr txBox="1">
            <a:spLocks noChangeArrowheads="1"/>
          </p:cNvSpPr>
          <p:nvPr/>
        </p:nvSpPr>
        <p:spPr bwMode="auto">
          <a:xfrm>
            <a:off x="1827768" y="1074523"/>
            <a:ext cx="8105715" cy="4921543"/>
          </a:xfrm>
          <a:prstGeom prst="roundRect">
            <a:avLst>
              <a:gd name="adj" fmla="val 4167"/>
            </a:avLst>
          </a:prstGeom>
          <a:noFill/>
          <a:ln w="9525" cap="flat" algn="ctr">
            <a:noFill/>
            <a:round/>
            <a:headEnd type="none" w="med" len="med"/>
            <a:tailEnd type="none" w="med" len="med"/>
          </a:ln>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tabLst>
                <a:tab pos="2222500" algn="l"/>
              </a:tabLst>
            </a:pPr>
            <a:r>
              <a:rPr lang="en-US" sz="2800" b="0" dirty="0">
                <a:latin typeface="Segoe UI" pitchFamily="34" charset="0"/>
                <a:ea typeface="Segoe UI" pitchFamily="34" charset="0"/>
                <a:cs typeface="Segoe UI" pitchFamily="34" charset="0"/>
              </a:rPr>
              <a:t>Domain controllers</a:t>
            </a:r>
          </a:p>
          <a:p>
            <a:pPr marL="342900" indent="-342900">
              <a:lnSpc>
                <a:spcPct val="110000"/>
              </a:lnSpc>
              <a:spcBef>
                <a:spcPct val="40000"/>
              </a:spcBef>
              <a:buClr>
                <a:srgbClr val="006699"/>
              </a:buClr>
              <a:buFont typeface="Arial" panose="020B0604020202020204" pitchFamily="34" charset="0"/>
              <a:buChar char="•"/>
            </a:pPr>
            <a:r>
              <a:rPr lang="en-US" sz="2400" b="0" dirty="0">
                <a:latin typeface="Segoe UI" pitchFamily="34" charset="0"/>
                <a:ea typeface="Segoe UI" pitchFamily="34" charset="0"/>
                <a:cs typeface="Segoe UI" pitchFamily="34" charset="0"/>
              </a:rPr>
              <a:t>Servers that host the AD DS database (Ntds.dit) and SYSVOL</a:t>
            </a:r>
          </a:p>
          <a:p>
            <a:pPr marL="342900" indent="-342900">
              <a:lnSpc>
                <a:spcPct val="110000"/>
              </a:lnSpc>
              <a:spcBef>
                <a:spcPct val="40000"/>
              </a:spcBef>
              <a:buClr>
                <a:srgbClr val="006699"/>
              </a:buClr>
              <a:buFont typeface="Arial" panose="020B0604020202020204" pitchFamily="34" charset="0"/>
              <a:buChar char="•"/>
            </a:pPr>
            <a:r>
              <a:rPr lang="en-US" sz="2400" b="0" dirty="0">
                <a:latin typeface="Segoe UI" pitchFamily="34" charset="0"/>
                <a:ea typeface="Segoe UI" pitchFamily="34" charset="0"/>
                <a:cs typeface="Segoe UI" pitchFamily="34" charset="0"/>
              </a:rPr>
              <a:t>Kerberos authentication service and KDC services perform authentication</a:t>
            </a:r>
          </a:p>
          <a:p>
            <a:pPr marL="342900" indent="-342900">
              <a:spcBef>
                <a:spcPct val="40000"/>
              </a:spcBef>
              <a:buClr>
                <a:srgbClr val="006699"/>
              </a:buClr>
              <a:buFont typeface="Arial" panose="020B0604020202020204" pitchFamily="34" charset="0"/>
              <a:buChar char="•"/>
            </a:pPr>
            <a:r>
              <a:rPr lang="en-US" sz="2400" b="0" dirty="0">
                <a:latin typeface="Segoe UI" pitchFamily="34" charset="0"/>
                <a:ea typeface="Segoe UI" pitchFamily="34" charset="0"/>
                <a:cs typeface="Segoe UI" pitchFamily="34" charset="0"/>
              </a:rPr>
              <a:t>Best practices:</a:t>
            </a:r>
          </a:p>
          <a:p>
            <a:pPr marL="685800" lvl="1" indent="-228600">
              <a:spcBef>
                <a:spcPct val="40000"/>
              </a:spcBef>
              <a:buClr>
                <a:srgbClr val="006699"/>
              </a:buClr>
              <a:buFontTx/>
              <a:buChar char="•"/>
            </a:pPr>
            <a:r>
              <a:rPr lang="en-US" sz="2400" b="0" dirty="0">
                <a:latin typeface="Segoe UI" pitchFamily="34" charset="0"/>
                <a:ea typeface="Segoe UI" pitchFamily="34" charset="0"/>
                <a:cs typeface="Segoe UI" pitchFamily="34" charset="0"/>
              </a:rPr>
              <a:t>Availability: </a:t>
            </a:r>
          </a:p>
          <a:p>
            <a:pPr marL="687600" lvl="1">
              <a:spcBef>
                <a:spcPct val="40000"/>
              </a:spcBef>
              <a:buClr>
                <a:srgbClr val="006699"/>
              </a:buClr>
            </a:pPr>
            <a:r>
              <a:rPr lang="en-US" sz="2400" b="0" dirty="0">
                <a:latin typeface="Segoe UI" pitchFamily="34" charset="0"/>
                <a:ea typeface="Segoe UI" pitchFamily="34" charset="0"/>
                <a:cs typeface="Segoe UI" pitchFamily="34" charset="0"/>
              </a:rPr>
              <a:t>At least two domain controllers in a domain</a:t>
            </a:r>
          </a:p>
          <a:p>
            <a:pPr marL="685800" lvl="1" indent="-228600">
              <a:spcBef>
                <a:spcPct val="40000"/>
              </a:spcBef>
              <a:buClr>
                <a:srgbClr val="006699"/>
              </a:buClr>
              <a:buFontTx/>
              <a:buChar char="•"/>
            </a:pPr>
            <a:r>
              <a:rPr lang="en-US" sz="2400" b="0" dirty="0">
                <a:latin typeface="Segoe UI" pitchFamily="34" charset="0"/>
                <a:ea typeface="Segoe UI" pitchFamily="34" charset="0"/>
                <a:cs typeface="Segoe UI" pitchFamily="34" charset="0"/>
              </a:rPr>
              <a:t>Security:</a:t>
            </a:r>
          </a:p>
          <a:p>
            <a:pPr marL="687600" lvl="1">
              <a:spcBef>
                <a:spcPct val="40000"/>
              </a:spcBef>
              <a:buClr>
                <a:srgbClr val="006699"/>
              </a:buClr>
            </a:pPr>
            <a:r>
              <a:rPr lang="en-US" sz="2400" b="0" dirty="0">
                <a:latin typeface="Segoe UI" pitchFamily="34" charset="0"/>
                <a:ea typeface="Segoe UI" pitchFamily="34" charset="0"/>
                <a:cs typeface="Segoe UI" pitchFamily="34" charset="0"/>
              </a:rPr>
              <a:t>RODC and BitLocker</a:t>
            </a:r>
          </a:p>
          <a:p>
            <a:pPr>
              <a:tabLst>
                <a:tab pos="2222500" algn="l"/>
              </a:tabLst>
            </a:pPr>
            <a:endParaRPr lang="en-US" sz="2800" b="0" dirty="0">
              <a:latin typeface="Segoe UI" pitchFamily="34" charset="0"/>
              <a:ea typeface="Segoe UI" pitchFamily="34" charset="0"/>
              <a:cs typeface="Segoe UI" pitchFamily="34" charset="0"/>
            </a:endParaRPr>
          </a:p>
          <a:p>
            <a:endParaRPr lang="en-US" sz="240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06882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2194" y="11939"/>
            <a:ext cx="8698017" cy="777898"/>
          </a:xfrm>
        </p:spPr>
        <p:txBody>
          <a:bodyPr/>
          <a:lstStyle/>
          <a:p>
            <a:r>
              <a:rPr lang="en-CA" b="1" dirty="0"/>
              <a:t>What Is the Global Catalog?</a:t>
            </a:r>
          </a:p>
        </p:txBody>
      </p:sp>
      <p:sp>
        <p:nvSpPr>
          <p:cNvPr id="4" name="text box"/>
          <p:cNvSpPr txBox="1">
            <a:spLocks/>
          </p:cNvSpPr>
          <p:nvPr/>
        </p:nvSpPr>
        <p:spPr>
          <a:xfrm>
            <a:off x="5663103" y="709525"/>
            <a:ext cx="4778062" cy="1879601"/>
          </a:xfrm>
          <a:prstGeom prst="rect">
            <a:avLst/>
          </a:prstGeom>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spcBef>
                <a:spcPts val="600"/>
              </a:spcBef>
            </a:pPr>
            <a:r>
              <a:rPr lang="en-US" sz="2400" b="0" dirty="0">
                <a:latin typeface="Segoe UI" pitchFamily="34" charset="0"/>
                <a:ea typeface="Segoe UI" pitchFamily="34" charset="0"/>
                <a:cs typeface="Segoe UI" pitchFamily="34" charset="0"/>
              </a:rPr>
              <a:t>The global catalog:</a:t>
            </a:r>
          </a:p>
          <a:p>
            <a:pPr lvl="1">
              <a:spcBef>
                <a:spcPts val="600"/>
              </a:spcBef>
            </a:pPr>
            <a:r>
              <a:rPr lang="en-US" sz="2400" b="0" dirty="0">
                <a:latin typeface="Segoe UI" pitchFamily="34" charset="0"/>
                <a:ea typeface="Segoe UI" pitchFamily="34" charset="0"/>
                <a:cs typeface="Segoe UI" pitchFamily="34" charset="0"/>
              </a:rPr>
              <a:t>Hosts a partial attribute set for other domains in the forest</a:t>
            </a:r>
          </a:p>
          <a:p>
            <a:pPr lvl="1">
              <a:spcBef>
                <a:spcPts val="600"/>
              </a:spcBef>
            </a:pPr>
            <a:r>
              <a:rPr lang="en-US" sz="2400" b="0" dirty="0">
                <a:latin typeface="Segoe UI" pitchFamily="34" charset="0"/>
                <a:ea typeface="Segoe UI" pitchFamily="34" charset="0"/>
                <a:cs typeface="Segoe UI" pitchFamily="34" charset="0"/>
              </a:rPr>
              <a:t>Supports queries for objects throughout the forest</a:t>
            </a:r>
          </a:p>
        </p:txBody>
      </p:sp>
      <p:grpSp>
        <p:nvGrpSpPr>
          <p:cNvPr id="5" name="globe, mag glass arrow etc"/>
          <p:cNvGrpSpPr/>
          <p:nvPr/>
        </p:nvGrpSpPr>
        <p:grpSpPr>
          <a:xfrm>
            <a:off x="3635589" y="4574436"/>
            <a:ext cx="1655550" cy="1805153"/>
            <a:chOff x="2111589" y="4574435"/>
            <a:chExt cx="1655550" cy="1805153"/>
          </a:xfrm>
        </p:grpSpPr>
        <p:sp>
          <p:nvSpPr>
            <p:cNvPr id="6" name="arrow"/>
            <p:cNvSpPr>
              <a:spLocks noChangeArrowheads="1"/>
            </p:cNvSpPr>
            <p:nvPr/>
          </p:nvSpPr>
          <p:spPr bwMode="auto">
            <a:xfrm rot="8412092">
              <a:off x="2111589" y="4574435"/>
              <a:ext cx="337606" cy="812787"/>
            </a:xfrm>
            <a:prstGeom prst="downArrow">
              <a:avLst>
                <a:gd name="adj1" fmla="val 52602"/>
                <a:gd name="adj2" fmla="val 51155"/>
              </a:avLst>
            </a:prstGeom>
            <a:solidFill>
              <a:srgbClr val="FF0000">
                <a:alpha val="7490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sr-Latn-RS" sz="2400">
                <a:latin typeface="Segoe UI" pitchFamily="34" charset="0"/>
                <a:ea typeface="Segoe UI" pitchFamily="34" charset="0"/>
                <a:cs typeface="Segoe UI" pitchFamily="34" charset="0"/>
              </a:endParaRPr>
            </a:p>
          </p:txBody>
        </p:sp>
        <p:pic>
          <p:nvPicPr>
            <p:cNvPr id="7"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14074" y="5121077"/>
              <a:ext cx="589943" cy="589943"/>
            </a:xfrm>
            <a:prstGeom prst="rect">
              <a:avLst/>
            </a:prstGeom>
          </p:spPr>
        </p:pic>
        <p:pic>
          <p:nvPicPr>
            <p:cNvPr id="8" name="databas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1032" y="5393823"/>
              <a:ext cx="541387" cy="756436"/>
            </a:xfrm>
            <a:prstGeom prst="rect">
              <a:avLst/>
            </a:prstGeom>
          </p:spPr>
        </p:pic>
        <p:sp>
          <p:nvSpPr>
            <p:cNvPr id="9" name="&quot;AD DS&quot;"/>
            <p:cNvSpPr txBox="1"/>
            <p:nvPr/>
          </p:nvSpPr>
          <p:spPr>
            <a:xfrm>
              <a:off x="2927783" y="5684435"/>
              <a:ext cx="839356" cy="276999"/>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dirty="0"/>
                <a:t>AD DS </a:t>
              </a:r>
            </a:p>
          </p:txBody>
        </p:sp>
        <p:pic>
          <p:nvPicPr>
            <p:cNvPr id="10" name="mag glas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01613" y="5515158"/>
              <a:ext cx="695048" cy="864430"/>
            </a:xfrm>
            <a:prstGeom prst="rect">
              <a:avLst/>
            </a:prstGeom>
          </p:spPr>
        </p:pic>
      </p:grpSp>
      <p:sp>
        <p:nvSpPr>
          <p:cNvPr id="11" name="a blue Isosceles Triangle 95"/>
          <p:cNvSpPr/>
          <p:nvPr/>
        </p:nvSpPr>
        <p:spPr>
          <a:xfrm>
            <a:off x="1832195" y="936107"/>
            <a:ext cx="4044245" cy="3614136"/>
          </a:xfrm>
          <a:prstGeom prst="triangle">
            <a:avLst>
              <a:gd name="adj" fmla="val 48593"/>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12" name="a &quot;Global catalog server&quot;"/>
          <p:cNvSpPr>
            <a:spLocks noChangeArrowheads="1"/>
          </p:cNvSpPr>
          <p:nvPr/>
        </p:nvSpPr>
        <p:spPr bwMode="auto">
          <a:xfrm>
            <a:off x="2066978" y="4148044"/>
            <a:ext cx="2889456" cy="376476"/>
          </a:xfrm>
          <a:prstGeom prst="roundRect">
            <a:avLst>
              <a:gd name="adj" fmla="val 4167"/>
            </a:avLst>
          </a:prstGeom>
          <a:ln>
            <a:noFill/>
            <a:headEnd/>
            <a:tailEnd/>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r>
              <a:rPr lang="en-US" sz="2400" b="0" dirty="0">
                <a:latin typeface="Segoe UI" pitchFamily="34" charset="0"/>
                <a:ea typeface="Segoe UI" pitchFamily="34" charset="0"/>
                <a:cs typeface="Segoe UI" pitchFamily="34" charset="0"/>
              </a:rPr>
              <a:t>Global catalog server</a:t>
            </a:r>
          </a:p>
        </p:txBody>
      </p:sp>
      <p:grpSp>
        <p:nvGrpSpPr>
          <p:cNvPr id="13" name="a   4 databases w labelsGroup 84"/>
          <p:cNvGrpSpPr/>
          <p:nvPr/>
        </p:nvGrpSpPr>
        <p:grpSpPr>
          <a:xfrm>
            <a:off x="1879562" y="2073742"/>
            <a:ext cx="1426424" cy="2062526"/>
            <a:chOff x="2010385" y="2968129"/>
            <a:chExt cx="1428323" cy="2280136"/>
          </a:xfrm>
        </p:grpSpPr>
        <p:pic>
          <p:nvPicPr>
            <p:cNvPr id="14" name="Picture 13"/>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2012361" y="4309561"/>
              <a:ext cx="1426346" cy="938704"/>
            </a:xfrm>
            <a:prstGeom prst="rect">
              <a:avLst/>
            </a:prstGeom>
          </p:spPr>
        </p:pic>
        <p:pic>
          <p:nvPicPr>
            <p:cNvPr id="15" name="Picture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2359" y="3862433"/>
              <a:ext cx="1426345" cy="938704"/>
            </a:xfrm>
            <a:prstGeom prst="rect">
              <a:avLst/>
            </a:prstGeom>
          </p:spPr>
        </p:pic>
        <p:pic>
          <p:nvPicPr>
            <p:cNvPr id="16" name="Picture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0385" y="3412872"/>
              <a:ext cx="1426345" cy="938704"/>
            </a:xfrm>
            <a:prstGeom prst="rect">
              <a:avLst/>
            </a:prstGeom>
          </p:spPr>
        </p:pic>
        <p:pic>
          <p:nvPicPr>
            <p:cNvPr id="17" name="Picture 1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12362" y="2968129"/>
              <a:ext cx="1426346" cy="938704"/>
            </a:xfrm>
            <a:prstGeom prst="rect">
              <a:avLst/>
            </a:prstGeom>
          </p:spPr>
        </p:pic>
        <p:sp>
          <p:nvSpPr>
            <p:cNvPr id="18" name="&quot;schema"/>
            <p:cNvSpPr/>
            <p:nvPr/>
          </p:nvSpPr>
          <p:spPr>
            <a:xfrm>
              <a:off x="2329935" y="3537888"/>
              <a:ext cx="746389"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sp>
          <p:nvSpPr>
            <p:cNvPr id="19" name="&quot;configuration"/>
            <p:cNvSpPr/>
            <p:nvPr/>
          </p:nvSpPr>
          <p:spPr>
            <a:xfrm>
              <a:off x="2046554" y="3932849"/>
              <a:ext cx="1343500"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Configuration</a:t>
              </a:r>
              <a:endParaRPr lang="en-CA" sz="1600" dirty="0"/>
            </a:p>
          </p:txBody>
        </p:sp>
        <p:sp>
          <p:nvSpPr>
            <p:cNvPr id="20" name="&quot;domain A"/>
            <p:cNvSpPr/>
            <p:nvPr/>
          </p:nvSpPr>
          <p:spPr>
            <a:xfrm>
              <a:off x="2236969" y="4398339"/>
              <a:ext cx="956661"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Domain A</a:t>
              </a:r>
              <a:endParaRPr lang="en-CA" sz="1600" dirty="0"/>
            </a:p>
          </p:txBody>
        </p:sp>
        <p:sp>
          <p:nvSpPr>
            <p:cNvPr id="21" name="&quot;domain B"/>
            <p:cNvSpPr/>
            <p:nvPr/>
          </p:nvSpPr>
          <p:spPr>
            <a:xfrm>
              <a:off x="2225447" y="4831805"/>
              <a:ext cx="943820" cy="272199"/>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Domain B</a:t>
              </a:r>
              <a:endParaRPr lang="en-CA" sz="1600" dirty="0"/>
            </a:p>
          </p:txBody>
        </p:sp>
      </p:grpSp>
      <p:pic>
        <p:nvPicPr>
          <p:cNvPr id="22" name="a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13195" y="2790179"/>
            <a:ext cx="713755" cy="1265772"/>
          </a:xfrm>
          <a:prstGeom prst="rect">
            <a:avLst/>
          </a:prstGeom>
        </p:spPr>
      </p:pic>
      <p:sp>
        <p:nvSpPr>
          <p:cNvPr id="23" name="b blue Isosceles Triangle 95"/>
          <p:cNvSpPr/>
          <p:nvPr/>
        </p:nvSpPr>
        <p:spPr>
          <a:xfrm>
            <a:off x="6096001" y="2653736"/>
            <a:ext cx="3876329" cy="3805014"/>
          </a:xfrm>
          <a:prstGeom prst="triangle">
            <a:avLst>
              <a:gd name="adj" fmla="val 48912"/>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grpSp>
        <p:nvGrpSpPr>
          <p:cNvPr id="24" name="3 pucks and labels, , B (yellow)"/>
          <p:cNvGrpSpPr/>
          <p:nvPr/>
        </p:nvGrpSpPr>
        <p:grpSpPr>
          <a:xfrm>
            <a:off x="6079319" y="4192458"/>
            <a:ext cx="1481790" cy="1704532"/>
            <a:chOff x="4414162" y="3099085"/>
            <a:chExt cx="1481790" cy="1704532"/>
          </a:xfrm>
        </p:grpSpPr>
        <p:pic>
          <p:nvPicPr>
            <p:cNvPr id="25" name="yellow puck"/>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4414164" y="3954500"/>
              <a:ext cx="1481788" cy="849117"/>
            </a:xfrm>
            <a:prstGeom prst="rect">
              <a:avLst/>
            </a:prstGeom>
          </p:spPr>
        </p:pic>
        <p:pic>
          <p:nvPicPr>
            <p:cNvPr id="26"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2" y="3449347"/>
              <a:ext cx="1481790" cy="946930"/>
            </a:xfrm>
            <a:prstGeom prst="rect">
              <a:avLst/>
            </a:prstGeom>
          </p:spPr>
        </p:pic>
        <p:pic>
          <p:nvPicPr>
            <p:cNvPr id="27"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4" y="3099085"/>
              <a:ext cx="1481788" cy="849117"/>
            </a:xfrm>
            <a:prstGeom prst="rect">
              <a:avLst/>
            </a:prstGeom>
          </p:spPr>
        </p:pic>
        <p:sp>
          <p:nvSpPr>
            <p:cNvPr id="28" name="&quot;domain B"/>
            <p:cNvSpPr/>
            <p:nvPr/>
          </p:nvSpPr>
          <p:spPr>
            <a:xfrm>
              <a:off x="4689244" y="4450117"/>
              <a:ext cx="942566"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Domain B</a:t>
              </a:r>
              <a:endParaRPr lang="en-CA" sz="1600" dirty="0"/>
            </a:p>
          </p:txBody>
        </p:sp>
        <p:sp>
          <p:nvSpPr>
            <p:cNvPr id="29" name="&quot;configuration"/>
            <p:cNvSpPr/>
            <p:nvPr/>
          </p:nvSpPr>
          <p:spPr>
            <a:xfrm>
              <a:off x="4471499" y="4006828"/>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Configuration</a:t>
              </a:r>
              <a:endParaRPr lang="en-CA" sz="1600" dirty="0"/>
            </a:p>
          </p:txBody>
        </p:sp>
        <p:sp>
          <p:nvSpPr>
            <p:cNvPr id="30" name="&quot;schema"/>
            <p:cNvSpPr/>
            <p:nvPr/>
          </p:nvSpPr>
          <p:spPr>
            <a:xfrm>
              <a:off x="4775740" y="3628759"/>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grpSp>
        <p:nvGrpSpPr>
          <p:cNvPr id="31" name="3 pucks and labels, B (yellow)"/>
          <p:cNvGrpSpPr/>
          <p:nvPr/>
        </p:nvGrpSpPr>
        <p:grpSpPr>
          <a:xfrm>
            <a:off x="8052135" y="2769456"/>
            <a:ext cx="1487259" cy="1695836"/>
            <a:chOff x="4414162" y="3107781"/>
            <a:chExt cx="1487259" cy="1695836"/>
          </a:xfrm>
        </p:grpSpPr>
        <p:pic>
          <p:nvPicPr>
            <p:cNvPr id="32" name="yellow puck"/>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4414164" y="3954500"/>
              <a:ext cx="1481788" cy="849117"/>
            </a:xfrm>
            <a:prstGeom prst="rect">
              <a:avLst/>
            </a:prstGeom>
          </p:spPr>
        </p:pic>
        <p:pic>
          <p:nvPicPr>
            <p:cNvPr id="33"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4162" y="3449347"/>
              <a:ext cx="1481790" cy="946930"/>
            </a:xfrm>
            <a:prstGeom prst="rect">
              <a:avLst/>
            </a:prstGeom>
            <a:effectLst>
              <a:reflection endPos="0" dir="5400000" sy="-100000" algn="bl" rotWithShape="0"/>
            </a:effectLst>
          </p:spPr>
        </p:pic>
        <p:pic>
          <p:nvPicPr>
            <p:cNvPr id="34"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9633" y="3107781"/>
              <a:ext cx="1481788" cy="849117"/>
            </a:xfrm>
            <a:prstGeom prst="rect">
              <a:avLst/>
            </a:prstGeom>
          </p:spPr>
        </p:pic>
        <p:sp>
          <p:nvSpPr>
            <p:cNvPr id="35" name="&quot;domain B"/>
            <p:cNvSpPr/>
            <p:nvPr/>
          </p:nvSpPr>
          <p:spPr>
            <a:xfrm>
              <a:off x="4689244" y="4450117"/>
              <a:ext cx="942566"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Domain B</a:t>
              </a:r>
              <a:endParaRPr lang="en-CA" sz="1600" dirty="0"/>
            </a:p>
          </p:txBody>
        </p:sp>
        <p:sp>
          <p:nvSpPr>
            <p:cNvPr id="36" name="&quot;configuration"/>
            <p:cNvSpPr/>
            <p:nvPr/>
          </p:nvSpPr>
          <p:spPr>
            <a:xfrm>
              <a:off x="4500074" y="4014448"/>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Configuration</a:t>
              </a:r>
              <a:endParaRPr lang="en-CA" sz="1600" dirty="0"/>
            </a:p>
          </p:txBody>
        </p:sp>
        <p:sp>
          <p:nvSpPr>
            <p:cNvPr id="37" name="&quot;schema"/>
            <p:cNvSpPr/>
            <p:nvPr/>
          </p:nvSpPr>
          <p:spPr>
            <a:xfrm>
              <a:off x="4775740" y="3628759"/>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pic>
        <p:nvPicPr>
          <p:cNvPr id="38" name="b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8371" y="5139673"/>
            <a:ext cx="713755" cy="1265772"/>
          </a:xfrm>
          <a:prstGeom prst="rect">
            <a:avLst/>
          </a:prstGeom>
        </p:spPr>
      </p:pic>
      <p:pic>
        <p:nvPicPr>
          <p:cNvPr id="39" name="b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48237" y="4316417"/>
            <a:ext cx="713755" cy="1265772"/>
          </a:xfrm>
          <a:prstGeom prst="rect">
            <a:avLst/>
          </a:prstGeom>
        </p:spPr>
      </p:pic>
      <p:grpSp>
        <p:nvGrpSpPr>
          <p:cNvPr id="40" name="3 pucks and labels, A (green) alt text here" descr="An illustration of a two-domain forest with the schema, configuration, and domain partition stored on each domain controller. One domain controller is also a global catalog server, so it has information from the domain partitions for both domains.&#10;&#10;"/>
          <p:cNvGrpSpPr/>
          <p:nvPr/>
        </p:nvGrpSpPr>
        <p:grpSpPr>
          <a:xfrm>
            <a:off x="3790622" y="883036"/>
            <a:ext cx="1490207" cy="1692862"/>
            <a:chOff x="4207357" y="2063541"/>
            <a:chExt cx="1490207" cy="1692862"/>
          </a:xfrm>
        </p:grpSpPr>
        <p:pic>
          <p:nvPicPr>
            <p:cNvPr id="41"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15776" y="2907286"/>
              <a:ext cx="1481788" cy="849117"/>
            </a:xfrm>
            <a:prstGeom prst="rect">
              <a:avLst/>
            </a:prstGeom>
          </p:spPr>
        </p:pic>
        <p:pic>
          <p:nvPicPr>
            <p:cNvPr id="42"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7357" y="2413803"/>
              <a:ext cx="1481790" cy="946930"/>
            </a:xfrm>
            <a:prstGeom prst="rect">
              <a:avLst/>
            </a:prstGeom>
          </p:spPr>
        </p:pic>
        <p:pic>
          <p:nvPicPr>
            <p:cNvPr id="43" name="green puck"/>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7359" y="2063541"/>
              <a:ext cx="1481788" cy="849117"/>
            </a:xfrm>
            <a:prstGeom prst="rect">
              <a:avLst/>
            </a:prstGeom>
          </p:spPr>
        </p:pic>
        <p:sp>
          <p:nvSpPr>
            <p:cNvPr id="44" name="&quot;domain B"/>
            <p:cNvSpPr/>
            <p:nvPr/>
          </p:nvSpPr>
          <p:spPr>
            <a:xfrm>
              <a:off x="4463389" y="3395523"/>
              <a:ext cx="955390"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Domain A</a:t>
              </a:r>
              <a:endParaRPr lang="en-CA" sz="1600" dirty="0"/>
            </a:p>
          </p:txBody>
        </p:sp>
        <p:sp>
          <p:nvSpPr>
            <p:cNvPr id="45" name="&quot;configuration"/>
            <p:cNvSpPr/>
            <p:nvPr/>
          </p:nvSpPr>
          <p:spPr>
            <a:xfrm>
              <a:off x="4293269" y="2971284"/>
              <a:ext cx="1341714"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Configuration</a:t>
              </a:r>
              <a:endParaRPr lang="en-CA" sz="1600" dirty="0"/>
            </a:p>
          </p:txBody>
        </p:sp>
        <p:sp>
          <p:nvSpPr>
            <p:cNvPr id="46" name="&quot;schema"/>
            <p:cNvSpPr/>
            <p:nvPr/>
          </p:nvSpPr>
          <p:spPr>
            <a:xfrm>
              <a:off x="4568935" y="2593215"/>
              <a:ext cx="745397" cy="246221"/>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1600" dirty="0">
                  <a:latin typeface="Segoe UI" pitchFamily="34" charset="0"/>
                  <a:ea typeface="Segoe UI" pitchFamily="34" charset="0"/>
                  <a:cs typeface="Segoe UI" pitchFamily="34" charset="0"/>
                </a:rPr>
                <a:t>Schema</a:t>
              </a:r>
              <a:endParaRPr lang="en-CA" sz="1600" dirty="0"/>
            </a:p>
          </p:txBody>
        </p:sp>
      </p:grpSp>
      <p:pic>
        <p:nvPicPr>
          <p:cNvPr id="47" name="a serve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726881" y="2407246"/>
            <a:ext cx="713755" cy="1265772"/>
          </a:xfrm>
          <a:prstGeom prst="rect">
            <a:avLst/>
          </a:prstGeom>
        </p:spPr>
      </p:pic>
    </p:spTree>
    <p:extLst>
      <p:ext uri="{BB962C8B-B14F-4D97-AF65-F5344CB8AC3E}">
        <p14:creationId xmlns:p14="http://schemas.microsoft.com/office/powerpoint/2010/main" val="12614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172" y="13301"/>
            <a:ext cx="8671428" cy="803879"/>
          </a:xfrm>
        </p:spPr>
        <p:txBody>
          <a:bodyPr/>
          <a:lstStyle/>
          <a:p>
            <a:r>
              <a:rPr lang="en-CA" b="1" dirty="0"/>
              <a:t>The AD DS Sign-in Process</a:t>
            </a:r>
          </a:p>
        </p:txBody>
      </p:sp>
      <p:grpSp>
        <p:nvGrpSpPr>
          <p:cNvPr id="4" name="alt text here, all graphics grouped into this one large group" descr="An illustration of the AD DS sign-in process that is described in the text. Arrows point between a client, a domain controller, and a separate server."/>
          <p:cNvGrpSpPr/>
          <p:nvPr/>
        </p:nvGrpSpPr>
        <p:grpSpPr>
          <a:xfrm>
            <a:off x="6895672" y="1965268"/>
            <a:ext cx="3457720" cy="4063114"/>
            <a:chOff x="4885843" y="1511572"/>
            <a:chExt cx="3970295" cy="4351672"/>
          </a:xfrm>
        </p:grpSpPr>
        <p:sp>
          <p:nvSpPr>
            <p:cNvPr id="5" name="Isosceles Triangle 4"/>
            <p:cNvSpPr/>
            <p:nvPr/>
          </p:nvSpPr>
          <p:spPr>
            <a:xfrm>
              <a:off x="4885843" y="1798010"/>
              <a:ext cx="3970295" cy="3576829"/>
            </a:xfrm>
            <a:prstGeom prst="triangle">
              <a:avLst/>
            </a:prstGeom>
            <a:noFill/>
            <a:ln>
              <a:solidFill>
                <a:srgbClr val="569A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0112" y="4102148"/>
              <a:ext cx="1127342" cy="1272692"/>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3602" y="4399206"/>
              <a:ext cx="700773" cy="1107222"/>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1363" y="4228632"/>
              <a:ext cx="649666" cy="1135797"/>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9329" y="1511572"/>
              <a:ext cx="618693" cy="1097190"/>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13837" y="1807124"/>
              <a:ext cx="365808" cy="594654"/>
            </a:xfrm>
            <a:prstGeom prst="rect">
              <a:avLst/>
            </a:prstGeom>
          </p:spPr>
        </p:pic>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56018" y="2096201"/>
              <a:ext cx="385461" cy="408870"/>
            </a:xfrm>
            <a:prstGeom prst="rect">
              <a:avLst/>
            </a:prstGeom>
          </p:spPr>
        </p:pic>
        <p:cxnSp>
          <p:nvCxnSpPr>
            <p:cNvPr id="12" name="down"/>
            <p:cNvCxnSpPr/>
            <p:nvPr/>
          </p:nvCxnSpPr>
          <p:spPr>
            <a:xfrm flipH="1">
              <a:off x="5978284" y="2702602"/>
              <a:ext cx="783146" cy="1271763"/>
            </a:xfrm>
            <a:prstGeom prst="straightConnector1">
              <a:avLst/>
            </a:prstGeom>
            <a:ln w="635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over"/>
            <p:cNvCxnSpPr/>
            <p:nvPr/>
          </p:nvCxnSpPr>
          <p:spPr>
            <a:xfrm>
              <a:off x="6330534" y="4636488"/>
              <a:ext cx="1025040" cy="1"/>
            </a:xfrm>
            <a:prstGeom prst="straightConnector1">
              <a:avLst/>
            </a:prstGeom>
            <a:ln w="635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up" descr="&#10;"/>
            <p:cNvCxnSpPr/>
            <p:nvPr/>
          </p:nvCxnSpPr>
          <p:spPr>
            <a:xfrm flipH="1">
              <a:off x="5769248" y="2524241"/>
              <a:ext cx="809278" cy="1314448"/>
            </a:xfrm>
            <a:prstGeom prst="straightConnector1">
              <a:avLst/>
            </a:prstGeom>
            <a:ln w="6350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26"/>
            <p:cNvSpPr txBox="1"/>
            <p:nvPr/>
          </p:nvSpPr>
          <p:spPr>
            <a:xfrm>
              <a:off x="7442269" y="2185687"/>
              <a:ext cx="1409077" cy="725195"/>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200" b="0" dirty="0">
                  <a:latin typeface="Segoe UI" pitchFamily="34" charset="0"/>
                  <a:ea typeface="Segoe UI" pitchFamily="34" charset="0"/>
                  <a:cs typeface="Segoe UI" pitchFamily="34" charset="0"/>
                </a:rPr>
                <a:t>Domain controller</a:t>
              </a:r>
            </a:p>
          </p:txBody>
        </p:sp>
        <p:sp>
          <p:nvSpPr>
            <p:cNvPr id="16" name="TextBox 27"/>
            <p:cNvSpPr txBox="1"/>
            <p:nvPr/>
          </p:nvSpPr>
          <p:spPr>
            <a:xfrm>
              <a:off x="7310701" y="5490369"/>
              <a:ext cx="1208681" cy="362598"/>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CA" sz="2200" b="0" dirty="0">
                  <a:latin typeface="Segoe UI" pitchFamily="34" charset="0"/>
                  <a:ea typeface="Segoe UI" pitchFamily="34" charset="0"/>
                  <a:cs typeface="Segoe UI" pitchFamily="34" charset="0"/>
                </a:rPr>
                <a:t>Server</a:t>
              </a:r>
            </a:p>
          </p:txBody>
        </p:sp>
        <p:sp>
          <p:nvSpPr>
            <p:cNvPr id="17" name="TextBox 28"/>
            <p:cNvSpPr txBox="1"/>
            <p:nvPr/>
          </p:nvSpPr>
          <p:spPr>
            <a:xfrm>
              <a:off x="4959783" y="5500646"/>
              <a:ext cx="1966086" cy="362598"/>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CA" sz="2200" b="0" dirty="0">
                  <a:latin typeface="Segoe UI" pitchFamily="34" charset="0"/>
                  <a:ea typeface="Segoe UI" pitchFamily="34" charset="0"/>
                  <a:cs typeface="Segoe UI" pitchFamily="34" charset="0"/>
                </a:rPr>
                <a:t>Workstation</a:t>
              </a:r>
            </a:p>
          </p:txBody>
        </p:sp>
      </p:grpSp>
      <p:sp>
        <p:nvSpPr>
          <p:cNvPr id="18" name="text box on the left"/>
          <p:cNvSpPr/>
          <p:nvPr/>
        </p:nvSpPr>
        <p:spPr>
          <a:xfrm>
            <a:off x="1844172" y="799385"/>
            <a:ext cx="5182749" cy="5241435"/>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0"/>
              </a:spcBef>
              <a:spcAft>
                <a:spcPts val="600"/>
              </a:spcAft>
              <a:buClr>
                <a:srgbClr val="006699"/>
              </a:buClr>
            </a:pPr>
            <a:r>
              <a:rPr lang="en-US" sz="2400" b="0" dirty="0">
                <a:solidFill>
                  <a:srgbClr val="000000"/>
                </a:solidFill>
                <a:latin typeface="Segoe UI" pitchFamily="34" charset="0"/>
                <a:ea typeface="Segoe UI" pitchFamily="34" charset="0"/>
                <a:cs typeface="Segoe UI" pitchFamily="34" charset="0"/>
              </a:rPr>
              <a:t>The AD DS sign-in process:</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user account is authenticated to the domain controller.</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domain controller returns a TGT back to client.</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client uses TGT to apply for access to the workstation.</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domain controller grants access to the workstation. </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client uses TGT to apply for access to the server.</a:t>
            </a:r>
          </a:p>
          <a:p>
            <a:pPr marL="342900" indent="-342900">
              <a:spcBef>
                <a:spcPts val="400"/>
              </a:spcBef>
              <a:buClr>
                <a:srgbClr val="006699"/>
              </a:buClr>
              <a:buFont typeface="+mj-lt"/>
              <a:buAutoNum type="arabicPeriod"/>
            </a:pPr>
            <a:r>
              <a:rPr lang="en-US" sz="2400" b="0" dirty="0">
                <a:solidFill>
                  <a:srgbClr val="000000"/>
                </a:solidFill>
                <a:latin typeface="Segoe UI" pitchFamily="34" charset="0"/>
                <a:ea typeface="Segoe UI" pitchFamily="34" charset="0"/>
                <a:cs typeface="Segoe UI" pitchFamily="34" charset="0"/>
              </a:rPr>
              <a:t>The domain controller returns access to the server.</a:t>
            </a:r>
            <a:endParaRPr lang="en-US" sz="23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1769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509" y="-2"/>
            <a:ext cx="10335490" cy="740664"/>
          </a:xfrm>
        </p:spPr>
        <p:txBody>
          <a:bodyPr>
            <a:normAutofit/>
          </a:bodyPr>
          <a:lstStyle/>
          <a:p>
            <a:r>
              <a:rPr lang="en-CA" b="1" dirty="0"/>
              <a:t>Installing a Domain Controller from Server Manager</a:t>
            </a:r>
          </a:p>
        </p:txBody>
      </p:sp>
      <p:sp>
        <p:nvSpPr>
          <p:cNvPr id="4" name="TextBox 2"/>
          <p:cNvSpPr txBox="1"/>
          <p:nvPr/>
        </p:nvSpPr>
        <p:spPr>
          <a:xfrm>
            <a:off x="2149643" y="917317"/>
            <a:ext cx="7964904" cy="83099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Deployment Configuration section of the </a:t>
            </a:r>
          </a:p>
          <a:p>
            <a:pPr algn="ctr"/>
            <a:r>
              <a:rPr lang="en-US" sz="2400" b="0" dirty="0">
                <a:latin typeface="Segoe UI" pitchFamily="34" charset="0"/>
                <a:ea typeface="Segoe UI" pitchFamily="34" charset="0"/>
                <a:cs typeface="Segoe UI" pitchFamily="34" charset="0"/>
              </a:rPr>
              <a:t>Active Directory Domain Services Configuration Wizard</a:t>
            </a:r>
            <a:endParaRPr lang="en-CA" sz="2400" b="0" dirty="0">
              <a:latin typeface="Segoe UI" pitchFamily="34" charset="0"/>
              <a:ea typeface="Segoe UI" pitchFamily="34" charset="0"/>
              <a:cs typeface="Segoe UI" pitchFamily="34" charset="0"/>
            </a:endParaRPr>
          </a:p>
        </p:txBody>
      </p:sp>
      <p:pic>
        <p:nvPicPr>
          <p:cNvPr id="5" name="Picture 4" descr="Screen shot of the Deployment Configuration section of the Active Directory Domain Services Configuration Wizard."/>
          <p:cNvPicPr/>
          <p:nvPr/>
        </p:nvPicPr>
        <p:blipFill>
          <a:blip r:embed="rId3">
            <a:extLst>
              <a:ext uri="{28A0092B-C50C-407E-A947-70E740481C1C}">
                <a14:useLocalDpi xmlns:a14="http://schemas.microsoft.com/office/drawing/2010/main" val="0"/>
              </a:ext>
            </a:extLst>
          </a:blip>
          <a:srcRect/>
          <a:stretch>
            <a:fillRect/>
          </a:stretch>
        </p:blipFill>
        <p:spPr bwMode="auto">
          <a:xfrm>
            <a:off x="2957945" y="2020825"/>
            <a:ext cx="6768223" cy="4077543"/>
          </a:xfrm>
          <a:prstGeom prst="rect">
            <a:avLst/>
          </a:prstGeom>
          <a:noFill/>
          <a:ln w="9525">
            <a:solidFill>
              <a:schemeClr val="tx1"/>
            </a:solidFill>
            <a:miter lim="800000"/>
            <a:headEnd/>
            <a:tailEnd/>
          </a:ln>
          <a:extLst/>
        </p:spPr>
      </p:pic>
    </p:spTree>
    <p:extLst>
      <p:ext uri="{BB962C8B-B14F-4D97-AF65-F5344CB8AC3E}">
        <p14:creationId xmlns:p14="http://schemas.microsoft.com/office/powerpoint/2010/main" val="2956210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090" y="0"/>
            <a:ext cx="9552709" cy="1325563"/>
          </a:xfrm>
        </p:spPr>
        <p:txBody>
          <a:bodyPr/>
          <a:lstStyle/>
          <a:p>
            <a:r>
              <a:rPr lang="en-CA" b="1" dirty="0"/>
              <a:t>Installing a Domain Controller on a Server Core Installation of Windows Server</a:t>
            </a:r>
          </a:p>
        </p:txBody>
      </p:sp>
      <p:sp>
        <p:nvSpPr>
          <p:cNvPr id="4" name="AutoShape 3"/>
          <p:cNvSpPr>
            <a:spLocks noChangeArrowheads="1"/>
          </p:cNvSpPr>
          <p:nvPr/>
        </p:nvSpPr>
        <p:spPr bwMode="auto">
          <a:xfrm>
            <a:off x="1801090" y="1325563"/>
            <a:ext cx="10390910" cy="5532437"/>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300" b="0" dirty="0">
                <a:latin typeface="Segoe UI" pitchFamily="34" charset="0"/>
                <a:ea typeface="Segoe UI" pitchFamily="34" charset="0"/>
                <a:cs typeface="Segoe UI" pitchFamily="34" charset="0"/>
              </a:rPr>
              <a:t>Installing AD DS is a two-step process regardless of which installation method you use</a:t>
            </a:r>
          </a:p>
          <a:p>
            <a:pPr marL="180000" indent="-180000">
              <a:spcBef>
                <a:spcPts val="600"/>
              </a:spcBef>
              <a:buClr>
                <a:srgbClr val="006699"/>
              </a:buClr>
              <a:buFont typeface="Arial" pitchFamily="34" charset="0"/>
              <a:buChar char="•"/>
            </a:pPr>
            <a:r>
              <a:rPr lang="en-US" sz="2300" b="0" dirty="0">
                <a:solidFill>
                  <a:srgbClr val="000000"/>
                </a:solidFill>
                <a:latin typeface="Segoe UI" pitchFamily="34" charset="0"/>
                <a:ea typeface="Segoe UI" pitchFamily="34" charset="0"/>
                <a:cs typeface="Segoe UI" pitchFamily="34" charset="0"/>
              </a:rPr>
              <a:t>Method 1, use Server Manager on a Windows 2012 server with a GUI interface to connect to the system</a:t>
            </a:r>
          </a:p>
          <a:p>
            <a:pPr marL="720000" lvl="1" indent="-457200">
              <a:spcBef>
                <a:spcPts val="600"/>
              </a:spcBef>
              <a:buFont typeface="+mj-lt"/>
              <a:buAutoNum type="arabicPeriod"/>
            </a:pPr>
            <a:r>
              <a:rPr lang="en-US" sz="2300" b="0" dirty="0">
                <a:latin typeface="Segoe UI" pitchFamily="34" charset="0"/>
                <a:ea typeface="Segoe UI" pitchFamily="34" charset="0"/>
                <a:cs typeface="Segoe UI" pitchFamily="34" charset="0"/>
              </a:rPr>
              <a:t>Install the files by installing the </a:t>
            </a:r>
          </a:p>
          <a:p>
            <a:pPr marL="720000" lvl="2"/>
            <a:r>
              <a:rPr lang="en-US" sz="2300" b="0" dirty="0">
                <a:latin typeface="Segoe UI" pitchFamily="34" charset="0"/>
                <a:ea typeface="Segoe UI" pitchFamily="34" charset="0"/>
                <a:cs typeface="Segoe UI" pitchFamily="34" charset="0"/>
              </a:rPr>
              <a:t>Active Directory Domain Services role</a:t>
            </a:r>
          </a:p>
          <a:p>
            <a:pPr marL="720000" lvl="1" indent="-457200">
              <a:spcBef>
                <a:spcPts val="600"/>
              </a:spcBef>
              <a:buFont typeface="+mj-lt"/>
              <a:buAutoNum type="arabicPeriod"/>
            </a:pPr>
            <a:r>
              <a:rPr lang="en-US" sz="2300" b="0" dirty="0">
                <a:latin typeface="Segoe UI" pitchFamily="34" charset="0"/>
                <a:ea typeface="Segoe UI" pitchFamily="34" charset="0"/>
                <a:cs typeface="Segoe UI" pitchFamily="34" charset="0"/>
              </a:rPr>
              <a:t>Install the domain controller role by running the</a:t>
            </a:r>
            <a:br>
              <a:rPr lang="en-US" sz="2300" b="0" dirty="0">
                <a:latin typeface="Segoe UI" pitchFamily="34" charset="0"/>
                <a:ea typeface="Segoe UI" pitchFamily="34" charset="0"/>
                <a:cs typeface="Segoe UI" pitchFamily="34" charset="0"/>
              </a:rPr>
            </a:br>
            <a:r>
              <a:rPr lang="en-US" sz="2300" b="0" dirty="0">
                <a:latin typeface="Segoe UI" pitchFamily="34" charset="0"/>
                <a:ea typeface="Segoe UI" pitchFamily="34" charset="0"/>
                <a:cs typeface="Segoe UI" pitchFamily="34" charset="0"/>
              </a:rPr>
              <a:t>Active Directory Domain Services Configuration Wizard </a:t>
            </a:r>
          </a:p>
          <a:p>
            <a:pPr marL="180000" indent="-180000">
              <a:spcBef>
                <a:spcPts val="600"/>
              </a:spcBef>
              <a:buClr>
                <a:srgbClr val="006699"/>
              </a:buClr>
              <a:buFont typeface="Arial" pitchFamily="34" charset="0"/>
              <a:buChar char="•"/>
            </a:pPr>
            <a:r>
              <a:rPr lang="en-US" sz="2300" b="0" dirty="0">
                <a:solidFill>
                  <a:srgbClr val="000000"/>
                </a:solidFill>
                <a:latin typeface="Segoe UI" pitchFamily="34" charset="0"/>
                <a:ea typeface="Segoe UI" pitchFamily="34" charset="0"/>
                <a:cs typeface="Segoe UI" pitchFamily="34" charset="0"/>
              </a:rPr>
              <a:t>Method 2, Use Windows PowerShell locally, or remotely using WinRM</a:t>
            </a:r>
          </a:p>
          <a:p>
            <a:pPr marL="720000" lvl="1" indent="-457200">
              <a:spcBef>
                <a:spcPts val="600"/>
              </a:spcBef>
              <a:buFont typeface="+mj-lt"/>
              <a:buAutoNum type="arabicPeriod"/>
            </a:pPr>
            <a:r>
              <a:rPr lang="en-US" sz="2300" b="0" dirty="0">
                <a:latin typeface="Segoe UI" pitchFamily="34" charset="0"/>
                <a:ea typeface="Segoe UI" pitchFamily="34" charset="0"/>
                <a:cs typeface="Segoe UI" pitchFamily="34" charset="0"/>
              </a:rPr>
              <a:t>Install the files by running the command </a:t>
            </a:r>
            <a:br>
              <a:rPr lang="en-US" sz="2300" b="0" dirty="0">
                <a:latin typeface="Segoe UI" pitchFamily="34" charset="0"/>
                <a:ea typeface="Segoe UI" pitchFamily="34" charset="0"/>
                <a:cs typeface="Segoe UI" pitchFamily="34" charset="0"/>
              </a:rPr>
            </a:br>
            <a:r>
              <a:rPr lang="en-US" sz="2300" dirty="0">
                <a:latin typeface="Segoe UI" pitchFamily="34" charset="0"/>
                <a:ea typeface="Segoe UI" pitchFamily="34" charset="0"/>
                <a:cs typeface="Segoe UI" pitchFamily="34" charset="0"/>
              </a:rPr>
              <a:t>Install-WindowsFeature AD-Domain-Services</a:t>
            </a:r>
          </a:p>
          <a:p>
            <a:pPr marL="720000" lvl="1" indent="-457200">
              <a:spcBef>
                <a:spcPts val="600"/>
              </a:spcBef>
              <a:buFont typeface="+mj-lt"/>
              <a:buAutoNum type="arabicPeriod"/>
            </a:pPr>
            <a:r>
              <a:rPr lang="en-US" sz="2300" b="0" dirty="0">
                <a:latin typeface="Segoe UI" pitchFamily="34" charset="0"/>
                <a:ea typeface="Segoe UI" pitchFamily="34" charset="0"/>
                <a:cs typeface="Segoe UI" pitchFamily="34" charset="0"/>
              </a:rPr>
              <a:t>Install the domain controller role by running the command </a:t>
            </a:r>
            <a:r>
              <a:rPr lang="en-US" sz="2300" dirty="0">
                <a:latin typeface="Segoe UI" pitchFamily="34" charset="0"/>
                <a:ea typeface="Segoe UI" pitchFamily="34" charset="0"/>
                <a:cs typeface="Segoe UI" pitchFamily="34" charset="0"/>
              </a:rPr>
              <a:t>Install-ADDSDomainController</a:t>
            </a:r>
            <a:endParaRPr lang="en-US" sz="23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415818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5562" y="7331"/>
            <a:ext cx="7674198" cy="685015"/>
          </a:xfrm>
        </p:spPr>
        <p:txBody>
          <a:bodyPr/>
          <a:lstStyle/>
          <a:p>
            <a:r>
              <a:rPr lang="en-CA" b="1" dirty="0"/>
              <a:t>AD DS Administration Tools</a:t>
            </a:r>
          </a:p>
        </p:txBody>
      </p:sp>
      <p:sp>
        <p:nvSpPr>
          <p:cNvPr id="4" name="Rounded Rectangle 3"/>
          <p:cNvSpPr>
            <a:spLocks noChangeArrowheads="1"/>
          </p:cNvSpPr>
          <p:nvPr/>
        </p:nvSpPr>
        <p:spPr bwMode="auto">
          <a:xfrm>
            <a:off x="1835562" y="942976"/>
            <a:ext cx="7070155" cy="5407025"/>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en-US" sz="2800" b="0" dirty="0">
                <a:latin typeface="Segoe UI" pitchFamily="34" charset="0"/>
                <a:ea typeface="Segoe UI" pitchFamily="34" charset="0"/>
                <a:cs typeface="Segoe UI" pitchFamily="34" charset="0"/>
              </a:rPr>
              <a:t>To manage AD DS objects, you can use the following graphical tools:</a:t>
            </a:r>
          </a:p>
          <a:p>
            <a:pPr marL="228600" indent="-228600">
              <a:lnSpc>
                <a:spcPct val="90000"/>
              </a:lnSpc>
              <a:spcBef>
                <a:spcPct val="40000"/>
              </a:spcBef>
              <a:buClr>
                <a:srgbClr val="006699"/>
              </a:buClr>
              <a:buFontTx/>
              <a:buChar char="•"/>
            </a:pPr>
            <a:r>
              <a:rPr lang="en-US" sz="2800" b="0" dirty="0">
                <a:latin typeface="Segoe UI" pitchFamily="34" charset="0"/>
                <a:ea typeface="Segoe UI" pitchFamily="34" charset="0"/>
                <a:cs typeface="Segoe UI" pitchFamily="34" charset="0"/>
              </a:rPr>
              <a:t>Active Directory Administration snap-ins</a:t>
            </a:r>
          </a:p>
          <a:p>
            <a:pPr marL="228600" indent="-228600">
              <a:lnSpc>
                <a:spcPct val="90000"/>
              </a:lnSpc>
              <a:spcBef>
                <a:spcPct val="40000"/>
              </a:spcBef>
              <a:buClr>
                <a:srgbClr val="006699"/>
              </a:buClr>
              <a:buFontTx/>
              <a:buChar char="•"/>
            </a:pPr>
            <a:r>
              <a:rPr lang="en-US" sz="2800" b="0" dirty="0">
                <a:latin typeface="Segoe UI" pitchFamily="34" charset="0"/>
                <a:ea typeface="Segoe UI" pitchFamily="34" charset="0"/>
                <a:cs typeface="Segoe UI" pitchFamily="34" charset="0"/>
              </a:rPr>
              <a:t>Active Directory Administrative Center</a:t>
            </a:r>
          </a:p>
          <a:p>
            <a:pPr algn="l"/>
            <a:endParaRPr lang="en-US" sz="2800" b="0" dirty="0">
              <a:latin typeface="Segoe UI" pitchFamily="34" charset="0"/>
              <a:ea typeface="Segoe UI" pitchFamily="34" charset="0"/>
              <a:cs typeface="Segoe UI" pitchFamily="34" charset="0"/>
            </a:endParaRPr>
          </a:p>
          <a:p>
            <a:r>
              <a:rPr lang="en-US" sz="2800" b="0" dirty="0">
                <a:latin typeface="Segoe UI" pitchFamily="34" charset="0"/>
                <a:ea typeface="Segoe UI" pitchFamily="34" charset="0"/>
                <a:cs typeface="Segoe UI" pitchFamily="34" charset="0"/>
              </a:rPr>
              <a:t>You can also use the following command-line tools:</a:t>
            </a:r>
          </a:p>
          <a:p>
            <a:pPr marL="228600" indent="-228600">
              <a:lnSpc>
                <a:spcPct val="90000"/>
              </a:lnSpc>
              <a:spcBef>
                <a:spcPct val="40000"/>
              </a:spcBef>
              <a:buClr>
                <a:srgbClr val="006699"/>
              </a:buClr>
              <a:buFontTx/>
              <a:buChar char="•"/>
            </a:pPr>
            <a:r>
              <a:rPr lang="en-US" sz="2800" b="0" dirty="0">
                <a:latin typeface="Segoe UI" pitchFamily="34" charset="0"/>
                <a:ea typeface="Segoe UI" pitchFamily="34" charset="0"/>
                <a:cs typeface="Segoe UI" pitchFamily="34" charset="0"/>
              </a:rPr>
              <a:t>Active Directory module in Windows PowerShell</a:t>
            </a:r>
          </a:p>
          <a:p>
            <a:pPr marL="228600" indent="-228600">
              <a:lnSpc>
                <a:spcPct val="90000"/>
              </a:lnSpc>
              <a:spcBef>
                <a:spcPct val="40000"/>
              </a:spcBef>
              <a:buClr>
                <a:srgbClr val="006699"/>
              </a:buClr>
              <a:buFontTx/>
              <a:buChar char="•"/>
            </a:pPr>
            <a:r>
              <a:rPr lang="en-US" sz="2800" b="0" dirty="0">
                <a:latin typeface="Segoe UI" pitchFamily="34" charset="0"/>
                <a:ea typeface="Segoe UI" pitchFamily="34" charset="0"/>
                <a:cs typeface="Segoe UI" pitchFamily="34" charset="0"/>
              </a:rPr>
              <a:t>Directory Service commands</a:t>
            </a:r>
          </a:p>
          <a:p>
            <a:endParaRPr lang="en-US" sz="2200" dirty="0">
              <a:latin typeface="Segoe" pitchFamily="34" charset="0"/>
            </a:endParaRPr>
          </a:p>
          <a:p>
            <a:pPr algn="l"/>
            <a:endParaRPr lang="en-US" sz="2200" dirty="0">
              <a:latin typeface="Segoe" pitchFamily="34" charset="0"/>
            </a:endParaRPr>
          </a:p>
        </p:txBody>
      </p:sp>
      <p:grpSp>
        <p:nvGrpSpPr>
          <p:cNvPr id="5" name="Group 4"/>
          <p:cNvGrpSpPr/>
          <p:nvPr/>
        </p:nvGrpSpPr>
        <p:grpSpPr>
          <a:xfrm>
            <a:off x="8726000" y="1603375"/>
            <a:ext cx="1417547" cy="1553914"/>
            <a:chOff x="6281696" y="942975"/>
            <a:chExt cx="2608873" cy="2641008"/>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5393" y="942975"/>
              <a:ext cx="1877413" cy="1938368"/>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81696" y="2419743"/>
              <a:ext cx="2608873" cy="1164240"/>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87339" y="1146897"/>
              <a:ext cx="1431316" cy="1349991"/>
            </a:xfrm>
            <a:prstGeom prst="rect">
              <a:avLst/>
            </a:prstGeom>
          </p:spPr>
        </p:pic>
      </p:grpSp>
      <p:grpSp>
        <p:nvGrpSpPr>
          <p:cNvPr id="9" name="Group 8"/>
          <p:cNvGrpSpPr/>
          <p:nvPr/>
        </p:nvGrpSpPr>
        <p:grpSpPr>
          <a:xfrm>
            <a:off x="8570744" y="4077099"/>
            <a:ext cx="1370721" cy="1415225"/>
            <a:chOff x="6706382" y="4055809"/>
            <a:chExt cx="1370721" cy="1415225"/>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382" y="4055809"/>
              <a:ext cx="1370721" cy="1415225"/>
            </a:xfrm>
            <a:prstGeom prst="rect">
              <a:avLst/>
            </a:prstGeom>
          </p:spPr>
        </p:pic>
        <p:sp>
          <p:nvSpPr>
            <p:cNvPr id="11" name="TextBox 14"/>
            <p:cNvSpPr txBox="1"/>
            <p:nvPr/>
          </p:nvSpPr>
          <p:spPr>
            <a:xfrm>
              <a:off x="6953993" y="4442549"/>
              <a:ext cx="824878"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400" dirty="0"/>
                <a:t>C:/</a:t>
              </a:r>
            </a:p>
          </p:txBody>
        </p:sp>
      </p:grpSp>
    </p:spTree>
    <p:extLst>
      <p:ext uri="{BB962C8B-B14F-4D97-AF65-F5344CB8AC3E}">
        <p14:creationId xmlns:p14="http://schemas.microsoft.com/office/powerpoint/2010/main" val="178229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1634" y="-14401"/>
            <a:ext cx="7668126" cy="788097"/>
          </a:xfrm>
        </p:spPr>
        <p:txBody>
          <a:bodyPr/>
          <a:lstStyle/>
          <a:p>
            <a:r>
              <a:rPr lang="en-CA" b="1" dirty="0"/>
              <a:t>Creating User Accounts</a:t>
            </a:r>
          </a:p>
        </p:txBody>
      </p:sp>
      <p:grpSp>
        <p:nvGrpSpPr>
          <p:cNvPr id="4" name="alt text here, screen image" descr="Screen shot from the Active Directory Administrative Center that depicts the Create User dialog box."/>
          <p:cNvGrpSpPr/>
          <p:nvPr/>
        </p:nvGrpSpPr>
        <p:grpSpPr>
          <a:xfrm>
            <a:off x="1905000" y="2124597"/>
            <a:ext cx="8223448" cy="3885601"/>
            <a:chOff x="381000" y="2124596"/>
            <a:chExt cx="8223448" cy="3885601"/>
          </a:xfrm>
        </p:grpSpPr>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66" r="57337"/>
            <a:stretch/>
          </p:blipFill>
          <p:spPr bwMode="auto">
            <a:xfrm>
              <a:off x="381000" y="2124597"/>
              <a:ext cx="3756947"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52722" r="901"/>
            <a:stretch/>
          </p:blipFill>
          <p:spPr bwMode="auto">
            <a:xfrm>
              <a:off x="4536295" y="2124597"/>
              <a:ext cx="4068153"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46463" r="48996"/>
            <a:stretch/>
          </p:blipFill>
          <p:spPr bwMode="auto">
            <a:xfrm>
              <a:off x="4137947" y="2124596"/>
              <a:ext cx="398349" cy="3816423"/>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8" name="Rectangle 7"/>
            <p:cNvSpPr/>
            <p:nvPr/>
          </p:nvSpPr>
          <p:spPr bwMode="auto">
            <a:xfrm>
              <a:off x="381000" y="2124596"/>
              <a:ext cx="8223448" cy="3885601"/>
            </a:xfrm>
            <a:prstGeom prst="rect">
              <a:avLst/>
            </a:prstGeom>
            <a:noFill/>
            <a:ln w="28575">
              <a:solidFill>
                <a:schemeClr val="bg1">
                  <a:lumMod val="85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eaLnBrk="0" hangingPunct="0"/>
              <a:endParaRPr lang="en-CA" dirty="0">
                <a:ln w="28575">
                  <a:solidFill>
                    <a:schemeClr val="tx1"/>
                  </a:solidFill>
                </a:ln>
                <a:solidFill>
                  <a:schemeClr val="tx1"/>
                </a:solidFill>
                <a:latin typeface="Verdana" pitchFamily="34" charset="0"/>
              </a:endParaRPr>
            </a:p>
          </p:txBody>
        </p:sp>
      </p:grpSp>
      <p:sp>
        <p:nvSpPr>
          <p:cNvPr id="9" name="text box"/>
          <p:cNvSpPr/>
          <p:nvPr/>
        </p:nvSpPr>
        <p:spPr>
          <a:xfrm>
            <a:off x="2245896" y="842874"/>
            <a:ext cx="7668125" cy="954107"/>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800" b="0" dirty="0">
                <a:latin typeface="Segoe UI" panose="020B0502040204020203" pitchFamily="34" charset="0"/>
                <a:ea typeface="Segoe UI" panose="020B0502040204020203" pitchFamily="34" charset="0"/>
                <a:cs typeface="Segoe UI" panose="020B0502040204020203" pitchFamily="34" charset="0"/>
              </a:rPr>
              <a:t>The Account section of the Active Directory Administrative Center Create User window</a:t>
            </a:r>
            <a:endParaRPr lang="en-CA" sz="28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0323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944" y="0"/>
            <a:ext cx="7694815" cy="626893"/>
          </a:xfrm>
        </p:spPr>
        <p:txBody>
          <a:bodyPr/>
          <a:lstStyle/>
          <a:p>
            <a:r>
              <a:rPr lang="en-CA" b="1" dirty="0"/>
              <a:t>Configuring User Account Attributes</a:t>
            </a:r>
          </a:p>
        </p:txBody>
      </p:sp>
      <p:pic>
        <p:nvPicPr>
          <p:cNvPr id="4" name="alt text here, Picture 3" descr="Screen shot of the Active Directory Administrative Center that depicts the Log On Hours dialog box." title="Screenshot"/>
          <p:cNvPicPr>
            <a:picLocks noChangeAspect="1" noChangeArrowheads="1"/>
          </p:cNvPicPr>
          <p:nvPr/>
        </p:nvPicPr>
        <p:blipFill rotWithShape="1">
          <a:blip r:embed="rId3">
            <a:extLst>
              <a:ext uri="{28A0092B-C50C-407E-A947-70E740481C1C}">
                <a14:useLocalDpi xmlns:a14="http://schemas.microsoft.com/office/drawing/2010/main" val="0"/>
              </a:ext>
            </a:extLst>
          </a:blip>
          <a:srcRect l="28306" t="43887" r="20453" b="12754"/>
          <a:stretch/>
        </p:blipFill>
        <p:spPr bwMode="auto">
          <a:xfrm>
            <a:off x="2468151" y="1637571"/>
            <a:ext cx="7247349" cy="4593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p:cNvSpPr/>
          <p:nvPr/>
        </p:nvSpPr>
        <p:spPr>
          <a:xfrm>
            <a:off x="3560434" y="1000552"/>
            <a:ext cx="4836260" cy="523220"/>
          </a:xfrm>
          <a:prstGeom prst="rect">
            <a:avLst/>
          </a:prstGeom>
        </p:spPr>
        <p:txBody>
          <a:bodyPr wrap="non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800" b="0" dirty="0">
                <a:latin typeface="Segoe UI" panose="020B0502040204020203" pitchFamily="34" charset="0"/>
                <a:ea typeface="Segoe UI" panose="020B0502040204020203" pitchFamily="34" charset="0"/>
                <a:cs typeface="Segoe UI" panose="020B0502040204020203" pitchFamily="34" charset="0"/>
              </a:rPr>
              <a:t>The Log on hours dialog box</a:t>
            </a:r>
          </a:p>
        </p:txBody>
      </p:sp>
    </p:spTree>
    <p:extLst>
      <p:ext uri="{BB962C8B-B14F-4D97-AF65-F5344CB8AC3E}">
        <p14:creationId xmlns:p14="http://schemas.microsoft.com/office/powerpoint/2010/main" val="46245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508" y="26145"/>
            <a:ext cx="7653251" cy="705020"/>
          </a:xfrm>
        </p:spPr>
        <p:txBody>
          <a:bodyPr/>
          <a:lstStyle/>
          <a:p>
            <a:r>
              <a:rPr lang="en-CA" b="1" dirty="0"/>
              <a:t>Group Types</a:t>
            </a:r>
          </a:p>
        </p:txBody>
      </p:sp>
      <p:sp>
        <p:nvSpPr>
          <p:cNvPr id="4" name="Content Placeholder 2"/>
          <p:cNvSpPr>
            <a:spLocks noGrp="1"/>
          </p:cNvSpPr>
          <p:nvPr/>
        </p:nvSpPr>
        <p:spPr bwMode="auto">
          <a:xfrm>
            <a:off x="1967481" y="1037375"/>
            <a:ext cx="5145599" cy="533260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t>Distribution groups</a:t>
            </a:r>
          </a:p>
          <a:p>
            <a:pPr lvl="1"/>
            <a:r>
              <a:rPr lang="en-US" dirty="0"/>
              <a:t>Used only with email applications</a:t>
            </a:r>
          </a:p>
          <a:p>
            <a:pPr lvl="1"/>
            <a:r>
              <a:rPr lang="en-US" dirty="0"/>
              <a:t>Not security-enabled (no SID); cannot be given permissions</a:t>
            </a:r>
            <a:endParaRPr lang="en-US" sz="1400" dirty="0"/>
          </a:p>
          <a:p>
            <a:endParaRPr lang="en-US" sz="1600" dirty="0"/>
          </a:p>
          <a:p>
            <a:r>
              <a:rPr lang="en-US" dirty="0"/>
              <a:t>Security groups</a:t>
            </a:r>
          </a:p>
          <a:p>
            <a:pPr lvl="1"/>
            <a:r>
              <a:rPr lang="en-US" dirty="0"/>
              <a:t>Security principal with a SID; </a:t>
            </a:r>
            <a:br>
              <a:rPr lang="en-US" dirty="0"/>
            </a:br>
            <a:r>
              <a:rPr lang="en-US" dirty="0"/>
              <a:t>can be given permissions</a:t>
            </a:r>
          </a:p>
          <a:p>
            <a:pPr lvl="1"/>
            <a:r>
              <a:rPr lang="en-US" dirty="0"/>
              <a:t>Can also be email-enabled</a:t>
            </a:r>
            <a:endParaRPr lang="en-US" sz="1400" dirty="0"/>
          </a:p>
          <a:p>
            <a:pPr marL="0" lvl="1" indent="0">
              <a:buNone/>
            </a:pPr>
            <a:endParaRPr lang="en-CA" sz="1400" dirty="0"/>
          </a:p>
          <a:p>
            <a:pPr marL="0" lvl="1" indent="0">
              <a:buNone/>
            </a:pPr>
            <a:r>
              <a:rPr lang="en-CA" dirty="0"/>
              <a:t>Both security groups and distribution groups can be converted to the other type of group</a:t>
            </a:r>
            <a:endParaRPr lang="en-US" dirty="0"/>
          </a:p>
        </p:txBody>
      </p:sp>
      <p:grpSp>
        <p:nvGrpSpPr>
          <p:cNvPr id="5" name="Group 4"/>
          <p:cNvGrpSpPr/>
          <p:nvPr/>
        </p:nvGrpSpPr>
        <p:grpSpPr>
          <a:xfrm>
            <a:off x="7595631" y="1426824"/>
            <a:ext cx="2168014" cy="1703053"/>
            <a:chOff x="6071631" y="1426823"/>
            <a:chExt cx="2168014" cy="1703053"/>
          </a:xfrm>
        </p:grpSpPr>
        <p:sp>
          <p:nvSpPr>
            <p:cNvPr id="6" name="Oval 5"/>
            <p:cNvSpPr>
              <a:spLocks noChangeArrowheads="1"/>
            </p:cNvSpPr>
            <p:nvPr/>
          </p:nvSpPr>
          <p:spPr bwMode="auto">
            <a:xfrm>
              <a:off x="6071631" y="2060848"/>
              <a:ext cx="2168014" cy="1069028"/>
            </a:xfrm>
            <a:prstGeom prst="ellipse">
              <a:avLst/>
            </a:prstGeom>
            <a:no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1464" y="1889320"/>
              <a:ext cx="914139" cy="778058"/>
            </a:xfrm>
            <a:prstGeom prst="rect">
              <a:avLst/>
            </a:prstGeom>
          </p:spPr>
        </p:pic>
        <p:pic>
          <p:nvPicPr>
            <p:cNvPr id="8" name="Picture 7"/>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76956" y="1426823"/>
              <a:ext cx="978682" cy="12984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7469241" y="3941638"/>
            <a:ext cx="2168014" cy="1898675"/>
            <a:chOff x="2974689" y="3659162"/>
            <a:chExt cx="2168014" cy="1898675"/>
          </a:xfrm>
        </p:grpSpPr>
        <p:sp>
          <p:nvSpPr>
            <p:cNvPr id="10" name="Oval 9"/>
            <p:cNvSpPr>
              <a:spLocks noChangeArrowheads="1"/>
            </p:cNvSpPr>
            <p:nvPr/>
          </p:nvSpPr>
          <p:spPr bwMode="auto">
            <a:xfrm>
              <a:off x="2974689" y="4276026"/>
              <a:ext cx="2168014" cy="1069028"/>
            </a:xfrm>
            <a:prstGeom prst="ellipse">
              <a:avLst/>
            </a:prstGeom>
            <a:no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11" name="Picture 10"/>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83416" y="3685048"/>
              <a:ext cx="978682" cy="12984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58696" y="3659162"/>
              <a:ext cx="728412" cy="990518"/>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80481">
              <a:off x="4206017" y="4063243"/>
              <a:ext cx="656716" cy="1494594"/>
            </a:xfrm>
            <a:prstGeom prst="rect">
              <a:avLst/>
            </a:prstGeom>
          </p:spPr>
        </p:pic>
      </p:grpSp>
    </p:spTree>
    <p:extLst>
      <p:ext uri="{BB962C8B-B14F-4D97-AF65-F5344CB8AC3E}">
        <p14:creationId xmlns:p14="http://schemas.microsoft.com/office/powerpoint/2010/main" val="298580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2654" y="0"/>
            <a:ext cx="7667105" cy="675640"/>
          </a:xfrm>
        </p:spPr>
        <p:txBody>
          <a:bodyPr/>
          <a:lstStyle/>
          <a:p>
            <a:r>
              <a:rPr lang="en-CA" b="1" dirty="0"/>
              <a:t>Group Scopes</a:t>
            </a:r>
          </a:p>
        </p:txBody>
      </p:sp>
      <p:sp>
        <p:nvSpPr>
          <p:cNvPr id="4" name="Content Placeholder 1"/>
          <p:cNvSpPr>
            <a:spLocks noGrp="1"/>
          </p:cNvSpPr>
          <p:nvPr/>
        </p:nvSpPr>
        <p:spPr bwMode="auto">
          <a:xfrm>
            <a:off x="2108991" y="5248513"/>
            <a:ext cx="8079327" cy="987604"/>
          </a:xfrm>
          <a:prstGeom prst="rect">
            <a:avLst/>
          </a:prstGeom>
          <a:noFill/>
          <a:ln w="9525">
            <a:noFill/>
            <a:miter lim="800000"/>
            <a:headEnd/>
            <a:tailEnd/>
          </a:ln>
        </p:spPr>
        <p:txBody>
          <a:bodyPr vert="horz" wrap="square" lIns="0" tIns="0" rIns="0" bIns="0" numCol="2" anchor="ctr"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nSpc>
                <a:spcPct val="100000"/>
              </a:lnSpc>
              <a:spcBef>
                <a:spcPts val="0"/>
              </a:spcBef>
              <a:spcAft>
                <a:spcPts val="1500"/>
              </a:spcAft>
              <a:buNone/>
            </a:pPr>
            <a:r>
              <a:rPr lang="en-US" b="1" dirty="0">
                <a:latin typeface="Segoe UI" pitchFamily="34" charset="0"/>
                <a:ea typeface="Segoe UI" pitchFamily="34" charset="0"/>
                <a:cs typeface="Segoe UI" pitchFamily="34" charset="0"/>
              </a:rPr>
              <a:t>U</a:t>
            </a:r>
            <a:r>
              <a:rPr lang="en-US" dirty="0">
                <a:latin typeface="Segoe UI" pitchFamily="34" charset="0"/>
                <a:ea typeface="Segoe UI" pitchFamily="34" charset="0"/>
                <a:cs typeface="Segoe UI" pitchFamily="34" charset="0"/>
              </a:rPr>
              <a:t> 	User</a:t>
            </a:r>
            <a:br>
              <a:rPr lang="en-US" dirty="0">
                <a:latin typeface="Segoe UI" pitchFamily="34" charset="0"/>
                <a:ea typeface="Segoe UI" pitchFamily="34" charset="0"/>
                <a:cs typeface="Segoe UI" pitchFamily="34" charset="0"/>
              </a:rPr>
            </a:br>
            <a:r>
              <a:rPr lang="en-US" b="1" dirty="0">
                <a:latin typeface="Segoe UI" pitchFamily="34" charset="0"/>
                <a:ea typeface="Segoe UI" pitchFamily="34" charset="0"/>
                <a:cs typeface="Segoe UI" pitchFamily="34" charset="0"/>
              </a:rPr>
              <a:t>C</a:t>
            </a:r>
            <a:r>
              <a:rPr lang="en-US" dirty="0">
                <a:latin typeface="Segoe UI" pitchFamily="34" charset="0"/>
                <a:ea typeface="Segoe UI" pitchFamily="34" charset="0"/>
                <a:cs typeface="Segoe UI" pitchFamily="34" charset="0"/>
              </a:rPr>
              <a:t>	Computer</a:t>
            </a:r>
            <a:br>
              <a:rPr lang="en-US" dirty="0">
                <a:latin typeface="Segoe UI" pitchFamily="34" charset="0"/>
                <a:ea typeface="Segoe UI" pitchFamily="34" charset="0"/>
                <a:cs typeface="Segoe UI" pitchFamily="34" charset="0"/>
              </a:rPr>
            </a:br>
            <a:r>
              <a:rPr lang="en-US" b="1" dirty="0">
                <a:latin typeface="Segoe UI" pitchFamily="34" charset="0"/>
                <a:ea typeface="Segoe UI" pitchFamily="34" charset="0"/>
                <a:cs typeface="Segoe UI" pitchFamily="34" charset="0"/>
              </a:rPr>
              <a:t>GG</a:t>
            </a:r>
            <a:r>
              <a:rPr lang="en-US" dirty="0">
                <a:latin typeface="Segoe UI" pitchFamily="34" charset="0"/>
                <a:ea typeface="Segoe UI" pitchFamily="34" charset="0"/>
                <a:cs typeface="Segoe UI" pitchFamily="34" charset="0"/>
              </a:rPr>
              <a:t>	Global group</a:t>
            </a:r>
            <a:br>
              <a:rPr lang="en-US" dirty="0">
                <a:latin typeface="Segoe UI" pitchFamily="34" charset="0"/>
                <a:ea typeface="Segoe UI" pitchFamily="34" charset="0"/>
                <a:cs typeface="Segoe UI" pitchFamily="34" charset="0"/>
              </a:rPr>
            </a:br>
            <a:r>
              <a:rPr lang="en-US" b="1" dirty="0">
                <a:latin typeface="Segoe UI" pitchFamily="34" charset="0"/>
                <a:ea typeface="Segoe UI" pitchFamily="34" charset="0"/>
                <a:cs typeface="Segoe UI" pitchFamily="34" charset="0"/>
              </a:rPr>
              <a:t>DLG</a:t>
            </a:r>
            <a:r>
              <a:rPr lang="en-US" dirty="0">
                <a:latin typeface="Segoe UI" pitchFamily="34" charset="0"/>
                <a:ea typeface="Segoe UI" pitchFamily="34" charset="0"/>
                <a:cs typeface="Segoe UI" pitchFamily="34" charset="0"/>
              </a:rPr>
              <a:t>	Domain-local group</a:t>
            </a:r>
            <a:br>
              <a:rPr lang="en-US" dirty="0">
                <a:latin typeface="Segoe UI" pitchFamily="34" charset="0"/>
                <a:ea typeface="Segoe UI" pitchFamily="34" charset="0"/>
                <a:cs typeface="Segoe UI" pitchFamily="34" charset="0"/>
              </a:rPr>
            </a:br>
            <a:r>
              <a:rPr lang="en-US" b="1" dirty="0">
                <a:latin typeface="Segoe UI" pitchFamily="34" charset="0"/>
                <a:ea typeface="Segoe UI" pitchFamily="34" charset="0"/>
                <a:cs typeface="Segoe UI" pitchFamily="34" charset="0"/>
              </a:rPr>
              <a:t>UG</a:t>
            </a:r>
            <a:r>
              <a:rPr lang="en-US" dirty="0">
                <a:latin typeface="Segoe UI" pitchFamily="34" charset="0"/>
                <a:ea typeface="Segoe UI" pitchFamily="34" charset="0"/>
                <a:cs typeface="Segoe UI" pitchFamily="34" charset="0"/>
              </a:rPr>
              <a:t>	Universal group</a:t>
            </a:r>
          </a:p>
        </p:txBody>
      </p:sp>
      <p:graphicFrame>
        <p:nvGraphicFramePr>
          <p:cNvPr id="5" name="Group 45"/>
          <p:cNvGraphicFramePr>
            <a:graphicFrameLocks noGrp="1"/>
          </p:cNvGraphicFramePr>
          <p:nvPr>
            <p:extLst/>
          </p:nvPr>
        </p:nvGraphicFramePr>
        <p:xfrm>
          <a:off x="1991544" y="819934"/>
          <a:ext cx="8298474" cy="4253849"/>
        </p:xfrm>
        <a:graphic>
          <a:graphicData uri="http://schemas.openxmlformats.org/drawingml/2006/table">
            <a:tbl>
              <a:tblPr>
                <a:tableStyleId>{5DA37D80-6434-44D0-A028-1B22A696006F}</a:tableStyleId>
              </a:tblPr>
              <a:tblGrid>
                <a:gridCol w="1143142">
                  <a:extLst>
                    <a:ext uri="{9D8B030D-6E8A-4147-A177-3AD203B41FA5}">
                      <a16:colId xmlns:a16="http://schemas.microsoft.com/office/drawing/2014/main" val="20000"/>
                    </a:ext>
                  </a:extLst>
                </a:gridCol>
                <a:gridCol w="1728132">
                  <a:extLst>
                    <a:ext uri="{9D8B030D-6E8A-4147-A177-3AD203B41FA5}">
                      <a16:colId xmlns:a16="http://schemas.microsoft.com/office/drawing/2014/main" val="20001"/>
                    </a:ext>
                  </a:extLst>
                </a:gridCol>
                <a:gridCol w="1518408">
                  <a:extLst>
                    <a:ext uri="{9D8B030D-6E8A-4147-A177-3AD203B41FA5}">
                      <a16:colId xmlns:a16="http://schemas.microsoft.com/office/drawing/2014/main" val="20002"/>
                    </a:ext>
                  </a:extLst>
                </a:gridCol>
                <a:gridCol w="1803633">
                  <a:extLst>
                    <a:ext uri="{9D8B030D-6E8A-4147-A177-3AD203B41FA5}">
                      <a16:colId xmlns:a16="http://schemas.microsoft.com/office/drawing/2014/main" val="20003"/>
                    </a:ext>
                  </a:extLst>
                </a:gridCol>
                <a:gridCol w="2105159">
                  <a:extLst>
                    <a:ext uri="{9D8B030D-6E8A-4147-A177-3AD203B41FA5}">
                      <a16:colId xmlns:a16="http://schemas.microsoft.com/office/drawing/2014/main" val="20004"/>
                    </a:ext>
                  </a:extLst>
                </a:gridCol>
              </a:tblGrid>
              <a:tr h="10429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Group scope</a:t>
                      </a:r>
                      <a:endParaRPr kumimoji="0" lang="en-US" sz="1700" b="1" i="0" u="none" strike="noStrike" cap="none" normalizeH="0" baseline="0" dirty="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Members from same domain</a:t>
                      </a:r>
                      <a:endParaRPr kumimoji="0" lang="en-US" sz="1700" b="1" i="0" u="none" strike="noStrike" cap="none" normalizeH="0" baseline="0" dirty="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Members from domain in same forest</a:t>
                      </a:r>
                      <a:endParaRPr kumimoji="0" lang="en-US" sz="1700" b="1" i="0" u="none" strike="noStrike" cap="none" normalizeH="0" baseline="0" dirty="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Members from trusted external domain</a:t>
                      </a:r>
                      <a:endParaRPr kumimoji="0" lang="en-US" sz="1700" b="1" i="0" u="none" strike="noStrike" cap="none" normalizeH="0" baseline="0" dirty="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Can be</a:t>
                      </a:r>
                      <a:br>
                        <a:rPr kumimoji="0" lang="en-US" sz="1700" b="1" u="none" strike="noStrike" cap="none" normalizeH="0" baseline="0" dirty="0">
                          <a:ln>
                            <a:noFill/>
                          </a:ln>
                          <a:effectLst/>
                          <a:latin typeface="Segoe UI" pitchFamily="34" charset="0"/>
                          <a:ea typeface="Segoe UI" pitchFamily="34" charset="0"/>
                          <a:cs typeface="Segoe UI" pitchFamily="34" charset="0"/>
                        </a:rPr>
                      </a:br>
                      <a:r>
                        <a:rPr kumimoji="0" lang="en-US" sz="1700" b="1" u="none" strike="noStrike" cap="none" normalizeH="0" baseline="0" dirty="0">
                          <a:ln>
                            <a:noFill/>
                          </a:ln>
                          <a:effectLst/>
                          <a:latin typeface="Segoe UI" pitchFamily="34" charset="0"/>
                          <a:ea typeface="Segoe UI" pitchFamily="34" charset="0"/>
                          <a:cs typeface="Segoe UI" pitchFamily="34" charset="0"/>
                        </a:rPr>
                        <a:t>assigned</a:t>
                      </a:r>
                      <a:br>
                        <a:rPr kumimoji="0" lang="en-US" sz="1700" b="1" u="none" strike="noStrike" cap="none" normalizeH="0" baseline="0" dirty="0">
                          <a:ln>
                            <a:noFill/>
                          </a:ln>
                          <a:effectLst/>
                          <a:latin typeface="Segoe UI" pitchFamily="34" charset="0"/>
                          <a:ea typeface="Segoe UI" pitchFamily="34" charset="0"/>
                          <a:cs typeface="Segoe UI" pitchFamily="34" charset="0"/>
                        </a:rPr>
                      </a:br>
                      <a:r>
                        <a:rPr kumimoji="0" lang="en-US" sz="1700" b="1" u="none" strike="noStrike" cap="none" normalizeH="0" baseline="0" dirty="0">
                          <a:ln>
                            <a:noFill/>
                          </a:ln>
                          <a:effectLst/>
                          <a:latin typeface="Segoe UI" pitchFamily="34" charset="0"/>
                          <a:ea typeface="Segoe UI" pitchFamily="34" charset="0"/>
                          <a:cs typeface="Segoe UI" pitchFamily="34" charset="0"/>
                        </a:rPr>
                        <a:t>permissions to resources</a:t>
                      </a:r>
                      <a:endParaRPr kumimoji="0" lang="en-US" sz="1700" b="1" i="0" u="none" strike="noStrike" cap="none" normalizeH="0" baseline="0" dirty="0">
                        <a:ln>
                          <a:noFill/>
                        </a:ln>
                        <a:solidFill>
                          <a:sysClr val="windowText" lastClr="000000"/>
                        </a:solidFill>
                        <a:effectLst/>
                        <a:latin typeface="Segoe UI" pitchFamily="34" charset="0"/>
                        <a:ea typeface="Segoe UI" pitchFamily="34" charset="0"/>
                        <a:cs typeface="Segoe UI" pitchFamily="34" charset="0"/>
                      </a:endParaRPr>
                    </a:p>
                  </a:txBody>
                  <a:tcPr marL="91445" marR="91445" marT="45718" marB="45718" anchor="ctr" horzOverflow="overflow"/>
                </a:tc>
                <a:extLst>
                  <a:ext uri="{0D108BD9-81ED-4DB2-BD59-A6C34878D82A}">
                    <a16:rowId xmlns:a16="http://schemas.microsoft.com/office/drawing/2014/main" val="10000"/>
                  </a:ext>
                </a:extLst>
              </a:tr>
              <a:tr h="890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Local</a:t>
                      </a:r>
                      <a:endParaRPr kumimoji="0" lang="en-US" sz="17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DLG, UG</a:t>
                      </a:r>
                      <a:br>
                        <a:rPr kumimoji="0" lang="en-US" sz="1800" u="none" strike="noStrike" cap="none" normalizeH="0" baseline="0" dirty="0">
                          <a:ln>
                            <a:noFill/>
                          </a:ln>
                          <a:effectLst/>
                          <a:latin typeface="Segoe UI" pitchFamily="34" charset="0"/>
                          <a:ea typeface="Segoe UI" pitchFamily="34" charset="0"/>
                          <a:cs typeface="Segoe UI" pitchFamily="34" charset="0"/>
                        </a:rPr>
                      </a:br>
                      <a:r>
                        <a:rPr kumimoji="0" lang="en-US" sz="1800" u="none" strike="noStrike" cap="none" normalizeH="0" baseline="0" dirty="0">
                          <a:ln>
                            <a:noFill/>
                          </a:ln>
                          <a:effectLst/>
                          <a:latin typeface="Segoe UI" pitchFamily="34" charset="0"/>
                          <a:ea typeface="Segoe UI" pitchFamily="34" charset="0"/>
                          <a:cs typeface="Segoe UI" pitchFamily="34" charset="0"/>
                        </a:rPr>
                        <a:t>and local users</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On the local computer only</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extLst>
                  <a:ext uri="{0D108BD9-81ED-4DB2-BD59-A6C34878D82A}">
                    <a16:rowId xmlns:a16="http://schemas.microsoft.com/office/drawing/2014/main" val="10001"/>
                  </a:ext>
                </a:extLst>
              </a:tr>
              <a:tr h="657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Domain-local</a:t>
                      </a:r>
                      <a:endParaRPr kumimoji="0" lang="en-US" sz="17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DLG, UG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Anywhere in the domain</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extLst>
                  <a:ext uri="{0D108BD9-81ED-4DB2-BD59-A6C34878D82A}">
                    <a16:rowId xmlns:a16="http://schemas.microsoft.com/office/drawing/2014/main" val="10002"/>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Universal</a:t>
                      </a:r>
                      <a:endParaRPr kumimoji="0" lang="en-US" sz="17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 UG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Anywhere in the forest</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extLst>
                  <a:ext uri="{0D108BD9-81ED-4DB2-BD59-A6C34878D82A}">
                    <a16:rowId xmlns:a16="http://schemas.microsoft.com/office/drawing/2014/main" val="10003"/>
                  </a:ext>
                </a:extLst>
              </a:tr>
              <a:tr h="862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1" u="none" strike="noStrike" cap="none" normalizeH="0" baseline="0" dirty="0">
                          <a:ln>
                            <a:noFill/>
                          </a:ln>
                          <a:effectLst/>
                          <a:latin typeface="Segoe UI" pitchFamily="34" charset="0"/>
                          <a:ea typeface="Segoe UI" pitchFamily="34" charset="0"/>
                          <a:cs typeface="Segoe UI" pitchFamily="34" charset="0"/>
                        </a:rPr>
                        <a:t>Global </a:t>
                      </a:r>
                      <a:endParaRPr kumimoji="0" lang="en-US" sz="17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U, 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GG</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N/A</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effectLst/>
                          <a:latin typeface="Segoe UI" pitchFamily="34" charset="0"/>
                          <a:ea typeface="Segoe UI" pitchFamily="34" charset="0"/>
                          <a:cs typeface="Segoe UI" pitchFamily="34" charset="0"/>
                        </a:rPr>
                        <a:t>Anywhere in the domain or a trusted domain</a:t>
                      </a:r>
                      <a:endParaRPr kumimoji="0" lang="en-US" sz="18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L="91445" marR="91445" marT="45718" marB="45718"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666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8756" y="12554"/>
            <a:ext cx="7691003" cy="672683"/>
          </a:xfrm>
        </p:spPr>
        <p:txBody>
          <a:bodyPr/>
          <a:lstStyle/>
          <a:p>
            <a:r>
              <a:rPr lang="en-CA" b="1" dirty="0"/>
              <a:t>Implementing Group Management</a:t>
            </a:r>
          </a:p>
        </p:txBody>
      </p:sp>
      <p:sp>
        <p:nvSpPr>
          <p:cNvPr id="4" name="big grey oval"/>
          <p:cNvSpPr/>
          <p:nvPr/>
        </p:nvSpPr>
        <p:spPr bwMode="auto">
          <a:xfrm>
            <a:off x="5369225" y="1238327"/>
            <a:ext cx="5027240" cy="2740877"/>
          </a:xfrm>
          <a:prstGeom prst="ellipse">
            <a:avLst/>
          </a:prstGeom>
          <a:solidFill>
            <a:schemeClr val="bg2">
              <a:lumMod val="40000"/>
              <a:lumOff val="60000"/>
            </a:schemeClr>
          </a:solidFill>
          <a:ln w="41275">
            <a:solidFill>
              <a:schemeClr val="bg2">
                <a:lumMod val="40000"/>
                <a:lumOff val="60000"/>
              </a:schemeClr>
            </a:solidFill>
            <a:headEnd type="none" w="med" len="med"/>
            <a:tailEnd type="none" w="med" len="med"/>
          </a:ln>
          <a:effectLst/>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eaLnBrk="0" hangingPunct="0"/>
            <a:endParaRPr lang="en-US" dirty="0">
              <a:solidFill>
                <a:schemeClr val="tx1"/>
              </a:solidFill>
              <a:latin typeface="Segoe UI" pitchFamily="34" charset="0"/>
              <a:ea typeface="Segoe UI" pitchFamily="34" charset="0"/>
              <a:cs typeface="Segoe UI" pitchFamily="34" charset="0"/>
            </a:endParaRPr>
          </a:p>
        </p:txBody>
      </p:sp>
      <p:sp>
        <p:nvSpPr>
          <p:cNvPr id="5" name="&quot;ACL Sales Read&quot;"/>
          <p:cNvSpPr txBox="1"/>
          <p:nvPr/>
        </p:nvSpPr>
        <p:spPr>
          <a:xfrm>
            <a:off x="6288399" y="3363651"/>
            <a:ext cx="3175385" cy="650563"/>
          </a:xfrm>
          <a:prstGeom prst="rect">
            <a:avLst/>
          </a:prstGeom>
          <a:noFill/>
        </p:spPr>
        <p:txBody>
          <a:bodyPr wrap="square" t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sz="2000" b="0" dirty="0">
                <a:latin typeface="Segoe UI" pitchFamily="34" charset="0"/>
                <a:ea typeface="Segoe UI" pitchFamily="34" charset="0"/>
                <a:cs typeface="Segoe UI" pitchFamily="34" charset="0"/>
              </a:rPr>
              <a:t>ACL_Sales_Read</a:t>
            </a:r>
            <a:br>
              <a:rPr lang="en-US" sz="2000" b="0" dirty="0">
                <a:latin typeface="Segoe UI" pitchFamily="34" charset="0"/>
                <a:ea typeface="Segoe UI" pitchFamily="34" charset="0"/>
                <a:cs typeface="Segoe UI" pitchFamily="34" charset="0"/>
              </a:rPr>
            </a:br>
            <a:r>
              <a:rPr lang="en-US" sz="2000" b="0" dirty="0">
                <a:latin typeface="Segoe UI" pitchFamily="34" charset="0"/>
                <a:ea typeface="Segoe UI" pitchFamily="34" charset="0"/>
                <a:cs typeface="Segoe UI" pitchFamily="34" charset="0"/>
              </a:rPr>
              <a:t>(Domain-local group)</a:t>
            </a:r>
          </a:p>
        </p:txBody>
      </p:sp>
      <p:sp>
        <p:nvSpPr>
          <p:cNvPr id="6" name="small blue oval"/>
          <p:cNvSpPr>
            <a:spLocks noChangeArrowheads="1"/>
          </p:cNvSpPr>
          <p:nvPr/>
        </p:nvSpPr>
        <p:spPr bwMode="auto">
          <a:xfrm>
            <a:off x="5276312" y="1227922"/>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7"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0272" y="1162759"/>
            <a:ext cx="607329" cy="607329"/>
          </a:xfrm>
          <a:prstGeom prst="rect">
            <a:avLst/>
          </a:prstGeom>
        </p:spPr>
      </p:pic>
      <p:pic>
        <p:nvPicPr>
          <p:cNvPr id="8"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58413" y="955192"/>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9"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49855" y="1227922"/>
            <a:ext cx="626505" cy="707281"/>
          </a:xfrm>
          <a:prstGeom prst="rect">
            <a:avLst/>
          </a:prstGeom>
        </p:spPr>
      </p:pic>
      <p:sp>
        <p:nvSpPr>
          <p:cNvPr id="10" name="&quot;sales&quot;"/>
          <p:cNvSpPr txBox="1"/>
          <p:nvPr/>
        </p:nvSpPr>
        <p:spPr>
          <a:xfrm>
            <a:off x="5601745" y="2057401"/>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Sales</a:t>
            </a:r>
          </a:p>
          <a:p>
            <a:pPr algn="ctr">
              <a:lnSpc>
                <a:spcPct val="110000"/>
              </a:lnSpc>
            </a:pPr>
            <a:r>
              <a:rPr lang="en-US" b="0" dirty="0">
                <a:latin typeface="Segoe UI" pitchFamily="34" charset="0"/>
                <a:ea typeface="Segoe UI" pitchFamily="34" charset="0"/>
                <a:cs typeface="Segoe UI" pitchFamily="34" charset="0"/>
              </a:rPr>
              <a:t>(Global group)</a:t>
            </a:r>
          </a:p>
        </p:txBody>
      </p:sp>
      <p:sp>
        <p:nvSpPr>
          <p:cNvPr id="11" name="small blue oval"/>
          <p:cNvSpPr>
            <a:spLocks noChangeArrowheads="1"/>
          </p:cNvSpPr>
          <p:nvPr/>
        </p:nvSpPr>
        <p:spPr bwMode="auto">
          <a:xfrm>
            <a:off x="7876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kern="0" dirty="0">
              <a:solidFill>
                <a:srgbClr val="000000"/>
              </a:solidFill>
              <a:latin typeface="Segoe UI" pitchFamily="34" charset="0"/>
              <a:ea typeface="Segoe UI" pitchFamily="34" charset="0"/>
              <a:cs typeface="Segoe UI" pitchFamily="34" charset="0"/>
            </a:endParaRPr>
          </a:p>
        </p:txBody>
      </p:sp>
      <p:pic>
        <p:nvPicPr>
          <p:cNvPr id="12"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13595" y="1579168"/>
            <a:ext cx="607329" cy="607329"/>
          </a:xfrm>
          <a:prstGeom prst="rect">
            <a:avLst/>
          </a:prstGeom>
        </p:spPr>
      </p:pic>
      <p:pic>
        <p:nvPicPr>
          <p:cNvPr id="13"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711736" y="137160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4"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92548" y="1762401"/>
            <a:ext cx="499580" cy="563991"/>
          </a:xfrm>
          <a:prstGeom prst="rect">
            <a:avLst/>
          </a:prstGeom>
        </p:spPr>
      </p:pic>
      <p:sp>
        <p:nvSpPr>
          <p:cNvPr id="15" name="&quot;Auditors&quot;"/>
          <p:cNvSpPr txBox="1"/>
          <p:nvPr/>
        </p:nvSpPr>
        <p:spPr>
          <a:xfrm>
            <a:off x="8227435" y="2438401"/>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Auditors</a:t>
            </a:r>
          </a:p>
          <a:p>
            <a:pPr algn="ctr">
              <a:lnSpc>
                <a:spcPct val="110000"/>
              </a:lnSpc>
            </a:pPr>
            <a:r>
              <a:rPr lang="en-US" b="0" dirty="0">
                <a:latin typeface="Segoe UI" pitchFamily="34" charset="0"/>
                <a:ea typeface="Segoe UI" pitchFamily="34" charset="0"/>
                <a:cs typeface="Segoe UI" pitchFamily="34" charset="0"/>
              </a:rPr>
              <a:t>(Global group)</a:t>
            </a:r>
          </a:p>
        </p:txBody>
      </p:sp>
      <p:grpSp>
        <p:nvGrpSpPr>
          <p:cNvPr id="16" name="server, folder, lock"/>
          <p:cNvGrpSpPr/>
          <p:nvPr/>
        </p:nvGrpSpPr>
        <p:grpSpPr>
          <a:xfrm>
            <a:off x="7264152" y="4275739"/>
            <a:ext cx="1437896" cy="2099420"/>
            <a:chOff x="5740152" y="4275739"/>
            <a:chExt cx="1437896" cy="2099420"/>
          </a:xfrm>
        </p:grpSpPr>
        <p:sp>
          <p:nvSpPr>
            <p:cNvPr id="17" name="Down Arrow 16" descr="&#10;"/>
            <p:cNvSpPr/>
            <p:nvPr/>
          </p:nvSpPr>
          <p:spPr bwMode="auto">
            <a:xfrm>
              <a:off x="6034711" y="4275739"/>
              <a:ext cx="821680" cy="544994"/>
            </a:xfrm>
            <a:prstGeom prst="downArrow">
              <a:avLst/>
            </a:prstGeom>
            <a:solidFill>
              <a:schemeClr val="accent2">
                <a:lumMod val="60000"/>
                <a:lumOff val="40000"/>
              </a:schemeClr>
            </a:solidFill>
            <a:ln>
              <a:solidFill>
                <a:schemeClr val="accent6">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eaLnBrk="0" hangingPunct="0"/>
              <a:endParaRPr lang="en-US" dirty="0">
                <a:solidFill>
                  <a:schemeClr val="tx1"/>
                </a:solidFill>
                <a:latin typeface="Segoe UI" pitchFamily="34" charset="0"/>
                <a:ea typeface="Segoe UI" pitchFamily="34" charset="0"/>
                <a:cs typeface="Segoe UI" pitchFamily="34" charset="0"/>
              </a:endParaRPr>
            </a:p>
          </p:txBody>
        </p:sp>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40152" y="5058033"/>
              <a:ext cx="618693" cy="1097189"/>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96511" y="4906490"/>
              <a:ext cx="681537" cy="915579"/>
            </a:xfrm>
            <a:prstGeom prst="rect">
              <a:avLst/>
            </a:prstGeom>
          </p:spPr>
        </p:pic>
        <p:pic>
          <p:nvPicPr>
            <p:cNvPr id="20" name="Picture 1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39133" y="5499287"/>
              <a:ext cx="650187" cy="875872"/>
            </a:xfrm>
            <a:prstGeom prst="rect">
              <a:avLst/>
            </a:prstGeom>
          </p:spPr>
        </p:pic>
      </p:grpSp>
      <p:grpSp>
        <p:nvGrpSpPr>
          <p:cNvPr id="21" name="Group 20"/>
          <p:cNvGrpSpPr/>
          <p:nvPr/>
        </p:nvGrpSpPr>
        <p:grpSpPr>
          <a:xfrm>
            <a:off x="1669132" y="3692606"/>
            <a:ext cx="4076834" cy="1354217"/>
            <a:chOff x="228600" y="3917422"/>
            <a:chExt cx="4076834" cy="1551324"/>
          </a:xfrm>
        </p:grpSpPr>
        <p:sp>
          <p:nvSpPr>
            <p:cNvPr id="22" name="TextBox 21"/>
            <p:cNvSpPr txBox="1"/>
            <p:nvPr/>
          </p:nvSpPr>
          <p:spPr>
            <a:xfrm>
              <a:off x="589801" y="3917422"/>
              <a:ext cx="3715633" cy="155132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Domain-local groups</a:t>
              </a:r>
            </a:p>
            <a:p>
              <a:r>
                <a:rPr lang="en-US" sz="2200" b="0" dirty="0">
                  <a:latin typeface="Segoe UI" pitchFamily="34" charset="0"/>
                  <a:ea typeface="Segoe UI" pitchFamily="34" charset="0"/>
                  <a:cs typeface="Segoe UI" pitchFamily="34" charset="0"/>
                </a:rPr>
                <a:t>Which provide management </a:t>
              </a:r>
            </a:p>
            <a:p>
              <a:r>
                <a:rPr lang="en-US" sz="2200" b="0" dirty="0">
                  <a:latin typeface="Segoe UI" pitchFamily="34" charset="0"/>
                  <a:ea typeface="Segoe UI" pitchFamily="34" charset="0"/>
                  <a:cs typeface="Segoe UI" pitchFamily="34" charset="0"/>
                </a:rPr>
                <a:t>such as resource access,</a:t>
              </a:r>
            </a:p>
            <a:p>
              <a:r>
                <a:rPr lang="en-US" sz="2200" b="0" dirty="0">
                  <a:latin typeface="Segoe UI" pitchFamily="34" charset="0"/>
                  <a:ea typeface="Segoe UI" pitchFamily="34" charset="0"/>
                  <a:cs typeface="Segoe UI" pitchFamily="34" charset="0"/>
                </a:rPr>
                <a:t>which are </a:t>
              </a:r>
            </a:p>
          </p:txBody>
        </p:sp>
        <p:sp>
          <p:nvSpPr>
            <p:cNvPr id="23" name="TextBox 22"/>
            <p:cNvSpPr txBox="1"/>
            <p:nvPr/>
          </p:nvSpPr>
          <p:spPr>
            <a:xfrm>
              <a:off x="228600" y="3917422"/>
              <a:ext cx="609600" cy="38783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DL</a:t>
              </a:r>
            </a:p>
          </p:txBody>
        </p:sp>
      </p:grpSp>
      <p:grpSp>
        <p:nvGrpSpPr>
          <p:cNvPr id="24" name="Group 23"/>
          <p:cNvGrpSpPr/>
          <p:nvPr/>
        </p:nvGrpSpPr>
        <p:grpSpPr>
          <a:xfrm>
            <a:off x="1752257" y="2113911"/>
            <a:ext cx="3730484" cy="1390568"/>
            <a:chOff x="228600" y="2964592"/>
            <a:chExt cx="3730484" cy="1390568"/>
          </a:xfrm>
        </p:grpSpPr>
        <p:sp>
          <p:nvSpPr>
            <p:cNvPr id="25" name="TextBox 24"/>
            <p:cNvSpPr txBox="1"/>
            <p:nvPr/>
          </p:nvSpPr>
          <p:spPr>
            <a:xfrm>
              <a:off x="526223" y="2964592"/>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Global groups</a:t>
              </a:r>
            </a:p>
            <a:p>
              <a:r>
                <a:rPr lang="en-US" sz="2200" b="0" dirty="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p>
          </p:txBody>
        </p:sp>
        <p:sp>
          <p:nvSpPr>
            <p:cNvPr id="26" name="TextBox 25"/>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p>
          </p:txBody>
        </p:sp>
      </p:grpSp>
      <p:grpSp>
        <p:nvGrpSpPr>
          <p:cNvPr id="27" name="Group 26"/>
          <p:cNvGrpSpPr/>
          <p:nvPr/>
        </p:nvGrpSpPr>
        <p:grpSpPr>
          <a:xfrm>
            <a:off x="1818757" y="950111"/>
            <a:ext cx="3269644" cy="1031444"/>
            <a:chOff x="228257" y="1277209"/>
            <a:chExt cx="2686877" cy="985187"/>
          </a:xfrm>
        </p:grpSpPr>
        <p:sp>
          <p:nvSpPr>
            <p:cNvPr id="28" name="TextBox 27"/>
            <p:cNvSpPr txBox="1"/>
            <p:nvPr/>
          </p:nvSpPr>
          <p:spPr>
            <a:xfrm>
              <a:off x="410427"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29" name="TextBox 28"/>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grpSp>
        <p:nvGrpSpPr>
          <p:cNvPr id="30" name="Assigned access to a resource"/>
          <p:cNvGrpSpPr/>
          <p:nvPr/>
        </p:nvGrpSpPr>
        <p:grpSpPr>
          <a:xfrm>
            <a:off x="1745995" y="5127697"/>
            <a:ext cx="4329765" cy="338554"/>
            <a:chOff x="222337" y="5889697"/>
            <a:chExt cx="4329765" cy="338554"/>
          </a:xfrm>
        </p:grpSpPr>
        <p:sp>
          <p:nvSpPr>
            <p:cNvPr id="31" name="TextBox 30"/>
            <p:cNvSpPr txBox="1"/>
            <p:nvPr/>
          </p:nvSpPr>
          <p:spPr>
            <a:xfrm>
              <a:off x="497227" y="5889697"/>
              <a:ext cx="4054875"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Assigned access to a resource</a:t>
              </a:r>
            </a:p>
          </p:txBody>
        </p:sp>
        <p:sp>
          <p:nvSpPr>
            <p:cNvPr id="32" name="TextBox 31"/>
            <p:cNvSpPr txBox="1"/>
            <p:nvPr/>
          </p:nvSpPr>
          <p:spPr>
            <a:xfrm>
              <a:off x="222337" y="5889697"/>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a:t>
              </a:r>
            </a:p>
          </p:txBody>
        </p:sp>
      </p:grpSp>
      <p:pic>
        <p:nvPicPr>
          <p:cNvPr id="33" name="alt text here, play symbol" descr="An illustration of two global security groups, Sales and Auditors, both of which belong to the ACL_Sales_Read domain local group. This group has permissions on a server-based shared resourc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81869" y="6127636"/>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Box 32"/>
          <p:cNvSpPr txBox="1"/>
          <p:nvPr/>
        </p:nvSpPr>
        <p:spPr>
          <a:xfrm>
            <a:off x="2050795" y="5536290"/>
            <a:ext cx="4125565" cy="811367"/>
          </a:xfrm>
          <a:prstGeom prst="rect">
            <a:avLst/>
          </a:prstGeom>
          <a:noFill/>
          <a:ln>
            <a:solidFill>
              <a:schemeClr val="tx2">
                <a:lumMod val="65000"/>
                <a:lumOff val="35000"/>
              </a:schemeClr>
            </a:solidFill>
          </a:ln>
          <a:effectLst/>
        </p:spPr>
        <p:txBody>
          <a:bodyPr wrap="square" lIns="72000" tIns="36000" rIns="72000" bIns="3600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itchFamily="34" charset="0"/>
                <a:ea typeface="Segoe UI" pitchFamily="34" charset="0"/>
                <a:cs typeface="Segoe UI" pitchFamily="34" charset="0"/>
              </a:rPr>
              <a:t>This best practice for nesting groups is known as IGDLA.</a:t>
            </a:r>
          </a:p>
        </p:txBody>
      </p:sp>
    </p:spTree>
    <p:extLst>
      <p:ext uri="{BB962C8B-B14F-4D97-AF65-F5344CB8AC3E}">
        <p14:creationId xmlns:p14="http://schemas.microsoft.com/office/powerpoint/2010/main" val="131690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7572" y="20314"/>
            <a:ext cx="7692187" cy="707281"/>
          </a:xfrm>
        </p:spPr>
        <p:txBody>
          <a:bodyPr/>
          <a:lstStyle/>
          <a:p>
            <a:r>
              <a:rPr lang="en-CA" b="1" dirty="0"/>
              <a:t>Implementing Group Management</a:t>
            </a:r>
          </a:p>
        </p:txBody>
      </p:sp>
      <p:grpSp>
        <p:nvGrpSpPr>
          <p:cNvPr id="4" name="alt text here, Group 1" descr="Two unlabeled sets of users and computers."/>
          <p:cNvGrpSpPr/>
          <p:nvPr/>
        </p:nvGrpSpPr>
        <p:grpSpPr>
          <a:xfrm>
            <a:off x="5549855" y="955191"/>
            <a:ext cx="4371069" cy="1544390"/>
            <a:chOff x="4025854" y="955191"/>
            <a:chExt cx="4371069" cy="1544390"/>
          </a:xfrm>
        </p:grpSpPr>
        <p:pic>
          <p:nvPicPr>
            <p:cNvPr id="5"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pic>
          <p:nvPicPr>
            <p:cNvPr id="6"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7"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pic>
          <p:nvPicPr>
            <p:cNvPr id="8"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9"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0"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grpSp>
      <p:grpSp>
        <p:nvGrpSpPr>
          <p:cNvPr id="11" name="Group 10"/>
          <p:cNvGrpSpPr/>
          <p:nvPr/>
        </p:nvGrpSpPr>
        <p:grpSpPr>
          <a:xfrm>
            <a:off x="1817573" y="950111"/>
            <a:ext cx="3287448" cy="1031444"/>
            <a:chOff x="228257" y="1277209"/>
            <a:chExt cx="2701507" cy="985187"/>
          </a:xfrm>
        </p:grpSpPr>
        <p:sp>
          <p:nvSpPr>
            <p:cNvPr id="12" name="TextBox 10"/>
            <p:cNvSpPr txBox="1"/>
            <p:nvPr/>
          </p:nvSpPr>
          <p:spPr>
            <a:xfrm>
              <a:off x="425057"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13" name="TextBox 11"/>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pic>
        <p:nvPicPr>
          <p:cNvPr id="14" name="play butt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1869" y="61894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057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5382" y="-6758"/>
            <a:ext cx="7674377" cy="669556"/>
          </a:xfrm>
        </p:spPr>
        <p:txBody>
          <a:bodyPr/>
          <a:lstStyle/>
          <a:p>
            <a:r>
              <a:rPr lang="en-CA" b="1" dirty="0"/>
              <a:t>Implementing Group Management</a:t>
            </a:r>
          </a:p>
        </p:txBody>
      </p:sp>
      <p:grpSp>
        <p:nvGrpSpPr>
          <p:cNvPr id="4" name="alt text here, Group 1" descr="A circle surrounds each of the two sets of users and computers. The sets are now labeled Sales (global group) and Auditors (global group)."/>
          <p:cNvGrpSpPr/>
          <p:nvPr/>
        </p:nvGrpSpPr>
        <p:grpSpPr>
          <a:xfrm>
            <a:off x="5276313" y="955191"/>
            <a:ext cx="4996043" cy="2285698"/>
            <a:chOff x="3752312" y="955191"/>
            <a:chExt cx="4996043" cy="2285698"/>
          </a:xfrm>
        </p:grpSpPr>
        <p:sp>
          <p:nvSpPr>
            <p:cNvPr id="5" name="small blue oval"/>
            <p:cNvSpPr>
              <a:spLocks noChangeArrowheads="1"/>
            </p:cNvSpPr>
            <p:nvPr/>
          </p:nvSpPr>
          <p:spPr bwMode="auto">
            <a:xfrm>
              <a:off x="3752312" y="1227921"/>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6"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sp>
          <p:nvSpPr>
            <p:cNvPr id="7" name="small blue oval"/>
            <p:cNvSpPr>
              <a:spLocks noChangeArrowheads="1"/>
            </p:cNvSpPr>
            <p:nvPr/>
          </p:nvSpPr>
          <p:spPr bwMode="auto">
            <a:xfrm>
              <a:off x="6352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8"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9"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pic>
          <p:nvPicPr>
            <p:cNvPr id="10"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11"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2"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sp>
          <p:nvSpPr>
            <p:cNvPr id="13" name="&quot;sales&quot;"/>
            <p:cNvSpPr txBox="1"/>
            <p:nvPr/>
          </p:nvSpPr>
          <p:spPr>
            <a:xfrm>
              <a:off x="4077744" y="2057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Sales</a:t>
              </a:r>
            </a:p>
            <a:p>
              <a:pPr algn="ctr">
                <a:lnSpc>
                  <a:spcPct val="110000"/>
                </a:lnSpc>
              </a:pPr>
              <a:r>
                <a:rPr lang="en-US" b="0" dirty="0">
                  <a:latin typeface="Segoe UI" pitchFamily="34" charset="0"/>
                  <a:ea typeface="Segoe UI" pitchFamily="34" charset="0"/>
                  <a:cs typeface="Segoe UI" pitchFamily="34" charset="0"/>
                </a:rPr>
                <a:t>(Global group)</a:t>
              </a:r>
            </a:p>
          </p:txBody>
        </p:sp>
        <p:sp>
          <p:nvSpPr>
            <p:cNvPr id="14" name="&quot;Auditors&quot;"/>
            <p:cNvSpPr txBox="1"/>
            <p:nvPr/>
          </p:nvSpPr>
          <p:spPr>
            <a:xfrm>
              <a:off x="6703434" y="2438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Auditors</a:t>
              </a:r>
            </a:p>
            <a:p>
              <a:pPr algn="ctr">
                <a:lnSpc>
                  <a:spcPct val="110000"/>
                </a:lnSpc>
              </a:pPr>
              <a:r>
                <a:rPr lang="en-US" b="0" dirty="0">
                  <a:latin typeface="Segoe UI" pitchFamily="34" charset="0"/>
                  <a:ea typeface="Segoe UI" pitchFamily="34" charset="0"/>
                  <a:cs typeface="Segoe UI" pitchFamily="34" charset="0"/>
                </a:rPr>
                <a:t>(Global group)</a:t>
              </a:r>
            </a:p>
          </p:txBody>
        </p:sp>
      </p:grpSp>
      <p:grpSp>
        <p:nvGrpSpPr>
          <p:cNvPr id="15" name="Group 14"/>
          <p:cNvGrpSpPr/>
          <p:nvPr/>
        </p:nvGrpSpPr>
        <p:grpSpPr>
          <a:xfrm>
            <a:off x="1752257" y="2113911"/>
            <a:ext cx="3730484" cy="1390568"/>
            <a:chOff x="228600" y="2981217"/>
            <a:chExt cx="3730484" cy="1390568"/>
          </a:xfrm>
        </p:grpSpPr>
        <p:sp>
          <p:nvSpPr>
            <p:cNvPr id="16" name="TextBox 13"/>
            <p:cNvSpPr txBox="1"/>
            <p:nvPr/>
          </p:nvSpPr>
          <p:spPr>
            <a:xfrm>
              <a:off x="526223" y="2981217"/>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Global groups</a:t>
              </a:r>
            </a:p>
            <a:p>
              <a:r>
                <a:rPr lang="en-US" sz="2200" b="0" dirty="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p>
          </p:txBody>
        </p:sp>
        <p:sp>
          <p:nvSpPr>
            <p:cNvPr id="17" name="TextBox 14"/>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p>
          </p:txBody>
        </p:sp>
      </p:grpSp>
      <p:grpSp>
        <p:nvGrpSpPr>
          <p:cNvPr id="18" name="Group 17"/>
          <p:cNvGrpSpPr/>
          <p:nvPr/>
        </p:nvGrpSpPr>
        <p:grpSpPr>
          <a:xfrm>
            <a:off x="1835383" y="950111"/>
            <a:ext cx="3253015" cy="1031444"/>
            <a:chOff x="228257" y="1277209"/>
            <a:chExt cx="2673211" cy="985187"/>
          </a:xfrm>
        </p:grpSpPr>
        <p:sp>
          <p:nvSpPr>
            <p:cNvPr id="19" name="TextBox 16"/>
            <p:cNvSpPr txBox="1"/>
            <p:nvPr/>
          </p:nvSpPr>
          <p:spPr>
            <a:xfrm>
              <a:off x="396761"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20" name="TextBox 17"/>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pic>
        <p:nvPicPr>
          <p:cNvPr id="21" name="play butt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1869" y="61894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525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7574" y="30168"/>
            <a:ext cx="7692185" cy="700882"/>
          </a:xfrm>
        </p:spPr>
        <p:txBody>
          <a:bodyPr/>
          <a:lstStyle/>
          <a:p>
            <a:r>
              <a:rPr lang="en-CA" b="1" dirty="0"/>
              <a:t>Implementing Group Management</a:t>
            </a:r>
          </a:p>
        </p:txBody>
      </p:sp>
      <p:grpSp>
        <p:nvGrpSpPr>
          <p:cNvPr id="4" name="alt text here, Group 25" descr="A large circle surrounds both of the global groups. The combined entity is labeled ACL_Sales_Read (domain local group)."/>
          <p:cNvGrpSpPr/>
          <p:nvPr/>
        </p:nvGrpSpPr>
        <p:grpSpPr>
          <a:xfrm>
            <a:off x="5276313" y="955191"/>
            <a:ext cx="5120153" cy="3024012"/>
            <a:chOff x="3752312" y="955191"/>
            <a:chExt cx="5120153" cy="3024012"/>
          </a:xfrm>
        </p:grpSpPr>
        <p:sp>
          <p:nvSpPr>
            <p:cNvPr id="5" name="big grey oval"/>
            <p:cNvSpPr/>
            <p:nvPr/>
          </p:nvSpPr>
          <p:spPr bwMode="auto">
            <a:xfrm>
              <a:off x="3845225" y="1238326"/>
              <a:ext cx="5027240" cy="2740877"/>
            </a:xfrm>
            <a:prstGeom prst="ellipse">
              <a:avLst/>
            </a:prstGeom>
            <a:solidFill>
              <a:schemeClr val="bg2">
                <a:lumMod val="40000"/>
                <a:lumOff val="60000"/>
              </a:schemeClr>
            </a:solidFill>
            <a:ln w="41275">
              <a:solidFill>
                <a:schemeClr val="bg2">
                  <a:lumMod val="40000"/>
                  <a:lumOff val="60000"/>
                </a:schemeClr>
              </a:solidFill>
              <a:headEnd type="none" w="med" len="med"/>
              <a:tailEnd type="none" w="med" len="med"/>
            </a:ln>
            <a:effectLst/>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eaLnBrk="0" hangingPunct="0"/>
              <a:endParaRPr lang="en-US" dirty="0">
                <a:solidFill>
                  <a:schemeClr val="tx1"/>
                </a:solidFill>
                <a:latin typeface="Segoe UI" pitchFamily="34" charset="0"/>
                <a:ea typeface="Segoe UI" pitchFamily="34" charset="0"/>
                <a:cs typeface="Segoe UI" pitchFamily="34" charset="0"/>
              </a:endParaRPr>
            </a:p>
          </p:txBody>
        </p:sp>
        <p:sp>
          <p:nvSpPr>
            <p:cNvPr id="6" name="&quot;ACL Sales Read&quot;"/>
            <p:cNvSpPr txBox="1"/>
            <p:nvPr/>
          </p:nvSpPr>
          <p:spPr>
            <a:xfrm>
              <a:off x="4764398" y="3363650"/>
              <a:ext cx="3175385" cy="615553"/>
            </a:xfrm>
            <a:prstGeom prst="rect">
              <a:avLst/>
            </a:prstGeom>
            <a:noFill/>
          </p:spPr>
          <p:txBody>
            <a:bodyPr wrap="square" t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b="0" dirty="0">
                  <a:latin typeface="Segoe UI" pitchFamily="34" charset="0"/>
                  <a:ea typeface="Segoe UI" pitchFamily="34" charset="0"/>
                  <a:cs typeface="Segoe UI" pitchFamily="34" charset="0"/>
                </a:rPr>
                <a:t>ACL_Sales_Read</a:t>
              </a:r>
              <a:br>
                <a:rPr lang="en-US" sz="2000" b="0" dirty="0">
                  <a:latin typeface="Segoe UI" pitchFamily="34" charset="0"/>
                  <a:ea typeface="Segoe UI" pitchFamily="34" charset="0"/>
                  <a:cs typeface="Segoe UI" pitchFamily="34" charset="0"/>
                </a:rPr>
              </a:br>
              <a:r>
                <a:rPr lang="en-US" sz="2000" b="0" dirty="0">
                  <a:latin typeface="Segoe UI" pitchFamily="34" charset="0"/>
                  <a:ea typeface="Segoe UI" pitchFamily="34" charset="0"/>
                  <a:cs typeface="Segoe UI" pitchFamily="34" charset="0"/>
                </a:rPr>
                <a:t>(Domain-local group)</a:t>
              </a:r>
            </a:p>
          </p:txBody>
        </p:sp>
        <p:grpSp>
          <p:nvGrpSpPr>
            <p:cNvPr id="7" name="Group 6"/>
            <p:cNvGrpSpPr/>
            <p:nvPr/>
          </p:nvGrpSpPr>
          <p:grpSpPr>
            <a:xfrm>
              <a:off x="3752312" y="955191"/>
              <a:ext cx="4996043" cy="2285698"/>
              <a:chOff x="3752312" y="955191"/>
              <a:chExt cx="4996043" cy="2285698"/>
            </a:xfrm>
          </p:grpSpPr>
          <p:sp>
            <p:nvSpPr>
              <p:cNvPr id="8" name="small blue oval"/>
              <p:cNvSpPr>
                <a:spLocks noChangeArrowheads="1"/>
              </p:cNvSpPr>
              <p:nvPr/>
            </p:nvSpPr>
            <p:spPr bwMode="auto">
              <a:xfrm>
                <a:off x="3752312" y="1227921"/>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9"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pic>
            <p:nvPicPr>
              <p:cNvPr id="10"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1"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sp>
            <p:nvSpPr>
              <p:cNvPr id="12" name="&quot;sales&quot;"/>
              <p:cNvSpPr txBox="1"/>
              <p:nvPr/>
            </p:nvSpPr>
            <p:spPr>
              <a:xfrm>
                <a:off x="4077744" y="2057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Sales</a:t>
                </a:r>
              </a:p>
              <a:p>
                <a:pPr algn="ctr">
                  <a:lnSpc>
                    <a:spcPct val="110000"/>
                  </a:lnSpc>
                </a:pPr>
                <a:r>
                  <a:rPr lang="en-US" b="0" dirty="0">
                    <a:latin typeface="Segoe UI" pitchFamily="34" charset="0"/>
                    <a:ea typeface="Segoe UI" pitchFamily="34" charset="0"/>
                    <a:cs typeface="Segoe UI" pitchFamily="34" charset="0"/>
                  </a:rPr>
                  <a:t>(Global group)</a:t>
                </a:r>
              </a:p>
            </p:txBody>
          </p:sp>
          <p:sp>
            <p:nvSpPr>
              <p:cNvPr id="13" name="small blue oval"/>
              <p:cNvSpPr>
                <a:spLocks noChangeArrowheads="1"/>
              </p:cNvSpPr>
              <p:nvPr/>
            </p:nvSpPr>
            <p:spPr bwMode="auto">
              <a:xfrm>
                <a:off x="6352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14"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15"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6"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sp>
            <p:nvSpPr>
              <p:cNvPr id="17" name="&quot;Auditors&quot;"/>
              <p:cNvSpPr txBox="1"/>
              <p:nvPr/>
            </p:nvSpPr>
            <p:spPr>
              <a:xfrm>
                <a:off x="6703434" y="2438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Auditors</a:t>
                </a:r>
              </a:p>
              <a:p>
                <a:pPr algn="ctr">
                  <a:lnSpc>
                    <a:spcPct val="110000"/>
                  </a:lnSpc>
                </a:pPr>
                <a:r>
                  <a:rPr lang="en-US" b="0" dirty="0">
                    <a:latin typeface="Segoe UI" pitchFamily="34" charset="0"/>
                    <a:ea typeface="Segoe UI" pitchFamily="34" charset="0"/>
                    <a:cs typeface="Segoe UI" pitchFamily="34" charset="0"/>
                  </a:rPr>
                  <a:t>(Global group)</a:t>
                </a:r>
              </a:p>
            </p:txBody>
          </p:sp>
        </p:grpSp>
      </p:grpSp>
      <p:grpSp>
        <p:nvGrpSpPr>
          <p:cNvPr id="18" name="Group 17"/>
          <p:cNvGrpSpPr/>
          <p:nvPr/>
        </p:nvGrpSpPr>
        <p:grpSpPr>
          <a:xfrm>
            <a:off x="1795534" y="3692606"/>
            <a:ext cx="3959414" cy="1354217"/>
            <a:chOff x="228600" y="3917422"/>
            <a:chExt cx="4093173" cy="1551324"/>
          </a:xfrm>
        </p:grpSpPr>
        <p:sp>
          <p:nvSpPr>
            <p:cNvPr id="19" name="TextBox 16"/>
            <p:cNvSpPr txBox="1"/>
            <p:nvPr/>
          </p:nvSpPr>
          <p:spPr>
            <a:xfrm>
              <a:off x="606140" y="3917422"/>
              <a:ext cx="3715633" cy="155132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Domain-local groups</a:t>
              </a:r>
            </a:p>
            <a:p>
              <a:r>
                <a:rPr lang="en-US" sz="2200" b="0" dirty="0">
                  <a:latin typeface="Segoe UI" pitchFamily="34" charset="0"/>
                  <a:ea typeface="Segoe UI" pitchFamily="34" charset="0"/>
                  <a:cs typeface="Segoe UI" pitchFamily="34" charset="0"/>
                </a:rPr>
                <a:t>Which provide management </a:t>
              </a:r>
            </a:p>
            <a:p>
              <a:r>
                <a:rPr lang="en-US" sz="2200" b="0" dirty="0">
                  <a:latin typeface="Segoe UI" pitchFamily="34" charset="0"/>
                  <a:ea typeface="Segoe UI" pitchFamily="34" charset="0"/>
                  <a:cs typeface="Segoe UI" pitchFamily="34" charset="0"/>
                </a:rPr>
                <a:t>such as resource access,</a:t>
              </a:r>
            </a:p>
            <a:p>
              <a:r>
                <a:rPr lang="en-US" sz="2200" b="0" dirty="0">
                  <a:latin typeface="Segoe UI" pitchFamily="34" charset="0"/>
                  <a:ea typeface="Segoe UI" pitchFamily="34" charset="0"/>
                  <a:cs typeface="Segoe UI" pitchFamily="34" charset="0"/>
                </a:rPr>
                <a:t>which are </a:t>
              </a:r>
            </a:p>
          </p:txBody>
        </p:sp>
        <p:sp>
          <p:nvSpPr>
            <p:cNvPr id="20" name="TextBox 17"/>
            <p:cNvSpPr txBox="1"/>
            <p:nvPr/>
          </p:nvSpPr>
          <p:spPr>
            <a:xfrm>
              <a:off x="228600" y="3917422"/>
              <a:ext cx="609600" cy="38783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DL</a:t>
              </a:r>
            </a:p>
          </p:txBody>
        </p:sp>
      </p:grpSp>
      <p:grpSp>
        <p:nvGrpSpPr>
          <p:cNvPr id="21" name="Group 20"/>
          <p:cNvGrpSpPr/>
          <p:nvPr/>
        </p:nvGrpSpPr>
        <p:grpSpPr>
          <a:xfrm>
            <a:off x="1817574" y="2115830"/>
            <a:ext cx="3673557" cy="1404978"/>
            <a:chOff x="228600" y="2983728"/>
            <a:chExt cx="3738873" cy="1404978"/>
          </a:xfrm>
        </p:grpSpPr>
        <p:sp>
          <p:nvSpPr>
            <p:cNvPr id="22" name="TextBox 19"/>
            <p:cNvSpPr txBox="1"/>
            <p:nvPr/>
          </p:nvSpPr>
          <p:spPr>
            <a:xfrm>
              <a:off x="534612" y="2998138"/>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Global groups</a:t>
              </a:r>
            </a:p>
            <a:p>
              <a:r>
                <a:rPr lang="en-US" sz="2200" b="0" dirty="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p>
          </p:txBody>
        </p:sp>
        <p:sp>
          <p:nvSpPr>
            <p:cNvPr id="23" name="TextBox 20"/>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p>
          </p:txBody>
        </p:sp>
      </p:grpSp>
      <p:grpSp>
        <p:nvGrpSpPr>
          <p:cNvPr id="24" name="Group 23"/>
          <p:cNvGrpSpPr/>
          <p:nvPr/>
        </p:nvGrpSpPr>
        <p:grpSpPr>
          <a:xfrm>
            <a:off x="1817575" y="950111"/>
            <a:ext cx="3271121" cy="1031444"/>
            <a:chOff x="228257" y="1277209"/>
            <a:chExt cx="2688089" cy="985187"/>
          </a:xfrm>
        </p:grpSpPr>
        <p:sp>
          <p:nvSpPr>
            <p:cNvPr id="25" name="TextBox 22"/>
            <p:cNvSpPr txBox="1"/>
            <p:nvPr/>
          </p:nvSpPr>
          <p:spPr>
            <a:xfrm>
              <a:off x="411639"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26" name="TextBox 23"/>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pic>
        <p:nvPicPr>
          <p:cNvPr id="27" name="play ic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1869" y="61894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953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757"/>
            <a:ext cx="9509760" cy="659637"/>
          </a:xfrm>
        </p:spPr>
        <p:txBody>
          <a:bodyPr/>
          <a:lstStyle/>
          <a:p>
            <a:r>
              <a:rPr lang="en-CA" b="1" dirty="0"/>
              <a:t>Implementing Group Management</a:t>
            </a:r>
          </a:p>
        </p:txBody>
      </p:sp>
      <p:grpSp>
        <p:nvGrpSpPr>
          <p:cNvPr id="4" name="alt text here, Group 33" descr="An arrow points from the domain-local group to a folder resource on a server."/>
          <p:cNvGrpSpPr/>
          <p:nvPr/>
        </p:nvGrpSpPr>
        <p:grpSpPr>
          <a:xfrm>
            <a:off x="5276313" y="955191"/>
            <a:ext cx="5120153" cy="5419968"/>
            <a:chOff x="3752312" y="955191"/>
            <a:chExt cx="5120153" cy="5419968"/>
          </a:xfrm>
        </p:grpSpPr>
        <p:grpSp>
          <p:nvGrpSpPr>
            <p:cNvPr id="5" name="Group 4"/>
            <p:cNvGrpSpPr/>
            <p:nvPr/>
          </p:nvGrpSpPr>
          <p:grpSpPr>
            <a:xfrm>
              <a:off x="3752312" y="955191"/>
              <a:ext cx="5120153" cy="3024012"/>
              <a:chOff x="3752312" y="955191"/>
              <a:chExt cx="5120153" cy="3024012"/>
            </a:xfrm>
          </p:grpSpPr>
          <p:sp>
            <p:nvSpPr>
              <p:cNvPr id="11" name="big grey oval"/>
              <p:cNvSpPr/>
              <p:nvPr/>
            </p:nvSpPr>
            <p:spPr bwMode="auto">
              <a:xfrm>
                <a:off x="3845225" y="1238326"/>
                <a:ext cx="5027240" cy="2740877"/>
              </a:xfrm>
              <a:prstGeom prst="ellipse">
                <a:avLst/>
              </a:prstGeom>
              <a:solidFill>
                <a:schemeClr val="bg2">
                  <a:lumMod val="40000"/>
                  <a:lumOff val="60000"/>
                </a:schemeClr>
              </a:solidFill>
              <a:ln w="41275">
                <a:solidFill>
                  <a:schemeClr val="bg2">
                    <a:lumMod val="40000"/>
                    <a:lumOff val="60000"/>
                  </a:schemeClr>
                </a:solidFill>
                <a:headEnd type="none" w="med" len="med"/>
                <a:tailEnd type="none" w="med" len="med"/>
              </a:ln>
              <a:effectLst/>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eaLnBrk="0" hangingPunct="0"/>
                <a:endParaRPr lang="en-US" b="0" dirty="0">
                  <a:solidFill>
                    <a:schemeClr val="tx1"/>
                  </a:solidFill>
                  <a:latin typeface="Segoe UI" pitchFamily="34" charset="0"/>
                  <a:ea typeface="Segoe UI" pitchFamily="34" charset="0"/>
                  <a:cs typeface="Segoe UI" pitchFamily="34" charset="0"/>
                </a:endParaRPr>
              </a:p>
            </p:txBody>
          </p:sp>
          <p:sp>
            <p:nvSpPr>
              <p:cNvPr id="12" name="&quot;ACL Sales Read&quot;"/>
              <p:cNvSpPr txBox="1"/>
              <p:nvPr/>
            </p:nvSpPr>
            <p:spPr>
              <a:xfrm>
                <a:off x="4764398" y="3363650"/>
                <a:ext cx="3175385" cy="615553"/>
              </a:xfrm>
              <a:prstGeom prst="rect">
                <a:avLst/>
              </a:prstGeom>
              <a:noFill/>
            </p:spPr>
            <p:txBody>
              <a:bodyPr wrap="square" t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b="0" dirty="0">
                    <a:latin typeface="Segoe UI" pitchFamily="34" charset="0"/>
                    <a:ea typeface="Segoe UI" pitchFamily="34" charset="0"/>
                    <a:cs typeface="Segoe UI" pitchFamily="34" charset="0"/>
                  </a:rPr>
                  <a:t>ACL_Sales_Read</a:t>
                </a:r>
                <a:br>
                  <a:rPr lang="en-US" sz="2000" b="0" dirty="0">
                    <a:latin typeface="Segoe UI" pitchFamily="34" charset="0"/>
                    <a:ea typeface="Segoe UI" pitchFamily="34" charset="0"/>
                    <a:cs typeface="Segoe UI" pitchFamily="34" charset="0"/>
                  </a:rPr>
                </a:br>
                <a:r>
                  <a:rPr lang="en-US" sz="2000" b="0" dirty="0">
                    <a:latin typeface="Segoe UI" pitchFamily="34" charset="0"/>
                    <a:ea typeface="Segoe UI" pitchFamily="34" charset="0"/>
                    <a:cs typeface="Segoe UI" pitchFamily="34" charset="0"/>
                  </a:rPr>
                  <a:t>(Domain-local group)</a:t>
                </a:r>
              </a:p>
            </p:txBody>
          </p:sp>
          <p:grpSp>
            <p:nvGrpSpPr>
              <p:cNvPr id="13" name="Group 12"/>
              <p:cNvGrpSpPr/>
              <p:nvPr/>
            </p:nvGrpSpPr>
            <p:grpSpPr>
              <a:xfrm>
                <a:off x="3752312" y="955191"/>
                <a:ext cx="4996043" cy="2285698"/>
                <a:chOff x="3752312" y="955191"/>
                <a:chExt cx="4996043" cy="2285698"/>
              </a:xfrm>
            </p:grpSpPr>
            <p:sp>
              <p:nvSpPr>
                <p:cNvPr id="14" name="small blue oval"/>
                <p:cNvSpPr>
                  <a:spLocks noChangeArrowheads="1"/>
                </p:cNvSpPr>
                <p:nvPr/>
              </p:nvSpPr>
              <p:spPr bwMode="auto">
                <a:xfrm>
                  <a:off x="3752312" y="1227921"/>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15"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pic>
              <p:nvPicPr>
                <p:cNvPr id="16"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7"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sp>
              <p:nvSpPr>
                <p:cNvPr id="18" name="&quot;sales&quot;"/>
                <p:cNvSpPr txBox="1"/>
                <p:nvPr/>
              </p:nvSpPr>
              <p:spPr>
                <a:xfrm>
                  <a:off x="4077744" y="2057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Sales</a:t>
                  </a:r>
                </a:p>
                <a:p>
                  <a:pPr algn="ctr">
                    <a:lnSpc>
                      <a:spcPct val="110000"/>
                    </a:lnSpc>
                  </a:pPr>
                  <a:r>
                    <a:rPr lang="en-US" b="0" dirty="0">
                      <a:latin typeface="Segoe UI" pitchFamily="34" charset="0"/>
                      <a:ea typeface="Segoe UI" pitchFamily="34" charset="0"/>
                      <a:cs typeface="Segoe UI" pitchFamily="34" charset="0"/>
                    </a:rPr>
                    <a:t>(Global group)</a:t>
                  </a:r>
                </a:p>
              </p:txBody>
            </p:sp>
            <p:sp>
              <p:nvSpPr>
                <p:cNvPr id="19" name="small blue oval"/>
                <p:cNvSpPr>
                  <a:spLocks noChangeArrowheads="1"/>
                </p:cNvSpPr>
                <p:nvPr/>
              </p:nvSpPr>
              <p:spPr bwMode="auto">
                <a:xfrm>
                  <a:off x="6352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20"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21"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22"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sp>
              <p:nvSpPr>
                <p:cNvPr id="23" name="&quot;Auditors&quot;"/>
                <p:cNvSpPr txBox="1"/>
                <p:nvPr/>
              </p:nvSpPr>
              <p:spPr>
                <a:xfrm>
                  <a:off x="6703434" y="2438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Auditors</a:t>
                  </a:r>
                </a:p>
                <a:p>
                  <a:pPr algn="ctr">
                    <a:lnSpc>
                      <a:spcPct val="110000"/>
                    </a:lnSpc>
                  </a:pPr>
                  <a:r>
                    <a:rPr lang="en-US" b="0" dirty="0">
                      <a:latin typeface="Segoe UI" pitchFamily="34" charset="0"/>
                      <a:ea typeface="Segoe UI" pitchFamily="34" charset="0"/>
                      <a:cs typeface="Segoe UI" pitchFamily="34" charset="0"/>
                    </a:rPr>
                    <a:t>(Global group)</a:t>
                  </a:r>
                </a:p>
              </p:txBody>
            </p:sp>
          </p:grpSp>
        </p:grpSp>
        <p:grpSp>
          <p:nvGrpSpPr>
            <p:cNvPr id="6" name="server, folder, lock"/>
            <p:cNvGrpSpPr/>
            <p:nvPr/>
          </p:nvGrpSpPr>
          <p:grpSpPr>
            <a:xfrm>
              <a:off x="5740152" y="4275739"/>
              <a:ext cx="1437896" cy="2099420"/>
              <a:chOff x="5740152" y="4275739"/>
              <a:chExt cx="1437896" cy="2099420"/>
            </a:xfrm>
          </p:grpSpPr>
          <p:sp>
            <p:nvSpPr>
              <p:cNvPr id="7" name="Down Arrow 6"/>
              <p:cNvSpPr/>
              <p:nvPr/>
            </p:nvSpPr>
            <p:spPr bwMode="auto">
              <a:xfrm>
                <a:off x="6034711" y="4275739"/>
                <a:ext cx="821680" cy="544994"/>
              </a:xfrm>
              <a:prstGeom prst="downArrow">
                <a:avLst/>
              </a:prstGeom>
              <a:solidFill>
                <a:schemeClr val="accent2">
                  <a:lumMod val="60000"/>
                  <a:lumOff val="40000"/>
                </a:schemeClr>
              </a:solidFill>
              <a:ln>
                <a:solidFill>
                  <a:schemeClr val="accent6">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eaLnBrk="0" hangingPunct="0"/>
                <a:endParaRPr lang="en-US" b="0" dirty="0">
                  <a:solidFill>
                    <a:schemeClr val="tx1"/>
                  </a:solidFill>
                  <a:latin typeface="Segoe UI" pitchFamily="34" charset="0"/>
                  <a:ea typeface="Segoe UI" pitchFamily="34" charset="0"/>
                  <a:cs typeface="Segoe UI" pitchFamily="34" charset="0"/>
                </a:endParaRPr>
              </a:p>
            </p:txBody>
          </p:sp>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40152" y="5058033"/>
                <a:ext cx="618693" cy="1097189"/>
              </a:xfrm>
              <a:prstGeom prst="rect">
                <a:avLst/>
              </a:prstGeom>
            </p:spPr>
          </p:pic>
          <p:pic>
            <p:nvPicPr>
              <p:cNvPr id="9" name="Picture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96511" y="4906490"/>
                <a:ext cx="681537" cy="915579"/>
              </a:xfrm>
              <a:prstGeom prst="rect">
                <a:avLst/>
              </a:prstGeom>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39133" y="5499287"/>
                <a:ext cx="650187" cy="875872"/>
              </a:xfrm>
              <a:prstGeom prst="rect">
                <a:avLst/>
              </a:prstGeom>
            </p:spPr>
          </p:pic>
        </p:grpSp>
      </p:grpSp>
      <p:grpSp>
        <p:nvGrpSpPr>
          <p:cNvPr id="24" name="Group 23"/>
          <p:cNvGrpSpPr/>
          <p:nvPr/>
        </p:nvGrpSpPr>
        <p:grpSpPr>
          <a:xfrm>
            <a:off x="1660285" y="3692606"/>
            <a:ext cx="4102899" cy="1354217"/>
            <a:chOff x="228600" y="3917422"/>
            <a:chExt cx="4102899" cy="1551324"/>
          </a:xfrm>
        </p:grpSpPr>
        <p:sp>
          <p:nvSpPr>
            <p:cNvPr id="25" name="TextBox 20"/>
            <p:cNvSpPr txBox="1"/>
            <p:nvPr/>
          </p:nvSpPr>
          <p:spPr>
            <a:xfrm>
              <a:off x="615866" y="3917422"/>
              <a:ext cx="3715633" cy="155132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Domain-local groups</a:t>
              </a:r>
            </a:p>
            <a:p>
              <a:r>
                <a:rPr lang="en-US" sz="2200" b="0" dirty="0">
                  <a:latin typeface="Segoe UI" pitchFamily="34" charset="0"/>
                  <a:ea typeface="Segoe UI" pitchFamily="34" charset="0"/>
                  <a:cs typeface="Segoe UI" pitchFamily="34" charset="0"/>
                </a:rPr>
                <a:t>Which provide management </a:t>
              </a:r>
            </a:p>
            <a:p>
              <a:r>
                <a:rPr lang="en-US" sz="2200" b="0" dirty="0">
                  <a:latin typeface="Segoe UI" pitchFamily="34" charset="0"/>
                  <a:ea typeface="Segoe UI" pitchFamily="34" charset="0"/>
                  <a:cs typeface="Segoe UI" pitchFamily="34" charset="0"/>
                </a:rPr>
                <a:t>such as resource access,</a:t>
              </a:r>
            </a:p>
            <a:p>
              <a:r>
                <a:rPr lang="en-US" sz="2200" b="0" dirty="0">
                  <a:latin typeface="Segoe UI" pitchFamily="34" charset="0"/>
                  <a:ea typeface="Segoe UI" pitchFamily="34" charset="0"/>
                  <a:cs typeface="Segoe UI" pitchFamily="34" charset="0"/>
                </a:rPr>
                <a:t>which are </a:t>
              </a:r>
            </a:p>
          </p:txBody>
        </p:sp>
        <p:sp>
          <p:nvSpPr>
            <p:cNvPr id="26" name="TextBox 21"/>
            <p:cNvSpPr txBox="1"/>
            <p:nvPr/>
          </p:nvSpPr>
          <p:spPr>
            <a:xfrm>
              <a:off x="228600" y="3917422"/>
              <a:ext cx="609600" cy="38783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DL</a:t>
              </a:r>
            </a:p>
          </p:txBody>
        </p:sp>
      </p:grpSp>
      <p:grpSp>
        <p:nvGrpSpPr>
          <p:cNvPr id="27" name="Group 26"/>
          <p:cNvGrpSpPr/>
          <p:nvPr/>
        </p:nvGrpSpPr>
        <p:grpSpPr>
          <a:xfrm>
            <a:off x="1752258" y="2083173"/>
            <a:ext cx="3722095" cy="1421307"/>
            <a:chOff x="228600" y="2983728"/>
            <a:chExt cx="3722095" cy="1421307"/>
          </a:xfrm>
        </p:grpSpPr>
        <p:sp>
          <p:nvSpPr>
            <p:cNvPr id="28" name="TextBox 23"/>
            <p:cNvSpPr txBox="1"/>
            <p:nvPr/>
          </p:nvSpPr>
          <p:spPr>
            <a:xfrm>
              <a:off x="517834" y="3014467"/>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Global groups</a:t>
              </a:r>
            </a:p>
            <a:p>
              <a:r>
                <a:rPr lang="en-US" sz="2200" b="0" dirty="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p>
          </p:txBody>
        </p:sp>
        <p:sp>
          <p:nvSpPr>
            <p:cNvPr id="29" name="TextBox 24"/>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p>
          </p:txBody>
        </p:sp>
      </p:grpSp>
      <p:grpSp>
        <p:nvGrpSpPr>
          <p:cNvPr id="30" name="Group 29"/>
          <p:cNvGrpSpPr/>
          <p:nvPr/>
        </p:nvGrpSpPr>
        <p:grpSpPr>
          <a:xfrm>
            <a:off x="1818758" y="950111"/>
            <a:ext cx="3269639" cy="1031444"/>
            <a:chOff x="228257" y="1277209"/>
            <a:chExt cx="2686872" cy="985187"/>
          </a:xfrm>
        </p:grpSpPr>
        <p:sp>
          <p:nvSpPr>
            <p:cNvPr id="31" name="TextBox 26"/>
            <p:cNvSpPr txBox="1"/>
            <p:nvPr/>
          </p:nvSpPr>
          <p:spPr>
            <a:xfrm>
              <a:off x="410422"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32" name="TextBox 27"/>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grpSp>
        <p:nvGrpSpPr>
          <p:cNvPr id="33" name="Assigned access to a resource"/>
          <p:cNvGrpSpPr/>
          <p:nvPr/>
        </p:nvGrpSpPr>
        <p:grpSpPr>
          <a:xfrm>
            <a:off x="1745995" y="5127697"/>
            <a:ext cx="4338001" cy="338554"/>
            <a:chOff x="222337" y="5889697"/>
            <a:chExt cx="4338001" cy="338554"/>
          </a:xfrm>
        </p:grpSpPr>
        <p:sp>
          <p:nvSpPr>
            <p:cNvPr id="34" name="TextBox 29"/>
            <p:cNvSpPr txBox="1"/>
            <p:nvPr/>
          </p:nvSpPr>
          <p:spPr>
            <a:xfrm>
              <a:off x="505463" y="5889697"/>
              <a:ext cx="4054875"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Assigned access to a resource</a:t>
              </a:r>
            </a:p>
          </p:txBody>
        </p:sp>
        <p:sp>
          <p:nvSpPr>
            <p:cNvPr id="35" name="TextBox 30"/>
            <p:cNvSpPr txBox="1"/>
            <p:nvPr/>
          </p:nvSpPr>
          <p:spPr>
            <a:xfrm>
              <a:off x="222337" y="5889697"/>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a:t>
              </a:r>
            </a:p>
          </p:txBody>
        </p:sp>
      </p:grpSp>
      <p:pic>
        <p:nvPicPr>
          <p:cNvPr id="36" name="play ico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81869" y="61894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586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369" y="-6371"/>
            <a:ext cx="7687261" cy="639657"/>
          </a:xfrm>
        </p:spPr>
        <p:txBody>
          <a:bodyPr/>
          <a:lstStyle/>
          <a:p>
            <a:r>
              <a:rPr lang="en-CA" b="1" dirty="0"/>
              <a:t>Implementing Group Management</a:t>
            </a:r>
          </a:p>
        </p:txBody>
      </p:sp>
      <p:grpSp>
        <p:nvGrpSpPr>
          <p:cNvPr id="4" name="alt text here,  Group 34" descr="The completed illustration is a visual representation of the IGDLA process."/>
          <p:cNvGrpSpPr/>
          <p:nvPr/>
        </p:nvGrpSpPr>
        <p:grpSpPr>
          <a:xfrm>
            <a:off x="5276313" y="955191"/>
            <a:ext cx="5120153" cy="5419968"/>
            <a:chOff x="3752312" y="955191"/>
            <a:chExt cx="5120153" cy="5419968"/>
          </a:xfrm>
        </p:grpSpPr>
        <p:grpSp>
          <p:nvGrpSpPr>
            <p:cNvPr id="5" name="Group 4"/>
            <p:cNvGrpSpPr/>
            <p:nvPr/>
          </p:nvGrpSpPr>
          <p:grpSpPr>
            <a:xfrm>
              <a:off x="3752312" y="955191"/>
              <a:ext cx="5120153" cy="3024012"/>
              <a:chOff x="3752312" y="955191"/>
              <a:chExt cx="5120153" cy="3024012"/>
            </a:xfrm>
          </p:grpSpPr>
          <p:sp>
            <p:nvSpPr>
              <p:cNvPr id="11" name="big grey oval"/>
              <p:cNvSpPr/>
              <p:nvPr/>
            </p:nvSpPr>
            <p:spPr bwMode="auto">
              <a:xfrm>
                <a:off x="3845225" y="1238326"/>
                <a:ext cx="5027240" cy="2740877"/>
              </a:xfrm>
              <a:prstGeom prst="ellipse">
                <a:avLst/>
              </a:prstGeom>
              <a:solidFill>
                <a:schemeClr val="bg2">
                  <a:lumMod val="40000"/>
                  <a:lumOff val="60000"/>
                </a:schemeClr>
              </a:solidFill>
              <a:ln w="41275">
                <a:solidFill>
                  <a:schemeClr val="bg2">
                    <a:lumMod val="40000"/>
                    <a:lumOff val="60000"/>
                  </a:schemeClr>
                </a:solidFill>
                <a:headEnd type="none" w="med" len="med"/>
                <a:tailEnd type="none" w="med" len="med"/>
              </a:ln>
              <a:effectLst/>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eaLnBrk="0" hangingPunct="0"/>
                <a:endParaRPr lang="en-US" b="0" dirty="0">
                  <a:solidFill>
                    <a:schemeClr val="tx1"/>
                  </a:solidFill>
                  <a:latin typeface="Segoe UI" pitchFamily="34" charset="0"/>
                  <a:ea typeface="Segoe UI" pitchFamily="34" charset="0"/>
                  <a:cs typeface="Segoe UI" pitchFamily="34" charset="0"/>
                </a:endParaRPr>
              </a:p>
            </p:txBody>
          </p:sp>
          <p:sp>
            <p:nvSpPr>
              <p:cNvPr id="12" name="&quot;ACL Sales Read&quot;"/>
              <p:cNvSpPr txBox="1"/>
              <p:nvPr/>
            </p:nvSpPr>
            <p:spPr>
              <a:xfrm>
                <a:off x="4764398" y="3363650"/>
                <a:ext cx="3175385" cy="615553"/>
              </a:xfrm>
              <a:prstGeom prst="rect">
                <a:avLst/>
              </a:prstGeom>
              <a:noFill/>
            </p:spPr>
            <p:txBody>
              <a:bodyPr wrap="square" t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b="0" dirty="0">
                    <a:latin typeface="Segoe UI" pitchFamily="34" charset="0"/>
                    <a:ea typeface="Segoe UI" pitchFamily="34" charset="0"/>
                    <a:cs typeface="Segoe UI" pitchFamily="34" charset="0"/>
                  </a:rPr>
                  <a:t>ACL_Sales_Read</a:t>
                </a:r>
                <a:br>
                  <a:rPr lang="en-US" sz="2000" b="0" dirty="0">
                    <a:latin typeface="Segoe UI" pitchFamily="34" charset="0"/>
                    <a:ea typeface="Segoe UI" pitchFamily="34" charset="0"/>
                    <a:cs typeface="Segoe UI" pitchFamily="34" charset="0"/>
                  </a:rPr>
                </a:br>
                <a:r>
                  <a:rPr lang="en-US" sz="2000" b="0" dirty="0">
                    <a:latin typeface="Segoe UI" pitchFamily="34" charset="0"/>
                    <a:ea typeface="Segoe UI" pitchFamily="34" charset="0"/>
                    <a:cs typeface="Segoe UI" pitchFamily="34" charset="0"/>
                  </a:rPr>
                  <a:t>(Domain-local group)</a:t>
                </a:r>
              </a:p>
            </p:txBody>
          </p:sp>
          <p:grpSp>
            <p:nvGrpSpPr>
              <p:cNvPr id="13" name="Group 12"/>
              <p:cNvGrpSpPr/>
              <p:nvPr/>
            </p:nvGrpSpPr>
            <p:grpSpPr>
              <a:xfrm>
                <a:off x="3752312" y="955191"/>
                <a:ext cx="4996043" cy="2285698"/>
                <a:chOff x="3752312" y="955191"/>
                <a:chExt cx="4996043" cy="2285698"/>
              </a:xfrm>
            </p:grpSpPr>
            <p:sp>
              <p:nvSpPr>
                <p:cNvPr id="14" name="small blue oval"/>
                <p:cNvSpPr>
                  <a:spLocks noChangeArrowheads="1"/>
                </p:cNvSpPr>
                <p:nvPr/>
              </p:nvSpPr>
              <p:spPr bwMode="auto">
                <a:xfrm>
                  <a:off x="3752312" y="1227921"/>
                  <a:ext cx="2396264" cy="1662809"/>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15"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6271" y="1162758"/>
                  <a:ext cx="607329" cy="607329"/>
                </a:xfrm>
                <a:prstGeom prst="rect">
                  <a:avLst/>
                </a:prstGeom>
              </p:spPr>
            </p:pic>
            <p:pic>
              <p:nvPicPr>
                <p:cNvPr id="16"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4412" y="955191"/>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17" name="work stati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25854" y="1227921"/>
                  <a:ext cx="626505" cy="707281"/>
                </a:xfrm>
                <a:prstGeom prst="rect">
                  <a:avLst/>
                </a:prstGeom>
              </p:spPr>
            </p:pic>
            <p:sp>
              <p:nvSpPr>
                <p:cNvPr id="18" name="&quot;sales&quot;"/>
                <p:cNvSpPr txBox="1"/>
                <p:nvPr/>
              </p:nvSpPr>
              <p:spPr>
                <a:xfrm>
                  <a:off x="4077744" y="2057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Sales</a:t>
                  </a:r>
                </a:p>
                <a:p>
                  <a:pPr algn="ctr">
                    <a:lnSpc>
                      <a:spcPct val="110000"/>
                    </a:lnSpc>
                  </a:pPr>
                  <a:r>
                    <a:rPr lang="en-US" b="0" dirty="0">
                      <a:latin typeface="Segoe UI" pitchFamily="34" charset="0"/>
                      <a:ea typeface="Segoe UI" pitchFamily="34" charset="0"/>
                      <a:cs typeface="Segoe UI" pitchFamily="34" charset="0"/>
                    </a:rPr>
                    <a:t>(Global group)</a:t>
                  </a:r>
                </a:p>
              </p:txBody>
            </p:sp>
            <p:sp>
              <p:nvSpPr>
                <p:cNvPr id="19" name="small blue oval"/>
                <p:cNvSpPr>
                  <a:spLocks noChangeArrowheads="1"/>
                </p:cNvSpPr>
                <p:nvPr/>
              </p:nvSpPr>
              <p:spPr bwMode="auto">
                <a:xfrm>
                  <a:off x="6352091" y="1624307"/>
                  <a:ext cx="2396264" cy="1616582"/>
                </a:xfrm>
                <a:prstGeom prst="ellipse">
                  <a:avLst/>
                </a:prstGeom>
                <a:solidFill>
                  <a:schemeClr val="accent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endParaRPr lang="en-CA" sz="1600" b="0" kern="0" dirty="0">
                    <a:solidFill>
                      <a:srgbClr val="000000"/>
                    </a:solidFill>
                    <a:latin typeface="Segoe UI" pitchFamily="34" charset="0"/>
                    <a:ea typeface="Segoe UI" pitchFamily="34" charset="0"/>
                    <a:cs typeface="Segoe UI" pitchFamily="34" charset="0"/>
                  </a:endParaRPr>
                </a:p>
              </p:txBody>
            </p:sp>
            <p:pic>
              <p:nvPicPr>
                <p:cNvPr id="20" name="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9594" y="1579167"/>
                  <a:ext cx="607329" cy="607329"/>
                </a:xfrm>
                <a:prstGeom prst="rect">
                  <a:avLst/>
                </a:prstGeom>
              </p:spPr>
            </p:pic>
            <p:pic>
              <p:nvPicPr>
                <p:cNvPr id="21" name="Users"/>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187735" y="1371600"/>
                  <a:ext cx="850171" cy="1127981"/>
                </a:xfrm>
                <a:prstGeom prst="rect">
                  <a:avLst/>
                </a:prstGeom>
                <a:noFill/>
                <a:extLst>
                  <a:ext uri="{909E8E84-426E-40DD-AFC4-6F175D3DCCD1}">
                    <a14:hiddenFill xmlns:a14="http://schemas.microsoft.com/office/drawing/2010/main">
                      <a:solidFill>
                        <a:srgbClr val="FFFFFF"/>
                      </a:solidFill>
                    </a14:hiddenFill>
                  </a:ext>
                </a:extLst>
              </p:spPr>
            </p:pic>
            <p:pic>
              <p:nvPicPr>
                <p:cNvPr id="22" name="work stati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68548" y="1762400"/>
                  <a:ext cx="499580" cy="563991"/>
                </a:xfrm>
                <a:prstGeom prst="rect">
                  <a:avLst/>
                </a:prstGeom>
              </p:spPr>
            </p:pic>
            <p:sp>
              <p:nvSpPr>
                <p:cNvPr id="23" name="&quot;Auditors&quot;"/>
                <p:cNvSpPr txBox="1"/>
                <p:nvPr/>
              </p:nvSpPr>
              <p:spPr>
                <a:xfrm>
                  <a:off x="6703434" y="2438400"/>
                  <a:ext cx="1792825" cy="701731"/>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110000"/>
                    </a:lnSpc>
                  </a:pPr>
                  <a:r>
                    <a:rPr lang="en-US" b="0" dirty="0">
                      <a:latin typeface="Segoe UI" pitchFamily="34" charset="0"/>
                      <a:ea typeface="Segoe UI" pitchFamily="34" charset="0"/>
                      <a:cs typeface="Segoe UI" pitchFamily="34" charset="0"/>
                    </a:rPr>
                    <a:t>Auditors</a:t>
                  </a:r>
                </a:p>
                <a:p>
                  <a:pPr algn="ctr">
                    <a:lnSpc>
                      <a:spcPct val="110000"/>
                    </a:lnSpc>
                  </a:pPr>
                  <a:r>
                    <a:rPr lang="en-US" b="0" dirty="0">
                      <a:latin typeface="Segoe UI" pitchFamily="34" charset="0"/>
                      <a:ea typeface="Segoe UI" pitchFamily="34" charset="0"/>
                      <a:cs typeface="Segoe UI" pitchFamily="34" charset="0"/>
                    </a:rPr>
                    <a:t>(Global group)</a:t>
                  </a:r>
                </a:p>
              </p:txBody>
            </p:sp>
          </p:grpSp>
        </p:grpSp>
        <p:grpSp>
          <p:nvGrpSpPr>
            <p:cNvPr id="6" name="server, folder, lock"/>
            <p:cNvGrpSpPr/>
            <p:nvPr/>
          </p:nvGrpSpPr>
          <p:grpSpPr>
            <a:xfrm>
              <a:off x="5740152" y="4275739"/>
              <a:ext cx="1437896" cy="2099420"/>
              <a:chOff x="5740152" y="4275739"/>
              <a:chExt cx="1437896" cy="2099420"/>
            </a:xfrm>
          </p:grpSpPr>
          <p:sp>
            <p:nvSpPr>
              <p:cNvPr id="7" name="Down Arrow 6" descr="&#10;"/>
              <p:cNvSpPr/>
              <p:nvPr/>
            </p:nvSpPr>
            <p:spPr bwMode="auto">
              <a:xfrm>
                <a:off x="6034711" y="4275739"/>
                <a:ext cx="821680" cy="544994"/>
              </a:xfrm>
              <a:prstGeom prst="downArrow">
                <a:avLst/>
              </a:prstGeom>
              <a:solidFill>
                <a:schemeClr val="accent2">
                  <a:lumMod val="60000"/>
                  <a:lumOff val="40000"/>
                </a:schemeClr>
              </a:solidFill>
              <a:ln>
                <a:solidFill>
                  <a:schemeClr val="accent6">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eaLnBrk="0" hangingPunct="0"/>
                <a:endParaRPr lang="en-US" b="0" dirty="0">
                  <a:solidFill>
                    <a:schemeClr val="tx1"/>
                  </a:solidFill>
                  <a:latin typeface="Segoe UI" pitchFamily="34" charset="0"/>
                  <a:ea typeface="Segoe UI" pitchFamily="34" charset="0"/>
                  <a:cs typeface="Segoe UI" pitchFamily="34" charset="0"/>
                </a:endParaRPr>
              </a:p>
            </p:txBody>
          </p:sp>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40152" y="5058033"/>
                <a:ext cx="618693" cy="1097189"/>
              </a:xfrm>
              <a:prstGeom prst="rect">
                <a:avLst/>
              </a:prstGeom>
            </p:spPr>
          </p:pic>
          <p:pic>
            <p:nvPicPr>
              <p:cNvPr id="9" name="Picture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96511" y="4906490"/>
                <a:ext cx="681537" cy="915579"/>
              </a:xfrm>
              <a:prstGeom prst="rect">
                <a:avLst/>
              </a:prstGeom>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39133" y="5499287"/>
                <a:ext cx="650187" cy="875872"/>
              </a:xfrm>
              <a:prstGeom prst="rect">
                <a:avLst/>
              </a:prstGeom>
            </p:spPr>
          </p:pic>
        </p:grpSp>
      </p:grpSp>
      <p:grpSp>
        <p:nvGrpSpPr>
          <p:cNvPr id="24" name="Group 23"/>
          <p:cNvGrpSpPr/>
          <p:nvPr/>
        </p:nvGrpSpPr>
        <p:grpSpPr>
          <a:xfrm>
            <a:off x="1643937" y="3692606"/>
            <a:ext cx="4110113" cy="1354217"/>
            <a:chOff x="228600" y="3917422"/>
            <a:chExt cx="4110113" cy="1551324"/>
          </a:xfrm>
        </p:grpSpPr>
        <p:sp>
          <p:nvSpPr>
            <p:cNvPr id="25" name="TextBox 58"/>
            <p:cNvSpPr txBox="1"/>
            <p:nvPr/>
          </p:nvSpPr>
          <p:spPr>
            <a:xfrm>
              <a:off x="623080" y="3917422"/>
              <a:ext cx="3715633" cy="155132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Domain-local groups</a:t>
              </a:r>
            </a:p>
            <a:p>
              <a:r>
                <a:rPr lang="en-US" sz="2200" b="0" dirty="0">
                  <a:latin typeface="Segoe UI" pitchFamily="34" charset="0"/>
                  <a:ea typeface="Segoe UI" pitchFamily="34" charset="0"/>
                  <a:cs typeface="Segoe UI" pitchFamily="34" charset="0"/>
                </a:rPr>
                <a:t>Which provide management </a:t>
              </a:r>
            </a:p>
            <a:p>
              <a:r>
                <a:rPr lang="en-US" sz="2200" b="0" dirty="0">
                  <a:latin typeface="Segoe UI" pitchFamily="34" charset="0"/>
                  <a:ea typeface="Segoe UI" pitchFamily="34" charset="0"/>
                  <a:cs typeface="Segoe UI" pitchFamily="34" charset="0"/>
                </a:rPr>
                <a:t>such as resource access,</a:t>
              </a:r>
            </a:p>
            <a:p>
              <a:r>
                <a:rPr lang="en-US" sz="2200" b="0" dirty="0">
                  <a:latin typeface="Segoe UI" pitchFamily="34" charset="0"/>
                  <a:ea typeface="Segoe UI" pitchFamily="34" charset="0"/>
                  <a:cs typeface="Segoe UI" pitchFamily="34" charset="0"/>
                </a:rPr>
                <a:t>which are </a:t>
              </a:r>
            </a:p>
          </p:txBody>
        </p:sp>
        <p:sp>
          <p:nvSpPr>
            <p:cNvPr id="26" name="TextBox 59"/>
            <p:cNvSpPr txBox="1"/>
            <p:nvPr/>
          </p:nvSpPr>
          <p:spPr>
            <a:xfrm>
              <a:off x="228600" y="3917422"/>
              <a:ext cx="609600" cy="38783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DL</a:t>
              </a:r>
            </a:p>
          </p:txBody>
        </p:sp>
      </p:grpSp>
      <p:grpSp>
        <p:nvGrpSpPr>
          <p:cNvPr id="27" name="Group 26"/>
          <p:cNvGrpSpPr/>
          <p:nvPr/>
        </p:nvGrpSpPr>
        <p:grpSpPr>
          <a:xfrm>
            <a:off x="1752257" y="2083173"/>
            <a:ext cx="3713706" cy="1421307"/>
            <a:chOff x="228600" y="2983728"/>
            <a:chExt cx="3713706" cy="1421307"/>
          </a:xfrm>
        </p:grpSpPr>
        <p:sp>
          <p:nvSpPr>
            <p:cNvPr id="28" name="TextBox 61"/>
            <p:cNvSpPr txBox="1"/>
            <p:nvPr/>
          </p:nvSpPr>
          <p:spPr>
            <a:xfrm>
              <a:off x="509445" y="3014467"/>
              <a:ext cx="3432861" cy="139056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Global groups</a:t>
              </a:r>
            </a:p>
            <a:p>
              <a:r>
                <a:rPr lang="en-US" sz="2200" b="0" dirty="0">
                  <a:latin typeface="Segoe UI" pitchFamily="34" charset="0"/>
                  <a:ea typeface="Segoe UI" pitchFamily="34" charset="0"/>
                  <a:cs typeface="Segoe UI" pitchFamily="34" charset="0"/>
                </a:rPr>
                <a:t>Which collect members based on members’ roles,</a:t>
              </a:r>
            </a:p>
            <a:p>
              <a:r>
                <a:rPr lang="en-US" sz="2200" b="0" dirty="0">
                  <a:latin typeface="Segoe UI" pitchFamily="34" charset="0"/>
                  <a:ea typeface="Segoe UI" pitchFamily="34" charset="0"/>
                  <a:cs typeface="Segoe UI" pitchFamily="34" charset="0"/>
                </a:rPr>
                <a:t>which are members of</a:t>
              </a:r>
            </a:p>
          </p:txBody>
        </p:sp>
        <p:sp>
          <p:nvSpPr>
            <p:cNvPr id="29" name="TextBox 62"/>
            <p:cNvSpPr txBox="1"/>
            <p:nvPr/>
          </p:nvSpPr>
          <p:spPr>
            <a:xfrm>
              <a:off x="228600" y="2983728"/>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G</a:t>
              </a:r>
            </a:p>
          </p:txBody>
        </p:sp>
      </p:grpSp>
      <p:grpSp>
        <p:nvGrpSpPr>
          <p:cNvPr id="30" name="Group 29"/>
          <p:cNvGrpSpPr/>
          <p:nvPr/>
        </p:nvGrpSpPr>
        <p:grpSpPr>
          <a:xfrm>
            <a:off x="1819370" y="950111"/>
            <a:ext cx="3285653" cy="1031444"/>
            <a:chOff x="228257" y="1277209"/>
            <a:chExt cx="2700031" cy="985187"/>
          </a:xfrm>
        </p:grpSpPr>
        <p:sp>
          <p:nvSpPr>
            <p:cNvPr id="31" name="TextBox 64"/>
            <p:cNvSpPr txBox="1"/>
            <p:nvPr/>
          </p:nvSpPr>
          <p:spPr>
            <a:xfrm>
              <a:off x="423581" y="1292282"/>
              <a:ext cx="2504707" cy="97011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Identities</a:t>
              </a:r>
            </a:p>
            <a:p>
              <a:r>
                <a:rPr lang="en-US" sz="2200" b="0" dirty="0">
                  <a:latin typeface="Segoe UI" pitchFamily="34" charset="0"/>
                  <a:ea typeface="Segoe UI" pitchFamily="34" charset="0"/>
                  <a:cs typeface="Segoe UI" pitchFamily="34" charset="0"/>
                </a:rPr>
                <a:t>Users or computers,</a:t>
              </a:r>
            </a:p>
            <a:p>
              <a:r>
                <a:rPr lang="en-US" sz="2200" b="0" dirty="0">
                  <a:latin typeface="Segoe UI" pitchFamily="34" charset="0"/>
                  <a:ea typeface="Segoe UI" pitchFamily="34" charset="0"/>
                  <a:cs typeface="Segoe UI" pitchFamily="34" charset="0"/>
                </a:rPr>
                <a:t>which are members of</a:t>
              </a:r>
            </a:p>
          </p:txBody>
        </p:sp>
        <p:sp>
          <p:nvSpPr>
            <p:cNvPr id="32" name="TextBox 65"/>
            <p:cNvSpPr txBox="1"/>
            <p:nvPr/>
          </p:nvSpPr>
          <p:spPr>
            <a:xfrm>
              <a:off x="228257" y="1277209"/>
              <a:ext cx="599454" cy="323371"/>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I</a:t>
              </a:r>
            </a:p>
          </p:txBody>
        </p:sp>
      </p:grpSp>
      <p:grpSp>
        <p:nvGrpSpPr>
          <p:cNvPr id="33" name="Assigned access to a resource"/>
          <p:cNvGrpSpPr/>
          <p:nvPr/>
        </p:nvGrpSpPr>
        <p:grpSpPr>
          <a:xfrm>
            <a:off x="1745995" y="5127697"/>
            <a:ext cx="4371251" cy="338554"/>
            <a:chOff x="222337" y="5889697"/>
            <a:chExt cx="4371251" cy="338554"/>
          </a:xfrm>
        </p:grpSpPr>
        <p:sp>
          <p:nvSpPr>
            <p:cNvPr id="34" name="TextBox 67"/>
            <p:cNvSpPr txBox="1"/>
            <p:nvPr/>
          </p:nvSpPr>
          <p:spPr>
            <a:xfrm>
              <a:off x="538713" y="5889697"/>
              <a:ext cx="4054875"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Assigned access to a resource</a:t>
              </a:r>
            </a:p>
          </p:txBody>
        </p:sp>
        <p:sp>
          <p:nvSpPr>
            <p:cNvPr id="35" name="TextBox 68"/>
            <p:cNvSpPr txBox="1"/>
            <p:nvPr/>
          </p:nvSpPr>
          <p:spPr>
            <a:xfrm>
              <a:off x="222337" y="5889697"/>
              <a:ext cx="609600" cy="338554"/>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A</a:t>
              </a:r>
            </a:p>
          </p:txBody>
        </p:sp>
      </p:grpSp>
      <p:pic>
        <p:nvPicPr>
          <p:cNvPr id="36" name="stop butto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62869" y="618942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70"/>
          <p:cNvSpPr txBox="1"/>
          <p:nvPr/>
        </p:nvSpPr>
        <p:spPr>
          <a:xfrm>
            <a:off x="2016848" y="5732596"/>
            <a:ext cx="4125565" cy="749812"/>
          </a:xfrm>
          <a:prstGeom prst="rect">
            <a:avLst/>
          </a:prstGeom>
          <a:noFill/>
          <a:ln>
            <a:solidFill>
              <a:schemeClr val="tx2">
                <a:lumMod val="65000"/>
                <a:lumOff val="35000"/>
              </a:schemeClr>
            </a:solidFill>
          </a:ln>
          <a:effectLst/>
        </p:spPr>
        <p:txBody>
          <a:bodyPr wrap="square" lIns="72000" tIns="36000" rIns="72000" bIns="3600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200" b="0" dirty="0">
                <a:latin typeface="Segoe UI" pitchFamily="34" charset="0"/>
                <a:ea typeface="Segoe UI" pitchFamily="34" charset="0"/>
                <a:cs typeface="Segoe UI" pitchFamily="34" charset="0"/>
              </a:rPr>
              <a:t>This best practice for nesting groups is known as IGDLA</a:t>
            </a:r>
          </a:p>
        </p:txBody>
      </p:sp>
    </p:spTree>
    <p:extLst>
      <p:ext uri="{BB962C8B-B14F-4D97-AF65-F5344CB8AC3E}">
        <p14:creationId xmlns:p14="http://schemas.microsoft.com/office/powerpoint/2010/main" val="88210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2654" y="0"/>
            <a:ext cx="7667105" cy="580030"/>
          </a:xfrm>
        </p:spPr>
        <p:txBody>
          <a:bodyPr>
            <a:normAutofit fontScale="90000"/>
          </a:bodyPr>
          <a:lstStyle/>
          <a:p>
            <a:r>
              <a:rPr lang="en-CA" b="1" dirty="0"/>
              <a:t>Default Groups</a:t>
            </a:r>
          </a:p>
        </p:txBody>
      </p:sp>
      <p:sp>
        <p:nvSpPr>
          <p:cNvPr id="4" name="Rounded Rectangle 3"/>
          <p:cNvSpPr>
            <a:spLocks noChangeArrowheads="1"/>
          </p:cNvSpPr>
          <p:nvPr/>
        </p:nvSpPr>
        <p:spPr bwMode="auto">
          <a:xfrm>
            <a:off x="1709738" y="1050878"/>
            <a:ext cx="8721725" cy="522709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0" hangingPunct="0"/>
            <a:endParaRPr lang="en-US" sz="2400" dirty="0">
              <a:latin typeface="Segoe UI" pitchFamily="34" charset="0"/>
              <a:ea typeface="Segoe UI" pitchFamily="34" charset="0"/>
              <a:cs typeface="Segoe UI" pitchFamily="34" charset="0"/>
            </a:endParaRPr>
          </a:p>
          <a:p>
            <a:pPr eaLnBrk="0" hangingPunct="0"/>
            <a:endParaRPr lang="en-US" sz="2400" b="0" dirty="0">
              <a:latin typeface="Segoe UI" pitchFamily="34" charset="0"/>
              <a:ea typeface="Segoe UI" pitchFamily="34" charset="0"/>
              <a:cs typeface="Segoe UI" pitchFamily="34" charset="0"/>
            </a:endParaRPr>
          </a:p>
        </p:txBody>
      </p:sp>
      <p:sp>
        <p:nvSpPr>
          <p:cNvPr id="5" name="Content Placeholder 3"/>
          <p:cNvSpPr>
            <a:spLocks noGrp="1"/>
          </p:cNvSpPr>
          <p:nvPr/>
        </p:nvSpPr>
        <p:spPr bwMode="auto">
          <a:xfrm>
            <a:off x="1982788" y="901296"/>
            <a:ext cx="8119156" cy="164703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0" hangingPunct="0">
              <a:lnSpc>
                <a:spcPct val="90000"/>
              </a:lnSpc>
            </a:pPr>
            <a:r>
              <a:rPr lang="en-US" sz="2200" dirty="0"/>
              <a:t>Carefully manage the default groups</a:t>
            </a:r>
            <a:r>
              <a:rPr lang="en-GB" sz="2200" dirty="0"/>
              <a:t> that provide administrative privileges, because these groups:</a:t>
            </a:r>
          </a:p>
          <a:p>
            <a:pPr lvl="1" eaLnBrk="0" hangingPunct="0">
              <a:lnSpc>
                <a:spcPct val="90000"/>
              </a:lnSpc>
            </a:pPr>
            <a:r>
              <a:rPr lang="en-GB" sz="2200" dirty="0"/>
              <a:t>Typically have broader privileges than are necessary for most delegated environments</a:t>
            </a:r>
          </a:p>
          <a:p>
            <a:pPr lvl="1" eaLnBrk="0" hangingPunct="0">
              <a:lnSpc>
                <a:spcPct val="90000"/>
              </a:lnSpc>
            </a:pPr>
            <a:r>
              <a:rPr lang="en-GB" sz="2200" dirty="0"/>
              <a:t>Often apply protection to their members</a:t>
            </a:r>
            <a:endParaRPr lang="en-US" sz="2200" dirty="0"/>
          </a:p>
          <a:p>
            <a:endParaRPr lang="en-US" sz="3200" dirty="0"/>
          </a:p>
        </p:txBody>
      </p:sp>
      <p:graphicFrame>
        <p:nvGraphicFramePr>
          <p:cNvPr id="6" name="Table 5"/>
          <p:cNvGraphicFramePr>
            <a:graphicFrameLocks noGrp="1"/>
          </p:cNvGraphicFramePr>
          <p:nvPr>
            <p:extLst/>
          </p:nvPr>
        </p:nvGraphicFramePr>
        <p:xfrm>
          <a:off x="2187530" y="2615974"/>
          <a:ext cx="7766138" cy="3676526"/>
        </p:xfrm>
        <a:graphic>
          <a:graphicData uri="http://schemas.openxmlformats.org/drawingml/2006/table">
            <a:tbl>
              <a:tblPr firstRow="1" bandRow="1">
                <a:tableStyleId>{9DCAF9ED-07DC-4A11-8D7F-57B35C25682E}</a:tableStyleId>
              </a:tblPr>
              <a:tblGrid>
                <a:gridCol w="2645328">
                  <a:extLst>
                    <a:ext uri="{9D8B030D-6E8A-4147-A177-3AD203B41FA5}">
                      <a16:colId xmlns:a16="http://schemas.microsoft.com/office/drawing/2014/main" val="20000"/>
                    </a:ext>
                  </a:extLst>
                </a:gridCol>
                <a:gridCol w="5120810">
                  <a:extLst>
                    <a:ext uri="{9D8B030D-6E8A-4147-A177-3AD203B41FA5}">
                      <a16:colId xmlns:a16="http://schemas.microsoft.com/office/drawing/2014/main" val="20001"/>
                    </a:ext>
                  </a:extLst>
                </a:gridCol>
              </a:tblGrid>
              <a:tr h="349504">
                <a:tc>
                  <a:txBody>
                    <a:bodyPr/>
                    <a:lstStyle/>
                    <a:p>
                      <a:r>
                        <a:rPr lang="en-US" dirty="0">
                          <a:latin typeface="Segoe UI" panose="020B0502040204020203" pitchFamily="34" charset="0"/>
                          <a:ea typeface="Segoe UI" panose="020B0502040204020203" pitchFamily="34" charset="0"/>
                          <a:cs typeface="Segoe UI" panose="020B0502040204020203" pitchFamily="34" charset="0"/>
                        </a:rPr>
                        <a:t>Group</a:t>
                      </a:r>
                    </a:p>
                  </a:txBody>
                  <a:tcPr marL="90000" marR="90000" marT="18000" marB="18000"/>
                </a:tc>
                <a:tc>
                  <a:txBody>
                    <a:bodyPr/>
                    <a:lstStyle/>
                    <a:p>
                      <a:r>
                        <a:rPr lang="en-US" dirty="0">
                          <a:latin typeface="Segoe UI" panose="020B0502040204020203" pitchFamily="34" charset="0"/>
                          <a:ea typeface="Segoe UI" panose="020B0502040204020203" pitchFamily="34" charset="0"/>
                          <a:cs typeface="Segoe UI" panose="020B0502040204020203" pitchFamily="34" charset="0"/>
                        </a:rPr>
                        <a:t>Location</a:t>
                      </a:r>
                    </a:p>
                  </a:txBody>
                  <a:tcPr marL="90000" marR="90000" marT="18000" marB="18000"/>
                </a:tc>
                <a:extLst>
                  <a:ext uri="{0D108BD9-81ED-4DB2-BD59-A6C34878D82A}">
                    <a16:rowId xmlns:a16="http://schemas.microsoft.com/office/drawing/2014/main" val="10000"/>
                  </a:ext>
                </a:extLst>
              </a:tr>
              <a:tr h="390921">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Enterprise Admins</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Users container of the forest root domain</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1"/>
                  </a:ext>
                </a:extLst>
              </a:tr>
              <a:tr h="3757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Schema Admins</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Users container of the forest root domain</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2"/>
                  </a:ext>
                </a:extLst>
              </a:tr>
              <a:tr h="349504">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Administrators </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3"/>
                  </a:ext>
                </a:extLst>
              </a:tr>
              <a:tr h="349504">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Domain Admins </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Users container of each domain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4"/>
                  </a:ext>
                </a:extLst>
              </a:tr>
              <a:tr h="308140">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Server Operators </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5"/>
                  </a:ext>
                </a:extLst>
              </a:tr>
              <a:tr h="349504">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Account Operators</a:t>
                      </a:r>
                      <a:endPar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6"/>
                  </a:ext>
                </a:extLst>
              </a:tr>
              <a:tr h="3495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Backup Operators</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r>
                        <a:rPr lang="en-US" sz="1800" kern="1200" dirty="0">
                          <a:effectLst/>
                          <a:latin typeface="Segoe UI" panose="020B0502040204020203" pitchFamily="34" charset="0"/>
                          <a:ea typeface="Segoe UI" panose="020B0502040204020203" pitchFamily="34" charset="0"/>
                          <a:cs typeface="Segoe UI" panose="020B0502040204020203" pitchFamily="34" charset="0"/>
                        </a:rPr>
                        <a:t>Built-in container of</a:t>
                      </a:r>
                      <a:r>
                        <a:rPr lang="en-US" sz="1800" kern="1200" baseline="0" dirty="0">
                          <a:effectLst/>
                          <a:latin typeface="Segoe UI" panose="020B0502040204020203" pitchFamily="34" charset="0"/>
                          <a:ea typeface="Segoe UI" panose="020B0502040204020203" pitchFamily="34" charset="0"/>
                          <a:cs typeface="Segoe UI" panose="020B0502040204020203" pitchFamily="34" charset="0"/>
                        </a:rPr>
                        <a:t> </a:t>
                      </a:r>
                      <a:r>
                        <a:rPr lang="en-US" sz="1800" kern="1200" dirty="0">
                          <a:effectLst/>
                          <a:latin typeface="Segoe UI" panose="020B0502040204020203" pitchFamily="34" charset="0"/>
                          <a:ea typeface="Segoe UI" panose="020B0502040204020203" pitchFamily="34" charset="0"/>
                          <a:cs typeface="Segoe UI" panose="020B0502040204020203" pitchFamily="34" charset="0"/>
                        </a:rPr>
                        <a:t>each domain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7"/>
                  </a:ext>
                </a:extLst>
              </a:tr>
              <a:tr h="3495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Print Operators</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latin typeface="Segoe UI" panose="020B0502040204020203" pitchFamily="34" charset="0"/>
                          <a:ea typeface="Segoe UI" panose="020B0502040204020203" pitchFamily="34" charset="0"/>
                          <a:cs typeface="Segoe UI" panose="020B0502040204020203" pitchFamily="34" charset="0"/>
                        </a:rPr>
                        <a:t>Built-in container of each domain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8"/>
                  </a:ext>
                </a:extLst>
              </a:tr>
              <a:tr h="3495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rPr>
                        <a:t>Cert Publishers </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Segoe UI" panose="020B0502040204020203" pitchFamily="34" charset="0"/>
                          <a:ea typeface="Segoe UI" panose="020B0502040204020203" pitchFamily="34" charset="0"/>
                          <a:cs typeface="Segoe UI" panose="020B0502040204020203" pitchFamily="34" charset="0"/>
                        </a:rPr>
                        <a:t>Users container of each domain</a:t>
                      </a:r>
                      <a:endParaRPr lang="en-US" dirty="0">
                        <a:latin typeface="Segoe UI" panose="020B0502040204020203" pitchFamily="34" charset="0"/>
                        <a:ea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36183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382" y="0"/>
            <a:ext cx="7736378" cy="650631"/>
          </a:xfrm>
        </p:spPr>
        <p:txBody>
          <a:bodyPr/>
          <a:lstStyle/>
          <a:p>
            <a:r>
              <a:rPr lang="en-CA" b="1" dirty="0"/>
              <a:t>Special Identities</a:t>
            </a:r>
          </a:p>
        </p:txBody>
      </p:sp>
      <p:sp>
        <p:nvSpPr>
          <p:cNvPr id="4" name="Content Placeholder 4"/>
          <p:cNvSpPr>
            <a:spLocks noGrp="1" noChangeArrowheads="1"/>
          </p:cNvSpPr>
          <p:nvPr/>
        </p:nvSpPr>
        <p:spPr bwMode="auto">
          <a:xfrm>
            <a:off x="1950704" y="1021215"/>
            <a:ext cx="8119156" cy="56716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600" dirty="0"/>
              <a:t>Special identities:</a:t>
            </a:r>
          </a:p>
          <a:p>
            <a:pPr lvl="1"/>
            <a:r>
              <a:rPr lang="en-US" dirty="0"/>
              <a:t>Are groups</a:t>
            </a:r>
            <a:r>
              <a:rPr lang="en-GB" dirty="0"/>
              <a:t> for which membership is controlled by the operating system</a:t>
            </a:r>
          </a:p>
          <a:p>
            <a:pPr lvl="1"/>
            <a:r>
              <a:rPr lang="en-GB" dirty="0"/>
              <a:t>Can be used by the Windows Server operating system to provide access to resources:</a:t>
            </a:r>
          </a:p>
          <a:p>
            <a:pPr lvl="2"/>
            <a:r>
              <a:rPr lang="en-GB" dirty="0"/>
              <a:t>Based on the type of authentication or connection</a:t>
            </a:r>
          </a:p>
          <a:p>
            <a:pPr lvl="2"/>
            <a:r>
              <a:rPr lang="en-GB" dirty="0"/>
              <a:t>Not based on the user account</a:t>
            </a:r>
          </a:p>
          <a:p>
            <a:pPr marL="681037" lvl="2" indent="0">
              <a:buNone/>
            </a:pPr>
            <a:r>
              <a:rPr lang="en-GB" sz="1100" dirty="0"/>
              <a:t>   </a:t>
            </a:r>
          </a:p>
          <a:p>
            <a:r>
              <a:rPr lang="en-GB" sz="2600" dirty="0"/>
              <a:t>Important special identities include:</a:t>
            </a:r>
          </a:p>
        </p:txBody>
      </p:sp>
      <p:graphicFrame>
        <p:nvGraphicFramePr>
          <p:cNvPr id="5" name="Table 4"/>
          <p:cNvGraphicFramePr>
            <a:graphicFrameLocks noGrp="1"/>
          </p:cNvGraphicFramePr>
          <p:nvPr>
            <p:extLst/>
          </p:nvPr>
        </p:nvGraphicFramePr>
        <p:xfrm>
          <a:off x="2149784" y="4528617"/>
          <a:ext cx="7474344" cy="1341120"/>
        </p:xfrm>
        <a:graphic>
          <a:graphicData uri="http://schemas.openxmlformats.org/drawingml/2006/table">
            <a:tbl>
              <a:tblPr firstRow="1" bandRow="1">
                <a:tableStyleId>{5C22544A-7EE6-4342-B048-85BDC9FD1C3A}</a:tableStyleId>
              </a:tblPr>
              <a:tblGrid>
                <a:gridCol w="3395959">
                  <a:extLst>
                    <a:ext uri="{9D8B030D-6E8A-4147-A177-3AD203B41FA5}">
                      <a16:colId xmlns:a16="http://schemas.microsoft.com/office/drawing/2014/main" val="20000"/>
                    </a:ext>
                  </a:extLst>
                </a:gridCol>
                <a:gridCol w="4078385">
                  <a:extLst>
                    <a:ext uri="{9D8B030D-6E8A-4147-A177-3AD203B41FA5}">
                      <a16:colId xmlns:a16="http://schemas.microsoft.com/office/drawing/2014/main" val="20001"/>
                    </a:ext>
                  </a:extLst>
                </a:gridCol>
              </a:tblGrid>
              <a:tr h="370840">
                <a:tc>
                  <a:txBody>
                    <a:bodyPr/>
                    <a:lstStyle/>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Anonymous Logon</a:t>
                      </a:r>
                    </a:p>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Authenticated Users</a:t>
                      </a:r>
                    </a:p>
                    <a:p>
                      <a:pPr marL="0" lvl="1" indent="-169863" algn="l" rtl="0" eaLnBrk="1" fontAlgn="base"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Everyone</a:t>
                      </a:r>
                      <a:endParaRPr lang="en-CA" sz="2400" b="0" dirty="0">
                        <a:solidFill>
                          <a:schemeClr val="tx1"/>
                        </a:solidFill>
                        <a:latin typeface="Segoe UI" pitchFamily="34" charset="0"/>
                        <a:ea typeface="Segoe UI" pitchFamily="34" charset="0"/>
                        <a:cs typeface="Segoe UI" pitchFamily="34" charset="0"/>
                      </a:endParaRPr>
                    </a:p>
                  </a:txBody>
                  <a:tcPr>
                    <a:solidFill>
                      <a:schemeClr val="bg1"/>
                    </a:solidFill>
                  </a:tcPr>
                </a:tc>
                <a:tc>
                  <a:txBody>
                    <a:bodyPr/>
                    <a:lstStyle/>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Interactive</a:t>
                      </a:r>
                    </a:p>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Network</a:t>
                      </a:r>
                    </a:p>
                    <a:p>
                      <a:pPr marL="0" lvl="1" indent="-169863" algn="l" defTabSz="914400" rtl="0" eaLnBrk="1" fontAlgn="base" latinLnBrk="0" hangingPunct="1">
                        <a:lnSpc>
                          <a:spcPct val="100000"/>
                        </a:lnSpc>
                        <a:spcBef>
                          <a:spcPts val="600"/>
                        </a:spcBef>
                        <a:spcAft>
                          <a:spcPct val="0"/>
                        </a:spcAft>
                        <a:buClr>
                          <a:srgbClr val="0070C0"/>
                        </a:buClr>
                        <a:buSzPct val="80000"/>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Creator Owner</a:t>
                      </a:r>
                      <a:endParaRPr lang="en-CA" sz="2400" b="0" dirty="0">
                        <a:solidFill>
                          <a:schemeClr val="tx1"/>
                        </a:solidFill>
                        <a:latin typeface="Segoe UI" pitchFamily="34" charset="0"/>
                        <a:ea typeface="Segoe UI" pitchFamily="34" charset="0"/>
                        <a:cs typeface="Segoe UI" pitchFamily="34" charset="0"/>
                      </a:endParaRP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6378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400" y="-14904"/>
            <a:ext cx="7653360" cy="1121723"/>
          </a:xfrm>
        </p:spPr>
        <p:txBody>
          <a:bodyPr>
            <a:normAutofit/>
          </a:bodyPr>
          <a:lstStyle/>
          <a:p>
            <a:r>
              <a:rPr lang="en-CA" b="1" dirty="0"/>
              <a:t>Considerations for Using Organizational Units</a:t>
            </a:r>
          </a:p>
        </p:txBody>
      </p:sp>
      <p:grpSp>
        <p:nvGrpSpPr>
          <p:cNvPr id="4" name="alt text here  Adatum.com list" descr="Screen shot of OUs and containers in the Adatum.com AD DS."/>
          <p:cNvGrpSpPr/>
          <p:nvPr/>
        </p:nvGrpSpPr>
        <p:grpSpPr>
          <a:xfrm>
            <a:off x="6282725" y="1106820"/>
            <a:ext cx="4086232" cy="5027287"/>
            <a:chOff x="4761352" y="951918"/>
            <a:chExt cx="3605407" cy="4610682"/>
          </a:xfrm>
        </p:grpSpPr>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3754" t="30936" r="13300" b="64413"/>
            <a:stretch/>
          </p:blipFill>
          <p:spPr bwMode="auto">
            <a:xfrm>
              <a:off x="5160663" y="2917733"/>
              <a:ext cx="3206096" cy="349814"/>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2095" t="2" r="43047" b="94038"/>
            <a:stretch/>
          </p:blipFill>
          <p:spPr bwMode="auto">
            <a:xfrm>
              <a:off x="4761352" y="951918"/>
              <a:ext cx="2411134" cy="448257"/>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13755" t="70985" r="13300" b="3701"/>
            <a:stretch/>
          </p:blipFill>
          <p:spPr bwMode="auto">
            <a:xfrm>
              <a:off x="5160663" y="3658770"/>
              <a:ext cx="3206096" cy="1903830"/>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8"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13754" t="51062" r="13300" b="43864"/>
            <a:stretch/>
          </p:blipFill>
          <p:spPr bwMode="auto">
            <a:xfrm>
              <a:off x="5160663" y="3277154"/>
              <a:ext cx="3206093" cy="381616"/>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9443" t="5703" r="29876" b="74026"/>
            <a:stretch/>
          </p:blipFill>
          <p:spPr bwMode="auto">
            <a:xfrm>
              <a:off x="4972049" y="1400175"/>
              <a:ext cx="2667001" cy="1524554"/>
            </a:xfrm>
            <a:prstGeom prst="rect">
              <a:avLst/>
            </a:prstGeom>
            <a:ln w="6350">
              <a:noFill/>
            </a:ln>
            <a:extLst/>
          </p:spPr>
          <p:style>
            <a:lnRef idx="2">
              <a:schemeClr val="accent1">
                <a:shade val="50000"/>
              </a:schemeClr>
            </a:lnRef>
            <a:fillRef idx="1">
              <a:schemeClr val="accent1"/>
            </a:fillRef>
            <a:effectRef idx="0">
              <a:schemeClr val="accent1"/>
            </a:effectRef>
            <a:fontRef idx="minor">
              <a:schemeClr val="lt1"/>
            </a:fontRef>
          </p:style>
        </p:pic>
      </p:grpSp>
      <p:sp>
        <p:nvSpPr>
          <p:cNvPr id="10" name="TextBox 1"/>
          <p:cNvSpPr txBox="1"/>
          <p:nvPr/>
        </p:nvSpPr>
        <p:spPr>
          <a:xfrm>
            <a:off x="1856400" y="1242480"/>
            <a:ext cx="4466788" cy="439504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16000" indent="-216000">
              <a:spcBef>
                <a:spcPct val="20000"/>
              </a:spcBef>
              <a:buClr>
                <a:srgbClr val="0070C0"/>
              </a:buClr>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OUs allow you to subdivide the domain for management purposes</a:t>
            </a:r>
            <a:endParaRPr lang="en-CA" sz="2400" b="0" dirty="0">
              <a:solidFill>
                <a:schemeClr val="tx1"/>
              </a:solidFill>
              <a:latin typeface="Segoe UI" pitchFamily="34" charset="0"/>
              <a:ea typeface="Segoe UI" pitchFamily="34" charset="0"/>
              <a:cs typeface="Segoe UI" pitchFamily="34" charset="0"/>
            </a:endParaRPr>
          </a:p>
          <a:p>
            <a:pPr marL="216000" indent="-216000">
              <a:spcBef>
                <a:spcPct val="20000"/>
              </a:spcBef>
              <a:buClr>
                <a:srgbClr val="0070C0"/>
              </a:buClr>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OUs are used for:</a:t>
            </a:r>
            <a:endParaRPr lang="en-CA" sz="2400" b="0" dirty="0">
              <a:solidFill>
                <a:schemeClr val="tx1"/>
              </a:solidFill>
              <a:latin typeface="Segoe UI" pitchFamily="34" charset="0"/>
              <a:ea typeface="Segoe UI" pitchFamily="34" charset="0"/>
              <a:cs typeface="Segoe UI" pitchFamily="34" charset="0"/>
            </a:endParaRPr>
          </a:p>
          <a:p>
            <a:pPr marL="468000" lvl="1" indent="-180000">
              <a:spcBef>
                <a:spcPct val="20000"/>
              </a:spcBef>
              <a:buClr>
                <a:srgbClr val="0070C0"/>
              </a:buClr>
              <a:buFont typeface="Arial" pitchFamily="34" charset="0"/>
              <a:buChar char="•"/>
            </a:pPr>
            <a:r>
              <a:rPr lang="en-US" sz="2200" b="0" dirty="0">
                <a:solidFill>
                  <a:schemeClr val="tx1"/>
                </a:solidFill>
                <a:latin typeface="Segoe UI" pitchFamily="34" charset="0"/>
                <a:ea typeface="Segoe UI" pitchFamily="34" charset="0"/>
                <a:cs typeface="Segoe UI" pitchFamily="34" charset="0"/>
              </a:rPr>
              <a:t>Delegation of control</a:t>
            </a:r>
            <a:endParaRPr lang="en-CA" sz="2200" b="0" dirty="0">
              <a:solidFill>
                <a:schemeClr val="tx1"/>
              </a:solidFill>
              <a:latin typeface="Segoe UI" pitchFamily="34" charset="0"/>
              <a:ea typeface="Segoe UI" pitchFamily="34" charset="0"/>
              <a:cs typeface="Segoe UI" pitchFamily="34" charset="0"/>
            </a:endParaRPr>
          </a:p>
          <a:p>
            <a:pPr marL="468000" lvl="1" indent="-180000">
              <a:spcBef>
                <a:spcPct val="20000"/>
              </a:spcBef>
              <a:buClr>
                <a:srgbClr val="0070C0"/>
              </a:buClr>
              <a:buFont typeface="Arial" pitchFamily="34" charset="0"/>
              <a:buChar char="•"/>
            </a:pPr>
            <a:r>
              <a:rPr lang="en-US" sz="2200" b="0" dirty="0">
                <a:solidFill>
                  <a:schemeClr val="tx1"/>
                </a:solidFill>
                <a:latin typeface="Segoe UI" pitchFamily="34" charset="0"/>
                <a:ea typeface="Segoe UI" pitchFamily="34" charset="0"/>
                <a:cs typeface="Segoe UI" pitchFamily="34" charset="0"/>
              </a:rPr>
              <a:t>Application of GPOs</a:t>
            </a:r>
            <a:endParaRPr lang="en-CA" sz="2200" b="0" dirty="0">
              <a:solidFill>
                <a:schemeClr val="tx1"/>
              </a:solidFill>
              <a:latin typeface="Segoe UI" pitchFamily="34" charset="0"/>
              <a:ea typeface="Segoe UI" pitchFamily="34" charset="0"/>
              <a:cs typeface="Segoe UI" pitchFamily="34" charset="0"/>
            </a:endParaRPr>
          </a:p>
          <a:p>
            <a:pPr marL="216000" indent="-216000">
              <a:spcBef>
                <a:spcPct val="20000"/>
              </a:spcBef>
              <a:buClr>
                <a:srgbClr val="0070C0"/>
              </a:buClr>
              <a:buFont typeface="Arial" pitchFamily="34" charset="0"/>
              <a:buChar char="•"/>
            </a:pPr>
            <a:r>
              <a:rPr lang="en-US" sz="2400" b="0" dirty="0">
                <a:solidFill>
                  <a:schemeClr val="tx1"/>
                </a:solidFill>
                <a:latin typeface="Segoe UI" pitchFamily="34" charset="0"/>
                <a:ea typeface="Segoe UI" pitchFamily="34" charset="0"/>
                <a:cs typeface="Segoe UI" pitchFamily="34" charset="0"/>
              </a:rPr>
              <a:t>The OU structure can be:</a:t>
            </a:r>
            <a:endParaRPr lang="en-CA" sz="2400" b="0" dirty="0">
              <a:solidFill>
                <a:schemeClr val="tx1"/>
              </a:solidFill>
              <a:latin typeface="Segoe UI" pitchFamily="34" charset="0"/>
              <a:ea typeface="Segoe UI" pitchFamily="34" charset="0"/>
              <a:cs typeface="Segoe UI" pitchFamily="34" charset="0"/>
            </a:endParaRPr>
          </a:p>
          <a:p>
            <a:pPr marL="468000" lvl="1" indent="-180000">
              <a:spcBef>
                <a:spcPct val="20000"/>
              </a:spcBef>
              <a:buClr>
                <a:srgbClr val="0070C0"/>
              </a:buClr>
              <a:buFont typeface="Arial" pitchFamily="34" charset="0"/>
              <a:buChar char="•"/>
            </a:pPr>
            <a:r>
              <a:rPr lang="en-US" sz="2200" b="0" dirty="0">
                <a:solidFill>
                  <a:schemeClr val="tx1"/>
                </a:solidFill>
                <a:latin typeface="Segoe UI" pitchFamily="34" charset="0"/>
                <a:ea typeface="Segoe UI" pitchFamily="34" charset="0"/>
                <a:cs typeface="Segoe UI" pitchFamily="34" charset="0"/>
              </a:rPr>
              <a:t>Flat, one to two levels deep</a:t>
            </a:r>
            <a:endParaRPr lang="en-CA" sz="2200" b="0" dirty="0">
              <a:solidFill>
                <a:schemeClr val="tx1"/>
              </a:solidFill>
              <a:latin typeface="Segoe UI" pitchFamily="34" charset="0"/>
              <a:ea typeface="Segoe UI" pitchFamily="34" charset="0"/>
              <a:cs typeface="Segoe UI" pitchFamily="34" charset="0"/>
            </a:endParaRPr>
          </a:p>
          <a:p>
            <a:pPr marL="468000" lvl="1" indent="-180000">
              <a:spcBef>
                <a:spcPct val="20000"/>
              </a:spcBef>
              <a:buClr>
                <a:srgbClr val="0070C0"/>
              </a:buClr>
              <a:buFont typeface="Arial" pitchFamily="34" charset="0"/>
              <a:buChar char="•"/>
            </a:pPr>
            <a:r>
              <a:rPr lang="en-US" sz="2200" b="0" dirty="0">
                <a:solidFill>
                  <a:schemeClr val="tx1"/>
                </a:solidFill>
                <a:latin typeface="Segoe UI" pitchFamily="34" charset="0"/>
                <a:ea typeface="Segoe UI" pitchFamily="34" charset="0"/>
                <a:cs typeface="Segoe UI" pitchFamily="34" charset="0"/>
              </a:rPr>
              <a:t>Deep, more than 5 levels deep</a:t>
            </a:r>
            <a:endParaRPr lang="en-CA" sz="2200" b="0" dirty="0">
              <a:solidFill>
                <a:schemeClr val="tx1"/>
              </a:solidFill>
              <a:latin typeface="Segoe UI" pitchFamily="34" charset="0"/>
              <a:ea typeface="Segoe UI" pitchFamily="34" charset="0"/>
              <a:cs typeface="Segoe UI" pitchFamily="34" charset="0"/>
            </a:endParaRPr>
          </a:p>
          <a:p>
            <a:pPr marL="468000" lvl="1" indent="-180000">
              <a:spcBef>
                <a:spcPct val="20000"/>
              </a:spcBef>
              <a:buClr>
                <a:srgbClr val="0070C0"/>
              </a:buClr>
              <a:buFont typeface="Arial" pitchFamily="34" charset="0"/>
              <a:buChar char="•"/>
            </a:pPr>
            <a:r>
              <a:rPr lang="en-US" sz="2200" b="0" dirty="0">
                <a:solidFill>
                  <a:schemeClr val="tx1"/>
                </a:solidFill>
                <a:latin typeface="Segoe UI" pitchFamily="34" charset="0"/>
                <a:ea typeface="Segoe UI" pitchFamily="34" charset="0"/>
                <a:cs typeface="Segoe UI" pitchFamily="34" charset="0"/>
              </a:rPr>
              <a:t>Narrow, anything in between</a:t>
            </a:r>
            <a:endParaRPr lang="en-CA" sz="2200" b="0" dirty="0">
              <a:solidFill>
                <a:schemeClr val="tx1"/>
              </a:solidFill>
              <a:latin typeface="Segoe UI" pitchFamily="34" charset="0"/>
              <a:ea typeface="Segoe UI" pitchFamily="34" charset="0"/>
              <a:cs typeface="Segoe UI" pitchFamily="34" charset="0"/>
            </a:endParaRPr>
          </a:p>
          <a:p>
            <a:endParaRPr lang="en-CA" dirty="0"/>
          </a:p>
        </p:txBody>
      </p:sp>
    </p:spTree>
    <p:extLst>
      <p:ext uri="{BB962C8B-B14F-4D97-AF65-F5344CB8AC3E}">
        <p14:creationId xmlns:p14="http://schemas.microsoft.com/office/powerpoint/2010/main" val="1783538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3">
          <a:schemeClr val="accent2"/>
        </a:fillRef>
        <a:effectRef idx="2">
          <a:schemeClr val="accent2"/>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heme1" id="{0B837463-E660-40A1-B560-2D5F0625EA2A}" vid="{929C359C-1C4D-4A1C-8358-5B8EA3248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170</TotalTime>
  <Words>2715</Words>
  <Application>Microsoft Office PowerPoint</Application>
  <PresentationFormat>Widescreen</PresentationFormat>
  <Paragraphs>458</Paragraphs>
  <Slides>25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Segoe</vt:lpstr>
      <vt:lpstr>Arial</vt:lpstr>
      <vt:lpstr>Calibri</vt:lpstr>
      <vt:lpstr>Euphemia</vt:lpstr>
      <vt:lpstr>Segoe UI</vt:lpstr>
      <vt:lpstr>Symbol</vt:lpstr>
      <vt:lpstr>Times New Roman</vt:lpstr>
      <vt:lpstr>Verdana</vt:lpstr>
      <vt:lpstr>Theme1</vt:lpstr>
      <vt:lpstr>Configuring Windows Active Directory</vt:lpstr>
      <vt:lpstr>Overview of AD DS</vt:lpstr>
      <vt:lpstr>What Are AD DS Domains?</vt:lpstr>
      <vt:lpstr>What Are OUs (Organisational Units)?</vt:lpstr>
      <vt:lpstr>What Is an AD DS Forest?</vt:lpstr>
      <vt:lpstr>What Is the AD DS Schema?</vt:lpstr>
      <vt:lpstr>What Is a Domain Controller?</vt:lpstr>
      <vt:lpstr>What Is the Global Catalog?</vt:lpstr>
      <vt:lpstr>The AD DS Sign-in Process</vt:lpstr>
      <vt:lpstr>Installing a Domain Controller from Server Manager</vt:lpstr>
      <vt:lpstr>Installing a Domain Controller on a Server Core Installation of Windows Server</vt:lpstr>
      <vt:lpstr>AD DS Administration Tools</vt:lpstr>
      <vt:lpstr>Creating User Accounts</vt:lpstr>
      <vt:lpstr>Configuring User Account Attributes</vt:lpstr>
      <vt:lpstr>Group Types</vt:lpstr>
      <vt:lpstr>Group Scopes</vt:lpstr>
      <vt:lpstr>Implementing Group Management</vt:lpstr>
      <vt:lpstr>Implementing Group Management</vt:lpstr>
      <vt:lpstr>Implementing Group Management</vt:lpstr>
      <vt:lpstr>Implementing Group Management</vt:lpstr>
      <vt:lpstr>Implementing Group Management</vt:lpstr>
      <vt:lpstr>Implementing Group Management</vt:lpstr>
      <vt:lpstr>Default Groups</vt:lpstr>
      <vt:lpstr>Special Identities</vt:lpstr>
      <vt:lpstr>Considerations for Using Organizational Units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Configuring Windows Active Directory</dc:title>
  <dc:creator>HOO BRYAN</dc:creator>
  <cp:lastModifiedBy>HOO BRYAN</cp:lastModifiedBy>
  <cp:revision>19</cp:revision>
  <dcterms:created xsi:type="dcterms:W3CDTF">2018-11-22T06:01:40Z</dcterms:created>
  <dcterms:modified xsi:type="dcterms:W3CDTF">2019-06-24T02:10:05Z</dcterms:modified>
</cp:coreProperties>
</file>