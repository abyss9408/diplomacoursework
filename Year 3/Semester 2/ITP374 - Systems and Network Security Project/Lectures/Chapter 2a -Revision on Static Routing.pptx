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  <p:sldMasterId id="2147483945" r:id="rId2"/>
  </p:sldMasterIdLst>
  <p:notesMasterIdLst>
    <p:notesMasterId r:id="rId23"/>
  </p:notesMasterIdLst>
  <p:handoutMasterIdLst>
    <p:handoutMasterId r:id="rId24"/>
  </p:handoutMasterIdLst>
  <p:sldIdLst>
    <p:sldId id="500" r:id="rId3"/>
    <p:sldId id="541" r:id="rId4"/>
    <p:sldId id="825" r:id="rId5"/>
    <p:sldId id="888" r:id="rId6"/>
    <p:sldId id="889" r:id="rId7"/>
    <p:sldId id="828" r:id="rId8"/>
    <p:sldId id="833" r:id="rId9"/>
    <p:sldId id="835" r:id="rId10"/>
    <p:sldId id="830" r:id="rId11"/>
    <p:sldId id="840" r:id="rId12"/>
    <p:sldId id="838" r:id="rId13"/>
    <p:sldId id="890" r:id="rId14"/>
    <p:sldId id="891" r:id="rId15"/>
    <p:sldId id="842" r:id="rId16"/>
    <p:sldId id="846" r:id="rId17"/>
    <p:sldId id="849" r:id="rId18"/>
    <p:sldId id="847" r:id="rId19"/>
    <p:sldId id="856" r:id="rId20"/>
    <p:sldId id="865" r:id="rId21"/>
    <p:sldId id="866" r:id="rId22"/>
  </p:sldIdLst>
  <p:sldSz cx="9144000" cy="6858000" type="screen4x3"/>
  <p:notesSz cx="7010400" cy="9296400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ane Gibbons" initials="JG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4"/>
    <a:srgbClr val="678DC5"/>
    <a:srgbClr val="3E67A4"/>
    <a:srgbClr val="3E8DC5"/>
    <a:srgbClr val="5F5F65"/>
    <a:srgbClr val="7E7E86"/>
    <a:srgbClr val="FFFFFF"/>
    <a:srgbClr val="8E8E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76" autoAdjust="0"/>
    <p:restoredTop sz="92507" autoAdjust="0"/>
  </p:normalViewPr>
  <p:slideViewPr>
    <p:cSldViewPr snapToGrid="0">
      <p:cViewPr varScale="1">
        <p:scale>
          <a:sx n="63" d="100"/>
          <a:sy n="63" d="100"/>
        </p:scale>
        <p:origin x="1788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5022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  <p:sld r:id="rId15" collapse="1"/>
      <p:sld r:id="rId16" collapse="1"/>
      <p:sld r:id="rId17" collapse="1"/>
      <p:sld r:id="rId1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10.xml"/><Relationship Id="rId13" Type="http://schemas.openxmlformats.org/officeDocument/2006/relationships/slide" Target="slides/slide15.xml"/><Relationship Id="rId18" Type="http://schemas.openxmlformats.org/officeDocument/2006/relationships/slide" Target="slides/slide20.xml"/><Relationship Id="rId3" Type="http://schemas.openxmlformats.org/officeDocument/2006/relationships/slide" Target="slides/slide5.xml"/><Relationship Id="rId7" Type="http://schemas.openxmlformats.org/officeDocument/2006/relationships/slide" Target="slides/slide9.xml"/><Relationship Id="rId12" Type="http://schemas.openxmlformats.org/officeDocument/2006/relationships/slide" Target="slides/slide14.xml"/><Relationship Id="rId17" Type="http://schemas.openxmlformats.org/officeDocument/2006/relationships/slide" Target="slides/slide19.xml"/><Relationship Id="rId2" Type="http://schemas.openxmlformats.org/officeDocument/2006/relationships/slide" Target="slides/slide4.xml"/><Relationship Id="rId16" Type="http://schemas.openxmlformats.org/officeDocument/2006/relationships/slide" Target="slides/slide18.xml"/><Relationship Id="rId1" Type="http://schemas.openxmlformats.org/officeDocument/2006/relationships/slide" Target="slides/slide3.xml"/><Relationship Id="rId6" Type="http://schemas.openxmlformats.org/officeDocument/2006/relationships/slide" Target="slides/slide8.xml"/><Relationship Id="rId11" Type="http://schemas.openxmlformats.org/officeDocument/2006/relationships/slide" Target="slides/slide13.xml"/><Relationship Id="rId5" Type="http://schemas.openxmlformats.org/officeDocument/2006/relationships/slide" Target="slides/slide7.xml"/><Relationship Id="rId15" Type="http://schemas.openxmlformats.org/officeDocument/2006/relationships/slide" Target="slides/slide17.xml"/><Relationship Id="rId10" Type="http://schemas.openxmlformats.org/officeDocument/2006/relationships/slide" Target="slides/slide12.xml"/><Relationship Id="rId4" Type="http://schemas.openxmlformats.org/officeDocument/2006/relationships/slide" Target="slides/slide6.xml"/><Relationship Id="rId9" Type="http://schemas.openxmlformats.org/officeDocument/2006/relationships/slide" Target="slides/slide11.xml"/><Relationship Id="rId14" Type="http://schemas.openxmlformats.org/officeDocument/2006/relationships/slide" Target="slides/slide1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3" name="Rectangle 12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97284" name="Line 13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97285" name="Rectangle 14"/>
          <p:cNvSpPr>
            <a:spLocks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819" tIns="0" rIns="18819" bIns="0" anchor="b"/>
          <a:lstStyle/>
          <a:p>
            <a:pPr algn="r" defTabSz="903288">
              <a:lnSpc>
                <a:spcPct val="100000"/>
              </a:lnSpc>
              <a:defRPr/>
            </a:pPr>
            <a:fld id="{DA18195A-CB64-47E2-B402-53696444ACC8}" type="slidenum">
              <a:rPr lang="en-US" sz="800"/>
              <a:pPr algn="r" defTabSz="903288">
                <a:lnSpc>
                  <a:spcPct val="100000"/>
                </a:lnSpc>
                <a:defRPr/>
              </a:pPr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5365603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8"/>
          <p:cNvSpPr>
            <a:spLocks noChangeArrowheads="1"/>
          </p:cNvSpPr>
          <p:nvPr/>
        </p:nvSpPr>
        <p:spPr bwMode="auto">
          <a:xfrm>
            <a:off x="6249988" y="8609013"/>
            <a:ext cx="449262" cy="21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51203" name="Rectangle 9"/>
          <p:cNvSpPr>
            <a:spLocks noChangeArrowheads="1"/>
          </p:cNvSpPr>
          <p:nvPr/>
        </p:nvSpPr>
        <p:spPr bwMode="auto">
          <a:xfrm>
            <a:off x="57150" y="8785225"/>
            <a:ext cx="2619375" cy="347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5667" tIns="50185" rIns="95667" bIns="50185">
            <a:spAutoFit/>
          </a:bodyPr>
          <a:lstStyle/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© 2006, Cisco Systems, Inc. All rights reserved.</a:t>
            </a:r>
          </a:p>
          <a:p>
            <a:pPr algn="l" defTabSz="611188">
              <a:lnSpc>
                <a:spcPct val="100000"/>
              </a:lnSpc>
              <a:tabLst>
                <a:tab pos="2387600" algn="l"/>
                <a:tab pos="4830763" algn="l"/>
              </a:tabLst>
              <a:defRPr/>
            </a:pPr>
            <a:r>
              <a:rPr lang="en-US" sz="800" dirty="0"/>
              <a:t>Presentation_ID.scr</a:t>
            </a:r>
          </a:p>
        </p:txBody>
      </p:sp>
      <p:sp>
        <p:nvSpPr>
          <p:cNvPr id="51204" name="Line 10"/>
          <p:cNvSpPr>
            <a:spLocks noChangeShapeType="1"/>
          </p:cNvSpPr>
          <p:nvPr/>
        </p:nvSpPr>
        <p:spPr bwMode="auto">
          <a:xfrm>
            <a:off x="152400" y="8799513"/>
            <a:ext cx="66532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819" tIns="0" rIns="18819" bIns="0" numCol="1" anchor="b" anchorCtr="0" compatLnSpc="1">
            <a:prstTxWarp prst="textNoShape">
              <a:avLst/>
            </a:prstTxWarp>
          </a:bodyPr>
          <a:lstStyle>
            <a:lvl1pPr algn="r" defTabSz="903288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1C615CF7-9F59-4C8A-B650-E68E69E0FCF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4278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73125" y="244475"/>
            <a:ext cx="5321300" cy="39909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68350" y="4378325"/>
            <a:ext cx="5468938" cy="425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667" tIns="50185" rIns="95667" bIns="5018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Body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6782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50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35000"/>
      </a:spcBef>
      <a:spcAft>
        <a:spcPct val="0"/>
      </a:spcAft>
      <a:buSzPct val="100000"/>
      <a:buChar char="•"/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F1347AE-0112-4774-B739-631BBB092071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4813" y="4378325"/>
            <a:ext cx="6121400" cy="4252913"/>
          </a:xfrm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Cisco Networking Academy program</a:t>
            </a:r>
          </a:p>
          <a:p>
            <a:pPr>
              <a:buFontTx/>
              <a:buNone/>
            </a:pPr>
            <a:r>
              <a:rPr lang="en-US" b="1" dirty="0"/>
              <a:t>Routing</a:t>
            </a:r>
            <a:r>
              <a:rPr lang="en-US" b="1" baseline="0" dirty="0"/>
              <a:t> Protocols</a:t>
            </a:r>
            <a:endParaRPr lang="en-US" b="1" dirty="0"/>
          </a:p>
          <a:p>
            <a:pPr>
              <a:buFontTx/>
              <a:buNone/>
            </a:pPr>
            <a:r>
              <a:rPr lang="en-US" sz="1300" b="1" dirty="0"/>
              <a:t>Chapter 6: Static Routing</a:t>
            </a:r>
            <a:endParaRPr lang="en-GB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13E50C7-A33A-4B96-B5B8-3BD9C10BC48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>
              <a:buFontTx/>
              <a:buNone/>
            </a:pPr>
            <a:r>
              <a:rPr lang="en-US" b="1" dirty="0"/>
              <a:t>Chapter 6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6.1.1.1 Reach Remote Networks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6.1.1.2 Why Use Static Routing?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6.1.1.2 Why Use Static Routing?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6.1.2.1 Static Route Applications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6.2.1.1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route Command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6.2.1.3 Configure a Next-Hop Static Route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6.1.2.3 Default Static Route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6.2.2.2 Configure a Default Static Route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6.2.1.6 Verify a Static Route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6.2.1.6 Verify a Static Route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6.2.1.6 Verify a Static Route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6.2.3.1 The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route Command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6.2.3.3 Configure a Next-Hop Static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Route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6.2.4.2 Configure a Default Static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Route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6.2.3.6 Verify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IPv6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Static Routes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6.3.2.2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CIDR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 and Route Summarization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6.4.1.2 Calculate a Summary Route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70978E6-FB79-4E74-A4A4-2BA13DA27C4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indent="0" fontAlgn="base">
              <a:buNone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6.4.1.3 Summary Static Route Example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t_CoverArt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893888"/>
            <a:ext cx="9140825" cy="2449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8549DCE3-6259-4D7A-B1A4-505BEFE2CF19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9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10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90247" name="Rectangle 7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9024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638" y="798513"/>
            <a:ext cx="8145462" cy="8382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55638" y="2014538"/>
            <a:ext cx="7940675" cy="3571875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8" descr="PPt_4face_021208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911350"/>
            <a:ext cx="9144000" cy="243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78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6" name="Rectangle 279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sp>
        <p:nvSpPr>
          <p:cNvPr id="7" name="Rectangle 280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8" name="Rectangle 281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68B39EAB-15C0-47DB-80CA-636A5D3D8FC3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pic>
        <p:nvPicPr>
          <p:cNvPr id="9" name="Picture 331" descr="Cisco_NewLogo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83225" y="5940425"/>
            <a:ext cx="3354388" cy="474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333" descr="Cisco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46063" y="119063"/>
            <a:ext cx="1171575" cy="904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9873" name="Rectangle 209"/>
          <p:cNvSpPr>
            <a:spLocks noGrp="1" noChangeArrowheads="1"/>
          </p:cNvSpPr>
          <p:nvPr>
            <p:ph type="ctrTitle"/>
          </p:nvPr>
        </p:nvSpPr>
        <p:spPr bwMode="white">
          <a:xfrm>
            <a:off x="311150" y="2671763"/>
            <a:ext cx="3768725" cy="830262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69874" name="Rectangle 210"/>
          <p:cNvSpPr>
            <a:spLocks noGrp="1" noChangeArrowheads="1"/>
          </p:cNvSpPr>
          <p:nvPr>
            <p:ph type="subTitle" idx="1"/>
          </p:nvPr>
        </p:nvSpPr>
        <p:spPr>
          <a:xfrm>
            <a:off x="311150" y="4672013"/>
            <a:ext cx="4103688" cy="658812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2014538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2014538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798513"/>
            <a:ext cx="2035175" cy="47879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798513"/>
            <a:ext cx="5957887" cy="47879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4"/>
          <p:cNvSpPr>
            <a:spLocks noChangeArrowheads="1"/>
          </p:cNvSpPr>
          <p:nvPr/>
        </p:nvSpPr>
        <p:spPr bwMode="auto">
          <a:xfrm>
            <a:off x="193675" y="6562725"/>
            <a:ext cx="962025" cy="29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ITE PC v4.1</a:t>
            </a:r>
          </a:p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Chapter 1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934F42D9-89E1-4620-9E58-D735D372F12F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1029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30" name="Picture 7" descr="PPt_TopBand_Artwork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0" y="0"/>
            <a:ext cx="9140825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31" name="Rectangle 8"/>
          <p:cNvSpPr>
            <a:spLocks noChangeArrowheads="1"/>
          </p:cNvSpPr>
          <p:nvPr/>
        </p:nvSpPr>
        <p:spPr bwMode="auto">
          <a:xfrm>
            <a:off x="4498975" y="6670675"/>
            <a:ext cx="2347913" cy="19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2007 – 2010, Cisco Systems, Inc. All rights reserved.</a:t>
            </a:r>
          </a:p>
        </p:txBody>
      </p:sp>
      <p:sp>
        <p:nvSpPr>
          <p:cNvPr id="1032" name="Rectangle 9"/>
          <p:cNvSpPr>
            <a:spLocks noChangeArrowheads="1"/>
          </p:cNvSpPr>
          <p:nvPr/>
        </p:nvSpPr>
        <p:spPr bwMode="auto">
          <a:xfrm>
            <a:off x="7123113" y="6672263"/>
            <a:ext cx="6508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30" r:id="rId1"/>
    <p:sldLayoutId id="2147484509" r:id="rId2"/>
    <p:sldLayoutId id="2147484510" r:id="rId3"/>
    <p:sldLayoutId id="2147484511" r:id="rId4"/>
    <p:sldLayoutId id="2147484512" r:id="rId5"/>
    <p:sldLayoutId id="2147484513" r:id="rId6"/>
    <p:sldLayoutId id="2147484514" r:id="rId7"/>
    <p:sldLayoutId id="2147484515" r:id="rId8"/>
    <p:sldLayoutId id="2147484516" r:id="rId9"/>
    <p:sldLayoutId id="2147484517" r:id="rId10"/>
    <p:sldLayoutId id="2147484518" r:id="rId11"/>
    <p:sldLayoutId id="2147484519" r:id="rId12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146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798513"/>
            <a:ext cx="8145462" cy="8382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2051" name="Rectangle 6281"/>
          <p:cNvSpPr>
            <a:spLocks noChangeArrowheads="1"/>
          </p:cNvSpPr>
          <p:nvPr/>
        </p:nvSpPr>
        <p:spPr bwMode="auto">
          <a:xfrm>
            <a:off x="193675" y="6672263"/>
            <a:ext cx="96202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82124" tIns="41061" rIns="82124" bIns="41061" anchor="b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Presentation_ID</a:t>
            </a:r>
          </a:p>
        </p:txBody>
      </p:sp>
      <p:sp>
        <p:nvSpPr>
          <p:cNvPr id="2052" name="Rectangle 6282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9C83DDDE-9DCD-477B-857E-9601FF96A69C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 dirty="0">
              <a:solidFill>
                <a:srgbClr val="D3D3D3"/>
              </a:solidFill>
            </a:endParaRPr>
          </a:p>
        </p:txBody>
      </p:sp>
      <p:sp>
        <p:nvSpPr>
          <p:cNvPr id="2053" name="Rectangle 628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2014538"/>
            <a:ext cx="7940675" cy="35718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54" name="Rectangle 6312"/>
          <p:cNvSpPr>
            <a:spLocks noChangeArrowheads="1"/>
          </p:cNvSpPr>
          <p:nvPr/>
        </p:nvSpPr>
        <p:spPr bwMode="auto">
          <a:xfrm>
            <a:off x="4498975" y="6672263"/>
            <a:ext cx="2022475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 anchorCtr="1">
            <a:spAutoFit/>
          </a:bodyPr>
          <a:lstStyle/>
          <a:p>
            <a:pPr algn="l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© 2008 Cisco Systems, Inc. All rights reserved.</a:t>
            </a:r>
          </a:p>
        </p:txBody>
      </p:sp>
      <p:sp>
        <p:nvSpPr>
          <p:cNvPr id="2055" name="Rectangle 6313"/>
          <p:cNvSpPr>
            <a:spLocks noChangeArrowheads="1"/>
          </p:cNvSpPr>
          <p:nvPr/>
        </p:nvSpPr>
        <p:spPr bwMode="auto">
          <a:xfrm>
            <a:off x="6896100" y="6672263"/>
            <a:ext cx="877888" cy="18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r>
              <a:rPr lang="en-US" sz="700" dirty="0">
                <a:solidFill>
                  <a:srgbClr val="D3D3D3"/>
                </a:solidFill>
              </a:rPr>
              <a:t>Cisco Confidential</a:t>
            </a:r>
          </a:p>
        </p:txBody>
      </p:sp>
      <p:pic>
        <p:nvPicPr>
          <p:cNvPr id="2056" name="Picture 8" descr="Rev08_Cisco_BrandBar10_060408.png"/>
          <p:cNvPicPr>
            <a:picLocks noChangeAspect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341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31" r:id="rId1"/>
    <p:sldLayoutId id="2147484520" r:id="rId2"/>
    <p:sldLayoutId id="2147484521" r:id="rId3"/>
    <p:sldLayoutId id="2147484522" r:id="rId4"/>
    <p:sldLayoutId id="2147484523" r:id="rId5"/>
    <p:sldLayoutId id="2147484524" r:id="rId6"/>
    <p:sldLayoutId id="2147484525" r:id="rId7"/>
    <p:sldLayoutId id="2147484526" r:id="rId8"/>
    <p:sldLayoutId id="2147484527" r:id="rId9"/>
    <p:sldLayoutId id="2147484528" r:id="rId10"/>
    <p:sldLayoutId id="2147484529" r:id="rId11"/>
  </p:sldLayoutIdLst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5pPr>
      <a:lvl6pPr marL="4572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6pPr>
      <a:lvl7pPr marL="9144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7pPr>
      <a:lvl8pPr marL="13716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8pPr>
      <a:lvl9pPr marL="1828800" algn="l" defTabSz="814388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708CA1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rgbClr val="708CA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5pPr>
      <a:lvl6pPr marL="20621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6pPr>
      <a:lvl7pPr marL="25193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7pPr>
      <a:lvl8pPr marL="29765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8pPr>
      <a:lvl9pPr marL="3433763" algn="l" defTabSz="814388" rtl="0" eaLnBrk="1" fontAlgn="base" hangingPunct="1">
        <a:lnSpc>
          <a:spcPct val="95000"/>
        </a:lnSpc>
        <a:spcBef>
          <a:spcPct val="35000"/>
        </a:spcBef>
        <a:spcAft>
          <a:spcPct val="0"/>
        </a:spcAft>
        <a:buClr>
          <a:srgbClr val="708CA1"/>
        </a:buClr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11150" y="2263775"/>
            <a:ext cx="3854450" cy="1481138"/>
          </a:xfrm>
        </p:spPr>
        <p:txBody>
          <a:bodyPr/>
          <a:lstStyle/>
          <a:p>
            <a:pPr eaLnBrk="1" hangingPunct="1"/>
            <a:r>
              <a:rPr lang="en-US" sz="2800" dirty="0"/>
              <a:t>Chapter 2a: Static Routing</a:t>
            </a:r>
            <a:br>
              <a:rPr lang="en-US" sz="2800" dirty="0"/>
            </a:br>
            <a:endParaRPr lang="en-US" sz="2800" dirty="0">
              <a:solidFill>
                <a:schemeClr val="folHlink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52466-7CCF-484D-9177-A46F59FCB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SG"/>
          </a:p>
        </p:txBody>
      </p:sp>
    </p:spTree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4638" y="493713"/>
            <a:ext cx="8145462" cy="838200"/>
          </a:xfrm>
        </p:spPr>
        <p:txBody>
          <a:bodyPr/>
          <a:lstStyle/>
          <a:p>
            <a:pPr eaLnBrk="1" hangingPunct="1"/>
            <a:r>
              <a:rPr lang="en-US" dirty="0">
                <a:ea typeface="ＭＳ Ｐゴシック" pitchFamily="34" charset="-128"/>
              </a:rPr>
              <a:t>Chapter 2a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747713" y="1601788"/>
            <a:ext cx="8131175" cy="4437062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Static Routing Implementation</a:t>
            </a:r>
          </a:p>
          <a:p>
            <a:pPr eaLnBrk="1" hangingPunct="1"/>
            <a:r>
              <a:rPr lang="en-US" dirty="0">
                <a:cs typeface="Arial" charset="0"/>
              </a:rPr>
              <a:t>Configure Static and Default IPv4 and IPv6 Routes</a:t>
            </a:r>
          </a:p>
          <a:p>
            <a:pPr eaLnBrk="1" hangingPunct="1"/>
            <a:r>
              <a:rPr lang="en-US" dirty="0">
                <a:cs typeface="Arial" charset="0"/>
              </a:rPr>
              <a:t>Configure Summary Static IPv4 Routes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Static Routing</a:t>
            </a:r>
            <a:br>
              <a:rPr lang="en-US" dirty="0"/>
            </a:br>
            <a:r>
              <a:rPr lang="en-US" dirty="0"/>
              <a:t>Reach Remote Networks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8" y="1565275"/>
            <a:ext cx="7940675" cy="43862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router can learn about remote networks in one of two ways:</a:t>
            </a:r>
          </a:p>
          <a:p>
            <a:pPr marL="461963" indent="-342900">
              <a:buFont typeface="Arial"/>
              <a:buChar char="•"/>
            </a:pPr>
            <a:r>
              <a:rPr lang="en-US" b="1" dirty="0"/>
              <a:t>Manually</a:t>
            </a:r>
            <a:endParaRPr lang="en-US" dirty="0"/>
          </a:p>
          <a:p>
            <a:pPr marL="800100" lvl="1" indent="-342900">
              <a:buFont typeface="Arial"/>
              <a:buChar char="•"/>
            </a:pPr>
            <a:r>
              <a:rPr lang="en-US" dirty="0"/>
              <a:t>Remote networks are </a:t>
            </a:r>
            <a:r>
              <a:rPr lang="en-US" u="sng" dirty="0"/>
              <a:t>manually entered</a:t>
            </a:r>
            <a:r>
              <a:rPr lang="en-US" dirty="0"/>
              <a:t> into the routing table of a router by the network administrator.</a:t>
            </a:r>
          </a:p>
          <a:p>
            <a:pPr marL="800100" lvl="1" indent="-342900">
              <a:buFont typeface="Arial"/>
              <a:buChar char="•"/>
            </a:pPr>
            <a:r>
              <a:rPr lang="en-US" dirty="0"/>
              <a:t>These are called </a:t>
            </a:r>
            <a:r>
              <a:rPr lang="en-US" u="sng" dirty="0"/>
              <a:t>static routes</a:t>
            </a:r>
            <a:r>
              <a:rPr lang="en-US" dirty="0"/>
              <a:t>.</a:t>
            </a:r>
          </a:p>
          <a:p>
            <a:pPr marL="461963" indent="-342900">
              <a:buFont typeface="Arial"/>
              <a:buChar char="•"/>
            </a:pPr>
            <a:r>
              <a:rPr lang="en-US" b="1" dirty="0"/>
              <a:t>Dynamically</a:t>
            </a:r>
            <a:endParaRPr lang="en-US" dirty="0"/>
          </a:p>
          <a:p>
            <a:pPr marL="800100" lvl="1" indent="-342900">
              <a:buFont typeface="Arial"/>
              <a:buChar char="•"/>
            </a:pPr>
            <a:r>
              <a:rPr lang="en-US" dirty="0"/>
              <a:t>Remote routes are </a:t>
            </a:r>
            <a:r>
              <a:rPr lang="en-US" u="sng" dirty="0"/>
              <a:t>automatically learned</a:t>
            </a:r>
            <a:r>
              <a:rPr lang="en-US" dirty="0"/>
              <a:t> between routers configured to communicate through a </a:t>
            </a:r>
            <a:r>
              <a:rPr lang="en-US" u="sng" dirty="0"/>
              <a:t>dynamic routing protocol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7380548"/>
      </p:ext>
    </p:extLst>
  </p:cSld>
  <p:clrMapOvr>
    <a:masterClrMapping/>
  </p:clrMapOvr>
  <p:transition spd="med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06" y="489754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Static Routing</a:t>
            </a:r>
            <a:br>
              <a:rPr lang="en-US" dirty="0"/>
            </a:br>
            <a:r>
              <a:rPr lang="en-US" dirty="0"/>
              <a:t>Static vs Dynamic Routing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6879" y="1883391"/>
            <a:ext cx="8405235" cy="445803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Advantages</a:t>
            </a:r>
            <a:r>
              <a:rPr lang="en-US" dirty="0"/>
              <a:t> of using static routing over dynamic routing: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More secure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/>
              <a:t>static routes are not advertised over the network.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No extra resources needed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/>
              <a:t>static routes use less bandwidth than dynamic routing protocols.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/>
              <a:t>no CPU cycles are used to calculate and communicate routes.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Predictable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/>
              <a:t>The path for that static route is always the same.</a:t>
            </a:r>
          </a:p>
        </p:txBody>
      </p:sp>
    </p:spTree>
    <p:extLst>
      <p:ext uri="{BB962C8B-B14F-4D97-AF65-F5344CB8AC3E}">
        <p14:creationId xmlns:p14="http://schemas.microsoft.com/office/powerpoint/2010/main" val="2037710063"/>
      </p:ext>
    </p:extLst>
  </p:cSld>
  <p:clrMapOvr>
    <a:masterClrMapping/>
  </p:clrMapOvr>
  <p:transition spd="med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82506" y="489754"/>
            <a:ext cx="8145462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Static Routing</a:t>
            </a:r>
            <a:br>
              <a:rPr lang="en-US" dirty="0"/>
            </a:br>
            <a:r>
              <a:rPr lang="en-US" dirty="0"/>
              <a:t>Static vs Dynamic Routing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46879" y="1774209"/>
            <a:ext cx="8405235" cy="4567214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Disadvantages</a:t>
            </a:r>
            <a:r>
              <a:rPr lang="en-US" dirty="0"/>
              <a:t> of using static routing over dynamic routing: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Configuration Complexity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/>
              <a:t>Initial configuration and maintenance is time-consuming.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/>
              <a:t>Requires knowledge of the whole network for implementation.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Topology Changes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>
                <a:ea typeface="+mn-ea"/>
                <a:cs typeface="+mn-cs"/>
              </a:rPr>
              <a:t>Administrator intervention is required to maintain changing route information.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Suitable only for simple topologies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>
                <a:ea typeface="+mn-ea"/>
                <a:cs typeface="+mn-cs"/>
              </a:rPr>
              <a:t>Does not scale well with large networks as maintenance becomes difficult.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r>
              <a:rPr lang="en-US" dirty="0"/>
              <a:t>Configuration can be error-prone, especially in large networks.</a:t>
            </a:r>
            <a:endParaRPr lang="en-US" dirty="0">
              <a:ea typeface="+mn-ea"/>
              <a:cs typeface="+mn-cs"/>
            </a:endParaRP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264309726"/>
      </p:ext>
    </p:extLst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Types of Static Routes</a:t>
            </a:r>
            <a:br>
              <a:rPr lang="en-US" sz="1800" dirty="0"/>
            </a:br>
            <a:r>
              <a:rPr lang="en-US" dirty="0"/>
              <a:t>Static Route Applications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9" y="1565275"/>
            <a:ext cx="7972444" cy="438626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/>
              <a:t>Static Routes are often used to: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Provide a Gateway of Last Resort (default static route) for a </a:t>
            </a:r>
            <a:r>
              <a:rPr lang="en-US" sz="2000" u="sng" dirty="0"/>
              <a:t>stub network</a:t>
            </a:r>
            <a:r>
              <a:rPr lang="en-US" sz="20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Route </a:t>
            </a:r>
            <a:r>
              <a:rPr lang="en-US" sz="2000" u="sng" dirty="0"/>
              <a:t>to a specific network</a:t>
            </a:r>
            <a:r>
              <a:rPr lang="en-US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Reduce the number of routes advertised by </a:t>
            </a:r>
            <a:r>
              <a:rPr lang="en-US" sz="2000" u="sng" dirty="0"/>
              <a:t>summarizing several contiguous networks as one static route</a:t>
            </a:r>
            <a:r>
              <a:rPr lang="en-US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Create a backup route in case a primary route link fails.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14" t="35082" r="17558" b="18672"/>
          <a:stretch/>
        </p:blipFill>
        <p:spPr bwMode="auto">
          <a:xfrm>
            <a:off x="323169" y="4346370"/>
            <a:ext cx="3441312" cy="220881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Content Placeholder 1"/>
          <p:cNvPicPr>
            <a:picLocks noChangeAspect="1"/>
          </p:cNvPicPr>
          <p:nvPr/>
        </p:nvPicPr>
        <p:blipFill rotWithShape="1">
          <a:blip r:embed="rId4"/>
          <a:srcRect l="4168" t="30645" r="8345" b="7627"/>
          <a:stretch/>
        </p:blipFill>
        <p:spPr bwMode="auto">
          <a:xfrm>
            <a:off x="3974479" y="4453247"/>
            <a:ext cx="5015139" cy="2101933"/>
          </a:xfrm>
          <a:prstGeom prst="rect">
            <a:avLst/>
          </a:prstGeom>
          <a:noFill/>
          <a:ln w="9525" algn="ctr">
            <a:solidFill>
              <a:schemeClr val="accent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57618537"/>
      </p:ext>
    </p:extLst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IPv4 Static Routes</a:t>
            </a:r>
            <a:br>
              <a:rPr lang="en-US" sz="1800" dirty="0"/>
            </a:br>
            <a:r>
              <a:rPr lang="en-US" dirty="0"/>
              <a:t>Command: </a:t>
            </a:r>
            <a:r>
              <a:rPr lang="en-US" dirty="0" err="1"/>
              <a:t>ip</a:t>
            </a:r>
            <a:r>
              <a:rPr lang="en-US" dirty="0"/>
              <a:t> route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50124" y="1495485"/>
            <a:ext cx="8993875" cy="5216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defRPr/>
            </a:pPr>
            <a:r>
              <a:rPr lang="en-US" dirty="0"/>
              <a:t>To configure a static route:</a:t>
            </a:r>
          </a:p>
          <a:p>
            <a:pPr marL="0" indent="0" algn="l">
              <a:buNone/>
              <a:defRPr/>
            </a:pP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  <a:defRPr/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network</a:t>
            </a:r>
            <a:r>
              <a:rPr lang="en-US" sz="20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mask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{</a:t>
            </a:r>
            <a:r>
              <a:rPr lang="en-US" sz="20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next-hop-</a:t>
            </a:r>
            <a:r>
              <a:rPr lang="en-US" sz="2000" b="1" i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| </a:t>
            </a:r>
            <a:r>
              <a:rPr lang="en-US" sz="20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exit-</a:t>
            </a:r>
            <a:r>
              <a:rPr lang="en-US" sz="2000" b="1" i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Network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	destination network address to be added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Mask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		subnet mask of the destination network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Either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next-hop-</a:t>
            </a:r>
            <a:r>
              <a:rPr lang="en-US" sz="1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	the IP address of the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neighbour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router 				interface to send the packet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exit-</a:t>
            </a:r>
            <a:r>
              <a:rPr lang="en-US" sz="1800" b="1" i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:	the local interface id of this router to send 			the packet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Example: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18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10.20.30.0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255.255.255.0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192.168.1.2</a:t>
            </a:r>
          </a:p>
          <a:p>
            <a:pPr marL="0" indent="0" algn="l" eaLnBrk="1" hangingPunct="1">
              <a:buFont typeface="Wingdings" pitchFamily="2" charset="2"/>
              <a:buNone/>
              <a:defRPr/>
            </a:pPr>
            <a:endParaRPr lang="en-US" sz="18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 eaLnBrk="1" hangingPunct="1">
              <a:buFont typeface="Wingdings" pitchFamily="2" charset="2"/>
              <a:buNone/>
              <a:defRPr/>
            </a:pP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18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10.20.30.0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255.255.255.0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S0/0/0</a:t>
            </a:r>
          </a:p>
        </p:txBody>
      </p:sp>
    </p:spTree>
    <p:extLst>
      <p:ext uri="{BB962C8B-B14F-4D97-AF65-F5344CB8AC3E}">
        <p14:creationId xmlns:p14="http://schemas.microsoft.com/office/powerpoint/2010/main" val="736407773"/>
      </p:ext>
    </p:extLst>
  </p:cSld>
  <p:clrMapOvr>
    <a:masterClrMapping/>
  </p:clrMapOvr>
  <p:transition spd="med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IPv4 Static Routes</a:t>
            </a:r>
            <a:br>
              <a:rPr lang="en-US" sz="1800" dirty="0"/>
            </a:br>
            <a:r>
              <a:rPr lang="en-US" dirty="0"/>
              <a:t>Configure a Network Static Route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t="6543" b="39505"/>
          <a:stretch/>
        </p:blipFill>
        <p:spPr>
          <a:xfrm>
            <a:off x="3119801" y="1337474"/>
            <a:ext cx="5887721" cy="285537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0" y="4192844"/>
            <a:ext cx="9007522" cy="1921353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)#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172.16.1.0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255.255.255.0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S0/0/0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)#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192.168.1.0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255.255.255.0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S0/0/0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)#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192.168.2.0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255.255.255.0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172.16.2.2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7891" y="2608858"/>
            <a:ext cx="302297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dirty="0"/>
              <a:t>For router R1 to know how to forward packets to PC2 and PC3, the remote networks need to be added:-</a:t>
            </a:r>
          </a:p>
        </p:txBody>
      </p:sp>
      <p:sp>
        <p:nvSpPr>
          <p:cNvPr id="7" name="Rectangle 6"/>
          <p:cNvSpPr/>
          <p:nvPr/>
        </p:nvSpPr>
        <p:spPr>
          <a:xfrm>
            <a:off x="350290" y="5622877"/>
            <a:ext cx="83433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dirty="0"/>
              <a:t>Similar configuration has to be done on routers R2 and R3 in order for all the PCs  to communicate</a:t>
            </a:r>
          </a:p>
        </p:txBody>
      </p:sp>
    </p:spTree>
    <p:extLst>
      <p:ext uri="{BB962C8B-B14F-4D97-AF65-F5344CB8AC3E}">
        <p14:creationId xmlns:p14="http://schemas.microsoft.com/office/powerpoint/2010/main" val="435270089"/>
      </p:ext>
    </p:extLst>
  </p:cSld>
  <p:clrMapOvr>
    <a:masterClrMapping/>
  </p:clrMapOvr>
  <p:transition spd="med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br>
              <a:rPr lang="en-US" sz="1800" dirty="0"/>
            </a:br>
            <a:r>
              <a:rPr lang="en-US" sz="1800" dirty="0"/>
              <a:t>Configure IPv4 Static Routes</a:t>
            </a:r>
            <a:br>
              <a:rPr lang="en-US" sz="1800" dirty="0"/>
            </a:br>
            <a:r>
              <a:rPr lang="en-US" dirty="0"/>
              <a:t>Configure a Default Static Route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354842" y="1565275"/>
            <a:ext cx="8461612" cy="4386263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A default static route:- </a:t>
            </a:r>
          </a:p>
          <a:p>
            <a:pPr algn="just"/>
            <a:r>
              <a:rPr lang="en-US" dirty="0"/>
              <a:t>is a route that matches all packets. </a:t>
            </a:r>
          </a:p>
          <a:p>
            <a:pPr algn="just"/>
            <a:r>
              <a:rPr lang="en-US" dirty="0"/>
              <a:t>identifies the gateway IP address for packets that has no match in the </a:t>
            </a:r>
            <a:r>
              <a:rPr lang="en-US"/>
              <a:t>routing table. </a:t>
            </a:r>
            <a:endParaRPr lang="en-US" dirty="0"/>
          </a:p>
          <a:p>
            <a:pPr algn="just"/>
            <a:r>
              <a:rPr lang="en-US" dirty="0"/>
              <a:t>is simply a static route with 0.0.0.0/0 as the destination address.</a:t>
            </a:r>
          </a:p>
          <a:p>
            <a:pPr>
              <a:defRPr/>
            </a:pPr>
            <a:endParaRPr lang="en-US" dirty="0"/>
          </a:p>
          <a:p>
            <a:pPr marL="0" indent="0">
              <a:buNone/>
              <a:defRPr/>
            </a:pPr>
            <a:r>
              <a:rPr lang="en-US" dirty="0"/>
              <a:t>To configure a default static route:</a:t>
            </a:r>
          </a:p>
          <a:p>
            <a:pPr marL="0" indent="0">
              <a:buNone/>
              <a:defRPr/>
            </a:pP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US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18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0.0.0.0</a:t>
            </a:r>
            <a:r>
              <a:rPr lang="en-US" sz="1800" b="1" i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8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0.0.0.0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{</a:t>
            </a:r>
            <a:r>
              <a:rPr lang="en-US" sz="18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next-hop-</a:t>
            </a:r>
            <a:r>
              <a:rPr lang="en-US" sz="1800" b="1" i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 | </a:t>
            </a:r>
            <a:r>
              <a:rPr lang="en-US" sz="1800" b="1" i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exit-</a:t>
            </a:r>
            <a:r>
              <a:rPr lang="en-US" sz="1800" b="1" i="1" u="sng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algn="just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39567348"/>
      </p:ext>
    </p:extLst>
  </p:cSld>
  <p:clrMapOvr>
    <a:masterClrMapping/>
  </p:clrMapOvr>
  <p:transition spd="med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IPv4 Default Routes</a:t>
            </a:r>
            <a:br>
              <a:rPr lang="en-US" sz="1800" dirty="0"/>
            </a:br>
            <a:r>
              <a:rPr lang="en-US" dirty="0"/>
              <a:t>Configure a Default Static Route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9776" y="1926474"/>
            <a:ext cx="3022979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just">
              <a:buNone/>
            </a:pPr>
            <a:r>
              <a:rPr lang="en-US" sz="2000" dirty="0"/>
              <a:t>Using router R3 as example.</a:t>
            </a:r>
          </a:p>
          <a:p>
            <a:pPr marL="0" indent="0" algn="just">
              <a:buNone/>
            </a:pPr>
            <a:endParaRPr lang="en-US" sz="2000" dirty="0"/>
          </a:p>
          <a:p>
            <a:pPr marL="0" indent="0" algn="just">
              <a:buNone/>
            </a:pPr>
            <a:r>
              <a:rPr lang="en-US" sz="2000" dirty="0"/>
              <a:t>Configuring router R3 with a default static route to route all unknown packets  through the S0/0/1 exit interface as shown:-</a:t>
            </a:r>
          </a:p>
        </p:txBody>
      </p:sp>
      <p:sp>
        <p:nvSpPr>
          <p:cNvPr id="5" name="Content Placeholder 5"/>
          <p:cNvSpPr txBox="1">
            <a:spLocks/>
          </p:cNvSpPr>
          <p:nvPr/>
        </p:nvSpPr>
        <p:spPr bwMode="auto">
          <a:xfrm>
            <a:off x="375312" y="4534044"/>
            <a:ext cx="8632210" cy="192135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rgbClr val="708CA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1" fontAlgn="base" hangingPunct="1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lr>
                <a:srgbClr val="708CA1"/>
              </a:buClr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R3(</a:t>
            </a:r>
            <a:r>
              <a:rPr 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)#  </a:t>
            </a:r>
            <a:r>
              <a:rPr lang="en-US" sz="2000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kern="0" dirty="0">
                <a:latin typeface="Courier New" panose="02070309020205020404" pitchFamily="49" charset="0"/>
                <a:cs typeface="Courier New" panose="02070309020205020404" pitchFamily="49" charset="0"/>
              </a:rPr>
              <a:t>0.0.0.0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kern="0" dirty="0">
                <a:latin typeface="Courier New" panose="02070309020205020404" pitchFamily="49" charset="0"/>
                <a:cs typeface="Courier New" panose="02070309020205020404" pitchFamily="49" charset="0"/>
              </a:rPr>
              <a:t>0.0.0.0</a:t>
            </a:r>
            <a:r>
              <a:rPr lang="en-US" sz="2000" kern="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kern="0" dirty="0">
                <a:latin typeface="Courier New" panose="02070309020205020404" pitchFamily="49" charset="0"/>
                <a:cs typeface="Courier New" panose="02070309020205020404" pitchFamily="49" charset="0"/>
              </a:rPr>
              <a:t>S0/0/1</a:t>
            </a:r>
          </a:p>
          <a:p>
            <a:pPr marL="0" indent="0">
              <a:buFont typeface="Wingdings" pitchFamily="2" charset="2"/>
              <a:buNone/>
            </a:pPr>
            <a:endParaRPr lang="en-US" kern="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8523" y="1437987"/>
            <a:ext cx="5688999" cy="294294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cxnSp>
        <p:nvCxnSpPr>
          <p:cNvPr id="8" name="Straight Arrow Connector 7"/>
          <p:cNvCxnSpPr/>
          <p:nvPr/>
        </p:nvCxnSpPr>
        <p:spPr bwMode="auto">
          <a:xfrm flipH="1">
            <a:off x="5718412" y="3916907"/>
            <a:ext cx="1228298" cy="61713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467237328"/>
      </p:ext>
    </p:extLst>
  </p:cSld>
  <p:clrMapOvr>
    <a:masterClrMapping/>
  </p:clrMapOvr>
  <p:transition spd="med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IPv4 Static Routes</a:t>
            </a:r>
            <a:br>
              <a:rPr lang="en-US" sz="1800" dirty="0"/>
            </a:br>
            <a:r>
              <a:rPr lang="en-US" dirty="0"/>
              <a:t>Verify a Static Route (running-</a:t>
            </a:r>
            <a:r>
              <a:rPr lang="en-US" dirty="0" err="1"/>
              <a:t>config</a:t>
            </a:r>
            <a:r>
              <a:rPr lang="en-US" dirty="0"/>
              <a:t>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8" y="1565275"/>
            <a:ext cx="7940675" cy="43862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Check the configured static routes in the running-</a:t>
            </a:r>
            <a:r>
              <a:rPr lang="en-US" dirty="0" err="1"/>
              <a:t>config</a:t>
            </a:r>
            <a:r>
              <a:rPr lang="en-US" dirty="0"/>
              <a:t> file using </a:t>
            </a:r>
            <a:r>
              <a:rPr lang="en-US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#show running-</a:t>
            </a:r>
            <a:r>
              <a:rPr lang="en-US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config</a:t>
            </a:r>
            <a:endParaRPr lang="en-US" dirty="0"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static route entries will be shown in the file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795337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19668" y="3151092"/>
            <a:ext cx="6066430" cy="3194721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R1# show run</a:t>
            </a:r>
          </a:p>
          <a:p>
            <a:pPr algn="l"/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&lt;-- output omitted --&gt;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interface Vlan1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no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address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shutdown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algn="l"/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classless</a:t>
            </a:r>
          </a:p>
          <a:p>
            <a:pPr algn="l"/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route 172.16.1.0 255.255.255.0 Serial0/0/0 </a:t>
            </a:r>
          </a:p>
          <a:p>
            <a:pPr algn="l"/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route 192.168.1.0 255.255.255.0 Serial0/0/0 </a:t>
            </a:r>
          </a:p>
          <a:p>
            <a:pPr algn="l"/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route 192.168.2.0 255.255.255.0 172.16.2.2 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</a:p>
          <a:p>
            <a:pPr algn="l"/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flow-export version 9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&lt;-- output omitted --&gt;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47743" y="3195935"/>
            <a:ext cx="24559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u="sng" dirty="0"/>
              <a:t>Question:</a:t>
            </a:r>
          </a:p>
          <a:p>
            <a:pPr algn="l"/>
            <a:endParaRPr lang="en-SG" sz="2000" dirty="0"/>
          </a:p>
          <a:p>
            <a:pPr algn="l"/>
            <a:r>
              <a:rPr lang="en-SG" sz="2000" dirty="0"/>
              <a:t>How do you remove a wrong static route?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0" y="4926842"/>
            <a:ext cx="6919415" cy="736979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4301720"/>
      </p:ext>
    </p:extLst>
  </p:cSld>
  <p:clrMapOvr>
    <a:masterClrMapping/>
  </p:clrMapOvr>
  <p:transition spd="med"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IPv4 Static Routes</a:t>
            </a:r>
            <a:br>
              <a:rPr lang="en-US" sz="1800" dirty="0"/>
            </a:br>
            <a:r>
              <a:rPr lang="en-US" dirty="0"/>
              <a:t>Verify a Static Route (routing table)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341194" y="1565275"/>
            <a:ext cx="8434316" cy="4386263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Check the routing table using </a:t>
            </a:r>
            <a:r>
              <a:rPr lang="en-US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#show </a:t>
            </a:r>
            <a:r>
              <a:rPr lang="en-US" dirty="0" err="1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ip</a:t>
            </a:r>
            <a:r>
              <a:rPr lang="en-US" dirty="0"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route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static route entries are marked with the route source code “S”.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177420" y="2837194"/>
            <a:ext cx="7315201" cy="27515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R1#show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route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&lt;-- output omitted --&gt;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Gateway of last resort is not set</a:t>
            </a:r>
          </a:p>
          <a:p>
            <a:pPr algn="l"/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172.16.0.0/16 is variably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subnetted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5 subnets, 2 masks</a:t>
            </a:r>
          </a:p>
          <a:p>
            <a:pPr algn="l"/>
            <a:r>
              <a:rPr lang="en-SG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172.16.1.0/24 is directly connected, Serial0/0/0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172.16.2.0/24 is directly connected, Serial0/0/0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 172.16.2.1/32 is directly connected, Serial0/0/0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172.16.3.0/24 is directly connected, GigabitEthernet0/0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 172.16.3.1/32 is directly connected, GigabitEthernet0/0</a:t>
            </a:r>
          </a:p>
          <a:p>
            <a:pPr algn="l"/>
            <a:r>
              <a:rPr lang="en-SG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192.168.1.0/24 is directly connected, Serial0/0/0</a:t>
            </a:r>
          </a:p>
          <a:p>
            <a:pPr algn="l"/>
            <a:r>
              <a:rPr lang="en-SG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 192.168.2.0/24 [1/0] via 172.16.2.2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92688" y="5367117"/>
            <a:ext cx="2146742" cy="10895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SG" sz="1800" dirty="0"/>
              <a:t>Using exit interface</a:t>
            </a:r>
          </a:p>
          <a:p>
            <a:pPr algn="l"/>
            <a:endParaRPr lang="en-SG" sz="1800" dirty="0"/>
          </a:p>
          <a:p>
            <a:pPr algn="l"/>
            <a:endParaRPr lang="en-SG" sz="1800" dirty="0"/>
          </a:p>
          <a:p>
            <a:pPr algn="l"/>
            <a:r>
              <a:rPr lang="en-SG" sz="1800" dirty="0"/>
              <a:t>Using next-hop IP</a:t>
            </a:r>
          </a:p>
        </p:txBody>
      </p:sp>
      <p:sp>
        <p:nvSpPr>
          <p:cNvPr id="12" name="Freeform 11"/>
          <p:cNvSpPr/>
          <p:nvPr/>
        </p:nvSpPr>
        <p:spPr bwMode="auto">
          <a:xfrm>
            <a:off x="6605516" y="3835021"/>
            <a:ext cx="1951630" cy="1532096"/>
          </a:xfrm>
          <a:custGeom>
            <a:avLst/>
            <a:gdLst>
              <a:gd name="connsiteX0" fmla="*/ 1446663 w 1743780"/>
              <a:gd name="connsiteY0" fmla="*/ 1050878 h 1050878"/>
              <a:gd name="connsiteX1" fmla="*/ 1637732 w 1743780"/>
              <a:gd name="connsiteY1" fmla="*/ 245660 h 1050878"/>
              <a:gd name="connsiteX2" fmla="*/ 0 w 1743780"/>
              <a:gd name="connsiteY2" fmla="*/ 0 h 10508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43780" h="1050878">
                <a:moveTo>
                  <a:pt x="1446663" y="1050878"/>
                </a:moveTo>
                <a:cubicBezTo>
                  <a:pt x="1662753" y="735842"/>
                  <a:pt x="1878843" y="420806"/>
                  <a:pt x="1637732" y="245660"/>
                </a:cubicBezTo>
                <a:cubicBezTo>
                  <a:pt x="1396621" y="70514"/>
                  <a:pt x="698310" y="35257"/>
                  <a:pt x="0" y="0"/>
                </a:cubicBezTo>
              </a:path>
            </a:pathLst>
          </a:cu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  <p:txBody>
          <a:bodyPr vert="horz" wrap="square" lIns="82124" tIns="41061" rIns="82124" bIns="41061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SG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cxnSp>
        <p:nvCxnSpPr>
          <p:cNvPr id="14" name="Straight Arrow Connector 13"/>
          <p:cNvCxnSpPr>
            <a:stCxn id="12" idx="0"/>
          </p:cNvCxnSpPr>
          <p:nvPr/>
        </p:nvCxnSpPr>
        <p:spPr bwMode="auto">
          <a:xfrm flipH="1" flipV="1">
            <a:off x="6605516" y="4981433"/>
            <a:ext cx="1619098" cy="385684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H="1" flipV="1">
            <a:off x="4792639" y="5174275"/>
            <a:ext cx="2100049" cy="96721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900826156"/>
      </p:ext>
    </p:extLst>
  </p:cSld>
  <p:clrMapOvr>
    <a:masterClrMapping/>
  </p:clrMapOvr>
  <p:transition spd="med"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IPv4 Static Routes</a:t>
            </a:r>
            <a:br>
              <a:rPr lang="en-US" sz="1800" dirty="0"/>
            </a:br>
            <a:r>
              <a:rPr lang="en-US" dirty="0"/>
              <a:t>Verify a Static Route (routing table)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341194" y="1565275"/>
            <a:ext cx="8434316" cy="43862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default static route entry is marked “S*”.</a:t>
            </a:r>
          </a:p>
          <a:p>
            <a:pPr marL="795337" lvl="1" indent="-4572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66130" y="2333685"/>
            <a:ext cx="8454789" cy="2751522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R1#show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route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&lt;-- output omitted --&gt;</a:t>
            </a:r>
          </a:p>
          <a:p>
            <a:pPr algn="l"/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Gateway of last resort is 0.0.0.0 to network 0.0.0.0</a:t>
            </a:r>
          </a:p>
          <a:p>
            <a:pPr algn="l"/>
            <a:endParaRPr lang="en-SG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192.168.1.0/24 is variably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subnetted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2 subnets, 2 masks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192.168.1.0/24 is directly connected, Serial0/0/1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 192.168.1.1/32 is directly connected, Serial0/0/1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192.168.2.0/24 is variably </a:t>
            </a:r>
            <a:r>
              <a:rPr lang="en-SG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subnetted</a:t>
            </a:r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2 subnets, 2 masks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 192.168.2.0/24 is directly connected, GigabitEthernet0/0</a:t>
            </a:r>
          </a:p>
          <a:p>
            <a:pPr algn="l"/>
            <a:r>
              <a:rPr lang="en-SG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L 192.168.2.1/32 is directly connected, GigabitEthernet0/0</a:t>
            </a:r>
          </a:p>
          <a:p>
            <a:pPr algn="l"/>
            <a:r>
              <a:rPr lang="en-SG" sz="16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S* 0.0.0.0/0 is directly connected, Serial0/0/1</a:t>
            </a:r>
          </a:p>
        </p:txBody>
      </p:sp>
    </p:spTree>
    <p:extLst>
      <p:ext uri="{BB962C8B-B14F-4D97-AF65-F5344CB8AC3E}">
        <p14:creationId xmlns:p14="http://schemas.microsoft.com/office/powerpoint/2010/main" val="2424777989"/>
      </p:ext>
    </p:extLst>
  </p:cSld>
  <p:clrMapOvr>
    <a:masterClrMapping/>
  </p:clrMapOvr>
  <p:transition spd="med"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IPv6 Static Routes</a:t>
            </a:r>
            <a:br>
              <a:rPr lang="en-US" sz="1800" dirty="0"/>
            </a:br>
            <a:r>
              <a:rPr lang="en-US" dirty="0"/>
              <a:t>The ipv6 route Command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8" y="1565275"/>
            <a:ext cx="7940675" cy="4386263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For IPv6 networks</a:t>
            </a:r>
            <a:r>
              <a:rPr lang="en-US" dirty="0"/>
              <a:t>, most parameters are identical to the IPv4 version of the command:-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Examples:-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ipv6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2001:db8:acad:3::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s0/0/0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ipv6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2001:db8:acad:5::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2001:db8:acad:5::2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51" y="2432989"/>
            <a:ext cx="80645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251404"/>
      </p:ext>
    </p:extLst>
  </p:cSld>
  <p:clrMapOvr>
    <a:masterClrMapping/>
  </p:clrMapOvr>
  <p:transition spd="med"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IPv6 Static Routes</a:t>
            </a:r>
            <a:br>
              <a:rPr lang="en-US" sz="1800" dirty="0"/>
            </a:br>
            <a:r>
              <a:rPr lang="en-US" dirty="0"/>
              <a:t>Configure a Static IPv6 Route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2334" t="8809" r="361" b="33777"/>
          <a:stretch/>
        </p:blipFill>
        <p:spPr>
          <a:xfrm>
            <a:off x="1856119" y="1405718"/>
            <a:ext cx="5622877" cy="3016158"/>
          </a:xfrm>
        </p:spPr>
      </p:pic>
      <p:pic>
        <p:nvPicPr>
          <p:cNvPr id="4" name="Content Placeholder 1"/>
          <p:cNvPicPr>
            <a:picLocks noChangeAspect="1"/>
          </p:cNvPicPr>
          <p:nvPr/>
        </p:nvPicPr>
        <p:blipFill rotWithShape="1">
          <a:blip r:embed="rId3"/>
          <a:srcRect l="5964" t="70986" r="6066" b="14667"/>
          <a:stretch/>
        </p:blipFill>
        <p:spPr bwMode="auto">
          <a:xfrm>
            <a:off x="177421" y="4326335"/>
            <a:ext cx="6903620" cy="102358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" name="Content Placeholder 1"/>
          <p:cNvPicPr>
            <a:picLocks noChangeAspect="1"/>
          </p:cNvPicPr>
          <p:nvPr/>
        </p:nvPicPr>
        <p:blipFill rotWithShape="1">
          <a:blip r:embed="rId4"/>
          <a:srcRect l="5931" t="71695" r="5973" b="14781"/>
          <a:stretch/>
        </p:blipFill>
        <p:spPr bwMode="auto">
          <a:xfrm>
            <a:off x="1883866" y="5527360"/>
            <a:ext cx="7082670" cy="9962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665572" y="5648549"/>
            <a:ext cx="646331" cy="4247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SG" dirty="0"/>
              <a:t>OR</a:t>
            </a:r>
          </a:p>
        </p:txBody>
      </p:sp>
    </p:spTree>
    <p:extLst>
      <p:ext uri="{BB962C8B-B14F-4D97-AF65-F5344CB8AC3E}">
        <p14:creationId xmlns:p14="http://schemas.microsoft.com/office/powerpoint/2010/main" val="4288413595"/>
      </p:ext>
    </p:extLst>
  </p:cSld>
  <p:clrMapOvr>
    <a:masterClrMapping/>
  </p:clrMapOvr>
  <p:transition spd="med"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IPv6 Default Routes</a:t>
            </a:r>
            <a:br>
              <a:rPr lang="en-US" sz="1800" dirty="0"/>
            </a:br>
            <a:r>
              <a:rPr lang="en-US" dirty="0"/>
              <a:t>Configure a Default Static IPv6 Route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856" t="8186" r="2186" b="25850"/>
          <a:stretch/>
        </p:blipFill>
        <p:spPr>
          <a:xfrm>
            <a:off x="1525780" y="1624083"/>
            <a:ext cx="6338097" cy="3671248"/>
          </a:xfrm>
        </p:spPr>
      </p:pic>
      <p:pic>
        <p:nvPicPr>
          <p:cNvPr id="4" name="Content Placeholder 1"/>
          <p:cNvPicPr>
            <a:picLocks noChangeAspect="1"/>
          </p:cNvPicPr>
          <p:nvPr/>
        </p:nvPicPr>
        <p:blipFill rotWithShape="1">
          <a:blip r:embed="rId3"/>
          <a:srcRect l="3991" t="86543" r="3290" b="3500"/>
          <a:stretch/>
        </p:blipFill>
        <p:spPr bwMode="auto">
          <a:xfrm>
            <a:off x="232000" y="5315803"/>
            <a:ext cx="8732442" cy="79839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42799387"/>
      </p:ext>
    </p:extLst>
  </p:cSld>
  <p:clrMapOvr>
    <a:masterClrMapping/>
  </p:clrMapOvr>
  <p:transition spd="med"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IPv6 Static Routes</a:t>
            </a:r>
            <a:br>
              <a:rPr lang="en-US" sz="1800" dirty="0"/>
            </a:br>
            <a:r>
              <a:rPr lang="en-US" dirty="0"/>
              <a:t>Verify IPv6 Static Routes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sp>
        <p:nvSpPr>
          <p:cNvPr id="38915" name="Content Placeholder 5"/>
          <p:cNvSpPr>
            <a:spLocks noGrp="1"/>
          </p:cNvSpPr>
          <p:nvPr>
            <p:ph idx="1"/>
          </p:nvPr>
        </p:nvSpPr>
        <p:spPr>
          <a:xfrm>
            <a:off x="554038" y="1551627"/>
            <a:ext cx="7940675" cy="43862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Verify IPv6 static routes using: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show running-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show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ipv6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route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334900"/>
      </p:ext>
    </p:extLst>
  </p:cSld>
  <p:clrMapOvr>
    <a:masterClrMapping/>
  </p:clrMapOvr>
  <p:transition spd="med"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IPv4 Summary Routes</a:t>
            </a:r>
            <a:br>
              <a:rPr lang="en-US" sz="1800" dirty="0"/>
            </a:br>
            <a:r>
              <a:rPr lang="en-US" dirty="0"/>
              <a:t>CIDR and Route Summarization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1" t="42152" r="18150" b="24693"/>
          <a:stretch/>
        </p:blipFill>
        <p:spPr bwMode="auto">
          <a:xfrm>
            <a:off x="3125363" y="1255591"/>
            <a:ext cx="5813948" cy="2715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0124" y="3337689"/>
            <a:ext cx="86117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SG" sz="2000" u="sng" dirty="0"/>
              <a:t>Notes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/>
              <a:t>There are 4 remote networks that R1 needs to reach.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/>
              <a:t>To do so using static routes, R1 can have these 4 static routes inserted into its routing table (172.21.0.0/16 to 172.23.0.0/16)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u="sng" dirty="0"/>
              <a:t>Note that these 4 static routes use the same exit interface or next-hop IP address.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SG" sz="2000" i="1" dirty="0"/>
          </a:p>
          <a:p>
            <a:pPr algn="l"/>
            <a:r>
              <a:rPr lang="en-SG" sz="2000" i="1" u="sng" dirty="0"/>
              <a:t>Question</a:t>
            </a:r>
          </a:p>
          <a:p>
            <a:pPr algn="l"/>
            <a:r>
              <a:rPr lang="en-SG" sz="2000" i="1" dirty="0"/>
              <a:t>Is there a better way other than to insert these 4 static routes?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SG" sz="2000" dirty="0"/>
              <a:t>Calculate 1 </a:t>
            </a:r>
            <a:r>
              <a:rPr lang="en-SG" sz="2000" u="sng" dirty="0"/>
              <a:t>summary static route</a:t>
            </a:r>
            <a:r>
              <a:rPr lang="en-SG" sz="2000" dirty="0"/>
              <a:t> that can summarise these 4 static routes and insert this summary static route instead.</a:t>
            </a:r>
          </a:p>
        </p:txBody>
      </p:sp>
    </p:spTree>
    <p:extLst>
      <p:ext uri="{BB962C8B-B14F-4D97-AF65-F5344CB8AC3E}">
        <p14:creationId xmlns:p14="http://schemas.microsoft.com/office/powerpoint/2010/main" val="3160856883"/>
      </p:ext>
    </p:extLst>
  </p:cSld>
  <p:clrMapOvr>
    <a:masterClrMapping/>
  </p:clrMapOvr>
  <p:transition spd="med"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IPv4 Summary Routes</a:t>
            </a:r>
            <a:br>
              <a:rPr lang="en-US" sz="1800" dirty="0"/>
            </a:br>
            <a:r>
              <a:rPr lang="en-US" dirty="0"/>
              <a:t>Calculate a Summary Route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500" t="7335" r="-680"/>
          <a:stretch/>
        </p:blipFill>
        <p:spPr>
          <a:xfrm>
            <a:off x="218339" y="1342100"/>
            <a:ext cx="6305266" cy="5331659"/>
          </a:xfrm>
        </p:spPr>
      </p:pic>
    </p:spTree>
    <p:extLst>
      <p:ext uri="{BB962C8B-B14F-4D97-AF65-F5344CB8AC3E}">
        <p14:creationId xmlns:p14="http://schemas.microsoft.com/office/powerpoint/2010/main" val="1156474625"/>
      </p:ext>
    </p:extLst>
  </p:cSld>
  <p:clrMapOvr>
    <a:masterClrMapping/>
  </p:clrMapOvr>
  <p:transition spd="med"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339725" y="492125"/>
            <a:ext cx="8456613" cy="871538"/>
          </a:xfrm>
        </p:spPr>
        <p:txBody>
          <a:bodyPr/>
          <a:lstStyle/>
          <a:p>
            <a:pPr eaLnBrk="1" hangingPunct="1">
              <a:defRPr/>
            </a:pPr>
            <a:r>
              <a:rPr lang="en-US" sz="1800" dirty="0"/>
              <a:t>Configure IPv4 Summary Routes</a:t>
            </a:r>
            <a:br>
              <a:rPr lang="en-US" sz="1800" dirty="0"/>
            </a:br>
            <a:r>
              <a:rPr lang="en-US" dirty="0"/>
              <a:t>Summary Static Route Example</a:t>
            </a:r>
            <a:endParaRPr lang="en-US" dirty="0">
              <a:solidFill>
                <a:schemeClr val="accent5">
                  <a:lumMod val="75000"/>
                </a:schemeClr>
              </a:solidFill>
              <a:cs typeface="Arial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01" t="42152" r="18150" b="24693"/>
          <a:stretch/>
        </p:blipFill>
        <p:spPr bwMode="auto">
          <a:xfrm>
            <a:off x="3125363" y="1255591"/>
            <a:ext cx="5813948" cy="27159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20722" y="4160008"/>
            <a:ext cx="8441141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172.20.0.0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255.252.0.0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s0/0/0</a:t>
            </a:r>
          </a:p>
          <a:p>
            <a:pPr marL="0" indent="0" algn="l">
              <a:buNone/>
            </a:pPr>
            <a:endParaRPr lang="en-US" sz="20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OR using next-hop IP address</a:t>
            </a:r>
          </a:p>
          <a:p>
            <a:pPr marL="0" indent="0" algn="l">
              <a:buNone/>
            </a:pPr>
            <a:endParaRPr lang="en-US" sz="20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R1(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config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)#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route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172.20.0.0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255.252.0.0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172.19.0.2</a:t>
            </a:r>
          </a:p>
          <a:p>
            <a:pPr marL="0" indent="0" algn="l">
              <a:buNone/>
            </a:pPr>
            <a:endParaRPr lang="en-US" sz="2000" dirty="0">
              <a:latin typeface="+mn-lt"/>
              <a:cs typeface="Courier New" panose="02070309020205020404" pitchFamily="49" charset="0"/>
            </a:endParaRPr>
          </a:p>
          <a:p>
            <a:pPr marL="0" indent="0" algn="l">
              <a:buNone/>
            </a:pPr>
            <a:r>
              <a:rPr lang="en-US" sz="2000" dirty="0">
                <a:latin typeface="+mn-lt"/>
                <a:cs typeface="Courier New" panose="02070309020205020404" pitchFamily="49" charset="0"/>
              </a:rPr>
              <a:t>Note that if the 4 static routes have been pre-configured already, they must be removed in order for the summary route to take effect.</a:t>
            </a:r>
          </a:p>
          <a:p>
            <a:pPr marL="0" indent="0" algn="l">
              <a:buNone/>
            </a:pPr>
            <a:endParaRPr lang="en-US" sz="20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381138"/>
      </p:ext>
    </p:extLst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PPT-TMPLT-WHT_C">
  <a:themeElements>
    <a:clrScheme name="PPT-TMPLT-WHT_C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PPT-TMPLT-WHT_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PT-TMPLT-WHT_C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NetAcad-4F_PPT-WHT_060408">
  <a:themeElements>
    <a:clrScheme name="Oct_2006_Cisco White Template 1">
      <a:dk1>
        <a:srgbClr val="000000"/>
      </a:dk1>
      <a:lt1>
        <a:srgbClr val="FFFFFF"/>
      </a:lt1>
      <a:dk2>
        <a:srgbClr val="0183B7"/>
      </a:dk2>
      <a:lt2>
        <a:srgbClr val="000000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Oct_2006_Cisco White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82124" tIns="41061" rIns="82124" bIns="41061" numCol="1" anchor="ctr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Oct_2006_Cisco White Template 1">
        <a:dk1>
          <a:srgbClr val="000000"/>
        </a:dk1>
        <a:lt1>
          <a:srgbClr val="FFFFFF"/>
        </a:lt1>
        <a:dk2>
          <a:srgbClr val="0183B7"/>
        </a:dk2>
        <a:lt2>
          <a:srgbClr val="000000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18928</TotalTime>
  <Pages>28</Pages>
  <Words>1084</Words>
  <Application>Microsoft Office PowerPoint</Application>
  <PresentationFormat>On-screen Show (4:3)</PresentationFormat>
  <Paragraphs>203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MS PGothic</vt:lpstr>
      <vt:lpstr>Arial</vt:lpstr>
      <vt:lpstr>Courier New</vt:lpstr>
      <vt:lpstr>Wingdings</vt:lpstr>
      <vt:lpstr>PPT-TMPLT-WHT_C</vt:lpstr>
      <vt:lpstr>NetAcad-4F_PPT-WHT_060408</vt:lpstr>
      <vt:lpstr>Chapter 2a: Static Routing </vt:lpstr>
      <vt:lpstr>Chapter 2a</vt:lpstr>
      <vt:lpstr>Static Routing Reach Remote Networks</vt:lpstr>
      <vt:lpstr>Static Routing Static vs Dynamic Routing</vt:lpstr>
      <vt:lpstr>Static Routing Static vs Dynamic Routing</vt:lpstr>
      <vt:lpstr>Types of Static Routes Static Route Applications</vt:lpstr>
      <vt:lpstr>Configure IPv4 Static Routes Command: ip route</vt:lpstr>
      <vt:lpstr>Configure IPv4 Static Routes Configure a Network Static Route</vt:lpstr>
      <vt:lpstr> Configure IPv4 Static Routes Configure a Default Static Route</vt:lpstr>
      <vt:lpstr>Configure IPv4 Default Routes Configure a Default Static Route</vt:lpstr>
      <vt:lpstr>Configure IPv4 Static Routes Verify a Static Route (running-config)</vt:lpstr>
      <vt:lpstr>Configure IPv4 Static Routes Verify a Static Route (routing table)</vt:lpstr>
      <vt:lpstr>Configure IPv4 Static Routes Verify a Static Route (routing table)</vt:lpstr>
      <vt:lpstr>Configure IPv6 Static Routes The ipv6 route Command</vt:lpstr>
      <vt:lpstr>Configure IPv6 Static Routes Configure a Static IPv6 Route</vt:lpstr>
      <vt:lpstr>Configure IPv6 Default Routes Configure a Default Static IPv6 Route</vt:lpstr>
      <vt:lpstr>Configure IPv6 Static Routes Verify IPv6 Static Routes</vt:lpstr>
      <vt:lpstr>Configure IPv4 Summary Routes CIDR and Route Summarization</vt:lpstr>
      <vt:lpstr>Configure IPv4 Summary Routes Calculate a Summary Route</vt:lpstr>
      <vt:lpstr>Configure IPv4 Summary Routes Summary Static Route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CCNA5.0 Instructor PPT</dc:title>
  <cp:lastModifiedBy>HOO BRYAN</cp:lastModifiedBy>
  <cp:revision>1062</cp:revision>
  <cp:lastPrinted>1999-01-27T00:54:54Z</cp:lastPrinted>
  <dcterms:created xsi:type="dcterms:W3CDTF">2006-10-23T15:07:30Z</dcterms:created>
  <dcterms:modified xsi:type="dcterms:W3CDTF">2018-10-12T07:56:40Z</dcterms:modified>
</cp:coreProperties>
</file>