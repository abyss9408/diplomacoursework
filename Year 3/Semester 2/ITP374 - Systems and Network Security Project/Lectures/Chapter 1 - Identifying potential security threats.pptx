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34"/>
  </p:notesMasterIdLst>
  <p:sldIdLst>
    <p:sldId id="256" r:id="rId2"/>
    <p:sldId id="314" r:id="rId3"/>
    <p:sldId id="317" r:id="rId4"/>
    <p:sldId id="259" r:id="rId5"/>
    <p:sldId id="261" r:id="rId6"/>
    <p:sldId id="271" r:id="rId7"/>
    <p:sldId id="273" r:id="rId8"/>
    <p:sldId id="274" r:id="rId9"/>
    <p:sldId id="275" r:id="rId10"/>
    <p:sldId id="277" r:id="rId11"/>
    <p:sldId id="278" r:id="rId12"/>
    <p:sldId id="279" r:id="rId13"/>
    <p:sldId id="280" r:id="rId14"/>
    <p:sldId id="281" r:id="rId15"/>
    <p:sldId id="282" r:id="rId16"/>
    <p:sldId id="284" r:id="rId17"/>
    <p:sldId id="285" r:id="rId18"/>
    <p:sldId id="286" r:id="rId19"/>
    <p:sldId id="287" r:id="rId20"/>
    <p:sldId id="288" r:id="rId21"/>
    <p:sldId id="289" r:id="rId22"/>
    <p:sldId id="320" r:id="rId23"/>
    <p:sldId id="318" r:id="rId24"/>
    <p:sldId id="319" r:id="rId25"/>
    <p:sldId id="321" r:id="rId26"/>
    <p:sldId id="322" r:id="rId27"/>
    <p:sldId id="323" r:id="rId28"/>
    <p:sldId id="324" r:id="rId29"/>
    <p:sldId id="327" r:id="rId30"/>
    <p:sldId id="326" r:id="rId31"/>
    <p:sldId id="308" r:id="rId32"/>
    <p:sldId id="32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E19E3A-B561-40A4-BA55-075492A8DF96}" type="doc">
      <dgm:prSet loTypeId="urn:microsoft.com/office/officeart/2005/8/layout/radial3" loCatId="cycle" qsTypeId="urn:microsoft.com/office/officeart/2005/8/quickstyle/simple5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9138198D-9CEC-4A93-B7DC-5BAC33258FF8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Code Red Worm Propagation</a:t>
          </a:r>
        </a:p>
      </dgm:t>
    </dgm:pt>
    <dgm:pt modelId="{D26BBD06-1C3C-494E-BDE5-03D9113DE4B5}" type="parTrans" cxnId="{9A89ABF4-D608-4C4B-AC55-7EF9CA3B9DA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35C4378-2104-477A-80AE-95F5DAE47621}" type="sibTrans" cxnId="{9A89ABF4-D608-4C4B-AC55-7EF9CA3B9DA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756714D-D886-41E4-B74F-E8FA7F59692C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1.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Propagate for 19 days</a:t>
          </a:r>
        </a:p>
      </dgm:t>
    </dgm:pt>
    <dgm:pt modelId="{4007E6C2-F13C-4B25-A953-0A426E866F7D}" type="parTrans" cxnId="{C1F3A2BD-7341-4C05-ACCB-CE04BDDEB93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4EBC8A-64D1-48CD-A434-9C14D665F195}" type="sibTrans" cxnId="{C1F3A2BD-7341-4C05-ACCB-CE04BDDEB93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FCC5549-9DCA-4B8C-84AB-CC394BBABEA6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2.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Launch </a:t>
          </a:r>
          <a:r>
            <a:rPr lang="en-US" b="1" dirty="0" err="1">
              <a:solidFill>
                <a:schemeClr val="bg1"/>
              </a:solidFill>
            </a:rPr>
            <a:t>DoS</a:t>
          </a:r>
          <a:r>
            <a:rPr lang="en-US" b="1" dirty="0">
              <a:solidFill>
                <a:schemeClr val="bg1"/>
              </a:solidFill>
            </a:rPr>
            <a:t> attack for next 7 days</a:t>
          </a:r>
        </a:p>
      </dgm:t>
    </dgm:pt>
    <dgm:pt modelId="{74C7C7A2-0EA3-4D08-ADAD-09EC5F4CD420}" type="parTrans" cxnId="{6D68AF54-7CB6-4AB5-9B9F-7AC1CF9D2AC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79F0896-6385-4032-8ACD-8F80DB294A42}" type="sibTrans" cxnId="{6D68AF54-7CB6-4AB5-9B9F-7AC1CF9D2AC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589EFCA-45F2-411B-8B99-A1B0BFCB6B88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3.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Stop and go dormant for a few days</a:t>
          </a:r>
        </a:p>
      </dgm:t>
    </dgm:pt>
    <dgm:pt modelId="{A569CB91-1020-412A-9112-8C560522A3AD}" type="parTrans" cxnId="{2495CBD3-CAA2-4D7D-8B1B-B7CAF6D807B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1AB9F34-5328-499B-A87A-B68DE971A61A}" type="sibTrans" cxnId="{2495CBD3-CAA2-4D7D-8B1B-B7CAF6D807B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7BCCD7-6731-4D06-A034-E741DF83CF94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4.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Repeat the cycle</a:t>
          </a:r>
        </a:p>
      </dgm:t>
    </dgm:pt>
    <dgm:pt modelId="{EA76B44A-AC3A-4D52-A09A-69485ED70C66}" type="parTrans" cxnId="{C69C97D4-D984-4BF8-9400-033F2B7005E4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294BDE5-B783-47C4-96E6-347D1504E089}" type="sibTrans" cxnId="{C69C97D4-D984-4BF8-9400-033F2B7005E4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400CEE6-D9F2-41CE-9D66-C54D842FD7E9}" type="pres">
      <dgm:prSet presAssocID="{88E19E3A-B561-40A4-BA55-075492A8DF96}" presName="composite" presStyleCnt="0">
        <dgm:presLayoutVars>
          <dgm:chMax val="1"/>
          <dgm:dir/>
          <dgm:resizeHandles val="exact"/>
        </dgm:presLayoutVars>
      </dgm:prSet>
      <dgm:spPr/>
    </dgm:pt>
    <dgm:pt modelId="{D599E379-6148-4E10-A1DD-61FCEEECD59A}" type="pres">
      <dgm:prSet presAssocID="{88E19E3A-B561-40A4-BA55-075492A8DF96}" presName="radial" presStyleCnt="0">
        <dgm:presLayoutVars>
          <dgm:animLvl val="ctr"/>
        </dgm:presLayoutVars>
      </dgm:prSet>
      <dgm:spPr/>
    </dgm:pt>
    <dgm:pt modelId="{0D9DB4A6-F198-46E0-ABB6-A8C5D2911E04}" type="pres">
      <dgm:prSet presAssocID="{9138198D-9CEC-4A93-B7DC-5BAC33258FF8}" presName="centerShape" presStyleLbl="vennNode1" presStyleIdx="0" presStyleCnt="5"/>
      <dgm:spPr/>
    </dgm:pt>
    <dgm:pt modelId="{72BCBA18-1B4F-4D1A-815C-4442D5AB6E73}" type="pres">
      <dgm:prSet presAssocID="{3756714D-D886-41E4-B74F-E8FA7F59692C}" presName="node" presStyleLbl="vennNode1" presStyleIdx="1" presStyleCnt="5">
        <dgm:presLayoutVars>
          <dgm:bulletEnabled val="1"/>
        </dgm:presLayoutVars>
      </dgm:prSet>
      <dgm:spPr/>
    </dgm:pt>
    <dgm:pt modelId="{482A26F6-4C14-4952-9861-0853E7EE424E}" type="pres">
      <dgm:prSet presAssocID="{CFCC5549-9DCA-4B8C-84AB-CC394BBABEA6}" presName="node" presStyleLbl="vennNode1" presStyleIdx="2" presStyleCnt="5">
        <dgm:presLayoutVars>
          <dgm:bulletEnabled val="1"/>
        </dgm:presLayoutVars>
      </dgm:prSet>
      <dgm:spPr/>
    </dgm:pt>
    <dgm:pt modelId="{1FAB6F58-2594-4808-AE2C-BB202E6AFB96}" type="pres">
      <dgm:prSet presAssocID="{3589EFCA-45F2-411B-8B99-A1B0BFCB6B88}" presName="node" presStyleLbl="vennNode1" presStyleIdx="3" presStyleCnt="5">
        <dgm:presLayoutVars>
          <dgm:bulletEnabled val="1"/>
        </dgm:presLayoutVars>
      </dgm:prSet>
      <dgm:spPr/>
    </dgm:pt>
    <dgm:pt modelId="{7E083439-DB48-4907-AED8-3BC400DDD483}" type="pres">
      <dgm:prSet presAssocID="{557BCCD7-6731-4D06-A034-E741DF83CF94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8347BB00-EDCC-41AC-8789-739477356056}" type="presOf" srcId="{9138198D-9CEC-4A93-B7DC-5BAC33258FF8}" destId="{0D9DB4A6-F198-46E0-ABB6-A8C5D2911E04}" srcOrd="0" destOrd="0" presId="urn:microsoft.com/office/officeart/2005/8/layout/radial3"/>
    <dgm:cxn modelId="{716E3738-A388-466D-9D6A-4F8850DC6E8B}" type="presOf" srcId="{3756714D-D886-41E4-B74F-E8FA7F59692C}" destId="{72BCBA18-1B4F-4D1A-815C-4442D5AB6E73}" srcOrd="0" destOrd="0" presId="urn:microsoft.com/office/officeart/2005/8/layout/radial3"/>
    <dgm:cxn modelId="{FE897567-DE1A-46D7-8C70-916369529849}" type="presOf" srcId="{3589EFCA-45F2-411B-8B99-A1B0BFCB6B88}" destId="{1FAB6F58-2594-4808-AE2C-BB202E6AFB96}" srcOrd="0" destOrd="0" presId="urn:microsoft.com/office/officeart/2005/8/layout/radial3"/>
    <dgm:cxn modelId="{6D68AF54-7CB6-4AB5-9B9F-7AC1CF9D2ACE}" srcId="{9138198D-9CEC-4A93-B7DC-5BAC33258FF8}" destId="{CFCC5549-9DCA-4B8C-84AB-CC394BBABEA6}" srcOrd="1" destOrd="0" parTransId="{74C7C7A2-0EA3-4D08-ADAD-09EC5F4CD420}" sibTransId="{079F0896-6385-4032-8ACD-8F80DB294A42}"/>
    <dgm:cxn modelId="{238BF893-BACB-4910-AB80-3EF2457C9655}" type="presOf" srcId="{557BCCD7-6731-4D06-A034-E741DF83CF94}" destId="{7E083439-DB48-4907-AED8-3BC400DDD483}" srcOrd="0" destOrd="0" presId="urn:microsoft.com/office/officeart/2005/8/layout/radial3"/>
    <dgm:cxn modelId="{1FAA37B9-4818-434F-8018-CACCEAFD99D2}" type="presOf" srcId="{88E19E3A-B561-40A4-BA55-075492A8DF96}" destId="{1400CEE6-D9F2-41CE-9D66-C54D842FD7E9}" srcOrd="0" destOrd="0" presId="urn:microsoft.com/office/officeart/2005/8/layout/radial3"/>
    <dgm:cxn modelId="{C1F3A2BD-7341-4C05-ACCB-CE04BDDEB939}" srcId="{9138198D-9CEC-4A93-B7DC-5BAC33258FF8}" destId="{3756714D-D886-41E4-B74F-E8FA7F59692C}" srcOrd="0" destOrd="0" parTransId="{4007E6C2-F13C-4B25-A953-0A426E866F7D}" sibTransId="{414EBC8A-64D1-48CD-A434-9C14D665F195}"/>
    <dgm:cxn modelId="{2495CBD3-CAA2-4D7D-8B1B-B7CAF6D807BE}" srcId="{9138198D-9CEC-4A93-B7DC-5BAC33258FF8}" destId="{3589EFCA-45F2-411B-8B99-A1B0BFCB6B88}" srcOrd="2" destOrd="0" parTransId="{A569CB91-1020-412A-9112-8C560522A3AD}" sibTransId="{E1AB9F34-5328-499B-A87A-B68DE971A61A}"/>
    <dgm:cxn modelId="{C69C97D4-D984-4BF8-9400-033F2B7005E4}" srcId="{9138198D-9CEC-4A93-B7DC-5BAC33258FF8}" destId="{557BCCD7-6731-4D06-A034-E741DF83CF94}" srcOrd="3" destOrd="0" parTransId="{EA76B44A-AC3A-4D52-A09A-69485ED70C66}" sibTransId="{F294BDE5-B783-47C4-96E6-347D1504E089}"/>
    <dgm:cxn modelId="{AB432DF2-9C76-4B2F-8421-24BF3A28D83A}" type="presOf" srcId="{CFCC5549-9DCA-4B8C-84AB-CC394BBABEA6}" destId="{482A26F6-4C14-4952-9861-0853E7EE424E}" srcOrd="0" destOrd="0" presId="urn:microsoft.com/office/officeart/2005/8/layout/radial3"/>
    <dgm:cxn modelId="{9A89ABF4-D608-4C4B-AC55-7EF9CA3B9DA8}" srcId="{88E19E3A-B561-40A4-BA55-075492A8DF96}" destId="{9138198D-9CEC-4A93-B7DC-5BAC33258FF8}" srcOrd="0" destOrd="0" parTransId="{D26BBD06-1C3C-494E-BDE5-03D9113DE4B5}" sibTransId="{735C4378-2104-477A-80AE-95F5DAE47621}"/>
    <dgm:cxn modelId="{B215CF67-6F2A-484E-AEFB-94A12681BE02}" type="presParOf" srcId="{1400CEE6-D9F2-41CE-9D66-C54D842FD7E9}" destId="{D599E379-6148-4E10-A1DD-61FCEEECD59A}" srcOrd="0" destOrd="0" presId="urn:microsoft.com/office/officeart/2005/8/layout/radial3"/>
    <dgm:cxn modelId="{9FA691BA-B636-4C95-83A3-0A305B763220}" type="presParOf" srcId="{D599E379-6148-4E10-A1DD-61FCEEECD59A}" destId="{0D9DB4A6-F198-46E0-ABB6-A8C5D2911E04}" srcOrd="0" destOrd="0" presId="urn:microsoft.com/office/officeart/2005/8/layout/radial3"/>
    <dgm:cxn modelId="{03293049-52D2-41E9-8AF6-A42E3014288C}" type="presParOf" srcId="{D599E379-6148-4E10-A1DD-61FCEEECD59A}" destId="{72BCBA18-1B4F-4D1A-815C-4442D5AB6E73}" srcOrd="1" destOrd="0" presId="urn:microsoft.com/office/officeart/2005/8/layout/radial3"/>
    <dgm:cxn modelId="{44011631-3269-477D-8A02-5FA90D2E486B}" type="presParOf" srcId="{D599E379-6148-4E10-A1DD-61FCEEECD59A}" destId="{482A26F6-4C14-4952-9861-0853E7EE424E}" srcOrd="2" destOrd="0" presId="urn:microsoft.com/office/officeart/2005/8/layout/radial3"/>
    <dgm:cxn modelId="{D7BDDA4C-DB27-4DE0-821F-37938C19CC20}" type="presParOf" srcId="{D599E379-6148-4E10-A1DD-61FCEEECD59A}" destId="{1FAB6F58-2594-4808-AE2C-BB202E6AFB96}" srcOrd="3" destOrd="0" presId="urn:microsoft.com/office/officeart/2005/8/layout/radial3"/>
    <dgm:cxn modelId="{649C25D7-42C7-41B5-B0DF-8920B4A599F1}" type="presParOf" srcId="{D599E379-6148-4E10-A1DD-61FCEEECD59A}" destId="{7E083439-DB48-4907-AED8-3BC400DDD483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D54A6F-A668-445D-BB68-8801E1DFE07D}" type="doc">
      <dgm:prSet loTypeId="urn:microsoft.com/office/officeart/2005/8/layout/funnel1" loCatId="process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B56D7AA-B484-48F7-906D-6AE643109FD4}">
      <dgm:prSet phldrT="[Text]"/>
      <dgm:spPr/>
      <dgm:t>
        <a:bodyPr/>
        <a:lstStyle/>
        <a:p>
          <a:r>
            <a:rPr lang="en-US" dirty="0"/>
            <a:t>Data Modification</a:t>
          </a:r>
        </a:p>
      </dgm:t>
    </dgm:pt>
    <dgm:pt modelId="{56E59102-59E6-49B0-A78C-7C8AAB5423A7}" type="parTrans" cxnId="{29458587-FA2A-42BD-A5B8-A76E8F3A2E07}">
      <dgm:prSet/>
      <dgm:spPr/>
      <dgm:t>
        <a:bodyPr/>
        <a:lstStyle/>
        <a:p>
          <a:endParaRPr lang="en-US"/>
        </a:p>
      </dgm:t>
    </dgm:pt>
    <dgm:pt modelId="{C7DF8DC3-DCF0-4621-A1AB-17439BD805E5}" type="sibTrans" cxnId="{29458587-FA2A-42BD-A5B8-A76E8F3A2E07}">
      <dgm:prSet/>
      <dgm:spPr/>
      <dgm:t>
        <a:bodyPr/>
        <a:lstStyle/>
        <a:p>
          <a:endParaRPr lang="en-US"/>
        </a:p>
      </dgm:t>
    </dgm:pt>
    <dgm:pt modelId="{0BBB5B1A-54D0-49B5-A741-EB673BEAE1BF}">
      <dgm:prSet phldrT="[Text]"/>
      <dgm:spPr/>
      <dgm:t>
        <a:bodyPr/>
        <a:lstStyle/>
        <a:p>
          <a:r>
            <a:rPr lang="en-US" dirty="0" err="1"/>
            <a:t>Syn</a:t>
          </a:r>
          <a:r>
            <a:rPr lang="en-US" dirty="0"/>
            <a:t> Flood</a:t>
          </a:r>
        </a:p>
      </dgm:t>
    </dgm:pt>
    <dgm:pt modelId="{49062010-8508-431A-9728-5BCAAABCF238}" type="parTrans" cxnId="{CDC50FF7-60AA-46E1-9C91-8AEC648B0F82}">
      <dgm:prSet/>
      <dgm:spPr/>
      <dgm:t>
        <a:bodyPr/>
        <a:lstStyle/>
        <a:p>
          <a:endParaRPr lang="en-US"/>
        </a:p>
      </dgm:t>
    </dgm:pt>
    <dgm:pt modelId="{5EE920E2-448D-4011-B085-3D43DA5D2C34}" type="sibTrans" cxnId="{CDC50FF7-60AA-46E1-9C91-8AEC648B0F82}">
      <dgm:prSet/>
      <dgm:spPr/>
      <dgm:t>
        <a:bodyPr/>
        <a:lstStyle/>
        <a:p>
          <a:endParaRPr lang="en-US"/>
        </a:p>
      </dgm:t>
    </dgm:pt>
    <dgm:pt modelId="{55E8F221-BFFB-43FE-8D5D-0A8C64261CB4}">
      <dgm:prSet phldrT="[Text]"/>
      <dgm:spPr/>
      <dgm:t>
        <a:bodyPr/>
        <a:lstStyle/>
        <a:p>
          <a:r>
            <a:rPr lang="en-US" dirty="0"/>
            <a:t>Smurf Attack</a:t>
          </a:r>
        </a:p>
      </dgm:t>
    </dgm:pt>
    <dgm:pt modelId="{C640CAFC-CC48-46C6-A748-4A8F79A23081}" type="parTrans" cxnId="{D41052E6-2638-403B-B658-ECEE2B8B39D8}">
      <dgm:prSet/>
      <dgm:spPr/>
      <dgm:t>
        <a:bodyPr/>
        <a:lstStyle/>
        <a:p>
          <a:endParaRPr lang="en-US"/>
        </a:p>
      </dgm:t>
    </dgm:pt>
    <dgm:pt modelId="{7FD05E73-C560-4E58-86E3-24006A264F3E}" type="sibTrans" cxnId="{D41052E6-2638-403B-B658-ECEE2B8B39D8}">
      <dgm:prSet/>
      <dgm:spPr/>
      <dgm:t>
        <a:bodyPr/>
        <a:lstStyle/>
        <a:p>
          <a:endParaRPr lang="en-US"/>
        </a:p>
      </dgm:t>
    </dgm:pt>
    <dgm:pt modelId="{15207DFA-2244-4630-9202-7B2FA9B13CFA}">
      <dgm:prSet phldrT="[Text]" custT="1"/>
      <dgm:spPr/>
      <dgm:t>
        <a:bodyPr/>
        <a:lstStyle/>
        <a:p>
          <a:r>
            <a:rPr lang="en-US" sz="1800" dirty="0"/>
            <a:t>Reconnaissance</a:t>
          </a:r>
          <a:br>
            <a:rPr lang="en-US" sz="1800" dirty="0"/>
          </a:br>
          <a:r>
            <a:rPr lang="en-US" sz="1800" dirty="0"/>
            <a:t>Access</a:t>
          </a:r>
          <a:br>
            <a:rPr lang="en-US" sz="1800" dirty="0"/>
          </a:br>
          <a:r>
            <a:rPr lang="en-US" sz="1800" dirty="0" err="1"/>
            <a:t>DoS</a:t>
          </a:r>
          <a:endParaRPr lang="en-US" sz="1800" dirty="0"/>
        </a:p>
      </dgm:t>
    </dgm:pt>
    <dgm:pt modelId="{32D5D249-44A9-4058-BEAB-9B280653C9DF}" type="parTrans" cxnId="{952456F5-9C54-4CFE-944C-243EB74DFE76}">
      <dgm:prSet/>
      <dgm:spPr/>
      <dgm:t>
        <a:bodyPr/>
        <a:lstStyle/>
        <a:p>
          <a:endParaRPr lang="en-US"/>
        </a:p>
      </dgm:t>
    </dgm:pt>
    <dgm:pt modelId="{E756FF60-2915-47AD-B811-CCD8306BF050}" type="sibTrans" cxnId="{952456F5-9C54-4CFE-944C-243EB74DFE76}">
      <dgm:prSet/>
      <dgm:spPr/>
      <dgm:t>
        <a:bodyPr/>
        <a:lstStyle/>
        <a:p>
          <a:endParaRPr lang="en-US"/>
        </a:p>
      </dgm:t>
    </dgm:pt>
    <dgm:pt modelId="{B91C0304-78B0-4C40-B06B-35BE222DF151}" type="pres">
      <dgm:prSet presAssocID="{14D54A6F-A668-445D-BB68-8801E1DFE07D}" presName="Name0" presStyleCnt="0">
        <dgm:presLayoutVars>
          <dgm:chMax val="4"/>
          <dgm:resizeHandles val="exact"/>
        </dgm:presLayoutVars>
      </dgm:prSet>
      <dgm:spPr/>
    </dgm:pt>
    <dgm:pt modelId="{2FF6D94B-9804-4780-95BF-FD24FC084F04}" type="pres">
      <dgm:prSet presAssocID="{14D54A6F-A668-445D-BB68-8801E1DFE07D}" presName="ellipse" presStyleLbl="trBgShp" presStyleIdx="0" presStyleCnt="1"/>
      <dgm:spPr/>
    </dgm:pt>
    <dgm:pt modelId="{E1F88256-F891-44F1-A26D-2BFB48E75CBA}" type="pres">
      <dgm:prSet presAssocID="{14D54A6F-A668-445D-BB68-8801E1DFE07D}" presName="arrow1" presStyleLbl="fgShp" presStyleIdx="0" presStyleCnt="1"/>
      <dgm:spPr/>
    </dgm:pt>
    <dgm:pt modelId="{C41B0DF3-4CBB-403A-BDA8-94CBEDFFDEE5}" type="pres">
      <dgm:prSet presAssocID="{14D54A6F-A668-445D-BB68-8801E1DFE07D}" presName="rectangle" presStyleLbl="revTx" presStyleIdx="0" presStyleCnt="1">
        <dgm:presLayoutVars>
          <dgm:bulletEnabled val="1"/>
        </dgm:presLayoutVars>
      </dgm:prSet>
      <dgm:spPr/>
    </dgm:pt>
    <dgm:pt modelId="{E3FB935A-AD8C-431C-BF83-C23654776FDE}" type="pres">
      <dgm:prSet presAssocID="{0BBB5B1A-54D0-49B5-A741-EB673BEAE1BF}" presName="item1" presStyleLbl="node1" presStyleIdx="0" presStyleCnt="3">
        <dgm:presLayoutVars>
          <dgm:bulletEnabled val="1"/>
        </dgm:presLayoutVars>
      </dgm:prSet>
      <dgm:spPr/>
    </dgm:pt>
    <dgm:pt modelId="{D68E6EA1-9AD4-461D-9EBB-B8BE7C1331E1}" type="pres">
      <dgm:prSet presAssocID="{55E8F221-BFFB-43FE-8D5D-0A8C64261CB4}" presName="item2" presStyleLbl="node1" presStyleIdx="1" presStyleCnt="3">
        <dgm:presLayoutVars>
          <dgm:bulletEnabled val="1"/>
        </dgm:presLayoutVars>
      </dgm:prSet>
      <dgm:spPr/>
    </dgm:pt>
    <dgm:pt modelId="{71251657-5FC2-4E22-A1C9-3E95D3956F2B}" type="pres">
      <dgm:prSet presAssocID="{15207DFA-2244-4630-9202-7B2FA9B13CFA}" presName="item3" presStyleLbl="node1" presStyleIdx="2" presStyleCnt="3">
        <dgm:presLayoutVars>
          <dgm:bulletEnabled val="1"/>
        </dgm:presLayoutVars>
      </dgm:prSet>
      <dgm:spPr/>
    </dgm:pt>
    <dgm:pt modelId="{BD84EF95-62FD-48EA-AD1D-74027457E637}" type="pres">
      <dgm:prSet presAssocID="{14D54A6F-A668-445D-BB68-8801E1DFE07D}" presName="funnel" presStyleLbl="trAlignAcc1" presStyleIdx="0" presStyleCnt="1"/>
      <dgm:spPr/>
    </dgm:pt>
  </dgm:ptLst>
  <dgm:cxnLst>
    <dgm:cxn modelId="{522D8103-12FA-40B8-90E2-5730CFCA21D4}" type="presOf" srcId="{14D54A6F-A668-445D-BB68-8801E1DFE07D}" destId="{B91C0304-78B0-4C40-B06B-35BE222DF151}" srcOrd="0" destOrd="0" presId="urn:microsoft.com/office/officeart/2005/8/layout/funnel1"/>
    <dgm:cxn modelId="{004A8309-8916-4393-9500-6EBB97DC5ED2}" type="presOf" srcId="{55E8F221-BFFB-43FE-8D5D-0A8C64261CB4}" destId="{E3FB935A-AD8C-431C-BF83-C23654776FDE}" srcOrd="0" destOrd="0" presId="urn:microsoft.com/office/officeart/2005/8/layout/funnel1"/>
    <dgm:cxn modelId="{3410E927-DB9D-4A0E-A924-41495A21A078}" type="presOf" srcId="{8B56D7AA-B484-48F7-906D-6AE643109FD4}" destId="{71251657-5FC2-4E22-A1C9-3E95D3956F2B}" srcOrd="0" destOrd="0" presId="urn:microsoft.com/office/officeart/2005/8/layout/funnel1"/>
    <dgm:cxn modelId="{7672373B-6901-49B3-A520-B58B64712075}" type="presOf" srcId="{0BBB5B1A-54D0-49B5-A741-EB673BEAE1BF}" destId="{D68E6EA1-9AD4-461D-9EBB-B8BE7C1331E1}" srcOrd="0" destOrd="0" presId="urn:microsoft.com/office/officeart/2005/8/layout/funnel1"/>
    <dgm:cxn modelId="{29458587-FA2A-42BD-A5B8-A76E8F3A2E07}" srcId="{14D54A6F-A668-445D-BB68-8801E1DFE07D}" destId="{8B56D7AA-B484-48F7-906D-6AE643109FD4}" srcOrd="0" destOrd="0" parTransId="{56E59102-59E6-49B0-A78C-7C8AAB5423A7}" sibTransId="{C7DF8DC3-DCF0-4621-A1AB-17439BD805E5}"/>
    <dgm:cxn modelId="{E25EF8B1-2E75-435D-BB0A-DF9E9B4F0C92}" type="presOf" srcId="{15207DFA-2244-4630-9202-7B2FA9B13CFA}" destId="{C41B0DF3-4CBB-403A-BDA8-94CBEDFFDEE5}" srcOrd="0" destOrd="0" presId="urn:microsoft.com/office/officeart/2005/8/layout/funnel1"/>
    <dgm:cxn modelId="{D41052E6-2638-403B-B658-ECEE2B8B39D8}" srcId="{14D54A6F-A668-445D-BB68-8801E1DFE07D}" destId="{55E8F221-BFFB-43FE-8D5D-0A8C64261CB4}" srcOrd="2" destOrd="0" parTransId="{C640CAFC-CC48-46C6-A748-4A8F79A23081}" sibTransId="{7FD05E73-C560-4E58-86E3-24006A264F3E}"/>
    <dgm:cxn modelId="{952456F5-9C54-4CFE-944C-243EB74DFE76}" srcId="{14D54A6F-A668-445D-BB68-8801E1DFE07D}" destId="{15207DFA-2244-4630-9202-7B2FA9B13CFA}" srcOrd="3" destOrd="0" parTransId="{32D5D249-44A9-4058-BEAB-9B280653C9DF}" sibTransId="{E756FF60-2915-47AD-B811-CCD8306BF050}"/>
    <dgm:cxn modelId="{CDC50FF7-60AA-46E1-9C91-8AEC648B0F82}" srcId="{14D54A6F-A668-445D-BB68-8801E1DFE07D}" destId="{0BBB5B1A-54D0-49B5-A741-EB673BEAE1BF}" srcOrd="1" destOrd="0" parTransId="{49062010-8508-431A-9728-5BCAAABCF238}" sibTransId="{5EE920E2-448D-4011-B085-3D43DA5D2C34}"/>
    <dgm:cxn modelId="{4C111AA0-F25B-431E-BC9E-62449EDF2EB8}" type="presParOf" srcId="{B91C0304-78B0-4C40-B06B-35BE222DF151}" destId="{2FF6D94B-9804-4780-95BF-FD24FC084F04}" srcOrd="0" destOrd="0" presId="urn:microsoft.com/office/officeart/2005/8/layout/funnel1"/>
    <dgm:cxn modelId="{DAAF2FB1-2FBD-405C-A4B1-82990E0141EB}" type="presParOf" srcId="{B91C0304-78B0-4C40-B06B-35BE222DF151}" destId="{E1F88256-F891-44F1-A26D-2BFB48E75CBA}" srcOrd="1" destOrd="0" presId="urn:microsoft.com/office/officeart/2005/8/layout/funnel1"/>
    <dgm:cxn modelId="{C6F0EB69-3961-41E8-85DA-5A1391D9EADF}" type="presParOf" srcId="{B91C0304-78B0-4C40-B06B-35BE222DF151}" destId="{C41B0DF3-4CBB-403A-BDA8-94CBEDFFDEE5}" srcOrd="2" destOrd="0" presId="urn:microsoft.com/office/officeart/2005/8/layout/funnel1"/>
    <dgm:cxn modelId="{8668A823-7344-4F2A-908D-36D26020F4EF}" type="presParOf" srcId="{B91C0304-78B0-4C40-B06B-35BE222DF151}" destId="{E3FB935A-AD8C-431C-BF83-C23654776FDE}" srcOrd="3" destOrd="0" presId="urn:microsoft.com/office/officeart/2005/8/layout/funnel1"/>
    <dgm:cxn modelId="{77EC9661-118E-4C2F-81F0-6ED04D36EB7A}" type="presParOf" srcId="{B91C0304-78B0-4C40-B06B-35BE222DF151}" destId="{D68E6EA1-9AD4-461D-9EBB-B8BE7C1331E1}" srcOrd="4" destOrd="0" presId="urn:microsoft.com/office/officeart/2005/8/layout/funnel1"/>
    <dgm:cxn modelId="{DA589771-EEC6-46D8-B521-2F63285E5A22}" type="presParOf" srcId="{B91C0304-78B0-4C40-B06B-35BE222DF151}" destId="{71251657-5FC2-4E22-A1C9-3E95D3956F2B}" srcOrd="5" destOrd="0" presId="urn:microsoft.com/office/officeart/2005/8/layout/funnel1"/>
    <dgm:cxn modelId="{8831D8B5-F41C-40F9-A731-BC16CFB2A68A}" type="presParOf" srcId="{B91C0304-78B0-4C40-B06B-35BE222DF151}" destId="{BD84EF95-62FD-48EA-AD1D-74027457E637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DB4A6-F198-46E0-ABB6-A8C5D2911E04}">
      <dsp:nvSpPr>
        <dsp:cNvPr id="0" name=""/>
        <dsp:cNvSpPr/>
      </dsp:nvSpPr>
      <dsp:spPr>
        <a:xfrm>
          <a:off x="2157372" y="975002"/>
          <a:ext cx="2428954" cy="2428954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bg1"/>
              </a:solidFill>
            </a:rPr>
            <a:t>Code Red Worm Propagation</a:t>
          </a:r>
        </a:p>
      </dsp:txBody>
      <dsp:txXfrm>
        <a:off x="2513084" y="1330714"/>
        <a:ext cx="1717530" cy="1717530"/>
      </dsp:txXfrm>
    </dsp:sp>
    <dsp:sp modelId="{72BCBA18-1B4F-4D1A-815C-4442D5AB6E73}">
      <dsp:nvSpPr>
        <dsp:cNvPr id="0" name=""/>
        <dsp:cNvSpPr/>
      </dsp:nvSpPr>
      <dsp:spPr>
        <a:xfrm>
          <a:off x="2764611" y="433"/>
          <a:ext cx="1214477" cy="121447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28"/>
                <a:satOff val="-75"/>
                <a:lumOff val="1066"/>
                <a:alphaOff val="7500"/>
                <a:tint val="96000"/>
                <a:lumMod val="104000"/>
              </a:schemeClr>
            </a:gs>
            <a:gs pos="100000">
              <a:schemeClr val="accent4">
                <a:shade val="80000"/>
                <a:alpha val="50000"/>
                <a:hueOff val="28"/>
                <a:satOff val="-75"/>
                <a:lumOff val="1066"/>
                <a:alphaOff val="750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1.</a:t>
          </a:r>
          <a:br>
            <a:rPr lang="en-US" sz="1100" b="1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</a:rPr>
            <a:t>Propagate for 19 days</a:t>
          </a:r>
        </a:p>
      </dsp:txBody>
      <dsp:txXfrm>
        <a:off x="2942467" y="178289"/>
        <a:ext cx="858765" cy="858765"/>
      </dsp:txXfrm>
    </dsp:sp>
    <dsp:sp modelId="{482A26F6-4C14-4952-9861-0853E7EE424E}">
      <dsp:nvSpPr>
        <dsp:cNvPr id="0" name=""/>
        <dsp:cNvSpPr/>
      </dsp:nvSpPr>
      <dsp:spPr>
        <a:xfrm>
          <a:off x="4346419" y="1582241"/>
          <a:ext cx="1214477" cy="121447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56"/>
                <a:satOff val="-150"/>
                <a:lumOff val="2133"/>
                <a:alphaOff val="15000"/>
                <a:tint val="96000"/>
                <a:lumMod val="104000"/>
              </a:schemeClr>
            </a:gs>
            <a:gs pos="100000">
              <a:schemeClr val="accent4">
                <a:shade val="80000"/>
                <a:alpha val="50000"/>
                <a:hueOff val="56"/>
                <a:satOff val="-150"/>
                <a:lumOff val="2133"/>
                <a:alphaOff val="1500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2.</a:t>
          </a:r>
          <a:br>
            <a:rPr lang="en-US" sz="1100" b="1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</a:rPr>
            <a:t>Launch </a:t>
          </a:r>
          <a:r>
            <a:rPr lang="en-US" sz="1100" b="1" kern="1200" dirty="0" err="1">
              <a:solidFill>
                <a:schemeClr val="bg1"/>
              </a:solidFill>
            </a:rPr>
            <a:t>DoS</a:t>
          </a:r>
          <a:r>
            <a:rPr lang="en-US" sz="1100" b="1" kern="1200" dirty="0">
              <a:solidFill>
                <a:schemeClr val="bg1"/>
              </a:solidFill>
            </a:rPr>
            <a:t> attack for next 7 days</a:t>
          </a:r>
        </a:p>
      </dsp:txBody>
      <dsp:txXfrm>
        <a:off x="4524275" y="1760097"/>
        <a:ext cx="858765" cy="858765"/>
      </dsp:txXfrm>
    </dsp:sp>
    <dsp:sp modelId="{1FAB6F58-2594-4808-AE2C-BB202E6AFB96}">
      <dsp:nvSpPr>
        <dsp:cNvPr id="0" name=""/>
        <dsp:cNvSpPr/>
      </dsp:nvSpPr>
      <dsp:spPr>
        <a:xfrm>
          <a:off x="2764611" y="3164049"/>
          <a:ext cx="1214477" cy="121447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84"/>
                <a:satOff val="-224"/>
                <a:lumOff val="3199"/>
                <a:alphaOff val="22500"/>
                <a:tint val="96000"/>
                <a:lumMod val="104000"/>
              </a:schemeClr>
            </a:gs>
            <a:gs pos="100000">
              <a:schemeClr val="accent4">
                <a:shade val="80000"/>
                <a:alpha val="50000"/>
                <a:hueOff val="84"/>
                <a:satOff val="-224"/>
                <a:lumOff val="3199"/>
                <a:alphaOff val="2250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3.</a:t>
          </a:r>
          <a:br>
            <a:rPr lang="en-US" sz="1100" b="1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</a:rPr>
            <a:t>Stop and go dormant for a few days</a:t>
          </a:r>
        </a:p>
      </dsp:txBody>
      <dsp:txXfrm>
        <a:off x="2942467" y="3341905"/>
        <a:ext cx="858765" cy="858765"/>
      </dsp:txXfrm>
    </dsp:sp>
    <dsp:sp modelId="{7E083439-DB48-4907-AED8-3BC400DDD483}">
      <dsp:nvSpPr>
        <dsp:cNvPr id="0" name=""/>
        <dsp:cNvSpPr/>
      </dsp:nvSpPr>
      <dsp:spPr>
        <a:xfrm>
          <a:off x="1182803" y="1582241"/>
          <a:ext cx="1214477" cy="121447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alpha val="50000"/>
                <a:hueOff val="112"/>
                <a:satOff val="-299"/>
                <a:lumOff val="4266"/>
                <a:alphaOff val="30000"/>
                <a:tint val="96000"/>
                <a:lumMod val="104000"/>
              </a:schemeClr>
            </a:gs>
            <a:gs pos="100000">
              <a:schemeClr val="accent4">
                <a:shade val="80000"/>
                <a:alpha val="50000"/>
                <a:hueOff val="112"/>
                <a:satOff val="-299"/>
                <a:lumOff val="4266"/>
                <a:alphaOff val="3000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4.</a:t>
          </a:r>
          <a:br>
            <a:rPr lang="en-US" sz="1100" b="1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</a:rPr>
            <a:t>Repeat the cycle</a:t>
          </a:r>
        </a:p>
      </dsp:txBody>
      <dsp:txXfrm>
        <a:off x="1360659" y="1760097"/>
        <a:ext cx="858765" cy="8587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6D94B-9804-4780-95BF-FD24FC084F04}">
      <dsp:nvSpPr>
        <dsp:cNvPr id="0" name=""/>
        <dsp:cNvSpPr/>
      </dsp:nvSpPr>
      <dsp:spPr>
        <a:xfrm>
          <a:off x="1138597" y="191825"/>
          <a:ext cx="3806999" cy="1322120"/>
        </a:xfrm>
        <a:prstGeom prst="ellipse">
          <a:avLst/>
        </a:prstGeom>
        <a:solidFill>
          <a:schemeClr val="accent4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88256-F891-44F1-A26D-2BFB48E75CBA}">
      <dsp:nvSpPr>
        <dsp:cNvPr id="0" name=""/>
        <dsp:cNvSpPr/>
      </dsp:nvSpPr>
      <dsp:spPr>
        <a:xfrm>
          <a:off x="2679104" y="3429250"/>
          <a:ext cx="737790" cy="472186"/>
        </a:xfrm>
        <a:prstGeom prst="downArrow">
          <a:avLst/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C41B0DF3-4CBB-403A-BDA8-94CBEDFFDEE5}">
      <dsp:nvSpPr>
        <dsp:cNvPr id="0" name=""/>
        <dsp:cNvSpPr/>
      </dsp:nvSpPr>
      <dsp:spPr>
        <a:xfrm>
          <a:off x="1277302" y="3806999"/>
          <a:ext cx="3541395" cy="885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Reconnaissance</a:t>
          </a:r>
          <a:br>
            <a:rPr lang="en-US" sz="1800" kern="1200" dirty="0"/>
          </a:br>
          <a:r>
            <a:rPr lang="en-US" sz="1800" kern="1200" dirty="0"/>
            <a:t>Access</a:t>
          </a:r>
          <a:br>
            <a:rPr lang="en-US" sz="1800" kern="1200" dirty="0"/>
          </a:br>
          <a:r>
            <a:rPr lang="en-US" sz="1800" kern="1200" dirty="0" err="1"/>
            <a:t>DoS</a:t>
          </a:r>
          <a:endParaRPr lang="en-US" sz="1800" kern="1200" dirty="0"/>
        </a:p>
      </dsp:txBody>
      <dsp:txXfrm>
        <a:off x="1277302" y="3806999"/>
        <a:ext cx="3541395" cy="885348"/>
      </dsp:txXfrm>
    </dsp:sp>
    <dsp:sp modelId="{E3FB935A-AD8C-431C-BF83-C23654776FDE}">
      <dsp:nvSpPr>
        <dsp:cNvPr id="0" name=""/>
        <dsp:cNvSpPr/>
      </dsp:nvSpPr>
      <dsp:spPr>
        <a:xfrm>
          <a:off x="2522693" y="1616056"/>
          <a:ext cx="1328023" cy="132802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Smurf Attack</a:t>
          </a:r>
        </a:p>
      </dsp:txBody>
      <dsp:txXfrm>
        <a:off x="2717177" y="1810540"/>
        <a:ext cx="939055" cy="939055"/>
      </dsp:txXfrm>
    </dsp:sp>
    <dsp:sp modelId="{D68E6EA1-9AD4-461D-9EBB-B8BE7C1331E1}">
      <dsp:nvSpPr>
        <dsp:cNvPr id="0" name=""/>
        <dsp:cNvSpPr/>
      </dsp:nvSpPr>
      <dsp:spPr>
        <a:xfrm>
          <a:off x="1572418" y="619744"/>
          <a:ext cx="1328023" cy="132802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Syn</a:t>
          </a:r>
          <a:r>
            <a:rPr lang="en-US" sz="1100" kern="1200" dirty="0"/>
            <a:t> Flood</a:t>
          </a:r>
        </a:p>
      </dsp:txBody>
      <dsp:txXfrm>
        <a:off x="1766902" y="814228"/>
        <a:ext cx="939055" cy="939055"/>
      </dsp:txXfrm>
    </dsp:sp>
    <dsp:sp modelId="{71251657-5FC2-4E22-A1C9-3E95D3956F2B}">
      <dsp:nvSpPr>
        <dsp:cNvPr id="0" name=""/>
        <dsp:cNvSpPr/>
      </dsp:nvSpPr>
      <dsp:spPr>
        <a:xfrm>
          <a:off x="2929953" y="298657"/>
          <a:ext cx="1328023" cy="132802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 Modification</a:t>
          </a:r>
        </a:p>
      </dsp:txBody>
      <dsp:txXfrm>
        <a:off x="3124437" y="493141"/>
        <a:ext cx="939055" cy="939055"/>
      </dsp:txXfrm>
    </dsp:sp>
    <dsp:sp modelId="{BD84EF95-62FD-48EA-AD1D-74027457E637}">
      <dsp:nvSpPr>
        <dsp:cNvPr id="0" name=""/>
        <dsp:cNvSpPr/>
      </dsp:nvSpPr>
      <dsp:spPr>
        <a:xfrm>
          <a:off x="982186" y="29511"/>
          <a:ext cx="4131627" cy="3305302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B32F71-520A-4EC3-A658-6095CFA45C9C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9CE7F-C134-4983-B28A-8156197A8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976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1.1.1.1 Networks Are Targets</a:t>
            </a:r>
          </a:p>
          <a:p>
            <a:r>
              <a:rPr lang="en-US" dirty="0"/>
              <a:t>http://map.ipviking.com/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33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1.1.1.3 Vectors of Network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20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1.2.1.1 The Hacker</a:t>
            </a:r>
          </a:p>
          <a:p>
            <a:r>
              <a:rPr lang="en-US" dirty="0"/>
              <a:t>1.2.1.2 The Evolution of Hackers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1.2.1.3 Cyber Criminals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1.2.1.4 Hacktivists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1.2.1.5 State-Sponsored</a:t>
            </a:r>
            <a:r>
              <a:rPr lang="en-US" baseline="0" dirty="0"/>
              <a:t> Hackers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05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1.2.2.1 Introduction of Attack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72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1.2.2.2 Evolution of Security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37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1.2.2.3 Categories of Attack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49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1.2.3.1 Various Types of Malware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24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1.2.3.2</a:t>
            </a:r>
            <a:r>
              <a:rPr lang="en-US" baseline="0" dirty="0"/>
              <a:t> Viruses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47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1.2.3.3 Trojan Horses</a:t>
            </a:r>
          </a:p>
          <a:p>
            <a:r>
              <a:rPr lang="en-US" dirty="0"/>
              <a:t>1.2.3.4 Trojan Horse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63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1.2.3.5 Worms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93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1.2.3.6 Worm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55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1.2.3.7 Other Malware</a:t>
            </a:r>
          </a:p>
          <a:p>
            <a:r>
              <a:rPr lang="en-US" dirty="0"/>
              <a:t>1.2.3.8</a:t>
            </a:r>
            <a:r>
              <a:rPr lang="en-US" baseline="0" dirty="0"/>
              <a:t> Activity - Identify the Malware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38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1.1.1.1 Networks </a:t>
            </a:r>
            <a:r>
              <a:rPr lang="en-US"/>
              <a:t>Are Targets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29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1.2.4.2 Reconnaissance Attacks</a:t>
            </a:r>
          </a:p>
          <a:p>
            <a:r>
              <a:rPr lang="en-US" dirty="0"/>
              <a:t>1.2.4.3 Sample Reconnaissance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21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1.2.4.5 Access Attacks</a:t>
            </a:r>
          </a:p>
          <a:p>
            <a:r>
              <a:rPr lang="en-US" dirty="0"/>
              <a:t>1.2.4.6 Types of Access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72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1.2.4.6 Social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90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1.2.4.7 Denial of Service Attacks</a:t>
            </a:r>
          </a:p>
          <a:p>
            <a:r>
              <a:rPr lang="en-US" dirty="0"/>
              <a:t>1.2.4.8 Types of </a:t>
            </a:r>
            <a:r>
              <a:rPr lang="en-US" dirty="0" err="1"/>
              <a:t>DoS</a:t>
            </a:r>
            <a:r>
              <a:rPr lang="en-US" dirty="0"/>
              <a:t> Attacks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96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1.2.4.9 </a:t>
            </a:r>
            <a:r>
              <a:rPr lang="en-US" dirty="0" err="1"/>
              <a:t>DDoS</a:t>
            </a:r>
            <a:r>
              <a:rPr lang="en-US" dirty="0"/>
              <a:t> Attacks</a:t>
            </a:r>
          </a:p>
          <a:p>
            <a:r>
              <a:rPr lang="en-US" dirty="0"/>
              <a:t>1.2.4.10 </a:t>
            </a:r>
            <a:r>
              <a:rPr lang="en-US" dirty="0" err="1"/>
              <a:t>DDoS</a:t>
            </a:r>
            <a:r>
              <a:rPr lang="en-US" dirty="0"/>
              <a:t> Attacks (cont.) - Video </a:t>
            </a:r>
            <a:r>
              <a:rPr lang="en-CA" dirty="0"/>
              <a:t>https://www.youtube.com/watch?v=NogCN78XN2w</a:t>
            </a:r>
          </a:p>
          <a:p>
            <a:r>
              <a:rPr lang="en-US" dirty="0"/>
              <a:t>1.2.4.11 Activity - Identify the Types of Attack</a:t>
            </a:r>
          </a:p>
          <a:p>
            <a:r>
              <a:rPr lang="en-US" dirty="0"/>
              <a:t>1.2.4.12 Lab - Social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40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1.3.4.1 Defending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8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019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198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152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918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3889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701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206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7864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864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138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8855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93863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3988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0132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1764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1911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70" y="432215"/>
            <a:ext cx="11451815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344168"/>
            <a:ext cx="11436096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0493173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4950E-881C-4D2C-A095-1DBB72B0B001}" type="datetimeFigureOut">
              <a:rPr lang="en-SG" smtClean="0"/>
              <a:t>12/10/2018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B152400-8755-4790-9F4D-004C0AD1C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681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2" y="2514598"/>
            <a:ext cx="8915399" cy="2262781"/>
          </a:xfrm>
        </p:spPr>
        <p:txBody>
          <a:bodyPr>
            <a:normAutofit/>
          </a:bodyPr>
          <a:lstStyle/>
          <a:p>
            <a:pPr algn="l"/>
            <a:r>
              <a:rPr lang="en-SG" cap="none" dirty="0"/>
              <a:t>Chapter 1 - Identifying potential security threats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6451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What are the various security threats?</a:t>
            </a:r>
          </a:p>
          <a:p>
            <a:r>
              <a:rPr lang="en-SG" sz="2400" dirty="0"/>
              <a:t>What is Confidentiality, Integrity and Availability (CIA) ?</a:t>
            </a:r>
          </a:p>
          <a:p>
            <a:r>
              <a:rPr lang="en-SG" sz="2400" dirty="0"/>
              <a:t>What is Defence in Depth?</a:t>
            </a:r>
          </a:p>
        </p:txBody>
      </p:sp>
    </p:spTree>
    <p:extLst>
      <p:ext uri="{BB962C8B-B14F-4D97-AF65-F5344CB8AC3E}">
        <p14:creationId xmlns:p14="http://schemas.microsoft.com/office/powerpoint/2010/main" val="298903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661" y="3012468"/>
            <a:ext cx="8911687" cy="1280890"/>
          </a:xfrm>
        </p:spPr>
        <p:txBody>
          <a:bodyPr/>
          <a:lstStyle/>
          <a:p>
            <a:r>
              <a:rPr lang="en-SG" dirty="0"/>
              <a:t>What are the various security threats?</a:t>
            </a:r>
            <a:br>
              <a:rPr lang="en-SG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368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Networks Are Targets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703" y="1640289"/>
            <a:ext cx="9517906" cy="4228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76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Vectors of Network Attacks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19" y="1326748"/>
            <a:ext cx="7743825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961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The Hacker &amp; The Evolution of Hackers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9" y="1119189"/>
            <a:ext cx="8086725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7056120" y="1313688"/>
            <a:ext cx="2956560" cy="28087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Modern hacking titles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r>
              <a:rPr lang="en-US" sz="1800" dirty="0">
                <a:solidFill>
                  <a:schemeClr val="bg1"/>
                </a:solidFill>
              </a:rPr>
              <a:t>Script Kiddies</a:t>
            </a:r>
          </a:p>
          <a:p>
            <a:r>
              <a:rPr lang="en-US" sz="1800" dirty="0">
                <a:solidFill>
                  <a:schemeClr val="bg1"/>
                </a:solidFill>
              </a:rPr>
              <a:t>Vulnerability Brokers</a:t>
            </a:r>
          </a:p>
          <a:p>
            <a:r>
              <a:rPr lang="en-US" sz="1800" dirty="0">
                <a:solidFill>
                  <a:schemeClr val="bg1"/>
                </a:solidFill>
              </a:rPr>
              <a:t>Hacktivists</a:t>
            </a:r>
          </a:p>
          <a:p>
            <a:r>
              <a:rPr lang="en-US" sz="1800" dirty="0">
                <a:solidFill>
                  <a:schemeClr val="bg1"/>
                </a:solidFill>
              </a:rPr>
              <a:t>Cyber Criminals</a:t>
            </a:r>
          </a:p>
          <a:p>
            <a:r>
              <a:rPr lang="en-US" sz="1800" dirty="0">
                <a:solidFill>
                  <a:schemeClr val="bg1"/>
                </a:solidFill>
              </a:rPr>
              <a:t>State-Sponsored Hackers</a:t>
            </a:r>
          </a:p>
        </p:txBody>
      </p:sp>
    </p:spTree>
    <p:extLst>
      <p:ext uri="{BB962C8B-B14F-4D97-AF65-F5344CB8AC3E}">
        <p14:creationId xmlns:p14="http://schemas.microsoft.com/office/powerpoint/2010/main" val="181043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Introduction of Attack Tools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949" y="1287901"/>
            <a:ext cx="4206614" cy="3566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564" y="2495250"/>
            <a:ext cx="4421667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46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Evolution of Security Tools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2164080" y="1237488"/>
            <a:ext cx="3781000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Penetration testing tools:</a:t>
            </a:r>
          </a:p>
          <a:p>
            <a:r>
              <a:rPr lang="en-US" sz="1800" dirty="0"/>
              <a:t>Password crackers</a:t>
            </a:r>
          </a:p>
          <a:p>
            <a:r>
              <a:rPr lang="en-US" sz="1800" dirty="0"/>
              <a:t>Wireless hacking</a:t>
            </a:r>
          </a:p>
          <a:p>
            <a:r>
              <a:rPr lang="en-US" sz="1800" dirty="0"/>
              <a:t>Network scanning and hacking</a:t>
            </a:r>
          </a:p>
          <a:p>
            <a:r>
              <a:rPr lang="en-US" sz="1800" dirty="0"/>
              <a:t>Packet crafting</a:t>
            </a:r>
          </a:p>
          <a:p>
            <a:r>
              <a:rPr lang="en-US" sz="1800" dirty="0"/>
              <a:t>Packet sniffers</a:t>
            </a:r>
          </a:p>
          <a:p>
            <a:r>
              <a:rPr lang="en-US" sz="1800" dirty="0"/>
              <a:t>Rootkit detectors</a:t>
            </a:r>
          </a:p>
          <a:p>
            <a:r>
              <a:rPr lang="en-US" sz="1800" dirty="0" err="1"/>
              <a:t>Fuzzers</a:t>
            </a:r>
            <a:r>
              <a:rPr lang="en-US" sz="1800" dirty="0"/>
              <a:t> to search vulnerabilities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6222800" y="1238962"/>
            <a:ext cx="3781000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  <a:p>
            <a:r>
              <a:rPr lang="en-US" sz="1800" dirty="0"/>
              <a:t>Forensic</a:t>
            </a:r>
          </a:p>
          <a:p>
            <a:r>
              <a:rPr lang="en-US" sz="1800" dirty="0"/>
              <a:t>Debuggers</a:t>
            </a:r>
          </a:p>
          <a:p>
            <a:r>
              <a:rPr lang="en-US" sz="1800" dirty="0"/>
              <a:t>Hacking operating systems</a:t>
            </a:r>
          </a:p>
          <a:p>
            <a:r>
              <a:rPr lang="en-US" sz="1800" dirty="0"/>
              <a:t>Encryption</a:t>
            </a:r>
          </a:p>
          <a:p>
            <a:r>
              <a:rPr lang="en-US" sz="1800" dirty="0"/>
              <a:t>Vulnerability exploitation</a:t>
            </a:r>
          </a:p>
          <a:p>
            <a:r>
              <a:rPr lang="en-US" sz="1800" dirty="0"/>
              <a:t>Vulnerability Scanners</a:t>
            </a:r>
          </a:p>
        </p:txBody>
      </p:sp>
    </p:spTree>
    <p:extLst>
      <p:ext uri="{BB962C8B-B14F-4D97-AF65-F5344CB8AC3E}">
        <p14:creationId xmlns:p14="http://schemas.microsoft.com/office/powerpoint/2010/main" val="418758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Categories of Attack Tools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2164080" y="1237488"/>
            <a:ext cx="7917180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Network hacking attacks:</a:t>
            </a:r>
          </a:p>
          <a:p>
            <a:r>
              <a:rPr lang="en-US" sz="1800" dirty="0"/>
              <a:t>Eavesdropping</a:t>
            </a:r>
          </a:p>
          <a:p>
            <a:r>
              <a:rPr lang="en-US" sz="1800" dirty="0"/>
              <a:t>Data modification</a:t>
            </a:r>
          </a:p>
          <a:p>
            <a:r>
              <a:rPr lang="en-US" sz="1800" dirty="0"/>
              <a:t>IP address spoofing</a:t>
            </a:r>
          </a:p>
          <a:p>
            <a:r>
              <a:rPr lang="en-US" sz="1800" dirty="0"/>
              <a:t>Password-based</a:t>
            </a:r>
          </a:p>
          <a:p>
            <a:r>
              <a:rPr lang="en-US" sz="1800" dirty="0"/>
              <a:t>Denial-of-service</a:t>
            </a:r>
          </a:p>
          <a:p>
            <a:r>
              <a:rPr lang="en-US" sz="1800" dirty="0"/>
              <a:t>Man-in-the-middle</a:t>
            </a:r>
          </a:p>
          <a:p>
            <a:r>
              <a:rPr lang="en-US" sz="1800" dirty="0"/>
              <a:t>Compromised-key</a:t>
            </a:r>
          </a:p>
          <a:p>
            <a:r>
              <a:rPr lang="en-US" sz="1800" dirty="0"/>
              <a:t>Sniffer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3177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Various Types of Malware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1" y="1128331"/>
            <a:ext cx="4662487" cy="143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020" y="2556897"/>
            <a:ext cx="4481512" cy="185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4404411"/>
            <a:ext cx="4296726" cy="197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5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Viruses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25" y="1128714"/>
            <a:ext cx="668655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019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Trojan Horse Classification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2181824"/>
            <a:ext cx="5737860" cy="411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2042160" y="1237488"/>
            <a:ext cx="7917180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Classifications:</a:t>
            </a:r>
          </a:p>
          <a:p>
            <a:r>
              <a:rPr lang="en-US" sz="1800" dirty="0"/>
              <a:t>Security software disabler</a:t>
            </a:r>
          </a:p>
          <a:p>
            <a:r>
              <a:rPr lang="en-US" sz="1800" dirty="0"/>
              <a:t>Remote-access</a:t>
            </a:r>
          </a:p>
          <a:p>
            <a:r>
              <a:rPr lang="en-US" sz="1800" dirty="0"/>
              <a:t>Data-sending</a:t>
            </a:r>
          </a:p>
          <a:p>
            <a:r>
              <a:rPr lang="en-US" sz="1800" dirty="0"/>
              <a:t>Destructive</a:t>
            </a:r>
          </a:p>
          <a:p>
            <a:r>
              <a:rPr lang="en-US" sz="1800" dirty="0"/>
              <a:t>Proxy</a:t>
            </a:r>
          </a:p>
          <a:p>
            <a:r>
              <a:rPr lang="en-US" sz="1800" dirty="0"/>
              <a:t>FTP</a:t>
            </a:r>
          </a:p>
          <a:p>
            <a:r>
              <a:rPr lang="en-US" sz="1800" dirty="0" err="1"/>
              <a:t>DoS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1945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Worms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0" y="1431040"/>
            <a:ext cx="4175760" cy="218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5981700" y="1847088"/>
            <a:ext cx="3943350" cy="5227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Initial Code Red Worm Infection</a:t>
            </a:r>
            <a:endParaRPr lang="en-US" sz="18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276" y="4082800"/>
            <a:ext cx="4219584" cy="218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6080760" y="4536948"/>
            <a:ext cx="4640580" cy="5227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Code Red Worm Infection 19 Hours Later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5082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Worm Components</a:t>
            </a:r>
          </a:p>
        </p:txBody>
      </p:sp>
      <p:graphicFrame>
        <p:nvGraphicFramePr>
          <p:cNvPr id="2" name="Diagram 1"/>
          <p:cNvGraphicFramePr/>
          <p:nvPr>
            <p:extLst/>
          </p:nvPr>
        </p:nvGraphicFramePr>
        <p:xfrm>
          <a:off x="3295650" y="1303020"/>
          <a:ext cx="6743700" cy="4378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6"/>
          <p:cNvSpPr txBox="1">
            <a:spLocks/>
          </p:cNvSpPr>
          <p:nvPr/>
        </p:nvSpPr>
        <p:spPr>
          <a:xfrm>
            <a:off x="2042160" y="1321308"/>
            <a:ext cx="2948940" cy="18105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Components:</a:t>
            </a:r>
          </a:p>
          <a:p>
            <a:r>
              <a:rPr lang="en-US" sz="1800" dirty="0"/>
              <a:t>Enabling vulnerability</a:t>
            </a:r>
          </a:p>
          <a:p>
            <a:r>
              <a:rPr lang="en-US" sz="1800" dirty="0"/>
              <a:t>Propagation mechanism</a:t>
            </a:r>
          </a:p>
          <a:p>
            <a:r>
              <a:rPr lang="en-US" sz="1800" dirty="0"/>
              <a:t>Payload</a:t>
            </a:r>
          </a:p>
        </p:txBody>
      </p:sp>
    </p:spTree>
    <p:extLst>
      <p:ext uri="{BB962C8B-B14F-4D97-AF65-F5344CB8AC3E}">
        <p14:creationId xmlns:p14="http://schemas.microsoft.com/office/powerpoint/2010/main" val="239864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Other Malware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825" y="1191579"/>
            <a:ext cx="661035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3208020" y="4559808"/>
            <a:ext cx="2110740" cy="12999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Ransomware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Spyware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Adware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7543800" y="4539996"/>
            <a:ext cx="1710690" cy="1391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Scareware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Phishing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Rootkits</a:t>
            </a:r>
          </a:p>
        </p:txBody>
      </p:sp>
    </p:spTree>
    <p:extLst>
      <p:ext uri="{BB962C8B-B14F-4D97-AF65-F5344CB8AC3E}">
        <p14:creationId xmlns:p14="http://schemas.microsoft.com/office/powerpoint/2010/main" val="22110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Types of Network Attacks</a:t>
            </a:r>
          </a:p>
        </p:txBody>
      </p:sp>
      <p:graphicFrame>
        <p:nvGraphicFramePr>
          <p:cNvPr id="2" name="Diagram 1"/>
          <p:cNvGraphicFramePr/>
          <p:nvPr>
            <p:extLst/>
          </p:nvPr>
        </p:nvGraphicFramePr>
        <p:xfrm>
          <a:off x="3048000" y="1397000"/>
          <a:ext cx="6096000" cy="4721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564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Reconnaissance Attacks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833" y="3449830"/>
            <a:ext cx="4368785" cy="2887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6"/>
          <p:cNvSpPr txBox="1">
            <a:spLocks/>
          </p:cNvSpPr>
          <p:nvPr/>
        </p:nvSpPr>
        <p:spPr>
          <a:xfrm>
            <a:off x="1753703" y="1082927"/>
            <a:ext cx="4465320" cy="3113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Initial query of a target</a:t>
            </a:r>
          </a:p>
          <a:p>
            <a:r>
              <a:rPr lang="en-US" sz="1800" dirty="0">
                <a:solidFill>
                  <a:schemeClr val="tx1"/>
                </a:solidFill>
              </a:rPr>
              <a:t>Ping sweep of the target network</a:t>
            </a:r>
          </a:p>
          <a:p>
            <a:r>
              <a:rPr lang="en-US" sz="1800" dirty="0">
                <a:solidFill>
                  <a:schemeClr val="tx1"/>
                </a:solidFill>
              </a:rPr>
              <a:t>Port scan of active IP addresses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Vulnerability scanners</a:t>
            </a:r>
          </a:p>
          <a:p>
            <a:r>
              <a:rPr lang="en-US" sz="1800" dirty="0">
                <a:solidFill>
                  <a:schemeClr val="tx1"/>
                </a:solidFill>
              </a:rPr>
              <a:t>Exploitation tools</a:t>
            </a:r>
          </a:p>
        </p:txBody>
      </p:sp>
    </p:spTree>
    <p:extLst>
      <p:ext uri="{BB962C8B-B14F-4D97-AF65-F5344CB8AC3E}">
        <p14:creationId xmlns:p14="http://schemas.microsoft.com/office/powerpoint/2010/main" val="251253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Access Attacks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2164080" y="1237488"/>
            <a:ext cx="7917180" cy="4995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 few reasons why hackers use access attacks:</a:t>
            </a:r>
          </a:p>
          <a:p>
            <a:r>
              <a:rPr lang="en-US" sz="1800" dirty="0"/>
              <a:t>To retrieve data</a:t>
            </a:r>
          </a:p>
          <a:p>
            <a:r>
              <a:rPr lang="en-US" sz="1800" dirty="0"/>
              <a:t>To gain access</a:t>
            </a:r>
          </a:p>
          <a:p>
            <a:r>
              <a:rPr lang="en-US" sz="1800" dirty="0"/>
              <a:t>To escalate access privileges</a:t>
            </a:r>
          </a:p>
          <a:p>
            <a:pPr marL="0" indent="0">
              <a:buNone/>
            </a:pPr>
            <a:r>
              <a:rPr lang="en-US" sz="2000" dirty="0"/>
              <a:t>A few types of access attacks include:</a:t>
            </a:r>
          </a:p>
          <a:p>
            <a:r>
              <a:rPr lang="en-US" sz="1800" dirty="0"/>
              <a:t>Password</a:t>
            </a:r>
          </a:p>
          <a:p>
            <a:r>
              <a:rPr lang="en-US" sz="1800" dirty="0"/>
              <a:t>Trust exploitation</a:t>
            </a:r>
          </a:p>
          <a:p>
            <a:r>
              <a:rPr lang="en-US" sz="1800" dirty="0"/>
              <a:t>Port redirection</a:t>
            </a:r>
          </a:p>
          <a:p>
            <a:r>
              <a:rPr lang="en-US" sz="1800" dirty="0"/>
              <a:t>Man-in-the-middle</a:t>
            </a:r>
          </a:p>
          <a:p>
            <a:r>
              <a:rPr lang="en-US" sz="1800" dirty="0"/>
              <a:t>Buffer overflow</a:t>
            </a:r>
          </a:p>
          <a:p>
            <a:r>
              <a:rPr lang="en-US" sz="1800" dirty="0"/>
              <a:t>IP, MAC, DHCP spoofing</a:t>
            </a:r>
          </a:p>
        </p:txBody>
      </p:sp>
    </p:spTree>
    <p:extLst>
      <p:ext uri="{BB962C8B-B14F-4D97-AF65-F5344CB8AC3E}">
        <p14:creationId xmlns:p14="http://schemas.microsoft.com/office/powerpoint/2010/main" val="42913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Social Engineering Attacks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788" y="1366884"/>
            <a:ext cx="5291120" cy="384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1869272" y="1366884"/>
            <a:ext cx="3338966" cy="3113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Pretexting</a:t>
            </a:r>
          </a:p>
          <a:p>
            <a:r>
              <a:rPr lang="en-US" sz="1800" dirty="0">
                <a:solidFill>
                  <a:schemeClr val="tx1"/>
                </a:solidFill>
              </a:rPr>
              <a:t>Phishing</a:t>
            </a:r>
          </a:p>
          <a:p>
            <a:r>
              <a:rPr lang="en-US" sz="1800" dirty="0" err="1">
                <a:solidFill>
                  <a:schemeClr val="tx1"/>
                </a:solidFill>
              </a:rPr>
              <a:t>Spearphishing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Spam</a:t>
            </a:r>
          </a:p>
          <a:p>
            <a:r>
              <a:rPr lang="en-US" sz="1800" dirty="0">
                <a:solidFill>
                  <a:schemeClr val="tx1"/>
                </a:solidFill>
              </a:rPr>
              <a:t>Tailgating</a:t>
            </a:r>
          </a:p>
          <a:p>
            <a:r>
              <a:rPr lang="en-US" sz="1800" dirty="0">
                <a:solidFill>
                  <a:schemeClr val="tx1"/>
                </a:solidFill>
              </a:rPr>
              <a:t>Something for Something</a:t>
            </a:r>
          </a:p>
          <a:p>
            <a:r>
              <a:rPr lang="en-US" sz="1800" dirty="0">
                <a:solidFill>
                  <a:schemeClr val="tx1"/>
                </a:solidFill>
              </a:rPr>
              <a:t>Baiting</a:t>
            </a:r>
          </a:p>
        </p:txBody>
      </p:sp>
    </p:spTree>
    <p:extLst>
      <p:ext uri="{BB962C8B-B14F-4D97-AF65-F5344CB8AC3E}">
        <p14:creationId xmlns:p14="http://schemas.microsoft.com/office/powerpoint/2010/main" val="273149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Denial of Service Attacks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70" y="1340240"/>
            <a:ext cx="8404860" cy="4646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993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 err="1"/>
              <a:t>DDoS</a:t>
            </a:r>
            <a:r>
              <a:rPr lang="en-US" sz="3200" dirty="0"/>
              <a:t> Attacks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164080" y="1237488"/>
            <a:ext cx="7917180" cy="4995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/>
              <a:t>Hacker builds a network of infected machines</a:t>
            </a:r>
          </a:p>
          <a:p>
            <a:pPr marL="635000" lvl="1" indent="-457200">
              <a:buFont typeface="Arial" panose="020B0604020202020204" pitchFamily="34" charset="0"/>
              <a:buChar char="•"/>
            </a:pPr>
            <a:r>
              <a:rPr lang="en-US" sz="1600" dirty="0"/>
              <a:t>A network of infected hosts is called a botnet.</a:t>
            </a:r>
          </a:p>
          <a:p>
            <a:pPr marL="635000" lvl="1" indent="-457200">
              <a:buFont typeface="Arial" panose="020B0604020202020204" pitchFamily="34" charset="0"/>
              <a:buChar char="•"/>
            </a:pPr>
            <a:r>
              <a:rPr lang="en-US" sz="1600" dirty="0"/>
              <a:t>The compromised computers are called zombies.</a:t>
            </a:r>
          </a:p>
          <a:p>
            <a:pPr marL="635000" lvl="1" indent="-457200">
              <a:buFont typeface="Arial" panose="020B0604020202020204" pitchFamily="34" charset="0"/>
              <a:buChar char="•"/>
            </a:pPr>
            <a:r>
              <a:rPr lang="en-US" sz="1600" dirty="0"/>
              <a:t>Zombies are controlled by handler systems.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Zombie computers continue to scan and infect more targets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Hacker instructs handler system to make the botnet of zombies carry out the </a:t>
            </a:r>
            <a:r>
              <a:rPr lang="en-US" sz="2000" dirty="0" err="1"/>
              <a:t>DDoS</a:t>
            </a:r>
            <a:r>
              <a:rPr lang="en-US" sz="2000" dirty="0"/>
              <a:t> attack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1785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8082" y="257574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SG" dirty="0"/>
              <a:t>What is Confidentiality, Integrity and Availability (CIA) ?</a:t>
            </a:r>
            <a:br>
              <a:rPr lang="en-SG" dirty="0"/>
            </a:br>
            <a:br>
              <a:rPr lang="en-SG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0801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SG" dirty="0"/>
            </a:br>
            <a:endParaRPr lang="en-SG" dirty="0"/>
          </a:p>
        </p:txBody>
      </p:sp>
      <p:pic>
        <p:nvPicPr>
          <p:cNvPr id="1026" name="Picture 2" descr="Image result for what is confidentiality integrity and availabilit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873" y="624110"/>
            <a:ext cx="5815464" cy="580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860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3517" y="991600"/>
            <a:ext cx="9157197" cy="4860344"/>
          </a:xfrm>
        </p:spPr>
        <p:txBody>
          <a:bodyPr>
            <a:noAutofit/>
          </a:bodyPr>
          <a:lstStyle/>
          <a:p>
            <a:r>
              <a:rPr lang="en-SG" sz="2400" dirty="0"/>
              <a:t>The classic model for information security</a:t>
            </a:r>
          </a:p>
          <a:p>
            <a:r>
              <a:rPr lang="en-SG" sz="2400" dirty="0"/>
              <a:t> Each objective addresses a different aspect of providing protection for information</a:t>
            </a:r>
          </a:p>
          <a:p>
            <a:r>
              <a:rPr lang="en-SG" sz="2400" dirty="0"/>
              <a:t>Confidentiality refers to protecting information from being accessed by unauthorized parties. In other words, only the people who are authorized to do so can gain access to sensitive data. </a:t>
            </a:r>
          </a:p>
          <a:p>
            <a:r>
              <a:rPr lang="en-SG" sz="2400" dirty="0"/>
              <a:t>Integrity refers to ensuring the authenticity of information—that information is not altered, and that the source of the information is genuine.</a:t>
            </a:r>
          </a:p>
          <a:p>
            <a:r>
              <a:rPr lang="en-SG" sz="2400" dirty="0"/>
              <a:t>Availability of information refers to ensuring that authorized parties are able to access the information when needed.</a:t>
            </a:r>
          </a:p>
        </p:txBody>
      </p:sp>
    </p:spTree>
    <p:extLst>
      <p:ext uri="{BB962C8B-B14F-4D97-AF65-F5344CB8AC3E}">
        <p14:creationId xmlns:p14="http://schemas.microsoft.com/office/powerpoint/2010/main" val="3792430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0313" y="2794104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SG" dirty="0"/>
              <a:t>What is Defence in Depth?</a:t>
            </a:r>
            <a:br>
              <a:rPr lang="en-SG" dirty="0"/>
            </a:br>
            <a:br>
              <a:rPr lang="en-SG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4957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3074" name="Picture 2" descr="Image result for what is defence in dept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717" y="1103122"/>
            <a:ext cx="6641011" cy="498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106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what is defence in dept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84" y="959277"/>
            <a:ext cx="6892752" cy="511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123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7893" y="1533098"/>
            <a:ext cx="8915400" cy="3777622"/>
          </a:xfrm>
        </p:spPr>
        <p:txBody>
          <a:bodyPr>
            <a:normAutofit/>
          </a:bodyPr>
          <a:lstStyle/>
          <a:p>
            <a:r>
              <a:rPr lang="en-SG" sz="2400" dirty="0"/>
              <a:t>The use of multiple layers of </a:t>
            </a:r>
            <a:r>
              <a:rPr lang="en-SG" sz="2400" dirty="0" err="1"/>
              <a:t>defense</a:t>
            </a:r>
            <a:r>
              <a:rPr lang="en-SG" sz="2400" dirty="0"/>
              <a:t> placed throughout an information system. </a:t>
            </a:r>
          </a:p>
          <a:p>
            <a:r>
              <a:rPr lang="en-SG" sz="2400" dirty="0"/>
              <a:t>With multiple layers the outermost layers are the first line of </a:t>
            </a:r>
            <a:r>
              <a:rPr lang="en-SG" sz="2400" dirty="0" err="1"/>
              <a:t>defense</a:t>
            </a:r>
            <a:r>
              <a:rPr lang="en-SG" sz="2400" dirty="0"/>
              <a:t> and work well against the smallest and most common attacks. </a:t>
            </a:r>
          </a:p>
          <a:p>
            <a:r>
              <a:rPr lang="en-SG" sz="2400" dirty="0"/>
              <a:t>More powerful and unconventional attacks get past the first few layers but will be stopped by the deeper, more concentrated layers.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1283" y="5310720"/>
            <a:ext cx="10408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>
                <a:solidFill>
                  <a:srgbClr val="FF0000"/>
                </a:solidFill>
              </a:rPr>
              <a:t>No single point of failure, designed to delay or stop attacks</a:t>
            </a:r>
            <a:endParaRPr lang="en-SG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588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823000"/>
            <a:ext cx="7701200" cy="567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0816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Examples of Defence in Depth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Firewall</a:t>
            </a:r>
          </a:p>
          <a:p>
            <a:r>
              <a:rPr lang="en-SG" sz="2400" dirty="0"/>
              <a:t>DMZ</a:t>
            </a:r>
          </a:p>
          <a:p>
            <a:r>
              <a:rPr lang="en-SG" sz="2400" dirty="0" err="1"/>
              <a:t>Authenticaion</a:t>
            </a:r>
            <a:endParaRPr lang="en-SG" sz="2400" dirty="0"/>
          </a:p>
          <a:p>
            <a:r>
              <a:rPr lang="en-SG" sz="2400" dirty="0"/>
              <a:t>IDS/IPS</a:t>
            </a:r>
          </a:p>
          <a:p>
            <a:r>
              <a:rPr lang="en-SG" sz="2400" dirty="0"/>
              <a:t>VPN</a:t>
            </a:r>
          </a:p>
          <a:p>
            <a:r>
              <a:rPr lang="en-SG" sz="2400" dirty="0"/>
              <a:t>Anti Virus and Anti Malware</a:t>
            </a:r>
          </a:p>
        </p:txBody>
      </p:sp>
    </p:spTree>
    <p:extLst>
      <p:ext uri="{BB962C8B-B14F-4D97-AF65-F5344CB8AC3E}">
        <p14:creationId xmlns:p14="http://schemas.microsoft.com/office/powerpoint/2010/main" val="658711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 txBox="1">
            <a:spLocks/>
          </p:cNvSpPr>
          <p:nvPr/>
        </p:nvSpPr>
        <p:spPr>
          <a:xfrm>
            <a:off x="2300557" y="830557"/>
            <a:ext cx="7917180" cy="4995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Best practices:</a:t>
            </a:r>
          </a:p>
          <a:p>
            <a:r>
              <a:rPr lang="en-US" sz="1800" dirty="0"/>
              <a:t>Develop a written security policy.</a:t>
            </a:r>
          </a:p>
          <a:p>
            <a:r>
              <a:rPr lang="en-US" sz="1800" dirty="0"/>
              <a:t>Educate employees about the risks of social engineering, and develop strategies to validate identities over the phone, via email, or in person.</a:t>
            </a:r>
          </a:p>
          <a:p>
            <a:r>
              <a:rPr lang="en-US" sz="1800" dirty="0"/>
              <a:t>Control physical access to systems.</a:t>
            </a:r>
          </a:p>
          <a:p>
            <a:r>
              <a:rPr lang="en-US" sz="1800" dirty="0"/>
              <a:t>Use strong passwords and change them often.</a:t>
            </a:r>
          </a:p>
          <a:p>
            <a:r>
              <a:rPr lang="en-US" sz="1800" dirty="0"/>
              <a:t>Encrypt and password-protect sensitive data.</a:t>
            </a:r>
          </a:p>
          <a:p>
            <a:r>
              <a:rPr lang="en-US" sz="1800" dirty="0"/>
              <a:t>Implement security hardware and software.</a:t>
            </a:r>
          </a:p>
          <a:p>
            <a:r>
              <a:rPr lang="en-US" sz="1800" dirty="0"/>
              <a:t>Perform backups and test the backed up files on a regular basis.</a:t>
            </a:r>
          </a:p>
          <a:p>
            <a:r>
              <a:rPr lang="en-US" sz="1800" dirty="0"/>
              <a:t>Shut down unnecessary services and ports.</a:t>
            </a:r>
          </a:p>
          <a:p>
            <a:r>
              <a:rPr lang="en-US" sz="1800" dirty="0"/>
              <a:t>Keep patches up-to-date by installing them weekly or daily to prevent buffer overflow and privilege escalation attacks.</a:t>
            </a:r>
          </a:p>
          <a:p>
            <a:r>
              <a:rPr lang="en-US" sz="1800" dirty="0"/>
              <a:t>Perform security audits to test the network.</a:t>
            </a:r>
          </a:p>
        </p:txBody>
      </p:sp>
    </p:spTree>
    <p:extLst>
      <p:ext uri="{BB962C8B-B14F-4D97-AF65-F5344CB8AC3E}">
        <p14:creationId xmlns:p14="http://schemas.microsoft.com/office/powerpoint/2010/main" val="131658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Research Activity (5%)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Form groups of 4 students</a:t>
            </a:r>
          </a:p>
          <a:p>
            <a:r>
              <a:rPr lang="en-SG" sz="2400" dirty="0"/>
              <a:t>Submit group names and student names to lecturer</a:t>
            </a:r>
          </a:p>
          <a:p>
            <a:r>
              <a:rPr lang="en-SG" sz="2400" dirty="0"/>
              <a:t>You are required to spend 2 hour to research on the Internet on the different mechanisms to implement defence in depth</a:t>
            </a:r>
          </a:p>
          <a:p>
            <a:r>
              <a:rPr lang="en-SG" sz="2400" dirty="0"/>
              <a:t>Prepare a 20 slides presentation to go through each mechanism in brief</a:t>
            </a:r>
          </a:p>
          <a:p>
            <a:r>
              <a:rPr lang="en-SG" sz="2400" dirty="0"/>
              <a:t>Restrict your presentation to 15 mins max</a:t>
            </a:r>
          </a:p>
          <a:p>
            <a:pPr marL="0" indent="0">
              <a:buNone/>
            </a:pPr>
            <a:endParaRPr lang="en-SG" sz="2400" dirty="0"/>
          </a:p>
          <a:p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7237866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79</TotalTime>
  <Words>782</Words>
  <Application>Microsoft Office PowerPoint</Application>
  <PresentationFormat>Widescreen</PresentationFormat>
  <Paragraphs>199</Paragraphs>
  <Slides>32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Century Gothic</vt:lpstr>
      <vt:lpstr>Wingdings 3</vt:lpstr>
      <vt:lpstr>Wisp</vt:lpstr>
      <vt:lpstr>Chapter 1 - Identifying potential security threats</vt:lpstr>
      <vt:lpstr>Content</vt:lpstr>
      <vt:lpstr>What are the various security threats? </vt:lpstr>
      <vt:lpstr>Networks Are Targets</vt:lpstr>
      <vt:lpstr>Vectors of Network Attacks</vt:lpstr>
      <vt:lpstr>The Hacker &amp; The Evolution of Hackers</vt:lpstr>
      <vt:lpstr>Introduction of Attack Tools</vt:lpstr>
      <vt:lpstr>Evolution of Security Tools</vt:lpstr>
      <vt:lpstr>Categories of Attack Tools</vt:lpstr>
      <vt:lpstr>Various Types of Malware</vt:lpstr>
      <vt:lpstr>Viruses</vt:lpstr>
      <vt:lpstr>Trojan Horse Classification</vt:lpstr>
      <vt:lpstr>Worms</vt:lpstr>
      <vt:lpstr>Worm Components</vt:lpstr>
      <vt:lpstr>Other Malware</vt:lpstr>
      <vt:lpstr>Types of Network Attacks</vt:lpstr>
      <vt:lpstr>Reconnaissance Attacks</vt:lpstr>
      <vt:lpstr>Access Attacks</vt:lpstr>
      <vt:lpstr>Social Engineering Attacks</vt:lpstr>
      <vt:lpstr>Denial of Service Attacks</vt:lpstr>
      <vt:lpstr>DDoS Attacks</vt:lpstr>
      <vt:lpstr>What is Confidentiality, Integrity and Availability (CIA) ?  </vt:lpstr>
      <vt:lpstr> </vt:lpstr>
      <vt:lpstr>PowerPoint Presentation</vt:lpstr>
      <vt:lpstr>What is Defence in Depth?  </vt:lpstr>
      <vt:lpstr>PowerPoint Presentation</vt:lpstr>
      <vt:lpstr>PowerPoint Presentation</vt:lpstr>
      <vt:lpstr>PowerPoint Presentation</vt:lpstr>
      <vt:lpstr>PowerPoint Presentation</vt:lpstr>
      <vt:lpstr>Examples of Defence in Depth Mechanisms</vt:lpstr>
      <vt:lpstr>PowerPoint Presentation</vt:lpstr>
      <vt:lpstr>Research Activity (5%)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1 - Identifying potential security threats</dc:title>
  <dc:creator>TEO CHEA WAN</dc:creator>
  <cp:lastModifiedBy>HOO BRYAN</cp:lastModifiedBy>
  <cp:revision>11</cp:revision>
  <dcterms:created xsi:type="dcterms:W3CDTF">2018-03-19T02:08:25Z</dcterms:created>
  <dcterms:modified xsi:type="dcterms:W3CDTF">2018-10-12T06:26:41Z</dcterms:modified>
</cp:coreProperties>
</file>