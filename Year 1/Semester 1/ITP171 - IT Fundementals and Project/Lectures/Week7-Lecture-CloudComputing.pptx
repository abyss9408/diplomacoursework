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4" r:id="rId2"/>
  </p:sldMasterIdLst>
  <p:notesMasterIdLst>
    <p:notesMasterId r:id="rId31"/>
  </p:notesMasterIdLst>
  <p:sldIdLst>
    <p:sldId id="270" r:id="rId3"/>
    <p:sldId id="312" r:id="rId4"/>
    <p:sldId id="272" r:id="rId5"/>
    <p:sldId id="273" r:id="rId6"/>
    <p:sldId id="283" r:id="rId7"/>
    <p:sldId id="284" r:id="rId8"/>
    <p:sldId id="285" r:id="rId9"/>
    <p:sldId id="286" r:id="rId10"/>
    <p:sldId id="287" r:id="rId11"/>
    <p:sldId id="288" r:id="rId12"/>
    <p:sldId id="289" r:id="rId13"/>
    <p:sldId id="290" r:id="rId14"/>
    <p:sldId id="291" r:id="rId15"/>
    <p:sldId id="292" r:id="rId16"/>
    <p:sldId id="293" r:id="rId17"/>
    <p:sldId id="313" r:id="rId18"/>
    <p:sldId id="314" r:id="rId19"/>
    <p:sldId id="294" r:id="rId20"/>
    <p:sldId id="295" r:id="rId21"/>
    <p:sldId id="297" r:id="rId22"/>
    <p:sldId id="298" r:id="rId23"/>
    <p:sldId id="299" r:id="rId24"/>
    <p:sldId id="311" r:id="rId25"/>
    <p:sldId id="300" r:id="rId26"/>
    <p:sldId id="302" r:id="rId27"/>
    <p:sldId id="303" r:id="rId28"/>
    <p:sldId id="304" r:id="rId29"/>
    <p:sldId id="310" r:id="rId30"/>
  </p:sldIdLst>
  <p:sldSz cx="9144000" cy="6858000" type="screen4x3"/>
  <p:notesSz cx="6858000" cy="9144000"/>
  <p:custDataLst>
    <p:tags r:id="rId32"/>
  </p:custDataLst>
  <p:defaultTextStyle>
    <a:defPPr>
      <a:defRPr lang="en-US"/>
    </a:defPPr>
    <a:lvl1pPr marL="0" algn="l" defTabSz="914400" rtl="0" latinLnBrk="0">
      <a:defRPr sz="1800" kern="1200">
        <a:solidFill>
          <a:schemeClr val="tx1"/>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3" autoAdjust="0"/>
    <p:restoredTop sz="94660"/>
  </p:normalViewPr>
  <p:slideViewPr>
    <p:cSldViewPr>
      <p:cViewPr varScale="1">
        <p:scale>
          <a:sx n="46" d="100"/>
          <a:sy n="46" d="100"/>
        </p:scale>
        <p:origin x="984"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rtlCol="0"/>
          <a:lstStyle>
            <a:lvl1pPr algn="r">
              <a:defRPr sz="1200"/>
            </a:lvl1pPr>
          </a:lstStyle>
          <a:p>
            <a:fld id="{2447E72A-D913-4DC2-9E0A-E520CE8FCC86}" type="datetimeFigureOut">
              <a:rPr lang="en-US" smtClean="0"/>
              <a:pPr/>
              <a:t>5/31/2018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rtlCol="0" anchor="b"/>
          <a:lstStyle>
            <a:lvl1pPr algn="r">
              <a:defRPr sz="1200"/>
            </a:lvl1pPr>
          </a:lstStyle>
          <a:p>
            <a:fld id="{A5D78FC6-CE17-4259-A63C-DDFC12E048FC}" type="slidenum">
              <a:rPr lang="en-US" smtClean="0"/>
              <a:pPr/>
              <a:t>‹#›</a:t>
            </a:fld>
            <a:endParaRPr lang="en-US"/>
          </a:p>
        </p:txBody>
      </p:sp>
    </p:spTree>
    <p:extLst>
      <p:ext uri="{BB962C8B-B14F-4D97-AF65-F5344CB8AC3E}">
        <p14:creationId xmlns:p14="http://schemas.microsoft.com/office/powerpoint/2010/main" val="793920716"/>
      </p:ext>
    </p:extLst>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2708F25A-D961-4205-8BB9-6A79872CDCB1}" type="slidenum">
              <a:rPr lang="en-US" smtClean="0"/>
              <a:pPr/>
              <a:t>1</a:t>
            </a:fld>
            <a:endParaRPr lang="en-US" dirty="0"/>
          </a:p>
        </p:txBody>
      </p:sp>
    </p:spTree>
    <p:extLst>
      <p:ext uri="{BB962C8B-B14F-4D97-AF65-F5344CB8AC3E}">
        <p14:creationId xmlns:p14="http://schemas.microsoft.com/office/powerpoint/2010/main" val="41877948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bright="42000" contrast="-68000"/>
          </a:blip>
          <a:srcRect/>
          <a:stretch>
            <a:fillRect l="-30000" t="-20000" r="-2000" b="12000"/>
          </a:stretch>
        </a:blipFill>
        <a:effectLst/>
      </p:bgPr>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smtClean="0"/>
              <a:t>Click to edit Master title style</a:t>
            </a:r>
            <a:endParaRPr lang="en-US" dirty="0"/>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dirty="0"/>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pPr algn="ctr"/>
            <a:fld id="{743653DA-8BF4-4869-96FE-9BCF43372D46}" type="datetime8">
              <a:rPr lang="en-US" smtClean="0"/>
              <a:pPr algn="ctr"/>
              <a:t>5/31/2018 9:34 AM</a:t>
            </a:fld>
            <a:endParaRPr lang="en-US" sz="2000" dirty="0">
              <a:solidFill>
                <a:srgbClr val="FFFFFF"/>
              </a:solidFill>
            </a:endParaRPr>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pPr algn="r"/>
            <a:endParaRPr lang="en-US" dirty="0">
              <a:solidFill>
                <a:schemeClr val="tx2"/>
              </a:solidFill>
            </a:endParaRPr>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72AC53DF-4216-466D-99A7-94400E6C2A25}" type="slidenum">
              <a:rPr lang="en-US" smtClean="0"/>
              <a:pPr/>
              <a:t>‹#›</a:t>
            </a:fld>
            <a:endParaRPr lang="en-US" dirty="0">
              <a:solidFill>
                <a:schemeClr val="tx2"/>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lang="en-US" smtClean="0"/>
              <a:t>Click to edit Master title style</a:t>
            </a:r>
            <a:endParaRPr lang="en-US" dirty="0"/>
          </a:p>
        </p:txBody>
      </p:sp>
      <p:sp>
        <p:nvSpPr>
          <p:cNvPr id="4" name="Date Placeholder 3"/>
          <p:cNvSpPr>
            <a:spLocks noGrp="1"/>
          </p:cNvSpPr>
          <p:nvPr>
            <p:ph type="dt" sz="half" idx="10"/>
          </p:nvPr>
        </p:nvSpPr>
        <p:spPr/>
        <p:txBody>
          <a:bodyPr/>
          <a:lstStyle/>
          <a:p>
            <a:fld id="{B7129108-AC8D-4212-9283-60D9E99BF07A}" type="datetime8">
              <a:rPr lang="en-US" smtClean="0"/>
              <a:pPr/>
              <a:t>5/31/2018 9:34 AM</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1AD93096-5B34-4342-9326-69289CEAE4C2}" type="slidenum">
              <a:rPr lang="en-US" smtClean="0"/>
              <a:pPr/>
              <a:t>‹#›</a:t>
            </a:fld>
            <a:endParaRPr lang="en-US" dirty="0">
              <a:solidFill>
                <a:srgbClr val="FFFFFF"/>
              </a:solidFill>
            </a:endParaRPr>
          </a:p>
        </p:txBody>
      </p:sp>
      <p:sp>
        <p:nvSpPr>
          <p:cNvPr id="8" name="Content Placeholder 7"/>
          <p:cNvSpPr>
            <a:spLocks noGrp="1"/>
          </p:cNvSpPr>
          <p:nvPr>
            <p:ph sz="quarter" idx="1"/>
          </p:nvPr>
        </p:nvSpPr>
        <p:spPr>
          <a:xfrm>
            <a:off x="612648" y="1600200"/>
            <a:ext cx="8153400"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smtClean="0"/>
              <a:t>Click to edit Master title style</a:t>
            </a:r>
            <a:endParaRPr lang="en-US" dirty="0"/>
          </a:p>
        </p:txBody>
      </p:sp>
      <p:sp>
        <p:nvSpPr>
          <p:cNvPr id="12" name="Date Placeholder 11"/>
          <p:cNvSpPr>
            <a:spLocks noGrp="1"/>
          </p:cNvSpPr>
          <p:nvPr>
            <p:ph type="dt" sz="half" idx="10"/>
          </p:nvPr>
        </p:nvSpPr>
        <p:spPr/>
        <p:txBody>
          <a:bodyPr/>
          <a:lstStyle/>
          <a:p>
            <a:fld id="{B6DED3D3-6235-4F4C-B439-DF277FB555A7}" type="datetime8">
              <a:rPr lang="en-US" smtClean="0"/>
              <a:pPr/>
              <a:t>5/31/2018 9:34 AM</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pPr algn="ctr"/>
            <a:fld id="{1AD93096-5B34-4342-9326-69289CEAE4C2}" type="slidenum">
              <a:rPr lang="en-US" smtClean="0"/>
              <a:pPr algn="ctr"/>
              <a:t>‹#›</a:t>
            </a:fld>
            <a:endParaRPr lang="en-US" sz="2400" dirty="0">
              <a:solidFill>
                <a:srgbClr val="FFFFFF"/>
              </a:solidFill>
            </a:endParaRPr>
          </a:p>
        </p:txBody>
      </p:sp>
      <p:sp>
        <p:nvSpPr>
          <p:cNvPr id="14" name="Footer Placeholder 13"/>
          <p:cNvSpPr>
            <a:spLocks noGrp="1"/>
          </p:cNvSpPr>
          <p:nvPr>
            <p:ph type="ftr" sz="quarter" idx="12"/>
          </p:nvPr>
        </p:nvSpPr>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
          </p:nvPr>
        </p:nvSpPr>
        <p:spPr>
          <a:xfrm>
            <a:off x="609600" y="1589567"/>
            <a:ext cx="38862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2"/>
          </p:nvPr>
        </p:nvSpPr>
        <p:spPr>
          <a:xfrm>
            <a:off x="4844901" y="1589567"/>
            <a:ext cx="38862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7"/>
          <p:cNvSpPr>
            <a:spLocks noGrp="1"/>
          </p:cNvSpPr>
          <p:nvPr>
            <p:ph type="dt" sz="half" idx="15"/>
          </p:nvPr>
        </p:nvSpPr>
        <p:spPr/>
        <p:txBody>
          <a:bodyPr rtlCol="0"/>
          <a:lstStyle/>
          <a:p>
            <a:fld id="{3B5F1E3E-4B2F-4895-B65E-28B2E64F39F6}" type="datetime8">
              <a:rPr lang="en-US" smtClean="0"/>
              <a:pPr/>
              <a:t>5/31/2018 9:34 AM</a:t>
            </a:fld>
            <a:endParaRPr lang="en-US"/>
          </a:p>
        </p:txBody>
      </p:sp>
      <p:sp>
        <p:nvSpPr>
          <p:cNvPr id="10" name="Slide Number Placeholder 9"/>
          <p:cNvSpPr>
            <a:spLocks noGrp="1"/>
          </p:cNvSpPr>
          <p:nvPr>
            <p:ph type="sldNum" sz="quarter" idx="16"/>
          </p:nvPr>
        </p:nvSpPr>
        <p:spPr/>
        <p:txBody>
          <a:bodyPr rtlCol="0"/>
          <a:lstStyle/>
          <a:p>
            <a:pPr algn="ctr"/>
            <a:fld id="{1AD93096-5B34-4342-9326-69289CEAE4C2}" type="slidenum">
              <a:rPr lang="en-US" smtClean="0"/>
              <a:pPr algn="ct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lang="en-US" smtClean="0"/>
              <a:t>Click to edit Master title style</a:t>
            </a:r>
            <a:endParaRPr lang="en-US" dirty="0"/>
          </a:p>
        </p:txBody>
      </p:sp>
      <p:sp>
        <p:nvSpPr>
          <p:cNvPr id="11" name="Content Placeholder 10"/>
          <p:cNvSpPr>
            <a:spLocks noGrp="1"/>
          </p:cNvSpPr>
          <p:nvPr>
            <p:ph sz="quarter" idx="2"/>
          </p:nvPr>
        </p:nvSpPr>
        <p:spPr>
          <a:xfrm>
            <a:off x="609600" y="2438400"/>
            <a:ext cx="3886200" cy="3581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4"/>
          </p:nvPr>
        </p:nvSpPr>
        <p:spPr>
          <a:xfrm>
            <a:off x="4800600" y="2438400"/>
            <a:ext cx="3886200" cy="3581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Date Placeholder 9"/>
          <p:cNvSpPr>
            <a:spLocks noGrp="1"/>
          </p:cNvSpPr>
          <p:nvPr>
            <p:ph type="dt" sz="half" idx="15"/>
          </p:nvPr>
        </p:nvSpPr>
        <p:spPr/>
        <p:txBody>
          <a:bodyPr rtlCol="0"/>
          <a:lstStyle/>
          <a:p>
            <a:fld id="{63085435-8225-4333-BFFA-0096413F0D76}" type="datetime8">
              <a:rPr lang="en-US" smtClean="0"/>
              <a:pPr/>
              <a:t>5/31/2018 9:34 AM</a:t>
            </a:fld>
            <a:endParaRPr lang="en-US"/>
          </a:p>
        </p:txBody>
      </p:sp>
      <p:sp>
        <p:nvSpPr>
          <p:cNvPr id="12" name="Slide Number Placeholder 11"/>
          <p:cNvSpPr>
            <a:spLocks noGrp="1"/>
          </p:cNvSpPr>
          <p:nvPr>
            <p:ph type="sldNum" sz="quarter" idx="16"/>
          </p:nvPr>
        </p:nvSpPr>
        <p:spPr/>
        <p:txBody>
          <a:bodyPr rtlCol="0"/>
          <a:lstStyle/>
          <a:p>
            <a:pPr algn="ctr"/>
            <a:fld id="{1AD93096-5B34-4342-9326-69289CEAE4C2}" type="slidenum">
              <a:rPr lang="en-US" smtClean="0"/>
              <a:pPr algn="ct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783C494-2A87-468C-A21B-CB14FB9ABB00}" type="datetime8">
              <a:rPr lang="en-US" smtClean="0"/>
              <a:pPr/>
              <a:t>5/31/2018 9:34 AM</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1AD93096-5B34-4342-9326-69289CEAE4C2}" type="slidenum">
              <a:rPr lang="en-US" smtClean="0"/>
              <a:pPr/>
              <a:t>‹#›</a:t>
            </a:fld>
            <a:endParaRPr lang="en-US" dirty="0">
              <a:solidFill>
                <a:srgbClr val="FFFFFF"/>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180FA0-5B31-4864-A2BB-719EA5A679C6}" type="datetime8">
              <a:rPr lang="en-US" smtClean="0"/>
              <a:pPr/>
              <a:t>5/31/2018 9:34 AM</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1AD93096-5B34-4342-9326-69289CEAE4C2}" type="slidenum">
              <a:rPr lang="en-US" smtClean="0"/>
              <a:pPr/>
              <a:t>‹#›</a:t>
            </a:fld>
            <a:endParaRPr lang="en-US" dirty="0">
              <a:solidFill>
                <a:schemeClr val="tx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lang="en-US" smtClean="0"/>
              <a:t>Click to edit Master title style</a:t>
            </a:r>
            <a:endParaRPr lang="en-US" dirty="0"/>
          </a:p>
        </p:txBody>
      </p:sp>
      <p:sp>
        <p:nvSpPr>
          <p:cNvPr id="5" name="Date Placeholder 4"/>
          <p:cNvSpPr>
            <a:spLocks noGrp="1"/>
          </p:cNvSpPr>
          <p:nvPr>
            <p:ph type="dt" sz="half" idx="10"/>
          </p:nvPr>
        </p:nvSpPr>
        <p:spPr/>
        <p:txBody>
          <a:bodyPr/>
          <a:lstStyle/>
          <a:p>
            <a:fld id="{4BECC0C8-36B8-442A-833D-B6AACE86BB77}" type="datetime8">
              <a:rPr lang="en-US" smtClean="0"/>
              <a:pPr/>
              <a:t>5/31/2018 9:34 AM</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1AD93096-5B34-4342-9326-69289CEAE4C2}" type="slidenum">
              <a:rPr lang="en-US" smtClean="0"/>
              <a:pPr/>
              <a:t>‹#›</a:t>
            </a:fld>
            <a:endParaRPr lang="en-US" dirty="0">
              <a:solidFill>
                <a:srgbClr val="FFFFFF"/>
              </a:solidFill>
            </a:endParaRPr>
          </a:p>
        </p:txBody>
      </p:sp>
      <p:sp>
        <p:nvSpPr>
          <p:cNvPr id="9" name="Content Placeholder 8"/>
          <p:cNvSpPr>
            <a:spLocks noGrp="1"/>
          </p:cNvSpPr>
          <p:nvPr>
            <p:ph sz="quarter" idx="1"/>
          </p:nvPr>
        </p:nvSpPr>
        <p:spPr>
          <a:xfrm>
            <a:off x="2362200" y="1752600"/>
            <a:ext cx="6400800"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8" name="Picture 7" descr="sm_pencil.png"/>
          <p:cNvPicPr>
            <a:picLocks noChangeAspect="1"/>
          </p:cNvPicPr>
          <p:nvPr userDrawn="1"/>
        </p:nvPicPr>
        <p:blipFill>
          <a:blip r:embed="rId2"/>
          <a:stretch>
            <a:fillRect/>
          </a:stretch>
        </p:blipFill>
        <p:spPr>
          <a:xfrm>
            <a:off x="612648" y="1755648"/>
            <a:ext cx="1615307" cy="2145615"/>
          </a:xfrm>
          <a:prstGeom prst="rect">
            <a:avLst/>
          </a:prstGeom>
          <a:ln w="50800" cap="sq" cmpd="dbl">
            <a:solidFill>
              <a:schemeClr val="accent2"/>
            </a:solidFill>
            <a:miter lim="800000"/>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lang="en-US" smtClean="0"/>
              <a:t>Click to edit Master title style</a:t>
            </a:r>
            <a:endParaRPr lang="en-US" dirty="0"/>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2" name="Date Placeholder 11"/>
          <p:cNvSpPr>
            <a:spLocks noGrp="1"/>
          </p:cNvSpPr>
          <p:nvPr>
            <p:ph type="dt" sz="half" idx="10"/>
          </p:nvPr>
        </p:nvSpPr>
        <p:spPr>
          <a:xfrm>
            <a:off x="6248400" y="6248400"/>
            <a:ext cx="2667000" cy="365125"/>
          </a:xfrm>
        </p:spPr>
        <p:txBody>
          <a:bodyPr rtlCol="0"/>
          <a:lstStyle/>
          <a:p>
            <a:fld id="{51E20EC5-AC53-4169-941E-EDF10CD23748}" type="datetime8">
              <a:rPr lang="en-US" smtClean="0"/>
              <a:pPr/>
              <a:t>5/31/2018 9:34 AM</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pPr algn="ctr"/>
            <a:fld id="{1AD93096-5B34-4342-9326-69289CEAE4C2}" type="slidenum">
              <a:rPr lang="en-US" smtClean="0"/>
              <a:pPr algn="ctr"/>
              <a:t>‹#›</a:t>
            </a:fld>
            <a:endParaRPr lang="en-US" sz="2800" dirty="0"/>
          </a:p>
        </p:txBody>
      </p:sp>
      <p:sp>
        <p:nvSpPr>
          <p:cNvPr id="14" name="Footer Placeholder 13"/>
          <p:cNvSpPr>
            <a:spLocks noGrp="1"/>
          </p:cNvSpPr>
          <p:nvPr>
            <p:ph type="ftr" sz="quarter" idx="12"/>
          </p:nvPr>
        </p:nvSpPr>
        <p:spPr>
          <a:xfrm>
            <a:off x="1600200" y="6248206"/>
            <a:ext cx="4572000" cy="365125"/>
          </a:xfrm>
        </p:spPr>
        <p:txBody>
          <a:bodyPr rtlCol="0"/>
          <a:lstStyle/>
          <a:p>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lang="en-US" smtClean="0"/>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D3816DF-213E-421B-92D3-C068DBB023D6}" type="datetime8">
              <a:rPr lang="en-US" smtClean="0">
                <a:solidFill>
                  <a:schemeClr val="tx2"/>
                </a:solidFill>
              </a:rPr>
              <a:pPr/>
              <a:t>5/31/2018 9:34 AM</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AC53DF-4216-466D-99A7-94400E6C2A25}" type="slidenum">
              <a:rPr lang="en-US" sz="1200" smtClean="0">
                <a:solidFill>
                  <a:schemeClr val="tx2"/>
                </a:solidFill>
              </a: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553200" y="6248402"/>
            <a:ext cx="2209800" cy="365125"/>
          </a:xfrm>
        </p:spPr>
        <p:txBody>
          <a:bodyPr/>
          <a:lstStyle/>
          <a:p>
            <a:fld id="{8D3816DF-213E-421B-92D3-C068DBB023D6}" type="datetime8">
              <a:rPr lang="en-US" smtClean="0">
                <a:solidFill>
                  <a:schemeClr val="tx2"/>
                </a:solidFill>
              </a:rPr>
              <a:pPr/>
              <a:t>5/31/2018 9:34 AM</a:t>
            </a:fld>
            <a:endParaRPr lang="en-US" dirty="0"/>
          </a:p>
        </p:txBody>
      </p:sp>
      <p:sp>
        <p:nvSpPr>
          <p:cNvPr id="5" name="Footer Placeholder 4"/>
          <p:cNvSpPr>
            <a:spLocks noGrp="1"/>
          </p:cNvSpPr>
          <p:nvPr>
            <p:ph type="ftr" sz="quarter" idx="11"/>
          </p:nvPr>
        </p:nvSpPr>
        <p:spPr>
          <a:xfrm>
            <a:off x="457201" y="6248207"/>
            <a:ext cx="5573483" cy="365125"/>
          </a:xfrm>
        </p:spPr>
        <p:txBody>
          <a:bodyPr/>
          <a:lstStyle/>
          <a:p>
            <a:endParaRPr 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72AC53DF-4216-466D-99A7-94400E6C2A25}" type="slidenum">
              <a:rPr lang="en-US" sz="1200" smtClean="0">
                <a:solidFill>
                  <a:schemeClr val="tx2"/>
                </a:solidFill>
              </a: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lang="en-US" smtClean="0"/>
              <a:t>Click to edit Master title style</a:t>
            </a:r>
            <a:endParaRPr lang="en-US" dirty="0"/>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a:defRPr sz="1400">
                <a:solidFill>
                  <a:schemeClr val="tx2"/>
                </a:solidFill>
              </a:defRPr>
            </a:lvl1pPr>
          </a:lstStyle>
          <a:p>
            <a:fld id="{8D3816DF-213E-421B-92D3-C068DBB023D6}" type="datetime8">
              <a:rPr lang="en-US" smtClean="0">
                <a:solidFill>
                  <a:schemeClr val="tx2"/>
                </a:solidFill>
              </a:rPr>
              <a:pPr/>
              <a:t>5/31/2018 9:34 AM</a:t>
            </a:fld>
            <a:endParaRPr lang="en-US" sz="1400" dirty="0">
              <a:solidFill>
                <a:schemeClr val="tx2"/>
              </a:solidFill>
            </a:endParaRP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a:defRPr sz="1400">
                <a:solidFill>
                  <a:schemeClr val="tx2"/>
                </a:solidFill>
              </a:defRPr>
            </a:lvl1pPr>
          </a:lstStyle>
          <a:p>
            <a:pPr algn="r"/>
            <a:endParaRPr lang="en-US" sz="1400" dirty="0">
              <a:solidFill>
                <a:schemeClr val="tx2"/>
              </a:solidFill>
            </a:endParaRP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a:defRPr sz="1400" b="1">
                <a:solidFill>
                  <a:srgbClr val="FFFFFF"/>
                </a:solidFill>
              </a:defRPr>
            </a:lvl1pPr>
          </a:lstStyle>
          <a:p>
            <a:pPr algn="ctr"/>
            <a:fld id="{72AC53DF-4216-466D-99A7-94400E6C2A25}" type="slidenum">
              <a:rPr lang="en-US" sz="1200" smtClean="0">
                <a:solidFill>
                  <a:schemeClr val="tx2"/>
                </a:solidFill>
              </a:rPr>
              <a:pPr algn="ctr"/>
              <a:t>‹#›</a:t>
            </a:fld>
            <a:endParaRPr lang="en-US" sz="1400" b="1" dirty="0">
              <a:solidFill>
                <a:srgbClr val="FFFFFF"/>
              </a:solidFill>
            </a:endParaRPr>
          </a:p>
        </p:txBody>
      </p:sp>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l" rtl="0" eaLnBrk="1" latinLnBrk="0" hangingPunct="1">
        <a:spcBef>
          <a:spcPct val="0"/>
        </a:spcBef>
        <a:buNone/>
        <a:defRPr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hyperlink" Target="https://youtu.be/Mzl4Wud_Bp0" TargetMode="Externa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hyperlink" Target="https://youtu.be/DGDtujmOBKc" TargetMode="Externa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hyperlink" Target="http://www.redmonk.com/jgovernor/2008/03/13/15-ways-to-tell-its-not-cloud-computing/" TargetMode="Externa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hyperlink" Target="https://youtu.be/whkyRvugqlM" TargetMode="Externa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hyperlink" Target="https://youtu.be/SgujaIzkwrE" TargetMode="Externa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ITP171 IT FUNDAMENTALS and PROJECT</a:t>
            </a:r>
            <a:endParaRPr lang="en-SG" dirty="0"/>
          </a:p>
        </p:txBody>
      </p:sp>
      <p:sp>
        <p:nvSpPr>
          <p:cNvPr id="4" name="Subtitle 3"/>
          <p:cNvSpPr>
            <a:spLocks noGrp="1"/>
          </p:cNvSpPr>
          <p:nvPr>
            <p:ph type="subTitle" idx="1"/>
          </p:nvPr>
        </p:nvSpPr>
        <p:spPr/>
        <p:txBody>
          <a:bodyPr/>
          <a:lstStyle/>
          <a:p>
            <a:r>
              <a:rPr lang="en-GB" dirty="0" smtClean="0"/>
              <a:t>Cloud Computing</a:t>
            </a:r>
            <a:endParaRPr lang="en-US" dirty="0"/>
          </a:p>
        </p:txBody>
      </p:sp>
    </p:spTree>
    <p:custDataLst>
      <p:tags r:id="rId1"/>
    </p:custDataLst>
    <p:extLst>
      <p:ext uri="{BB962C8B-B14F-4D97-AF65-F5344CB8AC3E}">
        <p14:creationId xmlns:p14="http://schemas.microsoft.com/office/powerpoint/2010/main" val="14003751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SG" dirty="0" smtClean="0"/>
              <a:t>How Cloud Computing works?</a:t>
            </a:r>
            <a:br>
              <a:rPr lang="en-SG" dirty="0" smtClean="0"/>
            </a:br>
            <a:r>
              <a:rPr lang="en-SG" dirty="0" smtClean="0"/>
              <a:t>MUST WATCH this!!</a:t>
            </a:r>
            <a:endParaRPr lang="en-SG" dirty="0"/>
          </a:p>
        </p:txBody>
      </p:sp>
      <p:sp>
        <p:nvSpPr>
          <p:cNvPr id="3" name="Content Placeholder 2"/>
          <p:cNvSpPr>
            <a:spLocks noGrp="1"/>
          </p:cNvSpPr>
          <p:nvPr>
            <p:ph sz="quarter" idx="1"/>
          </p:nvPr>
        </p:nvSpPr>
        <p:spPr/>
        <p:txBody>
          <a:bodyPr/>
          <a:lstStyle/>
          <a:p>
            <a:r>
              <a:rPr lang="en-SG" dirty="0" smtClean="0"/>
              <a:t>What is Cloud Computing?</a:t>
            </a:r>
          </a:p>
          <a:p>
            <a:r>
              <a:rPr lang="en-SG" dirty="0">
                <a:hlinkClick r:id="rId3"/>
              </a:rPr>
              <a:t>https://</a:t>
            </a:r>
            <a:r>
              <a:rPr lang="en-SG" dirty="0" smtClean="0">
                <a:hlinkClick r:id="rId3"/>
              </a:rPr>
              <a:t>youtu.be/Mzl4Wud_Bp0</a:t>
            </a:r>
            <a:endParaRPr lang="en-SG" dirty="0" smtClean="0"/>
          </a:p>
          <a:p>
            <a:pPr marL="0" indent="0">
              <a:buNone/>
            </a:pPr>
            <a:endParaRPr lang="en-SG" dirty="0" smtClean="0"/>
          </a:p>
          <a:p>
            <a:r>
              <a:rPr lang="en-SG" dirty="0" smtClean="0"/>
              <a:t>What is the Pros and Cons?</a:t>
            </a:r>
          </a:p>
          <a:p>
            <a:r>
              <a:rPr lang="en-SG" dirty="0" smtClean="0"/>
              <a:t>What is the considerations?</a:t>
            </a:r>
            <a:endParaRPr lang="en-SG" dirty="0"/>
          </a:p>
          <a:p>
            <a:r>
              <a:rPr lang="en-SG" dirty="0" smtClean="0"/>
              <a:t>Examples of Cloud Computing applications.</a:t>
            </a:r>
          </a:p>
          <a:p>
            <a:r>
              <a:rPr lang="en-SG" dirty="0">
                <a:hlinkClick r:id="rId4"/>
              </a:rPr>
              <a:t>https://</a:t>
            </a:r>
            <a:r>
              <a:rPr lang="en-SG" dirty="0" smtClean="0">
                <a:hlinkClick r:id="rId4"/>
              </a:rPr>
              <a:t>youtu.be/DGDtujmOBKc</a:t>
            </a:r>
            <a:endParaRPr lang="en-SG" dirty="0" smtClean="0"/>
          </a:p>
          <a:p>
            <a:endParaRPr lang="en-SG" dirty="0"/>
          </a:p>
        </p:txBody>
      </p:sp>
      <p:sp>
        <p:nvSpPr>
          <p:cNvPr id="4" name="5-Point Star 3"/>
          <p:cNvSpPr/>
          <p:nvPr/>
        </p:nvSpPr>
        <p:spPr>
          <a:xfrm>
            <a:off x="7164636" y="306714"/>
            <a:ext cx="1601412" cy="1824971"/>
          </a:xfrm>
          <a:prstGeom prst="star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41253493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Evolution of Cloud Computing</a:t>
            </a:r>
            <a:endParaRPr lang="en-SG" dirty="0"/>
          </a:p>
        </p:txBody>
      </p:sp>
      <p:sp>
        <p:nvSpPr>
          <p:cNvPr id="3" name="Content Placeholder 2"/>
          <p:cNvSpPr>
            <a:spLocks noGrp="1"/>
          </p:cNvSpPr>
          <p:nvPr>
            <p:ph idx="1"/>
          </p:nvPr>
        </p:nvSpPr>
        <p:spPr/>
        <p:txBody>
          <a:bodyPr/>
          <a:lstStyle/>
          <a:p>
            <a:r>
              <a:rPr lang="en-SG" dirty="0" smtClean="0"/>
              <a:t>To understand what cloud computing is and is not, it is important to understand how this model of computing has evolved</a:t>
            </a:r>
          </a:p>
          <a:p>
            <a:r>
              <a:rPr lang="en-SG" dirty="0" smtClean="0"/>
              <a:t>Cloud computing is not something revolutionary, but an evolution </a:t>
            </a:r>
          </a:p>
          <a:p>
            <a:r>
              <a:rPr lang="en-SG" dirty="0" smtClean="0"/>
              <a:t>As a service delivery model using Internet, we can see how it has evolved from earlier basic Internet Service Provider model</a:t>
            </a:r>
          </a:p>
        </p:txBody>
      </p:sp>
    </p:spTree>
    <p:custDataLst>
      <p:tags r:id="rId1"/>
    </p:custDataLst>
    <p:extLst>
      <p:ext uri="{BB962C8B-B14F-4D97-AF65-F5344CB8AC3E}">
        <p14:creationId xmlns:p14="http://schemas.microsoft.com/office/powerpoint/2010/main" val="6240101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ISP Models Evolution</a:t>
            </a:r>
            <a:endParaRPr lang="en-US" dirty="0"/>
          </a:p>
        </p:txBody>
      </p:sp>
      <p:pic>
        <p:nvPicPr>
          <p:cNvPr id="24578" name="Picture 2"/>
          <p:cNvPicPr>
            <a:picLocks noChangeAspect="1" noChangeArrowheads="1"/>
          </p:cNvPicPr>
          <p:nvPr/>
        </p:nvPicPr>
        <p:blipFill>
          <a:blip r:embed="rId3" cstate="print"/>
          <a:srcRect/>
          <a:stretch>
            <a:fillRect/>
          </a:stretch>
        </p:blipFill>
        <p:spPr bwMode="auto">
          <a:xfrm>
            <a:off x="428596" y="1428736"/>
            <a:ext cx="8215370" cy="5234009"/>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9412992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Cloud Computing?</a:t>
            </a:r>
            <a:endParaRPr lang="en-SG" dirty="0"/>
          </a:p>
        </p:txBody>
      </p:sp>
      <p:sp>
        <p:nvSpPr>
          <p:cNvPr id="3" name="Content Placeholder 2"/>
          <p:cNvSpPr>
            <a:spLocks noGrp="1"/>
          </p:cNvSpPr>
          <p:nvPr>
            <p:ph idx="1"/>
          </p:nvPr>
        </p:nvSpPr>
        <p:spPr/>
        <p:txBody>
          <a:bodyPr/>
          <a:lstStyle/>
          <a:p>
            <a:r>
              <a:rPr lang="en-US" dirty="0" smtClean="0"/>
              <a:t>Buzzword? Hype? </a:t>
            </a:r>
          </a:p>
          <a:p>
            <a:r>
              <a:rPr lang="en-US" dirty="0" smtClean="0"/>
              <a:t>The term “Cloud computing” is often used in discordant context, referring to very different and distinct things</a:t>
            </a:r>
          </a:p>
          <a:p>
            <a:r>
              <a:rPr lang="en-US" dirty="0" smtClean="0"/>
              <a:t>Gmail?  Amazon EC3? </a:t>
            </a:r>
          </a:p>
          <a:p>
            <a:r>
              <a:rPr lang="en-US" dirty="0" smtClean="0"/>
              <a:t>Cloud computing is the evolution of a variety of technologies that have come together to alter an organization’s approach to build IT infrastructure</a:t>
            </a:r>
            <a:endParaRPr lang="en-SG" dirty="0"/>
          </a:p>
        </p:txBody>
      </p:sp>
    </p:spTree>
    <p:custDataLst>
      <p:tags r:id="rId1"/>
    </p:custDataLst>
    <p:extLst>
      <p:ext uri="{BB962C8B-B14F-4D97-AF65-F5344CB8AC3E}">
        <p14:creationId xmlns:p14="http://schemas.microsoft.com/office/powerpoint/2010/main" val="37123018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Cloud Computing?</a:t>
            </a:r>
            <a:endParaRPr lang="en-SG" dirty="0"/>
          </a:p>
        </p:txBody>
      </p:sp>
      <p:sp>
        <p:nvSpPr>
          <p:cNvPr id="3" name="Content Placeholder 2"/>
          <p:cNvSpPr>
            <a:spLocks noGrp="1"/>
          </p:cNvSpPr>
          <p:nvPr>
            <p:ph idx="1"/>
          </p:nvPr>
        </p:nvSpPr>
        <p:spPr/>
        <p:txBody>
          <a:bodyPr>
            <a:normAutofit fontScale="92500" lnSpcReduction="10000"/>
          </a:bodyPr>
          <a:lstStyle/>
          <a:p>
            <a:r>
              <a:rPr lang="en-US" dirty="0" smtClean="0"/>
              <a:t>Like Web decade ago, there is nothing fundamentally new in any of the technologies that make up cloud computing</a:t>
            </a:r>
          </a:p>
          <a:p>
            <a:r>
              <a:rPr lang="en-US" dirty="0" smtClean="0"/>
              <a:t>It is how these things are put together and make them accessible to the masses</a:t>
            </a:r>
          </a:p>
          <a:p>
            <a:r>
              <a:rPr lang="en-US" dirty="0" smtClean="0"/>
              <a:t>Cloud can be both hardware and software</a:t>
            </a:r>
          </a:p>
          <a:p>
            <a:r>
              <a:rPr lang="en-US" dirty="0" smtClean="0"/>
              <a:t>Why we call it “cloud”?</a:t>
            </a:r>
          </a:p>
          <a:p>
            <a:pPr lvl="1"/>
            <a:r>
              <a:rPr lang="en-US" dirty="0" smtClean="0"/>
              <a:t>Internet is usually represented by a cloud symbol</a:t>
            </a:r>
          </a:p>
          <a:p>
            <a:pPr lvl="1"/>
            <a:r>
              <a:rPr lang="en-US" dirty="0" smtClean="0"/>
              <a:t>We don’t really care where the particular server is or where out software is running. It is somewhere out there in the “cloud”</a:t>
            </a:r>
          </a:p>
          <a:p>
            <a:endParaRPr lang="en-SG" dirty="0"/>
          </a:p>
        </p:txBody>
      </p:sp>
    </p:spTree>
    <p:custDataLst>
      <p:tags r:id="rId1"/>
    </p:custDataLst>
    <p:extLst>
      <p:ext uri="{BB962C8B-B14F-4D97-AF65-F5344CB8AC3E}">
        <p14:creationId xmlns:p14="http://schemas.microsoft.com/office/powerpoint/2010/main" val="38849555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Definition </a:t>
            </a:r>
            <a:endParaRPr lang="en-SG" dirty="0"/>
          </a:p>
        </p:txBody>
      </p:sp>
      <p:sp>
        <p:nvSpPr>
          <p:cNvPr id="3" name="Content Placeholder 2"/>
          <p:cNvSpPr>
            <a:spLocks noGrp="1"/>
          </p:cNvSpPr>
          <p:nvPr>
            <p:ph idx="1"/>
          </p:nvPr>
        </p:nvSpPr>
        <p:spPr>
          <a:xfrm>
            <a:off x="457200" y="1775191"/>
            <a:ext cx="8229600" cy="1077745"/>
          </a:xfrm>
        </p:spPr>
        <p:txBody>
          <a:bodyPr>
            <a:normAutofit/>
          </a:bodyPr>
          <a:lstStyle/>
          <a:p>
            <a:r>
              <a:rPr lang="en-US" dirty="0" smtClean="0"/>
              <a:t>National Institute of Standards and Technology (NIST)</a:t>
            </a:r>
          </a:p>
          <a:p>
            <a:endParaRPr lang="en-SG" dirty="0"/>
          </a:p>
        </p:txBody>
      </p:sp>
      <p:sp>
        <p:nvSpPr>
          <p:cNvPr id="4" name="TextBox 3"/>
          <p:cNvSpPr txBox="1"/>
          <p:nvPr/>
        </p:nvSpPr>
        <p:spPr>
          <a:xfrm>
            <a:off x="457200" y="2852936"/>
            <a:ext cx="7787208" cy="3785652"/>
          </a:xfrm>
          <a:prstGeom prst="rect">
            <a:avLst/>
          </a:prstGeom>
          <a:solidFill>
            <a:srgbClr val="FFC000"/>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marL="0" lvl="1"/>
            <a:r>
              <a:rPr lang="en-US" sz="2400" b="1" dirty="0"/>
              <a:t>Cloud computing </a:t>
            </a:r>
            <a:r>
              <a:rPr lang="en-US" sz="2400" dirty="0"/>
              <a:t>is a model for </a:t>
            </a:r>
            <a:r>
              <a:rPr lang="en-US" sz="2400" b="1" dirty="0"/>
              <a:t>enabling convenient</a:t>
            </a:r>
            <a:r>
              <a:rPr lang="en-US" sz="2400" dirty="0"/>
              <a:t>, </a:t>
            </a:r>
            <a:r>
              <a:rPr lang="en-US" sz="2400" b="1" dirty="0"/>
              <a:t>on-demand network access </a:t>
            </a:r>
            <a:r>
              <a:rPr lang="en-US" sz="2400" dirty="0"/>
              <a:t>to a </a:t>
            </a:r>
            <a:r>
              <a:rPr lang="en-US" sz="2400" b="1" dirty="0"/>
              <a:t>shared pool </a:t>
            </a:r>
            <a:r>
              <a:rPr lang="en-US" sz="2400" dirty="0"/>
              <a:t>of configurable computing resources (e.g., networks, servers, storage, applications, and services) that can be rapidly provisioned and released with minimal management effort or service provider interaction. This cloud model promotes availability and is composed of five essential </a:t>
            </a:r>
            <a:r>
              <a:rPr lang="en-US" sz="2400" b="1" dirty="0"/>
              <a:t>characteristics,</a:t>
            </a:r>
            <a:r>
              <a:rPr lang="en-US" sz="2400" dirty="0"/>
              <a:t> three </a:t>
            </a:r>
            <a:r>
              <a:rPr lang="en-US" sz="2400" b="1" dirty="0"/>
              <a:t>service models</a:t>
            </a:r>
            <a:r>
              <a:rPr lang="en-US" sz="2400" dirty="0"/>
              <a:t>, and four </a:t>
            </a:r>
            <a:r>
              <a:rPr lang="en-US" sz="2400" b="1" dirty="0"/>
              <a:t>deployment models</a:t>
            </a:r>
            <a:r>
              <a:rPr lang="en-US" sz="2400" dirty="0"/>
              <a:t>.</a:t>
            </a:r>
            <a:endParaRPr lang="en-SG" sz="2400" dirty="0"/>
          </a:p>
          <a:p>
            <a:endParaRPr lang="en-SG" sz="2400" dirty="0"/>
          </a:p>
        </p:txBody>
      </p:sp>
      <p:sp>
        <p:nvSpPr>
          <p:cNvPr id="5" name="5-Point Star 4"/>
          <p:cNvSpPr/>
          <p:nvPr/>
        </p:nvSpPr>
        <p:spPr>
          <a:xfrm>
            <a:off x="7467600" y="58398"/>
            <a:ext cx="1219200" cy="1389402"/>
          </a:xfrm>
          <a:prstGeom prst="star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29422212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Defining Characteristics</a:t>
            </a:r>
            <a:endParaRPr lang="en-SG" dirty="0"/>
          </a:p>
        </p:txBody>
      </p:sp>
      <p:sp>
        <p:nvSpPr>
          <p:cNvPr id="3" name="Content Placeholder 2"/>
          <p:cNvSpPr>
            <a:spLocks noGrp="1"/>
          </p:cNvSpPr>
          <p:nvPr>
            <p:ph idx="1"/>
          </p:nvPr>
        </p:nvSpPr>
        <p:spPr/>
        <p:txBody>
          <a:bodyPr>
            <a:normAutofit fontScale="92500" lnSpcReduction="20000"/>
          </a:bodyPr>
          <a:lstStyle/>
          <a:p>
            <a:r>
              <a:rPr lang="en-US" i="1" dirty="0"/>
              <a:t>Broad network </a:t>
            </a:r>
            <a:r>
              <a:rPr lang="en-US" i="1" dirty="0" smtClean="0"/>
              <a:t>access</a:t>
            </a:r>
          </a:p>
          <a:p>
            <a:pPr lvl="1"/>
            <a:r>
              <a:rPr lang="en-US" dirty="0" smtClean="0"/>
              <a:t>Capabilities </a:t>
            </a:r>
            <a:r>
              <a:rPr lang="en-US" dirty="0"/>
              <a:t>are available over the network and accessed through standard mechanisms that promote use by heterogeneous thin or thick client platforms (e.g., mobile phones, laptops, and PDAs).</a:t>
            </a:r>
            <a:endParaRPr lang="en-SG" dirty="0"/>
          </a:p>
          <a:p>
            <a:r>
              <a:rPr lang="en-US" i="1" dirty="0" smtClean="0"/>
              <a:t>Resource Pooling</a:t>
            </a:r>
          </a:p>
          <a:p>
            <a:pPr lvl="1"/>
            <a:r>
              <a:rPr lang="en-US" dirty="0" smtClean="0"/>
              <a:t>resources are shared (i.e., multiple users use the same resource) at the network level, host level, and application level.</a:t>
            </a:r>
          </a:p>
          <a:p>
            <a:r>
              <a:rPr lang="en-US" i="1" dirty="0" smtClean="0"/>
              <a:t>Rapid Elasticity</a:t>
            </a:r>
          </a:p>
          <a:p>
            <a:pPr lvl="1"/>
            <a:r>
              <a:rPr lang="en-US" dirty="0" smtClean="0"/>
              <a:t>Rapidly increase and decrease their computing resources as needed, as well as release resources for other uses when they are no longer required.</a:t>
            </a:r>
          </a:p>
        </p:txBody>
      </p:sp>
      <p:sp>
        <p:nvSpPr>
          <p:cNvPr id="4" name="5-Point Star 3"/>
          <p:cNvSpPr/>
          <p:nvPr/>
        </p:nvSpPr>
        <p:spPr>
          <a:xfrm>
            <a:off x="7467600" y="58398"/>
            <a:ext cx="1219200" cy="1389402"/>
          </a:xfrm>
          <a:prstGeom prst="star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413858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Defining Characteristics</a:t>
            </a:r>
            <a:endParaRPr lang="en-US" dirty="0"/>
          </a:p>
        </p:txBody>
      </p:sp>
      <p:sp>
        <p:nvSpPr>
          <p:cNvPr id="3" name="Content Placeholder 2"/>
          <p:cNvSpPr>
            <a:spLocks noGrp="1"/>
          </p:cNvSpPr>
          <p:nvPr>
            <p:ph idx="1"/>
          </p:nvPr>
        </p:nvSpPr>
        <p:spPr/>
        <p:txBody>
          <a:bodyPr>
            <a:normAutofit fontScale="92500" lnSpcReduction="10000"/>
          </a:bodyPr>
          <a:lstStyle/>
          <a:p>
            <a:r>
              <a:rPr lang="en-US" i="1" dirty="0" smtClean="0"/>
              <a:t>Measured Service</a:t>
            </a:r>
          </a:p>
          <a:p>
            <a:pPr lvl="1"/>
            <a:r>
              <a:rPr lang="en-US" dirty="0" smtClean="0"/>
              <a:t>Resource </a:t>
            </a:r>
            <a:r>
              <a:rPr lang="en-US" dirty="0"/>
              <a:t>usage can be monitored, controlled, and reported providing transparency for both the provider and consumer of the utilized </a:t>
            </a:r>
            <a:r>
              <a:rPr lang="en-US" dirty="0" smtClean="0"/>
              <a:t>service. Service is metered and billed if needed.</a:t>
            </a:r>
            <a:endParaRPr lang="en-SG" dirty="0"/>
          </a:p>
          <a:p>
            <a:r>
              <a:rPr lang="en-US" i="1" dirty="0" smtClean="0"/>
              <a:t>On-demand self-service</a:t>
            </a:r>
          </a:p>
          <a:p>
            <a:pPr lvl="1"/>
            <a:r>
              <a:rPr lang="en-US" dirty="0"/>
              <a:t>A consumer can unilaterally provision computing </a:t>
            </a:r>
            <a:r>
              <a:rPr lang="en-US" dirty="0" smtClean="0"/>
              <a:t>capabilities</a:t>
            </a:r>
            <a:r>
              <a:rPr lang="en-US" dirty="0"/>
              <a:t> </a:t>
            </a:r>
            <a:r>
              <a:rPr lang="en-US" dirty="0" smtClean="0"/>
              <a:t>(e.g server time, network storage) </a:t>
            </a:r>
            <a:r>
              <a:rPr lang="en-US" dirty="0"/>
              <a:t>as needed automatically without requiring human interaction with each service’s </a:t>
            </a:r>
            <a:r>
              <a:rPr lang="en-US" dirty="0" smtClean="0"/>
              <a:t>provider</a:t>
            </a:r>
            <a:endParaRPr lang="en-SG" dirty="0"/>
          </a:p>
          <a:p>
            <a:pPr>
              <a:buNone/>
            </a:pPr>
            <a:r>
              <a:rPr lang="en-US" dirty="0" smtClean="0"/>
              <a:t>(</a:t>
            </a:r>
            <a:r>
              <a:rPr lang="en-US" dirty="0" smtClean="0">
                <a:hlinkClick r:id="rId3"/>
              </a:rPr>
              <a:t>James Governer 15-ways-to-tell-its-not-cloud-computing</a:t>
            </a:r>
            <a:endParaRPr lang="en-SG" dirty="0" smtClean="0"/>
          </a:p>
          <a:p>
            <a:endParaRPr lang="en-US" dirty="0"/>
          </a:p>
        </p:txBody>
      </p:sp>
      <p:sp>
        <p:nvSpPr>
          <p:cNvPr id="4" name="5-Point Star 3"/>
          <p:cNvSpPr/>
          <p:nvPr/>
        </p:nvSpPr>
        <p:spPr>
          <a:xfrm>
            <a:off x="7467600" y="58398"/>
            <a:ext cx="1219200" cy="1389402"/>
          </a:xfrm>
          <a:prstGeom prst="star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23742631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Elasticity</a:t>
            </a:r>
            <a:endParaRPr lang="en-US" dirty="0"/>
          </a:p>
        </p:txBody>
      </p:sp>
      <p:pic>
        <p:nvPicPr>
          <p:cNvPr id="1026" name="Picture 2"/>
          <p:cNvPicPr>
            <a:picLocks noChangeAspect="1" noChangeArrowheads="1"/>
          </p:cNvPicPr>
          <p:nvPr/>
        </p:nvPicPr>
        <p:blipFill>
          <a:blip r:embed="rId3" cstate="print"/>
          <a:srcRect/>
          <a:stretch>
            <a:fillRect/>
          </a:stretch>
        </p:blipFill>
        <p:spPr bwMode="auto">
          <a:xfrm>
            <a:off x="2928926" y="1428736"/>
            <a:ext cx="3571900" cy="5246229"/>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8765879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Cloud Computing Service Models</a:t>
            </a:r>
            <a:endParaRPr lang="en-SG" dirty="0"/>
          </a:p>
        </p:txBody>
      </p:sp>
      <p:sp>
        <p:nvSpPr>
          <p:cNvPr id="3" name="Content Placeholder 2"/>
          <p:cNvSpPr>
            <a:spLocks noGrp="1"/>
          </p:cNvSpPr>
          <p:nvPr>
            <p:ph idx="1"/>
          </p:nvPr>
        </p:nvSpPr>
        <p:spPr/>
        <p:txBody>
          <a:bodyPr>
            <a:normAutofit fontScale="92500" lnSpcReduction="20000"/>
          </a:bodyPr>
          <a:lstStyle/>
          <a:p>
            <a:r>
              <a:rPr lang="en-US" dirty="0" smtClean="0"/>
              <a:t>Concept of services</a:t>
            </a:r>
          </a:p>
          <a:p>
            <a:pPr lvl="1"/>
            <a:r>
              <a:rPr lang="en-US" dirty="0" smtClean="0"/>
              <a:t>Reusable , fine-grained components offered</a:t>
            </a:r>
          </a:p>
          <a:p>
            <a:r>
              <a:rPr lang="en-US" dirty="0" smtClean="0"/>
              <a:t>Different services delivered from the cloud </a:t>
            </a:r>
          </a:p>
          <a:p>
            <a:pPr lvl="1"/>
            <a:r>
              <a:rPr lang="en-US" dirty="0" smtClean="0"/>
              <a:t>Software as a service (SaaS)</a:t>
            </a:r>
          </a:p>
          <a:p>
            <a:pPr lvl="1"/>
            <a:r>
              <a:rPr lang="en-US" dirty="0" smtClean="0"/>
              <a:t>Platform as a service (PaaS)</a:t>
            </a:r>
          </a:p>
          <a:p>
            <a:pPr lvl="1"/>
            <a:r>
              <a:rPr lang="en-US" dirty="0" smtClean="0"/>
              <a:t>Infrastructure as a service (IaaS)</a:t>
            </a:r>
          </a:p>
          <a:p>
            <a:pPr lvl="1"/>
            <a:r>
              <a:rPr lang="en-US" dirty="0" smtClean="0"/>
              <a:t>Everything as a Service (EAAS, XaaS, *aaS)</a:t>
            </a:r>
          </a:p>
          <a:p>
            <a:pPr lvl="2"/>
            <a:r>
              <a:rPr lang="en-US" dirty="0" smtClean="0"/>
              <a:t>Communication as a Service</a:t>
            </a:r>
          </a:p>
          <a:p>
            <a:pPr lvl="2"/>
            <a:r>
              <a:rPr lang="en-US" dirty="0" smtClean="0"/>
              <a:t>Monitoring as a Service</a:t>
            </a:r>
          </a:p>
          <a:p>
            <a:pPr lvl="2"/>
            <a:r>
              <a:rPr lang="en-US" dirty="0" smtClean="0"/>
              <a:t>Security as a Service </a:t>
            </a:r>
          </a:p>
          <a:p>
            <a:pPr marL="685800" lvl="2" indent="0">
              <a:buNone/>
            </a:pPr>
            <a:endParaRPr lang="en-US" dirty="0" smtClean="0"/>
          </a:p>
          <a:p>
            <a:pPr marL="411480" lvl="1" indent="0">
              <a:buNone/>
            </a:pPr>
            <a:r>
              <a:rPr lang="en-US" dirty="0" smtClean="0">
                <a:hlinkClick r:id="rId3"/>
              </a:rPr>
              <a:t>https</a:t>
            </a:r>
            <a:r>
              <a:rPr lang="en-US" dirty="0">
                <a:hlinkClick r:id="rId3"/>
              </a:rPr>
              <a:t>://</a:t>
            </a:r>
            <a:r>
              <a:rPr lang="en-US" dirty="0" smtClean="0">
                <a:hlinkClick r:id="rId3"/>
              </a:rPr>
              <a:t>youtu.be/whkyRvugqlM</a:t>
            </a:r>
            <a:endParaRPr lang="en-US" dirty="0" smtClean="0"/>
          </a:p>
          <a:p>
            <a:pPr marL="411480" lvl="1" indent="0">
              <a:buNone/>
            </a:pPr>
            <a:endParaRPr lang="en-US" dirty="0" smtClean="0"/>
          </a:p>
          <a:p>
            <a:pPr lvl="1"/>
            <a:endParaRPr lang="en-US" dirty="0" smtClean="0"/>
          </a:p>
          <a:p>
            <a:endParaRPr lang="en-SG" dirty="0"/>
          </a:p>
        </p:txBody>
      </p:sp>
      <p:sp>
        <p:nvSpPr>
          <p:cNvPr id="4" name="5-Point Star 3"/>
          <p:cNvSpPr/>
          <p:nvPr/>
        </p:nvSpPr>
        <p:spPr>
          <a:xfrm>
            <a:off x="7467600" y="58398"/>
            <a:ext cx="1219200" cy="1389402"/>
          </a:xfrm>
          <a:prstGeom prst="star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9439532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Models</a:t>
            </a:r>
            <a:endParaRPr lang="en-US" dirty="0"/>
          </a:p>
        </p:txBody>
      </p:sp>
      <p:pic>
        <p:nvPicPr>
          <p:cNvPr id="28674" name="Picture 2"/>
          <p:cNvPicPr>
            <a:picLocks noChangeAspect="1" noChangeArrowheads="1"/>
          </p:cNvPicPr>
          <p:nvPr/>
        </p:nvPicPr>
        <p:blipFill>
          <a:blip r:embed="rId3" cstate="print"/>
          <a:srcRect/>
          <a:stretch>
            <a:fillRect/>
          </a:stretch>
        </p:blipFill>
        <p:spPr bwMode="auto">
          <a:xfrm>
            <a:off x="1785918" y="1500174"/>
            <a:ext cx="5072098" cy="5193548"/>
          </a:xfrm>
          <a:prstGeom prst="rect">
            <a:avLst/>
          </a:prstGeom>
          <a:noFill/>
          <a:ln w="9525">
            <a:noFill/>
            <a:miter lim="800000"/>
            <a:headEnd/>
            <a:tailEnd/>
          </a:ln>
        </p:spPr>
      </p:pic>
      <p:sp>
        <p:nvSpPr>
          <p:cNvPr id="4" name="5-Point Star 3"/>
          <p:cNvSpPr/>
          <p:nvPr/>
        </p:nvSpPr>
        <p:spPr>
          <a:xfrm>
            <a:off x="7467600" y="58398"/>
            <a:ext cx="1219200" cy="1389402"/>
          </a:xfrm>
          <a:prstGeom prst="star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10579723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SaaS – Software as a service</a:t>
            </a:r>
            <a:endParaRPr lang="en-SG" dirty="0"/>
          </a:p>
        </p:txBody>
      </p:sp>
      <p:sp>
        <p:nvSpPr>
          <p:cNvPr id="3" name="Content Placeholder 2"/>
          <p:cNvSpPr>
            <a:spLocks noGrp="1"/>
          </p:cNvSpPr>
          <p:nvPr>
            <p:ph idx="1"/>
          </p:nvPr>
        </p:nvSpPr>
        <p:spPr>
          <a:xfrm>
            <a:off x="457200" y="1775191"/>
            <a:ext cx="8329642" cy="4297015"/>
          </a:xfrm>
        </p:spPr>
        <p:txBody>
          <a:bodyPr>
            <a:normAutofit/>
          </a:bodyPr>
          <a:lstStyle/>
          <a:p>
            <a:r>
              <a:rPr lang="en-US" dirty="0" smtClean="0"/>
              <a:t>SaaS is the model in which an application is hosted as service to customers who access it through Internet</a:t>
            </a:r>
          </a:p>
          <a:p>
            <a:r>
              <a:rPr lang="en-US" dirty="0" smtClean="0"/>
              <a:t>Software is licensed on a subscription basis</a:t>
            </a:r>
          </a:p>
          <a:p>
            <a:r>
              <a:rPr lang="en-US" dirty="0" smtClean="0"/>
              <a:t>Types of Software Applications</a:t>
            </a:r>
          </a:p>
          <a:p>
            <a:pPr lvl="1"/>
            <a:r>
              <a:rPr lang="en-US" dirty="0" smtClean="0"/>
              <a:t>CRM </a:t>
            </a:r>
          </a:p>
          <a:p>
            <a:pPr lvl="1"/>
            <a:r>
              <a:rPr lang="en-US" dirty="0" smtClean="0"/>
              <a:t>Accounting </a:t>
            </a:r>
          </a:p>
          <a:p>
            <a:pPr lvl="1"/>
            <a:r>
              <a:rPr lang="en-US" dirty="0" smtClean="0"/>
              <a:t>Web content management </a:t>
            </a:r>
          </a:p>
          <a:p>
            <a:endParaRPr lang="en-US" dirty="0" smtClean="0"/>
          </a:p>
          <a:p>
            <a:pPr>
              <a:buNone/>
            </a:pPr>
            <a:endParaRPr lang="en-US" dirty="0" smtClean="0"/>
          </a:p>
        </p:txBody>
      </p:sp>
      <p:sp>
        <p:nvSpPr>
          <p:cNvPr id="4" name="5-Point Star 3"/>
          <p:cNvSpPr/>
          <p:nvPr/>
        </p:nvSpPr>
        <p:spPr>
          <a:xfrm>
            <a:off x="7545012" y="524499"/>
            <a:ext cx="1219200" cy="1389402"/>
          </a:xfrm>
          <a:prstGeom prst="star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16134719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PaaS- Platform as a Service</a:t>
            </a:r>
            <a:endParaRPr lang="en-SG" dirty="0"/>
          </a:p>
        </p:txBody>
      </p:sp>
      <p:sp>
        <p:nvSpPr>
          <p:cNvPr id="3" name="Content Placeholder 2"/>
          <p:cNvSpPr>
            <a:spLocks noGrp="1"/>
          </p:cNvSpPr>
          <p:nvPr>
            <p:ph idx="1"/>
          </p:nvPr>
        </p:nvSpPr>
        <p:spPr/>
        <p:txBody>
          <a:bodyPr/>
          <a:lstStyle/>
          <a:p>
            <a:r>
              <a:rPr lang="en-US" dirty="0" smtClean="0"/>
              <a:t>Provides resources required to build applications and  services</a:t>
            </a:r>
          </a:p>
          <a:p>
            <a:r>
              <a:rPr lang="en-US" dirty="0" smtClean="0"/>
              <a:t>Includes application design, development, testing, deployment and hosting </a:t>
            </a:r>
          </a:p>
          <a:p>
            <a:r>
              <a:rPr lang="en-US" dirty="0" smtClean="0"/>
              <a:t>Other services include:</a:t>
            </a:r>
          </a:p>
          <a:p>
            <a:pPr lvl="1"/>
            <a:r>
              <a:rPr lang="en-US" dirty="0" smtClean="0"/>
              <a:t>Team collaboration</a:t>
            </a:r>
          </a:p>
          <a:p>
            <a:pPr lvl="1"/>
            <a:r>
              <a:rPr lang="en-US" dirty="0" smtClean="0"/>
              <a:t>Web service integration</a:t>
            </a:r>
          </a:p>
          <a:p>
            <a:pPr lvl="1"/>
            <a:r>
              <a:rPr lang="en-US" dirty="0" smtClean="0"/>
              <a:t>Database integration</a:t>
            </a:r>
          </a:p>
          <a:p>
            <a:pPr lvl="1"/>
            <a:r>
              <a:rPr lang="en-US" dirty="0" smtClean="0"/>
              <a:t>Security</a:t>
            </a:r>
            <a:endParaRPr lang="en-SG" dirty="0"/>
          </a:p>
        </p:txBody>
      </p:sp>
      <p:sp>
        <p:nvSpPr>
          <p:cNvPr id="4" name="5-Point Star 3"/>
          <p:cNvSpPr/>
          <p:nvPr/>
        </p:nvSpPr>
        <p:spPr>
          <a:xfrm>
            <a:off x="7545012" y="524499"/>
            <a:ext cx="1219200" cy="1389402"/>
          </a:xfrm>
          <a:prstGeom prst="star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20538573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IaaS-Infra-Structure as a service</a:t>
            </a:r>
            <a:endParaRPr lang="en-SG" dirty="0"/>
          </a:p>
        </p:txBody>
      </p:sp>
      <p:sp>
        <p:nvSpPr>
          <p:cNvPr id="3" name="Content Placeholder 2"/>
          <p:cNvSpPr>
            <a:spLocks noGrp="1"/>
          </p:cNvSpPr>
          <p:nvPr>
            <p:ph idx="1"/>
          </p:nvPr>
        </p:nvSpPr>
        <p:spPr/>
        <p:txBody>
          <a:bodyPr/>
          <a:lstStyle/>
          <a:p>
            <a:r>
              <a:rPr lang="en-US" dirty="0" smtClean="0"/>
              <a:t>Delivery of computer infrastructure as a service.</a:t>
            </a:r>
          </a:p>
          <a:p>
            <a:r>
              <a:rPr lang="en-US" dirty="0" smtClean="0"/>
              <a:t>Infrastructure includes:</a:t>
            </a:r>
          </a:p>
          <a:p>
            <a:pPr lvl="1"/>
            <a:r>
              <a:rPr lang="en-US" dirty="0" smtClean="0"/>
              <a:t>Computer hardware </a:t>
            </a:r>
          </a:p>
          <a:p>
            <a:pPr lvl="1"/>
            <a:r>
              <a:rPr lang="en-US" dirty="0" smtClean="0"/>
              <a:t>Computer network </a:t>
            </a:r>
          </a:p>
          <a:p>
            <a:pPr lvl="1"/>
            <a:r>
              <a:rPr lang="en-US" dirty="0" smtClean="0"/>
              <a:t>Server (OS) </a:t>
            </a:r>
          </a:p>
          <a:p>
            <a:pPr lvl="1"/>
            <a:r>
              <a:rPr lang="en-US" dirty="0" smtClean="0"/>
              <a:t>Storage</a:t>
            </a:r>
          </a:p>
          <a:p>
            <a:pPr lvl="1"/>
            <a:endParaRPr lang="en-SG" dirty="0"/>
          </a:p>
        </p:txBody>
      </p:sp>
      <p:sp>
        <p:nvSpPr>
          <p:cNvPr id="4" name="5-Point Star 3"/>
          <p:cNvSpPr/>
          <p:nvPr/>
        </p:nvSpPr>
        <p:spPr>
          <a:xfrm>
            <a:off x="7545012" y="524499"/>
            <a:ext cx="1219200" cy="1389402"/>
          </a:xfrm>
          <a:prstGeom prst="star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21345879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The Big Players in Cloud Computing</a:t>
            </a:r>
            <a:endParaRPr lang="en-US" dirty="0"/>
          </a:p>
        </p:txBody>
      </p:sp>
      <p:sp>
        <p:nvSpPr>
          <p:cNvPr id="3" name="Content Placeholder 2"/>
          <p:cNvSpPr>
            <a:spLocks noGrp="1"/>
          </p:cNvSpPr>
          <p:nvPr>
            <p:ph idx="1"/>
          </p:nvPr>
        </p:nvSpPr>
        <p:spPr>
          <a:xfrm>
            <a:off x="-76200" y="1447800"/>
            <a:ext cx="9296400" cy="5410200"/>
          </a:xfrm>
        </p:spPr>
        <p:txBody>
          <a:bodyPr>
            <a:noAutofit/>
          </a:bodyPr>
          <a:lstStyle/>
          <a:p>
            <a:r>
              <a:rPr lang="en-US" sz="2400" dirty="0" smtClean="0"/>
              <a:t>Adobe CC</a:t>
            </a:r>
          </a:p>
          <a:p>
            <a:pPr lvl="1"/>
            <a:r>
              <a:rPr lang="en-US" sz="2000" dirty="0" smtClean="0"/>
              <a:t>Target segment: </a:t>
            </a:r>
            <a:r>
              <a:rPr lang="en-US" sz="2000" b="1" dirty="0" smtClean="0"/>
              <a:t>SaaS</a:t>
            </a:r>
            <a:r>
              <a:rPr lang="en-US" sz="2000" dirty="0" smtClean="0"/>
              <a:t> (provide online services)</a:t>
            </a:r>
          </a:p>
          <a:p>
            <a:r>
              <a:rPr lang="en-US" sz="2400" dirty="0" smtClean="0"/>
              <a:t>Amazon </a:t>
            </a:r>
          </a:p>
          <a:p>
            <a:pPr lvl="1"/>
            <a:r>
              <a:rPr lang="en-US" sz="2000" dirty="0" smtClean="0"/>
              <a:t>Target segment: </a:t>
            </a:r>
            <a:r>
              <a:rPr lang="en-US" sz="2000" b="1" dirty="0" smtClean="0"/>
              <a:t>IaaS</a:t>
            </a:r>
            <a:r>
              <a:rPr lang="en-US" sz="2000" dirty="0" smtClean="0"/>
              <a:t> (through its Amazon Web Services such as EC2 (Compute power), S3 (Storage) and VPC (Virtual Private Network)</a:t>
            </a:r>
          </a:p>
          <a:p>
            <a:r>
              <a:rPr lang="en-US" sz="2400" dirty="0" smtClean="0"/>
              <a:t>Google </a:t>
            </a:r>
          </a:p>
          <a:p>
            <a:pPr lvl="1"/>
            <a:r>
              <a:rPr lang="en-US" sz="2000" dirty="0" smtClean="0"/>
              <a:t>Target segment: </a:t>
            </a:r>
            <a:r>
              <a:rPr lang="en-US" sz="2000" b="1" dirty="0" smtClean="0"/>
              <a:t>PaaS</a:t>
            </a:r>
            <a:r>
              <a:rPr lang="en-US" sz="2000" dirty="0" smtClean="0"/>
              <a:t> (through its Google App Engine), and SaaS (through its Google Docs, Gmail, etc)</a:t>
            </a:r>
          </a:p>
          <a:p>
            <a:r>
              <a:rPr lang="en-US" sz="2400" dirty="0" smtClean="0"/>
              <a:t>Microsoft</a:t>
            </a:r>
          </a:p>
          <a:p>
            <a:pPr lvl="1"/>
            <a:r>
              <a:rPr lang="en-US" sz="2000" dirty="0" smtClean="0"/>
              <a:t>Target segment: </a:t>
            </a:r>
            <a:r>
              <a:rPr lang="en-US" sz="2000" b="1" dirty="0" smtClean="0"/>
              <a:t>PaaS</a:t>
            </a:r>
            <a:r>
              <a:rPr lang="en-US" sz="2000" dirty="0" smtClean="0"/>
              <a:t> (through its Windows Azure) and SaaS (through its Microsoft Office Live Small Business)</a:t>
            </a:r>
          </a:p>
          <a:p>
            <a:r>
              <a:rPr lang="en-US" sz="2400" dirty="0" smtClean="0"/>
              <a:t>SalesForce.com</a:t>
            </a:r>
          </a:p>
          <a:p>
            <a:pPr lvl="1"/>
            <a:r>
              <a:rPr lang="en-US" sz="2000" dirty="0" smtClean="0"/>
              <a:t>Target segment: </a:t>
            </a:r>
            <a:r>
              <a:rPr lang="en-US" sz="2000" b="1" dirty="0" smtClean="0"/>
              <a:t>PaaS</a:t>
            </a:r>
            <a:r>
              <a:rPr lang="en-US" sz="2000" dirty="0" smtClean="0"/>
              <a:t> (through its AppExchange) and SaaS (through its Salesforce CRM)</a:t>
            </a:r>
          </a:p>
          <a:p>
            <a:pPr lvl="1"/>
            <a:endParaRPr lang="en-US" sz="2000" dirty="0" smtClean="0"/>
          </a:p>
          <a:p>
            <a:pPr lvl="1"/>
            <a:endParaRPr lang="en-US" sz="2000" dirty="0"/>
          </a:p>
        </p:txBody>
      </p:sp>
      <p:sp>
        <p:nvSpPr>
          <p:cNvPr id="4" name="5-Point Star 3"/>
          <p:cNvSpPr/>
          <p:nvPr/>
        </p:nvSpPr>
        <p:spPr>
          <a:xfrm>
            <a:off x="7467600" y="58398"/>
            <a:ext cx="1219200" cy="1389402"/>
          </a:xfrm>
          <a:prstGeom prst="star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9605820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Three Ways of Cloud Compute</a:t>
            </a:r>
            <a:endParaRPr lang="en-SG" dirty="0"/>
          </a:p>
        </p:txBody>
      </p:sp>
      <p:sp>
        <p:nvSpPr>
          <p:cNvPr id="3" name="Content Placeholder 2"/>
          <p:cNvSpPr>
            <a:spLocks noGrp="1"/>
          </p:cNvSpPr>
          <p:nvPr>
            <p:ph sz="quarter" idx="1"/>
          </p:nvPr>
        </p:nvSpPr>
        <p:spPr/>
        <p:txBody>
          <a:bodyPr/>
          <a:lstStyle/>
          <a:p>
            <a:r>
              <a:rPr lang="en-SG" dirty="0">
                <a:hlinkClick r:id="rId3"/>
              </a:rPr>
              <a:t>https://</a:t>
            </a:r>
            <a:r>
              <a:rPr lang="en-SG" dirty="0" smtClean="0">
                <a:hlinkClick r:id="rId3"/>
              </a:rPr>
              <a:t>youtu.be/SgujaIzkwrE</a:t>
            </a:r>
            <a:endParaRPr lang="en-SG" dirty="0" smtClean="0"/>
          </a:p>
          <a:p>
            <a:r>
              <a:rPr lang="en-SG" dirty="0" smtClean="0"/>
              <a:t>It explains the  SaaS, PaaS and IaaS.</a:t>
            </a:r>
          </a:p>
          <a:p>
            <a:r>
              <a:rPr lang="en-SG" dirty="0" smtClean="0"/>
              <a:t>Must Watch this.</a:t>
            </a:r>
            <a:endParaRPr lang="en-SG" dirty="0"/>
          </a:p>
        </p:txBody>
      </p:sp>
    </p:spTree>
    <p:custDataLst>
      <p:tags r:id="rId1"/>
    </p:custDataLst>
    <p:extLst>
      <p:ext uri="{BB962C8B-B14F-4D97-AF65-F5344CB8AC3E}">
        <p14:creationId xmlns:p14="http://schemas.microsoft.com/office/powerpoint/2010/main" val="22227282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Deployment models</a:t>
            </a:r>
            <a:endParaRPr lang="en-SG" dirty="0"/>
          </a:p>
        </p:txBody>
      </p:sp>
      <p:sp>
        <p:nvSpPr>
          <p:cNvPr id="3" name="Content Placeholder 2"/>
          <p:cNvSpPr>
            <a:spLocks noGrp="1"/>
          </p:cNvSpPr>
          <p:nvPr>
            <p:ph idx="1"/>
          </p:nvPr>
        </p:nvSpPr>
        <p:spPr/>
        <p:txBody>
          <a:bodyPr/>
          <a:lstStyle/>
          <a:p>
            <a:r>
              <a:rPr lang="en-US" dirty="0" smtClean="0"/>
              <a:t>There are many considerations for cloud computing architects to make when moving from a standard enterprise application deployment model to a cloud-based model. </a:t>
            </a:r>
          </a:p>
          <a:p>
            <a:r>
              <a:rPr lang="en-US" dirty="0" smtClean="0"/>
              <a:t>We can choose to deploy to </a:t>
            </a:r>
            <a:r>
              <a:rPr lang="en-US" b="1" dirty="0" smtClean="0">
                <a:solidFill>
                  <a:srgbClr val="FF0000"/>
                </a:solidFill>
              </a:rPr>
              <a:t>private cloud, community cloud, public cloud, or hybrid cloud</a:t>
            </a:r>
          </a:p>
        </p:txBody>
      </p:sp>
      <p:sp>
        <p:nvSpPr>
          <p:cNvPr id="4" name="5-Point Star 3"/>
          <p:cNvSpPr/>
          <p:nvPr/>
        </p:nvSpPr>
        <p:spPr>
          <a:xfrm>
            <a:off x="7545012" y="524499"/>
            <a:ext cx="1219200" cy="1389402"/>
          </a:xfrm>
          <a:prstGeom prst="star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167067744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Private Cloud</a:t>
            </a:r>
            <a:endParaRPr lang="en-SG" dirty="0"/>
          </a:p>
        </p:txBody>
      </p:sp>
      <p:sp>
        <p:nvSpPr>
          <p:cNvPr id="3" name="Content Placeholder 2"/>
          <p:cNvSpPr>
            <a:spLocks noGrp="1"/>
          </p:cNvSpPr>
          <p:nvPr>
            <p:ph idx="1"/>
          </p:nvPr>
        </p:nvSpPr>
        <p:spPr/>
        <p:txBody>
          <a:bodyPr>
            <a:normAutofit/>
          </a:bodyPr>
          <a:lstStyle/>
          <a:p>
            <a:r>
              <a:rPr lang="en-SG" dirty="0" smtClean="0"/>
              <a:t>Built for the exclusive use of </a:t>
            </a:r>
            <a:r>
              <a:rPr lang="en-SG" b="1" u="sng" dirty="0" smtClean="0"/>
              <a:t>one client</a:t>
            </a:r>
            <a:r>
              <a:rPr lang="en-SG" dirty="0" smtClean="0"/>
              <a:t>, providing the utmost control over data, security, and quality of service</a:t>
            </a:r>
          </a:p>
          <a:p>
            <a:r>
              <a:rPr lang="en-SG" dirty="0" smtClean="0"/>
              <a:t>The company owns the infrastructure</a:t>
            </a:r>
          </a:p>
          <a:p>
            <a:r>
              <a:rPr lang="en-SG" dirty="0" smtClean="0"/>
              <a:t>May be deployed in an enterprise datacenter, or at a colocation facility.</a:t>
            </a:r>
          </a:p>
          <a:p>
            <a:r>
              <a:rPr lang="en-SG" dirty="0" smtClean="0"/>
              <a:t>Built and managed by a company’s own IT organization or by a cloud provider. </a:t>
            </a:r>
          </a:p>
        </p:txBody>
      </p:sp>
    </p:spTree>
    <p:custDataLst>
      <p:tags r:id="rId1"/>
    </p:custDataLst>
    <p:extLst>
      <p:ext uri="{BB962C8B-B14F-4D97-AF65-F5344CB8AC3E}">
        <p14:creationId xmlns:p14="http://schemas.microsoft.com/office/powerpoint/2010/main" val="332432549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Public Cloud</a:t>
            </a:r>
            <a:endParaRPr lang="en-SG" dirty="0"/>
          </a:p>
        </p:txBody>
      </p:sp>
      <p:sp>
        <p:nvSpPr>
          <p:cNvPr id="3" name="Content Placeholder 2"/>
          <p:cNvSpPr>
            <a:spLocks noGrp="1"/>
          </p:cNvSpPr>
          <p:nvPr>
            <p:ph idx="1"/>
          </p:nvPr>
        </p:nvSpPr>
        <p:spPr>
          <a:xfrm>
            <a:off x="357158" y="1643050"/>
            <a:ext cx="8501122" cy="4625609"/>
          </a:xfrm>
        </p:spPr>
        <p:txBody>
          <a:bodyPr>
            <a:noAutofit/>
          </a:bodyPr>
          <a:lstStyle/>
          <a:p>
            <a:r>
              <a:rPr lang="en-SG" sz="2400" dirty="0" smtClean="0"/>
              <a:t>Run by third parties, and applications from </a:t>
            </a:r>
            <a:r>
              <a:rPr lang="en-SG" sz="2400" b="1" dirty="0" smtClean="0"/>
              <a:t>different customers are likely to be mixed together</a:t>
            </a:r>
            <a:r>
              <a:rPr lang="en-SG" sz="2400" dirty="0" smtClean="0"/>
              <a:t> on the cloud’s servers, storage systems, and networks </a:t>
            </a:r>
          </a:p>
          <a:p>
            <a:r>
              <a:rPr lang="en-SG" sz="2400" dirty="0" smtClean="0"/>
              <a:t>Hosted away from customer premises</a:t>
            </a:r>
          </a:p>
          <a:p>
            <a:r>
              <a:rPr lang="en-SG" sz="2400" dirty="0" smtClean="0"/>
              <a:t>Can be much larger than a company’s private cloud, offering the ability to scale up and down on demand</a:t>
            </a:r>
          </a:p>
          <a:p>
            <a:pPr lvl="1"/>
            <a:r>
              <a:rPr lang="en-SG" sz="2000" dirty="0" smtClean="0"/>
              <a:t>Shift infrastructure risks from enterprise to cloud provider</a:t>
            </a:r>
          </a:p>
          <a:p>
            <a:r>
              <a:rPr lang="en-SG" sz="2400" dirty="0" smtClean="0"/>
              <a:t>Virtual Private Datacenter</a:t>
            </a:r>
          </a:p>
          <a:p>
            <a:pPr lvl="1"/>
            <a:r>
              <a:rPr lang="en-SG" sz="2400" dirty="0" smtClean="0"/>
              <a:t>Portions of a public cloud can be carved out for the exclusive use of a single client</a:t>
            </a:r>
          </a:p>
          <a:p>
            <a:pPr lvl="1"/>
            <a:r>
              <a:rPr lang="en-SG" sz="2400" dirty="0" smtClean="0"/>
              <a:t>Gives customers greater visibility into its infrastructure</a:t>
            </a:r>
            <a:endParaRPr lang="en-SG" sz="2400" dirty="0"/>
          </a:p>
        </p:txBody>
      </p:sp>
    </p:spTree>
    <p:custDataLst>
      <p:tags r:id="rId1"/>
    </p:custDataLst>
    <p:extLst>
      <p:ext uri="{BB962C8B-B14F-4D97-AF65-F5344CB8AC3E}">
        <p14:creationId xmlns:p14="http://schemas.microsoft.com/office/powerpoint/2010/main" val="1786520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Public Cloud</a:t>
            </a:r>
            <a:endParaRPr lang="en-US" dirty="0"/>
          </a:p>
        </p:txBody>
      </p:sp>
      <p:pic>
        <p:nvPicPr>
          <p:cNvPr id="29698" name="Picture 2"/>
          <p:cNvPicPr>
            <a:picLocks noChangeAspect="1" noChangeArrowheads="1"/>
          </p:cNvPicPr>
          <p:nvPr/>
        </p:nvPicPr>
        <p:blipFill>
          <a:blip r:embed="rId3" cstate="print"/>
          <a:srcRect/>
          <a:stretch>
            <a:fillRect/>
          </a:stretch>
        </p:blipFill>
        <p:spPr bwMode="auto">
          <a:xfrm>
            <a:off x="2214546" y="1785926"/>
            <a:ext cx="4638675" cy="4238625"/>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354473992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Hybrid Cloud</a:t>
            </a:r>
            <a:endParaRPr lang="en-SG" dirty="0"/>
          </a:p>
        </p:txBody>
      </p:sp>
      <p:sp>
        <p:nvSpPr>
          <p:cNvPr id="3" name="Content Placeholder 2"/>
          <p:cNvSpPr>
            <a:spLocks noGrp="1"/>
          </p:cNvSpPr>
          <p:nvPr>
            <p:ph idx="1"/>
          </p:nvPr>
        </p:nvSpPr>
        <p:spPr>
          <a:xfrm>
            <a:off x="428596" y="1571612"/>
            <a:ext cx="8229600" cy="4625609"/>
          </a:xfrm>
        </p:spPr>
        <p:txBody>
          <a:bodyPr>
            <a:noAutofit/>
          </a:bodyPr>
          <a:lstStyle/>
          <a:p>
            <a:r>
              <a:rPr lang="en-SG" sz="2400" dirty="0" smtClean="0"/>
              <a:t>Combine both public and private cloud models </a:t>
            </a:r>
          </a:p>
          <a:p>
            <a:r>
              <a:rPr lang="en-SG" sz="2400" dirty="0" smtClean="0"/>
              <a:t>Augment a private cloud with the resources of a public cloud </a:t>
            </a:r>
          </a:p>
          <a:p>
            <a:pPr lvl="1"/>
            <a:r>
              <a:rPr lang="en-SG" sz="2000" dirty="0" smtClean="0"/>
              <a:t>can be used to maintain service levels in the face of rapid workload fluctuations </a:t>
            </a:r>
          </a:p>
          <a:p>
            <a:pPr lvl="1"/>
            <a:r>
              <a:rPr lang="en-SG" sz="2000" dirty="0" smtClean="0"/>
              <a:t>Use of storage clouds to support Web 2.0 applications. </a:t>
            </a:r>
          </a:p>
          <a:p>
            <a:pPr lvl="1"/>
            <a:r>
              <a:rPr lang="en-SG" sz="2000" dirty="0" smtClean="0"/>
              <a:t>Used to handle planned workload spikes. </a:t>
            </a:r>
          </a:p>
          <a:p>
            <a:pPr lvl="1"/>
            <a:r>
              <a:rPr lang="en-SG" sz="2000" dirty="0" smtClean="0"/>
              <a:t>Sometimes called “surge computing,” a public cloud can be used to perform periodic tasks that can be deployed easily on a public cloud.</a:t>
            </a:r>
          </a:p>
        </p:txBody>
      </p:sp>
    </p:spTree>
    <p:custDataLst>
      <p:tags r:id="rId1"/>
    </p:custDataLst>
    <p:extLst>
      <p:ext uri="{BB962C8B-B14F-4D97-AF65-F5344CB8AC3E}">
        <p14:creationId xmlns:p14="http://schemas.microsoft.com/office/powerpoint/2010/main" val="1964382143"/>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Hybrid Cloud</a:t>
            </a:r>
            <a:endParaRPr lang="en-SG" dirty="0"/>
          </a:p>
        </p:txBody>
      </p:sp>
      <p:sp>
        <p:nvSpPr>
          <p:cNvPr id="3" name="Content Placeholder 2"/>
          <p:cNvSpPr>
            <a:spLocks noGrp="1"/>
          </p:cNvSpPr>
          <p:nvPr>
            <p:ph idx="1"/>
          </p:nvPr>
        </p:nvSpPr>
        <p:spPr>
          <a:xfrm>
            <a:off x="428596" y="1571612"/>
            <a:ext cx="8229600" cy="4625609"/>
          </a:xfrm>
        </p:spPr>
        <p:txBody>
          <a:bodyPr>
            <a:noAutofit/>
          </a:bodyPr>
          <a:lstStyle/>
          <a:p>
            <a:r>
              <a:rPr lang="en-SG" sz="2400" dirty="0" smtClean="0"/>
              <a:t>Complexity in determining how to distribute applications across both a public and private cloud. </a:t>
            </a:r>
          </a:p>
          <a:p>
            <a:pPr lvl="1"/>
            <a:r>
              <a:rPr lang="en-SG" sz="2000" dirty="0" smtClean="0"/>
              <a:t>Relationship between data and processing resources. </a:t>
            </a:r>
          </a:p>
          <a:p>
            <a:pPr lvl="1"/>
            <a:r>
              <a:rPr lang="en-SG" sz="2000" dirty="0" smtClean="0"/>
              <a:t>If the data is small, or the application is stateless, a hybrid cloud can be much more successful than if large amounts of data must be transferred into a public cloud for a small amount of processing</a:t>
            </a:r>
            <a:endParaRPr lang="en-SG" sz="2000" dirty="0"/>
          </a:p>
        </p:txBody>
      </p:sp>
    </p:spTree>
    <p:custDataLst>
      <p:tags r:id="rId1"/>
    </p:custDataLst>
    <p:extLst>
      <p:ext uri="{BB962C8B-B14F-4D97-AF65-F5344CB8AC3E}">
        <p14:creationId xmlns:p14="http://schemas.microsoft.com/office/powerpoint/2010/main" val="1200193729"/>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Hybrid Cloud</a:t>
            </a:r>
            <a:endParaRPr lang="en-US" dirty="0"/>
          </a:p>
        </p:txBody>
      </p:sp>
      <p:pic>
        <p:nvPicPr>
          <p:cNvPr id="30722" name="Picture 2"/>
          <p:cNvPicPr>
            <a:picLocks noChangeAspect="1" noChangeArrowheads="1"/>
          </p:cNvPicPr>
          <p:nvPr/>
        </p:nvPicPr>
        <p:blipFill>
          <a:blip r:embed="rId3" cstate="print"/>
          <a:srcRect/>
          <a:stretch>
            <a:fillRect/>
          </a:stretch>
        </p:blipFill>
        <p:spPr bwMode="auto">
          <a:xfrm>
            <a:off x="1714480" y="2214554"/>
            <a:ext cx="5854534" cy="357190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388366258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Cloud Computing? </a:t>
            </a:r>
            <a:endParaRPr lang="en-SG" dirty="0"/>
          </a:p>
        </p:txBody>
      </p:sp>
      <p:sp>
        <p:nvSpPr>
          <p:cNvPr id="3" name="Content Placeholder 2"/>
          <p:cNvSpPr>
            <a:spLocks noGrp="1"/>
          </p:cNvSpPr>
          <p:nvPr>
            <p:ph idx="1"/>
          </p:nvPr>
        </p:nvSpPr>
        <p:spPr/>
        <p:txBody>
          <a:bodyPr>
            <a:normAutofit fontScale="92500" lnSpcReduction="10000"/>
          </a:bodyPr>
          <a:lstStyle/>
          <a:p>
            <a:r>
              <a:rPr lang="en-US" dirty="0" smtClean="0"/>
              <a:t>Ease the software maintenance</a:t>
            </a:r>
          </a:p>
          <a:p>
            <a:pPr lvl="1"/>
            <a:r>
              <a:rPr lang="en-US" dirty="0" smtClean="0"/>
              <a:t>No CD to install on all computers</a:t>
            </a:r>
          </a:p>
          <a:p>
            <a:pPr lvl="1"/>
            <a:r>
              <a:rPr lang="en-US" dirty="0" smtClean="0"/>
              <a:t>No need to worry about software upgrade</a:t>
            </a:r>
          </a:p>
          <a:p>
            <a:r>
              <a:rPr lang="en-US" dirty="0" smtClean="0"/>
              <a:t>Convenient for telecommuters</a:t>
            </a:r>
          </a:p>
          <a:p>
            <a:pPr lvl="1"/>
            <a:r>
              <a:rPr lang="en-US" dirty="0" smtClean="0"/>
              <a:t>Simply log in and use the applications anywhere, and anytime</a:t>
            </a:r>
          </a:p>
          <a:p>
            <a:r>
              <a:rPr lang="en-US" dirty="0" smtClean="0"/>
              <a:t>No equipment outlay required</a:t>
            </a:r>
          </a:p>
          <a:p>
            <a:pPr lvl="1"/>
            <a:r>
              <a:rPr lang="en-US" dirty="0" smtClean="0"/>
              <a:t>No need to pay for servers not required</a:t>
            </a:r>
          </a:p>
          <a:p>
            <a:pPr lvl="1"/>
            <a:r>
              <a:rPr lang="en-US" dirty="0" smtClean="0"/>
              <a:t>Guard against obsolete hardware</a:t>
            </a:r>
          </a:p>
          <a:p>
            <a:pPr lvl="1"/>
            <a:r>
              <a:rPr lang="en-US" dirty="0" smtClean="0"/>
              <a:t>No need to worry about capacity planning </a:t>
            </a:r>
          </a:p>
          <a:p>
            <a:pPr lvl="2"/>
            <a:r>
              <a:rPr lang="en-US" dirty="0" smtClean="0"/>
              <a:t>Add and remove capacity anytime</a:t>
            </a:r>
          </a:p>
        </p:txBody>
      </p:sp>
      <p:sp>
        <p:nvSpPr>
          <p:cNvPr id="4" name="5-Point Star 3"/>
          <p:cNvSpPr/>
          <p:nvPr/>
        </p:nvSpPr>
        <p:spPr>
          <a:xfrm>
            <a:off x="7545012" y="524499"/>
            <a:ext cx="1219200" cy="1389402"/>
          </a:xfrm>
          <a:prstGeom prst="star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23327776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Cloud Computing? </a:t>
            </a:r>
            <a:endParaRPr lang="en-SG" dirty="0"/>
          </a:p>
        </p:txBody>
      </p:sp>
      <p:sp>
        <p:nvSpPr>
          <p:cNvPr id="3" name="Content Placeholder 2"/>
          <p:cNvSpPr>
            <a:spLocks noGrp="1"/>
          </p:cNvSpPr>
          <p:nvPr>
            <p:ph idx="1"/>
          </p:nvPr>
        </p:nvSpPr>
        <p:spPr/>
        <p:txBody>
          <a:bodyPr/>
          <a:lstStyle/>
          <a:p>
            <a:r>
              <a:rPr lang="en-SG" dirty="0" smtClean="0"/>
              <a:t>Redundancy and disaster planning</a:t>
            </a:r>
          </a:p>
          <a:p>
            <a:pPr lvl="1"/>
            <a:r>
              <a:rPr lang="en-SG" dirty="0" smtClean="0"/>
              <a:t>Let the cloud provider take care of ensuring redundancy for your storage and applications</a:t>
            </a:r>
          </a:p>
          <a:p>
            <a:pPr lvl="1"/>
            <a:r>
              <a:rPr lang="en-SG" dirty="0" smtClean="0"/>
              <a:t>Let the cloud provider take care of disaster planning</a:t>
            </a:r>
          </a:p>
          <a:p>
            <a:pPr lvl="2"/>
            <a:r>
              <a:rPr lang="en-SG" dirty="0" smtClean="0"/>
              <a:t>Off-site backup, alternative locations, etc. </a:t>
            </a:r>
            <a:endParaRPr lang="en-SG" dirty="0"/>
          </a:p>
        </p:txBody>
      </p:sp>
      <p:sp>
        <p:nvSpPr>
          <p:cNvPr id="4" name="5-Point Star 3"/>
          <p:cNvSpPr/>
          <p:nvPr/>
        </p:nvSpPr>
        <p:spPr>
          <a:xfrm>
            <a:off x="7545012" y="524499"/>
            <a:ext cx="1219200" cy="1389402"/>
          </a:xfrm>
          <a:prstGeom prst="star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183152414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NOT? </a:t>
            </a:r>
            <a:endParaRPr lang="en-SG" dirty="0"/>
          </a:p>
        </p:txBody>
      </p:sp>
      <p:sp>
        <p:nvSpPr>
          <p:cNvPr id="3" name="Content Placeholder 2"/>
          <p:cNvSpPr>
            <a:spLocks noGrp="1"/>
          </p:cNvSpPr>
          <p:nvPr>
            <p:ph idx="1"/>
          </p:nvPr>
        </p:nvSpPr>
        <p:spPr/>
        <p:txBody>
          <a:bodyPr>
            <a:normAutofit/>
          </a:bodyPr>
          <a:lstStyle/>
          <a:p>
            <a:r>
              <a:rPr lang="en-US" dirty="0" smtClean="0"/>
              <a:t>Network outage or problems with ISP</a:t>
            </a:r>
          </a:p>
          <a:p>
            <a:pPr lvl="1"/>
            <a:r>
              <a:rPr lang="en-US" dirty="0" smtClean="0"/>
              <a:t>Cut off access to applications or servers</a:t>
            </a:r>
          </a:p>
          <a:p>
            <a:r>
              <a:rPr lang="en-US" dirty="0" smtClean="0"/>
              <a:t>Sensitive information </a:t>
            </a:r>
          </a:p>
          <a:p>
            <a:pPr lvl="1"/>
            <a:r>
              <a:rPr lang="en-US" dirty="0" smtClean="0"/>
              <a:t>Security concern</a:t>
            </a:r>
          </a:p>
          <a:p>
            <a:r>
              <a:rPr lang="en-US" dirty="0" smtClean="0"/>
              <a:t>Application integration issues</a:t>
            </a:r>
          </a:p>
          <a:p>
            <a:pPr lvl="1"/>
            <a:r>
              <a:rPr lang="en-US" dirty="0" smtClean="0"/>
              <a:t>Difficult to integrate your applications if they are geographically dispersed</a:t>
            </a:r>
          </a:p>
        </p:txBody>
      </p:sp>
    </p:spTree>
    <p:custDataLst>
      <p:tags r:id="rId1"/>
    </p:custDataLst>
    <p:extLst>
      <p:ext uri="{BB962C8B-B14F-4D97-AF65-F5344CB8AC3E}">
        <p14:creationId xmlns:p14="http://schemas.microsoft.com/office/powerpoint/2010/main" val="403469788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Conclusions</a:t>
            </a:r>
            <a:endParaRPr lang="en-US" dirty="0"/>
          </a:p>
        </p:txBody>
      </p:sp>
      <p:sp>
        <p:nvSpPr>
          <p:cNvPr id="3" name="Content Placeholder 2"/>
          <p:cNvSpPr>
            <a:spLocks noGrp="1"/>
          </p:cNvSpPr>
          <p:nvPr>
            <p:ph sz="quarter" idx="1"/>
          </p:nvPr>
        </p:nvSpPr>
        <p:spPr/>
        <p:txBody>
          <a:bodyPr/>
          <a:lstStyle/>
          <a:p>
            <a:r>
              <a:rPr lang="en-GB" dirty="0" smtClean="0"/>
              <a:t>Question</a:t>
            </a:r>
          </a:p>
          <a:p>
            <a:pPr lvl="1"/>
            <a:r>
              <a:rPr lang="en-GB" dirty="0" smtClean="0"/>
              <a:t>What happens when there are too </a:t>
            </a:r>
            <a:r>
              <a:rPr lang="en-GB" smtClean="0"/>
              <a:t>many clouds?</a:t>
            </a:r>
            <a:endParaRPr lang="en-US"/>
          </a:p>
        </p:txBody>
      </p:sp>
    </p:spTree>
    <p:custDataLst>
      <p:tags r:id="rId1"/>
    </p:custDataLst>
    <p:extLst>
      <p:ext uri="{BB962C8B-B14F-4D97-AF65-F5344CB8AC3E}">
        <p14:creationId xmlns:p14="http://schemas.microsoft.com/office/powerpoint/2010/main" val="3890858148"/>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8"/>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AcademicPresentation1">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F7B6A5FA-AEDC-493D-A38F-607DB1F3875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AcademicPresentation1</Template>
  <TotalTime>0</TotalTime>
  <Words>1271</Words>
  <Application>Microsoft Office PowerPoint</Application>
  <PresentationFormat>On-screen Show (4:3)</PresentationFormat>
  <Paragraphs>152</Paragraphs>
  <Slides>28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Calibri</vt:lpstr>
      <vt:lpstr>Tw Cen MT</vt:lpstr>
      <vt:lpstr>Wingdings</vt:lpstr>
      <vt:lpstr>Wingdings 2</vt:lpstr>
      <vt:lpstr>AcademicPresentation1</vt:lpstr>
      <vt:lpstr>ITP171 IT FUNDAMENTALS and PROJECT</vt:lpstr>
      <vt:lpstr>How Cloud Computing works? MUST WATCH this!!</vt:lpstr>
      <vt:lpstr>Evolution of Cloud Computing</vt:lpstr>
      <vt:lpstr>ISP Models Evolution</vt:lpstr>
      <vt:lpstr>What is Cloud Computing?</vt:lpstr>
      <vt:lpstr>What is Cloud Computing?</vt:lpstr>
      <vt:lpstr>A Definition </vt:lpstr>
      <vt:lpstr>Defining Characteristics</vt:lpstr>
      <vt:lpstr>Defining Characteristics</vt:lpstr>
      <vt:lpstr>Elasticity</vt:lpstr>
      <vt:lpstr>Cloud Computing Service Models</vt:lpstr>
      <vt:lpstr>Service Models</vt:lpstr>
      <vt:lpstr>SaaS – Software as a service</vt:lpstr>
      <vt:lpstr>PaaS- Platform as a Service</vt:lpstr>
      <vt:lpstr>IaaS-Infra-Structure as a service</vt:lpstr>
      <vt:lpstr>The Big Players in Cloud Computing</vt:lpstr>
      <vt:lpstr>Three Ways of Cloud Compute</vt:lpstr>
      <vt:lpstr>Deployment models</vt:lpstr>
      <vt:lpstr>Private Cloud</vt:lpstr>
      <vt:lpstr>Public Cloud</vt:lpstr>
      <vt:lpstr>Public Cloud</vt:lpstr>
      <vt:lpstr>Hybrid Cloud</vt:lpstr>
      <vt:lpstr>Hybrid Cloud</vt:lpstr>
      <vt:lpstr>Hybrid Cloud</vt:lpstr>
      <vt:lpstr>Why Cloud Computing? </vt:lpstr>
      <vt:lpstr>Why Cloud Computing? </vt:lpstr>
      <vt:lpstr>Why NOT? </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2013-01-08T03:49:13Z</dcterms:created>
  <dcterms:modified xsi:type="dcterms:W3CDTF">2018-05-31T03:56:07Z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TC101671251033</vt:lpwstr>
  </property>
  <property fmtid="{D5CDD505-2E9C-101B-9397-08002B2CF9AE}" pid="3" name="ArticulateGUID">
    <vt:lpwstr>224F409F-DAC5-48B2-89D6-748079A95DB0</vt:lpwstr>
  </property>
  <property fmtid="{D5CDD505-2E9C-101B-9397-08002B2CF9AE}" pid="4" name="ArticulatePath">
    <vt:lpwstr>Week6-Lecture-CloudComputing</vt:lpwstr>
  </property>
</Properties>
</file>