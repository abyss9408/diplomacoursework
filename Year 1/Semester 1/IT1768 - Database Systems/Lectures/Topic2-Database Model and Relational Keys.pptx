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89" r:id="rId3"/>
    <p:sldId id="439" r:id="rId4"/>
    <p:sldId id="429" r:id="rId5"/>
    <p:sldId id="375" r:id="rId6"/>
    <p:sldId id="416" r:id="rId7"/>
    <p:sldId id="414" r:id="rId8"/>
    <p:sldId id="374" r:id="rId9"/>
    <p:sldId id="440" r:id="rId10"/>
    <p:sldId id="428" r:id="rId11"/>
    <p:sldId id="427" r:id="rId12"/>
    <p:sldId id="424" r:id="rId13"/>
    <p:sldId id="373" r:id="rId14"/>
    <p:sldId id="438" r:id="rId15"/>
    <p:sldId id="376" r:id="rId16"/>
    <p:sldId id="436" r:id="rId17"/>
    <p:sldId id="437" r:id="rId18"/>
    <p:sldId id="377" r:id="rId19"/>
    <p:sldId id="448" r:id="rId20"/>
    <p:sldId id="449" r:id="rId21"/>
    <p:sldId id="450" r:id="rId22"/>
    <p:sldId id="451" r:id="rId23"/>
    <p:sldId id="452" r:id="rId24"/>
    <p:sldId id="443" r:id="rId25"/>
    <p:sldId id="447" r:id="rId26"/>
    <p:sldId id="441" r:id="rId27"/>
    <p:sldId id="444" r:id="rId28"/>
    <p:sldId id="445" r:id="rId29"/>
    <p:sldId id="434" r:id="rId30"/>
    <p:sldId id="418" r:id="rId31"/>
    <p:sldId id="430" r:id="rId32"/>
    <p:sldId id="433" r:id="rId33"/>
    <p:sldId id="446" r:id="rId34"/>
    <p:sldId id="432" r:id="rId35"/>
    <p:sldId id="442" r:id="rId36"/>
    <p:sldId id="431" r:id="rId37"/>
    <p:sldId id="392" r:id="rId38"/>
  </p:sldIdLst>
  <p:sldSz cx="9144000" cy="6858000" type="screen4x3"/>
  <p:notesSz cx="9774238" cy="67246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8">
          <p15:clr>
            <a:srgbClr val="A4A3A4"/>
          </p15:clr>
        </p15:guide>
        <p15:guide id="2" pos="30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181CAC"/>
    <a:srgbClr val="FFFFCC"/>
    <a:srgbClr val="000099"/>
    <a:srgbClr val="151897"/>
    <a:srgbClr val="003399"/>
    <a:srgbClr val="000066"/>
    <a:srgbClr val="003366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5" autoAdjust="0"/>
    <p:restoredTop sz="93066" autoAdjust="0"/>
  </p:normalViewPr>
  <p:slideViewPr>
    <p:cSldViewPr>
      <p:cViewPr varScale="1">
        <p:scale>
          <a:sx n="92" d="100"/>
          <a:sy n="92" d="100"/>
        </p:scale>
        <p:origin x="118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792" y="54"/>
      </p:cViewPr>
      <p:guideLst>
        <p:guide orient="horz" pos="2118"/>
        <p:guide pos="307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611B97-9AA4-48C8-9538-A925A8E9562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B4CBCC39-44F3-4ED5-B03C-1556FBB73A94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SG">
              <a:solidFill>
                <a:schemeClr val="tx1"/>
              </a:solidFill>
            </a:rPr>
            <a:t>George Bush</a:t>
          </a:r>
        </a:p>
      </dgm:t>
    </dgm:pt>
    <dgm:pt modelId="{FF46E3F5-C681-4DF0-B19F-0B8DC8DE4C9F}" type="parTrans" cxnId="{43C0AED6-A368-4529-B47D-9F245A9C6717}">
      <dgm:prSet/>
      <dgm:spPr/>
      <dgm:t>
        <a:bodyPr/>
        <a:lstStyle/>
        <a:p>
          <a:endParaRPr lang="en-SG"/>
        </a:p>
      </dgm:t>
    </dgm:pt>
    <dgm:pt modelId="{F7F79CF6-3A3E-457D-86A3-7564935D1714}" type="sibTrans" cxnId="{43C0AED6-A368-4529-B47D-9F245A9C6717}">
      <dgm:prSet/>
      <dgm:spPr/>
      <dgm:t>
        <a:bodyPr/>
        <a:lstStyle/>
        <a:p>
          <a:endParaRPr lang="en-SG"/>
        </a:p>
      </dgm:t>
    </dgm:pt>
    <dgm:pt modelId="{EA3E1DFA-BF7F-4E54-AB38-F6F2BC14D280}" type="asst">
      <dgm:prSet phldrT="[Text]"/>
      <dgm:spPr>
        <a:solidFill>
          <a:srgbClr val="FFC000"/>
        </a:solidFill>
      </dgm:spPr>
      <dgm:t>
        <a:bodyPr/>
        <a:lstStyle/>
        <a:p>
          <a:r>
            <a:rPr lang="en-SG" dirty="0">
              <a:solidFill>
                <a:schemeClr val="tx1"/>
              </a:solidFill>
            </a:rPr>
            <a:t>Mrs Bush</a:t>
          </a:r>
        </a:p>
      </dgm:t>
    </dgm:pt>
    <dgm:pt modelId="{ACF82B2A-77E4-45FF-B614-800B009B39E2}" type="parTrans" cxnId="{5570FA9E-F841-4F87-9557-D1E21E3136DB}">
      <dgm:prSet/>
      <dgm:spPr/>
      <dgm:t>
        <a:bodyPr/>
        <a:lstStyle/>
        <a:p>
          <a:endParaRPr lang="en-SG"/>
        </a:p>
      </dgm:t>
    </dgm:pt>
    <dgm:pt modelId="{495ECC1F-5247-417B-95D6-664A25AE7A91}" type="sibTrans" cxnId="{5570FA9E-F841-4F87-9557-D1E21E3136DB}">
      <dgm:prSet/>
      <dgm:spPr/>
      <dgm:t>
        <a:bodyPr/>
        <a:lstStyle/>
        <a:p>
          <a:endParaRPr lang="en-SG"/>
        </a:p>
      </dgm:t>
    </dgm:pt>
    <dgm:pt modelId="{8F5060A8-6549-4F3E-8CB0-0E90B6BB522A}">
      <dgm:prSet phldrT="[Text]"/>
      <dgm:spPr>
        <a:solidFill>
          <a:srgbClr val="FFFF00"/>
        </a:solidFill>
      </dgm:spPr>
      <dgm:t>
        <a:bodyPr/>
        <a:lstStyle/>
        <a:p>
          <a:r>
            <a:rPr lang="en-SG" dirty="0">
              <a:solidFill>
                <a:schemeClr val="tx1"/>
              </a:solidFill>
            </a:rPr>
            <a:t>Marvin Bush</a:t>
          </a:r>
        </a:p>
      </dgm:t>
    </dgm:pt>
    <dgm:pt modelId="{3F7BA10D-1B8C-42B7-8D2F-4F7CEA3945C1}" type="parTrans" cxnId="{161E2959-07D2-44EF-92F2-F457C358C261}">
      <dgm:prSet/>
      <dgm:spPr>
        <a:ln>
          <a:solidFill>
            <a:schemeClr val="bg1"/>
          </a:solidFill>
        </a:ln>
      </dgm:spPr>
      <dgm:t>
        <a:bodyPr/>
        <a:lstStyle/>
        <a:p>
          <a:endParaRPr lang="en-SG"/>
        </a:p>
      </dgm:t>
    </dgm:pt>
    <dgm:pt modelId="{03EB10B1-A12E-4353-B7F4-42C606EC3C9E}" type="sibTrans" cxnId="{161E2959-07D2-44EF-92F2-F457C358C261}">
      <dgm:prSet/>
      <dgm:spPr/>
      <dgm:t>
        <a:bodyPr/>
        <a:lstStyle/>
        <a:p>
          <a:endParaRPr lang="en-SG"/>
        </a:p>
      </dgm:t>
    </dgm:pt>
    <dgm:pt modelId="{69DB1C43-075A-4CF4-A3EB-1CCBE5C710B9}">
      <dgm:prSet phldrT="[Text]"/>
      <dgm:spPr>
        <a:solidFill>
          <a:srgbClr val="FFFF00"/>
        </a:solidFill>
      </dgm:spPr>
      <dgm:t>
        <a:bodyPr/>
        <a:lstStyle/>
        <a:p>
          <a:r>
            <a:rPr lang="en-SG" dirty="0">
              <a:solidFill>
                <a:schemeClr val="tx1"/>
              </a:solidFill>
            </a:rPr>
            <a:t>Jeb Bush</a:t>
          </a:r>
        </a:p>
      </dgm:t>
    </dgm:pt>
    <dgm:pt modelId="{39D764E0-BD57-4CB0-99DD-AF12764AED21}" type="parTrans" cxnId="{98E7BB46-E607-4E19-B6FC-C68C2BEE7585}">
      <dgm:prSet/>
      <dgm:spPr/>
      <dgm:t>
        <a:bodyPr/>
        <a:lstStyle/>
        <a:p>
          <a:endParaRPr lang="en-SG"/>
        </a:p>
      </dgm:t>
    </dgm:pt>
    <dgm:pt modelId="{29B0EEF5-6888-4B1C-BF61-49986AB325EC}" type="sibTrans" cxnId="{98E7BB46-E607-4E19-B6FC-C68C2BEE7585}">
      <dgm:prSet/>
      <dgm:spPr/>
      <dgm:t>
        <a:bodyPr/>
        <a:lstStyle/>
        <a:p>
          <a:endParaRPr lang="en-SG"/>
        </a:p>
      </dgm:t>
    </dgm:pt>
    <dgm:pt modelId="{EE1A33A1-5BA8-4D4A-A02B-80FA47032723}">
      <dgm:prSet phldrT="[Text]"/>
      <dgm:spPr>
        <a:solidFill>
          <a:srgbClr val="FFFF00"/>
        </a:solidFill>
      </dgm:spPr>
      <dgm:t>
        <a:bodyPr/>
        <a:lstStyle/>
        <a:p>
          <a:r>
            <a:rPr lang="en-SG" dirty="0">
              <a:solidFill>
                <a:schemeClr val="tx1"/>
              </a:solidFill>
            </a:rPr>
            <a:t>Neil Bush</a:t>
          </a:r>
        </a:p>
      </dgm:t>
    </dgm:pt>
    <dgm:pt modelId="{D97B4820-C1C1-4ED0-833D-DD6332A64ECF}" type="parTrans" cxnId="{22613AB3-CA4B-4B57-B05E-D5AEC9C90248}">
      <dgm:prSet/>
      <dgm:spPr>
        <a:ln>
          <a:solidFill>
            <a:schemeClr val="bg1"/>
          </a:solidFill>
        </a:ln>
      </dgm:spPr>
      <dgm:t>
        <a:bodyPr/>
        <a:lstStyle/>
        <a:p>
          <a:endParaRPr lang="en-SG"/>
        </a:p>
      </dgm:t>
    </dgm:pt>
    <dgm:pt modelId="{A14FBDE8-6E50-46A6-A22E-476398C5A5CC}" type="sibTrans" cxnId="{22613AB3-CA4B-4B57-B05E-D5AEC9C90248}">
      <dgm:prSet/>
      <dgm:spPr/>
      <dgm:t>
        <a:bodyPr/>
        <a:lstStyle/>
        <a:p>
          <a:endParaRPr lang="en-SG"/>
        </a:p>
      </dgm:t>
    </dgm:pt>
    <dgm:pt modelId="{3CEBADCD-2F52-4F90-BD64-0E8B4EC7E9D9}" type="pres">
      <dgm:prSet presAssocID="{B8611B97-9AA4-48C8-9538-A925A8E9562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95FAE5C-53F5-4253-898D-D9372F4AAF2C}" type="pres">
      <dgm:prSet presAssocID="{B4CBCC39-44F3-4ED5-B03C-1556FBB73A94}" presName="hierRoot1" presStyleCnt="0">
        <dgm:presLayoutVars>
          <dgm:hierBranch val="init"/>
        </dgm:presLayoutVars>
      </dgm:prSet>
      <dgm:spPr/>
    </dgm:pt>
    <dgm:pt modelId="{A21FB239-9D7F-4A42-963A-4FF3C90AADAA}" type="pres">
      <dgm:prSet presAssocID="{B4CBCC39-44F3-4ED5-B03C-1556FBB73A94}" presName="rootComposite1" presStyleCnt="0"/>
      <dgm:spPr/>
    </dgm:pt>
    <dgm:pt modelId="{CEA79D89-7E63-472A-9AD9-260B9D70D397}" type="pres">
      <dgm:prSet presAssocID="{B4CBCC39-44F3-4ED5-B03C-1556FBB73A94}" presName="rootText1" presStyleLbl="node0" presStyleIdx="0" presStyleCnt="1">
        <dgm:presLayoutVars>
          <dgm:chPref val="3"/>
        </dgm:presLayoutVars>
      </dgm:prSet>
      <dgm:spPr/>
    </dgm:pt>
    <dgm:pt modelId="{F33FF2B9-F439-4D97-A04F-3FA69646A467}" type="pres">
      <dgm:prSet presAssocID="{B4CBCC39-44F3-4ED5-B03C-1556FBB73A94}" presName="rootConnector1" presStyleLbl="node1" presStyleIdx="0" presStyleCnt="0"/>
      <dgm:spPr/>
    </dgm:pt>
    <dgm:pt modelId="{6213D309-64E0-4C6D-A1FB-2C8632054E5A}" type="pres">
      <dgm:prSet presAssocID="{B4CBCC39-44F3-4ED5-B03C-1556FBB73A94}" presName="hierChild2" presStyleCnt="0"/>
      <dgm:spPr/>
    </dgm:pt>
    <dgm:pt modelId="{2AD7E90E-09A6-4276-AF58-5CE2A1A6D6B2}" type="pres">
      <dgm:prSet presAssocID="{3F7BA10D-1B8C-42B7-8D2F-4F7CEA3945C1}" presName="Name37" presStyleLbl="parChTrans1D2" presStyleIdx="0" presStyleCnt="4"/>
      <dgm:spPr/>
    </dgm:pt>
    <dgm:pt modelId="{4E6CD221-CD6A-4B8B-A0C5-A572BA96DB91}" type="pres">
      <dgm:prSet presAssocID="{8F5060A8-6549-4F3E-8CB0-0E90B6BB522A}" presName="hierRoot2" presStyleCnt="0">
        <dgm:presLayoutVars>
          <dgm:hierBranch val="init"/>
        </dgm:presLayoutVars>
      </dgm:prSet>
      <dgm:spPr/>
    </dgm:pt>
    <dgm:pt modelId="{A2CC1100-B1C2-4522-8EA0-F3FC178B9FAC}" type="pres">
      <dgm:prSet presAssocID="{8F5060A8-6549-4F3E-8CB0-0E90B6BB522A}" presName="rootComposite" presStyleCnt="0"/>
      <dgm:spPr/>
    </dgm:pt>
    <dgm:pt modelId="{0EFC66A0-5314-456C-9A69-91870D0C14DA}" type="pres">
      <dgm:prSet presAssocID="{8F5060A8-6549-4F3E-8CB0-0E90B6BB522A}" presName="rootText" presStyleLbl="node2" presStyleIdx="0" presStyleCnt="3">
        <dgm:presLayoutVars>
          <dgm:chPref val="3"/>
        </dgm:presLayoutVars>
      </dgm:prSet>
      <dgm:spPr/>
    </dgm:pt>
    <dgm:pt modelId="{376C6FB0-DECD-4E0E-9BDB-17FA5DC5D402}" type="pres">
      <dgm:prSet presAssocID="{8F5060A8-6549-4F3E-8CB0-0E90B6BB522A}" presName="rootConnector" presStyleLbl="node2" presStyleIdx="0" presStyleCnt="3"/>
      <dgm:spPr/>
    </dgm:pt>
    <dgm:pt modelId="{EF380CFC-0298-4257-9D90-EF9AE5A91C19}" type="pres">
      <dgm:prSet presAssocID="{8F5060A8-6549-4F3E-8CB0-0E90B6BB522A}" presName="hierChild4" presStyleCnt="0"/>
      <dgm:spPr/>
    </dgm:pt>
    <dgm:pt modelId="{D90F7FDD-74F6-4357-B8E0-E431E5B94276}" type="pres">
      <dgm:prSet presAssocID="{8F5060A8-6549-4F3E-8CB0-0E90B6BB522A}" presName="hierChild5" presStyleCnt="0"/>
      <dgm:spPr/>
    </dgm:pt>
    <dgm:pt modelId="{9EFEC895-3E88-4C7C-9C20-F20181C5FF5A}" type="pres">
      <dgm:prSet presAssocID="{39D764E0-BD57-4CB0-99DD-AF12764AED21}" presName="Name37" presStyleLbl="parChTrans1D2" presStyleIdx="1" presStyleCnt="4"/>
      <dgm:spPr/>
    </dgm:pt>
    <dgm:pt modelId="{DACD8013-23D0-4815-8792-28511618452E}" type="pres">
      <dgm:prSet presAssocID="{69DB1C43-075A-4CF4-A3EB-1CCBE5C710B9}" presName="hierRoot2" presStyleCnt="0">
        <dgm:presLayoutVars>
          <dgm:hierBranch val="init"/>
        </dgm:presLayoutVars>
      </dgm:prSet>
      <dgm:spPr/>
    </dgm:pt>
    <dgm:pt modelId="{D06FF21E-5DF1-41BC-A754-E7B4079E3A7B}" type="pres">
      <dgm:prSet presAssocID="{69DB1C43-075A-4CF4-A3EB-1CCBE5C710B9}" presName="rootComposite" presStyleCnt="0"/>
      <dgm:spPr/>
    </dgm:pt>
    <dgm:pt modelId="{B7064A07-77F8-4FF0-A000-D40277467E3E}" type="pres">
      <dgm:prSet presAssocID="{69DB1C43-075A-4CF4-A3EB-1CCBE5C710B9}" presName="rootText" presStyleLbl="node2" presStyleIdx="1" presStyleCnt="3">
        <dgm:presLayoutVars>
          <dgm:chPref val="3"/>
        </dgm:presLayoutVars>
      </dgm:prSet>
      <dgm:spPr/>
    </dgm:pt>
    <dgm:pt modelId="{6074C24A-C551-4F10-A3AA-F97AC9369850}" type="pres">
      <dgm:prSet presAssocID="{69DB1C43-075A-4CF4-A3EB-1CCBE5C710B9}" presName="rootConnector" presStyleLbl="node2" presStyleIdx="1" presStyleCnt="3"/>
      <dgm:spPr/>
    </dgm:pt>
    <dgm:pt modelId="{C4AA383D-3B67-4D2E-9105-0BCC663FBB84}" type="pres">
      <dgm:prSet presAssocID="{69DB1C43-075A-4CF4-A3EB-1CCBE5C710B9}" presName="hierChild4" presStyleCnt="0"/>
      <dgm:spPr/>
    </dgm:pt>
    <dgm:pt modelId="{1D2791AB-66F4-4A6E-B4AE-136A296340D3}" type="pres">
      <dgm:prSet presAssocID="{69DB1C43-075A-4CF4-A3EB-1CCBE5C710B9}" presName="hierChild5" presStyleCnt="0"/>
      <dgm:spPr/>
    </dgm:pt>
    <dgm:pt modelId="{AEFA2759-71A0-4B04-ADE0-42F158598A5A}" type="pres">
      <dgm:prSet presAssocID="{D97B4820-C1C1-4ED0-833D-DD6332A64ECF}" presName="Name37" presStyleLbl="parChTrans1D2" presStyleIdx="2" presStyleCnt="4"/>
      <dgm:spPr/>
    </dgm:pt>
    <dgm:pt modelId="{D3981B33-7822-49B0-954B-AEE69A98D6F9}" type="pres">
      <dgm:prSet presAssocID="{EE1A33A1-5BA8-4D4A-A02B-80FA47032723}" presName="hierRoot2" presStyleCnt="0">
        <dgm:presLayoutVars>
          <dgm:hierBranch val="init"/>
        </dgm:presLayoutVars>
      </dgm:prSet>
      <dgm:spPr/>
    </dgm:pt>
    <dgm:pt modelId="{9AB09151-F49C-4B7D-BA75-091D798BD2F2}" type="pres">
      <dgm:prSet presAssocID="{EE1A33A1-5BA8-4D4A-A02B-80FA47032723}" presName="rootComposite" presStyleCnt="0"/>
      <dgm:spPr/>
    </dgm:pt>
    <dgm:pt modelId="{0C6771E0-682C-4634-978E-D0AFB6DC8211}" type="pres">
      <dgm:prSet presAssocID="{EE1A33A1-5BA8-4D4A-A02B-80FA47032723}" presName="rootText" presStyleLbl="node2" presStyleIdx="2" presStyleCnt="3">
        <dgm:presLayoutVars>
          <dgm:chPref val="3"/>
        </dgm:presLayoutVars>
      </dgm:prSet>
      <dgm:spPr/>
    </dgm:pt>
    <dgm:pt modelId="{746E6554-9CBB-4ABA-99A8-B35265562ACC}" type="pres">
      <dgm:prSet presAssocID="{EE1A33A1-5BA8-4D4A-A02B-80FA47032723}" presName="rootConnector" presStyleLbl="node2" presStyleIdx="2" presStyleCnt="3"/>
      <dgm:spPr/>
    </dgm:pt>
    <dgm:pt modelId="{136F42E3-A0FD-4C9B-B3C1-5048928676D6}" type="pres">
      <dgm:prSet presAssocID="{EE1A33A1-5BA8-4D4A-A02B-80FA47032723}" presName="hierChild4" presStyleCnt="0"/>
      <dgm:spPr/>
    </dgm:pt>
    <dgm:pt modelId="{200BB3F4-ED7F-452A-8584-41C317AB3E7F}" type="pres">
      <dgm:prSet presAssocID="{EE1A33A1-5BA8-4D4A-A02B-80FA47032723}" presName="hierChild5" presStyleCnt="0"/>
      <dgm:spPr/>
    </dgm:pt>
    <dgm:pt modelId="{CFC89CD2-6F86-48C9-9B7D-6ED3050D2AB4}" type="pres">
      <dgm:prSet presAssocID="{B4CBCC39-44F3-4ED5-B03C-1556FBB73A94}" presName="hierChild3" presStyleCnt="0"/>
      <dgm:spPr/>
    </dgm:pt>
    <dgm:pt modelId="{3567C653-97D4-4383-A07D-DE03E4DC0402}" type="pres">
      <dgm:prSet presAssocID="{ACF82B2A-77E4-45FF-B614-800B009B39E2}" presName="Name111" presStyleLbl="parChTrans1D2" presStyleIdx="3" presStyleCnt="4"/>
      <dgm:spPr/>
    </dgm:pt>
    <dgm:pt modelId="{FBA210AC-EE5F-49CB-9D34-7483B6D0F6A8}" type="pres">
      <dgm:prSet presAssocID="{EA3E1DFA-BF7F-4E54-AB38-F6F2BC14D280}" presName="hierRoot3" presStyleCnt="0">
        <dgm:presLayoutVars>
          <dgm:hierBranch val="init"/>
        </dgm:presLayoutVars>
      </dgm:prSet>
      <dgm:spPr/>
    </dgm:pt>
    <dgm:pt modelId="{AA352FDA-9352-4F57-820D-1D4DFF8B2C39}" type="pres">
      <dgm:prSet presAssocID="{EA3E1DFA-BF7F-4E54-AB38-F6F2BC14D280}" presName="rootComposite3" presStyleCnt="0"/>
      <dgm:spPr/>
    </dgm:pt>
    <dgm:pt modelId="{1B09435E-BCF9-411F-A943-A7FF4CC6DED9}" type="pres">
      <dgm:prSet presAssocID="{EA3E1DFA-BF7F-4E54-AB38-F6F2BC14D280}" presName="rootText3" presStyleLbl="asst1" presStyleIdx="0" presStyleCnt="1">
        <dgm:presLayoutVars>
          <dgm:chPref val="3"/>
        </dgm:presLayoutVars>
      </dgm:prSet>
      <dgm:spPr/>
    </dgm:pt>
    <dgm:pt modelId="{376B8D71-8C50-4963-87F6-6AEA84C9C4C3}" type="pres">
      <dgm:prSet presAssocID="{EA3E1DFA-BF7F-4E54-AB38-F6F2BC14D280}" presName="rootConnector3" presStyleLbl="asst1" presStyleIdx="0" presStyleCnt="1"/>
      <dgm:spPr/>
    </dgm:pt>
    <dgm:pt modelId="{21F0DAFA-1B88-4BB5-8C96-8F645EDC02C8}" type="pres">
      <dgm:prSet presAssocID="{EA3E1DFA-BF7F-4E54-AB38-F6F2BC14D280}" presName="hierChild6" presStyleCnt="0"/>
      <dgm:spPr/>
    </dgm:pt>
    <dgm:pt modelId="{59E8E024-87FB-4327-9501-C996A21474EB}" type="pres">
      <dgm:prSet presAssocID="{EA3E1DFA-BF7F-4E54-AB38-F6F2BC14D280}" presName="hierChild7" presStyleCnt="0"/>
      <dgm:spPr/>
    </dgm:pt>
  </dgm:ptLst>
  <dgm:cxnLst>
    <dgm:cxn modelId="{2C79A503-64DF-4EF8-8781-F91EB2DCB998}" type="presOf" srcId="{EE1A33A1-5BA8-4D4A-A02B-80FA47032723}" destId="{746E6554-9CBB-4ABA-99A8-B35265562ACC}" srcOrd="1" destOrd="0" presId="urn:microsoft.com/office/officeart/2005/8/layout/orgChart1"/>
    <dgm:cxn modelId="{BDB3445B-7994-439E-AE61-99BC3FD2703A}" type="presOf" srcId="{EA3E1DFA-BF7F-4E54-AB38-F6F2BC14D280}" destId="{376B8D71-8C50-4963-87F6-6AEA84C9C4C3}" srcOrd="1" destOrd="0" presId="urn:microsoft.com/office/officeart/2005/8/layout/orgChart1"/>
    <dgm:cxn modelId="{98E7BB46-E607-4E19-B6FC-C68C2BEE7585}" srcId="{B4CBCC39-44F3-4ED5-B03C-1556FBB73A94}" destId="{69DB1C43-075A-4CF4-A3EB-1CCBE5C710B9}" srcOrd="2" destOrd="0" parTransId="{39D764E0-BD57-4CB0-99DD-AF12764AED21}" sibTransId="{29B0EEF5-6888-4B1C-BF61-49986AB325EC}"/>
    <dgm:cxn modelId="{97728E4A-7EF2-4FBC-9907-01FEE293A8E3}" type="presOf" srcId="{69DB1C43-075A-4CF4-A3EB-1CCBE5C710B9}" destId="{6074C24A-C551-4F10-A3AA-F97AC9369850}" srcOrd="1" destOrd="0" presId="urn:microsoft.com/office/officeart/2005/8/layout/orgChart1"/>
    <dgm:cxn modelId="{36620E4E-A0A3-4A42-83EC-36E1033C9BA4}" type="presOf" srcId="{3F7BA10D-1B8C-42B7-8D2F-4F7CEA3945C1}" destId="{2AD7E90E-09A6-4276-AF58-5CE2A1A6D6B2}" srcOrd="0" destOrd="0" presId="urn:microsoft.com/office/officeart/2005/8/layout/orgChart1"/>
    <dgm:cxn modelId="{28DA2870-4B04-4543-8D87-DFD56BB59108}" type="presOf" srcId="{EE1A33A1-5BA8-4D4A-A02B-80FA47032723}" destId="{0C6771E0-682C-4634-978E-D0AFB6DC8211}" srcOrd="0" destOrd="0" presId="urn:microsoft.com/office/officeart/2005/8/layout/orgChart1"/>
    <dgm:cxn modelId="{5D457D50-9E56-4C6B-95B7-D3796EC1B24F}" type="presOf" srcId="{B4CBCC39-44F3-4ED5-B03C-1556FBB73A94}" destId="{CEA79D89-7E63-472A-9AD9-260B9D70D397}" srcOrd="0" destOrd="0" presId="urn:microsoft.com/office/officeart/2005/8/layout/orgChart1"/>
    <dgm:cxn modelId="{A3C08155-F3A2-4502-A8D4-E7BC85E08AAC}" type="presOf" srcId="{8F5060A8-6549-4F3E-8CB0-0E90B6BB522A}" destId="{0EFC66A0-5314-456C-9A69-91870D0C14DA}" srcOrd="0" destOrd="0" presId="urn:microsoft.com/office/officeart/2005/8/layout/orgChart1"/>
    <dgm:cxn modelId="{161E2959-07D2-44EF-92F2-F457C358C261}" srcId="{B4CBCC39-44F3-4ED5-B03C-1556FBB73A94}" destId="{8F5060A8-6549-4F3E-8CB0-0E90B6BB522A}" srcOrd="1" destOrd="0" parTransId="{3F7BA10D-1B8C-42B7-8D2F-4F7CEA3945C1}" sibTransId="{03EB10B1-A12E-4353-B7F4-42C606EC3C9E}"/>
    <dgm:cxn modelId="{267ED281-3586-4D2F-9432-64F1C5279412}" type="presOf" srcId="{B8611B97-9AA4-48C8-9538-A925A8E95620}" destId="{3CEBADCD-2F52-4F90-BD64-0E8B4EC7E9D9}" srcOrd="0" destOrd="0" presId="urn:microsoft.com/office/officeart/2005/8/layout/orgChart1"/>
    <dgm:cxn modelId="{EDC6428F-30B1-44AD-BD59-90E74F58C67B}" type="presOf" srcId="{ACF82B2A-77E4-45FF-B614-800B009B39E2}" destId="{3567C653-97D4-4383-A07D-DE03E4DC0402}" srcOrd="0" destOrd="0" presId="urn:microsoft.com/office/officeart/2005/8/layout/orgChart1"/>
    <dgm:cxn modelId="{C99B4196-41A9-447D-935C-775D1C95C864}" type="presOf" srcId="{8F5060A8-6549-4F3E-8CB0-0E90B6BB522A}" destId="{376C6FB0-DECD-4E0E-9BDB-17FA5DC5D402}" srcOrd="1" destOrd="0" presId="urn:microsoft.com/office/officeart/2005/8/layout/orgChart1"/>
    <dgm:cxn modelId="{5570FA9E-F841-4F87-9557-D1E21E3136DB}" srcId="{B4CBCC39-44F3-4ED5-B03C-1556FBB73A94}" destId="{EA3E1DFA-BF7F-4E54-AB38-F6F2BC14D280}" srcOrd="0" destOrd="0" parTransId="{ACF82B2A-77E4-45FF-B614-800B009B39E2}" sibTransId="{495ECC1F-5247-417B-95D6-664A25AE7A91}"/>
    <dgm:cxn modelId="{22613AB3-CA4B-4B57-B05E-D5AEC9C90248}" srcId="{B4CBCC39-44F3-4ED5-B03C-1556FBB73A94}" destId="{EE1A33A1-5BA8-4D4A-A02B-80FA47032723}" srcOrd="3" destOrd="0" parTransId="{D97B4820-C1C1-4ED0-833D-DD6332A64ECF}" sibTransId="{A14FBDE8-6E50-46A6-A22E-476398C5A5CC}"/>
    <dgm:cxn modelId="{2A5EA8B4-540F-4FD5-A065-C9B3022549E1}" type="presOf" srcId="{B4CBCC39-44F3-4ED5-B03C-1556FBB73A94}" destId="{F33FF2B9-F439-4D97-A04F-3FA69646A467}" srcOrd="1" destOrd="0" presId="urn:microsoft.com/office/officeart/2005/8/layout/orgChart1"/>
    <dgm:cxn modelId="{1187C5CC-DE28-4C3F-8E66-07C21876F19F}" type="presOf" srcId="{39D764E0-BD57-4CB0-99DD-AF12764AED21}" destId="{9EFEC895-3E88-4C7C-9C20-F20181C5FF5A}" srcOrd="0" destOrd="0" presId="urn:microsoft.com/office/officeart/2005/8/layout/orgChart1"/>
    <dgm:cxn modelId="{43C0AED6-A368-4529-B47D-9F245A9C6717}" srcId="{B8611B97-9AA4-48C8-9538-A925A8E95620}" destId="{B4CBCC39-44F3-4ED5-B03C-1556FBB73A94}" srcOrd="0" destOrd="0" parTransId="{FF46E3F5-C681-4DF0-B19F-0B8DC8DE4C9F}" sibTransId="{F7F79CF6-3A3E-457D-86A3-7564935D1714}"/>
    <dgm:cxn modelId="{E76B58E2-FAF3-4B50-B23C-1EDED80F6CAE}" type="presOf" srcId="{EA3E1DFA-BF7F-4E54-AB38-F6F2BC14D280}" destId="{1B09435E-BCF9-411F-A943-A7FF4CC6DED9}" srcOrd="0" destOrd="0" presId="urn:microsoft.com/office/officeart/2005/8/layout/orgChart1"/>
    <dgm:cxn modelId="{67D46AE6-F7B6-48F3-9209-BCF84353C924}" type="presOf" srcId="{D97B4820-C1C1-4ED0-833D-DD6332A64ECF}" destId="{AEFA2759-71A0-4B04-ADE0-42F158598A5A}" srcOrd="0" destOrd="0" presId="urn:microsoft.com/office/officeart/2005/8/layout/orgChart1"/>
    <dgm:cxn modelId="{AA0F1EF7-941B-47C2-AA8A-769D2766EF64}" type="presOf" srcId="{69DB1C43-075A-4CF4-A3EB-1CCBE5C710B9}" destId="{B7064A07-77F8-4FF0-A000-D40277467E3E}" srcOrd="0" destOrd="0" presId="urn:microsoft.com/office/officeart/2005/8/layout/orgChart1"/>
    <dgm:cxn modelId="{0E604BFC-28D5-432C-B80A-795092487980}" type="presParOf" srcId="{3CEBADCD-2F52-4F90-BD64-0E8B4EC7E9D9}" destId="{895FAE5C-53F5-4253-898D-D9372F4AAF2C}" srcOrd="0" destOrd="0" presId="urn:microsoft.com/office/officeart/2005/8/layout/orgChart1"/>
    <dgm:cxn modelId="{92CB99B0-09F2-432F-BF96-756F9DCF8EC8}" type="presParOf" srcId="{895FAE5C-53F5-4253-898D-D9372F4AAF2C}" destId="{A21FB239-9D7F-4A42-963A-4FF3C90AADAA}" srcOrd="0" destOrd="0" presId="urn:microsoft.com/office/officeart/2005/8/layout/orgChart1"/>
    <dgm:cxn modelId="{F982D80C-4926-4C63-AD57-49B626866B76}" type="presParOf" srcId="{A21FB239-9D7F-4A42-963A-4FF3C90AADAA}" destId="{CEA79D89-7E63-472A-9AD9-260B9D70D397}" srcOrd="0" destOrd="0" presId="urn:microsoft.com/office/officeart/2005/8/layout/orgChart1"/>
    <dgm:cxn modelId="{E0E6DA06-FBF4-4740-86D2-51C108570C48}" type="presParOf" srcId="{A21FB239-9D7F-4A42-963A-4FF3C90AADAA}" destId="{F33FF2B9-F439-4D97-A04F-3FA69646A467}" srcOrd="1" destOrd="0" presId="urn:microsoft.com/office/officeart/2005/8/layout/orgChart1"/>
    <dgm:cxn modelId="{09A09229-1D05-4B49-B113-99AA106C7718}" type="presParOf" srcId="{895FAE5C-53F5-4253-898D-D9372F4AAF2C}" destId="{6213D309-64E0-4C6D-A1FB-2C8632054E5A}" srcOrd="1" destOrd="0" presId="urn:microsoft.com/office/officeart/2005/8/layout/orgChart1"/>
    <dgm:cxn modelId="{D09982E4-C5B5-437A-9F58-677D1F5C4983}" type="presParOf" srcId="{6213D309-64E0-4C6D-A1FB-2C8632054E5A}" destId="{2AD7E90E-09A6-4276-AF58-5CE2A1A6D6B2}" srcOrd="0" destOrd="0" presId="urn:microsoft.com/office/officeart/2005/8/layout/orgChart1"/>
    <dgm:cxn modelId="{B0E97C35-5F48-4BEB-AF3B-E3B2FF1C50BA}" type="presParOf" srcId="{6213D309-64E0-4C6D-A1FB-2C8632054E5A}" destId="{4E6CD221-CD6A-4B8B-A0C5-A572BA96DB91}" srcOrd="1" destOrd="0" presId="urn:microsoft.com/office/officeart/2005/8/layout/orgChart1"/>
    <dgm:cxn modelId="{82B3B019-78E0-4A8F-B325-522575C07091}" type="presParOf" srcId="{4E6CD221-CD6A-4B8B-A0C5-A572BA96DB91}" destId="{A2CC1100-B1C2-4522-8EA0-F3FC178B9FAC}" srcOrd="0" destOrd="0" presId="urn:microsoft.com/office/officeart/2005/8/layout/orgChart1"/>
    <dgm:cxn modelId="{D48A05EF-8FD6-4827-A316-98F459047281}" type="presParOf" srcId="{A2CC1100-B1C2-4522-8EA0-F3FC178B9FAC}" destId="{0EFC66A0-5314-456C-9A69-91870D0C14DA}" srcOrd="0" destOrd="0" presId="urn:microsoft.com/office/officeart/2005/8/layout/orgChart1"/>
    <dgm:cxn modelId="{E41FABD3-A99D-404B-A4C6-74795FEEB091}" type="presParOf" srcId="{A2CC1100-B1C2-4522-8EA0-F3FC178B9FAC}" destId="{376C6FB0-DECD-4E0E-9BDB-17FA5DC5D402}" srcOrd="1" destOrd="0" presId="urn:microsoft.com/office/officeart/2005/8/layout/orgChart1"/>
    <dgm:cxn modelId="{7EF9929D-41D0-4E9B-8705-09F72265D55C}" type="presParOf" srcId="{4E6CD221-CD6A-4B8B-A0C5-A572BA96DB91}" destId="{EF380CFC-0298-4257-9D90-EF9AE5A91C19}" srcOrd="1" destOrd="0" presId="urn:microsoft.com/office/officeart/2005/8/layout/orgChart1"/>
    <dgm:cxn modelId="{9D8AC895-50FC-4512-B8F1-52B18E7136AF}" type="presParOf" srcId="{4E6CD221-CD6A-4B8B-A0C5-A572BA96DB91}" destId="{D90F7FDD-74F6-4357-B8E0-E431E5B94276}" srcOrd="2" destOrd="0" presId="urn:microsoft.com/office/officeart/2005/8/layout/orgChart1"/>
    <dgm:cxn modelId="{C6EBC763-C1FC-47C2-B125-CA8B519C7BD4}" type="presParOf" srcId="{6213D309-64E0-4C6D-A1FB-2C8632054E5A}" destId="{9EFEC895-3E88-4C7C-9C20-F20181C5FF5A}" srcOrd="2" destOrd="0" presId="urn:microsoft.com/office/officeart/2005/8/layout/orgChart1"/>
    <dgm:cxn modelId="{138A2A1B-B621-4708-A215-DD5D72AA8FA2}" type="presParOf" srcId="{6213D309-64E0-4C6D-A1FB-2C8632054E5A}" destId="{DACD8013-23D0-4815-8792-28511618452E}" srcOrd="3" destOrd="0" presId="urn:microsoft.com/office/officeart/2005/8/layout/orgChart1"/>
    <dgm:cxn modelId="{3C39B338-9F23-4164-B74F-6E76C300DFE6}" type="presParOf" srcId="{DACD8013-23D0-4815-8792-28511618452E}" destId="{D06FF21E-5DF1-41BC-A754-E7B4079E3A7B}" srcOrd="0" destOrd="0" presId="urn:microsoft.com/office/officeart/2005/8/layout/orgChart1"/>
    <dgm:cxn modelId="{082F402D-DE3E-4960-939F-AF71403C861A}" type="presParOf" srcId="{D06FF21E-5DF1-41BC-A754-E7B4079E3A7B}" destId="{B7064A07-77F8-4FF0-A000-D40277467E3E}" srcOrd="0" destOrd="0" presId="urn:microsoft.com/office/officeart/2005/8/layout/orgChart1"/>
    <dgm:cxn modelId="{BAA11483-3195-4135-8E71-7023DE857013}" type="presParOf" srcId="{D06FF21E-5DF1-41BC-A754-E7B4079E3A7B}" destId="{6074C24A-C551-4F10-A3AA-F97AC9369850}" srcOrd="1" destOrd="0" presId="urn:microsoft.com/office/officeart/2005/8/layout/orgChart1"/>
    <dgm:cxn modelId="{FF60D292-FD17-4004-86EE-061E0D7723DE}" type="presParOf" srcId="{DACD8013-23D0-4815-8792-28511618452E}" destId="{C4AA383D-3B67-4D2E-9105-0BCC663FBB84}" srcOrd="1" destOrd="0" presId="urn:microsoft.com/office/officeart/2005/8/layout/orgChart1"/>
    <dgm:cxn modelId="{8FE10F43-767A-4FAA-9E93-9D6A81FB8FAC}" type="presParOf" srcId="{DACD8013-23D0-4815-8792-28511618452E}" destId="{1D2791AB-66F4-4A6E-B4AE-136A296340D3}" srcOrd="2" destOrd="0" presId="urn:microsoft.com/office/officeart/2005/8/layout/orgChart1"/>
    <dgm:cxn modelId="{678C6AC4-3F8D-4ABD-9C70-488BCB20B909}" type="presParOf" srcId="{6213D309-64E0-4C6D-A1FB-2C8632054E5A}" destId="{AEFA2759-71A0-4B04-ADE0-42F158598A5A}" srcOrd="4" destOrd="0" presId="urn:microsoft.com/office/officeart/2005/8/layout/orgChart1"/>
    <dgm:cxn modelId="{3191B380-720F-48EB-8526-6FF9C152CA5B}" type="presParOf" srcId="{6213D309-64E0-4C6D-A1FB-2C8632054E5A}" destId="{D3981B33-7822-49B0-954B-AEE69A98D6F9}" srcOrd="5" destOrd="0" presId="urn:microsoft.com/office/officeart/2005/8/layout/orgChart1"/>
    <dgm:cxn modelId="{4BDE8581-367E-4580-9213-EBC755D7DE3A}" type="presParOf" srcId="{D3981B33-7822-49B0-954B-AEE69A98D6F9}" destId="{9AB09151-F49C-4B7D-BA75-091D798BD2F2}" srcOrd="0" destOrd="0" presId="urn:microsoft.com/office/officeart/2005/8/layout/orgChart1"/>
    <dgm:cxn modelId="{471FF7C0-592B-40E7-B6C0-4EEB5422055E}" type="presParOf" srcId="{9AB09151-F49C-4B7D-BA75-091D798BD2F2}" destId="{0C6771E0-682C-4634-978E-D0AFB6DC8211}" srcOrd="0" destOrd="0" presId="urn:microsoft.com/office/officeart/2005/8/layout/orgChart1"/>
    <dgm:cxn modelId="{1637A644-5AFB-4F58-A7A9-B009958A8438}" type="presParOf" srcId="{9AB09151-F49C-4B7D-BA75-091D798BD2F2}" destId="{746E6554-9CBB-4ABA-99A8-B35265562ACC}" srcOrd="1" destOrd="0" presId="urn:microsoft.com/office/officeart/2005/8/layout/orgChart1"/>
    <dgm:cxn modelId="{C638F6A4-2217-4678-AC53-60141F852CAD}" type="presParOf" srcId="{D3981B33-7822-49B0-954B-AEE69A98D6F9}" destId="{136F42E3-A0FD-4C9B-B3C1-5048928676D6}" srcOrd="1" destOrd="0" presId="urn:microsoft.com/office/officeart/2005/8/layout/orgChart1"/>
    <dgm:cxn modelId="{70BDC16C-3E41-44C8-869A-8974FC460983}" type="presParOf" srcId="{D3981B33-7822-49B0-954B-AEE69A98D6F9}" destId="{200BB3F4-ED7F-452A-8584-41C317AB3E7F}" srcOrd="2" destOrd="0" presId="urn:microsoft.com/office/officeart/2005/8/layout/orgChart1"/>
    <dgm:cxn modelId="{15ABA3EC-5EB6-44C3-B197-AE59BC82DF0C}" type="presParOf" srcId="{895FAE5C-53F5-4253-898D-D9372F4AAF2C}" destId="{CFC89CD2-6F86-48C9-9B7D-6ED3050D2AB4}" srcOrd="2" destOrd="0" presId="urn:microsoft.com/office/officeart/2005/8/layout/orgChart1"/>
    <dgm:cxn modelId="{5EF57645-43D5-462A-92DA-9ED0030633F4}" type="presParOf" srcId="{CFC89CD2-6F86-48C9-9B7D-6ED3050D2AB4}" destId="{3567C653-97D4-4383-A07D-DE03E4DC0402}" srcOrd="0" destOrd="0" presId="urn:microsoft.com/office/officeart/2005/8/layout/orgChart1"/>
    <dgm:cxn modelId="{A55BF9A8-7406-4681-BF29-100E2D4111FC}" type="presParOf" srcId="{CFC89CD2-6F86-48C9-9B7D-6ED3050D2AB4}" destId="{FBA210AC-EE5F-49CB-9D34-7483B6D0F6A8}" srcOrd="1" destOrd="0" presId="urn:microsoft.com/office/officeart/2005/8/layout/orgChart1"/>
    <dgm:cxn modelId="{48A692E4-FAD2-4AA3-9A53-DCCD3603C848}" type="presParOf" srcId="{FBA210AC-EE5F-49CB-9D34-7483B6D0F6A8}" destId="{AA352FDA-9352-4F57-820D-1D4DFF8B2C39}" srcOrd="0" destOrd="0" presId="urn:microsoft.com/office/officeart/2005/8/layout/orgChart1"/>
    <dgm:cxn modelId="{D13D14E3-502E-4C0D-8FC0-E796B928032E}" type="presParOf" srcId="{AA352FDA-9352-4F57-820D-1D4DFF8B2C39}" destId="{1B09435E-BCF9-411F-A943-A7FF4CC6DED9}" srcOrd="0" destOrd="0" presId="urn:microsoft.com/office/officeart/2005/8/layout/orgChart1"/>
    <dgm:cxn modelId="{32355855-BB64-448E-98D1-4E2A7CD247FA}" type="presParOf" srcId="{AA352FDA-9352-4F57-820D-1D4DFF8B2C39}" destId="{376B8D71-8C50-4963-87F6-6AEA84C9C4C3}" srcOrd="1" destOrd="0" presId="urn:microsoft.com/office/officeart/2005/8/layout/orgChart1"/>
    <dgm:cxn modelId="{BA7990A8-F7FA-4511-ABB2-E881238B4552}" type="presParOf" srcId="{FBA210AC-EE5F-49CB-9D34-7483B6D0F6A8}" destId="{21F0DAFA-1B88-4BB5-8C96-8F645EDC02C8}" srcOrd="1" destOrd="0" presId="urn:microsoft.com/office/officeart/2005/8/layout/orgChart1"/>
    <dgm:cxn modelId="{D43BF7C2-D803-461A-9713-240E23740B9F}" type="presParOf" srcId="{FBA210AC-EE5F-49CB-9D34-7483B6D0F6A8}" destId="{59E8E024-87FB-4327-9501-C996A21474E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7C653-97D4-4383-A07D-DE03E4DC0402}">
      <dsp:nvSpPr>
        <dsp:cNvPr id="0" name=""/>
        <dsp:cNvSpPr/>
      </dsp:nvSpPr>
      <dsp:spPr>
        <a:xfrm>
          <a:off x="1554478" y="855647"/>
          <a:ext cx="101680" cy="445456"/>
        </a:xfrm>
        <a:custGeom>
          <a:avLst/>
          <a:gdLst/>
          <a:ahLst/>
          <a:cxnLst/>
          <a:rect l="0" t="0" r="0" b="0"/>
          <a:pathLst>
            <a:path>
              <a:moveTo>
                <a:pt x="101680" y="0"/>
              </a:moveTo>
              <a:lnTo>
                <a:pt x="101680" y="445456"/>
              </a:lnTo>
              <a:lnTo>
                <a:pt x="0" y="44545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A2759-71A0-4B04-ADE0-42F158598A5A}">
      <dsp:nvSpPr>
        <dsp:cNvPr id="0" name=""/>
        <dsp:cNvSpPr/>
      </dsp:nvSpPr>
      <dsp:spPr>
        <a:xfrm>
          <a:off x="1656158" y="855647"/>
          <a:ext cx="1171744" cy="890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9232"/>
              </a:lnTo>
              <a:lnTo>
                <a:pt x="1171744" y="789232"/>
              </a:lnTo>
              <a:lnTo>
                <a:pt x="1171744" y="890913"/>
              </a:lnTo>
            </a:path>
          </a:pathLst>
        </a:custGeom>
        <a:noFill/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FEC895-3E88-4C7C-9C20-F20181C5FF5A}">
      <dsp:nvSpPr>
        <dsp:cNvPr id="0" name=""/>
        <dsp:cNvSpPr/>
      </dsp:nvSpPr>
      <dsp:spPr>
        <a:xfrm>
          <a:off x="1610438" y="855647"/>
          <a:ext cx="91440" cy="89091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909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D7E90E-09A6-4276-AF58-5CE2A1A6D6B2}">
      <dsp:nvSpPr>
        <dsp:cNvPr id="0" name=""/>
        <dsp:cNvSpPr/>
      </dsp:nvSpPr>
      <dsp:spPr>
        <a:xfrm>
          <a:off x="484414" y="855647"/>
          <a:ext cx="1171744" cy="890913"/>
        </a:xfrm>
        <a:custGeom>
          <a:avLst/>
          <a:gdLst/>
          <a:ahLst/>
          <a:cxnLst/>
          <a:rect l="0" t="0" r="0" b="0"/>
          <a:pathLst>
            <a:path>
              <a:moveTo>
                <a:pt x="1171744" y="0"/>
              </a:moveTo>
              <a:lnTo>
                <a:pt x="1171744" y="789232"/>
              </a:lnTo>
              <a:lnTo>
                <a:pt x="0" y="789232"/>
              </a:lnTo>
              <a:lnTo>
                <a:pt x="0" y="890913"/>
              </a:lnTo>
            </a:path>
          </a:pathLst>
        </a:custGeom>
        <a:noFill/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A79D89-7E63-472A-9AD9-260B9D70D397}">
      <dsp:nvSpPr>
        <dsp:cNvPr id="0" name=""/>
        <dsp:cNvSpPr/>
      </dsp:nvSpPr>
      <dsp:spPr>
        <a:xfrm>
          <a:off x="1171967" y="371455"/>
          <a:ext cx="968383" cy="484191"/>
        </a:xfrm>
        <a:prstGeom prst="rect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>
              <a:solidFill>
                <a:schemeClr val="tx1"/>
              </a:solidFill>
            </a:rPr>
            <a:t>George Bush</a:t>
          </a:r>
        </a:p>
      </dsp:txBody>
      <dsp:txXfrm>
        <a:off x="1171967" y="371455"/>
        <a:ext cx="968383" cy="484191"/>
      </dsp:txXfrm>
    </dsp:sp>
    <dsp:sp modelId="{0EFC66A0-5314-456C-9A69-91870D0C14DA}">
      <dsp:nvSpPr>
        <dsp:cNvPr id="0" name=""/>
        <dsp:cNvSpPr/>
      </dsp:nvSpPr>
      <dsp:spPr>
        <a:xfrm>
          <a:off x="222" y="1746561"/>
          <a:ext cx="968383" cy="484191"/>
        </a:xfrm>
        <a:prstGeom prst="rect">
          <a:avLst/>
        </a:prstGeom>
        <a:solidFill>
          <a:srgbClr val="FFFF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>
              <a:solidFill>
                <a:schemeClr val="tx1"/>
              </a:solidFill>
            </a:rPr>
            <a:t>Marvin Bush</a:t>
          </a:r>
        </a:p>
      </dsp:txBody>
      <dsp:txXfrm>
        <a:off x="222" y="1746561"/>
        <a:ext cx="968383" cy="484191"/>
      </dsp:txXfrm>
    </dsp:sp>
    <dsp:sp modelId="{B7064A07-77F8-4FF0-A000-D40277467E3E}">
      <dsp:nvSpPr>
        <dsp:cNvPr id="0" name=""/>
        <dsp:cNvSpPr/>
      </dsp:nvSpPr>
      <dsp:spPr>
        <a:xfrm>
          <a:off x="1171967" y="1746561"/>
          <a:ext cx="968383" cy="484191"/>
        </a:xfrm>
        <a:prstGeom prst="rect">
          <a:avLst/>
        </a:prstGeom>
        <a:solidFill>
          <a:srgbClr val="FFFF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>
              <a:solidFill>
                <a:schemeClr val="tx1"/>
              </a:solidFill>
            </a:rPr>
            <a:t>Jeb Bush</a:t>
          </a:r>
        </a:p>
      </dsp:txBody>
      <dsp:txXfrm>
        <a:off x="1171967" y="1746561"/>
        <a:ext cx="968383" cy="484191"/>
      </dsp:txXfrm>
    </dsp:sp>
    <dsp:sp modelId="{0C6771E0-682C-4634-978E-D0AFB6DC8211}">
      <dsp:nvSpPr>
        <dsp:cNvPr id="0" name=""/>
        <dsp:cNvSpPr/>
      </dsp:nvSpPr>
      <dsp:spPr>
        <a:xfrm>
          <a:off x="2343711" y="1746561"/>
          <a:ext cx="968383" cy="484191"/>
        </a:xfrm>
        <a:prstGeom prst="rect">
          <a:avLst/>
        </a:prstGeom>
        <a:solidFill>
          <a:srgbClr val="FFFF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>
              <a:solidFill>
                <a:schemeClr val="tx1"/>
              </a:solidFill>
            </a:rPr>
            <a:t>Neil Bush</a:t>
          </a:r>
        </a:p>
      </dsp:txBody>
      <dsp:txXfrm>
        <a:off x="2343711" y="1746561"/>
        <a:ext cx="968383" cy="484191"/>
      </dsp:txXfrm>
    </dsp:sp>
    <dsp:sp modelId="{1B09435E-BCF9-411F-A943-A7FF4CC6DED9}">
      <dsp:nvSpPr>
        <dsp:cNvPr id="0" name=""/>
        <dsp:cNvSpPr/>
      </dsp:nvSpPr>
      <dsp:spPr>
        <a:xfrm>
          <a:off x="586094" y="1059008"/>
          <a:ext cx="968383" cy="484191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>
              <a:solidFill>
                <a:schemeClr val="tx1"/>
              </a:solidFill>
            </a:rPr>
            <a:t>Mrs Bush</a:t>
          </a:r>
        </a:p>
      </dsp:txBody>
      <dsp:txXfrm>
        <a:off x="586094" y="1059008"/>
        <a:ext cx="968383" cy="4841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GB"/>
              <a:t>IT1768 Database Systems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37200" y="0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GB"/>
              <a:t>Topic 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386513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en-GB" dirty="0"/>
              <a:t>2018 S1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37200" y="6386513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228867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37200" y="0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5684DB5B-020D-4AE5-A63A-E0CDE14EBF46}" type="datetimeFigureOut">
              <a:rPr lang="en-SG"/>
              <a:pPr>
                <a:defRPr/>
              </a:pPr>
              <a:t>27/11/2020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06750" y="504825"/>
            <a:ext cx="3360738" cy="25209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SG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77900" y="3194050"/>
            <a:ext cx="7818438" cy="3025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SG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386513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37200" y="6386513"/>
            <a:ext cx="4235450" cy="3365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E43F4AE-286E-4869-AE90-D74DA357B375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1841491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dirty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496B7FA-323B-4644-A335-A54DF39412BE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SG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611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2C78CA-B677-4C60-82D3-6C6EA7A13519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SG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074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3FE74C-F90E-4F6B-8576-CDA6C13037B7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SG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73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CB6F80B-39DE-4E29-94CC-F8120E80CA77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SG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501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43F4AE-286E-4869-AE90-D74DA357B375}" type="slidenum">
              <a:rPr lang="en-SG" altLang="en-US" smtClean="0"/>
              <a:pPr>
                <a:defRPr/>
              </a:pPr>
              <a:t>14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885669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43F4AE-286E-4869-AE90-D74DA357B375}" type="slidenum">
              <a:rPr lang="en-SG" altLang="en-US" smtClean="0"/>
              <a:pPr>
                <a:defRPr/>
              </a:pPr>
              <a:t>21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465568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43F4AE-286E-4869-AE90-D74DA357B375}" type="slidenum">
              <a:rPr lang="en-SG" altLang="en-US" smtClean="0"/>
              <a:pPr>
                <a:defRPr/>
              </a:pPr>
              <a:t>30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531439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D855DB-F610-4B61-BC13-CAF26E89C6F4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SG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35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B7C066-3965-457E-AC65-BA22E60918AF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32</a:t>
            </a:fld>
            <a:endParaRPr lang="en-SG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949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B7C066-3965-457E-AC65-BA22E60918AF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SG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00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685800" y="990600"/>
            <a:ext cx="7772400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0" y="6591300"/>
            <a:ext cx="2209800" cy="2301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GB" sz="900" dirty="0">
                <a:solidFill>
                  <a:srgbClr val="FFC000"/>
                </a:solidFill>
                <a:latin typeface="Verdana" pitchFamily="34" charset="0"/>
              </a:rPr>
              <a:t>IT1768 Database Systems</a:t>
            </a:r>
            <a:endParaRPr lang="en-US" sz="900" dirty="0">
              <a:solidFill>
                <a:srgbClr val="FFC000"/>
              </a:solidFill>
              <a:latin typeface="Verdana" pitchFamily="34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8686800" y="6596063"/>
            <a:ext cx="4572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5699EE5-5D75-491D-ABA7-CA1F95FEBB43}" type="slidenum">
              <a:rPr lang="en-US" altLang="en-US" sz="1100" smtClean="0">
                <a:solidFill>
                  <a:srgbClr val="FFC000"/>
                </a:solidFill>
                <a:latin typeface="Verdana" panose="020B0604030504040204" pitchFamily="34" charset="0"/>
              </a:rPr>
              <a:pPr eaLnBrk="1" hangingPunct="1">
                <a:defRPr/>
              </a:pPr>
              <a:t>‹#›</a:t>
            </a:fld>
            <a:endParaRPr lang="en-US" altLang="en-US" sz="1100" dirty="0">
              <a:solidFill>
                <a:srgbClr val="FFC000"/>
              </a:solidFill>
              <a:latin typeface="Verdana" panose="020B0604030504040204" pitchFamily="34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8431213" y="15240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GB" sz="900" dirty="0">
                <a:solidFill>
                  <a:srgbClr val="FFC000"/>
                </a:solidFill>
                <a:latin typeface="Verdana" pitchFamily="34" charset="0"/>
              </a:rPr>
              <a:t>Topic 2</a:t>
            </a:r>
            <a:endParaRPr lang="en-US" sz="900" dirty="0">
              <a:solidFill>
                <a:srgbClr val="FFC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410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DB469B-E3BA-48A0-82CE-4B43FAFD3710}" type="datetimeFigureOut">
              <a:rPr lang="en-US"/>
              <a:pPr>
                <a:defRPr/>
              </a:pPr>
              <a:t>11/27/2020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6F681-9AD2-44E1-9500-F67B3F0390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115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85A5BF-8442-450D-8A77-074BA6679067}" type="datetimeFigureOut">
              <a:rPr lang="en-US"/>
              <a:pPr>
                <a:defRPr/>
              </a:pPr>
              <a:t>11/27/2020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FD87E-77DD-44C3-9888-55C9FBE678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679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9AED5-2211-4E6B-A4C4-586EA3F241BF}" type="datetimeFigureOut">
              <a:rPr lang="en-US"/>
              <a:pPr>
                <a:defRPr/>
              </a:pPr>
              <a:t>11/27/2020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F7F88-B582-4B60-B737-398844FF15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1921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07281-77FC-4E61-AC7E-1D8317E57C90}" type="datetimeFigureOut">
              <a:rPr lang="en-US"/>
              <a:pPr>
                <a:defRPr/>
              </a:pPr>
              <a:t>11/27/2020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8D69E9-71D2-4119-AD3D-EBC54728F6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435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D6D9F-AD48-444C-B43C-95213F1C711E}" type="datetimeFigureOut">
              <a:rPr lang="en-US"/>
              <a:pPr>
                <a:defRPr/>
              </a:pPr>
              <a:t>11/27/2020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84B39-6DB4-44FD-B352-4838712B38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54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6AB8-9221-41A9-954D-129427B5A0E5}" type="datetimeFigureOut">
              <a:rPr lang="en-US"/>
              <a:pPr>
                <a:defRPr/>
              </a:pPr>
              <a:t>11/27/2020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5E133-B21A-495B-B94E-F4F013AD48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9686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C95A18-C900-4986-9DAB-D24E7CD40B5C}" type="datetimeFigureOut">
              <a:rPr lang="en-US"/>
              <a:pPr>
                <a:defRPr/>
              </a:pPr>
              <a:t>11/27/2020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7C348-0B48-4FF8-93D7-BE080EC802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5996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B3180-7044-4F3A-90EA-6E6010C8CADB}" type="datetimeFigureOut">
              <a:rPr lang="en-US"/>
              <a:pPr>
                <a:defRPr/>
              </a:pPr>
              <a:t>11/27/2020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31628-E8D8-478A-B3CF-FB05D4BB2F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944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C1F27-41F9-424B-B69E-20B523CA3EC5}" type="datetimeFigureOut">
              <a:rPr lang="en-US"/>
              <a:pPr>
                <a:defRPr/>
              </a:pPr>
              <a:t>11/27/2020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FA07A-4F44-4C82-AED6-4C1584837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188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F301C2-9ACC-46CA-AECE-7BB19FCBED67}" type="datetimeFigureOut">
              <a:rPr lang="en-US"/>
              <a:pPr>
                <a:defRPr/>
              </a:pPr>
              <a:t>11/27/2020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E24734-B631-4491-9D9C-0D25961D91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357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B348D67-B64A-4115-A977-3910DCD97930}" type="datetimeFigureOut">
              <a:rPr lang="en-US"/>
              <a:pPr>
                <a:defRPr/>
              </a:pPr>
              <a:t>11/27/2020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CA60504-C192-432B-B62B-03AD3D008D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59" r:id="rId1"/>
    <p:sldLayoutId id="2147485149" r:id="rId2"/>
    <p:sldLayoutId id="2147485150" r:id="rId3"/>
    <p:sldLayoutId id="2147485151" r:id="rId4"/>
    <p:sldLayoutId id="2147485152" r:id="rId5"/>
    <p:sldLayoutId id="2147485153" r:id="rId6"/>
    <p:sldLayoutId id="2147485154" r:id="rId7"/>
    <p:sldLayoutId id="2147485155" r:id="rId8"/>
    <p:sldLayoutId id="2147485156" r:id="rId9"/>
    <p:sldLayoutId id="2147485157" r:id="rId10"/>
    <p:sldLayoutId id="21474851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youtube.com/watch?v=t8jgX1f8kc4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1.xml"/><Relationship Id="rId2" Type="http://schemas.openxmlformats.org/officeDocument/2006/relationships/hyperlink" Target="http://www.google.com.sg/url?q=http://www.gronowphotography.com/family-photography-at-the-studio-3/&amp;sa=U&amp;ei=vm86U6ClAsmjrQefoYEg&amp;ved=0CEkQ9QEwDg&amp;usg=AFQjCNGDbzVjo-mv55CKBijq8D0xJDo53Q" TargetMode="Externa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dugrabs.com/types-of-constraints-in-dbms-or-relational-constraint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R4QIeZaPe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ucidchart.com/pages/database-diagram/database-models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 idx="4294967295"/>
          </p:nvPr>
        </p:nvSpPr>
        <p:spPr>
          <a:xfrm>
            <a:off x="533400" y="304800"/>
            <a:ext cx="5270500" cy="647700"/>
          </a:xfrm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lang="en-GB" sz="3600" b="1" dirty="0">
                <a:solidFill>
                  <a:srgbClr val="FFFF00"/>
                </a:solidFill>
                <a:latin typeface="+mn-lt"/>
              </a:rPr>
              <a:t>IT1768 - Database </a:t>
            </a:r>
            <a:r>
              <a:rPr lang="en-US" sz="3600" b="1" dirty="0">
                <a:solidFill>
                  <a:srgbClr val="FFFF00"/>
                </a:solidFill>
                <a:latin typeface="+mn-lt"/>
              </a:rPr>
              <a:t>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676400"/>
            <a:ext cx="3810000" cy="28622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6000" b="1" dirty="0">
                <a:solidFill>
                  <a:schemeClr val="bg1"/>
                </a:solidFill>
                <a:latin typeface="+mn-lt"/>
              </a:rPr>
              <a:t>Topic 2 :</a:t>
            </a:r>
            <a:endParaRPr lang="en-US" sz="1200" b="1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defRPr/>
            </a:pPr>
            <a:endParaRPr lang="en-US" sz="1200" b="1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defRPr/>
            </a:pPr>
            <a:r>
              <a:rPr lang="en-US" sz="3600" b="1" dirty="0">
                <a:solidFill>
                  <a:schemeClr val="bg1"/>
                </a:solidFill>
                <a:latin typeface="+mn-lt"/>
              </a:rPr>
              <a:t>Database Models and Relational Keys </a:t>
            </a:r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3427413" y="5672138"/>
            <a:ext cx="2070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rIns="72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click hyperlink below:</a:t>
            </a:r>
          </a:p>
        </p:txBody>
      </p:sp>
      <p:sp>
        <p:nvSpPr>
          <p:cNvPr id="5125" name="Rectangle 5">
            <a:hlinkClick r:id="rId2"/>
          </p:cNvPr>
          <p:cNvSpPr>
            <a:spLocks noChangeArrowheads="1"/>
          </p:cNvSpPr>
          <p:nvPr/>
        </p:nvSpPr>
        <p:spPr bwMode="auto">
          <a:xfrm>
            <a:off x="2057400" y="6010275"/>
            <a:ext cx="49355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1400" dirty="0">
                <a:solidFill>
                  <a:srgbClr val="FFFF00"/>
                </a:solidFill>
              </a:rPr>
              <a:t>Reference source: https://www.youtube.com/watch?v=t8jgX1f8kc4</a:t>
            </a:r>
          </a:p>
        </p:txBody>
      </p:sp>
      <p:pic>
        <p:nvPicPr>
          <p:cNvPr id="5126" name="Picture 6" descr="http://t2.gstatic.com/images?q=tbn:ANd9GcS5Gr4ETJEpi360PFEW5pmjMGEA-GRO6nFJl6Zhen1STM0YUSqYrg0R2Rl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05013"/>
            <a:ext cx="3471863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68300"/>
            <a:ext cx="7772400" cy="646113"/>
          </a:xfrm>
        </p:spPr>
        <p:txBody>
          <a:bodyPr lIns="72000" rIns="72000" anchor="t">
            <a:spAutoFit/>
          </a:bodyPr>
          <a:lstStyle/>
          <a:p>
            <a:pPr algn="l" eaLnBrk="1" hangingPunct="1">
              <a:defRPr/>
            </a:pPr>
            <a:r>
              <a:rPr lang="en-US" sz="3600" b="1" dirty="0">
                <a:solidFill>
                  <a:srgbClr val="FFFF00"/>
                </a:solidFill>
                <a:latin typeface="+mn-lt"/>
              </a:rPr>
              <a:t>Unit 2 : </a:t>
            </a:r>
            <a:r>
              <a:rPr lang="en-GB" sz="3600" b="1" dirty="0">
                <a:solidFill>
                  <a:srgbClr val="FFFF00"/>
                </a:solidFill>
                <a:latin typeface="+mn-lt"/>
              </a:rPr>
              <a:t>Relational Database &amp; Keys</a:t>
            </a:r>
            <a:endParaRPr lang="en-US" sz="3600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6147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685800" y="1295400"/>
            <a:ext cx="2130425" cy="627063"/>
          </a:xfr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3600" b="1" dirty="0">
                <a:solidFill>
                  <a:schemeClr val="bg1"/>
                </a:solidFill>
                <a:cs typeface="Times New Roman" panose="02020603050405020304" pitchFamily="18" charset="0"/>
              </a:rPr>
              <a:t>Objective :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85800" y="2082800"/>
            <a:ext cx="8077200" cy="317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55600" indent="-355600" eaLnBrk="1" hangingPunct="1">
              <a:spcBef>
                <a:spcPts val="30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zh-SG" sz="28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At the end of </a:t>
            </a:r>
            <a:r>
              <a:rPr lang="en-US" sz="2800" dirty="0">
                <a:solidFill>
                  <a:schemeClr val="bg1"/>
                </a:solidFill>
                <a:latin typeface="+mn-lt"/>
                <a:ea typeface="SimSun" pitchFamily="2" charset="-122"/>
                <a:cs typeface="Times New Roman" pitchFamily="18" charset="0"/>
              </a:rPr>
              <a:t>this unit, you </a:t>
            </a:r>
            <a:r>
              <a:rPr lang="en-US" altLang="zh-SG" sz="28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should be able to:</a:t>
            </a:r>
          </a:p>
          <a:p>
            <a:pPr marL="628650" lvl="1" indent="-273050" eaLnBrk="1" hangingPunct="1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SG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relate different database models.</a:t>
            </a:r>
          </a:p>
          <a:p>
            <a:pPr marL="628650" lvl="1" indent="-273050" eaLnBrk="1" hangingPunct="1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SG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describe the common terminology used in relational database.</a:t>
            </a:r>
          </a:p>
          <a:p>
            <a:pPr marL="628650" lvl="1" indent="-273050" eaLnBrk="1" hangingPunct="1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SG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describe various essential relation keys in relational model</a:t>
            </a:r>
            <a:r>
              <a:rPr lang="en-US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.</a:t>
            </a:r>
          </a:p>
          <a:p>
            <a:pPr marL="628650" lvl="1" indent="-273050" eaLnBrk="1" hangingPunct="1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SG" sz="2400" dirty="0">
                <a:solidFill>
                  <a:schemeClr val="bg1"/>
                </a:solidFill>
                <a:latin typeface="+mn-lt"/>
              </a:rPr>
              <a:t>classify various database objects and their functions</a:t>
            </a:r>
            <a:r>
              <a:rPr lang="en-US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657225" y="995363"/>
            <a:ext cx="4905375" cy="3195637"/>
            <a:chOff x="3705770" y="3558205"/>
            <a:chExt cx="4904830" cy="3194693"/>
          </a:xfrm>
        </p:grpSpPr>
        <p:pic>
          <p:nvPicPr>
            <p:cNvPr id="14350" name="Picture 3" descr="ER5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5770" y="3810000"/>
              <a:ext cx="4904830" cy="29428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351" name="Rectangle 1"/>
            <p:cNvSpPr>
              <a:spLocks noChangeArrowheads="1"/>
            </p:cNvSpPr>
            <p:nvPr/>
          </p:nvSpPr>
          <p:spPr bwMode="auto">
            <a:xfrm>
              <a:off x="5791200" y="3558205"/>
              <a:ext cx="1466867" cy="50359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SG" altLang="en-US" sz="2800" b="1" dirty="0"/>
                <a:t>Database</a:t>
              </a:r>
              <a:endParaRPr lang="en-SG" altLang="en-US" sz="2800" dirty="0"/>
            </a:p>
          </p:txBody>
        </p:sp>
      </p:grpSp>
      <p:sp>
        <p:nvSpPr>
          <p:cNvPr id="10246" name="Rectangle 1"/>
          <p:cNvSpPr>
            <a:spLocks noChangeArrowheads="1"/>
          </p:cNvSpPr>
          <p:nvPr/>
        </p:nvSpPr>
        <p:spPr bwMode="auto">
          <a:xfrm>
            <a:off x="5710774" y="1720625"/>
            <a:ext cx="2752725" cy="1365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2800" b="1" dirty="0">
                <a:solidFill>
                  <a:srgbClr val="FFFF00"/>
                </a:solidFill>
              </a:rPr>
              <a:t>Tables are associated with relationships!</a:t>
            </a:r>
            <a:endParaRPr lang="en-SG" altLang="en-US" sz="2800" dirty="0">
              <a:solidFill>
                <a:srgbClr val="FFFF00"/>
              </a:solidFill>
            </a:endParaRPr>
          </a:p>
        </p:txBody>
      </p:sp>
      <p:sp>
        <p:nvSpPr>
          <p:cNvPr id="14343" name="Title 1"/>
          <p:cNvSpPr>
            <a:spLocks noGrp="1"/>
          </p:cNvSpPr>
          <p:nvPr>
            <p:ph type="ctrTitle" idx="4294967295"/>
          </p:nvPr>
        </p:nvSpPr>
        <p:spPr>
          <a:xfrm>
            <a:off x="671513" y="364504"/>
            <a:ext cx="5867101" cy="653705"/>
          </a:xfrm>
        </p:spPr>
        <p:txBody>
          <a:bodyPr wrap="none" lIns="72000" rIns="72000">
            <a:spAutoFit/>
          </a:bodyPr>
          <a:lstStyle/>
          <a:p>
            <a:pPr algn="l" eaLnBrk="1" hangingPunct="1">
              <a:lnSpc>
                <a:spcPct val="114000"/>
              </a:lnSpc>
            </a:pPr>
            <a:r>
              <a:rPr lang="en-GB" altLang="en-US" sz="3200" b="1" dirty="0">
                <a:solidFill>
                  <a:srgbClr val="FFFF00"/>
                </a:solidFill>
              </a:rPr>
              <a:t>Database – a collection of tables</a:t>
            </a:r>
            <a:endParaRPr lang="en-US" altLang="en-US" sz="3200" b="1" dirty="0">
              <a:solidFill>
                <a:srgbClr val="FFFF00"/>
              </a:solidFill>
            </a:endParaRPr>
          </a:p>
        </p:txBody>
      </p:sp>
      <p:grpSp>
        <p:nvGrpSpPr>
          <p:cNvPr id="14338" name="Group 1"/>
          <p:cNvGrpSpPr>
            <a:grpSpLocks/>
          </p:cNvGrpSpPr>
          <p:nvPr/>
        </p:nvGrpSpPr>
        <p:grpSpPr bwMode="auto">
          <a:xfrm>
            <a:off x="3429000" y="3603625"/>
            <a:ext cx="5237163" cy="3101975"/>
            <a:chOff x="609600" y="1219200"/>
            <a:chExt cx="5236501" cy="3101334"/>
          </a:xfrm>
        </p:grpSpPr>
        <p:pic>
          <p:nvPicPr>
            <p:cNvPr id="14352" name="Picture 2" descr="http://2.bp.blogspot.com/_OMWSIKIqkBE/S9PM9vUydhI/AAAAAAAAACk/W9ztlprq-X4/s320/canadian_postal_code_database__premium__21807.jpe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1219200"/>
              <a:ext cx="4246563" cy="2362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53" name="Rectangle 1"/>
            <p:cNvSpPr>
              <a:spLocks noChangeArrowheads="1"/>
            </p:cNvSpPr>
            <p:nvPr/>
          </p:nvSpPr>
          <p:spPr bwMode="auto">
            <a:xfrm>
              <a:off x="2057400" y="1371600"/>
              <a:ext cx="1127544" cy="50359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SG" altLang="en-US" sz="2800" b="1" dirty="0"/>
                <a:t>Table 1</a:t>
              </a:r>
              <a:endParaRPr lang="en-SG" altLang="en-US" sz="2800" dirty="0"/>
            </a:p>
          </p:txBody>
        </p:sp>
        <p:pic>
          <p:nvPicPr>
            <p:cNvPr id="14354" name="Picture 2" descr="http://2.bp.blogspot.com/_OMWSIKIqkBE/S9PM9vUydhI/AAAAAAAAACk/W9ztlprq-X4/s320/canadian_postal_code_database__premium__21807.jpe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9538" y="1958334"/>
              <a:ext cx="4246563" cy="2362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55" name="Rectangle 1"/>
            <p:cNvSpPr>
              <a:spLocks noChangeArrowheads="1"/>
            </p:cNvSpPr>
            <p:nvPr/>
          </p:nvSpPr>
          <p:spPr bwMode="auto">
            <a:xfrm>
              <a:off x="3080243" y="2063984"/>
              <a:ext cx="1464174" cy="50359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SG" altLang="en-US" sz="2800" b="1" dirty="0"/>
                <a:t>Table 2 …</a:t>
              </a:r>
              <a:endParaRPr lang="en-SG" altLang="en-US" sz="2800" dirty="0"/>
            </a:p>
          </p:txBody>
        </p:sp>
      </p:grpSp>
      <p:cxnSp>
        <p:nvCxnSpPr>
          <p:cNvPr id="20" name="Straight Connector 19"/>
          <p:cNvCxnSpPr/>
          <p:nvPr/>
        </p:nvCxnSpPr>
        <p:spPr>
          <a:xfrm flipH="1" flipV="1">
            <a:off x="1284288" y="2063750"/>
            <a:ext cx="2584450" cy="212725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4648200" y="2667000"/>
            <a:ext cx="2209800" cy="178158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50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81000"/>
            <a:ext cx="3807508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Relational Model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71" name="Rectangle 9"/>
          <p:cNvSpPr>
            <a:spLocks noChangeArrowheads="1"/>
          </p:cNvSpPr>
          <p:nvPr/>
        </p:nvSpPr>
        <p:spPr bwMode="auto">
          <a:xfrm>
            <a:off x="685800" y="1143000"/>
            <a:ext cx="7772400" cy="1688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400" u="sng" dirty="0">
                <a:solidFill>
                  <a:srgbClr val="FFFF00"/>
                </a:solidFill>
                <a:cs typeface="Times New Roman" panose="02020603050405020304" pitchFamily="18" charset="0"/>
              </a:rPr>
              <a:t>Relational database</a:t>
            </a:r>
            <a:r>
              <a:rPr lang="en-GB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 </a:t>
            </a: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is the most common type of database system employed in most enterprises.</a:t>
            </a:r>
            <a:endParaRPr lang="en-SG" altLang="en-US" sz="2400" dirty="0">
              <a:solidFill>
                <a:schemeClr val="bg1"/>
              </a:solidFill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800" u="sng" dirty="0">
                <a:solidFill>
                  <a:srgbClr val="FFFF00"/>
                </a:solidFill>
                <a:cs typeface="Times New Roman" panose="02020603050405020304" pitchFamily="18" charset="0"/>
              </a:rPr>
              <a:t>Relational data model</a:t>
            </a:r>
            <a:r>
              <a:rPr lang="en-GB" altLang="en-US" sz="28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: Relational database deals predominantly with relational database model.</a:t>
            </a:r>
          </a:p>
        </p:txBody>
      </p:sp>
      <p:pic>
        <p:nvPicPr>
          <p:cNvPr id="717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16" t="27961" r="22648" b="58234"/>
          <a:stretch/>
        </p:blipFill>
        <p:spPr bwMode="auto">
          <a:xfrm>
            <a:off x="990601" y="4800600"/>
            <a:ext cx="72390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132024" y="4114800"/>
            <a:ext cx="1082664" cy="34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lIns="18000" tIns="18000" rIns="18000" bIns="18000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000" dirty="0">
                <a:solidFill>
                  <a:srgbClr val="FF0000"/>
                </a:solidFill>
              </a:rPr>
              <a:t>Relation 1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5470536" y="4138613"/>
            <a:ext cx="1082664" cy="34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lIns="18000" tIns="18000" rIns="18000" bIns="18000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000" dirty="0">
                <a:solidFill>
                  <a:srgbClr val="FF0000"/>
                </a:solidFill>
              </a:rPr>
              <a:t>Relation 2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85800" y="3074833"/>
            <a:ext cx="7848600" cy="81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GB" altLang="en-US" sz="2400" b="1" u="sng" dirty="0">
                <a:solidFill>
                  <a:srgbClr val="FFFF00"/>
                </a:solidFill>
                <a:cs typeface="Times New Roman" panose="02020603050405020304" pitchFamily="18" charset="0"/>
              </a:rPr>
              <a:t>Relational model</a:t>
            </a: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SG" altLang="en-US" sz="2400" dirty="0">
                <a:solidFill>
                  <a:schemeClr val="bg1"/>
                </a:solidFill>
              </a:rPr>
              <a:t>uses a table-based format with rows and columns.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389941" y="5029200"/>
            <a:ext cx="585669" cy="344128"/>
          </a:xfrm>
          <a:prstGeom prst="rect">
            <a:avLst/>
          </a:prstGeom>
          <a:noFill/>
          <a:ln>
            <a:noFill/>
          </a:ln>
        </p:spPr>
        <p:txBody>
          <a:bodyPr wrap="none" lIns="18000" tIns="18000" rIns="18000" bIns="18000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000" dirty="0">
                <a:solidFill>
                  <a:srgbClr val="FFFF00"/>
                </a:solidFill>
              </a:rPr>
              <a:t>Rows</a:t>
            </a:r>
            <a:endParaRPr lang="en-US" altLang="en-US" sz="2000" dirty="0">
              <a:solidFill>
                <a:srgbClr val="FFFF00"/>
              </a:solidFill>
            </a:endParaRPr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2713220" y="4501442"/>
            <a:ext cx="942049" cy="344128"/>
          </a:xfrm>
          <a:prstGeom prst="rect">
            <a:avLst/>
          </a:prstGeom>
          <a:noFill/>
          <a:ln>
            <a:noFill/>
          </a:ln>
        </p:spPr>
        <p:txBody>
          <a:bodyPr wrap="none" lIns="18000" tIns="18000" rIns="18000" bIns="18000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000" dirty="0">
                <a:solidFill>
                  <a:srgbClr val="FFFF00"/>
                </a:solidFill>
              </a:rPr>
              <a:t>Columns</a:t>
            </a:r>
            <a:endParaRPr lang="en-US" altLang="en-US" sz="2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31800"/>
            <a:ext cx="4195627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Relational Database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19" name="Subtitle 2"/>
          <p:cNvSpPr txBox="1">
            <a:spLocks/>
          </p:cNvSpPr>
          <p:nvPr/>
        </p:nvSpPr>
        <p:spPr bwMode="auto">
          <a:xfrm>
            <a:off x="625475" y="1219200"/>
            <a:ext cx="78486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2800" dirty="0">
                <a:solidFill>
                  <a:schemeClr val="bg1"/>
                </a:solidFill>
                <a:cs typeface="Times New Roman" panose="02020603050405020304" pitchFamily="18" charset="0"/>
              </a:rPr>
              <a:t>Relational model – tables, represented  by rows and columns. </a:t>
            </a:r>
          </a:p>
        </p:txBody>
      </p:sp>
      <p:pic>
        <p:nvPicPr>
          <p:cNvPr id="9220" name="Picture 11" descr="https://cdn.tutsplus.com/net/authors/lalith-polepeddi/relational-databases-for-dummies-fig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243" b="29151"/>
          <a:stretch/>
        </p:blipFill>
        <p:spPr bwMode="auto">
          <a:xfrm>
            <a:off x="1074739" y="2286000"/>
            <a:ext cx="1439861" cy="2101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Subtitle 2"/>
          <p:cNvSpPr txBox="1">
            <a:spLocks/>
          </p:cNvSpPr>
          <p:nvPr/>
        </p:nvSpPr>
        <p:spPr bwMode="auto">
          <a:xfrm>
            <a:off x="762000" y="5745162"/>
            <a:ext cx="7848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There are multiple tables contained in a relational database. </a:t>
            </a: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212291" y="5042129"/>
            <a:ext cx="360799" cy="2825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lIns="18000" tIns="18000" rIns="18000" bIns="18000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600" dirty="0">
                <a:solidFill>
                  <a:srgbClr val="FF0000"/>
                </a:solidFill>
              </a:rPr>
              <a:t>row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pic>
        <p:nvPicPr>
          <p:cNvPr id="9" name="Picture 11" descr="https://cdn.tutsplus.com/net/authors/lalith-polepeddi/relational-databases-for-dummies-fig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1" t="46739"/>
          <a:stretch/>
        </p:blipFill>
        <p:spPr bwMode="auto">
          <a:xfrm>
            <a:off x="2777047" y="3732315"/>
            <a:ext cx="6138353" cy="1800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2514600" y="3371238"/>
            <a:ext cx="2209800" cy="36576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981200" y="4401062"/>
            <a:ext cx="795847" cy="8567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57266" y="4266402"/>
            <a:ext cx="647700" cy="1188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SG" dirty="0"/>
          </a:p>
        </p:txBody>
      </p:sp>
      <p:sp>
        <p:nvSpPr>
          <p:cNvPr id="7" name="Rectangle 6"/>
          <p:cNvSpPr/>
          <p:nvPr/>
        </p:nvSpPr>
        <p:spPr>
          <a:xfrm>
            <a:off x="2824162" y="5044282"/>
            <a:ext cx="5760720" cy="2873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SG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571101" y="5196348"/>
            <a:ext cx="231091" cy="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31800"/>
            <a:ext cx="2178857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Terminology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124200" y="1066800"/>
            <a:ext cx="266700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sz="2000" b="1" dirty="0">
                <a:solidFill>
                  <a:schemeClr val="bg2"/>
                </a:solidFill>
                <a:latin typeface="+mn-lt"/>
              </a:rPr>
              <a:t>Equivalent Terminology</a:t>
            </a:r>
            <a:endParaRPr lang="en-US" sz="2000" b="1" dirty="0">
              <a:solidFill>
                <a:schemeClr val="bg2"/>
              </a:solidFill>
              <a:latin typeface="+mn-lt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564316"/>
              </p:ext>
            </p:extLst>
          </p:nvPr>
        </p:nvGraphicFramePr>
        <p:xfrm>
          <a:off x="1828800" y="1622425"/>
          <a:ext cx="5486400" cy="17742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7077957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1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Relational Model</a:t>
                      </a:r>
                      <a:endParaRPr lang="en-SG" sz="1600" dirty="0"/>
                    </a:p>
                  </a:txBody>
                  <a:tcPr marT="45660" marB="45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Entity</a:t>
                      </a:r>
                      <a:r>
                        <a:rPr lang="en-GB" sz="1600" baseline="0" dirty="0"/>
                        <a:t> Relationship</a:t>
                      </a:r>
                      <a:endParaRPr lang="en-SG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T="45660" marB="45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SQL</a:t>
                      </a:r>
                      <a:r>
                        <a:rPr lang="en-GB" sz="1600" baseline="0" dirty="0"/>
                        <a:t> Equivalent</a:t>
                      </a:r>
                    </a:p>
                    <a:p>
                      <a:pPr algn="ctr"/>
                      <a:r>
                        <a:rPr lang="en-GB" sz="1600" baseline="0" dirty="0">
                          <a:solidFill>
                            <a:schemeClr val="bg1"/>
                          </a:solidFill>
                        </a:rPr>
                        <a:t>(File)</a:t>
                      </a:r>
                      <a:endParaRPr lang="en-SG" sz="1600" dirty="0">
                        <a:solidFill>
                          <a:schemeClr val="bg1"/>
                        </a:solidFill>
                      </a:endParaRPr>
                    </a:p>
                  </a:txBody>
                  <a:tcPr marT="45660" marB="456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C000"/>
                          </a:solidFill>
                        </a:rPr>
                        <a:t>Relation</a:t>
                      </a:r>
                      <a:endParaRPr lang="en-SG" sz="1800" dirty="0">
                        <a:solidFill>
                          <a:srgbClr val="FFC000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Entity</a:t>
                      </a:r>
                      <a:endParaRPr lang="en-SG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FF00"/>
                          </a:solidFill>
                        </a:rPr>
                        <a:t>Table</a:t>
                      </a:r>
                      <a:endParaRPr lang="en-SG" sz="1800" dirty="0">
                        <a:solidFill>
                          <a:srgbClr val="FFFF00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C000"/>
                          </a:solidFill>
                        </a:rPr>
                        <a:t>Tuple</a:t>
                      </a:r>
                      <a:endParaRPr lang="en-SG" sz="1800" dirty="0">
                        <a:solidFill>
                          <a:srgbClr val="FFC000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Record</a:t>
                      </a:r>
                      <a:endParaRPr lang="en-SG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FF00"/>
                          </a:solidFill>
                        </a:rPr>
                        <a:t>Row</a:t>
                      </a:r>
                      <a:endParaRPr lang="en-SG" sz="1800" dirty="0">
                        <a:solidFill>
                          <a:srgbClr val="FFFF00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C000"/>
                          </a:solidFill>
                        </a:rPr>
                        <a:t>Attribute</a:t>
                      </a:r>
                      <a:endParaRPr lang="en-SG" sz="1800" dirty="0">
                        <a:solidFill>
                          <a:srgbClr val="FFC000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Field</a:t>
                      </a:r>
                      <a:endParaRPr lang="en-SG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FF00"/>
                          </a:solidFill>
                        </a:rPr>
                        <a:t>Column</a:t>
                      </a:r>
                      <a:endParaRPr lang="en-SG" sz="1800" dirty="0">
                        <a:solidFill>
                          <a:srgbClr val="FFFF00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631406" y="1526382"/>
            <a:ext cx="1728788" cy="18367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 dirty="0"/>
          </a:p>
        </p:txBody>
      </p:sp>
      <p:sp>
        <p:nvSpPr>
          <p:cNvPr id="13" name="Rectangle 12"/>
          <p:cNvSpPr/>
          <p:nvPr/>
        </p:nvSpPr>
        <p:spPr>
          <a:xfrm>
            <a:off x="5443844" y="1526382"/>
            <a:ext cx="2011680" cy="183673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645314"/>
              </p:ext>
            </p:extLst>
          </p:nvPr>
        </p:nvGraphicFramePr>
        <p:xfrm>
          <a:off x="1820863" y="4506952"/>
          <a:ext cx="5454047" cy="18938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91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1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0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46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SG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SG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Country</a:t>
                      </a:r>
                      <a:endParaRPr lang="en-SG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SG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46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1403-001</a:t>
                      </a:r>
                      <a:endParaRPr lang="en-SG" sz="1800" dirty="0"/>
                    </a:p>
                  </a:txBody>
                  <a:tcPr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James Bond</a:t>
                      </a:r>
                      <a:endParaRPr lang="en-SG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UK</a:t>
                      </a:r>
                      <a:endParaRPr lang="en-SG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45</a:t>
                      </a:r>
                      <a:endParaRPr lang="en-SG" sz="1800" dirty="0"/>
                    </a:p>
                  </a:txBody>
                  <a:tcPr marT="45700" marB="457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46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1403-126</a:t>
                      </a:r>
                      <a:endParaRPr lang="en-SG" sz="1800" dirty="0"/>
                    </a:p>
                  </a:txBody>
                  <a:tcPr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Judy</a:t>
                      </a:r>
                      <a:r>
                        <a:rPr lang="en-GB" sz="1800" baseline="0" dirty="0"/>
                        <a:t> Emily</a:t>
                      </a:r>
                      <a:endParaRPr lang="en-SG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Indonesians</a:t>
                      </a:r>
                      <a:endParaRPr lang="en-SG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30</a:t>
                      </a:r>
                      <a:endParaRPr lang="en-SG" sz="1800" dirty="0"/>
                    </a:p>
                  </a:txBody>
                  <a:tcPr marT="45700" marB="457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46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1403-389</a:t>
                      </a:r>
                      <a:endParaRPr lang="en-SG" sz="1800" dirty="0"/>
                    </a:p>
                  </a:txBody>
                  <a:tcPr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Jennifer</a:t>
                      </a:r>
                      <a:endParaRPr lang="en-SG" sz="1800" dirty="0"/>
                    </a:p>
                  </a:txBody>
                  <a:tcPr marT="45700" marB="457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USA</a:t>
                      </a:r>
                      <a:endParaRPr lang="en-SG" sz="1800" dirty="0"/>
                    </a:p>
                  </a:txBody>
                  <a:tcPr marT="45700" marB="457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32</a:t>
                      </a:r>
                      <a:endParaRPr lang="en-SG" sz="1800" dirty="0"/>
                    </a:p>
                  </a:txBody>
                  <a:tcPr marT="45700" marB="457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 bwMode="auto">
          <a:xfrm>
            <a:off x="1705976" y="5427528"/>
            <a:ext cx="5685424" cy="4866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4836817" y="4441021"/>
            <a:ext cx="1407898" cy="1976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48873" y="4088236"/>
            <a:ext cx="5264158" cy="2080366"/>
            <a:chOff x="548873" y="4088236"/>
            <a:chExt cx="5264158" cy="2080366"/>
          </a:xfrm>
        </p:grpSpPr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620130" y="5761039"/>
              <a:ext cx="642698" cy="4075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defRPr/>
              </a:pPr>
              <a:r>
                <a:rPr lang="pt-BR" sz="1600" b="1" dirty="0">
                  <a:solidFill>
                    <a:srgbClr val="FFFF00"/>
                  </a:solidFill>
                  <a:latin typeface="+mn-lt"/>
                </a:rPr>
                <a:t>(Row)</a:t>
              </a:r>
              <a:endParaRPr lang="en-US" sz="1600" b="1" dirty="0">
                <a:solidFill>
                  <a:srgbClr val="FFFF00"/>
                </a:solidFill>
                <a:latin typeface="+mn-lt"/>
              </a:endParaRPr>
            </a:p>
          </p:txBody>
        </p:sp>
        <p:sp>
          <p:nvSpPr>
            <p:cNvPr id="22" name="Text Box 11"/>
            <p:cNvSpPr txBox="1">
              <a:spLocks noChangeArrowheads="1"/>
            </p:cNvSpPr>
            <p:nvPr/>
          </p:nvSpPr>
          <p:spPr bwMode="auto">
            <a:xfrm>
              <a:off x="4854312" y="4088236"/>
              <a:ext cx="958719" cy="40756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defRPr/>
              </a:pPr>
              <a:r>
                <a:rPr lang="pt-BR" sz="1600" b="1" dirty="0">
                  <a:solidFill>
                    <a:srgbClr val="FFFF00"/>
                  </a:solidFill>
                  <a:latin typeface="+mn-lt"/>
                </a:rPr>
                <a:t>(Column)</a:t>
              </a:r>
              <a:endParaRPr lang="en-US" sz="1600" b="1" dirty="0">
                <a:solidFill>
                  <a:srgbClr val="FFFF00"/>
                </a:solidFill>
                <a:latin typeface="+mn-lt"/>
              </a:endParaRPr>
            </a:p>
          </p:txBody>
        </p:sp>
        <p:sp>
          <p:nvSpPr>
            <p:cNvPr id="27" name="Text Box 3"/>
            <p:cNvSpPr txBox="1">
              <a:spLocks noChangeArrowheads="1"/>
            </p:cNvSpPr>
            <p:nvPr/>
          </p:nvSpPr>
          <p:spPr bwMode="auto">
            <a:xfrm>
              <a:off x="548873" y="4259262"/>
              <a:ext cx="937415" cy="363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8800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(Table)</a:t>
              </a:r>
              <a:r>
                <a:rPr lang="en-US" altLang="en-US" sz="2000" b="1" dirty="0">
                  <a:solidFill>
                    <a:srgbClr val="FFC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endParaRPr lang="en-US" altLang="en-US" sz="20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63077" y="3826545"/>
            <a:ext cx="5008229" cy="2051013"/>
            <a:chOff x="563077" y="3826545"/>
            <a:chExt cx="5008229" cy="2051013"/>
          </a:xfrm>
        </p:grpSpPr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584060" y="5472022"/>
              <a:ext cx="887703" cy="4055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defRPr/>
              </a:pPr>
              <a:r>
                <a:rPr lang="pt-BR" sz="1600" b="1" dirty="0">
                  <a:solidFill>
                    <a:schemeClr val="bg1"/>
                  </a:solidFill>
                  <a:latin typeface="+mn-lt"/>
                </a:rPr>
                <a:t>(Record)</a:t>
              </a:r>
              <a:endParaRPr lang="en-US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4891326" y="3826545"/>
              <a:ext cx="679980" cy="4055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defRPr/>
              </a:pPr>
              <a:r>
                <a:rPr lang="pt-BR" sz="1600" b="1" dirty="0">
                  <a:solidFill>
                    <a:schemeClr val="bg1"/>
                  </a:solidFill>
                  <a:latin typeface="+mn-lt"/>
                </a:rPr>
                <a:t>(Field)</a:t>
              </a:r>
              <a:endParaRPr lang="en-US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8" name="Text Box 3"/>
            <p:cNvSpPr txBox="1">
              <a:spLocks noChangeArrowheads="1"/>
            </p:cNvSpPr>
            <p:nvPr/>
          </p:nvSpPr>
          <p:spPr bwMode="auto">
            <a:xfrm>
              <a:off x="563077" y="3961603"/>
              <a:ext cx="909008" cy="332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8800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(Entity)</a:t>
              </a:r>
              <a:r>
                <a:rPr lang="en-US" altLang="en-US" sz="1800" b="1" dirty="0">
                  <a:solidFill>
                    <a:srgbClr val="FFC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endParaRPr lang="en-US" altLang="en-US" sz="18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26590" y="3572179"/>
            <a:ext cx="5424754" cy="2060114"/>
            <a:chOff x="526590" y="3572179"/>
            <a:chExt cx="5424754" cy="2060114"/>
          </a:xfrm>
        </p:grpSpPr>
        <p:sp>
          <p:nvSpPr>
            <p:cNvPr id="25" name="Text Box 9"/>
            <p:cNvSpPr txBox="1">
              <a:spLocks noChangeArrowheads="1"/>
            </p:cNvSpPr>
            <p:nvPr/>
          </p:nvSpPr>
          <p:spPr bwMode="auto">
            <a:xfrm>
              <a:off x="640716" y="5224730"/>
              <a:ext cx="743895" cy="4075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defRPr/>
              </a:pPr>
              <a:r>
                <a:rPr lang="pt-BR" sz="1600" b="1" dirty="0">
                  <a:solidFill>
                    <a:srgbClr val="FFC000"/>
                  </a:solidFill>
                  <a:latin typeface="+mn-lt"/>
                </a:rPr>
                <a:t>(Tuple)</a:t>
              </a:r>
              <a:endParaRPr lang="en-US" sz="1600" b="1" dirty="0">
                <a:solidFill>
                  <a:srgbClr val="FFC000"/>
                </a:solidFill>
                <a:latin typeface="+mn-lt"/>
              </a:endParaRPr>
            </a:p>
          </p:txBody>
        </p:sp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4863020" y="3581400"/>
              <a:ext cx="1088324" cy="4075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defRPr/>
              </a:pPr>
              <a:r>
                <a:rPr lang="pt-BR" sz="1600" b="1" dirty="0">
                  <a:solidFill>
                    <a:srgbClr val="FFC000"/>
                  </a:solidFill>
                  <a:latin typeface="+mn-lt"/>
                </a:rPr>
                <a:t>(Attribute)</a:t>
              </a:r>
              <a:endParaRPr lang="en-US" sz="1600" b="1" dirty="0">
                <a:solidFill>
                  <a:srgbClr val="FFC000"/>
                </a:solidFill>
                <a:latin typeface="+mn-lt"/>
              </a:endParaRPr>
            </a:p>
          </p:txBody>
        </p:sp>
        <p:sp>
          <p:nvSpPr>
            <p:cNvPr id="29" name="Text Box 3"/>
            <p:cNvSpPr txBox="1">
              <a:spLocks noChangeArrowheads="1"/>
            </p:cNvSpPr>
            <p:nvPr/>
          </p:nvSpPr>
          <p:spPr bwMode="auto">
            <a:xfrm>
              <a:off x="526590" y="3572179"/>
              <a:ext cx="2673810" cy="363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8800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dirty="0">
                  <a:solidFill>
                    <a:srgbClr val="FFC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(Relation : CUSTOMERS) </a:t>
              </a:r>
              <a:endParaRPr lang="en-US" altLang="en-US" sz="20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0" name="Text Box 6"/>
          <p:cNvSpPr txBox="1">
            <a:spLocks noChangeArrowheads="1"/>
          </p:cNvSpPr>
          <p:nvPr/>
        </p:nvSpPr>
        <p:spPr bwMode="auto">
          <a:xfrm>
            <a:off x="1752764" y="4102895"/>
            <a:ext cx="1590819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</a:rPr>
              <a:t>CUSTOMERS</a:t>
            </a:r>
            <a:endParaRPr lang="en-US" sz="2000" b="1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0" grpId="0" animBg="1"/>
      <p:bldP spid="23" grpId="0" animBg="1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 txBox="1">
            <a:spLocks noChangeArrowheads="1"/>
          </p:cNvSpPr>
          <p:nvPr/>
        </p:nvSpPr>
        <p:spPr bwMode="auto">
          <a:xfrm>
            <a:off x="3646488" y="479425"/>
            <a:ext cx="1036637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- Tables</a:t>
            </a:r>
          </a:p>
        </p:txBody>
      </p:sp>
      <p:sp>
        <p:nvSpPr>
          <p:cNvPr id="12291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30213"/>
            <a:ext cx="2990850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1175" y="2206625"/>
          <a:ext cx="4876800" cy="14827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>
                          <a:solidFill>
                            <a:schemeClr val="tx1"/>
                          </a:solidFill>
                        </a:rPr>
                        <a:t>CustomerID</a:t>
                      </a:r>
                      <a:endParaRPr lang="en-SG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 err="1">
                          <a:solidFill>
                            <a:schemeClr val="tx1"/>
                          </a:solidFill>
                        </a:rPr>
                        <a:t>CustName</a:t>
                      </a:r>
                      <a:endParaRPr lang="en-SG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Country</a:t>
                      </a:r>
                      <a:endParaRPr lang="en-SG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SG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1403-001</a:t>
                      </a:r>
                      <a:endParaRPr lang="en-SG" sz="1800" dirty="0"/>
                    </a:p>
                  </a:txBody>
                  <a:tcPr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James</a:t>
                      </a:r>
                      <a:endParaRPr lang="en-SG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UK</a:t>
                      </a:r>
                      <a:endParaRPr lang="en-SG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45</a:t>
                      </a:r>
                      <a:endParaRPr lang="en-SG" sz="1800" dirty="0"/>
                    </a:p>
                  </a:txBody>
                  <a:tcPr marT="45700" marB="457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1403-126</a:t>
                      </a:r>
                      <a:endParaRPr lang="en-SG" sz="1800" dirty="0"/>
                    </a:p>
                  </a:txBody>
                  <a:tcPr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June</a:t>
                      </a:r>
                      <a:endParaRPr lang="en-SG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/>
                        <a:t>Aus</a:t>
                      </a:r>
                      <a:endParaRPr lang="en-SG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26</a:t>
                      </a:r>
                      <a:endParaRPr lang="en-SG" sz="1800" dirty="0"/>
                    </a:p>
                  </a:txBody>
                  <a:tcPr marT="45700" marB="457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1403-389</a:t>
                      </a:r>
                      <a:endParaRPr lang="en-SG" sz="1800" dirty="0"/>
                    </a:p>
                  </a:txBody>
                  <a:tcPr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Jennifer</a:t>
                      </a:r>
                      <a:endParaRPr lang="en-SG" sz="1800" dirty="0"/>
                    </a:p>
                  </a:txBody>
                  <a:tcPr marT="45700" marB="457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USA</a:t>
                      </a:r>
                      <a:endParaRPr lang="en-SG" sz="1800" dirty="0"/>
                    </a:p>
                  </a:txBody>
                  <a:tcPr marT="45700" marB="457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32</a:t>
                      </a:r>
                      <a:endParaRPr lang="en-SG" sz="1800" dirty="0"/>
                    </a:p>
                  </a:txBody>
                  <a:tcPr marT="45700" marB="457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319" name="Text Box 3"/>
          <p:cNvSpPr txBox="1">
            <a:spLocks noChangeArrowheads="1"/>
          </p:cNvSpPr>
          <p:nvPr/>
        </p:nvSpPr>
        <p:spPr bwMode="auto">
          <a:xfrm>
            <a:off x="809625" y="1336675"/>
            <a:ext cx="485775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1) Table </a:t>
            </a:r>
            <a:r>
              <a:rPr lang="en-US" altLang="en-US" sz="2000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(Entity) </a:t>
            </a:r>
            <a:r>
              <a:rPr lang="en-US" altLang="en-US" sz="2000" b="1">
                <a:solidFill>
                  <a:srgbClr val="FFC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(Relation) </a:t>
            </a:r>
            <a:r>
              <a:rPr lang="en-US" altLang="en-US" sz="2000" b="1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name: </a:t>
            </a:r>
            <a:r>
              <a:rPr lang="en-US" altLang="en-US" sz="2000" b="1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CUSTOMER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124200" y="4038600"/>
            <a:ext cx="266700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sz="2000" b="1" dirty="0">
                <a:solidFill>
                  <a:schemeClr val="bg2"/>
                </a:solidFill>
                <a:latin typeface="+mn-lt"/>
              </a:rPr>
              <a:t>Equivalent Terminology</a:t>
            </a:r>
            <a:endParaRPr lang="en-US" sz="2000" b="1" dirty="0">
              <a:solidFill>
                <a:schemeClr val="bg2"/>
              </a:solidFill>
              <a:latin typeface="+mn-lt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828800" y="4594225"/>
          <a:ext cx="5257801" cy="16303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66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146">
                <a:tc>
                  <a:txBody>
                    <a:bodyPr/>
                    <a:lstStyle/>
                    <a:p>
                      <a:r>
                        <a:rPr lang="en-GB" sz="1600" dirty="0"/>
                        <a:t>SQL</a:t>
                      </a:r>
                      <a:r>
                        <a:rPr lang="en-GB" sz="1600" baseline="0" dirty="0"/>
                        <a:t> Equivalent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T="45660" marB="45660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Entity</a:t>
                      </a:r>
                      <a:r>
                        <a:rPr lang="en-GB" sz="1600" baseline="0" dirty="0"/>
                        <a:t> Relationship</a:t>
                      </a:r>
                      <a:endParaRPr lang="en-SG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T="45660" marB="45660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Relational Model</a:t>
                      </a:r>
                      <a:endParaRPr lang="en-SG" sz="1600" dirty="0"/>
                    </a:p>
                  </a:txBody>
                  <a:tcPr marT="45660" marB="456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FF00"/>
                          </a:solidFill>
                        </a:rPr>
                        <a:t>Table</a:t>
                      </a:r>
                      <a:endParaRPr lang="en-SG" sz="1800" dirty="0">
                        <a:solidFill>
                          <a:srgbClr val="FFFF00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Entity</a:t>
                      </a:r>
                      <a:endParaRPr lang="en-SG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C000"/>
                          </a:solidFill>
                        </a:rPr>
                        <a:t>Relation</a:t>
                      </a:r>
                      <a:endParaRPr lang="en-SG" sz="1800" dirty="0">
                        <a:solidFill>
                          <a:srgbClr val="FFC000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FF00"/>
                          </a:solidFill>
                        </a:rPr>
                        <a:t>Row</a:t>
                      </a:r>
                      <a:endParaRPr lang="en-SG" sz="1800" dirty="0">
                        <a:solidFill>
                          <a:srgbClr val="FFFF00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Record</a:t>
                      </a:r>
                      <a:endParaRPr lang="en-SG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C000"/>
                          </a:solidFill>
                        </a:rPr>
                        <a:t>Tuple</a:t>
                      </a:r>
                      <a:endParaRPr lang="en-SG" sz="1800" dirty="0">
                        <a:solidFill>
                          <a:srgbClr val="FFC000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FF00"/>
                          </a:solidFill>
                        </a:rPr>
                        <a:t>Column</a:t>
                      </a:r>
                      <a:endParaRPr lang="en-SG" sz="1800" dirty="0">
                        <a:solidFill>
                          <a:srgbClr val="FFFF00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Field</a:t>
                      </a:r>
                      <a:endParaRPr lang="en-SG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C000"/>
                          </a:solidFill>
                        </a:rPr>
                        <a:t>Attribute</a:t>
                      </a:r>
                      <a:endParaRPr lang="en-SG" sz="1800" dirty="0">
                        <a:solidFill>
                          <a:srgbClr val="FFC000"/>
                        </a:solidFill>
                      </a:endParaRPr>
                    </a:p>
                  </a:txBody>
                  <a:tcPr marT="45660" marB="4566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003300" y="1825625"/>
            <a:ext cx="5197475" cy="1647825"/>
            <a:chOff x="1003301" y="1825626"/>
            <a:chExt cx="5196681" cy="1647824"/>
          </a:xfrm>
        </p:grpSpPr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1003301" y="3155950"/>
              <a:ext cx="793629" cy="3175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defRPr/>
              </a:pPr>
              <a:r>
                <a:rPr lang="pt-BR" sz="1600" b="1" dirty="0">
                  <a:solidFill>
                    <a:schemeClr val="bg1"/>
                  </a:solidFill>
                  <a:latin typeface="+mn-lt"/>
                </a:rPr>
                <a:t>(Record)</a:t>
              </a:r>
              <a:endParaRPr lang="en-US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5592063" y="1825626"/>
              <a:ext cx="607919" cy="3175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defRPr/>
              </a:pPr>
              <a:r>
                <a:rPr lang="pt-BR" sz="1600" b="1" dirty="0">
                  <a:solidFill>
                    <a:schemeClr val="bg1"/>
                  </a:solidFill>
                  <a:latin typeface="+mn-lt"/>
                </a:rPr>
                <a:t>(Field)</a:t>
              </a:r>
              <a:endParaRPr lang="en-US" sz="1600" b="1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119188" y="2927350"/>
            <a:ext cx="5462587" cy="381000"/>
            <a:chOff x="100359" y="2514600"/>
            <a:chExt cx="5462241" cy="381000"/>
          </a:xfrm>
        </p:grpSpPr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100359" y="2514600"/>
              <a:ext cx="574639" cy="3190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defRPr/>
              </a:pPr>
              <a:r>
                <a:rPr lang="pt-BR" sz="1600" b="1" dirty="0">
                  <a:solidFill>
                    <a:srgbClr val="FFFF00"/>
                  </a:solidFill>
                  <a:latin typeface="+mn-lt"/>
                </a:rPr>
                <a:t>(Row)</a:t>
              </a:r>
              <a:endParaRPr lang="en-US" sz="1600" b="1" dirty="0">
                <a:solidFill>
                  <a:srgbClr val="FFFF00"/>
                </a:solidFill>
                <a:latin typeface="+mn-lt"/>
              </a:endParaRPr>
            </a:p>
          </p:txBody>
        </p:sp>
        <p:sp>
          <p:nvSpPr>
            <p:cNvPr id="2" name="Rectangle 1"/>
            <p:cNvSpPr/>
            <p:nvPr/>
          </p:nvSpPr>
          <p:spPr>
            <a:xfrm>
              <a:off x="809926" y="2514600"/>
              <a:ext cx="4752674" cy="381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S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4486275" y="1828800"/>
            <a:ext cx="1258888" cy="1881188"/>
            <a:chOff x="3466551" y="1416147"/>
            <a:chExt cx="1260000" cy="1881428"/>
          </a:xfrm>
        </p:grpSpPr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3687409" y="1416147"/>
              <a:ext cx="858007" cy="31912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defRPr/>
              </a:pPr>
              <a:r>
                <a:rPr lang="pt-BR" sz="1600" b="1" dirty="0">
                  <a:solidFill>
                    <a:srgbClr val="FFFF00"/>
                  </a:solidFill>
                  <a:latin typeface="+mn-lt"/>
                </a:rPr>
                <a:t>(Column)</a:t>
              </a:r>
              <a:endParaRPr lang="en-US" sz="1600" b="1" dirty="0">
                <a:solidFill>
                  <a:srgbClr val="FFFF00"/>
                </a:solidFill>
                <a:latin typeface="+mn-lt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466551" y="1749565"/>
              <a:ext cx="1260000" cy="15480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S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" name="Rectangle 5"/>
          <p:cNvSpPr/>
          <p:nvPr/>
        </p:nvSpPr>
        <p:spPr>
          <a:xfrm>
            <a:off x="1876425" y="4495800"/>
            <a:ext cx="1439863" cy="183673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sp>
        <p:nvSpPr>
          <p:cNvPr id="22" name="Rectangle 21"/>
          <p:cNvSpPr/>
          <p:nvPr/>
        </p:nvSpPr>
        <p:spPr>
          <a:xfrm>
            <a:off x="3457575" y="4495800"/>
            <a:ext cx="1728788" cy="18367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060450" y="1800225"/>
            <a:ext cx="6102350" cy="1935163"/>
            <a:chOff x="1059832" y="1800224"/>
            <a:chExt cx="6102968" cy="1935000"/>
          </a:xfrm>
        </p:grpSpPr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1059832" y="3416163"/>
              <a:ext cx="665230" cy="31906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defRPr/>
              </a:pPr>
              <a:r>
                <a:rPr lang="pt-BR" sz="1600" b="1" dirty="0">
                  <a:solidFill>
                    <a:srgbClr val="FFC000"/>
                  </a:solidFill>
                  <a:latin typeface="+mn-lt"/>
                </a:rPr>
                <a:t>(Tuple)</a:t>
              </a:r>
              <a:endParaRPr lang="en-US" sz="1600" b="1" dirty="0">
                <a:solidFill>
                  <a:srgbClr val="FFC000"/>
                </a:solidFill>
                <a:latin typeface="+mn-lt"/>
              </a:endParaRPr>
            </a:p>
          </p:txBody>
        </p:sp>
        <p:sp>
          <p:nvSpPr>
            <p:cNvPr id="25" name="Text Box 11"/>
            <p:cNvSpPr txBox="1">
              <a:spLocks noChangeArrowheads="1"/>
            </p:cNvSpPr>
            <p:nvPr/>
          </p:nvSpPr>
          <p:spPr bwMode="auto">
            <a:xfrm>
              <a:off x="6189564" y="1800224"/>
              <a:ext cx="973236" cy="31906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defRPr/>
              </a:pPr>
              <a:r>
                <a:rPr lang="pt-BR" sz="1600" b="1" dirty="0">
                  <a:solidFill>
                    <a:srgbClr val="FFC000"/>
                  </a:solidFill>
                  <a:latin typeface="+mn-lt"/>
                </a:rPr>
                <a:t>(Attribute)</a:t>
              </a:r>
              <a:endParaRPr lang="en-US" sz="1600" b="1" dirty="0">
                <a:solidFill>
                  <a:srgbClr val="FFC000"/>
                </a:solidFill>
                <a:latin typeface="+mn-lt"/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5314950" y="4495800"/>
            <a:ext cx="1728788" cy="183673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279400" y="2908300"/>
            <a:ext cx="8382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(Table)</a:t>
            </a:r>
            <a:r>
              <a:rPr lang="en-US" altLang="en-US" sz="2000" b="1">
                <a:solidFill>
                  <a:srgbClr val="FFC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2000" b="1">
              <a:solidFill>
                <a:srgbClr val="FF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279400" y="3143250"/>
            <a:ext cx="8128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(Entity)</a:t>
            </a:r>
            <a:r>
              <a:rPr lang="en-US" altLang="en-US" sz="1800" b="1">
                <a:solidFill>
                  <a:srgbClr val="FFC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1800" b="1">
              <a:solidFill>
                <a:srgbClr val="FF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0" y="3375025"/>
            <a:ext cx="1157288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C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(Relation) </a:t>
            </a:r>
            <a:endParaRPr lang="en-US" altLang="en-US" sz="2000" b="1">
              <a:solidFill>
                <a:srgbClr val="FF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  <p:bldP spid="26" grpId="0" animBg="1"/>
      <p:bldP spid="23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 txBox="1">
            <a:spLocks noChangeArrowheads="1"/>
          </p:cNvSpPr>
          <p:nvPr/>
        </p:nvSpPr>
        <p:spPr bwMode="auto">
          <a:xfrm>
            <a:off x="5867400" y="516192"/>
            <a:ext cx="1266107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- Self test</a:t>
            </a:r>
          </a:p>
        </p:txBody>
      </p:sp>
      <p:sp>
        <p:nvSpPr>
          <p:cNvPr id="14339" name="Title 1"/>
          <p:cNvSpPr>
            <a:spLocks noGrp="1"/>
          </p:cNvSpPr>
          <p:nvPr>
            <p:ph type="ctrTitle" idx="4294967295"/>
          </p:nvPr>
        </p:nvSpPr>
        <p:spPr>
          <a:xfrm>
            <a:off x="713447" y="396875"/>
            <a:ext cx="5190707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Terminology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862758"/>
              </p:ext>
            </p:extLst>
          </p:nvPr>
        </p:nvGraphicFramePr>
        <p:xfrm>
          <a:off x="1357313" y="1568450"/>
          <a:ext cx="629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CustID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CompName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8" marB="4571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Country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8" marB="4571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Phone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8" marB="4571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Person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8" marB="4571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SW26</a:t>
                      </a:r>
                      <a:endParaRPr lang="en-SG" sz="1600" dirty="0"/>
                    </a:p>
                  </a:txBody>
                  <a:tcPr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Unions</a:t>
                      </a:r>
                      <a:r>
                        <a:rPr lang="en-GB" sz="1600" baseline="0" dirty="0"/>
                        <a:t> </a:t>
                      </a:r>
                      <a:r>
                        <a:rPr lang="en-GB" sz="1600" dirty="0"/>
                        <a:t> Supplies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Sweden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02-12-38-456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Morgan</a:t>
                      </a:r>
                      <a:endParaRPr lang="en-SG" sz="1600" dirty="0"/>
                    </a:p>
                  </a:txBody>
                  <a:tcPr marT="45718" marB="4571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Ger30</a:t>
                      </a:r>
                      <a:endParaRPr lang="en-SG" sz="1600" dirty="0"/>
                    </a:p>
                  </a:txBody>
                  <a:tcPr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Worlds  Logistics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Germany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00-12-34-135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Smith</a:t>
                      </a:r>
                      <a:endParaRPr lang="en-SG" sz="1600" dirty="0"/>
                    </a:p>
                  </a:txBody>
                  <a:tcPr marT="45718" marB="4571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Kor56</a:t>
                      </a:r>
                      <a:endParaRPr lang="en-SG" sz="1600" dirty="0"/>
                    </a:p>
                  </a:txBody>
                  <a:tcPr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Best  Enterprises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Korean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02-32-31-532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Kim</a:t>
                      </a:r>
                      <a:endParaRPr lang="en-SG" sz="1600" dirty="0"/>
                    </a:p>
                  </a:txBody>
                  <a:tcPr marT="45718" marB="4571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USA45</a:t>
                      </a:r>
                      <a:endParaRPr lang="en-SG" sz="1600" dirty="0"/>
                    </a:p>
                  </a:txBody>
                  <a:tcPr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Sunrise  Finance</a:t>
                      </a:r>
                      <a:endParaRPr lang="en-SG" sz="1600" dirty="0"/>
                    </a:p>
                  </a:txBody>
                  <a:tcPr marT="45718" marB="45718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USA</a:t>
                      </a:r>
                      <a:endParaRPr lang="en-SG" sz="1600" dirty="0"/>
                    </a:p>
                  </a:txBody>
                  <a:tcPr marT="45718" marB="45718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12-27-82-234</a:t>
                      </a:r>
                      <a:endParaRPr lang="en-SG" sz="1600" dirty="0"/>
                    </a:p>
                  </a:txBody>
                  <a:tcPr marT="45718" marB="45718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Obama</a:t>
                      </a:r>
                      <a:endParaRPr lang="en-SG" sz="1600" dirty="0"/>
                    </a:p>
                  </a:txBody>
                  <a:tcPr marT="45718" marB="4571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78" name="Text Box 5"/>
          <p:cNvSpPr txBox="1">
            <a:spLocks noChangeArrowheads="1"/>
          </p:cNvSpPr>
          <p:nvPr/>
        </p:nvSpPr>
        <p:spPr bwMode="auto">
          <a:xfrm>
            <a:off x="6400800" y="3498850"/>
            <a:ext cx="20383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(e.g. Field name : Country)</a:t>
            </a:r>
          </a:p>
        </p:txBody>
      </p:sp>
      <p:sp>
        <p:nvSpPr>
          <p:cNvPr id="14379" name="Text Box 3"/>
          <p:cNvSpPr txBox="1">
            <a:spLocks noChangeArrowheads="1"/>
          </p:cNvSpPr>
          <p:nvPr/>
        </p:nvSpPr>
        <p:spPr bwMode="auto">
          <a:xfrm>
            <a:off x="1103313" y="1066800"/>
            <a:ext cx="5819834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(Relation / </a:t>
            </a:r>
            <a:r>
              <a:rPr lang="en-US" altLang="en-US" sz="2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/</a:t>
            </a:r>
            <a:r>
              <a:rPr lang="en-US" altLang="en-US" sz="24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b="1" dirty="0">
                <a:solidFill>
                  <a:srgbClr val="FFC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Table) </a:t>
            </a:r>
            <a:r>
              <a:rPr lang="en-US" altLang="en-US" sz="24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name: </a:t>
            </a:r>
            <a:r>
              <a:rPr lang="en-US" altLang="en-US" sz="24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</a:p>
        </p:txBody>
      </p:sp>
      <p:grpSp>
        <p:nvGrpSpPr>
          <p:cNvPr id="14380" name="Group 18"/>
          <p:cNvGrpSpPr>
            <a:grpSpLocks/>
          </p:cNvGrpSpPr>
          <p:nvPr/>
        </p:nvGrpSpPr>
        <p:grpSpPr bwMode="auto">
          <a:xfrm>
            <a:off x="4048125" y="1492250"/>
            <a:ext cx="2208213" cy="2257538"/>
            <a:chOff x="2700583" y="2414173"/>
            <a:chExt cx="2209012" cy="2387470"/>
          </a:xfrm>
        </p:grpSpPr>
        <p:sp>
          <p:nvSpPr>
            <p:cNvPr id="14424" name="Oval 4"/>
            <p:cNvSpPr>
              <a:spLocks noChangeArrowheads="1"/>
            </p:cNvSpPr>
            <p:nvPr/>
          </p:nvSpPr>
          <p:spPr bwMode="auto">
            <a:xfrm>
              <a:off x="2700583" y="2414173"/>
              <a:ext cx="1152208" cy="2087444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1" name="Text Box 5"/>
            <p:cNvSpPr txBox="1">
              <a:spLocks noChangeArrowheads="1"/>
            </p:cNvSpPr>
            <p:nvPr/>
          </p:nvSpPr>
          <p:spPr bwMode="auto">
            <a:xfrm>
              <a:off x="2821253" y="4515212"/>
              <a:ext cx="2088342" cy="2864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lIns="27432" tIns="27432" rIns="27432" bIns="27432">
              <a:spAutoFit/>
            </a:bodyPr>
            <a:lstStyle/>
            <a:p>
              <a:pPr eaLnBrk="1" hangingPunct="1">
                <a:defRPr/>
              </a:pPr>
              <a:r>
                <a:rPr lang="en-US" sz="1400" b="1" dirty="0">
                  <a:solidFill>
                    <a:srgbClr val="FFFF00"/>
                  </a:solidFill>
                  <a:latin typeface="Calibri" pitchFamily="34" charset="0"/>
                  <a:cs typeface="Calibri" pitchFamily="34" charset="0"/>
                </a:rPr>
                <a:t>(Attribute) / </a:t>
              </a: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Field</a:t>
              </a:r>
              <a:r>
                <a:rPr lang="en-US" sz="1400" b="1" dirty="0">
                  <a:solidFill>
                    <a:srgbClr val="FFFF00"/>
                  </a:solidFill>
                  <a:latin typeface="Calibri" pitchFamily="34" charset="0"/>
                  <a:cs typeface="Calibri" pitchFamily="34" charset="0"/>
                </a:rPr>
                <a:t> / </a:t>
              </a:r>
              <a:r>
                <a:rPr lang="en-US" sz="1400" b="1" dirty="0">
                  <a:solidFill>
                    <a:srgbClr val="FFC000"/>
                  </a:solidFill>
                  <a:latin typeface="Calibri" pitchFamily="34" charset="0"/>
                  <a:cs typeface="Calibri" pitchFamily="34" charset="0"/>
                </a:rPr>
                <a:t>Column</a:t>
              </a:r>
              <a:r>
                <a:rPr lang="en-US" sz="1400" b="1" dirty="0">
                  <a:solidFill>
                    <a:srgbClr val="FFFF00"/>
                  </a:solidFill>
                  <a:latin typeface="Calibri" pitchFamily="34" charset="0"/>
                  <a:cs typeface="Calibri" pitchFamily="34" charset="0"/>
                </a:rPr>
                <a:t>  </a:t>
              </a:r>
            </a:p>
          </p:txBody>
        </p:sp>
      </p:grpSp>
      <p:grpSp>
        <p:nvGrpSpPr>
          <p:cNvPr id="14381" name="Group 21"/>
          <p:cNvGrpSpPr>
            <a:grpSpLocks/>
          </p:cNvGrpSpPr>
          <p:nvPr/>
        </p:nvGrpSpPr>
        <p:grpSpPr bwMode="auto">
          <a:xfrm>
            <a:off x="498475" y="2119313"/>
            <a:ext cx="7197725" cy="701675"/>
            <a:chOff x="357618" y="3306463"/>
            <a:chExt cx="7264745" cy="700606"/>
          </a:xfrm>
        </p:grpSpPr>
        <p:sp>
          <p:nvSpPr>
            <p:cNvPr id="23" name="Oval 4"/>
            <p:cNvSpPr>
              <a:spLocks noChangeArrowheads="1"/>
            </p:cNvSpPr>
            <p:nvPr/>
          </p:nvSpPr>
          <p:spPr bwMode="auto">
            <a:xfrm>
              <a:off x="1153940" y="3451876"/>
              <a:ext cx="6468423" cy="396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n>
                  <a:solidFill>
                    <a:schemeClr val="accent2"/>
                  </a:solidFill>
                </a:ln>
                <a:solidFill>
                  <a:srgbClr val="FFFF00"/>
                </a:solidFill>
              </a:endParaRPr>
            </a:p>
          </p:txBody>
        </p:sp>
        <p:sp>
          <p:nvSpPr>
            <p:cNvPr id="24" name="Text Box 5"/>
            <p:cNvSpPr txBox="1">
              <a:spLocks noChangeArrowheads="1"/>
            </p:cNvSpPr>
            <p:nvPr/>
          </p:nvSpPr>
          <p:spPr bwMode="auto">
            <a:xfrm>
              <a:off x="357618" y="3306463"/>
              <a:ext cx="864000" cy="700606"/>
            </a:xfrm>
            <a:prstGeom prst="rect">
              <a:avLst/>
            </a:prstGeom>
            <a:noFill/>
            <a:ln w="9525">
              <a:solidFill>
                <a:srgbClr val="FFC000"/>
              </a:solidFill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lIns="27432" tIns="27432" rIns="27432" bIns="27432">
              <a:spAutoFit/>
            </a:bodyPr>
            <a:lstStyle/>
            <a:p>
              <a:pPr eaLnBrk="1" hangingPunct="1">
                <a:defRPr/>
              </a:pPr>
              <a:r>
                <a:rPr lang="en-US" sz="1400" b="1" dirty="0">
                  <a:solidFill>
                    <a:srgbClr val="FFFF00"/>
                  </a:solidFill>
                  <a:latin typeface="Calibri" pitchFamily="34" charset="0"/>
                  <a:cs typeface="Calibri" pitchFamily="34" charset="0"/>
                </a:rPr>
                <a:t>(Tuple) / </a:t>
              </a: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(Record) </a:t>
              </a:r>
              <a:r>
                <a:rPr lang="en-US" sz="1400" b="1" dirty="0">
                  <a:solidFill>
                    <a:srgbClr val="FFFF00"/>
                  </a:solidFill>
                  <a:latin typeface="Calibri" pitchFamily="34" charset="0"/>
                  <a:cs typeface="Calibri" pitchFamily="34" charset="0"/>
                </a:rPr>
                <a:t>/ </a:t>
              </a:r>
            </a:p>
            <a:p>
              <a:pPr eaLnBrk="1" hangingPunct="1">
                <a:defRPr/>
              </a:pPr>
              <a:r>
                <a:rPr lang="en-US" sz="1400" b="1" dirty="0">
                  <a:solidFill>
                    <a:srgbClr val="FFC000"/>
                  </a:solidFill>
                  <a:latin typeface="Calibri" pitchFamily="34" charset="0"/>
                  <a:cs typeface="Calibri" pitchFamily="34" charset="0"/>
                </a:rPr>
                <a:t>(Row)</a:t>
              </a:r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59159"/>
              </p:ext>
            </p:extLst>
          </p:nvPr>
        </p:nvGraphicFramePr>
        <p:xfrm>
          <a:off x="685800" y="3810000"/>
          <a:ext cx="4616450" cy="272794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461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272">
                <a:tc>
                  <a:txBody>
                    <a:bodyPr/>
                    <a:lstStyle/>
                    <a:p>
                      <a:r>
                        <a:rPr lang="en-GB" sz="1600" dirty="0"/>
                        <a:t>1) Name of </a:t>
                      </a:r>
                      <a:r>
                        <a:rPr lang="en-GB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table</a:t>
                      </a:r>
                      <a:r>
                        <a:rPr lang="en-GB" sz="16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/ entity / r</a:t>
                      </a:r>
                      <a:r>
                        <a:rPr lang="en-GB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elation</a:t>
                      </a:r>
                      <a:r>
                        <a:rPr lang="en-GB" sz="1600" dirty="0"/>
                        <a:t>:</a:t>
                      </a:r>
                      <a:endParaRPr lang="en-SG" sz="1600" dirty="0"/>
                    </a:p>
                  </a:txBody>
                  <a:tcPr marL="91448" marR="91448" marT="45687" marB="456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2">
                <a:tc>
                  <a:txBody>
                    <a:bodyPr/>
                    <a:lstStyle/>
                    <a:p>
                      <a:r>
                        <a:rPr lang="en-GB" sz="1600" dirty="0"/>
                        <a:t>2) Number</a:t>
                      </a:r>
                      <a:r>
                        <a:rPr lang="en-GB" sz="1600" baseline="0" dirty="0"/>
                        <a:t> of </a:t>
                      </a:r>
                      <a:r>
                        <a:rPr lang="en-GB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row</a:t>
                      </a:r>
                      <a:r>
                        <a:rPr lang="en-GB" sz="16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/ record / t</a:t>
                      </a:r>
                      <a:r>
                        <a:rPr lang="en-GB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uple</a:t>
                      </a:r>
                      <a:r>
                        <a:rPr lang="en-GB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</a:t>
                      </a:r>
                      <a:r>
                        <a:rPr lang="en-GB" sz="1600" baseline="0" dirty="0"/>
                        <a:t>:</a:t>
                      </a:r>
                      <a:endParaRPr lang="en-SG" sz="1600" dirty="0"/>
                    </a:p>
                  </a:txBody>
                  <a:tcPr marL="91448" marR="91448" marT="45687" marB="456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2">
                <a:tc>
                  <a:txBody>
                    <a:bodyPr/>
                    <a:lstStyle/>
                    <a:p>
                      <a:r>
                        <a:rPr lang="en-GB" sz="1600" dirty="0"/>
                        <a:t>3) Number</a:t>
                      </a:r>
                      <a:r>
                        <a:rPr lang="en-GB" sz="1600" baseline="0" dirty="0"/>
                        <a:t> of </a:t>
                      </a:r>
                      <a:r>
                        <a:rPr lang="en-GB" sz="16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column / field / attribute</a:t>
                      </a:r>
                      <a:r>
                        <a:rPr lang="en-GB" sz="1600" dirty="0"/>
                        <a:t>:</a:t>
                      </a:r>
                      <a:endParaRPr lang="en-SG" sz="1600" dirty="0"/>
                    </a:p>
                  </a:txBody>
                  <a:tcPr marL="91448" marR="91448" marT="45687" marB="456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2">
                <a:tc>
                  <a:txBody>
                    <a:bodyPr/>
                    <a:lstStyle/>
                    <a:p>
                      <a:r>
                        <a:rPr lang="en-SG" sz="1600" dirty="0"/>
                        <a:t>4) List one field name :</a:t>
                      </a:r>
                    </a:p>
                  </a:txBody>
                  <a:tcPr marL="91448" marR="91448" marT="45687" marB="45687"/>
                </a:tc>
                <a:extLst>
                  <a:ext uri="{0D108BD9-81ED-4DB2-BD59-A6C34878D82A}">
                    <a16:rowId xmlns:a16="http://schemas.microsoft.com/office/drawing/2014/main" val="3467268290"/>
                  </a:ext>
                </a:extLst>
              </a:tr>
              <a:tr h="335272">
                <a:tc>
                  <a:txBody>
                    <a:bodyPr/>
                    <a:lstStyle/>
                    <a:p>
                      <a:r>
                        <a:rPr lang="en-GB" sz="1600" dirty="0"/>
                        <a:t>5) List</a:t>
                      </a:r>
                      <a:r>
                        <a:rPr lang="en-GB" sz="1600" baseline="0" dirty="0"/>
                        <a:t> one row / record with </a:t>
                      </a:r>
                      <a:r>
                        <a:rPr lang="en-GB" sz="1600" baseline="0" dirty="0" err="1"/>
                        <a:t>CustID</a:t>
                      </a:r>
                      <a:r>
                        <a:rPr lang="en-GB" sz="1600" baseline="0" dirty="0"/>
                        <a:t>: ‘</a:t>
                      </a:r>
                      <a:r>
                        <a:rPr lang="en-GB" sz="16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Ger30</a:t>
                      </a:r>
                      <a:r>
                        <a:rPr lang="en-GB" sz="1600" baseline="0" dirty="0"/>
                        <a:t>’ :</a:t>
                      </a:r>
                      <a:endParaRPr lang="en-SG" sz="1600" dirty="0"/>
                    </a:p>
                  </a:txBody>
                  <a:tcPr marL="91448" marR="91448" marT="45687" marB="456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40">
                <a:tc>
                  <a:txBody>
                    <a:bodyPr/>
                    <a:lstStyle/>
                    <a:p>
                      <a:pPr marL="177800" indent="-177800"/>
                      <a:r>
                        <a:rPr lang="en-GB" sz="1600" dirty="0"/>
                        <a:t>6) List a value of column / field /attribute </a:t>
                      </a:r>
                      <a:r>
                        <a:rPr lang="en-GB" sz="1600" baseline="0" dirty="0"/>
                        <a:t>‘</a:t>
                      </a:r>
                      <a:r>
                        <a:rPr lang="en-GB" sz="16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Country</a:t>
                      </a:r>
                      <a:r>
                        <a:rPr lang="en-GB" sz="1600" baseline="0" dirty="0"/>
                        <a:t>’</a:t>
                      </a:r>
                      <a:r>
                        <a:rPr lang="en-GB" sz="1600" dirty="0"/>
                        <a:t> :</a:t>
                      </a:r>
                      <a:endParaRPr lang="en-SG" sz="1600" dirty="0"/>
                    </a:p>
                  </a:txBody>
                  <a:tcPr marL="91448" marR="91448" marT="45687" marB="4568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72">
                <a:tc>
                  <a:txBody>
                    <a:bodyPr/>
                    <a:lstStyle/>
                    <a:p>
                      <a:pPr marL="0" indent="0"/>
                      <a:r>
                        <a:rPr lang="en-GB" sz="1600" dirty="0"/>
                        <a:t>7) List an </a:t>
                      </a:r>
                      <a:r>
                        <a:rPr lang="en-GB" sz="1600" b="1" dirty="0">
                          <a:effectLst/>
                        </a:rPr>
                        <a:t>entity instance </a:t>
                      </a:r>
                      <a:r>
                        <a:rPr lang="en-GB" sz="1600" dirty="0"/>
                        <a:t>with </a:t>
                      </a:r>
                      <a:r>
                        <a:rPr lang="en-GB" sz="1600" dirty="0" err="1"/>
                        <a:t>CustID</a:t>
                      </a:r>
                      <a:r>
                        <a:rPr lang="en-GB" sz="1600" dirty="0"/>
                        <a:t>: ‘USA45’ :</a:t>
                      </a:r>
                      <a:endParaRPr lang="en-SG" sz="1600" dirty="0"/>
                    </a:p>
                  </a:txBody>
                  <a:tcPr marL="91448" marR="91448" marT="45687" marB="4568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72">
                <a:tc>
                  <a:txBody>
                    <a:bodyPr/>
                    <a:lstStyle/>
                    <a:p>
                      <a:r>
                        <a:rPr lang="en-GB" sz="1600" dirty="0"/>
                        <a:t>8) List an </a:t>
                      </a:r>
                      <a:r>
                        <a:rPr lang="en-GB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attribute</a:t>
                      </a:r>
                      <a:r>
                        <a:rPr lang="en-GB" sz="16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instance </a:t>
                      </a:r>
                      <a:r>
                        <a:rPr lang="en-GB" sz="1600" baseline="0" dirty="0"/>
                        <a:t>of ‘Person’</a:t>
                      </a:r>
                      <a:endParaRPr lang="en-SG" sz="1600" dirty="0"/>
                    </a:p>
                  </a:txBody>
                  <a:tcPr marL="91448" marR="91448" marT="45687" marB="4568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53587"/>
              </p:ext>
            </p:extLst>
          </p:nvPr>
        </p:nvGraphicFramePr>
        <p:xfrm>
          <a:off x="5348288" y="3838575"/>
          <a:ext cx="3536950" cy="271151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53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46">
                <a:tc>
                  <a:txBody>
                    <a:bodyPr/>
                    <a:lstStyle/>
                    <a:p>
                      <a:r>
                        <a:rPr lang="en-GB" sz="1600" dirty="0"/>
                        <a:t>CUSTOMERS</a:t>
                      </a:r>
                      <a:endParaRPr lang="en-SG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23" marR="91423" marT="45674" marB="4567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567">
                <a:tc>
                  <a:txBody>
                    <a:bodyPr/>
                    <a:lstStyle/>
                    <a:p>
                      <a:pPr marL="0" indent="0"/>
                      <a:r>
                        <a:rPr lang="en-GB" sz="1600" dirty="0"/>
                        <a:t> 4</a:t>
                      </a:r>
                      <a:endParaRPr lang="en-SG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5994" marR="35994" marT="35963" marB="3596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46">
                <a:tc>
                  <a:txBody>
                    <a:bodyPr/>
                    <a:lstStyle/>
                    <a:p>
                      <a:pPr marL="0" indent="0"/>
                      <a:r>
                        <a:rPr lang="en-GB" sz="1600" dirty="0"/>
                        <a:t>5</a:t>
                      </a:r>
                      <a:endParaRPr lang="en-SG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23" marR="91423" marT="45674" marB="4567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46">
                <a:tc>
                  <a:txBody>
                    <a:bodyPr/>
                    <a:lstStyle/>
                    <a:p>
                      <a:r>
                        <a:rPr lang="en-SG" sz="1600" dirty="0"/>
                        <a:t>Country</a:t>
                      </a:r>
                    </a:p>
                  </a:txBody>
                  <a:tcPr marL="91423" marR="91423" marT="45674" marB="45674"/>
                </a:tc>
                <a:extLst>
                  <a:ext uri="{0D108BD9-81ED-4DB2-BD59-A6C34878D82A}">
                    <a16:rowId xmlns:a16="http://schemas.microsoft.com/office/drawing/2014/main" val="759077763"/>
                  </a:ext>
                </a:extLst>
              </a:tr>
              <a:tr h="341346">
                <a:tc>
                  <a:txBody>
                    <a:bodyPr/>
                    <a:lstStyle/>
                    <a:p>
                      <a:r>
                        <a:rPr lang="en-GB" sz="1600" dirty="0"/>
                        <a:t>Ger30, Worlds …Germany..1345..</a:t>
                      </a:r>
                      <a:r>
                        <a:rPr lang="en-GB" sz="1600" baseline="0" dirty="0"/>
                        <a:t> </a:t>
                      </a:r>
                      <a:r>
                        <a:rPr lang="en-GB" sz="1600" dirty="0"/>
                        <a:t>.Smith</a:t>
                      </a:r>
                      <a:endParaRPr lang="en-SG" sz="1600" dirty="0"/>
                    </a:p>
                  </a:txBody>
                  <a:tcPr marL="91423" marR="91423" marT="45674" marB="4567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874">
                <a:tc>
                  <a:txBody>
                    <a:bodyPr/>
                    <a:lstStyle/>
                    <a:p>
                      <a:r>
                        <a:rPr lang="en-GB" sz="1600" dirty="0"/>
                        <a:t>Germany</a:t>
                      </a:r>
                      <a:endParaRPr lang="en-SG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23" marR="91423" marT="45674" marB="4567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46">
                <a:tc>
                  <a:txBody>
                    <a:bodyPr/>
                    <a:lstStyle/>
                    <a:p>
                      <a:r>
                        <a:rPr lang="en-GB" sz="1600" dirty="0"/>
                        <a:t>USA45, Sunrise..USA..12..-234..Obama</a:t>
                      </a:r>
                      <a:endParaRPr lang="en-SG" sz="1600" dirty="0"/>
                    </a:p>
                  </a:txBody>
                  <a:tcPr marL="91423" marR="91423" marT="45674" marB="4567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46">
                <a:tc>
                  <a:txBody>
                    <a:bodyPr/>
                    <a:lstStyle/>
                    <a:p>
                      <a:r>
                        <a:rPr lang="en-GB" sz="1600" dirty="0"/>
                        <a:t>Smith</a:t>
                      </a:r>
                      <a:endParaRPr lang="en-SG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23" marR="91423" marT="45674" marB="4567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5348748" y="3839496"/>
            <a:ext cx="35179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48748" y="4191000"/>
            <a:ext cx="35179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368416" y="4527756"/>
            <a:ext cx="35179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363496" y="4862052"/>
            <a:ext cx="35179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68416" y="5181600"/>
            <a:ext cx="35179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365956" y="5533104"/>
            <a:ext cx="35179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348748" y="5867400"/>
            <a:ext cx="35179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368416" y="6233652"/>
            <a:ext cx="35179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03225"/>
            <a:ext cx="4559124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Relations and Relationship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5447" t="22916" r="40043" b="44793"/>
          <a:stretch/>
        </p:blipFill>
        <p:spPr>
          <a:xfrm>
            <a:off x="987490" y="3738531"/>
            <a:ext cx="7274105" cy="29670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Subtitle 2"/>
          <p:cNvSpPr txBox="1">
            <a:spLocks/>
          </p:cNvSpPr>
          <p:nvPr/>
        </p:nvSpPr>
        <p:spPr bwMode="auto">
          <a:xfrm>
            <a:off x="685800" y="2467896"/>
            <a:ext cx="78486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In </a:t>
            </a:r>
            <a:r>
              <a:rPr lang="en-GB" altLang="en-US" sz="2400" b="1" dirty="0">
                <a:solidFill>
                  <a:srgbClr val="FFFF00"/>
                </a:solidFill>
                <a:cs typeface="Times New Roman" panose="02020603050405020304" pitchFamily="18" charset="0"/>
              </a:rPr>
              <a:t>Relational model, relationships </a:t>
            </a: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existed</a:t>
            </a:r>
            <a:r>
              <a:rPr lang="en-GB" altLang="en-US" sz="2400" b="1" dirty="0">
                <a:solidFill>
                  <a:srgbClr val="FFFF00"/>
                </a:solidFill>
                <a:cs typeface="Times New Roman" panose="02020603050405020304" pitchFamily="18" charset="0"/>
              </a:rPr>
              <a:t> </a:t>
            </a: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between relations. </a:t>
            </a:r>
          </a:p>
          <a:p>
            <a:pPr eaLnBrk="1" hangingPunct="1">
              <a:spcBef>
                <a:spcPct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GB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Relationship linked the common attributes (fields / columns) in two adjacent relations (entities / tables).</a:t>
            </a:r>
          </a:p>
        </p:txBody>
      </p:sp>
      <p:grpSp>
        <p:nvGrpSpPr>
          <p:cNvPr id="15369" name="Group 5"/>
          <p:cNvGrpSpPr>
            <a:grpSpLocks/>
          </p:cNvGrpSpPr>
          <p:nvPr/>
        </p:nvGrpSpPr>
        <p:grpSpPr bwMode="auto">
          <a:xfrm>
            <a:off x="3403145" y="3886203"/>
            <a:ext cx="2464255" cy="990606"/>
            <a:chOff x="4716084" y="7033400"/>
            <a:chExt cx="2214276" cy="745109"/>
          </a:xfrm>
        </p:grpSpPr>
        <p:sp>
          <p:nvSpPr>
            <p:cNvPr id="15370" name="TextBox 1"/>
            <p:cNvSpPr txBox="1">
              <a:spLocks noChangeArrowheads="1"/>
            </p:cNvSpPr>
            <p:nvPr/>
          </p:nvSpPr>
          <p:spPr bwMode="auto">
            <a:xfrm>
              <a:off x="5081667" y="7033400"/>
              <a:ext cx="1346354" cy="2861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000" b="1" dirty="0">
                  <a:ea typeface="Calibri" panose="020F0502020204030204" pitchFamily="34" charset="0"/>
                  <a:cs typeface="Calibri" panose="020F0502020204030204" pitchFamily="34" charset="0"/>
                </a:rPr>
                <a:t>Relationships</a:t>
              </a:r>
              <a:endParaRPr lang="en-SG" altLang="en-US" sz="2000" b="1" dirty="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" name="Freeform 1"/>
            <p:cNvSpPr/>
            <p:nvPr/>
          </p:nvSpPr>
          <p:spPr>
            <a:xfrm>
              <a:off x="4716084" y="7319587"/>
              <a:ext cx="228643" cy="397504"/>
            </a:xfrm>
            <a:custGeom>
              <a:avLst/>
              <a:gdLst>
                <a:gd name="connsiteX0" fmla="*/ 475013 w 475013"/>
                <a:gd name="connsiteY0" fmla="*/ 0 h 736270"/>
                <a:gd name="connsiteX1" fmla="*/ 142504 w 475013"/>
                <a:gd name="connsiteY1" fmla="*/ 439387 h 736270"/>
                <a:gd name="connsiteX2" fmla="*/ 0 w 475013"/>
                <a:gd name="connsiteY2" fmla="*/ 736270 h 736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5013" h="736270">
                  <a:moveTo>
                    <a:pt x="475013" y="0"/>
                  </a:moveTo>
                  <a:cubicBezTo>
                    <a:pt x="348343" y="158337"/>
                    <a:pt x="221673" y="316675"/>
                    <a:pt x="142504" y="439387"/>
                  </a:cubicBezTo>
                  <a:cubicBezTo>
                    <a:pt x="63335" y="562099"/>
                    <a:pt x="31667" y="649184"/>
                    <a:pt x="0" y="736270"/>
                  </a:cubicBezTo>
                </a:path>
              </a:pathLst>
            </a:custGeom>
            <a:ln w="127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SG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6428021" y="7319587"/>
              <a:ext cx="502339" cy="458922"/>
            </a:xfrm>
            <a:prstGeom prst="line">
              <a:avLst/>
            </a:prstGeom>
            <a:ln w="127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1198891" y="6432098"/>
            <a:ext cx="6949440" cy="2881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>
              <a:buNone/>
              <a:defRPr/>
            </a:pPr>
            <a:r>
              <a:rPr lang="en-US" altLang="en-US" sz="1400" dirty="0">
                <a:solidFill>
                  <a:srgbClr val="FF0000"/>
                </a:solidFill>
                <a:cs typeface="Times New Roman" pitchFamily="18" charset="0"/>
              </a:rPr>
              <a:t>EMPLOYEE (</a:t>
            </a:r>
            <a:r>
              <a:rPr lang="en-US" altLang="en-US" sz="1400" b="1" u="sng" dirty="0" err="1">
                <a:solidFill>
                  <a:srgbClr val="FF0000"/>
                </a:solidFill>
                <a:cs typeface="Times New Roman" pitchFamily="18" charset="0"/>
              </a:rPr>
              <a:t>EmployeeID</a:t>
            </a:r>
            <a:r>
              <a:rPr lang="en-US" altLang="en-US" sz="1400" dirty="0">
                <a:solidFill>
                  <a:srgbClr val="FF0000"/>
                </a:solidFill>
                <a:cs typeface="Times New Roman" pitchFamily="18" charset="0"/>
              </a:rPr>
              <a:t>, </a:t>
            </a:r>
            <a:r>
              <a:rPr lang="en-US" altLang="en-US" sz="1400" dirty="0" err="1">
                <a:solidFill>
                  <a:srgbClr val="FF0000"/>
                </a:solidFill>
                <a:cs typeface="Times New Roman" pitchFamily="18" charset="0"/>
              </a:rPr>
              <a:t>EmployeeName</a:t>
            </a:r>
            <a:r>
              <a:rPr lang="en-US" altLang="en-US" sz="1400" dirty="0">
                <a:solidFill>
                  <a:srgbClr val="FF0000"/>
                </a:solidFill>
                <a:cs typeface="Times New Roman" pitchFamily="18" charset="0"/>
              </a:rPr>
              <a:t>, Gender, Salary, </a:t>
            </a:r>
            <a:r>
              <a:rPr lang="en-US" altLang="en-US" sz="1400" dirty="0" err="1">
                <a:solidFill>
                  <a:srgbClr val="FF0000"/>
                </a:solidFill>
                <a:cs typeface="Times New Roman" pitchFamily="18" charset="0"/>
              </a:rPr>
              <a:t>DesignationCode</a:t>
            </a:r>
            <a:r>
              <a:rPr lang="en-US" altLang="en-US" sz="1400" dirty="0">
                <a:solidFill>
                  <a:srgbClr val="FF0000"/>
                </a:solidFill>
                <a:cs typeface="Times New Roman" pitchFamily="18" charset="0"/>
              </a:rPr>
              <a:t>, </a:t>
            </a:r>
            <a:r>
              <a:rPr lang="en-US" altLang="en-US" sz="1400" dirty="0" err="1">
                <a:solidFill>
                  <a:srgbClr val="FF0000"/>
                </a:solidFill>
                <a:cs typeface="Times New Roman" pitchFamily="18" charset="0"/>
              </a:rPr>
              <a:t>DepartmentCode</a:t>
            </a:r>
            <a:r>
              <a:rPr lang="en-US" altLang="en-US" sz="1400" dirty="0">
                <a:solidFill>
                  <a:srgbClr val="FF0000"/>
                </a:solidFill>
                <a:cs typeface="Times New Roman" pitchFamily="18" charset="0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304800" y="5134896"/>
            <a:ext cx="1230313" cy="307975"/>
          </a:xfrm>
          <a:prstGeom prst="wedgeRectCallout">
            <a:avLst>
              <a:gd name="adj1" fmla="val 67245"/>
              <a:gd name="adj2" fmla="val -69168"/>
            </a:avLst>
          </a:prstGeom>
          <a:solidFill>
            <a:srgbClr val="FFFF00"/>
          </a:solidFill>
          <a:ln>
            <a:solidFill>
              <a:srgbClr val="181CAC"/>
            </a:solidFill>
          </a:ln>
        </p:spPr>
        <p:txBody>
          <a:bodyPr wrap="none" lIns="45720" rIns="45720">
            <a:spAutoFit/>
          </a:bodyPr>
          <a:lstStyle/>
          <a:p>
            <a:pPr eaLnBrk="1" hangingPunct="1">
              <a:defRPr/>
            </a:pPr>
            <a:r>
              <a:rPr lang="en-GB" sz="1400" b="1" dirty="0">
                <a:latin typeface="+mn-lt"/>
              </a:rPr>
              <a:t>Attribute name</a:t>
            </a:r>
            <a:endParaRPr lang="en-US" sz="1400" b="1" dirty="0">
              <a:latin typeface="+mn-lt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85800" y="1100024"/>
            <a:ext cx="78486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273050" indent="-273050">
              <a:buFont typeface="Courier New" panose="02070309020205020404" pitchFamily="49" charset="0"/>
              <a:buChar char="o"/>
              <a:defRPr/>
            </a:pPr>
            <a:r>
              <a:rPr lang="en-US" altLang="en-US" sz="2400" dirty="0">
                <a:solidFill>
                  <a:schemeClr val="bg1"/>
                </a:solidFill>
                <a:cs typeface="Times New Roman" pitchFamily="18" charset="0"/>
              </a:rPr>
              <a:t>A relation / (entity/ table) is an identifiable object </a:t>
            </a:r>
            <a:r>
              <a:rPr lang="en-US" altLang="en-US" sz="2400" dirty="0">
                <a:solidFill>
                  <a:srgbClr val="FFFF00"/>
                </a:solidFill>
                <a:cs typeface="Times New Roman" pitchFamily="18" charset="0"/>
              </a:rPr>
              <a:t>(</a:t>
            </a:r>
            <a:r>
              <a:rPr lang="en-US" sz="2000" dirty="0">
                <a:solidFill>
                  <a:srgbClr val="FFFF00"/>
                </a:solidFill>
                <a:latin typeface="+mn-lt"/>
              </a:rPr>
              <a:t>a person, a place, a thing, or an event)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 about which data are to be collected and stored.</a:t>
            </a:r>
            <a:endParaRPr lang="en-US" altLang="en-US" sz="24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3022195" y="6138871"/>
            <a:ext cx="711605" cy="307777"/>
          </a:xfrm>
          <a:prstGeom prst="wedgeRectCallout">
            <a:avLst>
              <a:gd name="adj1" fmla="val 67245"/>
              <a:gd name="adj2" fmla="val -69168"/>
            </a:avLst>
          </a:prstGeom>
          <a:solidFill>
            <a:srgbClr val="FFFF00"/>
          </a:solidFill>
          <a:ln>
            <a:solidFill>
              <a:srgbClr val="181CAC"/>
            </a:solidFill>
          </a:ln>
        </p:spPr>
        <p:txBody>
          <a:bodyPr wrap="none" lIns="45720" rIns="45720">
            <a:spAutoFit/>
          </a:bodyPr>
          <a:lstStyle/>
          <a:p>
            <a:pPr eaLnBrk="1" hangingPunct="1">
              <a:defRPr/>
            </a:pPr>
            <a:r>
              <a:rPr lang="en-GB" sz="1400" b="1" dirty="0">
                <a:latin typeface="+mn-lt"/>
              </a:rPr>
              <a:t>Relation</a:t>
            </a:r>
            <a:endParaRPr lang="en-US" sz="1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9703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49254"/>
            <a:ext cx="6078193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Presentation of Relations (Entities)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762000" y="1143000"/>
            <a:ext cx="5341818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28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Different ways of display a relation: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596271"/>
              </p:ext>
            </p:extLst>
          </p:nvPr>
        </p:nvGraphicFramePr>
        <p:xfrm>
          <a:off x="1263650" y="1949450"/>
          <a:ext cx="1438275" cy="346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843988"/>
              </p:ext>
            </p:extLst>
          </p:nvPr>
        </p:nvGraphicFramePr>
        <p:xfrm>
          <a:off x="6580188" y="1981200"/>
          <a:ext cx="1438275" cy="173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>
                          <a:solidFill>
                            <a:srgbClr val="C00000"/>
                          </a:solidFill>
                        </a:rPr>
                        <a:t>EmpID</a:t>
                      </a:r>
                      <a:endParaRPr lang="en-SG" sz="18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C00000"/>
                          </a:solidFill>
                        </a:rPr>
                        <a:t>Gender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>
                          <a:solidFill>
                            <a:srgbClr val="C00000"/>
                          </a:solidFill>
                        </a:rPr>
                        <a:t>DepNo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634837"/>
              </p:ext>
            </p:extLst>
          </p:nvPr>
        </p:nvGraphicFramePr>
        <p:xfrm>
          <a:off x="3814610" y="1949450"/>
          <a:ext cx="1438275" cy="69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>
                          <a:solidFill>
                            <a:srgbClr val="C00000"/>
                          </a:solidFill>
                        </a:rPr>
                        <a:t>EmpID</a:t>
                      </a:r>
                      <a:endParaRPr lang="en-SG" sz="18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6416" name="Group 1"/>
          <p:cNvGrpSpPr>
            <a:grpSpLocks/>
          </p:cNvGrpSpPr>
          <p:nvPr/>
        </p:nvGrpSpPr>
        <p:grpSpPr bwMode="auto">
          <a:xfrm>
            <a:off x="2764366" y="4321175"/>
            <a:ext cx="3074987" cy="1389063"/>
            <a:chOff x="898634" y="3834050"/>
            <a:chExt cx="4800600" cy="2133600"/>
          </a:xfrm>
        </p:grpSpPr>
        <p:sp>
          <p:nvSpPr>
            <p:cNvPr id="24" name="Rectangle 23"/>
            <p:cNvSpPr/>
            <p:nvPr/>
          </p:nvSpPr>
          <p:spPr>
            <a:xfrm>
              <a:off x="898634" y="3834050"/>
              <a:ext cx="4800600" cy="2133600"/>
            </a:xfrm>
            <a:prstGeom prst="rect">
              <a:avLst/>
            </a:prstGeom>
            <a:solidFill>
              <a:schemeClr val="bg2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anchor="ctr">
              <a:spAutoFit/>
            </a:bodyPr>
            <a:lstStyle/>
            <a:p>
              <a:pPr algn="ctr" eaLnBrk="1" hangingPunct="1">
                <a:defRPr/>
              </a:pPr>
              <a:endParaRPr lang="en-US"/>
            </a:p>
          </p:txBody>
        </p:sp>
        <p:grpSp>
          <p:nvGrpSpPr>
            <p:cNvPr id="16430" name="Group 22"/>
            <p:cNvGrpSpPr>
              <a:grpSpLocks/>
            </p:cNvGrpSpPr>
            <p:nvPr/>
          </p:nvGrpSpPr>
          <p:grpSpPr bwMode="auto">
            <a:xfrm>
              <a:off x="1282341" y="4052881"/>
              <a:ext cx="4344553" cy="1723988"/>
              <a:chOff x="2514241" y="3309380"/>
              <a:chExt cx="4344553" cy="1723361"/>
            </a:xfrm>
          </p:grpSpPr>
          <p:sp>
            <p:nvSpPr>
              <p:cNvPr id="26" name="Text Box 4"/>
              <p:cNvSpPr txBox="1">
                <a:spLocks noChangeArrowheads="1"/>
              </p:cNvSpPr>
              <p:nvPr/>
            </p:nvSpPr>
            <p:spPr bwMode="auto">
              <a:xfrm>
                <a:off x="3558074" y="4514136"/>
                <a:ext cx="2074394" cy="519191"/>
              </a:xfrm>
              <a:prstGeom prst="rect">
                <a:avLst/>
              </a:prstGeom>
              <a:solidFill>
                <a:schemeClr val="accent2"/>
              </a:solidFill>
              <a:ln w="22225">
                <a:solidFill>
                  <a:srgbClr val="060606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kumimoji="1" lang="en-US" sz="1600" b="1" dirty="0">
                    <a:solidFill>
                      <a:srgbClr val="060606"/>
                    </a:solidFill>
                    <a:latin typeface="+mn-lt"/>
                  </a:rPr>
                  <a:t>EMPLOYEES</a:t>
                </a:r>
              </a:p>
            </p:txBody>
          </p:sp>
          <p:sp>
            <p:nvSpPr>
              <p:cNvPr id="27" name="Oval 5"/>
              <p:cNvSpPr>
                <a:spLocks noChangeArrowheads="1"/>
              </p:cNvSpPr>
              <p:nvPr/>
            </p:nvSpPr>
            <p:spPr bwMode="auto">
              <a:xfrm>
                <a:off x="3734037" y="3310005"/>
                <a:ext cx="1439933" cy="46800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 b="1" u="sng" dirty="0" err="1">
                    <a:latin typeface="+mn-lt"/>
                  </a:rPr>
                  <a:t>EmpID</a:t>
                </a:r>
                <a:endParaRPr lang="en-US" sz="1600" b="1" u="sng" dirty="0">
                  <a:latin typeface="+mn-lt"/>
                </a:endParaRPr>
              </a:p>
            </p:txBody>
          </p:sp>
          <p:sp>
            <p:nvSpPr>
              <p:cNvPr id="28" name="Oval 6"/>
              <p:cNvSpPr>
                <a:spLocks noChangeArrowheads="1"/>
              </p:cNvSpPr>
              <p:nvPr/>
            </p:nvSpPr>
            <p:spPr bwMode="auto">
              <a:xfrm>
                <a:off x="5082270" y="3743882"/>
                <a:ext cx="1615896" cy="43144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 dirty="0" err="1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EmpName</a:t>
                </a:r>
                <a:endParaRPr lang="en-US" sz="1600" dirty="0">
                  <a:solidFill>
                    <a:schemeClr val="bg2">
                      <a:lumMod val="1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29" name="Oval 7"/>
              <p:cNvSpPr>
                <a:spLocks noChangeArrowheads="1"/>
              </p:cNvSpPr>
              <p:nvPr/>
            </p:nvSpPr>
            <p:spPr bwMode="auto">
              <a:xfrm>
                <a:off x="2514680" y="3856008"/>
                <a:ext cx="1187139" cy="3241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 dirty="0" err="1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DepNo</a:t>
                </a:r>
                <a:endParaRPr lang="en-US" sz="1600" dirty="0">
                  <a:solidFill>
                    <a:schemeClr val="bg2">
                      <a:lumMod val="1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16435" name="Line 8"/>
              <p:cNvSpPr>
                <a:spLocks noChangeShapeType="1"/>
              </p:cNvSpPr>
              <p:nvPr/>
            </p:nvSpPr>
            <p:spPr bwMode="auto">
              <a:xfrm>
                <a:off x="3048000" y="4191000"/>
                <a:ext cx="1447800" cy="381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16436" name="Line 9"/>
              <p:cNvSpPr>
                <a:spLocks noChangeShapeType="1"/>
              </p:cNvSpPr>
              <p:nvPr/>
            </p:nvSpPr>
            <p:spPr bwMode="auto">
              <a:xfrm>
                <a:off x="4485822" y="3797300"/>
                <a:ext cx="0" cy="7589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16437" name="Line 10"/>
              <p:cNvSpPr>
                <a:spLocks noChangeShapeType="1"/>
              </p:cNvSpPr>
              <p:nvPr/>
            </p:nvSpPr>
            <p:spPr bwMode="auto">
              <a:xfrm flipH="1">
                <a:off x="4495800" y="4191000"/>
                <a:ext cx="1371600" cy="381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33" name="Oval 6"/>
              <p:cNvSpPr>
                <a:spLocks noChangeArrowheads="1"/>
              </p:cNvSpPr>
              <p:nvPr/>
            </p:nvSpPr>
            <p:spPr bwMode="auto">
              <a:xfrm>
                <a:off x="5791083" y="4536075"/>
                <a:ext cx="1068178" cy="44118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Gender</a:t>
                </a:r>
              </a:p>
            </p:txBody>
          </p:sp>
          <p:cxnSp>
            <p:nvCxnSpPr>
              <p:cNvPr id="36" name="Straight Connector 35"/>
              <p:cNvCxnSpPr>
                <a:stCxn id="33" idx="2"/>
                <a:endCxn id="26" idx="3"/>
              </p:cNvCxnSpPr>
              <p:nvPr/>
            </p:nvCxnSpPr>
            <p:spPr bwMode="auto">
              <a:xfrm flipH="1">
                <a:off x="5632468" y="4755451"/>
                <a:ext cx="158616" cy="170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418" name="Group 2"/>
          <p:cNvGrpSpPr>
            <a:grpSpLocks/>
          </p:cNvGrpSpPr>
          <p:nvPr/>
        </p:nvGrpSpPr>
        <p:grpSpPr bwMode="auto">
          <a:xfrm>
            <a:off x="871538" y="2413000"/>
            <a:ext cx="1827212" cy="565150"/>
            <a:chOff x="871629" y="3803650"/>
            <a:chExt cx="1827121" cy="565146"/>
          </a:xfrm>
        </p:grpSpPr>
        <p:sp>
          <p:nvSpPr>
            <p:cNvPr id="6" name="Rectangle 5"/>
            <p:cNvSpPr/>
            <p:nvPr/>
          </p:nvSpPr>
          <p:spPr>
            <a:xfrm>
              <a:off x="1330393" y="3803650"/>
              <a:ext cx="1368357" cy="565146"/>
            </a:xfrm>
            <a:prstGeom prst="rect">
              <a:avLst/>
            </a:prstGeom>
          </p:spPr>
          <p:txBody>
            <a:bodyPr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  <a:latin typeface="+mn-lt"/>
                </a:rPr>
                <a:t>A relation with no attribute</a:t>
              </a:r>
            </a:p>
          </p:txBody>
        </p:sp>
        <p:sp>
          <p:nvSpPr>
            <p:cNvPr id="16428" name="TextBox 1"/>
            <p:cNvSpPr>
              <a:spLocks noChangeArrowheads="1"/>
            </p:cNvSpPr>
            <p:nvPr/>
          </p:nvSpPr>
          <p:spPr bwMode="auto">
            <a:xfrm>
              <a:off x="871629" y="3809900"/>
              <a:ext cx="360000" cy="354072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 b="1">
                  <a:solidFill>
                    <a:schemeClr val="bg1"/>
                  </a:solidFill>
                </a:rPr>
                <a:t>1</a:t>
              </a:r>
              <a:endParaRPr lang="en-SG" altLang="en-US" sz="1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6419" name="Group 3"/>
          <p:cNvGrpSpPr>
            <a:grpSpLocks/>
          </p:cNvGrpSpPr>
          <p:nvPr/>
        </p:nvGrpSpPr>
        <p:grpSpPr bwMode="auto">
          <a:xfrm>
            <a:off x="3300260" y="2682875"/>
            <a:ext cx="2382837" cy="623888"/>
            <a:chOff x="3111142" y="3909189"/>
            <a:chExt cx="2382537" cy="622303"/>
          </a:xfrm>
        </p:grpSpPr>
        <p:sp>
          <p:nvSpPr>
            <p:cNvPr id="21" name="Rectangle 20"/>
            <p:cNvSpPr/>
            <p:nvPr/>
          </p:nvSpPr>
          <p:spPr>
            <a:xfrm>
              <a:off x="3549237" y="3920274"/>
              <a:ext cx="1944442" cy="611218"/>
            </a:xfrm>
            <a:prstGeom prst="rect">
              <a:avLst/>
            </a:prstGeom>
          </p:spPr>
          <p:txBody>
            <a:bodyPr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  <a:latin typeface="+mn-lt"/>
                </a:rPr>
                <a:t>A relation showing only one key attribute</a:t>
              </a:r>
            </a:p>
          </p:txBody>
        </p:sp>
        <p:sp>
          <p:nvSpPr>
            <p:cNvPr id="16426" name="TextBox 29"/>
            <p:cNvSpPr>
              <a:spLocks noChangeArrowheads="1"/>
            </p:cNvSpPr>
            <p:nvPr/>
          </p:nvSpPr>
          <p:spPr bwMode="auto">
            <a:xfrm>
              <a:off x="3111142" y="3909189"/>
              <a:ext cx="360000" cy="354072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 b="1">
                  <a:solidFill>
                    <a:schemeClr val="bg1"/>
                  </a:solidFill>
                </a:rPr>
                <a:t>2</a:t>
              </a:r>
              <a:endParaRPr lang="en-SG" altLang="en-US" sz="1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6420" name="Group 4"/>
          <p:cNvGrpSpPr>
            <a:grpSpLocks/>
          </p:cNvGrpSpPr>
          <p:nvPr/>
        </p:nvGrpSpPr>
        <p:grpSpPr bwMode="auto">
          <a:xfrm>
            <a:off x="6221413" y="3756025"/>
            <a:ext cx="2084387" cy="574675"/>
            <a:chOff x="5867400" y="4692650"/>
            <a:chExt cx="2084624" cy="576000"/>
          </a:xfrm>
        </p:grpSpPr>
        <p:sp>
          <p:nvSpPr>
            <p:cNvPr id="22" name="Rectangle 21"/>
            <p:cNvSpPr/>
            <p:nvPr/>
          </p:nvSpPr>
          <p:spPr>
            <a:xfrm>
              <a:off x="6296074" y="4692650"/>
              <a:ext cx="1655950" cy="576000"/>
            </a:xfrm>
            <a:prstGeom prst="rect">
              <a:avLst/>
            </a:prstGeom>
          </p:spPr>
          <p:txBody>
            <a:bodyPr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  <a:latin typeface="+mn-lt"/>
                </a:rPr>
                <a:t>A relation showing all attributes</a:t>
              </a:r>
            </a:p>
          </p:txBody>
        </p:sp>
        <p:sp>
          <p:nvSpPr>
            <p:cNvPr id="16424" name="TextBox 30"/>
            <p:cNvSpPr>
              <a:spLocks noChangeArrowheads="1"/>
            </p:cNvSpPr>
            <p:nvPr/>
          </p:nvSpPr>
          <p:spPr bwMode="auto">
            <a:xfrm>
              <a:off x="5867400" y="4698279"/>
              <a:ext cx="360000" cy="354072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 b="1">
                  <a:solidFill>
                    <a:schemeClr val="bg1"/>
                  </a:solidFill>
                </a:rPr>
                <a:t>3</a:t>
              </a:r>
              <a:endParaRPr lang="en-SG" altLang="en-US" sz="1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6421" name="Group 7"/>
          <p:cNvGrpSpPr>
            <a:grpSpLocks/>
          </p:cNvGrpSpPr>
          <p:nvPr/>
        </p:nvGrpSpPr>
        <p:grpSpPr bwMode="auto">
          <a:xfrm>
            <a:off x="2867553" y="5959475"/>
            <a:ext cx="2743200" cy="669925"/>
            <a:chOff x="2742805" y="6292850"/>
            <a:chExt cx="2744553" cy="670050"/>
          </a:xfrm>
        </p:grpSpPr>
        <p:sp>
          <p:nvSpPr>
            <p:cNvPr id="37" name="Rectangle 36"/>
            <p:cNvSpPr/>
            <p:nvPr/>
          </p:nvSpPr>
          <p:spPr>
            <a:xfrm>
              <a:off x="3217702" y="6351599"/>
              <a:ext cx="2269656" cy="611301"/>
            </a:xfrm>
            <a:prstGeom prst="rect">
              <a:avLst/>
            </a:prstGeom>
          </p:spPr>
          <p:txBody>
            <a:bodyPr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A relation with attributes by Chen’s Notation</a:t>
              </a:r>
            </a:p>
          </p:txBody>
        </p:sp>
        <p:sp>
          <p:nvSpPr>
            <p:cNvPr id="16422" name="TextBox 31"/>
            <p:cNvSpPr>
              <a:spLocks noChangeArrowheads="1"/>
            </p:cNvSpPr>
            <p:nvPr/>
          </p:nvSpPr>
          <p:spPr bwMode="auto">
            <a:xfrm>
              <a:off x="2742805" y="6292850"/>
              <a:ext cx="360000" cy="354072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 b="1">
                  <a:solidFill>
                    <a:schemeClr val="bg1"/>
                  </a:solidFill>
                </a:rPr>
                <a:t>4</a:t>
              </a:r>
              <a:endParaRPr lang="en-SG" altLang="en-US" sz="1400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ctrTitle" idx="4294967295"/>
          </p:nvPr>
        </p:nvSpPr>
        <p:spPr>
          <a:xfrm>
            <a:off x="709613" y="339725"/>
            <a:ext cx="5013325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- Attributes</a:t>
            </a:r>
            <a:endParaRPr lang="en-US" altLang="en-US" sz="3200" b="1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1062498" y="1685004"/>
            <a:ext cx="4779504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Attributes describe the relation itself. </a:t>
            </a:r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717550" y="1143000"/>
            <a:ext cx="193191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2) Attributes</a:t>
            </a:r>
          </a:p>
        </p:txBody>
      </p:sp>
      <p:sp>
        <p:nvSpPr>
          <p:cNvPr id="12293" name="Rectangle 3"/>
          <p:cNvSpPr txBox="1">
            <a:spLocks noChangeArrowheads="1"/>
          </p:cNvSpPr>
          <p:nvPr/>
        </p:nvSpPr>
        <p:spPr bwMode="auto">
          <a:xfrm>
            <a:off x="1123951" y="4267200"/>
            <a:ext cx="4591049" cy="2488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273050" indent="-27305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2400" dirty="0">
                <a:solidFill>
                  <a:schemeClr val="bg1"/>
                </a:solidFill>
                <a:cs typeface="Times New Roman" pitchFamily="18" charset="0"/>
              </a:rPr>
              <a:t>For every attribute 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lang="en-US" altLang="en-US" sz="2400" dirty="0">
                <a:solidFill>
                  <a:schemeClr val="bg1"/>
                </a:solidFill>
                <a:cs typeface="Times New Roman" pitchFamily="18" charset="0"/>
              </a:rPr>
              <a:t>(e.g. </a:t>
            </a:r>
            <a:r>
              <a:rPr lang="en-US" altLang="en-US" sz="2400" dirty="0" err="1">
                <a:solidFill>
                  <a:schemeClr val="bg1"/>
                </a:solidFill>
                <a:cs typeface="Times New Roman" pitchFamily="18" charset="0"/>
              </a:rPr>
              <a:t>EmpName</a:t>
            </a:r>
            <a:r>
              <a:rPr lang="en-US" altLang="en-US" sz="2400" dirty="0">
                <a:solidFill>
                  <a:schemeClr val="bg1"/>
                </a:solidFill>
                <a:cs typeface="Times New Roman" pitchFamily="18" charset="0"/>
              </a:rPr>
              <a:t>), it shall contain a:</a:t>
            </a:r>
          </a:p>
          <a:p>
            <a:pPr marL="712788" indent="-261938"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solidFill>
                  <a:srgbClr val="FFC000"/>
                </a:solidFill>
                <a:cs typeface="Times New Roman" pitchFamily="18" charset="0"/>
              </a:rPr>
              <a:t>Field name</a:t>
            </a:r>
          </a:p>
          <a:p>
            <a:pPr marL="712788" indent="-261938"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solidFill>
                  <a:srgbClr val="FFC000"/>
                </a:solidFill>
                <a:cs typeface="Times New Roman" pitchFamily="18" charset="0"/>
              </a:rPr>
              <a:t>Field length     =</a:t>
            </a:r>
          </a:p>
          <a:p>
            <a:pPr marL="712788" indent="-261938"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solidFill>
                  <a:srgbClr val="FFC000"/>
                </a:solidFill>
                <a:cs typeface="Times New Roman" pitchFamily="18" charset="0"/>
              </a:rPr>
              <a:t>Data type </a:t>
            </a:r>
          </a:p>
          <a:p>
            <a:pPr indent="0">
              <a:spcBef>
                <a:spcPct val="0"/>
              </a:spcBef>
              <a:spcAft>
                <a:spcPts val="1200"/>
              </a:spcAft>
              <a:buFont typeface="Arial" charset="0"/>
              <a:buNone/>
              <a:defRPr/>
            </a:pPr>
            <a:r>
              <a:rPr lang="en-US" altLang="en-US" sz="2000" dirty="0">
                <a:solidFill>
                  <a:schemeClr val="bg1"/>
                </a:solidFill>
                <a:cs typeface="Times New Roman" pitchFamily="18" charset="0"/>
              </a:rPr>
              <a:t>together, they form the </a:t>
            </a:r>
            <a:r>
              <a:rPr lang="en-US" altLang="en-US" sz="2400" b="1" dirty="0">
                <a:solidFill>
                  <a:srgbClr val="FFC000"/>
                </a:solidFill>
                <a:cs typeface="Times New Roman" pitchFamily="18" charset="0"/>
              </a:rPr>
              <a:t>domain</a:t>
            </a:r>
            <a:r>
              <a:rPr lang="en-US" altLang="en-US" sz="2000" dirty="0">
                <a:solidFill>
                  <a:schemeClr val="bg1"/>
                </a:solidFill>
                <a:cs typeface="Times New Roman" pitchFamily="18" charset="0"/>
              </a:rPr>
              <a:t> of the attribute.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0" y="3295650"/>
          <a:ext cx="3505200" cy="135255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22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275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EmpID</a:t>
                      </a:r>
                      <a:endParaRPr lang="en-US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11" marB="36011"/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EmpName</a:t>
                      </a:r>
                      <a:endParaRPr lang="en-US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11" marB="36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Gender</a:t>
                      </a:r>
                      <a:endParaRPr lang="en-US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11" marB="36011"/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DepNo</a:t>
                      </a:r>
                      <a:endParaRPr lang="en-US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11" marB="360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2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E-18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11" marB="3601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Chris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11" marB="36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Male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11" marB="360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Dep-02</a:t>
                      </a:r>
                    </a:p>
                  </a:txBody>
                  <a:tcPr marL="36000" marR="36000" marT="36011" marB="360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2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E-28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11" marB="360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Joyce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11" marB="36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Female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11" marB="360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Dep-05</a:t>
                      </a:r>
                    </a:p>
                  </a:txBody>
                  <a:tcPr marL="36000" marR="36000" marT="36011" marB="360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2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E-33</a:t>
                      </a:r>
                    </a:p>
                  </a:txBody>
                  <a:tcPr marL="36000" marR="36000" marT="36011" marB="360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Steve</a:t>
                      </a:r>
                    </a:p>
                  </a:txBody>
                  <a:tcPr marL="36000" marR="36000" marT="36011" marB="36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Male</a:t>
                      </a:r>
                    </a:p>
                  </a:txBody>
                  <a:tcPr marL="36000" marR="36000" marT="36011" marB="36011"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11" marB="360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131888"/>
            <a:ext cx="2286000" cy="34970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Relation: EMPLOYEES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078473" y="2057400"/>
            <a:ext cx="4119686" cy="19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>
              <a:spcBef>
                <a:spcPts val="0"/>
              </a:spcBef>
              <a:buFont typeface="Arial" charset="0"/>
              <a:buNone/>
              <a:defRPr/>
            </a:pPr>
            <a:r>
              <a:rPr lang="en-US" altLang="en-US" sz="2000" dirty="0">
                <a:solidFill>
                  <a:schemeClr val="bg1"/>
                </a:solidFill>
                <a:cs typeface="Times New Roman" pitchFamily="18" charset="0"/>
              </a:rPr>
              <a:t>e.g. : EMPLOYEE relation class has the following attributes :</a:t>
            </a:r>
          </a:p>
          <a:p>
            <a:pPr marL="355600" lvl="1" indent="-1778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solidFill>
                  <a:srgbClr val="FFFF00"/>
                </a:solidFill>
                <a:latin typeface="+mn-lt"/>
              </a:rPr>
              <a:t>EmpID</a:t>
            </a:r>
            <a:endParaRPr lang="en-US" sz="2000" dirty="0">
              <a:solidFill>
                <a:srgbClr val="FFFF00"/>
              </a:solidFill>
              <a:latin typeface="+mn-lt"/>
            </a:endParaRPr>
          </a:p>
          <a:p>
            <a:pPr marL="355600" lvl="1" indent="-1778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solidFill>
                  <a:srgbClr val="FFFF00"/>
                </a:solidFill>
                <a:latin typeface="+mn-lt"/>
              </a:rPr>
              <a:t>EmpName</a:t>
            </a:r>
            <a:endParaRPr lang="en-US" sz="2000" dirty="0">
              <a:solidFill>
                <a:srgbClr val="FFFF00"/>
              </a:solidFill>
              <a:latin typeface="+mn-lt"/>
            </a:endParaRPr>
          </a:p>
          <a:p>
            <a:pPr marL="355600" lvl="1" indent="-1778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FFFF00"/>
                </a:solidFill>
                <a:latin typeface="+mn-lt"/>
              </a:rPr>
              <a:t>Gender</a:t>
            </a:r>
          </a:p>
          <a:p>
            <a:pPr marL="355600" lvl="1" indent="-1778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solidFill>
                  <a:srgbClr val="FFFF00"/>
                </a:solidFill>
                <a:latin typeface="+mn-lt"/>
              </a:rPr>
              <a:t>DepNo</a:t>
            </a:r>
            <a:endParaRPr lang="en-US" altLang="en-US" sz="2000" dirty="0">
              <a:solidFill>
                <a:schemeClr val="bg1"/>
              </a:solidFill>
              <a:cs typeface="Times New Roman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753023"/>
              </p:ext>
            </p:extLst>
          </p:nvPr>
        </p:nvGraphicFramePr>
        <p:xfrm>
          <a:off x="6334125" y="1536700"/>
          <a:ext cx="1438275" cy="15875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u="sng" dirty="0" err="1"/>
                        <a:t>EmpID</a:t>
                      </a:r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/>
                        <a:t>EmpName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Gender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/>
                        <a:t>DepNo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5254430" y="3244812"/>
            <a:ext cx="3641041" cy="396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SG"/>
          </a:p>
        </p:txBody>
      </p:sp>
      <p:sp>
        <p:nvSpPr>
          <p:cNvPr id="3" name="Double Brace 2"/>
          <p:cNvSpPr/>
          <p:nvPr/>
        </p:nvSpPr>
        <p:spPr>
          <a:xfrm>
            <a:off x="3505200" y="5181600"/>
            <a:ext cx="1280160" cy="822960"/>
          </a:xfrm>
          <a:prstGeom prst="bracePair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domain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/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325555"/>
              </p:ext>
            </p:extLst>
          </p:nvPr>
        </p:nvGraphicFramePr>
        <p:xfrm>
          <a:off x="381000" y="3886200"/>
          <a:ext cx="3505200" cy="28956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r>
                        <a:rPr lang="en-GB" sz="1600" dirty="0"/>
                        <a:t>Description</a:t>
                      </a:r>
                      <a:endParaRPr lang="en-SG" sz="1600" dirty="0"/>
                    </a:p>
                  </a:txBody>
                  <a:tcPr marL="91437" marR="91437" marT="45721" marB="457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GB" sz="1600" dirty="0"/>
                        <a:t>9) Data</a:t>
                      </a:r>
                      <a:r>
                        <a:rPr lang="en-GB" sz="1600" baseline="0" dirty="0"/>
                        <a:t> type </a:t>
                      </a:r>
                      <a:r>
                        <a:rPr lang="en-GB" sz="1600" dirty="0"/>
                        <a:t>of attribute </a:t>
                      </a:r>
                      <a:r>
                        <a:rPr lang="en-GB" sz="160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ProjectID</a:t>
                      </a:r>
                      <a:r>
                        <a:rPr lang="en-GB" sz="1600" dirty="0"/>
                        <a:t>:</a:t>
                      </a:r>
                      <a:endParaRPr lang="en-SG" sz="1600" dirty="0"/>
                    </a:p>
                  </a:txBody>
                  <a:tcPr marL="91437" marR="91437" marT="45721" marB="457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GB" sz="1600" dirty="0"/>
                        <a:t>10)</a:t>
                      </a:r>
                      <a:r>
                        <a:rPr lang="en-GB" sz="1600" baseline="0" dirty="0"/>
                        <a:t> Data type of attribute </a:t>
                      </a:r>
                      <a:r>
                        <a:rPr lang="en-GB" sz="1600" baseline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DateStart</a:t>
                      </a:r>
                      <a:r>
                        <a:rPr lang="en-GB" sz="1600" baseline="0" dirty="0"/>
                        <a:t>:</a:t>
                      </a:r>
                      <a:endParaRPr lang="en-SG" sz="1600" dirty="0"/>
                    </a:p>
                  </a:txBody>
                  <a:tcPr marL="91437" marR="91437" marT="45721" marB="457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GB" sz="1600" dirty="0"/>
                        <a:t>11</a:t>
                      </a:r>
                      <a:r>
                        <a:rPr lang="en-GB" sz="1600" baseline="0" dirty="0"/>
                        <a:t>) Data type of attribute </a:t>
                      </a:r>
                      <a:r>
                        <a:rPr lang="en-GB" sz="16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Budget</a:t>
                      </a:r>
                      <a:r>
                        <a:rPr lang="en-GB" sz="1600" baseline="0" dirty="0"/>
                        <a:t> :</a:t>
                      </a:r>
                      <a:endParaRPr lang="en-SG" sz="1600" dirty="0"/>
                    </a:p>
                  </a:txBody>
                  <a:tcPr marL="91437" marR="91437" marT="45721" marB="457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GB" sz="1600" baseline="0" dirty="0"/>
                        <a:t>12) Data type of attribute </a:t>
                      </a:r>
                      <a:r>
                        <a:rPr lang="en-GB" sz="16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Duration</a:t>
                      </a:r>
                      <a:r>
                        <a:rPr lang="en-GB" sz="1600" baseline="0" dirty="0"/>
                        <a:t> :</a:t>
                      </a:r>
                      <a:endParaRPr lang="en-SG" sz="1600" dirty="0"/>
                    </a:p>
                  </a:txBody>
                  <a:tcPr marL="91437" marR="91437" marT="45721" marB="457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GB" sz="1600" dirty="0"/>
                        <a:t>13)</a:t>
                      </a:r>
                      <a:r>
                        <a:rPr lang="en-GB" sz="1600" baseline="0" dirty="0"/>
                        <a:t> Field length of attribute </a:t>
                      </a:r>
                      <a:r>
                        <a:rPr lang="en-GB" sz="1600" baseline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ProjectID</a:t>
                      </a:r>
                      <a:r>
                        <a:rPr lang="en-GB" sz="1600" baseline="0" dirty="0"/>
                        <a:t> :</a:t>
                      </a:r>
                      <a:endParaRPr lang="en-SG" sz="1600" dirty="0"/>
                    </a:p>
                  </a:txBody>
                  <a:tcPr marL="91437" marR="91437" marT="45721" marB="457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GB" sz="1600" dirty="0"/>
                        <a:t>14</a:t>
                      </a:r>
                      <a:r>
                        <a:rPr lang="en-GB" sz="1600" baseline="0" dirty="0"/>
                        <a:t> Field length of attribute </a:t>
                      </a:r>
                      <a:r>
                        <a:rPr lang="en-GB" sz="1600" baseline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DateStart</a:t>
                      </a:r>
                      <a:r>
                        <a:rPr lang="en-GB" sz="1600" baseline="0" dirty="0"/>
                        <a:t> :</a:t>
                      </a:r>
                      <a:endParaRPr lang="en-SG" sz="1600" dirty="0"/>
                    </a:p>
                  </a:txBody>
                  <a:tcPr marL="91437" marR="91437" marT="45721" marB="4572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GB" sz="1600" dirty="0"/>
                        <a:t>15)</a:t>
                      </a:r>
                      <a:r>
                        <a:rPr lang="en-GB" sz="1600" baseline="0" dirty="0"/>
                        <a:t> Domain of attribute </a:t>
                      </a:r>
                      <a:r>
                        <a:rPr lang="en-GB" sz="16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Budget</a:t>
                      </a:r>
                      <a:r>
                        <a:rPr lang="en-GB" sz="1600" baseline="0" dirty="0"/>
                        <a:t> :</a:t>
                      </a:r>
                      <a:endParaRPr lang="en-SG" sz="1600" dirty="0"/>
                    </a:p>
                  </a:txBody>
                  <a:tcPr marL="91437" marR="91437" marT="45721" marB="4572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479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15925"/>
            <a:ext cx="5190707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Terminology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16000" y="1752600"/>
          <a:ext cx="6756400" cy="1905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ProjectID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8" marB="45718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ProjectName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8" marB="45718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DateStart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8" marB="45718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Budget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8" marB="45718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Duration (</a:t>
                      </a:r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yr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8" marB="45718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UM-38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Unity</a:t>
                      </a:r>
                      <a:r>
                        <a:rPr lang="en-GB" sz="1600" baseline="0" dirty="0"/>
                        <a:t> Malls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20-Oct-2012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$6.800,000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2.25</a:t>
                      </a:r>
                      <a:endParaRPr lang="en-SG" sz="1600" dirty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HB-54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 err="1"/>
                        <a:t>HillGate</a:t>
                      </a:r>
                      <a:r>
                        <a:rPr lang="en-GB" sz="1600" dirty="0"/>
                        <a:t> Bridge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18-Nov-2012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$8,650.000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1.75</a:t>
                      </a:r>
                      <a:endParaRPr lang="en-SG" sz="1600" dirty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PT-27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Port</a:t>
                      </a:r>
                      <a:r>
                        <a:rPr lang="en-GB" sz="1600" baseline="0" dirty="0"/>
                        <a:t> Tower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16-Mar-2013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$25,820.000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2.50</a:t>
                      </a:r>
                      <a:endParaRPr lang="en-SG" sz="1600" dirty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SL-68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Sunrise Lodge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25-May-2014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$560.000.000</a:t>
                      </a:r>
                      <a:endParaRPr lang="en-SG" sz="160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3.25</a:t>
                      </a:r>
                      <a:endParaRPr lang="en-SG" sz="1600" dirty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18" name="Text Box 3"/>
          <p:cNvSpPr txBox="1">
            <a:spLocks noChangeArrowheads="1"/>
          </p:cNvSpPr>
          <p:nvPr/>
        </p:nvSpPr>
        <p:spPr bwMode="auto">
          <a:xfrm>
            <a:off x="762000" y="1219200"/>
            <a:ext cx="316865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 name: PROJECT</a:t>
            </a:r>
          </a:p>
        </p:txBody>
      </p:sp>
      <p:grpSp>
        <p:nvGrpSpPr>
          <p:cNvPr id="13388" name="Group 7"/>
          <p:cNvGrpSpPr>
            <a:grpSpLocks/>
          </p:cNvGrpSpPr>
          <p:nvPr/>
        </p:nvGrpSpPr>
        <p:grpSpPr bwMode="auto">
          <a:xfrm>
            <a:off x="6080126" y="541338"/>
            <a:ext cx="3009898" cy="1050925"/>
            <a:chOff x="4806937" y="2438400"/>
            <a:chExt cx="3009625" cy="1051560"/>
          </a:xfrm>
        </p:grpSpPr>
        <p:sp>
          <p:nvSpPr>
            <p:cNvPr id="20" name="Text Box 4"/>
            <p:cNvSpPr txBox="1">
              <a:spLocks noChangeArrowheads="1"/>
            </p:cNvSpPr>
            <p:nvPr/>
          </p:nvSpPr>
          <p:spPr bwMode="auto">
            <a:xfrm>
              <a:off x="5843479" y="2438400"/>
              <a:ext cx="1188929" cy="400292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rgbClr val="060606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sz="2000" b="1" dirty="0">
                  <a:solidFill>
                    <a:srgbClr val="060606"/>
                  </a:solidFill>
                  <a:latin typeface="+mn-lt"/>
                </a:rPr>
                <a:t>Domain</a:t>
              </a:r>
            </a:p>
          </p:txBody>
        </p:sp>
        <p:sp>
          <p:nvSpPr>
            <p:cNvPr id="25" name="Oval 7"/>
            <p:cNvSpPr>
              <a:spLocks noChangeArrowheads="1"/>
            </p:cNvSpPr>
            <p:nvPr/>
          </p:nvSpPr>
          <p:spPr bwMode="auto">
            <a:xfrm>
              <a:off x="5867289" y="3124614"/>
              <a:ext cx="1004796" cy="36534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400" dirty="0">
                  <a:solidFill>
                    <a:schemeClr val="bg2">
                      <a:lumMod val="10000"/>
                    </a:schemeClr>
                  </a:solidFill>
                  <a:latin typeface="+mn-lt"/>
                </a:rPr>
                <a:t>Field length</a:t>
              </a:r>
            </a:p>
          </p:txBody>
        </p:sp>
        <p:sp>
          <p:nvSpPr>
            <p:cNvPr id="19545" name="Line 8"/>
            <p:cNvSpPr>
              <a:spLocks noChangeShapeType="1"/>
            </p:cNvSpPr>
            <p:nvPr/>
          </p:nvSpPr>
          <p:spPr bwMode="auto">
            <a:xfrm>
              <a:off x="6324600" y="2819399"/>
              <a:ext cx="0" cy="304801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7" name="Oval 6"/>
            <p:cNvSpPr>
              <a:spLocks noChangeArrowheads="1"/>
            </p:cNvSpPr>
            <p:nvPr/>
          </p:nvSpPr>
          <p:spPr bwMode="auto">
            <a:xfrm>
              <a:off x="6880022" y="3124614"/>
              <a:ext cx="936540" cy="36534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400" dirty="0">
                  <a:solidFill>
                    <a:schemeClr val="bg2">
                      <a:lumMod val="10000"/>
                    </a:schemeClr>
                  </a:solidFill>
                  <a:latin typeface="+mn-lt"/>
                </a:rPr>
                <a:t>Data type</a:t>
              </a:r>
            </a:p>
          </p:txBody>
        </p:sp>
        <p:sp>
          <p:nvSpPr>
            <p:cNvPr id="28" name="Oval 6"/>
            <p:cNvSpPr>
              <a:spLocks noChangeArrowheads="1"/>
            </p:cNvSpPr>
            <p:nvPr/>
          </p:nvSpPr>
          <p:spPr bwMode="auto">
            <a:xfrm>
              <a:off x="4806937" y="3124614"/>
              <a:ext cx="1006383" cy="36534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GB" sz="1400" dirty="0">
                  <a:solidFill>
                    <a:schemeClr val="bg2">
                      <a:lumMod val="10000"/>
                    </a:schemeClr>
                  </a:solidFill>
                  <a:latin typeface="+mn-lt"/>
                </a:rPr>
                <a:t>Field name</a:t>
              </a:r>
              <a:endParaRPr lang="en-US" sz="1400" dirty="0">
                <a:solidFill>
                  <a:schemeClr val="bg2">
                    <a:lumMod val="10000"/>
                  </a:schemeClr>
                </a:solidFill>
                <a:latin typeface="+mn-lt"/>
              </a:endParaRPr>
            </a:p>
          </p:txBody>
        </p:sp>
        <p:cxnSp>
          <p:nvCxnSpPr>
            <p:cNvPr id="29" name="Straight Connector 28"/>
            <p:cNvCxnSpPr>
              <a:stCxn id="28" idx="0"/>
            </p:cNvCxnSpPr>
            <p:nvPr/>
          </p:nvCxnSpPr>
          <p:spPr bwMode="auto">
            <a:xfrm rot="5400000" flipH="1" flipV="1">
              <a:off x="5348825" y="2523605"/>
              <a:ext cx="562315" cy="639705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7" idx="0"/>
              <a:endCxn id="20" idx="3"/>
            </p:cNvCxnSpPr>
            <p:nvPr/>
          </p:nvCxnSpPr>
          <p:spPr bwMode="auto">
            <a:xfrm flipH="1" flipV="1">
              <a:off x="7032408" y="2638546"/>
              <a:ext cx="315884" cy="486069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30650" y="3886200"/>
          <a:ext cx="4953000" cy="28956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635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7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 gridSpan="2">
                  <a:txBody>
                    <a:bodyPr/>
                    <a:lstStyle/>
                    <a:p>
                      <a:r>
                        <a:rPr lang="en-GB" sz="1600" b="1" dirty="0"/>
                        <a:t>Terminology</a:t>
                      </a:r>
                      <a:endParaRPr lang="en-SG" sz="1600" b="1" dirty="0"/>
                    </a:p>
                  </a:txBody>
                  <a:tcPr marL="91437" marR="91437" marT="45721" marB="45721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 gridSpan="2">
                  <a:txBody>
                    <a:bodyPr/>
                    <a:lstStyle/>
                    <a:p>
                      <a:r>
                        <a:rPr lang="en-GB" sz="1600" b="0" dirty="0"/>
                        <a:t>text</a:t>
                      </a:r>
                      <a:endParaRPr lang="en-SG" sz="1600" b="0" dirty="0"/>
                    </a:p>
                  </a:txBody>
                  <a:tcPr marL="91437" marR="91437" marT="45721" marB="45721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 gridSpan="2">
                  <a:txBody>
                    <a:bodyPr/>
                    <a:lstStyle/>
                    <a:p>
                      <a:r>
                        <a:rPr lang="en-GB" sz="1600" dirty="0"/>
                        <a:t> date</a:t>
                      </a:r>
                      <a:endParaRPr lang="en-SG" sz="1600" dirty="0"/>
                    </a:p>
                  </a:txBody>
                  <a:tcPr marL="35999" marR="35999" marT="36002" marB="36002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 gridSpan="2">
                  <a:txBody>
                    <a:bodyPr/>
                    <a:lstStyle/>
                    <a:p>
                      <a:r>
                        <a:rPr lang="en-GB" sz="1600" dirty="0"/>
                        <a:t>currency</a:t>
                      </a:r>
                      <a:endParaRPr lang="en-SG" sz="1600" dirty="0"/>
                    </a:p>
                  </a:txBody>
                  <a:tcPr marL="91437" marR="91437" marT="45721" marB="45721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 gridSpan="2">
                  <a:txBody>
                    <a:bodyPr/>
                    <a:lstStyle/>
                    <a:p>
                      <a:r>
                        <a:rPr lang="en-GB" sz="1600" dirty="0"/>
                        <a:t>decimal</a:t>
                      </a:r>
                      <a:endParaRPr lang="en-SG" sz="1600" dirty="0"/>
                    </a:p>
                  </a:txBody>
                  <a:tcPr marL="91437" marR="91437" marT="45721" marB="45721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GB" sz="1600" dirty="0"/>
                        <a:t>8</a:t>
                      </a:r>
                      <a:endParaRPr lang="en-SG" sz="1600" dirty="0"/>
                    </a:p>
                  </a:txBody>
                  <a:tcPr marL="91437" marR="91437" marT="45721" marB="45721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rgbClr val="151897"/>
                          </a:solidFill>
                        </a:rPr>
                        <a:t>Note: Maxi length is 8 though it uses 5 in the example</a:t>
                      </a:r>
                      <a:endParaRPr lang="en-SG" sz="1200" dirty="0">
                        <a:solidFill>
                          <a:srgbClr val="151897"/>
                        </a:solidFill>
                      </a:endParaRPr>
                    </a:p>
                  </a:txBody>
                  <a:tcPr marL="91437" marR="91437" marT="45721" marB="45721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GB" sz="1600" dirty="0"/>
                        <a:t>13</a:t>
                      </a:r>
                      <a:endParaRPr lang="en-SG" sz="1600" dirty="0"/>
                    </a:p>
                  </a:txBody>
                  <a:tcPr marL="91437" marR="91437" marT="45721" marB="45721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rgbClr val="151897"/>
                          </a:solidFill>
                        </a:rPr>
                        <a:t>Note: Maxi length is 13 though it uses 11 in the example</a:t>
                      </a:r>
                      <a:endParaRPr lang="en-SG" sz="1200" dirty="0">
                        <a:solidFill>
                          <a:srgbClr val="151897"/>
                        </a:solidFill>
                      </a:endParaRPr>
                    </a:p>
                  </a:txBody>
                  <a:tcPr marL="91437" marR="91437" marT="45721" marB="45721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Field name: </a:t>
                      </a:r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Budget</a:t>
                      </a:r>
                      <a:r>
                        <a:rPr lang="en-GB" sz="1600" dirty="0"/>
                        <a:t>, Field length: </a:t>
                      </a:r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12</a:t>
                      </a:r>
                      <a:r>
                        <a:rPr lang="en-GB" sz="1600" dirty="0"/>
                        <a:t>, Data</a:t>
                      </a:r>
                      <a:r>
                        <a:rPr lang="en-GB" sz="1600" baseline="0" dirty="0"/>
                        <a:t> type : </a:t>
                      </a:r>
                      <a:r>
                        <a:rPr lang="en-GB" sz="1600" baseline="0" dirty="0">
                          <a:solidFill>
                            <a:srgbClr val="FF0000"/>
                          </a:solidFill>
                        </a:rPr>
                        <a:t>currency</a:t>
                      </a:r>
                      <a:r>
                        <a:rPr lang="en-GB" sz="1600" baseline="0" dirty="0"/>
                        <a:t> </a:t>
                      </a:r>
                      <a:endParaRPr lang="en-SG" sz="1600" dirty="0"/>
                    </a:p>
                  </a:txBody>
                  <a:tcPr marL="91437" marR="91437" marT="45721" marB="45721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5835241" y="519069"/>
            <a:ext cx="1266107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- Self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47652" y="4264740"/>
            <a:ext cx="489204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952572" y="4618704"/>
            <a:ext cx="489204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959940" y="4982496"/>
            <a:ext cx="489204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932904" y="5348748"/>
            <a:ext cx="489204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947160" y="5692872"/>
            <a:ext cx="489204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962400" y="6066504"/>
            <a:ext cx="489204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50112" y="6427836"/>
            <a:ext cx="489204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 animBg="1"/>
      <p:bldP spid="23" grpId="0" animBg="1"/>
      <p:bldP spid="26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11163"/>
            <a:ext cx="2658732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Keys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25663" y="1066800"/>
            <a:ext cx="2449773" cy="424732"/>
          </a:xfrm>
          <a:prstGeom prst="rect">
            <a:avLst/>
          </a:prstGeom>
        </p:spPr>
        <p:txBody>
          <a:bodyPr wrap="none" lIns="27432" tIns="27432" rIns="27432" bIns="27432"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George Bush</a:t>
            </a:r>
            <a:r>
              <a:rPr 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dirty="0">
                <a:solidFill>
                  <a:srgbClr val="FFFF00"/>
                </a:solidFill>
                <a:latin typeface="+mn-lt"/>
              </a:rPr>
              <a:t>(Head</a:t>
            </a:r>
            <a:r>
              <a:rPr lang="en-US" sz="2000" dirty="0">
                <a:solidFill>
                  <a:srgbClr val="FFFF00"/>
                </a:solidFill>
                <a:latin typeface="+mn-lt"/>
              </a:rPr>
              <a:t>)</a:t>
            </a:r>
          </a:p>
        </p:txBody>
      </p:sp>
      <p:sp>
        <p:nvSpPr>
          <p:cNvPr id="21509" name="Subtitle 2"/>
          <p:cNvSpPr txBox="1">
            <a:spLocks/>
          </p:cNvSpPr>
          <p:nvPr/>
        </p:nvSpPr>
        <p:spPr bwMode="auto">
          <a:xfrm>
            <a:off x="685800" y="5029200"/>
            <a:ext cx="81534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chemeClr val="bg1"/>
                </a:solidFill>
              </a:rPr>
              <a:t>If you know George Bush, you can identify his family members.</a:t>
            </a:r>
            <a:endParaRPr lang="en-US" altLang="en-US" sz="2000" b="1" dirty="0">
              <a:solidFill>
                <a:schemeClr val="bg1"/>
              </a:solidFill>
            </a:endParaRPr>
          </a:p>
        </p:txBody>
      </p:sp>
      <p:pic>
        <p:nvPicPr>
          <p:cNvPr id="21510" name="Picture 40" descr="http://t2.gstatic.com/images?q=tbn:ANd9GcRev8Krt5T5SoGgfzOry-VHddoFqhUuMnw6tOIhdvuuFU1Jatn4Q-U74w5V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88" y="1471612"/>
            <a:ext cx="4665662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1822450" y="2043112"/>
            <a:ext cx="901785" cy="301621"/>
          </a:xfrm>
          <a:prstGeom prst="rect">
            <a:avLst/>
          </a:prstGeom>
          <a:solidFill>
            <a:srgbClr val="FFFFCC"/>
          </a:solidFill>
        </p:spPr>
        <p:txBody>
          <a:bodyPr wrap="none" lIns="27432" tIns="27432" rIns="27432" bIns="27432">
            <a:spAutoFit/>
          </a:bodyPr>
          <a:lstStyle/>
          <a:p>
            <a:pPr eaLnBrk="1" hangingPunct="1">
              <a:defRPr/>
            </a:pPr>
            <a:r>
              <a:rPr lang="en-US" sz="1600" b="1" dirty="0">
                <a:latin typeface="+mn-lt"/>
              </a:rPr>
              <a:t>Lucy Bush</a:t>
            </a:r>
            <a:endParaRPr lang="en-US" sz="1600" dirty="0">
              <a:latin typeface="+mn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27525" y="1947862"/>
            <a:ext cx="1349375" cy="301625"/>
          </a:xfrm>
          <a:prstGeom prst="rect">
            <a:avLst/>
          </a:prstGeom>
          <a:solidFill>
            <a:srgbClr val="FFFFCC"/>
          </a:solidFill>
        </p:spPr>
        <p:txBody>
          <a:bodyPr wrap="none" lIns="27432" tIns="27432" rIns="27432" bIns="27432">
            <a:spAutoFit/>
          </a:bodyPr>
          <a:lstStyle/>
          <a:p>
            <a:pPr eaLnBrk="1" hangingPunct="1">
              <a:defRPr/>
            </a:pPr>
            <a:r>
              <a:rPr lang="en-US" sz="1600" b="1" dirty="0">
                <a:latin typeface="+mn-lt"/>
              </a:rPr>
              <a:t>Child-Neil Bush</a:t>
            </a:r>
            <a:endParaRPr lang="en-US" sz="1600" dirty="0">
              <a:latin typeface="+mn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3400" y="4160837"/>
            <a:ext cx="1627188" cy="301625"/>
          </a:xfrm>
          <a:prstGeom prst="rect">
            <a:avLst/>
          </a:prstGeom>
          <a:solidFill>
            <a:srgbClr val="FFFFCC"/>
          </a:solidFill>
        </p:spPr>
        <p:txBody>
          <a:bodyPr wrap="none" lIns="27432" tIns="27432" rIns="27432" bIns="27432">
            <a:spAutoFit/>
          </a:bodyPr>
          <a:lstStyle/>
          <a:p>
            <a:pPr eaLnBrk="1" hangingPunct="1">
              <a:defRPr/>
            </a:pPr>
            <a:r>
              <a:rPr lang="en-US" sz="1600" b="1" dirty="0">
                <a:latin typeface="+mn-lt"/>
              </a:rPr>
              <a:t>Child-Marvin Bush</a:t>
            </a:r>
            <a:endParaRPr lang="en-US" sz="1600" dirty="0">
              <a:latin typeface="+mn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95600" y="4313237"/>
            <a:ext cx="1292225" cy="301625"/>
          </a:xfrm>
          <a:prstGeom prst="rect">
            <a:avLst/>
          </a:prstGeom>
          <a:solidFill>
            <a:srgbClr val="FFFFCC"/>
          </a:solidFill>
        </p:spPr>
        <p:txBody>
          <a:bodyPr wrap="none" lIns="27432" tIns="27432" rIns="27432" bIns="27432">
            <a:spAutoFit/>
          </a:bodyPr>
          <a:lstStyle/>
          <a:p>
            <a:pPr eaLnBrk="1" hangingPunct="1">
              <a:defRPr/>
            </a:pPr>
            <a:r>
              <a:rPr lang="en-US" sz="1600" b="1" dirty="0">
                <a:latin typeface="+mn-lt"/>
              </a:rPr>
              <a:t>Child-Jeb Bush</a:t>
            </a:r>
            <a:endParaRPr lang="en-US" sz="1600" dirty="0">
              <a:latin typeface="+mn-lt"/>
            </a:endParaRPr>
          </a:p>
        </p:txBody>
      </p:sp>
      <p:sp>
        <p:nvSpPr>
          <p:cNvPr id="15" name="Subtitle 2"/>
          <p:cNvSpPr txBox="1">
            <a:spLocks/>
          </p:cNvSpPr>
          <p:nvPr/>
        </p:nvSpPr>
        <p:spPr bwMode="auto">
          <a:xfrm>
            <a:off x="685800" y="5534383"/>
            <a:ext cx="8223021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6800" tIns="46800" rIns="46800" bIns="46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FFFF00"/>
                </a:solidFill>
              </a:rPr>
              <a:t>It is because George Bush is the identifier of the family !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606699796"/>
              </p:ext>
            </p:extLst>
          </p:nvPr>
        </p:nvGraphicFramePr>
        <p:xfrm>
          <a:off x="5675313" y="1585912"/>
          <a:ext cx="3312318" cy="2602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070961"/>
              </p:ext>
            </p:extLst>
          </p:nvPr>
        </p:nvGraphicFramePr>
        <p:xfrm>
          <a:off x="4629295" y="4176712"/>
          <a:ext cx="4514705" cy="7762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14305">
                  <a:extLst>
                    <a:ext uri="{9D8B030D-6E8A-4147-A177-3AD203B41FA5}">
                      <a16:colId xmlns:a16="http://schemas.microsoft.com/office/drawing/2014/main" val="177738643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38700620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92742827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16513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88143583"/>
                    </a:ext>
                  </a:extLst>
                </a:gridCol>
              </a:tblGrid>
              <a:tr h="388144"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FamilyHead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Wife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5" marB="4571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Kid1</a:t>
                      </a:r>
                    </a:p>
                  </a:txBody>
                  <a:tcPr marT="45715" marB="4571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Kid2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5" marB="4571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Kid3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5" marB="4571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96761777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GB" sz="1600" b="1" baseline="0" dirty="0">
                          <a:solidFill>
                            <a:srgbClr val="FF0000"/>
                          </a:solidFill>
                        </a:rPr>
                        <a:t>Gorge Bush</a:t>
                      </a:r>
                      <a:endParaRPr lang="en-SG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Lucy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Marvin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Jeb</a:t>
                      </a:r>
                      <a:endParaRPr lang="en-SG" sz="16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Neil</a:t>
                      </a:r>
                      <a:endParaRPr lang="en-SG" sz="1600" dirty="0"/>
                    </a:p>
                  </a:txBody>
                  <a:tcPr marT="45715" marB="4571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98435151"/>
                  </a:ext>
                </a:extLst>
              </a:tr>
            </a:tbl>
          </a:graphicData>
        </a:graphic>
      </p:graphicFrame>
      <p:sp>
        <p:nvSpPr>
          <p:cNvPr id="16" name="Subtitle 2"/>
          <p:cNvSpPr txBox="1">
            <a:spLocks/>
          </p:cNvSpPr>
          <p:nvPr/>
        </p:nvSpPr>
        <p:spPr bwMode="auto">
          <a:xfrm>
            <a:off x="1412348" y="6027799"/>
            <a:ext cx="6817252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6800" tIns="46800" rIns="46800" bIns="46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FFC000"/>
                </a:solidFill>
              </a:rPr>
              <a:t>How about identifying data in a tuple (row)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11163"/>
            <a:ext cx="5018544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Keys - Primary Key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31" name="Rectangle 3"/>
          <p:cNvSpPr txBox="1">
            <a:spLocks noChangeArrowheads="1"/>
          </p:cNvSpPr>
          <p:nvPr/>
        </p:nvSpPr>
        <p:spPr bwMode="auto">
          <a:xfrm>
            <a:off x="858548" y="2061291"/>
            <a:ext cx="1602387" cy="376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" tIns="3600" rIns="3600" bIns="36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rgbClr val="FFFF00"/>
                </a:solidFill>
                <a:cs typeface="Times New Roman" panose="02020603050405020304" pitchFamily="18" charset="0"/>
              </a:rPr>
              <a:t>CUSTOMERS</a:t>
            </a:r>
          </a:p>
        </p:txBody>
      </p:sp>
      <p:sp>
        <p:nvSpPr>
          <p:cNvPr id="22532" name="Rectangle 3"/>
          <p:cNvSpPr txBox="1">
            <a:spLocks noChangeArrowheads="1"/>
          </p:cNvSpPr>
          <p:nvPr/>
        </p:nvSpPr>
        <p:spPr bwMode="auto">
          <a:xfrm>
            <a:off x="714376" y="1140544"/>
            <a:ext cx="7406640" cy="68825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An identifier (or key) is unique and it can identify the </a:t>
            </a:r>
            <a:r>
              <a:rPr lang="en-US" altLang="en-US" sz="2000" u="sng" dirty="0">
                <a:cs typeface="Times New Roman" panose="02020603050405020304" pitchFamily="18" charset="0"/>
              </a:rPr>
              <a:t>entire tuple (record/row)</a:t>
            </a:r>
            <a:r>
              <a:rPr lang="en-US" altLang="en-US" sz="2000" dirty="0">
                <a:cs typeface="Times New Roman" panose="02020603050405020304" pitchFamily="18" charset="0"/>
              </a:rPr>
              <a:t>. This identifier is the Primary key of the relation.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12237"/>
              </p:ext>
            </p:extLst>
          </p:nvPr>
        </p:nvGraphicFramePr>
        <p:xfrm>
          <a:off x="838200" y="2486024"/>
          <a:ext cx="7086600" cy="15525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144">
                <a:tc>
                  <a:txBody>
                    <a:bodyPr/>
                    <a:lstStyle/>
                    <a:p>
                      <a:r>
                        <a:rPr lang="en-GB" sz="1800" dirty="0" err="1">
                          <a:solidFill>
                            <a:schemeClr val="bg1"/>
                          </a:solidFill>
                        </a:rPr>
                        <a:t>NRICNo</a:t>
                      </a:r>
                      <a:endParaRPr lang="en-SG" sz="1800" dirty="0">
                        <a:solidFill>
                          <a:schemeClr val="bg1"/>
                        </a:solidFill>
                      </a:endParaRPr>
                    </a:p>
                  </a:txBody>
                  <a:tcPr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CustName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5" marB="4571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Gender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5" marB="4571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5" marB="4571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15" marB="4571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GB" sz="1600" baseline="0" dirty="0"/>
                        <a:t>S8532567G</a:t>
                      </a:r>
                      <a:endParaRPr lang="en-SG" sz="1600" dirty="0"/>
                    </a:p>
                  </a:txBody>
                  <a:tcPr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Esther  Lim</a:t>
                      </a:r>
                      <a:endParaRPr lang="en-SG" sz="16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Female</a:t>
                      </a:r>
                      <a:endParaRPr lang="en-SG" sz="16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27</a:t>
                      </a:r>
                      <a:endParaRPr lang="en-SG" sz="16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GB" sz="1600" dirty="0" err="1"/>
                        <a:t>Blk</a:t>
                      </a:r>
                      <a:r>
                        <a:rPr lang="en-GB" sz="1600" baseline="0" dirty="0"/>
                        <a:t> 20</a:t>
                      </a:r>
                      <a:r>
                        <a:rPr lang="en-GB" sz="1600" dirty="0"/>
                        <a:t>, #12-30,</a:t>
                      </a:r>
                      <a:r>
                        <a:rPr lang="en-GB" sz="1600" baseline="0" dirty="0"/>
                        <a:t> </a:t>
                      </a:r>
                      <a:r>
                        <a:rPr lang="en-GB" sz="1600" dirty="0"/>
                        <a:t>AMK Ave 5</a:t>
                      </a:r>
                      <a:endParaRPr lang="en-SG" sz="1600" dirty="0"/>
                    </a:p>
                  </a:txBody>
                  <a:tcPr marT="45715" marB="4571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GB" sz="1600" dirty="0"/>
                        <a:t>S9023456J</a:t>
                      </a:r>
                      <a:endParaRPr lang="en-SG" sz="1600" dirty="0"/>
                    </a:p>
                  </a:txBody>
                  <a:tcPr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Judy Tan</a:t>
                      </a:r>
                      <a:endParaRPr lang="en-SG" sz="16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Female</a:t>
                      </a:r>
                      <a:endParaRPr lang="en-SG" sz="16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22</a:t>
                      </a:r>
                      <a:endParaRPr lang="en-SG" sz="16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GB" sz="1600" dirty="0" err="1"/>
                        <a:t>Blk</a:t>
                      </a:r>
                      <a:r>
                        <a:rPr lang="en-GB" sz="1600" baseline="0" dirty="0"/>
                        <a:t> 8, #10-98, AMK Ave 8</a:t>
                      </a:r>
                      <a:endParaRPr lang="en-SG" sz="1600" dirty="0"/>
                    </a:p>
                  </a:txBody>
                  <a:tcPr marT="45715" marB="4571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GB" sz="1600" dirty="0"/>
                        <a:t>S8230983K</a:t>
                      </a:r>
                      <a:endParaRPr lang="en-SG" sz="1600" dirty="0"/>
                    </a:p>
                  </a:txBody>
                  <a:tcPr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James</a:t>
                      </a:r>
                      <a:r>
                        <a:rPr lang="en-GB" sz="1600" baseline="0" dirty="0"/>
                        <a:t> Koh</a:t>
                      </a:r>
                      <a:endParaRPr lang="en-SG" sz="1600" dirty="0"/>
                    </a:p>
                  </a:txBody>
                  <a:tcPr marT="45715" marB="4571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Male</a:t>
                      </a:r>
                      <a:endParaRPr lang="en-SG" sz="1600" dirty="0"/>
                    </a:p>
                  </a:txBody>
                  <a:tcPr marT="45715" marB="4571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30</a:t>
                      </a:r>
                      <a:endParaRPr lang="en-SG" sz="1600" dirty="0"/>
                    </a:p>
                  </a:txBody>
                  <a:tcPr marT="45715" marB="4571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/>
                        <a:t>Blk</a:t>
                      </a:r>
                      <a:r>
                        <a:rPr lang="en-GB" sz="1600" dirty="0"/>
                        <a:t> 180,</a:t>
                      </a:r>
                      <a:r>
                        <a:rPr lang="en-GB" sz="1600" baseline="0" dirty="0"/>
                        <a:t> #03-52, AMK Ave 10</a:t>
                      </a:r>
                      <a:endParaRPr lang="en-SG" sz="1600" dirty="0"/>
                    </a:p>
                  </a:txBody>
                  <a:tcPr marT="45715" marB="4571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Oval 15"/>
          <p:cNvSpPr>
            <a:spLocks noChangeArrowheads="1"/>
          </p:cNvSpPr>
          <p:nvPr/>
        </p:nvSpPr>
        <p:spPr bwMode="auto">
          <a:xfrm>
            <a:off x="787400" y="3659187"/>
            <a:ext cx="1296988" cy="344487"/>
          </a:xfrm>
          <a:prstGeom prst="rect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762000" y="4257505"/>
            <a:ext cx="7793038" cy="2067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SG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Every </a:t>
            </a:r>
            <a:r>
              <a:rPr lang="en-SG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‘</a:t>
            </a:r>
            <a:r>
              <a:rPr lang="en-SG" altLang="en-US" sz="24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NRICNo</a:t>
            </a:r>
            <a:r>
              <a:rPr lang="en-SG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’ from the table can identify a row (record/tuple).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SG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By knowing  “S8230983K”, it can identify that the </a:t>
            </a:r>
            <a:r>
              <a:rPr lang="en-SG" altLang="en-US" sz="2400" dirty="0" err="1">
                <a:solidFill>
                  <a:srgbClr val="FFFF00"/>
                </a:solidFill>
                <a:cs typeface="Times New Roman" panose="02020603050405020304" pitchFamily="18" charset="0"/>
              </a:rPr>
              <a:t>custName</a:t>
            </a:r>
            <a:r>
              <a:rPr lang="en-SG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 is “James </a:t>
            </a:r>
            <a:r>
              <a:rPr lang="en-SG" altLang="en-US" sz="2400" dirty="0" err="1">
                <a:solidFill>
                  <a:srgbClr val="FFFF00"/>
                </a:solidFill>
                <a:cs typeface="Times New Roman" panose="02020603050405020304" pitchFamily="18" charset="0"/>
              </a:rPr>
              <a:t>Koh</a:t>
            </a:r>
            <a:r>
              <a:rPr lang="en-SG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”, a male of age 30, address @ </a:t>
            </a:r>
            <a:r>
              <a:rPr lang="en-SG" altLang="en-US" sz="2400" dirty="0" err="1">
                <a:solidFill>
                  <a:srgbClr val="FFFF00"/>
                </a:solidFill>
                <a:cs typeface="Times New Roman" panose="02020603050405020304" pitchFamily="18" charset="0"/>
              </a:rPr>
              <a:t>Blk</a:t>
            </a:r>
            <a:r>
              <a:rPr lang="en-SG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 180 …</a:t>
            </a:r>
            <a:endParaRPr lang="en-US" altLang="en-US" sz="2400" dirty="0">
              <a:solidFill>
                <a:srgbClr val="FFFF00"/>
              </a:solidFill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‘</a:t>
            </a:r>
            <a:r>
              <a:rPr lang="en-US" altLang="en-US" sz="2400" dirty="0" err="1">
                <a:solidFill>
                  <a:schemeClr val="bg1"/>
                </a:solidFill>
                <a:cs typeface="Times New Roman" panose="02020603050405020304" pitchFamily="18" charset="0"/>
              </a:rPr>
              <a:t>NRICNo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’ </a:t>
            </a:r>
            <a:r>
              <a:rPr lang="en-US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being the identifier 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(i.e. Primary key) </a:t>
            </a:r>
            <a:r>
              <a:rPr lang="en-US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of the table.</a:t>
            </a:r>
            <a:endParaRPr lang="en-US" altLang="en-US" sz="2000" dirty="0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45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926026"/>
              </p:ext>
            </p:extLst>
          </p:nvPr>
        </p:nvGraphicFramePr>
        <p:xfrm>
          <a:off x="2198943" y="1744578"/>
          <a:ext cx="1512000" cy="15849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70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err="1"/>
                        <a:t>DoctorID</a:t>
                      </a:r>
                      <a:endParaRPr lang="en-SG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41" marR="91441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352">
                <a:tc>
                  <a:txBody>
                    <a:bodyPr/>
                    <a:lstStyle/>
                    <a:p>
                      <a:pPr algn="ctr"/>
                      <a:r>
                        <a:rPr lang="en-GB" sz="2000" b="0" baseline="0" dirty="0" err="1">
                          <a:solidFill>
                            <a:schemeClr val="dk1"/>
                          </a:solidFill>
                        </a:rPr>
                        <a:t>DoctorName</a:t>
                      </a:r>
                      <a:endParaRPr lang="en-SG" sz="2000" b="1" dirty="0">
                        <a:solidFill>
                          <a:srgbClr val="181CAC"/>
                        </a:solidFill>
                      </a:endParaRPr>
                    </a:p>
                  </a:txBody>
                  <a:tcPr marL="91441" marR="91441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352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dk1"/>
                          </a:solidFill>
                        </a:rPr>
                        <a:t>Discipline</a:t>
                      </a:r>
                      <a:endParaRPr lang="en-SG" sz="2000" b="1" dirty="0">
                        <a:solidFill>
                          <a:srgbClr val="181CAC"/>
                        </a:solidFill>
                      </a:endParaRPr>
                    </a:p>
                  </a:txBody>
                  <a:tcPr marL="91441" marR="91441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352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Location</a:t>
                      </a:r>
                      <a:endParaRPr lang="en-SG" sz="2000" dirty="0"/>
                    </a:p>
                  </a:txBody>
                  <a:tcPr marL="91441" marR="91441"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66" name="Text Box 3"/>
          <p:cNvSpPr txBox="1">
            <a:spLocks noChangeArrowheads="1"/>
          </p:cNvSpPr>
          <p:nvPr/>
        </p:nvSpPr>
        <p:spPr bwMode="auto">
          <a:xfrm>
            <a:off x="2353664" y="1378312"/>
            <a:ext cx="966517" cy="363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DOCTOR</a:t>
            </a:r>
          </a:p>
        </p:txBody>
      </p:sp>
      <p:sp>
        <p:nvSpPr>
          <p:cNvPr id="26668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11163"/>
            <a:ext cx="7334884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– Primary &amp; Foreign Keys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800018"/>
              </p:ext>
            </p:extLst>
          </p:nvPr>
        </p:nvGraphicFramePr>
        <p:xfrm>
          <a:off x="5304188" y="1744578"/>
          <a:ext cx="1548000" cy="158498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70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err="1"/>
                        <a:t>PatientID</a:t>
                      </a:r>
                      <a:endParaRPr lang="en-SG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41" marR="91441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352">
                <a:tc>
                  <a:txBody>
                    <a:bodyPr/>
                    <a:lstStyle/>
                    <a:p>
                      <a:pPr algn="ctr"/>
                      <a:r>
                        <a:rPr lang="en-GB" sz="2000" baseline="0" dirty="0" err="1"/>
                        <a:t>PatientName</a:t>
                      </a:r>
                      <a:endParaRPr lang="en-SG" sz="2000" b="1" dirty="0">
                        <a:solidFill>
                          <a:srgbClr val="181CAC"/>
                        </a:solidFill>
                      </a:endParaRPr>
                    </a:p>
                  </a:txBody>
                  <a:tcPr marL="91441" marR="91441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352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Clinic</a:t>
                      </a:r>
                      <a:endParaRPr lang="en-SG" sz="2000" b="1" dirty="0">
                        <a:solidFill>
                          <a:srgbClr val="181CAC"/>
                        </a:solidFill>
                      </a:endParaRPr>
                    </a:p>
                  </a:txBody>
                  <a:tcPr marL="91441" marR="91441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352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DoctorNo</a:t>
                      </a:r>
                      <a:endParaRPr lang="en-SG" sz="20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91441" marR="91441"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5512457" y="1378312"/>
            <a:ext cx="926635" cy="363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PATIENT</a:t>
            </a:r>
          </a:p>
        </p:txBody>
      </p:sp>
      <p:sp>
        <p:nvSpPr>
          <p:cNvPr id="30" name="TextBox 1"/>
          <p:cNvSpPr txBox="1">
            <a:spLocks noChangeArrowheads="1"/>
          </p:cNvSpPr>
          <p:nvPr/>
        </p:nvSpPr>
        <p:spPr bwMode="auto">
          <a:xfrm>
            <a:off x="2275463" y="3363355"/>
            <a:ext cx="1306439" cy="318924"/>
          </a:xfrm>
          <a:prstGeom prst="rect">
            <a:avLst/>
          </a:prstGeom>
          <a:noFill/>
          <a:ln>
            <a:noFill/>
          </a:ln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(Parent entity)</a:t>
            </a:r>
            <a:endParaRPr lang="en-SG" altLang="en-US" sz="1600" b="1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1"/>
          <p:cNvSpPr txBox="1">
            <a:spLocks noChangeArrowheads="1"/>
          </p:cNvSpPr>
          <p:nvPr/>
        </p:nvSpPr>
        <p:spPr bwMode="auto">
          <a:xfrm>
            <a:off x="5468460" y="3367088"/>
            <a:ext cx="1176852" cy="318924"/>
          </a:xfrm>
          <a:prstGeom prst="rect">
            <a:avLst/>
          </a:prstGeom>
          <a:noFill/>
          <a:ln>
            <a:noFill/>
          </a:ln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(Child entity)</a:t>
            </a:r>
            <a:endParaRPr lang="en-SG" altLang="en-US" sz="1600" b="1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1"/>
          <p:cNvSpPr txBox="1">
            <a:spLocks noChangeArrowheads="1"/>
          </p:cNvSpPr>
          <p:nvPr/>
        </p:nvSpPr>
        <p:spPr bwMode="auto">
          <a:xfrm>
            <a:off x="914400" y="1781950"/>
            <a:ext cx="1210579" cy="318924"/>
          </a:xfrm>
          <a:prstGeom prst="rect">
            <a:avLst/>
          </a:prstGeom>
          <a:noFill/>
          <a:ln>
            <a:noFill/>
          </a:ln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b="1" dirty="0">
                <a:solidFill>
                  <a:srgbClr val="FFC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(Primary key)</a:t>
            </a:r>
            <a:endParaRPr lang="en-SG" altLang="en-US" sz="1600" b="1" dirty="0">
              <a:solidFill>
                <a:srgbClr val="FFC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1"/>
          <p:cNvSpPr txBox="1">
            <a:spLocks noChangeArrowheads="1"/>
          </p:cNvSpPr>
          <p:nvPr/>
        </p:nvSpPr>
        <p:spPr bwMode="auto">
          <a:xfrm>
            <a:off x="6904388" y="2940434"/>
            <a:ext cx="1172812" cy="318924"/>
          </a:xfrm>
          <a:prstGeom prst="rect">
            <a:avLst/>
          </a:prstGeom>
          <a:noFill/>
          <a:ln>
            <a:noFill/>
          </a:ln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b="1" dirty="0">
                <a:solidFill>
                  <a:srgbClr val="FFC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(Foreign key)</a:t>
            </a:r>
            <a:endParaRPr lang="en-SG" altLang="en-US" sz="1600" b="1" dirty="0">
              <a:solidFill>
                <a:srgbClr val="FFC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838200" y="4141633"/>
            <a:ext cx="7772400" cy="81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SG" altLang="en-US" sz="2400" dirty="0">
                <a:solidFill>
                  <a:srgbClr val="FFFF00"/>
                </a:solidFill>
              </a:rPr>
              <a:t>In DOCTOR relation, </a:t>
            </a:r>
            <a:r>
              <a:rPr lang="en-SG" altLang="en-US" sz="2400" u="sng" dirty="0" err="1">
                <a:solidFill>
                  <a:schemeClr val="bg1"/>
                </a:solidFill>
              </a:rPr>
              <a:t>DoctorID</a:t>
            </a:r>
            <a:r>
              <a:rPr lang="en-SG" altLang="en-US" sz="2400" dirty="0">
                <a:solidFill>
                  <a:schemeClr val="bg1"/>
                </a:solidFill>
              </a:rPr>
              <a:t> is the Primary key. </a:t>
            </a:r>
            <a:r>
              <a:rPr lang="en-SG" altLang="en-US" sz="2400" dirty="0">
                <a:solidFill>
                  <a:srgbClr val="FFFF00"/>
                </a:solidFill>
              </a:rPr>
              <a:t>It links to </a:t>
            </a:r>
            <a:r>
              <a:rPr lang="en-SG" altLang="en-US" sz="2400" u="sng" dirty="0" err="1">
                <a:solidFill>
                  <a:srgbClr val="FFFF00"/>
                </a:solidFill>
              </a:rPr>
              <a:t>DoctorNo</a:t>
            </a:r>
            <a:r>
              <a:rPr lang="en-SG" altLang="en-US" sz="2400" dirty="0">
                <a:solidFill>
                  <a:srgbClr val="FFFF00"/>
                </a:solidFill>
              </a:rPr>
              <a:t> in the PATIENT relation.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686176" y="1295400"/>
            <a:ext cx="1600200" cy="1938065"/>
            <a:chOff x="3686176" y="1295400"/>
            <a:chExt cx="1600200" cy="1938065"/>
          </a:xfrm>
        </p:grpSpPr>
        <p:grpSp>
          <p:nvGrpSpPr>
            <p:cNvPr id="4" name="Group 3"/>
            <p:cNvGrpSpPr/>
            <p:nvPr/>
          </p:nvGrpSpPr>
          <p:grpSpPr>
            <a:xfrm>
              <a:off x="3686176" y="1295400"/>
              <a:ext cx="1600200" cy="1828799"/>
              <a:chOff x="3581400" y="1279810"/>
              <a:chExt cx="1600200" cy="1738560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3581400" y="1902802"/>
                <a:ext cx="1600200" cy="1115568"/>
                <a:chOff x="3581400" y="1902802"/>
                <a:chExt cx="1600200" cy="1115568"/>
              </a:xfrm>
            </p:grpSpPr>
            <p:cxnSp>
              <p:nvCxnSpPr>
                <p:cNvPr id="22" name="Straight Connector 21"/>
                <p:cNvCxnSpPr/>
                <p:nvPr/>
              </p:nvCxnSpPr>
              <p:spPr>
                <a:xfrm>
                  <a:off x="4434348" y="1902802"/>
                  <a:ext cx="0" cy="1115568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4450080" y="3016044"/>
                  <a:ext cx="731520" cy="0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/>
                <p:cNvCxnSpPr/>
                <p:nvPr/>
              </p:nvCxnSpPr>
              <p:spPr>
                <a:xfrm flipH="1">
                  <a:off x="3581400" y="1905000"/>
                  <a:ext cx="868680" cy="0"/>
                </a:xfrm>
                <a:prstGeom prst="straightConnector1">
                  <a:avLst/>
                </a:prstGeom>
                <a:ln w="28575">
                  <a:solidFill>
                    <a:srgbClr val="FFFF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TextBox 1"/>
              <p:cNvSpPr txBox="1">
                <a:spLocks noChangeArrowheads="1"/>
              </p:cNvSpPr>
              <p:nvPr/>
            </p:nvSpPr>
            <p:spPr bwMode="auto">
              <a:xfrm>
                <a:off x="3923287" y="1279810"/>
                <a:ext cx="1077337" cy="288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36000" tIns="36000" rIns="36000" bIns="3600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400" b="1" dirty="0">
                    <a:solidFill>
                      <a:srgbClr val="FFFF00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(relationship)</a:t>
                </a:r>
                <a:endParaRPr lang="en-SG" altLang="en-US" sz="14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4994176" y="2981465"/>
              <a:ext cx="292200" cy="252000"/>
              <a:chOff x="609600" y="3338512"/>
              <a:chExt cx="292200" cy="2520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 flipV="1">
                <a:off x="685800" y="3363355"/>
                <a:ext cx="216000" cy="10800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685800" y="3471355"/>
                <a:ext cx="216000" cy="10800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609600" y="3338512"/>
                <a:ext cx="0" cy="25200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>
              <a:off x="3795851" y="1836115"/>
              <a:ext cx="76200" cy="252000"/>
              <a:chOff x="457200" y="2745171"/>
              <a:chExt cx="76200" cy="252000"/>
            </a:xfrm>
          </p:grpSpPr>
          <p:cxnSp>
            <p:nvCxnSpPr>
              <p:cNvPr id="25" name="Straight Connector 24"/>
              <p:cNvCxnSpPr/>
              <p:nvPr/>
            </p:nvCxnSpPr>
            <p:spPr>
              <a:xfrm>
                <a:off x="457200" y="2745171"/>
                <a:ext cx="0" cy="25200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33400" y="2745171"/>
                <a:ext cx="0" cy="25200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1"/>
            <p:cNvSpPr txBox="1">
              <a:spLocks noChangeArrowheads="1"/>
            </p:cNvSpPr>
            <p:nvPr/>
          </p:nvSpPr>
          <p:spPr bwMode="auto">
            <a:xfrm>
              <a:off x="4008945" y="2390112"/>
              <a:ext cx="486855" cy="318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 dirty="0">
                  <a:solidFill>
                    <a:srgbClr val="FFC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treat</a:t>
              </a:r>
              <a:endParaRPr lang="en-SG" altLang="en-US" sz="1600" b="1" dirty="0">
                <a:solidFill>
                  <a:srgbClr val="FFC0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838200" y="5867400"/>
            <a:ext cx="7772400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2400" dirty="0">
                <a:solidFill>
                  <a:srgbClr val="FFFF00"/>
                </a:solidFill>
              </a:rPr>
              <a:t>Primary and Foreign Keys are </a:t>
            </a:r>
            <a:r>
              <a:rPr lang="en-GB" altLang="en-US" sz="2400" dirty="0">
                <a:solidFill>
                  <a:schemeClr val="bg1"/>
                </a:solidFill>
              </a:rPr>
              <a:t>linked by a relationship.</a:t>
            </a:r>
            <a:endParaRPr lang="en-SG" altLang="en-US" sz="2400" dirty="0">
              <a:solidFill>
                <a:schemeClr val="bg1"/>
              </a:solidFill>
            </a:endParaRP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838200" y="5181600"/>
            <a:ext cx="7772400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GB" altLang="en-US" sz="2400" u="sng" dirty="0" err="1">
                <a:solidFill>
                  <a:schemeClr val="bg1"/>
                </a:solidFill>
              </a:rPr>
              <a:t>DoctorNo</a:t>
            </a:r>
            <a:r>
              <a:rPr lang="en-GB" altLang="en-US" sz="2400" dirty="0">
                <a:solidFill>
                  <a:schemeClr val="bg1"/>
                </a:solidFill>
              </a:rPr>
              <a:t> </a:t>
            </a:r>
            <a:r>
              <a:rPr lang="en-GB" altLang="en-US" sz="2400" dirty="0">
                <a:solidFill>
                  <a:srgbClr val="FFFF00"/>
                </a:solidFill>
              </a:rPr>
              <a:t>in the PATIENT relation being the</a:t>
            </a:r>
            <a:r>
              <a:rPr lang="en-GB" altLang="en-US" sz="2400" dirty="0">
                <a:solidFill>
                  <a:schemeClr val="bg1"/>
                </a:solidFill>
              </a:rPr>
              <a:t> Foreign Key.</a:t>
            </a:r>
            <a:endParaRPr lang="en-SG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81000"/>
            <a:ext cx="6938963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>
              <a:defRPr/>
            </a:pPr>
            <a:r>
              <a:rPr lang="en-GB" sz="3200" b="1" dirty="0">
                <a:solidFill>
                  <a:srgbClr val="FFFF00"/>
                </a:solidFill>
                <a:latin typeface="+mn-lt"/>
              </a:rPr>
              <a:t>Relational Model : PK, FK &amp; Relationship</a:t>
            </a:r>
            <a:endParaRPr lang="en-US" sz="3200" b="1" dirty="0">
              <a:solidFill>
                <a:srgbClr val="FFFF00"/>
              </a:solidFill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495007"/>
              </p:ext>
            </p:extLst>
          </p:nvPr>
        </p:nvGraphicFramePr>
        <p:xfrm>
          <a:off x="2833821" y="1676400"/>
          <a:ext cx="5486400" cy="2042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0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1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17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>
                          <a:solidFill>
                            <a:schemeClr val="bg1"/>
                          </a:solidFill>
                        </a:rPr>
                        <a:t>DoctorID</a:t>
                      </a:r>
                      <a:endParaRPr lang="en-SG" sz="1800" dirty="0">
                        <a:solidFill>
                          <a:schemeClr val="bg1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rgbClr val="FFFF00"/>
                          </a:solidFill>
                        </a:rPr>
                        <a:t>DoctorName</a:t>
                      </a:r>
                      <a:endParaRPr lang="en-SG" sz="16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rgbClr val="FFFF00"/>
                          </a:solidFill>
                        </a:rPr>
                        <a:t>Discipline</a:t>
                      </a:r>
                      <a:endParaRPr lang="en-SG" sz="16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rgbClr val="FFFF00"/>
                          </a:solidFill>
                        </a:rPr>
                        <a:t>Location</a:t>
                      </a:r>
                      <a:endParaRPr lang="en-SG" sz="16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DOC-SL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aseline="0" dirty="0"/>
                        <a:t>Sam Lim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Cardiology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</a:t>
                      </a:r>
                      <a:r>
                        <a:rPr lang="en-GB" sz="1600" baseline="0" dirty="0"/>
                        <a:t>E Hospital</a:t>
                      </a:r>
                      <a:endParaRPr lang="en-SG" sz="16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DOC-HY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Henry Yeo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Cardiology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600" baseline="0" dirty="0"/>
                        <a:t>NS Hospital</a:t>
                      </a:r>
                      <a:endParaRPr lang="en-SG" sz="16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DOC-JS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John </a:t>
                      </a:r>
                      <a:r>
                        <a:rPr lang="en-GB" sz="1600" dirty="0" err="1"/>
                        <a:t>Samy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Paediatric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JC</a:t>
                      </a:r>
                      <a:r>
                        <a:rPr lang="en-GB" sz="1600" baseline="0" dirty="0"/>
                        <a:t> Hospital</a:t>
                      </a:r>
                      <a:endParaRPr lang="en-SG" sz="16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DOC-SA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Susan </a:t>
                      </a:r>
                      <a:r>
                        <a:rPr lang="en-GB" sz="1600" dirty="0" err="1"/>
                        <a:t>Amal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Radiology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NS Hospital</a:t>
                      </a:r>
                      <a:endParaRPr lang="en-SG" sz="16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DOC-MK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Mohd</a:t>
                      </a:r>
                      <a:r>
                        <a:rPr lang="en-GB" sz="1600" baseline="0" dirty="0"/>
                        <a:t> </a:t>
                      </a:r>
                      <a:r>
                        <a:rPr lang="en-GB" sz="1600" baseline="0" dirty="0" err="1"/>
                        <a:t>Kassim</a:t>
                      </a:r>
                      <a:endParaRPr lang="en-SG" sz="16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Radiology</a:t>
                      </a:r>
                      <a:endParaRPr lang="en-SG" sz="16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SG</a:t>
                      </a:r>
                      <a:r>
                        <a:rPr lang="en-GB" sz="1600" baseline="0" dirty="0"/>
                        <a:t> Hospital</a:t>
                      </a:r>
                      <a:endParaRPr lang="en-SG" sz="16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4617" name="Group 4"/>
          <p:cNvGrpSpPr>
            <a:grpSpLocks/>
          </p:cNvGrpSpPr>
          <p:nvPr/>
        </p:nvGrpSpPr>
        <p:grpSpPr bwMode="auto">
          <a:xfrm>
            <a:off x="2757621" y="1066801"/>
            <a:ext cx="1072625" cy="562283"/>
            <a:chOff x="1142216" y="2486533"/>
            <a:chExt cx="1072326" cy="564358"/>
          </a:xfrm>
        </p:grpSpPr>
        <p:sp>
          <p:nvSpPr>
            <p:cNvPr id="24657" name="Text Box 10"/>
            <p:cNvSpPr txBox="1">
              <a:spLocks noChangeArrowheads="1"/>
            </p:cNvSpPr>
            <p:nvPr/>
          </p:nvSpPr>
          <p:spPr bwMode="auto">
            <a:xfrm>
              <a:off x="1142216" y="2486533"/>
              <a:ext cx="1072326" cy="288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(Parent table)</a:t>
              </a:r>
            </a:p>
          </p:txBody>
        </p:sp>
        <p:sp>
          <p:nvSpPr>
            <p:cNvPr id="24658" name="Text Box 12"/>
            <p:cNvSpPr txBox="1">
              <a:spLocks noChangeArrowheads="1"/>
            </p:cNvSpPr>
            <p:nvPr/>
          </p:nvSpPr>
          <p:spPr bwMode="auto">
            <a:xfrm>
              <a:off x="1195640" y="2686375"/>
              <a:ext cx="964868" cy="36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DOCTOR</a:t>
              </a:r>
            </a:p>
          </p:txBody>
        </p:sp>
      </p:grp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947898"/>
              </p:ext>
            </p:extLst>
          </p:nvPr>
        </p:nvGraphicFramePr>
        <p:xfrm>
          <a:off x="1016000" y="5029192"/>
          <a:ext cx="4846320" cy="17068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3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PatientID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PatientName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Clinic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>
                          <a:solidFill>
                            <a:srgbClr val="FFFF00"/>
                          </a:solidFill>
                        </a:rPr>
                        <a:t>DoctorNo</a:t>
                      </a:r>
                      <a:endParaRPr lang="en-SG" sz="1800" dirty="0">
                        <a:solidFill>
                          <a:srgbClr val="FFFF00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PAT-31</a:t>
                      </a:r>
                      <a:endParaRPr lang="en-SG" sz="16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Michael</a:t>
                      </a:r>
                      <a:endParaRPr lang="en-SG" sz="16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Paediatric</a:t>
                      </a:r>
                      <a:endParaRPr lang="en-SG" sz="16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DOC-JS</a:t>
                      </a:r>
                      <a:endParaRPr lang="en-SG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PAT-52</a:t>
                      </a:r>
                      <a:endParaRPr lang="en-SG" sz="16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aseline="0" dirty="0"/>
                        <a:t>Jennifer</a:t>
                      </a:r>
                      <a:endParaRPr lang="en-SG" sz="16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Cardiology</a:t>
                      </a:r>
                      <a:endParaRPr lang="en-SG" sz="16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DOC-HY</a:t>
                      </a:r>
                      <a:endParaRPr lang="en-SG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PAT-79</a:t>
                      </a:r>
                      <a:endParaRPr lang="en-SG" sz="16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Steven</a:t>
                      </a:r>
                      <a:endParaRPr lang="en-SG" sz="16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Radiology</a:t>
                      </a:r>
                      <a:endParaRPr lang="en-SG" sz="16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DOC-SA</a:t>
                      </a:r>
                      <a:endParaRPr lang="en-SG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PAT-80</a:t>
                      </a:r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Susan</a:t>
                      </a:r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Radiology</a:t>
                      </a:r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>
                          <a:solidFill>
                            <a:srgbClr val="FF0000"/>
                          </a:solidFill>
                        </a:rPr>
                        <a:t>DOC-SA</a:t>
                      </a: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288599"/>
                  </a:ext>
                </a:extLst>
              </a:tr>
            </a:tbl>
          </a:graphicData>
        </a:graphic>
      </p:graphicFrame>
      <p:grpSp>
        <p:nvGrpSpPr>
          <p:cNvPr id="24645" name="Group 3"/>
          <p:cNvGrpSpPr>
            <a:grpSpLocks/>
          </p:cNvGrpSpPr>
          <p:nvPr/>
        </p:nvGrpSpPr>
        <p:grpSpPr bwMode="auto">
          <a:xfrm>
            <a:off x="0" y="5143492"/>
            <a:ext cx="1073150" cy="571500"/>
            <a:chOff x="1823475" y="4957544"/>
            <a:chExt cx="1073982" cy="569119"/>
          </a:xfrm>
        </p:grpSpPr>
        <p:sp>
          <p:nvSpPr>
            <p:cNvPr id="24655" name="Text Box 13"/>
            <p:cNvSpPr txBox="1">
              <a:spLocks noChangeArrowheads="1"/>
            </p:cNvSpPr>
            <p:nvPr/>
          </p:nvSpPr>
          <p:spPr bwMode="auto">
            <a:xfrm>
              <a:off x="1905732" y="4957544"/>
              <a:ext cx="838315" cy="331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PATIENT</a:t>
              </a:r>
            </a:p>
          </p:txBody>
        </p:sp>
        <p:sp>
          <p:nvSpPr>
            <p:cNvPr id="24656" name="Text Box 16"/>
            <p:cNvSpPr txBox="1">
              <a:spLocks noChangeArrowheads="1"/>
            </p:cNvSpPr>
            <p:nvPr/>
          </p:nvSpPr>
          <p:spPr bwMode="auto">
            <a:xfrm>
              <a:off x="1823475" y="5219803"/>
              <a:ext cx="1073982" cy="306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(Child table)</a:t>
              </a:r>
            </a:p>
          </p:txBody>
        </p:sp>
      </p:grpSp>
      <p:grpSp>
        <p:nvGrpSpPr>
          <p:cNvPr id="4" name="Group 1"/>
          <p:cNvGrpSpPr>
            <a:grpSpLocks/>
          </p:cNvGrpSpPr>
          <p:nvPr/>
        </p:nvGrpSpPr>
        <p:grpSpPr bwMode="auto">
          <a:xfrm>
            <a:off x="2338334" y="3352799"/>
            <a:ext cx="3402064" cy="1674483"/>
            <a:chOff x="2338366" y="4114935"/>
            <a:chExt cx="3402008" cy="1674325"/>
          </a:xfrm>
        </p:grpSpPr>
        <p:sp>
          <p:nvSpPr>
            <p:cNvPr id="24648" name="Text Box 6"/>
            <p:cNvSpPr txBox="1">
              <a:spLocks noChangeArrowheads="1"/>
            </p:cNvSpPr>
            <p:nvPr/>
          </p:nvSpPr>
          <p:spPr bwMode="auto">
            <a:xfrm>
              <a:off x="5349946" y="5067309"/>
              <a:ext cx="390428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(FK)</a:t>
              </a:r>
              <a:endParaRPr lang="en-US" altLang="en-US" sz="16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4649" name="Group 11"/>
            <p:cNvGrpSpPr>
              <a:grpSpLocks/>
            </p:cNvGrpSpPr>
            <p:nvPr/>
          </p:nvGrpSpPr>
          <p:grpSpPr bwMode="auto">
            <a:xfrm>
              <a:off x="3429016" y="4510640"/>
              <a:ext cx="1829266" cy="1278620"/>
              <a:chOff x="3108290" y="4258227"/>
              <a:chExt cx="1829036" cy="1278620"/>
            </a:xfrm>
          </p:grpSpPr>
          <p:sp>
            <p:nvSpPr>
              <p:cNvPr id="24651" name="Text Box 18"/>
              <p:cNvSpPr txBox="1">
                <a:spLocks noChangeArrowheads="1"/>
              </p:cNvSpPr>
              <p:nvPr/>
            </p:nvSpPr>
            <p:spPr bwMode="auto">
              <a:xfrm>
                <a:off x="3413864" y="4472060"/>
                <a:ext cx="137058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solidFill>
                      <a:srgbClr val="FFFF00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(Relationship)</a:t>
                </a:r>
              </a:p>
            </p:txBody>
          </p:sp>
          <p:cxnSp>
            <p:nvCxnSpPr>
              <p:cNvPr id="20" name="Straight Arrow Connector 19"/>
              <p:cNvCxnSpPr/>
              <p:nvPr/>
            </p:nvCxnSpPr>
            <p:spPr>
              <a:xfrm flipV="1">
                <a:off x="3108290" y="4258227"/>
                <a:ext cx="0" cy="548587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 flipV="1">
                <a:off x="4936826" y="4805398"/>
                <a:ext cx="0" cy="731449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H="1">
                <a:off x="3108787" y="4818095"/>
                <a:ext cx="1828539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650" name="Text Box 6"/>
            <p:cNvSpPr txBox="1">
              <a:spLocks noChangeArrowheads="1"/>
            </p:cNvSpPr>
            <p:nvPr/>
          </p:nvSpPr>
          <p:spPr bwMode="auto">
            <a:xfrm>
              <a:off x="2338366" y="4114935"/>
              <a:ext cx="404854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(PK)</a:t>
              </a:r>
              <a:endParaRPr lang="en-US" altLang="en-US" sz="16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272099" y="4646433"/>
            <a:ext cx="4868121" cy="318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rgbClr val="FFFF00"/>
                </a:solidFill>
              </a:rPr>
              <a:t>‘</a:t>
            </a:r>
            <a:r>
              <a:rPr lang="en-GB" altLang="en-US" sz="1600" b="1" dirty="0" err="1">
                <a:solidFill>
                  <a:srgbClr val="FFC000"/>
                </a:solidFill>
              </a:rPr>
              <a:t>DoctorNo</a:t>
            </a:r>
            <a:r>
              <a:rPr lang="en-GB" altLang="en-US" sz="1600" dirty="0">
                <a:solidFill>
                  <a:srgbClr val="FFFF00"/>
                </a:solidFill>
              </a:rPr>
              <a:t>’ from PATIENT relation / table is a foreign key</a:t>
            </a:r>
            <a:endParaRPr lang="en-US" altLang="en-US" sz="1600" dirty="0">
              <a:solidFill>
                <a:srgbClr val="FFFF00"/>
              </a:solidFill>
            </a:endParaRP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4131600" y="1249673"/>
            <a:ext cx="4860000" cy="318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rgbClr val="FFFF00"/>
                </a:solidFill>
              </a:rPr>
              <a:t>‘</a:t>
            </a:r>
            <a:r>
              <a:rPr lang="en-GB" altLang="en-US" sz="1600" b="1" dirty="0" err="1">
                <a:solidFill>
                  <a:srgbClr val="FFC000"/>
                </a:solidFill>
              </a:rPr>
              <a:t>DoctorID</a:t>
            </a:r>
            <a:r>
              <a:rPr lang="en-GB" altLang="en-US" sz="1600" dirty="0">
                <a:solidFill>
                  <a:srgbClr val="FFFF00"/>
                </a:solidFill>
              </a:rPr>
              <a:t>’ from DOCTOR relation / table is a primary key</a:t>
            </a:r>
            <a:endParaRPr lang="en-US" altLang="en-US" sz="1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81000"/>
            <a:ext cx="2810632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>
              <a:defRPr/>
            </a:pPr>
            <a:r>
              <a:rPr lang="en-GB" sz="3200" b="1" dirty="0">
                <a:solidFill>
                  <a:srgbClr val="FFFF00"/>
                </a:solidFill>
                <a:latin typeface="+mn-lt"/>
              </a:rPr>
              <a:t>Foreign Key (FK)</a:t>
            </a:r>
            <a:endParaRPr lang="en-US" sz="3200" b="1" dirty="0">
              <a:solidFill>
                <a:srgbClr val="FFFF00"/>
              </a:solidFill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497393"/>
              </p:ext>
            </p:extLst>
          </p:nvPr>
        </p:nvGraphicFramePr>
        <p:xfrm>
          <a:off x="3505200" y="2466971"/>
          <a:ext cx="5029200" cy="20288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/>
                        <a:t>DoctorID</a:t>
                      </a:r>
                      <a:endParaRPr lang="en-SG" sz="1400" dirty="0"/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>
                          <a:solidFill>
                            <a:srgbClr val="FFFF00"/>
                          </a:solidFill>
                        </a:rPr>
                        <a:t>DoctorName</a:t>
                      </a:r>
                      <a:endParaRPr lang="en-SG" sz="14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FFFF00"/>
                          </a:solidFill>
                        </a:rPr>
                        <a:t>Discipline</a:t>
                      </a:r>
                      <a:endParaRPr lang="en-SG" sz="14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FFFF00"/>
                          </a:solidFill>
                        </a:rPr>
                        <a:t>Location</a:t>
                      </a:r>
                      <a:endParaRPr lang="en-SG" sz="14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DOC-SL</a:t>
                      </a:r>
                      <a:endParaRPr lang="en-SG" sz="1400" b="1" dirty="0"/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Sam Lim</a:t>
                      </a:r>
                      <a:endParaRPr lang="en-SG" sz="1400" dirty="0"/>
                    </a:p>
                  </a:txBody>
                  <a:tcPr marL="91436" marR="91436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Cardiology</a:t>
                      </a:r>
                      <a:endParaRPr lang="en-SG" sz="1400" dirty="0"/>
                    </a:p>
                  </a:txBody>
                  <a:tcPr marL="91436" marR="91436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r>
                        <a:rPr lang="en-GB" sz="1400" baseline="0" dirty="0"/>
                        <a:t>E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DOC-HY</a:t>
                      </a:r>
                      <a:endParaRPr lang="en-SG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Henry Yeo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Cardiology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NS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181CAC"/>
                          </a:solidFill>
                        </a:rPr>
                        <a:t>DOC-JS</a:t>
                      </a:r>
                      <a:endParaRPr lang="en-SG" sz="1400" b="1" dirty="0">
                        <a:solidFill>
                          <a:srgbClr val="181CAC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John </a:t>
                      </a:r>
                      <a:r>
                        <a:rPr lang="en-GB" sz="1400" dirty="0" err="1"/>
                        <a:t>Samy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Paediatric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JC</a:t>
                      </a:r>
                      <a:r>
                        <a:rPr lang="en-GB" sz="1400" baseline="0" dirty="0"/>
                        <a:t>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00B050"/>
                          </a:solidFill>
                        </a:rPr>
                        <a:t>DOC-SA</a:t>
                      </a:r>
                      <a:endParaRPr lang="en-SG" sz="1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Susan </a:t>
                      </a:r>
                      <a:r>
                        <a:rPr lang="en-GB" sz="1400" dirty="0" err="1"/>
                        <a:t>Amal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Radiology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NS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DOC-MK</a:t>
                      </a:r>
                      <a:endParaRPr lang="en-SG" sz="1400" b="1" dirty="0"/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Mohd</a:t>
                      </a:r>
                      <a:r>
                        <a:rPr lang="en-GB" sz="1400" baseline="0" dirty="0"/>
                        <a:t> </a:t>
                      </a:r>
                      <a:r>
                        <a:rPr lang="en-GB" sz="1400" baseline="0" dirty="0" err="1"/>
                        <a:t>Kassim</a:t>
                      </a:r>
                      <a:endParaRPr lang="en-SG" sz="14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Radiology</a:t>
                      </a:r>
                      <a:endParaRPr lang="en-SG" sz="14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SG</a:t>
                      </a:r>
                      <a:r>
                        <a:rPr lang="en-GB" sz="1400" baseline="0" dirty="0"/>
                        <a:t>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5641" name="Group 4"/>
          <p:cNvGrpSpPr>
            <a:grpSpLocks/>
          </p:cNvGrpSpPr>
          <p:nvPr/>
        </p:nvGrpSpPr>
        <p:grpSpPr bwMode="auto">
          <a:xfrm>
            <a:off x="3528671" y="2133600"/>
            <a:ext cx="1981545" cy="332399"/>
            <a:chOff x="1241859" y="2945422"/>
            <a:chExt cx="1980994" cy="333624"/>
          </a:xfrm>
        </p:grpSpPr>
        <p:sp>
          <p:nvSpPr>
            <p:cNvPr id="25680" name="Text Box 10"/>
            <p:cNvSpPr txBox="1">
              <a:spLocks noChangeArrowheads="1"/>
            </p:cNvSpPr>
            <p:nvPr/>
          </p:nvSpPr>
          <p:spPr bwMode="auto">
            <a:xfrm>
              <a:off x="2150527" y="2976907"/>
              <a:ext cx="1072326" cy="288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(Parent table)</a:t>
              </a:r>
            </a:p>
          </p:txBody>
        </p:sp>
        <p:sp>
          <p:nvSpPr>
            <p:cNvPr id="25681" name="Text Box 12"/>
            <p:cNvSpPr txBox="1">
              <a:spLocks noChangeArrowheads="1"/>
            </p:cNvSpPr>
            <p:nvPr/>
          </p:nvSpPr>
          <p:spPr bwMode="auto">
            <a:xfrm>
              <a:off x="1241859" y="2945422"/>
              <a:ext cx="872432" cy="333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DOCTOR</a:t>
              </a:r>
            </a:p>
          </p:txBody>
        </p:sp>
      </p:grp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661395"/>
              </p:ext>
            </p:extLst>
          </p:nvPr>
        </p:nvGraphicFramePr>
        <p:xfrm>
          <a:off x="933449" y="5256212"/>
          <a:ext cx="4324351" cy="1373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95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29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PatientID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PatientName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Clinic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DoctorNo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29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PAT-31</a:t>
                      </a:r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Michael</a:t>
                      </a:r>
                      <a:endParaRPr lang="en-SG" sz="1400" dirty="0"/>
                    </a:p>
                  </a:txBody>
                  <a:tcPr marL="91435" marR="91435" marT="45721" marB="45721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Paediatric</a:t>
                      </a:r>
                      <a:endParaRPr lang="en-SG" sz="1400" dirty="0"/>
                    </a:p>
                  </a:txBody>
                  <a:tcPr marL="91435" marR="91435" marT="45721" marB="45721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181CAC"/>
                          </a:solidFill>
                        </a:rPr>
                        <a:t>DOC-JS</a:t>
                      </a:r>
                      <a:endParaRPr lang="en-SG" sz="1400" dirty="0">
                        <a:solidFill>
                          <a:srgbClr val="181CAC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29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PAT-52</a:t>
                      </a:r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Jennifer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Cardiology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FF0000"/>
                          </a:solidFill>
                        </a:rPr>
                        <a:t>DOC-HY</a:t>
                      </a:r>
                      <a:endParaRPr lang="en-SG" sz="1400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29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PAT-79</a:t>
                      </a:r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Steven</a:t>
                      </a:r>
                      <a:endParaRPr lang="en-SG" sz="1400" dirty="0"/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Radiology</a:t>
                      </a:r>
                      <a:endParaRPr lang="en-SG" sz="1400" dirty="0"/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00B050"/>
                          </a:solidFill>
                        </a:rPr>
                        <a:t>DOC-SA</a:t>
                      </a:r>
                      <a:endParaRPr lang="en-SG" sz="14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9765" name="Group 3"/>
          <p:cNvGrpSpPr>
            <a:grpSpLocks/>
          </p:cNvGrpSpPr>
          <p:nvPr/>
        </p:nvGrpSpPr>
        <p:grpSpPr bwMode="auto">
          <a:xfrm>
            <a:off x="2743197" y="4897433"/>
            <a:ext cx="1828802" cy="332399"/>
            <a:chOff x="1817606" y="4957544"/>
            <a:chExt cx="1114679" cy="330440"/>
          </a:xfrm>
        </p:grpSpPr>
        <p:sp>
          <p:nvSpPr>
            <p:cNvPr id="25678" name="Text Box 13"/>
            <p:cNvSpPr txBox="1">
              <a:spLocks noChangeArrowheads="1"/>
            </p:cNvSpPr>
            <p:nvPr/>
          </p:nvSpPr>
          <p:spPr bwMode="auto">
            <a:xfrm>
              <a:off x="1817606" y="4957544"/>
              <a:ext cx="510568" cy="330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PATIENT</a:t>
              </a:r>
            </a:p>
          </p:txBody>
        </p:sp>
        <p:sp>
          <p:nvSpPr>
            <p:cNvPr id="25679" name="Text Box 16"/>
            <p:cNvSpPr txBox="1">
              <a:spLocks noChangeArrowheads="1"/>
            </p:cNvSpPr>
            <p:nvPr/>
          </p:nvSpPr>
          <p:spPr bwMode="auto">
            <a:xfrm>
              <a:off x="2295987" y="4971775"/>
              <a:ext cx="636298" cy="306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(Child table)</a:t>
              </a:r>
            </a:p>
          </p:txBody>
        </p:sp>
      </p:grpSp>
      <p:sp>
        <p:nvSpPr>
          <p:cNvPr id="25670" name="Text Box 6"/>
          <p:cNvSpPr txBox="1">
            <a:spLocks noChangeArrowheads="1"/>
          </p:cNvSpPr>
          <p:nvPr/>
        </p:nvSpPr>
        <p:spPr bwMode="auto">
          <a:xfrm>
            <a:off x="3048000" y="4117975"/>
            <a:ext cx="40481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(PK)</a:t>
            </a:r>
            <a:endParaRPr lang="en-US" altLang="en-US" sz="16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671" name="Rectangle 1"/>
          <p:cNvSpPr>
            <a:spLocks noChangeArrowheads="1"/>
          </p:cNvSpPr>
          <p:nvPr/>
        </p:nvSpPr>
        <p:spPr bwMode="auto">
          <a:xfrm>
            <a:off x="3738563" y="2460625"/>
            <a:ext cx="739775" cy="28892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400" b="1" dirty="0" err="1">
                <a:solidFill>
                  <a:srgbClr val="000099"/>
                </a:solidFill>
              </a:rPr>
              <a:t>DoctorID</a:t>
            </a:r>
            <a:endParaRPr lang="en-SG" altLang="en-US" sz="1400" b="1" dirty="0">
              <a:solidFill>
                <a:srgbClr val="000099"/>
              </a:solidFill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4267199" y="4954587"/>
            <a:ext cx="971550" cy="603250"/>
            <a:chOff x="8077200" y="3276600"/>
            <a:chExt cx="971550" cy="603250"/>
          </a:xfrm>
        </p:grpSpPr>
        <p:sp>
          <p:nvSpPr>
            <p:cNvPr id="25676" name="Text Box 6"/>
            <p:cNvSpPr txBox="1">
              <a:spLocks noChangeArrowheads="1"/>
            </p:cNvSpPr>
            <p:nvPr/>
          </p:nvSpPr>
          <p:spPr bwMode="auto">
            <a:xfrm>
              <a:off x="8610600" y="3276600"/>
              <a:ext cx="390525" cy="30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(FK)</a:t>
              </a:r>
              <a:endParaRPr lang="en-US" altLang="en-US" sz="160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8077200" y="3592513"/>
              <a:ext cx="971550" cy="28733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 lIns="36000" tIns="36000" rIns="36000" bIns="36000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b="1" dirty="0" err="1">
                  <a:solidFill>
                    <a:prstClr val="black"/>
                  </a:solidFill>
                  <a:latin typeface="Calibri"/>
                </a:rPr>
                <a:t>DoctorNo</a:t>
              </a:r>
              <a:endParaRPr lang="en-SG" sz="1400" b="1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3640138" y="3086100"/>
            <a:ext cx="936000" cy="108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sp>
        <p:nvSpPr>
          <p:cNvPr id="18" name="Rectangle 17"/>
          <p:cNvSpPr/>
          <p:nvPr/>
        </p:nvSpPr>
        <p:spPr>
          <a:xfrm>
            <a:off x="4346574" y="5576886"/>
            <a:ext cx="863600" cy="100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609600" y="1181501"/>
            <a:ext cx="7772400" cy="1180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2400" dirty="0">
                <a:solidFill>
                  <a:srgbClr val="FFFF00"/>
                </a:solidFill>
              </a:rPr>
              <a:t>A </a:t>
            </a:r>
            <a:r>
              <a:rPr lang="en-SG" altLang="en-US" sz="2400" u="sng" dirty="0">
                <a:solidFill>
                  <a:srgbClr val="FFFF00"/>
                </a:solidFill>
              </a:rPr>
              <a:t>Foreign Key</a:t>
            </a:r>
            <a:r>
              <a:rPr lang="en-SG" altLang="en-US" sz="2400" dirty="0">
                <a:solidFill>
                  <a:srgbClr val="FFFF00"/>
                </a:solidFill>
              </a:rPr>
              <a:t> (FK) is an attribute of one relation </a:t>
            </a:r>
            <a:r>
              <a:rPr lang="en-SG" altLang="en-US" sz="2400" dirty="0">
                <a:solidFill>
                  <a:schemeClr val="bg1"/>
                </a:solidFill>
              </a:rPr>
              <a:t>whose values are required to </a:t>
            </a:r>
            <a:r>
              <a:rPr lang="en-SG" altLang="en-US" sz="2400" b="1" dirty="0">
                <a:solidFill>
                  <a:srgbClr val="FFC000"/>
                </a:solidFill>
              </a:rPr>
              <a:t>match</a:t>
            </a:r>
            <a:r>
              <a:rPr lang="en-SG" altLang="en-US" sz="2400" dirty="0">
                <a:solidFill>
                  <a:schemeClr val="bg1"/>
                </a:solidFill>
              </a:rPr>
              <a:t> those of the primary key of another relation</a:t>
            </a:r>
            <a:r>
              <a:rPr lang="en-SG" altLang="en-US" sz="2400" dirty="0">
                <a:solidFill>
                  <a:srgbClr val="FFFF00"/>
                </a:solidFill>
              </a:rPr>
              <a:t>.</a:t>
            </a:r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433029" y="3630001"/>
            <a:ext cx="2955489" cy="33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(FK values match to PK values)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026112" y="4495799"/>
            <a:ext cx="662118" cy="772494"/>
            <a:chOff x="4026112" y="4495799"/>
            <a:chExt cx="662118" cy="772494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4688230" y="4811093"/>
              <a:ext cx="0" cy="45720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4033843" y="4495799"/>
              <a:ext cx="0" cy="349374"/>
            </a:xfrm>
            <a:prstGeom prst="line">
              <a:avLst/>
            </a:prstGeom>
            <a:ln w="2857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4026112" y="4829017"/>
              <a:ext cx="658368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70" grpId="0"/>
      <p:bldP spid="2" grpId="0" animBg="1"/>
      <p:bldP spid="18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25450"/>
            <a:ext cx="5729701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Key – Primary Key (PK)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3900" y="1143000"/>
            <a:ext cx="6896100" cy="24006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  <a:buFont typeface="Arial" pitchFamily="34" charset="0"/>
              <a:buNone/>
              <a:defRPr/>
            </a:pPr>
            <a:r>
              <a:rPr lang="en-GB" sz="2800" b="1" dirty="0">
                <a:latin typeface="Calibri" panose="020F0502020204030204" pitchFamily="34" charset="0"/>
                <a:cs typeface="Times New Roman" pitchFamily="18" charset="0"/>
              </a:rPr>
              <a:t>Characteristics of a Primary Key (PK):</a:t>
            </a:r>
          </a:p>
          <a:p>
            <a:pPr marL="457200" indent="-457200" eaLnBrk="1" hangingPunct="1">
              <a:spcBef>
                <a:spcPts val="300"/>
              </a:spcBef>
              <a:buFont typeface="+mj-lt"/>
              <a:buAutoNum type="arabicParenR"/>
              <a:defRPr/>
            </a:pPr>
            <a:r>
              <a:rPr lang="en-GB" sz="2800" dirty="0">
                <a:latin typeface="Calibri" panose="020F0502020204030204" pitchFamily="34" charset="0"/>
                <a:cs typeface="Times New Roman" pitchFamily="18" charset="0"/>
              </a:rPr>
              <a:t>PK has a </a:t>
            </a:r>
            <a:r>
              <a:rPr lang="en-GB" sz="2800" u="sng" dirty="0">
                <a:solidFill>
                  <a:srgbClr val="FF0000"/>
                </a:solidFill>
                <a:latin typeface="Calibri" panose="020F0502020204030204" pitchFamily="34" charset="0"/>
                <a:cs typeface="Times New Roman" pitchFamily="18" charset="0"/>
              </a:rPr>
              <a:t>unique value</a:t>
            </a:r>
            <a:r>
              <a:rPr lang="en-GB" sz="2800" dirty="0">
                <a:solidFill>
                  <a:srgbClr val="FF0000"/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en-GB" sz="2800" dirty="0">
                <a:latin typeface="Calibri" panose="020F0502020204030204" pitchFamily="34" charset="0"/>
                <a:cs typeface="Times New Roman" pitchFamily="18" charset="0"/>
              </a:rPr>
              <a:t>for each row.</a:t>
            </a:r>
          </a:p>
          <a:p>
            <a:pPr marL="457200" indent="-457200" eaLnBrk="1" hangingPunct="1">
              <a:spcBef>
                <a:spcPts val="300"/>
              </a:spcBef>
              <a:buFont typeface="+mj-lt"/>
              <a:buAutoNum type="arabicParenR"/>
              <a:defRPr/>
            </a:pPr>
            <a:r>
              <a:rPr lang="en-GB" sz="2800" dirty="0">
                <a:latin typeface="Calibri" panose="020F0502020204030204" pitchFamily="34" charset="0"/>
                <a:cs typeface="Times New Roman" pitchFamily="18" charset="0"/>
              </a:rPr>
              <a:t>PK can </a:t>
            </a:r>
            <a:r>
              <a:rPr lang="en-GB" sz="2800" dirty="0">
                <a:solidFill>
                  <a:srgbClr val="FF0000"/>
                </a:solidFill>
                <a:latin typeface="Calibri" panose="020F0502020204030204" pitchFamily="34" charset="0"/>
                <a:cs typeface="Times New Roman" pitchFamily="18" charset="0"/>
              </a:rPr>
              <a:t>uniquely identify all rows </a:t>
            </a:r>
            <a:r>
              <a:rPr lang="en-GB" sz="2800" dirty="0">
                <a:latin typeface="Calibri" panose="020F0502020204030204" pitchFamily="34" charset="0"/>
                <a:cs typeface="Times New Roman" pitchFamily="18" charset="0"/>
              </a:rPr>
              <a:t>in a table.</a:t>
            </a:r>
          </a:p>
          <a:p>
            <a:pPr marL="457200" indent="-457200" eaLnBrk="1" hangingPunct="1">
              <a:spcBef>
                <a:spcPts val="300"/>
              </a:spcBef>
              <a:buFont typeface="+mj-lt"/>
              <a:buAutoNum type="arabicParenR"/>
              <a:defRPr/>
            </a:pPr>
            <a:r>
              <a:rPr lang="en-GB" sz="2800" dirty="0">
                <a:latin typeface="Calibri" panose="020F0502020204030204" pitchFamily="34" charset="0"/>
                <a:cs typeface="Times New Roman" pitchFamily="18" charset="0"/>
              </a:rPr>
              <a:t>In PK, it </a:t>
            </a:r>
            <a:r>
              <a:rPr lang="en-GB" sz="2800" u="sng" dirty="0">
                <a:solidFill>
                  <a:srgbClr val="FF0000"/>
                </a:solidFill>
                <a:latin typeface="Calibri" panose="020F0502020204030204" pitchFamily="34" charset="0"/>
                <a:cs typeface="Times New Roman" pitchFamily="18" charset="0"/>
              </a:rPr>
              <a:t>cannot contain duplicated value</a:t>
            </a:r>
            <a:r>
              <a:rPr lang="en-GB" sz="2800" u="sng" dirty="0">
                <a:solidFill>
                  <a:srgbClr val="FFC000"/>
                </a:solidFill>
                <a:latin typeface="Calibri" panose="020F0502020204030204" pitchFamily="34" charset="0"/>
                <a:cs typeface="Times New Roman" pitchFamily="18" charset="0"/>
              </a:rPr>
              <a:t>.</a:t>
            </a:r>
            <a:endParaRPr lang="en-GB" sz="2800" u="sng" dirty="0">
              <a:latin typeface="Calibri" panose="020F0502020204030204" pitchFamily="34" charset="0"/>
              <a:cs typeface="Times New Roman" pitchFamily="18" charset="0"/>
            </a:endParaRPr>
          </a:p>
          <a:p>
            <a:pPr marL="457200" indent="-457200" eaLnBrk="1" hangingPunct="1">
              <a:spcBef>
                <a:spcPts val="300"/>
              </a:spcBef>
              <a:buFont typeface="+mj-lt"/>
              <a:buAutoNum type="arabicParenR"/>
              <a:defRPr/>
            </a:pPr>
            <a:r>
              <a:rPr lang="en-GB" sz="2800" dirty="0">
                <a:latin typeface="Calibri" panose="020F0502020204030204" pitchFamily="34" charset="0"/>
                <a:cs typeface="Times New Roman" pitchFamily="18" charset="0"/>
              </a:rPr>
              <a:t>In PK, it </a:t>
            </a:r>
            <a:r>
              <a:rPr lang="en-GB" sz="2800" u="sng" dirty="0">
                <a:solidFill>
                  <a:srgbClr val="FF0000"/>
                </a:solidFill>
                <a:latin typeface="Calibri" panose="020F0502020204030204" pitchFamily="34" charset="0"/>
                <a:cs typeface="Times New Roman" pitchFamily="18" charset="0"/>
              </a:rPr>
              <a:t>cannot contain null value</a:t>
            </a:r>
            <a:r>
              <a:rPr lang="en-GB" sz="2800" u="sng" dirty="0">
                <a:latin typeface="Calibri" panose="020F0502020204030204" pitchFamily="34" charset="0"/>
                <a:cs typeface="Times New Roman" pitchFamily="18" charset="0"/>
              </a:rPr>
              <a:t>.</a:t>
            </a:r>
          </a:p>
        </p:txBody>
      </p:sp>
      <p:sp>
        <p:nvSpPr>
          <p:cNvPr id="23557" name="Rectangle 3"/>
          <p:cNvSpPr txBox="1">
            <a:spLocks noChangeArrowheads="1"/>
          </p:cNvSpPr>
          <p:nvPr/>
        </p:nvSpPr>
        <p:spPr bwMode="auto">
          <a:xfrm>
            <a:off x="1066800" y="5973410"/>
            <a:ext cx="4424920" cy="50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FFC000"/>
                </a:solidFill>
                <a:cs typeface="Times New Roman" panose="02020603050405020304" pitchFamily="18" charset="0"/>
              </a:rPr>
              <a:t>Primary key is a unique key.</a:t>
            </a:r>
          </a:p>
        </p:txBody>
      </p:sp>
      <p:sp>
        <p:nvSpPr>
          <p:cNvPr id="23558" name="Rectangle 3"/>
          <p:cNvSpPr txBox="1">
            <a:spLocks noChangeArrowheads="1"/>
          </p:cNvSpPr>
          <p:nvPr/>
        </p:nvSpPr>
        <p:spPr bwMode="auto">
          <a:xfrm>
            <a:off x="6217769" y="3166616"/>
            <a:ext cx="2554314" cy="28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lIns="3600" tIns="3600" rIns="3600" bIns="36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>
              <a:buFont typeface="Arial" panose="020B0604020202020204" pitchFamily="34" charset="0"/>
              <a:buNone/>
            </a:pPr>
            <a:r>
              <a:rPr lang="en-US" altLang="en-US" sz="1800" dirty="0">
                <a:cs typeface="Times New Roman" panose="02020603050405020304" pitchFamily="18" charset="0"/>
              </a:rPr>
              <a:t>(Entity Integrity Constraint)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8917" t="16667" r="50000" b="60417"/>
          <a:stretch/>
        </p:blipFill>
        <p:spPr>
          <a:xfrm>
            <a:off x="1066800" y="3833471"/>
            <a:ext cx="3108960" cy="18999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8917" t="14584" r="50000" b="60416"/>
          <a:stretch/>
        </p:blipFill>
        <p:spPr>
          <a:xfrm>
            <a:off x="4419600" y="3795010"/>
            <a:ext cx="2880360" cy="19202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25450"/>
            <a:ext cx="5729701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Key – Primary Key (PK)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70" r="49252" b="35870"/>
          <a:stretch>
            <a:fillRect/>
          </a:stretch>
        </p:blipFill>
        <p:spPr bwMode="auto">
          <a:xfrm>
            <a:off x="4046157" y="3962400"/>
            <a:ext cx="4738688" cy="223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Rectangle 3"/>
          <p:cNvSpPr txBox="1">
            <a:spLocks noChangeArrowheads="1"/>
          </p:cNvSpPr>
          <p:nvPr/>
        </p:nvSpPr>
        <p:spPr bwMode="auto">
          <a:xfrm>
            <a:off x="702040" y="1828800"/>
            <a:ext cx="4314698" cy="205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FFFF00"/>
                </a:solidFill>
                <a:cs typeface="Times New Roman" panose="02020603050405020304" pitchFamily="18" charset="0"/>
              </a:rPr>
              <a:t>Other unique keys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Candidate keys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Composite keys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Surrogate key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219200"/>
            <a:ext cx="4424920" cy="50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FFC000"/>
                </a:solidFill>
                <a:cs typeface="Times New Roman" panose="02020603050405020304" pitchFamily="18" charset="0"/>
              </a:rPr>
              <a:t>Primary key is a unique key.</a:t>
            </a:r>
          </a:p>
        </p:txBody>
      </p:sp>
    </p:spTree>
    <p:extLst>
      <p:ext uri="{BB962C8B-B14F-4D97-AF65-F5344CB8AC3E}">
        <p14:creationId xmlns:p14="http://schemas.microsoft.com/office/powerpoint/2010/main" val="276233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ChangeArrowheads="1"/>
          </p:cNvSpPr>
          <p:nvPr/>
        </p:nvSpPr>
        <p:spPr bwMode="auto">
          <a:xfrm>
            <a:off x="609600" y="1116013"/>
            <a:ext cx="7955280" cy="2288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altLang="en-US" sz="2400" dirty="0">
                <a:solidFill>
                  <a:schemeClr val="bg1"/>
                </a:solidFill>
              </a:rPr>
              <a:t>In a relation, a </a:t>
            </a:r>
            <a:r>
              <a:rPr lang="en-GB" altLang="en-US" sz="2400" b="1" dirty="0">
                <a:solidFill>
                  <a:srgbClr val="FFFF00"/>
                </a:solidFill>
              </a:rPr>
              <a:t>Candidate key</a:t>
            </a:r>
            <a:r>
              <a:rPr lang="en-GB" altLang="en-US" sz="2400" dirty="0">
                <a:solidFill>
                  <a:schemeClr val="bg1"/>
                </a:solidFill>
              </a:rPr>
              <a:t> </a:t>
            </a:r>
            <a:r>
              <a:rPr lang="en-SG" altLang="en-US" sz="2400" dirty="0">
                <a:solidFill>
                  <a:schemeClr val="bg1"/>
                </a:solidFill>
              </a:rPr>
              <a:t>is a minimal set of attributes that can uniquely identify each tuple in a relation.</a:t>
            </a:r>
          </a:p>
          <a:p>
            <a:pPr eaLnBrk="1" hangingPunct="1">
              <a:spcBef>
                <a:spcPct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SG" altLang="en-US" sz="2400" dirty="0">
                <a:solidFill>
                  <a:schemeClr val="bg1"/>
                </a:solidFill>
              </a:rPr>
              <a:t>Candidate key can consist of a single attribute or </a:t>
            </a:r>
            <a:r>
              <a:rPr lang="en-SG" altLang="en-US" sz="2400" dirty="0">
                <a:solidFill>
                  <a:srgbClr val="FFFF00"/>
                </a:solidFill>
              </a:rPr>
              <a:t>multiple attributes</a:t>
            </a:r>
            <a:r>
              <a:rPr lang="en-SG" altLang="en-US" sz="2400" dirty="0">
                <a:solidFill>
                  <a:schemeClr val="bg1"/>
                </a:solidFill>
              </a:rPr>
              <a:t>. Multiple attribute keys are known as </a:t>
            </a:r>
            <a:r>
              <a:rPr lang="en-SG" altLang="en-US" sz="2400" dirty="0">
                <a:solidFill>
                  <a:srgbClr val="FFFF00"/>
                </a:solidFill>
              </a:rPr>
              <a:t>Composite keys</a:t>
            </a:r>
            <a:r>
              <a:rPr lang="en-SG" altLang="en-US" sz="2400" dirty="0">
                <a:solidFill>
                  <a:schemeClr val="bg1"/>
                </a:solidFill>
              </a:rPr>
              <a:t>. 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SG" altLang="en-US" sz="2400" dirty="0">
                <a:solidFill>
                  <a:schemeClr val="bg1"/>
                </a:solidFill>
              </a:rPr>
              <a:t>One candidate key is designated as </a:t>
            </a:r>
            <a:r>
              <a:rPr lang="en-SG" altLang="en-US" sz="2400" dirty="0">
                <a:solidFill>
                  <a:srgbClr val="FFFF00"/>
                </a:solidFill>
              </a:rPr>
              <a:t>Primary key</a:t>
            </a:r>
            <a:r>
              <a:rPr lang="en-SG" altLang="en-US" sz="2400" dirty="0">
                <a:solidFill>
                  <a:schemeClr val="bg1"/>
                </a:solidFill>
              </a:rPr>
              <a:t>.</a:t>
            </a:r>
            <a:endParaRPr lang="en-GB" altLang="en-US" sz="2400" dirty="0">
              <a:solidFill>
                <a:schemeClr val="bg1"/>
              </a:solidFill>
            </a:endParaRPr>
          </a:p>
        </p:txBody>
      </p:sp>
      <p:sp>
        <p:nvSpPr>
          <p:cNvPr id="28675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11163"/>
            <a:ext cx="5811838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– Candidate Key</a:t>
            </a:r>
            <a:endParaRPr lang="en-US" altLang="en-US" sz="3200" b="1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200150" y="3548275"/>
          <a:ext cx="5353050" cy="181570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62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14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rgbClr val="002060"/>
                          </a:solidFill>
                        </a:rPr>
                        <a:t>ProductID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91441" marR="91441" marT="45696" marB="456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rgbClr val="002060"/>
                          </a:solidFill>
                        </a:rPr>
                        <a:t>Items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91441" marR="91441" marT="45696" marB="4569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rgbClr val="002060"/>
                          </a:solidFill>
                        </a:rPr>
                        <a:t>SupplierNo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91441" marR="91441" marT="45696" marB="4569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002060"/>
                          </a:solidFill>
                        </a:rPr>
                        <a:t>Stock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91441" marR="91441" marT="45696" marB="4569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41"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/>
                        <a:t>311</a:t>
                      </a:r>
                      <a:endParaRPr lang="en-SG" sz="1600" dirty="0"/>
                    </a:p>
                  </a:txBody>
                  <a:tcPr marL="91441" marR="91441" marT="45696" marB="456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Apple 6</a:t>
                      </a:r>
                      <a:endParaRPr lang="en-SG" sz="1600" dirty="0"/>
                    </a:p>
                  </a:txBody>
                  <a:tcPr marL="91441" marR="91441" marT="45696" marB="4569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SS-AP6</a:t>
                      </a:r>
                      <a:endParaRPr lang="en-SG" sz="1600" dirty="0"/>
                    </a:p>
                  </a:txBody>
                  <a:tcPr marL="91441" marR="91441" marT="45696" marB="456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150</a:t>
                      </a:r>
                      <a:endParaRPr lang="en-SG" sz="1600" dirty="0"/>
                    </a:p>
                  </a:txBody>
                  <a:tcPr marL="91441" marR="91441" marT="45696" marB="4569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41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311</a:t>
                      </a:r>
                    </a:p>
                  </a:txBody>
                  <a:tcPr marL="91441" marR="91441" marT="45696" marB="456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Apple 6</a:t>
                      </a:r>
                    </a:p>
                  </a:txBody>
                  <a:tcPr marL="91441" marR="91441" marT="45696" marB="45696"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TT-GS6</a:t>
                      </a:r>
                    </a:p>
                  </a:txBody>
                  <a:tcPr marL="91441" marR="91441" marT="45696" marB="456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130</a:t>
                      </a:r>
                    </a:p>
                  </a:txBody>
                  <a:tcPr marL="91441" marR="91441" marT="45696" marB="4569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4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312</a:t>
                      </a:r>
                      <a:endParaRPr lang="en-SG" sz="1600" dirty="0"/>
                    </a:p>
                  </a:txBody>
                  <a:tcPr marL="91441" marR="91441" marT="45696" marB="456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Samsung</a:t>
                      </a:r>
                      <a:r>
                        <a:rPr lang="en-GB" sz="1600" baseline="0" dirty="0"/>
                        <a:t> Galaxy S6</a:t>
                      </a:r>
                      <a:endParaRPr lang="en-SG" sz="1600" dirty="0"/>
                    </a:p>
                  </a:txBody>
                  <a:tcPr marL="91441" marR="91441" marT="45696" marB="4569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TT-GS6</a:t>
                      </a:r>
                      <a:endParaRPr lang="en-SG" sz="1600" dirty="0"/>
                    </a:p>
                  </a:txBody>
                  <a:tcPr marL="91441" marR="91441" marT="45696" marB="456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120</a:t>
                      </a:r>
                      <a:endParaRPr lang="en-SG" sz="1600" dirty="0"/>
                    </a:p>
                  </a:txBody>
                  <a:tcPr marL="91441" marR="91441" marT="45696" marB="4569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4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313</a:t>
                      </a:r>
                      <a:endParaRPr lang="en-SG" sz="1600" dirty="0"/>
                    </a:p>
                  </a:txBody>
                  <a:tcPr marL="91441" marR="91441" marT="45696" marB="456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Sony</a:t>
                      </a:r>
                      <a:r>
                        <a:rPr lang="en-GB" sz="1600" baseline="0" dirty="0"/>
                        <a:t> </a:t>
                      </a:r>
                      <a:r>
                        <a:rPr lang="en-GB" sz="1600" baseline="0" dirty="0" err="1"/>
                        <a:t>Xperia</a:t>
                      </a:r>
                      <a:r>
                        <a:rPr lang="en-GB" sz="1600" baseline="0" dirty="0"/>
                        <a:t> C3</a:t>
                      </a:r>
                      <a:endParaRPr lang="en-SG" sz="1600" dirty="0"/>
                    </a:p>
                  </a:txBody>
                  <a:tcPr marL="91441" marR="91441" marT="45696" marB="4569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SS-XC3</a:t>
                      </a:r>
                      <a:endParaRPr lang="en-SG" sz="1600" dirty="0"/>
                    </a:p>
                  </a:txBody>
                  <a:tcPr marL="91441" marR="91441" marT="45696" marB="4569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90</a:t>
                      </a:r>
                      <a:endParaRPr lang="en-SG" sz="1600" dirty="0"/>
                    </a:p>
                  </a:txBody>
                  <a:tcPr marL="91441" marR="91441" marT="45696" marB="4569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703" name="Text Box 3"/>
          <p:cNvSpPr txBox="1">
            <a:spLocks noChangeArrowheads="1"/>
          </p:cNvSpPr>
          <p:nvPr/>
        </p:nvSpPr>
        <p:spPr bwMode="auto">
          <a:xfrm>
            <a:off x="6593857" y="3916575"/>
            <a:ext cx="1971023" cy="363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 : MOBILE</a:t>
            </a:r>
          </a:p>
        </p:txBody>
      </p:sp>
      <p:sp>
        <p:nvSpPr>
          <p:cNvPr id="28704" name="Rectangle 3"/>
          <p:cNvSpPr txBox="1">
            <a:spLocks noChangeArrowheads="1"/>
          </p:cNvSpPr>
          <p:nvPr/>
        </p:nvSpPr>
        <p:spPr bwMode="auto">
          <a:xfrm>
            <a:off x="760414" y="5498745"/>
            <a:ext cx="7668000" cy="113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" tIns="3600" rIns="3600" bIns="36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7800" indent="-1778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‘</a:t>
            </a:r>
            <a:r>
              <a:rPr lang="en-US" altLang="en-US" sz="2000" b="1" dirty="0" err="1">
                <a:solidFill>
                  <a:srgbClr val="FFFF00"/>
                </a:solidFill>
                <a:cs typeface="Times New Roman" panose="02020603050405020304" pitchFamily="18" charset="0"/>
              </a:rPr>
              <a:t>ProductID</a:t>
            </a: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’</a:t>
            </a:r>
            <a:r>
              <a:rPr lang="en-US" altLang="en-US" sz="20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‘</a:t>
            </a:r>
            <a:r>
              <a:rPr lang="en-US" altLang="en-US" sz="2000" b="1" dirty="0" err="1">
                <a:solidFill>
                  <a:srgbClr val="FFFF00"/>
                </a:solidFill>
                <a:cs typeface="Times New Roman" panose="02020603050405020304" pitchFamily="18" charset="0"/>
              </a:rPr>
              <a:t>SupplierNo</a:t>
            </a: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’</a:t>
            </a:r>
            <a:r>
              <a:rPr lang="en-US" altLang="en-US" sz="20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are</a:t>
            </a:r>
            <a:r>
              <a:rPr lang="en-US" altLang="en-US" sz="20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FFFF00"/>
                </a:solidFill>
                <a:cs typeface="Times New Roman" panose="02020603050405020304" pitchFamily="18" charset="0"/>
              </a:rPr>
              <a:t>Candidate keys</a:t>
            </a:r>
            <a:r>
              <a:rPr lang="en-US" altLang="en-US" sz="2000" b="1" dirty="0">
                <a:solidFill>
                  <a:srgbClr val="FFC000"/>
                </a:solidFill>
                <a:cs typeface="Times New Roman" panose="02020603050405020304" pitchFamily="18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‘</a:t>
            </a:r>
            <a:r>
              <a:rPr lang="en-US" altLang="en-US" sz="2000" b="1" dirty="0" err="1">
                <a:solidFill>
                  <a:srgbClr val="FFFF00"/>
                </a:solidFill>
                <a:cs typeface="Times New Roman" panose="02020603050405020304" pitchFamily="18" charset="0"/>
              </a:rPr>
              <a:t>ProductID</a:t>
            </a: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’</a:t>
            </a:r>
            <a:r>
              <a:rPr lang="en-US" altLang="en-US" sz="20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can possibly be the </a:t>
            </a: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Primary key </a:t>
            </a:r>
            <a:r>
              <a:rPr lang="en-US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for “</a:t>
            </a:r>
            <a:r>
              <a:rPr lang="en-US" alt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PRODUCT</a:t>
            </a:r>
            <a:r>
              <a:rPr lang="en-US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” relation.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‘</a:t>
            </a:r>
            <a:r>
              <a:rPr lang="en-US" altLang="en-US" sz="2000" b="1" dirty="0" err="1">
                <a:solidFill>
                  <a:srgbClr val="FFFF00"/>
                </a:solidFill>
                <a:cs typeface="Times New Roman" panose="02020603050405020304" pitchFamily="18" charset="0"/>
              </a:rPr>
              <a:t>SupplierNo</a:t>
            </a: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’ </a:t>
            </a:r>
            <a:r>
              <a:rPr lang="en-US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can possibly be the </a:t>
            </a: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Primary key </a:t>
            </a:r>
            <a:r>
              <a:rPr lang="en-US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for </a:t>
            </a:r>
            <a:r>
              <a:rPr lang="en-US" altLang="en-US" sz="20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“</a:t>
            </a:r>
            <a:r>
              <a:rPr lang="en-US" alt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SUPPLIER</a:t>
            </a:r>
            <a:r>
              <a:rPr lang="en-US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” relation</a:t>
            </a:r>
            <a:r>
              <a:rPr lang="en-US" altLang="en-US" sz="2000" dirty="0">
                <a:solidFill>
                  <a:srgbClr val="FFC000"/>
                </a:solidFill>
                <a:cs typeface="Times New Roman" panose="02020603050405020304" pitchFamily="18" charset="0"/>
              </a:rPr>
              <a:t>.</a:t>
            </a:r>
            <a:endParaRPr lang="en-US" altLang="en-US" sz="2400" dirty="0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233488" y="3519700"/>
            <a:ext cx="1116012" cy="396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sp>
        <p:nvSpPr>
          <p:cNvPr id="26" name="Rectangle 25"/>
          <p:cNvSpPr/>
          <p:nvPr/>
        </p:nvSpPr>
        <p:spPr>
          <a:xfrm>
            <a:off x="4522788" y="3519700"/>
            <a:ext cx="1187450" cy="396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3033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11163"/>
            <a:ext cx="8269884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– Candidate &amp; Composite Keys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33" name="Rectangle 3"/>
          <p:cNvSpPr txBox="1">
            <a:spLocks noChangeArrowheads="1"/>
          </p:cNvSpPr>
          <p:nvPr/>
        </p:nvSpPr>
        <p:spPr bwMode="auto">
          <a:xfrm>
            <a:off x="990600" y="5086223"/>
            <a:ext cx="7589520" cy="12383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3600" tIns="3600" rIns="3600" bIns="36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7800" indent="-1778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0988" lvl="1" indent="-280988">
              <a:buFont typeface="Courier New" panose="02070309020205020404" pitchFamily="49" charset="0"/>
              <a:buChar char="o"/>
            </a:pPr>
            <a:r>
              <a:rPr lang="en-US" altLang="en-US" sz="2000" u="sng" dirty="0" err="1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ItemNo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 in the ITEM relation can be designated as the Primary key because it can uniquely identify a tuple in the relation. However, for the case of ORDER_DETAIL relation. (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OrderNo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ItemNo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) must be designated as composite keys to identify the tuples.</a:t>
            </a:r>
          </a:p>
        </p:txBody>
      </p:sp>
      <p:sp>
        <p:nvSpPr>
          <p:cNvPr id="22567" name="Rectangle 3"/>
          <p:cNvSpPr txBox="1">
            <a:spLocks noChangeArrowheads="1"/>
          </p:cNvSpPr>
          <p:nvPr/>
        </p:nvSpPr>
        <p:spPr bwMode="auto">
          <a:xfrm>
            <a:off x="944880" y="3429000"/>
            <a:ext cx="7680960" cy="1303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000" dirty="0">
                <a:cs typeface="Times New Roman" panose="02020603050405020304" pitchFamily="18" charset="0"/>
              </a:rPr>
              <a:t>In ORDER_DETAIL relation, the same </a:t>
            </a:r>
            <a:r>
              <a:rPr lang="en-US" altLang="en-US" sz="2000" dirty="0" err="1">
                <a:cs typeface="Times New Roman" panose="02020603050405020304" pitchFamily="18" charset="0"/>
              </a:rPr>
              <a:t>OrderNo</a:t>
            </a:r>
            <a:r>
              <a:rPr lang="en-US" altLang="en-US" sz="2000" dirty="0">
                <a:cs typeface="Times New Roman" panose="02020603050405020304" pitchFamily="18" charset="0"/>
              </a:rPr>
              <a:t> can appear in multiple tuples but it pairs with different items. Hence, it is necessary to consider </a:t>
            </a:r>
            <a:r>
              <a:rPr lang="en-US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OrderNo</a:t>
            </a:r>
            <a:r>
              <a:rPr lang="en-US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ItemNo</a:t>
            </a:r>
            <a:r>
              <a:rPr lang="en-US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) in the ORDER_DETAIL relation to identify a specific tuple</a:t>
            </a:r>
            <a:r>
              <a:rPr lang="en-US" altLang="en-US" sz="2000" dirty="0"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468666"/>
              </p:ext>
            </p:extLst>
          </p:nvPr>
        </p:nvGraphicFramePr>
        <p:xfrm>
          <a:off x="1143000" y="1527910"/>
          <a:ext cx="4343400" cy="11644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14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OrderNo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45715" marB="4571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ItemNo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45715" marB="4571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Quantity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45715" marB="4571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45715" marB="4571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/>
                        <a:t>17Mar10265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PT-333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200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20/4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17Mar10265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CQ-555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500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22/4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152400" y="1527910"/>
            <a:ext cx="3578400" cy="720000"/>
            <a:chOff x="0" y="4794055"/>
            <a:chExt cx="3578400" cy="720000"/>
          </a:xfrm>
        </p:grpSpPr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914400" y="4794055"/>
              <a:ext cx="2664000" cy="7200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" name="Rectangle 3"/>
            <p:cNvSpPr txBox="1">
              <a:spLocks noChangeArrowheads="1"/>
            </p:cNvSpPr>
            <p:nvPr/>
          </p:nvSpPr>
          <p:spPr bwMode="auto">
            <a:xfrm>
              <a:off x="0" y="4794055"/>
              <a:ext cx="900000" cy="49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3600" tIns="3600" rIns="3600" bIns="3600"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en-US" sz="1600" b="1" dirty="0">
                  <a:solidFill>
                    <a:srgbClr val="FFFF00"/>
                  </a:solidFill>
                  <a:cs typeface="Times New Roman" panose="02020603050405020304" pitchFamily="18" charset="0"/>
                </a:rPr>
                <a:t>Candidate Key</a:t>
              </a:r>
            </a:p>
          </p:txBody>
        </p:sp>
      </p:grp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990600" y="2971800"/>
            <a:ext cx="7384675" cy="315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" tIns="3600" rIns="3600" bIns="36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7800" indent="-1778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000" dirty="0" err="1">
                <a:solidFill>
                  <a:srgbClr val="FFFF00"/>
                </a:solidFill>
                <a:cs typeface="Times New Roman" panose="02020603050405020304" pitchFamily="18" charset="0"/>
              </a:rPr>
              <a:t>OrderNo</a:t>
            </a: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rgbClr val="FFFF00"/>
                </a:solidFill>
                <a:cs typeface="Times New Roman" panose="02020603050405020304" pitchFamily="18" charset="0"/>
              </a:rPr>
              <a:t>ItemNo</a:t>
            </a: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)</a:t>
            </a:r>
            <a:r>
              <a:rPr lang="en-US" altLang="en-US" sz="20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– is the Candidate keys in ORDER_DETAIL relation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1219200" y="1219200"/>
            <a:ext cx="1554480" cy="25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" tIns="3600" rIns="3600" bIns="36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SG" altLang="en-US" sz="1600" b="1" dirty="0">
                <a:solidFill>
                  <a:srgbClr val="FFFF00"/>
                </a:solidFill>
                <a:cs typeface="Times New Roman" panose="02020603050405020304" pitchFamily="18" charset="0"/>
              </a:rPr>
              <a:t>ORDER_DETAIL</a:t>
            </a:r>
            <a:endParaRPr lang="en-US" altLang="en-US" sz="1600" b="1" dirty="0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91200" y="1542585"/>
          <a:ext cx="3048000" cy="11644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56905214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26251236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237082447"/>
                    </a:ext>
                  </a:extLst>
                </a:gridCol>
              </a:tblGrid>
              <a:tr h="38814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ItemNo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45715" marB="4571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Items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45715" marB="4571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>
                          <a:solidFill>
                            <a:schemeClr val="tx1"/>
                          </a:solidFill>
                        </a:rPr>
                        <a:t>UPrice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45715" marB="4571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732372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PT-333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Plug-A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$30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extLst>
                  <a:ext uri="{0D108BD9-81ED-4DB2-BD59-A6C34878D82A}">
                    <a16:rowId xmlns:a16="http://schemas.microsoft.com/office/drawing/2014/main" val="1180955276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CQ-555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Cable</a:t>
                      </a:r>
                      <a:r>
                        <a:rPr lang="en-GB" sz="1600" baseline="0" dirty="0"/>
                        <a:t>-3m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$20</a:t>
                      </a:r>
                      <a:endParaRPr lang="en-SG" sz="1600" dirty="0"/>
                    </a:p>
                  </a:txBody>
                  <a:tcPr marL="18288" marR="18288" marT="45715" marB="45715"/>
                </a:tc>
                <a:extLst>
                  <a:ext uri="{0D108BD9-81ED-4DB2-BD59-A6C34878D82A}">
                    <a16:rowId xmlns:a16="http://schemas.microsoft.com/office/drawing/2014/main" val="3469384222"/>
                  </a:ext>
                </a:extLst>
              </a:tr>
            </a:tbl>
          </a:graphicData>
        </a:graphic>
      </p:graphicFrame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5791200" y="1239963"/>
            <a:ext cx="548640" cy="25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" tIns="3600" rIns="3600" bIns="36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SG" altLang="en-US" sz="1600" b="1" dirty="0">
                <a:solidFill>
                  <a:srgbClr val="FFFF00"/>
                </a:solidFill>
                <a:cs typeface="Times New Roman" panose="02020603050405020304" pitchFamily="18" charset="0"/>
              </a:rPr>
              <a:t>ITEM</a:t>
            </a:r>
            <a:endParaRPr lang="en-US" altLang="en-US" sz="1600" b="1" dirty="0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4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animBg="1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711200" y="1143000"/>
            <a:ext cx="7772400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2400" dirty="0">
                <a:solidFill>
                  <a:schemeClr val="bg1"/>
                </a:solidFill>
              </a:rPr>
              <a:t>A </a:t>
            </a:r>
            <a:r>
              <a:rPr lang="en-GB" altLang="en-US" sz="2400" b="1" dirty="0">
                <a:solidFill>
                  <a:srgbClr val="FFFF00"/>
                </a:solidFill>
              </a:rPr>
              <a:t>Composite key</a:t>
            </a:r>
            <a:r>
              <a:rPr lang="en-GB" altLang="en-US" sz="2400" dirty="0">
                <a:solidFill>
                  <a:schemeClr val="bg1"/>
                </a:solidFill>
              </a:rPr>
              <a:t> is a key that is composed of two or more attributes needed to identify the tuple.</a:t>
            </a:r>
          </a:p>
        </p:txBody>
      </p:sp>
      <p:sp>
        <p:nvSpPr>
          <p:cNvPr id="27651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25450"/>
            <a:ext cx="6005513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– Composite Key</a:t>
            </a:r>
            <a:endParaRPr lang="en-US" altLang="en-US" sz="3200" b="1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887806"/>
              </p:ext>
            </p:extLst>
          </p:nvPr>
        </p:nvGraphicFramePr>
        <p:xfrm>
          <a:off x="1047750" y="2362200"/>
          <a:ext cx="7562850" cy="18176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97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494">
                  <a:extLst>
                    <a:ext uri="{9D8B030D-6E8A-4147-A177-3AD203B41FA5}">
                      <a16:colId xmlns:a16="http://schemas.microsoft.com/office/drawing/2014/main" val="53960799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83434765"/>
                    </a:ext>
                  </a:extLst>
                </a:gridCol>
              </a:tblGrid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rgbClr val="002060"/>
                          </a:solidFill>
                        </a:rPr>
                        <a:t>FlightNo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91441" marR="91441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rgbClr val="002060"/>
                          </a:solidFill>
                        </a:rPr>
                        <a:t>FlightDate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91441" marR="91441" marT="45746" marB="4574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>
                          <a:solidFill>
                            <a:srgbClr val="002060"/>
                          </a:solidFill>
                        </a:rPr>
                        <a:t>FlightTime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91441" marR="91441" marT="45746" marB="4574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rgbClr val="002060"/>
                          </a:solidFill>
                        </a:rPr>
                        <a:t>From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91441" marR="91441" marT="45746" marB="4574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rgbClr val="002060"/>
                          </a:solidFill>
                        </a:rPr>
                        <a:t>To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91441" marR="91441" marT="45746" marB="4574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 err="1">
                          <a:solidFill>
                            <a:srgbClr val="002060"/>
                          </a:solidFill>
                        </a:rPr>
                        <a:t>NoOfPassenger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91441" marR="91441" marT="45746" marB="4574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GB" sz="1600" b="1" baseline="0" dirty="0">
                          <a:solidFill>
                            <a:srgbClr val="181CAC"/>
                          </a:solidFill>
                        </a:rPr>
                        <a:t>Tiger2901</a:t>
                      </a:r>
                      <a:endParaRPr lang="en-SG" sz="1600" b="1" dirty="0">
                        <a:solidFill>
                          <a:srgbClr val="181CAC"/>
                        </a:solidFill>
                      </a:endParaRPr>
                    </a:p>
                  </a:txBody>
                  <a:tcPr marL="91441" marR="91441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10-Mar-2015</a:t>
                      </a:r>
                      <a:endParaRPr lang="en-SG" sz="1600" dirty="0"/>
                    </a:p>
                  </a:txBody>
                  <a:tcPr marL="91441" marR="91441" marT="45746" marB="457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0700</a:t>
                      </a:r>
                    </a:p>
                  </a:txBody>
                  <a:tcPr marL="91441" marR="91441" marT="45746" marB="4574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Singapore</a:t>
                      </a:r>
                      <a:endParaRPr lang="en-SG" sz="1600" dirty="0"/>
                    </a:p>
                  </a:txBody>
                  <a:tcPr marL="91441" marR="91441" marT="45746" marB="4574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Hong</a:t>
                      </a:r>
                      <a:r>
                        <a:rPr lang="en-GB" sz="1600" baseline="0" dirty="0"/>
                        <a:t> Kong</a:t>
                      </a:r>
                      <a:endParaRPr lang="en-SG" sz="1600" dirty="0"/>
                    </a:p>
                  </a:txBody>
                  <a:tcPr marL="91441" marR="91441" marT="45746" marB="45746"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100</a:t>
                      </a:r>
                    </a:p>
                  </a:txBody>
                  <a:tcPr marL="91441" marR="91441" marT="45746" marB="4574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181CAC"/>
                          </a:solidFill>
                        </a:rPr>
                        <a:t>Tiger2901</a:t>
                      </a:r>
                      <a:endParaRPr lang="en-SG" sz="1600" b="1" dirty="0">
                        <a:solidFill>
                          <a:srgbClr val="181CAC"/>
                        </a:solidFill>
                      </a:endParaRPr>
                    </a:p>
                  </a:txBody>
                  <a:tcPr marL="91441" marR="91441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10-Mar-2015</a:t>
                      </a:r>
                      <a:endParaRPr lang="en-SG" sz="1600" dirty="0"/>
                    </a:p>
                  </a:txBody>
                  <a:tcPr marL="91441" marR="91441" marT="45746" marB="457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1500</a:t>
                      </a:r>
                    </a:p>
                  </a:txBody>
                  <a:tcPr marL="91441" marR="91441" marT="45746" marB="4574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Singapore</a:t>
                      </a:r>
                      <a:endParaRPr lang="en-SG" sz="1600" dirty="0"/>
                    </a:p>
                  </a:txBody>
                  <a:tcPr marL="91441" marR="91441" marT="45746" marB="4574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Hong</a:t>
                      </a:r>
                      <a:r>
                        <a:rPr lang="en-GB" sz="1600" baseline="0" dirty="0"/>
                        <a:t> Kong</a:t>
                      </a:r>
                      <a:endParaRPr lang="en-SG" sz="1600" dirty="0"/>
                    </a:p>
                  </a:txBody>
                  <a:tcPr marL="91441" marR="91441" marT="45746" marB="45746"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150</a:t>
                      </a:r>
                    </a:p>
                  </a:txBody>
                  <a:tcPr marL="91441" marR="91441" marT="45746" marB="4574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181CAC"/>
                          </a:solidFill>
                        </a:rPr>
                        <a:t>Tiger2901</a:t>
                      </a:r>
                      <a:endParaRPr lang="en-SG" sz="1600" b="1" dirty="0">
                        <a:solidFill>
                          <a:srgbClr val="181CAC"/>
                        </a:solidFill>
                      </a:endParaRPr>
                    </a:p>
                  </a:txBody>
                  <a:tcPr marL="91441" marR="91441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10-Mar-2015</a:t>
                      </a:r>
                      <a:endParaRPr lang="en-SG" sz="1600" dirty="0"/>
                    </a:p>
                  </a:txBody>
                  <a:tcPr marL="91441" marR="91441" marT="45746" marB="457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2300</a:t>
                      </a:r>
                    </a:p>
                  </a:txBody>
                  <a:tcPr marL="91441" marR="91441" marT="45746" marB="45746"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Singapore</a:t>
                      </a:r>
                    </a:p>
                  </a:txBody>
                  <a:tcPr marL="91441" marR="91441" marT="45746" marB="45746"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Hong Kong</a:t>
                      </a:r>
                    </a:p>
                  </a:txBody>
                  <a:tcPr marL="91441" marR="91441" marT="45746" marB="45746"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80</a:t>
                      </a:r>
                    </a:p>
                  </a:txBody>
                  <a:tcPr marL="91441" marR="91441" marT="45746" marB="4574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45172011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Tiger2901</a:t>
                      </a:r>
                      <a:endParaRPr lang="en-SG" sz="1600" dirty="0"/>
                    </a:p>
                  </a:txBody>
                  <a:tcPr marL="91441" marR="91441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11-Mar-2015</a:t>
                      </a:r>
                      <a:endParaRPr lang="en-SG" sz="1600" dirty="0"/>
                    </a:p>
                  </a:txBody>
                  <a:tcPr marL="91441" marR="91441" marT="45746" marB="4574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0800</a:t>
                      </a:r>
                    </a:p>
                  </a:txBody>
                  <a:tcPr marL="91441" marR="91441" marT="45746" marB="4574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Singapore</a:t>
                      </a:r>
                      <a:endParaRPr lang="en-SG" sz="1600" dirty="0"/>
                    </a:p>
                  </a:txBody>
                  <a:tcPr marL="91441" marR="91441" marT="45746" marB="4574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Japan</a:t>
                      </a:r>
                      <a:endParaRPr lang="en-SG" sz="1600" dirty="0"/>
                    </a:p>
                  </a:txBody>
                  <a:tcPr marL="91441" marR="91441" marT="45746" marB="4574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160</a:t>
                      </a:r>
                    </a:p>
                  </a:txBody>
                  <a:tcPr marL="91441" marR="91441" marT="45746" marB="4574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679" name="Text Box 3"/>
          <p:cNvSpPr txBox="1">
            <a:spLocks noChangeArrowheads="1"/>
          </p:cNvSpPr>
          <p:nvPr/>
        </p:nvSpPr>
        <p:spPr bwMode="auto">
          <a:xfrm>
            <a:off x="1177925" y="1981200"/>
            <a:ext cx="8032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FLIGHT</a:t>
            </a:r>
          </a:p>
        </p:txBody>
      </p:sp>
      <p:sp>
        <p:nvSpPr>
          <p:cNvPr id="27680" name="Rectangle 3"/>
          <p:cNvSpPr txBox="1">
            <a:spLocks noChangeArrowheads="1"/>
          </p:cNvSpPr>
          <p:nvPr/>
        </p:nvSpPr>
        <p:spPr bwMode="auto">
          <a:xfrm>
            <a:off x="1047750" y="4992688"/>
            <a:ext cx="7450138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" tIns="3600" rIns="3600" bIns="36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7800" indent="-1778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By combining </a:t>
            </a:r>
            <a:r>
              <a:rPr lang="en-US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‘</a:t>
            </a:r>
            <a:r>
              <a:rPr lang="en-US" altLang="en-US" sz="2400" dirty="0" err="1">
                <a:solidFill>
                  <a:srgbClr val="FFFF00"/>
                </a:solidFill>
                <a:cs typeface="Times New Roman" panose="02020603050405020304" pitchFamily="18" charset="0"/>
              </a:rPr>
              <a:t>FlightNo</a:t>
            </a:r>
            <a:r>
              <a:rPr lang="en-US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’, ‘</a:t>
            </a:r>
            <a:r>
              <a:rPr lang="en-US" altLang="en-US" sz="2400" dirty="0" err="1">
                <a:solidFill>
                  <a:srgbClr val="FFFF00"/>
                </a:solidFill>
                <a:cs typeface="Times New Roman" panose="02020603050405020304" pitchFamily="18" charset="0"/>
              </a:rPr>
              <a:t>FlightDate</a:t>
            </a:r>
            <a:r>
              <a:rPr lang="en-US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’</a:t>
            </a:r>
            <a:r>
              <a:rPr lang="en-US" altLang="en-US" sz="24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and</a:t>
            </a:r>
            <a:r>
              <a:rPr lang="en-US" altLang="en-US" sz="24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‘</a:t>
            </a:r>
            <a:r>
              <a:rPr lang="en-US" altLang="en-US" sz="2400" dirty="0" err="1">
                <a:solidFill>
                  <a:srgbClr val="FFFF00"/>
                </a:solidFill>
                <a:cs typeface="Times New Roman" panose="02020603050405020304" pitchFamily="18" charset="0"/>
              </a:rPr>
              <a:t>FlightTime</a:t>
            </a:r>
            <a:r>
              <a:rPr lang="en-US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’,</a:t>
            </a:r>
            <a:r>
              <a:rPr lang="en-US" altLang="en-US" sz="2400" dirty="0">
                <a:solidFill>
                  <a:srgbClr val="FFC000"/>
                </a:solidFill>
                <a:cs typeface="Times New Roman" panose="02020603050405020304" pitchFamily="18" charset="0"/>
              </a:rPr>
              <a:t> the 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flight records are distinctive.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FFC000"/>
                </a:solidFill>
                <a:cs typeface="Times New Roman" panose="02020603050405020304" pitchFamily="18" charset="0"/>
              </a:rPr>
              <a:t>‘</a:t>
            </a:r>
            <a:r>
              <a:rPr lang="en-US" altLang="en-US" sz="2400" dirty="0" err="1">
                <a:solidFill>
                  <a:srgbClr val="FFC000"/>
                </a:solidFill>
                <a:cs typeface="Times New Roman" panose="02020603050405020304" pitchFamily="18" charset="0"/>
              </a:rPr>
              <a:t>FlightNo</a:t>
            </a:r>
            <a:r>
              <a:rPr lang="en-US" altLang="en-US" sz="2400" dirty="0">
                <a:solidFill>
                  <a:srgbClr val="FFC000"/>
                </a:solidFill>
                <a:cs typeface="Times New Roman" panose="02020603050405020304" pitchFamily="18" charset="0"/>
              </a:rPr>
              <a:t>’ + ‘</a:t>
            </a:r>
            <a:r>
              <a:rPr lang="en-US" altLang="en-US" sz="2400" dirty="0" err="1">
                <a:solidFill>
                  <a:srgbClr val="FFC000"/>
                </a:solidFill>
                <a:cs typeface="Times New Roman" panose="02020603050405020304" pitchFamily="18" charset="0"/>
              </a:rPr>
              <a:t>FlightDate</a:t>
            </a:r>
            <a:r>
              <a:rPr lang="en-US" altLang="en-US" sz="2400" dirty="0">
                <a:solidFill>
                  <a:srgbClr val="FFC000"/>
                </a:solidFill>
                <a:cs typeface="Times New Roman" panose="02020603050405020304" pitchFamily="18" charset="0"/>
              </a:rPr>
              <a:t>’ + ‘</a:t>
            </a:r>
            <a:r>
              <a:rPr lang="en-US" altLang="en-US" sz="2400" dirty="0" err="1">
                <a:solidFill>
                  <a:srgbClr val="FFC000"/>
                </a:solidFill>
                <a:cs typeface="Times New Roman" panose="02020603050405020304" pitchFamily="18" charset="0"/>
              </a:rPr>
              <a:t>FlightTime</a:t>
            </a:r>
            <a:r>
              <a:rPr lang="en-US" altLang="en-US" sz="2400" dirty="0">
                <a:solidFill>
                  <a:srgbClr val="FFC000"/>
                </a:solidFill>
                <a:cs typeface="Times New Roman" panose="02020603050405020304" pitchFamily="18" charset="0"/>
              </a:rPr>
              <a:t>’ = Unique !</a:t>
            </a:r>
          </a:p>
        </p:txBody>
      </p:sp>
      <p:sp>
        <p:nvSpPr>
          <p:cNvPr id="2" name="Rectangle 1"/>
          <p:cNvSpPr/>
          <p:nvPr/>
        </p:nvSpPr>
        <p:spPr>
          <a:xfrm>
            <a:off x="990599" y="2347210"/>
            <a:ext cx="3749040" cy="385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sp>
        <p:nvSpPr>
          <p:cNvPr id="27682" name="Rectangle 3"/>
          <p:cNvSpPr txBox="1">
            <a:spLocks noChangeArrowheads="1"/>
          </p:cNvSpPr>
          <p:nvPr/>
        </p:nvSpPr>
        <p:spPr bwMode="auto">
          <a:xfrm>
            <a:off x="1055688" y="4254500"/>
            <a:ext cx="7450137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" tIns="3600" rIns="3600" bIns="36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7800" indent="-1778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By ‘</a:t>
            </a:r>
            <a:r>
              <a:rPr lang="en-US" altLang="en-US" sz="2000" dirty="0" err="1">
                <a:solidFill>
                  <a:srgbClr val="FFFF00"/>
                </a:solidFill>
                <a:cs typeface="Times New Roman" panose="02020603050405020304" pitchFamily="18" charset="0"/>
              </a:rPr>
              <a:t>FlightNo</a:t>
            </a:r>
            <a:r>
              <a:rPr lang="en-US" altLang="en-US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’ alone, it is NOT unique enough to identify a particular flight detail.</a:t>
            </a:r>
          </a:p>
        </p:txBody>
      </p:sp>
      <p:sp>
        <p:nvSpPr>
          <p:cNvPr id="27683" name="Rectangle 3"/>
          <p:cNvSpPr txBox="1">
            <a:spLocks noChangeArrowheads="1"/>
          </p:cNvSpPr>
          <p:nvPr/>
        </p:nvSpPr>
        <p:spPr bwMode="auto">
          <a:xfrm>
            <a:off x="1012825" y="6296025"/>
            <a:ext cx="6587661" cy="376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" tIns="3600" rIns="3600" bIns="36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271463" indent="-27146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Composite key 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is (</a:t>
            </a:r>
            <a:r>
              <a:rPr lang="en-US" altLang="en-US" sz="2400" dirty="0" err="1">
                <a:solidFill>
                  <a:schemeClr val="bg1"/>
                </a:solidFill>
                <a:cs typeface="Times New Roman" panose="02020603050405020304" pitchFamily="18" charset="0"/>
              </a:rPr>
              <a:t>FlightNo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solidFill>
                  <a:schemeClr val="bg1"/>
                </a:solidFill>
                <a:cs typeface="Times New Roman" panose="02020603050405020304" pitchFamily="18" charset="0"/>
              </a:rPr>
              <a:t>FlightDate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solidFill>
                  <a:schemeClr val="bg1"/>
                </a:solidFill>
                <a:cs typeface="Times New Roman" panose="02020603050405020304" pitchFamily="18" charset="0"/>
              </a:rPr>
              <a:t>FlightTime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2971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5"/>
          <p:cNvSpPr>
            <a:spLocks noChangeArrowheads="1"/>
          </p:cNvSpPr>
          <p:nvPr/>
        </p:nvSpPr>
        <p:spPr bwMode="auto">
          <a:xfrm>
            <a:off x="657225" y="1921240"/>
            <a:ext cx="7772400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2400" dirty="0">
                <a:solidFill>
                  <a:schemeClr val="bg1"/>
                </a:solidFill>
              </a:rPr>
              <a:t>Instead, it can be represented by a </a:t>
            </a:r>
            <a:r>
              <a:rPr lang="en-SG" altLang="en-US" sz="2400" b="1" dirty="0">
                <a:solidFill>
                  <a:srgbClr val="FFFF00"/>
                </a:solidFill>
              </a:rPr>
              <a:t>Surrogate key. </a:t>
            </a:r>
            <a:endParaRPr lang="en-GB" altLang="en-US" sz="2400" dirty="0">
              <a:solidFill>
                <a:schemeClr val="bg1"/>
              </a:solidFill>
            </a:endParaRPr>
          </a:p>
        </p:txBody>
      </p:sp>
      <p:sp>
        <p:nvSpPr>
          <p:cNvPr id="29699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11163"/>
            <a:ext cx="5740400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– Surrogate Key</a:t>
            </a:r>
            <a:endParaRPr lang="en-US" altLang="en-US" sz="3200" b="1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600610"/>
              </p:ext>
            </p:extLst>
          </p:nvPr>
        </p:nvGraphicFramePr>
        <p:xfrm>
          <a:off x="779065" y="3635894"/>
          <a:ext cx="8068469" cy="145256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19995293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1469">
                  <a:extLst>
                    <a:ext uri="{9D8B030D-6E8A-4147-A177-3AD203B41FA5}">
                      <a16:colId xmlns:a16="http://schemas.microsoft.com/office/drawing/2014/main" val="2960089664"/>
                    </a:ext>
                  </a:extLst>
                </a:gridCol>
              </a:tblGrid>
              <a:tr h="36314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rgbClr val="C00000"/>
                          </a:solidFill>
                        </a:rPr>
                        <a:t>OverallID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45696" marB="456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rgbClr val="002060"/>
                          </a:solidFill>
                        </a:rPr>
                        <a:t>FlightNo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45720" marR="45720" marT="45696" marB="4569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rgbClr val="002060"/>
                          </a:solidFill>
                        </a:rPr>
                        <a:t>FlightDate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45720" marR="45720" marT="45696" marB="4569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 err="1">
                          <a:solidFill>
                            <a:srgbClr val="002060"/>
                          </a:solidFill>
                        </a:rPr>
                        <a:t>FlightTime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45720" marR="45720" marT="45696" marB="4569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rgbClr val="002060"/>
                          </a:solidFill>
                        </a:rPr>
                        <a:t>From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45720" marR="45720" marT="45696" marB="4569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rgbClr val="002060"/>
                          </a:solidFill>
                        </a:rPr>
                        <a:t>To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45720" marR="45720" marT="45696" marB="4569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 err="1">
                          <a:solidFill>
                            <a:srgbClr val="002060"/>
                          </a:solidFill>
                        </a:rPr>
                        <a:t>NoOfPassenger</a:t>
                      </a:r>
                      <a:endParaRPr lang="en-SG" sz="1600" dirty="0">
                        <a:solidFill>
                          <a:srgbClr val="002060"/>
                        </a:solidFill>
                      </a:endParaRPr>
                    </a:p>
                  </a:txBody>
                  <a:tcPr marL="45720" marR="45720" marT="45696" marB="4569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4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45696" marB="456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/>
                        <a:t>Tiger2901</a:t>
                      </a:r>
                      <a:endParaRPr lang="en-SG" sz="1600" dirty="0"/>
                    </a:p>
                  </a:txBody>
                  <a:tcPr marL="45720" marR="45720" marT="45696" marB="4569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10-Mar-2015</a:t>
                      </a:r>
                      <a:endParaRPr lang="en-SG" sz="1600" dirty="0"/>
                    </a:p>
                  </a:txBody>
                  <a:tcPr marL="45720" marR="45720" marT="45696" marB="45696"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0700</a:t>
                      </a:r>
                    </a:p>
                  </a:txBody>
                  <a:tcPr marL="45720" marR="45720" marT="45696" marB="4569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Singapore</a:t>
                      </a:r>
                      <a:endParaRPr lang="en-SG" sz="1600" dirty="0"/>
                    </a:p>
                  </a:txBody>
                  <a:tcPr marL="45720" marR="45720" marT="45696" marB="4569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Hong</a:t>
                      </a:r>
                      <a:r>
                        <a:rPr lang="en-GB" sz="1600" baseline="0" dirty="0"/>
                        <a:t> Kong</a:t>
                      </a:r>
                      <a:endParaRPr lang="en-SG" sz="1600" dirty="0"/>
                    </a:p>
                  </a:txBody>
                  <a:tcPr marL="45720" marR="45720" marT="45696" marB="45696"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100</a:t>
                      </a:r>
                    </a:p>
                  </a:txBody>
                  <a:tcPr marL="45720" marR="45720" marT="45696" marB="4569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4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45696" marB="456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Tiger2901</a:t>
                      </a:r>
                      <a:endParaRPr lang="en-SG" sz="1600" dirty="0"/>
                    </a:p>
                  </a:txBody>
                  <a:tcPr marL="45720" marR="45720" marT="45696" marB="4569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10-Mar-2015</a:t>
                      </a:r>
                      <a:endParaRPr lang="en-SG" sz="1600" dirty="0"/>
                    </a:p>
                  </a:txBody>
                  <a:tcPr marL="45720" marR="45720" marT="45696" marB="45696"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1500</a:t>
                      </a:r>
                    </a:p>
                  </a:txBody>
                  <a:tcPr marL="45720" marR="45720" marT="45696" marB="4569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Singapore</a:t>
                      </a:r>
                      <a:endParaRPr lang="en-SG" sz="1600" dirty="0"/>
                    </a:p>
                  </a:txBody>
                  <a:tcPr marL="45720" marR="45720" marT="45696" marB="4569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Hong</a:t>
                      </a:r>
                      <a:r>
                        <a:rPr lang="en-GB" sz="1600" baseline="0" dirty="0"/>
                        <a:t> Kong</a:t>
                      </a:r>
                      <a:endParaRPr lang="en-SG" sz="1600" dirty="0"/>
                    </a:p>
                  </a:txBody>
                  <a:tcPr marL="45720" marR="45720" marT="45696" marB="45696"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150</a:t>
                      </a:r>
                    </a:p>
                  </a:txBody>
                  <a:tcPr marL="45720" marR="45720" marT="45696" marB="4569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4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45696" marB="456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Tiger2901</a:t>
                      </a:r>
                      <a:endParaRPr lang="en-SG" sz="1600" dirty="0"/>
                    </a:p>
                  </a:txBody>
                  <a:tcPr marL="45720" marR="45720" marT="45696" marB="4569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10-Mar-2015</a:t>
                      </a:r>
                      <a:endParaRPr lang="en-SG" sz="1600" dirty="0"/>
                    </a:p>
                  </a:txBody>
                  <a:tcPr marL="45720" marR="45720" marT="45696" marB="4569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2300</a:t>
                      </a:r>
                    </a:p>
                  </a:txBody>
                  <a:tcPr marL="45720" marR="45720" marT="45696" marB="4569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Singapore</a:t>
                      </a:r>
                      <a:endParaRPr lang="en-SG" sz="1600" dirty="0"/>
                    </a:p>
                  </a:txBody>
                  <a:tcPr marL="45720" marR="45720" marT="45696" marB="4569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Hong</a:t>
                      </a:r>
                      <a:r>
                        <a:rPr lang="en-GB" sz="1600" baseline="0" dirty="0"/>
                        <a:t> Kong</a:t>
                      </a:r>
                      <a:endParaRPr lang="en-SG" sz="1600" dirty="0"/>
                    </a:p>
                  </a:txBody>
                  <a:tcPr marL="45720" marR="45720" marT="45696" marB="4569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80</a:t>
                      </a:r>
                    </a:p>
                  </a:txBody>
                  <a:tcPr marL="45720" marR="45720" marT="45696" marB="4569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32" name="Text Box 3"/>
          <p:cNvSpPr txBox="1">
            <a:spLocks noChangeArrowheads="1"/>
          </p:cNvSpPr>
          <p:nvPr/>
        </p:nvSpPr>
        <p:spPr bwMode="auto">
          <a:xfrm>
            <a:off x="863600" y="3256926"/>
            <a:ext cx="8032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FLIGHT</a:t>
            </a:r>
          </a:p>
        </p:txBody>
      </p:sp>
      <p:sp>
        <p:nvSpPr>
          <p:cNvPr id="29733" name="Rectangle 3"/>
          <p:cNvSpPr txBox="1">
            <a:spLocks noChangeArrowheads="1"/>
          </p:cNvSpPr>
          <p:nvPr/>
        </p:nvSpPr>
        <p:spPr bwMode="auto">
          <a:xfrm>
            <a:off x="863600" y="5486400"/>
            <a:ext cx="7899400" cy="745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" tIns="3600" rIns="3600" bIns="36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57188" indent="-357188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‘</a:t>
            </a:r>
            <a:r>
              <a:rPr lang="en-US" altLang="en-US" sz="2400" b="1" dirty="0" err="1">
                <a:solidFill>
                  <a:srgbClr val="C00000"/>
                </a:solidFill>
                <a:cs typeface="Times New Roman" panose="02020603050405020304" pitchFamily="18" charset="0"/>
              </a:rPr>
              <a:t>OverallID</a:t>
            </a:r>
            <a:r>
              <a:rPr lang="en-US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’</a:t>
            </a:r>
            <a:r>
              <a:rPr lang="en-US" altLang="en-US" sz="24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is a</a:t>
            </a:r>
            <a:r>
              <a:rPr lang="en-US" altLang="en-US" sz="24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FF00"/>
                </a:solidFill>
                <a:cs typeface="Times New Roman" panose="02020603050405020304" pitchFamily="18" charset="0"/>
              </a:rPr>
              <a:t>Surrogated key</a:t>
            </a:r>
            <a:r>
              <a:rPr lang="en-US" altLang="en-US" sz="2400" dirty="0">
                <a:solidFill>
                  <a:srgbClr val="FFC000"/>
                </a:solidFill>
                <a:cs typeface="Times New Roman" panose="02020603050405020304" pitchFamily="18" charset="0"/>
              </a:rPr>
              <a:t>. 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It uniquely identify all tuples in the relation.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5002" y="3594364"/>
            <a:ext cx="1005840" cy="15544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sp>
        <p:nvSpPr>
          <p:cNvPr id="29735" name="Rectangle 5"/>
          <p:cNvSpPr>
            <a:spLocks noChangeArrowheads="1"/>
          </p:cNvSpPr>
          <p:nvPr/>
        </p:nvSpPr>
        <p:spPr bwMode="auto">
          <a:xfrm>
            <a:off x="849313" y="6249987"/>
            <a:ext cx="77724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2000">
                <a:solidFill>
                  <a:schemeClr val="bg1"/>
                </a:solidFill>
              </a:rPr>
              <a:t>The Surrogated key </a:t>
            </a:r>
            <a:r>
              <a:rPr lang="en-SG" altLang="en-US" sz="2000">
                <a:solidFill>
                  <a:schemeClr val="bg1"/>
                </a:solidFill>
              </a:rPr>
              <a:t>is not derived from application data.</a:t>
            </a:r>
            <a:endParaRPr lang="en-GB" altLang="en-US" sz="2000">
              <a:solidFill>
                <a:schemeClr val="bg1"/>
              </a:solidFill>
            </a:endParaRPr>
          </a:p>
        </p:txBody>
      </p:sp>
      <p:sp>
        <p:nvSpPr>
          <p:cNvPr id="29736" name="Rectangle 5"/>
          <p:cNvSpPr>
            <a:spLocks noChangeArrowheads="1"/>
          </p:cNvSpPr>
          <p:nvPr/>
        </p:nvSpPr>
        <p:spPr bwMode="auto">
          <a:xfrm>
            <a:off x="685800" y="1121140"/>
            <a:ext cx="7772400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2400" dirty="0">
                <a:solidFill>
                  <a:schemeClr val="bg1"/>
                </a:solidFill>
              </a:rPr>
              <a:t>In the example below, composite key (</a:t>
            </a:r>
            <a:r>
              <a:rPr lang="en-GB" altLang="en-US" sz="2400" dirty="0" err="1">
                <a:solidFill>
                  <a:schemeClr val="bg1"/>
                </a:solidFill>
              </a:rPr>
              <a:t>FlightNo</a:t>
            </a:r>
            <a:r>
              <a:rPr lang="en-GB" altLang="en-US" sz="2400" dirty="0">
                <a:solidFill>
                  <a:schemeClr val="bg1"/>
                </a:solidFill>
              </a:rPr>
              <a:t>, </a:t>
            </a:r>
            <a:r>
              <a:rPr lang="en-GB" altLang="en-US" sz="2400" dirty="0" err="1">
                <a:solidFill>
                  <a:schemeClr val="bg1"/>
                </a:solidFill>
              </a:rPr>
              <a:t>DateFlight</a:t>
            </a:r>
            <a:r>
              <a:rPr lang="en-GB" altLang="en-US" sz="2400" dirty="0">
                <a:solidFill>
                  <a:schemeClr val="bg1"/>
                </a:solidFill>
              </a:rPr>
              <a:t>) can uniquely identify all tuples.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71512" y="2378440"/>
            <a:ext cx="7772400" cy="81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2400" dirty="0">
                <a:solidFill>
                  <a:schemeClr val="bg1"/>
                </a:solidFill>
              </a:rPr>
              <a:t>A </a:t>
            </a:r>
            <a:r>
              <a:rPr lang="en-SG" altLang="en-US" sz="2400" b="1" dirty="0">
                <a:solidFill>
                  <a:srgbClr val="FFFF00"/>
                </a:solidFill>
              </a:rPr>
              <a:t>Surrogate key </a:t>
            </a:r>
            <a:r>
              <a:rPr lang="en-SG" altLang="en-US" sz="2400" dirty="0">
                <a:solidFill>
                  <a:schemeClr val="bg1"/>
                </a:solidFill>
              </a:rPr>
              <a:t>in a database is a unique identifier for either an relation in the modelled database</a:t>
            </a:r>
            <a:r>
              <a:rPr lang="en-GB" altLang="en-US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6376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81000"/>
            <a:ext cx="7188241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>
              <a:defRPr/>
            </a:pPr>
            <a:r>
              <a:rPr lang="en-GB" sz="3200" b="1" dirty="0">
                <a:solidFill>
                  <a:srgbClr val="FFFF00"/>
                </a:solidFill>
                <a:latin typeface="+mn-lt"/>
              </a:rPr>
              <a:t>Relational keys and Relational Constraints</a:t>
            </a:r>
            <a:endParaRPr lang="en-US" sz="2800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9069" y="5556464"/>
            <a:ext cx="80043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7338" indent="-287338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ea typeface="MS Mincho"/>
                <a:cs typeface="Calibri" panose="020F0502020204030204" pitchFamily="34" charset="0"/>
              </a:rPr>
              <a:t>Relational constraints are associated with Relational keys in the relations</a:t>
            </a:r>
          </a:p>
          <a:p>
            <a:pPr marL="287338" indent="-287338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ea typeface="MS Mincho"/>
                <a:cs typeface="Calibri" panose="020F0502020204030204" pitchFamily="34" charset="0"/>
              </a:rPr>
              <a:t>Constraints are mostly domain related - Referential Integrity Constraint &amp; Entity Integrity Constraint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/>
          <a:srcRect l="27309" t="35235" r="28969" b="24406"/>
          <a:stretch/>
        </p:blipFill>
        <p:spPr>
          <a:xfrm>
            <a:off x="534084" y="1268760"/>
            <a:ext cx="7854340" cy="407630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9" name="Rectangle 28">
            <a:hlinkClick r:id="rId3"/>
          </p:cNvPr>
          <p:cNvSpPr/>
          <p:nvPr/>
        </p:nvSpPr>
        <p:spPr>
          <a:xfrm>
            <a:off x="3439505" y="5068064"/>
            <a:ext cx="5688632" cy="276999"/>
          </a:xfrm>
          <a:prstGeom prst="rect">
            <a:avLst/>
          </a:prstGeom>
          <a:solidFill>
            <a:srgbClr val="66FF33"/>
          </a:solidFill>
        </p:spPr>
        <p:txBody>
          <a:bodyPr wrap="square" lIns="45720" rIns="45720">
            <a:spAutoFit/>
          </a:bodyPr>
          <a:lstStyle/>
          <a:p>
            <a:r>
              <a:rPr lang="en-US" sz="1200" dirty="0"/>
              <a:t>Source: http://www.edugrabs.com/types-of-constraints-in-dbms-or-relational-constraints/</a:t>
            </a:r>
          </a:p>
        </p:txBody>
      </p:sp>
    </p:spTree>
    <p:extLst>
      <p:ext uri="{BB962C8B-B14F-4D97-AF65-F5344CB8AC3E}">
        <p14:creationId xmlns:p14="http://schemas.microsoft.com/office/powerpoint/2010/main" val="4202809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81000"/>
            <a:ext cx="7573411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>
              <a:defRPr/>
            </a:pPr>
            <a:r>
              <a:rPr lang="en-GB" sz="3200" b="1" dirty="0">
                <a:solidFill>
                  <a:srgbClr val="FFFF00"/>
                </a:solidFill>
                <a:latin typeface="+mn-lt"/>
              </a:rPr>
              <a:t>Referential Integrity Constraint </a:t>
            </a:r>
            <a:r>
              <a:rPr lang="en-GB" sz="2800" dirty="0">
                <a:solidFill>
                  <a:srgbClr val="FFFF00"/>
                </a:solidFill>
                <a:latin typeface="+mn-lt"/>
              </a:rPr>
              <a:t>– The violation</a:t>
            </a:r>
            <a:endParaRPr lang="en-US" sz="2800" dirty="0">
              <a:solidFill>
                <a:srgbClr val="FFFF00"/>
              </a:solidFill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6114"/>
              </p:ext>
            </p:extLst>
          </p:nvPr>
        </p:nvGraphicFramePr>
        <p:xfrm>
          <a:off x="4454969" y="2928468"/>
          <a:ext cx="4503294" cy="13525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DoctorID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>
                          <a:solidFill>
                            <a:srgbClr val="FFFF00"/>
                          </a:solidFill>
                        </a:rPr>
                        <a:t>DoctorName</a:t>
                      </a:r>
                      <a:endParaRPr lang="en-SG" sz="14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FFFF00"/>
                          </a:solidFill>
                        </a:rPr>
                        <a:t>Discipline</a:t>
                      </a:r>
                      <a:endParaRPr lang="en-SG" sz="14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FFFF00"/>
                          </a:solidFill>
                        </a:rPr>
                        <a:t>Location</a:t>
                      </a:r>
                      <a:endParaRPr lang="en-SG" sz="14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181CAC"/>
                          </a:solidFill>
                        </a:rPr>
                        <a:t>DOC-11</a:t>
                      </a:r>
                      <a:endParaRPr lang="en-SG" sz="1400" b="1" dirty="0">
                        <a:solidFill>
                          <a:srgbClr val="181CAC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Sam Lim</a:t>
                      </a:r>
                      <a:endParaRPr lang="en-SG" sz="1400" dirty="0"/>
                    </a:p>
                  </a:txBody>
                  <a:tcPr marL="91436" marR="91436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Cardiology</a:t>
                      </a:r>
                      <a:endParaRPr lang="en-SG" sz="1400" dirty="0"/>
                    </a:p>
                  </a:txBody>
                  <a:tcPr marL="91436" marR="91436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r>
                        <a:rPr lang="en-GB" sz="1400" baseline="0" dirty="0"/>
                        <a:t>E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DOC-22</a:t>
                      </a:r>
                      <a:endParaRPr lang="en-SG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Henry Yeo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Cardiology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NS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DOC-33</a:t>
                      </a:r>
                      <a:endParaRPr lang="en-SG" sz="1400" b="1" dirty="0"/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Mohd</a:t>
                      </a:r>
                      <a:r>
                        <a:rPr lang="en-GB" sz="1400" baseline="0" dirty="0"/>
                        <a:t> </a:t>
                      </a:r>
                      <a:r>
                        <a:rPr lang="en-GB" sz="1400" baseline="0" dirty="0" err="1"/>
                        <a:t>Kassim</a:t>
                      </a:r>
                      <a:endParaRPr lang="en-SG" sz="14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Radiology</a:t>
                      </a:r>
                      <a:endParaRPr lang="en-SG" sz="14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SG</a:t>
                      </a:r>
                      <a:r>
                        <a:rPr lang="en-GB" sz="1400" baseline="0" dirty="0"/>
                        <a:t>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5641" name="Group 4"/>
          <p:cNvGrpSpPr>
            <a:grpSpLocks/>
          </p:cNvGrpSpPr>
          <p:nvPr/>
        </p:nvGrpSpPr>
        <p:grpSpPr bwMode="auto">
          <a:xfrm>
            <a:off x="3597377" y="2657477"/>
            <a:ext cx="1981545" cy="332399"/>
            <a:chOff x="1241859" y="2945422"/>
            <a:chExt cx="1980994" cy="333624"/>
          </a:xfrm>
        </p:grpSpPr>
        <p:sp>
          <p:nvSpPr>
            <p:cNvPr id="25680" name="Text Box 10"/>
            <p:cNvSpPr txBox="1">
              <a:spLocks noChangeArrowheads="1"/>
            </p:cNvSpPr>
            <p:nvPr/>
          </p:nvSpPr>
          <p:spPr bwMode="auto">
            <a:xfrm>
              <a:off x="2150527" y="2976907"/>
              <a:ext cx="1072326" cy="288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(Parent table)</a:t>
              </a:r>
            </a:p>
          </p:txBody>
        </p:sp>
        <p:sp>
          <p:nvSpPr>
            <p:cNvPr id="25681" name="Text Box 12"/>
            <p:cNvSpPr txBox="1">
              <a:spLocks noChangeArrowheads="1"/>
            </p:cNvSpPr>
            <p:nvPr/>
          </p:nvSpPr>
          <p:spPr bwMode="auto">
            <a:xfrm>
              <a:off x="1241859" y="2945422"/>
              <a:ext cx="872432" cy="333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DOCTOR</a:t>
              </a:r>
            </a:p>
          </p:txBody>
        </p:sp>
      </p:grp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032750"/>
              </p:ext>
            </p:extLst>
          </p:nvPr>
        </p:nvGraphicFramePr>
        <p:xfrm>
          <a:off x="392557" y="4836715"/>
          <a:ext cx="4324351" cy="171648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95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29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PatientID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PatientName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Clinic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DoctorNo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29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PAT-31</a:t>
                      </a:r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Michael</a:t>
                      </a:r>
                      <a:endParaRPr lang="en-SG" sz="1400" dirty="0"/>
                    </a:p>
                  </a:txBody>
                  <a:tcPr marL="91435" marR="91435" marT="45721" marB="45721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Paediatric</a:t>
                      </a:r>
                      <a:endParaRPr lang="en-SG" sz="1400" dirty="0"/>
                    </a:p>
                  </a:txBody>
                  <a:tcPr marL="91435" marR="91435" marT="45721" marB="45721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181CAC"/>
                          </a:solidFill>
                        </a:rPr>
                        <a:t>DOC-11</a:t>
                      </a:r>
                      <a:endParaRPr lang="en-SG" sz="1400" dirty="0">
                        <a:solidFill>
                          <a:srgbClr val="181CAC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29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PAT-52</a:t>
                      </a:r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Jennifer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Cardiology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FF0000"/>
                          </a:solidFill>
                        </a:rPr>
                        <a:t>DOC-22</a:t>
                      </a:r>
                      <a:endParaRPr lang="en-SG" sz="1400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29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PAT-79</a:t>
                      </a:r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Steven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Radiology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DOC-33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297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PAT-60</a:t>
                      </a:r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Tom</a:t>
                      </a:r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EAT</a:t>
                      </a:r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DOC-XA</a:t>
                      </a: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0231680"/>
                  </a:ext>
                </a:extLst>
              </a:tr>
            </a:tbl>
          </a:graphicData>
        </a:graphic>
      </p:graphicFrame>
      <p:grpSp>
        <p:nvGrpSpPr>
          <p:cNvPr id="29765" name="Group 3"/>
          <p:cNvGrpSpPr>
            <a:grpSpLocks/>
          </p:cNvGrpSpPr>
          <p:nvPr/>
        </p:nvGrpSpPr>
        <p:grpSpPr bwMode="auto">
          <a:xfrm>
            <a:off x="2202305" y="4477936"/>
            <a:ext cx="1828802" cy="332399"/>
            <a:chOff x="1817606" y="4957544"/>
            <a:chExt cx="1114679" cy="330440"/>
          </a:xfrm>
        </p:grpSpPr>
        <p:sp>
          <p:nvSpPr>
            <p:cNvPr id="25678" name="Text Box 13"/>
            <p:cNvSpPr txBox="1">
              <a:spLocks noChangeArrowheads="1"/>
            </p:cNvSpPr>
            <p:nvPr/>
          </p:nvSpPr>
          <p:spPr bwMode="auto">
            <a:xfrm>
              <a:off x="1817606" y="4957544"/>
              <a:ext cx="510568" cy="330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PATIENT</a:t>
              </a:r>
            </a:p>
          </p:txBody>
        </p:sp>
        <p:sp>
          <p:nvSpPr>
            <p:cNvPr id="25679" name="Text Box 16"/>
            <p:cNvSpPr txBox="1">
              <a:spLocks noChangeArrowheads="1"/>
            </p:cNvSpPr>
            <p:nvPr/>
          </p:nvSpPr>
          <p:spPr bwMode="auto">
            <a:xfrm>
              <a:off x="2295987" y="4971775"/>
              <a:ext cx="636298" cy="306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(Child table)</a:t>
              </a:r>
            </a:p>
          </p:txBody>
        </p:sp>
      </p:grpSp>
      <p:sp>
        <p:nvSpPr>
          <p:cNvPr id="25670" name="Text Box 6"/>
          <p:cNvSpPr txBox="1">
            <a:spLocks noChangeArrowheads="1"/>
          </p:cNvSpPr>
          <p:nvPr/>
        </p:nvSpPr>
        <p:spPr bwMode="auto">
          <a:xfrm>
            <a:off x="3938587" y="2895600"/>
            <a:ext cx="40481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(PK)</a:t>
            </a:r>
            <a:endParaRPr lang="en-US" altLang="en-US" sz="16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3733800" y="4851003"/>
            <a:ext cx="1371600" cy="330597"/>
            <a:chOff x="8077200" y="3592513"/>
            <a:chExt cx="1371600" cy="330597"/>
          </a:xfrm>
        </p:grpSpPr>
        <p:sp>
          <p:nvSpPr>
            <p:cNvPr id="25676" name="Text Box 6"/>
            <p:cNvSpPr txBox="1">
              <a:spLocks noChangeArrowheads="1"/>
            </p:cNvSpPr>
            <p:nvPr/>
          </p:nvSpPr>
          <p:spPr bwMode="auto">
            <a:xfrm>
              <a:off x="9058275" y="3621485"/>
              <a:ext cx="390525" cy="30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(FK)</a:t>
              </a:r>
              <a:endParaRPr lang="en-US" altLang="en-US" sz="16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8077200" y="3592513"/>
              <a:ext cx="971550" cy="28733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 lIns="36000" tIns="36000" rIns="36000" bIns="36000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b="1" dirty="0" err="1">
                  <a:solidFill>
                    <a:prstClr val="black"/>
                  </a:solidFill>
                  <a:latin typeface="Calibri"/>
                </a:rPr>
                <a:t>DoctorNo</a:t>
              </a:r>
              <a:endParaRPr lang="en-SG" sz="1400" b="1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2211853" y="3352800"/>
            <a:ext cx="1750547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(FK values match to PK values ??)</a:t>
            </a: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609600" y="1066800"/>
            <a:ext cx="7848600" cy="1550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spcAft>
                <a:spcPts val="0"/>
              </a:spcAft>
              <a:buNone/>
            </a:pPr>
            <a:r>
              <a:rPr lang="en-SG" altLang="en-US" sz="2400" b="1" dirty="0">
                <a:solidFill>
                  <a:srgbClr val="FFC000"/>
                </a:solidFill>
              </a:rPr>
              <a:t>1) Referential Integrity Constraint - Definition:</a:t>
            </a:r>
          </a:p>
          <a:p>
            <a:pPr marL="515938" indent="-176213" eaLnBrk="1" hangingPunct="1">
              <a:spcBef>
                <a:spcPct val="0"/>
              </a:spcBef>
              <a:spcAft>
                <a:spcPts val="1200"/>
              </a:spcAft>
              <a:buNone/>
            </a:pPr>
            <a:r>
              <a:rPr lang="en-SG" altLang="en-US" sz="2400" dirty="0">
                <a:solidFill>
                  <a:srgbClr val="FFFF00"/>
                </a:solidFill>
              </a:rPr>
              <a:t>- For any value existed in the foreign key attribute of the child relation, </a:t>
            </a:r>
            <a:r>
              <a:rPr lang="en-SG" altLang="en-US" sz="2400" dirty="0">
                <a:solidFill>
                  <a:schemeClr val="bg1"/>
                </a:solidFill>
              </a:rPr>
              <a:t>the corresponding value must exist in the primary key attribute of the parent relation</a:t>
            </a:r>
            <a:r>
              <a:rPr lang="en-SG" altLang="en-US" sz="2400" dirty="0">
                <a:solidFill>
                  <a:srgbClr val="FFFF00"/>
                </a:solidFill>
              </a:rPr>
              <a:t>.</a:t>
            </a:r>
            <a:endParaRPr lang="en-SG" altLang="en-US" sz="2400" dirty="0">
              <a:solidFill>
                <a:srgbClr val="FFC00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95010" y="4038600"/>
            <a:ext cx="1828800" cy="2286000"/>
            <a:chOff x="3795010" y="4038600"/>
            <a:chExt cx="1828800" cy="2286000"/>
          </a:xfrm>
        </p:grpSpPr>
        <p:cxnSp>
          <p:nvCxnSpPr>
            <p:cNvPr id="24" name="Straight Connector 23"/>
            <p:cNvCxnSpPr/>
            <p:nvPr/>
          </p:nvCxnSpPr>
          <p:spPr>
            <a:xfrm flipV="1">
              <a:off x="5619750" y="4495800"/>
              <a:ext cx="0" cy="182880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3810000" y="4038600"/>
              <a:ext cx="0" cy="457200"/>
            </a:xfrm>
            <a:prstGeom prst="line">
              <a:avLst/>
            </a:prstGeom>
            <a:ln w="28575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4705350" y="6324600"/>
              <a:ext cx="9144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V="1">
              <a:off x="3795010" y="4492251"/>
              <a:ext cx="18288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3795010" y="4038600"/>
              <a:ext cx="54839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23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81000"/>
            <a:ext cx="5425515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>
              <a:defRPr/>
            </a:pPr>
            <a:r>
              <a:rPr lang="en-GB" sz="3200" b="1" dirty="0">
                <a:solidFill>
                  <a:srgbClr val="FFFF00"/>
                </a:solidFill>
                <a:latin typeface="+mn-lt"/>
              </a:rPr>
              <a:t>Referential Integrity Constraint </a:t>
            </a:r>
            <a:endParaRPr lang="en-US" sz="3200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38174" y="2916242"/>
            <a:ext cx="7920000" cy="3027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2400" b="1" dirty="0">
                <a:solidFill>
                  <a:srgbClr val="FFFF00"/>
                </a:solidFill>
              </a:rPr>
              <a:t>Referential Integrity constraint</a:t>
            </a:r>
            <a:r>
              <a:rPr lang="en-SG" altLang="en-US" sz="2400" dirty="0">
                <a:solidFill>
                  <a:schemeClr val="bg1"/>
                </a:solidFill>
              </a:rPr>
              <a:t> established between the primary and foreign keys relationships.</a:t>
            </a:r>
          </a:p>
          <a:p>
            <a:pPr marL="628650"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2400" dirty="0">
                <a:solidFill>
                  <a:srgbClr val="FFFF00"/>
                </a:solidFill>
              </a:rPr>
              <a:t>For insertion, </a:t>
            </a:r>
            <a:r>
              <a:rPr lang="en-GB" altLang="en-US" sz="2400" dirty="0">
                <a:solidFill>
                  <a:schemeClr val="bg1"/>
                </a:solidFill>
              </a:rPr>
              <a:t>the tuple in the </a:t>
            </a:r>
            <a:r>
              <a:rPr lang="en-GB" altLang="en-US" sz="2400" b="1" dirty="0">
                <a:solidFill>
                  <a:schemeClr val="bg1"/>
                </a:solidFill>
              </a:rPr>
              <a:t>Parent</a:t>
            </a:r>
            <a:r>
              <a:rPr lang="en-GB" altLang="en-US" sz="2400" dirty="0">
                <a:solidFill>
                  <a:srgbClr val="FFFF00"/>
                </a:solidFill>
              </a:rPr>
              <a:t> </a:t>
            </a:r>
            <a:r>
              <a:rPr lang="en-GB" altLang="en-US" sz="2400" dirty="0">
                <a:solidFill>
                  <a:schemeClr val="bg1"/>
                </a:solidFill>
              </a:rPr>
              <a:t>relation must be created first </a:t>
            </a:r>
            <a:r>
              <a:rPr lang="en-GB" altLang="en-US" sz="2400" dirty="0">
                <a:solidFill>
                  <a:srgbClr val="FFFF00"/>
                </a:solidFill>
              </a:rPr>
              <a:t>before establishing the corresponding tuple in the child relation.</a:t>
            </a:r>
          </a:p>
          <a:p>
            <a:pPr marL="628650"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2400" dirty="0">
                <a:solidFill>
                  <a:srgbClr val="FFFF00"/>
                </a:solidFill>
              </a:rPr>
              <a:t>For deletion, </a:t>
            </a:r>
            <a:r>
              <a:rPr lang="en-GB" altLang="en-US" sz="2400" dirty="0">
                <a:solidFill>
                  <a:schemeClr val="bg1"/>
                </a:solidFill>
              </a:rPr>
              <a:t>the tuple in the </a:t>
            </a:r>
            <a:r>
              <a:rPr lang="en-GB" altLang="en-US" sz="2400" b="1" dirty="0">
                <a:solidFill>
                  <a:schemeClr val="bg1"/>
                </a:solidFill>
              </a:rPr>
              <a:t>Child</a:t>
            </a:r>
            <a:r>
              <a:rPr lang="en-GB" altLang="en-US" sz="2400" dirty="0">
                <a:solidFill>
                  <a:srgbClr val="FFFF00"/>
                </a:solidFill>
              </a:rPr>
              <a:t> </a:t>
            </a:r>
            <a:r>
              <a:rPr lang="en-GB" altLang="en-US" sz="2400" dirty="0">
                <a:solidFill>
                  <a:schemeClr val="bg1"/>
                </a:solidFill>
              </a:rPr>
              <a:t>relation should be deleted first</a:t>
            </a:r>
            <a:r>
              <a:rPr lang="en-GB" altLang="en-US" sz="2400" dirty="0">
                <a:solidFill>
                  <a:srgbClr val="FFFF00"/>
                </a:solidFill>
              </a:rPr>
              <a:t> before deleting the corresponding tuple in the parent relation</a:t>
            </a:r>
            <a:r>
              <a:rPr lang="en-GB" altLang="en-US" sz="1800" dirty="0">
                <a:solidFill>
                  <a:srgbClr val="FFFF00"/>
                </a:solidFill>
              </a:rPr>
              <a:t>.</a:t>
            </a: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609600" y="1116969"/>
            <a:ext cx="7848600" cy="162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SG" altLang="en-US" sz="2400" b="1" dirty="0">
                <a:solidFill>
                  <a:srgbClr val="FFC000"/>
                </a:solidFill>
              </a:rPr>
              <a:t>1) Referential Integrity Constraint - Definition:</a:t>
            </a:r>
          </a:p>
          <a:p>
            <a:pPr marL="515938" indent="-176213" eaLnBrk="1" hangingPunct="1">
              <a:spcBef>
                <a:spcPct val="0"/>
              </a:spcBef>
              <a:spcAft>
                <a:spcPts val="1200"/>
              </a:spcAft>
              <a:buNone/>
            </a:pPr>
            <a:r>
              <a:rPr lang="en-SG" altLang="en-US" sz="2400" dirty="0">
                <a:solidFill>
                  <a:srgbClr val="FFFF00"/>
                </a:solidFill>
              </a:rPr>
              <a:t>- For any value existed in the foreign key attribute of the child relation, </a:t>
            </a:r>
            <a:r>
              <a:rPr lang="en-SG" altLang="en-US" sz="2400" dirty="0">
                <a:solidFill>
                  <a:schemeClr val="bg1"/>
                </a:solidFill>
              </a:rPr>
              <a:t>the corresponding value must exist in the primary key attribute of the parent relation</a:t>
            </a:r>
            <a:r>
              <a:rPr lang="en-SG" altLang="en-US" sz="2400" dirty="0">
                <a:solidFill>
                  <a:srgbClr val="FFFF00"/>
                </a:solidFill>
              </a:rPr>
              <a:t>.</a:t>
            </a:r>
            <a:endParaRPr lang="en-SG" altLang="en-US"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36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81000"/>
            <a:ext cx="5425515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>
              <a:defRPr/>
            </a:pPr>
            <a:r>
              <a:rPr lang="en-GB" sz="3200" b="1" dirty="0">
                <a:solidFill>
                  <a:srgbClr val="FFFF00"/>
                </a:solidFill>
                <a:latin typeface="+mn-lt"/>
              </a:rPr>
              <a:t>Referential Integrity Constraint </a:t>
            </a:r>
            <a:endParaRPr lang="en-US" sz="3200" b="1" dirty="0">
              <a:solidFill>
                <a:srgbClr val="FFFF00"/>
              </a:solidFill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170363"/>
              </p:ext>
            </p:extLst>
          </p:nvPr>
        </p:nvGraphicFramePr>
        <p:xfrm>
          <a:off x="685800" y="2541586"/>
          <a:ext cx="5257800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/>
                        <a:t>DoctorID</a:t>
                      </a:r>
                      <a:endParaRPr lang="en-SG" sz="1400" dirty="0"/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>
                          <a:solidFill>
                            <a:srgbClr val="FFFF00"/>
                          </a:solidFill>
                        </a:rPr>
                        <a:t>DoctorName</a:t>
                      </a:r>
                      <a:endParaRPr lang="en-SG" sz="14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FFFF00"/>
                          </a:solidFill>
                        </a:rPr>
                        <a:t>Discipline</a:t>
                      </a:r>
                      <a:endParaRPr lang="en-SG" sz="14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FFFF00"/>
                          </a:solidFill>
                        </a:rPr>
                        <a:t>Location</a:t>
                      </a:r>
                      <a:endParaRPr lang="en-SG" sz="14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DOC-SL</a:t>
                      </a:r>
                      <a:endParaRPr lang="en-SG" sz="1400" dirty="0"/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Sam Lim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Cardiology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r>
                        <a:rPr lang="en-GB" sz="1400" baseline="0" dirty="0"/>
                        <a:t>E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DOC-HY</a:t>
                      </a:r>
                      <a:endParaRPr lang="en-SG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Henry Yeo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Cardiology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NS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181CAC"/>
                          </a:solidFill>
                        </a:rPr>
                        <a:t>DOC-JS</a:t>
                      </a:r>
                      <a:endParaRPr lang="en-SG" sz="1400" b="1" dirty="0">
                        <a:solidFill>
                          <a:srgbClr val="181CAC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John </a:t>
                      </a:r>
                      <a:r>
                        <a:rPr lang="en-GB" sz="1400" dirty="0" err="1"/>
                        <a:t>Samy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Paediatric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JC</a:t>
                      </a:r>
                      <a:r>
                        <a:rPr lang="en-GB" sz="1400" baseline="0" dirty="0"/>
                        <a:t>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00B050"/>
                          </a:solidFill>
                        </a:rPr>
                        <a:t>DOC-SA</a:t>
                      </a:r>
                      <a:endParaRPr lang="en-SG" sz="1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Susan </a:t>
                      </a:r>
                      <a:r>
                        <a:rPr lang="en-GB" sz="1400" dirty="0" err="1"/>
                        <a:t>Amal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Radiology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NS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DOC-MK</a:t>
                      </a:r>
                      <a:endParaRPr lang="en-SG" sz="1400" dirty="0"/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Mohd</a:t>
                      </a:r>
                      <a:r>
                        <a:rPr lang="en-GB" sz="1400" baseline="0" dirty="0"/>
                        <a:t> </a:t>
                      </a:r>
                      <a:r>
                        <a:rPr lang="en-GB" sz="1400" baseline="0" dirty="0" err="1"/>
                        <a:t>Kassim</a:t>
                      </a:r>
                      <a:endParaRPr lang="en-SG" sz="14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Radiology</a:t>
                      </a:r>
                      <a:endParaRPr lang="en-SG" sz="14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SG</a:t>
                      </a:r>
                      <a:r>
                        <a:rPr lang="en-GB" sz="1400" baseline="0" dirty="0"/>
                        <a:t>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5641" name="Group 4"/>
          <p:cNvGrpSpPr>
            <a:grpSpLocks/>
          </p:cNvGrpSpPr>
          <p:nvPr/>
        </p:nvGrpSpPr>
        <p:grpSpPr bwMode="auto">
          <a:xfrm>
            <a:off x="709266" y="2209800"/>
            <a:ext cx="1981544" cy="332399"/>
            <a:chOff x="1241857" y="2945422"/>
            <a:chExt cx="1980996" cy="333624"/>
          </a:xfrm>
        </p:grpSpPr>
        <p:sp>
          <p:nvSpPr>
            <p:cNvPr id="25680" name="Text Box 10"/>
            <p:cNvSpPr txBox="1">
              <a:spLocks noChangeArrowheads="1"/>
            </p:cNvSpPr>
            <p:nvPr/>
          </p:nvSpPr>
          <p:spPr bwMode="auto">
            <a:xfrm>
              <a:off x="2150527" y="2976907"/>
              <a:ext cx="1072326" cy="288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(Parent table)</a:t>
              </a:r>
            </a:p>
          </p:txBody>
        </p:sp>
        <p:sp>
          <p:nvSpPr>
            <p:cNvPr id="25681" name="Text Box 12"/>
            <p:cNvSpPr txBox="1">
              <a:spLocks noChangeArrowheads="1"/>
            </p:cNvSpPr>
            <p:nvPr/>
          </p:nvSpPr>
          <p:spPr bwMode="auto">
            <a:xfrm>
              <a:off x="1241857" y="2945422"/>
              <a:ext cx="872434" cy="333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DOCTOR</a:t>
              </a:r>
            </a:p>
          </p:txBody>
        </p:sp>
      </p:grp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8571"/>
              </p:ext>
            </p:extLst>
          </p:nvPr>
        </p:nvGraphicFramePr>
        <p:xfrm>
          <a:off x="4514850" y="5027612"/>
          <a:ext cx="4324351" cy="1219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95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PatientID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PatientName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Clinic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DoctorNo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PAT-31</a:t>
                      </a:r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Michael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Paediatric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181CAC"/>
                          </a:solidFill>
                        </a:rPr>
                        <a:t>DOC-JS</a:t>
                      </a:r>
                      <a:endParaRPr lang="en-SG" sz="1400" dirty="0">
                        <a:solidFill>
                          <a:srgbClr val="181CAC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PAT-52</a:t>
                      </a:r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Jennifer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Cardiology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FF0000"/>
                          </a:solidFill>
                        </a:rPr>
                        <a:t>DOC-HY</a:t>
                      </a:r>
                      <a:endParaRPr lang="en-SG" sz="1400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PAT-79</a:t>
                      </a:r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Steven</a:t>
                      </a:r>
                      <a:endParaRPr lang="en-SG" sz="1400" dirty="0"/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Radiology</a:t>
                      </a:r>
                      <a:endParaRPr lang="en-SG" sz="1400" dirty="0"/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00B050"/>
                          </a:solidFill>
                        </a:rPr>
                        <a:t>DOC-SA</a:t>
                      </a:r>
                      <a:endParaRPr lang="en-SG" sz="14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9765" name="Group 3"/>
          <p:cNvGrpSpPr>
            <a:grpSpLocks/>
          </p:cNvGrpSpPr>
          <p:nvPr/>
        </p:nvGrpSpPr>
        <p:grpSpPr bwMode="auto">
          <a:xfrm>
            <a:off x="6524551" y="4668833"/>
            <a:ext cx="1781244" cy="332399"/>
            <a:chOff x="1939480" y="4957544"/>
            <a:chExt cx="1085692" cy="330440"/>
          </a:xfrm>
        </p:grpSpPr>
        <p:sp>
          <p:nvSpPr>
            <p:cNvPr id="25678" name="Text Box 13"/>
            <p:cNvSpPr txBox="1">
              <a:spLocks noChangeArrowheads="1"/>
            </p:cNvSpPr>
            <p:nvPr/>
          </p:nvSpPr>
          <p:spPr bwMode="auto">
            <a:xfrm>
              <a:off x="1939480" y="4957544"/>
              <a:ext cx="510569" cy="330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PATIENT</a:t>
              </a:r>
            </a:p>
          </p:txBody>
        </p:sp>
        <p:sp>
          <p:nvSpPr>
            <p:cNvPr id="25679" name="Text Box 16"/>
            <p:cNvSpPr txBox="1">
              <a:spLocks noChangeArrowheads="1"/>
            </p:cNvSpPr>
            <p:nvPr/>
          </p:nvSpPr>
          <p:spPr bwMode="auto">
            <a:xfrm>
              <a:off x="2388874" y="4971775"/>
              <a:ext cx="636298" cy="306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(Child table)</a:t>
              </a:r>
            </a:p>
          </p:txBody>
        </p:sp>
      </p:grpSp>
      <p:sp>
        <p:nvSpPr>
          <p:cNvPr id="25670" name="Text Box 6"/>
          <p:cNvSpPr txBox="1">
            <a:spLocks noChangeArrowheads="1"/>
          </p:cNvSpPr>
          <p:nvPr/>
        </p:nvSpPr>
        <p:spPr bwMode="auto">
          <a:xfrm>
            <a:off x="304800" y="4086223"/>
            <a:ext cx="40481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(PK)</a:t>
            </a:r>
            <a:endParaRPr lang="en-US" altLang="en-US" sz="160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671" name="Rectangle 1"/>
          <p:cNvSpPr>
            <a:spLocks noChangeArrowheads="1"/>
          </p:cNvSpPr>
          <p:nvPr/>
        </p:nvSpPr>
        <p:spPr bwMode="auto">
          <a:xfrm>
            <a:off x="919163" y="2535236"/>
            <a:ext cx="739775" cy="28892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400" b="1">
                <a:solidFill>
                  <a:srgbClr val="000099"/>
                </a:solidFill>
              </a:rPr>
              <a:t>DoctorID</a:t>
            </a:r>
            <a:endParaRPr lang="en-SG" altLang="en-US" sz="1400" b="1">
              <a:solidFill>
                <a:srgbClr val="000099"/>
              </a:solidFill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7848600" y="4725987"/>
            <a:ext cx="971550" cy="603250"/>
            <a:chOff x="8077200" y="3276600"/>
            <a:chExt cx="971550" cy="603250"/>
          </a:xfrm>
        </p:grpSpPr>
        <p:sp>
          <p:nvSpPr>
            <p:cNvPr id="25676" name="Text Box 6"/>
            <p:cNvSpPr txBox="1">
              <a:spLocks noChangeArrowheads="1"/>
            </p:cNvSpPr>
            <p:nvPr/>
          </p:nvSpPr>
          <p:spPr bwMode="auto">
            <a:xfrm>
              <a:off x="8610600" y="3276600"/>
              <a:ext cx="390525" cy="30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(FK)</a:t>
              </a:r>
              <a:endParaRPr lang="en-US" altLang="en-US" sz="160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8077200" y="3592513"/>
              <a:ext cx="971550" cy="28733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 lIns="36000" tIns="36000" rIns="36000" bIns="36000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b="1" dirty="0" err="1">
                  <a:solidFill>
                    <a:prstClr val="black"/>
                  </a:solidFill>
                  <a:latin typeface="Calibri"/>
                </a:rPr>
                <a:t>DoctorNo</a:t>
              </a:r>
              <a:endParaRPr lang="en-SG" sz="1400" b="1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38174" y="1051810"/>
            <a:ext cx="7920000" cy="1180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4488"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2400" dirty="0">
                <a:solidFill>
                  <a:srgbClr val="FFFF00"/>
                </a:solidFill>
              </a:rPr>
              <a:t>For insertion, </a:t>
            </a:r>
            <a:r>
              <a:rPr lang="en-GB" altLang="en-US" sz="2400" dirty="0">
                <a:solidFill>
                  <a:schemeClr val="bg1"/>
                </a:solidFill>
              </a:rPr>
              <a:t>the tuple in the </a:t>
            </a:r>
            <a:r>
              <a:rPr lang="en-GB" altLang="en-US" sz="2400" b="1" dirty="0">
                <a:solidFill>
                  <a:schemeClr val="bg1"/>
                </a:solidFill>
              </a:rPr>
              <a:t>Parent</a:t>
            </a:r>
            <a:r>
              <a:rPr lang="en-GB" altLang="en-US" sz="2400" dirty="0">
                <a:solidFill>
                  <a:srgbClr val="FFFF00"/>
                </a:solidFill>
              </a:rPr>
              <a:t> </a:t>
            </a:r>
            <a:r>
              <a:rPr lang="en-GB" altLang="en-US" sz="2400" dirty="0">
                <a:solidFill>
                  <a:schemeClr val="bg1"/>
                </a:solidFill>
              </a:rPr>
              <a:t>relation must be created first </a:t>
            </a:r>
            <a:r>
              <a:rPr lang="en-GB" altLang="en-US" sz="2400" dirty="0">
                <a:solidFill>
                  <a:srgbClr val="FFFF00"/>
                </a:solidFill>
              </a:rPr>
              <a:t>before establishing the corresponding tuple in the child relation.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169631"/>
              </p:ext>
            </p:extLst>
          </p:nvPr>
        </p:nvGraphicFramePr>
        <p:xfrm>
          <a:off x="685800" y="4404610"/>
          <a:ext cx="5257800" cy="304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8716">
                  <a:extLst>
                    <a:ext uri="{9D8B030D-6E8A-4147-A177-3AD203B41FA5}">
                      <a16:colId xmlns:a16="http://schemas.microsoft.com/office/drawing/2014/main" val="2701012660"/>
                    </a:ext>
                  </a:extLst>
                </a:gridCol>
                <a:gridCol w="1432084">
                  <a:extLst>
                    <a:ext uri="{9D8B030D-6E8A-4147-A177-3AD203B41FA5}">
                      <a16:colId xmlns:a16="http://schemas.microsoft.com/office/drawing/2014/main" val="131019916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8331085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733967828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DOC-ZZ</a:t>
                      </a:r>
                      <a:endParaRPr lang="en-SG" sz="1400" dirty="0"/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dirty="0"/>
                        <a:t>Peter</a:t>
                      </a:r>
                      <a:endParaRPr lang="en-SG" sz="1400" b="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dirty="0"/>
                        <a:t>Radiology</a:t>
                      </a:r>
                      <a:endParaRPr lang="en-SG" sz="1400" b="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dirty="0"/>
                        <a:t>SG</a:t>
                      </a:r>
                      <a:r>
                        <a:rPr lang="en-GB" sz="1400" b="0" baseline="0" dirty="0"/>
                        <a:t> Hospital</a:t>
                      </a:r>
                      <a:endParaRPr lang="en-SG" sz="1400" b="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580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803320"/>
              </p:ext>
            </p:extLst>
          </p:nvPr>
        </p:nvGraphicFramePr>
        <p:xfrm>
          <a:off x="4514849" y="6278378"/>
          <a:ext cx="4324351" cy="30480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95351">
                  <a:extLst>
                    <a:ext uri="{9D8B030D-6E8A-4147-A177-3AD203B41FA5}">
                      <a16:colId xmlns:a16="http://schemas.microsoft.com/office/drawing/2014/main" val="349481622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91179929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00888529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7255772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/>
                        <a:t>PAT-19</a:t>
                      </a:r>
                      <a:endParaRPr lang="en-SG" sz="1400" b="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dirty="0"/>
                        <a:t>Matthew</a:t>
                      </a:r>
                      <a:endParaRPr lang="en-SG" sz="1400" b="0" dirty="0"/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dirty="0"/>
                        <a:t>Radiology</a:t>
                      </a:r>
                      <a:endParaRPr lang="en-SG" sz="1400" b="0" dirty="0"/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DOC-ZZ</a:t>
                      </a:r>
                      <a:endParaRPr lang="en-SG" sz="1400" dirty="0">
                        <a:solidFill>
                          <a:schemeClr val="bg1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296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51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81000"/>
            <a:ext cx="5425515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>
              <a:defRPr/>
            </a:pPr>
            <a:r>
              <a:rPr lang="en-GB" sz="3200" b="1" dirty="0">
                <a:solidFill>
                  <a:srgbClr val="FFFF00"/>
                </a:solidFill>
                <a:latin typeface="+mn-lt"/>
              </a:rPr>
              <a:t>Referential Integrity Constraint </a:t>
            </a:r>
            <a:endParaRPr lang="en-US" sz="3200" b="1" dirty="0">
              <a:solidFill>
                <a:srgbClr val="FFFF00"/>
              </a:solidFill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857420"/>
              </p:ext>
            </p:extLst>
          </p:nvPr>
        </p:nvGraphicFramePr>
        <p:xfrm>
          <a:off x="685800" y="2770186"/>
          <a:ext cx="5257800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/>
                        <a:t>DoctorID</a:t>
                      </a:r>
                      <a:endParaRPr lang="en-SG" sz="1400" dirty="0"/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>
                          <a:solidFill>
                            <a:srgbClr val="FFFF00"/>
                          </a:solidFill>
                        </a:rPr>
                        <a:t>DoctorName</a:t>
                      </a:r>
                      <a:endParaRPr lang="en-SG" sz="14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FFFF00"/>
                          </a:solidFill>
                        </a:rPr>
                        <a:t>Discipline</a:t>
                      </a:r>
                      <a:endParaRPr lang="en-SG" sz="14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FFFF00"/>
                          </a:solidFill>
                        </a:rPr>
                        <a:t>Location</a:t>
                      </a:r>
                      <a:endParaRPr lang="en-SG" sz="14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DOC-SL</a:t>
                      </a:r>
                      <a:endParaRPr lang="en-SG" sz="1400" dirty="0"/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Sam Lim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Cardiology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r>
                        <a:rPr lang="en-GB" sz="1400" baseline="0" dirty="0"/>
                        <a:t>E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DOC-HY</a:t>
                      </a:r>
                      <a:endParaRPr lang="en-SG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Henry Yeo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Cardiology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NS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181CAC"/>
                          </a:solidFill>
                        </a:rPr>
                        <a:t>DOC-JS</a:t>
                      </a:r>
                      <a:endParaRPr lang="en-SG" sz="1400" b="1" dirty="0">
                        <a:solidFill>
                          <a:srgbClr val="181CAC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John </a:t>
                      </a:r>
                      <a:r>
                        <a:rPr lang="en-GB" sz="1400" dirty="0" err="1"/>
                        <a:t>Samy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Paediatric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JC</a:t>
                      </a:r>
                      <a:r>
                        <a:rPr lang="en-GB" sz="1400" baseline="0" dirty="0"/>
                        <a:t>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00B050"/>
                          </a:solidFill>
                        </a:rPr>
                        <a:t>DOC-SA</a:t>
                      </a:r>
                      <a:endParaRPr lang="en-SG" sz="1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Susan </a:t>
                      </a:r>
                      <a:r>
                        <a:rPr lang="en-GB" sz="1400" dirty="0" err="1"/>
                        <a:t>Amal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Radiology</a:t>
                      </a:r>
                      <a:endParaRPr lang="en-SG" sz="14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NS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DOC-MK</a:t>
                      </a:r>
                      <a:endParaRPr lang="en-SG" sz="1400" dirty="0"/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Mohd</a:t>
                      </a:r>
                      <a:r>
                        <a:rPr lang="en-GB" sz="1400" baseline="0" dirty="0"/>
                        <a:t> </a:t>
                      </a:r>
                      <a:r>
                        <a:rPr lang="en-GB" sz="1400" baseline="0" dirty="0" err="1"/>
                        <a:t>Kassim</a:t>
                      </a:r>
                      <a:endParaRPr lang="en-SG" sz="14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Radiology</a:t>
                      </a:r>
                      <a:endParaRPr lang="en-SG" sz="14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SG</a:t>
                      </a:r>
                      <a:r>
                        <a:rPr lang="en-GB" sz="1400" baseline="0" dirty="0"/>
                        <a:t> Hospital</a:t>
                      </a:r>
                      <a:endParaRPr lang="en-SG" sz="1400" dirty="0"/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5641" name="Group 4"/>
          <p:cNvGrpSpPr>
            <a:grpSpLocks/>
          </p:cNvGrpSpPr>
          <p:nvPr/>
        </p:nvGrpSpPr>
        <p:grpSpPr bwMode="auto">
          <a:xfrm>
            <a:off x="709266" y="2438400"/>
            <a:ext cx="1981544" cy="332399"/>
            <a:chOff x="1241857" y="2945422"/>
            <a:chExt cx="1980996" cy="333624"/>
          </a:xfrm>
        </p:grpSpPr>
        <p:sp>
          <p:nvSpPr>
            <p:cNvPr id="25680" name="Text Box 10"/>
            <p:cNvSpPr txBox="1">
              <a:spLocks noChangeArrowheads="1"/>
            </p:cNvSpPr>
            <p:nvPr/>
          </p:nvSpPr>
          <p:spPr bwMode="auto">
            <a:xfrm>
              <a:off x="2150527" y="2976907"/>
              <a:ext cx="1072326" cy="288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(Parent table)</a:t>
              </a:r>
            </a:p>
          </p:txBody>
        </p:sp>
        <p:sp>
          <p:nvSpPr>
            <p:cNvPr id="25681" name="Text Box 12"/>
            <p:cNvSpPr txBox="1">
              <a:spLocks noChangeArrowheads="1"/>
            </p:cNvSpPr>
            <p:nvPr/>
          </p:nvSpPr>
          <p:spPr bwMode="auto">
            <a:xfrm>
              <a:off x="1241857" y="2945422"/>
              <a:ext cx="872434" cy="333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DOCTOR</a:t>
              </a:r>
            </a:p>
          </p:txBody>
        </p:sp>
      </p:grp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975806"/>
              </p:ext>
            </p:extLst>
          </p:nvPr>
        </p:nvGraphicFramePr>
        <p:xfrm>
          <a:off x="4514850" y="5159379"/>
          <a:ext cx="4324351" cy="1219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95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PatientID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PatientName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Clinic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DoctorNo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PAT-31</a:t>
                      </a:r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Michael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Paediatric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181CAC"/>
                          </a:solidFill>
                        </a:rPr>
                        <a:t>DOC-JS</a:t>
                      </a:r>
                      <a:endParaRPr lang="en-SG" sz="1400" dirty="0">
                        <a:solidFill>
                          <a:srgbClr val="181CAC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PAT-52</a:t>
                      </a:r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Jennifer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Cardiology</a:t>
                      </a:r>
                      <a:endParaRPr lang="en-SG" sz="14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FF0000"/>
                          </a:solidFill>
                        </a:rPr>
                        <a:t>DOC-HY</a:t>
                      </a:r>
                      <a:endParaRPr lang="en-SG" sz="1400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PAT-79</a:t>
                      </a:r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Steven</a:t>
                      </a:r>
                      <a:endParaRPr lang="en-SG" sz="1400" dirty="0"/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Radiology</a:t>
                      </a:r>
                      <a:endParaRPr lang="en-SG" sz="1400" dirty="0"/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00B050"/>
                          </a:solidFill>
                        </a:rPr>
                        <a:t>DOC-SA</a:t>
                      </a:r>
                      <a:endParaRPr lang="en-SG" sz="14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9765" name="Group 3"/>
          <p:cNvGrpSpPr>
            <a:grpSpLocks/>
          </p:cNvGrpSpPr>
          <p:nvPr/>
        </p:nvGrpSpPr>
        <p:grpSpPr bwMode="auto">
          <a:xfrm>
            <a:off x="6524551" y="4800600"/>
            <a:ext cx="1781244" cy="332399"/>
            <a:chOff x="1939480" y="4957544"/>
            <a:chExt cx="1085692" cy="330440"/>
          </a:xfrm>
        </p:grpSpPr>
        <p:sp>
          <p:nvSpPr>
            <p:cNvPr id="25678" name="Text Box 13"/>
            <p:cNvSpPr txBox="1">
              <a:spLocks noChangeArrowheads="1"/>
            </p:cNvSpPr>
            <p:nvPr/>
          </p:nvSpPr>
          <p:spPr bwMode="auto">
            <a:xfrm>
              <a:off x="1939480" y="4957544"/>
              <a:ext cx="510569" cy="330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PATIENT</a:t>
              </a:r>
            </a:p>
          </p:txBody>
        </p:sp>
        <p:sp>
          <p:nvSpPr>
            <p:cNvPr id="25679" name="Text Box 16"/>
            <p:cNvSpPr txBox="1">
              <a:spLocks noChangeArrowheads="1"/>
            </p:cNvSpPr>
            <p:nvPr/>
          </p:nvSpPr>
          <p:spPr bwMode="auto">
            <a:xfrm>
              <a:off x="2388874" y="4971775"/>
              <a:ext cx="636298" cy="306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(Child table)</a:t>
              </a:r>
            </a:p>
          </p:txBody>
        </p:sp>
      </p:grpSp>
      <p:sp>
        <p:nvSpPr>
          <p:cNvPr id="25670" name="Text Box 6"/>
          <p:cNvSpPr txBox="1">
            <a:spLocks noChangeArrowheads="1"/>
          </p:cNvSpPr>
          <p:nvPr/>
        </p:nvSpPr>
        <p:spPr bwMode="auto">
          <a:xfrm>
            <a:off x="304800" y="4314823"/>
            <a:ext cx="40481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(PK)</a:t>
            </a:r>
            <a:endParaRPr lang="en-US" altLang="en-US" sz="160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671" name="Rectangle 1"/>
          <p:cNvSpPr>
            <a:spLocks noChangeArrowheads="1"/>
          </p:cNvSpPr>
          <p:nvPr/>
        </p:nvSpPr>
        <p:spPr bwMode="auto">
          <a:xfrm>
            <a:off x="919163" y="2763836"/>
            <a:ext cx="739775" cy="28892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400" b="1">
                <a:solidFill>
                  <a:srgbClr val="000099"/>
                </a:solidFill>
              </a:rPr>
              <a:t>DoctorID</a:t>
            </a:r>
            <a:endParaRPr lang="en-SG" altLang="en-US" sz="1400" b="1">
              <a:solidFill>
                <a:srgbClr val="000099"/>
              </a:solidFill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7848600" y="4857754"/>
            <a:ext cx="971550" cy="603250"/>
            <a:chOff x="8077200" y="3276600"/>
            <a:chExt cx="971550" cy="603250"/>
          </a:xfrm>
        </p:grpSpPr>
        <p:sp>
          <p:nvSpPr>
            <p:cNvPr id="25676" name="Text Box 6"/>
            <p:cNvSpPr txBox="1">
              <a:spLocks noChangeArrowheads="1"/>
            </p:cNvSpPr>
            <p:nvPr/>
          </p:nvSpPr>
          <p:spPr bwMode="auto">
            <a:xfrm>
              <a:off x="8610600" y="3276600"/>
              <a:ext cx="390525" cy="30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7432" tIns="27432" rIns="27432" bIns="27432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(FK)</a:t>
              </a:r>
              <a:endParaRPr lang="en-US" altLang="en-US" sz="160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8077200" y="3592513"/>
              <a:ext cx="971550" cy="28733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 lIns="36000" tIns="36000" rIns="36000" bIns="36000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b="1" dirty="0" err="1">
                  <a:solidFill>
                    <a:prstClr val="black"/>
                  </a:solidFill>
                  <a:latin typeface="Calibri"/>
                </a:rPr>
                <a:t>DoctorNo</a:t>
              </a:r>
              <a:endParaRPr lang="en-SG" sz="1400" b="1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32278" y="1068864"/>
            <a:ext cx="7920000" cy="1180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4488"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2400" dirty="0">
                <a:solidFill>
                  <a:srgbClr val="FFFF00"/>
                </a:solidFill>
              </a:rPr>
              <a:t>For deletion, </a:t>
            </a:r>
            <a:r>
              <a:rPr lang="en-GB" altLang="en-US" sz="2400" dirty="0">
                <a:solidFill>
                  <a:schemeClr val="bg1"/>
                </a:solidFill>
              </a:rPr>
              <a:t>the tuple in the </a:t>
            </a:r>
            <a:r>
              <a:rPr lang="en-GB" altLang="en-US" sz="2400" b="1" dirty="0">
                <a:solidFill>
                  <a:schemeClr val="bg1"/>
                </a:solidFill>
              </a:rPr>
              <a:t>Child</a:t>
            </a:r>
            <a:r>
              <a:rPr lang="en-GB" altLang="en-US" sz="2400" dirty="0">
                <a:solidFill>
                  <a:srgbClr val="FFFF00"/>
                </a:solidFill>
              </a:rPr>
              <a:t> </a:t>
            </a:r>
            <a:r>
              <a:rPr lang="en-GB" altLang="en-US" sz="2400" dirty="0">
                <a:solidFill>
                  <a:schemeClr val="bg1"/>
                </a:solidFill>
              </a:rPr>
              <a:t>relation should be deleted first</a:t>
            </a:r>
            <a:r>
              <a:rPr lang="en-GB" altLang="en-US" sz="2400" dirty="0">
                <a:solidFill>
                  <a:srgbClr val="FFFF00"/>
                </a:solidFill>
              </a:rPr>
              <a:t> before deleting the corresponding tuple in the parent relation</a:t>
            </a:r>
            <a:r>
              <a:rPr lang="en-GB" altLang="en-US" sz="1800" dirty="0">
                <a:solidFill>
                  <a:srgbClr val="FFFF00"/>
                </a:solidFill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067636"/>
              </p:ext>
            </p:extLst>
          </p:nvPr>
        </p:nvGraphicFramePr>
        <p:xfrm>
          <a:off x="4524823" y="5773927"/>
          <a:ext cx="4324351" cy="30480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95351">
                  <a:extLst>
                    <a:ext uri="{9D8B030D-6E8A-4147-A177-3AD203B41FA5}">
                      <a16:colId xmlns:a16="http://schemas.microsoft.com/office/drawing/2014/main" val="188313118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381380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81370083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0448135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 marL="91435" marR="91435" marT="45721" marB="4572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 marL="91435" marR="91435" marT="45721" marB="4572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1" marB="4572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383149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125864"/>
              </p:ext>
            </p:extLst>
          </p:nvPr>
        </p:nvGraphicFramePr>
        <p:xfrm>
          <a:off x="4527323" y="6064768"/>
          <a:ext cx="4324351" cy="30480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95351">
                  <a:extLst>
                    <a:ext uri="{9D8B030D-6E8A-4147-A177-3AD203B41FA5}">
                      <a16:colId xmlns:a16="http://schemas.microsoft.com/office/drawing/2014/main" val="188313118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381380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81370083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0448135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endParaRPr lang="en-SG" sz="1400" dirty="0"/>
                    </a:p>
                  </a:txBody>
                  <a:tcPr marL="91435" marR="91435" marT="45721" marB="457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 marL="91435" marR="91435" marT="45721" marB="4572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 marL="91435" marR="91435" marT="45721" marB="4572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1" marB="4572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383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83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ctrTitle" idx="4294967295"/>
          </p:nvPr>
        </p:nvSpPr>
        <p:spPr>
          <a:xfrm>
            <a:off x="709613" y="369705"/>
            <a:ext cx="4891330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Other Relational Constraints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09613" y="1143000"/>
            <a:ext cx="7791450" cy="1673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339725" indent="-339725">
              <a:buFont typeface="+mj-lt"/>
              <a:buAutoNum type="arabicParenR" startAt="2"/>
              <a:defRPr/>
            </a:pPr>
            <a:r>
              <a:rPr lang="en-US" altLang="en-US" sz="2400" b="1" dirty="0">
                <a:solidFill>
                  <a:srgbClr val="FFC000"/>
                </a:solidFill>
                <a:cs typeface="Times New Roman" pitchFamily="18" charset="0"/>
              </a:rPr>
              <a:t>Entities Integrity Constraint </a:t>
            </a:r>
            <a:r>
              <a:rPr lang="en-US" altLang="en-US" sz="2000" dirty="0">
                <a:solidFill>
                  <a:schemeClr val="bg1"/>
                </a:solidFill>
                <a:cs typeface="Times New Roman" pitchFamily="18" charset="0"/>
              </a:rPr>
              <a:t>, it entails constraints for primary key such as: </a:t>
            </a:r>
          </a:p>
          <a:p>
            <a:pPr marL="633413" lvl="1" indent="-22542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FFFF00"/>
                </a:solidFill>
                <a:latin typeface="+mn-lt"/>
              </a:rPr>
              <a:t>Each Primary key within a table has a unique value.</a:t>
            </a:r>
          </a:p>
          <a:p>
            <a:pPr marL="633413" lvl="1" indent="-22542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FFFF00"/>
                </a:solidFill>
                <a:latin typeface="+mn-lt"/>
              </a:rPr>
              <a:t>Primary key cannot have null value. </a:t>
            </a:r>
          </a:p>
          <a:p>
            <a:pPr marL="633413" lvl="1" indent="-22542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FFFF00"/>
                </a:solidFill>
                <a:latin typeface="+mn-lt"/>
              </a:rPr>
              <a:t>Primary key cannot have duplicated values in different rows.</a:t>
            </a:r>
            <a:endParaRPr lang="en-US" altLang="en-US" sz="2000" dirty="0">
              <a:solidFill>
                <a:schemeClr val="bg1"/>
              </a:solidFill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386208"/>
              </p:ext>
            </p:extLst>
          </p:nvPr>
        </p:nvGraphicFramePr>
        <p:xfrm>
          <a:off x="1828800" y="2964371"/>
          <a:ext cx="4876800" cy="1584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54200">
                  <a:extLst>
                    <a:ext uri="{9D8B030D-6E8A-4147-A177-3AD203B41FA5}">
                      <a16:colId xmlns:a16="http://schemas.microsoft.com/office/drawing/2014/main" val="1025301508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384321459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4057868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NRIC_Num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031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T0000123A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626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T0000123A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Judy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67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Christopher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64781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752600" y="3366540"/>
            <a:ext cx="1828800" cy="777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752600" y="4191000"/>
            <a:ext cx="1920240" cy="41148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9589" t="7777" r="10295" b="9260"/>
          <a:stretch/>
        </p:blipFill>
        <p:spPr>
          <a:xfrm>
            <a:off x="1132051" y="3488146"/>
            <a:ext cx="564470" cy="38084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19589" t="7777" r="10295" b="9260"/>
          <a:stretch/>
        </p:blipFill>
        <p:spPr>
          <a:xfrm>
            <a:off x="1126193" y="4157381"/>
            <a:ext cx="564470" cy="380847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1828800" y="2837377"/>
            <a:ext cx="228600" cy="22720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28917" t="16667" r="50000" b="60417"/>
          <a:stretch/>
        </p:blipFill>
        <p:spPr>
          <a:xfrm>
            <a:off x="1463040" y="4805680"/>
            <a:ext cx="3108960" cy="18999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28917" t="14584" r="50000" b="60416"/>
          <a:stretch/>
        </p:blipFill>
        <p:spPr>
          <a:xfrm>
            <a:off x="4815840" y="4767219"/>
            <a:ext cx="2880360" cy="19202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609600" y="1066800"/>
            <a:ext cx="7789863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98463" lvl="1" indent="-327025">
              <a:spcBef>
                <a:spcPct val="0"/>
              </a:spcBef>
              <a:spcAft>
                <a:spcPts val="0"/>
              </a:spcAft>
              <a:buFont typeface="+mj-lt"/>
              <a:buAutoNum type="arabicParenR" startAt="3"/>
            </a:pPr>
            <a:r>
              <a:rPr lang="en-US" altLang="en-US" sz="2400" b="1" dirty="0">
                <a:solidFill>
                  <a:srgbClr val="FFC000"/>
                </a:solidFill>
                <a:cs typeface="Times New Roman" panose="02020603050405020304" pitchFamily="18" charset="0"/>
              </a:rPr>
              <a:t>User-defined constraint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749505" y="1485611"/>
            <a:ext cx="7955280" cy="1611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tIns="18288" rIns="18288" bIns="18288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284163" lvl="1" indent="-284163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SG" sz="2000" dirty="0">
                <a:solidFill>
                  <a:srgbClr val="FFFF00"/>
                </a:solidFill>
                <a:latin typeface="+mn-lt"/>
              </a:rPr>
              <a:t>A user-defined constraint defined a set of values (for field name, field length or data type) permitted for an attribute.</a:t>
            </a:r>
          </a:p>
          <a:p>
            <a:pPr marL="284163" lvl="1" indent="-284163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SG" sz="2000" dirty="0">
                <a:solidFill>
                  <a:srgbClr val="FFFF00"/>
                </a:solidFill>
                <a:latin typeface="+mn-lt"/>
              </a:rPr>
              <a:t>For example, a domain of age to be set as a whole number between 16 and 35. A domain of deposit in a bank account is set to accept positive  numbers only (e.g. cannot accept entry of -$10).</a:t>
            </a:r>
            <a:endParaRPr lang="en-US" sz="2000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 bwMode="auto">
          <a:xfrm>
            <a:off x="709613" y="369705"/>
            <a:ext cx="4891330" cy="56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36000" tIns="36000" rIns="36000" bIns="36000" numCol="1" anchor="t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en-GB" altLang="en-US" sz="32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Other Relational Constraints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9503" t="39583" r="47071" b="34375"/>
          <a:stretch/>
        </p:blipFill>
        <p:spPr>
          <a:xfrm>
            <a:off x="4852416" y="4648200"/>
            <a:ext cx="3072384" cy="19202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28331" t="11459" r="34187" b="69791"/>
          <a:stretch/>
        </p:blipFill>
        <p:spPr>
          <a:xfrm>
            <a:off x="1221376" y="3029496"/>
            <a:ext cx="4876800" cy="1371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/>
          <a:srcRect l="29503" t="12500" r="47071" b="62500"/>
          <a:stretch/>
        </p:blipFill>
        <p:spPr>
          <a:xfrm>
            <a:off x="1257602" y="4620718"/>
            <a:ext cx="3200400" cy="19202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49770"/>
            <a:ext cx="6090954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Different Types of database models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25" name="Rectangle 9"/>
          <p:cNvSpPr>
            <a:spLocks noChangeArrowheads="1"/>
          </p:cNvSpPr>
          <p:nvPr/>
        </p:nvSpPr>
        <p:spPr bwMode="auto">
          <a:xfrm>
            <a:off x="685800" y="1201738"/>
            <a:ext cx="7772400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73050" indent="-2730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  <a:defRPr/>
            </a:pPr>
            <a:r>
              <a:rPr lang="en-SG" altLang="en-US" sz="2400" dirty="0">
                <a:solidFill>
                  <a:schemeClr val="bg1"/>
                </a:solidFill>
              </a:rPr>
              <a:t>Database systems can be based on different (data) database models. A </a:t>
            </a:r>
            <a:r>
              <a:rPr lang="en-SG" altLang="en-US" sz="2400" b="1" dirty="0">
                <a:solidFill>
                  <a:schemeClr val="bg1"/>
                </a:solidFill>
              </a:rPr>
              <a:t>database model</a:t>
            </a:r>
            <a:r>
              <a:rPr lang="en-SG" altLang="en-US" sz="2400" dirty="0">
                <a:solidFill>
                  <a:schemeClr val="bg1"/>
                </a:solidFill>
              </a:rPr>
              <a:t> is a collection of </a:t>
            </a:r>
            <a:r>
              <a:rPr lang="en-SG" altLang="en-US" sz="2400" u="sng" dirty="0">
                <a:solidFill>
                  <a:schemeClr val="bg1"/>
                </a:solidFill>
              </a:rPr>
              <a:t>concepts</a:t>
            </a:r>
            <a:r>
              <a:rPr lang="en-SG" altLang="en-US" sz="2400" dirty="0">
                <a:solidFill>
                  <a:schemeClr val="bg1"/>
                </a:solidFill>
              </a:rPr>
              <a:t> and </a:t>
            </a:r>
            <a:r>
              <a:rPr lang="en-SG" altLang="en-US" sz="2400" u="sng" dirty="0">
                <a:solidFill>
                  <a:schemeClr val="bg1"/>
                </a:solidFill>
              </a:rPr>
              <a:t>rules</a:t>
            </a:r>
            <a:r>
              <a:rPr lang="en-SG" altLang="en-US" sz="2400" dirty="0">
                <a:solidFill>
                  <a:schemeClr val="bg1"/>
                </a:solidFill>
              </a:rPr>
              <a:t> for the description of the database structure;</a:t>
            </a:r>
          </a:p>
          <a:p>
            <a:pPr marL="271463" indent="0"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SG" altLang="en-US" sz="2000" dirty="0">
                <a:solidFill>
                  <a:schemeClr val="bg1"/>
                </a:solidFill>
              </a:rPr>
              <a:t> </a:t>
            </a:r>
            <a:r>
              <a:rPr lang="en-SG" altLang="en-US" sz="2000" dirty="0">
                <a:solidFill>
                  <a:srgbClr val="FFFF00"/>
                </a:solidFill>
              </a:rPr>
              <a:t>i.e. the data types, the constraints and the relationships for the description or storage of data. </a:t>
            </a:r>
            <a:r>
              <a:rPr lang="en-SG" altLang="en-US" sz="2000" dirty="0">
                <a:solidFill>
                  <a:srgbClr val="FFC000"/>
                </a:solidFill>
              </a:rPr>
              <a:t>(data- stored, organized, manipulated). </a:t>
            </a:r>
          </a:p>
        </p:txBody>
      </p:sp>
      <p:sp>
        <p:nvSpPr>
          <p:cNvPr id="33797" name="Rectangle 1">
            <a:hlinkClick r:id="rId3"/>
          </p:cNvPr>
          <p:cNvSpPr>
            <a:spLocks noChangeArrowheads="1"/>
          </p:cNvSpPr>
          <p:nvPr/>
        </p:nvSpPr>
        <p:spPr bwMode="auto">
          <a:xfrm>
            <a:off x="1828800" y="6511925"/>
            <a:ext cx="533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1400" dirty="0">
                <a:solidFill>
                  <a:srgbClr val="FFFF00"/>
                </a:solidFill>
              </a:rPr>
              <a:t>Reference video: https://www.youtube.com/watch?v=FR4QIeZaPeM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05200"/>
            <a:ext cx="6256338" cy="441325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GB" sz="2400" b="1" dirty="0">
                <a:solidFill>
                  <a:schemeClr val="bg1"/>
                </a:solidFill>
                <a:latin typeface="+mn-lt"/>
              </a:rPr>
              <a:t>The Commonly Used Database Models include:</a:t>
            </a:r>
            <a:endParaRPr lang="en-US" sz="2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913188"/>
            <a:ext cx="6096000" cy="2173287"/>
          </a:xfrm>
          <a:prstGeom prst="rect">
            <a:avLst/>
          </a:prstGeom>
        </p:spPr>
        <p:txBody>
          <a:bodyPr lIns="9144" tIns="9144" rIns="9144" bIns="9144">
            <a:spAutoFit/>
          </a:bodyPr>
          <a:lstStyle/>
          <a:p>
            <a:pPr marL="228600" indent="-2286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Hierarchical database model</a:t>
            </a:r>
          </a:p>
          <a:p>
            <a:pPr marL="228600" indent="-2286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Network model</a:t>
            </a:r>
          </a:p>
          <a:p>
            <a:pPr marL="228600" indent="-2286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Relational model</a:t>
            </a:r>
          </a:p>
          <a:p>
            <a:pPr marL="228600" indent="-2286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Object-Oriented model</a:t>
            </a:r>
            <a:r>
              <a:rPr lang="en-US" sz="20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 </a:t>
            </a:r>
          </a:p>
          <a:p>
            <a:pPr marL="228600" indent="-2286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Entity-Relationship model</a:t>
            </a:r>
          </a:p>
          <a:p>
            <a:pPr marL="228600" indent="-228600" eaLnBrk="1" hangingPunct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Others</a:t>
            </a:r>
            <a:endParaRPr lang="en-US" sz="2400" dirty="0">
              <a:solidFill>
                <a:schemeClr val="bg1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29000" y="4670425"/>
            <a:ext cx="4210050" cy="349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SG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Model and produce </a:t>
            </a:r>
            <a:r>
              <a:rPr lang="en-SG" dirty="0">
                <a:solidFill>
                  <a:srgbClr val="FF0000"/>
                </a:solidFill>
                <a:latin typeface="Calibri" panose="020F0502020204030204" pitchFamily="34" charset="0"/>
              </a:rPr>
              <a:t>a relational database</a:t>
            </a:r>
          </a:p>
        </p:txBody>
      </p:sp>
      <p:sp>
        <p:nvSpPr>
          <p:cNvPr id="2" name="Rectangle 1">
            <a:hlinkClick r:id="rId4"/>
          </p:cNvPr>
          <p:cNvSpPr/>
          <p:nvPr/>
        </p:nvSpPr>
        <p:spPr>
          <a:xfrm>
            <a:off x="1295400" y="6204148"/>
            <a:ext cx="72237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Reference source: https://www.lucidchart.com/pages/database-diagram/database-models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 txBox="1">
            <a:spLocks noChangeArrowheads="1"/>
          </p:cNvSpPr>
          <p:nvPr/>
        </p:nvSpPr>
        <p:spPr bwMode="auto">
          <a:xfrm>
            <a:off x="3722688" y="465138"/>
            <a:ext cx="336232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chemeClr val="bg1"/>
                </a:solidFill>
                <a:cs typeface="Times New Roman" panose="02020603050405020304" pitchFamily="18" charset="0"/>
              </a:rPr>
              <a:t>- Object-Relational Model</a:t>
            </a:r>
          </a:p>
        </p:txBody>
      </p:sp>
      <p:sp>
        <p:nvSpPr>
          <p:cNvPr id="37891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74650"/>
            <a:ext cx="3025775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Database Models</a:t>
            </a:r>
            <a:endParaRPr lang="en-US" altLang="en-US" sz="3200" b="1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789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34" t="47844" r="17187" b="20052"/>
          <a:stretch/>
        </p:blipFill>
        <p:spPr bwMode="auto">
          <a:xfrm>
            <a:off x="914400" y="1114425"/>
            <a:ext cx="6019800" cy="2446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8" t="37402" r="40195" b="12572"/>
          <a:stretch>
            <a:fillRect/>
          </a:stretch>
        </p:blipFill>
        <p:spPr bwMode="auto">
          <a:xfrm>
            <a:off x="992188" y="3735388"/>
            <a:ext cx="5461000" cy="3091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553200" y="4114800"/>
            <a:ext cx="2377440" cy="1057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SG" sz="1600" dirty="0">
                <a:solidFill>
                  <a:srgbClr val="FF0000"/>
                </a:solidFill>
                <a:latin typeface="Calibri" panose="020F0502020204030204" pitchFamily="34" charset="0"/>
              </a:rPr>
              <a:t>similar to a relational database, but with an object-oriented database model: objects, classes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 txBox="1">
            <a:spLocks noChangeArrowheads="1"/>
          </p:cNvSpPr>
          <p:nvPr/>
        </p:nvSpPr>
        <p:spPr bwMode="auto">
          <a:xfrm>
            <a:off x="3722688" y="465138"/>
            <a:ext cx="3645156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- Entity-Relationship Model</a:t>
            </a:r>
          </a:p>
        </p:txBody>
      </p:sp>
      <p:sp>
        <p:nvSpPr>
          <p:cNvPr id="37891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74650"/>
            <a:ext cx="3025775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Database Models</a:t>
            </a:r>
            <a:endParaRPr lang="en-US" altLang="en-US" sz="3200" b="1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34000" y="1985068"/>
            <a:ext cx="2377440" cy="5651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SG" sz="1600" dirty="0">
                <a:solidFill>
                  <a:srgbClr val="FF0000"/>
                </a:solidFill>
                <a:latin typeface="Calibri" panose="020F0502020204030204" pitchFamily="34" charset="0"/>
              </a:rPr>
              <a:t>Another commonly used database model 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6" t="44571" r="46039" b="12148"/>
          <a:stretch>
            <a:fillRect/>
          </a:stretch>
        </p:blipFill>
        <p:spPr bwMode="auto">
          <a:xfrm>
            <a:off x="698292" y="1227957"/>
            <a:ext cx="43021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92" t="37560" r="51007" b="12883"/>
          <a:stretch>
            <a:fillRect/>
          </a:stretch>
        </p:blipFill>
        <p:spPr bwMode="auto">
          <a:xfrm>
            <a:off x="5072869" y="3276600"/>
            <a:ext cx="365760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6915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 txBox="1">
            <a:spLocks noChangeArrowheads="1"/>
          </p:cNvSpPr>
          <p:nvPr/>
        </p:nvSpPr>
        <p:spPr bwMode="auto">
          <a:xfrm>
            <a:off x="3716338" y="458788"/>
            <a:ext cx="2840320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- Relational database</a:t>
            </a:r>
          </a:p>
        </p:txBody>
      </p:sp>
      <p:sp>
        <p:nvSpPr>
          <p:cNvPr id="36867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74650"/>
            <a:ext cx="2953107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Review Question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198579"/>
              </p:ext>
            </p:extLst>
          </p:nvPr>
        </p:nvGraphicFramePr>
        <p:xfrm>
          <a:off x="762000" y="1219200"/>
          <a:ext cx="6019800" cy="1706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68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556693849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>
                          <a:solidFill>
                            <a:schemeClr val="bg1"/>
                          </a:solidFill>
                        </a:rPr>
                        <a:t>ProductID</a:t>
                      </a:r>
                      <a:endParaRPr lang="en-SG" sz="1800" dirty="0">
                        <a:solidFill>
                          <a:schemeClr val="bg1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rgbClr val="FFFF00"/>
                          </a:solidFill>
                        </a:rPr>
                        <a:t>ProductName</a:t>
                      </a:r>
                      <a:endParaRPr lang="en-SG" sz="16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rgbClr val="FFFF00"/>
                          </a:solidFill>
                        </a:rPr>
                        <a:t>UnitPrice</a:t>
                      </a:r>
                      <a:endParaRPr lang="en-SG" sz="16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FF00"/>
                          </a:solidFill>
                        </a:rPr>
                        <a:t>Supplier</a:t>
                      </a:r>
                      <a:endParaRPr lang="en-SG" sz="16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>
                          <a:solidFill>
                            <a:srgbClr val="FFFF00"/>
                          </a:solidFill>
                        </a:rPr>
                        <a:t>DateIn</a:t>
                      </a:r>
                      <a:endParaRPr lang="en-SG" sz="16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HWP-10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aseline="0" dirty="0"/>
                        <a:t>Smart Phone HW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$1,148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Hang</a:t>
                      </a:r>
                      <a:r>
                        <a:rPr lang="en-GB" sz="1600" baseline="0" dirty="0"/>
                        <a:t> Wei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15-Apr</a:t>
                      </a: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SSP-9E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Smart Phone SS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$1,268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 err="1"/>
                        <a:t>JinSung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15-Apr</a:t>
                      </a: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Batt-36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Battery</a:t>
                      </a:r>
                      <a:r>
                        <a:rPr lang="en-GB" sz="1600" baseline="0" dirty="0"/>
                        <a:t> SS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$128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/>
                        <a:t>JinSung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18-Apr</a:t>
                      </a: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CHG-45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Charger S45</a:t>
                      </a:r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$108</a:t>
                      </a:r>
                      <a:endParaRPr lang="en-SG" sz="16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Hang</a:t>
                      </a:r>
                      <a:r>
                        <a:rPr lang="en-GB" sz="1600" baseline="0" dirty="0"/>
                        <a:t> Wei</a:t>
                      </a:r>
                      <a:endParaRPr lang="en-SG" sz="16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20-Apr</a:t>
                      </a: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797974"/>
              </p:ext>
            </p:extLst>
          </p:nvPr>
        </p:nvGraphicFramePr>
        <p:xfrm>
          <a:off x="685800" y="3258312"/>
          <a:ext cx="789856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69">
                  <a:extLst>
                    <a:ext uri="{9D8B030D-6E8A-4147-A177-3AD203B41FA5}">
                      <a16:colId xmlns:a16="http://schemas.microsoft.com/office/drawing/2014/main" val="2787538029"/>
                    </a:ext>
                  </a:extLst>
                </a:gridCol>
                <a:gridCol w="4522031">
                  <a:extLst>
                    <a:ext uri="{9D8B030D-6E8A-4147-A177-3AD203B41FA5}">
                      <a16:colId xmlns:a16="http://schemas.microsoft.com/office/drawing/2014/main" val="245770413"/>
                    </a:ext>
                  </a:extLst>
                </a:gridCol>
                <a:gridCol w="3097968">
                  <a:extLst>
                    <a:ext uri="{9D8B030D-6E8A-4147-A177-3AD203B41FA5}">
                      <a16:colId xmlns:a16="http://schemas.microsoft.com/office/drawing/2014/main" val="2718210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Questions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r>
                        <a:rPr lang="en-SG" sz="2000" dirty="0"/>
                        <a:t>Answer</a:t>
                      </a:r>
                      <a:endParaRPr lang="en-US" sz="2000" dirty="0"/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412445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1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Number of rows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2218008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2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Number of columns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2066148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3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One column name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226987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4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Field</a:t>
                      </a:r>
                      <a:r>
                        <a:rPr lang="en-SG" sz="2400" baseline="0" dirty="0"/>
                        <a:t> length (size) of ‘</a:t>
                      </a:r>
                      <a:r>
                        <a:rPr lang="en-SG" sz="2400" baseline="0" dirty="0" err="1"/>
                        <a:t>ProductName</a:t>
                      </a:r>
                      <a:r>
                        <a:rPr lang="en-SG" sz="2400" baseline="0" dirty="0"/>
                        <a:t>’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19237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5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Data type/field length of ‘Supplier’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396114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6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Domain of ‘</a:t>
                      </a:r>
                      <a:r>
                        <a:rPr lang="en-SG" sz="2400" dirty="0" err="1"/>
                        <a:t>ProductID</a:t>
                      </a:r>
                      <a:r>
                        <a:rPr lang="en-SG" sz="2400" dirty="0"/>
                        <a:t>’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33385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7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One record of “PRODUCT”</a:t>
                      </a:r>
                      <a:endParaRPr lang="en-US" sz="2400" dirty="0"/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465784190"/>
                  </a:ext>
                </a:extLst>
              </a:tr>
            </a:tbl>
          </a:graphicData>
        </a:graphic>
      </p:graphicFrame>
      <p:sp>
        <p:nvSpPr>
          <p:cNvPr id="16" name="Subtitle 2"/>
          <p:cNvSpPr txBox="1">
            <a:spLocks/>
          </p:cNvSpPr>
          <p:nvPr/>
        </p:nvSpPr>
        <p:spPr bwMode="auto">
          <a:xfrm>
            <a:off x="6858000" y="1305914"/>
            <a:ext cx="1738874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Table: PRODUCT</a:t>
            </a:r>
          </a:p>
        </p:txBody>
      </p:sp>
      <p:sp>
        <p:nvSpPr>
          <p:cNvPr id="17" name="Subtitle 2"/>
          <p:cNvSpPr txBox="1">
            <a:spLocks/>
          </p:cNvSpPr>
          <p:nvPr/>
        </p:nvSpPr>
        <p:spPr bwMode="auto">
          <a:xfrm>
            <a:off x="5597845" y="4463924"/>
            <a:ext cx="1503745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dirty="0" err="1">
                <a:solidFill>
                  <a:srgbClr val="C00000"/>
                </a:solidFill>
                <a:cs typeface="Times New Roman" panose="02020603050405020304" pitchFamily="18" charset="0"/>
              </a:rPr>
              <a:t>ProductName</a:t>
            </a:r>
            <a:endParaRPr lang="en-GB" altLang="en-US" sz="20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 bwMode="auto">
          <a:xfrm>
            <a:off x="5608820" y="3663910"/>
            <a:ext cx="166777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" name="Subtitle 2"/>
          <p:cNvSpPr txBox="1">
            <a:spLocks/>
          </p:cNvSpPr>
          <p:nvPr/>
        </p:nvSpPr>
        <p:spPr bwMode="auto">
          <a:xfrm>
            <a:off x="5611320" y="4121110"/>
            <a:ext cx="166777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9" name="Subtitle 2"/>
          <p:cNvSpPr txBox="1">
            <a:spLocks/>
          </p:cNvSpPr>
          <p:nvPr/>
        </p:nvSpPr>
        <p:spPr bwMode="auto">
          <a:xfrm>
            <a:off x="5610069" y="4881860"/>
            <a:ext cx="296620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20" name="Subtitle 2"/>
          <p:cNvSpPr txBox="1">
            <a:spLocks/>
          </p:cNvSpPr>
          <p:nvPr/>
        </p:nvSpPr>
        <p:spPr bwMode="auto">
          <a:xfrm>
            <a:off x="5612569" y="5294090"/>
            <a:ext cx="1402500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Varchar2(30)</a:t>
            </a:r>
          </a:p>
        </p:txBody>
      </p:sp>
      <p:sp>
        <p:nvSpPr>
          <p:cNvPr id="21" name="Subtitle 2"/>
          <p:cNvSpPr txBox="1">
            <a:spLocks/>
          </p:cNvSpPr>
          <p:nvPr/>
        </p:nvSpPr>
        <p:spPr bwMode="auto">
          <a:xfrm>
            <a:off x="3815412" y="5705070"/>
            <a:ext cx="5303520" cy="344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Field </a:t>
            </a:r>
            <a:r>
              <a:rPr lang="en-GB" altLang="en-US" sz="2000" b="1" dirty="0" err="1">
                <a:solidFill>
                  <a:srgbClr val="C00000"/>
                </a:solidFill>
                <a:cs typeface="Times New Roman" panose="02020603050405020304" pitchFamily="18" charset="0"/>
              </a:rPr>
              <a:t>name:</a:t>
            </a:r>
            <a:r>
              <a:rPr lang="en-GB" altLang="en-US" sz="2000" dirty="0" err="1">
                <a:solidFill>
                  <a:srgbClr val="C00000"/>
                </a:solidFill>
                <a:cs typeface="Times New Roman" panose="02020603050405020304" pitchFamily="18" charset="0"/>
              </a:rPr>
              <a:t>ProductID</a:t>
            </a:r>
            <a:r>
              <a:rPr lang="en-GB" altLang="en-US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, Field size: </a:t>
            </a:r>
            <a:r>
              <a:rPr lang="en-GB" altLang="en-US" sz="2000" dirty="0">
                <a:solidFill>
                  <a:srgbClr val="C00000"/>
                </a:solidFill>
                <a:cs typeface="Times New Roman" panose="02020603050405020304" pitchFamily="18" charset="0"/>
              </a:rPr>
              <a:t>6</a:t>
            </a:r>
            <a:r>
              <a:rPr lang="en-GB" altLang="en-US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, Data type: </a:t>
            </a:r>
            <a:r>
              <a:rPr lang="en-GB" altLang="en-US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Text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46554"/>
              </p:ext>
            </p:extLst>
          </p:nvPr>
        </p:nvGraphicFramePr>
        <p:xfrm>
          <a:off x="4343400" y="6096000"/>
          <a:ext cx="4572000" cy="335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26017195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29276935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911846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70113802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779060338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Batt-36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Battery</a:t>
                      </a:r>
                      <a:r>
                        <a:rPr lang="en-GB" sz="1600" b="0" baseline="0" dirty="0">
                          <a:solidFill>
                            <a:schemeClr val="tx1"/>
                          </a:solidFill>
                        </a:rPr>
                        <a:t> SS</a:t>
                      </a:r>
                      <a:endParaRPr lang="en-SG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$128</a:t>
                      </a:r>
                      <a:endParaRPr lang="en-SG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err="1">
                          <a:solidFill>
                            <a:schemeClr val="tx1"/>
                          </a:solidFill>
                        </a:rPr>
                        <a:t>JinSung</a:t>
                      </a:r>
                      <a:endParaRPr lang="en-SG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0" dirty="0">
                          <a:solidFill>
                            <a:schemeClr val="tx1"/>
                          </a:solidFill>
                        </a:rPr>
                        <a:t>18-Apr</a:t>
                      </a: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1784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4" grpId="0"/>
      <p:bldP spid="18" grpId="0"/>
      <p:bldP spid="19" grpId="0"/>
      <p:bldP spid="20" grpId="0"/>
      <p:bldP spid="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 txBox="1">
            <a:spLocks noChangeArrowheads="1"/>
          </p:cNvSpPr>
          <p:nvPr/>
        </p:nvSpPr>
        <p:spPr bwMode="auto">
          <a:xfrm>
            <a:off x="3716338" y="458788"/>
            <a:ext cx="2840320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- Relational database</a:t>
            </a:r>
          </a:p>
        </p:txBody>
      </p:sp>
      <p:sp>
        <p:nvSpPr>
          <p:cNvPr id="36867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74650"/>
            <a:ext cx="2953107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Review Question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355064"/>
              </p:ext>
            </p:extLst>
          </p:nvPr>
        </p:nvGraphicFramePr>
        <p:xfrm>
          <a:off x="1142999" y="4571992"/>
          <a:ext cx="6248401" cy="17068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24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SupplierName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SuppAddr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Country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Contact</a:t>
                      </a:r>
                      <a:endParaRPr lang="en-SG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AMD-chip</a:t>
                      </a:r>
                      <a:endParaRPr lang="en-SG" sz="16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8, </a:t>
                      </a:r>
                      <a:r>
                        <a:rPr lang="en-GB" sz="1600" dirty="0" err="1"/>
                        <a:t>Woodlane</a:t>
                      </a:r>
                      <a:r>
                        <a:rPr lang="en-GB" sz="1600" baseline="0" dirty="0"/>
                        <a:t> Ave 2</a:t>
                      </a:r>
                      <a:endParaRPr lang="en-SG" sz="16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Singapore</a:t>
                      </a:r>
                      <a:endParaRPr lang="en-SG" sz="16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James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/>
                        <a:t>Hang_Wei</a:t>
                      </a:r>
                      <a:endParaRPr lang="en-SG" sz="16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aseline="0" dirty="0"/>
                        <a:t>1, West Lake, Hangzhou</a:t>
                      </a:r>
                      <a:endParaRPr lang="en-SG" sz="16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PRC</a:t>
                      </a:r>
                      <a:endParaRPr lang="en-SG" sz="16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Xu</a:t>
                      </a:r>
                      <a:r>
                        <a:rPr lang="en-GB" sz="1600" baseline="0" dirty="0">
                          <a:solidFill>
                            <a:schemeClr val="tx1"/>
                          </a:solidFill>
                        </a:rPr>
                        <a:t> Pin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/>
                        <a:t>Jin_Sung</a:t>
                      </a:r>
                      <a:endParaRPr lang="en-SG" sz="16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5,</a:t>
                      </a:r>
                      <a:r>
                        <a:rPr lang="en-GB" sz="1600" baseline="0" dirty="0"/>
                        <a:t> Kim Ji Road, </a:t>
                      </a:r>
                      <a:r>
                        <a:rPr lang="en-GB" sz="1600" baseline="0" dirty="0" err="1"/>
                        <a:t>Fushan</a:t>
                      </a:r>
                      <a:endParaRPr lang="en-SG" sz="16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Korean</a:t>
                      </a:r>
                      <a:endParaRPr lang="en-SG" sz="1600" dirty="0"/>
                    </a:p>
                  </a:txBody>
                  <a:tcPr marL="91435" marR="91435"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Kim</a:t>
                      </a:r>
                      <a:r>
                        <a:rPr lang="en-GB" sz="16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1600" baseline="0" dirty="0" err="1">
                          <a:solidFill>
                            <a:schemeClr val="tx1"/>
                          </a:solidFill>
                        </a:rPr>
                        <a:t>En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/>
                        <a:t>Yu_Polymer</a:t>
                      </a:r>
                      <a:endParaRPr lang="en-SG" sz="1600" dirty="0"/>
                    </a:p>
                  </a:txBody>
                  <a:tcPr marL="91435" marR="91435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6, </a:t>
                      </a:r>
                      <a:r>
                        <a:rPr lang="en-SG" sz="1600" dirty="0" err="1"/>
                        <a:t>Jalan</a:t>
                      </a:r>
                      <a:r>
                        <a:rPr lang="en-SG" sz="1600" baseline="0" dirty="0"/>
                        <a:t> </a:t>
                      </a:r>
                      <a:r>
                        <a:rPr lang="en-SG" sz="1600" baseline="0" dirty="0" err="1"/>
                        <a:t>Pemjuru</a:t>
                      </a:r>
                      <a:endParaRPr lang="en-SG" sz="1600" dirty="0"/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Singapore</a:t>
                      </a:r>
                    </a:p>
                  </a:txBody>
                  <a:tcPr marL="91435" marR="91435" marT="45721" marB="4572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Joseph</a:t>
                      </a:r>
                    </a:p>
                  </a:txBody>
                  <a:tcPr marL="91435" marR="91435" marT="45721" marB="4572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620607"/>
                  </a:ext>
                </a:extLst>
              </a:tr>
            </a:tbl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181600" y="2971799"/>
            <a:ext cx="473784" cy="363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(FK)</a:t>
            </a:r>
            <a:endParaRPr lang="en-US" altLang="en-US" sz="20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Group 11"/>
          <p:cNvGrpSpPr>
            <a:grpSpLocks/>
          </p:cNvGrpSpPr>
          <p:nvPr/>
        </p:nvGrpSpPr>
        <p:grpSpPr bwMode="auto">
          <a:xfrm>
            <a:off x="1814307" y="3124201"/>
            <a:ext cx="3401567" cy="1280409"/>
            <a:chOff x="1646208" y="4091102"/>
            <a:chExt cx="3401084" cy="1280288"/>
          </a:xfrm>
        </p:grpSpPr>
        <p:sp>
          <p:nvSpPr>
            <p:cNvPr id="10" name="Text Box 18"/>
            <p:cNvSpPr txBox="1">
              <a:spLocks noChangeArrowheads="1"/>
            </p:cNvSpPr>
            <p:nvPr/>
          </p:nvSpPr>
          <p:spPr bwMode="auto">
            <a:xfrm>
              <a:off x="3032920" y="4819231"/>
              <a:ext cx="137058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(Relationship)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1660700" y="4822803"/>
              <a:ext cx="0" cy="548587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5028001" y="4091102"/>
              <a:ext cx="0" cy="731449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1646208" y="4818095"/>
              <a:ext cx="3401084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259580" y="4191000"/>
            <a:ext cx="493020" cy="363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(PK)</a:t>
            </a:r>
            <a:endParaRPr lang="en-US" altLang="en-US" sz="20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419639"/>
              </p:ext>
            </p:extLst>
          </p:nvPr>
        </p:nvGraphicFramePr>
        <p:xfrm>
          <a:off x="762000" y="1219200"/>
          <a:ext cx="6019800" cy="1706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68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556693849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>
                          <a:solidFill>
                            <a:schemeClr val="bg1"/>
                          </a:solidFill>
                        </a:rPr>
                        <a:t>ProductID</a:t>
                      </a:r>
                      <a:endParaRPr lang="en-SG" sz="1800" dirty="0">
                        <a:solidFill>
                          <a:schemeClr val="bg1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rgbClr val="FFFF00"/>
                          </a:solidFill>
                        </a:rPr>
                        <a:t>ProductName</a:t>
                      </a:r>
                      <a:endParaRPr lang="en-SG" sz="16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rgbClr val="FFFF00"/>
                          </a:solidFill>
                        </a:rPr>
                        <a:t>UnitPrice</a:t>
                      </a:r>
                      <a:endParaRPr lang="en-SG" sz="16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FF00"/>
                          </a:solidFill>
                        </a:rPr>
                        <a:t>Supplier</a:t>
                      </a:r>
                      <a:endParaRPr lang="en-SG" sz="16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>
                          <a:solidFill>
                            <a:srgbClr val="FFFF00"/>
                          </a:solidFill>
                        </a:rPr>
                        <a:t>DateIn</a:t>
                      </a:r>
                      <a:endParaRPr lang="en-SG" sz="1600" dirty="0">
                        <a:solidFill>
                          <a:srgbClr val="FFFF00"/>
                        </a:solidFill>
                      </a:endParaRP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HWP-10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aseline="0" dirty="0"/>
                        <a:t>Smart Phone HW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$1,148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/>
                        <a:t>Hang</a:t>
                      </a:r>
                      <a:r>
                        <a:rPr lang="en-GB" sz="1600" baseline="0" dirty="0" err="1"/>
                        <a:t>_Wei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15-Apr</a:t>
                      </a: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SSP-9E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Smart Phone SS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$1,268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 err="1"/>
                        <a:t>Jin_Sung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15-Apr</a:t>
                      </a: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Batt-36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Battery</a:t>
                      </a:r>
                      <a:r>
                        <a:rPr lang="en-GB" sz="1600" baseline="0" dirty="0"/>
                        <a:t> SS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$128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/>
                        <a:t>Jin_Sung</a:t>
                      </a:r>
                      <a:endParaRPr lang="en-SG" sz="1600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18-Apr</a:t>
                      </a: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CHG-45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6" marR="914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Charger S45</a:t>
                      </a:r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$108</a:t>
                      </a:r>
                      <a:endParaRPr lang="en-SG" sz="16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/>
                        <a:t>Hang</a:t>
                      </a:r>
                      <a:r>
                        <a:rPr lang="en-GB" sz="1600" baseline="0" dirty="0" err="1"/>
                        <a:t>_Wei</a:t>
                      </a:r>
                      <a:endParaRPr lang="en-SG" sz="1600" dirty="0"/>
                    </a:p>
                  </a:txBody>
                  <a:tcPr marL="91436" marR="91436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20-Apr</a:t>
                      </a:r>
                    </a:p>
                  </a:txBody>
                  <a:tcPr marL="91436" marR="9143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ubtitle 2"/>
          <p:cNvSpPr txBox="1">
            <a:spLocks/>
          </p:cNvSpPr>
          <p:nvPr/>
        </p:nvSpPr>
        <p:spPr bwMode="auto">
          <a:xfrm>
            <a:off x="6858000" y="1305914"/>
            <a:ext cx="1738874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Table: PRODUCT</a:t>
            </a:r>
          </a:p>
        </p:txBody>
      </p:sp>
      <p:sp>
        <p:nvSpPr>
          <p:cNvPr id="16" name="Subtitle 2"/>
          <p:cNvSpPr txBox="1">
            <a:spLocks/>
          </p:cNvSpPr>
          <p:nvPr/>
        </p:nvSpPr>
        <p:spPr bwMode="auto">
          <a:xfrm>
            <a:off x="6781800" y="4151090"/>
            <a:ext cx="1700017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Table: SUPPLIER</a:t>
            </a:r>
          </a:p>
        </p:txBody>
      </p:sp>
      <p:sp>
        <p:nvSpPr>
          <p:cNvPr id="17" name="Subtitle 2"/>
          <p:cNvSpPr txBox="1">
            <a:spLocks/>
          </p:cNvSpPr>
          <p:nvPr/>
        </p:nvSpPr>
        <p:spPr bwMode="auto">
          <a:xfrm>
            <a:off x="944870" y="3060400"/>
            <a:ext cx="1428020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Foreign Key : </a:t>
            </a:r>
          </a:p>
        </p:txBody>
      </p:sp>
      <p:sp>
        <p:nvSpPr>
          <p:cNvPr id="18" name="Subtitle 2"/>
          <p:cNvSpPr txBox="1">
            <a:spLocks/>
          </p:cNvSpPr>
          <p:nvPr/>
        </p:nvSpPr>
        <p:spPr bwMode="auto">
          <a:xfrm>
            <a:off x="950675" y="3465290"/>
            <a:ext cx="1466684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Primary Key : </a:t>
            </a:r>
          </a:p>
        </p:txBody>
      </p:sp>
    </p:spTree>
    <p:extLst>
      <p:ext uri="{BB962C8B-B14F-4D97-AF65-F5344CB8AC3E}">
        <p14:creationId xmlns:p14="http://schemas.microsoft.com/office/powerpoint/2010/main" val="43291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 txBox="1">
            <a:spLocks noChangeArrowheads="1"/>
          </p:cNvSpPr>
          <p:nvPr/>
        </p:nvSpPr>
        <p:spPr bwMode="auto">
          <a:xfrm>
            <a:off x="3709988" y="457200"/>
            <a:ext cx="4211637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- Relational Keys</a:t>
            </a:r>
          </a:p>
        </p:txBody>
      </p:sp>
      <p:sp>
        <p:nvSpPr>
          <p:cNvPr id="35843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74650"/>
            <a:ext cx="2953107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Review Question</a:t>
            </a:r>
            <a:endParaRPr lang="en-US" altLang="en-US" sz="32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 bwMode="auto">
          <a:xfrm>
            <a:off x="762000" y="1219200"/>
            <a:ext cx="6448625" cy="40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STUDENT( </a:t>
            </a:r>
            <a:r>
              <a:rPr lang="en-GB" altLang="en-US" sz="2400" u="sng" dirty="0" err="1">
                <a:solidFill>
                  <a:srgbClr val="FFFF00"/>
                </a:solidFill>
                <a:cs typeface="Times New Roman" panose="02020603050405020304" pitchFamily="18" charset="0"/>
              </a:rPr>
              <a:t>AdminNo</a:t>
            </a: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, Name, Age, Gender, Course)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 bwMode="auto">
          <a:xfrm>
            <a:off x="762000" y="3098935"/>
            <a:ext cx="7796814" cy="40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WITHDRAWAL( </a:t>
            </a:r>
            <a:r>
              <a:rPr lang="en-GB" altLang="en-US" sz="2400" u="sng" dirty="0" err="1">
                <a:solidFill>
                  <a:srgbClr val="FFFF00"/>
                </a:solidFill>
                <a:cs typeface="Times New Roman" panose="02020603050405020304" pitchFamily="18" charset="0"/>
              </a:rPr>
              <a:t>ATMNo</a:t>
            </a: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, </a:t>
            </a:r>
            <a:r>
              <a:rPr lang="en-GB" altLang="en-US" sz="2400" u="sng" dirty="0">
                <a:solidFill>
                  <a:srgbClr val="FFFF00"/>
                </a:solidFill>
                <a:cs typeface="Times New Roman" panose="02020603050405020304" pitchFamily="18" charset="0"/>
              </a:rPr>
              <a:t>Location</a:t>
            </a: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, Date, Time, Amount, User)</a:t>
            </a:r>
          </a:p>
        </p:txBody>
      </p:sp>
      <p:sp>
        <p:nvSpPr>
          <p:cNvPr id="13" name="Subtitle 2"/>
          <p:cNvSpPr txBox="1">
            <a:spLocks/>
          </p:cNvSpPr>
          <p:nvPr/>
        </p:nvSpPr>
        <p:spPr bwMode="auto">
          <a:xfrm>
            <a:off x="762000" y="4927735"/>
            <a:ext cx="5911555" cy="40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RESULT( </a:t>
            </a:r>
            <a:r>
              <a:rPr lang="en-GB" altLang="en-US" sz="2400" u="sng" dirty="0" err="1">
                <a:solidFill>
                  <a:srgbClr val="FFFF00"/>
                </a:solidFill>
                <a:cs typeface="Times New Roman" panose="02020603050405020304" pitchFamily="18" charset="0"/>
              </a:rPr>
              <a:t>ANumber</a:t>
            </a: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, </a:t>
            </a:r>
            <a:r>
              <a:rPr lang="en-GB" altLang="en-US" sz="2400" dirty="0" err="1">
                <a:solidFill>
                  <a:schemeClr val="bg1"/>
                </a:solidFill>
                <a:cs typeface="Times New Roman" panose="02020603050405020304" pitchFamily="18" charset="0"/>
              </a:rPr>
              <a:t>AdminNo</a:t>
            </a: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, </a:t>
            </a:r>
            <a:r>
              <a:rPr lang="en-GB" altLang="en-US" sz="2400" dirty="0" err="1">
                <a:solidFill>
                  <a:schemeClr val="bg1"/>
                </a:solidFill>
                <a:cs typeface="Times New Roman" panose="02020603050405020304" pitchFamily="18" charset="0"/>
              </a:rPr>
              <a:t>ModuleID</a:t>
            </a:r>
            <a:r>
              <a:rPr lang="en-GB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, Score)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671101"/>
              </p:ext>
            </p:extLst>
          </p:nvPr>
        </p:nvGraphicFramePr>
        <p:xfrm>
          <a:off x="1981200" y="1752600"/>
          <a:ext cx="281940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538851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Answer for Relational Key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120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6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62086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733966"/>
              </p:ext>
            </p:extLst>
          </p:nvPr>
        </p:nvGraphicFramePr>
        <p:xfrm>
          <a:off x="1981200" y="3611880"/>
          <a:ext cx="28194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538851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C00000"/>
                          </a:solidFill>
                        </a:rPr>
                        <a:t>Answer for Relational Key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120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6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62086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587479"/>
              </p:ext>
            </p:extLst>
          </p:nvPr>
        </p:nvGraphicFramePr>
        <p:xfrm>
          <a:off x="1981200" y="5364480"/>
          <a:ext cx="281940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538851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Answer for Relational Key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120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6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620863"/>
                  </a:ext>
                </a:extLst>
              </a:tr>
            </a:tbl>
          </a:graphicData>
        </a:graphic>
      </p:graphicFrame>
      <p:sp>
        <p:nvSpPr>
          <p:cNvPr id="9" name="Subtitle 2"/>
          <p:cNvSpPr txBox="1">
            <a:spLocks/>
          </p:cNvSpPr>
          <p:nvPr/>
        </p:nvSpPr>
        <p:spPr bwMode="auto">
          <a:xfrm>
            <a:off x="2209800" y="2129156"/>
            <a:ext cx="1538498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Candidate key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 bwMode="auto">
          <a:xfrm>
            <a:off x="2239780" y="2490416"/>
            <a:ext cx="1299908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Primary key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2234679" y="4361342"/>
            <a:ext cx="1699568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Composite keys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 bwMode="auto">
          <a:xfrm>
            <a:off x="2294946" y="3995785"/>
            <a:ext cx="1639488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Candidate keys</a:t>
            </a:r>
          </a:p>
        </p:txBody>
      </p:sp>
      <p:sp>
        <p:nvSpPr>
          <p:cNvPr id="14" name="Subtitle 2"/>
          <p:cNvSpPr txBox="1">
            <a:spLocks/>
          </p:cNvSpPr>
          <p:nvPr/>
        </p:nvSpPr>
        <p:spPr bwMode="auto">
          <a:xfrm>
            <a:off x="2643836" y="5704900"/>
            <a:ext cx="1494127" cy="3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Surrogate key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805265"/>
              </p:ext>
            </p:extLst>
          </p:nvPr>
        </p:nvGraphicFramePr>
        <p:xfrm>
          <a:off x="5290374" y="5363805"/>
          <a:ext cx="3429000" cy="134179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35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rgbClr val="C00000"/>
                          </a:solidFill>
                        </a:rPr>
                        <a:t>ANumber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AdminNo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chemeClr val="tx1"/>
                          </a:solidFill>
                        </a:rPr>
                        <a:t>ModuleID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Score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35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R1</a:t>
                      </a:r>
                      <a:endParaRPr lang="en-SG" sz="1400" dirty="0"/>
                    </a:p>
                  </a:txBody>
                  <a:tcPr marL="18288" marR="18288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181111A</a:t>
                      </a:r>
                      <a:endParaRPr lang="en-SG" sz="1400" dirty="0"/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IT1761</a:t>
                      </a:r>
                      <a:endParaRPr lang="en-SG" sz="1400" dirty="0"/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5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R2</a:t>
                      </a:r>
                      <a:endParaRPr lang="en-SG" sz="1400" dirty="0"/>
                    </a:p>
                  </a:txBody>
                  <a:tcPr marL="18288" marR="18288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aseline="0" dirty="0"/>
                        <a:t>181111A</a:t>
                      </a:r>
                      <a:endParaRPr lang="en-SG" sz="1400" dirty="0"/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IT1768</a:t>
                      </a:r>
                      <a:endParaRPr lang="en-SG" sz="1400" dirty="0"/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8288" marR="18288" marT="18288" marB="1828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35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R3</a:t>
                      </a:r>
                      <a:endParaRPr lang="en-SG" sz="1400" dirty="0"/>
                    </a:p>
                  </a:txBody>
                  <a:tcPr marL="18288" marR="18288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182222B</a:t>
                      </a:r>
                      <a:endParaRPr lang="en-SG" sz="1400" dirty="0"/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IT1761</a:t>
                      </a:r>
                      <a:endParaRPr lang="en-SG" sz="1400" dirty="0"/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35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R4</a:t>
                      </a:r>
                    </a:p>
                  </a:txBody>
                  <a:tcPr marL="18288" marR="18288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182222B</a:t>
                      </a:r>
                    </a:p>
                  </a:txBody>
                  <a:tcPr marL="18288" marR="18288" marT="18288" marB="18288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IT1768</a:t>
                      </a:r>
                    </a:p>
                  </a:txBody>
                  <a:tcPr marL="18288" marR="18288" marT="18288" marB="18288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68</a:t>
                      </a:r>
                    </a:p>
                  </a:txBody>
                  <a:tcPr marL="18288" marR="18288" marT="18288" marB="1828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6206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0" grpId="0"/>
      <p:bldP spid="12" grpId="0"/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14625" y="2846387"/>
            <a:ext cx="3609975" cy="811213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GB" sz="4800" b="1" dirty="0">
                <a:solidFill>
                  <a:srgbClr val="FFFF00"/>
                </a:solidFill>
                <a:latin typeface="+mn-lt"/>
              </a:rPr>
              <a:t>End of Topic 2</a:t>
            </a:r>
            <a:endParaRPr lang="en-US" sz="4800" b="1" dirty="0">
              <a:solidFill>
                <a:srgbClr val="FFFF00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7623</TotalTime>
  <Words>3059</Words>
  <Application>Microsoft Office PowerPoint</Application>
  <PresentationFormat>On-screen Show (4:3)</PresentationFormat>
  <Paragraphs>951</Paragraphs>
  <Slides>37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Courier New</vt:lpstr>
      <vt:lpstr>Verdana</vt:lpstr>
      <vt:lpstr>Wingdings</vt:lpstr>
      <vt:lpstr>Office Theme</vt:lpstr>
      <vt:lpstr>IT1768 - Database Systems</vt:lpstr>
      <vt:lpstr>Unit 2 : Relational Database &amp; Keys</vt:lpstr>
      <vt:lpstr>Database – a collection of tables</vt:lpstr>
      <vt:lpstr>The Relational Model</vt:lpstr>
      <vt:lpstr>The Relational Database</vt:lpstr>
      <vt:lpstr>Terminology</vt:lpstr>
      <vt:lpstr>Relational Model</vt:lpstr>
      <vt:lpstr>Relational Model Terminology</vt:lpstr>
      <vt:lpstr>Relations and Relationship</vt:lpstr>
      <vt:lpstr>Presentation of Relations (Entities)</vt:lpstr>
      <vt:lpstr>Relational Model - Attributes</vt:lpstr>
      <vt:lpstr>Relational Model Terminology</vt:lpstr>
      <vt:lpstr>Relational Keys</vt:lpstr>
      <vt:lpstr>Relational Keys - Primary Key</vt:lpstr>
      <vt:lpstr>Relational Model – Primary &amp; Foreign Keys</vt:lpstr>
      <vt:lpstr>Relational Model : PK, FK &amp; Relationship</vt:lpstr>
      <vt:lpstr>Foreign Key (FK)</vt:lpstr>
      <vt:lpstr>Relational Key – Primary Key (PK)</vt:lpstr>
      <vt:lpstr>Relational Key – Primary Key (PK)</vt:lpstr>
      <vt:lpstr>Relational Model – Candidate Key</vt:lpstr>
      <vt:lpstr>Relational Model – Candidate &amp; Composite Keys</vt:lpstr>
      <vt:lpstr>Relational Model – Composite Key</vt:lpstr>
      <vt:lpstr>Relational Model – Surrogate Key</vt:lpstr>
      <vt:lpstr>Relational keys and Relational Constraints</vt:lpstr>
      <vt:lpstr>Referential Integrity Constraint – The violation</vt:lpstr>
      <vt:lpstr>Referential Integrity Constraint </vt:lpstr>
      <vt:lpstr>Referential Integrity Constraint </vt:lpstr>
      <vt:lpstr>Referential Integrity Constraint </vt:lpstr>
      <vt:lpstr>Other Relational Constraints</vt:lpstr>
      <vt:lpstr>PowerPoint Presentation</vt:lpstr>
      <vt:lpstr>Different Types of database models</vt:lpstr>
      <vt:lpstr>Database Models</vt:lpstr>
      <vt:lpstr>Database Models</vt:lpstr>
      <vt:lpstr>Review Question</vt:lpstr>
      <vt:lpstr>Review Question</vt:lpstr>
      <vt:lpstr>Review Question</vt:lpstr>
      <vt:lpstr>PowerPoint Presentation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albertc</dc:creator>
  <cp:lastModifiedBy>BRYAN ANG WEI ZE</cp:lastModifiedBy>
  <cp:revision>649</cp:revision>
  <cp:lastPrinted>2017-04-12T05:37:44Z</cp:lastPrinted>
  <dcterms:created xsi:type="dcterms:W3CDTF">2008-03-05T05:57:39Z</dcterms:created>
  <dcterms:modified xsi:type="dcterms:W3CDTF">2020-11-27T07:08:35Z</dcterms:modified>
</cp:coreProperties>
</file>