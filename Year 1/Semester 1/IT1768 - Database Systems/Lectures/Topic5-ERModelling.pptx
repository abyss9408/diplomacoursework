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89" r:id="rId3"/>
    <p:sldId id="470" r:id="rId4"/>
    <p:sldId id="488" r:id="rId5"/>
    <p:sldId id="489" r:id="rId6"/>
    <p:sldId id="492" r:id="rId7"/>
    <p:sldId id="465" r:id="rId8"/>
    <p:sldId id="472" r:id="rId9"/>
    <p:sldId id="468" r:id="rId10"/>
    <p:sldId id="449" r:id="rId11"/>
    <p:sldId id="490" r:id="rId12"/>
    <p:sldId id="453" r:id="rId13"/>
    <p:sldId id="452" r:id="rId14"/>
    <p:sldId id="487" r:id="rId15"/>
    <p:sldId id="491" r:id="rId16"/>
    <p:sldId id="474" r:id="rId17"/>
    <p:sldId id="475" r:id="rId18"/>
    <p:sldId id="454" r:id="rId19"/>
    <p:sldId id="486" r:id="rId20"/>
    <p:sldId id="496" r:id="rId21"/>
    <p:sldId id="471" r:id="rId22"/>
    <p:sldId id="476" r:id="rId23"/>
    <p:sldId id="477" r:id="rId24"/>
    <p:sldId id="455" r:id="rId25"/>
    <p:sldId id="480" r:id="rId26"/>
    <p:sldId id="481" r:id="rId27"/>
    <p:sldId id="495" r:id="rId28"/>
    <p:sldId id="456" r:id="rId29"/>
    <p:sldId id="478" r:id="rId30"/>
    <p:sldId id="479" r:id="rId31"/>
  </p:sldIdLst>
  <p:sldSz cx="9144000" cy="6858000" type="screen4x3"/>
  <p:notesSz cx="9774238" cy="67246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18">
          <p15:clr>
            <a:srgbClr val="A4A3A4"/>
          </p15:clr>
        </p15:guide>
        <p15:guide id="2" pos="307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897"/>
    <a:srgbClr val="000099"/>
    <a:srgbClr val="181CAC"/>
    <a:srgbClr val="003399"/>
    <a:srgbClr val="000066"/>
    <a:srgbClr val="003366"/>
    <a:srgbClr val="3333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9" autoAdjust="0"/>
    <p:restoredTop sz="94343" autoAdjust="0"/>
  </p:normalViewPr>
  <p:slideViewPr>
    <p:cSldViewPr>
      <p:cViewPr>
        <p:scale>
          <a:sx n="60" d="100"/>
          <a:sy n="60" d="100"/>
        </p:scale>
        <p:origin x="1044" y="2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2" d="100"/>
          <a:sy n="72" d="100"/>
        </p:scale>
        <p:origin x="1752" y="54"/>
      </p:cViewPr>
      <p:guideLst>
        <p:guide orient="horz" pos="2118"/>
        <p:guide pos="307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35450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en-GB"/>
              <a:t>IT1768 Database Systems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37200" y="0"/>
            <a:ext cx="4235450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en-GB" dirty="0"/>
              <a:t>Topic 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386513"/>
            <a:ext cx="4235450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800" dirty="0" smtClean="0">
                <a:latin typeface="Arial" charset="0"/>
              </a:defRPr>
            </a:lvl1pPr>
          </a:lstStyle>
          <a:p>
            <a:pPr>
              <a:defRPr/>
            </a:pPr>
            <a:r>
              <a:rPr lang="en-GB" dirty="0" smtClean="0"/>
              <a:t>2018 </a:t>
            </a:r>
            <a:r>
              <a:rPr lang="en-GB" dirty="0"/>
              <a:t>S1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37200" y="6386513"/>
            <a:ext cx="4235450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336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35450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37200" y="0"/>
            <a:ext cx="4235450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E1679ACE-BD03-46CD-8B9C-18581EC32164}" type="datetimeFigureOut">
              <a:rPr lang="en-SG"/>
              <a:pPr>
                <a:defRPr/>
              </a:pPr>
              <a:t>12/5/2018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06750" y="504825"/>
            <a:ext cx="3360738" cy="25209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SG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77900" y="3194050"/>
            <a:ext cx="7818438" cy="3025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SG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386513"/>
            <a:ext cx="4235450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37200" y="6386513"/>
            <a:ext cx="4235450" cy="3365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24AF2A4-4379-4B7F-A64C-86FEB7AAFE20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9825390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SG" altLang="en-US" smtClean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492CC13-333D-4FAA-8F3E-AB1F6DEFB10E}" type="slidenum">
              <a:rPr lang="en-SG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S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804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 smtClean="0"/>
              <a:t>Let’s start this topic with this question:</a:t>
            </a:r>
          </a:p>
          <a:p>
            <a:endParaRPr lang="en-SG" dirty="0" smtClean="0"/>
          </a:p>
          <a:p>
            <a:r>
              <a:rPr lang="en-SG" dirty="0" smtClean="0"/>
              <a:t>Why should there</a:t>
            </a:r>
            <a:r>
              <a:rPr lang="en-SG" baseline="0" dirty="0" smtClean="0"/>
              <a:t> a need for ER modelling? </a:t>
            </a:r>
          </a:p>
          <a:p>
            <a:r>
              <a:rPr lang="en-SG" baseline="0" dirty="0" smtClean="0"/>
              <a:t>Firstly, we must know that the primitive ER diagram is a conceptual ER Diagram, the attributes in the entities may not be comprehensive with the relationship or may not be detailed enough to represent the real-world operations. </a:t>
            </a:r>
          </a:p>
          <a:p>
            <a:r>
              <a:rPr lang="en-SG" baseline="0" dirty="0" smtClean="0"/>
              <a:t>By its relationships, there is a need for it to be modelled so that it becomes more logical with primary key and foreign key inter-connected in a relationship and hence, it can represent the real-world operations more precisely.</a:t>
            </a:r>
          </a:p>
          <a:p>
            <a:endParaRPr lang="en-SG" baseline="0" dirty="0" smtClean="0"/>
          </a:p>
          <a:p>
            <a:r>
              <a:rPr lang="en-SG" baseline="0" dirty="0" smtClean="0"/>
              <a:t>ER model would comprise of the following 3 items:</a:t>
            </a:r>
          </a:p>
          <a:p>
            <a:pPr marL="171450" indent="-171450">
              <a:buFontTx/>
              <a:buChar char="-"/>
            </a:pPr>
            <a:r>
              <a:rPr lang="en-SG" baseline="0" dirty="0" smtClean="0"/>
              <a:t>entities, attributes and</a:t>
            </a:r>
          </a:p>
          <a:p>
            <a:pPr marL="171450" indent="-171450">
              <a:buFontTx/>
              <a:buChar char="-"/>
            </a:pPr>
            <a:r>
              <a:rPr lang="en-SG" baseline="0" dirty="0" smtClean="0"/>
              <a:t>Relationships</a:t>
            </a:r>
          </a:p>
          <a:p>
            <a:pPr marL="0" indent="0">
              <a:buFontTx/>
              <a:buNone/>
            </a:pPr>
            <a:r>
              <a:rPr lang="en-SG" baseline="0" dirty="0" smtClean="0"/>
              <a:t>Primary and foreign key attributes are being linked by the </a:t>
            </a:r>
            <a:r>
              <a:rPr lang="en-SG" baseline="0" smtClean="0"/>
              <a:t>relationships.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ACA109-8575-49F9-9AAD-C170332B20F1}" type="slidenum">
              <a:rPr lang="en-SG" altLang="en-US" smtClean="0"/>
              <a:pPr>
                <a:defRPr/>
              </a:pPr>
              <a:t>4</a:t>
            </a:fld>
            <a:endParaRPr lang="en-SG" altLang="en-US" dirty="0"/>
          </a:p>
        </p:txBody>
      </p:sp>
    </p:spTree>
    <p:extLst>
      <p:ext uri="{BB962C8B-B14F-4D97-AF65-F5344CB8AC3E}">
        <p14:creationId xmlns:p14="http://schemas.microsoft.com/office/powerpoint/2010/main" val="1486893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SG" altLang="en-US" smtClean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4BF170C-E6A9-4CE0-95E3-213717014DEF}" type="slidenum">
              <a:rPr lang="en-SG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S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741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SG" altLang="en-US" smtClean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4BF170C-E6A9-4CE0-95E3-213717014DEF}" type="slidenum">
              <a:rPr lang="en-SG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S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8045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SG" altLang="en-US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515E862-D5A1-4049-B959-BC01E240B0E9}" type="slidenum">
              <a:rPr lang="en-SG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</a:t>
            </a:fld>
            <a:endParaRPr lang="en-S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205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SG" altLang="en-US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AD962EB-9A29-4C1C-B5F8-7EF5EE9ACCDF}" type="slidenum">
              <a:rPr lang="en-SG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S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20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24AF2A4-4379-4B7F-A64C-86FEB7AAFE20}" type="slidenum">
              <a:rPr lang="en-SG" altLang="en-US" smtClean="0"/>
              <a:pPr>
                <a:defRPr/>
              </a:pPr>
              <a:t>11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338780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SG" altLang="en-US" dirty="0" smtClean="0"/>
              <a:t>During the modelling, it involves not only appending ‘</a:t>
            </a:r>
            <a:r>
              <a:rPr lang="en-SG" altLang="en-US" dirty="0" err="1" smtClean="0"/>
              <a:t>SiteNo</a:t>
            </a:r>
            <a:r>
              <a:rPr lang="en-SG" altLang="en-US" dirty="0" smtClean="0"/>
              <a:t>’ from ‘SITES’ entity to the ‘PROJECTS” entity, the relationship is</a:t>
            </a:r>
            <a:r>
              <a:rPr lang="en-SG" altLang="en-US" baseline="0" dirty="0" smtClean="0"/>
              <a:t> also to be re-aligned in such way the it links to both the primary and the foreign keys. (as shown in the slide) (Click)</a:t>
            </a:r>
          </a:p>
          <a:p>
            <a:endParaRPr lang="en-SG" altLang="en-US" baseline="0" dirty="0" smtClean="0"/>
          </a:p>
          <a:p>
            <a:r>
              <a:rPr lang="en-SG" altLang="en-US" baseline="0" dirty="0" smtClean="0"/>
              <a:t>To write the relation schema, the ‘PROJECTS’ relation will have one additional attribute - that is ‘</a:t>
            </a:r>
            <a:r>
              <a:rPr lang="en-SG" altLang="en-US" baseline="0" dirty="0" err="1" smtClean="0"/>
              <a:t>SiteNo</a:t>
            </a:r>
            <a:r>
              <a:rPr lang="en-SG" altLang="en-US" baseline="0" dirty="0" smtClean="0"/>
              <a:t>’ in it. </a:t>
            </a:r>
            <a:r>
              <a:rPr lang="en-SG" altLang="en-US" dirty="0" smtClean="0"/>
              <a:t> 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D4C3739-1145-41CB-9B4E-D227D69C30E2}" type="slidenum">
              <a:rPr lang="en-SG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</a:t>
            </a:fld>
            <a:endParaRPr lang="en-S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8763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SG" altLang="en-US" dirty="0" smtClean="0"/>
              <a:t>During the modelling, it involves not only appending ‘</a:t>
            </a:r>
            <a:r>
              <a:rPr lang="en-SG" altLang="en-US" dirty="0" err="1" smtClean="0"/>
              <a:t>SiteNo</a:t>
            </a:r>
            <a:r>
              <a:rPr lang="en-SG" altLang="en-US" dirty="0" smtClean="0"/>
              <a:t>’ from ‘SITES’ entity to the ‘PROJECTS” entity, the relationship is</a:t>
            </a:r>
            <a:r>
              <a:rPr lang="en-SG" altLang="en-US" baseline="0" dirty="0" smtClean="0"/>
              <a:t> also to be re-aligned in such way the it links to both the primary and the foreign keys. (as shown in the slide) (Click)</a:t>
            </a:r>
          </a:p>
          <a:p>
            <a:endParaRPr lang="en-SG" altLang="en-US" baseline="0" dirty="0" smtClean="0"/>
          </a:p>
          <a:p>
            <a:r>
              <a:rPr lang="en-SG" altLang="en-US" baseline="0" dirty="0" smtClean="0"/>
              <a:t>To write the relation schema, the ‘PROJECTS’ relation will have one additional attribute - that is ‘</a:t>
            </a:r>
            <a:r>
              <a:rPr lang="en-SG" altLang="en-US" baseline="0" dirty="0" err="1" smtClean="0"/>
              <a:t>SiteNo</a:t>
            </a:r>
            <a:r>
              <a:rPr lang="en-SG" altLang="en-US" baseline="0" dirty="0" smtClean="0"/>
              <a:t>’ in it. </a:t>
            </a:r>
            <a:r>
              <a:rPr lang="en-SG" altLang="en-US" dirty="0" smtClean="0"/>
              <a:t> 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D4C3739-1145-41CB-9B4E-D227D69C30E2}" type="slidenum">
              <a:rPr lang="en-SG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</a:t>
            </a:fld>
            <a:endParaRPr lang="en-S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787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SG" altLang="en-US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AF3F163-7C63-4D38-B493-8B18816BD7C4}" type="slidenum">
              <a:rPr lang="en-SG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17</a:t>
            </a:fld>
            <a:endParaRPr lang="en-S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4775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SG" altLang="en-US" dirty="0" smtClean="0"/>
              <a:t>For further illustration, we expend each entity comprising only the key attribute, </a:t>
            </a:r>
          </a:p>
          <a:p>
            <a:r>
              <a:rPr lang="en-SG" altLang="en-US" dirty="0" smtClean="0"/>
              <a:t>that means, for</a:t>
            </a:r>
            <a:r>
              <a:rPr lang="en-SG" altLang="en-US" baseline="0" dirty="0" smtClean="0"/>
              <a:t> ‘EMPLOYEES’ entity, we focus on ‘</a:t>
            </a:r>
            <a:r>
              <a:rPr lang="en-SG" altLang="en-US" baseline="0" dirty="0" err="1" smtClean="0"/>
              <a:t>EmpID</a:t>
            </a:r>
            <a:r>
              <a:rPr lang="en-SG" altLang="en-US" baseline="0" dirty="0" smtClean="0"/>
              <a:t>’ and for ‘PROJECTS’ entity, we focus on ‘</a:t>
            </a:r>
            <a:r>
              <a:rPr lang="en-SG" altLang="en-US" baseline="0" dirty="0" err="1" smtClean="0"/>
              <a:t>ProjCode</a:t>
            </a:r>
            <a:r>
              <a:rPr lang="en-SG" altLang="en-US" baseline="0" dirty="0" smtClean="0"/>
              <a:t>’ only.</a:t>
            </a:r>
            <a:r>
              <a:rPr lang="en-SG" altLang="en-US" dirty="0" smtClean="0"/>
              <a:t> </a:t>
            </a:r>
          </a:p>
          <a:p>
            <a:r>
              <a:rPr lang="en-SG" altLang="en-US" dirty="0" smtClean="0"/>
              <a:t>(click) Look at the ‘</a:t>
            </a:r>
            <a:r>
              <a:rPr lang="en-SG" altLang="en-US" dirty="0" err="1" smtClean="0"/>
              <a:t>EmpID</a:t>
            </a:r>
            <a:r>
              <a:rPr lang="en-SG" altLang="en-US" dirty="0" smtClean="0"/>
              <a:t>’, ‘E-01’ can relate to ‘</a:t>
            </a:r>
            <a:r>
              <a:rPr lang="en-SG" altLang="en-US" dirty="0" err="1" smtClean="0"/>
              <a:t>ProjCode</a:t>
            </a:r>
            <a:r>
              <a:rPr lang="en-SG" altLang="en-US" dirty="0" smtClean="0"/>
              <a:t>’ ‘P-11’, ‘P-22’ and ‘P-33’, Similarly,</a:t>
            </a:r>
          </a:p>
          <a:p>
            <a:r>
              <a:rPr lang="en-SG" altLang="en-US" baseline="0" dirty="0" smtClean="0"/>
              <a:t>(click) Look at the ‘</a:t>
            </a:r>
            <a:r>
              <a:rPr lang="en-SG" altLang="en-US" baseline="0" dirty="0" err="1" smtClean="0"/>
              <a:t>ProjCode</a:t>
            </a:r>
            <a:r>
              <a:rPr lang="en-SG" altLang="en-US" baseline="0" dirty="0" smtClean="0"/>
              <a:t>’, ‘P-11’ can relate to ‘E-01’ and ‘E-02’, </a:t>
            </a:r>
          </a:p>
          <a:p>
            <a:r>
              <a:rPr lang="en-SG" altLang="en-US" baseline="0" dirty="0" smtClean="0"/>
              <a:t>‘P-22’ can relate to ‘E-02’ and ‘E-03’.</a:t>
            </a:r>
            <a:endParaRPr lang="en-SG" altLang="en-US" dirty="0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38D0371-20FF-4E78-817D-F3C085B04B9B}" type="slidenum">
              <a:rPr lang="en-SG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19</a:t>
            </a:fld>
            <a:endParaRPr lang="en-S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4259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SG" altLang="en-US" dirty="0" smtClean="0"/>
              <a:t>For further illustration, we expend each entity comprising only the key attribute, </a:t>
            </a:r>
          </a:p>
          <a:p>
            <a:r>
              <a:rPr lang="en-SG" altLang="en-US" dirty="0" smtClean="0"/>
              <a:t>that means, for</a:t>
            </a:r>
            <a:r>
              <a:rPr lang="en-SG" altLang="en-US" baseline="0" dirty="0" smtClean="0"/>
              <a:t> ‘EMPLOYEES’ entity, we focus on ‘</a:t>
            </a:r>
            <a:r>
              <a:rPr lang="en-SG" altLang="en-US" baseline="0" dirty="0" err="1" smtClean="0"/>
              <a:t>EmpID</a:t>
            </a:r>
            <a:r>
              <a:rPr lang="en-SG" altLang="en-US" baseline="0" dirty="0" smtClean="0"/>
              <a:t>’ and for ‘PROJECTS’ entity, we focus on ‘</a:t>
            </a:r>
            <a:r>
              <a:rPr lang="en-SG" altLang="en-US" baseline="0" dirty="0" err="1" smtClean="0"/>
              <a:t>ProjCode</a:t>
            </a:r>
            <a:r>
              <a:rPr lang="en-SG" altLang="en-US" baseline="0" dirty="0" smtClean="0"/>
              <a:t>’ only.</a:t>
            </a:r>
            <a:r>
              <a:rPr lang="en-SG" altLang="en-US" dirty="0" smtClean="0"/>
              <a:t> </a:t>
            </a:r>
          </a:p>
          <a:p>
            <a:r>
              <a:rPr lang="en-SG" altLang="en-US" dirty="0" smtClean="0"/>
              <a:t>(click) Look at the ‘</a:t>
            </a:r>
            <a:r>
              <a:rPr lang="en-SG" altLang="en-US" dirty="0" err="1" smtClean="0"/>
              <a:t>EmpID</a:t>
            </a:r>
            <a:r>
              <a:rPr lang="en-SG" altLang="en-US" dirty="0" smtClean="0"/>
              <a:t>’, ‘E-01’ can relate to ‘</a:t>
            </a:r>
            <a:r>
              <a:rPr lang="en-SG" altLang="en-US" dirty="0" err="1" smtClean="0"/>
              <a:t>ProjCode</a:t>
            </a:r>
            <a:r>
              <a:rPr lang="en-SG" altLang="en-US" dirty="0" smtClean="0"/>
              <a:t>’ ‘P-11’, ‘P-22’ and ‘P-33’, Similarly,</a:t>
            </a:r>
          </a:p>
          <a:p>
            <a:r>
              <a:rPr lang="en-SG" altLang="en-US" baseline="0" dirty="0" smtClean="0"/>
              <a:t>(click) Look at the ‘</a:t>
            </a:r>
            <a:r>
              <a:rPr lang="en-SG" altLang="en-US" baseline="0" dirty="0" err="1" smtClean="0"/>
              <a:t>ProjCode</a:t>
            </a:r>
            <a:r>
              <a:rPr lang="en-SG" altLang="en-US" baseline="0" dirty="0" smtClean="0"/>
              <a:t>’, ‘P-11’ can relate to ‘E-01’ and ‘E-02’, </a:t>
            </a:r>
          </a:p>
          <a:p>
            <a:r>
              <a:rPr lang="en-SG" altLang="en-US" baseline="0" dirty="0" smtClean="0"/>
              <a:t>‘P-22’ can relate to ‘E-02’ and ‘E-03’.</a:t>
            </a:r>
            <a:endParaRPr lang="en-SG" altLang="en-US" dirty="0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38D0371-20FF-4E78-817D-F3C085B04B9B}" type="slidenum">
              <a:rPr lang="en-SG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20</a:t>
            </a:fld>
            <a:endParaRPr lang="en-S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1086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SG" alt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2F7FBF6-A7D5-4DF6-AAF7-9F20CD25683E}" type="slidenum">
              <a:rPr lang="en-SG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21</a:t>
            </a:fld>
            <a:endParaRPr lang="en-S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3127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SG" altLang="en-US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8855357-AABA-4C87-9E9F-A12E1BACE155}" type="slidenum">
              <a:rPr lang="en-SG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23</a:t>
            </a:fld>
            <a:endParaRPr lang="en-S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1155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SG" altLang="en-US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3BE5900-00EE-490C-968E-340551809A3B}" type="slidenum">
              <a:rPr lang="en-SG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25</a:t>
            </a:fld>
            <a:endParaRPr lang="en-S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9296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SG" altLang="en-US" smtClean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39A9A03-2895-4CC1-9988-85279B480D46}" type="slidenum">
              <a:rPr lang="en-SG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26</a:t>
            </a:fld>
            <a:endParaRPr lang="en-S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9310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SG" altLang="en-US" smtClean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CE73FD4-41E0-4A1C-996B-2B8EE9816A7B}" type="slidenum">
              <a:rPr lang="en-SG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27</a:t>
            </a:fld>
            <a:endParaRPr lang="en-S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490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>
            <a:off x="685800" y="963304"/>
            <a:ext cx="7772400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0" y="6591300"/>
            <a:ext cx="2209800" cy="230188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GB" sz="900" dirty="0" smtClean="0">
                <a:solidFill>
                  <a:srgbClr val="FFC000"/>
                </a:solidFill>
                <a:latin typeface="Verdana" pitchFamily="34" charset="0"/>
              </a:rPr>
              <a:t>IT1768 Database Systems</a:t>
            </a:r>
            <a:endParaRPr lang="en-US" sz="900" dirty="0" smtClean="0">
              <a:solidFill>
                <a:srgbClr val="FFC000"/>
              </a:solidFill>
              <a:latin typeface="Verdana" pitchFamily="34" charset="0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8686800" y="6596063"/>
            <a:ext cx="457200" cy="261937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049ABD8E-DDCB-4A6B-9B04-227519F23B23}" type="slidenum">
              <a:rPr lang="en-US" altLang="en-US" sz="1100" smtClean="0">
                <a:solidFill>
                  <a:srgbClr val="FFC000"/>
                </a:solidFill>
                <a:latin typeface="Verdana" panose="020B0604030504040204" pitchFamily="34" charset="0"/>
              </a:rPr>
              <a:pPr eaLnBrk="1" hangingPunct="1">
                <a:defRPr/>
              </a:pPr>
              <a:t>‹#›</a:t>
            </a:fld>
            <a:endParaRPr lang="en-US" altLang="en-US" sz="1100" smtClean="0">
              <a:solidFill>
                <a:srgbClr val="FFC000"/>
              </a:solidFill>
              <a:latin typeface="Verdana" panose="020B0604030504040204" pitchFamily="34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8431213" y="152400"/>
            <a:ext cx="685800" cy="2286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GB" sz="900" dirty="0" smtClean="0">
                <a:solidFill>
                  <a:srgbClr val="FFC000"/>
                </a:solidFill>
                <a:latin typeface="Verdana" pitchFamily="34" charset="0"/>
              </a:rPr>
              <a:t>Topic 4</a:t>
            </a:r>
            <a:endParaRPr lang="en-US" sz="900" dirty="0" smtClean="0">
              <a:solidFill>
                <a:srgbClr val="FFC000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1735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F63557-B8DA-4006-862F-36364012D108}" type="datetimeFigureOut">
              <a:rPr lang="en-US"/>
              <a:pPr>
                <a:defRPr/>
              </a:pPr>
              <a:t>5/12/2018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37AF5D-ACB3-464C-AB14-44718A8E5C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9288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0905A-BE07-4A47-ACD4-8945685551C5}" type="datetimeFigureOut">
              <a:rPr lang="en-US"/>
              <a:pPr>
                <a:defRPr/>
              </a:pPr>
              <a:t>5/12/2018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1B7F54-F9C1-46AC-B6A2-E3E5435C8DB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4263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49FFF8-EC6D-461C-9E95-9BA5440C5B20}" type="datetimeFigureOut">
              <a:rPr lang="en-US"/>
              <a:pPr>
                <a:defRPr/>
              </a:pPr>
              <a:t>5/12/2018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4A99A-73AD-4B3E-ABF9-452CF9C939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4582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8AE929-8227-4EBE-AB2D-880C678C3598}" type="datetimeFigureOut">
              <a:rPr lang="en-US"/>
              <a:pPr>
                <a:defRPr/>
              </a:pPr>
              <a:t>5/12/2018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285187-65FA-4D7C-9E2B-5E45D3DAB0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0502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AB842-BDE8-487E-BD68-152721732722}" type="datetimeFigureOut">
              <a:rPr lang="en-US"/>
              <a:pPr>
                <a:defRPr/>
              </a:pPr>
              <a:t>5/12/2018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55E526-2B23-46C9-9329-D2118738B9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529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BFDDB-FBB3-44EB-A6AD-E01BF9BBBAD4}" type="datetimeFigureOut">
              <a:rPr lang="en-US"/>
              <a:pPr>
                <a:defRPr/>
              </a:pPr>
              <a:t>5/12/2018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5CD8C-9B30-468F-B243-3D1B196F03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9117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BB6C42-729F-4280-BB31-4DD250166E31}" type="datetimeFigureOut">
              <a:rPr lang="en-US"/>
              <a:pPr>
                <a:defRPr/>
              </a:pPr>
              <a:t>5/12/2018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E4B36-A138-4A18-B582-E23F09AB24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4999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4F07EE-B18F-45B2-BC0D-C820DF4EE994}" type="datetimeFigureOut">
              <a:rPr lang="en-US"/>
              <a:pPr>
                <a:defRPr/>
              </a:pPr>
              <a:t>5/12/2018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73FA02-6242-43F3-BC9B-C0350B1632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233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A1C19-1E45-4746-B855-D9B8B438CFDD}" type="datetimeFigureOut">
              <a:rPr lang="en-US"/>
              <a:pPr>
                <a:defRPr/>
              </a:pPr>
              <a:t>5/12/2018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DF7E19-4282-4625-80E4-A6F7EE2014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418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5E5A84-4BA2-48D8-A7D7-755D1B845A8E}" type="datetimeFigureOut">
              <a:rPr lang="en-US"/>
              <a:pPr>
                <a:defRPr/>
              </a:pPr>
              <a:t>5/12/2018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BC9A5-D1EF-4093-8009-F02E54BBFF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279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F1764FE-DED7-4319-B01F-4517D3F373BA}" type="datetimeFigureOut">
              <a:rPr lang="en-US"/>
              <a:pPr>
                <a:defRPr/>
              </a:pPr>
              <a:t>5/12/2018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AC69570-0865-4D85-839A-6F960720D5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7" r:id="rId1"/>
    <p:sldLayoutId id="2147485077" r:id="rId2"/>
    <p:sldLayoutId id="2147485078" r:id="rId3"/>
    <p:sldLayoutId id="2147485079" r:id="rId4"/>
    <p:sldLayoutId id="2147485080" r:id="rId5"/>
    <p:sldLayoutId id="2147485081" r:id="rId6"/>
    <p:sldLayoutId id="2147485082" r:id="rId7"/>
    <p:sldLayoutId id="2147485083" r:id="rId8"/>
    <p:sldLayoutId id="2147485084" r:id="rId9"/>
    <p:sldLayoutId id="2147485085" r:id="rId10"/>
    <p:sldLayoutId id="214748508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youtube.com/watch?v=IfaqkiHpIj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vrpuBAMddw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5" Type="http://schemas.openxmlformats.org/officeDocument/2006/relationships/slide" Target="slide13.xml"/><Relationship Id="rId4" Type="http://schemas.openxmlformats.org/officeDocument/2006/relationships/slide" Target="slide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 idx="4294967295"/>
          </p:nvPr>
        </p:nvSpPr>
        <p:spPr>
          <a:xfrm>
            <a:off x="654268" y="362604"/>
            <a:ext cx="5270500" cy="647700"/>
          </a:xfrm>
        </p:spPr>
        <p:txBody>
          <a:bodyPr wrap="none">
            <a:spAutoFit/>
          </a:bodyPr>
          <a:lstStyle/>
          <a:p>
            <a:pPr algn="l" eaLnBrk="1" hangingPunct="1">
              <a:defRPr/>
            </a:pPr>
            <a:r>
              <a:rPr lang="en-GB" sz="3600" b="1" dirty="0" smtClean="0">
                <a:solidFill>
                  <a:srgbClr val="FFFF00"/>
                </a:solidFill>
                <a:latin typeface="+mn-lt"/>
              </a:rPr>
              <a:t>IT1768 - Database </a:t>
            </a:r>
            <a:r>
              <a:rPr lang="en-US" sz="3600" b="1" dirty="0" smtClean="0">
                <a:solidFill>
                  <a:srgbClr val="FFFF00"/>
                </a:solidFill>
                <a:latin typeface="+mn-lt"/>
              </a:rPr>
              <a:t>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676400"/>
            <a:ext cx="3810000" cy="23082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6000" b="1" dirty="0">
                <a:solidFill>
                  <a:schemeClr val="bg1"/>
                </a:solidFill>
                <a:latin typeface="+mn-lt"/>
              </a:rPr>
              <a:t>Topic </a:t>
            </a:r>
            <a:r>
              <a:rPr lang="en-US" sz="6000" b="1" dirty="0" smtClean="0">
                <a:solidFill>
                  <a:schemeClr val="bg1"/>
                </a:solidFill>
                <a:latin typeface="+mn-lt"/>
              </a:rPr>
              <a:t>5 </a:t>
            </a:r>
            <a:r>
              <a:rPr lang="en-US" sz="6000" b="1" dirty="0">
                <a:solidFill>
                  <a:schemeClr val="bg1"/>
                </a:solidFill>
                <a:latin typeface="+mn-lt"/>
              </a:rPr>
              <a:t>:</a:t>
            </a:r>
            <a:endParaRPr lang="en-US" sz="1200" b="1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defRPr/>
            </a:pPr>
            <a:endParaRPr lang="en-US" sz="1200" b="1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defRPr/>
            </a:pPr>
            <a:r>
              <a:rPr lang="en-US" sz="3600" b="1" dirty="0">
                <a:solidFill>
                  <a:schemeClr val="bg1"/>
                </a:solidFill>
                <a:latin typeface="+mn-lt"/>
              </a:rPr>
              <a:t>Entity-Relationship Modelling</a:t>
            </a:r>
          </a:p>
        </p:txBody>
      </p:sp>
      <p:sp>
        <p:nvSpPr>
          <p:cNvPr id="5124" name="Rectangle 2"/>
          <p:cNvSpPr>
            <a:spLocks noChangeArrowheads="1"/>
          </p:cNvSpPr>
          <p:nvPr/>
        </p:nvSpPr>
        <p:spPr bwMode="auto">
          <a:xfrm>
            <a:off x="3427413" y="5672138"/>
            <a:ext cx="20701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rIns="72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SG" altLang="en-US" sz="1600">
                <a:solidFill>
                  <a:schemeClr val="bg1"/>
                </a:solidFill>
                <a:latin typeface="Arial" panose="020B0604020202020204" pitchFamily="34" charset="0"/>
              </a:rPr>
              <a:t>click hyperlink below:</a:t>
            </a:r>
          </a:p>
        </p:txBody>
      </p:sp>
      <p:sp>
        <p:nvSpPr>
          <p:cNvPr id="5126" name="Rectangle 1">
            <a:hlinkClick r:id="rId2"/>
          </p:cNvPr>
          <p:cNvSpPr>
            <a:spLocks noChangeArrowheads="1"/>
          </p:cNvSpPr>
          <p:nvPr/>
        </p:nvSpPr>
        <p:spPr bwMode="auto">
          <a:xfrm>
            <a:off x="2789237" y="6035675"/>
            <a:ext cx="35655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SG" altLang="en-US" sz="1400" dirty="0">
                <a:solidFill>
                  <a:srgbClr val="FFFF00"/>
                </a:solidFill>
              </a:rPr>
              <a:t>https://www.youtube.com/watch?v=IfaqkiHpIjo</a:t>
            </a:r>
          </a:p>
        </p:txBody>
      </p:sp>
      <p:pic>
        <p:nvPicPr>
          <p:cNvPr id="512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6" t="21066" r="36768" b="10115"/>
          <a:stretch>
            <a:fillRect/>
          </a:stretch>
        </p:blipFill>
        <p:spPr bwMode="auto">
          <a:xfrm>
            <a:off x="500063" y="1447800"/>
            <a:ext cx="3962400" cy="3351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32442"/>
            <a:ext cx="7772400" cy="646112"/>
          </a:xfrm>
        </p:spPr>
        <p:txBody>
          <a:bodyPr lIns="72000" rIns="72000" anchor="t">
            <a:spAutoFit/>
          </a:bodyPr>
          <a:lstStyle/>
          <a:p>
            <a:pPr algn="l" eaLnBrk="1" hangingPunct="1">
              <a:defRPr/>
            </a:pPr>
            <a:r>
              <a:rPr lang="en-US" sz="3600" b="1" dirty="0" smtClean="0">
                <a:solidFill>
                  <a:srgbClr val="FFFF00"/>
                </a:solidFill>
                <a:latin typeface="+mn-lt"/>
              </a:rPr>
              <a:t>Unit 5 : </a:t>
            </a:r>
            <a:r>
              <a:rPr lang="en-GB" sz="3600" b="1" dirty="0" smtClean="0">
                <a:solidFill>
                  <a:srgbClr val="FFFF00"/>
                </a:solidFill>
                <a:latin typeface="+mn-lt"/>
              </a:rPr>
              <a:t>Entity-Relationship Modelling</a:t>
            </a:r>
            <a:endParaRPr lang="en-US" sz="3600" b="1" dirty="0" smtClean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6147" name="Rectangle 5"/>
          <p:cNvSpPr>
            <a:spLocks noGrp="1" noChangeArrowheads="1"/>
          </p:cNvSpPr>
          <p:nvPr>
            <p:ph type="subTitle" idx="4294967295"/>
          </p:nvPr>
        </p:nvSpPr>
        <p:spPr>
          <a:xfrm>
            <a:off x="685800" y="1295400"/>
            <a:ext cx="2130425" cy="627063"/>
          </a:xfr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3600" b="1" smtClean="0">
                <a:solidFill>
                  <a:schemeClr val="bg1"/>
                </a:solidFill>
                <a:cs typeface="Times New Roman" panose="02020603050405020304" pitchFamily="18" charset="0"/>
              </a:rPr>
              <a:t>Objective :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85800" y="2082800"/>
            <a:ext cx="8077200" cy="279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55600" indent="-355600" eaLnBrk="1" hangingPunct="1">
              <a:spcBef>
                <a:spcPts val="300"/>
              </a:spcBef>
              <a:buFont typeface="Courier New" panose="02070309020205020404" pitchFamily="49" charset="0"/>
              <a:buChar char="o"/>
              <a:defRPr/>
            </a:pPr>
            <a:r>
              <a:rPr lang="en-US" altLang="zh-SG" sz="28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At the end of </a:t>
            </a:r>
            <a:r>
              <a:rPr lang="en-US" sz="2800" dirty="0">
                <a:solidFill>
                  <a:schemeClr val="bg1"/>
                </a:solidFill>
                <a:latin typeface="+mn-lt"/>
                <a:ea typeface="SimSun" pitchFamily="2" charset="-122"/>
                <a:cs typeface="Times New Roman" pitchFamily="18" charset="0"/>
              </a:rPr>
              <a:t>this unit, you </a:t>
            </a:r>
            <a:r>
              <a:rPr lang="en-US" altLang="zh-SG" sz="28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should be able to:</a:t>
            </a:r>
          </a:p>
          <a:p>
            <a:pPr marL="628650" lvl="1" indent="-273050" eaLnBrk="1" hangingPunct="1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zh-SG" sz="2400" smtClean="0">
                <a:solidFill>
                  <a:schemeClr val="bg1"/>
                </a:solidFill>
                <a:latin typeface="+mn-lt"/>
                <a:cs typeface="Times New Roman" pitchFamily="18" charset="0"/>
              </a:rPr>
              <a:t>classify </a:t>
            </a:r>
            <a:r>
              <a:rPr lang="en-US" altLang="zh-SG" sz="2400" dirty="0" smtClean="0">
                <a:solidFill>
                  <a:schemeClr val="bg1"/>
                </a:solidFill>
                <a:latin typeface="+mn-lt"/>
                <a:cs typeface="Times New Roman" pitchFamily="18" charset="0"/>
              </a:rPr>
              <a:t>the elements </a:t>
            </a:r>
            <a:r>
              <a:rPr lang="en-US" altLang="zh-SG" sz="24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in the relational model.</a:t>
            </a:r>
          </a:p>
          <a:p>
            <a:pPr marL="628650" lvl="1" indent="-273050" eaLnBrk="1" hangingPunct="1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zh-SG" sz="2400" dirty="0" smtClean="0">
                <a:solidFill>
                  <a:schemeClr val="bg1"/>
                </a:solidFill>
                <a:latin typeface="+mn-lt"/>
                <a:cs typeface="Times New Roman" pitchFamily="18" charset="0"/>
              </a:rPr>
              <a:t>explain </a:t>
            </a:r>
            <a:r>
              <a:rPr lang="en-US" altLang="zh-SG" sz="24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the process of entity-relationship modelling</a:t>
            </a:r>
          </a:p>
          <a:p>
            <a:pPr marL="628650" lvl="1" indent="-273050" eaLnBrk="1" hangingPunct="1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zh-SG" sz="2400" dirty="0" smtClean="0">
                <a:solidFill>
                  <a:schemeClr val="bg1"/>
                </a:solidFill>
                <a:latin typeface="+mn-lt"/>
                <a:cs typeface="Times New Roman" pitchFamily="18" charset="0"/>
              </a:rPr>
              <a:t>execute </a:t>
            </a:r>
            <a:r>
              <a:rPr lang="en-US" altLang="zh-SG" sz="24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modelling on 1:1, 1:N and M:N relationships.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3"/>
          <p:cNvSpPr txBox="1">
            <a:spLocks noChangeArrowheads="1"/>
          </p:cNvSpPr>
          <p:nvPr/>
        </p:nvSpPr>
        <p:spPr bwMode="auto">
          <a:xfrm>
            <a:off x="685800" y="1143000"/>
            <a:ext cx="7955280" cy="1188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" tIns="18288" rIns="18288" bIns="1828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46075" indent="-346075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1) </a:t>
            </a:r>
            <a:r>
              <a:rPr lang="en-US" altLang="en-US" sz="24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By relational model, an primitive Entity </a:t>
            </a:r>
            <a:r>
              <a:rPr lang="en-US" altLang="en-US" sz="2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Relationship Diagram (ERD) </a:t>
            </a:r>
            <a:r>
              <a:rPr lang="en-US" altLang="en-US" sz="24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can be established – </a:t>
            </a:r>
            <a:r>
              <a:rPr lang="en-US" altLang="en-US" sz="2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with entities, attributes and relationships </a:t>
            </a:r>
            <a:r>
              <a:rPr lang="en-US" altLang="en-US" sz="20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(with </a:t>
            </a:r>
            <a:r>
              <a:rPr lang="en-US" altLang="en-US" sz="20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cardinalities based on the business processes) </a:t>
            </a:r>
            <a:endParaRPr lang="en-US" altLang="en-US" sz="2000" dirty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058785"/>
              </p:ext>
            </p:extLst>
          </p:nvPr>
        </p:nvGraphicFramePr>
        <p:xfrm>
          <a:off x="3829050" y="2438400"/>
          <a:ext cx="1209675" cy="1487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86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861">
                <a:tc>
                  <a:txBody>
                    <a:bodyPr/>
                    <a:lstStyle/>
                    <a:p>
                      <a:pPr algn="ctr"/>
                      <a:endParaRPr lang="en-SG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211" name="Title 1"/>
          <p:cNvSpPr txBox="1">
            <a:spLocks/>
          </p:cNvSpPr>
          <p:nvPr/>
        </p:nvSpPr>
        <p:spPr bwMode="auto">
          <a:xfrm>
            <a:off x="597800" y="368449"/>
            <a:ext cx="638110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Entity-Relationship </a:t>
            </a:r>
            <a:r>
              <a:rPr lang="en-GB" altLang="en-US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Modelling (ERM)</a:t>
            </a:r>
            <a:endParaRPr lang="en-US" altLang="en-US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715125" y="2535238"/>
          <a:ext cx="1209675" cy="148907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119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PROJECTS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33" marB="3603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119">
                <a:tc>
                  <a:txBody>
                    <a:bodyPr/>
                    <a:lstStyle/>
                    <a:p>
                      <a:pPr algn="ctr"/>
                      <a:endParaRPr lang="en-SG" sz="16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3" marB="3603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3" marB="3603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3" marB="3603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3" marB="3603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396574"/>
              </p:ext>
            </p:extLst>
          </p:nvPr>
        </p:nvGraphicFramePr>
        <p:xfrm>
          <a:off x="6799263" y="5334000"/>
          <a:ext cx="1023937" cy="126365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23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SITES</a:t>
                      </a:r>
                      <a:endParaRPr lang="en-SG" sz="16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18" marR="36018" marT="36010" marB="3601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endParaRPr lang="en-SG" sz="16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36010" marB="3601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36010" marB="3601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36010" marB="3601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000125" y="2514600"/>
          <a:ext cx="1136650" cy="120332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3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08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VEHICLES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29" marB="36029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083">
                <a:tc>
                  <a:txBody>
                    <a:bodyPr/>
                    <a:lstStyle/>
                    <a:p>
                      <a:pPr algn="ctr"/>
                      <a:endParaRPr lang="en-SG" sz="16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29" marB="36029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580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29" marB="3602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580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29" marB="3602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 bwMode="auto">
          <a:xfrm>
            <a:off x="2143125" y="3276600"/>
            <a:ext cx="1700213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>
            <a:grpSpLocks/>
          </p:cNvGrpSpPr>
          <p:nvPr/>
        </p:nvGrpSpPr>
        <p:grpSpPr bwMode="auto">
          <a:xfrm>
            <a:off x="2216150" y="2971802"/>
            <a:ext cx="1503363" cy="433388"/>
            <a:chOff x="2064228" y="2698750"/>
            <a:chExt cx="1502903" cy="433392"/>
          </a:xfrm>
        </p:grpSpPr>
        <p:grpSp>
          <p:nvGrpSpPr>
            <p:cNvPr id="8327" name="Group 27"/>
            <p:cNvGrpSpPr>
              <a:grpSpLocks/>
            </p:cNvGrpSpPr>
            <p:nvPr/>
          </p:nvGrpSpPr>
          <p:grpSpPr bwMode="auto">
            <a:xfrm>
              <a:off x="2064228" y="2895037"/>
              <a:ext cx="175116" cy="227739"/>
              <a:chOff x="1978475" y="2798127"/>
              <a:chExt cx="175050" cy="228600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2046691" y="2806662"/>
                <a:ext cx="106289" cy="215124"/>
              </a:xfrm>
              <a:prstGeom prst="ellipse">
                <a:avLst/>
              </a:pr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SG"/>
              </a:p>
            </p:txBody>
          </p:sp>
          <p:cxnSp>
            <p:nvCxnSpPr>
              <p:cNvPr id="39" name="Straight Connector 38"/>
              <p:cNvCxnSpPr/>
              <p:nvPr/>
            </p:nvCxnSpPr>
            <p:spPr>
              <a:xfrm>
                <a:off x="1978475" y="2798694"/>
                <a:ext cx="0" cy="227873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328" name="Group 26"/>
            <p:cNvGrpSpPr>
              <a:grpSpLocks/>
            </p:cNvGrpSpPr>
            <p:nvPr/>
          </p:nvGrpSpPr>
          <p:grpSpPr bwMode="auto">
            <a:xfrm>
              <a:off x="3490931" y="2905129"/>
              <a:ext cx="76200" cy="227013"/>
              <a:chOff x="3252287" y="3119981"/>
              <a:chExt cx="76172" cy="227871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3252310" y="3119979"/>
                <a:ext cx="0" cy="227873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>
                <a:off x="3328459" y="3119979"/>
                <a:ext cx="0" cy="227873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Rectangle 55"/>
            <p:cNvSpPr/>
            <p:nvPr/>
          </p:nvSpPr>
          <p:spPr bwMode="auto">
            <a:xfrm>
              <a:off x="2638727" y="2698750"/>
              <a:ext cx="389274" cy="288150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400" dirty="0" smtClean="0">
                  <a:solidFill>
                    <a:srgbClr val="FFFF00"/>
                  </a:solidFill>
                  <a:latin typeface="+mn-lt"/>
                </a:rPr>
                <a:t>own</a:t>
              </a:r>
              <a:endParaRPr lang="en-US" sz="1400" dirty="0">
                <a:solidFill>
                  <a:srgbClr val="FFFF00"/>
                </a:solidFill>
                <a:latin typeface="+mn-lt"/>
              </a:endParaRPr>
            </a:p>
          </p:txBody>
        </p:sp>
      </p:grpSp>
      <p:cxnSp>
        <p:nvCxnSpPr>
          <p:cNvPr id="15" name="Straight Connector 14"/>
          <p:cNvCxnSpPr/>
          <p:nvPr/>
        </p:nvCxnSpPr>
        <p:spPr bwMode="auto">
          <a:xfrm>
            <a:off x="5038725" y="3276600"/>
            <a:ext cx="1700213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>
            <a:grpSpLocks/>
          </p:cNvGrpSpPr>
          <p:nvPr/>
        </p:nvGrpSpPr>
        <p:grpSpPr bwMode="auto">
          <a:xfrm>
            <a:off x="5049838" y="2992438"/>
            <a:ext cx="1654175" cy="403225"/>
            <a:chOff x="4898209" y="2719388"/>
            <a:chExt cx="1653268" cy="403225"/>
          </a:xfrm>
        </p:grpSpPr>
        <p:grpSp>
          <p:nvGrpSpPr>
            <p:cNvPr id="8316" name="Group 53"/>
            <p:cNvGrpSpPr>
              <a:grpSpLocks/>
            </p:cNvGrpSpPr>
            <p:nvPr/>
          </p:nvGrpSpPr>
          <p:grpSpPr bwMode="auto">
            <a:xfrm>
              <a:off x="6162752" y="2895600"/>
              <a:ext cx="388725" cy="215900"/>
              <a:chOff x="6076546" y="2798906"/>
              <a:chExt cx="388579" cy="215957"/>
            </a:xfrm>
          </p:grpSpPr>
          <p:sp>
            <p:nvSpPr>
              <p:cNvPr id="4" name="Oval 3"/>
              <p:cNvSpPr/>
              <p:nvPr/>
            </p:nvSpPr>
            <p:spPr>
              <a:xfrm>
                <a:off x="6076546" y="2798906"/>
                <a:ext cx="107850" cy="215957"/>
              </a:xfrm>
              <a:prstGeom prst="ellipse">
                <a:avLst/>
              </a:pr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SG"/>
              </a:p>
            </p:txBody>
          </p:sp>
          <p:grpSp>
            <p:nvGrpSpPr>
              <p:cNvPr id="8324" name="Group 28"/>
              <p:cNvGrpSpPr>
                <a:grpSpLocks/>
              </p:cNvGrpSpPr>
              <p:nvPr/>
            </p:nvGrpSpPr>
            <p:grpSpPr bwMode="auto">
              <a:xfrm>
                <a:off x="6247837" y="2822725"/>
                <a:ext cx="217288" cy="169907"/>
                <a:chOff x="2754512" y="4102050"/>
                <a:chExt cx="217288" cy="169907"/>
              </a:xfrm>
            </p:grpSpPr>
            <p:cxnSp>
              <p:nvCxnSpPr>
                <p:cNvPr id="30" name="Straight Connector 29"/>
                <p:cNvCxnSpPr/>
                <p:nvPr/>
              </p:nvCxnSpPr>
              <p:spPr>
                <a:xfrm flipV="1">
                  <a:off x="2754513" y="4102050"/>
                  <a:ext cx="217287" cy="71456"/>
                </a:xfrm>
                <a:prstGeom prst="line">
                  <a:avLst/>
                </a:prstGeom>
                <a:ln w="1905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>
                  <a:off x="2754513" y="4200501"/>
                  <a:ext cx="217287" cy="71456"/>
                </a:xfrm>
                <a:prstGeom prst="line">
                  <a:avLst/>
                </a:prstGeom>
                <a:ln w="1905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317" name="Group 52"/>
            <p:cNvGrpSpPr>
              <a:grpSpLocks/>
            </p:cNvGrpSpPr>
            <p:nvPr/>
          </p:nvGrpSpPr>
          <p:grpSpPr bwMode="auto">
            <a:xfrm>
              <a:off x="4898209" y="2894013"/>
              <a:ext cx="274487" cy="228600"/>
              <a:chOff x="4812475" y="2797319"/>
              <a:chExt cx="274384" cy="228660"/>
            </a:xfrm>
          </p:grpSpPr>
          <p:grpSp>
            <p:nvGrpSpPr>
              <p:cNvPr id="8319" name="Group 31"/>
              <p:cNvGrpSpPr>
                <a:grpSpLocks/>
              </p:cNvGrpSpPr>
              <p:nvPr/>
            </p:nvGrpSpPr>
            <p:grpSpPr bwMode="auto">
              <a:xfrm flipH="1">
                <a:off x="4812475" y="2821138"/>
                <a:ext cx="203013" cy="169907"/>
                <a:chOff x="2768787" y="4093036"/>
                <a:chExt cx="203013" cy="169907"/>
              </a:xfrm>
            </p:grpSpPr>
            <p:cxnSp>
              <p:nvCxnSpPr>
                <p:cNvPr id="33" name="Straight Connector 32"/>
                <p:cNvCxnSpPr/>
                <p:nvPr/>
              </p:nvCxnSpPr>
              <p:spPr>
                <a:xfrm flipV="1">
                  <a:off x="2768788" y="4093035"/>
                  <a:ext cx="203012" cy="71457"/>
                </a:xfrm>
                <a:prstGeom prst="line">
                  <a:avLst/>
                </a:prstGeom>
                <a:ln w="1905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>
                  <a:off x="2768788" y="4191486"/>
                  <a:ext cx="203012" cy="71457"/>
                </a:xfrm>
                <a:prstGeom prst="line">
                  <a:avLst/>
                </a:prstGeom>
                <a:ln w="1905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" name="Straight Connector 34"/>
              <p:cNvCxnSpPr/>
              <p:nvPr/>
            </p:nvCxnSpPr>
            <p:spPr>
              <a:xfrm>
                <a:off x="5086858" y="2797319"/>
                <a:ext cx="0" cy="228660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Rectangle 56"/>
            <p:cNvSpPr/>
            <p:nvPr/>
          </p:nvSpPr>
          <p:spPr bwMode="auto">
            <a:xfrm>
              <a:off x="5410690" y="2719388"/>
              <a:ext cx="574129" cy="288147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400" dirty="0" smtClean="0">
                  <a:solidFill>
                    <a:srgbClr val="FFFF00"/>
                  </a:solidFill>
                  <a:latin typeface="+mn-lt"/>
                </a:rPr>
                <a:t>handle</a:t>
              </a:r>
              <a:endParaRPr lang="en-US" sz="1400" dirty="0">
                <a:solidFill>
                  <a:srgbClr val="FFFF00"/>
                </a:solidFill>
                <a:latin typeface="+mn-lt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7188927" y="4040188"/>
            <a:ext cx="444072" cy="1291271"/>
            <a:chOff x="8166528" y="4040188"/>
            <a:chExt cx="444072" cy="1291271"/>
          </a:xfrm>
        </p:grpSpPr>
        <p:cxnSp>
          <p:nvCxnSpPr>
            <p:cNvPr id="16" name="Straight Connector 15"/>
            <p:cNvCxnSpPr/>
            <p:nvPr/>
          </p:nvCxnSpPr>
          <p:spPr bwMode="auto">
            <a:xfrm>
              <a:off x="8273672" y="4051299"/>
              <a:ext cx="0" cy="128016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07" name="Group 51"/>
            <p:cNvGrpSpPr>
              <a:grpSpLocks/>
            </p:cNvGrpSpPr>
            <p:nvPr/>
          </p:nvGrpSpPr>
          <p:grpSpPr bwMode="auto">
            <a:xfrm>
              <a:off x="8172070" y="4040188"/>
              <a:ext cx="215900" cy="363537"/>
              <a:chOff x="6968382" y="3670347"/>
              <a:chExt cx="215745" cy="363615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6968382" y="3925989"/>
                <a:ext cx="215745" cy="107973"/>
              </a:xfrm>
              <a:prstGeom prst="ellipse">
                <a:avLst/>
              </a:pr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SG"/>
              </a:p>
            </p:txBody>
          </p:sp>
          <p:grpSp>
            <p:nvGrpSpPr>
              <p:cNvPr id="8313" name="Group 43"/>
              <p:cNvGrpSpPr>
                <a:grpSpLocks/>
              </p:cNvGrpSpPr>
              <p:nvPr/>
            </p:nvGrpSpPr>
            <p:grpSpPr bwMode="auto">
              <a:xfrm>
                <a:off x="6996892" y="3670347"/>
                <a:ext cx="151609" cy="215946"/>
                <a:chOff x="2042718" y="4227000"/>
                <a:chExt cx="151609" cy="215946"/>
              </a:xfrm>
            </p:grpSpPr>
            <p:cxnSp>
              <p:nvCxnSpPr>
                <p:cNvPr id="45" name="Straight Connector 44"/>
                <p:cNvCxnSpPr/>
                <p:nvPr/>
              </p:nvCxnSpPr>
              <p:spPr>
                <a:xfrm flipV="1">
                  <a:off x="2122940" y="4227000"/>
                  <a:ext cx="71387" cy="215946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 flipH="1" flipV="1">
                  <a:off x="2042718" y="4227000"/>
                  <a:ext cx="58696" cy="215946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308" name="Group 42"/>
            <p:cNvGrpSpPr>
              <a:grpSpLocks/>
            </p:cNvGrpSpPr>
            <p:nvPr/>
          </p:nvGrpSpPr>
          <p:grpSpPr bwMode="auto">
            <a:xfrm>
              <a:off x="8166528" y="5172075"/>
              <a:ext cx="219845" cy="68263"/>
              <a:chOff x="4375055" y="4358540"/>
              <a:chExt cx="219687" cy="68278"/>
            </a:xfrm>
          </p:grpSpPr>
          <p:cxnSp>
            <p:nvCxnSpPr>
              <p:cNvPr id="47" name="Straight Connector 46"/>
              <p:cNvCxnSpPr/>
              <p:nvPr/>
            </p:nvCxnSpPr>
            <p:spPr>
              <a:xfrm>
                <a:off x="4378998" y="4358540"/>
                <a:ext cx="215744" cy="0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4375055" y="4426818"/>
                <a:ext cx="215744" cy="0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Rectangle 57"/>
            <p:cNvSpPr/>
            <p:nvPr/>
          </p:nvSpPr>
          <p:spPr bwMode="auto">
            <a:xfrm>
              <a:off x="8348743" y="4552950"/>
              <a:ext cx="261857" cy="288147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400" dirty="0">
                  <a:solidFill>
                    <a:srgbClr val="FFFF00"/>
                  </a:solidFill>
                  <a:latin typeface="+mn-lt"/>
                </a:rPr>
                <a:t>on</a:t>
              </a:r>
            </a:p>
          </p:txBody>
        </p:sp>
      </p:grpSp>
      <p:cxnSp>
        <p:nvCxnSpPr>
          <p:cNvPr id="17" name="Straight Connector 16"/>
          <p:cNvCxnSpPr/>
          <p:nvPr/>
        </p:nvCxnSpPr>
        <p:spPr bwMode="auto">
          <a:xfrm>
            <a:off x="5999368" y="5961908"/>
            <a:ext cx="7772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99" name="Group 48"/>
          <p:cNvGrpSpPr>
            <a:grpSpLocks/>
          </p:cNvGrpSpPr>
          <p:nvPr/>
        </p:nvGrpSpPr>
        <p:grpSpPr bwMode="auto">
          <a:xfrm>
            <a:off x="6562735" y="5837536"/>
            <a:ext cx="76190" cy="228481"/>
            <a:chOff x="5486400" y="5867400"/>
            <a:chExt cx="76200" cy="228600"/>
          </a:xfrm>
        </p:grpSpPr>
        <p:cxnSp>
          <p:nvCxnSpPr>
            <p:cNvPr id="3" name="Straight Connector 2"/>
            <p:cNvCxnSpPr/>
            <p:nvPr/>
          </p:nvCxnSpPr>
          <p:spPr>
            <a:xfrm>
              <a:off x="5486390" y="5867281"/>
              <a:ext cx="0" cy="228719"/>
            </a:xfrm>
            <a:prstGeom prst="line">
              <a:avLst/>
            </a:prstGeom>
            <a:ln w="190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5562600" y="5867281"/>
              <a:ext cx="0" cy="228719"/>
            </a:xfrm>
            <a:prstGeom prst="line">
              <a:avLst/>
            </a:prstGeom>
            <a:ln w="190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Rectangle 58"/>
          <p:cNvSpPr/>
          <p:nvPr/>
        </p:nvSpPr>
        <p:spPr bwMode="auto">
          <a:xfrm>
            <a:off x="4508003" y="4475382"/>
            <a:ext cx="438124" cy="288147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dirty="0" smtClean="0">
                <a:solidFill>
                  <a:srgbClr val="FFFF00"/>
                </a:solidFill>
                <a:latin typeface="+mn-lt"/>
              </a:rPr>
              <a:t>work</a:t>
            </a:r>
            <a:endParaRPr lang="en-US" sz="1400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964077" y="2817813"/>
            <a:ext cx="12436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u="sng" dirty="0" err="1" smtClean="0"/>
              <a:t>VehNum</a:t>
            </a:r>
            <a:r>
              <a:rPr lang="en-GB" altLang="en-US" sz="1600" u="sng" dirty="0" smtClean="0"/>
              <a:t>(PK)</a:t>
            </a:r>
            <a:endParaRPr lang="en-SG" altLang="en-US" sz="1600" b="1" u="sng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96963" y="3141663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400">
                <a:solidFill>
                  <a:srgbClr val="C00000"/>
                </a:solidFill>
              </a:rPr>
              <a:t>VehModel</a:t>
            </a:r>
            <a:endParaRPr lang="en-SG" altLang="en-US" sz="140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001713" y="3421063"/>
            <a:ext cx="1120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400">
                <a:solidFill>
                  <a:srgbClr val="C00000"/>
                </a:solidFill>
              </a:rPr>
              <a:t>DateRegister</a:t>
            </a:r>
            <a:endParaRPr lang="en-SG" altLang="en-US" sz="1400">
              <a:solidFill>
                <a:srgbClr val="C00000"/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139082"/>
              </p:ext>
            </p:extLst>
          </p:nvPr>
        </p:nvGraphicFramePr>
        <p:xfrm>
          <a:off x="3841956" y="2776538"/>
          <a:ext cx="1209675" cy="1171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850">
                <a:tc>
                  <a:txBody>
                    <a:bodyPr/>
                    <a:lstStyle/>
                    <a:p>
                      <a:pPr algn="ctr"/>
                      <a:r>
                        <a:rPr lang="en-GB" sz="1600" b="0" u="sng" dirty="0" err="1" smtClean="0">
                          <a:solidFill>
                            <a:schemeClr val="tx1"/>
                          </a:solidFill>
                        </a:rPr>
                        <a:t>EmpID</a:t>
                      </a:r>
                      <a:r>
                        <a:rPr lang="en-GB" sz="1600" b="0" u="sng" dirty="0" smtClean="0">
                          <a:solidFill>
                            <a:schemeClr val="tx1"/>
                          </a:solidFill>
                        </a:rPr>
                        <a:t>(PK)</a:t>
                      </a:r>
                      <a:endParaRPr lang="en-SG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03" marB="36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36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EmpName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3" marB="36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6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rgbClr val="C00000"/>
                          </a:solidFill>
                        </a:rPr>
                        <a:t>Professions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3" marB="36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6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ChargeRate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3" marB="36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712666"/>
              </p:ext>
            </p:extLst>
          </p:nvPr>
        </p:nvGraphicFramePr>
        <p:xfrm>
          <a:off x="6705600" y="2870200"/>
          <a:ext cx="1209675" cy="117316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175">
                <a:tc>
                  <a:txBody>
                    <a:bodyPr/>
                    <a:lstStyle/>
                    <a:p>
                      <a:pPr algn="ctr"/>
                      <a:r>
                        <a:rPr lang="en-GB" sz="1600" b="0" u="sng" dirty="0" err="1" smtClean="0">
                          <a:solidFill>
                            <a:schemeClr val="tx1"/>
                          </a:solidFill>
                        </a:rPr>
                        <a:t>ProjCode</a:t>
                      </a:r>
                      <a:r>
                        <a:rPr lang="en-GB" sz="1600" b="0" u="sng" dirty="0" smtClean="0">
                          <a:solidFill>
                            <a:schemeClr val="tx1"/>
                          </a:solidFill>
                        </a:rPr>
                        <a:t>(PK)</a:t>
                      </a:r>
                      <a:endParaRPr lang="en-SG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39" marB="3603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66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ProjTitle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9" marB="3603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66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ProjCost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9" marB="3603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66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ProjMgr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9" marB="3603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83654"/>
              </p:ext>
            </p:extLst>
          </p:nvPr>
        </p:nvGraphicFramePr>
        <p:xfrm>
          <a:off x="6802438" y="5667375"/>
          <a:ext cx="1023937" cy="9477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23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u="sng" dirty="0" err="1" smtClean="0">
                          <a:solidFill>
                            <a:schemeClr val="tx1"/>
                          </a:solidFill>
                        </a:rPr>
                        <a:t>SiteNo</a:t>
                      </a:r>
                      <a:r>
                        <a:rPr lang="en-GB" sz="1600" u="sng" dirty="0" smtClean="0">
                          <a:solidFill>
                            <a:schemeClr val="tx1"/>
                          </a:solidFill>
                        </a:rPr>
                        <a:t>(PK)</a:t>
                      </a:r>
                      <a:endParaRPr lang="en-SG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36018" marR="36018" marT="36010" marB="3601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rgbClr val="C00000"/>
                          </a:solidFill>
                        </a:rPr>
                        <a:t>Location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36010" marB="3601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rgbClr val="C00000"/>
                          </a:solidFill>
                        </a:rPr>
                        <a:t>Area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36010" marB="3601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1" name="Text Box 3"/>
          <p:cNvSpPr txBox="1">
            <a:spLocks noChangeArrowheads="1"/>
          </p:cNvSpPr>
          <p:nvPr/>
        </p:nvSpPr>
        <p:spPr bwMode="auto">
          <a:xfrm>
            <a:off x="381000" y="4323005"/>
            <a:ext cx="3876098" cy="1163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Question: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How to produce a completely modelled ER diagram?</a:t>
            </a:r>
            <a:endParaRPr lang="en-US" altLang="en-US" sz="2400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Text Box 3"/>
          <p:cNvSpPr txBox="1">
            <a:spLocks noChangeArrowheads="1"/>
          </p:cNvSpPr>
          <p:nvPr/>
        </p:nvSpPr>
        <p:spPr bwMode="auto">
          <a:xfrm>
            <a:off x="381000" y="5542205"/>
            <a:ext cx="3876098" cy="1163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Solution: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Perform modelling by the relationships in ERD</a:t>
            </a:r>
            <a:endParaRPr lang="en-US" altLang="en-US" sz="2400" dirty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AD9CB2B0-85D6-472A-9360-7990D2884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164700"/>
              </p:ext>
            </p:extLst>
          </p:nvPr>
        </p:nvGraphicFramePr>
        <p:xfrm>
          <a:off x="3782704" y="5284119"/>
          <a:ext cx="1280160" cy="126365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DEPARTMENT</a:t>
                      </a:r>
                      <a:endParaRPr lang="en-SG" sz="16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18" marR="36018" marT="36010" marB="3601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b="1" u="sng" dirty="0" err="1">
                          <a:solidFill>
                            <a:schemeClr val="tx1"/>
                          </a:solidFill>
                        </a:rPr>
                        <a:t>DepNo</a:t>
                      </a:r>
                      <a:r>
                        <a:rPr lang="en-GB" sz="1600" b="1" u="sng" dirty="0">
                          <a:solidFill>
                            <a:schemeClr val="tx1"/>
                          </a:solidFill>
                        </a:rPr>
                        <a:t>(PK)</a:t>
                      </a:r>
                      <a:endParaRPr lang="en-SG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36018" marR="36018" marT="36010" marB="3601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>
                          <a:solidFill>
                            <a:srgbClr val="C00000"/>
                          </a:solidFill>
                        </a:rPr>
                        <a:t>DepName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36010" marB="3601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>
                          <a:solidFill>
                            <a:srgbClr val="C00000"/>
                          </a:solidFill>
                        </a:rPr>
                        <a:t>DepMgr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36010" marB="3601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4" name="Group 63">
            <a:extLst>
              <a:ext uri="{FF2B5EF4-FFF2-40B4-BE49-F238E27FC236}">
                <a16:creationId xmlns:a16="http://schemas.microsoft.com/office/drawing/2014/main" id="{F54702CB-B323-4EC6-BB01-D8804C4F5DBA}"/>
              </a:ext>
            </a:extLst>
          </p:cNvPr>
          <p:cNvGrpSpPr/>
          <p:nvPr/>
        </p:nvGrpSpPr>
        <p:grpSpPr>
          <a:xfrm>
            <a:off x="4350399" y="3937949"/>
            <a:ext cx="221601" cy="1346170"/>
            <a:chOff x="3871686" y="3965606"/>
            <a:chExt cx="221601" cy="1346170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6258CBF-5DA5-4D0F-878D-7D4812D2CE0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957860" y="3966331"/>
              <a:ext cx="24628" cy="1345445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28">
              <a:extLst>
                <a:ext uri="{FF2B5EF4-FFF2-40B4-BE49-F238E27FC236}">
                  <a16:creationId xmlns:a16="http://schemas.microsoft.com/office/drawing/2014/main" id="{C4DB0CE2-3778-4F0E-ACF5-417394538BEB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866654" y="3970638"/>
              <a:ext cx="231666" cy="221601"/>
              <a:chOff x="3535513" y="4660075"/>
              <a:chExt cx="274487" cy="228600"/>
            </a:xfrm>
          </p:grpSpPr>
          <p:grpSp>
            <p:nvGrpSpPr>
              <p:cNvPr id="67" name="Group 31">
                <a:extLst>
                  <a:ext uri="{FF2B5EF4-FFF2-40B4-BE49-F238E27FC236}">
                    <a16:creationId xmlns:a16="http://schemas.microsoft.com/office/drawing/2014/main" id="{4DEA2E56-5274-4482-BC4F-63C7E96BCB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535513" y="4690016"/>
                <a:ext cx="217093" cy="160783"/>
                <a:chOff x="2754788" y="4102175"/>
                <a:chExt cx="217012" cy="160825"/>
              </a:xfrm>
            </p:grpSpPr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0E3697E4-EBEF-403B-BA7B-7C92172668A8}"/>
                    </a:ext>
                  </a:extLst>
                </p:cNvPr>
                <p:cNvCxnSpPr/>
                <p:nvPr/>
              </p:nvCxnSpPr>
              <p:spPr>
                <a:xfrm flipV="1">
                  <a:off x="2754748" y="4102564"/>
                  <a:ext cx="217550" cy="71396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D99B50AD-6824-4702-86FD-DD2BCCC77DC9}"/>
                    </a:ext>
                  </a:extLst>
                </p:cNvPr>
                <p:cNvCxnSpPr/>
                <p:nvPr/>
              </p:nvCxnSpPr>
              <p:spPr>
                <a:xfrm>
                  <a:off x="2754748" y="4191412"/>
                  <a:ext cx="217550" cy="71396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F380E059-A429-4AB1-97C5-820906FCA904}"/>
                  </a:ext>
                </a:extLst>
              </p:cNvPr>
              <p:cNvCxnSpPr/>
              <p:nvPr/>
            </p:nvCxnSpPr>
            <p:spPr bwMode="auto">
              <a:xfrm>
                <a:off x="3809834" y="4660268"/>
                <a:ext cx="0" cy="228407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1" name="Group 16">
            <a:extLst>
              <a:ext uri="{FF2B5EF4-FFF2-40B4-BE49-F238E27FC236}">
                <a16:creationId xmlns:a16="http://schemas.microsoft.com/office/drawing/2014/main" id="{8A7FACF7-6B30-4226-9AE8-0F4728BEE323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4405815" y="5009689"/>
            <a:ext cx="64313" cy="220062"/>
            <a:chOff x="2895600" y="3948112"/>
            <a:chExt cx="76200" cy="227013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327A160-C8C1-4302-A518-F9F4C5C405C1}"/>
                </a:ext>
              </a:extLst>
            </p:cNvPr>
            <p:cNvCxnSpPr/>
            <p:nvPr/>
          </p:nvCxnSpPr>
          <p:spPr bwMode="auto">
            <a:xfrm>
              <a:off x="2895759" y="3948068"/>
              <a:ext cx="0" cy="226821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EC516C92-ADA2-4AAA-9E50-63071DA88999}"/>
                </a:ext>
              </a:extLst>
            </p:cNvPr>
            <p:cNvCxnSpPr/>
            <p:nvPr/>
          </p:nvCxnSpPr>
          <p:spPr bwMode="auto">
            <a:xfrm>
              <a:off x="2972010" y="3948068"/>
              <a:ext cx="0" cy="226821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D369155-E740-49B4-B012-F29CB107D621}"/>
              </a:ext>
            </a:extLst>
          </p:cNvPr>
          <p:cNvGrpSpPr/>
          <p:nvPr/>
        </p:nvGrpSpPr>
        <p:grpSpPr>
          <a:xfrm rot="16200000">
            <a:off x="5417830" y="3134972"/>
            <a:ext cx="273979" cy="1040533"/>
            <a:chOff x="5559809" y="3864169"/>
            <a:chExt cx="273979" cy="1040533"/>
          </a:xfrm>
        </p:grpSpPr>
        <p:cxnSp>
          <p:nvCxnSpPr>
            <p:cNvPr id="75" name="Straight Connector 74"/>
            <p:cNvCxnSpPr>
              <a:cxnSpLocks/>
            </p:cNvCxnSpPr>
            <p:nvPr/>
          </p:nvCxnSpPr>
          <p:spPr bwMode="auto">
            <a:xfrm flipV="1">
              <a:off x="5680922" y="3892433"/>
              <a:ext cx="18131" cy="1012269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50"/>
            <p:cNvGrpSpPr>
              <a:grpSpLocks/>
            </p:cNvGrpSpPr>
            <p:nvPr/>
          </p:nvGrpSpPr>
          <p:grpSpPr bwMode="auto">
            <a:xfrm>
              <a:off x="5559809" y="3864169"/>
              <a:ext cx="273979" cy="354538"/>
              <a:chOff x="4128156" y="3815765"/>
              <a:chExt cx="215928" cy="281737"/>
            </a:xfrm>
          </p:grpSpPr>
          <p:grpSp>
            <p:nvGrpSpPr>
              <p:cNvPr id="77" name="Group 24"/>
              <p:cNvGrpSpPr>
                <a:grpSpLocks/>
              </p:cNvGrpSpPr>
              <p:nvPr/>
            </p:nvGrpSpPr>
            <p:grpSpPr bwMode="auto">
              <a:xfrm>
                <a:off x="4153051" y="3815765"/>
                <a:ext cx="162457" cy="226145"/>
                <a:chOff x="2065964" y="4191840"/>
                <a:chExt cx="162457" cy="226145"/>
              </a:xfrm>
            </p:grpSpPr>
            <p:cxnSp>
              <p:nvCxnSpPr>
                <p:cNvPr id="79" name="Straight Connector 78"/>
                <p:cNvCxnSpPr/>
                <p:nvPr/>
              </p:nvCxnSpPr>
              <p:spPr>
                <a:xfrm flipV="1">
                  <a:off x="2156974" y="4203561"/>
                  <a:ext cx="71447" cy="214424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/>
                <p:cNvCxnSpPr/>
                <p:nvPr/>
              </p:nvCxnSpPr>
              <p:spPr>
                <a:xfrm flipH="1" flipV="1">
                  <a:off x="2065964" y="4191840"/>
                  <a:ext cx="71447" cy="214424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8" name="Straight Connector 77"/>
              <p:cNvCxnSpPr/>
              <p:nvPr/>
            </p:nvCxnSpPr>
            <p:spPr>
              <a:xfrm>
                <a:off x="4128156" y="4097502"/>
                <a:ext cx="215928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1" name="Rectangle 80"/>
          <p:cNvSpPr/>
          <p:nvPr/>
        </p:nvSpPr>
        <p:spPr bwMode="auto">
          <a:xfrm>
            <a:off x="5491795" y="4681537"/>
            <a:ext cx="605734" cy="288147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dirty="0">
                <a:solidFill>
                  <a:srgbClr val="FFFF00"/>
                </a:solidFill>
                <a:latin typeface="+mn-lt"/>
              </a:rPr>
              <a:t>reports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6A17D08-E2AF-4A0A-8075-E67C45B801FE}"/>
              </a:ext>
            </a:extLst>
          </p:cNvPr>
          <p:cNvCxnSpPr>
            <a:cxnSpLocks/>
          </p:cNvCxnSpPr>
          <p:nvPr/>
        </p:nvCxnSpPr>
        <p:spPr bwMode="auto">
          <a:xfrm flipH="1">
            <a:off x="6035425" y="3665092"/>
            <a:ext cx="25631" cy="228600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 txBox="1">
            <a:spLocks noChangeArrowheads="1"/>
          </p:cNvSpPr>
          <p:nvPr/>
        </p:nvSpPr>
        <p:spPr bwMode="auto">
          <a:xfrm>
            <a:off x="704849" y="1143000"/>
            <a:ext cx="6102624" cy="503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2800" b="1" dirty="0">
                <a:solidFill>
                  <a:srgbClr val="FFFF00"/>
                </a:solidFill>
                <a:cs typeface="Times New Roman" panose="02020603050405020304" pitchFamily="18" charset="0"/>
              </a:rPr>
              <a:t>A</a:t>
            </a:r>
            <a:r>
              <a:rPr lang="en-US" altLang="en-US" sz="2800" b="1" dirty="0" smtClean="0">
                <a:solidFill>
                  <a:srgbClr val="FFFF00"/>
                </a:solidFill>
                <a:cs typeface="Times New Roman" panose="02020603050405020304" pitchFamily="18" charset="0"/>
              </a:rPr>
              <a:t> modelled Entity Relationship Diagram:</a:t>
            </a:r>
            <a:endParaRPr lang="en-US" altLang="en-US" sz="2800" b="1" dirty="0">
              <a:solidFill>
                <a:srgbClr val="FFFF00"/>
              </a:solidFill>
              <a:cs typeface="Times New Roman" panose="02020603050405020304" pitchFamily="18" charset="0"/>
            </a:endParaRPr>
          </a:p>
        </p:txBody>
      </p:sp>
      <p:sp>
        <p:nvSpPr>
          <p:cNvPr id="7171" name="Rectangle 9"/>
          <p:cNvSpPr>
            <a:spLocks noChangeArrowheads="1"/>
          </p:cNvSpPr>
          <p:nvPr/>
        </p:nvSpPr>
        <p:spPr bwMode="auto">
          <a:xfrm>
            <a:off x="728128" y="1761574"/>
            <a:ext cx="7987574" cy="2658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927100" indent="-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SG" altLang="en-US" sz="2400" dirty="0" smtClean="0">
                <a:solidFill>
                  <a:srgbClr val="FFC000"/>
                </a:solidFill>
              </a:rPr>
              <a:t>Closely resemble with ER diagram,  a modelled relational entity diagram should contain :</a:t>
            </a:r>
          </a:p>
          <a:p>
            <a:pPr eaLnBrk="1" hangingPunct="1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SG" altLang="en-US" sz="2400" dirty="0" smtClean="0">
                <a:solidFill>
                  <a:srgbClr val="FFC000"/>
                </a:solidFill>
              </a:rPr>
              <a:t>Entities, Attributes</a:t>
            </a:r>
          </a:p>
          <a:p>
            <a:pPr eaLnBrk="1" hangingPunct="1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SG" altLang="en-US" sz="2400" dirty="0" smtClean="0">
                <a:solidFill>
                  <a:srgbClr val="FFC000"/>
                </a:solidFill>
              </a:rPr>
              <a:t>Relationships with cardinalities </a:t>
            </a:r>
          </a:p>
          <a:p>
            <a:pPr eaLnBrk="1" hangingPunct="1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SG" altLang="en-US" sz="2400" dirty="0" smtClean="0">
                <a:solidFill>
                  <a:srgbClr val="FFFF00"/>
                </a:solidFill>
              </a:rPr>
              <a:t>Insertion of foreign keys in the child entity and hence, establish a relationship between primary and foreign keys in the adjacent entities</a:t>
            </a:r>
            <a:r>
              <a:rPr lang="en-SG" altLang="en-US" sz="2400" dirty="0" smtClean="0">
                <a:solidFill>
                  <a:srgbClr val="FFC000"/>
                </a:solidFill>
              </a:rPr>
              <a:t>.</a:t>
            </a:r>
            <a:endParaRPr lang="en-SG" altLang="en-US" sz="2400" dirty="0">
              <a:solidFill>
                <a:srgbClr val="FFC000"/>
              </a:solidFill>
            </a:endParaRPr>
          </a:p>
        </p:txBody>
      </p:sp>
      <p:sp>
        <p:nvSpPr>
          <p:cNvPr id="7172" name="Title 1"/>
          <p:cNvSpPr>
            <a:spLocks noGrp="1"/>
          </p:cNvSpPr>
          <p:nvPr>
            <p:ph type="ctrTitle" idx="4294967295"/>
          </p:nvPr>
        </p:nvSpPr>
        <p:spPr>
          <a:xfrm>
            <a:off x="670034" y="400268"/>
            <a:ext cx="6575425" cy="584200"/>
          </a:xfrm>
        </p:spPr>
        <p:txBody>
          <a:bodyPr wrap="none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Entity-Relationship Modelling (ERM)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8274"/>
              </p:ext>
            </p:extLst>
          </p:nvPr>
        </p:nvGraphicFramePr>
        <p:xfrm>
          <a:off x="5353050" y="4757738"/>
          <a:ext cx="1371600" cy="126365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DEPARTMENT</a:t>
                      </a:r>
                      <a:endParaRPr lang="en-SG" sz="16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18" marR="36018" marT="36010" marB="3601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b="1" u="sng" dirty="0" err="1" smtClean="0">
                          <a:solidFill>
                            <a:schemeClr val="tx1"/>
                          </a:solidFill>
                        </a:rPr>
                        <a:t>DepNo</a:t>
                      </a:r>
                      <a:r>
                        <a:rPr lang="en-GB" sz="1600" b="1" u="sng" dirty="0" smtClean="0">
                          <a:solidFill>
                            <a:schemeClr val="tx1"/>
                          </a:solidFill>
                        </a:rPr>
                        <a:t>(PK)</a:t>
                      </a:r>
                      <a:endParaRPr lang="en-SG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36018" marR="36018" marT="36010" marB="3601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DepName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36010" marB="3601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DepMgr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36010" marB="3601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299075" y="6140450"/>
            <a:ext cx="1850241" cy="318924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Entity: </a:t>
            </a:r>
            <a:r>
              <a:rPr lang="en-US" sz="1600" b="1" dirty="0" smtClean="0">
                <a:solidFill>
                  <a:srgbClr val="FFFF00"/>
                </a:solidFill>
                <a:latin typeface="+mn-lt"/>
              </a:rPr>
              <a:t>DEPARTMENT</a:t>
            </a:r>
            <a:endParaRPr lang="en-US" sz="1600" b="1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784975" y="5041900"/>
            <a:ext cx="377825" cy="288925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dirty="0">
                <a:solidFill>
                  <a:srgbClr val="FFFF00"/>
                </a:solidFill>
                <a:latin typeface="+mn-lt"/>
              </a:rPr>
              <a:t>(PK)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33600" y="4710113"/>
            <a:ext cx="379413" cy="288925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dirty="0">
                <a:solidFill>
                  <a:srgbClr val="FFFF00"/>
                </a:solidFill>
                <a:latin typeface="+mn-lt"/>
              </a:rPr>
              <a:t>(PK)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38400" y="6538913"/>
            <a:ext cx="1677988" cy="319087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Entity: EMPLOYEES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32013" y="6172200"/>
            <a:ext cx="357187" cy="288925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dirty="0">
                <a:solidFill>
                  <a:srgbClr val="FFFF00"/>
                </a:solidFill>
                <a:latin typeface="+mn-lt"/>
              </a:rPr>
              <a:t>(FK)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689693"/>
              </p:ext>
            </p:extLst>
          </p:nvPr>
        </p:nvGraphicFramePr>
        <p:xfrm>
          <a:off x="2503488" y="4405313"/>
          <a:ext cx="1209675" cy="2058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</a:t>
                      </a:r>
                      <a:endParaRPr lang="en-SG" sz="16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10" marB="36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8">
                <a:tc>
                  <a:txBody>
                    <a:bodyPr/>
                    <a:lstStyle/>
                    <a:p>
                      <a:pPr algn="ctr"/>
                      <a:r>
                        <a:rPr lang="en-GB" sz="1600" b="0" u="sng" dirty="0" err="1" smtClean="0">
                          <a:solidFill>
                            <a:schemeClr val="tx1"/>
                          </a:solidFill>
                        </a:rPr>
                        <a:t>EmpID</a:t>
                      </a:r>
                      <a:r>
                        <a:rPr lang="en-GB" sz="1600" b="0" u="sng" dirty="0" smtClean="0">
                          <a:solidFill>
                            <a:schemeClr val="tx1"/>
                          </a:solidFill>
                        </a:rPr>
                        <a:t>(PK)</a:t>
                      </a:r>
                      <a:endParaRPr lang="en-SG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10" marB="36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43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EmpName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10" marB="36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43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rgbClr val="C00000"/>
                          </a:solidFill>
                        </a:rPr>
                        <a:t>Professions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10" marB="36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43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ChargeRate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10" marB="36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43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rgbClr val="C00000"/>
                          </a:solidFill>
                        </a:rPr>
                        <a:t>Department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10" marB="36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430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10" marB="36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2" name="Group 21"/>
          <p:cNvGrpSpPr>
            <a:grpSpLocks/>
          </p:cNvGrpSpPr>
          <p:nvPr/>
        </p:nvGrpSpPr>
        <p:grpSpPr bwMode="auto">
          <a:xfrm>
            <a:off x="3676650" y="4918075"/>
            <a:ext cx="1660525" cy="1509713"/>
            <a:chOff x="3066290" y="2709014"/>
            <a:chExt cx="1661627" cy="1508437"/>
          </a:xfrm>
        </p:grpSpPr>
        <p:cxnSp>
          <p:nvCxnSpPr>
            <p:cNvPr id="23" name="Straight Connector 22"/>
            <p:cNvCxnSpPr/>
            <p:nvPr/>
          </p:nvCxnSpPr>
          <p:spPr bwMode="auto">
            <a:xfrm flipV="1">
              <a:off x="3066290" y="4098489"/>
              <a:ext cx="835579" cy="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 bwMode="auto">
            <a:xfrm>
              <a:off x="3657232" y="2709014"/>
              <a:ext cx="476399" cy="287903"/>
            </a:xfrm>
            <a:prstGeom prst="rect">
              <a:avLst/>
            </a:prstGeom>
            <a:ln w="28575">
              <a:noFill/>
            </a:ln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400" b="1" dirty="0" smtClean="0">
                  <a:solidFill>
                    <a:srgbClr val="FFFF00"/>
                  </a:solidFill>
                  <a:latin typeface="+mn-lt"/>
                </a:rPr>
                <a:t>Work</a:t>
              </a:r>
              <a:endParaRPr lang="en-US" sz="1400" b="1" dirty="0">
                <a:solidFill>
                  <a:srgbClr val="FFFF00"/>
                </a:solidFill>
                <a:latin typeface="+mn-lt"/>
              </a:endParaRPr>
            </a:p>
          </p:txBody>
        </p:sp>
        <p:grpSp>
          <p:nvGrpSpPr>
            <p:cNvPr id="25" name="Group 16"/>
            <p:cNvGrpSpPr>
              <a:grpSpLocks/>
            </p:cNvGrpSpPr>
            <p:nvPr/>
          </p:nvGrpSpPr>
          <p:grpSpPr bwMode="auto">
            <a:xfrm>
              <a:off x="4549840" y="2908914"/>
              <a:ext cx="76200" cy="227013"/>
              <a:chOff x="2895600" y="3948112"/>
              <a:chExt cx="76200" cy="227013"/>
            </a:xfrm>
          </p:grpSpPr>
          <p:cxnSp>
            <p:nvCxnSpPr>
              <p:cNvPr id="33" name="Straight Connector 32"/>
              <p:cNvCxnSpPr/>
              <p:nvPr/>
            </p:nvCxnSpPr>
            <p:spPr bwMode="auto">
              <a:xfrm>
                <a:off x="2895759" y="3948068"/>
                <a:ext cx="0" cy="226821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auto">
              <a:xfrm>
                <a:off x="2972010" y="3948068"/>
                <a:ext cx="0" cy="226821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Straight Connector 25"/>
            <p:cNvCxnSpPr/>
            <p:nvPr/>
          </p:nvCxnSpPr>
          <p:spPr bwMode="auto">
            <a:xfrm flipV="1">
              <a:off x="3892338" y="3013556"/>
              <a:ext cx="835579" cy="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V="1">
              <a:off x="3893927" y="3016729"/>
              <a:ext cx="0" cy="1080174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oup 28"/>
            <p:cNvGrpSpPr>
              <a:grpSpLocks/>
            </p:cNvGrpSpPr>
            <p:nvPr/>
          </p:nvGrpSpPr>
          <p:grpSpPr bwMode="auto">
            <a:xfrm>
              <a:off x="3084263" y="3988851"/>
              <a:ext cx="274487" cy="228600"/>
              <a:chOff x="3535513" y="4660075"/>
              <a:chExt cx="274487" cy="228600"/>
            </a:xfrm>
          </p:grpSpPr>
          <p:grpSp>
            <p:nvGrpSpPr>
              <p:cNvPr id="29" name="Group 31"/>
              <p:cNvGrpSpPr>
                <a:grpSpLocks/>
              </p:cNvGrpSpPr>
              <p:nvPr/>
            </p:nvGrpSpPr>
            <p:grpSpPr bwMode="auto">
              <a:xfrm flipH="1">
                <a:off x="3535513" y="4690016"/>
                <a:ext cx="217093" cy="160783"/>
                <a:chOff x="2754788" y="4102175"/>
                <a:chExt cx="217012" cy="160825"/>
              </a:xfrm>
            </p:grpSpPr>
            <p:cxnSp>
              <p:nvCxnSpPr>
                <p:cNvPr id="31" name="Straight Connector 30"/>
                <p:cNvCxnSpPr/>
                <p:nvPr/>
              </p:nvCxnSpPr>
              <p:spPr>
                <a:xfrm flipV="1">
                  <a:off x="2754748" y="4102564"/>
                  <a:ext cx="217550" cy="71396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/>
                <p:cNvCxnSpPr/>
                <p:nvPr/>
              </p:nvCxnSpPr>
              <p:spPr>
                <a:xfrm>
                  <a:off x="2754748" y="4191412"/>
                  <a:ext cx="217550" cy="71396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0" name="Straight Connector 29"/>
              <p:cNvCxnSpPr/>
              <p:nvPr/>
            </p:nvCxnSpPr>
            <p:spPr bwMode="auto">
              <a:xfrm>
                <a:off x="3809834" y="4660268"/>
                <a:ext cx="0" cy="228407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2516457" y="6203732"/>
            <a:ext cx="1188720" cy="27432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dirty="0" err="1" smtClean="0">
                <a:solidFill>
                  <a:srgbClr val="C00000"/>
                </a:solidFill>
              </a:rPr>
              <a:t>DepNum</a:t>
            </a:r>
            <a:endParaRPr lang="en-SG" alt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394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 txBox="1">
            <a:spLocks noChangeArrowheads="1"/>
          </p:cNvSpPr>
          <p:nvPr/>
        </p:nvSpPr>
        <p:spPr bwMode="auto">
          <a:xfrm>
            <a:off x="533400" y="990600"/>
            <a:ext cx="7912047" cy="934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82550" indent="0">
              <a:buNone/>
              <a:defRPr/>
            </a:pPr>
            <a:r>
              <a:rPr lang="en-US" sz="2800" dirty="0" smtClean="0">
                <a:solidFill>
                  <a:srgbClr val="FFFF00"/>
                </a:solidFill>
                <a:latin typeface="+mn-lt"/>
              </a:rPr>
              <a:t>ER Modelling focuses on the maximum cardinalities at each end of the tie:</a:t>
            </a:r>
          </a:p>
        </p:txBody>
      </p:sp>
      <p:sp>
        <p:nvSpPr>
          <p:cNvPr id="10243" name="Title 1"/>
          <p:cNvSpPr>
            <a:spLocks noGrp="1"/>
          </p:cNvSpPr>
          <p:nvPr>
            <p:ph type="ctrTitle" idx="4294967295"/>
          </p:nvPr>
        </p:nvSpPr>
        <p:spPr>
          <a:xfrm>
            <a:off x="630238" y="381000"/>
            <a:ext cx="8066430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Recap on cardinality </a:t>
            </a:r>
            <a:r>
              <a:rPr lang="en-GB" altLang="en-US" sz="28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- maximum &amp; minimum values</a:t>
            </a:r>
            <a:endParaRPr lang="en-US" altLang="en-US" sz="2800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340815"/>
              </p:ext>
            </p:extLst>
          </p:nvPr>
        </p:nvGraphicFramePr>
        <p:xfrm>
          <a:off x="6019800" y="2160336"/>
          <a:ext cx="1209675" cy="1307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2932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932">
                <a:tc>
                  <a:txBody>
                    <a:bodyPr/>
                    <a:lstStyle/>
                    <a:p>
                      <a:pPr algn="ctr"/>
                      <a:endParaRPr lang="en-SG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294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294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294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53" name="Straight Connector 52"/>
          <p:cNvCxnSpPr/>
          <p:nvPr/>
        </p:nvCxnSpPr>
        <p:spPr bwMode="auto">
          <a:xfrm flipV="1">
            <a:off x="6617326" y="3473668"/>
            <a:ext cx="0" cy="201168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37" name="Group 50"/>
          <p:cNvGrpSpPr>
            <a:grpSpLocks/>
          </p:cNvGrpSpPr>
          <p:nvPr/>
        </p:nvGrpSpPr>
        <p:grpSpPr bwMode="auto">
          <a:xfrm>
            <a:off x="6517872" y="3491870"/>
            <a:ext cx="215900" cy="374828"/>
            <a:chOff x="4108645" y="3799733"/>
            <a:chExt cx="215928" cy="375022"/>
          </a:xfrm>
        </p:grpSpPr>
        <p:grpSp>
          <p:nvGrpSpPr>
            <p:cNvPr id="10471" name="Group 24"/>
            <p:cNvGrpSpPr>
              <a:grpSpLocks/>
            </p:cNvGrpSpPr>
            <p:nvPr/>
          </p:nvGrpSpPr>
          <p:grpSpPr bwMode="auto">
            <a:xfrm>
              <a:off x="4117360" y="3799733"/>
              <a:ext cx="185380" cy="277498"/>
              <a:chOff x="2030273" y="4175808"/>
              <a:chExt cx="185380" cy="277498"/>
            </a:xfrm>
          </p:grpSpPr>
          <p:cxnSp>
            <p:nvCxnSpPr>
              <p:cNvPr id="62" name="Straight Connector 61"/>
              <p:cNvCxnSpPr/>
              <p:nvPr/>
            </p:nvCxnSpPr>
            <p:spPr>
              <a:xfrm flipV="1">
                <a:off x="2124201" y="4178844"/>
                <a:ext cx="91452" cy="274462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 flipH="1" flipV="1">
                <a:off x="2030273" y="4175808"/>
                <a:ext cx="91452" cy="274462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1" name="Straight Connector 60"/>
            <p:cNvCxnSpPr/>
            <p:nvPr/>
          </p:nvCxnSpPr>
          <p:spPr>
            <a:xfrm>
              <a:off x="4108645" y="4174755"/>
              <a:ext cx="215928" cy="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38" name="Group 48"/>
          <p:cNvGrpSpPr>
            <a:grpSpLocks/>
          </p:cNvGrpSpPr>
          <p:nvPr/>
        </p:nvGrpSpPr>
        <p:grpSpPr bwMode="auto">
          <a:xfrm rot="-5400000">
            <a:off x="6510111" y="4998739"/>
            <a:ext cx="213359" cy="274320"/>
            <a:chOff x="5486400" y="5867400"/>
            <a:chExt cx="118533" cy="228600"/>
          </a:xfrm>
        </p:grpSpPr>
        <p:cxnSp>
          <p:nvCxnSpPr>
            <p:cNvPr id="58" name="Straight Connector 57"/>
            <p:cNvCxnSpPr/>
            <p:nvPr/>
          </p:nvCxnSpPr>
          <p:spPr>
            <a:xfrm>
              <a:off x="5486400" y="5867400"/>
              <a:ext cx="0" cy="22860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5604933" y="5867400"/>
              <a:ext cx="0" cy="22860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4" name="Table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177899"/>
              </p:ext>
            </p:extLst>
          </p:nvPr>
        </p:nvGraphicFramePr>
        <p:xfrm>
          <a:off x="6006152" y="2477168"/>
          <a:ext cx="1209675" cy="10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9922">
                <a:tc>
                  <a:txBody>
                    <a:bodyPr/>
                    <a:lstStyle/>
                    <a:p>
                      <a:pPr algn="ctr"/>
                      <a:r>
                        <a:rPr lang="en-GB" sz="1400" b="0" u="sng" dirty="0" err="1" smtClean="0">
                          <a:solidFill>
                            <a:schemeClr val="tx1"/>
                          </a:solidFill>
                        </a:rPr>
                        <a:t>EmpID</a:t>
                      </a:r>
                      <a:endParaRPr lang="en-SG" sz="14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18005" marB="18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944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EmpName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18005" marB="18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944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rgbClr val="C00000"/>
                          </a:solidFill>
                        </a:rPr>
                        <a:t>Professions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18005" marB="18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944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ChargeRate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18005" marB="18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7" name="Table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500295"/>
              </p:ext>
            </p:extLst>
          </p:nvPr>
        </p:nvGraphicFramePr>
        <p:xfrm>
          <a:off x="6138863" y="5455920"/>
          <a:ext cx="1023937" cy="10972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23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SITES</a:t>
                      </a:r>
                      <a:endParaRPr lang="en-SG" sz="14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18" marR="36018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SG" sz="14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8" name="Table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229580"/>
              </p:ext>
            </p:extLst>
          </p:nvPr>
        </p:nvGraphicFramePr>
        <p:xfrm>
          <a:off x="6132513" y="5728972"/>
          <a:ext cx="1023937" cy="79851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23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9872">
                <a:tc>
                  <a:txBody>
                    <a:bodyPr/>
                    <a:lstStyle/>
                    <a:p>
                      <a:pPr algn="ctr"/>
                      <a:r>
                        <a:rPr lang="en-GB" sz="1400" u="sng" dirty="0" err="1" smtClean="0">
                          <a:solidFill>
                            <a:schemeClr val="tx1"/>
                          </a:solidFill>
                        </a:rPr>
                        <a:t>SiteNo</a:t>
                      </a:r>
                      <a:endParaRPr lang="en-SG" sz="14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36018" marR="36018" marT="18002" marB="1800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32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rgbClr val="C00000"/>
                          </a:solidFill>
                        </a:rPr>
                        <a:t>Location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18002" marB="1800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32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rgbClr val="C00000"/>
                          </a:solidFill>
                        </a:rPr>
                        <a:t>Area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18002" marB="1800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9" name="Table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512961"/>
              </p:ext>
            </p:extLst>
          </p:nvPr>
        </p:nvGraphicFramePr>
        <p:xfrm>
          <a:off x="609600" y="4131826"/>
          <a:ext cx="1209675" cy="1487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86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861">
                <a:tc>
                  <a:txBody>
                    <a:bodyPr/>
                    <a:lstStyle/>
                    <a:p>
                      <a:pPr algn="ctr"/>
                      <a:endParaRPr lang="en-SG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0" name="Table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442391"/>
              </p:ext>
            </p:extLst>
          </p:nvPr>
        </p:nvGraphicFramePr>
        <p:xfrm>
          <a:off x="4016593" y="4228664"/>
          <a:ext cx="1209675" cy="148907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119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PROJECTS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33" marB="3603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119">
                <a:tc>
                  <a:txBody>
                    <a:bodyPr/>
                    <a:lstStyle/>
                    <a:p>
                      <a:pPr algn="ctr"/>
                      <a:endParaRPr lang="en-SG" sz="16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3" marB="3603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3" marB="3603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3" marB="3603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3" marB="3603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71" name="Straight Connector 70"/>
          <p:cNvCxnSpPr/>
          <p:nvPr/>
        </p:nvCxnSpPr>
        <p:spPr bwMode="auto">
          <a:xfrm>
            <a:off x="1803400" y="4970026"/>
            <a:ext cx="219456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58" name="Group 53"/>
          <p:cNvGrpSpPr>
            <a:grpSpLocks/>
          </p:cNvGrpSpPr>
          <p:nvPr/>
        </p:nvGrpSpPr>
        <p:grpSpPr bwMode="auto">
          <a:xfrm>
            <a:off x="3473438" y="4863692"/>
            <a:ext cx="529641" cy="215900"/>
            <a:chOff x="5960651" y="2798906"/>
            <a:chExt cx="529396" cy="215957"/>
          </a:xfrm>
        </p:grpSpPr>
        <p:sp>
          <p:nvSpPr>
            <p:cNvPr id="80" name="Oval 79"/>
            <p:cNvSpPr/>
            <p:nvPr/>
          </p:nvSpPr>
          <p:spPr>
            <a:xfrm>
              <a:off x="5960651" y="2798906"/>
              <a:ext cx="107900" cy="215957"/>
            </a:xfrm>
            <a:prstGeom prst="ellipse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SG"/>
            </a:p>
          </p:txBody>
        </p:sp>
        <p:grpSp>
          <p:nvGrpSpPr>
            <p:cNvPr id="10466" name="Group 28"/>
            <p:cNvGrpSpPr>
              <a:grpSpLocks/>
            </p:cNvGrpSpPr>
            <p:nvPr/>
          </p:nvGrpSpPr>
          <p:grpSpPr bwMode="auto">
            <a:xfrm>
              <a:off x="6205226" y="2801452"/>
              <a:ext cx="284821" cy="200551"/>
              <a:chOff x="2711901" y="4080777"/>
              <a:chExt cx="284821" cy="200551"/>
            </a:xfrm>
          </p:grpSpPr>
          <p:cxnSp>
            <p:nvCxnSpPr>
              <p:cNvPr id="82" name="Straight Connector 81"/>
              <p:cNvCxnSpPr/>
              <p:nvPr/>
            </p:nvCxnSpPr>
            <p:spPr>
              <a:xfrm flipV="1">
                <a:off x="2711901" y="4080777"/>
                <a:ext cx="274193" cy="91464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2722529" y="4189864"/>
                <a:ext cx="274193" cy="91464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459" name="Group 52"/>
          <p:cNvGrpSpPr>
            <a:grpSpLocks/>
          </p:cNvGrpSpPr>
          <p:nvPr/>
        </p:nvGrpSpPr>
        <p:grpSpPr bwMode="auto">
          <a:xfrm>
            <a:off x="1815546" y="4860489"/>
            <a:ext cx="394250" cy="228600"/>
            <a:chOff x="5361694" y="2797319"/>
            <a:chExt cx="394067" cy="228660"/>
          </a:xfrm>
        </p:grpSpPr>
        <p:grpSp>
          <p:nvGrpSpPr>
            <p:cNvPr id="10461" name="Group 31"/>
            <p:cNvGrpSpPr>
              <a:grpSpLocks/>
            </p:cNvGrpSpPr>
            <p:nvPr/>
          </p:nvGrpSpPr>
          <p:grpSpPr bwMode="auto">
            <a:xfrm flipH="1">
              <a:off x="5361694" y="2810501"/>
              <a:ext cx="274193" cy="200551"/>
              <a:chOff x="2148388" y="4082399"/>
              <a:chExt cx="274193" cy="200551"/>
            </a:xfrm>
          </p:grpSpPr>
          <p:cxnSp>
            <p:nvCxnSpPr>
              <p:cNvPr id="78" name="Straight Connector 77"/>
              <p:cNvCxnSpPr/>
              <p:nvPr/>
            </p:nvCxnSpPr>
            <p:spPr>
              <a:xfrm flipV="1">
                <a:off x="2148388" y="4082399"/>
                <a:ext cx="274193" cy="91464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>
                <a:off x="2148388" y="4191486"/>
                <a:ext cx="274193" cy="91464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7" name="Straight Connector 76"/>
            <p:cNvCxnSpPr/>
            <p:nvPr/>
          </p:nvCxnSpPr>
          <p:spPr>
            <a:xfrm>
              <a:off x="5755761" y="2797319"/>
              <a:ext cx="0" cy="22866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Rectangle 74"/>
          <p:cNvSpPr/>
          <p:nvPr/>
        </p:nvSpPr>
        <p:spPr bwMode="auto">
          <a:xfrm>
            <a:off x="2540222" y="5102611"/>
            <a:ext cx="721920" cy="318924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dirty="0">
                <a:solidFill>
                  <a:srgbClr val="FFFF00"/>
                </a:solidFill>
                <a:latin typeface="+mn-lt"/>
              </a:rPr>
              <a:t>handles</a:t>
            </a:r>
          </a:p>
        </p:txBody>
      </p:sp>
      <p:graphicFrame>
        <p:nvGraphicFramePr>
          <p:cNvPr id="84" name="Table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75675"/>
              </p:ext>
            </p:extLst>
          </p:nvPr>
        </p:nvGraphicFramePr>
        <p:xfrm>
          <a:off x="619125" y="4469964"/>
          <a:ext cx="1209675" cy="1171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850">
                <a:tc>
                  <a:txBody>
                    <a:bodyPr/>
                    <a:lstStyle/>
                    <a:p>
                      <a:pPr algn="ctr"/>
                      <a:r>
                        <a:rPr lang="en-GB" sz="1600" b="0" u="sng" dirty="0" err="1" smtClean="0">
                          <a:solidFill>
                            <a:schemeClr val="tx1"/>
                          </a:solidFill>
                        </a:rPr>
                        <a:t>EmpID</a:t>
                      </a:r>
                      <a:endParaRPr lang="en-SG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03" marB="36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36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EmpName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3" marB="36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6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rgbClr val="C00000"/>
                          </a:solidFill>
                        </a:rPr>
                        <a:t>Professions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3" marB="36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6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ChargeRate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3" marB="36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5" name="Table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21410"/>
              </p:ext>
            </p:extLst>
          </p:nvPr>
        </p:nvGraphicFramePr>
        <p:xfrm>
          <a:off x="4007068" y="4563626"/>
          <a:ext cx="1209675" cy="117316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175">
                <a:tc>
                  <a:txBody>
                    <a:bodyPr/>
                    <a:lstStyle/>
                    <a:p>
                      <a:pPr algn="ctr"/>
                      <a:r>
                        <a:rPr lang="en-GB" sz="1600" b="0" u="sng" dirty="0" err="1" smtClean="0">
                          <a:solidFill>
                            <a:schemeClr val="tx1"/>
                          </a:solidFill>
                        </a:rPr>
                        <a:t>ProjCode</a:t>
                      </a:r>
                      <a:endParaRPr lang="en-SG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39" marB="3603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66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ProjTitle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9" marB="3603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66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ProjCost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9" marB="3603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66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ProjMgr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9" marB="3603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5943600" y="3581400"/>
            <a:ext cx="518686" cy="349702"/>
            <a:chOff x="6553200" y="3581400"/>
            <a:chExt cx="518686" cy="349702"/>
          </a:xfrm>
        </p:grpSpPr>
        <p:sp>
          <p:nvSpPr>
            <p:cNvPr id="72" name="Rectangle 71"/>
            <p:cNvSpPr/>
            <p:nvPr/>
          </p:nvSpPr>
          <p:spPr bwMode="auto">
            <a:xfrm>
              <a:off x="6553200" y="3581400"/>
              <a:ext cx="224989" cy="349702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b="1" dirty="0" smtClean="0">
                  <a:solidFill>
                    <a:schemeClr val="bg1"/>
                  </a:solidFill>
                  <a:latin typeface="+mn-lt"/>
                </a:rPr>
                <a:t>N</a:t>
              </a:r>
              <a:endParaRPr lang="en-US" b="1" dirty="0">
                <a:solidFill>
                  <a:schemeClr val="bg1"/>
                </a:solidFill>
                <a:latin typeface="+mn-lt"/>
              </a:endParaRPr>
            </a:p>
          </p:txBody>
        </p:sp>
        <p:cxnSp>
          <p:nvCxnSpPr>
            <p:cNvPr id="5" name="Straight Arrow Connector 4"/>
            <p:cNvCxnSpPr/>
            <p:nvPr/>
          </p:nvCxnSpPr>
          <p:spPr>
            <a:xfrm flipV="1">
              <a:off x="6797566" y="3670506"/>
              <a:ext cx="274320" cy="73152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5943600" y="4921525"/>
            <a:ext cx="478581" cy="349702"/>
            <a:chOff x="6553200" y="4207653"/>
            <a:chExt cx="478581" cy="349702"/>
          </a:xfrm>
        </p:grpSpPr>
        <p:sp>
          <p:nvSpPr>
            <p:cNvPr id="73" name="Rectangle 72"/>
            <p:cNvSpPr/>
            <p:nvPr/>
          </p:nvSpPr>
          <p:spPr bwMode="auto">
            <a:xfrm>
              <a:off x="6553200" y="4207653"/>
              <a:ext cx="189723" cy="349702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b="1" dirty="0" smtClean="0">
                  <a:solidFill>
                    <a:schemeClr val="bg1"/>
                  </a:solidFill>
                  <a:latin typeface="+mn-lt"/>
                </a:rPr>
                <a:t>1</a:t>
              </a:r>
              <a:endParaRPr lang="en-US" b="1" dirty="0">
                <a:solidFill>
                  <a:schemeClr val="bg1"/>
                </a:solidFill>
                <a:latin typeface="+mn-lt"/>
              </a:endParaRPr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6757461" y="4430528"/>
              <a:ext cx="274320" cy="4572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6781800" y="3596932"/>
            <a:ext cx="1853232" cy="349702"/>
            <a:chOff x="7086600" y="3516629"/>
            <a:chExt cx="1853232" cy="349702"/>
          </a:xfrm>
        </p:grpSpPr>
        <p:sp>
          <p:nvSpPr>
            <p:cNvPr id="76" name="Rectangle 75"/>
            <p:cNvSpPr/>
            <p:nvPr/>
          </p:nvSpPr>
          <p:spPr bwMode="auto">
            <a:xfrm>
              <a:off x="7431608" y="3516629"/>
              <a:ext cx="1508224" cy="349702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SG" dirty="0" smtClean="0">
                  <a:solidFill>
                    <a:schemeClr val="bg1"/>
                  </a:solidFill>
                  <a:latin typeface="+mn-lt"/>
                </a:rPr>
                <a:t>Max cardinality</a:t>
              </a:r>
              <a:endParaRPr lang="en-US" dirty="0">
                <a:solidFill>
                  <a:schemeClr val="bg1"/>
                </a:solidFill>
                <a:latin typeface="+mn-lt"/>
              </a:endParaRP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 flipV="1">
              <a:off x="7086600" y="3577297"/>
              <a:ext cx="365760" cy="9144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6768664" y="4969653"/>
            <a:ext cx="2377417" cy="349702"/>
            <a:chOff x="7149664" y="4264502"/>
            <a:chExt cx="2377417" cy="349702"/>
          </a:xfrm>
        </p:grpSpPr>
        <p:sp>
          <p:nvSpPr>
            <p:cNvPr id="86" name="Rectangle 85"/>
            <p:cNvSpPr/>
            <p:nvPr/>
          </p:nvSpPr>
          <p:spPr bwMode="auto">
            <a:xfrm>
              <a:off x="7475438" y="4264502"/>
              <a:ext cx="2051643" cy="349702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SG" dirty="0" smtClean="0">
                  <a:solidFill>
                    <a:schemeClr val="bg1"/>
                  </a:solidFill>
                  <a:latin typeface="+mn-lt"/>
                </a:rPr>
                <a:t>Maximum cardinality</a:t>
              </a:r>
              <a:endParaRPr lang="en-US" dirty="0">
                <a:solidFill>
                  <a:schemeClr val="bg1"/>
                </a:solidFill>
                <a:latin typeface="+mn-lt"/>
              </a:endParaRPr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 flipH="1">
              <a:off x="7149664" y="4450963"/>
              <a:ext cx="320040" cy="9144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06" name="Group 10305"/>
          <p:cNvGrpSpPr/>
          <p:nvPr/>
        </p:nvGrpSpPr>
        <p:grpSpPr>
          <a:xfrm>
            <a:off x="6733772" y="3958146"/>
            <a:ext cx="1827903" cy="506356"/>
            <a:chOff x="7114772" y="3486974"/>
            <a:chExt cx="1827903" cy="506356"/>
          </a:xfrm>
        </p:grpSpPr>
        <p:sp>
          <p:nvSpPr>
            <p:cNvPr id="81" name="Rectangle 80"/>
            <p:cNvSpPr/>
            <p:nvPr/>
          </p:nvSpPr>
          <p:spPr bwMode="auto">
            <a:xfrm>
              <a:off x="7467600" y="3643628"/>
              <a:ext cx="1475075" cy="349702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SG" dirty="0" smtClean="0">
                  <a:solidFill>
                    <a:srgbClr val="FFFF00"/>
                  </a:solidFill>
                  <a:latin typeface="+mn-lt"/>
                </a:rPr>
                <a:t>Min cardinality</a:t>
              </a:r>
              <a:endParaRPr lang="en-US" dirty="0">
                <a:solidFill>
                  <a:srgbClr val="FFFF00"/>
                </a:solidFill>
                <a:latin typeface="+mn-lt"/>
              </a:endParaRPr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 flipH="1" flipV="1">
              <a:off x="7114772" y="3486974"/>
              <a:ext cx="333196" cy="30992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07" name="Group 10306"/>
          <p:cNvGrpSpPr/>
          <p:nvPr/>
        </p:nvGrpSpPr>
        <p:grpSpPr>
          <a:xfrm>
            <a:off x="6779251" y="4524702"/>
            <a:ext cx="1782424" cy="409902"/>
            <a:chOff x="7160251" y="3914933"/>
            <a:chExt cx="1782424" cy="409902"/>
          </a:xfrm>
        </p:grpSpPr>
        <p:sp>
          <p:nvSpPr>
            <p:cNvPr id="87" name="Rectangle 86"/>
            <p:cNvSpPr/>
            <p:nvPr/>
          </p:nvSpPr>
          <p:spPr bwMode="auto">
            <a:xfrm>
              <a:off x="7467600" y="3914933"/>
              <a:ext cx="1475075" cy="349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SG" dirty="0" smtClean="0">
                  <a:solidFill>
                    <a:srgbClr val="FFFF00"/>
                  </a:solidFill>
                  <a:latin typeface="+mn-lt"/>
                </a:rPr>
                <a:t>Min cardinality</a:t>
              </a:r>
              <a:endParaRPr lang="en-US" dirty="0">
                <a:solidFill>
                  <a:srgbClr val="FFFF00"/>
                </a:solidFill>
                <a:latin typeface="+mn-lt"/>
              </a:endParaRPr>
            </a:p>
          </p:txBody>
        </p:sp>
        <p:cxnSp>
          <p:nvCxnSpPr>
            <p:cNvPr id="10305" name="Straight Arrow Connector 10304"/>
            <p:cNvCxnSpPr>
              <a:stCxn id="87" idx="1"/>
            </p:cNvCxnSpPr>
            <p:nvPr/>
          </p:nvCxnSpPr>
          <p:spPr>
            <a:xfrm flipH="1">
              <a:off x="7160251" y="4089784"/>
              <a:ext cx="307349" cy="235051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Group 93"/>
          <p:cNvGrpSpPr/>
          <p:nvPr/>
        </p:nvGrpSpPr>
        <p:grpSpPr>
          <a:xfrm>
            <a:off x="1768376" y="3818684"/>
            <a:ext cx="1508224" cy="980249"/>
            <a:chOff x="7699601" y="3532395"/>
            <a:chExt cx="1508224" cy="980249"/>
          </a:xfrm>
        </p:grpSpPr>
        <p:sp>
          <p:nvSpPr>
            <p:cNvPr id="95" name="Rectangle 94"/>
            <p:cNvSpPr/>
            <p:nvPr/>
          </p:nvSpPr>
          <p:spPr bwMode="auto">
            <a:xfrm>
              <a:off x="7699601" y="3532395"/>
              <a:ext cx="1508224" cy="349702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SG" dirty="0" smtClean="0">
                  <a:solidFill>
                    <a:schemeClr val="bg1"/>
                  </a:solidFill>
                  <a:latin typeface="+mn-lt"/>
                </a:rPr>
                <a:t>Max cardinality</a:t>
              </a:r>
              <a:endParaRPr lang="en-US" dirty="0">
                <a:solidFill>
                  <a:schemeClr val="bg1"/>
                </a:solidFill>
                <a:latin typeface="+mn-lt"/>
              </a:endParaRPr>
            </a:p>
          </p:txBody>
        </p:sp>
        <p:cxnSp>
          <p:nvCxnSpPr>
            <p:cNvPr id="96" name="Straight Arrow Connector 95"/>
            <p:cNvCxnSpPr/>
            <p:nvPr/>
          </p:nvCxnSpPr>
          <p:spPr>
            <a:xfrm flipH="1">
              <a:off x="7856717" y="3942375"/>
              <a:ext cx="372246" cy="570269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2903879" y="5150208"/>
            <a:ext cx="2051643" cy="1021992"/>
            <a:chOff x="7475438" y="3592212"/>
            <a:chExt cx="2051643" cy="1021992"/>
          </a:xfrm>
        </p:grpSpPr>
        <p:sp>
          <p:nvSpPr>
            <p:cNvPr id="99" name="Rectangle 98"/>
            <p:cNvSpPr/>
            <p:nvPr/>
          </p:nvSpPr>
          <p:spPr bwMode="auto">
            <a:xfrm>
              <a:off x="7475438" y="4264502"/>
              <a:ext cx="2051643" cy="349702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SG" dirty="0" smtClean="0">
                  <a:solidFill>
                    <a:schemeClr val="bg1"/>
                  </a:solidFill>
                  <a:latin typeface="+mn-lt"/>
                </a:rPr>
                <a:t>Maximum cardinality</a:t>
              </a:r>
              <a:endParaRPr lang="en-US" dirty="0">
                <a:solidFill>
                  <a:schemeClr val="bg1"/>
                </a:solidFill>
                <a:latin typeface="+mn-lt"/>
              </a:endParaRPr>
            </a:p>
          </p:txBody>
        </p:sp>
        <p:cxnSp>
          <p:nvCxnSpPr>
            <p:cNvPr id="100" name="Straight Arrow Connector 99"/>
            <p:cNvCxnSpPr/>
            <p:nvPr/>
          </p:nvCxnSpPr>
          <p:spPr>
            <a:xfrm flipV="1">
              <a:off x="8037367" y="3592212"/>
              <a:ext cx="366619" cy="658018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Rectangle 3"/>
          <p:cNvSpPr txBox="1">
            <a:spLocks noChangeArrowheads="1"/>
          </p:cNvSpPr>
          <p:nvPr/>
        </p:nvSpPr>
        <p:spPr bwMode="auto">
          <a:xfrm>
            <a:off x="409574" y="2998633"/>
            <a:ext cx="3272581" cy="811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539750" indent="-457200">
              <a:buFont typeface="+mj-lt"/>
              <a:buAutoNum type="arabicParenR" startAt="2"/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+mn-lt"/>
              </a:rPr>
              <a:t>M:N</a:t>
            </a:r>
            <a:r>
              <a:rPr lang="en-US" sz="2400" dirty="0" smtClean="0">
                <a:solidFill>
                  <a:srgbClr val="FFFF00"/>
                </a:solidFill>
                <a:latin typeface="+mn-lt"/>
              </a:rPr>
              <a:t> (many-to-many) </a:t>
            </a:r>
            <a:r>
              <a:rPr lang="en-US" sz="2400" dirty="0">
                <a:solidFill>
                  <a:srgbClr val="FFFF00"/>
                </a:solidFill>
              </a:rPr>
              <a:t>relationship</a:t>
            </a:r>
          </a:p>
        </p:txBody>
      </p:sp>
      <p:sp>
        <p:nvSpPr>
          <p:cNvPr id="103" name="Rectangle 3"/>
          <p:cNvSpPr txBox="1">
            <a:spLocks noChangeArrowheads="1"/>
          </p:cNvSpPr>
          <p:nvPr/>
        </p:nvSpPr>
        <p:spPr bwMode="auto">
          <a:xfrm>
            <a:off x="3262142" y="1931833"/>
            <a:ext cx="2834640" cy="811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396875" indent="-314325">
              <a:buFont typeface="+mj-lt"/>
              <a:buAutoNum type="arabicParenR"/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+mn-lt"/>
              </a:rPr>
              <a:t>1:N</a:t>
            </a:r>
            <a:r>
              <a:rPr lang="en-US" sz="2400" dirty="0" smtClean="0">
                <a:solidFill>
                  <a:srgbClr val="FFFF00"/>
                </a:solidFill>
                <a:latin typeface="+mn-lt"/>
              </a:rPr>
              <a:t> (one-to-many) </a:t>
            </a:r>
            <a:r>
              <a:rPr lang="en-US" sz="2400" dirty="0" smtClean="0">
                <a:solidFill>
                  <a:srgbClr val="FFFF00"/>
                </a:solidFill>
              </a:rPr>
              <a:t>relationship</a:t>
            </a:r>
            <a:endParaRPr lang="en-US" sz="2400" dirty="0">
              <a:solidFill>
                <a:srgbClr val="FFFF00"/>
              </a:solidFill>
            </a:endParaRPr>
          </a:p>
        </p:txBody>
      </p:sp>
      <p:grpSp>
        <p:nvGrpSpPr>
          <p:cNvPr id="105" name="Group 104"/>
          <p:cNvGrpSpPr/>
          <p:nvPr/>
        </p:nvGrpSpPr>
        <p:grpSpPr>
          <a:xfrm>
            <a:off x="1981199" y="5065276"/>
            <a:ext cx="304801" cy="627110"/>
            <a:chOff x="6685249" y="3355197"/>
            <a:chExt cx="304801" cy="627110"/>
          </a:xfrm>
        </p:grpSpPr>
        <p:sp>
          <p:nvSpPr>
            <p:cNvPr id="106" name="Rectangle 105"/>
            <p:cNvSpPr/>
            <p:nvPr/>
          </p:nvSpPr>
          <p:spPr bwMode="auto">
            <a:xfrm>
              <a:off x="6715369" y="3632605"/>
              <a:ext cx="274681" cy="349702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SG" b="1" dirty="0">
                  <a:solidFill>
                    <a:schemeClr val="bg1"/>
                  </a:solidFill>
                  <a:latin typeface="+mn-lt"/>
                </a:rPr>
                <a:t>M</a:t>
              </a:r>
              <a:endParaRPr lang="en-US" b="1" dirty="0">
                <a:solidFill>
                  <a:schemeClr val="bg1"/>
                </a:solidFill>
                <a:latin typeface="+mn-lt"/>
              </a:endParaRPr>
            </a:p>
          </p:txBody>
        </p:sp>
        <p:cxnSp>
          <p:nvCxnSpPr>
            <p:cNvPr id="107" name="Straight Arrow Connector 106"/>
            <p:cNvCxnSpPr/>
            <p:nvPr/>
          </p:nvCxnSpPr>
          <p:spPr>
            <a:xfrm flipH="1" flipV="1">
              <a:off x="6685249" y="3355197"/>
              <a:ext cx="91440" cy="277408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Group 108"/>
          <p:cNvGrpSpPr/>
          <p:nvPr/>
        </p:nvGrpSpPr>
        <p:grpSpPr>
          <a:xfrm>
            <a:off x="3585011" y="4275884"/>
            <a:ext cx="244291" cy="551623"/>
            <a:chOff x="6560463" y="4207653"/>
            <a:chExt cx="244291" cy="551623"/>
          </a:xfrm>
        </p:grpSpPr>
        <p:sp>
          <p:nvSpPr>
            <p:cNvPr id="110" name="Rectangle 109"/>
            <p:cNvSpPr/>
            <p:nvPr/>
          </p:nvSpPr>
          <p:spPr bwMode="auto">
            <a:xfrm>
              <a:off x="6560463" y="4207653"/>
              <a:ext cx="224989" cy="349702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SG" b="1" dirty="0">
                  <a:solidFill>
                    <a:schemeClr val="bg1"/>
                  </a:solidFill>
                  <a:latin typeface="+mn-lt"/>
                </a:rPr>
                <a:t>N</a:t>
              </a:r>
              <a:endParaRPr lang="en-US" b="1" dirty="0">
                <a:solidFill>
                  <a:schemeClr val="bg1"/>
                </a:solidFill>
                <a:latin typeface="+mn-lt"/>
              </a:endParaRPr>
            </a:p>
          </p:txBody>
        </p:sp>
        <p:cxnSp>
          <p:nvCxnSpPr>
            <p:cNvPr id="111" name="Straight Arrow Connector 110"/>
            <p:cNvCxnSpPr/>
            <p:nvPr/>
          </p:nvCxnSpPr>
          <p:spPr>
            <a:xfrm>
              <a:off x="6657607" y="4509835"/>
              <a:ext cx="147147" cy="249441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9953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10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2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2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22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25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750"/>
                            </p:stCondLst>
                            <p:childTnLst>
                              <p:par>
                                <p:cTn id="5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75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0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1171902"/>
            <a:ext cx="7848600" cy="954107"/>
          </a:xfrm>
        </p:spPr>
        <p:txBody>
          <a:bodyPr wrap="square" lIns="72000" rIns="72000" anchor="t">
            <a:spAutoFit/>
          </a:bodyPr>
          <a:lstStyle/>
          <a:p>
            <a:pPr algn="l" eaLnBrk="1" hangingPunct="1">
              <a:defRPr/>
            </a:pPr>
            <a:r>
              <a:rPr lang="en-US" sz="2800" dirty="0" smtClean="0">
                <a:solidFill>
                  <a:srgbClr val="FFFF00"/>
                </a:solidFill>
                <a:latin typeface="+mn-lt"/>
              </a:rPr>
              <a:t>Entity relationship diagram is modelled based on the following relationships between entities: 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788790" y="2396863"/>
            <a:ext cx="2869944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600"/>
              </a:spcBef>
              <a:buFont typeface="Calibri" panose="020F0502020204030204" pitchFamily="34" charset="0"/>
              <a:buAutoNum type="arabicParenR"/>
            </a:pPr>
            <a:r>
              <a:rPr lang="en-US" altLang="en-US" sz="2400" dirty="0">
                <a:solidFill>
                  <a:schemeClr val="bg1"/>
                </a:solidFill>
              </a:rPr>
              <a:t>One-and-Only-One</a:t>
            </a:r>
            <a:r>
              <a:rPr lang="en-US" altLang="en-US" sz="2400" b="1" dirty="0">
                <a:solidFill>
                  <a:schemeClr val="bg1"/>
                </a:solidFill>
              </a:rPr>
              <a:t> </a:t>
            </a:r>
            <a:endParaRPr lang="en-US" altLang="en-US" sz="2400" b="1" u="sng" dirty="0">
              <a:solidFill>
                <a:schemeClr val="bg1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706406" y="2895303"/>
            <a:ext cx="3713194" cy="670461"/>
            <a:chOff x="706406" y="3047703"/>
            <a:chExt cx="3713194" cy="670461"/>
          </a:xfrm>
        </p:grpSpPr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706406" y="3145251"/>
              <a:ext cx="1097280" cy="54864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wrap="none" lIns="46800" rIns="46800" anchor="ctr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kumimoji="1" lang="en-US" altLang="en-US" sz="1400" b="1" dirty="0" smtClean="0">
                  <a:solidFill>
                    <a:srgbClr val="060606"/>
                  </a:solidFill>
                  <a:ea typeface="Calibri" pitchFamily="34" charset="0"/>
                  <a:cs typeface="Calibri" pitchFamily="34" charset="0"/>
                </a:rPr>
                <a:t>EMPLOYEES</a:t>
              </a:r>
            </a:p>
          </p:txBody>
        </p:sp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3413760" y="3169524"/>
              <a:ext cx="1005840" cy="548640"/>
            </a:xfrm>
            <a:prstGeom prst="rect">
              <a:avLst/>
            </a:prstGeom>
            <a:solidFill>
              <a:srgbClr val="FFCC66"/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wrap="none" lIns="46800" rIns="46800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en-US" altLang="en-US" sz="1400" b="1" dirty="0">
                  <a:solidFill>
                    <a:srgbClr val="060606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PAYCHECK</a:t>
              </a:r>
            </a:p>
          </p:txBody>
        </p:sp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1773209" y="3047703"/>
              <a:ext cx="1645920" cy="533708"/>
              <a:chOff x="5571448" y="3009379"/>
              <a:chExt cx="1645816" cy="532735"/>
            </a:xfrm>
          </p:grpSpPr>
          <p:cxnSp>
            <p:nvCxnSpPr>
              <p:cNvPr id="7" name="Straight Connector 6"/>
              <p:cNvCxnSpPr/>
              <p:nvPr/>
            </p:nvCxnSpPr>
            <p:spPr bwMode="auto">
              <a:xfrm>
                <a:off x="5571448" y="3399029"/>
                <a:ext cx="1645816" cy="0"/>
              </a:xfrm>
              <a:prstGeom prst="line">
                <a:avLst/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8" name="Group 115"/>
              <p:cNvGrpSpPr>
                <a:grpSpLocks/>
              </p:cNvGrpSpPr>
              <p:nvPr/>
            </p:nvGrpSpPr>
            <p:grpSpPr bwMode="auto">
              <a:xfrm>
                <a:off x="5723882" y="3266614"/>
                <a:ext cx="169592" cy="275484"/>
                <a:chOff x="5418893" y="6348657"/>
                <a:chExt cx="169909" cy="275313"/>
              </a:xfrm>
            </p:grpSpPr>
            <p:cxnSp>
              <p:nvCxnSpPr>
                <p:cNvPr id="13" name="Straight Connector 12"/>
                <p:cNvCxnSpPr/>
                <p:nvPr/>
              </p:nvCxnSpPr>
              <p:spPr>
                <a:xfrm>
                  <a:off x="5418893" y="6348657"/>
                  <a:ext cx="0" cy="273651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/>
              </p:nvCxnSpPr>
              <p:spPr>
                <a:xfrm>
                  <a:off x="5588802" y="6350319"/>
                  <a:ext cx="0" cy="273651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Rectangle 8"/>
              <p:cNvSpPr/>
              <p:nvPr/>
            </p:nvSpPr>
            <p:spPr bwMode="auto">
              <a:xfrm>
                <a:off x="6086645" y="3009379"/>
                <a:ext cx="655460" cy="309393"/>
              </a:xfrm>
              <a:prstGeom prst="rect">
                <a:avLst/>
              </a:prstGeom>
              <a:ln w="28575">
                <a:noFill/>
              </a:ln>
            </p:spPr>
            <p:txBody>
              <a:bodyPr wrap="none" lIns="46800" tIns="46800" rIns="46800" bIns="46800">
                <a:spAutoFit/>
              </a:bodyPr>
              <a:lstStyle/>
              <a:p>
                <a:pPr eaLnBrk="1" hangingPunct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sz="1400" dirty="0">
                    <a:solidFill>
                      <a:schemeClr val="bg1"/>
                    </a:solidFill>
                    <a:latin typeface="+mn-lt"/>
                  </a:rPr>
                  <a:t>Receive</a:t>
                </a:r>
              </a:p>
            </p:txBody>
          </p:sp>
          <p:grpSp>
            <p:nvGrpSpPr>
              <p:cNvPr id="10" name="Group 115"/>
              <p:cNvGrpSpPr>
                <a:grpSpLocks/>
              </p:cNvGrpSpPr>
              <p:nvPr/>
            </p:nvGrpSpPr>
            <p:grpSpPr bwMode="auto">
              <a:xfrm>
                <a:off x="6910986" y="3268284"/>
                <a:ext cx="184340" cy="273830"/>
                <a:chOff x="5581036" y="6351909"/>
                <a:chExt cx="184684" cy="273660"/>
              </a:xfrm>
            </p:grpSpPr>
            <p:cxnSp>
              <p:nvCxnSpPr>
                <p:cNvPr id="11" name="Straight Connector 10"/>
                <p:cNvCxnSpPr/>
                <p:nvPr/>
              </p:nvCxnSpPr>
              <p:spPr>
                <a:xfrm>
                  <a:off x="5581036" y="6351919"/>
                  <a:ext cx="0" cy="273650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>
                  <a:off x="5765720" y="6351909"/>
                  <a:ext cx="0" cy="27365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80" name="Group 79"/>
          <p:cNvGrpSpPr/>
          <p:nvPr/>
        </p:nvGrpSpPr>
        <p:grpSpPr>
          <a:xfrm>
            <a:off x="1424792" y="3806174"/>
            <a:ext cx="2007654" cy="371513"/>
            <a:chOff x="1424792" y="3958574"/>
            <a:chExt cx="2007654" cy="371513"/>
          </a:xfrm>
        </p:grpSpPr>
        <p:grpSp>
          <p:nvGrpSpPr>
            <p:cNvPr id="2" name="Group 1"/>
            <p:cNvGrpSpPr/>
            <p:nvPr/>
          </p:nvGrpSpPr>
          <p:grpSpPr>
            <a:xfrm>
              <a:off x="1786526" y="4012162"/>
              <a:ext cx="1645920" cy="280152"/>
              <a:chOff x="1786526" y="4282299"/>
              <a:chExt cx="1645920" cy="280152"/>
            </a:xfrm>
          </p:grpSpPr>
          <p:cxnSp>
            <p:nvCxnSpPr>
              <p:cNvPr id="17" name="Straight Connector 16"/>
              <p:cNvCxnSpPr/>
              <p:nvPr/>
            </p:nvCxnSpPr>
            <p:spPr bwMode="auto">
              <a:xfrm>
                <a:off x="1786526" y="4433361"/>
                <a:ext cx="1645920" cy="0"/>
              </a:xfrm>
              <a:prstGeom prst="line">
                <a:avLst/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8" name="Group 115"/>
              <p:cNvGrpSpPr>
                <a:grpSpLocks/>
              </p:cNvGrpSpPr>
              <p:nvPr/>
            </p:nvGrpSpPr>
            <p:grpSpPr bwMode="auto">
              <a:xfrm>
                <a:off x="1938970" y="4283897"/>
                <a:ext cx="169603" cy="274320"/>
                <a:chOff x="5418893" y="6331915"/>
                <a:chExt cx="169909" cy="273651"/>
              </a:xfrm>
            </p:grpSpPr>
            <p:cxnSp>
              <p:nvCxnSpPr>
                <p:cNvPr id="19" name="Straight Connector 18"/>
                <p:cNvCxnSpPr/>
                <p:nvPr/>
              </p:nvCxnSpPr>
              <p:spPr>
                <a:xfrm>
                  <a:off x="5418893" y="6331915"/>
                  <a:ext cx="0" cy="273651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/>
                <p:nvPr/>
              </p:nvCxnSpPr>
              <p:spPr>
                <a:xfrm>
                  <a:off x="5588802" y="6331915"/>
                  <a:ext cx="0" cy="273651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" name="Straight Connector 21"/>
              <p:cNvCxnSpPr/>
              <p:nvPr/>
            </p:nvCxnSpPr>
            <p:spPr bwMode="auto">
              <a:xfrm>
                <a:off x="3310501" y="4282299"/>
                <a:ext cx="0" cy="27432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" name="Oval 22"/>
              <p:cNvSpPr/>
              <p:nvPr/>
            </p:nvSpPr>
            <p:spPr>
              <a:xfrm>
                <a:off x="3055562" y="4288131"/>
                <a:ext cx="137160" cy="274320"/>
              </a:xfrm>
              <a:prstGeom prst="ellipse">
                <a:avLst/>
              </a:pr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" name="Rectangle 23"/>
            <p:cNvSpPr/>
            <p:nvPr/>
          </p:nvSpPr>
          <p:spPr bwMode="auto">
            <a:xfrm>
              <a:off x="1424792" y="3958574"/>
              <a:ext cx="296492" cy="371513"/>
            </a:xfrm>
            <a:prstGeom prst="rect">
              <a:avLst/>
            </a:prstGeom>
            <a:ln w="28575">
              <a:noFill/>
            </a:ln>
          </p:spPr>
          <p:txBody>
            <a:bodyPr wrap="none" lIns="46800" tIns="46800" rIns="46800" bIns="468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dirty="0" smtClean="0">
                  <a:solidFill>
                    <a:schemeClr val="bg1"/>
                  </a:solidFill>
                  <a:latin typeface="+mn-lt"/>
                </a:rPr>
                <a:t>or</a:t>
              </a:r>
              <a:endParaRPr lang="en-US" dirty="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26" name="Rectangle 25"/>
          <p:cNvSpPr/>
          <p:nvPr/>
        </p:nvSpPr>
        <p:spPr>
          <a:xfrm>
            <a:off x="7212427" y="2433943"/>
            <a:ext cx="1634358" cy="363176"/>
          </a:xfrm>
          <a:prstGeom prst="rect">
            <a:avLst/>
          </a:prstGeom>
        </p:spPr>
        <p:txBody>
          <a:bodyPr wrap="none" lIns="27432" tIns="27432" rIns="27432" bIns="27432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srgbClr val="FFFF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(Many to one)</a:t>
            </a:r>
            <a:endParaRPr lang="en-US" sz="2000" dirty="0">
              <a:solidFill>
                <a:srgbClr val="FFFF00"/>
              </a:solidFill>
              <a:latin typeface="Times New Roman" panose="02020603050405020304" pitchFamily="18" charset="0"/>
              <a:ea typeface="MS Mincho"/>
            </a:endParaRP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4800600" y="2362200"/>
            <a:ext cx="2428875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600"/>
              </a:spcBef>
              <a:buFont typeface="Calibri" panose="020F0502020204030204" pitchFamily="34" charset="0"/>
              <a:buAutoNum type="arabicParenR" startAt="2"/>
            </a:pPr>
            <a:r>
              <a:rPr lang="en-US" altLang="en-US" sz="2400" dirty="0">
                <a:solidFill>
                  <a:schemeClr val="bg1"/>
                </a:solidFill>
              </a:rPr>
              <a:t>One-and-Many </a:t>
            </a:r>
            <a:endParaRPr lang="en-US" altLang="en-US" sz="2400" u="sng" dirty="0">
              <a:solidFill>
                <a:schemeClr val="bg1"/>
              </a:solidFill>
            </a:endParaRPr>
          </a:p>
        </p:txBody>
      </p:sp>
      <p:grpSp>
        <p:nvGrpSpPr>
          <p:cNvPr id="28" name="Group 4"/>
          <p:cNvGrpSpPr>
            <a:grpSpLocks/>
          </p:cNvGrpSpPr>
          <p:nvPr/>
        </p:nvGrpSpPr>
        <p:grpSpPr bwMode="auto">
          <a:xfrm>
            <a:off x="4813793" y="2970838"/>
            <a:ext cx="4177807" cy="577429"/>
            <a:chOff x="1981200" y="1895673"/>
            <a:chExt cx="4177807" cy="577429"/>
          </a:xfrm>
        </p:grpSpPr>
        <p:sp>
          <p:nvSpPr>
            <p:cNvPr id="29" name="Text Box 4"/>
            <p:cNvSpPr txBox="1">
              <a:spLocks noChangeArrowheads="1"/>
            </p:cNvSpPr>
            <p:nvPr/>
          </p:nvSpPr>
          <p:spPr bwMode="auto">
            <a:xfrm>
              <a:off x="1981200" y="1922208"/>
              <a:ext cx="1280160" cy="548640"/>
            </a:xfrm>
            <a:prstGeom prst="rect">
              <a:avLst/>
            </a:prstGeom>
            <a:solidFill>
              <a:schemeClr val="bg2"/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lIns="46800" rIns="46800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en-US" altLang="en-US" sz="1600" b="1" dirty="0">
                  <a:solidFill>
                    <a:srgbClr val="060606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CUSTOMERS</a:t>
              </a:r>
            </a:p>
          </p:txBody>
        </p:sp>
        <p:sp>
          <p:nvSpPr>
            <p:cNvPr id="30" name="Text Box 4"/>
            <p:cNvSpPr txBox="1">
              <a:spLocks noChangeArrowheads="1"/>
            </p:cNvSpPr>
            <p:nvPr/>
          </p:nvSpPr>
          <p:spPr bwMode="auto">
            <a:xfrm>
              <a:off x="4878847" y="1924462"/>
              <a:ext cx="1280160" cy="548640"/>
            </a:xfrm>
            <a:prstGeom prst="rect">
              <a:avLst/>
            </a:prstGeom>
            <a:solidFill>
              <a:srgbClr val="FFC000"/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lIns="46800" rIns="46800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en-US" altLang="en-US" sz="1600" b="1" dirty="0">
                  <a:solidFill>
                    <a:srgbClr val="060606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ACCOUNTS</a:t>
              </a:r>
            </a:p>
          </p:txBody>
        </p:sp>
        <p:grpSp>
          <p:nvGrpSpPr>
            <p:cNvPr id="31" name="Group 8"/>
            <p:cNvGrpSpPr>
              <a:grpSpLocks/>
            </p:cNvGrpSpPr>
            <p:nvPr/>
          </p:nvGrpSpPr>
          <p:grpSpPr bwMode="auto">
            <a:xfrm>
              <a:off x="3247104" y="1895673"/>
              <a:ext cx="1645920" cy="465769"/>
              <a:chOff x="5327324" y="4330983"/>
              <a:chExt cx="1646701" cy="465472"/>
            </a:xfrm>
          </p:grpSpPr>
          <p:cxnSp>
            <p:nvCxnSpPr>
              <p:cNvPr id="32" name="Straight Connector 31"/>
              <p:cNvCxnSpPr/>
              <p:nvPr/>
            </p:nvCxnSpPr>
            <p:spPr bwMode="auto">
              <a:xfrm>
                <a:off x="5327324" y="4645387"/>
                <a:ext cx="1646701" cy="0"/>
              </a:xfrm>
              <a:prstGeom prst="line">
                <a:avLst/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3" name="Group 115"/>
              <p:cNvGrpSpPr>
                <a:grpSpLocks/>
              </p:cNvGrpSpPr>
              <p:nvPr/>
            </p:nvGrpSpPr>
            <p:grpSpPr bwMode="auto">
              <a:xfrm>
                <a:off x="5479793" y="4522308"/>
                <a:ext cx="213930" cy="274147"/>
                <a:chOff x="5181569" y="6372621"/>
                <a:chExt cx="214329" cy="273978"/>
              </a:xfrm>
            </p:grpSpPr>
            <p:cxnSp>
              <p:nvCxnSpPr>
                <p:cNvPr id="40" name="Straight Connector 39"/>
                <p:cNvCxnSpPr/>
                <p:nvPr/>
              </p:nvCxnSpPr>
              <p:spPr>
                <a:xfrm>
                  <a:off x="5181569" y="6372621"/>
                  <a:ext cx="0" cy="273977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>
                <a:xfrm>
                  <a:off x="5395898" y="6372623"/>
                  <a:ext cx="0" cy="273976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4" name="Rectangle 33"/>
              <p:cNvSpPr/>
              <p:nvPr/>
            </p:nvSpPr>
            <p:spPr bwMode="auto">
              <a:xfrm>
                <a:off x="5816712" y="4330983"/>
                <a:ext cx="576329" cy="309762"/>
              </a:xfrm>
              <a:prstGeom prst="rect">
                <a:avLst/>
              </a:prstGeom>
            </p:spPr>
            <p:txBody>
              <a:bodyPr wrap="none" lIns="46800" tIns="46800" rIns="46800" bIns="46800">
                <a:spAutoFit/>
              </a:bodyPr>
              <a:lstStyle/>
              <a:p>
                <a:pPr eaLnBrk="1" hangingPunct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sz="1400" dirty="0">
                    <a:solidFill>
                      <a:schemeClr val="bg1"/>
                    </a:solidFill>
                    <a:latin typeface="+mn-lt"/>
                  </a:rPr>
                  <a:t>Set Up</a:t>
                </a:r>
              </a:p>
            </p:txBody>
          </p:sp>
          <p:grpSp>
            <p:nvGrpSpPr>
              <p:cNvPr id="35" name="Group 121"/>
              <p:cNvGrpSpPr>
                <a:grpSpLocks/>
              </p:cNvGrpSpPr>
              <p:nvPr/>
            </p:nvGrpSpPr>
            <p:grpSpPr bwMode="auto">
              <a:xfrm>
                <a:off x="6532369" y="4513916"/>
                <a:ext cx="425088" cy="275161"/>
                <a:chOff x="4495250" y="6049316"/>
                <a:chExt cx="425882" cy="274992"/>
              </a:xfrm>
            </p:grpSpPr>
            <p:cxnSp>
              <p:nvCxnSpPr>
                <p:cNvPr id="36" name="Straight Connector 35"/>
                <p:cNvCxnSpPr/>
                <p:nvPr/>
              </p:nvCxnSpPr>
              <p:spPr>
                <a:xfrm>
                  <a:off x="4495250" y="6050331"/>
                  <a:ext cx="0" cy="273977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37" name="Group 128"/>
                <p:cNvGrpSpPr>
                  <a:grpSpLocks/>
                </p:cNvGrpSpPr>
                <p:nvPr/>
              </p:nvGrpSpPr>
              <p:grpSpPr bwMode="auto">
                <a:xfrm flipH="1">
                  <a:off x="4644580" y="6049316"/>
                  <a:ext cx="276552" cy="264751"/>
                  <a:chOff x="4451488" y="5609182"/>
                  <a:chExt cx="276552" cy="264751"/>
                </a:xfrm>
              </p:grpSpPr>
              <p:cxnSp>
                <p:nvCxnSpPr>
                  <p:cNvPr id="38" name="Straight Connector 37"/>
                  <p:cNvCxnSpPr/>
                  <p:nvPr/>
                </p:nvCxnSpPr>
                <p:spPr>
                  <a:xfrm>
                    <a:off x="4453077" y="5609182"/>
                    <a:ext cx="274963" cy="136989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/>
                  <p:cNvCxnSpPr/>
                  <p:nvPr/>
                </p:nvCxnSpPr>
                <p:spPr>
                  <a:xfrm flipV="1">
                    <a:off x="4451488" y="5736944"/>
                    <a:ext cx="274964" cy="136989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sp>
        <p:nvSpPr>
          <p:cNvPr id="51" name="Rectangle 3"/>
          <p:cNvSpPr txBox="1">
            <a:spLocks noChangeArrowheads="1"/>
          </p:cNvSpPr>
          <p:nvPr/>
        </p:nvSpPr>
        <p:spPr bwMode="auto">
          <a:xfrm>
            <a:off x="3215148" y="4572000"/>
            <a:ext cx="2347365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39725" indent="-339725">
              <a:spcBef>
                <a:spcPts val="600"/>
              </a:spcBef>
              <a:buFont typeface="+mj-lt"/>
              <a:buAutoNum type="arabicParenR" startAt="3"/>
            </a:pPr>
            <a:r>
              <a:rPr lang="en-US" altLang="en-US" sz="2400" dirty="0">
                <a:solidFill>
                  <a:schemeClr val="bg1"/>
                </a:solidFill>
              </a:rPr>
              <a:t>Many-to-Many </a:t>
            </a:r>
            <a:endParaRPr lang="en-US" altLang="en-US" sz="2400" u="sng" dirty="0">
              <a:solidFill>
                <a:schemeClr val="bg1"/>
              </a:solidFill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3200400" y="5087753"/>
            <a:ext cx="3980641" cy="620218"/>
            <a:chOff x="1814052" y="1823642"/>
            <a:chExt cx="3980641" cy="620218"/>
          </a:xfrm>
        </p:grpSpPr>
        <p:sp>
          <p:nvSpPr>
            <p:cNvPr id="53" name="Text Box 4"/>
            <p:cNvSpPr txBox="1">
              <a:spLocks noChangeArrowheads="1"/>
            </p:cNvSpPr>
            <p:nvPr/>
          </p:nvSpPr>
          <p:spPr bwMode="auto">
            <a:xfrm>
              <a:off x="1814052" y="1895220"/>
              <a:ext cx="1097280" cy="5486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wrap="none" lIns="46800" rIns="46800" anchor="ctr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kumimoji="1" lang="en-US" altLang="en-US" sz="1400" b="1" dirty="0" smtClean="0">
                  <a:solidFill>
                    <a:srgbClr val="060606"/>
                  </a:solidFill>
                  <a:ea typeface="Calibri" pitchFamily="34" charset="0"/>
                  <a:cs typeface="Calibri" pitchFamily="34" charset="0"/>
                </a:rPr>
                <a:t>STUDENTS</a:t>
              </a:r>
            </a:p>
          </p:txBody>
        </p:sp>
        <p:sp>
          <p:nvSpPr>
            <p:cNvPr id="54" name="Text Box 4"/>
            <p:cNvSpPr txBox="1">
              <a:spLocks noChangeArrowheads="1"/>
            </p:cNvSpPr>
            <p:nvPr/>
          </p:nvSpPr>
          <p:spPr bwMode="auto">
            <a:xfrm>
              <a:off x="4697413" y="1893633"/>
              <a:ext cx="1097280" cy="548640"/>
            </a:xfrm>
            <a:prstGeom prst="rect">
              <a:avLst/>
            </a:prstGeom>
            <a:solidFill>
              <a:srgbClr val="FFC000"/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wrap="none" lIns="46800" rIns="46800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en-US" altLang="en-US" sz="1400" b="1" dirty="0">
                  <a:solidFill>
                    <a:srgbClr val="060606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MODULES</a:t>
              </a:r>
            </a:p>
          </p:txBody>
        </p:sp>
        <p:grpSp>
          <p:nvGrpSpPr>
            <p:cNvPr id="55" name="Group 12"/>
            <p:cNvGrpSpPr>
              <a:grpSpLocks/>
            </p:cNvGrpSpPr>
            <p:nvPr/>
          </p:nvGrpSpPr>
          <p:grpSpPr bwMode="auto">
            <a:xfrm>
              <a:off x="2898777" y="1823642"/>
              <a:ext cx="1828801" cy="514166"/>
              <a:chOff x="3848797" y="1993250"/>
              <a:chExt cx="1827782" cy="514166"/>
            </a:xfrm>
          </p:grpSpPr>
          <p:cxnSp>
            <p:nvCxnSpPr>
              <p:cNvPr id="56" name="Straight Connector 55"/>
              <p:cNvCxnSpPr/>
              <p:nvPr/>
            </p:nvCxnSpPr>
            <p:spPr bwMode="auto">
              <a:xfrm>
                <a:off x="3848797" y="2347913"/>
                <a:ext cx="1827782" cy="0"/>
              </a:xfrm>
              <a:prstGeom prst="line">
                <a:avLst/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 bwMode="auto">
              <a:xfrm>
                <a:off x="4255889" y="2227359"/>
                <a:ext cx="0" cy="27432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8" name="Rectangle 57"/>
              <p:cNvSpPr/>
              <p:nvPr/>
            </p:nvSpPr>
            <p:spPr bwMode="auto">
              <a:xfrm>
                <a:off x="4473450" y="1993250"/>
                <a:ext cx="514536" cy="309958"/>
              </a:xfrm>
              <a:prstGeom prst="rect">
                <a:avLst/>
              </a:prstGeom>
              <a:ln w="28575">
                <a:noFill/>
              </a:ln>
            </p:spPr>
            <p:txBody>
              <a:bodyPr wrap="none" lIns="46800" tIns="46800" rIns="46800" bIns="46800">
                <a:spAutoFit/>
              </a:bodyPr>
              <a:lstStyle/>
              <a:p>
                <a:pPr eaLnBrk="1" hangingPunct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sz="1400" dirty="0">
                    <a:solidFill>
                      <a:schemeClr val="bg1"/>
                    </a:solidFill>
                    <a:latin typeface="+mn-lt"/>
                  </a:rPr>
                  <a:t>Enroll</a:t>
                </a:r>
              </a:p>
            </p:txBody>
          </p:sp>
          <p:grpSp>
            <p:nvGrpSpPr>
              <p:cNvPr id="59" name="Group 121"/>
              <p:cNvGrpSpPr>
                <a:grpSpLocks/>
              </p:cNvGrpSpPr>
              <p:nvPr/>
            </p:nvGrpSpPr>
            <p:grpSpPr bwMode="auto">
              <a:xfrm>
                <a:off x="5216458" y="2212675"/>
                <a:ext cx="444609" cy="294741"/>
                <a:chOff x="5261965" y="6030955"/>
                <a:chExt cx="445653" cy="294375"/>
              </a:xfrm>
            </p:grpSpPr>
            <p:cxnSp>
              <p:nvCxnSpPr>
                <p:cNvPr id="62" name="Straight Connector 61"/>
                <p:cNvCxnSpPr/>
                <p:nvPr/>
              </p:nvCxnSpPr>
              <p:spPr>
                <a:xfrm>
                  <a:off x="5261965" y="6051351"/>
                  <a:ext cx="0" cy="273979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63" name="Group 128"/>
                <p:cNvGrpSpPr>
                  <a:grpSpLocks/>
                </p:cNvGrpSpPr>
                <p:nvPr/>
              </p:nvGrpSpPr>
              <p:grpSpPr bwMode="auto">
                <a:xfrm flipH="1">
                  <a:off x="5419628" y="6030955"/>
                  <a:ext cx="287990" cy="283113"/>
                  <a:chOff x="3665002" y="5590821"/>
                  <a:chExt cx="287990" cy="283113"/>
                </a:xfrm>
              </p:grpSpPr>
              <p:cxnSp>
                <p:nvCxnSpPr>
                  <p:cNvPr id="64" name="Straight Connector 63"/>
                  <p:cNvCxnSpPr/>
                  <p:nvPr/>
                </p:nvCxnSpPr>
                <p:spPr>
                  <a:xfrm>
                    <a:off x="3665002" y="5590821"/>
                    <a:ext cx="274811" cy="136989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/>
                  <p:cNvCxnSpPr/>
                  <p:nvPr/>
                </p:nvCxnSpPr>
                <p:spPr>
                  <a:xfrm flipV="1">
                    <a:off x="3678180" y="5736945"/>
                    <a:ext cx="274812" cy="136989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60" name="Straight Connector 59"/>
              <p:cNvCxnSpPr/>
              <p:nvPr/>
            </p:nvCxnSpPr>
            <p:spPr bwMode="auto">
              <a:xfrm flipH="1">
                <a:off x="3850384" y="2351087"/>
                <a:ext cx="274167" cy="13716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auto">
              <a:xfrm flipH="1" flipV="1">
                <a:off x="3860362" y="2212260"/>
                <a:ext cx="274167" cy="13716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1" name="Group 80"/>
          <p:cNvGrpSpPr/>
          <p:nvPr/>
        </p:nvGrpSpPr>
        <p:grpSpPr>
          <a:xfrm>
            <a:off x="5680162" y="3736755"/>
            <a:ext cx="2062290" cy="375043"/>
            <a:chOff x="5680162" y="3889155"/>
            <a:chExt cx="2062290" cy="375043"/>
          </a:xfrm>
        </p:grpSpPr>
        <p:grpSp>
          <p:nvGrpSpPr>
            <p:cNvPr id="78" name="Group 77"/>
            <p:cNvGrpSpPr/>
            <p:nvPr/>
          </p:nvGrpSpPr>
          <p:grpSpPr>
            <a:xfrm>
              <a:off x="6096532" y="3980449"/>
              <a:ext cx="1645920" cy="283749"/>
              <a:chOff x="6096532" y="3980449"/>
              <a:chExt cx="1645920" cy="283749"/>
            </a:xfrm>
          </p:grpSpPr>
          <p:cxnSp>
            <p:nvCxnSpPr>
              <p:cNvPr id="44" name="Straight Connector 43"/>
              <p:cNvCxnSpPr/>
              <p:nvPr/>
            </p:nvCxnSpPr>
            <p:spPr bwMode="auto">
              <a:xfrm>
                <a:off x="6096532" y="4121237"/>
                <a:ext cx="1645920" cy="0"/>
              </a:xfrm>
              <a:prstGeom prst="line">
                <a:avLst/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auto">
              <a:xfrm flipH="1">
                <a:off x="7449986" y="3989689"/>
                <a:ext cx="274320" cy="13716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auto">
              <a:xfrm flipH="1" flipV="1">
                <a:off x="7451570" y="4117611"/>
                <a:ext cx="274321" cy="13716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7" name="Oval 46"/>
              <p:cNvSpPr/>
              <p:nvPr/>
            </p:nvSpPr>
            <p:spPr>
              <a:xfrm>
                <a:off x="7225002" y="3989878"/>
                <a:ext cx="137160" cy="274320"/>
              </a:xfrm>
              <a:prstGeom prst="ellipse">
                <a:avLst/>
              </a:pr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Connector 47"/>
              <p:cNvCxnSpPr/>
              <p:nvPr/>
            </p:nvCxnSpPr>
            <p:spPr bwMode="auto">
              <a:xfrm>
                <a:off x="6225800" y="3980449"/>
                <a:ext cx="0" cy="274321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auto">
              <a:xfrm>
                <a:off x="6439629" y="3980451"/>
                <a:ext cx="0" cy="27432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5" name="Rectangle 74"/>
            <p:cNvSpPr/>
            <p:nvPr/>
          </p:nvSpPr>
          <p:spPr bwMode="auto">
            <a:xfrm>
              <a:off x="5680162" y="3889155"/>
              <a:ext cx="296492" cy="371513"/>
            </a:xfrm>
            <a:prstGeom prst="rect">
              <a:avLst/>
            </a:prstGeom>
            <a:ln w="28575">
              <a:noFill/>
            </a:ln>
          </p:spPr>
          <p:txBody>
            <a:bodyPr wrap="none" lIns="46800" tIns="46800" rIns="46800" bIns="468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dirty="0" smtClean="0">
                  <a:solidFill>
                    <a:schemeClr val="bg1"/>
                  </a:solidFill>
                  <a:latin typeface="+mn-lt"/>
                </a:rPr>
                <a:t>or</a:t>
              </a:r>
              <a:endParaRPr lang="en-US" dirty="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3818308" y="6004635"/>
            <a:ext cx="2305761" cy="371513"/>
            <a:chOff x="3818308" y="6334087"/>
            <a:chExt cx="2305761" cy="371513"/>
          </a:xfrm>
        </p:grpSpPr>
        <p:grpSp>
          <p:nvGrpSpPr>
            <p:cNvPr id="79" name="Group 78"/>
            <p:cNvGrpSpPr/>
            <p:nvPr/>
          </p:nvGrpSpPr>
          <p:grpSpPr>
            <a:xfrm>
              <a:off x="4295268" y="6413163"/>
              <a:ext cx="1828801" cy="292437"/>
              <a:chOff x="4295268" y="6413163"/>
              <a:chExt cx="1828801" cy="292437"/>
            </a:xfrm>
          </p:grpSpPr>
          <p:cxnSp>
            <p:nvCxnSpPr>
              <p:cNvPr id="66" name="Straight Connector 65"/>
              <p:cNvCxnSpPr/>
              <p:nvPr/>
            </p:nvCxnSpPr>
            <p:spPr bwMode="auto">
              <a:xfrm>
                <a:off x="4295268" y="6563145"/>
                <a:ext cx="1828801" cy="0"/>
              </a:xfrm>
              <a:prstGeom prst="line">
                <a:avLst/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67" name="Group 66"/>
              <p:cNvGrpSpPr/>
              <p:nvPr/>
            </p:nvGrpSpPr>
            <p:grpSpPr>
              <a:xfrm>
                <a:off x="5705932" y="6413163"/>
                <a:ext cx="402616" cy="287982"/>
                <a:chOff x="3030336" y="6016883"/>
                <a:chExt cx="402616" cy="287982"/>
              </a:xfrm>
            </p:grpSpPr>
            <p:cxnSp>
              <p:nvCxnSpPr>
                <p:cNvPr id="68" name="Straight Connector 67"/>
                <p:cNvCxnSpPr/>
                <p:nvPr/>
              </p:nvCxnSpPr>
              <p:spPr bwMode="auto">
                <a:xfrm>
                  <a:off x="3030336" y="6030545"/>
                  <a:ext cx="0" cy="274320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/>
                <p:cNvCxnSpPr/>
                <p:nvPr/>
              </p:nvCxnSpPr>
              <p:spPr bwMode="auto">
                <a:xfrm flipH="1">
                  <a:off x="3158631" y="6016883"/>
                  <a:ext cx="274321" cy="137159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/>
                <p:cNvCxnSpPr/>
                <p:nvPr/>
              </p:nvCxnSpPr>
              <p:spPr bwMode="auto">
                <a:xfrm flipH="1" flipV="1">
                  <a:off x="3145476" y="6163189"/>
                  <a:ext cx="274322" cy="137159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1" name="Group 70"/>
              <p:cNvGrpSpPr/>
              <p:nvPr/>
            </p:nvGrpSpPr>
            <p:grpSpPr>
              <a:xfrm>
                <a:off x="4296856" y="6427492"/>
                <a:ext cx="510360" cy="278108"/>
                <a:chOff x="1621260" y="6031212"/>
                <a:chExt cx="510360" cy="278108"/>
              </a:xfrm>
            </p:grpSpPr>
            <p:cxnSp>
              <p:nvCxnSpPr>
                <p:cNvPr id="72" name="Straight Connector 71"/>
                <p:cNvCxnSpPr/>
                <p:nvPr/>
              </p:nvCxnSpPr>
              <p:spPr bwMode="auto">
                <a:xfrm flipH="1">
                  <a:off x="1621260" y="6170039"/>
                  <a:ext cx="274320" cy="13716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/>
                <p:cNvCxnSpPr/>
                <p:nvPr/>
              </p:nvCxnSpPr>
              <p:spPr bwMode="auto">
                <a:xfrm flipH="1" flipV="1">
                  <a:off x="1631243" y="6031212"/>
                  <a:ext cx="274320" cy="13716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4" name="Oval 73"/>
                <p:cNvSpPr/>
                <p:nvPr/>
              </p:nvSpPr>
              <p:spPr>
                <a:xfrm>
                  <a:off x="1994460" y="6035000"/>
                  <a:ext cx="137160" cy="274320"/>
                </a:xfrm>
                <a:prstGeom prst="ellipse">
                  <a:avLst/>
                </a:prstGeom>
                <a:noFill/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76" name="Rectangle 75"/>
            <p:cNvSpPr/>
            <p:nvPr/>
          </p:nvSpPr>
          <p:spPr bwMode="auto">
            <a:xfrm>
              <a:off x="3818308" y="6334087"/>
              <a:ext cx="296492" cy="371513"/>
            </a:xfrm>
            <a:prstGeom prst="rect">
              <a:avLst/>
            </a:prstGeom>
            <a:ln w="28575">
              <a:noFill/>
            </a:ln>
          </p:spPr>
          <p:txBody>
            <a:bodyPr wrap="none" lIns="46800" tIns="46800" rIns="46800" bIns="468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dirty="0" smtClean="0">
                  <a:solidFill>
                    <a:schemeClr val="bg1"/>
                  </a:solidFill>
                  <a:latin typeface="+mn-lt"/>
                </a:rPr>
                <a:t>or</a:t>
              </a:r>
              <a:endParaRPr lang="en-US" dirty="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77" name="Title 1"/>
          <p:cNvSpPr txBox="1">
            <a:spLocks/>
          </p:cNvSpPr>
          <p:nvPr/>
        </p:nvSpPr>
        <p:spPr bwMode="auto">
          <a:xfrm>
            <a:off x="646004" y="441434"/>
            <a:ext cx="6678486" cy="565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36000" tIns="36000" rIns="36000" bIns="36000" numCol="1" anchor="t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/>
            <a:r>
              <a:rPr lang="en-GB" altLang="en-US" sz="3200" b="1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Different Types of Relationships in ERD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875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 txBox="1">
            <a:spLocks noChangeArrowheads="1"/>
          </p:cNvSpPr>
          <p:nvPr/>
        </p:nvSpPr>
        <p:spPr bwMode="auto">
          <a:xfrm>
            <a:off x="4495800" y="2053574"/>
            <a:ext cx="4411520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82550" indent="0">
              <a:buNone/>
              <a:defRPr/>
            </a:pPr>
            <a:r>
              <a:rPr lang="en-US" sz="2400" b="1" dirty="0" smtClean="0">
                <a:solidFill>
                  <a:srgbClr val="FFFF00"/>
                </a:solidFill>
                <a:latin typeface="+mn-lt"/>
              </a:rPr>
              <a:t>b) 1:N (one-to-many </a:t>
            </a:r>
            <a:r>
              <a:rPr lang="en-US" sz="2400" b="1" dirty="0" smtClean="0">
                <a:solidFill>
                  <a:srgbClr val="FFFF00"/>
                </a:solidFill>
              </a:rPr>
              <a:t>relationship)</a:t>
            </a:r>
            <a:endParaRPr lang="en-US" sz="2400" b="1" dirty="0">
              <a:solidFill>
                <a:srgbClr val="FFFF00"/>
              </a:solidFill>
            </a:endParaRPr>
          </a:p>
        </p:txBody>
      </p:sp>
      <p:sp>
        <p:nvSpPr>
          <p:cNvPr id="10243" name="Title 1"/>
          <p:cNvSpPr>
            <a:spLocks noGrp="1"/>
          </p:cNvSpPr>
          <p:nvPr>
            <p:ph type="ctrTitle" idx="4294967295"/>
          </p:nvPr>
        </p:nvSpPr>
        <p:spPr>
          <a:xfrm>
            <a:off x="646004" y="441434"/>
            <a:ext cx="6678486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Different Types of Relationships in ERD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44" name="Text Box 3"/>
          <p:cNvSpPr txBox="1">
            <a:spLocks noChangeArrowheads="1"/>
          </p:cNvSpPr>
          <p:nvPr/>
        </p:nvSpPr>
        <p:spPr bwMode="auto">
          <a:xfrm>
            <a:off x="609600" y="1219200"/>
            <a:ext cx="7740650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8800" tIns="27432" rIns="27432" bIns="27432">
            <a:spAutoFit/>
          </a:bodyPr>
          <a:lstStyle>
            <a:lvl1pPr marL="271463" indent="-27146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 R </a:t>
            </a:r>
            <a:r>
              <a:rPr lang="en-US" altLang="en-US" sz="28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Modelling </a:t>
            </a:r>
            <a:r>
              <a:rPr lang="en-US" altLang="en-US" sz="28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deals with </a:t>
            </a:r>
            <a:r>
              <a:rPr lang="en-US" altLang="en-US" sz="28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3 types </a:t>
            </a:r>
            <a:r>
              <a:rPr lang="en-US" altLang="en-US" sz="28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of relationships</a:t>
            </a:r>
            <a:r>
              <a:rPr lang="en-US" altLang="en-US" sz="28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34186"/>
              </p:ext>
            </p:extLst>
          </p:nvPr>
        </p:nvGraphicFramePr>
        <p:xfrm>
          <a:off x="2864643" y="2120105"/>
          <a:ext cx="1209675" cy="1487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86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861">
                <a:tc>
                  <a:txBody>
                    <a:bodyPr/>
                    <a:lstStyle/>
                    <a:p>
                      <a:pPr algn="ctr"/>
                      <a:endParaRPr lang="en-SG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716217"/>
              </p:ext>
            </p:extLst>
          </p:nvPr>
        </p:nvGraphicFramePr>
        <p:xfrm>
          <a:off x="651668" y="2359818"/>
          <a:ext cx="1136650" cy="120332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3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08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VEHICLES</a:t>
                      </a:r>
                      <a:endParaRPr lang="en-SG" sz="16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35985" marR="35985" marT="36029" marB="36029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083">
                <a:tc>
                  <a:txBody>
                    <a:bodyPr/>
                    <a:lstStyle/>
                    <a:p>
                      <a:pPr algn="ctr"/>
                      <a:endParaRPr lang="en-SG" sz="16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29" marB="36029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580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29" marB="3602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580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29" marB="3602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2" name="Straight Connector 11"/>
          <p:cNvCxnSpPr/>
          <p:nvPr/>
        </p:nvCxnSpPr>
        <p:spPr bwMode="auto">
          <a:xfrm>
            <a:off x="1797843" y="2958305"/>
            <a:ext cx="10795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74" name="Group 12"/>
          <p:cNvGrpSpPr>
            <a:grpSpLocks/>
          </p:cNvGrpSpPr>
          <p:nvPr/>
        </p:nvGrpSpPr>
        <p:grpSpPr bwMode="auto">
          <a:xfrm>
            <a:off x="1918493" y="2680493"/>
            <a:ext cx="836613" cy="406400"/>
            <a:chOff x="2730767" y="2725738"/>
            <a:chExt cx="836364" cy="406404"/>
          </a:xfrm>
        </p:grpSpPr>
        <p:grpSp>
          <p:nvGrpSpPr>
            <p:cNvPr id="10484" name="Group 27"/>
            <p:cNvGrpSpPr>
              <a:grpSpLocks/>
            </p:cNvGrpSpPr>
            <p:nvPr/>
          </p:nvGrpSpPr>
          <p:grpSpPr bwMode="auto">
            <a:xfrm>
              <a:off x="2730767" y="2895605"/>
              <a:ext cx="174571" cy="227015"/>
              <a:chOff x="2644759" y="2798694"/>
              <a:chExt cx="174505" cy="227873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2712976" y="2806659"/>
                <a:ext cx="106290" cy="215124"/>
              </a:xfrm>
              <a:prstGeom prst="ellipse">
                <a:avLst/>
              </a:pr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SG"/>
              </a:p>
            </p:txBody>
          </p:sp>
          <p:cxnSp>
            <p:nvCxnSpPr>
              <p:cNvPr id="20" name="Straight Connector 19"/>
              <p:cNvCxnSpPr/>
              <p:nvPr/>
            </p:nvCxnSpPr>
            <p:spPr>
              <a:xfrm>
                <a:off x="2644759" y="2798691"/>
                <a:ext cx="0" cy="227873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485" name="Group 26"/>
            <p:cNvGrpSpPr>
              <a:grpSpLocks/>
            </p:cNvGrpSpPr>
            <p:nvPr/>
          </p:nvGrpSpPr>
          <p:grpSpPr bwMode="auto">
            <a:xfrm>
              <a:off x="3490931" y="2905129"/>
              <a:ext cx="76200" cy="227013"/>
              <a:chOff x="3252287" y="3119981"/>
              <a:chExt cx="76172" cy="227871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3252310" y="3119979"/>
                <a:ext cx="0" cy="227873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3328459" y="3119979"/>
                <a:ext cx="0" cy="227873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Rectangle 15"/>
            <p:cNvSpPr/>
            <p:nvPr/>
          </p:nvSpPr>
          <p:spPr bwMode="auto">
            <a:xfrm>
              <a:off x="2957712" y="2725738"/>
              <a:ext cx="404692" cy="257178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200" dirty="0">
                  <a:solidFill>
                    <a:srgbClr val="FFFF00"/>
                  </a:solidFill>
                  <a:latin typeface="+mn-lt"/>
                </a:rPr>
                <a:t>owns</a:t>
              </a:r>
            </a:p>
          </p:txBody>
        </p:sp>
      </p:grpSp>
      <p:sp>
        <p:nvSpPr>
          <p:cNvPr id="10275" name="Rectangle 20"/>
          <p:cNvSpPr>
            <a:spLocks noChangeArrowheads="1"/>
          </p:cNvSpPr>
          <p:nvPr/>
        </p:nvSpPr>
        <p:spPr bwMode="auto">
          <a:xfrm>
            <a:off x="785018" y="2661443"/>
            <a:ext cx="904875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u="sng"/>
              <a:t>VehNum</a:t>
            </a:r>
            <a:endParaRPr lang="en-SG" altLang="en-US" sz="1600" b="1" u="sng">
              <a:solidFill>
                <a:srgbClr val="C00000"/>
              </a:solidFill>
            </a:endParaRPr>
          </a:p>
        </p:txBody>
      </p:sp>
      <p:sp>
        <p:nvSpPr>
          <p:cNvPr id="10276" name="Rectangle 21"/>
          <p:cNvSpPr>
            <a:spLocks noChangeArrowheads="1"/>
          </p:cNvSpPr>
          <p:nvPr/>
        </p:nvSpPr>
        <p:spPr bwMode="auto">
          <a:xfrm>
            <a:off x="748506" y="2980530"/>
            <a:ext cx="93662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400">
                <a:solidFill>
                  <a:srgbClr val="C00000"/>
                </a:solidFill>
              </a:rPr>
              <a:t>VehModel</a:t>
            </a:r>
            <a:endParaRPr lang="en-SG" altLang="en-US" sz="1400">
              <a:solidFill>
                <a:srgbClr val="C00000"/>
              </a:solidFill>
            </a:endParaRPr>
          </a:p>
        </p:txBody>
      </p:sp>
      <p:sp>
        <p:nvSpPr>
          <p:cNvPr id="10277" name="Rectangle 22"/>
          <p:cNvSpPr>
            <a:spLocks noChangeArrowheads="1"/>
          </p:cNvSpPr>
          <p:nvPr/>
        </p:nvSpPr>
        <p:spPr bwMode="auto">
          <a:xfrm>
            <a:off x="653256" y="3259930"/>
            <a:ext cx="112077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400">
                <a:solidFill>
                  <a:srgbClr val="C00000"/>
                </a:solidFill>
              </a:rPr>
              <a:t>DateRegister</a:t>
            </a:r>
            <a:endParaRPr lang="en-SG" altLang="en-US" sz="1400">
              <a:solidFill>
                <a:srgbClr val="C00000"/>
              </a:solidFill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461471"/>
              </p:ext>
            </p:extLst>
          </p:nvPr>
        </p:nvGraphicFramePr>
        <p:xfrm>
          <a:off x="2884967" y="2458243"/>
          <a:ext cx="1209675" cy="1171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850">
                <a:tc>
                  <a:txBody>
                    <a:bodyPr/>
                    <a:lstStyle/>
                    <a:p>
                      <a:pPr algn="ctr"/>
                      <a:r>
                        <a:rPr lang="en-GB" sz="1600" b="0" u="sng" dirty="0" err="1" smtClean="0">
                          <a:solidFill>
                            <a:schemeClr val="tx1"/>
                          </a:solidFill>
                        </a:rPr>
                        <a:t>EmpID</a:t>
                      </a:r>
                      <a:endParaRPr lang="en-SG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03" marB="36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36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EmpName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3" marB="36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6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rgbClr val="C00000"/>
                          </a:solidFill>
                        </a:rPr>
                        <a:t>Professions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3" marB="36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6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ChargeRate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3" marB="36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327314"/>
              </p:ext>
            </p:extLst>
          </p:nvPr>
        </p:nvGraphicFramePr>
        <p:xfrm>
          <a:off x="5248027" y="2619434"/>
          <a:ext cx="1097280" cy="1307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040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401">
                <a:tc>
                  <a:txBody>
                    <a:bodyPr/>
                    <a:lstStyle/>
                    <a:p>
                      <a:pPr algn="ctr"/>
                      <a:endParaRPr lang="en-SG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950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950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950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18003" marB="1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9787"/>
              </p:ext>
            </p:extLst>
          </p:nvPr>
        </p:nvGraphicFramePr>
        <p:xfrm>
          <a:off x="7092508" y="2664071"/>
          <a:ext cx="1097280" cy="148907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119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PROJECTS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119">
                <a:tc>
                  <a:txBody>
                    <a:bodyPr/>
                    <a:lstStyle/>
                    <a:p>
                      <a:pPr algn="ctr"/>
                      <a:endParaRPr lang="en-SG" sz="16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18000" marB="1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676961"/>
              </p:ext>
            </p:extLst>
          </p:nvPr>
        </p:nvGraphicFramePr>
        <p:xfrm>
          <a:off x="7116486" y="4984748"/>
          <a:ext cx="1023937" cy="126365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23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SITES</a:t>
                      </a:r>
                      <a:endParaRPr lang="en-SG" sz="16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18" marR="36018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endParaRPr lang="en-SG" sz="16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41" name="Straight Connector 40"/>
          <p:cNvCxnSpPr/>
          <p:nvPr/>
        </p:nvCxnSpPr>
        <p:spPr bwMode="auto">
          <a:xfrm>
            <a:off x="7637186" y="4180134"/>
            <a:ext cx="0" cy="82296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35" name="Group 41"/>
          <p:cNvGrpSpPr>
            <a:grpSpLocks/>
          </p:cNvGrpSpPr>
          <p:nvPr/>
        </p:nvGrpSpPr>
        <p:grpSpPr bwMode="auto">
          <a:xfrm>
            <a:off x="7534920" y="4169021"/>
            <a:ext cx="478507" cy="683701"/>
            <a:chOff x="7065017" y="3767136"/>
            <a:chExt cx="478935" cy="682720"/>
          </a:xfrm>
        </p:grpSpPr>
        <p:grpSp>
          <p:nvGrpSpPr>
            <p:cNvPr id="10475" name="Group 51"/>
            <p:cNvGrpSpPr>
              <a:grpSpLocks/>
            </p:cNvGrpSpPr>
            <p:nvPr/>
          </p:nvGrpSpPr>
          <p:grpSpPr bwMode="auto">
            <a:xfrm>
              <a:off x="7065672" y="3767136"/>
              <a:ext cx="216092" cy="363017"/>
              <a:chOff x="6968847" y="3670347"/>
              <a:chExt cx="215534" cy="363099"/>
            </a:xfrm>
          </p:grpSpPr>
          <p:sp>
            <p:nvSpPr>
              <p:cNvPr id="48" name="Oval 47"/>
              <p:cNvSpPr/>
              <p:nvPr/>
            </p:nvSpPr>
            <p:spPr>
              <a:xfrm>
                <a:off x="6968847" y="3925626"/>
                <a:ext cx="215534" cy="107820"/>
              </a:xfrm>
              <a:prstGeom prst="ellipse">
                <a:avLst/>
              </a:pr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SG"/>
              </a:p>
            </p:txBody>
          </p:sp>
          <p:grpSp>
            <p:nvGrpSpPr>
              <p:cNvPr id="10481" name="Group 43"/>
              <p:cNvGrpSpPr>
                <a:grpSpLocks/>
              </p:cNvGrpSpPr>
              <p:nvPr/>
            </p:nvGrpSpPr>
            <p:grpSpPr bwMode="auto">
              <a:xfrm>
                <a:off x="6986029" y="3670347"/>
                <a:ext cx="169158" cy="215639"/>
                <a:chOff x="2031855" y="4227000"/>
                <a:chExt cx="169158" cy="215639"/>
              </a:xfrm>
            </p:grpSpPr>
            <p:cxnSp>
              <p:nvCxnSpPr>
                <p:cNvPr id="50" name="Straight Connector 49"/>
                <p:cNvCxnSpPr/>
                <p:nvPr/>
              </p:nvCxnSpPr>
              <p:spPr>
                <a:xfrm flipV="1">
                  <a:off x="2129696" y="4227000"/>
                  <a:ext cx="71317" cy="215639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>
                <a:xfrm flipH="1" flipV="1">
                  <a:off x="2031855" y="4227000"/>
                  <a:ext cx="71878" cy="215639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476" name="Group 42"/>
            <p:cNvGrpSpPr>
              <a:grpSpLocks/>
            </p:cNvGrpSpPr>
            <p:nvPr/>
          </p:nvGrpSpPr>
          <p:grpSpPr bwMode="auto">
            <a:xfrm>
              <a:off x="7065017" y="4321718"/>
              <a:ext cx="216093" cy="128138"/>
              <a:chOff x="4380384" y="3781168"/>
              <a:chExt cx="215534" cy="128170"/>
            </a:xfrm>
          </p:grpSpPr>
          <p:cxnSp>
            <p:nvCxnSpPr>
              <p:cNvPr id="46" name="Straight Connector 45"/>
              <p:cNvCxnSpPr/>
              <p:nvPr/>
            </p:nvCxnSpPr>
            <p:spPr>
              <a:xfrm>
                <a:off x="4380384" y="3781168"/>
                <a:ext cx="215534" cy="0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>
                <a:off x="4385426" y="3909338"/>
                <a:ext cx="195941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Rectangle 44"/>
            <p:cNvSpPr/>
            <p:nvPr/>
          </p:nvSpPr>
          <p:spPr bwMode="auto">
            <a:xfrm>
              <a:off x="7308792" y="4093446"/>
              <a:ext cx="235160" cy="256806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200" dirty="0">
                  <a:solidFill>
                    <a:srgbClr val="FFFF00"/>
                  </a:solidFill>
                  <a:latin typeface="+mn-lt"/>
                </a:rPr>
                <a:t>on</a:t>
              </a:r>
            </a:p>
          </p:txBody>
        </p:sp>
      </p:grpSp>
      <p:cxnSp>
        <p:nvCxnSpPr>
          <p:cNvPr id="53" name="Straight Connector 52"/>
          <p:cNvCxnSpPr/>
          <p:nvPr/>
        </p:nvCxnSpPr>
        <p:spPr bwMode="auto">
          <a:xfrm flipV="1">
            <a:off x="5796383" y="3931920"/>
            <a:ext cx="0" cy="105156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37" name="Group 50"/>
          <p:cNvGrpSpPr>
            <a:grpSpLocks/>
          </p:cNvGrpSpPr>
          <p:nvPr/>
        </p:nvGrpSpPr>
        <p:grpSpPr bwMode="auto">
          <a:xfrm>
            <a:off x="5693195" y="3886200"/>
            <a:ext cx="215900" cy="269875"/>
            <a:chOff x="4104911" y="3850925"/>
            <a:chExt cx="215928" cy="270016"/>
          </a:xfrm>
        </p:grpSpPr>
        <p:grpSp>
          <p:nvGrpSpPr>
            <p:cNvPr id="10471" name="Group 24"/>
            <p:cNvGrpSpPr>
              <a:grpSpLocks/>
            </p:cNvGrpSpPr>
            <p:nvPr/>
          </p:nvGrpSpPr>
          <p:grpSpPr bwMode="auto">
            <a:xfrm>
              <a:off x="4129395" y="3850925"/>
              <a:ext cx="162866" cy="214425"/>
              <a:chOff x="2042308" y="4227000"/>
              <a:chExt cx="162866" cy="214425"/>
            </a:xfrm>
          </p:grpSpPr>
          <p:cxnSp>
            <p:nvCxnSpPr>
              <p:cNvPr id="62" name="Straight Connector 61"/>
              <p:cNvCxnSpPr/>
              <p:nvPr/>
            </p:nvCxnSpPr>
            <p:spPr>
              <a:xfrm flipV="1">
                <a:off x="2133728" y="4227000"/>
                <a:ext cx="71446" cy="214425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 flipH="1" flipV="1">
                <a:off x="2042308" y="4227000"/>
                <a:ext cx="71446" cy="214425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1" name="Straight Connector 60"/>
            <p:cNvCxnSpPr/>
            <p:nvPr/>
          </p:nvCxnSpPr>
          <p:spPr>
            <a:xfrm>
              <a:off x="4104911" y="4120941"/>
              <a:ext cx="215928" cy="0"/>
            </a:xfrm>
            <a:prstGeom prst="line">
              <a:avLst/>
            </a:prstGeom>
            <a:ln w="190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38" name="Group 48"/>
          <p:cNvGrpSpPr>
            <a:grpSpLocks/>
          </p:cNvGrpSpPr>
          <p:nvPr/>
        </p:nvGrpSpPr>
        <p:grpSpPr bwMode="auto">
          <a:xfrm rot="-5400000">
            <a:off x="5770983" y="4692320"/>
            <a:ext cx="76200" cy="228600"/>
            <a:chOff x="5486400" y="5867400"/>
            <a:chExt cx="76200" cy="228600"/>
          </a:xfrm>
        </p:grpSpPr>
        <p:cxnSp>
          <p:nvCxnSpPr>
            <p:cNvPr id="58" name="Straight Connector 57"/>
            <p:cNvCxnSpPr/>
            <p:nvPr/>
          </p:nvCxnSpPr>
          <p:spPr>
            <a:xfrm>
              <a:off x="5486400" y="5867400"/>
              <a:ext cx="0" cy="22860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5562600" y="5867400"/>
              <a:ext cx="0" cy="228600"/>
            </a:xfrm>
            <a:prstGeom prst="line">
              <a:avLst/>
            </a:prstGeom>
            <a:ln w="190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Rectangle 56"/>
          <p:cNvSpPr/>
          <p:nvPr/>
        </p:nvSpPr>
        <p:spPr bwMode="auto">
          <a:xfrm>
            <a:off x="5867400" y="4314825"/>
            <a:ext cx="527050" cy="257175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200" dirty="0">
                <a:solidFill>
                  <a:srgbClr val="FFFF00"/>
                </a:solidFill>
                <a:latin typeface="+mn-lt"/>
              </a:rPr>
              <a:t>reports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956250"/>
              </p:ext>
            </p:extLst>
          </p:nvPr>
        </p:nvGraphicFramePr>
        <p:xfrm>
          <a:off x="5257800" y="2921476"/>
          <a:ext cx="1097280" cy="936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9922">
                <a:tc>
                  <a:txBody>
                    <a:bodyPr/>
                    <a:lstStyle/>
                    <a:p>
                      <a:pPr algn="ctr"/>
                      <a:r>
                        <a:rPr lang="en-GB" sz="1600" b="0" u="sng" dirty="0" err="1" smtClean="0">
                          <a:solidFill>
                            <a:schemeClr val="tx1"/>
                          </a:solidFill>
                        </a:rPr>
                        <a:t>EmpID</a:t>
                      </a:r>
                      <a:endParaRPr lang="en-SG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18005" marB="18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944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err="1" smtClean="0">
                          <a:solidFill>
                            <a:srgbClr val="C00000"/>
                          </a:solidFill>
                        </a:rPr>
                        <a:t>EmpName</a:t>
                      </a:r>
                      <a:endParaRPr lang="en-SG" sz="12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18005" marB="18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944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solidFill>
                            <a:srgbClr val="C00000"/>
                          </a:solidFill>
                        </a:rPr>
                        <a:t>Professions</a:t>
                      </a:r>
                      <a:endParaRPr lang="en-SG" sz="12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18005" marB="18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944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err="1" smtClean="0">
                          <a:solidFill>
                            <a:srgbClr val="C00000"/>
                          </a:solidFill>
                        </a:rPr>
                        <a:t>ChargeRate</a:t>
                      </a:r>
                      <a:endParaRPr lang="en-SG" sz="12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18005" marB="18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5" name="Table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146519"/>
              </p:ext>
            </p:extLst>
          </p:nvPr>
        </p:nvGraphicFramePr>
        <p:xfrm>
          <a:off x="7082983" y="2999034"/>
          <a:ext cx="1097280" cy="117316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174">
                <a:tc>
                  <a:txBody>
                    <a:bodyPr/>
                    <a:lstStyle/>
                    <a:p>
                      <a:pPr algn="ctr"/>
                      <a:r>
                        <a:rPr lang="en-GB" sz="1400" b="0" u="sng" dirty="0" err="1" smtClean="0">
                          <a:solidFill>
                            <a:schemeClr val="tx1"/>
                          </a:solidFill>
                        </a:rPr>
                        <a:t>ProjCode</a:t>
                      </a:r>
                      <a:endParaRPr lang="en-SG" sz="14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18000" marB="1800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663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err="1" smtClean="0">
                          <a:solidFill>
                            <a:srgbClr val="C00000"/>
                          </a:solidFill>
                        </a:rPr>
                        <a:t>ProjTitle</a:t>
                      </a:r>
                      <a:endParaRPr lang="en-SG" sz="12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663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err="1" smtClean="0">
                          <a:solidFill>
                            <a:srgbClr val="C00000"/>
                          </a:solidFill>
                        </a:rPr>
                        <a:t>ProjCost</a:t>
                      </a:r>
                      <a:endParaRPr lang="en-SG" sz="12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663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err="1" smtClean="0">
                          <a:solidFill>
                            <a:srgbClr val="C00000"/>
                          </a:solidFill>
                        </a:rPr>
                        <a:t>ProjMgr</a:t>
                      </a:r>
                      <a:endParaRPr lang="en-SG" sz="12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6" name="Table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016611"/>
              </p:ext>
            </p:extLst>
          </p:nvPr>
        </p:nvGraphicFramePr>
        <p:xfrm>
          <a:off x="7119661" y="5316868"/>
          <a:ext cx="1023937" cy="8255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23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771">
                <a:tc>
                  <a:txBody>
                    <a:bodyPr/>
                    <a:lstStyle/>
                    <a:p>
                      <a:pPr algn="ctr"/>
                      <a:r>
                        <a:rPr lang="en-GB" sz="1600" u="sng" dirty="0" err="1" smtClean="0">
                          <a:solidFill>
                            <a:schemeClr val="tx1"/>
                          </a:solidFill>
                        </a:rPr>
                        <a:t>SiteNo</a:t>
                      </a:r>
                      <a:endParaRPr lang="en-SG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36018" marR="36018" marT="35966" marB="3596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864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solidFill>
                            <a:srgbClr val="C00000"/>
                          </a:solidFill>
                        </a:rPr>
                        <a:t>Location</a:t>
                      </a:r>
                      <a:endParaRPr lang="en-SG" sz="12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17980" marB="1798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864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solidFill>
                            <a:srgbClr val="C00000"/>
                          </a:solidFill>
                        </a:rPr>
                        <a:t>Area</a:t>
                      </a:r>
                      <a:endParaRPr lang="en-SG" sz="12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17980" marB="1798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7" name="Table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080044"/>
              </p:ext>
            </p:extLst>
          </p:nvPr>
        </p:nvGraphicFramePr>
        <p:xfrm>
          <a:off x="5285208" y="4984748"/>
          <a:ext cx="1023937" cy="126365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23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SITES</a:t>
                      </a:r>
                      <a:endParaRPr lang="en-SG" sz="16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18" marR="36018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endParaRPr lang="en-SG" sz="16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8" name="Table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195042"/>
              </p:ext>
            </p:extLst>
          </p:nvPr>
        </p:nvGraphicFramePr>
        <p:xfrm>
          <a:off x="5288383" y="5318123"/>
          <a:ext cx="1023937" cy="79851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23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9872">
                <a:tc>
                  <a:txBody>
                    <a:bodyPr/>
                    <a:lstStyle/>
                    <a:p>
                      <a:pPr algn="ctr"/>
                      <a:r>
                        <a:rPr lang="en-GB" sz="1600" u="sng" dirty="0" err="1" smtClean="0">
                          <a:solidFill>
                            <a:schemeClr val="tx1"/>
                          </a:solidFill>
                        </a:rPr>
                        <a:t>SiteNo</a:t>
                      </a:r>
                      <a:endParaRPr lang="en-SG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36018" marR="36018" marT="18002" marB="1800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32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solidFill>
                            <a:srgbClr val="C00000"/>
                          </a:solidFill>
                        </a:rPr>
                        <a:t>Location</a:t>
                      </a:r>
                      <a:endParaRPr lang="en-SG" sz="12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18002" marB="1800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32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solidFill>
                            <a:srgbClr val="C00000"/>
                          </a:solidFill>
                        </a:rPr>
                        <a:t>Area</a:t>
                      </a:r>
                      <a:endParaRPr lang="en-SG" sz="12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18002" marB="1800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9" name="Table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501011"/>
              </p:ext>
            </p:extLst>
          </p:nvPr>
        </p:nvGraphicFramePr>
        <p:xfrm>
          <a:off x="581025" y="4761849"/>
          <a:ext cx="1209675" cy="1487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86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861">
                <a:tc>
                  <a:txBody>
                    <a:bodyPr/>
                    <a:lstStyle/>
                    <a:p>
                      <a:pPr algn="ctr"/>
                      <a:endParaRPr lang="en-SG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0" name="Table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834478"/>
              </p:ext>
            </p:extLst>
          </p:nvPr>
        </p:nvGraphicFramePr>
        <p:xfrm>
          <a:off x="2998021" y="4858687"/>
          <a:ext cx="1097280" cy="148907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119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PROJECTS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33" marB="3603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119">
                <a:tc>
                  <a:txBody>
                    <a:bodyPr/>
                    <a:lstStyle/>
                    <a:p>
                      <a:pPr algn="ctr"/>
                      <a:endParaRPr lang="en-SG" sz="16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3" marB="3603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3" marB="3603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3" marB="3603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3" marB="3603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71" name="Straight Connector 70"/>
          <p:cNvCxnSpPr/>
          <p:nvPr/>
        </p:nvCxnSpPr>
        <p:spPr bwMode="auto">
          <a:xfrm>
            <a:off x="1790700" y="5600049"/>
            <a:ext cx="118872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58" name="Group 53"/>
          <p:cNvGrpSpPr>
            <a:grpSpLocks/>
          </p:cNvGrpSpPr>
          <p:nvPr/>
        </p:nvGrpSpPr>
        <p:grpSpPr bwMode="auto">
          <a:xfrm>
            <a:off x="2514604" y="5492099"/>
            <a:ext cx="457197" cy="215900"/>
            <a:chOff x="5993037" y="2822976"/>
            <a:chExt cx="456984" cy="215957"/>
          </a:xfrm>
        </p:grpSpPr>
        <p:sp>
          <p:nvSpPr>
            <p:cNvPr id="80" name="Oval 79"/>
            <p:cNvSpPr/>
            <p:nvPr/>
          </p:nvSpPr>
          <p:spPr>
            <a:xfrm>
              <a:off x="5993037" y="2822976"/>
              <a:ext cx="107900" cy="215957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SG"/>
            </a:p>
          </p:txBody>
        </p:sp>
        <p:grpSp>
          <p:nvGrpSpPr>
            <p:cNvPr id="10466" name="Group 28"/>
            <p:cNvGrpSpPr>
              <a:grpSpLocks/>
            </p:cNvGrpSpPr>
            <p:nvPr/>
          </p:nvGrpSpPr>
          <p:grpSpPr bwMode="auto">
            <a:xfrm>
              <a:off x="6228697" y="2832253"/>
              <a:ext cx="221324" cy="160379"/>
              <a:chOff x="2735372" y="4111578"/>
              <a:chExt cx="221324" cy="160379"/>
            </a:xfrm>
          </p:grpSpPr>
          <p:cxnSp>
            <p:nvCxnSpPr>
              <p:cNvPr id="82" name="Straight Connector 81"/>
              <p:cNvCxnSpPr/>
              <p:nvPr/>
            </p:nvCxnSpPr>
            <p:spPr>
              <a:xfrm flipV="1">
                <a:off x="2735372" y="4111578"/>
                <a:ext cx="217387" cy="71456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2739309" y="4200501"/>
                <a:ext cx="217387" cy="71456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459" name="Group 52"/>
          <p:cNvGrpSpPr>
            <a:grpSpLocks/>
          </p:cNvGrpSpPr>
          <p:nvPr/>
        </p:nvGrpSpPr>
        <p:grpSpPr bwMode="auto">
          <a:xfrm>
            <a:off x="1790697" y="5490261"/>
            <a:ext cx="350070" cy="228852"/>
            <a:chOff x="5307553" y="2821137"/>
            <a:chExt cx="349907" cy="228912"/>
          </a:xfrm>
        </p:grpSpPr>
        <p:grpSp>
          <p:nvGrpSpPr>
            <p:cNvPr id="10461" name="Group 31"/>
            <p:cNvGrpSpPr>
              <a:grpSpLocks/>
            </p:cNvGrpSpPr>
            <p:nvPr/>
          </p:nvGrpSpPr>
          <p:grpSpPr bwMode="auto">
            <a:xfrm flipH="1">
              <a:off x="5307553" y="2821137"/>
              <a:ext cx="274192" cy="189915"/>
              <a:chOff x="2202530" y="4093035"/>
              <a:chExt cx="274192" cy="189915"/>
            </a:xfrm>
          </p:grpSpPr>
          <p:cxnSp>
            <p:nvCxnSpPr>
              <p:cNvPr id="78" name="Straight Connector 77"/>
              <p:cNvCxnSpPr/>
              <p:nvPr/>
            </p:nvCxnSpPr>
            <p:spPr>
              <a:xfrm flipV="1">
                <a:off x="2202530" y="4093035"/>
                <a:ext cx="274192" cy="91464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>
                <a:off x="2202530" y="4191486"/>
                <a:ext cx="274192" cy="91464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7" name="Straight Connector 76"/>
            <p:cNvCxnSpPr/>
            <p:nvPr/>
          </p:nvCxnSpPr>
          <p:spPr>
            <a:xfrm>
              <a:off x="5657460" y="2821389"/>
              <a:ext cx="0" cy="228660"/>
            </a:xfrm>
            <a:prstGeom prst="line">
              <a:avLst/>
            </a:prstGeom>
            <a:ln w="190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Rectangle 74"/>
          <p:cNvSpPr/>
          <p:nvPr/>
        </p:nvSpPr>
        <p:spPr bwMode="auto">
          <a:xfrm>
            <a:off x="2123309" y="5181600"/>
            <a:ext cx="560387" cy="257175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200" dirty="0">
                <a:solidFill>
                  <a:srgbClr val="FFFF00"/>
                </a:solidFill>
                <a:latin typeface="+mn-lt"/>
              </a:rPr>
              <a:t>handles</a:t>
            </a:r>
          </a:p>
        </p:txBody>
      </p:sp>
      <p:graphicFrame>
        <p:nvGraphicFramePr>
          <p:cNvPr id="84" name="Table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470280"/>
              </p:ext>
            </p:extLst>
          </p:nvPr>
        </p:nvGraphicFramePr>
        <p:xfrm>
          <a:off x="556573" y="5099987"/>
          <a:ext cx="1209675" cy="1171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850">
                <a:tc>
                  <a:txBody>
                    <a:bodyPr/>
                    <a:lstStyle/>
                    <a:p>
                      <a:pPr algn="ctr"/>
                      <a:r>
                        <a:rPr lang="en-GB" sz="1600" b="0" u="sng" dirty="0" err="1" smtClean="0">
                          <a:solidFill>
                            <a:schemeClr val="tx1"/>
                          </a:solidFill>
                        </a:rPr>
                        <a:t>EmpID</a:t>
                      </a:r>
                      <a:endParaRPr lang="en-SG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03" marB="36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36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EmpName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3" marB="36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6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rgbClr val="C00000"/>
                          </a:solidFill>
                        </a:rPr>
                        <a:t>Professions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3" marB="36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6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ChargeRate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3" marB="36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5" name="Table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59648"/>
              </p:ext>
            </p:extLst>
          </p:nvPr>
        </p:nvGraphicFramePr>
        <p:xfrm>
          <a:off x="2988496" y="5193649"/>
          <a:ext cx="1097280" cy="117316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175">
                <a:tc>
                  <a:txBody>
                    <a:bodyPr/>
                    <a:lstStyle/>
                    <a:p>
                      <a:pPr algn="ctr"/>
                      <a:r>
                        <a:rPr lang="en-GB" sz="1600" b="0" u="sng" dirty="0" err="1" smtClean="0">
                          <a:solidFill>
                            <a:schemeClr val="tx1"/>
                          </a:solidFill>
                        </a:rPr>
                        <a:t>ProjCode</a:t>
                      </a:r>
                      <a:endParaRPr lang="en-SG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39" marB="36039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66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ProjTitle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9" marB="3603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66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ProjCost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9" marB="3603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66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ProjMgr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9" marB="3603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2" name="Rectangle 3"/>
          <p:cNvSpPr txBox="1">
            <a:spLocks noChangeArrowheads="1"/>
          </p:cNvSpPr>
          <p:nvPr/>
        </p:nvSpPr>
        <p:spPr bwMode="auto">
          <a:xfrm>
            <a:off x="489226" y="1652367"/>
            <a:ext cx="4130161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82550" indent="0">
              <a:buNone/>
              <a:defRPr/>
            </a:pPr>
            <a:r>
              <a:rPr lang="en-US" sz="2400" b="1" dirty="0" smtClean="0">
                <a:solidFill>
                  <a:srgbClr val="FFFF00"/>
                </a:solidFill>
                <a:latin typeface="+mn-lt"/>
              </a:rPr>
              <a:t>a) 1:1 (one-to-one relationship)</a:t>
            </a:r>
          </a:p>
        </p:txBody>
      </p:sp>
      <p:sp>
        <p:nvSpPr>
          <p:cNvPr id="73" name="Rectangle 3"/>
          <p:cNvSpPr txBox="1">
            <a:spLocks noChangeArrowheads="1"/>
          </p:cNvSpPr>
          <p:nvPr/>
        </p:nvSpPr>
        <p:spPr bwMode="auto">
          <a:xfrm>
            <a:off x="228600" y="4191000"/>
            <a:ext cx="4710511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82550" indent="0">
              <a:buNone/>
              <a:defRPr/>
            </a:pPr>
            <a:r>
              <a:rPr lang="en-US" sz="2400" b="1" dirty="0" smtClean="0">
                <a:solidFill>
                  <a:srgbClr val="FFFF00"/>
                </a:solidFill>
                <a:latin typeface="+mn-lt"/>
              </a:rPr>
              <a:t>c) M:N (many-to-many </a:t>
            </a:r>
            <a:r>
              <a:rPr lang="en-US" sz="2400" b="1" dirty="0" smtClean="0">
                <a:solidFill>
                  <a:srgbClr val="FFFF00"/>
                </a:solidFill>
              </a:rPr>
              <a:t>relationship)</a:t>
            </a:r>
            <a:endParaRPr lang="en-US" sz="24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ctrTitle" idx="4294967295"/>
          </p:nvPr>
        </p:nvSpPr>
        <p:spPr>
          <a:xfrm>
            <a:off x="677536" y="394136"/>
            <a:ext cx="4945640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 : 1 Relationship Modelling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733925" y="5570193"/>
            <a:ext cx="1879608" cy="349702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Entity: EMPLOYEES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1227199" y="5023266"/>
            <a:ext cx="1642492" cy="349702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Entity: VEHICLES</a:t>
            </a:r>
          </a:p>
        </p:txBody>
      </p:sp>
      <p:sp>
        <p:nvSpPr>
          <p:cNvPr id="12294" name="Subtitle 2"/>
          <p:cNvSpPr txBox="1">
            <a:spLocks/>
          </p:cNvSpPr>
          <p:nvPr/>
        </p:nvSpPr>
        <p:spPr bwMode="auto">
          <a:xfrm>
            <a:off x="685800" y="1143000"/>
            <a:ext cx="7772400" cy="81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altLang="en-US" sz="24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altLang="en-US" sz="24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one-to-one relationship is where </a:t>
            </a:r>
            <a:r>
              <a:rPr lang="en-US" altLang="en-US" sz="2400" u="sng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each record in the destination entity is related to one record in the source entity</a:t>
            </a:r>
            <a:r>
              <a:rPr lang="en-US" altLang="en-US" sz="24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2295" name="Rectangle 3"/>
          <p:cNvSpPr>
            <a:spLocks noChangeArrowheads="1"/>
          </p:cNvSpPr>
          <p:nvPr/>
        </p:nvSpPr>
        <p:spPr bwMode="auto">
          <a:xfrm>
            <a:off x="668557" y="2286000"/>
            <a:ext cx="7702550" cy="811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altLang="en-US" sz="2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: Modelling between an </a:t>
            </a:r>
            <a:r>
              <a:rPr lang="en-US" altLang="en-US" sz="24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VEHICLES</a:t>
            </a:r>
            <a:r>
              <a:rPr lang="en-US" altLang="en-US" sz="2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24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EMPLOYEES</a:t>
            </a:r>
            <a:r>
              <a:rPr lang="en-US" altLang="en-US" sz="2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entities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404894"/>
              </p:ext>
            </p:extLst>
          </p:nvPr>
        </p:nvGraphicFramePr>
        <p:xfrm>
          <a:off x="4733925" y="3429000"/>
          <a:ext cx="1285875" cy="173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861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EMPLOYEES</a:t>
                      </a:r>
                      <a:endParaRPr lang="en-SG" sz="18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861">
                <a:tc>
                  <a:txBody>
                    <a:bodyPr/>
                    <a:lstStyle/>
                    <a:p>
                      <a:pPr algn="ctr"/>
                      <a:r>
                        <a:rPr lang="en-GB" sz="1800" b="0" u="sng" dirty="0" err="1" smtClean="0">
                          <a:solidFill>
                            <a:schemeClr val="tx1"/>
                          </a:solidFill>
                        </a:rPr>
                        <a:t>EmpID</a:t>
                      </a:r>
                      <a:r>
                        <a:rPr lang="en-GB" sz="1800" b="0" u="sng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  <a:endParaRPr lang="en-SG" sz="18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EmpName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C00000"/>
                          </a:solidFill>
                        </a:rPr>
                        <a:t>Profession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ChargeRate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088538"/>
              </p:ext>
            </p:extLst>
          </p:nvPr>
        </p:nvGraphicFramePr>
        <p:xfrm>
          <a:off x="1349374" y="3505200"/>
          <a:ext cx="1298575" cy="12531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9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674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VEHICLES</a:t>
                      </a:r>
                      <a:endParaRPr lang="en-SG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18288" marR="18288" marT="18288" marB="1828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674">
                <a:tc>
                  <a:txBody>
                    <a:bodyPr/>
                    <a:lstStyle/>
                    <a:p>
                      <a:pPr algn="ctr"/>
                      <a:r>
                        <a:rPr lang="en-GB" sz="1800" u="sng" dirty="0" err="1" smtClean="0"/>
                        <a:t>VehNum</a:t>
                      </a:r>
                      <a:r>
                        <a:rPr lang="en-GB" sz="1800" u="sng" dirty="0" smtClean="0"/>
                        <a:t> (PK)</a:t>
                      </a:r>
                      <a:endParaRPr lang="en-SG" sz="18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95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VehModel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95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DateRegister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2324" name="Group 16"/>
          <p:cNvGrpSpPr>
            <a:grpSpLocks/>
          </p:cNvGrpSpPr>
          <p:nvPr/>
        </p:nvGrpSpPr>
        <p:grpSpPr bwMode="auto">
          <a:xfrm>
            <a:off x="2643186" y="3688900"/>
            <a:ext cx="2103120" cy="630680"/>
            <a:chOff x="1990724" y="2502324"/>
            <a:chExt cx="2102333" cy="630603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1990724" y="3004355"/>
              <a:ext cx="2102333" cy="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328" name="Group 18"/>
            <p:cNvGrpSpPr>
              <a:grpSpLocks/>
            </p:cNvGrpSpPr>
            <p:nvPr/>
          </p:nvGrpSpPr>
          <p:grpSpPr bwMode="auto">
            <a:xfrm>
              <a:off x="2143067" y="2894832"/>
              <a:ext cx="252320" cy="228571"/>
              <a:chOff x="2057342" y="2798030"/>
              <a:chExt cx="252320" cy="228571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2201753" y="2805966"/>
                <a:ext cx="107909" cy="215873"/>
              </a:xfrm>
              <a:prstGeom prst="ellipse">
                <a:avLst/>
              </a:prstGeom>
              <a:noFill/>
              <a:ln w="2857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SG"/>
              </a:p>
            </p:txBody>
          </p:sp>
          <p:cxnSp>
            <p:nvCxnSpPr>
              <p:cNvPr id="25" name="Straight Connector 24"/>
              <p:cNvCxnSpPr/>
              <p:nvPr/>
            </p:nvCxnSpPr>
            <p:spPr>
              <a:xfrm>
                <a:off x="2057342" y="2798030"/>
                <a:ext cx="0" cy="228571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29" name="Group 19"/>
            <p:cNvGrpSpPr>
              <a:grpSpLocks/>
            </p:cNvGrpSpPr>
            <p:nvPr/>
          </p:nvGrpSpPr>
          <p:grpSpPr bwMode="auto">
            <a:xfrm>
              <a:off x="3811124" y="2904356"/>
              <a:ext cx="123452" cy="228571"/>
              <a:chOff x="3572999" y="3119281"/>
              <a:chExt cx="123452" cy="228571"/>
            </a:xfrm>
          </p:grpSpPr>
          <p:cxnSp>
            <p:nvCxnSpPr>
              <p:cNvPr id="22" name="Straight Connector 21"/>
              <p:cNvCxnSpPr/>
              <p:nvPr/>
            </p:nvCxnSpPr>
            <p:spPr>
              <a:xfrm>
                <a:off x="3572999" y="3119281"/>
                <a:ext cx="0" cy="228571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3696451" y="3119281"/>
                <a:ext cx="0" cy="228571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Rectangle 20"/>
            <p:cNvSpPr/>
            <p:nvPr/>
          </p:nvSpPr>
          <p:spPr>
            <a:xfrm>
              <a:off x="2727652" y="2502324"/>
              <a:ext cx="581792" cy="349658"/>
            </a:xfrm>
            <a:prstGeom prst="rect">
              <a:avLst/>
            </a:prstGeom>
            <a:ln w="28575">
              <a:noFill/>
            </a:ln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b="1" dirty="0">
                  <a:solidFill>
                    <a:srgbClr val="FFFF00"/>
                  </a:solidFill>
                  <a:latin typeface="+mn-lt"/>
                </a:rPr>
                <a:t>owns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 txBox="1">
            <a:spLocks noChangeArrowheads="1"/>
          </p:cNvSpPr>
          <p:nvPr/>
        </p:nvSpPr>
        <p:spPr bwMode="auto">
          <a:xfrm>
            <a:off x="623888" y="2438400"/>
            <a:ext cx="7791450" cy="774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Font typeface="Courier New" panose="02070309020205020404" pitchFamily="49" charset="0"/>
              <a:buChar char="o"/>
              <a:defRPr/>
            </a:pPr>
            <a:r>
              <a:rPr lang="en-US" altLang="en-US" sz="2400" dirty="0" smtClean="0">
                <a:solidFill>
                  <a:schemeClr val="bg1"/>
                </a:solidFill>
                <a:cs typeface="Times New Roman" pitchFamily="18" charset="0"/>
              </a:rPr>
              <a:t>2 Key attributes in the example:</a:t>
            </a:r>
          </a:p>
          <a:p>
            <a:pPr marL="679450" indent="-285750">
              <a:buFont typeface="Arial" panose="020B0604020202020204" pitchFamily="34" charset="0"/>
              <a:buChar char="•"/>
              <a:defRPr/>
            </a:pPr>
            <a:r>
              <a:rPr lang="en-US" altLang="en-US" sz="1800" b="1" dirty="0">
                <a:solidFill>
                  <a:schemeClr val="bg1"/>
                </a:solidFill>
                <a:cs typeface="Times New Roman" pitchFamily="18" charset="0"/>
              </a:rPr>
              <a:t>VEHICLES</a:t>
            </a:r>
            <a:r>
              <a:rPr lang="en-US" altLang="en-US" sz="1800" dirty="0">
                <a:solidFill>
                  <a:schemeClr val="bg1"/>
                </a:solidFill>
                <a:cs typeface="Times New Roman" pitchFamily="18" charset="0"/>
              </a:rPr>
              <a:t> entity – ‘</a:t>
            </a:r>
            <a:r>
              <a:rPr lang="en-US" altLang="en-US" sz="1800" b="1" dirty="0" err="1">
                <a:solidFill>
                  <a:srgbClr val="FFFF00"/>
                </a:solidFill>
                <a:cs typeface="Times New Roman" pitchFamily="18" charset="0"/>
              </a:rPr>
              <a:t>VehNum</a:t>
            </a:r>
            <a:r>
              <a:rPr lang="en-US" altLang="en-US" sz="1800" dirty="0" smtClean="0">
                <a:solidFill>
                  <a:schemeClr val="bg1"/>
                </a:solidFill>
                <a:cs typeface="Times New Roman" pitchFamily="18" charset="0"/>
              </a:rPr>
              <a:t>’,   </a:t>
            </a:r>
            <a:r>
              <a:rPr lang="en-US" altLang="en-US" sz="1800" b="1" dirty="0" smtClean="0">
                <a:solidFill>
                  <a:schemeClr val="bg1"/>
                </a:solidFill>
                <a:cs typeface="Times New Roman" pitchFamily="18" charset="0"/>
              </a:rPr>
              <a:t>EMPLOYEES</a:t>
            </a:r>
            <a:r>
              <a:rPr lang="en-US" altLang="en-US" sz="1800" dirty="0" smtClean="0">
                <a:solidFill>
                  <a:schemeClr val="bg1"/>
                </a:solidFill>
                <a:cs typeface="Times New Roman" pitchFamily="18" charset="0"/>
              </a:rPr>
              <a:t> entity – ‘</a:t>
            </a:r>
            <a:r>
              <a:rPr lang="en-US" altLang="en-US" sz="1800" b="1" dirty="0" err="1" smtClean="0">
                <a:solidFill>
                  <a:srgbClr val="FFFF00"/>
                </a:solidFill>
                <a:cs typeface="Times New Roman" pitchFamily="18" charset="0"/>
              </a:rPr>
              <a:t>EmpID</a:t>
            </a:r>
            <a:r>
              <a:rPr lang="en-US" altLang="en-US" sz="1800" dirty="0" smtClean="0">
                <a:solidFill>
                  <a:schemeClr val="bg1"/>
                </a:solidFill>
                <a:cs typeface="Times New Roman" pitchFamily="18" charset="0"/>
              </a:rPr>
              <a:t>’,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782402" y="4563434"/>
            <a:ext cx="942975" cy="319087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(Option 1)</a:t>
            </a:r>
          </a:p>
        </p:txBody>
      </p:sp>
      <p:sp>
        <p:nvSpPr>
          <p:cNvPr id="14340" name="Title 1"/>
          <p:cNvSpPr txBox="1">
            <a:spLocks/>
          </p:cNvSpPr>
          <p:nvPr/>
        </p:nvSpPr>
        <p:spPr bwMode="auto">
          <a:xfrm>
            <a:off x="670034" y="384215"/>
            <a:ext cx="49293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 : 1 Relationship Modelling</a:t>
            </a:r>
            <a:endParaRPr lang="en-US" altLang="en-US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ubtitle 2"/>
          <p:cNvSpPr txBox="1">
            <a:spLocks/>
          </p:cNvSpPr>
          <p:nvPr/>
        </p:nvSpPr>
        <p:spPr bwMode="auto">
          <a:xfrm>
            <a:off x="709613" y="1066800"/>
            <a:ext cx="7740650" cy="1219200"/>
          </a:xfrm>
          <a:prstGeom prst="rect">
            <a:avLst/>
          </a:prstGeom>
          <a:solidFill>
            <a:srgbClr val="FFFF00"/>
          </a:solidFill>
          <a:ln>
            <a:noFill/>
          </a:ln>
          <a:extLst/>
        </p:spPr>
        <p:txBody>
          <a:bodyPr lIns="18288" tIns="18288" rIns="18288" bIns="1828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Font typeface="Arial" charset="0"/>
              <a:buNone/>
              <a:defRPr/>
            </a:pPr>
            <a:r>
              <a:rPr lang="en-GB" altLang="en-US" sz="2400" u="sng" dirty="0" smtClean="0"/>
              <a:t>Modelling rule for 1:1 relationship</a:t>
            </a:r>
            <a:r>
              <a:rPr lang="en-GB" altLang="en-US" sz="2400" dirty="0" smtClean="0"/>
              <a:t>:</a:t>
            </a:r>
          </a:p>
          <a:p>
            <a:pPr marL="0" indent="0"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GB" altLang="en-US" sz="2400" dirty="0" smtClean="0"/>
              <a:t>In 1:1 relationship modelling, the key of </a:t>
            </a:r>
            <a:r>
              <a:rPr lang="en-GB" altLang="en-US" sz="2400" u="sng" dirty="0" smtClean="0"/>
              <a:t>either entity</a:t>
            </a:r>
            <a:r>
              <a:rPr lang="en-GB" altLang="en-US" sz="2400" dirty="0" smtClean="0"/>
              <a:t> can be placed as a foreign key in the other entity.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 bwMode="auto">
          <a:xfrm>
            <a:off x="657225" y="3222008"/>
            <a:ext cx="6734175" cy="1092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4163" indent="-284163" eaLnBrk="1" hangingPunct="1"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altLang="en-US" sz="2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Two possible options of key placement :</a:t>
            </a:r>
            <a:r>
              <a:rPr lang="en-GB" altLang="en-US" sz="24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69913" indent="-285750" eaLnBrk="1" hangingPunct="1">
              <a:spcBef>
                <a:spcPct val="0"/>
              </a:spcBef>
            </a:pPr>
            <a:r>
              <a:rPr lang="en-GB" altLang="en-US" sz="18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Option 1 : Place ‘</a:t>
            </a:r>
            <a:r>
              <a:rPr lang="en-GB" altLang="en-US" sz="1800" dirty="0" err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EmpID</a:t>
            </a:r>
            <a:r>
              <a:rPr lang="en-GB" altLang="en-US" sz="18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’ </a:t>
            </a:r>
            <a:r>
              <a:rPr lang="en-GB" altLang="en-US" sz="18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under the </a:t>
            </a:r>
            <a:r>
              <a:rPr lang="en-GB" altLang="en-US" sz="18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VEHICLES entity</a:t>
            </a:r>
          </a:p>
          <a:p>
            <a:pPr marL="569913" indent="-285750" eaLnBrk="1" hangingPunct="1">
              <a:spcBef>
                <a:spcPct val="0"/>
              </a:spcBef>
            </a:pPr>
            <a:r>
              <a:rPr lang="en-GB" altLang="en-US" sz="18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Option 2 : Place ‘</a:t>
            </a:r>
            <a:r>
              <a:rPr lang="en-GB" altLang="en-US" sz="1800" dirty="0" err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VehNum</a:t>
            </a:r>
            <a:r>
              <a:rPr lang="en-GB" altLang="en-US" sz="18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’ </a:t>
            </a:r>
            <a:r>
              <a:rPr lang="en-GB" altLang="en-US" sz="18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under the </a:t>
            </a:r>
            <a:r>
              <a:rPr lang="en-GB" altLang="en-US" sz="18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EMPLOYEES entity</a:t>
            </a:r>
            <a:endParaRPr lang="en-US" altLang="en-US" sz="1800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588057"/>
              </p:ext>
            </p:extLst>
          </p:nvPr>
        </p:nvGraphicFramePr>
        <p:xfrm>
          <a:off x="2820988" y="4926237"/>
          <a:ext cx="1209675" cy="1487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86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861">
                <a:tc>
                  <a:txBody>
                    <a:bodyPr/>
                    <a:lstStyle/>
                    <a:p>
                      <a:pPr algn="ctr"/>
                      <a:r>
                        <a:rPr lang="en-GB" sz="1600" b="0" u="sng" dirty="0" err="1" smtClean="0">
                          <a:solidFill>
                            <a:schemeClr val="tx1"/>
                          </a:solidFill>
                        </a:rPr>
                        <a:t>EmpID</a:t>
                      </a:r>
                      <a:r>
                        <a:rPr lang="en-GB" sz="1600" b="0" u="sng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  <a:endParaRPr lang="en-SG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EmpName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rgbClr val="C00000"/>
                          </a:solidFill>
                        </a:rPr>
                        <a:t>Profession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ChargeRate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45875"/>
              </p:ext>
            </p:extLst>
          </p:nvPr>
        </p:nvGraphicFramePr>
        <p:xfrm>
          <a:off x="806450" y="5002437"/>
          <a:ext cx="1188720" cy="120173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674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VEHICLES</a:t>
                      </a:r>
                      <a:endParaRPr lang="en-SG" sz="16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18288" marR="18288" marT="18288" marB="1828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674">
                <a:tc>
                  <a:txBody>
                    <a:bodyPr/>
                    <a:lstStyle/>
                    <a:p>
                      <a:pPr algn="ctr"/>
                      <a:r>
                        <a:rPr lang="en-GB" sz="1600" u="sng" dirty="0" err="1" smtClean="0"/>
                        <a:t>VehNum</a:t>
                      </a:r>
                      <a:r>
                        <a:rPr lang="en-GB" sz="1600" u="sng" dirty="0" smtClean="0"/>
                        <a:t> (PK)</a:t>
                      </a:r>
                      <a:endParaRPr lang="en-SG" sz="16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9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VehModel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9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DateRegister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16997"/>
              </p:ext>
            </p:extLst>
          </p:nvPr>
        </p:nvGraphicFramePr>
        <p:xfrm>
          <a:off x="7162800" y="4733932"/>
          <a:ext cx="1209675" cy="1487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86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861">
                <a:tc>
                  <a:txBody>
                    <a:bodyPr/>
                    <a:lstStyle/>
                    <a:p>
                      <a:pPr algn="ctr"/>
                      <a:r>
                        <a:rPr lang="en-GB" sz="1600" b="0" u="sng" dirty="0" err="1" smtClean="0">
                          <a:solidFill>
                            <a:schemeClr val="tx1"/>
                          </a:solidFill>
                        </a:rPr>
                        <a:t>EmpID</a:t>
                      </a:r>
                      <a:r>
                        <a:rPr lang="en-GB" sz="1600" b="0" u="sng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  <a:endParaRPr lang="en-SG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EmpName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rgbClr val="C00000"/>
                          </a:solidFill>
                        </a:rPr>
                        <a:t>Profession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ChargeRate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589361"/>
              </p:ext>
            </p:extLst>
          </p:nvPr>
        </p:nvGraphicFramePr>
        <p:xfrm>
          <a:off x="5037138" y="4962532"/>
          <a:ext cx="1136650" cy="120173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3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674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VEHICLES</a:t>
                      </a:r>
                      <a:endParaRPr lang="en-SG" sz="16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18288" marR="18288" marT="18288" marB="1828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674">
                <a:tc>
                  <a:txBody>
                    <a:bodyPr/>
                    <a:lstStyle/>
                    <a:p>
                      <a:pPr algn="ctr"/>
                      <a:r>
                        <a:rPr lang="en-GB" sz="1600" u="sng" dirty="0" err="1" smtClean="0"/>
                        <a:t>VehNum</a:t>
                      </a:r>
                      <a:r>
                        <a:rPr lang="en-GB" sz="1600" u="sng" dirty="0" smtClean="0"/>
                        <a:t> (PK)</a:t>
                      </a:r>
                      <a:endParaRPr lang="en-SG" sz="16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9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VehModel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9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DateRegister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90575" y="6239100"/>
            <a:ext cx="1188720" cy="287337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" tIns="18288" rIns="18288" bIns="18288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400">
                <a:solidFill>
                  <a:srgbClr val="000000"/>
                </a:solidFill>
              </a:rPr>
              <a:t>EmpID</a:t>
            </a:r>
            <a:endParaRPr lang="en-SG" altLang="en-US" sz="1400">
              <a:solidFill>
                <a:srgbClr val="000000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7173913" y="6248400"/>
            <a:ext cx="1206500" cy="288925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" tIns="18288" rIns="18288" bIns="18288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400">
                <a:solidFill>
                  <a:srgbClr val="000000"/>
                </a:solidFill>
              </a:rPr>
              <a:t>VehNum</a:t>
            </a:r>
            <a:endParaRPr lang="en-SG" altLang="en-US" sz="140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96025" y="4495800"/>
            <a:ext cx="942975" cy="319087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(Option 2)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519613" y="4456112"/>
            <a:ext cx="0" cy="1944688"/>
          </a:xfrm>
          <a:prstGeom prst="straightConnector1">
            <a:avLst/>
          </a:prstGeom>
          <a:ln w="38100" cmpd="dbl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152987" y="6400800"/>
            <a:ext cx="2552613" cy="318924"/>
          </a:xfrm>
          <a:prstGeom prst="rect">
            <a:avLst/>
          </a:prstGeom>
          <a:solidFill>
            <a:srgbClr val="FFFF00"/>
          </a:solidFill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</a:rPr>
              <a:t>Which </a:t>
            </a:r>
            <a:r>
              <a:rPr lang="en-US" sz="1600" b="1" dirty="0" smtClean="0">
                <a:solidFill>
                  <a:srgbClr val="FF0000"/>
                </a:solidFill>
                <a:latin typeface="+mn-lt"/>
              </a:rPr>
              <a:t>option is more viable?</a:t>
            </a:r>
            <a:endParaRPr lang="en-US" sz="1600" b="1" dirty="0">
              <a:solidFill>
                <a:srgbClr val="FF0000"/>
              </a:solidFill>
              <a:latin typeface="+mn-lt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23888" y="4378878"/>
            <a:ext cx="795528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4" grpId="0" animBg="1"/>
      <p:bldP spid="24" grpId="0" animBg="1"/>
      <p:bldP spid="25" grpId="0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 txBox="1">
            <a:spLocks noChangeArrowheads="1"/>
          </p:cNvSpPr>
          <p:nvPr/>
        </p:nvSpPr>
        <p:spPr bwMode="auto">
          <a:xfrm>
            <a:off x="742950" y="2819400"/>
            <a:ext cx="77914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2000">
                <a:solidFill>
                  <a:schemeClr val="bg1"/>
                </a:solidFill>
                <a:cs typeface="Times New Roman" panose="02020603050405020304" pitchFamily="18" charset="0"/>
              </a:rPr>
              <a:t>Hence, the modelled relationship should be: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686018" y="1095702"/>
            <a:ext cx="7816850" cy="794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u="sng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Option </a:t>
            </a:r>
            <a:r>
              <a:rPr lang="en-US" altLang="en-US" sz="2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 is more rational, because it implies that </a:t>
            </a:r>
            <a:r>
              <a:rPr lang="en-US" altLang="en-US" sz="2400" b="1" u="sng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any </a:t>
            </a:r>
            <a:r>
              <a:rPr lang="en-US" altLang="en-US" sz="2400" b="1" u="sng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vehicle </a:t>
            </a:r>
            <a:r>
              <a:rPr lang="en-US" altLang="en-US" sz="2400" b="1" u="sng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is owned by an </a:t>
            </a:r>
            <a:r>
              <a:rPr lang="en-US" altLang="en-US" sz="2400" b="1" u="sng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employee</a:t>
            </a:r>
            <a:r>
              <a:rPr lang="en-US" altLang="en-US" sz="2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and,  </a:t>
            </a:r>
          </a:p>
        </p:txBody>
      </p:sp>
      <p:sp>
        <p:nvSpPr>
          <p:cNvPr id="16388" name="Title 1"/>
          <p:cNvSpPr txBox="1">
            <a:spLocks/>
          </p:cNvSpPr>
          <p:nvPr/>
        </p:nvSpPr>
        <p:spPr bwMode="auto">
          <a:xfrm>
            <a:off x="693302" y="378370"/>
            <a:ext cx="4945640" cy="565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 : 1 Relationship Modelling</a:t>
            </a:r>
            <a:endParaRPr lang="en-US" altLang="en-US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89" name="Text Box 3"/>
          <p:cNvSpPr txBox="1">
            <a:spLocks noChangeArrowheads="1"/>
          </p:cNvSpPr>
          <p:nvPr/>
        </p:nvSpPr>
        <p:spPr bwMode="auto">
          <a:xfrm>
            <a:off x="673427" y="2008406"/>
            <a:ext cx="7816850" cy="670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u="sng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Option 2 </a:t>
            </a:r>
            <a:r>
              <a:rPr lang="en-US" altLang="en-US" sz="20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implies that </a:t>
            </a:r>
            <a:r>
              <a:rPr lang="en-US" altLang="en-US" sz="2000" b="1" u="sng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every </a:t>
            </a:r>
            <a:r>
              <a:rPr lang="en-US" altLang="en-US" sz="2000" b="1" u="sng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employee </a:t>
            </a:r>
            <a:r>
              <a:rPr lang="en-US" altLang="en-US" sz="2000" b="1" u="sng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owns </a:t>
            </a:r>
            <a:r>
              <a:rPr lang="en-US" altLang="en-US" sz="2000" b="1" u="sng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 vehicle </a:t>
            </a:r>
            <a:r>
              <a:rPr lang="en-US" altLang="en-US" sz="20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which may not be true for all.  E.g. a </a:t>
            </a:r>
            <a:r>
              <a:rPr lang="en-US" altLang="en-US" sz="20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low income employee </a:t>
            </a:r>
            <a:r>
              <a:rPr lang="en-US" altLang="en-US" sz="20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may not </a:t>
            </a:r>
            <a:r>
              <a:rPr lang="en-US" altLang="en-US" sz="20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own a vehicle.  </a:t>
            </a:r>
            <a:endParaRPr lang="en-US" altLang="en-US" sz="2000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343067"/>
              </p:ext>
            </p:extLst>
          </p:nvPr>
        </p:nvGraphicFramePr>
        <p:xfrm>
          <a:off x="5176660" y="3636963"/>
          <a:ext cx="1209675" cy="1487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86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861">
                <a:tc>
                  <a:txBody>
                    <a:bodyPr/>
                    <a:lstStyle/>
                    <a:p>
                      <a:pPr algn="ctr"/>
                      <a:r>
                        <a:rPr lang="en-GB" sz="1600" b="0" u="sng" dirty="0" err="1" smtClean="0">
                          <a:solidFill>
                            <a:schemeClr val="tx1"/>
                          </a:solidFill>
                        </a:rPr>
                        <a:t>EmpID</a:t>
                      </a:r>
                      <a:r>
                        <a:rPr lang="en-GB" sz="1600" b="0" u="sng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  <a:endParaRPr lang="en-SG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EmpName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rgbClr val="C00000"/>
                          </a:solidFill>
                        </a:rPr>
                        <a:t>Profession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ChargeRate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64230"/>
              </p:ext>
            </p:extLst>
          </p:nvPr>
        </p:nvGraphicFramePr>
        <p:xfrm>
          <a:off x="1920240" y="3713163"/>
          <a:ext cx="1280160" cy="148749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785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VEHICLES</a:t>
                      </a:r>
                      <a:endParaRPr lang="en-SG" sz="16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18288" marR="18288" marT="18288" marB="1828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85">
                <a:tc>
                  <a:txBody>
                    <a:bodyPr/>
                    <a:lstStyle/>
                    <a:p>
                      <a:pPr algn="ctr"/>
                      <a:r>
                        <a:rPr lang="en-GB" sz="1600" u="sng" dirty="0" err="1" smtClean="0"/>
                        <a:t>VehNum</a:t>
                      </a:r>
                      <a:r>
                        <a:rPr lang="en-GB" sz="1600" u="sng" dirty="0" smtClean="0"/>
                        <a:t> (PK)</a:t>
                      </a:r>
                      <a:endParaRPr lang="en-SG" sz="16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5974" marB="3597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VehModel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5974" marB="3597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DateRegister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5974" marB="3597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5974" marB="35974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3200400" y="3794562"/>
            <a:ext cx="2010729" cy="1398475"/>
            <a:chOff x="3232184" y="3870759"/>
            <a:chExt cx="2010690" cy="1398496"/>
          </a:xfrm>
        </p:grpSpPr>
        <p:grpSp>
          <p:nvGrpSpPr>
            <p:cNvPr id="16433" name="Group 1"/>
            <p:cNvGrpSpPr>
              <a:grpSpLocks/>
            </p:cNvGrpSpPr>
            <p:nvPr/>
          </p:nvGrpSpPr>
          <p:grpSpPr bwMode="auto">
            <a:xfrm>
              <a:off x="3232184" y="4191002"/>
              <a:ext cx="2010690" cy="936639"/>
              <a:chOff x="3232184" y="4114802"/>
              <a:chExt cx="2010690" cy="936639"/>
            </a:xfrm>
          </p:grpSpPr>
          <p:cxnSp>
            <p:nvCxnSpPr>
              <p:cNvPr id="10" name="Straight Connector 9"/>
              <p:cNvCxnSpPr/>
              <p:nvPr/>
            </p:nvCxnSpPr>
            <p:spPr bwMode="auto">
              <a:xfrm>
                <a:off x="3232184" y="5049854"/>
                <a:ext cx="1005821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 bwMode="auto">
              <a:xfrm flipV="1">
                <a:off x="4241815" y="4114802"/>
                <a:ext cx="0" cy="936639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 bwMode="auto">
              <a:xfrm>
                <a:off x="4237053" y="4114802"/>
                <a:ext cx="1005821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434" name="Group 18"/>
            <p:cNvGrpSpPr>
              <a:grpSpLocks/>
            </p:cNvGrpSpPr>
            <p:nvPr/>
          </p:nvGrpSpPr>
          <p:grpSpPr bwMode="auto">
            <a:xfrm>
              <a:off x="3384586" y="4992395"/>
              <a:ext cx="261627" cy="276860"/>
              <a:chOff x="1789186" y="3048505"/>
              <a:chExt cx="261528" cy="276824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1942806" y="3051041"/>
                <a:ext cx="107908" cy="274288"/>
              </a:xfrm>
              <a:prstGeom prst="ellipse">
                <a:avLst/>
              </a:prstGeom>
              <a:noFill/>
              <a:ln w="381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SG"/>
              </a:p>
            </p:txBody>
          </p:sp>
          <p:cxnSp>
            <p:nvCxnSpPr>
              <p:cNvPr id="22" name="Straight Connector 21"/>
              <p:cNvCxnSpPr/>
              <p:nvPr/>
            </p:nvCxnSpPr>
            <p:spPr>
              <a:xfrm>
                <a:off x="1789186" y="3048505"/>
                <a:ext cx="0" cy="274288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435" name="Group 19"/>
            <p:cNvGrpSpPr>
              <a:grpSpLocks/>
            </p:cNvGrpSpPr>
            <p:nvPr/>
          </p:nvGrpSpPr>
          <p:grpSpPr bwMode="auto">
            <a:xfrm>
              <a:off x="4876806" y="4086225"/>
              <a:ext cx="170502" cy="228603"/>
              <a:chOff x="3276603" y="3119282"/>
              <a:chExt cx="170437" cy="228573"/>
            </a:xfrm>
          </p:grpSpPr>
          <p:cxnSp>
            <p:nvCxnSpPr>
              <p:cNvPr id="19" name="Straight Connector 18"/>
              <p:cNvCxnSpPr/>
              <p:nvPr/>
            </p:nvCxnSpPr>
            <p:spPr>
              <a:xfrm>
                <a:off x="3276603" y="3119282"/>
                <a:ext cx="0" cy="228573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3447040" y="3119282"/>
                <a:ext cx="0" cy="228573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ectangle 17"/>
            <p:cNvSpPr/>
            <p:nvPr/>
          </p:nvSpPr>
          <p:spPr bwMode="auto">
            <a:xfrm>
              <a:off x="4129106" y="3870759"/>
              <a:ext cx="527561" cy="318929"/>
            </a:xfrm>
            <a:prstGeom prst="rect">
              <a:avLst/>
            </a:prstGeom>
            <a:ln w="38100">
              <a:noFill/>
            </a:ln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600" b="1" dirty="0">
                  <a:solidFill>
                    <a:srgbClr val="FFFF00"/>
                  </a:solidFill>
                  <a:latin typeface="+mn-lt"/>
                </a:rPr>
                <a:t>owns</a:t>
              </a:r>
            </a:p>
          </p:txBody>
        </p:sp>
      </p:grpSp>
      <p:sp>
        <p:nvSpPr>
          <p:cNvPr id="24" name="Rectangle 23"/>
          <p:cNvSpPr/>
          <p:nvPr/>
        </p:nvSpPr>
        <p:spPr>
          <a:xfrm>
            <a:off x="4917744" y="5457825"/>
            <a:ext cx="1676400" cy="319088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Entity: EMPLOYEES</a:t>
            </a:r>
          </a:p>
        </p:txBody>
      </p:sp>
      <p:sp>
        <p:nvSpPr>
          <p:cNvPr id="25" name="Rectangle 24"/>
          <p:cNvSpPr/>
          <p:nvPr/>
        </p:nvSpPr>
        <p:spPr bwMode="auto">
          <a:xfrm>
            <a:off x="1828800" y="5410200"/>
            <a:ext cx="1468438" cy="319088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Entity: VEHICLES</a:t>
            </a:r>
          </a:p>
        </p:txBody>
      </p:sp>
      <p:sp>
        <p:nvSpPr>
          <p:cNvPr id="26" name="Rectangular Callout 25"/>
          <p:cNvSpPr/>
          <p:nvPr/>
        </p:nvSpPr>
        <p:spPr>
          <a:xfrm>
            <a:off x="3476625" y="3386138"/>
            <a:ext cx="835025" cy="257175"/>
          </a:xfrm>
          <a:prstGeom prst="wedgeRectCallout">
            <a:avLst>
              <a:gd name="adj1" fmla="val 29000"/>
              <a:gd name="adj2" fmla="val 145554"/>
            </a:avLst>
          </a:prstGeom>
          <a:ln>
            <a:solidFill>
              <a:schemeClr val="bg1"/>
            </a:solidFill>
          </a:ln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200" dirty="0">
                <a:solidFill>
                  <a:schemeClr val="bg1"/>
                </a:solidFill>
                <a:latin typeface="+mn-lt"/>
              </a:rPr>
              <a:t>Action word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1524000" y="6096000"/>
            <a:ext cx="5202505" cy="349702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VEHICLES ( </a:t>
            </a:r>
            <a:r>
              <a:rPr lang="en-US" b="1" u="sng" dirty="0" err="1">
                <a:solidFill>
                  <a:schemeClr val="bg1"/>
                </a:solidFill>
                <a:latin typeface="+mn-lt"/>
              </a:rPr>
              <a:t>VehNum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dirty="0" err="1">
                <a:solidFill>
                  <a:srgbClr val="FFC000"/>
                </a:solidFill>
                <a:latin typeface="+mn-lt"/>
              </a:rPr>
              <a:t>VehModel</a:t>
            </a:r>
            <a:r>
              <a:rPr lang="en-US" dirty="0">
                <a:solidFill>
                  <a:srgbClr val="FFC000"/>
                </a:solidFill>
                <a:latin typeface="+mn-lt"/>
              </a:rPr>
              <a:t>, </a:t>
            </a:r>
            <a:r>
              <a:rPr lang="en-US" dirty="0" err="1">
                <a:solidFill>
                  <a:srgbClr val="FFC000"/>
                </a:solidFill>
                <a:latin typeface="+mn-lt"/>
              </a:rPr>
              <a:t>DateRegister</a:t>
            </a:r>
            <a:r>
              <a:rPr lang="en-US" dirty="0">
                <a:solidFill>
                  <a:srgbClr val="FFC000"/>
                </a:solidFill>
                <a:latin typeface="+mn-lt"/>
              </a:rPr>
              <a:t>, </a:t>
            </a:r>
            <a:r>
              <a:rPr lang="en-US" b="1" dirty="0" err="1">
                <a:solidFill>
                  <a:srgbClr val="FFFF00"/>
                </a:solidFill>
                <a:latin typeface="+mn-lt"/>
              </a:rPr>
              <a:t>EmpID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 )</a:t>
            </a:r>
          </a:p>
        </p:txBody>
      </p:sp>
      <p:sp>
        <p:nvSpPr>
          <p:cNvPr id="28" name="Rectangular Callout 27"/>
          <p:cNvSpPr/>
          <p:nvPr/>
        </p:nvSpPr>
        <p:spPr>
          <a:xfrm>
            <a:off x="4610100" y="3276600"/>
            <a:ext cx="844550" cy="257175"/>
          </a:xfrm>
          <a:prstGeom prst="wedgeRectCallout">
            <a:avLst>
              <a:gd name="adj1" fmla="val -18034"/>
              <a:gd name="adj2" fmla="val 168624"/>
            </a:avLst>
          </a:prstGeom>
          <a:ln>
            <a:solidFill>
              <a:schemeClr val="bg1"/>
            </a:solidFill>
          </a:ln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200" dirty="0">
                <a:solidFill>
                  <a:schemeClr val="bg1"/>
                </a:solidFill>
                <a:latin typeface="+mn-lt"/>
              </a:rPr>
              <a:t>Cardinalities</a:t>
            </a:r>
          </a:p>
        </p:txBody>
      </p:sp>
      <p:sp>
        <p:nvSpPr>
          <p:cNvPr id="29" name="Rectangular Callout 28"/>
          <p:cNvSpPr/>
          <p:nvPr/>
        </p:nvSpPr>
        <p:spPr>
          <a:xfrm>
            <a:off x="3798888" y="5367338"/>
            <a:ext cx="842962" cy="257175"/>
          </a:xfrm>
          <a:prstGeom prst="wedgeRectCallout">
            <a:avLst>
              <a:gd name="adj1" fmla="val -19424"/>
              <a:gd name="adj2" fmla="val -112837"/>
            </a:avLst>
          </a:prstGeom>
          <a:ln>
            <a:solidFill>
              <a:schemeClr val="bg1"/>
            </a:solidFill>
          </a:ln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200" dirty="0">
                <a:solidFill>
                  <a:schemeClr val="bg1"/>
                </a:solidFill>
                <a:latin typeface="+mn-lt"/>
              </a:rPr>
              <a:t>Relationship</a:t>
            </a:r>
          </a:p>
        </p:txBody>
      </p:sp>
      <p:sp>
        <p:nvSpPr>
          <p:cNvPr id="30" name="Rectangle 29"/>
          <p:cNvSpPr/>
          <p:nvPr/>
        </p:nvSpPr>
        <p:spPr bwMode="auto">
          <a:xfrm>
            <a:off x="1219200" y="6415088"/>
            <a:ext cx="5660195" cy="349702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EMPLOYEES ( </a:t>
            </a:r>
            <a:r>
              <a:rPr lang="en-US" b="1" u="sng" dirty="0" err="1">
                <a:solidFill>
                  <a:schemeClr val="bg1"/>
                </a:solidFill>
                <a:latin typeface="+mn-lt"/>
              </a:rPr>
              <a:t>EmpID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dirty="0" err="1">
                <a:solidFill>
                  <a:srgbClr val="FFC000"/>
                </a:solidFill>
                <a:latin typeface="+mn-lt"/>
              </a:rPr>
              <a:t>EmpName</a:t>
            </a:r>
            <a:r>
              <a:rPr lang="en-US" dirty="0">
                <a:solidFill>
                  <a:srgbClr val="FFC000"/>
                </a:solidFill>
                <a:latin typeface="+mn-lt"/>
              </a:rPr>
              <a:t>, Professions, </a:t>
            </a:r>
            <a:r>
              <a:rPr lang="en-US" dirty="0" err="1" smtClean="0">
                <a:solidFill>
                  <a:srgbClr val="FFC000"/>
                </a:solidFill>
                <a:latin typeface="+mn-lt"/>
              </a:rPr>
              <a:t>ChargeRate</a:t>
            </a:r>
            <a:r>
              <a:rPr lang="en-US" b="1" dirty="0" smtClean="0">
                <a:solidFill>
                  <a:srgbClr val="FFC000"/>
                </a:solidFill>
                <a:latin typeface="+mn-lt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5385" y="3938588"/>
            <a:ext cx="452615" cy="349702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solidFill>
                  <a:srgbClr val="FFFF00"/>
                </a:solidFill>
                <a:latin typeface="+mn-lt"/>
              </a:rPr>
              <a:t>(PK)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88238" y="4941888"/>
            <a:ext cx="439791" cy="349702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solidFill>
                  <a:srgbClr val="FFFF00"/>
                </a:solidFill>
                <a:latin typeface="+mn-lt"/>
              </a:rPr>
              <a:t>(FK)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258704" y="4925373"/>
            <a:ext cx="586763" cy="283154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" tIns="18288" rIns="18288" bIns="1828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dirty="0" err="1">
                <a:solidFill>
                  <a:srgbClr val="C00000"/>
                </a:solidFill>
              </a:rPr>
              <a:t>EmpID</a:t>
            </a:r>
            <a:endParaRPr lang="en-SG" altLang="en-US" sz="1600" dirty="0">
              <a:solidFill>
                <a:srgbClr val="C0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62000" y="5791200"/>
            <a:ext cx="1819275" cy="350838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Relation Schemas:</a:t>
            </a:r>
          </a:p>
        </p:txBody>
      </p:sp>
      <p:sp>
        <p:nvSpPr>
          <p:cNvPr id="36" name="Rectangular Callout 35"/>
          <p:cNvSpPr/>
          <p:nvPr/>
        </p:nvSpPr>
        <p:spPr>
          <a:xfrm>
            <a:off x="6185570" y="5858315"/>
            <a:ext cx="443830" cy="257369"/>
          </a:xfrm>
          <a:prstGeom prst="wedgeRectCallout">
            <a:avLst>
              <a:gd name="adj1" fmla="val -32968"/>
              <a:gd name="adj2" fmla="val 88930"/>
            </a:avLst>
          </a:prstGeom>
          <a:solidFill>
            <a:srgbClr val="FFFF00"/>
          </a:solidFill>
          <a:ln>
            <a:solidFill>
              <a:schemeClr val="bg1"/>
            </a:solidFill>
          </a:ln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200" dirty="0" smtClean="0">
                <a:solidFill>
                  <a:srgbClr val="FF0000"/>
                </a:solidFill>
                <a:latin typeface="+mn-lt"/>
              </a:rPr>
              <a:t>New !</a:t>
            </a:r>
            <a:endParaRPr lang="en-US" sz="1200" dirty="0">
              <a:solidFill>
                <a:srgbClr val="FF0000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  <p:bldP spid="28" grpId="0" animBg="1"/>
      <p:bldP spid="29" grpId="0" animBg="1"/>
      <p:bldP spid="30" grpId="0"/>
      <p:bldP spid="4" grpId="0" animBg="1"/>
      <p:bldP spid="34" grpId="0"/>
      <p:bldP spid="3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 txBox="1">
            <a:spLocks noChangeArrowheads="1"/>
          </p:cNvSpPr>
          <p:nvPr/>
        </p:nvSpPr>
        <p:spPr bwMode="auto">
          <a:xfrm>
            <a:off x="706438" y="1066800"/>
            <a:ext cx="4322762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24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Modelled relations are as shown:</a:t>
            </a:r>
            <a:endParaRPr lang="en-US" altLang="en-US" sz="24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6388" name="Title 1"/>
          <p:cNvSpPr txBox="1">
            <a:spLocks/>
          </p:cNvSpPr>
          <p:nvPr/>
        </p:nvSpPr>
        <p:spPr bwMode="auto">
          <a:xfrm>
            <a:off x="693160" y="381000"/>
            <a:ext cx="4945640" cy="565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 : 1 Relationship Modelling</a:t>
            </a:r>
            <a:endParaRPr lang="en-US" altLang="en-US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42182" y="4158225"/>
            <a:ext cx="1676400" cy="319088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Entity: EMPLOYEES</a:t>
            </a:r>
          </a:p>
        </p:txBody>
      </p:sp>
      <p:sp>
        <p:nvSpPr>
          <p:cNvPr id="25" name="Rectangle 24"/>
          <p:cNvSpPr/>
          <p:nvPr/>
        </p:nvSpPr>
        <p:spPr bwMode="auto">
          <a:xfrm>
            <a:off x="990600" y="1585912"/>
            <a:ext cx="1468438" cy="319088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Entity: VEHICLES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2696214" y="3564599"/>
            <a:ext cx="4681538" cy="319088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VEHICLES ( </a:t>
            </a:r>
            <a:r>
              <a:rPr lang="en-US" sz="1600" b="1" u="sng" dirty="0" err="1">
                <a:solidFill>
                  <a:schemeClr val="bg1"/>
                </a:solidFill>
                <a:latin typeface="+mn-lt"/>
              </a:rPr>
              <a:t>VehNum</a:t>
            </a:r>
            <a:r>
              <a:rPr lang="en-US" sz="1600" b="1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+mn-lt"/>
              </a:rPr>
              <a:t>VehModel</a:t>
            </a:r>
            <a:r>
              <a:rPr lang="en-US" sz="1600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+mn-lt"/>
              </a:rPr>
              <a:t>DateRegister</a:t>
            </a:r>
            <a:r>
              <a:rPr lang="en-US" sz="1600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sz="1600" b="1" dirty="0" err="1">
                <a:solidFill>
                  <a:srgbClr val="FFFF00"/>
                </a:solidFill>
                <a:latin typeface="+mn-lt"/>
              </a:rPr>
              <a:t>EmpID</a:t>
            </a:r>
            <a:r>
              <a:rPr lang="en-US" sz="1600" b="1" dirty="0">
                <a:solidFill>
                  <a:schemeClr val="bg1"/>
                </a:solidFill>
                <a:latin typeface="+mn-lt"/>
              </a:rPr>
              <a:t> )</a:t>
            </a:r>
          </a:p>
        </p:txBody>
      </p:sp>
      <p:sp>
        <p:nvSpPr>
          <p:cNvPr id="30" name="Rectangle 29"/>
          <p:cNvSpPr/>
          <p:nvPr/>
        </p:nvSpPr>
        <p:spPr bwMode="auto">
          <a:xfrm>
            <a:off x="1371600" y="6477000"/>
            <a:ext cx="6084888" cy="319088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EMPLOYEES ( </a:t>
            </a:r>
            <a:r>
              <a:rPr lang="en-US" sz="1600" b="1" u="sng" dirty="0" err="1">
                <a:solidFill>
                  <a:schemeClr val="bg1"/>
                </a:solidFill>
                <a:latin typeface="+mn-lt"/>
              </a:rPr>
              <a:t>EmpID</a:t>
            </a:r>
            <a:r>
              <a:rPr lang="en-US" sz="1600" b="1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+mn-lt"/>
              </a:rPr>
              <a:t>EmpName</a:t>
            </a:r>
            <a:r>
              <a:rPr lang="en-US" sz="1600" dirty="0">
                <a:solidFill>
                  <a:schemeClr val="bg1"/>
                </a:solidFill>
                <a:latin typeface="+mn-lt"/>
              </a:rPr>
              <a:t>, Professions, </a:t>
            </a:r>
            <a:r>
              <a:rPr lang="en-US" sz="1600" dirty="0" err="1">
                <a:solidFill>
                  <a:schemeClr val="bg1"/>
                </a:solidFill>
                <a:latin typeface="+mn-lt"/>
              </a:rPr>
              <a:t>ChargeRate</a:t>
            </a:r>
            <a:r>
              <a:rPr lang="en-US" sz="1600" dirty="0">
                <a:solidFill>
                  <a:schemeClr val="bg1"/>
                </a:solidFill>
                <a:latin typeface="+mn-lt"/>
              </a:rPr>
              <a:t>, Department</a:t>
            </a:r>
            <a:r>
              <a:rPr lang="en-US" sz="1600" b="1" dirty="0">
                <a:solidFill>
                  <a:schemeClr val="bg1"/>
                </a:solidFill>
                <a:latin typeface="+mn-lt"/>
              </a:rPr>
              <a:t> 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1884" y="4536613"/>
            <a:ext cx="379413" cy="288925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dirty="0">
                <a:solidFill>
                  <a:srgbClr val="FFFF00"/>
                </a:solidFill>
                <a:latin typeface="+mn-lt"/>
              </a:rPr>
              <a:t>(PK)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27788" y="1626498"/>
            <a:ext cx="355600" cy="288925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dirty="0">
                <a:solidFill>
                  <a:srgbClr val="FFFF00"/>
                </a:solidFill>
                <a:latin typeface="+mn-lt"/>
              </a:rPr>
              <a:t>(FK)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8176" y="1945813"/>
            <a:ext cx="379412" cy="288925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dirty="0">
                <a:solidFill>
                  <a:srgbClr val="FFFF00"/>
                </a:solidFill>
                <a:latin typeface="+mn-lt"/>
              </a:rPr>
              <a:t>(PK)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3930" y="3535362"/>
            <a:ext cx="1819275" cy="350838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Relation Schemas: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434123"/>
              </p:ext>
            </p:extLst>
          </p:nvPr>
        </p:nvGraphicFramePr>
        <p:xfrm>
          <a:off x="1046163" y="1947655"/>
          <a:ext cx="6040436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10109">
                  <a:extLst>
                    <a:ext uri="{9D8B030D-6E8A-4147-A177-3AD203B41FA5}">
                      <a16:colId xmlns:a16="http://schemas.microsoft.com/office/drawing/2014/main" val="1460484219"/>
                    </a:ext>
                  </a:extLst>
                </a:gridCol>
                <a:gridCol w="1510109">
                  <a:extLst>
                    <a:ext uri="{9D8B030D-6E8A-4147-A177-3AD203B41FA5}">
                      <a16:colId xmlns:a16="http://schemas.microsoft.com/office/drawing/2014/main" val="3523235525"/>
                    </a:ext>
                  </a:extLst>
                </a:gridCol>
                <a:gridCol w="1510109">
                  <a:extLst>
                    <a:ext uri="{9D8B030D-6E8A-4147-A177-3AD203B41FA5}">
                      <a16:colId xmlns:a16="http://schemas.microsoft.com/office/drawing/2014/main" val="1676647505"/>
                    </a:ext>
                  </a:extLst>
                </a:gridCol>
                <a:gridCol w="1510109">
                  <a:extLst>
                    <a:ext uri="{9D8B030D-6E8A-4147-A177-3AD203B41FA5}">
                      <a16:colId xmlns:a16="http://schemas.microsoft.com/office/drawing/2014/main" val="27266239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 smtClean="0">
                          <a:solidFill>
                            <a:schemeClr val="tx1"/>
                          </a:solidFill>
                        </a:rPr>
                        <a:t>VehNum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 smtClean="0">
                          <a:solidFill>
                            <a:schemeClr val="tx1"/>
                          </a:solidFill>
                        </a:rPr>
                        <a:t>VehModel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 smtClean="0">
                          <a:solidFill>
                            <a:schemeClr val="tx1"/>
                          </a:solidFill>
                        </a:rPr>
                        <a:t>DateRegister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 smtClean="0">
                          <a:solidFill>
                            <a:srgbClr val="C00000"/>
                          </a:solidFill>
                        </a:rPr>
                        <a:t>EmpID</a:t>
                      </a:r>
                      <a:endParaRPr 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846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SLM1111A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 smtClean="0"/>
                        <a:t>Toyata</a:t>
                      </a:r>
                      <a:r>
                        <a:rPr lang="en-SG" sz="1600" dirty="0" smtClean="0"/>
                        <a:t> </a:t>
                      </a:r>
                      <a:r>
                        <a:rPr lang="en-SG" sz="1600" dirty="0" err="1" smtClean="0"/>
                        <a:t>Vios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18-Jan-2012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>
                          <a:solidFill>
                            <a:srgbClr val="C00000"/>
                          </a:solidFill>
                        </a:rPr>
                        <a:t>E-02</a:t>
                      </a:r>
                      <a:endParaRPr 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144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SLK2222B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Volvo S6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30-Mar-2013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>
                          <a:solidFill>
                            <a:srgbClr val="C00000"/>
                          </a:solidFill>
                        </a:rPr>
                        <a:t>E-03</a:t>
                      </a:r>
                      <a:endParaRPr 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20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SLL3333C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BMW 523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20-May-2015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>
                          <a:solidFill>
                            <a:srgbClr val="C00000"/>
                          </a:solidFill>
                        </a:rPr>
                        <a:t>E-04</a:t>
                      </a:r>
                      <a:endParaRPr 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776056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137435"/>
              </p:ext>
            </p:extLst>
          </p:nvPr>
        </p:nvGraphicFramePr>
        <p:xfrm>
          <a:off x="990600" y="4536440"/>
          <a:ext cx="5181600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146048421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523235525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67664750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7266239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 smtClean="0">
                          <a:solidFill>
                            <a:srgbClr val="C00000"/>
                          </a:solidFill>
                        </a:rPr>
                        <a:t>EmpID</a:t>
                      </a:r>
                      <a:endParaRPr 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 smtClean="0">
                          <a:solidFill>
                            <a:schemeClr val="tx1"/>
                          </a:solidFill>
                        </a:rPr>
                        <a:t>EmpName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>
                          <a:solidFill>
                            <a:schemeClr val="tx1"/>
                          </a:solidFill>
                        </a:rPr>
                        <a:t>Profession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 smtClean="0">
                          <a:solidFill>
                            <a:schemeClr val="tx1"/>
                          </a:solidFill>
                        </a:rPr>
                        <a:t>ChargeRate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846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600" b="1" dirty="0" smtClean="0">
                          <a:solidFill>
                            <a:srgbClr val="C00000"/>
                          </a:solidFill>
                        </a:rPr>
                        <a:t>E-01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Aaron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Designer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$50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144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600" b="1" dirty="0" smtClean="0">
                          <a:solidFill>
                            <a:srgbClr val="C00000"/>
                          </a:solidFill>
                        </a:rPr>
                        <a:t>E-02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Ben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Engineer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$60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20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600" b="1" dirty="0" smtClean="0">
                          <a:solidFill>
                            <a:srgbClr val="C00000"/>
                          </a:solidFill>
                        </a:rPr>
                        <a:t>E-03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Chris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Programmer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$75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776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600" b="1" dirty="0" smtClean="0">
                          <a:solidFill>
                            <a:srgbClr val="C00000"/>
                          </a:solidFill>
                        </a:rPr>
                        <a:t>E-04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Doris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Consultant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$100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471089"/>
                  </a:ext>
                </a:extLst>
              </a:tr>
            </a:tbl>
          </a:graphicData>
        </a:graphic>
      </p:graphicFrame>
      <p:sp>
        <p:nvSpPr>
          <p:cNvPr id="5" name="Freeform 4"/>
          <p:cNvSpPr/>
          <p:nvPr/>
        </p:nvSpPr>
        <p:spPr>
          <a:xfrm>
            <a:off x="1733266" y="3521122"/>
            <a:ext cx="4599295" cy="982639"/>
          </a:xfrm>
          <a:custGeom>
            <a:avLst/>
            <a:gdLst>
              <a:gd name="connsiteX0" fmla="*/ 4599295 w 4599295"/>
              <a:gd name="connsiteY0" fmla="*/ 0 h 982639"/>
              <a:gd name="connsiteX1" fmla="*/ 4299044 w 4599295"/>
              <a:gd name="connsiteY1" fmla="*/ 423081 h 982639"/>
              <a:gd name="connsiteX2" fmla="*/ 3220871 w 4599295"/>
              <a:gd name="connsiteY2" fmla="*/ 586854 h 982639"/>
              <a:gd name="connsiteX3" fmla="*/ 1856095 w 4599295"/>
              <a:gd name="connsiteY3" fmla="*/ 723332 h 982639"/>
              <a:gd name="connsiteX4" fmla="*/ 1064525 w 4599295"/>
              <a:gd name="connsiteY4" fmla="*/ 777923 h 982639"/>
              <a:gd name="connsiteX5" fmla="*/ 1037230 w 4599295"/>
              <a:gd name="connsiteY5" fmla="*/ 777923 h 982639"/>
              <a:gd name="connsiteX6" fmla="*/ 409433 w 4599295"/>
              <a:gd name="connsiteY6" fmla="*/ 859809 h 982639"/>
              <a:gd name="connsiteX7" fmla="*/ 0 w 4599295"/>
              <a:gd name="connsiteY7" fmla="*/ 982639 h 982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99295" h="982639">
                <a:moveTo>
                  <a:pt x="4599295" y="0"/>
                </a:moveTo>
                <a:cubicBezTo>
                  <a:pt x="4564038" y="162636"/>
                  <a:pt x="4528781" y="325272"/>
                  <a:pt x="4299044" y="423081"/>
                </a:cubicBezTo>
                <a:cubicBezTo>
                  <a:pt x="4069307" y="520890"/>
                  <a:pt x="3628029" y="536812"/>
                  <a:pt x="3220871" y="586854"/>
                </a:cubicBezTo>
                <a:cubicBezTo>
                  <a:pt x="2813713" y="636896"/>
                  <a:pt x="2215486" y="691487"/>
                  <a:pt x="1856095" y="723332"/>
                </a:cubicBezTo>
                <a:cubicBezTo>
                  <a:pt x="1496704" y="755177"/>
                  <a:pt x="1201002" y="768825"/>
                  <a:pt x="1064525" y="777923"/>
                </a:cubicBezTo>
                <a:cubicBezTo>
                  <a:pt x="928048" y="787021"/>
                  <a:pt x="1037230" y="777923"/>
                  <a:pt x="1037230" y="777923"/>
                </a:cubicBezTo>
                <a:cubicBezTo>
                  <a:pt x="928048" y="791571"/>
                  <a:pt x="582305" y="825690"/>
                  <a:pt x="409433" y="859809"/>
                </a:cubicBezTo>
                <a:cubicBezTo>
                  <a:pt x="236561" y="893928"/>
                  <a:pt x="118280" y="938283"/>
                  <a:pt x="0" y="982639"/>
                </a:cubicBezTo>
              </a:path>
            </a:pathLst>
          </a:custGeom>
          <a:noFill/>
          <a:ln w="19050">
            <a:solidFill>
              <a:srgbClr val="FFC000"/>
            </a:solidFill>
            <a:prstDash val="lg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6899275" y="1600200"/>
            <a:ext cx="2168525" cy="626701"/>
            <a:chOff x="6899275" y="1600200"/>
            <a:chExt cx="2168525" cy="626701"/>
          </a:xfrm>
        </p:grpSpPr>
        <p:sp>
          <p:nvSpPr>
            <p:cNvPr id="36" name="Rectangle 35"/>
            <p:cNvSpPr/>
            <p:nvPr/>
          </p:nvSpPr>
          <p:spPr>
            <a:xfrm>
              <a:off x="7330440" y="1600200"/>
              <a:ext cx="1737360" cy="626701"/>
            </a:xfrm>
            <a:prstGeom prst="rect">
              <a:avLst/>
            </a:prstGeom>
          </p:spPr>
          <p:txBody>
            <a:bodyPr wrap="squar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dirty="0" smtClean="0">
                  <a:solidFill>
                    <a:srgbClr val="FFFF00"/>
                  </a:solidFill>
                  <a:latin typeface="+mn-lt"/>
                </a:rPr>
                <a:t>(Inserted FK by modelling)</a:t>
              </a:r>
              <a:endParaRPr lang="en-US" dirty="0">
                <a:solidFill>
                  <a:srgbClr val="FFFF00"/>
                </a:solidFill>
                <a:latin typeface="+mn-lt"/>
              </a:endParaRPr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H="1">
              <a:off x="6899275" y="1905000"/>
              <a:ext cx="568325" cy="18288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/>
          <p:cNvSpPr/>
          <p:nvPr/>
        </p:nvSpPr>
        <p:spPr>
          <a:xfrm>
            <a:off x="5638800" y="1915423"/>
            <a:ext cx="1447799" cy="15155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826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 idx="4294967295"/>
          </p:nvPr>
        </p:nvSpPr>
        <p:spPr>
          <a:xfrm>
            <a:off x="706843" y="365234"/>
            <a:ext cx="5576197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: Many Relationship Modelling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412" name="Subtitle 2"/>
          <p:cNvSpPr txBox="1">
            <a:spLocks/>
          </p:cNvSpPr>
          <p:nvPr/>
        </p:nvSpPr>
        <p:spPr bwMode="auto">
          <a:xfrm>
            <a:off x="685800" y="1066800"/>
            <a:ext cx="77755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rgbClr val="FFFF00"/>
                </a:solidFill>
              </a:rPr>
              <a:t>In a one-to-many (1:N) relationship, each record (1-sided) in the related entity can be related to many records (N-sided) in the relating entity.</a:t>
            </a:r>
          </a:p>
        </p:txBody>
      </p:sp>
      <p:sp>
        <p:nvSpPr>
          <p:cNvPr id="17413" name="Rectangle 3"/>
          <p:cNvSpPr>
            <a:spLocks noChangeArrowheads="1"/>
          </p:cNvSpPr>
          <p:nvPr/>
        </p:nvSpPr>
        <p:spPr bwMode="auto">
          <a:xfrm>
            <a:off x="990600" y="2667000"/>
            <a:ext cx="6934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6800" rIns="46800">
            <a:spAutoFit/>
          </a:bodyPr>
          <a:lstStyle>
            <a:lvl1pPr marL="1258888" indent="-1258888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Example </a:t>
            </a:r>
            <a:r>
              <a:rPr lang="en-US" altLang="en-US" sz="2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: Modelling between the PROJECTS and SITES entities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879395"/>
              </p:ext>
            </p:extLst>
          </p:nvPr>
        </p:nvGraphicFramePr>
        <p:xfrm>
          <a:off x="1246496" y="3616326"/>
          <a:ext cx="1371600" cy="156492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119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PROJECTS</a:t>
                      </a:r>
                      <a:endParaRPr lang="en-SG" sz="18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18288" marR="18288" marT="18288" marB="1828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119">
                <a:tc>
                  <a:txBody>
                    <a:bodyPr/>
                    <a:lstStyle/>
                    <a:p>
                      <a:pPr algn="ctr"/>
                      <a:r>
                        <a:rPr lang="en-GB" sz="1800" b="1" u="sng" dirty="0" err="1" smtClean="0">
                          <a:solidFill>
                            <a:schemeClr val="tx1"/>
                          </a:solidFill>
                        </a:rPr>
                        <a:t>ProjCode</a:t>
                      </a:r>
                      <a:r>
                        <a:rPr lang="en-GB" sz="1800" b="0" u="none" dirty="0" smtClean="0">
                          <a:solidFill>
                            <a:schemeClr val="tx1"/>
                          </a:solidFill>
                        </a:rPr>
                        <a:t>(PK)</a:t>
                      </a:r>
                      <a:endParaRPr lang="en-SG" sz="18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ProjTitle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ProjCost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ProjMgr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3" name="Straight Connector 22"/>
          <p:cNvCxnSpPr/>
          <p:nvPr/>
        </p:nvCxnSpPr>
        <p:spPr bwMode="auto">
          <a:xfrm>
            <a:off x="2608974" y="4357048"/>
            <a:ext cx="2933865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47373"/>
              </p:ext>
            </p:extLst>
          </p:nvPr>
        </p:nvGraphicFramePr>
        <p:xfrm>
          <a:off x="5542839" y="3682998"/>
          <a:ext cx="1188720" cy="1385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SITES</a:t>
                      </a:r>
                      <a:endParaRPr lang="en-SG" sz="18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18" marR="36018" marT="36010" marB="3601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800" b="1" u="sng" dirty="0" err="1" smtClean="0">
                          <a:solidFill>
                            <a:schemeClr val="tx1"/>
                          </a:solidFill>
                        </a:rPr>
                        <a:t>SiteNo</a:t>
                      </a:r>
                      <a:r>
                        <a:rPr lang="en-GB" sz="1800" b="0" u="none" dirty="0" smtClean="0">
                          <a:solidFill>
                            <a:schemeClr val="tx1"/>
                          </a:solidFill>
                        </a:rPr>
                        <a:t>(PK)</a:t>
                      </a:r>
                      <a:endParaRPr lang="en-SG" sz="18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36018" marR="36018" marT="36010" marB="3601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C00000"/>
                          </a:solidFill>
                        </a:rPr>
                        <a:t>Location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36010" marB="3601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C00000"/>
                          </a:solidFill>
                        </a:rPr>
                        <a:t>Area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36010" marB="3601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442" name="Group 5"/>
          <p:cNvGrpSpPr>
            <a:grpSpLocks/>
          </p:cNvGrpSpPr>
          <p:nvPr/>
        </p:nvGrpSpPr>
        <p:grpSpPr bwMode="auto">
          <a:xfrm>
            <a:off x="2619700" y="4250625"/>
            <a:ext cx="428298" cy="215900"/>
            <a:chOff x="3591302" y="4610894"/>
            <a:chExt cx="428364" cy="215900"/>
          </a:xfrm>
        </p:grpSpPr>
        <p:sp>
          <p:nvSpPr>
            <p:cNvPr id="35" name="Oval 34"/>
            <p:cNvSpPr/>
            <p:nvPr/>
          </p:nvSpPr>
          <p:spPr bwMode="auto">
            <a:xfrm>
              <a:off x="3911699" y="4610894"/>
              <a:ext cx="107967" cy="215900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SG"/>
            </a:p>
          </p:txBody>
        </p:sp>
        <p:grpSp>
          <p:nvGrpSpPr>
            <p:cNvPr id="17450" name="Group 31"/>
            <p:cNvGrpSpPr>
              <a:grpSpLocks/>
            </p:cNvGrpSpPr>
            <p:nvPr/>
          </p:nvGrpSpPr>
          <p:grpSpPr bwMode="auto">
            <a:xfrm flipH="1">
              <a:off x="3591302" y="4621042"/>
              <a:ext cx="217522" cy="161925"/>
              <a:chOff x="2754359" y="4130227"/>
              <a:chExt cx="217441" cy="161968"/>
            </a:xfrm>
          </p:grpSpPr>
          <p:cxnSp>
            <p:nvCxnSpPr>
              <p:cNvPr id="33" name="Straight Connector 32"/>
              <p:cNvCxnSpPr/>
              <p:nvPr/>
            </p:nvCxnSpPr>
            <p:spPr>
              <a:xfrm flipV="1">
                <a:off x="2754360" y="4130243"/>
                <a:ext cx="217440" cy="73044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2754360" y="4220755"/>
                <a:ext cx="217440" cy="71456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Rectangle 29"/>
          <p:cNvSpPr/>
          <p:nvPr/>
        </p:nvSpPr>
        <p:spPr bwMode="auto">
          <a:xfrm>
            <a:off x="3901696" y="3917498"/>
            <a:ext cx="547192" cy="349702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SG" dirty="0" smtClean="0">
                <a:solidFill>
                  <a:srgbClr val="FFFF00"/>
                </a:solidFill>
                <a:latin typeface="+mn-lt"/>
              </a:rPr>
              <a:t>Build</a:t>
            </a:r>
            <a:endParaRPr lang="en-US" dirty="0">
              <a:solidFill>
                <a:srgbClr val="FFFF00"/>
              </a:solidFill>
              <a:latin typeface="+mn-lt"/>
            </a:endParaRPr>
          </a:p>
        </p:txBody>
      </p:sp>
      <p:grpSp>
        <p:nvGrpSpPr>
          <p:cNvPr id="17444" name="Group 38"/>
          <p:cNvGrpSpPr>
            <a:grpSpLocks/>
          </p:cNvGrpSpPr>
          <p:nvPr/>
        </p:nvGrpSpPr>
        <p:grpSpPr bwMode="auto">
          <a:xfrm>
            <a:off x="5249588" y="4239512"/>
            <a:ext cx="139264" cy="227013"/>
            <a:chOff x="2895600" y="3948112"/>
            <a:chExt cx="139264" cy="227013"/>
          </a:xfrm>
        </p:grpSpPr>
        <p:cxnSp>
          <p:nvCxnSpPr>
            <p:cNvPr id="40" name="Straight Connector 39"/>
            <p:cNvCxnSpPr/>
            <p:nvPr/>
          </p:nvCxnSpPr>
          <p:spPr bwMode="auto">
            <a:xfrm>
              <a:off x="2895600" y="3948112"/>
              <a:ext cx="0" cy="227013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 bwMode="auto">
            <a:xfrm>
              <a:off x="3034864" y="3948112"/>
              <a:ext cx="0" cy="22701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ectangle 42"/>
          <p:cNvSpPr/>
          <p:nvPr/>
        </p:nvSpPr>
        <p:spPr>
          <a:xfrm>
            <a:off x="5429128" y="5173405"/>
            <a:ext cx="1251359" cy="349702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Entity: SITES</a:t>
            </a:r>
          </a:p>
        </p:txBody>
      </p:sp>
      <p:sp>
        <p:nvSpPr>
          <p:cNvPr id="44" name="Rectangle 43"/>
          <p:cNvSpPr/>
          <p:nvPr/>
        </p:nvSpPr>
        <p:spPr bwMode="auto">
          <a:xfrm>
            <a:off x="1307840" y="5495225"/>
            <a:ext cx="1683337" cy="349702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Entity: PROJECTS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 txBox="1">
            <a:spLocks/>
          </p:cNvSpPr>
          <p:nvPr/>
        </p:nvSpPr>
        <p:spPr bwMode="auto">
          <a:xfrm>
            <a:off x="685800" y="365234"/>
            <a:ext cx="5816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 : Many Relationship Modelling</a:t>
            </a:r>
            <a:endParaRPr lang="en-US" altLang="en-US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 bwMode="auto">
          <a:xfrm>
            <a:off x="692150" y="1066800"/>
            <a:ext cx="7848600" cy="153828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Font typeface="Arial" charset="0"/>
              <a:buNone/>
              <a:defRPr/>
            </a:pPr>
            <a:r>
              <a:rPr lang="en-US" altLang="en-US" sz="2400" u="sng" dirty="0" smtClean="0"/>
              <a:t>Rule for 1:N relationship</a:t>
            </a:r>
            <a:r>
              <a:rPr lang="en-US" altLang="en-US" sz="2400" dirty="0" smtClean="0"/>
              <a:t>:</a:t>
            </a:r>
          </a:p>
          <a:p>
            <a:pPr marL="0" indent="0"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altLang="en-US" sz="2400" dirty="0" smtClean="0"/>
              <a:t>In 1:N relationship modeling, it should insert a foreign key (FK) into the N-side entity. This FK should come from the primary key of the 1-side entity.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671622" y="2895600"/>
            <a:ext cx="7791450" cy="81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Font typeface="Courier New" panose="02070309020205020404" pitchFamily="49" charset="0"/>
              <a:buChar char="o"/>
              <a:defRPr/>
            </a:pPr>
            <a:r>
              <a:rPr lang="en-US" altLang="en-US" sz="2400" dirty="0" smtClean="0">
                <a:solidFill>
                  <a:schemeClr val="bg1"/>
                </a:solidFill>
                <a:cs typeface="Times New Roman" pitchFamily="18" charset="0"/>
              </a:rPr>
              <a:t>2 Key attributes in the example:</a:t>
            </a:r>
          </a:p>
          <a:p>
            <a:pPr marL="346075" indent="0">
              <a:buNone/>
              <a:defRPr/>
            </a:pPr>
            <a:r>
              <a:rPr lang="en-US" altLang="en-US" sz="2000" b="1" dirty="0" smtClean="0">
                <a:solidFill>
                  <a:schemeClr val="bg1"/>
                </a:solidFill>
                <a:cs typeface="Times New Roman" pitchFamily="18" charset="0"/>
              </a:rPr>
              <a:t>PROJECTS</a:t>
            </a:r>
            <a:r>
              <a:rPr lang="en-US" altLang="en-US" sz="2000" dirty="0" smtClean="0">
                <a:solidFill>
                  <a:schemeClr val="bg1"/>
                </a:solidFill>
                <a:cs typeface="Times New Roman" pitchFamily="18" charset="0"/>
              </a:rPr>
              <a:t> entity – ‘</a:t>
            </a:r>
            <a:r>
              <a:rPr lang="en-US" altLang="en-US" sz="2000" b="1" dirty="0" err="1" smtClean="0">
                <a:solidFill>
                  <a:srgbClr val="FFFF00"/>
                </a:solidFill>
                <a:cs typeface="Times New Roman" pitchFamily="18" charset="0"/>
              </a:rPr>
              <a:t>ProjCode</a:t>
            </a:r>
            <a:r>
              <a:rPr lang="en-US" altLang="en-US" sz="2000" dirty="0" smtClean="0">
                <a:solidFill>
                  <a:schemeClr val="bg1"/>
                </a:solidFill>
                <a:cs typeface="Times New Roman" pitchFamily="18" charset="0"/>
              </a:rPr>
              <a:t>’,         </a:t>
            </a:r>
            <a:r>
              <a:rPr lang="en-US" altLang="en-US" sz="2000" b="1" dirty="0" smtClean="0">
                <a:solidFill>
                  <a:schemeClr val="bg1"/>
                </a:solidFill>
                <a:cs typeface="Times New Roman" pitchFamily="18" charset="0"/>
              </a:rPr>
              <a:t>SITES</a:t>
            </a:r>
            <a:r>
              <a:rPr lang="en-US" altLang="en-US" sz="2000" dirty="0" smtClean="0">
                <a:solidFill>
                  <a:schemeClr val="bg1"/>
                </a:solidFill>
                <a:cs typeface="Times New Roman" pitchFamily="18" charset="0"/>
              </a:rPr>
              <a:t> entity – ‘</a:t>
            </a:r>
            <a:r>
              <a:rPr lang="en-US" altLang="en-US" sz="2000" b="1" dirty="0" err="1" smtClean="0">
                <a:solidFill>
                  <a:srgbClr val="FFFF00"/>
                </a:solidFill>
                <a:cs typeface="Times New Roman" pitchFamily="18" charset="0"/>
              </a:rPr>
              <a:t>SiteNo</a:t>
            </a:r>
            <a:r>
              <a:rPr lang="en-US" altLang="en-US" sz="2000" dirty="0" smtClean="0">
                <a:solidFill>
                  <a:schemeClr val="bg1"/>
                </a:solidFill>
                <a:cs typeface="Times New Roman" pitchFamily="18" charset="0"/>
              </a:rPr>
              <a:t>’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 bwMode="auto">
          <a:xfrm>
            <a:off x="1066800" y="6229350"/>
            <a:ext cx="7115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altLang="en-US" sz="20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By the rule, it should insert ‘</a:t>
            </a:r>
            <a:r>
              <a:rPr lang="en-GB" altLang="en-US" sz="2000" dirty="0" err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SiteNo</a:t>
            </a:r>
            <a:r>
              <a:rPr lang="en-GB" altLang="en-US" sz="20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’ into PROJECT entity (N-side).</a:t>
            </a:r>
            <a:endParaRPr lang="en-US" altLang="en-US" sz="2000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164918"/>
              </p:ext>
            </p:extLst>
          </p:nvPr>
        </p:nvGraphicFramePr>
        <p:xfrm>
          <a:off x="1771650" y="4059238"/>
          <a:ext cx="1463040" cy="156492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119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PROJECTS</a:t>
                      </a:r>
                      <a:endParaRPr lang="en-SG" sz="18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18288" marR="18288" marT="18288" marB="1828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119">
                <a:tc>
                  <a:txBody>
                    <a:bodyPr/>
                    <a:lstStyle/>
                    <a:p>
                      <a:pPr algn="ctr"/>
                      <a:r>
                        <a:rPr lang="en-GB" sz="1800" b="1" u="sng" dirty="0" err="1" smtClean="0">
                          <a:solidFill>
                            <a:schemeClr val="tx1"/>
                          </a:solidFill>
                        </a:rPr>
                        <a:t>ProjCode</a:t>
                      </a:r>
                      <a:r>
                        <a:rPr lang="en-GB" sz="1800" b="0" u="none" dirty="0" smtClean="0">
                          <a:solidFill>
                            <a:schemeClr val="tx1"/>
                          </a:solidFill>
                        </a:rPr>
                        <a:t>(PK)</a:t>
                      </a:r>
                      <a:endParaRPr lang="en-SG" sz="18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ProjTitle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ProjCost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ProjMgr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2" name="Straight Connector 11"/>
          <p:cNvCxnSpPr/>
          <p:nvPr/>
        </p:nvCxnSpPr>
        <p:spPr bwMode="auto">
          <a:xfrm flipV="1">
            <a:off x="3200400" y="4738048"/>
            <a:ext cx="237363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288905"/>
              </p:ext>
            </p:extLst>
          </p:nvPr>
        </p:nvGraphicFramePr>
        <p:xfrm>
          <a:off x="5608320" y="4135438"/>
          <a:ext cx="1097280" cy="126365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SITES</a:t>
                      </a:r>
                      <a:endParaRPr lang="en-SG" sz="18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18288" marR="18288" marT="18288" marB="1828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800" b="1" u="sng" dirty="0" err="1" smtClean="0">
                          <a:solidFill>
                            <a:schemeClr val="tx1"/>
                          </a:solidFill>
                        </a:rPr>
                        <a:t>SiteNo</a:t>
                      </a:r>
                      <a:r>
                        <a:rPr lang="en-GB" sz="1800" b="0" u="none" dirty="0" smtClean="0">
                          <a:solidFill>
                            <a:schemeClr val="tx1"/>
                          </a:solidFill>
                        </a:rPr>
                        <a:t>(PK)</a:t>
                      </a:r>
                      <a:endParaRPr lang="en-SG" sz="18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C00000"/>
                          </a:solidFill>
                        </a:rPr>
                        <a:t>Location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C00000"/>
                          </a:solidFill>
                        </a:rPr>
                        <a:t>Area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8465" name="Group 13"/>
          <p:cNvGrpSpPr>
            <a:grpSpLocks/>
          </p:cNvGrpSpPr>
          <p:nvPr/>
        </p:nvGrpSpPr>
        <p:grpSpPr bwMode="auto">
          <a:xfrm>
            <a:off x="3217882" y="4619956"/>
            <a:ext cx="523876" cy="215900"/>
            <a:chOff x="3591303" y="4603927"/>
            <a:chExt cx="523957" cy="215900"/>
          </a:xfrm>
        </p:grpSpPr>
        <p:sp>
          <p:nvSpPr>
            <p:cNvPr id="15" name="Oval 14"/>
            <p:cNvSpPr/>
            <p:nvPr/>
          </p:nvSpPr>
          <p:spPr bwMode="auto">
            <a:xfrm>
              <a:off x="4007293" y="4603927"/>
              <a:ext cx="107967" cy="215900"/>
            </a:xfrm>
            <a:prstGeom prst="ellipse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SG"/>
            </a:p>
          </p:txBody>
        </p:sp>
        <p:grpSp>
          <p:nvGrpSpPr>
            <p:cNvPr id="18475" name="Group 31"/>
            <p:cNvGrpSpPr>
              <a:grpSpLocks/>
            </p:cNvGrpSpPr>
            <p:nvPr/>
          </p:nvGrpSpPr>
          <p:grpSpPr bwMode="auto">
            <a:xfrm flipH="1">
              <a:off x="3591303" y="4621064"/>
              <a:ext cx="274362" cy="181928"/>
              <a:chOff x="2697541" y="4130244"/>
              <a:chExt cx="274260" cy="181976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 flipV="1">
                <a:off x="2697541" y="4130244"/>
                <a:ext cx="274260" cy="91464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2697542" y="4220756"/>
                <a:ext cx="274259" cy="91464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" name="Rectangle 18"/>
          <p:cNvSpPr/>
          <p:nvPr/>
        </p:nvSpPr>
        <p:spPr bwMode="auto">
          <a:xfrm>
            <a:off x="4121101" y="4388822"/>
            <a:ext cx="600092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SG" sz="2000" dirty="0" smtClean="0">
                <a:solidFill>
                  <a:srgbClr val="FFFF00"/>
                </a:solidFill>
                <a:latin typeface="+mn-lt"/>
              </a:rPr>
              <a:t>Build</a:t>
            </a:r>
            <a:endParaRPr lang="en-US" sz="2000" dirty="0">
              <a:solidFill>
                <a:srgbClr val="FFFF00"/>
              </a:solidFill>
              <a:latin typeface="+mn-lt"/>
            </a:endParaRPr>
          </a:p>
        </p:txBody>
      </p:sp>
      <p:grpSp>
        <p:nvGrpSpPr>
          <p:cNvPr id="18467" name="Group 19"/>
          <p:cNvGrpSpPr>
            <a:grpSpLocks/>
          </p:cNvGrpSpPr>
          <p:nvPr/>
        </p:nvGrpSpPr>
        <p:grpSpPr bwMode="auto">
          <a:xfrm>
            <a:off x="5237163" y="4599296"/>
            <a:ext cx="173037" cy="274320"/>
            <a:chOff x="2895600" y="3948112"/>
            <a:chExt cx="173037" cy="227013"/>
          </a:xfrm>
        </p:grpSpPr>
        <p:cxnSp>
          <p:nvCxnSpPr>
            <p:cNvPr id="21" name="Straight Connector 20"/>
            <p:cNvCxnSpPr/>
            <p:nvPr/>
          </p:nvCxnSpPr>
          <p:spPr bwMode="auto">
            <a:xfrm>
              <a:off x="2895600" y="3948112"/>
              <a:ext cx="0" cy="227013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auto">
            <a:xfrm>
              <a:off x="3068637" y="3948112"/>
              <a:ext cx="0" cy="22701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/>
          <p:cNvSpPr/>
          <p:nvPr/>
        </p:nvSpPr>
        <p:spPr>
          <a:xfrm>
            <a:off x="5579418" y="5592654"/>
            <a:ext cx="1120775" cy="319087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Entity: SITES</a:t>
            </a:r>
          </a:p>
        </p:txBody>
      </p:sp>
      <p:sp>
        <p:nvSpPr>
          <p:cNvPr id="24" name="Rectangle 23"/>
          <p:cNvSpPr/>
          <p:nvPr/>
        </p:nvSpPr>
        <p:spPr bwMode="auto">
          <a:xfrm>
            <a:off x="1571816" y="5861548"/>
            <a:ext cx="1503363" cy="319087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Entity: PROJECTS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ctrTitle" idx="4294967295"/>
          </p:nvPr>
        </p:nvSpPr>
        <p:spPr>
          <a:xfrm>
            <a:off x="630238" y="394136"/>
            <a:ext cx="5576197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 : Many Relationship Modelling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459" name="Rectangle 3"/>
          <p:cNvSpPr txBox="1">
            <a:spLocks noChangeArrowheads="1"/>
          </p:cNvSpPr>
          <p:nvPr/>
        </p:nvSpPr>
        <p:spPr bwMode="auto">
          <a:xfrm>
            <a:off x="685800" y="1143000"/>
            <a:ext cx="779145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Hence, the modelled relationship should be: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470769"/>
              </p:ext>
            </p:extLst>
          </p:nvPr>
        </p:nvGraphicFramePr>
        <p:xfrm>
          <a:off x="1690865" y="2057400"/>
          <a:ext cx="1280160" cy="187587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144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PROJECTS</a:t>
                      </a:r>
                      <a:endParaRPr lang="en-SG" sz="18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18288" marR="18288" marT="18288" marB="1828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144">
                <a:tc>
                  <a:txBody>
                    <a:bodyPr/>
                    <a:lstStyle/>
                    <a:p>
                      <a:pPr algn="ctr"/>
                      <a:r>
                        <a:rPr lang="en-GB" sz="1800" b="1" u="sng" dirty="0" err="1" smtClean="0">
                          <a:solidFill>
                            <a:schemeClr val="tx1"/>
                          </a:solidFill>
                        </a:rPr>
                        <a:t>ProjCode</a:t>
                      </a:r>
                      <a:r>
                        <a:rPr lang="en-GB" sz="1800" b="0" u="none" dirty="0" smtClean="0">
                          <a:solidFill>
                            <a:schemeClr val="tx1"/>
                          </a:solidFill>
                        </a:rPr>
                        <a:t>(PK)</a:t>
                      </a:r>
                      <a:endParaRPr lang="en-SG" sz="18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634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ProjTitle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634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ProjCost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634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ProjMgr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634">
                <a:tc>
                  <a:txBody>
                    <a:bodyPr/>
                    <a:lstStyle/>
                    <a:p>
                      <a:pPr algn="ctr"/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453102"/>
              </p:ext>
            </p:extLst>
          </p:nvPr>
        </p:nvGraphicFramePr>
        <p:xfrm>
          <a:off x="5334000" y="2229516"/>
          <a:ext cx="1188720" cy="126365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SITES</a:t>
                      </a:r>
                      <a:endParaRPr lang="en-SG" sz="1800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18288" marR="18288" marT="18288" marB="1828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800" b="1" u="sng" dirty="0" err="1" smtClean="0">
                          <a:solidFill>
                            <a:schemeClr val="tx1"/>
                          </a:solidFill>
                        </a:rPr>
                        <a:t>SiteNo</a:t>
                      </a:r>
                      <a:r>
                        <a:rPr lang="en-GB" sz="1800" b="0" u="none" dirty="0" smtClean="0">
                          <a:solidFill>
                            <a:schemeClr val="tx1"/>
                          </a:solidFill>
                        </a:rPr>
                        <a:t>(PK)</a:t>
                      </a:r>
                      <a:endParaRPr lang="en-SG" sz="18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C00000"/>
                          </a:solidFill>
                        </a:rPr>
                        <a:t>Location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C00000"/>
                          </a:solidFill>
                        </a:rPr>
                        <a:t>Area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5356225" y="3647285"/>
            <a:ext cx="1120775" cy="319087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Entity: SITES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1807" y="2513679"/>
            <a:ext cx="373579" cy="318924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dirty="0">
                <a:solidFill>
                  <a:srgbClr val="FFFF00"/>
                </a:solidFill>
                <a:latin typeface="+mn-lt"/>
              </a:rPr>
              <a:t>(PK)</a:t>
            </a: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2944089" y="2147248"/>
            <a:ext cx="2390560" cy="1754204"/>
            <a:chOff x="3066290" y="2286566"/>
            <a:chExt cx="1778384" cy="1708222"/>
          </a:xfrm>
        </p:grpSpPr>
        <p:cxnSp>
          <p:nvCxnSpPr>
            <p:cNvPr id="9" name="Straight Connector 8"/>
            <p:cNvCxnSpPr/>
            <p:nvPr/>
          </p:nvCxnSpPr>
          <p:spPr bwMode="auto">
            <a:xfrm flipV="1">
              <a:off x="3066290" y="3883658"/>
              <a:ext cx="835579" cy="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499" name="Group 10"/>
            <p:cNvGrpSpPr>
              <a:grpSpLocks/>
            </p:cNvGrpSpPr>
            <p:nvPr/>
          </p:nvGrpSpPr>
          <p:grpSpPr bwMode="auto">
            <a:xfrm>
              <a:off x="3075822" y="3778879"/>
              <a:ext cx="371721" cy="215909"/>
              <a:chOff x="3590932" y="4568662"/>
              <a:chExt cx="371721" cy="215909"/>
            </a:xfrm>
          </p:grpSpPr>
          <p:sp>
            <p:nvSpPr>
              <p:cNvPr id="12" name="Oval 11"/>
              <p:cNvSpPr/>
              <p:nvPr/>
            </p:nvSpPr>
            <p:spPr bwMode="auto">
              <a:xfrm>
                <a:off x="3854631" y="4568662"/>
                <a:ext cx="108022" cy="215909"/>
              </a:xfrm>
              <a:prstGeom prst="ellipse">
                <a:avLst/>
              </a:prstGeom>
              <a:noFill/>
              <a:ln w="381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SG"/>
              </a:p>
            </p:txBody>
          </p:sp>
          <p:grpSp>
            <p:nvGrpSpPr>
              <p:cNvPr id="19507" name="Group 31"/>
              <p:cNvGrpSpPr>
                <a:grpSpLocks/>
              </p:cNvGrpSpPr>
              <p:nvPr/>
            </p:nvGrpSpPr>
            <p:grpSpPr bwMode="auto">
              <a:xfrm flipH="1">
                <a:off x="3590932" y="4592494"/>
                <a:ext cx="217635" cy="175223"/>
                <a:chOff x="2754617" y="4101637"/>
                <a:chExt cx="217554" cy="175268"/>
              </a:xfrm>
            </p:grpSpPr>
            <p:cxnSp>
              <p:nvCxnSpPr>
                <p:cNvPr id="14" name="Straight Connector 13"/>
                <p:cNvCxnSpPr/>
                <p:nvPr/>
              </p:nvCxnSpPr>
              <p:spPr>
                <a:xfrm flipV="1">
                  <a:off x="2754617" y="4101637"/>
                  <a:ext cx="217551" cy="73047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/>
              </p:nvCxnSpPr>
              <p:spPr>
                <a:xfrm>
                  <a:off x="2754620" y="4205446"/>
                  <a:ext cx="217551" cy="71459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6" name="Rectangle 15"/>
            <p:cNvSpPr/>
            <p:nvPr/>
          </p:nvSpPr>
          <p:spPr bwMode="auto">
            <a:xfrm>
              <a:off x="3879629" y="2286566"/>
              <a:ext cx="459537" cy="370507"/>
            </a:xfrm>
            <a:prstGeom prst="rect">
              <a:avLst/>
            </a:prstGeom>
            <a:ln w="38100">
              <a:noFill/>
            </a:ln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2000" b="1" dirty="0" smtClean="0">
                  <a:solidFill>
                    <a:srgbClr val="FFFF00"/>
                  </a:solidFill>
                  <a:latin typeface="+mn-lt"/>
                </a:rPr>
                <a:t>Build</a:t>
              </a:r>
              <a:endParaRPr lang="en-US" sz="2000" b="1" dirty="0">
                <a:solidFill>
                  <a:srgbClr val="FFFF00"/>
                </a:solidFill>
                <a:latin typeface="+mn-lt"/>
              </a:endParaRPr>
            </a:p>
          </p:txBody>
        </p:sp>
        <p:grpSp>
          <p:nvGrpSpPr>
            <p:cNvPr id="19501" name="Group 16"/>
            <p:cNvGrpSpPr>
              <a:grpSpLocks/>
            </p:cNvGrpSpPr>
            <p:nvPr/>
          </p:nvGrpSpPr>
          <p:grpSpPr bwMode="auto">
            <a:xfrm>
              <a:off x="4549999" y="2682853"/>
              <a:ext cx="124131" cy="267129"/>
              <a:chOff x="2895759" y="3936527"/>
              <a:chExt cx="124131" cy="267129"/>
            </a:xfrm>
          </p:grpSpPr>
          <p:cxnSp>
            <p:nvCxnSpPr>
              <p:cNvPr id="18" name="Straight Connector 17"/>
              <p:cNvCxnSpPr/>
              <p:nvPr/>
            </p:nvCxnSpPr>
            <p:spPr bwMode="auto">
              <a:xfrm>
                <a:off x="2895759" y="3948245"/>
                <a:ext cx="0" cy="227022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 bwMode="auto">
              <a:xfrm>
                <a:off x="3019890" y="3936527"/>
                <a:ext cx="0" cy="267129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Straight Connector 22"/>
            <p:cNvCxnSpPr/>
            <p:nvPr/>
          </p:nvCxnSpPr>
          <p:spPr bwMode="auto">
            <a:xfrm flipV="1">
              <a:off x="3892338" y="2811067"/>
              <a:ext cx="952336" cy="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3893927" y="2802526"/>
              <a:ext cx="0" cy="1079545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/>
          <p:cNvSpPr/>
          <p:nvPr/>
        </p:nvSpPr>
        <p:spPr>
          <a:xfrm>
            <a:off x="1599813" y="4040872"/>
            <a:ext cx="1503363" cy="319087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Entity: PROJECTS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1752600" y="5334000"/>
            <a:ext cx="6173788" cy="38100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b="1" dirty="0">
                <a:solidFill>
                  <a:schemeClr val="bg1"/>
                </a:solidFill>
                <a:latin typeface="+mn-lt"/>
              </a:rPr>
              <a:t>PROJECTS ( </a:t>
            </a:r>
            <a:r>
              <a:rPr lang="en-US" sz="2000" b="1" u="sng" dirty="0" err="1">
                <a:solidFill>
                  <a:schemeClr val="bg1"/>
                </a:solidFill>
                <a:latin typeface="+mn-lt"/>
              </a:rPr>
              <a:t>ProjCode</a:t>
            </a:r>
            <a:r>
              <a:rPr lang="en-US" sz="2000" b="1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sz="2000" dirty="0" err="1">
                <a:solidFill>
                  <a:srgbClr val="FFC000"/>
                </a:solidFill>
                <a:latin typeface="+mn-lt"/>
              </a:rPr>
              <a:t>ProjTitle</a:t>
            </a:r>
            <a:r>
              <a:rPr lang="en-US" sz="2000" dirty="0">
                <a:solidFill>
                  <a:srgbClr val="FFC000"/>
                </a:solidFill>
                <a:latin typeface="+mn-lt"/>
              </a:rPr>
              <a:t>, </a:t>
            </a:r>
            <a:r>
              <a:rPr lang="en-US" sz="2000" dirty="0" err="1">
                <a:solidFill>
                  <a:srgbClr val="FFC000"/>
                </a:solidFill>
                <a:latin typeface="+mn-lt"/>
              </a:rPr>
              <a:t>ProjCost</a:t>
            </a:r>
            <a:r>
              <a:rPr lang="en-US" sz="2000" dirty="0">
                <a:solidFill>
                  <a:srgbClr val="FFC000"/>
                </a:solidFill>
                <a:latin typeface="+mn-lt"/>
              </a:rPr>
              <a:t>, </a:t>
            </a:r>
            <a:r>
              <a:rPr lang="en-US" sz="2000" dirty="0" err="1">
                <a:solidFill>
                  <a:srgbClr val="FFC000"/>
                </a:solidFill>
                <a:latin typeface="+mn-lt"/>
              </a:rPr>
              <a:t>ProjMgr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sz="2000" b="1" dirty="0" err="1">
                <a:solidFill>
                  <a:srgbClr val="FFFF00"/>
                </a:solidFill>
                <a:latin typeface="+mn-lt"/>
              </a:rPr>
              <a:t>SiteNo</a:t>
            </a:r>
            <a:r>
              <a:rPr lang="en-US" sz="2000" b="1" dirty="0">
                <a:solidFill>
                  <a:schemeClr val="bg1"/>
                </a:solidFill>
                <a:latin typeface="+mn-lt"/>
              </a:rPr>
              <a:t> )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2635250" y="5943600"/>
            <a:ext cx="3287713" cy="38100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b="1" dirty="0">
                <a:solidFill>
                  <a:schemeClr val="bg1"/>
                </a:solidFill>
                <a:latin typeface="+mn-lt"/>
              </a:rPr>
              <a:t>SITES ( </a:t>
            </a:r>
            <a:r>
              <a:rPr lang="en-US" sz="2000" b="1" u="sng" dirty="0" err="1">
                <a:solidFill>
                  <a:schemeClr val="bg1"/>
                </a:solidFill>
                <a:latin typeface="+mn-lt"/>
              </a:rPr>
              <a:t>SiteNo</a:t>
            </a:r>
            <a:r>
              <a:rPr lang="en-US" sz="2000" b="1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sz="2000" dirty="0">
                <a:solidFill>
                  <a:srgbClr val="FFC000"/>
                </a:solidFill>
                <a:latin typeface="+mn-lt"/>
              </a:rPr>
              <a:t>Location, Area</a:t>
            </a:r>
            <a:r>
              <a:rPr lang="en-US" sz="2000" b="1" dirty="0">
                <a:solidFill>
                  <a:srgbClr val="FFC000"/>
                </a:solidFill>
                <a:latin typeface="+mn-lt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+mn-lt"/>
              </a:rPr>
              <a:t>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55824" y="3748088"/>
            <a:ext cx="399716" cy="318924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dirty="0">
                <a:solidFill>
                  <a:srgbClr val="FFFF00"/>
                </a:solidFill>
                <a:latin typeface="+mn-lt"/>
              </a:rPr>
              <a:t>(FK)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944017" y="3633088"/>
            <a:ext cx="656398" cy="313932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" tIns="18288" rIns="18288" bIns="1828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800" dirty="0" err="1">
                <a:solidFill>
                  <a:srgbClr val="C00000"/>
                </a:solidFill>
              </a:rPr>
              <a:t>SiteNo</a:t>
            </a:r>
            <a:endParaRPr lang="en-SG" altLang="en-US" sz="1800" dirty="0">
              <a:solidFill>
                <a:srgbClr val="C0000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371600" y="4876800"/>
            <a:ext cx="2019300" cy="38100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b="1" dirty="0">
                <a:solidFill>
                  <a:srgbClr val="FFFF00"/>
                </a:solidFill>
                <a:latin typeface="+mn-lt"/>
              </a:rPr>
              <a:t>Relation Schemas:</a:t>
            </a:r>
          </a:p>
        </p:txBody>
      </p:sp>
      <p:sp>
        <p:nvSpPr>
          <p:cNvPr id="2" name="Down Arrow 1"/>
          <p:cNvSpPr/>
          <p:nvPr/>
        </p:nvSpPr>
        <p:spPr>
          <a:xfrm>
            <a:off x="7239000" y="4876800"/>
            <a:ext cx="180000" cy="360000"/>
          </a:xfrm>
          <a:prstGeom prst="down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3054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3" grpId="0" animBg="1"/>
      <p:bldP spid="29" grpId="0"/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ctrTitle" idx="4294967295"/>
          </p:nvPr>
        </p:nvSpPr>
        <p:spPr>
          <a:xfrm>
            <a:off x="646004" y="365234"/>
            <a:ext cx="5704438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 : Many Relationship Modelling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389817" y="4114800"/>
            <a:ext cx="1120775" cy="319087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Entity: SITES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427" y="4465022"/>
            <a:ext cx="422158" cy="318924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(PK)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3465511" y="6326187"/>
            <a:ext cx="3287713" cy="38100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b="1" dirty="0">
                <a:solidFill>
                  <a:schemeClr val="bg1"/>
                </a:solidFill>
                <a:latin typeface="+mn-lt"/>
              </a:rPr>
              <a:t>SITES ( </a:t>
            </a:r>
            <a:r>
              <a:rPr lang="en-US" sz="2000" b="1" u="sng" dirty="0" err="1">
                <a:solidFill>
                  <a:schemeClr val="bg1"/>
                </a:solidFill>
                <a:latin typeface="+mn-lt"/>
              </a:rPr>
              <a:t>SiteNo</a:t>
            </a:r>
            <a:r>
              <a:rPr lang="en-US" sz="2000" b="1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Location, Area</a:t>
            </a:r>
            <a:r>
              <a:rPr lang="en-US" sz="2000" b="1" dirty="0">
                <a:solidFill>
                  <a:schemeClr val="bg1"/>
                </a:solidFill>
                <a:latin typeface="+mn-lt"/>
              </a:rPr>
              <a:t> 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64108" y="2014237"/>
            <a:ext cx="407731" cy="318924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(FK)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95400" y="6326187"/>
            <a:ext cx="2019300" cy="38100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b="1" dirty="0">
                <a:solidFill>
                  <a:srgbClr val="FFFF00"/>
                </a:solidFill>
                <a:latin typeface="+mn-lt"/>
              </a:rPr>
              <a:t>Relation Schemas:</a:t>
            </a: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 bwMode="auto">
          <a:xfrm>
            <a:off x="685800" y="1066800"/>
            <a:ext cx="4191000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24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Modelled relations are as shown:</a:t>
            </a:r>
            <a:endParaRPr lang="en-US" altLang="en-US" sz="24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1046162" y="1585912"/>
            <a:ext cx="1503288" cy="318924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Entity: </a:t>
            </a:r>
            <a:r>
              <a:rPr lang="en-US" sz="1600" b="1" dirty="0" smtClean="0">
                <a:solidFill>
                  <a:srgbClr val="FFFF00"/>
                </a:solidFill>
                <a:latin typeface="+mn-lt"/>
              </a:rPr>
              <a:t>PROJECTS</a:t>
            </a:r>
            <a:endParaRPr lang="en-US" sz="1600" b="1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2751776" y="3564599"/>
            <a:ext cx="4958400" cy="318924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+mn-lt"/>
              </a:rPr>
              <a:t>PROJECTS </a:t>
            </a:r>
            <a:r>
              <a:rPr lang="en-US" sz="1600" b="1" dirty="0">
                <a:solidFill>
                  <a:schemeClr val="bg1"/>
                </a:solidFill>
                <a:latin typeface="+mn-lt"/>
              </a:rPr>
              <a:t>( </a:t>
            </a:r>
            <a:r>
              <a:rPr lang="en-US" sz="1600" b="1" u="sng" dirty="0" err="1" smtClean="0">
                <a:solidFill>
                  <a:schemeClr val="bg1"/>
                </a:solidFill>
                <a:latin typeface="+mn-lt"/>
              </a:rPr>
              <a:t>ProjCode</a:t>
            </a:r>
            <a:r>
              <a:rPr lang="en-US" sz="1600" b="1" dirty="0" smtClean="0">
                <a:solidFill>
                  <a:schemeClr val="bg1"/>
                </a:solidFill>
                <a:latin typeface="+mn-lt"/>
              </a:rPr>
              <a:t>, </a:t>
            </a:r>
            <a:r>
              <a:rPr lang="en-US" sz="1600" dirty="0" err="1" smtClean="0">
                <a:solidFill>
                  <a:schemeClr val="bg1"/>
                </a:solidFill>
                <a:latin typeface="+mn-lt"/>
              </a:rPr>
              <a:t>ProjTitle</a:t>
            </a:r>
            <a:r>
              <a:rPr lang="en-US" sz="1600" dirty="0" smtClean="0">
                <a:solidFill>
                  <a:schemeClr val="bg1"/>
                </a:solidFill>
                <a:latin typeface="+mn-lt"/>
              </a:rPr>
              <a:t>, </a:t>
            </a:r>
            <a:r>
              <a:rPr lang="en-US" sz="1600" dirty="0" err="1" smtClean="0">
                <a:solidFill>
                  <a:schemeClr val="bg1"/>
                </a:solidFill>
                <a:latin typeface="+mn-lt"/>
              </a:rPr>
              <a:t>ProjCost</a:t>
            </a:r>
            <a:r>
              <a:rPr lang="en-US" sz="1600" dirty="0" smtClean="0">
                <a:solidFill>
                  <a:schemeClr val="bg1"/>
                </a:solidFill>
                <a:latin typeface="+mn-lt"/>
              </a:rPr>
              <a:t>, </a:t>
            </a:r>
            <a:r>
              <a:rPr lang="en-US" sz="1600" dirty="0" err="1" smtClean="0">
                <a:solidFill>
                  <a:schemeClr val="bg1"/>
                </a:solidFill>
                <a:latin typeface="+mn-lt"/>
              </a:rPr>
              <a:t>ProjMgr</a:t>
            </a:r>
            <a:r>
              <a:rPr lang="en-US" sz="1600" dirty="0" smtClean="0">
                <a:solidFill>
                  <a:schemeClr val="bg1"/>
                </a:solidFill>
                <a:latin typeface="+mn-lt"/>
              </a:rPr>
              <a:t>, </a:t>
            </a:r>
            <a:r>
              <a:rPr lang="en-US" sz="1600" b="1" dirty="0" err="1" smtClean="0">
                <a:solidFill>
                  <a:srgbClr val="FFFF00"/>
                </a:solidFill>
                <a:latin typeface="+mn-lt"/>
              </a:rPr>
              <a:t>SiteNo</a:t>
            </a:r>
            <a:r>
              <a:rPr lang="en-US" sz="1600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+mn-lt"/>
              </a:rPr>
              <a:t>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3738" y="1945813"/>
            <a:ext cx="410937" cy="318924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dirty="0">
                <a:solidFill>
                  <a:srgbClr val="FFFF00"/>
                </a:solidFill>
                <a:latin typeface="+mn-lt"/>
              </a:rPr>
              <a:t>(PK)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9492" y="3535362"/>
            <a:ext cx="1819275" cy="350838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Relation Schemas: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752339"/>
              </p:ext>
            </p:extLst>
          </p:nvPr>
        </p:nvGraphicFramePr>
        <p:xfrm>
          <a:off x="1101725" y="1947655"/>
          <a:ext cx="7108824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24270">
                  <a:extLst>
                    <a:ext uri="{9D8B030D-6E8A-4147-A177-3AD203B41FA5}">
                      <a16:colId xmlns:a16="http://schemas.microsoft.com/office/drawing/2014/main" val="1460484219"/>
                    </a:ext>
                  </a:extLst>
                </a:gridCol>
                <a:gridCol w="1519121">
                  <a:extLst>
                    <a:ext uri="{9D8B030D-6E8A-4147-A177-3AD203B41FA5}">
                      <a16:colId xmlns:a16="http://schemas.microsoft.com/office/drawing/2014/main" val="3523235525"/>
                    </a:ext>
                  </a:extLst>
                </a:gridCol>
                <a:gridCol w="1374444">
                  <a:extLst>
                    <a:ext uri="{9D8B030D-6E8A-4147-A177-3AD203B41FA5}">
                      <a16:colId xmlns:a16="http://schemas.microsoft.com/office/drawing/2014/main" val="1676647505"/>
                    </a:ext>
                  </a:extLst>
                </a:gridCol>
                <a:gridCol w="1374444">
                  <a:extLst>
                    <a:ext uri="{9D8B030D-6E8A-4147-A177-3AD203B41FA5}">
                      <a16:colId xmlns:a16="http://schemas.microsoft.com/office/drawing/2014/main" val="1136613543"/>
                    </a:ext>
                  </a:extLst>
                </a:gridCol>
                <a:gridCol w="1716545">
                  <a:extLst>
                    <a:ext uri="{9D8B030D-6E8A-4147-A177-3AD203B41FA5}">
                      <a16:colId xmlns:a16="http://schemas.microsoft.com/office/drawing/2014/main" val="27266239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 smtClean="0">
                          <a:solidFill>
                            <a:schemeClr val="tx1"/>
                          </a:solidFill>
                        </a:rPr>
                        <a:t>ProjCode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 smtClean="0">
                          <a:solidFill>
                            <a:schemeClr val="tx1"/>
                          </a:solidFill>
                        </a:rPr>
                        <a:t>ProjTitle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 smtClean="0">
                          <a:solidFill>
                            <a:schemeClr val="tx1"/>
                          </a:solidFill>
                        </a:rPr>
                        <a:t>ProjCost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 smtClean="0">
                          <a:solidFill>
                            <a:schemeClr val="tx1"/>
                          </a:solidFill>
                        </a:rPr>
                        <a:t>ProjMgr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 smtClean="0">
                          <a:solidFill>
                            <a:srgbClr val="002060"/>
                          </a:solidFill>
                        </a:rPr>
                        <a:t>SiteNo</a:t>
                      </a:r>
                      <a:endParaRPr lang="en-US" sz="16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846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PJ-111A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AA</a:t>
                      </a:r>
                      <a:r>
                        <a:rPr lang="en-SG" sz="1600" baseline="0" dirty="0" smtClean="0"/>
                        <a:t> Mall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$2,012,000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Robinson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>
                          <a:solidFill>
                            <a:srgbClr val="C00000"/>
                          </a:solidFill>
                        </a:rPr>
                        <a:t>ST-02</a:t>
                      </a:r>
                      <a:endParaRPr 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144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PJ-222B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BB</a:t>
                      </a:r>
                      <a:r>
                        <a:rPr lang="en-SG" sz="1600" baseline="0" dirty="0" smtClean="0"/>
                        <a:t> Mansion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$3,013,000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John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>
                          <a:solidFill>
                            <a:srgbClr val="C00000"/>
                          </a:solidFill>
                        </a:rPr>
                        <a:t>ST-03</a:t>
                      </a:r>
                      <a:endParaRPr 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20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PJ-333C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CC-IT Centre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$3,015,000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Mark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>
                          <a:solidFill>
                            <a:srgbClr val="C00000"/>
                          </a:solidFill>
                        </a:rPr>
                        <a:t>ST-04</a:t>
                      </a:r>
                      <a:endParaRPr 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776056"/>
                  </a:ext>
                </a:extLst>
              </a:tr>
            </a:tbl>
          </a:graphicData>
        </a:graphic>
      </p:graphicFrame>
      <p:grpSp>
        <p:nvGrpSpPr>
          <p:cNvPr id="37" name="Group 36"/>
          <p:cNvGrpSpPr/>
          <p:nvPr/>
        </p:nvGrpSpPr>
        <p:grpSpPr>
          <a:xfrm>
            <a:off x="7139495" y="1600200"/>
            <a:ext cx="1983867" cy="457200"/>
            <a:chOff x="7083933" y="1600200"/>
            <a:chExt cx="1983867" cy="457200"/>
          </a:xfrm>
        </p:grpSpPr>
        <p:sp>
          <p:nvSpPr>
            <p:cNvPr id="38" name="Rectangle 37"/>
            <p:cNvSpPr/>
            <p:nvPr/>
          </p:nvSpPr>
          <p:spPr>
            <a:xfrm>
              <a:off x="7083933" y="1600200"/>
              <a:ext cx="1983867" cy="288147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400" dirty="0" smtClean="0">
                  <a:solidFill>
                    <a:srgbClr val="FFFF00"/>
                  </a:solidFill>
                  <a:latin typeface="+mn-lt"/>
                </a:rPr>
                <a:t>(Inserted FK by modelling)</a:t>
              </a:r>
              <a:endParaRPr lang="en-US" sz="1400" dirty="0">
                <a:solidFill>
                  <a:srgbClr val="FFFF00"/>
                </a:solidFill>
                <a:latin typeface="+mn-lt"/>
              </a:endParaRPr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 flipH="1">
              <a:off x="7605713" y="1874520"/>
              <a:ext cx="568325" cy="18288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278226"/>
              </p:ext>
            </p:extLst>
          </p:nvPr>
        </p:nvGraphicFramePr>
        <p:xfrm>
          <a:off x="1295399" y="4439726"/>
          <a:ext cx="5029201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44825">
                  <a:extLst>
                    <a:ext uri="{9D8B030D-6E8A-4147-A177-3AD203B41FA5}">
                      <a16:colId xmlns:a16="http://schemas.microsoft.com/office/drawing/2014/main" val="1460484219"/>
                    </a:ext>
                  </a:extLst>
                </a:gridCol>
                <a:gridCol w="1539551">
                  <a:extLst>
                    <a:ext uri="{9D8B030D-6E8A-4147-A177-3AD203B41FA5}">
                      <a16:colId xmlns:a16="http://schemas.microsoft.com/office/drawing/2014/main" val="3523235525"/>
                    </a:ext>
                  </a:extLst>
                </a:gridCol>
                <a:gridCol w="1744825">
                  <a:extLst>
                    <a:ext uri="{9D8B030D-6E8A-4147-A177-3AD203B41FA5}">
                      <a16:colId xmlns:a16="http://schemas.microsoft.com/office/drawing/2014/main" val="19946826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 smtClean="0">
                          <a:solidFill>
                            <a:srgbClr val="C00000"/>
                          </a:solidFill>
                        </a:rPr>
                        <a:t>SitNo</a:t>
                      </a:r>
                      <a:endParaRPr 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>
                          <a:solidFill>
                            <a:schemeClr val="tx1"/>
                          </a:solidFill>
                        </a:rPr>
                        <a:t>Location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>
                          <a:solidFill>
                            <a:schemeClr val="tx1"/>
                          </a:solidFill>
                        </a:rPr>
                        <a:t>Area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846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600" b="1" dirty="0" smtClean="0">
                          <a:solidFill>
                            <a:srgbClr val="C00000"/>
                          </a:solidFill>
                        </a:rPr>
                        <a:t>ST-01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 smtClean="0"/>
                        <a:t>Simei</a:t>
                      </a:r>
                      <a:r>
                        <a:rPr lang="en-SG" sz="1600" dirty="0" smtClean="0"/>
                        <a:t> Ave 1</a:t>
                      </a:r>
                      <a:r>
                        <a:rPr lang="en-SG" sz="1600" baseline="0" dirty="0" smtClean="0"/>
                        <a:t>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60,000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144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600" b="1" dirty="0" smtClean="0">
                          <a:solidFill>
                            <a:srgbClr val="C00000"/>
                          </a:solidFill>
                        </a:rPr>
                        <a:t>ST-02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 smtClean="0"/>
                        <a:t>Bugis</a:t>
                      </a:r>
                      <a:r>
                        <a:rPr lang="en-SG" sz="1600" baseline="0" dirty="0" smtClean="0"/>
                        <a:t> Junction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25,000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20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600" b="1" dirty="0" smtClean="0">
                          <a:solidFill>
                            <a:srgbClr val="C00000"/>
                          </a:solidFill>
                        </a:rPr>
                        <a:t>ST-03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Clementi</a:t>
                      </a:r>
                      <a:r>
                        <a:rPr lang="en-SG" sz="1600" baseline="0" dirty="0" smtClean="0"/>
                        <a:t> Mall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40,000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776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600" b="1" dirty="0" smtClean="0">
                          <a:solidFill>
                            <a:srgbClr val="C00000"/>
                          </a:solidFill>
                        </a:rPr>
                        <a:t>ST-04</a:t>
                      </a:r>
                      <a:endParaRPr 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 smtClean="0"/>
                        <a:t>Jurong</a:t>
                      </a:r>
                      <a:r>
                        <a:rPr lang="en-SG" sz="1600" baseline="0" dirty="0" smtClean="0"/>
                        <a:t> Point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50,000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471089"/>
                  </a:ext>
                </a:extLst>
              </a:tr>
            </a:tbl>
          </a:graphicData>
        </a:graphic>
      </p:graphicFrame>
      <p:sp>
        <p:nvSpPr>
          <p:cNvPr id="41" name="Freeform 40"/>
          <p:cNvSpPr/>
          <p:nvPr/>
        </p:nvSpPr>
        <p:spPr>
          <a:xfrm>
            <a:off x="2030105" y="3429000"/>
            <a:ext cx="5285095" cy="982639"/>
          </a:xfrm>
          <a:custGeom>
            <a:avLst/>
            <a:gdLst>
              <a:gd name="connsiteX0" fmla="*/ 4599295 w 4599295"/>
              <a:gd name="connsiteY0" fmla="*/ 0 h 982639"/>
              <a:gd name="connsiteX1" fmla="*/ 4299044 w 4599295"/>
              <a:gd name="connsiteY1" fmla="*/ 423081 h 982639"/>
              <a:gd name="connsiteX2" fmla="*/ 3220871 w 4599295"/>
              <a:gd name="connsiteY2" fmla="*/ 586854 h 982639"/>
              <a:gd name="connsiteX3" fmla="*/ 1856095 w 4599295"/>
              <a:gd name="connsiteY3" fmla="*/ 723332 h 982639"/>
              <a:gd name="connsiteX4" fmla="*/ 1064525 w 4599295"/>
              <a:gd name="connsiteY4" fmla="*/ 777923 h 982639"/>
              <a:gd name="connsiteX5" fmla="*/ 1037230 w 4599295"/>
              <a:gd name="connsiteY5" fmla="*/ 777923 h 982639"/>
              <a:gd name="connsiteX6" fmla="*/ 409433 w 4599295"/>
              <a:gd name="connsiteY6" fmla="*/ 859809 h 982639"/>
              <a:gd name="connsiteX7" fmla="*/ 0 w 4599295"/>
              <a:gd name="connsiteY7" fmla="*/ 982639 h 982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99295" h="982639">
                <a:moveTo>
                  <a:pt x="4599295" y="0"/>
                </a:moveTo>
                <a:cubicBezTo>
                  <a:pt x="4564038" y="162636"/>
                  <a:pt x="4528781" y="325272"/>
                  <a:pt x="4299044" y="423081"/>
                </a:cubicBezTo>
                <a:cubicBezTo>
                  <a:pt x="4069307" y="520890"/>
                  <a:pt x="3628029" y="536812"/>
                  <a:pt x="3220871" y="586854"/>
                </a:cubicBezTo>
                <a:cubicBezTo>
                  <a:pt x="2813713" y="636896"/>
                  <a:pt x="2215486" y="691487"/>
                  <a:pt x="1856095" y="723332"/>
                </a:cubicBezTo>
                <a:cubicBezTo>
                  <a:pt x="1496704" y="755177"/>
                  <a:pt x="1201002" y="768825"/>
                  <a:pt x="1064525" y="777923"/>
                </a:cubicBezTo>
                <a:cubicBezTo>
                  <a:pt x="928048" y="787021"/>
                  <a:pt x="1037230" y="777923"/>
                  <a:pt x="1037230" y="777923"/>
                </a:cubicBezTo>
                <a:cubicBezTo>
                  <a:pt x="928048" y="791571"/>
                  <a:pt x="582305" y="825690"/>
                  <a:pt x="409433" y="859809"/>
                </a:cubicBezTo>
                <a:cubicBezTo>
                  <a:pt x="236561" y="893928"/>
                  <a:pt x="118280" y="938283"/>
                  <a:pt x="0" y="982639"/>
                </a:cubicBezTo>
              </a:path>
            </a:pathLst>
          </a:custGeom>
          <a:noFill/>
          <a:ln w="12700">
            <a:solidFill>
              <a:srgbClr val="FFC000"/>
            </a:solidFill>
            <a:prstDash val="lg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629400" y="1904836"/>
            <a:ext cx="1447800" cy="16305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13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 txBox="1">
            <a:spLocks/>
          </p:cNvSpPr>
          <p:nvPr/>
        </p:nvSpPr>
        <p:spPr bwMode="auto">
          <a:xfrm>
            <a:off x="685800" y="431800"/>
            <a:ext cx="65754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Entity-Relationship Modelling (ERM)</a:t>
            </a:r>
            <a:endParaRPr lang="en-US" altLang="en-US" b="1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742950" y="1219200"/>
            <a:ext cx="7791450" cy="125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indent="0">
              <a:buFont typeface="Arial" charset="0"/>
              <a:buNone/>
              <a:defRPr/>
            </a:pPr>
            <a:r>
              <a:rPr lang="en-US" altLang="en-US" sz="2400" dirty="0" smtClean="0">
                <a:solidFill>
                  <a:schemeClr val="bg1"/>
                </a:solidFill>
                <a:cs typeface="Times New Roman" pitchFamily="18" charset="0"/>
              </a:rPr>
              <a:t>Additional Example : “EMPLOYEE” and “DEPARTMENT”,</a:t>
            </a:r>
          </a:p>
          <a:p>
            <a:pPr marL="0" indent="0">
              <a:buFont typeface="Arial" charset="0"/>
              <a:buNone/>
              <a:defRPr/>
            </a:pPr>
            <a:r>
              <a:rPr lang="en-US" altLang="en-US" sz="2400" dirty="0" smtClean="0">
                <a:solidFill>
                  <a:schemeClr val="bg1"/>
                </a:solidFill>
                <a:cs typeface="Times New Roman" pitchFamily="18" charset="0"/>
              </a:rPr>
              <a:t>Key attributes :</a:t>
            </a:r>
          </a:p>
          <a:p>
            <a:pPr marL="273050" indent="-273050">
              <a:buFont typeface="Courier New" panose="02070309020205020404" pitchFamily="49" charset="0"/>
              <a:buChar char="o"/>
              <a:defRPr/>
            </a:pPr>
            <a:r>
              <a:rPr lang="en-US" altLang="en-US" sz="2000" b="1" dirty="0" smtClean="0">
                <a:solidFill>
                  <a:schemeClr val="bg1"/>
                </a:solidFill>
                <a:cs typeface="Times New Roman" pitchFamily="18" charset="0"/>
              </a:rPr>
              <a:t>EMPLOYEE</a:t>
            </a:r>
            <a:r>
              <a:rPr lang="en-US" altLang="en-US" sz="2000" dirty="0" smtClean="0">
                <a:solidFill>
                  <a:schemeClr val="bg1"/>
                </a:solidFill>
                <a:cs typeface="Times New Roman" pitchFamily="18" charset="0"/>
              </a:rPr>
              <a:t> entity – ‘</a:t>
            </a:r>
            <a:r>
              <a:rPr lang="en-US" altLang="en-US" sz="2000" b="1" dirty="0" err="1" smtClean="0">
                <a:solidFill>
                  <a:srgbClr val="FFFF00"/>
                </a:solidFill>
                <a:cs typeface="Times New Roman" pitchFamily="18" charset="0"/>
              </a:rPr>
              <a:t>EmpID</a:t>
            </a:r>
            <a:r>
              <a:rPr lang="en-US" altLang="en-US" sz="2000" dirty="0" smtClean="0">
                <a:solidFill>
                  <a:schemeClr val="bg1"/>
                </a:solidFill>
                <a:cs typeface="Times New Roman" pitchFamily="18" charset="0"/>
              </a:rPr>
              <a:t>’,        </a:t>
            </a:r>
            <a:r>
              <a:rPr lang="en-US" altLang="en-US" sz="2000" b="1" dirty="0" smtClean="0">
                <a:solidFill>
                  <a:schemeClr val="bg1"/>
                </a:solidFill>
                <a:cs typeface="Times New Roman" pitchFamily="18" charset="0"/>
              </a:rPr>
              <a:t>DEPARTMENT</a:t>
            </a:r>
            <a:r>
              <a:rPr lang="en-US" altLang="en-US" sz="2000" dirty="0" smtClean="0">
                <a:solidFill>
                  <a:schemeClr val="bg1"/>
                </a:solidFill>
                <a:cs typeface="Times New Roman" pitchFamily="18" charset="0"/>
              </a:rPr>
              <a:t> entity – ‘</a:t>
            </a:r>
            <a:r>
              <a:rPr lang="en-US" altLang="en-US" sz="2000" b="1" dirty="0" err="1" smtClean="0">
                <a:solidFill>
                  <a:srgbClr val="FFFF00"/>
                </a:solidFill>
                <a:cs typeface="Times New Roman" pitchFamily="18" charset="0"/>
              </a:rPr>
              <a:t>DepNo</a:t>
            </a:r>
            <a:r>
              <a:rPr lang="en-US" altLang="en-US" sz="2000" dirty="0" smtClean="0">
                <a:solidFill>
                  <a:schemeClr val="bg1"/>
                </a:solidFill>
                <a:cs typeface="Times New Roman" pitchFamily="18" charset="0"/>
              </a:rPr>
              <a:t>’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 bwMode="auto">
          <a:xfrm>
            <a:off x="1066800" y="5695950"/>
            <a:ext cx="7115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altLang="en-US" sz="20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By the rule, it should insert </a:t>
            </a:r>
            <a:r>
              <a:rPr lang="en-GB" altLang="en-US" sz="20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‘</a:t>
            </a:r>
            <a:r>
              <a:rPr lang="en-GB" altLang="en-US" sz="2000" dirty="0" err="1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DepNo</a:t>
            </a:r>
            <a:r>
              <a:rPr lang="en-GB" altLang="en-US" sz="20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’ into </a:t>
            </a:r>
            <a:r>
              <a:rPr lang="en-GB" altLang="en-US" sz="20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EMPLOYEE </a:t>
            </a:r>
            <a:r>
              <a:rPr lang="en-GB" altLang="en-US" sz="20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entity (N-side).</a:t>
            </a:r>
            <a:endParaRPr lang="en-US" altLang="en-US" sz="2000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Straight Connector 11"/>
          <p:cNvCxnSpPr/>
          <p:nvPr/>
        </p:nvCxnSpPr>
        <p:spPr bwMode="auto">
          <a:xfrm>
            <a:off x="3163996" y="3944938"/>
            <a:ext cx="192024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635868"/>
              </p:ext>
            </p:extLst>
          </p:nvPr>
        </p:nvGraphicFramePr>
        <p:xfrm>
          <a:off x="5096101" y="3316288"/>
          <a:ext cx="1590506" cy="126365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90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DEPARTMENT</a:t>
                      </a:r>
                      <a:endParaRPr lang="en-SG" sz="18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18288" marR="18288" marT="18288" marB="1828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800" b="1" u="sng" dirty="0" err="1" smtClean="0">
                          <a:solidFill>
                            <a:schemeClr val="tx1"/>
                          </a:solidFill>
                        </a:rPr>
                        <a:t>DepNo</a:t>
                      </a:r>
                      <a:r>
                        <a:rPr lang="en-GB" sz="1800" b="0" u="none" dirty="0" smtClean="0">
                          <a:solidFill>
                            <a:schemeClr val="tx1"/>
                          </a:solidFill>
                        </a:rPr>
                        <a:t>(PK)</a:t>
                      </a:r>
                      <a:endParaRPr lang="en-SG" sz="18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DepName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DepMgr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 bwMode="auto">
          <a:xfrm>
            <a:off x="3886200" y="3429000"/>
            <a:ext cx="647797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b="1" dirty="0" smtClean="0">
                <a:solidFill>
                  <a:srgbClr val="FFFF00"/>
                </a:solidFill>
                <a:latin typeface="+mn-lt"/>
              </a:rPr>
              <a:t>Work</a:t>
            </a:r>
            <a:endParaRPr lang="en-US" sz="2000" b="1" dirty="0">
              <a:solidFill>
                <a:srgbClr val="FFFF00"/>
              </a:solidFill>
              <a:latin typeface="+mn-lt"/>
            </a:endParaRPr>
          </a:p>
        </p:txBody>
      </p:sp>
      <p:grpSp>
        <p:nvGrpSpPr>
          <p:cNvPr id="21523" name="Group 19"/>
          <p:cNvGrpSpPr>
            <a:grpSpLocks/>
          </p:cNvGrpSpPr>
          <p:nvPr/>
        </p:nvGrpSpPr>
        <p:grpSpPr bwMode="auto">
          <a:xfrm>
            <a:off x="4800600" y="3836988"/>
            <a:ext cx="130792" cy="227012"/>
            <a:chOff x="2895600" y="3948112"/>
            <a:chExt cx="130792" cy="227013"/>
          </a:xfrm>
        </p:grpSpPr>
        <p:cxnSp>
          <p:nvCxnSpPr>
            <p:cNvPr id="21" name="Straight Connector 20"/>
            <p:cNvCxnSpPr/>
            <p:nvPr/>
          </p:nvCxnSpPr>
          <p:spPr bwMode="auto">
            <a:xfrm>
              <a:off x="2895600" y="3948112"/>
              <a:ext cx="0" cy="227013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auto">
            <a:xfrm>
              <a:off x="3026392" y="3948112"/>
              <a:ext cx="0" cy="22701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/>
          <p:cNvSpPr/>
          <p:nvPr/>
        </p:nvSpPr>
        <p:spPr>
          <a:xfrm>
            <a:off x="4953000" y="4757738"/>
            <a:ext cx="2075687" cy="349702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Entity: </a:t>
            </a:r>
            <a:r>
              <a:rPr lang="en-US" b="1" dirty="0" smtClean="0">
                <a:solidFill>
                  <a:srgbClr val="FFFF00"/>
                </a:solidFill>
                <a:latin typeface="+mn-lt"/>
              </a:rPr>
              <a:t>DEPARTMENT</a:t>
            </a:r>
            <a:endParaRPr lang="en-US" b="1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1600200" y="4800600"/>
            <a:ext cx="1772849" cy="349702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Entity: </a:t>
            </a:r>
            <a:r>
              <a:rPr lang="en-US" b="1" dirty="0" smtClean="0">
                <a:solidFill>
                  <a:srgbClr val="FFFF00"/>
                </a:solidFill>
                <a:latin typeface="+mn-lt"/>
              </a:rPr>
              <a:t>EMPLOYEE</a:t>
            </a:r>
            <a:endParaRPr lang="en-US" b="1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751863" y="3647748"/>
            <a:ext cx="410937" cy="318924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dirty="0">
                <a:solidFill>
                  <a:srgbClr val="FFFF00"/>
                </a:solidFill>
                <a:latin typeface="+mn-lt"/>
              </a:rPr>
              <a:t>(PK)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9200" y="3323898"/>
            <a:ext cx="410937" cy="318924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dirty="0">
                <a:solidFill>
                  <a:srgbClr val="FFFF00"/>
                </a:solidFill>
                <a:latin typeface="+mn-lt"/>
              </a:rPr>
              <a:t>(PK)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726176"/>
              </p:ext>
            </p:extLst>
          </p:nvPr>
        </p:nvGraphicFramePr>
        <p:xfrm>
          <a:off x="1676400" y="2984500"/>
          <a:ext cx="1496174" cy="1564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6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861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</a:t>
                      </a:r>
                      <a:endParaRPr lang="en-SG" sz="18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861">
                <a:tc>
                  <a:txBody>
                    <a:bodyPr/>
                    <a:lstStyle/>
                    <a:p>
                      <a:pPr algn="ctr"/>
                      <a:r>
                        <a:rPr lang="en-GB" sz="1800" b="1" u="sng" dirty="0" err="1" smtClean="0">
                          <a:solidFill>
                            <a:schemeClr val="tx1"/>
                          </a:solidFill>
                        </a:rPr>
                        <a:t>EmpID</a:t>
                      </a:r>
                      <a:r>
                        <a:rPr lang="en-GB" sz="1800" b="0" u="none" dirty="0" smtClean="0">
                          <a:solidFill>
                            <a:schemeClr val="tx1"/>
                          </a:solidFill>
                        </a:rPr>
                        <a:t>(PK)</a:t>
                      </a:r>
                      <a:endParaRPr lang="en-SG" sz="18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EmpName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C00000"/>
                          </a:solidFill>
                        </a:rPr>
                        <a:t>Professions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ChargeRate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1544" name="Group 2"/>
          <p:cNvGrpSpPr>
            <a:grpSpLocks/>
          </p:cNvGrpSpPr>
          <p:nvPr/>
        </p:nvGrpSpPr>
        <p:grpSpPr bwMode="auto">
          <a:xfrm>
            <a:off x="3168872" y="3840163"/>
            <a:ext cx="412529" cy="228600"/>
            <a:chOff x="3535515" y="4660075"/>
            <a:chExt cx="412302" cy="228600"/>
          </a:xfrm>
        </p:grpSpPr>
        <p:grpSp>
          <p:nvGrpSpPr>
            <p:cNvPr id="21545" name="Group 31"/>
            <p:cNvGrpSpPr>
              <a:grpSpLocks/>
            </p:cNvGrpSpPr>
            <p:nvPr/>
          </p:nvGrpSpPr>
          <p:grpSpPr bwMode="auto">
            <a:xfrm flipH="1">
              <a:off x="3535515" y="4662925"/>
              <a:ext cx="274169" cy="207636"/>
              <a:chOff x="2697734" y="4075092"/>
              <a:chExt cx="274067" cy="207691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 flipV="1">
                <a:off x="2697734" y="4075092"/>
                <a:ext cx="274067" cy="91464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2697735" y="4191319"/>
                <a:ext cx="274066" cy="91464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Straight Connector 27"/>
            <p:cNvCxnSpPr/>
            <p:nvPr/>
          </p:nvCxnSpPr>
          <p:spPr bwMode="auto">
            <a:xfrm>
              <a:off x="3947817" y="4660075"/>
              <a:ext cx="0" cy="22860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ctrTitle" idx="4294967295"/>
          </p:nvPr>
        </p:nvSpPr>
        <p:spPr>
          <a:xfrm>
            <a:off x="661770" y="352098"/>
            <a:ext cx="5797412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 : Many Relationship Modelling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531" name="Rectangle 3"/>
          <p:cNvSpPr txBox="1">
            <a:spLocks noChangeArrowheads="1"/>
          </p:cNvSpPr>
          <p:nvPr/>
        </p:nvSpPr>
        <p:spPr bwMode="auto">
          <a:xfrm>
            <a:off x="685800" y="1143000"/>
            <a:ext cx="7791450" cy="503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chemeClr val="bg1"/>
                </a:solidFill>
                <a:cs typeface="Times New Roman" panose="02020603050405020304" pitchFamily="18" charset="0"/>
              </a:rPr>
              <a:t>Hence, the modelled relationship should be: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001444"/>
              </p:ext>
            </p:extLst>
          </p:nvPr>
        </p:nvGraphicFramePr>
        <p:xfrm>
          <a:off x="5343810" y="2362200"/>
          <a:ext cx="1625432" cy="1385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DEPARTMENT</a:t>
                      </a:r>
                      <a:endParaRPr lang="en-SG" sz="18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18" marR="36018" marT="36010" marB="3601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800" b="1" u="sng" dirty="0" err="1" smtClean="0">
                          <a:solidFill>
                            <a:schemeClr val="tx1"/>
                          </a:solidFill>
                        </a:rPr>
                        <a:t>DepNo</a:t>
                      </a:r>
                      <a:r>
                        <a:rPr lang="en-GB" sz="1800" b="0" u="none" dirty="0" smtClean="0">
                          <a:solidFill>
                            <a:schemeClr val="tx1"/>
                          </a:solidFill>
                        </a:rPr>
                        <a:t>(PK)</a:t>
                      </a:r>
                      <a:endParaRPr lang="en-SG" sz="18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36018" marR="36018" marT="36010" marB="3601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DepName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36010" marB="3601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DepMgr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36010" marB="3601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5292842" y="3815254"/>
            <a:ext cx="1850241" cy="318924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Entity: </a:t>
            </a:r>
            <a:r>
              <a:rPr lang="en-US" sz="1600" b="1" dirty="0" smtClean="0">
                <a:solidFill>
                  <a:srgbClr val="FFFF00"/>
                </a:solidFill>
                <a:latin typeface="+mn-lt"/>
              </a:rPr>
              <a:t>DEPARTMENT</a:t>
            </a:r>
            <a:endParaRPr lang="en-US" sz="1600" b="1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045442" y="2688298"/>
            <a:ext cx="422158" cy="318924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(PK)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25592" y="4617585"/>
            <a:ext cx="1879608" cy="349702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Entity: EMPLOYEES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685800" y="5746298"/>
            <a:ext cx="8300725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b="1" dirty="0" smtClean="0">
                <a:solidFill>
                  <a:schemeClr val="bg1"/>
                </a:solidFill>
                <a:latin typeface="+mn-lt"/>
              </a:rPr>
              <a:t>EMPLOYEE </a:t>
            </a:r>
            <a:r>
              <a:rPr lang="en-US" sz="2000" b="1" dirty="0">
                <a:solidFill>
                  <a:schemeClr val="bg1"/>
                </a:solidFill>
                <a:latin typeface="+mn-lt"/>
              </a:rPr>
              <a:t>( </a:t>
            </a:r>
            <a:r>
              <a:rPr lang="en-US" sz="2000" b="1" u="sng" dirty="0" err="1">
                <a:solidFill>
                  <a:schemeClr val="bg1"/>
                </a:solidFill>
                <a:latin typeface="+mn-lt"/>
              </a:rPr>
              <a:t>EmpID</a:t>
            </a:r>
            <a:r>
              <a:rPr lang="en-US" sz="2000" b="1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sz="2000" dirty="0" err="1">
                <a:solidFill>
                  <a:srgbClr val="FFC000"/>
                </a:solidFill>
                <a:latin typeface="+mn-lt"/>
              </a:rPr>
              <a:t>EmpName</a:t>
            </a:r>
            <a:r>
              <a:rPr lang="en-US" sz="2000" dirty="0">
                <a:solidFill>
                  <a:srgbClr val="FFC000"/>
                </a:solidFill>
                <a:latin typeface="+mn-lt"/>
              </a:rPr>
              <a:t>, Professions, </a:t>
            </a:r>
            <a:r>
              <a:rPr lang="en-US" sz="2000" dirty="0" err="1">
                <a:solidFill>
                  <a:srgbClr val="FFC000"/>
                </a:solidFill>
                <a:latin typeface="+mn-lt"/>
              </a:rPr>
              <a:t>ChargeRate</a:t>
            </a:r>
            <a:r>
              <a:rPr lang="en-US" sz="2000" dirty="0">
                <a:solidFill>
                  <a:srgbClr val="FFC000"/>
                </a:solidFill>
                <a:latin typeface="+mn-lt"/>
              </a:rPr>
              <a:t>, Department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sz="2000" b="1" dirty="0" err="1">
                <a:solidFill>
                  <a:srgbClr val="FFFF00"/>
                </a:solidFill>
                <a:latin typeface="+mn-lt"/>
              </a:rPr>
              <a:t>SiteNo</a:t>
            </a:r>
            <a:r>
              <a:rPr lang="en-US" sz="2000" b="1" dirty="0">
                <a:solidFill>
                  <a:schemeClr val="bg1"/>
                </a:solidFill>
                <a:latin typeface="+mn-lt"/>
              </a:rPr>
              <a:t> )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2243138" y="6203498"/>
            <a:ext cx="4749048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b="1" dirty="0" smtClean="0">
                <a:solidFill>
                  <a:schemeClr val="bg1"/>
                </a:solidFill>
                <a:latin typeface="+mn-lt"/>
              </a:rPr>
              <a:t>DEPARTMENT </a:t>
            </a:r>
            <a:r>
              <a:rPr lang="en-US" sz="2000" b="1" dirty="0">
                <a:solidFill>
                  <a:schemeClr val="bg1"/>
                </a:solidFill>
                <a:latin typeface="+mn-lt"/>
              </a:rPr>
              <a:t>( </a:t>
            </a:r>
            <a:r>
              <a:rPr lang="en-US" sz="2000" b="1" u="sng" dirty="0" err="1" smtClean="0">
                <a:solidFill>
                  <a:schemeClr val="bg1"/>
                </a:solidFill>
                <a:latin typeface="+mn-lt"/>
              </a:rPr>
              <a:t>DepNo</a:t>
            </a:r>
            <a:r>
              <a:rPr lang="en-US" sz="2000" b="1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sz="2000" dirty="0" err="1" smtClean="0">
                <a:solidFill>
                  <a:srgbClr val="FFC000"/>
                </a:solidFill>
                <a:latin typeface="+mn-lt"/>
              </a:rPr>
              <a:t>DepName</a:t>
            </a:r>
            <a:r>
              <a:rPr lang="en-US" sz="2000" dirty="0" smtClean="0">
                <a:solidFill>
                  <a:srgbClr val="FFC000"/>
                </a:solidFill>
                <a:latin typeface="+mn-lt"/>
              </a:rPr>
              <a:t>, </a:t>
            </a:r>
            <a:r>
              <a:rPr lang="en-US" sz="2000" dirty="0" err="1" smtClean="0">
                <a:solidFill>
                  <a:srgbClr val="FFC000"/>
                </a:solidFill>
                <a:latin typeface="+mn-lt"/>
              </a:rPr>
              <a:t>DepMgr</a:t>
            </a:r>
            <a:r>
              <a:rPr lang="en-US" sz="2000" b="1" dirty="0" smtClean="0">
                <a:solidFill>
                  <a:srgbClr val="FFC000"/>
                </a:solidFill>
                <a:latin typeface="+mn-lt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+mn-lt"/>
              </a:rPr>
              <a:t>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10204" y="4155610"/>
            <a:ext cx="407731" cy="318924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(FK)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111965"/>
              </p:ext>
            </p:extLst>
          </p:nvPr>
        </p:nvGraphicFramePr>
        <p:xfrm>
          <a:off x="2066925" y="2295197"/>
          <a:ext cx="1209675" cy="2186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8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</a:t>
                      </a:r>
                      <a:endParaRPr lang="en-SG" sz="18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8">
                <a:tc>
                  <a:txBody>
                    <a:bodyPr/>
                    <a:lstStyle/>
                    <a:p>
                      <a:pPr algn="ctr"/>
                      <a:r>
                        <a:rPr lang="en-GB" sz="1800" b="1" u="sng" dirty="0" err="1" smtClean="0">
                          <a:solidFill>
                            <a:schemeClr val="tx1"/>
                          </a:solidFill>
                        </a:rPr>
                        <a:t>EmpID</a:t>
                      </a:r>
                      <a:r>
                        <a:rPr lang="en-GB" sz="1800" b="0" u="sng" dirty="0" smtClean="0">
                          <a:solidFill>
                            <a:schemeClr val="tx1"/>
                          </a:solidFill>
                        </a:rPr>
                        <a:t>(PK)</a:t>
                      </a:r>
                      <a:endParaRPr lang="en-SG" sz="18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43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EmpName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43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C00000"/>
                          </a:solidFill>
                        </a:rPr>
                        <a:t>Professions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43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ChargeRate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43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C00000"/>
                          </a:solidFill>
                        </a:rPr>
                        <a:t>Department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430">
                <a:tc>
                  <a:txBody>
                    <a:bodyPr/>
                    <a:lstStyle/>
                    <a:p>
                      <a:pPr algn="ctr"/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9" name="Straight Connector 8"/>
          <p:cNvCxnSpPr/>
          <p:nvPr/>
        </p:nvCxnSpPr>
        <p:spPr bwMode="auto">
          <a:xfrm flipV="1">
            <a:off x="3248333" y="4314824"/>
            <a:ext cx="109728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 bwMode="auto">
          <a:xfrm>
            <a:off x="3838884" y="2376486"/>
            <a:ext cx="647797" cy="380480"/>
          </a:xfrm>
          <a:prstGeom prst="rect">
            <a:avLst/>
          </a:prstGeom>
          <a:ln w="28575">
            <a:noFill/>
          </a:ln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b="1" dirty="0" smtClean="0">
                <a:solidFill>
                  <a:srgbClr val="FFFF00"/>
                </a:solidFill>
                <a:latin typeface="+mn-lt"/>
              </a:rPr>
              <a:t>Work</a:t>
            </a:r>
            <a:endParaRPr lang="en-US" sz="2000" b="1" dirty="0">
              <a:solidFill>
                <a:srgbClr val="FFFF00"/>
              </a:solidFill>
              <a:latin typeface="+mn-lt"/>
            </a:endParaRPr>
          </a:p>
        </p:txBody>
      </p:sp>
      <p:grpSp>
        <p:nvGrpSpPr>
          <p:cNvPr id="22574" name="Group 16"/>
          <p:cNvGrpSpPr>
            <a:grpSpLocks/>
          </p:cNvGrpSpPr>
          <p:nvPr/>
        </p:nvGrpSpPr>
        <p:grpSpPr bwMode="auto">
          <a:xfrm>
            <a:off x="4951771" y="2738289"/>
            <a:ext cx="185522" cy="274320"/>
            <a:chOff x="2895759" y="3948067"/>
            <a:chExt cx="77301" cy="274088"/>
          </a:xfrm>
        </p:grpSpPr>
        <p:cxnSp>
          <p:nvCxnSpPr>
            <p:cNvPr id="18" name="Straight Connector 17"/>
            <p:cNvCxnSpPr/>
            <p:nvPr/>
          </p:nvCxnSpPr>
          <p:spPr bwMode="auto">
            <a:xfrm>
              <a:off x="2895759" y="3948067"/>
              <a:ext cx="0" cy="274088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auto">
            <a:xfrm>
              <a:off x="2973060" y="3948067"/>
              <a:ext cx="0" cy="2740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/>
          <p:cNvCxnSpPr/>
          <p:nvPr/>
        </p:nvCxnSpPr>
        <p:spPr bwMode="auto">
          <a:xfrm flipV="1">
            <a:off x="4328160" y="2874960"/>
            <a:ext cx="10058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 bwMode="auto">
          <a:xfrm flipV="1">
            <a:off x="4340752" y="2878135"/>
            <a:ext cx="0" cy="146304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77" name="Group 28"/>
          <p:cNvGrpSpPr>
            <a:grpSpLocks/>
          </p:cNvGrpSpPr>
          <p:nvPr/>
        </p:nvGrpSpPr>
        <p:grpSpPr bwMode="auto">
          <a:xfrm>
            <a:off x="3265806" y="4205290"/>
            <a:ext cx="344484" cy="228600"/>
            <a:chOff x="3535018" y="4660268"/>
            <a:chExt cx="344712" cy="228407"/>
          </a:xfrm>
        </p:grpSpPr>
        <p:grpSp>
          <p:nvGrpSpPr>
            <p:cNvPr id="22578" name="Group 31"/>
            <p:cNvGrpSpPr>
              <a:grpSpLocks/>
            </p:cNvGrpSpPr>
            <p:nvPr/>
          </p:nvGrpSpPr>
          <p:grpSpPr bwMode="auto">
            <a:xfrm flipH="1">
              <a:off x="3535018" y="4690406"/>
              <a:ext cx="217631" cy="180188"/>
              <a:chOff x="2754748" y="4102564"/>
              <a:chExt cx="217550" cy="180235"/>
            </a:xfrm>
          </p:grpSpPr>
          <p:cxnSp>
            <p:nvCxnSpPr>
              <p:cNvPr id="33" name="Straight Connector 32"/>
              <p:cNvCxnSpPr/>
              <p:nvPr/>
            </p:nvCxnSpPr>
            <p:spPr>
              <a:xfrm flipV="1">
                <a:off x="2754748" y="4102564"/>
                <a:ext cx="217550" cy="71396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2754748" y="4191412"/>
                <a:ext cx="217550" cy="91387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Straight Connector 31"/>
            <p:cNvCxnSpPr/>
            <p:nvPr/>
          </p:nvCxnSpPr>
          <p:spPr bwMode="auto">
            <a:xfrm>
              <a:off x="3879730" y="4660268"/>
              <a:ext cx="0" cy="228407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2237167" y="4166529"/>
            <a:ext cx="872098" cy="313932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" tIns="18288" rIns="18288" bIns="1828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800" dirty="0" err="1" smtClean="0">
                <a:solidFill>
                  <a:srgbClr val="C00000"/>
                </a:solidFill>
              </a:rPr>
              <a:t>DepNum</a:t>
            </a:r>
            <a:endParaRPr lang="en-SG" altLang="en-US" sz="1800" dirty="0">
              <a:solidFill>
                <a:srgbClr val="C0000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143000" y="5333548"/>
            <a:ext cx="2019300" cy="38100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b="1" dirty="0">
                <a:solidFill>
                  <a:srgbClr val="FFFF00"/>
                </a:solidFill>
                <a:latin typeface="+mn-lt"/>
              </a:rPr>
              <a:t>Relation Schemas: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35" grpId="0" animBg="1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81000"/>
            <a:ext cx="6556209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Many : Many Relationship Modelling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580" name="Subtitle 2"/>
          <p:cNvSpPr txBox="1">
            <a:spLocks/>
          </p:cNvSpPr>
          <p:nvPr/>
        </p:nvSpPr>
        <p:spPr bwMode="auto">
          <a:xfrm>
            <a:off x="685800" y="1085850"/>
            <a:ext cx="77755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rgbClr val="FFFF00"/>
                </a:solidFill>
              </a:rPr>
              <a:t>In a many-to-many (M:N) relationship, </a:t>
            </a:r>
            <a:r>
              <a:rPr lang="en-SG" altLang="en-US" sz="2400" dirty="0">
                <a:solidFill>
                  <a:srgbClr val="FFFF00"/>
                </a:solidFill>
              </a:rPr>
              <a:t>one record in an entity can relate to multiple records in another entity and vice versus. </a:t>
            </a:r>
          </a:p>
        </p:txBody>
      </p:sp>
      <p:sp>
        <p:nvSpPr>
          <p:cNvPr id="24581" name="Rectangle 3"/>
          <p:cNvSpPr>
            <a:spLocks noChangeArrowheads="1"/>
          </p:cNvSpPr>
          <p:nvPr/>
        </p:nvSpPr>
        <p:spPr bwMode="auto">
          <a:xfrm>
            <a:off x="832644" y="2438400"/>
            <a:ext cx="787558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6800" rIns="46800">
            <a:spAutoFit/>
          </a:bodyPr>
          <a:lstStyle>
            <a:lvl1pPr marL="1258888" indent="-1258888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Example </a:t>
            </a:r>
            <a:r>
              <a:rPr lang="en-US" altLang="en-US" sz="2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: Modelling between the EMPLOYEES and PROJECTS entities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695365"/>
              </p:ext>
            </p:extLst>
          </p:nvPr>
        </p:nvGraphicFramePr>
        <p:xfrm>
          <a:off x="2062957" y="3772233"/>
          <a:ext cx="1371600" cy="1564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861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EMPLOYEES</a:t>
                      </a:r>
                      <a:endParaRPr lang="en-SG" sz="18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861">
                <a:tc>
                  <a:txBody>
                    <a:bodyPr/>
                    <a:lstStyle/>
                    <a:p>
                      <a:pPr algn="ctr"/>
                      <a:endParaRPr lang="en-SG" sz="18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970399"/>
              </p:ext>
            </p:extLst>
          </p:nvPr>
        </p:nvGraphicFramePr>
        <p:xfrm>
          <a:off x="5648325" y="3810000"/>
          <a:ext cx="1209675" cy="156492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119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PROJECTS</a:t>
                      </a:r>
                      <a:endParaRPr lang="en-SG" sz="18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18288" marR="18288" marT="18288" marB="1828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119">
                <a:tc>
                  <a:txBody>
                    <a:bodyPr/>
                    <a:lstStyle/>
                    <a:p>
                      <a:pPr algn="ctr"/>
                      <a:endParaRPr lang="en-SG" sz="18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43" name="Straight Connector 42"/>
          <p:cNvCxnSpPr/>
          <p:nvPr/>
        </p:nvCxnSpPr>
        <p:spPr bwMode="auto">
          <a:xfrm>
            <a:off x="3415352" y="4724400"/>
            <a:ext cx="219456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/>
          <p:cNvGrpSpPr>
            <a:grpSpLocks/>
          </p:cNvGrpSpPr>
          <p:nvPr/>
        </p:nvGrpSpPr>
        <p:grpSpPr bwMode="auto">
          <a:xfrm>
            <a:off x="3441220" y="4159468"/>
            <a:ext cx="2178196" cy="685800"/>
            <a:chOff x="4829928" y="2436813"/>
            <a:chExt cx="2179095" cy="685800"/>
          </a:xfrm>
        </p:grpSpPr>
        <p:grpSp>
          <p:nvGrpSpPr>
            <p:cNvPr id="24642" name="Group 53"/>
            <p:cNvGrpSpPr>
              <a:grpSpLocks/>
            </p:cNvGrpSpPr>
            <p:nvPr/>
          </p:nvGrpSpPr>
          <p:grpSpPr bwMode="auto">
            <a:xfrm>
              <a:off x="6539251" y="2895601"/>
              <a:ext cx="469772" cy="215900"/>
              <a:chOff x="6452911" y="2798907"/>
              <a:chExt cx="469596" cy="215957"/>
            </a:xfrm>
          </p:grpSpPr>
          <p:sp>
            <p:nvSpPr>
              <p:cNvPr id="54" name="Oval 53"/>
              <p:cNvSpPr/>
              <p:nvPr/>
            </p:nvSpPr>
            <p:spPr>
              <a:xfrm>
                <a:off x="6452911" y="2798907"/>
                <a:ext cx="107954" cy="215957"/>
              </a:xfrm>
              <a:prstGeom prst="ellipse">
                <a:avLst/>
              </a:prstGeom>
              <a:noFill/>
              <a:ln w="381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SG"/>
              </a:p>
            </p:txBody>
          </p:sp>
          <p:grpSp>
            <p:nvGrpSpPr>
              <p:cNvPr id="24650" name="Group 28"/>
              <p:cNvGrpSpPr>
                <a:grpSpLocks/>
              </p:cNvGrpSpPr>
              <p:nvPr/>
            </p:nvGrpSpPr>
            <p:grpSpPr bwMode="auto">
              <a:xfrm>
                <a:off x="6648176" y="2810690"/>
                <a:ext cx="274331" cy="203537"/>
                <a:chOff x="3154851" y="4090015"/>
                <a:chExt cx="274331" cy="203537"/>
              </a:xfrm>
            </p:grpSpPr>
            <p:cxnSp>
              <p:nvCxnSpPr>
                <p:cNvPr id="56" name="Straight Connector 55"/>
                <p:cNvCxnSpPr/>
                <p:nvPr/>
              </p:nvCxnSpPr>
              <p:spPr>
                <a:xfrm flipV="1">
                  <a:off x="3154851" y="4090015"/>
                  <a:ext cx="274331" cy="91464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>
                <a:xfrm>
                  <a:off x="3154852" y="4202088"/>
                  <a:ext cx="274330" cy="91464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4643" name="Group 52"/>
            <p:cNvGrpSpPr>
              <a:grpSpLocks/>
            </p:cNvGrpSpPr>
            <p:nvPr/>
          </p:nvGrpSpPr>
          <p:grpSpPr bwMode="auto">
            <a:xfrm>
              <a:off x="4829928" y="2894013"/>
              <a:ext cx="423539" cy="228600"/>
              <a:chOff x="4744230" y="2797319"/>
              <a:chExt cx="423381" cy="228660"/>
            </a:xfrm>
          </p:grpSpPr>
          <p:grpSp>
            <p:nvGrpSpPr>
              <p:cNvPr id="24645" name="Group 31"/>
              <p:cNvGrpSpPr>
                <a:grpSpLocks/>
              </p:cNvGrpSpPr>
              <p:nvPr/>
            </p:nvGrpSpPr>
            <p:grpSpPr bwMode="auto">
              <a:xfrm flipH="1">
                <a:off x="4744230" y="2803361"/>
                <a:ext cx="274333" cy="207691"/>
                <a:chOff x="2765712" y="4075259"/>
                <a:chExt cx="274333" cy="207691"/>
              </a:xfrm>
            </p:grpSpPr>
            <p:cxnSp>
              <p:nvCxnSpPr>
                <p:cNvPr id="52" name="Straight Connector 51"/>
                <p:cNvCxnSpPr/>
                <p:nvPr/>
              </p:nvCxnSpPr>
              <p:spPr>
                <a:xfrm flipV="1">
                  <a:off x="2765715" y="4075259"/>
                  <a:ext cx="274330" cy="91464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>
                <a:xfrm>
                  <a:off x="2765712" y="4191486"/>
                  <a:ext cx="274330" cy="91464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1" name="Straight Connector 50"/>
              <p:cNvCxnSpPr/>
              <p:nvPr/>
            </p:nvCxnSpPr>
            <p:spPr>
              <a:xfrm>
                <a:off x="5167611" y="2797319"/>
                <a:ext cx="0" cy="22866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Rectangle 48"/>
            <p:cNvSpPr/>
            <p:nvPr/>
          </p:nvSpPr>
          <p:spPr bwMode="auto">
            <a:xfrm>
              <a:off x="5510317" y="2436813"/>
              <a:ext cx="908243" cy="380480"/>
            </a:xfrm>
            <a:prstGeom prst="rect">
              <a:avLst/>
            </a:prstGeom>
            <a:ln w="38100">
              <a:noFill/>
            </a:ln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2000" b="1" dirty="0">
                  <a:solidFill>
                    <a:srgbClr val="FFFF00"/>
                  </a:solidFill>
                  <a:latin typeface="+mn-lt"/>
                </a:rPr>
                <a:t>handles</a:t>
              </a:r>
            </a:p>
          </p:txBody>
        </p:sp>
      </p:grpSp>
      <p:graphicFrame>
        <p:nvGraphicFramePr>
          <p:cNvPr id="58" name="Table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32508"/>
              </p:ext>
            </p:extLst>
          </p:nvPr>
        </p:nvGraphicFramePr>
        <p:xfrm>
          <a:off x="2057400" y="4098338"/>
          <a:ext cx="1371600" cy="1248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850">
                <a:tc>
                  <a:txBody>
                    <a:bodyPr/>
                    <a:lstStyle/>
                    <a:p>
                      <a:pPr algn="ctr"/>
                      <a:r>
                        <a:rPr lang="en-GB" sz="1800" b="1" u="sng" dirty="0" err="1" smtClean="0">
                          <a:solidFill>
                            <a:schemeClr val="tx1"/>
                          </a:solidFill>
                        </a:rPr>
                        <a:t>EmpID</a:t>
                      </a:r>
                      <a:r>
                        <a:rPr lang="en-GB" sz="1800" b="0" u="none" dirty="0" smtClean="0">
                          <a:solidFill>
                            <a:schemeClr val="tx1"/>
                          </a:solidFill>
                        </a:rPr>
                        <a:t>(PK)</a:t>
                      </a:r>
                      <a:endParaRPr lang="en-SG" sz="18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369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EmpName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69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C00000"/>
                          </a:solidFill>
                        </a:rPr>
                        <a:t>Professions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69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ChargeRate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9" name="Table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529808"/>
              </p:ext>
            </p:extLst>
          </p:nvPr>
        </p:nvGraphicFramePr>
        <p:xfrm>
          <a:off x="5638800" y="4150810"/>
          <a:ext cx="1209675" cy="124886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175">
                <a:tc>
                  <a:txBody>
                    <a:bodyPr/>
                    <a:lstStyle/>
                    <a:p>
                      <a:pPr algn="ctr"/>
                      <a:r>
                        <a:rPr lang="en-GB" sz="1600" b="1" u="sng" dirty="0" err="1" smtClean="0">
                          <a:solidFill>
                            <a:schemeClr val="tx1"/>
                          </a:solidFill>
                        </a:rPr>
                        <a:t>ProjCode</a:t>
                      </a:r>
                      <a:r>
                        <a:rPr lang="en-GB" sz="1600" b="0" u="none" dirty="0" smtClean="0">
                          <a:solidFill>
                            <a:schemeClr val="tx1"/>
                          </a:solidFill>
                        </a:rPr>
                        <a:t>(PK)</a:t>
                      </a:r>
                      <a:endParaRPr lang="en-SG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66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ProjTitle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66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ProjCost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66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ProjMgr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0" name="Rectangle 59"/>
          <p:cNvSpPr/>
          <p:nvPr/>
        </p:nvSpPr>
        <p:spPr>
          <a:xfrm>
            <a:off x="5469948" y="5486400"/>
            <a:ext cx="1503363" cy="319087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Entity: PROJECTS</a:t>
            </a:r>
          </a:p>
        </p:txBody>
      </p:sp>
      <p:sp>
        <p:nvSpPr>
          <p:cNvPr id="61" name="Rectangle 60"/>
          <p:cNvSpPr/>
          <p:nvPr/>
        </p:nvSpPr>
        <p:spPr bwMode="auto">
          <a:xfrm>
            <a:off x="1828800" y="5486400"/>
            <a:ext cx="1677987" cy="319087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Entity: EMPLOYEES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3"/>
          <p:cNvSpPr txBox="1">
            <a:spLocks noChangeArrowheads="1"/>
          </p:cNvSpPr>
          <p:nvPr/>
        </p:nvSpPr>
        <p:spPr bwMode="auto">
          <a:xfrm>
            <a:off x="717550" y="1143000"/>
            <a:ext cx="8045450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For analysis, let’s focus on the </a:t>
            </a:r>
            <a:r>
              <a:rPr lang="en-US" altLang="en-US" sz="24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Key attributes in the entities </a:t>
            </a:r>
            <a:r>
              <a:rPr lang="en-US" altLang="en-US" sz="24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only. </a:t>
            </a:r>
            <a:endParaRPr lang="en-US" altLang="en-US" sz="2400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603" name="Title 1"/>
          <p:cNvSpPr txBox="1">
            <a:spLocks/>
          </p:cNvSpPr>
          <p:nvPr/>
        </p:nvSpPr>
        <p:spPr bwMode="auto">
          <a:xfrm>
            <a:off x="685800" y="431513"/>
            <a:ext cx="657519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Many : Many Relationship Modelling</a:t>
            </a:r>
            <a:endParaRPr lang="en-US" altLang="en-US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956477"/>
              </p:ext>
            </p:extLst>
          </p:nvPr>
        </p:nvGraphicFramePr>
        <p:xfrm>
          <a:off x="5127625" y="2730307"/>
          <a:ext cx="1143000" cy="63182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PROJECTS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09" marB="36009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b="1" u="sng" dirty="0" err="1" smtClean="0">
                          <a:solidFill>
                            <a:schemeClr val="tx1"/>
                          </a:solidFill>
                        </a:rPr>
                        <a:t>ProjCode</a:t>
                      </a:r>
                      <a:endParaRPr lang="en-SG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09" marB="36009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4918075" y="2417570"/>
            <a:ext cx="1503363" cy="319087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Entity: PROJECTS</a:t>
            </a:r>
          </a:p>
        </p:txBody>
      </p:sp>
      <p:sp>
        <p:nvSpPr>
          <p:cNvPr id="23" name="Rectangle 22"/>
          <p:cNvSpPr/>
          <p:nvPr/>
        </p:nvSpPr>
        <p:spPr bwMode="auto">
          <a:xfrm>
            <a:off x="2006600" y="2455670"/>
            <a:ext cx="1677988" cy="319087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Entity: EMPLOYEES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378584"/>
              </p:ext>
            </p:extLst>
          </p:nvPr>
        </p:nvGraphicFramePr>
        <p:xfrm>
          <a:off x="2241550" y="2752532"/>
          <a:ext cx="1209675" cy="631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10" marB="36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b="0" u="sng" dirty="0" err="1" smtClean="0">
                          <a:solidFill>
                            <a:schemeClr val="tx1"/>
                          </a:solidFill>
                        </a:rPr>
                        <a:t>EmpID</a:t>
                      </a:r>
                      <a:endParaRPr lang="en-SG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10" marB="36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5" name="Straight Connector 24"/>
          <p:cNvCxnSpPr/>
          <p:nvPr/>
        </p:nvCxnSpPr>
        <p:spPr bwMode="auto">
          <a:xfrm>
            <a:off x="3427413" y="3057332"/>
            <a:ext cx="1700212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623" name="Group 25"/>
          <p:cNvGrpSpPr>
            <a:grpSpLocks/>
          </p:cNvGrpSpPr>
          <p:nvPr/>
        </p:nvGrpSpPr>
        <p:grpSpPr bwMode="auto">
          <a:xfrm>
            <a:off x="3440113" y="2705234"/>
            <a:ext cx="1671637" cy="471161"/>
            <a:chOff x="4898204" y="2651452"/>
            <a:chExt cx="1672341" cy="471161"/>
          </a:xfrm>
        </p:grpSpPr>
        <p:grpSp>
          <p:nvGrpSpPr>
            <p:cNvPr id="25681" name="Group 53"/>
            <p:cNvGrpSpPr>
              <a:grpSpLocks/>
            </p:cNvGrpSpPr>
            <p:nvPr/>
          </p:nvGrpSpPr>
          <p:grpSpPr bwMode="auto">
            <a:xfrm>
              <a:off x="6162389" y="2895600"/>
              <a:ext cx="408156" cy="215900"/>
              <a:chOff x="6076173" y="2798906"/>
              <a:chExt cx="408002" cy="215957"/>
            </a:xfrm>
          </p:grpSpPr>
          <p:sp>
            <p:nvSpPr>
              <p:cNvPr id="34" name="Oval 33"/>
              <p:cNvSpPr/>
              <p:nvPr/>
            </p:nvSpPr>
            <p:spPr>
              <a:xfrm>
                <a:off x="6076170" y="2798906"/>
                <a:ext cx="107955" cy="215957"/>
              </a:xfrm>
              <a:prstGeom prst="ellipse">
                <a:avLst/>
              </a:prstGeom>
              <a:noFill/>
              <a:ln w="2857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SG"/>
              </a:p>
            </p:txBody>
          </p:sp>
          <p:grpSp>
            <p:nvGrpSpPr>
              <p:cNvPr id="25689" name="Group 28"/>
              <p:cNvGrpSpPr>
                <a:grpSpLocks/>
              </p:cNvGrpSpPr>
              <p:nvPr/>
            </p:nvGrpSpPr>
            <p:grpSpPr bwMode="auto">
              <a:xfrm>
                <a:off x="6266680" y="2822725"/>
                <a:ext cx="217495" cy="160379"/>
                <a:chOff x="2773355" y="4102050"/>
                <a:chExt cx="217495" cy="160379"/>
              </a:xfrm>
            </p:grpSpPr>
            <p:cxnSp>
              <p:nvCxnSpPr>
                <p:cNvPr id="36" name="Straight Connector 35"/>
                <p:cNvCxnSpPr/>
                <p:nvPr/>
              </p:nvCxnSpPr>
              <p:spPr>
                <a:xfrm flipV="1">
                  <a:off x="2773353" y="4102050"/>
                  <a:ext cx="217497" cy="71456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>
                <a:xfrm>
                  <a:off x="2773353" y="4190973"/>
                  <a:ext cx="217497" cy="71456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5682" name="Group 52"/>
            <p:cNvGrpSpPr>
              <a:grpSpLocks/>
            </p:cNvGrpSpPr>
            <p:nvPr/>
          </p:nvGrpSpPr>
          <p:grpSpPr bwMode="auto">
            <a:xfrm>
              <a:off x="4898204" y="2894073"/>
              <a:ext cx="275215" cy="228540"/>
              <a:chOff x="4812475" y="2797379"/>
              <a:chExt cx="275112" cy="228600"/>
            </a:xfrm>
          </p:grpSpPr>
          <p:grpSp>
            <p:nvGrpSpPr>
              <p:cNvPr id="25684" name="Group 31"/>
              <p:cNvGrpSpPr>
                <a:grpSpLocks/>
              </p:cNvGrpSpPr>
              <p:nvPr/>
            </p:nvGrpSpPr>
            <p:grpSpPr bwMode="auto">
              <a:xfrm flipH="1">
                <a:off x="4812475" y="2830277"/>
                <a:ext cx="217012" cy="160825"/>
                <a:chOff x="2754788" y="4102175"/>
                <a:chExt cx="217012" cy="160825"/>
              </a:xfrm>
            </p:grpSpPr>
            <p:cxnSp>
              <p:nvCxnSpPr>
                <p:cNvPr id="32" name="Straight Connector 31"/>
                <p:cNvCxnSpPr/>
                <p:nvPr/>
              </p:nvCxnSpPr>
              <p:spPr>
                <a:xfrm flipV="1">
                  <a:off x="2778116" y="4102563"/>
                  <a:ext cx="193684" cy="71457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/>
              </p:nvCxnSpPr>
              <p:spPr>
                <a:xfrm>
                  <a:off x="2778116" y="4191486"/>
                  <a:ext cx="193684" cy="71457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>
              <a:xfrm>
                <a:off x="5087125" y="2797319"/>
                <a:ext cx="0" cy="22866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Rectangle 28"/>
            <p:cNvSpPr/>
            <p:nvPr/>
          </p:nvSpPr>
          <p:spPr bwMode="auto">
            <a:xfrm>
              <a:off x="5344479" y="2651452"/>
              <a:ext cx="739863" cy="318924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600" b="1" dirty="0">
                  <a:solidFill>
                    <a:srgbClr val="FFFF00"/>
                  </a:solidFill>
                  <a:latin typeface="+mn-lt"/>
                </a:rPr>
                <a:t>handles</a:t>
              </a:r>
            </a:p>
          </p:txBody>
        </p:sp>
      </p:grpSp>
      <p:sp>
        <p:nvSpPr>
          <p:cNvPr id="40" name="Rectangle 39"/>
          <p:cNvSpPr/>
          <p:nvPr/>
        </p:nvSpPr>
        <p:spPr bwMode="auto">
          <a:xfrm>
            <a:off x="228600" y="5060757"/>
            <a:ext cx="1944688" cy="565150"/>
          </a:xfrm>
          <a:prstGeom prst="rect">
            <a:avLst/>
          </a:prstGeom>
        </p:spPr>
        <p:txBody>
          <a:bodyPr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1 Employee deals with multiple projects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822842"/>
              </p:ext>
            </p:extLst>
          </p:nvPr>
        </p:nvGraphicFramePr>
        <p:xfrm>
          <a:off x="5924548" y="4044913"/>
          <a:ext cx="1143000" cy="63182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PROJECTS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09" marB="36009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b="1" u="sng" dirty="0" err="1" smtClean="0">
                          <a:solidFill>
                            <a:schemeClr val="tx1"/>
                          </a:solidFill>
                        </a:rPr>
                        <a:t>ProjCode</a:t>
                      </a:r>
                      <a:endParaRPr lang="en-SG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09" marB="36009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057550"/>
              </p:ext>
            </p:extLst>
          </p:nvPr>
        </p:nvGraphicFramePr>
        <p:xfrm>
          <a:off x="1186239" y="4135243"/>
          <a:ext cx="1209675" cy="631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10" marB="36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b="0" u="sng" dirty="0" err="1" smtClean="0">
                          <a:solidFill>
                            <a:schemeClr val="tx1"/>
                          </a:solidFill>
                        </a:rPr>
                        <a:t>EmpID</a:t>
                      </a:r>
                      <a:endParaRPr lang="en-SG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10" marB="36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170380"/>
              </p:ext>
            </p:extLst>
          </p:nvPr>
        </p:nvGraphicFramePr>
        <p:xfrm>
          <a:off x="2676525" y="3816157"/>
          <a:ext cx="2809874" cy="258464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13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35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579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EMPID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…….</a:t>
                      </a:r>
                      <a:endParaRPr lang="en-SG" sz="16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ProjCode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98">
                <a:tc>
                  <a:txBody>
                    <a:bodyPr/>
                    <a:lstStyle/>
                    <a:p>
                      <a:pPr algn="ctr"/>
                      <a:r>
                        <a:rPr lang="en-GB" sz="1600" b="1" u="none" dirty="0" smtClean="0">
                          <a:solidFill>
                            <a:srgbClr val="C00000"/>
                          </a:solidFill>
                        </a:rPr>
                        <a:t>E-01</a:t>
                      </a:r>
                      <a:endParaRPr lang="en-SG" sz="1600" b="1" u="none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600" b="1" u="none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b="1" u="none" dirty="0" smtClean="0">
                          <a:solidFill>
                            <a:schemeClr val="tx1"/>
                          </a:solidFill>
                        </a:rPr>
                        <a:t>P-11</a:t>
                      </a:r>
                      <a:endParaRPr lang="en-SG" sz="1600" b="1" u="none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798">
                <a:tc>
                  <a:txBody>
                    <a:bodyPr/>
                    <a:lstStyle/>
                    <a:p>
                      <a:pPr algn="ctr"/>
                      <a:endParaRPr lang="en-SG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b="1" dirty="0" smtClean="0">
                          <a:solidFill>
                            <a:srgbClr val="FF0000"/>
                          </a:solidFill>
                        </a:rPr>
                        <a:t>P-22</a:t>
                      </a:r>
                      <a:endParaRPr lang="en-SG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35985" marR="35985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861">
                <a:tc>
                  <a:txBody>
                    <a:bodyPr/>
                    <a:lstStyle/>
                    <a:p>
                      <a:pPr algn="ctr"/>
                      <a:endParaRPr lang="en-SG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b="1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P-33</a:t>
                      </a:r>
                      <a:endParaRPr lang="en-SG" sz="1600" b="1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 marL="35985" marR="35985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798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 smtClean="0">
                          <a:solidFill>
                            <a:srgbClr val="000099"/>
                          </a:solidFill>
                        </a:rPr>
                        <a:t>E-02</a:t>
                      </a:r>
                      <a:endParaRPr lang="en-SG" sz="1600" b="1" dirty="0">
                        <a:solidFill>
                          <a:srgbClr val="000099"/>
                        </a:solidFill>
                      </a:endParaRPr>
                    </a:p>
                  </a:txBody>
                  <a:tcPr marL="35985" marR="35985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600" b="1" dirty="0">
                        <a:solidFill>
                          <a:srgbClr val="000099"/>
                        </a:solidFill>
                      </a:endParaRPr>
                    </a:p>
                  </a:txBody>
                  <a:tcPr marL="35985" marR="35985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b="1" dirty="0" smtClean="0">
                          <a:solidFill>
                            <a:schemeClr val="tx1"/>
                          </a:solidFill>
                        </a:rPr>
                        <a:t>P-11</a:t>
                      </a:r>
                      <a:endParaRPr lang="en-SG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798">
                <a:tc>
                  <a:txBody>
                    <a:bodyPr/>
                    <a:lstStyle/>
                    <a:p>
                      <a:pPr algn="ctr"/>
                      <a:endParaRPr lang="en-SG" sz="1600" b="1" dirty="0">
                        <a:solidFill>
                          <a:srgbClr val="000099"/>
                        </a:solidFill>
                      </a:endParaRPr>
                    </a:p>
                  </a:txBody>
                  <a:tcPr marL="35985" marR="35985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600" b="1" dirty="0">
                        <a:solidFill>
                          <a:srgbClr val="000099"/>
                        </a:solidFill>
                      </a:endParaRPr>
                    </a:p>
                  </a:txBody>
                  <a:tcPr marL="35985" marR="35985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smtClean="0"/>
                        <a:t>P-33</a:t>
                      </a:r>
                      <a:endParaRPr lang="en-SG" sz="16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798">
                <a:tc>
                  <a:txBody>
                    <a:bodyPr/>
                    <a:lstStyle/>
                    <a:p>
                      <a:pPr algn="ctr"/>
                      <a:r>
                        <a:rPr lang="en-SG" sz="1600" b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E-03</a:t>
                      </a:r>
                      <a:endParaRPr lang="en-SG" sz="16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marL="35985" marR="35985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6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marL="35985" marR="35985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b="1" dirty="0" smtClean="0">
                          <a:solidFill>
                            <a:srgbClr val="FF0000"/>
                          </a:solidFill>
                        </a:rPr>
                        <a:t>P-22</a:t>
                      </a:r>
                      <a:endParaRPr lang="en-SG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35985" marR="35985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798">
                <a:tc>
                  <a:txBody>
                    <a:bodyPr/>
                    <a:lstStyle/>
                    <a:p>
                      <a:pPr algn="ctr"/>
                      <a:endParaRPr lang="en-SG" sz="16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marL="35985" marR="35985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600" b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marL="35985" marR="35985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b="1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P-33</a:t>
                      </a:r>
                      <a:endParaRPr lang="en-SG" sz="1600" b="1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 marL="35985" marR="35985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3686174" y="4222557"/>
            <a:ext cx="739777" cy="716756"/>
            <a:chOff x="2895619" y="3886200"/>
            <a:chExt cx="740868" cy="716756"/>
          </a:xfrm>
        </p:grpSpPr>
        <p:cxnSp>
          <p:nvCxnSpPr>
            <p:cNvPr id="5" name="Straight Arrow Connector 4"/>
            <p:cNvCxnSpPr/>
            <p:nvPr/>
          </p:nvCxnSpPr>
          <p:spPr>
            <a:xfrm>
              <a:off x="2895619" y="3886200"/>
              <a:ext cx="73259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2895619" y="4060826"/>
              <a:ext cx="728497" cy="23177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2895619" y="4176713"/>
              <a:ext cx="740868" cy="42624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6594194" y="4826141"/>
            <a:ext cx="648000" cy="926432"/>
            <a:chOff x="5938072" y="3950368"/>
            <a:chExt cx="505399" cy="926432"/>
          </a:xfrm>
        </p:grpSpPr>
        <p:cxnSp>
          <p:nvCxnSpPr>
            <p:cNvPr id="8" name="Straight Arrow Connector 7"/>
            <p:cNvCxnSpPr/>
            <p:nvPr/>
          </p:nvCxnSpPr>
          <p:spPr>
            <a:xfrm flipH="1">
              <a:off x="5938072" y="3950368"/>
              <a:ext cx="503975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>
              <a:off x="5939497" y="4876800"/>
              <a:ext cx="503974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/>
          <p:cNvGrpSpPr>
            <a:grpSpLocks/>
          </p:cNvGrpSpPr>
          <p:nvPr/>
        </p:nvGrpSpPr>
        <p:grpSpPr bwMode="auto">
          <a:xfrm>
            <a:off x="6819900" y="5300824"/>
            <a:ext cx="761996" cy="1309688"/>
            <a:chOff x="5942781" y="3886200"/>
            <a:chExt cx="761995" cy="1309688"/>
          </a:xfrm>
        </p:grpSpPr>
        <p:cxnSp>
          <p:nvCxnSpPr>
            <p:cNvPr id="44" name="Straight Arrow Connector 43"/>
            <p:cNvCxnSpPr/>
            <p:nvPr/>
          </p:nvCxnSpPr>
          <p:spPr>
            <a:xfrm flipH="1">
              <a:off x="5942781" y="3886200"/>
              <a:ext cx="761995" cy="547688"/>
            </a:xfrm>
            <a:prstGeom prst="straightConnector1">
              <a:avLst/>
            </a:prstGeom>
            <a:ln w="28575">
              <a:solidFill>
                <a:srgbClr val="1518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 flipH="1">
              <a:off x="5942781" y="5195888"/>
              <a:ext cx="755999" cy="0"/>
            </a:xfrm>
            <a:prstGeom prst="straightConnector1">
              <a:avLst/>
            </a:prstGeom>
            <a:ln w="28575">
              <a:solidFill>
                <a:srgbClr val="1518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45"/>
          <p:cNvSpPr/>
          <p:nvPr/>
        </p:nvSpPr>
        <p:spPr bwMode="auto">
          <a:xfrm>
            <a:off x="5732463" y="5002020"/>
            <a:ext cx="2268537" cy="574675"/>
          </a:xfrm>
          <a:prstGeom prst="rect">
            <a:avLst/>
          </a:prstGeom>
        </p:spPr>
        <p:txBody>
          <a:bodyPr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1 Project is being handled by multiple employees</a:t>
            </a:r>
          </a:p>
        </p:txBody>
      </p:sp>
      <p:sp>
        <p:nvSpPr>
          <p:cNvPr id="39" name="Text Box 3"/>
          <p:cNvSpPr txBox="1">
            <a:spLocks noChangeArrowheads="1"/>
          </p:cNvSpPr>
          <p:nvPr/>
        </p:nvSpPr>
        <p:spPr bwMode="auto">
          <a:xfrm>
            <a:off x="717550" y="1591088"/>
            <a:ext cx="7877175" cy="670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This symbols is unable to represent the complete scenario whereby an employee assigned to handle multiple projects or vice versus.   </a:t>
            </a:r>
            <a:endParaRPr lang="en-US" altLang="en-US" sz="2000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7" name="Group 46"/>
          <p:cNvGrpSpPr>
            <a:grpSpLocks/>
          </p:cNvGrpSpPr>
          <p:nvPr/>
        </p:nvGrpSpPr>
        <p:grpSpPr bwMode="auto">
          <a:xfrm>
            <a:off x="3671886" y="5289357"/>
            <a:ext cx="754065" cy="310355"/>
            <a:chOff x="2895619" y="3886200"/>
            <a:chExt cx="755177" cy="310355"/>
          </a:xfrm>
        </p:grpSpPr>
        <p:cxnSp>
          <p:nvCxnSpPr>
            <p:cNvPr id="48" name="Straight Arrow Connector 47"/>
            <p:cNvCxnSpPr/>
            <p:nvPr/>
          </p:nvCxnSpPr>
          <p:spPr>
            <a:xfrm>
              <a:off x="2895619" y="3886200"/>
              <a:ext cx="73259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>
              <a:off x="2895619" y="4060826"/>
              <a:ext cx="755177" cy="13572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>
            <a:grpSpLocks/>
          </p:cNvGrpSpPr>
          <p:nvPr/>
        </p:nvGrpSpPr>
        <p:grpSpPr bwMode="auto">
          <a:xfrm>
            <a:off x="3694905" y="5971983"/>
            <a:ext cx="754065" cy="310355"/>
            <a:chOff x="2895619" y="3886200"/>
            <a:chExt cx="755177" cy="310355"/>
          </a:xfrm>
        </p:grpSpPr>
        <p:cxnSp>
          <p:nvCxnSpPr>
            <p:cNvPr id="52" name="Straight Arrow Connector 51"/>
            <p:cNvCxnSpPr/>
            <p:nvPr/>
          </p:nvCxnSpPr>
          <p:spPr>
            <a:xfrm>
              <a:off x="2895619" y="3886200"/>
              <a:ext cx="73259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2895619" y="4060826"/>
              <a:ext cx="755177" cy="13572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354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822820"/>
              </p:ext>
            </p:extLst>
          </p:nvPr>
        </p:nvGraphicFramePr>
        <p:xfrm>
          <a:off x="543257" y="2667000"/>
          <a:ext cx="3025777" cy="234604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70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1660">
                  <a:extLst>
                    <a:ext uri="{9D8B030D-6E8A-4147-A177-3AD203B41FA5}">
                      <a16:colId xmlns:a16="http://schemas.microsoft.com/office/drawing/2014/main" val="3684716681"/>
                    </a:ext>
                  </a:extLst>
                </a:gridCol>
                <a:gridCol w="1063926">
                  <a:extLst>
                    <a:ext uri="{9D8B030D-6E8A-4147-A177-3AD203B41FA5}">
                      <a16:colId xmlns:a16="http://schemas.microsoft.com/office/drawing/2014/main" val="1847278187"/>
                    </a:ext>
                  </a:extLst>
                </a:gridCol>
              </a:tblGrid>
              <a:tr h="30079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>
                          <a:solidFill>
                            <a:schemeClr val="tx1"/>
                          </a:solidFill>
                          <a:effectLst/>
                        </a:rPr>
                        <a:t>EmpID</a:t>
                      </a:r>
                      <a:endParaRPr lang="en-SG" sz="16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EmpName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ProjCode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78">
                <a:tc>
                  <a:txBody>
                    <a:bodyPr/>
                    <a:lstStyle/>
                    <a:p>
                      <a:pPr algn="ctr"/>
                      <a:r>
                        <a:rPr lang="en-GB" sz="1600" u="none" dirty="0" smtClean="0"/>
                        <a:t>E-01</a:t>
                      </a:r>
                      <a:endParaRPr lang="en-SG" sz="1600" b="1" u="none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James</a:t>
                      </a:r>
                      <a:endParaRPr lang="en-SG" sz="1600" b="0" u="none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P-11</a:t>
                      </a:r>
                      <a:endParaRPr lang="en-SG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78"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E-01</a:t>
                      </a:r>
                      <a:endParaRPr lang="en-SG" sz="1600" b="1" u="none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James</a:t>
                      </a:r>
                      <a:endParaRPr lang="en-SG" sz="1600" b="0" u="none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P-22</a:t>
                      </a:r>
                      <a:endParaRPr lang="en-SG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86328183"/>
                  </a:ext>
                </a:extLst>
              </a:tr>
              <a:tr h="292178"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E-01</a:t>
                      </a:r>
                      <a:endParaRPr lang="en-SG" sz="1600" b="1" u="none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James</a:t>
                      </a:r>
                      <a:endParaRPr lang="en-SG" sz="1600" b="0" u="none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P-33</a:t>
                      </a:r>
                      <a:endParaRPr lang="en-SG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466443183"/>
                  </a:ext>
                </a:extLst>
              </a:tr>
              <a:tr h="292178"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E-02</a:t>
                      </a:r>
                      <a:endParaRPr lang="en-SG" sz="1600" b="1" u="none" dirty="0">
                        <a:solidFill>
                          <a:srgbClr val="151897"/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Chris</a:t>
                      </a:r>
                      <a:endParaRPr lang="en-SG" sz="1600" b="0" u="none" dirty="0">
                        <a:solidFill>
                          <a:srgbClr val="151897"/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P-11</a:t>
                      </a:r>
                      <a:endParaRPr lang="en-SG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4186823220"/>
                  </a:ext>
                </a:extLst>
              </a:tr>
              <a:tr h="292178"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E-02</a:t>
                      </a:r>
                      <a:endParaRPr lang="en-SG" sz="1600" b="1" u="none" dirty="0">
                        <a:solidFill>
                          <a:srgbClr val="151897"/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Chris</a:t>
                      </a:r>
                      <a:endParaRPr lang="en-SG" sz="1600" b="0" u="none" dirty="0">
                        <a:solidFill>
                          <a:srgbClr val="151897"/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P-33</a:t>
                      </a:r>
                      <a:endParaRPr lang="en-SG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2498461627"/>
                  </a:ext>
                </a:extLst>
              </a:tr>
              <a:tr h="292178"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E-03</a:t>
                      </a:r>
                      <a:endParaRPr lang="en-SG" sz="1600" b="1" u="none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Ken</a:t>
                      </a:r>
                      <a:endParaRPr lang="en-SG" sz="1600" b="0" u="none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P-22</a:t>
                      </a:r>
                      <a:endParaRPr lang="en-SG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37694523"/>
                  </a:ext>
                </a:extLst>
              </a:tr>
              <a:tr h="292178"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E-03</a:t>
                      </a:r>
                      <a:endParaRPr lang="en-SG" sz="1600" b="1" u="none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Ken</a:t>
                      </a:r>
                      <a:endParaRPr lang="en-SG" sz="1600" b="0" u="none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P-33</a:t>
                      </a:r>
                      <a:endParaRPr lang="en-SG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2703864790"/>
                  </a:ext>
                </a:extLst>
              </a:tr>
            </a:tbl>
          </a:graphicData>
        </a:graphic>
      </p:graphicFrame>
      <p:sp>
        <p:nvSpPr>
          <p:cNvPr id="25603" name="Title 1"/>
          <p:cNvSpPr txBox="1">
            <a:spLocks/>
          </p:cNvSpPr>
          <p:nvPr/>
        </p:nvSpPr>
        <p:spPr bwMode="auto">
          <a:xfrm>
            <a:off x="685800" y="431513"/>
            <a:ext cx="657519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Many : Many Relationship Modelling</a:t>
            </a:r>
            <a:endParaRPr lang="en-US" altLang="en-US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572690"/>
              </p:ext>
            </p:extLst>
          </p:nvPr>
        </p:nvGraphicFramePr>
        <p:xfrm>
          <a:off x="5127625" y="1700077"/>
          <a:ext cx="1143000" cy="63182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PROJECTS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09" marB="36009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b="1" u="sng" dirty="0" err="1" smtClean="0">
                          <a:solidFill>
                            <a:schemeClr val="tx1"/>
                          </a:solidFill>
                        </a:rPr>
                        <a:t>ProjCode</a:t>
                      </a:r>
                      <a:endParaRPr lang="en-SG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09" marB="36009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4918075" y="1219200"/>
            <a:ext cx="1683337" cy="349702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Entity: PROJECTS</a:t>
            </a:r>
          </a:p>
        </p:txBody>
      </p:sp>
      <p:sp>
        <p:nvSpPr>
          <p:cNvPr id="23" name="Rectangle 22"/>
          <p:cNvSpPr/>
          <p:nvPr/>
        </p:nvSpPr>
        <p:spPr bwMode="auto">
          <a:xfrm>
            <a:off x="2006600" y="1241534"/>
            <a:ext cx="1879608" cy="349702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Entity: EMPLOYEES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444642"/>
              </p:ext>
            </p:extLst>
          </p:nvPr>
        </p:nvGraphicFramePr>
        <p:xfrm>
          <a:off x="2241550" y="1722302"/>
          <a:ext cx="1209675" cy="631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10" marB="36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b="0" u="sng" dirty="0" err="1" smtClean="0">
                          <a:solidFill>
                            <a:schemeClr val="tx1"/>
                          </a:solidFill>
                        </a:rPr>
                        <a:t>EmpID</a:t>
                      </a:r>
                      <a:endParaRPr lang="en-SG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10" marB="36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5" name="Straight Connector 24"/>
          <p:cNvCxnSpPr/>
          <p:nvPr/>
        </p:nvCxnSpPr>
        <p:spPr bwMode="auto">
          <a:xfrm>
            <a:off x="3427413" y="2027102"/>
            <a:ext cx="1700212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623" name="Group 25"/>
          <p:cNvGrpSpPr>
            <a:grpSpLocks/>
          </p:cNvGrpSpPr>
          <p:nvPr/>
        </p:nvGrpSpPr>
        <p:grpSpPr bwMode="auto">
          <a:xfrm>
            <a:off x="3440116" y="1652645"/>
            <a:ext cx="1671634" cy="493520"/>
            <a:chOff x="4898207" y="2629093"/>
            <a:chExt cx="1672338" cy="493520"/>
          </a:xfrm>
        </p:grpSpPr>
        <p:grpSp>
          <p:nvGrpSpPr>
            <p:cNvPr id="25681" name="Group 53"/>
            <p:cNvGrpSpPr>
              <a:grpSpLocks/>
            </p:cNvGrpSpPr>
            <p:nvPr/>
          </p:nvGrpSpPr>
          <p:grpSpPr bwMode="auto">
            <a:xfrm>
              <a:off x="6162386" y="2895600"/>
              <a:ext cx="408159" cy="215900"/>
              <a:chOff x="6076170" y="2798906"/>
              <a:chExt cx="408005" cy="215957"/>
            </a:xfrm>
          </p:grpSpPr>
          <p:sp>
            <p:nvSpPr>
              <p:cNvPr id="34" name="Oval 33"/>
              <p:cNvSpPr/>
              <p:nvPr/>
            </p:nvSpPr>
            <p:spPr>
              <a:xfrm>
                <a:off x="6076170" y="2798906"/>
                <a:ext cx="107955" cy="215957"/>
              </a:xfrm>
              <a:prstGeom prst="ellipse">
                <a:avLst/>
              </a:prstGeom>
              <a:noFill/>
              <a:ln w="381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SG"/>
              </a:p>
            </p:txBody>
          </p:sp>
          <p:grpSp>
            <p:nvGrpSpPr>
              <p:cNvPr id="25689" name="Group 28"/>
              <p:cNvGrpSpPr>
                <a:grpSpLocks/>
              </p:cNvGrpSpPr>
              <p:nvPr/>
            </p:nvGrpSpPr>
            <p:grpSpPr bwMode="auto">
              <a:xfrm>
                <a:off x="6266678" y="2822725"/>
                <a:ext cx="217497" cy="148344"/>
                <a:chOff x="2773353" y="4102050"/>
                <a:chExt cx="217497" cy="148344"/>
              </a:xfrm>
            </p:grpSpPr>
            <p:cxnSp>
              <p:nvCxnSpPr>
                <p:cNvPr id="36" name="Straight Connector 35"/>
                <p:cNvCxnSpPr/>
                <p:nvPr/>
              </p:nvCxnSpPr>
              <p:spPr>
                <a:xfrm flipV="1">
                  <a:off x="2773353" y="4102050"/>
                  <a:ext cx="217497" cy="71456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>
                <a:xfrm>
                  <a:off x="2773353" y="4178938"/>
                  <a:ext cx="217497" cy="71456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5682" name="Group 52"/>
            <p:cNvGrpSpPr>
              <a:grpSpLocks/>
            </p:cNvGrpSpPr>
            <p:nvPr/>
          </p:nvGrpSpPr>
          <p:grpSpPr bwMode="auto">
            <a:xfrm>
              <a:off x="4898207" y="2894013"/>
              <a:ext cx="274753" cy="228600"/>
              <a:chOff x="4812475" y="2797319"/>
              <a:chExt cx="274650" cy="228660"/>
            </a:xfrm>
          </p:grpSpPr>
          <p:grpSp>
            <p:nvGrpSpPr>
              <p:cNvPr id="25684" name="Group 31"/>
              <p:cNvGrpSpPr>
                <a:grpSpLocks/>
              </p:cNvGrpSpPr>
              <p:nvPr/>
            </p:nvGrpSpPr>
            <p:grpSpPr bwMode="auto">
              <a:xfrm flipH="1">
                <a:off x="4812475" y="2818630"/>
                <a:ext cx="193684" cy="160380"/>
                <a:chOff x="2778116" y="4090528"/>
                <a:chExt cx="193684" cy="160380"/>
              </a:xfrm>
            </p:grpSpPr>
            <p:cxnSp>
              <p:nvCxnSpPr>
                <p:cNvPr id="32" name="Straight Connector 31"/>
                <p:cNvCxnSpPr/>
                <p:nvPr/>
              </p:nvCxnSpPr>
              <p:spPr>
                <a:xfrm flipV="1">
                  <a:off x="2778116" y="4090528"/>
                  <a:ext cx="193684" cy="71457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/>
              </p:nvCxnSpPr>
              <p:spPr>
                <a:xfrm>
                  <a:off x="2778116" y="4179451"/>
                  <a:ext cx="193684" cy="71457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>
              <a:xfrm>
                <a:off x="5087125" y="2797319"/>
                <a:ext cx="0" cy="22866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Rectangle 28"/>
            <p:cNvSpPr/>
            <p:nvPr/>
          </p:nvSpPr>
          <p:spPr bwMode="auto">
            <a:xfrm>
              <a:off x="5420711" y="2629093"/>
              <a:ext cx="655914" cy="288925"/>
            </a:xfrm>
            <a:prstGeom prst="rect">
              <a:avLst/>
            </a:prstGeom>
            <a:ln w="38100">
              <a:noFill/>
            </a:ln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400" b="1" dirty="0">
                  <a:solidFill>
                    <a:srgbClr val="FFFF00"/>
                  </a:solidFill>
                  <a:latin typeface="+mn-lt"/>
                </a:rPr>
                <a:t>handles</a:t>
              </a:r>
            </a:p>
          </p:txBody>
        </p:sp>
      </p:grpSp>
      <p:sp>
        <p:nvSpPr>
          <p:cNvPr id="40" name="Rectangle 39"/>
          <p:cNvSpPr/>
          <p:nvPr/>
        </p:nvSpPr>
        <p:spPr bwMode="auto">
          <a:xfrm>
            <a:off x="537744" y="5123063"/>
            <a:ext cx="3881856" cy="108836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smtClean="0">
                <a:solidFill>
                  <a:srgbClr val="FFFF00"/>
                </a:solidFill>
                <a:latin typeface="+mn-lt"/>
              </a:rPr>
              <a:t>Example:</a:t>
            </a:r>
          </a:p>
          <a:p>
            <a:pPr marL="173038" indent="-173038" eaLnBrk="1" hangingPunct="1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en-US" sz="1600" dirty="0" smtClean="0">
                <a:solidFill>
                  <a:srgbClr val="FFFF00"/>
                </a:solidFill>
                <a:latin typeface="+mn-lt"/>
              </a:rPr>
              <a:t>Employee E-01 handles 3 projects (P-11, P-22, P-33). There are 3 records with the same </a:t>
            </a:r>
            <a:r>
              <a:rPr lang="en-US" sz="1600" dirty="0" err="1" smtClean="0">
                <a:solidFill>
                  <a:srgbClr val="FFFF00"/>
                </a:solidFill>
                <a:latin typeface="+mn-lt"/>
              </a:rPr>
              <a:t>EmpID</a:t>
            </a:r>
            <a:r>
              <a:rPr lang="en-US" sz="1600" dirty="0" smtClean="0">
                <a:solidFill>
                  <a:srgbClr val="FFFF00"/>
                </a:solidFill>
                <a:latin typeface="+mn-lt"/>
              </a:rPr>
              <a:t>.</a:t>
            </a:r>
            <a:endParaRPr lang="en-US" sz="1600" dirty="0">
              <a:solidFill>
                <a:srgbClr val="FFFF00"/>
              </a:solidFill>
              <a:latin typeface="+mn-lt"/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770431"/>
              </p:ext>
            </p:extLst>
          </p:nvPr>
        </p:nvGraphicFramePr>
        <p:xfrm>
          <a:off x="5040040" y="2667000"/>
          <a:ext cx="3265760" cy="241051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95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3520">
                  <a:extLst>
                    <a:ext uri="{9D8B030D-6E8A-4147-A177-3AD203B41FA5}">
                      <a16:colId xmlns:a16="http://schemas.microsoft.com/office/drawing/2014/main" val="723707319"/>
                    </a:ext>
                  </a:extLst>
                </a:gridCol>
                <a:gridCol w="1206569">
                  <a:extLst>
                    <a:ext uri="{9D8B030D-6E8A-4147-A177-3AD203B41FA5}">
                      <a16:colId xmlns:a16="http://schemas.microsoft.com/office/drawing/2014/main" val="1847278187"/>
                    </a:ext>
                  </a:extLst>
                </a:gridCol>
              </a:tblGrid>
              <a:tr h="30906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EmpID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ProName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dirty="0" err="1" smtClean="0">
                          <a:solidFill>
                            <a:schemeClr val="tx1"/>
                          </a:solidFill>
                          <a:effectLst/>
                        </a:rPr>
                        <a:t>ProjCode</a:t>
                      </a:r>
                      <a:endParaRPr lang="en-SG" sz="16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208">
                <a:tc>
                  <a:txBody>
                    <a:bodyPr/>
                    <a:lstStyle/>
                    <a:p>
                      <a:pPr algn="ctr"/>
                      <a:r>
                        <a:rPr lang="en-GB" sz="1600" u="none" dirty="0" smtClean="0"/>
                        <a:t>E-01</a:t>
                      </a:r>
                      <a:endParaRPr lang="en-SG" sz="1600" b="1" u="none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40</a:t>
                      </a:r>
                      <a:endParaRPr lang="en-SG" sz="1600" b="0" u="none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P-11</a:t>
                      </a:r>
                      <a:endParaRPr lang="en-SG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208"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E-01</a:t>
                      </a:r>
                      <a:endParaRPr lang="en-SG" sz="1600" b="1" u="none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40</a:t>
                      </a:r>
                      <a:endParaRPr lang="en-SG" sz="1600" b="0" u="none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P-22</a:t>
                      </a:r>
                      <a:endParaRPr lang="en-SG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86328183"/>
                  </a:ext>
                </a:extLst>
              </a:tr>
              <a:tr h="300208"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E-01</a:t>
                      </a:r>
                      <a:endParaRPr lang="en-SG" sz="1600" b="1" u="none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40</a:t>
                      </a:r>
                      <a:endParaRPr lang="en-SG" sz="1600" b="0" u="none" dirty="0">
                        <a:solidFill>
                          <a:srgbClr val="C00000"/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P-33</a:t>
                      </a:r>
                      <a:endParaRPr lang="en-SG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1466443183"/>
                  </a:ext>
                </a:extLst>
              </a:tr>
              <a:tr h="300208"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E-02</a:t>
                      </a:r>
                      <a:endParaRPr lang="en-SG" sz="1600" b="1" u="none" dirty="0">
                        <a:solidFill>
                          <a:srgbClr val="151897"/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36</a:t>
                      </a:r>
                      <a:endParaRPr lang="en-SG" sz="1600" b="0" u="none" dirty="0">
                        <a:solidFill>
                          <a:srgbClr val="151897"/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P-11</a:t>
                      </a:r>
                      <a:endParaRPr lang="en-SG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4186823220"/>
                  </a:ext>
                </a:extLst>
              </a:tr>
              <a:tr h="300208"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E-02</a:t>
                      </a:r>
                      <a:endParaRPr lang="en-SG" sz="1600" b="1" u="none" dirty="0">
                        <a:solidFill>
                          <a:srgbClr val="151897"/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36</a:t>
                      </a:r>
                      <a:endParaRPr lang="en-SG" sz="1600" b="0" u="none" dirty="0">
                        <a:solidFill>
                          <a:srgbClr val="151897"/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P-33</a:t>
                      </a:r>
                      <a:endParaRPr lang="en-SG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2498461627"/>
                  </a:ext>
                </a:extLst>
              </a:tr>
              <a:tr h="300208"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E-03</a:t>
                      </a:r>
                      <a:endParaRPr lang="en-SG" sz="1600" b="1" u="none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52</a:t>
                      </a:r>
                      <a:endParaRPr lang="en-SG" sz="1600" b="0" u="none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P-22</a:t>
                      </a:r>
                      <a:endParaRPr lang="en-SG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37694523"/>
                  </a:ext>
                </a:extLst>
              </a:tr>
              <a:tr h="300208"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E-03</a:t>
                      </a:r>
                      <a:endParaRPr lang="en-SG" sz="1600" b="1" u="none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52</a:t>
                      </a:r>
                      <a:endParaRPr lang="en-SG" sz="1600" b="0" u="none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8288" marR="1828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u="none" dirty="0" smtClean="0"/>
                        <a:t>P-33</a:t>
                      </a:r>
                      <a:endParaRPr lang="en-SG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 marL="18288" marR="18288" marT="18288" marB="18288" anchor="ctr"/>
                </a:tc>
                <a:extLst>
                  <a:ext uri="{0D108BD9-81ED-4DB2-BD59-A6C34878D82A}">
                    <a16:rowId xmlns:a16="http://schemas.microsoft.com/office/drawing/2014/main" val="2703864790"/>
                  </a:ext>
                </a:extLst>
              </a:tr>
            </a:tbl>
          </a:graphicData>
        </a:graphic>
      </p:graphicFrame>
      <p:sp>
        <p:nvSpPr>
          <p:cNvPr id="46" name="Rectangle 45"/>
          <p:cNvSpPr/>
          <p:nvPr/>
        </p:nvSpPr>
        <p:spPr bwMode="auto">
          <a:xfrm>
            <a:off x="4894261" y="5140656"/>
            <a:ext cx="4021139" cy="113453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 smtClean="0">
                <a:solidFill>
                  <a:srgbClr val="FFFF00"/>
                </a:solidFill>
                <a:latin typeface="+mn-lt"/>
              </a:rPr>
              <a:t>Example:</a:t>
            </a:r>
          </a:p>
          <a:p>
            <a:pPr marL="173038" indent="-173038" eaLnBrk="1" hangingPunct="1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en-US" sz="1600" dirty="0" smtClean="0">
                <a:solidFill>
                  <a:srgbClr val="FFFF00"/>
                </a:solidFill>
                <a:latin typeface="+mn-lt"/>
              </a:rPr>
              <a:t>A Project (say P-11) had been assigned to Employees (E-01 &amp; E-02). There are multiple records with the same </a:t>
            </a:r>
            <a:r>
              <a:rPr lang="en-US" sz="1600" dirty="0" err="1" smtClean="0">
                <a:solidFill>
                  <a:srgbClr val="FFFF00"/>
                </a:solidFill>
                <a:latin typeface="+mn-lt"/>
              </a:rPr>
              <a:t>PProjCode</a:t>
            </a:r>
            <a:r>
              <a:rPr lang="en-US" sz="1600" dirty="0" smtClean="0">
                <a:solidFill>
                  <a:srgbClr val="FFFF00"/>
                </a:solidFill>
                <a:latin typeface="+mn-lt"/>
              </a:rPr>
              <a:t>.</a:t>
            </a:r>
            <a:endParaRPr lang="en-US" sz="1600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39" name="Text Box 3"/>
          <p:cNvSpPr txBox="1">
            <a:spLocks noChangeArrowheads="1"/>
          </p:cNvSpPr>
          <p:nvPr/>
        </p:nvSpPr>
        <p:spPr bwMode="auto">
          <a:xfrm>
            <a:off x="731512" y="6248602"/>
            <a:ext cx="3566160" cy="548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 wrap="squar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 err="1" smtClean="0">
                <a:solidFill>
                  <a:srgbClr val="C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EmpID</a:t>
            </a:r>
            <a:r>
              <a:rPr lang="en-US" altLang="en-US" sz="1600" dirty="0" smtClean="0">
                <a:solidFill>
                  <a:srgbClr val="C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appears inappropriate to be designated as the PK in EMPLOYEES entity.</a:t>
            </a:r>
            <a:endParaRPr lang="en-US" altLang="en-US" sz="1600" dirty="0">
              <a:solidFill>
                <a:srgbClr val="C00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7905" y="2971808"/>
            <a:ext cx="2889668" cy="8686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 Box 3"/>
          <p:cNvSpPr txBox="1">
            <a:spLocks noChangeArrowheads="1"/>
          </p:cNvSpPr>
          <p:nvPr/>
        </p:nvSpPr>
        <p:spPr bwMode="auto">
          <a:xfrm>
            <a:off x="5120640" y="6233958"/>
            <a:ext cx="3657600" cy="548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 wrap="squar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 err="1" smtClean="0">
                <a:solidFill>
                  <a:srgbClr val="C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ProjCode</a:t>
            </a:r>
            <a:r>
              <a:rPr lang="en-US" altLang="en-US" sz="1600" dirty="0" smtClean="0">
                <a:solidFill>
                  <a:srgbClr val="C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appears inappropriate to be designated as the PK in in PROJECTS entity.</a:t>
            </a:r>
            <a:endParaRPr lang="en-US" altLang="en-US" sz="1600" dirty="0">
              <a:solidFill>
                <a:srgbClr val="C00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105400" y="3003579"/>
            <a:ext cx="3108960" cy="2743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5105400" y="3886200"/>
            <a:ext cx="3108960" cy="2743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6" grpId="0"/>
      <p:bldP spid="39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3"/>
          <p:cNvSpPr txBox="1">
            <a:spLocks noChangeArrowheads="1"/>
          </p:cNvSpPr>
          <p:nvPr/>
        </p:nvSpPr>
        <p:spPr bwMode="auto">
          <a:xfrm>
            <a:off x="717550" y="1066800"/>
            <a:ext cx="7877175" cy="794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Can it adopt 1:N method of modelling for this M:N relationship? Let’s try.</a:t>
            </a:r>
            <a:endParaRPr lang="en-US" altLang="en-US" sz="2400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652" name="Rectangle 19"/>
          <p:cNvSpPr>
            <a:spLocks noChangeArrowheads="1"/>
          </p:cNvSpPr>
          <p:nvPr/>
        </p:nvSpPr>
        <p:spPr bwMode="auto">
          <a:xfrm>
            <a:off x="685800" y="3962400"/>
            <a:ext cx="800258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6800" rIns="46800">
            <a:spAutoFit/>
          </a:bodyPr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altLang="en-US" sz="20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If it adopts 1:N relationship modelling by taking one entity’s key attribute (say ‘</a:t>
            </a:r>
            <a:r>
              <a:rPr lang="en-GB" altLang="en-US" sz="2000" dirty="0" err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ProjCode</a:t>
            </a:r>
            <a:r>
              <a:rPr lang="en-GB" altLang="en-US" sz="20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’ from ‘PROJECTS’ entity) as a foreign key and insert into the ‘EMPOLYEES’ entity, the modelled entity will be shown as below.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339260"/>
              </p:ext>
            </p:extLst>
          </p:nvPr>
        </p:nvGraphicFramePr>
        <p:xfrm>
          <a:off x="5127625" y="2011363"/>
          <a:ext cx="1143000" cy="148907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119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PROJECTS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33" marB="3603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119">
                <a:tc>
                  <a:txBody>
                    <a:bodyPr/>
                    <a:lstStyle/>
                    <a:p>
                      <a:pPr algn="ctr"/>
                      <a:r>
                        <a:rPr lang="en-GB" sz="1600" b="1" u="sng" dirty="0" err="1" smtClean="0">
                          <a:solidFill>
                            <a:schemeClr val="tx1"/>
                          </a:solidFill>
                        </a:rPr>
                        <a:t>ProjCode</a:t>
                      </a:r>
                      <a:endParaRPr lang="en-SG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33" marB="3603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ProjTitle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3" marB="3603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ProjCost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3" marB="3603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ProjMgr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3" marB="3603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051425" y="3638550"/>
            <a:ext cx="1503363" cy="319088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Entity: PROJECTS</a:t>
            </a:r>
          </a:p>
        </p:txBody>
      </p:sp>
      <p:sp>
        <p:nvSpPr>
          <p:cNvPr id="23" name="Rectangle 22"/>
          <p:cNvSpPr/>
          <p:nvPr/>
        </p:nvSpPr>
        <p:spPr bwMode="auto">
          <a:xfrm>
            <a:off x="2133600" y="3581400"/>
            <a:ext cx="1677988" cy="319088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rgbClr val="FFFF00"/>
                </a:solidFill>
                <a:latin typeface="+mn-lt"/>
              </a:rPr>
              <a:t>Entity: EMPLOYEES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425002"/>
              </p:ext>
            </p:extLst>
          </p:nvPr>
        </p:nvGraphicFramePr>
        <p:xfrm>
          <a:off x="2241550" y="2017341"/>
          <a:ext cx="1209675" cy="1487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86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861">
                <a:tc>
                  <a:txBody>
                    <a:bodyPr/>
                    <a:lstStyle/>
                    <a:p>
                      <a:pPr algn="ctr"/>
                      <a:r>
                        <a:rPr lang="en-GB" sz="1600" b="0" u="sng" dirty="0" err="1" smtClean="0">
                          <a:solidFill>
                            <a:schemeClr val="tx1"/>
                          </a:solidFill>
                        </a:rPr>
                        <a:t>EmpID</a:t>
                      </a:r>
                      <a:endParaRPr lang="en-SG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EmpName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rgbClr val="C00000"/>
                          </a:solidFill>
                        </a:rPr>
                        <a:t>Professions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ChargeRate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5" name="Straight Connector 24"/>
          <p:cNvCxnSpPr/>
          <p:nvPr/>
        </p:nvCxnSpPr>
        <p:spPr bwMode="auto">
          <a:xfrm>
            <a:off x="3427413" y="2743200"/>
            <a:ext cx="1700212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686" name="Group 25"/>
          <p:cNvGrpSpPr>
            <a:grpSpLocks/>
          </p:cNvGrpSpPr>
          <p:nvPr/>
        </p:nvGrpSpPr>
        <p:grpSpPr bwMode="auto">
          <a:xfrm>
            <a:off x="3440113" y="2362200"/>
            <a:ext cx="1671637" cy="500063"/>
            <a:chOff x="4898204" y="2622550"/>
            <a:chExt cx="1672341" cy="500063"/>
          </a:xfrm>
        </p:grpSpPr>
        <p:grpSp>
          <p:nvGrpSpPr>
            <p:cNvPr id="27728" name="Group 53"/>
            <p:cNvGrpSpPr>
              <a:grpSpLocks/>
            </p:cNvGrpSpPr>
            <p:nvPr/>
          </p:nvGrpSpPr>
          <p:grpSpPr bwMode="auto">
            <a:xfrm>
              <a:off x="6162389" y="2895600"/>
              <a:ext cx="408156" cy="215900"/>
              <a:chOff x="6076173" y="2798906"/>
              <a:chExt cx="408002" cy="215957"/>
            </a:xfrm>
          </p:grpSpPr>
          <p:sp>
            <p:nvSpPr>
              <p:cNvPr id="34" name="Oval 33"/>
              <p:cNvSpPr/>
              <p:nvPr/>
            </p:nvSpPr>
            <p:spPr>
              <a:xfrm>
                <a:off x="6076170" y="2798906"/>
                <a:ext cx="107955" cy="215957"/>
              </a:xfrm>
              <a:prstGeom prst="ellipse">
                <a:avLst/>
              </a:prstGeom>
              <a:noFill/>
              <a:ln w="2857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SG"/>
              </a:p>
            </p:txBody>
          </p:sp>
          <p:grpSp>
            <p:nvGrpSpPr>
              <p:cNvPr id="27736" name="Group 28"/>
              <p:cNvGrpSpPr>
                <a:grpSpLocks/>
              </p:cNvGrpSpPr>
              <p:nvPr/>
            </p:nvGrpSpPr>
            <p:grpSpPr bwMode="auto">
              <a:xfrm>
                <a:off x="6266680" y="2822725"/>
                <a:ext cx="217495" cy="160379"/>
                <a:chOff x="2773355" y="4102050"/>
                <a:chExt cx="217495" cy="160379"/>
              </a:xfrm>
            </p:grpSpPr>
            <p:cxnSp>
              <p:nvCxnSpPr>
                <p:cNvPr id="36" name="Straight Connector 35"/>
                <p:cNvCxnSpPr/>
                <p:nvPr/>
              </p:nvCxnSpPr>
              <p:spPr>
                <a:xfrm flipV="1">
                  <a:off x="2773353" y="4102050"/>
                  <a:ext cx="217497" cy="71456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>
                <a:xfrm>
                  <a:off x="2773353" y="4190973"/>
                  <a:ext cx="217497" cy="71456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7729" name="Group 52"/>
            <p:cNvGrpSpPr>
              <a:grpSpLocks/>
            </p:cNvGrpSpPr>
            <p:nvPr/>
          </p:nvGrpSpPr>
          <p:grpSpPr bwMode="auto">
            <a:xfrm>
              <a:off x="4898204" y="2894073"/>
              <a:ext cx="275215" cy="228540"/>
              <a:chOff x="4812475" y="2797379"/>
              <a:chExt cx="275112" cy="228600"/>
            </a:xfrm>
          </p:grpSpPr>
          <p:grpSp>
            <p:nvGrpSpPr>
              <p:cNvPr id="27731" name="Group 31"/>
              <p:cNvGrpSpPr>
                <a:grpSpLocks/>
              </p:cNvGrpSpPr>
              <p:nvPr/>
            </p:nvGrpSpPr>
            <p:grpSpPr bwMode="auto">
              <a:xfrm flipH="1">
                <a:off x="4812475" y="2830277"/>
                <a:ext cx="217012" cy="160825"/>
                <a:chOff x="2754788" y="4102175"/>
                <a:chExt cx="217012" cy="160825"/>
              </a:xfrm>
            </p:grpSpPr>
            <p:cxnSp>
              <p:nvCxnSpPr>
                <p:cNvPr id="32" name="Straight Connector 31"/>
                <p:cNvCxnSpPr/>
                <p:nvPr/>
              </p:nvCxnSpPr>
              <p:spPr>
                <a:xfrm flipV="1">
                  <a:off x="2778116" y="4102563"/>
                  <a:ext cx="193684" cy="71457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/>
              </p:nvCxnSpPr>
              <p:spPr>
                <a:xfrm>
                  <a:off x="2778116" y="4191486"/>
                  <a:ext cx="193684" cy="71457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>
              <a:xfrm>
                <a:off x="5087125" y="2797319"/>
                <a:ext cx="0" cy="22866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Rectangle 28"/>
            <p:cNvSpPr/>
            <p:nvPr/>
          </p:nvSpPr>
          <p:spPr bwMode="auto">
            <a:xfrm>
              <a:off x="5344479" y="2622550"/>
              <a:ext cx="655914" cy="288925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400" b="1" dirty="0">
                  <a:solidFill>
                    <a:srgbClr val="FFFF00"/>
                  </a:solidFill>
                  <a:latin typeface="+mn-lt"/>
                </a:rPr>
                <a:t>handles</a:t>
              </a:r>
            </a:p>
          </p:txBody>
        </p:sp>
      </p:grp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731094"/>
              </p:ext>
            </p:extLst>
          </p:nvPr>
        </p:nvGraphicFramePr>
        <p:xfrm>
          <a:off x="1447800" y="5029200"/>
          <a:ext cx="4953001" cy="1219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62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GB" sz="1400" u="sng" dirty="0" err="1" smtClean="0">
                          <a:solidFill>
                            <a:srgbClr val="C00000"/>
                          </a:solidFill>
                        </a:rPr>
                        <a:t>EmpID</a:t>
                      </a:r>
                      <a:endParaRPr lang="en-US" sz="1400" u="sng" dirty="0">
                        <a:solidFill>
                          <a:srgbClr val="C00000"/>
                        </a:solidFill>
                      </a:endParaRPr>
                    </a:p>
                  </a:txBody>
                  <a:tcPr marL="46800" marR="46800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err="1" smtClean="0"/>
                        <a:t>EmpName</a:t>
                      </a:r>
                      <a:endParaRPr lang="en-US" sz="1400" dirty="0"/>
                    </a:p>
                  </a:txBody>
                  <a:tcPr marL="46800" marR="46800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Professions</a:t>
                      </a:r>
                      <a:endParaRPr lang="en-US" sz="1400" dirty="0"/>
                    </a:p>
                  </a:txBody>
                  <a:tcPr marL="46800" marR="46800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/>
                        <a:t>ChargeRate</a:t>
                      </a:r>
                      <a:endParaRPr lang="en-US" sz="1400" dirty="0"/>
                    </a:p>
                  </a:txBody>
                  <a:tcPr marL="46800" marR="46800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u="sng" dirty="0" err="1" smtClean="0">
                          <a:solidFill>
                            <a:schemeClr val="tx1"/>
                          </a:solidFill>
                        </a:rPr>
                        <a:t>ProjCode</a:t>
                      </a:r>
                      <a:endParaRPr lang="en-US" sz="1400" u="sng" dirty="0">
                        <a:solidFill>
                          <a:schemeClr val="tx1"/>
                        </a:solidFill>
                      </a:endParaRPr>
                    </a:p>
                  </a:txBody>
                  <a:tcPr marL="46800" marR="46800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 smtClean="0">
                          <a:solidFill>
                            <a:srgbClr val="C00000"/>
                          </a:solidFill>
                        </a:rPr>
                        <a:t>E-01</a:t>
                      </a:r>
                      <a:endParaRPr 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 marL="46800" marR="46800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</a:t>
                      </a:r>
                      <a:endParaRPr lang="en-US" sz="1400" dirty="0"/>
                    </a:p>
                  </a:txBody>
                  <a:tcPr marL="46800" marR="46800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Engineer</a:t>
                      </a:r>
                      <a:endParaRPr lang="en-US" sz="1400" dirty="0"/>
                    </a:p>
                  </a:txBody>
                  <a:tcPr marL="46800" marR="46800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$50</a:t>
                      </a:r>
                      <a:endParaRPr lang="en-US" sz="1400" dirty="0"/>
                    </a:p>
                  </a:txBody>
                  <a:tcPr marL="46800" marR="46800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rgbClr val="FF0000"/>
                          </a:solidFill>
                        </a:rPr>
                        <a:t>P-88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46800" marR="46800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 smtClean="0">
                          <a:solidFill>
                            <a:srgbClr val="C00000"/>
                          </a:solidFill>
                        </a:rPr>
                        <a:t>E-01</a:t>
                      </a:r>
                      <a:endParaRPr 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 marL="46800" marR="46800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</a:t>
                      </a:r>
                      <a:endParaRPr lang="en-US" sz="1400" dirty="0"/>
                    </a:p>
                  </a:txBody>
                  <a:tcPr marL="46800" marR="46800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Engineer</a:t>
                      </a:r>
                      <a:endParaRPr lang="en-US" sz="1400" dirty="0"/>
                    </a:p>
                  </a:txBody>
                  <a:tcPr marL="46800" marR="46800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$50</a:t>
                      </a:r>
                      <a:endParaRPr lang="en-US" sz="1400" dirty="0"/>
                    </a:p>
                  </a:txBody>
                  <a:tcPr marL="46800" marR="46800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rgbClr val="FF0000"/>
                          </a:solidFill>
                        </a:rPr>
                        <a:t>P-99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46800" marR="46800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E-02</a:t>
                      </a:r>
                      <a:endParaRPr lang="en-US" sz="1400" dirty="0"/>
                    </a:p>
                  </a:txBody>
                  <a:tcPr marL="46800" marR="46800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err="1" smtClean="0"/>
                        <a:t>Keth</a:t>
                      </a:r>
                      <a:endParaRPr lang="en-US" sz="1400" dirty="0"/>
                    </a:p>
                  </a:txBody>
                  <a:tcPr marL="46800" marR="46800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Designer</a:t>
                      </a:r>
                      <a:endParaRPr lang="en-US" sz="1400" dirty="0"/>
                    </a:p>
                  </a:txBody>
                  <a:tcPr marL="46800" marR="46800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$75</a:t>
                      </a:r>
                      <a:endParaRPr lang="en-US" sz="1400" dirty="0"/>
                    </a:p>
                  </a:txBody>
                  <a:tcPr marL="46800" marR="46800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P-92</a:t>
                      </a:r>
                      <a:endParaRPr lang="en-US" sz="1400" dirty="0"/>
                    </a:p>
                  </a:txBody>
                  <a:tcPr marL="46800" marR="46800" marT="45706" marB="45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" name="Rectangle 39"/>
          <p:cNvSpPr/>
          <p:nvPr/>
        </p:nvSpPr>
        <p:spPr bwMode="auto">
          <a:xfrm>
            <a:off x="1432560" y="6324600"/>
            <a:ext cx="6492240" cy="529376"/>
          </a:xfrm>
          <a:prstGeom prst="rect">
            <a:avLst/>
          </a:prstGeom>
        </p:spPr>
        <p:txBody>
          <a:bodyPr wrap="square" lIns="18288" tIns="18288" rIns="18288" bIns="18288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 smtClean="0">
                <a:solidFill>
                  <a:srgbClr val="FFFF00"/>
                </a:solidFill>
                <a:latin typeface="+mn-lt"/>
              </a:rPr>
              <a:t>It still needs multiple records for the same Employee. in this </a:t>
            </a:r>
            <a:r>
              <a:rPr lang="en-US" sz="1600" b="1" dirty="0">
                <a:solidFill>
                  <a:srgbClr val="FFFF00"/>
                </a:solidFill>
                <a:latin typeface="+mn-lt"/>
              </a:rPr>
              <a:t>case, it prevents an employee from handling more than one project.</a:t>
            </a: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1143000" y="5600700"/>
            <a:ext cx="5349240" cy="395288"/>
            <a:chOff x="1295400" y="5752450"/>
            <a:chExt cx="5349240" cy="396000"/>
          </a:xfrm>
        </p:grpSpPr>
        <p:sp>
          <p:nvSpPr>
            <p:cNvPr id="41" name="Rectangle 40"/>
            <p:cNvSpPr/>
            <p:nvPr/>
          </p:nvSpPr>
          <p:spPr>
            <a:xfrm>
              <a:off x="1524000" y="5752450"/>
              <a:ext cx="5120640" cy="3960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3" name="Straight Connector 2"/>
            <p:cNvCxnSpPr/>
            <p:nvPr/>
          </p:nvCxnSpPr>
          <p:spPr>
            <a:xfrm>
              <a:off x="1295400" y="5951245"/>
              <a:ext cx="5212080" cy="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7" name="Title 1"/>
          <p:cNvSpPr txBox="1">
            <a:spLocks/>
          </p:cNvSpPr>
          <p:nvPr/>
        </p:nvSpPr>
        <p:spPr bwMode="auto">
          <a:xfrm>
            <a:off x="685800" y="417865"/>
            <a:ext cx="657519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Many : Many Relationship Modelling</a:t>
            </a:r>
            <a:endParaRPr lang="en-US" altLang="en-US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 txBox="1">
            <a:spLocks/>
          </p:cNvSpPr>
          <p:nvPr/>
        </p:nvSpPr>
        <p:spPr bwMode="auto">
          <a:xfrm>
            <a:off x="685800" y="352098"/>
            <a:ext cx="527080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 : N Relationship Modelling</a:t>
            </a:r>
            <a:endParaRPr lang="en-US" altLang="en-US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 bwMode="auto">
          <a:xfrm>
            <a:off x="692150" y="1066800"/>
            <a:ext cx="7954963" cy="153828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lIns="36000" tIns="36000" rIns="36000" bIns="360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Font typeface="Arial" charset="0"/>
              <a:buNone/>
              <a:defRPr/>
            </a:pPr>
            <a:r>
              <a:rPr lang="en-US" altLang="en-US" sz="2400" u="sng" dirty="0" smtClean="0"/>
              <a:t>Rule for M:N relationship</a:t>
            </a:r>
            <a:r>
              <a:rPr lang="en-US" altLang="en-US" sz="2400" dirty="0" smtClean="0"/>
              <a:t>:</a:t>
            </a:r>
          </a:p>
          <a:p>
            <a:pPr marL="0" indent="0"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altLang="en-US" sz="2400" dirty="0"/>
              <a:t>A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M</a:t>
            </a:r>
            <a:r>
              <a:rPr lang="en-US" altLang="en-US" sz="2400" dirty="0" smtClean="0"/>
              <a:t>:N relationship can be modelled by inserting </a:t>
            </a:r>
            <a:r>
              <a:rPr lang="en-US" sz="2400" dirty="0"/>
              <a:t>an </a:t>
            </a:r>
            <a:r>
              <a:rPr lang="en-US" sz="2400" dirty="0">
                <a:solidFill>
                  <a:srgbClr val="FF0000"/>
                </a:solidFill>
              </a:rPr>
              <a:t>intersection relation</a:t>
            </a:r>
            <a:r>
              <a:rPr lang="en-US" sz="2400" dirty="0"/>
              <a:t> </a:t>
            </a:r>
            <a:r>
              <a:rPr lang="en-US" sz="2400" dirty="0" smtClean="0"/>
              <a:t>(or composite </a:t>
            </a:r>
            <a:r>
              <a:rPr lang="en-US" sz="2400" dirty="0"/>
              <a:t>relation) with a </a:t>
            </a:r>
            <a:r>
              <a:rPr lang="en-US" sz="2400" dirty="0">
                <a:solidFill>
                  <a:srgbClr val="FF0000"/>
                </a:solidFill>
              </a:rPr>
              <a:t>composite key </a:t>
            </a:r>
            <a:r>
              <a:rPr lang="en-US" sz="2400" dirty="0"/>
              <a:t>coming from the keys of both original relations</a:t>
            </a:r>
            <a:r>
              <a:rPr lang="en-US" altLang="en-US" sz="2400" dirty="0" smtClean="0"/>
              <a:t>.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656898" y="2727434"/>
            <a:ext cx="7791450" cy="81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Font typeface="Courier New" panose="02070309020205020404" pitchFamily="49" charset="0"/>
              <a:buChar char="o"/>
              <a:defRPr/>
            </a:pPr>
            <a:r>
              <a:rPr lang="en-US" altLang="en-US" sz="2400" dirty="0" smtClean="0">
                <a:solidFill>
                  <a:schemeClr val="bg1"/>
                </a:solidFill>
                <a:cs typeface="Times New Roman" pitchFamily="18" charset="0"/>
              </a:rPr>
              <a:t>Key attributes in the example:</a:t>
            </a:r>
          </a:p>
          <a:p>
            <a:pPr marL="346075" indent="0">
              <a:buNone/>
              <a:defRPr/>
            </a:pPr>
            <a:r>
              <a:rPr lang="en-US" altLang="en-US" sz="2000" b="1" dirty="0" smtClean="0">
                <a:solidFill>
                  <a:schemeClr val="bg1"/>
                </a:solidFill>
                <a:cs typeface="Times New Roman" pitchFamily="18" charset="0"/>
              </a:rPr>
              <a:t>EMPLOYEES</a:t>
            </a:r>
            <a:r>
              <a:rPr lang="en-US" altLang="en-US" sz="2000" dirty="0" smtClean="0">
                <a:solidFill>
                  <a:schemeClr val="bg1"/>
                </a:solidFill>
                <a:cs typeface="Times New Roman" pitchFamily="18" charset="0"/>
              </a:rPr>
              <a:t> entity – ‘</a:t>
            </a:r>
            <a:r>
              <a:rPr lang="en-US" altLang="en-US" sz="2000" b="1" dirty="0" err="1" smtClean="0">
                <a:solidFill>
                  <a:srgbClr val="FFFF00"/>
                </a:solidFill>
                <a:cs typeface="Times New Roman" pitchFamily="18" charset="0"/>
              </a:rPr>
              <a:t>EmpID</a:t>
            </a:r>
            <a:r>
              <a:rPr lang="en-US" altLang="en-US" sz="2000" dirty="0" smtClean="0">
                <a:solidFill>
                  <a:schemeClr val="bg1"/>
                </a:solidFill>
                <a:cs typeface="Times New Roman" pitchFamily="18" charset="0"/>
              </a:rPr>
              <a:t>’,        </a:t>
            </a:r>
            <a:r>
              <a:rPr lang="en-US" altLang="en-US" sz="2000" b="1" dirty="0" smtClean="0">
                <a:solidFill>
                  <a:schemeClr val="bg1"/>
                </a:solidFill>
                <a:cs typeface="Times New Roman" pitchFamily="18" charset="0"/>
              </a:rPr>
              <a:t>PROJECTS</a:t>
            </a:r>
            <a:r>
              <a:rPr lang="en-US" altLang="en-US" sz="2000" dirty="0" smtClean="0">
                <a:solidFill>
                  <a:schemeClr val="bg1"/>
                </a:solidFill>
                <a:cs typeface="Times New Roman" pitchFamily="18" charset="0"/>
              </a:rPr>
              <a:t> entity – ‘</a:t>
            </a:r>
            <a:r>
              <a:rPr lang="en-US" altLang="en-US" sz="2000" b="1" dirty="0" err="1" smtClean="0">
                <a:solidFill>
                  <a:srgbClr val="FFFF00"/>
                </a:solidFill>
                <a:cs typeface="Times New Roman" pitchFamily="18" charset="0"/>
              </a:rPr>
              <a:t>ProjCode</a:t>
            </a:r>
            <a:r>
              <a:rPr lang="en-US" altLang="en-US" sz="2000" dirty="0" smtClean="0">
                <a:solidFill>
                  <a:schemeClr val="bg1"/>
                </a:solidFill>
                <a:cs typeface="Times New Roman" pitchFamily="18" charset="0"/>
              </a:rPr>
              <a:t>’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 bwMode="auto">
          <a:xfrm>
            <a:off x="457200" y="6096000"/>
            <a:ext cx="8458199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20" rIns="4572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altLang="en-US" sz="20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By the rule, it should insert an intersection relation with ‘</a:t>
            </a:r>
            <a:r>
              <a:rPr lang="en-GB" altLang="en-US" sz="2000" b="1" dirty="0" err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EmpID</a:t>
            </a:r>
            <a:r>
              <a:rPr lang="en-GB" altLang="en-US" sz="20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’ and ‘</a:t>
            </a:r>
            <a:r>
              <a:rPr lang="en-GB" altLang="en-US" sz="2000" b="1" dirty="0" err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ProjCode</a:t>
            </a:r>
            <a:r>
              <a:rPr lang="en-GB" altLang="en-US" sz="20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’ as the composite key.</a:t>
            </a:r>
            <a:endParaRPr lang="en-US" altLang="en-US" sz="2000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737084"/>
              </p:ext>
            </p:extLst>
          </p:nvPr>
        </p:nvGraphicFramePr>
        <p:xfrm>
          <a:off x="5562600" y="3886200"/>
          <a:ext cx="1143000" cy="173193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119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PROJECTS</a:t>
                      </a:r>
                      <a:endParaRPr lang="en-SG" sz="18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33" marB="3603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119">
                <a:tc>
                  <a:txBody>
                    <a:bodyPr/>
                    <a:lstStyle/>
                    <a:p>
                      <a:pPr algn="ctr"/>
                      <a:r>
                        <a:rPr lang="en-GB" sz="1800" b="1" u="sng" dirty="0" err="1" smtClean="0">
                          <a:solidFill>
                            <a:schemeClr val="tx1"/>
                          </a:solidFill>
                        </a:rPr>
                        <a:t>ProjCode</a:t>
                      </a:r>
                      <a:endParaRPr lang="en-SG" sz="18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33" marB="3603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ProjTitle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3" marB="3603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ProjCost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3" marB="3603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ProjMgr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3" marB="3603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5105400" y="5746298"/>
            <a:ext cx="1683337" cy="349702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Entity: PROJECTS</a:t>
            </a:r>
          </a:p>
        </p:txBody>
      </p:sp>
      <p:sp>
        <p:nvSpPr>
          <p:cNvPr id="24" name="Rectangle 23"/>
          <p:cNvSpPr/>
          <p:nvPr/>
        </p:nvSpPr>
        <p:spPr bwMode="auto">
          <a:xfrm>
            <a:off x="1752600" y="5743575"/>
            <a:ext cx="1879608" cy="349702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Entity: EMPLOYEES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367956"/>
              </p:ext>
            </p:extLst>
          </p:nvPr>
        </p:nvGraphicFramePr>
        <p:xfrm>
          <a:off x="1905000" y="3837296"/>
          <a:ext cx="1463040" cy="173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861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EMPLOYEES</a:t>
                      </a:r>
                      <a:endParaRPr lang="en-SG" sz="18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861">
                <a:tc>
                  <a:txBody>
                    <a:bodyPr/>
                    <a:lstStyle/>
                    <a:p>
                      <a:pPr algn="ctr"/>
                      <a:r>
                        <a:rPr lang="en-GB" sz="1800" b="0" u="sng" dirty="0" err="1" smtClean="0">
                          <a:solidFill>
                            <a:schemeClr val="tx1"/>
                          </a:solidFill>
                        </a:rPr>
                        <a:t>EmpID</a:t>
                      </a:r>
                      <a:endParaRPr lang="en-SG" sz="18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EmpName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C00000"/>
                          </a:solidFill>
                        </a:rPr>
                        <a:t>Professions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ChargeRate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0" name="Straight Connector 29"/>
          <p:cNvCxnSpPr/>
          <p:nvPr/>
        </p:nvCxnSpPr>
        <p:spPr bwMode="auto">
          <a:xfrm>
            <a:off x="3352800" y="4800600"/>
            <a:ext cx="219456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/>
          <p:cNvGrpSpPr>
            <a:grpSpLocks/>
          </p:cNvGrpSpPr>
          <p:nvPr/>
        </p:nvGrpSpPr>
        <p:grpSpPr bwMode="auto">
          <a:xfrm>
            <a:off x="3352790" y="4343400"/>
            <a:ext cx="2193281" cy="576276"/>
            <a:chOff x="4736146" y="2546350"/>
            <a:chExt cx="2195013" cy="576276"/>
          </a:xfrm>
        </p:grpSpPr>
        <p:grpSp>
          <p:nvGrpSpPr>
            <p:cNvPr id="29736" name="Group 53"/>
            <p:cNvGrpSpPr>
              <a:grpSpLocks/>
            </p:cNvGrpSpPr>
            <p:nvPr/>
          </p:nvGrpSpPr>
          <p:grpSpPr bwMode="auto">
            <a:xfrm>
              <a:off x="6413874" y="2848306"/>
              <a:ext cx="517285" cy="274320"/>
              <a:chOff x="6327576" y="2751596"/>
              <a:chExt cx="517091" cy="274392"/>
            </a:xfrm>
          </p:grpSpPr>
          <p:sp>
            <p:nvSpPr>
              <p:cNvPr id="39" name="Oval 38"/>
              <p:cNvSpPr/>
              <p:nvPr/>
            </p:nvSpPr>
            <p:spPr>
              <a:xfrm>
                <a:off x="6327576" y="2751596"/>
                <a:ext cx="137217" cy="274392"/>
              </a:xfrm>
              <a:prstGeom prst="ellipse">
                <a:avLst/>
              </a:prstGeom>
              <a:noFill/>
              <a:ln w="381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SG"/>
              </a:p>
            </p:txBody>
          </p:sp>
          <p:grpSp>
            <p:nvGrpSpPr>
              <p:cNvPr id="29744" name="Group 28"/>
              <p:cNvGrpSpPr>
                <a:grpSpLocks/>
              </p:cNvGrpSpPr>
              <p:nvPr/>
            </p:nvGrpSpPr>
            <p:grpSpPr bwMode="auto">
              <a:xfrm>
                <a:off x="6564743" y="2791184"/>
                <a:ext cx="279924" cy="227697"/>
                <a:chOff x="3071418" y="4070509"/>
                <a:chExt cx="279924" cy="227697"/>
              </a:xfrm>
            </p:grpSpPr>
            <p:cxnSp>
              <p:nvCxnSpPr>
                <p:cNvPr id="41" name="Straight Connector 40"/>
                <p:cNvCxnSpPr/>
                <p:nvPr/>
              </p:nvCxnSpPr>
              <p:spPr>
                <a:xfrm flipV="1">
                  <a:off x="3071418" y="4070509"/>
                  <a:ext cx="274434" cy="91464"/>
                </a:xfrm>
                <a:prstGeom prst="line">
                  <a:avLst/>
                </a:prstGeom>
                <a:ln w="3810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>
                <a:xfrm>
                  <a:off x="3076908" y="4206742"/>
                  <a:ext cx="274434" cy="91464"/>
                </a:xfrm>
                <a:prstGeom prst="line">
                  <a:avLst/>
                </a:prstGeom>
                <a:ln w="3810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9737" name="Group 52"/>
            <p:cNvGrpSpPr>
              <a:grpSpLocks/>
            </p:cNvGrpSpPr>
            <p:nvPr/>
          </p:nvGrpSpPr>
          <p:grpSpPr bwMode="auto">
            <a:xfrm>
              <a:off x="4736146" y="2846715"/>
              <a:ext cx="381308" cy="274320"/>
              <a:chOff x="4650498" y="2750009"/>
              <a:chExt cx="381167" cy="274392"/>
            </a:xfrm>
          </p:grpSpPr>
          <p:grpSp>
            <p:nvGrpSpPr>
              <p:cNvPr id="29739" name="Group 31"/>
              <p:cNvGrpSpPr>
                <a:grpSpLocks/>
              </p:cNvGrpSpPr>
              <p:nvPr/>
            </p:nvGrpSpPr>
            <p:grpSpPr bwMode="auto">
              <a:xfrm flipH="1">
                <a:off x="4650498" y="2814895"/>
                <a:ext cx="274436" cy="180387"/>
                <a:chOff x="2859341" y="4086793"/>
                <a:chExt cx="274436" cy="180387"/>
              </a:xfrm>
            </p:grpSpPr>
            <p:cxnSp>
              <p:nvCxnSpPr>
                <p:cNvPr id="37" name="Straight Connector 36"/>
                <p:cNvCxnSpPr/>
                <p:nvPr/>
              </p:nvCxnSpPr>
              <p:spPr>
                <a:xfrm flipV="1">
                  <a:off x="2859342" y="4086793"/>
                  <a:ext cx="274435" cy="91464"/>
                </a:xfrm>
                <a:prstGeom prst="line">
                  <a:avLst/>
                </a:prstGeom>
                <a:ln w="3810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>
                <a:xfrm>
                  <a:off x="2859341" y="4175716"/>
                  <a:ext cx="274435" cy="91464"/>
                </a:xfrm>
                <a:prstGeom prst="line">
                  <a:avLst/>
                </a:prstGeom>
                <a:ln w="3810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Straight Connector 35"/>
              <p:cNvCxnSpPr/>
              <p:nvPr/>
            </p:nvCxnSpPr>
            <p:spPr>
              <a:xfrm>
                <a:off x="5031665" y="2750009"/>
                <a:ext cx="0" cy="274392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Rectangle 33"/>
            <p:cNvSpPr/>
            <p:nvPr/>
          </p:nvSpPr>
          <p:spPr bwMode="auto">
            <a:xfrm>
              <a:off x="5346232" y="2546350"/>
              <a:ext cx="908585" cy="380480"/>
            </a:xfrm>
            <a:prstGeom prst="rect">
              <a:avLst/>
            </a:prstGeom>
            <a:ln w="38100">
              <a:noFill/>
            </a:ln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2000" b="1" dirty="0">
                  <a:solidFill>
                    <a:srgbClr val="FFFF00"/>
                  </a:solidFill>
                  <a:latin typeface="+mn-lt"/>
                </a:rPr>
                <a:t>handles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ctrTitle" idx="4294967295"/>
          </p:nvPr>
        </p:nvSpPr>
        <p:spPr>
          <a:xfrm>
            <a:off x="693302" y="365234"/>
            <a:ext cx="5030599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 : N Relationship Modelling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723" name="Rectangle 3"/>
          <p:cNvSpPr txBox="1">
            <a:spLocks noChangeArrowheads="1"/>
          </p:cNvSpPr>
          <p:nvPr/>
        </p:nvSpPr>
        <p:spPr bwMode="auto">
          <a:xfrm>
            <a:off x="685800" y="1219200"/>
            <a:ext cx="7791450" cy="503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chemeClr val="bg1"/>
                </a:solidFill>
                <a:cs typeface="Times New Roman" panose="02020603050405020304" pitchFamily="18" charset="0"/>
              </a:rPr>
              <a:t>Hence, the modelled relationship should be: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868576"/>
              </p:ext>
            </p:extLst>
          </p:nvPr>
        </p:nvGraphicFramePr>
        <p:xfrm>
          <a:off x="6750050" y="2376488"/>
          <a:ext cx="1280160" cy="16713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119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PROJECTS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33" marB="3603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119">
                <a:tc>
                  <a:txBody>
                    <a:bodyPr/>
                    <a:lstStyle/>
                    <a:p>
                      <a:pPr algn="ctr"/>
                      <a:r>
                        <a:rPr lang="en-GB" sz="1600" b="1" u="sng" dirty="0" err="1" smtClean="0">
                          <a:solidFill>
                            <a:schemeClr val="tx1"/>
                          </a:solidFill>
                        </a:rPr>
                        <a:t>ProjCode</a:t>
                      </a:r>
                      <a:r>
                        <a:rPr lang="en-GB" sz="1600" b="1" u="sng" dirty="0" smtClean="0">
                          <a:solidFill>
                            <a:schemeClr val="tx1"/>
                          </a:solidFill>
                        </a:rPr>
                        <a:t>(PK_</a:t>
                      </a:r>
                      <a:endParaRPr lang="en-SG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33" marB="3603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ProjTitle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3" marB="3603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ProjCost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3" marB="3603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612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ProjMgr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3" marB="3603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087897"/>
              </p:ext>
            </p:extLst>
          </p:nvPr>
        </p:nvGraphicFramePr>
        <p:xfrm>
          <a:off x="3946439" y="2597150"/>
          <a:ext cx="1188720" cy="12636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EMP-PROJ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18" marR="36018" marT="36010" marB="3601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endParaRPr lang="en-SG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36018" marR="36018" marT="36010" marB="3601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endParaRPr lang="en-SG" sz="1600" u="sng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36010" marB="3601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36010" marB="3601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6638448" y="4136532"/>
            <a:ext cx="1683337" cy="349702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Entity: PROJECTS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5350" y="4176713"/>
            <a:ext cx="1879608" cy="349702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Entity: EMPLOYEES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1752600" y="5319876"/>
            <a:ext cx="5660195" cy="349702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EMPLOYEES ( </a:t>
            </a:r>
            <a:r>
              <a:rPr lang="en-US" b="1" u="sng" dirty="0" err="1">
                <a:solidFill>
                  <a:schemeClr val="bg1"/>
                </a:solidFill>
                <a:latin typeface="+mn-lt"/>
              </a:rPr>
              <a:t>EmpID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dirty="0" err="1">
                <a:solidFill>
                  <a:srgbClr val="FFC000"/>
                </a:solidFill>
                <a:latin typeface="+mn-lt"/>
              </a:rPr>
              <a:t>EmpName</a:t>
            </a:r>
            <a:r>
              <a:rPr lang="en-US" dirty="0">
                <a:solidFill>
                  <a:srgbClr val="FFC000"/>
                </a:solidFill>
                <a:latin typeface="+mn-lt"/>
              </a:rPr>
              <a:t>, Professions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strike="sngStrike" dirty="0" err="1" smtClean="0">
                <a:solidFill>
                  <a:srgbClr val="FFFF00"/>
                </a:solidFill>
                <a:latin typeface="+mn-lt"/>
              </a:rPr>
              <a:t>ChargeRate</a:t>
            </a:r>
            <a:r>
              <a:rPr lang="en-US" b="1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694507"/>
              </p:ext>
            </p:extLst>
          </p:nvPr>
        </p:nvGraphicFramePr>
        <p:xfrm>
          <a:off x="990600" y="2057400"/>
          <a:ext cx="1280160" cy="173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861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EMPLOYEES</a:t>
                      </a:r>
                      <a:endParaRPr lang="en-SG" sz="18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861">
                <a:tc>
                  <a:txBody>
                    <a:bodyPr/>
                    <a:lstStyle/>
                    <a:p>
                      <a:pPr algn="ctr"/>
                      <a:r>
                        <a:rPr lang="en-GB" sz="1800" b="0" u="sng" dirty="0" err="1" smtClean="0">
                          <a:solidFill>
                            <a:schemeClr val="tx1"/>
                          </a:solidFill>
                        </a:rPr>
                        <a:t>EmpID</a:t>
                      </a:r>
                      <a:r>
                        <a:rPr lang="en-GB" sz="1800" b="0" u="sng" dirty="0" smtClean="0">
                          <a:solidFill>
                            <a:schemeClr val="tx1"/>
                          </a:solidFill>
                        </a:rPr>
                        <a:t>(PK)</a:t>
                      </a:r>
                      <a:endParaRPr lang="en-SG" sz="18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err="1" smtClean="0">
                          <a:solidFill>
                            <a:srgbClr val="C00000"/>
                          </a:solidFill>
                        </a:rPr>
                        <a:t>EmpName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C00000"/>
                          </a:solidFill>
                        </a:rPr>
                        <a:t>Professions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en-SG" sz="1800" strike="sngStrike" baseline="0" dirty="0" err="1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ChargeRate</a:t>
                      </a:r>
                      <a:endParaRPr lang="en-SG" sz="1800" strike="sngStrike" baseline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marL="35985" marR="35985" marT="36004" marB="36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3657600" y="3993698"/>
            <a:ext cx="1968800" cy="349702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(Intersection Entity)</a:t>
            </a: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2258704" y="2133599"/>
            <a:ext cx="1684229" cy="1039806"/>
            <a:chOff x="2342681" y="2133955"/>
            <a:chExt cx="1685251" cy="1038970"/>
          </a:xfrm>
        </p:grpSpPr>
        <p:grpSp>
          <p:nvGrpSpPr>
            <p:cNvPr id="30795" name="Group 10"/>
            <p:cNvGrpSpPr>
              <a:grpSpLocks/>
            </p:cNvGrpSpPr>
            <p:nvPr/>
          </p:nvGrpSpPr>
          <p:grpSpPr bwMode="auto">
            <a:xfrm flipH="1">
              <a:off x="3618109" y="2957199"/>
              <a:ext cx="397839" cy="215726"/>
              <a:chOff x="3564925" y="4568845"/>
              <a:chExt cx="397839" cy="215726"/>
            </a:xfrm>
          </p:grpSpPr>
          <p:sp>
            <p:nvSpPr>
              <p:cNvPr id="12" name="Oval 11"/>
              <p:cNvSpPr/>
              <p:nvPr/>
            </p:nvSpPr>
            <p:spPr bwMode="auto">
              <a:xfrm>
                <a:off x="3854749" y="4568845"/>
                <a:ext cx="108015" cy="215726"/>
              </a:xfrm>
              <a:prstGeom prst="ellipse">
                <a:avLst/>
              </a:prstGeom>
              <a:noFill/>
              <a:ln w="381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SG"/>
              </a:p>
            </p:txBody>
          </p:sp>
          <p:grpSp>
            <p:nvGrpSpPr>
              <p:cNvPr id="30804" name="Group 31"/>
              <p:cNvGrpSpPr>
                <a:grpSpLocks/>
              </p:cNvGrpSpPr>
              <p:nvPr/>
            </p:nvGrpSpPr>
            <p:grpSpPr bwMode="auto">
              <a:xfrm flipH="1">
                <a:off x="3564925" y="4592644"/>
                <a:ext cx="217619" cy="161795"/>
                <a:chOff x="2780631" y="4101798"/>
                <a:chExt cx="217538" cy="161837"/>
              </a:xfrm>
            </p:grpSpPr>
            <p:cxnSp>
              <p:nvCxnSpPr>
                <p:cNvPr id="14" name="Straight Connector 13"/>
                <p:cNvCxnSpPr/>
                <p:nvPr/>
              </p:nvCxnSpPr>
              <p:spPr>
                <a:xfrm flipV="1">
                  <a:off x="2779907" y="4101792"/>
                  <a:ext cx="217539" cy="72985"/>
                </a:xfrm>
                <a:prstGeom prst="line">
                  <a:avLst/>
                </a:prstGeom>
                <a:ln w="3810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/>
              </p:nvCxnSpPr>
              <p:spPr>
                <a:xfrm>
                  <a:off x="2779907" y="4192230"/>
                  <a:ext cx="217539" cy="71398"/>
                </a:xfrm>
                <a:prstGeom prst="line">
                  <a:avLst/>
                </a:prstGeom>
                <a:ln w="3810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6" name="Rectangle 15"/>
            <p:cNvSpPr/>
            <p:nvPr/>
          </p:nvSpPr>
          <p:spPr bwMode="auto">
            <a:xfrm>
              <a:off x="2866658" y="2133955"/>
              <a:ext cx="714915" cy="380173"/>
            </a:xfrm>
            <a:prstGeom prst="rect">
              <a:avLst/>
            </a:prstGeom>
            <a:ln w="38100">
              <a:noFill/>
            </a:ln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2000" b="1" dirty="0">
                  <a:solidFill>
                    <a:srgbClr val="FFFF00"/>
                  </a:solidFill>
                  <a:latin typeface="+mn-lt"/>
                </a:rPr>
                <a:t>works</a:t>
              </a:r>
            </a:p>
          </p:txBody>
        </p:sp>
        <p:grpSp>
          <p:nvGrpSpPr>
            <p:cNvPr id="30797" name="Group 16"/>
            <p:cNvGrpSpPr>
              <a:grpSpLocks/>
            </p:cNvGrpSpPr>
            <p:nvPr/>
          </p:nvGrpSpPr>
          <p:grpSpPr bwMode="auto">
            <a:xfrm>
              <a:off x="2458313" y="2438511"/>
              <a:ext cx="107798" cy="226829"/>
              <a:chOff x="2927388" y="3629961"/>
              <a:chExt cx="107798" cy="226829"/>
            </a:xfrm>
          </p:grpSpPr>
          <p:cxnSp>
            <p:nvCxnSpPr>
              <p:cNvPr id="18" name="Straight Connector 17"/>
              <p:cNvCxnSpPr/>
              <p:nvPr/>
            </p:nvCxnSpPr>
            <p:spPr bwMode="auto">
              <a:xfrm>
                <a:off x="2927388" y="3629961"/>
                <a:ext cx="0" cy="226829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 bwMode="auto">
              <a:xfrm>
                <a:off x="3035186" y="3629961"/>
                <a:ext cx="0" cy="226829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Straight Connector 31"/>
            <p:cNvCxnSpPr/>
            <p:nvPr/>
          </p:nvCxnSpPr>
          <p:spPr bwMode="auto">
            <a:xfrm flipV="1">
              <a:off x="2342681" y="2575035"/>
              <a:ext cx="835531" cy="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auto">
            <a:xfrm flipV="1">
              <a:off x="3192401" y="3065062"/>
              <a:ext cx="835531" cy="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3193988" y="2559282"/>
              <a:ext cx="0" cy="502516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3565634" y="2933700"/>
            <a:ext cx="1996967" cy="612612"/>
            <a:chOff x="3566359" y="2933275"/>
            <a:chExt cx="1996822" cy="613815"/>
          </a:xfrm>
        </p:grpSpPr>
        <p:sp>
          <p:nvSpPr>
            <p:cNvPr id="30" name="Rectangle 29"/>
            <p:cNvSpPr/>
            <p:nvPr/>
          </p:nvSpPr>
          <p:spPr>
            <a:xfrm>
              <a:off x="3566359" y="3227540"/>
              <a:ext cx="407701" cy="319550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600" b="1" dirty="0">
                  <a:solidFill>
                    <a:srgbClr val="FFFF00"/>
                  </a:solidFill>
                  <a:latin typeface="+mn-lt"/>
                </a:rPr>
                <a:t>(FK)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155479" y="2933275"/>
              <a:ext cx="407702" cy="319550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600" b="1" dirty="0">
                  <a:solidFill>
                    <a:srgbClr val="FFFF00"/>
                  </a:solidFill>
                  <a:latin typeface="+mn-lt"/>
                </a:rPr>
                <a:t>(FK)</a:t>
              </a:r>
            </a:p>
          </p:txBody>
        </p:sp>
      </p:grpSp>
      <p:grpSp>
        <p:nvGrpSpPr>
          <p:cNvPr id="45" name="Group 44"/>
          <p:cNvGrpSpPr>
            <a:grpSpLocks/>
          </p:cNvGrpSpPr>
          <p:nvPr/>
        </p:nvGrpSpPr>
        <p:grpSpPr bwMode="auto">
          <a:xfrm>
            <a:off x="5122752" y="2362201"/>
            <a:ext cx="1627297" cy="1100137"/>
            <a:chOff x="5122960" y="2361805"/>
            <a:chExt cx="1626397" cy="1100112"/>
          </a:xfrm>
        </p:grpSpPr>
        <p:cxnSp>
          <p:nvCxnSpPr>
            <p:cNvPr id="24" name="Straight Connector 23"/>
            <p:cNvCxnSpPr/>
            <p:nvPr/>
          </p:nvCxnSpPr>
          <p:spPr>
            <a:xfrm flipV="1">
              <a:off x="5932138" y="2831693"/>
              <a:ext cx="0" cy="503227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auto">
            <a:xfrm flipV="1">
              <a:off x="5122960" y="3339682"/>
              <a:ext cx="822505" cy="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auto">
            <a:xfrm flipV="1">
              <a:off x="5914794" y="2828518"/>
              <a:ext cx="834563" cy="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785" name="Group 1"/>
            <p:cNvGrpSpPr>
              <a:grpSpLocks/>
            </p:cNvGrpSpPr>
            <p:nvPr/>
          </p:nvGrpSpPr>
          <p:grpSpPr bwMode="auto">
            <a:xfrm>
              <a:off x="5134176" y="3233322"/>
              <a:ext cx="320717" cy="228595"/>
              <a:chOff x="3580601" y="4843468"/>
              <a:chExt cx="320717" cy="228595"/>
            </a:xfrm>
          </p:grpSpPr>
          <p:cxnSp>
            <p:nvCxnSpPr>
              <p:cNvPr id="35" name="Straight Connector 34"/>
              <p:cNvCxnSpPr/>
              <p:nvPr/>
            </p:nvCxnSpPr>
            <p:spPr bwMode="auto">
              <a:xfrm flipH="1" flipV="1">
                <a:off x="3580601" y="4876804"/>
                <a:ext cx="217368" cy="71436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auto">
              <a:xfrm flipH="1">
                <a:off x="3580601" y="4965702"/>
                <a:ext cx="217368" cy="71436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auto">
              <a:xfrm>
                <a:off x="3901318" y="4843468"/>
                <a:ext cx="0" cy="228595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786" name="Group 37"/>
            <p:cNvGrpSpPr>
              <a:grpSpLocks/>
            </p:cNvGrpSpPr>
            <p:nvPr/>
          </p:nvGrpSpPr>
          <p:grpSpPr bwMode="auto">
            <a:xfrm>
              <a:off x="6542398" y="2721037"/>
              <a:ext cx="76200" cy="227013"/>
              <a:chOff x="2895600" y="3948112"/>
              <a:chExt cx="76200" cy="227013"/>
            </a:xfrm>
          </p:grpSpPr>
          <p:cxnSp>
            <p:nvCxnSpPr>
              <p:cNvPr id="39" name="Straight Connector 38"/>
              <p:cNvCxnSpPr/>
              <p:nvPr/>
            </p:nvCxnSpPr>
            <p:spPr bwMode="auto">
              <a:xfrm>
                <a:off x="2896299" y="3947646"/>
                <a:ext cx="0" cy="227008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 bwMode="auto">
              <a:xfrm>
                <a:off x="2972457" y="3947646"/>
                <a:ext cx="0" cy="227008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Rectangle 40"/>
            <p:cNvSpPr/>
            <p:nvPr/>
          </p:nvSpPr>
          <p:spPr bwMode="auto">
            <a:xfrm>
              <a:off x="5562564" y="2361805"/>
              <a:ext cx="828862" cy="380471"/>
            </a:xfrm>
            <a:prstGeom prst="rect">
              <a:avLst/>
            </a:prstGeom>
            <a:ln w="38100">
              <a:noFill/>
            </a:ln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2000" b="1" dirty="0">
                  <a:solidFill>
                    <a:srgbClr val="FFFF00"/>
                  </a:solidFill>
                  <a:latin typeface="+mn-lt"/>
                </a:rPr>
                <a:t>assigns</a:t>
              </a:r>
            </a:p>
          </p:txBody>
        </p:sp>
      </p:grpSp>
      <p:sp>
        <p:nvSpPr>
          <p:cNvPr id="42" name="Rectangle 41"/>
          <p:cNvSpPr/>
          <p:nvPr/>
        </p:nvSpPr>
        <p:spPr bwMode="auto">
          <a:xfrm>
            <a:off x="1828800" y="5822498"/>
            <a:ext cx="4222814" cy="349702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EMP_PROJ ( </a:t>
            </a:r>
            <a:r>
              <a:rPr lang="en-US" b="1" dirty="0" err="1">
                <a:solidFill>
                  <a:schemeClr val="bg1"/>
                </a:solidFill>
                <a:latin typeface="+mn-lt"/>
              </a:rPr>
              <a:t>EmpID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b="1" dirty="0" err="1">
                <a:solidFill>
                  <a:schemeClr val="bg1"/>
                </a:solidFill>
                <a:latin typeface="+mn-lt"/>
              </a:rPr>
              <a:t>ProjCode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b="1" dirty="0" err="1">
                <a:solidFill>
                  <a:srgbClr val="FFFF00"/>
                </a:solidFill>
                <a:latin typeface="+mn-lt"/>
              </a:rPr>
              <a:t>ChargeRate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 )</a:t>
            </a:r>
          </a:p>
        </p:txBody>
      </p:sp>
      <p:sp>
        <p:nvSpPr>
          <p:cNvPr id="43" name="Rectangle 42"/>
          <p:cNvSpPr/>
          <p:nvPr/>
        </p:nvSpPr>
        <p:spPr bwMode="auto">
          <a:xfrm>
            <a:off x="1948563" y="6293346"/>
            <a:ext cx="4833237" cy="349702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PROJECTS ( </a:t>
            </a:r>
            <a:r>
              <a:rPr lang="en-US" b="1" u="sng" dirty="0" err="1">
                <a:solidFill>
                  <a:schemeClr val="bg1"/>
                </a:solidFill>
                <a:latin typeface="+mn-lt"/>
              </a:rPr>
              <a:t>ProjCode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dirty="0" err="1">
                <a:solidFill>
                  <a:srgbClr val="FFC000"/>
                </a:solidFill>
                <a:latin typeface="+mn-lt"/>
              </a:rPr>
              <a:t>ProjTitle</a:t>
            </a:r>
            <a:r>
              <a:rPr lang="en-US" dirty="0">
                <a:solidFill>
                  <a:srgbClr val="FFC000"/>
                </a:solidFill>
                <a:latin typeface="+mn-lt"/>
              </a:rPr>
              <a:t>, </a:t>
            </a:r>
            <a:r>
              <a:rPr lang="en-US" dirty="0" err="1">
                <a:solidFill>
                  <a:srgbClr val="FFC000"/>
                </a:solidFill>
                <a:latin typeface="+mn-lt"/>
              </a:rPr>
              <a:t>ProjCost</a:t>
            </a:r>
            <a:r>
              <a:rPr lang="en-US" dirty="0">
                <a:solidFill>
                  <a:srgbClr val="FFC000"/>
                </a:solidFill>
                <a:latin typeface="+mn-lt"/>
              </a:rPr>
              <a:t>, </a:t>
            </a:r>
            <a:r>
              <a:rPr lang="en-US" dirty="0" err="1">
                <a:solidFill>
                  <a:srgbClr val="FFC000"/>
                </a:solidFill>
                <a:latin typeface="+mn-lt"/>
              </a:rPr>
              <a:t>ProjMgr</a:t>
            </a:r>
            <a:r>
              <a:rPr lang="en-US" b="1" dirty="0">
                <a:solidFill>
                  <a:srgbClr val="FFC000"/>
                </a:solidFill>
                <a:latin typeface="+mn-lt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05200" y="4343400"/>
            <a:ext cx="2955159" cy="318924"/>
          </a:xfrm>
          <a:prstGeom prst="rect">
            <a:avLst/>
          </a:prstGeom>
          <a:ln>
            <a:noFill/>
          </a:ln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dirty="0">
                <a:solidFill>
                  <a:schemeClr val="bg1"/>
                </a:solidFill>
                <a:latin typeface="+mn-lt"/>
              </a:rPr>
              <a:t>(Composite key: </a:t>
            </a:r>
            <a:r>
              <a:rPr lang="en-US" sz="1600" b="1" u="sng" dirty="0" err="1">
                <a:solidFill>
                  <a:schemeClr val="bg1"/>
                </a:solidFill>
                <a:latin typeface="+mn-lt"/>
              </a:rPr>
              <a:t>EmpID</a:t>
            </a:r>
            <a:r>
              <a:rPr lang="en-US" sz="1600" dirty="0">
                <a:solidFill>
                  <a:schemeClr val="bg1"/>
                </a:solidFill>
                <a:latin typeface="+mn-lt"/>
              </a:rPr>
              <a:t>, </a:t>
            </a:r>
            <a:r>
              <a:rPr lang="en-US" sz="1600" b="1" u="sng" dirty="0" err="1">
                <a:solidFill>
                  <a:schemeClr val="bg1"/>
                </a:solidFill>
                <a:latin typeface="+mn-lt"/>
              </a:rPr>
              <a:t>ProjCode</a:t>
            </a:r>
            <a:r>
              <a:rPr lang="en-US" sz="1600" dirty="0">
                <a:solidFill>
                  <a:schemeClr val="bg1"/>
                </a:solidFill>
                <a:latin typeface="+mn-lt"/>
              </a:rPr>
              <a:t>)</a:t>
            </a:r>
            <a:endParaRPr lang="en-US" sz="1600" b="1" u="sng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3994206" y="2903651"/>
            <a:ext cx="1097280" cy="329184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800" u="sng" dirty="0" err="1">
                <a:solidFill>
                  <a:srgbClr val="000000"/>
                </a:solidFill>
              </a:rPr>
              <a:t>EmpID</a:t>
            </a:r>
            <a:endParaRPr lang="en-SG" altLang="en-US" sz="1800" b="1" u="sng" dirty="0">
              <a:solidFill>
                <a:srgbClr val="000000"/>
              </a:solidFill>
            </a:endParaRPr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4001930" y="3240618"/>
            <a:ext cx="1097280" cy="329184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800" u="sng" dirty="0" err="1">
                <a:solidFill>
                  <a:srgbClr val="000000"/>
                </a:solidFill>
              </a:rPr>
              <a:t>ProjCode</a:t>
            </a:r>
            <a:endParaRPr lang="en-SG" altLang="en-US" sz="1800" b="1" u="sng" dirty="0">
              <a:solidFill>
                <a:srgbClr val="000000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952048" y="3570288"/>
            <a:ext cx="1188720" cy="31892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lIns="36000" tIns="36000" rIns="36000" bIns="3600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 err="1">
                <a:solidFill>
                  <a:prstClr val="black"/>
                </a:solidFill>
                <a:latin typeface="Calibri"/>
              </a:rPr>
              <a:t>ChargeRate</a:t>
            </a:r>
            <a:endParaRPr lang="en-SG" sz="160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371600" y="4876800"/>
            <a:ext cx="2019300" cy="38100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000" b="1" dirty="0">
                <a:solidFill>
                  <a:srgbClr val="FFFF00"/>
                </a:solidFill>
                <a:latin typeface="+mn-lt"/>
              </a:rPr>
              <a:t>Relation Schemas: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3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2" grpId="0"/>
      <p:bldP spid="43" grpId="0"/>
      <p:bldP spid="44" grpId="0"/>
      <p:bldP spid="47" grpId="0" animBg="1"/>
      <p:bldP spid="49" grpId="0" animBg="1"/>
      <p:bldP spid="48" grpId="0" animBg="1"/>
      <p:bldP spid="5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ctrTitle" idx="4294967295"/>
          </p:nvPr>
        </p:nvSpPr>
        <p:spPr>
          <a:xfrm>
            <a:off x="701566" y="349254"/>
            <a:ext cx="5158839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 : N Relationship Modelling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819" name="Rectangle 3"/>
          <p:cNvSpPr txBox="1">
            <a:spLocks noChangeArrowheads="1"/>
          </p:cNvSpPr>
          <p:nvPr/>
        </p:nvSpPr>
        <p:spPr bwMode="auto">
          <a:xfrm>
            <a:off x="704850" y="1219200"/>
            <a:ext cx="3351213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US" sz="2400" b="1" u="sng">
                <a:solidFill>
                  <a:schemeClr val="bg1"/>
                </a:solidFill>
              </a:rPr>
              <a:t>Completed Modelled ERD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490895"/>
              </p:ext>
            </p:extLst>
          </p:nvPr>
        </p:nvGraphicFramePr>
        <p:xfrm>
          <a:off x="811544" y="2193925"/>
          <a:ext cx="1188720" cy="14875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785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VEHICLES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5974" marB="3597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85">
                <a:tc>
                  <a:txBody>
                    <a:bodyPr/>
                    <a:lstStyle/>
                    <a:p>
                      <a:pPr algn="ctr"/>
                      <a:r>
                        <a:rPr lang="en-GB" sz="1600" b="1" u="sng" dirty="0" err="1" smtClean="0"/>
                        <a:t>VehNum</a:t>
                      </a:r>
                      <a:r>
                        <a:rPr lang="en-GB" sz="1600" b="0" u="none" dirty="0" smtClean="0"/>
                        <a:t>(PK)</a:t>
                      </a:r>
                      <a:endParaRPr lang="en-SG" sz="16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5974" marB="35974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VehModel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5974" marB="3597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DateRegister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5974" marB="3597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306">
                <a:tc>
                  <a:txBody>
                    <a:bodyPr/>
                    <a:lstStyle/>
                    <a:p>
                      <a:pPr algn="ctr"/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5974" marB="35974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4834" name="Group 1"/>
          <p:cNvGrpSpPr>
            <a:grpSpLocks/>
          </p:cNvGrpSpPr>
          <p:nvPr/>
        </p:nvGrpSpPr>
        <p:grpSpPr bwMode="auto">
          <a:xfrm>
            <a:off x="2000250" y="2209800"/>
            <a:ext cx="1054100" cy="1423988"/>
            <a:chOff x="1782375" y="1844670"/>
            <a:chExt cx="1054325" cy="1424017"/>
          </a:xfrm>
        </p:grpSpPr>
        <p:cxnSp>
          <p:nvCxnSpPr>
            <p:cNvPr id="53" name="Straight Connector 52"/>
            <p:cNvCxnSpPr/>
            <p:nvPr/>
          </p:nvCxnSpPr>
          <p:spPr bwMode="auto">
            <a:xfrm>
              <a:off x="1782375" y="3165497"/>
              <a:ext cx="539865" cy="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 bwMode="auto">
            <a:xfrm flipV="1">
              <a:off x="2322240" y="2208215"/>
              <a:ext cx="0" cy="97157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 bwMode="auto">
            <a:xfrm>
              <a:off x="2314302" y="2219328"/>
              <a:ext cx="522398" cy="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953" name="Group 18"/>
            <p:cNvGrpSpPr>
              <a:grpSpLocks/>
            </p:cNvGrpSpPr>
            <p:nvPr/>
          </p:nvGrpSpPr>
          <p:grpSpPr bwMode="auto">
            <a:xfrm>
              <a:off x="1852896" y="3040085"/>
              <a:ext cx="176212" cy="228602"/>
              <a:chOff x="1901829" y="3056753"/>
              <a:chExt cx="176146" cy="228572"/>
            </a:xfrm>
          </p:grpSpPr>
          <p:sp>
            <p:nvSpPr>
              <p:cNvPr id="51" name="Oval 50"/>
              <p:cNvSpPr/>
              <p:nvPr/>
            </p:nvSpPr>
            <p:spPr>
              <a:xfrm>
                <a:off x="1969425" y="3064686"/>
                <a:ext cx="107933" cy="215876"/>
              </a:xfrm>
              <a:prstGeom prst="ellipse">
                <a:avLst/>
              </a:pr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SG"/>
              </a:p>
            </p:txBody>
          </p:sp>
          <p:cxnSp>
            <p:nvCxnSpPr>
              <p:cNvPr id="52" name="Straight Connector 51"/>
              <p:cNvCxnSpPr/>
              <p:nvPr/>
            </p:nvCxnSpPr>
            <p:spPr>
              <a:xfrm>
                <a:off x="1901173" y="3056750"/>
                <a:ext cx="0" cy="228575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954" name="Group 19"/>
            <p:cNvGrpSpPr>
              <a:grpSpLocks/>
            </p:cNvGrpSpPr>
            <p:nvPr/>
          </p:nvGrpSpPr>
          <p:grpSpPr bwMode="auto">
            <a:xfrm>
              <a:off x="2674488" y="2113758"/>
              <a:ext cx="76229" cy="228630"/>
              <a:chOff x="3276600" y="3119252"/>
              <a:chExt cx="76200" cy="228600"/>
            </a:xfrm>
          </p:grpSpPr>
          <p:cxnSp>
            <p:nvCxnSpPr>
              <p:cNvPr id="49" name="Straight Connector 48"/>
              <p:cNvCxnSpPr/>
              <p:nvPr/>
            </p:nvCxnSpPr>
            <p:spPr>
              <a:xfrm>
                <a:off x="3276852" y="3120044"/>
                <a:ext cx="0" cy="228575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>
                <a:off x="3353039" y="3120044"/>
                <a:ext cx="0" cy="228575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Rectangle 46"/>
            <p:cNvSpPr/>
            <p:nvPr/>
          </p:nvSpPr>
          <p:spPr bwMode="auto">
            <a:xfrm>
              <a:off x="2055483" y="1844670"/>
              <a:ext cx="470000" cy="288931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400" b="1" dirty="0">
                  <a:solidFill>
                    <a:srgbClr val="FFFF00"/>
                  </a:solidFill>
                  <a:latin typeface="+mn-lt"/>
                </a:rPr>
                <a:t>owns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473075" y="3424238"/>
            <a:ext cx="355600" cy="287337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dirty="0">
                <a:solidFill>
                  <a:srgbClr val="FFFF00"/>
                </a:solidFill>
                <a:latin typeface="+mn-lt"/>
              </a:rPr>
              <a:t>(FK)</a:t>
            </a:r>
          </a:p>
        </p:txBody>
      </p:sp>
      <p:sp>
        <p:nvSpPr>
          <p:cNvPr id="61" name="Rectangle 60"/>
          <p:cNvSpPr>
            <a:spLocks noChangeArrowheads="1"/>
          </p:cNvSpPr>
          <p:nvPr/>
        </p:nvSpPr>
        <p:spPr bwMode="auto">
          <a:xfrm>
            <a:off x="858838" y="3394075"/>
            <a:ext cx="1116012" cy="287338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400">
                <a:solidFill>
                  <a:srgbClr val="C00000"/>
                </a:solidFill>
              </a:rPr>
              <a:t>EmpID</a:t>
            </a:r>
            <a:endParaRPr lang="en-SG" altLang="en-US" sz="1400">
              <a:solidFill>
                <a:srgbClr val="C00000"/>
              </a:solidFill>
            </a:endParaRPr>
          </a:p>
        </p:txBody>
      </p:sp>
      <p:graphicFrame>
        <p:nvGraphicFramePr>
          <p:cNvPr id="62" name="Table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698410"/>
              </p:ext>
            </p:extLst>
          </p:nvPr>
        </p:nvGraphicFramePr>
        <p:xfrm>
          <a:off x="5213350" y="5213350"/>
          <a:ext cx="1023938" cy="126365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SITES</a:t>
                      </a:r>
                      <a:endParaRPr lang="en-SG" sz="16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18" marR="36018" marT="36010" marB="3601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b="1" u="sng" dirty="0" err="1" smtClean="0">
                          <a:solidFill>
                            <a:schemeClr val="tx1"/>
                          </a:solidFill>
                        </a:rPr>
                        <a:t>SiteNo</a:t>
                      </a:r>
                      <a:r>
                        <a:rPr lang="en-GB" sz="1600" b="0" u="none" dirty="0" smtClean="0">
                          <a:solidFill>
                            <a:schemeClr val="tx1"/>
                          </a:solidFill>
                        </a:rPr>
                        <a:t>(PK)</a:t>
                      </a:r>
                      <a:endParaRPr lang="en-SG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36018" marR="36018" marT="36010" marB="3601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rgbClr val="C00000"/>
                          </a:solidFill>
                        </a:rPr>
                        <a:t>Location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36010" marB="3601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rgbClr val="C00000"/>
                          </a:solidFill>
                        </a:rPr>
                        <a:t>Area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36010" marB="3601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6" name="Table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997861"/>
              </p:ext>
            </p:extLst>
          </p:nvPr>
        </p:nvGraphicFramePr>
        <p:xfrm>
          <a:off x="3063875" y="2089150"/>
          <a:ext cx="1209675" cy="2058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EMPLOYEES</a:t>
                      </a:r>
                      <a:endParaRPr lang="en-SG" sz="16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10" marB="36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8">
                <a:tc>
                  <a:txBody>
                    <a:bodyPr/>
                    <a:lstStyle/>
                    <a:p>
                      <a:pPr algn="ctr"/>
                      <a:r>
                        <a:rPr lang="en-GB" sz="1600" b="1" u="sng" dirty="0" err="1" smtClean="0">
                          <a:solidFill>
                            <a:schemeClr val="tx1"/>
                          </a:solidFill>
                        </a:rPr>
                        <a:t>EmpID</a:t>
                      </a:r>
                      <a:r>
                        <a:rPr lang="en-GB" sz="1600" b="0" u="none" dirty="0" smtClean="0">
                          <a:solidFill>
                            <a:schemeClr val="tx1"/>
                          </a:solidFill>
                        </a:rPr>
                        <a:t>(PK)</a:t>
                      </a:r>
                      <a:endParaRPr lang="en-SG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10" marB="36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43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EmpName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10" marB="36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43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rgbClr val="C00000"/>
                          </a:solidFill>
                        </a:rPr>
                        <a:t>Professions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10" marB="36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43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ChargeRate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10" marB="36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43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SiteNo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10" marB="36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430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err="1" smtClean="0">
                          <a:solidFill>
                            <a:srgbClr val="C00000"/>
                          </a:solidFill>
                        </a:rPr>
                        <a:t>DepNum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10" marB="36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253522"/>
                  </a:ext>
                </a:extLst>
              </a:tr>
            </a:tbl>
          </a:graphicData>
        </a:graphic>
      </p:graphicFrame>
      <p:sp>
        <p:nvSpPr>
          <p:cNvPr id="64" name="Rectangle 63"/>
          <p:cNvSpPr/>
          <p:nvPr/>
        </p:nvSpPr>
        <p:spPr>
          <a:xfrm>
            <a:off x="8361363" y="3609975"/>
            <a:ext cx="355600" cy="288925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dirty="0">
                <a:solidFill>
                  <a:srgbClr val="FFFF00"/>
                </a:solidFill>
                <a:latin typeface="+mn-lt"/>
              </a:rPr>
              <a:t>(FK)</a:t>
            </a:r>
          </a:p>
        </p:txBody>
      </p:sp>
      <p:graphicFrame>
        <p:nvGraphicFramePr>
          <p:cNvPr id="102" name="Table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343742"/>
              </p:ext>
            </p:extLst>
          </p:nvPr>
        </p:nvGraphicFramePr>
        <p:xfrm>
          <a:off x="7175500" y="2117725"/>
          <a:ext cx="1188720" cy="177482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144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PROJECTS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36" marB="36036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144">
                <a:tc>
                  <a:txBody>
                    <a:bodyPr/>
                    <a:lstStyle/>
                    <a:p>
                      <a:pPr algn="ctr"/>
                      <a:r>
                        <a:rPr lang="en-GB" sz="1600" b="1" u="sng" dirty="0" err="1" smtClean="0">
                          <a:solidFill>
                            <a:schemeClr val="tx1"/>
                          </a:solidFill>
                        </a:rPr>
                        <a:t>ProjCode</a:t>
                      </a:r>
                      <a:r>
                        <a:rPr lang="en-GB" sz="1600" b="0" u="none" dirty="0" smtClean="0">
                          <a:solidFill>
                            <a:schemeClr val="tx1"/>
                          </a:solidFill>
                        </a:rPr>
                        <a:t>(PK)</a:t>
                      </a:r>
                      <a:endParaRPr lang="en-SG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36" marB="36036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634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ProjTitle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6" marB="3603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634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ProjCost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6" marB="3603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634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ProjMgr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6" marB="3603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634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SiteNo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36" marB="36036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0" name="Rectangle 119"/>
          <p:cNvSpPr/>
          <p:nvPr/>
        </p:nvSpPr>
        <p:spPr>
          <a:xfrm>
            <a:off x="2682875" y="3581400"/>
            <a:ext cx="355600" cy="287338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dirty="0">
                <a:solidFill>
                  <a:srgbClr val="FFFF00"/>
                </a:solidFill>
                <a:latin typeface="+mn-lt"/>
              </a:rPr>
              <a:t>(FK)</a:t>
            </a:r>
          </a:p>
        </p:txBody>
      </p:sp>
      <p:graphicFrame>
        <p:nvGraphicFramePr>
          <p:cNvPr id="122" name="Table 121"/>
          <p:cNvGraphicFramePr>
            <a:graphicFrameLocks noGrp="1"/>
          </p:cNvGraphicFramePr>
          <p:nvPr/>
        </p:nvGraphicFramePr>
        <p:xfrm>
          <a:off x="5203825" y="2332038"/>
          <a:ext cx="1023938" cy="12636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EMP-PROJ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18" marR="36018" marT="36010" marB="3601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b="1" u="sng" dirty="0" err="1" smtClean="0">
                          <a:solidFill>
                            <a:schemeClr val="tx1"/>
                          </a:solidFill>
                        </a:rPr>
                        <a:t>EmpID</a:t>
                      </a:r>
                      <a:endParaRPr lang="en-SG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36018" marR="36018" marT="36010" marB="3601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b="1" u="sng" dirty="0" err="1" smtClean="0">
                          <a:solidFill>
                            <a:schemeClr val="tx1"/>
                          </a:solidFill>
                        </a:rPr>
                        <a:t>ProjCode</a:t>
                      </a:r>
                      <a:endParaRPr lang="en-SG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36018" marR="36018" marT="36010" marB="3601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solidFill>
                            <a:srgbClr val="C00000"/>
                          </a:solidFill>
                        </a:rPr>
                        <a:t>chargeRate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36010" marB="3601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4897" name="Group 2"/>
          <p:cNvGrpSpPr>
            <a:grpSpLocks/>
          </p:cNvGrpSpPr>
          <p:nvPr/>
        </p:nvGrpSpPr>
        <p:grpSpPr bwMode="auto">
          <a:xfrm>
            <a:off x="4268788" y="2133600"/>
            <a:ext cx="942975" cy="774700"/>
            <a:chOff x="4050475" y="1767067"/>
            <a:chExt cx="943406" cy="776020"/>
          </a:xfrm>
        </p:grpSpPr>
        <p:grpSp>
          <p:nvGrpSpPr>
            <p:cNvPr id="34938" name="Group 124"/>
            <p:cNvGrpSpPr>
              <a:grpSpLocks/>
            </p:cNvGrpSpPr>
            <p:nvPr/>
          </p:nvGrpSpPr>
          <p:grpSpPr bwMode="auto">
            <a:xfrm flipH="1">
              <a:off x="4622347" y="2327187"/>
              <a:ext cx="371534" cy="215900"/>
              <a:chOff x="3591300" y="4568671"/>
              <a:chExt cx="371534" cy="215900"/>
            </a:xfrm>
          </p:grpSpPr>
          <p:sp>
            <p:nvSpPr>
              <p:cNvPr id="133" name="Oval 132"/>
              <p:cNvSpPr/>
              <p:nvPr/>
            </p:nvSpPr>
            <p:spPr bwMode="auto">
              <a:xfrm>
                <a:off x="3854946" y="4568303"/>
                <a:ext cx="107999" cy="216268"/>
              </a:xfrm>
              <a:prstGeom prst="ellipse">
                <a:avLst/>
              </a:pr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SG"/>
              </a:p>
            </p:txBody>
          </p:sp>
          <p:grpSp>
            <p:nvGrpSpPr>
              <p:cNvPr id="34947" name="Group 31"/>
              <p:cNvGrpSpPr>
                <a:grpSpLocks/>
              </p:cNvGrpSpPr>
              <p:nvPr/>
            </p:nvGrpSpPr>
            <p:grpSpPr bwMode="auto">
              <a:xfrm flipH="1">
                <a:off x="3591300" y="4593014"/>
                <a:ext cx="217093" cy="160783"/>
                <a:chOff x="2754788" y="4102175"/>
                <a:chExt cx="217012" cy="160825"/>
              </a:xfrm>
            </p:grpSpPr>
            <p:cxnSp>
              <p:nvCxnSpPr>
                <p:cNvPr id="135" name="Straight Connector 134"/>
                <p:cNvCxnSpPr/>
                <p:nvPr/>
              </p:nvCxnSpPr>
              <p:spPr>
                <a:xfrm flipV="1">
                  <a:off x="2754294" y="4079049"/>
                  <a:ext cx="217506" cy="95437"/>
                </a:xfrm>
                <a:prstGeom prst="line">
                  <a:avLst/>
                </a:prstGeom>
                <a:ln w="1905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/>
                <p:cNvCxnSpPr/>
                <p:nvPr/>
              </p:nvCxnSpPr>
              <p:spPr>
                <a:xfrm>
                  <a:off x="2754294" y="4191982"/>
                  <a:ext cx="217506" cy="71578"/>
                </a:xfrm>
                <a:prstGeom prst="line">
                  <a:avLst/>
                </a:prstGeom>
                <a:ln w="1905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26" name="Rectangle 125"/>
            <p:cNvSpPr/>
            <p:nvPr/>
          </p:nvSpPr>
          <p:spPr bwMode="auto">
            <a:xfrm>
              <a:off x="4266474" y="1767067"/>
              <a:ext cx="522526" cy="289417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400" b="1" dirty="0">
                  <a:solidFill>
                    <a:srgbClr val="FFFF00"/>
                  </a:solidFill>
                  <a:latin typeface="+mn-lt"/>
                </a:rPr>
                <a:t>works</a:t>
              </a:r>
            </a:p>
          </p:txBody>
        </p:sp>
        <p:grpSp>
          <p:nvGrpSpPr>
            <p:cNvPr id="34940" name="Group 126"/>
            <p:cNvGrpSpPr>
              <a:grpSpLocks/>
            </p:cNvGrpSpPr>
            <p:nvPr/>
          </p:nvGrpSpPr>
          <p:grpSpPr bwMode="auto">
            <a:xfrm>
              <a:off x="4106668" y="2126824"/>
              <a:ext cx="76200" cy="227013"/>
              <a:chOff x="2895600" y="3948112"/>
              <a:chExt cx="76200" cy="227013"/>
            </a:xfrm>
          </p:grpSpPr>
          <p:cxnSp>
            <p:nvCxnSpPr>
              <p:cNvPr id="131" name="Straight Connector 130"/>
              <p:cNvCxnSpPr/>
              <p:nvPr/>
            </p:nvCxnSpPr>
            <p:spPr bwMode="auto">
              <a:xfrm>
                <a:off x="2894995" y="3947741"/>
                <a:ext cx="0" cy="227400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auto">
              <a:xfrm>
                <a:off x="2971230" y="3947741"/>
                <a:ext cx="0" cy="227400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8" name="Straight Connector 127"/>
            <p:cNvCxnSpPr/>
            <p:nvPr/>
          </p:nvCxnSpPr>
          <p:spPr bwMode="auto">
            <a:xfrm flipV="1">
              <a:off x="4050475" y="2228226"/>
              <a:ext cx="395468" cy="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 bwMode="auto">
            <a:xfrm flipV="1">
              <a:off x="4438002" y="2434953"/>
              <a:ext cx="539997" cy="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4438002" y="2228226"/>
              <a:ext cx="0" cy="216268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Rectangle 137"/>
          <p:cNvSpPr/>
          <p:nvPr/>
        </p:nvSpPr>
        <p:spPr>
          <a:xfrm>
            <a:off x="4800600" y="2930525"/>
            <a:ext cx="357188" cy="287338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dirty="0">
                <a:solidFill>
                  <a:srgbClr val="FFFF00"/>
                </a:solidFill>
                <a:latin typeface="+mn-lt"/>
              </a:rPr>
              <a:t>(FK)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251575" y="2641600"/>
            <a:ext cx="357188" cy="288925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dirty="0">
                <a:solidFill>
                  <a:srgbClr val="FFFF00"/>
                </a:solidFill>
                <a:latin typeface="+mn-lt"/>
              </a:rPr>
              <a:t>(FK)</a:t>
            </a:r>
          </a:p>
        </p:txBody>
      </p:sp>
      <p:grpSp>
        <p:nvGrpSpPr>
          <p:cNvPr id="34900" name="Group 3"/>
          <p:cNvGrpSpPr>
            <a:grpSpLocks/>
          </p:cNvGrpSpPr>
          <p:nvPr/>
        </p:nvGrpSpPr>
        <p:grpSpPr bwMode="auto">
          <a:xfrm>
            <a:off x="6227763" y="2209800"/>
            <a:ext cx="965200" cy="1016000"/>
            <a:chOff x="6009900" y="1843999"/>
            <a:chExt cx="965899" cy="1015976"/>
          </a:xfrm>
        </p:grpSpPr>
        <p:cxnSp>
          <p:nvCxnSpPr>
            <p:cNvPr id="141" name="Straight Connector 140"/>
            <p:cNvCxnSpPr/>
            <p:nvPr/>
          </p:nvCxnSpPr>
          <p:spPr>
            <a:xfrm flipV="1">
              <a:off x="6467431" y="2219119"/>
              <a:ext cx="0" cy="521196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 bwMode="auto">
            <a:xfrm flipV="1">
              <a:off x="6009900" y="2737741"/>
              <a:ext cx="468651" cy="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/>
          </p:nvCxnSpPr>
          <p:spPr bwMode="auto">
            <a:xfrm flipV="1">
              <a:off x="6472197" y="2226578"/>
              <a:ext cx="503602" cy="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930" name="Group 143"/>
            <p:cNvGrpSpPr>
              <a:grpSpLocks/>
            </p:cNvGrpSpPr>
            <p:nvPr/>
          </p:nvGrpSpPr>
          <p:grpSpPr bwMode="auto">
            <a:xfrm>
              <a:off x="6009900" y="2631375"/>
              <a:ext cx="276225" cy="228600"/>
              <a:chOff x="3513963" y="4843463"/>
              <a:chExt cx="276225" cy="228600"/>
            </a:xfrm>
          </p:grpSpPr>
          <p:cxnSp>
            <p:nvCxnSpPr>
              <p:cNvPr id="149" name="Straight Connector 148"/>
              <p:cNvCxnSpPr/>
              <p:nvPr/>
            </p:nvCxnSpPr>
            <p:spPr bwMode="auto">
              <a:xfrm flipH="1" flipV="1">
                <a:off x="3513963" y="4876805"/>
                <a:ext cx="217645" cy="71435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 bwMode="auto">
              <a:xfrm flipH="1">
                <a:off x="3513963" y="4965703"/>
                <a:ext cx="217645" cy="71435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/>
              <p:cNvCxnSpPr/>
              <p:nvPr/>
            </p:nvCxnSpPr>
            <p:spPr bwMode="auto">
              <a:xfrm>
                <a:off x="3790388" y="4843468"/>
                <a:ext cx="0" cy="228595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931" name="Group 144"/>
            <p:cNvGrpSpPr>
              <a:grpSpLocks/>
            </p:cNvGrpSpPr>
            <p:nvPr/>
          </p:nvGrpSpPr>
          <p:grpSpPr bwMode="auto">
            <a:xfrm>
              <a:off x="6705600" y="2119095"/>
              <a:ext cx="76200" cy="227013"/>
              <a:chOff x="2235190" y="3948112"/>
              <a:chExt cx="76200" cy="227013"/>
            </a:xfrm>
          </p:grpSpPr>
          <p:cxnSp>
            <p:nvCxnSpPr>
              <p:cNvPr id="147" name="Straight Connector 146"/>
              <p:cNvCxnSpPr/>
              <p:nvPr/>
            </p:nvCxnSpPr>
            <p:spPr bwMode="auto">
              <a:xfrm>
                <a:off x="2235318" y="3947648"/>
                <a:ext cx="0" cy="227007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 bwMode="auto">
              <a:xfrm>
                <a:off x="2311573" y="3947648"/>
                <a:ext cx="0" cy="227007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6" name="Rectangle 145"/>
            <p:cNvSpPr/>
            <p:nvPr/>
          </p:nvSpPr>
          <p:spPr bwMode="auto">
            <a:xfrm>
              <a:off x="6183062" y="1843999"/>
              <a:ext cx="603687" cy="288918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400" b="1" dirty="0">
                  <a:solidFill>
                    <a:srgbClr val="FFFF00"/>
                  </a:solidFill>
                  <a:latin typeface="+mn-lt"/>
                </a:rPr>
                <a:t>assigns</a:t>
              </a:r>
            </a:p>
          </p:txBody>
        </p:sp>
      </p:grpSp>
      <p:grpSp>
        <p:nvGrpSpPr>
          <p:cNvPr id="34901" name="Group 7"/>
          <p:cNvGrpSpPr>
            <a:grpSpLocks/>
          </p:cNvGrpSpPr>
          <p:nvPr/>
        </p:nvGrpSpPr>
        <p:grpSpPr bwMode="auto">
          <a:xfrm>
            <a:off x="4265615" y="3609980"/>
            <a:ext cx="1171573" cy="2206625"/>
            <a:chOff x="4265694" y="3610745"/>
            <a:chExt cx="1171628" cy="2206240"/>
          </a:xfrm>
        </p:grpSpPr>
        <p:sp>
          <p:nvSpPr>
            <p:cNvPr id="69" name="Rectangle 68"/>
            <p:cNvSpPr/>
            <p:nvPr/>
          </p:nvSpPr>
          <p:spPr bwMode="auto">
            <a:xfrm>
              <a:off x="4894372" y="4613869"/>
              <a:ext cx="542950" cy="287288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400" b="1" dirty="0">
                  <a:solidFill>
                    <a:srgbClr val="FFFF00"/>
                  </a:solidFill>
                  <a:latin typeface="+mn-lt"/>
                </a:rPr>
                <a:t>report</a:t>
              </a:r>
            </a:p>
          </p:txBody>
        </p:sp>
        <p:grpSp>
          <p:nvGrpSpPr>
            <p:cNvPr id="34916" name="Group 69"/>
            <p:cNvGrpSpPr>
              <a:grpSpLocks/>
            </p:cNvGrpSpPr>
            <p:nvPr/>
          </p:nvGrpSpPr>
          <p:grpSpPr bwMode="auto">
            <a:xfrm>
              <a:off x="5039982" y="5590016"/>
              <a:ext cx="76160" cy="226969"/>
              <a:chOff x="2895588" y="3972003"/>
              <a:chExt cx="76160" cy="226969"/>
            </a:xfrm>
          </p:grpSpPr>
          <p:cxnSp>
            <p:nvCxnSpPr>
              <p:cNvPr id="78" name="Straight Connector 77"/>
              <p:cNvCxnSpPr/>
              <p:nvPr/>
            </p:nvCxnSpPr>
            <p:spPr bwMode="auto">
              <a:xfrm>
                <a:off x="2896034" y="3971999"/>
                <a:ext cx="0" cy="226973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 bwMode="auto">
              <a:xfrm>
                <a:off x="2972238" y="3971999"/>
                <a:ext cx="0" cy="226973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/>
            <p:cNvCxnSpPr/>
            <p:nvPr/>
          </p:nvCxnSpPr>
          <p:spPr bwMode="auto">
            <a:xfrm flipV="1">
              <a:off x="4811818" y="5702705"/>
              <a:ext cx="395306" cy="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flipV="1">
              <a:off x="4813405" y="3715497"/>
              <a:ext cx="0" cy="1993044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919" name="Group 72"/>
            <p:cNvGrpSpPr>
              <a:grpSpLocks/>
            </p:cNvGrpSpPr>
            <p:nvPr/>
          </p:nvGrpSpPr>
          <p:grpSpPr bwMode="auto">
            <a:xfrm>
              <a:off x="4265694" y="3610745"/>
              <a:ext cx="274648" cy="228560"/>
              <a:chOff x="3535515" y="4388661"/>
              <a:chExt cx="274648" cy="228560"/>
            </a:xfrm>
          </p:grpSpPr>
          <p:grpSp>
            <p:nvGrpSpPr>
              <p:cNvPr id="34921" name="Group 31"/>
              <p:cNvGrpSpPr>
                <a:grpSpLocks/>
              </p:cNvGrpSpPr>
              <p:nvPr/>
            </p:nvGrpSpPr>
            <p:grpSpPr bwMode="auto">
              <a:xfrm flipH="1">
                <a:off x="3535515" y="4418789"/>
                <a:ext cx="217497" cy="160308"/>
                <a:chOff x="2754384" y="3830906"/>
                <a:chExt cx="217416" cy="160351"/>
              </a:xfrm>
            </p:grpSpPr>
            <p:cxnSp>
              <p:nvCxnSpPr>
                <p:cNvPr id="76" name="Straight Connector 75"/>
                <p:cNvCxnSpPr/>
                <p:nvPr/>
              </p:nvCxnSpPr>
              <p:spPr>
                <a:xfrm flipV="1">
                  <a:off x="2754384" y="3830906"/>
                  <a:ext cx="217416" cy="71444"/>
                </a:xfrm>
                <a:prstGeom prst="line">
                  <a:avLst/>
                </a:prstGeom>
                <a:ln w="1905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/>
                <p:cNvCxnSpPr/>
                <p:nvPr/>
              </p:nvCxnSpPr>
              <p:spPr>
                <a:xfrm>
                  <a:off x="2754384" y="3919813"/>
                  <a:ext cx="217416" cy="71444"/>
                </a:xfrm>
                <a:prstGeom prst="line">
                  <a:avLst/>
                </a:prstGeom>
                <a:ln w="1905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5" name="Straight Connector 74"/>
              <p:cNvCxnSpPr/>
              <p:nvPr/>
            </p:nvCxnSpPr>
            <p:spPr bwMode="auto">
              <a:xfrm>
                <a:off x="3810163" y="4388661"/>
                <a:ext cx="0" cy="228560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7" name="Straight Connector 156"/>
            <p:cNvCxnSpPr/>
            <p:nvPr/>
          </p:nvCxnSpPr>
          <p:spPr bwMode="auto">
            <a:xfrm flipV="1">
              <a:off x="4266171" y="3715501"/>
              <a:ext cx="566955" cy="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902" name="Group 8"/>
          <p:cNvGrpSpPr>
            <a:grpSpLocks/>
          </p:cNvGrpSpPr>
          <p:nvPr/>
        </p:nvGrpSpPr>
        <p:grpSpPr bwMode="auto">
          <a:xfrm>
            <a:off x="6251575" y="3662363"/>
            <a:ext cx="922338" cy="2135187"/>
            <a:chOff x="6251613" y="3662448"/>
            <a:chExt cx="922880" cy="2134565"/>
          </a:xfrm>
        </p:grpSpPr>
        <p:grpSp>
          <p:nvGrpSpPr>
            <p:cNvPr id="34903" name="Group 108"/>
            <p:cNvGrpSpPr>
              <a:grpSpLocks/>
            </p:cNvGrpSpPr>
            <p:nvPr/>
          </p:nvGrpSpPr>
          <p:grpSpPr bwMode="auto">
            <a:xfrm rot="10800000">
              <a:off x="6788504" y="3662448"/>
              <a:ext cx="385989" cy="215837"/>
              <a:chOff x="3567732" y="4552836"/>
              <a:chExt cx="385989" cy="215837"/>
            </a:xfrm>
          </p:grpSpPr>
          <p:sp>
            <p:nvSpPr>
              <p:cNvPr id="116" name="Oval 115"/>
              <p:cNvSpPr/>
              <p:nvPr/>
            </p:nvSpPr>
            <p:spPr bwMode="auto">
              <a:xfrm>
                <a:off x="3845708" y="4552836"/>
                <a:ext cx="108013" cy="215837"/>
              </a:xfrm>
              <a:prstGeom prst="ellipse">
                <a:avLst/>
              </a:pr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SG"/>
              </a:p>
            </p:txBody>
          </p:sp>
          <p:grpSp>
            <p:nvGrpSpPr>
              <p:cNvPr id="34912" name="Group 31"/>
              <p:cNvGrpSpPr>
                <a:grpSpLocks/>
              </p:cNvGrpSpPr>
              <p:nvPr/>
            </p:nvGrpSpPr>
            <p:grpSpPr bwMode="auto">
              <a:xfrm flipH="1">
                <a:off x="3567732" y="4581890"/>
                <a:ext cx="238265" cy="164573"/>
                <a:chOff x="2757182" y="4091047"/>
                <a:chExt cx="238176" cy="164616"/>
              </a:xfrm>
            </p:grpSpPr>
            <p:cxnSp>
              <p:nvCxnSpPr>
                <p:cNvPr id="118" name="Straight Connector 117"/>
                <p:cNvCxnSpPr/>
                <p:nvPr/>
              </p:nvCxnSpPr>
              <p:spPr>
                <a:xfrm flipV="1">
                  <a:off x="2765121" y="4091047"/>
                  <a:ext cx="230237" cy="73023"/>
                </a:xfrm>
                <a:prstGeom prst="line">
                  <a:avLst/>
                </a:prstGeom>
                <a:ln w="1905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Connector 118"/>
                <p:cNvCxnSpPr/>
                <p:nvPr/>
              </p:nvCxnSpPr>
              <p:spPr>
                <a:xfrm>
                  <a:off x="2757182" y="4184228"/>
                  <a:ext cx="230236" cy="71435"/>
                </a:xfrm>
                <a:prstGeom prst="line">
                  <a:avLst/>
                </a:prstGeom>
                <a:ln w="1905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0" name="Rectangle 109"/>
            <p:cNvSpPr/>
            <p:nvPr/>
          </p:nvSpPr>
          <p:spPr bwMode="auto">
            <a:xfrm>
              <a:off x="6394572" y="4600387"/>
              <a:ext cx="265269" cy="287254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400" b="1" dirty="0">
                  <a:solidFill>
                    <a:srgbClr val="FFFF00"/>
                  </a:solidFill>
                  <a:latin typeface="+mn-lt"/>
                </a:rPr>
                <a:t>on</a:t>
              </a:r>
            </a:p>
          </p:txBody>
        </p:sp>
        <p:grpSp>
          <p:nvGrpSpPr>
            <p:cNvPr id="34905" name="Group 110"/>
            <p:cNvGrpSpPr>
              <a:grpSpLocks/>
            </p:cNvGrpSpPr>
            <p:nvPr/>
          </p:nvGrpSpPr>
          <p:grpSpPr bwMode="auto">
            <a:xfrm>
              <a:off x="6389771" y="5570000"/>
              <a:ext cx="76200" cy="227013"/>
              <a:chOff x="2895600" y="3948112"/>
              <a:chExt cx="76200" cy="227013"/>
            </a:xfrm>
          </p:grpSpPr>
          <p:cxnSp>
            <p:nvCxnSpPr>
              <p:cNvPr id="114" name="Straight Connector 113"/>
              <p:cNvCxnSpPr/>
              <p:nvPr/>
            </p:nvCxnSpPr>
            <p:spPr bwMode="auto">
              <a:xfrm>
                <a:off x="2895636" y="3948179"/>
                <a:ext cx="0" cy="226946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 bwMode="auto">
              <a:xfrm>
                <a:off x="2971881" y="3948179"/>
                <a:ext cx="0" cy="226946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2" name="Straight Connector 111"/>
            <p:cNvCxnSpPr/>
            <p:nvPr/>
          </p:nvCxnSpPr>
          <p:spPr bwMode="auto">
            <a:xfrm flipV="1">
              <a:off x="6251613" y="5674812"/>
              <a:ext cx="432054" cy="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6678902" y="3738476"/>
              <a:ext cx="0" cy="1947105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/>
          </p:nvCxnSpPr>
          <p:spPr bwMode="auto">
            <a:xfrm flipV="1">
              <a:off x="6688433" y="3765605"/>
              <a:ext cx="484917" cy="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0" name="Table 79">
            <a:extLst>
              <a:ext uri="{FF2B5EF4-FFF2-40B4-BE49-F238E27FC236}">
                <a16:creationId xmlns:a16="http://schemas.microsoft.com/office/drawing/2014/main" id="{95833C34-4704-492D-90DA-5C3F42963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16934"/>
              </p:ext>
            </p:extLst>
          </p:nvPr>
        </p:nvGraphicFramePr>
        <p:xfrm>
          <a:off x="3000993" y="5105400"/>
          <a:ext cx="1280160" cy="126365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DEPARTMENT</a:t>
                      </a:r>
                      <a:endParaRPr lang="en-SG" sz="16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18" marR="36018" marT="36010" marB="3601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600" b="1" u="sng" dirty="0" err="1">
                          <a:solidFill>
                            <a:schemeClr val="tx1"/>
                          </a:solidFill>
                        </a:rPr>
                        <a:t>DepNo</a:t>
                      </a:r>
                      <a:r>
                        <a:rPr lang="en-GB" sz="1600" b="1" u="sng" dirty="0">
                          <a:solidFill>
                            <a:schemeClr val="tx1"/>
                          </a:solidFill>
                        </a:rPr>
                        <a:t>(PK)</a:t>
                      </a:r>
                      <a:endParaRPr lang="en-SG" sz="16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36018" marR="36018" marT="36010" marB="3601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>
                          <a:solidFill>
                            <a:srgbClr val="C00000"/>
                          </a:solidFill>
                        </a:rPr>
                        <a:t>DepName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36010" marB="3601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>
                          <a:solidFill>
                            <a:srgbClr val="C00000"/>
                          </a:solidFill>
                        </a:rPr>
                        <a:t>DepMgr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36010" marB="3601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1143749-1174-40C8-89CC-A7CA61C8A9E3}"/>
              </a:ext>
            </a:extLst>
          </p:cNvPr>
          <p:cNvCxnSpPr>
            <a:cxnSpLocks/>
          </p:cNvCxnSpPr>
          <p:nvPr/>
        </p:nvCxnSpPr>
        <p:spPr bwMode="auto">
          <a:xfrm flipH="1">
            <a:off x="2622040" y="3983665"/>
            <a:ext cx="0" cy="155448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28">
            <a:extLst>
              <a:ext uri="{FF2B5EF4-FFF2-40B4-BE49-F238E27FC236}">
                <a16:creationId xmlns:a16="http://schemas.microsoft.com/office/drawing/2014/main" id="{2B7E03FE-F070-4222-A1B7-86D3061B6580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2829982" y="3886200"/>
            <a:ext cx="231666" cy="221601"/>
            <a:chOff x="3535513" y="4660075"/>
            <a:chExt cx="274487" cy="228600"/>
          </a:xfrm>
        </p:grpSpPr>
        <p:grpSp>
          <p:nvGrpSpPr>
            <p:cNvPr id="84" name="Group 31">
              <a:extLst>
                <a:ext uri="{FF2B5EF4-FFF2-40B4-BE49-F238E27FC236}">
                  <a16:creationId xmlns:a16="http://schemas.microsoft.com/office/drawing/2014/main" id="{6CCD9519-3723-439E-84D1-D63FB1A83E30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535513" y="4690016"/>
              <a:ext cx="217093" cy="160783"/>
              <a:chOff x="2754788" y="4102175"/>
              <a:chExt cx="217012" cy="160825"/>
            </a:xfrm>
          </p:grpSpPr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1BE22DB8-58E9-4D0A-8F97-F4C017B6B0FC}"/>
                  </a:ext>
                </a:extLst>
              </p:cNvPr>
              <p:cNvCxnSpPr/>
              <p:nvPr/>
            </p:nvCxnSpPr>
            <p:spPr>
              <a:xfrm flipV="1">
                <a:off x="2754748" y="4102564"/>
                <a:ext cx="217550" cy="71396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508C345B-4872-4228-96CE-826F1C85F774}"/>
                  </a:ext>
                </a:extLst>
              </p:cNvPr>
              <p:cNvCxnSpPr/>
              <p:nvPr/>
            </p:nvCxnSpPr>
            <p:spPr>
              <a:xfrm>
                <a:off x="2754748" y="4191412"/>
                <a:ext cx="217550" cy="71396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A1A9A6A-4381-4A60-8E43-13487F266A11}"/>
                </a:ext>
              </a:extLst>
            </p:cNvPr>
            <p:cNvCxnSpPr/>
            <p:nvPr/>
          </p:nvCxnSpPr>
          <p:spPr bwMode="auto">
            <a:xfrm>
              <a:off x="3809834" y="4660268"/>
              <a:ext cx="0" cy="228407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5971404F-7A85-4898-B6CB-EA19D0DAB9C6}"/>
              </a:ext>
            </a:extLst>
          </p:cNvPr>
          <p:cNvSpPr/>
          <p:nvPr/>
        </p:nvSpPr>
        <p:spPr bwMode="auto">
          <a:xfrm>
            <a:off x="2845811" y="4495800"/>
            <a:ext cx="506989" cy="288147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dirty="0">
                <a:solidFill>
                  <a:srgbClr val="FFFF00"/>
                </a:solidFill>
                <a:latin typeface="+mn-lt"/>
              </a:rPr>
              <a:t>works</a:t>
            </a:r>
          </a:p>
        </p:txBody>
      </p:sp>
      <p:grpSp>
        <p:nvGrpSpPr>
          <p:cNvPr id="89" name="Group 16">
            <a:extLst>
              <a:ext uri="{FF2B5EF4-FFF2-40B4-BE49-F238E27FC236}">
                <a16:creationId xmlns:a16="http://schemas.microsoft.com/office/drawing/2014/main" id="{FE0ACB63-DA88-4BF9-870D-56587DD159C6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2799467" y="5450035"/>
            <a:ext cx="64313" cy="220062"/>
            <a:chOff x="2895600" y="3948112"/>
            <a:chExt cx="76200" cy="227013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C2560008-2D23-4F43-B6F0-3405B337D54E}"/>
                </a:ext>
              </a:extLst>
            </p:cNvPr>
            <p:cNvCxnSpPr/>
            <p:nvPr/>
          </p:nvCxnSpPr>
          <p:spPr bwMode="auto">
            <a:xfrm>
              <a:off x="2895759" y="3948068"/>
              <a:ext cx="0" cy="226821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33798A4B-398C-4564-ABE2-62770CFF02BB}"/>
                </a:ext>
              </a:extLst>
            </p:cNvPr>
            <p:cNvCxnSpPr/>
            <p:nvPr/>
          </p:nvCxnSpPr>
          <p:spPr bwMode="auto">
            <a:xfrm>
              <a:off x="2972010" y="3948068"/>
              <a:ext cx="0" cy="226821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2" name="Straight Connector 91"/>
          <p:cNvCxnSpPr/>
          <p:nvPr/>
        </p:nvCxnSpPr>
        <p:spPr bwMode="auto">
          <a:xfrm flipV="1">
            <a:off x="2635714" y="3999831"/>
            <a:ext cx="45720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 bwMode="auto">
          <a:xfrm flipV="1">
            <a:off x="2612066" y="5562600"/>
            <a:ext cx="384048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4256828" y="3839996"/>
            <a:ext cx="355600" cy="287338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dirty="0">
                <a:solidFill>
                  <a:srgbClr val="FFFF00"/>
                </a:solidFill>
                <a:latin typeface="+mn-lt"/>
              </a:rPr>
              <a:t>(FK)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3"/>
          <p:cNvSpPr txBox="1">
            <a:spLocks noChangeArrowheads="1"/>
          </p:cNvSpPr>
          <p:nvPr/>
        </p:nvSpPr>
        <p:spPr bwMode="auto">
          <a:xfrm>
            <a:off x="766558" y="1155623"/>
            <a:ext cx="7386842" cy="917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M:N relationship modelling, another example of illustration</a:t>
            </a:r>
          </a:p>
        </p:txBody>
      </p:sp>
      <p:sp>
        <p:nvSpPr>
          <p:cNvPr id="32771" name="Title 1"/>
          <p:cNvSpPr txBox="1">
            <a:spLocks/>
          </p:cNvSpPr>
          <p:nvPr/>
        </p:nvSpPr>
        <p:spPr bwMode="auto">
          <a:xfrm>
            <a:off x="717332" y="368449"/>
            <a:ext cx="527080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 : N Relationship Modelling</a:t>
            </a:r>
            <a:endParaRPr lang="en-US" altLang="en-US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772" name="Rectangle 19">
            <a:hlinkClick r:id="rId3"/>
          </p:cNvPr>
          <p:cNvSpPr>
            <a:spLocks noChangeArrowheads="1"/>
          </p:cNvSpPr>
          <p:nvPr/>
        </p:nvSpPr>
        <p:spPr bwMode="auto">
          <a:xfrm>
            <a:off x="1143000" y="5953125"/>
            <a:ext cx="7270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6800" rIns="46800">
            <a:spAutoFit/>
          </a:bodyPr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altLang="en-US" sz="280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Supplementary illustration from Youtube video 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241942"/>
              </p:ext>
            </p:extLst>
          </p:nvPr>
        </p:nvGraphicFramePr>
        <p:xfrm>
          <a:off x="5362367" y="2620963"/>
          <a:ext cx="1344820" cy="138551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4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083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CLASSES</a:t>
                      </a:r>
                      <a:endParaRPr lang="en-SG" sz="18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29" marB="36029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083">
                <a:tc>
                  <a:txBody>
                    <a:bodyPr/>
                    <a:lstStyle/>
                    <a:p>
                      <a:pPr algn="ctr"/>
                      <a:r>
                        <a:rPr lang="en-GB" sz="1800" b="1" u="sng" dirty="0" err="1" smtClean="0">
                          <a:solidFill>
                            <a:schemeClr val="tx1"/>
                          </a:solidFill>
                        </a:rPr>
                        <a:t>ClassID</a:t>
                      </a:r>
                      <a:endParaRPr lang="en-SG" sz="1800" b="1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6029" marB="36029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579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C00000"/>
                          </a:solidFill>
                        </a:rPr>
                        <a:t>Class</a:t>
                      </a:r>
                      <a:r>
                        <a:rPr lang="en-GB" sz="1800" baseline="0" dirty="0" smtClean="0">
                          <a:solidFill>
                            <a:srgbClr val="C00000"/>
                          </a:solidFill>
                        </a:rPr>
                        <a:t> Name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29" marB="3602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579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C00000"/>
                          </a:solidFill>
                        </a:rPr>
                        <a:t>Instructor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29" marB="3602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313291" y="4146098"/>
            <a:ext cx="1544709" cy="349702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Entity: CLASSES</a:t>
            </a:r>
          </a:p>
        </p:txBody>
      </p:sp>
      <p:sp>
        <p:nvSpPr>
          <p:cNvPr id="23" name="Rectangle 22"/>
          <p:cNvSpPr/>
          <p:nvPr/>
        </p:nvSpPr>
        <p:spPr bwMode="auto">
          <a:xfrm>
            <a:off x="1813692" y="3977069"/>
            <a:ext cx="1751945" cy="349702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Entity: STUDENTS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035640"/>
              </p:ext>
            </p:extLst>
          </p:nvPr>
        </p:nvGraphicFramePr>
        <p:xfrm>
          <a:off x="1600200" y="2514600"/>
          <a:ext cx="1603375" cy="1384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673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STUDENTS</a:t>
                      </a:r>
                      <a:endParaRPr lang="en-SG" sz="18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5929" marB="3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673">
                <a:tc>
                  <a:txBody>
                    <a:bodyPr/>
                    <a:lstStyle/>
                    <a:p>
                      <a:pPr algn="ctr"/>
                      <a:r>
                        <a:rPr lang="en-GB" sz="1800" b="0" u="sng" dirty="0" smtClean="0">
                          <a:solidFill>
                            <a:schemeClr val="tx1"/>
                          </a:solidFill>
                        </a:rPr>
                        <a:t>Student ID</a:t>
                      </a:r>
                      <a:endParaRPr lang="en-SG" sz="18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35985" marR="35985" marT="35929" marB="3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96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C00000"/>
                          </a:solidFill>
                        </a:rPr>
                        <a:t>Student Name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5929" marB="3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96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rgbClr val="C00000"/>
                          </a:solidFill>
                        </a:rPr>
                        <a:t>OS</a:t>
                      </a:r>
                      <a:endParaRPr lang="en-SG" sz="18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5929" marB="3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5" name="Straight Connector 24"/>
          <p:cNvCxnSpPr/>
          <p:nvPr/>
        </p:nvCxnSpPr>
        <p:spPr bwMode="auto">
          <a:xfrm>
            <a:off x="3173104" y="3103563"/>
            <a:ext cx="219456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800" name="Group 25"/>
          <p:cNvGrpSpPr>
            <a:grpSpLocks/>
          </p:cNvGrpSpPr>
          <p:nvPr/>
        </p:nvGrpSpPr>
        <p:grpSpPr bwMode="auto">
          <a:xfrm>
            <a:off x="3173101" y="2590801"/>
            <a:ext cx="2176799" cy="631826"/>
            <a:chOff x="4631099" y="2490786"/>
            <a:chExt cx="2177666" cy="631827"/>
          </a:xfrm>
        </p:grpSpPr>
        <p:grpSp>
          <p:nvGrpSpPr>
            <p:cNvPr id="32801" name="Group 53"/>
            <p:cNvGrpSpPr>
              <a:grpSpLocks/>
            </p:cNvGrpSpPr>
            <p:nvPr/>
          </p:nvGrpSpPr>
          <p:grpSpPr bwMode="auto">
            <a:xfrm>
              <a:off x="5125327" y="2895601"/>
              <a:ext cx="1683438" cy="215900"/>
              <a:chOff x="5039514" y="2798907"/>
              <a:chExt cx="1682807" cy="215957"/>
            </a:xfrm>
          </p:grpSpPr>
          <p:sp>
            <p:nvSpPr>
              <p:cNvPr id="34" name="Oval 33"/>
              <p:cNvSpPr/>
              <p:nvPr/>
            </p:nvSpPr>
            <p:spPr>
              <a:xfrm>
                <a:off x="5039514" y="2798907"/>
                <a:ext cx="107953" cy="215957"/>
              </a:xfrm>
              <a:prstGeom prst="ellipse">
                <a:avLst/>
              </a:prstGeom>
              <a:noFill/>
              <a:ln w="381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SG"/>
              </a:p>
            </p:txBody>
          </p:sp>
          <p:grpSp>
            <p:nvGrpSpPr>
              <p:cNvPr id="32809" name="Group 28"/>
              <p:cNvGrpSpPr>
                <a:grpSpLocks/>
              </p:cNvGrpSpPr>
              <p:nvPr/>
            </p:nvGrpSpPr>
            <p:grpSpPr bwMode="auto">
              <a:xfrm>
                <a:off x="6447994" y="2809073"/>
                <a:ext cx="274327" cy="194039"/>
                <a:chOff x="2954669" y="4088398"/>
                <a:chExt cx="274327" cy="194039"/>
              </a:xfrm>
            </p:grpSpPr>
            <p:cxnSp>
              <p:nvCxnSpPr>
                <p:cNvPr id="36" name="Straight Connector 35"/>
                <p:cNvCxnSpPr/>
                <p:nvPr/>
              </p:nvCxnSpPr>
              <p:spPr>
                <a:xfrm flipV="1">
                  <a:off x="2954670" y="4088398"/>
                  <a:ext cx="274326" cy="91464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>
                <a:xfrm>
                  <a:off x="2954669" y="4190973"/>
                  <a:ext cx="274326" cy="91464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2802" name="Group 52"/>
            <p:cNvGrpSpPr>
              <a:grpSpLocks/>
            </p:cNvGrpSpPr>
            <p:nvPr/>
          </p:nvGrpSpPr>
          <p:grpSpPr bwMode="auto">
            <a:xfrm>
              <a:off x="4631099" y="2894013"/>
              <a:ext cx="1772642" cy="228600"/>
              <a:chOff x="4545454" y="2797319"/>
              <a:chExt cx="1771972" cy="228660"/>
            </a:xfrm>
          </p:grpSpPr>
          <p:grpSp>
            <p:nvGrpSpPr>
              <p:cNvPr id="32804" name="Group 31"/>
              <p:cNvGrpSpPr>
                <a:grpSpLocks/>
              </p:cNvGrpSpPr>
              <p:nvPr/>
            </p:nvGrpSpPr>
            <p:grpSpPr bwMode="auto">
              <a:xfrm flipH="1">
                <a:off x="4545454" y="2803361"/>
                <a:ext cx="279755" cy="207691"/>
                <a:chOff x="2959066" y="4075259"/>
                <a:chExt cx="279755" cy="207691"/>
              </a:xfrm>
            </p:grpSpPr>
            <p:cxnSp>
              <p:nvCxnSpPr>
                <p:cNvPr id="32" name="Straight Connector 31"/>
                <p:cNvCxnSpPr/>
                <p:nvPr/>
              </p:nvCxnSpPr>
              <p:spPr>
                <a:xfrm flipV="1">
                  <a:off x="2964496" y="4075259"/>
                  <a:ext cx="274325" cy="91464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/>
              </p:nvCxnSpPr>
              <p:spPr>
                <a:xfrm>
                  <a:off x="2959066" y="4191486"/>
                  <a:ext cx="274325" cy="91464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>
              <a:xfrm>
                <a:off x="6317426" y="2797319"/>
                <a:ext cx="0" cy="22866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Rectangle 28"/>
            <p:cNvSpPr/>
            <p:nvPr/>
          </p:nvSpPr>
          <p:spPr bwMode="auto">
            <a:xfrm>
              <a:off x="5462013" y="2490786"/>
              <a:ext cx="773012" cy="380481"/>
            </a:xfrm>
            <a:prstGeom prst="rect">
              <a:avLst/>
            </a:prstGeom>
            <a:ln w="38100">
              <a:noFill/>
            </a:ln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2000" b="1" dirty="0">
                  <a:solidFill>
                    <a:srgbClr val="FFFF00"/>
                  </a:solidFill>
                  <a:latin typeface="+mn-lt"/>
                </a:rPr>
                <a:t>attend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1676400" y="2209800"/>
            <a:ext cx="5943600" cy="1163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Subsequent phase of Database Development </a:t>
            </a:r>
            <a:r>
              <a:rPr lang="en-US" altLang="en-US" sz="36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….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425450"/>
            <a:ext cx="5432425" cy="565150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smtClean="0">
                <a:solidFill>
                  <a:srgbClr val="FFFF00"/>
                </a:solidFill>
                <a:cs typeface="Calibri" panose="020F0502020204030204" pitchFamily="34" charset="0"/>
              </a:rPr>
              <a:t>Database Development Process</a:t>
            </a:r>
            <a:endParaRPr lang="en-US" altLang="en-US" sz="3200" b="1" smtClean="0">
              <a:solidFill>
                <a:srgbClr val="FFFF00"/>
              </a:solidFill>
              <a:cs typeface="Calibri" panose="020F0502020204030204" pitchFamily="34" charset="0"/>
            </a:endParaRPr>
          </a:p>
        </p:txBody>
      </p:sp>
      <p:grpSp>
        <p:nvGrpSpPr>
          <p:cNvPr id="10243" name="Group 2"/>
          <p:cNvGrpSpPr>
            <a:grpSpLocks/>
          </p:cNvGrpSpPr>
          <p:nvPr/>
        </p:nvGrpSpPr>
        <p:grpSpPr bwMode="auto">
          <a:xfrm>
            <a:off x="5024438" y="1225550"/>
            <a:ext cx="1808162" cy="5480050"/>
            <a:chOff x="5013325" y="1828800"/>
            <a:chExt cx="1450933" cy="4532313"/>
          </a:xfrm>
        </p:grpSpPr>
        <p:sp>
          <p:nvSpPr>
            <p:cNvPr id="4" name="Oval 3">
              <a:hlinkClick r:id="rId3" action="ppaction://hlinksldjump"/>
            </p:cNvPr>
            <p:cNvSpPr/>
            <p:nvPr/>
          </p:nvSpPr>
          <p:spPr>
            <a:xfrm>
              <a:off x="5013325" y="1828800"/>
              <a:ext cx="1387240" cy="45690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anchor="ctr"/>
            <a:lstStyle/>
            <a:p>
              <a:pPr algn="ctr" eaLnBrk="1" hangingPunct="1">
                <a:defRPr/>
              </a:pPr>
              <a:r>
                <a:rPr lang="en-GB" sz="1400" b="1" dirty="0">
                  <a:solidFill>
                    <a:schemeClr val="tx1"/>
                  </a:solidFill>
                </a:rPr>
                <a:t>1) Database planning 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Rounded Rectangle 13">
              <a:hlinkClick r:id="rId4" action="ppaction://hlinksldjump"/>
            </p:cNvPr>
            <p:cNvSpPr/>
            <p:nvPr/>
          </p:nvSpPr>
          <p:spPr>
            <a:xfrm>
              <a:off x="5033707" y="3810046"/>
              <a:ext cx="1393609" cy="4569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anchor="ctr"/>
            <a:lstStyle/>
            <a:p>
              <a:pPr algn="ctr" eaLnBrk="1" hangingPunct="1">
                <a:defRPr/>
              </a:pPr>
              <a:r>
                <a:rPr lang="en-GB" sz="1400" b="1" dirty="0">
                  <a:solidFill>
                    <a:schemeClr val="tx1"/>
                  </a:solidFill>
                </a:rPr>
                <a:t>3) Database design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Rounded Rectangle 14">
              <a:hlinkClick r:id="rId5" action="ppaction://hlinksldjump"/>
            </p:cNvPr>
            <p:cNvSpPr/>
            <p:nvPr/>
          </p:nvSpPr>
          <p:spPr>
            <a:xfrm>
              <a:off x="5048993" y="5029779"/>
              <a:ext cx="1394883" cy="456908"/>
            </a:xfrm>
            <a:prstGeom prst="roundRect">
              <a:avLst/>
            </a:prstGeom>
            <a:solidFill>
              <a:srgbClr val="FFFF00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anchor="ctr"/>
            <a:lstStyle/>
            <a:p>
              <a:pPr algn="ctr" eaLnBrk="1" hangingPunct="1">
                <a:defRPr/>
              </a:pPr>
              <a:r>
                <a:rPr lang="en-GB" sz="1400" b="1" dirty="0">
                  <a:solidFill>
                    <a:schemeClr val="tx1"/>
                  </a:solidFill>
                </a:rPr>
                <a:t>4) Database implementation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5013325" y="5821490"/>
              <a:ext cx="1450933" cy="539623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anchor="ctr"/>
            <a:lstStyle/>
            <a:p>
              <a:pPr algn="ctr" eaLnBrk="1" hangingPunct="1">
                <a:defRPr/>
              </a:pPr>
              <a:r>
                <a:rPr lang="en-GB" sz="1200" b="1" dirty="0">
                  <a:solidFill>
                    <a:schemeClr val="tx1"/>
                  </a:solidFill>
                </a:rPr>
                <a:t>5) Data conversion &amp; Loading</a:t>
              </a:r>
              <a:endParaRPr lang="en-SG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5715225" y="2289647"/>
              <a:ext cx="0" cy="439839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5715225" y="3171951"/>
              <a:ext cx="0" cy="684048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5715225" y="4266954"/>
              <a:ext cx="0" cy="793023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5735607" y="5466993"/>
              <a:ext cx="0" cy="395198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>
              <a:hlinkClick r:id="rId6" action="ppaction://hlinksldjump"/>
            </p:cNvPr>
            <p:cNvSpPr/>
            <p:nvPr/>
          </p:nvSpPr>
          <p:spPr>
            <a:xfrm>
              <a:off x="5024789" y="2729486"/>
              <a:ext cx="1394884" cy="4569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anchor="ctr"/>
            <a:lstStyle/>
            <a:p>
              <a:pPr algn="ctr" eaLnBrk="1" hangingPunct="1">
                <a:defRPr/>
              </a:pPr>
              <a:r>
                <a:rPr lang="en-GB" sz="1400" b="1" dirty="0">
                  <a:solidFill>
                    <a:schemeClr val="tx1"/>
                  </a:solidFill>
                </a:rPr>
                <a:t>2) Data collection &amp; analysis 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7007225" y="1225550"/>
            <a:ext cx="1606550" cy="5205413"/>
            <a:chOff x="6901586" y="1225810"/>
            <a:chExt cx="1154690" cy="5204097"/>
          </a:xfrm>
        </p:grpSpPr>
        <p:sp>
          <p:nvSpPr>
            <p:cNvPr id="5" name="TextBox 4"/>
            <p:cNvSpPr txBox="1"/>
            <p:nvPr/>
          </p:nvSpPr>
          <p:spPr>
            <a:xfrm>
              <a:off x="7054480" y="1225810"/>
              <a:ext cx="633254" cy="380904"/>
            </a:xfrm>
            <a:prstGeom prst="rect">
              <a:avLst/>
            </a:prstGeom>
            <a:noFill/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defRPr/>
              </a:pPr>
              <a:r>
                <a:rPr lang="en-GB" sz="2000" b="1" u="sng" dirty="0">
                  <a:solidFill>
                    <a:schemeClr val="bg1"/>
                  </a:solidFill>
                  <a:latin typeface="+mn-lt"/>
                </a:rPr>
                <a:t>Activity</a:t>
              </a:r>
              <a:endParaRPr lang="en-US" sz="2000" b="1" u="sng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901586" y="4215904"/>
              <a:ext cx="1152408" cy="52374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anchor="ctr"/>
            <a:lstStyle/>
            <a:p>
              <a:pPr algn="ctr" eaLnBrk="1" hangingPunct="1">
                <a:defRPr/>
              </a:pPr>
              <a:r>
                <a:rPr lang="en-GB" sz="1400" b="1" dirty="0">
                  <a:solidFill>
                    <a:schemeClr val="tx1"/>
                  </a:solidFill>
                </a:rPr>
                <a:t>ER Diagram, ER modelling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903868" y="5104679"/>
              <a:ext cx="1117037" cy="549136"/>
            </a:xfrm>
            <a:prstGeom prst="roundRect">
              <a:avLst/>
            </a:prstGeom>
            <a:solidFill>
              <a:srgbClr val="FF0000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anchor="ctr"/>
            <a:lstStyle/>
            <a:p>
              <a:pPr algn="ctr" eaLnBrk="1" hangingPunct="1">
                <a:defRPr/>
              </a:pPr>
              <a:r>
                <a:rPr lang="en-GB" sz="1400" b="1" dirty="0">
                  <a:solidFill>
                    <a:schemeClr val="tx1"/>
                  </a:solidFill>
                </a:rPr>
                <a:t>Create Relational Database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6903868" y="2698638"/>
              <a:ext cx="1152408" cy="607859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anchor="ctr"/>
            <a:lstStyle/>
            <a:p>
              <a:pPr algn="ctr" eaLnBrk="1" hangingPunct="1">
                <a:defRPr/>
              </a:pPr>
              <a:r>
                <a:rPr lang="en-GB" sz="1400" b="1" dirty="0">
                  <a:solidFill>
                    <a:schemeClr val="tx1"/>
                  </a:solidFill>
                </a:rPr>
                <a:t>Interview, Survey reports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6916419" y="5972823"/>
              <a:ext cx="1115896" cy="457084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anchor="ctr"/>
            <a:lstStyle/>
            <a:p>
              <a:pPr algn="ctr" eaLnBrk="1" hangingPunct="1">
                <a:defRPr/>
              </a:pPr>
              <a:r>
                <a:rPr lang="en-GB" sz="1100" b="1" dirty="0">
                  <a:solidFill>
                    <a:schemeClr val="tx1"/>
                  </a:solidFill>
                </a:rPr>
                <a:t> </a:t>
              </a:r>
              <a:r>
                <a:rPr lang="en-GB" sz="1400" b="1" dirty="0">
                  <a:solidFill>
                    <a:schemeClr val="tx1"/>
                  </a:solidFill>
                </a:rPr>
                <a:t>Data migration &amp; Testing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152400" y="2574925"/>
            <a:ext cx="8467725" cy="3140075"/>
            <a:chOff x="152400" y="2574924"/>
            <a:chExt cx="8466751" cy="3139985"/>
          </a:xfrm>
        </p:grpSpPr>
        <p:cxnSp>
          <p:nvCxnSpPr>
            <p:cNvPr id="40" name="Straight Connector 39"/>
            <p:cNvCxnSpPr/>
            <p:nvPr/>
          </p:nvCxnSpPr>
          <p:spPr bwMode="auto">
            <a:xfrm>
              <a:off x="665104" y="5713322"/>
              <a:ext cx="7954047" cy="1587"/>
            </a:xfrm>
            <a:prstGeom prst="line">
              <a:avLst/>
            </a:prstGeom>
            <a:ln>
              <a:solidFill>
                <a:srgbClr val="FFFF00"/>
              </a:solidFill>
              <a:prstDash val="lg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0254" name="Rectangle 34"/>
            <p:cNvSpPr>
              <a:spLocks noChangeArrowheads="1"/>
            </p:cNvSpPr>
            <p:nvPr/>
          </p:nvSpPr>
          <p:spPr bwMode="auto">
            <a:xfrm>
              <a:off x="1426194" y="2659062"/>
              <a:ext cx="935996" cy="646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6800" tIns="46038" rIns="46800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 b="1">
                  <a:solidFill>
                    <a:srgbClr val="FFFF00"/>
                  </a:solidFill>
                  <a:cs typeface="Arial" panose="020B0604020202020204" pitchFamily="34" charset="0"/>
                </a:rPr>
                <a:t>External Level</a:t>
              </a:r>
              <a:endParaRPr lang="en-US" altLang="en-US" sz="1800">
                <a:solidFill>
                  <a:srgbClr val="FFFF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255" name="Rectangle 35"/>
            <p:cNvSpPr>
              <a:spLocks noChangeArrowheads="1"/>
            </p:cNvSpPr>
            <p:nvPr/>
          </p:nvSpPr>
          <p:spPr bwMode="auto">
            <a:xfrm>
              <a:off x="1269995" y="3717924"/>
              <a:ext cx="1259995" cy="646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6800" tIns="46038" rIns="46800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 b="1">
                  <a:solidFill>
                    <a:srgbClr val="FFFF00"/>
                  </a:solidFill>
                  <a:cs typeface="Arial" panose="020B0604020202020204" pitchFamily="34" charset="0"/>
                </a:rPr>
                <a:t>Conceptual Level</a:t>
              </a:r>
              <a:endParaRPr lang="en-US" altLang="en-US" sz="1800">
                <a:solidFill>
                  <a:srgbClr val="FFFF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256" name="Rectangle 70"/>
            <p:cNvSpPr>
              <a:spLocks noChangeArrowheads="1"/>
            </p:cNvSpPr>
            <p:nvPr/>
          </p:nvSpPr>
          <p:spPr bwMode="auto">
            <a:xfrm>
              <a:off x="1358395" y="4999676"/>
              <a:ext cx="1079996" cy="646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6800" tIns="46038" rIns="46800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 b="1">
                  <a:solidFill>
                    <a:srgbClr val="FFFF00"/>
                  </a:solidFill>
                  <a:cs typeface="Arial" panose="020B0604020202020204" pitchFamily="34" charset="0"/>
                </a:rPr>
                <a:t>Internal Level</a:t>
              </a:r>
              <a:endParaRPr lang="en-US" altLang="en-US" sz="1800">
                <a:solidFill>
                  <a:srgbClr val="FFFF00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39" name="Straight Arrow Connector 38"/>
            <p:cNvCxnSpPr/>
            <p:nvPr/>
          </p:nvCxnSpPr>
          <p:spPr bwMode="auto">
            <a:xfrm rot="5400000">
              <a:off x="-749327" y="4086181"/>
              <a:ext cx="3024101" cy="1588"/>
            </a:xfrm>
            <a:prstGeom prst="straightConnector1">
              <a:avLst/>
            </a:prstGeom>
            <a:ln w="28575">
              <a:headEnd type="arrow"/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 bwMode="auto">
            <a:xfrm>
              <a:off x="685739" y="2574924"/>
              <a:ext cx="7861984" cy="1588"/>
            </a:xfrm>
            <a:prstGeom prst="line">
              <a:avLst/>
            </a:prstGeom>
            <a:ln>
              <a:solidFill>
                <a:srgbClr val="FFFF00"/>
              </a:solidFill>
              <a:prstDash val="lg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42" name="TextBox 4"/>
            <p:cNvSpPr txBox="1">
              <a:spLocks noChangeArrowheads="1"/>
            </p:cNvSpPr>
            <p:nvPr/>
          </p:nvSpPr>
          <p:spPr bwMode="auto">
            <a:xfrm>
              <a:off x="152400" y="3946485"/>
              <a:ext cx="1187313" cy="793727"/>
            </a:xfrm>
            <a:prstGeom prst="rect">
              <a:avLst/>
            </a:prstGeom>
            <a:solidFill>
              <a:srgbClr val="FFFFCC"/>
            </a:solidFill>
            <a:ln w="9525">
              <a:noFill/>
              <a:miter lim="800000"/>
              <a:headEnd/>
              <a:tailEnd/>
            </a:ln>
          </p:spPr>
          <p:txBody>
            <a:bodyPr lIns="27432" tIns="27432" rIns="27432" bIns="27432">
              <a:spAutoFit/>
            </a:bodyPr>
            <a:lstStyle/>
            <a:p>
              <a:pPr>
                <a:defRPr/>
              </a:pPr>
              <a:r>
                <a:rPr lang="en-GB" sz="1600" b="1" dirty="0">
                  <a:solidFill>
                    <a:srgbClr val="FF0000"/>
                  </a:solidFill>
                  <a:latin typeface="+mn-lt"/>
                </a:rPr>
                <a:t>The 3-Level  Architecture of Database</a:t>
              </a:r>
              <a:endParaRPr lang="en-US" sz="1600" b="1" dirty="0">
                <a:solidFill>
                  <a:srgbClr val="FF0000"/>
                </a:solidFill>
                <a:latin typeface="+mn-lt"/>
              </a:endParaRPr>
            </a:p>
          </p:txBody>
        </p:sp>
      </p:grp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2743200" y="1219200"/>
            <a:ext cx="1997075" cy="4343400"/>
            <a:chOff x="2742476" y="1219200"/>
            <a:chExt cx="1996440" cy="4343554"/>
          </a:xfrm>
        </p:grpSpPr>
        <p:sp>
          <p:nvSpPr>
            <p:cNvPr id="11" name="Rectangle 10"/>
            <p:cNvSpPr/>
            <p:nvPr/>
          </p:nvSpPr>
          <p:spPr>
            <a:xfrm>
              <a:off x="2742476" y="1905024"/>
              <a:ext cx="1920264" cy="36513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8000" tIns="18000" rIns="18000" bIns="18000" anchor="ctr"/>
            <a:lstStyle/>
            <a:p>
              <a:pPr algn="ctr" eaLnBrk="1" hangingPunct="1">
                <a:defRPr/>
              </a:pPr>
              <a:r>
                <a:rPr lang="en-GB" sz="1400" b="1" dirty="0">
                  <a:solidFill>
                    <a:schemeClr val="tx1"/>
                  </a:solidFill>
                </a:rPr>
                <a:t>Establishing requirements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894828" y="5105538"/>
              <a:ext cx="1828219" cy="45721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anchor="ctr"/>
            <a:lstStyle/>
            <a:p>
              <a:pPr algn="ctr" eaLnBrk="1" hangingPunct="1">
                <a:defRPr/>
              </a:pPr>
              <a:r>
                <a:rPr lang="en-GB" sz="1400" b="1" dirty="0">
                  <a:solidFill>
                    <a:schemeClr val="tx1"/>
                  </a:solidFill>
                </a:rPr>
                <a:t>Physical database design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802782" y="2698802"/>
              <a:ext cx="1920264" cy="6413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anchor="ctr"/>
            <a:lstStyle/>
            <a:p>
              <a:pPr algn="ctr" eaLnBrk="1" hangingPunct="1">
                <a:defRPr/>
              </a:pPr>
              <a:r>
                <a:rPr lang="en-GB" sz="1400" b="1" dirty="0">
                  <a:solidFill>
                    <a:schemeClr val="tx1"/>
                  </a:solidFill>
                </a:rPr>
                <a:t>Interview users, understand system functional requirements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818652" y="3675150"/>
              <a:ext cx="1920264" cy="36513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anchor="ctr"/>
            <a:lstStyle/>
            <a:p>
              <a:pPr algn="ctr" eaLnBrk="1" hangingPunct="1">
                <a:defRPr/>
              </a:pPr>
              <a:r>
                <a:rPr lang="en-GB" sz="1400" b="1" dirty="0">
                  <a:solidFill>
                    <a:schemeClr val="tx1"/>
                  </a:solidFill>
                </a:rPr>
                <a:t>Conceptual data model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818652" y="4167293"/>
              <a:ext cx="1920264" cy="49531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anchor="ctr"/>
            <a:lstStyle/>
            <a:p>
              <a:pPr algn="ctr" eaLnBrk="1" hangingPunct="1">
                <a:defRPr/>
              </a:pPr>
              <a:r>
                <a:rPr lang="en-GB" sz="1400" b="1" dirty="0">
                  <a:solidFill>
                    <a:schemeClr val="tx1"/>
                  </a:solidFill>
                </a:rPr>
                <a:t>Logical database design (Logical schema)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808937" y="1219200"/>
              <a:ext cx="807781" cy="381014"/>
            </a:xfrm>
            <a:prstGeom prst="rect">
              <a:avLst/>
            </a:prstGeom>
            <a:noFill/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defRPr/>
              </a:pPr>
              <a:r>
                <a:rPr lang="en-GB" sz="2000" b="1" u="sng" dirty="0">
                  <a:solidFill>
                    <a:schemeClr val="bg1"/>
                  </a:solidFill>
                  <a:latin typeface="+mn-lt"/>
                </a:rPr>
                <a:t>Phases</a:t>
              </a:r>
              <a:endParaRPr lang="en-US" sz="2000" b="1" u="sng" dirty="0">
                <a:solidFill>
                  <a:schemeClr val="bg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071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501650"/>
            <a:ext cx="6269038" cy="565150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Entity-Relationship Modelling (ERM)</a:t>
            </a:r>
            <a:endParaRPr lang="en-US" altLang="en-US" sz="3200" b="1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717550" y="1725613"/>
            <a:ext cx="6656388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ERM –&gt; Create tables with constraints; for example:</a:t>
            </a:r>
          </a:p>
        </p:txBody>
      </p:sp>
      <p:pic>
        <p:nvPicPr>
          <p:cNvPr id="3584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5" t="31636" r="42239" b="14598"/>
          <a:stretch>
            <a:fillRect/>
          </a:stretch>
        </p:blipFill>
        <p:spPr bwMode="auto">
          <a:xfrm>
            <a:off x="990600" y="2174875"/>
            <a:ext cx="6045200" cy="399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26" t="54935" r="49838" b="29169"/>
          <a:stretch>
            <a:fillRect/>
          </a:stretch>
        </p:blipFill>
        <p:spPr bwMode="auto">
          <a:xfrm>
            <a:off x="3048000" y="5181600"/>
            <a:ext cx="58197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6" name="Text Box 3"/>
          <p:cNvSpPr txBox="1">
            <a:spLocks noChangeArrowheads="1"/>
          </p:cNvSpPr>
          <p:nvPr/>
        </p:nvSpPr>
        <p:spPr bwMode="auto">
          <a:xfrm>
            <a:off x="717550" y="1143000"/>
            <a:ext cx="259397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3) Implementation :</a:t>
            </a:r>
          </a:p>
        </p:txBody>
      </p:sp>
      <p:sp>
        <p:nvSpPr>
          <p:cNvPr id="35847" name="Text Box 3"/>
          <p:cNvSpPr txBox="1">
            <a:spLocks noChangeArrowheads="1"/>
          </p:cNvSpPr>
          <p:nvPr/>
        </p:nvSpPr>
        <p:spPr bwMode="auto">
          <a:xfrm>
            <a:off x="5715000" y="4776788"/>
            <a:ext cx="2944813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C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Enter data </a:t>
            </a:r>
            <a:r>
              <a:rPr lang="en-US" altLang="en-US" sz="2400" b="1">
                <a:solidFill>
                  <a:srgbClr val="C00000"/>
                </a:solidFill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2400" b="1">
                <a:solidFill>
                  <a:srgbClr val="C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Database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4600" y="2465388"/>
            <a:ext cx="3610210" cy="811367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pPr eaLnBrk="1" hangingPunct="1">
              <a:defRPr/>
            </a:pPr>
            <a:r>
              <a:rPr lang="en-GB" sz="4800" b="1" dirty="0">
                <a:solidFill>
                  <a:srgbClr val="FFFF00"/>
                </a:solidFill>
                <a:latin typeface="+mn-lt"/>
              </a:rPr>
              <a:t>End of Topic </a:t>
            </a:r>
            <a:r>
              <a:rPr lang="en-GB" sz="4800" b="1" dirty="0" smtClean="0">
                <a:solidFill>
                  <a:srgbClr val="FFFF00"/>
                </a:solidFill>
                <a:latin typeface="+mn-lt"/>
              </a:rPr>
              <a:t>5</a:t>
            </a:r>
            <a:endParaRPr lang="en-US" sz="4800" b="1" dirty="0">
              <a:solidFill>
                <a:srgbClr val="FFFF00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5" t="24934" r="55457" b="63635"/>
          <a:stretch>
            <a:fillRect/>
          </a:stretch>
        </p:blipFill>
        <p:spPr bwMode="auto">
          <a:xfrm>
            <a:off x="3451225" y="1185863"/>
            <a:ext cx="5311775" cy="87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" t="30557" r="49026" b="41389"/>
          <a:stretch>
            <a:fillRect/>
          </a:stretch>
        </p:blipFill>
        <p:spPr bwMode="auto">
          <a:xfrm>
            <a:off x="1371600" y="4416425"/>
            <a:ext cx="5997575" cy="213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2" name="Title 1"/>
          <p:cNvSpPr txBox="1">
            <a:spLocks/>
          </p:cNvSpPr>
          <p:nvPr/>
        </p:nvSpPr>
        <p:spPr bwMode="auto">
          <a:xfrm>
            <a:off x="630238" y="457200"/>
            <a:ext cx="6269037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Entity-Relationship Modelling (ERM)</a:t>
            </a:r>
            <a:endParaRPr lang="en-US" altLang="en-US" b="1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685800" y="1336675"/>
            <a:ext cx="7791450" cy="125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indent="0">
              <a:buFont typeface="Arial" charset="0"/>
              <a:buNone/>
              <a:defRPr/>
            </a:pPr>
            <a:r>
              <a:rPr lang="en-US" altLang="en-US" sz="2400" dirty="0" smtClean="0">
                <a:solidFill>
                  <a:schemeClr val="bg1"/>
                </a:solidFill>
                <a:cs typeface="Times New Roman" pitchFamily="18" charset="0"/>
              </a:rPr>
              <a:t>Additional Example,</a:t>
            </a:r>
          </a:p>
          <a:p>
            <a:pPr marL="0" indent="0">
              <a:buFont typeface="Arial" charset="0"/>
              <a:buNone/>
              <a:defRPr/>
            </a:pPr>
            <a:r>
              <a:rPr lang="en-US" altLang="en-US" sz="2400" dirty="0" smtClean="0">
                <a:solidFill>
                  <a:schemeClr val="bg1"/>
                </a:solidFill>
                <a:cs typeface="Times New Roman" pitchFamily="18" charset="0"/>
              </a:rPr>
              <a:t>Key attributes :</a:t>
            </a:r>
          </a:p>
          <a:p>
            <a:pPr marL="273050" indent="-273050">
              <a:buFont typeface="Courier New" panose="02070309020205020404" pitchFamily="49" charset="0"/>
              <a:buChar char="o"/>
              <a:defRPr/>
            </a:pPr>
            <a:r>
              <a:rPr lang="en-US" altLang="en-US" sz="2000" b="1" dirty="0" smtClean="0">
                <a:solidFill>
                  <a:schemeClr val="bg1"/>
                </a:solidFill>
                <a:cs typeface="Times New Roman" pitchFamily="18" charset="0"/>
              </a:rPr>
              <a:t>ITEM</a:t>
            </a:r>
            <a:r>
              <a:rPr lang="en-US" altLang="en-US" sz="2000" dirty="0" smtClean="0">
                <a:solidFill>
                  <a:schemeClr val="bg1"/>
                </a:solidFill>
                <a:cs typeface="Times New Roman" pitchFamily="18" charset="0"/>
              </a:rPr>
              <a:t> entity – </a:t>
            </a:r>
            <a:r>
              <a:rPr lang="en-US" altLang="en-US" sz="2000" b="1" dirty="0" smtClean="0">
                <a:solidFill>
                  <a:srgbClr val="FFFF00"/>
                </a:solidFill>
                <a:cs typeface="Times New Roman" pitchFamily="18" charset="0"/>
              </a:rPr>
              <a:t>‘</a:t>
            </a:r>
            <a:r>
              <a:rPr lang="en-US" altLang="en-US" sz="2000" b="1" dirty="0" err="1" smtClean="0">
                <a:solidFill>
                  <a:srgbClr val="FFFF00"/>
                </a:solidFill>
                <a:cs typeface="Times New Roman" pitchFamily="18" charset="0"/>
              </a:rPr>
              <a:t>itemid</a:t>
            </a:r>
            <a:r>
              <a:rPr lang="en-US" altLang="en-US" sz="2000" b="1" dirty="0" smtClean="0">
                <a:solidFill>
                  <a:srgbClr val="FFFF00"/>
                </a:solidFill>
                <a:cs typeface="Times New Roman" pitchFamily="18" charset="0"/>
              </a:rPr>
              <a:t>’</a:t>
            </a:r>
            <a:r>
              <a:rPr lang="en-US" altLang="en-US" sz="2000" dirty="0" smtClean="0">
                <a:solidFill>
                  <a:schemeClr val="bg1"/>
                </a:solidFill>
                <a:cs typeface="Times New Roman" pitchFamily="18" charset="0"/>
              </a:rPr>
              <a:t>,         </a:t>
            </a:r>
            <a:r>
              <a:rPr lang="en-US" altLang="en-US" sz="2000" b="1" dirty="0" smtClean="0">
                <a:solidFill>
                  <a:schemeClr val="bg1"/>
                </a:solidFill>
                <a:cs typeface="Times New Roman" pitchFamily="18" charset="0"/>
              </a:rPr>
              <a:t>SUPPLIER</a:t>
            </a:r>
            <a:r>
              <a:rPr lang="en-US" altLang="en-US" sz="2000" dirty="0" smtClean="0">
                <a:solidFill>
                  <a:schemeClr val="bg1"/>
                </a:solidFill>
                <a:cs typeface="Times New Roman" pitchFamily="18" charset="0"/>
              </a:rPr>
              <a:t> entity – </a:t>
            </a:r>
            <a:r>
              <a:rPr lang="en-US" altLang="en-US" sz="2000" b="1" dirty="0" smtClean="0">
                <a:solidFill>
                  <a:srgbClr val="FFFF00"/>
                </a:solidFill>
                <a:cs typeface="Times New Roman" pitchFamily="18" charset="0"/>
              </a:rPr>
              <a:t>‘</a:t>
            </a:r>
            <a:r>
              <a:rPr lang="en-US" altLang="en-US" sz="2000" b="1" dirty="0" err="1" smtClean="0">
                <a:solidFill>
                  <a:srgbClr val="FFFF00"/>
                </a:solidFill>
                <a:cs typeface="Times New Roman" pitchFamily="18" charset="0"/>
              </a:rPr>
              <a:t>supplierid</a:t>
            </a:r>
            <a:r>
              <a:rPr lang="en-US" altLang="en-US" sz="2000" b="1" dirty="0" smtClean="0">
                <a:solidFill>
                  <a:srgbClr val="FFFF00"/>
                </a:solidFill>
                <a:cs typeface="Times New Roman" pitchFamily="18" charset="0"/>
              </a:rPr>
              <a:t>’</a:t>
            </a:r>
          </a:p>
        </p:txBody>
      </p:sp>
      <p:pic>
        <p:nvPicPr>
          <p:cNvPr id="3789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3" t="52989" r="55244" b="33919"/>
          <a:stretch>
            <a:fillRect/>
          </a:stretch>
        </p:blipFill>
        <p:spPr bwMode="auto">
          <a:xfrm>
            <a:off x="1752600" y="2735263"/>
            <a:ext cx="4583113" cy="99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own Arrow 1"/>
          <p:cNvSpPr/>
          <p:nvPr/>
        </p:nvSpPr>
        <p:spPr>
          <a:xfrm>
            <a:off x="4038600" y="3733800"/>
            <a:ext cx="304800" cy="533400"/>
          </a:xfrm>
          <a:prstGeom prst="down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S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8476</TotalTime>
  <Words>2634</Words>
  <Application>Microsoft Office PowerPoint</Application>
  <PresentationFormat>On-screen Show (4:3)</PresentationFormat>
  <Paragraphs>748</Paragraphs>
  <Slides>30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MS Mincho</vt:lpstr>
      <vt:lpstr>宋体</vt:lpstr>
      <vt:lpstr>宋体</vt:lpstr>
      <vt:lpstr>Arial</vt:lpstr>
      <vt:lpstr>Calibri</vt:lpstr>
      <vt:lpstr>Courier New</vt:lpstr>
      <vt:lpstr>Times New Roman</vt:lpstr>
      <vt:lpstr>Verdana</vt:lpstr>
      <vt:lpstr>Wingdings</vt:lpstr>
      <vt:lpstr>Office Theme</vt:lpstr>
      <vt:lpstr>IT1768 - Database Systems</vt:lpstr>
      <vt:lpstr>Unit 5 : Entity-Relationship Modelling</vt:lpstr>
      <vt:lpstr>PowerPoint Presentation</vt:lpstr>
      <vt:lpstr>Entity-Relationship Modelling (ERM)</vt:lpstr>
      <vt:lpstr>Recap on cardinality - maximum &amp; minimum values</vt:lpstr>
      <vt:lpstr>Entity relationship diagram is modelled based on the following relationships between entities: </vt:lpstr>
      <vt:lpstr>Different Types of Relationships in ERD</vt:lpstr>
      <vt:lpstr>1 : 1 Relationship Modelling</vt:lpstr>
      <vt:lpstr>PowerPoint Presentation</vt:lpstr>
      <vt:lpstr>PowerPoint Presentation</vt:lpstr>
      <vt:lpstr>PowerPoint Presentation</vt:lpstr>
      <vt:lpstr>1 : Many Relationship Modelling</vt:lpstr>
      <vt:lpstr>PowerPoint Presentation</vt:lpstr>
      <vt:lpstr>1 : Many Relationship Modelling</vt:lpstr>
      <vt:lpstr>1 : Many Relationship Modelling</vt:lpstr>
      <vt:lpstr>PowerPoint Presentation</vt:lpstr>
      <vt:lpstr>1 : Many Relationship Modelling</vt:lpstr>
      <vt:lpstr>Many : Many Relationship Modelling</vt:lpstr>
      <vt:lpstr>PowerPoint Presentation</vt:lpstr>
      <vt:lpstr>PowerPoint Presentation</vt:lpstr>
      <vt:lpstr>PowerPoint Presentation</vt:lpstr>
      <vt:lpstr>PowerPoint Presentation</vt:lpstr>
      <vt:lpstr>M : N Relationship Modelling</vt:lpstr>
      <vt:lpstr>M : N Relationship Modelling</vt:lpstr>
      <vt:lpstr>PowerPoint Presentation</vt:lpstr>
      <vt:lpstr>PowerPoint Presentation</vt:lpstr>
      <vt:lpstr>Database Development Process</vt:lpstr>
      <vt:lpstr>Entity-Relationship Modelling (ERM)</vt:lpstr>
      <vt:lpstr>PowerPoint Presentation</vt:lpstr>
      <vt:lpstr>PowerPoint Presentation</vt:lpstr>
    </vt:vector>
  </TitlesOfParts>
  <Company>Nanyang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albertc</dc:creator>
  <cp:lastModifiedBy>CHUA ALBERT</cp:lastModifiedBy>
  <cp:revision>753</cp:revision>
  <cp:lastPrinted>2013-04-04T08:55:38Z</cp:lastPrinted>
  <dcterms:created xsi:type="dcterms:W3CDTF">2008-03-05T05:57:39Z</dcterms:created>
  <dcterms:modified xsi:type="dcterms:W3CDTF">2018-05-12T10:11:05Z</dcterms:modified>
</cp:coreProperties>
</file>