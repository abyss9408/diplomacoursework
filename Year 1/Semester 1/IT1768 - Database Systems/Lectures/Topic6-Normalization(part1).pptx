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4776" r:id="rId2"/>
  </p:sldMasterIdLst>
  <p:notesMasterIdLst>
    <p:notesMasterId r:id="rId46"/>
  </p:notesMasterIdLst>
  <p:handoutMasterIdLst>
    <p:handoutMasterId r:id="rId47"/>
  </p:handoutMasterIdLst>
  <p:sldIdLst>
    <p:sldId id="295" r:id="rId3"/>
    <p:sldId id="256" r:id="rId4"/>
    <p:sldId id="338" r:id="rId5"/>
    <p:sldId id="439" r:id="rId6"/>
    <p:sldId id="454" r:id="rId7"/>
    <p:sldId id="455" r:id="rId8"/>
    <p:sldId id="456" r:id="rId9"/>
    <p:sldId id="457" r:id="rId10"/>
    <p:sldId id="458" r:id="rId11"/>
    <p:sldId id="460" r:id="rId12"/>
    <p:sldId id="459" r:id="rId13"/>
    <p:sldId id="449" r:id="rId14"/>
    <p:sldId id="411" r:id="rId15"/>
    <p:sldId id="453" r:id="rId16"/>
    <p:sldId id="432" r:id="rId17"/>
    <p:sldId id="433" r:id="rId18"/>
    <p:sldId id="434" r:id="rId19"/>
    <p:sldId id="452" r:id="rId20"/>
    <p:sldId id="311" r:id="rId21"/>
    <p:sldId id="266" r:id="rId22"/>
    <p:sldId id="372" r:id="rId23"/>
    <p:sldId id="461" r:id="rId24"/>
    <p:sldId id="271" r:id="rId25"/>
    <p:sldId id="470" r:id="rId26"/>
    <p:sldId id="463" r:id="rId27"/>
    <p:sldId id="462" r:id="rId28"/>
    <p:sldId id="315" r:id="rId29"/>
    <p:sldId id="418" r:id="rId30"/>
    <p:sldId id="401" r:id="rId31"/>
    <p:sldId id="402" r:id="rId32"/>
    <p:sldId id="464" r:id="rId33"/>
    <p:sldId id="404" r:id="rId34"/>
    <p:sldId id="465" r:id="rId35"/>
    <p:sldId id="425" r:id="rId36"/>
    <p:sldId id="436" r:id="rId37"/>
    <p:sldId id="427" r:id="rId38"/>
    <p:sldId id="466" r:id="rId39"/>
    <p:sldId id="467" r:id="rId40"/>
    <p:sldId id="468" r:id="rId41"/>
    <p:sldId id="469" r:id="rId42"/>
    <p:sldId id="384" r:id="rId43"/>
    <p:sldId id="428" r:id="rId44"/>
    <p:sldId id="430" r:id="rId45"/>
  </p:sldIdLst>
  <p:sldSz cx="9144000" cy="6858000" type="screen4x3"/>
  <p:notesSz cx="9144000" cy="6858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FF99"/>
    <a:srgbClr val="FFFF99"/>
    <a:srgbClr val="FFFFCC"/>
    <a:srgbClr val="FFFFFF"/>
    <a:srgbClr val="FFCC66"/>
    <a:srgbClr val="FFFF00"/>
    <a:srgbClr val="008000"/>
    <a:srgbClr val="99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9" autoAdjust="0"/>
    <p:restoredTop sz="93592" autoAdjust="0"/>
  </p:normalViewPr>
  <p:slideViewPr>
    <p:cSldViewPr>
      <p:cViewPr varScale="1">
        <p:scale>
          <a:sx n="65" d="100"/>
          <a:sy n="65" d="100"/>
        </p:scale>
        <p:origin x="1452"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66" d="100"/>
          <a:sy n="66" d="100"/>
        </p:scale>
        <p:origin x="954" y="54"/>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DDF2F4E-0ADA-4773-A57A-6554B383FFEB}" type="doc">
      <dgm:prSet loTypeId="urn:microsoft.com/office/officeart/2005/8/layout/arrow2" loCatId="process" qsTypeId="urn:microsoft.com/office/officeart/2005/8/quickstyle/simple1" qsCatId="simple" csTypeId="urn:microsoft.com/office/officeart/2005/8/colors/colorful1" csCatId="colorful" phldr="1"/>
      <dgm:spPr/>
    </dgm:pt>
    <dgm:pt modelId="{93C00C60-CD0B-46D9-A83D-D9F4AFFD335A}">
      <dgm:prSet phldrT="[Text]"/>
      <dgm:spPr/>
      <dgm:t>
        <a:bodyPr lIns="36000" tIns="36000" rIns="36000" bIns="36000"/>
        <a:lstStyle/>
        <a:p>
          <a:r>
            <a:rPr lang="en-GB" b="1" dirty="0" smtClean="0">
              <a:solidFill>
                <a:schemeClr val="accent6">
                  <a:lumMod val="50000"/>
                </a:schemeClr>
              </a:solidFill>
            </a:rPr>
            <a:t>1 NF</a:t>
          </a:r>
          <a:endParaRPr lang="en-SG" b="1" dirty="0">
            <a:solidFill>
              <a:schemeClr val="accent6">
                <a:lumMod val="50000"/>
              </a:schemeClr>
            </a:solidFill>
          </a:endParaRPr>
        </a:p>
      </dgm:t>
    </dgm:pt>
    <dgm:pt modelId="{C515F096-FC74-4B59-BD0A-64260239A914}" type="parTrans" cxnId="{F50DC753-7C93-4BA0-927D-2698B077109A}">
      <dgm:prSet/>
      <dgm:spPr/>
      <dgm:t>
        <a:bodyPr/>
        <a:lstStyle/>
        <a:p>
          <a:endParaRPr lang="en-SG"/>
        </a:p>
      </dgm:t>
    </dgm:pt>
    <dgm:pt modelId="{FF71FDBF-BDBB-4752-A33A-895D1DEEF4C4}" type="sibTrans" cxnId="{F50DC753-7C93-4BA0-927D-2698B077109A}">
      <dgm:prSet/>
      <dgm:spPr/>
      <dgm:t>
        <a:bodyPr/>
        <a:lstStyle/>
        <a:p>
          <a:endParaRPr lang="en-SG"/>
        </a:p>
      </dgm:t>
    </dgm:pt>
    <dgm:pt modelId="{A102AF5B-D006-4859-A532-AA7FBB06C58B}">
      <dgm:prSet phldrT="[Text]"/>
      <dgm:spPr/>
      <dgm:t>
        <a:bodyPr lIns="36000" tIns="36000" rIns="36000" bIns="36000"/>
        <a:lstStyle/>
        <a:p>
          <a:r>
            <a:rPr lang="en-GB" b="1" dirty="0" smtClean="0">
              <a:solidFill>
                <a:srgbClr val="FF0000"/>
              </a:solidFill>
            </a:rPr>
            <a:t>2 NF</a:t>
          </a:r>
          <a:endParaRPr lang="en-SG" b="1" dirty="0">
            <a:solidFill>
              <a:srgbClr val="FF0000"/>
            </a:solidFill>
          </a:endParaRPr>
        </a:p>
      </dgm:t>
    </dgm:pt>
    <dgm:pt modelId="{218080CB-A88C-43EE-82FB-5B0BD24BB2FB}" type="parTrans" cxnId="{289AB735-1746-4494-ABEC-9BB48D4BB1F0}">
      <dgm:prSet/>
      <dgm:spPr/>
      <dgm:t>
        <a:bodyPr/>
        <a:lstStyle/>
        <a:p>
          <a:endParaRPr lang="en-SG"/>
        </a:p>
      </dgm:t>
    </dgm:pt>
    <dgm:pt modelId="{83E6F5EB-23DB-4F78-9EE5-8FBFE7B7EFCA}" type="sibTrans" cxnId="{289AB735-1746-4494-ABEC-9BB48D4BB1F0}">
      <dgm:prSet/>
      <dgm:spPr/>
      <dgm:t>
        <a:bodyPr/>
        <a:lstStyle/>
        <a:p>
          <a:endParaRPr lang="en-SG"/>
        </a:p>
      </dgm:t>
    </dgm:pt>
    <dgm:pt modelId="{C0C58299-979D-4F81-BFD0-1413CE3C8089}">
      <dgm:prSet phldrT="[Text]"/>
      <dgm:spPr/>
      <dgm:t>
        <a:bodyPr lIns="36000" tIns="36000" rIns="36000" bIns="36000"/>
        <a:lstStyle/>
        <a:p>
          <a:r>
            <a:rPr lang="en-GB" b="1" dirty="0" smtClean="0">
              <a:solidFill>
                <a:srgbClr val="C00000"/>
              </a:solidFill>
            </a:rPr>
            <a:t>3 NF</a:t>
          </a:r>
          <a:endParaRPr lang="en-SG" b="1" dirty="0">
            <a:solidFill>
              <a:srgbClr val="C00000"/>
            </a:solidFill>
          </a:endParaRPr>
        </a:p>
      </dgm:t>
    </dgm:pt>
    <dgm:pt modelId="{80B711E5-46E5-4231-B629-FB88B3A65CDC}" type="parTrans" cxnId="{29E46016-5264-43C0-BC43-03207F4B78DF}">
      <dgm:prSet/>
      <dgm:spPr/>
      <dgm:t>
        <a:bodyPr/>
        <a:lstStyle/>
        <a:p>
          <a:endParaRPr lang="en-SG"/>
        </a:p>
      </dgm:t>
    </dgm:pt>
    <dgm:pt modelId="{529166D2-D6DA-4EE7-A99D-EE580FE0BA9A}" type="sibTrans" cxnId="{29E46016-5264-43C0-BC43-03207F4B78DF}">
      <dgm:prSet/>
      <dgm:spPr/>
      <dgm:t>
        <a:bodyPr/>
        <a:lstStyle/>
        <a:p>
          <a:endParaRPr lang="en-SG"/>
        </a:p>
      </dgm:t>
    </dgm:pt>
    <dgm:pt modelId="{71435DB5-7CF7-490B-B47F-DA4D8EF7012E}" type="pres">
      <dgm:prSet presAssocID="{EDDF2F4E-0ADA-4773-A57A-6554B383FFEB}" presName="arrowDiagram" presStyleCnt="0">
        <dgm:presLayoutVars>
          <dgm:chMax val="5"/>
          <dgm:dir/>
          <dgm:resizeHandles val="exact"/>
        </dgm:presLayoutVars>
      </dgm:prSet>
      <dgm:spPr/>
    </dgm:pt>
    <dgm:pt modelId="{205A70C8-AD5E-47C6-ADA9-814CD3326F0B}" type="pres">
      <dgm:prSet presAssocID="{EDDF2F4E-0ADA-4773-A57A-6554B383FFEB}" presName="arrow" presStyleLbl="bgShp" presStyleIdx="0" presStyleCnt="1" custLinFactNeighborY="-2267"/>
      <dgm:spPr>
        <a:ln>
          <a:solidFill>
            <a:schemeClr val="accent2">
              <a:lumMod val="75000"/>
            </a:schemeClr>
          </a:solidFill>
        </a:ln>
      </dgm:spPr>
    </dgm:pt>
    <dgm:pt modelId="{E0086E82-D8B1-4D5D-990B-BF3E9925A3C5}" type="pres">
      <dgm:prSet presAssocID="{EDDF2F4E-0ADA-4773-A57A-6554B383FFEB}" presName="arrowDiagram3" presStyleCnt="0"/>
      <dgm:spPr/>
    </dgm:pt>
    <dgm:pt modelId="{27DAB98D-5EE8-4E55-8C44-E61E0D934EEA}" type="pres">
      <dgm:prSet presAssocID="{93C00C60-CD0B-46D9-A83D-D9F4AFFD335A}" presName="bullet3a" presStyleLbl="node1" presStyleIdx="0" presStyleCnt="3"/>
      <dgm:spPr/>
    </dgm:pt>
    <dgm:pt modelId="{B725AFAB-1EDD-45CC-8577-ABEB3C6D734B}" type="pres">
      <dgm:prSet presAssocID="{93C00C60-CD0B-46D9-A83D-D9F4AFFD335A}" presName="textBox3a" presStyleLbl="revTx" presStyleIdx="0" presStyleCnt="3" custScaleX="96313" custScaleY="68659" custLinFactNeighborX="-21872">
        <dgm:presLayoutVars>
          <dgm:bulletEnabled val="1"/>
        </dgm:presLayoutVars>
      </dgm:prSet>
      <dgm:spPr/>
      <dgm:t>
        <a:bodyPr/>
        <a:lstStyle/>
        <a:p>
          <a:endParaRPr lang="en-SG"/>
        </a:p>
      </dgm:t>
    </dgm:pt>
    <dgm:pt modelId="{B8CEBF19-24BE-425E-A585-FDBA2E4ABA6C}" type="pres">
      <dgm:prSet presAssocID="{A102AF5B-D006-4859-A532-AA7FBB06C58B}" presName="bullet3b" presStyleLbl="node1" presStyleIdx="1" presStyleCnt="3"/>
      <dgm:spPr/>
    </dgm:pt>
    <dgm:pt modelId="{2A76BBA6-A688-4546-946E-497917FB11C7}" type="pres">
      <dgm:prSet presAssocID="{A102AF5B-D006-4859-A532-AA7FBB06C58B}" presName="textBox3b" presStyleLbl="revTx" presStyleIdx="1" presStyleCnt="3" custScaleX="93504" custScaleY="41686" custLinFactNeighborX="-28248" custLinFactNeighborY="-11264">
        <dgm:presLayoutVars>
          <dgm:bulletEnabled val="1"/>
        </dgm:presLayoutVars>
      </dgm:prSet>
      <dgm:spPr/>
      <dgm:t>
        <a:bodyPr/>
        <a:lstStyle/>
        <a:p>
          <a:endParaRPr lang="en-SG"/>
        </a:p>
      </dgm:t>
    </dgm:pt>
    <dgm:pt modelId="{99A134A4-9CFC-4FDD-98EA-5342A74994D2}" type="pres">
      <dgm:prSet presAssocID="{C0C58299-979D-4F81-BFD0-1413CE3C8089}" presName="bullet3c" presStyleLbl="node1" presStyleIdx="2" presStyleCnt="3"/>
      <dgm:spPr/>
    </dgm:pt>
    <dgm:pt modelId="{CA245C6C-F7A9-4529-8C0B-1BE531D229EB}" type="pres">
      <dgm:prSet presAssocID="{C0C58299-979D-4F81-BFD0-1413CE3C8089}" presName="textBox3c" presStyleLbl="revTx" presStyleIdx="2" presStyleCnt="3" custScaleX="93504" custScaleY="31269" custLinFactNeighborX="-35887" custLinFactNeighborY="-17051">
        <dgm:presLayoutVars>
          <dgm:bulletEnabled val="1"/>
        </dgm:presLayoutVars>
      </dgm:prSet>
      <dgm:spPr/>
      <dgm:t>
        <a:bodyPr/>
        <a:lstStyle/>
        <a:p>
          <a:endParaRPr lang="en-SG"/>
        </a:p>
      </dgm:t>
    </dgm:pt>
  </dgm:ptLst>
  <dgm:cxnLst>
    <dgm:cxn modelId="{29E46016-5264-43C0-BC43-03207F4B78DF}" srcId="{EDDF2F4E-0ADA-4773-A57A-6554B383FFEB}" destId="{C0C58299-979D-4F81-BFD0-1413CE3C8089}" srcOrd="2" destOrd="0" parTransId="{80B711E5-46E5-4231-B629-FB88B3A65CDC}" sibTransId="{529166D2-D6DA-4EE7-A99D-EE580FE0BA9A}"/>
    <dgm:cxn modelId="{1DEAB33F-BDAC-46A4-967D-1BB4A1932784}" type="presOf" srcId="{EDDF2F4E-0ADA-4773-A57A-6554B383FFEB}" destId="{71435DB5-7CF7-490B-B47F-DA4D8EF7012E}" srcOrd="0" destOrd="0" presId="urn:microsoft.com/office/officeart/2005/8/layout/arrow2"/>
    <dgm:cxn modelId="{E91A1BC1-0A11-4263-80F9-BEACC001CFBF}" type="presOf" srcId="{C0C58299-979D-4F81-BFD0-1413CE3C8089}" destId="{CA245C6C-F7A9-4529-8C0B-1BE531D229EB}" srcOrd="0" destOrd="0" presId="urn:microsoft.com/office/officeart/2005/8/layout/arrow2"/>
    <dgm:cxn modelId="{5AA60B36-79B3-407B-A1D9-86FCEFAB57A9}" type="presOf" srcId="{A102AF5B-D006-4859-A532-AA7FBB06C58B}" destId="{2A76BBA6-A688-4546-946E-497917FB11C7}" srcOrd="0" destOrd="0" presId="urn:microsoft.com/office/officeart/2005/8/layout/arrow2"/>
    <dgm:cxn modelId="{901B2064-9AD9-44CD-B663-F95E912B3C0A}" type="presOf" srcId="{93C00C60-CD0B-46D9-A83D-D9F4AFFD335A}" destId="{B725AFAB-1EDD-45CC-8577-ABEB3C6D734B}" srcOrd="0" destOrd="0" presId="urn:microsoft.com/office/officeart/2005/8/layout/arrow2"/>
    <dgm:cxn modelId="{289AB735-1746-4494-ABEC-9BB48D4BB1F0}" srcId="{EDDF2F4E-0ADA-4773-A57A-6554B383FFEB}" destId="{A102AF5B-D006-4859-A532-AA7FBB06C58B}" srcOrd="1" destOrd="0" parTransId="{218080CB-A88C-43EE-82FB-5B0BD24BB2FB}" sibTransId="{83E6F5EB-23DB-4F78-9EE5-8FBFE7B7EFCA}"/>
    <dgm:cxn modelId="{F50DC753-7C93-4BA0-927D-2698B077109A}" srcId="{EDDF2F4E-0ADA-4773-A57A-6554B383FFEB}" destId="{93C00C60-CD0B-46D9-A83D-D9F4AFFD335A}" srcOrd="0" destOrd="0" parTransId="{C515F096-FC74-4B59-BD0A-64260239A914}" sibTransId="{FF71FDBF-BDBB-4752-A33A-895D1DEEF4C4}"/>
    <dgm:cxn modelId="{17965FED-124E-4A42-B4FE-0D6FA77DB80F}" type="presParOf" srcId="{71435DB5-7CF7-490B-B47F-DA4D8EF7012E}" destId="{205A70C8-AD5E-47C6-ADA9-814CD3326F0B}" srcOrd="0" destOrd="0" presId="urn:microsoft.com/office/officeart/2005/8/layout/arrow2"/>
    <dgm:cxn modelId="{2E9E3172-38C1-4918-906F-DD2DFBFFAD1E}" type="presParOf" srcId="{71435DB5-7CF7-490B-B47F-DA4D8EF7012E}" destId="{E0086E82-D8B1-4D5D-990B-BF3E9925A3C5}" srcOrd="1" destOrd="0" presId="urn:microsoft.com/office/officeart/2005/8/layout/arrow2"/>
    <dgm:cxn modelId="{30F732AD-C7A6-4F17-ADDC-F3BBE62F9278}" type="presParOf" srcId="{E0086E82-D8B1-4D5D-990B-BF3E9925A3C5}" destId="{27DAB98D-5EE8-4E55-8C44-E61E0D934EEA}" srcOrd="0" destOrd="0" presId="urn:microsoft.com/office/officeart/2005/8/layout/arrow2"/>
    <dgm:cxn modelId="{8DB7A05E-253F-4896-B4EF-B930A8587629}" type="presParOf" srcId="{E0086E82-D8B1-4D5D-990B-BF3E9925A3C5}" destId="{B725AFAB-1EDD-45CC-8577-ABEB3C6D734B}" srcOrd="1" destOrd="0" presId="urn:microsoft.com/office/officeart/2005/8/layout/arrow2"/>
    <dgm:cxn modelId="{EA578A99-3490-4E70-A5FC-70FAE7F2D01D}" type="presParOf" srcId="{E0086E82-D8B1-4D5D-990B-BF3E9925A3C5}" destId="{B8CEBF19-24BE-425E-A585-FDBA2E4ABA6C}" srcOrd="2" destOrd="0" presId="urn:microsoft.com/office/officeart/2005/8/layout/arrow2"/>
    <dgm:cxn modelId="{ABC31508-8E65-46B4-BCBC-4630D5BB9A45}" type="presParOf" srcId="{E0086E82-D8B1-4D5D-990B-BF3E9925A3C5}" destId="{2A76BBA6-A688-4546-946E-497917FB11C7}" srcOrd="3" destOrd="0" presId="urn:microsoft.com/office/officeart/2005/8/layout/arrow2"/>
    <dgm:cxn modelId="{40D3024B-55BD-4D77-AF62-1DD2CFCD4AC5}" type="presParOf" srcId="{E0086E82-D8B1-4D5D-990B-BF3E9925A3C5}" destId="{99A134A4-9CFC-4FDD-98EA-5342A74994D2}" srcOrd="4" destOrd="0" presId="urn:microsoft.com/office/officeart/2005/8/layout/arrow2"/>
    <dgm:cxn modelId="{BDF0743C-C514-4D2C-BC1E-191B11F7ED03}" type="presParOf" srcId="{E0086E82-D8B1-4D5D-990B-BF3E9925A3C5}" destId="{CA245C6C-F7A9-4529-8C0B-1BE531D229EB}" srcOrd="5" destOrd="0" presId="urn:microsoft.com/office/officeart/2005/8/layout/arrow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DDF2F4E-0ADA-4773-A57A-6554B383FFEB}" type="doc">
      <dgm:prSet loTypeId="urn:microsoft.com/office/officeart/2005/8/layout/arrow2" loCatId="process" qsTypeId="urn:microsoft.com/office/officeart/2005/8/quickstyle/simple1" qsCatId="simple" csTypeId="urn:microsoft.com/office/officeart/2005/8/colors/colorful1" csCatId="colorful" phldr="1"/>
      <dgm:spPr/>
    </dgm:pt>
    <dgm:pt modelId="{93C00C60-CD0B-46D9-A83D-D9F4AFFD335A}">
      <dgm:prSet phldrT="[Text]"/>
      <dgm:spPr/>
      <dgm:t>
        <a:bodyPr lIns="36000" tIns="36000" rIns="36000" bIns="36000"/>
        <a:lstStyle/>
        <a:p>
          <a:r>
            <a:rPr lang="en-GB" b="1" dirty="0" smtClean="0">
              <a:solidFill>
                <a:schemeClr val="accent6">
                  <a:lumMod val="50000"/>
                </a:schemeClr>
              </a:solidFill>
            </a:rPr>
            <a:t>1 NF</a:t>
          </a:r>
          <a:endParaRPr lang="en-SG" b="1" dirty="0">
            <a:solidFill>
              <a:schemeClr val="accent6">
                <a:lumMod val="50000"/>
              </a:schemeClr>
            </a:solidFill>
          </a:endParaRPr>
        </a:p>
      </dgm:t>
    </dgm:pt>
    <dgm:pt modelId="{C515F096-FC74-4B59-BD0A-64260239A914}" type="parTrans" cxnId="{F50DC753-7C93-4BA0-927D-2698B077109A}">
      <dgm:prSet/>
      <dgm:spPr/>
      <dgm:t>
        <a:bodyPr/>
        <a:lstStyle/>
        <a:p>
          <a:endParaRPr lang="en-SG"/>
        </a:p>
      </dgm:t>
    </dgm:pt>
    <dgm:pt modelId="{FF71FDBF-BDBB-4752-A33A-895D1DEEF4C4}" type="sibTrans" cxnId="{F50DC753-7C93-4BA0-927D-2698B077109A}">
      <dgm:prSet/>
      <dgm:spPr/>
      <dgm:t>
        <a:bodyPr/>
        <a:lstStyle/>
        <a:p>
          <a:endParaRPr lang="en-SG"/>
        </a:p>
      </dgm:t>
    </dgm:pt>
    <dgm:pt modelId="{A102AF5B-D006-4859-A532-AA7FBB06C58B}">
      <dgm:prSet phldrT="[Text]"/>
      <dgm:spPr/>
      <dgm:t>
        <a:bodyPr lIns="36000" tIns="36000" rIns="36000" bIns="36000"/>
        <a:lstStyle/>
        <a:p>
          <a:r>
            <a:rPr lang="en-GB" b="1" dirty="0" smtClean="0">
              <a:solidFill>
                <a:srgbClr val="FF0000"/>
              </a:solidFill>
            </a:rPr>
            <a:t>2 NF</a:t>
          </a:r>
          <a:endParaRPr lang="en-SG" b="1" dirty="0">
            <a:solidFill>
              <a:srgbClr val="FF0000"/>
            </a:solidFill>
          </a:endParaRPr>
        </a:p>
      </dgm:t>
    </dgm:pt>
    <dgm:pt modelId="{218080CB-A88C-43EE-82FB-5B0BD24BB2FB}" type="parTrans" cxnId="{289AB735-1746-4494-ABEC-9BB48D4BB1F0}">
      <dgm:prSet/>
      <dgm:spPr/>
      <dgm:t>
        <a:bodyPr/>
        <a:lstStyle/>
        <a:p>
          <a:endParaRPr lang="en-SG"/>
        </a:p>
      </dgm:t>
    </dgm:pt>
    <dgm:pt modelId="{83E6F5EB-23DB-4F78-9EE5-8FBFE7B7EFCA}" type="sibTrans" cxnId="{289AB735-1746-4494-ABEC-9BB48D4BB1F0}">
      <dgm:prSet/>
      <dgm:spPr/>
      <dgm:t>
        <a:bodyPr/>
        <a:lstStyle/>
        <a:p>
          <a:endParaRPr lang="en-SG"/>
        </a:p>
      </dgm:t>
    </dgm:pt>
    <dgm:pt modelId="{C0C58299-979D-4F81-BFD0-1413CE3C8089}">
      <dgm:prSet phldrT="[Text]"/>
      <dgm:spPr/>
      <dgm:t>
        <a:bodyPr lIns="36000" tIns="36000" rIns="36000" bIns="36000"/>
        <a:lstStyle/>
        <a:p>
          <a:r>
            <a:rPr lang="en-GB" b="1" dirty="0" smtClean="0">
              <a:solidFill>
                <a:srgbClr val="C00000"/>
              </a:solidFill>
            </a:rPr>
            <a:t>3 NF</a:t>
          </a:r>
          <a:endParaRPr lang="en-SG" b="1" dirty="0">
            <a:solidFill>
              <a:srgbClr val="C00000"/>
            </a:solidFill>
          </a:endParaRPr>
        </a:p>
      </dgm:t>
    </dgm:pt>
    <dgm:pt modelId="{80B711E5-46E5-4231-B629-FB88B3A65CDC}" type="parTrans" cxnId="{29E46016-5264-43C0-BC43-03207F4B78DF}">
      <dgm:prSet/>
      <dgm:spPr/>
      <dgm:t>
        <a:bodyPr/>
        <a:lstStyle/>
        <a:p>
          <a:endParaRPr lang="en-SG"/>
        </a:p>
      </dgm:t>
    </dgm:pt>
    <dgm:pt modelId="{529166D2-D6DA-4EE7-A99D-EE580FE0BA9A}" type="sibTrans" cxnId="{29E46016-5264-43C0-BC43-03207F4B78DF}">
      <dgm:prSet/>
      <dgm:spPr/>
      <dgm:t>
        <a:bodyPr/>
        <a:lstStyle/>
        <a:p>
          <a:endParaRPr lang="en-SG"/>
        </a:p>
      </dgm:t>
    </dgm:pt>
    <dgm:pt modelId="{71435DB5-7CF7-490B-B47F-DA4D8EF7012E}" type="pres">
      <dgm:prSet presAssocID="{EDDF2F4E-0ADA-4773-A57A-6554B383FFEB}" presName="arrowDiagram" presStyleCnt="0">
        <dgm:presLayoutVars>
          <dgm:chMax val="5"/>
          <dgm:dir/>
          <dgm:resizeHandles val="exact"/>
        </dgm:presLayoutVars>
      </dgm:prSet>
      <dgm:spPr/>
    </dgm:pt>
    <dgm:pt modelId="{205A70C8-AD5E-47C6-ADA9-814CD3326F0B}" type="pres">
      <dgm:prSet presAssocID="{EDDF2F4E-0ADA-4773-A57A-6554B383FFEB}" presName="arrow" presStyleLbl="bgShp" presStyleIdx="0" presStyleCnt="1" custLinFactNeighborY="-2267"/>
      <dgm:spPr>
        <a:ln>
          <a:solidFill>
            <a:schemeClr val="accent2">
              <a:lumMod val="75000"/>
            </a:schemeClr>
          </a:solidFill>
        </a:ln>
      </dgm:spPr>
    </dgm:pt>
    <dgm:pt modelId="{E0086E82-D8B1-4D5D-990B-BF3E9925A3C5}" type="pres">
      <dgm:prSet presAssocID="{EDDF2F4E-0ADA-4773-A57A-6554B383FFEB}" presName="arrowDiagram3" presStyleCnt="0"/>
      <dgm:spPr/>
    </dgm:pt>
    <dgm:pt modelId="{27DAB98D-5EE8-4E55-8C44-E61E0D934EEA}" type="pres">
      <dgm:prSet presAssocID="{93C00C60-CD0B-46D9-A83D-D9F4AFFD335A}" presName="bullet3a" presStyleLbl="node1" presStyleIdx="0" presStyleCnt="3"/>
      <dgm:spPr/>
    </dgm:pt>
    <dgm:pt modelId="{B725AFAB-1EDD-45CC-8577-ABEB3C6D734B}" type="pres">
      <dgm:prSet presAssocID="{93C00C60-CD0B-46D9-A83D-D9F4AFFD335A}" presName="textBox3a" presStyleLbl="revTx" presStyleIdx="0" presStyleCnt="3" custScaleX="96313" custScaleY="68659" custLinFactNeighborX="-21872">
        <dgm:presLayoutVars>
          <dgm:bulletEnabled val="1"/>
        </dgm:presLayoutVars>
      </dgm:prSet>
      <dgm:spPr/>
      <dgm:t>
        <a:bodyPr/>
        <a:lstStyle/>
        <a:p>
          <a:endParaRPr lang="en-SG"/>
        </a:p>
      </dgm:t>
    </dgm:pt>
    <dgm:pt modelId="{B8CEBF19-24BE-425E-A585-FDBA2E4ABA6C}" type="pres">
      <dgm:prSet presAssocID="{A102AF5B-D006-4859-A532-AA7FBB06C58B}" presName="bullet3b" presStyleLbl="node1" presStyleIdx="1" presStyleCnt="3"/>
      <dgm:spPr/>
    </dgm:pt>
    <dgm:pt modelId="{2A76BBA6-A688-4546-946E-497917FB11C7}" type="pres">
      <dgm:prSet presAssocID="{A102AF5B-D006-4859-A532-AA7FBB06C58B}" presName="textBox3b" presStyleLbl="revTx" presStyleIdx="1" presStyleCnt="3" custScaleX="93504" custScaleY="41686" custLinFactNeighborX="-28248" custLinFactNeighborY="-11264">
        <dgm:presLayoutVars>
          <dgm:bulletEnabled val="1"/>
        </dgm:presLayoutVars>
      </dgm:prSet>
      <dgm:spPr/>
      <dgm:t>
        <a:bodyPr/>
        <a:lstStyle/>
        <a:p>
          <a:endParaRPr lang="en-SG"/>
        </a:p>
      </dgm:t>
    </dgm:pt>
    <dgm:pt modelId="{99A134A4-9CFC-4FDD-98EA-5342A74994D2}" type="pres">
      <dgm:prSet presAssocID="{C0C58299-979D-4F81-BFD0-1413CE3C8089}" presName="bullet3c" presStyleLbl="node1" presStyleIdx="2" presStyleCnt="3"/>
      <dgm:spPr/>
    </dgm:pt>
    <dgm:pt modelId="{CA245C6C-F7A9-4529-8C0B-1BE531D229EB}" type="pres">
      <dgm:prSet presAssocID="{C0C58299-979D-4F81-BFD0-1413CE3C8089}" presName="textBox3c" presStyleLbl="revTx" presStyleIdx="2" presStyleCnt="3" custScaleX="93504" custScaleY="31269" custLinFactNeighborX="-35887" custLinFactNeighborY="-17051">
        <dgm:presLayoutVars>
          <dgm:bulletEnabled val="1"/>
        </dgm:presLayoutVars>
      </dgm:prSet>
      <dgm:spPr/>
      <dgm:t>
        <a:bodyPr/>
        <a:lstStyle/>
        <a:p>
          <a:endParaRPr lang="en-SG"/>
        </a:p>
      </dgm:t>
    </dgm:pt>
  </dgm:ptLst>
  <dgm:cxnLst>
    <dgm:cxn modelId="{F9520D3B-A353-4214-8A69-D80DCB7CA313}" type="presOf" srcId="{93C00C60-CD0B-46D9-A83D-D9F4AFFD335A}" destId="{B725AFAB-1EDD-45CC-8577-ABEB3C6D734B}" srcOrd="0" destOrd="0" presId="urn:microsoft.com/office/officeart/2005/8/layout/arrow2"/>
    <dgm:cxn modelId="{F50DC753-7C93-4BA0-927D-2698B077109A}" srcId="{EDDF2F4E-0ADA-4773-A57A-6554B383FFEB}" destId="{93C00C60-CD0B-46D9-A83D-D9F4AFFD335A}" srcOrd="0" destOrd="0" parTransId="{C515F096-FC74-4B59-BD0A-64260239A914}" sibTransId="{FF71FDBF-BDBB-4752-A33A-895D1DEEF4C4}"/>
    <dgm:cxn modelId="{20610E89-72D2-4964-BD44-6EB19C3B1E41}" type="presOf" srcId="{EDDF2F4E-0ADA-4773-A57A-6554B383FFEB}" destId="{71435DB5-7CF7-490B-B47F-DA4D8EF7012E}" srcOrd="0" destOrd="0" presId="urn:microsoft.com/office/officeart/2005/8/layout/arrow2"/>
    <dgm:cxn modelId="{289AB735-1746-4494-ABEC-9BB48D4BB1F0}" srcId="{EDDF2F4E-0ADA-4773-A57A-6554B383FFEB}" destId="{A102AF5B-D006-4859-A532-AA7FBB06C58B}" srcOrd="1" destOrd="0" parTransId="{218080CB-A88C-43EE-82FB-5B0BD24BB2FB}" sibTransId="{83E6F5EB-23DB-4F78-9EE5-8FBFE7B7EFCA}"/>
    <dgm:cxn modelId="{29E46016-5264-43C0-BC43-03207F4B78DF}" srcId="{EDDF2F4E-0ADA-4773-A57A-6554B383FFEB}" destId="{C0C58299-979D-4F81-BFD0-1413CE3C8089}" srcOrd="2" destOrd="0" parTransId="{80B711E5-46E5-4231-B629-FB88B3A65CDC}" sibTransId="{529166D2-D6DA-4EE7-A99D-EE580FE0BA9A}"/>
    <dgm:cxn modelId="{38410C48-2525-46A7-8B6D-ED507CCC4B5E}" type="presOf" srcId="{C0C58299-979D-4F81-BFD0-1413CE3C8089}" destId="{CA245C6C-F7A9-4529-8C0B-1BE531D229EB}" srcOrd="0" destOrd="0" presId="urn:microsoft.com/office/officeart/2005/8/layout/arrow2"/>
    <dgm:cxn modelId="{DB4EF8D2-1C88-4F8A-A52F-93B47334A079}" type="presOf" srcId="{A102AF5B-D006-4859-A532-AA7FBB06C58B}" destId="{2A76BBA6-A688-4546-946E-497917FB11C7}" srcOrd="0" destOrd="0" presId="urn:microsoft.com/office/officeart/2005/8/layout/arrow2"/>
    <dgm:cxn modelId="{E3BAD2A6-A63D-4C0D-AC32-784CC1072167}" type="presParOf" srcId="{71435DB5-7CF7-490B-B47F-DA4D8EF7012E}" destId="{205A70C8-AD5E-47C6-ADA9-814CD3326F0B}" srcOrd="0" destOrd="0" presId="urn:microsoft.com/office/officeart/2005/8/layout/arrow2"/>
    <dgm:cxn modelId="{6E7E1D66-151B-48C2-9585-4A01A66CB17D}" type="presParOf" srcId="{71435DB5-7CF7-490B-B47F-DA4D8EF7012E}" destId="{E0086E82-D8B1-4D5D-990B-BF3E9925A3C5}" srcOrd="1" destOrd="0" presId="urn:microsoft.com/office/officeart/2005/8/layout/arrow2"/>
    <dgm:cxn modelId="{4AE93AB1-DBCE-4E2C-B7B3-ACC1CCE4A717}" type="presParOf" srcId="{E0086E82-D8B1-4D5D-990B-BF3E9925A3C5}" destId="{27DAB98D-5EE8-4E55-8C44-E61E0D934EEA}" srcOrd="0" destOrd="0" presId="urn:microsoft.com/office/officeart/2005/8/layout/arrow2"/>
    <dgm:cxn modelId="{9F84F6E7-B177-459B-A7D7-52904D8642A2}" type="presParOf" srcId="{E0086E82-D8B1-4D5D-990B-BF3E9925A3C5}" destId="{B725AFAB-1EDD-45CC-8577-ABEB3C6D734B}" srcOrd="1" destOrd="0" presId="urn:microsoft.com/office/officeart/2005/8/layout/arrow2"/>
    <dgm:cxn modelId="{1379C6C0-E7FD-46C4-85BF-3E2BBA34EE9C}" type="presParOf" srcId="{E0086E82-D8B1-4D5D-990B-BF3E9925A3C5}" destId="{B8CEBF19-24BE-425E-A585-FDBA2E4ABA6C}" srcOrd="2" destOrd="0" presId="urn:microsoft.com/office/officeart/2005/8/layout/arrow2"/>
    <dgm:cxn modelId="{862B8724-A45E-4D60-810B-2818DA2AB237}" type="presParOf" srcId="{E0086E82-D8B1-4D5D-990B-BF3E9925A3C5}" destId="{2A76BBA6-A688-4546-946E-497917FB11C7}" srcOrd="3" destOrd="0" presId="urn:microsoft.com/office/officeart/2005/8/layout/arrow2"/>
    <dgm:cxn modelId="{EAD70058-2787-4C65-9549-DDD3E11625DD}" type="presParOf" srcId="{E0086E82-D8B1-4D5D-990B-BF3E9925A3C5}" destId="{99A134A4-9CFC-4FDD-98EA-5342A74994D2}" srcOrd="4" destOrd="0" presId="urn:microsoft.com/office/officeart/2005/8/layout/arrow2"/>
    <dgm:cxn modelId="{294D2694-F91E-4807-825D-B66E43D9FED3}" type="presParOf" srcId="{E0086E82-D8B1-4D5D-990B-BF3E9925A3C5}" destId="{CA245C6C-F7A9-4529-8C0B-1BE531D229EB}" srcOrd="5" destOrd="0" presId="urn:microsoft.com/office/officeart/2005/8/layout/arrow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DDF2F4E-0ADA-4773-A57A-6554B383FFEB}" type="doc">
      <dgm:prSet loTypeId="urn:microsoft.com/office/officeart/2005/8/layout/arrow2" loCatId="process" qsTypeId="urn:microsoft.com/office/officeart/2005/8/quickstyle/simple1" qsCatId="simple" csTypeId="urn:microsoft.com/office/officeart/2005/8/colors/colorful1" csCatId="colorful" phldr="1"/>
      <dgm:spPr/>
    </dgm:pt>
    <dgm:pt modelId="{93C00C60-CD0B-46D9-A83D-D9F4AFFD335A}">
      <dgm:prSet phldrT="[Text]"/>
      <dgm:spPr/>
      <dgm:t>
        <a:bodyPr lIns="36000" tIns="36000" rIns="36000" bIns="36000"/>
        <a:lstStyle/>
        <a:p>
          <a:r>
            <a:rPr lang="en-GB" b="1" dirty="0" smtClean="0">
              <a:solidFill>
                <a:schemeClr val="accent6">
                  <a:lumMod val="50000"/>
                </a:schemeClr>
              </a:solidFill>
            </a:rPr>
            <a:t>1 NF</a:t>
          </a:r>
          <a:endParaRPr lang="en-SG" b="1" dirty="0">
            <a:solidFill>
              <a:schemeClr val="accent6">
                <a:lumMod val="50000"/>
              </a:schemeClr>
            </a:solidFill>
          </a:endParaRPr>
        </a:p>
      </dgm:t>
    </dgm:pt>
    <dgm:pt modelId="{C515F096-FC74-4B59-BD0A-64260239A914}" type="parTrans" cxnId="{F50DC753-7C93-4BA0-927D-2698B077109A}">
      <dgm:prSet/>
      <dgm:spPr/>
      <dgm:t>
        <a:bodyPr/>
        <a:lstStyle/>
        <a:p>
          <a:endParaRPr lang="en-SG"/>
        </a:p>
      </dgm:t>
    </dgm:pt>
    <dgm:pt modelId="{FF71FDBF-BDBB-4752-A33A-895D1DEEF4C4}" type="sibTrans" cxnId="{F50DC753-7C93-4BA0-927D-2698B077109A}">
      <dgm:prSet/>
      <dgm:spPr/>
      <dgm:t>
        <a:bodyPr/>
        <a:lstStyle/>
        <a:p>
          <a:endParaRPr lang="en-SG"/>
        </a:p>
      </dgm:t>
    </dgm:pt>
    <dgm:pt modelId="{A102AF5B-D006-4859-A532-AA7FBB06C58B}">
      <dgm:prSet phldrT="[Text]"/>
      <dgm:spPr/>
      <dgm:t>
        <a:bodyPr lIns="36000" tIns="36000" rIns="36000" bIns="36000"/>
        <a:lstStyle/>
        <a:p>
          <a:r>
            <a:rPr lang="en-GB" b="1" dirty="0" smtClean="0">
              <a:solidFill>
                <a:srgbClr val="FF0000"/>
              </a:solidFill>
            </a:rPr>
            <a:t>2 NF</a:t>
          </a:r>
          <a:endParaRPr lang="en-SG" b="1" dirty="0">
            <a:solidFill>
              <a:srgbClr val="FF0000"/>
            </a:solidFill>
          </a:endParaRPr>
        </a:p>
      </dgm:t>
    </dgm:pt>
    <dgm:pt modelId="{218080CB-A88C-43EE-82FB-5B0BD24BB2FB}" type="parTrans" cxnId="{289AB735-1746-4494-ABEC-9BB48D4BB1F0}">
      <dgm:prSet/>
      <dgm:spPr/>
      <dgm:t>
        <a:bodyPr/>
        <a:lstStyle/>
        <a:p>
          <a:endParaRPr lang="en-SG"/>
        </a:p>
      </dgm:t>
    </dgm:pt>
    <dgm:pt modelId="{83E6F5EB-23DB-4F78-9EE5-8FBFE7B7EFCA}" type="sibTrans" cxnId="{289AB735-1746-4494-ABEC-9BB48D4BB1F0}">
      <dgm:prSet/>
      <dgm:spPr/>
      <dgm:t>
        <a:bodyPr/>
        <a:lstStyle/>
        <a:p>
          <a:endParaRPr lang="en-SG"/>
        </a:p>
      </dgm:t>
    </dgm:pt>
    <dgm:pt modelId="{C0C58299-979D-4F81-BFD0-1413CE3C8089}">
      <dgm:prSet phldrT="[Text]"/>
      <dgm:spPr/>
      <dgm:t>
        <a:bodyPr lIns="36000" tIns="36000" rIns="36000" bIns="36000"/>
        <a:lstStyle/>
        <a:p>
          <a:r>
            <a:rPr lang="en-GB" b="1" dirty="0" smtClean="0">
              <a:solidFill>
                <a:srgbClr val="C00000"/>
              </a:solidFill>
            </a:rPr>
            <a:t>3 NF</a:t>
          </a:r>
          <a:endParaRPr lang="en-SG" b="1" dirty="0">
            <a:solidFill>
              <a:srgbClr val="C00000"/>
            </a:solidFill>
          </a:endParaRPr>
        </a:p>
      </dgm:t>
    </dgm:pt>
    <dgm:pt modelId="{80B711E5-46E5-4231-B629-FB88B3A65CDC}" type="parTrans" cxnId="{29E46016-5264-43C0-BC43-03207F4B78DF}">
      <dgm:prSet/>
      <dgm:spPr/>
      <dgm:t>
        <a:bodyPr/>
        <a:lstStyle/>
        <a:p>
          <a:endParaRPr lang="en-SG"/>
        </a:p>
      </dgm:t>
    </dgm:pt>
    <dgm:pt modelId="{529166D2-D6DA-4EE7-A99D-EE580FE0BA9A}" type="sibTrans" cxnId="{29E46016-5264-43C0-BC43-03207F4B78DF}">
      <dgm:prSet/>
      <dgm:spPr/>
      <dgm:t>
        <a:bodyPr/>
        <a:lstStyle/>
        <a:p>
          <a:endParaRPr lang="en-SG"/>
        </a:p>
      </dgm:t>
    </dgm:pt>
    <dgm:pt modelId="{71435DB5-7CF7-490B-B47F-DA4D8EF7012E}" type="pres">
      <dgm:prSet presAssocID="{EDDF2F4E-0ADA-4773-A57A-6554B383FFEB}" presName="arrowDiagram" presStyleCnt="0">
        <dgm:presLayoutVars>
          <dgm:chMax val="5"/>
          <dgm:dir/>
          <dgm:resizeHandles val="exact"/>
        </dgm:presLayoutVars>
      </dgm:prSet>
      <dgm:spPr/>
    </dgm:pt>
    <dgm:pt modelId="{205A70C8-AD5E-47C6-ADA9-814CD3326F0B}" type="pres">
      <dgm:prSet presAssocID="{EDDF2F4E-0ADA-4773-A57A-6554B383FFEB}" presName="arrow" presStyleLbl="bgShp" presStyleIdx="0" presStyleCnt="1" custLinFactNeighborX="1333" custLinFactNeighborY="133"/>
      <dgm:spPr>
        <a:ln>
          <a:solidFill>
            <a:schemeClr val="accent2">
              <a:lumMod val="75000"/>
            </a:schemeClr>
          </a:solidFill>
        </a:ln>
      </dgm:spPr>
    </dgm:pt>
    <dgm:pt modelId="{E0086E82-D8B1-4D5D-990B-BF3E9925A3C5}" type="pres">
      <dgm:prSet presAssocID="{EDDF2F4E-0ADA-4773-A57A-6554B383FFEB}" presName="arrowDiagram3" presStyleCnt="0"/>
      <dgm:spPr/>
    </dgm:pt>
    <dgm:pt modelId="{27DAB98D-5EE8-4E55-8C44-E61E0D934EEA}" type="pres">
      <dgm:prSet presAssocID="{93C00C60-CD0B-46D9-A83D-D9F4AFFD335A}" presName="bullet3a" presStyleLbl="node1" presStyleIdx="0" presStyleCnt="3"/>
      <dgm:spPr/>
    </dgm:pt>
    <dgm:pt modelId="{B725AFAB-1EDD-45CC-8577-ABEB3C6D734B}" type="pres">
      <dgm:prSet presAssocID="{93C00C60-CD0B-46D9-A83D-D9F4AFFD335A}" presName="textBox3a" presStyleLbl="revTx" presStyleIdx="0" presStyleCnt="3" custScaleX="96313" custScaleY="68659" custLinFactNeighborX="-21872">
        <dgm:presLayoutVars>
          <dgm:bulletEnabled val="1"/>
        </dgm:presLayoutVars>
      </dgm:prSet>
      <dgm:spPr/>
      <dgm:t>
        <a:bodyPr/>
        <a:lstStyle/>
        <a:p>
          <a:endParaRPr lang="en-SG"/>
        </a:p>
      </dgm:t>
    </dgm:pt>
    <dgm:pt modelId="{B8CEBF19-24BE-425E-A585-FDBA2E4ABA6C}" type="pres">
      <dgm:prSet presAssocID="{A102AF5B-D006-4859-A532-AA7FBB06C58B}" presName="bullet3b" presStyleLbl="node1" presStyleIdx="1" presStyleCnt="3"/>
      <dgm:spPr/>
    </dgm:pt>
    <dgm:pt modelId="{2A76BBA6-A688-4546-946E-497917FB11C7}" type="pres">
      <dgm:prSet presAssocID="{A102AF5B-D006-4859-A532-AA7FBB06C58B}" presName="textBox3b" presStyleLbl="revTx" presStyleIdx="1" presStyleCnt="3" custScaleX="93504" custScaleY="41686" custLinFactNeighborX="-28248" custLinFactNeighborY="-11264">
        <dgm:presLayoutVars>
          <dgm:bulletEnabled val="1"/>
        </dgm:presLayoutVars>
      </dgm:prSet>
      <dgm:spPr/>
      <dgm:t>
        <a:bodyPr/>
        <a:lstStyle/>
        <a:p>
          <a:endParaRPr lang="en-SG"/>
        </a:p>
      </dgm:t>
    </dgm:pt>
    <dgm:pt modelId="{99A134A4-9CFC-4FDD-98EA-5342A74994D2}" type="pres">
      <dgm:prSet presAssocID="{C0C58299-979D-4F81-BFD0-1413CE3C8089}" presName="bullet3c" presStyleLbl="node1" presStyleIdx="2" presStyleCnt="3"/>
      <dgm:spPr/>
    </dgm:pt>
    <dgm:pt modelId="{CA245C6C-F7A9-4529-8C0B-1BE531D229EB}" type="pres">
      <dgm:prSet presAssocID="{C0C58299-979D-4F81-BFD0-1413CE3C8089}" presName="textBox3c" presStyleLbl="revTx" presStyleIdx="2" presStyleCnt="3" custScaleX="93504" custScaleY="31269" custLinFactNeighborX="-35887" custLinFactNeighborY="-17051">
        <dgm:presLayoutVars>
          <dgm:bulletEnabled val="1"/>
        </dgm:presLayoutVars>
      </dgm:prSet>
      <dgm:spPr/>
      <dgm:t>
        <a:bodyPr/>
        <a:lstStyle/>
        <a:p>
          <a:endParaRPr lang="en-SG"/>
        </a:p>
      </dgm:t>
    </dgm:pt>
  </dgm:ptLst>
  <dgm:cxnLst>
    <dgm:cxn modelId="{29E46016-5264-43C0-BC43-03207F4B78DF}" srcId="{EDDF2F4E-0ADA-4773-A57A-6554B383FFEB}" destId="{C0C58299-979D-4F81-BFD0-1413CE3C8089}" srcOrd="2" destOrd="0" parTransId="{80B711E5-46E5-4231-B629-FB88B3A65CDC}" sibTransId="{529166D2-D6DA-4EE7-A99D-EE580FE0BA9A}"/>
    <dgm:cxn modelId="{F3EADFB8-0F04-4851-A72D-594A1E81FDA9}" type="presOf" srcId="{A102AF5B-D006-4859-A532-AA7FBB06C58B}" destId="{2A76BBA6-A688-4546-946E-497917FB11C7}" srcOrd="0" destOrd="0" presId="urn:microsoft.com/office/officeart/2005/8/layout/arrow2"/>
    <dgm:cxn modelId="{80383B1D-6A5C-4BA7-B91D-314C893AE00C}" type="presOf" srcId="{C0C58299-979D-4F81-BFD0-1413CE3C8089}" destId="{CA245C6C-F7A9-4529-8C0B-1BE531D229EB}" srcOrd="0" destOrd="0" presId="urn:microsoft.com/office/officeart/2005/8/layout/arrow2"/>
    <dgm:cxn modelId="{FFE1B2D6-5F4B-4033-996E-99539535DB5B}" type="presOf" srcId="{EDDF2F4E-0ADA-4773-A57A-6554B383FFEB}" destId="{71435DB5-7CF7-490B-B47F-DA4D8EF7012E}" srcOrd="0" destOrd="0" presId="urn:microsoft.com/office/officeart/2005/8/layout/arrow2"/>
    <dgm:cxn modelId="{289AB735-1746-4494-ABEC-9BB48D4BB1F0}" srcId="{EDDF2F4E-0ADA-4773-A57A-6554B383FFEB}" destId="{A102AF5B-D006-4859-A532-AA7FBB06C58B}" srcOrd="1" destOrd="0" parTransId="{218080CB-A88C-43EE-82FB-5B0BD24BB2FB}" sibTransId="{83E6F5EB-23DB-4F78-9EE5-8FBFE7B7EFCA}"/>
    <dgm:cxn modelId="{F50DC753-7C93-4BA0-927D-2698B077109A}" srcId="{EDDF2F4E-0ADA-4773-A57A-6554B383FFEB}" destId="{93C00C60-CD0B-46D9-A83D-D9F4AFFD335A}" srcOrd="0" destOrd="0" parTransId="{C515F096-FC74-4B59-BD0A-64260239A914}" sibTransId="{FF71FDBF-BDBB-4752-A33A-895D1DEEF4C4}"/>
    <dgm:cxn modelId="{F36A0A4D-38D6-4C71-AA06-028B632FC1C5}" type="presOf" srcId="{93C00C60-CD0B-46D9-A83D-D9F4AFFD335A}" destId="{B725AFAB-1EDD-45CC-8577-ABEB3C6D734B}" srcOrd="0" destOrd="0" presId="urn:microsoft.com/office/officeart/2005/8/layout/arrow2"/>
    <dgm:cxn modelId="{0216EEA0-2CC0-4B98-8BC6-67896713A501}" type="presParOf" srcId="{71435DB5-7CF7-490B-B47F-DA4D8EF7012E}" destId="{205A70C8-AD5E-47C6-ADA9-814CD3326F0B}" srcOrd="0" destOrd="0" presId="urn:microsoft.com/office/officeart/2005/8/layout/arrow2"/>
    <dgm:cxn modelId="{AF30B329-7C58-453A-8CAE-28F08D0C7F4A}" type="presParOf" srcId="{71435DB5-7CF7-490B-B47F-DA4D8EF7012E}" destId="{E0086E82-D8B1-4D5D-990B-BF3E9925A3C5}" srcOrd="1" destOrd="0" presId="urn:microsoft.com/office/officeart/2005/8/layout/arrow2"/>
    <dgm:cxn modelId="{F054A4D7-0809-49B9-B2B8-0ECBD5F76E6B}" type="presParOf" srcId="{E0086E82-D8B1-4D5D-990B-BF3E9925A3C5}" destId="{27DAB98D-5EE8-4E55-8C44-E61E0D934EEA}" srcOrd="0" destOrd="0" presId="urn:microsoft.com/office/officeart/2005/8/layout/arrow2"/>
    <dgm:cxn modelId="{C6098C50-5D93-4758-81D0-1EDDEA3FDEC0}" type="presParOf" srcId="{E0086E82-D8B1-4D5D-990B-BF3E9925A3C5}" destId="{B725AFAB-1EDD-45CC-8577-ABEB3C6D734B}" srcOrd="1" destOrd="0" presId="urn:microsoft.com/office/officeart/2005/8/layout/arrow2"/>
    <dgm:cxn modelId="{4EC79692-297F-4893-B7D9-9C58CD6F8EC7}" type="presParOf" srcId="{E0086E82-D8B1-4D5D-990B-BF3E9925A3C5}" destId="{B8CEBF19-24BE-425E-A585-FDBA2E4ABA6C}" srcOrd="2" destOrd="0" presId="urn:microsoft.com/office/officeart/2005/8/layout/arrow2"/>
    <dgm:cxn modelId="{D47981D4-D3ED-4FBB-8BEC-25CCE9DDA84F}" type="presParOf" srcId="{E0086E82-D8B1-4D5D-990B-BF3E9925A3C5}" destId="{2A76BBA6-A688-4546-946E-497917FB11C7}" srcOrd="3" destOrd="0" presId="urn:microsoft.com/office/officeart/2005/8/layout/arrow2"/>
    <dgm:cxn modelId="{E2F93395-A353-4482-BE0A-B8D04C099983}" type="presParOf" srcId="{E0086E82-D8B1-4D5D-990B-BF3E9925A3C5}" destId="{99A134A4-9CFC-4FDD-98EA-5342A74994D2}" srcOrd="4" destOrd="0" presId="urn:microsoft.com/office/officeart/2005/8/layout/arrow2"/>
    <dgm:cxn modelId="{8669C672-B182-44D0-9304-D162FCB784FD}" type="presParOf" srcId="{E0086E82-D8B1-4D5D-990B-BF3E9925A3C5}" destId="{CA245C6C-F7A9-4529-8C0B-1BE531D229EB}" srcOrd="5" destOrd="0" presId="urn:microsoft.com/office/officeart/2005/8/layout/arrow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5A70C8-AD5E-47C6-ADA9-814CD3326F0B}">
      <dsp:nvSpPr>
        <dsp:cNvPr id="0" name=""/>
        <dsp:cNvSpPr/>
      </dsp:nvSpPr>
      <dsp:spPr>
        <a:xfrm>
          <a:off x="0" y="0"/>
          <a:ext cx="5715000" cy="3571875"/>
        </a:xfrm>
        <a:prstGeom prst="swooshArrow">
          <a:avLst>
            <a:gd name="adj1" fmla="val 25000"/>
            <a:gd name="adj2" fmla="val 25000"/>
          </a:avLst>
        </a:prstGeom>
        <a:solidFill>
          <a:schemeClr val="accent2">
            <a:tint val="40000"/>
            <a:hueOff val="0"/>
            <a:satOff val="0"/>
            <a:lumOff val="0"/>
            <a:alphaOff val="0"/>
          </a:schemeClr>
        </a:solidFill>
        <a:ln>
          <a:solidFill>
            <a:schemeClr val="accent2">
              <a:lumMod val="75000"/>
            </a:schemeClr>
          </a:solidFill>
        </a:ln>
        <a:effectLst/>
      </dsp:spPr>
      <dsp:style>
        <a:lnRef idx="0">
          <a:scrgbClr r="0" g="0" b="0"/>
        </a:lnRef>
        <a:fillRef idx="1">
          <a:scrgbClr r="0" g="0" b="0"/>
        </a:fillRef>
        <a:effectRef idx="0">
          <a:scrgbClr r="0" g="0" b="0"/>
        </a:effectRef>
        <a:fontRef idx="minor"/>
      </dsp:style>
    </dsp:sp>
    <dsp:sp modelId="{27DAB98D-5EE8-4E55-8C44-E61E0D934EEA}">
      <dsp:nvSpPr>
        <dsp:cNvPr id="0" name=""/>
        <dsp:cNvSpPr/>
      </dsp:nvSpPr>
      <dsp:spPr>
        <a:xfrm>
          <a:off x="725805" y="2470070"/>
          <a:ext cx="148590" cy="148590"/>
        </a:xfrm>
        <a:prstGeom prst="ellipse">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725AFAB-1EDD-45CC-8577-ABEB3C6D734B}">
      <dsp:nvSpPr>
        <dsp:cNvPr id="0" name=""/>
        <dsp:cNvSpPr/>
      </dsp:nvSpPr>
      <dsp:spPr>
        <a:xfrm>
          <a:off x="533401" y="2706127"/>
          <a:ext cx="1282499" cy="7087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000" tIns="36000" rIns="36000" bIns="36000" numCol="1" spcCol="1270" anchor="t" anchorCtr="0">
          <a:noAutofit/>
        </a:bodyPr>
        <a:lstStyle/>
        <a:p>
          <a:pPr lvl="0" algn="l" defTabSz="2000250">
            <a:lnSpc>
              <a:spcPct val="90000"/>
            </a:lnSpc>
            <a:spcBef>
              <a:spcPct val="0"/>
            </a:spcBef>
            <a:spcAft>
              <a:spcPct val="35000"/>
            </a:spcAft>
          </a:pPr>
          <a:r>
            <a:rPr lang="en-GB" sz="4500" b="1" kern="1200" dirty="0" smtClean="0">
              <a:solidFill>
                <a:schemeClr val="accent6">
                  <a:lumMod val="50000"/>
                </a:schemeClr>
              </a:solidFill>
            </a:rPr>
            <a:t>1 NF</a:t>
          </a:r>
          <a:endParaRPr lang="en-SG" sz="4500" b="1" kern="1200" dirty="0">
            <a:solidFill>
              <a:schemeClr val="accent6">
                <a:lumMod val="50000"/>
              </a:schemeClr>
            </a:solidFill>
          </a:endParaRPr>
        </a:p>
      </dsp:txBody>
      <dsp:txXfrm>
        <a:off x="533401" y="2706127"/>
        <a:ext cx="1282499" cy="708747"/>
      </dsp:txXfrm>
    </dsp:sp>
    <dsp:sp modelId="{B8CEBF19-24BE-425E-A585-FDBA2E4ABA6C}">
      <dsp:nvSpPr>
        <dsp:cNvPr id="0" name=""/>
        <dsp:cNvSpPr/>
      </dsp:nvSpPr>
      <dsp:spPr>
        <a:xfrm>
          <a:off x="2037397" y="1499234"/>
          <a:ext cx="268605" cy="268605"/>
        </a:xfrm>
        <a:prstGeom prst="ellips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A76BBA6-A688-4546-946E-497917FB11C7}">
      <dsp:nvSpPr>
        <dsp:cNvPr id="0" name=""/>
        <dsp:cNvSpPr/>
      </dsp:nvSpPr>
      <dsp:spPr>
        <a:xfrm>
          <a:off x="1828800" y="1981216"/>
          <a:ext cx="1282500" cy="81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000" tIns="36000" rIns="36000" bIns="36000" numCol="1" spcCol="1270" anchor="t" anchorCtr="0">
          <a:noAutofit/>
        </a:bodyPr>
        <a:lstStyle/>
        <a:p>
          <a:pPr lvl="0" algn="l" defTabSz="2000250">
            <a:lnSpc>
              <a:spcPct val="90000"/>
            </a:lnSpc>
            <a:spcBef>
              <a:spcPct val="0"/>
            </a:spcBef>
            <a:spcAft>
              <a:spcPct val="35000"/>
            </a:spcAft>
          </a:pPr>
          <a:r>
            <a:rPr lang="en-GB" sz="4500" b="1" kern="1200" dirty="0" smtClean="0">
              <a:solidFill>
                <a:srgbClr val="FF0000"/>
              </a:solidFill>
            </a:rPr>
            <a:t>2 NF</a:t>
          </a:r>
          <a:endParaRPr lang="en-SG" sz="4500" b="1" kern="1200" dirty="0">
            <a:solidFill>
              <a:srgbClr val="FF0000"/>
            </a:solidFill>
          </a:endParaRPr>
        </a:p>
      </dsp:txBody>
      <dsp:txXfrm>
        <a:off x="1828800" y="1981216"/>
        <a:ext cx="1282500" cy="810000"/>
      </dsp:txXfrm>
    </dsp:sp>
    <dsp:sp modelId="{99A134A4-9CFC-4FDD-98EA-5342A74994D2}">
      <dsp:nvSpPr>
        <dsp:cNvPr id="0" name=""/>
        <dsp:cNvSpPr/>
      </dsp:nvSpPr>
      <dsp:spPr>
        <a:xfrm>
          <a:off x="3614737" y="908446"/>
          <a:ext cx="371475" cy="371475"/>
        </a:xfrm>
        <a:prstGeom prst="ellips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A245C6C-F7A9-4529-8C0B-1BE531D229EB}">
      <dsp:nvSpPr>
        <dsp:cNvPr id="0" name=""/>
        <dsp:cNvSpPr/>
      </dsp:nvSpPr>
      <dsp:spPr>
        <a:xfrm>
          <a:off x="3352798" y="1524008"/>
          <a:ext cx="1282500" cy="7762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000" tIns="36000" rIns="36000" bIns="36000" numCol="1" spcCol="1270" anchor="t" anchorCtr="0">
          <a:noAutofit/>
        </a:bodyPr>
        <a:lstStyle/>
        <a:p>
          <a:pPr lvl="0" algn="l" defTabSz="2000250">
            <a:lnSpc>
              <a:spcPct val="90000"/>
            </a:lnSpc>
            <a:spcBef>
              <a:spcPct val="0"/>
            </a:spcBef>
            <a:spcAft>
              <a:spcPct val="35000"/>
            </a:spcAft>
          </a:pPr>
          <a:r>
            <a:rPr lang="en-GB" sz="4500" b="1" kern="1200" dirty="0" smtClean="0">
              <a:solidFill>
                <a:srgbClr val="C00000"/>
              </a:solidFill>
            </a:rPr>
            <a:t>3 NF</a:t>
          </a:r>
          <a:endParaRPr lang="en-SG" sz="4500" b="1" kern="1200" dirty="0">
            <a:solidFill>
              <a:srgbClr val="C00000"/>
            </a:solidFill>
          </a:endParaRPr>
        </a:p>
      </dsp:txBody>
      <dsp:txXfrm>
        <a:off x="3352798" y="1524008"/>
        <a:ext cx="1282500" cy="77623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5A70C8-AD5E-47C6-ADA9-814CD3326F0B}">
      <dsp:nvSpPr>
        <dsp:cNvPr id="0" name=""/>
        <dsp:cNvSpPr/>
      </dsp:nvSpPr>
      <dsp:spPr>
        <a:xfrm>
          <a:off x="0" y="0"/>
          <a:ext cx="5715000" cy="3571875"/>
        </a:xfrm>
        <a:prstGeom prst="swooshArrow">
          <a:avLst>
            <a:gd name="adj1" fmla="val 25000"/>
            <a:gd name="adj2" fmla="val 25000"/>
          </a:avLst>
        </a:prstGeom>
        <a:solidFill>
          <a:schemeClr val="accent2">
            <a:tint val="40000"/>
            <a:hueOff val="0"/>
            <a:satOff val="0"/>
            <a:lumOff val="0"/>
            <a:alphaOff val="0"/>
          </a:schemeClr>
        </a:solidFill>
        <a:ln>
          <a:solidFill>
            <a:schemeClr val="accent2">
              <a:lumMod val="75000"/>
            </a:schemeClr>
          </a:solidFill>
        </a:ln>
        <a:effectLst/>
      </dsp:spPr>
      <dsp:style>
        <a:lnRef idx="0">
          <a:scrgbClr r="0" g="0" b="0"/>
        </a:lnRef>
        <a:fillRef idx="1">
          <a:scrgbClr r="0" g="0" b="0"/>
        </a:fillRef>
        <a:effectRef idx="0">
          <a:scrgbClr r="0" g="0" b="0"/>
        </a:effectRef>
        <a:fontRef idx="minor"/>
      </dsp:style>
    </dsp:sp>
    <dsp:sp modelId="{27DAB98D-5EE8-4E55-8C44-E61E0D934EEA}">
      <dsp:nvSpPr>
        <dsp:cNvPr id="0" name=""/>
        <dsp:cNvSpPr/>
      </dsp:nvSpPr>
      <dsp:spPr>
        <a:xfrm>
          <a:off x="725805" y="2470070"/>
          <a:ext cx="148590" cy="148590"/>
        </a:xfrm>
        <a:prstGeom prst="ellipse">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725AFAB-1EDD-45CC-8577-ABEB3C6D734B}">
      <dsp:nvSpPr>
        <dsp:cNvPr id="0" name=""/>
        <dsp:cNvSpPr/>
      </dsp:nvSpPr>
      <dsp:spPr>
        <a:xfrm>
          <a:off x="533401" y="2706127"/>
          <a:ext cx="1282499" cy="7087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000" tIns="36000" rIns="36000" bIns="36000" numCol="1" spcCol="1270" anchor="t" anchorCtr="0">
          <a:noAutofit/>
        </a:bodyPr>
        <a:lstStyle/>
        <a:p>
          <a:pPr lvl="0" algn="l" defTabSz="2000250">
            <a:lnSpc>
              <a:spcPct val="90000"/>
            </a:lnSpc>
            <a:spcBef>
              <a:spcPct val="0"/>
            </a:spcBef>
            <a:spcAft>
              <a:spcPct val="35000"/>
            </a:spcAft>
          </a:pPr>
          <a:r>
            <a:rPr lang="en-GB" sz="4500" b="1" kern="1200" dirty="0" smtClean="0">
              <a:solidFill>
                <a:schemeClr val="accent6">
                  <a:lumMod val="50000"/>
                </a:schemeClr>
              </a:solidFill>
            </a:rPr>
            <a:t>1 NF</a:t>
          </a:r>
          <a:endParaRPr lang="en-SG" sz="4500" b="1" kern="1200" dirty="0">
            <a:solidFill>
              <a:schemeClr val="accent6">
                <a:lumMod val="50000"/>
              </a:schemeClr>
            </a:solidFill>
          </a:endParaRPr>
        </a:p>
      </dsp:txBody>
      <dsp:txXfrm>
        <a:off x="533401" y="2706127"/>
        <a:ext cx="1282499" cy="708747"/>
      </dsp:txXfrm>
    </dsp:sp>
    <dsp:sp modelId="{B8CEBF19-24BE-425E-A585-FDBA2E4ABA6C}">
      <dsp:nvSpPr>
        <dsp:cNvPr id="0" name=""/>
        <dsp:cNvSpPr/>
      </dsp:nvSpPr>
      <dsp:spPr>
        <a:xfrm>
          <a:off x="2037397" y="1499234"/>
          <a:ext cx="268605" cy="268605"/>
        </a:xfrm>
        <a:prstGeom prst="ellips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A76BBA6-A688-4546-946E-497917FB11C7}">
      <dsp:nvSpPr>
        <dsp:cNvPr id="0" name=""/>
        <dsp:cNvSpPr/>
      </dsp:nvSpPr>
      <dsp:spPr>
        <a:xfrm>
          <a:off x="1828800" y="1981216"/>
          <a:ext cx="1282500" cy="81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000" tIns="36000" rIns="36000" bIns="36000" numCol="1" spcCol="1270" anchor="t" anchorCtr="0">
          <a:noAutofit/>
        </a:bodyPr>
        <a:lstStyle/>
        <a:p>
          <a:pPr lvl="0" algn="l" defTabSz="2000250">
            <a:lnSpc>
              <a:spcPct val="90000"/>
            </a:lnSpc>
            <a:spcBef>
              <a:spcPct val="0"/>
            </a:spcBef>
            <a:spcAft>
              <a:spcPct val="35000"/>
            </a:spcAft>
          </a:pPr>
          <a:r>
            <a:rPr lang="en-GB" sz="4500" b="1" kern="1200" dirty="0" smtClean="0">
              <a:solidFill>
                <a:srgbClr val="FF0000"/>
              </a:solidFill>
            </a:rPr>
            <a:t>2 NF</a:t>
          </a:r>
          <a:endParaRPr lang="en-SG" sz="4500" b="1" kern="1200" dirty="0">
            <a:solidFill>
              <a:srgbClr val="FF0000"/>
            </a:solidFill>
          </a:endParaRPr>
        </a:p>
      </dsp:txBody>
      <dsp:txXfrm>
        <a:off x="1828800" y="1981216"/>
        <a:ext cx="1282500" cy="810000"/>
      </dsp:txXfrm>
    </dsp:sp>
    <dsp:sp modelId="{99A134A4-9CFC-4FDD-98EA-5342A74994D2}">
      <dsp:nvSpPr>
        <dsp:cNvPr id="0" name=""/>
        <dsp:cNvSpPr/>
      </dsp:nvSpPr>
      <dsp:spPr>
        <a:xfrm>
          <a:off x="3614737" y="908446"/>
          <a:ext cx="371475" cy="371475"/>
        </a:xfrm>
        <a:prstGeom prst="ellips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A245C6C-F7A9-4529-8C0B-1BE531D229EB}">
      <dsp:nvSpPr>
        <dsp:cNvPr id="0" name=""/>
        <dsp:cNvSpPr/>
      </dsp:nvSpPr>
      <dsp:spPr>
        <a:xfrm>
          <a:off x="3352798" y="1524008"/>
          <a:ext cx="1282500" cy="7762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000" tIns="36000" rIns="36000" bIns="36000" numCol="1" spcCol="1270" anchor="t" anchorCtr="0">
          <a:noAutofit/>
        </a:bodyPr>
        <a:lstStyle/>
        <a:p>
          <a:pPr lvl="0" algn="l" defTabSz="2000250">
            <a:lnSpc>
              <a:spcPct val="90000"/>
            </a:lnSpc>
            <a:spcBef>
              <a:spcPct val="0"/>
            </a:spcBef>
            <a:spcAft>
              <a:spcPct val="35000"/>
            </a:spcAft>
          </a:pPr>
          <a:r>
            <a:rPr lang="en-GB" sz="4500" b="1" kern="1200" dirty="0" smtClean="0">
              <a:solidFill>
                <a:srgbClr val="C00000"/>
              </a:solidFill>
            </a:rPr>
            <a:t>3 NF</a:t>
          </a:r>
          <a:endParaRPr lang="en-SG" sz="4500" b="1" kern="1200" dirty="0">
            <a:solidFill>
              <a:srgbClr val="C00000"/>
            </a:solidFill>
          </a:endParaRPr>
        </a:p>
      </dsp:txBody>
      <dsp:txXfrm>
        <a:off x="3352798" y="1524008"/>
        <a:ext cx="1282500" cy="77623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5A70C8-AD5E-47C6-ADA9-814CD3326F0B}">
      <dsp:nvSpPr>
        <dsp:cNvPr id="0" name=""/>
        <dsp:cNvSpPr/>
      </dsp:nvSpPr>
      <dsp:spPr>
        <a:xfrm>
          <a:off x="0" y="9513"/>
          <a:ext cx="5715000" cy="3571875"/>
        </a:xfrm>
        <a:prstGeom prst="swooshArrow">
          <a:avLst>
            <a:gd name="adj1" fmla="val 25000"/>
            <a:gd name="adj2" fmla="val 25000"/>
          </a:avLst>
        </a:prstGeom>
        <a:solidFill>
          <a:schemeClr val="accent2">
            <a:tint val="40000"/>
            <a:hueOff val="0"/>
            <a:satOff val="0"/>
            <a:lumOff val="0"/>
            <a:alphaOff val="0"/>
          </a:schemeClr>
        </a:solidFill>
        <a:ln>
          <a:solidFill>
            <a:schemeClr val="accent2">
              <a:lumMod val="75000"/>
            </a:schemeClr>
          </a:solidFill>
        </a:ln>
        <a:effectLst/>
      </dsp:spPr>
      <dsp:style>
        <a:lnRef idx="0">
          <a:scrgbClr r="0" g="0" b="0"/>
        </a:lnRef>
        <a:fillRef idx="1">
          <a:scrgbClr r="0" g="0" b="0"/>
        </a:fillRef>
        <a:effectRef idx="0">
          <a:scrgbClr r="0" g="0" b="0"/>
        </a:effectRef>
        <a:fontRef idx="minor"/>
      </dsp:style>
    </dsp:sp>
    <dsp:sp modelId="{27DAB98D-5EE8-4E55-8C44-E61E0D934EEA}">
      <dsp:nvSpPr>
        <dsp:cNvPr id="0" name=""/>
        <dsp:cNvSpPr/>
      </dsp:nvSpPr>
      <dsp:spPr>
        <a:xfrm>
          <a:off x="725805" y="2470070"/>
          <a:ext cx="148590" cy="148590"/>
        </a:xfrm>
        <a:prstGeom prst="ellipse">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725AFAB-1EDD-45CC-8577-ABEB3C6D734B}">
      <dsp:nvSpPr>
        <dsp:cNvPr id="0" name=""/>
        <dsp:cNvSpPr/>
      </dsp:nvSpPr>
      <dsp:spPr>
        <a:xfrm>
          <a:off x="533401" y="2706127"/>
          <a:ext cx="1282499" cy="7087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000" tIns="36000" rIns="36000" bIns="36000" numCol="1" spcCol="1270" anchor="t" anchorCtr="0">
          <a:noAutofit/>
        </a:bodyPr>
        <a:lstStyle/>
        <a:p>
          <a:pPr lvl="0" algn="l" defTabSz="2000250">
            <a:lnSpc>
              <a:spcPct val="90000"/>
            </a:lnSpc>
            <a:spcBef>
              <a:spcPct val="0"/>
            </a:spcBef>
            <a:spcAft>
              <a:spcPct val="35000"/>
            </a:spcAft>
          </a:pPr>
          <a:r>
            <a:rPr lang="en-GB" sz="4500" b="1" kern="1200" dirty="0" smtClean="0">
              <a:solidFill>
                <a:schemeClr val="accent6">
                  <a:lumMod val="50000"/>
                </a:schemeClr>
              </a:solidFill>
            </a:rPr>
            <a:t>1 NF</a:t>
          </a:r>
          <a:endParaRPr lang="en-SG" sz="4500" b="1" kern="1200" dirty="0">
            <a:solidFill>
              <a:schemeClr val="accent6">
                <a:lumMod val="50000"/>
              </a:schemeClr>
            </a:solidFill>
          </a:endParaRPr>
        </a:p>
      </dsp:txBody>
      <dsp:txXfrm>
        <a:off x="533401" y="2706127"/>
        <a:ext cx="1282499" cy="708747"/>
      </dsp:txXfrm>
    </dsp:sp>
    <dsp:sp modelId="{B8CEBF19-24BE-425E-A585-FDBA2E4ABA6C}">
      <dsp:nvSpPr>
        <dsp:cNvPr id="0" name=""/>
        <dsp:cNvSpPr/>
      </dsp:nvSpPr>
      <dsp:spPr>
        <a:xfrm>
          <a:off x="2037397" y="1499234"/>
          <a:ext cx="268605" cy="268605"/>
        </a:xfrm>
        <a:prstGeom prst="ellips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A76BBA6-A688-4546-946E-497917FB11C7}">
      <dsp:nvSpPr>
        <dsp:cNvPr id="0" name=""/>
        <dsp:cNvSpPr/>
      </dsp:nvSpPr>
      <dsp:spPr>
        <a:xfrm>
          <a:off x="1828800" y="1981216"/>
          <a:ext cx="1282500" cy="81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000" tIns="36000" rIns="36000" bIns="36000" numCol="1" spcCol="1270" anchor="t" anchorCtr="0">
          <a:noAutofit/>
        </a:bodyPr>
        <a:lstStyle/>
        <a:p>
          <a:pPr lvl="0" algn="l" defTabSz="2000250">
            <a:lnSpc>
              <a:spcPct val="90000"/>
            </a:lnSpc>
            <a:spcBef>
              <a:spcPct val="0"/>
            </a:spcBef>
            <a:spcAft>
              <a:spcPct val="35000"/>
            </a:spcAft>
          </a:pPr>
          <a:r>
            <a:rPr lang="en-GB" sz="4500" b="1" kern="1200" dirty="0" smtClean="0">
              <a:solidFill>
                <a:srgbClr val="FF0000"/>
              </a:solidFill>
            </a:rPr>
            <a:t>2 NF</a:t>
          </a:r>
          <a:endParaRPr lang="en-SG" sz="4500" b="1" kern="1200" dirty="0">
            <a:solidFill>
              <a:srgbClr val="FF0000"/>
            </a:solidFill>
          </a:endParaRPr>
        </a:p>
      </dsp:txBody>
      <dsp:txXfrm>
        <a:off x="1828800" y="1981216"/>
        <a:ext cx="1282500" cy="810000"/>
      </dsp:txXfrm>
    </dsp:sp>
    <dsp:sp modelId="{99A134A4-9CFC-4FDD-98EA-5342A74994D2}">
      <dsp:nvSpPr>
        <dsp:cNvPr id="0" name=""/>
        <dsp:cNvSpPr/>
      </dsp:nvSpPr>
      <dsp:spPr>
        <a:xfrm>
          <a:off x="3614737" y="908446"/>
          <a:ext cx="371475" cy="371475"/>
        </a:xfrm>
        <a:prstGeom prst="ellips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A245C6C-F7A9-4529-8C0B-1BE531D229EB}">
      <dsp:nvSpPr>
        <dsp:cNvPr id="0" name=""/>
        <dsp:cNvSpPr/>
      </dsp:nvSpPr>
      <dsp:spPr>
        <a:xfrm>
          <a:off x="3352798" y="1524008"/>
          <a:ext cx="1282500" cy="7762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000" tIns="36000" rIns="36000" bIns="36000" numCol="1" spcCol="1270" anchor="t" anchorCtr="0">
          <a:noAutofit/>
        </a:bodyPr>
        <a:lstStyle/>
        <a:p>
          <a:pPr lvl="0" algn="l" defTabSz="2000250">
            <a:lnSpc>
              <a:spcPct val="90000"/>
            </a:lnSpc>
            <a:spcBef>
              <a:spcPct val="0"/>
            </a:spcBef>
            <a:spcAft>
              <a:spcPct val="35000"/>
            </a:spcAft>
          </a:pPr>
          <a:r>
            <a:rPr lang="en-GB" sz="4500" b="1" kern="1200" dirty="0" smtClean="0">
              <a:solidFill>
                <a:srgbClr val="C00000"/>
              </a:solidFill>
            </a:rPr>
            <a:t>3 NF</a:t>
          </a:r>
          <a:endParaRPr lang="en-SG" sz="4500" b="1" kern="1200" dirty="0">
            <a:solidFill>
              <a:srgbClr val="C00000"/>
            </a:solidFill>
          </a:endParaRPr>
        </a:p>
      </dsp:txBody>
      <dsp:txXfrm>
        <a:off x="3352798" y="1524008"/>
        <a:ext cx="1282500" cy="776238"/>
      </dsp:txXfrm>
    </dsp:sp>
  </dsp:spTree>
</dsp:drawing>
</file>

<file path=ppt/diagrams/layout1.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2.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3.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000">
                <a:latin typeface="Arial" charset="0"/>
              </a:defRPr>
            </a:lvl1pPr>
          </a:lstStyle>
          <a:p>
            <a:pPr>
              <a:defRPr/>
            </a:pPr>
            <a:r>
              <a:rPr lang="en-GB"/>
              <a:t>IT1768 Database Systems</a:t>
            </a:r>
            <a:endParaRPr lang="en-US"/>
          </a:p>
        </p:txBody>
      </p:sp>
      <p:sp>
        <p:nvSpPr>
          <p:cNvPr id="3" name="Date Placeholder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000">
                <a:latin typeface="Arial" charset="0"/>
              </a:defRPr>
            </a:lvl1pPr>
          </a:lstStyle>
          <a:p>
            <a:pPr>
              <a:defRPr/>
            </a:pPr>
            <a:r>
              <a:rPr lang="en-GB" dirty="0"/>
              <a:t>Topic </a:t>
            </a:r>
            <a:r>
              <a:rPr lang="en-GB" dirty="0" smtClean="0"/>
              <a:t>6</a:t>
            </a:r>
            <a:endParaRPr lang="en-US" dirty="0"/>
          </a:p>
        </p:txBody>
      </p:sp>
      <p:sp>
        <p:nvSpPr>
          <p:cNvPr id="4" name="Footer Placeholder 3"/>
          <p:cNvSpPr>
            <a:spLocks noGrp="1"/>
          </p:cNvSpPr>
          <p:nvPr>
            <p:ph type="ftr" sz="quarter" idx="2"/>
          </p:nvPr>
        </p:nvSpPr>
        <p:spPr>
          <a:xfrm>
            <a:off x="0" y="6513513"/>
            <a:ext cx="3962400" cy="342900"/>
          </a:xfrm>
          <a:prstGeom prst="rect">
            <a:avLst/>
          </a:prstGeom>
        </p:spPr>
        <p:txBody>
          <a:bodyPr vert="horz" lIns="91440" tIns="45720" rIns="91440" bIns="45720" rtlCol="0" anchor="b"/>
          <a:lstStyle>
            <a:lvl1pPr algn="l">
              <a:defRPr sz="800">
                <a:latin typeface="Arial" charset="0"/>
              </a:defRPr>
            </a:lvl1pPr>
          </a:lstStyle>
          <a:p>
            <a:pPr>
              <a:defRPr/>
            </a:pPr>
            <a:r>
              <a:rPr lang="en-GB" dirty="0" smtClean="0"/>
              <a:t>2018 </a:t>
            </a:r>
            <a:r>
              <a:rPr lang="en-GB" dirty="0"/>
              <a:t>S1</a:t>
            </a:r>
            <a:endParaRPr lang="en-US" dirty="0"/>
          </a:p>
        </p:txBody>
      </p:sp>
      <p:sp>
        <p:nvSpPr>
          <p:cNvPr id="5" name="Slide Number Placeholder 4"/>
          <p:cNvSpPr>
            <a:spLocks noGrp="1"/>
          </p:cNvSpPr>
          <p:nvPr>
            <p:ph type="sldNum" sz="quarter" idx="3"/>
          </p:nvPr>
        </p:nvSpPr>
        <p:spPr>
          <a:xfrm>
            <a:off x="5180013" y="6513513"/>
            <a:ext cx="3962400" cy="342900"/>
          </a:xfrm>
          <a:prstGeom prst="rect">
            <a:avLst/>
          </a:prstGeom>
        </p:spPr>
        <p:txBody>
          <a:bodyPr vert="horz" lIns="91440" tIns="45720" rIns="91440" bIns="45720" rtlCol="0" anchor="b"/>
          <a:lstStyle>
            <a:lvl1pPr algn="r">
              <a:defRPr sz="1200">
                <a:latin typeface="Arial" charset="0"/>
              </a:defRPr>
            </a:lvl1pPr>
          </a:lstStyle>
          <a:p>
            <a:pPr>
              <a:defRPr/>
            </a:pPr>
            <a:endParaRPr lang="en-US"/>
          </a:p>
        </p:txBody>
      </p:sp>
    </p:spTree>
    <p:extLst>
      <p:ext uri="{BB962C8B-B14F-4D97-AF65-F5344CB8AC3E}">
        <p14:creationId xmlns:p14="http://schemas.microsoft.com/office/powerpoint/2010/main" val="23780876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atin typeface="Arial" charset="0"/>
              </a:defRPr>
            </a:lvl1pPr>
          </a:lstStyle>
          <a:p>
            <a:pPr>
              <a:defRPr/>
            </a:pPr>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atin typeface="Arial" charset="0"/>
              </a:defRPr>
            </a:lvl1pPr>
          </a:lstStyle>
          <a:p>
            <a:pPr>
              <a:defRPr/>
            </a:pPr>
            <a:fld id="{56758B28-F829-4809-82C0-FD6174F8AE6D}" type="datetimeFigureOut">
              <a:rPr lang="en-US"/>
              <a:pPr>
                <a:defRPr/>
              </a:pPr>
              <a:t>5/20/2018</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atin typeface="Arial" charset="0"/>
              </a:defRPr>
            </a:lvl1pPr>
          </a:lstStyle>
          <a:p>
            <a:pPr>
              <a:defRPr/>
            </a:pPr>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atin typeface="Arial" charset="0"/>
              </a:defRPr>
            </a:lvl1pPr>
          </a:lstStyle>
          <a:p>
            <a:pPr>
              <a:defRPr/>
            </a:pPr>
            <a:fld id="{F8C22431-36AE-4EB4-A0A2-F93025FF1BFE}" type="slidenum">
              <a:rPr lang="en-US"/>
              <a:pPr>
                <a:defRPr/>
              </a:pPr>
              <a:t>‹#›</a:t>
            </a:fld>
            <a:endParaRPr lang="en-US"/>
          </a:p>
        </p:txBody>
      </p:sp>
    </p:spTree>
    <p:extLst>
      <p:ext uri="{BB962C8B-B14F-4D97-AF65-F5344CB8AC3E}">
        <p14:creationId xmlns:p14="http://schemas.microsoft.com/office/powerpoint/2010/main" val="12651647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buFont typeface="Courier New" pitchFamily="49" charset="0"/>
              <a:buChar char="o"/>
            </a:pPr>
            <a:r>
              <a:rPr lang="en-GB" altLang="en-US" smtClean="0"/>
              <a:t>Incomplete record being created in a table if only partially completed set of data is being entered into a table with insertion anomaly.</a:t>
            </a:r>
          </a:p>
        </p:txBody>
      </p:sp>
      <p:sp>
        <p:nvSpPr>
          <p:cNvPr id="460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8F849A84-A076-4A99-9891-546E2DE724BC}" type="slidenum">
              <a:rPr lang="en-US" altLang="en-US" smtClean="0">
                <a:latin typeface="Arial" charset="0"/>
              </a:rPr>
              <a:pPr eaLnBrk="1" hangingPunct="1">
                <a:spcBef>
                  <a:spcPct val="0"/>
                </a:spcBef>
              </a:pPr>
              <a:t>6</a:t>
            </a:fld>
            <a:endParaRPr lang="en-US" altLang="en-US" smtClean="0">
              <a:latin typeface="Arial" charset="0"/>
            </a:endParaRPr>
          </a:p>
        </p:txBody>
      </p:sp>
    </p:spTree>
    <p:extLst>
      <p:ext uri="{BB962C8B-B14F-4D97-AF65-F5344CB8AC3E}">
        <p14:creationId xmlns:p14="http://schemas.microsoft.com/office/powerpoint/2010/main" val="4184836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buFont typeface="Courier New" pitchFamily="49" charset="0"/>
              <a:buChar char="o"/>
            </a:pPr>
            <a:r>
              <a:rPr lang="en-GB" altLang="en-US" smtClean="0"/>
              <a:t>I</a:t>
            </a:r>
            <a:r>
              <a:rPr lang="en-GB" altLang="en-US" smtClean="0">
                <a:solidFill>
                  <a:srgbClr val="000000"/>
                </a:solidFill>
              </a:rPr>
              <a:t>nconsistent information among records could occur if not all records containing update anomalies in a table is updated. This is especially so for tables with redundant data among records.</a:t>
            </a:r>
          </a:p>
        </p:txBody>
      </p:sp>
      <p:sp>
        <p:nvSpPr>
          <p:cNvPr id="471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AA4918A9-1100-4EAF-A1C1-4C6F7E6D0DAC}" type="slidenum">
              <a:rPr lang="en-US" altLang="en-US" smtClean="0">
                <a:latin typeface="Arial" charset="0"/>
              </a:rPr>
              <a:pPr eaLnBrk="1" hangingPunct="1">
                <a:spcBef>
                  <a:spcPct val="0"/>
                </a:spcBef>
              </a:pPr>
              <a:t>8</a:t>
            </a:fld>
            <a:endParaRPr lang="en-US" altLang="en-US" smtClean="0">
              <a:latin typeface="Arial" charset="0"/>
            </a:endParaRPr>
          </a:p>
        </p:txBody>
      </p:sp>
    </p:spTree>
    <p:extLst>
      <p:ext uri="{BB962C8B-B14F-4D97-AF65-F5344CB8AC3E}">
        <p14:creationId xmlns:p14="http://schemas.microsoft.com/office/powerpoint/2010/main" val="33791303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buFont typeface="Courier New" pitchFamily="49" charset="0"/>
              <a:buChar char="o"/>
            </a:pPr>
            <a:r>
              <a:rPr lang="en-GB" altLang="en-US" smtClean="0"/>
              <a:t>Some important information may be lost if a record containing delete anomaly in a table is deleted.</a:t>
            </a:r>
          </a:p>
        </p:txBody>
      </p:sp>
      <p:sp>
        <p:nvSpPr>
          <p:cNvPr id="491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BAB90611-DB20-4784-B60B-DDFFE38E5E79}" type="slidenum">
              <a:rPr lang="en-US" altLang="en-US" smtClean="0">
                <a:latin typeface="Arial" charset="0"/>
              </a:rPr>
              <a:pPr eaLnBrk="1" hangingPunct="1">
                <a:spcBef>
                  <a:spcPct val="0"/>
                </a:spcBef>
              </a:pPr>
              <a:t>11</a:t>
            </a:fld>
            <a:endParaRPr lang="en-US" altLang="en-US" smtClean="0">
              <a:latin typeface="Arial" charset="0"/>
            </a:endParaRPr>
          </a:p>
        </p:txBody>
      </p:sp>
    </p:spTree>
    <p:extLst>
      <p:ext uri="{BB962C8B-B14F-4D97-AF65-F5344CB8AC3E}">
        <p14:creationId xmlns:p14="http://schemas.microsoft.com/office/powerpoint/2010/main" val="4776354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SG" altLang="en-US" smtClean="0"/>
              <a:t>If ER modeling is applied correctly, the relations derived from the ER model should be normalized. However, we still can apply normalization on the relations to ensure that the grouping of attributes for each relation is optimal.</a:t>
            </a:r>
          </a:p>
          <a:p>
            <a:r>
              <a:rPr lang="en-SG" altLang="en-US" smtClean="0"/>
              <a:t>We can also use normalization to validate the design of the existing tables.</a:t>
            </a:r>
          </a:p>
          <a:p>
            <a:r>
              <a:rPr lang="en-SG" altLang="en-US" smtClean="0"/>
              <a:t>If the application is simple, normalization can be used for database design.</a:t>
            </a:r>
          </a:p>
        </p:txBody>
      </p:sp>
      <p:sp>
        <p:nvSpPr>
          <p:cNvPr id="501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272E297C-B59B-429A-8CEE-F46A08A62973}" type="slidenum">
              <a:rPr lang="en-US" altLang="en-US" smtClean="0">
                <a:latin typeface="Arial" charset="0"/>
              </a:rPr>
              <a:pPr eaLnBrk="1" hangingPunct="1">
                <a:spcBef>
                  <a:spcPct val="0"/>
                </a:spcBef>
              </a:pPr>
              <a:t>19</a:t>
            </a:fld>
            <a:endParaRPr lang="en-US" altLang="en-US" smtClean="0">
              <a:latin typeface="Arial" charset="0"/>
            </a:endParaRPr>
          </a:p>
        </p:txBody>
      </p:sp>
    </p:spTree>
    <p:extLst>
      <p:ext uri="{BB962C8B-B14F-4D97-AF65-F5344CB8AC3E}">
        <p14:creationId xmlns:p14="http://schemas.microsoft.com/office/powerpoint/2010/main" val="12326314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SG" altLang="en-US" smtClean="0"/>
          </a:p>
        </p:txBody>
      </p:sp>
      <p:sp>
        <p:nvSpPr>
          <p:cNvPr id="512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795384E5-3D55-42C4-BD72-8903EF022AC2}" type="slidenum">
              <a:rPr lang="en-US" altLang="en-US" smtClean="0">
                <a:latin typeface="Arial" charset="0"/>
              </a:rPr>
              <a:pPr eaLnBrk="1" hangingPunct="1">
                <a:spcBef>
                  <a:spcPct val="0"/>
                </a:spcBef>
              </a:pPr>
              <a:t>30</a:t>
            </a:fld>
            <a:endParaRPr lang="en-US" altLang="en-US" smtClean="0">
              <a:latin typeface="Arial" charset="0"/>
            </a:endParaRPr>
          </a:p>
        </p:txBody>
      </p:sp>
    </p:spTree>
    <p:extLst>
      <p:ext uri="{BB962C8B-B14F-4D97-AF65-F5344CB8AC3E}">
        <p14:creationId xmlns:p14="http://schemas.microsoft.com/office/powerpoint/2010/main" val="32683202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SG" altLang="en-US" smtClean="0"/>
          </a:p>
        </p:txBody>
      </p:sp>
      <p:sp>
        <p:nvSpPr>
          <p:cNvPr id="512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795384E5-3D55-42C4-BD72-8903EF022AC2}" type="slidenum">
              <a:rPr lang="en-US" altLang="en-US" smtClean="0">
                <a:latin typeface="Arial" charset="0"/>
              </a:rPr>
              <a:pPr eaLnBrk="1" hangingPunct="1">
                <a:spcBef>
                  <a:spcPct val="0"/>
                </a:spcBef>
              </a:pPr>
              <a:t>31</a:t>
            </a:fld>
            <a:endParaRPr lang="en-US" altLang="en-US" smtClean="0">
              <a:latin typeface="Arial" charset="0"/>
            </a:endParaRPr>
          </a:p>
        </p:txBody>
      </p:sp>
    </p:spTree>
    <p:extLst>
      <p:ext uri="{BB962C8B-B14F-4D97-AF65-F5344CB8AC3E}">
        <p14:creationId xmlns:p14="http://schemas.microsoft.com/office/powerpoint/2010/main" val="4421606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SG" altLang="en-US" smtClean="0"/>
          </a:p>
        </p:txBody>
      </p:sp>
      <p:sp>
        <p:nvSpPr>
          <p:cNvPr id="512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95384E5-3D55-42C4-BD72-8903EF022AC2}" type="slidenum">
              <a:rPr kumimoji="0" lang="en-US" alt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37</a:t>
            </a:fld>
            <a:endParaRPr kumimoji="0" lang="en-US" altLang="en-US" sz="1200" b="0" i="0" u="none" strike="noStrike" kern="1200" cap="none" spc="0" normalizeH="0" baseline="0" noProof="0" smtClean="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41136894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522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6A0CA276-45BE-4875-828A-585A6C0DDD64}" type="slidenum">
              <a:rPr lang="en-US" altLang="en-US" smtClean="0">
                <a:latin typeface="Arial" charset="0"/>
              </a:rPr>
              <a:pPr eaLnBrk="1" hangingPunct="1">
                <a:spcBef>
                  <a:spcPct val="0"/>
                </a:spcBef>
              </a:pPr>
              <a:t>43</a:t>
            </a:fld>
            <a:endParaRPr lang="en-US" altLang="en-US" smtClean="0">
              <a:latin typeface="Arial" charset="0"/>
            </a:endParaRPr>
          </a:p>
        </p:txBody>
      </p:sp>
    </p:spTree>
    <p:extLst>
      <p:ext uri="{BB962C8B-B14F-4D97-AF65-F5344CB8AC3E}">
        <p14:creationId xmlns:p14="http://schemas.microsoft.com/office/powerpoint/2010/main" val="38099595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99FF99"/>
        </a:solidFill>
        <a:effectLst/>
      </p:bgPr>
    </p:bg>
    <p:spTree>
      <p:nvGrpSpPr>
        <p:cNvPr id="1" name=""/>
        <p:cNvGrpSpPr/>
        <p:nvPr/>
      </p:nvGrpSpPr>
      <p:grpSpPr>
        <a:xfrm>
          <a:off x="0" y="0"/>
          <a:ext cx="0" cy="0"/>
          <a:chOff x="0" y="0"/>
          <a:chExt cx="0" cy="0"/>
        </a:xfrm>
      </p:grpSpPr>
      <p:cxnSp>
        <p:nvCxnSpPr>
          <p:cNvPr id="2" name="Straight Connector 1"/>
          <p:cNvCxnSpPr/>
          <p:nvPr userDrawn="1"/>
        </p:nvCxnSpPr>
        <p:spPr>
          <a:xfrm>
            <a:off x="685800" y="838200"/>
            <a:ext cx="7772400" cy="0"/>
          </a:xfrm>
          <a:prstGeom prst="line">
            <a:avLst/>
          </a:prstGeom>
          <a:ln w="50800">
            <a:solidFill>
              <a:srgbClr val="FFC000"/>
            </a:solidFill>
          </a:ln>
        </p:spPr>
        <p:style>
          <a:lnRef idx="1">
            <a:schemeClr val="accent1"/>
          </a:lnRef>
          <a:fillRef idx="0">
            <a:schemeClr val="accent1"/>
          </a:fillRef>
          <a:effectRef idx="0">
            <a:schemeClr val="accent1"/>
          </a:effectRef>
          <a:fontRef idx="minor">
            <a:schemeClr val="tx1"/>
          </a:fontRef>
        </p:style>
      </p:cxnSp>
      <p:sp>
        <p:nvSpPr>
          <p:cNvPr id="3" name="TextBox 2"/>
          <p:cNvSpPr txBox="1">
            <a:spLocks noChangeArrowheads="1"/>
          </p:cNvSpPr>
          <p:nvPr userDrawn="1"/>
        </p:nvSpPr>
        <p:spPr bwMode="auto">
          <a:xfrm>
            <a:off x="0" y="6596063"/>
            <a:ext cx="2590800" cy="230187"/>
          </a:xfrm>
          <a:prstGeom prst="rect">
            <a:avLst/>
          </a:prstGeom>
          <a:noFill/>
          <a:ln>
            <a:noFill/>
          </a:ln>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GB" sz="900" smtClean="0">
                <a:solidFill>
                  <a:srgbClr val="C00000"/>
                </a:solidFill>
                <a:latin typeface="Verdana" pitchFamily="34" charset="0"/>
              </a:rPr>
              <a:t>IT1768 Database Systems</a:t>
            </a:r>
            <a:endParaRPr lang="en-US" sz="900" smtClean="0">
              <a:solidFill>
                <a:srgbClr val="C00000"/>
              </a:solidFill>
              <a:latin typeface="Verdana" pitchFamily="34" charset="0"/>
            </a:endParaRPr>
          </a:p>
        </p:txBody>
      </p:sp>
      <p:sp>
        <p:nvSpPr>
          <p:cNvPr id="4" name="TextBox 3"/>
          <p:cNvSpPr txBox="1">
            <a:spLocks noChangeArrowheads="1"/>
          </p:cNvSpPr>
          <p:nvPr userDrawn="1"/>
        </p:nvSpPr>
        <p:spPr bwMode="auto">
          <a:xfrm>
            <a:off x="8610600" y="6519863"/>
            <a:ext cx="457200" cy="261937"/>
          </a:xfrm>
          <a:prstGeom prst="rect">
            <a:avLst/>
          </a:prstGeom>
          <a:noFill/>
          <a:ln>
            <a:noFill/>
          </a:ln>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fld id="{E48848FC-8D37-403E-93C7-124698908DB4}" type="slidenum">
              <a:rPr lang="en-US" sz="1100" smtClean="0">
                <a:solidFill>
                  <a:srgbClr val="C00000"/>
                </a:solidFill>
                <a:latin typeface="Verdana" pitchFamily="34" charset="0"/>
              </a:rPr>
              <a:pPr eaLnBrk="1" hangingPunct="1">
                <a:defRPr/>
              </a:pPr>
              <a:t>‹#›</a:t>
            </a:fld>
            <a:endParaRPr lang="en-US" sz="1100" smtClean="0">
              <a:solidFill>
                <a:srgbClr val="C00000"/>
              </a:solidFill>
              <a:latin typeface="Verdana" pitchFamily="34" charset="0"/>
            </a:endParaRPr>
          </a:p>
        </p:txBody>
      </p:sp>
      <p:sp>
        <p:nvSpPr>
          <p:cNvPr id="5" name="TextBox 4"/>
          <p:cNvSpPr txBox="1">
            <a:spLocks noChangeArrowheads="1"/>
          </p:cNvSpPr>
          <p:nvPr userDrawn="1"/>
        </p:nvSpPr>
        <p:spPr bwMode="auto">
          <a:xfrm>
            <a:off x="8431213" y="152400"/>
            <a:ext cx="685800" cy="228600"/>
          </a:xfrm>
          <a:prstGeom prst="rect">
            <a:avLst/>
          </a:prstGeom>
          <a:noFill/>
          <a:ln>
            <a:noFill/>
          </a:ln>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GB" sz="900" dirty="0" smtClean="0">
                <a:solidFill>
                  <a:srgbClr val="C00000"/>
                </a:solidFill>
                <a:latin typeface="Verdana" pitchFamily="34" charset="0"/>
              </a:rPr>
              <a:t>Topic 6</a:t>
            </a:r>
            <a:endParaRPr lang="en-US" sz="900" dirty="0" smtClean="0">
              <a:solidFill>
                <a:srgbClr val="C00000"/>
              </a:solidFill>
              <a:latin typeface="Verdana" pitchFamily="34" charset="0"/>
            </a:endParaRPr>
          </a:p>
        </p:txBody>
      </p:sp>
    </p:spTree>
    <p:extLst>
      <p:ext uri="{BB962C8B-B14F-4D97-AF65-F5344CB8AC3E}">
        <p14:creationId xmlns:p14="http://schemas.microsoft.com/office/powerpoint/2010/main" val="3474841345"/>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35098F0-0496-43E7-999A-B10630674933}" type="datetimeFigureOut">
              <a:rPr lang="en-US"/>
              <a:pPr>
                <a:defRPr/>
              </a:pPr>
              <a:t>5/20/2018</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773DCF8-7CBF-446F-9195-F65A82FD8F30}" type="slidenum">
              <a:rPr lang="en-US"/>
              <a:pPr>
                <a:defRPr/>
              </a:pPr>
              <a:t>‹#›</a:t>
            </a:fld>
            <a:endParaRPr lang="en-US"/>
          </a:p>
        </p:txBody>
      </p:sp>
    </p:spTree>
    <p:extLst>
      <p:ext uri="{BB962C8B-B14F-4D97-AF65-F5344CB8AC3E}">
        <p14:creationId xmlns:p14="http://schemas.microsoft.com/office/powerpoint/2010/main" val="4735924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7F53E630-5C96-409F-BF1A-0A9C3F7EABFD}" type="datetimeFigureOut">
              <a:rPr lang="en-US"/>
              <a:pPr>
                <a:defRPr/>
              </a:pPr>
              <a:t>5/20/2018</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F99F0C5-5A09-4662-9015-0047C26E1391}" type="slidenum">
              <a:rPr lang="en-US"/>
              <a:pPr>
                <a:defRPr/>
              </a:pPr>
              <a:t>‹#›</a:t>
            </a:fld>
            <a:endParaRPr lang="en-US"/>
          </a:p>
        </p:txBody>
      </p:sp>
    </p:spTree>
    <p:extLst>
      <p:ext uri="{BB962C8B-B14F-4D97-AF65-F5344CB8AC3E}">
        <p14:creationId xmlns:p14="http://schemas.microsoft.com/office/powerpoint/2010/main" val="33968307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75F87B8F-CF0F-4F43-9C0D-C76AC686273E}" type="datetimeFigureOut">
              <a:rPr lang="en-US"/>
              <a:pPr>
                <a:defRPr/>
              </a:pPr>
              <a:t>5/20/2018</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DC4A70D-364D-4F0A-BEB2-DE33B076D13D}" type="slidenum">
              <a:rPr lang="en-US"/>
              <a:pPr>
                <a:defRPr/>
              </a:pPr>
              <a:t>‹#›</a:t>
            </a:fld>
            <a:endParaRPr lang="en-US"/>
          </a:p>
        </p:txBody>
      </p:sp>
    </p:spTree>
    <p:extLst>
      <p:ext uri="{BB962C8B-B14F-4D97-AF65-F5344CB8AC3E}">
        <p14:creationId xmlns:p14="http://schemas.microsoft.com/office/powerpoint/2010/main" val="2170734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F3B5141E-E2A0-4281-896A-843B6DEEEF42}" type="datetimeFigureOut">
              <a:rPr lang="en-US"/>
              <a:pPr>
                <a:defRPr/>
              </a:pPr>
              <a:t>5/20/2018</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6FE9CCC2-DE5D-43CE-8F2F-9E993AADC23D}" type="slidenum">
              <a:rPr lang="en-US"/>
              <a:pPr>
                <a:defRPr/>
              </a:pPr>
              <a:t>‹#›</a:t>
            </a:fld>
            <a:endParaRPr lang="en-US"/>
          </a:p>
        </p:txBody>
      </p:sp>
    </p:spTree>
    <p:extLst>
      <p:ext uri="{BB962C8B-B14F-4D97-AF65-F5344CB8AC3E}">
        <p14:creationId xmlns:p14="http://schemas.microsoft.com/office/powerpoint/2010/main" val="3088413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73662AE1-96B3-4E22-9915-34F678927FAC}" type="datetimeFigureOut">
              <a:rPr lang="en-US"/>
              <a:pPr>
                <a:defRPr/>
              </a:pPr>
              <a:t>5/20/2018</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9596324E-7CD0-4D4B-88FE-ECA6C40D5FAB}" type="slidenum">
              <a:rPr lang="en-US"/>
              <a:pPr>
                <a:defRPr/>
              </a:pPr>
              <a:t>‹#›</a:t>
            </a:fld>
            <a:endParaRPr lang="en-US"/>
          </a:p>
        </p:txBody>
      </p:sp>
    </p:spTree>
    <p:extLst>
      <p:ext uri="{BB962C8B-B14F-4D97-AF65-F5344CB8AC3E}">
        <p14:creationId xmlns:p14="http://schemas.microsoft.com/office/powerpoint/2010/main" val="82631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CDD8AD37-2B1D-4AC5-9F76-15ADD30A8262}" type="datetimeFigureOut">
              <a:rPr lang="en-US"/>
              <a:pPr>
                <a:defRPr/>
              </a:pPr>
              <a:t>5/20/2018</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0E982418-9737-44C7-A9D7-2460E7646B37}" type="slidenum">
              <a:rPr lang="en-US"/>
              <a:pPr>
                <a:defRPr/>
              </a:pPr>
              <a:t>‹#›</a:t>
            </a:fld>
            <a:endParaRPr lang="en-US"/>
          </a:p>
        </p:txBody>
      </p:sp>
    </p:spTree>
    <p:extLst>
      <p:ext uri="{BB962C8B-B14F-4D97-AF65-F5344CB8AC3E}">
        <p14:creationId xmlns:p14="http://schemas.microsoft.com/office/powerpoint/2010/main" val="4195863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1EDC1C32-8A0B-41A2-B72B-40017742D20E}" type="datetimeFigureOut">
              <a:rPr lang="en-US"/>
              <a:pPr>
                <a:defRPr/>
              </a:pPr>
              <a:t>5/20/2018</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AF2FDE0-E8BC-47C5-8EA7-1174E4D34E43}" type="slidenum">
              <a:rPr lang="en-US"/>
              <a:pPr>
                <a:defRPr/>
              </a:pPr>
              <a:t>‹#›</a:t>
            </a:fld>
            <a:endParaRPr lang="en-US"/>
          </a:p>
        </p:txBody>
      </p:sp>
    </p:spTree>
    <p:extLst>
      <p:ext uri="{BB962C8B-B14F-4D97-AF65-F5344CB8AC3E}">
        <p14:creationId xmlns:p14="http://schemas.microsoft.com/office/powerpoint/2010/main" val="3235117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7655D4AE-A841-47EB-815A-5795F575208C}" type="datetimeFigureOut">
              <a:rPr lang="en-US"/>
              <a:pPr>
                <a:defRPr/>
              </a:pPr>
              <a:t>5/20/2018</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375615C-1DAF-453B-BE4B-2CC32B5DA7E5}" type="slidenum">
              <a:rPr lang="en-US"/>
              <a:pPr>
                <a:defRPr/>
              </a:pPr>
              <a:t>‹#›</a:t>
            </a:fld>
            <a:endParaRPr lang="en-US"/>
          </a:p>
        </p:txBody>
      </p:sp>
    </p:spTree>
    <p:extLst>
      <p:ext uri="{BB962C8B-B14F-4D97-AF65-F5344CB8AC3E}">
        <p14:creationId xmlns:p14="http://schemas.microsoft.com/office/powerpoint/2010/main" val="34047674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5DB188D-1DE8-4787-94C1-1DF30D53E34A}" type="datetimeFigureOut">
              <a:rPr lang="en-US"/>
              <a:pPr>
                <a:defRPr/>
              </a:pPr>
              <a:t>5/20/2018</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99023A8-E6F5-4708-9880-BC2739D0F373}" type="slidenum">
              <a:rPr lang="en-US"/>
              <a:pPr>
                <a:defRPr/>
              </a:pPr>
              <a:t>‹#›</a:t>
            </a:fld>
            <a:endParaRPr lang="en-US"/>
          </a:p>
        </p:txBody>
      </p:sp>
    </p:spTree>
    <p:extLst>
      <p:ext uri="{BB962C8B-B14F-4D97-AF65-F5344CB8AC3E}">
        <p14:creationId xmlns:p14="http://schemas.microsoft.com/office/powerpoint/2010/main" val="988092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69A4C648-231F-4E07-B164-EFBC20FCE822}" type="datetimeFigureOut">
              <a:rPr lang="en-US"/>
              <a:pPr>
                <a:defRPr/>
              </a:pPr>
              <a:t>5/20/2018</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226FC3E-0E25-492D-9965-0820F67BD8B4}" type="slidenum">
              <a:rPr lang="en-US"/>
              <a:pPr>
                <a:defRPr/>
              </a:pPr>
              <a:t>‹#›</a:t>
            </a:fld>
            <a:endParaRPr lang="en-US"/>
          </a:p>
        </p:txBody>
      </p:sp>
    </p:spTree>
    <p:extLst>
      <p:ext uri="{BB962C8B-B14F-4D97-AF65-F5344CB8AC3E}">
        <p14:creationId xmlns:p14="http://schemas.microsoft.com/office/powerpoint/2010/main" val="2235302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cxnSp>
        <p:nvCxnSpPr>
          <p:cNvPr id="2" name="Straight Connector 1"/>
          <p:cNvCxnSpPr/>
          <p:nvPr userDrawn="1"/>
        </p:nvCxnSpPr>
        <p:spPr>
          <a:xfrm>
            <a:off x="685800" y="838200"/>
            <a:ext cx="7772400" cy="0"/>
          </a:xfrm>
          <a:prstGeom prst="line">
            <a:avLst/>
          </a:prstGeom>
          <a:ln w="50800">
            <a:solidFill>
              <a:srgbClr val="FFC000"/>
            </a:solidFill>
          </a:ln>
        </p:spPr>
        <p:style>
          <a:lnRef idx="1">
            <a:schemeClr val="accent1"/>
          </a:lnRef>
          <a:fillRef idx="0">
            <a:schemeClr val="accent1"/>
          </a:fillRef>
          <a:effectRef idx="0">
            <a:schemeClr val="accent1"/>
          </a:effectRef>
          <a:fontRef idx="minor">
            <a:schemeClr val="tx1"/>
          </a:fontRef>
        </p:style>
      </p:cxnSp>
      <p:sp>
        <p:nvSpPr>
          <p:cNvPr id="3" name="TextBox 2"/>
          <p:cNvSpPr txBox="1">
            <a:spLocks noChangeArrowheads="1"/>
          </p:cNvSpPr>
          <p:nvPr userDrawn="1"/>
        </p:nvSpPr>
        <p:spPr bwMode="auto">
          <a:xfrm>
            <a:off x="0" y="6596063"/>
            <a:ext cx="2590800" cy="230187"/>
          </a:xfrm>
          <a:prstGeom prst="rect">
            <a:avLst/>
          </a:prstGeom>
          <a:noFill/>
          <a:ln>
            <a:noFill/>
          </a:ln>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GB" sz="900">
                <a:solidFill>
                  <a:srgbClr val="C00000"/>
                </a:solidFill>
                <a:latin typeface="Verdana" pitchFamily="34" charset="0"/>
              </a:rPr>
              <a:t>IT1768 Database Systems</a:t>
            </a:r>
            <a:endParaRPr lang="en-US" sz="900">
              <a:solidFill>
                <a:srgbClr val="C00000"/>
              </a:solidFill>
              <a:latin typeface="Verdana" pitchFamily="34" charset="0"/>
            </a:endParaRPr>
          </a:p>
        </p:txBody>
      </p:sp>
      <p:sp>
        <p:nvSpPr>
          <p:cNvPr id="4" name="TextBox 3"/>
          <p:cNvSpPr txBox="1">
            <a:spLocks noChangeArrowheads="1"/>
          </p:cNvSpPr>
          <p:nvPr userDrawn="1"/>
        </p:nvSpPr>
        <p:spPr bwMode="auto">
          <a:xfrm>
            <a:off x="8610600" y="6519863"/>
            <a:ext cx="457200" cy="261937"/>
          </a:xfrm>
          <a:prstGeom prst="rect">
            <a:avLst/>
          </a:prstGeom>
          <a:noFill/>
          <a:ln>
            <a:noFill/>
          </a:ln>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fld id="{E48848FC-8D37-403E-93C7-124698908DB4}" type="slidenum">
              <a:rPr lang="en-US" sz="1100" smtClean="0">
                <a:solidFill>
                  <a:srgbClr val="C00000"/>
                </a:solidFill>
                <a:latin typeface="Verdana" pitchFamily="34" charset="0"/>
              </a:rPr>
              <a:pPr eaLnBrk="1" hangingPunct="1">
                <a:defRPr/>
              </a:pPr>
              <a:t>‹#›</a:t>
            </a:fld>
            <a:endParaRPr lang="en-US" sz="1100">
              <a:solidFill>
                <a:srgbClr val="C00000"/>
              </a:solidFill>
              <a:latin typeface="Verdana" pitchFamily="34" charset="0"/>
            </a:endParaRPr>
          </a:p>
        </p:txBody>
      </p:sp>
      <p:sp>
        <p:nvSpPr>
          <p:cNvPr id="5" name="TextBox 4"/>
          <p:cNvSpPr txBox="1">
            <a:spLocks noChangeArrowheads="1"/>
          </p:cNvSpPr>
          <p:nvPr userDrawn="1"/>
        </p:nvSpPr>
        <p:spPr bwMode="auto">
          <a:xfrm>
            <a:off x="8431213" y="152400"/>
            <a:ext cx="685800" cy="228600"/>
          </a:xfrm>
          <a:prstGeom prst="rect">
            <a:avLst/>
          </a:prstGeom>
          <a:noFill/>
          <a:ln>
            <a:noFill/>
          </a:ln>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GB" sz="900" dirty="0">
                <a:solidFill>
                  <a:srgbClr val="C00000"/>
                </a:solidFill>
                <a:latin typeface="Verdana" pitchFamily="34" charset="0"/>
              </a:rPr>
              <a:t>Topic 6</a:t>
            </a:r>
            <a:endParaRPr lang="en-US" sz="900" dirty="0">
              <a:solidFill>
                <a:srgbClr val="C00000"/>
              </a:solidFill>
              <a:latin typeface="Verdana" pitchFamily="34" charset="0"/>
            </a:endParaRPr>
          </a:p>
        </p:txBody>
      </p:sp>
    </p:spTree>
    <p:extLst>
      <p:ext uri="{BB962C8B-B14F-4D97-AF65-F5344CB8AC3E}">
        <p14:creationId xmlns:p14="http://schemas.microsoft.com/office/powerpoint/2010/main" val="543119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035098F0-0496-43E7-999A-B10630674933}" type="datetimeFigureOut">
              <a:rPr lang="en-US"/>
              <a:pPr>
                <a:defRPr/>
              </a:pPr>
              <a:t>5/20/2018</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773DCF8-7CBF-446F-9195-F65A82FD8F30}" type="slidenum">
              <a:rPr lang="en-US"/>
              <a:pPr>
                <a:defRPr/>
              </a:pPr>
              <a:t>‹#›</a:t>
            </a:fld>
            <a:endParaRPr lang="en-US"/>
          </a:p>
        </p:txBody>
      </p:sp>
    </p:spTree>
    <p:extLst>
      <p:ext uri="{BB962C8B-B14F-4D97-AF65-F5344CB8AC3E}">
        <p14:creationId xmlns:p14="http://schemas.microsoft.com/office/powerpoint/2010/main" val="8661509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7F53E630-5C96-409F-BF1A-0A9C3F7EABFD}" type="datetimeFigureOut">
              <a:rPr lang="en-US"/>
              <a:pPr>
                <a:defRPr/>
              </a:pPr>
              <a:t>5/20/2018</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F99F0C5-5A09-4662-9015-0047C26E1391}" type="slidenum">
              <a:rPr lang="en-US"/>
              <a:pPr>
                <a:defRPr/>
              </a:pPr>
              <a:t>‹#›</a:t>
            </a:fld>
            <a:endParaRPr lang="en-US"/>
          </a:p>
        </p:txBody>
      </p:sp>
    </p:spTree>
    <p:extLst>
      <p:ext uri="{BB962C8B-B14F-4D97-AF65-F5344CB8AC3E}">
        <p14:creationId xmlns:p14="http://schemas.microsoft.com/office/powerpoint/2010/main" val="38426831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75F87B8F-CF0F-4F43-9C0D-C76AC686273E}" type="datetimeFigureOut">
              <a:rPr lang="en-US"/>
              <a:pPr>
                <a:defRPr/>
              </a:pPr>
              <a:t>5/20/2018</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DC4A70D-364D-4F0A-BEB2-DE33B076D13D}" type="slidenum">
              <a:rPr lang="en-US"/>
              <a:pPr>
                <a:defRPr/>
              </a:pPr>
              <a:t>‹#›</a:t>
            </a:fld>
            <a:endParaRPr lang="en-US"/>
          </a:p>
        </p:txBody>
      </p:sp>
    </p:spTree>
    <p:extLst>
      <p:ext uri="{BB962C8B-B14F-4D97-AF65-F5344CB8AC3E}">
        <p14:creationId xmlns:p14="http://schemas.microsoft.com/office/powerpoint/2010/main" val="16963365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F3B5141E-E2A0-4281-896A-843B6DEEEF42}" type="datetimeFigureOut">
              <a:rPr lang="en-US"/>
              <a:pPr>
                <a:defRPr/>
              </a:pPr>
              <a:t>5/20/2018</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6FE9CCC2-DE5D-43CE-8F2F-9E993AADC23D}" type="slidenum">
              <a:rPr lang="en-US"/>
              <a:pPr>
                <a:defRPr/>
              </a:pPr>
              <a:t>‹#›</a:t>
            </a:fld>
            <a:endParaRPr lang="en-US"/>
          </a:p>
        </p:txBody>
      </p:sp>
    </p:spTree>
    <p:extLst>
      <p:ext uri="{BB962C8B-B14F-4D97-AF65-F5344CB8AC3E}">
        <p14:creationId xmlns:p14="http://schemas.microsoft.com/office/powerpoint/2010/main" val="37678186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73662AE1-96B3-4E22-9915-34F678927FAC}" type="datetimeFigureOut">
              <a:rPr lang="en-US"/>
              <a:pPr>
                <a:defRPr/>
              </a:pPr>
              <a:t>5/20/2018</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9596324E-7CD0-4D4B-88FE-ECA6C40D5FAB}" type="slidenum">
              <a:rPr lang="en-US"/>
              <a:pPr>
                <a:defRPr/>
              </a:pPr>
              <a:t>‹#›</a:t>
            </a:fld>
            <a:endParaRPr lang="en-US"/>
          </a:p>
        </p:txBody>
      </p:sp>
    </p:spTree>
    <p:extLst>
      <p:ext uri="{BB962C8B-B14F-4D97-AF65-F5344CB8AC3E}">
        <p14:creationId xmlns:p14="http://schemas.microsoft.com/office/powerpoint/2010/main" val="8806959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CDD8AD37-2B1D-4AC5-9F76-15ADD30A8262}" type="datetimeFigureOut">
              <a:rPr lang="en-US"/>
              <a:pPr>
                <a:defRPr/>
              </a:pPr>
              <a:t>5/20/2018</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0E982418-9737-44C7-A9D7-2460E7646B37}" type="slidenum">
              <a:rPr lang="en-US"/>
              <a:pPr>
                <a:defRPr/>
              </a:pPr>
              <a:t>‹#›</a:t>
            </a:fld>
            <a:endParaRPr lang="en-US"/>
          </a:p>
        </p:txBody>
      </p:sp>
    </p:spTree>
    <p:extLst>
      <p:ext uri="{BB962C8B-B14F-4D97-AF65-F5344CB8AC3E}">
        <p14:creationId xmlns:p14="http://schemas.microsoft.com/office/powerpoint/2010/main" val="21523357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1EDC1C32-8A0B-41A2-B72B-40017742D20E}" type="datetimeFigureOut">
              <a:rPr lang="en-US"/>
              <a:pPr>
                <a:defRPr/>
              </a:pPr>
              <a:t>5/20/2018</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AF2FDE0-E8BC-47C5-8EA7-1174E4D34E43}" type="slidenum">
              <a:rPr lang="en-US"/>
              <a:pPr>
                <a:defRPr/>
              </a:pPr>
              <a:t>‹#›</a:t>
            </a:fld>
            <a:endParaRPr lang="en-US"/>
          </a:p>
        </p:txBody>
      </p:sp>
    </p:spTree>
    <p:extLst>
      <p:ext uri="{BB962C8B-B14F-4D97-AF65-F5344CB8AC3E}">
        <p14:creationId xmlns:p14="http://schemas.microsoft.com/office/powerpoint/2010/main" val="7670180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7655D4AE-A841-47EB-815A-5795F575208C}" type="datetimeFigureOut">
              <a:rPr lang="en-US"/>
              <a:pPr>
                <a:defRPr/>
              </a:pPr>
              <a:t>5/20/2018</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375615C-1DAF-453B-BE4B-2CC32B5DA7E5}" type="slidenum">
              <a:rPr lang="en-US"/>
              <a:pPr>
                <a:defRPr/>
              </a:pPr>
              <a:t>‹#›</a:t>
            </a:fld>
            <a:endParaRPr lang="en-US"/>
          </a:p>
        </p:txBody>
      </p:sp>
    </p:spTree>
    <p:extLst>
      <p:ext uri="{BB962C8B-B14F-4D97-AF65-F5344CB8AC3E}">
        <p14:creationId xmlns:p14="http://schemas.microsoft.com/office/powerpoint/2010/main" val="24940978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5DB188D-1DE8-4787-94C1-1DF30D53E34A}" type="datetimeFigureOut">
              <a:rPr lang="en-US"/>
              <a:pPr>
                <a:defRPr/>
              </a:pPr>
              <a:t>5/20/2018</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99023A8-E6F5-4708-9880-BC2739D0F373}" type="slidenum">
              <a:rPr lang="en-US"/>
              <a:pPr>
                <a:defRPr/>
              </a:pPr>
              <a:t>‹#›</a:t>
            </a:fld>
            <a:endParaRPr lang="en-US"/>
          </a:p>
        </p:txBody>
      </p:sp>
    </p:spTree>
    <p:extLst>
      <p:ext uri="{BB962C8B-B14F-4D97-AF65-F5344CB8AC3E}">
        <p14:creationId xmlns:p14="http://schemas.microsoft.com/office/powerpoint/2010/main" val="2678865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9A4C648-231F-4E07-B164-EFBC20FCE822}" type="datetimeFigureOut">
              <a:rPr lang="en-US"/>
              <a:pPr>
                <a:defRPr/>
              </a:pPr>
              <a:t>5/20/2018</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226FC3E-0E25-492D-9965-0820F67BD8B4}" type="slidenum">
              <a:rPr lang="en-US"/>
              <a:pPr>
                <a:defRPr/>
              </a:pPr>
              <a:t>‹#›</a:t>
            </a:fld>
            <a:endParaRPr lang="en-US"/>
          </a:p>
        </p:txBody>
      </p:sp>
    </p:spTree>
    <p:extLst>
      <p:ext uri="{BB962C8B-B14F-4D97-AF65-F5344CB8AC3E}">
        <p14:creationId xmlns:p14="http://schemas.microsoft.com/office/powerpoint/2010/main" val="39889999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EE108CC2-F922-41CD-BD8C-AF286C739E0C}" type="datetimeFigureOut">
              <a:rPr lang="en-US"/>
              <a:pPr>
                <a:defRPr/>
              </a:pPr>
              <a:t>5/20/2018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96358BB0-5E73-4EE4-80F5-E8C43B33EECA}"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4775" r:id="rId1"/>
    <p:sldLayoutId id="2147484765" r:id="rId2"/>
    <p:sldLayoutId id="2147484766" r:id="rId3"/>
    <p:sldLayoutId id="2147484767" r:id="rId4"/>
    <p:sldLayoutId id="2147484768" r:id="rId5"/>
    <p:sldLayoutId id="2147484769" r:id="rId6"/>
    <p:sldLayoutId id="2147484770" r:id="rId7"/>
    <p:sldLayoutId id="2147484771" r:id="rId8"/>
    <p:sldLayoutId id="2147484772" r:id="rId9"/>
    <p:sldLayoutId id="2147484773" r:id="rId10"/>
    <p:sldLayoutId id="2147484774"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EE108CC2-F922-41CD-BD8C-AF286C739E0C}" type="datetimeFigureOut">
              <a:rPr lang="en-US"/>
              <a:pPr>
                <a:defRPr/>
              </a:pPr>
              <a:t>5/20/2018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96358BB0-5E73-4EE4-80F5-E8C43B33EECA}" type="slidenum">
              <a:rPr lang="en-US"/>
              <a:pPr>
                <a:defRPr/>
              </a:pPr>
              <a:t>‹#›</a:t>
            </a:fld>
            <a:endParaRPr lang="en-US"/>
          </a:p>
        </p:txBody>
      </p:sp>
    </p:spTree>
    <p:extLst>
      <p:ext uri="{BB962C8B-B14F-4D97-AF65-F5344CB8AC3E}">
        <p14:creationId xmlns:p14="http://schemas.microsoft.com/office/powerpoint/2010/main" val="857448201"/>
      </p:ext>
    </p:extLst>
  </p:cSld>
  <p:clrMap bg1="lt1" tx1="dk1" bg2="lt2" tx2="dk2" accent1="accent1" accent2="accent2" accent3="accent3" accent4="accent4" accent5="accent5" accent6="accent6" hlink="hlink" folHlink="folHlink"/>
  <p:sldLayoutIdLst>
    <p:sldLayoutId id="2147484777" r:id="rId1"/>
    <p:sldLayoutId id="2147484778" r:id="rId2"/>
    <p:sldLayoutId id="2147484779" r:id="rId3"/>
    <p:sldLayoutId id="2147484780" r:id="rId4"/>
    <p:sldLayoutId id="2147484781" r:id="rId5"/>
    <p:sldLayoutId id="2147484782" r:id="rId6"/>
    <p:sldLayoutId id="2147484783" r:id="rId7"/>
    <p:sldLayoutId id="2147484784" r:id="rId8"/>
    <p:sldLayoutId id="2147484785" r:id="rId9"/>
    <p:sldLayoutId id="2147484786" r:id="rId10"/>
    <p:sldLayoutId id="2147484787"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youtube.com/watch?v=IwswNIZ_PSg" TargetMode="External"/><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953000" y="1806575"/>
            <a:ext cx="3429000" cy="2308225"/>
          </a:xfrm>
          <a:prstGeom prst="rect">
            <a:avLst/>
          </a:prstGeom>
        </p:spPr>
        <p:txBody>
          <a:bodyPr>
            <a:spAutoFit/>
          </a:bodyPr>
          <a:lstStyle/>
          <a:p>
            <a:pPr>
              <a:defRPr/>
            </a:pPr>
            <a:r>
              <a:rPr lang="en-US" sz="6000" b="1" dirty="0">
                <a:solidFill>
                  <a:srgbClr val="002060"/>
                </a:solidFill>
                <a:latin typeface="+mn-lt"/>
              </a:rPr>
              <a:t>Topic </a:t>
            </a:r>
            <a:r>
              <a:rPr lang="en-US" sz="6000" b="1" dirty="0" smtClean="0">
                <a:solidFill>
                  <a:srgbClr val="002060"/>
                </a:solidFill>
                <a:latin typeface="+mn-lt"/>
              </a:rPr>
              <a:t>6 </a:t>
            </a:r>
            <a:r>
              <a:rPr lang="en-US" sz="6000" b="1" dirty="0">
                <a:solidFill>
                  <a:srgbClr val="002060"/>
                </a:solidFill>
                <a:latin typeface="+mn-lt"/>
              </a:rPr>
              <a:t>:</a:t>
            </a:r>
            <a:endParaRPr lang="en-US" sz="1200" b="1" dirty="0">
              <a:solidFill>
                <a:srgbClr val="002060"/>
              </a:solidFill>
              <a:latin typeface="+mn-lt"/>
            </a:endParaRPr>
          </a:p>
          <a:p>
            <a:pPr>
              <a:defRPr/>
            </a:pPr>
            <a:endParaRPr lang="en-US" sz="1200" b="1" dirty="0">
              <a:solidFill>
                <a:srgbClr val="002060"/>
              </a:solidFill>
              <a:latin typeface="+mn-lt"/>
            </a:endParaRPr>
          </a:p>
          <a:p>
            <a:pPr marL="115888" indent="-115888">
              <a:defRPr/>
            </a:pPr>
            <a:r>
              <a:rPr lang="en-US" sz="3600" b="1" dirty="0">
                <a:solidFill>
                  <a:srgbClr val="002060"/>
                </a:solidFill>
                <a:latin typeface="+mn-lt"/>
              </a:rPr>
              <a:t>	Database Normalization </a:t>
            </a:r>
            <a:endParaRPr lang="en-US" sz="3600" b="1" dirty="0">
              <a:latin typeface="+mn-lt"/>
            </a:endParaRPr>
          </a:p>
        </p:txBody>
      </p:sp>
      <p:pic>
        <p:nvPicPr>
          <p:cNvPr id="3075" name="Picture 3" descr="Normalization1.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828800"/>
            <a:ext cx="2708275"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ctrTitle" idx="4294967295"/>
          </p:nvPr>
        </p:nvSpPr>
        <p:spPr>
          <a:xfrm>
            <a:off x="685800" y="282575"/>
            <a:ext cx="3592513" cy="647700"/>
          </a:xfrm>
        </p:spPr>
        <p:txBody>
          <a:bodyPr wrap="none" lIns="72000" rIns="72000">
            <a:spAutoFit/>
          </a:bodyPr>
          <a:lstStyle/>
          <a:p>
            <a:pPr algn="l" eaLnBrk="1" hangingPunct="1">
              <a:defRPr/>
            </a:pPr>
            <a:r>
              <a:rPr lang="en-US" sz="3600" b="1" dirty="0" smtClean="0">
                <a:solidFill>
                  <a:srgbClr val="C00000"/>
                </a:solidFill>
                <a:latin typeface="+mn-lt"/>
              </a:rPr>
              <a:t>Database Systems</a:t>
            </a:r>
          </a:p>
        </p:txBody>
      </p:sp>
      <p:sp>
        <p:nvSpPr>
          <p:cNvPr id="3079" name="Rectangle 2"/>
          <p:cNvSpPr>
            <a:spLocks noChangeArrowheads="1"/>
          </p:cNvSpPr>
          <p:nvPr/>
        </p:nvSpPr>
        <p:spPr bwMode="auto">
          <a:xfrm>
            <a:off x="5334000" y="5181600"/>
            <a:ext cx="15398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SG" altLang="en-US" sz="1400" dirty="0">
                <a:latin typeface="Arial" charset="0"/>
              </a:rPr>
              <a:t>(Normalization)</a:t>
            </a:r>
          </a:p>
        </p:txBody>
      </p:sp>
      <p:sp>
        <p:nvSpPr>
          <p:cNvPr id="8" name="Rectangle 7">
            <a:hlinkClick r:id="rId3"/>
          </p:cNvPr>
          <p:cNvSpPr>
            <a:spLocks noChangeArrowheads="1"/>
          </p:cNvSpPr>
          <p:nvPr/>
        </p:nvSpPr>
        <p:spPr bwMode="auto">
          <a:xfrm>
            <a:off x="4038600" y="4821109"/>
            <a:ext cx="4926340" cy="288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eaLnBrk="1" hangingPunct="1">
              <a:spcBef>
                <a:spcPct val="0"/>
              </a:spcBef>
              <a:buFontTx/>
              <a:buNone/>
            </a:pPr>
            <a:r>
              <a:rPr lang="en-SG" altLang="en-US" sz="1400" dirty="0" smtClean="0"/>
              <a:t>Reference: </a:t>
            </a:r>
            <a:r>
              <a:rPr lang="en-SG" altLang="en-US" sz="1400" dirty="0" smtClean="0">
                <a:latin typeface="Arial" charset="0"/>
              </a:rPr>
              <a:t>https</a:t>
            </a:r>
            <a:r>
              <a:rPr lang="en-SG" altLang="en-US" sz="1400" dirty="0">
                <a:latin typeface="Arial" charset="0"/>
              </a:rPr>
              <a:t>://www.youtube.com/watch?v=IwswNIZ_PSg</a:t>
            </a:r>
          </a:p>
        </p:txBody>
      </p:sp>
      <p:sp>
        <p:nvSpPr>
          <p:cNvPr id="9" name="TextBox 8"/>
          <p:cNvSpPr txBox="1"/>
          <p:nvPr/>
        </p:nvSpPr>
        <p:spPr>
          <a:xfrm>
            <a:off x="5341257" y="4018742"/>
            <a:ext cx="2105311" cy="442035"/>
          </a:xfrm>
          <a:prstGeom prst="rect">
            <a:avLst/>
          </a:prstGeom>
          <a:noFill/>
        </p:spPr>
        <p:txBody>
          <a:bodyPr wrap="none" lIns="36000" tIns="36000" rIns="36000" bIns="36000" rtlCol="0">
            <a:spAutoFit/>
          </a:bodyPr>
          <a:lstStyle/>
          <a:p>
            <a:r>
              <a:rPr lang="en-GB" sz="2400" dirty="0" smtClean="0"/>
              <a:t>(</a:t>
            </a:r>
            <a:r>
              <a:rPr lang="zh-CN" altLang="en-US" sz="2400" dirty="0"/>
              <a:t>数据库规范</a:t>
            </a:r>
            <a:r>
              <a:rPr lang="zh-CN" altLang="en-US" sz="2400" dirty="0" smtClean="0"/>
              <a:t>化</a:t>
            </a:r>
            <a:r>
              <a:rPr lang="en-GB" sz="2400" dirty="0" smtClean="0"/>
              <a:t>)</a:t>
            </a:r>
            <a:endParaRPr lang="en-SG" sz="2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8" name="Title 1"/>
          <p:cNvSpPr>
            <a:spLocks noGrp="1"/>
          </p:cNvSpPr>
          <p:nvPr>
            <p:ph type="ctrTitle" idx="4294967295"/>
          </p:nvPr>
        </p:nvSpPr>
        <p:spPr>
          <a:xfrm>
            <a:off x="685800" y="263416"/>
            <a:ext cx="6722848" cy="646331"/>
          </a:xfrm>
        </p:spPr>
        <p:txBody>
          <a:bodyPr wrap="none" lIns="72000" rIns="72000">
            <a:spAutoFit/>
          </a:bodyPr>
          <a:lstStyle/>
          <a:p>
            <a:pPr algn="l" eaLnBrk="1" hangingPunct="1">
              <a:defRPr/>
            </a:pPr>
            <a:r>
              <a:rPr lang="en-US" sz="3600" b="1" dirty="0" smtClean="0">
                <a:solidFill>
                  <a:srgbClr val="002060"/>
                </a:solidFill>
                <a:latin typeface="+mn-lt"/>
              </a:rPr>
              <a:t>Unit 6 : </a:t>
            </a:r>
            <a:r>
              <a:rPr lang="en-US" sz="3600" b="1" dirty="0" smtClean="0">
                <a:solidFill>
                  <a:srgbClr val="C00000"/>
                </a:solidFill>
                <a:latin typeface="+mn-lt"/>
              </a:rPr>
              <a:t>Normalization in Database</a:t>
            </a:r>
          </a:p>
        </p:txBody>
      </p:sp>
      <p:sp>
        <p:nvSpPr>
          <p:cNvPr id="4099" name="Subtitle 2"/>
          <p:cNvSpPr>
            <a:spLocks noGrp="1"/>
          </p:cNvSpPr>
          <p:nvPr>
            <p:ph type="subTitle" idx="4294967295"/>
          </p:nvPr>
        </p:nvSpPr>
        <p:spPr>
          <a:xfrm>
            <a:off x="685800" y="2133600"/>
            <a:ext cx="8001000" cy="3505200"/>
          </a:xfrm>
        </p:spPr>
        <p:txBody>
          <a:bodyPr/>
          <a:lstStyle/>
          <a:p>
            <a:pPr eaLnBrk="1" hangingPunct="1">
              <a:buFont typeface="Courier New" pitchFamily="49" charset="0"/>
              <a:buChar char="o"/>
            </a:pPr>
            <a:r>
              <a:rPr lang="en-US" altLang="en-US" sz="2800" dirty="0" smtClean="0">
                <a:solidFill>
                  <a:srgbClr val="C00000"/>
                </a:solidFill>
                <a:cs typeface="Times New Roman" pitchFamily="18" charset="0"/>
              </a:rPr>
              <a:t>At the end of this unit, you should be able to:</a:t>
            </a:r>
            <a:endParaRPr lang="en-US" altLang="en-US" sz="2800" dirty="0" smtClean="0">
              <a:cs typeface="Times New Roman" pitchFamily="18" charset="0"/>
            </a:endParaRPr>
          </a:p>
          <a:p>
            <a:pPr marL="627063" lvl="1" indent="-271463" eaLnBrk="1" hangingPunct="1">
              <a:buFont typeface="Wingdings" pitchFamily="2" charset="2"/>
              <a:buChar char="§"/>
            </a:pPr>
            <a:r>
              <a:rPr lang="en-US" altLang="en-US" sz="2400" dirty="0" smtClean="0"/>
              <a:t>describe modification anomalies in un-normalized relations.</a:t>
            </a:r>
          </a:p>
          <a:p>
            <a:pPr marL="627063" lvl="1" indent="-271463" eaLnBrk="1" hangingPunct="1">
              <a:buFont typeface="Wingdings" pitchFamily="2" charset="2"/>
              <a:buChar char="§"/>
            </a:pPr>
            <a:r>
              <a:rPr lang="en-US" altLang="en-US" sz="2400" dirty="0" smtClean="0"/>
              <a:t>interpret the first three normal forms (NF) in normalization process.</a:t>
            </a:r>
          </a:p>
          <a:p>
            <a:pPr marL="627063" lvl="1" indent="-271463" eaLnBrk="1" hangingPunct="1">
              <a:buFont typeface="Wingdings" pitchFamily="2" charset="2"/>
              <a:buChar char="§"/>
            </a:pPr>
            <a:r>
              <a:rPr lang="en-US" altLang="en-US" sz="2400" dirty="0" smtClean="0"/>
              <a:t>apply normal forms (NF) in normalizing the relations.</a:t>
            </a:r>
          </a:p>
        </p:txBody>
      </p:sp>
      <p:sp>
        <p:nvSpPr>
          <p:cNvPr id="4100" name="Rectangle 5"/>
          <p:cNvSpPr txBox="1">
            <a:spLocks noChangeArrowheads="1"/>
          </p:cNvSpPr>
          <p:nvPr/>
        </p:nvSpPr>
        <p:spPr bwMode="auto">
          <a:xfrm>
            <a:off x="685800" y="1295400"/>
            <a:ext cx="2130425" cy="627063"/>
          </a:xfrm>
          <a:prstGeom prst="rect">
            <a:avLst/>
          </a:prstGeom>
          <a:noFill/>
          <a:ln w="9525">
            <a:noFill/>
            <a:miter lim="800000"/>
            <a:headEnd/>
            <a:tailEnd/>
          </a:ln>
        </p:spPr>
        <p:txBody>
          <a:bodyPr wrap="none" lIns="36000" tIns="36000" rIns="36000" bIns="36000">
            <a:spAutoFit/>
          </a:bodyPr>
          <a:lstStyle/>
          <a:p>
            <a:pPr marL="342900" indent="-342900">
              <a:spcBef>
                <a:spcPct val="20000"/>
              </a:spcBef>
              <a:buFont typeface="Arial" charset="0"/>
              <a:buNone/>
              <a:defRPr/>
            </a:pPr>
            <a:r>
              <a:rPr lang="en-US" sz="3600" b="1" dirty="0">
                <a:solidFill>
                  <a:srgbClr val="002060"/>
                </a:solidFill>
                <a:latin typeface="+mn-lt"/>
                <a:cs typeface="Times New Roman" pitchFamily="18" charset="0"/>
              </a:rPr>
              <a:t>Objective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26" name="Picture 2" descr="http://ecomputernotes.com/images/Unnormalized%20Tabl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061" y="1600200"/>
            <a:ext cx="7827167" cy="41484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idx="4294967295"/>
          </p:nvPr>
        </p:nvSpPr>
        <p:spPr>
          <a:xfrm>
            <a:off x="685800" y="249693"/>
            <a:ext cx="4737891" cy="565146"/>
          </a:xfrm>
        </p:spPr>
        <p:txBody>
          <a:bodyPr wrap="none" lIns="36000" tIns="36000" rIns="36000" bIns="36000" anchor="t">
            <a:spAutoFit/>
          </a:bodyPr>
          <a:lstStyle/>
          <a:p>
            <a:pPr algn="l" eaLnBrk="1" hangingPunct="1">
              <a:defRPr/>
            </a:pPr>
            <a:r>
              <a:rPr lang="en-GB" sz="3200" b="1" dirty="0" smtClean="0">
                <a:solidFill>
                  <a:srgbClr val="C00000"/>
                </a:solidFill>
                <a:latin typeface="+mn-lt"/>
              </a:rPr>
              <a:t>Un-Normalization Relation</a:t>
            </a:r>
            <a:endParaRPr lang="en-US" sz="3200" b="1" dirty="0" smtClean="0">
              <a:solidFill>
                <a:srgbClr val="C00000"/>
              </a:solidFill>
              <a:latin typeface="+mn-lt"/>
            </a:endParaRPr>
          </a:p>
        </p:txBody>
      </p:sp>
      <p:sp>
        <p:nvSpPr>
          <p:cNvPr id="5123" name="Rectangle 3"/>
          <p:cNvSpPr>
            <a:spLocks noGrp="1" noChangeArrowheads="1"/>
          </p:cNvSpPr>
          <p:nvPr>
            <p:ph type="subTitle" idx="4294967295"/>
          </p:nvPr>
        </p:nvSpPr>
        <p:spPr>
          <a:xfrm>
            <a:off x="609599" y="838200"/>
            <a:ext cx="7920000" cy="576000"/>
          </a:xfrm>
        </p:spPr>
        <p:txBody>
          <a:bodyPr lIns="36000" tIns="36000" rIns="36000" bIns="36000"/>
          <a:lstStyle/>
          <a:p>
            <a:pPr marL="0" indent="0" eaLnBrk="1" hangingPunct="1">
              <a:spcBef>
                <a:spcPts val="1200"/>
              </a:spcBef>
              <a:buFont typeface="Arial" charset="0"/>
              <a:buNone/>
            </a:pPr>
            <a:r>
              <a:rPr lang="en-US" altLang="en-US" sz="2400" dirty="0" smtClean="0"/>
              <a:t>Un-normalized relation (table) inherits problems</a:t>
            </a:r>
            <a:r>
              <a:rPr lang="en-US" altLang="en-US" sz="2400" dirty="0"/>
              <a:t>!</a:t>
            </a:r>
            <a:r>
              <a:rPr lang="en-US" altLang="en-US" sz="2400" dirty="0" smtClean="0"/>
              <a:t> </a:t>
            </a:r>
          </a:p>
        </p:txBody>
      </p:sp>
      <p:sp>
        <p:nvSpPr>
          <p:cNvPr id="7" name="Title 1"/>
          <p:cNvSpPr txBox="1">
            <a:spLocks/>
          </p:cNvSpPr>
          <p:nvPr/>
        </p:nvSpPr>
        <p:spPr bwMode="auto">
          <a:xfrm>
            <a:off x="6446838" y="6478588"/>
            <a:ext cx="2566987" cy="303212"/>
          </a:xfrm>
          <a:prstGeom prst="rect">
            <a:avLst/>
          </a:prstGeom>
          <a:noFill/>
          <a:ln>
            <a:noFill/>
          </a:ln>
          <a:extLst/>
        </p:spPr>
        <p:txBody>
          <a:bodyPr wrap="none" lIns="46800" rIns="46800" anchor="ctr">
            <a:spAutoFit/>
          </a:bodyPr>
          <a:lstStyle>
            <a:lvl1pPr algn="ctr" rtl="0" eaLnBrk="0" fontAlgn="base" hangingPunct="0">
              <a:spcBef>
                <a:spcPct val="0"/>
              </a:spcBef>
              <a:spcAft>
                <a:spcPct val="0"/>
              </a:spcAft>
              <a:defRPr sz="3200" b="1" kern="1200">
                <a:solidFill>
                  <a:schemeClr val="tx1"/>
                </a:solidFill>
                <a:latin typeface="Verdana" pitchFamily="34" charset="0"/>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lnSpc>
                <a:spcPct val="114000"/>
              </a:lnSpc>
              <a:defRPr/>
            </a:pPr>
            <a:r>
              <a:rPr lang="en-GB" sz="1200" dirty="0" smtClean="0">
                <a:solidFill>
                  <a:srgbClr val="002060"/>
                </a:solidFill>
                <a:latin typeface="+mn-lt"/>
              </a:rPr>
              <a:t>Source: http://www.info.teradata.com</a:t>
            </a:r>
            <a:endParaRPr lang="en-US" sz="1200" dirty="0" smtClean="0">
              <a:solidFill>
                <a:srgbClr val="002060"/>
              </a:solidFill>
              <a:latin typeface="+mn-lt"/>
            </a:endParaRPr>
          </a:p>
        </p:txBody>
      </p:sp>
      <p:sp>
        <p:nvSpPr>
          <p:cNvPr id="6" name="TextBox 5"/>
          <p:cNvSpPr txBox="1"/>
          <p:nvPr/>
        </p:nvSpPr>
        <p:spPr bwMode="auto">
          <a:xfrm>
            <a:off x="685800" y="1200090"/>
            <a:ext cx="4389215" cy="400110"/>
          </a:xfrm>
          <a:prstGeom prst="rect">
            <a:avLst/>
          </a:prstGeom>
          <a:noFill/>
        </p:spPr>
        <p:txBody>
          <a:bodyPr wrap="none" lIns="45720" rIns="45720">
            <a:spAutoFit/>
          </a:bodyPr>
          <a:lstStyle/>
          <a:p>
            <a:pPr marL="342900" indent="-342900">
              <a:buFont typeface="Courier New" panose="02070309020205020404" pitchFamily="49" charset="0"/>
              <a:buChar char="o"/>
              <a:defRPr/>
            </a:pPr>
            <a:r>
              <a:rPr lang="en-GB" sz="2000" dirty="0" smtClean="0">
                <a:solidFill>
                  <a:srgbClr val="C00000"/>
                </a:solidFill>
                <a:latin typeface="+mn-lt"/>
              </a:rPr>
              <a:t>insertion, update and deletion of data</a:t>
            </a:r>
            <a:endParaRPr lang="en-US" sz="2000" dirty="0">
              <a:solidFill>
                <a:srgbClr val="C00000"/>
              </a:solidFill>
              <a:latin typeface="+mn-lt"/>
            </a:endParaRPr>
          </a:p>
        </p:txBody>
      </p:sp>
      <p:grpSp>
        <p:nvGrpSpPr>
          <p:cNvPr id="21" name="Group 20"/>
          <p:cNvGrpSpPr/>
          <p:nvPr/>
        </p:nvGrpSpPr>
        <p:grpSpPr>
          <a:xfrm>
            <a:off x="4135438" y="2700600"/>
            <a:ext cx="3306703" cy="290814"/>
            <a:chOff x="4135438" y="3581400"/>
            <a:chExt cx="3306703" cy="290814"/>
          </a:xfrm>
        </p:grpSpPr>
        <p:grpSp>
          <p:nvGrpSpPr>
            <p:cNvPr id="18" name="Group 17"/>
            <p:cNvGrpSpPr/>
            <p:nvPr/>
          </p:nvGrpSpPr>
          <p:grpSpPr>
            <a:xfrm>
              <a:off x="4135438" y="3581400"/>
              <a:ext cx="804962" cy="288000"/>
              <a:chOff x="4135438" y="2819400"/>
              <a:chExt cx="804962" cy="288000"/>
            </a:xfrm>
          </p:grpSpPr>
          <p:sp>
            <p:nvSpPr>
              <p:cNvPr id="11" name="Rounded Rectangle 10"/>
              <p:cNvSpPr/>
              <p:nvPr/>
            </p:nvSpPr>
            <p:spPr>
              <a:xfrm>
                <a:off x="4135438" y="2819400"/>
                <a:ext cx="665162" cy="288000"/>
              </a:xfrm>
              <a:prstGeom prst="roundRect">
                <a:avLst/>
              </a:prstGeom>
              <a:noFill/>
              <a:ln w="38100">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Right Arrow 4"/>
              <p:cNvSpPr/>
              <p:nvPr/>
            </p:nvSpPr>
            <p:spPr>
              <a:xfrm>
                <a:off x="4724400" y="2895600"/>
                <a:ext cx="216000" cy="102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24" name="Rectangle 23"/>
            <p:cNvSpPr/>
            <p:nvPr/>
          </p:nvSpPr>
          <p:spPr>
            <a:xfrm>
              <a:off x="5714141" y="3584214"/>
              <a:ext cx="1728000" cy="288000"/>
            </a:xfrm>
            <a:prstGeom prst="rect">
              <a:avLst/>
            </a:prstGeom>
            <a:noFill/>
            <a:ln w="381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22" name="Group 21"/>
          <p:cNvGrpSpPr/>
          <p:nvPr/>
        </p:nvGrpSpPr>
        <p:grpSpPr>
          <a:xfrm>
            <a:off x="4114800" y="3773598"/>
            <a:ext cx="3328200" cy="313116"/>
            <a:chOff x="4114800" y="4654398"/>
            <a:chExt cx="3328200" cy="313116"/>
          </a:xfrm>
        </p:grpSpPr>
        <p:grpSp>
          <p:nvGrpSpPr>
            <p:cNvPr id="19" name="Group 18"/>
            <p:cNvGrpSpPr/>
            <p:nvPr/>
          </p:nvGrpSpPr>
          <p:grpSpPr>
            <a:xfrm>
              <a:off x="4114800" y="4715514"/>
              <a:ext cx="825600" cy="252000"/>
              <a:chOff x="4114800" y="3953514"/>
              <a:chExt cx="825600" cy="252000"/>
            </a:xfrm>
          </p:grpSpPr>
          <p:sp>
            <p:nvSpPr>
              <p:cNvPr id="12" name="Rounded Rectangle 11"/>
              <p:cNvSpPr/>
              <p:nvPr/>
            </p:nvSpPr>
            <p:spPr>
              <a:xfrm>
                <a:off x="4114800" y="3953514"/>
                <a:ext cx="665162" cy="252000"/>
              </a:xfrm>
              <a:prstGeom prst="roundRect">
                <a:avLst/>
              </a:prstGeom>
              <a:noFill/>
              <a:ln>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 name="Right Arrow 13"/>
              <p:cNvSpPr/>
              <p:nvPr/>
            </p:nvSpPr>
            <p:spPr>
              <a:xfrm>
                <a:off x="4724400" y="4026714"/>
                <a:ext cx="216000" cy="102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26" name="Rectangle 25"/>
            <p:cNvSpPr/>
            <p:nvPr/>
          </p:nvSpPr>
          <p:spPr>
            <a:xfrm>
              <a:off x="5715000" y="4654398"/>
              <a:ext cx="1728000" cy="288000"/>
            </a:xfrm>
            <a:prstGeom prst="rect">
              <a:avLst/>
            </a:prstGeom>
            <a:noFill/>
            <a:ln w="381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27" name="Group 26"/>
          <p:cNvGrpSpPr/>
          <p:nvPr/>
        </p:nvGrpSpPr>
        <p:grpSpPr>
          <a:xfrm>
            <a:off x="838200" y="3221772"/>
            <a:ext cx="7245600" cy="360570"/>
            <a:chOff x="838200" y="4102572"/>
            <a:chExt cx="7245600" cy="360570"/>
          </a:xfrm>
        </p:grpSpPr>
        <p:sp>
          <p:nvSpPr>
            <p:cNvPr id="4" name="Oval 3"/>
            <p:cNvSpPr/>
            <p:nvPr/>
          </p:nvSpPr>
          <p:spPr>
            <a:xfrm>
              <a:off x="4118430" y="4158342"/>
              <a:ext cx="665162" cy="304800"/>
            </a:xfrm>
            <a:prstGeom prst="ellipse">
              <a:avLst/>
            </a:prstGeom>
            <a:noFill/>
            <a:ln w="381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9" name="Oval 28"/>
            <p:cNvSpPr/>
            <p:nvPr/>
          </p:nvSpPr>
          <p:spPr>
            <a:xfrm>
              <a:off x="838200" y="4102572"/>
              <a:ext cx="540000" cy="324000"/>
            </a:xfrm>
            <a:prstGeom prst="ellipse">
              <a:avLst/>
            </a:prstGeom>
            <a:noFill/>
            <a:ln w="381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en-SG" sz="1400" b="1" dirty="0" smtClean="0">
                  <a:solidFill>
                    <a:schemeClr val="tx1"/>
                  </a:solidFill>
                </a:rPr>
                <a:t>C1</a:t>
              </a:r>
              <a:endParaRPr lang="en-SG" sz="1400" b="1" dirty="0">
                <a:solidFill>
                  <a:schemeClr val="tx1"/>
                </a:solidFill>
              </a:endParaRPr>
            </a:p>
          </p:txBody>
        </p:sp>
        <p:sp>
          <p:nvSpPr>
            <p:cNvPr id="35" name="Rectangle 34"/>
            <p:cNvSpPr/>
            <p:nvPr/>
          </p:nvSpPr>
          <p:spPr>
            <a:xfrm>
              <a:off x="7543800" y="4158342"/>
              <a:ext cx="540000" cy="252000"/>
            </a:xfrm>
            <a:prstGeom prst="rect">
              <a:avLst/>
            </a:prstGeom>
            <a:noFill/>
            <a:ln w="381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37" name="Hexagon 36"/>
          <p:cNvSpPr/>
          <p:nvPr/>
        </p:nvSpPr>
        <p:spPr>
          <a:xfrm>
            <a:off x="824460" y="2701633"/>
            <a:ext cx="3096000" cy="288000"/>
          </a:xfrm>
          <a:prstGeom prst="hexagon">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9" name="TextBox 38"/>
          <p:cNvSpPr txBox="1"/>
          <p:nvPr/>
        </p:nvSpPr>
        <p:spPr bwMode="auto">
          <a:xfrm>
            <a:off x="228600" y="5109972"/>
            <a:ext cx="6980244" cy="584775"/>
          </a:xfrm>
          <a:prstGeom prst="rect">
            <a:avLst/>
          </a:prstGeom>
          <a:solidFill>
            <a:srgbClr val="FFFF99"/>
          </a:solidFill>
        </p:spPr>
        <p:txBody>
          <a:bodyPr wrap="none" lIns="45720" rIns="45720">
            <a:spAutoFit/>
          </a:bodyPr>
          <a:lstStyle/>
          <a:p>
            <a:pPr marL="285750" indent="-285750">
              <a:buFont typeface="Courier New" panose="02070309020205020404" pitchFamily="49" charset="0"/>
              <a:buChar char="o"/>
              <a:defRPr/>
            </a:pPr>
            <a:r>
              <a:rPr lang="en-GB" sz="1600" dirty="0" smtClean="0">
                <a:solidFill>
                  <a:srgbClr val="C00000"/>
                </a:solidFill>
                <a:latin typeface="+mn-lt"/>
              </a:rPr>
              <a:t>If </a:t>
            </a:r>
            <a:r>
              <a:rPr lang="en-GB" sz="1600" dirty="0">
                <a:solidFill>
                  <a:srgbClr val="C00000"/>
                </a:solidFill>
                <a:latin typeface="+mn-lt"/>
              </a:rPr>
              <a:t>both ‘</a:t>
            </a:r>
            <a:r>
              <a:rPr lang="en-GB" sz="1600" dirty="0" err="1">
                <a:solidFill>
                  <a:srgbClr val="C00000"/>
                </a:solidFill>
                <a:latin typeface="+mn-lt"/>
              </a:rPr>
              <a:t>CourseCode</a:t>
            </a:r>
            <a:r>
              <a:rPr lang="en-GB" sz="1600" dirty="0">
                <a:solidFill>
                  <a:srgbClr val="C00000"/>
                </a:solidFill>
                <a:latin typeface="+mn-lt"/>
              </a:rPr>
              <a:t>’ &amp; ‘</a:t>
            </a:r>
            <a:r>
              <a:rPr lang="en-GB" sz="1600" dirty="0" err="1">
                <a:solidFill>
                  <a:srgbClr val="C00000"/>
                </a:solidFill>
                <a:latin typeface="+mn-lt"/>
              </a:rPr>
              <a:t>RollNo</a:t>
            </a:r>
            <a:r>
              <a:rPr lang="en-GB" sz="1600" dirty="0" smtClean="0">
                <a:solidFill>
                  <a:srgbClr val="C00000"/>
                </a:solidFill>
                <a:latin typeface="+mn-lt"/>
              </a:rPr>
              <a:t>’ is unknown, it cannot determine the ‘</a:t>
            </a:r>
            <a:r>
              <a:rPr lang="en-GB" sz="1600" dirty="0" err="1" smtClean="0">
                <a:solidFill>
                  <a:srgbClr val="C00000"/>
                </a:solidFill>
                <a:latin typeface="+mn-lt"/>
              </a:rPr>
              <a:t>TotalHrs</a:t>
            </a:r>
            <a:r>
              <a:rPr lang="en-GB" sz="1600" dirty="0" smtClean="0">
                <a:solidFill>
                  <a:srgbClr val="C00000"/>
                </a:solidFill>
                <a:latin typeface="+mn-lt"/>
              </a:rPr>
              <a:t>’.</a:t>
            </a:r>
          </a:p>
          <a:p>
            <a:pPr marL="261938">
              <a:defRPr/>
            </a:pPr>
            <a:r>
              <a:rPr lang="en-GB" sz="1600" dirty="0" smtClean="0">
                <a:solidFill>
                  <a:srgbClr val="C00000"/>
                </a:solidFill>
                <a:latin typeface="+mn-lt"/>
              </a:rPr>
              <a:t>- e.g. records with ‘</a:t>
            </a:r>
            <a:r>
              <a:rPr lang="en-GB" sz="1600" dirty="0" err="1" smtClean="0">
                <a:solidFill>
                  <a:srgbClr val="C00000"/>
                </a:solidFill>
                <a:latin typeface="+mn-lt"/>
              </a:rPr>
              <a:t>RollNo</a:t>
            </a:r>
            <a:r>
              <a:rPr lang="en-GB" sz="1600" dirty="0" smtClean="0">
                <a:solidFill>
                  <a:srgbClr val="C00000"/>
                </a:solidFill>
                <a:latin typeface="+mn-lt"/>
              </a:rPr>
              <a:t>’ :101, 103, 105 &amp; 107 – incomplete insertion.</a:t>
            </a:r>
            <a:endParaRPr lang="en-US" sz="1600" dirty="0">
              <a:solidFill>
                <a:srgbClr val="C00000"/>
              </a:solidFill>
              <a:latin typeface="+mn-lt"/>
            </a:endParaRPr>
          </a:p>
        </p:txBody>
      </p:sp>
      <p:sp>
        <p:nvSpPr>
          <p:cNvPr id="31" name="TextBox 30"/>
          <p:cNvSpPr txBox="1"/>
          <p:nvPr/>
        </p:nvSpPr>
        <p:spPr bwMode="auto">
          <a:xfrm>
            <a:off x="228600" y="5685972"/>
            <a:ext cx="7801428" cy="584775"/>
          </a:xfrm>
          <a:prstGeom prst="rect">
            <a:avLst/>
          </a:prstGeom>
          <a:solidFill>
            <a:srgbClr val="FFFF99"/>
          </a:solidFill>
        </p:spPr>
        <p:txBody>
          <a:bodyPr wrap="square" lIns="45720" rIns="45720">
            <a:spAutoFit/>
          </a:bodyPr>
          <a:lstStyle/>
          <a:p>
            <a:pPr marL="285750" indent="-285750">
              <a:buFont typeface="Courier New" panose="02070309020205020404" pitchFamily="49" charset="0"/>
              <a:buChar char="o"/>
              <a:defRPr/>
            </a:pPr>
            <a:r>
              <a:rPr lang="en-GB" sz="1600" dirty="0" smtClean="0">
                <a:solidFill>
                  <a:srgbClr val="002060"/>
                </a:solidFill>
                <a:latin typeface="+mn-lt"/>
              </a:rPr>
              <a:t>If record with ‘</a:t>
            </a:r>
            <a:r>
              <a:rPr lang="en-GB" sz="1600" dirty="0" err="1">
                <a:solidFill>
                  <a:srgbClr val="002060"/>
                </a:solidFill>
                <a:latin typeface="+mn-lt"/>
              </a:rPr>
              <a:t>CourseCode</a:t>
            </a:r>
            <a:r>
              <a:rPr lang="en-GB" sz="1600" dirty="0">
                <a:solidFill>
                  <a:srgbClr val="002060"/>
                </a:solidFill>
                <a:latin typeface="+mn-lt"/>
              </a:rPr>
              <a:t>’ </a:t>
            </a:r>
            <a:r>
              <a:rPr lang="en-GB" sz="1600" dirty="0" smtClean="0">
                <a:solidFill>
                  <a:srgbClr val="002060"/>
                </a:solidFill>
                <a:latin typeface="+mn-lt"/>
              </a:rPr>
              <a:t>: 100 is deleted, records with ‘</a:t>
            </a:r>
            <a:r>
              <a:rPr lang="en-GB" sz="1600" dirty="0" err="1">
                <a:solidFill>
                  <a:srgbClr val="002060"/>
                </a:solidFill>
                <a:latin typeface="+mn-lt"/>
              </a:rPr>
              <a:t>RollNo</a:t>
            </a:r>
            <a:r>
              <a:rPr lang="en-GB" sz="1600" dirty="0" smtClean="0">
                <a:solidFill>
                  <a:srgbClr val="002060"/>
                </a:solidFill>
                <a:latin typeface="+mn-lt"/>
              </a:rPr>
              <a:t>’ : 101 &amp; 103 will be untraceable of ‘</a:t>
            </a:r>
            <a:r>
              <a:rPr lang="en-GB" sz="1600" dirty="0" err="1" smtClean="0">
                <a:solidFill>
                  <a:srgbClr val="002060"/>
                </a:solidFill>
                <a:latin typeface="+mn-lt"/>
              </a:rPr>
              <a:t>Course_code</a:t>
            </a:r>
            <a:r>
              <a:rPr lang="en-GB" sz="1600" dirty="0" smtClean="0">
                <a:solidFill>
                  <a:srgbClr val="002060"/>
                </a:solidFill>
                <a:latin typeface="+mn-lt"/>
              </a:rPr>
              <a:t>’, ‘</a:t>
            </a:r>
            <a:r>
              <a:rPr lang="en-GB" sz="1600" dirty="0" err="1" smtClean="0">
                <a:solidFill>
                  <a:srgbClr val="002060"/>
                </a:solidFill>
                <a:latin typeface="+mn-lt"/>
              </a:rPr>
              <a:t>Course_Name</a:t>
            </a:r>
            <a:r>
              <a:rPr lang="en-GB" sz="1600" dirty="0" smtClean="0">
                <a:solidFill>
                  <a:srgbClr val="002060"/>
                </a:solidFill>
                <a:latin typeface="+mn-lt"/>
              </a:rPr>
              <a:t>’ and ‘</a:t>
            </a:r>
            <a:r>
              <a:rPr lang="en-GB" sz="1600" dirty="0" err="1" smtClean="0">
                <a:solidFill>
                  <a:srgbClr val="002060"/>
                </a:solidFill>
                <a:latin typeface="+mn-lt"/>
              </a:rPr>
              <a:t>Teacher_Name</a:t>
            </a:r>
            <a:r>
              <a:rPr lang="en-GB" sz="1600" dirty="0" smtClean="0">
                <a:solidFill>
                  <a:srgbClr val="002060"/>
                </a:solidFill>
                <a:latin typeface="+mn-lt"/>
              </a:rPr>
              <a:t>’.</a:t>
            </a:r>
          </a:p>
        </p:txBody>
      </p:sp>
      <p:sp>
        <p:nvSpPr>
          <p:cNvPr id="33" name="TextBox 32"/>
          <p:cNvSpPr txBox="1"/>
          <p:nvPr/>
        </p:nvSpPr>
        <p:spPr bwMode="auto">
          <a:xfrm>
            <a:off x="228600" y="6258841"/>
            <a:ext cx="8686800" cy="584775"/>
          </a:xfrm>
          <a:prstGeom prst="rect">
            <a:avLst/>
          </a:prstGeom>
          <a:solidFill>
            <a:srgbClr val="FFFF99"/>
          </a:solidFill>
        </p:spPr>
        <p:txBody>
          <a:bodyPr wrap="square" lIns="45720" rIns="45720">
            <a:spAutoFit/>
          </a:bodyPr>
          <a:lstStyle/>
          <a:p>
            <a:pPr marL="285750" indent="-285750">
              <a:buFont typeface="Courier New" panose="02070309020205020404" pitchFamily="49" charset="0"/>
              <a:buChar char="o"/>
              <a:defRPr/>
            </a:pPr>
            <a:r>
              <a:rPr lang="en-GB" sz="1600" dirty="0" smtClean="0">
                <a:solidFill>
                  <a:srgbClr val="0070C0"/>
                </a:solidFill>
                <a:latin typeface="+mn-lt"/>
              </a:rPr>
              <a:t>If there are multiple ‘</a:t>
            </a:r>
            <a:r>
              <a:rPr lang="en-GB" sz="1600" dirty="0" err="1" smtClean="0">
                <a:solidFill>
                  <a:srgbClr val="0070C0"/>
                </a:solidFill>
                <a:latin typeface="+mn-lt"/>
              </a:rPr>
              <a:t>RollNo</a:t>
            </a:r>
            <a:r>
              <a:rPr lang="en-GB" sz="1600" dirty="0" smtClean="0">
                <a:solidFill>
                  <a:srgbClr val="0070C0"/>
                </a:solidFill>
                <a:latin typeface="+mn-lt"/>
              </a:rPr>
              <a:t>’ :100 to update, how to ensure all ‘</a:t>
            </a:r>
            <a:r>
              <a:rPr lang="en-GB" sz="1600" dirty="0" err="1" smtClean="0">
                <a:solidFill>
                  <a:srgbClr val="0070C0"/>
                </a:solidFill>
                <a:latin typeface="+mn-lt"/>
              </a:rPr>
              <a:t>System_Used</a:t>
            </a:r>
            <a:r>
              <a:rPr lang="en-GB" sz="1600" dirty="0" smtClean="0">
                <a:solidFill>
                  <a:srgbClr val="0070C0"/>
                </a:solidFill>
                <a:latin typeface="+mn-lt"/>
              </a:rPr>
              <a:t>’ &amp; ‘</a:t>
            </a:r>
            <a:r>
              <a:rPr lang="en-GB" sz="1600" dirty="0" err="1" smtClean="0">
                <a:solidFill>
                  <a:srgbClr val="0070C0"/>
                </a:solidFill>
                <a:latin typeface="+mn-lt"/>
              </a:rPr>
              <a:t>HourlyRate</a:t>
            </a:r>
            <a:r>
              <a:rPr lang="en-GB" sz="1600" dirty="0" smtClean="0">
                <a:solidFill>
                  <a:srgbClr val="0070C0"/>
                </a:solidFill>
                <a:latin typeface="+mn-lt"/>
              </a:rPr>
              <a:t>’ to be updated?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1000"/>
                                        <p:tgtEl>
                                          <p:spTgt spid="27"/>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wipe(left)">
                                      <p:cBhvr>
                                        <p:cTn id="11" dur="1000"/>
                                        <p:tgtEl>
                                          <p:spTgt spid="3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wipe(left)">
                                      <p:cBhvr>
                                        <p:cTn id="16" dur="1000"/>
                                        <p:tgtEl>
                                          <p:spTgt spid="37"/>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wipe(left)">
                                      <p:cBhvr>
                                        <p:cTn id="20" dur="1000"/>
                                        <p:tgtEl>
                                          <p:spTgt spid="31"/>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wipe(left)">
                                      <p:cBhvr>
                                        <p:cTn id="25" dur="1000"/>
                                        <p:tgtEl>
                                          <p:spTgt spid="21"/>
                                        </p:tgtEl>
                                      </p:cBhvr>
                                    </p:animEffect>
                                  </p:childTnLst>
                                </p:cTn>
                              </p:par>
                            </p:childTnLst>
                          </p:cTn>
                        </p:par>
                        <p:par>
                          <p:cTn id="26" fill="hold">
                            <p:stCondLst>
                              <p:cond delay="1000"/>
                            </p:stCondLst>
                            <p:childTnLst>
                              <p:par>
                                <p:cTn id="27" presetID="22" presetClass="entr" presetSubtype="8" fill="hold" nodeType="afterEffect">
                                  <p:stCondLst>
                                    <p:cond delay="500"/>
                                  </p:stCondLst>
                                  <p:childTnLst>
                                    <p:set>
                                      <p:cBhvr>
                                        <p:cTn id="28" dur="1" fill="hold">
                                          <p:stCondLst>
                                            <p:cond delay="0"/>
                                          </p:stCondLst>
                                        </p:cTn>
                                        <p:tgtEl>
                                          <p:spTgt spid="22"/>
                                        </p:tgtEl>
                                        <p:attrNameLst>
                                          <p:attrName>style.visibility</p:attrName>
                                        </p:attrNameLst>
                                      </p:cBhvr>
                                      <p:to>
                                        <p:strVal val="visible"/>
                                      </p:to>
                                    </p:set>
                                    <p:animEffect transition="in" filter="wipe(left)">
                                      <p:cBhvr>
                                        <p:cTn id="29" dur="1000"/>
                                        <p:tgtEl>
                                          <p:spTgt spid="22"/>
                                        </p:tgtEl>
                                      </p:cBhvr>
                                    </p:animEffect>
                                  </p:childTnLst>
                                </p:cTn>
                              </p:par>
                            </p:childTnLst>
                          </p:cTn>
                        </p:par>
                        <p:par>
                          <p:cTn id="30" fill="hold">
                            <p:stCondLst>
                              <p:cond delay="2500"/>
                            </p:stCondLst>
                            <p:childTnLst>
                              <p:par>
                                <p:cTn id="31" presetID="22" presetClass="entr" presetSubtype="8" fill="hold" grpId="0" nodeType="after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wipe(left)">
                                      <p:cBhvr>
                                        <p:cTn id="33" dur="1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9" grpId="0" animBg="1"/>
      <p:bldP spid="31" grpId="0" animBg="1"/>
      <p:bldP spid="3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itle 1"/>
          <p:cNvSpPr txBox="1">
            <a:spLocks/>
          </p:cNvSpPr>
          <p:nvPr/>
        </p:nvSpPr>
        <p:spPr bwMode="auto">
          <a:xfrm>
            <a:off x="653142" y="263980"/>
            <a:ext cx="4219575" cy="584200"/>
          </a:xfrm>
          <a:prstGeom prst="rect">
            <a:avLst/>
          </a:prstGeom>
          <a:noFill/>
          <a:ln>
            <a:noFill/>
          </a:ln>
          <a:extLst/>
        </p:spPr>
        <p:txBody>
          <a:bodyPr wrap="none" lIns="36000" tIns="36000" rIns="36000" bIns="36000">
            <a:spAutoFit/>
          </a:bodyPr>
          <a:lstStyle>
            <a:lvl1pPr algn="ctr" rtl="0" eaLnBrk="0" fontAlgn="base" hangingPunct="0">
              <a:spcBef>
                <a:spcPct val="0"/>
              </a:spcBef>
              <a:spcAft>
                <a:spcPct val="0"/>
              </a:spcAft>
              <a:defRPr sz="3200" b="1" kern="1200">
                <a:solidFill>
                  <a:schemeClr val="tx1"/>
                </a:solidFill>
                <a:latin typeface="Verdana" pitchFamily="34" charset="0"/>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eaLnBrk="1" hangingPunct="1">
              <a:defRPr/>
            </a:pPr>
            <a:r>
              <a:rPr lang="en-GB" dirty="0" smtClean="0">
                <a:solidFill>
                  <a:srgbClr val="C00000"/>
                </a:solidFill>
                <a:latin typeface="+mn-lt"/>
              </a:rPr>
              <a:t>Modification Anomalies</a:t>
            </a:r>
            <a:endParaRPr lang="en-US" dirty="0" smtClean="0">
              <a:solidFill>
                <a:srgbClr val="7030A0"/>
              </a:solidFill>
              <a:latin typeface="+mn-lt"/>
            </a:endParaRPr>
          </a:p>
        </p:txBody>
      </p:sp>
      <p:sp>
        <p:nvSpPr>
          <p:cNvPr id="12292" name="TextBox 21"/>
          <p:cNvSpPr txBox="1">
            <a:spLocks noChangeArrowheads="1"/>
          </p:cNvSpPr>
          <p:nvPr/>
        </p:nvSpPr>
        <p:spPr bwMode="auto">
          <a:xfrm>
            <a:off x="685800" y="1676400"/>
            <a:ext cx="6096000" cy="3550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36000" rIns="36000" bIns="36000">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spcAft>
                <a:spcPts val="1200"/>
              </a:spcAft>
              <a:buFontTx/>
              <a:buNone/>
              <a:defRPr/>
            </a:pPr>
            <a:r>
              <a:rPr lang="en-GB" altLang="en-US" sz="2800" dirty="0" smtClean="0"/>
              <a:t>Un-normalized relations are susceptible to experience 3 types of modification anomalies; namely:</a:t>
            </a:r>
          </a:p>
          <a:p>
            <a:pPr marL="536575" indent="-369888" eaLnBrk="1" hangingPunct="1">
              <a:spcBef>
                <a:spcPct val="0"/>
              </a:spcBef>
              <a:buFont typeface="+mj-lt"/>
              <a:buAutoNum type="alphaLcParenR"/>
              <a:defRPr/>
            </a:pPr>
            <a:r>
              <a:rPr lang="en-GB" altLang="en-US" sz="2400" b="1" dirty="0" smtClean="0">
                <a:solidFill>
                  <a:srgbClr val="FF0000"/>
                </a:solidFill>
              </a:rPr>
              <a:t>Insertion anomaly</a:t>
            </a:r>
          </a:p>
          <a:p>
            <a:pPr marL="711200" lvl="1" indent="-174625" eaLnBrk="1" hangingPunct="1">
              <a:spcBef>
                <a:spcPct val="0"/>
              </a:spcBef>
              <a:buFont typeface="Arial" panose="020B0604020202020204" pitchFamily="34" charset="0"/>
              <a:buChar char="•"/>
              <a:defRPr/>
            </a:pPr>
            <a:r>
              <a:rPr lang="en-GB" altLang="en-US" sz="2000" dirty="0" smtClean="0"/>
              <a:t>Difficulties </a:t>
            </a:r>
            <a:r>
              <a:rPr lang="en-GB" altLang="en-US" sz="2000" dirty="0"/>
              <a:t>i</a:t>
            </a:r>
            <a:r>
              <a:rPr lang="en-GB" altLang="en-US" sz="2000" dirty="0" smtClean="0"/>
              <a:t>n inserting data into a relation</a:t>
            </a:r>
          </a:p>
          <a:p>
            <a:pPr marL="536575" indent="-361950" eaLnBrk="1" hangingPunct="1">
              <a:spcBef>
                <a:spcPct val="0"/>
              </a:spcBef>
              <a:buFont typeface="+mj-lt"/>
              <a:buAutoNum type="alphaLcParenR"/>
              <a:defRPr/>
            </a:pPr>
            <a:r>
              <a:rPr lang="en-GB" altLang="en-US" sz="2400" b="1" dirty="0" smtClean="0">
                <a:solidFill>
                  <a:srgbClr val="FF0000"/>
                </a:solidFill>
              </a:rPr>
              <a:t>Update anomaly</a:t>
            </a:r>
          </a:p>
          <a:p>
            <a:pPr marL="711200" lvl="1" indent="-171450" eaLnBrk="1" hangingPunct="1">
              <a:spcBef>
                <a:spcPct val="0"/>
              </a:spcBef>
              <a:buFont typeface="Arial" panose="020B0604020202020204" pitchFamily="34" charset="0"/>
              <a:buChar char="•"/>
              <a:defRPr/>
            </a:pPr>
            <a:r>
              <a:rPr lang="en-GB" altLang="en-US" sz="2000" dirty="0" smtClean="0"/>
              <a:t>Difficulties in modifying data in a relation</a:t>
            </a:r>
          </a:p>
          <a:p>
            <a:pPr marL="536575" indent="-361950" eaLnBrk="1" hangingPunct="1">
              <a:spcBef>
                <a:spcPct val="0"/>
              </a:spcBef>
              <a:buFont typeface="+mj-lt"/>
              <a:buAutoNum type="alphaLcParenR"/>
              <a:defRPr/>
            </a:pPr>
            <a:r>
              <a:rPr lang="en-GB" altLang="en-US" sz="2400" b="1" dirty="0" smtClean="0">
                <a:solidFill>
                  <a:srgbClr val="FF0000"/>
                </a:solidFill>
              </a:rPr>
              <a:t>Deletion anomaly</a:t>
            </a:r>
          </a:p>
          <a:p>
            <a:pPr marL="723900" lvl="1" indent="-187325" eaLnBrk="1" hangingPunct="1">
              <a:spcBef>
                <a:spcPct val="0"/>
              </a:spcBef>
              <a:buFont typeface="Arial" panose="020B0604020202020204" pitchFamily="34" charset="0"/>
              <a:buChar char="•"/>
              <a:defRPr/>
            </a:pPr>
            <a:r>
              <a:rPr lang="en-GB" altLang="en-US" sz="2000" dirty="0" smtClean="0"/>
              <a:t>Difficulties in deleting data from a relation</a:t>
            </a:r>
          </a:p>
        </p:txBody>
      </p:sp>
      <p:sp>
        <p:nvSpPr>
          <p:cNvPr id="8197" name="TextBox 17"/>
          <p:cNvSpPr txBox="1">
            <a:spLocks noChangeArrowheads="1"/>
          </p:cNvSpPr>
          <p:nvPr/>
        </p:nvSpPr>
        <p:spPr bwMode="auto">
          <a:xfrm>
            <a:off x="762000" y="5463346"/>
            <a:ext cx="7391400" cy="1242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36000" rIns="36000" bIns="36000">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spcAft>
                <a:spcPts val="0"/>
              </a:spcAft>
              <a:buFontTx/>
              <a:buNone/>
            </a:pPr>
            <a:r>
              <a:rPr lang="en-GB" altLang="en-US" sz="2800" b="1" dirty="0" smtClean="0">
                <a:solidFill>
                  <a:schemeClr val="tx2">
                    <a:lumMod val="50000"/>
                  </a:schemeClr>
                </a:solidFill>
              </a:rPr>
              <a:t>What is the </a:t>
            </a:r>
            <a:r>
              <a:rPr lang="en-GB" altLang="en-US" sz="2800" b="1" dirty="0">
                <a:solidFill>
                  <a:schemeClr val="tx2">
                    <a:lumMod val="50000"/>
                  </a:schemeClr>
                </a:solidFill>
              </a:rPr>
              <a:t>i</a:t>
            </a:r>
            <a:r>
              <a:rPr lang="en-GB" altLang="en-US" sz="2800" b="1" dirty="0" smtClean="0">
                <a:solidFill>
                  <a:schemeClr val="tx2">
                    <a:lumMod val="50000"/>
                  </a:schemeClr>
                </a:solidFill>
              </a:rPr>
              <a:t>mpact </a:t>
            </a:r>
            <a:r>
              <a:rPr lang="en-GB" altLang="en-US" sz="2800" b="1" dirty="0">
                <a:solidFill>
                  <a:schemeClr val="tx2">
                    <a:lumMod val="50000"/>
                  </a:schemeClr>
                </a:solidFill>
              </a:rPr>
              <a:t>?</a:t>
            </a:r>
            <a:endParaRPr lang="en-GB" altLang="en-US" sz="2800" b="1" dirty="0" smtClean="0">
              <a:solidFill>
                <a:schemeClr val="tx2">
                  <a:lumMod val="50000"/>
                </a:schemeClr>
              </a:solidFill>
            </a:endParaRPr>
          </a:p>
          <a:p>
            <a:pPr marL="342900" indent="-342900" eaLnBrk="1" hangingPunct="1">
              <a:spcBef>
                <a:spcPct val="0"/>
              </a:spcBef>
              <a:buFont typeface="Courier New" panose="02070309020205020404" pitchFamily="49" charset="0"/>
              <a:buChar char="o"/>
            </a:pPr>
            <a:r>
              <a:rPr lang="en-GB" altLang="en-US" sz="2400" dirty="0" smtClean="0">
                <a:solidFill>
                  <a:srgbClr val="FF0000"/>
                </a:solidFill>
              </a:rPr>
              <a:t>These </a:t>
            </a:r>
            <a:r>
              <a:rPr lang="en-GB" altLang="en-US" sz="2400" dirty="0">
                <a:solidFill>
                  <a:srgbClr val="FF0000"/>
                </a:solidFill>
              </a:rPr>
              <a:t>anomalies will induce undesirable side-effects </a:t>
            </a:r>
            <a:r>
              <a:rPr lang="en-GB" altLang="en-US" sz="2000" dirty="0">
                <a:solidFill>
                  <a:srgbClr val="FF0000"/>
                </a:solidFill>
              </a:rPr>
              <a:t>(e.g. inconsistent dependency data) </a:t>
            </a:r>
            <a:r>
              <a:rPr lang="en-GB" altLang="en-US" sz="2400" dirty="0">
                <a:solidFill>
                  <a:srgbClr val="FF0000"/>
                </a:solidFill>
              </a:rPr>
              <a:t>in database design.</a:t>
            </a:r>
            <a:endParaRPr lang="en-US" altLang="en-US" sz="2400" dirty="0">
              <a:solidFill>
                <a:srgbClr val="FF0000"/>
              </a:solidFill>
            </a:endParaRPr>
          </a:p>
        </p:txBody>
      </p:sp>
      <p:sp>
        <p:nvSpPr>
          <p:cNvPr id="2" name="Left Bracket 1"/>
          <p:cNvSpPr/>
          <p:nvPr/>
        </p:nvSpPr>
        <p:spPr>
          <a:xfrm>
            <a:off x="533400" y="3276600"/>
            <a:ext cx="228600" cy="1828800"/>
          </a:xfrm>
          <a:prstGeom prst="leftBracket">
            <a:avLst/>
          </a:prstGeom>
          <a:ln w="28575"/>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grpSp>
        <p:nvGrpSpPr>
          <p:cNvPr id="21" name="Group 20"/>
          <p:cNvGrpSpPr/>
          <p:nvPr/>
        </p:nvGrpSpPr>
        <p:grpSpPr>
          <a:xfrm>
            <a:off x="4800600" y="76200"/>
            <a:ext cx="4274090" cy="2142048"/>
            <a:chOff x="5098500" y="990610"/>
            <a:chExt cx="4274090" cy="2142048"/>
          </a:xfrm>
        </p:grpSpPr>
        <p:sp>
          <p:nvSpPr>
            <p:cNvPr id="4" name="Freeform 3"/>
            <p:cNvSpPr/>
            <p:nvPr/>
          </p:nvSpPr>
          <p:spPr>
            <a:xfrm>
              <a:off x="6276839" y="990610"/>
              <a:ext cx="1955754" cy="1039489"/>
            </a:xfrm>
            <a:custGeom>
              <a:avLst/>
              <a:gdLst>
                <a:gd name="connsiteX0" fmla="*/ 0 w 1955754"/>
                <a:gd name="connsiteY0" fmla="*/ 519745 h 1039489"/>
                <a:gd name="connsiteX1" fmla="*/ 977877 w 1955754"/>
                <a:gd name="connsiteY1" fmla="*/ 0 h 1039489"/>
                <a:gd name="connsiteX2" fmla="*/ 1955754 w 1955754"/>
                <a:gd name="connsiteY2" fmla="*/ 519745 h 1039489"/>
                <a:gd name="connsiteX3" fmla="*/ 977877 w 1955754"/>
                <a:gd name="connsiteY3" fmla="*/ 1039490 h 1039489"/>
                <a:gd name="connsiteX4" fmla="*/ 0 w 1955754"/>
                <a:gd name="connsiteY4" fmla="*/ 519745 h 1039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754" h="1039489">
                  <a:moveTo>
                    <a:pt x="0" y="519745"/>
                  </a:moveTo>
                  <a:cubicBezTo>
                    <a:pt x="0" y="232698"/>
                    <a:pt x="437810" y="0"/>
                    <a:pt x="977877" y="0"/>
                  </a:cubicBezTo>
                  <a:cubicBezTo>
                    <a:pt x="1517944" y="0"/>
                    <a:pt x="1955754" y="232698"/>
                    <a:pt x="1955754" y="519745"/>
                  </a:cubicBezTo>
                  <a:cubicBezTo>
                    <a:pt x="1955754" y="806792"/>
                    <a:pt x="1517944" y="1039490"/>
                    <a:pt x="977877" y="1039490"/>
                  </a:cubicBezTo>
                  <a:cubicBezTo>
                    <a:pt x="437810" y="1039490"/>
                    <a:pt x="0" y="806792"/>
                    <a:pt x="0" y="519745"/>
                  </a:cubicBezTo>
                  <a:close/>
                </a:path>
              </a:pathLst>
            </a:custGeom>
            <a:solidFill>
              <a:srgbClr val="FF0000"/>
            </a:solidFill>
            <a:ln w="28575"/>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99749" tIns="165565" rIns="299749" bIns="165565" numCol="1" spcCol="1270" anchor="ctr" anchorCtr="0">
              <a:noAutofit/>
            </a:bodyPr>
            <a:lstStyle/>
            <a:p>
              <a:pPr lvl="0" algn="ctr" defTabSz="933450">
                <a:lnSpc>
                  <a:spcPct val="90000"/>
                </a:lnSpc>
                <a:spcBef>
                  <a:spcPct val="0"/>
                </a:spcBef>
                <a:spcAft>
                  <a:spcPct val="35000"/>
                </a:spcAft>
              </a:pPr>
              <a:r>
                <a:rPr lang="en-GB" sz="2100" b="1" kern="1200" dirty="0" smtClean="0"/>
                <a:t>ANOMALIES</a:t>
              </a:r>
              <a:endParaRPr lang="en-SG" sz="2100" b="1" kern="1200" dirty="0"/>
            </a:p>
          </p:txBody>
        </p:sp>
        <p:sp>
          <p:nvSpPr>
            <p:cNvPr id="9" name="Freeform 8"/>
            <p:cNvSpPr/>
            <p:nvPr/>
          </p:nvSpPr>
          <p:spPr>
            <a:xfrm>
              <a:off x="5098500" y="2086626"/>
              <a:ext cx="1435777" cy="478502"/>
            </a:xfrm>
            <a:custGeom>
              <a:avLst/>
              <a:gdLst>
                <a:gd name="connsiteX0" fmla="*/ 0 w 1435777"/>
                <a:gd name="connsiteY0" fmla="*/ 47850 h 478502"/>
                <a:gd name="connsiteX1" fmla="*/ 47850 w 1435777"/>
                <a:gd name="connsiteY1" fmla="*/ 0 h 478502"/>
                <a:gd name="connsiteX2" fmla="*/ 1387927 w 1435777"/>
                <a:gd name="connsiteY2" fmla="*/ 0 h 478502"/>
                <a:gd name="connsiteX3" fmla="*/ 1435777 w 1435777"/>
                <a:gd name="connsiteY3" fmla="*/ 47850 h 478502"/>
                <a:gd name="connsiteX4" fmla="*/ 1435777 w 1435777"/>
                <a:gd name="connsiteY4" fmla="*/ 430652 h 478502"/>
                <a:gd name="connsiteX5" fmla="*/ 1387927 w 1435777"/>
                <a:gd name="connsiteY5" fmla="*/ 478502 h 478502"/>
                <a:gd name="connsiteX6" fmla="*/ 47850 w 1435777"/>
                <a:gd name="connsiteY6" fmla="*/ 478502 h 478502"/>
                <a:gd name="connsiteX7" fmla="*/ 0 w 1435777"/>
                <a:gd name="connsiteY7" fmla="*/ 430652 h 478502"/>
                <a:gd name="connsiteX8" fmla="*/ 0 w 1435777"/>
                <a:gd name="connsiteY8" fmla="*/ 47850 h 478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5777" h="478502">
                  <a:moveTo>
                    <a:pt x="0" y="47850"/>
                  </a:moveTo>
                  <a:cubicBezTo>
                    <a:pt x="0" y="21423"/>
                    <a:pt x="21423" y="0"/>
                    <a:pt x="47850" y="0"/>
                  </a:cubicBezTo>
                  <a:lnTo>
                    <a:pt x="1387927" y="0"/>
                  </a:lnTo>
                  <a:cubicBezTo>
                    <a:pt x="1414354" y="0"/>
                    <a:pt x="1435777" y="21423"/>
                    <a:pt x="1435777" y="47850"/>
                  </a:cubicBezTo>
                  <a:lnTo>
                    <a:pt x="1435777" y="430652"/>
                  </a:lnTo>
                  <a:cubicBezTo>
                    <a:pt x="1435777" y="457079"/>
                    <a:pt x="1414354" y="478502"/>
                    <a:pt x="1387927" y="478502"/>
                  </a:cubicBezTo>
                  <a:lnTo>
                    <a:pt x="47850" y="478502"/>
                  </a:lnTo>
                  <a:cubicBezTo>
                    <a:pt x="21423" y="478502"/>
                    <a:pt x="0" y="457079"/>
                    <a:pt x="0" y="430652"/>
                  </a:cubicBezTo>
                  <a:lnTo>
                    <a:pt x="0" y="47850"/>
                  </a:lnTo>
                  <a:close/>
                </a:path>
              </a:pathLst>
            </a:custGeom>
            <a:solidFill>
              <a:srgbClr val="FFFF00"/>
            </a:solidFill>
          </p:spPr>
          <p:style>
            <a:lnRef idx="2">
              <a:schemeClr val="accent2">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50015" tIns="50015" rIns="50015" bIns="50015" numCol="1" spcCol="1270" anchor="ctr" anchorCtr="0">
              <a:noAutofit/>
            </a:bodyPr>
            <a:lstStyle/>
            <a:p>
              <a:pPr lvl="0" algn="ctr" defTabSz="889000">
                <a:lnSpc>
                  <a:spcPct val="90000"/>
                </a:lnSpc>
                <a:spcBef>
                  <a:spcPct val="0"/>
                </a:spcBef>
                <a:spcAft>
                  <a:spcPct val="35000"/>
                </a:spcAft>
              </a:pPr>
              <a:r>
                <a:rPr lang="en-GB" sz="2000" kern="1200" dirty="0" smtClean="0"/>
                <a:t>INSERTION</a:t>
              </a:r>
              <a:endParaRPr lang="en-SG" sz="2000" kern="1200" dirty="0"/>
            </a:p>
          </p:txBody>
        </p:sp>
        <p:sp>
          <p:nvSpPr>
            <p:cNvPr id="11" name="Freeform 10"/>
            <p:cNvSpPr/>
            <p:nvPr/>
          </p:nvSpPr>
          <p:spPr>
            <a:xfrm>
              <a:off x="6792616" y="2667000"/>
              <a:ext cx="1164145" cy="465658"/>
            </a:xfrm>
            <a:custGeom>
              <a:avLst/>
              <a:gdLst>
                <a:gd name="connsiteX0" fmla="*/ 0 w 1164145"/>
                <a:gd name="connsiteY0" fmla="*/ 46566 h 465658"/>
                <a:gd name="connsiteX1" fmla="*/ 46566 w 1164145"/>
                <a:gd name="connsiteY1" fmla="*/ 0 h 465658"/>
                <a:gd name="connsiteX2" fmla="*/ 1117579 w 1164145"/>
                <a:gd name="connsiteY2" fmla="*/ 0 h 465658"/>
                <a:gd name="connsiteX3" fmla="*/ 1164145 w 1164145"/>
                <a:gd name="connsiteY3" fmla="*/ 46566 h 465658"/>
                <a:gd name="connsiteX4" fmla="*/ 1164145 w 1164145"/>
                <a:gd name="connsiteY4" fmla="*/ 419092 h 465658"/>
                <a:gd name="connsiteX5" fmla="*/ 1117579 w 1164145"/>
                <a:gd name="connsiteY5" fmla="*/ 465658 h 465658"/>
                <a:gd name="connsiteX6" fmla="*/ 46566 w 1164145"/>
                <a:gd name="connsiteY6" fmla="*/ 465658 h 465658"/>
                <a:gd name="connsiteX7" fmla="*/ 0 w 1164145"/>
                <a:gd name="connsiteY7" fmla="*/ 419092 h 465658"/>
                <a:gd name="connsiteX8" fmla="*/ 0 w 1164145"/>
                <a:gd name="connsiteY8" fmla="*/ 46566 h 465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4145" h="465658">
                  <a:moveTo>
                    <a:pt x="0" y="46566"/>
                  </a:moveTo>
                  <a:cubicBezTo>
                    <a:pt x="0" y="20848"/>
                    <a:pt x="20848" y="0"/>
                    <a:pt x="46566" y="0"/>
                  </a:cubicBezTo>
                  <a:lnTo>
                    <a:pt x="1117579" y="0"/>
                  </a:lnTo>
                  <a:cubicBezTo>
                    <a:pt x="1143297" y="0"/>
                    <a:pt x="1164145" y="20848"/>
                    <a:pt x="1164145" y="46566"/>
                  </a:cubicBezTo>
                  <a:lnTo>
                    <a:pt x="1164145" y="419092"/>
                  </a:lnTo>
                  <a:cubicBezTo>
                    <a:pt x="1164145" y="444810"/>
                    <a:pt x="1143297" y="465658"/>
                    <a:pt x="1117579" y="465658"/>
                  </a:cubicBezTo>
                  <a:lnTo>
                    <a:pt x="46566" y="465658"/>
                  </a:lnTo>
                  <a:cubicBezTo>
                    <a:pt x="20848" y="465658"/>
                    <a:pt x="0" y="444810"/>
                    <a:pt x="0" y="419092"/>
                  </a:cubicBezTo>
                  <a:lnTo>
                    <a:pt x="0" y="46566"/>
                  </a:lnTo>
                  <a:close/>
                </a:path>
              </a:pathLst>
            </a:custGeom>
            <a:solidFill>
              <a:srgbClr val="FFFF00"/>
            </a:solidFill>
          </p:spPr>
          <p:style>
            <a:lnRef idx="2">
              <a:schemeClr val="accent2">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49639" tIns="49639" rIns="49639" bIns="49639" numCol="1" spcCol="1270" anchor="ctr" anchorCtr="0">
              <a:noAutofit/>
            </a:bodyPr>
            <a:lstStyle/>
            <a:p>
              <a:pPr lvl="0" algn="ctr" defTabSz="889000">
                <a:lnSpc>
                  <a:spcPct val="90000"/>
                </a:lnSpc>
                <a:spcBef>
                  <a:spcPct val="0"/>
                </a:spcBef>
                <a:spcAft>
                  <a:spcPct val="35000"/>
                </a:spcAft>
              </a:pPr>
              <a:r>
                <a:rPr lang="en-GB" sz="2000" kern="1200" dirty="0" smtClean="0"/>
                <a:t>UPDATE</a:t>
              </a:r>
              <a:endParaRPr lang="en-SG" sz="2000" kern="1200" dirty="0"/>
            </a:p>
          </p:txBody>
        </p:sp>
        <p:sp>
          <p:nvSpPr>
            <p:cNvPr id="14" name="Freeform 13"/>
            <p:cNvSpPr/>
            <p:nvPr/>
          </p:nvSpPr>
          <p:spPr>
            <a:xfrm>
              <a:off x="8014427" y="2133601"/>
              <a:ext cx="1358163" cy="465658"/>
            </a:xfrm>
            <a:custGeom>
              <a:avLst/>
              <a:gdLst>
                <a:gd name="connsiteX0" fmla="*/ 0 w 1358163"/>
                <a:gd name="connsiteY0" fmla="*/ 46566 h 465658"/>
                <a:gd name="connsiteX1" fmla="*/ 46566 w 1358163"/>
                <a:gd name="connsiteY1" fmla="*/ 0 h 465658"/>
                <a:gd name="connsiteX2" fmla="*/ 1311597 w 1358163"/>
                <a:gd name="connsiteY2" fmla="*/ 0 h 465658"/>
                <a:gd name="connsiteX3" fmla="*/ 1358163 w 1358163"/>
                <a:gd name="connsiteY3" fmla="*/ 46566 h 465658"/>
                <a:gd name="connsiteX4" fmla="*/ 1358163 w 1358163"/>
                <a:gd name="connsiteY4" fmla="*/ 419092 h 465658"/>
                <a:gd name="connsiteX5" fmla="*/ 1311597 w 1358163"/>
                <a:gd name="connsiteY5" fmla="*/ 465658 h 465658"/>
                <a:gd name="connsiteX6" fmla="*/ 46566 w 1358163"/>
                <a:gd name="connsiteY6" fmla="*/ 465658 h 465658"/>
                <a:gd name="connsiteX7" fmla="*/ 0 w 1358163"/>
                <a:gd name="connsiteY7" fmla="*/ 419092 h 465658"/>
                <a:gd name="connsiteX8" fmla="*/ 0 w 1358163"/>
                <a:gd name="connsiteY8" fmla="*/ 46566 h 465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8163" h="465658">
                  <a:moveTo>
                    <a:pt x="0" y="46566"/>
                  </a:moveTo>
                  <a:cubicBezTo>
                    <a:pt x="0" y="20848"/>
                    <a:pt x="20848" y="0"/>
                    <a:pt x="46566" y="0"/>
                  </a:cubicBezTo>
                  <a:lnTo>
                    <a:pt x="1311597" y="0"/>
                  </a:lnTo>
                  <a:cubicBezTo>
                    <a:pt x="1337315" y="0"/>
                    <a:pt x="1358163" y="20848"/>
                    <a:pt x="1358163" y="46566"/>
                  </a:cubicBezTo>
                  <a:lnTo>
                    <a:pt x="1358163" y="419092"/>
                  </a:lnTo>
                  <a:cubicBezTo>
                    <a:pt x="1358163" y="444810"/>
                    <a:pt x="1337315" y="465658"/>
                    <a:pt x="1311597" y="465658"/>
                  </a:cubicBezTo>
                  <a:lnTo>
                    <a:pt x="46566" y="465658"/>
                  </a:lnTo>
                  <a:cubicBezTo>
                    <a:pt x="20848" y="465658"/>
                    <a:pt x="0" y="444810"/>
                    <a:pt x="0" y="419092"/>
                  </a:cubicBezTo>
                  <a:lnTo>
                    <a:pt x="0" y="46566"/>
                  </a:lnTo>
                  <a:close/>
                </a:path>
              </a:pathLst>
            </a:custGeom>
            <a:solidFill>
              <a:srgbClr val="FFFF00"/>
            </a:solidFill>
          </p:spPr>
          <p:style>
            <a:lnRef idx="2">
              <a:schemeClr val="accent2">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49639" tIns="49639" rIns="49639" bIns="49639" numCol="1" spcCol="1270" anchor="ctr" anchorCtr="0">
              <a:noAutofit/>
            </a:bodyPr>
            <a:lstStyle/>
            <a:p>
              <a:pPr lvl="0" algn="ctr" defTabSz="889000">
                <a:lnSpc>
                  <a:spcPct val="90000"/>
                </a:lnSpc>
                <a:spcBef>
                  <a:spcPct val="0"/>
                </a:spcBef>
                <a:spcAft>
                  <a:spcPct val="35000"/>
                </a:spcAft>
              </a:pPr>
              <a:r>
                <a:rPr lang="en-GB" sz="2000" kern="1200" dirty="0" smtClean="0"/>
                <a:t>DELETION</a:t>
              </a:r>
              <a:endParaRPr lang="en-SG" sz="2000" kern="1200" dirty="0"/>
            </a:p>
          </p:txBody>
        </p:sp>
        <p:cxnSp>
          <p:nvCxnSpPr>
            <p:cNvPr id="16" name="Straight Connector 15"/>
            <p:cNvCxnSpPr>
              <a:stCxn id="4" idx="3"/>
            </p:cNvCxnSpPr>
            <p:nvPr/>
          </p:nvCxnSpPr>
          <p:spPr>
            <a:xfrm>
              <a:off x="7254716" y="2030100"/>
              <a:ext cx="0" cy="6369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5816388" y="1793990"/>
              <a:ext cx="584412" cy="29263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7956761" y="1883782"/>
              <a:ext cx="717052" cy="26183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9218" name="Group 22"/>
          <p:cNvGrpSpPr>
            <a:grpSpLocks/>
          </p:cNvGrpSpPr>
          <p:nvPr/>
        </p:nvGrpSpPr>
        <p:grpSpPr bwMode="auto">
          <a:xfrm>
            <a:off x="1131888" y="2414587"/>
            <a:ext cx="1582737" cy="584200"/>
            <a:chOff x="1132573" y="5649122"/>
            <a:chExt cx="1582052" cy="583466"/>
          </a:xfrm>
        </p:grpSpPr>
        <p:sp>
          <p:nvSpPr>
            <p:cNvPr id="4" name="Title 1"/>
            <p:cNvSpPr txBox="1">
              <a:spLocks/>
            </p:cNvSpPr>
            <p:nvPr/>
          </p:nvSpPr>
          <p:spPr bwMode="auto">
            <a:xfrm>
              <a:off x="1132573" y="5649122"/>
              <a:ext cx="1366245" cy="583466"/>
            </a:xfrm>
            <a:prstGeom prst="rect">
              <a:avLst/>
            </a:prstGeom>
            <a:noFill/>
            <a:ln>
              <a:noFill/>
            </a:ln>
            <a:extLst/>
          </p:spPr>
          <p:txBody>
            <a:bodyPr wrap="none" lIns="46800" rIns="46800" anchor="ctr">
              <a:spAutoFit/>
            </a:bodyPr>
            <a:lstStyle>
              <a:lvl1pPr algn="ctr" rtl="0" eaLnBrk="0" fontAlgn="base" hangingPunct="0">
                <a:spcBef>
                  <a:spcPct val="0"/>
                </a:spcBef>
                <a:spcAft>
                  <a:spcPct val="0"/>
                </a:spcAft>
                <a:defRPr sz="3200" b="1" kern="1200">
                  <a:solidFill>
                    <a:schemeClr val="tx1"/>
                  </a:solidFill>
                  <a:latin typeface="Verdana" pitchFamily="34" charset="0"/>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lnSpc>
                  <a:spcPct val="114000"/>
                </a:lnSpc>
                <a:defRPr/>
              </a:pPr>
              <a:r>
                <a:rPr lang="en-GB" sz="2800" dirty="0" smtClean="0">
                  <a:solidFill>
                    <a:srgbClr val="FF0000"/>
                  </a:solidFill>
                  <a:latin typeface="+mn-lt"/>
                </a:rPr>
                <a:t>Deletion</a:t>
              </a:r>
              <a:endParaRPr lang="en-US" sz="2800" dirty="0" smtClean="0">
                <a:solidFill>
                  <a:srgbClr val="FF0000"/>
                </a:solidFill>
                <a:latin typeface="+mn-lt"/>
              </a:endParaRPr>
            </a:p>
          </p:txBody>
        </p:sp>
        <p:cxnSp>
          <p:nvCxnSpPr>
            <p:cNvPr id="12" name="Straight Connector 11"/>
            <p:cNvCxnSpPr/>
            <p:nvPr/>
          </p:nvCxnSpPr>
          <p:spPr bwMode="auto">
            <a:xfrm flipH="1">
              <a:off x="2462322" y="5810844"/>
              <a:ext cx="252303" cy="150624"/>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13" name="Title 1"/>
          <p:cNvSpPr txBox="1">
            <a:spLocks/>
          </p:cNvSpPr>
          <p:nvPr/>
        </p:nvSpPr>
        <p:spPr bwMode="auto">
          <a:xfrm>
            <a:off x="685800" y="228600"/>
            <a:ext cx="5364207" cy="584775"/>
          </a:xfrm>
          <a:prstGeom prst="rect">
            <a:avLst/>
          </a:prstGeom>
          <a:noFill/>
          <a:ln>
            <a:noFill/>
          </a:ln>
          <a:extLst/>
        </p:spPr>
        <p:txBody>
          <a:bodyPr wrap="none" lIns="72000" rIns="72000" anchor="ctr">
            <a:spAutoFit/>
          </a:bodyPr>
          <a:lstStyle>
            <a:lvl1pPr algn="ctr" rtl="0" eaLnBrk="0" fontAlgn="base" hangingPunct="0">
              <a:spcBef>
                <a:spcPct val="0"/>
              </a:spcBef>
              <a:spcAft>
                <a:spcPct val="0"/>
              </a:spcAft>
              <a:defRPr sz="3200" b="1" kern="1200">
                <a:solidFill>
                  <a:schemeClr val="tx1"/>
                </a:solidFill>
                <a:latin typeface="Verdana" pitchFamily="34" charset="0"/>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eaLnBrk="1" hangingPunct="1">
              <a:defRPr/>
            </a:pPr>
            <a:r>
              <a:rPr lang="en-GB" dirty="0" smtClean="0">
                <a:solidFill>
                  <a:srgbClr val="C00000"/>
                </a:solidFill>
                <a:latin typeface="+mn-lt"/>
              </a:rPr>
              <a:t>1. What is Insertion Anomaly ?</a:t>
            </a:r>
            <a:endParaRPr lang="en-US" dirty="0" smtClean="0">
              <a:solidFill>
                <a:srgbClr val="C00000"/>
              </a:solidFill>
              <a:latin typeface="+mn-lt"/>
            </a:endParaRPr>
          </a:p>
        </p:txBody>
      </p:sp>
      <p:sp>
        <p:nvSpPr>
          <p:cNvPr id="18" name="TextBox 17"/>
          <p:cNvSpPr txBox="1"/>
          <p:nvPr/>
        </p:nvSpPr>
        <p:spPr>
          <a:xfrm>
            <a:off x="950913" y="3090862"/>
            <a:ext cx="7354887" cy="830263"/>
          </a:xfrm>
          <a:prstGeom prst="rect">
            <a:avLst/>
          </a:prstGeom>
          <a:noFill/>
        </p:spPr>
        <p:txBody>
          <a:bodyPr lIns="46800" rIns="46800">
            <a:spAutoFit/>
          </a:bodyPr>
          <a:lstStyle/>
          <a:p>
            <a:pPr>
              <a:defRPr/>
            </a:pPr>
            <a:r>
              <a:rPr lang="en-GB" sz="2400" dirty="0">
                <a:latin typeface="+mn-lt"/>
              </a:rPr>
              <a:t>These anomalies will induce undesirable side-effects (e.g. inconsistent dependency data) in database design.</a:t>
            </a:r>
            <a:endParaRPr lang="en-US" sz="2400" dirty="0">
              <a:latin typeface="+mn-lt"/>
            </a:endParaRPr>
          </a:p>
        </p:txBody>
      </p:sp>
      <p:pic>
        <p:nvPicPr>
          <p:cNvPr id="9221" name="Picture 2"/>
          <p:cNvPicPr preferRelativeResize="0">
            <a:picLocks noChangeArrowheads="1"/>
          </p:cNvPicPr>
          <p:nvPr/>
        </p:nvPicPr>
        <p:blipFill>
          <a:blip r:embed="rId2">
            <a:extLst>
              <a:ext uri="{28A0092B-C50C-407E-A947-70E740481C1C}">
                <a14:useLocalDpi xmlns:a14="http://schemas.microsoft.com/office/drawing/2010/main" val="0"/>
              </a:ext>
            </a:extLst>
          </a:blip>
          <a:srcRect l="1982" t="54079" r="12503" b="27753"/>
          <a:stretch>
            <a:fillRect/>
          </a:stretch>
        </p:blipFill>
        <p:spPr bwMode="auto">
          <a:xfrm>
            <a:off x="392113" y="2576512"/>
            <a:ext cx="8534400" cy="2147888"/>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sp>
        <p:nvSpPr>
          <p:cNvPr id="16" name="TextBox 15"/>
          <p:cNvSpPr txBox="1"/>
          <p:nvPr/>
        </p:nvSpPr>
        <p:spPr>
          <a:xfrm>
            <a:off x="457200" y="2157412"/>
            <a:ext cx="3533275" cy="400110"/>
          </a:xfrm>
          <a:prstGeom prst="rect">
            <a:avLst/>
          </a:prstGeom>
          <a:noFill/>
        </p:spPr>
        <p:txBody>
          <a:bodyPr wrap="none" lIns="45720" rIns="45720">
            <a:spAutoFit/>
          </a:bodyPr>
          <a:lstStyle/>
          <a:p>
            <a:pPr>
              <a:defRPr/>
            </a:pPr>
            <a:r>
              <a:rPr lang="en-GB" sz="2000" dirty="0" smtClean="0">
                <a:latin typeface="+mn-lt"/>
              </a:rPr>
              <a:t>Example 1 : </a:t>
            </a:r>
            <a:r>
              <a:rPr lang="en-GB" sz="2000" dirty="0">
                <a:latin typeface="+mn-lt"/>
              </a:rPr>
              <a:t>U</a:t>
            </a:r>
            <a:r>
              <a:rPr lang="en-GB" sz="2000" dirty="0" smtClean="0">
                <a:latin typeface="+mn-lt"/>
              </a:rPr>
              <a:t>n- </a:t>
            </a:r>
            <a:r>
              <a:rPr lang="en-GB" sz="2000" dirty="0">
                <a:latin typeface="+mn-lt"/>
              </a:rPr>
              <a:t>normalized table</a:t>
            </a:r>
            <a:endParaRPr lang="en-US" sz="2000" dirty="0">
              <a:latin typeface="+mn-lt"/>
            </a:endParaRPr>
          </a:p>
        </p:txBody>
      </p:sp>
      <p:sp>
        <p:nvSpPr>
          <p:cNvPr id="25" name="Rectangle 3"/>
          <p:cNvSpPr txBox="1">
            <a:spLocks noChangeArrowheads="1"/>
          </p:cNvSpPr>
          <p:nvPr/>
        </p:nvSpPr>
        <p:spPr>
          <a:xfrm>
            <a:off x="685800" y="914400"/>
            <a:ext cx="7804150" cy="1200150"/>
          </a:xfrm>
          <a:prstGeom prst="rect">
            <a:avLst/>
          </a:prstGeom>
        </p:spPr>
        <p:txBody>
          <a:bodyPr lIns="45720" rIns="45720">
            <a:spAutoFit/>
          </a:bodyPr>
          <a:lstStyle/>
          <a:p>
            <a:pPr>
              <a:spcBef>
                <a:spcPts val="600"/>
              </a:spcBef>
              <a:spcAft>
                <a:spcPts val="600"/>
              </a:spcAft>
              <a:defRPr/>
            </a:pPr>
            <a:r>
              <a:rPr lang="en-US" sz="2400" dirty="0">
                <a:latin typeface="+mn-lt"/>
              </a:rPr>
              <a:t>An </a:t>
            </a:r>
            <a:r>
              <a:rPr lang="en-US" sz="2400" u="sng" dirty="0">
                <a:solidFill>
                  <a:srgbClr val="FF0000"/>
                </a:solidFill>
                <a:latin typeface="+mn-lt"/>
              </a:rPr>
              <a:t>insertion anomaly</a:t>
            </a:r>
            <a:r>
              <a:rPr lang="en-US" sz="2400" dirty="0">
                <a:solidFill>
                  <a:srgbClr val="FF0000"/>
                </a:solidFill>
                <a:latin typeface="+mn-lt"/>
              </a:rPr>
              <a:t> </a:t>
            </a:r>
            <a:r>
              <a:rPr lang="en-US" sz="2400" dirty="0">
                <a:latin typeface="+mn-lt"/>
              </a:rPr>
              <a:t>is a </a:t>
            </a:r>
            <a:r>
              <a:rPr lang="en-US" sz="2400" dirty="0">
                <a:solidFill>
                  <a:srgbClr val="C00000"/>
                </a:solidFill>
                <a:latin typeface="+mn-lt"/>
              </a:rPr>
              <a:t>failure to </a:t>
            </a:r>
            <a:r>
              <a:rPr lang="en-US" sz="2400" dirty="0" smtClean="0">
                <a:solidFill>
                  <a:srgbClr val="C00000"/>
                </a:solidFill>
                <a:latin typeface="+mn-lt"/>
              </a:rPr>
              <a:t>insert </a:t>
            </a:r>
            <a:r>
              <a:rPr lang="en-US" sz="2400" dirty="0">
                <a:solidFill>
                  <a:srgbClr val="C00000"/>
                </a:solidFill>
                <a:latin typeface="+mn-lt"/>
              </a:rPr>
              <a:t>information </a:t>
            </a:r>
            <a:r>
              <a:rPr lang="en-US" sz="2400" dirty="0">
                <a:latin typeface="+mn-lt"/>
              </a:rPr>
              <a:t>about a new database entry </a:t>
            </a:r>
            <a:r>
              <a:rPr lang="en-US" sz="2400" u="sng" dirty="0">
                <a:solidFill>
                  <a:srgbClr val="C00000"/>
                </a:solidFill>
                <a:latin typeface="+mn-lt"/>
              </a:rPr>
              <a:t>into </a:t>
            </a:r>
            <a:r>
              <a:rPr lang="en-US" sz="2400" b="1" u="sng" dirty="0" smtClean="0">
                <a:solidFill>
                  <a:srgbClr val="FF0000"/>
                </a:solidFill>
                <a:latin typeface="+mn-lt"/>
              </a:rPr>
              <a:t>ALL</a:t>
            </a:r>
            <a:r>
              <a:rPr lang="en-US" sz="2400" u="sng" dirty="0" smtClean="0">
                <a:solidFill>
                  <a:srgbClr val="C00000"/>
                </a:solidFill>
                <a:latin typeface="+mn-lt"/>
              </a:rPr>
              <a:t> </a:t>
            </a:r>
            <a:r>
              <a:rPr lang="en-US" sz="2400" u="sng" dirty="0">
                <a:solidFill>
                  <a:srgbClr val="C00000"/>
                </a:solidFill>
                <a:latin typeface="+mn-lt"/>
              </a:rPr>
              <a:t>the relevant tuples</a:t>
            </a:r>
            <a:r>
              <a:rPr lang="en-US" sz="2400" dirty="0">
                <a:solidFill>
                  <a:srgbClr val="C00000"/>
                </a:solidFill>
                <a:latin typeface="+mn-lt"/>
              </a:rPr>
              <a:t> </a:t>
            </a:r>
            <a:r>
              <a:rPr lang="en-US" sz="2400" dirty="0">
                <a:latin typeface="+mn-lt"/>
              </a:rPr>
              <a:t>in the database.</a:t>
            </a:r>
          </a:p>
        </p:txBody>
      </p:sp>
      <p:sp>
        <p:nvSpPr>
          <p:cNvPr id="28" name="Oval 1756"/>
          <p:cNvSpPr>
            <a:spLocks noChangeArrowheads="1"/>
          </p:cNvSpPr>
          <p:nvPr/>
        </p:nvSpPr>
        <p:spPr bwMode="auto">
          <a:xfrm>
            <a:off x="636588" y="4419371"/>
            <a:ext cx="4608512" cy="287338"/>
          </a:xfrm>
          <a:prstGeom prst="roundRect">
            <a:avLst>
              <a:gd name="adj" fmla="val 16667"/>
            </a:avLst>
          </a:prstGeom>
          <a:noFill/>
          <a:ln w="28575">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1400"/>
              <a:t>??	??	??	??	??</a:t>
            </a:r>
          </a:p>
        </p:txBody>
      </p:sp>
      <p:grpSp>
        <p:nvGrpSpPr>
          <p:cNvPr id="11" name="Group 10"/>
          <p:cNvGrpSpPr>
            <a:grpSpLocks/>
          </p:cNvGrpSpPr>
          <p:nvPr/>
        </p:nvGrpSpPr>
        <p:grpSpPr bwMode="auto">
          <a:xfrm>
            <a:off x="5297488" y="4361549"/>
            <a:ext cx="3671887" cy="742041"/>
            <a:chOff x="5298000" y="5768290"/>
            <a:chExt cx="3672000" cy="742510"/>
          </a:xfrm>
        </p:grpSpPr>
        <p:sp>
          <p:nvSpPr>
            <p:cNvPr id="27" name="TextBox 26"/>
            <p:cNvSpPr txBox="1"/>
            <p:nvPr/>
          </p:nvSpPr>
          <p:spPr>
            <a:xfrm>
              <a:off x="5657637" y="6172032"/>
              <a:ext cx="2477357" cy="338768"/>
            </a:xfrm>
            <a:prstGeom prst="wedgeRectCallout">
              <a:avLst>
                <a:gd name="adj1" fmla="val -7639"/>
                <a:gd name="adj2" fmla="val -74689"/>
              </a:avLst>
            </a:prstGeom>
            <a:noFill/>
            <a:ln w="19050">
              <a:solidFill>
                <a:schemeClr val="accent6">
                  <a:lumMod val="50000"/>
                </a:schemeClr>
              </a:solidFill>
            </a:ln>
          </p:spPr>
          <p:txBody>
            <a:bodyPr wrap="none" lIns="45720" rIns="45720">
              <a:spAutoFit/>
            </a:bodyPr>
            <a:lstStyle/>
            <a:p>
              <a:pPr>
                <a:defRPr/>
              </a:pPr>
              <a:r>
                <a:rPr lang="en-GB" sz="1600" b="1" dirty="0">
                  <a:solidFill>
                    <a:srgbClr val="C00000"/>
                  </a:solidFill>
                  <a:latin typeface="+mn-lt"/>
                </a:rPr>
                <a:t>Inserted </a:t>
              </a:r>
              <a:r>
                <a:rPr lang="en-GB" sz="1600" b="1" dirty="0" smtClean="0">
                  <a:solidFill>
                    <a:srgbClr val="C00000"/>
                  </a:solidFill>
                  <a:latin typeface="+mn-lt"/>
                </a:rPr>
                <a:t>partial record only)</a:t>
              </a:r>
              <a:endParaRPr lang="en-US" sz="1600" b="1" dirty="0">
                <a:solidFill>
                  <a:srgbClr val="C00000"/>
                </a:solidFill>
                <a:latin typeface="+mn-lt"/>
              </a:endParaRPr>
            </a:p>
          </p:txBody>
        </p:sp>
        <p:sp>
          <p:nvSpPr>
            <p:cNvPr id="29" name="Oval 1756"/>
            <p:cNvSpPr>
              <a:spLocks noChangeArrowheads="1"/>
            </p:cNvSpPr>
            <p:nvPr/>
          </p:nvSpPr>
          <p:spPr bwMode="auto">
            <a:xfrm>
              <a:off x="5298000" y="5768290"/>
              <a:ext cx="3672000" cy="324205"/>
            </a:xfrm>
            <a:prstGeom prst="roundRect">
              <a:avLst>
                <a:gd name="adj" fmla="val 16667"/>
              </a:avLst>
            </a:prstGeom>
            <a:noFill/>
            <a:ln w="38100">
              <a:solidFill>
                <a:schemeClr val="accent6">
                  <a:lumMod val="50000"/>
                </a:schemeClr>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defRPr/>
              </a:pPr>
              <a:endParaRPr lang="en-US" altLang="en-US" sz="1400" dirty="0" smtClean="0"/>
            </a:p>
          </p:txBody>
        </p:sp>
      </p:grpSp>
      <p:sp>
        <p:nvSpPr>
          <p:cNvPr id="19" name="TextBox 18"/>
          <p:cNvSpPr txBox="1"/>
          <p:nvPr/>
        </p:nvSpPr>
        <p:spPr bwMode="auto">
          <a:xfrm>
            <a:off x="609600" y="4751612"/>
            <a:ext cx="2571730" cy="338554"/>
          </a:xfrm>
          <a:prstGeom prst="rect">
            <a:avLst/>
          </a:prstGeom>
          <a:noFill/>
          <a:ln w="19050">
            <a:solidFill>
              <a:srgbClr val="FFFFCC"/>
            </a:solidFill>
          </a:ln>
        </p:spPr>
        <p:txBody>
          <a:bodyPr wrap="none" lIns="45720" rIns="45720">
            <a:spAutoFit/>
          </a:bodyPr>
          <a:lstStyle/>
          <a:p>
            <a:pPr>
              <a:defRPr/>
            </a:pPr>
            <a:r>
              <a:rPr lang="en-GB" sz="1600" b="1" dirty="0" smtClean="0">
                <a:solidFill>
                  <a:srgbClr val="FF0000"/>
                </a:solidFill>
                <a:latin typeface="+mn-lt"/>
              </a:rPr>
              <a:t>(Incomplete inserted record )</a:t>
            </a:r>
            <a:endParaRPr lang="en-US" sz="1600" b="1" dirty="0">
              <a:solidFill>
                <a:srgbClr val="FF0000"/>
              </a:solidFill>
              <a:latin typeface="+mn-lt"/>
            </a:endParaRPr>
          </a:p>
        </p:txBody>
      </p:sp>
      <p:sp>
        <p:nvSpPr>
          <p:cNvPr id="22" name="TextBox 21"/>
          <p:cNvSpPr txBox="1"/>
          <p:nvPr/>
        </p:nvSpPr>
        <p:spPr>
          <a:xfrm>
            <a:off x="636588" y="5249391"/>
            <a:ext cx="8126412" cy="1303809"/>
          </a:xfrm>
          <a:prstGeom prst="rect">
            <a:avLst/>
          </a:prstGeom>
          <a:noFill/>
        </p:spPr>
        <p:txBody>
          <a:bodyPr wrap="square" lIns="36000" tIns="36000" rIns="36000" bIns="36000">
            <a:spAutoFit/>
          </a:bodyPr>
          <a:lstStyle/>
          <a:p>
            <a:pPr>
              <a:defRPr/>
            </a:pPr>
            <a:r>
              <a:rPr lang="en-GB" sz="2000" dirty="0" smtClean="0">
                <a:latin typeface="+mn-lt"/>
              </a:rPr>
              <a:t>When inserting an item details : ‘Item Description’, ‘Item </a:t>
            </a:r>
            <a:r>
              <a:rPr lang="en-GB" sz="2000" dirty="0" err="1" smtClean="0">
                <a:latin typeface="+mn-lt"/>
              </a:rPr>
              <a:t>Qty</a:t>
            </a:r>
            <a:r>
              <a:rPr lang="en-GB" sz="2000" dirty="0" smtClean="0">
                <a:latin typeface="+mn-lt"/>
              </a:rPr>
              <a:t>’, ‘Price’, ‘Item Total’ &amp; ‘Order Total Price’ into the un-normalized table, there is no information about ‘Invoice No.’, ‘Date’, … ‘</a:t>
            </a:r>
            <a:r>
              <a:rPr lang="en-GB" sz="2000" dirty="0" err="1" smtClean="0">
                <a:latin typeface="+mn-lt"/>
              </a:rPr>
              <a:t>Cust</a:t>
            </a:r>
            <a:r>
              <a:rPr lang="en-GB" sz="2000" dirty="0" smtClean="0">
                <a:latin typeface="+mn-lt"/>
              </a:rPr>
              <a:t> City’ &amp; ‘</a:t>
            </a:r>
            <a:r>
              <a:rPr lang="en-GB" sz="2000" dirty="0" err="1" smtClean="0">
                <a:latin typeface="+mn-lt"/>
              </a:rPr>
              <a:t>Cust</a:t>
            </a:r>
            <a:r>
              <a:rPr lang="en-GB" sz="2000" dirty="0" smtClean="0">
                <a:latin typeface="+mn-lt"/>
              </a:rPr>
              <a:t> State’. Thus, it cannot produces a complete record.</a:t>
            </a:r>
            <a:endParaRPr lang="en-US" sz="2000" dirty="0">
              <a:latin typeface="+mn-lt"/>
            </a:endParaRPr>
          </a:p>
        </p:txBody>
      </p:sp>
    </p:spTree>
    <p:extLst>
      <p:ext uri="{BB962C8B-B14F-4D97-AF65-F5344CB8AC3E}">
        <p14:creationId xmlns:p14="http://schemas.microsoft.com/office/powerpoint/2010/main" val="4166201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1000"/>
                                        <p:tgtEl>
                                          <p:spTgt spid="11"/>
                                        </p:tgtEl>
                                      </p:cBhvr>
                                    </p:animEffect>
                                  </p:childTnLst>
                                </p:cTn>
                              </p:par>
                            </p:childTnLst>
                          </p:cTn>
                        </p:par>
                        <p:par>
                          <p:cTn id="8" fill="hold" nodeType="afterGroup">
                            <p:stCondLst>
                              <p:cond delay="1000"/>
                            </p:stCondLst>
                            <p:childTnLst>
                              <p:par>
                                <p:cTn id="9" presetID="22" presetClass="entr" presetSubtype="2" fill="hold" grpId="0" nodeType="afterEffect">
                                  <p:stCondLst>
                                    <p:cond delay="2000"/>
                                  </p:stCondLst>
                                  <p:childTnLst>
                                    <p:set>
                                      <p:cBhvr>
                                        <p:cTn id="10" dur="1" fill="hold">
                                          <p:stCondLst>
                                            <p:cond delay="0"/>
                                          </p:stCondLst>
                                        </p:cTn>
                                        <p:tgtEl>
                                          <p:spTgt spid="28"/>
                                        </p:tgtEl>
                                        <p:attrNameLst>
                                          <p:attrName>style.visibility</p:attrName>
                                        </p:attrNameLst>
                                      </p:cBhvr>
                                      <p:to>
                                        <p:strVal val="visible"/>
                                      </p:to>
                                    </p:set>
                                    <p:animEffect transition="in" filter="wipe(right)">
                                      <p:cBhvr>
                                        <p:cTn id="11" dur="2000"/>
                                        <p:tgtEl>
                                          <p:spTgt spid="28"/>
                                        </p:tgtEl>
                                      </p:cBhvr>
                                    </p:animEffect>
                                  </p:childTnLst>
                                </p:cTn>
                              </p:par>
                            </p:childTnLst>
                          </p:cTn>
                        </p:par>
                        <p:par>
                          <p:cTn id="12" fill="hold">
                            <p:stCondLst>
                              <p:cond delay="5000"/>
                            </p:stCondLst>
                            <p:childTnLst>
                              <p:par>
                                <p:cTn id="13" presetID="53" presetClass="entr" presetSubtype="16" fill="hold" grpId="0" nodeType="afterEffect">
                                  <p:stCondLst>
                                    <p:cond delay="500"/>
                                  </p:stCondLst>
                                  <p:childTnLst>
                                    <p:set>
                                      <p:cBhvr>
                                        <p:cTn id="14" dur="1" fill="hold">
                                          <p:stCondLst>
                                            <p:cond delay="0"/>
                                          </p:stCondLst>
                                        </p:cTn>
                                        <p:tgtEl>
                                          <p:spTgt spid="19"/>
                                        </p:tgtEl>
                                        <p:attrNameLst>
                                          <p:attrName>style.visibility</p:attrName>
                                        </p:attrNameLst>
                                      </p:cBhvr>
                                      <p:to>
                                        <p:strVal val="visible"/>
                                      </p:to>
                                    </p:set>
                                    <p:anim calcmode="lin" valueType="num">
                                      <p:cBhvr>
                                        <p:cTn id="15" dur="500" fill="hold"/>
                                        <p:tgtEl>
                                          <p:spTgt spid="19"/>
                                        </p:tgtEl>
                                        <p:attrNameLst>
                                          <p:attrName>ppt_w</p:attrName>
                                        </p:attrNameLst>
                                      </p:cBhvr>
                                      <p:tavLst>
                                        <p:tav tm="0">
                                          <p:val>
                                            <p:fltVal val="0"/>
                                          </p:val>
                                        </p:tav>
                                        <p:tav tm="100000">
                                          <p:val>
                                            <p:strVal val="#ppt_w"/>
                                          </p:val>
                                        </p:tav>
                                      </p:tavLst>
                                    </p:anim>
                                    <p:anim calcmode="lin" valueType="num">
                                      <p:cBhvr>
                                        <p:cTn id="16" dur="500" fill="hold"/>
                                        <p:tgtEl>
                                          <p:spTgt spid="19"/>
                                        </p:tgtEl>
                                        <p:attrNameLst>
                                          <p:attrName>ppt_h</p:attrName>
                                        </p:attrNameLst>
                                      </p:cBhvr>
                                      <p:tavLst>
                                        <p:tav tm="0">
                                          <p:val>
                                            <p:fltVal val="0"/>
                                          </p:val>
                                        </p:tav>
                                        <p:tav tm="100000">
                                          <p:val>
                                            <p:strVal val="#ppt_h"/>
                                          </p:val>
                                        </p:tav>
                                      </p:tavLst>
                                    </p:anim>
                                    <p:animEffect transition="in" filter="fade">
                                      <p:cBhvr>
                                        <p:cTn id="1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242" name="Picture 1745" descr="DS3-Figure 13-0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200" y="1787525"/>
            <a:ext cx="6654800" cy="263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1" name="Text Box 1757"/>
          <p:cNvSpPr txBox="1">
            <a:spLocks noChangeArrowheads="1"/>
          </p:cNvSpPr>
          <p:nvPr/>
        </p:nvSpPr>
        <p:spPr bwMode="auto">
          <a:xfrm>
            <a:off x="2317750" y="1844675"/>
            <a:ext cx="3036888" cy="339725"/>
          </a:xfrm>
          <a:prstGeom prst="rect">
            <a:avLst/>
          </a:prstGeom>
          <a:noFill/>
          <a:ln w="9525">
            <a:noFill/>
            <a:miter lim="800000"/>
            <a:headEnd/>
            <a:tailEnd/>
          </a:ln>
        </p:spPr>
        <p:txBody>
          <a:bodyPr wrap="none" lIns="36000" rIns="36000">
            <a:spAutoFit/>
          </a:bodyPr>
          <a:lstStyle/>
          <a:p>
            <a:pPr algn="ctr" defTabSz="762000">
              <a:spcBef>
                <a:spcPct val="50000"/>
              </a:spcBef>
              <a:defRPr/>
            </a:pPr>
            <a:r>
              <a:rPr lang="en-US" altLang="zh-SG" sz="1600" dirty="0">
                <a:solidFill>
                  <a:schemeClr val="tx2">
                    <a:lumMod val="75000"/>
                  </a:schemeClr>
                </a:solidFill>
                <a:latin typeface="+mn-lt"/>
              </a:rPr>
              <a:t>Figure 1- Table with redundant data</a:t>
            </a:r>
            <a:endParaRPr lang="en-US" sz="1600" dirty="0">
              <a:solidFill>
                <a:schemeClr val="tx2">
                  <a:lumMod val="75000"/>
                </a:schemeClr>
              </a:solidFill>
              <a:latin typeface="+mn-lt"/>
            </a:endParaRPr>
          </a:p>
        </p:txBody>
      </p:sp>
      <p:sp>
        <p:nvSpPr>
          <p:cNvPr id="10" name="TextBox 9"/>
          <p:cNvSpPr txBox="1"/>
          <p:nvPr/>
        </p:nvSpPr>
        <p:spPr>
          <a:xfrm>
            <a:off x="762000" y="914400"/>
            <a:ext cx="7772400" cy="811367"/>
          </a:xfrm>
          <a:prstGeom prst="rect">
            <a:avLst/>
          </a:prstGeom>
          <a:noFill/>
          <a:ln>
            <a:noFill/>
          </a:ln>
        </p:spPr>
        <p:txBody>
          <a:bodyPr wrap="square" lIns="36000" tIns="36000" rIns="36000" bIns="36000">
            <a:spAutoFit/>
          </a:bodyPr>
          <a:lstStyle/>
          <a:p>
            <a:pPr>
              <a:defRPr/>
            </a:pPr>
            <a:r>
              <a:rPr lang="en-GB" sz="2400" dirty="0">
                <a:latin typeface="+mn-lt"/>
              </a:rPr>
              <a:t>In this example, insertion anomaly </a:t>
            </a:r>
            <a:r>
              <a:rPr lang="en-GB" sz="2400" dirty="0" smtClean="0">
                <a:latin typeface="+mn-lt"/>
              </a:rPr>
              <a:t>occurs when inserting a new staff record or a new branch.</a:t>
            </a:r>
            <a:endParaRPr lang="en-US" sz="2400" dirty="0">
              <a:latin typeface="+mn-lt"/>
            </a:endParaRPr>
          </a:p>
        </p:txBody>
      </p:sp>
      <p:sp>
        <p:nvSpPr>
          <p:cNvPr id="9226" name="Rectangle 10"/>
          <p:cNvSpPr>
            <a:spLocks noChangeArrowheads="1"/>
          </p:cNvSpPr>
          <p:nvPr/>
        </p:nvSpPr>
        <p:spPr bwMode="auto">
          <a:xfrm>
            <a:off x="642258" y="4495800"/>
            <a:ext cx="7696200" cy="707886"/>
          </a:xfrm>
          <a:prstGeom prst="rect">
            <a:avLst/>
          </a:prstGeom>
          <a:noFill/>
          <a:ln w="9525">
            <a:noFill/>
            <a:miter lim="800000"/>
            <a:headEnd/>
            <a:tailEnd/>
          </a:ln>
        </p:spPr>
        <p:txBody>
          <a:bodyPr wrap="square">
            <a:spAutoFit/>
          </a:bodyPr>
          <a:lstStyle/>
          <a:p>
            <a:pPr marL="363538" indent="-363538">
              <a:spcBef>
                <a:spcPts val="600"/>
              </a:spcBef>
              <a:spcAft>
                <a:spcPts val="600"/>
              </a:spcAft>
              <a:buFont typeface="+mj-lt"/>
              <a:buAutoNum type="alphaLcParenR"/>
              <a:defRPr/>
            </a:pPr>
            <a:r>
              <a:rPr lang="en-US" sz="2000" dirty="0" smtClean="0">
                <a:latin typeface="+mn-lt"/>
              </a:rPr>
              <a:t>When inserting </a:t>
            </a:r>
            <a:r>
              <a:rPr lang="en-US" sz="2000" dirty="0">
                <a:latin typeface="+mn-lt"/>
              </a:rPr>
              <a:t>a new staff member </a:t>
            </a:r>
            <a:r>
              <a:rPr lang="en-US" sz="2000" dirty="0" smtClean="0">
                <a:latin typeface="+mn-lt"/>
              </a:rPr>
              <a:t>but without a designating branch</a:t>
            </a:r>
            <a:r>
              <a:rPr lang="en-US" sz="2000" dirty="0">
                <a:latin typeface="+mn-lt"/>
              </a:rPr>
              <a:t>. </a:t>
            </a:r>
          </a:p>
        </p:txBody>
      </p:sp>
      <p:sp>
        <p:nvSpPr>
          <p:cNvPr id="13" name="Rectangle 10"/>
          <p:cNvSpPr>
            <a:spLocks noChangeArrowheads="1"/>
          </p:cNvSpPr>
          <p:nvPr/>
        </p:nvSpPr>
        <p:spPr bwMode="auto">
          <a:xfrm>
            <a:off x="703944" y="5410200"/>
            <a:ext cx="7101114" cy="400110"/>
          </a:xfrm>
          <a:prstGeom prst="rect">
            <a:avLst/>
          </a:prstGeom>
          <a:noFill/>
          <a:ln w="9525">
            <a:noFill/>
            <a:miter lim="800000"/>
            <a:headEnd/>
            <a:tailEnd/>
          </a:ln>
        </p:spPr>
        <p:txBody>
          <a:bodyPr wrap="square">
            <a:spAutoFit/>
          </a:bodyPr>
          <a:lstStyle/>
          <a:p>
            <a:pPr marL="363538" indent="-363538">
              <a:spcBef>
                <a:spcPts val="600"/>
              </a:spcBef>
              <a:spcAft>
                <a:spcPts val="600"/>
              </a:spcAft>
              <a:buFont typeface="+mj-lt"/>
              <a:buAutoNum type="alphaLcParenR" startAt="2"/>
              <a:defRPr/>
            </a:pPr>
            <a:r>
              <a:rPr lang="en-US" sz="2000" dirty="0" smtClean="0">
                <a:latin typeface="+mn-lt"/>
              </a:rPr>
              <a:t>When inserting </a:t>
            </a:r>
            <a:r>
              <a:rPr lang="en-US" sz="2000" dirty="0">
                <a:latin typeface="+mn-lt"/>
              </a:rPr>
              <a:t>a new branch with no posted staff.</a:t>
            </a:r>
          </a:p>
        </p:txBody>
      </p:sp>
      <p:graphicFrame>
        <p:nvGraphicFramePr>
          <p:cNvPr id="2" name="Table 1"/>
          <p:cNvGraphicFramePr>
            <a:graphicFrameLocks noGrp="1"/>
          </p:cNvGraphicFramePr>
          <p:nvPr>
            <p:extLst>
              <p:ext uri="{D42A27DB-BD31-4B8C-83A1-F6EECF244321}">
                <p14:modId xmlns:p14="http://schemas.microsoft.com/office/powerpoint/2010/main" val="4112137192"/>
              </p:ext>
            </p:extLst>
          </p:nvPr>
        </p:nvGraphicFramePr>
        <p:xfrm>
          <a:off x="870858" y="4898345"/>
          <a:ext cx="6400800" cy="333375"/>
        </p:xfrm>
        <a:graphic>
          <a:graphicData uri="http://schemas.openxmlformats.org/drawingml/2006/table">
            <a:tbl>
              <a:tblPr firstRow="1" bandRow="1">
                <a:tableStyleId>{8A107856-5554-42FB-B03E-39F5DBC370BA}</a:tableStyleId>
              </a:tblPr>
              <a:tblGrid>
                <a:gridCol w="990600">
                  <a:extLst>
                    <a:ext uri="{9D8B030D-6E8A-4147-A177-3AD203B41FA5}">
                      <a16:colId xmlns:a16="http://schemas.microsoft.com/office/drawing/2014/main" val="20000"/>
                    </a:ext>
                  </a:extLst>
                </a:gridCol>
                <a:gridCol w="1041400">
                  <a:extLst>
                    <a:ext uri="{9D8B030D-6E8A-4147-A177-3AD203B41FA5}">
                      <a16:colId xmlns:a16="http://schemas.microsoft.com/office/drawing/2014/main" val="20001"/>
                    </a:ext>
                  </a:extLst>
                </a:gridCol>
                <a:gridCol w="939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1034142">
                  <a:extLst>
                    <a:ext uri="{9D8B030D-6E8A-4147-A177-3AD203B41FA5}">
                      <a16:colId xmlns:a16="http://schemas.microsoft.com/office/drawing/2014/main" val="20004"/>
                    </a:ext>
                  </a:extLst>
                </a:gridCol>
                <a:gridCol w="1709058">
                  <a:extLst>
                    <a:ext uri="{9D8B030D-6E8A-4147-A177-3AD203B41FA5}">
                      <a16:colId xmlns:a16="http://schemas.microsoft.com/office/drawing/2014/main" val="20005"/>
                    </a:ext>
                  </a:extLst>
                </a:gridCol>
              </a:tblGrid>
              <a:tr h="333375">
                <a:tc>
                  <a:txBody>
                    <a:bodyPr/>
                    <a:lstStyle/>
                    <a:p>
                      <a:r>
                        <a:rPr lang="en-GB" sz="1400" dirty="0" smtClean="0"/>
                        <a:t>SG99</a:t>
                      </a:r>
                      <a:endParaRPr lang="en-SG" sz="1400" dirty="0"/>
                    </a:p>
                  </a:txBody>
                  <a:tcPr marR="36000" marT="45623" marB="10777"/>
                </a:tc>
                <a:tc>
                  <a:txBody>
                    <a:bodyPr/>
                    <a:lstStyle/>
                    <a:p>
                      <a:r>
                        <a:rPr lang="en-GB" sz="1400" dirty="0" smtClean="0"/>
                        <a:t>Michael</a:t>
                      </a:r>
                      <a:endParaRPr lang="en-SG" sz="1400" dirty="0"/>
                    </a:p>
                  </a:txBody>
                  <a:tcPr marR="36000" marT="45623" marB="10777"/>
                </a:tc>
                <a:tc>
                  <a:txBody>
                    <a:bodyPr/>
                    <a:lstStyle/>
                    <a:p>
                      <a:r>
                        <a:rPr lang="en-GB" sz="1400" dirty="0" smtClean="0"/>
                        <a:t>Designer</a:t>
                      </a:r>
                      <a:endParaRPr lang="en-SG" sz="1400" dirty="0"/>
                    </a:p>
                  </a:txBody>
                  <a:tcPr marR="36000" marT="45623" marB="10777"/>
                </a:tc>
                <a:tc>
                  <a:txBody>
                    <a:bodyPr/>
                    <a:lstStyle/>
                    <a:p>
                      <a:r>
                        <a:rPr lang="en-GB" sz="1400" dirty="0" smtClean="0"/>
                        <a:t>3000</a:t>
                      </a:r>
                      <a:endParaRPr lang="en-SG" sz="1400" dirty="0"/>
                    </a:p>
                  </a:txBody>
                  <a:tcPr marR="36000" marT="45623" marB="10777"/>
                </a:tc>
                <a:tc>
                  <a:txBody>
                    <a:bodyPr/>
                    <a:lstStyle/>
                    <a:p>
                      <a:r>
                        <a:rPr lang="en-GB" sz="1400" dirty="0" smtClean="0">
                          <a:solidFill>
                            <a:srgbClr val="C00000"/>
                          </a:solidFill>
                        </a:rPr>
                        <a:t>Null</a:t>
                      </a:r>
                      <a:endParaRPr lang="en-SG" sz="1400" dirty="0">
                        <a:solidFill>
                          <a:srgbClr val="C00000"/>
                        </a:solidFill>
                      </a:endParaRPr>
                    </a:p>
                  </a:txBody>
                  <a:tcPr marR="36000" marT="45623" marB="10777"/>
                </a:tc>
                <a:tc>
                  <a:txBody>
                    <a:bodyPr/>
                    <a:lstStyle/>
                    <a:p>
                      <a:r>
                        <a:rPr lang="en-GB" sz="1400" dirty="0" smtClean="0">
                          <a:solidFill>
                            <a:srgbClr val="C00000"/>
                          </a:solidFill>
                        </a:rPr>
                        <a:t>Null</a:t>
                      </a:r>
                      <a:endParaRPr lang="en-SG" sz="1400" dirty="0">
                        <a:solidFill>
                          <a:srgbClr val="C00000"/>
                        </a:solidFill>
                      </a:endParaRPr>
                    </a:p>
                  </a:txBody>
                  <a:tcPr marR="36000" marT="45623" marB="10777"/>
                </a:tc>
                <a:extLst>
                  <a:ext uri="{0D108BD9-81ED-4DB2-BD59-A6C34878D82A}">
                    <a16:rowId xmlns:a16="http://schemas.microsoft.com/office/drawing/2014/main" val="10000"/>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756591741"/>
              </p:ext>
            </p:extLst>
          </p:nvPr>
        </p:nvGraphicFramePr>
        <p:xfrm>
          <a:off x="870858" y="5814393"/>
          <a:ext cx="6400800" cy="333375"/>
        </p:xfrm>
        <a:graphic>
          <a:graphicData uri="http://schemas.openxmlformats.org/drawingml/2006/table">
            <a:tbl>
              <a:tblPr firstRow="1" bandRow="1">
                <a:tableStyleId>{8A107856-5554-42FB-B03E-39F5DBC370BA}</a:tableStyleId>
              </a:tblPr>
              <a:tblGrid>
                <a:gridCol w="990600">
                  <a:extLst>
                    <a:ext uri="{9D8B030D-6E8A-4147-A177-3AD203B41FA5}">
                      <a16:colId xmlns:a16="http://schemas.microsoft.com/office/drawing/2014/main" val="20000"/>
                    </a:ext>
                  </a:extLst>
                </a:gridCol>
                <a:gridCol w="1041400">
                  <a:extLst>
                    <a:ext uri="{9D8B030D-6E8A-4147-A177-3AD203B41FA5}">
                      <a16:colId xmlns:a16="http://schemas.microsoft.com/office/drawing/2014/main" val="20001"/>
                    </a:ext>
                  </a:extLst>
                </a:gridCol>
                <a:gridCol w="939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1034142">
                  <a:extLst>
                    <a:ext uri="{9D8B030D-6E8A-4147-A177-3AD203B41FA5}">
                      <a16:colId xmlns:a16="http://schemas.microsoft.com/office/drawing/2014/main" val="20004"/>
                    </a:ext>
                  </a:extLst>
                </a:gridCol>
                <a:gridCol w="1709058">
                  <a:extLst>
                    <a:ext uri="{9D8B030D-6E8A-4147-A177-3AD203B41FA5}">
                      <a16:colId xmlns:a16="http://schemas.microsoft.com/office/drawing/2014/main" val="20005"/>
                    </a:ext>
                  </a:extLst>
                </a:gridCol>
              </a:tblGrid>
              <a:tr h="333375">
                <a:tc>
                  <a:txBody>
                    <a:bodyPr/>
                    <a:lstStyle/>
                    <a:p>
                      <a:r>
                        <a:rPr lang="en-GB" sz="1400" dirty="0" smtClean="0">
                          <a:solidFill>
                            <a:srgbClr val="C00000"/>
                          </a:solidFill>
                        </a:rPr>
                        <a:t>Null</a:t>
                      </a:r>
                      <a:endParaRPr lang="en-SG" sz="1400" dirty="0">
                        <a:solidFill>
                          <a:srgbClr val="C00000"/>
                        </a:solidFill>
                      </a:endParaRPr>
                    </a:p>
                  </a:txBody>
                  <a:tcPr marR="36000" marT="45623" marB="10777"/>
                </a:tc>
                <a:tc>
                  <a:txBody>
                    <a:bodyPr/>
                    <a:lstStyle/>
                    <a:p>
                      <a:r>
                        <a:rPr lang="en-GB" sz="1400" dirty="0" smtClean="0">
                          <a:solidFill>
                            <a:srgbClr val="C00000"/>
                          </a:solidFill>
                        </a:rPr>
                        <a:t>Null</a:t>
                      </a:r>
                      <a:endParaRPr lang="en-SG" sz="1400" dirty="0">
                        <a:solidFill>
                          <a:srgbClr val="C00000"/>
                        </a:solidFill>
                      </a:endParaRPr>
                    </a:p>
                  </a:txBody>
                  <a:tcPr marR="36000" marT="45623" marB="10777"/>
                </a:tc>
                <a:tc>
                  <a:txBody>
                    <a:bodyPr/>
                    <a:lstStyle/>
                    <a:p>
                      <a:r>
                        <a:rPr lang="en-GB" sz="1400" dirty="0" smtClean="0">
                          <a:solidFill>
                            <a:srgbClr val="C00000"/>
                          </a:solidFill>
                        </a:rPr>
                        <a:t>Null</a:t>
                      </a:r>
                      <a:endParaRPr lang="en-SG" sz="1400" dirty="0">
                        <a:solidFill>
                          <a:srgbClr val="C00000"/>
                        </a:solidFill>
                      </a:endParaRPr>
                    </a:p>
                  </a:txBody>
                  <a:tcPr marR="36000" marT="45623" marB="10777"/>
                </a:tc>
                <a:tc>
                  <a:txBody>
                    <a:bodyPr/>
                    <a:lstStyle/>
                    <a:p>
                      <a:r>
                        <a:rPr lang="en-GB" sz="1400" dirty="0" smtClean="0">
                          <a:solidFill>
                            <a:srgbClr val="C00000"/>
                          </a:solidFill>
                        </a:rPr>
                        <a:t>Null</a:t>
                      </a:r>
                      <a:endParaRPr lang="en-SG" sz="1400" dirty="0">
                        <a:solidFill>
                          <a:srgbClr val="C00000"/>
                        </a:solidFill>
                      </a:endParaRPr>
                    </a:p>
                  </a:txBody>
                  <a:tcPr marR="36000" marT="45623" marB="10777"/>
                </a:tc>
                <a:tc>
                  <a:txBody>
                    <a:bodyPr/>
                    <a:lstStyle/>
                    <a:p>
                      <a:r>
                        <a:rPr lang="en-GB" sz="1400" dirty="0" smtClean="0"/>
                        <a:t>B008</a:t>
                      </a:r>
                      <a:endParaRPr lang="en-SG" sz="1400" dirty="0"/>
                    </a:p>
                  </a:txBody>
                  <a:tcPr marR="36000" marT="45623" marB="10777"/>
                </a:tc>
                <a:tc>
                  <a:txBody>
                    <a:bodyPr/>
                    <a:lstStyle/>
                    <a:p>
                      <a:r>
                        <a:rPr lang="en-GB" sz="1400" dirty="0" smtClean="0"/>
                        <a:t>33</a:t>
                      </a:r>
                      <a:r>
                        <a:rPr lang="en-GB" sz="1400" baseline="0" dirty="0" smtClean="0"/>
                        <a:t> Clarence Road</a:t>
                      </a:r>
                      <a:endParaRPr lang="en-SG" sz="1400" dirty="0"/>
                    </a:p>
                  </a:txBody>
                  <a:tcPr marR="36000" marT="45623" marB="10777"/>
                </a:tc>
                <a:extLst>
                  <a:ext uri="{0D108BD9-81ED-4DB2-BD59-A6C34878D82A}">
                    <a16:rowId xmlns:a16="http://schemas.microsoft.com/office/drawing/2014/main" val="10000"/>
                  </a:ext>
                </a:extLst>
              </a:tr>
            </a:tbl>
          </a:graphicData>
        </a:graphic>
      </p:graphicFrame>
      <p:sp>
        <p:nvSpPr>
          <p:cNvPr id="15" name="Rectangle 10"/>
          <p:cNvSpPr>
            <a:spLocks noChangeArrowheads="1"/>
          </p:cNvSpPr>
          <p:nvPr/>
        </p:nvSpPr>
        <p:spPr bwMode="auto">
          <a:xfrm>
            <a:off x="1049805" y="6415965"/>
            <a:ext cx="6801276" cy="442035"/>
          </a:xfrm>
          <a:prstGeom prst="rect">
            <a:avLst/>
          </a:prstGeom>
          <a:solidFill>
            <a:srgbClr val="FFFF00"/>
          </a:solidFill>
          <a:ln w="9525">
            <a:noFill/>
            <a:miter lim="800000"/>
            <a:headEnd/>
            <a:tailEnd/>
          </a:ln>
        </p:spPr>
        <p:txBody>
          <a:bodyPr wrap="none" lIns="36000" tIns="36000" rIns="36000" bIns="36000">
            <a:spAutoFit/>
          </a:bodyPr>
          <a:lstStyle/>
          <a:p>
            <a:pPr>
              <a:spcBef>
                <a:spcPts val="0"/>
              </a:spcBef>
              <a:spcAft>
                <a:spcPts val="0"/>
              </a:spcAft>
              <a:defRPr/>
            </a:pPr>
            <a:r>
              <a:rPr lang="en-US" sz="2400" dirty="0">
                <a:solidFill>
                  <a:srgbClr val="FF0000"/>
                </a:solidFill>
                <a:latin typeface="+mn-lt"/>
              </a:rPr>
              <a:t>(</a:t>
            </a:r>
            <a:r>
              <a:rPr lang="en-US" sz="2400" dirty="0" smtClean="0">
                <a:solidFill>
                  <a:srgbClr val="FF0000"/>
                </a:solidFill>
                <a:latin typeface="+mn-lt"/>
              </a:rPr>
              <a:t>Incomplete record for insertion – Insertion anomaly)</a:t>
            </a:r>
            <a:endParaRPr lang="en-US" sz="2400" dirty="0">
              <a:solidFill>
                <a:srgbClr val="FF0000"/>
              </a:solidFill>
              <a:latin typeface="+mn-lt"/>
            </a:endParaRPr>
          </a:p>
        </p:txBody>
      </p:sp>
      <p:sp>
        <p:nvSpPr>
          <p:cNvPr id="11" name="Title 1"/>
          <p:cNvSpPr txBox="1">
            <a:spLocks/>
          </p:cNvSpPr>
          <p:nvPr/>
        </p:nvSpPr>
        <p:spPr bwMode="auto">
          <a:xfrm>
            <a:off x="750887" y="228600"/>
            <a:ext cx="32877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sp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eaLnBrk="1" hangingPunct="1">
              <a:defRPr/>
            </a:pPr>
            <a:r>
              <a:rPr lang="en-GB" sz="3200" b="1" dirty="0" smtClean="0">
                <a:solidFill>
                  <a:srgbClr val="C00000"/>
                </a:solidFill>
                <a:latin typeface="+mn-lt"/>
              </a:rPr>
              <a:t>Insertion Anomaly</a:t>
            </a:r>
            <a:endParaRPr lang="en-US" sz="3200" b="1" dirty="0" smtClean="0">
              <a:solidFill>
                <a:srgbClr val="C00000"/>
              </a:solidFill>
              <a:latin typeface="+mn-lt"/>
            </a:endParaRPr>
          </a:p>
        </p:txBody>
      </p:sp>
      <p:sp>
        <p:nvSpPr>
          <p:cNvPr id="3" name="Rectangle 2"/>
          <p:cNvSpPr/>
          <p:nvPr/>
        </p:nvSpPr>
        <p:spPr>
          <a:xfrm>
            <a:off x="685800" y="4419600"/>
            <a:ext cx="6781800" cy="432000"/>
          </a:xfrm>
          <a:prstGeom prst="rect">
            <a:avLst/>
          </a:prstGeom>
          <a:solidFill>
            <a:srgbClr val="99FF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62000" y="5363028"/>
            <a:ext cx="6781800" cy="396000"/>
          </a:xfrm>
          <a:prstGeom prst="rect">
            <a:avLst/>
          </a:prstGeom>
          <a:solidFill>
            <a:srgbClr val="99FF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029432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226"/>
                                        </p:tgtEl>
                                        <p:attrNameLst>
                                          <p:attrName>style.visibility</p:attrName>
                                        </p:attrNameLst>
                                      </p:cBhvr>
                                      <p:to>
                                        <p:strVal val="visible"/>
                                      </p:to>
                                    </p:set>
                                    <p:animEffect transition="in" filter="wipe(left)">
                                      <p:cBhvr>
                                        <p:cTn id="7" dur="1000"/>
                                        <p:tgtEl>
                                          <p:spTgt spid="9226"/>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1000"/>
                                        <p:tgtEl>
                                          <p:spTgt spid="2"/>
                                        </p:tgtEl>
                                      </p:cBhvr>
                                    </p:animEffect>
                                  </p:childTnLst>
                                </p:cTn>
                              </p:par>
                            </p:childTnLst>
                          </p:cTn>
                        </p:par>
                      </p:childTnLst>
                    </p:cTn>
                  </p:par>
                  <p:par>
                    <p:cTn id="12" fill="hold">
                      <p:stCondLst>
                        <p:cond delay="indefinite"/>
                      </p:stCondLst>
                      <p:childTnLst>
                        <p:par>
                          <p:cTn id="13" fill="hold" nodeType="after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left)">
                                      <p:cBhvr>
                                        <p:cTn id="16" dur="1000"/>
                                        <p:tgtEl>
                                          <p:spTgt spid="13"/>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left)">
                                      <p:cBhvr>
                                        <p:cTn id="20" dur="10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500"/>
                                  </p:stCondLst>
                                  <p:childTnLst>
                                    <p:set>
                                      <p:cBhvr>
                                        <p:cTn id="27" dur="1" fill="hold">
                                          <p:stCondLst>
                                            <p:cond delay="0"/>
                                          </p:stCondLst>
                                        </p:cTn>
                                        <p:tgtEl>
                                          <p:spTgt spid="12"/>
                                        </p:tgtEl>
                                        <p:attrNameLst>
                                          <p:attrName>style.visibility</p:attrName>
                                        </p:attrNameLst>
                                      </p:cBhvr>
                                      <p:to>
                                        <p:strVal val="visible"/>
                                      </p:to>
                                    </p:se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left)">
                                      <p:cBhvr>
                                        <p:cTn id="31"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6" grpId="0"/>
      <p:bldP spid="13" grpId="0"/>
      <p:bldP spid="15" grpId="0" animBg="1"/>
      <p:bldP spid="3"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6" name="Title 1"/>
          <p:cNvSpPr>
            <a:spLocks noGrp="1"/>
          </p:cNvSpPr>
          <p:nvPr>
            <p:ph type="ctrTitle" idx="4294967295"/>
          </p:nvPr>
        </p:nvSpPr>
        <p:spPr>
          <a:xfrm>
            <a:off x="685800" y="199572"/>
            <a:ext cx="5011812" cy="565146"/>
          </a:xfrm>
        </p:spPr>
        <p:txBody>
          <a:bodyPr wrap="none" lIns="36000" tIns="36000" rIns="36000" bIns="36000" anchor="t">
            <a:spAutoFit/>
          </a:bodyPr>
          <a:lstStyle/>
          <a:p>
            <a:pPr algn="l" eaLnBrk="1" hangingPunct="1">
              <a:defRPr/>
            </a:pPr>
            <a:r>
              <a:rPr lang="en-GB" sz="3200" b="1" dirty="0" smtClean="0">
                <a:solidFill>
                  <a:srgbClr val="C00000"/>
                </a:solidFill>
                <a:latin typeface="+mn-lt"/>
              </a:rPr>
              <a:t>2. What is Update Anomaly ?</a:t>
            </a:r>
            <a:endParaRPr lang="en-US" sz="3200" b="1" dirty="0" smtClean="0">
              <a:solidFill>
                <a:srgbClr val="C00000"/>
              </a:solidFill>
              <a:latin typeface="+mn-lt"/>
            </a:endParaRPr>
          </a:p>
        </p:txBody>
      </p:sp>
      <p:sp>
        <p:nvSpPr>
          <p:cNvPr id="12291" name="Rectangle 3"/>
          <p:cNvSpPr txBox="1">
            <a:spLocks noChangeArrowheads="1"/>
          </p:cNvSpPr>
          <p:nvPr/>
        </p:nvSpPr>
        <p:spPr bwMode="auto">
          <a:xfrm>
            <a:off x="685800" y="914400"/>
            <a:ext cx="78486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 typeface="Arial" charset="0"/>
              <a:buNone/>
            </a:pPr>
            <a:r>
              <a:rPr lang="en-US" altLang="en-US" sz="2400" dirty="0"/>
              <a:t>U</a:t>
            </a:r>
            <a:r>
              <a:rPr lang="en-US" altLang="en-US" sz="2400" dirty="0" smtClean="0"/>
              <a:t>pdate </a:t>
            </a:r>
            <a:r>
              <a:rPr lang="en-US" altLang="en-US" sz="2400" dirty="0"/>
              <a:t>anomaly occurs when </a:t>
            </a:r>
            <a:r>
              <a:rPr lang="en-US" altLang="en-US" sz="2400" dirty="0" smtClean="0"/>
              <a:t>those updating records in the table had been </a:t>
            </a:r>
            <a:r>
              <a:rPr lang="en-US" altLang="en-US" sz="2400" dirty="0" smtClean="0">
                <a:solidFill>
                  <a:srgbClr val="C00000"/>
                </a:solidFill>
              </a:rPr>
              <a:t>updated partially </a:t>
            </a:r>
            <a:r>
              <a:rPr lang="en-US" altLang="en-US" sz="2400" dirty="0" smtClean="0"/>
              <a:t>(some got ‘missed out’ &amp; resulted in partial update), thus resulting in </a:t>
            </a:r>
            <a:r>
              <a:rPr lang="en-US" altLang="en-US" sz="2400" dirty="0" smtClean="0">
                <a:solidFill>
                  <a:srgbClr val="C00000"/>
                </a:solidFill>
              </a:rPr>
              <a:t>data inconsistency and redundancy</a:t>
            </a:r>
            <a:r>
              <a:rPr lang="en-US" altLang="en-US" sz="2400" dirty="0" smtClean="0"/>
              <a:t>.</a:t>
            </a:r>
            <a:endParaRPr lang="en-US" altLang="en-US" sz="2400" dirty="0"/>
          </a:p>
        </p:txBody>
      </p:sp>
      <p:pic>
        <p:nvPicPr>
          <p:cNvPr id="12292" name="Picture 1745" descr="DS3-Figure 13-02"/>
          <p:cNvPicPr>
            <a:picLocks noChangeAspect="1" noChangeArrowheads="1"/>
          </p:cNvPicPr>
          <p:nvPr/>
        </p:nvPicPr>
        <p:blipFill>
          <a:blip r:embed="rId2" cstate="print">
            <a:extLst>
              <a:ext uri="{28A0092B-C50C-407E-A947-70E740481C1C}">
                <a14:useLocalDpi xmlns:a14="http://schemas.microsoft.com/office/drawing/2010/main" val="0"/>
              </a:ext>
            </a:extLst>
          </a:blip>
          <a:srcRect t="12849" r="2187" b="1572"/>
          <a:stretch>
            <a:fillRect/>
          </a:stretch>
        </p:blipFill>
        <p:spPr bwMode="auto">
          <a:xfrm>
            <a:off x="744538" y="3046413"/>
            <a:ext cx="7713662" cy="2668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4"/>
          <p:cNvGrpSpPr>
            <a:grpSpLocks/>
          </p:cNvGrpSpPr>
          <p:nvPr/>
        </p:nvGrpSpPr>
        <p:grpSpPr bwMode="auto">
          <a:xfrm>
            <a:off x="6705600" y="2522538"/>
            <a:ext cx="2211388" cy="1857375"/>
            <a:chOff x="6704806" y="2522538"/>
            <a:chExt cx="2211388" cy="1858168"/>
          </a:xfrm>
        </p:grpSpPr>
        <p:sp>
          <p:nvSpPr>
            <p:cNvPr id="7" name="TextBox 6"/>
            <p:cNvSpPr txBox="1"/>
            <p:nvPr/>
          </p:nvSpPr>
          <p:spPr bwMode="auto">
            <a:xfrm>
              <a:off x="6704806" y="2522538"/>
              <a:ext cx="2211388" cy="585025"/>
            </a:xfrm>
            <a:prstGeom prst="rect">
              <a:avLst/>
            </a:prstGeom>
            <a:noFill/>
          </p:spPr>
          <p:txBody>
            <a:bodyPr wrap="square" lIns="45720" rIns="45720">
              <a:spAutoFit/>
            </a:bodyPr>
            <a:lstStyle/>
            <a:p>
              <a:pPr algn="ctr">
                <a:defRPr/>
              </a:pPr>
              <a:r>
                <a:rPr lang="en-GB" sz="1600" dirty="0" smtClean="0">
                  <a:solidFill>
                    <a:srgbClr val="C00000"/>
                  </a:solidFill>
                  <a:latin typeface="+mn-lt"/>
                </a:rPr>
                <a:t>(The same branch </a:t>
              </a:r>
              <a:r>
                <a:rPr lang="en-GB" sz="1600" dirty="0">
                  <a:solidFill>
                    <a:srgbClr val="C00000"/>
                  </a:solidFill>
                  <a:latin typeface="+mn-lt"/>
                </a:rPr>
                <a:t>records to be updated</a:t>
              </a:r>
              <a:r>
                <a:rPr lang="en-GB" sz="1400" dirty="0">
                  <a:solidFill>
                    <a:srgbClr val="C00000"/>
                  </a:solidFill>
                  <a:latin typeface="+mn-lt"/>
                </a:rPr>
                <a:t>)</a:t>
              </a:r>
              <a:endParaRPr lang="en-US" sz="1400" dirty="0">
                <a:solidFill>
                  <a:srgbClr val="C00000"/>
                </a:solidFill>
                <a:latin typeface="+mn-lt"/>
              </a:endParaRPr>
            </a:p>
          </p:txBody>
        </p:sp>
        <p:sp>
          <p:nvSpPr>
            <p:cNvPr id="9" name="Freeform 8"/>
            <p:cNvSpPr/>
            <p:nvPr/>
          </p:nvSpPr>
          <p:spPr>
            <a:xfrm>
              <a:off x="8381206" y="3019637"/>
              <a:ext cx="517525" cy="1361069"/>
            </a:xfrm>
            <a:custGeom>
              <a:avLst/>
              <a:gdLst>
                <a:gd name="connsiteX0" fmla="*/ 0 w 552987"/>
                <a:gd name="connsiteY0" fmla="*/ 0 h 2770495"/>
                <a:gd name="connsiteX1" fmla="*/ 300251 w 552987"/>
                <a:gd name="connsiteY1" fmla="*/ 245660 h 2770495"/>
                <a:gd name="connsiteX2" fmla="*/ 491319 w 552987"/>
                <a:gd name="connsiteY2" fmla="*/ 736979 h 2770495"/>
                <a:gd name="connsiteX3" fmla="*/ 518615 w 552987"/>
                <a:gd name="connsiteY3" fmla="*/ 2197289 h 2770495"/>
                <a:gd name="connsiteX4" fmla="*/ 40943 w 552987"/>
                <a:gd name="connsiteY4" fmla="*/ 2770495 h 2770495"/>
                <a:gd name="connsiteX0" fmla="*/ 0 w 516098"/>
                <a:gd name="connsiteY0" fmla="*/ 0 h 2770495"/>
                <a:gd name="connsiteX1" fmla="*/ 300251 w 516098"/>
                <a:gd name="connsiteY1" fmla="*/ 245660 h 2770495"/>
                <a:gd name="connsiteX2" fmla="*/ 491319 w 516098"/>
                <a:gd name="connsiteY2" fmla="*/ 736979 h 2770495"/>
                <a:gd name="connsiteX3" fmla="*/ 464024 w 516098"/>
                <a:gd name="connsiteY3" fmla="*/ 2224585 h 2770495"/>
                <a:gd name="connsiteX4" fmla="*/ 40943 w 516098"/>
                <a:gd name="connsiteY4" fmla="*/ 2770495 h 27704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6098" h="2770495">
                  <a:moveTo>
                    <a:pt x="0" y="0"/>
                  </a:moveTo>
                  <a:cubicBezTo>
                    <a:pt x="109182" y="61415"/>
                    <a:pt x="218365" y="122830"/>
                    <a:pt x="300251" y="245660"/>
                  </a:cubicBezTo>
                  <a:cubicBezTo>
                    <a:pt x="382137" y="368490"/>
                    <a:pt x="464024" y="407158"/>
                    <a:pt x="491319" y="736979"/>
                  </a:cubicBezTo>
                  <a:cubicBezTo>
                    <a:pt x="518614" y="1066800"/>
                    <a:pt x="539087" y="1885666"/>
                    <a:pt x="464024" y="2224585"/>
                  </a:cubicBezTo>
                  <a:cubicBezTo>
                    <a:pt x="388961" y="2563504"/>
                    <a:pt x="242247" y="2653351"/>
                    <a:pt x="40943" y="2770495"/>
                  </a:cubicBezTo>
                </a:path>
              </a:pathLst>
            </a:custGeom>
            <a:ln w="12700">
              <a:headEnd type="none" w="med" len="med"/>
              <a:tailEnd type="triangle" w="med" len="med"/>
            </a:ln>
          </p:spPr>
          <p:style>
            <a:lnRef idx="1">
              <a:schemeClr val="accent2"/>
            </a:lnRef>
            <a:fillRef idx="0">
              <a:schemeClr val="accent2"/>
            </a:fillRef>
            <a:effectRef idx="0">
              <a:schemeClr val="accent2"/>
            </a:effectRef>
            <a:fontRef idx="minor">
              <a:schemeClr val="tx1"/>
            </a:fontRef>
          </p:style>
          <p:txBody>
            <a:bodyPr anchor="ctr"/>
            <a:lstStyle/>
            <a:p>
              <a:pPr algn="ctr">
                <a:defRPr/>
              </a:pPr>
              <a:endParaRPr lang="en-SG"/>
            </a:p>
          </p:txBody>
        </p:sp>
      </p:grpSp>
      <p:grpSp>
        <p:nvGrpSpPr>
          <p:cNvPr id="3" name="Group 2"/>
          <p:cNvGrpSpPr>
            <a:grpSpLocks/>
          </p:cNvGrpSpPr>
          <p:nvPr/>
        </p:nvGrpSpPr>
        <p:grpSpPr bwMode="auto">
          <a:xfrm>
            <a:off x="5181600" y="3698875"/>
            <a:ext cx="3168650" cy="1863725"/>
            <a:chOff x="5181599" y="3698544"/>
            <a:chExt cx="3168001" cy="1864056"/>
          </a:xfrm>
        </p:grpSpPr>
        <p:sp>
          <p:nvSpPr>
            <p:cNvPr id="2" name="Rectangle 1"/>
            <p:cNvSpPr/>
            <p:nvPr/>
          </p:nvSpPr>
          <p:spPr>
            <a:xfrm>
              <a:off x="5181599" y="3698544"/>
              <a:ext cx="3168001" cy="3239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SG"/>
            </a:p>
          </p:txBody>
        </p:sp>
        <p:sp>
          <p:nvSpPr>
            <p:cNvPr id="10" name="Rectangle 9"/>
            <p:cNvSpPr/>
            <p:nvPr/>
          </p:nvSpPr>
          <p:spPr>
            <a:xfrm>
              <a:off x="5181599" y="5238692"/>
              <a:ext cx="3168001" cy="3239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SG"/>
            </a:p>
          </p:txBody>
        </p:sp>
      </p:grpSp>
      <p:grpSp>
        <p:nvGrpSpPr>
          <p:cNvPr id="4" name="Group 3"/>
          <p:cNvGrpSpPr>
            <a:grpSpLocks/>
          </p:cNvGrpSpPr>
          <p:nvPr/>
        </p:nvGrpSpPr>
        <p:grpSpPr bwMode="auto">
          <a:xfrm>
            <a:off x="5195888" y="4065588"/>
            <a:ext cx="3132137" cy="1150937"/>
            <a:chOff x="5195247" y="4065896"/>
            <a:chExt cx="3132001" cy="1150960"/>
          </a:xfrm>
        </p:grpSpPr>
        <p:sp>
          <p:nvSpPr>
            <p:cNvPr id="8" name="Rectangle 7"/>
            <p:cNvSpPr/>
            <p:nvPr/>
          </p:nvSpPr>
          <p:spPr>
            <a:xfrm>
              <a:off x="5195247" y="4065896"/>
              <a:ext cx="3132001" cy="576274"/>
            </a:xfrm>
            <a:prstGeom prst="rect">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SG"/>
            </a:p>
          </p:txBody>
        </p:sp>
        <p:sp>
          <p:nvSpPr>
            <p:cNvPr id="11" name="Rectangle 10"/>
            <p:cNvSpPr/>
            <p:nvPr/>
          </p:nvSpPr>
          <p:spPr>
            <a:xfrm>
              <a:off x="5195247" y="4964439"/>
              <a:ext cx="3132001" cy="252417"/>
            </a:xfrm>
            <a:prstGeom prst="rect">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SG"/>
            </a:p>
          </p:txBody>
        </p:sp>
      </p:grpSp>
    </p:spTree>
    <p:extLst>
      <p:ext uri="{BB962C8B-B14F-4D97-AF65-F5344CB8AC3E}">
        <p14:creationId xmlns:p14="http://schemas.microsoft.com/office/powerpoint/2010/main" val="30969399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000"/>
                                        <p:tgtEl>
                                          <p:spTgt spid="3"/>
                                        </p:tgtEl>
                                      </p:cBhvr>
                                    </p:animEffect>
                                  </p:childTnLst>
                                </p:cTn>
                              </p:par>
                            </p:childTnLst>
                          </p:cTn>
                        </p:par>
                        <p:par>
                          <p:cTn id="8" fill="hold" nodeType="afterGroup">
                            <p:stCondLst>
                              <p:cond delay="1000"/>
                            </p:stCondLst>
                            <p:childTnLst>
                              <p:par>
                                <p:cTn id="9" presetID="22" presetClass="entr" presetSubtype="8" fill="hold" nodeType="afterEffect">
                                  <p:stCondLst>
                                    <p:cond delay="100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1000"/>
                                        <p:tgtEl>
                                          <p:spTgt spid="4"/>
                                        </p:tgtEl>
                                      </p:cBhvr>
                                    </p:animEffect>
                                  </p:childTnLst>
                                </p:cTn>
                              </p:par>
                            </p:childTnLst>
                          </p:cTn>
                        </p:par>
                        <p:par>
                          <p:cTn id="12" fill="hold" nodeType="afterGroup">
                            <p:stCondLst>
                              <p:cond delay="3000"/>
                            </p:stCondLst>
                            <p:childTnLst>
                              <p:par>
                                <p:cTn id="13" presetID="22" presetClass="entr" presetSubtype="1" fill="hold" nodeType="afterEffect">
                                  <p:stCondLst>
                                    <p:cond delay="100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314" name="Picture 1745" descr="DS3-Figure 13-0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5800" y="1763712"/>
            <a:ext cx="732155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1" name="Text Box 1757"/>
          <p:cNvSpPr txBox="1">
            <a:spLocks noChangeArrowheads="1"/>
          </p:cNvSpPr>
          <p:nvPr/>
        </p:nvSpPr>
        <p:spPr bwMode="auto">
          <a:xfrm>
            <a:off x="2286000" y="1778000"/>
            <a:ext cx="4103688" cy="366712"/>
          </a:xfrm>
          <a:prstGeom prst="rect">
            <a:avLst/>
          </a:prstGeom>
          <a:noFill/>
          <a:ln w="9525">
            <a:noFill/>
            <a:miter lim="800000"/>
            <a:headEnd/>
            <a:tailEnd/>
          </a:ln>
        </p:spPr>
        <p:txBody>
          <a:bodyPr>
            <a:spAutoFit/>
          </a:bodyPr>
          <a:lstStyle/>
          <a:p>
            <a:pPr algn="ctr" defTabSz="762000">
              <a:spcBef>
                <a:spcPct val="50000"/>
              </a:spcBef>
              <a:defRPr/>
            </a:pPr>
            <a:r>
              <a:rPr lang="en-US" altLang="zh-SG" dirty="0">
                <a:latin typeface="+mn-lt"/>
              </a:rPr>
              <a:t>Figure 1- Table with redundant data</a:t>
            </a:r>
            <a:endParaRPr lang="en-US" dirty="0">
              <a:latin typeface="+mn-lt"/>
            </a:endParaRPr>
          </a:p>
        </p:txBody>
      </p:sp>
      <p:grpSp>
        <p:nvGrpSpPr>
          <p:cNvPr id="13316" name="Group 1"/>
          <p:cNvGrpSpPr>
            <a:grpSpLocks/>
          </p:cNvGrpSpPr>
          <p:nvPr/>
        </p:nvGrpSpPr>
        <p:grpSpPr bwMode="auto">
          <a:xfrm>
            <a:off x="4800600" y="3030537"/>
            <a:ext cx="2916238" cy="1152525"/>
            <a:chOff x="4495800" y="2393732"/>
            <a:chExt cx="2844000" cy="1019502"/>
          </a:xfrm>
        </p:grpSpPr>
        <p:sp>
          <p:nvSpPr>
            <p:cNvPr id="13355" name="Oval 1756"/>
            <p:cNvSpPr>
              <a:spLocks noChangeArrowheads="1"/>
            </p:cNvSpPr>
            <p:nvPr/>
          </p:nvSpPr>
          <p:spPr bwMode="auto">
            <a:xfrm>
              <a:off x="4495800" y="2393732"/>
              <a:ext cx="2844000" cy="504000"/>
            </a:xfrm>
            <a:prstGeom prst="roundRect">
              <a:avLst>
                <a:gd name="adj" fmla="val 16667"/>
              </a:avLst>
            </a:prstGeom>
            <a:noFill/>
            <a:ln w="28575">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en-US" altLang="en-US" sz="1800">
                <a:latin typeface="Arial" charset="0"/>
              </a:endParaRPr>
            </a:p>
          </p:txBody>
        </p:sp>
        <p:sp>
          <p:nvSpPr>
            <p:cNvPr id="13356" name="Oval 1756"/>
            <p:cNvSpPr>
              <a:spLocks noChangeArrowheads="1"/>
            </p:cNvSpPr>
            <p:nvPr/>
          </p:nvSpPr>
          <p:spPr bwMode="auto">
            <a:xfrm>
              <a:off x="4495800" y="3197234"/>
              <a:ext cx="2844000" cy="216000"/>
            </a:xfrm>
            <a:prstGeom prst="roundRect">
              <a:avLst>
                <a:gd name="adj" fmla="val 16667"/>
              </a:avLst>
            </a:prstGeom>
            <a:noFill/>
            <a:ln w="28575">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en-US" altLang="en-US" sz="1800">
                <a:latin typeface="Arial" charset="0"/>
              </a:endParaRPr>
            </a:p>
          </p:txBody>
        </p:sp>
      </p:grpSp>
      <p:sp>
        <p:nvSpPr>
          <p:cNvPr id="10" name="TextBox 9"/>
          <p:cNvSpPr txBox="1"/>
          <p:nvPr/>
        </p:nvSpPr>
        <p:spPr>
          <a:xfrm>
            <a:off x="609600" y="914400"/>
            <a:ext cx="8001000" cy="811367"/>
          </a:xfrm>
          <a:prstGeom prst="rect">
            <a:avLst/>
          </a:prstGeom>
          <a:noFill/>
          <a:ln>
            <a:noFill/>
          </a:ln>
        </p:spPr>
        <p:txBody>
          <a:bodyPr wrap="square" lIns="36000" tIns="36000" rIns="36000" bIns="36000">
            <a:spAutoFit/>
          </a:bodyPr>
          <a:lstStyle/>
          <a:p>
            <a:pPr>
              <a:defRPr/>
            </a:pPr>
            <a:r>
              <a:rPr lang="en-GB" sz="2400" dirty="0">
                <a:latin typeface="+mn-lt"/>
              </a:rPr>
              <a:t>In this example, update anomaly </a:t>
            </a:r>
            <a:r>
              <a:rPr lang="en-GB" sz="2400" dirty="0" smtClean="0">
                <a:latin typeface="+mn-lt"/>
              </a:rPr>
              <a:t>occurs when updating affected records.</a:t>
            </a:r>
            <a:endParaRPr lang="en-US" sz="2400" dirty="0">
              <a:latin typeface="+mn-lt"/>
            </a:endParaRPr>
          </a:p>
        </p:txBody>
      </p:sp>
      <p:sp>
        <p:nvSpPr>
          <p:cNvPr id="19" name="TextBox 18"/>
          <p:cNvSpPr txBox="1"/>
          <p:nvPr/>
        </p:nvSpPr>
        <p:spPr>
          <a:xfrm>
            <a:off x="6646863" y="1851025"/>
            <a:ext cx="2268537" cy="565150"/>
          </a:xfrm>
          <a:prstGeom prst="wedgeRectCallout">
            <a:avLst>
              <a:gd name="adj1" fmla="val -23570"/>
              <a:gd name="adj2" fmla="val 179665"/>
            </a:avLst>
          </a:prstGeom>
          <a:solidFill>
            <a:srgbClr val="FFFFCC"/>
          </a:solidFill>
          <a:ln>
            <a:solidFill>
              <a:schemeClr val="accent1"/>
            </a:solidFill>
          </a:ln>
        </p:spPr>
        <p:txBody>
          <a:bodyPr lIns="36000" tIns="36000" rIns="36000" bIns="36000">
            <a:spAutoFit/>
          </a:bodyPr>
          <a:lstStyle/>
          <a:p>
            <a:pPr>
              <a:defRPr/>
            </a:pPr>
            <a:r>
              <a:rPr lang="en-GB" sz="1600" dirty="0">
                <a:latin typeface="+mn-lt"/>
              </a:rPr>
              <a:t>Redundant data that may lead to update anomaly</a:t>
            </a:r>
            <a:endParaRPr lang="en-US" sz="1600" dirty="0">
              <a:latin typeface="+mn-lt"/>
            </a:endParaRPr>
          </a:p>
        </p:txBody>
      </p:sp>
      <p:sp>
        <p:nvSpPr>
          <p:cNvPr id="2" name="Right Brace 1"/>
          <p:cNvSpPr/>
          <p:nvPr/>
        </p:nvSpPr>
        <p:spPr>
          <a:xfrm>
            <a:off x="7924800" y="4049712"/>
            <a:ext cx="227013" cy="2016000"/>
          </a:xfrm>
          <a:prstGeom prst="rightBrace">
            <a:avLst/>
          </a:prstGeom>
          <a:ln w="38100"/>
        </p:spPr>
        <p:style>
          <a:lnRef idx="1">
            <a:schemeClr val="accent2"/>
          </a:lnRef>
          <a:fillRef idx="0">
            <a:schemeClr val="accent2"/>
          </a:fillRef>
          <a:effectRef idx="0">
            <a:schemeClr val="accent2"/>
          </a:effectRef>
          <a:fontRef idx="minor">
            <a:schemeClr val="tx1"/>
          </a:fontRef>
        </p:style>
        <p:txBody>
          <a:bodyPr anchor="ctr"/>
          <a:lstStyle/>
          <a:p>
            <a:pPr algn="ctr">
              <a:defRPr/>
            </a:pPr>
            <a:endParaRPr lang="en-SG"/>
          </a:p>
        </p:txBody>
      </p:sp>
      <p:graphicFrame>
        <p:nvGraphicFramePr>
          <p:cNvPr id="14" name="Table 13"/>
          <p:cNvGraphicFramePr>
            <a:graphicFrameLocks noGrp="1"/>
          </p:cNvGraphicFramePr>
          <p:nvPr>
            <p:extLst>
              <p:ext uri="{D42A27DB-BD31-4B8C-83A1-F6EECF244321}">
                <p14:modId xmlns:p14="http://schemas.microsoft.com/office/powerpoint/2010/main" val="2857275794"/>
              </p:ext>
            </p:extLst>
          </p:nvPr>
        </p:nvGraphicFramePr>
        <p:xfrm>
          <a:off x="685800" y="5150822"/>
          <a:ext cx="7086600" cy="1114230"/>
        </p:xfrm>
        <a:graphic>
          <a:graphicData uri="http://schemas.openxmlformats.org/drawingml/2006/table">
            <a:tbl>
              <a:tblPr firstRow="1" bandRow="1">
                <a:tableStyleId>{8A107856-5554-42FB-B03E-39F5DBC370BA}</a:tableStyleId>
              </a:tblPr>
              <a:tblGrid>
                <a:gridCol w="11430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981200">
                  <a:extLst>
                    <a:ext uri="{9D8B030D-6E8A-4147-A177-3AD203B41FA5}">
                      <a16:colId xmlns:a16="http://schemas.microsoft.com/office/drawing/2014/main" val="20005"/>
                    </a:ext>
                  </a:extLst>
                </a:gridCol>
              </a:tblGrid>
              <a:tr h="371410">
                <a:tc>
                  <a:txBody>
                    <a:bodyPr/>
                    <a:lstStyle/>
                    <a:p>
                      <a:r>
                        <a:rPr lang="en-GB" sz="1400" b="0" dirty="0" smtClean="0"/>
                        <a:t>SG37</a:t>
                      </a:r>
                      <a:endParaRPr lang="en-SG" sz="1400" b="0" dirty="0"/>
                    </a:p>
                  </a:txBody>
                  <a:tcPr marR="36000" marT="45768" marB="10811"/>
                </a:tc>
                <a:tc>
                  <a:txBody>
                    <a:bodyPr/>
                    <a:lstStyle/>
                    <a:p>
                      <a:r>
                        <a:rPr lang="en-GB" sz="1400" b="0" dirty="0" smtClean="0"/>
                        <a:t>Ann</a:t>
                      </a:r>
                      <a:r>
                        <a:rPr lang="en-GB" sz="1400" b="0" baseline="0" dirty="0" smtClean="0"/>
                        <a:t> Beech</a:t>
                      </a:r>
                      <a:endParaRPr lang="en-SG" sz="1400" b="0" dirty="0"/>
                    </a:p>
                  </a:txBody>
                  <a:tcPr marR="36000" marT="45768" marB="10811"/>
                </a:tc>
                <a:tc>
                  <a:txBody>
                    <a:bodyPr/>
                    <a:lstStyle/>
                    <a:p>
                      <a:r>
                        <a:rPr lang="en-GB" sz="1400" b="0" dirty="0" smtClean="0"/>
                        <a:t>Assistant</a:t>
                      </a:r>
                      <a:endParaRPr lang="en-SG" sz="1400" b="0" dirty="0"/>
                    </a:p>
                  </a:txBody>
                  <a:tcPr marR="36000" marT="45768" marB="10811"/>
                </a:tc>
                <a:tc>
                  <a:txBody>
                    <a:bodyPr/>
                    <a:lstStyle/>
                    <a:p>
                      <a:r>
                        <a:rPr lang="en-GB" sz="1400" b="0" dirty="0" smtClean="0"/>
                        <a:t>12000</a:t>
                      </a:r>
                      <a:endParaRPr lang="en-SG" sz="1400" b="0" dirty="0"/>
                    </a:p>
                  </a:txBody>
                  <a:tcPr marR="36000" marT="45768" marB="10811"/>
                </a:tc>
                <a:tc>
                  <a:txBody>
                    <a:bodyPr/>
                    <a:lstStyle/>
                    <a:p>
                      <a:r>
                        <a:rPr lang="en-GB" sz="1400" b="0" dirty="0" smtClean="0">
                          <a:solidFill>
                            <a:srgbClr val="002060"/>
                          </a:solidFill>
                        </a:rPr>
                        <a:t>B003</a:t>
                      </a:r>
                      <a:endParaRPr lang="en-SG" sz="1400" b="0" dirty="0">
                        <a:solidFill>
                          <a:srgbClr val="002060"/>
                        </a:solidFill>
                      </a:endParaRPr>
                    </a:p>
                  </a:txBody>
                  <a:tcPr marR="36000" marT="45768" marB="10811"/>
                </a:tc>
                <a:tc>
                  <a:txBody>
                    <a:bodyPr/>
                    <a:lstStyle/>
                    <a:p>
                      <a:r>
                        <a:rPr lang="en-GB" sz="1400" b="0" dirty="0" smtClean="0">
                          <a:solidFill>
                            <a:srgbClr val="002060"/>
                          </a:solidFill>
                        </a:rPr>
                        <a:t>180</a:t>
                      </a:r>
                      <a:r>
                        <a:rPr lang="en-GB" sz="1400" b="0" baseline="0" dirty="0" smtClean="0">
                          <a:solidFill>
                            <a:srgbClr val="002060"/>
                          </a:solidFill>
                        </a:rPr>
                        <a:t> Cambridge Road</a:t>
                      </a:r>
                      <a:endParaRPr lang="en-SG" sz="1400" b="0" dirty="0">
                        <a:solidFill>
                          <a:srgbClr val="002060"/>
                        </a:solidFill>
                      </a:endParaRPr>
                    </a:p>
                  </a:txBody>
                  <a:tcPr marR="36000" marT="45768" marB="10811"/>
                </a:tc>
                <a:extLst>
                  <a:ext uri="{0D108BD9-81ED-4DB2-BD59-A6C34878D82A}">
                    <a16:rowId xmlns:a16="http://schemas.microsoft.com/office/drawing/2014/main" val="10000"/>
                  </a:ext>
                </a:extLst>
              </a:tr>
              <a:tr h="371410">
                <a:tc>
                  <a:txBody>
                    <a:bodyPr/>
                    <a:lstStyle/>
                    <a:p>
                      <a:r>
                        <a:rPr lang="en-GB" sz="1400" dirty="0" smtClean="0"/>
                        <a:t>SG14</a:t>
                      </a:r>
                      <a:endParaRPr lang="en-SG" sz="1400" dirty="0"/>
                    </a:p>
                  </a:txBody>
                  <a:tcPr marR="36000" marT="45768" marB="10811"/>
                </a:tc>
                <a:tc>
                  <a:txBody>
                    <a:bodyPr/>
                    <a:lstStyle/>
                    <a:p>
                      <a:r>
                        <a:rPr lang="en-GB" sz="1400" dirty="0" smtClean="0"/>
                        <a:t>David Ford</a:t>
                      </a:r>
                      <a:endParaRPr lang="en-SG" sz="1400" dirty="0"/>
                    </a:p>
                  </a:txBody>
                  <a:tcPr marR="36000" marT="45768" marB="10811"/>
                </a:tc>
                <a:tc>
                  <a:txBody>
                    <a:bodyPr/>
                    <a:lstStyle/>
                    <a:p>
                      <a:r>
                        <a:rPr lang="en-GB" sz="1400" dirty="0" smtClean="0"/>
                        <a:t>Supervisor</a:t>
                      </a:r>
                      <a:endParaRPr lang="en-SG" sz="1400" dirty="0"/>
                    </a:p>
                  </a:txBody>
                  <a:tcPr marR="36000" marT="45768" marB="10811"/>
                </a:tc>
                <a:tc>
                  <a:txBody>
                    <a:bodyPr/>
                    <a:lstStyle/>
                    <a:p>
                      <a:r>
                        <a:rPr lang="en-GB" sz="1400" dirty="0" smtClean="0"/>
                        <a:t>18000</a:t>
                      </a:r>
                      <a:endParaRPr lang="en-SG" sz="1400" dirty="0"/>
                    </a:p>
                  </a:txBody>
                  <a:tcPr marR="36000" marT="45768" marB="10811"/>
                </a:tc>
                <a:tc>
                  <a:txBody>
                    <a:bodyPr/>
                    <a:lstStyle/>
                    <a:p>
                      <a:r>
                        <a:rPr lang="en-GB" sz="1400" dirty="0" smtClean="0">
                          <a:solidFill>
                            <a:srgbClr val="002060"/>
                          </a:solidFill>
                        </a:rPr>
                        <a:t>B003</a:t>
                      </a:r>
                      <a:endParaRPr lang="en-SG" sz="1400" dirty="0">
                        <a:solidFill>
                          <a:srgbClr val="002060"/>
                        </a:solidFill>
                      </a:endParaRPr>
                    </a:p>
                  </a:txBody>
                  <a:tcPr marR="36000" marT="45768" marB="10811"/>
                </a:tc>
                <a:tc>
                  <a:txBody>
                    <a:bodyPr/>
                    <a:lstStyle/>
                    <a:p>
                      <a:r>
                        <a:rPr lang="en-GB" sz="1400" dirty="0" smtClean="0">
                          <a:solidFill>
                            <a:srgbClr val="002060"/>
                          </a:solidFill>
                        </a:rPr>
                        <a:t>180</a:t>
                      </a:r>
                      <a:r>
                        <a:rPr lang="en-GB" sz="1400" baseline="0" dirty="0" smtClean="0">
                          <a:solidFill>
                            <a:srgbClr val="002060"/>
                          </a:solidFill>
                        </a:rPr>
                        <a:t> Cambridge Road</a:t>
                      </a:r>
                      <a:endParaRPr lang="en-SG" sz="1400" dirty="0">
                        <a:solidFill>
                          <a:srgbClr val="002060"/>
                        </a:solidFill>
                      </a:endParaRPr>
                    </a:p>
                  </a:txBody>
                  <a:tcPr marR="36000" marT="45768" marB="10811"/>
                </a:tc>
                <a:extLst>
                  <a:ext uri="{0D108BD9-81ED-4DB2-BD59-A6C34878D82A}">
                    <a16:rowId xmlns:a16="http://schemas.microsoft.com/office/drawing/2014/main" val="10001"/>
                  </a:ext>
                </a:extLst>
              </a:tr>
              <a:tr h="371410">
                <a:tc>
                  <a:txBody>
                    <a:bodyPr/>
                    <a:lstStyle/>
                    <a:p>
                      <a:r>
                        <a:rPr lang="en-GB" sz="1400" dirty="0" smtClean="0"/>
                        <a:t>SG5</a:t>
                      </a:r>
                      <a:endParaRPr lang="en-SG" sz="1400" dirty="0"/>
                    </a:p>
                  </a:txBody>
                  <a:tcPr marR="36000" marT="45768" marB="10811"/>
                </a:tc>
                <a:tc>
                  <a:txBody>
                    <a:bodyPr/>
                    <a:lstStyle/>
                    <a:p>
                      <a:r>
                        <a:rPr lang="en-GB" sz="1400" dirty="0" smtClean="0"/>
                        <a:t>Susan Brand</a:t>
                      </a:r>
                      <a:endParaRPr lang="en-SG" sz="1400" dirty="0"/>
                    </a:p>
                  </a:txBody>
                  <a:tcPr marR="36000" marT="45768" marB="10811"/>
                </a:tc>
                <a:tc>
                  <a:txBody>
                    <a:bodyPr/>
                    <a:lstStyle/>
                    <a:p>
                      <a:r>
                        <a:rPr lang="en-GB" sz="1400" dirty="0" smtClean="0"/>
                        <a:t>Manager</a:t>
                      </a:r>
                      <a:endParaRPr lang="en-SG" sz="1400" dirty="0"/>
                    </a:p>
                  </a:txBody>
                  <a:tcPr marR="36000" marT="45768" marB="10811"/>
                </a:tc>
                <a:tc>
                  <a:txBody>
                    <a:bodyPr/>
                    <a:lstStyle/>
                    <a:p>
                      <a:r>
                        <a:rPr lang="en-GB" sz="1400" dirty="0" smtClean="0"/>
                        <a:t>24000</a:t>
                      </a:r>
                      <a:endParaRPr lang="en-SG" sz="1400" dirty="0"/>
                    </a:p>
                  </a:txBody>
                  <a:tcPr marR="36000" marT="45768" marB="10811"/>
                </a:tc>
                <a:tc>
                  <a:txBody>
                    <a:bodyPr/>
                    <a:lstStyle/>
                    <a:p>
                      <a:r>
                        <a:rPr lang="en-GB" sz="1400" dirty="0" smtClean="0">
                          <a:solidFill>
                            <a:srgbClr val="002060"/>
                          </a:solidFill>
                        </a:rPr>
                        <a:t>B003</a:t>
                      </a:r>
                      <a:endParaRPr lang="en-SG" sz="1400" dirty="0">
                        <a:solidFill>
                          <a:srgbClr val="002060"/>
                        </a:solidFill>
                      </a:endParaRPr>
                    </a:p>
                  </a:txBody>
                  <a:tcPr marR="36000" marT="45768" marB="10811"/>
                </a:tc>
                <a:tc>
                  <a:txBody>
                    <a:bodyPr/>
                    <a:lstStyle/>
                    <a:p>
                      <a:r>
                        <a:rPr lang="en-GB" sz="1600" dirty="0" smtClean="0">
                          <a:solidFill>
                            <a:srgbClr val="C00000"/>
                          </a:solidFill>
                        </a:rPr>
                        <a:t>163 Main St, Glasgow</a:t>
                      </a:r>
                      <a:endParaRPr lang="en-SG" sz="1600" dirty="0">
                        <a:solidFill>
                          <a:srgbClr val="C00000"/>
                        </a:solidFill>
                      </a:endParaRPr>
                    </a:p>
                  </a:txBody>
                  <a:tcPr marR="36000" marT="45768" marB="10811"/>
                </a:tc>
                <a:extLst>
                  <a:ext uri="{0D108BD9-81ED-4DB2-BD59-A6C34878D82A}">
                    <a16:rowId xmlns:a16="http://schemas.microsoft.com/office/drawing/2014/main" val="10002"/>
                  </a:ext>
                </a:extLst>
              </a:tr>
            </a:tbl>
          </a:graphicData>
        </a:graphic>
      </p:graphicFrame>
      <p:sp>
        <p:nvSpPr>
          <p:cNvPr id="15" name="Rectangle 10"/>
          <p:cNvSpPr>
            <a:spLocks noChangeArrowheads="1"/>
          </p:cNvSpPr>
          <p:nvPr/>
        </p:nvSpPr>
        <p:spPr bwMode="auto">
          <a:xfrm>
            <a:off x="776514" y="6459376"/>
            <a:ext cx="5968869" cy="380480"/>
          </a:xfrm>
          <a:prstGeom prst="rect">
            <a:avLst/>
          </a:prstGeom>
          <a:solidFill>
            <a:srgbClr val="FFFF00"/>
          </a:solidFill>
          <a:ln w="9525">
            <a:noFill/>
            <a:miter lim="800000"/>
            <a:headEnd/>
            <a:tailEnd/>
          </a:ln>
        </p:spPr>
        <p:txBody>
          <a:bodyPr wrap="none" lIns="36000" tIns="36000" rIns="36000" bIns="36000">
            <a:spAutoFit/>
          </a:bodyPr>
          <a:lstStyle/>
          <a:p>
            <a:pPr>
              <a:spcBef>
                <a:spcPts val="0"/>
              </a:spcBef>
              <a:spcAft>
                <a:spcPts val="0"/>
              </a:spcAft>
              <a:defRPr/>
            </a:pPr>
            <a:r>
              <a:rPr lang="en-US" sz="2000" dirty="0">
                <a:solidFill>
                  <a:srgbClr val="FF0000"/>
                </a:solidFill>
                <a:latin typeface="+mn-lt"/>
              </a:rPr>
              <a:t>(Incomplete update of </a:t>
            </a:r>
            <a:r>
              <a:rPr lang="en-US" sz="2000" dirty="0" smtClean="0">
                <a:solidFill>
                  <a:srgbClr val="FF0000"/>
                </a:solidFill>
                <a:latin typeface="+mn-lt"/>
              </a:rPr>
              <a:t>record data </a:t>
            </a:r>
            <a:r>
              <a:rPr lang="en-US" sz="2000" dirty="0">
                <a:solidFill>
                  <a:srgbClr val="FF0000"/>
                </a:solidFill>
                <a:latin typeface="+mn-lt"/>
              </a:rPr>
              <a:t>for </a:t>
            </a:r>
            <a:r>
              <a:rPr lang="en-US" sz="2000" dirty="0" smtClean="0">
                <a:solidFill>
                  <a:srgbClr val="FF0000"/>
                </a:solidFill>
                <a:latin typeface="+mn-lt"/>
              </a:rPr>
              <a:t>the same branch !)</a:t>
            </a:r>
            <a:endParaRPr lang="en-US" sz="2000" dirty="0">
              <a:solidFill>
                <a:srgbClr val="FF0000"/>
              </a:solidFill>
              <a:latin typeface="+mn-lt"/>
            </a:endParaRPr>
          </a:p>
        </p:txBody>
      </p:sp>
      <p:sp>
        <p:nvSpPr>
          <p:cNvPr id="3" name="Rectangle 2"/>
          <p:cNvSpPr>
            <a:spLocks noChangeArrowheads="1"/>
          </p:cNvSpPr>
          <p:nvPr/>
        </p:nvSpPr>
        <p:spPr bwMode="auto">
          <a:xfrm>
            <a:off x="5913892" y="6265053"/>
            <a:ext cx="2308893" cy="288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1400" dirty="0" smtClean="0">
                <a:solidFill>
                  <a:srgbClr val="002060"/>
                </a:solidFill>
                <a:latin typeface="Arial" charset="0"/>
              </a:rPr>
              <a:t>(being left-out </a:t>
            </a:r>
            <a:r>
              <a:rPr lang="en-US" altLang="en-US" sz="1400" dirty="0">
                <a:solidFill>
                  <a:srgbClr val="002060"/>
                </a:solidFill>
                <a:latin typeface="Arial" charset="0"/>
              </a:rPr>
              <a:t>in the update)</a:t>
            </a:r>
            <a:endParaRPr lang="en-SG" altLang="en-US" sz="1400" dirty="0">
              <a:solidFill>
                <a:srgbClr val="002060"/>
              </a:solidFill>
              <a:latin typeface="Arial" charset="0"/>
            </a:endParaRPr>
          </a:p>
        </p:txBody>
      </p:sp>
      <p:sp>
        <p:nvSpPr>
          <p:cNvPr id="16" name="Title 1"/>
          <p:cNvSpPr txBox="1">
            <a:spLocks/>
          </p:cNvSpPr>
          <p:nvPr/>
        </p:nvSpPr>
        <p:spPr bwMode="auto">
          <a:xfrm>
            <a:off x="685800" y="299811"/>
            <a:ext cx="26527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sp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eaLnBrk="1" hangingPunct="1">
              <a:defRPr/>
            </a:pPr>
            <a:r>
              <a:rPr lang="en-GB" sz="2800" b="1" dirty="0" smtClean="0">
                <a:solidFill>
                  <a:srgbClr val="C00000"/>
                </a:solidFill>
                <a:latin typeface="+mn-lt"/>
              </a:rPr>
              <a:t>Update Anomaly</a:t>
            </a:r>
            <a:endParaRPr lang="en-US" sz="2800" b="1" dirty="0" smtClean="0">
              <a:solidFill>
                <a:srgbClr val="C00000"/>
              </a:solidFill>
              <a:latin typeface="+mn-lt"/>
            </a:endParaRPr>
          </a:p>
        </p:txBody>
      </p:sp>
      <p:sp>
        <p:nvSpPr>
          <p:cNvPr id="17" name="Rectangle 10"/>
          <p:cNvSpPr>
            <a:spLocks noChangeArrowheads="1"/>
          </p:cNvSpPr>
          <p:nvPr/>
        </p:nvSpPr>
        <p:spPr bwMode="auto">
          <a:xfrm>
            <a:off x="762000" y="4724400"/>
            <a:ext cx="5889937" cy="380480"/>
          </a:xfrm>
          <a:prstGeom prst="rect">
            <a:avLst/>
          </a:prstGeom>
          <a:noFill/>
          <a:ln w="9525">
            <a:noFill/>
            <a:miter lim="800000"/>
            <a:headEnd/>
            <a:tailEnd/>
          </a:ln>
        </p:spPr>
        <p:txBody>
          <a:bodyPr wrap="none" lIns="36000" tIns="36000" rIns="36000" bIns="36000">
            <a:spAutoFit/>
          </a:bodyPr>
          <a:lstStyle/>
          <a:p>
            <a:pPr>
              <a:spcBef>
                <a:spcPts val="0"/>
              </a:spcBef>
              <a:spcAft>
                <a:spcPts val="0"/>
              </a:spcAft>
              <a:defRPr/>
            </a:pPr>
            <a:r>
              <a:rPr lang="en-US" sz="2000" dirty="0" smtClean="0">
                <a:solidFill>
                  <a:srgbClr val="FF0000"/>
                </a:solidFill>
                <a:latin typeface="+mn-lt"/>
              </a:rPr>
              <a:t>(If </a:t>
            </a:r>
            <a:r>
              <a:rPr lang="en-US" sz="2000" dirty="0" err="1" smtClean="0">
                <a:solidFill>
                  <a:srgbClr val="FF0000"/>
                </a:solidFill>
                <a:latin typeface="+mn-lt"/>
              </a:rPr>
              <a:t>bAddress</a:t>
            </a:r>
            <a:r>
              <a:rPr lang="en-US" sz="2000" dirty="0" smtClean="0">
                <a:solidFill>
                  <a:srgbClr val="FF0000"/>
                </a:solidFill>
                <a:latin typeface="+mn-lt"/>
              </a:rPr>
              <a:t> to be updated to 180 Cambridge Road …… )</a:t>
            </a:r>
            <a:endParaRPr lang="en-US" sz="2000" dirty="0">
              <a:solidFill>
                <a:srgbClr val="FF0000"/>
              </a:solidFill>
              <a:latin typeface="+mn-lt"/>
            </a:endParaRPr>
          </a:p>
        </p:txBody>
      </p:sp>
    </p:spTree>
    <p:extLst>
      <p:ext uri="{BB962C8B-B14F-4D97-AF65-F5344CB8AC3E}">
        <p14:creationId xmlns:p14="http://schemas.microsoft.com/office/powerpoint/2010/main" val="29349333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1000"/>
                                        <p:tgtEl>
                                          <p:spTgt spid="17"/>
                                        </p:tgtEl>
                                      </p:cBhvr>
                                    </p:animEffect>
                                  </p:childTnLst>
                                </p:cTn>
                              </p:par>
                            </p:childTnLst>
                          </p:cTn>
                        </p:par>
                        <p:par>
                          <p:cTn id="8" fill="hold">
                            <p:stCondLst>
                              <p:cond delay="1000"/>
                            </p:stCondLst>
                            <p:childTnLst>
                              <p:par>
                                <p:cTn id="9" presetID="22" presetClass="entr" presetSubtype="8" fill="hold" nodeType="afterEffect">
                                  <p:stCondLst>
                                    <p:cond delay="1000"/>
                                  </p:stCondLst>
                                  <p:childTnLst>
                                    <p:set>
                                      <p:cBhvr>
                                        <p:cTn id="10" dur="1" fill="hold">
                                          <p:stCondLst>
                                            <p:cond delay="0"/>
                                          </p:stCondLst>
                                        </p:cTn>
                                        <p:tgtEl>
                                          <p:spTgt spid="14"/>
                                        </p:tgtEl>
                                        <p:attrNameLst>
                                          <p:attrName>style.visibility</p:attrName>
                                        </p:attrNameLst>
                                      </p:cBhvr>
                                      <p:to>
                                        <p:strVal val="visible"/>
                                      </p:to>
                                    </p:set>
                                    <p:animEffect transition="in" filter="wipe(left)">
                                      <p:cBhvr>
                                        <p:cTn id="11" dur="1000"/>
                                        <p:tgtEl>
                                          <p:spTgt spid="14"/>
                                        </p:tgtEl>
                                      </p:cBhvr>
                                    </p:animEffect>
                                  </p:childTnLst>
                                </p:cTn>
                              </p:par>
                            </p:childTnLst>
                          </p:cTn>
                        </p:par>
                        <p:par>
                          <p:cTn id="12" fill="hold">
                            <p:stCondLst>
                              <p:cond delay="3000"/>
                            </p:stCondLst>
                            <p:childTnLst>
                              <p:par>
                                <p:cTn id="13" presetID="22" presetClass="entr" presetSubtype="1" fill="hold" grpId="0" nodeType="afterEffect">
                                  <p:stCondLst>
                                    <p:cond delay="500"/>
                                  </p:stCondLst>
                                  <p:childTnLst>
                                    <p:set>
                                      <p:cBhvr>
                                        <p:cTn id="14" dur="1" fill="hold">
                                          <p:stCondLst>
                                            <p:cond delay="0"/>
                                          </p:stCondLst>
                                        </p:cTn>
                                        <p:tgtEl>
                                          <p:spTgt spid="2"/>
                                        </p:tgtEl>
                                        <p:attrNameLst>
                                          <p:attrName>style.visibility</p:attrName>
                                        </p:attrNameLst>
                                      </p:cBhvr>
                                      <p:to>
                                        <p:strVal val="visible"/>
                                      </p:to>
                                    </p:set>
                                    <p:animEffect transition="in" filter="wipe(up)">
                                      <p:cBhvr>
                                        <p:cTn id="15" dur="1000"/>
                                        <p:tgtEl>
                                          <p:spTgt spid="2"/>
                                        </p:tgtEl>
                                      </p:cBhvr>
                                    </p:animEffect>
                                  </p:childTnLst>
                                </p:cTn>
                              </p:par>
                            </p:childTnLst>
                          </p:cTn>
                        </p:par>
                        <p:par>
                          <p:cTn id="16" fill="hold">
                            <p:stCondLst>
                              <p:cond delay="4500"/>
                            </p:stCondLst>
                            <p:childTnLst>
                              <p:par>
                                <p:cTn id="17" presetID="22" presetClass="entr" presetSubtype="8" fill="hold" grpId="0"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left)">
                                      <p:cBhvr>
                                        <p:cTn id="19" dur="1000"/>
                                        <p:tgtEl>
                                          <p:spTgt spid="3"/>
                                        </p:tgtEl>
                                      </p:cBhvr>
                                    </p:animEffect>
                                  </p:childTnLst>
                                </p:cTn>
                              </p:par>
                            </p:childTnLst>
                          </p:cTn>
                        </p:par>
                        <p:par>
                          <p:cTn id="20" fill="hold">
                            <p:stCondLst>
                              <p:cond delay="5500"/>
                            </p:stCondLst>
                            <p:childTnLst>
                              <p:par>
                                <p:cTn id="21" presetID="22" presetClass="entr" presetSubtype="8" fill="hold" grpId="0"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5" grpId="0" animBg="1"/>
      <p:bldP spid="3" grpId="0"/>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458" name="Title 1"/>
          <p:cNvSpPr>
            <a:spLocks noGrp="1"/>
          </p:cNvSpPr>
          <p:nvPr>
            <p:ph type="ctrTitle" idx="4294967295"/>
          </p:nvPr>
        </p:nvSpPr>
        <p:spPr>
          <a:xfrm>
            <a:off x="685800" y="336550"/>
            <a:ext cx="5216547" cy="565146"/>
          </a:xfrm>
        </p:spPr>
        <p:txBody>
          <a:bodyPr wrap="none" lIns="36000" tIns="36000" rIns="36000" bIns="36000" anchor="t">
            <a:spAutoFit/>
          </a:bodyPr>
          <a:lstStyle/>
          <a:p>
            <a:pPr algn="l" eaLnBrk="1" hangingPunct="1">
              <a:defRPr/>
            </a:pPr>
            <a:r>
              <a:rPr lang="en-GB" sz="3200" b="1" dirty="0" smtClean="0">
                <a:solidFill>
                  <a:srgbClr val="C00000"/>
                </a:solidFill>
                <a:latin typeface="+mn-lt"/>
              </a:rPr>
              <a:t>3. What is Deletion Anomaly ?</a:t>
            </a:r>
            <a:endParaRPr lang="en-US" sz="3200" b="1" dirty="0" smtClean="0">
              <a:solidFill>
                <a:srgbClr val="C00000"/>
              </a:solidFill>
              <a:latin typeface="+mn-lt"/>
            </a:endParaRPr>
          </a:p>
        </p:txBody>
      </p:sp>
      <p:sp>
        <p:nvSpPr>
          <p:cNvPr id="15364" name="Rectangle 3"/>
          <p:cNvSpPr>
            <a:spLocks noChangeArrowheads="1"/>
          </p:cNvSpPr>
          <p:nvPr/>
        </p:nvSpPr>
        <p:spPr bwMode="auto">
          <a:xfrm>
            <a:off x="685799" y="914400"/>
            <a:ext cx="7920000" cy="12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spAutoFit/>
          </a:bodyPr>
          <a:lstStyle>
            <a:lvl1pPr marL="457200" indent="-457200"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indent="0" eaLnBrk="1" hangingPunct="1">
              <a:spcBef>
                <a:spcPct val="0"/>
              </a:spcBef>
              <a:buNone/>
            </a:pPr>
            <a:r>
              <a:rPr lang="en-GB" altLang="en-US" sz="2400" dirty="0"/>
              <a:t>D</a:t>
            </a:r>
            <a:r>
              <a:rPr lang="en-GB" altLang="en-US" sz="2400" dirty="0" smtClean="0"/>
              <a:t>eletion </a:t>
            </a:r>
            <a:r>
              <a:rPr lang="en-GB" altLang="en-US" sz="2400" dirty="0"/>
              <a:t>anomaly occurs when a record </a:t>
            </a:r>
            <a:r>
              <a:rPr lang="en-GB" altLang="en-US" sz="2400" dirty="0" smtClean="0"/>
              <a:t>from </a:t>
            </a:r>
            <a:r>
              <a:rPr lang="en-GB" altLang="en-US" sz="2400" dirty="0"/>
              <a:t>the </a:t>
            </a:r>
            <a:r>
              <a:rPr lang="en-GB" altLang="en-US" sz="2400" dirty="0" smtClean="0"/>
              <a:t>table</a:t>
            </a:r>
            <a:r>
              <a:rPr lang="en-GB" altLang="en-US" sz="2400" dirty="0" smtClean="0">
                <a:solidFill>
                  <a:srgbClr val="C00000"/>
                </a:solidFill>
              </a:rPr>
              <a:t> </a:t>
            </a:r>
            <a:r>
              <a:rPr lang="en-GB" altLang="en-US" sz="2400" dirty="0"/>
              <a:t>cannot be deleted </a:t>
            </a:r>
            <a:r>
              <a:rPr lang="en-GB" altLang="en-US" sz="2400" dirty="0" smtClean="0"/>
              <a:t>because </a:t>
            </a:r>
            <a:r>
              <a:rPr lang="en-GB" altLang="en-US" sz="2400" dirty="0" smtClean="0">
                <a:solidFill>
                  <a:srgbClr val="C00000"/>
                </a:solidFill>
              </a:rPr>
              <a:t>if by deleting it, it </a:t>
            </a:r>
            <a:r>
              <a:rPr lang="en-GB" altLang="en-US" sz="2400" dirty="0">
                <a:solidFill>
                  <a:srgbClr val="C00000"/>
                </a:solidFill>
              </a:rPr>
              <a:t>will lead to </a:t>
            </a:r>
            <a:r>
              <a:rPr lang="en-GB" altLang="en-US" sz="2400" dirty="0" smtClean="0">
                <a:solidFill>
                  <a:srgbClr val="C00000"/>
                </a:solidFill>
              </a:rPr>
              <a:t>an </a:t>
            </a:r>
            <a:r>
              <a:rPr lang="en-GB" altLang="en-US" sz="2400" dirty="0">
                <a:solidFill>
                  <a:srgbClr val="C00000"/>
                </a:solidFill>
              </a:rPr>
              <a:t>unintentionally </a:t>
            </a:r>
            <a:r>
              <a:rPr lang="en-GB" altLang="en-US" sz="2400" dirty="0" smtClean="0">
                <a:solidFill>
                  <a:srgbClr val="C00000"/>
                </a:solidFill>
              </a:rPr>
              <a:t>removal of the trace of other associated </a:t>
            </a:r>
            <a:r>
              <a:rPr lang="en-GB" altLang="en-US" sz="2400" dirty="0">
                <a:solidFill>
                  <a:srgbClr val="C00000"/>
                </a:solidFill>
              </a:rPr>
              <a:t>record</a:t>
            </a:r>
            <a:r>
              <a:rPr lang="en-GB" altLang="en-US" sz="2400" dirty="0"/>
              <a:t>.</a:t>
            </a:r>
          </a:p>
        </p:txBody>
      </p:sp>
      <p:sp>
        <p:nvSpPr>
          <p:cNvPr id="6" name="TextBox 5"/>
          <p:cNvSpPr txBox="1"/>
          <p:nvPr/>
        </p:nvSpPr>
        <p:spPr bwMode="auto">
          <a:xfrm>
            <a:off x="1664886" y="5950803"/>
            <a:ext cx="5961825" cy="830997"/>
          </a:xfrm>
          <a:prstGeom prst="rect">
            <a:avLst/>
          </a:prstGeom>
          <a:noFill/>
        </p:spPr>
        <p:txBody>
          <a:bodyPr wrap="none" lIns="45720" rIns="45720">
            <a:spAutoFit/>
          </a:bodyPr>
          <a:lstStyle/>
          <a:p>
            <a:pPr>
              <a:defRPr/>
            </a:pPr>
            <a:r>
              <a:rPr lang="en-GB" sz="1600" dirty="0" smtClean="0">
                <a:solidFill>
                  <a:srgbClr val="002060"/>
                </a:solidFill>
                <a:latin typeface="+mn-lt"/>
              </a:rPr>
              <a:t>Note: Deletion anomaly may link to the referential integrity constraint)</a:t>
            </a:r>
            <a:endParaRPr lang="en-GB" sz="1600" dirty="0">
              <a:solidFill>
                <a:srgbClr val="002060"/>
              </a:solidFill>
              <a:latin typeface="+mn-lt"/>
            </a:endParaRPr>
          </a:p>
          <a:p>
            <a:pPr marL="177800" indent="-177800">
              <a:buFont typeface="Courier New" panose="02070309020205020404" pitchFamily="49" charset="0"/>
              <a:buChar char="o"/>
              <a:defRPr/>
            </a:pPr>
            <a:r>
              <a:rPr lang="en-GB" sz="1600" dirty="0">
                <a:solidFill>
                  <a:srgbClr val="002060"/>
                </a:solidFill>
                <a:latin typeface="+mn-lt"/>
              </a:rPr>
              <a:t>(Referential integrity </a:t>
            </a:r>
            <a:r>
              <a:rPr lang="en-GB" sz="1600" dirty="0" smtClean="0">
                <a:solidFill>
                  <a:srgbClr val="002060"/>
                </a:solidFill>
                <a:latin typeface="+mn-lt"/>
              </a:rPr>
              <a:t>constraint between </a:t>
            </a:r>
            <a:r>
              <a:rPr lang="en-GB" sz="1600" dirty="0">
                <a:solidFill>
                  <a:srgbClr val="002060"/>
                </a:solidFill>
                <a:latin typeface="+mn-lt"/>
              </a:rPr>
              <a:t>PK and FK)</a:t>
            </a:r>
          </a:p>
          <a:p>
            <a:pPr marL="177800" indent="-177800">
              <a:buFont typeface="Courier New" panose="02070309020205020404" pitchFamily="49" charset="0"/>
              <a:buChar char="o"/>
              <a:defRPr/>
            </a:pPr>
            <a:r>
              <a:rPr lang="en-GB" sz="1600" dirty="0">
                <a:solidFill>
                  <a:srgbClr val="002060"/>
                </a:solidFill>
                <a:latin typeface="+mn-lt"/>
              </a:rPr>
              <a:t>(Cascaded deletion by the imposed referential constraint)</a:t>
            </a:r>
            <a:endParaRPr lang="en-US" sz="1600" dirty="0">
              <a:solidFill>
                <a:srgbClr val="002060"/>
              </a:solidFill>
              <a:latin typeface="+mn-lt"/>
            </a:endParaRPr>
          </a:p>
        </p:txBody>
      </p:sp>
      <p:pic>
        <p:nvPicPr>
          <p:cNvPr id="7" name="Picture 1745" descr="DS3-Figure 13-0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0" y="2209800"/>
            <a:ext cx="7513638"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Oval 1756"/>
          <p:cNvSpPr>
            <a:spLocks noChangeArrowheads="1"/>
          </p:cNvSpPr>
          <p:nvPr/>
        </p:nvSpPr>
        <p:spPr bwMode="auto">
          <a:xfrm>
            <a:off x="762000" y="4127500"/>
            <a:ext cx="7344000" cy="252413"/>
          </a:xfrm>
          <a:prstGeom prst="roundRect">
            <a:avLst>
              <a:gd name="adj" fmla="val 16667"/>
            </a:avLst>
          </a:prstGeom>
          <a:noFill/>
          <a:ln w="28575">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en-US" altLang="en-US" sz="1800">
              <a:latin typeface="Arial" charset="0"/>
            </a:endParaRPr>
          </a:p>
        </p:txBody>
      </p:sp>
      <p:sp>
        <p:nvSpPr>
          <p:cNvPr id="9" name="Rectangle 10"/>
          <p:cNvSpPr>
            <a:spLocks noChangeArrowheads="1"/>
          </p:cNvSpPr>
          <p:nvPr/>
        </p:nvSpPr>
        <p:spPr bwMode="auto">
          <a:xfrm>
            <a:off x="755195" y="5257800"/>
            <a:ext cx="7546975" cy="688256"/>
          </a:xfrm>
          <a:prstGeom prst="rect">
            <a:avLst/>
          </a:prstGeom>
          <a:noFill/>
          <a:ln w="9525">
            <a:noFill/>
            <a:miter lim="800000"/>
            <a:headEnd/>
            <a:tailEnd/>
          </a:ln>
        </p:spPr>
        <p:txBody>
          <a:bodyPr wrap="square" lIns="36000" tIns="36000" rIns="36000" bIns="36000">
            <a:spAutoFit/>
          </a:bodyPr>
          <a:lstStyle/>
          <a:p>
            <a:pPr>
              <a:spcBef>
                <a:spcPts val="0"/>
              </a:spcBef>
              <a:spcAft>
                <a:spcPts val="0"/>
              </a:spcAft>
              <a:defRPr/>
            </a:pPr>
            <a:r>
              <a:rPr lang="en-US" sz="2000" dirty="0" smtClean="0">
                <a:solidFill>
                  <a:srgbClr val="FF0000"/>
                </a:solidFill>
                <a:latin typeface="+mn-lt"/>
              </a:rPr>
              <a:t>There is only one record (SA9) with </a:t>
            </a:r>
            <a:r>
              <a:rPr lang="en-US" sz="2000" dirty="0" err="1" smtClean="0">
                <a:solidFill>
                  <a:srgbClr val="FF0000"/>
                </a:solidFill>
                <a:latin typeface="+mn-lt"/>
              </a:rPr>
              <a:t>branchNo</a:t>
            </a:r>
            <a:r>
              <a:rPr lang="en-US" sz="2000" dirty="0" smtClean="0">
                <a:solidFill>
                  <a:srgbClr val="FF0000"/>
                </a:solidFill>
                <a:latin typeface="+mn-lt"/>
              </a:rPr>
              <a:t> B007, deleting that record shall lose all relevant data for Branch B007 from the table.</a:t>
            </a:r>
            <a:r>
              <a:rPr lang="en-US" sz="2000" dirty="0" smtClean="0">
                <a:solidFill>
                  <a:srgbClr val="002060"/>
                </a:solidFill>
                <a:latin typeface="+mn-lt"/>
              </a:rPr>
              <a:t> </a:t>
            </a:r>
            <a:endParaRPr lang="en-US" sz="2000" dirty="0">
              <a:solidFill>
                <a:srgbClr val="002060"/>
              </a:solidFill>
              <a:latin typeface="+mn-lt"/>
            </a:endParaRPr>
          </a:p>
        </p:txBody>
      </p:sp>
    </p:spTree>
    <p:extLst>
      <p:ext uri="{BB962C8B-B14F-4D97-AF65-F5344CB8AC3E}">
        <p14:creationId xmlns:p14="http://schemas.microsoft.com/office/powerpoint/2010/main" val="2685734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Title 1"/>
          <p:cNvSpPr>
            <a:spLocks noGrp="1"/>
          </p:cNvSpPr>
          <p:nvPr>
            <p:ph type="ctrTitle" idx="4294967295"/>
          </p:nvPr>
        </p:nvSpPr>
        <p:spPr>
          <a:xfrm>
            <a:off x="669925" y="228600"/>
            <a:ext cx="7516087" cy="565146"/>
          </a:xfrm>
        </p:spPr>
        <p:txBody>
          <a:bodyPr wrap="none" lIns="36000" tIns="36000" rIns="36000" bIns="36000" anchor="t">
            <a:spAutoFit/>
          </a:bodyPr>
          <a:lstStyle/>
          <a:p>
            <a:pPr algn="l" eaLnBrk="1" hangingPunct="1">
              <a:defRPr/>
            </a:pPr>
            <a:r>
              <a:rPr lang="en-GB" sz="3200" b="1" dirty="0" smtClean="0">
                <a:solidFill>
                  <a:srgbClr val="C00000"/>
                </a:solidFill>
                <a:latin typeface="+mn-lt"/>
              </a:rPr>
              <a:t>How did Normalization solve this problem? </a:t>
            </a:r>
            <a:endParaRPr lang="en-US" sz="3200" b="1" dirty="0" smtClean="0">
              <a:solidFill>
                <a:srgbClr val="C00000"/>
              </a:solidFill>
              <a:latin typeface="+mn-lt"/>
            </a:endParaRPr>
          </a:p>
        </p:txBody>
      </p:sp>
      <p:pic>
        <p:nvPicPr>
          <p:cNvPr id="15363" name="Picture 1759" descr="DS3-Figure 13-01"/>
          <p:cNvPicPr>
            <a:picLocks noChangeAspect="1" noChangeArrowheads="1"/>
          </p:cNvPicPr>
          <p:nvPr/>
        </p:nvPicPr>
        <p:blipFill>
          <a:blip r:embed="rId2" cstate="print">
            <a:extLst>
              <a:ext uri="{28A0092B-C50C-407E-A947-70E740481C1C}">
                <a14:useLocalDpi xmlns:a14="http://schemas.microsoft.com/office/drawing/2010/main" val="0"/>
              </a:ext>
            </a:extLst>
          </a:blip>
          <a:srcRect b="42194"/>
          <a:stretch>
            <a:fillRect/>
          </a:stretch>
        </p:blipFill>
        <p:spPr bwMode="auto">
          <a:xfrm>
            <a:off x="533400" y="4264025"/>
            <a:ext cx="4724400" cy="259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4" name="Picture 1760" descr="DS3-Figure 13-01"/>
          <p:cNvPicPr>
            <a:picLocks noChangeAspect="1" noChangeArrowheads="1"/>
          </p:cNvPicPr>
          <p:nvPr/>
        </p:nvPicPr>
        <p:blipFill>
          <a:blip r:embed="rId3" cstate="print">
            <a:extLst>
              <a:ext uri="{28A0092B-C50C-407E-A947-70E740481C1C}">
                <a14:useLocalDpi xmlns:a14="http://schemas.microsoft.com/office/drawing/2010/main" val="0"/>
              </a:ext>
            </a:extLst>
          </a:blip>
          <a:srcRect l="-2" t="60507" r="38515"/>
          <a:stretch>
            <a:fillRect/>
          </a:stretch>
        </p:blipFill>
        <p:spPr bwMode="auto">
          <a:xfrm>
            <a:off x="5562600" y="4645025"/>
            <a:ext cx="3041650" cy="213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2" name="Text Box 1758"/>
          <p:cNvSpPr txBox="1">
            <a:spLocks noChangeArrowheads="1"/>
          </p:cNvSpPr>
          <p:nvPr/>
        </p:nvSpPr>
        <p:spPr bwMode="auto">
          <a:xfrm>
            <a:off x="1162050" y="4162425"/>
            <a:ext cx="2724150" cy="338138"/>
          </a:xfrm>
          <a:prstGeom prst="rect">
            <a:avLst/>
          </a:prstGeom>
          <a:solidFill>
            <a:srgbClr val="FFFFCC"/>
          </a:solidFill>
          <a:ln w="9525">
            <a:noFill/>
            <a:miter lim="800000"/>
            <a:headEnd/>
            <a:tailEnd/>
          </a:ln>
        </p:spPr>
        <p:txBody>
          <a:bodyPr wrap="none" lIns="46800" rIns="46800">
            <a:spAutoFit/>
          </a:bodyPr>
          <a:lstStyle/>
          <a:p>
            <a:pPr algn="ctr" defTabSz="762000">
              <a:spcBef>
                <a:spcPct val="50000"/>
              </a:spcBef>
              <a:defRPr/>
            </a:pPr>
            <a:r>
              <a:rPr lang="en-US" altLang="zh-SG" sz="1600" dirty="0">
                <a:latin typeface="+mn-lt"/>
              </a:rPr>
              <a:t>Figure 2 – Normalized Relations</a:t>
            </a:r>
            <a:endParaRPr lang="en-US" sz="1600" dirty="0">
              <a:latin typeface="+mn-lt"/>
            </a:endParaRPr>
          </a:p>
        </p:txBody>
      </p:sp>
      <p:pic>
        <p:nvPicPr>
          <p:cNvPr id="17414" name="Picture 1745" descr="DS3-Figure 13-0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2000" y="990600"/>
            <a:ext cx="5715000" cy="2260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1758"/>
          <p:cNvSpPr txBox="1">
            <a:spLocks noChangeArrowheads="1"/>
          </p:cNvSpPr>
          <p:nvPr/>
        </p:nvSpPr>
        <p:spPr bwMode="auto">
          <a:xfrm>
            <a:off x="1981200" y="914400"/>
            <a:ext cx="3636963" cy="369888"/>
          </a:xfrm>
          <a:prstGeom prst="rect">
            <a:avLst/>
          </a:prstGeom>
          <a:solidFill>
            <a:srgbClr val="FFFFCC"/>
          </a:solidFill>
          <a:ln w="9525">
            <a:noFill/>
            <a:miter lim="800000"/>
            <a:headEnd/>
            <a:tailEnd/>
          </a:ln>
        </p:spPr>
        <p:txBody>
          <a:bodyPr wrap="none">
            <a:spAutoFit/>
          </a:bodyPr>
          <a:lstStyle/>
          <a:p>
            <a:pPr algn="ctr" defTabSz="762000">
              <a:spcBef>
                <a:spcPct val="50000"/>
              </a:spcBef>
              <a:defRPr/>
            </a:pPr>
            <a:r>
              <a:rPr lang="en-US" altLang="zh-SG" dirty="0">
                <a:latin typeface="+mn-lt"/>
              </a:rPr>
              <a:t>Figure 1 – An un-Normalized relation</a:t>
            </a:r>
            <a:endParaRPr lang="en-US" dirty="0">
              <a:latin typeface="+mn-lt"/>
            </a:endParaRPr>
          </a:p>
        </p:txBody>
      </p:sp>
      <p:sp>
        <p:nvSpPr>
          <p:cNvPr id="9221" name="Rectangle 10"/>
          <p:cNvSpPr>
            <a:spLocks noChangeArrowheads="1"/>
          </p:cNvSpPr>
          <p:nvPr/>
        </p:nvSpPr>
        <p:spPr bwMode="auto">
          <a:xfrm>
            <a:off x="478746" y="3381121"/>
            <a:ext cx="8305800" cy="657479"/>
          </a:xfrm>
          <a:prstGeom prst="rect">
            <a:avLst/>
          </a:prstGeom>
          <a:noFill/>
          <a:ln w="9525">
            <a:noFill/>
            <a:miter lim="800000"/>
            <a:headEnd/>
            <a:tailEnd/>
          </a:ln>
        </p:spPr>
        <p:txBody>
          <a:bodyPr lIns="36000" tIns="36000" rIns="36000" bIns="36000">
            <a:spAutoFit/>
          </a:bodyPr>
          <a:lstStyle/>
          <a:p>
            <a:pPr>
              <a:defRPr/>
            </a:pPr>
            <a:r>
              <a:rPr lang="en-US" sz="2000" b="1" dirty="0">
                <a:latin typeface="+mn-lt"/>
              </a:rPr>
              <a:t>After</a:t>
            </a:r>
            <a:r>
              <a:rPr lang="en-US" dirty="0">
                <a:solidFill>
                  <a:srgbClr val="C00000"/>
                </a:solidFill>
                <a:latin typeface="+mn-lt"/>
              </a:rPr>
              <a:t> adopting Normalization technique, it </a:t>
            </a:r>
            <a:r>
              <a:rPr lang="en-US" dirty="0" smtClean="0">
                <a:solidFill>
                  <a:srgbClr val="C00000"/>
                </a:solidFill>
                <a:latin typeface="+mn-lt"/>
              </a:rPr>
              <a:t>splits </a:t>
            </a:r>
            <a:r>
              <a:rPr lang="en-US" dirty="0">
                <a:solidFill>
                  <a:srgbClr val="C00000"/>
                </a:solidFill>
                <a:latin typeface="+mn-lt"/>
              </a:rPr>
              <a:t>an un-normalized relation into two separate relations with </a:t>
            </a:r>
            <a:r>
              <a:rPr lang="en-US" dirty="0" smtClean="0">
                <a:solidFill>
                  <a:srgbClr val="C00000"/>
                </a:solidFill>
                <a:latin typeface="+mn-lt"/>
              </a:rPr>
              <a:t>removed anomalies and with no data redundant. All insertion,</a:t>
            </a:r>
            <a:endParaRPr lang="en-US" dirty="0">
              <a:solidFill>
                <a:srgbClr val="C00000"/>
              </a:solidFill>
              <a:latin typeface="+mn-lt"/>
            </a:endParaRPr>
          </a:p>
        </p:txBody>
      </p:sp>
      <p:sp>
        <p:nvSpPr>
          <p:cNvPr id="9" name="Down Arrow 8"/>
          <p:cNvSpPr/>
          <p:nvPr/>
        </p:nvSpPr>
        <p:spPr>
          <a:xfrm>
            <a:off x="3695588" y="3149346"/>
            <a:ext cx="863600" cy="238125"/>
          </a:xfrm>
          <a:prstGeom prst="downArrow">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SG"/>
          </a:p>
        </p:txBody>
      </p:sp>
      <p:cxnSp>
        <p:nvCxnSpPr>
          <p:cNvPr id="3" name="Straight Connector 2"/>
          <p:cNvCxnSpPr/>
          <p:nvPr/>
        </p:nvCxnSpPr>
        <p:spPr>
          <a:xfrm>
            <a:off x="522288" y="3305628"/>
            <a:ext cx="8081962"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5221514" y="3925669"/>
            <a:ext cx="3996000" cy="646331"/>
          </a:xfrm>
          <a:prstGeom prst="rect">
            <a:avLst/>
          </a:prstGeom>
        </p:spPr>
        <p:txBody>
          <a:bodyPr lIns="36000" tIns="36000" rIns="36000" bIns="36000">
            <a:spAutoFit/>
          </a:bodyPr>
          <a:lstStyle/>
          <a:p>
            <a:r>
              <a:rPr lang="en-US" altLang="en-US" dirty="0" smtClean="0">
                <a:solidFill>
                  <a:srgbClr val="C00000"/>
                </a:solidFill>
                <a:latin typeface="Calibri" panose="020F0502020204030204" pitchFamily="34" charset="0"/>
              </a:rPr>
              <a:t>update or deletion of data, it needs to be done at ONLY ONE </a:t>
            </a:r>
            <a:r>
              <a:rPr lang="en-US" altLang="en-US" dirty="0">
                <a:solidFill>
                  <a:srgbClr val="C00000"/>
                </a:solidFill>
                <a:latin typeface="Calibri" panose="020F0502020204030204" pitchFamily="34" charset="0"/>
              </a:rPr>
              <a:t>PLACE in the database</a:t>
            </a:r>
            <a:endParaRPr lang="en-US" dirty="0">
              <a:latin typeface="Calibri" panose="020F0502020204030204" pitchFamily="34" charset="0"/>
            </a:endParaRPr>
          </a:p>
        </p:txBody>
      </p:sp>
      <p:sp>
        <p:nvSpPr>
          <p:cNvPr id="12" name="Rectangle 10"/>
          <p:cNvSpPr>
            <a:spLocks noChangeArrowheads="1"/>
          </p:cNvSpPr>
          <p:nvPr/>
        </p:nvSpPr>
        <p:spPr bwMode="auto">
          <a:xfrm>
            <a:off x="6693931" y="1925617"/>
            <a:ext cx="778987" cy="380480"/>
          </a:xfrm>
          <a:prstGeom prst="rect">
            <a:avLst/>
          </a:prstGeom>
          <a:noFill/>
          <a:ln w="9525">
            <a:noFill/>
            <a:miter lim="800000"/>
            <a:headEnd/>
            <a:tailEnd/>
          </a:ln>
        </p:spPr>
        <p:txBody>
          <a:bodyPr wrap="none" lIns="36000" tIns="36000" rIns="36000" bIns="36000">
            <a:spAutoFit/>
          </a:bodyPr>
          <a:lstStyle/>
          <a:p>
            <a:pPr>
              <a:defRPr/>
            </a:pPr>
            <a:r>
              <a:rPr lang="en-US" sz="2000" b="1" dirty="0" smtClean="0">
                <a:latin typeface="+mn-lt"/>
              </a:rPr>
              <a:t>Before</a:t>
            </a:r>
            <a:endParaRPr lang="en-US" sz="2000" dirty="0">
              <a:solidFill>
                <a:srgbClr val="C00000"/>
              </a:solidFill>
              <a:latin typeface="+mn-lt"/>
            </a:endParaRPr>
          </a:p>
        </p:txBody>
      </p:sp>
    </p:spTree>
    <p:extLst>
      <p:ext uri="{BB962C8B-B14F-4D97-AF65-F5344CB8AC3E}">
        <p14:creationId xmlns:p14="http://schemas.microsoft.com/office/powerpoint/2010/main" val="21520691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221"/>
                                        </p:tgtEl>
                                        <p:attrNameLst>
                                          <p:attrName>style.visibility</p:attrName>
                                        </p:attrNameLst>
                                      </p:cBhvr>
                                      <p:to>
                                        <p:strVal val="visible"/>
                                      </p:to>
                                    </p:set>
                                    <p:animEffect transition="in" filter="wipe(left)">
                                      <p:cBhvr>
                                        <p:cTn id="11" dur="500"/>
                                        <p:tgtEl>
                                          <p:spTgt spid="9221"/>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9222"/>
                                        </p:tgtEl>
                                        <p:attrNameLst>
                                          <p:attrName>style.visibility</p:attrName>
                                        </p:attrNameLst>
                                      </p:cBhvr>
                                      <p:to>
                                        <p:strVal val="visible"/>
                                      </p:to>
                                    </p:set>
                                    <p:animEffect transition="in" filter="wipe(left)">
                                      <p:cBhvr>
                                        <p:cTn id="20" dur="500"/>
                                        <p:tgtEl>
                                          <p:spTgt spid="9222"/>
                                        </p:tgtEl>
                                      </p:cBhvr>
                                    </p:animEffect>
                                  </p:childTnLst>
                                </p:cTn>
                              </p:par>
                            </p:childTnLst>
                          </p:cTn>
                        </p:par>
                        <p:par>
                          <p:cTn id="21" fill="hold">
                            <p:stCondLst>
                              <p:cond delay="500"/>
                            </p:stCondLst>
                            <p:childTnLst>
                              <p:par>
                                <p:cTn id="22" presetID="22" presetClass="entr" presetSubtype="8" fill="hold" nodeType="afterEffect">
                                  <p:stCondLst>
                                    <p:cond delay="500"/>
                                  </p:stCondLst>
                                  <p:childTnLst>
                                    <p:set>
                                      <p:cBhvr>
                                        <p:cTn id="23" dur="1" fill="hold">
                                          <p:stCondLst>
                                            <p:cond delay="0"/>
                                          </p:stCondLst>
                                        </p:cTn>
                                        <p:tgtEl>
                                          <p:spTgt spid="15363"/>
                                        </p:tgtEl>
                                        <p:attrNameLst>
                                          <p:attrName>style.visibility</p:attrName>
                                        </p:attrNameLst>
                                      </p:cBhvr>
                                      <p:to>
                                        <p:strVal val="visible"/>
                                      </p:to>
                                    </p:set>
                                    <p:animEffect transition="in" filter="wipe(left)">
                                      <p:cBhvr>
                                        <p:cTn id="24" dur="1000"/>
                                        <p:tgtEl>
                                          <p:spTgt spid="15363"/>
                                        </p:tgtEl>
                                      </p:cBhvr>
                                    </p:animEffect>
                                  </p:childTnLst>
                                </p:cTn>
                              </p:par>
                            </p:childTnLst>
                          </p:cTn>
                        </p:par>
                        <p:par>
                          <p:cTn id="25" fill="hold">
                            <p:stCondLst>
                              <p:cond delay="2000"/>
                            </p:stCondLst>
                            <p:childTnLst>
                              <p:par>
                                <p:cTn id="26" presetID="22" presetClass="entr" presetSubtype="8" fill="hold" nodeType="afterEffect">
                                  <p:stCondLst>
                                    <p:cond delay="0"/>
                                  </p:stCondLst>
                                  <p:childTnLst>
                                    <p:set>
                                      <p:cBhvr>
                                        <p:cTn id="27" dur="1" fill="hold">
                                          <p:stCondLst>
                                            <p:cond delay="0"/>
                                          </p:stCondLst>
                                        </p:cTn>
                                        <p:tgtEl>
                                          <p:spTgt spid="15364"/>
                                        </p:tgtEl>
                                        <p:attrNameLst>
                                          <p:attrName>style.visibility</p:attrName>
                                        </p:attrNameLst>
                                      </p:cBhvr>
                                      <p:to>
                                        <p:strVal val="visible"/>
                                      </p:to>
                                    </p:set>
                                    <p:animEffect transition="in" filter="wipe(left)">
                                      <p:cBhvr>
                                        <p:cTn id="28" dur="1000"/>
                                        <p:tgtEl>
                                          <p:spTgt spid="153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2" grpId="0" animBg="1"/>
      <p:bldP spid="9221" grpId="0"/>
      <p:bldP spid="9" grpId="0" animBg="1"/>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194" name="Title 1"/>
          <p:cNvSpPr>
            <a:spLocks noGrp="1"/>
          </p:cNvSpPr>
          <p:nvPr>
            <p:ph type="ctrTitle" idx="4294967295"/>
          </p:nvPr>
        </p:nvSpPr>
        <p:spPr>
          <a:xfrm>
            <a:off x="685800" y="346075"/>
            <a:ext cx="3140075" cy="565150"/>
          </a:xfrm>
        </p:spPr>
        <p:txBody>
          <a:bodyPr wrap="none" lIns="36000" tIns="36000" rIns="36000" bIns="36000" anchor="t">
            <a:spAutoFit/>
          </a:bodyPr>
          <a:lstStyle/>
          <a:p>
            <a:pPr algn="l" eaLnBrk="1" hangingPunct="1">
              <a:defRPr/>
            </a:pPr>
            <a:r>
              <a:rPr lang="en-GB" sz="3200" b="1" dirty="0" smtClean="0">
                <a:solidFill>
                  <a:srgbClr val="C00000"/>
                </a:solidFill>
                <a:latin typeface="+mn-lt"/>
              </a:rPr>
              <a:t>Deletion Anomaly</a:t>
            </a:r>
            <a:endParaRPr lang="en-US" sz="3200" b="1" dirty="0" smtClean="0">
              <a:solidFill>
                <a:srgbClr val="C00000"/>
              </a:solidFill>
              <a:latin typeface="+mn-lt"/>
            </a:endParaRPr>
          </a:p>
        </p:txBody>
      </p:sp>
      <p:pic>
        <p:nvPicPr>
          <p:cNvPr id="16387" name="Picture 1745" descr="DS3-Figure 13-0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5800" y="1447800"/>
            <a:ext cx="7513638"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1" name="Text Box 1757"/>
          <p:cNvSpPr txBox="1">
            <a:spLocks noChangeArrowheads="1"/>
          </p:cNvSpPr>
          <p:nvPr/>
        </p:nvSpPr>
        <p:spPr bwMode="auto">
          <a:xfrm>
            <a:off x="2438400" y="1546225"/>
            <a:ext cx="4103688" cy="366713"/>
          </a:xfrm>
          <a:prstGeom prst="rect">
            <a:avLst/>
          </a:prstGeom>
          <a:noFill/>
          <a:ln w="9525">
            <a:noFill/>
            <a:miter lim="800000"/>
            <a:headEnd/>
            <a:tailEnd/>
          </a:ln>
        </p:spPr>
        <p:txBody>
          <a:bodyPr>
            <a:spAutoFit/>
          </a:bodyPr>
          <a:lstStyle/>
          <a:p>
            <a:pPr algn="ctr" defTabSz="762000">
              <a:spcBef>
                <a:spcPct val="50000"/>
              </a:spcBef>
              <a:defRPr/>
            </a:pPr>
            <a:r>
              <a:rPr lang="en-US" altLang="zh-SG" dirty="0">
                <a:latin typeface="+mn-lt"/>
              </a:rPr>
              <a:t>Figure 1- Table with redundant data</a:t>
            </a:r>
            <a:endParaRPr lang="en-US" dirty="0">
              <a:latin typeface="+mn-lt"/>
            </a:endParaRPr>
          </a:p>
        </p:txBody>
      </p:sp>
      <p:sp>
        <p:nvSpPr>
          <p:cNvPr id="16389" name="Oval 1756"/>
          <p:cNvSpPr>
            <a:spLocks noChangeArrowheads="1"/>
          </p:cNvSpPr>
          <p:nvPr/>
        </p:nvSpPr>
        <p:spPr bwMode="auto">
          <a:xfrm>
            <a:off x="4903788" y="3365500"/>
            <a:ext cx="3024187" cy="252413"/>
          </a:xfrm>
          <a:prstGeom prst="roundRect">
            <a:avLst>
              <a:gd name="adj" fmla="val 16667"/>
            </a:avLst>
          </a:prstGeom>
          <a:noFill/>
          <a:ln w="28575">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en-US" altLang="en-US" sz="1800">
              <a:latin typeface="Arial" charset="0"/>
            </a:endParaRPr>
          </a:p>
        </p:txBody>
      </p:sp>
      <p:sp>
        <p:nvSpPr>
          <p:cNvPr id="10" name="TextBox 9"/>
          <p:cNvSpPr txBox="1"/>
          <p:nvPr/>
        </p:nvSpPr>
        <p:spPr>
          <a:xfrm>
            <a:off x="642938" y="990600"/>
            <a:ext cx="6629400" cy="441325"/>
          </a:xfrm>
          <a:prstGeom prst="rect">
            <a:avLst/>
          </a:prstGeom>
          <a:noFill/>
          <a:ln>
            <a:noFill/>
          </a:ln>
        </p:spPr>
        <p:txBody>
          <a:bodyPr wrap="none" lIns="36000" tIns="36000" rIns="36000" bIns="36000">
            <a:spAutoFit/>
          </a:bodyPr>
          <a:lstStyle/>
          <a:p>
            <a:pPr>
              <a:defRPr/>
            </a:pPr>
            <a:r>
              <a:rPr lang="en-GB" sz="2400" dirty="0">
                <a:latin typeface="+mn-lt"/>
              </a:rPr>
              <a:t>In this example, deletion anomaly shall occur when:</a:t>
            </a:r>
            <a:endParaRPr lang="en-US" sz="2400" dirty="0">
              <a:latin typeface="+mn-lt"/>
            </a:endParaRPr>
          </a:p>
        </p:txBody>
      </p:sp>
      <p:sp>
        <p:nvSpPr>
          <p:cNvPr id="6" name="Right Arrow 5"/>
          <p:cNvSpPr/>
          <p:nvPr/>
        </p:nvSpPr>
        <p:spPr>
          <a:xfrm>
            <a:off x="381000" y="3429000"/>
            <a:ext cx="432000" cy="144000"/>
          </a:xfrm>
          <a:prstGeom prst="rightArrow">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SG"/>
          </a:p>
        </p:txBody>
      </p:sp>
      <p:sp>
        <p:nvSpPr>
          <p:cNvPr id="11" name="Right Brace 10"/>
          <p:cNvSpPr/>
          <p:nvPr/>
        </p:nvSpPr>
        <p:spPr>
          <a:xfrm>
            <a:off x="8002588" y="3475038"/>
            <a:ext cx="227012" cy="2664000"/>
          </a:xfrm>
          <a:prstGeom prst="rightBrace">
            <a:avLst/>
          </a:prstGeom>
          <a:ln w="38100"/>
        </p:spPr>
        <p:style>
          <a:lnRef idx="1">
            <a:schemeClr val="accent2"/>
          </a:lnRef>
          <a:fillRef idx="0">
            <a:schemeClr val="accent2"/>
          </a:fillRef>
          <a:effectRef idx="0">
            <a:schemeClr val="accent2"/>
          </a:effectRef>
          <a:fontRef idx="minor">
            <a:schemeClr val="tx1"/>
          </a:fontRef>
        </p:style>
        <p:txBody>
          <a:bodyPr anchor="ctr"/>
          <a:lstStyle/>
          <a:p>
            <a:pPr algn="ctr">
              <a:defRPr/>
            </a:pPr>
            <a:endParaRPr lang="en-SG"/>
          </a:p>
        </p:txBody>
      </p:sp>
      <p:sp>
        <p:nvSpPr>
          <p:cNvPr id="14" name="Rectangle 10"/>
          <p:cNvSpPr>
            <a:spLocks noChangeArrowheads="1"/>
          </p:cNvSpPr>
          <p:nvPr/>
        </p:nvSpPr>
        <p:spPr bwMode="auto">
          <a:xfrm>
            <a:off x="380999" y="4433887"/>
            <a:ext cx="7546975" cy="595923"/>
          </a:xfrm>
          <a:prstGeom prst="rect">
            <a:avLst/>
          </a:prstGeom>
          <a:noFill/>
          <a:ln w="9525">
            <a:noFill/>
            <a:miter lim="800000"/>
            <a:headEnd/>
            <a:tailEnd/>
          </a:ln>
        </p:spPr>
        <p:txBody>
          <a:bodyPr wrap="square" lIns="36000" tIns="36000" rIns="36000" bIns="36000">
            <a:spAutoFit/>
          </a:bodyPr>
          <a:lstStyle/>
          <a:p>
            <a:pPr>
              <a:spcBef>
                <a:spcPts val="0"/>
              </a:spcBef>
              <a:spcAft>
                <a:spcPts val="0"/>
              </a:spcAft>
              <a:defRPr/>
            </a:pPr>
            <a:r>
              <a:rPr lang="en-US" dirty="0">
                <a:solidFill>
                  <a:srgbClr val="FF0000"/>
                </a:solidFill>
                <a:latin typeface="+mn-lt"/>
              </a:rPr>
              <a:t>(</a:t>
            </a:r>
            <a:r>
              <a:rPr lang="en-US" dirty="0" smtClean="0">
                <a:solidFill>
                  <a:srgbClr val="FF0000"/>
                </a:solidFill>
                <a:latin typeface="+mn-lt"/>
              </a:rPr>
              <a:t>Delete Branch B007 leads </a:t>
            </a:r>
            <a:r>
              <a:rPr lang="en-US" dirty="0">
                <a:solidFill>
                  <a:srgbClr val="FF0000"/>
                </a:solidFill>
                <a:latin typeface="+mn-lt"/>
              </a:rPr>
              <a:t>to un-intended </a:t>
            </a:r>
            <a:r>
              <a:rPr lang="en-US" dirty="0" smtClean="0">
                <a:solidFill>
                  <a:srgbClr val="FF0000"/>
                </a:solidFill>
                <a:latin typeface="+mn-lt"/>
              </a:rPr>
              <a:t>deletion </a:t>
            </a:r>
            <a:r>
              <a:rPr lang="en-US" dirty="0">
                <a:solidFill>
                  <a:srgbClr val="FF0000"/>
                </a:solidFill>
                <a:latin typeface="+mn-lt"/>
              </a:rPr>
              <a:t>of </a:t>
            </a:r>
            <a:r>
              <a:rPr lang="en-US" dirty="0" smtClean="0">
                <a:solidFill>
                  <a:srgbClr val="FF0000"/>
                </a:solidFill>
                <a:latin typeface="+mn-lt"/>
              </a:rPr>
              <a:t>the only </a:t>
            </a:r>
            <a:r>
              <a:rPr lang="en-US" dirty="0">
                <a:solidFill>
                  <a:srgbClr val="FF0000"/>
                </a:solidFill>
                <a:latin typeface="+mn-lt"/>
              </a:rPr>
              <a:t>existing </a:t>
            </a:r>
            <a:r>
              <a:rPr lang="en-US" dirty="0" smtClean="0">
                <a:solidFill>
                  <a:srgbClr val="FF0000"/>
                </a:solidFill>
                <a:latin typeface="+mn-lt"/>
              </a:rPr>
              <a:t>record ) : </a:t>
            </a:r>
            <a:r>
              <a:rPr lang="en-US" sz="1600" dirty="0" err="1" smtClean="0">
                <a:solidFill>
                  <a:srgbClr val="002060"/>
                </a:solidFill>
                <a:latin typeface="+mn-lt"/>
              </a:rPr>
              <a:t>staffNo</a:t>
            </a:r>
            <a:r>
              <a:rPr lang="en-US" sz="1600" dirty="0" smtClean="0">
                <a:solidFill>
                  <a:srgbClr val="002060"/>
                </a:solidFill>
                <a:latin typeface="+mn-lt"/>
              </a:rPr>
              <a:t> – ‘SA9’ </a:t>
            </a:r>
            <a:endParaRPr lang="en-US" sz="1600" dirty="0">
              <a:solidFill>
                <a:srgbClr val="002060"/>
              </a:solidFill>
              <a:latin typeface="+mn-lt"/>
            </a:endParaRPr>
          </a:p>
        </p:txBody>
      </p:sp>
      <p:graphicFrame>
        <p:nvGraphicFramePr>
          <p:cNvPr id="15" name="Table 14"/>
          <p:cNvGraphicFramePr>
            <a:graphicFrameLocks noGrp="1"/>
          </p:cNvGraphicFramePr>
          <p:nvPr>
            <p:extLst/>
          </p:nvPr>
        </p:nvGraphicFramePr>
        <p:xfrm>
          <a:off x="762000" y="5045076"/>
          <a:ext cx="7239000" cy="1812924"/>
        </p:xfrm>
        <a:graphic>
          <a:graphicData uri="http://schemas.openxmlformats.org/drawingml/2006/table">
            <a:tbl>
              <a:tblPr firstRow="1" bandRow="1">
                <a:tableStyleId>{22838BEF-8BB2-4498-84A7-C5851F593DF1}</a:tableStyleId>
              </a:tblPr>
              <a:tblGrid>
                <a:gridCol w="10668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2057400">
                  <a:extLst>
                    <a:ext uri="{9D8B030D-6E8A-4147-A177-3AD203B41FA5}">
                      <a16:colId xmlns:a16="http://schemas.microsoft.com/office/drawing/2014/main" val="20005"/>
                    </a:ext>
                  </a:extLst>
                </a:gridCol>
              </a:tblGrid>
              <a:tr h="302154">
                <a:tc>
                  <a:txBody>
                    <a:bodyPr/>
                    <a:lstStyle/>
                    <a:p>
                      <a:r>
                        <a:rPr lang="en-GB" sz="1400" b="0" dirty="0" smtClean="0"/>
                        <a:t>SL21</a:t>
                      </a:r>
                      <a:endParaRPr lang="en-SG" sz="1400" b="0" dirty="0"/>
                    </a:p>
                  </a:txBody>
                  <a:tcPr marR="36000" marT="45733" marB="10803"/>
                </a:tc>
                <a:tc>
                  <a:txBody>
                    <a:bodyPr/>
                    <a:lstStyle/>
                    <a:p>
                      <a:r>
                        <a:rPr lang="en-GB" sz="1400" b="0" baseline="0" dirty="0" smtClean="0"/>
                        <a:t>John White</a:t>
                      </a:r>
                      <a:endParaRPr lang="en-SG" sz="1400" b="0" dirty="0"/>
                    </a:p>
                  </a:txBody>
                  <a:tcPr marR="36000" marT="45733" marB="10803"/>
                </a:tc>
                <a:tc>
                  <a:txBody>
                    <a:bodyPr/>
                    <a:lstStyle/>
                    <a:p>
                      <a:r>
                        <a:rPr lang="en-GB" sz="1400" b="0" dirty="0" smtClean="0"/>
                        <a:t>Manager</a:t>
                      </a:r>
                      <a:endParaRPr lang="en-SG" sz="1400" b="0" dirty="0"/>
                    </a:p>
                  </a:txBody>
                  <a:tcPr marR="36000" marT="45733" marB="10803"/>
                </a:tc>
                <a:tc>
                  <a:txBody>
                    <a:bodyPr/>
                    <a:lstStyle/>
                    <a:p>
                      <a:r>
                        <a:rPr lang="en-GB" sz="1400" b="0" dirty="0" smtClean="0"/>
                        <a:t>30000</a:t>
                      </a:r>
                      <a:endParaRPr lang="en-SG" sz="1400" b="0" dirty="0"/>
                    </a:p>
                  </a:txBody>
                  <a:tcPr marR="36000" marT="45733" marB="10803"/>
                </a:tc>
                <a:tc>
                  <a:txBody>
                    <a:bodyPr/>
                    <a:lstStyle/>
                    <a:p>
                      <a:r>
                        <a:rPr lang="en-GB" sz="1400" b="0" dirty="0" smtClean="0"/>
                        <a:t>B005</a:t>
                      </a:r>
                      <a:endParaRPr lang="en-SG" sz="1400" b="0" dirty="0">
                        <a:solidFill>
                          <a:srgbClr val="C00000"/>
                        </a:solidFill>
                      </a:endParaRPr>
                    </a:p>
                  </a:txBody>
                  <a:tcPr marR="36000" marT="45733" marB="10803"/>
                </a:tc>
                <a:tc>
                  <a:txBody>
                    <a:bodyPr/>
                    <a:lstStyle/>
                    <a:p>
                      <a:r>
                        <a:rPr lang="en-GB" sz="1400" b="0" baseline="0" dirty="0" smtClean="0"/>
                        <a:t>22 Deer Rd, London</a:t>
                      </a:r>
                      <a:endParaRPr lang="en-SG" sz="1400" b="0" dirty="0">
                        <a:solidFill>
                          <a:srgbClr val="C00000"/>
                        </a:solidFill>
                      </a:endParaRPr>
                    </a:p>
                  </a:txBody>
                  <a:tcPr marR="36000" marT="45733" marB="10803"/>
                </a:tc>
                <a:extLst>
                  <a:ext uri="{0D108BD9-81ED-4DB2-BD59-A6C34878D82A}">
                    <a16:rowId xmlns:a16="http://schemas.microsoft.com/office/drawing/2014/main" val="10000"/>
                  </a:ext>
                </a:extLst>
              </a:tr>
              <a:tr h="302154">
                <a:tc>
                  <a:txBody>
                    <a:bodyPr/>
                    <a:lstStyle/>
                    <a:p>
                      <a:r>
                        <a:rPr lang="en-GB" sz="1400" dirty="0" smtClean="0"/>
                        <a:t>SG37</a:t>
                      </a:r>
                      <a:endParaRPr lang="en-SG" sz="1400" dirty="0"/>
                    </a:p>
                  </a:txBody>
                  <a:tcPr marR="36000" marT="45733" marB="10803"/>
                </a:tc>
                <a:tc>
                  <a:txBody>
                    <a:bodyPr/>
                    <a:lstStyle/>
                    <a:p>
                      <a:r>
                        <a:rPr lang="en-GB" sz="1400" dirty="0" smtClean="0"/>
                        <a:t>Ann</a:t>
                      </a:r>
                      <a:r>
                        <a:rPr lang="en-GB" sz="1400" baseline="0" dirty="0" smtClean="0"/>
                        <a:t> Beech</a:t>
                      </a:r>
                      <a:endParaRPr lang="en-SG" sz="1400" dirty="0"/>
                    </a:p>
                  </a:txBody>
                  <a:tcPr marR="36000" marT="45733" marB="10803"/>
                </a:tc>
                <a:tc>
                  <a:txBody>
                    <a:bodyPr/>
                    <a:lstStyle/>
                    <a:p>
                      <a:r>
                        <a:rPr lang="en-GB" sz="1400" dirty="0" smtClean="0"/>
                        <a:t>Assistant</a:t>
                      </a:r>
                      <a:endParaRPr lang="en-SG" sz="1400" dirty="0"/>
                    </a:p>
                  </a:txBody>
                  <a:tcPr marR="36000" marT="45733" marB="10803"/>
                </a:tc>
                <a:tc>
                  <a:txBody>
                    <a:bodyPr/>
                    <a:lstStyle/>
                    <a:p>
                      <a:r>
                        <a:rPr lang="en-GB" sz="1400" dirty="0" smtClean="0"/>
                        <a:t>12000</a:t>
                      </a:r>
                      <a:endParaRPr lang="en-SG" sz="1400" dirty="0"/>
                    </a:p>
                  </a:txBody>
                  <a:tcPr marR="36000" marT="45733" marB="10803"/>
                </a:tc>
                <a:tc>
                  <a:txBody>
                    <a:bodyPr/>
                    <a:lstStyle/>
                    <a:p>
                      <a:r>
                        <a:rPr lang="en-GB" sz="1400" dirty="0" smtClean="0"/>
                        <a:t>B003</a:t>
                      </a:r>
                      <a:endParaRPr lang="en-SG" sz="1400" dirty="0">
                        <a:solidFill>
                          <a:srgbClr val="C00000"/>
                        </a:solidFill>
                      </a:endParaRPr>
                    </a:p>
                  </a:txBody>
                  <a:tcPr marR="36000" marT="45733" marB="10803"/>
                </a:tc>
                <a:tc>
                  <a:txBody>
                    <a:bodyPr/>
                    <a:lstStyle/>
                    <a:p>
                      <a:r>
                        <a:rPr lang="en-GB" sz="1400" dirty="0" smtClean="0"/>
                        <a:t>163</a:t>
                      </a:r>
                      <a:r>
                        <a:rPr lang="en-GB" sz="1400" baseline="0" dirty="0" smtClean="0"/>
                        <a:t> Main St, Glasgow</a:t>
                      </a:r>
                      <a:endParaRPr lang="en-SG" sz="1400" dirty="0">
                        <a:solidFill>
                          <a:srgbClr val="C00000"/>
                        </a:solidFill>
                      </a:endParaRPr>
                    </a:p>
                  </a:txBody>
                  <a:tcPr marR="36000" marT="45733" marB="10803"/>
                </a:tc>
                <a:extLst>
                  <a:ext uri="{0D108BD9-81ED-4DB2-BD59-A6C34878D82A}">
                    <a16:rowId xmlns:a16="http://schemas.microsoft.com/office/drawing/2014/main" val="10001"/>
                  </a:ext>
                </a:extLst>
              </a:tr>
              <a:tr h="302154">
                <a:tc>
                  <a:txBody>
                    <a:bodyPr/>
                    <a:lstStyle/>
                    <a:p>
                      <a:r>
                        <a:rPr lang="en-GB" sz="1400" dirty="0" smtClean="0"/>
                        <a:t>SG14</a:t>
                      </a:r>
                      <a:endParaRPr lang="en-SG" sz="1400" dirty="0"/>
                    </a:p>
                  </a:txBody>
                  <a:tcPr marR="36000" marT="45733" marB="10803"/>
                </a:tc>
                <a:tc>
                  <a:txBody>
                    <a:bodyPr/>
                    <a:lstStyle/>
                    <a:p>
                      <a:r>
                        <a:rPr lang="en-GB" sz="1400" dirty="0" smtClean="0"/>
                        <a:t>David</a:t>
                      </a:r>
                      <a:r>
                        <a:rPr lang="en-GB" sz="1400" baseline="0" dirty="0" smtClean="0"/>
                        <a:t> Ford</a:t>
                      </a:r>
                      <a:endParaRPr lang="en-SG" sz="1400" dirty="0"/>
                    </a:p>
                  </a:txBody>
                  <a:tcPr marR="36000" marT="45733" marB="10803"/>
                </a:tc>
                <a:tc>
                  <a:txBody>
                    <a:bodyPr/>
                    <a:lstStyle/>
                    <a:p>
                      <a:r>
                        <a:rPr lang="en-GB" sz="1400" dirty="0" smtClean="0"/>
                        <a:t>Supervisor</a:t>
                      </a:r>
                      <a:endParaRPr lang="en-SG" sz="1400" dirty="0"/>
                    </a:p>
                  </a:txBody>
                  <a:tcPr marR="36000" marT="45733" marB="10803"/>
                </a:tc>
                <a:tc>
                  <a:txBody>
                    <a:bodyPr/>
                    <a:lstStyle/>
                    <a:p>
                      <a:r>
                        <a:rPr lang="en-GB" sz="1400" dirty="0" smtClean="0"/>
                        <a:t>18000</a:t>
                      </a:r>
                      <a:endParaRPr lang="en-SG" sz="1400" dirty="0"/>
                    </a:p>
                  </a:txBody>
                  <a:tcPr marR="36000" marT="45733" marB="10803"/>
                </a:tc>
                <a:tc>
                  <a:txBody>
                    <a:bodyPr/>
                    <a:lstStyle/>
                    <a:p>
                      <a:r>
                        <a:rPr lang="en-GB" sz="1400" dirty="0" smtClean="0"/>
                        <a:t>B003</a:t>
                      </a:r>
                      <a:endParaRPr lang="en-SG" sz="1400" dirty="0">
                        <a:solidFill>
                          <a:srgbClr val="C00000"/>
                        </a:solidFill>
                      </a:endParaRPr>
                    </a:p>
                  </a:txBody>
                  <a:tcPr marR="36000" marT="45733" marB="10803"/>
                </a:tc>
                <a:tc>
                  <a:txBody>
                    <a:bodyPr/>
                    <a:lstStyle/>
                    <a:p>
                      <a:r>
                        <a:rPr lang="en-GB" sz="1400" dirty="0" smtClean="0"/>
                        <a:t>163 Main St, Glasgow</a:t>
                      </a:r>
                      <a:endParaRPr lang="en-SG" sz="1400" dirty="0">
                        <a:solidFill>
                          <a:srgbClr val="FF0000"/>
                        </a:solidFill>
                      </a:endParaRPr>
                    </a:p>
                  </a:txBody>
                  <a:tcPr marR="36000" marT="45733" marB="10803"/>
                </a:tc>
                <a:extLst>
                  <a:ext uri="{0D108BD9-81ED-4DB2-BD59-A6C34878D82A}">
                    <a16:rowId xmlns:a16="http://schemas.microsoft.com/office/drawing/2014/main" val="10002"/>
                  </a:ext>
                </a:extLst>
              </a:tr>
              <a:tr h="302154">
                <a:tc>
                  <a:txBody>
                    <a:bodyPr/>
                    <a:lstStyle/>
                    <a:p>
                      <a:endParaRPr lang="en-SG" sz="1400" dirty="0"/>
                    </a:p>
                  </a:txBody>
                  <a:tcPr marR="36000" marT="45733" marB="10803"/>
                </a:tc>
                <a:tc>
                  <a:txBody>
                    <a:bodyPr/>
                    <a:lstStyle/>
                    <a:p>
                      <a:endParaRPr lang="en-SG" sz="1400" dirty="0"/>
                    </a:p>
                  </a:txBody>
                  <a:tcPr marR="36000" marT="45733" marB="10803"/>
                </a:tc>
                <a:tc>
                  <a:txBody>
                    <a:bodyPr/>
                    <a:lstStyle/>
                    <a:p>
                      <a:endParaRPr lang="en-SG" sz="1400" dirty="0"/>
                    </a:p>
                  </a:txBody>
                  <a:tcPr marR="36000" marT="45733" marB="10803"/>
                </a:tc>
                <a:tc>
                  <a:txBody>
                    <a:bodyPr/>
                    <a:lstStyle/>
                    <a:p>
                      <a:endParaRPr lang="en-SG" sz="1400" dirty="0"/>
                    </a:p>
                  </a:txBody>
                  <a:tcPr marR="36000" marT="45733" marB="10803"/>
                </a:tc>
                <a:tc>
                  <a:txBody>
                    <a:bodyPr/>
                    <a:lstStyle/>
                    <a:p>
                      <a:endParaRPr lang="en-SG" sz="1400" dirty="0">
                        <a:solidFill>
                          <a:srgbClr val="C00000"/>
                        </a:solidFill>
                      </a:endParaRPr>
                    </a:p>
                  </a:txBody>
                  <a:tcPr marR="36000" marT="45733" marB="10803"/>
                </a:tc>
                <a:tc>
                  <a:txBody>
                    <a:bodyPr/>
                    <a:lstStyle/>
                    <a:p>
                      <a:endParaRPr lang="en-SG" sz="1400" dirty="0">
                        <a:solidFill>
                          <a:srgbClr val="FF0000"/>
                        </a:solidFill>
                      </a:endParaRPr>
                    </a:p>
                  </a:txBody>
                  <a:tcPr marR="36000" marT="45733" marB="10803"/>
                </a:tc>
                <a:extLst>
                  <a:ext uri="{0D108BD9-81ED-4DB2-BD59-A6C34878D82A}">
                    <a16:rowId xmlns:a16="http://schemas.microsoft.com/office/drawing/2014/main" val="10003"/>
                  </a:ext>
                </a:extLst>
              </a:tr>
              <a:tr h="302154">
                <a:tc>
                  <a:txBody>
                    <a:bodyPr/>
                    <a:lstStyle/>
                    <a:p>
                      <a:r>
                        <a:rPr lang="en-GB" sz="1400" dirty="0" smtClean="0"/>
                        <a:t>SG5</a:t>
                      </a:r>
                      <a:endParaRPr lang="en-SG" sz="1400" dirty="0"/>
                    </a:p>
                  </a:txBody>
                  <a:tcPr marR="36000" marT="45733" marB="10803"/>
                </a:tc>
                <a:tc>
                  <a:txBody>
                    <a:bodyPr/>
                    <a:lstStyle/>
                    <a:p>
                      <a:r>
                        <a:rPr lang="en-GB" sz="1400" dirty="0" smtClean="0"/>
                        <a:t>Susan</a:t>
                      </a:r>
                      <a:endParaRPr lang="en-SG" sz="1400" dirty="0"/>
                    </a:p>
                  </a:txBody>
                  <a:tcPr marR="36000" marT="45733" marB="10803"/>
                </a:tc>
                <a:tc>
                  <a:txBody>
                    <a:bodyPr/>
                    <a:lstStyle/>
                    <a:p>
                      <a:r>
                        <a:rPr lang="en-GB" sz="1400" dirty="0" smtClean="0"/>
                        <a:t>Manager</a:t>
                      </a:r>
                      <a:endParaRPr lang="en-SG" sz="1400" dirty="0"/>
                    </a:p>
                  </a:txBody>
                  <a:tcPr marR="36000" marT="45733" marB="10803"/>
                </a:tc>
                <a:tc>
                  <a:txBody>
                    <a:bodyPr/>
                    <a:lstStyle/>
                    <a:p>
                      <a:r>
                        <a:rPr lang="en-GB" sz="1400" dirty="0" smtClean="0"/>
                        <a:t>24000</a:t>
                      </a:r>
                      <a:endParaRPr lang="en-SG" sz="1400" dirty="0"/>
                    </a:p>
                  </a:txBody>
                  <a:tcPr marR="36000" marT="45733" marB="10803"/>
                </a:tc>
                <a:tc>
                  <a:txBody>
                    <a:bodyPr/>
                    <a:lstStyle/>
                    <a:p>
                      <a:r>
                        <a:rPr lang="en-GB" sz="1400" dirty="0" smtClean="0"/>
                        <a:t>B003</a:t>
                      </a:r>
                      <a:endParaRPr lang="en-SG" sz="1400" dirty="0">
                        <a:solidFill>
                          <a:srgbClr val="C00000"/>
                        </a:solidFill>
                      </a:endParaRPr>
                    </a:p>
                  </a:txBody>
                  <a:tcPr marR="36000" marT="45733" marB="10803"/>
                </a:tc>
                <a:tc>
                  <a:txBody>
                    <a:bodyPr/>
                    <a:lstStyle/>
                    <a:p>
                      <a:r>
                        <a:rPr lang="en-GB" sz="1400" dirty="0" smtClean="0"/>
                        <a:t>163 Main St, Glasgow</a:t>
                      </a:r>
                      <a:endParaRPr lang="en-SG" sz="1400" dirty="0">
                        <a:solidFill>
                          <a:srgbClr val="FF0000"/>
                        </a:solidFill>
                      </a:endParaRPr>
                    </a:p>
                  </a:txBody>
                  <a:tcPr marR="36000" marT="45733" marB="10803"/>
                </a:tc>
                <a:extLst>
                  <a:ext uri="{0D108BD9-81ED-4DB2-BD59-A6C34878D82A}">
                    <a16:rowId xmlns:a16="http://schemas.microsoft.com/office/drawing/2014/main" val="10004"/>
                  </a:ext>
                </a:extLst>
              </a:tr>
              <a:tr h="302154">
                <a:tc>
                  <a:txBody>
                    <a:bodyPr/>
                    <a:lstStyle/>
                    <a:p>
                      <a:r>
                        <a:rPr lang="en-GB" sz="1400" dirty="0" smtClean="0"/>
                        <a:t>SG41</a:t>
                      </a:r>
                      <a:endParaRPr lang="en-SG" sz="1400" dirty="0"/>
                    </a:p>
                  </a:txBody>
                  <a:tcPr marR="36000" marT="45733" marB="10803"/>
                </a:tc>
                <a:tc>
                  <a:txBody>
                    <a:bodyPr/>
                    <a:lstStyle/>
                    <a:p>
                      <a:r>
                        <a:rPr lang="en-GB" sz="1400" dirty="0" smtClean="0"/>
                        <a:t>Julie Lee</a:t>
                      </a:r>
                      <a:endParaRPr lang="en-SG" sz="1400" dirty="0"/>
                    </a:p>
                  </a:txBody>
                  <a:tcPr marR="36000" marT="45733" marB="10803"/>
                </a:tc>
                <a:tc>
                  <a:txBody>
                    <a:bodyPr/>
                    <a:lstStyle/>
                    <a:p>
                      <a:r>
                        <a:rPr lang="en-GB" sz="1400" dirty="0" smtClean="0"/>
                        <a:t>Assistant</a:t>
                      </a:r>
                      <a:endParaRPr lang="en-SG" sz="1400" dirty="0"/>
                    </a:p>
                  </a:txBody>
                  <a:tcPr marR="36000" marT="45733" marB="10803"/>
                </a:tc>
                <a:tc>
                  <a:txBody>
                    <a:bodyPr/>
                    <a:lstStyle/>
                    <a:p>
                      <a:r>
                        <a:rPr lang="en-GB" sz="1400" dirty="0" smtClean="0"/>
                        <a:t>9000</a:t>
                      </a:r>
                      <a:endParaRPr lang="en-SG" sz="1400" dirty="0"/>
                    </a:p>
                  </a:txBody>
                  <a:tcPr marR="36000" marT="45733" marB="10803"/>
                </a:tc>
                <a:tc>
                  <a:txBody>
                    <a:bodyPr/>
                    <a:lstStyle/>
                    <a:p>
                      <a:r>
                        <a:rPr lang="en-GB" sz="1400" dirty="0" smtClean="0"/>
                        <a:t>B005</a:t>
                      </a:r>
                      <a:endParaRPr lang="en-SG" sz="1400" dirty="0">
                        <a:solidFill>
                          <a:srgbClr val="C00000"/>
                        </a:solidFill>
                      </a:endParaRPr>
                    </a:p>
                  </a:txBody>
                  <a:tcPr marR="36000" marT="45733" marB="10803"/>
                </a:tc>
                <a:tc>
                  <a:txBody>
                    <a:bodyPr/>
                    <a:lstStyle/>
                    <a:p>
                      <a:r>
                        <a:rPr lang="en-GB" sz="1400" dirty="0" smtClean="0"/>
                        <a:t>22 Deer</a:t>
                      </a:r>
                      <a:r>
                        <a:rPr lang="en-GB" sz="1400" baseline="0" dirty="0" smtClean="0"/>
                        <a:t> Rd, London</a:t>
                      </a:r>
                      <a:endParaRPr lang="en-SG" sz="1400" dirty="0">
                        <a:solidFill>
                          <a:srgbClr val="FF0000"/>
                        </a:solidFill>
                      </a:endParaRPr>
                    </a:p>
                  </a:txBody>
                  <a:tcPr marR="36000" marT="45733" marB="10803"/>
                </a:tc>
                <a:extLst>
                  <a:ext uri="{0D108BD9-81ED-4DB2-BD59-A6C34878D82A}">
                    <a16:rowId xmlns:a16="http://schemas.microsoft.com/office/drawing/2014/main" val="10005"/>
                  </a:ext>
                </a:extLst>
              </a:tr>
            </a:tbl>
          </a:graphicData>
        </a:graphic>
      </p:graphicFrame>
      <p:sp>
        <p:nvSpPr>
          <p:cNvPr id="13" name="TextBox 12"/>
          <p:cNvSpPr txBox="1"/>
          <p:nvPr/>
        </p:nvSpPr>
        <p:spPr bwMode="auto">
          <a:xfrm>
            <a:off x="838200" y="5940426"/>
            <a:ext cx="4799199" cy="338554"/>
          </a:xfrm>
          <a:prstGeom prst="rect">
            <a:avLst/>
          </a:prstGeom>
          <a:noFill/>
        </p:spPr>
        <p:txBody>
          <a:bodyPr wrap="none" lIns="45720" rIns="45720">
            <a:spAutoFit/>
          </a:bodyPr>
          <a:lstStyle/>
          <a:p>
            <a:pPr>
              <a:defRPr/>
            </a:pPr>
            <a:r>
              <a:rPr lang="en-GB" sz="1600" dirty="0">
                <a:solidFill>
                  <a:srgbClr val="FF0000"/>
                </a:solidFill>
                <a:latin typeface="+mn-lt"/>
              </a:rPr>
              <a:t>(Record SA9 unintentionally disappear from the relation)</a:t>
            </a:r>
            <a:endParaRPr lang="en-US" sz="1600" dirty="0">
              <a:solidFill>
                <a:srgbClr val="FF0000"/>
              </a:solidFill>
              <a:latin typeface="+mn-lt"/>
            </a:endParaRPr>
          </a:p>
        </p:txBody>
      </p:sp>
    </p:spTree>
    <p:extLst>
      <p:ext uri="{BB962C8B-B14F-4D97-AF65-F5344CB8AC3E}">
        <p14:creationId xmlns:p14="http://schemas.microsoft.com/office/powerpoint/2010/main" val="30492172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nodeType="afterEffect">
                                  <p:stCondLst>
                                    <p:cond delay="100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000"/>
                                        <p:tgtEl>
                                          <p:spTgt spid="15"/>
                                        </p:tgtEl>
                                      </p:cBhvr>
                                    </p:animEffect>
                                  </p:childTnLst>
                                </p:cTn>
                              </p:par>
                            </p:childTnLst>
                          </p:cTn>
                        </p:par>
                        <p:par>
                          <p:cTn id="8" fill="hold" nodeType="afterGroup">
                            <p:stCondLst>
                              <p:cond delay="2000"/>
                            </p:stCondLst>
                            <p:childTnLst>
                              <p:par>
                                <p:cTn id="9" presetID="22" presetClass="entr" presetSubtype="8" fill="hold" grpId="0" nodeType="afterEffect">
                                  <p:stCondLst>
                                    <p:cond delay="200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1000"/>
                                        <p:tgtEl>
                                          <p:spTgt spid="13"/>
                                        </p:tgtEl>
                                      </p:cBhvr>
                                    </p:animEffect>
                                  </p:childTnLst>
                                </p:cTn>
                              </p:par>
                            </p:childTnLst>
                          </p:cTn>
                        </p:par>
                        <p:par>
                          <p:cTn id="12" fill="hold" nodeType="afterGroup">
                            <p:stCondLst>
                              <p:cond delay="5000"/>
                            </p:stCondLst>
                            <p:childTnLst>
                              <p:par>
                                <p:cTn id="13" presetID="22" presetClass="entr" presetSubtype="1" fill="hold" grpId="0" nodeType="afterEffect">
                                  <p:stCondLst>
                                    <p:cond delay="1000"/>
                                  </p:stCondLst>
                                  <p:childTnLst>
                                    <p:set>
                                      <p:cBhvr>
                                        <p:cTn id="14" dur="1" fill="hold">
                                          <p:stCondLst>
                                            <p:cond delay="0"/>
                                          </p:stCondLst>
                                        </p:cTn>
                                        <p:tgtEl>
                                          <p:spTgt spid="11"/>
                                        </p:tgtEl>
                                        <p:attrNameLst>
                                          <p:attrName>style.visibility</p:attrName>
                                        </p:attrNameLst>
                                      </p:cBhvr>
                                      <p:to>
                                        <p:strVal val="visible"/>
                                      </p:to>
                                    </p:set>
                                    <p:animEffect transition="in" filter="wipe(up)">
                                      <p:cBhvr>
                                        <p:cTn id="15" dur="1000"/>
                                        <p:tgtEl>
                                          <p:spTgt spid="11"/>
                                        </p:tgtEl>
                                      </p:cBhvr>
                                    </p:animEffect>
                                  </p:childTnLst>
                                </p:cTn>
                              </p:par>
                            </p:childTnLst>
                          </p:cTn>
                        </p:par>
                        <p:par>
                          <p:cTn id="16" fill="hold">
                            <p:stCondLst>
                              <p:cond delay="7000"/>
                            </p:stCondLst>
                            <p:childTnLst>
                              <p:par>
                                <p:cTn id="17" presetID="22" presetClass="entr" presetSubtype="8"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99FF99"/>
        </a:solidFill>
        <a:effectLst/>
      </p:bgPr>
    </p:bg>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685800" y="278721"/>
            <a:ext cx="4135438" cy="584200"/>
          </a:xfrm>
        </p:spPr>
        <p:txBody>
          <a:bodyPr wrap="none" lIns="36000" tIns="36000" rIns="36000" bIns="36000" anchor="t">
            <a:spAutoFit/>
          </a:bodyPr>
          <a:lstStyle/>
          <a:p>
            <a:pPr algn="l" eaLnBrk="1" hangingPunct="1">
              <a:defRPr/>
            </a:pPr>
            <a:r>
              <a:rPr lang="en-GB" sz="3200" b="1" dirty="0" smtClean="0">
                <a:solidFill>
                  <a:srgbClr val="C00000"/>
                </a:solidFill>
                <a:latin typeface="+mn-lt"/>
              </a:rPr>
              <a:t>What is Normalization?</a:t>
            </a:r>
            <a:endParaRPr lang="en-US" sz="3200" b="1" dirty="0" smtClean="0">
              <a:solidFill>
                <a:srgbClr val="C00000"/>
              </a:solidFill>
              <a:latin typeface="+mn-lt"/>
            </a:endParaRPr>
          </a:p>
        </p:txBody>
      </p:sp>
      <p:sp>
        <p:nvSpPr>
          <p:cNvPr id="5123" name="Rectangle 3"/>
          <p:cNvSpPr>
            <a:spLocks noGrp="1" noChangeArrowheads="1"/>
          </p:cNvSpPr>
          <p:nvPr>
            <p:ph type="subTitle" idx="4294967295"/>
          </p:nvPr>
        </p:nvSpPr>
        <p:spPr>
          <a:xfrm>
            <a:off x="669925" y="838200"/>
            <a:ext cx="7864475" cy="1188000"/>
          </a:xfrm>
        </p:spPr>
        <p:txBody>
          <a:bodyPr lIns="36000" tIns="36000" rIns="36000" bIns="36000"/>
          <a:lstStyle/>
          <a:p>
            <a:pPr marL="0" indent="0" eaLnBrk="1" hangingPunct="1">
              <a:spcBef>
                <a:spcPts val="1200"/>
              </a:spcBef>
              <a:buFont typeface="Arial" charset="0"/>
              <a:buNone/>
            </a:pPr>
            <a:r>
              <a:rPr lang="en-US" altLang="en-US" sz="2400" dirty="0" smtClean="0"/>
              <a:t>Normalization is </a:t>
            </a:r>
            <a:r>
              <a:rPr lang="en-GB" altLang="en-US" sz="2400" dirty="0" smtClean="0"/>
              <a:t>a design process whereby a </a:t>
            </a:r>
            <a:r>
              <a:rPr lang="en-GB" altLang="en-US" sz="2400" u="sng" dirty="0" smtClean="0">
                <a:solidFill>
                  <a:srgbClr val="C00000"/>
                </a:solidFill>
              </a:rPr>
              <a:t>primitive data relation</a:t>
            </a:r>
            <a:r>
              <a:rPr lang="en-GB" altLang="en-US" sz="2400" dirty="0" smtClean="0"/>
              <a:t> (table) is </a:t>
            </a:r>
            <a:r>
              <a:rPr lang="en-GB" altLang="en-US" sz="2400" dirty="0" smtClean="0">
                <a:solidFill>
                  <a:schemeClr val="tx2">
                    <a:lumMod val="50000"/>
                  </a:schemeClr>
                </a:solidFill>
              </a:rPr>
              <a:t>decomposed into</a:t>
            </a:r>
            <a:r>
              <a:rPr lang="en-GB" altLang="en-US" sz="2400" dirty="0" smtClean="0">
                <a:solidFill>
                  <a:srgbClr val="C00000"/>
                </a:solidFill>
              </a:rPr>
              <a:t> </a:t>
            </a:r>
            <a:r>
              <a:rPr lang="en-GB" altLang="en-US" sz="2400" u="sng" dirty="0" smtClean="0">
                <a:solidFill>
                  <a:srgbClr val="C00000"/>
                </a:solidFill>
              </a:rPr>
              <a:t>more simpler relations</a:t>
            </a:r>
            <a:r>
              <a:rPr lang="en-GB" altLang="en-US" sz="2400" dirty="0" smtClean="0"/>
              <a:t> that more precisely fit the relational model</a:t>
            </a:r>
            <a:r>
              <a:rPr lang="en-US" altLang="en-US" sz="2400" dirty="0" smtClean="0"/>
              <a:t>.</a:t>
            </a:r>
          </a:p>
        </p:txBody>
      </p:sp>
      <p:pic>
        <p:nvPicPr>
          <p:cNvPr id="9" name="Picture 7"/>
          <p:cNvPicPr>
            <a:picLocks noChangeAspect="1" noChangeArrowheads="1"/>
          </p:cNvPicPr>
          <p:nvPr/>
        </p:nvPicPr>
        <p:blipFill rotWithShape="1">
          <a:blip r:embed="rId2">
            <a:extLst>
              <a:ext uri="{28A0092B-C50C-407E-A947-70E740481C1C}">
                <a14:useLocalDpi xmlns:a14="http://schemas.microsoft.com/office/drawing/2010/main" val="0"/>
              </a:ext>
            </a:extLst>
          </a:blip>
          <a:srcRect l="25522" t="58442" r="60068" b="8478"/>
          <a:stretch/>
        </p:blipFill>
        <p:spPr bwMode="auto">
          <a:xfrm>
            <a:off x="4426857" y="4318000"/>
            <a:ext cx="1752600" cy="251460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10" name="Picture 7"/>
          <p:cNvPicPr>
            <a:picLocks noChangeAspect="1" noChangeArrowheads="1"/>
          </p:cNvPicPr>
          <p:nvPr/>
        </p:nvPicPr>
        <p:blipFill rotWithShape="1">
          <a:blip r:embed="rId2">
            <a:extLst>
              <a:ext uri="{28A0092B-C50C-407E-A947-70E740481C1C}">
                <a14:useLocalDpi xmlns:a14="http://schemas.microsoft.com/office/drawing/2010/main" val="0"/>
              </a:ext>
            </a:extLst>
          </a:blip>
          <a:srcRect l="47138" t="57026" r="31604" b="8479"/>
          <a:stretch/>
        </p:blipFill>
        <p:spPr bwMode="auto">
          <a:xfrm>
            <a:off x="6349240" y="4318000"/>
            <a:ext cx="2413760" cy="2447986"/>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8" name="Picture 7"/>
          <p:cNvPicPr>
            <a:picLocks noChangeAspect="1" noChangeArrowheads="1"/>
          </p:cNvPicPr>
          <p:nvPr/>
        </p:nvPicPr>
        <p:blipFill rotWithShape="1">
          <a:blip r:embed="rId2">
            <a:extLst>
              <a:ext uri="{28A0092B-C50C-407E-A947-70E740481C1C}">
                <a14:useLocalDpi xmlns:a14="http://schemas.microsoft.com/office/drawing/2010/main" val="0"/>
              </a:ext>
            </a:extLst>
          </a:blip>
          <a:srcRect l="29940" t="17461" r="41240" b="52429"/>
          <a:stretch/>
        </p:blipFill>
        <p:spPr bwMode="auto">
          <a:xfrm>
            <a:off x="685800" y="2821985"/>
            <a:ext cx="3636000" cy="2374290"/>
          </a:xfrm>
          <a:prstGeom prst="rect">
            <a:avLst/>
          </a:prstGeom>
          <a:noFill/>
          <a:ln w="9525">
            <a:solidFill>
              <a:schemeClr val="tx1"/>
            </a:solidFill>
            <a:miter lim="800000"/>
            <a:headEnd/>
            <a:tailEnd/>
          </a:ln>
          <a:extLst/>
        </p:spPr>
      </p:pic>
      <p:sp>
        <p:nvSpPr>
          <p:cNvPr id="6" name="TextBox 5"/>
          <p:cNvSpPr txBox="1"/>
          <p:nvPr/>
        </p:nvSpPr>
        <p:spPr bwMode="auto">
          <a:xfrm>
            <a:off x="1338662" y="5181600"/>
            <a:ext cx="2660024" cy="400110"/>
          </a:xfrm>
          <a:prstGeom prst="rect">
            <a:avLst/>
          </a:prstGeom>
          <a:noFill/>
        </p:spPr>
        <p:txBody>
          <a:bodyPr wrap="none" lIns="45720" rIns="45720">
            <a:spAutoFit/>
          </a:bodyPr>
          <a:lstStyle/>
          <a:p>
            <a:pPr>
              <a:defRPr/>
            </a:pPr>
            <a:r>
              <a:rPr lang="en-GB" sz="2000" dirty="0">
                <a:solidFill>
                  <a:srgbClr val="C00000"/>
                </a:solidFill>
                <a:latin typeface="+mn-lt"/>
              </a:rPr>
              <a:t>(Un-normalized </a:t>
            </a:r>
            <a:r>
              <a:rPr lang="en-GB" sz="2000" dirty="0" smtClean="0">
                <a:solidFill>
                  <a:srgbClr val="C00000"/>
                </a:solidFill>
                <a:latin typeface="+mn-lt"/>
              </a:rPr>
              <a:t>relation)</a:t>
            </a:r>
            <a:endParaRPr lang="en-US" sz="2000" dirty="0">
              <a:solidFill>
                <a:srgbClr val="C00000"/>
              </a:solidFill>
              <a:latin typeface="+mn-lt"/>
            </a:endParaRPr>
          </a:p>
        </p:txBody>
      </p:sp>
      <p:sp>
        <p:nvSpPr>
          <p:cNvPr id="3" name="Rectangle 2"/>
          <p:cNvSpPr/>
          <p:nvPr/>
        </p:nvSpPr>
        <p:spPr>
          <a:xfrm>
            <a:off x="685800" y="2819400"/>
            <a:ext cx="3657600" cy="237744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Bent Arrow 6"/>
          <p:cNvSpPr/>
          <p:nvPr/>
        </p:nvSpPr>
        <p:spPr>
          <a:xfrm flipV="1">
            <a:off x="3319052" y="5621614"/>
            <a:ext cx="740146" cy="702986"/>
          </a:xfrm>
          <a:prstGeom prst="ben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Rectangle 10"/>
          <p:cNvSpPr>
            <a:spLocks noChangeArrowheads="1"/>
          </p:cNvSpPr>
          <p:nvPr/>
        </p:nvSpPr>
        <p:spPr bwMode="auto">
          <a:xfrm>
            <a:off x="5874032" y="3748314"/>
            <a:ext cx="805276" cy="442035"/>
          </a:xfrm>
          <a:prstGeom prst="rect">
            <a:avLst/>
          </a:prstGeom>
          <a:noFill/>
          <a:ln w="9525">
            <a:noFill/>
            <a:miter lim="800000"/>
            <a:headEnd/>
            <a:tailEnd/>
          </a:ln>
        </p:spPr>
        <p:txBody>
          <a:bodyPr wrap="none" lIns="36000" tIns="36000" rIns="36000" bIns="36000">
            <a:spAutoFit/>
          </a:bodyPr>
          <a:lstStyle/>
          <a:p>
            <a:pPr>
              <a:spcBef>
                <a:spcPts val="0"/>
              </a:spcBef>
              <a:spcAft>
                <a:spcPts val="0"/>
              </a:spcAft>
              <a:defRPr/>
            </a:pPr>
            <a:r>
              <a:rPr lang="en-US" sz="2400" dirty="0" smtClean="0">
                <a:solidFill>
                  <a:srgbClr val="C00000"/>
                </a:solidFill>
                <a:latin typeface="+mn-lt"/>
              </a:rPr>
              <a:t>(Split)</a:t>
            </a:r>
            <a:endParaRPr lang="en-US" sz="2400" dirty="0">
              <a:solidFill>
                <a:srgbClr val="C00000"/>
              </a:solidFill>
              <a:latin typeface="+mn-lt"/>
            </a:endParaRPr>
          </a:p>
        </p:txBody>
      </p:sp>
      <p:sp>
        <p:nvSpPr>
          <p:cNvPr id="4" name="Rectangle 3"/>
          <p:cNvSpPr/>
          <p:nvPr/>
        </p:nvSpPr>
        <p:spPr>
          <a:xfrm>
            <a:off x="685800" y="2006816"/>
            <a:ext cx="7848600" cy="688256"/>
          </a:xfrm>
          <a:prstGeom prst="rect">
            <a:avLst/>
          </a:prstGeom>
        </p:spPr>
        <p:txBody>
          <a:bodyPr wrap="square" lIns="36000" tIns="36000" rIns="36000" bIns="36000">
            <a:spAutoFit/>
          </a:bodyPr>
          <a:lstStyle/>
          <a:p>
            <a:pPr marL="174625" indent="-174625"/>
            <a:r>
              <a:rPr lang="en-GB" altLang="en-US" sz="2000" dirty="0" smtClean="0">
                <a:latin typeface="Calibri" panose="020F0502020204030204" pitchFamily="34" charset="0"/>
              </a:rPr>
              <a:t>- All </a:t>
            </a:r>
            <a:r>
              <a:rPr lang="en-GB" altLang="en-US" sz="2000" dirty="0">
                <a:latin typeface="Calibri" panose="020F0502020204030204" pitchFamily="34" charset="0"/>
              </a:rPr>
              <a:t>anomalies are highly undesirable, their</a:t>
            </a:r>
            <a:r>
              <a:rPr lang="en-US" altLang="en-US" sz="2000" dirty="0">
                <a:latin typeface="Calibri" panose="020F0502020204030204" pitchFamily="34" charset="0"/>
              </a:rPr>
              <a:t> occurrence constitutes corruption of the </a:t>
            </a:r>
            <a:r>
              <a:rPr lang="en-US" altLang="en-US" sz="2000" dirty="0" smtClean="0">
                <a:latin typeface="Calibri" panose="020F0502020204030204" pitchFamily="34" charset="0"/>
              </a:rPr>
              <a:t>database.</a:t>
            </a:r>
            <a:endParaRPr lang="en-US" sz="2000" dirty="0">
              <a:latin typeface="Calibri" panose="020F0502020204030204" pitchFamily="34" charset="0"/>
            </a:endParaRPr>
          </a:p>
        </p:txBody>
      </p:sp>
      <p:sp>
        <p:nvSpPr>
          <p:cNvPr id="13" name="TextBox 12"/>
          <p:cNvSpPr txBox="1"/>
          <p:nvPr/>
        </p:nvSpPr>
        <p:spPr bwMode="auto">
          <a:xfrm>
            <a:off x="4808948" y="2663943"/>
            <a:ext cx="3741327" cy="830997"/>
          </a:xfrm>
          <a:prstGeom prst="rect">
            <a:avLst/>
          </a:prstGeom>
          <a:noFill/>
        </p:spPr>
        <p:txBody>
          <a:bodyPr wrap="square" lIns="45720" rIns="45720">
            <a:spAutoFit/>
          </a:bodyPr>
          <a:lstStyle/>
          <a:p>
            <a:pPr>
              <a:defRPr/>
            </a:pPr>
            <a:r>
              <a:rPr lang="en-GB" sz="2400" b="1" dirty="0">
                <a:solidFill>
                  <a:schemeClr val="tx2">
                    <a:lumMod val="50000"/>
                  </a:schemeClr>
                </a:solidFill>
                <a:latin typeface="+mn-lt"/>
              </a:rPr>
              <a:t>N</a:t>
            </a:r>
            <a:r>
              <a:rPr lang="en-GB" sz="2400" b="1" dirty="0" smtClean="0">
                <a:solidFill>
                  <a:schemeClr val="tx2">
                    <a:lumMod val="50000"/>
                  </a:schemeClr>
                </a:solidFill>
                <a:latin typeface="+mn-lt"/>
              </a:rPr>
              <a:t>ormalization process can eliminate these anomalies!</a:t>
            </a:r>
          </a:p>
        </p:txBody>
      </p:sp>
    </p:spTree>
    <p:extLst>
      <p:ext uri="{BB962C8B-B14F-4D97-AF65-F5344CB8AC3E}">
        <p14:creationId xmlns:p14="http://schemas.microsoft.com/office/powerpoint/2010/main" val="1717578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99FF99"/>
        </a:solidFill>
        <a:effectLst/>
      </p:bgPr>
    </p:bg>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685800" y="325438"/>
            <a:ext cx="4995863" cy="585787"/>
          </a:xfrm>
        </p:spPr>
        <p:txBody>
          <a:bodyPr wrap="none" lIns="36000" tIns="36000" rIns="36000" bIns="36000" anchor="t">
            <a:spAutoFit/>
          </a:bodyPr>
          <a:lstStyle/>
          <a:p>
            <a:pPr algn="l" eaLnBrk="1" hangingPunct="1">
              <a:defRPr/>
            </a:pPr>
            <a:r>
              <a:rPr lang="en-GB" sz="3200" b="1" dirty="0" smtClean="0">
                <a:solidFill>
                  <a:srgbClr val="C00000"/>
                </a:solidFill>
                <a:latin typeface="+mn-lt"/>
              </a:rPr>
              <a:t>What can Normalization do?</a:t>
            </a:r>
            <a:endParaRPr lang="en-US" sz="3200" b="1" dirty="0" smtClean="0">
              <a:solidFill>
                <a:srgbClr val="C00000"/>
              </a:solidFill>
              <a:latin typeface="+mn-lt"/>
            </a:endParaRPr>
          </a:p>
        </p:txBody>
      </p:sp>
      <p:sp>
        <p:nvSpPr>
          <p:cNvPr id="6147" name="Rectangle 5"/>
          <p:cNvSpPr>
            <a:spLocks noChangeArrowheads="1"/>
          </p:cNvSpPr>
          <p:nvPr/>
        </p:nvSpPr>
        <p:spPr bwMode="auto">
          <a:xfrm>
            <a:off x="1038228" y="1451430"/>
            <a:ext cx="78486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6800" rIns="46800">
            <a:spAutoFit/>
          </a:bodyPr>
          <a:lstStyle>
            <a:lvl1pPr marL="514350" indent="-514350"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indent="0" eaLnBrk="1" hangingPunct="1">
              <a:spcBef>
                <a:spcPct val="0"/>
              </a:spcBef>
              <a:buNone/>
            </a:pPr>
            <a:r>
              <a:rPr lang="en-US" altLang="en-US" sz="2000" dirty="0"/>
              <a:t>Database designed based on </a:t>
            </a:r>
            <a:r>
              <a:rPr lang="en-US" altLang="en-US" sz="2000" u="sng" dirty="0"/>
              <a:t>ER model </a:t>
            </a:r>
            <a:r>
              <a:rPr lang="en-US" altLang="en-US" sz="2000" dirty="0"/>
              <a:t>may have some amount of </a:t>
            </a:r>
            <a:r>
              <a:rPr lang="en-US" altLang="en-US" sz="2000" dirty="0" smtClean="0"/>
              <a:t>inconsistency, </a:t>
            </a:r>
            <a:r>
              <a:rPr lang="en-US" altLang="en-US" sz="2000" dirty="0"/>
              <a:t>ambiguity and redundancy . </a:t>
            </a:r>
            <a:endParaRPr lang="en-US" altLang="en-US" sz="2000" dirty="0" smtClean="0"/>
          </a:p>
        </p:txBody>
      </p:sp>
      <p:sp>
        <p:nvSpPr>
          <p:cNvPr id="7" name="Rectangle 4"/>
          <p:cNvSpPr>
            <a:spLocks noChangeArrowheads="1"/>
          </p:cNvSpPr>
          <p:nvPr/>
        </p:nvSpPr>
        <p:spPr bwMode="auto">
          <a:xfrm>
            <a:off x="685800" y="990600"/>
            <a:ext cx="8172000" cy="503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spAutoFit/>
          </a:bodyPr>
          <a:lstStyle>
            <a:lvl1pPr marL="514350" indent="-514350"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363538" indent="-363538" eaLnBrk="1" hangingPunct="1">
              <a:spcBef>
                <a:spcPct val="0"/>
              </a:spcBef>
              <a:buFont typeface="+mj-lt"/>
              <a:buAutoNum type="arabicParenR"/>
            </a:pPr>
            <a:r>
              <a:rPr lang="en-US" altLang="en-US" sz="2800" dirty="0" smtClean="0"/>
              <a:t>Remove </a:t>
            </a:r>
            <a:r>
              <a:rPr lang="en-US" altLang="en-US" sz="2800" dirty="0">
                <a:solidFill>
                  <a:srgbClr val="C00000"/>
                </a:solidFill>
              </a:rPr>
              <a:t>inconsistent dependency data</a:t>
            </a:r>
            <a:r>
              <a:rPr lang="en-US" altLang="en-US" sz="2800" dirty="0"/>
              <a:t> </a:t>
            </a:r>
            <a:r>
              <a:rPr lang="en-US" altLang="en-US" sz="2000" dirty="0" smtClean="0"/>
              <a:t>(in </a:t>
            </a:r>
            <a:r>
              <a:rPr lang="en-US" altLang="en-US" sz="2000" dirty="0"/>
              <a:t>database </a:t>
            </a:r>
            <a:r>
              <a:rPr lang="en-US" altLang="en-US" sz="2000" dirty="0" smtClean="0"/>
              <a:t>design)</a:t>
            </a:r>
            <a:r>
              <a:rPr lang="en-US" altLang="en-US" sz="2000" dirty="0" smtClean="0">
                <a:solidFill>
                  <a:srgbClr val="C00000"/>
                </a:solidFill>
              </a:rPr>
              <a:t> </a:t>
            </a:r>
            <a:endParaRPr lang="en-US" altLang="en-US" sz="2800" dirty="0" smtClean="0"/>
          </a:p>
        </p:txBody>
      </p:sp>
      <p:graphicFrame>
        <p:nvGraphicFramePr>
          <p:cNvPr id="8" name="Table 7"/>
          <p:cNvGraphicFramePr>
            <a:graphicFrameLocks noGrp="1"/>
          </p:cNvGraphicFramePr>
          <p:nvPr>
            <p:extLst>
              <p:ext uri="{D42A27DB-BD31-4B8C-83A1-F6EECF244321}">
                <p14:modId xmlns:p14="http://schemas.microsoft.com/office/powerpoint/2010/main" val="1964454145"/>
              </p:ext>
            </p:extLst>
          </p:nvPr>
        </p:nvGraphicFramePr>
        <p:xfrm>
          <a:off x="1066800" y="2362200"/>
          <a:ext cx="4191000" cy="1341120"/>
        </p:xfrm>
        <a:graphic>
          <a:graphicData uri="http://schemas.openxmlformats.org/drawingml/2006/table">
            <a:tbl>
              <a:tblPr firstRow="1" bandRow="1">
                <a:tableStyleId>{5C22544A-7EE6-4342-B048-85BDC9FD1C3A}</a:tableStyleId>
              </a:tblPr>
              <a:tblGrid>
                <a:gridCol w="10668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tblGrid>
              <a:tr h="308538">
                <a:tc>
                  <a:txBody>
                    <a:bodyPr/>
                    <a:lstStyle/>
                    <a:p>
                      <a:pPr algn="ctr"/>
                      <a:r>
                        <a:rPr lang="en-SG" sz="1600" dirty="0" err="1" smtClean="0"/>
                        <a:t>SuppNum</a:t>
                      </a:r>
                      <a:endParaRPr lang="en-US" sz="1600" dirty="0"/>
                    </a:p>
                  </a:txBody>
                  <a:tcPr marL="36000" marR="3600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SG" sz="1600" dirty="0" err="1" smtClean="0"/>
                        <a:t>SuppName</a:t>
                      </a:r>
                      <a:endParaRPr lang="en-US" sz="1600" dirty="0"/>
                    </a:p>
                  </a:txBody>
                  <a:tcPr marL="36000" marR="36000">
                    <a:lnT w="12700" cap="flat" cmpd="sng" algn="ctr">
                      <a:solidFill>
                        <a:schemeClr val="tx1"/>
                      </a:solidFill>
                      <a:prstDash val="solid"/>
                      <a:round/>
                      <a:headEnd type="none" w="med" len="med"/>
                      <a:tailEnd type="none" w="med" len="med"/>
                    </a:lnT>
                  </a:tcPr>
                </a:tc>
                <a:tc>
                  <a:txBody>
                    <a:bodyPr/>
                    <a:lstStyle/>
                    <a:p>
                      <a:pPr algn="ctr"/>
                      <a:r>
                        <a:rPr lang="en-SG" sz="1600" dirty="0" err="1" smtClean="0"/>
                        <a:t>PartNum</a:t>
                      </a:r>
                      <a:endParaRPr lang="en-US" sz="1600" dirty="0"/>
                    </a:p>
                  </a:txBody>
                  <a:tcPr marL="36000" marR="36000">
                    <a:lnT w="12700" cap="flat" cmpd="sng" algn="ctr">
                      <a:solidFill>
                        <a:schemeClr val="tx1"/>
                      </a:solidFill>
                      <a:prstDash val="solid"/>
                      <a:round/>
                      <a:headEnd type="none" w="med" len="med"/>
                      <a:tailEnd type="none" w="med" len="med"/>
                    </a:lnT>
                  </a:tcPr>
                </a:tc>
                <a:tc>
                  <a:txBody>
                    <a:bodyPr/>
                    <a:lstStyle/>
                    <a:p>
                      <a:pPr algn="ctr"/>
                      <a:r>
                        <a:rPr lang="en-SG" sz="1600" dirty="0" smtClean="0"/>
                        <a:t>Quantity</a:t>
                      </a:r>
                      <a:endParaRPr lang="en-US" sz="1600" dirty="0"/>
                    </a:p>
                  </a:txBody>
                  <a:tcPr marL="36000" marR="3600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308538">
                <a:tc>
                  <a:txBody>
                    <a:bodyPr/>
                    <a:lstStyle/>
                    <a:p>
                      <a:pPr algn="ctr"/>
                      <a:r>
                        <a:rPr lang="en-SG" sz="1600" dirty="0" smtClean="0"/>
                        <a:t>1</a:t>
                      </a:r>
                      <a:endParaRPr lang="en-US" sz="1600" dirty="0"/>
                    </a:p>
                  </a:txBody>
                  <a:tcPr marL="36000" marR="36000">
                    <a:lnL w="12700" cap="flat" cmpd="sng" algn="ctr">
                      <a:solidFill>
                        <a:schemeClr val="tx1"/>
                      </a:solidFill>
                      <a:prstDash val="solid"/>
                      <a:round/>
                      <a:headEnd type="none" w="med" len="med"/>
                      <a:tailEnd type="none" w="med" len="med"/>
                    </a:lnL>
                  </a:tcPr>
                </a:tc>
                <a:tc>
                  <a:txBody>
                    <a:bodyPr/>
                    <a:lstStyle/>
                    <a:p>
                      <a:r>
                        <a:rPr lang="en-SG" sz="1600" dirty="0" err="1" smtClean="0"/>
                        <a:t>Gozzo</a:t>
                      </a:r>
                      <a:r>
                        <a:rPr lang="en-SG" sz="1600" baseline="0" dirty="0" smtClean="0"/>
                        <a:t> </a:t>
                      </a:r>
                      <a:endParaRPr lang="en-US" sz="1600" dirty="0"/>
                    </a:p>
                  </a:txBody>
                  <a:tcPr marL="36000" marR="36000"/>
                </a:tc>
                <a:tc>
                  <a:txBody>
                    <a:bodyPr/>
                    <a:lstStyle/>
                    <a:p>
                      <a:pPr algn="ctr"/>
                      <a:r>
                        <a:rPr lang="en-SG" sz="1600" dirty="0" smtClean="0">
                          <a:solidFill>
                            <a:schemeClr val="tx1"/>
                          </a:solidFill>
                        </a:rPr>
                        <a:t>P-001</a:t>
                      </a:r>
                      <a:endParaRPr lang="en-US" sz="1600" dirty="0">
                        <a:solidFill>
                          <a:schemeClr val="tx1"/>
                        </a:solidFill>
                      </a:endParaRPr>
                    </a:p>
                  </a:txBody>
                  <a:tcPr marL="36000" marR="36000"/>
                </a:tc>
                <a:tc>
                  <a:txBody>
                    <a:bodyPr/>
                    <a:lstStyle/>
                    <a:p>
                      <a:pPr algn="ctr"/>
                      <a:r>
                        <a:rPr lang="en-SG" sz="1600" dirty="0" smtClean="0"/>
                        <a:t>719</a:t>
                      </a:r>
                      <a:endParaRPr lang="en-US" sz="1600" dirty="0"/>
                    </a:p>
                  </a:txBody>
                  <a:tcPr marL="36000" marR="3600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08538">
                <a:tc>
                  <a:txBody>
                    <a:bodyPr/>
                    <a:lstStyle/>
                    <a:p>
                      <a:pPr algn="ctr"/>
                      <a:r>
                        <a:rPr lang="en-SG" sz="1600" dirty="0" smtClean="0"/>
                        <a:t>1</a:t>
                      </a:r>
                      <a:endParaRPr lang="en-US" sz="1600" dirty="0"/>
                    </a:p>
                  </a:txBody>
                  <a:tcPr marL="36000" marR="36000">
                    <a:lnL w="12700" cap="flat" cmpd="sng" algn="ctr">
                      <a:solidFill>
                        <a:schemeClr val="tx1"/>
                      </a:solidFill>
                      <a:prstDash val="solid"/>
                      <a:round/>
                      <a:headEnd type="none" w="med" len="med"/>
                      <a:tailEnd type="none" w="med" len="med"/>
                    </a:ln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SG" sz="1600" dirty="0" err="1" smtClean="0">
                          <a:solidFill>
                            <a:srgbClr val="FF0000"/>
                          </a:solidFill>
                        </a:rPr>
                        <a:t>Gocom</a:t>
                      </a:r>
                      <a:endParaRPr lang="en-US" sz="1600" dirty="0" smtClean="0">
                        <a:solidFill>
                          <a:srgbClr val="FF0000"/>
                        </a:solidFill>
                      </a:endParaRPr>
                    </a:p>
                  </a:txBody>
                  <a:tcPr marL="36000" marR="36000"/>
                </a:tc>
                <a:tc>
                  <a:txBody>
                    <a:bodyPr/>
                    <a:lstStyle/>
                    <a:p>
                      <a:pPr algn="ctr"/>
                      <a:r>
                        <a:rPr lang="en-SG" sz="1600" dirty="0" smtClean="0">
                          <a:solidFill>
                            <a:srgbClr val="FF0000"/>
                          </a:solidFill>
                        </a:rPr>
                        <a:t>P-002</a:t>
                      </a:r>
                      <a:endParaRPr lang="en-US" sz="1600" dirty="0">
                        <a:solidFill>
                          <a:srgbClr val="FF0000"/>
                        </a:solidFill>
                      </a:endParaRPr>
                    </a:p>
                  </a:txBody>
                  <a:tcPr marL="36000" marR="36000"/>
                </a:tc>
                <a:tc>
                  <a:txBody>
                    <a:bodyPr/>
                    <a:lstStyle/>
                    <a:p>
                      <a:pPr algn="ctr"/>
                      <a:r>
                        <a:rPr lang="en-SG" sz="1600" dirty="0" smtClean="0"/>
                        <a:t>719</a:t>
                      </a:r>
                      <a:endParaRPr lang="en-US" sz="1600" dirty="0"/>
                    </a:p>
                  </a:txBody>
                  <a:tcPr marL="36000" marR="3600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08538">
                <a:tc>
                  <a:txBody>
                    <a:bodyPr/>
                    <a:lstStyle/>
                    <a:p>
                      <a:pPr algn="ctr"/>
                      <a:r>
                        <a:rPr lang="en-SG" sz="1600" dirty="0" smtClean="0"/>
                        <a:t>17</a:t>
                      </a:r>
                      <a:endParaRPr lang="en-US" sz="1600" dirty="0"/>
                    </a:p>
                  </a:txBody>
                  <a:tcPr marL="36000" marR="3600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SG" sz="1600" dirty="0" smtClean="0"/>
                        <a:t>Nagata</a:t>
                      </a:r>
                      <a:endParaRPr lang="en-US" sz="1600" dirty="0" smtClean="0"/>
                    </a:p>
                  </a:txBody>
                  <a:tcPr marL="36000" marR="36000">
                    <a:lnB w="12700" cap="flat" cmpd="sng" algn="ctr">
                      <a:solidFill>
                        <a:schemeClr val="tx1"/>
                      </a:solidFill>
                      <a:prstDash val="solid"/>
                      <a:round/>
                      <a:headEnd type="none" w="med" len="med"/>
                      <a:tailEnd type="none" w="med" len="med"/>
                    </a:lnB>
                  </a:tcPr>
                </a:tc>
                <a:tc>
                  <a:txBody>
                    <a:bodyPr/>
                    <a:lstStyle/>
                    <a:p>
                      <a:pPr algn="ctr"/>
                      <a:r>
                        <a:rPr lang="en-SG" sz="1600" dirty="0" smtClean="0"/>
                        <a:t>P-942</a:t>
                      </a:r>
                      <a:endParaRPr lang="en-US" sz="1600" dirty="0"/>
                    </a:p>
                  </a:txBody>
                  <a:tcPr marL="36000" marR="36000">
                    <a:lnB w="12700" cap="flat" cmpd="sng" algn="ctr">
                      <a:solidFill>
                        <a:schemeClr val="tx1"/>
                      </a:solidFill>
                      <a:prstDash val="solid"/>
                      <a:round/>
                      <a:headEnd type="none" w="med" len="med"/>
                      <a:tailEnd type="none" w="med" len="med"/>
                    </a:lnB>
                  </a:tcPr>
                </a:tc>
                <a:tc>
                  <a:txBody>
                    <a:bodyPr/>
                    <a:lstStyle/>
                    <a:p>
                      <a:pPr algn="ctr"/>
                      <a:r>
                        <a:rPr lang="en-SG" sz="1600" dirty="0" smtClean="0"/>
                        <a:t>105</a:t>
                      </a:r>
                      <a:endParaRPr lang="en-US" sz="1600" dirty="0"/>
                    </a:p>
                  </a:txBody>
                  <a:tcPr marL="36000" marR="36000">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2803174970"/>
              </p:ext>
            </p:extLst>
          </p:nvPr>
        </p:nvGraphicFramePr>
        <p:xfrm>
          <a:off x="3429000" y="4259996"/>
          <a:ext cx="2209800" cy="1378804"/>
        </p:xfrm>
        <a:graphic>
          <a:graphicData uri="http://schemas.openxmlformats.org/drawingml/2006/table">
            <a:tbl>
              <a:tblPr firstRow="1" bandRow="1">
                <a:tableStyleId>{21E4AEA4-8DFA-4A89-87EB-49C32662AFE0}</a:tableStyleId>
              </a:tblPr>
              <a:tblGrid>
                <a:gridCol w="10668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tblGrid>
              <a:tr h="344701">
                <a:tc>
                  <a:txBody>
                    <a:bodyPr/>
                    <a:lstStyle/>
                    <a:p>
                      <a:pPr algn="ctr"/>
                      <a:r>
                        <a:rPr lang="en-SG" sz="1600" dirty="0" err="1" smtClean="0"/>
                        <a:t>SuppNum</a:t>
                      </a:r>
                      <a:endParaRPr lang="en-US" sz="1600" dirty="0"/>
                    </a:p>
                  </a:txBody>
                  <a:tcPr marL="36000" marR="3600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SG" sz="1600" dirty="0" err="1" smtClean="0"/>
                        <a:t>SuppName</a:t>
                      </a:r>
                      <a:endParaRPr lang="en-US" sz="1600" dirty="0"/>
                    </a:p>
                  </a:txBody>
                  <a:tcPr marL="36000" marR="3600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344701">
                <a:tc>
                  <a:txBody>
                    <a:bodyPr/>
                    <a:lstStyle/>
                    <a:p>
                      <a:pPr algn="ctr"/>
                      <a:r>
                        <a:rPr lang="en-SG" sz="1600" dirty="0" smtClean="0"/>
                        <a:t>1</a:t>
                      </a:r>
                      <a:endParaRPr lang="en-US" sz="1600" dirty="0"/>
                    </a:p>
                  </a:txBody>
                  <a:tcPr marL="36000" marR="36000">
                    <a:lnL w="12700" cap="flat" cmpd="sng" algn="ctr">
                      <a:solidFill>
                        <a:schemeClr val="tx1"/>
                      </a:solidFill>
                      <a:prstDash val="solid"/>
                      <a:round/>
                      <a:headEnd type="none" w="med" len="med"/>
                      <a:tailEnd type="none" w="med" len="med"/>
                    </a:lnL>
                  </a:tcPr>
                </a:tc>
                <a:tc>
                  <a:txBody>
                    <a:bodyPr/>
                    <a:lstStyle/>
                    <a:p>
                      <a:r>
                        <a:rPr lang="en-SG" sz="1600" dirty="0" err="1" smtClean="0"/>
                        <a:t>Gozzo</a:t>
                      </a:r>
                      <a:r>
                        <a:rPr lang="en-SG" sz="1600" baseline="0" dirty="0" smtClean="0"/>
                        <a:t> </a:t>
                      </a:r>
                      <a:endParaRPr lang="en-US" sz="1600" dirty="0"/>
                    </a:p>
                  </a:txBody>
                  <a:tcPr marL="36000" marR="3600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44701">
                <a:tc>
                  <a:txBody>
                    <a:bodyPr/>
                    <a:lstStyle/>
                    <a:p>
                      <a:pPr algn="ctr"/>
                      <a:r>
                        <a:rPr lang="en-SG" sz="1600" dirty="0" smtClean="0">
                          <a:solidFill>
                            <a:srgbClr val="FF0000"/>
                          </a:solidFill>
                        </a:rPr>
                        <a:t>1</a:t>
                      </a:r>
                      <a:endParaRPr lang="en-US" sz="1600" dirty="0">
                        <a:solidFill>
                          <a:srgbClr val="FF0000"/>
                        </a:solidFill>
                      </a:endParaRPr>
                    </a:p>
                  </a:txBody>
                  <a:tcPr marL="36000" marR="36000">
                    <a:lnL w="12700" cap="flat" cmpd="sng" algn="ctr">
                      <a:solidFill>
                        <a:schemeClr val="tx1"/>
                      </a:solidFill>
                      <a:prstDash val="solid"/>
                      <a:round/>
                      <a:headEnd type="none" w="med" len="med"/>
                      <a:tailEnd type="none" w="med" len="med"/>
                    </a:ln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SG" sz="1600" dirty="0" err="1" smtClean="0">
                          <a:solidFill>
                            <a:srgbClr val="FF0000"/>
                          </a:solidFill>
                        </a:rPr>
                        <a:t>Gocom</a:t>
                      </a:r>
                      <a:endParaRPr lang="en-US" sz="1600" dirty="0" smtClean="0">
                        <a:solidFill>
                          <a:srgbClr val="FF0000"/>
                        </a:solidFill>
                      </a:endParaRPr>
                    </a:p>
                  </a:txBody>
                  <a:tcPr marL="36000" marR="3600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44701">
                <a:tc>
                  <a:txBody>
                    <a:bodyPr/>
                    <a:lstStyle/>
                    <a:p>
                      <a:pPr algn="ctr"/>
                      <a:r>
                        <a:rPr lang="en-SG" sz="1600" dirty="0" smtClean="0"/>
                        <a:t>17</a:t>
                      </a:r>
                      <a:endParaRPr lang="en-US" sz="1600" dirty="0"/>
                    </a:p>
                  </a:txBody>
                  <a:tcPr marL="36000" marR="3600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SG" sz="1600" dirty="0" smtClean="0"/>
                        <a:t>Nagata</a:t>
                      </a:r>
                      <a:endParaRPr lang="en-US" sz="1600" dirty="0" smtClean="0"/>
                    </a:p>
                  </a:txBody>
                  <a:tcPr marL="36000" marR="36000">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4214480683"/>
              </p:ext>
            </p:extLst>
          </p:nvPr>
        </p:nvGraphicFramePr>
        <p:xfrm>
          <a:off x="5889171" y="4263626"/>
          <a:ext cx="3048000" cy="1375172"/>
        </p:xfrm>
        <a:graphic>
          <a:graphicData uri="http://schemas.openxmlformats.org/drawingml/2006/table">
            <a:tbl>
              <a:tblPr firstRow="1" bandRow="1">
                <a:tableStyleId>{93296810-A885-4BE3-A3E7-6D5BEEA58F35}</a:tableStyleId>
              </a:tblPr>
              <a:tblGrid>
                <a:gridCol w="10668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tblGrid>
              <a:tr h="343793">
                <a:tc>
                  <a:txBody>
                    <a:bodyPr/>
                    <a:lstStyle/>
                    <a:p>
                      <a:pPr algn="ctr"/>
                      <a:r>
                        <a:rPr lang="en-SG" sz="1600" dirty="0" err="1" smtClean="0"/>
                        <a:t>SuppNum</a:t>
                      </a:r>
                      <a:endParaRPr lang="en-US" sz="1600" dirty="0"/>
                    </a:p>
                  </a:txBody>
                  <a:tcPr marL="36000" marR="3600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SG" sz="1600" dirty="0" err="1" smtClean="0"/>
                        <a:t>PartNum</a:t>
                      </a:r>
                      <a:endParaRPr lang="en-US" sz="1600" dirty="0"/>
                    </a:p>
                  </a:txBody>
                  <a:tcPr marL="36000" marR="36000">
                    <a:lnT w="12700" cap="flat" cmpd="sng" algn="ctr">
                      <a:solidFill>
                        <a:schemeClr val="tx1"/>
                      </a:solidFill>
                      <a:prstDash val="solid"/>
                      <a:round/>
                      <a:headEnd type="none" w="med" len="med"/>
                      <a:tailEnd type="none" w="med" len="med"/>
                    </a:lnT>
                  </a:tcPr>
                </a:tc>
                <a:tc>
                  <a:txBody>
                    <a:bodyPr/>
                    <a:lstStyle/>
                    <a:p>
                      <a:pPr algn="ctr"/>
                      <a:r>
                        <a:rPr lang="en-SG" sz="1600" dirty="0" smtClean="0"/>
                        <a:t>Quantity</a:t>
                      </a:r>
                      <a:endParaRPr lang="en-US" sz="1600" dirty="0"/>
                    </a:p>
                  </a:txBody>
                  <a:tcPr marL="36000" marR="3600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343793">
                <a:tc>
                  <a:txBody>
                    <a:bodyPr/>
                    <a:lstStyle/>
                    <a:p>
                      <a:pPr algn="ctr"/>
                      <a:r>
                        <a:rPr lang="en-SG" sz="1600" dirty="0" smtClean="0">
                          <a:solidFill>
                            <a:schemeClr val="tx1"/>
                          </a:solidFill>
                        </a:rPr>
                        <a:t>1</a:t>
                      </a:r>
                      <a:endParaRPr lang="en-US" sz="1600" dirty="0">
                        <a:solidFill>
                          <a:schemeClr val="tx1"/>
                        </a:solidFill>
                      </a:endParaRPr>
                    </a:p>
                  </a:txBody>
                  <a:tcPr marL="36000" marR="36000">
                    <a:lnL w="12700" cap="flat" cmpd="sng" algn="ctr">
                      <a:solidFill>
                        <a:schemeClr val="tx1"/>
                      </a:solidFill>
                      <a:prstDash val="solid"/>
                      <a:round/>
                      <a:headEnd type="none" w="med" len="med"/>
                      <a:tailEnd type="none" w="med" len="med"/>
                    </a:lnL>
                  </a:tcPr>
                </a:tc>
                <a:tc>
                  <a:txBody>
                    <a:bodyPr/>
                    <a:lstStyle/>
                    <a:p>
                      <a:pPr algn="ctr"/>
                      <a:r>
                        <a:rPr lang="en-SG" sz="1600" dirty="0" smtClean="0">
                          <a:solidFill>
                            <a:schemeClr val="tx1"/>
                          </a:solidFill>
                        </a:rPr>
                        <a:t>P-001</a:t>
                      </a:r>
                      <a:endParaRPr lang="en-US" sz="1600" dirty="0">
                        <a:solidFill>
                          <a:schemeClr val="tx1"/>
                        </a:solidFill>
                      </a:endParaRPr>
                    </a:p>
                  </a:txBody>
                  <a:tcPr marL="36000" marR="36000"/>
                </a:tc>
                <a:tc>
                  <a:txBody>
                    <a:bodyPr/>
                    <a:lstStyle/>
                    <a:p>
                      <a:pPr algn="ctr"/>
                      <a:r>
                        <a:rPr lang="en-SG" sz="1600" dirty="0" smtClean="0">
                          <a:solidFill>
                            <a:schemeClr val="tx1"/>
                          </a:solidFill>
                        </a:rPr>
                        <a:t>719</a:t>
                      </a:r>
                      <a:endParaRPr lang="en-US" sz="1600" dirty="0">
                        <a:solidFill>
                          <a:schemeClr val="tx1"/>
                        </a:solidFill>
                      </a:endParaRPr>
                    </a:p>
                  </a:txBody>
                  <a:tcPr marL="36000" marR="3600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43793">
                <a:tc>
                  <a:txBody>
                    <a:bodyPr/>
                    <a:lstStyle/>
                    <a:p>
                      <a:pPr algn="ctr"/>
                      <a:r>
                        <a:rPr lang="en-SG" sz="1600" dirty="0" smtClean="0">
                          <a:solidFill>
                            <a:srgbClr val="FF0000"/>
                          </a:solidFill>
                        </a:rPr>
                        <a:t>1</a:t>
                      </a:r>
                      <a:endParaRPr lang="en-US" sz="1600" dirty="0">
                        <a:solidFill>
                          <a:srgbClr val="FF0000"/>
                        </a:solidFill>
                      </a:endParaRPr>
                    </a:p>
                  </a:txBody>
                  <a:tcPr marL="36000" marR="36000">
                    <a:lnL w="12700" cap="flat" cmpd="sng" algn="ctr">
                      <a:solidFill>
                        <a:schemeClr val="tx1"/>
                      </a:solidFill>
                      <a:prstDash val="solid"/>
                      <a:round/>
                      <a:headEnd type="none" w="med" len="med"/>
                      <a:tailEnd type="none" w="med" len="med"/>
                    </a:lnL>
                  </a:tcPr>
                </a:tc>
                <a:tc>
                  <a:txBody>
                    <a:bodyPr/>
                    <a:lstStyle/>
                    <a:p>
                      <a:pPr algn="ctr"/>
                      <a:r>
                        <a:rPr lang="en-SG" sz="1600" dirty="0" smtClean="0">
                          <a:solidFill>
                            <a:srgbClr val="FF0000"/>
                          </a:solidFill>
                        </a:rPr>
                        <a:t>P-002</a:t>
                      </a:r>
                      <a:endParaRPr lang="en-US" sz="1600" dirty="0">
                        <a:solidFill>
                          <a:srgbClr val="FF0000"/>
                        </a:solidFill>
                      </a:endParaRPr>
                    </a:p>
                  </a:txBody>
                  <a:tcPr marL="36000" marR="36000"/>
                </a:tc>
                <a:tc>
                  <a:txBody>
                    <a:bodyPr/>
                    <a:lstStyle/>
                    <a:p>
                      <a:pPr algn="ctr"/>
                      <a:r>
                        <a:rPr lang="en-SG" sz="1600" dirty="0" smtClean="0">
                          <a:solidFill>
                            <a:srgbClr val="FF0000"/>
                          </a:solidFill>
                        </a:rPr>
                        <a:t>719</a:t>
                      </a:r>
                      <a:endParaRPr lang="en-US" sz="1600" dirty="0">
                        <a:solidFill>
                          <a:srgbClr val="FF0000"/>
                        </a:solidFill>
                      </a:endParaRPr>
                    </a:p>
                  </a:txBody>
                  <a:tcPr marL="36000" marR="3600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43793">
                <a:tc>
                  <a:txBody>
                    <a:bodyPr/>
                    <a:lstStyle/>
                    <a:p>
                      <a:pPr algn="ctr"/>
                      <a:r>
                        <a:rPr lang="en-SG" sz="1600" dirty="0" smtClean="0"/>
                        <a:t>17</a:t>
                      </a:r>
                      <a:endParaRPr lang="en-US" sz="1600" dirty="0"/>
                    </a:p>
                  </a:txBody>
                  <a:tcPr marL="36000" marR="3600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SG" sz="1600" dirty="0" smtClean="0"/>
                        <a:t>P-942</a:t>
                      </a:r>
                      <a:endParaRPr lang="en-US" sz="1600" dirty="0"/>
                    </a:p>
                  </a:txBody>
                  <a:tcPr marL="36000" marR="36000">
                    <a:lnB w="12700" cap="flat" cmpd="sng" algn="ctr">
                      <a:solidFill>
                        <a:schemeClr val="tx1"/>
                      </a:solidFill>
                      <a:prstDash val="solid"/>
                      <a:round/>
                      <a:headEnd type="none" w="med" len="med"/>
                      <a:tailEnd type="none" w="med" len="med"/>
                    </a:lnB>
                  </a:tcPr>
                </a:tc>
                <a:tc>
                  <a:txBody>
                    <a:bodyPr/>
                    <a:lstStyle/>
                    <a:p>
                      <a:pPr algn="ctr"/>
                      <a:r>
                        <a:rPr lang="en-SG" sz="1600" dirty="0" smtClean="0"/>
                        <a:t>105</a:t>
                      </a:r>
                      <a:endParaRPr lang="en-US" sz="1600" dirty="0"/>
                    </a:p>
                  </a:txBody>
                  <a:tcPr marL="36000" marR="36000">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cxnSp>
        <p:nvCxnSpPr>
          <p:cNvPr id="11" name="Straight Connector 10"/>
          <p:cNvCxnSpPr/>
          <p:nvPr/>
        </p:nvCxnSpPr>
        <p:spPr>
          <a:xfrm>
            <a:off x="3657600" y="5098196"/>
            <a:ext cx="1828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6248400" y="5105400"/>
            <a:ext cx="2438400"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Rectangle 10"/>
          <p:cNvSpPr>
            <a:spLocks noChangeArrowheads="1"/>
          </p:cNvSpPr>
          <p:nvPr/>
        </p:nvSpPr>
        <p:spPr bwMode="auto">
          <a:xfrm>
            <a:off x="5334000" y="2819400"/>
            <a:ext cx="918319" cy="442035"/>
          </a:xfrm>
          <a:prstGeom prst="rect">
            <a:avLst/>
          </a:prstGeom>
          <a:noFill/>
          <a:ln w="9525">
            <a:noFill/>
            <a:miter lim="800000"/>
            <a:headEnd/>
            <a:tailEnd/>
          </a:ln>
        </p:spPr>
        <p:txBody>
          <a:bodyPr wrap="none" lIns="36000" tIns="36000" rIns="36000" bIns="36000">
            <a:spAutoFit/>
          </a:bodyPr>
          <a:lstStyle/>
          <a:p>
            <a:pPr>
              <a:defRPr/>
            </a:pPr>
            <a:r>
              <a:rPr lang="en-US" sz="2400" b="1" dirty="0" smtClean="0">
                <a:latin typeface="+mn-lt"/>
              </a:rPr>
              <a:t>Before</a:t>
            </a:r>
            <a:endParaRPr lang="en-US" sz="2400" dirty="0">
              <a:solidFill>
                <a:srgbClr val="C00000"/>
              </a:solidFill>
              <a:latin typeface="+mn-lt"/>
            </a:endParaRPr>
          </a:p>
        </p:txBody>
      </p:sp>
      <p:sp>
        <p:nvSpPr>
          <p:cNvPr id="15" name="Rectangle 10"/>
          <p:cNvSpPr>
            <a:spLocks noChangeArrowheads="1"/>
          </p:cNvSpPr>
          <p:nvPr/>
        </p:nvSpPr>
        <p:spPr bwMode="auto">
          <a:xfrm>
            <a:off x="2552052" y="4663365"/>
            <a:ext cx="724548" cy="442035"/>
          </a:xfrm>
          <a:prstGeom prst="rect">
            <a:avLst/>
          </a:prstGeom>
          <a:noFill/>
          <a:ln w="9525">
            <a:noFill/>
            <a:miter lim="800000"/>
            <a:headEnd/>
            <a:tailEnd/>
          </a:ln>
        </p:spPr>
        <p:txBody>
          <a:bodyPr wrap="none" lIns="36000" tIns="36000" rIns="36000" bIns="36000">
            <a:spAutoFit/>
          </a:bodyPr>
          <a:lstStyle/>
          <a:p>
            <a:pPr>
              <a:defRPr/>
            </a:pPr>
            <a:r>
              <a:rPr lang="en-US" sz="2400" b="1" dirty="0" smtClean="0">
                <a:latin typeface="+mn-lt"/>
              </a:rPr>
              <a:t>After</a:t>
            </a:r>
            <a:endParaRPr lang="en-US" sz="2400" dirty="0">
              <a:solidFill>
                <a:srgbClr val="C00000"/>
              </a:solidFill>
              <a:latin typeface="+mn-lt"/>
            </a:endParaRPr>
          </a:p>
        </p:txBody>
      </p:sp>
      <p:sp>
        <p:nvSpPr>
          <p:cNvPr id="16" name="Rectangle 10"/>
          <p:cNvSpPr>
            <a:spLocks noChangeArrowheads="1"/>
          </p:cNvSpPr>
          <p:nvPr/>
        </p:nvSpPr>
        <p:spPr bwMode="auto">
          <a:xfrm>
            <a:off x="2817840" y="3795876"/>
            <a:ext cx="1068360" cy="318924"/>
          </a:xfrm>
          <a:prstGeom prst="wedgeRectCallout">
            <a:avLst>
              <a:gd name="adj1" fmla="val -19474"/>
              <a:gd name="adj2" fmla="val -215112"/>
            </a:avLst>
          </a:prstGeom>
          <a:noFill/>
          <a:ln w="9525">
            <a:solidFill>
              <a:srgbClr val="FF0000"/>
            </a:solidFill>
            <a:miter lim="800000"/>
            <a:headEnd/>
            <a:tailEnd/>
          </a:ln>
        </p:spPr>
        <p:txBody>
          <a:bodyPr wrap="none" lIns="36000" tIns="36000" rIns="36000" bIns="36000">
            <a:spAutoFit/>
          </a:bodyPr>
          <a:lstStyle/>
          <a:p>
            <a:pPr>
              <a:defRPr/>
            </a:pPr>
            <a:r>
              <a:rPr lang="en-US" sz="1600" dirty="0" smtClean="0">
                <a:latin typeface="+mn-lt"/>
              </a:rPr>
              <a:t>(Typo error)</a:t>
            </a:r>
            <a:endParaRPr lang="en-US" sz="1600" dirty="0">
              <a:solidFill>
                <a:srgbClr val="C00000"/>
              </a:solidFill>
              <a:latin typeface="+mn-lt"/>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99FF99"/>
        </a:solidFill>
        <a:effectLst/>
      </p:bgPr>
    </p:bg>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685800" y="195942"/>
            <a:ext cx="4995863" cy="585787"/>
          </a:xfrm>
        </p:spPr>
        <p:txBody>
          <a:bodyPr wrap="none" lIns="36000" tIns="36000" rIns="36000" bIns="36000" anchor="t">
            <a:spAutoFit/>
          </a:bodyPr>
          <a:lstStyle/>
          <a:p>
            <a:pPr algn="l" eaLnBrk="1" hangingPunct="1">
              <a:defRPr/>
            </a:pPr>
            <a:r>
              <a:rPr lang="en-GB" sz="3200" b="1" dirty="0" smtClean="0">
                <a:solidFill>
                  <a:srgbClr val="C00000"/>
                </a:solidFill>
                <a:latin typeface="+mn-lt"/>
              </a:rPr>
              <a:t>What can Normalization do?</a:t>
            </a:r>
            <a:endParaRPr lang="en-US" sz="3200" b="1" dirty="0" smtClean="0">
              <a:solidFill>
                <a:srgbClr val="C00000"/>
              </a:solidFill>
              <a:latin typeface="+mn-lt"/>
            </a:endParaRPr>
          </a:p>
        </p:txBody>
      </p:sp>
      <p:sp>
        <p:nvSpPr>
          <p:cNvPr id="6148" name="Rectangle 4"/>
          <p:cNvSpPr>
            <a:spLocks noChangeArrowheads="1"/>
          </p:cNvSpPr>
          <p:nvPr/>
        </p:nvSpPr>
        <p:spPr bwMode="auto">
          <a:xfrm>
            <a:off x="1037772" y="1325079"/>
            <a:ext cx="7268028" cy="380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36000" rIns="36000" bIns="36000">
            <a:spAutoFit/>
          </a:bodyPr>
          <a:lstStyle>
            <a:lvl1pPr marL="514350" indent="-514350"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indent="0" eaLnBrk="1" hangingPunct="1">
              <a:spcBef>
                <a:spcPct val="0"/>
              </a:spcBef>
              <a:buNone/>
            </a:pPr>
            <a:r>
              <a:rPr lang="en-US" altLang="en-US" sz="2000" dirty="0" smtClean="0"/>
              <a:t>The same data could appear in multiple records or relations). </a:t>
            </a:r>
          </a:p>
        </p:txBody>
      </p:sp>
      <p:sp>
        <p:nvSpPr>
          <p:cNvPr id="14" name="Rectangle 4"/>
          <p:cNvSpPr>
            <a:spLocks noChangeArrowheads="1"/>
          </p:cNvSpPr>
          <p:nvPr/>
        </p:nvSpPr>
        <p:spPr bwMode="auto">
          <a:xfrm>
            <a:off x="685800" y="914400"/>
            <a:ext cx="8172000" cy="503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spAutoFit/>
          </a:bodyPr>
          <a:lstStyle>
            <a:lvl1pPr marL="514350" indent="-514350"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363538" indent="-363538" eaLnBrk="1" hangingPunct="1">
              <a:spcBef>
                <a:spcPct val="0"/>
              </a:spcBef>
              <a:buFont typeface="+mj-lt"/>
              <a:buAutoNum type="arabicParenR" startAt="2"/>
            </a:pPr>
            <a:r>
              <a:rPr lang="en-US" altLang="en-US" sz="2800" dirty="0" smtClean="0"/>
              <a:t>Remove </a:t>
            </a:r>
            <a:r>
              <a:rPr lang="en-US" altLang="en-US" sz="2800" dirty="0">
                <a:solidFill>
                  <a:srgbClr val="C00000"/>
                </a:solidFill>
              </a:rPr>
              <a:t>redundancies </a:t>
            </a:r>
            <a:r>
              <a:rPr lang="en-US" altLang="en-US" sz="2800" dirty="0" smtClean="0"/>
              <a:t>:  </a:t>
            </a:r>
          </a:p>
        </p:txBody>
      </p:sp>
      <p:graphicFrame>
        <p:nvGraphicFramePr>
          <p:cNvPr id="17" name="Table 16"/>
          <p:cNvGraphicFramePr>
            <a:graphicFrameLocks noGrp="1"/>
          </p:cNvGraphicFramePr>
          <p:nvPr>
            <p:extLst>
              <p:ext uri="{D42A27DB-BD31-4B8C-83A1-F6EECF244321}">
                <p14:modId xmlns:p14="http://schemas.microsoft.com/office/powerpoint/2010/main" val="1850514874"/>
              </p:ext>
            </p:extLst>
          </p:nvPr>
        </p:nvGraphicFramePr>
        <p:xfrm>
          <a:off x="5681663" y="3642360"/>
          <a:ext cx="2209800" cy="1005840"/>
        </p:xfrm>
        <a:graphic>
          <a:graphicData uri="http://schemas.openxmlformats.org/drawingml/2006/table">
            <a:tbl>
              <a:tblPr firstRow="1" bandRow="1">
                <a:tableStyleId>{00A15C55-8517-42AA-B614-E9B94910E393}</a:tableStyleId>
              </a:tblPr>
              <a:tblGrid>
                <a:gridCol w="10668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tblGrid>
              <a:tr h="309664">
                <a:tc>
                  <a:txBody>
                    <a:bodyPr/>
                    <a:lstStyle/>
                    <a:p>
                      <a:pPr algn="ctr"/>
                      <a:r>
                        <a:rPr lang="en-SG" sz="1600" dirty="0" err="1" smtClean="0"/>
                        <a:t>SuppNum</a:t>
                      </a:r>
                      <a:endParaRPr lang="en-US" sz="1600" dirty="0"/>
                    </a:p>
                  </a:txBody>
                  <a:tcPr marL="36000" marR="3600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tx1">
                        <a:lumMod val="50000"/>
                        <a:lumOff val="50000"/>
                      </a:schemeClr>
                    </a:solidFill>
                  </a:tcPr>
                </a:tc>
                <a:tc>
                  <a:txBody>
                    <a:bodyPr/>
                    <a:lstStyle/>
                    <a:p>
                      <a:r>
                        <a:rPr lang="en-SG" sz="1600" dirty="0" err="1" smtClean="0"/>
                        <a:t>SuppName</a:t>
                      </a:r>
                      <a:endParaRPr lang="en-US" sz="1600" dirty="0"/>
                    </a:p>
                  </a:txBody>
                  <a:tcPr marL="36000" marR="3600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tx1">
                        <a:lumMod val="50000"/>
                        <a:lumOff val="50000"/>
                      </a:schemeClr>
                    </a:solidFill>
                  </a:tcPr>
                </a:tc>
                <a:extLst>
                  <a:ext uri="{0D108BD9-81ED-4DB2-BD59-A6C34878D82A}">
                    <a16:rowId xmlns:a16="http://schemas.microsoft.com/office/drawing/2014/main" val="10000"/>
                  </a:ext>
                </a:extLst>
              </a:tr>
              <a:tr h="309664">
                <a:tc>
                  <a:txBody>
                    <a:bodyPr/>
                    <a:lstStyle/>
                    <a:p>
                      <a:pPr algn="ctr"/>
                      <a:r>
                        <a:rPr lang="en-SG" sz="1600" dirty="0" smtClean="0"/>
                        <a:t>1</a:t>
                      </a:r>
                      <a:endParaRPr lang="en-US" sz="1600" dirty="0"/>
                    </a:p>
                  </a:txBody>
                  <a:tcPr marL="36000" marR="36000">
                    <a:lnL w="12700" cap="flat" cmpd="sng" algn="ctr">
                      <a:solidFill>
                        <a:schemeClr val="tx1"/>
                      </a:solidFill>
                      <a:prstDash val="solid"/>
                      <a:round/>
                      <a:headEnd type="none" w="med" len="med"/>
                      <a:tailEnd type="none" w="med" len="med"/>
                    </a:lnL>
                  </a:tcPr>
                </a:tc>
                <a:tc>
                  <a:txBody>
                    <a:bodyPr/>
                    <a:lstStyle/>
                    <a:p>
                      <a:r>
                        <a:rPr lang="en-SG" sz="1600" dirty="0" err="1" smtClean="0"/>
                        <a:t>Gozzo</a:t>
                      </a:r>
                      <a:r>
                        <a:rPr lang="en-SG" sz="1600" baseline="0" dirty="0" smtClean="0"/>
                        <a:t> </a:t>
                      </a:r>
                      <a:endParaRPr lang="en-US" sz="1600" dirty="0"/>
                    </a:p>
                  </a:txBody>
                  <a:tcPr marL="36000" marR="3600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09664">
                <a:tc>
                  <a:txBody>
                    <a:bodyPr/>
                    <a:lstStyle/>
                    <a:p>
                      <a:pPr algn="ctr"/>
                      <a:r>
                        <a:rPr lang="en-SG" sz="1600" dirty="0" smtClean="0">
                          <a:solidFill>
                            <a:srgbClr val="FF0000"/>
                          </a:solidFill>
                        </a:rPr>
                        <a:t>17</a:t>
                      </a:r>
                      <a:endParaRPr lang="en-US" sz="1600" dirty="0">
                        <a:solidFill>
                          <a:srgbClr val="FF0000"/>
                        </a:solidFill>
                      </a:endParaRPr>
                    </a:p>
                  </a:txBody>
                  <a:tcPr marL="36000" marR="3600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SG" sz="1600" dirty="0" smtClean="0">
                          <a:solidFill>
                            <a:srgbClr val="FF0000"/>
                          </a:solidFill>
                        </a:rPr>
                        <a:t>Nagata</a:t>
                      </a:r>
                      <a:endParaRPr lang="en-US" sz="1600" dirty="0" smtClean="0">
                        <a:solidFill>
                          <a:srgbClr val="FF0000"/>
                        </a:solidFill>
                      </a:endParaRPr>
                    </a:p>
                  </a:txBody>
                  <a:tcPr marL="36000" marR="36000">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2" name="Right Arrow 11"/>
          <p:cNvSpPr/>
          <p:nvPr/>
        </p:nvSpPr>
        <p:spPr>
          <a:xfrm>
            <a:off x="4671786" y="4175760"/>
            <a:ext cx="533400" cy="196776"/>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9" name="Table 18"/>
          <p:cNvGraphicFramePr>
            <a:graphicFrameLocks noGrp="1"/>
          </p:cNvGraphicFramePr>
          <p:nvPr>
            <p:extLst>
              <p:ext uri="{D42A27DB-BD31-4B8C-83A1-F6EECF244321}">
                <p14:modId xmlns:p14="http://schemas.microsoft.com/office/powerpoint/2010/main" val="3681538111"/>
              </p:ext>
            </p:extLst>
          </p:nvPr>
        </p:nvGraphicFramePr>
        <p:xfrm>
          <a:off x="1143000" y="1828800"/>
          <a:ext cx="4191000" cy="1676400"/>
        </p:xfrm>
        <a:graphic>
          <a:graphicData uri="http://schemas.openxmlformats.org/drawingml/2006/table">
            <a:tbl>
              <a:tblPr firstRow="1" bandRow="1">
                <a:tableStyleId>{073A0DAA-6AF3-43AB-8588-CEC1D06C72B9}</a:tableStyleId>
              </a:tblPr>
              <a:tblGrid>
                <a:gridCol w="10668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tblGrid>
              <a:tr h="308538">
                <a:tc>
                  <a:txBody>
                    <a:bodyPr/>
                    <a:lstStyle/>
                    <a:p>
                      <a:pPr algn="ctr"/>
                      <a:r>
                        <a:rPr lang="en-SG" sz="1600" dirty="0" err="1" smtClean="0"/>
                        <a:t>SuppNum</a:t>
                      </a:r>
                      <a:endParaRPr lang="en-US" sz="1600" dirty="0"/>
                    </a:p>
                  </a:txBody>
                  <a:tcPr marL="36000" marR="3600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SG" sz="1600" dirty="0" err="1" smtClean="0"/>
                        <a:t>SuppName</a:t>
                      </a:r>
                      <a:endParaRPr lang="en-US" sz="1600" dirty="0"/>
                    </a:p>
                  </a:txBody>
                  <a:tcPr marL="36000" marR="36000">
                    <a:lnT w="12700" cap="flat" cmpd="sng" algn="ctr">
                      <a:solidFill>
                        <a:schemeClr val="tx1"/>
                      </a:solidFill>
                      <a:prstDash val="solid"/>
                      <a:round/>
                      <a:headEnd type="none" w="med" len="med"/>
                      <a:tailEnd type="none" w="med" len="med"/>
                    </a:lnT>
                  </a:tcPr>
                </a:tc>
                <a:tc>
                  <a:txBody>
                    <a:bodyPr/>
                    <a:lstStyle/>
                    <a:p>
                      <a:pPr algn="ctr"/>
                      <a:r>
                        <a:rPr lang="en-SG" sz="1600" dirty="0" err="1" smtClean="0"/>
                        <a:t>PartNum</a:t>
                      </a:r>
                      <a:endParaRPr lang="en-US" sz="1600" dirty="0"/>
                    </a:p>
                  </a:txBody>
                  <a:tcPr marL="36000" marR="36000">
                    <a:lnT w="12700" cap="flat" cmpd="sng" algn="ctr">
                      <a:solidFill>
                        <a:schemeClr val="tx1"/>
                      </a:solidFill>
                      <a:prstDash val="solid"/>
                      <a:round/>
                      <a:headEnd type="none" w="med" len="med"/>
                      <a:tailEnd type="none" w="med" len="med"/>
                    </a:lnT>
                  </a:tcPr>
                </a:tc>
                <a:tc>
                  <a:txBody>
                    <a:bodyPr/>
                    <a:lstStyle/>
                    <a:p>
                      <a:pPr algn="ctr"/>
                      <a:r>
                        <a:rPr lang="en-SG" sz="1600" dirty="0" err="1" smtClean="0"/>
                        <a:t>Date_In</a:t>
                      </a:r>
                      <a:endParaRPr lang="en-US" sz="1600" dirty="0"/>
                    </a:p>
                  </a:txBody>
                  <a:tcPr marL="36000" marR="3600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308538">
                <a:tc>
                  <a:txBody>
                    <a:bodyPr/>
                    <a:lstStyle/>
                    <a:p>
                      <a:pPr algn="ctr"/>
                      <a:r>
                        <a:rPr lang="en-SG" sz="1600" dirty="0" smtClean="0">
                          <a:solidFill>
                            <a:schemeClr val="tx1"/>
                          </a:solidFill>
                        </a:rPr>
                        <a:t>1</a:t>
                      </a:r>
                      <a:endParaRPr lang="en-US" sz="1600" dirty="0">
                        <a:solidFill>
                          <a:schemeClr val="tx1"/>
                        </a:solidFill>
                      </a:endParaRPr>
                    </a:p>
                  </a:txBody>
                  <a:tcPr marL="36000" marR="36000">
                    <a:lnL w="12700" cap="flat" cmpd="sng" algn="ctr">
                      <a:solidFill>
                        <a:schemeClr val="tx1"/>
                      </a:solidFill>
                      <a:prstDash val="solid"/>
                      <a:round/>
                      <a:headEnd type="none" w="med" len="med"/>
                      <a:tailEnd type="none" w="med" len="med"/>
                    </a:lnL>
                  </a:tcPr>
                </a:tc>
                <a:tc>
                  <a:txBody>
                    <a:bodyPr/>
                    <a:lstStyle/>
                    <a:p>
                      <a:r>
                        <a:rPr lang="en-SG" sz="1600" dirty="0" err="1" smtClean="0">
                          <a:solidFill>
                            <a:schemeClr val="tx1"/>
                          </a:solidFill>
                        </a:rPr>
                        <a:t>Gozzo</a:t>
                      </a:r>
                      <a:r>
                        <a:rPr lang="en-SG" sz="1600" baseline="0" dirty="0" smtClean="0">
                          <a:solidFill>
                            <a:schemeClr val="tx1"/>
                          </a:solidFill>
                        </a:rPr>
                        <a:t> </a:t>
                      </a:r>
                      <a:endParaRPr lang="en-US" sz="1600" dirty="0">
                        <a:solidFill>
                          <a:schemeClr val="tx1"/>
                        </a:solidFill>
                      </a:endParaRPr>
                    </a:p>
                  </a:txBody>
                  <a:tcPr marL="36000" marR="36000"/>
                </a:tc>
                <a:tc>
                  <a:txBody>
                    <a:bodyPr/>
                    <a:lstStyle/>
                    <a:p>
                      <a:pPr algn="ctr"/>
                      <a:r>
                        <a:rPr lang="en-SG" sz="1600" dirty="0" smtClean="0">
                          <a:solidFill>
                            <a:schemeClr val="tx1"/>
                          </a:solidFill>
                        </a:rPr>
                        <a:t>P-001</a:t>
                      </a:r>
                      <a:endParaRPr lang="en-US" sz="1600" dirty="0">
                        <a:solidFill>
                          <a:schemeClr val="tx1"/>
                        </a:solidFill>
                      </a:endParaRPr>
                    </a:p>
                  </a:txBody>
                  <a:tcPr marL="36000" marR="36000"/>
                </a:tc>
                <a:tc>
                  <a:txBody>
                    <a:bodyPr/>
                    <a:lstStyle/>
                    <a:p>
                      <a:pPr algn="ctr"/>
                      <a:r>
                        <a:rPr lang="en-SG" sz="1600" dirty="0" smtClean="0">
                          <a:solidFill>
                            <a:schemeClr val="tx1"/>
                          </a:solidFill>
                        </a:rPr>
                        <a:t>Mar-2018</a:t>
                      </a:r>
                      <a:endParaRPr lang="en-US" sz="1600" dirty="0">
                        <a:solidFill>
                          <a:schemeClr val="tx1"/>
                        </a:solidFill>
                      </a:endParaRPr>
                    </a:p>
                  </a:txBody>
                  <a:tcPr marL="36000" marR="3600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08538">
                <a:tc>
                  <a:txBody>
                    <a:bodyPr/>
                    <a:lstStyle/>
                    <a:p>
                      <a:pPr algn="ctr"/>
                      <a:r>
                        <a:rPr lang="en-SG" sz="1600" dirty="0" smtClean="0">
                          <a:solidFill>
                            <a:schemeClr val="tx1"/>
                          </a:solidFill>
                        </a:rPr>
                        <a:t>1</a:t>
                      </a:r>
                      <a:endParaRPr lang="en-US" sz="1600" dirty="0">
                        <a:solidFill>
                          <a:schemeClr val="tx1"/>
                        </a:solidFill>
                      </a:endParaRPr>
                    </a:p>
                  </a:txBody>
                  <a:tcPr marL="36000" marR="36000">
                    <a:lnL w="12700" cap="flat" cmpd="sng" algn="ctr">
                      <a:solidFill>
                        <a:schemeClr val="tx1"/>
                      </a:solidFill>
                      <a:prstDash val="solid"/>
                      <a:round/>
                      <a:headEnd type="none" w="med" len="med"/>
                      <a:tailEnd type="none" w="med" len="med"/>
                    </a:ln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SG" sz="1600" dirty="0" err="1" smtClean="0">
                          <a:solidFill>
                            <a:schemeClr val="tx1"/>
                          </a:solidFill>
                        </a:rPr>
                        <a:t>Gozzo</a:t>
                      </a:r>
                      <a:endParaRPr lang="en-US" sz="1600" dirty="0" smtClean="0">
                        <a:solidFill>
                          <a:schemeClr val="tx1"/>
                        </a:solidFill>
                      </a:endParaRPr>
                    </a:p>
                  </a:txBody>
                  <a:tcPr marL="36000" marR="36000"/>
                </a:tc>
                <a:tc>
                  <a:txBody>
                    <a:bodyPr/>
                    <a:lstStyle/>
                    <a:p>
                      <a:pPr algn="ctr"/>
                      <a:r>
                        <a:rPr lang="en-SG" sz="1600" dirty="0" smtClean="0">
                          <a:solidFill>
                            <a:schemeClr val="tx1"/>
                          </a:solidFill>
                        </a:rPr>
                        <a:t>P-011</a:t>
                      </a:r>
                      <a:endParaRPr lang="en-US" sz="1600" dirty="0">
                        <a:solidFill>
                          <a:schemeClr val="tx1"/>
                        </a:solidFill>
                      </a:endParaRPr>
                    </a:p>
                  </a:txBody>
                  <a:tcPr marL="36000" marR="36000"/>
                </a:tc>
                <a:tc>
                  <a:txBody>
                    <a:bodyPr/>
                    <a:lstStyle/>
                    <a:p>
                      <a:pPr algn="ctr"/>
                      <a:r>
                        <a:rPr lang="en-SG" sz="1600" dirty="0" smtClean="0">
                          <a:solidFill>
                            <a:schemeClr val="tx1"/>
                          </a:solidFill>
                        </a:rPr>
                        <a:t>Apr-2018</a:t>
                      </a:r>
                      <a:endParaRPr lang="en-US" sz="1600" dirty="0">
                        <a:solidFill>
                          <a:schemeClr val="tx1"/>
                        </a:solidFill>
                      </a:endParaRPr>
                    </a:p>
                  </a:txBody>
                  <a:tcPr marL="36000" marR="3600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08538">
                <a:tc>
                  <a:txBody>
                    <a:bodyPr/>
                    <a:lstStyle/>
                    <a:p>
                      <a:pPr algn="ctr"/>
                      <a:r>
                        <a:rPr lang="en-SG" sz="1600" dirty="0" smtClean="0">
                          <a:solidFill>
                            <a:srgbClr val="FF0000"/>
                          </a:solidFill>
                        </a:rPr>
                        <a:t>17</a:t>
                      </a:r>
                      <a:endParaRPr lang="en-US" sz="1600" dirty="0">
                        <a:solidFill>
                          <a:srgbClr val="FF0000"/>
                        </a:solidFill>
                      </a:endParaRPr>
                    </a:p>
                  </a:txBody>
                  <a:tcPr marL="36000" marR="36000">
                    <a:lnL w="12700" cap="flat" cmpd="sng" algn="ctr">
                      <a:solidFill>
                        <a:schemeClr val="tx1"/>
                      </a:solidFill>
                      <a:prstDash val="solid"/>
                      <a:round/>
                      <a:headEnd type="none" w="med" len="med"/>
                      <a:tailEnd type="none" w="med" len="med"/>
                    </a:ln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SG" sz="1600" dirty="0" smtClean="0">
                          <a:solidFill>
                            <a:srgbClr val="FF0000"/>
                          </a:solidFill>
                        </a:rPr>
                        <a:t>Nagata</a:t>
                      </a:r>
                      <a:endParaRPr lang="en-US" sz="1600" dirty="0" smtClean="0">
                        <a:solidFill>
                          <a:srgbClr val="FF0000"/>
                        </a:solidFill>
                      </a:endParaRPr>
                    </a:p>
                  </a:txBody>
                  <a:tcPr marL="36000" marR="36000"/>
                </a:tc>
                <a:tc>
                  <a:txBody>
                    <a:bodyPr/>
                    <a:lstStyle/>
                    <a:p>
                      <a:pPr algn="ctr"/>
                      <a:r>
                        <a:rPr lang="en-SG" sz="1600" dirty="0" smtClean="0">
                          <a:solidFill>
                            <a:srgbClr val="FF0000"/>
                          </a:solidFill>
                        </a:rPr>
                        <a:t>P-942</a:t>
                      </a:r>
                      <a:endParaRPr lang="en-US" sz="1600" dirty="0">
                        <a:solidFill>
                          <a:srgbClr val="FF0000"/>
                        </a:solidFill>
                      </a:endParaRPr>
                    </a:p>
                  </a:txBody>
                  <a:tcPr marL="36000" marR="36000"/>
                </a:tc>
                <a:tc>
                  <a:txBody>
                    <a:bodyPr/>
                    <a:lstStyle/>
                    <a:p>
                      <a:pPr algn="ctr"/>
                      <a:r>
                        <a:rPr lang="en-SG" sz="1600" dirty="0" smtClean="0">
                          <a:solidFill>
                            <a:srgbClr val="FF0000"/>
                          </a:solidFill>
                        </a:rPr>
                        <a:t>Apr-2018</a:t>
                      </a:r>
                      <a:endParaRPr lang="en-US" sz="1600" dirty="0">
                        <a:solidFill>
                          <a:srgbClr val="FF0000"/>
                        </a:solidFill>
                      </a:endParaRPr>
                    </a:p>
                  </a:txBody>
                  <a:tcPr marL="36000" marR="3600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308538">
                <a:tc>
                  <a:txBody>
                    <a:bodyPr/>
                    <a:lstStyle/>
                    <a:p>
                      <a:pPr algn="ctr"/>
                      <a:r>
                        <a:rPr lang="en-SG" sz="1600" dirty="0" smtClean="0">
                          <a:solidFill>
                            <a:srgbClr val="FF0000"/>
                          </a:solidFill>
                        </a:rPr>
                        <a:t>17</a:t>
                      </a:r>
                      <a:endParaRPr lang="en-US" sz="1600" dirty="0">
                        <a:solidFill>
                          <a:srgbClr val="FF0000"/>
                        </a:solidFill>
                      </a:endParaRPr>
                    </a:p>
                  </a:txBody>
                  <a:tcPr marL="36000" marR="3600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SG" sz="1600" dirty="0" smtClean="0">
                          <a:solidFill>
                            <a:srgbClr val="FF0000"/>
                          </a:solidFill>
                        </a:rPr>
                        <a:t>Nagata</a:t>
                      </a:r>
                      <a:endParaRPr lang="en-US" sz="1600" dirty="0" smtClean="0">
                        <a:solidFill>
                          <a:srgbClr val="FF0000"/>
                        </a:solidFill>
                      </a:endParaRPr>
                    </a:p>
                  </a:txBody>
                  <a:tcPr marL="36000" marR="36000">
                    <a:lnB w="12700" cap="flat" cmpd="sng" algn="ctr">
                      <a:solidFill>
                        <a:schemeClr val="tx1"/>
                      </a:solidFill>
                      <a:prstDash val="solid"/>
                      <a:round/>
                      <a:headEnd type="none" w="med" len="med"/>
                      <a:tailEnd type="none" w="med" len="med"/>
                    </a:lnB>
                  </a:tcPr>
                </a:tc>
                <a:tc>
                  <a:txBody>
                    <a:bodyPr/>
                    <a:lstStyle/>
                    <a:p>
                      <a:pPr algn="ctr"/>
                      <a:r>
                        <a:rPr lang="en-SG" sz="1600" dirty="0" smtClean="0">
                          <a:solidFill>
                            <a:srgbClr val="FF0000"/>
                          </a:solidFill>
                        </a:rPr>
                        <a:t>P-943</a:t>
                      </a:r>
                      <a:endParaRPr lang="en-US" sz="1600" dirty="0">
                        <a:solidFill>
                          <a:srgbClr val="FF0000"/>
                        </a:solidFill>
                      </a:endParaRPr>
                    </a:p>
                  </a:txBody>
                  <a:tcPr marL="36000" marR="36000">
                    <a:lnB w="12700" cap="flat" cmpd="sng" algn="ctr">
                      <a:solidFill>
                        <a:schemeClr val="tx1"/>
                      </a:solidFill>
                      <a:prstDash val="solid"/>
                      <a:round/>
                      <a:headEnd type="none" w="med" len="med"/>
                      <a:tailEnd type="none" w="med" len="med"/>
                    </a:lnB>
                  </a:tcPr>
                </a:tc>
                <a:tc>
                  <a:txBody>
                    <a:bodyPr/>
                    <a:lstStyle/>
                    <a:p>
                      <a:pPr algn="ctr"/>
                      <a:r>
                        <a:rPr lang="en-SG" sz="1600" dirty="0" smtClean="0">
                          <a:solidFill>
                            <a:srgbClr val="FF0000"/>
                          </a:solidFill>
                        </a:rPr>
                        <a:t>May-2018</a:t>
                      </a:r>
                      <a:endParaRPr lang="en-US" sz="1600" dirty="0">
                        <a:solidFill>
                          <a:srgbClr val="FF0000"/>
                        </a:solidFill>
                      </a:endParaRPr>
                    </a:p>
                  </a:txBody>
                  <a:tcPr marL="36000" marR="36000">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1" name="Rectangle 10"/>
          <p:cNvSpPr/>
          <p:nvPr/>
        </p:nvSpPr>
        <p:spPr>
          <a:xfrm>
            <a:off x="685800" y="6320135"/>
            <a:ext cx="7391400" cy="461665"/>
          </a:xfrm>
          <a:prstGeom prst="rect">
            <a:avLst/>
          </a:prstGeom>
          <a:solidFill>
            <a:srgbClr val="FFFF00"/>
          </a:solidFill>
        </p:spPr>
        <p:txBody>
          <a:bodyPr wrap="square">
            <a:spAutoFit/>
          </a:bodyPr>
          <a:lstStyle/>
          <a:p>
            <a:r>
              <a:rPr lang="en-US" altLang="en-US" sz="2400" dirty="0">
                <a:solidFill>
                  <a:srgbClr val="FF0000"/>
                </a:solidFill>
                <a:latin typeface="Calibri" panose="020F0502020204030204" pitchFamily="34" charset="0"/>
              </a:rPr>
              <a:t>Normalization can be adopted as a </a:t>
            </a:r>
            <a:r>
              <a:rPr lang="en-US" altLang="en-US" sz="2400" u="sng" dirty="0">
                <a:solidFill>
                  <a:srgbClr val="002060"/>
                </a:solidFill>
                <a:latin typeface="Calibri" panose="020F0502020204030204" pitchFamily="34" charset="0"/>
              </a:rPr>
              <a:t>refinement process</a:t>
            </a:r>
            <a:r>
              <a:rPr lang="en-US" altLang="en-US" sz="2400" dirty="0">
                <a:latin typeface="Calibri" panose="020F0502020204030204" pitchFamily="34" charset="0"/>
              </a:rPr>
              <a:t>.</a:t>
            </a:r>
          </a:p>
        </p:txBody>
      </p:sp>
      <p:sp>
        <p:nvSpPr>
          <p:cNvPr id="13" name="Rectangle 12"/>
          <p:cNvSpPr/>
          <p:nvPr/>
        </p:nvSpPr>
        <p:spPr>
          <a:xfrm>
            <a:off x="762000" y="5181600"/>
            <a:ext cx="7812000" cy="996033"/>
          </a:xfrm>
          <a:prstGeom prst="rect">
            <a:avLst/>
          </a:prstGeom>
          <a:solidFill>
            <a:srgbClr val="FFCC66"/>
          </a:solidFill>
        </p:spPr>
        <p:txBody>
          <a:bodyPr wrap="square" lIns="36000" tIns="36000" rIns="36000" bIns="36000">
            <a:spAutoFit/>
          </a:bodyPr>
          <a:lstStyle/>
          <a:p>
            <a:r>
              <a:rPr lang="en-US" altLang="en-US" sz="2000" dirty="0">
                <a:solidFill>
                  <a:srgbClr val="C00000"/>
                </a:solidFill>
                <a:latin typeface="Calibri" panose="020F0502020204030204" pitchFamily="34" charset="0"/>
              </a:rPr>
              <a:t>Hence, </a:t>
            </a:r>
            <a:r>
              <a:rPr lang="en-US" altLang="en-US" sz="2000" dirty="0" smtClean="0">
                <a:solidFill>
                  <a:srgbClr val="C00000"/>
                </a:solidFill>
                <a:latin typeface="Calibri" panose="020F0502020204030204" pitchFamily="34" charset="0"/>
              </a:rPr>
              <a:t>being able to remove inconsistency and redundancy in the database, normalization </a:t>
            </a:r>
            <a:r>
              <a:rPr lang="en-US" altLang="en-US" sz="2000" dirty="0">
                <a:solidFill>
                  <a:srgbClr val="C00000"/>
                </a:solidFill>
                <a:latin typeface="Calibri" panose="020F0502020204030204" pitchFamily="34" charset="0"/>
              </a:rPr>
              <a:t>increases the clarity in organizing data in a database. It ensures data dependencies make sense. </a:t>
            </a:r>
          </a:p>
        </p:txBody>
      </p:sp>
      <p:sp>
        <p:nvSpPr>
          <p:cNvPr id="18" name="Rectangle 10"/>
          <p:cNvSpPr>
            <a:spLocks noChangeArrowheads="1"/>
          </p:cNvSpPr>
          <p:nvPr/>
        </p:nvSpPr>
        <p:spPr bwMode="auto">
          <a:xfrm>
            <a:off x="5688920" y="4724400"/>
            <a:ext cx="2636867" cy="257369"/>
          </a:xfrm>
          <a:prstGeom prst="rect">
            <a:avLst/>
          </a:prstGeom>
          <a:noFill/>
          <a:ln w="9525">
            <a:noFill/>
            <a:miter lim="800000"/>
            <a:headEnd/>
            <a:tailEnd/>
          </a:ln>
        </p:spPr>
        <p:txBody>
          <a:bodyPr wrap="none" lIns="36000" tIns="36000" rIns="36000" bIns="36000">
            <a:spAutoFit/>
          </a:bodyPr>
          <a:lstStyle/>
          <a:p>
            <a:pPr>
              <a:defRPr/>
            </a:pPr>
            <a:r>
              <a:rPr lang="en-US" sz="1200" dirty="0" smtClean="0">
                <a:latin typeface="+mn-lt"/>
              </a:rPr>
              <a:t>(This is just one of the normalized tables)</a:t>
            </a:r>
            <a:endParaRPr lang="en-US" sz="1200" dirty="0">
              <a:solidFill>
                <a:srgbClr val="C00000"/>
              </a:solidFill>
              <a:latin typeface="+mn-lt"/>
            </a:endParaRPr>
          </a:p>
        </p:txBody>
      </p:sp>
    </p:spTree>
    <p:extLst>
      <p:ext uri="{BB962C8B-B14F-4D97-AF65-F5344CB8AC3E}">
        <p14:creationId xmlns:p14="http://schemas.microsoft.com/office/powerpoint/2010/main" val="172928968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99FF99"/>
        </a:solidFill>
        <a:effectLst/>
      </p:bgPr>
    </p:bg>
    <p:spTree>
      <p:nvGrpSpPr>
        <p:cNvPr id="1" name=""/>
        <p:cNvGrpSpPr/>
        <p:nvPr/>
      </p:nvGrpSpPr>
      <p:grpSpPr>
        <a:xfrm>
          <a:off x="0" y="0"/>
          <a:ext cx="0" cy="0"/>
          <a:chOff x="0" y="0"/>
          <a:chExt cx="0" cy="0"/>
        </a:xfrm>
      </p:grpSpPr>
      <p:sp>
        <p:nvSpPr>
          <p:cNvPr id="18435" name="Text Box 3"/>
          <p:cNvSpPr txBox="1">
            <a:spLocks noChangeArrowheads="1"/>
          </p:cNvSpPr>
          <p:nvPr/>
        </p:nvSpPr>
        <p:spPr bwMode="auto">
          <a:xfrm>
            <a:off x="825500" y="1431468"/>
            <a:ext cx="1087438"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8800" tIns="27432" rIns="27432" bIns="27432">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1800" b="1">
                <a:ea typeface="Calibri" pitchFamily="34" charset="0"/>
                <a:cs typeface="Calibri" pitchFamily="34" charset="0"/>
              </a:rPr>
              <a:t>PURCHASE</a:t>
            </a:r>
          </a:p>
        </p:txBody>
      </p:sp>
      <p:graphicFrame>
        <p:nvGraphicFramePr>
          <p:cNvPr id="10" name="Table 9"/>
          <p:cNvGraphicFramePr>
            <a:graphicFrameLocks noGrp="1"/>
          </p:cNvGraphicFramePr>
          <p:nvPr>
            <p:extLst>
              <p:ext uri="{D42A27DB-BD31-4B8C-83A1-F6EECF244321}">
                <p14:modId xmlns:p14="http://schemas.microsoft.com/office/powerpoint/2010/main" val="1380294770"/>
              </p:ext>
            </p:extLst>
          </p:nvPr>
        </p:nvGraphicFramePr>
        <p:xfrm>
          <a:off x="825500" y="1763256"/>
          <a:ext cx="1223963" cy="1706940"/>
        </p:xfrm>
        <a:graphic>
          <a:graphicData uri="http://schemas.openxmlformats.org/drawingml/2006/table">
            <a:tbl>
              <a:tblPr firstRow="1" bandRow="1">
                <a:tableStyleId>{073A0DAA-6AF3-43AB-8588-CEC1D06C72B9}</a:tableStyleId>
              </a:tblPr>
              <a:tblGrid>
                <a:gridCol w="1223963">
                  <a:extLst>
                    <a:ext uri="{9D8B030D-6E8A-4147-A177-3AD203B41FA5}">
                      <a16:colId xmlns:a16="http://schemas.microsoft.com/office/drawing/2014/main" val="20000"/>
                    </a:ext>
                  </a:extLst>
                </a:gridCol>
              </a:tblGrid>
              <a:tr h="324086">
                <a:tc>
                  <a:txBody>
                    <a:bodyPr/>
                    <a:lstStyle/>
                    <a:p>
                      <a:pPr algn="ctr"/>
                      <a:r>
                        <a:rPr lang="en-SG" sz="1800" u="sng" dirty="0" err="1" smtClean="0"/>
                        <a:t>ItemID</a:t>
                      </a:r>
                      <a:endParaRPr lang="en-SG" sz="1800" u="sng" dirty="0" smtClean="0"/>
                    </a:p>
                  </a:txBody>
                  <a:tcPr marL="91427" marR="91427"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297314">
                <a:tc>
                  <a:txBody>
                    <a:bodyPr/>
                    <a:lstStyle/>
                    <a:p>
                      <a:pPr algn="ctr"/>
                      <a:r>
                        <a:rPr lang="en-GB" sz="1600" b="0" dirty="0" err="1" smtClean="0"/>
                        <a:t>SupplierID</a:t>
                      </a:r>
                      <a:endParaRPr lang="en-SG" sz="1600" b="0" dirty="0"/>
                    </a:p>
                  </a:txBody>
                  <a:tcPr marL="35995" marR="35995"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297314">
                <a:tc>
                  <a:txBody>
                    <a:bodyPr/>
                    <a:lstStyle/>
                    <a:p>
                      <a:pPr algn="ctr"/>
                      <a:r>
                        <a:rPr lang="en-GB" sz="1600" b="0" dirty="0" smtClean="0"/>
                        <a:t>Items</a:t>
                      </a:r>
                      <a:endParaRPr lang="en-SG" sz="1600" b="0" dirty="0"/>
                    </a:p>
                  </a:txBody>
                  <a:tcPr marL="35995" marR="35995"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297314">
                <a:tc>
                  <a:txBody>
                    <a:bodyPr/>
                    <a:lstStyle/>
                    <a:p>
                      <a:pPr algn="ctr"/>
                      <a:r>
                        <a:rPr lang="en-GB" sz="1600" b="0" dirty="0" err="1" smtClean="0"/>
                        <a:t>SuppClass</a:t>
                      </a:r>
                      <a:endParaRPr lang="en-SG" sz="1600" b="0" dirty="0"/>
                    </a:p>
                  </a:txBody>
                  <a:tcPr marL="35995" marR="35995"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297314">
                <a:tc>
                  <a:txBody>
                    <a:bodyPr/>
                    <a:lstStyle/>
                    <a:p>
                      <a:pPr algn="ctr"/>
                      <a:r>
                        <a:rPr lang="en-GB" sz="1600" b="0" dirty="0" err="1" smtClean="0"/>
                        <a:t>ItemCost</a:t>
                      </a:r>
                      <a:endParaRPr lang="en-SG" sz="1600" b="0" dirty="0"/>
                    </a:p>
                  </a:txBody>
                  <a:tcPr marL="35995" marR="35995"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8450" name="Text Box 3"/>
          <p:cNvSpPr txBox="1">
            <a:spLocks noChangeArrowheads="1"/>
          </p:cNvSpPr>
          <p:nvPr/>
        </p:nvSpPr>
        <p:spPr bwMode="auto">
          <a:xfrm>
            <a:off x="3417888" y="1431468"/>
            <a:ext cx="968375"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8800" tIns="27432" rIns="27432" bIns="27432">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1800" b="1">
                <a:ea typeface="Calibri" pitchFamily="34" charset="0"/>
                <a:cs typeface="Calibri" pitchFamily="34" charset="0"/>
              </a:rPr>
              <a:t>DELIVERY</a:t>
            </a:r>
          </a:p>
        </p:txBody>
      </p:sp>
      <p:graphicFrame>
        <p:nvGraphicFramePr>
          <p:cNvPr id="12" name="Table 11"/>
          <p:cNvGraphicFramePr>
            <a:graphicFrameLocks noGrp="1"/>
          </p:cNvGraphicFramePr>
          <p:nvPr>
            <p:extLst>
              <p:ext uri="{D42A27DB-BD31-4B8C-83A1-F6EECF244321}">
                <p14:modId xmlns:p14="http://schemas.microsoft.com/office/powerpoint/2010/main" val="2584820327"/>
              </p:ext>
            </p:extLst>
          </p:nvPr>
        </p:nvGraphicFramePr>
        <p:xfrm>
          <a:off x="3417888" y="1763256"/>
          <a:ext cx="1223962" cy="1706940"/>
        </p:xfrm>
        <a:graphic>
          <a:graphicData uri="http://schemas.openxmlformats.org/drawingml/2006/table">
            <a:tbl>
              <a:tblPr firstRow="1" bandRow="1">
                <a:tableStyleId>{00A15C55-8517-42AA-B614-E9B94910E393}</a:tableStyleId>
              </a:tblPr>
              <a:tblGrid>
                <a:gridCol w="1223962">
                  <a:extLst>
                    <a:ext uri="{9D8B030D-6E8A-4147-A177-3AD203B41FA5}">
                      <a16:colId xmlns:a16="http://schemas.microsoft.com/office/drawing/2014/main" val="20000"/>
                    </a:ext>
                  </a:extLst>
                </a:gridCol>
              </a:tblGrid>
              <a:tr h="324086">
                <a:tc>
                  <a:txBody>
                    <a:bodyPr/>
                    <a:lstStyle/>
                    <a:p>
                      <a:pPr algn="ctr"/>
                      <a:r>
                        <a:rPr lang="en-SG" sz="1800" u="sng" dirty="0" err="1" smtClean="0"/>
                        <a:t>DeliverNo</a:t>
                      </a:r>
                      <a:endParaRPr lang="en-SG" sz="1800" u="sng" dirty="0" smtClean="0"/>
                    </a:p>
                  </a:txBody>
                  <a:tcPr marL="91427" marR="91427"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297314">
                <a:tc>
                  <a:txBody>
                    <a:bodyPr/>
                    <a:lstStyle/>
                    <a:p>
                      <a:pPr algn="ctr"/>
                      <a:r>
                        <a:rPr lang="en-GB" sz="1600" b="1" u="sng" dirty="0" err="1" smtClean="0"/>
                        <a:t>ItemID</a:t>
                      </a:r>
                      <a:endParaRPr lang="en-SG" sz="1600" b="1" u="sng" dirty="0"/>
                    </a:p>
                  </a:txBody>
                  <a:tcPr marL="35995" marR="35995"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297314">
                <a:tc>
                  <a:txBody>
                    <a:bodyPr/>
                    <a:lstStyle/>
                    <a:p>
                      <a:pPr algn="ctr"/>
                      <a:r>
                        <a:rPr lang="en-GB" sz="1600" u="none" dirty="0" err="1" smtClean="0"/>
                        <a:t>DateDeliver</a:t>
                      </a:r>
                      <a:endParaRPr lang="en-SG" sz="1600" b="0" u="none" dirty="0"/>
                    </a:p>
                  </a:txBody>
                  <a:tcPr marL="35995" marR="35995"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297314">
                <a:tc>
                  <a:txBody>
                    <a:bodyPr/>
                    <a:lstStyle/>
                    <a:p>
                      <a:pPr algn="ctr"/>
                      <a:r>
                        <a:rPr lang="en-GB" sz="1600" b="0" dirty="0" err="1" smtClean="0"/>
                        <a:t>StaffName</a:t>
                      </a:r>
                      <a:endParaRPr lang="en-SG" sz="1600" b="0" dirty="0"/>
                    </a:p>
                  </a:txBody>
                  <a:tcPr marL="35995" marR="35995"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297314">
                <a:tc>
                  <a:txBody>
                    <a:bodyPr/>
                    <a:lstStyle/>
                    <a:p>
                      <a:pPr algn="ctr"/>
                      <a:r>
                        <a:rPr lang="en-GB" sz="1600" b="0" dirty="0" smtClean="0"/>
                        <a:t>Phone</a:t>
                      </a:r>
                      <a:endParaRPr lang="en-SG" sz="1600" b="0" dirty="0"/>
                    </a:p>
                  </a:txBody>
                  <a:tcPr marL="35995" marR="35995"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pSp>
        <p:nvGrpSpPr>
          <p:cNvPr id="18465" name="Group 2"/>
          <p:cNvGrpSpPr>
            <a:grpSpLocks/>
          </p:cNvGrpSpPr>
          <p:nvPr/>
        </p:nvGrpSpPr>
        <p:grpSpPr bwMode="auto">
          <a:xfrm>
            <a:off x="2052638" y="1637843"/>
            <a:ext cx="1354137" cy="774700"/>
            <a:chOff x="2209384" y="1187229"/>
            <a:chExt cx="1354504" cy="773946"/>
          </a:xfrm>
        </p:grpSpPr>
        <p:cxnSp>
          <p:nvCxnSpPr>
            <p:cNvPr id="13" name="Straight Connector 12"/>
            <p:cNvCxnSpPr/>
            <p:nvPr/>
          </p:nvCxnSpPr>
          <p:spPr>
            <a:xfrm>
              <a:off x="2209384" y="1475873"/>
              <a:ext cx="647876"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4" name="Straight Connector 13"/>
            <p:cNvCxnSpPr/>
            <p:nvPr/>
          </p:nvCxnSpPr>
          <p:spPr>
            <a:xfrm>
              <a:off x="2844556" y="1858088"/>
              <a:ext cx="71933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5" name="Straight Connector 14"/>
            <p:cNvCxnSpPr/>
            <p:nvPr/>
          </p:nvCxnSpPr>
          <p:spPr>
            <a:xfrm>
              <a:off x="2857260" y="1467944"/>
              <a:ext cx="0" cy="394902"/>
            </a:xfrm>
            <a:prstGeom prst="line">
              <a:avLst/>
            </a:prstGeom>
            <a:ln w="28575"/>
          </p:spPr>
          <p:style>
            <a:lnRef idx="1">
              <a:schemeClr val="dk1"/>
            </a:lnRef>
            <a:fillRef idx="0">
              <a:schemeClr val="dk1"/>
            </a:fillRef>
            <a:effectRef idx="0">
              <a:schemeClr val="dk1"/>
            </a:effectRef>
            <a:fontRef idx="minor">
              <a:schemeClr val="tx1"/>
            </a:fontRef>
          </p:style>
        </p:cxnSp>
        <p:grpSp>
          <p:nvGrpSpPr>
            <p:cNvPr id="18556" name="Group 15"/>
            <p:cNvGrpSpPr>
              <a:grpSpLocks/>
            </p:cNvGrpSpPr>
            <p:nvPr/>
          </p:nvGrpSpPr>
          <p:grpSpPr bwMode="auto">
            <a:xfrm>
              <a:off x="2281392" y="1385135"/>
              <a:ext cx="65968" cy="180607"/>
              <a:chOff x="2493576" y="3788433"/>
              <a:chExt cx="65968" cy="180607"/>
            </a:xfrm>
          </p:grpSpPr>
          <p:sp>
            <p:nvSpPr>
              <p:cNvPr id="18563" name="Straight Connector 36"/>
              <p:cNvSpPr>
                <a:spLocks noChangeShapeType="1"/>
              </p:cNvSpPr>
              <p:nvPr/>
            </p:nvSpPr>
            <p:spPr bwMode="auto">
              <a:xfrm>
                <a:off x="2559544" y="3788433"/>
                <a:ext cx="0" cy="180000"/>
              </a:xfrm>
              <a:prstGeom prst="line">
                <a:avLst/>
              </a:prstGeom>
              <a:noFill/>
              <a:ln w="28575">
                <a:solidFill>
                  <a:srgbClr val="BE4B48"/>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8564" name="Straight Connector 17"/>
              <p:cNvSpPr>
                <a:spLocks noChangeShapeType="1"/>
              </p:cNvSpPr>
              <p:nvPr/>
            </p:nvSpPr>
            <p:spPr bwMode="auto">
              <a:xfrm>
                <a:off x="2493576" y="3789040"/>
                <a:ext cx="0" cy="180000"/>
              </a:xfrm>
              <a:prstGeom prst="line">
                <a:avLst/>
              </a:prstGeom>
              <a:noFill/>
              <a:ln w="28575">
                <a:solidFill>
                  <a:srgbClr val="BE4B48"/>
                </a:solidFill>
                <a:round/>
                <a:headEnd/>
                <a:tailEnd/>
              </a:ln>
              <a:extLst>
                <a:ext uri="{909E8E84-426E-40DD-AFC4-6F175D3DCCD1}">
                  <a14:hiddenFill xmlns:a14="http://schemas.microsoft.com/office/drawing/2010/main">
                    <a:noFill/>
                  </a14:hiddenFill>
                </a:ext>
              </a:extLst>
            </p:spPr>
            <p:txBody>
              <a:bodyPr/>
              <a:lstStyle/>
              <a:p>
                <a:endParaRPr lang="en-SG"/>
              </a:p>
            </p:txBody>
          </p:sp>
        </p:grpSp>
        <p:grpSp>
          <p:nvGrpSpPr>
            <p:cNvPr id="18557" name="Group 18"/>
            <p:cNvGrpSpPr>
              <a:grpSpLocks/>
            </p:cNvGrpSpPr>
            <p:nvPr/>
          </p:nvGrpSpPr>
          <p:grpSpPr bwMode="auto">
            <a:xfrm>
              <a:off x="3383888" y="1745175"/>
              <a:ext cx="180000" cy="216000"/>
              <a:chOff x="2951840" y="4035571"/>
              <a:chExt cx="180000" cy="216000"/>
            </a:xfrm>
          </p:grpSpPr>
          <p:grpSp>
            <p:nvGrpSpPr>
              <p:cNvPr id="18559" name="Group 19"/>
              <p:cNvGrpSpPr>
                <a:grpSpLocks/>
              </p:cNvGrpSpPr>
              <p:nvPr/>
            </p:nvGrpSpPr>
            <p:grpSpPr bwMode="auto">
              <a:xfrm>
                <a:off x="2951840" y="4060988"/>
                <a:ext cx="180000" cy="157655"/>
                <a:chOff x="7789680" y="5511968"/>
                <a:chExt cx="180000" cy="157655"/>
              </a:xfrm>
            </p:grpSpPr>
            <p:cxnSp>
              <p:nvCxnSpPr>
                <p:cNvPr id="22" name="Straight Connector 21"/>
                <p:cNvCxnSpPr/>
                <p:nvPr/>
              </p:nvCxnSpPr>
              <p:spPr>
                <a:xfrm flipV="1">
                  <a:off x="7790244" y="5512236"/>
                  <a:ext cx="179436" cy="71369"/>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23" name="Straight Connector 22"/>
                <p:cNvCxnSpPr/>
                <p:nvPr/>
              </p:nvCxnSpPr>
              <p:spPr>
                <a:xfrm>
                  <a:off x="7790244" y="5597878"/>
                  <a:ext cx="179436" cy="71369"/>
                </a:xfrm>
                <a:prstGeom prst="line">
                  <a:avLst/>
                </a:prstGeom>
                <a:ln w="28575"/>
              </p:spPr>
              <p:style>
                <a:lnRef idx="1">
                  <a:schemeClr val="accent2"/>
                </a:lnRef>
                <a:fillRef idx="0">
                  <a:schemeClr val="accent2"/>
                </a:fillRef>
                <a:effectRef idx="0">
                  <a:schemeClr val="accent2"/>
                </a:effectRef>
                <a:fontRef idx="minor">
                  <a:schemeClr val="tx1"/>
                </a:fontRef>
              </p:style>
            </p:cxnSp>
          </p:grpSp>
          <p:cxnSp>
            <p:nvCxnSpPr>
              <p:cNvPr id="21" name="Straight Connector 20"/>
              <p:cNvCxnSpPr/>
              <p:nvPr/>
            </p:nvCxnSpPr>
            <p:spPr>
              <a:xfrm>
                <a:off x="2961932" y="4035881"/>
                <a:ext cx="0" cy="215690"/>
              </a:xfrm>
              <a:prstGeom prst="line">
                <a:avLst/>
              </a:prstGeom>
              <a:ln w="28575"/>
            </p:spPr>
            <p:style>
              <a:lnRef idx="1">
                <a:schemeClr val="accent2"/>
              </a:lnRef>
              <a:fillRef idx="0">
                <a:schemeClr val="accent2"/>
              </a:fillRef>
              <a:effectRef idx="0">
                <a:schemeClr val="accent2"/>
              </a:effectRef>
              <a:fontRef idx="minor">
                <a:schemeClr val="tx1"/>
              </a:fontRef>
            </p:style>
          </p:cxnSp>
        </p:grpSp>
        <p:sp>
          <p:nvSpPr>
            <p:cNvPr id="18558" name="TextBox 23"/>
            <p:cNvSpPr txBox="1">
              <a:spLocks noChangeArrowheads="1"/>
            </p:cNvSpPr>
            <p:nvPr/>
          </p:nvSpPr>
          <p:spPr bwMode="auto">
            <a:xfrm>
              <a:off x="2702198" y="1187229"/>
              <a:ext cx="478135" cy="251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0" rIns="36000" bIns="36000">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GB" altLang="en-US" sz="1400" b="1">
                  <a:latin typeface="Arial" charset="0"/>
                </a:rPr>
                <a:t>make</a:t>
              </a:r>
              <a:endParaRPr lang="en-SG" altLang="en-US" sz="1400" b="1">
                <a:latin typeface="Arial" charset="0"/>
              </a:endParaRPr>
            </a:p>
          </p:txBody>
        </p:sp>
      </p:grpSp>
      <p:graphicFrame>
        <p:nvGraphicFramePr>
          <p:cNvPr id="25" name="Table 24"/>
          <p:cNvGraphicFramePr>
            <a:graphicFrameLocks noGrp="1"/>
          </p:cNvGraphicFramePr>
          <p:nvPr>
            <p:extLst>
              <p:ext uri="{D42A27DB-BD31-4B8C-83A1-F6EECF244321}">
                <p14:modId xmlns:p14="http://schemas.microsoft.com/office/powerpoint/2010/main" val="3922710481"/>
              </p:ext>
            </p:extLst>
          </p:nvPr>
        </p:nvGraphicFramePr>
        <p:xfrm>
          <a:off x="684213" y="3906836"/>
          <a:ext cx="4497388" cy="1455740"/>
        </p:xfrm>
        <a:graphic>
          <a:graphicData uri="http://schemas.openxmlformats.org/drawingml/2006/table">
            <a:tbl>
              <a:tblPr firstRow="1" bandRow="1">
                <a:tableStyleId>{073A0DAA-6AF3-43AB-8588-CEC1D06C72B9}</a:tableStyleId>
              </a:tblPr>
              <a:tblGrid>
                <a:gridCol w="843260">
                  <a:extLst>
                    <a:ext uri="{9D8B030D-6E8A-4147-A177-3AD203B41FA5}">
                      <a16:colId xmlns:a16="http://schemas.microsoft.com/office/drawing/2014/main" val="20000"/>
                    </a:ext>
                  </a:extLst>
                </a:gridCol>
                <a:gridCol w="989381">
                  <a:extLst>
                    <a:ext uri="{9D8B030D-6E8A-4147-A177-3AD203B41FA5}">
                      <a16:colId xmlns:a16="http://schemas.microsoft.com/office/drawing/2014/main" val="20001"/>
                    </a:ext>
                  </a:extLst>
                </a:gridCol>
                <a:gridCol w="837683">
                  <a:extLst>
                    <a:ext uri="{9D8B030D-6E8A-4147-A177-3AD203B41FA5}">
                      <a16:colId xmlns:a16="http://schemas.microsoft.com/office/drawing/2014/main" val="20002"/>
                    </a:ext>
                  </a:extLst>
                </a:gridCol>
                <a:gridCol w="913532">
                  <a:extLst>
                    <a:ext uri="{9D8B030D-6E8A-4147-A177-3AD203B41FA5}">
                      <a16:colId xmlns:a16="http://schemas.microsoft.com/office/drawing/2014/main" val="20003"/>
                    </a:ext>
                  </a:extLst>
                </a:gridCol>
                <a:gridCol w="913532">
                  <a:extLst>
                    <a:ext uri="{9D8B030D-6E8A-4147-A177-3AD203B41FA5}">
                      <a16:colId xmlns:a16="http://schemas.microsoft.com/office/drawing/2014/main" val="20004"/>
                    </a:ext>
                  </a:extLst>
                </a:gridCol>
              </a:tblGrid>
              <a:tr h="291148">
                <a:tc>
                  <a:txBody>
                    <a:bodyPr/>
                    <a:lstStyle/>
                    <a:p>
                      <a:pPr algn="ctr"/>
                      <a:r>
                        <a:rPr lang="en-SG" sz="1400" u="sng" dirty="0" err="1" smtClean="0">
                          <a:solidFill>
                            <a:srgbClr val="FFFF00"/>
                          </a:solidFill>
                        </a:rPr>
                        <a:t>ItemID</a:t>
                      </a:r>
                      <a:endParaRPr lang="en-SG" sz="1400" u="sng" dirty="0" smtClean="0">
                        <a:solidFill>
                          <a:srgbClr val="FFFF00"/>
                        </a:solidFill>
                      </a:endParaRPr>
                    </a:p>
                  </a:txBody>
                  <a:tcPr marL="36000" marR="36000" marT="36008" marB="36008">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b="1" u="sng" dirty="0" err="1" smtClean="0">
                          <a:solidFill>
                            <a:srgbClr val="FFFF00"/>
                          </a:solidFill>
                        </a:rPr>
                        <a:t>SupplierID</a:t>
                      </a:r>
                      <a:endParaRPr lang="en-SG" sz="1400" b="1" u="sng" dirty="0" smtClean="0">
                        <a:solidFill>
                          <a:srgbClr val="FFFF00"/>
                        </a:solidFill>
                      </a:endParaRPr>
                    </a:p>
                  </a:txBody>
                  <a:tcPr marL="36000" marR="36000" marT="36008" marB="36008">
                    <a:lnT w="12700"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Items</a:t>
                      </a:r>
                      <a:endParaRPr lang="en-SG" sz="1400" dirty="0" smtClean="0"/>
                    </a:p>
                  </a:txBody>
                  <a:tcPr marL="36000" marR="36000" marT="36008" marB="36008">
                    <a:lnT w="12700"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err="1" smtClean="0"/>
                        <a:t>SuppClass</a:t>
                      </a:r>
                      <a:endParaRPr lang="en-SG" sz="1400" dirty="0" smtClean="0"/>
                    </a:p>
                  </a:txBody>
                  <a:tcPr marL="36000" marR="36000" marT="36008" marB="36008">
                    <a:lnT w="12700"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err="1" smtClean="0"/>
                        <a:t>ItemCost</a:t>
                      </a:r>
                      <a:endParaRPr lang="en-SG" sz="1400" dirty="0" smtClean="0"/>
                    </a:p>
                  </a:txBody>
                  <a:tcPr marL="36000" marR="36000" marT="36008" marB="36008">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291148">
                <a:tc>
                  <a:txBody>
                    <a:bodyPr/>
                    <a:lstStyle/>
                    <a:p>
                      <a:pPr algn="ctr"/>
                      <a:r>
                        <a:rPr lang="en-GB" sz="1400" dirty="0" smtClean="0"/>
                        <a:t>P-01</a:t>
                      </a:r>
                      <a:endParaRPr lang="en-SG" sz="1400" b="0" dirty="0"/>
                    </a:p>
                  </a:txBody>
                  <a:tcPr marL="36000" marR="36000" marT="36008" marB="36008">
                    <a:lnL w="12700" cap="flat" cmpd="sng" algn="ctr">
                      <a:solidFill>
                        <a:schemeClr val="tx1"/>
                      </a:solidFill>
                      <a:prstDash val="solid"/>
                      <a:round/>
                      <a:headEnd type="none" w="med" len="med"/>
                      <a:tailEnd type="none" w="med" len="med"/>
                    </a:lnL>
                  </a:tcPr>
                </a:tc>
                <a:tc>
                  <a:txBody>
                    <a:bodyPr/>
                    <a:lstStyle/>
                    <a:p>
                      <a:pPr algn="ctr"/>
                      <a:r>
                        <a:rPr lang="en-GB" sz="1400" dirty="0" smtClean="0"/>
                        <a:t>Supp1</a:t>
                      </a:r>
                      <a:endParaRPr lang="en-SG" sz="1400" dirty="0"/>
                    </a:p>
                  </a:txBody>
                  <a:tcPr marL="36000" marR="36000" marT="36008" marB="36008"/>
                </a:tc>
                <a:tc>
                  <a:txBody>
                    <a:bodyPr/>
                    <a:lstStyle/>
                    <a:p>
                      <a:pPr algn="ctr"/>
                      <a:r>
                        <a:rPr lang="en-GB" sz="1400" dirty="0" smtClean="0"/>
                        <a:t>Printer</a:t>
                      </a:r>
                      <a:endParaRPr lang="en-SG" sz="1400" dirty="0"/>
                    </a:p>
                  </a:txBody>
                  <a:tcPr marL="36000" marR="36000" marT="36008" marB="36008"/>
                </a:tc>
                <a:tc>
                  <a:txBody>
                    <a:bodyPr/>
                    <a:lstStyle/>
                    <a:p>
                      <a:pPr algn="ctr"/>
                      <a:r>
                        <a:rPr lang="en-GB" sz="1400" dirty="0" smtClean="0"/>
                        <a:t>B</a:t>
                      </a:r>
                      <a:endParaRPr lang="en-SG" sz="1400" dirty="0"/>
                    </a:p>
                  </a:txBody>
                  <a:tcPr marL="36000" marR="36000" marT="36008" marB="36008"/>
                </a:tc>
                <a:tc>
                  <a:txBody>
                    <a:bodyPr/>
                    <a:lstStyle/>
                    <a:p>
                      <a:pPr algn="ctr"/>
                      <a:r>
                        <a:rPr lang="en-GB" sz="1400" dirty="0" smtClean="0"/>
                        <a:t>550</a:t>
                      </a:r>
                      <a:endParaRPr lang="en-SG" sz="1400" dirty="0"/>
                    </a:p>
                  </a:txBody>
                  <a:tcPr marL="36000" marR="36000" marT="36008" marB="3600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291148">
                <a:tc>
                  <a:txBody>
                    <a:bodyPr/>
                    <a:lstStyle/>
                    <a:p>
                      <a:pPr algn="ctr"/>
                      <a:r>
                        <a:rPr lang="en-GB" sz="1400" dirty="0" smtClean="0"/>
                        <a:t>P-02</a:t>
                      </a:r>
                      <a:endParaRPr lang="en-SG" sz="1400" b="0" dirty="0"/>
                    </a:p>
                  </a:txBody>
                  <a:tcPr marL="36000" marR="36000" marT="36008" marB="36008">
                    <a:lnL w="12700" cap="flat" cmpd="sng" algn="ctr">
                      <a:solidFill>
                        <a:schemeClr val="tx1"/>
                      </a:solidFill>
                      <a:prstDash val="solid"/>
                      <a:round/>
                      <a:headEnd type="none" w="med" len="med"/>
                      <a:tailEnd type="none" w="med" len="med"/>
                    </a:lnL>
                  </a:tcPr>
                </a:tc>
                <a:tc>
                  <a:txBody>
                    <a:bodyPr/>
                    <a:lstStyle/>
                    <a:p>
                      <a:pPr algn="ctr"/>
                      <a:r>
                        <a:rPr lang="en-GB" sz="1400" dirty="0" smtClean="0"/>
                        <a:t>Supp2</a:t>
                      </a:r>
                      <a:endParaRPr lang="en-SG" sz="1400" dirty="0"/>
                    </a:p>
                  </a:txBody>
                  <a:tcPr marL="36000" marR="36000" marT="36008" marB="36008"/>
                </a:tc>
                <a:tc>
                  <a:txBody>
                    <a:bodyPr/>
                    <a:lstStyle/>
                    <a:p>
                      <a:pPr algn="ctr"/>
                      <a:r>
                        <a:rPr lang="en-GB" sz="1400" dirty="0" smtClean="0"/>
                        <a:t>Projector</a:t>
                      </a:r>
                      <a:endParaRPr lang="en-SG" sz="1400" dirty="0"/>
                    </a:p>
                  </a:txBody>
                  <a:tcPr marL="36000" marR="36000" marT="36008" marB="3600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A</a:t>
                      </a:r>
                      <a:endParaRPr lang="en-SG" sz="1400" dirty="0" smtClean="0"/>
                    </a:p>
                  </a:txBody>
                  <a:tcPr marL="36000" marR="36000" marT="36008" marB="3600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2300</a:t>
                      </a:r>
                      <a:endParaRPr lang="en-SG" sz="1400" dirty="0" smtClean="0"/>
                    </a:p>
                  </a:txBody>
                  <a:tcPr marL="36000" marR="36000" marT="36008" marB="3600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291148">
                <a:tc>
                  <a:txBody>
                    <a:bodyPr/>
                    <a:lstStyle/>
                    <a:p>
                      <a:pPr algn="ctr"/>
                      <a:r>
                        <a:rPr lang="en-GB" sz="1400" dirty="0" smtClean="0"/>
                        <a:t>P-11</a:t>
                      </a:r>
                      <a:endParaRPr lang="en-SG" sz="1400" b="0" dirty="0"/>
                    </a:p>
                  </a:txBody>
                  <a:tcPr marL="36000" marR="36000" marT="36008" marB="36008">
                    <a:lnL w="12700" cap="flat" cmpd="sng" algn="ctr">
                      <a:solidFill>
                        <a:schemeClr val="tx1"/>
                      </a:solidFill>
                      <a:prstDash val="solid"/>
                      <a:round/>
                      <a:headEnd type="none" w="med" len="med"/>
                      <a:tailEnd type="none" w="med" len="med"/>
                    </a:lnL>
                  </a:tcPr>
                </a:tc>
                <a:tc>
                  <a:txBody>
                    <a:bodyPr/>
                    <a:lstStyle/>
                    <a:p>
                      <a:pPr algn="ctr"/>
                      <a:r>
                        <a:rPr lang="en-GB" sz="1400" dirty="0" smtClean="0"/>
                        <a:t>Supp1</a:t>
                      </a:r>
                      <a:endParaRPr lang="en-SG" sz="1400" dirty="0"/>
                    </a:p>
                  </a:txBody>
                  <a:tcPr marL="36000" marR="36000" marT="36008" marB="36008"/>
                </a:tc>
                <a:tc>
                  <a:txBody>
                    <a:bodyPr/>
                    <a:lstStyle/>
                    <a:p>
                      <a:pPr algn="ctr"/>
                      <a:r>
                        <a:rPr lang="en-GB" sz="1400" dirty="0" smtClean="0"/>
                        <a:t>Tonner</a:t>
                      </a:r>
                      <a:endParaRPr lang="en-SG" sz="1400" dirty="0"/>
                    </a:p>
                  </a:txBody>
                  <a:tcPr marL="36000" marR="36000" marT="36008" marB="3600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B</a:t>
                      </a:r>
                      <a:endParaRPr lang="en-SG" sz="1400" dirty="0" smtClean="0"/>
                    </a:p>
                  </a:txBody>
                  <a:tcPr marL="36000" marR="36000" marT="36008" marB="3600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120</a:t>
                      </a:r>
                      <a:endParaRPr lang="en-SG" sz="1400" dirty="0" smtClean="0"/>
                    </a:p>
                  </a:txBody>
                  <a:tcPr marL="36000" marR="36000" marT="36008" marB="3600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291148">
                <a:tc>
                  <a:txBody>
                    <a:bodyPr/>
                    <a:lstStyle/>
                    <a:p>
                      <a:pPr algn="ctr"/>
                      <a:r>
                        <a:rPr lang="en-GB" sz="1400" dirty="0" smtClean="0"/>
                        <a:t>P-22</a:t>
                      </a:r>
                      <a:endParaRPr lang="en-SG" sz="1400" b="0" dirty="0"/>
                    </a:p>
                  </a:txBody>
                  <a:tcPr marL="36000" marR="36000" marT="36008" marB="36008">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GB" sz="1400" dirty="0" smtClean="0"/>
                        <a:t>Supp2</a:t>
                      </a:r>
                      <a:endParaRPr lang="en-SG" sz="1400" dirty="0"/>
                    </a:p>
                  </a:txBody>
                  <a:tcPr marL="36000" marR="36000" marT="36008" marB="36008">
                    <a:lnB w="12700" cap="flat" cmpd="sng" algn="ctr">
                      <a:solidFill>
                        <a:schemeClr val="tx1"/>
                      </a:solidFill>
                      <a:prstDash val="solid"/>
                      <a:round/>
                      <a:headEnd type="none" w="med" len="med"/>
                      <a:tailEnd type="none" w="med" len="med"/>
                    </a:lnB>
                  </a:tcPr>
                </a:tc>
                <a:tc>
                  <a:txBody>
                    <a:bodyPr/>
                    <a:lstStyle/>
                    <a:p>
                      <a:pPr algn="ctr"/>
                      <a:r>
                        <a:rPr lang="en-GB" sz="1400" dirty="0" smtClean="0"/>
                        <a:t>Bulbs</a:t>
                      </a:r>
                      <a:endParaRPr lang="en-SG" sz="1400" dirty="0"/>
                    </a:p>
                  </a:txBody>
                  <a:tcPr marL="36000" marR="36000" marT="36008" marB="36008">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A</a:t>
                      </a:r>
                      <a:endParaRPr lang="en-SG" sz="1400" dirty="0" smtClean="0"/>
                    </a:p>
                  </a:txBody>
                  <a:tcPr marL="36000" marR="36000" marT="36008" marB="36008">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60</a:t>
                      </a:r>
                      <a:endParaRPr lang="en-SG" sz="1400" dirty="0" smtClean="0"/>
                    </a:p>
                  </a:txBody>
                  <a:tcPr marL="36000" marR="36000" marT="36008" marB="36008">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6" name="Text Box 3"/>
          <p:cNvSpPr txBox="1">
            <a:spLocks noChangeArrowheads="1"/>
          </p:cNvSpPr>
          <p:nvPr/>
        </p:nvSpPr>
        <p:spPr bwMode="auto">
          <a:xfrm>
            <a:off x="695325" y="3554412"/>
            <a:ext cx="1087438"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8800" tIns="27432" rIns="27432" bIns="27432">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1800" b="1" dirty="0">
                <a:ea typeface="Calibri" pitchFamily="34" charset="0"/>
                <a:cs typeface="Calibri" pitchFamily="34" charset="0"/>
              </a:rPr>
              <a:t>PURCHASE</a:t>
            </a:r>
          </a:p>
        </p:txBody>
      </p:sp>
      <p:graphicFrame>
        <p:nvGraphicFramePr>
          <p:cNvPr id="27" name="Table 26"/>
          <p:cNvGraphicFramePr>
            <a:graphicFrameLocks noGrp="1"/>
          </p:cNvGraphicFramePr>
          <p:nvPr>
            <p:extLst>
              <p:ext uri="{D42A27DB-BD31-4B8C-83A1-F6EECF244321}">
                <p14:modId xmlns:p14="http://schemas.microsoft.com/office/powerpoint/2010/main" val="3028211367"/>
              </p:ext>
            </p:extLst>
          </p:nvPr>
        </p:nvGraphicFramePr>
        <p:xfrm>
          <a:off x="4247299" y="5333999"/>
          <a:ext cx="4572851" cy="1426880"/>
        </p:xfrm>
        <a:graphic>
          <a:graphicData uri="http://schemas.openxmlformats.org/drawingml/2006/table">
            <a:tbl>
              <a:tblPr firstRow="1" bandRow="1">
                <a:tableStyleId>{00A15C55-8517-42AA-B614-E9B94910E393}</a:tableStyleId>
              </a:tblPr>
              <a:tblGrid>
                <a:gridCol w="941469">
                  <a:extLst>
                    <a:ext uri="{9D8B030D-6E8A-4147-A177-3AD203B41FA5}">
                      <a16:colId xmlns:a16="http://schemas.microsoft.com/office/drawing/2014/main" val="20000"/>
                    </a:ext>
                  </a:extLst>
                </a:gridCol>
                <a:gridCol w="672478">
                  <a:extLst>
                    <a:ext uri="{9D8B030D-6E8A-4147-A177-3AD203B41FA5}">
                      <a16:colId xmlns:a16="http://schemas.microsoft.com/office/drawing/2014/main" val="20001"/>
                    </a:ext>
                  </a:extLst>
                </a:gridCol>
                <a:gridCol w="1021326">
                  <a:extLst>
                    <a:ext uri="{9D8B030D-6E8A-4147-A177-3AD203B41FA5}">
                      <a16:colId xmlns:a16="http://schemas.microsoft.com/office/drawing/2014/main" val="20002"/>
                    </a:ext>
                  </a:extLst>
                </a:gridCol>
                <a:gridCol w="996109">
                  <a:extLst>
                    <a:ext uri="{9D8B030D-6E8A-4147-A177-3AD203B41FA5}">
                      <a16:colId xmlns:a16="http://schemas.microsoft.com/office/drawing/2014/main" val="20003"/>
                    </a:ext>
                  </a:extLst>
                </a:gridCol>
                <a:gridCol w="941469">
                  <a:extLst>
                    <a:ext uri="{9D8B030D-6E8A-4147-A177-3AD203B41FA5}">
                      <a16:colId xmlns:a16="http://schemas.microsoft.com/office/drawing/2014/main" val="20004"/>
                    </a:ext>
                  </a:extLst>
                </a:gridCol>
              </a:tblGrid>
              <a:tr h="274320">
                <a:tc>
                  <a:txBody>
                    <a:bodyPr/>
                    <a:lstStyle/>
                    <a:p>
                      <a:pPr algn="ctr"/>
                      <a:r>
                        <a:rPr lang="en-SG" sz="1400" u="sng" dirty="0" err="1" smtClean="0">
                          <a:solidFill>
                            <a:srgbClr val="FFFF00"/>
                          </a:solidFill>
                        </a:rPr>
                        <a:t>DeliverNO</a:t>
                      </a:r>
                      <a:endParaRPr lang="en-SG" sz="1400" u="sng" dirty="0" smtClean="0">
                        <a:solidFill>
                          <a:srgbClr val="FFFF00"/>
                        </a:solidFill>
                      </a:endParaRPr>
                    </a:p>
                  </a:txBody>
                  <a:tcPr marL="35995" marR="35995" marT="36008" marB="36008">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b="1" u="sng" dirty="0" err="1" smtClean="0">
                          <a:solidFill>
                            <a:srgbClr val="FFFF00"/>
                          </a:solidFill>
                        </a:rPr>
                        <a:t>ItemID</a:t>
                      </a:r>
                      <a:endParaRPr lang="en-SG" sz="1400" b="1" u="sng" dirty="0" smtClean="0">
                        <a:solidFill>
                          <a:srgbClr val="FFFF00"/>
                        </a:solidFill>
                      </a:endParaRPr>
                    </a:p>
                  </a:txBody>
                  <a:tcPr marL="35995" marR="35995" marT="36008" marB="36008">
                    <a:lnT w="12700"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b="0" u="none" dirty="0" err="1" smtClean="0">
                          <a:solidFill>
                            <a:schemeClr val="bg1"/>
                          </a:solidFill>
                        </a:rPr>
                        <a:t>DateDeliver</a:t>
                      </a:r>
                      <a:endParaRPr lang="en-SG" sz="1400" b="0" u="none" dirty="0" smtClean="0">
                        <a:solidFill>
                          <a:schemeClr val="bg1"/>
                        </a:solidFill>
                      </a:endParaRPr>
                    </a:p>
                  </a:txBody>
                  <a:tcPr marL="35995" marR="35995" marT="36008" marB="36008">
                    <a:lnT w="12700"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err="1" smtClean="0"/>
                        <a:t>StaffName</a:t>
                      </a:r>
                      <a:endParaRPr lang="en-SG" sz="1400" dirty="0" smtClean="0"/>
                    </a:p>
                  </a:txBody>
                  <a:tcPr marL="35995" marR="35995" marT="36008" marB="36008">
                    <a:lnT w="12700"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Phone</a:t>
                      </a:r>
                      <a:endParaRPr lang="en-SG" sz="1400" dirty="0" smtClean="0"/>
                    </a:p>
                  </a:txBody>
                  <a:tcPr marL="35995" marR="35995" marT="36008" marB="36008">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274320">
                <a:tc>
                  <a:txBody>
                    <a:bodyPr/>
                    <a:lstStyle/>
                    <a:p>
                      <a:pPr algn="ctr"/>
                      <a:r>
                        <a:rPr lang="en-GB" sz="1400" dirty="0" smtClean="0"/>
                        <a:t>D1</a:t>
                      </a:r>
                      <a:endParaRPr lang="en-SG" sz="1400" b="0" dirty="0"/>
                    </a:p>
                  </a:txBody>
                  <a:tcPr marL="35995" marR="35995" marT="36008" marB="36008">
                    <a:lnL w="12700" cap="flat" cmpd="sng" algn="ctr">
                      <a:solidFill>
                        <a:schemeClr val="tx1"/>
                      </a:solidFill>
                      <a:prstDash val="solid"/>
                      <a:round/>
                      <a:headEnd type="none" w="med" len="med"/>
                      <a:tailEnd type="none" w="med" len="med"/>
                    </a:lnL>
                  </a:tcPr>
                </a:tc>
                <a:tc>
                  <a:txBody>
                    <a:bodyPr/>
                    <a:lstStyle/>
                    <a:p>
                      <a:pPr algn="ctr"/>
                      <a:r>
                        <a:rPr lang="en-GB" sz="1400" dirty="0" smtClean="0"/>
                        <a:t>P-01</a:t>
                      </a:r>
                      <a:endParaRPr lang="en-SG" sz="1400" dirty="0"/>
                    </a:p>
                  </a:txBody>
                  <a:tcPr marL="35995" marR="35995" marT="36008" marB="36008"/>
                </a:tc>
                <a:tc>
                  <a:txBody>
                    <a:bodyPr/>
                    <a:lstStyle/>
                    <a:p>
                      <a:pPr algn="ctr"/>
                      <a:r>
                        <a:rPr lang="en-GB" sz="1400" dirty="0" smtClean="0"/>
                        <a:t>03-Jul</a:t>
                      </a:r>
                      <a:endParaRPr lang="en-SG" sz="1400" dirty="0"/>
                    </a:p>
                  </a:txBody>
                  <a:tcPr marL="35995" marR="35995" marT="36008" marB="36008"/>
                </a:tc>
                <a:tc>
                  <a:txBody>
                    <a:bodyPr/>
                    <a:lstStyle/>
                    <a:p>
                      <a:pPr algn="ctr"/>
                      <a:r>
                        <a:rPr lang="en-GB" sz="1400" dirty="0" smtClean="0"/>
                        <a:t>Sam</a:t>
                      </a:r>
                      <a:endParaRPr lang="en-SG" sz="1400" dirty="0"/>
                    </a:p>
                  </a:txBody>
                  <a:tcPr marL="35995" marR="35995" marT="36008" marB="36008"/>
                </a:tc>
                <a:tc>
                  <a:txBody>
                    <a:bodyPr/>
                    <a:lstStyle/>
                    <a:p>
                      <a:pPr algn="ctr"/>
                      <a:r>
                        <a:rPr lang="en-GB" sz="1400" dirty="0" smtClean="0"/>
                        <a:t>91234567</a:t>
                      </a:r>
                      <a:endParaRPr lang="en-SG" sz="1400" dirty="0"/>
                    </a:p>
                  </a:txBody>
                  <a:tcPr marL="35995" marR="35995" marT="36008" marB="3600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274320">
                <a:tc>
                  <a:txBody>
                    <a:bodyPr/>
                    <a:lstStyle/>
                    <a:p>
                      <a:pPr algn="ctr"/>
                      <a:r>
                        <a:rPr lang="en-GB" sz="1400" dirty="0" smtClean="0"/>
                        <a:t>D1</a:t>
                      </a:r>
                      <a:endParaRPr lang="en-SG" sz="1400" b="0" dirty="0"/>
                    </a:p>
                  </a:txBody>
                  <a:tcPr marL="35995" marR="35995" marT="36008" marB="36008">
                    <a:lnL w="12700" cap="flat" cmpd="sng" algn="ctr">
                      <a:solidFill>
                        <a:schemeClr val="tx1"/>
                      </a:solidFill>
                      <a:prstDash val="solid"/>
                      <a:round/>
                      <a:headEnd type="none" w="med" len="med"/>
                      <a:tailEnd type="none" w="med" len="med"/>
                    </a:lnL>
                  </a:tcPr>
                </a:tc>
                <a:tc>
                  <a:txBody>
                    <a:bodyPr/>
                    <a:lstStyle/>
                    <a:p>
                      <a:pPr algn="ctr"/>
                      <a:r>
                        <a:rPr lang="en-GB" sz="1400" dirty="0" smtClean="0"/>
                        <a:t>P-11</a:t>
                      </a:r>
                      <a:endParaRPr lang="en-SG" sz="1400" dirty="0"/>
                    </a:p>
                  </a:txBody>
                  <a:tcPr marL="35995" marR="35995" marT="36008" marB="36008"/>
                </a:tc>
                <a:tc>
                  <a:txBody>
                    <a:bodyPr/>
                    <a:lstStyle/>
                    <a:p>
                      <a:pPr algn="ctr"/>
                      <a:r>
                        <a:rPr lang="en-GB" sz="1400" dirty="0" smtClean="0"/>
                        <a:t>04-Jul</a:t>
                      </a:r>
                      <a:endParaRPr lang="en-SG" sz="1400" dirty="0"/>
                    </a:p>
                  </a:txBody>
                  <a:tcPr marL="35995" marR="35995" marT="36008" marB="3600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Sam</a:t>
                      </a:r>
                      <a:endParaRPr lang="en-SG" sz="1400" dirty="0" smtClean="0"/>
                    </a:p>
                  </a:txBody>
                  <a:tcPr marL="35995" marR="35995" marT="36008" marB="3600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91234567</a:t>
                      </a:r>
                      <a:endParaRPr lang="en-SG" sz="1400" dirty="0" smtClean="0"/>
                    </a:p>
                  </a:txBody>
                  <a:tcPr marL="35995" marR="35995" marT="36008" marB="3600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274320">
                <a:tc>
                  <a:txBody>
                    <a:bodyPr/>
                    <a:lstStyle/>
                    <a:p>
                      <a:pPr algn="ctr"/>
                      <a:r>
                        <a:rPr lang="en-GB" sz="1400" b="0" dirty="0" smtClean="0"/>
                        <a:t>D2</a:t>
                      </a:r>
                      <a:endParaRPr lang="en-SG" sz="1400" b="0" dirty="0"/>
                    </a:p>
                  </a:txBody>
                  <a:tcPr marL="35995" marR="35995" marT="36008" marB="36008">
                    <a:lnL w="12700" cap="flat" cmpd="sng" algn="ctr">
                      <a:solidFill>
                        <a:schemeClr val="tx1"/>
                      </a:solidFill>
                      <a:prstDash val="solid"/>
                      <a:round/>
                      <a:headEnd type="none" w="med" len="med"/>
                      <a:tailEnd type="none" w="med" len="med"/>
                    </a:lnL>
                  </a:tcPr>
                </a:tc>
                <a:tc>
                  <a:txBody>
                    <a:bodyPr/>
                    <a:lstStyle/>
                    <a:p>
                      <a:pPr algn="ctr"/>
                      <a:r>
                        <a:rPr lang="en-GB" sz="1400" dirty="0" smtClean="0"/>
                        <a:t>P-02</a:t>
                      </a:r>
                      <a:endParaRPr lang="en-SG" sz="1400" dirty="0"/>
                    </a:p>
                  </a:txBody>
                  <a:tcPr marL="35995" marR="35995" marT="36008" marB="36008"/>
                </a:tc>
                <a:tc>
                  <a:txBody>
                    <a:bodyPr/>
                    <a:lstStyle/>
                    <a:p>
                      <a:pPr algn="ctr"/>
                      <a:r>
                        <a:rPr lang="en-GB" sz="1400" dirty="0" smtClean="0"/>
                        <a:t>05-Jul</a:t>
                      </a:r>
                      <a:endParaRPr lang="en-SG" sz="1400" dirty="0"/>
                    </a:p>
                  </a:txBody>
                  <a:tcPr marL="35995" marR="35995" marT="36008" marB="3600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Tom</a:t>
                      </a:r>
                      <a:endParaRPr lang="en-SG" sz="1400" dirty="0" smtClean="0"/>
                    </a:p>
                  </a:txBody>
                  <a:tcPr marL="35995" marR="35995" marT="36008" marB="3600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87654321</a:t>
                      </a:r>
                      <a:endParaRPr lang="en-SG" sz="1400" dirty="0" smtClean="0"/>
                    </a:p>
                  </a:txBody>
                  <a:tcPr marL="35995" marR="35995" marT="36008" marB="3600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274320">
                <a:tc>
                  <a:txBody>
                    <a:bodyPr/>
                    <a:lstStyle/>
                    <a:p>
                      <a:pPr algn="ctr"/>
                      <a:r>
                        <a:rPr lang="en-GB" sz="1400" dirty="0" smtClean="0"/>
                        <a:t>D2</a:t>
                      </a:r>
                      <a:endParaRPr lang="en-SG" sz="1400" b="0" dirty="0"/>
                    </a:p>
                  </a:txBody>
                  <a:tcPr marL="35995" marR="35995" marT="36008" marB="36008">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GB" sz="1400" dirty="0" smtClean="0"/>
                        <a:t>P-22</a:t>
                      </a:r>
                      <a:endParaRPr lang="en-SG" sz="1400" dirty="0"/>
                    </a:p>
                  </a:txBody>
                  <a:tcPr marL="35995" marR="35995" marT="36008" marB="36008">
                    <a:lnB w="12700" cap="flat" cmpd="sng" algn="ctr">
                      <a:solidFill>
                        <a:schemeClr val="tx1"/>
                      </a:solidFill>
                      <a:prstDash val="solid"/>
                      <a:round/>
                      <a:headEnd type="none" w="med" len="med"/>
                      <a:tailEnd type="none" w="med" len="med"/>
                    </a:lnB>
                  </a:tcPr>
                </a:tc>
                <a:tc>
                  <a:txBody>
                    <a:bodyPr/>
                    <a:lstStyle/>
                    <a:p>
                      <a:pPr algn="ctr"/>
                      <a:r>
                        <a:rPr lang="en-GB" sz="1400" dirty="0" smtClean="0"/>
                        <a:t>06-Jul</a:t>
                      </a:r>
                      <a:endParaRPr lang="en-SG" sz="1400" dirty="0"/>
                    </a:p>
                  </a:txBody>
                  <a:tcPr marL="35995" marR="35995" marT="36008" marB="36008">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Tom</a:t>
                      </a:r>
                      <a:endParaRPr lang="en-SG" sz="1400" dirty="0" smtClean="0"/>
                    </a:p>
                  </a:txBody>
                  <a:tcPr marL="35995" marR="35995" marT="36008" marB="36008">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87654321</a:t>
                      </a:r>
                      <a:endParaRPr lang="en-SG" sz="1400" dirty="0" smtClean="0"/>
                    </a:p>
                  </a:txBody>
                  <a:tcPr marL="35995" marR="35995" marT="36008" marB="36008">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8" name="Text Box 3"/>
          <p:cNvSpPr txBox="1">
            <a:spLocks noChangeArrowheads="1"/>
          </p:cNvSpPr>
          <p:nvPr/>
        </p:nvSpPr>
        <p:spPr bwMode="auto">
          <a:xfrm>
            <a:off x="7708900" y="4953000"/>
            <a:ext cx="966788" cy="33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8800" tIns="27432" rIns="27432" bIns="27432">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1800" b="1" dirty="0">
                <a:ea typeface="Calibri" pitchFamily="34" charset="0"/>
                <a:cs typeface="Calibri" pitchFamily="34" charset="0"/>
              </a:rPr>
              <a:t>DELIVERY</a:t>
            </a:r>
          </a:p>
        </p:txBody>
      </p:sp>
      <p:cxnSp>
        <p:nvCxnSpPr>
          <p:cNvPr id="29" name="Straight Connector 28"/>
          <p:cNvCxnSpPr/>
          <p:nvPr/>
        </p:nvCxnSpPr>
        <p:spPr>
          <a:xfrm>
            <a:off x="468313" y="3534228"/>
            <a:ext cx="7991475" cy="0"/>
          </a:xfrm>
          <a:prstGeom prst="line">
            <a:avLst/>
          </a:prstGeom>
        </p:spPr>
        <p:style>
          <a:lnRef idx="1">
            <a:schemeClr val="accent1"/>
          </a:lnRef>
          <a:fillRef idx="0">
            <a:schemeClr val="accent1"/>
          </a:fillRef>
          <a:effectRef idx="0">
            <a:schemeClr val="accent1"/>
          </a:effectRef>
          <a:fontRef idx="minor">
            <a:schemeClr val="tx1"/>
          </a:fontRef>
        </p:style>
      </p:cxnSp>
      <p:sp>
        <p:nvSpPr>
          <p:cNvPr id="18545" name="Text Box 3"/>
          <p:cNvSpPr txBox="1">
            <a:spLocks noChangeArrowheads="1"/>
          </p:cNvSpPr>
          <p:nvPr/>
        </p:nvSpPr>
        <p:spPr bwMode="auto">
          <a:xfrm>
            <a:off x="4805363" y="2433181"/>
            <a:ext cx="2105419"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8800" tIns="27432" rIns="27432" bIns="27432">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2400" b="1" dirty="0">
                <a:solidFill>
                  <a:srgbClr val="FF0000"/>
                </a:solidFill>
                <a:ea typeface="Calibri" pitchFamily="34" charset="0"/>
                <a:cs typeface="Calibri" pitchFamily="34" charset="0"/>
              </a:rPr>
              <a:t>A</a:t>
            </a:r>
            <a:r>
              <a:rPr lang="en-US" altLang="en-US" sz="2400" b="1" dirty="0" smtClean="0">
                <a:solidFill>
                  <a:srgbClr val="FF0000"/>
                </a:solidFill>
                <a:ea typeface="Calibri" pitchFamily="34" charset="0"/>
                <a:cs typeface="Calibri" pitchFamily="34" charset="0"/>
              </a:rPr>
              <a:t> </a:t>
            </a:r>
            <a:r>
              <a:rPr lang="en-US" altLang="en-US" sz="2400" b="1" dirty="0">
                <a:solidFill>
                  <a:srgbClr val="FF0000"/>
                </a:solidFill>
                <a:ea typeface="Calibri" pitchFamily="34" charset="0"/>
                <a:cs typeface="Calibri" pitchFamily="34" charset="0"/>
              </a:rPr>
              <a:t>modelled ERD</a:t>
            </a:r>
          </a:p>
        </p:txBody>
      </p:sp>
      <p:sp>
        <p:nvSpPr>
          <p:cNvPr id="32" name="Rounded Rectangle 31"/>
          <p:cNvSpPr>
            <a:spLocks noChangeArrowheads="1"/>
          </p:cNvSpPr>
          <p:nvPr/>
        </p:nvSpPr>
        <p:spPr bwMode="auto">
          <a:xfrm>
            <a:off x="6867525" y="5257800"/>
            <a:ext cx="2016000" cy="1548000"/>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en-SG" altLang="en-US" sz="1800">
              <a:solidFill>
                <a:srgbClr val="FF0000"/>
              </a:solidFill>
              <a:latin typeface="Arial" charset="0"/>
            </a:endParaRPr>
          </a:p>
        </p:txBody>
      </p:sp>
      <p:grpSp>
        <p:nvGrpSpPr>
          <p:cNvPr id="34" name="Group 33"/>
          <p:cNvGrpSpPr>
            <a:grpSpLocks/>
          </p:cNvGrpSpPr>
          <p:nvPr/>
        </p:nvGrpSpPr>
        <p:grpSpPr bwMode="auto">
          <a:xfrm>
            <a:off x="1511300" y="4211896"/>
            <a:ext cx="2744387" cy="876706"/>
            <a:chOff x="1511984" y="3819404"/>
            <a:chExt cx="2743094" cy="876436"/>
          </a:xfrm>
        </p:grpSpPr>
        <p:sp>
          <p:nvSpPr>
            <p:cNvPr id="18551" name="Rounded Rectangle 30"/>
            <p:cNvSpPr>
              <a:spLocks noChangeArrowheads="1"/>
            </p:cNvSpPr>
            <p:nvPr/>
          </p:nvSpPr>
          <p:spPr bwMode="auto">
            <a:xfrm>
              <a:off x="1520367" y="3819404"/>
              <a:ext cx="2734711" cy="287912"/>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en-SG" altLang="en-US" sz="1800">
                <a:solidFill>
                  <a:srgbClr val="FF0000"/>
                </a:solidFill>
                <a:latin typeface="Arial" charset="0"/>
              </a:endParaRPr>
            </a:p>
          </p:txBody>
        </p:sp>
        <p:sp>
          <p:nvSpPr>
            <p:cNvPr id="18552" name="Rounded Rectangle 32"/>
            <p:cNvSpPr>
              <a:spLocks noChangeArrowheads="1"/>
            </p:cNvSpPr>
            <p:nvPr/>
          </p:nvSpPr>
          <p:spPr bwMode="auto">
            <a:xfrm>
              <a:off x="1511984" y="4407929"/>
              <a:ext cx="2734711" cy="287911"/>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en-SG" altLang="en-US" sz="1800">
                <a:solidFill>
                  <a:srgbClr val="FF0000"/>
                </a:solidFill>
                <a:latin typeface="Arial" charset="0"/>
              </a:endParaRPr>
            </a:p>
          </p:txBody>
        </p:sp>
      </p:grpSp>
      <p:sp>
        <p:nvSpPr>
          <p:cNvPr id="18549" name="TextBox 1"/>
          <p:cNvSpPr>
            <a:spLocks noChangeArrowheads="1"/>
          </p:cNvSpPr>
          <p:nvPr/>
        </p:nvSpPr>
        <p:spPr bwMode="auto">
          <a:xfrm>
            <a:off x="179388" y="3775075"/>
            <a:ext cx="365125" cy="492125"/>
          </a:xfrm>
          <a:prstGeom prst="ellipse">
            <a:avLst/>
          </a:prstGeom>
          <a:noFill/>
          <a:ln w="9525">
            <a:solidFill>
              <a:srgbClr val="0070C0"/>
            </a:solidFill>
            <a:round/>
            <a:headEnd/>
            <a:tailEnd/>
          </a:ln>
          <a:extLst>
            <a:ext uri="{909E8E84-426E-40DD-AFC4-6F175D3DCCD1}">
              <a14:hiddenFill xmlns:a14="http://schemas.microsoft.com/office/drawing/2010/main">
                <a:solidFill>
                  <a:srgbClr val="FFFFFF"/>
                </a:solidFill>
              </a14:hiddenFill>
            </a:ext>
          </a:extLst>
        </p:spPr>
        <p:txBody>
          <a:bodyPr lIns="36000" tIns="36000" rIns="36000" bIns="36000">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GB" altLang="en-US" sz="1800" dirty="0">
                <a:latin typeface="Arial" charset="0"/>
              </a:rPr>
              <a:t>1</a:t>
            </a:r>
            <a:endParaRPr lang="en-SG" altLang="en-US" sz="1800" dirty="0">
              <a:latin typeface="Arial" charset="0"/>
            </a:endParaRPr>
          </a:p>
        </p:txBody>
      </p:sp>
      <p:sp>
        <p:nvSpPr>
          <p:cNvPr id="18550" name="TextBox 1"/>
          <p:cNvSpPr>
            <a:spLocks noChangeArrowheads="1"/>
          </p:cNvSpPr>
          <p:nvPr/>
        </p:nvSpPr>
        <p:spPr bwMode="auto">
          <a:xfrm>
            <a:off x="3536950" y="5334000"/>
            <a:ext cx="365125" cy="492125"/>
          </a:xfrm>
          <a:prstGeom prst="ellipse">
            <a:avLst/>
          </a:prstGeom>
          <a:noFill/>
          <a:ln w="9525">
            <a:solidFill>
              <a:srgbClr val="0070C0"/>
            </a:solidFill>
            <a:round/>
            <a:headEnd/>
            <a:tailEnd/>
          </a:ln>
          <a:extLst>
            <a:ext uri="{909E8E84-426E-40DD-AFC4-6F175D3DCCD1}">
              <a14:hiddenFill xmlns:a14="http://schemas.microsoft.com/office/drawing/2010/main">
                <a:solidFill>
                  <a:srgbClr val="FFFFFF"/>
                </a:solidFill>
              </a14:hiddenFill>
            </a:ext>
          </a:extLst>
        </p:spPr>
        <p:txBody>
          <a:bodyPr lIns="36000" tIns="36000" rIns="36000" bIns="36000">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GB" altLang="en-US" sz="1800">
                <a:latin typeface="Arial" charset="0"/>
              </a:rPr>
              <a:t>2</a:t>
            </a:r>
            <a:endParaRPr lang="en-SG" altLang="en-US" sz="1800">
              <a:latin typeface="Arial" charset="0"/>
            </a:endParaRPr>
          </a:p>
        </p:txBody>
      </p:sp>
      <p:grpSp>
        <p:nvGrpSpPr>
          <p:cNvPr id="5" name="Group 4"/>
          <p:cNvGrpSpPr/>
          <p:nvPr/>
        </p:nvGrpSpPr>
        <p:grpSpPr>
          <a:xfrm>
            <a:off x="4254417" y="3752850"/>
            <a:ext cx="4478421" cy="1243654"/>
            <a:chOff x="4254417" y="3524250"/>
            <a:chExt cx="4478421" cy="1243654"/>
          </a:xfrm>
        </p:grpSpPr>
        <p:sp>
          <p:nvSpPr>
            <p:cNvPr id="49" name="Title 1"/>
            <p:cNvSpPr txBox="1">
              <a:spLocks/>
            </p:cNvSpPr>
            <p:nvPr/>
          </p:nvSpPr>
          <p:spPr bwMode="auto">
            <a:xfrm>
              <a:off x="5486400" y="3524250"/>
              <a:ext cx="3246438" cy="1200150"/>
            </a:xfrm>
            <a:prstGeom prst="rect">
              <a:avLst/>
            </a:prstGeom>
            <a:noFill/>
            <a:ln>
              <a:noFill/>
            </a:ln>
            <a:extLst/>
          </p:spPr>
          <p:txBody>
            <a:bodyPr lIns="46800" rIns="46800" anchor="ctr">
              <a:spAutoFit/>
            </a:bodyPr>
            <a:lstStyle>
              <a:lvl1pPr algn="ctr" rtl="0" eaLnBrk="0" fontAlgn="base" hangingPunct="0">
                <a:spcBef>
                  <a:spcPct val="0"/>
                </a:spcBef>
                <a:spcAft>
                  <a:spcPct val="0"/>
                </a:spcAft>
                <a:defRPr sz="3200" b="1" kern="1200">
                  <a:solidFill>
                    <a:schemeClr val="tx1"/>
                  </a:solidFill>
                  <a:latin typeface="Verdana" pitchFamily="34" charset="0"/>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eaLnBrk="1" hangingPunct="1">
                <a:defRPr/>
              </a:pPr>
              <a:r>
                <a:rPr lang="en-GB" sz="1800" dirty="0" smtClean="0">
                  <a:solidFill>
                    <a:srgbClr val="C00000"/>
                  </a:solidFill>
                  <a:latin typeface="+mn-lt"/>
                </a:rPr>
                <a:t>Sometimes, even though the relation has been modelled, it still inherited “problems” – known as anomalies</a:t>
              </a:r>
            </a:p>
          </p:txBody>
        </p:sp>
        <p:cxnSp>
          <p:nvCxnSpPr>
            <p:cNvPr id="3" name="Straight Arrow Connector 2"/>
            <p:cNvCxnSpPr/>
            <p:nvPr/>
          </p:nvCxnSpPr>
          <p:spPr>
            <a:xfrm flipH="1">
              <a:off x="4267200" y="4019550"/>
              <a:ext cx="1152000" cy="17145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5" name="Straight Arrow Connector 34"/>
            <p:cNvCxnSpPr>
              <a:stCxn id="49" idx="1"/>
            </p:cNvCxnSpPr>
            <p:nvPr/>
          </p:nvCxnSpPr>
          <p:spPr>
            <a:xfrm flipH="1">
              <a:off x="4254417" y="4124325"/>
              <a:ext cx="1231983" cy="64357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grpSp>
      <p:sp>
        <p:nvSpPr>
          <p:cNvPr id="36" name="Rectangle 4"/>
          <p:cNvSpPr>
            <a:spLocks noChangeArrowheads="1"/>
          </p:cNvSpPr>
          <p:nvPr/>
        </p:nvSpPr>
        <p:spPr bwMode="auto">
          <a:xfrm>
            <a:off x="685800" y="853496"/>
            <a:ext cx="8172000" cy="503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spAutoFit/>
          </a:bodyPr>
          <a:lstStyle>
            <a:lvl1pPr marL="514350" indent="-514350"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363538" indent="-363538" eaLnBrk="1" hangingPunct="1">
              <a:spcBef>
                <a:spcPct val="0"/>
              </a:spcBef>
              <a:buFont typeface="+mj-lt"/>
              <a:buAutoNum type="arabicParenR" startAt="3"/>
            </a:pPr>
            <a:r>
              <a:rPr lang="en-US" altLang="en-US" sz="2800" dirty="0" smtClean="0"/>
              <a:t>Further refine </a:t>
            </a:r>
            <a:r>
              <a:rPr lang="en-US" altLang="en-US" sz="2800" dirty="0" smtClean="0">
                <a:solidFill>
                  <a:srgbClr val="C00000"/>
                </a:solidFill>
              </a:rPr>
              <a:t>ER modelling </a:t>
            </a:r>
            <a:r>
              <a:rPr lang="en-US" altLang="en-US" sz="2800" dirty="0" smtClean="0"/>
              <a:t>:  </a:t>
            </a:r>
          </a:p>
        </p:txBody>
      </p:sp>
      <p:sp>
        <p:nvSpPr>
          <p:cNvPr id="37" name="Title 1"/>
          <p:cNvSpPr txBox="1">
            <a:spLocks/>
          </p:cNvSpPr>
          <p:nvPr/>
        </p:nvSpPr>
        <p:spPr bwMode="auto">
          <a:xfrm>
            <a:off x="685800" y="195942"/>
            <a:ext cx="4995863"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36000" tIns="36000" rIns="36000" bIns="36000" numCol="1" anchor="t" anchorCtr="0" compatLnSpc="1">
            <a:prstTxWarp prst="textNoShape">
              <a:avLst/>
            </a:prstTxWarp>
            <a:sp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eaLnBrk="1" hangingPunct="1">
              <a:defRPr/>
            </a:pPr>
            <a:r>
              <a:rPr lang="en-GB" sz="3200" b="1" dirty="0" smtClean="0">
                <a:solidFill>
                  <a:srgbClr val="C00000"/>
                </a:solidFill>
                <a:latin typeface="+mn-lt"/>
              </a:rPr>
              <a:t>What can Normalization do?</a:t>
            </a:r>
            <a:endParaRPr lang="en-US" sz="3200" b="1" dirty="0" smtClean="0">
              <a:solidFill>
                <a:srgbClr val="C00000"/>
              </a:solidFill>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1000"/>
                                        <p:tgtEl>
                                          <p:spTgt spid="26"/>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1000"/>
                                        <p:tgtEl>
                                          <p:spTgt spid="25"/>
                                        </p:tgtEl>
                                      </p:cBhvr>
                                    </p:animEffect>
                                  </p:childTnLst>
                                </p:cTn>
                              </p:par>
                            </p:childTnLst>
                          </p:cTn>
                        </p:par>
                        <p:par>
                          <p:cTn id="12" fill="hold" nodeType="afterGroup">
                            <p:stCondLst>
                              <p:cond delay="2000"/>
                            </p:stCondLst>
                            <p:childTnLst>
                              <p:par>
                                <p:cTn id="13" presetID="22" presetClass="entr" presetSubtype="8" fill="hold" nodeType="afterEffect">
                                  <p:stCondLst>
                                    <p:cond delay="1000"/>
                                  </p:stCondLst>
                                  <p:childTnLst>
                                    <p:set>
                                      <p:cBhvr>
                                        <p:cTn id="14" dur="1" fill="hold">
                                          <p:stCondLst>
                                            <p:cond delay="0"/>
                                          </p:stCondLst>
                                        </p:cTn>
                                        <p:tgtEl>
                                          <p:spTgt spid="34"/>
                                        </p:tgtEl>
                                        <p:attrNameLst>
                                          <p:attrName>style.visibility</p:attrName>
                                        </p:attrNameLst>
                                      </p:cBhvr>
                                      <p:to>
                                        <p:strVal val="visible"/>
                                      </p:to>
                                    </p:set>
                                    <p:animEffect transition="in" filter="wipe(left)">
                                      <p:cBhvr>
                                        <p:cTn id="15" dur="1000"/>
                                        <p:tgtEl>
                                          <p:spTgt spid="34"/>
                                        </p:tgtEl>
                                      </p:cBhvr>
                                    </p:animEffect>
                                  </p:childTnLst>
                                </p:cTn>
                              </p:par>
                            </p:childTnLst>
                          </p:cTn>
                        </p:par>
                        <p:par>
                          <p:cTn id="16" fill="hold" nodeType="afterGroup">
                            <p:stCondLst>
                              <p:cond delay="4000"/>
                            </p:stCondLst>
                            <p:childTnLst>
                              <p:par>
                                <p:cTn id="17" presetID="22" presetClass="entr" presetSubtype="8" fill="hold" grpId="0" nodeType="afterEffect">
                                  <p:stCondLst>
                                    <p:cond delay="2000"/>
                                  </p:stCondLst>
                                  <p:childTnLst>
                                    <p:set>
                                      <p:cBhvr>
                                        <p:cTn id="18" dur="1" fill="hold">
                                          <p:stCondLst>
                                            <p:cond delay="0"/>
                                          </p:stCondLst>
                                        </p:cTn>
                                        <p:tgtEl>
                                          <p:spTgt spid="28"/>
                                        </p:tgtEl>
                                        <p:attrNameLst>
                                          <p:attrName>style.visibility</p:attrName>
                                        </p:attrNameLst>
                                      </p:cBhvr>
                                      <p:to>
                                        <p:strVal val="visible"/>
                                      </p:to>
                                    </p:set>
                                    <p:animEffect transition="in" filter="wipe(left)">
                                      <p:cBhvr>
                                        <p:cTn id="19" dur="1000"/>
                                        <p:tgtEl>
                                          <p:spTgt spid="28"/>
                                        </p:tgtEl>
                                      </p:cBhvr>
                                    </p:animEffect>
                                  </p:childTnLst>
                                </p:cTn>
                              </p:par>
                            </p:childTnLst>
                          </p:cTn>
                        </p:par>
                        <p:par>
                          <p:cTn id="20" fill="hold" nodeType="afterGroup">
                            <p:stCondLst>
                              <p:cond delay="7000"/>
                            </p:stCondLst>
                            <p:childTnLst>
                              <p:par>
                                <p:cTn id="21" presetID="22" presetClass="entr" presetSubtype="8" fill="hold" nodeType="after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wipe(left)">
                                      <p:cBhvr>
                                        <p:cTn id="23" dur="1000"/>
                                        <p:tgtEl>
                                          <p:spTgt spid="27"/>
                                        </p:tgtEl>
                                      </p:cBhvr>
                                    </p:animEffect>
                                  </p:childTnLst>
                                </p:cTn>
                              </p:par>
                            </p:childTnLst>
                          </p:cTn>
                        </p:par>
                        <p:par>
                          <p:cTn id="24" fill="hold" nodeType="afterGroup">
                            <p:stCondLst>
                              <p:cond delay="8000"/>
                            </p:stCondLst>
                            <p:childTnLst>
                              <p:par>
                                <p:cTn id="25" presetID="22" presetClass="entr" presetSubtype="8" fill="hold" grpId="0" nodeType="afterEffect">
                                  <p:stCondLst>
                                    <p:cond delay="2000"/>
                                  </p:stCondLst>
                                  <p:childTnLst>
                                    <p:set>
                                      <p:cBhvr>
                                        <p:cTn id="26" dur="1" fill="hold">
                                          <p:stCondLst>
                                            <p:cond delay="0"/>
                                          </p:stCondLst>
                                        </p:cTn>
                                        <p:tgtEl>
                                          <p:spTgt spid="32"/>
                                        </p:tgtEl>
                                        <p:attrNameLst>
                                          <p:attrName>style.visibility</p:attrName>
                                        </p:attrNameLst>
                                      </p:cBhvr>
                                      <p:to>
                                        <p:strVal val="visible"/>
                                      </p:to>
                                    </p:set>
                                    <p:animEffect transition="in" filter="wipe(left)">
                                      <p:cBhvr>
                                        <p:cTn id="27" dur="1000"/>
                                        <p:tgtEl>
                                          <p:spTgt spid="32"/>
                                        </p:tgtEl>
                                      </p:cBhvr>
                                    </p:animEffect>
                                  </p:childTnLst>
                                </p:cTn>
                              </p:par>
                            </p:childTnLst>
                          </p:cTn>
                        </p:par>
                        <p:par>
                          <p:cTn id="28" fill="hold">
                            <p:stCondLst>
                              <p:cond delay="11000"/>
                            </p:stCondLst>
                            <p:childTnLst>
                              <p:par>
                                <p:cTn id="29" presetID="22" presetClass="entr" presetSubtype="2" fill="hold" nodeType="afterEffect">
                                  <p:stCondLst>
                                    <p:cond delay="1000"/>
                                  </p:stCondLst>
                                  <p:childTnLst>
                                    <p:set>
                                      <p:cBhvr>
                                        <p:cTn id="30" dur="1" fill="hold">
                                          <p:stCondLst>
                                            <p:cond delay="0"/>
                                          </p:stCondLst>
                                        </p:cTn>
                                        <p:tgtEl>
                                          <p:spTgt spid="5"/>
                                        </p:tgtEl>
                                        <p:attrNameLst>
                                          <p:attrName>style.visibility</p:attrName>
                                        </p:attrNameLst>
                                      </p:cBhvr>
                                      <p:to>
                                        <p:strVal val="visible"/>
                                      </p:to>
                                    </p:set>
                                    <p:animEffect transition="in" filter="wipe(right)">
                                      <p:cBhvr>
                                        <p:cTn id="31"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8" grpId="0"/>
      <p:bldP spid="3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99FF99"/>
        </a:solidFill>
        <a:effectLst/>
      </p:bgPr>
    </p:bg>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379240500"/>
              </p:ext>
            </p:extLst>
          </p:nvPr>
        </p:nvGraphicFramePr>
        <p:xfrm>
          <a:off x="1187450" y="1941513"/>
          <a:ext cx="4608512" cy="1579560"/>
        </p:xfrm>
        <a:graphic>
          <a:graphicData uri="http://schemas.openxmlformats.org/drawingml/2006/table">
            <a:tbl>
              <a:tblPr firstRow="1" bandRow="1">
                <a:tableStyleId>{073A0DAA-6AF3-43AB-8588-CEC1D06C72B9}</a:tableStyleId>
              </a:tblPr>
              <a:tblGrid>
                <a:gridCol w="864096">
                  <a:extLst>
                    <a:ext uri="{9D8B030D-6E8A-4147-A177-3AD203B41FA5}">
                      <a16:colId xmlns:a16="http://schemas.microsoft.com/office/drawing/2014/main" val="20000"/>
                    </a:ext>
                  </a:extLst>
                </a:gridCol>
                <a:gridCol w="1013827">
                  <a:extLst>
                    <a:ext uri="{9D8B030D-6E8A-4147-A177-3AD203B41FA5}">
                      <a16:colId xmlns:a16="http://schemas.microsoft.com/office/drawing/2014/main" val="20001"/>
                    </a:ext>
                  </a:extLst>
                </a:gridCol>
                <a:gridCol w="858381">
                  <a:extLst>
                    <a:ext uri="{9D8B030D-6E8A-4147-A177-3AD203B41FA5}">
                      <a16:colId xmlns:a16="http://schemas.microsoft.com/office/drawing/2014/main" val="20002"/>
                    </a:ext>
                  </a:extLst>
                </a:gridCol>
                <a:gridCol w="936104">
                  <a:extLst>
                    <a:ext uri="{9D8B030D-6E8A-4147-A177-3AD203B41FA5}">
                      <a16:colId xmlns:a16="http://schemas.microsoft.com/office/drawing/2014/main" val="20003"/>
                    </a:ext>
                  </a:extLst>
                </a:gridCol>
                <a:gridCol w="936104">
                  <a:extLst>
                    <a:ext uri="{9D8B030D-6E8A-4147-A177-3AD203B41FA5}">
                      <a16:colId xmlns:a16="http://schemas.microsoft.com/office/drawing/2014/main" val="20004"/>
                    </a:ext>
                  </a:extLst>
                </a:gridCol>
              </a:tblGrid>
              <a:tr h="315912">
                <a:tc>
                  <a:txBody>
                    <a:bodyPr/>
                    <a:lstStyle/>
                    <a:p>
                      <a:pPr algn="ctr"/>
                      <a:r>
                        <a:rPr lang="en-SG" sz="1600" u="sng" dirty="0" err="1" smtClean="0">
                          <a:solidFill>
                            <a:srgbClr val="FFFF00"/>
                          </a:solidFill>
                        </a:rPr>
                        <a:t>ItemNO</a:t>
                      </a:r>
                      <a:endParaRPr lang="en-SG" sz="1600" u="sng" dirty="0" smtClean="0">
                        <a:solidFill>
                          <a:srgbClr val="FFFF00"/>
                        </a:solidFill>
                      </a:endParaRPr>
                    </a:p>
                  </a:txBody>
                  <a:tcPr marL="36000" marR="36000" marT="35987" marB="35987">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b="1" u="sng" dirty="0" err="1" smtClean="0">
                          <a:solidFill>
                            <a:srgbClr val="FFFF00"/>
                          </a:solidFill>
                        </a:rPr>
                        <a:t>SupplierID</a:t>
                      </a:r>
                      <a:endParaRPr lang="en-SG" sz="1600" b="1" u="sng" dirty="0" smtClean="0">
                        <a:solidFill>
                          <a:srgbClr val="FFFF00"/>
                        </a:solidFill>
                      </a:endParaRPr>
                    </a:p>
                  </a:txBody>
                  <a:tcPr marL="36000" marR="36000" marT="35987" marB="35987">
                    <a:lnT w="12700"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smtClean="0"/>
                        <a:t>Items</a:t>
                      </a:r>
                      <a:endParaRPr lang="en-SG" sz="1600" dirty="0" smtClean="0"/>
                    </a:p>
                  </a:txBody>
                  <a:tcPr marL="36000" marR="36000" marT="35987" marB="35987">
                    <a:lnT w="12700"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err="1" smtClean="0">
                          <a:solidFill>
                            <a:schemeClr val="bg1"/>
                          </a:solidFill>
                        </a:rPr>
                        <a:t>SuppClass</a:t>
                      </a:r>
                      <a:endParaRPr lang="en-SG" sz="1600" dirty="0" smtClean="0">
                        <a:solidFill>
                          <a:schemeClr val="bg1"/>
                        </a:solidFill>
                      </a:endParaRPr>
                    </a:p>
                  </a:txBody>
                  <a:tcPr marL="36000" marR="36000" marT="35987" marB="35987">
                    <a:lnT w="12700"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err="1" smtClean="0"/>
                        <a:t>ItemCost</a:t>
                      </a:r>
                      <a:endParaRPr lang="en-SG" sz="1600" dirty="0" smtClean="0"/>
                    </a:p>
                  </a:txBody>
                  <a:tcPr marL="36000" marR="36000" marT="35987" marB="35987">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315912">
                <a:tc>
                  <a:txBody>
                    <a:bodyPr/>
                    <a:lstStyle/>
                    <a:p>
                      <a:pPr algn="ctr"/>
                      <a:r>
                        <a:rPr lang="en-GB" sz="1600" dirty="0" smtClean="0"/>
                        <a:t>P-01</a:t>
                      </a:r>
                      <a:endParaRPr lang="en-SG" sz="1600" b="0" dirty="0"/>
                    </a:p>
                  </a:txBody>
                  <a:tcPr marL="36000" marR="36000" marT="35987" marB="35987">
                    <a:lnL w="12700" cap="flat" cmpd="sng" algn="ctr">
                      <a:solidFill>
                        <a:schemeClr val="tx1"/>
                      </a:solidFill>
                      <a:prstDash val="solid"/>
                      <a:round/>
                      <a:headEnd type="none" w="med" len="med"/>
                      <a:tailEnd type="none" w="med" len="med"/>
                    </a:lnL>
                  </a:tcPr>
                </a:tc>
                <a:tc>
                  <a:txBody>
                    <a:bodyPr/>
                    <a:lstStyle/>
                    <a:p>
                      <a:pPr algn="ctr"/>
                      <a:r>
                        <a:rPr lang="en-GB" sz="1600" dirty="0" smtClean="0"/>
                        <a:t>Supp1</a:t>
                      </a:r>
                      <a:endParaRPr lang="en-SG" sz="1600" dirty="0"/>
                    </a:p>
                  </a:txBody>
                  <a:tcPr marL="36000" marR="36000" marT="35987" marB="35987"/>
                </a:tc>
                <a:tc>
                  <a:txBody>
                    <a:bodyPr/>
                    <a:lstStyle/>
                    <a:p>
                      <a:pPr algn="ctr"/>
                      <a:r>
                        <a:rPr lang="en-GB" sz="1600" dirty="0" smtClean="0"/>
                        <a:t>Printer</a:t>
                      </a:r>
                      <a:endParaRPr lang="en-SG" sz="1600" dirty="0"/>
                    </a:p>
                  </a:txBody>
                  <a:tcPr marL="36000" marR="36000" marT="35987" marB="35987"/>
                </a:tc>
                <a:tc>
                  <a:txBody>
                    <a:bodyPr/>
                    <a:lstStyle/>
                    <a:p>
                      <a:pPr algn="ctr"/>
                      <a:r>
                        <a:rPr lang="en-GB" sz="1600" dirty="0" smtClean="0"/>
                        <a:t>B</a:t>
                      </a:r>
                      <a:endParaRPr lang="en-SG" sz="1600" dirty="0"/>
                    </a:p>
                  </a:txBody>
                  <a:tcPr marL="36000" marR="36000" marT="35987" marB="35987"/>
                </a:tc>
                <a:tc>
                  <a:txBody>
                    <a:bodyPr/>
                    <a:lstStyle/>
                    <a:p>
                      <a:pPr algn="ctr"/>
                      <a:r>
                        <a:rPr lang="en-GB" sz="1600" dirty="0" smtClean="0"/>
                        <a:t>550</a:t>
                      </a:r>
                      <a:endParaRPr lang="en-SG" sz="1600" dirty="0"/>
                    </a:p>
                  </a:txBody>
                  <a:tcPr marL="36000" marR="36000" marT="35987" marB="35987">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15912">
                <a:tc>
                  <a:txBody>
                    <a:bodyPr/>
                    <a:lstStyle/>
                    <a:p>
                      <a:pPr algn="ctr"/>
                      <a:r>
                        <a:rPr lang="en-GB" sz="1600" dirty="0" smtClean="0"/>
                        <a:t>P-02</a:t>
                      </a:r>
                      <a:endParaRPr lang="en-SG" sz="1600" b="0" dirty="0"/>
                    </a:p>
                  </a:txBody>
                  <a:tcPr marL="36000" marR="36000" marT="35987" marB="35987">
                    <a:lnL w="12700" cap="flat" cmpd="sng" algn="ctr">
                      <a:solidFill>
                        <a:schemeClr val="tx1"/>
                      </a:solidFill>
                      <a:prstDash val="solid"/>
                      <a:round/>
                      <a:headEnd type="none" w="med" len="med"/>
                      <a:tailEnd type="none" w="med" len="med"/>
                    </a:lnL>
                  </a:tcPr>
                </a:tc>
                <a:tc>
                  <a:txBody>
                    <a:bodyPr/>
                    <a:lstStyle/>
                    <a:p>
                      <a:pPr algn="ctr"/>
                      <a:r>
                        <a:rPr lang="en-GB" sz="1600" dirty="0" smtClean="0"/>
                        <a:t>Supp2</a:t>
                      </a:r>
                      <a:endParaRPr lang="en-SG" sz="1600" dirty="0"/>
                    </a:p>
                  </a:txBody>
                  <a:tcPr marL="36000" marR="36000" marT="35987" marB="35987"/>
                </a:tc>
                <a:tc>
                  <a:txBody>
                    <a:bodyPr/>
                    <a:lstStyle/>
                    <a:p>
                      <a:pPr algn="ctr"/>
                      <a:r>
                        <a:rPr lang="en-GB" sz="1600" dirty="0" smtClean="0"/>
                        <a:t>Projector</a:t>
                      </a:r>
                      <a:endParaRPr lang="en-SG" sz="1600" dirty="0"/>
                    </a:p>
                  </a:txBody>
                  <a:tcPr marL="36000" marR="36000" marT="35987" marB="35987"/>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smtClean="0"/>
                        <a:t>A</a:t>
                      </a:r>
                      <a:endParaRPr lang="en-SG" sz="1600" dirty="0" smtClean="0"/>
                    </a:p>
                  </a:txBody>
                  <a:tcPr marL="36000" marR="36000" marT="35987" marB="35987"/>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smtClean="0"/>
                        <a:t>2300</a:t>
                      </a:r>
                      <a:endParaRPr lang="en-SG" sz="1600" dirty="0" smtClean="0"/>
                    </a:p>
                  </a:txBody>
                  <a:tcPr marL="36000" marR="36000" marT="35987" marB="35987">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15912">
                <a:tc>
                  <a:txBody>
                    <a:bodyPr/>
                    <a:lstStyle/>
                    <a:p>
                      <a:pPr algn="ctr"/>
                      <a:r>
                        <a:rPr lang="en-GB" sz="1600" dirty="0" smtClean="0"/>
                        <a:t>P-11</a:t>
                      </a:r>
                      <a:endParaRPr lang="en-SG" sz="1600" b="0" dirty="0"/>
                    </a:p>
                  </a:txBody>
                  <a:tcPr marL="36000" marR="36000" marT="35987" marB="35987">
                    <a:lnL w="12700" cap="flat" cmpd="sng" algn="ctr">
                      <a:solidFill>
                        <a:schemeClr val="tx1"/>
                      </a:solidFill>
                      <a:prstDash val="solid"/>
                      <a:round/>
                      <a:headEnd type="none" w="med" len="med"/>
                      <a:tailEnd type="none" w="med" len="med"/>
                    </a:lnL>
                  </a:tcPr>
                </a:tc>
                <a:tc>
                  <a:txBody>
                    <a:bodyPr/>
                    <a:lstStyle/>
                    <a:p>
                      <a:pPr algn="ctr"/>
                      <a:r>
                        <a:rPr lang="en-GB" sz="1600" dirty="0" smtClean="0"/>
                        <a:t>Supp1</a:t>
                      </a:r>
                      <a:endParaRPr lang="en-SG" sz="1600" dirty="0"/>
                    </a:p>
                  </a:txBody>
                  <a:tcPr marL="36000" marR="36000" marT="35987" marB="35987"/>
                </a:tc>
                <a:tc>
                  <a:txBody>
                    <a:bodyPr/>
                    <a:lstStyle/>
                    <a:p>
                      <a:pPr algn="ctr"/>
                      <a:r>
                        <a:rPr lang="en-GB" sz="1600" dirty="0" smtClean="0"/>
                        <a:t>Tonner</a:t>
                      </a:r>
                      <a:endParaRPr lang="en-SG" sz="1600" dirty="0"/>
                    </a:p>
                  </a:txBody>
                  <a:tcPr marL="36000" marR="36000" marT="35987" marB="35987"/>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smtClean="0"/>
                        <a:t>B</a:t>
                      </a:r>
                      <a:endParaRPr lang="en-SG" sz="1600" dirty="0" smtClean="0"/>
                    </a:p>
                  </a:txBody>
                  <a:tcPr marL="36000" marR="36000" marT="35987" marB="35987"/>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smtClean="0"/>
                        <a:t>120</a:t>
                      </a:r>
                      <a:endParaRPr lang="en-SG" sz="1600" dirty="0" smtClean="0"/>
                    </a:p>
                  </a:txBody>
                  <a:tcPr marL="36000" marR="36000" marT="35987" marB="35987">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315912">
                <a:tc>
                  <a:txBody>
                    <a:bodyPr/>
                    <a:lstStyle/>
                    <a:p>
                      <a:pPr algn="ctr"/>
                      <a:r>
                        <a:rPr lang="en-GB" sz="1600" dirty="0" smtClean="0"/>
                        <a:t>P-22</a:t>
                      </a:r>
                      <a:endParaRPr lang="en-SG" sz="1600" b="0" dirty="0"/>
                    </a:p>
                  </a:txBody>
                  <a:tcPr marL="36000" marR="36000" marT="35987" marB="35987">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GB" sz="1600" dirty="0" smtClean="0"/>
                        <a:t>Supp2</a:t>
                      </a:r>
                      <a:endParaRPr lang="en-SG" sz="1600" dirty="0"/>
                    </a:p>
                  </a:txBody>
                  <a:tcPr marL="36000" marR="36000" marT="35987" marB="35987">
                    <a:lnB w="12700" cap="flat" cmpd="sng" algn="ctr">
                      <a:solidFill>
                        <a:schemeClr val="tx1"/>
                      </a:solidFill>
                      <a:prstDash val="solid"/>
                      <a:round/>
                      <a:headEnd type="none" w="med" len="med"/>
                      <a:tailEnd type="none" w="med" len="med"/>
                    </a:lnB>
                  </a:tcPr>
                </a:tc>
                <a:tc>
                  <a:txBody>
                    <a:bodyPr/>
                    <a:lstStyle/>
                    <a:p>
                      <a:pPr algn="ctr"/>
                      <a:r>
                        <a:rPr lang="en-GB" sz="1600" dirty="0" smtClean="0"/>
                        <a:t>Bulbs</a:t>
                      </a:r>
                      <a:endParaRPr lang="en-SG" sz="1600" dirty="0"/>
                    </a:p>
                  </a:txBody>
                  <a:tcPr marL="36000" marR="36000" marT="35987" marB="35987">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smtClean="0"/>
                        <a:t>A</a:t>
                      </a:r>
                      <a:endParaRPr lang="en-SG" sz="1600" dirty="0" smtClean="0"/>
                    </a:p>
                  </a:txBody>
                  <a:tcPr marL="36000" marR="36000" marT="35987" marB="35987">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smtClean="0"/>
                        <a:t>60</a:t>
                      </a:r>
                      <a:endParaRPr lang="en-SG" sz="1600" dirty="0" smtClean="0"/>
                    </a:p>
                  </a:txBody>
                  <a:tcPr marL="36000" marR="36000" marT="35987" marB="35987">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9496" name="Text Box 3"/>
          <p:cNvSpPr txBox="1">
            <a:spLocks noChangeArrowheads="1"/>
          </p:cNvSpPr>
          <p:nvPr/>
        </p:nvSpPr>
        <p:spPr bwMode="auto">
          <a:xfrm>
            <a:off x="1200150" y="1581150"/>
            <a:ext cx="1087438"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8800" tIns="27432" rIns="27432" bIns="27432">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1800" b="1">
                <a:ea typeface="Calibri" pitchFamily="34" charset="0"/>
                <a:cs typeface="Calibri" pitchFamily="34" charset="0"/>
              </a:rPr>
              <a:t>PURCHASE</a:t>
            </a:r>
          </a:p>
        </p:txBody>
      </p:sp>
      <p:graphicFrame>
        <p:nvGraphicFramePr>
          <p:cNvPr id="9" name="Table 8"/>
          <p:cNvGraphicFramePr>
            <a:graphicFrameLocks noGrp="1"/>
          </p:cNvGraphicFramePr>
          <p:nvPr>
            <p:extLst>
              <p:ext uri="{D42A27DB-BD31-4B8C-83A1-F6EECF244321}">
                <p14:modId xmlns:p14="http://schemas.microsoft.com/office/powerpoint/2010/main" val="385997098"/>
              </p:ext>
            </p:extLst>
          </p:nvPr>
        </p:nvGraphicFramePr>
        <p:xfrm>
          <a:off x="6084888" y="4965700"/>
          <a:ext cx="2087562" cy="947739"/>
        </p:xfrm>
        <a:graphic>
          <a:graphicData uri="http://schemas.openxmlformats.org/drawingml/2006/table">
            <a:tbl>
              <a:tblPr firstRow="1" bandRow="1">
                <a:tableStyleId>{93296810-A885-4BE3-A3E7-6D5BEEA58F35}</a:tableStyleId>
              </a:tblPr>
              <a:tblGrid>
                <a:gridCol w="1007789">
                  <a:extLst>
                    <a:ext uri="{9D8B030D-6E8A-4147-A177-3AD203B41FA5}">
                      <a16:colId xmlns:a16="http://schemas.microsoft.com/office/drawing/2014/main" val="20000"/>
                    </a:ext>
                  </a:extLst>
                </a:gridCol>
                <a:gridCol w="1079773">
                  <a:extLst>
                    <a:ext uri="{9D8B030D-6E8A-4147-A177-3AD203B41FA5}">
                      <a16:colId xmlns:a16="http://schemas.microsoft.com/office/drawing/2014/main" val="20001"/>
                    </a:ext>
                  </a:extLst>
                </a:gridCol>
              </a:tblGrid>
              <a:tr h="315913">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u="sng" dirty="0" err="1" smtClean="0">
                          <a:solidFill>
                            <a:srgbClr val="FFFF00"/>
                          </a:solidFill>
                        </a:rPr>
                        <a:t>SupplierID</a:t>
                      </a:r>
                      <a:endParaRPr lang="en-SG" sz="1600" u="sng" dirty="0" smtClean="0">
                        <a:solidFill>
                          <a:srgbClr val="FFFF00"/>
                        </a:solidFill>
                      </a:endParaRPr>
                    </a:p>
                  </a:txBody>
                  <a:tcPr marL="35988" marR="35988" marT="35968" marB="35968">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tx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err="1" smtClean="0">
                          <a:solidFill>
                            <a:schemeClr val="bg1"/>
                          </a:solidFill>
                        </a:rPr>
                        <a:t>SuppClass</a:t>
                      </a:r>
                      <a:endParaRPr lang="en-SG" sz="1600" dirty="0" smtClean="0">
                        <a:solidFill>
                          <a:schemeClr val="bg1"/>
                        </a:solidFill>
                      </a:endParaRPr>
                    </a:p>
                  </a:txBody>
                  <a:tcPr marL="35988" marR="35988" marT="35968" marB="35968">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tx1"/>
                    </a:solidFill>
                  </a:tcPr>
                </a:tc>
                <a:extLst>
                  <a:ext uri="{0D108BD9-81ED-4DB2-BD59-A6C34878D82A}">
                    <a16:rowId xmlns:a16="http://schemas.microsoft.com/office/drawing/2014/main" val="10000"/>
                  </a:ext>
                </a:extLst>
              </a:tr>
              <a:tr h="315913">
                <a:tc>
                  <a:txBody>
                    <a:bodyPr/>
                    <a:lstStyle/>
                    <a:p>
                      <a:pPr algn="ctr"/>
                      <a:r>
                        <a:rPr lang="en-GB" sz="1600" dirty="0" smtClean="0"/>
                        <a:t>Supp1</a:t>
                      </a:r>
                      <a:endParaRPr lang="en-SG" sz="1600" dirty="0"/>
                    </a:p>
                  </a:txBody>
                  <a:tcPr marL="35988" marR="35988" marT="35968" marB="35968">
                    <a:lnL w="12700" cap="flat" cmpd="sng" algn="ctr">
                      <a:solidFill>
                        <a:schemeClr val="tx1"/>
                      </a:solidFill>
                      <a:prstDash val="solid"/>
                      <a:round/>
                      <a:headEnd type="none" w="med" len="med"/>
                      <a:tailEnd type="none" w="med" len="med"/>
                    </a:lnL>
                  </a:tcPr>
                </a:tc>
                <a:tc>
                  <a:txBody>
                    <a:bodyPr/>
                    <a:lstStyle/>
                    <a:p>
                      <a:pPr algn="ctr"/>
                      <a:r>
                        <a:rPr lang="en-GB" sz="1600" dirty="0" smtClean="0"/>
                        <a:t>B</a:t>
                      </a:r>
                      <a:endParaRPr lang="en-SG" sz="1600" dirty="0"/>
                    </a:p>
                  </a:txBody>
                  <a:tcPr marL="35988" marR="35988" marT="35968" marB="3596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15913">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smtClean="0"/>
                        <a:t>Supp2</a:t>
                      </a:r>
                      <a:endParaRPr lang="en-SG" sz="1600" dirty="0" smtClean="0"/>
                    </a:p>
                  </a:txBody>
                  <a:tcPr marL="35988" marR="35988" marT="35968" marB="35968">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smtClean="0"/>
                        <a:t>A</a:t>
                      </a:r>
                      <a:endParaRPr lang="en-SG" sz="1600" dirty="0" smtClean="0"/>
                    </a:p>
                  </a:txBody>
                  <a:tcPr marL="35988" marR="35988" marT="35968" marB="35968">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2889947583"/>
              </p:ext>
            </p:extLst>
          </p:nvPr>
        </p:nvGraphicFramePr>
        <p:xfrm>
          <a:off x="1200150" y="4800601"/>
          <a:ext cx="3671887" cy="1600198"/>
        </p:xfrm>
        <a:graphic>
          <a:graphicData uri="http://schemas.openxmlformats.org/drawingml/2006/table">
            <a:tbl>
              <a:tblPr firstRow="1" bandRow="1">
                <a:tableStyleId>{F5AB1C69-6EDB-4FF4-983F-18BD219EF322}</a:tableStyleId>
              </a:tblPr>
              <a:tblGrid>
                <a:gridCol w="863974">
                  <a:extLst>
                    <a:ext uri="{9D8B030D-6E8A-4147-A177-3AD203B41FA5}">
                      <a16:colId xmlns:a16="http://schemas.microsoft.com/office/drawing/2014/main" val="20000"/>
                    </a:ext>
                  </a:extLst>
                </a:gridCol>
                <a:gridCol w="1013683">
                  <a:extLst>
                    <a:ext uri="{9D8B030D-6E8A-4147-A177-3AD203B41FA5}">
                      <a16:colId xmlns:a16="http://schemas.microsoft.com/office/drawing/2014/main" val="20001"/>
                    </a:ext>
                  </a:extLst>
                </a:gridCol>
                <a:gridCol w="858259">
                  <a:extLst>
                    <a:ext uri="{9D8B030D-6E8A-4147-A177-3AD203B41FA5}">
                      <a16:colId xmlns:a16="http://schemas.microsoft.com/office/drawing/2014/main" val="20002"/>
                    </a:ext>
                  </a:extLst>
                </a:gridCol>
                <a:gridCol w="935971">
                  <a:extLst>
                    <a:ext uri="{9D8B030D-6E8A-4147-A177-3AD203B41FA5}">
                      <a16:colId xmlns:a16="http://schemas.microsoft.com/office/drawing/2014/main" val="20003"/>
                    </a:ext>
                  </a:extLst>
                </a:gridCol>
              </a:tblGrid>
              <a:tr h="336550">
                <a:tc>
                  <a:txBody>
                    <a:bodyPr/>
                    <a:lstStyle/>
                    <a:p>
                      <a:pPr algn="ctr"/>
                      <a:r>
                        <a:rPr lang="en-SG" sz="1600" u="sng" dirty="0" err="1" smtClean="0">
                          <a:solidFill>
                            <a:srgbClr val="FFFF00"/>
                          </a:solidFill>
                        </a:rPr>
                        <a:t>ItemID</a:t>
                      </a:r>
                      <a:endParaRPr lang="en-SG" sz="1600" u="sng" dirty="0" smtClean="0">
                        <a:solidFill>
                          <a:srgbClr val="FFFF00"/>
                        </a:solidFill>
                      </a:endParaRPr>
                    </a:p>
                  </a:txBody>
                  <a:tcPr marL="35995" marR="35995" marT="36008" marB="36008">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tx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u="sng" dirty="0" err="1" smtClean="0">
                          <a:solidFill>
                            <a:srgbClr val="FFFF00"/>
                          </a:solidFill>
                        </a:rPr>
                        <a:t>SupplierID</a:t>
                      </a:r>
                      <a:endParaRPr lang="en-SG" sz="1600" u="sng" dirty="0" smtClean="0">
                        <a:solidFill>
                          <a:srgbClr val="FFFF00"/>
                        </a:solidFill>
                      </a:endParaRPr>
                    </a:p>
                  </a:txBody>
                  <a:tcPr marL="35995" marR="35995" marT="36008" marB="36008">
                    <a:lnT w="12700" cap="flat" cmpd="sng" algn="ctr">
                      <a:solidFill>
                        <a:schemeClr val="tx1"/>
                      </a:solidFill>
                      <a:prstDash val="solid"/>
                      <a:round/>
                      <a:headEnd type="none" w="med" len="med"/>
                      <a:tailEnd type="none" w="med" len="med"/>
                    </a:lnT>
                    <a:solidFill>
                      <a:schemeClr val="tx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smtClean="0"/>
                        <a:t>Items</a:t>
                      </a:r>
                      <a:endParaRPr lang="en-SG" sz="1600" dirty="0" smtClean="0"/>
                    </a:p>
                  </a:txBody>
                  <a:tcPr marL="35995" marR="35995" marT="36008" marB="36008">
                    <a:lnT w="12700" cap="flat" cmpd="sng" algn="ctr">
                      <a:solidFill>
                        <a:schemeClr val="tx1"/>
                      </a:solidFill>
                      <a:prstDash val="solid"/>
                      <a:round/>
                      <a:headEnd type="none" w="med" len="med"/>
                      <a:tailEnd type="none" w="med" len="med"/>
                    </a:lnT>
                    <a:solidFill>
                      <a:schemeClr val="tx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err="1" smtClean="0"/>
                        <a:t>ItemCost</a:t>
                      </a:r>
                      <a:endParaRPr lang="en-SG" sz="1600" dirty="0" smtClean="0"/>
                    </a:p>
                  </a:txBody>
                  <a:tcPr marL="35995" marR="35995" marT="36008" marB="36008">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tx1"/>
                    </a:solidFill>
                  </a:tcPr>
                </a:tc>
                <a:extLst>
                  <a:ext uri="{0D108BD9-81ED-4DB2-BD59-A6C34878D82A}">
                    <a16:rowId xmlns:a16="http://schemas.microsoft.com/office/drawing/2014/main" val="10000"/>
                  </a:ext>
                </a:extLst>
              </a:tr>
              <a:tr h="315912">
                <a:tc>
                  <a:txBody>
                    <a:bodyPr/>
                    <a:lstStyle/>
                    <a:p>
                      <a:pPr algn="ctr"/>
                      <a:r>
                        <a:rPr lang="en-GB" sz="1600" dirty="0" smtClean="0"/>
                        <a:t>P-01</a:t>
                      </a:r>
                      <a:endParaRPr lang="en-SG" sz="1600" b="0" dirty="0"/>
                    </a:p>
                  </a:txBody>
                  <a:tcPr marL="35995" marR="35995" marT="36008" marB="36008">
                    <a:lnL w="12700" cap="flat" cmpd="sng" algn="ctr">
                      <a:solidFill>
                        <a:schemeClr val="tx1"/>
                      </a:solidFill>
                      <a:prstDash val="solid"/>
                      <a:round/>
                      <a:headEnd type="none" w="med" len="med"/>
                      <a:tailEnd type="none" w="med" len="med"/>
                    </a:lnL>
                  </a:tcPr>
                </a:tc>
                <a:tc>
                  <a:txBody>
                    <a:bodyPr/>
                    <a:lstStyle/>
                    <a:p>
                      <a:pPr algn="ctr"/>
                      <a:r>
                        <a:rPr lang="en-GB" sz="1600" dirty="0" smtClean="0"/>
                        <a:t>Supp1</a:t>
                      </a:r>
                      <a:endParaRPr lang="en-SG" sz="1600" dirty="0"/>
                    </a:p>
                  </a:txBody>
                  <a:tcPr marL="35995" marR="35995" marT="36008" marB="36008"/>
                </a:tc>
                <a:tc>
                  <a:txBody>
                    <a:bodyPr/>
                    <a:lstStyle/>
                    <a:p>
                      <a:pPr algn="ctr"/>
                      <a:r>
                        <a:rPr lang="en-GB" sz="1600" dirty="0" smtClean="0"/>
                        <a:t>Printer</a:t>
                      </a:r>
                      <a:endParaRPr lang="en-SG" sz="1600" dirty="0"/>
                    </a:p>
                  </a:txBody>
                  <a:tcPr marL="35995" marR="35995" marT="36008" marB="36008"/>
                </a:tc>
                <a:tc>
                  <a:txBody>
                    <a:bodyPr/>
                    <a:lstStyle/>
                    <a:p>
                      <a:pPr algn="ctr"/>
                      <a:r>
                        <a:rPr lang="en-GB" sz="1600" dirty="0" smtClean="0"/>
                        <a:t>550</a:t>
                      </a:r>
                      <a:endParaRPr lang="en-SG" sz="1600" dirty="0"/>
                    </a:p>
                  </a:txBody>
                  <a:tcPr marL="35995" marR="35995" marT="36008" marB="3600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15912">
                <a:tc>
                  <a:txBody>
                    <a:bodyPr/>
                    <a:lstStyle/>
                    <a:p>
                      <a:pPr algn="ctr"/>
                      <a:r>
                        <a:rPr lang="en-GB" sz="1600" dirty="0" smtClean="0"/>
                        <a:t>P-02</a:t>
                      </a:r>
                      <a:endParaRPr lang="en-SG" sz="1600" b="0" dirty="0"/>
                    </a:p>
                  </a:txBody>
                  <a:tcPr marL="35995" marR="35995" marT="36008" marB="36008">
                    <a:lnL w="12700" cap="flat" cmpd="sng" algn="ctr">
                      <a:solidFill>
                        <a:schemeClr val="tx1"/>
                      </a:solidFill>
                      <a:prstDash val="solid"/>
                      <a:round/>
                      <a:headEnd type="none" w="med" len="med"/>
                      <a:tailEnd type="none" w="med" len="med"/>
                    </a:lnL>
                  </a:tcPr>
                </a:tc>
                <a:tc>
                  <a:txBody>
                    <a:bodyPr/>
                    <a:lstStyle/>
                    <a:p>
                      <a:pPr algn="ctr"/>
                      <a:r>
                        <a:rPr lang="en-GB" sz="1600" dirty="0" smtClean="0"/>
                        <a:t>Supp2</a:t>
                      </a:r>
                      <a:endParaRPr lang="en-SG" sz="1600" dirty="0"/>
                    </a:p>
                  </a:txBody>
                  <a:tcPr marL="35995" marR="35995" marT="36008" marB="36008"/>
                </a:tc>
                <a:tc>
                  <a:txBody>
                    <a:bodyPr/>
                    <a:lstStyle/>
                    <a:p>
                      <a:pPr algn="ctr"/>
                      <a:r>
                        <a:rPr lang="en-GB" sz="1600" dirty="0" smtClean="0"/>
                        <a:t>Projector</a:t>
                      </a:r>
                      <a:endParaRPr lang="en-SG" sz="1600" dirty="0"/>
                    </a:p>
                  </a:txBody>
                  <a:tcPr marL="35995" marR="35995" marT="36008" marB="3600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smtClean="0"/>
                        <a:t>2300</a:t>
                      </a:r>
                      <a:endParaRPr lang="en-SG" sz="1600" dirty="0" smtClean="0"/>
                    </a:p>
                  </a:txBody>
                  <a:tcPr marL="35995" marR="35995" marT="36008" marB="3600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15912">
                <a:tc>
                  <a:txBody>
                    <a:bodyPr/>
                    <a:lstStyle/>
                    <a:p>
                      <a:pPr algn="ctr"/>
                      <a:r>
                        <a:rPr lang="en-GB" sz="1600" dirty="0" smtClean="0"/>
                        <a:t>P-11</a:t>
                      </a:r>
                      <a:endParaRPr lang="en-SG" sz="1600" b="0" dirty="0"/>
                    </a:p>
                  </a:txBody>
                  <a:tcPr marL="35995" marR="35995" marT="36008" marB="36008">
                    <a:lnL w="12700" cap="flat" cmpd="sng" algn="ctr">
                      <a:solidFill>
                        <a:schemeClr val="tx1"/>
                      </a:solidFill>
                      <a:prstDash val="solid"/>
                      <a:round/>
                      <a:headEnd type="none" w="med" len="med"/>
                      <a:tailEnd type="none" w="med" len="med"/>
                    </a:lnL>
                  </a:tcPr>
                </a:tc>
                <a:tc>
                  <a:txBody>
                    <a:bodyPr/>
                    <a:lstStyle/>
                    <a:p>
                      <a:pPr algn="ctr"/>
                      <a:r>
                        <a:rPr lang="en-GB" sz="1600" dirty="0" smtClean="0"/>
                        <a:t>Supp1</a:t>
                      </a:r>
                      <a:endParaRPr lang="en-SG" sz="1600" dirty="0"/>
                    </a:p>
                  </a:txBody>
                  <a:tcPr marL="35995" marR="35995" marT="36008" marB="36008"/>
                </a:tc>
                <a:tc>
                  <a:txBody>
                    <a:bodyPr/>
                    <a:lstStyle/>
                    <a:p>
                      <a:pPr algn="ctr"/>
                      <a:r>
                        <a:rPr lang="en-GB" sz="1600" dirty="0" smtClean="0"/>
                        <a:t>Tonner</a:t>
                      </a:r>
                      <a:endParaRPr lang="en-SG" sz="1600" dirty="0"/>
                    </a:p>
                  </a:txBody>
                  <a:tcPr marL="35995" marR="35995" marT="36008" marB="3600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smtClean="0"/>
                        <a:t>120</a:t>
                      </a:r>
                      <a:endParaRPr lang="en-SG" sz="1600" dirty="0" smtClean="0"/>
                    </a:p>
                  </a:txBody>
                  <a:tcPr marL="35995" marR="35995" marT="36008" marB="3600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315912">
                <a:tc>
                  <a:txBody>
                    <a:bodyPr/>
                    <a:lstStyle/>
                    <a:p>
                      <a:pPr algn="ctr"/>
                      <a:r>
                        <a:rPr lang="en-GB" sz="1600" dirty="0" smtClean="0"/>
                        <a:t>P-22</a:t>
                      </a:r>
                      <a:endParaRPr lang="en-SG" sz="1600" b="0" dirty="0"/>
                    </a:p>
                  </a:txBody>
                  <a:tcPr marL="35995" marR="35995" marT="36008" marB="36008">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GB" sz="1600" dirty="0" smtClean="0"/>
                        <a:t>Supp2</a:t>
                      </a:r>
                      <a:endParaRPr lang="en-SG" sz="1600" dirty="0"/>
                    </a:p>
                  </a:txBody>
                  <a:tcPr marL="35995" marR="35995" marT="36008" marB="36008">
                    <a:lnB w="12700" cap="flat" cmpd="sng" algn="ctr">
                      <a:solidFill>
                        <a:schemeClr val="tx1"/>
                      </a:solidFill>
                      <a:prstDash val="solid"/>
                      <a:round/>
                      <a:headEnd type="none" w="med" len="med"/>
                      <a:tailEnd type="none" w="med" len="med"/>
                    </a:lnB>
                  </a:tcPr>
                </a:tc>
                <a:tc>
                  <a:txBody>
                    <a:bodyPr/>
                    <a:lstStyle/>
                    <a:p>
                      <a:pPr algn="ctr"/>
                      <a:r>
                        <a:rPr lang="en-GB" sz="1600" dirty="0" smtClean="0"/>
                        <a:t>Bulbs</a:t>
                      </a:r>
                      <a:endParaRPr lang="en-SG" sz="1600" dirty="0"/>
                    </a:p>
                  </a:txBody>
                  <a:tcPr marL="35995" marR="35995" marT="36008" marB="36008">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smtClean="0"/>
                        <a:t>60</a:t>
                      </a:r>
                      <a:endParaRPr lang="en-SG" sz="1600" dirty="0" smtClean="0"/>
                    </a:p>
                  </a:txBody>
                  <a:tcPr marL="35995" marR="35995" marT="36008" marB="36008">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pSp>
        <p:nvGrpSpPr>
          <p:cNvPr id="21" name="Group 20"/>
          <p:cNvGrpSpPr>
            <a:grpSpLocks/>
          </p:cNvGrpSpPr>
          <p:nvPr/>
        </p:nvGrpSpPr>
        <p:grpSpPr bwMode="auto">
          <a:xfrm>
            <a:off x="1241425" y="3599051"/>
            <a:ext cx="6759575" cy="1353951"/>
            <a:chOff x="1241600" y="3751297"/>
            <a:chExt cx="6759811" cy="1353298"/>
          </a:xfrm>
        </p:grpSpPr>
        <p:cxnSp>
          <p:nvCxnSpPr>
            <p:cNvPr id="4" name="Straight Arrow Connector 3"/>
            <p:cNvCxnSpPr>
              <a:endCxn id="10" idx="0"/>
            </p:cNvCxnSpPr>
            <p:nvPr/>
          </p:nvCxnSpPr>
          <p:spPr>
            <a:xfrm flipH="1">
              <a:off x="3036331" y="4095428"/>
              <a:ext cx="311957" cy="62834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2" name="Straight Arrow Connector 11"/>
            <p:cNvCxnSpPr/>
            <p:nvPr/>
          </p:nvCxnSpPr>
          <p:spPr>
            <a:xfrm>
              <a:off x="3508629" y="4095428"/>
              <a:ext cx="3349742" cy="856844"/>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9552" name="Text Box 3"/>
            <p:cNvSpPr txBox="1">
              <a:spLocks noChangeArrowheads="1"/>
            </p:cNvSpPr>
            <p:nvPr/>
          </p:nvSpPr>
          <p:spPr bwMode="auto">
            <a:xfrm>
              <a:off x="1241600" y="4650650"/>
              <a:ext cx="734724" cy="301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8800" tIns="27432" rIns="27432" bIns="27432">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1600" b="1" dirty="0">
                  <a:ea typeface="Calibri" pitchFamily="34" charset="0"/>
                  <a:cs typeface="Calibri" pitchFamily="34" charset="0"/>
                </a:rPr>
                <a:t>DETAILS</a:t>
              </a:r>
            </a:p>
          </p:txBody>
        </p:sp>
        <p:sp>
          <p:nvSpPr>
            <p:cNvPr id="19553" name="Text Box 3"/>
            <p:cNvSpPr txBox="1">
              <a:spLocks noChangeArrowheads="1"/>
            </p:cNvSpPr>
            <p:nvPr/>
          </p:nvSpPr>
          <p:spPr bwMode="auto">
            <a:xfrm>
              <a:off x="7138319" y="4802974"/>
              <a:ext cx="863092" cy="301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8800" tIns="27432" rIns="27432" bIns="27432">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1600" b="1" dirty="0">
                  <a:ea typeface="Calibri" pitchFamily="34" charset="0"/>
                  <a:cs typeface="Calibri" pitchFamily="34" charset="0"/>
                </a:rPr>
                <a:t>SUPPLIER</a:t>
              </a:r>
            </a:p>
          </p:txBody>
        </p:sp>
        <p:sp>
          <p:nvSpPr>
            <p:cNvPr id="19554" name="Text Box 3"/>
            <p:cNvSpPr txBox="1">
              <a:spLocks noChangeArrowheads="1"/>
            </p:cNvSpPr>
            <p:nvPr/>
          </p:nvSpPr>
          <p:spPr bwMode="auto">
            <a:xfrm>
              <a:off x="1547664" y="3751297"/>
              <a:ext cx="6184380" cy="36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8800" tIns="27432" rIns="27432" bIns="27432">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2000" b="1" dirty="0">
                  <a:solidFill>
                    <a:srgbClr val="FF0000"/>
                  </a:solidFill>
                  <a:ea typeface="Calibri" pitchFamily="34" charset="0"/>
                  <a:cs typeface="Calibri" pitchFamily="34" charset="0"/>
                </a:rPr>
                <a:t>(Normalization - </a:t>
              </a:r>
              <a:r>
                <a:rPr lang="en-US" altLang="en-US" sz="2000" dirty="0" smtClean="0">
                  <a:solidFill>
                    <a:srgbClr val="FF0000"/>
                  </a:solidFill>
                  <a:ea typeface="Calibri" pitchFamily="34" charset="0"/>
                  <a:cs typeface="Calibri" pitchFamily="34" charset="0"/>
                </a:rPr>
                <a:t>Split the relation into 2 detailed relations</a:t>
              </a:r>
              <a:r>
                <a:rPr lang="en-US" altLang="en-US" sz="2000" b="1" dirty="0" smtClean="0">
                  <a:solidFill>
                    <a:srgbClr val="FF0000"/>
                  </a:solidFill>
                  <a:ea typeface="Calibri" pitchFamily="34" charset="0"/>
                  <a:cs typeface="Calibri" pitchFamily="34" charset="0"/>
                </a:rPr>
                <a:t>)</a:t>
              </a:r>
              <a:endParaRPr lang="en-US" altLang="en-US" sz="2000" b="1" dirty="0">
                <a:solidFill>
                  <a:srgbClr val="FF0000"/>
                </a:solidFill>
                <a:ea typeface="Calibri" pitchFamily="34" charset="0"/>
                <a:cs typeface="Calibri" pitchFamily="34" charset="0"/>
              </a:endParaRPr>
            </a:p>
          </p:txBody>
        </p:sp>
      </p:grpSp>
      <p:grpSp>
        <p:nvGrpSpPr>
          <p:cNvPr id="22" name="Group 21"/>
          <p:cNvGrpSpPr>
            <a:grpSpLocks/>
          </p:cNvGrpSpPr>
          <p:nvPr/>
        </p:nvGrpSpPr>
        <p:grpSpPr bwMode="auto">
          <a:xfrm>
            <a:off x="1987550" y="1863725"/>
            <a:ext cx="2940050" cy="1741488"/>
            <a:chOff x="1520368" y="3582896"/>
            <a:chExt cx="2940056" cy="1741840"/>
          </a:xfrm>
        </p:grpSpPr>
        <p:sp>
          <p:nvSpPr>
            <p:cNvPr id="19548" name="Rounded Rectangle 22"/>
            <p:cNvSpPr>
              <a:spLocks noChangeArrowheads="1"/>
            </p:cNvSpPr>
            <p:nvPr/>
          </p:nvSpPr>
          <p:spPr bwMode="auto">
            <a:xfrm>
              <a:off x="1520368" y="3582896"/>
              <a:ext cx="1152000" cy="1728192"/>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en-SG" altLang="en-US" sz="1800">
                <a:solidFill>
                  <a:srgbClr val="FF0000"/>
                </a:solidFill>
                <a:latin typeface="Arial" charset="0"/>
              </a:endParaRPr>
            </a:p>
          </p:txBody>
        </p:sp>
        <p:sp>
          <p:nvSpPr>
            <p:cNvPr id="19549" name="Rounded Rectangle 23"/>
            <p:cNvSpPr>
              <a:spLocks noChangeArrowheads="1"/>
            </p:cNvSpPr>
            <p:nvPr/>
          </p:nvSpPr>
          <p:spPr bwMode="auto">
            <a:xfrm>
              <a:off x="3380424" y="3596544"/>
              <a:ext cx="1080000" cy="1728192"/>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en-SG" altLang="en-US" sz="1800">
                <a:solidFill>
                  <a:srgbClr val="FF0000"/>
                </a:solidFill>
                <a:latin typeface="Arial" charset="0"/>
              </a:endParaRPr>
            </a:p>
          </p:txBody>
        </p:sp>
      </p:grpSp>
      <p:sp>
        <p:nvSpPr>
          <p:cNvPr id="19545" name="TextBox 1"/>
          <p:cNvSpPr>
            <a:spLocks noChangeArrowheads="1"/>
          </p:cNvSpPr>
          <p:nvPr/>
        </p:nvSpPr>
        <p:spPr bwMode="auto">
          <a:xfrm>
            <a:off x="609600" y="1031875"/>
            <a:ext cx="365125" cy="492125"/>
          </a:xfrm>
          <a:prstGeom prst="ellipse">
            <a:avLst/>
          </a:prstGeom>
          <a:noFill/>
          <a:ln w="9525">
            <a:solidFill>
              <a:srgbClr val="0070C0"/>
            </a:solidFill>
            <a:round/>
            <a:headEnd/>
            <a:tailEnd/>
          </a:ln>
          <a:extLst>
            <a:ext uri="{909E8E84-426E-40DD-AFC4-6F175D3DCCD1}">
              <a14:hiddenFill xmlns:a14="http://schemas.microsoft.com/office/drawing/2010/main">
                <a:solidFill>
                  <a:srgbClr val="FFFFFF"/>
                </a:solidFill>
              </a14:hiddenFill>
            </a:ext>
          </a:extLst>
        </p:spPr>
        <p:txBody>
          <a:bodyPr lIns="36000" tIns="36000" rIns="36000" bIns="36000">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GB" altLang="en-US" sz="1800">
                <a:latin typeface="Arial" charset="0"/>
              </a:rPr>
              <a:t>1</a:t>
            </a:r>
            <a:endParaRPr lang="en-SG" altLang="en-US" sz="1800">
              <a:latin typeface="Arial" charset="0"/>
            </a:endParaRPr>
          </a:p>
        </p:txBody>
      </p:sp>
      <p:sp>
        <p:nvSpPr>
          <p:cNvPr id="19547" name="Text Box 3"/>
          <p:cNvSpPr txBox="1">
            <a:spLocks noChangeArrowheads="1"/>
          </p:cNvSpPr>
          <p:nvPr/>
        </p:nvSpPr>
        <p:spPr bwMode="auto">
          <a:xfrm>
            <a:off x="1046163" y="1116013"/>
            <a:ext cx="3574988" cy="363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8800" tIns="27432" rIns="27432" bIns="27432">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2000" b="1" dirty="0" smtClean="0">
                <a:ea typeface="Calibri" pitchFamily="34" charset="0"/>
                <a:cs typeface="Calibri" pitchFamily="34" charset="0"/>
              </a:rPr>
              <a:t>To normalize relation: </a:t>
            </a:r>
            <a:r>
              <a:rPr lang="en-US" altLang="en-US" sz="2000" b="1" dirty="0">
                <a:ea typeface="Calibri" pitchFamily="34" charset="0"/>
                <a:cs typeface="Calibri" pitchFamily="34" charset="0"/>
              </a:rPr>
              <a:t>PURCHASE</a:t>
            </a:r>
          </a:p>
        </p:txBody>
      </p:sp>
      <p:sp>
        <p:nvSpPr>
          <p:cNvPr id="18" name="Title 1"/>
          <p:cNvSpPr txBox="1">
            <a:spLocks/>
          </p:cNvSpPr>
          <p:nvPr/>
        </p:nvSpPr>
        <p:spPr bwMode="auto">
          <a:xfrm>
            <a:off x="685800" y="195942"/>
            <a:ext cx="4995863"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36000" tIns="36000" rIns="36000" bIns="36000" numCol="1" anchor="t" anchorCtr="0" compatLnSpc="1">
            <a:prstTxWarp prst="textNoShape">
              <a:avLst/>
            </a:prstTxWarp>
            <a:sp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eaLnBrk="1" hangingPunct="1">
              <a:defRPr/>
            </a:pPr>
            <a:r>
              <a:rPr lang="en-GB" sz="3200" b="1" smtClean="0">
                <a:solidFill>
                  <a:srgbClr val="C00000"/>
                </a:solidFill>
                <a:latin typeface="+mn-lt"/>
              </a:rPr>
              <a:t>What can Normalization do?</a:t>
            </a:r>
            <a:endParaRPr lang="en-US" sz="3200" b="1" dirty="0" smtClean="0">
              <a:solidFill>
                <a:srgbClr val="C00000"/>
              </a:solidFill>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2000"/>
                                  </p:stCondLst>
                                  <p:childTnLst>
                                    <p:set>
                                      <p:cBhvr>
                                        <p:cTn id="6" dur="1" fill="hold">
                                          <p:stCondLst>
                                            <p:cond delay="0"/>
                                          </p:stCondLst>
                                        </p:cTn>
                                        <p:tgtEl>
                                          <p:spTgt spid="22"/>
                                        </p:tgtEl>
                                        <p:attrNameLst>
                                          <p:attrName>style.visibility</p:attrName>
                                        </p:attrNameLst>
                                      </p:cBhvr>
                                      <p:to>
                                        <p:strVal val="visible"/>
                                      </p:to>
                                    </p:set>
                                    <p:animEffect transition="in" filter="wipe(up)">
                                      <p:cBhvr>
                                        <p:cTn id="7" dur="1000"/>
                                        <p:tgtEl>
                                          <p:spTgt spid="22"/>
                                        </p:tgtEl>
                                      </p:cBhvr>
                                    </p:animEffect>
                                  </p:childTnLst>
                                </p:cTn>
                              </p:par>
                            </p:childTnLst>
                          </p:cTn>
                        </p:par>
                        <p:par>
                          <p:cTn id="8" fill="hold" nodeType="afterGroup">
                            <p:stCondLst>
                              <p:cond delay="3000"/>
                            </p:stCondLst>
                            <p:childTnLst>
                              <p:par>
                                <p:cTn id="9" presetID="22" presetClass="entr" presetSubtype="1" fill="hold" nodeType="afterEffect">
                                  <p:stCondLst>
                                    <p:cond delay="1500"/>
                                  </p:stCondLst>
                                  <p:childTnLst>
                                    <p:set>
                                      <p:cBhvr>
                                        <p:cTn id="10" dur="1" fill="hold">
                                          <p:stCondLst>
                                            <p:cond delay="0"/>
                                          </p:stCondLst>
                                        </p:cTn>
                                        <p:tgtEl>
                                          <p:spTgt spid="21"/>
                                        </p:tgtEl>
                                        <p:attrNameLst>
                                          <p:attrName>style.visibility</p:attrName>
                                        </p:attrNameLst>
                                      </p:cBhvr>
                                      <p:to>
                                        <p:strVal val="visible"/>
                                      </p:to>
                                    </p:set>
                                    <p:animEffect transition="in" filter="wipe(up)">
                                      <p:cBhvr>
                                        <p:cTn id="11" dur="1000"/>
                                        <p:tgtEl>
                                          <p:spTgt spid="21"/>
                                        </p:tgtEl>
                                      </p:cBhvr>
                                    </p:animEffect>
                                  </p:childTnLst>
                                </p:cTn>
                              </p:par>
                            </p:childTnLst>
                          </p:cTn>
                        </p:par>
                        <p:par>
                          <p:cTn id="12" fill="hold" nodeType="afterGroup">
                            <p:stCondLst>
                              <p:cond delay="5500"/>
                            </p:stCondLst>
                            <p:childTnLst>
                              <p:par>
                                <p:cTn id="13" presetID="22" presetClass="entr" presetSubtype="1" fill="hold" nodeType="afterEffect">
                                  <p:stCondLst>
                                    <p:cond delay="1500"/>
                                  </p:stCondLst>
                                  <p:childTnLst>
                                    <p:set>
                                      <p:cBhvr>
                                        <p:cTn id="14" dur="1" fill="hold">
                                          <p:stCondLst>
                                            <p:cond delay="0"/>
                                          </p:stCondLst>
                                        </p:cTn>
                                        <p:tgtEl>
                                          <p:spTgt spid="10"/>
                                        </p:tgtEl>
                                        <p:attrNameLst>
                                          <p:attrName>style.visibility</p:attrName>
                                        </p:attrNameLst>
                                      </p:cBhvr>
                                      <p:to>
                                        <p:strVal val="visible"/>
                                      </p:to>
                                    </p:set>
                                    <p:animEffect transition="in" filter="wipe(up)">
                                      <p:cBhvr>
                                        <p:cTn id="15" dur="1000"/>
                                        <p:tgtEl>
                                          <p:spTgt spid="10"/>
                                        </p:tgtEl>
                                      </p:cBhvr>
                                    </p:animEffect>
                                  </p:childTnLst>
                                </p:cTn>
                              </p:par>
                            </p:childTnLst>
                          </p:cTn>
                        </p:par>
                        <p:par>
                          <p:cTn id="16" fill="hold" nodeType="afterGroup">
                            <p:stCondLst>
                              <p:cond delay="8000"/>
                            </p:stCondLst>
                            <p:childTnLst>
                              <p:par>
                                <p:cTn id="17" presetID="22" presetClass="entr" presetSubtype="1" fill="hold" nodeType="afterEffect">
                                  <p:stCondLst>
                                    <p:cond delay="1000"/>
                                  </p:stCondLst>
                                  <p:childTnLst>
                                    <p:set>
                                      <p:cBhvr>
                                        <p:cTn id="18" dur="1" fill="hold">
                                          <p:stCondLst>
                                            <p:cond delay="0"/>
                                          </p:stCondLst>
                                        </p:cTn>
                                        <p:tgtEl>
                                          <p:spTgt spid="9"/>
                                        </p:tgtEl>
                                        <p:attrNameLst>
                                          <p:attrName>style.visibility</p:attrName>
                                        </p:attrNameLst>
                                      </p:cBhvr>
                                      <p:to>
                                        <p:strVal val="visible"/>
                                      </p:to>
                                    </p:set>
                                    <p:animEffect transition="in" filter="wipe(up)">
                                      <p:cBhvr>
                                        <p:cTn id="19"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99FF99"/>
        </a:solidFill>
        <a:effectLst/>
      </p:bgPr>
    </p:bg>
    <p:spTree>
      <p:nvGrpSpPr>
        <p:cNvPr id="1" name=""/>
        <p:cNvGrpSpPr/>
        <p:nvPr/>
      </p:nvGrpSpPr>
      <p:grpSpPr>
        <a:xfrm>
          <a:off x="0" y="0"/>
          <a:ext cx="0" cy="0"/>
          <a:chOff x="0" y="0"/>
          <a:chExt cx="0" cy="0"/>
        </a:xfrm>
      </p:grpSpPr>
      <p:graphicFrame>
        <p:nvGraphicFramePr>
          <p:cNvPr id="6" name="Table 5"/>
          <p:cNvGraphicFramePr>
            <a:graphicFrameLocks noGrp="1"/>
          </p:cNvGraphicFramePr>
          <p:nvPr/>
        </p:nvGraphicFramePr>
        <p:xfrm>
          <a:off x="1187450" y="1911350"/>
          <a:ext cx="4897438" cy="1579565"/>
        </p:xfrm>
        <a:graphic>
          <a:graphicData uri="http://schemas.openxmlformats.org/drawingml/2006/table">
            <a:tbl>
              <a:tblPr firstRow="1" bandRow="1">
                <a:tableStyleId>{00A15C55-8517-42AA-B614-E9B94910E393}</a:tableStyleId>
              </a:tblPr>
              <a:tblGrid>
                <a:gridCol w="1008296">
                  <a:extLst>
                    <a:ext uri="{9D8B030D-6E8A-4147-A177-3AD203B41FA5}">
                      <a16:colId xmlns:a16="http://schemas.microsoft.com/office/drawing/2014/main" val="20000"/>
                    </a:ext>
                  </a:extLst>
                </a:gridCol>
                <a:gridCol w="720211">
                  <a:extLst>
                    <a:ext uri="{9D8B030D-6E8A-4147-A177-3AD203B41FA5}">
                      <a16:colId xmlns:a16="http://schemas.microsoft.com/office/drawing/2014/main" val="20001"/>
                    </a:ext>
                  </a:extLst>
                </a:gridCol>
                <a:gridCol w="1093821">
                  <a:extLst>
                    <a:ext uri="{9D8B030D-6E8A-4147-A177-3AD203B41FA5}">
                      <a16:colId xmlns:a16="http://schemas.microsoft.com/office/drawing/2014/main" val="20002"/>
                    </a:ext>
                  </a:extLst>
                </a:gridCol>
                <a:gridCol w="1066814">
                  <a:extLst>
                    <a:ext uri="{9D8B030D-6E8A-4147-A177-3AD203B41FA5}">
                      <a16:colId xmlns:a16="http://schemas.microsoft.com/office/drawing/2014/main" val="20003"/>
                    </a:ext>
                  </a:extLst>
                </a:gridCol>
                <a:gridCol w="1008296">
                  <a:extLst>
                    <a:ext uri="{9D8B030D-6E8A-4147-A177-3AD203B41FA5}">
                      <a16:colId xmlns:a16="http://schemas.microsoft.com/office/drawing/2014/main" val="20004"/>
                    </a:ext>
                  </a:extLst>
                </a:gridCol>
              </a:tblGrid>
              <a:tr h="315913">
                <a:tc>
                  <a:txBody>
                    <a:bodyPr/>
                    <a:lstStyle/>
                    <a:p>
                      <a:pPr algn="ctr"/>
                      <a:r>
                        <a:rPr lang="en-SG" sz="1600" u="sng" dirty="0" err="1" smtClean="0">
                          <a:solidFill>
                            <a:srgbClr val="FFFF00"/>
                          </a:solidFill>
                        </a:rPr>
                        <a:t>DeliverNO</a:t>
                      </a:r>
                      <a:endParaRPr lang="en-SG" sz="1600" u="sng" dirty="0" smtClean="0">
                        <a:solidFill>
                          <a:srgbClr val="FFFF00"/>
                        </a:solidFill>
                      </a:endParaRPr>
                    </a:p>
                  </a:txBody>
                  <a:tcPr marL="36007" marR="36007" marT="36008" marB="36008">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b="1" u="sng" dirty="0" err="1" smtClean="0">
                          <a:solidFill>
                            <a:srgbClr val="FFFF00"/>
                          </a:solidFill>
                        </a:rPr>
                        <a:t>ItemID</a:t>
                      </a:r>
                      <a:endParaRPr lang="en-SG" sz="1600" b="1" u="sng" dirty="0" smtClean="0">
                        <a:solidFill>
                          <a:srgbClr val="FFFF00"/>
                        </a:solidFill>
                      </a:endParaRPr>
                    </a:p>
                  </a:txBody>
                  <a:tcPr marL="36007" marR="36007" marT="36008" marB="36008">
                    <a:lnT w="12700"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b="0" u="none" dirty="0" err="1" smtClean="0">
                          <a:solidFill>
                            <a:schemeClr val="bg1"/>
                          </a:solidFill>
                        </a:rPr>
                        <a:t>DateDeliver</a:t>
                      </a:r>
                      <a:endParaRPr lang="en-SG" sz="1600" b="0" u="none" dirty="0" smtClean="0">
                        <a:solidFill>
                          <a:schemeClr val="bg1"/>
                        </a:solidFill>
                      </a:endParaRPr>
                    </a:p>
                  </a:txBody>
                  <a:tcPr marL="36007" marR="36007" marT="36008" marB="36008">
                    <a:lnT w="12700"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err="1" smtClean="0"/>
                        <a:t>StaffName</a:t>
                      </a:r>
                      <a:endParaRPr lang="en-SG" sz="1600" dirty="0" smtClean="0"/>
                    </a:p>
                  </a:txBody>
                  <a:tcPr marL="36007" marR="36007" marT="36008" marB="36008">
                    <a:lnT w="12700"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smtClean="0"/>
                        <a:t>Phone</a:t>
                      </a:r>
                      <a:endParaRPr lang="en-SG" sz="1600" dirty="0" smtClean="0"/>
                    </a:p>
                  </a:txBody>
                  <a:tcPr marL="36007" marR="36007" marT="36008" marB="36008">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315913">
                <a:tc>
                  <a:txBody>
                    <a:bodyPr/>
                    <a:lstStyle/>
                    <a:p>
                      <a:pPr algn="ctr"/>
                      <a:r>
                        <a:rPr lang="en-GB" sz="1600" dirty="0" smtClean="0"/>
                        <a:t>D1</a:t>
                      </a:r>
                      <a:endParaRPr lang="en-SG" sz="1600" b="0" dirty="0"/>
                    </a:p>
                  </a:txBody>
                  <a:tcPr marL="36007" marR="36007" marT="36008" marB="36008">
                    <a:lnL w="12700" cap="flat" cmpd="sng" algn="ctr">
                      <a:solidFill>
                        <a:schemeClr val="tx1"/>
                      </a:solidFill>
                      <a:prstDash val="solid"/>
                      <a:round/>
                      <a:headEnd type="none" w="med" len="med"/>
                      <a:tailEnd type="none" w="med" len="med"/>
                    </a:lnL>
                  </a:tcPr>
                </a:tc>
                <a:tc>
                  <a:txBody>
                    <a:bodyPr/>
                    <a:lstStyle/>
                    <a:p>
                      <a:pPr algn="ctr"/>
                      <a:r>
                        <a:rPr lang="en-GB" sz="1600" dirty="0" smtClean="0"/>
                        <a:t>P-01</a:t>
                      </a:r>
                      <a:endParaRPr lang="en-SG" sz="1600" dirty="0"/>
                    </a:p>
                  </a:txBody>
                  <a:tcPr marL="36007" marR="36007" marT="36008" marB="36008"/>
                </a:tc>
                <a:tc>
                  <a:txBody>
                    <a:bodyPr/>
                    <a:lstStyle/>
                    <a:p>
                      <a:pPr algn="ctr"/>
                      <a:r>
                        <a:rPr lang="en-GB" sz="1600" dirty="0" smtClean="0"/>
                        <a:t>03-Jul</a:t>
                      </a:r>
                      <a:endParaRPr lang="en-SG" sz="1600" dirty="0"/>
                    </a:p>
                  </a:txBody>
                  <a:tcPr marL="36007" marR="36007" marT="36008" marB="36008"/>
                </a:tc>
                <a:tc>
                  <a:txBody>
                    <a:bodyPr/>
                    <a:lstStyle/>
                    <a:p>
                      <a:pPr algn="ctr"/>
                      <a:r>
                        <a:rPr lang="en-GB" sz="1600" dirty="0" smtClean="0"/>
                        <a:t>Sam</a:t>
                      </a:r>
                      <a:endParaRPr lang="en-SG" sz="1600" dirty="0"/>
                    </a:p>
                  </a:txBody>
                  <a:tcPr marL="36007" marR="36007" marT="36008" marB="36008"/>
                </a:tc>
                <a:tc>
                  <a:txBody>
                    <a:bodyPr/>
                    <a:lstStyle/>
                    <a:p>
                      <a:pPr algn="ctr"/>
                      <a:r>
                        <a:rPr lang="en-GB" sz="1600" dirty="0" smtClean="0"/>
                        <a:t>91234567</a:t>
                      </a:r>
                      <a:endParaRPr lang="en-SG" sz="1600" dirty="0"/>
                    </a:p>
                  </a:txBody>
                  <a:tcPr marL="36007" marR="36007" marT="36008" marB="3600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15913">
                <a:tc>
                  <a:txBody>
                    <a:bodyPr/>
                    <a:lstStyle/>
                    <a:p>
                      <a:pPr algn="ctr"/>
                      <a:r>
                        <a:rPr lang="en-GB" sz="1600" dirty="0" smtClean="0"/>
                        <a:t>D1</a:t>
                      </a:r>
                      <a:endParaRPr lang="en-SG" sz="1600" b="0" dirty="0"/>
                    </a:p>
                  </a:txBody>
                  <a:tcPr marL="36007" marR="36007" marT="36008" marB="36008">
                    <a:lnL w="12700" cap="flat" cmpd="sng" algn="ctr">
                      <a:solidFill>
                        <a:schemeClr val="tx1"/>
                      </a:solidFill>
                      <a:prstDash val="solid"/>
                      <a:round/>
                      <a:headEnd type="none" w="med" len="med"/>
                      <a:tailEnd type="none" w="med" len="med"/>
                    </a:lnL>
                  </a:tcPr>
                </a:tc>
                <a:tc>
                  <a:txBody>
                    <a:bodyPr/>
                    <a:lstStyle/>
                    <a:p>
                      <a:pPr algn="ctr"/>
                      <a:r>
                        <a:rPr lang="en-GB" sz="1600" dirty="0" smtClean="0"/>
                        <a:t>P-11</a:t>
                      </a:r>
                      <a:endParaRPr lang="en-SG" sz="1600" dirty="0"/>
                    </a:p>
                  </a:txBody>
                  <a:tcPr marL="36007" marR="36007" marT="36008" marB="36008"/>
                </a:tc>
                <a:tc>
                  <a:txBody>
                    <a:bodyPr/>
                    <a:lstStyle/>
                    <a:p>
                      <a:pPr algn="ctr"/>
                      <a:r>
                        <a:rPr lang="en-GB" sz="1600" dirty="0" smtClean="0"/>
                        <a:t>04-Jul</a:t>
                      </a:r>
                      <a:endParaRPr lang="en-SG" sz="1600" dirty="0"/>
                    </a:p>
                  </a:txBody>
                  <a:tcPr marL="36007" marR="36007" marT="36008" marB="3600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smtClean="0"/>
                        <a:t>Sam</a:t>
                      </a:r>
                      <a:endParaRPr lang="en-SG" sz="1600" dirty="0" smtClean="0"/>
                    </a:p>
                  </a:txBody>
                  <a:tcPr marL="36007" marR="36007" marT="36008" marB="3600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smtClean="0"/>
                        <a:t>91234567</a:t>
                      </a:r>
                      <a:endParaRPr lang="en-SG" sz="1600" dirty="0" smtClean="0"/>
                    </a:p>
                  </a:txBody>
                  <a:tcPr marL="36007" marR="36007" marT="36008" marB="3600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15913">
                <a:tc>
                  <a:txBody>
                    <a:bodyPr/>
                    <a:lstStyle/>
                    <a:p>
                      <a:pPr algn="ctr"/>
                      <a:r>
                        <a:rPr lang="en-GB" sz="1600" b="0" dirty="0" smtClean="0"/>
                        <a:t>D2</a:t>
                      </a:r>
                      <a:endParaRPr lang="en-SG" sz="1600" b="0" dirty="0"/>
                    </a:p>
                  </a:txBody>
                  <a:tcPr marL="36007" marR="36007" marT="36008" marB="36008">
                    <a:lnL w="12700" cap="flat" cmpd="sng" algn="ctr">
                      <a:solidFill>
                        <a:schemeClr val="tx1"/>
                      </a:solidFill>
                      <a:prstDash val="solid"/>
                      <a:round/>
                      <a:headEnd type="none" w="med" len="med"/>
                      <a:tailEnd type="none" w="med" len="med"/>
                    </a:lnL>
                  </a:tcPr>
                </a:tc>
                <a:tc>
                  <a:txBody>
                    <a:bodyPr/>
                    <a:lstStyle/>
                    <a:p>
                      <a:pPr algn="ctr"/>
                      <a:r>
                        <a:rPr lang="en-GB" sz="1600" dirty="0" smtClean="0"/>
                        <a:t>P-02</a:t>
                      </a:r>
                      <a:endParaRPr lang="en-SG" sz="1600" dirty="0"/>
                    </a:p>
                  </a:txBody>
                  <a:tcPr marL="36007" marR="36007" marT="36008" marB="36008"/>
                </a:tc>
                <a:tc>
                  <a:txBody>
                    <a:bodyPr/>
                    <a:lstStyle/>
                    <a:p>
                      <a:pPr algn="ctr"/>
                      <a:r>
                        <a:rPr lang="en-GB" sz="1600" dirty="0" smtClean="0"/>
                        <a:t>05-Jul</a:t>
                      </a:r>
                      <a:endParaRPr lang="en-SG" sz="1600" dirty="0"/>
                    </a:p>
                  </a:txBody>
                  <a:tcPr marL="36007" marR="36007" marT="36008" marB="3600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smtClean="0"/>
                        <a:t>Tom</a:t>
                      </a:r>
                      <a:endParaRPr lang="en-SG" sz="1600" dirty="0" smtClean="0"/>
                    </a:p>
                  </a:txBody>
                  <a:tcPr marL="36007" marR="36007" marT="36008" marB="3600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smtClean="0"/>
                        <a:t>87654321</a:t>
                      </a:r>
                      <a:endParaRPr lang="en-SG" sz="1600" dirty="0" smtClean="0"/>
                    </a:p>
                  </a:txBody>
                  <a:tcPr marL="36007" marR="36007" marT="36008" marB="3600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315913">
                <a:tc>
                  <a:txBody>
                    <a:bodyPr/>
                    <a:lstStyle/>
                    <a:p>
                      <a:pPr algn="ctr"/>
                      <a:r>
                        <a:rPr lang="en-GB" sz="1600" dirty="0" smtClean="0"/>
                        <a:t>D2</a:t>
                      </a:r>
                      <a:endParaRPr lang="en-SG" sz="1600" b="0" dirty="0"/>
                    </a:p>
                  </a:txBody>
                  <a:tcPr marL="36007" marR="36007" marT="36008" marB="36008">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GB" sz="1600" dirty="0" smtClean="0"/>
                        <a:t>P-22</a:t>
                      </a:r>
                      <a:endParaRPr lang="en-SG" sz="1600" dirty="0"/>
                    </a:p>
                  </a:txBody>
                  <a:tcPr marL="36007" marR="36007" marT="36008" marB="36008">
                    <a:lnB w="12700" cap="flat" cmpd="sng" algn="ctr">
                      <a:solidFill>
                        <a:schemeClr val="tx1"/>
                      </a:solidFill>
                      <a:prstDash val="solid"/>
                      <a:round/>
                      <a:headEnd type="none" w="med" len="med"/>
                      <a:tailEnd type="none" w="med" len="med"/>
                    </a:lnB>
                  </a:tcPr>
                </a:tc>
                <a:tc>
                  <a:txBody>
                    <a:bodyPr/>
                    <a:lstStyle/>
                    <a:p>
                      <a:pPr algn="ctr"/>
                      <a:r>
                        <a:rPr lang="en-GB" sz="1600" dirty="0" smtClean="0"/>
                        <a:t>06-Jul</a:t>
                      </a:r>
                      <a:endParaRPr lang="en-SG" sz="1600" dirty="0"/>
                    </a:p>
                  </a:txBody>
                  <a:tcPr marL="36007" marR="36007" marT="36008" marB="36008">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smtClean="0"/>
                        <a:t>Tom</a:t>
                      </a:r>
                      <a:endParaRPr lang="en-SG" sz="1600" dirty="0" smtClean="0"/>
                    </a:p>
                  </a:txBody>
                  <a:tcPr marL="36007" marR="36007" marT="36008" marB="36008">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smtClean="0"/>
                        <a:t>87654321</a:t>
                      </a:r>
                      <a:endParaRPr lang="en-SG" sz="1600" dirty="0" smtClean="0"/>
                    </a:p>
                  </a:txBody>
                  <a:tcPr marL="36007" marR="36007" marT="36008" marB="36008">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0520" name="Text Box 3"/>
          <p:cNvSpPr txBox="1">
            <a:spLocks noChangeArrowheads="1"/>
          </p:cNvSpPr>
          <p:nvPr/>
        </p:nvSpPr>
        <p:spPr bwMode="auto">
          <a:xfrm>
            <a:off x="1200150" y="1550988"/>
            <a:ext cx="9667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8800" tIns="27432" rIns="27432" bIns="27432">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1800" b="1">
                <a:ea typeface="Calibri" pitchFamily="34" charset="0"/>
                <a:cs typeface="Calibri" pitchFamily="34" charset="0"/>
              </a:rPr>
              <a:t>DELIVERY</a:t>
            </a:r>
          </a:p>
        </p:txBody>
      </p:sp>
      <p:graphicFrame>
        <p:nvGraphicFramePr>
          <p:cNvPr id="9" name="Table 8"/>
          <p:cNvGraphicFramePr>
            <a:graphicFrameLocks noGrp="1"/>
          </p:cNvGraphicFramePr>
          <p:nvPr>
            <p:extLst>
              <p:ext uri="{D42A27DB-BD31-4B8C-83A1-F6EECF244321}">
                <p14:modId xmlns:p14="http://schemas.microsoft.com/office/powerpoint/2010/main" val="3544975159"/>
              </p:ext>
            </p:extLst>
          </p:nvPr>
        </p:nvGraphicFramePr>
        <p:xfrm>
          <a:off x="6084888" y="4648200"/>
          <a:ext cx="2087562" cy="947739"/>
        </p:xfrm>
        <a:graphic>
          <a:graphicData uri="http://schemas.openxmlformats.org/drawingml/2006/table">
            <a:tbl>
              <a:tblPr firstRow="1" bandRow="1">
                <a:tableStyleId>{93296810-A885-4BE3-A3E7-6D5BEEA58F35}</a:tableStyleId>
              </a:tblPr>
              <a:tblGrid>
                <a:gridCol w="1007789">
                  <a:extLst>
                    <a:ext uri="{9D8B030D-6E8A-4147-A177-3AD203B41FA5}">
                      <a16:colId xmlns:a16="http://schemas.microsoft.com/office/drawing/2014/main" val="20000"/>
                    </a:ext>
                  </a:extLst>
                </a:gridCol>
                <a:gridCol w="1079773">
                  <a:extLst>
                    <a:ext uri="{9D8B030D-6E8A-4147-A177-3AD203B41FA5}">
                      <a16:colId xmlns:a16="http://schemas.microsoft.com/office/drawing/2014/main" val="20001"/>
                    </a:ext>
                  </a:extLst>
                </a:gridCol>
              </a:tblGrid>
              <a:tr h="315913">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u="sng" dirty="0" err="1" smtClean="0">
                          <a:solidFill>
                            <a:schemeClr val="bg1"/>
                          </a:solidFill>
                        </a:rPr>
                        <a:t>StaffName</a:t>
                      </a:r>
                      <a:endParaRPr lang="en-SG" sz="1600" u="sng" dirty="0" smtClean="0">
                        <a:solidFill>
                          <a:schemeClr val="bg1"/>
                        </a:solidFill>
                      </a:endParaRPr>
                    </a:p>
                  </a:txBody>
                  <a:tcPr marL="35988" marR="35988" marT="36008" marB="36008">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tx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smtClean="0">
                          <a:solidFill>
                            <a:schemeClr val="bg1"/>
                          </a:solidFill>
                        </a:rPr>
                        <a:t>Phone</a:t>
                      </a:r>
                      <a:endParaRPr lang="en-SG" sz="1600" dirty="0" smtClean="0">
                        <a:solidFill>
                          <a:schemeClr val="bg1"/>
                        </a:solidFill>
                      </a:endParaRPr>
                    </a:p>
                  </a:txBody>
                  <a:tcPr marL="35988" marR="35988" marT="36008" marB="36008">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tx2"/>
                    </a:solidFill>
                  </a:tcPr>
                </a:tc>
                <a:extLst>
                  <a:ext uri="{0D108BD9-81ED-4DB2-BD59-A6C34878D82A}">
                    <a16:rowId xmlns:a16="http://schemas.microsoft.com/office/drawing/2014/main" val="10000"/>
                  </a:ext>
                </a:extLst>
              </a:tr>
              <a:tr h="315913">
                <a:tc>
                  <a:txBody>
                    <a:bodyPr/>
                    <a:lstStyle/>
                    <a:p>
                      <a:pPr algn="ctr"/>
                      <a:r>
                        <a:rPr lang="en-GB" sz="1600" dirty="0" smtClean="0"/>
                        <a:t>Sam</a:t>
                      </a:r>
                      <a:endParaRPr lang="en-SG" sz="1600" dirty="0"/>
                    </a:p>
                  </a:txBody>
                  <a:tcPr marL="35988" marR="35988" marT="36008" marB="36008">
                    <a:lnL w="12700" cap="flat" cmpd="sng" algn="ctr">
                      <a:solidFill>
                        <a:schemeClr val="tx1"/>
                      </a:solidFill>
                      <a:prstDash val="solid"/>
                      <a:round/>
                      <a:headEnd type="none" w="med" len="med"/>
                      <a:tailEnd type="none" w="med" len="med"/>
                    </a:lnL>
                  </a:tcPr>
                </a:tc>
                <a:tc>
                  <a:txBody>
                    <a:bodyPr/>
                    <a:lstStyle/>
                    <a:p>
                      <a:pPr algn="ctr"/>
                      <a:r>
                        <a:rPr lang="en-GB" sz="1600" dirty="0" smtClean="0"/>
                        <a:t>91234567</a:t>
                      </a:r>
                      <a:endParaRPr lang="en-SG" sz="1600" dirty="0"/>
                    </a:p>
                  </a:txBody>
                  <a:tcPr marL="35988" marR="35988" marT="36008" marB="3600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15913">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smtClean="0"/>
                        <a:t>Tom</a:t>
                      </a:r>
                      <a:endParaRPr lang="en-SG" sz="1600" dirty="0" smtClean="0"/>
                    </a:p>
                  </a:txBody>
                  <a:tcPr marL="35988" marR="35988" marT="36008" marB="36008">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SG" sz="1600" dirty="0" smtClean="0"/>
                        <a:t>87654321</a:t>
                      </a:r>
                    </a:p>
                  </a:txBody>
                  <a:tcPr marL="35988" marR="35988" marT="36008" marB="36008">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683221126"/>
              </p:ext>
            </p:extLst>
          </p:nvPr>
        </p:nvGraphicFramePr>
        <p:xfrm>
          <a:off x="1200150" y="4514850"/>
          <a:ext cx="4110038" cy="1579565"/>
        </p:xfrm>
        <a:graphic>
          <a:graphicData uri="http://schemas.openxmlformats.org/drawingml/2006/table">
            <a:tbl>
              <a:tblPr firstRow="1" bandRow="1">
                <a:tableStyleId>{F5AB1C69-6EDB-4FF4-983F-18BD219EF322}</a:tableStyleId>
              </a:tblPr>
              <a:tblGrid>
                <a:gridCol w="967068">
                  <a:extLst>
                    <a:ext uri="{9D8B030D-6E8A-4147-A177-3AD203B41FA5}">
                      <a16:colId xmlns:a16="http://schemas.microsoft.com/office/drawing/2014/main" val="20000"/>
                    </a:ext>
                  </a:extLst>
                </a:gridCol>
                <a:gridCol w="821062">
                  <a:extLst>
                    <a:ext uri="{9D8B030D-6E8A-4147-A177-3AD203B41FA5}">
                      <a16:colId xmlns:a16="http://schemas.microsoft.com/office/drawing/2014/main" val="20001"/>
                    </a:ext>
                  </a:extLst>
                </a:gridCol>
                <a:gridCol w="1274251">
                  <a:extLst>
                    <a:ext uri="{9D8B030D-6E8A-4147-A177-3AD203B41FA5}">
                      <a16:colId xmlns:a16="http://schemas.microsoft.com/office/drawing/2014/main" val="20002"/>
                    </a:ext>
                  </a:extLst>
                </a:gridCol>
                <a:gridCol w="1047657">
                  <a:extLst>
                    <a:ext uri="{9D8B030D-6E8A-4147-A177-3AD203B41FA5}">
                      <a16:colId xmlns:a16="http://schemas.microsoft.com/office/drawing/2014/main" val="20003"/>
                    </a:ext>
                  </a:extLst>
                </a:gridCol>
              </a:tblGrid>
              <a:tr h="315913">
                <a:tc>
                  <a:txBody>
                    <a:bodyPr/>
                    <a:lstStyle/>
                    <a:p>
                      <a:pPr algn="ctr"/>
                      <a:r>
                        <a:rPr lang="en-SG" sz="1600" u="sng" dirty="0" err="1" smtClean="0">
                          <a:solidFill>
                            <a:srgbClr val="FFFF00"/>
                          </a:solidFill>
                        </a:rPr>
                        <a:t>DeliverNO</a:t>
                      </a:r>
                      <a:endParaRPr lang="en-SG" sz="1600" u="sng" dirty="0" smtClean="0">
                        <a:solidFill>
                          <a:srgbClr val="FFFF00"/>
                        </a:solidFill>
                      </a:endParaRPr>
                    </a:p>
                  </a:txBody>
                  <a:tcPr marL="35995" marR="35995" marT="35987" marB="35987">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tx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b="0" u="sng" dirty="0" err="1" smtClean="0">
                          <a:solidFill>
                            <a:srgbClr val="FFFF00"/>
                          </a:solidFill>
                        </a:rPr>
                        <a:t>ItemID</a:t>
                      </a:r>
                      <a:endParaRPr lang="en-SG" sz="1600" b="0" u="sng" dirty="0" smtClean="0">
                        <a:solidFill>
                          <a:srgbClr val="FFFF00"/>
                        </a:solidFill>
                      </a:endParaRPr>
                    </a:p>
                  </a:txBody>
                  <a:tcPr marL="35995" marR="35995" marT="35987" marB="35987">
                    <a:lnT w="12700" cap="flat" cmpd="sng" algn="ctr">
                      <a:solidFill>
                        <a:schemeClr val="tx1"/>
                      </a:solidFill>
                      <a:prstDash val="solid"/>
                      <a:round/>
                      <a:headEnd type="none" w="med" len="med"/>
                      <a:tailEnd type="none" w="med" len="med"/>
                    </a:lnT>
                    <a:solidFill>
                      <a:schemeClr val="tx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u="none" dirty="0" err="1" smtClean="0">
                          <a:solidFill>
                            <a:schemeClr val="bg1"/>
                          </a:solidFill>
                        </a:rPr>
                        <a:t>DateDeliver</a:t>
                      </a:r>
                      <a:endParaRPr lang="en-SG" sz="1600" u="none" dirty="0" smtClean="0">
                        <a:solidFill>
                          <a:schemeClr val="bg1"/>
                        </a:solidFill>
                      </a:endParaRPr>
                    </a:p>
                  </a:txBody>
                  <a:tcPr marL="35995" marR="35995" marT="35987" marB="35987">
                    <a:lnT w="12700" cap="flat" cmpd="sng" algn="ctr">
                      <a:solidFill>
                        <a:schemeClr val="tx1"/>
                      </a:solidFill>
                      <a:prstDash val="solid"/>
                      <a:round/>
                      <a:headEnd type="none" w="med" len="med"/>
                      <a:tailEnd type="none" w="med" len="med"/>
                    </a:lnT>
                    <a:solidFill>
                      <a:schemeClr val="tx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err="1" smtClean="0"/>
                        <a:t>StaffName</a:t>
                      </a:r>
                      <a:endParaRPr lang="en-SG" sz="1600" dirty="0" smtClean="0"/>
                    </a:p>
                  </a:txBody>
                  <a:tcPr marL="35995" marR="35995" marT="35987" marB="35987">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tx2"/>
                    </a:solidFill>
                  </a:tcPr>
                </a:tc>
                <a:extLst>
                  <a:ext uri="{0D108BD9-81ED-4DB2-BD59-A6C34878D82A}">
                    <a16:rowId xmlns:a16="http://schemas.microsoft.com/office/drawing/2014/main" val="10000"/>
                  </a:ext>
                </a:extLst>
              </a:tr>
              <a:tr h="315913">
                <a:tc>
                  <a:txBody>
                    <a:bodyPr/>
                    <a:lstStyle/>
                    <a:p>
                      <a:pPr algn="ctr"/>
                      <a:r>
                        <a:rPr lang="en-GB" sz="1600" dirty="0" smtClean="0"/>
                        <a:t>D1</a:t>
                      </a:r>
                      <a:endParaRPr lang="en-SG" sz="1600" b="0" dirty="0"/>
                    </a:p>
                  </a:txBody>
                  <a:tcPr marL="35995" marR="35995" marT="35987" marB="35987">
                    <a:lnL w="12700" cap="flat" cmpd="sng" algn="ctr">
                      <a:solidFill>
                        <a:schemeClr val="tx1"/>
                      </a:solidFill>
                      <a:prstDash val="solid"/>
                      <a:round/>
                      <a:headEnd type="none" w="med" len="med"/>
                      <a:tailEnd type="none" w="med" len="med"/>
                    </a:lnL>
                  </a:tcPr>
                </a:tc>
                <a:tc>
                  <a:txBody>
                    <a:bodyPr/>
                    <a:lstStyle/>
                    <a:p>
                      <a:pPr algn="ctr"/>
                      <a:r>
                        <a:rPr lang="en-GB" sz="1600" dirty="0" smtClean="0"/>
                        <a:t>P-01</a:t>
                      </a:r>
                      <a:endParaRPr lang="en-SG" sz="1600" dirty="0"/>
                    </a:p>
                  </a:txBody>
                  <a:tcPr marL="35995" marR="35995" marT="35987" marB="35987"/>
                </a:tc>
                <a:tc>
                  <a:txBody>
                    <a:bodyPr/>
                    <a:lstStyle/>
                    <a:p>
                      <a:pPr algn="ctr"/>
                      <a:r>
                        <a:rPr lang="en-GB" sz="1600" dirty="0" smtClean="0"/>
                        <a:t>03-Jul</a:t>
                      </a:r>
                      <a:endParaRPr lang="en-SG" sz="1600" dirty="0"/>
                    </a:p>
                  </a:txBody>
                  <a:tcPr marL="35995" marR="35995" marT="35987" marB="35987"/>
                </a:tc>
                <a:tc>
                  <a:txBody>
                    <a:bodyPr/>
                    <a:lstStyle/>
                    <a:p>
                      <a:pPr algn="ctr"/>
                      <a:r>
                        <a:rPr lang="en-GB" sz="1600" dirty="0" smtClean="0"/>
                        <a:t>Sam</a:t>
                      </a:r>
                      <a:endParaRPr lang="en-SG" sz="1600" dirty="0"/>
                    </a:p>
                  </a:txBody>
                  <a:tcPr marL="35995" marR="35995" marT="35987" marB="35987">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15913">
                <a:tc>
                  <a:txBody>
                    <a:bodyPr/>
                    <a:lstStyle/>
                    <a:p>
                      <a:pPr algn="ctr"/>
                      <a:r>
                        <a:rPr lang="en-GB" sz="1600" dirty="0" smtClean="0"/>
                        <a:t>D1</a:t>
                      </a:r>
                      <a:endParaRPr lang="en-SG" sz="1600" b="0" dirty="0"/>
                    </a:p>
                  </a:txBody>
                  <a:tcPr marL="35995" marR="35995" marT="35987" marB="35987">
                    <a:lnL w="12700" cap="flat" cmpd="sng" algn="ctr">
                      <a:solidFill>
                        <a:schemeClr val="tx1"/>
                      </a:solidFill>
                      <a:prstDash val="solid"/>
                      <a:round/>
                      <a:headEnd type="none" w="med" len="med"/>
                      <a:tailEnd type="none" w="med" len="med"/>
                    </a:lnL>
                  </a:tcPr>
                </a:tc>
                <a:tc>
                  <a:txBody>
                    <a:bodyPr/>
                    <a:lstStyle/>
                    <a:p>
                      <a:pPr algn="ctr"/>
                      <a:r>
                        <a:rPr lang="en-GB" sz="1600" dirty="0" smtClean="0"/>
                        <a:t>P-11</a:t>
                      </a:r>
                      <a:endParaRPr lang="en-SG" sz="1600" dirty="0"/>
                    </a:p>
                  </a:txBody>
                  <a:tcPr marL="35995" marR="35995" marT="35987" marB="35987"/>
                </a:tc>
                <a:tc>
                  <a:txBody>
                    <a:bodyPr/>
                    <a:lstStyle/>
                    <a:p>
                      <a:pPr algn="ctr"/>
                      <a:r>
                        <a:rPr lang="en-GB" sz="1600" dirty="0" smtClean="0"/>
                        <a:t>04-Jul</a:t>
                      </a:r>
                      <a:endParaRPr lang="en-SG" sz="1600" dirty="0"/>
                    </a:p>
                  </a:txBody>
                  <a:tcPr marL="35995" marR="35995" marT="35987" marB="35987"/>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smtClean="0"/>
                        <a:t>Sam</a:t>
                      </a:r>
                      <a:endParaRPr lang="en-SG" sz="1600" dirty="0" smtClean="0"/>
                    </a:p>
                  </a:txBody>
                  <a:tcPr marL="35995" marR="35995" marT="35987" marB="35987">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15913">
                <a:tc>
                  <a:txBody>
                    <a:bodyPr/>
                    <a:lstStyle/>
                    <a:p>
                      <a:pPr algn="ctr"/>
                      <a:r>
                        <a:rPr lang="en-GB" sz="1600" b="0" dirty="0" smtClean="0"/>
                        <a:t>D2</a:t>
                      </a:r>
                      <a:endParaRPr lang="en-SG" sz="1600" b="0" dirty="0"/>
                    </a:p>
                  </a:txBody>
                  <a:tcPr marL="35995" marR="35995" marT="35987" marB="35987">
                    <a:lnL w="12700" cap="flat" cmpd="sng" algn="ctr">
                      <a:solidFill>
                        <a:schemeClr val="tx1"/>
                      </a:solidFill>
                      <a:prstDash val="solid"/>
                      <a:round/>
                      <a:headEnd type="none" w="med" len="med"/>
                      <a:tailEnd type="none" w="med" len="med"/>
                    </a:lnL>
                  </a:tcPr>
                </a:tc>
                <a:tc>
                  <a:txBody>
                    <a:bodyPr/>
                    <a:lstStyle/>
                    <a:p>
                      <a:pPr algn="ctr"/>
                      <a:r>
                        <a:rPr lang="en-GB" sz="1600" dirty="0" smtClean="0"/>
                        <a:t>P-02</a:t>
                      </a:r>
                      <a:endParaRPr lang="en-SG" sz="1600" dirty="0"/>
                    </a:p>
                  </a:txBody>
                  <a:tcPr marL="35995" marR="35995" marT="35987" marB="35987"/>
                </a:tc>
                <a:tc>
                  <a:txBody>
                    <a:bodyPr/>
                    <a:lstStyle/>
                    <a:p>
                      <a:pPr algn="ctr"/>
                      <a:r>
                        <a:rPr lang="en-GB" sz="1600" dirty="0" smtClean="0"/>
                        <a:t>05-Jul</a:t>
                      </a:r>
                      <a:endParaRPr lang="en-SG" sz="1600" dirty="0"/>
                    </a:p>
                  </a:txBody>
                  <a:tcPr marL="35995" marR="35995" marT="35987" marB="35987"/>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smtClean="0"/>
                        <a:t>Tom</a:t>
                      </a:r>
                      <a:endParaRPr lang="en-SG" sz="1600" dirty="0" smtClean="0"/>
                    </a:p>
                  </a:txBody>
                  <a:tcPr marL="35995" marR="35995" marT="35987" marB="35987">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315913">
                <a:tc>
                  <a:txBody>
                    <a:bodyPr/>
                    <a:lstStyle/>
                    <a:p>
                      <a:pPr algn="ctr"/>
                      <a:r>
                        <a:rPr lang="en-GB" sz="1600" dirty="0" smtClean="0"/>
                        <a:t>D2</a:t>
                      </a:r>
                      <a:endParaRPr lang="en-SG" sz="1600" b="0" dirty="0"/>
                    </a:p>
                  </a:txBody>
                  <a:tcPr marL="35995" marR="35995" marT="35987" marB="35987">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GB" sz="1600" dirty="0" smtClean="0"/>
                        <a:t>P-22</a:t>
                      </a:r>
                      <a:endParaRPr lang="en-SG" sz="1600" dirty="0"/>
                    </a:p>
                  </a:txBody>
                  <a:tcPr marL="35995" marR="35995" marT="35987" marB="35987">
                    <a:lnB w="12700" cap="flat" cmpd="sng" algn="ctr">
                      <a:solidFill>
                        <a:schemeClr val="tx1"/>
                      </a:solidFill>
                      <a:prstDash val="solid"/>
                      <a:round/>
                      <a:headEnd type="none" w="med" len="med"/>
                      <a:tailEnd type="none" w="med" len="med"/>
                    </a:lnB>
                  </a:tcPr>
                </a:tc>
                <a:tc>
                  <a:txBody>
                    <a:bodyPr/>
                    <a:lstStyle/>
                    <a:p>
                      <a:pPr algn="ctr"/>
                      <a:r>
                        <a:rPr lang="en-GB" sz="1600" dirty="0" smtClean="0"/>
                        <a:t>06-Jul</a:t>
                      </a:r>
                      <a:endParaRPr lang="en-SG" sz="1600" dirty="0"/>
                    </a:p>
                  </a:txBody>
                  <a:tcPr marL="35995" marR="35995" marT="35987" marB="35987">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smtClean="0"/>
                        <a:t>Tom</a:t>
                      </a:r>
                      <a:endParaRPr lang="en-SG" sz="1600" dirty="0" smtClean="0"/>
                    </a:p>
                  </a:txBody>
                  <a:tcPr marL="35995" marR="35995" marT="35987" marB="35987">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pSp>
        <p:nvGrpSpPr>
          <p:cNvPr id="20" name="Group 19"/>
          <p:cNvGrpSpPr>
            <a:grpSpLocks/>
          </p:cNvGrpSpPr>
          <p:nvPr/>
        </p:nvGrpSpPr>
        <p:grpSpPr bwMode="auto">
          <a:xfrm>
            <a:off x="1241425" y="3581401"/>
            <a:ext cx="6731683" cy="1011510"/>
            <a:chOff x="1241600" y="3356992"/>
            <a:chExt cx="6732040" cy="1222768"/>
          </a:xfrm>
        </p:grpSpPr>
        <p:cxnSp>
          <p:nvCxnSpPr>
            <p:cNvPr id="4" name="Straight Arrow Connector 3"/>
            <p:cNvCxnSpPr/>
            <p:nvPr/>
          </p:nvCxnSpPr>
          <p:spPr>
            <a:xfrm flipH="1">
              <a:off x="3184010" y="3721613"/>
              <a:ext cx="451668" cy="523107"/>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2" name="Straight Arrow Connector 11"/>
            <p:cNvCxnSpPr/>
            <p:nvPr/>
          </p:nvCxnSpPr>
          <p:spPr>
            <a:xfrm>
              <a:off x="3851589" y="3710098"/>
              <a:ext cx="3006885" cy="77529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0575" name="Text Box 3"/>
            <p:cNvSpPr txBox="1">
              <a:spLocks noChangeArrowheads="1"/>
            </p:cNvSpPr>
            <p:nvPr/>
          </p:nvSpPr>
          <p:spPr bwMode="auto">
            <a:xfrm>
              <a:off x="1241600" y="4093910"/>
              <a:ext cx="878353" cy="301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8800" tIns="27432" rIns="27432" bIns="27432">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1600" b="1" dirty="0">
                  <a:ea typeface="Calibri" pitchFamily="34" charset="0"/>
                  <a:cs typeface="Calibri" pitchFamily="34" charset="0"/>
                </a:rPr>
                <a:t>DISPATCH</a:t>
              </a:r>
            </a:p>
          </p:txBody>
        </p:sp>
        <p:sp>
          <p:nvSpPr>
            <p:cNvPr id="20576" name="Text Box 3"/>
            <p:cNvSpPr txBox="1">
              <a:spLocks noChangeArrowheads="1"/>
            </p:cNvSpPr>
            <p:nvPr/>
          </p:nvSpPr>
          <p:spPr bwMode="auto">
            <a:xfrm>
              <a:off x="7092280" y="4278139"/>
              <a:ext cx="750497" cy="301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8800" tIns="27432" rIns="27432" bIns="27432">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1600" b="1" dirty="0">
                  <a:ea typeface="Calibri" pitchFamily="34" charset="0"/>
                  <a:cs typeface="Calibri" pitchFamily="34" charset="0"/>
                </a:rPr>
                <a:t>PERSON</a:t>
              </a:r>
            </a:p>
          </p:txBody>
        </p:sp>
        <p:sp>
          <p:nvSpPr>
            <p:cNvPr id="20577" name="Text Box 3"/>
            <p:cNvSpPr txBox="1">
              <a:spLocks noChangeArrowheads="1"/>
            </p:cNvSpPr>
            <p:nvPr/>
          </p:nvSpPr>
          <p:spPr bwMode="auto">
            <a:xfrm>
              <a:off x="1691680" y="3356992"/>
              <a:ext cx="6281960" cy="439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8800" tIns="27432" rIns="27432" bIns="27432">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2000" b="1" dirty="0">
                  <a:solidFill>
                    <a:srgbClr val="FF0000"/>
                  </a:solidFill>
                  <a:ea typeface="Calibri" pitchFamily="34" charset="0"/>
                  <a:cs typeface="Calibri" pitchFamily="34" charset="0"/>
                </a:rPr>
                <a:t>(Normalization </a:t>
              </a:r>
              <a:r>
                <a:rPr lang="en-US" altLang="en-US" sz="2000" dirty="0">
                  <a:solidFill>
                    <a:srgbClr val="FF0000"/>
                  </a:solidFill>
                  <a:ea typeface="Calibri" pitchFamily="34" charset="0"/>
                  <a:cs typeface="Calibri" pitchFamily="34" charset="0"/>
                </a:rPr>
                <a:t>- </a:t>
              </a:r>
              <a:r>
                <a:rPr lang="en-US" altLang="en-US" sz="2000" dirty="0" smtClean="0">
                  <a:solidFill>
                    <a:srgbClr val="FF0000"/>
                  </a:solidFill>
                  <a:ea typeface="Calibri" pitchFamily="34" charset="0"/>
                  <a:cs typeface="Calibri" pitchFamily="34" charset="0"/>
                </a:rPr>
                <a:t>Split the relation into 2 detailed relations</a:t>
              </a:r>
              <a:r>
                <a:rPr lang="en-US" altLang="en-US" sz="2000" b="1" dirty="0" smtClean="0">
                  <a:solidFill>
                    <a:srgbClr val="FF0000"/>
                  </a:solidFill>
                  <a:ea typeface="Calibri" pitchFamily="34" charset="0"/>
                  <a:cs typeface="Calibri" pitchFamily="34" charset="0"/>
                </a:rPr>
                <a:t>)</a:t>
              </a:r>
              <a:endParaRPr lang="en-US" altLang="en-US" sz="2000" b="1" dirty="0">
                <a:solidFill>
                  <a:srgbClr val="FF0000"/>
                </a:solidFill>
                <a:ea typeface="Calibri" pitchFamily="34" charset="0"/>
                <a:cs typeface="Calibri" pitchFamily="34" charset="0"/>
              </a:endParaRPr>
            </a:p>
          </p:txBody>
        </p:sp>
      </p:grpSp>
      <p:sp>
        <p:nvSpPr>
          <p:cNvPr id="18" name="Rounded Rectangle 17"/>
          <p:cNvSpPr>
            <a:spLocks noChangeArrowheads="1"/>
          </p:cNvSpPr>
          <p:nvPr/>
        </p:nvSpPr>
        <p:spPr bwMode="auto">
          <a:xfrm>
            <a:off x="3995738" y="1854200"/>
            <a:ext cx="2160587" cy="1727200"/>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en-SG" altLang="en-US" sz="1800">
              <a:solidFill>
                <a:srgbClr val="FF0000"/>
              </a:solidFill>
              <a:latin typeface="Arial" charset="0"/>
            </a:endParaRPr>
          </a:p>
        </p:txBody>
      </p:sp>
      <p:sp>
        <p:nvSpPr>
          <p:cNvPr id="20570" name="TextBox 1"/>
          <p:cNvSpPr>
            <a:spLocks noChangeArrowheads="1"/>
          </p:cNvSpPr>
          <p:nvPr/>
        </p:nvSpPr>
        <p:spPr bwMode="auto">
          <a:xfrm>
            <a:off x="685800" y="1031875"/>
            <a:ext cx="365125" cy="492125"/>
          </a:xfrm>
          <a:prstGeom prst="ellipse">
            <a:avLst/>
          </a:prstGeom>
          <a:noFill/>
          <a:ln w="9525">
            <a:solidFill>
              <a:srgbClr val="0070C0"/>
            </a:solidFill>
            <a:round/>
            <a:headEnd/>
            <a:tailEnd/>
          </a:ln>
          <a:extLst>
            <a:ext uri="{909E8E84-426E-40DD-AFC4-6F175D3DCCD1}">
              <a14:hiddenFill xmlns:a14="http://schemas.microsoft.com/office/drawing/2010/main">
                <a:solidFill>
                  <a:srgbClr val="FFFFFF"/>
                </a:solidFill>
              </a14:hiddenFill>
            </a:ext>
          </a:extLst>
        </p:spPr>
        <p:txBody>
          <a:bodyPr lIns="36000" tIns="36000" rIns="36000" bIns="36000">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GB" altLang="en-US" sz="1800">
                <a:latin typeface="Arial" charset="0"/>
              </a:rPr>
              <a:t>2</a:t>
            </a:r>
            <a:endParaRPr lang="en-SG" altLang="en-US" sz="1800">
              <a:latin typeface="Arial" charset="0"/>
            </a:endParaRPr>
          </a:p>
        </p:txBody>
      </p:sp>
      <p:sp>
        <p:nvSpPr>
          <p:cNvPr id="20572" name="Text Box 3"/>
          <p:cNvSpPr txBox="1">
            <a:spLocks noChangeArrowheads="1"/>
          </p:cNvSpPr>
          <p:nvPr/>
        </p:nvSpPr>
        <p:spPr bwMode="auto">
          <a:xfrm>
            <a:off x="1046163" y="1116013"/>
            <a:ext cx="3443862" cy="363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8800" tIns="27432" rIns="27432" bIns="27432">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2000" b="1" dirty="0" smtClean="0">
                <a:ea typeface="Calibri" pitchFamily="34" charset="0"/>
                <a:cs typeface="Calibri" pitchFamily="34" charset="0"/>
              </a:rPr>
              <a:t>To normalize relation: </a:t>
            </a:r>
            <a:r>
              <a:rPr lang="en-US" altLang="en-US" sz="2000" b="1" dirty="0">
                <a:ea typeface="Calibri" pitchFamily="34" charset="0"/>
                <a:cs typeface="Calibri" pitchFamily="34" charset="0"/>
              </a:rPr>
              <a:t>DELIVERY</a:t>
            </a:r>
          </a:p>
        </p:txBody>
      </p:sp>
      <p:sp>
        <p:nvSpPr>
          <p:cNvPr id="17" name="Title 1"/>
          <p:cNvSpPr txBox="1">
            <a:spLocks/>
          </p:cNvSpPr>
          <p:nvPr/>
        </p:nvSpPr>
        <p:spPr bwMode="auto">
          <a:xfrm>
            <a:off x="685800" y="195942"/>
            <a:ext cx="4995863"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36000" tIns="36000" rIns="36000" bIns="36000" numCol="1" anchor="t" anchorCtr="0" compatLnSpc="1">
            <a:prstTxWarp prst="textNoShape">
              <a:avLst/>
            </a:prstTxWarp>
            <a:sp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eaLnBrk="1" hangingPunct="1">
              <a:defRPr/>
            </a:pPr>
            <a:r>
              <a:rPr lang="en-GB" sz="3200" b="1" smtClean="0">
                <a:solidFill>
                  <a:srgbClr val="C00000"/>
                </a:solidFill>
                <a:latin typeface="+mn-lt"/>
              </a:rPr>
              <a:t>What can Normalization do?</a:t>
            </a:r>
            <a:endParaRPr lang="en-US" sz="3200" b="1" dirty="0" smtClean="0">
              <a:solidFill>
                <a:srgbClr val="C00000"/>
              </a:solidFill>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100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1000"/>
                                        <p:tgtEl>
                                          <p:spTgt spid="18"/>
                                        </p:tgtEl>
                                      </p:cBhvr>
                                    </p:animEffect>
                                  </p:childTnLst>
                                </p:cTn>
                              </p:par>
                            </p:childTnLst>
                          </p:cTn>
                        </p:par>
                        <p:par>
                          <p:cTn id="8" fill="hold" nodeType="afterGroup">
                            <p:stCondLst>
                              <p:cond delay="2000"/>
                            </p:stCondLst>
                            <p:childTnLst>
                              <p:par>
                                <p:cTn id="9" presetID="22" presetClass="entr" presetSubtype="1" fill="hold" nodeType="afterEffect">
                                  <p:stCondLst>
                                    <p:cond delay="2000"/>
                                  </p:stCondLst>
                                  <p:childTnLst>
                                    <p:set>
                                      <p:cBhvr>
                                        <p:cTn id="10" dur="1" fill="hold">
                                          <p:stCondLst>
                                            <p:cond delay="0"/>
                                          </p:stCondLst>
                                        </p:cTn>
                                        <p:tgtEl>
                                          <p:spTgt spid="20"/>
                                        </p:tgtEl>
                                        <p:attrNameLst>
                                          <p:attrName>style.visibility</p:attrName>
                                        </p:attrNameLst>
                                      </p:cBhvr>
                                      <p:to>
                                        <p:strVal val="visible"/>
                                      </p:to>
                                    </p:set>
                                    <p:animEffect transition="in" filter="wipe(up)">
                                      <p:cBhvr>
                                        <p:cTn id="11" dur="1000"/>
                                        <p:tgtEl>
                                          <p:spTgt spid="20"/>
                                        </p:tgtEl>
                                      </p:cBhvr>
                                    </p:animEffect>
                                  </p:childTnLst>
                                </p:cTn>
                              </p:par>
                            </p:childTnLst>
                          </p:cTn>
                        </p:par>
                        <p:par>
                          <p:cTn id="12" fill="hold" nodeType="afterGroup">
                            <p:stCondLst>
                              <p:cond delay="5000"/>
                            </p:stCondLst>
                            <p:childTnLst>
                              <p:par>
                                <p:cTn id="13" presetID="22" presetClass="entr" presetSubtype="1" fill="hold" nodeType="afterEffect">
                                  <p:stCondLst>
                                    <p:cond delay="1000"/>
                                  </p:stCondLst>
                                  <p:childTnLst>
                                    <p:set>
                                      <p:cBhvr>
                                        <p:cTn id="14" dur="1" fill="hold">
                                          <p:stCondLst>
                                            <p:cond delay="0"/>
                                          </p:stCondLst>
                                        </p:cTn>
                                        <p:tgtEl>
                                          <p:spTgt spid="10"/>
                                        </p:tgtEl>
                                        <p:attrNameLst>
                                          <p:attrName>style.visibility</p:attrName>
                                        </p:attrNameLst>
                                      </p:cBhvr>
                                      <p:to>
                                        <p:strVal val="visible"/>
                                      </p:to>
                                    </p:set>
                                    <p:animEffect transition="in" filter="wipe(up)">
                                      <p:cBhvr>
                                        <p:cTn id="15" dur="1000"/>
                                        <p:tgtEl>
                                          <p:spTgt spid="10"/>
                                        </p:tgtEl>
                                      </p:cBhvr>
                                    </p:animEffect>
                                  </p:childTnLst>
                                </p:cTn>
                              </p:par>
                            </p:childTnLst>
                          </p:cTn>
                        </p:par>
                        <p:par>
                          <p:cTn id="16" fill="hold" nodeType="afterGroup">
                            <p:stCondLst>
                              <p:cond delay="7000"/>
                            </p:stCondLst>
                            <p:childTnLst>
                              <p:par>
                                <p:cTn id="17" presetID="22" presetClass="entr" presetSubtype="1" fill="hold" nodeType="afterEffect">
                                  <p:stCondLst>
                                    <p:cond delay="1000"/>
                                  </p:stCondLst>
                                  <p:childTnLst>
                                    <p:set>
                                      <p:cBhvr>
                                        <p:cTn id="18" dur="1" fill="hold">
                                          <p:stCondLst>
                                            <p:cond delay="0"/>
                                          </p:stCondLst>
                                        </p:cTn>
                                        <p:tgtEl>
                                          <p:spTgt spid="9"/>
                                        </p:tgtEl>
                                        <p:attrNameLst>
                                          <p:attrName>style.visibility</p:attrName>
                                        </p:attrNameLst>
                                      </p:cBhvr>
                                      <p:to>
                                        <p:strVal val="visible"/>
                                      </p:to>
                                    </p:set>
                                    <p:animEffect transition="in" filter="wipe(up)">
                                      <p:cBhvr>
                                        <p:cTn id="19"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99FF99"/>
        </a:solidFill>
        <a:effectLst/>
      </p:bgPr>
    </p:bg>
    <p:spTree>
      <p:nvGrpSpPr>
        <p:cNvPr id="1" name=""/>
        <p:cNvGrpSpPr/>
        <p:nvPr/>
      </p:nvGrpSpPr>
      <p:grpSpPr>
        <a:xfrm>
          <a:off x="0" y="0"/>
          <a:ext cx="0" cy="0"/>
          <a:chOff x="0" y="0"/>
          <a:chExt cx="0" cy="0"/>
        </a:xfrm>
      </p:grpSpPr>
      <p:sp>
        <p:nvSpPr>
          <p:cNvPr id="18434" name="TextBox 4"/>
          <p:cNvSpPr txBox="1">
            <a:spLocks noChangeArrowheads="1"/>
          </p:cNvSpPr>
          <p:nvPr/>
        </p:nvSpPr>
        <p:spPr bwMode="auto">
          <a:xfrm>
            <a:off x="685800" y="228600"/>
            <a:ext cx="6928747" cy="565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GB" altLang="en-US" b="1" dirty="0" smtClean="0">
                <a:solidFill>
                  <a:srgbClr val="C00000"/>
                </a:solidFill>
                <a:latin typeface="Arial" charset="0"/>
              </a:rPr>
              <a:t>Normalization </a:t>
            </a:r>
            <a:r>
              <a:rPr lang="en-GB" altLang="en-US" b="1" dirty="0">
                <a:solidFill>
                  <a:srgbClr val="C00000"/>
                </a:solidFill>
                <a:latin typeface="Arial" charset="0"/>
              </a:rPr>
              <a:t>– </a:t>
            </a:r>
            <a:r>
              <a:rPr lang="en-GB" altLang="en-US" b="1" dirty="0" smtClean="0">
                <a:solidFill>
                  <a:srgbClr val="C00000"/>
                </a:solidFill>
                <a:latin typeface="Arial" charset="0"/>
              </a:rPr>
              <a:t>further </a:t>
            </a:r>
            <a:r>
              <a:rPr lang="en-GB" altLang="en-US" b="1" dirty="0">
                <a:solidFill>
                  <a:srgbClr val="C00000"/>
                </a:solidFill>
                <a:latin typeface="Arial" charset="0"/>
              </a:rPr>
              <a:t>refine ERM</a:t>
            </a:r>
          </a:p>
        </p:txBody>
      </p:sp>
      <p:graphicFrame>
        <p:nvGraphicFramePr>
          <p:cNvPr id="25" name="Table 24"/>
          <p:cNvGraphicFramePr>
            <a:graphicFrameLocks noGrp="1"/>
          </p:cNvGraphicFramePr>
          <p:nvPr>
            <p:extLst>
              <p:ext uri="{D42A27DB-BD31-4B8C-83A1-F6EECF244321}">
                <p14:modId xmlns:p14="http://schemas.microsoft.com/office/powerpoint/2010/main" val="1019868932"/>
              </p:ext>
            </p:extLst>
          </p:nvPr>
        </p:nvGraphicFramePr>
        <p:xfrm>
          <a:off x="684213" y="1565276"/>
          <a:ext cx="3887788" cy="1640240"/>
        </p:xfrm>
        <a:graphic>
          <a:graphicData uri="http://schemas.openxmlformats.org/drawingml/2006/table">
            <a:tbl>
              <a:tblPr firstRow="1" bandRow="1">
                <a:tableStyleId>{073A0DAA-6AF3-43AB-8588-CEC1D06C72B9}</a:tableStyleId>
              </a:tblPr>
              <a:tblGrid>
                <a:gridCol w="687387">
                  <a:extLst>
                    <a:ext uri="{9D8B030D-6E8A-4147-A177-3AD203B41FA5}">
                      <a16:colId xmlns:a16="http://schemas.microsoft.com/office/drawing/2014/main" val="20000"/>
                    </a:ext>
                  </a:extLst>
                </a:gridCol>
                <a:gridCol w="896848">
                  <a:extLst>
                    <a:ext uri="{9D8B030D-6E8A-4147-A177-3AD203B41FA5}">
                      <a16:colId xmlns:a16="http://schemas.microsoft.com/office/drawing/2014/main" val="20001"/>
                    </a:ext>
                  </a:extLst>
                </a:gridCol>
                <a:gridCol w="627152">
                  <a:extLst>
                    <a:ext uri="{9D8B030D-6E8A-4147-A177-3AD203B41FA5}">
                      <a16:colId xmlns:a16="http://schemas.microsoft.com/office/drawing/2014/main" val="20002"/>
                    </a:ext>
                  </a:extLst>
                </a:gridCol>
                <a:gridCol w="886694">
                  <a:extLst>
                    <a:ext uri="{9D8B030D-6E8A-4147-A177-3AD203B41FA5}">
                      <a16:colId xmlns:a16="http://schemas.microsoft.com/office/drawing/2014/main" val="20003"/>
                    </a:ext>
                  </a:extLst>
                </a:gridCol>
                <a:gridCol w="789707">
                  <a:extLst>
                    <a:ext uri="{9D8B030D-6E8A-4147-A177-3AD203B41FA5}">
                      <a16:colId xmlns:a16="http://schemas.microsoft.com/office/drawing/2014/main" val="20004"/>
                    </a:ext>
                  </a:extLst>
                </a:gridCol>
              </a:tblGrid>
              <a:tr h="259398">
                <a:tc>
                  <a:txBody>
                    <a:bodyPr/>
                    <a:lstStyle/>
                    <a:p>
                      <a:pPr algn="ctr"/>
                      <a:r>
                        <a:rPr lang="en-SG" sz="1400" u="sng" dirty="0" err="1" smtClean="0">
                          <a:solidFill>
                            <a:srgbClr val="FFFF00"/>
                          </a:solidFill>
                        </a:rPr>
                        <a:t>ItemID</a:t>
                      </a:r>
                      <a:endParaRPr lang="en-SG" sz="1400" u="sng" dirty="0" smtClean="0">
                        <a:solidFill>
                          <a:srgbClr val="FFFF00"/>
                        </a:solidFill>
                      </a:endParaRPr>
                    </a:p>
                  </a:txBody>
                  <a:tcPr marL="36000" marR="36000" marT="36008" marB="36008">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b="1" u="sng" dirty="0" err="1" smtClean="0">
                          <a:solidFill>
                            <a:srgbClr val="FFFF00"/>
                          </a:solidFill>
                        </a:rPr>
                        <a:t>SupplierID</a:t>
                      </a:r>
                      <a:endParaRPr lang="en-SG" sz="1400" b="1" u="sng" dirty="0" smtClean="0">
                        <a:solidFill>
                          <a:srgbClr val="FFFF00"/>
                        </a:solidFill>
                      </a:endParaRPr>
                    </a:p>
                  </a:txBody>
                  <a:tcPr marL="36000" marR="36000" marT="36008" marB="36008">
                    <a:lnT w="12700"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Items</a:t>
                      </a:r>
                      <a:endParaRPr lang="en-SG" sz="1400" dirty="0" smtClean="0"/>
                    </a:p>
                  </a:txBody>
                  <a:tcPr marL="36000" marR="36000" marT="36008" marB="36008">
                    <a:lnT w="12700"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err="1" smtClean="0"/>
                        <a:t>SuppClass</a:t>
                      </a:r>
                      <a:endParaRPr lang="en-SG" sz="1400" dirty="0" smtClean="0"/>
                    </a:p>
                  </a:txBody>
                  <a:tcPr marL="36000" marR="36000" marT="36008" marB="36008">
                    <a:lnT w="12700"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err="1" smtClean="0"/>
                        <a:t>ItemCost</a:t>
                      </a:r>
                      <a:endParaRPr lang="en-SG" sz="1400" dirty="0" smtClean="0"/>
                    </a:p>
                  </a:txBody>
                  <a:tcPr marL="36000" marR="36000" marT="36008" marB="36008">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259398">
                <a:tc>
                  <a:txBody>
                    <a:bodyPr/>
                    <a:lstStyle/>
                    <a:p>
                      <a:pPr algn="ctr"/>
                      <a:r>
                        <a:rPr lang="en-GB" sz="1400" dirty="0" smtClean="0"/>
                        <a:t>P-01</a:t>
                      </a:r>
                      <a:endParaRPr lang="en-SG" sz="1400" b="0" dirty="0"/>
                    </a:p>
                  </a:txBody>
                  <a:tcPr marL="36000" marR="36000" marT="36008" marB="36008">
                    <a:lnL w="12700" cap="flat" cmpd="sng" algn="ctr">
                      <a:solidFill>
                        <a:schemeClr val="tx1"/>
                      </a:solidFill>
                      <a:prstDash val="solid"/>
                      <a:round/>
                      <a:headEnd type="none" w="med" len="med"/>
                      <a:tailEnd type="none" w="med" len="med"/>
                    </a:lnL>
                  </a:tcPr>
                </a:tc>
                <a:tc>
                  <a:txBody>
                    <a:bodyPr/>
                    <a:lstStyle/>
                    <a:p>
                      <a:pPr algn="ctr"/>
                      <a:r>
                        <a:rPr lang="en-GB" sz="1400" dirty="0" smtClean="0"/>
                        <a:t>Supp1</a:t>
                      </a:r>
                      <a:endParaRPr lang="en-SG" sz="1400" dirty="0"/>
                    </a:p>
                  </a:txBody>
                  <a:tcPr marL="36000" marR="36000" marT="36008" marB="36008"/>
                </a:tc>
                <a:tc>
                  <a:txBody>
                    <a:bodyPr/>
                    <a:lstStyle/>
                    <a:p>
                      <a:pPr algn="ctr"/>
                      <a:r>
                        <a:rPr lang="en-GB" sz="1400" dirty="0" smtClean="0"/>
                        <a:t>Printer</a:t>
                      </a:r>
                      <a:endParaRPr lang="en-SG" sz="1400" dirty="0"/>
                    </a:p>
                  </a:txBody>
                  <a:tcPr marL="36000" marR="36000" marT="36008" marB="36008"/>
                </a:tc>
                <a:tc>
                  <a:txBody>
                    <a:bodyPr/>
                    <a:lstStyle/>
                    <a:p>
                      <a:pPr algn="ctr"/>
                      <a:r>
                        <a:rPr lang="en-GB" sz="1400" dirty="0" smtClean="0"/>
                        <a:t>B</a:t>
                      </a:r>
                      <a:endParaRPr lang="en-SG" sz="1400" dirty="0"/>
                    </a:p>
                  </a:txBody>
                  <a:tcPr marL="36000" marR="36000" marT="36008" marB="36008"/>
                </a:tc>
                <a:tc>
                  <a:txBody>
                    <a:bodyPr/>
                    <a:lstStyle/>
                    <a:p>
                      <a:pPr algn="ctr"/>
                      <a:r>
                        <a:rPr lang="en-GB" sz="1400" dirty="0" smtClean="0"/>
                        <a:t>550</a:t>
                      </a:r>
                      <a:endParaRPr lang="en-SG" sz="1400" dirty="0"/>
                    </a:p>
                  </a:txBody>
                  <a:tcPr marL="36000" marR="36000" marT="36008" marB="3600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259398">
                <a:tc>
                  <a:txBody>
                    <a:bodyPr/>
                    <a:lstStyle/>
                    <a:p>
                      <a:pPr algn="ctr"/>
                      <a:r>
                        <a:rPr lang="en-GB" sz="1400" dirty="0" smtClean="0"/>
                        <a:t>P-02</a:t>
                      </a:r>
                      <a:endParaRPr lang="en-SG" sz="1400" b="0" dirty="0"/>
                    </a:p>
                  </a:txBody>
                  <a:tcPr marL="36000" marR="36000" marT="36008" marB="36008">
                    <a:lnL w="12700" cap="flat" cmpd="sng" algn="ctr">
                      <a:solidFill>
                        <a:schemeClr val="tx1"/>
                      </a:solidFill>
                      <a:prstDash val="solid"/>
                      <a:round/>
                      <a:headEnd type="none" w="med" len="med"/>
                      <a:tailEnd type="none" w="med" len="med"/>
                    </a:lnL>
                  </a:tcPr>
                </a:tc>
                <a:tc>
                  <a:txBody>
                    <a:bodyPr/>
                    <a:lstStyle/>
                    <a:p>
                      <a:pPr algn="ctr"/>
                      <a:r>
                        <a:rPr lang="en-GB" sz="1400" dirty="0" smtClean="0"/>
                        <a:t>Supp2</a:t>
                      </a:r>
                      <a:endParaRPr lang="en-SG" sz="1400" dirty="0"/>
                    </a:p>
                  </a:txBody>
                  <a:tcPr marL="36000" marR="36000" marT="36008" marB="36008"/>
                </a:tc>
                <a:tc>
                  <a:txBody>
                    <a:bodyPr/>
                    <a:lstStyle/>
                    <a:p>
                      <a:pPr algn="ctr"/>
                      <a:r>
                        <a:rPr lang="en-GB" sz="1400" dirty="0" smtClean="0"/>
                        <a:t>Projector</a:t>
                      </a:r>
                      <a:endParaRPr lang="en-SG" sz="1400" dirty="0"/>
                    </a:p>
                  </a:txBody>
                  <a:tcPr marL="36000" marR="36000" marT="36008" marB="3600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A</a:t>
                      </a:r>
                      <a:endParaRPr lang="en-SG" sz="1400" dirty="0" smtClean="0"/>
                    </a:p>
                  </a:txBody>
                  <a:tcPr marL="36000" marR="36000" marT="36008" marB="3600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2300</a:t>
                      </a:r>
                      <a:endParaRPr lang="en-SG" sz="1400" dirty="0" smtClean="0"/>
                    </a:p>
                  </a:txBody>
                  <a:tcPr marL="36000" marR="36000" marT="36008" marB="3600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259398">
                <a:tc>
                  <a:txBody>
                    <a:bodyPr/>
                    <a:lstStyle/>
                    <a:p>
                      <a:pPr algn="ctr"/>
                      <a:r>
                        <a:rPr lang="en-GB" sz="1400" dirty="0" smtClean="0"/>
                        <a:t>P-11</a:t>
                      </a:r>
                      <a:endParaRPr lang="en-SG" sz="1400" b="0" dirty="0"/>
                    </a:p>
                  </a:txBody>
                  <a:tcPr marL="36000" marR="36000" marT="36008" marB="36008">
                    <a:lnL w="12700" cap="flat" cmpd="sng" algn="ctr">
                      <a:solidFill>
                        <a:schemeClr val="tx1"/>
                      </a:solidFill>
                      <a:prstDash val="solid"/>
                      <a:round/>
                      <a:headEnd type="none" w="med" len="med"/>
                      <a:tailEnd type="none" w="med" len="med"/>
                    </a:lnL>
                  </a:tcPr>
                </a:tc>
                <a:tc>
                  <a:txBody>
                    <a:bodyPr/>
                    <a:lstStyle/>
                    <a:p>
                      <a:pPr algn="ctr"/>
                      <a:r>
                        <a:rPr lang="en-GB" sz="1400" dirty="0" smtClean="0"/>
                        <a:t>Supp1</a:t>
                      </a:r>
                      <a:endParaRPr lang="en-SG" sz="1400" dirty="0"/>
                    </a:p>
                  </a:txBody>
                  <a:tcPr marL="36000" marR="36000" marT="36008" marB="36008"/>
                </a:tc>
                <a:tc>
                  <a:txBody>
                    <a:bodyPr/>
                    <a:lstStyle/>
                    <a:p>
                      <a:pPr algn="ctr"/>
                      <a:r>
                        <a:rPr lang="en-GB" sz="1400" dirty="0" smtClean="0"/>
                        <a:t>Tonner</a:t>
                      </a:r>
                      <a:endParaRPr lang="en-SG" sz="1400" dirty="0"/>
                    </a:p>
                  </a:txBody>
                  <a:tcPr marL="36000" marR="36000" marT="36008" marB="3600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B</a:t>
                      </a:r>
                      <a:endParaRPr lang="en-SG" sz="1400" dirty="0" smtClean="0"/>
                    </a:p>
                  </a:txBody>
                  <a:tcPr marL="36000" marR="36000" marT="36008" marB="3600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120</a:t>
                      </a:r>
                      <a:endParaRPr lang="en-SG" sz="1400" dirty="0" smtClean="0"/>
                    </a:p>
                  </a:txBody>
                  <a:tcPr marL="36000" marR="36000" marT="36008" marB="3600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259398">
                <a:tc>
                  <a:txBody>
                    <a:bodyPr/>
                    <a:lstStyle/>
                    <a:p>
                      <a:pPr algn="ctr"/>
                      <a:r>
                        <a:rPr lang="en-GB" sz="1400" dirty="0" smtClean="0"/>
                        <a:t>P-22</a:t>
                      </a:r>
                      <a:endParaRPr lang="en-SG" sz="1400" b="0" dirty="0"/>
                    </a:p>
                  </a:txBody>
                  <a:tcPr marL="36000" marR="36000" marT="36008" marB="36008">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GB" sz="1400" dirty="0" smtClean="0"/>
                        <a:t>Supp2</a:t>
                      </a:r>
                      <a:endParaRPr lang="en-SG" sz="1400" dirty="0"/>
                    </a:p>
                  </a:txBody>
                  <a:tcPr marL="36000" marR="36000" marT="36008" marB="36008">
                    <a:lnB w="12700" cap="flat" cmpd="sng" algn="ctr">
                      <a:solidFill>
                        <a:schemeClr val="tx1"/>
                      </a:solidFill>
                      <a:prstDash val="solid"/>
                      <a:round/>
                      <a:headEnd type="none" w="med" len="med"/>
                      <a:tailEnd type="none" w="med" len="med"/>
                    </a:lnB>
                  </a:tcPr>
                </a:tc>
                <a:tc>
                  <a:txBody>
                    <a:bodyPr/>
                    <a:lstStyle/>
                    <a:p>
                      <a:pPr algn="ctr"/>
                      <a:r>
                        <a:rPr lang="en-GB" sz="1400" dirty="0" smtClean="0"/>
                        <a:t>Bulbs</a:t>
                      </a:r>
                      <a:endParaRPr lang="en-SG" sz="1400" dirty="0"/>
                    </a:p>
                  </a:txBody>
                  <a:tcPr marL="36000" marR="36000" marT="36008" marB="36008">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A</a:t>
                      </a:r>
                      <a:endParaRPr lang="en-SG" sz="1400" dirty="0" smtClean="0"/>
                    </a:p>
                  </a:txBody>
                  <a:tcPr marL="36000" marR="36000" marT="36008" marB="36008">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60</a:t>
                      </a:r>
                      <a:endParaRPr lang="en-SG" sz="1400" dirty="0" smtClean="0"/>
                    </a:p>
                  </a:txBody>
                  <a:tcPr marL="36000" marR="36000" marT="36008" marB="36008">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6" name="Text Box 3"/>
          <p:cNvSpPr txBox="1">
            <a:spLocks noChangeArrowheads="1"/>
          </p:cNvSpPr>
          <p:nvPr/>
        </p:nvSpPr>
        <p:spPr bwMode="auto">
          <a:xfrm>
            <a:off x="695325" y="1272042"/>
            <a:ext cx="1087438"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8800" tIns="27432" rIns="27432" bIns="27432">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1800" b="1" dirty="0">
                <a:ea typeface="Calibri" pitchFamily="34" charset="0"/>
                <a:cs typeface="Calibri" pitchFamily="34" charset="0"/>
              </a:rPr>
              <a:t>PURCHASE</a:t>
            </a:r>
          </a:p>
        </p:txBody>
      </p:sp>
      <p:graphicFrame>
        <p:nvGraphicFramePr>
          <p:cNvPr id="27" name="Table 26"/>
          <p:cNvGraphicFramePr>
            <a:graphicFrameLocks noGrp="1"/>
          </p:cNvGraphicFramePr>
          <p:nvPr>
            <p:extLst>
              <p:ext uri="{D42A27DB-BD31-4B8C-83A1-F6EECF244321}">
                <p14:modId xmlns:p14="http://schemas.microsoft.com/office/powerpoint/2010/main" val="1101150216"/>
              </p:ext>
            </p:extLst>
          </p:nvPr>
        </p:nvGraphicFramePr>
        <p:xfrm>
          <a:off x="4711701" y="1601562"/>
          <a:ext cx="4305300" cy="1579565"/>
        </p:xfrm>
        <a:graphic>
          <a:graphicData uri="http://schemas.openxmlformats.org/drawingml/2006/table">
            <a:tbl>
              <a:tblPr firstRow="1" bandRow="1">
                <a:tableStyleId>{00A15C55-8517-42AA-B614-E9B94910E393}</a:tableStyleId>
              </a:tblPr>
              <a:tblGrid>
                <a:gridCol w="886385">
                  <a:extLst>
                    <a:ext uri="{9D8B030D-6E8A-4147-A177-3AD203B41FA5}">
                      <a16:colId xmlns:a16="http://schemas.microsoft.com/office/drawing/2014/main" val="20000"/>
                    </a:ext>
                  </a:extLst>
                </a:gridCol>
                <a:gridCol w="633133">
                  <a:extLst>
                    <a:ext uri="{9D8B030D-6E8A-4147-A177-3AD203B41FA5}">
                      <a16:colId xmlns:a16="http://schemas.microsoft.com/office/drawing/2014/main" val="20001"/>
                    </a:ext>
                  </a:extLst>
                </a:gridCol>
                <a:gridCol w="961569">
                  <a:extLst>
                    <a:ext uri="{9D8B030D-6E8A-4147-A177-3AD203B41FA5}">
                      <a16:colId xmlns:a16="http://schemas.microsoft.com/office/drawing/2014/main" val="20002"/>
                    </a:ext>
                  </a:extLst>
                </a:gridCol>
                <a:gridCol w="937828">
                  <a:extLst>
                    <a:ext uri="{9D8B030D-6E8A-4147-A177-3AD203B41FA5}">
                      <a16:colId xmlns:a16="http://schemas.microsoft.com/office/drawing/2014/main" val="20003"/>
                    </a:ext>
                  </a:extLst>
                </a:gridCol>
                <a:gridCol w="886385">
                  <a:extLst>
                    <a:ext uri="{9D8B030D-6E8A-4147-A177-3AD203B41FA5}">
                      <a16:colId xmlns:a16="http://schemas.microsoft.com/office/drawing/2014/main" val="20004"/>
                    </a:ext>
                  </a:extLst>
                </a:gridCol>
              </a:tblGrid>
              <a:tr h="315913">
                <a:tc>
                  <a:txBody>
                    <a:bodyPr/>
                    <a:lstStyle/>
                    <a:p>
                      <a:pPr algn="ctr"/>
                      <a:r>
                        <a:rPr lang="en-SG" sz="1400" u="sng" dirty="0" err="1" smtClean="0">
                          <a:solidFill>
                            <a:srgbClr val="FFFF00"/>
                          </a:solidFill>
                        </a:rPr>
                        <a:t>DeliverNO</a:t>
                      </a:r>
                      <a:endParaRPr lang="en-SG" sz="1400" u="sng" dirty="0" smtClean="0">
                        <a:solidFill>
                          <a:srgbClr val="FFFF00"/>
                        </a:solidFill>
                      </a:endParaRPr>
                    </a:p>
                  </a:txBody>
                  <a:tcPr marL="35995" marR="35995" marT="36008" marB="36008">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b="1" u="sng" dirty="0" err="1" smtClean="0">
                          <a:solidFill>
                            <a:srgbClr val="FFFF00"/>
                          </a:solidFill>
                        </a:rPr>
                        <a:t>ItemID</a:t>
                      </a:r>
                      <a:endParaRPr lang="en-SG" sz="1400" b="1" u="sng" dirty="0" smtClean="0">
                        <a:solidFill>
                          <a:srgbClr val="FFFF00"/>
                        </a:solidFill>
                      </a:endParaRPr>
                    </a:p>
                  </a:txBody>
                  <a:tcPr marL="35995" marR="35995" marT="36008" marB="36008">
                    <a:lnT w="12700"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b="0" u="none" dirty="0" err="1" smtClean="0">
                          <a:solidFill>
                            <a:schemeClr val="bg1"/>
                          </a:solidFill>
                        </a:rPr>
                        <a:t>DateDeliver</a:t>
                      </a:r>
                      <a:endParaRPr lang="en-SG" sz="1400" b="0" u="none" dirty="0" smtClean="0">
                        <a:solidFill>
                          <a:schemeClr val="bg1"/>
                        </a:solidFill>
                      </a:endParaRPr>
                    </a:p>
                  </a:txBody>
                  <a:tcPr marL="35995" marR="35995" marT="36008" marB="36008">
                    <a:lnT w="12700"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err="1" smtClean="0"/>
                        <a:t>StaffName</a:t>
                      </a:r>
                      <a:endParaRPr lang="en-SG" sz="1400" dirty="0" smtClean="0"/>
                    </a:p>
                  </a:txBody>
                  <a:tcPr marL="35995" marR="35995" marT="36008" marB="36008">
                    <a:lnT w="12700"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Phone</a:t>
                      </a:r>
                      <a:endParaRPr lang="en-SG" sz="1400" dirty="0" smtClean="0"/>
                    </a:p>
                  </a:txBody>
                  <a:tcPr marL="35995" marR="35995" marT="36008" marB="36008">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315913">
                <a:tc>
                  <a:txBody>
                    <a:bodyPr/>
                    <a:lstStyle/>
                    <a:p>
                      <a:pPr algn="ctr"/>
                      <a:r>
                        <a:rPr lang="en-GB" sz="1400" dirty="0" smtClean="0"/>
                        <a:t>D1</a:t>
                      </a:r>
                      <a:endParaRPr lang="en-SG" sz="1400" b="0" dirty="0"/>
                    </a:p>
                  </a:txBody>
                  <a:tcPr marL="35995" marR="35995" marT="36008" marB="36008">
                    <a:lnL w="12700" cap="flat" cmpd="sng" algn="ctr">
                      <a:solidFill>
                        <a:schemeClr val="tx1"/>
                      </a:solidFill>
                      <a:prstDash val="solid"/>
                      <a:round/>
                      <a:headEnd type="none" w="med" len="med"/>
                      <a:tailEnd type="none" w="med" len="med"/>
                    </a:lnL>
                  </a:tcPr>
                </a:tc>
                <a:tc>
                  <a:txBody>
                    <a:bodyPr/>
                    <a:lstStyle/>
                    <a:p>
                      <a:pPr algn="ctr"/>
                      <a:r>
                        <a:rPr lang="en-GB" sz="1400" dirty="0" smtClean="0"/>
                        <a:t>P-01</a:t>
                      </a:r>
                      <a:endParaRPr lang="en-SG" sz="1400" dirty="0"/>
                    </a:p>
                  </a:txBody>
                  <a:tcPr marL="35995" marR="35995" marT="36008" marB="36008"/>
                </a:tc>
                <a:tc>
                  <a:txBody>
                    <a:bodyPr/>
                    <a:lstStyle/>
                    <a:p>
                      <a:pPr algn="ctr"/>
                      <a:r>
                        <a:rPr lang="en-GB" sz="1400" dirty="0" smtClean="0"/>
                        <a:t>03-Jul</a:t>
                      </a:r>
                      <a:endParaRPr lang="en-SG" sz="1400" dirty="0"/>
                    </a:p>
                  </a:txBody>
                  <a:tcPr marL="35995" marR="35995" marT="36008" marB="36008"/>
                </a:tc>
                <a:tc>
                  <a:txBody>
                    <a:bodyPr/>
                    <a:lstStyle/>
                    <a:p>
                      <a:pPr algn="ctr"/>
                      <a:r>
                        <a:rPr lang="en-GB" sz="1400" dirty="0" smtClean="0"/>
                        <a:t>Sam</a:t>
                      </a:r>
                      <a:endParaRPr lang="en-SG" sz="1400" dirty="0"/>
                    </a:p>
                  </a:txBody>
                  <a:tcPr marL="35995" marR="35995" marT="36008" marB="36008"/>
                </a:tc>
                <a:tc>
                  <a:txBody>
                    <a:bodyPr/>
                    <a:lstStyle/>
                    <a:p>
                      <a:pPr algn="ctr"/>
                      <a:r>
                        <a:rPr lang="en-GB" sz="1400" dirty="0" smtClean="0"/>
                        <a:t>91234567</a:t>
                      </a:r>
                      <a:endParaRPr lang="en-SG" sz="1400" dirty="0"/>
                    </a:p>
                  </a:txBody>
                  <a:tcPr marL="35995" marR="35995" marT="36008" marB="3600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15913">
                <a:tc>
                  <a:txBody>
                    <a:bodyPr/>
                    <a:lstStyle/>
                    <a:p>
                      <a:pPr algn="ctr"/>
                      <a:r>
                        <a:rPr lang="en-GB" sz="1400" dirty="0" smtClean="0"/>
                        <a:t>D1</a:t>
                      </a:r>
                      <a:endParaRPr lang="en-SG" sz="1400" b="0" dirty="0"/>
                    </a:p>
                  </a:txBody>
                  <a:tcPr marL="35995" marR="35995" marT="36008" marB="36008">
                    <a:lnL w="12700" cap="flat" cmpd="sng" algn="ctr">
                      <a:solidFill>
                        <a:schemeClr val="tx1"/>
                      </a:solidFill>
                      <a:prstDash val="solid"/>
                      <a:round/>
                      <a:headEnd type="none" w="med" len="med"/>
                      <a:tailEnd type="none" w="med" len="med"/>
                    </a:lnL>
                  </a:tcPr>
                </a:tc>
                <a:tc>
                  <a:txBody>
                    <a:bodyPr/>
                    <a:lstStyle/>
                    <a:p>
                      <a:pPr algn="ctr"/>
                      <a:r>
                        <a:rPr lang="en-GB" sz="1400" dirty="0" smtClean="0"/>
                        <a:t>P-11</a:t>
                      </a:r>
                      <a:endParaRPr lang="en-SG" sz="1400" dirty="0"/>
                    </a:p>
                  </a:txBody>
                  <a:tcPr marL="35995" marR="35995" marT="36008" marB="36008"/>
                </a:tc>
                <a:tc>
                  <a:txBody>
                    <a:bodyPr/>
                    <a:lstStyle/>
                    <a:p>
                      <a:pPr algn="ctr"/>
                      <a:r>
                        <a:rPr lang="en-GB" sz="1400" dirty="0" smtClean="0"/>
                        <a:t>04-Jul</a:t>
                      </a:r>
                      <a:endParaRPr lang="en-SG" sz="1400" dirty="0"/>
                    </a:p>
                  </a:txBody>
                  <a:tcPr marL="35995" marR="35995" marT="36008" marB="3600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Sam</a:t>
                      </a:r>
                      <a:endParaRPr lang="en-SG" sz="1400" dirty="0" smtClean="0"/>
                    </a:p>
                  </a:txBody>
                  <a:tcPr marL="35995" marR="35995" marT="36008" marB="3600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91234567</a:t>
                      </a:r>
                      <a:endParaRPr lang="en-SG" sz="1400" dirty="0" smtClean="0"/>
                    </a:p>
                  </a:txBody>
                  <a:tcPr marL="35995" marR="35995" marT="36008" marB="3600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15913">
                <a:tc>
                  <a:txBody>
                    <a:bodyPr/>
                    <a:lstStyle/>
                    <a:p>
                      <a:pPr algn="ctr"/>
                      <a:r>
                        <a:rPr lang="en-GB" sz="1400" b="0" dirty="0" smtClean="0"/>
                        <a:t>D2</a:t>
                      </a:r>
                      <a:endParaRPr lang="en-SG" sz="1400" b="0" dirty="0"/>
                    </a:p>
                  </a:txBody>
                  <a:tcPr marL="35995" marR="35995" marT="36008" marB="36008">
                    <a:lnL w="12700" cap="flat" cmpd="sng" algn="ctr">
                      <a:solidFill>
                        <a:schemeClr val="tx1"/>
                      </a:solidFill>
                      <a:prstDash val="solid"/>
                      <a:round/>
                      <a:headEnd type="none" w="med" len="med"/>
                      <a:tailEnd type="none" w="med" len="med"/>
                    </a:lnL>
                  </a:tcPr>
                </a:tc>
                <a:tc>
                  <a:txBody>
                    <a:bodyPr/>
                    <a:lstStyle/>
                    <a:p>
                      <a:pPr algn="ctr"/>
                      <a:r>
                        <a:rPr lang="en-GB" sz="1400" dirty="0" smtClean="0"/>
                        <a:t>P-02</a:t>
                      </a:r>
                      <a:endParaRPr lang="en-SG" sz="1400" dirty="0"/>
                    </a:p>
                  </a:txBody>
                  <a:tcPr marL="35995" marR="35995" marT="36008" marB="36008"/>
                </a:tc>
                <a:tc>
                  <a:txBody>
                    <a:bodyPr/>
                    <a:lstStyle/>
                    <a:p>
                      <a:pPr algn="ctr"/>
                      <a:r>
                        <a:rPr lang="en-GB" sz="1400" dirty="0" smtClean="0"/>
                        <a:t>05-Jul</a:t>
                      </a:r>
                      <a:endParaRPr lang="en-SG" sz="1400" dirty="0"/>
                    </a:p>
                  </a:txBody>
                  <a:tcPr marL="35995" marR="35995" marT="36008" marB="3600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Tom</a:t>
                      </a:r>
                      <a:endParaRPr lang="en-SG" sz="1400" dirty="0" smtClean="0"/>
                    </a:p>
                  </a:txBody>
                  <a:tcPr marL="35995" marR="35995" marT="36008" marB="3600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87654321</a:t>
                      </a:r>
                      <a:endParaRPr lang="en-SG" sz="1400" dirty="0" smtClean="0"/>
                    </a:p>
                  </a:txBody>
                  <a:tcPr marL="35995" marR="35995" marT="36008" marB="3600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315913">
                <a:tc>
                  <a:txBody>
                    <a:bodyPr/>
                    <a:lstStyle/>
                    <a:p>
                      <a:pPr algn="ctr"/>
                      <a:r>
                        <a:rPr lang="en-GB" sz="1400" dirty="0" smtClean="0"/>
                        <a:t>D2</a:t>
                      </a:r>
                      <a:endParaRPr lang="en-SG" sz="1400" b="0" dirty="0"/>
                    </a:p>
                  </a:txBody>
                  <a:tcPr marL="35995" marR="35995" marT="36008" marB="36008">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GB" sz="1400" dirty="0" smtClean="0"/>
                        <a:t>P-22</a:t>
                      </a:r>
                      <a:endParaRPr lang="en-SG" sz="1400" dirty="0"/>
                    </a:p>
                  </a:txBody>
                  <a:tcPr marL="35995" marR="35995" marT="36008" marB="36008">
                    <a:lnB w="12700" cap="flat" cmpd="sng" algn="ctr">
                      <a:solidFill>
                        <a:schemeClr val="tx1"/>
                      </a:solidFill>
                      <a:prstDash val="solid"/>
                      <a:round/>
                      <a:headEnd type="none" w="med" len="med"/>
                      <a:tailEnd type="none" w="med" len="med"/>
                    </a:lnB>
                  </a:tcPr>
                </a:tc>
                <a:tc>
                  <a:txBody>
                    <a:bodyPr/>
                    <a:lstStyle/>
                    <a:p>
                      <a:pPr algn="ctr"/>
                      <a:r>
                        <a:rPr lang="en-GB" sz="1400" dirty="0" smtClean="0"/>
                        <a:t>06-Jul</a:t>
                      </a:r>
                      <a:endParaRPr lang="en-SG" sz="1400" dirty="0"/>
                    </a:p>
                  </a:txBody>
                  <a:tcPr marL="35995" marR="35995" marT="36008" marB="36008">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Tom</a:t>
                      </a:r>
                      <a:endParaRPr lang="en-SG" sz="1400" dirty="0" smtClean="0"/>
                    </a:p>
                  </a:txBody>
                  <a:tcPr marL="35995" marR="35995" marT="36008" marB="36008">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87654321</a:t>
                      </a:r>
                      <a:endParaRPr lang="en-SG" sz="1400" dirty="0" smtClean="0"/>
                    </a:p>
                  </a:txBody>
                  <a:tcPr marL="35995" marR="35995" marT="36008" marB="36008">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8" name="Text Box 3"/>
          <p:cNvSpPr txBox="1">
            <a:spLocks noChangeArrowheads="1"/>
          </p:cNvSpPr>
          <p:nvPr/>
        </p:nvSpPr>
        <p:spPr bwMode="auto">
          <a:xfrm>
            <a:off x="7976394" y="1272270"/>
            <a:ext cx="966788" cy="33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8800" tIns="27432" rIns="27432" bIns="27432">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1800" b="1" dirty="0">
                <a:ea typeface="Calibri" pitchFamily="34" charset="0"/>
                <a:cs typeface="Calibri" pitchFamily="34" charset="0"/>
              </a:rPr>
              <a:t>DELIVERY</a:t>
            </a:r>
          </a:p>
        </p:txBody>
      </p:sp>
      <p:cxnSp>
        <p:nvCxnSpPr>
          <p:cNvPr id="29" name="Straight Connector 28"/>
          <p:cNvCxnSpPr/>
          <p:nvPr/>
        </p:nvCxnSpPr>
        <p:spPr>
          <a:xfrm>
            <a:off x="468312" y="3429000"/>
            <a:ext cx="8352000" cy="0"/>
          </a:xfrm>
          <a:prstGeom prst="line">
            <a:avLst/>
          </a:prstGeom>
        </p:spPr>
        <p:style>
          <a:lnRef idx="1">
            <a:schemeClr val="accent1"/>
          </a:lnRef>
          <a:fillRef idx="0">
            <a:schemeClr val="accent1"/>
          </a:fillRef>
          <a:effectRef idx="0">
            <a:schemeClr val="accent1"/>
          </a:effectRef>
          <a:fontRef idx="minor">
            <a:schemeClr val="tx1"/>
          </a:fontRef>
        </p:style>
      </p:cxnSp>
      <p:sp>
        <p:nvSpPr>
          <p:cNvPr id="18549" name="TextBox 1"/>
          <p:cNvSpPr>
            <a:spLocks noChangeArrowheads="1"/>
          </p:cNvSpPr>
          <p:nvPr/>
        </p:nvSpPr>
        <p:spPr bwMode="auto">
          <a:xfrm>
            <a:off x="179388" y="1304925"/>
            <a:ext cx="365125" cy="492125"/>
          </a:xfrm>
          <a:prstGeom prst="ellipse">
            <a:avLst/>
          </a:prstGeom>
          <a:noFill/>
          <a:ln w="9525">
            <a:solidFill>
              <a:srgbClr val="0070C0"/>
            </a:solidFill>
            <a:round/>
            <a:headEnd/>
            <a:tailEnd/>
          </a:ln>
          <a:extLst>
            <a:ext uri="{909E8E84-426E-40DD-AFC4-6F175D3DCCD1}">
              <a14:hiddenFill xmlns:a14="http://schemas.microsoft.com/office/drawing/2010/main">
                <a:solidFill>
                  <a:srgbClr val="FFFFFF"/>
                </a:solidFill>
              </a14:hiddenFill>
            </a:ext>
          </a:extLst>
        </p:spPr>
        <p:txBody>
          <a:bodyPr lIns="36000" tIns="36000" rIns="36000" bIns="36000">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GB" altLang="en-US" sz="1800">
                <a:latin typeface="Arial" charset="0"/>
              </a:rPr>
              <a:t>1</a:t>
            </a:r>
            <a:endParaRPr lang="en-SG" altLang="en-US" sz="1800">
              <a:latin typeface="Arial" charset="0"/>
            </a:endParaRPr>
          </a:p>
        </p:txBody>
      </p:sp>
      <p:sp>
        <p:nvSpPr>
          <p:cNvPr id="18550" name="TextBox 1"/>
          <p:cNvSpPr>
            <a:spLocks noChangeArrowheads="1"/>
          </p:cNvSpPr>
          <p:nvPr/>
        </p:nvSpPr>
        <p:spPr bwMode="auto">
          <a:xfrm>
            <a:off x="7469472" y="1177254"/>
            <a:ext cx="365125" cy="492125"/>
          </a:xfrm>
          <a:prstGeom prst="ellipse">
            <a:avLst/>
          </a:prstGeom>
          <a:noFill/>
          <a:ln w="9525">
            <a:solidFill>
              <a:srgbClr val="0070C0"/>
            </a:solidFill>
            <a:round/>
            <a:headEnd/>
            <a:tailEnd/>
          </a:ln>
          <a:extLst>
            <a:ext uri="{909E8E84-426E-40DD-AFC4-6F175D3DCCD1}">
              <a14:hiddenFill xmlns:a14="http://schemas.microsoft.com/office/drawing/2010/main">
                <a:solidFill>
                  <a:srgbClr val="FFFFFF"/>
                </a:solidFill>
              </a14:hiddenFill>
            </a:ext>
          </a:extLst>
        </p:spPr>
        <p:txBody>
          <a:bodyPr lIns="36000" tIns="36000" rIns="36000" bIns="36000">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GB" altLang="en-US" sz="1800">
                <a:latin typeface="Arial" charset="0"/>
              </a:rPr>
              <a:t>2</a:t>
            </a:r>
            <a:endParaRPr lang="en-SG" altLang="en-US" sz="1800">
              <a:latin typeface="Arial" charset="0"/>
            </a:endParaRPr>
          </a:p>
        </p:txBody>
      </p:sp>
      <p:graphicFrame>
        <p:nvGraphicFramePr>
          <p:cNvPr id="36" name="Table 35"/>
          <p:cNvGraphicFramePr>
            <a:graphicFrameLocks noGrp="1"/>
          </p:cNvGraphicFramePr>
          <p:nvPr>
            <p:extLst>
              <p:ext uri="{D42A27DB-BD31-4B8C-83A1-F6EECF244321}">
                <p14:modId xmlns:p14="http://schemas.microsoft.com/office/powerpoint/2010/main" val="752729563"/>
              </p:ext>
            </p:extLst>
          </p:nvPr>
        </p:nvGraphicFramePr>
        <p:xfrm>
          <a:off x="2451894" y="5849712"/>
          <a:ext cx="1891506" cy="855888"/>
        </p:xfrm>
        <a:graphic>
          <a:graphicData uri="http://schemas.openxmlformats.org/drawingml/2006/table">
            <a:tbl>
              <a:tblPr firstRow="1" bandRow="1">
                <a:tableStyleId>{93296810-A885-4BE3-A3E7-6D5BEEA58F35}</a:tableStyleId>
              </a:tblPr>
              <a:tblGrid>
                <a:gridCol w="913141">
                  <a:extLst>
                    <a:ext uri="{9D8B030D-6E8A-4147-A177-3AD203B41FA5}">
                      <a16:colId xmlns:a16="http://schemas.microsoft.com/office/drawing/2014/main" val="20000"/>
                    </a:ext>
                  </a:extLst>
                </a:gridCol>
                <a:gridCol w="978365">
                  <a:extLst>
                    <a:ext uri="{9D8B030D-6E8A-4147-A177-3AD203B41FA5}">
                      <a16:colId xmlns:a16="http://schemas.microsoft.com/office/drawing/2014/main" val="20001"/>
                    </a:ext>
                  </a:extLst>
                </a:gridCol>
              </a:tblGrid>
              <a:tr h="24976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u="sng" dirty="0" err="1" smtClean="0">
                          <a:solidFill>
                            <a:srgbClr val="FFFF00"/>
                          </a:solidFill>
                        </a:rPr>
                        <a:t>SupplierID</a:t>
                      </a:r>
                      <a:endParaRPr lang="en-SG" sz="1400" u="sng" dirty="0" smtClean="0">
                        <a:solidFill>
                          <a:srgbClr val="FFFF00"/>
                        </a:solidFill>
                      </a:endParaRPr>
                    </a:p>
                  </a:txBody>
                  <a:tcPr marL="35988" marR="35988" marT="35968" marB="35968">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tx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err="1" smtClean="0">
                          <a:solidFill>
                            <a:schemeClr val="bg1"/>
                          </a:solidFill>
                        </a:rPr>
                        <a:t>SuppClass</a:t>
                      </a:r>
                      <a:endParaRPr lang="en-SG" sz="1400" dirty="0" smtClean="0">
                        <a:solidFill>
                          <a:schemeClr val="bg1"/>
                        </a:solidFill>
                      </a:endParaRPr>
                    </a:p>
                  </a:txBody>
                  <a:tcPr marL="35988" marR="35988" marT="35968" marB="35968">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tx1"/>
                    </a:solidFill>
                  </a:tcPr>
                </a:tc>
                <a:extLst>
                  <a:ext uri="{0D108BD9-81ED-4DB2-BD59-A6C34878D82A}">
                    <a16:rowId xmlns:a16="http://schemas.microsoft.com/office/drawing/2014/main" val="10000"/>
                  </a:ext>
                </a:extLst>
              </a:tr>
              <a:tr h="249767">
                <a:tc>
                  <a:txBody>
                    <a:bodyPr/>
                    <a:lstStyle/>
                    <a:p>
                      <a:pPr algn="ctr"/>
                      <a:r>
                        <a:rPr lang="en-GB" sz="1400" dirty="0" smtClean="0"/>
                        <a:t>Supp1</a:t>
                      </a:r>
                      <a:endParaRPr lang="en-SG" sz="1400" dirty="0"/>
                    </a:p>
                  </a:txBody>
                  <a:tcPr marL="35988" marR="35988" marT="35968" marB="35968">
                    <a:lnL w="12700" cap="flat" cmpd="sng" algn="ctr">
                      <a:solidFill>
                        <a:schemeClr val="tx1"/>
                      </a:solidFill>
                      <a:prstDash val="solid"/>
                      <a:round/>
                      <a:headEnd type="none" w="med" len="med"/>
                      <a:tailEnd type="none" w="med" len="med"/>
                    </a:lnL>
                  </a:tcPr>
                </a:tc>
                <a:tc>
                  <a:txBody>
                    <a:bodyPr/>
                    <a:lstStyle/>
                    <a:p>
                      <a:pPr algn="ctr"/>
                      <a:r>
                        <a:rPr lang="en-GB" sz="1400" dirty="0" smtClean="0"/>
                        <a:t>B</a:t>
                      </a:r>
                      <a:endParaRPr lang="en-SG" sz="1400" dirty="0"/>
                    </a:p>
                  </a:txBody>
                  <a:tcPr marL="35988" marR="35988" marT="35968" marB="3596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24976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Supp2</a:t>
                      </a:r>
                      <a:endParaRPr lang="en-SG" sz="1400" dirty="0" smtClean="0"/>
                    </a:p>
                  </a:txBody>
                  <a:tcPr marL="35988" marR="35988" marT="35968" marB="35968">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A</a:t>
                      </a:r>
                      <a:endParaRPr lang="en-SG" sz="1400" dirty="0" smtClean="0"/>
                    </a:p>
                  </a:txBody>
                  <a:tcPr marL="35988" marR="35988" marT="35968" marB="35968">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44" name="Table 43"/>
          <p:cNvGraphicFramePr>
            <a:graphicFrameLocks noGrp="1"/>
          </p:cNvGraphicFramePr>
          <p:nvPr>
            <p:extLst>
              <p:ext uri="{D42A27DB-BD31-4B8C-83A1-F6EECF244321}">
                <p14:modId xmlns:p14="http://schemas.microsoft.com/office/powerpoint/2010/main" val="4048964239"/>
              </p:ext>
            </p:extLst>
          </p:nvPr>
        </p:nvGraphicFramePr>
        <p:xfrm>
          <a:off x="304800" y="4035563"/>
          <a:ext cx="3371851" cy="1426880"/>
        </p:xfrm>
        <a:graphic>
          <a:graphicData uri="http://schemas.openxmlformats.org/drawingml/2006/table">
            <a:tbl>
              <a:tblPr firstRow="1" bandRow="1">
                <a:tableStyleId>{F5AB1C69-6EDB-4FF4-983F-18BD219EF322}</a:tableStyleId>
              </a:tblPr>
              <a:tblGrid>
                <a:gridCol w="793377">
                  <a:extLst>
                    <a:ext uri="{9D8B030D-6E8A-4147-A177-3AD203B41FA5}">
                      <a16:colId xmlns:a16="http://schemas.microsoft.com/office/drawing/2014/main" val="20000"/>
                    </a:ext>
                  </a:extLst>
                </a:gridCol>
                <a:gridCol w="930854">
                  <a:extLst>
                    <a:ext uri="{9D8B030D-6E8A-4147-A177-3AD203B41FA5}">
                      <a16:colId xmlns:a16="http://schemas.microsoft.com/office/drawing/2014/main" val="20001"/>
                    </a:ext>
                  </a:extLst>
                </a:gridCol>
                <a:gridCol w="788129">
                  <a:extLst>
                    <a:ext uri="{9D8B030D-6E8A-4147-A177-3AD203B41FA5}">
                      <a16:colId xmlns:a16="http://schemas.microsoft.com/office/drawing/2014/main" val="20002"/>
                    </a:ext>
                  </a:extLst>
                </a:gridCol>
                <a:gridCol w="859491">
                  <a:extLst>
                    <a:ext uri="{9D8B030D-6E8A-4147-A177-3AD203B41FA5}">
                      <a16:colId xmlns:a16="http://schemas.microsoft.com/office/drawing/2014/main" val="20003"/>
                    </a:ext>
                  </a:extLst>
                </a:gridCol>
              </a:tblGrid>
              <a:tr h="270414">
                <a:tc>
                  <a:txBody>
                    <a:bodyPr/>
                    <a:lstStyle/>
                    <a:p>
                      <a:pPr algn="ctr"/>
                      <a:r>
                        <a:rPr lang="en-SG" sz="1400" u="sng" dirty="0" err="1" smtClean="0">
                          <a:solidFill>
                            <a:srgbClr val="FFFF00"/>
                          </a:solidFill>
                        </a:rPr>
                        <a:t>ItemID</a:t>
                      </a:r>
                      <a:endParaRPr lang="en-SG" sz="1400" u="sng" dirty="0" smtClean="0">
                        <a:solidFill>
                          <a:srgbClr val="FFFF00"/>
                        </a:solidFill>
                      </a:endParaRPr>
                    </a:p>
                  </a:txBody>
                  <a:tcPr marL="35995" marR="35995" marT="36008" marB="36008">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tx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u="sng" dirty="0" err="1" smtClean="0">
                          <a:solidFill>
                            <a:srgbClr val="FFFF00"/>
                          </a:solidFill>
                        </a:rPr>
                        <a:t>SupplierID</a:t>
                      </a:r>
                      <a:endParaRPr lang="en-SG" sz="1400" u="sng" dirty="0" smtClean="0">
                        <a:solidFill>
                          <a:srgbClr val="FFFF00"/>
                        </a:solidFill>
                      </a:endParaRPr>
                    </a:p>
                  </a:txBody>
                  <a:tcPr marL="35995" marR="35995" marT="36008" marB="36008">
                    <a:lnT w="12700" cap="flat" cmpd="sng" algn="ctr">
                      <a:solidFill>
                        <a:schemeClr val="tx1"/>
                      </a:solidFill>
                      <a:prstDash val="solid"/>
                      <a:round/>
                      <a:headEnd type="none" w="med" len="med"/>
                      <a:tailEnd type="none" w="med" len="med"/>
                    </a:lnT>
                    <a:solidFill>
                      <a:schemeClr val="tx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Items</a:t>
                      </a:r>
                      <a:endParaRPr lang="en-SG" sz="1400" dirty="0" smtClean="0"/>
                    </a:p>
                  </a:txBody>
                  <a:tcPr marL="35995" marR="35995" marT="36008" marB="36008">
                    <a:lnT w="12700" cap="flat" cmpd="sng" algn="ctr">
                      <a:solidFill>
                        <a:schemeClr val="tx1"/>
                      </a:solidFill>
                      <a:prstDash val="solid"/>
                      <a:round/>
                      <a:headEnd type="none" w="med" len="med"/>
                      <a:tailEnd type="none" w="med" len="med"/>
                    </a:lnT>
                    <a:solidFill>
                      <a:schemeClr val="tx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err="1" smtClean="0"/>
                        <a:t>ItemCost</a:t>
                      </a:r>
                      <a:endParaRPr lang="en-SG" sz="1400" dirty="0" smtClean="0"/>
                    </a:p>
                  </a:txBody>
                  <a:tcPr marL="35995" marR="35995" marT="36008" marB="36008">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tx1"/>
                    </a:solidFill>
                  </a:tcPr>
                </a:tc>
                <a:extLst>
                  <a:ext uri="{0D108BD9-81ED-4DB2-BD59-A6C34878D82A}">
                    <a16:rowId xmlns:a16="http://schemas.microsoft.com/office/drawing/2014/main" val="10000"/>
                  </a:ext>
                </a:extLst>
              </a:tr>
              <a:tr h="253832">
                <a:tc>
                  <a:txBody>
                    <a:bodyPr/>
                    <a:lstStyle/>
                    <a:p>
                      <a:pPr algn="ctr"/>
                      <a:r>
                        <a:rPr lang="en-GB" sz="1400" dirty="0" smtClean="0"/>
                        <a:t>P-01</a:t>
                      </a:r>
                      <a:endParaRPr lang="en-SG" sz="1400" b="0" dirty="0"/>
                    </a:p>
                  </a:txBody>
                  <a:tcPr marL="35995" marR="35995" marT="36008" marB="36008">
                    <a:lnL w="12700" cap="flat" cmpd="sng" algn="ctr">
                      <a:solidFill>
                        <a:schemeClr val="tx1"/>
                      </a:solidFill>
                      <a:prstDash val="solid"/>
                      <a:round/>
                      <a:headEnd type="none" w="med" len="med"/>
                      <a:tailEnd type="none" w="med" len="med"/>
                    </a:lnL>
                  </a:tcPr>
                </a:tc>
                <a:tc>
                  <a:txBody>
                    <a:bodyPr/>
                    <a:lstStyle/>
                    <a:p>
                      <a:pPr algn="ctr"/>
                      <a:r>
                        <a:rPr lang="en-GB" sz="1400" dirty="0" smtClean="0"/>
                        <a:t>Supp1</a:t>
                      </a:r>
                      <a:endParaRPr lang="en-SG" sz="1400" dirty="0"/>
                    </a:p>
                  </a:txBody>
                  <a:tcPr marL="35995" marR="35995" marT="36008" marB="36008"/>
                </a:tc>
                <a:tc>
                  <a:txBody>
                    <a:bodyPr/>
                    <a:lstStyle/>
                    <a:p>
                      <a:pPr algn="ctr"/>
                      <a:r>
                        <a:rPr lang="en-GB" sz="1400" dirty="0" smtClean="0"/>
                        <a:t>Printer</a:t>
                      </a:r>
                      <a:endParaRPr lang="en-SG" sz="1400" dirty="0"/>
                    </a:p>
                  </a:txBody>
                  <a:tcPr marL="35995" marR="35995" marT="36008" marB="36008"/>
                </a:tc>
                <a:tc>
                  <a:txBody>
                    <a:bodyPr/>
                    <a:lstStyle/>
                    <a:p>
                      <a:pPr algn="ctr"/>
                      <a:r>
                        <a:rPr lang="en-GB" sz="1400" dirty="0" smtClean="0"/>
                        <a:t>550</a:t>
                      </a:r>
                      <a:endParaRPr lang="en-SG" sz="1400" dirty="0"/>
                    </a:p>
                  </a:txBody>
                  <a:tcPr marL="35995" marR="35995" marT="36008" marB="3600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253832">
                <a:tc>
                  <a:txBody>
                    <a:bodyPr/>
                    <a:lstStyle/>
                    <a:p>
                      <a:pPr algn="ctr"/>
                      <a:r>
                        <a:rPr lang="en-GB" sz="1400" dirty="0" smtClean="0"/>
                        <a:t>P-02</a:t>
                      </a:r>
                      <a:endParaRPr lang="en-SG" sz="1400" b="0" dirty="0"/>
                    </a:p>
                  </a:txBody>
                  <a:tcPr marL="35995" marR="35995" marT="36008" marB="36008">
                    <a:lnL w="12700" cap="flat" cmpd="sng" algn="ctr">
                      <a:solidFill>
                        <a:schemeClr val="tx1"/>
                      </a:solidFill>
                      <a:prstDash val="solid"/>
                      <a:round/>
                      <a:headEnd type="none" w="med" len="med"/>
                      <a:tailEnd type="none" w="med" len="med"/>
                    </a:lnL>
                  </a:tcPr>
                </a:tc>
                <a:tc>
                  <a:txBody>
                    <a:bodyPr/>
                    <a:lstStyle/>
                    <a:p>
                      <a:pPr algn="ctr"/>
                      <a:r>
                        <a:rPr lang="en-GB" sz="1400" dirty="0" smtClean="0"/>
                        <a:t>Supp2</a:t>
                      </a:r>
                      <a:endParaRPr lang="en-SG" sz="1400" dirty="0"/>
                    </a:p>
                  </a:txBody>
                  <a:tcPr marL="35995" marR="35995" marT="36008" marB="36008"/>
                </a:tc>
                <a:tc>
                  <a:txBody>
                    <a:bodyPr/>
                    <a:lstStyle/>
                    <a:p>
                      <a:pPr algn="ctr"/>
                      <a:r>
                        <a:rPr lang="en-GB" sz="1400" dirty="0" smtClean="0"/>
                        <a:t>Projector</a:t>
                      </a:r>
                      <a:endParaRPr lang="en-SG" sz="1400" dirty="0"/>
                    </a:p>
                  </a:txBody>
                  <a:tcPr marL="35995" marR="35995" marT="36008" marB="3600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2300</a:t>
                      </a:r>
                      <a:endParaRPr lang="en-SG" sz="1400" dirty="0" smtClean="0"/>
                    </a:p>
                  </a:txBody>
                  <a:tcPr marL="35995" marR="35995" marT="36008" marB="3600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253832">
                <a:tc>
                  <a:txBody>
                    <a:bodyPr/>
                    <a:lstStyle/>
                    <a:p>
                      <a:pPr algn="ctr"/>
                      <a:r>
                        <a:rPr lang="en-GB" sz="1400" dirty="0" smtClean="0"/>
                        <a:t>P-11</a:t>
                      </a:r>
                      <a:endParaRPr lang="en-SG" sz="1400" b="0" dirty="0"/>
                    </a:p>
                  </a:txBody>
                  <a:tcPr marL="35995" marR="35995" marT="36008" marB="36008">
                    <a:lnL w="12700" cap="flat" cmpd="sng" algn="ctr">
                      <a:solidFill>
                        <a:schemeClr val="tx1"/>
                      </a:solidFill>
                      <a:prstDash val="solid"/>
                      <a:round/>
                      <a:headEnd type="none" w="med" len="med"/>
                      <a:tailEnd type="none" w="med" len="med"/>
                    </a:lnL>
                  </a:tcPr>
                </a:tc>
                <a:tc>
                  <a:txBody>
                    <a:bodyPr/>
                    <a:lstStyle/>
                    <a:p>
                      <a:pPr algn="ctr"/>
                      <a:r>
                        <a:rPr lang="en-GB" sz="1400" dirty="0" smtClean="0"/>
                        <a:t>Supp1</a:t>
                      </a:r>
                      <a:endParaRPr lang="en-SG" sz="1400" dirty="0"/>
                    </a:p>
                  </a:txBody>
                  <a:tcPr marL="35995" marR="35995" marT="36008" marB="36008"/>
                </a:tc>
                <a:tc>
                  <a:txBody>
                    <a:bodyPr/>
                    <a:lstStyle/>
                    <a:p>
                      <a:pPr algn="ctr"/>
                      <a:r>
                        <a:rPr lang="en-GB" sz="1400" dirty="0" smtClean="0"/>
                        <a:t>Tonner</a:t>
                      </a:r>
                      <a:endParaRPr lang="en-SG" sz="1400" dirty="0"/>
                    </a:p>
                  </a:txBody>
                  <a:tcPr marL="35995" marR="35995" marT="36008" marB="3600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120</a:t>
                      </a:r>
                      <a:endParaRPr lang="en-SG" sz="1400" dirty="0" smtClean="0"/>
                    </a:p>
                  </a:txBody>
                  <a:tcPr marL="35995" marR="35995" marT="36008" marB="3600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253832">
                <a:tc>
                  <a:txBody>
                    <a:bodyPr/>
                    <a:lstStyle/>
                    <a:p>
                      <a:pPr algn="ctr"/>
                      <a:r>
                        <a:rPr lang="en-GB" sz="1400" dirty="0" smtClean="0"/>
                        <a:t>P-22</a:t>
                      </a:r>
                      <a:endParaRPr lang="en-SG" sz="1400" b="0" dirty="0"/>
                    </a:p>
                  </a:txBody>
                  <a:tcPr marL="35995" marR="35995" marT="36008" marB="36008">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GB" sz="1400" dirty="0" smtClean="0"/>
                        <a:t>Supp2</a:t>
                      </a:r>
                      <a:endParaRPr lang="en-SG" sz="1400" dirty="0"/>
                    </a:p>
                  </a:txBody>
                  <a:tcPr marL="35995" marR="35995" marT="36008" marB="36008">
                    <a:lnB w="12700" cap="flat" cmpd="sng" algn="ctr">
                      <a:solidFill>
                        <a:schemeClr val="tx1"/>
                      </a:solidFill>
                      <a:prstDash val="solid"/>
                      <a:round/>
                      <a:headEnd type="none" w="med" len="med"/>
                      <a:tailEnd type="none" w="med" len="med"/>
                    </a:lnB>
                  </a:tcPr>
                </a:tc>
                <a:tc>
                  <a:txBody>
                    <a:bodyPr/>
                    <a:lstStyle/>
                    <a:p>
                      <a:pPr algn="ctr"/>
                      <a:r>
                        <a:rPr lang="en-GB" sz="1400" dirty="0" smtClean="0"/>
                        <a:t>Bulbs</a:t>
                      </a:r>
                      <a:endParaRPr lang="en-SG" sz="1400" dirty="0"/>
                    </a:p>
                  </a:txBody>
                  <a:tcPr marL="35995" marR="35995" marT="36008" marB="36008">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60</a:t>
                      </a:r>
                      <a:endParaRPr lang="en-SG" sz="1400" dirty="0" smtClean="0"/>
                    </a:p>
                  </a:txBody>
                  <a:tcPr marL="35995" marR="35995" marT="36008" marB="36008">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8" name="Text Box 3"/>
          <p:cNvSpPr txBox="1">
            <a:spLocks noChangeArrowheads="1"/>
          </p:cNvSpPr>
          <p:nvPr/>
        </p:nvSpPr>
        <p:spPr bwMode="auto">
          <a:xfrm>
            <a:off x="346075" y="3733800"/>
            <a:ext cx="734698" cy="301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8800" tIns="27432" rIns="27432" bIns="27432">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1600" b="1" dirty="0">
                <a:ea typeface="Calibri" pitchFamily="34" charset="0"/>
                <a:cs typeface="Calibri" pitchFamily="34" charset="0"/>
              </a:rPr>
              <a:t>DETAILS</a:t>
            </a:r>
          </a:p>
        </p:txBody>
      </p:sp>
      <p:sp>
        <p:nvSpPr>
          <p:cNvPr id="50" name="Text Box 3"/>
          <p:cNvSpPr txBox="1">
            <a:spLocks noChangeArrowheads="1"/>
          </p:cNvSpPr>
          <p:nvPr/>
        </p:nvSpPr>
        <p:spPr bwMode="auto">
          <a:xfrm>
            <a:off x="2451894" y="5547945"/>
            <a:ext cx="863062" cy="301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8800" tIns="27432" rIns="27432" bIns="27432">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1600" b="1" dirty="0">
                <a:ea typeface="Calibri" pitchFamily="34" charset="0"/>
                <a:cs typeface="Calibri" pitchFamily="34" charset="0"/>
              </a:rPr>
              <a:t>SUPPLIER</a:t>
            </a:r>
          </a:p>
        </p:txBody>
      </p:sp>
      <p:graphicFrame>
        <p:nvGraphicFramePr>
          <p:cNvPr id="52" name="Table 51"/>
          <p:cNvGraphicFramePr>
            <a:graphicFrameLocks noGrp="1"/>
          </p:cNvGraphicFramePr>
          <p:nvPr>
            <p:extLst>
              <p:ext uri="{D42A27DB-BD31-4B8C-83A1-F6EECF244321}">
                <p14:modId xmlns:p14="http://schemas.microsoft.com/office/powerpoint/2010/main" val="2542331010"/>
              </p:ext>
            </p:extLst>
          </p:nvPr>
        </p:nvGraphicFramePr>
        <p:xfrm>
          <a:off x="7135018" y="5757861"/>
          <a:ext cx="1932782" cy="947739"/>
        </p:xfrm>
        <a:graphic>
          <a:graphicData uri="http://schemas.openxmlformats.org/drawingml/2006/table">
            <a:tbl>
              <a:tblPr firstRow="1" bandRow="1">
                <a:tableStyleId>{93296810-A885-4BE3-A3E7-6D5BEEA58F35}</a:tableStyleId>
              </a:tblPr>
              <a:tblGrid>
                <a:gridCol w="933068">
                  <a:extLst>
                    <a:ext uri="{9D8B030D-6E8A-4147-A177-3AD203B41FA5}">
                      <a16:colId xmlns:a16="http://schemas.microsoft.com/office/drawing/2014/main" val="20000"/>
                    </a:ext>
                  </a:extLst>
                </a:gridCol>
                <a:gridCol w="999714">
                  <a:extLst>
                    <a:ext uri="{9D8B030D-6E8A-4147-A177-3AD203B41FA5}">
                      <a16:colId xmlns:a16="http://schemas.microsoft.com/office/drawing/2014/main" val="20001"/>
                    </a:ext>
                  </a:extLst>
                </a:gridCol>
              </a:tblGrid>
              <a:tr h="315913">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u="sng" dirty="0" err="1" smtClean="0">
                          <a:solidFill>
                            <a:schemeClr val="bg1"/>
                          </a:solidFill>
                        </a:rPr>
                        <a:t>StaffName</a:t>
                      </a:r>
                      <a:endParaRPr lang="en-SG" sz="1400" u="sng" dirty="0" smtClean="0">
                        <a:solidFill>
                          <a:schemeClr val="bg1"/>
                        </a:solidFill>
                      </a:endParaRPr>
                    </a:p>
                  </a:txBody>
                  <a:tcPr marL="35988" marR="35988" marT="36008" marB="36008">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tx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solidFill>
                            <a:schemeClr val="bg1"/>
                          </a:solidFill>
                        </a:rPr>
                        <a:t>Phone</a:t>
                      </a:r>
                      <a:endParaRPr lang="en-SG" sz="1400" dirty="0" smtClean="0">
                        <a:solidFill>
                          <a:schemeClr val="bg1"/>
                        </a:solidFill>
                      </a:endParaRPr>
                    </a:p>
                  </a:txBody>
                  <a:tcPr marL="35988" marR="35988" marT="36008" marB="36008">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tx2"/>
                    </a:solidFill>
                  </a:tcPr>
                </a:tc>
                <a:extLst>
                  <a:ext uri="{0D108BD9-81ED-4DB2-BD59-A6C34878D82A}">
                    <a16:rowId xmlns:a16="http://schemas.microsoft.com/office/drawing/2014/main" val="10000"/>
                  </a:ext>
                </a:extLst>
              </a:tr>
              <a:tr h="315913">
                <a:tc>
                  <a:txBody>
                    <a:bodyPr/>
                    <a:lstStyle/>
                    <a:p>
                      <a:pPr algn="ctr"/>
                      <a:r>
                        <a:rPr lang="en-GB" sz="1400" dirty="0" smtClean="0"/>
                        <a:t>Sam</a:t>
                      </a:r>
                      <a:endParaRPr lang="en-SG" sz="1400" dirty="0"/>
                    </a:p>
                  </a:txBody>
                  <a:tcPr marL="35988" marR="35988" marT="36008" marB="36008">
                    <a:lnL w="12700" cap="flat" cmpd="sng" algn="ctr">
                      <a:solidFill>
                        <a:schemeClr val="tx1"/>
                      </a:solidFill>
                      <a:prstDash val="solid"/>
                      <a:round/>
                      <a:headEnd type="none" w="med" len="med"/>
                      <a:tailEnd type="none" w="med" len="med"/>
                    </a:lnL>
                  </a:tcPr>
                </a:tc>
                <a:tc>
                  <a:txBody>
                    <a:bodyPr/>
                    <a:lstStyle/>
                    <a:p>
                      <a:pPr algn="ctr"/>
                      <a:r>
                        <a:rPr lang="en-GB" sz="1400" dirty="0" smtClean="0"/>
                        <a:t>91234567</a:t>
                      </a:r>
                      <a:endParaRPr lang="en-SG" sz="1400" dirty="0"/>
                    </a:p>
                  </a:txBody>
                  <a:tcPr marL="35988" marR="35988" marT="36008" marB="3600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15913">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Tom</a:t>
                      </a:r>
                      <a:endParaRPr lang="en-SG" sz="1400" dirty="0" smtClean="0"/>
                    </a:p>
                  </a:txBody>
                  <a:tcPr marL="35988" marR="35988" marT="36008" marB="36008">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SG" sz="1400" dirty="0" smtClean="0"/>
                        <a:t>87654321</a:t>
                      </a:r>
                    </a:p>
                  </a:txBody>
                  <a:tcPr marL="35988" marR="35988" marT="36008" marB="36008">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53" name="Table 52"/>
          <p:cNvGraphicFramePr>
            <a:graphicFrameLocks noGrp="1"/>
          </p:cNvGraphicFramePr>
          <p:nvPr>
            <p:extLst>
              <p:ext uri="{D42A27DB-BD31-4B8C-83A1-F6EECF244321}">
                <p14:modId xmlns:p14="http://schemas.microsoft.com/office/powerpoint/2010/main" val="846278420"/>
              </p:ext>
            </p:extLst>
          </p:nvPr>
        </p:nvGraphicFramePr>
        <p:xfrm>
          <a:off x="4377531" y="4077418"/>
          <a:ext cx="3699669" cy="1426670"/>
        </p:xfrm>
        <a:graphic>
          <a:graphicData uri="http://schemas.openxmlformats.org/drawingml/2006/table">
            <a:tbl>
              <a:tblPr firstRow="1" bandRow="1">
                <a:tableStyleId>{F5AB1C69-6EDB-4FF4-983F-18BD219EF322}</a:tableStyleId>
              </a:tblPr>
              <a:tblGrid>
                <a:gridCol w="870510">
                  <a:extLst>
                    <a:ext uri="{9D8B030D-6E8A-4147-A177-3AD203B41FA5}">
                      <a16:colId xmlns:a16="http://schemas.microsoft.com/office/drawing/2014/main" val="20000"/>
                    </a:ext>
                  </a:extLst>
                </a:gridCol>
                <a:gridCol w="739083">
                  <a:extLst>
                    <a:ext uri="{9D8B030D-6E8A-4147-A177-3AD203B41FA5}">
                      <a16:colId xmlns:a16="http://schemas.microsoft.com/office/drawing/2014/main" val="20001"/>
                    </a:ext>
                  </a:extLst>
                </a:gridCol>
                <a:gridCol w="1147023">
                  <a:extLst>
                    <a:ext uri="{9D8B030D-6E8A-4147-A177-3AD203B41FA5}">
                      <a16:colId xmlns:a16="http://schemas.microsoft.com/office/drawing/2014/main" val="20002"/>
                    </a:ext>
                  </a:extLst>
                </a:gridCol>
                <a:gridCol w="943053">
                  <a:extLst>
                    <a:ext uri="{9D8B030D-6E8A-4147-A177-3AD203B41FA5}">
                      <a16:colId xmlns:a16="http://schemas.microsoft.com/office/drawing/2014/main" val="20003"/>
                    </a:ext>
                  </a:extLst>
                </a:gridCol>
              </a:tblGrid>
              <a:tr h="257595">
                <a:tc>
                  <a:txBody>
                    <a:bodyPr/>
                    <a:lstStyle/>
                    <a:p>
                      <a:pPr algn="ctr"/>
                      <a:r>
                        <a:rPr lang="en-SG" sz="1400" u="sng" dirty="0" err="1" smtClean="0">
                          <a:solidFill>
                            <a:srgbClr val="FFFF00"/>
                          </a:solidFill>
                        </a:rPr>
                        <a:t>DeliverNO</a:t>
                      </a:r>
                      <a:endParaRPr lang="en-SG" sz="1400" u="sng" dirty="0" smtClean="0">
                        <a:solidFill>
                          <a:srgbClr val="FFFF00"/>
                        </a:solidFill>
                      </a:endParaRPr>
                    </a:p>
                  </a:txBody>
                  <a:tcPr marL="35995" marR="35995" marT="35987" marB="35987">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tx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b="0" u="sng" dirty="0" err="1" smtClean="0">
                          <a:solidFill>
                            <a:srgbClr val="FFFF00"/>
                          </a:solidFill>
                        </a:rPr>
                        <a:t>ItemID</a:t>
                      </a:r>
                      <a:endParaRPr lang="en-SG" sz="1400" b="0" u="sng" dirty="0" smtClean="0">
                        <a:solidFill>
                          <a:srgbClr val="FFFF00"/>
                        </a:solidFill>
                      </a:endParaRPr>
                    </a:p>
                  </a:txBody>
                  <a:tcPr marL="35995" marR="35995" marT="35987" marB="35987">
                    <a:lnT w="12700" cap="flat" cmpd="sng" algn="ctr">
                      <a:solidFill>
                        <a:schemeClr val="tx1"/>
                      </a:solidFill>
                      <a:prstDash val="solid"/>
                      <a:round/>
                      <a:headEnd type="none" w="med" len="med"/>
                      <a:tailEnd type="none" w="med" len="med"/>
                    </a:lnT>
                    <a:solidFill>
                      <a:schemeClr val="tx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u="none" dirty="0" err="1" smtClean="0">
                          <a:solidFill>
                            <a:schemeClr val="bg1"/>
                          </a:solidFill>
                        </a:rPr>
                        <a:t>DateDeliver</a:t>
                      </a:r>
                      <a:endParaRPr lang="en-SG" sz="1400" u="none" dirty="0" smtClean="0">
                        <a:solidFill>
                          <a:schemeClr val="bg1"/>
                        </a:solidFill>
                      </a:endParaRPr>
                    </a:p>
                  </a:txBody>
                  <a:tcPr marL="35995" marR="35995" marT="35987" marB="35987">
                    <a:lnT w="12700" cap="flat" cmpd="sng" algn="ctr">
                      <a:solidFill>
                        <a:schemeClr val="tx1"/>
                      </a:solidFill>
                      <a:prstDash val="solid"/>
                      <a:round/>
                      <a:headEnd type="none" w="med" len="med"/>
                      <a:tailEnd type="none" w="med" len="med"/>
                    </a:lnT>
                    <a:solidFill>
                      <a:schemeClr val="tx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err="1" smtClean="0"/>
                        <a:t>StaffName</a:t>
                      </a:r>
                      <a:endParaRPr lang="en-SG" sz="1400" dirty="0" smtClean="0"/>
                    </a:p>
                  </a:txBody>
                  <a:tcPr marL="35995" marR="35995" marT="35987" marB="35987">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tx2"/>
                    </a:solidFill>
                  </a:tcPr>
                </a:tc>
                <a:extLst>
                  <a:ext uri="{0D108BD9-81ED-4DB2-BD59-A6C34878D82A}">
                    <a16:rowId xmlns:a16="http://schemas.microsoft.com/office/drawing/2014/main" val="10000"/>
                  </a:ext>
                </a:extLst>
              </a:tr>
              <a:tr h="257595">
                <a:tc>
                  <a:txBody>
                    <a:bodyPr/>
                    <a:lstStyle/>
                    <a:p>
                      <a:pPr algn="ctr"/>
                      <a:r>
                        <a:rPr lang="en-GB" sz="1400" dirty="0" smtClean="0"/>
                        <a:t>D1</a:t>
                      </a:r>
                      <a:endParaRPr lang="en-SG" sz="1400" b="0" dirty="0"/>
                    </a:p>
                  </a:txBody>
                  <a:tcPr marL="35995" marR="35995" marT="35987" marB="35987">
                    <a:lnL w="12700" cap="flat" cmpd="sng" algn="ctr">
                      <a:solidFill>
                        <a:schemeClr val="tx1"/>
                      </a:solidFill>
                      <a:prstDash val="solid"/>
                      <a:round/>
                      <a:headEnd type="none" w="med" len="med"/>
                      <a:tailEnd type="none" w="med" len="med"/>
                    </a:lnL>
                  </a:tcPr>
                </a:tc>
                <a:tc>
                  <a:txBody>
                    <a:bodyPr/>
                    <a:lstStyle/>
                    <a:p>
                      <a:pPr algn="ctr"/>
                      <a:r>
                        <a:rPr lang="en-GB" sz="1400" dirty="0" smtClean="0"/>
                        <a:t>P-01</a:t>
                      </a:r>
                      <a:endParaRPr lang="en-SG" sz="1400" dirty="0"/>
                    </a:p>
                  </a:txBody>
                  <a:tcPr marL="35995" marR="35995" marT="35987" marB="35987"/>
                </a:tc>
                <a:tc>
                  <a:txBody>
                    <a:bodyPr/>
                    <a:lstStyle/>
                    <a:p>
                      <a:pPr algn="ctr"/>
                      <a:r>
                        <a:rPr lang="en-GB" sz="1400" dirty="0" smtClean="0"/>
                        <a:t>03-Jul</a:t>
                      </a:r>
                      <a:endParaRPr lang="en-SG" sz="1400" dirty="0"/>
                    </a:p>
                  </a:txBody>
                  <a:tcPr marL="35995" marR="35995" marT="35987" marB="35987"/>
                </a:tc>
                <a:tc>
                  <a:txBody>
                    <a:bodyPr/>
                    <a:lstStyle/>
                    <a:p>
                      <a:pPr algn="ctr"/>
                      <a:r>
                        <a:rPr lang="en-GB" sz="1400" dirty="0" smtClean="0"/>
                        <a:t>Sam</a:t>
                      </a:r>
                      <a:endParaRPr lang="en-SG" sz="1400" dirty="0"/>
                    </a:p>
                  </a:txBody>
                  <a:tcPr marL="35995" marR="35995" marT="35987" marB="35987">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257595">
                <a:tc>
                  <a:txBody>
                    <a:bodyPr/>
                    <a:lstStyle/>
                    <a:p>
                      <a:pPr algn="ctr"/>
                      <a:r>
                        <a:rPr lang="en-GB" sz="1400" dirty="0" smtClean="0"/>
                        <a:t>D1</a:t>
                      </a:r>
                      <a:endParaRPr lang="en-SG" sz="1400" b="0" dirty="0"/>
                    </a:p>
                  </a:txBody>
                  <a:tcPr marL="35995" marR="35995" marT="35987" marB="35987">
                    <a:lnL w="12700" cap="flat" cmpd="sng" algn="ctr">
                      <a:solidFill>
                        <a:schemeClr val="tx1"/>
                      </a:solidFill>
                      <a:prstDash val="solid"/>
                      <a:round/>
                      <a:headEnd type="none" w="med" len="med"/>
                      <a:tailEnd type="none" w="med" len="med"/>
                    </a:lnL>
                  </a:tcPr>
                </a:tc>
                <a:tc>
                  <a:txBody>
                    <a:bodyPr/>
                    <a:lstStyle/>
                    <a:p>
                      <a:pPr algn="ctr"/>
                      <a:r>
                        <a:rPr lang="en-GB" sz="1400" dirty="0" smtClean="0"/>
                        <a:t>P-11</a:t>
                      </a:r>
                      <a:endParaRPr lang="en-SG" sz="1400" dirty="0"/>
                    </a:p>
                  </a:txBody>
                  <a:tcPr marL="35995" marR="35995" marT="35987" marB="35987"/>
                </a:tc>
                <a:tc>
                  <a:txBody>
                    <a:bodyPr/>
                    <a:lstStyle/>
                    <a:p>
                      <a:pPr algn="ctr"/>
                      <a:r>
                        <a:rPr lang="en-GB" sz="1400" dirty="0" smtClean="0"/>
                        <a:t>04-Jul</a:t>
                      </a:r>
                      <a:endParaRPr lang="en-SG" sz="1400" dirty="0"/>
                    </a:p>
                  </a:txBody>
                  <a:tcPr marL="35995" marR="35995" marT="35987" marB="35987"/>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Sam</a:t>
                      </a:r>
                      <a:endParaRPr lang="en-SG" sz="1400" dirty="0" smtClean="0"/>
                    </a:p>
                  </a:txBody>
                  <a:tcPr marL="35995" marR="35995" marT="35987" marB="35987">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257595">
                <a:tc>
                  <a:txBody>
                    <a:bodyPr/>
                    <a:lstStyle/>
                    <a:p>
                      <a:pPr algn="ctr"/>
                      <a:r>
                        <a:rPr lang="en-GB" sz="1400" b="0" dirty="0" smtClean="0"/>
                        <a:t>D2</a:t>
                      </a:r>
                      <a:endParaRPr lang="en-SG" sz="1400" b="0" dirty="0"/>
                    </a:p>
                  </a:txBody>
                  <a:tcPr marL="35995" marR="35995" marT="35987" marB="35987">
                    <a:lnL w="12700" cap="flat" cmpd="sng" algn="ctr">
                      <a:solidFill>
                        <a:schemeClr val="tx1"/>
                      </a:solidFill>
                      <a:prstDash val="solid"/>
                      <a:round/>
                      <a:headEnd type="none" w="med" len="med"/>
                      <a:tailEnd type="none" w="med" len="med"/>
                    </a:lnL>
                  </a:tcPr>
                </a:tc>
                <a:tc>
                  <a:txBody>
                    <a:bodyPr/>
                    <a:lstStyle/>
                    <a:p>
                      <a:pPr algn="ctr"/>
                      <a:r>
                        <a:rPr lang="en-GB" sz="1400" dirty="0" smtClean="0"/>
                        <a:t>P-02</a:t>
                      </a:r>
                      <a:endParaRPr lang="en-SG" sz="1400" dirty="0"/>
                    </a:p>
                  </a:txBody>
                  <a:tcPr marL="35995" marR="35995" marT="35987" marB="35987"/>
                </a:tc>
                <a:tc>
                  <a:txBody>
                    <a:bodyPr/>
                    <a:lstStyle/>
                    <a:p>
                      <a:pPr algn="ctr"/>
                      <a:r>
                        <a:rPr lang="en-GB" sz="1400" dirty="0" smtClean="0"/>
                        <a:t>05-Jul</a:t>
                      </a:r>
                      <a:endParaRPr lang="en-SG" sz="1400" dirty="0"/>
                    </a:p>
                  </a:txBody>
                  <a:tcPr marL="35995" marR="35995" marT="35987" marB="35987"/>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Tom</a:t>
                      </a:r>
                      <a:endParaRPr lang="en-SG" sz="1400" dirty="0" smtClean="0"/>
                    </a:p>
                  </a:txBody>
                  <a:tcPr marL="35995" marR="35995" marT="35987" marB="35987">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257595">
                <a:tc>
                  <a:txBody>
                    <a:bodyPr/>
                    <a:lstStyle/>
                    <a:p>
                      <a:pPr algn="ctr"/>
                      <a:r>
                        <a:rPr lang="en-GB" sz="1400" dirty="0" smtClean="0"/>
                        <a:t>D2</a:t>
                      </a:r>
                      <a:endParaRPr lang="en-SG" sz="1400" b="0" dirty="0"/>
                    </a:p>
                  </a:txBody>
                  <a:tcPr marL="35995" marR="35995" marT="35987" marB="35987">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GB" sz="1400" dirty="0" smtClean="0"/>
                        <a:t>P-22</a:t>
                      </a:r>
                      <a:endParaRPr lang="en-SG" sz="1400" dirty="0"/>
                    </a:p>
                  </a:txBody>
                  <a:tcPr marL="35995" marR="35995" marT="35987" marB="35987">
                    <a:lnB w="12700" cap="flat" cmpd="sng" algn="ctr">
                      <a:solidFill>
                        <a:schemeClr val="tx1"/>
                      </a:solidFill>
                      <a:prstDash val="solid"/>
                      <a:round/>
                      <a:headEnd type="none" w="med" len="med"/>
                      <a:tailEnd type="none" w="med" len="med"/>
                    </a:lnB>
                  </a:tcPr>
                </a:tc>
                <a:tc>
                  <a:txBody>
                    <a:bodyPr/>
                    <a:lstStyle/>
                    <a:p>
                      <a:pPr algn="ctr"/>
                      <a:r>
                        <a:rPr lang="en-GB" sz="1400" dirty="0" smtClean="0"/>
                        <a:t>06-Jul</a:t>
                      </a:r>
                      <a:endParaRPr lang="en-SG" sz="1400" dirty="0"/>
                    </a:p>
                  </a:txBody>
                  <a:tcPr marL="35995" marR="35995" marT="35987" marB="35987">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400" dirty="0" smtClean="0"/>
                        <a:t>Tom</a:t>
                      </a:r>
                      <a:endParaRPr lang="en-SG" sz="1400" dirty="0" smtClean="0"/>
                    </a:p>
                  </a:txBody>
                  <a:tcPr marL="35995" marR="35995" marT="35987" marB="35987">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7" name="Text Box 3"/>
          <p:cNvSpPr txBox="1">
            <a:spLocks noChangeArrowheads="1"/>
          </p:cNvSpPr>
          <p:nvPr/>
        </p:nvSpPr>
        <p:spPr bwMode="auto">
          <a:xfrm>
            <a:off x="4310743" y="3807380"/>
            <a:ext cx="878306" cy="249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8800" tIns="27432" rIns="27432" bIns="27432">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1600" b="1" dirty="0">
                <a:ea typeface="Calibri" pitchFamily="34" charset="0"/>
                <a:cs typeface="Calibri" pitchFamily="34" charset="0"/>
              </a:rPr>
              <a:t>DISPATCH</a:t>
            </a:r>
          </a:p>
        </p:txBody>
      </p:sp>
      <p:sp>
        <p:nvSpPr>
          <p:cNvPr id="58" name="Text Box 3"/>
          <p:cNvSpPr txBox="1">
            <a:spLocks noChangeArrowheads="1"/>
          </p:cNvSpPr>
          <p:nvPr/>
        </p:nvSpPr>
        <p:spPr bwMode="auto">
          <a:xfrm>
            <a:off x="8141923" y="5443536"/>
            <a:ext cx="750457" cy="249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8800" tIns="27432" rIns="27432" bIns="27432">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1600" b="1" dirty="0">
                <a:ea typeface="Calibri" pitchFamily="34" charset="0"/>
                <a:cs typeface="Calibri" pitchFamily="34" charset="0"/>
              </a:rPr>
              <a:t>PERSON</a:t>
            </a:r>
          </a:p>
        </p:txBody>
      </p:sp>
      <p:sp>
        <p:nvSpPr>
          <p:cNvPr id="60" name="Text Box 3"/>
          <p:cNvSpPr txBox="1">
            <a:spLocks noChangeArrowheads="1"/>
          </p:cNvSpPr>
          <p:nvPr/>
        </p:nvSpPr>
        <p:spPr bwMode="auto">
          <a:xfrm>
            <a:off x="2883425" y="3489677"/>
            <a:ext cx="2930581"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8800" tIns="27432" rIns="27432" bIns="27432">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2400" b="1" dirty="0" smtClean="0">
                <a:solidFill>
                  <a:srgbClr val="FF0000"/>
                </a:solidFill>
                <a:ea typeface="Calibri" pitchFamily="34" charset="0"/>
                <a:cs typeface="Calibri" pitchFamily="34" charset="0"/>
              </a:rPr>
              <a:t>(AFTER Normalization)</a:t>
            </a:r>
            <a:endParaRPr lang="en-US" altLang="en-US" sz="2400" b="1" dirty="0">
              <a:solidFill>
                <a:srgbClr val="FF0000"/>
              </a:solidFill>
              <a:ea typeface="Calibri" pitchFamily="34" charset="0"/>
              <a:cs typeface="Calibri" pitchFamily="34" charset="0"/>
            </a:endParaRPr>
          </a:p>
        </p:txBody>
      </p:sp>
      <p:sp>
        <p:nvSpPr>
          <p:cNvPr id="19" name="Rectangle 10"/>
          <p:cNvSpPr>
            <a:spLocks noChangeArrowheads="1"/>
          </p:cNvSpPr>
          <p:nvPr/>
        </p:nvSpPr>
        <p:spPr bwMode="auto">
          <a:xfrm>
            <a:off x="3851583" y="928698"/>
            <a:ext cx="1067527" cy="442035"/>
          </a:xfrm>
          <a:prstGeom prst="rect">
            <a:avLst/>
          </a:prstGeom>
          <a:noFill/>
          <a:ln w="9525">
            <a:noFill/>
            <a:miter lim="800000"/>
            <a:headEnd/>
            <a:tailEnd/>
          </a:ln>
        </p:spPr>
        <p:txBody>
          <a:bodyPr wrap="none" lIns="36000" tIns="36000" rIns="36000" bIns="36000">
            <a:spAutoFit/>
          </a:bodyPr>
          <a:lstStyle/>
          <a:p>
            <a:pPr>
              <a:defRPr/>
            </a:pPr>
            <a:r>
              <a:rPr lang="en-US" sz="2400" b="1" dirty="0" smtClean="0">
                <a:solidFill>
                  <a:srgbClr val="FF0000"/>
                </a:solidFill>
                <a:latin typeface="+mn-lt"/>
              </a:rPr>
              <a:t>BEFORE</a:t>
            </a:r>
            <a:endParaRPr lang="en-US" sz="2400" dirty="0">
              <a:solidFill>
                <a:srgbClr val="FF0000"/>
              </a:solidFill>
              <a:latin typeface="+mn-lt"/>
            </a:endParaRPr>
          </a:p>
        </p:txBody>
      </p:sp>
    </p:spTree>
    <p:extLst>
      <p:ext uri="{BB962C8B-B14F-4D97-AF65-F5344CB8AC3E}">
        <p14:creationId xmlns:p14="http://schemas.microsoft.com/office/powerpoint/2010/main" val="413318056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ctrTitle" idx="4294967295"/>
          </p:nvPr>
        </p:nvSpPr>
        <p:spPr>
          <a:xfrm>
            <a:off x="682625" y="228600"/>
            <a:ext cx="5413375" cy="585788"/>
          </a:xfrm>
        </p:spPr>
        <p:txBody>
          <a:bodyPr wrap="none" lIns="36000" tIns="36000" rIns="36000" bIns="36000" anchor="t">
            <a:spAutoFit/>
          </a:bodyPr>
          <a:lstStyle/>
          <a:p>
            <a:pPr algn="l" eaLnBrk="1" hangingPunct="1">
              <a:defRPr/>
            </a:pPr>
            <a:r>
              <a:rPr lang="en-GB" sz="3200" b="1" dirty="0" smtClean="0">
                <a:solidFill>
                  <a:srgbClr val="C00000"/>
                </a:solidFill>
                <a:latin typeface="+mn-lt"/>
              </a:rPr>
              <a:t>When to adopt Normalization?</a:t>
            </a:r>
            <a:endParaRPr lang="en-US" sz="3200" b="1" dirty="0" smtClean="0">
              <a:solidFill>
                <a:srgbClr val="C00000"/>
              </a:solidFill>
              <a:latin typeface="+mn-lt"/>
            </a:endParaRPr>
          </a:p>
        </p:txBody>
      </p:sp>
      <p:sp>
        <p:nvSpPr>
          <p:cNvPr id="7171" name="Rectangle 5"/>
          <p:cNvSpPr>
            <a:spLocks noGrp="1" noChangeArrowheads="1"/>
          </p:cNvSpPr>
          <p:nvPr>
            <p:ph type="subTitle" idx="4294967295"/>
          </p:nvPr>
        </p:nvSpPr>
        <p:spPr>
          <a:xfrm>
            <a:off x="685800" y="1066800"/>
            <a:ext cx="8001000" cy="5334000"/>
          </a:xfrm>
        </p:spPr>
        <p:txBody>
          <a:bodyPr/>
          <a:lstStyle/>
          <a:p>
            <a:pPr eaLnBrk="1" hangingPunct="1">
              <a:buFont typeface="Arial" charset="0"/>
              <a:buNone/>
              <a:defRPr/>
            </a:pPr>
            <a:r>
              <a:rPr lang="en-GB" dirty="0" smtClean="0"/>
              <a:t>Normalization technique is used :</a:t>
            </a:r>
          </a:p>
          <a:p>
            <a:pPr marL="850900" lvl="1" indent="-488950" eaLnBrk="1" hangingPunct="1">
              <a:spcBef>
                <a:spcPts val="600"/>
              </a:spcBef>
              <a:spcAft>
                <a:spcPts val="0"/>
              </a:spcAft>
              <a:buFont typeface="+mj-lt"/>
              <a:buAutoNum type="arabicParenR"/>
              <a:defRPr/>
            </a:pPr>
            <a:r>
              <a:rPr lang="en-GB" dirty="0" smtClean="0"/>
              <a:t>when user is unsure if the </a:t>
            </a:r>
            <a:r>
              <a:rPr lang="en-GB" u="sng" dirty="0" smtClean="0">
                <a:solidFill>
                  <a:srgbClr val="C00000"/>
                </a:solidFill>
              </a:rPr>
              <a:t>ER model</a:t>
            </a:r>
            <a:r>
              <a:rPr lang="en-GB" dirty="0" smtClean="0">
                <a:solidFill>
                  <a:srgbClr val="C00000"/>
                </a:solidFill>
              </a:rPr>
              <a:t> </a:t>
            </a:r>
            <a:r>
              <a:rPr lang="en-GB" dirty="0" smtClean="0"/>
              <a:t>is correct.</a:t>
            </a:r>
          </a:p>
          <a:p>
            <a:pPr marL="1166813" lvl="1" indent="-363538" eaLnBrk="1" hangingPunct="1">
              <a:spcBef>
                <a:spcPts val="0"/>
              </a:spcBef>
              <a:spcAft>
                <a:spcPts val="600"/>
              </a:spcAft>
              <a:buSzPct val="70000"/>
              <a:buFont typeface="Courier New" panose="02070309020205020404" pitchFamily="49" charset="0"/>
              <a:buChar char="o"/>
              <a:defRPr/>
            </a:pPr>
            <a:r>
              <a:rPr lang="en-GB" sz="2400" dirty="0">
                <a:solidFill>
                  <a:srgbClr val="002060"/>
                </a:solidFill>
              </a:rPr>
              <a:t>Used to validate the design of the tables resulting from the ER Modelling.</a:t>
            </a:r>
            <a:endParaRPr lang="en-GB" sz="2400" dirty="0" smtClean="0">
              <a:solidFill>
                <a:srgbClr val="002060"/>
              </a:solidFill>
            </a:endParaRPr>
          </a:p>
          <a:p>
            <a:pPr marL="876300" lvl="1" indent="-514350" eaLnBrk="1" hangingPunct="1">
              <a:spcBef>
                <a:spcPts val="600"/>
              </a:spcBef>
              <a:spcAft>
                <a:spcPts val="0"/>
              </a:spcAft>
              <a:buFont typeface="+mj-lt"/>
              <a:buAutoNum type="arabicParenR" startAt="2"/>
              <a:defRPr/>
            </a:pPr>
            <a:r>
              <a:rPr lang="en-GB" dirty="0" smtClean="0"/>
              <a:t>when</a:t>
            </a:r>
            <a:r>
              <a:rPr lang="en-GB" dirty="0" smtClean="0">
                <a:solidFill>
                  <a:srgbClr val="C00000"/>
                </a:solidFill>
              </a:rPr>
              <a:t> </a:t>
            </a:r>
            <a:r>
              <a:rPr lang="en-GB" u="sng" dirty="0" smtClean="0">
                <a:solidFill>
                  <a:srgbClr val="C00000"/>
                </a:solidFill>
              </a:rPr>
              <a:t>a set of tables is already available</a:t>
            </a:r>
            <a:r>
              <a:rPr lang="en-GB" dirty="0" smtClean="0">
                <a:solidFill>
                  <a:srgbClr val="C00000"/>
                </a:solidFill>
              </a:rPr>
              <a:t> </a:t>
            </a:r>
            <a:r>
              <a:rPr lang="en-GB" dirty="0" smtClean="0"/>
              <a:t>but there has been no time to build an Entity Relationship (ER) model.</a:t>
            </a:r>
          </a:p>
          <a:p>
            <a:pPr marL="1166813" lvl="1" indent="-363538" eaLnBrk="1" hangingPunct="1">
              <a:spcBef>
                <a:spcPts val="0"/>
              </a:spcBef>
              <a:spcAft>
                <a:spcPts val="600"/>
              </a:spcAft>
              <a:buSzPct val="70000"/>
              <a:buFont typeface="Courier New" panose="02070309020205020404" pitchFamily="49" charset="0"/>
              <a:buChar char="o"/>
              <a:defRPr/>
            </a:pPr>
            <a:r>
              <a:rPr lang="en-GB" sz="2400" dirty="0" smtClean="0">
                <a:solidFill>
                  <a:srgbClr val="002060"/>
                </a:solidFill>
              </a:rPr>
              <a:t>Used to validate the design of the existing tables.</a:t>
            </a:r>
          </a:p>
          <a:p>
            <a:pPr marL="876300" lvl="1" indent="-514350" eaLnBrk="1" hangingPunct="1">
              <a:spcBef>
                <a:spcPts val="600"/>
              </a:spcBef>
              <a:spcAft>
                <a:spcPts val="0"/>
              </a:spcAft>
              <a:buFont typeface="+mj-lt"/>
              <a:buAutoNum type="arabicParenR" startAt="3"/>
              <a:defRPr/>
            </a:pPr>
            <a:r>
              <a:rPr lang="en-GB" dirty="0" smtClean="0"/>
              <a:t>If the application of </a:t>
            </a:r>
            <a:r>
              <a:rPr lang="en-GB" u="sng" dirty="0" smtClean="0">
                <a:solidFill>
                  <a:srgbClr val="C00000"/>
                </a:solidFill>
              </a:rPr>
              <a:t>database is simple</a:t>
            </a:r>
            <a:r>
              <a:rPr lang="en-GB" dirty="0" smtClean="0">
                <a:solidFill>
                  <a:srgbClr val="C00000"/>
                </a:solidFill>
              </a:rPr>
              <a:t>.</a:t>
            </a:r>
          </a:p>
          <a:p>
            <a:pPr marL="1146175" lvl="2" indent="-342900" eaLnBrk="1" hangingPunct="1">
              <a:spcBef>
                <a:spcPct val="0"/>
              </a:spcBef>
              <a:buSzPct val="70000"/>
              <a:buFont typeface="Courier New" panose="02070309020205020404" pitchFamily="49" charset="0"/>
              <a:buChar char="o"/>
              <a:defRPr/>
            </a:pPr>
            <a:r>
              <a:rPr lang="en-GB" dirty="0" smtClean="0">
                <a:solidFill>
                  <a:srgbClr val="002060"/>
                </a:solidFill>
              </a:rPr>
              <a:t>Used as a bottom-up approach to design the database for the application.</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ctrTitle" idx="4294967295"/>
          </p:nvPr>
        </p:nvSpPr>
        <p:spPr>
          <a:xfrm>
            <a:off x="685800" y="228600"/>
            <a:ext cx="5483225" cy="584200"/>
          </a:xfrm>
        </p:spPr>
        <p:txBody>
          <a:bodyPr wrap="none" lIns="36000" tIns="36000" rIns="36000" bIns="36000" anchor="t">
            <a:spAutoFit/>
          </a:bodyPr>
          <a:lstStyle/>
          <a:p>
            <a:pPr algn="l" eaLnBrk="1" hangingPunct="1">
              <a:defRPr/>
            </a:pPr>
            <a:r>
              <a:rPr lang="en-GB" sz="3200" b="1" dirty="0" smtClean="0">
                <a:solidFill>
                  <a:srgbClr val="C00000"/>
                </a:solidFill>
                <a:latin typeface="+mn-lt"/>
              </a:rPr>
              <a:t>Normal Forms in Normalization</a:t>
            </a:r>
            <a:endParaRPr lang="en-US" sz="3200" b="1" dirty="0" smtClean="0">
              <a:solidFill>
                <a:srgbClr val="C00000"/>
              </a:solidFill>
              <a:latin typeface="+mn-lt"/>
            </a:endParaRPr>
          </a:p>
        </p:txBody>
      </p:sp>
      <p:sp>
        <p:nvSpPr>
          <p:cNvPr id="25603" name="Rectangle 3"/>
          <p:cNvSpPr>
            <a:spLocks noGrp="1" noChangeArrowheads="1"/>
          </p:cNvSpPr>
          <p:nvPr>
            <p:ph type="subTitle" idx="4294967295"/>
          </p:nvPr>
        </p:nvSpPr>
        <p:spPr>
          <a:xfrm>
            <a:off x="712788" y="1676400"/>
            <a:ext cx="7924800" cy="830997"/>
          </a:xfrm>
        </p:spPr>
        <p:txBody>
          <a:bodyPr lIns="36000" tIns="36000" rIns="36000" bIns="36000">
            <a:spAutoFit/>
          </a:bodyPr>
          <a:lstStyle/>
          <a:p>
            <a:pPr marL="0" indent="0" eaLnBrk="1" hangingPunct="1">
              <a:spcBef>
                <a:spcPts val="600"/>
              </a:spcBef>
              <a:buFont typeface="Arial" charset="0"/>
              <a:buNone/>
            </a:pPr>
            <a:r>
              <a:rPr lang="en-GB" altLang="en-US" sz="2400" dirty="0" smtClean="0"/>
              <a:t>An un-normalized relation can be transformed into many normal forms:</a:t>
            </a:r>
          </a:p>
        </p:txBody>
      </p:sp>
      <p:graphicFrame>
        <p:nvGraphicFramePr>
          <p:cNvPr id="2" name="Diagram 1"/>
          <p:cNvGraphicFramePr/>
          <p:nvPr>
            <p:extLst>
              <p:ext uri="{D42A27DB-BD31-4B8C-83A1-F6EECF244321}">
                <p14:modId xmlns:p14="http://schemas.microsoft.com/office/powerpoint/2010/main" val="3130301466"/>
              </p:ext>
            </p:extLst>
          </p:nvPr>
        </p:nvGraphicFramePr>
        <p:xfrm>
          <a:off x="1143000" y="2108200"/>
          <a:ext cx="5715000" cy="3581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Rectangle 3"/>
          <p:cNvSpPr txBox="1">
            <a:spLocks noChangeArrowheads="1"/>
          </p:cNvSpPr>
          <p:nvPr/>
        </p:nvSpPr>
        <p:spPr bwMode="auto">
          <a:xfrm>
            <a:off x="5791200" y="3479800"/>
            <a:ext cx="33734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6800" rIns="46800">
            <a:spAutoFit/>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eaLnBrk="1" hangingPunct="1">
              <a:spcBef>
                <a:spcPts val="600"/>
              </a:spcBef>
              <a:spcAft>
                <a:spcPts val="1200"/>
              </a:spcAft>
              <a:buFont typeface="Arial" charset="0"/>
              <a:buNone/>
              <a:defRPr/>
            </a:pPr>
            <a:r>
              <a:rPr lang="en-GB" sz="3200" b="1" dirty="0" smtClean="0">
                <a:solidFill>
                  <a:schemeClr val="accent1">
                    <a:lumMod val="50000"/>
                  </a:schemeClr>
                </a:solidFill>
              </a:rPr>
              <a:t>BCNF -&gt; 4NF -&gt; 5NF</a:t>
            </a:r>
          </a:p>
        </p:txBody>
      </p:sp>
      <p:sp>
        <p:nvSpPr>
          <p:cNvPr id="25606" name="Rectangle 3"/>
          <p:cNvSpPr txBox="1">
            <a:spLocks noChangeArrowheads="1"/>
          </p:cNvSpPr>
          <p:nvPr/>
        </p:nvSpPr>
        <p:spPr bwMode="auto">
          <a:xfrm>
            <a:off x="762000" y="5765800"/>
            <a:ext cx="79248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6800" rIns="46800">
            <a:spAutoFit/>
          </a:bodyPr>
          <a:lstStyle>
            <a:lvl1pPr marL="354013" indent="-342900"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SzPct val="70000"/>
              <a:buFont typeface="Wingdings" pitchFamily="2" charset="2"/>
              <a:buChar char="Ø"/>
            </a:pPr>
            <a:r>
              <a:rPr lang="en-GB" altLang="en-US" sz="2000"/>
              <a:t>In general, the IT industry considers normalization to the </a:t>
            </a:r>
            <a:r>
              <a:rPr lang="en-GB" altLang="en-US" sz="2000" u="sng"/>
              <a:t>3NF</a:t>
            </a:r>
            <a:r>
              <a:rPr lang="en-GB" altLang="en-US" sz="2000"/>
              <a:t> an acceptable level to remove redundancy.</a:t>
            </a:r>
          </a:p>
          <a:p>
            <a:pPr eaLnBrk="1" hangingPunct="1">
              <a:spcBef>
                <a:spcPct val="0"/>
              </a:spcBef>
              <a:buSzPct val="70000"/>
              <a:buFont typeface="Wingdings" pitchFamily="2" charset="2"/>
              <a:buChar char="Ø"/>
            </a:pPr>
            <a:r>
              <a:rPr lang="en-GB" altLang="en-US" sz="2000"/>
              <a:t>Normal forms higher than the 3NF deal with more subtle anomalies. </a:t>
            </a:r>
          </a:p>
        </p:txBody>
      </p:sp>
      <p:sp>
        <p:nvSpPr>
          <p:cNvPr id="7" name="Rectangle 6"/>
          <p:cNvSpPr/>
          <p:nvPr/>
        </p:nvSpPr>
        <p:spPr>
          <a:xfrm>
            <a:off x="712788" y="912531"/>
            <a:ext cx="7745412" cy="830997"/>
          </a:xfrm>
          <a:prstGeom prst="rect">
            <a:avLst/>
          </a:prstGeom>
        </p:spPr>
        <p:txBody>
          <a:bodyPr wrap="square" lIns="36000" tIns="36000" rIns="36000" bIns="36000">
            <a:spAutoFit/>
          </a:bodyPr>
          <a:lstStyle/>
          <a:p>
            <a:pPr marL="0" lvl="1" eaLnBrk="1" hangingPunct="1">
              <a:spcBef>
                <a:spcPts val="600"/>
              </a:spcBef>
              <a:spcAft>
                <a:spcPts val="600"/>
              </a:spcAft>
              <a:buSzPct val="70000"/>
            </a:pPr>
            <a:r>
              <a:rPr lang="en-US" altLang="en-US" sz="2400" dirty="0">
                <a:solidFill>
                  <a:srgbClr val="C00000"/>
                </a:solidFill>
                <a:latin typeface="Calibri" panose="020F0502020204030204" pitchFamily="34" charset="0"/>
              </a:rPr>
              <a:t>Normalization of </a:t>
            </a:r>
            <a:r>
              <a:rPr lang="en-US" altLang="en-US" sz="2400" dirty="0" smtClean="0">
                <a:solidFill>
                  <a:srgbClr val="C00000"/>
                </a:solidFill>
                <a:latin typeface="Calibri" panose="020F0502020204030204" pitchFamily="34" charset="0"/>
              </a:rPr>
              <a:t>relations </a:t>
            </a:r>
            <a:r>
              <a:rPr lang="en-US" altLang="en-US" sz="2400" dirty="0">
                <a:solidFill>
                  <a:srgbClr val="C00000"/>
                </a:solidFill>
                <a:latin typeface="Calibri" panose="020F0502020204030204" pitchFamily="34" charset="0"/>
              </a:rPr>
              <a:t>can be achieved through </a:t>
            </a:r>
            <a:r>
              <a:rPr lang="en-US" altLang="en-US" sz="2400" u="sng" dirty="0">
                <a:solidFill>
                  <a:srgbClr val="FF0000"/>
                </a:solidFill>
                <a:latin typeface="Calibri" panose="020F0502020204030204" pitchFamily="34" charset="0"/>
              </a:rPr>
              <a:t>a series rule of Normal Forms</a:t>
            </a:r>
            <a:r>
              <a:rPr lang="en-US" altLang="en-US" sz="2400" dirty="0">
                <a:solidFill>
                  <a:srgbClr val="C00000"/>
                </a:solidFill>
                <a:latin typeface="Calibri" panose="020F0502020204030204" pitchFamily="34" charset="0"/>
              </a:rPr>
              <a:t> (NF).</a:t>
            </a:r>
            <a:endParaRPr lang="en-GB" altLang="en-US" sz="2400" dirty="0">
              <a:solidFill>
                <a:srgbClr val="C00000"/>
              </a:solidFill>
              <a:latin typeface="Calibri" panose="020F0502020204030204"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ctrTitle" idx="4294967295"/>
          </p:nvPr>
        </p:nvSpPr>
        <p:spPr>
          <a:xfrm>
            <a:off x="685800" y="304800"/>
            <a:ext cx="3940175" cy="584200"/>
          </a:xfrm>
        </p:spPr>
        <p:txBody>
          <a:bodyPr wrap="none" lIns="36000" tIns="36000" rIns="36000" bIns="36000" anchor="t">
            <a:spAutoFit/>
          </a:bodyPr>
          <a:lstStyle/>
          <a:p>
            <a:pPr algn="l" eaLnBrk="1" hangingPunct="1">
              <a:defRPr/>
            </a:pPr>
            <a:r>
              <a:rPr lang="en-GB" sz="3200" b="1" dirty="0" smtClean="0">
                <a:solidFill>
                  <a:srgbClr val="C00000"/>
                </a:solidFill>
                <a:latin typeface="+mn-lt"/>
              </a:rPr>
              <a:t>Normalization Process</a:t>
            </a:r>
            <a:endParaRPr lang="en-US" sz="3200" b="1" dirty="0" smtClean="0">
              <a:solidFill>
                <a:srgbClr val="C00000"/>
              </a:solidFill>
              <a:latin typeface="+mn-lt"/>
            </a:endParaRPr>
          </a:p>
        </p:txBody>
      </p:sp>
      <p:sp>
        <p:nvSpPr>
          <p:cNvPr id="4" name="Rectangle 3"/>
          <p:cNvSpPr txBox="1">
            <a:spLocks noChangeArrowheads="1"/>
          </p:cNvSpPr>
          <p:nvPr/>
        </p:nvSpPr>
        <p:spPr>
          <a:xfrm>
            <a:off x="838200" y="1524000"/>
            <a:ext cx="4037013" cy="4530725"/>
          </a:xfrm>
          <a:prstGeom prst="rect">
            <a:avLst/>
          </a:prstGeom>
        </p:spPr>
        <p:txBody>
          <a:bodyPr/>
          <a:lstStyle/>
          <a:p>
            <a:pPr marL="2057400" lvl="4" indent="-228600">
              <a:spcBef>
                <a:spcPct val="20000"/>
              </a:spcBef>
              <a:buFont typeface="Wingdings" pitchFamily="2" charset="2"/>
              <a:buNone/>
              <a:defRPr/>
            </a:pPr>
            <a:endParaRPr lang="en-US" sz="1600">
              <a:latin typeface="+mn-lt"/>
            </a:endParaRPr>
          </a:p>
          <a:p>
            <a:pPr marL="2057400" lvl="4" indent="-228600">
              <a:spcBef>
                <a:spcPct val="20000"/>
              </a:spcBef>
              <a:buFont typeface="Wingdings" pitchFamily="2" charset="2"/>
              <a:buNone/>
              <a:defRPr/>
            </a:pPr>
            <a:endParaRPr lang="en-US" sz="1600">
              <a:latin typeface="+mn-lt"/>
            </a:endParaRPr>
          </a:p>
          <a:p>
            <a:pPr marL="2057400" lvl="4" indent="-228600">
              <a:spcBef>
                <a:spcPct val="20000"/>
              </a:spcBef>
              <a:buFont typeface="Wingdings" pitchFamily="2" charset="2"/>
              <a:buNone/>
              <a:defRPr/>
            </a:pPr>
            <a:r>
              <a:rPr lang="en-US" sz="1600">
                <a:solidFill>
                  <a:schemeClr val="accent1"/>
                </a:solidFill>
                <a:latin typeface="+mn-lt"/>
              </a:rPr>
              <a:t> </a:t>
            </a:r>
          </a:p>
          <a:p>
            <a:pPr marL="342900" indent="-342900">
              <a:spcBef>
                <a:spcPct val="20000"/>
              </a:spcBef>
              <a:buFont typeface="Arial" pitchFamily="34" charset="0"/>
              <a:buChar char="•"/>
              <a:defRPr/>
            </a:pPr>
            <a:endParaRPr lang="en-US" sz="2400">
              <a:solidFill>
                <a:schemeClr val="accent1"/>
              </a:solidFill>
              <a:latin typeface="+mn-lt"/>
            </a:endParaRPr>
          </a:p>
          <a:p>
            <a:pPr marL="742950" lvl="1" indent="-285750">
              <a:spcBef>
                <a:spcPct val="20000"/>
              </a:spcBef>
              <a:buFont typeface="Arial" pitchFamily="34" charset="0"/>
              <a:buChar char="–"/>
              <a:defRPr/>
            </a:pPr>
            <a:endParaRPr lang="en-US" sz="2000">
              <a:latin typeface="+mn-lt"/>
            </a:endParaRPr>
          </a:p>
          <a:p>
            <a:pPr marL="742950" lvl="1" indent="-285750">
              <a:spcBef>
                <a:spcPct val="20000"/>
              </a:spcBef>
              <a:buFont typeface="Wingdings" pitchFamily="2" charset="2"/>
              <a:buNone/>
              <a:defRPr/>
            </a:pPr>
            <a:r>
              <a:rPr lang="en-US" sz="2000">
                <a:solidFill>
                  <a:schemeClr val="accent1"/>
                </a:solidFill>
                <a:latin typeface="+mn-lt"/>
              </a:rPr>
              <a:t>.</a:t>
            </a:r>
          </a:p>
        </p:txBody>
      </p:sp>
      <p:sp>
        <p:nvSpPr>
          <p:cNvPr id="5" name="Text Box 6"/>
          <p:cNvSpPr txBox="1">
            <a:spLocks noChangeArrowheads="1"/>
          </p:cNvSpPr>
          <p:nvPr/>
        </p:nvSpPr>
        <p:spPr bwMode="auto">
          <a:xfrm>
            <a:off x="1066800" y="1143000"/>
            <a:ext cx="2011363" cy="708025"/>
          </a:xfrm>
          <a:prstGeom prst="rect">
            <a:avLst/>
          </a:prstGeom>
          <a:solidFill>
            <a:schemeClr val="tx2">
              <a:lumMod val="20000"/>
              <a:lumOff val="80000"/>
            </a:schemeClr>
          </a:solidFill>
          <a:ln w="9525">
            <a:noFill/>
            <a:miter lim="800000"/>
            <a:headEnd/>
            <a:tailEnd/>
          </a:ln>
        </p:spPr>
        <p:txBody>
          <a:bodyPr lIns="45720" rIns="45720">
            <a:spAutoFit/>
          </a:bodyPr>
          <a:lstStyle/>
          <a:p>
            <a:pPr algn="ctr">
              <a:spcBef>
                <a:spcPts val="0"/>
              </a:spcBef>
              <a:defRPr/>
            </a:pPr>
            <a:r>
              <a:rPr lang="en-GB" sz="2000" dirty="0">
                <a:solidFill>
                  <a:srgbClr val="C00000"/>
                </a:solidFill>
                <a:latin typeface="Calibri" panose="020F0502020204030204" pitchFamily="34" charset="0"/>
              </a:rPr>
              <a:t>Table with</a:t>
            </a:r>
          </a:p>
          <a:p>
            <a:pPr algn="ctr">
              <a:spcBef>
                <a:spcPts val="0"/>
              </a:spcBef>
              <a:defRPr/>
            </a:pPr>
            <a:r>
              <a:rPr lang="en-GB" sz="2000" dirty="0">
                <a:solidFill>
                  <a:srgbClr val="C00000"/>
                </a:solidFill>
                <a:latin typeface="Calibri" panose="020F0502020204030204" pitchFamily="34" charset="0"/>
              </a:rPr>
              <a:t> repeating groups</a:t>
            </a:r>
            <a:endParaRPr lang="en-US" sz="2000" dirty="0">
              <a:solidFill>
                <a:srgbClr val="C00000"/>
              </a:solidFill>
              <a:latin typeface="Calibri" panose="020F0502020204030204" pitchFamily="34" charset="0"/>
            </a:endParaRPr>
          </a:p>
        </p:txBody>
      </p:sp>
      <p:grpSp>
        <p:nvGrpSpPr>
          <p:cNvPr id="10" name="Group 9"/>
          <p:cNvGrpSpPr>
            <a:grpSpLocks/>
          </p:cNvGrpSpPr>
          <p:nvPr/>
        </p:nvGrpSpPr>
        <p:grpSpPr bwMode="auto">
          <a:xfrm>
            <a:off x="1143000" y="1854200"/>
            <a:ext cx="1844675" cy="1187450"/>
            <a:chOff x="1143000" y="2006600"/>
            <a:chExt cx="1844675" cy="1187800"/>
          </a:xfrm>
        </p:grpSpPr>
        <p:sp>
          <p:nvSpPr>
            <p:cNvPr id="6" name="Text Box 11"/>
            <p:cNvSpPr txBox="1">
              <a:spLocks noChangeArrowheads="1"/>
            </p:cNvSpPr>
            <p:nvPr/>
          </p:nvSpPr>
          <p:spPr bwMode="auto">
            <a:xfrm>
              <a:off x="1143000" y="2438400"/>
              <a:ext cx="1844675" cy="756000"/>
            </a:xfrm>
            <a:prstGeom prst="rect">
              <a:avLst/>
            </a:prstGeom>
            <a:solidFill>
              <a:schemeClr val="accent3">
                <a:lumMod val="20000"/>
                <a:lumOff val="80000"/>
              </a:schemeClr>
            </a:solidFill>
            <a:ln w="9525">
              <a:solidFill>
                <a:schemeClr val="accent6">
                  <a:lumMod val="50000"/>
                </a:schemeClr>
              </a:solidFill>
              <a:miter lim="800000"/>
              <a:headEnd/>
              <a:tailEnd/>
            </a:ln>
            <a:effectLst>
              <a:outerShdw blurRad="50800" dist="38100" dir="2700000" algn="tl" rotWithShape="0">
                <a:prstClr val="black">
                  <a:alpha val="40000"/>
                </a:prstClr>
              </a:outerShdw>
            </a:effectLst>
          </p:spPr>
          <p:txBody>
            <a:bodyPr>
              <a:spAutoFit/>
            </a:bodyPr>
            <a:lstStyle/>
            <a:p>
              <a:pPr algn="ctr">
                <a:spcBef>
                  <a:spcPct val="50000"/>
                </a:spcBef>
                <a:defRPr/>
              </a:pPr>
              <a:r>
                <a:rPr lang="en-GB" sz="2400" b="1">
                  <a:ln>
                    <a:solidFill>
                      <a:sysClr val="windowText" lastClr="000000"/>
                    </a:solidFill>
                  </a:ln>
                  <a:solidFill>
                    <a:schemeClr val="accent6">
                      <a:lumMod val="75000"/>
                    </a:schemeClr>
                  </a:solidFill>
                  <a:latin typeface="Calibri" panose="020F0502020204030204" pitchFamily="34" charset="0"/>
                </a:rPr>
                <a:t>1NF</a:t>
              </a:r>
            </a:p>
            <a:p>
              <a:pPr algn="ctr">
                <a:spcBef>
                  <a:spcPct val="50000"/>
                </a:spcBef>
                <a:defRPr/>
              </a:pPr>
              <a:endParaRPr lang="en-US" sz="2400">
                <a:ln>
                  <a:solidFill>
                    <a:sysClr val="windowText" lastClr="000000"/>
                  </a:solidFill>
                </a:ln>
                <a:solidFill>
                  <a:schemeClr val="accent6">
                    <a:lumMod val="75000"/>
                  </a:schemeClr>
                </a:solidFill>
                <a:latin typeface="Calibri" panose="020F0502020204030204" pitchFamily="34" charset="0"/>
              </a:endParaRPr>
            </a:p>
          </p:txBody>
        </p:sp>
        <p:sp>
          <p:nvSpPr>
            <p:cNvPr id="24599" name="AutoShape 16"/>
            <p:cNvSpPr>
              <a:spLocks noChangeArrowheads="1"/>
            </p:cNvSpPr>
            <p:nvPr/>
          </p:nvSpPr>
          <p:spPr bwMode="auto">
            <a:xfrm>
              <a:off x="1905000" y="2006600"/>
              <a:ext cx="228600" cy="431800"/>
            </a:xfrm>
            <a:prstGeom prst="downArrow">
              <a:avLst>
                <a:gd name="adj1" fmla="val 50000"/>
                <a:gd name="adj2" fmla="val 58337"/>
              </a:avLst>
            </a:prstGeom>
            <a:solidFill>
              <a:srgbClr val="00CCFF"/>
            </a:solidFill>
            <a:ln w="9525">
              <a:solidFill>
                <a:schemeClr val="tx1"/>
              </a:solidFill>
              <a:miter lim="800000"/>
              <a:headEnd/>
              <a:tailEnd/>
            </a:ln>
          </p:spPr>
          <p:txBody>
            <a:bodyPr wrap="none"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en-US" altLang="en-US" sz="1800">
                <a:latin typeface="Arial" charset="0"/>
              </a:endParaRPr>
            </a:p>
          </p:txBody>
        </p:sp>
      </p:grpSp>
      <p:grpSp>
        <p:nvGrpSpPr>
          <p:cNvPr id="12" name="Group 11"/>
          <p:cNvGrpSpPr>
            <a:grpSpLocks/>
          </p:cNvGrpSpPr>
          <p:nvPr/>
        </p:nvGrpSpPr>
        <p:grpSpPr bwMode="auto">
          <a:xfrm>
            <a:off x="2987675" y="2492375"/>
            <a:ext cx="4927600" cy="936625"/>
            <a:chOff x="2987674" y="2644775"/>
            <a:chExt cx="4927601" cy="936625"/>
          </a:xfrm>
        </p:grpSpPr>
        <p:sp>
          <p:nvSpPr>
            <p:cNvPr id="11" name="Oval 7"/>
            <p:cNvSpPr>
              <a:spLocks noChangeArrowheads="1"/>
            </p:cNvSpPr>
            <p:nvPr/>
          </p:nvSpPr>
          <p:spPr bwMode="auto">
            <a:xfrm>
              <a:off x="5251449" y="2644775"/>
              <a:ext cx="2663826" cy="936625"/>
            </a:xfrm>
            <a:prstGeom prst="ellipse">
              <a:avLst/>
            </a:prstGeom>
            <a:solidFill>
              <a:schemeClr val="accent2">
                <a:lumMod val="40000"/>
                <a:lumOff val="60000"/>
              </a:schemeClr>
            </a:solidFill>
            <a:ln w="9525">
              <a:solidFill>
                <a:schemeClr val="tx1"/>
              </a:solidFill>
              <a:round/>
              <a:headEnd/>
              <a:tailEnd/>
            </a:ln>
          </p:spPr>
          <p:txBody>
            <a:bodyPr wrap="none" lIns="182880" tIns="73152" bIns="27432" anchor="ctr"/>
            <a:lstStyle/>
            <a:p>
              <a:pPr algn="ctr">
                <a:spcBef>
                  <a:spcPts val="0"/>
                </a:spcBef>
                <a:defRPr/>
              </a:pPr>
              <a:r>
                <a:rPr lang="en-GB" sz="2000" dirty="0">
                  <a:solidFill>
                    <a:srgbClr val="C00000"/>
                  </a:solidFill>
                  <a:latin typeface="Calibri" panose="020F0502020204030204" pitchFamily="34" charset="0"/>
                </a:rPr>
                <a:t>Remove repeating </a:t>
              </a:r>
            </a:p>
            <a:p>
              <a:pPr algn="ctr">
                <a:spcBef>
                  <a:spcPts val="0"/>
                </a:spcBef>
                <a:defRPr/>
              </a:pPr>
              <a:r>
                <a:rPr lang="en-GB" sz="2000" dirty="0">
                  <a:solidFill>
                    <a:srgbClr val="C00000"/>
                  </a:solidFill>
                  <a:latin typeface="Calibri" panose="020F0502020204030204" pitchFamily="34" charset="0"/>
                </a:rPr>
                <a:t>groups</a:t>
              </a:r>
              <a:endParaRPr lang="en-US" sz="2000" dirty="0">
                <a:solidFill>
                  <a:srgbClr val="C00000"/>
                </a:solidFill>
                <a:latin typeface="Calibri" panose="020F0502020204030204" pitchFamily="34" charset="0"/>
              </a:endParaRPr>
            </a:p>
          </p:txBody>
        </p:sp>
        <p:sp>
          <p:nvSpPr>
            <p:cNvPr id="24597" name="Line 19"/>
            <p:cNvSpPr>
              <a:spLocks noChangeShapeType="1"/>
            </p:cNvSpPr>
            <p:nvPr/>
          </p:nvSpPr>
          <p:spPr bwMode="auto">
            <a:xfrm flipV="1">
              <a:off x="2987674" y="3101975"/>
              <a:ext cx="2278063" cy="1111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SG"/>
            </a:p>
          </p:txBody>
        </p:sp>
      </p:grpSp>
      <p:grpSp>
        <p:nvGrpSpPr>
          <p:cNvPr id="13" name="Group 12"/>
          <p:cNvGrpSpPr>
            <a:grpSpLocks/>
          </p:cNvGrpSpPr>
          <p:nvPr/>
        </p:nvGrpSpPr>
        <p:grpSpPr bwMode="auto">
          <a:xfrm>
            <a:off x="1143000" y="3097213"/>
            <a:ext cx="1844675" cy="1319212"/>
            <a:chOff x="1143000" y="3249304"/>
            <a:chExt cx="1844675" cy="1320152"/>
          </a:xfrm>
        </p:grpSpPr>
        <p:sp>
          <p:nvSpPr>
            <p:cNvPr id="7" name="Text Box 12"/>
            <p:cNvSpPr txBox="1">
              <a:spLocks noChangeArrowheads="1"/>
            </p:cNvSpPr>
            <p:nvPr/>
          </p:nvSpPr>
          <p:spPr bwMode="auto">
            <a:xfrm>
              <a:off x="1143000" y="3921294"/>
              <a:ext cx="1844675" cy="648162"/>
            </a:xfrm>
            <a:prstGeom prst="rect">
              <a:avLst/>
            </a:prstGeom>
            <a:solidFill>
              <a:schemeClr val="accent3">
                <a:lumMod val="40000"/>
                <a:lumOff val="60000"/>
              </a:schemeClr>
            </a:solidFill>
            <a:ln w="9525">
              <a:solidFill>
                <a:schemeClr val="accent6">
                  <a:lumMod val="50000"/>
                </a:schemeClr>
              </a:solidFill>
              <a:miter lim="800000"/>
              <a:headEnd/>
              <a:tailEnd/>
            </a:ln>
            <a:effectLst>
              <a:outerShdw blurRad="50800" dist="38100" algn="l" rotWithShape="0">
                <a:prstClr val="black">
                  <a:alpha val="40000"/>
                </a:prstClr>
              </a:outerShdw>
            </a:effectLst>
          </p:spPr>
          <p:txBody>
            <a:bodyPr>
              <a:spAutoFit/>
            </a:bodyPr>
            <a:lstStyle/>
            <a:p>
              <a:pPr algn="ctr">
                <a:spcBef>
                  <a:spcPct val="50000"/>
                </a:spcBef>
                <a:defRPr/>
              </a:pPr>
              <a:r>
                <a:rPr lang="en-GB" sz="2400" b="1" dirty="0">
                  <a:solidFill>
                    <a:srgbClr val="002060"/>
                  </a:solidFill>
                  <a:latin typeface="Calibri" panose="020F0502020204030204" pitchFamily="34" charset="0"/>
                </a:rPr>
                <a:t>2NF</a:t>
              </a:r>
            </a:p>
            <a:p>
              <a:pPr algn="ctr">
                <a:spcBef>
                  <a:spcPct val="50000"/>
                </a:spcBef>
                <a:defRPr/>
              </a:pPr>
              <a:endParaRPr lang="en-US" sz="2400" dirty="0">
                <a:solidFill>
                  <a:schemeClr val="bg1"/>
                </a:solidFill>
                <a:latin typeface="Calibri" panose="020F0502020204030204" pitchFamily="34" charset="0"/>
              </a:endParaRPr>
            </a:p>
          </p:txBody>
        </p:sp>
        <p:sp>
          <p:nvSpPr>
            <p:cNvPr id="24595" name="AutoShape 17"/>
            <p:cNvSpPr>
              <a:spLocks noChangeArrowheads="1"/>
            </p:cNvSpPr>
            <p:nvPr/>
          </p:nvSpPr>
          <p:spPr bwMode="auto">
            <a:xfrm>
              <a:off x="1905000" y="3249304"/>
              <a:ext cx="246659" cy="647700"/>
            </a:xfrm>
            <a:prstGeom prst="downArrow">
              <a:avLst>
                <a:gd name="adj1" fmla="val 50000"/>
                <a:gd name="adj2" fmla="val 58341"/>
              </a:avLst>
            </a:prstGeom>
            <a:solidFill>
              <a:srgbClr val="00CCFF"/>
            </a:solidFill>
            <a:ln w="9525">
              <a:solidFill>
                <a:schemeClr val="tx1"/>
              </a:solidFill>
              <a:miter lim="800000"/>
              <a:headEnd/>
              <a:tailEnd/>
            </a:ln>
          </p:spPr>
          <p:txBody>
            <a:bodyPr wrap="none"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en-US" altLang="en-US" sz="1800">
                <a:latin typeface="Arial" charset="0"/>
              </a:endParaRPr>
            </a:p>
          </p:txBody>
        </p:sp>
      </p:grpSp>
      <p:grpSp>
        <p:nvGrpSpPr>
          <p:cNvPr id="14" name="Group 13"/>
          <p:cNvGrpSpPr>
            <a:grpSpLocks/>
          </p:cNvGrpSpPr>
          <p:nvPr/>
        </p:nvGrpSpPr>
        <p:grpSpPr bwMode="auto">
          <a:xfrm>
            <a:off x="2987675" y="3863975"/>
            <a:ext cx="4968875" cy="936625"/>
            <a:chOff x="2987560" y="4016375"/>
            <a:chExt cx="4969156" cy="936625"/>
          </a:xfrm>
        </p:grpSpPr>
        <p:sp>
          <p:nvSpPr>
            <p:cNvPr id="15" name="Oval 9"/>
            <p:cNvSpPr>
              <a:spLocks noChangeArrowheads="1"/>
            </p:cNvSpPr>
            <p:nvPr/>
          </p:nvSpPr>
          <p:spPr bwMode="auto">
            <a:xfrm>
              <a:off x="5292740" y="4016375"/>
              <a:ext cx="2663976" cy="936625"/>
            </a:xfrm>
            <a:prstGeom prst="ellipse">
              <a:avLst/>
            </a:prstGeom>
            <a:solidFill>
              <a:schemeClr val="accent6">
                <a:lumMod val="60000"/>
                <a:lumOff val="40000"/>
              </a:schemeClr>
            </a:solidFill>
            <a:ln w="9525">
              <a:solidFill>
                <a:schemeClr val="tx1"/>
              </a:solidFill>
              <a:round/>
              <a:headEnd/>
              <a:tailEnd/>
            </a:ln>
          </p:spPr>
          <p:txBody>
            <a:bodyPr wrap="none" anchor="ctr"/>
            <a:lstStyle/>
            <a:p>
              <a:pPr algn="ctr">
                <a:spcBef>
                  <a:spcPts val="0"/>
                </a:spcBef>
                <a:defRPr/>
              </a:pPr>
              <a:r>
                <a:rPr lang="en-GB" sz="2000" dirty="0">
                  <a:solidFill>
                    <a:srgbClr val="C00000"/>
                  </a:solidFill>
                  <a:latin typeface="Calibri" panose="020F0502020204030204" pitchFamily="34" charset="0"/>
                </a:rPr>
                <a:t>Handle functional </a:t>
              </a:r>
            </a:p>
            <a:p>
              <a:pPr algn="ctr">
                <a:spcBef>
                  <a:spcPts val="0"/>
                </a:spcBef>
                <a:defRPr/>
              </a:pPr>
              <a:r>
                <a:rPr lang="en-GB" sz="2000" dirty="0">
                  <a:solidFill>
                    <a:srgbClr val="C00000"/>
                  </a:solidFill>
                  <a:latin typeface="Calibri" panose="020F0502020204030204" pitchFamily="34" charset="0"/>
                </a:rPr>
                <a:t>dependencies</a:t>
              </a:r>
              <a:endParaRPr lang="en-US" sz="2000" dirty="0">
                <a:solidFill>
                  <a:srgbClr val="C00000"/>
                </a:solidFill>
                <a:latin typeface="Calibri" panose="020F0502020204030204" pitchFamily="34" charset="0"/>
              </a:endParaRPr>
            </a:p>
          </p:txBody>
        </p:sp>
        <p:sp>
          <p:nvSpPr>
            <p:cNvPr id="24593" name="Line 20"/>
            <p:cNvSpPr>
              <a:spLocks noChangeShapeType="1"/>
            </p:cNvSpPr>
            <p:nvPr/>
          </p:nvSpPr>
          <p:spPr bwMode="auto">
            <a:xfrm>
              <a:off x="2987560" y="4456113"/>
              <a:ext cx="2304000" cy="174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SG"/>
            </a:p>
          </p:txBody>
        </p:sp>
      </p:grpSp>
      <p:grpSp>
        <p:nvGrpSpPr>
          <p:cNvPr id="16" name="Group 15"/>
          <p:cNvGrpSpPr>
            <a:grpSpLocks/>
          </p:cNvGrpSpPr>
          <p:nvPr/>
        </p:nvGrpSpPr>
        <p:grpSpPr bwMode="auto">
          <a:xfrm>
            <a:off x="1143000" y="4419600"/>
            <a:ext cx="1844675" cy="1109663"/>
            <a:chOff x="1143000" y="4572000"/>
            <a:chExt cx="1844675" cy="1109400"/>
          </a:xfrm>
        </p:grpSpPr>
        <p:sp>
          <p:nvSpPr>
            <p:cNvPr id="8" name="Text Box 13"/>
            <p:cNvSpPr txBox="1">
              <a:spLocks noChangeArrowheads="1"/>
            </p:cNvSpPr>
            <p:nvPr/>
          </p:nvSpPr>
          <p:spPr bwMode="auto">
            <a:xfrm>
              <a:off x="1143000" y="5105274"/>
              <a:ext cx="1844675" cy="576126"/>
            </a:xfrm>
            <a:prstGeom prst="rect">
              <a:avLst/>
            </a:prstGeom>
            <a:solidFill>
              <a:schemeClr val="accent3">
                <a:lumMod val="75000"/>
              </a:schemeClr>
            </a:solidFill>
            <a:ln w="9525">
              <a:solidFill>
                <a:schemeClr val="accent6">
                  <a:lumMod val="50000"/>
                </a:schemeClr>
              </a:solidFill>
              <a:miter lim="800000"/>
              <a:headEnd/>
              <a:tailEnd/>
            </a:ln>
            <a:effectLst>
              <a:outerShdw blurRad="50800" dist="38100" dir="2700000" algn="tl" rotWithShape="0">
                <a:prstClr val="black">
                  <a:alpha val="40000"/>
                </a:prstClr>
              </a:outerShdw>
            </a:effectLst>
          </p:spPr>
          <p:txBody>
            <a:bodyPr>
              <a:spAutoFit/>
            </a:bodyPr>
            <a:lstStyle/>
            <a:p>
              <a:pPr algn="ctr">
                <a:spcBef>
                  <a:spcPct val="50000"/>
                </a:spcBef>
                <a:defRPr/>
              </a:pPr>
              <a:r>
                <a:rPr lang="en-GB" sz="2400" b="1">
                  <a:solidFill>
                    <a:srgbClr val="002060"/>
                  </a:solidFill>
                  <a:latin typeface="Calibri" panose="020F0502020204030204" pitchFamily="34" charset="0"/>
                </a:rPr>
                <a:t>3NF</a:t>
              </a:r>
            </a:p>
            <a:p>
              <a:pPr algn="ctr">
                <a:spcBef>
                  <a:spcPct val="50000"/>
                </a:spcBef>
                <a:defRPr/>
              </a:pPr>
              <a:endParaRPr lang="en-US" sz="2400">
                <a:solidFill>
                  <a:schemeClr val="bg1"/>
                </a:solidFill>
                <a:latin typeface="Calibri" panose="020F0502020204030204" pitchFamily="34" charset="0"/>
              </a:endParaRPr>
            </a:p>
          </p:txBody>
        </p:sp>
        <p:sp>
          <p:nvSpPr>
            <p:cNvPr id="24591" name="AutoShape 18"/>
            <p:cNvSpPr>
              <a:spLocks noChangeArrowheads="1"/>
            </p:cNvSpPr>
            <p:nvPr/>
          </p:nvSpPr>
          <p:spPr bwMode="auto">
            <a:xfrm>
              <a:off x="1905000" y="4572000"/>
              <a:ext cx="228600" cy="576263"/>
            </a:xfrm>
            <a:prstGeom prst="downArrow">
              <a:avLst>
                <a:gd name="adj1" fmla="val 50000"/>
                <a:gd name="adj2" fmla="val 58341"/>
              </a:avLst>
            </a:prstGeom>
            <a:solidFill>
              <a:srgbClr val="00CCFF"/>
            </a:solidFill>
            <a:ln w="9525">
              <a:solidFill>
                <a:schemeClr val="tx1"/>
              </a:solidFill>
              <a:miter lim="800000"/>
              <a:headEnd/>
              <a:tailEnd/>
            </a:ln>
          </p:spPr>
          <p:txBody>
            <a:bodyPr wrap="none"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en-US" altLang="en-US" sz="1800">
                <a:latin typeface="Arial" charset="0"/>
              </a:endParaRPr>
            </a:p>
          </p:txBody>
        </p:sp>
      </p:grpSp>
      <p:grpSp>
        <p:nvGrpSpPr>
          <p:cNvPr id="17" name="Group 16"/>
          <p:cNvGrpSpPr>
            <a:grpSpLocks/>
          </p:cNvGrpSpPr>
          <p:nvPr/>
        </p:nvGrpSpPr>
        <p:grpSpPr bwMode="auto">
          <a:xfrm>
            <a:off x="2855913" y="4953000"/>
            <a:ext cx="5065712" cy="936625"/>
            <a:chOff x="2855913" y="5105400"/>
            <a:chExt cx="5065712" cy="936625"/>
          </a:xfrm>
        </p:grpSpPr>
        <p:sp>
          <p:nvSpPr>
            <p:cNvPr id="19" name="Oval 10"/>
            <p:cNvSpPr>
              <a:spLocks noChangeArrowheads="1"/>
            </p:cNvSpPr>
            <p:nvPr/>
          </p:nvSpPr>
          <p:spPr bwMode="auto">
            <a:xfrm>
              <a:off x="5257800" y="5105400"/>
              <a:ext cx="2663825" cy="936625"/>
            </a:xfrm>
            <a:prstGeom prst="ellipse">
              <a:avLst/>
            </a:prstGeom>
            <a:solidFill>
              <a:schemeClr val="accent5">
                <a:lumMod val="60000"/>
                <a:lumOff val="40000"/>
              </a:schemeClr>
            </a:solidFill>
            <a:ln w="9525">
              <a:solidFill>
                <a:schemeClr val="tx1"/>
              </a:solidFill>
              <a:round/>
              <a:headEnd/>
              <a:tailEnd/>
            </a:ln>
          </p:spPr>
          <p:txBody>
            <a:bodyPr wrap="none" anchor="ctr"/>
            <a:lstStyle/>
            <a:p>
              <a:pPr algn="ctr">
                <a:spcBef>
                  <a:spcPts val="0"/>
                </a:spcBef>
                <a:defRPr/>
              </a:pPr>
              <a:r>
                <a:rPr lang="en-GB" sz="2000" dirty="0">
                  <a:solidFill>
                    <a:srgbClr val="C00000"/>
                  </a:solidFill>
                  <a:latin typeface="Calibri" panose="020F0502020204030204" pitchFamily="34" charset="0"/>
                </a:rPr>
                <a:t>Handle transitive</a:t>
              </a:r>
            </a:p>
            <a:p>
              <a:pPr algn="ctr">
                <a:spcBef>
                  <a:spcPts val="0"/>
                </a:spcBef>
                <a:defRPr/>
              </a:pPr>
              <a:r>
                <a:rPr lang="en-GB" sz="2000" dirty="0">
                  <a:solidFill>
                    <a:srgbClr val="C00000"/>
                  </a:solidFill>
                  <a:latin typeface="Calibri" panose="020F0502020204030204" pitchFamily="34" charset="0"/>
                </a:rPr>
                <a:t>dependencies</a:t>
              </a:r>
              <a:endParaRPr lang="en-US" sz="2000" dirty="0">
                <a:solidFill>
                  <a:srgbClr val="C00000"/>
                </a:solidFill>
                <a:latin typeface="Calibri" panose="020F0502020204030204" pitchFamily="34" charset="0"/>
              </a:endParaRPr>
            </a:p>
          </p:txBody>
        </p:sp>
        <p:sp>
          <p:nvSpPr>
            <p:cNvPr id="24589" name="Line 21"/>
            <p:cNvSpPr>
              <a:spLocks noChangeShapeType="1"/>
            </p:cNvSpPr>
            <p:nvPr/>
          </p:nvSpPr>
          <p:spPr bwMode="auto">
            <a:xfrm>
              <a:off x="2855913" y="5573713"/>
              <a:ext cx="2412000" cy="158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SG"/>
            </a:p>
          </p:txBody>
        </p:sp>
      </p:grpSp>
      <p:sp>
        <p:nvSpPr>
          <p:cNvPr id="20" name="Rectangle 19"/>
          <p:cNvSpPr>
            <a:spLocks noChangeArrowheads="1"/>
          </p:cNvSpPr>
          <p:nvPr/>
        </p:nvSpPr>
        <p:spPr bwMode="auto">
          <a:xfrm>
            <a:off x="1119188" y="5940425"/>
            <a:ext cx="7415212" cy="91757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3152" tIns="27432" rIns="27432" bIns="27432">
            <a:spAutoFit/>
          </a:bodyPr>
          <a:lstStyle>
            <a:lvl1pPr eaLnBrk="0" hangingPunct="0">
              <a:spcBef>
                <a:spcPct val="20000"/>
              </a:spcBef>
              <a:buFont typeface="Arial" charset="0"/>
              <a:buChar char="•"/>
              <a:defRPr sz="3200">
                <a:solidFill>
                  <a:schemeClr val="tx1"/>
                </a:solidFill>
                <a:latin typeface="Calibri" pitchFamily="34" charset="0"/>
              </a:defRPr>
            </a:lvl1pPr>
            <a:lvl2pPr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GB" altLang="en-US" sz="2000" b="1" dirty="0"/>
              <a:t>Normal Forms</a:t>
            </a:r>
          </a:p>
          <a:p>
            <a:pPr marL="0" lvl="1" eaLnBrk="1" hangingPunct="1">
              <a:spcBef>
                <a:spcPct val="0"/>
              </a:spcBef>
              <a:buFontTx/>
              <a:buNone/>
            </a:pPr>
            <a:r>
              <a:rPr lang="en-GB" altLang="en-US" sz="1800" dirty="0"/>
              <a:t>Normalization consists of </a:t>
            </a:r>
            <a:r>
              <a:rPr lang="en-GB" altLang="en-US" sz="1800" b="1" dirty="0">
                <a:solidFill>
                  <a:srgbClr val="953735"/>
                </a:solidFill>
              </a:rPr>
              <a:t>a series of rules</a:t>
            </a:r>
            <a:r>
              <a:rPr lang="en-GB" altLang="en-US" sz="1800" dirty="0">
                <a:solidFill>
                  <a:srgbClr val="953735"/>
                </a:solidFill>
              </a:rPr>
              <a:t> </a:t>
            </a:r>
            <a:r>
              <a:rPr lang="en-GB" altLang="en-US" sz="1800" dirty="0"/>
              <a:t>that must be </a:t>
            </a:r>
            <a:r>
              <a:rPr lang="en-GB" altLang="en-US" sz="1800" b="1" dirty="0">
                <a:solidFill>
                  <a:srgbClr val="953735"/>
                </a:solidFill>
              </a:rPr>
              <a:t>applied in steps</a:t>
            </a:r>
            <a:r>
              <a:rPr lang="en-GB" altLang="en-US" sz="1800" dirty="0"/>
              <a:t> to reach a “</a:t>
            </a:r>
            <a:r>
              <a:rPr lang="en-GB" altLang="en-US" sz="1800" dirty="0">
                <a:solidFill>
                  <a:srgbClr val="953735"/>
                </a:solidFill>
              </a:rPr>
              <a:t>higher” level of normalization</a:t>
            </a:r>
            <a:r>
              <a:rPr lang="en-GB" altLang="en-US" sz="1800" dirty="0"/>
              <a:t>.  These levels are called </a:t>
            </a:r>
            <a:r>
              <a:rPr lang="en-GB" altLang="en-US" sz="1800" dirty="0">
                <a:solidFill>
                  <a:srgbClr val="953735"/>
                </a:solidFill>
              </a:rPr>
              <a:t>normal forms</a:t>
            </a:r>
            <a:r>
              <a:rPr lang="en-GB" altLang="en-US" sz="1800" dirty="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1000"/>
                                        <p:tgtEl>
                                          <p:spTgt spid="10"/>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1000"/>
                                        <p:tgtEl>
                                          <p:spTgt spid="1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up)">
                                      <p:cBhvr>
                                        <p:cTn id="16" dur="1000"/>
                                        <p:tgtEl>
                                          <p:spTgt spid="13"/>
                                        </p:tgtEl>
                                      </p:cBhvr>
                                    </p:animEffect>
                                  </p:childTnLst>
                                </p:cTn>
                              </p:par>
                            </p:childTnLst>
                          </p:cTn>
                        </p:par>
                        <p:par>
                          <p:cTn id="17" fill="hold" nodeType="afterGroup">
                            <p:stCondLst>
                              <p:cond delay="1000"/>
                            </p:stCondLst>
                            <p:childTnLst>
                              <p:par>
                                <p:cTn id="18" presetID="22" presetClass="entr" presetSubtype="8" fill="hold" nodeType="after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left)">
                                      <p:cBhvr>
                                        <p:cTn id="20" dur="1000"/>
                                        <p:tgtEl>
                                          <p:spTgt spid="1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up)">
                                      <p:cBhvr>
                                        <p:cTn id="25" dur="1000"/>
                                        <p:tgtEl>
                                          <p:spTgt spid="16"/>
                                        </p:tgtEl>
                                      </p:cBhvr>
                                    </p:animEffect>
                                  </p:childTnLst>
                                </p:cTn>
                              </p:par>
                            </p:childTnLst>
                          </p:cTn>
                        </p:par>
                        <p:par>
                          <p:cTn id="26" fill="hold" nodeType="afterGroup">
                            <p:stCondLst>
                              <p:cond delay="1000"/>
                            </p:stCondLst>
                            <p:childTnLst>
                              <p:par>
                                <p:cTn id="27" presetID="22" presetClass="entr" presetSubtype="8" fill="hold" nodeType="after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wipe(left)">
                                      <p:cBhvr>
                                        <p:cTn id="29" dur="1000"/>
                                        <p:tgtEl>
                                          <p:spTgt spid="17"/>
                                        </p:tgtEl>
                                      </p:cBhvr>
                                    </p:animEffect>
                                  </p:childTnLst>
                                </p:cTn>
                              </p:par>
                            </p:childTnLst>
                          </p:cTn>
                        </p:par>
                        <p:par>
                          <p:cTn id="30" fill="hold" nodeType="afterGroup">
                            <p:stCondLst>
                              <p:cond delay="2000"/>
                            </p:stCondLst>
                            <p:childTnLst>
                              <p:par>
                                <p:cTn id="31" presetID="22" presetClass="entr" presetSubtype="8" fill="hold" grpId="0" nodeType="afterEffect">
                                  <p:stCondLst>
                                    <p:cond delay="500"/>
                                  </p:stCondLst>
                                  <p:childTnLst>
                                    <p:set>
                                      <p:cBhvr>
                                        <p:cTn id="32" dur="1" fill="hold">
                                          <p:stCondLst>
                                            <p:cond delay="0"/>
                                          </p:stCondLst>
                                        </p:cTn>
                                        <p:tgtEl>
                                          <p:spTgt spid="20"/>
                                        </p:tgtEl>
                                        <p:attrNameLst>
                                          <p:attrName>style.visibility</p:attrName>
                                        </p:attrNameLst>
                                      </p:cBhvr>
                                      <p:to>
                                        <p:strVal val="visible"/>
                                      </p:to>
                                    </p:set>
                                    <p:animEffect transition="in" filter="wipe(left)">
                                      <p:cBhvr>
                                        <p:cTn id="33"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26626" name="Title 1"/>
          <p:cNvSpPr>
            <a:spLocks noGrp="1"/>
          </p:cNvSpPr>
          <p:nvPr>
            <p:ph type="ctrTitle" idx="4294967295"/>
          </p:nvPr>
        </p:nvSpPr>
        <p:spPr>
          <a:xfrm>
            <a:off x="685800" y="228600"/>
            <a:ext cx="4075209" cy="565146"/>
          </a:xfrm>
        </p:spPr>
        <p:txBody>
          <a:bodyPr wrap="none" lIns="36000" tIns="36000" rIns="36000" bIns="36000" anchor="t">
            <a:spAutoFit/>
          </a:bodyPr>
          <a:lstStyle/>
          <a:p>
            <a:pPr algn="l" eaLnBrk="1" hangingPunct="1">
              <a:defRPr/>
            </a:pPr>
            <a:r>
              <a:rPr lang="en-GB" sz="3200" b="1" dirty="0">
                <a:solidFill>
                  <a:srgbClr val="C00000"/>
                </a:solidFill>
                <a:latin typeface="+mn-lt"/>
              </a:rPr>
              <a:t>First Normal Form(1NF)</a:t>
            </a:r>
            <a:endParaRPr lang="en-US" sz="3200" b="1" dirty="0">
              <a:solidFill>
                <a:srgbClr val="C00000"/>
              </a:solidFill>
              <a:latin typeface="+mn-lt"/>
            </a:endParaRPr>
          </a:p>
        </p:txBody>
      </p:sp>
      <p:sp>
        <p:nvSpPr>
          <p:cNvPr id="26627" name="Rectangle 463"/>
          <p:cNvSpPr txBox="1">
            <a:spLocks noChangeArrowheads="1"/>
          </p:cNvSpPr>
          <p:nvPr/>
        </p:nvSpPr>
        <p:spPr bwMode="auto">
          <a:xfrm>
            <a:off x="673100" y="959769"/>
            <a:ext cx="7775575" cy="1144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288" tIns="18288" rIns="18288" bIns="18288">
            <a:spAutoFit/>
          </a:bodyPr>
          <a:lstStyle>
            <a:lvl1pPr marL="355600" indent="-355600"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Tx/>
              <a:buSzTx/>
              <a:buFont typeface="Arial" charset="0"/>
              <a:buNone/>
              <a:tabLst/>
              <a:defRPr/>
            </a:pPr>
            <a:r>
              <a:rPr kumimoji="0" lang="en-US" altLang="en-US" sz="2400" b="0" i="0" u="none" strike="noStrike" kern="1200" cap="none" spc="0" normalizeH="0" baseline="0" noProof="0" dirty="0" smtClean="0">
                <a:ln>
                  <a:noFill/>
                </a:ln>
                <a:solidFill>
                  <a:prstClr val="black"/>
                </a:solidFill>
                <a:effectLst/>
                <a:uLnTx/>
                <a:uFillTx/>
                <a:latin typeface="Calibri" pitchFamily="34" charset="0"/>
                <a:ea typeface="+mn-ea"/>
                <a:cs typeface="+mn-cs"/>
              </a:rPr>
              <a:t>A </a:t>
            </a:r>
            <a:r>
              <a:rPr kumimoji="0" lang="en-US" altLang="en-US" sz="2400" b="0" i="0" u="none" strike="noStrike" kern="1200" cap="none" spc="0" normalizeH="0" baseline="0" noProof="0" dirty="0">
                <a:ln>
                  <a:noFill/>
                </a:ln>
                <a:solidFill>
                  <a:prstClr val="black"/>
                </a:solidFill>
                <a:effectLst/>
                <a:uLnTx/>
                <a:uFillTx/>
                <a:latin typeface="Calibri" pitchFamily="34" charset="0"/>
                <a:ea typeface="+mn-ea"/>
                <a:cs typeface="+mn-cs"/>
              </a:rPr>
              <a:t>repeating group is an </a:t>
            </a:r>
            <a:r>
              <a:rPr kumimoji="0" lang="en-US" altLang="en-US" sz="2400" b="0" i="0" u="sng" strike="noStrike" kern="1200" cap="none" spc="0" normalizeH="0" baseline="0" noProof="0" dirty="0">
                <a:ln>
                  <a:noFill/>
                </a:ln>
                <a:solidFill>
                  <a:prstClr val="black"/>
                </a:solidFill>
                <a:effectLst/>
                <a:uLnTx/>
                <a:uFillTx/>
                <a:latin typeface="Calibri" pitchFamily="34" charset="0"/>
                <a:ea typeface="+mn-ea"/>
                <a:cs typeface="+mn-cs"/>
              </a:rPr>
              <a:t>attribute</a:t>
            </a:r>
            <a:r>
              <a:rPr kumimoji="0" lang="en-US" altLang="en-US" sz="2400" b="0" i="0" u="none" strike="noStrike" kern="1200" cap="none" spc="0" normalizeH="0" baseline="0" noProof="0" dirty="0">
                <a:ln>
                  <a:noFill/>
                </a:ln>
                <a:solidFill>
                  <a:srgbClr val="FF0000"/>
                </a:solidFill>
                <a:effectLst/>
                <a:uLnTx/>
                <a:uFillTx/>
                <a:latin typeface="Calibri" pitchFamily="34" charset="0"/>
                <a:ea typeface="+mn-ea"/>
                <a:cs typeface="+mn-cs"/>
              </a:rPr>
              <a:t> </a:t>
            </a:r>
            <a:r>
              <a:rPr kumimoji="0" lang="en-US" altLang="en-US" sz="2400" b="0" i="0" u="none" strike="noStrike" kern="1200" cap="none" spc="0" normalizeH="0" baseline="0" noProof="0" dirty="0">
                <a:ln>
                  <a:noFill/>
                </a:ln>
                <a:solidFill>
                  <a:prstClr val="black"/>
                </a:solidFill>
                <a:effectLst/>
                <a:uLnTx/>
                <a:uFillTx/>
                <a:latin typeface="Calibri" pitchFamily="34" charset="0"/>
                <a:ea typeface="+mn-ea"/>
                <a:cs typeface="+mn-cs"/>
              </a:rPr>
              <a:t>or </a:t>
            </a:r>
            <a:r>
              <a:rPr kumimoji="0" lang="en-US" altLang="en-US" sz="2400" b="0" i="0" u="sng" strike="noStrike" kern="1200" cap="none" spc="0" normalizeH="0" baseline="0" noProof="0" dirty="0">
                <a:ln>
                  <a:noFill/>
                </a:ln>
                <a:solidFill>
                  <a:prstClr val="black"/>
                </a:solidFill>
                <a:effectLst/>
                <a:uLnTx/>
                <a:uFillTx/>
                <a:latin typeface="Calibri" pitchFamily="34" charset="0"/>
                <a:ea typeface="+mn-ea"/>
                <a:cs typeface="+mn-cs"/>
              </a:rPr>
              <a:t>group of attributes</a:t>
            </a:r>
            <a:r>
              <a:rPr kumimoji="0" lang="en-US" altLang="en-US" sz="2400" b="0" i="0" u="none" strike="noStrike" kern="1200" cap="none" spc="0" normalizeH="0" baseline="0" noProof="0" dirty="0">
                <a:ln>
                  <a:noFill/>
                </a:ln>
                <a:solidFill>
                  <a:prstClr val="black"/>
                </a:solidFill>
                <a:effectLst/>
                <a:uLnTx/>
                <a:uFillTx/>
                <a:latin typeface="Calibri" pitchFamily="34" charset="0"/>
                <a:ea typeface="+mn-ea"/>
                <a:cs typeface="+mn-cs"/>
              </a:rPr>
              <a:t>, that occurs with </a:t>
            </a:r>
            <a:r>
              <a:rPr kumimoji="0" lang="en-US" altLang="en-US" sz="2400" b="0" i="0" u="sng" strike="noStrike" kern="1200" cap="none" spc="0" normalizeH="0" baseline="0" noProof="0" dirty="0">
                <a:ln>
                  <a:noFill/>
                </a:ln>
                <a:solidFill>
                  <a:srgbClr val="C00000"/>
                </a:solidFill>
                <a:effectLst/>
                <a:uLnTx/>
                <a:uFillTx/>
                <a:latin typeface="Calibri" pitchFamily="34" charset="0"/>
                <a:ea typeface="+mn-ea"/>
                <a:cs typeface="+mn-cs"/>
              </a:rPr>
              <a:t>multiple values</a:t>
            </a:r>
            <a:r>
              <a:rPr kumimoji="0" lang="en-US" altLang="en-US" sz="2400" b="0" i="0" u="sng" strike="noStrike" kern="1200" cap="none" spc="0" normalizeH="0" baseline="0" noProof="0" dirty="0">
                <a:ln>
                  <a:noFill/>
                </a:ln>
                <a:solidFill>
                  <a:prstClr val="black"/>
                </a:solidFill>
                <a:effectLst/>
                <a:uLnTx/>
                <a:uFillTx/>
                <a:latin typeface="Calibri" pitchFamily="34" charset="0"/>
                <a:ea typeface="+mn-ea"/>
                <a:cs typeface="+mn-cs"/>
              </a:rPr>
              <a:t> </a:t>
            </a:r>
            <a:r>
              <a:rPr kumimoji="0" lang="en-US" altLang="en-US" sz="2400" b="0" i="0" u="none" strike="noStrike" kern="1200" cap="none" spc="0" normalizeH="0" baseline="0" noProof="0" dirty="0">
                <a:ln>
                  <a:noFill/>
                </a:ln>
                <a:solidFill>
                  <a:prstClr val="black"/>
                </a:solidFill>
                <a:effectLst/>
                <a:uLnTx/>
                <a:uFillTx/>
                <a:latin typeface="Calibri" pitchFamily="34" charset="0"/>
                <a:ea typeface="+mn-ea"/>
                <a:cs typeface="+mn-cs"/>
              </a:rPr>
              <a:t>for a </a:t>
            </a:r>
            <a:r>
              <a:rPr kumimoji="0" lang="en-US" altLang="en-US" sz="2400" b="0" i="0" u="none" strike="noStrike" kern="1200" cap="none" spc="0" normalizeH="0" baseline="0" noProof="0" dirty="0">
                <a:ln>
                  <a:noFill/>
                </a:ln>
                <a:solidFill>
                  <a:srgbClr val="C00000"/>
                </a:solidFill>
                <a:effectLst/>
                <a:uLnTx/>
                <a:uFillTx/>
                <a:latin typeface="Calibri" pitchFamily="34" charset="0"/>
                <a:ea typeface="+mn-ea"/>
                <a:cs typeface="+mn-cs"/>
              </a:rPr>
              <a:t>single occurrence </a:t>
            </a:r>
            <a:r>
              <a:rPr kumimoji="0" lang="en-US" altLang="en-US" sz="2400" b="0" i="0" u="none" strike="noStrike" kern="1200" cap="none" spc="0" normalizeH="0" baseline="0" noProof="0" dirty="0">
                <a:ln>
                  <a:noFill/>
                </a:ln>
                <a:solidFill>
                  <a:prstClr val="black"/>
                </a:solidFill>
                <a:effectLst/>
                <a:uLnTx/>
                <a:uFillTx/>
                <a:latin typeface="Calibri" pitchFamily="34" charset="0"/>
                <a:ea typeface="+mn-ea"/>
                <a:cs typeface="+mn-cs"/>
              </a:rPr>
              <a:t>of another attribute(s).</a:t>
            </a:r>
            <a:endParaRPr kumimoji="0" lang="en-US" altLang="en-US" sz="2400" b="0" i="0" u="none" strike="noStrike" kern="1200" cap="none" spc="0" normalizeH="0" baseline="0" noProof="0" dirty="0">
              <a:ln>
                <a:noFill/>
              </a:ln>
              <a:solidFill>
                <a:srgbClr val="FF0000"/>
              </a:solidFill>
              <a:effectLst/>
              <a:uLnTx/>
              <a:uFillTx/>
              <a:latin typeface="Calibri" pitchFamily="34" charset="0"/>
              <a:ea typeface="+mn-ea"/>
              <a:cs typeface="+mn-cs"/>
            </a:endParaRPr>
          </a:p>
        </p:txBody>
      </p:sp>
      <p:graphicFrame>
        <p:nvGraphicFramePr>
          <p:cNvPr id="11" name="Table 10"/>
          <p:cNvGraphicFramePr>
            <a:graphicFrameLocks noGrp="1"/>
          </p:cNvGraphicFramePr>
          <p:nvPr>
            <p:extLst>
              <p:ext uri="{D42A27DB-BD31-4B8C-83A1-F6EECF244321}">
                <p14:modId xmlns:p14="http://schemas.microsoft.com/office/powerpoint/2010/main" val="398502153"/>
              </p:ext>
            </p:extLst>
          </p:nvPr>
        </p:nvGraphicFramePr>
        <p:xfrm>
          <a:off x="540261" y="3966119"/>
          <a:ext cx="3352800" cy="1737724"/>
        </p:xfrm>
        <a:graphic>
          <a:graphicData uri="http://schemas.openxmlformats.org/drawingml/2006/table">
            <a:tbl>
              <a:tblPr firstRow="1" bandRow="1">
                <a:tableStyleId>{5C22544A-7EE6-4342-B048-85BDC9FD1C3A}</a:tableStyleId>
              </a:tblPr>
              <a:tblGrid>
                <a:gridCol w="1163216">
                  <a:extLst>
                    <a:ext uri="{9D8B030D-6E8A-4147-A177-3AD203B41FA5}">
                      <a16:colId xmlns:a16="http://schemas.microsoft.com/office/drawing/2014/main" val="20000"/>
                    </a:ext>
                  </a:extLst>
                </a:gridCol>
                <a:gridCol w="1303939">
                  <a:extLst>
                    <a:ext uri="{9D8B030D-6E8A-4147-A177-3AD203B41FA5}">
                      <a16:colId xmlns:a16="http://schemas.microsoft.com/office/drawing/2014/main" val="20001"/>
                    </a:ext>
                  </a:extLst>
                </a:gridCol>
                <a:gridCol w="885645">
                  <a:extLst>
                    <a:ext uri="{9D8B030D-6E8A-4147-A177-3AD203B41FA5}">
                      <a16:colId xmlns:a16="http://schemas.microsoft.com/office/drawing/2014/main" val="20002"/>
                    </a:ext>
                  </a:extLst>
                </a:gridCol>
              </a:tblGrid>
              <a:tr h="335492">
                <a:tc>
                  <a:txBody>
                    <a:bodyPr/>
                    <a:lstStyle/>
                    <a:p>
                      <a:pPr algn="ctr"/>
                      <a:r>
                        <a:rPr lang="en-GB" sz="1600" dirty="0" err="1">
                          <a:solidFill>
                            <a:schemeClr val="tx1"/>
                          </a:solidFill>
                        </a:rPr>
                        <a:t>ProjNum</a:t>
                      </a:r>
                      <a:endParaRPr lang="en-US" sz="1600" dirty="0">
                        <a:solidFill>
                          <a:schemeClr val="tx1"/>
                        </a:solidFill>
                      </a:endParaRPr>
                    </a:p>
                  </a:txBody>
                  <a:tcPr marT="45758" marB="45758">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1">
                        <a:lumMod val="40000"/>
                        <a:lumOff val="60000"/>
                      </a:schemeClr>
                    </a:solidFill>
                  </a:tcPr>
                </a:tc>
                <a:tc>
                  <a:txBody>
                    <a:bodyPr/>
                    <a:lstStyle/>
                    <a:p>
                      <a:r>
                        <a:rPr lang="en-GB" sz="1600" dirty="0" err="1">
                          <a:solidFill>
                            <a:schemeClr val="tx1"/>
                          </a:solidFill>
                        </a:rPr>
                        <a:t>ProjLocation</a:t>
                      </a:r>
                      <a:endParaRPr lang="en-US" sz="1600" dirty="0">
                        <a:solidFill>
                          <a:schemeClr val="tx1"/>
                        </a:solidFill>
                      </a:endParaRPr>
                    </a:p>
                  </a:txBody>
                  <a:tcPr marT="45758" marB="45758">
                    <a:lnT w="12700" cap="flat" cmpd="sng" algn="ctr">
                      <a:solidFill>
                        <a:schemeClr val="tx1"/>
                      </a:solidFill>
                      <a:prstDash val="solid"/>
                      <a:round/>
                      <a:headEnd type="none" w="med" len="med"/>
                      <a:tailEnd type="none" w="med" len="med"/>
                    </a:lnT>
                    <a:solidFill>
                      <a:schemeClr val="accent1">
                        <a:lumMod val="40000"/>
                        <a:lumOff val="60000"/>
                      </a:schemeClr>
                    </a:solidFill>
                  </a:tcPr>
                </a:tc>
                <a:tc>
                  <a:txBody>
                    <a:bodyPr/>
                    <a:lstStyle/>
                    <a:p>
                      <a:r>
                        <a:rPr lang="en-GB" sz="1600" dirty="0" err="1">
                          <a:solidFill>
                            <a:schemeClr val="tx1"/>
                          </a:solidFill>
                        </a:rPr>
                        <a:t>EmpNo</a:t>
                      </a:r>
                      <a:endParaRPr lang="en-US" sz="1600" dirty="0">
                        <a:solidFill>
                          <a:schemeClr val="tx1"/>
                        </a:solidFill>
                      </a:endParaRPr>
                    </a:p>
                  </a:txBody>
                  <a:tcPr marT="45758" marB="45758">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1">
                        <a:lumMod val="40000"/>
                        <a:lumOff val="60000"/>
                      </a:schemeClr>
                    </a:solidFill>
                  </a:tcPr>
                </a:tc>
                <a:extLst>
                  <a:ext uri="{0D108BD9-81ED-4DB2-BD59-A6C34878D82A}">
                    <a16:rowId xmlns:a16="http://schemas.microsoft.com/office/drawing/2014/main" val="10000"/>
                  </a:ext>
                </a:extLst>
              </a:tr>
              <a:tr h="335492">
                <a:tc>
                  <a:txBody>
                    <a:bodyPr/>
                    <a:lstStyle/>
                    <a:p>
                      <a:pPr algn="ctr"/>
                      <a:r>
                        <a:rPr lang="en-GB" sz="1600" b="1" dirty="0">
                          <a:solidFill>
                            <a:schemeClr val="tx1"/>
                          </a:solidFill>
                        </a:rPr>
                        <a:t>PS-025</a:t>
                      </a:r>
                      <a:endParaRPr lang="en-US" sz="1600" b="1" dirty="0">
                        <a:solidFill>
                          <a:schemeClr val="tx1"/>
                        </a:solidFill>
                      </a:endParaRPr>
                    </a:p>
                  </a:txBody>
                  <a:tcPr marT="45758" marB="45758">
                    <a:lnL w="12700" cap="flat" cmpd="sng" algn="ctr">
                      <a:solidFill>
                        <a:schemeClr val="tx1"/>
                      </a:solidFill>
                      <a:prstDash val="solid"/>
                      <a:round/>
                      <a:headEnd type="none" w="med" len="med"/>
                      <a:tailEnd type="none" w="med" len="med"/>
                    </a:lnL>
                  </a:tcPr>
                </a:tc>
                <a:tc>
                  <a:txBody>
                    <a:bodyPr/>
                    <a:lstStyle/>
                    <a:p>
                      <a:pPr algn="ctr"/>
                      <a:r>
                        <a:rPr lang="en-GB" sz="1600" dirty="0" err="1">
                          <a:solidFill>
                            <a:schemeClr val="tx1"/>
                          </a:solidFill>
                        </a:rPr>
                        <a:t>Sentosa</a:t>
                      </a:r>
                      <a:endParaRPr lang="en-US" sz="1600" dirty="0">
                        <a:solidFill>
                          <a:schemeClr val="tx1"/>
                        </a:solidFill>
                      </a:endParaRPr>
                    </a:p>
                  </a:txBody>
                  <a:tcPr marT="45758" marB="45758"/>
                </a:tc>
                <a:tc>
                  <a:txBody>
                    <a:bodyPr/>
                    <a:lstStyle/>
                    <a:p>
                      <a:pPr algn="ctr"/>
                      <a:r>
                        <a:rPr lang="en-GB" sz="1600" dirty="0"/>
                        <a:t>EE-03</a:t>
                      </a:r>
                    </a:p>
                    <a:p>
                      <a:pPr algn="ctr"/>
                      <a:r>
                        <a:rPr lang="en-GB" sz="1600" dirty="0"/>
                        <a:t>ED-15</a:t>
                      </a:r>
                    </a:p>
                    <a:p>
                      <a:pPr algn="ctr"/>
                      <a:r>
                        <a:rPr lang="en-GB" sz="1600" dirty="0"/>
                        <a:t>EP-21</a:t>
                      </a:r>
                      <a:endParaRPr lang="en-US" sz="1600" dirty="0"/>
                    </a:p>
                  </a:txBody>
                  <a:tcPr marT="45758" marB="4575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35492">
                <a:tc>
                  <a:txBody>
                    <a:bodyPr/>
                    <a:lstStyle/>
                    <a:p>
                      <a:pPr algn="ctr"/>
                      <a:r>
                        <a:rPr lang="en-GB" sz="1600" b="1" dirty="0">
                          <a:solidFill>
                            <a:schemeClr val="tx1"/>
                          </a:solidFill>
                        </a:rPr>
                        <a:t>PC-344</a:t>
                      </a:r>
                      <a:endParaRPr lang="en-US" sz="1600" b="1" dirty="0">
                        <a:solidFill>
                          <a:schemeClr val="tx1"/>
                        </a:solidFill>
                      </a:endParaRPr>
                    </a:p>
                  </a:txBody>
                  <a:tcPr marT="45758" marB="45758">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GB" sz="1600" dirty="0" err="1">
                          <a:solidFill>
                            <a:schemeClr val="tx1"/>
                          </a:solidFill>
                        </a:rPr>
                        <a:t>Clementi</a:t>
                      </a:r>
                      <a:endParaRPr lang="en-US" sz="1600" dirty="0">
                        <a:solidFill>
                          <a:schemeClr val="tx1"/>
                        </a:solidFill>
                      </a:endParaRPr>
                    </a:p>
                  </a:txBody>
                  <a:tcPr marT="45758" marB="45758">
                    <a:lnB w="12700" cap="flat" cmpd="sng" algn="ctr">
                      <a:solidFill>
                        <a:schemeClr val="tx1"/>
                      </a:solidFill>
                      <a:prstDash val="solid"/>
                      <a:round/>
                      <a:headEnd type="none" w="med" len="med"/>
                      <a:tailEnd type="none" w="med" len="med"/>
                    </a:lnB>
                  </a:tcPr>
                </a:tc>
                <a:tc>
                  <a:txBody>
                    <a:bodyPr/>
                    <a:lstStyle/>
                    <a:p>
                      <a:pPr algn="ctr"/>
                      <a:r>
                        <a:rPr lang="en-GB" sz="1600" dirty="0"/>
                        <a:t>ES-26</a:t>
                      </a:r>
                    </a:p>
                    <a:p>
                      <a:pPr algn="ctr"/>
                      <a:r>
                        <a:rPr lang="en-GB" sz="1600" dirty="0"/>
                        <a:t>EE-32</a:t>
                      </a:r>
                      <a:endParaRPr lang="en-US" sz="1600" dirty="0"/>
                    </a:p>
                  </a:txBody>
                  <a:tcPr marT="45758" marB="45758">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 name="Rectangle 1"/>
          <p:cNvSpPr/>
          <p:nvPr/>
        </p:nvSpPr>
        <p:spPr>
          <a:xfrm>
            <a:off x="3054860" y="4336801"/>
            <a:ext cx="762001" cy="75654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SG" sz="1800" b="0" i="0" u="none" strike="noStrike" kern="1200" cap="none" spc="0" normalizeH="0" baseline="0" noProof="0">
              <a:ln>
                <a:noFill/>
              </a:ln>
              <a:solidFill>
                <a:prstClr val="white"/>
              </a:solidFill>
              <a:effectLst/>
              <a:uLnTx/>
              <a:uFillTx/>
              <a:latin typeface="Calibri"/>
              <a:ea typeface="+mn-ea"/>
              <a:cs typeface="+mn-cs"/>
            </a:endParaRPr>
          </a:p>
        </p:txBody>
      </p:sp>
      <p:graphicFrame>
        <p:nvGraphicFramePr>
          <p:cNvPr id="15" name="Table 14">
            <a:extLst>
              <a:ext uri="{FF2B5EF4-FFF2-40B4-BE49-F238E27FC236}">
                <a16:creationId xmlns:a16="http://schemas.microsoft.com/office/drawing/2014/main" id="{14AE910C-6742-4E40-B203-4370811D2A0A}"/>
              </a:ext>
            </a:extLst>
          </p:cNvPr>
          <p:cNvGraphicFramePr>
            <a:graphicFrameLocks noGrp="1"/>
          </p:cNvGraphicFramePr>
          <p:nvPr>
            <p:extLst>
              <p:ext uri="{D42A27DB-BD31-4B8C-83A1-F6EECF244321}">
                <p14:modId xmlns:p14="http://schemas.microsoft.com/office/powerpoint/2010/main" val="3127878408"/>
              </p:ext>
            </p:extLst>
          </p:nvPr>
        </p:nvGraphicFramePr>
        <p:xfrm>
          <a:off x="5095875" y="3892665"/>
          <a:ext cx="3352800" cy="2012952"/>
        </p:xfrm>
        <a:graphic>
          <a:graphicData uri="http://schemas.openxmlformats.org/drawingml/2006/table">
            <a:tbl>
              <a:tblPr firstRow="1" bandRow="1">
                <a:tableStyleId>{5C22544A-7EE6-4342-B048-85BDC9FD1C3A}</a:tableStyleId>
              </a:tblPr>
              <a:tblGrid>
                <a:gridCol w="1163216">
                  <a:extLst>
                    <a:ext uri="{9D8B030D-6E8A-4147-A177-3AD203B41FA5}">
                      <a16:colId xmlns:a16="http://schemas.microsoft.com/office/drawing/2014/main" val="20000"/>
                    </a:ext>
                  </a:extLst>
                </a:gridCol>
                <a:gridCol w="1303939">
                  <a:extLst>
                    <a:ext uri="{9D8B030D-6E8A-4147-A177-3AD203B41FA5}">
                      <a16:colId xmlns:a16="http://schemas.microsoft.com/office/drawing/2014/main" val="20001"/>
                    </a:ext>
                  </a:extLst>
                </a:gridCol>
                <a:gridCol w="885645">
                  <a:extLst>
                    <a:ext uri="{9D8B030D-6E8A-4147-A177-3AD203B41FA5}">
                      <a16:colId xmlns:a16="http://schemas.microsoft.com/office/drawing/2014/main" val="20002"/>
                    </a:ext>
                  </a:extLst>
                </a:gridCol>
              </a:tblGrid>
              <a:tr h="335492">
                <a:tc>
                  <a:txBody>
                    <a:bodyPr/>
                    <a:lstStyle/>
                    <a:p>
                      <a:pPr algn="ctr"/>
                      <a:r>
                        <a:rPr lang="en-GB" sz="1600" u="sng" dirty="0" err="1">
                          <a:solidFill>
                            <a:srgbClr val="FF0000"/>
                          </a:solidFill>
                        </a:rPr>
                        <a:t>ProjNum</a:t>
                      </a:r>
                      <a:endParaRPr lang="en-US" sz="1600" u="sng" dirty="0">
                        <a:solidFill>
                          <a:srgbClr val="FF0000"/>
                        </a:solidFill>
                      </a:endParaRPr>
                    </a:p>
                  </a:txBody>
                  <a:tcPr marT="45758" marB="45758">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1">
                        <a:lumMod val="40000"/>
                        <a:lumOff val="60000"/>
                      </a:schemeClr>
                    </a:solidFill>
                  </a:tcPr>
                </a:tc>
                <a:tc>
                  <a:txBody>
                    <a:bodyPr/>
                    <a:lstStyle/>
                    <a:p>
                      <a:r>
                        <a:rPr lang="en-GB" sz="1600" dirty="0" err="1">
                          <a:solidFill>
                            <a:schemeClr val="tx1"/>
                          </a:solidFill>
                        </a:rPr>
                        <a:t>ProjLocation</a:t>
                      </a:r>
                      <a:endParaRPr lang="en-US" sz="1600" dirty="0">
                        <a:solidFill>
                          <a:schemeClr val="tx1"/>
                        </a:solidFill>
                      </a:endParaRPr>
                    </a:p>
                  </a:txBody>
                  <a:tcPr marT="45758" marB="45758">
                    <a:lnT w="12700" cap="flat" cmpd="sng" algn="ctr">
                      <a:solidFill>
                        <a:schemeClr val="tx1"/>
                      </a:solidFill>
                      <a:prstDash val="solid"/>
                      <a:round/>
                      <a:headEnd type="none" w="med" len="med"/>
                      <a:tailEnd type="none" w="med" len="med"/>
                    </a:lnT>
                    <a:solidFill>
                      <a:schemeClr val="accent1">
                        <a:lumMod val="40000"/>
                        <a:lumOff val="60000"/>
                      </a:schemeClr>
                    </a:solidFill>
                  </a:tcPr>
                </a:tc>
                <a:tc>
                  <a:txBody>
                    <a:bodyPr/>
                    <a:lstStyle/>
                    <a:p>
                      <a:r>
                        <a:rPr lang="en-GB" sz="1600" u="sng" dirty="0" err="1">
                          <a:solidFill>
                            <a:srgbClr val="FF0000"/>
                          </a:solidFill>
                        </a:rPr>
                        <a:t>EmpNo</a:t>
                      </a:r>
                      <a:endParaRPr lang="en-US" sz="1600" u="sng" dirty="0">
                        <a:solidFill>
                          <a:srgbClr val="FF0000"/>
                        </a:solidFill>
                      </a:endParaRPr>
                    </a:p>
                  </a:txBody>
                  <a:tcPr marT="45758" marB="45758">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1">
                        <a:lumMod val="40000"/>
                        <a:lumOff val="60000"/>
                      </a:schemeClr>
                    </a:solidFill>
                  </a:tcPr>
                </a:tc>
                <a:extLst>
                  <a:ext uri="{0D108BD9-81ED-4DB2-BD59-A6C34878D82A}">
                    <a16:rowId xmlns:a16="http://schemas.microsoft.com/office/drawing/2014/main" val="10000"/>
                  </a:ext>
                </a:extLst>
              </a:tr>
              <a:tr h="335492">
                <a:tc>
                  <a:txBody>
                    <a:bodyPr/>
                    <a:lstStyle/>
                    <a:p>
                      <a:pPr algn="ctr"/>
                      <a:r>
                        <a:rPr lang="en-GB" sz="1600" b="1" dirty="0">
                          <a:solidFill>
                            <a:schemeClr val="tx1"/>
                          </a:solidFill>
                        </a:rPr>
                        <a:t>PS-025</a:t>
                      </a:r>
                      <a:endParaRPr lang="en-US" sz="1600" b="1" dirty="0">
                        <a:solidFill>
                          <a:schemeClr val="tx1"/>
                        </a:solidFill>
                      </a:endParaRPr>
                    </a:p>
                  </a:txBody>
                  <a:tcPr marT="45758" marB="45758">
                    <a:lnL w="12700" cap="flat" cmpd="sng" algn="ctr">
                      <a:solidFill>
                        <a:schemeClr val="tx1"/>
                      </a:solidFill>
                      <a:prstDash val="solid"/>
                      <a:round/>
                      <a:headEnd type="none" w="med" len="med"/>
                      <a:tailEnd type="none" w="med" len="med"/>
                    </a:lnL>
                  </a:tcPr>
                </a:tc>
                <a:tc>
                  <a:txBody>
                    <a:bodyPr/>
                    <a:lstStyle/>
                    <a:p>
                      <a:pPr algn="ctr"/>
                      <a:r>
                        <a:rPr lang="en-GB" sz="1600" dirty="0" err="1">
                          <a:solidFill>
                            <a:schemeClr val="tx1"/>
                          </a:solidFill>
                        </a:rPr>
                        <a:t>Sentosa</a:t>
                      </a:r>
                      <a:endParaRPr lang="en-US" sz="1600" dirty="0">
                        <a:solidFill>
                          <a:schemeClr val="tx1"/>
                        </a:solidFill>
                      </a:endParaRPr>
                    </a:p>
                  </a:txBody>
                  <a:tcPr marT="45758" marB="45758"/>
                </a:tc>
                <a:tc>
                  <a:txBody>
                    <a:bodyPr/>
                    <a:lstStyle/>
                    <a:p>
                      <a:pPr algn="ctr"/>
                      <a:r>
                        <a:rPr lang="en-GB" sz="1600" dirty="0"/>
                        <a:t>EE-03</a:t>
                      </a:r>
                    </a:p>
                  </a:txBody>
                  <a:tcPr marT="45758" marB="4575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35492">
                <a:tc>
                  <a:txBody>
                    <a:bodyPr/>
                    <a:lstStyle/>
                    <a:p>
                      <a:pPr algn="ctr"/>
                      <a:r>
                        <a:rPr lang="en-GB" sz="1600" b="1" dirty="0">
                          <a:solidFill>
                            <a:schemeClr val="tx1"/>
                          </a:solidFill>
                        </a:rPr>
                        <a:t>PS-025</a:t>
                      </a:r>
                      <a:endParaRPr lang="en-US" sz="1600" b="1" dirty="0">
                        <a:solidFill>
                          <a:schemeClr val="tx1"/>
                        </a:solidFill>
                      </a:endParaRPr>
                    </a:p>
                  </a:txBody>
                  <a:tcPr marT="45758" marB="45758">
                    <a:lnL w="12700" cap="flat" cmpd="sng" algn="ctr">
                      <a:solidFill>
                        <a:schemeClr val="tx1"/>
                      </a:solidFill>
                      <a:prstDash val="solid"/>
                      <a:round/>
                      <a:headEnd type="none" w="med" len="med"/>
                      <a:tailEnd type="none" w="med" len="med"/>
                    </a:lnL>
                  </a:tcPr>
                </a:tc>
                <a:tc>
                  <a:txBody>
                    <a:bodyPr/>
                    <a:lstStyle/>
                    <a:p>
                      <a:pPr algn="ctr"/>
                      <a:r>
                        <a:rPr lang="en-GB" sz="1600" dirty="0" err="1">
                          <a:solidFill>
                            <a:schemeClr val="tx1"/>
                          </a:solidFill>
                        </a:rPr>
                        <a:t>Sentosa</a:t>
                      </a:r>
                      <a:endParaRPr lang="en-US" sz="1600" dirty="0">
                        <a:solidFill>
                          <a:schemeClr val="tx1"/>
                        </a:solidFill>
                      </a:endParaRPr>
                    </a:p>
                  </a:txBody>
                  <a:tcPr marT="45758" marB="45758"/>
                </a:tc>
                <a:tc>
                  <a:txBody>
                    <a:bodyPr/>
                    <a:lstStyle/>
                    <a:p>
                      <a:pPr algn="ctr"/>
                      <a:r>
                        <a:rPr lang="en-GB" sz="1600" dirty="0"/>
                        <a:t>ED-15</a:t>
                      </a:r>
                      <a:endParaRPr lang="en-US" sz="1600" dirty="0"/>
                    </a:p>
                  </a:txBody>
                  <a:tcPr marT="45758" marB="4575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35492">
                <a:tc>
                  <a:txBody>
                    <a:bodyPr/>
                    <a:lstStyle/>
                    <a:p>
                      <a:pPr algn="ctr"/>
                      <a:r>
                        <a:rPr lang="en-GB" sz="1600" b="1" dirty="0">
                          <a:solidFill>
                            <a:schemeClr val="tx1"/>
                          </a:solidFill>
                        </a:rPr>
                        <a:t>PS-025</a:t>
                      </a:r>
                      <a:endParaRPr lang="en-US" sz="1600" b="1" dirty="0">
                        <a:solidFill>
                          <a:schemeClr val="tx1"/>
                        </a:solidFill>
                      </a:endParaRPr>
                    </a:p>
                  </a:txBody>
                  <a:tcPr marT="45758" marB="45758">
                    <a:lnL w="12700" cap="flat" cmpd="sng" algn="ctr">
                      <a:solidFill>
                        <a:schemeClr val="tx1"/>
                      </a:solidFill>
                      <a:prstDash val="solid"/>
                      <a:round/>
                      <a:headEnd type="none" w="med" len="med"/>
                      <a:tailEnd type="none" w="med" len="med"/>
                    </a:lnL>
                  </a:tcPr>
                </a:tc>
                <a:tc>
                  <a:txBody>
                    <a:bodyPr/>
                    <a:lstStyle/>
                    <a:p>
                      <a:pPr algn="ctr"/>
                      <a:r>
                        <a:rPr lang="en-GB" sz="1600" dirty="0" err="1">
                          <a:solidFill>
                            <a:schemeClr val="tx1"/>
                          </a:solidFill>
                        </a:rPr>
                        <a:t>Sentosa</a:t>
                      </a:r>
                      <a:endParaRPr lang="en-US" sz="1600" dirty="0">
                        <a:solidFill>
                          <a:schemeClr val="tx1"/>
                        </a:solidFill>
                      </a:endParaRPr>
                    </a:p>
                  </a:txBody>
                  <a:tcPr marT="45758" marB="45758"/>
                </a:tc>
                <a:tc>
                  <a:txBody>
                    <a:bodyPr/>
                    <a:lstStyle/>
                    <a:p>
                      <a:pPr algn="ctr"/>
                      <a:r>
                        <a:rPr lang="en-GB" sz="1600" dirty="0"/>
                        <a:t>EP-21</a:t>
                      </a:r>
                      <a:endParaRPr lang="en-US" sz="1600" dirty="0"/>
                    </a:p>
                  </a:txBody>
                  <a:tcPr marT="45758" marB="4575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335492">
                <a:tc>
                  <a:txBody>
                    <a:bodyPr/>
                    <a:lstStyle/>
                    <a:p>
                      <a:pPr algn="ctr"/>
                      <a:r>
                        <a:rPr lang="en-GB" sz="1600" b="1" dirty="0">
                          <a:solidFill>
                            <a:schemeClr val="tx1"/>
                          </a:solidFill>
                        </a:rPr>
                        <a:t>PC-344</a:t>
                      </a:r>
                      <a:endParaRPr lang="en-US" sz="1600" b="1" dirty="0">
                        <a:solidFill>
                          <a:schemeClr val="tx1"/>
                        </a:solidFill>
                      </a:endParaRPr>
                    </a:p>
                  </a:txBody>
                  <a:tcPr marT="45758" marB="45758">
                    <a:lnL w="12700" cap="flat" cmpd="sng" algn="ctr">
                      <a:solidFill>
                        <a:schemeClr val="tx1"/>
                      </a:solidFill>
                      <a:prstDash val="solid"/>
                      <a:round/>
                      <a:headEnd type="none" w="med" len="med"/>
                      <a:tailEnd type="none" w="med" len="med"/>
                    </a:lnL>
                  </a:tcPr>
                </a:tc>
                <a:tc>
                  <a:txBody>
                    <a:bodyPr/>
                    <a:lstStyle/>
                    <a:p>
                      <a:pPr algn="ctr"/>
                      <a:r>
                        <a:rPr lang="en-GB" sz="1600" dirty="0" err="1">
                          <a:solidFill>
                            <a:schemeClr val="tx1"/>
                          </a:solidFill>
                        </a:rPr>
                        <a:t>Clementi</a:t>
                      </a:r>
                      <a:endParaRPr lang="en-US" sz="1600" dirty="0">
                        <a:solidFill>
                          <a:schemeClr val="tx1"/>
                        </a:solidFill>
                      </a:endParaRPr>
                    </a:p>
                  </a:txBody>
                  <a:tcPr marT="45758" marB="45758"/>
                </a:tc>
                <a:tc>
                  <a:txBody>
                    <a:bodyPr/>
                    <a:lstStyle/>
                    <a:p>
                      <a:pPr algn="ctr"/>
                      <a:r>
                        <a:rPr lang="en-GB" sz="1600" dirty="0">
                          <a:solidFill>
                            <a:schemeClr val="tx1"/>
                          </a:solidFill>
                        </a:rPr>
                        <a:t>ES-26</a:t>
                      </a:r>
                      <a:endParaRPr lang="en-US" sz="1600" dirty="0">
                        <a:solidFill>
                          <a:schemeClr val="tx1"/>
                        </a:solidFill>
                      </a:endParaRPr>
                    </a:p>
                  </a:txBody>
                  <a:tcPr marT="45758" marB="4575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4"/>
                  </a:ext>
                </a:extLst>
              </a:tr>
              <a:tr h="335492">
                <a:tc>
                  <a:txBody>
                    <a:bodyPr/>
                    <a:lstStyle/>
                    <a:p>
                      <a:pPr algn="ctr"/>
                      <a:r>
                        <a:rPr lang="en-GB" sz="1600" b="1" dirty="0">
                          <a:solidFill>
                            <a:schemeClr val="tx1"/>
                          </a:solidFill>
                        </a:rPr>
                        <a:t>PC-344</a:t>
                      </a:r>
                      <a:endParaRPr lang="en-US" sz="1600" b="1" dirty="0">
                        <a:solidFill>
                          <a:schemeClr val="tx1"/>
                        </a:solidFill>
                      </a:endParaRPr>
                    </a:p>
                  </a:txBody>
                  <a:tcPr marT="45758" marB="45758">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GB" sz="1600" dirty="0" err="1">
                          <a:solidFill>
                            <a:schemeClr val="tx1"/>
                          </a:solidFill>
                        </a:rPr>
                        <a:t>Clementi</a:t>
                      </a:r>
                      <a:endParaRPr lang="en-US" sz="1600" dirty="0">
                        <a:solidFill>
                          <a:schemeClr val="tx1"/>
                        </a:solidFill>
                      </a:endParaRPr>
                    </a:p>
                  </a:txBody>
                  <a:tcPr marT="45758" marB="45758">
                    <a:lnB w="12700" cap="flat" cmpd="sng" algn="ctr">
                      <a:solidFill>
                        <a:schemeClr val="tx1"/>
                      </a:solidFill>
                      <a:prstDash val="solid"/>
                      <a:round/>
                      <a:headEnd type="none" w="med" len="med"/>
                      <a:tailEnd type="none" w="med" len="med"/>
                    </a:lnB>
                  </a:tcPr>
                </a:tc>
                <a:tc>
                  <a:txBody>
                    <a:bodyPr/>
                    <a:lstStyle/>
                    <a:p>
                      <a:pPr algn="ctr"/>
                      <a:r>
                        <a:rPr lang="en-GB" sz="1600" dirty="0">
                          <a:solidFill>
                            <a:schemeClr val="tx1"/>
                          </a:solidFill>
                        </a:rPr>
                        <a:t>EE-32</a:t>
                      </a:r>
                      <a:endParaRPr lang="en-US" sz="1600" dirty="0">
                        <a:solidFill>
                          <a:schemeClr val="tx1"/>
                        </a:solidFill>
                      </a:endParaRPr>
                    </a:p>
                  </a:txBody>
                  <a:tcPr marT="45758" marB="45758">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6" name="Rectangle 15">
            <a:extLst>
              <a:ext uri="{FF2B5EF4-FFF2-40B4-BE49-F238E27FC236}">
                <a16:creationId xmlns:a16="http://schemas.microsoft.com/office/drawing/2014/main" id="{E997DB15-2D7B-471C-86F9-CEF28F9D4B68}"/>
              </a:ext>
            </a:extLst>
          </p:cNvPr>
          <p:cNvSpPr/>
          <p:nvPr/>
        </p:nvSpPr>
        <p:spPr>
          <a:xfrm>
            <a:off x="3088197" y="5184261"/>
            <a:ext cx="762001" cy="51958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SG"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2">
            <a:extLst>
              <a:ext uri="{FF2B5EF4-FFF2-40B4-BE49-F238E27FC236}">
                <a16:creationId xmlns:a16="http://schemas.microsoft.com/office/drawing/2014/main" id="{4C962476-3AFD-4D9F-A9BD-9C8827E69C4C}"/>
              </a:ext>
            </a:extLst>
          </p:cNvPr>
          <p:cNvSpPr>
            <a:spLocks noChangeArrowheads="1"/>
          </p:cNvSpPr>
          <p:nvPr/>
        </p:nvSpPr>
        <p:spPr bwMode="auto">
          <a:xfrm>
            <a:off x="5032811" y="3516868"/>
            <a:ext cx="41905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rIns="45720" anchor="ctr">
            <a:spAutoFit/>
          </a:bodyPr>
          <a:lstStyle>
            <a:lvl1pPr marL="342900" indent="-342900" eaLnBrk="0" hangingPunct="0">
              <a:spcBef>
                <a:spcPct val="20000"/>
              </a:spcBef>
              <a:buFont typeface="Arial" charset="0"/>
              <a:buChar char="•"/>
              <a:defRPr sz="3200">
                <a:solidFill>
                  <a:schemeClr val="tx1"/>
                </a:solidFill>
                <a:latin typeface="Calibri" pitchFamily="34" charset="0"/>
              </a:defRPr>
            </a:lvl1pPr>
            <a:lvl2pPr marL="685800" indent="-68580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685800" marR="0" lvl="1" indent="-685800" algn="l" defTabSz="914400" rtl="0" eaLnBrk="1" fontAlgn="base" latinLnBrk="0" hangingPunct="1">
              <a:lnSpc>
                <a:spcPct val="100000"/>
              </a:lnSpc>
              <a:spcBef>
                <a:spcPct val="20000"/>
              </a:spcBef>
              <a:spcAft>
                <a:spcPct val="0"/>
              </a:spcAft>
              <a:buClrTx/>
              <a:buSzTx/>
              <a:buFont typeface="Wingdings" pitchFamily="2" charset="2"/>
              <a:buNone/>
              <a:tabLst/>
              <a:defRPr/>
            </a:pPr>
            <a:r>
              <a:rPr kumimoji="0" lang="en-US" altLang="zh-SG" sz="1800" b="1" i="0" u="none" strike="noStrike" kern="1200" cap="none" spc="0" normalizeH="0" baseline="0" noProof="0" dirty="0" smtClean="0">
                <a:ln>
                  <a:noFill/>
                </a:ln>
                <a:solidFill>
                  <a:prstClr val="black"/>
                </a:solidFill>
                <a:effectLst/>
                <a:uLnTx/>
                <a:uFillTx/>
                <a:latin typeface="Calibri" pitchFamily="34" charset="0"/>
                <a:ea typeface="宋体" panose="02010600030101010101" pitchFamily="2" charset="-122"/>
                <a:cs typeface="+mn-cs"/>
              </a:rPr>
              <a:t>PROJECT </a:t>
            </a:r>
            <a:r>
              <a:rPr kumimoji="0" lang="en-US" altLang="zh-SG" sz="1800" b="1" i="0" u="none" strike="noStrike" kern="1200" cap="none" spc="0" normalizeH="0" baseline="0" noProof="0" dirty="0">
                <a:ln>
                  <a:noFill/>
                </a:ln>
                <a:solidFill>
                  <a:prstClr val="black"/>
                </a:solidFill>
                <a:effectLst/>
                <a:uLnTx/>
                <a:uFillTx/>
                <a:latin typeface="Calibri" pitchFamily="34" charset="0"/>
                <a:ea typeface="宋体" panose="02010600030101010101" pitchFamily="2" charset="-122"/>
                <a:cs typeface="+mn-cs"/>
              </a:rPr>
              <a:t>(after removing repeating group)</a:t>
            </a:r>
          </a:p>
        </p:txBody>
      </p:sp>
      <p:sp>
        <p:nvSpPr>
          <p:cNvPr id="3" name="Arrow: Notched Right 2">
            <a:extLst>
              <a:ext uri="{FF2B5EF4-FFF2-40B4-BE49-F238E27FC236}">
                <a16:creationId xmlns:a16="http://schemas.microsoft.com/office/drawing/2014/main" id="{CAF2AEEE-5AB7-42DF-BEDC-77F35506A976}"/>
              </a:ext>
            </a:extLst>
          </p:cNvPr>
          <p:cNvSpPr/>
          <p:nvPr/>
        </p:nvSpPr>
        <p:spPr>
          <a:xfrm>
            <a:off x="4021648" y="4435305"/>
            <a:ext cx="945639" cy="561558"/>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SG"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5" name="Group 4"/>
          <p:cNvGrpSpPr/>
          <p:nvPr/>
        </p:nvGrpSpPr>
        <p:grpSpPr>
          <a:xfrm>
            <a:off x="457200" y="5744304"/>
            <a:ext cx="3657600" cy="764242"/>
            <a:chOff x="457200" y="5744304"/>
            <a:chExt cx="3657600" cy="764242"/>
          </a:xfrm>
        </p:grpSpPr>
        <p:sp>
          <p:nvSpPr>
            <p:cNvPr id="18" name="AutoShape 293">
              <a:extLst>
                <a:ext uri="{FF2B5EF4-FFF2-40B4-BE49-F238E27FC236}">
                  <a16:creationId xmlns:a16="http://schemas.microsoft.com/office/drawing/2014/main" id="{1C75BF3A-2276-4D25-BC26-4C6FD4689CF1}"/>
                </a:ext>
              </a:extLst>
            </p:cNvPr>
            <p:cNvSpPr>
              <a:spLocks/>
            </p:cNvSpPr>
            <p:nvPr/>
          </p:nvSpPr>
          <p:spPr bwMode="auto">
            <a:xfrm rot="16200000" flipV="1">
              <a:off x="3369548" y="5367862"/>
              <a:ext cx="199296" cy="952179"/>
            </a:xfrm>
            <a:prstGeom prst="leftBrace">
              <a:avLst>
                <a:gd name="adj1" fmla="val 281320"/>
                <a:gd name="adj2" fmla="val 50000"/>
              </a:avLst>
            </a:prstGeom>
            <a:noFill/>
            <a:ln w="12700">
              <a:solidFill>
                <a:schemeClr val="tx1"/>
              </a:solidFill>
              <a:round/>
              <a:headEnd type="none" w="sm" len="sm"/>
              <a:tailEnd type="none" w="sm" len="sm"/>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9" name="Text Box 295">
              <a:extLst>
                <a:ext uri="{FF2B5EF4-FFF2-40B4-BE49-F238E27FC236}">
                  <a16:creationId xmlns:a16="http://schemas.microsoft.com/office/drawing/2014/main" id="{EF69DC4C-BFF7-40BB-B9C8-8AE76B3AEF4C}"/>
                </a:ext>
              </a:extLst>
            </p:cNvPr>
            <p:cNvSpPr txBox="1">
              <a:spLocks noChangeArrowheads="1"/>
            </p:cNvSpPr>
            <p:nvPr/>
          </p:nvSpPr>
          <p:spPr bwMode="auto">
            <a:xfrm>
              <a:off x="457200" y="5917615"/>
              <a:ext cx="3657600" cy="590931"/>
            </a:xfrm>
            <a:prstGeom prst="rect">
              <a:avLst/>
            </a:prstGeom>
            <a:noFill/>
            <a:ln w="12700">
              <a:noFill/>
              <a:miter lim="800000"/>
              <a:headEnd type="none" w="sm" len="sm"/>
              <a:tailEnd type="none" w="sm" len="sm"/>
            </a:ln>
          </p:spPr>
          <p:txBody>
            <a:bodyPr wrap="square" lIns="18288" tIns="18288" rIns="18288" bIns="18288">
              <a:spAutoFit/>
            </a:bodyPr>
            <a:lstStyle/>
            <a:p>
              <a:pPr marL="0" marR="0" lvl="0" indent="0" defTabSz="914400" rtl="0" eaLnBrk="0" fontAlgn="base" latinLnBrk="0" hangingPunct="0">
                <a:lnSpc>
                  <a:spcPct val="100000"/>
                </a:lnSpc>
                <a:spcBef>
                  <a:spcPct val="50000"/>
                </a:spcBef>
                <a:spcAft>
                  <a:spcPct val="0"/>
                </a:spcAft>
                <a:buClrTx/>
                <a:buSzTx/>
                <a:buFontTx/>
                <a:buNone/>
                <a:tabLst/>
                <a:defRPr/>
              </a:pPr>
              <a:r>
                <a:rPr kumimoji="0" lang="en-US"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Multiple occurrences of </a:t>
              </a:r>
              <a:r>
                <a:rPr kumimoji="0" lang="en-US" b="0" i="0" u="none" strike="noStrike" kern="1200" cap="none" spc="0" normalizeH="0" baseline="0" noProof="0" dirty="0" err="1">
                  <a:ln>
                    <a:noFill/>
                  </a:ln>
                  <a:solidFill>
                    <a:prstClr val="black"/>
                  </a:solidFill>
                  <a:effectLst/>
                  <a:uLnTx/>
                  <a:uFillTx/>
                  <a:latin typeface="Calibri" panose="020F0502020204030204" pitchFamily="34" charset="0"/>
                  <a:ea typeface="SimSun" pitchFamily="2" charset="-122"/>
                  <a:cs typeface="Calibri" panose="020F0502020204030204" pitchFamily="34" charset="0"/>
                </a:rPr>
                <a:t>EmpNo</a:t>
              </a:r>
              <a:r>
                <a:rPr kumimoji="0" lang="en-US"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for each </a:t>
              </a:r>
              <a:r>
                <a:rPr kumimoji="0" lang="en-US"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single </a:t>
              </a:r>
              <a:r>
                <a:rPr kumimoji="0" lang="en-US"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occurrence of </a:t>
              </a:r>
              <a:r>
                <a:rPr kumimoji="0" lang="en-US"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p</a:t>
              </a:r>
              <a:r>
                <a:rPr kumimoji="0" lang="en-US" b="0" i="0" u="none" strike="noStrike" kern="1200" cap="none" spc="0" normalizeH="0" baseline="0" noProof="0" dirty="0" smtClean="0">
                  <a:ln>
                    <a:noFill/>
                  </a:ln>
                  <a:solidFill>
                    <a:prstClr val="black"/>
                  </a:solidFill>
                  <a:effectLst/>
                  <a:uLnTx/>
                  <a:uFillTx/>
                  <a:latin typeface="Calibri" panose="020F0502020204030204" pitchFamily="34" charset="0"/>
                  <a:ea typeface="SimSun" pitchFamily="2" charset="-122"/>
                  <a:cs typeface="Calibri" panose="020F0502020204030204" pitchFamily="34" charset="0"/>
                </a:rPr>
                <a:t>roject.</a:t>
              </a:r>
              <a:endParaRPr kumimoji="0" lang="en-US"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grpSp>
      <p:sp>
        <p:nvSpPr>
          <p:cNvPr id="20" name="Text Box 464">
            <a:extLst>
              <a:ext uri="{FF2B5EF4-FFF2-40B4-BE49-F238E27FC236}">
                <a16:creationId xmlns:a16="http://schemas.microsoft.com/office/drawing/2014/main" id="{D96BE1D9-9DA0-429F-AF5A-CE4578B64941}"/>
              </a:ext>
            </a:extLst>
          </p:cNvPr>
          <p:cNvSpPr txBox="1">
            <a:spLocks noChangeArrowheads="1"/>
          </p:cNvSpPr>
          <p:nvPr/>
        </p:nvSpPr>
        <p:spPr bwMode="auto">
          <a:xfrm>
            <a:off x="4800600" y="6051346"/>
            <a:ext cx="4375172" cy="344710"/>
          </a:xfrm>
          <a:prstGeom prst="rect">
            <a:avLst/>
          </a:prstGeom>
          <a:noFill/>
          <a:ln w="12700">
            <a:noFill/>
            <a:miter lim="800000"/>
            <a:headEnd type="none" w="sm" len="sm"/>
            <a:tailEnd type="none" w="sm" len="sm"/>
          </a:ln>
        </p:spPr>
        <p:txBody>
          <a:bodyPr wrap="none" lIns="18288" tIns="18288" rIns="18288" bIns="18288">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r>
              <a:rPr lang="en-US" sz="2000" dirty="0" smtClean="0">
                <a:latin typeface="Calibri" panose="020F0502020204030204" pitchFamily="34" charset="0"/>
                <a:cs typeface="Calibri" panose="020F0502020204030204" pitchFamily="34" charset="0"/>
              </a:rPr>
              <a:t>PROJECT </a:t>
            </a:r>
            <a:r>
              <a:rPr lang="en-US" sz="2000" dirty="0" smtClean="0">
                <a:solidFill>
                  <a:srgbClr val="FF3300"/>
                </a:solidFill>
                <a:latin typeface="Calibri" panose="020F0502020204030204" pitchFamily="34" charset="0"/>
                <a:cs typeface="Calibri" panose="020F0502020204030204" pitchFamily="34" charset="0"/>
              </a:rPr>
              <a:t>( </a:t>
            </a:r>
            <a:r>
              <a:rPr lang="en-US" sz="2000" u="sng" dirty="0" err="1" smtClean="0">
                <a:solidFill>
                  <a:srgbClr val="FF3300"/>
                </a:solidFill>
                <a:latin typeface="Calibri" panose="020F0502020204030204" pitchFamily="34" charset="0"/>
                <a:cs typeface="Calibri" panose="020F0502020204030204" pitchFamily="34" charset="0"/>
              </a:rPr>
              <a:t>ProNum</a:t>
            </a:r>
            <a:r>
              <a:rPr lang="en-US" sz="2000" dirty="0" smtClean="0">
                <a:solidFill>
                  <a:srgbClr val="FF3300"/>
                </a:solidFill>
                <a:latin typeface="Calibri" panose="020F0502020204030204" pitchFamily="34" charset="0"/>
                <a:cs typeface="Calibri" panose="020F0502020204030204" pitchFamily="34" charset="0"/>
              </a:rPr>
              <a:t>, </a:t>
            </a:r>
            <a:r>
              <a:rPr lang="en-US" sz="2000" dirty="0" err="1" smtClean="0">
                <a:latin typeface="Calibri" panose="020F0502020204030204" pitchFamily="34" charset="0"/>
                <a:cs typeface="Calibri" panose="020F0502020204030204" pitchFamily="34" charset="0"/>
              </a:rPr>
              <a:t>ProLocation</a:t>
            </a:r>
            <a:r>
              <a:rPr lang="en-US" sz="2000" dirty="0" smtClean="0">
                <a:solidFill>
                  <a:srgbClr val="FF3300"/>
                </a:solidFill>
                <a:latin typeface="Calibri" panose="020F0502020204030204" pitchFamily="34" charset="0"/>
                <a:cs typeface="Calibri" panose="020F0502020204030204" pitchFamily="34" charset="0"/>
              </a:rPr>
              <a:t>, </a:t>
            </a:r>
            <a:r>
              <a:rPr lang="en-US" sz="2000" u="sng" dirty="0" err="1" smtClean="0">
                <a:solidFill>
                  <a:srgbClr val="FF3300"/>
                </a:solidFill>
                <a:latin typeface="Calibri" panose="020F0502020204030204" pitchFamily="34" charset="0"/>
                <a:cs typeface="Calibri" panose="020F0502020204030204" pitchFamily="34" charset="0"/>
              </a:rPr>
              <a:t>EmpNo</a:t>
            </a:r>
            <a:r>
              <a:rPr lang="en-US" sz="2000" dirty="0" smtClean="0">
                <a:solidFill>
                  <a:srgbClr val="FF3300"/>
                </a:solidFill>
                <a:latin typeface="Calibri" panose="020F0502020204030204" pitchFamily="34" charset="0"/>
                <a:cs typeface="Calibri" panose="020F0502020204030204" pitchFamily="34" charset="0"/>
              </a:rPr>
              <a:t> )</a:t>
            </a:r>
            <a:endParaRPr kumimoji="0" lang="en-US" sz="2000" i="0" u="none" strike="noStrike" kern="1200" cap="none" spc="0" normalizeH="0" baseline="0" noProof="0" dirty="0">
              <a:ln>
                <a:noFill/>
              </a:ln>
              <a:solidFill>
                <a:srgbClr val="FF3300"/>
              </a:solidFill>
              <a:effectLst/>
              <a:uLnTx/>
              <a:uFillTx/>
              <a:latin typeface="Calibri" panose="020F0502020204030204" pitchFamily="34" charset="0"/>
              <a:cs typeface="Calibri" panose="020F0502020204030204" pitchFamily="34" charset="0"/>
            </a:endParaRPr>
          </a:p>
        </p:txBody>
      </p:sp>
      <p:sp>
        <p:nvSpPr>
          <p:cNvPr id="14" name="Text Box 464">
            <a:extLst>
              <a:ext uri="{FF2B5EF4-FFF2-40B4-BE49-F238E27FC236}">
                <a16:creationId xmlns:a16="http://schemas.microsoft.com/office/drawing/2014/main" id="{D96BE1D9-9DA0-429F-AF5A-CE4578B64941}"/>
              </a:ext>
            </a:extLst>
          </p:cNvPr>
          <p:cNvSpPr txBox="1">
            <a:spLocks noChangeArrowheads="1"/>
          </p:cNvSpPr>
          <p:nvPr/>
        </p:nvSpPr>
        <p:spPr bwMode="auto">
          <a:xfrm>
            <a:off x="5060516" y="6467868"/>
            <a:ext cx="3598677" cy="313932"/>
          </a:xfrm>
          <a:prstGeom prst="rect">
            <a:avLst/>
          </a:prstGeom>
          <a:noFill/>
          <a:ln w="12700">
            <a:noFill/>
            <a:miter lim="800000"/>
            <a:headEnd type="none" w="sm" len="sm"/>
            <a:tailEnd type="none" w="sm" len="sm"/>
          </a:ln>
        </p:spPr>
        <p:txBody>
          <a:bodyPr wrap="none" lIns="18288" tIns="18288" rIns="18288" bIns="18288">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r>
              <a:rPr lang="en-US" dirty="0" smtClean="0">
                <a:latin typeface="Calibri" panose="020F0502020204030204" pitchFamily="34" charset="0"/>
                <a:cs typeface="Calibri" panose="020F0502020204030204" pitchFamily="34" charset="0"/>
              </a:rPr>
              <a:t>(Identify and underline key attributes)</a:t>
            </a:r>
            <a:endParaRPr kumimoji="0" lang="en-US" sz="1800" i="0" u="none" strike="noStrike" kern="1200" cap="none" spc="0" normalizeH="0" baseline="0" noProof="0" dirty="0">
              <a:ln>
                <a:noFill/>
              </a:ln>
              <a:solidFill>
                <a:srgbClr val="FF3300"/>
              </a:solidFill>
              <a:effectLst/>
              <a:uLnTx/>
              <a:uFillTx/>
              <a:latin typeface="Calibri" panose="020F0502020204030204" pitchFamily="34" charset="0"/>
              <a:cs typeface="Calibri" panose="020F0502020204030204" pitchFamily="34" charset="0"/>
            </a:endParaRPr>
          </a:p>
        </p:txBody>
      </p:sp>
      <p:sp>
        <p:nvSpPr>
          <p:cNvPr id="21" name="Rectangle 463"/>
          <p:cNvSpPr txBox="1">
            <a:spLocks noChangeArrowheads="1"/>
          </p:cNvSpPr>
          <p:nvPr/>
        </p:nvSpPr>
        <p:spPr bwMode="auto">
          <a:xfrm>
            <a:off x="609600" y="2133600"/>
            <a:ext cx="7775575" cy="1218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288" tIns="18288" rIns="18288" bIns="18288">
            <a:spAutoFit/>
          </a:bodyPr>
          <a:lstStyle>
            <a:lvl1pPr marL="355600" indent="-355600"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Tx/>
              <a:buSzTx/>
              <a:buFont typeface="Arial" charset="0"/>
              <a:buNone/>
              <a:tabLst/>
              <a:defRPr/>
            </a:pPr>
            <a:r>
              <a:rPr kumimoji="0" lang="en-SG" altLang="en-US" sz="2400" b="0" i="0" u="none" strike="noStrike" kern="1200" cap="none" spc="0" normalizeH="0" baseline="0" noProof="0" dirty="0" smtClean="0">
                <a:ln>
                  <a:noFill/>
                </a:ln>
                <a:solidFill>
                  <a:srgbClr val="FF0000"/>
                </a:solidFill>
                <a:effectLst/>
                <a:uLnTx/>
                <a:uFillTx/>
                <a:latin typeface="Calibri" pitchFamily="34" charset="0"/>
                <a:ea typeface="Calibri" pitchFamily="34" charset="0"/>
                <a:cs typeface="Calibri" pitchFamily="34" charset="0"/>
              </a:rPr>
              <a:t>By 1NF:</a:t>
            </a:r>
          </a:p>
          <a:p>
            <a:pPr marL="0" marR="0" lvl="0" indent="0" algn="l" defTabSz="914400" rtl="0" eaLnBrk="1" fontAlgn="base" latinLnBrk="0" hangingPunct="1">
              <a:lnSpc>
                <a:spcPct val="100000"/>
              </a:lnSpc>
              <a:spcBef>
                <a:spcPts val="0"/>
              </a:spcBef>
              <a:spcAft>
                <a:spcPct val="0"/>
              </a:spcAft>
              <a:buClrTx/>
              <a:buSzTx/>
              <a:buFont typeface="Arial" charset="0"/>
              <a:buNone/>
              <a:tabLst/>
              <a:defRPr/>
            </a:pPr>
            <a:r>
              <a:rPr kumimoji="0" lang="en-SG" altLang="en-US" sz="2400" b="0" i="0" u="none" strike="noStrike" kern="1200" cap="none" spc="0" normalizeH="0" baseline="0" noProof="0" dirty="0" smtClean="0">
                <a:ln>
                  <a:noFill/>
                </a:ln>
                <a:solidFill>
                  <a:srgbClr val="FF0000"/>
                </a:solidFill>
                <a:effectLst/>
                <a:uLnTx/>
                <a:uFillTx/>
                <a:latin typeface="Calibri" pitchFamily="34" charset="0"/>
                <a:ea typeface="Calibri" pitchFamily="34" charset="0"/>
                <a:cs typeface="Calibri" pitchFamily="34" charset="0"/>
              </a:rPr>
              <a:t>Step1</a:t>
            </a:r>
            <a:r>
              <a:rPr kumimoji="0" lang="en-SG" altLang="en-US" sz="2400" b="0" i="0" u="none" strike="noStrike" kern="1200" cap="none" spc="0" normalizeH="0" baseline="0" noProof="0" dirty="0">
                <a:ln>
                  <a:noFill/>
                </a:ln>
                <a:solidFill>
                  <a:srgbClr val="FF0000"/>
                </a:solidFill>
                <a:effectLst/>
                <a:uLnTx/>
                <a:uFillTx/>
                <a:latin typeface="Calibri" pitchFamily="34" charset="0"/>
                <a:ea typeface="Calibri" pitchFamily="34" charset="0"/>
                <a:cs typeface="Calibri" pitchFamily="34" charset="0"/>
              </a:rPr>
              <a:t>: </a:t>
            </a:r>
            <a:r>
              <a:rPr kumimoji="0" lang="en-US" altLang="en-US" sz="2400" b="0" i="0" u="none" strike="noStrike" kern="1200" cap="none" spc="0" normalizeH="0" baseline="0" noProof="0" dirty="0">
                <a:ln>
                  <a:noFill/>
                </a:ln>
                <a:solidFill>
                  <a:srgbClr val="FF0000"/>
                </a:solidFill>
                <a:effectLst/>
                <a:uLnTx/>
                <a:uFillTx/>
                <a:latin typeface="Calibri" pitchFamily="34" charset="0"/>
                <a:ea typeface="Calibri" pitchFamily="34" charset="0"/>
                <a:cs typeface="Calibri" pitchFamily="34" charset="0"/>
              </a:rPr>
              <a:t>Identify repeating group and remove them</a:t>
            </a:r>
          </a:p>
          <a:p>
            <a:pPr marL="0" marR="0" lvl="0" indent="0" algn="l" defTabSz="914400" rtl="0" eaLnBrk="1" fontAlgn="base" latinLnBrk="0" hangingPunct="1">
              <a:lnSpc>
                <a:spcPct val="100000"/>
              </a:lnSpc>
              <a:spcBef>
                <a:spcPct val="20000"/>
              </a:spcBef>
              <a:spcAft>
                <a:spcPct val="0"/>
              </a:spcAft>
              <a:buClrTx/>
              <a:buSzTx/>
              <a:buFont typeface="Arial" charset="0"/>
              <a:buNone/>
              <a:tabLst/>
              <a:defRPr/>
            </a:pPr>
            <a:r>
              <a:rPr kumimoji="0" lang="en-US" altLang="en-US" sz="2400" b="0" i="0" u="none" strike="noStrike" kern="1200" cap="none" spc="0" normalizeH="0" baseline="0" noProof="0" dirty="0">
                <a:ln>
                  <a:noFill/>
                </a:ln>
                <a:solidFill>
                  <a:srgbClr val="FF0000"/>
                </a:solidFill>
                <a:effectLst/>
                <a:uLnTx/>
                <a:uFillTx/>
                <a:latin typeface="Calibri" pitchFamily="34" charset="0"/>
                <a:ea typeface="Calibri" pitchFamily="34" charset="0"/>
                <a:cs typeface="Calibri" pitchFamily="34" charset="0"/>
              </a:rPr>
              <a:t>Step2: Identify and underline key attributes in the </a:t>
            </a:r>
            <a:r>
              <a:rPr kumimoji="0" lang="en-US" altLang="en-US" sz="2400" b="0" i="0" u="none" strike="noStrike" kern="1200" cap="none" spc="0" normalizeH="0" baseline="0" noProof="0" dirty="0" smtClean="0">
                <a:ln>
                  <a:noFill/>
                </a:ln>
                <a:solidFill>
                  <a:srgbClr val="FF0000"/>
                </a:solidFill>
                <a:effectLst/>
                <a:uLnTx/>
                <a:uFillTx/>
                <a:latin typeface="Calibri" pitchFamily="34" charset="0"/>
                <a:ea typeface="Calibri" pitchFamily="34" charset="0"/>
                <a:cs typeface="Calibri" pitchFamily="34" charset="0"/>
              </a:rPr>
              <a:t>relation</a:t>
            </a:r>
            <a:endParaRPr kumimoji="0" lang="en-US" altLang="en-US" sz="2400" b="0" i="0" u="none" strike="noStrike" kern="1200" cap="none" spc="0" normalizeH="0" baseline="0" noProof="0" dirty="0">
              <a:ln>
                <a:noFill/>
              </a:ln>
              <a:solidFill>
                <a:srgbClr val="FF0000"/>
              </a:solidFill>
              <a:effectLst/>
              <a:uLnTx/>
              <a:uFillTx/>
              <a:latin typeface="Calibri" pitchFamily="34" charset="0"/>
              <a:ea typeface="Calibri" pitchFamily="34" charset="0"/>
              <a:cs typeface="Calibri" pitchFamily="34" charset="0"/>
            </a:endParaRPr>
          </a:p>
        </p:txBody>
      </p:sp>
      <p:grpSp>
        <p:nvGrpSpPr>
          <p:cNvPr id="4" name="Group 3"/>
          <p:cNvGrpSpPr/>
          <p:nvPr/>
        </p:nvGrpSpPr>
        <p:grpSpPr>
          <a:xfrm>
            <a:off x="533400" y="3276600"/>
            <a:ext cx="3125407" cy="661164"/>
            <a:chOff x="533400" y="3276600"/>
            <a:chExt cx="3125407" cy="661164"/>
          </a:xfrm>
        </p:grpSpPr>
        <p:sp>
          <p:nvSpPr>
            <p:cNvPr id="26691" name="Rectangle 12"/>
            <p:cNvSpPr>
              <a:spLocks noChangeArrowheads="1"/>
            </p:cNvSpPr>
            <p:nvPr/>
          </p:nvSpPr>
          <p:spPr bwMode="auto">
            <a:xfrm>
              <a:off x="533400" y="3568432"/>
              <a:ext cx="31254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rIns="45720" anchor="ctr">
              <a:spAutoFit/>
            </a:bodyPr>
            <a:lstStyle>
              <a:lvl1pPr marL="342900" indent="-342900" eaLnBrk="0" hangingPunct="0">
                <a:spcBef>
                  <a:spcPct val="20000"/>
                </a:spcBef>
                <a:buFont typeface="Arial" charset="0"/>
                <a:buChar char="•"/>
                <a:defRPr sz="3200">
                  <a:solidFill>
                    <a:schemeClr val="tx1"/>
                  </a:solidFill>
                  <a:latin typeface="Calibri" pitchFamily="34" charset="0"/>
                </a:defRPr>
              </a:lvl1pPr>
              <a:lvl2pPr marL="685800" indent="-68580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685800" marR="0" lvl="1" indent="-685800" algn="l" defTabSz="914400" rtl="0" eaLnBrk="1" fontAlgn="base" latinLnBrk="0" hangingPunct="1">
                <a:lnSpc>
                  <a:spcPct val="100000"/>
                </a:lnSpc>
                <a:spcBef>
                  <a:spcPct val="20000"/>
                </a:spcBef>
                <a:spcAft>
                  <a:spcPct val="0"/>
                </a:spcAft>
                <a:buClrTx/>
                <a:buSzTx/>
                <a:buFont typeface="Wingdings" pitchFamily="2" charset="2"/>
                <a:buNone/>
                <a:tabLst/>
                <a:defRPr/>
              </a:pPr>
              <a:r>
                <a:rPr kumimoji="0" lang="en-US" altLang="zh-SG" sz="1800" b="1" i="0" u="none" strike="noStrike" kern="1200" cap="none" spc="0" normalizeH="0" baseline="0" noProof="0" dirty="0" smtClean="0">
                  <a:ln>
                    <a:noFill/>
                  </a:ln>
                  <a:solidFill>
                    <a:prstClr val="black"/>
                  </a:solidFill>
                  <a:effectLst/>
                  <a:uLnTx/>
                  <a:uFillTx/>
                  <a:latin typeface="Calibri" pitchFamily="34" charset="0"/>
                  <a:ea typeface="宋体" panose="02010600030101010101" pitchFamily="2" charset="-122"/>
                  <a:cs typeface="+mn-cs"/>
                </a:rPr>
                <a:t>PROJECT </a:t>
              </a:r>
              <a:r>
                <a:rPr kumimoji="0" lang="en-US" altLang="zh-SG" sz="1800" b="1" i="0" u="none" strike="noStrike" kern="1200" cap="none" spc="0" normalizeH="0" baseline="0" noProof="0" dirty="0">
                  <a:ln>
                    <a:noFill/>
                  </a:ln>
                  <a:solidFill>
                    <a:prstClr val="black"/>
                  </a:solidFill>
                  <a:effectLst/>
                  <a:uLnTx/>
                  <a:uFillTx/>
                  <a:latin typeface="Calibri" pitchFamily="34" charset="0"/>
                  <a:ea typeface="宋体" panose="02010600030101010101" pitchFamily="2" charset="-122"/>
                  <a:cs typeface="+mn-cs"/>
                </a:rPr>
                <a:t>(with repeating group)</a:t>
              </a:r>
            </a:p>
          </p:txBody>
        </p:sp>
        <p:sp>
          <p:nvSpPr>
            <p:cNvPr id="22" name="Rectangle 12"/>
            <p:cNvSpPr>
              <a:spLocks noChangeArrowheads="1"/>
            </p:cNvSpPr>
            <p:nvPr/>
          </p:nvSpPr>
          <p:spPr bwMode="auto">
            <a:xfrm>
              <a:off x="533400" y="3276600"/>
              <a:ext cx="9671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rIns="45720" anchor="ctr">
              <a:spAutoFit/>
            </a:bodyPr>
            <a:lstStyle>
              <a:lvl1pPr marL="342900" indent="-342900" eaLnBrk="0" hangingPunct="0">
                <a:spcBef>
                  <a:spcPct val="20000"/>
                </a:spcBef>
                <a:buFont typeface="Arial" charset="0"/>
                <a:buChar char="•"/>
                <a:defRPr sz="3200">
                  <a:solidFill>
                    <a:schemeClr val="tx1"/>
                  </a:solidFill>
                  <a:latin typeface="Calibri" pitchFamily="34" charset="0"/>
                </a:defRPr>
              </a:lvl1pPr>
              <a:lvl2pPr marL="685800" indent="-68580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685800" marR="0" lvl="1" indent="-685800" algn="l" defTabSz="914400" rtl="0" eaLnBrk="1" fontAlgn="base" latinLnBrk="0" hangingPunct="1">
                <a:lnSpc>
                  <a:spcPct val="100000"/>
                </a:lnSpc>
                <a:spcBef>
                  <a:spcPct val="20000"/>
                </a:spcBef>
                <a:spcAft>
                  <a:spcPct val="0"/>
                </a:spcAft>
                <a:buClrTx/>
                <a:buSzTx/>
                <a:buFont typeface="Wingdings" pitchFamily="2" charset="2"/>
                <a:buNone/>
                <a:tabLst/>
                <a:defRPr/>
              </a:pPr>
              <a:r>
                <a:rPr lang="en-SG" altLang="zh-SG" sz="1800" b="1" dirty="0" smtClean="0">
                  <a:solidFill>
                    <a:prstClr val="black"/>
                  </a:solidFill>
                  <a:ea typeface="宋体" panose="02010600030101010101" pitchFamily="2" charset="-122"/>
                </a:rPr>
                <a:t>Example:</a:t>
              </a:r>
              <a:endParaRPr kumimoji="0" lang="en-US" altLang="zh-SG" sz="1800" b="1" i="0" u="none" strike="noStrike" kern="1200" cap="none" spc="0" normalizeH="0" baseline="0" noProof="0" dirty="0">
                <a:ln>
                  <a:noFill/>
                </a:ln>
                <a:solidFill>
                  <a:prstClr val="black"/>
                </a:solidFill>
                <a:effectLst/>
                <a:uLnTx/>
                <a:uFillTx/>
                <a:latin typeface="Calibri" pitchFamily="34" charset="0"/>
                <a:ea typeface="宋体" panose="02010600030101010101" pitchFamily="2" charset="-122"/>
                <a:cs typeface="+mn-cs"/>
              </a:endParaRPr>
            </a:p>
          </p:txBody>
        </p:sp>
      </p:grpSp>
    </p:spTree>
    <p:extLst>
      <p:ext uri="{BB962C8B-B14F-4D97-AF65-F5344CB8AC3E}">
        <p14:creationId xmlns:p14="http://schemas.microsoft.com/office/powerpoint/2010/main" val="2845559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up)">
                                      <p:cBhvr>
                                        <p:cTn id="11" dur="1000"/>
                                        <p:tgtEl>
                                          <p:spTgt spid="11"/>
                                        </p:tgtEl>
                                      </p:cBhvr>
                                    </p:animEffect>
                                  </p:childTnLst>
                                </p:cTn>
                              </p:par>
                            </p:childTnLst>
                          </p:cTn>
                        </p:par>
                        <p:par>
                          <p:cTn id="12" fill="hold">
                            <p:stCondLst>
                              <p:cond delay="1500"/>
                            </p:stCondLst>
                            <p:childTnLst>
                              <p:par>
                                <p:cTn id="13" presetID="22" presetClass="entr" presetSubtype="1" fill="hold" grpId="0" nodeType="afterEffect">
                                  <p:stCondLst>
                                    <p:cond delay="500"/>
                                  </p:stCondLst>
                                  <p:childTnLst>
                                    <p:set>
                                      <p:cBhvr>
                                        <p:cTn id="14" dur="1" fill="hold">
                                          <p:stCondLst>
                                            <p:cond delay="0"/>
                                          </p:stCondLst>
                                        </p:cTn>
                                        <p:tgtEl>
                                          <p:spTgt spid="2"/>
                                        </p:tgtEl>
                                        <p:attrNameLst>
                                          <p:attrName>style.visibility</p:attrName>
                                        </p:attrNameLst>
                                      </p:cBhvr>
                                      <p:to>
                                        <p:strVal val="visible"/>
                                      </p:to>
                                    </p:set>
                                    <p:animEffect transition="in" filter="wipe(up)">
                                      <p:cBhvr>
                                        <p:cTn id="15" dur="1000"/>
                                        <p:tgtEl>
                                          <p:spTgt spid="2"/>
                                        </p:tgtEl>
                                      </p:cBhvr>
                                    </p:animEffect>
                                  </p:childTnLst>
                                </p:cTn>
                              </p:par>
                            </p:childTnLst>
                          </p:cTn>
                        </p:par>
                        <p:par>
                          <p:cTn id="16" fill="hold">
                            <p:stCondLst>
                              <p:cond delay="3000"/>
                            </p:stCondLst>
                            <p:childTnLst>
                              <p:par>
                                <p:cTn id="17" presetID="22" presetClass="entr" presetSubtype="1" fill="hold" grpId="0" nodeType="afterEffect">
                                  <p:stCondLst>
                                    <p:cond delay="500"/>
                                  </p:stCondLst>
                                  <p:childTnLst>
                                    <p:set>
                                      <p:cBhvr>
                                        <p:cTn id="18" dur="1" fill="hold">
                                          <p:stCondLst>
                                            <p:cond delay="0"/>
                                          </p:stCondLst>
                                        </p:cTn>
                                        <p:tgtEl>
                                          <p:spTgt spid="16"/>
                                        </p:tgtEl>
                                        <p:attrNameLst>
                                          <p:attrName>style.visibility</p:attrName>
                                        </p:attrNameLst>
                                      </p:cBhvr>
                                      <p:to>
                                        <p:strVal val="visible"/>
                                      </p:to>
                                    </p:set>
                                    <p:animEffect transition="in" filter="wipe(up)">
                                      <p:cBhvr>
                                        <p:cTn id="19" dur="1000"/>
                                        <p:tgtEl>
                                          <p:spTgt spid="16"/>
                                        </p:tgtEl>
                                      </p:cBhvr>
                                    </p:animEffect>
                                  </p:childTnLst>
                                </p:cTn>
                              </p:par>
                            </p:childTnLst>
                          </p:cTn>
                        </p:par>
                        <p:par>
                          <p:cTn id="20" fill="hold">
                            <p:stCondLst>
                              <p:cond delay="4500"/>
                            </p:stCondLst>
                            <p:childTnLst>
                              <p:par>
                                <p:cTn id="21" presetID="22" presetClass="entr" presetSubtype="1" fill="hold" nodeType="afterEffect">
                                  <p:stCondLst>
                                    <p:cond delay="500"/>
                                  </p:stCondLst>
                                  <p:childTnLst>
                                    <p:set>
                                      <p:cBhvr>
                                        <p:cTn id="22" dur="1" fill="hold">
                                          <p:stCondLst>
                                            <p:cond delay="0"/>
                                          </p:stCondLst>
                                        </p:cTn>
                                        <p:tgtEl>
                                          <p:spTgt spid="5"/>
                                        </p:tgtEl>
                                        <p:attrNameLst>
                                          <p:attrName>style.visibility</p:attrName>
                                        </p:attrNameLst>
                                      </p:cBhvr>
                                      <p:to>
                                        <p:strVal val="visible"/>
                                      </p:to>
                                    </p:set>
                                    <p:animEffect transition="in" filter="wipe(up)">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left)">
                                      <p:cBhvr>
                                        <p:cTn id="28" dur="500"/>
                                        <p:tgtEl>
                                          <p:spTgt spid="3"/>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wipe(left)">
                                      <p:cBhvr>
                                        <p:cTn id="32" dur="500"/>
                                        <p:tgtEl>
                                          <p:spTgt spid="17"/>
                                        </p:tgtEl>
                                      </p:cBhvr>
                                    </p:animEffect>
                                  </p:childTnLst>
                                </p:cTn>
                              </p:par>
                            </p:childTnLst>
                          </p:cTn>
                        </p:par>
                        <p:par>
                          <p:cTn id="33" fill="hold">
                            <p:stCondLst>
                              <p:cond delay="1000"/>
                            </p:stCondLst>
                            <p:childTnLst>
                              <p:par>
                                <p:cTn id="34" presetID="22" presetClass="entr" presetSubtype="1" fill="hold" nodeType="after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up)">
                                      <p:cBhvr>
                                        <p:cTn id="36" dur="1000"/>
                                        <p:tgtEl>
                                          <p:spTgt spid="15"/>
                                        </p:tgtEl>
                                      </p:cBhvr>
                                    </p:animEffect>
                                  </p:childTnLst>
                                </p:cTn>
                              </p:par>
                            </p:childTnLst>
                          </p:cTn>
                        </p:par>
                        <p:par>
                          <p:cTn id="37" fill="hold">
                            <p:stCondLst>
                              <p:cond delay="2000"/>
                            </p:stCondLst>
                            <p:childTnLst>
                              <p:par>
                                <p:cTn id="38" presetID="22" presetClass="entr" presetSubtype="8" fill="hold" grpId="0" nodeType="after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wipe(left)">
                                      <p:cBhvr>
                                        <p:cTn id="40" dur="1000"/>
                                        <p:tgtEl>
                                          <p:spTgt spid="20"/>
                                        </p:tgtEl>
                                      </p:cBhvr>
                                    </p:animEffect>
                                  </p:childTnLst>
                                </p:cTn>
                              </p:par>
                            </p:childTnLst>
                          </p:cTn>
                        </p:par>
                        <p:par>
                          <p:cTn id="41" fill="hold">
                            <p:stCondLst>
                              <p:cond delay="3000"/>
                            </p:stCondLst>
                            <p:childTnLst>
                              <p:par>
                                <p:cTn id="42" presetID="22" presetClass="entr" presetSubtype="8" fill="hold" grpId="0" nodeType="afterEffect">
                                  <p:stCondLst>
                                    <p:cond delay="500"/>
                                  </p:stCondLst>
                                  <p:childTnLst>
                                    <p:set>
                                      <p:cBhvr>
                                        <p:cTn id="43" dur="1" fill="hold">
                                          <p:stCondLst>
                                            <p:cond delay="0"/>
                                          </p:stCondLst>
                                        </p:cTn>
                                        <p:tgtEl>
                                          <p:spTgt spid="14"/>
                                        </p:tgtEl>
                                        <p:attrNameLst>
                                          <p:attrName>style.visibility</p:attrName>
                                        </p:attrNameLst>
                                      </p:cBhvr>
                                      <p:to>
                                        <p:strVal val="visible"/>
                                      </p:to>
                                    </p:set>
                                    <p:animEffect transition="in" filter="wipe(left)">
                                      <p:cBhvr>
                                        <p:cTn id="4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6" grpId="0" animBg="1"/>
      <p:bldP spid="17" grpId="0"/>
      <p:bldP spid="3" grpId="0" animBg="1"/>
      <p:bldP spid="20" grpId="0"/>
      <p:bldP spid="14"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938306400"/>
              </p:ext>
            </p:extLst>
          </p:nvPr>
        </p:nvGraphicFramePr>
        <p:xfrm>
          <a:off x="685800" y="1773237"/>
          <a:ext cx="7772400" cy="2265363"/>
        </p:xfrm>
        <a:graphic>
          <a:graphicData uri="http://schemas.openxmlformats.org/drawingml/2006/table">
            <a:tbl>
              <a:tblPr firstRow="1" bandRow="1">
                <a:tableStyleId>{5C22544A-7EE6-4342-B048-85BDC9FD1C3A}</a:tableStyleId>
              </a:tblPr>
              <a:tblGrid>
                <a:gridCol w="846228">
                  <a:extLst>
                    <a:ext uri="{9D8B030D-6E8A-4147-A177-3AD203B41FA5}">
                      <a16:colId xmlns:a16="http://schemas.microsoft.com/office/drawing/2014/main" val="20000"/>
                    </a:ext>
                  </a:extLst>
                </a:gridCol>
                <a:gridCol w="1058091">
                  <a:extLst>
                    <a:ext uri="{9D8B030D-6E8A-4147-A177-3AD203B41FA5}">
                      <a16:colId xmlns:a16="http://schemas.microsoft.com/office/drawing/2014/main" val="20001"/>
                    </a:ext>
                  </a:extLst>
                </a:gridCol>
                <a:gridCol w="889840">
                  <a:extLst>
                    <a:ext uri="{9D8B030D-6E8A-4147-A177-3AD203B41FA5}">
                      <a16:colId xmlns:a16="http://schemas.microsoft.com/office/drawing/2014/main" val="20002"/>
                    </a:ext>
                  </a:extLst>
                </a:gridCol>
                <a:gridCol w="1319822">
                  <a:extLst>
                    <a:ext uri="{9D8B030D-6E8A-4147-A177-3AD203B41FA5}">
                      <a16:colId xmlns:a16="http://schemas.microsoft.com/office/drawing/2014/main" val="20003"/>
                    </a:ext>
                  </a:extLst>
                </a:gridCol>
                <a:gridCol w="1028495">
                  <a:extLst>
                    <a:ext uri="{9D8B030D-6E8A-4147-A177-3AD203B41FA5}">
                      <a16:colId xmlns:a16="http://schemas.microsoft.com/office/drawing/2014/main" val="20004"/>
                    </a:ext>
                  </a:extLst>
                </a:gridCol>
                <a:gridCol w="580061">
                  <a:extLst>
                    <a:ext uri="{9D8B030D-6E8A-4147-A177-3AD203B41FA5}">
                      <a16:colId xmlns:a16="http://schemas.microsoft.com/office/drawing/2014/main" val="20005"/>
                    </a:ext>
                  </a:extLst>
                </a:gridCol>
                <a:gridCol w="1024932">
                  <a:extLst>
                    <a:ext uri="{9D8B030D-6E8A-4147-A177-3AD203B41FA5}">
                      <a16:colId xmlns:a16="http://schemas.microsoft.com/office/drawing/2014/main" val="20006"/>
                    </a:ext>
                  </a:extLst>
                </a:gridCol>
                <a:gridCol w="1024931">
                  <a:extLst>
                    <a:ext uri="{9D8B030D-6E8A-4147-A177-3AD203B41FA5}">
                      <a16:colId xmlns:a16="http://schemas.microsoft.com/office/drawing/2014/main" val="20007"/>
                    </a:ext>
                  </a:extLst>
                </a:gridCol>
              </a:tblGrid>
              <a:tr h="436819">
                <a:tc>
                  <a:txBody>
                    <a:bodyPr/>
                    <a:lstStyle/>
                    <a:p>
                      <a:pPr algn="ctr"/>
                      <a:r>
                        <a:rPr lang="en-GB" sz="1800" dirty="0" err="1" smtClean="0">
                          <a:solidFill>
                            <a:schemeClr val="tx1"/>
                          </a:solidFill>
                        </a:rPr>
                        <a:t>PartNo</a:t>
                      </a:r>
                      <a:endParaRPr lang="en-SG" sz="1800" dirty="0">
                        <a:solidFill>
                          <a:schemeClr val="tx1"/>
                        </a:solidFill>
                      </a:endParaRPr>
                    </a:p>
                  </a:txBody>
                  <a:tcPr marL="18288" marR="18288" marT="18288" marB="18288">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GB" sz="1800" dirty="0" err="1" smtClean="0">
                          <a:solidFill>
                            <a:schemeClr val="tx1"/>
                          </a:solidFill>
                        </a:rPr>
                        <a:t>PartDesc</a:t>
                      </a:r>
                      <a:endParaRPr lang="en-SG" sz="1800" dirty="0">
                        <a:solidFill>
                          <a:schemeClr val="tx1"/>
                        </a:solidFill>
                      </a:endParaRPr>
                    </a:p>
                  </a:txBody>
                  <a:tcPr marL="18288" marR="18288" marT="18288" marB="18288">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GB" sz="1800" dirty="0" err="1" smtClean="0">
                          <a:solidFill>
                            <a:schemeClr val="tx1"/>
                          </a:solidFill>
                        </a:rPr>
                        <a:t>SuppNo</a:t>
                      </a:r>
                      <a:endParaRPr lang="en-SG" sz="1800" dirty="0">
                        <a:solidFill>
                          <a:schemeClr val="tx1"/>
                        </a:solidFill>
                      </a:endParaRPr>
                    </a:p>
                  </a:txBody>
                  <a:tcPr marL="18288" marR="18288" marT="18288" marB="18288">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GB" sz="1800" dirty="0" err="1" smtClean="0">
                          <a:solidFill>
                            <a:schemeClr val="tx1"/>
                          </a:solidFill>
                        </a:rPr>
                        <a:t>SuppName</a:t>
                      </a:r>
                      <a:endParaRPr lang="en-SG" sz="1800" dirty="0">
                        <a:solidFill>
                          <a:schemeClr val="tx1"/>
                        </a:solidFill>
                      </a:endParaRPr>
                    </a:p>
                  </a:txBody>
                  <a:tcPr marL="18288" marR="18288" marT="18288" marB="18288">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GB" sz="1800" dirty="0" err="1" smtClean="0">
                          <a:solidFill>
                            <a:schemeClr val="tx1"/>
                          </a:solidFill>
                        </a:rPr>
                        <a:t>SuppAddr</a:t>
                      </a:r>
                      <a:endParaRPr lang="en-SG" sz="1800" dirty="0">
                        <a:solidFill>
                          <a:schemeClr val="tx1"/>
                        </a:solidFill>
                      </a:endParaRPr>
                    </a:p>
                  </a:txBody>
                  <a:tcPr marL="18288" marR="18288" marT="18288" marB="18288">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GB" sz="1800" dirty="0" smtClean="0">
                          <a:solidFill>
                            <a:schemeClr val="tx1"/>
                          </a:solidFill>
                        </a:rPr>
                        <a:t>Cost</a:t>
                      </a:r>
                      <a:endParaRPr lang="en-SG" sz="1800" dirty="0">
                        <a:solidFill>
                          <a:schemeClr val="tx1"/>
                        </a:solidFill>
                      </a:endParaRPr>
                    </a:p>
                  </a:txBody>
                  <a:tcPr marL="18288" marR="18288" marT="18288" marB="18288">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GB" sz="1800" dirty="0" smtClean="0">
                          <a:solidFill>
                            <a:schemeClr val="tx1"/>
                          </a:solidFill>
                        </a:rPr>
                        <a:t>Store</a:t>
                      </a:r>
                      <a:endParaRPr lang="en-SG" sz="1800" dirty="0">
                        <a:solidFill>
                          <a:schemeClr val="tx1"/>
                        </a:solidFill>
                      </a:endParaRPr>
                    </a:p>
                  </a:txBody>
                  <a:tcPr marL="18288" marR="18288" marT="18288" marB="18288">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GB" sz="1800" dirty="0" smtClean="0">
                          <a:solidFill>
                            <a:schemeClr val="tx1"/>
                          </a:solidFill>
                        </a:rPr>
                        <a:t>Phone</a:t>
                      </a:r>
                      <a:endParaRPr lang="en-SG" sz="1800" dirty="0">
                        <a:solidFill>
                          <a:schemeClr val="tx1"/>
                        </a:solidFill>
                      </a:endParaRPr>
                    </a:p>
                  </a:txBody>
                  <a:tcPr marL="18288" marR="18288" marT="18288" marB="18288">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0"/>
                  </a:ext>
                </a:extLst>
              </a:tr>
              <a:tr h="457136">
                <a:tc rowSpan="2">
                  <a:txBody>
                    <a:bodyPr/>
                    <a:lstStyle/>
                    <a:p>
                      <a:pPr algn="ctr"/>
                      <a:r>
                        <a:rPr lang="en-GB" sz="1800" dirty="0" smtClean="0"/>
                        <a:t>P1</a:t>
                      </a:r>
                      <a:endParaRPr lang="en-SG" sz="1800" dirty="0"/>
                    </a:p>
                  </a:txBody>
                  <a:tcPr marL="18288" marR="18288" marT="18288" marB="18288">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FFF99"/>
                    </a:solidFill>
                  </a:tcPr>
                </a:tc>
                <a:tc rowSpan="2">
                  <a:txBody>
                    <a:bodyPr/>
                    <a:lstStyle/>
                    <a:p>
                      <a:pPr algn="ctr"/>
                      <a:r>
                        <a:rPr lang="en-GB" sz="1800" dirty="0" smtClean="0"/>
                        <a:t>Printer</a:t>
                      </a:r>
                      <a:endParaRPr lang="en-SG" sz="1800" dirty="0"/>
                    </a:p>
                  </a:txBody>
                  <a:tcPr marL="18288" marR="18288" marT="18288" marB="18288">
                    <a:lnT w="12700" cap="flat" cmpd="sng" algn="ctr">
                      <a:solidFill>
                        <a:schemeClr val="tx1"/>
                      </a:solidFill>
                      <a:prstDash val="solid"/>
                      <a:round/>
                      <a:headEnd type="none" w="med" len="med"/>
                      <a:tailEnd type="none" w="med" len="med"/>
                    </a:lnT>
                    <a:solidFill>
                      <a:srgbClr val="FFFF99"/>
                    </a:solidFill>
                  </a:tcPr>
                </a:tc>
                <a:tc>
                  <a:txBody>
                    <a:bodyPr/>
                    <a:lstStyle/>
                    <a:p>
                      <a:pPr algn="ctr"/>
                      <a:r>
                        <a:rPr lang="en-GB" sz="1800" dirty="0" smtClean="0"/>
                        <a:t>S1</a:t>
                      </a:r>
                      <a:endParaRPr lang="en-SG" sz="1800" dirty="0"/>
                    </a:p>
                  </a:txBody>
                  <a:tcPr marL="18288" marR="18288" marT="18288" marB="18288">
                    <a:lnT w="12700" cap="flat" cmpd="sng" algn="ctr">
                      <a:solidFill>
                        <a:schemeClr val="tx1"/>
                      </a:solidFill>
                      <a:prstDash val="solid"/>
                      <a:round/>
                      <a:headEnd type="none" w="med" len="med"/>
                      <a:tailEnd type="none" w="med" len="med"/>
                    </a:lnT>
                  </a:tcPr>
                </a:tc>
                <a:tc>
                  <a:txBody>
                    <a:bodyPr/>
                    <a:lstStyle/>
                    <a:p>
                      <a:pPr algn="ctr"/>
                      <a:r>
                        <a:rPr lang="en-GB" sz="1800" dirty="0" err="1" smtClean="0"/>
                        <a:t>Brightware</a:t>
                      </a:r>
                      <a:endParaRPr lang="en-SG" sz="1800" dirty="0"/>
                    </a:p>
                  </a:txBody>
                  <a:tcPr marL="18288" marR="18288" marT="18288" marB="18288">
                    <a:lnT w="12700" cap="flat" cmpd="sng" algn="ctr">
                      <a:solidFill>
                        <a:schemeClr val="tx1"/>
                      </a:solidFill>
                      <a:prstDash val="solid"/>
                      <a:round/>
                      <a:headEnd type="none" w="med" len="med"/>
                      <a:tailEnd type="none" w="med" len="med"/>
                    </a:lnT>
                  </a:tcPr>
                </a:tc>
                <a:tc>
                  <a:txBody>
                    <a:bodyPr/>
                    <a:lstStyle/>
                    <a:p>
                      <a:pPr algn="ctr"/>
                      <a:r>
                        <a:rPr lang="en-GB" sz="1800" dirty="0" smtClean="0"/>
                        <a:t>AMK</a:t>
                      </a:r>
                      <a:endParaRPr lang="en-SG" sz="1800" dirty="0"/>
                    </a:p>
                  </a:txBody>
                  <a:tcPr marL="18288" marR="18288" marT="18288" marB="18288">
                    <a:lnT w="12700" cap="flat" cmpd="sng" algn="ctr">
                      <a:solidFill>
                        <a:schemeClr val="tx1"/>
                      </a:solidFill>
                      <a:prstDash val="solid"/>
                      <a:round/>
                      <a:headEnd type="none" w="med" len="med"/>
                      <a:tailEnd type="none" w="med" len="med"/>
                    </a:lnT>
                  </a:tcPr>
                </a:tc>
                <a:tc>
                  <a:txBody>
                    <a:bodyPr/>
                    <a:lstStyle/>
                    <a:p>
                      <a:r>
                        <a:rPr lang="en-GB" sz="1800" dirty="0" smtClean="0"/>
                        <a:t>200</a:t>
                      </a:r>
                      <a:endParaRPr lang="en-SG" sz="1800" dirty="0"/>
                    </a:p>
                  </a:txBody>
                  <a:tcPr marL="18288" marR="18288" marT="18288" marB="18288">
                    <a:lnT w="12700" cap="flat" cmpd="sng" algn="ctr">
                      <a:solidFill>
                        <a:schemeClr val="tx1"/>
                      </a:solidFill>
                      <a:prstDash val="solid"/>
                      <a:round/>
                      <a:headEnd type="none" w="med" len="med"/>
                      <a:tailEnd type="none" w="med" len="med"/>
                    </a:lnT>
                  </a:tcPr>
                </a:tc>
                <a:tc rowSpan="2">
                  <a:txBody>
                    <a:bodyPr/>
                    <a:lstStyle/>
                    <a:p>
                      <a:pPr algn="ctr"/>
                      <a:r>
                        <a:rPr lang="en-GB" sz="1800" dirty="0" smtClean="0"/>
                        <a:t>Ken</a:t>
                      </a:r>
                      <a:endParaRPr lang="en-SG" sz="1800" dirty="0"/>
                    </a:p>
                  </a:txBody>
                  <a:tcPr marL="18288" marR="18288" marT="18288" marB="18288">
                    <a:lnT w="12700" cap="flat" cmpd="sng" algn="ctr">
                      <a:solidFill>
                        <a:schemeClr val="tx1"/>
                      </a:solidFill>
                      <a:prstDash val="solid"/>
                      <a:round/>
                      <a:headEnd type="none" w="med" len="med"/>
                      <a:tailEnd type="none" w="med" len="med"/>
                    </a:lnT>
                    <a:solidFill>
                      <a:srgbClr val="FFFF99"/>
                    </a:solidFill>
                  </a:tcPr>
                </a:tc>
                <a:tc rowSpan="2">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sz="1600" b="0" i="0" u="none" strike="noStrike" cap="none" normalizeH="0" baseline="0" dirty="0" smtClean="0">
                          <a:ln>
                            <a:noFill/>
                          </a:ln>
                          <a:solidFill>
                            <a:schemeClr val="tx1"/>
                          </a:solidFill>
                          <a:effectLst/>
                          <a:latin typeface="Calibri" pitchFamily="34" charset="0"/>
                          <a:cs typeface="Calibri" pitchFamily="34" charset="0"/>
                        </a:rPr>
                        <a:t>98553344</a:t>
                      </a:r>
                    </a:p>
                  </a:txBody>
                  <a:tcPr marL="18288" marR="18288" marT="18288" marB="18288"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FF99"/>
                    </a:solidFill>
                  </a:tcPr>
                </a:tc>
                <a:extLst>
                  <a:ext uri="{0D108BD9-81ED-4DB2-BD59-A6C34878D82A}">
                    <a16:rowId xmlns:a16="http://schemas.microsoft.com/office/drawing/2014/main" val="10001"/>
                  </a:ext>
                </a:extLst>
              </a:tr>
              <a:tr h="457136">
                <a:tc vMerge="1">
                  <a:txBody>
                    <a:bodyPr/>
                    <a:lstStyle/>
                    <a:p>
                      <a:pPr algn="ctr"/>
                      <a:endParaRPr lang="en-SG" sz="1800" dirty="0">
                        <a:solidFill>
                          <a:schemeClr val="tx1"/>
                        </a:solidFill>
                      </a:endParaRPr>
                    </a:p>
                  </a:txBody>
                  <a:tcPr marT="45714" marB="45714">
                    <a:lnL w="12700" cap="flat" cmpd="sng" algn="ctr">
                      <a:solidFill>
                        <a:schemeClr val="tx1"/>
                      </a:solidFill>
                      <a:prstDash val="solid"/>
                      <a:round/>
                      <a:headEnd type="none" w="med" len="med"/>
                      <a:tailEnd type="none" w="med" len="med"/>
                    </a:lnL>
                    <a:solidFill>
                      <a:srgbClr val="FFFF00"/>
                    </a:solidFill>
                  </a:tcPr>
                </a:tc>
                <a:tc vMerge="1">
                  <a:txBody>
                    <a:bodyPr/>
                    <a:lstStyle/>
                    <a:p>
                      <a:pPr algn="ctr"/>
                      <a:endParaRPr lang="en-SG" sz="1800" dirty="0">
                        <a:solidFill>
                          <a:schemeClr val="tx1"/>
                        </a:solidFill>
                      </a:endParaRPr>
                    </a:p>
                  </a:txBody>
                  <a:tcPr marT="45714" marB="45714">
                    <a:solidFill>
                      <a:srgbClr val="FFFF00"/>
                    </a:solidFill>
                  </a:tcPr>
                </a:tc>
                <a:tc>
                  <a:txBody>
                    <a:bodyPr/>
                    <a:lstStyle/>
                    <a:p>
                      <a:pPr algn="ctr"/>
                      <a:r>
                        <a:rPr lang="en-GB" sz="1800" dirty="0" smtClean="0">
                          <a:solidFill>
                            <a:schemeClr val="tx1"/>
                          </a:solidFill>
                        </a:rPr>
                        <a:t>S2</a:t>
                      </a:r>
                      <a:endParaRPr lang="en-SG" sz="1800" dirty="0">
                        <a:solidFill>
                          <a:schemeClr val="tx1"/>
                        </a:solidFill>
                      </a:endParaRPr>
                    </a:p>
                  </a:txBody>
                  <a:tcPr marL="18288" marR="18288" marT="18288" marB="18288"/>
                </a:tc>
                <a:tc>
                  <a:txBody>
                    <a:bodyPr/>
                    <a:lstStyle/>
                    <a:p>
                      <a:pPr algn="ctr"/>
                      <a:r>
                        <a:rPr lang="en-GB" sz="1800" dirty="0" err="1" smtClean="0">
                          <a:solidFill>
                            <a:schemeClr val="tx1"/>
                          </a:solidFill>
                        </a:rPr>
                        <a:t>SuperWare</a:t>
                      </a:r>
                      <a:endParaRPr lang="en-SG" sz="1800" dirty="0">
                        <a:solidFill>
                          <a:schemeClr val="tx1"/>
                        </a:solidFill>
                      </a:endParaRPr>
                    </a:p>
                  </a:txBody>
                  <a:tcPr marL="18288" marR="18288" marT="18288" marB="18288"/>
                </a:tc>
                <a:tc>
                  <a:txBody>
                    <a:bodyPr/>
                    <a:lstStyle/>
                    <a:p>
                      <a:pPr algn="ctr"/>
                      <a:r>
                        <a:rPr lang="en-GB" sz="1800" dirty="0" err="1" smtClean="0">
                          <a:solidFill>
                            <a:schemeClr val="tx1"/>
                          </a:solidFill>
                        </a:rPr>
                        <a:t>Yishun</a:t>
                      </a:r>
                      <a:endParaRPr lang="en-SG" sz="1800" dirty="0">
                        <a:solidFill>
                          <a:schemeClr val="tx1"/>
                        </a:solidFill>
                      </a:endParaRPr>
                    </a:p>
                  </a:txBody>
                  <a:tcPr marL="18288" marR="18288" marT="18288" marB="18288"/>
                </a:tc>
                <a:tc>
                  <a:txBody>
                    <a:bodyPr/>
                    <a:lstStyle/>
                    <a:p>
                      <a:r>
                        <a:rPr lang="en-GB" sz="1800" dirty="0" smtClean="0"/>
                        <a:t>220</a:t>
                      </a:r>
                      <a:endParaRPr lang="en-SG" sz="1800" dirty="0"/>
                    </a:p>
                  </a:txBody>
                  <a:tcPr marL="18288" marR="18288" marT="18288" marB="18288"/>
                </a:tc>
                <a:tc vMerge="1">
                  <a:txBody>
                    <a:bodyPr/>
                    <a:lstStyle/>
                    <a:p>
                      <a:pPr algn="ctr"/>
                      <a:endParaRPr lang="en-SG" sz="1800" dirty="0"/>
                    </a:p>
                  </a:txBody>
                  <a:tcPr marT="45714" marB="45714">
                    <a:solidFill>
                      <a:srgbClr val="FFFF00"/>
                    </a:solidFill>
                  </a:tcPr>
                </a:tc>
                <a:tc vMerge="1">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GB" sz="1600" b="0" i="0" u="none" strike="noStrike" cap="none" normalizeH="0" baseline="0" dirty="0" smtClean="0">
                        <a:ln>
                          <a:noFill/>
                        </a:ln>
                        <a:solidFill>
                          <a:schemeClr val="tx1"/>
                        </a:solidFill>
                        <a:effectLst/>
                        <a:latin typeface="Calibri" pitchFamily="34" charset="0"/>
                        <a:cs typeface="Calibri" pitchFamily="34" charset="0"/>
                      </a:endParaRPr>
                    </a:p>
                  </a:txBody>
                  <a:tcPr horzOverflow="overflow">
                    <a:lnR w="12700" cap="flat" cmpd="sng" algn="ctr">
                      <a:solidFill>
                        <a:schemeClr val="tx1"/>
                      </a:solidFill>
                      <a:prstDash val="solid"/>
                      <a:round/>
                      <a:headEnd type="none" w="med" len="med"/>
                      <a:tailEnd type="none" w="med" len="med"/>
                    </a:lnR>
                    <a:solidFill>
                      <a:srgbClr val="FFFF00"/>
                    </a:solidFill>
                  </a:tcPr>
                </a:tc>
                <a:extLst>
                  <a:ext uri="{0D108BD9-81ED-4DB2-BD59-A6C34878D82A}">
                    <a16:rowId xmlns:a16="http://schemas.microsoft.com/office/drawing/2014/main" val="10002"/>
                  </a:ext>
                </a:extLst>
              </a:tr>
              <a:tr h="457136">
                <a:tc rowSpan="2">
                  <a:txBody>
                    <a:bodyPr/>
                    <a:lstStyle/>
                    <a:p>
                      <a:pPr algn="ctr"/>
                      <a:r>
                        <a:rPr lang="en-GB" sz="1800" dirty="0" smtClean="0"/>
                        <a:t>P2</a:t>
                      </a:r>
                      <a:endParaRPr lang="en-SG" sz="1800" dirty="0"/>
                    </a:p>
                  </a:txBody>
                  <a:tcPr marL="18288" marR="18288" marT="18288" marB="18288">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rowSpan="2">
                  <a:txBody>
                    <a:bodyPr/>
                    <a:lstStyle/>
                    <a:p>
                      <a:pPr algn="ctr"/>
                      <a:r>
                        <a:rPr lang="en-GB" sz="1800" dirty="0" smtClean="0"/>
                        <a:t>Speaker</a:t>
                      </a:r>
                      <a:endParaRPr lang="en-SG" sz="1800" dirty="0"/>
                    </a:p>
                  </a:txBody>
                  <a:tcPr marL="18288" marR="18288" marT="18288" marB="18288">
                    <a:lnB w="12700" cap="flat" cmpd="sng" algn="ctr">
                      <a:solidFill>
                        <a:schemeClr val="tx1"/>
                      </a:solidFill>
                      <a:prstDash val="solid"/>
                      <a:round/>
                      <a:headEnd type="none" w="med" len="med"/>
                      <a:tailEnd type="none" w="med" len="med"/>
                    </a:lnB>
                  </a:tcPr>
                </a:tc>
                <a:tc>
                  <a:txBody>
                    <a:bodyPr/>
                    <a:lstStyle/>
                    <a:p>
                      <a:pPr algn="ctr"/>
                      <a:r>
                        <a:rPr lang="en-GB" sz="1800" dirty="0" smtClean="0"/>
                        <a:t>S1</a:t>
                      </a:r>
                      <a:endParaRPr lang="en-SG" sz="1800" dirty="0"/>
                    </a:p>
                  </a:txBody>
                  <a:tcPr marL="18288" marR="18288" marT="18288" marB="18288"/>
                </a:tc>
                <a:tc>
                  <a:txBody>
                    <a:bodyPr/>
                    <a:lstStyle/>
                    <a:p>
                      <a:pPr algn="ctr"/>
                      <a:r>
                        <a:rPr lang="en-GB" sz="1800" dirty="0" err="1" smtClean="0"/>
                        <a:t>Brightware</a:t>
                      </a:r>
                      <a:endParaRPr lang="en-SG" sz="1800" dirty="0"/>
                    </a:p>
                  </a:txBody>
                  <a:tcPr marL="18288" marR="18288" marT="18288" marB="18288"/>
                </a:tc>
                <a:tc>
                  <a:txBody>
                    <a:bodyPr/>
                    <a:lstStyle/>
                    <a:p>
                      <a:pPr algn="ctr"/>
                      <a:r>
                        <a:rPr lang="en-GB" sz="1800" dirty="0" smtClean="0"/>
                        <a:t>AMK</a:t>
                      </a:r>
                      <a:endParaRPr lang="en-SG" sz="1800" dirty="0"/>
                    </a:p>
                  </a:txBody>
                  <a:tcPr marL="18288" marR="18288" marT="18288" marB="18288"/>
                </a:tc>
                <a:tc>
                  <a:txBody>
                    <a:bodyPr/>
                    <a:lstStyle/>
                    <a:p>
                      <a:r>
                        <a:rPr lang="en-GB" sz="1800" dirty="0" smtClean="0"/>
                        <a:t>300</a:t>
                      </a:r>
                      <a:endParaRPr lang="en-SG" sz="1800" dirty="0"/>
                    </a:p>
                  </a:txBody>
                  <a:tcPr marL="18288" marR="18288" marT="18288" marB="18288"/>
                </a:tc>
                <a:tc rowSpan="2">
                  <a:txBody>
                    <a:bodyPr/>
                    <a:lstStyle/>
                    <a:p>
                      <a:pPr algn="ctr"/>
                      <a:r>
                        <a:rPr lang="en-GB" sz="1800" dirty="0" smtClean="0"/>
                        <a:t>Alvin</a:t>
                      </a:r>
                      <a:endParaRPr lang="en-SG" sz="1800" dirty="0"/>
                    </a:p>
                  </a:txBody>
                  <a:tcPr marL="18288" marR="18288" marT="18288" marB="18288">
                    <a:lnB w="12700" cap="flat" cmpd="sng" algn="ctr">
                      <a:solidFill>
                        <a:schemeClr val="tx1"/>
                      </a:solidFill>
                      <a:prstDash val="solid"/>
                      <a:round/>
                      <a:headEnd type="none" w="med" len="med"/>
                      <a:tailEnd type="none" w="med" len="med"/>
                    </a:lnB>
                  </a:tcPr>
                </a:tc>
                <a:tc rowSpan="2">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sz="1600" b="0" i="0" u="none" strike="noStrike" cap="none" normalizeH="0" baseline="0" dirty="0" smtClean="0">
                          <a:ln>
                            <a:noFill/>
                          </a:ln>
                          <a:solidFill>
                            <a:schemeClr val="tx1"/>
                          </a:solidFill>
                          <a:effectLst/>
                          <a:latin typeface="Calibri" pitchFamily="34" charset="0"/>
                          <a:cs typeface="Calibri" pitchFamily="34" charset="0"/>
                        </a:rPr>
                        <a:t>97334400</a:t>
                      </a:r>
                    </a:p>
                  </a:txBody>
                  <a:tcPr marL="18288" marR="18288" marT="18288" marB="18288" horzOverflow="overflow">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57136">
                <a:tc vMerge="1">
                  <a:txBody>
                    <a:bodyPr/>
                    <a:lstStyle/>
                    <a:p>
                      <a:pPr algn="ctr"/>
                      <a:endParaRPr lang="en-SG" sz="1800" dirty="0">
                        <a:solidFill>
                          <a:schemeClr val="tx1"/>
                        </a:solidFill>
                      </a:endParaRPr>
                    </a:p>
                  </a:txBody>
                  <a:tcPr marT="45714" marB="45714">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vMerge="1">
                  <a:txBody>
                    <a:bodyPr/>
                    <a:lstStyle/>
                    <a:p>
                      <a:pPr algn="ctr"/>
                      <a:endParaRPr lang="en-SG" sz="1800" dirty="0">
                        <a:solidFill>
                          <a:schemeClr val="tx1"/>
                        </a:solidFill>
                      </a:endParaRPr>
                    </a:p>
                  </a:txBody>
                  <a:tcPr marT="45714" marB="45714">
                    <a:lnB w="12700" cap="flat" cmpd="sng" algn="ctr">
                      <a:solidFill>
                        <a:schemeClr val="tx1"/>
                      </a:solidFill>
                      <a:prstDash val="solid"/>
                      <a:round/>
                      <a:headEnd type="none" w="med" len="med"/>
                      <a:tailEnd type="none" w="med" len="med"/>
                    </a:lnB>
                  </a:tcPr>
                </a:tc>
                <a:tc>
                  <a:txBody>
                    <a:bodyPr/>
                    <a:lstStyle/>
                    <a:p>
                      <a:pPr algn="ctr"/>
                      <a:r>
                        <a:rPr lang="en-GB" sz="1800" dirty="0" smtClean="0">
                          <a:solidFill>
                            <a:schemeClr val="tx1"/>
                          </a:solidFill>
                        </a:rPr>
                        <a:t>S2</a:t>
                      </a:r>
                      <a:endParaRPr lang="en-SG" sz="1800" dirty="0">
                        <a:solidFill>
                          <a:schemeClr val="tx1"/>
                        </a:solidFill>
                      </a:endParaRPr>
                    </a:p>
                  </a:txBody>
                  <a:tcPr marL="18288" marR="18288" marT="18288" marB="18288">
                    <a:lnB w="12700" cap="flat" cmpd="sng" algn="ctr">
                      <a:solidFill>
                        <a:schemeClr val="tx1"/>
                      </a:solidFill>
                      <a:prstDash val="solid"/>
                      <a:round/>
                      <a:headEnd type="none" w="med" len="med"/>
                      <a:tailEnd type="none" w="med" len="med"/>
                    </a:lnB>
                  </a:tcPr>
                </a:tc>
                <a:tc>
                  <a:txBody>
                    <a:bodyPr/>
                    <a:lstStyle/>
                    <a:p>
                      <a:pPr algn="ctr"/>
                      <a:r>
                        <a:rPr lang="en-GB" sz="1800" dirty="0" err="1" smtClean="0">
                          <a:solidFill>
                            <a:schemeClr val="tx1"/>
                          </a:solidFill>
                        </a:rPr>
                        <a:t>Superware</a:t>
                      </a:r>
                      <a:endParaRPr lang="en-SG" sz="1800" dirty="0">
                        <a:solidFill>
                          <a:schemeClr val="tx1"/>
                        </a:solidFill>
                      </a:endParaRPr>
                    </a:p>
                  </a:txBody>
                  <a:tcPr marL="18288" marR="18288" marT="18288" marB="18288">
                    <a:lnB w="12700" cap="flat" cmpd="sng" algn="ctr">
                      <a:solidFill>
                        <a:schemeClr val="tx1"/>
                      </a:solidFill>
                      <a:prstDash val="solid"/>
                      <a:round/>
                      <a:headEnd type="none" w="med" len="med"/>
                      <a:tailEnd type="none" w="med" len="med"/>
                    </a:lnB>
                  </a:tcPr>
                </a:tc>
                <a:tc>
                  <a:txBody>
                    <a:bodyPr/>
                    <a:lstStyle/>
                    <a:p>
                      <a:pPr algn="ctr"/>
                      <a:r>
                        <a:rPr lang="en-GB" sz="1800" dirty="0" err="1" smtClean="0">
                          <a:solidFill>
                            <a:schemeClr val="tx1"/>
                          </a:solidFill>
                        </a:rPr>
                        <a:t>Yishun</a:t>
                      </a:r>
                      <a:endParaRPr lang="en-SG" sz="1800" dirty="0">
                        <a:solidFill>
                          <a:schemeClr val="tx1"/>
                        </a:solidFill>
                      </a:endParaRPr>
                    </a:p>
                  </a:txBody>
                  <a:tcPr marL="18288" marR="18288" marT="18288" marB="18288">
                    <a:lnB w="12700" cap="flat" cmpd="sng" algn="ctr">
                      <a:solidFill>
                        <a:schemeClr val="tx1"/>
                      </a:solidFill>
                      <a:prstDash val="solid"/>
                      <a:round/>
                      <a:headEnd type="none" w="med" len="med"/>
                      <a:tailEnd type="none" w="med" len="med"/>
                    </a:lnB>
                  </a:tcPr>
                </a:tc>
                <a:tc>
                  <a:txBody>
                    <a:bodyPr/>
                    <a:lstStyle/>
                    <a:p>
                      <a:r>
                        <a:rPr lang="en-GB" sz="1800" dirty="0" smtClean="0"/>
                        <a:t>350</a:t>
                      </a:r>
                      <a:endParaRPr lang="en-SG" sz="1800" dirty="0"/>
                    </a:p>
                  </a:txBody>
                  <a:tcPr marL="18288" marR="18288" marT="18288" marB="18288">
                    <a:lnB w="12700" cap="flat" cmpd="sng" algn="ctr">
                      <a:solidFill>
                        <a:schemeClr val="tx1"/>
                      </a:solidFill>
                      <a:prstDash val="solid"/>
                      <a:round/>
                      <a:headEnd type="none" w="med" len="med"/>
                      <a:tailEnd type="none" w="med" len="med"/>
                    </a:lnB>
                  </a:tcPr>
                </a:tc>
                <a:tc vMerge="1">
                  <a:txBody>
                    <a:bodyPr/>
                    <a:lstStyle/>
                    <a:p>
                      <a:pPr algn="ctr"/>
                      <a:endParaRPr lang="en-SG" sz="1800" dirty="0"/>
                    </a:p>
                  </a:txBody>
                  <a:tcPr marT="45714" marB="45714">
                    <a:lnB w="12700" cap="flat" cmpd="sng" algn="ctr">
                      <a:solidFill>
                        <a:schemeClr val="tx1"/>
                      </a:solidFill>
                      <a:prstDash val="solid"/>
                      <a:round/>
                      <a:headEnd type="none" w="med" len="med"/>
                      <a:tailEnd type="none" w="med" len="med"/>
                    </a:lnB>
                  </a:tcPr>
                </a:tc>
                <a:tc vMerge="1">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GB" sz="1600" b="0" i="0" u="none" strike="noStrike" cap="none" normalizeH="0" baseline="0" dirty="0" smtClean="0">
                        <a:ln>
                          <a:noFill/>
                        </a:ln>
                        <a:solidFill>
                          <a:schemeClr val="tx1"/>
                        </a:solidFill>
                        <a:effectLst/>
                        <a:latin typeface="Calibri" pitchFamily="34" charset="0"/>
                        <a:cs typeface="Calibri" pitchFamily="34" charset="0"/>
                      </a:endParaRPr>
                    </a:p>
                  </a:txBody>
                  <a:tcPr horzOverflow="overflow">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4" name="Title 1"/>
          <p:cNvSpPr txBox="1">
            <a:spLocks/>
          </p:cNvSpPr>
          <p:nvPr/>
        </p:nvSpPr>
        <p:spPr bwMode="auto">
          <a:xfrm>
            <a:off x="766762" y="243590"/>
            <a:ext cx="1518612" cy="565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sp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eaLnBrk="1" hangingPunct="1">
              <a:defRPr/>
            </a:pPr>
            <a:r>
              <a:rPr lang="en-GB" sz="3200" b="1" dirty="0" smtClean="0">
                <a:solidFill>
                  <a:srgbClr val="C00000"/>
                </a:solidFill>
                <a:latin typeface="+mn-lt"/>
              </a:rPr>
              <a:t>Example</a:t>
            </a:r>
            <a:endParaRPr lang="en-US" sz="3200" b="1" dirty="0" smtClean="0">
              <a:solidFill>
                <a:srgbClr val="C00000"/>
              </a:solidFill>
              <a:latin typeface="+mn-lt"/>
            </a:endParaRPr>
          </a:p>
        </p:txBody>
      </p:sp>
      <p:sp>
        <p:nvSpPr>
          <p:cNvPr id="16" name="Text Box 295">
            <a:extLst>
              <a:ext uri="{FF2B5EF4-FFF2-40B4-BE49-F238E27FC236}">
                <a16:creationId xmlns:a16="http://schemas.microsoft.com/office/drawing/2014/main" id="{EF69DC4C-BFF7-40BB-B9C8-8AE76B3AEF4C}"/>
              </a:ext>
            </a:extLst>
          </p:cNvPr>
          <p:cNvSpPr txBox="1">
            <a:spLocks noChangeArrowheads="1"/>
          </p:cNvSpPr>
          <p:nvPr/>
        </p:nvSpPr>
        <p:spPr bwMode="auto">
          <a:xfrm>
            <a:off x="685800" y="1036607"/>
            <a:ext cx="5715000" cy="467820"/>
          </a:xfrm>
          <a:prstGeom prst="rect">
            <a:avLst/>
          </a:prstGeom>
          <a:noFill/>
          <a:ln w="12700">
            <a:noFill/>
            <a:miter lim="800000"/>
            <a:headEnd type="none" w="sm" len="sm"/>
            <a:tailEnd type="none" w="sm" len="sm"/>
          </a:ln>
        </p:spPr>
        <p:txBody>
          <a:bodyPr wrap="square" lIns="18288" tIns="18288" rIns="18288" bIns="18288">
            <a:spAutoFit/>
          </a:bodyPr>
          <a:lstStyle/>
          <a:p>
            <a:pPr marL="0" marR="0" lvl="0" indent="0" defTabSz="914400" rtl="0" eaLnBrk="0" fontAlgn="base" latinLnBrk="0" hangingPunct="0">
              <a:lnSpc>
                <a:spcPct val="100000"/>
              </a:lnSpc>
              <a:spcBef>
                <a:spcPct val="50000"/>
              </a:spcBef>
              <a:spcAft>
                <a:spcPct val="0"/>
              </a:spcAft>
              <a:buClrTx/>
              <a:buSzTx/>
              <a:buFontTx/>
              <a:buNone/>
              <a:tabLst/>
              <a:defRPr/>
            </a:pPr>
            <a:r>
              <a:rPr lang="en-US" sz="2800" dirty="0" smtClean="0">
                <a:solidFill>
                  <a:prstClr val="black"/>
                </a:solidFill>
                <a:latin typeface="Calibri" panose="020F0502020204030204" pitchFamily="34" charset="0"/>
                <a:cs typeface="Calibri" panose="020F0502020204030204" pitchFamily="34" charset="0"/>
              </a:rPr>
              <a:t>Given a following un-normalized table:</a:t>
            </a:r>
            <a:endPar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53" name="Rectangle 11"/>
          <p:cNvSpPr>
            <a:spLocks noChangeArrowheads="1"/>
          </p:cNvSpPr>
          <p:nvPr/>
        </p:nvSpPr>
        <p:spPr bwMode="auto">
          <a:xfrm>
            <a:off x="762000" y="990600"/>
            <a:ext cx="21034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rIns="45720">
            <a:spAutoFit/>
          </a:bodyPr>
          <a:lstStyle>
            <a:lvl1pPr marL="342900" indent="-342900" eaLnBrk="0" hangingPunct="0">
              <a:spcBef>
                <a:spcPct val="20000"/>
              </a:spcBef>
              <a:buFont typeface="Arial" charset="0"/>
              <a:buChar char="•"/>
              <a:defRPr sz="3200">
                <a:solidFill>
                  <a:schemeClr val="tx1"/>
                </a:solidFill>
                <a:latin typeface="Calibri" pitchFamily="34" charset="0"/>
              </a:defRPr>
            </a:lvl1pPr>
            <a:lvl2pPr marL="2857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lvl="1" eaLnBrk="1" hangingPunct="1">
              <a:buFont typeface="Wingdings" pitchFamily="2" charset="2"/>
              <a:buNone/>
            </a:pPr>
            <a:r>
              <a:rPr lang="en-US" altLang="zh-SG" sz="2400" b="1"/>
              <a:t>Part_Inventory</a:t>
            </a:r>
          </a:p>
        </p:txBody>
      </p:sp>
      <p:graphicFrame>
        <p:nvGraphicFramePr>
          <p:cNvPr id="2" name="Table 1"/>
          <p:cNvGraphicFramePr>
            <a:graphicFrameLocks noGrp="1"/>
          </p:cNvGraphicFramePr>
          <p:nvPr>
            <p:extLst>
              <p:ext uri="{D42A27DB-BD31-4B8C-83A1-F6EECF244321}">
                <p14:modId xmlns:p14="http://schemas.microsoft.com/office/powerpoint/2010/main" val="2820125182"/>
              </p:ext>
            </p:extLst>
          </p:nvPr>
        </p:nvGraphicFramePr>
        <p:xfrm>
          <a:off x="685800" y="1016000"/>
          <a:ext cx="7772400" cy="2265363"/>
        </p:xfrm>
        <a:graphic>
          <a:graphicData uri="http://schemas.openxmlformats.org/drawingml/2006/table">
            <a:tbl>
              <a:tblPr firstRow="1" bandRow="1">
                <a:tableStyleId>{5C22544A-7EE6-4342-B048-85BDC9FD1C3A}</a:tableStyleId>
              </a:tblPr>
              <a:tblGrid>
                <a:gridCol w="846228">
                  <a:extLst>
                    <a:ext uri="{9D8B030D-6E8A-4147-A177-3AD203B41FA5}">
                      <a16:colId xmlns:a16="http://schemas.microsoft.com/office/drawing/2014/main" val="20000"/>
                    </a:ext>
                  </a:extLst>
                </a:gridCol>
                <a:gridCol w="1058091">
                  <a:extLst>
                    <a:ext uri="{9D8B030D-6E8A-4147-A177-3AD203B41FA5}">
                      <a16:colId xmlns:a16="http://schemas.microsoft.com/office/drawing/2014/main" val="20001"/>
                    </a:ext>
                  </a:extLst>
                </a:gridCol>
                <a:gridCol w="889840">
                  <a:extLst>
                    <a:ext uri="{9D8B030D-6E8A-4147-A177-3AD203B41FA5}">
                      <a16:colId xmlns:a16="http://schemas.microsoft.com/office/drawing/2014/main" val="20002"/>
                    </a:ext>
                  </a:extLst>
                </a:gridCol>
                <a:gridCol w="1319822">
                  <a:extLst>
                    <a:ext uri="{9D8B030D-6E8A-4147-A177-3AD203B41FA5}">
                      <a16:colId xmlns:a16="http://schemas.microsoft.com/office/drawing/2014/main" val="20003"/>
                    </a:ext>
                  </a:extLst>
                </a:gridCol>
                <a:gridCol w="1028495">
                  <a:extLst>
                    <a:ext uri="{9D8B030D-6E8A-4147-A177-3AD203B41FA5}">
                      <a16:colId xmlns:a16="http://schemas.microsoft.com/office/drawing/2014/main" val="20004"/>
                    </a:ext>
                  </a:extLst>
                </a:gridCol>
                <a:gridCol w="580061">
                  <a:extLst>
                    <a:ext uri="{9D8B030D-6E8A-4147-A177-3AD203B41FA5}">
                      <a16:colId xmlns:a16="http://schemas.microsoft.com/office/drawing/2014/main" val="20005"/>
                    </a:ext>
                  </a:extLst>
                </a:gridCol>
                <a:gridCol w="1024932">
                  <a:extLst>
                    <a:ext uri="{9D8B030D-6E8A-4147-A177-3AD203B41FA5}">
                      <a16:colId xmlns:a16="http://schemas.microsoft.com/office/drawing/2014/main" val="20006"/>
                    </a:ext>
                  </a:extLst>
                </a:gridCol>
                <a:gridCol w="1024931">
                  <a:extLst>
                    <a:ext uri="{9D8B030D-6E8A-4147-A177-3AD203B41FA5}">
                      <a16:colId xmlns:a16="http://schemas.microsoft.com/office/drawing/2014/main" val="20007"/>
                    </a:ext>
                  </a:extLst>
                </a:gridCol>
              </a:tblGrid>
              <a:tr h="436819">
                <a:tc>
                  <a:txBody>
                    <a:bodyPr/>
                    <a:lstStyle/>
                    <a:p>
                      <a:pPr algn="ctr"/>
                      <a:r>
                        <a:rPr lang="en-GB" sz="1800" dirty="0" err="1" smtClean="0">
                          <a:solidFill>
                            <a:schemeClr val="tx1"/>
                          </a:solidFill>
                        </a:rPr>
                        <a:t>PartNo</a:t>
                      </a:r>
                      <a:endParaRPr lang="en-SG" sz="1800" dirty="0">
                        <a:solidFill>
                          <a:schemeClr val="tx1"/>
                        </a:solidFill>
                      </a:endParaRPr>
                    </a:p>
                  </a:txBody>
                  <a:tcPr marL="18288" marR="18288" marT="45714" marB="45714">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GB" sz="1800" dirty="0" err="1" smtClean="0">
                          <a:solidFill>
                            <a:schemeClr val="tx1"/>
                          </a:solidFill>
                        </a:rPr>
                        <a:t>PartDesc</a:t>
                      </a:r>
                      <a:endParaRPr lang="en-SG" sz="1800" dirty="0">
                        <a:solidFill>
                          <a:schemeClr val="tx1"/>
                        </a:solidFill>
                      </a:endParaRPr>
                    </a:p>
                  </a:txBody>
                  <a:tcPr marL="18288" marR="18288" marT="45714" marB="45714">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GB" sz="1800" dirty="0" err="1" smtClean="0">
                          <a:solidFill>
                            <a:schemeClr val="tx1"/>
                          </a:solidFill>
                        </a:rPr>
                        <a:t>SuppNo</a:t>
                      </a:r>
                      <a:endParaRPr lang="en-SG" sz="1800" dirty="0">
                        <a:solidFill>
                          <a:schemeClr val="tx1"/>
                        </a:solidFill>
                      </a:endParaRPr>
                    </a:p>
                  </a:txBody>
                  <a:tcPr marL="18288" marR="18288" marT="45714" marB="45714">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GB" sz="1800" dirty="0" err="1" smtClean="0">
                          <a:solidFill>
                            <a:schemeClr val="tx1"/>
                          </a:solidFill>
                        </a:rPr>
                        <a:t>SuppName</a:t>
                      </a:r>
                      <a:endParaRPr lang="en-SG" sz="1800" dirty="0">
                        <a:solidFill>
                          <a:schemeClr val="tx1"/>
                        </a:solidFill>
                      </a:endParaRPr>
                    </a:p>
                  </a:txBody>
                  <a:tcPr marL="18288" marR="18288" marT="45714" marB="45714">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GB" sz="1800" dirty="0" err="1" smtClean="0">
                          <a:solidFill>
                            <a:schemeClr val="tx1"/>
                          </a:solidFill>
                        </a:rPr>
                        <a:t>SuppAddr</a:t>
                      </a:r>
                      <a:endParaRPr lang="en-SG" sz="1800" dirty="0">
                        <a:solidFill>
                          <a:schemeClr val="tx1"/>
                        </a:solidFill>
                      </a:endParaRPr>
                    </a:p>
                  </a:txBody>
                  <a:tcPr marL="18288" marR="18288" marT="45714" marB="45714">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GB" sz="1800" dirty="0" smtClean="0">
                          <a:solidFill>
                            <a:schemeClr val="tx1"/>
                          </a:solidFill>
                        </a:rPr>
                        <a:t>Cost</a:t>
                      </a:r>
                      <a:endParaRPr lang="en-SG" sz="1800" dirty="0">
                        <a:solidFill>
                          <a:schemeClr val="tx1"/>
                        </a:solidFill>
                      </a:endParaRPr>
                    </a:p>
                  </a:txBody>
                  <a:tcPr marL="18288" marR="18288" marT="45714" marB="45714">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GB" sz="1800" dirty="0" smtClean="0">
                          <a:solidFill>
                            <a:schemeClr val="tx1"/>
                          </a:solidFill>
                        </a:rPr>
                        <a:t>Store</a:t>
                      </a:r>
                      <a:endParaRPr lang="en-SG" sz="1800" dirty="0">
                        <a:solidFill>
                          <a:schemeClr val="tx1"/>
                        </a:solidFill>
                      </a:endParaRPr>
                    </a:p>
                  </a:txBody>
                  <a:tcPr marL="18288" marR="18288" marT="45714" marB="45714">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GB" sz="1800" dirty="0" smtClean="0">
                          <a:solidFill>
                            <a:schemeClr val="tx1"/>
                          </a:solidFill>
                        </a:rPr>
                        <a:t>Phone</a:t>
                      </a:r>
                      <a:endParaRPr lang="en-SG" sz="1800" dirty="0">
                        <a:solidFill>
                          <a:schemeClr val="tx1"/>
                        </a:solidFill>
                      </a:endParaRPr>
                    </a:p>
                  </a:txBody>
                  <a:tcPr marL="18288" marR="18288" marT="45714" marB="45714">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0"/>
                  </a:ext>
                </a:extLst>
              </a:tr>
              <a:tr h="457136">
                <a:tc rowSpan="2">
                  <a:txBody>
                    <a:bodyPr/>
                    <a:lstStyle/>
                    <a:p>
                      <a:pPr algn="ctr"/>
                      <a:r>
                        <a:rPr lang="en-GB" sz="1800" dirty="0" smtClean="0"/>
                        <a:t>P1</a:t>
                      </a:r>
                      <a:endParaRPr lang="en-SG" sz="1800" dirty="0"/>
                    </a:p>
                  </a:txBody>
                  <a:tcPr marL="18288" marR="18288" marT="45714" marB="45714">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FFF99"/>
                    </a:solidFill>
                  </a:tcPr>
                </a:tc>
                <a:tc rowSpan="2">
                  <a:txBody>
                    <a:bodyPr/>
                    <a:lstStyle/>
                    <a:p>
                      <a:pPr algn="ctr"/>
                      <a:r>
                        <a:rPr lang="en-GB" sz="1800" dirty="0" smtClean="0"/>
                        <a:t>Printer</a:t>
                      </a:r>
                      <a:endParaRPr lang="en-SG" sz="1800" dirty="0"/>
                    </a:p>
                  </a:txBody>
                  <a:tcPr marL="18288" marR="18288" marT="45714" marB="45714">
                    <a:lnT w="12700" cap="flat" cmpd="sng" algn="ctr">
                      <a:solidFill>
                        <a:schemeClr val="tx1"/>
                      </a:solidFill>
                      <a:prstDash val="solid"/>
                      <a:round/>
                      <a:headEnd type="none" w="med" len="med"/>
                      <a:tailEnd type="none" w="med" len="med"/>
                    </a:lnT>
                    <a:solidFill>
                      <a:srgbClr val="FFFF99"/>
                    </a:solidFill>
                  </a:tcPr>
                </a:tc>
                <a:tc>
                  <a:txBody>
                    <a:bodyPr/>
                    <a:lstStyle/>
                    <a:p>
                      <a:pPr algn="ctr"/>
                      <a:r>
                        <a:rPr lang="en-GB" sz="1800" dirty="0" smtClean="0"/>
                        <a:t>S1</a:t>
                      </a:r>
                      <a:endParaRPr lang="en-SG" sz="1800" dirty="0"/>
                    </a:p>
                  </a:txBody>
                  <a:tcPr marL="18288" marR="18288" marT="45714" marB="45714">
                    <a:lnT w="12700" cap="flat" cmpd="sng" algn="ctr">
                      <a:solidFill>
                        <a:schemeClr val="tx1"/>
                      </a:solidFill>
                      <a:prstDash val="solid"/>
                      <a:round/>
                      <a:headEnd type="none" w="med" len="med"/>
                      <a:tailEnd type="none" w="med" len="med"/>
                    </a:lnT>
                    <a:solidFill>
                      <a:schemeClr val="bg2"/>
                    </a:solidFill>
                  </a:tcPr>
                </a:tc>
                <a:tc>
                  <a:txBody>
                    <a:bodyPr/>
                    <a:lstStyle/>
                    <a:p>
                      <a:pPr algn="ctr"/>
                      <a:r>
                        <a:rPr lang="en-GB" sz="1800" dirty="0" err="1" smtClean="0"/>
                        <a:t>Brightware</a:t>
                      </a:r>
                      <a:endParaRPr lang="en-SG" sz="1800" dirty="0"/>
                    </a:p>
                  </a:txBody>
                  <a:tcPr marL="18288" marR="18288" marT="45714" marB="45714">
                    <a:lnT w="12700" cap="flat" cmpd="sng" algn="ctr">
                      <a:solidFill>
                        <a:schemeClr val="tx1"/>
                      </a:solidFill>
                      <a:prstDash val="solid"/>
                      <a:round/>
                      <a:headEnd type="none" w="med" len="med"/>
                      <a:tailEnd type="none" w="med" len="med"/>
                    </a:lnT>
                    <a:solidFill>
                      <a:schemeClr val="bg2"/>
                    </a:solidFill>
                  </a:tcPr>
                </a:tc>
                <a:tc>
                  <a:txBody>
                    <a:bodyPr/>
                    <a:lstStyle/>
                    <a:p>
                      <a:pPr algn="ctr"/>
                      <a:r>
                        <a:rPr lang="en-GB" sz="1800" dirty="0" smtClean="0"/>
                        <a:t>AMK</a:t>
                      </a:r>
                      <a:endParaRPr lang="en-SG" sz="1800" dirty="0"/>
                    </a:p>
                  </a:txBody>
                  <a:tcPr marL="18288" marR="18288" marT="45714" marB="45714">
                    <a:lnT w="12700" cap="flat" cmpd="sng" algn="ctr">
                      <a:solidFill>
                        <a:schemeClr val="tx1"/>
                      </a:solidFill>
                      <a:prstDash val="solid"/>
                      <a:round/>
                      <a:headEnd type="none" w="med" len="med"/>
                      <a:tailEnd type="none" w="med" len="med"/>
                    </a:lnT>
                    <a:solidFill>
                      <a:schemeClr val="bg2"/>
                    </a:solidFill>
                  </a:tcPr>
                </a:tc>
                <a:tc>
                  <a:txBody>
                    <a:bodyPr/>
                    <a:lstStyle/>
                    <a:p>
                      <a:r>
                        <a:rPr lang="en-GB" sz="1800" dirty="0" smtClean="0"/>
                        <a:t>200</a:t>
                      </a:r>
                      <a:endParaRPr lang="en-SG" sz="1800" dirty="0"/>
                    </a:p>
                  </a:txBody>
                  <a:tcPr marL="18288" marR="18288" marT="45714" marB="45714">
                    <a:lnT w="12700" cap="flat" cmpd="sng" algn="ctr">
                      <a:solidFill>
                        <a:schemeClr val="tx1"/>
                      </a:solidFill>
                      <a:prstDash val="solid"/>
                      <a:round/>
                      <a:headEnd type="none" w="med" len="med"/>
                      <a:tailEnd type="none" w="med" len="med"/>
                    </a:lnT>
                  </a:tcPr>
                </a:tc>
                <a:tc rowSpan="2">
                  <a:txBody>
                    <a:bodyPr/>
                    <a:lstStyle/>
                    <a:p>
                      <a:pPr algn="ctr"/>
                      <a:r>
                        <a:rPr lang="en-GB" sz="1800" dirty="0" smtClean="0"/>
                        <a:t>Ken</a:t>
                      </a:r>
                      <a:endParaRPr lang="en-SG" sz="1800" dirty="0"/>
                    </a:p>
                  </a:txBody>
                  <a:tcPr marL="18288" marR="18288" marT="45714" marB="45714">
                    <a:lnT w="12700" cap="flat" cmpd="sng" algn="ctr">
                      <a:solidFill>
                        <a:schemeClr val="tx1"/>
                      </a:solidFill>
                      <a:prstDash val="solid"/>
                      <a:round/>
                      <a:headEnd type="none" w="med" len="med"/>
                      <a:tailEnd type="none" w="med" len="med"/>
                    </a:lnT>
                    <a:solidFill>
                      <a:srgbClr val="FFFF99"/>
                    </a:solidFill>
                  </a:tcPr>
                </a:tc>
                <a:tc rowSpan="2">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sz="1600" b="0" i="0" u="none" strike="noStrike" cap="none" normalizeH="0" baseline="0" dirty="0" smtClean="0">
                          <a:ln>
                            <a:noFill/>
                          </a:ln>
                          <a:solidFill>
                            <a:schemeClr val="tx1"/>
                          </a:solidFill>
                          <a:effectLst/>
                          <a:latin typeface="Calibri" pitchFamily="34" charset="0"/>
                          <a:cs typeface="Calibri" pitchFamily="34" charset="0"/>
                        </a:rPr>
                        <a:t>98553344</a:t>
                      </a:r>
                    </a:p>
                  </a:txBody>
                  <a:tcPr marL="18288" marR="18288"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FF99"/>
                    </a:solidFill>
                  </a:tcPr>
                </a:tc>
                <a:extLst>
                  <a:ext uri="{0D108BD9-81ED-4DB2-BD59-A6C34878D82A}">
                    <a16:rowId xmlns:a16="http://schemas.microsoft.com/office/drawing/2014/main" val="10001"/>
                  </a:ext>
                </a:extLst>
              </a:tr>
              <a:tr h="457136">
                <a:tc vMerge="1">
                  <a:txBody>
                    <a:bodyPr/>
                    <a:lstStyle/>
                    <a:p>
                      <a:pPr algn="ctr"/>
                      <a:endParaRPr lang="en-SG" sz="1800" dirty="0">
                        <a:solidFill>
                          <a:schemeClr val="tx1"/>
                        </a:solidFill>
                      </a:endParaRPr>
                    </a:p>
                  </a:txBody>
                  <a:tcPr marT="45714" marB="45714">
                    <a:lnL w="12700" cap="flat" cmpd="sng" algn="ctr">
                      <a:solidFill>
                        <a:schemeClr val="tx1"/>
                      </a:solidFill>
                      <a:prstDash val="solid"/>
                      <a:round/>
                      <a:headEnd type="none" w="med" len="med"/>
                      <a:tailEnd type="none" w="med" len="med"/>
                    </a:lnL>
                    <a:solidFill>
                      <a:srgbClr val="FFFF00"/>
                    </a:solidFill>
                  </a:tcPr>
                </a:tc>
                <a:tc vMerge="1">
                  <a:txBody>
                    <a:bodyPr/>
                    <a:lstStyle/>
                    <a:p>
                      <a:pPr algn="ctr"/>
                      <a:endParaRPr lang="en-SG" sz="1800" dirty="0">
                        <a:solidFill>
                          <a:schemeClr val="tx1"/>
                        </a:solidFill>
                      </a:endParaRPr>
                    </a:p>
                  </a:txBody>
                  <a:tcPr marT="45714" marB="45714">
                    <a:solidFill>
                      <a:srgbClr val="FFFF00"/>
                    </a:solidFill>
                  </a:tcPr>
                </a:tc>
                <a:tc>
                  <a:txBody>
                    <a:bodyPr/>
                    <a:lstStyle/>
                    <a:p>
                      <a:pPr algn="ctr"/>
                      <a:r>
                        <a:rPr lang="en-GB" sz="1800" dirty="0" smtClean="0">
                          <a:solidFill>
                            <a:schemeClr val="tx1"/>
                          </a:solidFill>
                        </a:rPr>
                        <a:t>S2</a:t>
                      </a:r>
                      <a:endParaRPr lang="en-SG" sz="1800" dirty="0">
                        <a:solidFill>
                          <a:schemeClr val="tx1"/>
                        </a:solidFill>
                      </a:endParaRPr>
                    </a:p>
                  </a:txBody>
                  <a:tcPr marL="18288" marR="18288" marT="45714" marB="45714">
                    <a:solidFill>
                      <a:schemeClr val="bg2">
                        <a:lumMod val="90000"/>
                      </a:schemeClr>
                    </a:solidFill>
                  </a:tcPr>
                </a:tc>
                <a:tc>
                  <a:txBody>
                    <a:bodyPr/>
                    <a:lstStyle/>
                    <a:p>
                      <a:pPr algn="ctr"/>
                      <a:r>
                        <a:rPr lang="en-GB" sz="1800" dirty="0" err="1" smtClean="0">
                          <a:solidFill>
                            <a:schemeClr val="tx1"/>
                          </a:solidFill>
                        </a:rPr>
                        <a:t>SuperWare</a:t>
                      </a:r>
                      <a:endParaRPr lang="en-SG" sz="1800" dirty="0">
                        <a:solidFill>
                          <a:schemeClr val="tx1"/>
                        </a:solidFill>
                      </a:endParaRPr>
                    </a:p>
                  </a:txBody>
                  <a:tcPr marL="18288" marR="18288" marT="45714" marB="45714">
                    <a:solidFill>
                      <a:schemeClr val="bg2">
                        <a:lumMod val="90000"/>
                      </a:schemeClr>
                    </a:solidFill>
                  </a:tcPr>
                </a:tc>
                <a:tc>
                  <a:txBody>
                    <a:bodyPr/>
                    <a:lstStyle/>
                    <a:p>
                      <a:pPr algn="ctr"/>
                      <a:r>
                        <a:rPr lang="en-GB" sz="1800" dirty="0" err="1" smtClean="0">
                          <a:solidFill>
                            <a:schemeClr val="tx1"/>
                          </a:solidFill>
                        </a:rPr>
                        <a:t>Yishun</a:t>
                      </a:r>
                      <a:endParaRPr lang="en-SG" sz="1800" dirty="0">
                        <a:solidFill>
                          <a:schemeClr val="tx1"/>
                        </a:solidFill>
                      </a:endParaRPr>
                    </a:p>
                  </a:txBody>
                  <a:tcPr marL="18288" marR="18288" marT="45714" marB="45714">
                    <a:solidFill>
                      <a:schemeClr val="bg2">
                        <a:lumMod val="90000"/>
                      </a:schemeClr>
                    </a:solidFill>
                  </a:tcPr>
                </a:tc>
                <a:tc>
                  <a:txBody>
                    <a:bodyPr/>
                    <a:lstStyle/>
                    <a:p>
                      <a:r>
                        <a:rPr lang="en-GB" sz="1800" dirty="0" smtClean="0"/>
                        <a:t>220</a:t>
                      </a:r>
                      <a:endParaRPr lang="en-SG" sz="1800" dirty="0"/>
                    </a:p>
                  </a:txBody>
                  <a:tcPr marL="18288" marR="18288" marT="45714" marB="45714"/>
                </a:tc>
                <a:tc vMerge="1">
                  <a:txBody>
                    <a:bodyPr/>
                    <a:lstStyle/>
                    <a:p>
                      <a:pPr algn="ctr"/>
                      <a:endParaRPr lang="en-SG" sz="1800" dirty="0"/>
                    </a:p>
                  </a:txBody>
                  <a:tcPr marT="45714" marB="45714">
                    <a:solidFill>
                      <a:srgbClr val="FFFF00"/>
                    </a:solidFill>
                  </a:tcPr>
                </a:tc>
                <a:tc vMerge="1">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GB" sz="1600" b="0" i="0" u="none" strike="noStrike" cap="none" normalizeH="0" baseline="0" dirty="0" smtClean="0">
                        <a:ln>
                          <a:noFill/>
                        </a:ln>
                        <a:solidFill>
                          <a:schemeClr val="tx1"/>
                        </a:solidFill>
                        <a:effectLst/>
                        <a:latin typeface="Calibri" pitchFamily="34" charset="0"/>
                        <a:cs typeface="Calibri" pitchFamily="34" charset="0"/>
                      </a:endParaRPr>
                    </a:p>
                  </a:txBody>
                  <a:tcPr horzOverflow="overflow">
                    <a:lnR w="12700" cap="flat" cmpd="sng" algn="ctr">
                      <a:solidFill>
                        <a:schemeClr val="tx1"/>
                      </a:solidFill>
                      <a:prstDash val="solid"/>
                      <a:round/>
                      <a:headEnd type="none" w="med" len="med"/>
                      <a:tailEnd type="none" w="med" len="med"/>
                    </a:lnR>
                    <a:solidFill>
                      <a:srgbClr val="FFFF00"/>
                    </a:solidFill>
                  </a:tcPr>
                </a:tc>
                <a:extLst>
                  <a:ext uri="{0D108BD9-81ED-4DB2-BD59-A6C34878D82A}">
                    <a16:rowId xmlns:a16="http://schemas.microsoft.com/office/drawing/2014/main" val="10002"/>
                  </a:ext>
                </a:extLst>
              </a:tr>
              <a:tr h="457136">
                <a:tc rowSpan="2">
                  <a:txBody>
                    <a:bodyPr/>
                    <a:lstStyle/>
                    <a:p>
                      <a:pPr algn="ctr"/>
                      <a:r>
                        <a:rPr lang="en-GB" sz="1800" dirty="0" smtClean="0"/>
                        <a:t>P2</a:t>
                      </a:r>
                      <a:endParaRPr lang="en-SG" sz="1800" dirty="0"/>
                    </a:p>
                  </a:txBody>
                  <a:tcPr marL="18288" marR="18288" marT="45714" marB="45714">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rowSpan="2">
                  <a:txBody>
                    <a:bodyPr/>
                    <a:lstStyle/>
                    <a:p>
                      <a:pPr algn="ctr"/>
                      <a:r>
                        <a:rPr lang="en-GB" sz="1800" dirty="0" smtClean="0"/>
                        <a:t>Speaker</a:t>
                      </a:r>
                      <a:endParaRPr lang="en-SG" sz="1800" dirty="0"/>
                    </a:p>
                  </a:txBody>
                  <a:tcPr marL="18288" marR="18288" marT="45714" marB="45714">
                    <a:lnB w="12700" cap="flat" cmpd="sng" algn="ctr">
                      <a:solidFill>
                        <a:schemeClr val="tx1"/>
                      </a:solidFill>
                      <a:prstDash val="solid"/>
                      <a:round/>
                      <a:headEnd type="none" w="med" len="med"/>
                      <a:tailEnd type="none" w="med" len="med"/>
                    </a:lnB>
                  </a:tcPr>
                </a:tc>
                <a:tc>
                  <a:txBody>
                    <a:bodyPr/>
                    <a:lstStyle/>
                    <a:p>
                      <a:pPr algn="ctr"/>
                      <a:r>
                        <a:rPr lang="en-GB" sz="1800" dirty="0" smtClean="0"/>
                        <a:t>S1</a:t>
                      </a:r>
                      <a:endParaRPr lang="en-SG" sz="1800" dirty="0"/>
                    </a:p>
                  </a:txBody>
                  <a:tcPr marL="18288" marR="18288" marT="45714" marB="45714">
                    <a:solidFill>
                      <a:schemeClr val="bg2"/>
                    </a:solidFill>
                  </a:tcPr>
                </a:tc>
                <a:tc>
                  <a:txBody>
                    <a:bodyPr/>
                    <a:lstStyle/>
                    <a:p>
                      <a:pPr algn="ctr"/>
                      <a:r>
                        <a:rPr lang="en-GB" sz="1800" dirty="0" err="1" smtClean="0"/>
                        <a:t>Brightware</a:t>
                      </a:r>
                      <a:endParaRPr lang="en-SG" sz="1800" dirty="0"/>
                    </a:p>
                  </a:txBody>
                  <a:tcPr marL="18288" marR="18288" marT="45714" marB="45714">
                    <a:solidFill>
                      <a:schemeClr val="bg2"/>
                    </a:solidFill>
                  </a:tcPr>
                </a:tc>
                <a:tc>
                  <a:txBody>
                    <a:bodyPr/>
                    <a:lstStyle/>
                    <a:p>
                      <a:pPr algn="ctr"/>
                      <a:r>
                        <a:rPr lang="en-GB" sz="1800" dirty="0" smtClean="0"/>
                        <a:t>AMK</a:t>
                      </a:r>
                      <a:endParaRPr lang="en-SG" sz="1800" dirty="0"/>
                    </a:p>
                  </a:txBody>
                  <a:tcPr marL="18288" marR="18288" marT="45714" marB="45714">
                    <a:solidFill>
                      <a:schemeClr val="bg2"/>
                    </a:solidFill>
                  </a:tcPr>
                </a:tc>
                <a:tc>
                  <a:txBody>
                    <a:bodyPr/>
                    <a:lstStyle/>
                    <a:p>
                      <a:r>
                        <a:rPr lang="en-GB" sz="1800" dirty="0" smtClean="0"/>
                        <a:t>300</a:t>
                      </a:r>
                      <a:endParaRPr lang="en-SG" sz="1800" dirty="0"/>
                    </a:p>
                  </a:txBody>
                  <a:tcPr marL="18288" marR="18288" marT="45714" marB="45714"/>
                </a:tc>
                <a:tc rowSpan="2">
                  <a:txBody>
                    <a:bodyPr/>
                    <a:lstStyle/>
                    <a:p>
                      <a:pPr algn="ctr"/>
                      <a:r>
                        <a:rPr lang="en-GB" sz="1800" dirty="0" smtClean="0"/>
                        <a:t>Alvin</a:t>
                      </a:r>
                      <a:endParaRPr lang="en-SG" sz="1800" dirty="0"/>
                    </a:p>
                  </a:txBody>
                  <a:tcPr marL="18288" marR="18288" marT="45714" marB="45714">
                    <a:lnB w="12700" cap="flat" cmpd="sng" algn="ctr">
                      <a:solidFill>
                        <a:schemeClr val="tx1"/>
                      </a:solidFill>
                      <a:prstDash val="solid"/>
                      <a:round/>
                      <a:headEnd type="none" w="med" len="med"/>
                      <a:tailEnd type="none" w="med" len="med"/>
                    </a:lnB>
                  </a:tcPr>
                </a:tc>
                <a:tc rowSpan="2">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sz="1600" b="0" i="0" u="none" strike="noStrike" cap="none" normalizeH="0" baseline="0" dirty="0" smtClean="0">
                          <a:ln>
                            <a:noFill/>
                          </a:ln>
                          <a:solidFill>
                            <a:schemeClr val="tx1"/>
                          </a:solidFill>
                          <a:effectLst/>
                          <a:latin typeface="Calibri" pitchFamily="34" charset="0"/>
                          <a:cs typeface="Calibri" pitchFamily="34" charset="0"/>
                        </a:rPr>
                        <a:t>97334400</a:t>
                      </a:r>
                    </a:p>
                  </a:txBody>
                  <a:tcPr marL="18288" marR="18288" horzOverflow="overflow">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57136">
                <a:tc vMerge="1">
                  <a:txBody>
                    <a:bodyPr/>
                    <a:lstStyle/>
                    <a:p>
                      <a:pPr algn="ctr"/>
                      <a:endParaRPr lang="en-SG" sz="1800" dirty="0">
                        <a:solidFill>
                          <a:schemeClr val="tx1"/>
                        </a:solidFill>
                      </a:endParaRPr>
                    </a:p>
                  </a:txBody>
                  <a:tcPr marT="45714" marB="45714">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vMerge="1">
                  <a:txBody>
                    <a:bodyPr/>
                    <a:lstStyle/>
                    <a:p>
                      <a:pPr algn="ctr"/>
                      <a:endParaRPr lang="en-SG" sz="1800" dirty="0">
                        <a:solidFill>
                          <a:schemeClr val="tx1"/>
                        </a:solidFill>
                      </a:endParaRPr>
                    </a:p>
                  </a:txBody>
                  <a:tcPr marT="45714" marB="45714">
                    <a:lnB w="12700" cap="flat" cmpd="sng" algn="ctr">
                      <a:solidFill>
                        <a:schemeClr val="tx1"/>
                      </a:solidFill>
                      <a:prstDash val="solid"/>
                      <a:round/>
                      <a:headEnd type="none" w="med" len="med"/>
                      <a:tailEnd type="none" w="med" len="med"/>
                    </a:lnB>
                  </a:tcPr>
                </a:tc>
                <a:tc>
                  <a:txBody>
                    <a:bodyPr/>
                    <a:lstStyle/>
                    <a:p>
                      <a:pPr algn="ctr"/>
                      <a:r>
                        <a:rPr lang="en-GB" sz="1800" dirty="0" smtClean="0">
                          <a:solidFill>
                            <a:schemeClr val="tx1"/>
                          </a:solidFill>
                        </a:rPr>
                        <a:t>S2</a:t>
                      </a:r>
                      <a:endParaRPr lang="en-SG" sz="1800" dirty="0">
                        <a:solidFill>
                          <a:schemeClr val="tx1"/>
                        </a:solidFill>
                      </a:endParaRPr>
                    </a:p>
                  </a:txBody>
                  <a:tcPr marL="18288" marR="18288" marT="45714" marB="45714">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sz="1800" dirty="0" err="1" smtClean="0">
                          <a:solidFill>
                            <a:schemeClr val="tx1"/>
                          </a:solidFill>
                        </a:rPr>
                        <a:t>Superware</a:t>
                      </a:r>
                      <a:endParaRPr lang="en-SG" sz="1800" dirty="0">
                        <a:solidFill>
                          <a:schemeClr val="tx1"/>
                        </a:solidFill>
                      </a:endParaRPr>
                    </a:p>
                  </a:txBody>
                  <a:tcPr marL="18288" marR="18288" marT="45714" marB="45714">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sz="1800" dirty="0" err="1" smtClean="0">
                          <a:solidFill>
                            <a:schemeClr val="tx1"/>
                          </a:solidFill>
                        </a:rPr>
                        <a:t>Yishun</a:t>
                      </a:r>
                      <a:endParaRPr lang="en-SG" sz="1800" dirty="0">
                        <a:solidFill>
                          <a:schemeClr val="tx1"/>
                        </a:solidFill>
                      </a:endParaRPr>
                    </a:p>
                  </a:txBody>
                  <a:tcPr marL="18288" marR="18288" marT="45714" marB="45714">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en-GB" sz="1800" dirty="0" smtClean="0"/>
                        <a:t>350</a:t>
                      </a:r>
                      <a:endParaRPr lang="en-SG" sz="1800" dirty="0"/>
                    </a:p>
                  </a:txBody>
                  <a:tcPr marL="18288" marR="18288" marT="45714" marB="45714">
                    <a:lnB w="12700" cap="flat" cmpd="sng" algn="ctr">
                      <a:solidFill>
                        <a:schemeClr val="tx1"/>
                      </a:solidFill>
                      <a:prstDash val="solid"/>
                      <a:round/>
                      <a:headEnd type="none" w="med" len="med"/>
                      <a:tailEnd type="none" w="med" len="med"/>
                    </a:lnB>
                  </a:tcPr>
                </a:tc>
                <a:tc vMerge="1">
                  <a:txBody>
                    <a:bodyPr/>
                    <a:lstStyle/>
                    <a:p>
                      <a:pPr algn="ctr"/>
                      <a:endParaRPr lang="en-SG" sz="1800" dirty="0"/>
                    </a:p>
                  </a:txBody>
                  <a:tcPr marT="45714" marB="45714">
                    <a:lnB w="12700" cap="flat" cmpd="sng" algn="ctr">
                      <a:solidFill>
                        <a:schemeClr val="tx1"/>
                      </a:solidFill>
                      <a:prstDash val="solid"/>
                      <a:round/>
                      <a:headEnd type="none" w="med" len="med"/>
                      <a:tailEnd type="none" w="med" len="med"/>
                    </a:lnB>
                  </a:tcPr>
                </a:tc>
                <a:tc vMerge="1">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GB" sz="1600" b="0" i="0" u="none" strike="noStrike" cap="none" normalizeH="0" baseline="0" dirty="0" smtClean="0">
                        <a:ln>
                          <a:noFill/>
                        </a:ln>
                        <a:solidFill>
                          <a:schemeClr val="tx1"/>
                        </a:solidFill>
                        <a:effectLst/>
                        <a:latin typeface="Calibri" pitchFamily="34" charset="0"/>
                        <a:cs typeface="Calibri" pitchFamily="34" charset="0"/>
                      </a:endParaRPr>
                    </a:p>
                  </a:txBody>
                  <a:tcPr horzOverflow="overflow">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pSp>
        <p:nvGrpSpPr>
          <p:cNvPr id="6" name="Group 5"/>
          <p:cNvGrpSpPr>
            <a:grpSpLocks/>
          </p:cNvGrpSpPr>
          <p:nvPr/>
        </p:nvGrpSpPr>
        <p:grpSpPr bwMode="auto">
          <a:xfrm>
            <a:off x="2698750" y="1471612"/>
            <a:ext cx="3063875" cy="846030"/>
            <a:chOff x="2851056" y="2694296"/>
            <a:chExt cx="3063752" cy="845466"/>
          </a:xfrm>
        </p:grpSpPr>
        <p:sp>
          <p:nvSpPr>
            <p:cNvPr id="20" name="Rounded Rectangle 19"/>
            <p:cNvSpPr/>
            <p:nvPr/>
          </p:nvSpPr>
          <p:spPr>
            <a:xfrm>
              <a:off x="2851056" y="2694296"/>
              <a:ext cx="3060577" cy="396610"/>
            </a:xfrm>
            <a:prstGeom prst="round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SG"/>
            </a:p>
          </p:txBody>
        </p:sp>
        <p:sp>
          <p:nvSpPr>
            <p:cNvPr id="22" name="Rounded Rectangle 21"/>
            <p:cNvSpPr/>
            <p:nvPr/>
          </p:nvSpPr>
          <p:spPr>
            <a:xfrm>
              <a:off x="2854231" y="3143152"/>
              <a:ext cx="3060577" cy="396610"/>
            </a:xfrm>
            <a:prstGeom prst="roundRect">
              <a:avLst/>
            </a:prstGeom>
            <a:no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SG"/>
            </a:p>
          </p:txBody>
        </p:sp>
      </p:grpSp>
      <p:grpSp>
        <p:nvGrpSpPr>
          <p:cNvPr id="5" name="Group 4"/>
          <p:cNvGrpSpPr>
            <a:grpSpLocks/>
          </p:cNvGrpSpPr>
          <p:nvPr/>
        </p:nvGrpSpPr>
        <p:grpSpPr bwMode="auto">
          <a:xfrm>
            <a:off x="712788" y="1444625"/>
            <a:ext cx="7807325" cy="1787525"/>
            <a:chOff x="865496" y="2666999"/>
            <a:chExt cx="7807656" cy="1787857"/>
          </a:xfrm>
        </p:grpSpPr>
        <p:sp>
          <p:nvSpPr>
            <p:cNvPr id="18" name="Rectangle 17"/>
            <p:cNvSpPr/>
            <p:nvPr/>
          </p:nvSpPr>
          <p:spPr>
            <a:xfrm>
              <a:off x="875021" y="2689228"/>
              <a:ext cx="1908256" cy="82882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SG"/>
            </a:p>
          </p:txBody>
        </p:sp>
        <p:sp>
          <p:nvSpPr>
            <p:cNvPr id="19" name="Rectangle 18"/>
            <p:cNvSpPr/>
            <p:nvPr/>
          </p:nvSpPr>
          <p:spPr>
            <a:xfrm>
              <a:off x="865496" y="3627615"/>
              <a:ext cx="1908256" cy="82724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SG"/>
            </a:p>
          </p:txBody>
        </p:sp>
        <p:sp>
          <p:nvSpPr>
            <p:cNvPr id="21" name="Rectangle 20"/>
            <p:cNvSpPr/>
            <p:nvPr/>
          </p:nvSpPr>
          <p:spPr>
            <a:xfrm>
              <a:off x="6617252" y="2666999"/>
              <a:ext cx="2052725" cy="85105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SG"/>
            </a:p>
          </p:txBody>
        </p:sp>
        <p:sp>
          <p:nvSpPr>
            <p:cNvPr id="23" name="Rectangle 22"/>
            <p:cNvSpPr/>
            <p:nvPr/>
          </p:nvSpPr>
          <p:spPr>
            <a:xfrm>
              <a:off x="6620427" y="3581569"/>
              <a:ext cx="2052725" cy="87328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SG"/>
            </a:p>
          </p:txBody>
        </p:sp>
      </p:grpSp>
      <p:sp>
        <p:nvSpPr>
          <p:cNvPr id="24" name="Title 1"/>
          <p:cNvSpPr txBox="1">
            <a:spLocks/>
          </p:cNvSpPr>
          <p:nvPr/>
        </p:nvSpPr>
        <p:spPr bwMode="auto">
          <a:xfrm>
            <a:off x="766762" y="243590"/>
            <a:ext cx="6299792" cy="565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sp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eaLnBrk="1" hangingPunct="1">
              <a:defRPr/>
            </a:pPr>
            <a:r>
              <a:rPr lang="en-GB" sz="3200" b="1" dirty="0" smtClean="0">
                <a:solidFill>
                  <a:srgbClr val="C00000"/>
                </a:solidFill>
                <a:latin typeface="+mn-lt"/>
              </a:rPr>
              <a:t>1NF – </a:t>
            </a:r>
            <a:r>
              <a:rPr lang="en-GB" sz="3200" b="1" dirty="0">
                <a:solidFill>
                  <a:srgbClr val="C00000"/>
                </a:solidFill>
                <a:latin typeface="+mn-lt"/>
              </a:rPr>
              <a:t>I</a:t>
            </a:r>
            <a:r>
              <a:rPr lang="en-GB" sz="3200" b="1" dirty="0" smtClean="0">
                <a:solidFill>
                  <a:srgbClr val="C00000"/>
                </a:solidFill>
                <a:latin typeface="+mn-lt"/>
              </a:rPr>
              <a:t>dentifying Repeating Groups</a:t>
            </a:r>
            <a:endParaRPr lang="en-US" sz="3200" b="1" dirty="0" smtClean="0">
              <a:solidFill>
                <a:srgbClr val="C00000"/>
              </a:solidFill>
              <a:latin typeface="+mn-lt"/>
            </a:endParaRPr>
          </a:p>
        </p:txBody>
      </p:sp>
      <p:sp>
        <p:nvSpPr>
          <p:cNvPr id="16" name="Text Box 295">
            <a:extLst>
              <a:ext uri="{FF2B5EF4-FFF2-40B4-BE49-F238E27FC236}">
                <a16:creationId xmlns:a16="http://schemas.microsoft.com/office/drawing/2014/main" id="{EF69DC4C-BFF7-40BB-B9C8-8AE76B3AEF4C}"/>
              </a:ext>
            </a:extLst>
          </p:cNvPr>
          <p:cNvSpPr txBox="1">
            <a:spLocks noChangeArrowheads="1"/>
          </p:cNvSpPr>
          <p:nvPr/>
        </p:nvSpPr>
        <p:spPr bwMode="auto">
          <a:xfrm>
            <a:off x="711803" y="3418659"/>
            <a:ext cx="4317398" cy="590931"/>
          </a:xfrm>
          <a:prstGeom prst="rect">
            <a:avLst/>
          </a:prstGeom>
          <a:noFill/>
          <a:ln w="12700">
            <a:noFill/>
            <a:miter lim="800000"/>
            <a:headEnd type="none" w="sm" len="sm"/>
            <a:tailEnd type="none" w="sm" len="sm"/>
          </a:ln>
        </p:spPr>
        <p:txBody>
          <a:bodyPr wrap="square" lIns="18288" tIns="18288" rIns="18288" bIns="18288">
            <a:spAutoFit/>
          </a:bodyPr>
          <a:lstStyle/>
          <a:p>
            <a:pPr marL="0" marR="0" lvl="0" indent="0" defTabSz="914400" rtl="0" eaLnBrk="0" fontAlgn="base" latinLnBrk="0" hangingPunct="0">
              <a:lnSpc>
                <a:spcPct val="100000"/>
              </a:lnSpc>
              <a:spcBef>
                <a:spcPct val="50000"/>
              </a:spcBef>
              <a:spcAft>
                <a:spcPct val="0"/>
              </a:spcAft>
              <a:buClrTx/>
              <a:buSzTx/>
              <a:buFontTx/>
              <a:buNone/>
              <a:tabLst/>
              <a:defRPr/>
            </a:pPr>
            <a:r>
              <a:rPr kumimoji="0" lang="en-US"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Multiple occurrences of </a:t>
            </a:r>
            <a:r>
              <a:rPr kumimoji="0" lang="en-US"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Supplier </a:t>
            </a:r>
            <a:r>
              <a:rPr kumimoji="0" lang="en-US"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for each </a:t>
            </a:r>
            <a:r>
              <a:rPr kumimoji="0" lang="en-US"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single </a:t>
            </a:r>
            <a:r>
              <a:rPr kumimoji="0" lang="en-US"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occurrence of </a:t>
            </a:r>
            <a:r>
              <a:rPr lang="en-US" dirty="0" smtClean="0">
                <a:solidFill>
                  <a:prstClr val="black"/>
                </a:solidFill>
                <a:latin typeface="Calibri" panose="020F0502020204030204" pitchFamily="34" charset="0"/>
                <a:cs typeface="Calibri" panose="020F0502020204030204" pitchFamily="34" charset="0"/>
              </a:rPr>
              <a:t>Part, Store &amp; Phone</a:t>
            </a:r>
            <a:r>
              <a:rPr kumimoji="0" lang="en-US" b="0" i="0" u="none" strike="noStrike" kern="1200" cap="none" spc="0" normalizeH="0" baseline="0" noProof="0" dirty="0" smtClean="0">
                <a:ln>
                  <a:noFill/>
                </a:ln>
                <a:solidFill>
                  <a:prstClr val="black"/>
                </a:solidFill>
                <a:effectLst/>
                <a:uLnTx/>
                <a:uFillTx/>
                <a:latin typeface="Calibri" panose="020F0502020204030204" pitchFamily="34" charset="0"/>
                <a:ea typeface="SimSun" pitchFamily="2" charset="-122"/>
                <a:cs typeface="Calibri" panose="020F0502020204030204" pitchFamily="34" charset="0"/>
              </a:rPr>
              <a:t>.</a:t>
            </a:r>
            <a:endParaRPr kumimoji="0" lang="en-US"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graphicFrame>
        <p:nvGraphicFramePr>
          <p:cNvPr id="17" name="Table 16"/>
          <p:cNvGraphicFramePr>
            <a:graphicFrameLocks noGrp="1"/>
          </p:cNvGraphicFramePr>
          <p:nvPr>
            <p:extLst>
              <p:ext uri="{D42A27DB-BD31-4B8C-83A1-F6EECF244321}">
                <p14:modId xmlns:p14="http://schemas.microsoft.com/office/powerpoint/2010/main" val="819085016"/>
              </p:ext>
            </p:extLst>
          </p:nvPr>
        </p:nvGraphicFramePr>
        <p:xfrm>
          <a:off x="845059" y="5028874"/>
          <a:ext cx="3417416" cy="1448126"/>
        </p:xfrm>
        <a:graphic>
          <a:graphicData uri="http://schemas.openxmlformats.org/drawingml/2006/table">
            <a:tbl>
              <a:tblPr firstRow="1" bandRow="1">
                <a:tableStyleId>{5C22544A-7EE6-4342-B048-85BDC9FD1C3A}</a:tableStyleId>
              </a:tblPr>
              <a:tblGrid>
                <a:gridCol w="831341">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677364">
                  <a:extLst>
                    <a:ext uri="{9D8B030D-6E8A-4147-A177-3AD203B41FA5}">
                      <a16:colId xmlns:a16="http://schemas.microsoft.com/office/drawing/2014/main" val="1124535935"/>
                    </a:ext>
                  </a:extLst>
                </a:gridCol>
                <a:gridCol w="994311">
                  <a:extLst>
                    <a:ext uri="{9D8B030D-6E8A-4147-A177-3AD203B41FA5}">
                      <a16:colId xmlns:a16="http://schemas.microsoft.com/office/drawing/2014/main" val="852838304"/>
                    </a:ext>
                  </a:extLst>
                </a:gridCol>
              </a:tblGrid>
              <a:tr h="335492">
                <a:tc>
                  <a:txBody>
                    <a:bodyPr/>
                    <a:lstStyle/>
                    <a:p>
                      <a:pPr algn="ctr"/>
                      <a:r>
                        <a:rPr lang="en-GB" sz="1800" dirty="0" err="1" smtClean="0">
                          <a:solidFill>
                            <a:schemeClr val="tx1"/>
                          </a:solidFill>
                        </a:rPr>
                        <a:t>PartNo</a:t>
                      </a:r>
                      <a:endParaRPr lang="en-US" sz="1800" dirty="0">
                        <a:solidFill>
                          <a:schemeClr val="tx1"/>
                        </a:solidFill>
                      </a:endParaRPr>
                    </a:p>
                  </a:txBody>
                  <a:tcPr marL="18288" marR="18288" marT="18288" marB="18288">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GB" sz="1800" dirty="0" err="1" smtClean="0">
                          <a:solidFill>
                            <a:schemeClr val="tx1"/>
                          </a:solidFill>
                        </a:rPr>
                        <a:t>PartDesc</a:t>
                      </a:r>
                      <a:endParaRPr lang="en-US" sz="1800" dirty="0">
                        <a:solidFill>
                          <a:schemeClr val="tx1"/>
                        </a:solidFill>
                      </a:endParaRPr>
                    </a:p>
                  </a:txBody>
                  <a:tcPr marL="18288" marR="18288" marT="18288" marB="18288">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SG" sz="1800" dirty="0" smtClean="0">
                          <a:solidFill>
                            <a:schemeClr val="tx1"/>
                          </a:solidFill>
                        </a:rPr>
                        <a:t>Store</a:t>
                      </a:r>
                      <a:endParaRPr lang="en-US" sz="1800" dirty="0">
                        <a:solidFill>
                          <a:schemeClr val="tx1"/>
                        </a:solidFill>
                      </a:endParaRPr>
                    </a:p>
                  </a:txBody>
                  <a:tcPr marL="18288" marR="18288" marT="18288" marB="18288">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SG" sz="1800" dirty="0" smtClean="0">
                          <a:solidFill>
                            <a:schemeClr val="tx1"/>
                          </a:solidFill>
                        </a:rPr>
                        <a:t>Phone</a:t>
                      </a:r>
                      <a:endParaRPr lang="en-US" sz="1800" dirty="0">
                        <a:solidFill>
                          <a:schemeClr val="tx1"/>
                        </a:solidFill>
                      </a:endParaRPr>
                    </a:p>
                  </a:txBody>
                  <a:tcPr marL="18288" marR="18288" marT="18288" marB="18288">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0"/>
                  </a:ext>
                </a:extLst>
              </a:tr>
              <a:tr h="548691">
                <a:tc>
                  <a:txBody>
                    <a:bodyPr/>
                    <a:lstStyle/>
                    <a:p>
                      <a:pPr algn="ctr"/>
                      <a:r>
                        <a:rPr lang="en-GB" sz="1800" b="0" dirty="0" smtClean="0">
                          <a:solidFill>
                            <a:schemeClr val="tx1"/>
                          </a:solidFill>
                        </a:rPr>
                        <a:t>P1</a:t>
                      </a:r>
                      <a:endParaRPr lang="en-US" sz="1800" b="0" dirty="0">
                        <a:solidFill>
                          <a:schemeClr val="tx1"/>
                        </a:solidFill>
                      </a:endParaRPr>
                    </a:p>
                  </a:txBody>
                  <a:tcPr marL="18288" marR="18288" marT="18288" marB="18288">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FFF99"/>
                    </a:solidFill>
                  </a:tcPr>
                </a:tc>
                <a:tc>
                  <a:txBody>
                    <a:bodyPr/>
                    <a:lstStyle/>
                    <a:p>
                      <a:pPr algn="ctr"/>
                      <a:r>
                        <a:rPr lang="en-GB" sz="1800" dirty="0" smtClean="0">
                          <a:solidFill>
                            <a:schemeClr val="tx1"/>
                          </a:solidFill>
                        </a:rPr>
                        <a:t>Printer</a:t>
                      </a:r>
                      <a:endParaRPr lang="en-US" sz="1800" dirty="0">
                        <a:solidFill>
                          <a:schemeClr val="tx1"/>
                        </a:solidFill>
                      </a:endParaRPr>
                    </a:p>
                  </a:txBody>
                  <a:tcPr marL="18288" marR="18288" marT="18288" marB="18288">
                    <a:lnT w="12700" cap="flat" cmpd="sng" algn="ctr">
                      <a:solidFill>
                        <a:schemeClr val="tx1"/>
                      </a:solidFill>
                      <a:prstDash val="solid"/>
                      <a:round/>
                      <a:headEnd type="none" w="med" len="med"/>
                      <a:tailEnd type="none" w="med" len="med"/>
                    </a:lnT>
                    <a:solidFill>
                      <a:srgbClr val="FFFF99"/>
                    </a:solidFill>
                  </a:tcPr>
                </a:tc>
                <a:tc>
                  <a:txBody>
                    <a:bodyPr/>
                    <a:lstStyle/>
                    <a:p>
                      <a:pPr algn="ctr"/>
                      <a:r>
                        <a:rPr lang="en-GB" sz="1800" b="0" dirty="0" smtClean="0"/>
                        <a:t>Ken</a:t>
                      </a:r>
                      <a:endParaRPr lang="en-GB" sz="1800" b="0" dirty="0"/>
                    </a:p>
                  </a:txBody>
                  <a:tcPr marL="18288" marR="18288" marT="18288" marB="18288">
                    <a:lnT w="12700" cap="flat" cmpd="sng" algn="ctr">
                      <a:solidFill>
                        <a:schemeClr val="tx1"/>
                      </a:solidFill>
                      <a:prstDash val="solid"/>
                      <a:round/>
                      <a:headEnd type="none" w="med" len="med"/>
                      <a:tailEnd type="none" w="med" len="med"/>
                    </a:lnT>
                    <a:solidFill>
                      <a:srgbClr val="FFFF99"/>
                    </a:solidFill>
                  </a:tcPr>
                </a:tc>
                <a:tc>
                  <a:txBody>
                    <a:bodyPr/>
                    <a:lstStyle/>
                    <a:p>
                      <a:pPr algn="ctr"/>
                      <a:r>
                        <a:rPr lang="en-GB" sz="1800" b="0" dirty="0" smtClean="0"/>
                        <a:t>98553344</a:t>
                      </a:r>
                      <a:endParaRPr lang="en-GB" sz="1800" b="0" dirty="0"/>
                    </a:p>
                  </a:txBody>
                  <a:tcPr marL="18288" marR="18288" marT="18288" marB="18288">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FF99"/>
                    </a:solidFill>
                  </a:tcPr>
                </a:tc>
                <a:extLst>
                  <a:ext uri="{0D108BD9-81ED-4DB2-BD59-A6C34878D82A}">
                    <a16:rowId xmlns:a16="http://schemas.microsoft.com/office/drawing/2014/main" val="10001"/>
                  </a:ext>
                </a:extLst>
              </a:tr>
              <a:tr h="563943">
                <a:tc>
                  <a:txBody>
                    <a:bodyPr/>
                    <a:lstStyle/>
                    <a:p>
                      <a:pPr algn="ctr"/>
                      <a:r>
                        <a:rPr lang="en-US" sz="1800" b="0" dirty="0" smtClean="0">
                          <a:solidFill>
                            <a:schemeClr val="tx1"/>
                          </a:solidFill>
                        </a:rPr>
                        <a:t>P2</a:t>
                      </a:r>
                      <a:endParaRPr lang="en-US" sz="1800" b="0" dirty="0">
                        <a:solidFill>
                          <a:schemeClr val="tx1"/>
                        </a:solidFill>
                      </a:endParaRPr>
                    </a:p>
                  </a:txBody>
                  <a:tcPr marL="18288" marR="18288" marT="18288" marB="18288">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99FF99"/>
                    </a:solidFill>
                  </a:tcPr>
                </a:tc>
                <a:tc>
                  <a:txBody>
                    <a:bodyPr/>
                    <a:lstStyle/>
                    <a:p>
                      <a:pPr algn="ctr"/>
                      <a:r>
                        <a:rPr lang="en-US" sz="1800" dirty="0" smtClean="0">
                          <a:solidFill>
                            <a:schemeClr val="tx1"/>
                          </a:solidFill>
                        </a:rPr>
                        <a:t>Speaker</a:t>
                      </a:r>
                      <a:endParaRPr lang="en-US" sz="1800" dirty="0">
                        <a:solidFill>
                          <a:schemeClr val="tx1"/>
                        </a:solidFill>
                      </a:endParaRPr>
                    </a:p>
                  </a:txBody>
                  <a:tcPr marL="18288" marR="18288" marT="18288" marB="18288">
                    <a:lnB w="12700" cap="flat" cmpd="sng" algn="ctr">
                      <a:solidFill>
                        <a:schemeClr val="tx1"/>
                      </a:solidFill>
                      <a:prstDash val="solid"/>
                      <a:round/>
                      <a:headEnd type="none" w="med" len="med"/>
                      <a:tailEnd type="none" w="med" len="med"/>
                    </a:lnB>
                    <a:solidFill>
                      <a:srgbClr val="99FF99"/>
                    </a:solidFill>
                  </a:tcPr>
                </a:tc>
                <a:tc>
                  <a:txBody>
                    <a:bodyPr/>
                    <a:lstStyle/>
                    <a:p>
                      <a:pPr algn="ctr"/>
                      <a:r>
                        <a:rPr lang="en-SG" sz="1800" b="0" dirty="0" smtClean="0"/>
                        <a:t>Alvin</a:t>
                      </a:r>
                      <a:endParaRPr lang="en-US" sz="1800" b="0" dirty="0"/>
                    </a:p>
                  </a:txBody>
                  <a:tcPr marL="18288" marR="18288" marT="18288" marB="18288">
                    <a:lnB w="12700" cap="flat" cmpd="sng" algn="ctr">
                      <a:solidFill>
                        <a:schemeClr val="tx1"/>
                      </a:solidFill>
                      <a:prstDash val="solid"/>
                      <a:round/>
                      <a:headEnd type="none" w="med" len="med"/>
                      <a:tailEnd type="none" w="med" len="med"/>
                    </a:lnB>
                    <a:solidFill>
                      <a:srgbClr val="99FF99"/>
                    </a:solidFill>
                  </a:tcPr>
                </a:tc>
                <a:tc>
                  <a:txBody>
                    <a:bodyPr/>
                    <a:lstStyle/>
                    <a:p>
                      <a:pPr algn="ctr"/>
                      <a:r>
                        <a:rPr lang="en-SG" sz="1800" b="0" dirty="0" smtClean="0"/>
                        <a:t>97334400</a:t>
                      </a:r>
                      <a:endParaRPr lang="en-US" sz="1800" b="0" dirty="0"/>
                    </a:p>
                  </a:txBody>
                  <a:tcPr marL="18288" marR="18288" marT="18288" marB="18288">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99FF99"/>
                    </a:solidFill>
                  </a:tcPr>
                </a:tc>
                <a:extLst>
                  <a:ext uri="{0D108BD9-81ED-4DB2-BD59-A6C34878D82A}">
                    <a16:rowId xmlns:a16="http://schemas.microsoft.com/office/drawing/2014/main" val="2729344986"/>
                  </a:ext>
                </a:extLst>
              </a:tr>
            </a:tbl>
          </a:graphicData>
        </a:graphic>
      </p:graphicFrame>
      <p:sp>
        <p:nvSpPr>
          <p:cNvPr id="25" name="Rectangle 12"/>
          <p:cNvSpPr>
            <a:spLocks noChangeArrowheads="1"/>
          </p:cNvSpPr>
          <p:nvPr/>
        </p:nvSpPr>
        <p:spPr bwMode="auto">
          <a:xfrm>
            <a:off x="838200" y="4618803"/>
            <a:ext cx="27872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rIns="45720" anchor="ctr">
            <a:spAutoFit/>
          </a:bodyPr>
          <a:lstStyle>
            <a:lvl1pPr marL="342900" indent="-342900" eaLnBrk="0" hangingPunct="0">
              <a:spcBef>
                <a:spcPct val="20000"/>
              </a:spcBef>
              <a:buFont typeface="Arial" charset="0"/>
              <a:buChar char="•"/>
              <a:defRPr sz="3200">
                <a:solidFill>
                  <a:schemeClr val="tx1"/>
                </a:solidFill>
                <a:latin typeface="Calibri" pitchFamily="34" charset="0"/>
              </a:defRPr>
            </a:lvl1pPr>
            <a:lvl2pPr marL="685800" indent="-68580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685800" marR="0" lvl="1" indent="-685800" algn="l" defTabSz="914400" rtl="0" eaLnBrk="1" fontAlgn="base" latinLnBrk="0" hangingPunct="1">
              <a:lnSpc>
                <a:spcPct val="100000"/>
              </a:lnSpc>
              <a:spcBef>
                <a:spcPct val="20000"/>
              </a:spcBef>
              <a:spcAft>
                <a:spcPct val="0"/>
              </a:spcAft>
              <a:buClrTx/>
              <a:buSzTx/>
              <a:buFont typeface="Wingdings" pitchFamily="2" charset="2"/>
              <a:buNone/>
              <a:tabLst/>
              <a:defRPr/>
            </a:pPr>
            <a:r>
              <a:rPr kumimoji="0" lang="en-US" altLang="zh-SG" sz="1800" b="1" i="0" u="none" strike="noStrike" kern="1200" cap="none" spc="0" normalizeH="0" baseline="0" noProof="0" dirty="0" smtClean="0">
                <a:ln>
                  <a:noFill/>
                </a:ln>
                <a:solidFill>
                  <a:prstClr val="black"/>
                </a:solidFill>
                <a:effectLst/>
                <a:uLnTx/>
                <a:uFillTx/>
                <a:latin typeface="Calibri" pitchFamily="34" charset="0"/>
                <a:ea typeface="宋体" panose="02010600030101010101" pitchFamily="2" charset="-122"/>
                <a:cs typeface="+mn-cs"/>
              </a:rPr>
              <a:t>PART </a:t>
            </a:r>
            <a:r>
              <a:rPr kumimoji="0" lang="en-US" altLang="zh-SG" sz="1800" b="1" i="0" u="none" strike="noStrike" kern="1200" cap="none" spc="0" normalizeH="0" baseline="0" noProof="0" dirty="0">
                <a:ln>
                  <a:noFill/>
                </a:ln>
                <a:solidFill>
                  <a:prstClr val="black"/>
                </a:solidFill>
                <a:effectLst/>
                <a:uLnTx/>
                <a:uFillTx/>
                <a:latin typeface="Calibri" pitchFamily="34" charset="0"/>
                <a:ea typeface="宋体" panose="02010600030101010101" pitchFamily="2" charset="-122"/>
                <a:cs typeface="+mn-cs"/>
              </a:rPr>
              <a:t>(with repeating group)</a:t>
            </a:r>
          </a:p>
        </p:txBody>
      </p:sp>
      <p:graphicFrame>
        <p:nvGraphicFramePr>
          <p:cNvPr id="3" name="Table 2"/>
          <p:cNvGraphicFramePr>
            <a:graphicFrameLocks noGrp="1"/>
          </p:cNvGraphicFramePr>
          <p:nvPr>
            <p:extLst>
              <p:ext uri="{D42A27DB-BD31-4B8C-83A1-F6EECF244321}">
                <p14:modId xmlns:p14="http://schemas.microsoft.com/office/powerpoint/2010/main" val="1617916422"/>
              </p:ext>
            </p:extLst>
          </p:nvPr>
        </p:nvGraphicFramePr>
        <p:xfrm>
          <a:off x="4839043" y="5066742"/>
          <a:ext cx="3466757" cy="1351091"/>
        </p:xfrm>
        <a:graphic>
          <a:graphicData uri="http://schemas.openxmlformats.org/drawingml/2006/table">
            <a:tbl>
              <a:tblPr firstRow="1" bandRow="1">
                <a:tableStyleId>{5C22544A-7EE6-4342-B048-85BDC9FD1C3A}</a:tableStyleId>
              </a:tblPr>
              <a:tblGrid>
                <a:gridCol w="889840">
                  <a:extLst>
                    <a:ext uri="{9D8B030D-6E8A-4147-A177-3AD203B41FA5}">
                      <a16:colId xmlns:a16="http://schemas.microsoft.com/office/drawing/2014/main" val="4226764850"/>
                    </a:ext>
                  </a:extLst>
                </a:gridCol>
                <a:gridCol w="1319822">
                  <a:extLst>
                    <a:ext uri="{9D8B030D-6E8A-4147-A177-3AD203B41FA5}">
                      <a16:colId xmlns:a16="http://schemas.microsoft.com/office/drawing/2014/main" val="2969283942"/>
                    </a:ext>
                  </a:extLst>
                </a:gridCol>
                <a:gridCol w="1257095">
                  <a:extLst>
                    <a:ext uri="{9D8B030D-6E8A-4147-A177-3AD203B41FA5}">
                      <a16:colId xmlns:a16="http://schemas.microsoft.com/office/drawing/2014/main" val="1595974681"/>
                    </a:ext>
                  </a:extLst>
                </a:gridCol>
              </a:tblGrid>
              <a:tr h="436819">
                <a:tc>
                  <a:txBody>
                    <a:bodyPr/>
                    <a:lstStyle/>
                    <a:p>
                      <a:pPr algn="ctr"/>
                      <a:r>
                        <a:rPr lang="en-GB" sz="1800" dirty="0" err="1" smtClean="0">
                          <a:solidFill>
                            <a:schemeClr val="tx1"/>
                          </a:solidFill>
                        </a:rPr>
                        <a:t>SuppNo</a:t>
                      </a:r>
                      <a:endParaRPr lang="en-SG" sz="1800" dirty="0">
                        <a:solidFill>
                          <a:schemeClr val="tx1"/>
                        </a:solidFill>
                      </a:endParaRPr>
                    </a:p>
                  </a:txBody>
                  <a:tcPr marL="18288" marR="18288" marT="18288" marB="18288">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GB" sz="1800" dirty="0" err="1" smtClean="0">
                          <a:solidFill>
                            <a:schemeClr val="tx1"/>
                          </a:solidFill>
                        </a:rPr>
                        <a:t>SuppName</a:t>
                      </a:r>
                      <a:endParaRPr lang="en-SG" sz="1800" dirty="0">
                        <a:solidFill>
                          <a:schemeClr val="tx1"/>
                        </a:solidFill>
                      </a:endParaRPr>
                    </a:p>
                  </a:txBody>
                  <a:tcPr marL="18288" marR="18288" marT="18288" marB="18288">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GB" sz="1800" dirty="0" err="1" smtClean="0">
                          <a:solidFill>
                            <a:schemeClr val="tx1"/>
                          </a:solidFill>
                        </a:rPr>
                        <a:t>SuppAddr</a:t>
                      </a:r>
                      <a:endParaRPr lang="en-SG" sz="1800" dirty="0">
                        <a:solidFill>
                          <a:schemeClr val="tx1"/>
                        </a:solidFill>
                      </a:endParaRPr>
                    </a:p>
                  </a:txBody>
                  <a:tcPr marL="18288" marR="18288" marT="18288" marB="18288">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238294378"/>
                  </a:ext>
                </a:extLst>
              </a:tr>
              <a:tr h="457136">
                <a:tc>
                  <a:txBody>
                    <a:bodyPr/>
                    <a:lstStyle/>
                    <a:p>
                      <a:pPr algn="ctr"/>
                      <a:r>
                        <a:rPr lang="en-GB" sz="1800" dirty="0" smtClean="0"/>
                        <a:t>S1</a:t>
                      </a:r>
                      <a:endParaRPr lang="en-SG" sz="1800" dirty="0"/>
                    </a:p>
                  </a:txBody>
                  <a:tcPr marL="18288" marR="18288" marT="18288" marB="18288">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a:r>
                        <a:rPr lang="en-GB" sz="1800" dirty="0" err="1" smtClean="0"/>
                        <a:t>Brightware</a:t>
                      </a:r>
                      <a:endParaRPr lang="en-SG" sz="1800" dirty="0"/>
                    </a:p>
                  </a:txBody>
                  <a:tcPr marL="18288" marR="18288" marT="18288" marB="18288">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algn="ctr"/>
                      <a:r>
                        <a:rPr lang="en-GB" sz="1800" dirty="0" smtClean="0"/>
                        <a:t>AMK</a:t>
                      </a:r>
                      <a:endParaRPr lang="en-SG" sz="1800" dirty="0"/>
                    </a:p>
                  </a:txBody>
                  <a:tcPr marL="18288" marR="18288" marT="18288" marB="18288">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609373411"/>
                  </a:ext>
                </a:extLst>
              </a:tr>
              <a:tr h="457136">
                <a:tc>
                  <a:txBody>
                    <a:bodyPr/>
                    <a:lstStyle/>
                    <a:p>
                      <a:pPr algn="ctr"/>
                      <a:r>
                        <a:rPr lang="en-GB" sz="1800" dirty="0" smtClean="0">
                          <a:solidFill>
                            <a:schemeClr val="tx1"/>
                          </a:solidFill>
                        </a:rPr>
                        <a:t>S2</a:t>
                      </a:r>
                      <a:endParaRPr lang="en-SG" sz="1800" dirty="0">
                        <a:solidFill>
                          <a:schemeClr val="tx1"/>
                        </a:solidFill>
                      </a:endParaRPr>
                    </a:p>
                  </a:txBody>
                  <a:tcPr marL="18288" marR="18288" marT="18288" marB="18288">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r>
                        <a:rPr lang="en-GB" sz="1800" dirty="0" err="1" smtClean="0">
                          <a:solidFill>
                            <a:schemeClr val="tx1"/>
                          </a:solidFill>
                        </a:rPr>
                        <a:t>SuperWare</a:t>
                      </a:r>
                      <a:endParaRPr lang="en-SG" sz="1800" dirty="0">
                        <a:solidFill>
                          <a:schemeClr val="tx1"/>
                        </a:solidFill>
                      </a:endParaRPr>
                    </a:p>
                  </a:txBody>
                  <a:tcPr marL="18288" marR="18288" marT="18288" marB="18288">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r>
                        <a:rPr lang="en-GB" sz="1800" dirty="0" err="1" smtClean="0">
                          <a:solidFill>
                            <a:schemeClr val="tx1"/>
                          </a:solidFill>
                        </a:rPr>
                        <a:t>Yishun</a:t>
                      </a:r>
                      <a:endParaRPr lang="en-SG" sz="1800" dirty="0">
                        <a:solidFill>
                          <a:schemeClr val="tx1"/>
                        </a:solidFill>
                      </a:endParaRPr>
                    </a:p>
                  </a:txBody>
                  <a:tcPr marL="18288" marR="18288" marT="18288" marB="18288">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4131411983"/>
                  </a:ext>
                </a:extLst>
              </a:tr>
            </a:tbl>
          </a:graphicData>
        </a:graphic>
      </p:graphicFrame>
      <p:sp>
        <p:nvSpPr>
          <p:cNvPr id="26" name="Rectangle 12"/>
          <p:cNvSpPr>
            <a:spLocks noChangeArrowheads="1"/>
          </p:cNvSpPr>
          <p:nvPr/>
        </p:nvSpPr>
        <p:spPr bwMode="auto">
          <a:xfrm>
            <a:off x="4832762" y="4682610"/>
            <a:ext cx="32058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rIns="45720" anchor="ctr">
            <a:spAutoFit/>
          </a:bodyPr>
          <a:lstStyle>
            <a:lvl1pPr marL="342900" indent="-342900" eaLnBrk="0" hangingPunct="0">
              <a:spcBef>
                <a:spcPct val="20000"/>
              </a:spcBef>
              <a:buFont typeface="Arial" charset="0"/>
              <a:buChar char="•"/>
              <a:defRPr sz="3200">
                <a:solidFill>
                  <a:schemeClr val="tx1"/>
                </a:solidFill>
                <a:latin typeface="Calibri" pitchFamily="34" charset="0"/>
              </a:defRPr>
            </a:lvl1pPr>
            <a:lvl2pPr marL="685800" indent="-68580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685800" marR="0" lvl="1" indent="-685800" algn="l" defTabSz="914400" rtl="0" eaLnBrk="1" fontAlgn="base" latinLnBrk="0" hangingPunct="1">
              <a:lnSpc>
                <a:spcPct val="100000"/>
              </a:lnSpc>
              <a:spcBef>
                <a:spcPct val="20000"/>
              </a:spcBef>
              <a:spcAft>
                <a:spcPct val="0"/>
              </a:spcAft>
              <a:buClrTx/>
              <a:buSzTx/>
              <a:buFont typeface="Wingdings" pitchFamily="2" charset="2"/>
              <a:buNone/>
              <a:tabLst/>
              <a:defRPr/>
            </a:pPr>
            <a:r>
              <a:rPr lang="en-US" altLang="zh-SG" sz="1800" b="1" dirty="0" smtClean="0">
                <a:solidFill>
                  <a:prstClr val="black"/>
                </a:solidFill>
                <a:ea typeface="宋体" panose="02010600030101010101" pitchFamily="2" charset="-122"/>
              </a:rPr>
              <a:t>SUPPLIER</a:t>
            </a:r>
            <a:r>
              <a:rPr kumimoji="0" lang="en-US" altLang="zh-SG" sz="1800" b="1" i="0" u="none" strike="noStrike" kern="1200" cap="none" spc="0" normalizeH="0" baseline="0" noProof="0" dirty="0" smtClean="0">
                <a:ln>
                  <a:noFill/>
                </a:ln>
                <a:solidFill>
                  <a:prstClr val="black"/>
                </a:solidFill>
                <a:effectLst/>
                <a:uLnTx/>
                <a:uFillTx/>
                <a:latin typeface="Calibri" pitchFamily="34" charset="0"/>
                <a:ea typeface="宋体" panose="02010600030101010101" pitchFamily="2" charset="-122"/>
                <a:cs typeface="+mn-cs"/>
              </a:rPr>
              <a:t> </a:t>
            </a:r>
            <a:r>
              <a:rPr kumimoji="0" lang="en-US" altLang="zh-SG" sz="1800" b="1" i="0" u="none" strike="noStrike" kern="1200" cap="none" spc="0" normalizeH="0" baseline="0" noProof="0" dirty="0">
                <a:ln>
                  <a:noFill/>
                </a:ln>
                <a:solidFill>
                  <a:prstClr val="black"/>
                </a:solidFill>
                <a:effectLst/>
                <a:uLnTx/>
                <a:uFillTx/>
                <a:latin typeface="Calibri" pitchFamily="34" charset="0"/>
                <a:ea typeface="宋体" panose="02010600030101010101" pitchFamily="2" charset="-122"/>
                <a:cs typeface="+mn-cs"/>
              </a:rPr>
              <a:t>(with repeating group)</a:t>
            </a:r>
          </a:p>
        </p:txBody>
      </p:sp>
      <p:sp>
        <p:nvSpPr>
          <p:cNvPr id="27" name="Rectangle 463"/>
          <p:cNvSpPr txBox="1">
            <a:spLocks noChangeArrowheads="1"/>
          </p:cNvSpPr>
          <p:nvPr/>
        </p:nvSpPr>
        <p:spPr bwMode="auto">
          <a:xfrm>
            <a:off x="776748" y="4191000"/>
            <a:ext cx="5547852" cy="40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8288" tIns="18288" rIns="18288" bIns="18288">
            <a:spAutoFit/>
          </a:bodyPr>
          <a:lstStyle>
            <a:lvl1pPr marL="355600" indent="-355600"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Tx/>
              <a:buSzTx/>
              <a:buFont typeface="Arial" charset="0"/>
              <a:buNone/>
              <a:tabLst/>
              <a:defRPr/>
            </a:pPr>
            <a:r>
              <a:rPr kumimoji="0" lang="en-SG" altLang="en-US" sz="2400" b="0" i="0" u="none" strike="noStrike" kern="1200" cap="none" spc="0" normalizeH="0" baseline="0" noProof="0" dirty="0">
                <a:ln>
                  <a:noFill/>
                </a:ln>
                <a:solidFill>
                  <a:srgbClr val="FF0000"/>
                </a:solidFill>
                <a:effectLst/>
                <a:uLnTx/>
                <a:uFillTx/>
                <a:latin typeface="Calibri" pitchFamily="34" charset="0"/>
                <a:ea typeface="Calibri" pitchFamily="34" charset="0"/>
                <a:cs typeface="Calibri" pitchFamily="34" charset="0"/>
              </a:rPr>
              <a:t>Step1: </a:t>
            </a:r>
            <a:r>
              <a:rPr kumimoji="0" lang="en-US" altLang="en-US" sz="2400" b="0" i="0" u="none" strike="noStrike" kern="1200" cap="none" spc="0" normalizeH="0" baseline="0" noProof="0" dirty="0">
                <a:ln>
                  <a:noFill/>
                </a:ln>
                <a:solidFill>
                  <a:srgbClr val="FF0000"/>
                </a:solidFill>
                <a:effectLst/>
                <a:uLnTx/>
                <a:uFillTx/>
                <a:latin typeface="Calibri" pitchFamily="34" charset="0"/>
                <a:ea typeface="Calibri" pitchFamily="34" charset="0"/>
                <a:cs typeface="Calibri" pitchFamily="34" charset="0"/>
              </a:rPr>
              <a:t>Identify repeating group </a:t>
            </a:r>
            <a:r>
              <a:rPr kumimoji="0" lang="en-US" altLang="en-US" sz="2400" b="0" i="0" u="none" strike="noStrike" kern="1200" cap="none" spc="0" normalizeH="0" baseline="0" noProof="0" dirty="0" smtClean="0">
                <a:ln>
                  <a:noFill/>
                </a:ln>
                <a:solidFill>
                  <a:srgbClr val="FF0000"/>
                </a:solidFill>
                <a:effectLst/>
                <a:uLnTx/>
                <a:uFillTx/>
                <a:latin typeface="Calibri" pitchFamily="34" charset="0"/>
                <a:ea typeface="Calibri" pitchFamily="34" charset="0"/>
                <a:cs typeface="Calibri" pitchFamily="34" charset="0"/>
              </a:rPr>
              <a:t>for removal</a:t>
            </a:r>
            <a:endParaRPr kumimoji="0" lang="en-US" altLang="en-US" sz="2400" b="0" i="0" u="none" strike="noStrike" kern="1200" cap="none" spc="0" normalizeH="0" baseline="0" noProof="0" dirty="0">
              <a:ln>
                <a:noFill/>
              </a:ln>
              <a:solidFill>
                <a:srgbClr val="FF0000"/>
              </a:solidFill>
              <a:effectLst/>
              <a:uLnTx/>
              <a:uFillTx/>
              <a:latin typeface="Calibri" pitchFamily="34" charset="0"/>
              <a:ea typeface="Calibri" pitchFamily="34" charset="0"/>
              <a:cs typeface="Calibri" pitchFamily="34" charset="0"/>
            </a:endParaRPr>
          </a:p>
        </p:txBody>
      </p:sp>
    </p:spTree>
    <p:extLst>
      <p:ext uri="{BB962C8B-B14F-4D97-AF65-F5344CB8AC3E}">
        <p14:creationId xmlns:p14="http://schemas.microsoft.com/office/powerpoint/2010/main" val="31901321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1000"/>
                                        <p:tgtEl>
                                          <p:spTgt spid="5"/>
                                        </p:tgtEl>
                                      </p:cBhvr>
                                    </p:animEffect>
                                  </p:childTnLst>
                                </p:cTn>
                              </p:par>
                            </p:childTnLst>
                          </p:cTn>
                        </p:par>
                        <p:par>
                          <p:cTn id="8" fill="hold" nodeType="withGroup">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500"/>
                                        <p:tgtEl>
                                          <p:spTgt spid="25"/>
                                        </p:tgtEl>
                                      </p:cBhvr>
                                    </p:animEffect>
                                  </p:childTnLst>
                                </p:cTn>
                              </p:par>
                            </p:childTnLst>
                          </p:cTn>
                        </p:par>
                        <p:par>
                          <p:cTn id="12" fill="hold">
                            <p:stCondLst>
                              <p:cond delay="1500"/>
                            </p:stCondLst>
                            <p:childTnLst>
                              <p:par>
                                <p:cTn id="13" presetID="22" presetClass="entr" presetSubtype="1"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up)">
                                      <p:cBhvr>
                                        <p:cTn id="15" dur="10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left)">
                                      <p:cBhvr>
                                        <p:cTn id="20" dur="1000"/>
                                        <p:tgtEl>
                                          <p:spTgt spid="6"/>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wipe(left)">
                                      <p:cBhvr>
                                        <p:cTn id="24" dur="500"/>
                                        <p:tgtEl>
                                          <p:spTgt spid="26"/>
                                        </p:tgtEl>
                                      </p:cBhvr>
                                    </p:animEffect>
                                  </p:childTnLst>
                                </p:cTn>
                              </p:par>
                            </p:childTnLst>
                          </p:cTn>
                        </p:par>
                        <p:par>
                          <p:cTn id="25" fill="hold">
                            <p:stCondLst>
                              <p:cond delay="1500"/>
                            </p:stCondLst>
                            <p:childTnLst>
                              <p:par>
                                <p:cTn id="26" presetID="22" presetClass="entr" presetSubtype="8" fill="hold" nodeType="after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left)">
                                      <p:cBhvr>
                                        <p:cTn id="28" dur="500"/>
                                        <p:tgtEl>
                                          <p:spTgt spid="3"/>
                                        </p:tgtEl>
                                      </p:cBhvr>
                                    </p:animEffect>
                                  </p:childTnLst>
                                </p:cTn>
                              </p:par>
                            </p:childTnLst>
                          </p:cTn>
                        </p:par>
                        <p:par>
                          <p:cTn id="29" fill="hold">
                            <p:stCondLst>
                              <p:cond delay="2000"/>
                            </p:stCondLst>
                            <p:childTnLst>
                              <p:par>
                                <p:cTn id="30" presetID="22" presetClass="entr" presetSubtype="8" fill="hold" grpId="0" nodeType="afterEffect">
                                  <p:stCondLst>
                                    <p:cond delay="500"/>
                                  </p:stCondLst>
                                  <p:childTnLst>
                                    <p:set>
                                      <p:cBhvr>
                                        <p:cTn id="31" dur="1" fill="hold">
                                          <p:stCondLst>
                                            <p:cond delay="0"/>
                                          </p:stCondLst>
                                        </p:cTn>
                                        <p:tgtEl>
                                          <p:spTgt spid="16"/>
                                        </p:tgtEl>
                                        <p:attrNameLst>
                                          <p:attrName>style.visibility</p:attrName>
                                        </p:attrNameLst>
                                      </p:cBhvr>
                                      <p:to>
                                        <p:strVal val="visible"/>
                                      </p:to>
                                    </p:set>
                                    <p:animEffect transition="in" filter="wipe(left)">
                                      <p:cBhvr>
                                        <p:cTn id="32"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5" grpId="0"/>
      <p:bldP spid="2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ctrTitle" idx="4294967295"/>
          </p:nvPr>
        </p:nvSpPr>
        <p:spPr>
          <a:xfrm>
            <a:off x="685800" y="228600"/>
            <a:ext cx="5440198" cy="565146"/>
          </a:xfrm>
        </p:spPr>
        <p:txBody>
          <a:bodyPr wrap="none" lIns="36000" tIns="36000" rIns="36000" bIns="36000" anchor="t">
            <a:spAutoFit/>
          </a:bodyPr>
          <a:lstStyle/>
          <a:p>
            <a:pPr algn="l" eaLnBrk="1" hangingPunct="1">
              <a:defRPr/>
            </a:pPr>
            <a:r>
              <a:rPr lang="en-GB" sz="3200" b="1" dirty="0" smtClean="0">
                <a:solidFill>
                  <a:srgbClr val="C00000"/>
                </a:solidFill>
                <a:latin typeface="+mn-lt"/>
              </a:rPr>
              <a:t>1NF – Identifying Key attributes</a:t>
            </a:r>
            <a:endParaRPr lang="en-US" sz="3200" b="1" dirty="0">
              <a:solidFill>
                <a:srgbClr val="C00000"/>
              </a:solidFill>
              <a:latin typeface="+mn-lt"/>
            </a:endParaRPr>
          </a:p>
        </p:txBody>
      </p:sp>
      <p:sp>
        <p:nvSpPr>
          <p:cNvPr id="26627" name="Rectangle 463"/>
          <p:cNvSpPr txBox="1">
            <a:spLocks noChangeArrowheads="1"/>
          </p:cNvSpPr>
          <p:nvPr/>
        </p:nvSpPr>
        <p:spPr bwMode="auto">
          <a:xfrm>
            <a:off x="4999704" y="1473711"/>
            <a:ext cx="3903477" cy="775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8288" tIns="18288" rIns="18288" bIns="18288">
            <a:spAutoFit/>
          </a:bodyPr>
          <a:lstStyle>
            <a:lvl1pPr marL="355600" indent="-355600"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Tx/>
              <a:buSzTx/>
              <a:buFont typeface="Arial" charset="0"/>
              <a:buNone/>
              <a:tabLst/>
              <a:defRPr/>
            </a:pPr>
            <a:r>
              <a:rPr kumimoji="0" lang="en-SG" altLang="en-US" sz="2400" b="0" i="0" u="none" strike="noStrike" kern="1200" cap="none" spc="0" normalizeH="0" baseline="0" noProof="0" dirty="0">
                <a:ln>
                  <a:noFill/>
                </a:ln>
                <a:solidFill>
                  <a:srgbClr val="FF0000"/>
                </a:solidFill>
                <a:effectLst/>
                <a:uLnTx/>
                <a:uFillTx/>
                <a:latin typeface="Calibri" pitchFamily="34" charset="0"/>
                <a:ea typeface="Calibri" pitchFamily="34" charset="0"/>
                <a:cs typeface="Calibri" pitchFamily="34" charset="0"/>
              </a:rPr>
              <a:t>Step1: </a:t>
            </a:r>
            <a:r>
              <a:rPr kumimoji="0" lang="en-US" altLang="en-US" sz="2400" b="0" i="0" u="none" strike="noStrike" kern="1200" cap="none" spc="0" normalizeH="0" baseline="0" noProof="0" dirty="0">
                <a:ln>
                  <a:noFill/>
                </a:ln>
                <a:solidFill>
                  <a:srgbClr val="FF0000"/>
                </a:solidFill>
                <a:effectLst/>
                <a:uLnTx/>
                <a:uFillTx/>
                <a:latin typeface="Calibri" pitchFamily="34" charset="0"/>
                <a:ea typeface="Calibri" pitchFamily="34" charset="0"/>
                <a:cs typeface="Calibri" pitchFamily="34" charset="0"/>
              </a:rPr>
              <a:t>Identify repeating group </a:t>
            </a:r>
            <a:r>
              <a:rPr kumimoji="0" lang="en-US" altLang="en-US" sz="2400" b="0" i="0" u="none" strike="noStrike" kern="1200" cap="none" spc="0" normalizeH="0" baseline="0" noProof="0" dirty="0" smtClean="0">
                <a:ln>
                  <a:noFill/>
                </a:ln>
                <a:solidFill>
                  <a:srgbClr val="FF0000"/>
                </a:solidFill>
                <a:effectLst/>
                <a:uLnTx/>
                <a:uFillTx/>
                <a:latin typeface="Calibri" pitchFamily="34" charset="0"/>
                <a:ea typeface="Calibri" pitchFamily="34" charset="0"/>
                <a:cs typeface="Calibri" pitchFamily="34" charset="0"/>
              </a:rPr>
              <a:t>for removal</a:t>
            </a:r>
            <a:endParaRPr kumimoji="0" lang="en-US" altLang="en-US" sz="2400" b="0" i="0" u="none" strike="noStrike" kern="1200" cap="none" spc="0" normalizeH="0" baseline="0" noProof="0" dirty="0">
              <a:ln>
                <a:noFill/>
              </a:ln>
              <a:solidFill>
                <a:srgbClr val="FF0000"/>
              </a:solidFill>
              <a:effectLst/>
              <a:uLnTx/>
              <a:uFillTx/>
              <a:latin typeface="Calibri" pitchFamily="34" charset="0"/>
              <a:ea typeface="Calibri" pitchFamily="34" charset="0"/>
              <a:cs typeface="Calibri" pitchFamily="34" charset="0"/>
            </a:endParaRPr>
          </a:p>
        </p:txBody>
      </p:sp>
      <p:graphicFrame>
        <p:nvGraphicFramePr>
          <p:cNvPr id="11" name="Table 10"/>
          <p:cNvGraphicFramePr>
            <a:graphicFrameLocks noGrp="1"/>
          </p:cNvGraphicFramePr>
          <p:nvPr>
            <p:extLst>
              <p:ext uri="{D42A27DB-BD31-4B8C-83A1-F6EECF244321}">
                <p14:modId xmlns:p14="http://schemas.microsoft.com/office/powerpoint/2010/main" val="1163947606"/>
              </p:ext>
            </p:extLst>
          </p:nvPr>
        </p:nvGraphicFramePr>
        <p:xfrm>
          <a:off x="387859" y="1400671"/>
          <a:ext cx="4488941" cy="1579076"/>
        </p:xfrm>
        <a:graphic>
          <a:graphicData uri="http://schemas.openxmlformats.org/drawingml/2006/table">
            <a:tbl>
              <a:tblPr firstRow="1" bandRow="1">
                <a:tableStyleId>{5C22544A-7EE6-4342-B048-85BDC9FD1C3A}</a:tableStyleId>
              </a:tblPr>
              <a:tblGrid>
                <a:gridCol w="831341">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233325">
                  <a:extLst>
                    <a:ext uri="{9D8B030D-6E8A-4147-A177-3AD203B41FA5}">
                      <a16:colId xmlns:a16="http://schemas.microsoft.com/office/drawing/2014/main" val="4108903017"/>
                    </a:ext>
                  </a:extLst>
                </a:gridCol>
                <a:gridCol w="677364">
                  <a:extLst>
                    <a:ext uri="{9D8B030D-6E8A-4147-A177-3AD203B41FA5}">
                      <a16:colId xmlns:a16="http://schemas.microsoft.com/office/drawing/2014/main" val="1124535935"/>
                    </a:ext>
                  </a:extLst>
                </a:gridCol>
                <a:gridCol w="994311">
                  <a:extLst>
                    <a:ext uri="{9D8B030D-6E8A-4147-A177-3AD203B41FA5}">
                      <a16:colId xmlns:a16="http://schemas.microsoft.com/office/drawing/2014/main" val="852838304"/>
                    </a:ext>
                  </a:extLst>
                </a:gridCol>
              </a:tblGrid>
              <a:tr h="335492">
                <a:tc>
                  <a:txBody>
                    <a:bodyPr/>
                    <a:lstStyle/>
                    <a:p>
                      <a:pPr algn="ctr"/>
                      <a:r>
                        <a:rPr lang="en-GB" sz="1800" dirty="0" err="1" smtClean="0">
                          <a:solidFill>
                            <a:schemeClr val="tx1"/>
                          </a:solidFill>
                        </a:rPr>
                        <a:t>PartNo</a:t>
                      </a:r>
                      <a:endParaRPr lang="en-US" sz="1800" dirty="0">
                        <a:solidFill>
                          <a:schemeClr val="tx1"/>
                        </a:solidFill>
                      </a:endParaRPr>
                    </a:p>
                  </a:txBody>
                  <a:tcPr marL="18288" marR="18288" marT="18288" marB="18288">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1">
                        <a:lumMod val="40000"/>
                        <a:lumOff val="60000"/>
                      </a:schemeClr>
                    </a:solidFill>
                  </a:tcPr>
                </a:tc>
                <a:tc>
                  <a:txBody>
                    <a:bodyPr/>
                    <a:lstStyle/>
                    <a:p>
                      <a:pPr algn="ctr"/>
                      <a:r>
                        <a:rPr lang="en-GB" sz="1800" b="0" dirty="0" err="1" smtClean="0">
                          <a:solidFill>
                            <a:schemeClr val="tx1"/>
                          </a:solidFill>
                        </a:rPr>
                        <a:t>PartDesc</a:t>
                      </a:r>
                      <a:endParaRPr lang="en-US" sz="1800" b="0" dirty="0">
                        <a:solidFill>
                          <a:schemeClr val="tx1"/>
                        </a:solidFill>
                      </a:endParaRPr>
                    </a:p>
                  </a:txBody>
                  <a:tcPr marL="18288" marR="18288" marT="18288" marB="18288">
                    <a:lnT w="12700" cap="flat" cmpd="sng" algn="ctr">
                      <a:solidFill>
                        <a:schemeClr val="tx1"/>
                      </a:solidFill>
                      <a:prstDash val="solid"/>
                      <a:round/>
                      <a:headEnd type="none" w="med" len="med"/>
                      <a:tailEnd type="none" w="med" len="med"/>
                    </a:lnT>
                    <a:solidFill>
                      <a:schemeClr val="accent1">
                        <a:lumMod val="40000"/>
                        <a:lumOff val="60000"/>
                      </a:schemeClr>
                    </a:solidFill>
                  </a:tcPr>
                </a:tc>
                <a:tc>
                  <a:txBody>
                    <a:bodyPr/>
                    <a:lstStyle/>
                    <a:p>
                      <a:pPr algn="ctr"/>
                      <a:r>
                        <a:rPr lang="en-GB" sz="1800" dirty="0" err="1" smtClean="0">
                          <a:solidFill>
                            <a:schemeClr val="tx1"/>
                          </a:solidFill>
                        </a:rPr>
                        <a:t>SuppNo</a:t>
                      </a:r>
                      <a:endParaRPr lang="en-US" sz="1800" dirty="0">
                        <a:solidFill>
                          <a:schemeClr val="tx1"/>
                        </a:solidFill>
                      </a:endParaRPr>
                    </a:p>
                  </a:txBody>
                  <a:tcPr marL="18288" marR="18288" marT="18288" marB="18288">
                    <a:lnT w="12700" cap="flat" cmpd="sng" algn="ctr">
                      <a:solidFill>
                        <a:schemeClr val="tx1"/>
                      </a:solidFill>
                      <a:prstDash val="solid"/>
                      <a:round/>
                      <a:headEnd type="none" w="med" len="med"/>
                      <a:tailEnd type="none" w="med" len="med"/>
                    </a:lnT>
                    <a:solidFill>
                      <a:schemeClr val="accent1">
                        <a:lumMod val="40000"/>
                        <a:lumOff val="60000"/>
                      </a:schemeClr>
                    </a:solidFill>
                  </a:tcPr>
                </a:tc>
                <a:tc>
                  <a:txBody>
                    <a:bodyPr/>
                    <a:lstStyle/>
                    <a:p>
                      <a:pPr algn="ctr"/>
                      <a:endParaRPr lang="en-US" sz="1800" dirty="0">
                        <a:solidFill>
                          <a:schemeClr val="tx1"/>
                        </a:solidFill>
                      </a:endParaRPr>
                    </a:p>
                  </a:txBody>
                  <a:tcPr marL="18288" marR="18288" marT="18288" marB="18288">
                    <a:lnT w="12700" cap="flat" cmpd="sng" algn="ctr">
                      <a:solidFill>
                        <a:schemeClr val="tx1"/>
                      </a:solidFill>
                      <a:prstDash val="solid"/>
                      <a:round/>
                      <a:headEnd type="none" w="med" len="med"/>
                      <a:tailEnd type="none" w="med" len="med"/>
                    </a:lnT>
                    <a:solidFill>
                      <a:schemeClr val="accent1">
                        <a:lumMod val="40000"/>
                        <a:lumOff val="60000"/>
                      </a:schemeClr>
                    </a:solidFill>
                  </a:tcPr>
                </a:tc>
                <a:tc>
                  <a:txBody>
                    <a:bodyPr/>
                    <a:lstStyle/>
                    <a:p>
                      <a:pPr algn="ctr"/>
                      <a:r>
                        <a:rPr lang="en-SG" sz="1800" b="0" dirty="0" smtClean="0">
                          <a:solidFill>
                            <a:schemeClr val="tx1"/>
                          </a:solidFill>
                        </a:rPr>
                        <a:t>Store</a:t>
                      </a:r>
                      <a:endParaRPr lang="en-US" sz="1800" b="0" dirty="0">
                        <a:solidFill>
                          <a:schemeClr val="tx1"/>
                        </a:solidFill>
                      </a:endParaRPr>
                    </a:p>
                  </a:txBody>
                  <a:tcPr marL="18288" marR="18288" marT="18288" marB="18288">
                    <a:lnT w="12700" cap="flat" cmpd="sng" algn="ctr">
                      <a:solidFill>
                        <a:schemeClr val="tx1"/>
                      </a:solidFill>
                      <a:prstDash val="solid"/>
                      <a:round/>
                      <a:headEnd type="none" w="med" len="med"/>
                      <a:tailEnd type="none" w="med" len="med"/>
                    </a:lnT>
                    <a:solidFill>
                      <a:schemeClr val="accent1">
                        <a:lumMod val="40000"/>
                        <a:lumOff val="60000"/>
                      </a:schemeClr>
                    </a:solidFill>
                  </a:tcPr>
                </a:tc>
                <a:tc>
                  <a:txBody>
                    <a:bodyPr/>
                    <a:lstStyle/>
                    <a:p>
                      <a:pPr algn="ctr"/>
                      <a:r>
                        <a:rPr lang="en-SG" sz="1800" b="0" dirty="0" smtClean="0">
                          <a:solidFill>
                            <a:schemeClr val="tx1"/>
                          </a:solidFill>
                        </a:rPr>
                        <a:t>Phone</a:t>
                      </a:r>
                      <a:endParaRPr lang="en-US" sz="1800" b="0" dirty="0">
                        <a:solidFill>
                          <a:schemeClr val="tx1"/>
                        </a:solidFill>
                      </a:endParaRPr>
                    </a:p>
                  </a:txBody>
                  <a:tcPr marL="18288" marR="18288" marT="18288" marB="18288">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1">
                        <a:lumMod val="40000"/>
                        <a:lumOff val="60000"/>
                      </a:schemeClr>
                    </a:solidFill>
                  </a:tcPr>
                </a:tc>
                <a:extLst>
                  <a:ext uri="{0D108BD9-81ED-4DB2-BD59-A6C34878D82A}">
                    <a16:rowId xmlns:a16="http://schemas.microsoft.com/office/drawing/2014/main" val="10000"/>
                  </a:ext>
                </a:extLst>
              </a:tr>
              <a:tr h="274345">
                <a:tc rowSpan="2">
                  <a:txBody>
                    <a:bodyPr/>
                    <a:lstStyle/>
                    <a:p>
                      <a:pPr algn="ctr"/>
                      <a:r>
                        <a:rPr lang="en-GB" sz="1800" b="0" dirty="0" smtClean="0">
                          <a:solidFill>
                            <a:schemeClr val="tx1"/>
                          </a:solidFill>
                        </a:rPr>
                        <a:t>P1</a:t>
                      </a:r>
                      <a:endParaRPr lang="en-US" sz="1800" b="0" dirty="0">
                        <a:solidFill>
                          <a:schemeClr val="tx1"/>
                        </a:solidFill>
                      </a:endParaRPr>
                    </a:p>
                  </a:txBody>
                  <a:tcPr marL="18288" marR="18288" marT="18288" marB="18288">
                    <a:lnL w="12700" cap="flat" cmpd="sng" algn="ctr">
                      <a:solidFill>
                        <a:schemeClr val="tx1"/>
                      </a:solidFill>
                      <a:prstDash val="solid"/>
                      <a:round/>
                      <a:headEnd type="none" w="med" len="med"/>
                      <a:tailEnd type="none" w="med" len="med"/>
                    </a:lnL>
                    <a:solidFill>
                      <a:srgbClr val="FFFF99"/>
                    </a:solidFill>
                  </a:tcPr>
                </a:tc>
                <a:tc rowSpan="2">
                  <a:txBody>
                    <a:bodyPr/>
                    <a:lstStyle/>
                    <a:p>
                      <a:pPr algn="ctr"/>
                      <a:r>
                        <a:rPr lang="en-GB" sz="1800" dirty="0" smtClean="0">
                          <a:solidFill>
                            <a:schemeClr val="tx1"/>
                          </a:solidFill>
                        </a:rPr>
                        <a:t>Printer</a:t>
                      </a:r>
                      <a:endParaRPr lang="en-US" sz="1800" dirty="0">
                        <a:solidFill>
                          <a:schemeClr val="tx1"/>
                        </a:solidFill>
                      </a:endParaRPr>
                    </a:p>
                  </a:txBody>
                  <a:tcPr marL="18288" marR="18288" marT="18288" marB="18288">
                    <a:solidFill>
                      <a:srgbClr val="FFFF99"/>
                    </a:solidFill>
                  </a:tcPr>
                </a:tc>
                <a:tc>
                  <a:txBody>
                    <a:bodyPr/>
                    <a:lstStyle/>
                    <a:p>
                      <a:pPr algn="ctr"/>
                      <a:r>
                        <a:rPr lang="en-GB" sz="1800" b="0" dirty="0" smtClean="0"/>
                        <a:t>S1</a:t>
                      </a:r>
                      <a:endParaRPr lang="en-GB" sz="1800" b="0" dirty="0"/>
                    </a:p>
                  </a:txBody>
                  <a:tcPr marL="18288" marR="18288" marT="18288" marB="18288">
                    <a:solidFill>
                      <a:schemeClr val="tx2">
                        <a:lumMod val="40000"/>
                        <a:lumOff val="60000"/>
                      </a:schemeClr>
                    </a:solidFill>
                  </a:tcPr>
                </a:tc>
                <a:tc>
                  <a:txBody>
                    <a:bodyPr/>
                    <a:lstStyle/>
                    <a:p>
                      <a:pPr algn="ctr"/>
                      <a:r>
                        <a:rPr lang="en-GB" sz="1800" b="0" dirty="0" smtClean="0"/>
                        <a:t>..</a:t>
                      </a:r>
                      <a:endParaRPr lang="en-GB" sz="1800" b="0" dirty="0"/>
                    </a:p>
                  </a:txBody>
                  <a:tcPr marL="18288" marR="18288" marT="18288" marB="18288"/>
                </a:tc>
                <a:tc rowSpan="2">
                  <a:txBody>
                    <a:bodyPr/>
                    <a:lstStyle/>
                    <a:p>
                      <a:pPr algn="ctr"/>
                      <a:r>
                        <a:rPr lang="en-GB" sz="1800" b="0" dirty="0" smtClean="0"/>
                        <a:t>Ken</a:t>
                      </a:r>
                      <a:endParaRPr lang="en-GB" sz="1800" b="0" dirty="0"/>
                    </a:p>
                  </a:txBody>
                  <a:tcPr marL="18288" marR="18288" marT="18288" marB="18288">
                    <a:solidFill>
                      <a:srgbClr val="FFFF99"/>
                    </a:solidFill>
                  </a:tcPr>
                </a:tc>
                <a:tc rowSpan="2">
                  <a:txBody>
                    <a:bodyPr/>
                    <a:lstStyle/>
                    <a:p>
                      <a:pPr algn="ctr"/>
                      <a:r>
                        <a:rPr lang="en-GB" sz="1800" b="0" dirty="0" smtClean="0"/>
                        <a:t>98553344</a:t>
                      </a:r>
                      <a:endParaRPr lang="en-GB" sz="1800" b="0" dirty="0"/>
                    </a:p>
                  </a:txBody>
                  <a:tcPr marL="18288" marR="18288" marT="18288" marB="18288">
                    <a:lnR w="12700" cap="flat" cmpd="sng" algn="ctr">
                      <a:solidFill>
                        <a:schemeClr val="tx1"/>
                      </a:solidFill>
                      <a:prstDash val="solid"/>
                      <a:round/>
                      <a:headEnd type="none" w="med" len="med"/>
                      <a:tailEnd type="none" w="med" len="med"/>
                    </a:lnR>
                    <a:solidFill>
                      <a:srgbClr val="FFFF99"/>
                    </a:solidFill>
                  </a:tcPr>
                </a:tc>
                <a:extLst>
                  <a:ext uri="{0D108BD9-81ED-4DB2-BD59-A6C34878D82A}">
                    <a16:rowId xmlns:a16="http://schemas.microsoft.com/office/drawing/2014/main" val="10001"/>
                  </a:ext>
                </a:extLst>
              </a:tr>
              <a:tr h="274346">
                <a:tc vMerge="1">
                  <a:txBody>
                    <a:bodyPr/>
                    <a:lstStyle/>
                    <a:p>
                      <a:pPr algn="ctr"/>
                      <a:endParaRPr lang="en-US" sz="1800" b="0" dirty="0">
                        <a:solidFill>
                          <a:schemeClr val="tx1"/>
                        </a:solidFill>
                      </a:endParaRPr>
                    </a:p>
                  </a:txBody>
                  <a:tcPr marT="45758" marB="45758">
                    <a:lnL w="12700" cap="flat" cmpd="sng" algn="ctr">
                      <a:solidFill>
                        <a:schemeClr val="tx1"/>
                      </a:solidFill>
                      <a:prstDash val="solid"/>
                      <a:round/>
                      <a:headEnd type="none" w="med" len="med"/>
                      <a:tailEnd type="none" w="med" len="med"/>
                    </a:lnL>
                  </a:tcPr>
                </a:tc>
                <a:tc vMerge="1">
                  <a:txBody>
                    <a:bodyPr/>
                    <a:lstStyle/>
                    <a:p>
                      <a:pPr algn="ctr"/>
                      <a:endParaRPr lang="en-US" sz="1800" dirty="0">
                        <a:solidFill>
                          <a:schemeClr val="tx1"/>
                        </a:solidFill>
                      </a:endParaRPr>
                    </a:p>
                  </a:txBody>
                  <a:tcPr marT="45758" marB="45758"/>
                </a:tc>
                <a:tc>
                  <a:txBody>
                    <a:bodyPr/>
                    <a:lstStyle/>
                    <a:p>
                      <a:pPr algn="ctr"/>
                      <a:r>
                        <a:rPr lang="en-US" sz="1800" b="0" dirty="0" smtClean="0"/>
                        <a:t>S2</a:t>
                      </a:r>
                      <a:endParaRPr lang="en-US" sz="1800" b="0" dirty="0"/>
                    </a:p>
                  </a:txBody>
                  <a:tcPr marL="18288" marR="18288" marT="18288" marB="18288"/>
                </a:tc>
                <a:tc>
                  <a:txBody>
                    <a:bodyPr/>
                    <a:lstStyle/>
                    <a:p>
                      <a:pPr algn="ctr"/>
                      <a:r>
                        <a:rPr lang="en-SG" sz="1800" b="0" dirty="0" smtClean="0"/>
                        <a:t>.</a:t>
                      </a:r>
                      <a:endParaRPr lang="en-US" sz="1800" b="0" dirty="0"/>
                    </a:p>
                  </a:txBody>
                  <a:tcPr marL="18288" marR="18288" marT="18288" marB="18288"/>
                </a:tc>
                <a:tc vMerge="1">
                  <a:txBody>
                    <a:bodyPr/>
                    <a:lstStyle/>
                    <a:p>
                      <a:pPr algn="ctr"/>
                      <a:endParaRPr lang="en-US" sz="1800" b="0" dirty="0"/>
                    </a:p>
                  </a:txBody>
                  <a:tcPr marL="18288" marR="18288" marT="18288" marB="18288"/>
                </a:tc>
                <a:tc vMerge="1">
                  <a:txBody>
                    <a:bodyPr/>
                    <a:lstStyle/>
                    <a:p>
                      <a:pPr algn="ctr"/>
                      <a:endParaRPr lang="en-US" sz="1800" b="0" dirty="0"/>
                    </a:p>
                  </a:txBody>
                  <a:tcPr marL="18288" marR="18288" marT="18288" marB="1828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763389750"/>
                  </a:ext>
                </a:extLst>
              </a:tr>
              <a:tr h="274345">
                <a:tc rowSpan="2">
                  <a:txBody>
                    <a:bodyPr/>
                    <a:lstStyle/>
                    <a:p>
                      <a:pPr algn="ctr"/>
                      <a:r>
                        <a:rPr lang="en-US" sz="1800" b="0" dirty="0" smtClean="0">
                          <a:solidFill>
                            <a:schemeClr val="tx1"/>
                          </a:solidFill>
                        </a:rPr>
                        <a:t>P2</a:t>
                      </a:r>
                      <a:endParaRPr lang="en-US" sz="1800" b="0" dirty="0">
                        <a:solidFill>
                          <a:schemeClr val="tx1"/>
                        </a:solidFill>
                      </a:endParaRPr>
                    </a:p>
                  </a:txBody>
                  <a:tcPr marL="18288" marR="18288" marT="18288" marB="18288">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99FF99"/>
                    </a:solidFill>
                  </a:tcPr>
                </a:tc>
                <a:tc rowSpan="2">
                  <a:txBody>
                    <a:bodyPr/>
                    <a:lstStyle/>
                    <a:p>
                      <a:pPr algn="ctr"/>
                      <a:r>
                        <a:rPr lang="en-US" sz="1800" dirty="0" smtClean="0">
                          <a:solidFill>
                            <a:schemeClr val="tx1"/>
                          </a:solidFill>
                        </a:rPr>
                        <a:t>Speaker</a:t>
                      </a:r>
                      <a:endParaRPr lang="en-US" sz="1800" dirty="0">
                        <a:solidFill>
                          <a:schemeClr val="tx1"/>
                        </a:solidFill>
                      </a:endParaRPr>
                    </a:p>
                  </a:txBody>
                  <a:tcPr marL="18288" marR="18288" marT="18288" marB="18288">
                    <a:lnB w="12700" cap="flat" cmpd="sng" algn="ctr">
                      <a:solidFill>
                        <a:schemeClr val="tx1"/>
                      </a:solidFill>
                      <a:prstDash val="solid"/>
                      <a:round/>
                      <a:headEnd type="none" w="med" len="med"/>
                      <a:tailEnd type="none" w="med" len="med"/>
                    </a:lnB>
                    <a:solidFill>
                      <a:srgbClr val="99FF99"/>
                    </a:solidFill>
                  </a:tcPr>
                </a:tc>
                <a:tc>
                  <a:txBody>
                    <a:bodyPr/>
                    <a:lstStyle/>
                    <a:p>
                      <a:pPr algn="ctr"/>
                      <a:r>
                        <a:rPr lang="en-US" sz="1800" b="0" dirty="0" smtClean="0"/>
                        <a:t>S1</a:t>
                      </a:r>
                      <a:endParaRPr lang="en-US" sz="1800" b="0" dirty="0"/>
                    </a:p>
                  </a:txBody>
                  <a:tcPr marL="18288" marR="18288" marT="18288" marB="18288">
                    <a:solidFill>
                      <a:schemeClr val="tx2">
                        <a:lumMod val="40000"/>
                        <a:lumOff val="60000"/>
                      </a:schemeClr>
                    </a:solidFill>
                  </a:tcPr>
                </a:tc>
                <a:tc>
                  <a:txBody>
                    <a:bodyPr/>
                    <a:lstStyle/>
                    <a:p>
                      <a:pPr algn="ctr"/>
                      <a:r>
                        <a:rPr lang="en-SG" sz="1800" b="0" dirty="0" smtClean="0"/>
                        <a:t>..</a:t>
                      </a:r>
                      <a:endParaRPr lang="en-US" sz="1800" b="0" dirty="0"/>
                    </a:p>
                  </a:txBody>
                  <a:tcPr marL="18288" marR="18288" marT="18288" marB="18288"/>
                </a:tc>
                <a:tc rowSpan="2">
                  <a:txBody>
                    <a:bodyPr/>
                    <a:lstStyle/>
                    <a:p>
                      <a:pPr algn="ctr"/>
                      <a:r>
                        <a:rPr lang="en-SG" sz="1800" b="0" dirty="0" smtClean="0"/>
                        <a:t>Alvin</a:t>
                      </a:r>
                      <a:endParaRPr lang="en-US" sz="1800" b="0" dirty="0"/>
                    </a:p>
                  </a:txBody>
                  <a:tcPr marL="18288" marR="18288" marT="18288" marB="18288">
                    <a:lnB w="12700" cap="flat" cmpd="sng" algn="ctr">
                      <a:solidFill>
                        <a:schemeClr val="tx1"/>
                      </a:solidFill>
                      <a:prstDash val="solid"/>
                      <a:round/>
                      <a:headEnd type="none" w="med" len="med"/>
                      <a:tailEnd type="none" w="med" len="med"/>
                    </a:lnB>
                    <a:solidFill>
                      <a:srgbClr val="99FF99"/>
                    </a:solidFill>
                  </a:tcPr>
                </a:tc>
                <a:tc rowSpan="2">
                  <a:txBody>
                    <a:bodyPr/>
                    <a:lstStyle/>
                    <a:p>
                      <a:pPr algn="ctr"/>
                      <a:r>
                        <a:rPr lang="en-SG" sz="1800" b="0" dirty="0" smtClean="0"/>
                        <a:t>97334400</a:t>
                      </a:r>
                      <a:endParaRPr lang="en-US" sz="1800" b="0" dirty="0"/>
                    </a:p>
                  </a:txBody>
                  <a:tcPr marL="18288" marR="18288" marT="18288" marB="18288">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99FF99"/>
                    </a:solidFill>
                  </a:tcPr>
                </a:tc>
                <a:extLst>
                  <a:ext uri="{0D108BD9-81ED-4DB2-BD59-A6C34878D82A}">
                    <a16:rowId xmlns:a16="http://schemas.microsoft.com/office/drawing/2014/main" val="2729344986"/>
                  </a:ext>
                </a:extLst>
              </a:tr>
              <a:tr h="289598">
                <a:tc vMerge="1">
                  <a:txBody>
                    <a:bodyPr/>
                    <a:lstStyle/>
                    <a:p>
                      <a:pPr algn="ctr"/>
                      <a:endParaRPr lang="en-US" sz="1800" b="0" dirty="0">
                        <a:solidFill>
                          <a:schemeClr val="tx1"/>
                        </a:solidFill>
                      </a:endParaRPr>
                    </a:p>
                  </a:txBody>
                  <a:tcPr marT="45758" marB="45758">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vMerge="1">
                  <a:txBody>
                    <a:bodyPr/>
                    <a:lstStyle/>
                    <a:p>
                      <a:pPr algn="ctr"/>
                      <a:endParaRPr lang="en-US" sz="1800" dirty="0">
                        <a:solidFill>
                          <a:schemeClr val="tx1"/>
                        </a:solidFill>
                      </a:endParaRPr>
                    </a:p>
                  </a:txBody>
                  <a:tcPr marT="45758" marB="45758">
                    <a:lnB w="12700" cap="flat" cmpd="sng" algn="ctr">
                      <a:solidFill>
                        <a:schemeClr val="tx1"/>
                      </a:solidFill>
                      <a:prstDash val="solid"/>
                      <a:round/>
                      <a:headEnd type="none" w="med" len="med"/>
                      <a:tailEnd type="none" w="med" len="med"/>
                    </a:lnB>
                  </a:tcPr>
                </a:tc>
                <a:tc>
                  <a:txBody>
                    <a:bodyPr/>
                    <a:lstStyle/>
                    <a:p>
                      <a:pPr algn="ctr"/>
                      <a:r>
                        <a:rPr lang="en-US" sz="1800" b="0" dirty="0" smtClean="0"/>
                        <a:t>S2</a:t>
                      </a:r>
                      <a:endParaRPr lang="en-US" sz="1800" b="0" dirty="0"/>
                    </a:p>
                  </a:txBody>
                  <a:tcPr marL="18288" marR="18288" marT="18288" marB="18288">
                    <a:lnB w="12700" cap="flat" cmpd="sng" algn="ctr">
                      <a:solidFill>
                        <a:schemeClr val="tx1"/>
                      </a:solidFill>
                      <a:prstDash val="solid"/>
                      <a:round/>
                      <a:headEnd type="none" w="med" len="med"/>
                      <a:tailEnd type="none" w="med" len="med"/>
                    </a:lnB>
                  </a:tcPr>
                </a:tc>
                <a:tc>
                  <a:txBody>
                    <a:bodyPr/>
                    <a:lstStyle/>
                    <a:p>
                      <a:pPr algn="ctr"/>
                      <a:r>
                        <a:rPr lang="en-SG" sz="1800" b="0" dirty="0" smtClean="0"/>
                        <a:t>..</a:t>
                      </a:r>
                      <a:endParaRPr lang="en-US" sz="1800" b="0" dirty="0"/>
                    </a:p>
                  </a:txBody>
                  <a:tcPr marL="18288" marR="18288" marT="18288" marB="18288">
                    <a:lnB w="12700" cap="flat" cmpd="sng" algn="ctr">
                      <a:solidFill>
                        <a:schemeClr val="tx1"/>
                      </a:solidFill>
                      <a:prstDash val="solid"/>
                      <a:round/>
                      <a:headEnd type="none" w="med" len="med"/>
                      <a:tailEnd type="none" w="med" len="med"/>
                    </a:lnB>
                  </a:tcPr>
                </a:tc>
                <a:tc vMerge="1">
                  <a:txBody>
                    <a:bodyPr/>
                    <a:lstStyle/>
                    <a:p>
                      <a:pPr algn="ctr"/>
                      <a:endParaRPr lang="en-US" sz="1800" b="0" dirty="0"/>
                    </a:p>
                  </a:txBody>
                  <a:tcPr marL="18288" marR="18288" marT="18288" marB="18288">
                    <a:lnB w="12700" cap="flat" cmpd="sng" algn="ctr">
                      <a:solidFill>
                        <a:schemeClr val="tx1"/>
                      </a:solidFill>
                      <a:prstDash val="solid"/>
                      <a:round/>
                      <a:headEnd type="none" w="med" len="med"/>
                      <a:tailEnd type="none" w="med" len="med"/>
                    </a:lnB>
                  </a:tcPr>
                </a:tc>
                <a:tc vMerge="1">
                  <a:txBody>
                    <a:bodyPr/>
                    <a:lstStyle/>
                    <a:p>
                      <a:pPr algn="ctr"/>
                      <a:endParaRPr lang="en-US" sz="1800" b="0" dirty="0"/>
                    </a:p>
                  </a:txBody>
                  <a:tcPr marL="18288" marR="18288" marT="18288" marB="18288">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859831"/>
                  </a:ext>
                </a:extLst>
              </a:tr>
            </a:tbl>
          </a:graphicData>
        </a:graphic>
      </p:graphicFrame>
      <p:sp>
        <p:nvSpPr>
          <p:cNvPr id="26691" name="Rectangle 12"/>
          <p:cNvSpPr>
            <a:spLocks noChangeArrowheads="1"/>
          </p:cNvSpPr>
          <p:nvPr/>
        </p:nvSpPr>
        <p:spPr bwMode="auto">
          <a:xfrm>
            <a:off x="381000" y="990600"/>
            <a:ext cx="27872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rIns="45720" anchor="ctr">
            <a:spAutoFit/>
          </a:bodyPr>
          <a:lstStyle>
            <a:lvl1pPr marL="342900" indent="-342900" eaLnBrk="0" hangingPunct="0">
              <a:spcBef>
                <a:spcPct val="20000"/>
              </a:spcBef>
              <a:buFont typeface="Arial" charset="0"/>
              <a:buChar char="•"/>
              <a:defRPr sz="3200">
                <a:solidFill>
                  <a:schemeClr val="tx1"/>
                </a:solidFill>
                <a:latin typeface="Calibri" pitchFamily="34" charset="0"/>
              </a:defRPr>
            </a:lvl1pPr>
            <a:lvl2pPr marL="685800" indent="-68580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685800" marR="0" lvl="1" indent="-685800" algn="l" defTabSz="914400" rtl="0" eaLnBrk="1" fontAlgn="base" latinLnBrk="0" hangingPunct="1">
              <a:lnSpc>
                <a:spcPct val="100000"/>
              </a:lnSpc>
              <a:spcBef>
                <a:spcPct val="20000"/>
              </a:spcBef>
              <a:spcAft>
                <a:spcPct val="0"/>
              </a:spcAft>
              <a:buClrTx/>
              <a:buSzTx/>
              <a:buFont typeface="Wingdings" pitchFamily="2" charset="2"/>
              <a:buNone/>
              <a:tabLst/>
              <a:defRPr/>
            </a:pPr>
            <a:r>
              <a:rPr kumimoji="0" lang="en-US" altLang="zh-SG" sz="1800" b="1" i="0" u="none" strike="noStrike" kern="1200" cap="none" spc="0" normalizeH="0" baseline="0" noProof="0" dirty="0" smtClean="0">
                <a:ln>
                  <a:noFill/>
                </a:ln>
                <a:solidFill>
                  <a:prstClr val="black"/>
                </a:solidFill>
                <a:effectLst/>
                <a:uLnTx/>
                <a:uFillTx/>
                <a:latin typeface="Calibri" pitchFamily="34" charset="0"/>
                <a:ea typeface="宋体" panose="02010600030101010101" pitchFamily="2" charset="-122"/>
                <a:cs typeface="+mn-cs"/>
              </a:rPr>
              <a:t>PART </a:t>
            </a:r>
            <a:r>
              <a:rPr kumimoji="0" lang="en-US" altLang="zh-SG" sz="1800" b="1" i="0" u="none" strike="noStrike" kern="1200" cap="none" spc="0" normalizeH="0" baseline="0" noProof="0" dirty="0">
                <a:ln>
                  <a:noFill/>
                </a:ln>
                <a:solidFill>
                  <a:prstClr val="black"/>
                </a:solidFill>
                <a:effectLst/>
                <a:uLnTx/>
                <a:uFillTx/>
                <a:latin typeface="Calibri" pitchFamily="34" charset="0"/>
                <a:ea typeface="宋体" panose="02010600030101010101" pitchFamily="2" charset="-122"/>
                <a:cs typeface="+mn-cs"/>
              </a:rPr>
              <a:t>(with repeating group)</a:t>
            </a:r>
          </a:p>
        </p:txBody>
      </p:sp>
      <p:graphicFrame>
        <p:nvGraphicFramePr>
          <p:cNvPr id="15" name="Table 14">
            <a:extLst>
              <a:ext uri="{FF2B5EF4-FFF2-40B4-BE49-F238E27FC236}">
                <a16:creationId xmlns:a16="http://schemas.microsoft.com/office/drawing/2014/main" id="{14AE910C-6742-4E40-B203-4370811D2A0A}"/>
              </a:ext>
            </a:extLst>
          </p:cNvPr>
          <p:cNvGraphicFramePr>
            <a:graphicFrameLocks noGrp="1"/>
          </p:cNvGraphicFramePr>
          <p:nvPr>
            <p:extLst>
              <p:ext uri="{D42A27DB-BD31-4B8C-83A1-F6EECF244321}">
                <p14:modId xmlns:p14="http://schemas.microsoft.com/office/powerpoint/2010/main" val="3123451728"/>
              </p:ext>
            </p:extLst>
          </p:nvPr>
        </p:nvGraphicFramePr>
        <p:xfrm>
          <a:off x="363794" y="4780392"/>
          <a:ext cx="4360606" cy="1677460"/>
        </p:xfrm>
        <a:graphic>
          <a:graphicData uri="http://schemas.openxmlformats.org/drawingml/2006/table">
            <a:tbl>
              <a:tblPr firstRow="1" bandRow="1">
                <a:tableStyleId>{5C22544A-7EE6-4342-B048-85BDC9FD1C3A}</a:tableStyleId>
              </a:tblPr>
              <a:tblGrid>
                <a:gridCol w="923927">
                  <a:extLst>
                    <a:ext uri="{9D8B030D-6E8A-4147-A177-3AD203B41FA5}">
                      <a16:colId xmlns:a16="http://schemas.microsoft.com/office/drawing/2014/main" val="20000"/>
                    </a:ext>
                  </a:extLst>
                </a:gridCol>
                <a:gridCol w="1087815">
                  <a:extLst>
                    <a:ext uri="{9D8B030D-6E8A-4147-A177-3AD203B41FA5}">
                      <a16:colId xmlns:a16="http://schemas.microsoft.com/office/drawing/2014/main" val="20001"/>
                    </a:ext>
                  </a:extLst>
                </a:gridCol>
                <a:gridCol w="926571">
                  <a:extLst>
                    <a:ext uri="{9D8B030D-6E8A-4147-A177-3AD203B41FA5}">
                      <a16:colId xmlns:a16="http://schemas.microsoft.com/office/drawing/2014/main" val="20002"/>
                    </a:ext>
                  </a:extLst>
                </a:gridCol>
                <a:gridCol w="1117493">
                  <a:extLst>
                    <a:ext uri="{9D8B030D-6E8A-4147-A177-3AD203B41FA5}">
                      <a16:colId xmlns:a16="http://schemas.microsoft.com/office/drawing/2014/main" val="2849106796"/>
                    </a:ext>
                  </a:extLst>
                </a:gridCol>
                <a:gridCol w="304800">
                  <a:extLst>
                    <a:ext uri="{9D8B030D-6E8A-4147-A177-3AD203B41FA5}">
                      <a16:colId xmlns:a16="http://schemas.microsoft.com/office/drawing/2014/main" val="4197153115"/>
                    </a:ext>
                  </a:extLst>
                </a:gridCol>
              </a:tblGrid>
              <a:tr h="335492">
                <a:tc>
                  <a:txBody>
                    <a:bodyPr/>
                    <a:lstStyle/>
                    <a:p>
                      <a:pPr algn="ctr"/>
                      <a:r>
                        <a:rPr lang="en-GB" sz="1800" u="sng" dirty="0" err="1" smtClean="0">
                          <a:solidFill>
                            <a:srgbClr val="FF0000"/>
                          </a:solidFill>
                        </a:rPr>
                        <a:t>PartNo</a:t>
                      </a:r>
                      <a:endParaRPr lang="en-US" sz="1800" u="sng" dirty="0">
                        <a:solidFill>
                          <a:srgbClr val="FF0000"/>
                        </a:solidFill>
                      </a:endParaRPr>
                    </a:p>
                  </a:txBody>
                  <a:tcPr marL="18288" marR="18288" marT="18288" marB="18288">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1">
                        <a:lumMod val="40000"/>
                        <a:lumOff val="60000"/>
                      </a:schemeClr>
                    </a:solidFill>
                  </a:tcPr>
                </a:tc>
                <a:tc>
                  <a:txBody>
                    <a:bodyPr/>
                    <a:lstStyle/>
                    <a:p>
                      <a:pPr algn="ctr"/>
                      <a:r>
                        <a:rPr lang="en-GB" sz="1800" b="0" dirty="0" err="1" smtClean="0">
                          <a:solidFill>
                            <a:schemeClr val="tx1"/>
                          </a:solidFill>
                        </a:rPr>
                        <a:t>PartDesc</a:t>
                      </a:r>
                      <a:endParaRPr lang="en-US" sz="1800" b="0" dirty="0">
                        <a:solidFill>
                          <a:schemeClr val="tx1"/>
                        </a:solidFill>
                      </a:endParaRPr>
                    </a:p>
                  </a:txBody>
                  <a:tcPr marL="18288" marR="18288" marT="18288" marB="18288">
                    <a:lnT w="12700" cap="flat" cmpd="sng" algn="ctr">
                      <a:solidFill>
                        <a:schemeClr val="tx1"/>
                      </a:solidFill>
                      <a:prstDash val="solid"/>
                      <a:round/>
                      <a:headEnd type="none" w="med" len="med"/>
                      <a:tailEnd type="none" w="med" len="med"/>
                    </a:lnT>
                    <a:solidFill>
                      <a:schemeClr val="accent1">
                        <a:lumMod val="40000"/>
                        <a:lumOff val="60000"/>
                      </a:schemeClr>
                    </a:solidFill>
                  </a:tcPr>
                </a:tc>
                <a:tc>
                  <a:txBody>
                    <a:bodyPr/>
                    <a:lstStyle/>
                    <a:p>
                      <a:pPr algn="ctr"/>
                      <a:r>
                        <a:rPr lang="en-GB" sz="1800" u="sng" dirty="0" err="1" smtClean="0">
                          <a:solidFill>
                            <a:srgbClr val="FF0000"/>
                          </a:solidFill>
                        </a:rPr>
                        <a:t>SuppNo</a:t>
                      </a:r>
                      <a:endParaRPr lang="en-US" sz="1800" u="sng" dirty="0">
                        <a:solidFill>
                          <a:srgbClr val="FF0000"/>
                        </a:solidFill>
                      </a:endParaRPr>
                    </a:p>
                  </a:txBody>
                  <a:tcPr marL="18288" marR="18288" marT="18288" marB="18288">
                    <a:lnT w="12700" cap="flat" cmpd="sng" algn="ctr">
                      <a:solidFill>
                        <a:schemeClr val="tx1"/>
                      </a:solidFill>
                      <a:prstDash val="solid"/>
                      <a:round/>
                      <a:headEnd type="none" w="med" len="med"/>
                      <a:tailEnd type="none" w="med" len="med"/>
                    </a:lnT>
                    <a:solidFill>
                      <a:schemeClr val="accent1">
                        <a:lumMod val="40000"/>
                        <a:lumOff val="60000"/>
                      </a:schemeClr>
                    </a:solidFill>
                  </a:tcPr>
                </a:tc>
                <a:tc>
                  <a:txBody>
                    <a:bodyPr/>
                    <a:lstStyle/>
                    <a:p>
                      <a:pPr algn="ctr"/>
                      <a:r>
                        <a:rPr lang="en-SG" sz="1800" b="0" u="none" dirty="0" err="1" smtClean="0">
                          <a:solidFill>
                            <a:schemeClr val="tx1"/>
                          </a:solidFill>
                        </a:rPr>
                        <a:t>SuppName</a:t>
                      </a:r>
                      <a:endParaRPr lang="en-US" sz="1800" b="0" u="none" dirty="0">
                        <a:solidFill>
                          <a:schemeClr val="tx1"/>
                        </a:solidFill>
                      </a:endParaRPr>
                    </a:p>
                  </a:txBody>
                  <a:tcPr marL="18288" marR="18288" marT="18288" marB="18288">
                    <a:lnT w="12700" cap="flat" cmpd="sng" algn="ctr">
                      <a:solidFill>
                        <a:schemeClr val="tx1"/>
                      </a:solidFill>
                      <a:prstDash val="solid"/>
                      <a:round/>
                      <a:headEnd type="none" w="med" len="med"/>
                      <a:tailEnd type="none" w="med" len="med"/>
                    </a:lnT>
                    <a:solidFill>
                      <a:schemeClr val="accent1">
                        <a:lumMod val="40000"/>
                        <a:lumOff val="60000"/>
                      </a:schemeClr>
                    </a:solidFill>
                  </a:tcPr>
                </a:tc>
                <a:tc>
                  <a:txBody>
                    <a:bodyPr/>
                    <a:lstStyle/>
                    <a:p>
                      <a:pPr algn="ctr"/>
                      <a:endParaRPr lang="en-US" sz="1800" u="sng" dirty="0">
                        <a:solidFill>
                          <a:srgbClr val="FF0000"/>
                        </a:solidFill>
                      </a:endParaRPr>
                    </a:p>
                  </a:txBody>
                  <a:tcPr marL="18288" marR="18288" marT="18288" marB="18288">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1">
                        <a:lumMod val="40000"/>
                        <a:lumOff val="60000"/>
                      </a:schemeClr>
                    </a:solidFill>
                  </a:tcPr>
                </a:tc>
                <a:extLst>
                  <a:ext uri="{0D108BD9-81ED-4DB2-BD59-A6C34878D82A}">
                    <a16:rowId xmlns:a16="http://schemas.microsoft.com/office/drawing/2014/main" val="10000"/>
                  </a:ext>
                </a:extLst>
              </a:tr>
              <a:tr h="335492">
                <a:tc>
                  <a:txBody>
                    <a:bodyPr/>
                    <a:lstStyle/>
                    <a:p>
                      <a:pPr algn="ctr"/>
                      <a:r>
                        <a:rPr lang="en-GB" sz="1800" b="1" dirty="0" smtClean="0">
                          <a:solidFill>
                            <a:schemeClr val="tx1"/>
                          </a:solidFill>
                        </a:rPr>
                        <a:t>P1</a:t>
                      </a:r>
                      <a:endParaRPr lang="en-US" sz="1800" b="1" dirty="0">
                        <a:solidFill>
                          <a:schemeClr val="tx1"/>
                        </a:solidFill>
                      </a:endParaRPr>
                    </a:p>
                  </a:txBody>
                  <a:tcPr marL="18288" marR="18288" marT="18288" marB="18288">
                    <a:lnL w="12700"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pPr algn="ctr"/>
                      <a:r>
                        <a:rPr lang="en-GB" sz="1800" dirty="0" smtClean="0">
                          <a:solidFill>
                            <a:schemeClr val="tx1"/>
                          </a:solidFill>
                        </a:rPr>
                        <a:t>Printer</a:t>
                      </a:r>
                      <a:endParaRPr lang="en-US" sz="1800" dirty="0">
                        <a:solidFill>
                          <a:schemeClr val="tx1"/>
                        </a:solidFill>
                      </a:endParaRPr>
                    </a:p>
                  </a:txBody>
                  <a:tcPr marL="18288" marR="18288" marT="18288" marB="18288">
                    <a:solidFill>
                      <a:schemeClr val="tx2">
                        <a:lumMod val="40000"/>
                        <a:lumOff val="60000"/>
                      </a:schemeClr>
                    </a:solidFill>
                  </a:tcPr>
                </a:tc>
                <a:tc>
                  <a:txBody>
                    <a:bodyPr/>
                    <a:lstStyle/>
                    <a:p>
                      <a:pPr algn="ctr"/>
                      <a:r>
                        <a:rPr lang="en-GB" sz="1800" b="1" dirty="0" smtClean="0"/>
                        <a:t>S1</a:t>
                      </a:r>
                      <a:endParaRPr lang="en-GB" sz="1800" b="1" dirty="0"/>
                    </a:p>
                  </a:txBody>
                  <a:tcPr marL="18288" marR="18288" marT="18288" marB="18288">
                    <a:solidFill>
                      <a:schemeClr val="tx2">
                        <a:lumMod val="40000"/>
                        <a:lumOff val="60000"/>
                      </a:schemeClr>
                    </a:solidFill>
                  </a:tcPr>
                </a:tc>
                <a:tc>
                  <a:txBody>
                    <a:bodyPr/>
                    <a:lstStyle/>
                    <a:p>
                      <a:pPr algn="ctr"/>
                      <a:r>
                        <a:rPr lang="en-GB" sz="1800" b="1" dirty="0" smtClean="0"/>
                        <a:t>..</a:t>
                      </a:r>
                      <a:endParaRPr lang="en-GB" sz="1800" b="1" dirty="0"/>
                    </a:p>
                  </a:txBody>
                  <a:tcPr marL="18288" marR="18288" marT="18288" marB="18288">
                    <a:solidFill>
                      <a:schemeClr val="tx2">
                        <a:lumMod val="40000"/>
                        <a:lumOff val="60000"/>
                      </a:schemeClr>
                    </a:solidFill>
                  </a:tcPr>
                </a:tc>
                <a:tc>
                  <a:txBody>
                    <a:bodyPr/>
                    <a:lstStyle/>
                    <a:p>
                      <a:pPr algn="ctr"/>
                      <a:r>
                        <a:rPr lang="en-GB" sz="1800" b="1" dirty="0" smtClean="0"/>
                        <a:t>..</a:t>
                      </a:r>
                      <a:endParaRPr lang="en-GB" sz="1800" b="1" dirty="0"/>
                    </a:p>
                  </a:txBody>
                  <a:tcPr marL="18288" marR="18288" marT="18288" marB="18288">
                    <a:lnR w="12700" cap="flat" cmpd="sng" algn="ctr">
                      <a:solidFill>
                        <a:schemeClr val="tx1"/>
                      </a:solidFill>
                      <a:prstDash val="solid"/>
                      <a:round/>
                      <a:headEnd type="none" w="med" len="med"/>
                      <a:tailEnd type="none" w="med" len="med"/>
                    </a:lnR>
                    <a:solidFill>
                      <a:schemeClr val="tx2">
                        <a:lumMod val="40000"/>
                        <a:lumOff val="60000"/>
                      </a:schemeClr>
                    </a:solidFill>
                  </a:tcPr>
                </a:tc>
                <a:extLst>
                  <a:ext uri="{0D108BD9-81ED-4DB2-BD59-A6C34878D82A}">
                    <a16:rowId xmlns:a16="http://schemas.microsoft.com/office/drawing/2014/main" val="10001"/>
                  </a:ext>
                </a:extLst>
              </a:tr>
              <a:tr h="335492">
                <a:tc>
                  <a:txBody>
                    <a:bodyPr/>
                    <a:lstStyle/>
                    <a:p>
                      <a:pPr algn="ctr"/>
                      <a:r>
                        <a:rPr lang="en-GB" sz="1800" b="1" dirty="0" smtClean="0">
                          <a:solidFill>
                            <a:schemeClr val="tx1"/>
                          </a:solidFill>
                        </a:rPr>
                        <a:t>P1</a:t>
                      </a:r>
                      <a:endParaRPr lang="en-US" sz="1800" b="1" dirty="0">
                        <a:solidFill>
                          <a:schemeClr val="tx1"/>
                        </a:solidFill>
                      </a:endParaRPr>
                    </a:p>
                  </a:txBody>
                  <a:tcPr marL="18288" marR="18288" marT="18288" marB="18288">
                    <a:lnL w="12700" cap="flat" cmpd="sng" algn="ctr">
                      <a:solidFill>
                        <a:schemeClr val="tx1"/>
                      </a:solidFill>
                      <a:prstDash val="solid"/>
                      <a:round/>
                      <a:headEnd type="none" w="med" len="med"/>
                      <a:tailEnd type="none" w="med" len="med"/>
                    </a:lnL>
                  </a:tcPr>
                </a:tc>
                <a:tc>
                  <a:txBody>
                    <a:bodyPr/>
                    <a:lstStyle/>
                    <a:p>
                      <a:pPr algn="ctr"/>
                      <a:r>
                        <a:rPr lang="en-GB" sz="1800" dirty="0" smtClean="0">
                          <a:solidFill>
                            <a:schemeClr val="tx1"/>
                          </a:solidFill>
                        </a:rPr>
                        <a:t>Printer</a:t>
                      </a:r>
                      <a:endParaRPr lang="en-US" sz="1800" dirty="0">
                        <a:solidFill>
                          <a:schemeClr val="tx1"/>
                        </a:solidFill>
                      </a:endParaRPr>
                    </a:p>
                  </a:txBody>
                  <a:tcPr marL="18288" marR="18288" marT="18288" marB="18288"/>
                </a:tc>
                <a:tc>
                  <a:txBody>
                    <a:bodyPr/>
                    <a:lstStyle/>
                    <a:p>
                      <a:pPr algn="ctr"/>
                      <a:r>
                        <a:rPr lang="en-GB" sz="1800" b="1" dirty="0" smtClean="0"/>
                        <a:t>S2</a:t>
                      </a:r>
                      <a:endParaRPr lang="en-US" sz="1800" b="1" dirty="0"/>
                    </a:p>
                  </a:txBody>
                  <a:tcPr marL="18288" marR="18288" marT="18288" marB="18288"/>
                </a:tc>
                <a:tc>
                  <a:txBody>
                    <a:bodyPr/>
                    <a:lstStyle/>
                    <a:p>
                      <a:pPr algn="ctr"/>
                      <a:r>
                        <a:rPr lang="en-SG" sz="1800" b="1" dirty="0" smtClean="0"/>
                        <a:t>..</a:t>
                      </a:r>
                      <a:endParaRPr lang="en-US" sz="1800" b="1" dirty="0"/>
                    </a:p>
                  </a:txBody>
                  <a:tcPr marL="18288" marR="18288" marT="18288" marB="18288"/>
                </a:tc>
                <a:tc>
                  <a:txBody>
                    <a:bodyPr/>
                    <a:lstStyle/>
                    <a:p>
                      <a:pPr algn="ctr"/>
                      <a:r>
                        <a:rPr lang="en-SG" sz="1800" b="1" dirty="0" smtClean="0"/>
                        <a:t>..</a:t>
                      </a:r>
                      <a:endParaRPr lang="en-US" sz="1800" b="1" dirty="0"/>
                    </a:p>
                  </a:txBody>
                  <a:tcPr marL="18288" marR="18288" marT="18288" marB="1828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35492">
                <a:tc>
                  <a:txBody>
                    <a:bodyPr/>
                    <a:lstStyle/>
                    <a:p>
                      <a:pPr algn="ctr"/>
                      <a:r>
                        <a:rPr lang="en-GB" sz="1800" b="1" dirty="0" smtClean="0">
                          <a:solidFill>
                            <a:schemeClr val="tx1"/>
                          </a:solidFill>
                        </a:rPr>
                        <a:t>P2</a:t>
                      </a:r>
                      <a:endParaRPr lang="en-US" sz="1800" b="1" dirty="0">
                        <a:solidFill>
                          <a:schemeClr val="tx1"/>
                        </a:solidFill>
                      </a:endParaRPr>
                    </a:p>
                  </a:txBody>
                  <a:tcPr marL="18288" marR="18288" marT="18288" marB="18288">
                    <a:lnL w="12700" cap="flat" cmpd="sng" algn="ctr">
                      <a:solidFill>
                        <a:schemeClr val="tx1"/>
                      </a:solidFill>
                      <a:prstDash val="solid"/>
                      <a:round/>
                      <a:headEnd type="none" w="med" len="med"/>
                      <a:tailEnd type="none" w="med" len="med"/>
                    </a:lnL>
                    <a:solidFill>
                      <a:schemeClr val="tx2">
                        <a:lumMod val="40000"/>
                        <a:lumOff val="60000"/>
                      </a:schemeClr>
                    </a:solidFill>
                  </a:tcPr>
                </a:tc>
                <a:tc>
                  <a:txBody>
                    <a:bodyPr/>
                    <a:lstStyle/>
                    <a:p>
                      <a:pPr algn="ctr"/>
                      <a:r>
                        <a:rPr lang="en-GB" sz="1800" dirty="0" smtClean="0">
                          <a:solidFill>
                            <a:schemeClr val="tx1"/>
                          </a:solidFill>
                        </a:rPr>
                        <a:t>Speaker</a:t>
                      </a:r>
                      <a:endParaRPr lang="en-US" sz="1800" dirty="0">
                        <a:solidFill>
                          <a:schemeClr val="tx1"/>
                        </a:solidFill>
                      </a:endParaRPr>
                    </a:p>
                  </a:txBody>
                  <a:tcPr marL="18288" marR="18288" marT="18288" marB="18288">
                    <a:solidFill>
                      <a:schemeClr val="tx2">
                        <a:lumMod val="40000"/>
                        <a:lumOff val="60000"/>
                      </a:schemeClr>
                    </a:solidFill>
                  </a:tcPr>
                </a:tc>
                <a:tc>
                  <a:txBody>
                    <a:bodyPr/>
                    <a:lstStyle/>
                    <a:p>
                      <a:pPr algn="ctr"/>
                      <a:r>
                        <a:rPr lang="en-GB" sz="1800" b="1" dirty="0" smtClean="0"/>
                        <a:t>S1</a:t>
                      </a:r>
                      <a:endParaRPr lang="en-US" sz="1800" b="1" dirty="0"/>
                    </a:p>
                  </a:txBody>
                  <a:tcPr marL="18288" marR="18288" marT="18288" marB="18288">
                    <a:solidFill>
                      <a:schemeClr val="tx2">
                        <a:lumMod val="40000"/>
                        <a:lumOff val="60000"/>
                      </a:schemeClr>
                    </a:solidFill>
                  </a:tcPr>
                </a:tc>
                <a:tc>
                  <a:txBody>
                    <a:bodyPr/>
                    <a:lstStyle/>
                    <a:p>
                      <a:pPr algn="ctr"/>
                      <a:r>
                        <a:rPr lang="en-SG" sz="1800" b="1" dirty="0" smtClean="0"/>
                        <a:t>..</a:t>
                      </a:r>
                      <a:endParaRPr lang="en-US" sz="1800" b="1" dirty="0"/>
                    </a:p>
                  </a:txBody>
                  <a:tcPr marL="18288" marR="18288" marT="18288" marB="18288">
                    <a:solidFill>
                      <a:schemeClr val="tx2">
                        <a:lumMod val="40000"/>
                        <a:lumOff val="60000"/>
                      </a:schemeClr>
                    </a:solidFill>
                  </a:tcPr>
                </a:tc>
                <a:tc>
                  <a:txBody>
                    <a:bodyPr/>
                    <a:lstStyle/>
                    <a:p>
                      <a:pPr algn="ctr"/>
                      <a:r>
                        <a:rPr lang="en-SG" sz="1800" b="1" dirty="0" smtClean="0"/>
                        <a:t>..</a:t>
                      </a:r>
                      <a:endParaRPr lang="en-US" sz="1800" b="1" dirty="0"/>
                    </a:p>
                  </a:txBody>
                  <a:tcPr marL="18288" marR="18288" marT="18288" marB="18288">
                    <a:lnR w="12700" cap="flat" cmpd="sng" algn="ctr">
                      <a:solidFill>
                        <a:schemeClr val="tx1"/>
                      </a:solidFill>
                      <a:prstDash val="solid"/>
                      <a:round/>
                      <a:headEnd type="none" w="med" len="med"/>
                      <a:tailEnd type="none" w="med" len="med"/>
                    </a:lnR>
                    <a:solidFill>
                      <a:schemeClr val="tx2">
                        <a:lumMod val="40000"/>
                        <a:lumOff val="60000"/>
                      </a:schemeClr>
                    </a:solidFill>
                  </a:tcPr>
                </a:tc>
                <a:extLst>
                  <a:ext uri="{0D108BD9-81ED-4DB2-BD59-A6C34878D82A}">
                    <a16:rowId xmlns:a16="http://schemas.microsoft.com/office/drawing/2014/main" val="10003"/>
                  </a:ext>
                </a:extLst>
              </a:tr>
              <a:tr h="335492">
                <a:tc>
                  <a:txBody>
                    <a:bodyPr/>
                    <a:lstStyle/>
                    <a:p>
                      <a:pPr algn="ctr"/>
                      <a:r>
                        <a:rPr lang="en-GB" sz="1800" b="1" dirty="0" smtClean="0">
                          <a:solidFill>
                            <a:schemeClr val="tx1"/>
                          </a:solidFill>
                        </a:rPr>
                        <a:t>P2</a:t>
                      </a:r>
                      <a:endParaRPr lang="en-US" sz="1800" b="1" dirty="0">
                        <a:solidFill>
                          <a:schemeClr val="tx1"/>
                        </a:solidFill>
                      </a:endParaRPr>
                    </a:p>
                  </a:txBody>
                  <a:tcPr marL="18288" marR="18288" marT="18288" marB="18288">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GB" sz="1800" dirty="0" smtClean="0">
                          <a:solidFill>
                            <a:schemeClr val="tx1"/>
                          </a:solidFill>
                        </a:rPr>
                        <a:t>Speaker</a:t>
                      </a:r>
                      <a:endParaRPr lang="en-US" sz="1800" dirty="0">
                        <a:solidFill>
                          <a:schemeClr val="tx1"/>
                        </a:solidFill>
                      </a:endParaRPr>
                    </a:p>
                  </a:txBody>
                  <a:tcPr marL="18288" marR="18288" marT="18288" marB="18288">
                    <a:lnB w="12700" cap="flat" cmpd="sng" algn="ctr">
                      <a:solidFill>
                        <a:schemeClr val="tx1"/>
                      </a:solidFill>
                      <a:prstDash val="solid"/>
                      <a:round/>
                      <a:headEnd type="none" w="med" len="med"/>
                      <a:tailEnd type="none" w="med" len="med"/>
                    </a:lnB>
                  </a:tcPr>
                </a:tc>
                <a:tc>
                  <a:txBody>
                    <a:bodyPr/>
                    <a:lstStyle/>
                    <a:p>
                      <a:pPr algn="ctr"/>
                      <a:r>
                        <a:rPr lang="en-GB" sz="1800" b="1" dirty="0" smtClean="0">
                          <a:solidFill>
                            <a:schemeClr val="tx1"/>
                          </a:solidFill>
                        </a:rPr>
                        <a:t>S2</a:t>
                      </a:r>
                      <a:endParaRPr lang="en-US" sz="1800" b="1" dirty="0">
                        <a:solidFill>
                          <a:schemeClr val="tx1"/>
                        </a:solidFill>
                      </a:endParaRPr>
                    </a:p>
                  </a:txBody>
                  <a:tcPr marL="18288" marR="18288" marT="18288" marB="18288">
                    <a:lnB w="12700" cap="flat" cmpd="sng" algn="ctr">
                      <a:solidFill>
                        <a:schemeClr val="tx1"/>
                      </a:solidFill>
                      <a:prstDash val="solid"/>
                      <a:round/>
                      <a:headEnd type="none" w="med" len="med"/>
                      <a:tailEnd type="none" w="med" len="med"/>
                    </a:lnB>
                  </a:tcPr>
                </a:tc>
                <a:tc>
                  <a:txBody>
                    <a:bodyPr/>
                    <a:lstStyle/>
                    <a:p>
                      <a:pPr algn="ctr"/>
                      <a:r>
                        <a:rPr lang="en-SG" sz="1800" b="1" dirty="0" smtClean="0">
                          <a:solidFill>
                            <a:schemeClr val="tx1"/>
                          </a:solidFill>
                        </a:rPr>
                        <a:t>..</a:t>
                      </a:r>
                      <a:endParaRPr lang="en-US" sz="1800" b="1" dirty="0">
                        <a:solidFill>
                          <a:schemeClr val="tx1"/>
                        </a:solidFill>
                      </a:endParaRPr>
                    </a:p>
                  </a:txBody>
                  <a:tcPr marL="18288" marR="18288" marT="18288" marB="18288">
                    <a:lnB w="12700" cap="flat" cmpd="sng" algn="ctr">
                      <a:solidFill>
                        <a:schemeClr val="tx1"/>
                      </a:solidFill>
                      <a:prstDash val="solid"/>
                      <a:round/>
                      <a:headEnd type="none" w="med" len="med"/>
                      <a:tailEnd type="none" w="med" len="med"/>
                    </a:lnB>
                  </a:tcPr>
                </a:tc>
                <a:tc>
                  <a:txBody>
                    <a:bodyPr/>
                    <a:lstStyle/>
                    <a:p>
                      <a:pPr algn="ctr"/>
                      <a:r>
                        <a:rPr lang="en-SG" sz="1800" b="1" dirty="0" smtClean="0">
                          <a:solidFill>
                            <a:schemeClr val="tx1"/>
                          </a:solidFill>
                        </a:rPr>
                        <a:t>..</a:t>
                      </a:r>
                      <a:endParaRPr lang="en-US" sz="1800" b="1" dirty="0">
                        <a:solidFill>
                          <a:schemeClr val="tx1"/>
                        </a:solidFill>
                      </a:endParaRPr>
                    </a:p>
                  </a:txBody>
                  <a:tcPr marL="18288" marR="18288" marT="18288" marB="18288">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7" name="Rectangle 12">
            <a:extLst>
              <a:ext uri="{FF2B5EF4-FFF2-40B4-BE49-F238E27FC236}">
                <a16:creationId xmlns:a16="http://schemas.microsoft.com/office/drawing/2014/main" id="{4C962476-3AFD-4D9F-A9BD-9C8827E69C4C}"/>
              </a:ext>
            </a:extLst>
          </p:cNvPr>
          <p:cNvSpPr>
            <a:spLocks noChangeArrowheads="1"/>
          </p:cNvSpPr>
          <p:nvPr/>
        </p:nvSpPr>
        <p:spPr bwMode="auto">
          <a:xfrm>
            <a:off x="363796" y="4419600"/>
            <a:ext cx="44280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rIns="45720" anchor="ctr">
            <a:spAutoFit/>
          </a:bodyPr>
          <a:lstStyle>
            <a:lvl1pPr marL="342900" indent="-342900" eaLnBrk="0" hangingPunct="0">
              <a:spcBef>
                <a:spcPct val="20000"/>
              </a:spcBef>
              <a:buFont typeface="Arial" charset="0"/>
              <a:buChar char="•"/>
              <a:defRPr sz="3200">
                <a:solidFill>
                  <a:schemeClr val="tx1"/>
                </a:solidFill>
                <a:latin typeface="Calibri" pitchFamily="34" charset="0"/>
              </a:defRPr>
            </a:lvl1pPr>
            <a:lvl2pPr marL="685800" indent="-68580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685800" marR="0" lvl="1" indent="-685800" algn="l" defTabSz="914400" rtl="0" eaLnBrk="1" fontAlgn="base" latinLnBrk="0" hangingPunct="1">
              <a:lnSpc>
                <a:spcPct val="100000"/>
              </a:lnSpc>
              <a:spcBef>
                <a:spcPct val="20000"/>
              </a:spcBef>
              <a:spcAft>
                <a:spcPct val="0"/>
              </a:spcAft>
              <a:buClrTx/>
              <a:buSzTx/>
              <a:buFont typeface="Wingdings" pitchFamily="2" charset="2"/>
              <a:buNone/>
              <a:tabLst/>
              <a:defRPr/>
            </a:pPr>
            <a:r>
              <a:rPr kumimoji="0" lang="en-US" altLang="zh-SG" sz="1800" b="1" i="0" u="none" strike="noStrike" kern="1200" cap="none" spc="0" normalizeH="0" baseline="0" noProof="0" dirty="0" smtClean="0">
                <a:ln>
                  <a:noFill/>
                </a:ln>
                <a:solidFill>
                  <a:prstClr val="black"/>
                </a:solidFill>
                <a:effectLst/>
                <a:uLnTx/>
                <a:uFillTx/>
                <a:latin typeface="Calibri" pitchFamily="34" charset="0"/>
                <a:ea typeface="宋体" panose="02010600030101010101" pitchFamily="2" charset="-122"/>
                <a:cs typeface="+mn-cs"/>
              </a:rPr>
              <a:t>PURCHASE </a:t>
            </a:r>
            <a:r>
              <a:rPr kumimoji="0" lang="en-US" altLang="zh-SG" sz="1800" b="1" i="0" u="none" strike="noStrike" kern="1200" cap="none" spc="0" normalizeH="0" baseline="0" noProof="0" dirty="0">
                <a:ln>
                  <a:noFill/>
                </a:ln>
                <a:solidFill>
                  <a:prstClr val="black"/>
                </a:solidFill>
                <a:effectLst/>
                <a:uLnTx/>
                <a:uFillTx/>
                <a:latin typeface="Calibri" pitchFamily="34" charset="0"/>
                <a:ea typeface="宋体" panose="02010600030101010101" pitchFamily="2" charset="-122"/>
                <a:cs typeface="+mn-cs"/>
              </a:rPr>
              <a:t>(after removing repeating group)</a:t>
            </a:r>
          </a:p>
        </p:txBody>
      </p:sp>
      <p:sp>
        <p:nvSpPr>
          <p:cNvPr id="18" name="AutoShape 293">
            <a:extLst>
              <a:ext uri="{FF2B5EF4-FFF2-40B4-BE49-F238E27FC236}">
                <a16:creationId xmlns:a16="http://schemas.microsoft.com/office/drawing/2014/main" id="{1C75BF3A-2276-4D25-BC26-4C6FD4689CF1}"/>
              </a:ext>
            </a:extLst>
          </p:cNvPr>
          <p:cNvSpPr>
            <a:spLocks/>
          </p:cNvSpPr>
          <p:nvPr/>
        </p:nvSpPr>
        <p:spPr bwMode="auto">
          <a:xfrm rot="16200000" flipV="1">
            <a:off x="2510042" y="2725086"/>
            <a:ext cx="199296" cy="952179"/>
          </a:xfrm>
          <a:prstGeom prst="leftBrace">
            <a:avLst>
              <a:gd name="adj1" fmla="val 281320"/>
              <a:gd name="adj2" fmla="val 50000"/>
            </a:avLst>
          </a:prstGeom>
          <a:noFill/>
          <a:ln w="12700">
            <a:solidFill>
              <a:schemeClr val="tx1"/>
            </a:solidFill>
            <a:round/>
            <a:headEnd type="none" w="sm" len="sm"/>
            <a:tailEnd type="none" w="sm" len="sm"/>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9" name="Text Box 295">
            <a:extLst>
              <a:ext uri="{FF2B5EF4-FFF2-40B4-BE49-F238E27FC236}">
                <a16:creationId xmlns:a16="http://schemas.microsoft.com/office/drawing/2014/main" id="{EF69DC4C-BFF7-40BB-B9C8-8AE76B3AEF4C}"/>
              </a:ext>
            </a:extLst>
          </p:cNvPr>
          <p:cNvSpPr txBox="1">
            <a:spLocks noChangeArrowheads="1"/>
          </p:cNvSpPr>
          <p:nvPr/>
        </p:nvSpPr>
        <p:spPr bwMode="auto">
          <a:xfrm>
            <a:off x="457199" y="3352800"/>
            <a:ext cx="4303809" cy="867930"/>
          </a:xfrm>
          <a:prstGeom prst="rect">
            <a:avLst/>
          </a:prstGeom>
          <a:noFill/>
          <a:ln w="12700">
            <a:noFill/>
            <a:miter lim="800000"/>
            <a:headEnd type="none" w="sm" len="sm"/>
            <a:tailEnd type="none" w="sm" len="sm"/>
          </a:ln>
        </p:spPr>
        <p:txBody>
          <a:bodyPr wrap="square" lIns="18288" tIns="18288" rIns="18288" bIns="18288">
            <a:spAutoFit/>
          </a:bodyPr>
          <a:lstStyle/>
          <a:p>
            <a:pPr marL="0" marR="0" lvl="0" indent="0" defTabSz="914400" rtl="0" eaLnBrk="0" fontAlgn="base" latinLnBrk="0" hangingPunct="0">
              <a:lnSpc>
                <a:spcPct val="100000"/>
              </a:lnSpc>
              <a:spcBef>
                <a:spcPct val="50000"/>
              </a:spcBef>
              <a:spcAft>
                <a:spcPct val="0"/>
              </a:spcAft>
              <a:buClrTx/>
              <a:buSzTx/>
              <a:buFontTx/>
              <a:buNone/>
              <a:tabLst/>
              <a:defRPr/>
            </a:pPr>
            <a:r>
              <a:rPr kumimoji="0" lang="en-US"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Multiple occurrences of </a:t>
            </a:r>
            <a:r>
              <a:rPr lang="en-US" dirty="0" err="1" smtClean="0">
                <a:solidFill>
                  <a:prstClr val="black"/>
                </a:solidFill>
                <a:latin typeface="Calibri" panose="020F0502020204030204" pitchFamily="34" charset="0"/>
                <a:ea typeface="SimSun" pitchFamily="2" charset="-122"/>
                <a:cs typeface="Calibri" panose="020F0502020204030204" pitchFamily="34" charset="0"/>
              </a:rPr>
              <a:t>Supp</a:t>
            </a:r>
            <a:r>
              <a:rPr kumimoji="0" lang="en-US" b="0" i="0" u="none" strike="noStrike" kern="1200" cap="none" spc="0" normalizeH="0" baseline="0" noProof="0" dirty="0" smtClean="0">
                <a:ln>
                  <a:noFill/>
                </a:ln>
                <a:solidFill>
                  <a:prstClr val="black"/>
                </a:solidFill>
                <a:effectLst/>
                <a:uLnTx/>
                <a:uFillTx/>
                <a:latin typeface="Calibri" panose="020F0502020204030204" pitchFamily="34" charset="0"/>
                <a:ea typeface="SimSun" pitchFamily="2" charset="-122"/>
                <a:cs typeface="Calibri" panose="020F0502020204030204" pitchFamily="34" charset="0"/>
              </a:rPr>
              <a:t>No</a:t>
            </a:r>
            <a:r>
              <a:rPr kumimoji="0" lang="en-US"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 </a:t>
            </a:r>
            <a:r>
              <a:rPr kumimoji="0" lang="en-US"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for each </a:t>
            </a:r>
            <a:r>
              <a:rPr kumimoji="0" lang="en-US"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single </a:t>
            </a:r>
            <a:r>
              <a:rPr kumimoji="0" lang="en-US"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occurrence of </a:t>
            </a:r>
            <a:r>
              <a:rPr kumimoji="0" lang="en-US" b="0" i="0" u="none" strike="noStrike" kern="1200" cap="none" spc="0" normalizeH="0" baseline="0" noProof="0" dirty="0" err="1" smtClean="0">
                <a:ln>
                  <a:noFill/>
                </a:ln>
                <a:solidFill>
                  <a:prstClr val="black"/>
                </a:solidFill>
                <a:effectLst/>
                <a:uLnTx/>
                <a:uFillTx/>
                <a:latin typeface="Calibri" panose="020F0502020204030204" pitchFamily="34" charset="0"/>
                <a:cs typeface="Calibri" panose="020F0502020204030204" pitchFamily="34" charset="0"/>
              </a:rPr>
              <a:t>PartNo</a:t>
            </a:r>
            <a:r>
              <a:rPr kumimoji="0" lang="en-US"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 </a:t>
            </a:r>
            <a:r>
              <a:rPr kumimoji="0" lang="en-US" b="0" i="0" u="none" strike="noStrike" kern="1200" cap="none" spc="0" normalizeH="0" baseline="0" noProof="0" dirty="0" err="1" smtClean="0">
                <a:ln>
                  <a:noFill/>
                </a:ln>
                <a:solidFill>
                  <a:prstClr val="black"/>
                </a:solidFill>
                <a:effectLst/>
                <a:uLnTx/>
                <a:uFillTx/>
                <a:latin typeface="Calibri" panose="020F0502020204030204" pitchFamily="34" charset="0"/>
                <a:cs typeface="Calibri" panose="020F0502020204030204" pitchFamily="34" charset="0"/>
              </a:rPr>
              <a:t>PartDesc</a:t>
            </a:r>
            <a:r>
              <a:rPr lang="en-US" dirty="0" smtClean="0">
                <a:solidFill>
                  <a:prstClr val="black"/>
                </a:solidFill>
                <a:latin typeface="Calibri" panose="020F0502020204030204" pitchFamily="34" charset="0"/>
                <a:ea typeface="SimSun" pitchFamily="2" charset="-122"/>
                <a:cs typeface="Calibri" panose="020F0502020204030204" pitchFamily="34" charset="0"/>
              </a:rPr>
              <a:t>, Store &amp; Phone.</a:t>
            </a:r>
            <a:endParaRPr kumimoji="0" lang="en-US"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20" name="Text Box 464">
            <a:extLst>
              <a:ext uri="{FF2B5EF4-FFF2-40B4-BE49-F238E27FC236}">
                <a16:creationId xmlns:a16="http://schemas.microsoft.com/office/drawing/2014/main" id="{D96BE1D9-9DA0-429F-AF5A-CE4578B64941}"/>
              </a:ext>
            </a:extLst>
          </p:cNvPr>
          <p:cNvSpPr txBox="1">
            <a:spLocks noChangeArrowheads="1"/>
          </p:cNvSpPr>
          <p:nvPr/>
        </p:nvSpPr>
        <p:spPr bwMode="auto">
          <a:xfrm>
            <a:off x="5052838" y="5436213"/>
            <a:ext cx="2358723" cy="406265"/>
          </a:xfrm>
          <a:prstGeom prst="rect">
            <a:avLst/>
          </a:prstGeom>
          <a:noFill/>
          <a:ln w="12700">
            <a:noFill/>
            <a:miter lim="800000"/>
            <a:headEnd type="none" w="sm" len="sm"/>
            <a:tailEnd type="none" w="sm" len="sm"/>
          </a:ln>
        </p:spPr>
        <p:txBody>
          <a:bodyPr wrap="none" lIns="18288" tIns="18288" rIns="18288" bIns="18288">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r>
              <a:rPr lang="en-US" sz="2400" dirty="0" smtClean="0">
                <a:solidFill>
                  <a:srgbClr val="FF3300"/>
                </a:solidFill>
                <a:latin typeface="Calibri" panose="020F0502020204030204" pitchFamily="34" charset="0"/>
                <a:cs typeface="Calibri" panose="020F0502020204030204" pitchFamily="34" charset="0"/>
              </a:rPr>
              <a:t>( </a:t>
            </a:r>
            <a:r>
              <a:rPr lang="en-US" sz="2400" u="sng" dirty="0" err="1" smtClean="0">
                <a:solidFill>
                  <a:srgbClr val="FF3300"/>
                </a:solidFill>
                <a:latin typeface="Calibri" panose="020F0502020204030204" pitchFamily="34" charset="0"/>
                <a:cs typeface="Calibri" panose="020F0502020204030204" pitchFamily="34" charset="0"/>
              </a:rPr>
              <a:t>PartNo</a:t>
            </a:r>
            <a:r>
              <a:rPr lang="en-US" sz="2400" dirty="0" smtClean="0">
                <a:solidFill>
                  <a:srgbClr val="FF3300"/>
                </a:solidFill>
                <a:latin typeface="Calibri" panose="020F0502020204030204" pitchFamily="34" charset="0"/>
                <a:cs typeface="Calibri" panose="020F0502020204030204" pitchFamily="34" charset="0"/>
              </a:rPr>
              <a:t>, </a:t>
            </a:r>
            <a:r>
              <a:rPr lang="en-US" sz="2400" u="sng" dirty="0" err="1" smtClean="0">
                <a:solidFill>
                  <a:srgbClr val="FF3300"/>
                </a:solidFill>
                <a:latin typeface="Calibri" panose="020F0502020204030204" pitchFamily="34" charset="0"/>
                <a:cs typeface="Calibri" panose="020F0502020204030204" pitchFamily="34" charset="0"/>
              </a:rPr>
              <a:t>SuppNo</a:t>
            </a:r>
            <a:r>
              <a:rPr lang="en-US" sz="2400" dirty="0" smtClean="0">
                <a:solidFill>
                  <a:srgbClr val="FF3300"/>
                </a:solidFill>
                <a:latin typeface="Calibri" panose="020F0502020204030204" pitchFamily="34" charset="0"/>
                <a:cs typeface="Calibri" panose="020F0502020204030204" pitchFamily="34" charset="0"/>
              </a:rPr>
              <a:t> )</a:t>
            </a:r>
            <a:endParaRPr kumimoji="0" lang="en-US" sz="2400" i="0" u="none" strike="noStrike" kern="1200" cap="none" spc="0" normalizeH="0" baseline="0" noProof="0" dirty="0">
              <a:ln>
                <a:noFill/>
              </a:ln>
              <a:solidFill>
                <a:srgbClr val="FF3300"/>
              </a:solidFill>
              <a:effectLst/>
              <a:uLnTx/>
              <a:uFillTx/>
              <a:latin typeface="Calibri" panose="020F0502020204030204" pitchFamily="34" charset="0"/>
              <a:cs typeface="Calibri" panose="020F0502020204030204" pitchFamily="34" charset="0"/>
            </a:endParaRPr>
          </a:p>
        </p:txBody>
      </p:sp>
      <p:sp>
        <p:nvSpPr>
          <p:cNvPr id="14" name="Text Box 464">
            <a:extLst>
              <a:ext uri="{FF2B5EF4-FFF2-40B4-BE49-F238E27FC236}">
                <a16:creationId xmlns:a16="http://schemas.microsoft.com/office/drawing/2014/main" id="{D96BE1D9-9DA0-429F-AF5A-CE4578B64941}"/>
              </a:ext>
            </a:extLst>
          </p:cNvPr>
          <p:cNvSpPr txBox="1">
            <a:spLocks noChangeArrowheads="1"/>
          </p:cNvSpPr>
          <p:nvPr/>
        </p:nvSpPr>
        <p:spPr bwMode="auto">
          <a:xfrm>
            <a:off x="5052838" y="5920859"/>
            <a:ext cx="3710162" cy="775597"/>
          </a:xfrm>
          <a:prstGeom prst="rect">
            <a:avLst/>
          </a:prstGeom>
          <a:noFill/>
          <a:ln w="12700">
            <a:noFill/>
            <a:miter lim="800000"/>
            <a:headEnd type="none" w="sm" len="sm"/>
            <a:tailEnd type="none" w="sm" len="sm"/>
          </a:ln>
        </p:spPr>
        <p:txBody>
          <a:bodyPr wrap="square" lIns="18288" tIns="18288" rIns="18288" bIns="18288">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r>
              <a:rPr lang="en-US" sz="2400" dirty="0" smtClean="0">
                <a:solidFill>
                  <a:schemeClr val="tx2">
                    <a:lumMod val="75000"/>
                  </a:schemeClr>
                </a:solidFill>
                <a:latin typeface="Calibri" panose="020F0502020204030204" pitchFamily="34" charset="0"/>
                <a:cs typeface="Calibri" panose="020F0502020204030204" pitchFamily="34" charset="0"/>
              </a:rPr>
              <a:t>(Being identify and underline as key attributes)</a:t>
            </a:r>
            <a:endParaRPr kumimoji="0" lang="en-US" sz="2400" i="0" u="none" strike="noStrike" kern="1200" cap="none" spc="0" normalizeH="0" baseline="0" noProof="0" dirty="0">
              <a:ln>
                <a:noFill/>
              </a:ln>
              <a:solidFill>
                <a:schemeClr val="tx2">
                  <a:lumMod val="75000"/>
                </a:schemeClr>
              </a:solidFill>
              <a:effectLst/>
              <a:uLnTx/>
              <a:uFillTx/>
              <a:latin typeface="Calibri" panose="020F0502020204030204" pitchFamily="34" charset="0"/>
              <a:cs typeface="Calibri" panose="020F0502020204030204" pitchFamily="34" charset="0"/>
            </a:endParaRPr>
          </a:p>
        </p:txBody>
      </p:sp>
      <p:grpSp>
        <p:nvGrpSpPr>
          <p:cNvPr id="4" name="Group 3"/>
          <p:cNvGrpSpPr/>
          <p:nvPr/>
        </p:nvGrpSpPr>
        <p:grpSpPr>
          <a:xfrm>
            <a:off x="449521" y="5122006"/>
            <a:ext cx="2812031" cy="322829"/>
            <a:chOff x="5287297" y="2677885"/>
            <a:chExt cx="2812031" cy="322829"/>
          </a:xfrm>
        </p:grpSpPr>
        <p:sp>
          <p:nvSpPr>
            <p:cNvPr id="2" name="Rectangle 1"/>
            <p:cNvSpPr/>
            <p:nvPr/>
          </p:nvSpPr>
          <p:spPr>
            <a:xfrm>
              <a:off x="5287297" y="2680674"/>
              <a:ext cx="762001" cy="32004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SG"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Rectangle 20"/>
            <p:cNvSpPr/>
            <p:nvPr/>
          </p:nvSpPr>
          <p:spPr>
            <a:xfrm>
              <a:off x="7337327" y="2677885"/>
              <a:ext cx="762001" cy="32004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SG"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5" name="Group 4"/>
          <p:cNvGrpSpPr/>
          <p:nvPr/>
        </p:nvGrpSpPr>
        <p:grpSpPr>
          <a:xfrm>
            <a:off x="544405" y="5467195"/>
            <a:ext cx="2604564" cy="333244"/>
            <a:chOff x="5276484" y="3028795"/>
            <a:chExt cx="2604564" cy="333244"/>
          </a:xfrm>
        </p:grpSpPr>
        <p:sp>
          <p:nvSpPr>
            <p:cNvPr id="16" name="Rectangle 15">
              <a:extLst>
                <a:ext uri="{FF2B5EF4-FFF2-40B4-BE49-F238E27FC236}">
                  <a16:creationId xmlns:a16="http://schemas.microsoft.com/office/drawing/2014/main" id="{E997DB15-2D7B-471C-86F9-CEF28F9D4B68}"/>
                </a:ext>
              </a:extLst>
            </p:cNvPr>
            <p:cNvSpPr/>
            <p:nvPr/>
          </p:nvSpPr>
          <p:spPr>
            <a:xfrm>
              <a:off x="5276484" y="3028795"/>
              <a:ext cx="548640" cy="320040"/>
            </a:xfrm>
            <a:prstGeom prst="rect">
              <a:avLst/>
            </a:pr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SG"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Rectangle 21">
              <a:extLst>
                <a:ext uri="{FF2B5EF4-FFF2-40B4-BE49-F238E27FC236}">
                  <a16:creationId xmlns:a16="http://schemas.microsoft.com/office/drawing/2014/main" id="{E997DB15-2D7B-471C-86F9-CEF28F9D4B68}"/>
                </a:ext>
              </a:extLst>
            </p:cNvPr>
            <p:cNvSpPr/>
            <p:nvPr/>
          </p:nvSpPr>
          <p:spPr>
            <a:xfrm>
              <a:off x="7332408" y="3041999"/>
              <a:ext cx="548640" cy="320040"/>
            </a:xfrm>
            <a:prstGeom prst="rect">
              <a:avLst/>
            </a:pr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SG"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4" name="Rectangle 463"/>
          <p:cNvSpPr txBox="1">
            <a:spLocks noChangeArrowheads="1"/>
          </p:cNvSpPr>
          <p:nvPr/>
        </p:nvSpPr>
        <p:spPr bwMode="auto">
          <a:xfrm>
            <a:off x="5002162" y="4648200"/>
            <a:ext cx="3930516" cy="775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8288" tIns="18288" rIns="18288" bIns="18288">
            <a:spAutoFit/>
          </a:bodyPr>
          <a:lstStyle>
            <a:lvl1pPr marL="355600" indent="-355600"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Tx/>
              <a:buSzTx/>
              <a:buFont typeface="Arial" charset="0"/>
              <a:buNone/>
              <a:tabLst/>
              <a:defRPr/>
            </a:pPr>
            <a:r>
              <a:rPr kumimoji="0" lang="en-US" altLang="en-US" sz="2400" b="0" i="0" u="none" strike="noStrike" kern="1200" cap="none" spc="0" normalizeH="0" baseline="0" noProof="0" dirty="0" smtClean="0">
                <a:ln>
                  <a:noFill/>
                </a:ln>
                <a:solidFill>
                  <a:srgbClr val="FF0000"/>
                </a:solidFill>
                <a:effectLst/>
                <a:uLnTx/>
                <a:uFillTx/>
                <a:latin typeface="Calibri" pitchFamily="34" charset="0"/>
                <a:ea typeface="Calibri" pitchFamily="34" charset="0"/>
                <a:cs typeface="Calibri" pitchFamily="34" charset="0"/>
              </a:rPr>
              <a:t>Step2</a:t>
            </a:r>
            <a:r>
              <a:rPr kumimoji="0" lang="en-US" altLang="en-US" sz="2400" b="0" i="0" u="none" strike="noStrike" kern="1200" cap="none" spc="0" normalizeH="0" baseline="0" noProof="0" dirty="0">
                <a:ln>
                  <a:noFill/>
                </a:ln>
                <a:solidFill>
                  <a:srgbClr val="FF0000"/>
                </a:solidFill>
                <a:effectLst/>
                <a:uLnTx/>
                <a:uFillTx/>
                <a:latin typeface="Calibri" pitchFamily="34" charset="0"/>
                <a:ea typeface="Calibri" pitchFamily="34" charset="0"/>
                <a:cs typeface="Calibri" pitchFamily="34" charset="0"/>
              </a:rPr>
              <a:t>: Identify and underline key attributes in the </a:t>
            </a:r>
            <a:r>
              <a:rPr kumimoji="0" lang="en-US" altLang="en-US" sz="2400" b="0" i="0" u="none" strike="noStrike" kern="1200" cap="none" spc="0" normalizeH="0" baseline="0" noProof="0" dirty="0" smtClean="0">
                <a:ln>
                  <a:noFill/>
                </a:ln>
                <a:solidFill>
                  <a:srgbClr val="FF0000"/>
                </a:solidFill>
                <a:effectLst/>
                <a:uLnTx/>
                <a:uFillTx/>
                <a:latin typeface="Calibri" pitchFamily="34" charset="0"/>
                <a:ea typeface="Calibri" pitchFamily="34" charset="0"/>
                <a:cs typeface="Calibri" pitchFamily="34" charset="0"/>
              </a:rPr>
              <a:t>relation</a:t>
            </a:r>
            <a:endParaRPr kumimoji="0" lang="en-US" altLang="en-US" sz="2400" b="0" i="0" u="none" strike="noStrike" kern="1200" cap="none" spc="0" normalizeH="0" baseline="0" noProof="0" dirty="0">
              <a:ln>
                <a:noFill/>
              </a:ln>
              <a:solidFill>
                <a:srgbClr val="FF0000"/>
              </a:solidFill>
              <a:effectLst/>
              <a:uLnTx/>
              <a:uFillTx/>
              <a:latin typeface="Calibri" pitchFamily="34" charset="0"/>
              <a:ea typeface="Calibri" pitchFamily="34" charset="0"/>
              <a:cs typeface="Calibri" pitchFamily="34" charset="0"/>
            </a:endParaRPr>
          </a:p>
        </p:txBody>
      </p:sp>
    </p:spTree>
    <p:extLst>
      <p:ext uri="{BB962C8B-B14F-4D97-AF65-F5344CB8AC3E}">
        <p14:creationId xmlns:p14="http://schemas.microsoft.com/office/powerpoint/2010/main" val="405863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691"/>
                                        </p:tgtEl>
                                        <p:attrNameLst>
                                          <p:attrName>style.visibility</p:attrName>
                                        </p:attrNameLst>
                                      </p:cBhvr>
                                      <p:to>
                                        <p:strVal val="visible"/>
                                      </p:to>
                                    </p:set>
                                    <p:animEffect transition="in" filter="wipe(left)">
                                      <p:cBhvr>
                                        <p:cTn id="7" dur="500"/>
                                        <p:tgtEl>
                                          <p:spTgt spid="26691"/>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up)">
                                      <p:cBhvr>
                                        <p:cTn id="11" dur="1000"/>
                                        <p:tgtEl>
                                          <p:spTgt spid="11"/>
                                        </p:tgtEl>
                                      </p:cBhvr>
                                    </p:animEffect>
                                  </p:childTnLst>
                                </p:cTn>
                              </p:par>
                            </p:childTnLst>
                          </p:cTn>
                        </p:par>
                        <p:par>
                          <p:cTn id="12" fill="hold">
                            <p:stCondLst>
                              <p:cond delay="1500"/>
                            </p:stCondLst>
                            <p:childTnLst>
                              <p:par>
                                <p:cTn id="13" presetID="22" presetClass="entr" presetSubtype="1" fill="hold" grpId="0"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wipe(up)">
                                      <p:cBhvr>
                                        <p:cTn id="15" dur="500"/>
                                        <p:tgtEl>
                                          <p:spTgt spid="18"/>
                                        </p:tgtEl>
                                      </p:cBhvr>
                                    </p:animEffect>
                                  </p:childTnLst>
                                </p:cTn>
                              </p:par>
                            </p:childTnLst>
                          </p:cTn>
                        </p:par>
                        <p:par>
                          <p:cTn id="16" fill="hold">
                            <p:stCondLst>
                              <p:cond delay="2000"/>
                            </p:stCondLst>
                            <p:childTnLst>
                              <p:par>
                                <p:cTn id="17" presetID="22" presetClass="entr" presetSubtype="8" fill="hold" grpId="0" nodeType="after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wipe(left)">
                                      <p:cBhvr>
                                        <p:cTn id="19" dur="1000"/>
                                        <p:tgtEl>
                                          <p:spTgt spid="1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left)">
                                      <p:cBhvr>
                                        <p:cTn id="24" dur="500"/>
                                        <p:tgtEl>
                                          <p:spTgt spid="17"/>
                                        </p:tgtEl>
                                      </p:cBhvr>
                                    </p:animEffect>
                                  </p:childTnLst>
                                </p:cTn>
                              </p:par>
                            </p:childTnLst>
                          </p:cTn>
                        </p:par>
                        <p:par>
                          <p:cTn id="25" fill="hold">
                            <p:stCondLst>
                              <p:cond delay="500"/>
                            </p:stCondLst>
                            <p:childTnLst>
                              <p:par>
                                <p:cTn id="26" presetID="22" presetClass="entr" presetSubtype="1" fill="hold" nodeType="after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wipe(up)">
                                      <p:cBhvr>
                                        <p:cTn id="28" dur="100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wipe(up)">
                                      <p:cBhvr>
                                        <p:cTn id="33" dur="1000"/>
                                        <p:tgtEl>
                                          <p:spTgt spid="4"/>
                                        </p:tgtEl>
                                      </p:cBhvr>
                                    </p:animEffect>
                                  </p:childTnLst>
                                </p:cTn>
                              </p:par>
                            </p:childTnLst>
                          </p:cTn>
                        </p:par>
                        <p:par>
                          <p:cTn id="34" fill="hold">
                            <p:stCondLst>
                              <p:cond delay="1000"/>
                            </p:stCondLst>
                            <p:childTnLst>
                              <p:par>
                                <p:cTn id="35" presetID="22" presetClass="entr" presetSubtype="1" fill="hold" nodeType="afterEffect">
                                  <p:stCondLst>
                                    <p:cond delay="500"/>
                                  </p:stCondLst>
                                  <p:childTnLst>
                                    <p:set>
                                      <p:cBhvr>
                                        <p:cTn id="36" dur="1" fill="hold">
                                          <p:stCondLst>
                                            <p:cond delay="0"/>
                                          </p:stCondLst>
                                        </p:cTn>
                                        <p:tgtEl>
                                          <p:spTgt spid="5"/>
                                        </p:tgtEl>
                                        <p:attrNameLst>
                                          <p:attrName>style.visibility</p:attrName>
                                        </p:attrNameLst>
                                      </p:cBhvr>
                                      <p:to>
                                        <p:strVal val="visible"/>
                                      </p:to>
                                    </p:set>
                                    <p:animEffect transition="in" filter="wipe(up)">
                                      <p:cBhvr>
                                        <p:cTn id="37" dur="1000"/>
                                        <p:tgtEl>
                                          <p:spTgt spid="5"/>
                                        </p:tgtEl>
                                      </p:cBhvr>
                                    </p:animEffect>
                                  </p:childTnLst>
                                </p:cTn>
                              </p:par>
                            </p:childTnLst>
                          </p:cTn>
                        </p:par>
                        <p:par>
                          <p:cTn id="38" fill="hold">
                            <p:stCondLst>
                              <p:cond delay="2500"/>
                            </p:stCondLst>
                            <p:childTnLst>
                              <p:par>
                                <p:cTn id="39" presetID="22" presetClass="entr" presetSubtype="8" fill="hold" grpId="0" nodeType="after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wipe(left)">
                                      <p:cBhvr>
                                        <p:cTn id="41" dur="1000"/>
                                        <p:tgtEl>
                                          <p:spTgt spid="20"/>
                                        </p:tgtEl>
                                      </p:cBhvr>
                                    </p:animEffect>
                                  </p:childTnLst>
                                </p:cTn>
                              </p:par>
                            </p:childTnLst>
                          </p:cTn>
                        </p:par>
                        <p:par>
                          <p:cTn id="42" fill="hold">
                            <p:stCondLst>
                              <p:cond delay="3500"/>
                            </p:stCondLst>
                            <p:childTnLst>
                              <p:par>
                                <p:cTn id="43" presetID="22" presetClass="entr" presetSubtype="8" fill="hold" grpId="0" nodeType="after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left)">
                                      <p:cBhvr>
                                        <p:cTn id="4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91" grpId="0"/>
      <p:bldP spid="17" grpId="0"/>
      <p:bldP spid="18" grpId="0" animBg="1"/>
      <p:bldP spid="19" grpId="0"/>
      <p:bldP spid="20" grpId="0"/>
      <p:bldP spid="1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ctrTitle" idx="4294967295"/>
          </p:nvPr>
        </p:nvSpPr>
        <p:spPr>
          <a:xfrm>
            <a:off x="700790" y="273570"/>
            <a:ext cx="4261157" cy="565146"/>
          </a:xfrm>
        </p:spPr>
        <p:txBody>
          <a:bodyPr wrap="none" lIns="36000" tIns="36000" rIns="36000" bIns="36000" anchor="t">
            <a:spAutoFit/>
          </a:bodyPr>
          <a:lstStyle/>
          <a:p>
            <a:pPr algn="l" eaLnBrk="1" hangingPunct="1">
              <a:defRPr/>
            </a:pPr>
            <a:r>
              <a:rPr lang="en-GB" sz="3200" b="1" dirty="0">
                <a:solidFill>
                  <a:srgbClr val="C00000"/>
                </a:solidFill>
                <a:latin typeface="+mn-lt"/>
              </a:rPr>
              <a:t>First Normal Form (1NF</a:t>
            </a:r>
            <a:r>
              <a:rPr lang="en-GB" sz="3200" b="1" dirty="0" smtClean="0">
                <a:solidFill>
                  <a:srgbClr val="C00000"/>
                </a:solidFill>
                <a:latin typeface="+mn-lt"/>
              </a:rPr>
              <a:t>)</a:t>
            </a:r>
            <a:endParaRPr lang="en-US" sz="3200" b="1" dirty="0">
              <a:solidFill>
                <a:srgbClr val="C00000"/>
              </a:solidFill>
              <a:latin typeface="+mn-lt"/>
            </a:endParaRPr>
          </a:p>
        </p:txBody>
      </p:sp>
      <p:sp>
        <p:nvSpPr>
          <p:cNvPr id="28675" name="Rectangle 11"/>
          <p:cNvSpPr>
            <a:spLocks noChangeArrowheads="1"/>
          </p:cNvSpPr>
          <p:nvPr/>
        </p:nvSpPr>
        <p:spPr bwMode="auto">
          <a:xfrm>
            <a:off x="874713" y="1314498"/>
            <a:ext cx="21034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rIns="45720">
            <a:spAutoFit/>
          </a:bodyPr>
          <a:lstStyle>
            <a:lvl1pPr marL="342900" indent="-342900" eaLnBrk="0" hangingPunct="0">
              <a:spcBef>
                <a:spcPct val="20000"/>
              </a:spcBef>
              <a:buFont typeface="Arial" charset="0"/>
              <a:buChar char="•"/>
              <a:defRPr sz="3200">
                <a:solidFill>
                  <a:schemeClr val="tx1"/>
                </a:solidFill>
                <a:latin typeface="Calibri" pitchFamily="34" charset="0"/>
              </a:defRPr>
            </a:lvl1pPr>
            <a:lvl2pPr marL="2857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285750" marR="0" lvl="1" indent="-285750" algn="l" defTabSz="914400" rtl="0" eaLnBrk="1" fontAlgn="base" latinLnBrk="0" hangingPunct="1">
              <a:lnSpc>
                <a:spcPct val="100000"/>
              </a:lnSpc>
              <a:spcBef>
                <a:spcPct val="20000"/>
              </a:spcBef>
              <a:spcAft>
                <a:spcPct val="0"/>
              </a:spcAft>
              <a:buClrTx/>
              <a:buSzTx/>
              <a:buFont typeface="Wingdings" pitchFamily="2" charset="2"/>
              <a:buNone/>
              <a:tabLst/>
              <a:defRPr/>
            </a:pPr>
            <a:r>
              <a:rPr kumimoji="0" lang="en-US" altLang="zh-SG" sz="2400" b="1" i="0" u="none" strike="noStrike" kern="1200" cap="none" spc="0" normalizeH="0" baseline="0" noProof="0">
                <a:ln>
                  <a:noFill/>
                </a:ln>
                <a:solidFill>
                  <a:prstClr val="black"/>
                </a:solidFill>
                <a:effectLst/>
                <a:uLnTx/>
                <a:uFillTx/>
                <a:latin typeface="Calibri" pitchFamily="34" charset="0"/>
                <a:ea typeface="宋体" panose="02010600030101010101" pitchFamily="2" charset="-122"/>
                <a:cs typeface="+mn-cs"/>
              </a:rPr>
              <a:t>Part_Inventory</a:t>
            </a:r>
          </a:p>
        </p:txBody>
      </p:sp>
      <p:graphicFrame>
        <p:nvGraphicFramePr>
          <p:cNvPr id="2" name="Table 1"/>
          <p:cNvGraphicFramePr>
            <a:graphicFrameLocks noGrp="1"/>
          </p:cNvGraphicFramePr>
          <p:nvPr>
            <p:extLst>
              <p:ext uri="{D42A27DB-BD31-4B8C-83A1-F6EECF244321}">
                <p14:modId xmlns:p14="http://schemas.microsoft.com/office/powerpoint/2010/main" val="1938692007"/>
              </p:ext>
            </p:extLst>
          </p:nvPr>
        </p:nvGraphicFramePr>
        <p:xfrm>
          <a:off x="684213" y="1066800"/>
          <a:ext cx="7834313" cy="1976438"/>
        </p:xfrm>
        <a:graphic>
          <a:graphicData uri="http://schemas.openxmlformats.org/drawingml/2006/table">
            <a:tbl>
              <a:tblPr/>
              <a:tblGrid>
                <a:gridCol w="828675">
                  <a:extLst>
                    <a:ext uri="{9D8B030D-6E8A-4147-A177-3AD203B41FA5}">
                      <a16:colId xmlns:a16="http://schemas.microsoft.com/office/drawing/2014/main" val="20000"/>
                    </a:ext>
                  </a:extLst>
                </a:gridCol>
                <a:gridCol w="1035050">
                  <a:extLst>
                    <a:ext uri="{9D8B030D-6E8A-4147-A177-3AD203B41FA5}">
                      <a16:colId xmlns:a16="http://schemas.microsoft.com/office/drawing/2014/main" val="20001"/>
                    </a:ext>
                  </a:extLst>
                </a:gridCol>
                <a:gridCol w="919163">
                  <a:extLst>
                    <a:ext uri="{9D8B030D-6E8A-4147-A177-3AD203B41FA5}">
                      <a16:colId xmlns:a16="http://schemas.microsoft.com/office/drawing/2014/main" val="20002"/>
                    </a:ext>
                  </a:extLst>
                </a:gridCol>
                <a:gridCol w="1243012">
                  <a:extLst>
                    <a:ext uri="{9D8B030D-6E8A-4147-A177-3AD203B41FA5}">
                      <a16:colId xmlns:a16="http://schemas.microsoft.com/office/drawing/2014/main" val="20003"/>
                    </a:ext>
                  </a:extLst>
                </a:gridCol>
                <a:gridCol w="1038225">
                  <a:extLst>
                    <a:ext uri="{9D8B030D-6E8A-4147-A177-3AD203B41FA5}">
                      <a16:colId xmlns:a16="http://schemas.microsoft.com/office/drawing/2014/main" val="20004"/>
                    </a:ext>
                  </a:extLst>
                </a:gridCol>
                <a:gridCol w="622300">
                  <a:extLst>
                    <a:ext uri="{9D8B030D-6E8A-4147-A177-3AD203B41FA5}">
                      <a16:colId xmlns:a16="http://schemas.microsoft.com/office/drawing/2014/main" val="20005"/>
                    </a:ext>
                  </a:extLst>
                </a:gridCol>
                <a:gridCol w="1087438">
                  <a:extLst>
                    <a:ext uri="{9D8B030D-6E8A-4147-A177-3AD203B41FA5}">
                      <a16:colId xmlns:a16="http://schemas.microsoft.com/office/drawing/2014/main" val="20006"/>
                    </a:ext>
                  </a:extLst>
                </a:gridCol>
                <a:gridCol w="1060450">
                  <a:extLst>
                    <a:ext uri="{9D8B030D-6E8A-4147-A177-3AD203B41FA5}">
                      <a16:colId xmlns:a16="http://schemas.microsoft.com/office/drawing/2014/main" val="20007"/>
                    </a:ext>
                  </a:extLst>
                </a:gridCol>
              </a:tblGrid>
              <a:tr h="388938">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600" b="1" i="0" u="none" strike="noStrike" cap="none" normalizeH="0" baseline="0">
                          <a:ln>
                            <a:noFill/>
                          </a:ln>
                          <a:solidFill>
                            <a:srgbClr val="FFFFFF"/>
                          </a:solidFill>
                          <a:effectLst/>
                          <a:latin typeface="Calibri" pitchFamily="34" charset="0"/>
                        </a:rPr>
                        <a:t>PartNo</a:t>
                      </a:r>
                      <a:endParaRPr kumimoji="0" lang="en-SG" altLang="en-US" sz="1600" b="1" i="0" u="none" strike="noStrike" cap="none" normalizeH="0" baseline="0">
                        <a:ln>
                          <a:noFill/>
                        </a:ln>
                        <a:solidFill>
                          <a:srgbClr val="FFFFFF"/>
                        </a:solidFill>
                        <a:effectLst/>
                        <a:latin typeface="Calibri" pitchFamily="34" charset="0"/>
                      </a:endParaRPr>
                    </a:p>
                  </a:txBody>
                  <a:tcPr marL="91435" marR="91435" marT="45752" marB="45752"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948A54"/>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600" b="1" i="0" u="none" strike="noStrike" cap="none" normalizeH="0" baseline="0" dirty="0" err="1">
                          <a:ln>
                            <a:noFill/>
                          </a:ln>
                          <a:solidFill>
                            <a:srgbClr val="FFFFFF"/>
                          </a:solidFill>
                          <a:effectLst/>
                          <a:latin typeface="Calibri" pitchFamily="34" charset="0"/>
                        </a:rPr>
                        <a:t>PartDesc</a:t>
                      </a:r>
                      <a:endParaRPr kumimoji="0" lang="en-SG" altLang="en-US" sz="1600" b="1" i="0" u="none" strike="noStrike" cap="none" normalizeH="0" baseline="0" dirty="0">
                        <a:ln>
                          <a:noFill/>
                        </a:ln>
                        <a:solidFill>
                          <a:srgbClr val="FFFFFF"/>
                        </a:solidFill>
                        <a:effectLst/>
                        <a:latin typeface="Calibri" pitchFamily="34" charset="0"/>
                      </a:endParaRPr>
                    </a:p>
                  </a:txBody>
                  <a:tcPr marL="91435" marR="91435" marT="45752" marB="4575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948A54"/>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600" b="1" i="0" u="none" strike="noStrike" cap="none" normalizeH="0" baseline="0" dirty="0" err="1">
                          <a:ln>
                            <a:noFill/>
                          </a:ln>
                          <a:solidFill>
                            <a:srgbClr val="FFFFFF"/>
                          </a:solidFill>
                          <a:effectLst/>
                          <a:latin typeface="Calibri" pitchFamily="34" charset="0"/>
                        </a:rPr>
                        <a:t>SuppNo</a:t>
                      </a:r>
                      <a:endParaRPr kumimoji="0" lang="en-SG" altLang="en-US" sz="1600" b="1" i="0" u="none" strike="noStrike" cap="none" normalizeH="0" baseline="0" dirty="0">
                        <a:ln>
                          <a:noFill/>
                        </a:ln>
                        <a:solidFill>
                          <a:srgbClr val="FFFFFF"/>
                        </a:solidFill>
                        <a:effectLst/>
                        <a:latin typeface="Calibri" pitchFamily="34" charset="0"/>
                      </a:endParaRPr>
                    </a:p>
                  </a:txBody>
                  <a:tcPr marL="91435" marR="91435" marT="45752" marB="4575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948A54"/>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600" b="1" i="0" u="none" strike="noStrike" cap="none" normalizeH="0" baseline="0">
                          <a:ln>
                            <a:noFill/>
                          </a:ln>
                          <a:solidFill>
                            <a:srgbClr val="FFFFFF"/>
                          </a:solidFill>
                          <a:effectLst/>
                          <a:latin typeface="Calibri" pitchFamily="34" charset="0"/>
                        </a:rPr>
                        <a:t>SuppName</a:t>
                      </a:r>
                      <a:endParaRPr kumimoji="0" lang="en-SG" altLang="en-US" sz="1600" b="1" i="0" u="none" strike="noStrike" cap="none" normalizeH="0" baseline="0">
                        <a:ln>
                          <a:noFill/>
                        </a:ln>
                        <a:solidFill>
                          <a:srgbClr val="FFFFFF"/>
                        </a:solidFill>
                        <a:effectLst/>
                        <a:latin typeface="Calibri" pitchFamily="34" charset="0"/>
                      </a:endParaRPr>
                    </a:p>
                  </a:txBody>
                  <a:tcPr marL="91435" marR="91435" marT="45752" marB="4575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948A54"/>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600" b="1" i="0" u="none" strike="noStrike" cap="none" normalizeH="0" baseline="0">
                          <a:ln>
                            <a:noFill/>
                          </a:ln>
                          <a:solidFill>
                            <a:srgbClr val="FFFFFF"/>
                          </a:solidFill>
                          <a:effectLst/>
                          <a:latin typeface="Calibri" pitchFamily="34" charset="0"/>
                        </a:rPr>
                        <a:t>SuppAddr</a:t>
                      </a:r>
                      <a:endParaRPr kumimoji="0" lang="en-SG" altLang="en-US" sz="1600" b="1" i="0" u="none" strike="noStrike" cap="none" normalizeH="0" baseline="0">
                        <a:ln>
                          <a:noFill/>
                        </a:ln>
                        <a:solidFill>
                          <a:srgbClr val="FFFFFF"/>
                        </a:solidFill>
                        <a:effectLst/>
                        <a:latin typeface="Calibri" pitchFamily="34" charset="0"/>
                      </a:endParaRPr>
                    </a:p>
                  </a:txBody>
                  <a:tcPr marL="91435" marR="91435" marT="45752" marB="4575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948A54"/>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600" b="1" i="0" u="none" strike="noStrike" cap="none" normalizeH="0" baseline="0">
                          <a:ln>
                            <a:noFill/>
                          </a:ln>
                          <a:solidFill>
                            <a:srgbClr val="FFFFFF"/>
                          </a:solidFill>
                          <a:effectLst/>
                          <a:latin typeface="Calibri" pitchFamily="34" charset="0"/>
                        </a:rPr>
                        <a:t>Cost</a:t>
                      </a:r>
                      <a:endParaRPr kumimoji="0" lang="en-SG" altLang="en-US" sz="1600" b="1" i="0" u="none" strike="noStrike" cap="none" normalizeH="0" baseline="0">
                        <a:ln>
                          <a:noFill/>
                        </a:ln>
                        <a:solidFill>
                          <a:srgbClr val="FFFFFF"/>
                        </a:solidFill>
                        <a:effectLst/>
                        <a:latin typeface="Calibri" pitchFamily="34" charset="0"/>
                      </a:endParaRPr>
                    </a:p>
                  </a:txBody>
                  <a:tcPr marL="91435" marR="91435" marT="45752" marB="4575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948A54"/>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600" b="1" i="0" u="none" strike="noStrike" cap="none" normalizeH="0" baseline="0" dirty="0" smtClean="0">
                          <a:ln>
                            <a:noFill/>
                          </a:ln>
                          <a:solidFill>
                            <a:srgbClr val="FFFFFF"/>
                          </a:solidFill>
                          <a:effectLst/>
                          <a:latin typeface="Calibri" pitchFamily="34" charset="0"/>
                        </a:rPr>
                        <a:t>Store</a:t>
                      </a:r>
                      <a:endParaRPr kumimoji="0" lang="en-SG" altLang="en-US" sz="1600" b="1" i="0" u="none" strike="noStrike" cap="none" normalizeH="0" baseline="0" dirty="0">
                        <a:ln>
                          <a:noFill/>
                        </a:ln>
                        <a:solidFill>
                          <a:srgbClr val="FFFFFF"/>
                        </a:solidFill>
                        <a:effectLst/>
                        <a:latin typeface="Calibri" pitchFamily="34" charset="0"/>
                      </a:endParaRPr>
                    </a:p>
                  </a:txBody>
                  <a:tcPr marL="91435" marR="91435" marT="45752" marB="4575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948A54"/>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600" b="1" i="0" u="none" strike="noStrike" cap="none" normalizeH="0" baseline="0">
                          <a:ln>
                            <a:noFill/>
                          </a:ln>
                          <a:solidFill>
                            <a:srgbClr val="FFFFFF"/>
                          </a:solidFill>
                          <a:effectLst/>
                          <a:latin typeface="Calibri" pitchFamily="34" charset="0"/>
                        </a:rPr>
                        <a:t>Phone</a:t>
                      </a:r>
                      <a:endParaRPr kumimoji="0" lang="en-SG" altLang="en-US" sz="1600" b="1" i="0" u="none" strike="noStrike" cap="none" normalizeH="0" baseline="0">
                        <a:ln>
                          <a:noFill/>
                        </a:ln>
                        <a:solidFill>
                          <a:srgbClr val="FFFFFF"/>
                        </a:solidFill>
                        <a:effectLst/>
                        <a:latin typeface="Calibri" pitchFamily="34" charset="0"/>
                      </a:endParaRPr>
                    </a:p>
                  </a:txBody>
                  <a:tcPr marL="91435" marR="91435" marT="45752" marB="45752"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948A54"/>
                    </a:solidFill>
                  </a:tcPr>
                </a:tc>
                <a:extLst>
                  <a:ext uri="{0D108BD9-81ED-4DB2-BD59-A6C34878D82A}">
                    <a16:rowId xmlns:a16="http://schemas.microsoft.com/office/drawing/2014/main" val="10000"/>
                  </a:ext>
                </a:extLst>
              </a:tr>
              <a:tr h="396875">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Calibri" pitchFamily="34" charset="0"/>
                        </a:rPr>
                        <a:t>P1</a:t>
                      </a:r>
                      <a:endParaRPr kumimoji="0" lang="en-SG" altLang="en-US" sz="1800" b="0" i="0" u="none" strike="noStrike" cap="none" normalizeH="0" baseline="0">
                        <a:ln>
                          <a:noFill/>
                        </a:ln>
                        <a:solidFill>
                          <a:srgbClr val="000000"/>
                        </a:solidFill>
                        <a:effectLst/>
                        <a:latin typeface="Calibri" pitchFamily="34" charset="0"/>
                      </a:endParaRPr>
                    </a:p>
                  </a:txBody>
                  <a:tcPr marL="91435" marR="91435" marT="45752" marB="45752"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3EA"/>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Calibri" pitchFamily="34" charset="0"/>
                        </a:rPr>
                        <a:t>Printer</a:t>
                      </a:r>
                      <a:endParaRPr kumimoji="0" lang="en-SG" altLang="en-US" sz="1800" b="0" i="0" u="none" strike="noStrike" cap="none" normalizeH="0" baseline="0">
                        <a:ln>
                          <a:noFill/>
                        </a:ln>
                        <a:solidFill>
                          <a:srgbClr val="000000"/>
                        </a:solidFill>
                        <a:effectLst/>
                        <a:latin typeface="Calibri" pitchFamily="34" charset="0"/>
                      </a:endParaRPr>
                    </a:p>
                  </a:txBody>
                  <a:tcPr marL="91435" marR="91435" marT="45752" marB="4575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3EA"/>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Calibri" pitchFamily="34" charset="0"/>
                        </a:rPr>
                        <a:t>S1</a:t>
                      </a:r>
                      <a:endParaRPr kumimoji="0" lang="en-SG" altLang="en-US" sz="1800" b="0" i="0" u="none" strike="noStrike" cap="none" normalizeH="0" baseline="0">
                        <a:ln>
                          <a:noFill/>
                        </a:ln>
                        <a:solidFill>
                          <a:srgbClr val="000000"/>
                        </a:solidFill>
                        <a:effectLst/>
                        <a:latin typeface="Calibri" pitchFamily="34" charset="0"/>
                      </a:endParaRPr>
                    </a:p>
                  </a:txBody>
                  <a:tcPr marL="91435" marR="91435" marT="45752" marB="4575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3EA"/>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Calibri" pitchFamily="34" charset="0"/>
                        </a:rPr>
                        <a:t>Brightware</a:t>
                      </a:r>
                      <a:endParaRPr kumimoji="0" lang="en-SG" altLang="en-US" sz="1800" b="0" i="0" u="none" strike="noStrike" cap="none" normalizeH="0" baseline="0">
                        <a:ln>
                          <a:noFill/>
                        </a:ln>
                        <a:solidFill>
                          <a:srgbClr val="000000"/>
                        </a:solidFill>
                        <a:effectLst/>
                        <a:latin typeface="Calibri" pitchFamily="34" charset="0"/>
                      </a:endParaRPr>
                    </a:p>
                  </a:txBody>
                  <a:tcPr marL="91435" marR="91435" marT="45752" marB="4575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3EA"/>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Calibri" pitchFamily="34" charset="0"/>
                        </a:rPr>
                        <a:t>AMK</a:t>
                      </a:r>
                      <a:endParaRPr kumimoji="0" lang="en-SG" altLang="en-US" sz="1800" b="0" i="0" u="none" strike="noStrike" cap="none" normalizeH="0" baseline="0">
                        <a:ln>
                          <a:noFill/>
                        </a:ln>
                        <a:solidFill>
                          <a:srgbClr val="000000"/>
                        </a:solidFill>
                        <a:effectLst/>
                        <a:latin typeface="Calibri" pitchFamily="34" charset="0"/>
                      </a:endParaRPr>
                    </a:p>
                  </a:txBody>
                  <a:tcPr marL="91435" marR="91435" marT="45752" marB="4575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3EA"/>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Calibri" pitchFamily="34" charset="0"/>
                        </a:rPr>
                        <a:t>200</a:t>
                      </a:r>
                      <a:endParaRPr kumimoji="0" lang="en-SG" altLang="en-US" sz="1800" b="0" i="0" u="none" strike="noStrike" cap="none" normalizeH="0" baseline="0">
                        <a:ln>
                          <a:noFill/>
                        </a:ln>
                        <a:solidFill>
                          <a:srgbClr val="000000"/>
                        </a:solidFill>
                        <a:effectLst/>
                        <a:latin typeface="Calibri" pitchFamily="34" charset="0"/>
                      </a:endParaRPr>
                    </a:p>
                  </a:txBody>
                  <a:tcPr marL="91435" marR="91435" marT="45752" marB="4575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3EA"/>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Calibri" pitchFamily="34" charset="0"/>
                        </a:rPr>
                        <a:t>Ken</a:t>
                      </a:r>
                      <a:endParaRPr kumimoji="0" lang="en-SG" altLang="en-US" sz="2000" b="0" i="0" u="none" strike="noStrike" cap="none" normalizeH="0" baseline="0">
                        <a:ln>
                          <a:noFill/>
                        </a:ln>
                        <a:solidFill>
                          <a:srgbClr val="000000"/>
                        </a:solidFill>
                        <a:effectLst/>
                        <a:latin typeface="Calibri" pitchFamily="34" charset="0"/>
                      </a:endParaRPr>
                    </a:p>
                  </a:txBody>
                  <a:tcPr marT="45714" marB="4571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3EA"/>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600" b="0" i="0" u="none" strike="noStrike" cap="none" normalizeH="0" baseline="0">
                          <a:ln>
                            <a:noFill/>
                          </a:ln>
                          <a:solidFill>
                            <a:srgbClr val="000000"/>
                          </a:solidFill>
                          <a:effectLst/>
                          <a:latin typeface="Calibri" pitchFamily="34" charset="0"/>
                        </a:rPr>
                        <a:t>98553344</a:t>
                      </a:r>
                      <a:endParaRPr kumimoji="0" lang="en-GB" altLang="en-US" sz="1600" b="0" i="0" u="none" strike="noStrike" cap="none" normalizeH="0" baseline="0">
                        <a:ln>
                          <a:noFill/>
                        </a:ln>
                        <a:solidFill>
                          <a:schemeClr val="tx1"/>
                        </a:solidFill>
                        <a:effectLst/>
                        <a:latin typeface="Calibri" pitchFamily="34" charset="0"/>
                        <a:ea typeface="Calibri" pitchFamily="34" charset="0"/>
                        <a:cs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3EA"/>
                    </a:solidFill>
                  </a:tcPr>
                </a:tc>
                <a:extLst>
                  <a:ext uri="{0D108BD9-81ED-4DB2-BD59-A6C34878D82A}">
                    <a16:rowId xmlns:a16="http://schemas.microsoft.com/office/drawing/2014/main" val="10001"/>
                  </a:ext>
                </a:extLst>
              </a:tr>
              <a:tr h="396875">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Calibri" pitchFamily="34" charset="0"/>
                        </a:rPr>
                        <a:t>P1</a:t>
                      </a:r>
                      <a:endParaRPr kumimoji="0" lang="en-SG" altLang="en-US" sz="1800" b="0" i="0" u="none" strike="noStrike" cap="none" normalizeH="0" baseline="0">
                        <a:ln>
                          <a:noFill/>
                        </a:ln>
                        <a:solidFill>
                          <a:srgbClr val="C00000"/>
                        </a:solidFill>
                        <a:effectLst/>
                        <a:latin typeface="Calibri" pitchFamily="34" charset="0"/>
                      </a:endParaRPr>
                    </a:p>
                  </a:txBody>
                  <a:tcPr marL="91435" marR="91435" marT="45752" marB="45752"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1F5"/>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Calibri" pitchFamily="34" charset="0"/>
                        </a:rPr>
                        <a:t>Printer</a:t>
                      </a:r>
                      <a:endParaRPr kumimoji="0" lang="en-SG" altLang="en-US" sz="1800" b="0" i="0" u="none" strike="noStrike" cap="none" normalizeH="0" baseline="0">
                        <a:ln>
                          <a:noFill/>
                        </a:ln>
                        <a:solidFill>
                          <a:srgbClr val="C00000"/>
                        </a:solidFill>
                        <a:effectLst/>
                        <a:latin typeface="Calibri" pitchFamily="34" charset="0"/>
                      </a:endParaRPr>
                    </a:p>
                  </a:txBody>
                  <a:tcPr marL="91435" marR="91435" marT="45752" marB="4575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1F5"/>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Calibri" pitchFamily="34" charset="0"/>
                        </a:rPr>
                        <a:t>S2</a:t>
                      </a:r>
                      <a:endParaRPr kumimoji="0" lang="en-SG" altLang="en-US" sz="1800" b="0" i="0" u="none" strike="noStrike" cap="none" normalizeH="0" baseline="0">
                        <a:ln>
                          <a:noFill/>
                        </a:ln>
                        <a:solidFill>
                          <a:srgbClr val="FF0000"/>
                        </a:solidFill>
                        <a:effectLst/>
                        <a:latin typeface="Calibri" pitchFamily="34" charset="0"/>
                      </a:endParaRPr>
                    </a:p>
                  </a:txBody>
                  <a:tcPr marL="91435" marR="91435" marT="45752" marB="4575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1F5"/>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Calibri" pitchFamily="34" charset="0"/>
                        </a:rPr>
                        <a:t>SuperWare</a:t>
                      </a:r>
                      <a:endParaRPr kumimoji="0" lang="en-SG" altLang="en-US" sz="1800" b="0" i="0" u="none" strike="noStrike" cap="none" normalizeH="0" baseline="0">
                        <a:ln>
                          <a:noFill/>
                        </a:ln>
                        <a:solidFill>
                          <a:srgbClr val="FF0000"/>
                        </a:solidFill>
                        <a:effectLst/>
                        <a:latin typeface="Calibri" pitchFamily="34" charset="0"/>
                      </a:endParaRPr>
                    </a:p>
                  </a:txBody>
                  <a:tcPr marL="91435" marR="91435" marT="45752" marB="4575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1F5"/>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Calibri" pitchFamily="34" charset="0"/>
                        </a:rPr>
                        <a:t>Yishun</a:t>
                      </a:r>
                      <a:endParaRPr kumimoji="0" lang="en-SG" altLang="en-US" sz="1800" b="0" i="0" u="none" strike="noStrike" cap="none" normalizeH="0" baseline="0">
                        <a:ln>
                          <a:noFill/>
                        </a:ln>
                        <a:solidFill>
                          <a:srgbClr val="FF0000"/>
                        </a:solidFill>
                        <a:effectLst/>
                        <a:latin typeface="Calibri" pitchFamily="34" charset="0"/>
                      </a:endParaRPr>
                    </a:p>
                  </a:txBody>
                  <a:tcPr marL="91435" marR="91435" marT="45752" marB="4575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1F5"/>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Calibri" pitchFamily="34" charset="0"/>
                        </a:rPr>
                        <a:t>220</a:t>
                      </a:r>
                      <a:endParaRPr kumimoji="0" lang="en-SG" altLang="en-US" sz="1800" b="0" i="0" u="none" strike="noStrike" cap="none" normalizeH="0" baseline="0">
                        <a:ln>
                          <a:noFill/>
                        </a:ln>
                        <a:solidFill>
                          <a:srgbClr val="000000"/>
                        </a:solidFill>
                        <a:effectLst/>
                        <a:latin typeface="Calibri" pitchFamily="34" charset="0"/>
                      </a:endParaRPr>
                    </a:p>
                  </a:txBody>
                  <a:tcPr marL="91435" marR="91435" marT="45752" marB="4575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1F5"/>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rgbClr val="000000"/>
                          </a:solidFill>
                          <a:effectLst/>
                          <a:latin typeface="Calibri" pitchFamily="34" charset="0"/>
                        </a:rPr>
                        <a:t>Ken</a:t>
                      </a:r>
                      <a:endParaRPr kumimoji="0" lang="en-SG" altLang="en-US" sz="2000" b="0" i="0" u="none" strike="noStrike" cap="none" normalizeH="0" baseline="0">
                        <a:ln>
                          <a:noFill/>
                        </a:ln>
                        <a:solidFill>
                          <a:srgbClr val="000000"/>
                        </a:solidFill>
                        <a:effectLst/>
                        <a:latin typeface="Calibri" pitchFamily="34" charset="0"/>
                      </a:endParaRPr>
                    </a:p>
                  </a:txBody>
                  <a:tcPr marT="45714" marB="4571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1F5"/>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600" b="0" i="0" u="none" strike="noStrike" cap="none" normalizeH="0" baseline="0">
                          <a:ln>
                            <a:noFill/>
                          </a:ln>
                          <a:solidFill>
                            <a:srgbClr val="000000"/>
                          </a:solidFill>
                          <a:effectLst/>
                          <a:latin typeface="Calibri" pitchFamily="34" charset="0"/>
                        </a:rPr>
                        <a:t>98553344</a:t>
                      </a:r>
                      <a:endParaRPr kumimoji="0" lang="en-GB" altLang="en-US" sz="1600" b="0" i="0" u="none" strike="noStrike" cap="none" normalizeH="0" baseline="0">
                        <a:ln>
                          <a:noFill/>
                        </a:ln>
                        <a:solidFill>
                          <a:schemeClr val="tx1"/>
                        </a:solidFill>
                        <a:effectLst/>
                        <a:latin typeface="Calibri" pitchFamily="34" charset="0"/>
                        <a:ea typeface="Calibri" pitchFamily="34" charset="0"/>
                        <a:cs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1F5"/>
                    </a:solidFill>
                  </a:tcPr>
                </a:tc>
                <a:extLst>
                  <a:ext uri="{0D108BD9-81ED-4DB2-BD59-A6C34878D82A}">
                    <a16:rowId xmlns:a16="http://schemas.microsoft.com/office/drawing/2014/main" val="10002"/>
                  </a:ext>
                </a:extLst>
              </a:tr>
              <a:tr h="396875">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Calibri" pitchFamily="34" charset="0"/>
                        </a:rPr>
                        <a:t>P2</a:t>
                      </a:r>
                      <a:endParaRPr kumimoji="0" lang="en-SG" altLang="en-US" sz="1800" b="0" i="0" u="none" strike="noStrike" cap="none" normalizeH="0" baseline="0">
                        <a:ln>
                          <a:noFill/>
                        </a:ln>
                        <a:solidFill>
                          <a:srgbClr val="000000"/>
                        </a:solidFill>
                        <a:effectLst/>
                        <a:latin typeface="Calibri" pitchFamily="34" charset="0"/>
                      </a:endParaRPr>
                    </a:p>
                  </a:txBody>
                  <a:tcPr marL="91435" marR="91435" marT="45752" marB="45752"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3EA"/>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Calibri" pitchFamily="34" charset="0"/>
                        </a:rPr>
                        <a:t>Speaker</a:t>
                      </a:r>
                      <a:endParaRPr kumimoji="0" lang="en-SG" altLang="en-US" sz="1800" b="0" i="0" u="none" strike="noStrike" cap="none" normalizeH="0" baseline="0">
                        <a:ln>
                          <a:noFill/>
                        </a:ln>
                        <a:solidFill>
                          <a:srgbClr val="000000"/>
                        </a:solidFill>
                        <a:effectLst/>
                        <a:latin typeface="Calibri" pitchFamily="34" charset="0"/>
                      </a:endParaRPr>
                    </a:p>
                  </a:txBody>
                  <a:tcPr marL="91435" marR="91435" marT="45752" marB="4575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3EA"/>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Calibri" pitchFamily="34" charset="0"/>
                        </a:rPr>
                        <a:t>S1</a:t>
                      </a:r>
                      <a:endParaRPr kumimoji="0" lang="en-SG" altLang="en-US" sz="1800" b="0" i="0" u="none" strike="noStrike" cap="none" normalizeH="0" baseline="0">
                        <a:ln>
                          <a:noFill/>
                        </a:ln>
                        <a:solidFill>
                          <a:srgbClr val="000000"/>
                        </a:solidFill>
                        <a:effectLst/>
                        <a:latin typeface="Calibri" pitchFamily="34" charset="0"/>
                      </a:endParaRPr>
                    </a:p>
                  </a:txBody>
                  <a:tcPr marL="91435" marR="91435" marT="45752" marB="4575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3EA"/>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Calibri" pitchFamily="34" charset="0"/>
                        </a:rPr>
                        <a:t>Brightware</a:t>
                      </a:r>
                      <a:endParaRPr kumimoji="0" lang="en-SG" altLang="en-US" sz="1800" b="0" i="0" u="none" strike="noStrike" cap="none" normalizeH="0" baseline="0">
                        <a:ln>
                          <a:noFill/>
                        </a:ln>
                        <a:solidFill>
                          <a:srgbClr val="000000"/>
                        </a:solidFill>
                        <a:effectLst/>
                        <a:latin typeface="Calibri" pitchFamily="34" charset="0"/>
                      </a:endParaRPr>
                    </a:p>
                  </a:txBody>
                  <a:tcPr marL="91435" marR="91435" marT="45752" marB="4575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3EA"/>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Calibri" pitchFamily="34" charset="0"/>
                        </a:rPr>
                        <a:t>AMK</a:t>
                      </a:r>
                      <a:endParaRPr kumimoji="0" lang="en-SG" altLang="en-US" sz="1800" b="0" i="0" u="none" strike="noStrike" cap="none" normalizeH="0" baseline="0">
                        <a:ln>
                          <a:noFill/>
                        </a:ln>
                        <a:solidFill>
                          <a:srgbClr val="000000"/>
                        </a:solidFill>
                        <a:effectLst/>
                        <a:latin typeface="Calibri" pitchFamily="34" charset="0"/>
                      </a:endParaRPr>
                    </a:p>
                  </a:txBody>
                  <a:tcPr marL="91435" marR="91435" marT="45752" marB="4575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3EA"/>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Calibri" pitchFamily="34" charset="0"/>
                        </a:rPr>
                        <a:t>300</a:t>
                      </a:r>
                      <a:endParaRPr kumimoji="0" lang="en-SG" altLang="en-US" sz="1800" b="0" i="0" u="none" strike="noStrike" cap="none" normalizeH="0" baseline="0">
                        <a:ln>
                          <a:noFill/>
                        </a:ln>
                        <a:solidFill>
                          <a:srgbClr val="000000"/>
                        </a:solidFill>
                        <a:effectLst/>
                        <a:latin typeface="Calibri" pitchFamily="34" charset="0"/>
                      </a:endParaRPr>
                    </a:p>
                  </a:txBody>
                  <a:tcPr marL="91435" marR="91435" marT="45752" marB="4575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3EA"/>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Calibri" pitchFamily="34" charset="0"/>
                        </a:rPr>
                        <a:t>Alvin</a:t>
                      </a:r>
                      <a:endParaRPr kumimoji="0" lang="en-SG" altLang="en-US" sz="1800" b="0" i="0" u="none" strike="noStrike" cap="none" normalizeH="0" baseline="0">
                        <a:ln>
                          <a:noFill/>
                        </a:ln>
                        <a:solidFill>
                          <a:srgbClr val="000000"/>
                        </a:solidFill>
                        <a:effectLst/>
                        <a:latin typeface="Calibri" pitchFamily="34" charset="0"/>
                      </a:endParaRPr>
                    </a:p>
                  </a:txBody>
                  <a:tcPr marT="45714" marB="4571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3EA"/>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600" b="0" i="0" u="none" strike="noStrike" cap="none" normalizeH="0" baseline="0">
                          <a:ln>
                            <a:noFill/>
                          </a:ln>
                          <a:solidFill>
                            <a:srgbClr val="000000"/>
                          </a:solidFill>
                          <a:effectLst/>
                          <a:latin typeface="Calibri" pitchFamily="34" charset="0"/>
                        </a:rPr>
                        <a:t>97334400</a:t>
                      </a:r>
                      <a:endParaRPr kumimoji="0" lang="en-GB" altLang="en-US" sz="1600" b="0" i="0" u="none" strike="noStrike" cap="none" normalizeH="0" baseline="0">
                        <a:ln>
                          <a:noFill/>
                        </a:ln>
                        <a:solidFill>
                          <a:srgbClr val="C00000"/>
                        </a:solidFill>
                        <a:effectLst/>
                        <a:latin typeface="Calibri" pitchFamily="34" charset="0"/>
                        <a:ea typeface="Calibri" pitchFamily="34" charset="0"/>
                        <a:cs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3EA"/>
                    </a:solidFill>
                  </a:tcPr>
                </a:tc>
                <a:extLst>
                  <a:ext uri="{0D108BD9-81ED-4DB2-BD59-A6C34878D82A}">
                    <a16:rowId xmlns:a16="http://schemas.microsoft.com/office/drawing/2014/main" val="10003"/>
                  </a:ext>
                </a:extLst>
              </a:tr>
              <a:tr h="396875">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Calibri" pitchFamily="34" charset="0"/>
                        </a:rPr>
                        <a:t>P2</a:t>
                      </a:r>
                      <a:endParaRPr kumimoji="0" lang="en-SG" altLang="en-US" sz="1800" b="0" i="0" u="none" strike="noStrike" cap="none" normalizeH="0" baseline="0">
                        <a:ln>
                          <a:noFill/>
                        </a:ln>
                        <a:solidFill>
                          <a:srgbClr val="C00000"/>
                        </a:solidFill>
                        <a:effectLst/>
                        <a:latin typeface="Calibri" pitchFamily="34" charset="0"/>
                      </a:endParaRPr>
                    </a:p>
                  </a:txBody>
                  <a:tcPr marL="91435" marR="91435" marT="45752" marB="45752"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9F1F5"/>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Calibri" pitchFamily="34" charset="0"/>
                        </a:rPr>
                        <a:t>Speaker</a:t>
                      </a:r>
                      <a:endParaRPr kumimoji="0" lang="en-SG" altLang="en-US" sz="1800" b="0" i="0" u="none" strike="noStrike" cap="none" normalizeH="0" baseline="0">
                        <a:ln>
                          <a:noFill/>
                        </a:ln>
                        <a:solidFill>
                          <a:srgbClr val="C00000"/>
                        </a:solidFill>
                        <a:effectLst/>
                        <a:latin typeface="Calibri" pitchFamily="34" charset="0"/>
                      </a:endParaRPr>
                    </a:p>
                  </a:txBody>
                  <a:tcPr marL="91435" marR="91435" marT="45752" marB="4575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9F1F5"/>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Calibri" pitchFamily="34" charset="0"/>
                        </a:rPr>
                        <a:t>S2</a:t>
                      </a:r>
                      <a:endParaRPr kumimoji="0" lang="en-SG" altLang="en-US" sz="1800" b="0" i="0" u="none" strike="noStrike" cap="none" normalizeH="0" baseline="0">
                        <a:ln>
                          <a:noFill/>
                        </a:ln>
                        <a:solidFill>
                          <a:srgbClr val="FF0000"/>
                        </a:solidFill>
                        <a:effectLst/>
                        <a:latin typeface="Calibri" pitchFamily="34" charset="0"/>
                      </a:endParaRPr>
                    </a:p>
                  </a:txBody>
                  <a:tcPr marL="91435" marR="91435" marT="45752" marB="4575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9F1F5"/>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Calibri" pitchFamily="34" charset="0"/>
                        </a:rPr>
                        <a:t>Superware</a:t>
                      </a:r>
                      <a:endParaRPr kumimoji="0" lang="en-SG" altLang="en-US" sz="1800" b="0" i="0" u="none" strike="noStrike" cap="none" normalizeH="0" baseline="0">
                        <a:ln>
                          <a:noFill/>
                        </a:ln>
                        <a:solidFill>
                          <a:srgbClr val="FF0000"/>
                        </a:solidFill>
                        <a:effectLst/>
                        <a:latin typeface="Calibri" pitchFamily="34" charset="0"/>
                      </a:endParaRPr>
                    </a:p>
                  </a:txBody>
                  <a:tcPr marL="91435" marR="91435" marT="45752" marB="4575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9F1F5"/>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Calibri" pitchFamily="34" charset="0"/>
                        </a:rPr>
                        <a:t>Yishun</a:t>
                      </a:r>
                      <a:endParaRPr kumimoji="0" lang="en-SG" altLang="en-US" sz="1800" b="0" i="0" u="none" strike="noStrike" cap="none" normalizeH="0" baseline="0">
                        <a:ln>
                          <a:noFill/>
                        </a:ln>
                        <a:solidFill>
                          <a:srgbClr val="FF0000"/>
                        </a:solidFill>
                        <a:effectLst/>
                        <a:latin typeface="Calibri" pitchFamily="34" charset="0"/>
                      </a:endParaRPr>
                    </a:p>
                  </a:txBody>
                  <a:tcPr marL="91435" marR="91435" marT="45752" marB="4575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9F1F5"/>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Calibri" pitchFamily="34" charset="0"/>
                        </a:rPr>
                        <a:t>350</a:t>
                      </a:r>
                      <a:endParaRPr kumimoji="0" lang="en-SG" altLang="en-US" sz="1800" b="0" i="0" u="none" strike="noStrike" cap="none" normalizeH="0" baseline="0">
                        <a:ln>
                          <a:noFill/>
                        </a:ln>
                        <a:solidFill>
                          <a:srgbClr val="000000"/>
                        </a:solidFill>
                        <a:effectLst/>
                        <a:latin typeface="Calibri" pitchFamily="34" charset="0"/>
                      </a:endParaRPr>
                    </a:p>
                  </a:txBody>
                  <a:tcPr marL="91435" marR="91435" marT="45752" marB="4575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9F1F5"/>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800" b="0" i="0" u="none" strike="noStrike" cap="none" normalizeH="0" baseline="0">
                          <a:ln>
                            <a:noFill/>
                          </a:ln>
                          <a:solidFill>
                            <a:srgbClr val="000000"/>
                          </a:solidFill>
                          <a:effectLst/>
                          <a:latin typeface="Calibri" pitchFamily="34" charset="0"/>
                        </a:rPr>
                        <a:t>Alvin</a:t>
                      </a:r>
                      <a:endParaRPr kumimoji="0" lang="en-SG" altLang="en-US" sz="1800" b="0" i="0" u="none" strike="noStrike" cap="none" normalizeH="0" baseline="0">
                        <a:ln>
                          <a:noFill/>
                        </a:ln>
                        <a:solidFill>
                          <a:srgbClr val="000000"/>
                        </a:solidFill>
                        <a:effectLst/>
                        <a:latin typeface="Calibri" pitchFamily="34" charset="0"/>
                      </a:endParaRPr>
                    </a:p>
                  </a:txBody>
                  <a:tcPr marT="45714" marB="4571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9F1F5"/>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600" b="0" i="0" u="none" strike="noStrike" cap="none" normalizeH="0" baseline="0" dirty="0">
                          <a:ln>
                            <a:noFill/>
                          </a:ln>
                          <a:solidFill>
                            <a:srgbClr val="000000"/>
                          </a:solidFill>
                          <a:effectLst/>
                          <a:latin typeface="Calibri" pitchFamily="34" charset="0"/>
                        </a:rPr>
                        <a:t>97334400</a:t>
                      </a:r>
                      <a:endParaRPr kumimoji="0" lang="en-GB" altLang="en-US" sz="1600" b="0" i="0" u="none" strike="noStrike" cap="none" normalizeH="0" baseline="0" dirty="0">
                        <a:ln>
                          <a:noFill/>
                        </a:ln>
                        <a:solidFill>
                          <a:srgbClr val="C00000"/>
                        </a:solidFill>
                        <a:effectLst/>
                        <a:latin typeface="Calibri" pitchFamily="34" charset="0"/>
                        <a:ea typeface="Calibri" pitchFamily="34" charset="0"/>
                        <a:cs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9F1F5"/>
                    </a:solidFill>
                  </a:tcPr>
                </a:tc>
                <a:extLst>
                  <a:ext uri="{0D108BD9-81ED-4DB2-BD59-A6C34878D82A}">
                    <a16:rowId xmlns:a16="http://schemas.microsoft.com/office/drawing/2014/main" val="10004"/>
                  </a:ext>
                </a:extLst>
              </a:tr>
            </a:tbl>
          </a:graphicData>
        </a:graphic>
      </p:graphicFrame>
      <p:sp>
        <p:nvSpPr>
          <p:cNvPr id="13" name="Rectangle 12"/>
          <p:cNvSpPr/>
          <p:nvPr/>
        </p:nvSpPr>
        <p:spPr>
          <a:xfrm>
            <a:off x="2487613" y="1455738"/>
            <a:ext cx="1044575" cy="360362"/>
          </a:xfrm>
          <a:prstGeom prst="rect">
            <a:avLst/>
          </a:prstGeom>
          <a:noFill/>
          <a:ln w="28575">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630238" y="1455738"/>
            <a:ext cx="935038" cy="360362"/>
          </a:xfrm>
          <a:prstGeom prst="rect">
            <a:avLst/>
          </a:prstGeom>
          <a:noFill/>
          <a:ln w="28575">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3" name="Group 2"/>
          <p:cNvGrpSpPr>
            <a:grpSpLocks/>
          </p:cNvGrpSpPr>
          <p:nvPr/>
        </p:nvGrpSpPr>
        <p:grpSpPr bwMode="auto">
          <a:xfrm>
            <a:off x="657524" y="3114194"/>
            <a:ext cx="7724422" cy="690007"/>
            <a:chOff x="685800" y="4191000"/>
            <a:chExt cx="7724481" cy="690625"/>
          </a:xfrm>
        </p:grpSpPr>
        <p:sp>
          <p:nvSpPr>
            <p:cNvPr id="16" name="TextBox 15"/>
            <p:cNvSpPr txBox="1"/>
            <p:nvPr/>
          </p:nvSpPr>
          <p:spPr>
            <a:xfrm>
              <a:off x="685800" y="4511962"/>
              <a:ext cx="7724481" cy="369663"/>
            </a:xfrm>
            <a:prstGeom prst="rect">
              <a:avLst/>
            </a:prstGeom>
            <a:solidFill>
              <a:srgbClr val="FFFFCC"/>
            </a:solidFill>
          </p:spPr>
          <p:txBody>
            <a:bodyPr wrap="none" lIns="45720" rIns="4572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PURCHASE (</a:t>
              </a:r>
              <a:r>
                <a:rPr kumimoji="0" lang="en-GB" sz="1800" b="0" i="0" u="none" strike="noStrike" kern="1200" cap="none" spc="0" normalizeH="0" baseline="0" noProof="0" dirty="0" err="1">
                  <a:ln>
                    <a:noFill/>
                  </a:ln>
                  <a:solidFill>
                    <a:prstClr val="black"/>
                  </a:solidFill>
                  <a:effectLst/>
                  <a:uLnTx/>
                  <a:uFillTx/>
                  <a:latin typeface="Calibri"/>
                  <a:ea typeface="+mn-ea"/>
                  <a:cs typeface="+mn-cs"/>
                </a:rPr>
                <a:t>PartNo</a:t>
              </a:r>
              <a:r>
                <a:rPr kumimoji="0" lang="en-GB" sz="1800" b="0" i="0" u="none" strike="noStrike" kern="1200" cap="none" spc="0" normalizeH="0" baseline="0" noProof="0" dirty="0">
                  <a:ln>
                    <a:noFill/>
                  </a:ln>
                  <a:solidFill>
                    <a:prstClr val="black"/>
                  </a:solidFill>
                  <a:effectLst/>
                  <a:uLnTx/>
                  <a:uFillTx/>
                  <a:latin typeface="Calibri"/>
                  <a:ea typeface="+mn-ea"/>
                  <a:cs typeface="+mn-cs"/>
                </a:rPr>
                <a:t>, </a:t>
              </a:r>
              <a:r>
                <a:rPr kumimoji="0" lang="en-GB" sz="1800" b="0" i="0" u="none" strike="noStrike" kern="1200" cap="none" spc="0" normalizeH="0" baseline="0" noProof="0" dirty="0" err="1">
                  <a:ln>
                    <a:noFill/>
                  </a:ln>
                  <a:solidFill>
                    <a:prstClr val="black"/>
                  </a:solidFill>
                  <a:effectLst/>
                  <a:uLnTx/>
                  <a:uFillTx/>
                  <a:latin typeface="Calibri"/>
                  <a:ea typeface="+mn-ea"/>
                  <a:cs typeface="+mn-cs"/>
                </a:rPr>
                <a:t>PartDesc</a:t>
              </a:r>
              <a:r>
                <a:rPr kumimoji="0" lang="en-GB" sz="1800" b="0" i="0" u="none" strike="noStrike" kern="1200" cap="none" spc="0" normalizeH="0" baseline="0" noProof="0" dirty="0">
                  <a:ln>
                    <a:noFill/>
                  </a:ln>
                  <a:solidFill>
                    <a:prstClr val="black"/>
                  </a:solidFill>
                  <a:effectLst/>
                  <a:uLnTx/>
                  <a:uFillTx/>
                  <a:latin typeface="Calibri"/>
                  <a:ea typeface="+mn-ea"/>
                  <a:cs typeface="+mn-cs"/>
                </a:rPr>
                <a:t>, </a:t>
              </a:r>
              <a:r>
                <a:rPr kumimoji="0" lang="en-GB" sz="1800" b="0" i="0" u="none" strike="noStrike" kern="1200" cap="none" spc="0" normalizeH="0" baseline="0" noProof="0" dirty="0" err="1">
                  <a:ln>
                    <a:noFill/>
                  </a:ln>
                  <a:solidFill>
                    <a:prstClr val="black"/>
                  </a:solidFill>
                  <a:effectLst/>
                  <a:uLnTx/>
                  <a:uFillTx/>
                  <a:latin typeface="Calibri"/>
                  <a:ea typeface="+mn-ea"/>
                  <a:cs typeface="+mn-cs"/>
                </a:rPr>
                <a:t>SuppNo</a:t>
              </a:r>
              <a:r>
                <a:rPr kumimoji="0" lang="en-GB" sz="1800" b="0" i="0" u="none" strike="noStrike" kern="1200" cap="none" spc="0" normalizeH="0" baseline="0" noProof="0" dirty="0">
                  <a:ln>
                    <a:noFill/>
                  </a:ln>
                  <a:solidFill>
                    <a:prstClr val="black"/>
                  </a:solidFill>
                  <a:effectLst/>
                  <a:uLnTx/>
                  <a:uFillTx/>
                  <a:latin typeface="Calibri"/>
                  <a:ea typeface="+mn-ea"/>
                  <a:cs typeface="+mn-cs"/>
                </a:rPr>
                <a:t>, </a:t>
              </a:r>
              <a:r>
                <a:rPr kumimoji="0" lang="en-GB" sz="1800" b="0" i="0" u="none" strike="noStrike" kern="1200" cap="none" spc="0" normalizeH="0" baseline="0" noProof="0" dirty="0" err="1">
                  <a:ln>
                    <a:noFill/>
                  </a:ln>
                  <a:solidFill>
                    <a:prstClr val="black"/>
                  </a:solidFill>
                  <a:effectLst/>
                  <a:uLnTx/>
                  <a:uFillTx/>
                  <a:latin typeface="Calibri"/>
                  <a:ea typeface="+mn-ea"/>
                  <a:cs typeface="+mn-cs"/>
                </a:rPr>
                <a:t>SuppName</a:t>
              </a:r>
              <a:r>
                <a:rPr kumimoji="0" lang="en-GB" sz="1800" b="0" i="0" u="none" strike="noStrike" kern="1200" cap="none" spc="0" normalizeH="0" baseline="0" noProof="0" dirty="0">
                  <a:ln>
                    <a:noFill/>
                  </a:ln>
                  <a:solidFill>
                    <a:prstClr val="black"/>
                  </a:solidFill>
                  <a:effectLst/>
                  <a:uLnTx/>
                  <a:uFillTx/>
                  <a:latin typeface="Calibri"/>
                  <a:ea typeface="+mn-ea"/>
                  <a:cs typeface="+mn-cs"/>
                </a:rPr>
                <a:t>, </a:t>
              </a:r>
              <a:r>
                <a:rPr kumimoji="0" lang="en-GB" sz="1800" b="0" i="0" u="none" strike="noStrike" kern="1200" cap="none" spc="0" normalizeH="0" baseline="0" noProof="0" dirty="0" err="1">
                  <a:ln>
                    <a:noFill/>
                  </a:ln>
                  <a:solidFill>
                    <a:prstClr val="black"/>
                  </a:solidFill>
                  <a:effectLst/>
                  <a:uLnTx/>
                  <a:uFillTx/>
                  <a:latin typeface="Calibri"/>
                  <a:ea typeface="+mn-ea"/>
                  <a:cs typeface="+mn-cs"/>
                </a:rPr>
                <a:t>SuppAddr</a:t>
              </a:r>
              <a:r>
                <a:rPr kumimoji="0" lang="en-GB" sz="1800" b="0" i="0" u="none" strike="noStrike" kern="1200" cap="none" spc="0" normalizeH="0" baseline="0" noProof="0" dirty="0">
                  <a:ln>
                    <a:noFill/>
                  </a:ln>
                  <a:solidFill>
                    <a:prstClr val="black"/>
                  </a:solidFill>
                  <a:effectLst/>
                  <a:uLnTx/>
                  <a:uFillTx/>
                  <a:latin typeface="Calibri"/>
                  <a:ea typeface="+mn-ea"/>
                  <a:cs typeface="+mn-cs"/>
                </a:rPr>
                <a:t>, Cost, </a:t>
              </a:r>
              <a:r>
                <a:rPr kumimoji="0" lang="en-GB" sz="1800" b="0" i="0" u="none" strike="noStrike" kern="1200" cap="none" spc="0" normalizeH="0" baseline="0" noProof="0" dirty="0" smtClean="0">
                  <a:ln>
                    <a:noFill/>
                  </a:ln>
                  <a:solidFill>
                    <a:prstClr val="black"/>
                  </a:solidFill>
                  <a:effectLst/>
                  <a:uLnTx/>
                  <a:uFillTx/>
                  <a:latin typeface="Calibri"/>
                  <a:ea typeface="+mn-ea"/>
                  <a:cs typeface="+mn-cs"/>
                </a:rPr>
                <a:t>Store, </a:t>
              </a:r>
              <a:r>
                <a:rPr kumimoji="0" lang="en-GB" sz="1800" b="0" i="0" u="none" strike="noStrike" kern="1200" cap="none" spc="0" normalizeH="0" baseline="0" noProof="0" dirty="0">
                  <a:ln>
                    <a:noFill/>
                  </a:ln>
                  <a:solidFill>
                    <a:prstClr val="black"/>
                  </a:solidFill>
                  <a:effectLst/>
                  <a:uLnTx/>
                  <a:uFillTx/>
                  <a:latin typeface="Calibri"/>
                  <a:ea typeface="+mn-ea"/>
                  <a:cs typeface="+mn-cs"/>
                </a:rPr>
                <a:t>Phone)</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8744" name="Rectangle 12"/>
            <p:cNvSpPr>
              <a:spLocks noChangeArrowheads="1"/>
            </p:cNvSpPr>
            <p:nvPr/>
          </p:nvSpPr>
          <p:spPr bwMode="auto">
            <a:xfrm>
              <a:off x="685800" y="4191000"/>
              <a:ext cx="19288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rIns="45720" anchor="ctr">
              <a:spAutoFit/>
            </a:bodyPr>
            <a:lstStyle>
              <a:lvl1pPr marL="342900" indent="-342900" eaLnBrk="0" hangingPunct="0">
                <a:spcBef>
                  <a:spcPct val="20000"/>
                </a:spcBef>
                <a:buFont typeface="Arial" charset="0"/>
                <a:buChar char="•"/>
                <a:defRPr sz="3200">
                  <a:solidFill>
                    <a:schemeClr val="tx1"/>
                  </a:solidFill>
                  <a:latin typeface="Calibri" pitchFamily="34" charset="0"/>
                </a:defRPr>
              </a:lvl1pPr>
              <a:lvl2pPr marL="685800" indent="-68580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685800" marR="0" lvl="1" indent="-685800" algn="l" defTabSz="914400" rtl="0" eaLnBrk="1" fontAlgn="base" latinLnBrk="0" hangingPunct="1">
                <a:lnSpc>
                  <a:spcPct val="100000"/>
                </a:lnSpc>
                <a:spcBef>
                  <a:spcPct val="20000"/>
                </a:spcBef>
                <a:spcAft>
                  <a:spcPct val="0"/>
                </a:spcAft>
                <a:buClrTx/>
                <a:buSzTx/>
                <a:buFont typeface="Wingdings" pitchFamily="2" charset="2"/>
                <a:buNone/>
                <a:tabLst/>
                <a:defRPr/>
              </a:pPr>
              <a:r>
                <a:rPr kumimoji="0" lang="en-US" altLang="zh-SG" sz="2000" b="1" i="0" u="none" strike="noStrike" kern="1200" cap="none" spc="0" normalizeH="0" baseline="0" noProof="0" dirty="0">
                  <a:ln>
                    <a:noFill/>
                  </a:ln>
                  <a:solidFill>
                    <a:prstClr val="black"/>
                  </a:solidFill>
                  <a:effectLst/>
                  <a:uLnTx/>
                  <a:uFillTx/>
                  <a:latin typeface="Calibri" pitchFamily="34" charset="0"/>
                  <a:ea typeface="宋体" panose="02010600030101010101" pitchFamily="2" charset="-122"/>
                  <a:cs typeface="+mn-cs"/>
                </a:rPr>
                <a:t>Original schema :</a:t>
              </a:r>
            </a:p>
          </p:txBody>
        </p:sp>
      </p:grpSp>
      <p:grpSp>
        <p:nvGrpSpPr>
          <p:cNvPr id="4" name="Group 3"/>
          <p:cNvGrpSpPr>
            <a:grpSpLocks/>
          </p:cNvGrpSpPr>
          <p:nvPr/>
        </p:nvGrpSpPr>
        <p:grpSpPr bwMode="auto">
          <a:xfrm>
            <a:off x="472966" y="5142305"/>
            <a:ext cx="7708264" cy="648895"/>
            <a:chOff x="684213" y="5086104"/>
            <a:chExt cx="7708264" cy="648769"/>
          </a:xfrm>
        </p:grpSpPr>
        <p:sp>
          <p:nvSpPr>
            <p:cNvPr id="18" name="TextBox 17"/>
            <p:cNvSpPr txBox="1"/>
            <p:nvPr/>
          </p:nvSpPr>
          <p:spPr>
            <a:xfrm>
              <a:off x="684213" y="5421002"/>
              <a:ext cx="7708264" cy="313871"/>
            </a:xfrm>
            <a:prstGeom prst="rect">
              <a:avLst/>
            </a:prstGeom>
            <a:solidFill>
              <a:srgbClr val="FFFF00"/>
            </a:solidFill>
          </p:spPr>
          <p:txBody>
            <a:bodyPr wrap="none" lIns="18288" tIns="18288" rIns="18288" bIns="18288">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PURCHASE(</a:t>
              </a:r>
              <a:r>
                <a:rPr kumimoji="0" lang="en-GB" sz="1800" b="1" i="0" u="none" strike="noStrike" kern="1200" cap="none" spc="0" normalizeH="0" baseline="0" noProof="0" dirty="0">
                  <a:ln>
                    <a:noFill/>
                  </a:ln>
                  <a:solidFill>
                    <a:prstClr val="black"/>
                  </a:solidFill>
                  <a:effectLst/>
                  <a:uLnTx/>
                  <a:uFillTx/>
                  <a:latin typeface="Calibri"/>
                  <a:ea typeface="+mn-ea"/>
                  <a:cs typeface="+mn-cs"/>
                </a:rPr>
                <a:t> </a:t>
              </a:r>
              <a:r>
                <a:rPr kumimoji="0" lang="en-GB" sz="1800" b="1" i="0" u="sng" strike="noStrike" kern="1200" cap="none" spc="0" normalizeH="0" baseline="0" noProof="0" dirty="0" err="1">
                  <a:ln>
                    <a:noFill/>
                  </a:ln>
                  <a:solidFill>
                    <a:srgbClr val="C00000"/>
                  </a:solidFill>
                  <a:effectLst/>
                  <a:uLnTx/>
                  <a:uFillTx/>
                  <a:latin typeface="Calibri"/>
                  <a:ea typeface="+mn-ea"/>
                  <a:cs typeface="+mn-cs"/>
                </a:rPr>
                <a:t>PartNo</a:t>
              </a:r>
              <a:r>
                <a:rPr kumimoji="0" lang="en-GB" sz="1800" b="0" i="0" u="none" strike="noStrike" kern="1200" cap="none" spc="0" normalizeH="0" baseline="0" noProof="0" dirty="0">
                  <a:ln>
                    <a:noFill/>
                  </a:ln>
                  <a:solidFill>
                    <a:prstClr val="black"/>
                  </a:solidFill>
                  <a:effectLst/>
                  <a:uLnTx/>
                  <a:uFillTx/>
                  <a:latin typeface="Calibri"/>
                  <a:ea typeface="+mn-ea"/>
                  <a:cs typeface="+mn-cs"/>
                </a:rPr>
                <a:t>, </a:t>
              </a:r>
              <a:r>
                <a:rPr kumimoji="0" lang="en-GB" sz="1800" b="0" i="0" u="none" strike="noStrike" kern="1200" cap="none" spc="0" normalizeH="0" baseline="0" noProof="0" dirty="0" err="1">
                  <a:ln>
                    <a:noFill/>
                  </a:ln>
                  <a:solidFill>
                    <a:prstClr val="black"/>
                  </a:solidFill>
                  <a:effectLst/>
                  <a:uLnTx/>
                  <a:uFillTx/>
                  <a:latin typeface="Calibri"/>
                  <a:ea typeface="+mn-ea"/>
                  <a:cs typeface="+mn-cs"/>
                </a:rPr>
                <a:t>PartDesc</a:t>
              </a:r>
              <a:r>
                <a:rPr kumimoji="0" lang="en-GB" sz="1800" b="0" i="0" u="none" strike="noStrike" kern="1200" cap="none" spc="0" normalizeH="0" baseline="0" noProof="0" dirty="0">
                  <a:ln>
                    <a:noFill/>
                  </a:ln>
                  <a:solidFill>
                    <a:prstClr val="black"/>
                  </a:solidFill>
                  <a:effectLst/>
                  <a:uLnTx/>
                  <a:uFillTx/>
                  <a:latin typeface="Calibri"/>
                  <a:ea typeface="+mn-ea"/>
                  <a:cs typeface="+mn-cs"/>
                </a:rPr>
                <a:t>, </a:t>
              </a:r>
              <a:r>
                <a:rPr kumimoji="0" lang="en-GB" sz="1800" b="1" i="0" u="sng" strike="noStrike" kern="1200" cap="none" spc="0" normalizeH="0" baseline="0" noProof="0" dirty="0" err="1">
                  <a:ln>
                    <a:noFill/>
                  </a:ln>
                  <a:solidFill>
                    <a:srgbClr val="C00000"/>
                  </a:solidFill>
                  <a:effectLst/>
                  <a:uLnTx/>
                  <a:uFillTx/>
                  <a:latin typeface="Calibri"/>
                  <a:ea typeface="+mn-ea"/>
                  <a:cs typeface="+mn-cs"/>
                </a:rPr>
                <a:t>SuppNo</a:t>
              </a:r>
              <a:r>
                <a:rPr kumimoji="0" lang="en-GB" sz="1800" b="0" i="0" u="none" strike="noStrike" kern="1200" cap="none" spc="0" normalizeH="0" baseline="0" noProof="0" dirty="0">
                  <a:ln>
                    <a:noFill/>
                  </a:ln>
                  <a:solidFill>
                    <a:prstClr val="black"/>
                  </a:solidFill>
                  <a:effectLst/>
                  <a:uLnTx/>
                  <a:uFillTx/>
                  <a:latin typeface="Calibri"/>
                  <a:ea typeface="+mn-ea"/>
                  <a:cs typeface="+mn-cs"/>
                </a:rPr>
                <a:t>, </a:t>
              </a:r>
              <a:r>
                <a:rPr kumimoji="0" lang="en-GB" sz="1800" b="0" i="0" u="none" strike="noStrike" kern="1200" cap="none" spc="0" normalizeH="0" baseline="0" noProof="0" dirty="0" err="1">
                  <a:ln>
                    <a:noFill/>
                  </a:ln>
                  <a:solidFill>
                    <a:prstClr val="black"/>
                  </a:solidFill>
                  <a:effectLst/>
                  <a:uLnTx/>
                  <a:uFillTx/>
                  <a:latin typeface="Calibri"/>
                  <a:ea typeface="+mn-ea"/>
                  <a:cs typeface="+mn-cs"/>
                </a:rPr>
                <a:t>SuppName</a:t>
              </a:r>
              <a:r>
                <a:rPr kumimoji="0" lang="en-GB" sz="1800" b="0" i="0" u="none" strike="noStrike" kern="1200" cap="none" spc="0" normalizeH="0" baseline="0" noProof="0" dirty="0">
                  <a:ln>
                    <a:noFill/>
                  </a:ln>
                  <a:solidFill>
                    <a:prstClr val="black"/>
                  </a:solidFill>
                  <a:effectLst/>
                  <a:uLnTx/>
                  <a:uFillTx/>
                  <a:latin typeface="Calibri"/>
                  <a:ea typeface="+mn-ea"/>
                  <a:cs typeface="+mn-cs"/>
                </a:rPr>
                <a:t>, </a:t>
              </a:r>
              <a:r>
                <a:rPr kumimoji="0" lang="en-GB" sz="1800" b="0" i="0" u="none" strike="noStrike" kern="1200" cap="none" spc="0" normalizeH="0" baseline="0" noProof="0" dirty="0" err="1">
                  <a:ln>
                    <a:noFill/>
                  </a:ln>
                  <a:solidFill>
                    <a:prstClr val="black"/>
                  </a:solidFill>
                  <a:effectLst/>
                  <a:uLnTx/>
                  <a:uFillTx/>
                  <a:latin typeface="Calibri"/>
                  <a:ea typeface="+mn-ea"/>
                  <a:cs typeface="+mn-cs"/>
                </a:rPr>
                <a:t>SuppAddr</a:t>
              </a:r>
              <a:r>
                <a:rPr kumimoji="0" lang="en-GB" sz="1800" b="0" i="0" u="none" strike="noStrike" kern="1200" cap="none" spc="0" normalizeH="0" baseline="0" noProof="0" dirty="0">
                  <a:ln>
                    <a:noFill/>
                  </a:ln>
                  <a:solidFill>
                    <a:prstClr val="black"/>
                  </a:solidFill>
                  <a:effectLst/>
                  <a:uLnTx/>
                  <a:uFillTx/>
                  <a:latin typeface="Calibri"/>
                  <a:ea typeface="+mn-ea"/>
                  <a:cs typeface="+mn-cs"/>
                </a:rPr>
                <a:t>, Cost, </a:t>
              </a:r>
              <a:r>
                <a:rPr kumimoji="0" lang="en-GB" sz="1800" b="0" i="0" u="none" strike="noStrike" kern="1200" cap="none" spc="0" normalizeH="0" baseline="0" noProof="0" dirty="0" smtClean="0">
                  <a:ln>
                    <a:noFill/>
                  </a:ln>
                  <a:solidFill>
                    <a:prstClr val="black"/>
                  </a:solidFill>
                  <a:effectLst/>
                  <a:uLnTx/>
                  <a:uFillTx/>
                  <a:latin typeface="Calibri"/>
                  <a:ea typeface="+mn-ea"/>
                  <a:cs typeface="+mn-cs"/>
                </a:rPr>
                <a:t>Store, </a:t>
              </a:r>
              <a:r>
                <a:rPr kumimoji="0" lang="en-GB" sz="1800" b="0" i="0" u="none" strike="noStrike" kern="1200" cap="none" spc="0" normalizeH="0" baseline="0" noProof="0" dirty="0">
                  <a:ln>
                    <a:noFill/>
                  </a:ln>
                  <a:solidFill>
                    <a:prstClr val="black"/>
                  </a:solidFill>
                  <a:effectLst/>
                  <a:uLnTx/>
                  <a:uFillTx/>
                  <a:latin typeface="Calibri"/>
                  <a:ea typeface="+mn-ea"/>
                  <a:cs typeface="+mn-cs"/>
                </a:rPr>
                <a:t>Phone)</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8742" name="Rectangle 12"/>
            <p:cNvSpPr>
              <a:spLocks noChangeArrowheads="1"/>
            </p:cNvSpPr>
            <p:nvPr/>
          </p:nvSpPr>
          <p:spPr bwMode="auto">
            <a:xfrm>
              <a:off x="712788" y="5086104"/>
              <a:ext cx="577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rIns="45720" anchor="ctr">
              <a:spAutoFit/>
            </a:bodyPr>
            <a:lstStyle>
              <a:lvl1pPr marL="342900" indent="-342900" eaLnBrk="0" hangingPunct="0">
                <a:spcBef>
                  <a:spcPct val="20000"/>
                </a:spcBef>
                <a:buFont typeface="Arial" charset="0"/>
                <a:buChar char="•"/>
                <a:defRPr sz="3200">
                  <a:solidFill>
                    <a:schemeClr val="tx1"/>
                  </a:solidFill>
                  <a:latin typeface="Calibri" pitchFamily="34" charset="0"/>
                </a:defRPr>
              </a:lvl1pPr>
              <a:lvl2pPr marL="685800" indent="-68580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685800" marR="0" lvl="1" indent="-685800" algn="l" defTabSz="914400" rtl="0" eaLnBrk="1" fontAlgn="base" latinLnBrk="0" hangingPunct="1">
                <a:lnSpc>
                  <a:spcPct val="100000"/>
                </a:lnSpc>
                <a:spcBef>
                  <a:spcPct val="20000"/>
                </a:spcBef>
                <a:spcAft>
                  <a:spcPct val="0"/>
                </a:spcAft>
                <a:buClrTx/>
                <a:buSzTx/>
                <a:buFont typeface="Wingdings" pitchFamily="2" charset="2"/>
                <a:buNone/>
                <a:tabLst/>
                <a:defRPr/>
              </a:pPr>
              <a:r>
                <a:rPr kumimoji="0" lang="en-US" altLang="zh-SG" sz="2000" b="1" i="0" u="none" strike="noStrike" kern="1200" cap="none" spc="0" normalizeH="0" baseline="0" noProof="0" dirty="0">
                  <a:ln>
                    <a:noFill/>
                  </a:ln>
                  <a:solidFill>
                    <a:prstClr val="black"/>
                  </a:solidFill>
                  <a:effectLst/>
                  <a:uLnTx/>
                  <a:uFillTx/>
                  <a:latin typeface="Calibri" pitchFamily="34" charset="0"/>
                  <a:ea typeface="宋体" panose="02010600030101010101" pitchFamily="2" charset="-122"/>
                  <a:cs typeface="+mn-cs"/>
                </a:rPr>
                <a:t>1NF:</a:t>
              </a:r>
            </a:p>
          </p:txBody>
        </p:sp>
      </p:grpSp>
      <p:sp>
        <p:nvSpPr>
          <p:cNvPr id="14" name="Rectangle 13"/>
          <p:cNvSpPr/>
          <p:nvPr/>
        </p:nvSpPr>
        <p:spPr>
          <a:xfrm>
            <a:off x="2490788" y="1879600"/>
            <a:ext cx="1044575" cy="360363"/>
          </a:xfrm>
          <a:prstGeom prst="rect">
            <a:avLst/>
          </a:prstGeom>
          <a:noFill/>
          <a:ln w="28575">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p:nvSpPr>
        <p:spPr>
          <a:xfrm>
            <a:off x="633413" y="1879600"/>
            <a:ext cx="935038" cy="360363"/>
          </a:xfrm>
          <a:prstGeom prst="rect">
            <a:avLst/>
          </a:prstGeom>
          <a:noFill/>
          <a:ln w="28575">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 Box 295"/>
          <p:cNvSpPr txBox="1">
            <a:spLocks noChangeArrowheads="1"/>
          </p:cNvSpPr>
          <p:nvPr/>
        </p:nvSpPr>
        <p:spPr bwMode="auto">
          <a:xfrm>
            <a:off x="685800" y="5964793"/>
            <a:ext cx="8136000" cy="590931"/>
          </a:xfrm>
          <a:prstGeom prst="rect">
            <a:avLst/>
          </a:prstGeom>
          <a:solidFill>
            <a:srgbClr val="FFFFCC"/>
          </a:solidFill>
          <a:ln w="12700">
            <a:noFill/>
            <a:miter lim="800000"/>
            <a:headEnd type="none" w="sm" len="sm"/>
            <a:tailEnd type="none" w="sm" len="sm"/>
          </a:ln>
        </p:spPr>
        <p:txBody>
          <a:bodyPr lIns="18288" tIns="18288" rIns="18288" bIns="18288">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lang="en-US" dirty="0" smtClean="0">
                <a:solidFill>
                  <a:prstClr val="black"/>
                </a:solidFill>
                <a:latin typeface="Calibri"/>
              </a:rPr>
              <a:t>By considering</a:t>
            </a:r>
            <a:r>
              <a:rPr kumimoji="0" lang="en-US" sz="1800" b="0" i="0" u="none" strike="noStrike" kern="1200" cap="none" spc="0" normalizeH="0" noProof="0" dirty="0" smtClean="0">
                <a:ln>
                  <a:noFill/>
                </a:ln>
                <a:solidFill>
                  <a:prstClr val="black"/>
                </a:solidFill>
                <a:effectLst/>
                <a:uLnTx/>
                <a:uFillTx/>
                <a:latin typeface="Calibri"/>
                <a:ea typeface="+mn-ea"/>
                <a:cs typeface="+mn-cs"/>
              </a:rPr>
              <a:t> </a:t>
            </a:r>
            <a:r>
              <a:rPr kumimoji="0" lang="en-US" sz="1800" b="0" i="0" u="none" strike="noStrike" kern="1200" cap="none" spc="0" normalizeH="0" baseline="0" noProof="0" dirty="0" smtClean="0">
                <a:ln>
                  <a:noFill/>
                </a:ln>
                <a:solidFill>
                  <a:srgbClr val="FF0000"/>
                </a:solidFill>
                <a:effectLst/>
                <a:uLnTx/>
                <a:uFillTx/>
                <a:latin typeface="Calibri"/>
                <a:ea typeface="+mn-ea"/>
                <a:cs typeface="+mn-cs"/>
              </a:rPr>
              <a:t>both </a:t>
            </a:r>
            <a:r>
              <a:rPr kumimoji="0" lang="en-US" sz="1800" b="0" i="0" u="none" strike="noStrike" kern="1200" cap="none" spc="0" normalizeH="0" baseline="0" noProof="0" dirty="0">
                <a:ln>
                  <a:noFill/>
                </a:ln>
                <a:solidFill>
                  <a:srgbClr val="FF0000"/>
                </a:solidFill>
                <a:effectLst/>
                <a:uLnTx/>
                <a:uFillTx/>
                <a:latin typeface="Calibri"/>
                <a:ea typeface="+mn-ea"/>
                <a:cs typeface="+mn-cs"/>
              </a:rPr>
              <a:t>‘</a:t>
            </a:r>
            <a:r>
              <a:rPr kumimoji="0" lang="en-US" sz="1800" b="0" i="0" u="none" strike="noStrike" kern="1200" cap="none" spc="0" normalizeH="0" baseline="0" noProof="0" dirty="0" err="1">
                <a:ln>
                  <a:noFill/>
                </a:ln>
                <a:solidFill>
                  <a:srgbClr val="FF0000"/>
                </a:solidFill>
                <a:effectLst/>
                <a:uLnTx/>
                <a:uFillTx/>
                <a:latin typeface="Calibri"/>
                <a:ea typeface="+mn-ea"/>
                <a:cs typeface="+mn-cs"/>
              </a:rPr>
              <a:t>PartNo</a:t>
            </a:r>
            <a:r>
              <a:rPr kumimoji="0" lang="en-US" sz="1800" b="0" i="0" u="none" strike="noStrike" kern="1200" cap="none" spc="0" normalizeH="0" baseline="0" noProof="0" dirty="0">
                <a:ln>
                  <a:noFill/>
                </a:ln>
                <a:solidFill>
                  <a:srgbClr val="FF0000"/>
                </a:solidFill>
                <a:effectLst/>
                <a:uLnTx/>
                <a:uFillTx/>
                <a:latin typeface="Calibri"/>
                <a:ea typeface="+mn-ea"/>
                <a:cs typeface="+mn-cs"/>
              </a:rPr>
              <a:t>’ and ‘</a:t>
            </a:r>
            <a:r>
              <a:rPr kumimoji="0" lang="en-US" sz="1800" b="0" i="0" u="none" strike="noStrike" kern="1200" cap="none" spc="0" normalizeH="0" baseline="0" noProof="0" dirty="0" err="1">
                <a:ln>
                  <a:noFill/>
                </a:ln>
                <a:solidFill>
                  <a:srgbClr val="FF0000"/>
                </a:solidFill>
                <a:effectLst/>
                <a:uLnTx/>
                <a:uFillTx/>
                <a:latin typeface="Calibri"/>
                <a:ea typeface="+mn-ea"/>
                <a:cs typeface="+mn-cs"/>
              </a:rPr>
              <a:t>SuppNo</a:t>
            </a:r>
            <a:r>
              <a:rPr kumimoji="0" lang="en-US" sz="1800" b="0" i="0" u="none" strike="noStrike" kern="1200" cap="none" spc="0" normalizeH="0" baseline="0" noProof="0" dirty="0">
                <a:ln>
                  <a:noFill/>
                </a:ln>
                <a:solidFill>
                  <a:srgbClr val="FF0000"/>
                </a:solidFill>
                <a:effectLst/>
                <a:uLnTx/>
                <a:uFillTx/>
                <a:latin typeface="Calibri"/>
                <a:ea typeface="+mn-ea"/>
                <a:cs typeface="+mn-cs"/>
              </a:rPr>
              <a:t>’ </a:t>
            </a:r>
            <a:r>
              <a:rPr kumimoji="0" lang="en-US" sz="1800" b="0" i="0" u="none" strike="noStrike" kern="1200" cap="none" spc="0" normalizeH="0" baseline="0" noProof="0" dirty="0">
                <a:ln>
                  <a:noFill/>
                </a:ln>
                <a:solidFill>
                  <a:prstClr val="black"/>
                </a:solidFill>
                <a:effectLst/>
                <a:uLnTx/>
                <a:uFillTx/>
                <a:latin typeface="Calibri"/>
                <a:ea typeface="+mn-ea"/>
                <a:cs typeface="+mn-cs"/>
              </a:rPr>
              <a:t>together </a:t>
            </a:r>
            <a:r>
              <a:rPr kumimoji="0" lang="en-US" sz="1800" b="0" i="0" u="sng" strike="noStrike" kern="1200" cap="none" spc="0" normalizeH="0" baseline="0" noProof="0" dirty="0">
                <a:ln>
                  <a:noFill/>
                </a:ln>
                <a:solidFill>
                  <a:srgbClr val="FF0000"/>
                </a:solidFill>
                <a:effectLst/>
                <a:uLnTx/>
                <a:uFillTx/>
                <a:latin typeface="Calibri"/>
                <a:ea typeface="+mn-ea"/>
                <a:cs typeface="+mn-cs"/>
              </a:rPr>
              <a:t>as a composite </a:t>
            </a:r>
            <a:r>
              <a:rPr kumimoji="0" lang="en-US" sz="1800" b="0" i="0" strike="noStrike" kern="1200" cap="none" spc="0" normalizeH="0" baseline="0" noProof="0" dirty="0" smtClean="0">
                <a:ln>
                  <a:noFill/>
                </a:ln>
                <a:solidFill>
                  <a:srgbClr val="FF0000"/>
                </a:solidFill>
                <a:effectLst/>
                <a:uLnTx/>
                <a:uFillTx/>
                <a:latin typeface="Calibri"/>
                <a:ea typeface="+mn-ea"/>
                <a:cs typeface="+mn-cs"/>
              </a:rPr>
              <a:t>key</a:t>
            </a:r>
            <a:r>
              <a:rPr kumimoji="0" lang="en-US" sz="1800" b="0" i="0" u="none" strike="noStrike" kern="1200" cap="none" spc="0" normalizeH="0" baseline="0" noProof="0" dirty="0" smtClean="0">
                <a:ln>
                  <a:noFill/>
                </a:ln>
                <a:solidFill>
                  <a:prstClr val="black"/>
                </a:solidFill>
                <a:effectLst/>
                <a:uLnTx/>
                <a:uFillTx/>
                <a:latin typeface="Calibri"/>
                <a:ea typeface="+mn-ea"/>
                <a:cs typeface="+mn-cs"/>
              </a:rPr>
              <a:t>, </a:t>
            </a:r>
            <a:r>
              <a:rPr kumimoji="0" lang="en-US" sz="1800" b="0" i="0" u="none" strike="noStrike" kern="1200" cap="none" spc="0" normalizeH="0" baseline="0" noProof="0" dirty="0">
                <a:ln>
                  <a:noFill/>
                </a:ln>
                <a:solidFill>
                  <a:prstClr val="black"/>
                </a:solidFill>
                <a:effectLst/>
                <a:uLnTx/>
                <a:uFillTx/>
                <a:latin typeface="Calibri"/>
                <a:ea typeface="+mn-ea"/>
                <a:cs typeface="+mn-cs"/>
              </a:rPr>
              <a:t>it can uniquely identify all tuples in the </a:t>
            </a:r>
            <a:r>
              <a:rPr kumimoji="0" lang="en-US" sz="1800" b="0" i="0" u="none" strike="noStrike" kern="1200" cap="none" spc="0" normalizeH="0" baseline="0" noProof="0" dirty="0" smtClean="0">
                <a:ln>
                  <a:noFill/>
                </a:ln>
                <a:solidFill>
                  <a:srgbClr val="FF0000"/>
                </a:solidFill>
                <a:effectLst/>
                <a:uLnTx/>
                <a:uFillTx/>
                <a:latin typeface="Calibri"/>
                <a:ea typeface="+mn-ea"/>
                <a:cs typeface="+mn-cs"/>
              </a:rPr>
              <a:t>relation.</a:t>
            </a:r>
            <a:endParaRPr kumimoji="0" lang="en-US" sz="1800" b="0" i="0" u="none" strike="noStrike" kern="1200" cap="none" spc="0" normalizeH="0" baseline="0" noProof="0" dirty="0">
              <a:ln>
                <a:noFill/>
              </a:ln>
              <a:solidFill>
                <a:srgbClr val="FF0000"/>
              </a:solidFill>
              <a:effectLst/>
              <a:uLnTx/>
              <a:uFillTx/>
              <a:latin typeface="Calibri"/>
              <a:ea typeface="+mn-ea"/>
              <a:cs typeface="+mn-cs"/>
            </a:endParaRPr>
          </a:p>
        </p:txBody>
      </p:sp>
      <p:sp>
        <p:nvSpPr>
          <p:cNvPr id="20" name="Text Box 464"/>
          <p:cNvSpPr txBox="1">
            <a:spLocks noChangeArrowheads="1"/>
          </p:cNvSpPr>
          <p:nvPr/>
        </p:nvSpPr>
        <p:spPr bwMode="auto">
          <a:xfrm>
            <a:off x="551408" y="3946418"/>
            <a:ext cx="5362430" cy="714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18288" tIns="18288" rIns="18288" bIns="18288">
            <a:spAutoFit/>
          </a:bodyPr>
          <a:lstStyle>
            <a:lvl1pPr marL="285750" indent="-285750"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Tx/>
              <a:buSzTx/>
              <a:buFont typeface="Arial" charset="0"/>
              <a:buNone/>
              <a:tabLst/>
              <a:defRPr/>
            </a:pPr>
            <a:r>
              <a:rPr kumimoji="0" lang="en-SG" altLang="en-US" sz="2000" b="0" i="0" u="none" strike="noStrike" kern="1200" cap="none" spc="0" normalizeH="0" baseline="0" noProof="0" dirty="0">
                <a:ln>
                  <a:noFill/>
                </a:ln>
                <a:solidFill>
                  <a:srgbClr val="FF0000"/>
                </a:solidFill>
                <a:effectLst/>
                <a:uLnTx/>
                <a:uFillTx/>
                <a:latin typeface="Calibri" pitchFamily="34" charset="0"/>
                <a:ea typeface="Calibri" pitchFamily="34" charset="0"/>
                <a:cs typeface="Calibri" pitchFamily="34" charset="0"/>
              </a:rPr>
              <a:t>Step1: </a:t>
            </a:r>
            <a:r>
              <a:rPr kumimoji="0" lang="en-US" altLang="en-US" sz="2000" b="0" i="0" u="none" strike="noStrike" kern="1200" cap="none" spc="0" normalizeH="0" baseline="0" noProof="0" dirty="0">
                <a:ln>
                  <a:noFill/>
                </a:ln>
                <a:solidFill>
                  <a:srgbClr val="FF0000"/>
                </a:solidFill>
                <a:effectLst/>
                <a:uLnTx/>
                <a:uFillTx/>
                <a:latin typeface="Calibri" pitchFamily="34" charset="0"/>
                <a:ea typeface="Calibri" pitchFamily="34" charset="0"/>
                <a:cs typeface="Calibri" pitchFamily="34" charset="0"/>
              </a:rPr>
              <a:t>Identify repeating group and remove them</a:t>
            </a:r>
          </a:p>
          <a:p>
            <a:pPr marL="0" marR="0" lvl="0" indent="0" algn="l" defTabSz="914400" rtl="0" eaLnBrk="1" fontAlgn="base" latinLnBrk="0" hangingPunct="1">
              <a:lnSpc>
                <a:spcPct val="100000"/>
              </a:lnSpc>
              <a:spcBef>
                <a:spcPct val="20000"/>
              </a:spcBef>
              <a:spcAft>
                <a:spcPct val="0"/>
              </a:spcAft>
              <a:buClrTx/>
              <a:buSzTx/>
              <a:buFont typeface="Arial" charset="0"/>
              <a:buNone/>
              <a:tabLst/>
              <a:defRPr/>
            </a:pPr>
            <a:r>
              <a:rPr kumimoji="0" lang="en-US" altLang="en-US" sz="2000" b="0" i="0" u="none" strike="noStrike" kern="1200" cap="none" spc="0" normalizeH="0" baseline="0" noProof="0" dirty="0">
                <a:ln>
                  <a:noFill/>
                </a:ln>
                <a:solidFill>
                  <a:prstClr val="black"/>
                </a:solidFill>
                <a:effectLst/>
                <a:uLnTx/>
                <a:uFillTx/>
                <a:latin typeface="Calibri" pitchFamily="34" charset="0"/>
                <a:ea typeface="Calibri" pitchFamily="34" charset="0"/>
                <a:cs typeface="Calibri" pitchFamily="34" charset="0"/>
              </a:rPr>
              <a:t>- </a:t>
            </a:r>
            <a:r>
              <a:rPr kumimoji="0" lang="en-US" altLang="en-US" sz="2000" b="0" i="0" u="none" strike="noStrike" kern="1200" cap="none" spc="0" normalizeH="0" baseline="0" noProof="0" dirty="0" smtClean="0">
                <a:ln>
                  <a:noFill/>
                </a:ln>
                <a:solidFill>
                  <a:prstClr val="black"/>
                </a:solidFill>
                <a:effectLst/>
                <a:uLnTx/>
                <a:uFillTx/>
                <a:latin typeface="Calibri" pitchFamily="34" charset="0"/>
                <a:ea typeface="Calibri" pitchFamily="34" charset="0"/>
                <a:cs typeface="Calibri" pitchFamily="34" charset="0"/>
              </a:rPr>
              <a:t>Part &amp; Supplier alone have repeating group.</a:t>
            </a:r>
            <a:endParaRPr kumimoji="0" lang="en-US" altLang="en-US" sz="2000" b="0" i="0" u="none" strike="noStrike" kern="1200" cap="none" spc="0" normalizeH="0" baseline="0" noProof="0" dirty="0">
              <a:ln>
                <a:noFill/>
              </a:ln>
              <a:solidFill>
                <a:prstClr val="black"/>
              </a:solidFill>
              <a:effectLst/>
              <a:uLnTx/>
              <a:uFillTx/>
              <a:latin typeface="Calibri" pitchFamily="34" charset="0"/>
              <a:ea typeface="Calibri" pitchFamily="34" charset="0"/>
              <a:cs typeface="Calibri" pitchFamily="34" charset="0"/>
            </a:endParaRPr>
          </a:p>
        </p:txBody>
      </p:sp>
      <p:sp>
        <p:nvSpPr>
          <p:cNvPr id="21" name="Text Box 464"/>
          <p:cNvSpPr txBox="1">
            <a:spLocks noChangeArrowheads="1"/>
          </p:cNvSpPr>
          <p:nvPr/>
        </p:nvSpPr>
        <p:spPr bwMode="auto">
          <a:xfrm>
            <a:off x="550608" y="4772978"/>
            <a:ext cx="8576002" cy="344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18288" tIns="18288" rIns="18288" bIns="18288">
            <a:spAutoFit/>
          </a:bodyPr>
          <a:lstStyle>
            <a:lvl1pPr marL="285750" indent="-285750"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Tx/>
              <a:buSzTx/>
              <a:buFont typeface="Arial" charset="0"/>
              <a:buNone/>
              <a:tabLst/>
              <a:defRPr/>
            </a:pPr>
            <a:r>
              <a:rPr kumimoji="0" lang="en-US" altLang="en-US" sz="2000" b="0" i="0" u="none" strike="noStrike" kern="1200" cap="none" spc="0" normalizeH="0" baseline="0" noProof="0" dirty="0" smtClean="0">
                <a:ln>
                  <a:noFill/>
                </a:ln>
                <a:solidFill>
                  <a:srgbClr val="FF0000"/>
                </a:solidFill>
                <a:effectLst/>
                <a:uLnTx/>
                <a:uFillTx/>
                <a:latin typeface="Calibri" pitchFamily="34" charset="0"/>
                <a:ea typeface="Calibri" pitchFamily="34" charset="0"/>
                <a:cs typeface="Calibri" pitchFamily="34" charset="0"/>
              </a:rPr>
              <a:t>Step2</a:t>
            </a:r>
            <a:r>
              <a:rPr kumimoji="0" lang="en-US" altLang="en-US" sz="2000" b="0" i="0" u="none" strike="noStrike" kern="1200" cap="none" spc="0" normalizeH="0" baseline="0" noProof="0" dirty="0">
                <a:ln>
                  <a:noFill/>
                </a:ln>
                <a:solidFill>
                  <a:srgbClr val="FF0000"/>
                </a:solidFill>
                <a:effectLst/>
                <a:uLnTx/>
                <a:uFillTx/>
                <a:latin typeface="Calibri" pitchFamily="34" charset="0"/>
                <a:ea typeface="Calibri" pitchFamily="34" charset="0"/>
                <a:cs typeface="Calibri" pitchFamily="34" charset="0"/>
              </a:rPr>
              <a:t>: Identify and underline the key attributes in the </a:t>
            </a:r>
            <a:r>
              <a:rPr kumimoji="0" lang="en-US" altLang="en-US" sz="2000" b="0" i="0" u="none" strike="noStrike" kern="1200" cap="none" spc="0" normalizeH="0" baseline="0" noProof="0" dirty="0" smtClean="0">
                <a:ln>
                  <a:noFill/>
                </a:ln>
                <a:solidFill>
                  <a:srgbClr val="FF0000"/>
                </a:solidFill>
                <a:effectLst/>
                <a:uLnTx/>
                <a:uFillTx/>
                <a:latin typeface="Calibri" pitchFamily="34" charset="0"/>
                <a:ea typeface="Calibri" pitchFamily="34" charset="0"/>
                <a:cs typeface="Calibri" pitchFamily="34" charset="0"/>
              </a:rPr>
              <a:t>relation </a:t>
            </a:r>
            <a:r>
              <a:rPr kumimoji="0" lang="en-US" altLang="en-US" sz="2000" b="0" i="0" u="none" strike="noStrike" kern="1200" cap="none" spc="0" normalizeH="0" baseline="0" noProof="0" dirty="0" smtClean="0">
                <a:ln>
                  <a:noFill/>
                </a:ln>
                <a:solidFill>
                  <a:schemeClr val="tx2">
                    <a:lumMod val="75000"/>
                  </a:schemeClr>
                </a:solidFill>
                <a:effectLst/>
                <a:uLnTx/>
                <a:uFillTx/>
                <a:latin typeface="Calibri" pitchFamily="34" charset="0"/>
                <a:ea typeface="Calibri" pitchFamily="34" charset="0"/>
                <a:cs typeface="Calibri" pitchFamily="34" charset="0"/>
              </a:rPr>
              <a:t>– </a:t>
            </a:r>
            <a:r>
              <a:rPr kumimoji="0" lang="en-US" altLang="en-US" sz="2000" b="0" i="0" u="none" strike="noStrike" kern="1200" cap="none" spc="0" normalizeH="0" baseline="0" noProof="0" dirty="0" err="1" smtClean="0">
                <a:ln>
                  <a:noFill/>
                </a:ln>
                <a:solidFill>
                  <a:schemeClr val="tx2">
                    <a:lumMod val="75000"/>
                  </a:schemeClr>
                </a:solidFill>
                <a:effectLst/>
                <a:uLnTx/>
                <a:uFillTx/>
                <a:latin typeface="Calibri" pitchFamily="34" charset="0"/>
                <a:ea typeface="Calibri" pitchFamily="34" charset="0"/>
                <a:cs typeface="Calibri" pitchFamily="34" charset="0"/>
              </a:rPr>
              <a:t>PartNo</a:t>
            </a:r>
            <a:r>
              <a:rPr kumimoji="0" lang="en-US" altLang="en-US" sz="2000" b="0" i="0" u="none" strike="noStrike" kern="1200" cap="none" spc="0" normalizeH="0" baseline="0" noProof="0" dirty="0" smtClean="0">
                <a:ln>
                  <a:noFill/>
                </a:ln>
                <a:solidFill>
                  <a:schemeClr val="tx2">
                    <a:lumMod val="75000"/>
                  </a:schemeClr>
                </a:solidFill>
                <a:effectLst/>
                <a:uLnTx/>
                <a:uFillTx/>
                <a:latin typeface="Calibri" pitchFamily="34" charset="0"/>
                <a:ea typeface="Calibri" pitchFamily="34" charset="0"/>
                <a:cs typeface="Calibri" pitchFamily="34" charset="0"/>
              </a:rPr>
              <a:t> &amp; </a:t>
            </a:r>
            <a:r>
              <a:rPr kumimoji="0" lang="en-US" altLang="en-US" sz="2000" b="0" i="0" u="none" strike="noStrike" kern="1200" cap="none" spc="0" normalizeH="0" baseline="0" noProof="0" dirty="0" err="1" smtClean="0">
                <a:ln>
                  <a:noFill/>
                </a:ln>
                <a:solidFill>
                  <a:schemeClr val="tx2">
                    <a:lumMod val="75000"/>
                  </a:schemeClr>
                </a:solidFill>
                <a:effectLst/>
                <a:uLnTx/>
                <a:uFillTx/>
                <a:latin typeface="Calibri" pitchFamily="34" charset="0"/>
                <a:ea typeface="Calibri" pitchFamily="34" charset="0"/>
                <a:cs typeface="Calibri" pitchFamily="34" charset="0"/>
              </a:rPr>
              <a:t>SuppNo</a:t>
            </a:r>
            <a:endParaRPr kumimoji="0" lang="en-US" altLang="en-US" sz="2000" b="0" i="0" u="none" strike="noStrike" kern="1200" cap="none" spc="0" normalizeH="0" baseline="0" noProof="0" dirty="0">
              <a:ln>
                <a:noFill/>
              </a:ln>
              <a:solidFill>
                <a:schemeClr val="tx2">
                  <a:lumMod val="75000"/>
                </a:schemeClr>
              </a:solidFill>
              <a:effectLst/>
              <a:uLnTx/>
              <a:uFillTx/>
              <a:latin typeface="Calibri" pitchFamily="34" charset="0"/>
              <a:ea typeface="Calibri" pitchFamily="34" charset="0"/>
              <a:cs typeface="Calibri" pitchFamily="34" charset="0"/>
            </a:endParaRPr>
          </a:p>
        </p:txBody>
      </p:sp>
    </p:spTree>
    <p:extLst>
      <p:ext uri="{BB962C8B-B14F-4D97-AF65-F5344CB8AC3E}">
        <p14:creationId xmlns:p14="http://schemas.microsoft.com/office/powerpoint/2010/main" val="788150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500"/>
                                        <p:tgtEl>
                                          <p:spTgt spid="21"/>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500"/>
                                        <p:tgtEl>
                                          <p:spTgt spid="4"/>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wipe(left)">
                                      <p:cBhvr>
                                        <p:cTn id="2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p:bldP spid="21"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6" name="Title 1"/>
          <p:cNvSpPr>
            <a:spLocks noGrp="1"/>
          </p:cNvSpPr>
          <p:nvPr>
            <p:ph type="ctrTitle" idx="4294967295"/>
          </p:nvPr>
        </p:nvSpPr>
        <p:spPr>
          <a:xfrm>
            <a:off x="685800" y="228600"/>
            <a:ext cx="4075209" cy="565146"/>
          </a:xfrm>
        </p:spPr>
        <p:txBody>
          <a:bodyPr wrap="none" lIns="36000" tIns="36000" rIns="36000" bIns="36000" anchor="t">
            <a:spAutoFit/>
          </a:bodyPr>
          <a:lstStyle/>
          <a:p>
            <a:pPr algn="l" eaLnBrk="1" hangingPunct="1">
              <a:defRPr/>
            </a:pPr>
            <a:r>
              <a:rPr lang="en-GB" sz="3200" b="1" dirty="0" smtClean="0">
                <a:solidFill>
                  <a:srgbClr val="C00000"/>
                </a:solidFill>
                <a:latin typeface="+mn-lt"/>
              </a:rPr>
              <a:t>First Normal Form(1NF)</a:t>
            </a:r>
            <a:endParaRPr lang="en-US" sz="3200" b="1" dirty="0" smtClean="0">
              <a:solidFill>
                <a:srgbClr val="C00000"/>
              </a:solidFill>
              <a:latin typeface="+mn-lt"/>
            </a:endParaRPr>
          </a:p>
        </p:txBody>
      </p:sp>
      <p:graphicFrame>
        <p:nvGraphicFramePr>
          <p:cNvPr id="15" name="Table 14">
            <a:extLst>
              <a:ext uri="{FF2B5EF4-FFF2-40B4-BE49-F238E27FC236}">
                <a16:creationId xmlns:a16="http://schemas.microsoft.com/office/drawing/2014/main" id="{EB83D72D-1B60-4BCE-BE3D-43FFE90D1D0D}"/>
              </a:ext>
            </a:extLst>
          </p:cNvPr>
          <p:cNvGraphicFramePr>
            <a:graphicFrameLocks noGrp="1"/>
          </p:cNvGraphicFramePr>
          <p:nvPr>
            <p:extLst>
              <p:ext uri="{D42A27DB-BD31-4B8C-83A1-F6EECF244321}">
                <p14:modId xmlns:p14="http://schemas.microsoft.com/office/powerpoint/2010/main" val="1040186936"/>
              </p:ext>
            </p:extLst>
          </p:nvPr>
        </p:nvGraphicFramePr>
        <p:xfrm>
          <a:off x="685800" y="1143000"/>
          <a:ext cx="7863840" cy="3207044"/>
        </p:xfrm>
        <a:graphic>
          <a:graphicData uri="http://schemas.openxmlformats.org/drawingml/2006/table">
            <a:tbl>
              <a:tblPr firstRow="1" bandRow="1">
                <a:tableStyleId>{5C22544A-7EE6-4342-B048-85BDC9FD1C3A}</a:tableStyleId>
              </a:tblPr>
              <a:tblGrid>
                <a:gridCol w="1066800">
                  <a:extLst>
                    <a:ext uri="{9D8B030D-6E8A-4147-A177-3AD203B41FA5}">
                      <a16:colId xmlns:a16="http://schemas.microsoft.com/office/drawing/2014/main" val="3882139002"/>
                    </a:ext>
                  </a:extLst>
                </a:gridCol>
                <a:gridCol w="6797040">
                  <a:extLst>
                    <a:ext uri="{9D8B030D-6E8A-4147-A177-3AD203B41FA5}">
                      <a16:colId xmlns:a16="http://schemas.microsoft.com/office/drawing/2014/main" val="4234293058"/>
                    </a:ext>
                  </a:extLst>
                </a:gridCol>
              </a:tblGrid>
              <a:tr h="658642">
                <a:tc>
                  <a:txBody>
                    <a:bodyPr/>
                    <a:lstStyle/>
                    <a:p>
                      <a:pPr algn="ctr"/>
                      <a:r>
                        <a:rPr lang="en-SG" sz="2000" b="0" dirty="0">
                          <a:solidFill>
                            <a:schemeClr val="tx1"/>
                          </a:solidFill>
                        </a:rPr>
                        <a:t>Original </a:t>
                      </a:r>
                    </a:p>
                  </a:txBody>
                  <a:tcPr marL="18288" marR="18288" marT="91440" marB="91440">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solidFill>
                            <a:schemeClr val="tx1"/>
                          </a:solidFill>
                          <a:latin typeface="+mn-lt"/>
                        </a:rPr>
                        <a:t>PURCHASE </a:t>
                      </a:r>
                      <a:r>
                        <a:rPr lang="en-GB" sz="2000" b="0" dirty="0">
                          <a:solidFill>
                            <a:schemeClr val="tx1"/>
                          </a:solidFill>
                          <a:latin typeface="+mn-lt"/>
                        </a:rPr>
                        <a:t>(</a:t>
                      </a:r>
                      <a:r>
                        <a:rPr lang="en-GB" sz="2000" b="0" dirty="0" err="1">
                          <a:solidFill>
                            <a:schemeClr val="tx1"/>
                          </a:solidFill>
                          <a:latin typeface="+mn-lt"/>
                        </a:rPr>
                        <a:t>PartNo</a:t>
                      </a:r>
                      <a:r>
                        <a:rPr lang="en-GB" sz="2000" b="0" dirty="0">
                          <a:solidFill>
                            <a:schemeClr val="tx1"/>
                          </a:solidFill>
                          <a:latin typeface="+mn-lt"/>
                        </a:rPr>
                        <a:t>, </a:t>
                      </a:r>
                      <a:r>
                        <a:rPr lang="en-GB" sz="2000" b="0" dirty="0" err="1">
                          <a:solidFill>
                            <a:schemeClr val="tx1"/>
                          </a:solidFill>
                          <a:latin typeface="+mn-lt"/>
                        </a:rPr>
                        <a:t>PartDesc</a:t>
                      </a:r>
                      <a:r>
                        <a:rPr lang="en-GB" sz="2000" b="0" dirty="0">
                          <a:solidFill>
                            <a:schemeClr val="tx1"/>
                          </a:solidFill>
                          <a:latin typeface="+mn-lt"/>
                        </a:rPr>
                        <a:t>, </a:t>
                      </a:r>
                      <a:r>
                        <a:rPr lang="en-GB" sz="2000" b="0" dirty="0" err="1">
                          <a:solidFill>
                            <a:schemeClr val="tx1"/>
                          </a:solidFill>
                          <a:latin typeface="+mn-lt"/>
                        </a:rPr>
                        <a:t>SuppNo</a:t>
                      </a:r>
                      <a:r>
                        <a:rPr lang="en-GB" sz="2000" b="0" dirty="0">
                          <a:solidFill>
                            <a:schemeClr val="tx1"/>
                          </a:solidFill>
                          <a:latin typeface="+mn-lt"/>
                        </a:rPr>
                        <a:t>, </a:t>
                      </a:r>
                      <a:r>
                        <a:rPr lang="en-GB" sz="2000" b="0" dirty="0" err="1">
                          <a:solidFill>
                            <a:schemeClr val="tx1"/>
                          </a:solidFill>
                          <a:latin typeface="+mn-lt"/>
                        </a:rPr>
                        <a:t>SuppName</a:t>
                      </a:r>
                      <a:r>
                        <a:rPr lang="en-GB" sz="2000" b="0" dirty="0">
                          <a:solidFill>
                            <a:schemeClr val="tx1"/>
                          </a:solidFill>
                          <a:latin typeface="+mn-lt"/>
                        </a:rPr>
                        <a:t>, </a:t>
                      </a:r>
                      <a:r>
                        <a:rPr lang="en-GB" sz="2000" b="0" dirty="0" err="1">
                          <a:solidFill>
                            <a:schemeClr val="tx1"/>
                          </a:solidFill>
                          <a:latin typeface="+mn-lt"/>
                        </a:rPr>
                        <a:t>SuppAddr</a:t>
                      </a:r>
                      <a:r>
                        <a:rPr lang="en-GB" sz="2000" b="0" dirty="0">
                          <a:solidFill>
                            <a:schemeClr val="tx1"/>
                          </a:solidFill>
                          <a:latin typeface="+mn-lt"/>
                        </a:rPr>
                        <a:t>, Cost, </a:t>
                      </a:r>
                      <a:r>
                        <a:rPr lang="en-GB" sz="2000" b="0" dirty="0" smtClean="0">
                          <a:solidFill>
                            <a:schemeClr val="tx1"/>
                          </a:solidFill>
                          <a:latin typeface="+mn-lt"/>
                        </a:rPr>
                        <a:t>Store, </a:t>
                      </a:r>
                      <a:r>
                        <a:rPr lang="en-GB" sz="2000" b="0" dirty="0">
                          <a:solidFill>
                            <a:schemeClr val="tx1"/>
                          </a:solidFill>
                          <a:latin typeface="+mn-lt"/>
                        </a:rPr>
                        <a:t>Phone</a:t>
                      </a:r>
                      <a:r>
                        <a:rPr lang="en-GB" sz="2000" b="0" dirty="0" smtClean="0">
                          <a:solidFill>
                            <a:schemeClr val="tx1"/>
                          </a:solidFill>
                          <a:latin typeface="+mn-lt"/>
                        </a:rPr>
                        <a:t>)</a:t>
                      </a:r>
                      <a:endParaRPr lang="en-US" sz="2000" b="0" dirty="0">
                        <a:solidFill>
                          <a:schemeClr val="tx1"/>
                        </a:solidFill>
                        <a:latin typeface="+mn-lt"/>
                      </a:endParaRPr>
                    </a:p>
                  </a:txBody>
                  <a:tcPr marL="18288" marR="18288" marT="91440" marB="91440">
                    <a:solidFill>
                      <a:srgbClr val="FFFF00"/>
                    </a:solidFill>
                  </a:tcPr>
                </a:tc>
                <a:extLst>
                  <a:ext uri="{0D108BD9-81ED-4DB2-BD59-A6C34878D82A}">
                    <a16:rowId xmlns:a16="http://schemas.microsoft.com/office/drawing/2014/main" val="2436930064"/>
                  </a:ext>
                </a:extLst>
              </a:tr>
              <a:tr h="658642">
                <a:tc>
                  <a:txBody>
                    <a:bodyPr/>
                    <a:lstStyle/>
                    <a:p>
                      <a:pPr algn="ctr"/>
                      <a:r>
                        <a:rPr lang="en-SG" sz="2000" dirty="0"/>
                        <a:t>1NF</a:t>
                      </a:r>
                    </a:p>
                  </a:txBody>
                  <a:tcPr marL="18288" marR="18288" marT="91440" marB="9144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latin typeface="+mn-lt"/>
                        </a:rPr>
                        <a:t>PURCHASE(</a:t>
                      </a:r>
                      <a:r>
                        <a:rPr lang="en-GB" sz="2000" b="1" dirty="0">
                          <a:latin typeface="+mn-lt"/>
                        </a:rPr>
                        <a:t> </a:t>
                      </a:r>
                      <a:r>
                        <a:rPr lang="en-GB" sz="2000" b="0" u="sng" dirty="0" err="1">
                          <a:solidFill>
                            <a:srgbClr val="FF0000"/>
                          </a:solidFill>
                          <a:latin typeface="+mn-lt"/>
                        </a:rPr>
                        <a:t>PartNo</a:t>
                      </a:r>
                      <a:r>
                        <a:rPr lang="en-GB" sz="2000" dirty="0">
                          <a:latin typeface="+mn-lt"/>
                        </a:rPr>
                        <a:t>, </a:t>
                      </a:r>
                      <a:r>
                        <a:rPr lang="en-GB" sz="2000" dirty="0" err="1">
                          <a:latin typeface="+mn-lt"/>
                        </a:rPr>
                        <a:t>PartDesc</a:t>
                      </a:r>
                      <a:r>
                        <a:rPr lang="en-GB" sz="2000" dirty="0">
                          <a:latin typeface="+mn-lt"/>
                        </a:rPr>
                        <a:t>, </a:t>
                      </a:r>
                      <a:r>
                        <a:rPr lang="en-GB" sz="2000" b="0" u="sng" dirty="0" err="1">
                          <a:solidFill>
                            <a:srgbClr val="FF0000"/>
                          </a:solidFill>
                          <a:latin typeface="+mn-lt"/>
                        </a:rPr>
                        <a:t>SuppNo</a:t>
                      </a:r>
                      <a:r>
                        <a:rPr lang="en-GB" sz="2000" dirty="0">
                          <a:latin typeface="+mn-lt"/>
                        </a:rPr>
                        <a:t>, </a:t>
                      </a:r>
                      <a:r>
                        <a:rPr lang="en-GB" sz="2000" dirty="0" err="1">
                          <a:latin typeface="+mn-lt"/>
                        </a:rPr>
                        <a:t>SuppName</a:t>
                      </a:r>
                      <a:r>
                        <a:rPr lang="en-GB" sz="2000" dirty="0">
                          <a:latin typeface="+mn-lt"/>
                        </a:rPr>
                        <a:t>, </a:t>
                      </a:r>
                      <a:r>
                        <a:rPr lang="en-GB" sz="2000" dirty="0" err="1">
                          <a:latin typeface="+mn-lt"/>
                        </a:rPr>
                        <a:t>SuppAddr</a:t>
                      </a:r>
                      <a:r>
                        <a:rPr lang="en-GB" sz="2000" dirty="0">
                          <a:latin typeface="+mn-lt"/>
                        </a:rPr>
                        <a:t>, Cost, </a:t>
                      </a:r>
                      <a:r>
                        <a:rPr lang="en-GB" sz="2000" dirty="0" smtClean="0">
                          <a:latin typeface="+mn-lt"/>
                        </a:rPr>
                        <a:t>Store, </a:t>
                      </a:r>
                      <a:r>
                        <a:rPr lang="en-GB" sz="2000" dirty="0">
                          <a:latin typeface="+mn-lt"/>
                        </a:rPr>
                        <a:t>Phone</a:t>
                      </a:r>
                      <a:r>
                        <a:rPr lang="en-GB" sz="2000" dirty="0" smtClean="0">
                          <a:latin typeface="+mn-lt"/>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mn-lt"/>
                      </a:endParaRPr>
                    </a:p>
                  </a:txBody>
                  <a:tcPr marL="18288" marR="18288" marT="91440" marB="91440"/>
                </a:tc>
                <a:extLst>
                  <a:ext uri="{0D108BD9-81ED-4DB2-BD59-A6C34878D82A}">
                    <a16:rowId xmlns:a16="http://schemas.microsoft.com/office/drawing/2014/main" val="3772828845"/>
                  </a:ext>
                </a:extLst>
              </a:tr>
              <a:tr h="658642">
                <a:tc>
                  <a:txBody>
                    <a:bodyPr/>
                    <a:lstStyle/>
                    <a:p>
                      <a:pPr algn="ctr"/>
                      <a:r>
                        <a:rPr lang="en-SG" sz="2000" dirty="0"/>
                        <a:t>2NF</a:t>
                      </a:r>
                    </a:p>
                  </a:txBody>
                  <a:tcPr marL="18288" marR="18288" marT="91440" marB="91440"/>
                </a:tc>
                <a:tc>
                  <a:txBody>
                    <a:bodyPr/>
                    <a:lstStyle/>
                    <a:p>
                      <a:endParaRPr lang="en-SG" sz="2000" dirty="0"/>
                    </a:p>
                  </a:txBody>
                  <a:tcPr marL="18288" marR="18288" marT="91440" marB="91440"/>
                </a:tc>
                <a:extLst>
                  <a:ext uri="{0D108BD9-81ED-4DB2-BD59-A6C34878D82A}">
                    <a16:rowId xmlns:a16="http://schemas.microsoft.com/office/drawing/2014/main" val="4251656442"/>
                  </a:ext>
                </a:extLst>
              </a:tr>
              <a:tr h="658642">
                <a:tc>
                  <a:txBody>
                    <a:bodyPr/>
                    <a:lstStyle/>
                    <a:p>
                      <a:pPr algn="ctr"/>
                      <a:r>
                        <a:rPr lang="en-SG" sz="2000" dirty="0"/>
                        <a:t>3NF</a:t>
                      </a:r>
                    </a:p>
                  </a:txBody>
                  <a:tcPr marL="18288" marR="18288" marT="91440" marB="91440"/>
                </a:tc>
                <a:tc>
                  <a:txBody>
                    <a:bodyPr/>
                    <a:lstStyle/>
                    <a:p>
                      <a:endParaRPr lang="en-SG" sz="2000" dirty="0"/>
                    </a:p>
                  </a:txBody>
                  <a:tcPr marL="18288" marR="18288" marT="91440" marB="91440"/>
                </a:tc>
                <a:extLst>
                  <a:ext uri="{0D108BD9-81ED-4DB2-BD59-A6C34878D82A}">
                    <a16:rowId xmlns:a16="http://schemas.microsoft.com/office/drawing/2014/main" val="145319818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ctrTitle" idx="4294967295"/>
          </p:nvPr>
        </p:nvSpPr>
        <p:spPr>
          <a:xfrm>
            <a:off x="685800" y="228600"/>
            <a:ext cx="3119438" cy="565150"/>
          </a:xfrm>
        </p:spPr>
        <p:txBody>
          <a:bodyPr wrap="none" lIns="36000" tIns="36000" rIns="36000" bIns="36000" anchor="t">
            <a:spAutoFit/>
          </a:bodyPr>
          <a:lstStyle/>
          <a:p>
            <a:pPr algn="l" eaLnBrk="1" hangingPunct="1">
              <a:defRPr/>
            </a:pPr>
            <a:r>
              <a:rPr lang="en-GB" sz="3200" b="1" dirty="0" smtClean="0">
                <a:solidFill>
                  <a:srgbClr val="C00000"/>
                </a:solidFill>
                <a:latin typeface="+mn-lt"/>
              </a:rPr>
              <a:t>From 1 NF to </a:t>
            </a:r>
            <a:r>
              <a:rPr lang="en-GB" sz="3200" b="1" dirty="0" smtClean="0">
                <a:solidFill>
                  <a:srgbClr val="C00000"/>
                </a:solidFill>
                <a:latin typeface="+mn-lt"/>
                <a:sym typeface="Wingdings" panose="05000000000000000000" pitchFamily="2" charset="2"/>
              </a:rPr>
              <a:t>2 NF</a:t>
            </a:r>
            <a:endParaRPr lang="en-US" sz="3200" b="1" dirty="0" smtClean="0">
              <a:solidFill>
                <a:srgbClr val="C00000"/>
              </a:solidFill>
              <a:latin typeface="+mn-lt"/>
            </a:endParaRPr>
          </a:p>
        </p:txBody>
      </p:sp>
      <p:sp>
        <p:nvSpPr>
          <p:cNvPr id="30723" name="Rectangle 12"/>
          <p:cNvSpPr>
            <a:spLocks noChangeArrowheads="1"/>
          </p:cNvSpPr>
          <p:nvPr/>
        </p:nvSpPr>
        <p:spPr bwMode="auto">
          <a:xfrm>
            <a:off x="754063" y="4591050"/>
            <a:ext cx="7729537"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spAutoFit/>
          </a:bodyPr>
          <a:lstStyle>
            <a:lvl1pPr marL="342900" indent="-342900" eaLnBrk="0" hangingPunct="0">
              <a:spcBef>
                <a:spcPct val="20000"/>
              </a:spcBef>
              <a:buFont typeface="Arial" charset="0"/>
              <a:buChar char="•"/>
              <a:defRPr sz="3200">
                <a:solidFill>
                  <a:schemeClr val="tx1"/>
                </a:solidFill>
                <a:latin typeface="Calibri" pitchFamily="34" charset="0"/>
              </a:defRPr>
            </a:lvl1pPr>
            <a:lvl2pPr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lvl="1" eaLnBrk="1" hangingPunct="1">
              <a:buFont typeface="Wingdings" pitchFamily="2" charset="2"/>
              <a:buNone/>
            </a:pPr>
            <a:r>
              <a:rPr lang="en-US" altLang="zh-SG" sz="3200" b="1"/>
              <a:t>The relation must be in 1NF before it can proceed to 2NF</a:t>
            </a:r>
          </a:p>
        </p:txBody>
      </p:sp>
      <p:sp>
        <p:nvSpPr>
          <p:cNvPr id="30724" name="Rectangle 12"/>
          <p:cNvSpPr>
            <a:spLocks noChangeArrowheads="1"/>
          </p:cNvSpPr>
          <p:nvPr/>
        </p:nvSpPr>
        <p:spPr bwMode="auto">
          <a:xfrm>
            <a:off x="609600" y="5969000"/>
            <a:ext cx="82516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rIns="45720">
            <a:spAutoFit/>
          </a:bodyPr>
          <a:lstStyle>
            <a:lvl1pPr marL="342900" indent="-342900" eaLnBrk="0" hangingPunct="0">
              <a:spcBef>
                <a:spcPct val="20000"/>
              </a:spcBef>
              <a:buFont typeface="Arial" charset="0"/>
              <a:buChar char="•"/>
              <a:defRPr sz="3200">
                <a:solidFill>
                  <a:schemeClr val="tx1"/>
                </a:solidFill>
                <a:latin typeface="Calibri" pitchFamily="34" charset="0"/>
              </a:defRPr>
            </a:lvl1pPr>
            <a:lvl2pPr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lvl="1" eaLnBrk="1" hangingPunct="1">
              <a:buFont typeface="Wingdings" pitchFamily="2" charset="2"/>
              <a:buNone/>
            </a:pPr>
            <a:r>
              <a:rPr lang="en-US" altLang="zh-SG" sz="2400" dirty="0">
                <a:solidFill>
                  <a:srgbClr val="C00000"/>
                </a:solidFill>
              </a:rPr>
              <a:t>i.e. Under 1NF, Key attribute(s) must have </a:t>
            </a:r>
            <a:r>
              <a:rPr lang="en-US" altLang="zh-SG" sz="2400" dirty="0" smtClean="0">
                <a:solidFill>
                  <a:srgbClr val="C00000"/>
                </a:solidFill>
              </a:rPr>
              <a:t>already been </a:t>
            </a:r>
            <a:r>
              <a:rPr lang="en-US" altLang="zh-SG" sz="2400" dirty="0">
                <a:solidFill>
                  <a:srgbClr val="C00000"/>
                </a:solidFill>
              </a:rPr>
              <a:t>identified.</a:t>
            </a:r>
          </a:p>
        </p:txBody>
      </p:sp>
      <p:graphicFrame>
        <p:nvGraphicFramePr>
          <p:cNvPr id="5" name="Diagram 4"/>
          <p:cNvGraphicFramePr/>
          <p:nvPr/>
        </p:nvGraphicFramePr>
        <p:xfrm>
          <a:off x="1752600" y="762000"/>
          <a:ext cx="5715000" cy="3581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Rectangle 1"/>
          <p:cNvSpPr/>
          <p:nvPr/>
        </p:nvSpPr>
        <p:spPr>
          <a:xfrm>
            <a:off x="4973638" y="990600"/>
            <a:ext cx="2874962" cy="2209800"/>
          </a:xfrm>
          <a:prstGeom prst="rect">
            <a:avLst/>
          </a:prstGeom>
          <a:solidFill>
            <a:srgbClr val="99FF9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SG"/>
          </a:p>
        </p:txBody>
      </p:sp>
      <p:cxnSp>
        <p:nvCxnSpPr>
          <p:cNvPr id="4" name="Straight Arrow Connector 3"/>
          <p:cNvCxnSpPr/>
          <p:nvPr/>
        </p:nvCxnSpPr>
        <p:spPr>
          <a:xfrm flipV="1">
            <a:off x="2757714" y="2558142"/>
            <a:ext cx="914400" cy="6096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22" name="Title 1"/>
          <p:cNvSpPr>
            <a:spLocks noGrp="1"/>
          </p:cNvSpPr>
          <p:nvPr>
            <p:ph type="ctrTitle" idx="4294967295"/>
          </p:nvPr>
        </p:nvSpPr>
        <p:spPr>
          <a:xfrm>
            <a:off x="685800" y="228600"/>
            <a:ext cx="4666333" cy="565146"/>
          </a:xfrm>
        </p:spPr>
        <p:txBody>
          <a:bodyPr wrap="none" lIns="36000" tIns="36000" rIns="36000" bIns="36000" anchor="t">
            <a:spAutoFit/>
          </a:bodyPr>
          <a:lstStyle/>
          <a:p>
            <a:pPr algn="l" eaLnBrk="1" hangingPunct="1">
              <a:defRPr/>
            </a:pPr>
            <a:r>
              <a:rPr lang="en-GB" sz="3200" b="1" dirty="0" smtClean="0">
                <a:solidFill>
                  <a:srgbClr val="C00000"/>
                </a:solidFill>
                <a:latin typeface="+mn-lt"/>
              </a:rPr>
              <a:t>Second Normal Form (2NF)</a:t>
            </a:r>
            <a:endParaRPr lang="en-US" sz="3200" b="1" dirty="0" smtClean="0">
              <a:solidFill>
                <a:srgbClr val="C00000"/>
              </a:solidFill>
              <a:latin typeface="+mn-lt"/>
            </a:endParaRPr>
          </a:p>
        </p:txBody>
      </p:sp>
      <p:sp>
        <p:nvSpPr>
          <p:cNvPr id="31747" name="Rectangle 3"/>
          <p:cNvSpPr txBox="1">
            <a:spLocks noChangeArrowheads="1"/>
          </p:cNvSpPr>
          <p:nvPr/>
        </p:nvSpPr>
        <p:spPr bwMode="auto">
          <a:xfrm>
            <a:off x="609600" y="1258431"/>
            <a:ext cx="7812000" cy="811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spAutoFit/>
          </a:bodyPr>
          <a:lstStyle>
            <a:lvl1pPr marL="361950" indent="-361950"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ts val="600"/>
              </a:spcBef>
              <a:spcAft>
                <a:spcPts val="600"/>
              </a:spcAft>
              <a:buFont typeface="Courier New" pitchFamily="49" charset="0"/>
              <a:buChar char="o"/>
            </a:pPr>
            <a:r>
              <a:rPr lang="en-US" altLang="en-US" sz="2400" b="1" dirty="0">
                <a:solidFill>
                  <a:srgbClr val="C00000"/>
                </a:solidFill>
              </a:rPr>
              <a:t>Functional dependency </a:t>
            </a:r>
            <a:r>
              <a:rPr lang="en-US" altLang="en-US" sz="2400" dirty="0"/>
              <a:t>describes the relationship between </a:t>
            </a:r>
            <a:r>
              <a:rPr lang="en-US" altLang="en-US" sz="2400" dirty="0" smtClean="0"/>
              <a:t>attributes </a:t>
            </a:r>
            <a:r>
              <a:rPr lang="en-US" altLang="en-US" sz="2400" dirty="0"/>
              <a:t>in a single </a:t>
            </a:r>
            <a:r>
              <a:rPr lang="en-US" altLang="en-US" sz="2400" dirty="0" smtClean="0"/>
              <a:t>relation.</a:t>
            </a:r>
            <a:endParaRPr lang="en-US" altLang="en-US" sz="2400" dirty="0"/>
          </a:p>
        </p:txBody>
      </p:sp>
      <p:sp>
        <p:nvSpPr>
          <p:cNvPr id="19" name="Rectangle 18"/>
          <p:cNvSpPr/>
          <p:nvPr/>
        </p:nvSpPr>
        <p:spPr>
          <a:xfrm>
            <a:off x="593725" y="3445538"/>
            <a:ext cx="7178675" cy="1277273"/>
          </a:xfrm>
          <a:prstGeom prst="rect">
            <a:avLst/>
          </a:prstGeom>
        </p:spPr>
        <p:txBody>
          <a:bodyPr wrap="square">
            <a:spAutoFit/>
          </a:bodyPr>
          <a:lstStyle/>
          <a:p>
            <a:pPr marL="342900" indent="-342900">
              <a:spcBef>
                <a:spcPts val="0"/>
              </a:spcBef>
              <a:spcAft>
                <a:spcPts val="600"/>
              </a:spcAft>
              <a:buFont typeface="Courier New" pitchFamily="49" charset="0"/>
              <a:buChar char="o"/>
              <a:defRPr/>
            </a:pPr>
            <a:r>
              <a:rPr lang="en-GB" sz="2400" b="1" dirty="0">
                <a:solidFill>
                  <a:srgbClr val="002060"/>
                </a:solidFill>
                <a:latin typeface="Calibri" pitchFamily="34" charset="0"/>
              </a:rPr>
              <a:t>Two (2) types of functional dependency:  </a:t>
            </a:r>
          </a:p>
          <a:p>
            <a:pPr marL="379413">
              <a:spcBef>
                <a:spcPts val="0"/>
              </a:spcBef>
              <a:defRPr/>
            </a:pPr>
            <a:r>
              <a:rPr lang="en-GB" sz="2400" dirty="0" smtClean="0">
                <a:solidFill>
                  <a:srgbClr val="C00000"/>
                </a:solidFill>
                <a:latin typeface="Calibri" pitchFamily="34" charset="0"/>
              </a:rPr>
              <a:t>- Full</a:t>
            </a:r>
            <a:r>
              <a:rPr lang="en-GB" sz="2400" dirty="0" smtClean="0">
                <a:solidFill>
                  <a:srgbClr val="002060"/>
                </a:solidFill>
                <a:latin typeface="Calibri" pitchFamily="34" charset="0"/>
              </a:rPr>
              <a:t> </a:t>
            </a:r>
            <a:r>
              <a:rPr lang="en-GB" sz="2400" dirty="0">
                <a:solidFill>
                  <a:srgbClr val="002060"/>
                </a:solidFill>
                <a:latin typeface="Calibri" pitchFamily="34" charset="0"/>
              </a:rPr>
              <a:t>functional dependency </a:t>
            </a:r>
            <a:r>
              <a:rPr lang="en-GB" sz="2400" dirty="0" smtClean="0">
                <a:solidFill>
                  <a:srgbClr val="002060"/>
                </a:solidFill>
                <a:latin typeface="Calibri" pitchFamily="34" charset="0"/>
              </a:rPr>
              <a:t>(Full FD),</a:t>
            </a:r>
            <a:endParaRPr lang="en-GB" sz="2400" dirty="0">
              <a:solidFill>
                <a:srgbClr val="002060"/>
              </a:solidFill>
              <a:latin typeface="Calibri" pitchFamily="34" charset="0"/>
            </a:endParaRPr>
          </a:p>
          <a:p>
            <a:pPr marL="379413">
              <a:spcBef>
                <a:spcPts val="0"/>
              </a:spcBef>
              <a:defRPr/>
            </a:pPr>
            <a:r>
              <a:rPr lang="en-GB" sz="2400" dirty="0" smtClean="0">
                <a:solidFill>
                  <a:srgbClr val="C00000"/>
                </a:solidFill>
                <a:latin typeface="Calibri" pitchFamily="34" charset="0"/>
              </a:rPr>
              <a:t>- Partial</a:t>
            </a:r>
            <a:r>
              <a:rPr lang="en-GB" sz="2400" dirty="0" smtClean="0">
                <a:solidFill>
                  <a:srgbClr val="002060"/>
                </a:solidFill>
                <a:latin typeface="Calibri" pitchFamily="34" charset="0"/>
              </a:rPr>
              <a:t> </a:t>
            </a:r>
            <a:r>
              <a:rPr lang="en-GB" sz="2400" dirty="0">
                <a:solidFill>
                  <a:srgbClr val="002060"/>
                </a:solidFill>
                <a:latin typeface="Calibri" pitchFamily="34" charset="0"/>
              </a:rPr>
              <a:t>functional </a:t>
            </a:r>
            <a:r>
              <a:rPr lang="en-GB" sz="2400" dirty="0" smtClean="0">
                <a:solidFill>
                  <a:srgbClr val="002060"/>
                </a:solidFill>
                <a:latin typeface="Calibri" pitchFamily="34" charset="0"/>
              </a:rPr>
              <a:t>dependency (Partial FD)</a:t>
            </a:r>
            <a:endParaRPr lang="en-US" sz="2400" dirty="0">
              <a:solidFill>
                <a:srgbClr val="002060"/>
              </a:solidFill>
              <a:latin typeface="Calibri" pitchFamily="34" charset="0"/>
            </a:endParaRPr>
          </a:p>
        </p:txBody>
      </p:sp>
      <p:sp>
        <p:nvSpPr>
          <p:cNvPr id="7" name="Text Box 464"/>
          <p:cNvSpPr txBox="1">
            <a:spLocks noChangeArrowheads="1"/>
          </p:cNvSpPr>
          <p:nvPr/>
        </p:nvSpPr>
        <p:spPr bwMode="auto">
          <a:xfrm>
            <a:off x="671286" y="869498"/>
            <a:ext cx="7409135" cy="442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36000" tIns="36000" rIns="36000" bIns="36000">
            <a:spAutoFit/>
          </a:bodyPr>
          <a:lstStyle>
            <a:lvl1pPr marL="285750" indent="-285750"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indent="0" eaLnBrk="1" hangingPunct="1">
              <a:spcBef>
                <a:spcPct val="50000"/>
              </a:spcBef>
              <a:buNone/>
            </a:pPr>
            <a:r>
              <a:rPr lang="en-US" altLang="en-US" sz="2400" b="1" dirty="0">
                <a:solidFill>
                  <a:srgbClr val="FF0000"/>
                </a:solidFill>
                <a:ea typeface="Calibri" pitchFamily="34" charset="0"/>
                <a:cs typeface="Calibri" pitchFamily="34" charset="0"/>
              </a:rPr>
              <a:t>2</a:t>
            </a:r>
            <a:r>
              <a:rPr lang="en-US" altLang="en-US" sz="2400" b="1" dirty="0" smtClean="0">
                <a:solidFill>
                  <a:srgbClr val="FF0000"/>
                </a:solidFill>
                <a:ea typeface="Calibri" pitchFamily="34" charset="0"/>
                <a:cs typeface="Calibri" pitchFamily="34" charset="0"/>
              </a:rPr>
              <a:t>NF – Functional dependency </a:t>
            </a:r>
            <a:r>
              <a:rPr lang="en-US" altLang="en-US" sz="2400" dirty="0" smtClean="0">
                <a:solidFill>
                  <a:srgbClr val="FF0000"/>
                </a:solidFill>
                <a:ea typeface="Calibri" pitchFamily="34" charset="0"/>
                <a:cs typeface="Calibri" pitchFamily="34" charset="0"/>
              </a:rPr>
              <a:t>(full, partial) in the relation.</a:t>
            </a:r>
            <a:endParaRPr lang="en-US" altLang="en-US" sz="2400" dirty="0">
              <a:solidFill>
                <a:srgbClr val="FF0000"/>
              </a:solidFill>
              <a:ea typeface="Calibri" pitchFamily="34" charset="0"/>
              <a:cs typeface="Calibri" pitchFamily="34" charset="0"/>
            </a:endParaRPr>
          </a:p>
        </p:txBody>
      </p:sp>
      <p:sp>
        <p:nvSpPr>
          <p:cNvPr id="8" name="Rectangle 3"/>
          <p:cNvSpPr txBox="1">
            <a:spLocks noChangeArrowheads="1"/>
          </p:cNvSpPr>
          <p:nvPr/>
        </p:nvSpPr>
        <p:spPr bwMode="auto">
          <a:xfrm>
            <a:off x="685800" y="2095901"/>
            <a:ext cx="5334000" cy="1180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36000" rIns="36000" bIns="36000">
            <a:spAutoFit/>
          </a:bodyPr>
          <a:lstStyle>
            <a:lvl1pPr marL="361950" indent="-361950"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indent="0" eaLnBrk="1" hangingPunct="1">
              <a:spcBef>
                <a:spcPts val="600"/>
              </a:spcBef>
              <a:spcAft>
                <a:spcPts val="0"/>
              </a:spcAft>
              <a:buNone/>
            </a:pPr>
            <a:r>
              <a:rPr lang="en-GB" altLang="en-US" sz="2400" dirty="0" smtClean="0"/>
              <a:t>For example:  A </a:t>
            </a:r>
            <a:r>
              <a:rPr lang="en-GB" altLang="en-US" sz="2400" dirty="0" smtClean="0">
                <a:sym typeface="Wingdings" panose="05000000000000000000" pitchFamily="2" charset="2"/>
              </a:rPr>
              <a:t> B means:</a:t>
            </a:r>
          </a:p>
          <a:p>
            <a:pPr marL="261938" indent="0" eaLnBrk="1" hangingPunct="1">
              <a:spcBef>
                <a:spcPts val="0"/>
              </a:spcBef>
              <a:spcAft>
                <a:spcPts val="0"/>
              </a:spcAft>
              <a:buNone/>
            </a:pPr>
            <a:r>
              <a:rPr lang="en-GB" altLang="en-US" sz="2400" dirty="0" smtClean="0"/>
              <a:t>- </a:t>
            </a:r>
            <a:r>
              <a:rPr lang="en-GB" altLang="en-US" sz="2400" dirty="0" smtClean="0">
                <a:solidFill>
                  <a:srgbClr val="FF0000"/>
                </a:solidFill>
              </a:rPr>
              <a:t>B is functionally dependent on A</a:t>
            </a:r>
            <a:r>
              <a:rPr lang="en-GB" altLang="en-US" sz="2400" dirty="0" smtClean="0"/>
              <a:t> or</a:t>
            </a:r>
          </a:p>
          <a:p>
            <a:pPr marL="261938" indent="0" eaLnBrk="1" hangingPunct="1">
              <a:spcBef>
                <a:spcPts val="0"/>
              </a:spcBef>
              <a:spcAft>
                <a:spcPts val="0"/>
              </a:spcAft>
              <a:buNone/>
            </a:pPr>
            <a:r>
              <a:rPr lang="en-GB" altLang="en-US" sz="2400" dirty="0" smtClean="0"/>
              <a:t>- </a:t>
            </a:r>
            <a:r>
              <a:rPr lang="en-GB" altLang="en-US" sz="2400" dirty="0" smtClean="0">
                <a:solidFill>
                  <a:srgbClr val="FF0000"/>
                </a:solidFill>
              </a:rPr>
              <a:t>A determines B</a:t>
            </a:r>
            <a:endParaRPr lang="en-GB" altLang="en-US" sz="2400" dirty="0">
              <a:solidFill>
                <a:srgbClr val="FF0000"/>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4134131266"/>
              </p:ext>
            </p:extLst>
          </p:nvPr>
        </p:nvGraphicFramePr>
        <p:xfrm>
          <a:off x="2514600" y="4991111"/>
          <a:ext cx="2590800" cy="1107440"/>
        </p:xfrm>
        <a:graphic>
          <a:graphicData uri="http://schemas.openxmlformats.org/drawingml/2006/table">
            <a:tbl>
              <a:tblPr firstRow="1" bandRow="1">
                <a:tableStyleId>{5C22544A-7EE6-4342-B048-85BDC9FD1C3A}</a:tableStyleId>
              </a:tblPr>
              <a:tblGrid>
                <a:gridCol w="980924">
                  <a:extLst>
                    <a:ext uri="{9D8B030D-6E8A-4147-A177-3AD203B41FA5}">
                      <a16:colId xmlns:a16="http://schemas.microsoft.com/office/drawing/2014/main" val="20000"/>
                    </a:ext>
                  </a:extLst>
                </a:gridCol>
                <a:gridCol w="390676">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151367">
                <a:tc gridSpan="3">
                  <a:txBody>
                    <a:bodyPr/>
                    <a:lstStyle/>
                    <a:p>
                      <a:pPr algn="ctr"/>
                      <a:r>
                        <a:rPr lang="en-SG" dirty="0" smtClean="0"/>
                        <a:t>Functional dependency</a:t>
                      </a:r>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endParaRPr lang="en-US"/>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99FF99"/>
                    </a:solidFill>
                  </a:tcPr>
                </a:tc>
                <a:tc>
                  <a:txBody>
                    <a:bodyPr/>
                    <a:lstStyle/>
                    <a:p>
                      <a:endParaRPr lang="en-US"/>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99FF99"/>
                    </a:solidFill>
                  </a:tcPr>
                </a:tc>
                <a:tc>
                  <a:txBody>
                    <a:bodyPr/>
                    <a:lstStyle/>
                    <a:p>
                      <a:endParaRPr 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99FF99"/>
                    </a:solidFill>
                  </a:tcPr>
                </a:tc>
                <a:extLst>
                  <a:ext uri="{0D108BD9-81ED-4DB2-BD59-A6C34878D82A}">
                    <a16:rowId xmlns:a16="http://schemas.microsoft.com/office/drawing/2014/main" val="10001"/>
                  </a:ext>
                </a:extLst>
              </a:tr>
              <a:tr h="370840">
                <a:tc>
                  <a:txBody>
                    <a:bodyPr/>
                    <a:lstStyle/>
                    <a:p>
                      <a:pPr algn="ctr"/>
                      <a:r>
                        <a:rPr lang="en-SG" dirty="0" smtClean="0"/>
                        <a:t>Full FD</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99FF99"/>
                    </a:solidFill>
                  </a:tcPr>
                </a:tc>
                <a:tc>
                  <a:txBody>
                    <a:bodyPr/>
                    <a:lstStyle/>
                    <a:p>
                      <a:pPr algn="ctr"/>
                      <a:r>
                        <a:rPr lang="en-SG" dirty="0" smtClean="0"/>
                        <a:t>Partial FD</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cxnSp>
        <p:nvCxnSpPr>
          <p:cNvPr id="4" name="Straight Arrow Connector 3"/>
          <p:cNvCxnSpPr/>
          <p:nvPr/>
        </p:nvCxnSpPr>
        <p:spPr>
          <a:xfrm flipH="1">
            <a:off x="3124200" y="5428344"/>
            <a:ext cx="609600" cy="2286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3886200" y="5428344"/>
            <a:ext cx="489653" cy="2286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609600" y="4473575"/>
            <a:ext cx="8315325" cy="936625"/>
          </a:xfrm>
          <a:prstGeom prst="rect">
            <a:avLst/>
          </a:prstGeom>
          <a:solidFill>
            <a:srgbClr val="FFFF99"/>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SG"/>
          </a:p>
        </p:txBody>
      </p:sp>
      <p:sp>
        <p:nvSpPr>
          <p:cNvPr id="15362" name="Title 1"/>
          <p:cNvSpPr>
            <a:spLocks noGrp="1"/>
          </p:cNvSpPr>
          <p:nvPr>
            <p:ph type="ctrTitle" idx="4294967295"/>
          </p:nvPr>
        </p:nvSpPr>
        <p:spPr>
          <a:xfrm>
            <a:off x="711200" y="228600"/>
            <a:ext cx="5758555" cy="565146"/>
          </a:xfrm>
        </p:spPr>
        <p:txBody>
          <a:bodyPr wrap="none" lIns="36000" tIns="36000" rIns="36000" bIns="36000" anchor="t">
            <a:spAutoFit/>
          </a:bodyPr>
          <a:lstStyle/>
          <a:p>
            <a:pPr algn="l" eaLnBrk="1" hangingPunct="1">
              <a:defRPr/>
            </a:pPr>
            <a:r>
              <a:rPr lang="en-GB" sz="3200" b="1" dirty="0" smtClean="0">
                <a:solidFill>
                  <a:srgbClr val="C00000"/>
                </a:solidFill>
                <a:latin typeface="+mn-lt"/>
              </a:rPr>
              <a:t>2NF - Full Functional Dependency</a:t>
            </a:r>
            <a:endParaRPr lang="en-US" sz="3200" b="1" dirty="0" smtClean="0">
              <a:solidFill>
                <a:schemeClr val="tx2">
                  <a:lumMod val="75000"/>
                </a:schemeClr>
              </a:solidFill>
              <a:latin typeface="+mn-lt"/>
            </a:endParaRPr>
          </a:p>
        </p:txBody>
      </p:sp>
      <p:sp>
        <p:nvSpPr>
          <p:cNvPr id="32771" name="Rectangle 3"/>
          <p:cNvSpPr txBox="1">
            <a:spLocks noChangeArrowheads="1"/>
          </p:cNvSpPr>
          <p:nvPr/>
        </p:nvSpPr>
        <p:spPr bwMode="auto">
          <a:xfrm>
            <a:off x="609600" y="896256"/>
            <a:ext cx="7162800" cy="503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36000" rIns="36000" bIns="36000">
            <a:spAutoFit/>
          </a:bodyPr>
          <a:lstStyle>
            <a:lvl1pPr marL="361950" indent="-361950" eaLnBrk="0" hangingPunct="0">
              <a:spcBef>
                <a:spcPct val="20000"/>
              </a:spcBef>
              <a:buFont typeface="Arial" charset="0"/>
              <a:buChar char="•"/>
              <a:defRPr sz="3200">
                <a:solidFill>
                  <a:schemeClr val="tx1"/>
                </a:solidFill>
                <a:latin typeface="Calibri" pitchFamily="34" charset="0"/>
              </a:defRPr>
            </a:lvl1pPr>
            <a:lvl2pPr marL="627063" indent="-271463"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indent="0" eaLnBrk="1" hangingPunct="1">
              <a:buNone/>
            </a:pPr>
            <a:r>
              <a:rPr lang="en-US" altLang="en-US" sz="2800" b="1" dirty="0" smtClean="0">
                <a:solidFill>
                  <a:srgbClr val="C00000"/>
                </a:solidFill>
              </a:rPr>
              <a:t>Step 1 : Identify Full </a:t>
            </a:r>
            <a:r>
              <a:rPr lang="en-US" altLang="en-US" sz="2800" b="1" dirty="0">
                <a:solidFill>
                  <a:srgbClr val="C00000"/>
                </a:solidFill>
              </a:rPr>
              <a:t>Functional </a:t>
            </a:r>
            <a:r>
              <a:rPr lang="en-US" altLang="en-US" sz="2800" b="1" dirty="0" smtClean="0">
                <a:solidFill>
                  <a:srgbClr val="C00000"/>
                </a:solidFill>
              </a:rPr>
              <a:t>Dependency</a:t>
            </a:r>
            <a:endParaRPr lang="en-US" altLang="en-US" sz="2400" dirty="0"/>
          </a:p>
        </p:txBody>
      </p:sp>
      <p:sp>
        <p:nvSpPr>
          <p:cNvPr id="32772" name="Rectangle 12"/>
          <p:cNvSpPr>
            <a:spLocks noChangeArrowheads="1"/>
          </p:cNvSpPr>
          <p:nvPr/>
        </p:nvSpPr>
        <p:spPr bwMode="auto">
          <a:xfrm>
            <a:off x="685800" y="4560888"/>
            <a:ext cx="6937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rIns="45720" anchor="ctr">
            <a:spAutoFit/>
          </a:bodyPr>
          <a:lstStyle>
            <a:lvl1pPr marL="342900" indent="-342900" eaLnBrk="0" hangingPunct="0">
              <a:spcBef>
                <a:spcPct val="20000"/>
              </a:spcBef>
              <a:buFont typeface="Arial" charset="0"/>
              <a:buChar char="•"/>
              <a:defRPr sz="3200">
                <a:solidFill>
                  <a:schemeClr val="tx1"/>
                </a:solidFill>
                <a:latin typeface="Calibri" pitchFamily="34" charset="0"/>
              </a:defRPr>
            </a:lvl1pPr>
            <a:lvl2pPr marL="685800" indent="-68580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lvl="1" eaLnBrk="1" hangingPunct="1">
              <a:buFont typeface="Wingdings" pitchFamily="2" charset="2"/>
              <a:buNone/>
            </a:pPr>
            <a:r>
              <a:rPr lang="en-US" altLang="zh-SG" sz="2000" b="1"/>
              <a:t>1 NF :</a:t>
            </a:r>
          </a:p>
        </p:txBody>
      </p:sp>
      <p:sp>
        <p:nvSpPr>
          <p:cNvPr id="17" name="TextBox 16"/>
          <p:cNvSpPr txBox="1"/>
          <p:nvPr/>
        </p:nvSpPr>
        <p:spPr>
          <a:xfrm>
            <a:off x="687388" y="4960938"/>
            <a:ext cx="7857023" cy="369332"/>
          </a:xfrm>
          <a:prstGeom prst="rect">
            <a:avLst/>
          </a:prstGeom>
          <a:solidFill>
            <a:srgbClr val="99FF99"/>
          </a:solidFill>
        </p:spPr>
        <p:txBody>
          <a:bodyPr wrap="none" lIns="45720" rIns="45720">
            <a:spAutoFit/>
          </a:bodyPr>
          <a:lstStyle/>
          <a:p>
            <a:pPr>
              <a:defRPr/>
            </a:pPr>
            <a:r>
              <a:rPr lang="en-GB" b="1" dirty="0">
                <a:latin typeface="+mn-lt"/>
              </a:rPr>
              <a:t>PURCHASE(</a:t>
            </a:r>
            <a:r>
              <a:rPr lang="en-GB" b="1" u="sng" dirty="0" err="1">
                <a:solidFill>
                  <a:srgbClr val="FF0000"/>
                </a:solidFill>
                <a:latin typeface="+mn-lt"/>
              </a:rPr>
              <a:t>PartNo</a:t>
            </a:r>
            <a:r>
              <a:rPr lang="en-GB" dirty="0">
                <a:latin typeface="+mn-lt"/>
              </a:rPr>
              <a:t>, </a:t>
            </a:r>
            <a:r>
              <a:rPr lang="en-GB" dirty="0" err="1">
                <a:latin typeface="+mn-lt"/>
              </a:rPr>
              <a:t>PartDesc</a:t>
            </a:r>
            <a:r>
              <a:rPr lang="en-GB" dirty="0">
                <a:latin typeface="+mn-lt"/>
              </a:rPr>
              <a:t>, </a:t>
            </a:r>
            <a:r>
              <a:rPr lang="en-GB" b="1" u="sng" dirty="0" err="1">
                <a:solidFill>
                  <a:srgbClr val="FF0000"/>
                </a:solidFill>
                <a:latin typeface="+mn-lt"/>
              </a:rPr>
              <a:t>SuppNo</a:t>
            </a:r>
            <a:r>
              <a:rPr lang="en-GB" dirty="0">
                <a:latin typeface="+mn-lt"/>
              </a:rPr>
              <a:t>, </a:t>
            </a:r>
            <a:r>
              <a:rPr lang="en-GB" dirty="0" err="1">
                <a:latin typeface="+mn-lt"/>
              </a:rPr>
              <a:t>SuppName</a:t>
            </a:r>
            <a:r>
              <a:rPr lang="en-GB" dirty="0">
                <a:latin typeface="+mn-lt"/>
              </a:rPr>
              <a:t>, </a:t>
            </a:r>
            <a:r>
              <a:rPr lang="en-GB" dirty="0" err="1">
                <a:latin typeface="+mn-lt"/>
              </a:rPr>
              <a:t>SuppAddr</a:t>
            </a:r>
            <a:r>
              <a:rPr lang="en-GB" dirty="0">
                <a:latin typeface="+mn-lt"/>
              </a:rPr>
              <a:t>, Cost, </a:t>
            </a:r>
            <a:r>
              <a:rPr lang="en-GB" dirty="0" smtClean="0">
                <a:latin typeface="+mn-lt"/>
              </a:rPr>
              <a:t>Store, </a:t>
            </a:r>
            <a:r>
              <a:rPr lang="en-GB" dirty="0">
                <a:latin typeface="+mn-lt"/>
              </a:rPr>
              <a:t>Phone)</a:t>
            </a:r>
            <a:endParaRPr lang="en-US" dirty="0">
              <a:latin typeface="+mn-lt"/>
            </a:endParaRPr>
          </a:p>
        </p:txBody>
      </p:sp>
      <p:sp>
        <p:nvSpPr>
          <p:cNvPr id="32776" name="Rectangle 12"/>
          <p:cNvSpPr>
            <a:spLocks noChangeArrowheads="1"/>
          </p:cNvSpPr>
          <p:nvPr/>
        </p:nvSpPr>
        <p:spPr bwMode="auto">
          <a:xfrm>
            <a:off x="609600" y="3352800"/>
            <a:ext cx="85441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rIns="45720" anchor="ctr">
            <a:spAutoFit/>
          </a:bodyPr>
          <a:lstStyle>
            <a:lvl1pPr marL="342900" indent="-342900" eaLnBrk="0" hangingPunct="0">
              <a:spcBef>
                <a:spcPct val="20000"/>
              </a:spcBef>
              <a:buFont typeface="Arial" charset="0"/>
              <a:buChar char="•"/>
              <a:defRPr sz="3200">
                <a:solidFill>
                  <a:schemeClr val="tx1"/>
                </a:solidFill>
                <a:latin typeface="Calibri" pitchFamily="34" charset="0"/>
              </a:defRPr>
            </a:lvl1pPr>
            <a:lvl2pPr marL="685800" indent="-68580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lvl="1" eaLnBrk="1" hangingPunct="1">
              <a:buFont typeface="Wingdings" pitchFamily="2" charset="2"/>
              <a:buNone/>
            </a:pPr>
            <a:r>
              <a:rPr lang="en-US" altLang="zh-SG" sz="2000" dirty="0" smtClean="0"/>
              <a:t>Based on the given information, construct </a:t>
            </a:r>
            <a:r>
              <a:rPr lang="en-US" altLang="zh-SG" sz="2000" u="sng" dirty="0" smtClean="0">
                <a:solidFill>
                  <a:srgbClr val="C00000"/>
                </a:solidFill>
              </a:rPr>
              <a:t>Normalization Dependency Diagram</a:t>
            </a:r>
            <a:r>
              <a:rPr lang="en-US" altLang="zh-SG" sz="2000" dirty="0"/>
              <a:t> </a:t>
            </a:r>
            <a:r>
              <a:rPr lang="en-US" altLang="zh-SG" sz="2000" dirty="0" smtClean="0"/>
              <a:t>:</a:t>
            </a:r>
            <a:endParaRPr lang="en-US" altLang="zh-SG" sz="2000" dirty="0"/>
          </a:p>
        </p:txBody>
      </p:sp>
      <p:grpSp>
        <p:nvGrpSpPr>
          <p:cNvPr id="32777" name="Group 9"/>
          <p:cNvGrpSpPr>
            <a:grpSpLocks/>
          </p:cNvGrpSpPr>
          <p:nvPr/>
        </p:nvGrpSpPr>
        <p:grpSpPr bwMode="auto">
          <a:xfrm>
            <a:off x="2133600" y="4760913"/>
            <a:ext cx="4608513" cy="231775"/>
            <a:chOff x="2209800" y="3925888"/>
            <a:chExt cx="4608000" cy="231017"/>
          </a:xfrm>
        </p:grpSpPr>
        <p:cxnSp>
          <p:nvCxnSpPr>
            <p:cNvPr id="3" name="Straight Arrow Connector 2"/>
            <p:cNvCxnSpPr/>
            <p:nvPr/>
          </p:nvCxnSpPr>
          <p:spPr>
            <a:xfrm flipV="1">
              <a:off x="2209800" y="3925888"/>
              <a:ext cx="0" cy="216776"/>
            </a:xfrm>
            <a:prstGeom prst="straightConnector1">
              <a:avLst/>
            </a:prstGeom>
            <a:ln w="28575">
              <a:solidFill>
                <a:srgbClr val="FF0000"/>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5" name="Straight Arrow Connector 14"/>
            <p:cNvCxnSpPr/>
            <p:nvPr/>
          </p:nvCxnSpPr>
          <p:spPr>
            <a:xfrm flipV="1">
              <a:off x="3962205" y="3940128"/>
              <a:ext cx="0" cy="216777"/>
            </a:xfrm>
            <a:prstGeom prst="straightConnector1">
              <a:avLst/>
            </a:prstGeom>
            <a:ln w="28575">
              <a:solidFill>
                <a:srgbClr val="FF0000"/>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6" name="Straight Arrow Connector 5"/>
            <p:cNvCxnSpPr/>
            <p:nvPr/>
          </p:nvCxnSpPr>
          <p:spPr>
            <a:xfrm>
              <a:off x="6809863" y="3940128"/>
              <a:ext cx="0" cy="216777"/>
            </a:xfrm>
            <a:prstGeom prst="straightConnector1">
              <a:avLst/>
            </a:prstGeom>
            <a:ln w="28575">
              <a:solidFill>
                <a:srgbClr val="FF0000"/>
              </a:solidFill>
              <a:tailEnd type="arrow"/>
            </a:ln>
          </p:spPr>
          <p:style>
            <a:lnRef idx="1">
              <a:schemeClr val="dk1"/>
            </a:lnRef>
            <a:fillRef idx="0">
              <a:schemeClr val="dk1"/>
            </a:fillRef>
            <a:effectRef idx="0">
              <a:schemeClr val="dk1"/>
            </a:effectRef>
            <a:fontRef idx="minor">
              <a:schemeClr val="tx1"/>
            </a:fontRef>
          </p:style>
        </p:cxnSp>
        <p:cxnSp>
          <p:nvCxnSpPr>
            <p:cNvPr id="8" name="Straight Connector 7"/>
            <p:cNvCxnSpPr/>
            <p:nvPr/>
          </p:nvCxnSpPr>
          <p:spPr>
            <a:xfrm>
              <a:off x="2209800" y="3940128"/>
              <a:ext cx="4608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0" name="Rectangle 12"/>
          <p:cNvSpPr>
            <a:spLocks noChangeArrowheads="1"/>
          </p:cNvSpPr>
          <p:nvPr/>
        </p:nvSpPr>
        <p:spPr bwMode="auto">
          <a:xfrm>
            <a:off x="4084637" y="4038600"/>
            <a:ext cx="4122795" cy="369332"/>
          </a:xfrm>
          <a:prstGeom prst="wedgeRectCallout">
            <a:avLst>
              <a:gd name="adj1" fmla="val -26314"/>
              <a:gd name="adj2" fmla="val 147195"/>
            </a:avLst>
          </a:prstGeom>
          <a:solidFill>
            <a:schemeClr val="bg1"/>
          </a:solidFill>
          <a:ln w="19050">
            <a:solidFill>
              <a:srgbClr val="000000"/>
            </a:solidFill>
            <a:miter lim="800000"/>
            <a:headEnd/>
            <a:tailEnd/>
          </a:ln>
          <a:extLst/>
        </p:spPr>
        <p:txBody>
          <a:bodyPr wrap="none" lIns="45720" rIns="45720" anchor="ctr">
            <a:spAutoFit/>
          </a:bodyPr>
          <a:lstStyle>
            <a:lvl1pPr marL="342900" indent="-342900" eaLnBrk="0" hangingPunct="0">
              <a:spcBef>
                <a:spcPct val="20000"/>
              </a:spcBef>
              <a:buFont typeface="Arial" charset="0"/>
              <a:buChar char="•"/>
              <a:defRPr sz="3200">
                <a:solidFill>
                  <a:schemeClr val="tx1"/>
                </a:solidFill>
                <a:latin typeface="Calibri" pitchFamily="34" charset="0"/>
              </a:defRPr>
            </a:lvl1pPr>
            <a:lvl2pPr marL="685800" indent="-68580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lvl="1" eaLnBrk="1" hangingPunct="1">
              <a:buFont typeface="Wingdings" pitchFamily="2" charset="2"/>
              <a:buNone/>
            </a:pPr>
            <a:r>
              <a:rPr lang="en-US" altLang="zh-SG" sz="1800" dirty="0" smtClean="0">
                <a:solidFill>
                  <a:srgbClr val="002060"/>
                </a:solidFill>
              </a:rPr>
              <a:t>Normalization Dependence Diagram (NDD)</a:t>
            </a:r>
            <a:endParaRPr lang="en-US" altLang="zh-SG" sz="1800" dirty="0">
              <a:solidFill>
                <a:srgbClr val="002060"/>
              </a:solidFill>
            </a:endParaRPr>
          </a:p>
        </p:txBody>
      </p:sp>
      <p:sp>
        <p:nvSpPr>
          <p:cNvPr id="21" name="Rectangle 3"/>
          <p:cNvSpPr txBox="1">
            <a:spLocks noChangeArrowheads="1"/>
          </p:cNvSpPr>
          <p:nvPr/>
        </p:nvSpPr>
        <p:spPr bwMode="auto">
          <a:xfrm>
            <a:off x="609600" y="1447800"/>
            <a:ext cx="7452000" cy="16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lstStyle>
            <a:lvl1pPr marL="361950" indent="-361950" eaLnBrk="0" hangingPunct="0">
              <a:spcBef>
                <a:spcPct val="20000"/>
              </a:spcBef>
              <a:buFont typeface="Arial" charset="0"/>
              <a:buChar char="•"/>
              <a:defRPr sz="3200">
                <a:solidFill>
                  <a:schemeClr val="tx1"/>
                </a:solidFill>
                <a:latin typeface="Calibri" pitchFamily="34" charset="0"/>
              </a:defRPr>
            </a:lvl1pPr>
            <a:lvl2pPr marL="627063" indent="-271463"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271463" lvl="1" eaLnBrk="1" hangingPunct="1">
              <a:spcBef>
                <a:spcPts val="0"/>
              </a:spcBef>
              <a:buFont typeface="Courier New" pitchFamily="49" charset="0"/>
              <a:buChar char="o"/>
            </a:pPr>
            <a:r>
              <a:rPr lang="en-US" altLang="en-US" sz="2400" b="1" dirty="0" smtClean="0"/>
              <a:t>Every</a:t>
            </a:r>
            <a:r>
              <a:rPr lang="en-US" altLang="en-US" sz="2400" dirty="0" smtClean="0"/>
              <a:t> </a:t>
            </a:r>
            <a:r>
              <a:rPr lang="en-US" altLang="en-US" sz="2400" u="sng" dirty="0">
                <a:solidFill>
                  <a:srgbClr val="C00000"/>
                </a:solidFill>
              </a:rPr>
              <a:t>Non-key</a:t>
            </a:r>
            <a:r>
              <a:rPr lang="en-US" altLang="en-US" sz="2400" dirty="0"/>
              <a:t> </a:t>
            </a:r>
            <a:r>
              <a:rPr lang="en-US" altLang="en-US" sz="2400" dirty="0" smtClean="0"/>
              <a:t>attribute depends on </a:t>
            </a:r>
            <a:r>
              <a:rPr lang="en-US" altLang="en-US" sz="2400" u="sng" dirty="0" smtClean="0">
                <a:solidFill>
                  <a:srgbClr val="C00000"/>
                </a:solidFill>
              </a:rPr>
              <a:t>parts </a:t>
            </a:r>
            <a:r>
              <a:rPr lang="en-US" altLang="en-US" sz="2400" u="sng" dirty="0">
                <a:solidFill>
                  <a:srgbClr val="C00000"/>
                </a:solidFill>
              </a:rPr>
              <a:t>of the </a:t>
            </a:r>
            <a:r>
              <a:rPr lang="en-US" altLang="en-US" sz="2400" u="sng" dirty="0" smtClean="0">
                <a:solidFill>
                  <a:srgbClr val="C00000"/>
                </a:solidFill>
              </a:rPr>
              <a:t>whole primary </a:t>
            </a:r>
            <a:r>
              <a:rPr lang="en-US" altLang="en-US" sz="2400" u="sng" dirty="0">
                <a:solidFill>
                  <a:srgbClr val="C00000"/>
                </a:solidFill>
              </a:rPr>
              <a:t>key</a:t>
            </a:r>
            <a:r>
              <a:rPr lang="en-US" altLang="en-US" sz="2400" b="1" dirty="0"/>
              <a:t> </a:t>
            </a:r>
            <a:r>
              <a:rPr lang="en-US" altLang="en-US" sz="2400" dirty="0" smtClean="0"/>
              <a:t>of the relation.</a:t>
            </a:r>
            <a:endParaRPr lang="en-US" altLang="en-US" sz="2400" dirty="0"/>
          </a:p>
          <a:p>
            <a:pPr marL="271463" lvl="1" eaLnBrk="1" hangingPunct="1">
              <a:spcBef>
                <a:spcPts val="1200"/>
              </a:spcBef>
              <a:buFont typeface="Courier New" pitchFamily="49" charset="0"/>
              <a:buChar char="o"/>
            </a:pPr>
            <a:r>
              <a:rPr lang="en-US" altLang="en-US" sz="2400" dirty="0"/>
              <a:t>In other word, </a:t>
            </a:r>
            <a:r>
              <a:rPr lang="en-US" altLang="en-US" sz="2400" dirty="0" smtClean="0"/>
              <a:t>only </a:t>
            </a:r>
            <a:r>
              <a:rPr lang="en-US" altLang="en-US" sz="2400" dirty="0"/>
              <a:t>the whole </a:t>
            </a:r>
            <a:r>
              <a:rPr lang="en-US" altLang="en-US" sz="2400" dirty="0">
                <a:solidFill>
                  <a:srgbClr val="C00000"/>
                </a:solidFill>
              </a:rPr>
              <a:t>key</a:t>
            </a:r>
            <a:r>
              <a:rPr lang="en-US" altLang="en-US" sz="2400" dirty="0"/>
              <a:t> </a:t>
            </a:r>
            <a:r>
              <a:rPr lang="en-US" altLang="en-US" sz="2400" dirty="0" smtClean="0"/>
              <a:t>attribute determine </a:t>
            </a:r>
            <a:r>
              <a:rPr lang="en-US" altLang="en-US" sz="2400" dirty="0"/>
              <a:t>those </a:t>
            </a:r>
            <a:r>
              <a:rPr lang="en-US" altLang="en-US" sz="2400" dirty="0">
                <a:solidFill>
                  <a:srgbClr val="C00000"/>
                </a:solidFill>
              </a:rPr>
              <a:t>non-key</a:t>
            </a:r>
            <a:r>
              <a:rPr lang="en-US" altLang="en-US" sz="2400" dirty="0"/>
              <a:t> </a:t>
            </a:r>
            <a:r>
              <a:rPr lang="en-US" altLang="en-US" sz="2400" dirty="0" smtClean="0"/>
              <a:t>attributes.</a:t>
            </a:r>
            <a:endParaRPr lang="en-US" altLang="en-US" sz="2400" dirty="0"/>
          </a:p>
        </p:txBody>
      </p:sp>
      <p:sp>
        <p:nvSpPr>
          <p:cNvPr id="27" name="TextBox 26"/>
          <p:cNvSpPr txBox="1"/>
          <p:nvPr/>
        </p:nvSpPr>
        <p:spPr bwMode="auto">
          <a:xfrm>
            <a:off x="1610491" y="5708202"/>
            <a:ext cx="4333109" cy="387798"/>
          </a:xfrm>
          <a:prstGeom prst="rect">
            <a:avLst/>
          </a:prstGeom>
          <a:noFill/>
        </p:spPr>
        <p:txBody>
          <a:bodyPr wrap="none" lIns="9144" tIns="9144" rIns="9144" bIns="9144">
            <a:spAutoFit/>
          </a:bodyPr>
          <a:lstStyle/>
          <a:p>
            <a:pPr>
              <a:spcAft>
                <a:spcPts val="600"/>
              </a:spcAft>
              <a:defRPr/>
            </a:pPr>
            <a:r>
              <a:rPr lang="en-GB" sz="2400" dirty="0" err="1" smtClean="0">
                <a:solidFill>
                  <a:srgbClr val="C00000"/>
                </a:solidFill>
                <a:latin typeface="+mn-lt"/>
              </a:rPr>
              <a:t>PartNo</a:t>
            </a:r>
            <a:r>
              <a:rPr lang="en-GB" sz="2400" dirty="0" smtClean="0">
                <a:latin typeface="+mn-lt"/>
              </a:rPr>
              <a:t> &amp; </a:t>
            </a:r>
            <a:r>
              <a:rPr lang="en-GB" sz="2400" dirty="0" err="1" smtClean="0">
                <a:solidFill>
                  <a:srgbClr val="C00000"/>
                </a:solidFill>
                <a:latin typeface="+mn-lt"/>
              </a:rPr>
              <a:t>SuppNo</a:t>
            </a:r>
            <a:r>
              <a:rPr lang="en-GB" sz="2400" dirty="0" smtClean="0">
                <a:latin typeface="+mn-lt"/>
              </a:rPr>
              <a:t> determine </a:t>
            </a:r>
            <a:r>
              <a:rPr lang="en-GB" sz="2400" dirty="0" smtClean="0">
                <a:solidFill>
                  <a:srgbClr val="C00000"/>
                </a:solidFill>
                <a:latin typeface="+mn-lt"/>
              </a:rPr>
              <a:t>Cost</a:t>
            </a:r>
            <a:endParaRPr lang="en-GB" sz="2400" dirty="0" smtClean="0">
              <a:latin typeface="+mn-lt"/>
            </a:endParaRPr>
          </a:p>
        </p:txBody>
      </p:sp>
      <p:sp>
        <p:nvSpPr>
          <p:cNvPr id="30" name="Rectangle 12"/>
          <p:cNvSpPr>
            <a:spLocks noChangeArrowheads="1"/>
          </p:cNvSpPr>
          <p:nvPr/>
        </p:nvSpPr>
        <p:spPr bwMode="auto">
          <a:xfrm>
            <a:off x="1103795" y="5687510"/>
            <a:ext cx="4081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rIns="45720" anchor="ctr">
            <a:spAutoFit/>
          </a:bodyPr>
          <a:lstStyle>
            <a:lvl1pPr marL="342900" indent="-342900" eaLnBrk="0" hangingPunct="0">
              <a:spcBef>
                <a:spcPct val="20000"/>
              </a:spcBef>
              <a:buFont typeface="Arial" charset="0"/>
              <a:buChar char="•"/>
              <a:defRPr sz="3200">
                <a:solidFill>
                  <a:schemeClr val="tx1"/>
                </a:solidFill>
                <a:latin typeface="Calibri" pitchFamily="34" charset="0"/>
              </a:defRPr>
            </a:lvl1pPr>
            <a:lvl2pPr marL="685800" indent="-68580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lvl="1" eaLnBrk="1" hangingPunct="1">
              <a:buFont typeface="Wingdings" pitchFamily="2" charset="2"/>
              <a:buNone/>
            </a:pPr>
            <a:r>
              <a:rPr lang="en-US" altLang="zh-SG" sz="2000" dirty="0" smtClean="0"/>
              <a:t>i.e.</a:t>
            </a:r>
            <a:endParaRPr lang="en-US" altLang="zh-SG" sz="20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362" name="Title 1"/>
          <p:cNvSpPr>
            <a:spLocks noGrp="1"/>
          </p:cNvSpPr>
          <p:nvPr>
            <p:ph type="ctrTitle" idx="4294967295"/>
          </p:nvPr>
        </p:nvSpPr>
        <p:spPr>
          <a:xfrm>
            <a:off x="711200" y="228600"/>
            <a:ext cx="5758555" cy="565146"/>
          </a:xfrm>
        </p:spPr>
        <p:txBody>
          <a:bodyPr wrap="none" lIns="36000" tIns="36000" rIns="36000" bIns="36000" anchor="t">
            <a:spAutoFit/>
          </a:bodyPr>
          <a:lstStyle/>
          <a:p>
            <a:pPr algn="l" eaLnBrk="1" hangingPunct="1">
              <a:defRPr/>
            </a:pPr>
            <a:r>
              <a:rPr lang="en-GB" sz="3200" b="1" dirty="0" smtClean="0">
                <a:solidFill>
                  <a:srgbClr val="C00000"/>
                </a:solidFill>
                <a:latin typeface="+mn-lt"/>
              </a:rPr>
              <a:t>2NF - Full Functional Dependency</a:t>
            </a:r>
            <a:endParaRPr lang="en-US" sz="3200" b="1" dirty="0" smtClean="0">
              <a:solidFill>
                <a:schemeClr val="tx2">
                  <a:lumMod val="75000"/>
                </a:schemeClr>
              </a:solidFill>
              <a:latin typeface="+mn-lt"/>
            </a:endParaRPr>
          </a:p>
        </p:txBody>
      </p:sp>
      <p:sp>
        <p:nvSpPr>
          <p:cNvPr id="27" name="TextBox 26"/>
          <p:cNvSpPr txBox="1"/>
          <p:nvPr/>
        </p:nvSpPr>
        <p:spPr bwMode="auto">
          <a:xfrm>
            <a:off x="1570092" y="1003131"/>
            <a:ext cx="4333109" cy="387798"/>
          </a:xfrm>
          <a:prstGeom prst="rect">
            <a:avLst/>
          </a:prstGeom>
          <a:noFill/>
        </p:spPr>
        <p:txBody>
          <a:bodyPr wrap="none" lIns="9144" tIns="9144" rIns="9144" bIns="9144">
            <a:spAutoFit/>
          </a:bodyPr>
          <a:lstStyle/>
          <a:p>
            <a:pPr>
              <a:spcAft>
                <a:spcPts val="600"/>
              </a:spcAft>
              <a:defRPr/>
            </a:pPr>
            <a:r>
              <a:rPr lang="en-GB" sz="2400" dirty="0" err="1" smtClean="0">
                <a:solidFill>
                  <a:srgbClr val="C00000"/>
                </a:solidFill>
                <a:latin typeface="+mn-lt"/>
              </a:rPr>
              <a:t>PartNo</a:t>
            </a:r>
            <a:r>
              <a:rPr lang="en-GB" sz="2400" dirty="0" smtClean="0">
                <a:latin typeface="+mn-lt"/>
              </a:rPr>
              <a:t> &amp; </a:t>
            </a:r>
            <a:r>
              <a:rPr lang="en-GB" sz="2400" dirty="0" err="1" smtClean="0">
                <a:solidFill>
                  <a:srgbClr val="C00000"/>
                </a:solidFill>
                <a:latin typeface="+mn-lt"/>
              </a:rPr>
              <a:t>SuppNo</a:t>
            </a:r>
            <a:r>
              <a:rPr lang="en-GB" sz="2400" dirty="0" smtClean="0">
                <a:latin typeface="+mn-lt"/>
              </a:rPr>
              <a:t> determines </a:t>
            </a:r>
            <a:r>
              <a:rPr lang="en-GB" sz="2400" dirty="0" smtClean="0">
                <a:solidFill>
                  <a:srgbClr val="C00000"/>
                </a:solidFill>
                <a:latin typeface="+mn-lt"/>
              </a:rPr>
              <a:t>Cost</a:t>
            </a:r>
            <a:endParaRPr lang="en-GB" sz="2400" dirty="0" smtClean="0">
              <a:latin typeface="+mn-lt"/>
            </a:endParaRPr>
          </a:p>
        </p:txBody>
      </p:sp>
      <p:sp>
        <p:nvSpPr>
          <p:cNvPr id="28" name="Rectangle 12"/>
          <p:cNvSpPr>
            <a:spLocks noChangeArrowheads="1"/>
          </p:cNvSpPr>
          <p:nvPr/>
        </p:nvSpPr>
        <p:spPr bwMode="auto">
          <a:xfrm>
            <a:off x="694449" y="1817537"/>
            <a:ext cx="66531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rIns="45720" anchor="ctr">
            <a:spAutoFit/>
          </a:bodyPr>
          <a:lstStyle>
            <a:lvl1pPr marL="342900" indent="-342900" eaLnBrk="0" hangingPunct="0">
              <a:spcBef>
                <a:spcPct val="20000"/>
              </a:spcBef>
              <a:buFont typeface="Arial" charset="0"/>
              <a:buChar char="•"/>
              <a:defRPr sz="3200">
                <a:solidFill>
                  <a:schemeClr val="tx1"/>
                </a:solidFill>
                <a:latin typeface="Calibri" pitchFamily="34" charset="0"/>
              </a:defRPr>
            </a:lvl1pPr>
            <a:lvl2pPr marL="685800" indent="-68580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lvl="1" eaLnBrk="1" hangingPunct="1">
              <a:buFont typeface="Wingdings" pitchFamily="2" charset="2"/>
              <a:buNone/>
            </a:pPr>
            <a:r>
              <a:rPr lang="en-US" altLang="zh-SG" sz="2400" dirty="0" smtClean="0"/>
              <a:t>Hence, the </a:t>
            </a:r>
            <a:r>
              <a:rPr lang="en-US" altLang="zh-SG" sz="2400" u="sng" dirty="0" smtClean="0">
                <a:solidFill>
                  <a:srgbClr val="C00000"/>
                </a:solidFill>
              </a:rPr>
              <a:t>Functional Dependency Relation (FDR) is:</a:t>
            </a:r>
            <a:endParaRPr lang="en-US" altLang="zh-SG" sz="2400" dirty="0"/>
          </a:p>
        </p:txBody>
      </p:sp>
      <p:sp>
        <p:nvSpPr>
          <p:cNvPr id="29" name="TextBox 28"/>
          <p:cNvSpPr txBox="1"/>
          <p:nvPr/>
        </p:nvSpPr>
        <p:spPr bwMode="auto">
          <a:xfrm>
            <a:off x="1559801" y="2355402"/>
            <a:ext cx="3280706" cy="387798"/>
          </a:xfrm>
          <a:prstGeom prst="rect">
            <a:avLst/>
          </a:prstGeom>
          <a:noFill/>
        </p:spPr>
        <p:txBody>
          <a:bodyPr wrap="none" lIns="9144" tIns="9144" rIns="9144" bIns="9144">
            <a:spAutoFit/>
          </a:bodyPr>
          <a:lstStyle/>
          <a:p>
            <a:pPr>
              <a:spcAft>
                <a:spcPts val="600"/>
              </a:spcAft>
              <a:defRPr/>
            </a:pPr>
            <a:r>
              <a:rPr lang="en-GB" sz="2400" b="1" dirty="0" err="1" smtClean="0">
                <a:solidFill>
                  <a:schemeClr val="tx2">
                    <a:lumMod val="75000"/>
                  </a:schemeClr>
                </a:solidFill>
                <a:latin typeface="+mn-lt"/>
              </a:rPr>
              <a:t>PartNo</a:t>
            </a:r>
            <a:r>
              <a:rPr lang="en-GB" sz="2400" dirty="0" smtClean="0">
                <a:solidFill>
                  <a:schemeClr val="tx2">
                    <a:lumMod val="75000"/>
                  </a:schemeClr>
                </a:solidFill>
                <a:latin typeface="+mn-lt"/>
              </a:rPr>
              <a:t>, </a:t>
            </a:r>
            <a:r>
              <a:rPr lang="en-GB" sz="2400" b="1" dirty="0" err="1" smtClean="0">
                <a:solidFill>
                  <a:schemeClr val="tx2">
                    <a:lumMod val="75000"/>
                  </a:schemeClr>
                </a:solidFill>
                <a:latin typeface="+mn-lt"/>
              </a:rPr>
              <a:t>SuppNo</a:t>
            </a:r>
            <a:r>
              <a:rPr lang="en-GB" sz="2400" dirty="0" smtClean="0">
                <a:solidFill>
                  <a:schemeClr val="tx2">
                    <a:lumMod val="75000"/>
                  </a:schemeClr>
                </a:solidFill>
                <a:latin typeface="+mn-lt"/>
              </a:rPr>
              <a:t> ----&gt; Cost</a:t>
            </a:r>
          </a:p>
        </p:txBody>
      </p:sp>
      <p:sp>
        <p:nvSpPr>
          <p:cNvPr id="30" name="Rectangle 12"/>
          <p:cNvSpPr>
            <a:spLocks noChangeArrowheads="1"/>
          </p:cNvSpPr>
          <p:nvPr/>
        </p:nvSpPr>
        <p:spPr bwMode="auto">
          <a:xfrm>
            <a:off x="805637" y="1015583"/>
            <a:ext cx="6421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rIns="45720" anchor="ctr">
            <a:spAutoFit/>
          </a:bodyPr>
          <a:lstStyle>
            <a:lvl1pPr marL="342900" indent="-342900" eaLnBrk="0" hangingPunct="0">
              <a:spcBef>
                <a:spcPct val="20000"/>
              </a:spcBef>
              <a:buFont typeface="Arial" charset="0"/>
              <a:buChar char="•"/>
              <a:defRPr sz="3200">
                <a:solidFill>
                  <a:schemeClr val="tx1"/>
                </a:solidFill>
                <a:latin typeface="Calibri" pitchFamily="34" charset="0"/>
              </a:defRPr>
            </a:lvl1pPr>
            <a:lvl2pPr marL="685800" indent="-68580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lvl="1" eaLnBrk="1" hangingPunct="1">
              <a:buFont typeface="Wingdings" pitchFamily="2" charset="2"/>
              <a:buNone/>
            </a:pPr>
            <a:r>
              <a:rPr lang="en-US" altLang="zh-SG" sz="2000" dirty="0" smtClean="0"/>
              <a:t>Since</a:t>
            </a:r>
            <a:endParaRPr lang="en-US" altLang="zh-SG" sz="2000" dirty="0"/>
          </a:p>
        </p:txBody>
      </p:sp>
      <p:sp>
        <p:nvSpPr>
          <p:cNvPr id="31" name="Rectangle 12"/>
          <p:cNvSpPr>
            <a:spLocks noChangeArrowheads="1"/>
          </p:cNvSpPr>
          <p:nvPr/>
        </p:nvSpPr>
        <p:spPr bwMode="auto">
          <a:xfrm>
            <a:off x="694449" y="3119735"/>
            <a:ext cx="47175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rIns="45720" anchor="ctr">
            <a:spAutoFit/>
          </a:bodyPr>
          <a:lstStyle>
            <a:lvl1pPr marL="342900" indent="-342900" eaLnBrk="0" hangingPunct="0">
              <a:spcBef>
                <a:spcPct val="20000"/>
              </a:spcBef>
              <a:buFont typeface="Arial" charset="0"/>
              <a:buChar char="•"/>
              <a:defRPr sz="3200">
                <a:solidFill>
                  <a:schemeClr val="tx1"/>
                </a:solidFill>
                <a:latin typeface="Calibri" pitchFamily="34" charset="0"/>
              </a:defRPr>
            </a:lvl1pPr>
            <a:lvl2pPr marL="685800" indent="-68580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lvl="1" eaLnBrk="1" hangingPunct="1">
              <a:buFont typeface="Wingdings" pitchFamily="2" charset="2"/>
              <a:buNone/>
            </a:pPr>
            <a:r>
              <a:rPr lang="en-US" altLang="zh-SG" sz="2400" dirty="0" smtClean="0"/>
              <a:t>The normalized relational schema is :</a:t>
            </a:r>
            <a:endParaRPr lang="en-US" altLang="zh-SG" sz="2400" dirty="0"/>
          </a:p>
        </p:txBody>
      </p:sp>
      <p:sp>
        <p:nvSpPr>
          <p:cNvPr id="32" name="TextBox 31"/>
          <p:cNvSpPr txBox="1"/>
          <p:nvPr/>
        </p:nvSpPr>
        <p:spPr bwMode="auto">
          <a:xfrm>
            <a:off x="1524000" y="3727002"/>
            <a:ext cx="4425763" cy="387798"/>
          </a:xfrm>
          <a:prstGeom prst="rect">
            <a:avLst/>
          </a:prstGeom>
          <a:noFill/>
        </p:spPr>
        <p:txBody>
          <a:bodyPr wrap="none" lIns="9144" tIns="9144" rIns="9144" bIns="9144">
            <a:spAutoFit/>
          </a:bodyPr>
          <a:lstStyle/>
          <a:p>
            <a:pPr>
              <a:spcAft>
                <a:spcPts val="600"/>
              </a:spcAft>
              <a:defRPr/>
            </a:pPr>
            <a:r>
              <a:rPr lang="en-GB" sz="2400" dirty="0" smtClean="0">
                <a:solidFill>
                  <a:schemeClr val="tx2">
                    <a:lumMod val="75000"/>
                  </a:schemeClr>
                </a:solidFill>
                <a:latin typeface="+mn-lt"/>
              </a:rPr>
              <a:t>PURCHASE</a:t>
            </a:r>
            <a:r>
              <a:rPr lang="en-GB" sz="2400" dirty="0" smtClean="0">
                <a:solidFill>
                  <a:srgbClr val="C00000"/>
                </a:solidFill>
                <a:latin typeface="+mn-lt"/>
              </a:rPr>
              <a:t> </a:t>
            </a:r>
            <a:r>
              <a:rPr lang="en-GB" sz="2400" dirty="0" smtClean="0">
                <a:solidFill>
                  <a:schemeClr val="tx2">
                    <a:lumMod val="50000"/>
                  </a:schemeClr>
                </a:solidFill>
                <a:latin typeface="+mn-lt"/>
              </a:rPr>
              <a:t>(</a:t>
            </a:r>
            <a:r>
              <a:rPr lang="en-GB" sz="2400" b="1" dirty="0" err="1" smtClean="0">
                <a:solidFill>
                  <a:schemeClr val="tx2">
                    <a:lumMod val="50000"/>
                  </a:schemeClr>
                </a:solidFill>
                <a:latin typeface="+mn-lt"/>
              </a:rPr>
              <a:t>PartNo</a:t>
            </a:r>
            <a:r>
              <a:rPr lang="en-GB" sz="2400" dirty="0" smtClean="0">
                <a:solidFill>
                  <a:schemeClr val="tx2">
                    <a:lumMod val="50000"/>
                  </a:schemeClr>
                </a:solidFill>
                <a:latin typeface="+mn-lt"/>
              </a:rPr>
              <a:t>, </a:t>
            </a:r>
            <a:r>
              <a:rPr lang="en-GB" sz="2400" b="1" dirty="0" err="1" smtClean="0">
                <a:solidFill>
                  <a:schemeClr val="tx2">
                    <a:lumMod val="50000"/>
                  </a:schemeClr>
                </a:solidFill>
                <a:latin typeface="+mn-lt"/>
              </a:rPr>
              <a:t>SuppNo</a:t>
            </a:r>
            <a:r>
              <a:rPr lang="en-GB" sz="2400" dirty="0" smtClean="0">
                <a:solidFill>
                  <a:schemeClr val="tx2">
                    <a:lumMod val="50000"/>
                  </a:schemeClr>
                </a:solidFill>
                <a:latin typeface="+mn-lt"/>
              </a:rPr>
              <a:t>, Cost )</a:t>
            </a:r>
          </a:p>
        </p:txBody>
      </p:sp>
    </p:spTree>
    <p:extLst>
      <p:ext uri="{BB962C8B-B14F-4D97-AF65-F5344CB8AC3E}">
        <p14:creationId xmlns:p14="http://schemas.microsoft.com/office/powerpoint/2010/main" val="156761469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7" name="Rectangle 26"/>
          <p:cNvSpPr/>
          <p:nvPr/>
        </p:nvSpPr>
        <p:spPr>
          <a:xfrm>
            <a:off x="685800" y="4038600"/>
            <a:ext cx="8315325" cy="720000"/>
          </a:xfrm>
          <a:prstGeom prst="rect">
            <a:avLst/>
          </a:prstGeom>
          <a:solidFill>
            <a:srgbClr val="FFFF99"/>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SG"/>
          </a:p>
        </p:txBody>
      </p:sp>
      <p:sp>
        <p:nvSpPr>
          <p:cNvPr id="4" name="Rectangle 3"/>
          <p:cNvSpPr txBox="1">
            <a:spLocks noChangeArrowheads="1"/>
          </p:cNvSpPr>
          <p:nvPr/>
        </p:nvSpPr>
        <p:spPr>
          <a:xfrm>
            <a:off x="685800" y="914400"/>
            <a:ext cx="7060065" cy="503590"/>
          </a:xfrm>
          <a:prstGeom prst="rect">
            <a:avLst/>
          </a:prstGeom>
        </p:spPr>
        <p:txBody>
          <a:bodyPr wrap="none" lIns="36000" tIns="36000" rIns="36000" bIns="36000">
            <a:spAutoFit/>
          </a:bodyPr>
          <a:lstStyle/>
          <a:p>
            <a:pPr>
              <a:spcBef>
                <a:spcPct val="20000"/>
              </a:spcBef>
              <a:defRPr/>
            </a:pPr>
            <a:r>
              <a:rPr lang="en-US" sz="2800" b="1" dirty="0" smtClean="0">
                <a:solidFill>
                  <a:srgbClr val="C00000"/>
                </a:solidFill>
                <a:latin typeface="+mn-lt"/>
              </a:rPr>
              <a:t>Step 2 : Identify Partial Functional Dependency</a:t>
            </a:r>
            <a:endParaRPr lang="en-US" sz="2800" b="1" dirty="0">
              <a:solidFill>
                <a:srgbClr val="C00000"/>
              </a:solidFill>
              <a:latin typeface="+mn-lt"/>
            </a:endParaRPr>
          </a:p>
        </p:txBody>
      </p:sp>
      <p:sp>
        <p:nvSpPr>
          <p:cNvPr id="15" name="Title 1"/>
          <p:cNvSpPr>
            <a:spLocks noGrp="1"/>
          </p:cNvSpPr>
          <p:nvPr>
            <p:ph type="ctrTitle" idx="4294967295"/>
          </p:nvPr>
        </p:nvSpPr>
        <p:spPr>
          <a:xfrm>
            <a:off x="685800" y="228600"/>
            <a:ext cx="6252280" cy="565146"/>
          </a:xfrm>
        </p:spPr>
        <p:txBody>
          <a:bodyPr wrap="none" lIns="36000" tIns="36000" rIns="36000" bIns="36000" anchor="t">
            <a:spAutoFit/>
          </a:bodyPr>
          <a:lstStyle/>
          <a:p>
            <a:pPr algn="l" eaLnBrk="1" hangingPunct="1">
              <a:defRPr/>
            </a:pPr>
            <a:r>
              <a:rPr lang="en-GB" sz="3200" b="1" dirty="0" smtClean="0">
                <a:solidFill>
                  <a:srgbClr val="C00000"/>
                </a:solidFill>
                <a:latin typeface="+mn-lt"/>
              </a:rPr>
              <a:t>2NF - Partial Functional Dependency</a:t>
            </a:r>
            <a:endParaRPr lang="en-US" sz="3200" b="1" dirty="0" smtClean="0">
              <a:solidFill>
                <a:schemeClr val="tx2">
                  <a:lumMod val="75000"/>
                </a:schemeClr>
              </a:solidFill>
              <a:latin typeface="+mn-lt"/>
            </a:endParaRPr>
          </a:p>
        </p:txBody>
      </p:sp>
      <p:sp>
        <p:nvSpPr>
          <p:cNvPr id="18" name="TextBox 17"/>
          <p:cNvSpPr txBox="1"/>
          <p:nvPr/>
        </p:nvSpPr>
        <p:spPr>
          <a:xfrm>
            <a:off x="698500" y="4092042"/>
            <a:ext cx="7887096" cy="369332"/>
          </a:xfrm>
          <a:prstGeom prst="rect">
            <a:avLst/>
          </a:prstGeom>
          <a:solidFill>
            <a:srgbClr val="99FF99"/>
          </a:solidFill>
        </p:spPr>
        <p:txBody>
          <a:bodyPr wrap="none" lIns="45720" rIns="45720">
            <a:spAutoFit/>
          </a:bodyPr>
          <a:lstStyle/>
          <a:p>
            <a:pPr>
              <a:defRPr/>
            </a:pPr>
            <a:r>
              <a:rPr lang="en-GB" dirty="0">
                <a:latin typeface="+mn-lt"/>
              </a:rPr>
              <a:t>PURCHASE</a:t>
            </a:r>
            <a:r>
              <a:rPr lang="en-GB" b="1" dirty="0">
                <a:latin typeface="+mn-lt"/>
              </a:rPr>
              <a:t> (</a:t>
            </a:r>
            <a:r>
              <a:rPr lang="en-GB" b="1" u="sng" dirty="0" err="1">
                <a:solidFill>
                  <a:srgbClr val="FF0000"/>
                </a:solidFill>
                <a:latin typeface="+mn-lt"/>
              </a:rPr>
              <a:t>PartNo</a:t>
            </a:r>
            <a:r>
              <a:rPr lang="en-GB" dirty="0">
                <a:latin typeface="+mn-lt"/>
              </a:rPr>
              <a:t>, </a:t>
            </a:r>
            <a:r>
              <a:rPr lang="en-GB" dirty="0" err="1">
                <a:latin typeface="+mn-lt"/>
              </a:rPr>
              <a:t>PartDesc</a:t>
            </a:r>
            <a:r>
              <a:rPr lang="en-GB" dirty="0">
                <a:latin typeface="+mn-lt"/>
              </a:rPr>
              <a:t>, </a:t>
            </a:r>
            <a:r>
              <a:rPr lang="en-GB" b="1" u="sng" dirty="0" err="1">
                <a:solidFill>
                  <a:srgbClr val="FF0000"/>
                </a:solidFill>
                <a:latin typeface="+mn-lt"/>
              </a:rPr>
              <a:t>SuppNo</a:t>
            </a:r>
            <a:r>
              <a:rPr lang="en-GB" dirty="0">
                <a:latin typeface="+mn-lt"/>
              </a:rPr>
              <a:t>, </a:t>
            </a:r>
            <a:r>
              <a:rPr lang="en-GB" dirty="0" err="1">
                <a:latin typeface="+mn-lt"/>
              </a:rPr>
              <a:t>SuppName</a:t>
            </a:r>
            <a:r>
              <a:rPr lang="en-GB" dirty="0">
                <a:latin typeface="+mn-lt"/>
              </a:rPr>
              <a:t>, </a:t>
            </a:r>
            <a:r>
              <a:rPr lang="en-GB" dirty="0" err="1">
                <a:latin typeface="+mn-lt"/>
              </a:rPr>
              <a:t>SuppAddr</a:t>
            </a:r>
            <a:r>
              <a:rPr lang="en-GB" dirty="0">
                <a:latin typeface="+mn-lt"/>
              </a:rPr>
              <a:t>, Cost, </a:t>
            </a:r>
            <a:r>
              <a:rPr lang="en-GB" dirty="0" smtClean="0">
                <a:latin typeface="+mn-lt"/>
              </a:rPr>
              <a:t>Store, </a:t>
            </a:r>
            <a:r>
              <a:rPr lang="en-GB" dirty="0">
                <a:latin typeface="+mn-lt"/>
              </a:rPr>
              <a:t>Phone)</a:t>
            </a:r>
            <a:endParaRPr lang="en-US" dirty="0">
              <a:latin typeface="+mn-lt"/>
            </a:endParaRPr>
          </a:p>
        </p:txBody>
      </p:sp>
      <p:sp>
        <p:nvSpPr>
          <p:cNvPr id="37" name="TextBox 36"/>
          <p:cNvSpPr txBox="1"/>
          <p:nvPr/>
        </p:nvSpPr>
        <p:spPr>
          <a:xfrm>
            <a:off x="2114550" y="5007757"/>
            <a:ext cx="5839355" cy="326243"/>
          </a:xfrm>
          <a:prstGeom prst="rect">
            <a:avLst/>
          </a:prstGeom>
          <a:noFill/>
        </p:spPr>
        <p:txBody>
          <a:bodyPr wrap="none" lIns="9144" tIns="9144" rIns="9144" bIns="9144">
            <a:spAutoFit/>
          </a:bodyPr>
          <a:lstStyle/>
          <a:p>
            <a:pPr>
              <a:defRPr/>
            </a:pPr>
            <a:r>
              <a:rPr lang="en-GB" sz="2000" dirty="0">
                <a:solidFill>
                  <a:srgbClr val="FF0000"/>
                </a:solidFill>
                <a:latin typeface="+mn-lt"/>
              </a:rPr>
              <a:t>Each </a:t>
            </a:r>
            <a:r>
              <a:rPr lang="en-GB" sz="2000" dirty="0" smtClean="0">
                <a:solidFill>
                  <a:srgbClr val="FF0000"/>
                </a:solidFill>
                <a:latin typeface="+mn-lt"/>
              </a:rPr>
              <a:t>partial key determines </a:t>
            </a:r>
            <a:r>
              <a:rPr lang="en-GB" sz="2000" dirty="0">
                <a:solidFill>
                  <a:srgbClr val="FF0000"/>
                </a:solidFill>
                <a:latin typeface="+mn-lt"/>
              </a:rPr>
              <a:t>relevant non-key attributes</a:t>
            </a:r>
            <a:endParaRPr lang="en-US" sz="2000" dirty="0">
              <a:solidFill>
                <a:srgbClr val="FF0000"/>
              </a:solidFill>
              <a:latin typeface="+mn-lt"/>
            </a:endParaRPr>
          </a:p>
        </p:txBody>
      </p:sp>
      <p:sp>
        <p:nvSpPr>
          <p:cNvPr id="34823" name="Rectangle 12"/>
          <p:cNvSpPr>
            <a:spLocks noChangeArrowheads="1"/>
          </p:cNvSpPr>
          <p:nvPr/>
        </p:nvSpPr>
        <p:spPr bwMode="auto">
          <a:xfrm>
            <a:off x="685800" y="3456700"/>
            <a:ext cx="8491042"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8288" tIns="18288" rIns="18288" bIns="18288" anchor="ctr">
            <a:spAutoFit/>
          </a:bodyPr>
          <a:lstStyle>
            <a:lvl1pPr marL="342900" indent="-342900" eaLnBrk="0" hangingPunct="0">
              <a:spcBef>
                <a:spcPct val="20000"/>
              </a:spcBef>
              <a:buFont typeface="Arial" charset="0"/>
              <a:buChar char="•"/>
              <a:defRPr sz="3200">
                <a:solidFill>
                  <a:schemeClr val="tx1"/>
                </a:solidFill>
                <a:latin typeface="Calibri" pitchFamily="34" charset="0"/>
              </a:defRPr>
            </a:lvl1pPr>
            <a:lvl2pPr marL="685800" indent="-68580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lvl="1" eaLnBrk="1" hangingPunct="1">
              <a:buFont typeface="Wingdings" pitchFamily="2" charset="2"/>
              <a:buNone/>
            </a:pPr>
            <a:r>
              <a:rPr lang="en-US" altLang="zh-SG" sz="1800" dirty="0" smtClean="0"/>
              <a:t>Consider the given information, construct the </a:t>
            </a:r>
            <a:r>
              <a:rPr lang="en-US" altLang="zh-SG" sz="1800" u="sng" dirty="0"/>
              <a:t>Normalization Dependency </a:t>
            </a:r>
            <a:r>
              <a:rPr lang="en-US" altLang="zh-SG" sz="1800" u="sng" dirty="0" smtClean="0"/>
              <a:t>Diagram (NDD)</a:t>
            </a:r>
            <a:r>
              <a:rPr lang="en-US" altLang="zh-SG" sz="1800" dirty="0" smtClean="0"/>
              <a:t> :</a:t>
            </a:r>
            <a:endParaRPr lang="en-US" altLang="zh-SG" sz="1800" dirty="0"/>
          </a:p>
        </p:txBody>
      </p:sp>
      <p:grpSp>
        <p:nvGrpSpPr>
          <p:cNvPr id="31755" name="Group 39"/>
          <p:cNvGrpSpPr>
            <a:grpSpLocks/>
          </p:cNvGrpSpPr>
          <p:nvPr/>
        </p:nvGrpSpPr>
        <p:grpSpPr bwMode="auto">
          <a:xfrm>
            <a:off x="2187575" y="4472278"/>
            <a:ext cx="5852160" cy="291672"/>
            <a:chOff x="2362200" y="5917870"/>
            <a:chExt cx="5852338" cy="291908"/>
          </a:xfrm>
        </p:grpSpPr>
        <p:cxnSp>
          <p:nvCxnSpPr>
            <p:cNvPr id="41" name="Straight Arrow Connector 40"/>
            <p:cNvCxnSpPr/>
            <p:nvPr/>
          </p:nvCxnSpPr>
          <p:spPr>
            <a:xfrm>
              <a:off x="2362200" y="5935238"/>
              <a:ext cx="0" cy="274540"/>
            </a:xfrm>
            <a:prstGeom prst="straightConnector1">
              <a:avLst/>
            </a:prstGeom>
            <a:ln w="38100">
              <a:solidFill>
                <a:srgbClr val="C00000"/>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42" name="Straight Arrow Connector 41"/>
            <p:cNvCxnSpPr/>
            <p:nvPr/>
          </p:nvCxnSpPr>
          <p:spPr>
            <a:xfrm flipV="1">
              <a:off x="3146449" y="5919460"/>
              <a:ext cx="0" cy="274541"/>
            </a:xfrm>
            <a:prstGeom prst="straightConnector1">
              <a:avLst/>
            </a:prstGeom>
            <a:ln w="28575">
              <a:solidFill>
                <a:srgbClr val="7030A0"/>
              </a:solidFill>
              <a:tailEnd type="arrow"/>
            </a:ln>
          </p:spPr>
          <p:style>
            <a:lnRef idx="1">
              <a:schemeClr val="dk1"/>
            </a:lnRef>
            <a:fillRef idx="0">
              <a:schemeClr val="dk1"/>
            </a:fillRef>
            <a:effectRef idx="0">
              <a:schemeClr val="dk1"/>
            </a:effectRef>
            <a:fontRef idx="minor">
              <a:schemeClr val="tx1"/>
            </a:fontRef>
          </p:style>
        </p:cxnSp>
        <p:cxnSp>
          <p:nvCxnSpPr>
            <p:cNvPr id="43" name="Straight Connector 42"/>
            <p:cNvCxnSpPr/>
            <p:nvPr/>
          </p:nvCxnSpPr>
          <p:spPr>
            <a:xfrm>
              <a:off x="2362200" y="6206702"/>
              <a:ext cx="5852338" cy="0"/>
            </a:xfrm>
            <a:prstGeom prst="line">
              <a:avLst/>
            </a:prstGeom>
            <a:ln w="28575">
              <a:solidFill>
                <a:srgbClr val="7030A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flipV="1">
              <a:off x="8175803" y="5917870"/>
              <a:ext cx="0" cy="274542"/>
            </a:xfrm>
            <a:prstGeom prst="straightConnector1">
              <a:avLst/>
            </a:prstGeom>
            <a:ln w="28575">
              <a:solidFill>
                <a:srgbClr val="7030A0"/>
              </a:solidFill>
              <a:tailEnd type="arrow"/>
            </a:ln>
          </p:spPr>
          <p:style>
            <a:lnRef idx="1">
              <a:schemeClr val="dk1"/>
            </a:lnRef>
            <a:fillRef idx="0">
              <a:schemeClr val="dk1"/>
            </a:fillRef>
            <a:effectRef idx="0">
              <a:schemeClr val="dk1"/>
            </a:effectRef>
            <a:fontRef idx="minor">
              <a:schemeClr val="tx1"/>
            </a:fontRef>
          </p:style>
        </p:cxnSp>
        <p:cxnSp>
          <p:nvCxnSpPr>
            <p:cNvPr id="45" name="Straight Arrow Connector 44"/>
            <p:cNvCxnSpPr/>
            <p:nvPr/>
          </p:nvCxnSpPr>
          <p:spPr>
            <a:xfrm flipV="1">
              <a:off x="7543958" y="5917871"/>
              <a:ext cx="0" cy="274542"/>
            </a:xfrm>
            <a:prstGeom prst="straightConnector1">
              <a:avLst/>
            </a:prstGeom>
            <a:ln w="28575">
              <a:solidFill>
                <a:srgbClr val="7030A0"/>
              </a:solidFill>
              <a:tailEnd type="arrow"/>
            </a:ln>
          </p:spPr>
          <p:style>
            <a:lnRef idx="1">
              <a:schemeClr val="dk1"/>
            </a:lnRef>
            <a:fillRef idx="0">
              <a:schemeClr val="dk1"/>
            </a:fillRef>
            <a:effectRef idx="0">
              <a:schemeClr val="dk1"/>
            </a:effectRef>
            <a:fontRef idx="minor">
              <a:schemeClr val="tx1"/>
            </a:fontRef>
          </p:style>
        </p:cxnSp>
      </p:grpSp>
      <p:grpSp>
        <p:nvGrpSpPr>
          <p:cNvPr id="31756" name="Group 45"/>
          <p:cNvGrpSpPr>
            <a:grpSpLocks/>
          </p:cNvGrpSpPr>
          <p:nvPr/>
        </p:nvGrpSpPr>
        <p:grpSpPr bwMode="auto">
          <a:xfrm flipV="1">
            <a:off x="3927328" y="3886200"/>
            <a:ext cx="1947672" cy="243933"/>
            <a:chOff x="4101948" y="6142617"/>
            <a:chExt cx="1948099" cy="243897"/>
          </a:xfrm>
        </p:grpSpPr>
        <p:cxnSp>
          <p:nvCxnSpPr>
            <p:cNvPr id="47" name="Straight Arrow Connector 46"/>
            <p:cNvCxnSpPr/>
            <p:nvPr/>
          </p:nvCxnSpPr>
          <p:spPr>
            <a:xfrm>
              <a:off x="4114800" y="6142617"/>
              <a:ext cx="0" cy="228568"/>
            </a:xfrm>
            <a:prstGeom prst="straightConnector1">
              <a:avLst/>
            </a:prstGeom>
            <a:ln w="38100">
              <a:solidFill>
                <a:srgbClr val="C00000"/>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48" name="Straight Arrow Connector 47"/>
            <p:cNvCxnSpPr/>
            <p:nvPr/>
          </p:nvCxnSpPr>
          <p:spPr>
            <a:xfrm flipV="1">
              <a:off x="4937305" y="6144096"/>
              <a:ext cx="0" cy="228568"/>
            </a:xfrm>
            <a:prstGeom prst="straightConnector1">
              <a:avLst/>
            </a:prstGeom>
            <a:ln w="28575">
              <a:solidFill>
                <a:schemeClr val="tx1"/>
              </a:solidFill>
              <a:tailEnd type="arrow"/>
            </a:ln>
          </p:spPr>
          <p:style>
            <a:lnRef idx="1">
              <a:schemeClr val="dk1"/>
            </a:lnRef>
            <a:fillRef idx="0">
              <a:schemeClr val="dk1"/>
            </a:fillRef>
            <a:effectRef idx="0">
              <a:schemeClr val="dk1"/>
            </a:effectRef>
            <a:fontRef idx="minor">
              <a:schemeClr val="tx1"/>
            </a:fontRef>
          </p:style>
        </p:cxnSp>
        <p:cxnSp>
          <p:nvCxnSpPr>
            <p:cNvPr id="49" name="Straight Arrow Connector 48"/>
            <p:cNvCxnSpPr/>
            <p:nvPr/>
          </p:nvCxnSpPr>
          <p:spPr>
            <a:xfrm flipV="1">
              <a:off x="6032921" y="6144097"/>
              <a:ext cx="0" cy="228567"/>
            </a:xfrm>
            <a:prstGeom prst="straightConnector1">
              <a:avLst/>
            </a:prstGeom>
            <a:ln w="28575">
              <a:solidFill>
                <a:schemeClr val="tx1"/>
              </a:solidFill>
              <a:tailEnd type="arrow"/>
            </a:ln>
          </p:spPr>
          <p:style>
            <a:lnRef idx="1">
              <a:schemeClr val="dk1"/>
            </a:lnRef>
            <a:fillRef idx="0">
              <a:schemeClr val="dk1"/>
            </a:fillRef>
            <a:effectRef idx="0">
              <a:schemeClr val="dk1"/>
            </a:effectRef>
            <a:fontRef idx="minor">
              <a:schemeClr val="tx1"/>
            </a:fontRef>
          </p:style>
        </p:cxnSp>
        <p:cxnSp>
          <p:nvCxnSpPr>
            <p:cNvPr id="50" name="Straight Connector 49"/>
            <p:cNvCxnSpPr/>
            <p:nvPr/>
          </p:nvCxnSpPr>
          <p:spPr>
            <a:xfrm>
              <a:off x="4101948" y="6386514"/>
              <a:ext cx="194809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Rectangle 3"/>
          <p:cNvSpPr txBox="1">
            <a:spLocks noChangeArrowheads="1"/>
          </p:cNvSpPr>
          <p:nvPr/>
        </p:nvSpPr>
        <p:spPr>
          <a:xfrm>
            <a:off x="659720" y="1421025"/>
            <a:ext cx="7341280" cy="1703919"/>
          </a:xfrm>
          <a:prstGeom prst="rect">
            <a:avLst/>
          </a:prstGeom>
        </p:spPr>
        <p:txBody>
          <a:bodyPr wrap="square" lIns="18288" tIns="18288" rIns="18288" bIns="18288">
            <a:spAutoFit/>
          </a:bodyPr>
          <a:lstStyle/>
          <a:p>
            <a:pPr marL="363538" lvl="1" indent="-342900">
              <a:spcBef>
                <a:spcPts val="0"/>
              </a:spcBef>
              <a:spcAft>
                <a:spcPts val="600"/>
              </a:spcAft>
              <a:buFont typeface="Courier New" pitchFamily="49" charset="0"/>
              <a:buChar char="o"/>
              <a:defRPr/>
            </a:pPr>
            <a:r>
              <a:rPr lang="en-US" sz="2400" dirty="0" smtClean="0">
                <a:latin typeface="+mn-lt"/>
              </a:rPr>
              <a:t>The </a:t>
            </a:r>
            <a:r>
              <a:rPr lang="en-US" sz="2400" u="sng" dirty="0">
                <a:solidFill>
                  <a:srgbClr val="C00000"/>
                </a:solidFill>
                <a:latin typeface="+mn-lt"/>
              </a:rPr>
              <a:t>Non-key</a:t>
            </a:r>
            <a:r>
              <a:rPr lang="en-US" sz="2400" dirty="0">
                <a:latin typeface="+mn-lt"/>
              </a:rPr>
              <a:t> </a:t>
            </a:r>
            <a:r>
              <a:rPr lang="en-US" sz="2400" dirty="0" smtClean="0">
                <a:latin typeface="+mn-lt"/>
              </a:rPr>
              <a:t>attribute </a:t>
            </a:r>
            <a:r>
              <a:rPr lang="en-US" sz="2400" dirty="0">
                <a:latin typeface="+mn-lt"/>
              </a:rPr>
              <a:t>depends on </a:t>
            </a:r>
            <a:r>
              <a:rPr lang="en-US" sz="2400" u="sng" dirty="0">
                <a:solidFill>
                  <a:srgbClr val="C00000"/>
                </a:solidFill>
                <a:latin typeface="+mn-lt"/>
              </a:rPr>
              <a:t>part</a:t>
            </a:r>
            <a:r>
              <a:rPr lang="en-US" sz="2400" dirty="0">
                <a:latin typeface="+mn-lt"/>
              </a:rPr>
              <a:t> </a:t>
            </a:r>
            <a:r>
              <a:rPr lang="en-US" sz="2400" dirty="0">
                <a:solidFill>
                  <a:srgbClr val="C00000"/>
                </a:solidFill>
                <a:latin typeface="+mn-lt"/>
              </a:rPr>
              <a:t>of the </a:t>
            </a:r>
            <a:r>
              <a:rPr lang="en-US" sz="2400" dirty="0" smtClean="0">
                <a:solidFill>
                  <a:srgbClr val="C00000"/>
                </a:solidFill>
                <a:latin typeface="+mn-lt"/>
              </a:rPr>
              <a:t>whole primary key</a:t>
            </a:r>
            <a:r>
              <a:rPr lang="en-US" sz="2400" dirty="0">
                <a:latin typeface="+mn-lt"/>
              </a:rPr>
              <a:t> </a:t>
            </a:r>
            <a:r>
              <a:rPr lang="en-US" sz="2400" dirty="0" smtClean="0">
                <a:latin typeface="+mn-lt"/>
              </a:rPr>
              <a:t>of the relation.</a:t>
            </a:r>
            <a:endParaRPr lang="en-US" sz="2400" dirty="0">
              <a:latin typeface="+mn-lt"/>
            </a:endParaRPr>
          </a:p>
          <a:p>
            <a:pPr marL="363538" lvl="1" indent="-342900">
              <a:spcBef>
                <a:spcPts val="600"/>
              </a:spcBef>
              <a:buFont typeface="Courier New" pitchFamily="49" charset="0"/>
              <a:buChar char="o"/>
              <a:defRPr/>
            </a:pPr>
            <a:r>
              <a:rPr lang="en-US" sz="2400" dirty="0" smtClean="0">
                <a:latin typeface="Calibri" pitchFamily="34" charset="0"/>
                <a:cs typeface="Calibri" pitchFamily="34" charset="0"/>
              </a:rPr>
              <a:t>In other words: </a:t>
            </a:r>
            <a:r>
              <a:rPr lang="en-US" sz="2400" b="1" dirty="0">
                <a:solidFill>
                  <a:srgbClr val="C00000"/>
                </a:solidFill>
                <a:latin typeface="Calibri" pitchFamily="34" charset="0"/>
                <a:cs typeface="Calibri" pitchFamily="34" charset="0"/>
              </a:rPr>
              <a:t>Part </a:t>
            </a:r>
            <a:r>
              <a:rPr lang="en-US" sz="2400" dirty="0">
                <a:solidFill>
                  <a:srgbClr val="C00000"/>
                </a:solidFill>
                <a:latin typeface="Calibri" pitchFamily="34" charset="0"/>
                <a:cs typeface="Calibri" pitchFamily="34" charset="0"/>
              </a:rPr>
              <a:t>of the whole key </a:t>
            </a:r>
            <a:r>
              <a:rPr lang="en-US" sz="2400" dirty="0" smtClean="0">
                <a:latin typeface="Calibri" pitchFamily="34" charset="0"/>
                <a:cs typeface="Calibri" pitchFamily="34" charset="0"/>
              </a:rPr>
              <a:t>attribute </a:t>
            </a:r>
            <a:r>
              <a:rPr lang="en-US" sz="2400" dirty="0">
                <a:latin typeface="Calibri" pitchFamily="34" charset="0"/>
                <a:cs typeface="Calibri" pitchFamily="34" charset="0"/>
              </a:rPr>
              <a:t>determines some </a:t>
            </a:r>
            <a:r>
              <a:rPr lang="en-US" sz="2400" dirty="0">
                <a:solidFill>
                  <a:srgbClr val="C00000"/>
                </a:solidFill>
                <a:latin typeface="Calibri" pitchFamily="34" charset="0"/>
                <a:cs typeface="Calibri" pitchFamily="34" charset="0"/>
              </a:rPr>
              <a:t>non-key</a:t>
            </a:r>
            <a:r>
              <a:rPr lang="en-US" sz="2400" dirty="0">
                <a:latin typeface="Calibri" pitchFamily="34" charset="0"/>
                <a:cs typeface="Calibri" pitchFamily="34" charset="0"/>
              </a:rPr>
              <a:t> </a:t>
            </a:r>
            <a:r>
              <a:rPr lang="en-US" sz="2400" dirty="0" smtClean="0">
                <a:latin typeface="Calibri" pitchFamily="34" charset="0"/>
                <a:cs typeface="Calibri" pitchFamily="34" charset="0"/>
              </a:rPr>
              <a:t>attributes.</a:t>
            </a:r>
            <a:endParaRPr lang="en-US" sz="2400" dirty="0">
              <a:latin typeface="Calibri" pitchFamily="34" charset="0"/>
              <a:cs typeface="Calibri" pitchFamily="34" charset="0"/>
            </a:endParaRPr>
          </a:p>
        </p:txBody>
      </p:sp>
      <p:grpSp>
        <p:nvGrpSpPr>
          <p:cNvPr id="5" name="Group 4"/>
          <p:cNvGrpSpPr/>
          <p:nvPr/>
        </p:nvGrpSpPr>
        <p:grpSpPr>
          <a:xfrm>
            <a:off x="1103795" y="5511225"/>
            <a:ext cx="6668605" cy="775597"/>
            <a:chOff x="1103795" y="5511225"/>
            <a:chExt cx="6668605" cy="775597"/>
          </a:xfrm>
        </p:grpSpPr>
        <p:sp>
          <p:nvSpPr>
            <p:cNvPr id="2" name="Rectangle 1"/>
            <p:cNvSpPr/>
            <p:nvPr/>
          </p:nvSpPr>
          <p:spPr>
            <a:xfrm>
              <a:off x="1689100" y="5511225"/>
              <a:ext cx="6083300" cy="775597"/>
            </a:xfrm>
            <a:prstGeom prst="rect">
              <a:avLst/>
            </a:prstGeom>
          </p:spPr>
          <p:txBody>
            <a:bodyPr wrap="square" lIns="18288" tIns="18288" rIns="18288" bIns="18288">
              <a:spAutoFit/>
            </a:bodyPr>
            <a:lstStyle/>
            <a:p>
              <a:pPr>
                <a:spcAft>
                  <a:spcPts val="0"/>
                </a:spcAft>
                <a:defRPr/>
              </a:pPr>
              <a:r>
                <a:rPr lang="en-GB" sz="2400" dirty="0" err="1" smtClean="0">
                  <a:solidFill>
                    <a:srgbClr val="C00000"/>
                  </a:solidFill>
                  <a:latin typeface="Calibri" panose="020F0502020204030204" pitchFamily="34" charset="0"/>
                  <a:cs typeface="Calibri" panose="020F0502020204030204" pitchFamily="34" charset="0"/>
                </a:rPr>
                <a:t>PartNo</a:t>
              </a:r>
              <a:r>
                <a:rPr lang="en-GB" sz="2400" dirty="0" smtClean="0">
                  <a:latin typeface="Calibri" panose="020F0502020204030204" pitchFamily="34" charset="0"/>
                  <a:cs typeface="Calibri" panose="020F0502020204030204" pitchFamily="34" charset="0"/>
                </a:rPr>
                <a:t> determines </a:t>
              </a:r>
              <a:r>
                <a:rPr lang="en-GB" sz="2400" dirty="0" err="1" smtClean="0">
                  <a:solidFill>
                    <a:srgbClr val="C00000"/>
                  </a:solidFill>
                  <a:latin typeface="Calibri" panose="020F0502020204030204" pitchFamily="34" charset="0"/>
                  <a:cs typeface="Calibri" panose="020F0502020204030204" pitchFamily="34" charset="0"/>
                </a:rPr>
                <a:t>PartDesc</a:t>
              </a:r>
              <a:r>
                <a:rPr lang="en-GB" sz="2400" dirty="0" smtClean="0">
                  <a:solidFill>
                    <a:srgbClr val="C00000"/>
                  </a:solidFill>
                  <a:latin typeface="Calibri" panose="020F0502020204030204" pitchFamily="34" charset="0"/>
                  <a:cs typeface="Calibri" panose="020F0502020204030204" pitchFamily="34" charset="0"/>
                </a:rPr>
                <a:t>, Store, Phone </a:t>
              </a:r>
              <a:r>
                <a:rPr lang="en-GB" sz="2400" dirty="0" smtClean="0">
                  <a:latin typeface="Calibri" panose="020F0502020204030204" pitchFamily="34" charset="0"/>
                  <a:cs typeface="Calibri" panose="020F0502020204030204" pitchFamily="34" charset="0"/>
                </a:rPr>
                <a:t>&amp;</a:t>
              </a:r>
              <a:r>
                <a:rPr lang="en-GB" sz="2400" dirty="0" smtClean="0">
                  <a:solidFill>
                    <a:srgbClr val="C00000"/>
                  </a:solidFill>
                  <a:latin typeface="Calibri" panose="020F0502020204030204" pitchFamily="34" charset="0"/>
                  <a:cs typeface="Calibri" panose="020F0502020204030204" pitchFamily="34" charset="0"/>
                </a:rPr>
                <a:t> </a:t>
              </a:r>
            </a:p>
            <a:p>
              <a:pPr>
                <a:spcAft>
                  <a:spcPts val="0"/>
                </a:spcAft>
                <a:defRPr/>
              </a:pPr>
              <a:r>
                <a:rPr lang="en-GB" sz="2400" dirty="0" err="1" smtClean="0">
                  <a:solidFill>
                    <a:srgbClr val="C00000"/>
                  </a:solidFill>
                  <a:latin typeface="Calibri" panose="020F0502020204030204" pitchFamily="34" charset="0"/>
                  <a:cs typeface="Calibri" panose="020F0502020204030204" pitchFamily="34" charset="0"/>
                </a:rPr>
                <a:t>SuppNo</a:t>
              </a:r>
              <a:r>
                <a:rPr lang="en-GB" sz="2400" dirty="0" smtClean="0">
                  <a:solidFill>
                    <a:srgbClr val="C00000"/>
                  </a:solidFill>
                  <a:latin typeface="Calibri" panose="020F0502020204030204" pitchFamily="34" charset="0"/>
                  <a:cs typeface="Calibri" panose="020F0502020204030204" pitchFamily="34" charset="0"/>
                </a:rPr>
                <a:t> </a:t>
              </a:r>
              <a:r>
                <a:rPr lang="en-GB" sz="2400" dirty="0" smtClean="0">
                  <a:latin typeface="Calibri" panose="020F0502020204030204" pitchFamily="34" charset="0"/>
                  <a:cs typeface="Calibri" panose="020F0502020204030204" pitchFamily="34" charset="0"/>
                </a:rPr>
                <a:t>determines</a:t>
              </a:r>
              <a:r>
                <a:rPr lang="en-GB" sz="2400" dirty="0" smtClean="0">
                  <a:solidFill>
                    <a:srgbClr val="C00000"/>
                  </a:solidFill>
                  <a:latin typeface="Calibri" panose="020F0502020204030204" pitchFamily="34" charset="0"/>
                  <a:cs typeface="Calibri" panose="020F0502020204030204" pitchFamily="34" charset="0"/>
                </a:rPr>
                <a:t> </a:t>
              </a:r>
              <a:r>
                <a:rPr lang="en-GB" sz="2400" dirty="0" err="1" smtClean="0">
                  <a:solidFill>
                    <a:srgbClr val="C00000"/>
                  </a:solidFill>
                  <a:latin typeface="Calibri" panose="020F0502020204030204" pitchFamily="34" charset="0"/>
                  <a:cs typeface="Calibri" panose="020F0502020204030204" pitchFamily="34" charset="0"/>
                </a:rPr>
                <a:t>SuppName</a:t>
              </a:r>
              <a:r>
                <a:rPr lang="en-GB" sz="2400" dirty="0" smtClean="0">
                  <a:solidFill>
                    <a:srgbClr val="C00000"/>
                  </a:solidFill>
                  <a:latin typeface="Calibri" panose="020F0502020204030204" pitchFamily="34" charset="0"/>
                  <a:cs typeface="Calibri" panose="020F0502020204030204" pitchFamily="34" charset="0"/>
                </a:rPr>
                <a:t>, </a:t>
              </a:r>
              <a:r>
                <a:rPr lang="en-GB" sz="2400" dirty="0" err="1" smtClean="0">
                  <a:solidFill>
                    <a:srgbClr val="C00000"/>
                  </a:solidFill>
                  <a:latin typeface="Calibri" panose="020F0502020204030204" pitchFamily="34" charset="0"/>
                  <a:cs typeface="Calibri" panose="020F0502020204030204" pitchFamily="34" charset="0"/>
                </a:rPr>
                <a:t>SuppAddr</a:t>
              </a:r>
              <a:endParaRPr lang="en-GB" sz="2400" dirty="0">
                <a:latin typeface="Calibri" panose="020F0502020204030204" pitchFamily="34" charset="0"/>
                <a:cs typeface="Calibri" panose="020F0502020204030204" pitchFamily="34" charset="0"/>
              </a:endParaRPr>
            </a:p>
          </p:txBody>
        </p:sp>
        <p:sp>
          <p:nvSpPr>
            <p:cNvPr id="28" name="Rectangle 12"/>
            <p:cNvSpPr>
              <a:spLocks noChangeArrowheads="1"/>
            </p:cNvSpPr>
            <p:nvPr/>
          </p:nvSpPr>
          <p:spPr bwMode="auto">
            <a:xfrm>
              <a:off x="1103795" y="5535110"/>
              <a:ext cx="4081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rIns="45720" anchor="ctr">
              <a:spAutoFit/>
            </a:bodyPr>
            <a:lstStyle>
              <a:lvl1pPr marL="342900" indent="-342900" eaLnBrk="0" hangingPunct="0">
                <a:spcBef>
                  <a:spcPct val="20000"/>
                </a:spcBef>
                <a:buFont typeface="Arial" charset="0"/>
                <a:buChar char="•"/>
                <a:defRPr sz="3200">
                  <a:solidFill>
                    <a:schemeClr val="tx1"/>
                  </a:solidFill>
                  <a:latin typeface="Calibri" pitchFamily="34" charset="0"/>
                </a:defRPr>
              </a:lvl1pPr>
              <a:lvl2pPr marL="685800" indent="-68580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lvl="1" eaLnBrk="1" hangingPunct="1">
                <a:buFont typeface="Wingdings" pitchFamily="2" charset="2"/>
                <a:buNone/>
              </a:pPr>
              <a:r>
                <a:rPr lang="en-US" altLang="zh-SG" sz="2000" dirty="0" smtClean="0"/>
                <a:t>i.e.</a:t>
              </a:r>
              <a:endParaRPr lang="en-US" altLang="zh-SG" sz="2000" dirty="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nodeType="afterEffect">
                                  <p:stCondLst>
                                    <p:cond delay="0"/>
                                  </p:stCondLst>
                                  <p:childTnLst>
                                    <p:set>
                                      <p:cBhvr>
                                        <p:cTn id="6" dur="1" fill="hold">
                                          <p:stCondLst>
                                            <p:cond delay="0"/>
                                          </p:stCondLst>
                                        </p:cTn>
                                        <p:tgtEl>
                                          <p:spTgt spid="31755"/>
                                        </p:tgtEl>
                                        <p:attrNameLst>
                                          <p:attrName>style.visibility</p:attrName>
                                        </p:attrNameLst>
                                      </p:cBhvr>
                                      <p:to>
                                        <p:strVal val="visible"/>
                                      </p:to>
                                    </p:set>
                                    <p:animEffect transition="in" filter="wipe(left)">
                                      <p:cBhvr>
                                        <p:cTn id="7" dur="2000"/>
                                        <p:tgtEl>
                                          <p:spTgt spid="31755"/>
                                        </p:tgtEl>
                                      </p:cBhvr>
                                    </p:animEffect>
                                  </p:childTnLst>
                                </p:cTn>
                              </p:par>
                            </p:childTnLst>
                          </p:cTn>
                        </p:par>
                        <p:par>
                          <p:cTn id="8" fill="hold" nodeType="afterGroup">
                            <p:stCondLst>
                              <p:cond delay="2000"/>
                            </p:stCondLst>
                            <p:childTnLst>
                              <p:par>
                                <p:cTn id="9" presetID="22" presetClass="entr" presetSubtype="8" fill="hold" nodeType="afterEffect">
                                  <p:stCondLst>
                                    <p:cond delay="0"/>
                                  </p:stCondLst>
                                  <p:childTnLst>
                                    <p:set>
                                      <p:cBhvr>
                                        <p:cTn id="10" dur="1" fill="hold">
                                          <p:stCondLst>
                                            <p:cond delay="0"/>
                                          </p:stCondLst>
                                        </p:cTn>
                                        <p:tgtEl>
                                          <p:spTgt spid="31756"/>
                                        </p:tgtEl>
                                        <p:attrNameLst>
                                          <p:attrName>style.visibility</p:attrName>
                                        </p:attrNameLst>
                                      </p:cBhvr>
                                      <p:to>
                                        <p:strVal val="visible"/>
                                      </p:to>
                                    </p:set>
                                    <p:animEffect transition="in" filter="wipe(left)">
                                      <p:cBhvr>
                                        <p:cTn id="11" dur="1000"/>
                                        <p:tgtEl>
                                          <p:spTgt spid="31756"/>
                                        </p:tgtEl>
                                      </p:cBhvr>
                                    </p:animEffect>
                                  </p:childTnLst>
                                </p:cTn>
                              </p:par>
                            </p:childTnLst>
                          </p:cTn>
                        </p:par>
                        <p:par>
                          <p:cTn id="12" fill="hold">
                            <p:stCondLst>
                              <p:cond delay="3000"/>
                            </p:stCondLst>
                            <p:childTnLst>
                              <p:par>
                                <p:cTn id="13" presetID="22" presetClass="entr" presetSubtype="8" fill="hold" nodeType="afterEffect">
                                  <p:stCondLst>
                                    <p:cond delay="50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Title 1"/>
          <p:cNvSpPr>
            <a:spLocks noGrp="1"/>
          </p:cNvSpPr>
          <p:nvPr>
            <p:ph type="ctrTitle" idx="4294967295"/>
          </p:nvPr>
        </p:nvSpPr>
        <p:spPr>
          <a:xfrm>
            <a:off x="685800" y="228600"/>
            <a:ext cx="6252280" cy="565146"/>
          </a:xfrm>
        </p:spPr>
        <p:txBody>
          <a:bodyPr wrap="none" lIns="36000" tIns="36000" rIns="36000" bIns="36000" anchor="t">
            <a:spAutoFit/>
          </a:bodyPr>
          <a:lstStyle/>
          <a:p>
            <a:pPr algn="l" eaLnBrk="1" hangingPunct="1">
              <a:defRPr/>
            </a:pPr>
            <a:r>
              <a:rPr lang="en-GB" sz="3200" b="1" dirty="0" smtClean="0">
                <a:solidFill>
                  <a:srgbClr val="C00000"/>
                </a:solidFill>
                <a:latin typeface="+mn-lt"/>
              </a:rPr>
              <a:t>2NF - Partial Functional Dependency</a:t>
            </a:r>
            <a:endParaRPr lang="en-US" sz="3200" b="1" dirty="0" smtClean="0">
              <a:solidFill>
                <a:schemeClr val="tx2">
                  <a:lumMod val="75000"/>
                </a:schemeClr>
              </a:solidFill>
              <a:latin typeface="+mn-lt"/>
            </a:endParaRPr>
          </a:p>
        </p:txBody>
      </p:sp>
      <p:sp>
        <p:nvSpPr>
          <p:cNvPr id="25" name="Rectangle 12"/>
          <p:cNvSpPr>
            <a:spLocks noChangeArrowheads="1"/>
          </p:cNvSpPr>
          <p:nvPr/>
        </p:nvSpPr>
        <p:spPr bwMode="auto">
          <a:xfrm>
            <a:off x="698500" y="2586335"/>
            <a:ext cx="66531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rIns="45720" anchor="ctr">
            <a:spAutoFit/>
          </a:bodyPr>
          <a:lstStyle>
            <a:lvl1pPr marL="342900" indent="-342900" eaLnBrk="0" hangingPunct="0">
              <a:spcBef>
                <a:spcPct val="20000"/>
              </a:spcBef>
              <a:buFont typeface="Arial" charset="0"/>
              <a:buChar char="•"/>
              <a:defRPr sz="3200">
                <a:solidFill>
                  <a:schemeClr val="tx1"/>
                </a:solidFill>
                <a:latin typeface="Calibri" pitchFamily="34" charset="0"/>
              </a:defRPr>
            </a:lvl1pPr>
            <a:lvl2pPr marL="685800" indent="-68580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lvl="1" eaLnBrk="1" hangingPunct="1">
              <a:buFont typeface="Wingdings" pitchFamily="2" charset="2"/>
              <a:buNone/>
            </a:pPr>
            <a:r>
              <a:rPr lang="en-US" altLang="zh-SG" sz="2400" dirty="0" smtClean="0">
                <a:solidFill>
                  <a:schemeClr val="tx2">
                    <a:lumMod val="75000"/>
                  </a:schemeClr>
                </a:solidFill>
              </a:rPr>
              <a:t>Hence, the </a:t>
            </a:r>
            <a:r>
              <a:rPr lang="en-US" altLang="zh-SG" sz="2400" u="sng" dirty="0" smtClean="0">
                <a:solidFill>
                  <a:srgbClr val="FF0000"/>
                </a:solidFill>
              </a:rPr>
              <a:t>Functional Dependency Relation (FDR) </a:t>
            </a:r>
            <a:r>
              <a:rPr lang="en-US" altLang="zh-SG" sz="2400" u="sng" dirty="0" smtClean="0">
                <a:solidFill>
                  <a:schemeClr val="tx2">
                    <a:lumMod val="75000"/>
                  </a:schemeClr>
                </a:solidFill>
              </a:rPr>
              <a:t>is:</a:t>
            </a:r>
            <a:endParaRPr lang="en-US" altLang="zh-SG" sz="2400" dirty="0">
              <a:solidFill>
                <a:schemeClr val="tx2">
                  <a:lumMod val="75000"/>
                </a:schemeClr>
              </a:solidFill>
            </a:endParaRPr>
          </a:p>
        </p:txBody>
      </p:sp>
      <p:sp>
        <p:nvSpPr>
          <p:cNvPr id="26" name="Rectangle 12"/>
          <p:cNvSpPr>
            <a:spLocks noChangeArrowheads="1"/>
          </p:cNvSpPr>
          <p:nvPr/>
        </p:nvSpPr>
        <p:spPr bwMode="auto">
          <a:xfrm>
            <a:off x="805637" y="1015583"/>
            <a:ext cx="6421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rIns="45720" anchor="ctr">
            <a:spAutoFit/>
          </a:bodyPr>
          <a:lstStyle>
            <a:lvl1pPr marL="342900" indent="-342900" eaLnBrk="0" hangingPunct="0">
              <a:spcBef>
                <a:spcPct val="20000"/>
              </a:spcBef>
              <a:buFont typeface="Arial" charset="0"/>
              <a:buChar char="•"/>
              <a:defRPr sz="3200">
                <a:solidFill>
                  <a:schemeClr val="tx1"/>
                </a:solidFill>
                <a:latin typeface="Calibri" pitchFamily="34" charset="0"/>
              </a:defRPr>
            </a:lvl1pPr>
            <a:lvl2pPr marL="685800" indent="-68580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lvl="1" eaLnBrk="1" hangingPunct="1">
              <a:buFont typeface="Wingdings" pitchFamily="2" charset="2"/>
              <a:buNone/>
            </a:pPr>
            <a:r>
              <a:rPr lang="en-US" altLang="zh-SG" sz="2000" dirty="0" smtClean="0"/>
              <a:t>Since</a:t>
            </a:r>
            <a:endParaRPr lang="en-US" altLang="zh-SG" sz="2000" dirty="0"/>
          </a:p>
        </p:txBody>
      </p:sp>
      <p:sp>
        <p:nvSpPr>
          <p:cNvPr id="28" name="Rectangle 27"/>
          <p:cNvSpPr/>
          <p:nvPr/>
        </p:nvSpPr>
        <p:spPr>
          <a:xfrm>
            <a:off x="1689100" y="1064871"/>
            <a:ext cx="6083300" cy="775597"/>
          </a:xfrm>
          <a:prstGeom prst="rect">
            <a:avLst/>
          </a:prstGeom>
        </p:spPr>
        <p:txBody>
          <a:bodyPr wrap="square" lIns="18288" tIns="18288" rIns="18288" bIns="18288">
            <a:spAutoFit/>
          </a:bodyPr>
          <a:lstStyle/>
          <a:p>
            <a:pPr>
              <a:spcAft>
                <a:spcPts val="0"/>
              </a:spcAft>
              <a:defRPr/>
            </a:pPr>
            <a:r>
              <a:rPr lang="en-GB" sz="2400" dirty="0" err="1" smtClean="0">
                <a:solidFill>
                  <a:srgbClr val="C00000"/>
                </a:solidFill>
                <a:latin typeface="Calibri" panose="020F0502020204030204" pitchFamily="34" charset="0"/>
                <a:cs typeface="Calibri" panose="020F0502020204030204" pitchFamily="34" charset="0"/>
              </a:rPr>
              <a:t>PartNo</a:t>
            </a:r>
            <a:r>
              <a:rPr lang="en-GB" sz="2400" dirty="0" smtClean="0">
                <a:latin typeface="Calibri" panose="020F0502020204030204" pitchFamily="34" charset="0"/>
                <a:cs typeface="Calibri" panose="020F0502020204030204" pitchFamily="34" charset="0"/>
              </a:rPr>
              <a:t> determines </a:t>
            </a:r>
            <a:r>
              <a:rPr lang="en-GB" sz="2400" dirty="0" err="1" smtClean="0">
                <a:solidFill>
                  <a:srgbClr val="C00000"/>
                </a:solidFill>
                <a:latin typeface="Calibri" panose="020F0502020204030204" pitchFamily="34" charset="0"/>
                <a:cs typeface="Calibri" panose="020F0502020204030204" pitchFamily="34" charset="0"/>
              </a:rPr>
              <a:t>PartDesc</a:t>
            </a:r>
            <a:r>
              <a:rPr lang="en-GB" sz="2400" dirty="0" smtClean="0">
                <a:solidFill>
                  <a:srgbClr val="C00000"/>
                </a:solidFill>
                <a:latin typeface="Calibri" panose="020F0502020204030204" pitchFamily="34" charset="0"/>
                <a:cs typeface="Calibri" panose="020F0502020204030204" pitchFamily="34" charset="0"/>
              </a:rPr>
              <a:t>, Store, Phone </a:t>
            </a:r>
            <a:r>
              <a:rPr lang="en-GB" sz="2400" dirty="0" smtClean="0">
                <a:latin typeface="Calibri" panose="020F0502020204030204" pitchFamily="34" charset="0"/>
                <a:cs typeface="Calibri" panose="020F0502020204030204" pitchFamily="34" charset="0"/>
              </a:rPr>
              <a:t>&amp;</a:t>
            </a:r>
            <a:r>
              <a:rPr lang="en-GB" sz="2400" dirty="0" smtClean="0">
                <a:solidFill>
                  <a:srgbClr val="C00000"/>
                </a:solidFill>
                <a:latin typeface="Calibri" panose="020F0502020204030204" pitchFamily="34" charset="0"/>
                <a:cs typeface="Calibri" panose="020F0502020204030204" pitchFamily="34" charset="0"/>
              </a:rPr>
              <a:t> </a:t>
            </a:r>
          </a:p>
          <a:p>
            <a:pPr>
              <a:spcAft>
                <a:spcPts val="0"/>
              </a:spcAft>
              <a:defRPr/>
            </a:pPr>
            <a:r>
              <a:rPr lang="en-GB" sz="2400" dirty="0" err="1" smtClean="0">
                <a:solidFill>
                  <a:srgbClr val="C00000"/>
                </a:solidFill>
                <a:latin typeface="Calibri" panose="020F0502020204030204" pitchFamily="34" charset="0"/>
                <a:cs typeface="Calibri" panose="020F0502020204030204" pitchFamily="34" charset="0"/>
              </a:rPr>
              <a:t>SuppNo</a:t>
            </a:r>
            <a:r>
              <a:rPr lang="en-GB" sz="2400" dirty="0" smtClean="0">
                <a:solidFill>
                  <a:srgbClr val="C00000"/>
                </a:solidFill>
                <a:latin typeface="Calibri" panose="020F0502020204030204" pitchFamily="34" charset="0"/>
                <a:cs typeface="Calibri" panose="020F0502020204030204" pitchFamily="34" charset="0"/>
              </a:rPr>
              <a:t> </a:t>
            </a:r>
            <a:r>
              <a:rPr lang="en-GB" sz="2400" dirty="0" smtClean="0">
                <a:latin typeface="Calibri" panose="020F0502020204030204" pitchFamily="34" charset="0"/>
                <a:cs typeface="Calibri" panose="020F0502020204030204" pitchFamily="34" charset="0"/>
              </a:rPr>
              <a:t>determines</a:t>
            </a:r>
            <a:r>
              <a:rPr lang="en-GB" sz="2400" dirty="0" smtClean="0">
                <a:solidFill>
                  <a:srgbClr val="C00000"/>
                </a:solidFill>
                <a:latin typeface="Calibri" panose="020F0502020204030204" pitchFamily="34" charset="0"/>
                <a:cs typeface="Calibri" panose="020F0502020204030204" pitchFamily="34" charset="0"/>
              </a:rPr>
              <a:t> </a:t>
            </a:r>
            <a:r>
              <a:rPr lang="en-GB" sz="2400" dirty="0" err="1" smtClean="0">
                <a:solidFill>
                  <a:srgbClr val="C00000"/>
                </a:solidFill>
                <a:latin typeface="Calibri" panose="020F0502020204030204" pitchFamily="34" charset="0"/>
                <a:cs typeface="Calibri" panose="020F0502020204030204" pitchFamily="34" charset="0"/>
              </a:rPr>
              <a:t>SuppName</a:t>
            </a:r>
            <a:r>
              <a:rPr lang="en-GB" sz="2400" dirty="0" smtClean="0">
                <a:solidFill>
                  <a:srgbClr val="C00000"/>
                </a:solidFill>
                <a:latin typeface="Calibri" panose="020F0502020204030204" pitchFamily="34" charset="0"/>
                <a:cs typeface="Calibri" panose="020F0502020204030204" pitchFamily="34" charset="0"/>
              </a:rPr>
              <a:t>, </a:t>
            </a:r>
            <a:r>
              <a:rPr lang="en-GB" sz="2400" dirty="0" err="1" smtClean="0">
                <a:solidFill>
                  <a:srgbClr val="C00000"/>
                </a:solidFill>
                <a:latin typeface="Calibri" panose="020F0502020204030204" pitchFamily="34" charset="0"/>
                <a:cs typeface="Calibri" panose="020F0502020204030204" pitchFamily="34" charset="0"/>
              </a:rPr>
              <a:t>SuppAddr</a:t>
            </a:r>
            <a:endParaRPr lang="en-GB" sz="2400" dirty="0">
              <a:latin typeface="Calibri" panose="020F0502020204030204" pitchFamily="34" charset="0"/>
              <a:cs typeface="Calibri" panose="020F0502020204030204" pitchFamily="34" charset="0"/>
            </a:endParaRPr>
          </a:p>
        </p:txBody>
      </p:sp>
      <p:sp>
        <p:nvSpPr>
          <p:cNvPr id="31" name="Rectangle 30"/>
          <p:cNvSpPr/>
          <p:nvPr/>
        </p:nvSpPr>
        <p:spPr>
          <a:xfrm>
            <a:off x="1733768" y="3034403"/>
            <a:ext cx="6083300" cy="852541"/>
          </a:xfrm>
          <a:prstGeom prst="rect">
            <a:avLst/>
          </a:prstGeom>
        </p:spPr>
        <p:txBody>
          <a:bodyPr wrap="square" lIns="18288" tIns="18288" rIns="18288" bIns="18288">
            <a:spAutoFit/>
          </a:bodyPr>
          <a:lstStyle/>
          <a:p>
            <a:pPr>
              <a:spcAft>
                <a:spcPts val="600"/>
              </a:spcAft>
              <a:defRPr/>
            </a:pPr>
            <a:r>
              <a:rPr lang="en-GB" sz="2400" b="1" dirty="0" err="1" smtClean="0">
                <a:solidFill>
                  <a:schemeClr val="tx2">
                    <a:lumMod val="75000"/>
                  </a:schemeClr>
                </a:solidFill>
                <a:latin typeface="Calibri" panose="020F0502020204030204" pitchFamily="34" charset="0"/>
                <a:cs typeface="Calibri" panose="020F0502020204030204" pitchFamily="34" charset="0"/>
              </a:rPr>
              <a:t>PartNo</a:t>
            </a:r>
            <a:r>
              <a:rPr lang="en-GB" sz="2400" dirty="0" smtClean="0">
                <a:latin typeface="Calibri" panose="020F0502020204030204" pitchFamily="34" charset="0"/>
                <a:cs typeface="Calibri" panose="020F0502020204030204" pitchFamily="34" charset="0"/>
              </a:rPr>
              <a:t> ----&gt; </a:t>
            </a:r>
            <a:r>
              <a:rPr lang="en-GB" sz="2400" dirty="0" err="1" smtClean="0">
                <a:solidFill>
                  <a:schemeClr val="tx2">
                    <a:lumMod val="75000"/>
                  </a:schemeClr>
                </a:solidFill>
                <a:latin typeface="Calibri" panose="020F0502020204030204" pitchFamily="34" charset="0"/>
                <a:cs typeface="Calibri" panose="020F0502020204030204" pitchFamily="34" charset="0"/>
              </a:rPr>
              <a:t>PartDesc</a:t>
            </a:r>
            <a:r>
              <a:rPr lang="en-GB" sz="2400" dirty="0" smtClean="0">
                <a:solidFill>
                  <a:schemeClr val="tx2">
                    <a:lumMod val="75000"/>
                  </a:schemeClr>
                </a:solidFill>
                <a:latin typeface="Calibri" panose="020F0502020204030204" pitchFamily="34" charset="0"/>
                <a:cs typeface="Calibri" panose="020F0502020204030204" pitchFamily="34" charset="0"/>
              </a:rPr>
              <a:t>, Store, Phone </a:t>
            </a:r>
            <a:r>
              <a:rPr lang="en-GB" sz="2400" dirty="0" smtClean="0">
                <a:latin typeface="Calibri" panose="020F0502020204030204" pitchFamily="34" charset="0"/>
                <a:cs typeface="Calibri" panose="020F0502020204030204" pitchFamily="34" charset="0"/>
              </a:rPr>
              <a:t>&amp;</a:t>
            </a:r>
            <a:r>
              <a:rPr lang="en-GB" sz="2400" dirty="0" smtClean="0">
                <a:solidFill>
                  <a:srgbClr val="C00000"/>
                </a:solidFill>
                <a:latin typeface="Calibri" panose="020F0502020204030204" pitchFamily="34" charset="0"/>
                <a:cs typeface="Calibri" panose="020F0502020204030204" pitchFamily="34" charset="0"/>
              </a:rPr>
              <a:t> </a:t>
            </a:r>
          </a:p>
          <a:p>
            <a:pPr>
              <a:spcAft>
                <a:spcPts val="0"/>
              </a:spcAft>
              <a:defRPr/>
            </a:pPr>
            <a:r>
              <a:rPr lang="en-GB" sz="2400" b="1" dirty="0" err="1" smtClean="0">
                <a:solidFill>
                  <a:schemeClr val="tx2">
                    <a:lumMod val="75000"/>
                  </a:schemeClr>
                </a:solidFill>
                <a:latin typeface="Calibri" panose="020F0502020204030204" pitchFamily="34" charset="0"/>
                <a:cs typeface="Calibri" panose="020F0502020204030204" pitchFamily="34" charset="0"/>
              </a:rPr>
              <a:t>SuppNo</a:t>
            </a:r>
            <a:r>
              <a:rPr lang="en-GB" sz="2400" dirty="0" smtClean="0">
                <a:solidFill>
                  <a:srgbClr val="C00000"/>
                </a:solidFill>
                <a:latin typeface="Calibri" panose="020F0502020204030204" pitchFamily="34" charset="0"/>
                <a:cs typeface="Calibri" panose="020F0502020204030204" pitchFamily="34" charset="0"/>
              </a:rPr>
              <a:t> </a:t>
            </a:r>
            <a:r>
              <a:rPr lang="en-GB" sz="2400" dirty="0" smtClean="0">
                <a:latin typeface="Calibri" panose="020F0502020204030204" pitchFamily="34" charset="0"/>
                <a:cs typeface="Calibri" panose="020F0502020204030204" pitchFamily="34" charset="0"/>
              </a:rPr>
              <a:t>----&gt;</a:t>
            </a:r>
            <a:r>
              <a:rPr lang="en-GB" sz="2400" dirty="0" smtClean="0">
                <a:solidFill>
                  <a:srgbClr val="C00000"/>
                </a:solidFill>
                <a:latin typeface="Calibri" panose="020F0502020204030204" pitchFamily="34" charset="0"/>
                <a:cs typeface="Calibri" panose="020F0502020204030204" pitchFamily="34" charset="0"/>
              </a:rPr>
              <a:t> </a:t>
            </a:r>
            <a:r>
              <a:rPr lang="en-GB" sz="2400" dirty="0" err="1" smtClean="0">
                <a:solidFill>
                  <a:schemeClr val="tx2">
                    <a:lumMod val="75000"/>
                  </a:schemeClr>
                </a:solidFill>
                <a:latin typeface="Calibri" panose="020F0502020204030204" pitchFamily="34" charset="0"/>
                <a:cs typeface="Calibri" panose="020F0502020204030204" pitchFamily="34" charset="0"/>
              </a:rPr>
              <a:t>SuppName</a:t>
            </a:r>
            <a:r>
              <a:rPr lang="en-GB" sz="2400" dirty="0" smtClean="0">
                <a:solidFill>
                  <a:schemeClr val="tx2">
                    <a:lumMod val="75000"/>
                  </a:schemeClr>
                </a:solidFill>
                <a:latin typeface="Calibri" panose="020F0502020204030204" pitchFamily="34" charset="0"/>
                <a:cs typeface="Calibri" panose="020F0502020204030204" pitchFamily="34" charset="0"/>
              </a:rPr>
              <a:t>, </a:t>
            </a:r>
            <a:r>
              <a:rPr lang="en-GB" sz="2400" dirty="0" err="1" smtClean="0">
                <a:solidFill>
                  <a:schemeClr val="tx2">
                    <a:lumMod val="75000"/>
                  </a:schemeClr>
                </a:solidFill>
                <a:latin typeface="Calibri" panose="020F0502020204030204" pitchFamily="34" charset="0"/>
                <a:cs typeface="Calibri" panose="020F0502020204030204" pitchFamily="34" charset="0"/>
              </a:rPr>
              <a:t>SuppAddr</a:t>
            </a:r>
            <a:endParaRPr lang="en-GB" sz="2400" dirty="0">
              <a:solidFill>
                <a:schemeClr val="tx2">
                  <a:lumMod val="75000"/>
                </a:schemeClr>
              </a:solidFill>
              <a:latin typeface="Calibri" panose="020F0502020204030204" pitchFamily="34" charset="0"/>
              <a:cs typeface="Calibri" panose="020F0502020204030204" pitchFamily="34" charset="0"/>
            </a:endParaRPr>
          </a:p>
        </p:txBody>
      </p:sp>
      <p:sp>
        <p:nvSpPr>
          <p:cNvPr id="32" name="Rectangle 12"/>
          <p:cNvSpPr>
            <a:spLocks noChangeArrowheads="1"/>
          </p:cNvSpPr>
          <p:nvPr/>
        </p:nvSpPr>
        <p:spPr bwMode="auto">
          <a:xfrm>
            <a:off x="768826" y="4338935"/>
            <a:ext cx="47175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rIns="45720" anchor="ctr">
            <a:spAutoFit/>
          </a:bodyPr>
          <a:lstStyle>
            <a:lvl1pPr marL="342900" indent="-342900" eaLnBrk="0" hangingPunct="0">
              <a:spcBef>
                <a:spcPct val="20000"/>
              </a:spcBef>
              <a:buFont typeface="Arial" charset="0"/>
              <a:buChar char="•"/>
              <a:defRPr sz="3200">
                <a:solidFill>
                  <a:schemeClr val="tx1"/>
                </a:solidFill>
                <a:latin typeface="Calibri" pitchFamily="34" charset="0"/>
              </a:defRPr>
            </a:lvl1pPr>
            <a:lvl2pPr marL="685800" indent="-68580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lvl="1" eaLnBrk="1" hangingPunct="1">
              <a:buFont typeface="Wingdings" pitchFamily="2" charset="2"/>
              <a:buNone/>
            </a:pPr>
            <a:r>
              <a:rPr lang="en-US" altLang="zh-SG" sz="2400" dirty="0" smtClean="0"/>
              <a:t>The normalized relational schema is :</a:t>
            </a:r>
            <a:endParaRPr lang="en-US" altLang="zh-SG" sz="2400" dirty="0"/>
          </a:p>
        </p:txBody>
      </p:sp>
      <p:sp>
        <p:nvSpPr>
          <p:cNvPr id="33" name="Rectangle 32"/>
          <p:cNvSpPr/>
          <p:nvPr/>
        </p:nvSpPr>
        <p:spPr>
          <a:xfrm>
            <a:off x="1752600" y="4862459"/>
            <a:ext cx="6083300" cy="852541"/>
          </a:xfrm>
          <a:prstGeom prst="rect">
            <a:avLst/>
          </a:prstGeom>
        </p:spPr>
        <p:txBody>
          <a:bodyPr wrap="square" lIns="18288" tIns="18288" rIns="18288" bIns="18288">
            <a:spAutoFit/>
          </a:bodyPr>
          <a:lstStyle/>
          <a:p>
            <a:pPr>
              <a:spcAft>
                <a:spcPts val="600"/>
              </a:spcAft>
              <a:defRPr/>
            </a:pPr>
            <a:r>
              <a:rPr lang="en-GB" sz="2400" dirty="0" smtClean="0">
                <a:latin typeface="Calibri" panose="020F0502020204030204" pitchFamily="34" charset="0"/>
                <a:cs typeface="Calibri" panose="020F0502020204030204" pitchFamily="34" charset="0"/>
              </a:rPr>
              <a:t>PART</a:t>
            </a:r>
            <a:r>
              <a:rPr lang="en-GB" sz="2400" dirty="0" smtClean="0">
                <a:solidFill>
                  <a:schemeClr val="tx2">
                    <a:lumMod val="75000"/>
                  </a:schemeClr>
                </a:solidFill>
                <a:latin typeface="Calibri" panose="020F0502020204030204" pitchFamily="34" charset="0"/>
                <a:cs typeface="Calibri" panose="020F0502020204030204" pitchFamily="34" charset="0"/>
              </a:rPr>
              <a:t> ( </a:t>
            </a:r>
            <a:r>
              <a:rPr lang="en-GB" sz="2400" b="1" u="sng" dirty="0" err="1" smtClean="0">
                <a:solidFill>
                  <a:schemeClr val="tx2">
                    <a:lumMod val="75000"/>
                  </a:schemeClr>
                </a:solidFill>
                <a:latin typeface="Calibri" panose="020F0502020204030204" pitchFamily="34" charset="0"/>
                <a:cs typeface="Calibri" panose="020F0502020204030204" pitchFamily="34" charset="0"/>
              </a:rPr>
              <a:t>PartNo</a:t>
            </a:r>
            <a:r>
              <a:rPr lang="en-GB" sz="2400" b="1" dirty="0" smtClean="0">
                <a:solidFill>
                  <a:schemeClr val="tx2">
                    <a:lumMod val="75000"/>
                  </a:schemeClr>
                </a:solidFill>
                <a:latin typeface="Calibri" panose="020F0502020204030204" pitchFamily="34" charset="0"/>
                <a:cs typeface="Calibri" panose="020F0502020204030204" pitchFamily="34" charset="0"/>
              </a:rPr>
              <a:t>, </a:t>
            </a:r>
            <a:r>
              <a:rPr lang="en-GB" sz="2400" dirty="0" err="1" smtClean="0">
                <a:solidFill>
                  <a:schemeClr val="tx2">
                    <a:lumMod val="75000"/>
                  </a:schemeClr>
                </a:solidFill>
                <a:latin typeface="Calibri" panose="020F0502020204030204" pitchFamily="34" charset="0"/>
                <a:cs typeface="Calibri" panose="020F0502020204030204" pitchFamily="34" charset="0"/>
              </a:rPr>
              <a:t>PartDesc</a:t>
            </a:r>
            <a:r>
              <a:rPr lang="en-GB" sz="2400" dirty="0" smtClean="0">
                <a:solidFill>
                  <a:schemeClr val="tx2">
                    <a:lumMod val="75000"/>
                  </a:schemeClr>
                </a:solidFill>
                <a:latin typeface="Calibri" panose="020F0502020204030204" pitchFamily="34" charset="0"/>
                <a:cs typeface="Calibri" panose="020F0502020204030204" pitchFamily="34" charset="0"/>
              </a:rPr>
              <a:t>, Store, Phone ) </a:t>
            </a:r>
            <a:r>
              <a:rPr lang="en-GB" sz="2400" dirty="0" smtClean="0">
                <a:solidFill>
                  <a:srgbClr val="C00000"/>
                </a:solidFill>
                <a:latin typeface="Calibri" panose="020F0502020204030204" pitchFamily="34" charset="0"/>
                <a:cs typeface="Calibri" panose="020F0502020204030204" pitchFamily="34" charset="0"/>
              </a:rPr>
              <a:t> </a:t>
            </a:r>
          </a:p>
          <a:p>
            <a:pPr>
              <a:spcAft>
                <a:spcPts val="0"/>
              </a:spcAft>
              <a:defRPr/>
            </a:pPr>
            <a:r>
              <a:rPr lang="en-GB" sz="2400" dirty="0" smtClean="0">
                <a:latin typeface="Calibri" panose="020F0502020204030204" pitchFamily="34" charset="0"/>
                <a:cs typeface="Calibri" panose="020F0502020204030204" pitchFamily="34" charset="0"/>
              </a:rPr>
              <a:t>SUPPLIER</a:t>
            </a:r>
            <a:r>
              <a:rPr lang="en-GB" sz="2400" dirty="0" smtClean="0">
                <a:solidFill>
                  <a:schemeClr val="tx2">
                    <a:lumMod val="75000"/>
                  </a:schemeClr>
                </a:solidFill>
                <a:latin typeface="Calibri" panose="020F0502020204030204" pitchFamily="34" charset="0"/>
                <a:cs typeface="Calibri" panose="020F0502020204030204" pitchFamily="34" charset="0"/>
              </a:rPr>
              <a:t> ( </a:t>
            </a:r>
            <a:r>
              <a:rPr lang="en-GB" sz="2400" b="1" u="sng" dirty="0" err="1" smtClean="0">
                <a:solidFill>
                  <a:schemeClr val="tx2">
                    <a:lumMod val="75000"/>
                  </a:schemeClr>
                </a:solidFill>
                <a:latin typeface="Calibri" panose="020F0502020204030204" pitchFamily="34" charset="0"/>
                <a:cs typeface="Calibri" panose="020F0502020204030204" pitchFamily="34" charset="0"/>
              </a:rPr>
              <a:t>SuppNo</a:t>
            </a:r>
            <a:r>
              <a:rPr lang="en-GB" sz="2400" b="1" dirty="0" smtClean="0">
                <a:solidFill>
                  <a:schemeClr val="tx2">
                    <a:lumMod val="75000"/>
                  </a:schemeClr>
                </a:solidFill>
                <a:latin typeface="Calibri" panose="020F0502020204030204" pitchFamily="34" charset="0"/>
                <a:cs typeface="Calibri" panose="020F0502020204030204" pitchFamily="34" charset="0"/>
              </a:rPr>
              <a:t>,</a:t>
            </a:r>
            <a:r>
              <a:rPr lang="en-GB" sz="2400" dirty="0" smtClean="0">
                <a:solidFill>
                  <a:srgbClr val="C00000"/>
                </a:solidFill>
                <a:latin typeface="Calibri" panose="020F0502020204030204" pitchFamily="34" charset="0"/>
                <a:cs typeface="Calibri" panose="020F0502020204030204" pitchFamily="34" charset="0"/>
              </a:rPr>
              <a:t> </a:t>
            </a:r>
            <a:r>
              <a:rPr lang="en-GB" sz="2400" dirty="0" err="1" smtClean="0">
                <a:solidFill>
                  <a:schemeClr val="tx2">
                    <a:lumMod val="75000"/>
                  </a:schemeClr>
                </a:solidFill>
                <a:latin typeface="Calibri" panose="020F0502020204030204" pitchFamily="34" charset="0"/>
                <a:cs typeface="Calibri" panose="020F0502020204030204" pitchFamily="34" charset="0"/>
              </a:rPr>
              <a:t>SuppName</a:t>
            </a:r>
            <a:r>
              <a:rPr lang="en-GB" sz="2400" dirty="0" smtClean="0">
                <a:solidFill>
                  <a:schemeClr val="tx2">
                    <a:lumMod val="75000"/>
                  </a:schemeClr>
                </a:solidFill>
                <a:latin typeface="Calibri" panose="020F0502020204030204" pitchFamily="34" charset="0"/>
                <a:cs typeface="Calibri" panose="020F0502020204030204" pitchFamily="34" charset="0"/>
              </a:rPr>
              <a:t>, </a:t>
            </a:r>
            <a:r>
              <a:rPr lang="en-GB" sz="2400" dirty="0" err="1" smtClean="0">
                <a:solidFill>
                  <a:schemeClr val="tx2">
                    <a:lumMod val="75000"/>
                  </a:schemeClr>
                </a:solidFill>
                <a:latin typeface="Calibri" panose="020F0502020204030204" pitchFamily="34" charset="0"/>
                <a:cs typeface="Calibri" panose="020F0502020204030204" pitchFamily="34" charset="0"/>
              </a:rPr>
              <a:t>SuppAddr</a:t>
            </a:r>
            <a:r>
              <a:rPr lang="en-GB" sz="2400" dirty="0" smtClean="0">
                <a:solidFill>
                  <a:schemeClr val="tx2">
                    <a:lumMod val="75000"/>
                  </a:schemeClr>
                </a:solidFill>
                <a:latin typeface="Calibri" panose="020F0502020204030204" pitchFamily="34" charset="0"/>
                <a:cs typeface="Calibri" panose="020F0502020204030204" pitchFamily="34" charset="0"/>
              </a:rPr>
              <a:t> )</a:t>
            </a:r>
            <a:endParaRPr lang="en-GB" sz="2400" dirty="0">
              <a:solidFill>
                <a:schemeClr val="tx2">
                  <a:lumMod val="7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7859331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362" name="Title 1"/>
          <p:cNvSpPr>
            <a:spLocks noGrp="1"/>
          </p:cNvSpPr>
          <p:nvPr>
            <p:ph type="ctrTitle" idx="4294967295"/>
          </p:nvPr>
        </p:nvSpPr>
        <p:spPr>
          <a:xfrm>
            <a:off x="685800" y="228600"/>
            <a:ext cx="3026012" cy="565146"/>
          </a:xfrm>
        </p:spPr>
        <p:txBody>
          <a:bodyPr wrap="none" lIns="36000" tIns="36000" rIns="36000" bIns="36000" anchor="t">
            <a:spAutoFit/>
          </a:bodyPr>
          <a:lstStyle/>
          <a:p>
            <a:pPr algn="l" eaLnBrk="1" hangingPunct="1">
              <a:defRPr/>
            </a:pPr>
            <a:r>
              <a:rPr lang="en-GB" sz="3200" b="1" dirty="0" smtClean="0">
                <a:solidFill>
                  <a:srgbClr val="C00000"/>
                </a:solidFill>
                <a:latin typeface="+mn-lt"/>
              </a:rPr>
              <a:t>From 1NF to 2 NF</a:t>
            </a:r>
            <a:endParaRPr lang="en-US" sz="3200" b="1" dirty="0" smtClean="0">
              <a:solidFill>
                <a:schemeClr val="tx2">
                  <a:lumMod val="75000"/>
                </a:schemeClr>
              </a:solidFill>
              <a:latin typeface="+mn-lt"/>
            </a:endParaRPr>
          </a:p>
        </p:txBody>
      </p:sp>
      <p:graphicFrame>
        <p:nvGraphicFramePr>
          <p:cNvPr id="18" name="Table 17">
            <a:extLst>
              <a:ext uri="{FF2B5EF4-FFF2-40B4-BE49-F238E27FC236}">
                <a16:creationId xmlns:a16="http://schemas.microsoft.com/office/drawing/2014/main" id="{EB83D72D-1B60-4BCE-BE3D-43FFE90D1D0D}"/>
              </a:ext>
            </a:extLst>
          </p:cNvPr>
          <p:cNvGraphicFramePr>
            <a:graphicFrameLocks noGrp="1"/>
          </p:cNvGraphicFramePr>
          <p:nvPr>
            <p:extLst>
              <p:ext uri="{D42A27DB-BD31-4B8C-83A1-F6EECF244321}">
                <p14:modId xmlns:p14="http://schemas.microsoft.com/office/powerpoint/2010/main" val="2339150403"/>
              </p:ext>
            </p:extLst>
          </p:nvPr>
        </p:nvGraphicFramePr>
        <p:xfrm>
          <a:off x="685800" y="1143000"/>
          <a:ext cx="7863840" cy="3950482"/>
        </p:xfrm>
        <a:graphic>
          <a:graphicData uri="http://schemas.openxmlformats.org/drawingml/2006/table">
            <a:tbl>
              <a:tblPr firstRow="1" bandRow="1">
                <a:tableStyleId>{5C22544A-7EE6-4342-B048-85BDC9FD1C3A}</a:tableStyleId>
              </a:tblPr>
              <a:tblGrid>
                <a:gridCol w="1066800">
                  <a:extLst>
                    <a:ext uri="{9D8B030D-6E8A-4147-A177-3AD203B41FA5}">
                      <a16:colId xmlns:a16="http://schemas.microsoft.com/office/drawing/2014/main" val="3882139002"/>
                    </a:ext>
                  </a:extLst>
                </a:gridCol>
                <a:gridCol w="6797040">
                  <a:extLst>
                    <a:ext uri="{9D8B030D-6E8A-4147-A177-3AD203B41FA5}">
                      <a16:colId xmlns:a16="http://schemas.microsoft.com/office/drawing/2014/main" val="4234293058"/>
                    </a:ext>
                  </a:extLst>
                </a:gridCol>
              </a:tblGrid>
              <a:tr h="658642">
                <a:tc>
                  <a:txBody>
                    <a:bodyPr/>
                    <a:lstStyle/>
                    <a:p>
                      <a:pPr algn="ctr"/>
                      <a:r>
                        <a:rPr lang="en-SG" sz="2000" b="0" dirty="0">
                          <a:solidFill>
                            <a:schemeClr val="tx1"/>
                          </a:solidFill>
                        </a:rPr>
                        <a:t>Original </a:t>
                      </a:r>
                    </a:p>
                  </a:txBody>
                  <a:tcPr marL="18288" marR="18288" marT="91440" marB="91440">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solidFill>
                            <a:schemeClr val="tx1"/>
                          </a:solidFill>
                          <a:latin typeface="+mn-lt"/>
                        </a:rPr>
                        <a:t>PURCHASE </a:t>
                      </a:r>
                      <a:r>
                        <a:rPr lang="en-GB" sz="2000" b="0" dirty="0">
                          <a:solidFill>
                            <a:schemeClr val="tx1"/>
                          </a:solidFill>
                          <a:latin typeface="+mn-lt"/>
                        </a:rPr>
                        <a:t>(</a:t>
                      </a:r>
                      <a:r>
                        <a:rPr lang="en-GB" sz="2000" b="0" dirty="0" err="1">
                          <a:solidFill>
                            <a:schemeClr val="tx1"/>
                          </a:solidFill>
                          <a:latin typeface="+mn-lt"/>
                        </a:rPr>
                        <a:t>PartNo</a:t>
                      </a:r>
                      <a:r>
                        <a:rPr lang="en-GB" sz="2000" b="0" dirty="0">
                          <a:solidFill>
                            <a:schemeClr val="tx1"/>
                          </a:solidFill>
                          <a:latin typeface="+mn-lt"/>
                        </a:rPr>
                        <a:t>, </a:t>
                      </a:r>
                      <a:r>
                        <a:rPr lang="en-GB" sz="2000" b="0" dirty="0" err="1">
                          <a:solidFill>
                            <a:schemeClr val="tx1"/>
                          </a:solidFill>
                          <a:latin typeface="+mn-lt"/>
                        </a:rPr>
                        <a:t>PartDesc</a:t>
                      </a:r>
                      <a:r>
                        <a:rPr lang="en-GB" sz="2000" b="0" dirty="0">
                          <a:solidFill>
                            <a:schemeClr val="tx1"/>
                          </a:solidFill>
                          <a:latin typeface="+mn-lt"/>
                        </a:rPr>
                        <a:t>, </a:t>
                      </a:r>
                      <a:r>
                        <a:rPr lang="en-GB" sz="2000" b="0" dirty="0" err="1">
                          <a:solidFill>
                            <a:schemeClr val="tx1"/>
                          </a:solidFill>
                          <a:latin typeface="+mn-lt"/>
                        </a:rPr>
                        <a:t>SuppNo</a:t>
                      </a:r>
                      <a:r>
                        <a:rPr lang="en-GB" sz="2000" b="0" dirty="0">
                          <a:solidFill>
                            <a:schemeClr val="tx1"/>
                          </a:solidFill>
                          <a:latin typeface="+mn-lt"/>
                        </a:rPr>
                        <a:t>, </a:t>
                      </a:r>
                      <a:r>
                        <a:rPr lang="en-GB" sz="2000" b="0" dirty="0" err="1">
                          <a:solidFill>
                            <a:schemeClr val="tx1"/>
                          </a:solidFill>
                          <a:latin typeface="+mn-lt"/>
                        </a:rPr>
                        <a:t>SuppName</a:t>
                      </a:r>
                      <a:r>
                        <a:rPr lang="en-GB" sz="2000" b="0" dirty="0">
                          <a:solidFill>
                            <a:schemeClr val="tx1"/>
                          </a:solidFill>
                          <a:latin typeface="+mn-lt"/>
                        </a:rPr>
                        <a:t>, </a:t>
                      </a:r>
                      <a:r>
                        <a:rPr lang="en-GB" sz="2000" b="0" dirty="0" err="1">
                          <a:solidFill>
                            <a:schemeClr val="tx1"/>
                          </a:solidFill>
                          <a:latin typeface="+mn-lt"/>
                        </a:rPr>
                        <a:t>SuppAddr</a:t>
                      </a:r>
                      <a:r>
                        <a:rPr lang="en-GB" sz="2000" b="0" dirty="0">
                          <a:solidFill>
                            <a:schemeClr val="tx1"/>
                          </a:solidFill>
                          <a:latin typeface="+mn-lt"/>
                        </a:rPr>
                        <a:t>, Cost, </a:t>
                      </a:r>
                      <a:r>
                        <a:rPr lang="en-GB" sz="2000" b="0" dirty="0" smtClean="0">
                          <a:solidFill>
                            <a:schemeClr val="tx1"/>
                          </a:solidFill>
                          <a:latin typeface="+mn-lt"/>
                        </a:rPr>
                        <a:t>Store, </a:t>
                      </a:r>
                      <a:r>
                        <a:rPr lang="en-GB" sz="2000" b="0" dirty="0">
                          <a:solidFill>
                            <a:schemeClr val="tx1"/>
                          </a:solidFill>
                          <a:latin typeface="+mn-lt"/>
                        </a:rPr>
                        <a:t>Phone</a:t>
                      </a:r>
                      <a:r>
                        <a:rPr lang="en-GB" sz="2000" b="0" dirty="0" smtClean="0">
                          <a:solidFill>
                            <a:schemeClr val="tx1"/>
                          </a:solidFill>
                          <a:latin typeface="+mn-lt"/>
                        </a:rPr>
                        <a:t>)</a:t>
                      </a:r>
                      <a:endParaRPr lang="en-US" sz="2000" b="0" dirty="0">
                        <a:solidFill>
                          <a:schemeClr val="tx1"/>
                        </a:solidFill>
                        <a:latin typeface="+mn-lt"/>
                      </a:endParaRPr>
                    </a:p>
                  </a:txBody>
                  <a:tcPr marL="18288" marR="18288" marT="91440" marB="91440">
                    <a:solidFill>
                      <a:srgbClr val="FFFF00"/>
                    </a:solidFill>
                  </a:tcPr>
                </a:tc>
                <a:extLst>
                  <a:ext uri="{0D108BD9-81ED-4DB2-BD59-A6C34878D82A}">
                    <a16:rowId xmlns:a16="http://schemas.microsoft.com/office/drawing/2014/main" val="2436930064"/>
                  </a:ext>
                </a:extLst>
              </a:tr>
              <a:tr h="658642">
                <a:tc>
                  <a:txBody>
                    <a:bodyPr/>
                    <a:lstStyle/>
                    <a:p>
                      <a:pPr algn="ctr"/>
                      <a:r>
                        <a:rPr lang="en-SG" sz="2000" dirty="0"/>
                        <a:t>1NF</a:t>
                      </a:r>
                    </a:p>
                  </a:txBody>
                  <a:tcPr marL="18288" marR="18288" marT="91440" marB="9144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latin typeface="+mn-lt"/>
                        </a:rPr>
                        <a:t>PURCHASE(</a:t>
                      </a:r>
                      <a:r>
                        <a:rPr lang="en-GB" sz="2000" b="1" dirty="0">
                          <a:latin typeface="+mn-lt"/>
                        </a:rPr>
                        <a:t> </a:t>
                      </a:r>
                      <a:r>
                        <a:rPr lang="en-GB" sz="2000" b="0" u="sng" dirty="0" err="1">
                          <a:solidFill>
                            <a:srgbClr val="FF0000"/>
                          </a:solidFill>
                          <a:latin typeface="+mn-lt"/>
                        </a:rPr>
                        <a:t>PartNo</a:t>
                      </a:r>
                      <a:r>
                        <a:rPr lang="en-GB" sz="2000" dirty="0">
                          <a:latin typeface="+mn-lt"/>
                        </a:rPr>
                        <a:t>, </a:t>
                      </a:r>
                      <a:r>
                        <a:rPr lang="en-GB" sz="2000" dirty="0" err="1">
                          <a:latin typeface="+mn-lt"/>
                        </a:rPr>
                        <a:t>PartDesc</a:t>
                      </a:r>
                      <a:r>
                        <a:rPr lang="en-GB" sz="2000" dirty="0">
                          <a:latin typeface="+mn-lt"/>
                        </a:rPr>
                        <a:t>, </a:t>
                      </a:r>
                      <a:r>
                        <a:rPr lang="en-GB" sz="2000" b="0" u="sng" dirty="0" err="1">
                          <a:solidFill>
                            <a:srgbClr val="FF0000"/>
                          </a:solidFill>
                          <a:latin typeface="+mn-lt"/>
                        </a:rPr>
                        <a:t>SuppNo</a:t>
                      </a:r>
                      <a:r>
                        <a:rPr lang="en-GB" sz="2000" dirty="0">
                          <a:latin typeface="+mn-lt"/>
                        </a:rPr>
                        <a:t>, </a:t>
                      </a:r>
                      <a:r>
                        <a:rPr lang="en-GB" sz="2000" dirty="0" err="1">
                          <a:latin typeface="+mn-lt"/>
                        </a:rPr>
                        <a:t>SuppName</a:t>
                      </a:r>
                      <a:r>
                        <a:rPr lang="en-GB" sz="2000" dirty="0">
                          <a:latin typeface="+mn-lt"/>
                        </a:rPr>
                        <a:t>, </a:t>
                      </a:r>
                      <a:r>
                        <a:rPr lang="en-GB" sz="2000" dirty="0" err="1">
                          <a:latin typeface="+mn-lt"/>
                        </a:rPr>
                        <a:t>SuppAddr</a:t>
                      </a:r>
                      <a:r>
                        <a:rPr lang="en-GB" sz="2000" dirty="0">
                          <a:latin typeface="+mn-lt"/>
                        </a:rPr>
                        <a:t>, Cost, </a:t>
                      </a:r>
                      <a:r>
                        <a:rPr lang="en-GB" sz="2000" dirty="0" smtClean="0">
                          <a:latin typeface="+mn-lt"/>
                        </a:rPr>
                        <a:t>Store, </a:t>
                      </a:r>
                      <a:r>
                        <a:rPr lang="en-GB" sz="2000" dirty="0">
                          <a:latin typeface="+mn-lt"/>
                        </a:rPr>
                        <a:t>Phone</a:t>
                      </a:r>
                      <a:r>
                        <a:rPr lang="en-GB" sz="2000" dirty="0" smtClean="0">
                          <a:latin typeface="+mn-lt"/>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mn-lt"/>
                      </a:endParaRPr>
                    </a:p>
                  </a:txBody>
                  <a:tcPr marL="18288" marR="18288" marT="91440" marB="91440"/>
                </a:tc>
                <a:extLst>
                  <a:ext uri="{0D108BD9-81ED-4DB2-BD59-A6C34878D82A}">
                    <a16:rowId xmlns:a16="http://schemas.microsoft.com/office/drawing/2014/main" val="3772828845"/>
                  </a:ext>
                </a:extLst>
              </a:tr>
              <a:tr h="658642">
                <a:tc>
                  <a:txBody>
                    <a:bodyPr/>
                    <a:lstStyle/>
                    <a:p>
                      <a:pPr algn="ctr"/>
                      <a:r>
                        <a:rPr lang="en-SG" sz="2000" dirty="0"/>
                        <a:t>2NF</a:t>
                      </a:r>
                    </a:p>
                  </a:txBody>
                  <a:tcPr marL="18288" marR="18288" marT="91440" marB="9144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smtClean="0">
                          <a:latin typeface="+mn-lt"/>
                        </a:rPr>
                        <a:t>PURCHASE(</a:t>
                      </a:r>
                      <a:r>
                        <a:rPr lang="en-GB" sz="2000" b="1" dirty="0" smtClean="0">
                          <a:latin typeface="+mn-lt"/>
                        </a:rPr>
                        <a:t> </a:t>
                      </a:r>
                      <a:r>
                        <a:rPr lang="en-GB" sz="2000" b="0" u="sng" dirty="0" err="1" smtClean="0">
                          <a:solidFill>
                            <a:srgbClr val="FF0000"/>
                          </a:solidFill>
                          <a:latin typeface="+mn-lt"/>
                        </a:rPr>
                        <a:t>PartNo</a:t>
                      </a:r>
                      <a:r>
                        <a:rPr lang="en-GB" sz="2000" dirty="0" smtClean="0">
                          <a:latin typeface="+mn-lt"/>
                        </a:rPr>
                        <a:t>, </a:t>
                      </a:r>
                      <a:r>
                        <a:rPr lang="en-GB" sz="2000" b="0" u="sng" dirty="0" err="1" smtClean="0">
                          <a:solidFill>
                            <a:srgbClr val="FF0000"/>
                          </a:solidFill>
                          <a:latin typeface="+mn-lt"/>
                        </a:rPr>
                        <a:t>SuppNo</a:t>
                      </a:r>
                      <a:r>
                        <a:rPr lang="en-GB" sz="2000" dirty="0" smtClean="0">
                          <a:latin typeface="+mn-lt"/>
                        </a:rPr>
                        <a:t>, Cost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smtClean="0">
                          <a:latin typeface="+mn-lt"/>
                        </a:rPr>
                        <a:t>PART(</a:t>
                      </a:r>
                      <a:r>
                        <a:rPr lang="en-GB" sz="2000" b="1" dirty="0" smtClean="0">
                          <a:latin typeface="+mn-lt"/>
                        </a:rPr>
                        <a:t> </a:t>
                      </a:r>
                      <a:r>
                        <a:rPr lang="en-GB" sz="2000" b="0" u="sng" dirty="0" err="1" smtClean="0">
                          <a:solidFill>
                            <a:srgbClr val="FF0000"/>
                          </a:solidFill>
                          <a:latin typeface="+mn-lt"/>
                        </a:rPr>
                        <a:t>PartN</a:t>
                      </a:r>
                      <a:r>
                        <a:rPr lang="en-GB" sz="2000" b="1" u="sng" dirty="0" err="1" smtClean="0">
                          <a:solidFill>
                            <a:srgbClr val="FF0000"/>
                          </a:solidFill>
                          <a:latin typeface="+mn-lt"/>
                        </a:rPr>
                        <a:t>o</a:t>
                      </a:r>
                      <a:r>
                        <a:rPr lang="en-GB" sz="2000" dirty="0" smtClean="0">
                          <a:latin typeface="+mn-lt"/>
                        </a:rPr>
                        <a:t>, </a:t>
                      </a:r>
                      <a:r>
                        <a:rPr lang="en-GB" sz="2000" dirty="0" err="1" smtClean="0">
                          <a:latin typeface="+mn-lt"/>
                        </a:rPr>
                        <a:t>PartDesc</a:t>
                      </a:r>
                      <a:r>
                        <a:rPr lang="en-GB" sz="2000" dirty="0" smtClean="0">
                          <a:latin typeface="+mn-lt"/>
                        </a:rPr>
                        <a:t>,</a:t>
                      </a:r>
                      <a:r>
                        <a:rPr lang="en-GB" sz="2000" baseline="0" dirty="0" smtClean="0">
                          <a:latin typeface="+mn-lt"/>
                        </a:rPr>
                        <a:t> Store, Phone</a:t>
                      </a:r>
                      <a:r>
                        <a:rPr lang="en-GB" sz="2000" dirty="0" smtClean="0">
                          <a:latin typeface="+mn-lt"/>
                        </a:rPr>
                        <a:t> )</a:t>
                      </a:r>
                      <a:endParaRPr lang="en-US" sz="2000" dirty="0" smtClean="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smtClean="0">
                          <a:latin typeface="+mn-lt"/>
                        </a:rPr>
                        <a:t>SUPPLIER(</a:t>
                      </a:r>
                      <a:r>
                        <a:rPr lang="en-GB" sz="2000" b="1" dirty="0" smtClean="0">
                          <a:latin typeface="+mn-lt"/>
                        </a:rPr>
                        <a:t> </a:t>
                      </a:r>
                      <a:r>
                        <a:rPr lang="en-GB" sz="2000" b="0" u="sng" dirty="0" err="1" smtClean="0">
                          <a:solidFill>
                            <a:srgbClr val="FF0000"/>
                          </a:solidFill>
                          <a:latin typeface="+mn-lt"/>
                        </a:rPr>
                        <a:t>SuppNo</a:t>
                      </a:r>
                      <a:r>
                        <a:rPr lang="en-GB" sz="2000" dirty="0" smtClean="0">
                          <a:latin typeface="+mn-lt"/>
                        </a:rPr>
                        <a:t>, </a:t>
                      </a:r>
                      <a:r>
                        <a:rPr lang="en-GB" sz="2000" dirty="0" err="1" smtClean="0">
                          <a:latin typeface="+mn-lt"/>
                        </a:rPr>
                        <a:t>SuppName</a:t>
                      </a:r>
                      <a:r>
                        <a:rPr lang="en-GB" sz="2000" dirty="0" smtClean="0">
                          <a:latin typeface="+mn-lt"/>
                        </a:rPr>
                        <a:t>, </a:t>
                      </a:r>
                      <a:r>
                        <a:rPr lang="en-GB" sz="2000" dirty="0" err="1" smtClean="0">
                          <a:latin typeface="+mn-lt"/>
                        </a:rPr>
                        <a:t>SuppAddr</a:t>
                      </a:r>
                      <a:r>
                        <a:rPr lang="en-GB" sz="2000" dirty="0" smtClean="0">
                          <a:latin typeface="+mn-lt"/>
                        </a:rPr>
                        <a:t> )</a:t>
                      </a:r>
                      <a:endParaRPr lang="en-US" sz="2000" dirty="0" smtClean="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mn-lt"/>
                      </a:endParaRPr>
                    </a:p>
                  </a:txBody>
                  <a:tcPr marL="18288" marR="18288" marT="91440" marB="91440"/>
                </a:tc>
                <a:extLst>
                  <a:ext uri="{0D108BD9-81ED-4DB2-BD59-A6C34878D82A}">
                    <a16:rowId xmlns:a16="http://schemas.microsoft.com/office/drawing/2014/main" val="4251656442"/>
                  </a:ext>
                </a:extLst>
              </a:tr>
              <a:tr h="658642">
                <a:tc>
                  <a:txBody>
                    <a:bodyPr/>
                    <a:lstStyle/>
                    <a:p>
                      <a:pPr algn="ctr"/>
                      <a:r>
                        <a:rPr lang="en-SG" sz="2000" dirty="0"/>
                        <a:t>3NF</a:t>
                      </a:r>
                    </a:p>
                  </a:txBody>
                  <a:tcPr marL="18288" marR="18288" marT="91440" marB="91440"/>
                </a:tc>
                <a:tc>
                  <a:txBody>
                    <a:bodyPr/>
                    <a:lstStyle/>
                    <a:p>
                      <a:endParaRPr lang="en-SG" sz="2000" dirty="0"/>
                    </a:p>
                  </a:txBody>
                  <a:tcPr marL="18288" marR="18288" marT="91440" marB="91440"/>
                </a:tc>
                <a:extLst>
                  <a:ext uri="{0D108BD9-81ED-4DB2-BD59-A6C34878D82A}">
                    <a16:rowId xmlns:a16="http://schemas.microsoft.com/office/drawing/2014/main" val="1453198187"/>
                  </a:ext>
                </a:extLst>
              </a:tr>
            </a:tbl>
          </a:graphicData>
        </a:graphic>
      </p:graphicFrame>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ctrTitle" idx="4294967295"/>
          </p:nvPr>
        </p:nvSpPr>
        <p:spPr>
          <a:xfrm>
            <a:off x="750887" y="228600"/>
            <a:ext cx="3211513" cy="565150"/>
          </a:xfrm>
        </p:spPr>
        <p:txBody>
          <a:bodyPr wrap="none" lIns="36000" tIns="36000" rIns="36000" bIns="36000" anchor="t">
            <a:spAutoFit/>
          </a:bodyPr>
          <a:lstStyle/>
          <a:p>
            <a:pPr algn="l" eaLnBrk="1" hangingPunct="1">
              <a:defRPr/>
            </a:pPr>
            <a:r>
              <a:rPr lang="en-GB" sz="3200" b="1" dirty="0" smtClean="0">
                <a:solidFill>
                  <a:srgbClr val="C00000"/>
                </a:solidFill>
                <a:latin typeface="+mn-lt"/>
              </a:rPr>
              <a:t>From 2 NF to </a:t>
            </a:r>
            <a:r>
              <a:rPr lang="en-GB" sz="3200" b="1" dirty="0" smtClean="0">
                <a:solidFill>
                  <a:srgbClr val="C00000"/>
                </a:solidFill>
                <a:latin typeface="+mn-lt"/>
                <a:sym typeface="Wingdings" panose="05000000000000000000" pitchFamily="2" charset="2"/>
              </a:rPr>
              <a:t>3 NF</a:t>
            </a:r>
            <a:endParaRPr lang="en-US" sz="3200" b="1" dirty="0" smtClean="0">
              <a:solidFill>
                <a:srgbClr val="C00000"/>
              </a:solidFill>
              <a:latin typeface="+mn-lt"/>
            </a:endParaRPr>
          </a:p>
        </p:txBody>
      </p:sp>
      <p:sp>
        <p:nvSpPr>
          <p:cNvPr id="36867" name="Rectangle 12"/>
          <p:cNvSpPr>
            <a:spLocks noChangeArrowheads="1"/>
          </p:cNvSpPr>
          <p:nvPr/>
        </p:nvSpPr>
        <p:spPr bwMode="auto">
          <a:xfrm>
            <a:off x="804863" y="5410200"/>
            <a:ext cx="772953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spAutoFit/>
          </a:bodyPr>
          <a:lstStyle>
            <a:lvl1pPr marL="342900" indent="-342900" eaLnBrk="0" hangingPunct="0">
              <a:spcBef>
                <a:spcPct val="20000"/>
              </a:spcBef>
              <a:buFont typeface="Arial" charset="0"/>
              <a:buChar char="•"/>
              <a:defRPr sz="3200">
                <a:solidFill>
                  <a:schemeClr val="tx1"/>
                </a:solidFill>
                <a:latin typeface="Calibri" pitchFamily="34" charset="0"/>
              </a:defRPr>
            </a:lvl1pPr>
            <a:lvl2pPr marL="450850" indent="-4508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lvl="1" eaLnBrk="1" hangingPunct="1">
              <a:buFont typeface="Wingdings" pitchFamily="2" charset="2"/>
              <a:buNone/>
            </a:pPr>
            <a:r>
              <a:rPr lang="en-US" altLang="zh-SG" sz="2400">
                <a:solidFill>
                  <a:srgbClr val="C00000"/>
                </a:solidFill>
              </a:rPr>
              <a:t>i.e. Under 2 NF, the relations are already in Full and partial functional dependencies.</a:t>
            </a:r>
          </a:p>
        </p:txBody>
      </p:sp>
      <p:graphicFrame>
        <p:nvGraphicFramePr>
          <p:cNvPr id="5" name="Diagram 4"/>
          <p:cNvGraphicFramePr/>
          <p:nvPr/>
        </p:nvGraphicFramePr>
        <p:xfrm>
          <a:off x="1447800" y="1328098"/>
          <a:ext cx="5715000" cy="3581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5843" name="Rectangle 12"/>
          <p:cNvSpPr>
            <a:spLocks noChangeArrowheads="1"/>
          </p:cNvSpPr>
          <p:nvPr/>
        </p:nvSpPr>
        <p:spPr bwMode="auto">
          <a:xfrm>
            <a:off x="754063" y="3829050"/>
            <a:ext cx="7729537" cy="1077913"/>
          </a:xfrm>
          <a:prstGeom prst="rect">
            <a:avLst/>
          </a:prstGeom>
          <a:solidFill>
            <a:schemeClr val="bg2">
              <a:lumMod val="90000"/>
            </a:schemeClr>
          </a:solidFill>
          <a:ln>
            <a:noFill/>
          </a:ln>
        </p:spPr>
        <p:txBody>
          <a:bodyPr lIns="45720" rIns="45720">
            <a:spAutoFit/>
          </a:bodyPr>
          <a:lstStyle>
            <a:lvl1pPr marL="342900" indent="-342900" eaLnBrk="0" hangingPunct="0">
              <a:spcBef>
                <a:spcPct val="20000"/>
              </a:spcBef>
              <a:buFont typeface="Arial" charset="0"/>
              <a:buChar char="•"/>
              <a:defRPr sz="3200">
                <a:solidFill>
                  <a:schemeClr val="tx1"/>
                </a:solidFill>
                <a:latin typeface="Calibri" pitchFamily="34" charset="0"/>
              </a:defRPr>
            </a:lvl1pPr>
            <a:lvl2pPr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lvl="1" eaLnBrk="1" hangingPunct="1">
              <a:buFont typeface="Wingdings" pitchFamily="2" charset="2"/>
              <a:buNone/>
              <a:defRPr/>
            </a:pPr>
            <a:r>
              <a:rPr lang="en-US" altLang="zh-SG" sz="3200" b="1" dirty="0" smtClean="0"/>
              <a:t>The relation must be in 2NF before it can proceed to 3NF</a:t>
            </a:r>
          </a:p>
        </p:txBody>
      </p:sp>
      <p:cxnSp>
        <p:nvCxnSpPr>
          <p:cNvPr id="3" name="Straight Arrow Connector 2"/>
          <p:cNvCxnSpPr/>
          <p:nvPr/>
        </p:nvCxnSpPr>
        <p:spPr>
          <a:xfrm flipV="1">
            <a:off x="3897313" y="2514600"/>
            <a:ext cx="1055687" cy="381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3"/>
          <p:cNvSpPr txBox="1">
            <a:spLocks noChangeArrowheads="1"/>
          </p:cNvSpPr>
          <p:nvPr/>
        </p:nvSpPr>
        <p:spPr>
          <a:xfrm>
            <a:off x="723900" y="1513380"/>
            <a:ext cx="4381500" cy="467820"/>
          </a:xfrm>
          <a:prstGeom prst="rect">
            <a:avLst/>
          </a:prstGeom>
        </p:spPr>
        <p:txBody>
          <a:bodyPr wrap="square" lIns="18288" tIns="18288" rIns="18288" bIns="18288">
            <a:spAutoFit/>
          </a:bodyPr>
          <a:lstStyle/>
          <a:p>
            <a:pPr>
              <a:spcBef>
                <a:spcPct val="20000"/>
              </a:spcBef>
              <a:defRPr/>
            </a:pPr>
            <a:r>
              <a:rPr lang="en-US" sz="2800" b="1" dirty="0">
                <a:solidFill>
                  <a:srgbClr val="C00000"/>
                </a:solidFill>
                <a:latin typeface="+mn-lt"/>
              </a:rPr>
              <a:t>Transitive </a:t>
            </a:r>
            <a:r>
              <a:rPr lang="en-US" sz="2800" b="1" dirty="0" smtClean="0">
                <a:solidFill>
                  <a:srgbClr val="C00000"/>
                </a:solidFill>
                <a:latin typeface="+mn-lt"/>
              </a:rPr>
              <a:t>Dependency</a:t>
            </a:r>
            <a:endParaRPr lang="en-US" sz="2800" b="1" dirty="0">
              <a:solidFill>
                <a:srgbClr val="C00000"/>
              </a:solidFill>
              <a:latin typeface="+mn-lt"/>
            </a:endParaRPr>
          </a:p>
        </p:txBody>
      </p:sp>
      <p:sp>
        <p:nvSpPr>
          <p:cNvPr id="14" name="Title 1"/>
          <p:cNvSpPr>
            <a:spLocks noGrp="1"/>
          </p:cNvSpPr>
          <p:nvPr>
            <p:ph type="ctrTitle" idx="4294967295"/>
          </p:nvPr>
        </p:nvSpPr>
        <p:spPr>
          <a:xfrm>
            <a:off x="685800" y="228600"/>
            <a:ext cx="4320276" cy="565146"/>
          </a:xfrm>
        </p:spPr>
        <p:txBody>
          <a:bodyPr wrap="none" lIns="36000" tIns="36000" rIns="36000" bIns="36000" anchor="t">
            <a:spAutoFit/>
          </a:bodyPr>
          <a:lstStyle/>
          <a:p>
            <a:pPr algn="l" eaLnBrk="1" hangingPunct="1">
              <a:defRPr/>
            </a:pPr>
            <a:r>
              <a:rPr lang="en-GB" sz="3200" b="1" dirty="0" smtClean="0">
                <a:solidFill>
                  <a:srgbClr val="C00000"/>
                </a:solidFill>
                <a:latin typeface="+mn-lt"/>
              </a:rPr>
              <a:t>Third Normal Form (3NF)</a:t>
            </a:r>
            <a:endParaRPr lang="en-US" sz="3200" b="1" dirty="0" smtClean="0">
              <a:solidFill>
                <a:schemeClr val="tx2">
                  <a:lumMod val="75000"/>
                </a:schemeClr>
              </a:solidFill>
              <a:latin typeface="+mn-lt"/>
            </a:endParaRPr>
          </a:p>
        </p:txBody>
      </p:sp>
      <p:sp>
        <p:nvSpPr>
          <p:cNvPr id="16" name="TextBox 15"/>
          <p:cNvSpPr txBox="1"/>
          <p:nvPr/>
        </p:nvSpPr>
        <p:spPr>
          <a:xfrm>
            <a:off x="6629400" y="4835734"/>
            <a:ext cx="1977080" cy="295466"/>
          </a:xfrm>
          <a:prstGeom prst="rect">
            <a:avLst/>
          </a:prstGeom>
          <a:noFill/>
        </p:spPr>
        <p:txBody>
          <a:bodyPr wrap="none" lIns="9144" tIns="9144" rIns="9144" bIns="9144">
            <a:spAutoFit/>
          </a:bodyPr>
          <a:lstStyle/>
          <a:p>
            <a:pPr>
              <a:defRPr/>
            </a:pPr>
            <a:r>
              <a:rPr lang="en-GB" dirty="0">
                <a:latin typeface="+mn-lt"/>
              </a:rPr>
              <a:t>(</a:t>
            </a:r>
            <a:r>
              <a:rPr lang="en-GB" b="1" dirty="0">
                <a:latin typeface="+mn-lt"/>
              </a:rPr>
              <a:t>Non-key</a:t>
            </a:r>
            <a:r>
              <a:rPr lang="en-GB" dirty="0">
                <a:latin typeface="+mn-lt"/>
              </a:rPr>
              <a:t> attributes )</a:t>
            </a:r>
            <a:endParaRPr lang="en-US" dirty="0">
              <a:latin typeface="+mn-lt"/>
            </a:endParaRPr>
          </a:p>
        </p:txBody>
      </p:sp>
      <p:sp>
        <p:nvSpPr>
          <p:cNvPr id="15" name="TextBox 14"/>
          <p:cNvSpPr txBox="1"/>
          <p:nvPr/>
        </p:nvSpPr>
        <p:spPr>
          <a:xfrm>
            <a:off x="685800" y="4430922"/>
            <a:ext cx="7898765" cy="369332"/>
          </a:xfrm>
          <a:prstGeom prst="rect">
            <a:avLst/>
          </a:prstGeom>
          <a:solidFill>
            <a:srgbClr val="99FF99"/>
          </a:solidFill>
        </p:spPr>
        <p:txBody>
          <a:bodyPr wrap="none" lIns="45720" rIns="45720">
            <a:spAutoFit/>
          </a:bodyPr>
          <a:lstStyle/>
          <a:p>
            <a:pPr>
              <a:defRPr/>
            </a:pPr>
            <a:r>
              <a:rPr lang="en-GB" dirty="0">
                <a:latin typeface="+mn-lt"/>
              </a:rPr>
              <a:t>PURCHASE</a:t>
            </a:r>
            <a:r>
              <a:rPr lang="en-GB" dirty="0">
                <a:solidFill>
                  <a:schemeClr val="accent6">
                    <a:lumMod val="50000"/>
                  </a:schemeClr>
                </a:solidFill>
                <a:latin typeface="+mn-lt"/>
              </a:rPr>
              <a:t> </a:t>
            </a:r>
            <a:r>
              <a:rPr lang="en-GB" dirty="0">
                <a:latin typeface="+mn-lt"/>
              </a:rPr>
              <a:t>(</a:t>
            </a:r>
            <a:r>
              <a:rPr lang="en-GB" b="1" u="sng" dirty="0" err="1">
                <a:solidFill>
                  <a:srgbClr val="FF0000"/>
                </a:solidFill>
                <a:latin typeface="+mn-lt"/>
              </a:rPr>
              <a:t>PartNo</a:t>
            </a:r>
            <a:r>
              <a:rPr lang="en-GB" dirty="0">
                <a:solidFill>
                  <a:srgbClr val="FF0000"/>
                </a:solidFill>
                <a:latin typeface="+mn-lt"/>
              </a:rPr>
              <a:t>,</a:t>
            </a:r>
            <a:r>
              <a:rPr lang="en-GB" dirty="0">
                <a:solidFill>
                  <a:schemeClr val="accent6">
                    <a:lumMod val="50000"/>
                  </a:schemeClr>
                </a:solidFill>
                <a:latin typeface="+mn-lt"/>
              </a:rPr>
              <a:t> </a:t>
            </a:r>
            <a:r>
              <a:rPr lang="en-GB" dirty="0" err="1">
                <a:latin typeface="+mn-lt"/>
              </a:rPr>
              <a:t>PartDesc</a:t>
            </a:r>
            <a:r>
              <a:rPr lang="en-GB" dirty="0">
                <a:latin typeface="+mn-lt"/>
              </a:rPr>
              <a:t>,</a:t>
            </a:r>
            <a:r>
              <a:rPr lang="en-GB" dirty="0">
                <a:solidFill>
                  <a:schemeClr val="accent6">
                    <a:lumMod val="50000"/>
                  </a:schemeClr>
                </a:solidFill>
                <a:latin typeface="+mn-lt"/>
              </a:rPr>
              <a:t> </a:t>
            </a:r>
            <a:r>
              <a:rPr lang="en-GB" b="1" u="sng" dirty="0" err="1">
                <a:solidFill>
                  <a:srgbClr val="FF0000"/>
                </a:solidFill>
                <a:latin typeface="+mn-lt"/>
              </a:rPr>
              <a:t>SuppNo</a:t>
            </a:r>
            <a:r>
              <a:rPr lang="en-GB" dirty="0">
                <a:solidFill>
                  <a:srgbClr val="FF0000"/>
                </a:solidFill>
                <a:latin typeface="+mn-lt"/>
              </a:rPr>
              <a:t>,</a:t>
            </a:r>
            <a:r>
              <a:rPr lang="en-GB" dirty="0">
                <a:solidFill>
                  <a:schemeClr val="accent6">
                    <a:lumMod val="50000"/>
                  </a:schemeClr>
                </a:solidFill>
                <a:latin typeface="+mn-lt"/>
              </a:rPr>
              <a:t> </a:t>
            </a:r>
            <a:r>
              <a:rPr lang="en-GB" dirty="0" err="1">
                <a:latin typeface="+mn-lt"/>
              </a:rPr>
              <a:t>SuppName</a:t>
            </a:r>
            <a:r>
              <a:rPr lang="en-GB" dirty="0">
                <a:latin typeface="+mn-lt"/>
              </a:rPr>
              <a:t>, </a:t>
            </a:r>
            <a:r>
              <a:rPr lang="en-GB" dirty="0" err="1">
                <a:latin typeface="+mn-lt"/>
              </a:rPr>
              <a:t>SuppAddr</a:t>
            </a:r>
            <a:r>
              <a:rPr lang="en-GB" dirty="0">
                <a:latin typeface="+mn-lt"/>
              </a:rPr>
              <a:t>, Cost, </a:t>
            </a:r>
            <a:r>
              <a:rPr lang="en-GB" b="1" dirty="0" smtClean="0">
                <a:latin typeface="+mn-lt"/>
              </a:rPr>
              <a:t>Store,</a:t>
            </a:r>
            <a:r>
              <a:rPr lang="en-GB" dirty="0" smtClean="0">
                <a:solidFill>
                  <a:srgbClr val="7030A0"/>
                </a:solidFill>
                <a:latin typeface="+mn-lt"/>
              </a:rPr>
              <a:t> </a:t>
            </a:r>
            <a:r>
              <a:rPr lang="en-GB" dirty="0">
                <a:latin typeface="+mn-lt"/>
              </a:rPr>
              <a:t>Phone</a:t>
            </a:r>
            <a:r>
              <a:rPr lang="en-GB" dirty="0">
                <a:solidFill>
                  <a:srgbClr val="7030A0"/>
                </a:solidFill>
                <a:latin typeface="+mn-lt"/>
              </a:rPr>
              <a:t>)</a:t>
            </a:r>
            <a:endParaRPr lang="en-US" dirty="0">
              <a:solidFill>
                <a:srgbClr val="7030A0"/>
              </a:solidFill>
              <a:latin typeface="+mn-lt"/>
            </a:endParaRPr>
          </a:p>
        </p:txBody>
      </p:sp>
      <p:grpSp>
        <p:nvGrpSpPr>
          <p:cNvPr id="37894" name="Group 23"/>
          <p:cNvGrpSpPr>
            <a:grpSpLocks/>
          </p:cNvGrpSpPr>
          <p:nvPr/>
        </p:nvGrpSpPr>
        <p:grpSpPr bwMode="auto">
          <a:xfrm>
            <a:off x="7162800" y="4274985"/>
            <a:ext cx="863600" cy="288607"/>
            <a:chOff x="7620000" y="3830359"/>
            <a:chExt cx="864000" cy="288701"/>
          </a:xfrm>
        </p:grpSpPr>
        <p:cxnSp>
          <p:nvCxnSpPr>
            <p:cNvPr id="25" name="Straight Arrow Connector 24"/>
            <p:cNvCxnSpPr/>
            <p:nvPr/>
          </p:nvCxnSpPr>
          <p:spPr>
            <a:xfrm flipV="1">
              <a:off x="7620000" y="3830359"/>
              <a:ext cx="0" cy="274409"/>
            </a:xfrm>
            <a:prstGeom prst="straightConnector1">
              <a:avLst/>
            </a:prstGeom>
            <a:ln w="38100">
              <a:solidFill>
                <a:schemeClr val="accent6">
                  <a:lumMod val="50000"/>
                </a:schemeClr>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26" name="Straight Arrow Connector 25"/>
            <p:cNvCxnSpPr/>
            <p:nvPr/>
          </p:nvCxnSpPr>
          <p:spPr>
            <a:xfrm>
              <a:off x="8480155" y="3844651"/>
              <a:ext cx="0" cy="274409"/>
            </a:xfrm>
            <a:prstGeom prst="straightConnector1">
              <a:avLst/>
            </a:prstGeom>
            <a:ln w="28575">
              <a:solidFill>
                <a:schemeClr val="accent6">
                  <a:lumMod val="50000"/>
                </a:schemeClr>
              </a:solidFill>
              <a:tailEnd type="arrow"/>
            </a:ln>
          </p:spPr>
          <p:style>
            <a:lnRef idx="1">
              <a:schemeClr val="dk1"/>
            </a:lnRef>
            <a:fillRef idx="0">
              <a:schemeClr val="dk1"/>
            </a:fillRef>
            <a:effectRef idx="0">
              <a:schemeClr val="dk1"/>
            </a:effectRef>
            <a:fontRef idx="minor">
              <a:schemeClr val="tx1"/>
            </a:fontRef>
          </p:style>
        </p:cxnSp>
        <p:cxnSp>
          <p:nvCxnSpPr>
            <p:cNvPr id="27" name="Straight Connector 26"/>
            <p:cNvCxnSpPr/>
            <p:nvPr/>
          </p:nvCxnSpPr>
          <p:spPr>
            <a:xfrm>
              <a:off x="7620000" y="3851004"/>
              <a:ext cx="864000" cy="0"/>
            </a:xfrm>
            <a:prstGeom prst="line">
              <a:avLst/>
            </a:prstGeom>
            <a:ln w="28575">
              <a:solidFill>
                <a:schemeClr val="accent6">
                  <a:lumMod val="50000"/>
                </a:schemeClr>
              </a:solidFill>
            </a:ln>
          </p:spPr>
          <p:style>
            <a:lnRef idx="1">
              <a:schemeClr val="dk1"/>
            </a:lnRef>
            <a:fillRef idx="0">
              <a:schemeClr val="dk1"/>
            </a:fillRef>
            <a:effectRef idx="0">
              <a:schemeClr val="dk1"/>
            </a:effectRef>
            <a:fontRef idx="minor">
              <a:schemeClr val="tx1"/>
            </a:fontRef>
          </p:style>
        </p:cxnSp>
      </p:grpSp>
      <p:sp>
        <p:nvSpPr>
          <p:cNvPr id="17" name="Text Box 464"/>
          <p:cNvSpPr txBox="1">
            <a:spLocks noChangeArrowheads="1"/>
          </p:cNvSpPr>
          <p:nvPr/>
        </p:nvSpPr>
        <p:spPr bwMode="auto">
          <a:xfrm>
            <a:off x="687052" y="916796"/>
            <a:ext cx="5302029" cy="467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18288" tIns="18288" rIns="18288" bIns="18288">
            <a:spAutoFit/>
          </a:bodyPr>
          <a:lstStyle>
            <a:lvl1pPr marL="285750" indent="-285750"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indent="0" eaLnBrk="1" hangingPunct="1">
              <a:spcBef>
                <a:spcPct val="50000"/>
              </a:spcBef>
              <a:buNone/>
            </a:pPr>
            <a:r>
              <a:rPr lang="en-US" altLang="en-US" sz="2800" b="1" dirty="0" smtClean="0">
                <a:solidFill>
                  <a:srgbClr val="FF0000"/>
                </a:solidFill>
                <a:ea typeface="Calibri" pitchFamily="34" charset="0"/>
                <a:cs typeface="Calibri" pitchFamily="34" charset="0"/>
              </a:rPr>
              <a:t>3NF handles Transitive dependency</a:t>
            </a:r>
            <a:endParaRPr lang="en-US" altLang="en-US" sz="2800" b="1" dirty="0">
              <a:solidFill>
                <a:srgbClr val="FF0000"/>
              </a:solidFill>
              <a:ea typeface="Calibri" pitchFamily="34" charset="0"/>
              <a:cs typeface="Calibri" pitchFamily="34" charset="0"/>
            </a:endParaRPr>
          </a:p>
        </p:txBody>
      </p:sp>
      <p:sp>
        <p:nvSpPr>
          <p:cNvPr id="19" name="Rectangle 3"/>
          <p:cNvSpPr txBox="1">
            <a:spLocks noChangeArrowheads="1"/>
          </p:cNvSpPr>
          <p:nvPr/>
        </p:nvSpPr>
        <p:spPr>
          <a:xfrm>
            <a:off x="762000" y="1978527"/>
            <a:ext cx="8035925" cy="1221873"/>
          </a:xfrm>
          <a:prstGeom prst="rect">
            <a:avLst/>
          </a:prstGeom>
        </p:spPr>
        <p:txBody>
          <a:bodyPr lIns="18288" tIns="18288" rIns="18288" bIns="18288">
            <a:spAutoFit/>
          </a:bodyPr>
          <a:lstStyle/>
          <a:p>
            <a:pPr marL="236538" lvl="1" indent="-236538">
              <a:spcBef>
                <a:spcPts val="0"/>
              </a:spcBef>
              <a:spcAft>
                <a:spcPts val="600"/>
              </a:spcAft>
              <a:buSzPct val="70000"/>
              <a:buFont typeface="Courier New" panose="02070309020205020404" pitchFamily="49" charset="0"/>
              <a:buChar char="o"/>
              <a:defRPr/>
            </a:pPr>
            <a:r>
              <a:rPr lang="en-US" sz="2400" dirty="0" smtClean="0">
                <a:latin typeface="+mn-lt"/>
              </a:rPr>
              <a:t>The </a:t>
            </a:r>
            <a:r>
              <a:rPr lang="en-US" sz="2400" dirty="0">
                <a:solidFill>
                  <a:srgbClr val="C00000"/>
                </a:solidFill>
                <a:latin typeface="+mn-lt"/>
              </a:rPr>
              <a:t>Non-key</a:t>
            </a:r>
            <a:r>
              <a:rPr lang="en-US" sz="2400" dirty="0">
                <a:latin typeface="+mn-lt"/>
              </a:rPr>
              <a:t> </a:t>
            </a:r>
            <a:r>
              <a:rPr lang="en-US" sz="2400" dirty="0" smtClean="0">
                <a:latin typeface="+mn-lt"/>
              </a:rPr>
              <a:t>attribute </a:t>
            </a:r>
            <a:r>
              <a:rPr lang="en-US" sz="2400" dirty="0">
                <a:latin typeface="+mn-lt"/>
              </a:rPr>
              <a:t>depends on another </a:t>
            </a:r>
            <a:r>
              <a:rPr lang="en-US" sz="2400" dirty="0">
                <a:solidFill>
                  <a:srgbClr val="C00000"/>
                </a:solidFill>
                <a:latin typeface="+mn-lt"/>
              </a:rPr>
              <a:t>Non-key</a:t>
            </a:r>
            <a:r>
              <a:rPr lang="en-US" sz="2400" dirty="0">
                <a:latin typeface="+mn-lt"/>
              </a:rPr>
              <a:t> </a:t>
            </a:r>
            <a:r>
              <a:rPr lang="en-US" sz="2400" dirty="0" smtClean="0">
                <a:latin typeface="+mn-lt"/>
              </a:rPr>
              <a:t>attribute.</a:t>
            </a:r>
            <a:endParaRPr lang="en-US" sz="2400" dirty="0">
              <a:latin typeface="+mn-lt"/>
            </a:endParaRPr>
          </a:p>
          <a:p>
            <a:pPr marL="236538" lvl="1" indent="-236538">
              <a:spcBef>
                <a:spcPts val="0"/>
              </a:spcBef>
              <a:spcAft>
                <a:spcPts val="600"/>
              </a:spcAft>
              <a:buSzPct val="70000"/>
              <a:buFont typeface="Courier New" panose="02070309020205020404" pitchFamily="49" charset="0"/>
              <a:buChar char="o"/>
              <a:defRPr/>
            </a:pPr>
            <a:r>
              <a:rPr lang="en-US" sz="2400" dirty="0" smtClean="0">
                <a:latin typeface="+mn-lt"/>
              </a:rPr>
              <a:t>In other words: the </a:t>
            </a:r>
            <a:r>
              <a:rPr lang="en-US" sz="2400" dirty="0" smtClean="0">
                <a:solidFill>
                  <a:srgbClr val="FF0000"/>
                </a:solidFill>
                <a:latin typeface="+mn-lt"/>
              </a:rPr>
              <a:t>Non-key </a:t>
            </a:r>
            <a:r>
              <a:rPr lang="en-US" sz="2400" dirty="0">
                <a:solidFill>
                  <a:srgbClr val="FF0000"/>
                </a:solidFill>
                <a:latin typeface="+mn-lt"/>
              </a:rPr>
              <a:t>attribute(s)</a:t>
            </a:r>
            <a:r>
              <a:rPr lang="en-US" sz="2400" dirty="0">
                <a:latin typeface="+mn-lt"/>
              </a:rPr>
              <a:t> </a:t>
            </a:r>
            <a:r>
              <a:rPr lang="en-US" sz="2400" dirty="0" smtClean="0">
                <a:latin typeface="+mn-lt"/>
              </a:rPr>
              <a:t>determine(s) other </a:t>
            </a:r>
            <a:r>
              <a:rPr lang="en-US" sz="2400" dirty="0">
                <a:solidFill>
                  <a:srgbClr val="FF0000"/>
                </a:solidFill>
                <a:latin typeface="+mn-lt"/>
              </a:rPr>
              <a:t>Non-key attribute(s)</a:t>
            </a:r>
            <a:r>
              <a:rPr lang="en-US" sz="2400" dirty="0">
                <a:latin typeface="+mn-lt"/>
              </a:rPr>
              <a:t> in the relation.</a:t>
            </a:r>
          </a:p>
        </p:txBody>
      </p:sp>
      <p:sp>
        <p:nvSpPr>
          <p:cNvPr id="23" name="Rectangle 12"/>
          <p:cNvSpPr>
            <a:spLocks noChangeArrowheads="1"/>
          </p:cNvSpPr>
          <p:nvPr/>
        </p:nvSpPr>
        <p:spPr bwMode="auto">
          <a:xfrm>
            <a:off x="685800" y="3759802"/>
            <a:ext cx="8491042"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8288" tIns="18288" rIns="18288" bIns="18288" anchor="ctr">
            <a:spAutoFit/>
          </a:bodyPr>
          <a:lstStyle>
            <a:lvl1pPr marL="342900" indent="-342900" eaLnBrk="0" hangingPunct="0">
              <a:spcBef>
                <a:spcPct val="20000"/>
              </a:spcBef>
              <a:buFont typeface="Arial" charset="0"/>
              <a:buChar char="•"/>
              <a:defRPr sz="3200">
                <a:solidFill>
                  <a:schemeClr val="tx1"/>
                </a:solidFill>
                <a:latin typeface="Calibri" pitchFamily="34" charset="0"/>
              </a:defRPr>
            </a:lvl1pPr>
            <a:lvl2pPr marL="685800" indent="-68580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lvl="1" eaLnBrk="1" hangingPunct="1">
              <a:buFont typeface="Wingdings" pitchFamily="2" charset="2"/>
              <a:buNone/>
            </a:pPr>
            <a:r>
              <a:rPr lang="en-US" altLang="zh-SG" sz="1800" dirty="0" smtClean="0"/>
              <a:t>Consider the given information, construct the </a:t>
            </a:r>
            <a:r>
              <a:rPr lang="en-US" altLang="zh-SG" sz="1800" u="sng" dirty="0"/>
              <a:t>Normalization Dependency </a:t>
            </a:r>
            <a:r>
              <a:rPr lang="en-US" altLang="zh-SG" sz="1800" u="sng" dirty="0" smtClean="0"/>
              <a:t>Diagram (NDD)</a:t>
            </a:r>
            <a:r>
              <a:rPr lang="en-US" altLang="zh-SG" sz="1800" dirty="0" smtClean="0"/>
              <a:t> :</a:t>
            </a:r>
            <a:endParaRPr lang="en-US" altLang="zh-SG" sz="1800" dirty="0"/>
          </a:p>
        </p:txBody>
      </p:sp>
      <p:sp>
        <p:nvSpPr>
          <p:cNvPr id="24" name="Rectangle 23"/>
          <p:cNvSpPr/>
          <p:nvPr/>
        </p:nvSpPr>
        <p:spPr>
          <a:xfrm>
            <a:off x="1689100" y="5367205"/>
            <a:ext cx="3873500" cy="406265"/>
          </a:xfrm>
          <a:prstGeom prst="rect">
            <a:avLst/>
          </a:prstGeom>
        </p:spPr>
        <p:txBody>
          <a:bodyPr wrap="square" lIns="18288" tIns="18288" rIns="18288" bIns="18288">
            <a:spAutoFit/>
          </a:bodyPr>
          <a:lstStyle/>
          <a:p>
            <a:pPr>
              <a:spcAft>
                <a:spcPts val="0"/>
              </a:spcAft>
              <a:defRPr/>
            </a:pPr>
            <a:r>
              <a:rPr lang="en-GB" sz="2400" dirty="0" smtClean="0">
                <a:solidFill>
                  <a:srgbClr val="C00000"/>
                </a:solidFill>
                <a:latin typeface="Calibri" panose="020F0502020204030204" pitchFamily="34" charset="0"/>
                <a:cs typeface="Calibri" panose="020F0502020204030204" pitchFamily="34" charset="0"/>
              </a:rPr>
              <a:t>Store</a:t>
            </a:r>
            <a:r>
              <a:rPr lang="en-GB" sz="2400" dirty="0" smtClean="0">
                <a:latin typeface="Calibri" panose="020F0502020204030204" pitchFamily="34" charset="0"/>
                <a:cs typeface="Calibri" panose="020F0502020204030204" pitchFamily="34" charset="0"/>
              </a:rPr>
              <a:t> determines </a:t>
            </a:r>
            <a:r>
              <a:rPr lang="en-GB" sz="2400" dirty="0" smtClean="0">
                <a:solidFill>
                  <a:srgbClr val="C00000"/>
                </a:solidFill>
                <a:latin typeface="Calibri" panose="020F0502020204030204" pitchFamily="34" charset="0"/>
                <a:cs typeface="Calibri" panose="020F0502020204030204" pitchFamily="34" charset="0"/>
              </a:rPr>
              <a:t>Phone</a:t>
            </a:r>
            <a:endParaRPr lang="en-GB" sz="2400" dirty="0">
              <a:latin typeface="Calibri" panose="020F0502020204030204" pitchFamily="34" charset="0"/>
              <a:cs typeface="Calibri" panose="020F0502020204030204" pitchFamily="34" charset="0"/>
            </a:endParaRPr>
          </a:p>
        </p:txBody>
      </p:sp>
      <p:sp>
        <p:nvSpPr>
          <p:cNvPr id="28" name="Rectangle 12"/>
          <p:cNvSpPr>
            <a:spLocks noChangeArrowheads="1"/>
          </p:cNvSpPr>
          <p:nvPr/>
        </p:nvSpPr>
        <p:spPr bwMode="auto">
          <a:xfrm>
            <a:off x="1103795" y="5391090"/>
            <a:ext cx="4081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rIns="45720" anchor="ctr">
            <a:spAutoFit/>
          </a:bodyPr>
          <a:lstStyle>
            <a:lvl1pPr marL="342900" indent="-342900" eaLnBrk="0" hangingPunct="0">
              <a:spcBef>
                <a:spcPct val="20000"/>
              </a:spcBef>
              <a:buFont typeface="Arial" charset="0"/>
              <a:buChar char="•"/>
              <a:defRPr sz="3200">
                <a:solidFill>
                  <a:schemeClr val="tx1"/>
                </a:solidFill>
                <a:latin typeface="Calibri" pitchFamily="34" charset="0"/>
              </a:defRPr>
            </a:lvl1pPr>
            <a:lvl2pPr marL="685800" indent="-68580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lvl="1" eaLnBrk="1" hangingPunct="1">
              <a:buFont typeface="Wingdings" pitchFamily="2" charset="2"/>
              <a:buNone/>
            </a:pPr>
            <a:r>
              <a:rPr lang="en-US" altLang="zh-SG" sz="2000" dirty="0" smtClean="0"/>
              <a:t>i.e.</a:t>
            </a:r>
            <a:endParaRPr lang="en-US" altLang="zh-SG" sz="20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362" name="Title 1"/>
          <p:cNvSpPr>
            <a:spLocks noGrp="1"/>
          </p:cNvSpPr>
          <p:nvPr>
            <p:ph type="ctrTitle" idx="4294967295"/>
          </p:nvPr>
        </p:nvSpPr>
        <p:spPr>
          <a:xfrm>
            <a:off x="711200" y="228600"/>
            <a:ext cx="4320276" cy="565146"/>
          </a:xfrm>
        </p:spPr>
        <p:txBody>
          <a:bodyPr wrap="none" lIns="36000" tIns="36000" rIns="36000" bIns="36000" anchor="t">
            <a:spAutoFit/>
          </a:bodyPr>
          <a:lstStyle/>
          <a:p>
            <a:pPr algn="l" eaLnBrk="1" hangingPunct="1">
              <a:defRPr/>
            </a:pPr>
            <a:r>
              <a:rPr lang="en-GB" sz="3200" b="1" dirty="0" smtClean="0">
                <a:solidFill>
                  <a:srgbClr val="C00000"/>
                </a:solidFill>
                <a:latin typeface="+mn-lt"/>
              </a:rPr>
              <a:t>Third Normal Form (3NF)</a:t>
            </a:r>
            <a:endParaRPr lang="en-US" sz="3200" b="1" dirty="0" smtClean="0">
              <a:solidFill>
                <a:schemeClr val="tx2">
                  <a:lumMod val="75000"/>
                </a:schemeClr>
              </a:solidFill>
              <a:latin typeface="+mn-lt"/>
            </a:endParaRPr>
          </a:p>
        </p:txBody>
      </p:sp>
      <p:sp>
        <p:nvSpPr>
          <p:cNvPr id="27" name="TextBox 26"/>
          <p:cNvSpPr txBox="1"/>
          <p:nvPr/>
        </p:nvSpPr>
        <p:spPr bwMode="auto">
          <a:xfrm>
            <a:off x="1570092" y="1003131"/>
            <a:ext cx="3040897" cy="387798"/>
          </a:xfrm>
          <a:prstGeom prst="rect">
            <a:avLst/>
          </a:prstGeom>
          <a:noFill/>
        </p:spPr>
        <p:txBody>
          <a:bodyPr wrap="none" lIns="9144" tIns="9144" rIns="9144" bIns="9144">
            <a:spAutoFit/>
          </a:bodyPr>
          <a:lstStyle/>
          <a:p>
            <a:pPr marL="0" marR="0" lvl="0" indent="0" algn="l" defTabSz="914400" rtl="0" eaLnBrk="1" fontAlgn="base" latinLnBrk="0" hangingPunct="1">
              <a:lnSpc>
                <a:spcPct val="100000"/>
              </a:lnSpc>
              <a:spcBef>
                <a:spcPct val="0"/>
              </a:spcBef>
              <a:spcAft>
                <a:spcPts val="600"/>
              </a:spcAft>
              <a:buClrTx/>
              <a:buSzTx/>
              <a:buFontTx/>
              <a:buNone/>
              <a:tabLst/>
              <a:defRPr/>
            </a:pPr>
            <a:r>
              <a:rPr lang="en-GB" sz="2400" dirty="0" smtClean="0">
                <a:solidFill>
                  <a:srgbClr val="C00000"/>
                </a:solidFill>
                <a:latin typeface="Calibri"/>
              </a:rPr>
              <a:t>Store</a:t>
            </a: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 determines </a:t>
            </a:r>
            <a:r>
              <a:rPr lang="en-GB" sz="2400" dirty="0" smtClean="0">
                <a:solidFill>
                  <a:srgbClr val="C00000"/>
                </a:solidFill>
                <a:latin typeface="Calibri"/>
              </a:rPr>
              <a:t>Phone</a:t>
            </a:r>
            <a:endParaRPr kumimoji="0" lang="en-GB" sz="2400" b="0" i="0" u="none" strike="noStrike" kern="1200" cap="none" spc="0" normalizeH="0" baseline="0" noProof="0" dirty="0" smtClean="0">
              <a:ln>
                <a:noFill/>
              </a:ln>
              <a:solidFill>
                <a:prstClr val="black"/>
              </a:solidFill>
              <a:effectLst/>
              <a:uLnTx/>
              <a:uFillTx/>
              <a:latin typeface="Calibri"/>
              <a:ea typeface="+mn-ea"/>
              <a:cs typeface="+mn-cs"/>
            </a:endParaRPr>
          </a:p>
        </p:txBody>
      </p:sp>
      <p:sp>
        <p:nvSpPr>
          <p:cNvPr id="28" name="Rectangle 12"/>
          <p:cNvSpPr>
            <a:spLocks noChangeArrowheads="1"/>
          </p:cNvSpPr>
          <p:nvPr/>
        </p:nvSpPr>
        <p:spPr bwMode="auto">
          <a:xfrm>
            <a:off x="694449" y="1817537"/>
            <a:ext cx="66531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rIns="45720" anchor="ctr">
            <a:spAutoFit/>
          </a:bodyPr>
          <a:lstStyle>
            <a:lvl1pPr marL="342900" indent="-342900" eaLnBrk="0" hangingPunct="0">
              <a:spcBef>
                <a:spcPct val="20000"/>
              </a:spcBef>
              <a:buFont typeface="Arial" charset="0"/>
              <a:buChar char="•"/>
              <a:defRPr sz="3200">
                <a:solidFill>
                  <a:schemeClr val="tx1"/>
                </a:solidFill>
                <a:latin typeface="Calibri" pitchFamily="34" charset="0"/>
              </a:defRPr>
            </a:lvl1pPr>
            <a:lvl2pPr marL="685800" indent="-68580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685800" marR="0" lvl="1" indent="-685800" algn="l" defTabSz="914400" rtl="0" eaLnBrk="1" fontAlgn="base" latinLnBrk="0" hangingPunct="1">
              <a:lnSpc>
                <a:spcPct val="100000"/>
              </a:lnSpc>
              <a:spcBef>
                <a:spcPct val="20000"/>
              </a:spcBef>
              <a:spcAft>
                <a:spcPct val="0"/>
              </a:spcAft>
              <a:buClrTx/>
              <a:buSzTx/>
              <a:buFont typeface="Wingdings" pitchFamily="2" charset="2"/>
              <a:buNone/>
              <a:tabLst/>
              <a:defRPr/>
            </a:pPr>
            <a:r>
              <a:rPr kumimoji="0" lang="en-US" altLang="zh-SG" sz="2400" b="0" i="0" u="none" strike="noStrike" kern="1200" cap="none" spc="0" normalizeH="0" baseline="0" noProof="0" dirty="0" smtClean="0">
                <a:ln>
                  <a:noFill/>
                </a:ln>
                <a:solidFill>
                  <a:prstClr val="black"/>
                </a:solidFill>
                <a:effectLst/>
                <a:uLnTx/>
                <a:uFillTx/>
                <a:latin typeface="Calibri" pitchFamily="34" charset="0"/>
                <a:ea typeface="宋体" panose="02010600030101010101" pitchFamily="2" charset="-122"/>
                <a:cs typeface="+mn-cs"/>
              </a:rPr>
              <a:t>Hence, the </a:t>
            </a:r>
            <a:r>
              <a:rPr kumimoji="0" lang="en-US" altLang="zh-SG" sz="2400" b="0" i="0" u="sng" strike="noStrike" kern="1200" cap="none" spc="0" normalizeH="0" baseline="0" noProof="0" dirty="0" smtClean="0">
                <a:ln>
                  <a:noFill/>
                </a:ln>
                <a:solidFill>
                  <a:srgbClr val="C00000"/>
                </a:solidFill>
                <a:effectLst/>
                <a:uLnTx/>
                <a:uFillTx/>
                <a:latin typeface="Calibri" pitchFamily="34" charset="0"/>
                <a:ea typeface="宋体" panose="02010600030101010101" pitchFamily="2" charset="-122"/>
                <a:cs typeface="+mn-cs"/>
              </a:rPr>
              <a:t>Functional Dependency Relation (FDR) is:</a:t>
            </a:r>
            <a:endParaRPr kumimoji="0" lang="en-US" altLang="zh-SG" sz="2400" b="0" i="0" u="none" strike="noStrike" kern="1200" cap="none" spc="0" normalizeH="0" baseline="0" noProof="0" dirty="0">
              <a:ln>
                <a:noFill/>
              </a:ln>
              <a:solidFill>
                <a:prstClr val="black"/>
              </a:solidFill>
              <a:effectLst/>
              <a:uLnTx/>
              <a:uFillTx/>
              <a:latin typeface="Calibri" pitchFamily="34" charset="0"/>
              <a:ea typeface="宋体" panose="02010600030101010101" pitchFamily="2" charset="-122"/>
              <a:cs typeface="+mn-cs"/>
            </a:endParaRPr>
          </a:p>
        </p:txBody>
      </p:sp>
      <p:sp>
        <p:nvSpPr>
          <p:cNvPr id="29" name="TextBox 28"/>
          <p:cNvSpPr txBox="1"/>
          <p:nvPr/>
        </p:nvSpPr>
        <p:spPr bwMode="auto">
          <a:xfrm>
            <a:off x="1559801" y="2355402"/>
            <a:ext cx="2163221" cy="387798"/>
          </a:xfrm>
          <a:prstGeom prst="rect">
            <a:avLst/>
          </a:prstGeom>
          <a:noFill/>
        </p:spPr>
        <p:txBody>
          <a:bodyPr wrap="none" lIns="9144" tIns="9144" rIns="9144" bIns="9144">
            <a:spAutoFit/>
          </a:bodyPr>
          <a:lstStyle/>
          <a:p>
            <a:pPr marL="0" marR="0" lvl="0" indent="0" algn="l" defTabSz="914400" rtl="0" eaLnBrk="1" fontAlgn="base" latinLnBrk="0" hangingPunct="1">
              <a:lnSpc>
                <a:spcPct val="100000"/>
              </a:lnSpc>
              <a:spcBef>
                <a:spcPct val="0"/>
              </a:spcBef>
              <a:spcAft>
                <a:spcPts val="600"/>
              </a:spcAft>
              <a:buClrTx/>
              <a:buSzTx/>
              <a:buFontTx/>
              <a:buNone/>
              <a:tabLst/>
              <a:defRPr/>
            </a:pPr>
            <a:r>
              <a:rPr lang="en-GB" sz="2400" b="1" dirty="0" smtClean="0">
                <a:solidFill>
                  <a:srgbClr val="1F497D">
                    <a:lumMod val="75000"/>
                  </a:srgbClr>
                </a:solidFill>
                <a:latin typeface="Calibri"/>
              </a:rPr>
              <a:t>Store</a:t>
            </a:r>
            <a:r>
              <a:rPr kumimoji="0" lang="en-GB" sz="2400" b="0" i="0" u="none" strike="noStrike" kern="1200" cap="none" spc="0" normalizeH="0" baseline="0" noProof="0" dirty="0" smtClean="0">
                <a:ln>
                  <a:noFill/>
                </a:ln>
                <a:solidFill>
                  <a:srgbClr val="1F497D">
                    <a:lumMod val="75000"/>
                  </a:srgbClr>
                </a:solidFill>
                <a:effectLst/>
                <a:uLnTx/>
                <a:uFillTx/>
                <a:latin typeface="Calibri"/>
                <a:ea typeface="+mn-ea"/>
                <a:cs typeface="+mn-cs"/>
              </a:rPr>
              <a:t> ----&gt; Phone</a:t>
            </a:r>
          </a:p>
        </p:txBody>
      </p:sp>
      <p:sp>
        <p:nvSpPr>
          <p:cNvPr id="30" name="Rectangle 12"/>
          <p:cNvSpPr>
            <a:spLocks noChangeArrowheads="1"/>
          </p:cNvSpPr>
          <p:nvPr/>
        </p:nvSpPr>
        <p:spPr bwMode="auto">
          <a:xfrm>
            <a:off x="805637" y="1015583"/>
            <a:ext cx="6421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rIns="45720" anchor="ctr">
            <a:spAutoFit/>
          </a:bodyPr>
          <a:lstStyle>
            <a:lvl1pPr marL="342900" indent="-342900" eaLnBrk="0" hangingPunct="0">
              <a:spcBef>
                <a:spcPct val="20000"/>
              </a:spcBef>
              <a:buFont typeface="Arial" charset="0"/>
              <a:buChar char="•"/>
              <a:defRPr sz="3200">
                <a:solidFill>
                  <a:schemeClr val="tx1"/>
                </a:solidFill>
                <a:latin typeface="Calibri" pitchFamily="34" charset="0"/>
              </a:defRPr>
            </a:lvl1pPr>
            <a:lvl2pPr marL="685800" indent="-68580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685800" marR="0" lvl="1" indent="-685800" algn="l" defTabSz="914400" rtl="0" eaLnBrk="1" fontAlgn="base" latinLnBrk="0" hangingPunct="1">
              <a:lnSpc>
                <a:spcPct val="100000"/>
              </a:lnSpc>
              <a:spcBef>
                <a:spcPct val="20000"/>
              </a:spcBef>
              <a:spcAft>
                <a:spcPct val="0"/>
              </a:spcAft>
              <a:buClrTx/>
              <a:buSzTx/>
              <a:buFont typeface="Wingdings" pitchFamily="2" charset="2"/>
              <a:buNone/>
              <a:tabLst/>
              <a:defRPr/>
            </a:pPr>
            <a:r>
              <a:rPr kumimoji="0" lang="en-US" altLang="zh-SG" sz="2000" b="0" i="0" u="none" strike="noStrike" kern="1200" cap="none" spc="0" normalizeH="0" baseline="0" noProof="0" dirty="0" smtClean="0">
                <a:ln>
                  <a:noFill/>
                </a:ln>
                <a:solidFill>
                  <a:prstClr val="black"/>
                </a:solidFill>
                <a:effectLst/>
                <a:uLnTx/>
                <a:uFillTx/>
                <a:latin typeface="Calibri" pitchFamily="34" charset="0"/>
                <a:ea typeface="宋体" panose="02010600030101010101" pitchFamily="2" charset="-122"/>
                <a:cs typeface="+mn-cs"/>
              </a:rPr>
              <a:t>Since</a:t>
            </a:r>
            <a:endParaRPr kumimoji="0" lang="en-US" altLang="zh-SG" sz="2000" b="0" i="0" u="none" strike="noStrike" kern="1200" cap="none" spc="0" normalizeH="0" baseline="0" noProof="0" dirty="0">
              <a:ln>
                <a:noFill/>
              </a:ln>
              <a:solidFill>
                <a:prstClr val="black"/>
              </a:solidFill>
              <a:effectLst/>
              <a:uLnTx/>
              <a:uFillTx/>
              <a:latin typeface="Calibri" pitchFamily="34" charset="0"/>
              <a:ea typeface="宋体" panose="02010600030101010101" pitchFamily="2" charset="-122"/>
              <a:cs typeface="+mn-cs"/>
            </a:endParaRPr>
          </a:p>
        </p:txBody>
      </p:sp>
      <p:sp>
        <p:nvSpPr>
          <p:cNvPr id="31" name="Rectangle 12"/>
          <p:cNvSpPr>
            <a:spLocks noChangeArrowheads="1"/>
          </p:cNvSpPr>
          <p:nvPr/>
        </p:nvSpPr>
        <p:spPr bwMode="auto">
          <a:xfrm>
            <a:off x="694449" y="3119735"/>
            <a:ext cx="47175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rIns="45720" anchor="ctr">
            <a:spAutoFit/>
          </a:bodyPr>
          <a:lstStyle>
            <a:lvl1pPr marL="342900" indent="-342900" eaLnBrk="0" hangingPunct="0">
              <a:spcBef>
                <a:spcPct val="20000"/>
              </a:spcBef>
              <a:buFont typeface="Arial" charset="0"/>
              <a:buChar char="•"/>
              <a:defRPr sz="3200">
                <a:solidFill>
                  <a:schemeClr val="tx1"/>
                </a:solidFill>
                <a:latin typeface="Calibri" pitchFamily="34" charset="0"/>
              </a:defRPr>
            </a:lvl1pPr>
            <a:lvl2pPr marL="685800" indent="-68580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685800" marR="0" lvl="1" indent="-685800" algn="l" defTabSz="914400" rtl="0" eaLnBrk="1" fontAlgn="base" latinLnBrk="0" hangingPunct="1">
              <a:lnSpc>
                <a:spcPct val="100000"/>
              </a:lnSpc>
              <a:spcBef>
                <a:spcPct val="20000"/>
              </a:spcBef>
              <a:spcAft>
                <a:spcPct val="0"/>
              </a:spcAft>
              <a:buClrTx/>
              <a:buSzTx/>
              <a:buFont typeface="Wingdings" pitchFamily="2" charset="2"/>
              <a:buNone/>
              <a:tabLst/>
              <a:defRPr/>
            </a:pPr>
            <a:r>
              <a:rPr kumimoji="0" lang="en-US" altLang="zh-SG" sz="2400" b="0" i="0" u="none" strike="noStrike" kern="1200" cap="none" spc="0" normalizeH="0" baseline="0" noProof="0" dirty="0" smtClean="0">
                <a:ln>
                  <a:noFill/>
                </a:ln>
                <a:solidFill>
                  <a:prstClr val="black"/>
                </a:solidFill>
                <a:effectLst/>
                <a:uLnTx/>
                <a:uFillTx/>
                <a:latin typeface="Calibri" pitchFamily="34" charset="0"/>
                <a:ea typeface="宋体" panose="02010600030101010101" pitchFamily="2" charset="-122"/>
                <a:cs typeface="+mn-cs"/>
              </a:rPr>
              <a:t>The normalized relational schema is :</a:t>
            </a:r>
            <a:endParaRPr kumimoji="0" lang="en-US" altLang="zh-SG" sz="2400" b="0" i="0" u="none" strike="noStrike" kern="1200" cap="none" spc="0" normalizeH="0" baseline="0" noProof="0" dirty="0">
              <a:ln>
                <a:noFill/>
              </a:ln>
              <a:solidFill>
                <a:prstClr val="black"/>
              </a:solidFill>
              <a:effectLst/>
              <a:uLnTx/>
              <a:uFillTx/>
              <a:latin typeface="Calibri" pitchFamily="34" charset="0"/>
              <a:ea typeface="宋体" panose="02010600030101010101" pitchFamily="2" charset="-122"/>
              <a:cs typeface="+mn-cs"/>
            </a:endParaRPr>
          </a:p>
        </p:txBody>
      </p:sp>
      <p:sp>
        <p:nvSpPr>
          <p:cNvPr id="32" name="TextBox 31"/>
          <p:cNvSpPr txBox="1"/>
          <p:nvPr/>
        </p:nvSpPr>
        <p:spPr bwMode="auto">
          <a:xfrm>
            <a:off x="1524000" y="3727002"/>
            <a:ext cx="2764731" cy="387798"/>
          </a:xfrm>
          <a:prstGeom prst="rect">
            <a:avLst/>
          </a:prstGeom>
          <a:noFill/>
        </p:spPr>
        <p:txBody>
          <a:bodyPr wrap="none" lIns="9144" tIns="9144" rIns="9144" bIns="9144">
            <a:spAutoFit/>
          </a:bodyPr>
          <a:lstStyle/>
          <a:p>
            <a:pPr marL="0" marR="0" lvl="0" indent="0" algn="l" defTabSz="914400" rtl="0" eaLnBrk="1" fontAlgn="base" latinLnBrk="0" hangingPunct="1">
              <a:lnSpc>
                <a:spcPct val="100000"/>
              </a:lnSpc>
              <a:spcBef>
                <a:spcPct val="0"/>
              </a:spcBef>
              <a:spcAft>
                <a:spcPts val="600"/>
              </a:spcAft>
              <a:buClrTx/>
              <a:buSzTx/>
              <a:buFontTx/>
              <a:buNone/>
              <a:tabLst/>
              <a:defRPr/>
            </a:pPr>
            <a:r>
              <a:rPr lang="en-GB" sz="2400" dirty="0" smtClean="0">
                <a:solidFill>
                  <a:srgbClr val="1F497D">
                    <a:lumMod val="75000"/>
                  </a:srgbClr>
                </a:solidFill>
                <a:latin typeface="Calibri"/>
              </a:rPr>
              <a:t>STORE</a:t>
            </a:r>
            <a:r>
              <a:rPr kumimoji="0" lang="en-GB" sz="2400" b="0" i="0" u="none" strike="noStrike" kern="1200" cap="none" spc="0" normalizeH="0" baseline="0" noProof="0" dirty="0" smtClean="0">
                <a:ln>
                  <a:noFill/>
                </a:ln>
                <a:solidFill>
                  <a:srgbClr val="C00000"/>
                </a:solidFill>
                <a:effectLst/>
                <a:uLnTx/>
                <a:uFillTx/>
                <a:latin typeface="Calibri"/>
                <a:ea typeface="+mn-ea"/>
                <a:cs typeface="+mn-cs"/>
              </a:rPr>
              <a:t> </a:t>
            </a:r>
            <a:r>
              <a:rPr kumimoji="0" lang="en-GB" sz="2400" b="0" i="0" u="none" strike="noStrike" kern="1200" cap="none" spc="0" normalizeH="0" baseline="0" noProof="0" dirty="0" smtClean="0">
                <a:ln>
                  <a:noFill/>
                </a:ln>
                <a:solidFill>
                  <a:srgbClr val="1F497D">
                    <a:lumMod val="50000"/>
                  </a:srgbClr>
                </a:solidFill>
                <a:effectLst/>
                <a:uLnTx/>
                <a:uFillTx/>
                <a:latin typeface="Calibri"/>
                <a:ea typeface="+mn-ea"/>
                <a:cs typeface="+mn-cs"/>
              </a:rPr>
              <a:t>(</a:t>
            </a:r>
            <a:r>
              <a:rPr lang="en-GB" sz="2400" b="1" dirty="0" smtClean="0">
                <a:solidFill>
                  <a:srgbClr val="1F497D">
                    <a:lumMod val="50000"/>
                  </a:srgbClr>
                </a:solidFill>
                <a:latin typeface="Calibri"/>
              </a:rPr>
              <a:t>Store</a:t>
            </a:r>
            <a:r>
              <a:rPr kumimoji="0" lang="en-GB" sz="2400" b="0" i="0" u="none" strike="noStrike" kern="1200" cap="none" spc="0" normalizeH="0" baseline="0" noProof="0" dirty="0" smtClean="0">
                <a:ln>
                  <a:noFill/>
                </a:ln>
                <a:solidFill>
                  <a:srgbClr val="1F497D">
                    <a:lumMod val="50000"/>
                  </a:srgbClr>
                </a:solidFill>
                <a:effectLst/>
                <a:uLnTx/>
                <a:uFillTx/>
                <a:latin typeface="Calibri"/>
                <a:ea typeface="+mn-ea"/>
                <a:cs typeface="+mn-cs"/>
              </a:rPr>
              <a:t>, </a:t>
            </a:r>
            <a:r>
              <a:rPr lang="en-GB" sz="2400" dirty="0" smtClean="0">
                <a:solidFill>
                  <a:srgbClr val="1F497D">
                    <a:lumMod val="50000"/>
                  </a:srgbClr>
                </a:solidFill>
                <a:latin typeface="Calibri"/>
              </a:rPr>
              <a:t>Phone</a:t>
            </a:r>
            <a:r>
              <a:rPr kumimoji="0" lang="en-GB" sz="2400" b="0" i="0" u="none" strike="noStrike" kern="1200" cap="none" spc="0" normalizeH="0" baseline="0" noProof="0" dirty="0" smtClean="0">
                <a:ln>
                  <a:noFill/>
                </a:ln>
                <a:solidFill>
                  <a:srgbClr val="1F497D">
                    <a:lumMod val="50000"/>
                  </a:srgbClr>
                </a:solidFill>
                <a:effectLst/>
                <a:uLnTx/>
                <a:uFillTx/>
                <a:latin typeface="Calibri"/>
                <a:ea typeface="+mn-ea"/>
                <a:cs typeface="+mn-cs"/>
              </a:rPr>
              <a:t> )</a:t>
            </a:r>
          </a:p>
        </p:txBody>
      </p:sp>
    </p:spTree>
    <p:extLst>
      <p:ext uri="{BB962C8B-B14F-4D97-AF65-F5344CB8AC3E}">
        <p14:creationId xmlns:p14="http://schemas.microsoft.com/office/powerpoint/2010/main" val="369517553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p:cNvSpPr>
            <a:spLocks noGrp="1"/>
          </p:cNvSpPr>
          <p:nvPr>
            <p:ph type="ctrTitle" idx="4294967295"/>
          </p:nvPr>
        </p:nvSpPr>
        <p:spPr>
          <a:xfrm>
            <a:off x="685800" y="228600"/>
            <a:ext cx="4320276" cy="565146"/>
          </a:xfrm>
        </p:spPr>
        <p:txBody>
          <a:bodyPr wrap="none" lIns="36000" tIns="36000" rIns="36000" bIns="36000" anchor="t">
            <a:spAutoFit/>
          </a:bodyPr>
          <a:lstStyle/>
          <a:p>
            <a:pPr algn="l" eaLnBrk="1" hangingPunct="1">
              <a:defRPr/>
            </a:pPr>
            <a:r>
              <a:rPr lang="en-GB" sz="3200" b="1" dirty="0">
                <a:solidFill>
                  <a:srgbClr val="C00000"/>
                </a:solidFill>
              </a:rPr>
              <a:t>Third Normal Form (3NF)</a:t>
            </a:r>
            <a:endParaRPr lang="en-US" sz="3200" b="1" dirty="0">
              <a:solidFill>
                <a:schemeClr val="tx2">
                  <a:lumMod val="75000"/>
                </a:schemeClr>
              </a:solidFill>
              <a:latin typeface="+mn-lt"/>
            </a:endParaRPr>
          </a:p>
        </p:txBody>
      </p:sp>
      <p:cxnSp>
        <p:nvCxnSpPr>
          <p:cNvPr id="7" name="Straight Connector 6"/>
          <p:cNvCxnSpPr>
            <a:cxnSpLocks/>
          </p:cNvCxnSpPr>
          <p:nvPr/>
        </p:nvCxnSpPr>
        <p:spPr>
          <a:xfrm>
            <a:off x="482598" y="3278204"/>
            <a:ext cx="5393841" cy="1"/>
          </a:xfrm>
          <a:prstGeom prst="line">
            <a:avLst/>
          </a:prstGeom>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B8404550-53C0-42E6-8529-9668A3B2FEE7}"/>
              </a:ext>
            </a:extLst>
          </p:cNvPr>
          <p:cNvSpPr/>
          <p:nvPr/>
        </p:nvSpPr>
        <p:spPr>
          <a:xfrm>
            <a:off x="684507" y="1039187"/>
            <a:ext cx="5181601" cy="199612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ts val="0"/>
              </a:spcBef>
              <a:spcAft>
                <a:spcPts val="600"/>
              </a:spcAft>
              <a:buClrTx/>
              <a:buSzTx/>
              <a:buFontTx/>
              <a:buNone/>
              <a:tabLst/>
              <a:defRPr/>
            </a:pPr>
            <a:r>
              <a:rPr kumimoji="0" lang="en-GB" altLang="en-US" sz="1800" b="1" i="0" u="none" strike="noStrike" kern="1200" cap="none" spc="0" normalizeH="0" baseline="0" noProof="0" dirty="0">
                <a:ln>
                  <a:noFill/>
                </a:ln>
                <a:solidFill>
                  <a:srgbClr val="C00000"/>
                </a:solidFill>
                <a:effectLst/>
                <a:uLnTx/>
                <a:uFillTx/>
                <a:latin typeface="Arial" charset="0"/>
                <a:ea typeface="+mn-ea"/>
                <a:cs typeface="+mn-cs"/>
              </a:rPr>
              <a:t>Recall 2NF Relation schema is :</a:t>
            </a:r>
          </a:p>
          <a:p>
            <a:pPr marL="0" marR="0" lvl="0" indent="0" algn="l" defTabSz="914400" rtl="0" eaLnBrk="1" fontAlgn="base" latinLnBrk="0" hangingPunct="1">
              <a:lnSpc>
                <a:spcPct val="100000"/>
              </a:lnSpc>
              <a:spcBef>
                <a:spcPts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itchFamily="34" charset="0"/>
                <a:ea typeface="+mn-ea"/>
                <a:cs typeface="+mn-cs"/>
              </a:rPr>
              <a:t>PURCHASE</a:t>
            </a:r>
            <a:r>
              <a:rPr kumimoji="0" lang="en-US" sz="1800" b="0" i="0" u="none" strike="noStrike" kern="1200" cap="none" spc="0" normalizeH="0" baseline="0" noProof="0" dirty="0">
                <a:ln>
                  <a:noFill/>
                </a:ln>
                <a:solidFill>
                  <a:srgbClr val="C00000"/>
                </a:solidFill>
                <a:effectLst/>
                <a:uLnTx/>
                <a:uFillTx/>
                <a:latin typeface="Calibri" pitchFamily="34" charset="0"/>
                <a:ea typeface="+mn-ea"/>
                <a:cs typeface="+mn-cs"/>
              </a:rPr>
              <a:t> ( </a:t>
            </a:r>
            <a:r>
              <a:rPr kumimoji="0" lang="en-US" sz="1800" b="1" i="0" u="sng" strike="noStrike" kern="1200" cap="none" spc="0" normalizeH="0" baseline="0" noProof="0" dirty="0" err="1">
                <a:ln>
                  <a:noFill/>
                </a:ln>
                <a:solidFill>
                  <a:srgbClr val="C00000"/>
                </a:solidFill>
                <a:effectLst/>
                <a:uLnTx/>
                <a:uFillTx/>
                <a:latin typeface="Calibri" pitchFamily="34" charset="0"/>
                <a:ea typeface="+mn-ea"/>
                <a:cs typeface="+mn-cs"/>
              </a:rPr>
              <a:t>PartNo</a:t>
            </a:r>
            <a:r>
              <a:rPr kumimoji="0" lang="en-US" sz="1800" b="0" i="0" u="none" strike="noStrike" kern="1200" cap="none" spc="0" normalizeH="0" baseline="0" noProof="0" dirty="0">
                <a:ln>
                  <a:noFill/>
                </a:ln>
                <a:solidFill>
                  <a:srgbClr val="C00000"/>
                </a:solidFill>
                <a:effectLst/>
                <a:uLnTx/>
                <a:uFillTx/>
                <a:latin typeface="Calibri" pitchFamily="34" charset="0"/>
                <a:ea typeface="+mn-ea"/>
                <a:cs typeface="+mn-cs"/>
              </a:rPr>
              <a:t>, </a:t>
            </a:r>
            <a:r>
              <a:rPr kumimoji="0" lang="en-US" sz="1800" b="1" i="0" u="sng" strike="noStrike" kern="1200" cap="none" spc="0" normalizeH="0" baseline="0" noProof="0" dirty="0" err="1">
                <a:ln>
                  <a:noFill/>
                </a:ln>
                <a:solidFill>
                  <a:srgbClr val="C00000"/>
                </a:solidFill>
                <a:effectLst/>
                <a:uLnTx/>
                <a:uFillTx/>
                <a:latin typeface="Calibri" pitchFamily="34" charset="0"/>
                <a:ea typeface="+mn-ea"/>
                <a:cs typeface="+mn-cs"/>
              </a:rPr>
              <a:t>SuppNo</a:t>
            </a:r>
            <a:r>
              <a:rPr kumimoji="0" lang="en-US" sz="1800" b="0" i="0" u="none" strike="noStrike" kern="1200" cap="none" spc="0" normalizeH="0" baseline="0" noProof="0" dirty="0">
                <a:ln>
                  <a:noFill/>
                </a:ln>
                <a:solidFill>
                  <a:srgbClr val="C00000"/>
                </a:solidFill>
                <a:effectLst/>
                <a:uLnTx/>
                <a:uFillTx/>
                <a:latin typeface="Calibri" pitchFamily="34" charset="0"/>
                <a:ea typeface="+mn-ea"/>
                <a:cs typeface="+mn-cs"/>
              </a:rPr>
              <a:t>, </a:t>
            </a:r>
            <a:r>
              <a:rPr kumimoji="0" lang="en-US" sz="1800" b="0" i="0" u="none" strike="noStrike" kern="1200" cap="none" spc="0" normalizeH="0" baseline="0" noProof="0" dirty="0">
                <a:ln>
                  <a:noFill/>
                </a:ln>
                <a:solidFill>
                  <a:prstClr val="black"/>
                </a:solidFill>
                <a:effectLst/>
                <a:uLnTx/>
                <a:uFillTx/>
                <a:latin typeface="Calibri" pitchFamily="34" charset="0"/>
                <a:ea typeface="+mn-ea"/>
                <a:cs typeface="+mn-cs"/>
              </a:rPr>
              <a:t>Cost</a:t>
            </a:r>
            <a:r>
              <a:rPr kumimoji="0" lang="en-US" sz="1800" b="0" i="0" u="none" strike="noStrike" kern="1200" cap="none" spc="0" normalizeH="0" baseline="0" noProof="0" dirty="0">
                <a:ln>
                  <a:noFill/>
                </a:ln>
                <a:solidFill>
                  <a:srgbClr val="C00000"/>
                </a:solidFill>
                <a:effectLst/>
                <a:uLnTx/>
                <a:uFillTx/>
                <a:latin typeface="Calibri" pitchFamily="34" charset="0"/>
                <a:ea typeface="+mn-ea"/>
                <a:cs typeface="+mn-cs"/>
              </a:rPr>
              <a:t> </a:t>
            </a:r>
            <a:r>
              <a:rPr kumimoji="0" lang="en-GB" sz="1800" b="0" i="0" u="none" strike="noStrike" kern="1200" cap="none" spc="0" normalizeH="0" baseline="0" noProof="0" dirty="0">
                <a:ln>
                  <a:noFill/>
                </a:ln>
                <a:solidFill>
                  <a:prstClr val="black"/>
                </a:solidFill>
                <a:effectLst/>
                <a:uLnTx/>
                <a:uFillTx/>
                <a:latin typeface="Calibri"/>
                <a:ea typeface="+mn-ea"/>
                <a:cs typeface="+mn-cs"/>
              </a:rPr>
              <a:t>)</a:t>
            </a:r>
          </a:p>
          <a:p>
            <a:pPr marL="0" marR="0" lvl="0" indent="0" algn="l" defTabSz="914400" rtl="0" eaLnBrk="1" fontAlgn="base" latinLnBrk="0" hangingPunct="1">
              <a:lnSpc>
                <a:spcPct val="100000"/>
              </a:lnSpc>
              <a:spcBef>
                <a:spcPts val="0"/>
              </a:spcBef>
              <a:spcAft>
                <a:spcPct val="0"/>
              </a:spcAft>
              <a:buClrTx/>
              <a:buSzTx/>
              <a:buFontTx/>
              <a:buNone/>
              <a:tabLst/>
              <a:defRPr/>
            </a:pPr>
            <a:endParaRPr kumimoji="0" lang="en-US" sz="1800" b="0" i="0" u="none" strike="noStrike" kern="1200" cap="none" spc="0" normalizeH="0" baseline="0" noProof="0" dirty="0">
              <a:ln>
                <a:noFill/>
              </a:ln>
              <a:solidFill>
                <a:srgbClr val="C00000"/>
              </a:solidFill>
              <a:effectLst/>
              <a:uLnTx/>
              <a:uFillTx/>
              <a:latin typeface="Calibri" pitchFamily="34"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PART ( </a:t>
            </a:r>
            <a:r>
              <a:rPr kumimoji="0" lang="en-GB" sz="1800" b="1" i="0" u="sng" strike="noStrike" kern="1200" cap="none" spc="0" normalizeH="0" baseline="0" noProof="0" dirty="0" err="1">
                <a:ln>
                  <a:noFill/>
                </a:ln>
                <a:solidFill>
                  <a:srgbClr val="C00000"/>
                </a:solidFill>
                <a:effectLst/>
                <a:uLnTx/>
                <a:uFillTx/>
                <a:latin typeface="Calibri"/>
                <a:ea typeface="+mn-ea"/>
                <a:cs typeface="+mn-cs"/>
              </a:rPr>
              <a:t>PartNo</a:t>
            </a:r>
            <a:r>
              <a:rPr kumimoji="0" lang="en-GB" sz="1800" b="0" i="0" u="none" strike="noStrike" kern="1200" cap="none" spc="0" normalizeH="0" baseline="0" noProof="0" dirty="0">
                <a:ln>
                  <a:noFill/>
                </a:ln>
                <a:solidFill>
                  <a:prstClr val="black"/>
                </a:solidFill>
                <a:effectLst/>
                <a:uLnTx/>
                <a:uFillTx/>
                <a:latin typeface="Calibri"/>
                <a:ea typeface="+mn-ea"/>
                <a:cs typeface="+mn-cs"/>
              </a:rPr>
              <a:t>, </a:t>
            </a:r>
            <a:r>
              <a:rPr kumimoji="0" lang="en-GB" sz="1800" b="0" i="0" u="none" strike="noStrike" kern="1200" cap="none" spc="0" normalizeH="0" baseline="0" noProof="0" dirty="0" err="1">
                <a:ln>
                  <a:noFill/>
                </a:ln>
                <a:solidFill>
                  <a:prstClr val="black"/>
                </a:solidFill>
                <a:effectLst/>
                <a:uLnTx/>
                <a:uFillTx/>
                <a:latin typeface="Calibri"/>
                <a:ea typeface="+mn-ea"/>
                <a:cs typeface="+mn-cs"/>
              </a:rPr>
              <a:t>PartDesc</a:t>
            </a:r>
            <a:r>
              <a:rPr kumimoji="0" lang="en-GB" sz="1800" b="0" i="0" u="none" strike="noStrike" kern="1200" cap="none" spc="0" normalizeH="0" baseline="0" noProof="0" dirty="0">
                <a:ln>
                  <a:noFill/>
                </a:ln>
                <a:solidFill>
                  <a:prstClr val="black"/>
                </a:solidFill>
                <a:effectLst/>
                <a:uLnTx/>
                <a:uFillTx/>
                <a:latin typeface="Calibri"/>
                <a:ea typeface="+mn-ea"/>
                <a:cs typeface="+mn-cs"/>
              </a:rPr>
              <a:t>, </a:t>
            </a:r>
            <a:r>
              <a:rPr kumimoji="0" lang="en-GB" sz="1800" b="0" i="0" u="none" strike="noStrike" kern="1200" cap="none" spc="0" normalizeH="0" baseline="0" noProof="0" dirty="0" smtClean="0">
                <a:ln>
                  <a:noFill/>
                </a:ln>
                <a:solidFill>
                  <a:prstClr val="black"/>
                </a:solidFill>
                <a:effectLst/>
                <a:uLnTx/>
                <a:uFillTx/>
                <a:latin typeface="Calibri"/>
                <a:ea typeface="+mn-ea"/>
                <a:cs typeface="+mn-cs"/>
              </a:rPr>
              <a:t>Store, </a:t>
            </a:r>
            <a:r>
              <a:rPr kumimoji="0" lang="en-GB" sz="1800" b="0" i="0" u="none" strike="noStrike" kern="1200" cap="none" spc="0" normalizeH="0" baseline="0" noProof="0" dirty="0">
                <a:ln>
                  <a:noFill/>
                </a:ln>
                <a:solidFill>
                  <a:prstClr val="black"/>
                </a:solidFill>
                <a:effectLst/>
                <a:uLnTx/>
                <a:uFillTx/>
                <a:latin typeface="Calibri"/>
                <a:ea typeface="+mn-ea"/>
                <a:cs typeface="+mn-cs"/>
              </a:rPr>
              <a:t>Phone )</a:t>
            </a:r>
          </a:p>
          <a:p>
            <a:pPr marL="0" marR="0" lvl="0" indent="0" algn="l" defTabSz="914400" rtl="0" eaLnBrk="1" fontAlgn="base" latinLnBrk="0" hangingPunct="1">
              <a:lnSpc>
                <a:spcPct val="100000"/>
              </a:lnSpc>
              <a:spcBef>
                <a:spcPts val="0"/>
              </a:spcBef>
              <a:spcAft>
                <a:spcPct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SUPPLIER</a:t>
            </a:r>
            <a:r>
              <a:rPr kumimoji="0" lang="en-GB" sz="1800" b="1" i="0" u="none" strike="noStrike" kern="1200" cap="none" spc="0" normalizeH="0" baseline="0" noProof="0" dirty="0">
                <a:ln>
                  <a:noFill/>
                </a:ln>
                <a:solidFill>
                  <a:prstClr val="black"/>
                </a:solidFill>
                <a:effectLst/>
                <a:uLnTx/>
                <a:uFillTx/>
                <a:latin typeface="Calibri"/>
                <a:ea typeface="+mn-ea"/>
                <a:cs typeface="+mn-cs"/>
              </a:rPr>
              <a:t>( </a:t>
            </a:r>
            <a:r>
              <a:rPr kumimoji="0" lang="en-GB" sz="1800" b="1" i="0" u="sng" strike="noStrike" kern="1200" cap="none" spc="0" normalizeH="0" baseline="0" noProof="0" dirty="0" err="1">
                <a:ln>
                  <a:noFill/>
                </a:ln>
                <a:solidFill>
                  <a:srgbClr val="C00000"/>
                </a:solidFill>
                <a:effectLst/>
                <a:uLnTx/>
                <a:uFillTx/>
                <a:latin typeface="Calibri"/>
                <a:ea typeface="+mn-ea"/>
                <a:cs typeface="+mn-cs"/>
              </a:rPr>
              <a:t>SuppNo</a:t>
            </a:r>
            <a:r>
              <a:rPr kumimoji="0" lang="en-GB" sz="1800" b="0" i="0" u="none" strike="noStrike" kern="1200" cap="none" spc="0" normalizeH="0" baseline="0" noProof="0" dirty="0">
                <a:ln>
                  <a:noFill/>
                </a:ln>
                <a:solidFill>
                  <a:prstClr val="black"/>
                </a:solidFill>
                <a:effectLst/>
                <a:uLnTx/>
                <a:uFillTx/>
                <a:latin typeface="Calibri"/>
                <a:ea typeface="+mn-ea"/>
                <a:cs typeface="+mn-cs"/>
              </a:rPr>
              <a:t>, </a:t>
            </a:r>
            <a:r>
              <a:rPr kumimoji="0" lang="en-GB" sz="1800" b="0" i="0" u="none" strike="noStrike" kern="1200" cap="none" spc="0" normalizeH="0" baseline="0" noProof="0" dirty="0" err="1">
                <a:ln>
                  <a:noFill/>
                </a:ln>
                <a:solidFill>
                  <a:prstClr val="black"/>
                </a:solidFill>
                <a:effectLst/>
                <a:uLnTx/>
                <a:uFillTx/>
                <a:latin typeface="Calibri"/>
                <a:ea typeface="+mn-ea"/>
                <a:cs typeface="+mn-cs"/>
              </a:rPr>
              <a:t>SuppName</a:t>
            </a:r>
            <a:r>
              <a:rPr kumimoji="0" lang="en-GB" sz="1800" b="0" i="0" u="none" strike="noStrike" kern="1200" cap="none" spc="0" normalizeH="0" baseline="0" noProof="0" dirty="0">
                <a:ln>
                  <a:noFill/>
                </a:ln>
                <a:solidFill>
                  <a:prstClr val="black"/>
                </a:solidFill>
                <a:effectLst/>
                <a:uLnTx/>
                <a:uFillTx/>
                <a:latin typeface="Calibri"/>
                <a:ea typeface="+mn-ea"/>
                <a:cs typeface="+mn-cs"/>
              </a:rPr>
              <a:t>, </a:t>
            </a:r>
            <a:r>
              <a:rPr kumimoji="0" lang="en-GB" sz="1800" b="0" i="0" u="none" strike="noStrike" kern="1200" cap="none" spc="0" normalizeH="0" baseline="0" noProof="0" dirty="0" err="1">
                <a:ln>
                  <a:noFill/>
                </a:ln>
                <a:solidFill>
                  <a:prstClr val="black"/>
                </a:solidFill>
                <a:effectLst/>
                <a:uLnTx/>
                <a:uFillTx/>
                <a:latin typeface="Calibri"/>
                <a:ea typeface="+mn-ea"/>
                <a:cs typeface="+mn-cs"/>
              </a:rPr>
              <a:t>SuppAddr</a:t>
            </a:r>
            <a:r>
              <a:rPr kumimoji="0" lang="en-GB" sz="1800" b="0" i="0" u="none" strike="noStrike" kern="1200" cap="none" spc="0" normalizeH="0" baseline="0" noProof="0" dirty="0">
                <a:ln>
                  <a:noFill/>
                </a:ln>
                <a:solidFill>
                  <a:prstClr val="black"/>
                </a:solidFill>
                <a:effectLst/>
                <a:uLnTx/>
                <a:uFillTx/>
                <a:latin typeface="Calibri"/>
                <a:ea typeface="+mn-ea"/>
                <a:cs typeface="+mn-cs"/>
              </a:rPr>
              <a:t>)</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tabLst/>
              <a:defRPr/>
            </a:pPr>
            <a:endParaRPr kumimoji="0" lang="en-US" sz="1800" b="0" i="0" u="none" strike="noStrike" kern="1200" cap="none" spc="0" normalizeH="0" baseline="0" noProof="0" dirty="0">
              <a:ln>
                <a:noFill/>
              </a:ln>
              <a:solidFill>
                <a:srgbClr val="C00000"/>
              </a:solidFill>
              <a:effectLst/>
              <a:uLnTx/>
              <a:uFillTx/>
              <a:latin typeface="Calibri" pitchFamily="34" charset="0"/>
              <a:ea typeface="+mn-ea"/>
              <a:cs typeface="+mn-cs"/>
            </a:endParaRPr>
          </a:p>
        </p:txBody>
      </p:sp>
      <p:sp>
        <p:nvSpPr>
          <p:cNvPr id="31" name="Rectangle 30">
            <a:extLst>
              <a:ext uri="{FF2B5EF4-FFF2-40B4-BE49-F238E27FC236}">
                <a16:creationId xmlns:a16="http://schemas.microsoft.com/office/drawing/2014/main" id="{66E9A87C-1B8B-4A66-8791-CADAF47C3E2C}"/>
              </a:ext>
            </a:extLst>
          </p:cNvPr>
          <p:cNvSpPr/>
          <p:nvPr/>
        </p:nvSpPr>
        <p:spPr>
          <a:xfrm>
            <a:off x="684507" y="3534012"/>
            <a:ext cx="5181601" cy="248578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ts val="0"/>
              </a:spcBef>
              <a:spcAft>
                <a:spcPts val="600"/>
              </a:spcAft>
              <a:buClrTx/>
              <a:buSzTx/>
              <a:buFontTx/>
              <a:buNone/>
              <a:tabLst/>
              <a:defRPr/>
            </a:pPr>
            <a:r>
              <a:rPr kumimoji="0" lang="en-GB" altLang="en-US" sz="1800" b="1" i="0" u="none" strike="noStrike" kern="1200" cap="none" spc="0" normalizeH="0" baseline="0" noProof="0" dirty="0">
                <a:ln>
                  <a:noFill/>
                </a:ln>
                <a:solidFill>
                  <a:srgbClr val="C00000"/>
                </a:solidFill>
                <a:effectLst/>
                <a:uLnTx/>
                <a:uFillTx/>
                <a:latin typeface="Arial" charset="0"/>
                <a:ea typeface="+mn-ea"/>
                <a:cs typeface="+mn-cs"/>
              </a:rPr>
              <a:t>3NF Relation schema will be :</a:t>
            </a:r>
          </a:p>
          <a:p>
            <a:pPr marL="0" marR="0" lvl="0" indent="0" algn="l" defTabSz="914400" rtl="0" eaLnBrk="1" fontAlgn="base" latinLnBrk="0" hangingPunct="1">
              <a:lnSpc>
                <a:spcPct val="100000"/>
              </a:lnSpc>
              <a:spcBef>
                <a:spcPts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itchFamily="34" charset="0"/>
                <a:ea typeface="+mn-ea"/>
                <a:cs typeface="+mn-cs"/>
              </a:rPr>
              <a:t>PURCHASE</a:t>
            </a:r>
            <a:r>
              <a:rPr kumimoji="0" lang="en-US" sz="1800" b="0" i="0" u="none" strike="noStrike" kern="1200" cap="none" spc="0" normalizeH="0" baseline="0" noProof="0" dirty="0">
                <a:ln>
                  <a:noFill/>
                </a:ln>
                <a:solidFill>
                  <a:srgbClr val="C00000"/>
                </a:solidFill>
                <a:effectLst/>
                <a:uLnTx/>
                <a:uFillTx/>
                <a:latin typeface="Calibri" pitchFamily="34" charset="0"/>
                <a:ea typeface="+mn-ea"/>
                <a:cs typeface="+mn-cs"/>
              </a:rPr>
              <a:t> ( </a:t>
            </a:r>
            <a:r>
              <a:rPr kumimoji="0" lang="en-US" sz="1800" b="1" i="0" u="sng" strike="noStrike" kern="1200" cap="none" spc="0" normalizeH="0" baseline="0" noProof="0" dirty="0" err="1">
                <a:ln>
                  <a:noFill/>
                </a:ln>
                <a:solidFill>
                  <a:srgbClr val="C00000"/>
                </a:solidFill>
                <a:effectLst/>
                <a:uLnTx/>
                <a:uFillTx/>
                <a:latin typeface="Calibri" pitchFamily="34" charset="0"/>
                <a:ea typeface="+mn-ea"/>
                <a:cs typeface="+mn-cs"/>
              </a:rPr>
              <a:t>PartNo</a:t>
            </a:r>
            <a:r>
              <a:rPr kumimoji="0" lang="en-US" sz="1800" b="0" i="0" u="none" strike="noStrike" kern="1200" cap="none" spc="0" normalizeH="0" baseline="0" noProof="0" dirty="0">
                <a:ln>
                  <a:noFill/>
                </a:ln>
                <a:solidFill>
                  <a:srgbClr val="C00000"/>
                </a:solidFill>
                <a:effectLst/>
                <a:uLnTx/>
                <a:uFillTx/>
                <a:latin typeface="Calibri" pitchFamily="34" charset="0"/>
                <a:ea typeface="+mn-ea"/>
                <a:cs typeface="+mn-cs"/>
              </a:rPr>
              <a:t>, </a:t>
            </a:r>
            <a:r>
              <a:rPr kumimoji="0" lang="en-US" sz="1800" b="1" i="0" u="sng" strike="noStrike" kern="1200" cap="none" spc="0" normalizeH="0" baseline="0" noProof="0" dirty="0" err="1">
                <a:ln>
                  <a:noFill/>
                </a:ln>
                <a:solidFill>
                  <a:srgbClr val="C00000"/>
                </a:solidFill>
                <a:effectLst/>
                <a:uLnTx/>
                <a:uFillTx/>
                <a:latin typeface="Calibri" pitchFamily="34" charset="0"/>
                <a:ea typeface="+mn-ea"/>
                <a:cs typeface="+mn-cs"/>
              </a:rPr>
              <a:t>SuppNo</a:t>
            </a:r>
            <a:r>
              <a:rPr kumimoji="0" lang="en-US" sz="1800" b="0" i="0" u="none" strike="noStrike" kern="1200" cap="none" spc="0" normalizeH="0" baseline="0" noProof="0" dirty="0">
                <a:ln>
                  <a:noFill/>
                </a:ln>
                <a:solidFill>
                  <a:srgbClr val="C00000"/>
                </a:solidFill>
                <a:effectLst/>
                <a:uLnTx/>
                <a:uFillTx/>
                <a:latin typeface="Calibri" pitchFamily="34" charset="0"/>
                <a:ea typeface="+mn-ea"/>
                <a:cs typeface="+mn-cs"/>
              </a:rPr>
              <a:t>, </a:t>
            </a:r>
            <a:r>
              <a:rPr kumimoji="0" lang="en-US" sz="1800" b="0" i="0" u="none" strike="noStrike" kern="1200" cap="none" spc="0" normalizeH="0" baseline="0" noProof="0" dirty="0">
                <a:ln>
                  <a:noFill/>
                </a:ln>
                <a:solidFill>
                  <a:prstClr val="black"/>
                </a:solidFill>
                <a:effectLst/>
                <a:uLnTx/>
                <a:uFillTx/>
                <a:latin typeface="Calibri" pitchFamily="34" charset="0"/>
                <a:ea typeface="+mn-ea"/>
                <a:cs typeface="+mn-cs"/>
              </a:rPr>
              <a:t>Cost</a:t>
            </a:r>
            <a:r>
              <a:rPr kumimoji="0" lang="en-US" sz="1800" b="0" i="0" u="none" strike="noStrike" kern="1200" cap="none" spc="0" normalizeH="0" baseline="0" noProof="0" dirty="0">
                <a:ln>
                  <a:noFill/>
                </a:ln>
                <a:solidFill>
                  <a:srgbClr val="C00000"/>
                </a:solidFill>
                <a:effectLst/>
                <a:uLnTx/>
                <a:uFillTx/>
                <a:latin typeface="Calibri" pitchFamily="34" charset="0"/>
                <a:ea typeface="+mn-ea"/>
                <a:cs typeface="+mn-cs"/>
              </a:rPr>
              <a:t> </a:t>
            </a:r>
            <a:r>
              <a:rPr kumimoji="0" lang="en-GB" sz="1800" b="0" i="0" u="none" strike="noStrike" kern="1200" cap="none" spc="0" normalizeH="0" baseline="0" noProof="0" dirty="0">
                <a:ln>
                  <a:noFill/>
                </a:ln>
                <a:solidFill>
                  <a:prstClr val="black"/>
                </a:solidFill>
                <a:effectLst/>
                <a:uLnTx/>
                <a:uFillTx/>
                <a:latin typeface="Calibri"/>
                <a:ea typeface="+mn-ea"/>
                <a:cs typeface="+mn-cs"/>
              </a:rPr>
              <a:t>)</a:t>
            </a:r>
          </a:p>
          <a:p>
            <a:pPr marL="0" marR="0" lvl="0" indent="0" algn="l" defTabSz="914400" rtl="0" eaLnBrk="1" fontAlgn="base" latinLnBrk="0" hangingPunct="1">
              <a:lnSpc>
                <a:spcPct val="100000"/>
              </a:lnSpc>
              <a:spcBef>
                <a:spcPts val="0"/>
              </a:spcBef>
              <a:spcAft>
                <a:spcPct val="0"/>
              </a:spcAft>
              <a:buClrTx/>
              <a:buSzTx/>
              <a:buFontTx/>
              <a:buNone/>
              <a:tabLst/>
              <a:defRPr/>
            </a:pPr>
            <a:endParaRPr kumimoji="0" lang="en-US" sz="1800" b="0" i="0" u="none" strike="noStrike" kern="1200" cap="none" spc="0" normalizeH="0" baseline="0" noProof="0" dirty="0">
              <a:ln>
                <a:noFill/>
              </a:ln>
              <a:solidFill>
                <a:srgbClr val="C00000"/>
              </a:solidFill>
              <a:effectLst/>
              <a:uLnTx/>
              <a:uFillTx/>
              <a:latin typeface="Calibri" pitchFamily="34"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PART ( </a:t>
            </a:r>
            <a:r>
              <a:rPr kumimoji="0" lang="en-GB" sz="1800" b="1" i="0" u="sng" strike="noStrike" kern="1200" cap="none" spc="0" normalizeH="0" baseline="0" noProof="0" dirty="0" err="1">
                <a:ln>
                  <a:noFill/>
                </a:ln>
                <a:solidFill>
                  <a:srgbClr val="C00000"/>
                </a:solidFill>
                <a:effectLst/>
                <a:uLnTx/>
                <a:uFillTx/>
                <a:latin typeface="Calibri"/>
                <a:ea typeface="+mn-ea"/>
                <a:cs typeface="+mn-cs"/>
              </a:rPr>
              <a:t>PartNo</a:t>
            </a:r>
            <a:r>
              <a:rPr kumimoji="0" lang="en-GB" sz="1800" b="0" i="0" u="none" strike="noStrike" kern="1200" cap="none" spc="0" normalizeH="0" baseline="0" noProof="0" dirty="0">
                <a:ln>
                  <a:noFill/>
                </a:ln>
                <a:solidFill>
                  <a:prstClr val="black"/>
                </a:solidFill>
                <a:effectLst/>
                <a:uLnTx/>
                <a:uFillTx/>
                <a:latin typeface="Calibri"/>
                <a:ea typeface="+mn-ea"/>
                <a:cs typeface="+mn-cs"/>
              </a:rPr>
              <a:t>, </a:t>
            </a:r>
            <a:r>
              <a:rPr kumimoji="0" lang="en-GB" sz="1800" b="0" i="0" u="none" strike="noStrike" kern="1200" cap="none" spc="0" normalizeH="0" baseline="0" noProof="0" dirty="0" err="1">
                <a:ln>
                  <a:noFill/>
                </a:ln>
                <a:solidFill>
                  <a:prstClr val="black"/>
                </a:solidFill>
                <a:effectLst/>
                <a:uLnTx/>
                <a:uFillTx/>
                <a:latin typeface="Calibri"/>
                <a:ea typeface="+mn-ea"/>
                <a:cs typeface="+mn-cs"/>
              </a:rPr>
              <a:t>PartDesc</a:t>
            </a:r>
            <a:r>
              <a:rPr kumimoji="0" lang="en-GB" sz="1800" b="0" i="0" u="none" strike="noStrike" kern="1200" cap="none" spc="0" normalizeH="0" baseline="0" noProof="0" dirty="0">
                <a:ln>
                  <a:noFill/>
                </a:ln>
                <a:solidFill>
                  <a:prstClr val="black"/>
                </a:solidFill>
                <a:effectLst/>
                <a:uLnTx/>
                <a:uFillTx/>
                <a:latin typeface="Calibri"/>
                <a:ea typeface="+mn-ea"/>
                <a:cs typeface="+mn-cs"/>
              </a:rPr>
              <a:t>, </a:t>
            </a:r>
            <a:r>
              <a:rPr kumimoji="0" lang="en-GB" sz="1800" b="0" i="0" u="none" strike="noStrike" kern="1200" cap="none" spc="0" normalizeH="0" baseline="0" noProof="0" dirty="0" smtClean="0">
                <a:ln>
                  <a:noFill/>
                </a:ln>
                <a:solidFill>
                  <a:prstClr val="black"/>
                </a:solidFill>
                <a:effectLst/>
                <a:uLnTx/>
                <a:uFillTx/>
                <a:latin typeface="Calibri"/>
                <a:ea typeface="+mn-ea"/>
                <a:cs typeface="+mn-cs"/>
              </a:rPr>
              <a:t>Store, </a:t>
            </a:r>
            <a:r>
              <a:rPr kumimoji="0" lang="en-GB" sz="1800" b="0" i="0" u="none" strike="sngStrike" kern="1200" cap="none" spc="0" normalizeH="0" baseline="0" noProof="0" dirty="0">
                <a:ln>
                  <a:noFill/>
                </a:ln>
                <a:solidFill>
                  <a:srgbClr val="1F497D">
                    <a:lumMod val="60000"/>
                    <a:lumOff val="40000"/>
                  </a:srgbClr>
                </a:solidFill>
                <a:effectLst/>
                <a:uLnTx/>
                <a:uFillTx/>
                <a:latin typeface="Calibri"/>
                <a:ea typeface="+mn-ea"/>
                <a:cs typeface="+mn-cs"/>
              </a:rPr>
              <a:t>Phone</a:t>
            </a:r>
            <a:r>
              <a:rPr kumimoji="0" lang="en-GB" sz="18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l" defTabSz="914400" rtl="0" eaLnBrk="1" fontAlgn="base" latinLnBrk="0" hangingPunct="1">
              <a:lnSpc>
                <a:spcPct val="100000"/>
              </a:lnSpc>
              <a:spcBef>
                <a:spcPts val="0"/>
              </a:spcBef>
              <a:spcAft>
                <a:spcPct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a:ea typeface="+mn-ea"/>
                <a:cs typeface="+mn-cs"/>
              </a:rPr>
              <a:t>SUPPLIER</a:t>
            </a:r>
            <a:r>
              <a:rPr kumimoji="0" lang="en-GB" sz="1800" b="1" i="0" u="none" strike="noStrike" kern="1200" cap="none" spc="0" normalizeH="0" baseline="0" noProof="0" dirty="0">
                <a:ln>
                  <a:noFill/>
                </a:ln>
                <a:solidFill>
                  <a:prstClr val="black"/>
                </a:solidFill>
                <a:effectLst/>
                <a:uLnTx/>
                <a:uFillTx/>
                <a:latin typeface="Calibri"/>
                <a:ea typeface="+mn-ea"/>
                <a:cs typeface="+mn-cs"/>
              </a:rPr>
              <a:t>( </a:t>
            </a:r>
            <a:r>
              <a:rPr kumimoji="0" lang="en-GB" sz="1800" b="1" i="0" u="sng" strike="noStrike" kern="1200" cap="none" spc="0" normalizeH="0" baseline="0" noProof="0" dirty="0" err="1">
                <a:ln>
                  <a:noFill/>
                </a:ln>
                <a:solidFill>
                  <a:srgbClr val="C00000"/>
                </a:solidFill>
                <a:effectLst/>
                <a:uLnTx/>
                <a:uFillTx/>
                <a:latin typeface="Calibri"/>
                <a:ea typeface="+mn-ea"/>
                <a:cs typeface="+mn-cs"/>
              </a:rPr>
              <a:t>SuppNo</a:t>
            </a:r>
            <a:r>
              <a:rPr kumimoji="0" lang="en-GB" sz="1800" b="0" i="0" u="none" strike="noStrike" kern="1200" cap="none" spc="0" normalizeH="0" baseline="0" noProof="0" dirty="0">
                <a:ln>
                  <a:noFill/>
                </a:ln>
                <a:solidFill>
                  <a:prstClr val="black"/>
                </a:solidFill>
                <a:effectLst/>
                <a:uLnTx/>
                <a:uFillTx/>
                <a:latin typeface="Calibri"/>
                <a:ea typeface="+mn-ea"/>
                <a:cs typeface="+mn-cs"/>
              </a:rPr>
              <a:t>, </a:t>
            </a:r>
            <a:r>
              <a:rPr kumimoji="0" lang="en-GB" sz="1800" b="0" i="0" u="none" strike="noStrike" kern="1200" cap="none" spc="0" normalizeH="0" baseline="0" noProof="0" dirty="0" err="1">
                <a:ln>
                  <a:noFill/>
                </a:ln>
                <a:solidFill>
                  <a:prstClr val="black"/>
                </a:solidFill>
                <a:effectLst/>
                <a:uLnTx/>
                <a:uFillTx/>
                <a:latin typeface="Calibri"/>
                <a:ea typeface="+mn-ea"/>
                <a:cs typeface="+mn-cs"/>
              </a:rPr>
              <a:t>SuppName</a:t>
            </a:r>
            <a:r>
              <a:rPr kumimoji="0" lang="en-GB" sz="1800" b="0" i="0" u="none" strike="noStrike" kern="1200" cap="none" spc="0" normalizeH="0" baseline="0" noProof="0" dirty="0">
                <a:ln>
                  <a:noFill/>
                </a:ln>
                <a:solidFill>
                  <a:prstClr val="black"/>
                </a:solidFill>
                <a:effectLst/>
                <a:uLnTx/>
                <a:uFillTx/>
                <a:latin typeface="Calibri"/>
                <a:ea typeface="+mn-ea"/>
                <a:cs typeface="+mn-cs"/>
              </a:rPr>
              <a:t>, </a:t>
            </a:r>
            <a:r>
              <a:rPr kumimoji="0" lang="en-GB" sz="1800" b="0" i="0" u="none" strike="noStrike" kern="1200" cap="none" spc="0" normalizeH="0" baseline="0" noProof="0" dirty="0" err="1">
                <a:ln>
                  <a:noFill/>
                </a:ln>
                <a:solidFill>
                  <a:prstClr val="black"/>
                </a:solidFill>
                <a:effectLst/>
                <a:uLnTx/>
                <a:uFillTx/>
                <a:latin typeface="Calibri"/>
                <a:ea typeface="+mn-ea"/>
                <a:cs typeface="+mn-cs"/>
              </a:rPr>
              <a:t>SuppAddr</a:t>
            </a:r>
            <a:r>
              <a:rPr kumimoji="0" lang="en-GB" sz="1800" b="0" i="0" u="none" strike="noStrike" kern="1200" cap="none" spc="0" normalizeH="0" baseline="0" noProof="0" dirty="0">
                <a:ln>
                  <a:noFill/>
                </a:ln>
                <a:solidFill>
                  <a:prstClr val="black"/>
                </a:solidFill>
                <a:effectLst/>
                <a:uLnTx/>
                <a:uFillTx/>
                <a:latin typeface="Calibri"/>
                <a:ea typeface="+mn-ea"/>
                <a:cs typeface="+mn-cs"/>
              </a:rPr>
              <a:t>)</a:t>
            </a:r>
          </a:p>
          <a:p>
            <a:pPr marL="0" marR="0" lvl="0" indent="0" algn="l" defTabSz="914400" rtl="0" eaLnBrk="1" fontAlgn="base" latinLnBrk="0" hangingPunct="1">
              <a:lnSpc>
                <a:spcPct val="100000"/>
              </a:lnSpc>
              <a:spcBef>
                <a:spcPts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itchFamily="34" charset="0"/>
                <a:ea typeface="+mn-ea"/>
                <a:cs typeface="+mn-cs"/>
              </a:rPr>
              <a:t>STORE</a:t>
            </a:r>
            <a:r>
              <a:rPr kumimoji="0" lang="en-US" sz="1800" b="0" i="0" u="none" strike="noStrike" kern="1200" cap="none" spc="0" normalizeH="0" baseline="0" noProof="0" dirty="0">
                <a:ln>
                  <a:noFill/>
                </a:ln>
                <a:solidFill>
                  <a:srgbClr val="C00000"/>
                </a:solidFill>
                <a:effectLst/>
                <a:uLnTx/>
                <a:uFillTx/>
                <a:latin typeface="Calibri" pitchFamily="34" charset="0"/>
                <a:ea typeface="+mn-ea"/>
                <a:cs typeface="+mn-cs"/>
              </a:rPr>
              <a:t> ( </a:t>
            </a:r>
            <a:r>
              <a:rPr kumimoji="0" lang="en-US" sz="1800" b="1" i="0" u="sng" strike="noStrike" kern="1200" cap="none" spc="0" normalizeH="0" baseline="0" noProof="0" dirty="0" smtClean="0">
                <a:ln>
                  <a:noFill/>
                </a:ln>
                <a:solidFill>
                  <a:srgbClr val="C00000"/>
                </a:solidFill>
                <a:effectLst/>
                <a:uLnTx/>
                <a:uFillTx/>
                <a:latin typeface="Calibri" pitchFamily="34" charset="0"/>
                <a:ea typeface="+mn-ea"/>
                <a:cs typeface="+mn-cs"/>
              </a:rPr>
              <a:t>Store</a:t>
            </a:r>
            <a:r>
              <a:rPr kumimoji="0" lang="en-US" sz="1800" b="0" i="0" u="none" strike="noStrike" kern="1200" cap="none" spc="0" normalizeH="0" baseline="0" noProof="0" dirty="0" smtClean="0">
                <a:ln>
                  <a:noFill/>
                </a:ln>
                <a:solidFill>
                  <a:srgbClr val="C00000"/>
                </a:solidFill>
                <a:effectLst/>
                <a:uLnTx/>
                <a:uFillTx/>
                <a:latin typeface="Calibri" pitchFamily="34" charset="0"/>
                <a:ea typeface="+mn-ea"/>
                <a:cs typeface="+mn-cs"/>
              </a:rPr>
              <a:t>, </a:t>
            </a:r>
            <a:r>
              <a:rPr kumimoji="0" lang="en-US" sz="1800" b="0" i="0" u="none" strike="noStrike" kern="1200" cap="none" spc="0" normalizeH="0" baseline="0" noProof="0" dirty="0">
                <a:ln>
                  <a:noFill/>
                </a:ln>
                <a:solidFill>
                  <a:prstClr val="black"/>
                </a:solidFill>
                <a:effectLst/>
                <a:uLnTx/>
                <a:uFillTx/>
                <a:latin typeface="Calibri" pitchFamily="34" charset="0"/>
                <a:ea typeface="+mn-ea"/>
                <a:cs typeface="+mn-cs"/>
              </a:rPr>
              <a:t>Phone</a:t>
            </a:r>
            <a:r>
              <a:rPr kumimoji="0" lang="en-US" sz="1800" b="0" i="0" u="none" strike="noStrike" kern="1200" cap="none" spc="0" normalizeH="0" baseline="0" noProof="0" dirty="0">
                <a:ln>
                  <a:noFill/>
                </a:ln>
                <a:solidFill>
                  <a:srgbClr val="C00000"/>
                </a:solidFill>
                <a:effectLst/>
                <a:uLnTx/>
                <a:uFillTx/>
                <a:latin typeface="Calibri" pitchFamily="34" charset="0"/>
                <a:ea typeface="+mn-ea"/>
                <a:cs typeface="+mn-cs"/>
              </a:rPr>
              <a:t> )</a:t>
            </a:r>
          </a:p>
          <a:p>
            <a:pPr marL="0" marR="0" lvl="0" indent="0" algn="l" defTabSz="914400" rtl="0" eaLnBrk="1" fontAlgn="base" latinLnBrk="0" hangingPunct="1">
              <a:lnSpc>
                <a:spcPct val="100000"/>
              </a:lnSpc>
              <a:spcBef>
                <a:spcPts val="0"/>
              </a:spcBef>
              <a:spcAft>
                <a:spcPct val="0"/>
              </a:spcAft>
              <a:buClrTx/>
              <a:buSzTx/>
              <a:buFontTx/>
              <a:buNone/>
              <a:tabLst/>
              <a:defRPr/>
            </a:pPr>
            <a:endParaRPr kumimoji="0" lang="en-US" sz="1800" b="0" i="0" u="none" strike="noStrike" kern="1200" cap="none" spc="0" normalizeH="0" baseline="0" noProof="0" dirty="0">
              <a:ln>
                <a:noFill/>
              </a:ln>
              <a:solidFill>
                <a:srgbClr val="C00000"/>
              </a:solidFill>
              <a:effectLst/>
              <a:uLnTx/>
              <a:uFillTx/>
              <a:latin typeface="Calibri" pitchFamily="34" charset="0"/>
              <a:ea typeface="+mn-ea"/>
              <a:cs typeface="+mn-cs"/>
            </a:endParaRPr>
          </a:p>
        </p:txBody>
      </p:sp>
      <p:grpSp>
        <p:nvGrpSpPr>
          <p:cNvPr id="12" name="Group 11">
            <a:extLst>
              <a:ext uri="{FF2B5EF4-FFF2-40B4-BE49-F238E27FC236}">
                <a16:creationId xmlns:a16="http://schemas.microsoft.com/office/drawing/2014/main" id="{7535F216-63E2-4897-8DCE-BDDEAA26054A}"/>
              </a:ext>
            </a:extLst>
          </p:cNvPr>
          <p:cNvGrpSpPr/>
          <p:nvPr/>
        </p:nvGrpSpPr>
        <p:grpSpPr>
          <a:xfrm>
            <a:off x="5037134" y="2086212"/>
            <a:ext cx="632724" cy="2485788"/>
            <a:chOff x="5006076" y="1905000"/>
            <a:chExt cx="632724" cy="2667000"/>
          </a:xfrm>
        </p:grpSpPr>
        <p:cxnSp>
          <p:nvCxnSpPr>
            <p:cNvPr id="6" name="Straight Connector 5">
              <a:extLst>
                <a:ext uri="{FF2B5EF4-FFF2-40B4-BE49-F238E27FC236}">
                  <a16:creationId xmlns:a16="http://schemas.microsoft.com/office/drawing/2014/main" id="{DFBF0ED4-1616-408C-A3D3-A178CAFF3BDF}"/>
                </a:ext>
              </a:extLst>
            </p:cNvPr>
            <p:cNvCxnSpPr/>
            <p:nvPr/>
          </p:nvCxnSpPr>
          <p:spPr>
            <a:xfrm>
              <a:off x="5006076" y="1905000"/>
              <a:ext cx="632724" cy="0"/>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A687FD0-DFC3-446D-8C44-999E8F6B03E5}"/>
                </a:ext>
              </a:extLst>
            </p:cNvPr>
            <p:cNvCxnSpPr>
              <a:cxnSpLocks/>
            </p:cNvCxnSpPr>
            <p:nvPr/>
          </p:nvCxnSpPr>
          <p:spPr>
            <a:xfrm>
              <a:off x="5638800" y="1905000"/>
              <a:ext cx="0" cy="2667000"/>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F325B2A-7FBD-4F72-A67C-9226FD7A665A}"/>
                </a:ext>
              </a:extLst>
            </p:cNvPr>
            <p:cNvCxnSpPr/>
            <p:nvPr/>
          </p:nvCxnSpPr>
          <p:spPr>
            <a:xfrm flipH="1">
              <a:off x="5006076" y="4572000"/>
              <a:ext cx="632724" cy="0"/>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TextBox 12">
            <a:extLst>
              <a:ext uri="{FF2B5EF4-FFF2-40B4-BE49-F238E27FC236}">
                <a16:creationId xmlns:a16="http://schemas.microsoft.com/office/drawing/2014/main" id="{DE8EF5C1-D850-491E-9B1B-22C295DCB088}"/>
              </a:ext>
            </a:extLst>
          </p:cNvPr>
          <p:cNvSpPr txBox="1"/>
          <p:nvPr/>
        </p:nvSpPr>
        <p:spPr>
          <a:xfrm>
            <a:off x="6096000" y="2590800"/>
            <a:ext cx="4038597" cy="114300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SG" sz="18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15" name="TextBox 14">
            <a:extLst>
              <a:ext uri="{FF2B5EF4-FFF2-40B4-BE49-F238E27FC236}">
                <a16:creationId xmlns:a16="http://schemas.microsoft.com/office/drawing/2014/main" id="{BA4DA414-B755-4415-83BE-591BF00292FA}"/>
              </a:ext>
            </a:extLst>
          </p:cNvPr>
          <p:cNvSpPr txBox="1"/>
          <p:nvPr/>
        </p:nvSpPr>
        <p:spPr>
          <a:xfrm>
            <a:off x="5876440" y="2401041"/>
            <a:ext cx="3289299" cy="2308324"/>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SG" sz="1800" b="0" i="0" u="none" strike="noStrike" kern="1200" cap="none" spc="0" normalizeH="0" baseline="0" noProof="0" dirty="0">
                <a:ln>
                  <a:noFill/>
                </a:ln>
                <a:solidFill>
                  <a:prstClr val="black"/>
                </a:solidFill>
                <a:effectLst/>
                <a:uLnTx/>
                <a:uFillTx/>
                <a:latin typeface="Arial" charset="0"/>
                <a:ea typeface="+mn-ea"/>
                <a:cs typeface="+mn-cs"/>
              </a:rPr>
              <a:t>With the addition of STORE relation, the phone attribute In PART relation should be removed to eliminate data redundancy.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SG" sz="1800" b="0" i="0" u="none" strike="noStrike" kern="1200" cap="none" spc="0" normalizeH="0" baseline="0" noProof="0" dirty="0">
                <a:ln>
                  <a:noFill/>
                </a:ln>
                <a:solidFill>
                  <a:prstClr val="black"/>
                </a:solidFill>
                <a:effectLst/>
                <a:uLnTx/>
                <a:uFillTx/>
                <a:latin typeface="Arial" charset="0"/>
                <a:ea typeface="+mn-ea"/>
                <a:cs typeface="+mn-cs"/>
              </a:rPr>
              <a:t>The </a:t>
            </a:r>
            <a:r>
              <a:rPr kumimoji="0" lang="en-SG" sz="1800" b="0" i="0" u="none" strike="noStrike" kern="1200" cap="none" spc="0" normalizeH="0" baseline="0" noProof="0" dirty="0" smtClean="0">
                <a:ln>
                  <a:noFill/>
                </a:ln>
                <a:solidFill>
                  <a:prstClr val="black"/>
                </a:solidFill>
                <a:effectLst/>
                <a:uLnTx/>
                <a:uFillTx/>
                <a:latin typeface="Arial" charset="0"/>
                <a:ea typeface="+mn-ea"/>
                <a:cs typeface="+mn-cs"/>
              </a:rPr>
              <a:t>store </a:t>
            </a:r>
            <a:r>
              <a:rPr kumimoji="0" lang="en-SG" sz="1800" b="0" i="0" u="none" strike="noStrike" kern="1200" cap="none" spc="0" normalizeH="0" baseline="0" noProof="0" dirty="0">
                <a:ln>
                  <a:noFill/>
                </a:ln>
                <a:solidFill>
                  <a:prstClr val="black"/>
                </a:solidFill>
                <a:effectLst/>
                <a:uLnTx/>
                <a:uFillTx/>
                <a:latin typeface="Arial" charset="0"/>
                <a:ea typeface="+mn-ea"/>
                <a:cs typeface="+mn-cs"/>
              </a:rPr>
              <a:t>attribute in PART will become an FK to link back to STORE. </a:t>
            </a:r>
          </a:p>
        </p:txBody>
      </p:sp>
      <p:sp>
        <p:nvSpPr>
          <p:cNvPr id="18" name="Rectangle 17">
            <a:extLst>
              <a:ext uri="{FF2B5EF4-FFF2-40B4-BE49-F238E27FC236}">
                <a16:creationId xmlns:a16="http://schemas.microsoft.com/office/drawing/2014/main" id="{67790918-B0BF-4866-B8B3-C94D4E91CA57}"/>
              </a:ext>
            </a:extLst>
          </p:cNvPr>
          <p:cNvSpPr/>
          <p:nvPr/>
        </p:nvSpPr>
        <p:spPr>
          <a:xfrm>
            <a:off x="3124200" y="4611704"/>
            <a:ext cx="484428" cy="276999"/>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C00000"/>
                </a:solidFill>
                <a:effectLst/>
                <a:uLnTx/>
                <a:uFillTx/>
                <a:latin typeface="Arial" charset="0"/>
                <a:ea typeface="+mn-ea"/>
                <a:cs typeface="+mn-cs"/>
              </a:rPr>
              <a:t>(FK)</a:t>
            </a:r>
            <a:endParaRPr kumimoji="0" lang="en-US" sz="1200" b="0" i="0" u="none" strike="noStrike" kern="1200" cap="none" spc="0" normalizeH="0" baseline="0" noProof="0" dirty="0">
              <a:ln>
                <a:noFill/>
              </a:ln>
              <a:solidFill>
                <a:srgbClr val="C00000"/>
              </a:solidFill>
              <a:effectLst/>
              <a:uLnTx/>
              <a:uFillTx/>
              <a:latin typeface="Arial" charset="0"/>
              <a:ea typeface="+mn-ea"/>
              <a:cs typeface="+mn-cs"/>
            </a:endParaRPr>
          </a:p>
        </p:txBody>
      </p:sp>
    </p:spTree>
    <p:extLst>
      <p:ext uri="{BB962C8B-B14F-4D97-AF65-F5344CB8AC3E}">
        <p14:creationId xmlns:p14="http://schemas.microsoft.com/office/powerpoint/2010/main" val="3217138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00" fill="hold"/>
                                        <p:tgtEl>
                                          <p:spTgt spid="31"/>
                                        </p:tgtEl>
                                        <p:attrNameLst>
                                          <p:attrName>ppt_x</p:attrName>
                                        </p:attrNameLst>
                                      </p:cBhvr>
                                      <p:tavLst>
                                        <p:tav tm="0">
                                          <p:val>
                                            <p:strVal val="#ppt_x"/>
                                          </p:val>
                                        </p:tav>
                                        <p:tav tm="100000">
                                          <p:val>
                                            <p:strVal val="#ppt_x"/>
                                          </p:val>
                                        </p:tav>
                                      </p:tavLst>
                                    </p:anim>
                                    <p:anim calcmode="lin" valueType="num">
                                      <p:cBhvr additive="base">
                                        <p:cTn id="8" dur="500" fill="hold"/>
                                        <p:tgtEl>
                                          <p:spTgt spid="3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2" presetClass="entr" presetSubtype="4" fill="hold" grpId="0" nodeType="afterEffect">
                                  <p:stCondLst>
                                    <p:cond delay="500"/>
                                  </p:stCondLst>
                                  <p:childTnLst>
                                    <p:set>
                                      <p:cBhvr>
                                        <p:cTn id="15" dur="1" fill="hold">
                                          <p:stCondLst>
                                            <p:cond delay="0"/>
                                          </p:stCondLst>
                                        </p:cTn>
                                        <p:tgtEl>
                                          <p:spTgt spid="18"/>
                                        </p:tgtEl>
                                        <p:attrNameLst>
                                          <p:attrName>style.visibility</p:attrName>
                                        </p:attrNameLst>
                                      </p:cBhvr>
                                      <p:to>
                                        <p:strVal val="visible"/>
                                      </p:to>
                                    </p:set>
                                    <p:anim calcmode="lin" valueType="num">
                                      <p:cBhvr additive="base">
                                        <p:cTn id="16" dur="500" fill="hold"/>
                                        <p:tgtEl>
                                          <p:spTgt spid="18"/>
                                        </p:tgtEl>
                                        <p:attrNameLst>
                                          <p:attrName>ppt_x</p:attrName>
                                        </p:attrNameLst>
                                      </p:cBhvr>
                                      <p:tavLst>
                                        <p:tav tm="0">
                                          <p:val>
                                            <p:strVal val="#ppt_x"/>
                                          </p:val>
                                        </p:tav>
                                        <p:tav tm="100000">
                                          <p:val>
                                            <p:strVal val="#ppt_x"/>
                                          </p:val>
                                        </p:tav>
                                      </p:tavLst>
                                    </p:anim>
                                    <p:anim calcmode="lin" valueType="num">
                                      <p:cBhvr additive="base">
                                        <p:cTn id="17" dur="500" fill="hold"/>
                                        <p:tgtEl>
                                          <p:spTgt spid="18"/>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2" presetClass="entr" presetSubtype="8" fill="hold" grpId="0" nodeType="afterEffect">
                                  <p:stCondLst>
                                    <p:cond delay="500"/>
                                  </p:stCondLst>
                                  <p:childTnLst>
                                    <p:set>
                                      <p:cBhvr>
                                        <p:cTn id="20" dur="1" fill="hold">
                                          <p:stCondLst>
                                            <p:cond delay="0"/>
                                          </p:stCondLst>
                                        </p:cTn>
                                        <p:tgtEl>
                                          <p:spTgt spid="15"/>
                                        </p:tgtEl>
                                        <p:attrNameLst>
                                          <p:attrName>style.visibility</p:attrName>
                                        </p:attrNameLst>
                                      </p:cBhvr>
                                      <p:to>
                                        <p:strVal val="visible"/>
                                      </p:to>
                                    </p:set>
                                    <p:animEffect transition="in" filter="wipe(left)">
                                      <p:cBhvr>
                                        <p:cTn id="21"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15" grpId="0"/>
      <p:bldP spid="18" grpId="0"/>
    </p:bld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362" name="Title 1"/>
          <p:cNvSpPr>
            <a:spLocks noGrp="1"/>
          </p:cNvSpPr>
          <p:nvPr>
            <p:ph type="ctrTitle" idx="4294967295"/>
          </p:nvPr>
        </p:nvSpPr>
        <p:spPr>
          <a:xfrm>
            <a:off x="685800" y="228600"/>
            <a:ext cx="3026012" cy="565146"/>
          </a:xfrm>
        </p:spPr>
        <p:txBody>
          <a:bodyPr wrap="none" lIns="36000" tIns="36000" rIns="36000" bIns="36000" anchor="t">
            <a:spAutoFit/>
          </a:bodyPr>
          <a:lstStyle/>
          <a:p>
            <a:pPr algn="l" eaLnBrk="1" hangingPunct="1">
              <a:defRPr/>
            </a:pPr>
            <a:r>
              <a:rPr lang="en-GB" sz="3200" b="1" dirty="0" smtClean="0">
                <a:solidFill>
                  <a:srgbClr val="C00000"/>
                </a:solidFill>
                <a:latin typeface="+mn-lt"/>
              </a:rPr>
              <a:t>From 2NF to 3 NF</a:t>
            </a:r>
            <a:endParaRPr lang="en-US" sz="3200" b="1" dirty="0" smtClean="0">
              <a:solidFill>
                <a:schemeClr val="tx2">
                  <a:lumMod val="75000"/>
                </a:schemeClr>
              </a:solidFill>
              <a:latin typeface="+mn-lt"/>
            </a:endParaRPr>
          </a:p>
        </p:txBody>
      </p:sp>
      <p:graphicFrame>
        <p:nvGraphicFramePr>
          <p:cNvPr id="18" name="Table 17">
            <a:extLst>
              <a:ext uri="{FF2B5EF4-FFF2-40B4-BE49-F238E27FC236}">
                <a16:creationId xmlns:a16="http://schemas.microsoft.com/office/drawing/2014/main" id="{EB83D72D-1B60-4BCE-BE3D-43FFE90D1D0D}"/>
              </a:ext>
            </a:extLst>
          </p:cNvPr>
          <p:cNvGraphicFramePr>
            <a:graphicFrameLocks noGrp="1"/>
          </p:cNvGraphicFramePr>
          <p:nvPr>
            <p:extLst>
              <p:ext uri="{D42A27DB-BD31-4B8C-83A1-F6EECF244321}">
                <p14:modId xmlns:p14="http://schemas.microsoft.com/office/powerpoint/2010/main" val="563697207"/>
              </p:ext>
            </p:extLst>
          </p:nvPr>
        </p:nvGraphicFramePr>
        <p:xfrm>
          <a:off x="685800" y="1143000"/>
          <a:ext cx="7863840" cy="5303520"/>
        </p:xfrm>
        <a:graphic>
          <a:graphicData uri="http://schemas.openxmlformats.org/drawingml/2006/table">
            <a:tbl>
              <a:tblPr firstRow="1" bandRow="1">
                <a:tableStyleId>{5C22544A-7EE6-4342-B048-85BDC9FD1C3A}</a:tableStyleId>
              </a:tblPr>
              <a:tblGrid>
                <a:gridCol w="1066800">
                  <a:extLst>
                    <a:ext uri="{9D8B030D-6E8A-4147-A177-3AD203B41FA5}">
                      <a16:colId xmlns:a16="http://schemas.microsoft.com/office/drawing/2014/main" val="3882139002"/>
                    </a:ext>
                  </a:extLst>
                </a:gridCol>
                <a:gridCol w="6797040">
                  <a:extLst>
                    <a:ext uri="{9D8B030D-6E8A-4147-A177-3AD203B41FA5}">
                      <a16:colId xmlns:a16="http://schemas.microsoft.com/office/drawing/2014/main" val="4234293058"/>
                    </a:ext>
                  </a:extLst>
                </a:gridCol>
              </a:tblGrid>
              <a:tr h="658642">
                <a:tc>
                  <a:txBody>
                    <a:bodyPr/>
                    <a:lstStyle/>
                    <a:p>
                      <a:pPr algn="ctr"/>
                      <a:r>
                        <a:rPr lang="en-SG" sz="2000" b="0" dirty="0">
                          <a:solidFill>
                            <a:schemeClr val="tx1"/>
                          </a:solidFill>
                        </a:rPr>
                        <a:t>Original </a:t>
                      </a:r>
                    </a:p>
                  </a:txBody>
                  <a:tcPr marL="18288" marR="18288" marT="91440" marB="91440">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solidFill>
                            <a:schemeClr val="tx1"/>
                          </a:solidFill>
                          <a:latin typeface="+mn-lt"/>
                        </a:rPr>
                        <a:t>PURCHASE </a:t>
                      </a:r>
                      <a:r>
                        <a:rPr lang="en-GB" sz="2000" b="0" dirty="0">
                          <a:solidFill>
                            <a:schemeClr val="tx1"/>
                          </a:solidFill>
                          <a:latin typeface="+mn-lt"/>
                        </a:rPr>
                        <a:t>(</a:t>
                      </a:r>
                      <a:r>
                        <a:rPr lang="en-GB" sz="2000" b="0" dirty="0" err="1">
                          <a:solidFill>
                            <a:schemeClr val="tx1"/>
                          </a:solidFill>
                          <a:latin typeface="+mn-lt"/>
                        </a:rPr>
                        <a:t>PartNo</a:t>
                      </a:r>
                      <a:r>
                        <a:rPr lang="en-GB" sz="2000" b="0" dirty="0">
                          <a:solidFill>
                            <a:schemeClr val="tx1"/>
                          </a:solidFill>
                          <a:latin typeface="+mn-lt"/>
                        </a:rPr>
                        <a:t>, </a:t>
                      </a:r>
                      <a:r>
                        <a:rPr lang="en-GB" sz="2000" b="0" dirty="0" err="1">
                          <a:solidFill>
                            <a:schemeClr val="tx1"/>
                          </a:solidFill>
                          <a:latin typeface="+mn-lt"/>
                        </a:rPr>
                        <a:t>PartDesc</a:t>
                      </a:r>
                      <a:r>
                        <a:rPr lang="en-GB" sz="2000" b="0" dirty="0">
                          <a:solidFill>
                            <a:schemeClr val="tx1"/>
                          </a:solidFill>
                          <a:latin typeface="+mn-lt"/>
                        </a:rPr>
                        <a:t>, </a:t>
                      </a:r>
                      <a:r>
                        <a:rPr lang="en-GB" sz="2000" b="0" dirty="0" err="1">
                          <a:solidFill>
                            <a:schemeClr val="tx1"/>
                          </a:solidFill>
                          <a:latin typeface="+mn-lt"/>
                        </a:rPr>
                        <a:t>SuppNo</a:t>
                      </a:r>
                      <a:r>
                        <a:rPr lang="en-GB" sz="2000" b="0" dirty="0">
                          <a:solidFill>
                            <a:schemeClr val="tx1"/>
                          </a:solidFill>
                          <a:latin typeface="+mn-lt"/>
                        </a:rPr>
                        <a:t>, </a:t>
                      </a:r>
                      <a:r>
                        <a:rPr lang="en-GB" sz="2000" b="0" dirty="0" err="1">
                          <a:solidFill>
                            <a:schemeClr val="tx1"/>
                          </a:solidFill>
                          <a:latin typeface="+mn-lt"/>
                        </a:rPr>
                        <a:t>SuppName</a:t>
                      </a:r>
                      <a:r>
                        <a:rPr lang="en-GB" sz="2000" b="0" dirty="0">
                          <a:solidFill>
                            <a:schemeClr val="tx1"/>
                          </a:solidFill>
                          <a:latin typeface="+mn-lt"/>
                        </a:rPr>
                        <a:t>, </a:t>
                      </a:r>
                      <a:r>
                        <a:rPr lang="en-GB" sz="2000" b="0" dirty="0" err="1">
                          <a:solidFill>
                            <a:schemeClr val="tx1"/>
                          </a:solidFill>
                          <a:latin typeface="+mn-lt"/>
                        </a:rPr>
                        <a:t>SuppAddr</a:t>
                      </a:r>
                      <a:r>
                        <a:rPr lang="en-GB" sz="2000" b="0" dirty="0">
                          <a:solidFill>
                            <a:schemeClr val="tx1"/>
                          </a:solidFill>
                          <a:latin typeface="+mn-lt"/>
                        </a:rPr>
                        <a:t>, Cost, </a:t>
                      </a:r>
                      <a:r>
                        <a:rPr lang="en-GB" sz="2000" b="0" dirty="0" smtClean="0">
                          <a:solidFill>
                            <a:schemeClr val="tx1"/>
                          </a:solidFill>
                          <a:latin typeface="+mn-lt"/>
                        </a:rPr>
                        <a:t>Store, </a:t>
                      </a:r>
                      <a:r>
                        <a:rPr lang="en-GB" sz="2000" b="0" dirty="0">
                          <a:solidFill>
                            <a:schemeClr val="tx1"/>
                          </a:solidFill>
                          <a:latin typeface="+mn-lt"/>
                        </a:rPr>
                        <a:t>Phone</a:t>
                      </a:r>
                      <a:r>
                        <a:rPr lang="en-GB" sz="2000" b="0" dirty="0" smtClean="0">
                          <a:solidFill>
                            <a:schemeClr val="tx1"/>
                          </a:solidFill>
                          <a:latin typeface="+mn-lt"/>
                        </a:rPr>
                        <a:t>)</a:t>
                      </a:r>
                      <a:endParaRPr lang="en-US" sz="2000" b="0" dirty="0">
                        <a:solidFill>
                          <a:schemeClr val="tx1"/>
                        </a:solidFill>
                        <a:latin typeface="+mn-lt"/>
                      </a:endParaRPr>
                    </a:p>
                  </a:txBody>
                  <a:tcPr marL="18288" marR="18288" marT="91440" marB="91440">
                    <a:solidFill>
                      <a:srgbClr val="FFFF00"/>
                    </a:solidFill>
                  </a:tcPr>
                </a:tc>
                <a:extLst>
                  <a:ext uri="{0D108BD9-81ED-4DB2-BD59-A6C34878D82A}">
                    <a16:rowId xmlns:a16="http://schemas.microsoft.com/office/drawing/2014/main" val="2436930064"/>
                  </a:ext>
                </a:extLst>
              </a:tr>
              <a:tr h="658642">
                <a:tc>
                  <a:txBody>
                    <a:bodyPr/>
                    <a:lstStyle/>
                    <a:p>
                      <a:pPr algn="ctr"/>
                      <a:r>
                        <a:rPr lang="en-SG" sz="2000" dirty="0"/>
                        <a:t>1NF</a:t>
                      </a:r>
                    </a:p>
                  </a:txBody>
                  <a:tcPr marL="18288" marR="18288" marT="91440" marB="9144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latin typeface="+mn-lt"/>
                        </a:rPr>
                        <a:t>PURCHASE(</a:t>
                      </a:r>
                      <a:r>
                        <a:rPr lang="en-GB" sz="2000" b="1" dirty="0">
                          <a:latin typeface="+mn-lt"/>
                        </a:rPr>
                        <a:t> </a:t>
                      </a:r>
                      <a:r>
                        <a:rPr lang="en-GB" sz="2000" b="0" u="sng" dirty="0" err="1">
                          <a:solidFill>
                            <a:srgbClr val="FF0000"/>
                          </a:solidFill>
                          <a:latin typeface="+mn-lt"/>
                        </a:rPr>
                        <a:t>PartNo</a:t>
                      </a:r>
                      <a:r>
                        <a:rPr lang="en-GB" sz="2000" dirty="0">
                          <a:latin typeface="+mn-lt"/>
                        </a:rPr>
                        <a:t>, </a:t>
                      </a:r>
                      <a:r>
                        <a:rPr lang="en-GB" sz="2000" dirty="0" err="1">
                          <a:latin typeface="+mn-lt"/>
                        </a:rPr>
                        <a:t>PartDesc</a:t>
                      </a:r>
                      <a:r>
                        <a:rPr lang="en-GB" sz="2000" dirty="0">
                          <a:latin typeface="+mn-lt"/>
                        </a:rPr>
                        <a:t>, </a:t>
                      </a:r>
                      <a:r>
                        <a:rPr lang="en-GB" sz="2000" b="0" u="sng" dirty="0" err="1">
                          <a:solidFill>
                            <a:srgbClr val="FF0000"/>
                          </a:solidFill>
                          <a:latin typeface="+mn-lt"/>
                        </a:rPr>
                        <a:t>SuppNo</a:t>
                      </a:r>
                      <a:r>
                        <a:rPr lang="en-GB" sz="2000" dirty="0">
                          <a:latin typeface="+mn-lt"/>
                        </a:rPr>
                        <a:t>, </a:t>
                      </a:r>
                      <a:r>
                        <a:rPr lang="en-GB" sz="2000" dirty="0" err="1">
                          <a:latin typeface="+mn-lt"/>
                        </a:rPr>
                        <a:t>SuppName</a:t>
                      </a:r>
                      <a:r>
                        <a:rPr lang="en-GB" sz="2000" dirty="0">
                          <a:latin typeface="+mn-lt"/>
                        </a:rPr>
                        <a:t>, </a:t>
                      </a:r>
                      <a:r>
                        <a:rPr lang="en-GB" sz="2000" dirty="0" err="1">
                          <a:latin typeface="+mn-lt"/>
                        </a:rPr>
                        <a:t>SuppAddr</a:t>
                      </a:r>
                      <a:r>
                        <a:rPr lang="en-GB" sz="2000" dirty="0">
                          <a:latin typeface="+mn-lt"/>
                        </a:rPr>
                        <a:t>, Cost, </a:t>
                      </a:r>
                      <a:r>
                        <a:rPr lang="en-GB" sz="2000" dirty="0" smtClean="0">
                          <a:latin typeface="+mn-lt"/>
                        </a:rPr>
                        <a:t>Store, </a:t>
                      </a:r>
                      <a:r>
                        <a:rPr lang="en-GB" sz="2000" dirty="0">
                          <a:latin typeface="+mn-lt"/>
                        </a:rPr>
                        <a:t>Phone</a:t>
                      </a:r>
                      <a:r>
                        <a:rPr lang="en-GB" sz="2000" dirty="0" smtClean="0">
                          <a:latin typeface="+mn-lt"/>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mn-lt"/>
                      </a:endParaRPr>
                    </a:p>
                  </a:txBody>
                  <a:tcPr marL="18288" marR="18288" marT="91440" marB="91440"/>
                </a:tc>
                <a:extLst>
                  <a:ext uri="{0D108BD9-81ED-4DB2-BD59-A6C34878D82A}">
                    <a16:rowId xmlns:a16="http://schemas.microsoft.com/office/drawing/2014/main" val="3772828845"/>
                  </a:ext>
                </a:extLst>
              </a:tr>
              <a:tr h="658642">
                <a:tc>
                  <a:txBody>
                    <a:bodyPr/>
                    <a:lstStyle/>
                    <a:p>
                      <a:pPr algn="ctr"/>
                      <a:r>
                        <a:rPr lang="en-SG" sz="2000" dirty="0"/>
                        <a:t>2NF</a:t>
                      </a:r>
                    </a:p>
                  </a:txBody>
                  <a:tcPr marL="18288" marR="18288" marT="91440" marB="9144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smtClean="0">
                          <a:latin typeface="+mn-lt"/>
                        </a:rPr>
                        <a:t>PURCHASE(</a:t>
                      </a:r>
                      <a:r>
                        <a:rPr lang="en-GB" sz="2000" b="1" dirty="0" smtClean="0">
                          <a:latin typeface="+mn-lt"/>
                        </a:rPr>
                        <a:t> </a:t>
                      </a:r>
                      <a:r>
                        <a:rPr lang="en-GB" sz="2000" b="0" u="sng" dirty="0" err="1" smtClean="0">
                          <a:solidFill>
                            <a:srgbClr val="FF0000"/>
                          </a:solidFill>
                          <a:latin typeface="+mn-lt"/>
                        </a:rPr>
                        <a:t>PartNo</a:t>
                      </a:r>
                      <a:r>
                        <a:rPr lang="en-GB" sz="2000" dirty="0" smtClean="0">
                          <a:latin typeface="+mn-lt"/>
                        </a:rPr>
                        <a:t>, </a:t>
                      </a:r>
                      <a:r>
                        <a:rPr lang="en-GB" sz="2000" b="0" u="sng" dirty="0" err="1" smtClean="0">
                          <a:solidFill>
                            <a:srgbClr val="FF0000"/>
                          </a:solidFill>
                          <a:latin typeface="+mn-lt"/>
                        </a:rPr>
                        <a:t>SuppNo</a:t>
                      </a:r>
                      <a:r>
                        <a:rPr lang="en-GB" sz="2000" dirty="0" smtClean="0">
                          <a:latin typeface="+mn-lt"/>
                        </a:rPr>
                        <a:t>, Cost )</a:t>
                      </a:r>
                    </a:p>
                    <a:p>
                      <a:pPr marL="0" marR="0" lvl="0" indent="0" algn="l" defTabSz="914400" rtl="0" eaLnBrk="1" fontAlgn="auto" latinLnBrk="0" hangingPunct="1">
                        <a:lnSpc>
                          <a:spcPct val="100000"/>
                        </a:lnSpc>
                        <a:spcBef>
                          <a:spcPts val="1200"/>
                        </a:spcBef>
                        <a:spcAft>
                          <a:spcPts val="0"/>
                        </a:spcAft>
                        <a:buClrTx/>
                        <a:buSzTx/>
                        <a:buFontTx/>
                        <a:buNone/>
                        <a:tabLst/>
                        <a:defRPr/>
                      </a:pPr>
                      <a:r>
                        <a:rPr lang="en-GB" sz="2000" dirty="0" smtClean="0">
                          <a:latin typeface="+mn-lt"/>
                        </a:rPr>
                        <a:t>PART(</a:t>
                      </a:r>
                      <a:r>
                        <a:rPr lang="en-GB" sz="2000" b="1" dirty="0" smtClean="0">
                          <a:latin typeface="+mn-lt"/>
                        </a:rPr>
                        <a:t> </a:t>
                      </a:r>
                      <a:r>
                        <a:rPr lang="en-GB" sz="2000" b="0" u="sng" dirty="0" err="1" smtClean="0">
                          <a:solidFill>
                            <a:srgbClr val="FF0000"/>
                          </a:solidFill>
                          <a:latin typeface="+mn-lt"/>
                        </a:rPr>
                        <a:t>PartNo</a:t>
                      </a:r>
                      <a:r>
                        <a:rPr lang="en-GB" sz="2000" dirty="0" smtClean="0">
                          <a:latin typeface="+mn-lt"/>
                        </a:rPr>
                        <a:t>, </a:t>
                      </a:r>
                      <a:r>
                        <a:rPr lang="en-GB" sz="2000" dirty="0" err="1" smtClean="0">
                          <a:latin typeface="+mn-lt"/>
                        </a:rPr>
                        <a:t>PartDesc</a:t>
                      </a:r>
                      <a:r>
                        <a:rPr lang="en-GB" sz="2000" dirty="0" smtClean="0">
                          <a:latin typeface="+mn-lt"/>
                        </a:rPr>
                        <a:t>,</a:t>
                      </a:r>
                      <a:r>
                        <a:rPr lang="en-GB" sz="2000" baseline="0" dirty="0" smtClean="0">
                          <a:latin typeface="+mn-lt"/>
                        </a:rPr>
                        <a:t> Store, </a:t>
                      </a:r>
                      <a:r>
                        <a:rPr lang="en-GB" sz="2000" strike="noStrike" baseline="0" dirty="0" smtClean="0">
                          <a:solidFill>
                            <a:schemeClr val="tx1"/>
                          </a:solidFill>
                          <a:latin typeface="+mn-lt"/>
                        </a:rPr>
                        <a:t>Phone</a:t>
                      </a:r>
                      <a:r>
                        <a:rPr lang="en-GB" sz="2000" dirty="0" smtClean="0">
                          <a:latin typeface="+mn-lt"/>
                        </a:rPr>
                        <a:t> )</a:t>
                      </a:r>
                      <a:endParaRPr lang="en-US" sz="2000" dirty="0" smtClean="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smtClean="0">
                          <a:latin typeface="+mn-lt"/>
                        </a:rPr>
                        <a:t>SUPPLIER(</a:t>
                      </a:r>
                      <a:r>
                        <a:rPr lang="en-GB" sz="2000" b="1" dirty="0" smtClean="0">
                          <a:latin typeface="+mn-lt"/>
                        </a:rPr>
                        <a:t> </a:t>
                      </a:r>
                      <a:r>
                        <a:rPr lang="en-GB" sz="2000" b="0" u="sng" dirty="0" err="1" smtClean="0">
                          <a:solidFill>
                            <a:srgbClr val="FF0000"/>
                          </a:solidFill>
                          <a:latin typeface="+mn-lt"/>
                        </a:rPr>
                        <a:t>SuppNo</a:t>
                      </a:r>
                      <a:r>
                        <a:rPr lang="en-GB" sz="2000" dirty="0" smtClean="0">
                          <a:latin typeface="+mn-lt"/>
                        </a:rPr>
                        <a:t>, </a:t>
                      </a:r>
                      <a:r>
                        <a:rPr lang="en-GB" sz="2000" dirty="0" err="1" smtClean="0">
                          <a:latin typeface="+mn-lt"/>
                        </a:rPr>
                        <a:t>SuppName</a:t>
                      </a:r>
                      <a:r>
                        <a:rPr lang="en-GB" sz="2000" dirty="0" smtClean="0">
                          <a:latin typeface="+mn-lt"/>
                        </a:rPr>
                        <a:t>, </a:t>
                      </a:r>
                      <a:r>
                        <a:rPr lang="en-GB" sz="2000" dirty="0" err="1" smtClean="0">
                          <a:latin typeface="+mn-lt"/>
                        </a:rPr>
                        <a:t>SuppAddr</a:t>
                      </a:r>
                      <a:r>
                        <a:rPr lang="en-GB" sz="2000" dirty="0" smtClean="0">
                          <a:latin typeface="+mn-lt"/>
                        </a:rPr>
                        <a:t> )</a:t>
                      </a:r>
                      <a:endParaRPr lang="en-US" sz="2000" dirty="0" smtClean="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mn-lt"/>
                      </a:endParaRPr>
                    </a:p>
                  </a:txBody>
                  <a:tcPr marL="18288" marR="18288" marT="91440" marB="91440"/>
                </a:tc>
                <a:extLst>
                  <a:ext uri="{0D108BD9-81ED-4DB2-BD59-A6C34878D82A}">
                    <a16:rowId xmlns:a16="http://schemas.microsoft.com/office/drawing/2014/main" val="4251656442"/>
                  </a:ext>
                </a:extLst>
              </a:tr>
              <a:tr h="658642">
                <a:tc>
                  <a:txBody>
                    <a:bodyPr/>
                    <a:lstStyle/>
                    <a:p>
                      <a:pPr algn="ctr"/>
                      <a:r>
                        <a:rPr lang="en-SG" sz="2000" dirty="0"/>
                        <a:t>3NF</a:t>
                      </a:r>
                    </a:p>
                  </a:txBody>
                  <a:tcPr marL="18288" marR="18288" marT="91440" marB="9144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smtClean="0">
                          <a:latin typeface="+mn-lt"/>
                        </a:rPr>
                        <a:t>PURCHASE(</a:t>
                      </a:r>
                      <a:r>
                        <a:rPr lang="en-GB" sz="2000" b="1" dirty="0" smtClean="0">
                          <a:latin typeface="+mn-lt"/>
                        </a:rPr>
                        <a:t> </a:t>
                      </a:r>
                      <a:r>
                        <a:rPr lang="en-GB" sz="2000" b="0" u="sng" dirty="0" err="1" smtClean="0">
                          <a:solidFill>
                            <a:srgbClr val="FF0000"/>
                          </a:solidFill>
                          <a:latin typeface="+mn-lt"/>
                        </a:rPr>
                        <a:t>PartNo</a:t>
                      </a:r>
                      <a:r>
                        <a:rPr lang="en-GB" sz="2000" dirty="0" smtClean="0">
                          <a:latin typeface="+mn-lt"/>
                        </a:rPr>
                        <a:t>, </a:t>
                      </a:r>
                      <a:r>
                        <a:rPr lang="en-GB" sz="2000" b="0" u="sng" dirty="0" err="1" smtClean="0">
                          <a:solidFill>
                            <a:srgbClr val="FF0000"/>
                          </a:solidFill>
                          <a:latin typeface="+mn-lt"/>
                        </a:rPr>
                        <a:t>SuppNo</a:t>
                      </a:r>
                      <a:r>
                        <a:rPr lang="en-GB" sz="2000" dirty="0" smtClean="0">
                          <a:latin typeface="+mn-lt"/>
                        </a:rPr>
                        <a:t>, Cost )</a:t>
                      </a:r>
                    </a:p>
                    <a:p>
                      <a:pPr marL="0" marR="0" lvl="0" indent="0" algn="l" defTabSz="914400" rtl="0" eaLnBrk="1" fontAlgn="auto" latinLnBrk="0" hangingPunct="1">
                        <a:lnSpc>
                          <a:spcPct val="100000"/>
                        </a:lnSpc>
                        <a:spcBef>
                          <a:spcPts val="1200"/>
                        </a:spcBef>
                        <a:spcAft>
                          <a:spcPts val="0"/>
                        </a:spcAft>
                        <a:buClrTx/>
                        <a:buSzTx/>
                        <a:buFontTx/>
                        <a:buNone/>
                        <a:tabLst/>
                        <a:defRPr/>
                      </a:pPr>
                      <a:r>
                        <a:rPr lang="en-GB" sz="2000" dirty="0" smtClean="0">
                          <a:latin typeface="+mn-lt"/>
                        </a:rPr>
                        <a:t>PART(</a:t>
                      </a:r>
                      <a:r>
                        <a:rPr lang="en-GB" sz="2000" b="1" dirty="0" smtClean="0">
                          <a:latin typeface="+mn-lt"/>
                        </a:rPr>
                        <a:t> </a:t>
                      </a:r>
                      <a:r>
                        <a:rPr lang="en-GB" sz="2000" b="0" u="sng" dirty="0" err="1" smtClean="0">
                          <a:solidFill>
                            <a:srgbClr val="FF0000"/>
                          </a:solidFill>
                          <a:latin typeface="+mn-lt"/>
                        </a:rPr>
                        <a:t>PartNo</a:t>
                      </a:r>
                      <a:r>
                        <a:rPr lang="en-GB" sz="2000" dirty="0" smtClean="0">
                          <a:latin typeface="+mn-lt"/>
                        </a:rPr>
                        <a:t>, </a:t>
                      </a:r>
                      <a:r>
                        <a:rPr lang="en-GB" sz="2000" dirty="0" err="1" smtClean="0">
                          <a:latin typeface="+mn-lt"/>
                        </a:rPr>
                        <a:t>PartDesc</a:t>
                      </a:r>
                      <a:r>
                        <a:rPr lang="en-GB" sz="2000" dirty="0" smtClean="0">
                          <a:latin typeface="+mn-lt"/>
                        </a:rPr>
                        <a:t>,</a:t>
                      </a:r>
                      <a:r>
                        <a:rPr lang="en-GB" sz="2000" baseline="0" dirty="0" smtClean="0">
                          <a:latin typeface="+mn-lt"/>
                        </a:rPr>
                        <a:t> Store, </a:t>
                      </a:r>
                      <a:r>
                        <a:rPr lang="en-GB" sz="2000" strike="sngStrike" baseline="0" dirty="0" smtClean="0">
                          <a:solidFill>
                            <a:srgbClr val="0070C0"/>
                          </a:solidFill>
                          <a:latin typeface="+mn-lt"/>
                        </a:rPr>
                        <a:t>Phone</a:t>
                      </a:r>
                      <a:r>
                        <a:rPr lang="en-GB" sz="2000" dirty="0" smtClean="0">
                          <a:latin typeface="+mn-lt"/>
                        </a:rPr>
                        <a:t> )</a:t>
                      </a:r>
                      <a:endParaRPr lang="en-US" sz="2000" dirty="0" smtClean="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smtClean="0">
                          <a:latin typeface="+mn-lt"/>
                        </a:rPr>
                        <a:t>SUPPLIER(</a:t>
                      </a:r>
                      <a:r>
                        <a:rPr lang="en-GB" sz="2000" b="1" dirty="0" smtClean="0">
                          <a:latin typeface="+mn-lt"/>
                        </a:rPr>
                        <a:t> </a:t>
                      </a:r>
                      <a:r>
                        <a:rPr lang="en-GB" sz="2000" b="0" u="sng" dirty="0" err="1" smtClean="0">
                          <a:solidFill>
                            <a:srgbClr val="FF0000"/>
                          </a:solidFill>
                          <a:latin typeface="+mn-lt"/>
                        </a:rPr>
                        <a:t>SuppNo</a:t>
                      </a:r>
                      <a:r>
                        <a:rPr lang="en-GB" sz="2000" dirty="0" smtClean="0">
                          <a:latin typeface="+mn-lt"/>
                        </a:rPr>
                        <a:t>, </a:t>
                      </a:r>
                      <a:r>
                        <a:rPr lang="en-GB" sz="2000" dirty="0" err="1" smtClean="0">
                          <a:latin typeface="+mn-lt"/>
                        </a:rPr>
                        <a:t>SuppName</a:t>
                      </a:r>
                      <a:r>
                        <a:rPr lang="en-GB" sz="2000" dirty="0" smtClean="0">
                          <a:latin typeface="+mn-lt"/>
                        </a:rPr>
                        <a:t>, </a:t>
                      </a:r>
                      <a:r>
                        <a:rPr lang="en-GB" sz="2000" dirty="0" err="1" smtClean="0">
                          <a:latin typeface="+mn-lt"/>
                        </a:rPr>
                        <a:t>SuppAddr</a:t>
                      </a:r>
                      <a:r>
                        <a:rPr lang="en-GB" sz="2000" dirty="0" smtClean="0">
                          <a:latin typeface="+mn-lt"/>
                        </a:rPr>
                        <a:t> )</a:t>
                      </a:r>
                      <a:endParaRPr lang="en-US" sz="2000" dirty="0" smtClean="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smtClean="0">
                          <a:ln>
                            <a:noFill/>
                          </a:ln>
                          <a:solidFill>
                            <a:prstClr val="black"/>
                          </a:solidFill>
                          <a:effectLst/>
                          <a:uLnTx/>
                          <a:uFillTx/>
                          <a:latin typeface="+mn-lt"/>
                          <a:ea typeface="+mn-ea"/>
                          <a:cs typeface="+mn-cs"/>
                        </a:rPr>
                        <a:t>STORE(</a:t>
                      </a:r>
                      <a:r>
                        <a:rPr kumimoji="0" lang="en-GB" sz="2000" b="1" i="0" u="none" strike="noStrike" kern="1200" cap="none" spc="0" normalizeH="0" baseline="0" noProof="0" dirty="0" smtClean="0">
                          <a:ln>
                            <a:noFill/>
                          </a:ln>
                          <a:solidFill>
                            <a:prstClr val="black"/>
                          </a:solidFill>
                          <a:effectLst/>
                          <a:uLnTx/>
                          <a:uFillTx/>
                          <a:latin typeface="+mn-lt"/>
                          <a:ea typeface="+mn-ea"/>
                          <a:cs typeface="+mn-cs"/>
                        </a:rPr>
                        <a:t> </a:t>
                      </a:r>
                      <a:r>
                        <a:rPr kumimoji="0" lang="en-GB" sz="2000" b="0" i="0" u="sng" strike="noStrike" kern="1200" cap="none" spc="0" normalizeH="0" baseline="0" noProof="0" dirty="0" smtClean="0">
                          <a:ln>
                            <a:noFill/>
                          </a:ln>
                          <a:solidFill>
                            <a:srgbClr val="FF0000"/>
                          </a:solidFill>
                          <a:effectLst/>
                          <a:uLnTx/>
                          <a:uFillTx/>
                          <a:latin typeface="+mn-lt"/>
                          <a:ea typeface="+mn-ea"/>
                          <a:cs typeface="+mn-cs"/>
                        </a:rPr>
                        <a:t>Store</a:t>
                      </a:r>
                      <a:r>
                        <a:rPr kumimoji="0" lang="en-GB" sz="2000" b="0" i="0" u="none" strike="noStrike" kern="1200" cap="none" spc="0" normalizeH="0" baseline="0" noProof="0" dirty="0" smtClean="0">
                          <a:ln>
                            <a:noFill/>
                          </a:ln>
                          <a:solidFill>
                            <a:prstClr val="black"/>
                          </a:solidFill>
                          <a:effectLst/>
                          <a:uLnTx/>
                          <a:uFillTx/>
                          <a:latin typeface="+mn-lt"/>
                          <a:ea typeface="+mn-ea"/>
                          <a:cs typeface="+mn-cs"/>
                        </a:rPr>
                        <a:t>, Phone )</a:t>
                      </a:r>
                      <a:endParaRPr kumimoji="0" lang="en-US" sz="2000" b="0" i="0" u="none" strike="noStrike" kern="1200" cap="none" spc="0" normalizeH="0" baseline="0" noProof="0" dirty="0" smtClean="0">
                        <a:ln>
                          <a:noFill/>
                        </a:ln>
                        <a:solidFill>
                          <a:prstClr val="black"/>
                        </a:solidFill>
                        <a:effectLst/>
                        <a:uLnTx/>
                        <a:uFillTx/>
                        <a:latin typeface="+mn-lt"/>
                        <a:ea typeface="+mn-ea"/>
                        <a:cs typeface="+mn-cs"/>
                      </a:endParaRPr>
                    </a:p>
                    <a:p>
                      <a:endParaRPr lang="en-SG" sz="2000" dirty="0"/>
                    </a:p>
                  </a:txBody>
                  <a:tcPr marL="18288" marR="18288" marT="91440" marB="91440"/>
                </a:tc>
                <a:extLst>
                  <a:ext uri="{0D108BD9-81ED-4DB2-BD59-A6C34878D82A}">
                    <a16:rowId xmlns:a16="http://schemas.microsoft.com/office/drawing/2014/main" val="1453198187"/>
                  </a:ext>
                </a:extLst>
              </a:tr>
            </a:tbl>
          </a:graphicData>
        </a:graphic>
      </p:graphicFrame>
      <p:sp>
        <p:nvSpPr>
          <p:cNvPr id="4" name="TextBox 3">
            <a:extLst>
              <a:ext uri="{FF2B5EF4-FFF2-40B4-BE49-F238E27FC236}">
                <a16:creationId xmlns:a16="http://schemas.microsoft.com/office/drawing/2014/main" id="{1052B980-E84A-4D95-905A-D4F72B2C330E}"/>
              </a:ext>
            </a:extLst>
          </p:cNvPr>
          <p:cNvSpPr txBox="1"/>
          <p:nvPr/>
        </p:nvSpPr>
        <p:spPr>
          <a:xfrm>
            <a:off x="2590800" y="6019800"/>
            <a:ext cx="457200" cy="274320"/>
          </a:xfrm>
          <a:prstGeom prst="rect">
            <a:avLst/>
          </a:prstGeom>
          <a:noFill/>
        </p:spPr>
        <p:txBody>
          <a:bodyPr wrap="square" lIns="18288" tIns="18288" rIns="18288" bIns="18288" rtlCol="0">
            <a:spAutoFit/>
          </a:bodyPr>
          <a:lstStyle/>
          <a:p>
            <a:pPr algn="ctr"/>
            <a:r>
              <a:rPr lang="en-US" sz="1600" dirty="0">
                <a:latin typeface="Calibri" pitchFamily="34" charset="0"/>
              </a:rPr>
              <a:t>(PK)</a:t>
            </a:r>
            <a:endParaRPr lang="en-SG" sz="1600" dirty="0"/>
          </a:p>
        </p:txBody>
      </p:sp>
      <p:sp>
        <p:nvSpPr>
          <p:cNvPr id="5" name="TextBox 4">
            <a:extLst>
              <a:ext uri="{FF2B5EF4-FFF2-40B4-BE49-F238E27FC236}">
                <a16:creationId xmlns:a16="http://schemas.microsoft.com/office/drawing/2014/main" id="{1052B980-E84A-4D95-905A-D4F72B2C330E}"/>
              </a:ext>
            </a:extLst>
          </p:cNvPr>
          <p:cNvSpPr txBox="1"/>
          <p:nvPr/>
        </p:nvSpPr>
        <p:spPr>
          <a:xfrm>
            <a:off x="4389120" y="4953000"/>
            <a:ext cx="457200" cy="283154"/>
          </a:xfrm>
          <a:prstGeom prst="rect">
            <a:avLst/>
          </a:prstGeom>
          <a:noFill/>
        </p:spPr>
        <p:txBody>
          <a:bodyPr wrap="square" lIns="18288" tIns="18288" rIns="18288" bIns="18288" rtlCol="0">
            <a:spAutoFit/>
          </a:bodyPr>
          <a:lstStyle/>
          <a:p>
            <a:pPr algn="ctr"/>
            <a:r>
              <a:rPr lang="en-US" sz="1600" dirty="0" smtClean="0">
                <a:latin typeface="Calibri" pitchFamily="34" charset="0"/>
              </a:rPr>
              <a:t>(FK</a:t>
            </a:r>
            <a:r>
              <a:rPr lang="en-US" sz="1600" dirty="0">
                <a:latin typeface="Calibri" pitchFamily="34" charset="0"/>
              </a:rPr>
              <a:t>)</a:t>
            </a:r>
            <a:endParaRPr lang="en-SG" sz="1600" dirty="0"/>
          </a:p>
        </p:txBody>
      </p:sp>
    </p:spTree>
    <p:extLst>
      <p:ext uri="{BB962C8B-B14F-4D97-AF65-F5344CB8AC3E}">
        <p14:creationId xmlns:p14="http://schemas.microsoft.com/office/powerpoint/2010/main" val="143228955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0" y="2514599"/>
            <a:ext cx="5852160" cy="356616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lIns="182880" tIns="457200" rIns="182880" bIns="45720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1" name="TextBox 8"/>
          <p:cNvSpPr txBox="1">
            <a:spLocks noChangeArrowheads="1"/>
          </p:cNvSpPr>
          <p:nvPr/>
        </p:nvSpPr>
        <p:spPr bwMode="auto">
          <a:xfrm>
            <a:off x="1144588" y="3615394"/>
            <a:ext cx="4721225" cy="461962"/>
          </a:xfrm>
          <a:prstGeom prst="rect">
            <a:avLst/>
          </a:prstGeom>
          <a:noFill/>
          <a:ln w="9525">
            <a:noFill/>
            <a:miter lim="800000"/>
            <a:headEnd/>
            <a:tailEnd/>
          </a:ln>
        </p:spPr>
        <p:txBody>
          <a:bodyPr lIns="45720" rIns="4572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PURCHASE ( </a:t>
            </a:r>
            <a:r>
              <a:rPr kumimoji="0" lang="en-GB" sz="2400" b="1" i="0" u="sng" strike="noStrike" kern="1200" cap="none" spc="0" normalizeH="0" baseline="0" noProof="0" dirty="0" err="1">
                <a:ln>
                  <a:noFill/>
                </a:ln>
                <a:solidFill>
                  <a:srgbClr val="FF0000"/>
                </a:solidFill>
                <a:effectLst/>
                <a:uLnTx/>
                <a:uFillTx/>
                <a:latin typeface="Calibri"/>
                <a:ea typeface="+mn-ea"/>
                <a:cs typeface="+mn-cs"/>
              </a:rPr>
              <a:t>PartNo</a:t>
            </a:r>
            <a:r>
              <a:rPr kumimoji="0" lang="en-GB" sz="2400" b="0" i="0" u="sng" strike="noStrike" kern="1200" cap="none" spc="0" normalizeH="0" baseline="0" noProof="0" dirty="0">
                <a:ln>
                  <a:noFill/>
                </a:ln>
                <a:solidFill>
                  <a:srgbClr val="FF0000"/>
                </a:solidFill>
                <a:effectLst/>
                <a:uLnTx/>
                <a:uFillTx/>
                <a:latin typeface="Calibri"/>
                <a:ea typeface="+mn-ea"/>
                <a:cs typeface="+mn-cs"/>
              </a:rPr>
              <a:t>, </a:t>
            </a:r>
            <a:r>
              <a:rPr kumimoji="0" lang="en-GB" sz="2400" b="1" i="0" u="sng" strike="noStrike" kern="1200" cap="none" spc="0" normalizeH="0" baseline="0" noProof="0" dirty="0" err="1">
                <a:ln>
                  <a:noFill/>
                </a:ln>
                <a:solidFill>
                  <a:srgbClr val="FF0000"/>
                </a:solidFill>
                <a:effectLst/>
                <a:uLnTx/>
                <a:uFillTx/>
                <a:latin typeface="Calibri"/>
                <a:ea typeface="+mn-ea"/>
                <a:cs typeface="+mn-cs"/>
              </a:rPr>
              <a:t>SuppNo</a:t>
            </a:r>
            <a:r>
              <a:rPr kumimoji="0" lang="en-GB" sz="2400" b="0" i="0" u="sng" strike="noStrike" kern="1200" cap="none" spc="0" normalizeH="0" baseline="0" noProof="0" dirty="0">
                <a:ln>
                  <a:noFill/>
                </a:ln>
                <a:solidFill>
                  <a:srgbClr val="FF0000"/>
                </a:solidFill>
                <a:effectLst/>
                <a:uLnTx/>
                <a:uFillTx/>
                <a:latin typeface="Calibri"/>
                <a:ea typeface="+mn-ea"/>
                <a:cs typeface="+mn-cs"/>
              </a:rPr>
              <a:t> </a:t>
            </a:r>
            <a:r>
              <a:rPr kumimoji="0" lang="en-GB" sz="2400" b="0" i="0" u="none" strike="noStrike" kern="1200" cap="none" spc="0" normalizeH="0" baseline="0" noProof="0" dirty="0">
                <a:ln>
                  <a:noFill/>
                </a:ln>
                <a:solidFill>
                  <a:prstClr val="black"/>
                </a:solidFill>
                <a:effectLst/>
                <a:uLnTx/>
                <a:uFillTx/>
                <a:latin typeface="Calibri"/>
                <a:ea typeface="+mn-ea"/>
                <a:cs typeface="+mn-cs"/>
              </a:rPr>
              <a:t>, Cost )</a:t>
            </a: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42" name="TextBox 8"/>
          <p:cNvSpPr txBox="1">
            <a:spLocks noChangeArrowheads="1"/>
          </p:cNvSpPr>
          <p:nvPr/>
        </p:nvSpPr>
        <p:spPr bwMode="auto">
          <a:xfrm>
            <a:off x="1139825" y="4548844"/>
            <a:ext cx="4725988" cy="461962"/>
          </a:xfrm>
          <a:prstGeom prst="rect">
            <a:avLst/>
          </a:prstGeom>
          <a:noFill/>
          <a:ln w="9525">
            <a:noFill/>
            <a:miter lim="800000"/>
            <a:headEnd/>
            <a:tailEnd/>
          </a:ln>
        </p:spPr>
        <p:txBody>
          <a:bodyPr lIns="45720" rIns="4572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PART ( </a:t>
            </a:r>
            <a:r>
              <a:rPr kumimoji="0" lang="en-GB" sz="2400" b="1" i="0" u="sng" strike="noStrike" kern="1200" cap="none" spc="0" normalizeH="0" baseline="0" noProof="0" dirty="0" err="1">
                <a:ln>
                  <a:noFill/>
                </a:ln>
                <a:solidFill>
                  <a:srgbClr val="FF0000"/>
                </a:solidFill>
                <a:effectLst/>
                <a:uLnTx/>
                <a:uFillTx/>
                <a:latin typeface="Calibri"/>
                <a:ea typeface="+mn-ea"/>
                <a:cs typeface="+mn-cs"/>
              </a:rPr>
              <a:t>PartNo</a:t>
            </a:r>
            <a:r>
              <a:rPr kumimoji="0" lang="en-GB" sz="2400" b="0" i="0" u="none" strike="noStrike" kern="1200" cap="none" spc="0" normalizeH="0" baseline="0" noProof="0" dirty="0">
                <a:ln>
                  <a:noFill/>
                </a:ln>
                <a:solidFill>
                  <a:prstClr val="black"/>
                </a:solidFill>
                <a:effectLst/>
                <a:uLnTx/>
                <a:uFillTx/>
                <a:latin typeface="Calibri"/>
                <a:ea typeface="+mn-ea"/>
                <a:cs typeface="+mn-cs"/>
              </a:rPr>
              <a:t>, </a:t>
            </a:r>
            <a:r>
              <a:rPr kumimoji="0" lang="en-GB" sz="2400" b="0" i="0" u="none" strike="noStrike" kern="1200" cap="none" spc="0" normalizeH="0" baseline="0" noProof="0" dirty="0" err="1">
                <a:ln>
                  <a:noFill/>
                </a:ln>
                <a:solidFill>
                  <a:prstClr val="black"/>
                </a:solidFill>
                <a:effectLst/>
                <a:uLnTx/>
                <a:uFillTx/>
                <a:latin typeface="Calibri"/>
                <a:ea typeface="+mn-ea"/>
                <a:cs typeface="+mn-cs"/>
              </a:rPr>
              <a:t>PartDesc</a:t>
            </a:r>
            <a:r>
              <a:rPr kumimoji="0" lang="en-GB" sz="2400" b="0" i="0" u="none" strike="noStrike" kern="1200" cap="none" spc="0" normalizeH="0" baseline="0" noProof="0" dirty="0">
                <a:ln>
                  <a:noFill/>
                </a:ln>
                <a:solidFill>
                  <a:prstClr val="black"/>
                </a:solidFill>
                <a:effectLst/>
                <a:uLnTx/>
                <a:uFillTx/>
                <a:latin typeface="Calibri"/>
                <a:ea typeface="+mn-ea"/>
                <a:cs typeface="+mn-cs"/>
              </a:rPr>
              <a:t> , </a:t>
            </a: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Store)</a:t>
            </a: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5" name="Title 1"/>
          <p:cNvSpPr>
            <a:spLocks noGrp="1"/>
          </p:cNvSpPr>
          <p:nvPr>
            <p:ph type="ctrTitle" idx="4294967295"/>
          </p:nvPr>
        </p:nvSpPr>
        <p:spPr>
          <a:xfrm>
            <a:off x="685800" y="228600"/>
            <a:ext cx="4633247" cy="565146"/>
          </a:xfrm>
        </p:spPr>
        <p:txBody>
          <a:bodyPr wrap="none" lIns="36000" tIns="36000" rIns="36000" bIns="36000" anchor="t">
            <a:spAutoFit/>
          </a:bodyPr>
          <a:lstStyle/>
          <a:p>
            <a:pPr algn="l" eaLnBrk="1" hangingPunct="1">
              <a:defRPr/>
            </a:pPr>
            <a:r>
              <a:rPr lang="en-GB" sz="3200" b="1" dirty="0">
                <a:solidFill>
                  <a:srgbClr val="C00000"/>
                </a:solidFill>
                <a:latin typeface="+mn-lt"/>
              </a:rPr>
              <a:t>Mapping of Schemas (3NF)</a:t>
            </a:r>
            <a:endParaRPr lang="en-US" sz="3200" b="1" dirty="0">
              <a:solidFill>
                <a:schemeClr val="tx2">
                  <a:lumMod val="75000"/>
                </a:schemeClr>
              </a:solidFill>
              <a:latin typeface="+mn-lt"/>
            </a:endParaRPr>
          </a:p>
        </p:txBody>
      </p:sp>
      <p:sp>
        <p:nvSpPr>
          <p:cNvPr id="40965" name="Rectangle 12"/>
          <p:cNvSpPr>
            <a:spLocks noChangeArrowheads="1"/>
          </p:cNvSpPr>
          <p:nvPr/>
        </p:nvSpPr>
        <p:spPr bwMode="auto">
          <a:xfrm>
            <a:off x="762000" y="1905000"/>
            <a:ext cx="570752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rIns="45720" anchor="ctr">
            <a:spAutoFit/>
          </a:bodyPr>
          <a:lstStyle>
            <a:lvl1pPr marL="342900" indent="-342900" eaLnBrk="0" hangingPunct="0">
              <a:spcBef>
                <a:spcPct val="20000"/>
              </a:spcBef>
              <a:buFont typeface="Arial" charset="0"/>
              <a:buChar char="•"/>
              <a:defRPr sz="3200">
                <a:solidFill>
                  <a:schemeClr val="tx1"/>
                </a:solidFill>
                <a:latin typeface="Calibri" pitchFamily="34" charset="0"/>
              </a:defRPr>
            </a:lvl1pPr>
            <a:lvl2pPr marL="685800" indent="-68580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685800" marR="0" lvl="1" indent="-685800" algn="l" defTabSz="914400" rtl="0" eaLnBrk="1" fontAlgn="base" latinLnBrk="0" hangingPunct="1">
              <a:lnSpc>
                <a:spcPct val="100000"/>
              </a:lnSpc>
              <a:spcBef>
                <a:spcPct val="20000"/>
              </a:spcBef>
              <a:spcAft>
                <a:spcPct val="0"/>
              </a:spcAft>
              <a:buClrTx/>
              <a:buSzTx/>
              <a:buFont typeface="Wingdings" pitchFamily="2" charset="2"/>
              <a:buNone/>
              <a:tabLst/>
              <a:defRPr/>
            </a:pPr>
            <a:r>
              <a:rPr kumimoji="0" lang="en-US" altLang="zh-SG" sz="2800" b="0" i="0" u="none" strike="noStrike" kern="1200" cap="none" spc="0" normalizeH="0" baseline="0" noProof="0" dirty="0">
                <a:ln>
                  <a:noFill/>
                </a:ln>
                <a:solidFill>
                  <a:prstClr val="black"/>
                </a:solidFill>
                <a:effectLst/>
                <a:uLnTx/>
                <a:uFillTx/>
                <a:latin typeface="Calibri" pitchFamily="34" charset="0"/>
                <a:ea typeface="宋体" panose="02010600030101010101" pitchFamily="2" charset="-122"/>
                <a:cs typeface="+mn-cs"/>
              </a:rPr>
              <a:t>Mapping of normalized relations (3NF)</a:t>
            </a:r>
          </a:p>
        </p:txBody>
      </p:sp>
      <p:sp>
        <p:nvSpPr>
          <p:cNvPr id="43" name="TextBox 8"/>
          <p:cNvSpPr txBox="1">
            <a:spLocks noChangeArrowheads="1"/>
          </p:cNvSpPr>
          <p:nvPr/>
        </p:nvSpPr>
        <p:spPr bwMode="auto">
          <a:xfrm>
            <a:off x="1128713" y="2689881"/>
            <a:ext cx="5424487" cy="461963"/>
          </a:xfrm>
          <a:prstGeom prst="rect">
            <a:avLst/>
          </a:prstGeom>
          <a:noFill/>
          <a:ln w="9525">
            <a:noFill/>
            <a:miter lim="800000"/>
            <a:headEnd/>
            <a:tailEnd/>
          </a:ln>
        </p:spPr>
        <p:txBody>
          <a:bodyPr lIns="45720" rIns="4572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SUPPLIER</a:t>
            </a:r>
            <a:r>
              <a:rPr kumimoji="0" lang="en-GB" sz="2400" b="1" i="0" u="none" strike="noStrike" kern="1200" cap="none" spc="0" normalizeH="0" baseline="0" noProof="0" dirty="0" smtClean="0">
                <a:ln>
                  <a:noFill/>
                </a:ln>
                <a:solidFill>
                  <a:prstClr val="black"/>
                </a:solidFill>
                <a:effectLst/>
                <a:uLnTx/>
                <a:uFillTx/>
                <a:latin typeface="Calibri"/>
                <a:ea typeface="+mn-ea"/>
                <a:cs typeface="+mn-cs"/>
              </a:rPr>
              <a:t>( </a:t>
            </a:r>
            <a:r>
              <a:rPr kumimoji="0" lang="en-GB" sz="2400" b="1" i="0" u="sng" strike="noStrike" kern="1200" cap="none" spc="0" normalizeH="0" baseline="0" noProof="0" dirty="0" err="1" smtClean="0">
                <a:ln>
                  <a:noFill/>
                </a:ln>
                <a:solidFill>
                  <a:srgbClr val="FF0000"/>
                </a:solidFill>
                <a:effectLst/>
                <a:uLnTx/>
                <a:uFillTx/>
                <a:latin typeface="Calibri"/>
                <a:ea typeface="+mn-ea"/>
                <a:cs typeface="+mn-cs"/>
              </a:rPr>
              <a:t>SuppNo</a:t>
            </a: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 </a:t>
            </a:r>
            <a:r>
              <a:rPr kumimoji="0" lang="en-GB" sz="2400" b="0" i="0" u="none" strike="noStrike" kern="1200" cap="none" spc="0" normalizeH="0" baseline="0" noProof="0" dirty="0" err="1" smtClean="0">
                <a:ln>
                  <a:noFill/>
                </a:ln>
                <a:solidFill>
                  <a:prstClr val="black"/>
                </a:solidFill>
                <a:effectLst/>
                <a:uLnTx/>
                <a:uFillTx/>
                <a:latin typeface="Calibri"/>
                <a:ea typeface="+mn-ea"/>
                <a:cs typeface="+mn-cs"/>
              </a:rPr>
              <a:t>SuppName</a:t>
            </a: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 </a:t>
            </a:r>
            <a:r>
              <a:rPr kumimoji="0" lang="en-GB" sz="2400" b="0" i="0" u="none" strike="noStrike" kern="1200" cap="none" spc="0" normalizeH="0" baseline="0" noProof="0" dirty="0" err="1" smtClean="0">
                <a:ln>
                  <a:noFill/>
                </a:ln>
                <a:solidFill>
                  <a:prstClr val="black"/>
                </a:solidFill>
                <a:effectLst/>
                <a:uLnTx/>
                <a:uFillTx/>
                <a:latin typeface="Calibri"/>
                <a:ea typeface="+mn-ea"/>
                <a:cs typeface="+mn-cs"/>
              </a:rPr>
              <a:t>SuppAddr</a:t>
            </a: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a:t>
            </a: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49" name="TextBox 8"/>
          <p:cNvSpPr txBox="1">
            <a:spLocks noChangeArrowheads="1"/>
          </p:cNvSpPr>
          <p:nvPr/>
        </p:nvSpPr>
        <p:spPr bwMode="auto">
          <a:xfrm>
            <a:off x="1147763" y="5444194"/>
            <a:ext cx="4211637" cy="461962"/>
          </a:xfrm>
          <a:prstGeom prst="rect">
            <a:avLst/>
          </a:prstGeom>
          <a:noFill/>
          <a:ln w="9525">
            <a:noFill/>
            <a:miter lim="800000"/>
            <a:headEnd/>
            <a:tailEnd/>
          </a:ln>
        </p:spPr>
        <p:txBody>
          <a:bodyPr lIns="45720" rIns="4572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STORE ( </a:t>
            </a:r>
            <a:r>
              <a:rPr kumimoji="0" lang="en-GB" sz="2400" b="1" i="0" u="sng" strike="noStrike" kern="1200" cap="none" spc="0" normalizeH="0" baseline="0" noProof="0" dirty="0" smtClean="0">
                <a:ln>
                  <a:noFill/>
                </a:ln>
                <a:solidFill>
                  <a:srgbClr val="FF0000"/>
                </a:solidFill>
                <a:effectLst/>
                <a:uLnTx/>
                <a:uFillTx/>
                <a:latin typeface="Calibri"/>
                <a:ea typeface="+mn-ea"/>
                <a:cs typeface="+mn-cs"/>
              </a:rPr>
              <a:t>Store</a:t>
            </a: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 </a:t>
            </a:r>
            <a:r>
              <a:rPr kumimoji="0" lang="en-GB" sz="2400" b="0" i="0" u="none" strike="noStrike" kern="1200" cap="none" spc="0" normalizeH="0" baseline="0" noProof="0" dirty="0">
                <a:ln>
                  <a:noFill/>
                </a:ln>
                <a:solidFill>
                  <a:prstClr val="black"/>
                </a:solidFill>
                <a:effectLst/>
                <a:uLnTx/>
                <a:uFillTx/>
                <a:latin typeface="Calibri"/>
                <a:ea typeface="+mn-ea"/>
                <a:cs typeface="+mn-cs"/>
              </a:rPr>
              <a:t>Phone)</a:t>
            </a:r>
          </a:p>
        </p:txBody>
      </p:sp>
      <p:cxnSp>
        <p:nvCxnSpPr>
          <p:cNvPr id="70" name="Straight Arrow Connector 69"/>
          <p:cNvCxnSpPr/>
          <p:nvPr/>
        </p:nvCxnSpPr>
        <p:spPr>
          <a:xfrm flipH="1" flipV="1">
            <a:off x="3059113" y="3151844"/>
            <a:ext cx="1044830" cy="557726"/>
          </a:xfrm>
          <a:prstGeom prst="straightConnector1">
            <a:avLst/>
          </a:prstGeom>
          <a:ln w="38100">
            <a:solidFill>
              <a:schemeClr val="tx2"/>
            </a:solidFill>
            <a:tailEnd type="arrow"/>
          </a:ln>
        </p:spPr>
        <p:style>
          <a:lnRef idx="1">
            <a:schemeClr val="accent2"/>
          </a:lnRef>
          <a:fillRef idx="0">
            <a:schemeClr val="accent2"/>
          </a:fillRef>
          <a:effectRef idx="0">
            <a:schemeClr val="accent2"/>
          </a:effectRef>
          <a:fontRef idx="minor">
            <a:schemeClr val="tx1"/>
          </a:fontRef>
        </p:style>
      </p:cxnSp>
      <p:cxnSp>
        <p:nvCxnSpPr>
          <p:cNvPr id="71" name="Straight Arrow Connector 70"/>
          <p:cNvCxnSpPr/>
          <p:nvPr/>
        </p:nvCxnSpPr>
        <p:spPr>
          <a:xfrm flipH="1">
            <a:off x="2462213" y="4128156"/>
            <a:ext cx="792162" cy="442913"/>
          </a:xfrm>
          <a:prstGeom prst="straightConnector1">
            <a:avLst/>
          </a:prstGeom>
          <a:ln w="38100">
            <a:solidFill>
              <a:schemeClr val="tx2"/>
            </a:solidFill>
            <a:tailEnd type="arrow"/>
          </a:ln>
        </p:spPr>
        <p:style>
          <a:lnRef idx="1">
            <a:schemeClr val="accent2"/>
          </a:lnRef>
          <a:fillRef idx="0">
            <a:schemeClr val="accent2"/>
          </a:fillRef>
          <a:effectRef idx="0">
            <a:schemeClr val="accent2"/>
          </a:effectRef>
          <a:fontRef idx="minor">
            <a:schemeClr val="tx1"/>
          </a:fontRef>
        </p:style>
      </p:cxnSp>
      <p:cxnSp>
        <p:nvCxnSpPr>
          <p:cNvPr id="72" name="Straight Arrow Connector 71"/>
          <p:cNvCxnSpPr/>
          <p:nvPr/>
        </p:nvCxnSpPr>
        <p:spPr>
          <a:xfrm flipH="1">
            <a:off x="2819400" y="5004457"/>
            <a:ext cx="1737360" cy="457200"/>
          </a:xfrm>
          <a:prstGeom prst="straightConnector1">
            <a:avLst/>
          </a:prstGeom>
          <a:ln w="38100">
            <a:solidFill>
              <a:schemeClr val="tx2"/>
            </a:solidFill>
            <a:tailEnd type="arrow"/>
          </a:ln>
        </p:spPr>
        <p:style>
          <a:lnRef idx="1">
            <a:schemeClr val="accent2"/>
          </a:lnRef>
          <a:fillRef idx="0">
            <a:schemeClr val="accent2"/>
          </a:fillRef>
          <a:effectRef idx="0">
            <a:schemeClr val="accent2"/>
          </a:effectRef>
          <a:fontRef idx="minor">
            <a:schemeClr val="tx1"/>
          </a:fontRef>
        </p:style>
      </p:cxnSp>
      <p:grpSp>
        <p:nvGrpSpPr>
          <p:cNvPr id="17" name="Group 16"/>
          <p:cNvGrpSpPr>
            <a:grpSpLocks/>
          </p:cNvGrpSpPr>
          <p:nvPr/>
        </p:nvGrpSpPr>
        <p:grpSpPr bwMode="auto">
          <a:xfrm>
            <a:off x="2666999" y="3984534"/>
            <a:ext cx="2258496" cy="1232222"/>
            <a:chOff x="2438370" y="3276307"/>
            <a:chExt cx="2258251" cy="1231345"/>
          </a:xfrm>
        </p:grpSpPr>
        <p:sp>
          <p:nvSpPr>
            <p:cNvPr id="74" name="TextBox 73"/>
            <p:cNvSpPr txBox="1"/>
            <p:nvPr/>
          </p:nvSpPr>
          <p:spPr bwMode="auto">
            <a:xfrm>
              <a:off x="2438370" y="3286795"/>
              <a:ext cx="350251" cy="264500"/>
            </a:xfrm>
            <a:prstGeom prst="rect">
              <a:avLst/>
            </a:prstGeom>
            <a:noFill/>
          </p:spPr>
          <p:txBody>
            <a:bodyPr wrap="none" lIns="9144" tIns="9144" rIns="9144" bIns="9144">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1600" b="0" i="0" u="none" strike="noStrike" kern="1200" cap="none" spc="0" normalizeH="0" baseline="0" noProof="0" dirty="0">
                  <a:ln>
                    <a:noFill/>
                  </a:ln>
                  <a:solidFill>
                    <a:schemeClr val="accent4">
                      <a:lumMod val="50000"/>
                    </a:schemeClr>
                  </a:solidFill>
                  <a:effectLst/>
                  <a:uLnTx/>
                  <a:uFillTx/>
                  <a:latin typeface="Calibri"/>
                  <a:ea typeface="+mn-ea"/>
                  <a:cs typeface="+mn-cs"/>
                </a:rPr>
                <a:t>(</a:t>
              </a:r>
              <a:r>
                <a:rPr kumimoji="0" lang="en-GB" sz="1600" b="1" i="0" u="none" strike="noStrike" kern="1200" cap="none" spc="0" normalizeH="0" baseline="0" noProof="0" dirty="0">
                  <a:ln>
                    <a:noFill/>
                  </a:ln>
                  <a:solidFill>
                    <a:schemeClr val="accent4">
                      <a:lumMod val="50000"/>
                    </a:schemeClr>
                  </a:solidFill>
                  <a:effectLst/>
                  <a:uLnTx/>
                  <a:uFillTx/>
                  <a:latin typeface="Calibri"/>
                  <a:ea typeface="+mn-ea"/>
                  <a:cs typeface="+mn-cs"/>
                </a:rPr>
                <a:t>FK</a:t>
              </a:r>
              <a:r>
                <a:rPr kumimoji="0" lang="en-GB" sz="1600" b="0" i="0" u="none" strike="noStrike" kern="1200" cap="none" spc="0" normalizeH="0" baseline="0" noProof="0" dirty="0">
                  <a:ln>
                    <a:noFill/>
                  </a:ln>
                  <a:solidFill>
                    <a:schemeClr val="accent4">
                      <a:lumMod val="50000"/>
                    </a:schemeClr>
                  </a:solidFill>
                  <a:effectLst/>
                  <a:uLnTx/>
                  <a:uFillTx/>
                  <a:latin typeface="Calibri"/>
                  <a:ea typeface="+mn-ea"/>
                  <a:cs typeface="+mn-cs"/>
                </a:rPr>
                <a:t>)</a:t>
              </a:r>
              <a:endParaRPr kumimoji="0" lang="en-US" sz="1600" b="0" i="0" u="none" strike="noStrike" kern="1200" cap="none" spc="0" normalizeH="0" baseline="0" noProof="0" dirty="0">
                <a:ln>
                  <a:noFill/>
                </a:ln>
                <a:solidFill>
                  <a:schemeClr val="accent4">
                    <a:lumMod val="50000"/>
                  </a:schemeClr>
                </a:solidFill>
                <a:effectLst/>
                <a:uLnTx/>
                <a:uFillTx/>
                <a:latin typeface="Calibri"/>
                <a:ea typeface="+mn-ea"/>
                <a:cs typeface="+mn-cs"/>
              </a:endParaRPr>
            </a:p>
          </p:txBody>
        </p:sp>
        <p:sp>
          <p:nvSpPr>
            <p:cNvPr id="75" name="TextBox 74"/>
            <p:cNvSpPr txBox="1"/>
            <p:nvPr/>
          </p:nvSpPr>
          <p:spPr bwMode="auto">
            <a:xfrm>
              <a:off x="3875158" y="3276307"/>
              <a:ext cx="353456" cy="264500"/>
            </a:xfrm>
            <a:prstGeom prst="rect">
              <a:avLst/>
            </a:prstGeom>
            <a:noFill/>
          </p:spPr>
          <p:txBody>
            <a:bodyPr wrap="none" lIns="9144" tIns="9144" rIns="9144" bIns="9144">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1600" b="1" i="0" u="none" strike="noStrike" kern="1200" cap="none" spc="0" normalizeH="0" baseline="0" noProof="0" dirty="0">
                  <a:ln>
                    <a:noFill/>
                  </a:ln>
                  <a:solidFill>
                    <a:schemeClr val="accent4">
                      <a:lumMod val="50000"/>
                    </a:schemeClr>
                  </a:solidFill>
                  <a:effectLst/>
                  <a:uLnTx/>
                  <a:uFillTx/>
                  <a:latin typeface="Calibri"/>
                  <a:ea typeface="+mn-ea"/>
                  <a:cs typeface="+mn-cs"/>
                </a:rPr>
                <a:t>(FK)</a:t>
              </a:r>
              <a:endParaRPr kumimoji="0" lang="en-US" sz="1600" b="1" i="0" u="none" strike="noStrike" kern="1200" cap="none" spc="0" normalizeH="0" baseline="0" noProof="0" dirty="0">
                <a:ln>
                  <a:noFill/>
                </a:ln>
                <a:solidFill>
                  <a:schemeClr val="accent4">
                    <a:lumMod val="50000"/>
                  </a:schemeClr>
                </a:solidFill>
                <a:effectLst/>
                <a:uLnTx/>
                <a:uFillTx/>
                <a:latin typeface="Calibri"/>
                <a:ea typeface="+mn-ea"/>
                <a:cs typeface="+mn-cs"/>
              </a:endParaRPr>
            </a:p>
          </p:txBody>
        </p:sp>
        <p:sp>
          <p:nvSpPr>
            <p:cNvPr id="76" name="TextBox 75"/>
            <p:cNvSpPr txBox="1"/>
            <p:nvPr/>
          </p:nvSpPr>
          <p:spPr bwMode="auto">
            <a:xfrm>
              <a:off x="4343165" y="4243152"/>
              <a:ext cx="353456" cy="264500"/>
            </a:xfrm>
            <a:prstGeom prst="rect">
              <a:avLst/>
            </a:prstGeom>
            <a:noFill/>
          </p:spPr>
          <p:txBody>
            <a:bodyPr wrap="none" lIns="9144" tIns="9144" rIns="9144" bIns="9144">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1600" b="1" i="0" u="none" strike="noStrike" kern="1200" cap="none" spc="0" normalizeH="0" baseline="0" noProof="0" dirty="0">
                  <a:ln>
                    <a:noFill/>
                  </a:ln>
                  <a:solidFill>
                    <a:srgbClr val="002060"/>
                  </a:solidFill>
                  <a:effectLst/>
                  <a:uLnTx/>
                  <a:uFillTx/>
                  <a:latin typeface="Calibri"/>
                  <a:ea typeface="+mn-ea"/>
                  <a:cs typeface="+mn-cs"/>
                </a:rPr>
                <a:t>(FK)</a:t>
              </a:r>
              <a:endParaRPr kumimoji="0" lang="en-US" sz="1600" b="1" i="0" u="none" strike="noStrike" kern="1200" cap="none" spc="0" normalizeH="0" baseline="0" noProof="0" dirty="0">
                <a:ln>
                  <a:noFill/>
                </a:ln>
                <a:solidFill>
                  <a:srgbClr val="002060"/>
                </a:solidFill>
                <a:effectLst/>
                <a:uLnTx/>
                <a:uFillTx/>
                <a:latin typeface="Calibri"/>
                <a:ea typeface="+mn-ea"/>
                <a:cs typeface="+mn-cs"/>
              </a:endParaRPr>
            </a:p>
          </p:txBody>
        </p:sp>
      </p:grpSp>
      <p:grpSp>
        <p:nvGrpSpPr>
          <p:cNvPr id="16" name="Group 15"/>
          <p:cNvGrpSpPr>
            <a:grpSpLocks/>
          </p:cNvGrpSpPr>
          <p:nvPr/>
        </p:nvGrpSpPr>
        <p:grpSpPr bwMode="auto">
          <a:xfrm>
            <a:off x="2057400" y="2556816"/>
            <a:ext cx="1045035" cy="3006673"/>
            <a:chOff x="1608550" y="1842965"/>
            <a:chExt cx="1045255" cy="3007408"/>
          </a:xfrm>
        </p:grpSpPr>
        <p:sp>
          <p:nvSpPr>
            <p:cNvPr id="77" name="TextBox 76"/>
            <p:cNvSpPr txBox="1"/>
            <p:nvPr/>
          </p:nvSpPr>
          <p:spPr bwMode="auto">
            <a:xfrm>
              <a:off x="1913414" y="4585620"/>
              <a:ext cx="367998" cy="264753"/>
            </a:xfrm>
            <a:prstGeom prst="rect">
              <a:avLst/>
            </a:prstGeom>
            <a:noFill/>
          </p:spPr>
          <p:txBody>
            <a:bodyPr wrap="none" lIns="9144" tIns="9144" rIns="9144" bIns="9144">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1600" b="1" i="0" u="none" strike="noStrike" kern="1200" cap="none" spc="0" normalizeH="0" baseline="0" noProof="0" dirty="0">
                  <a:ln>
                    <a:noFill/>
                  </a:ln>
                  <a:solidFill>
                    <a:srgbClr val="002060"/>
                  </a:solidFill>
                  <a:effectLst/>
                  <a:uLnTx/>
                  <a:uFillTx/>
                  <a:latin typeface="Calibri"/>
                  <a:ea typeface="+mn-ea"/>
                  <a:cs typeface="+mn-cs"/>
                </a:rPr>
                <a:t>(PK)</a:t>
              </a:r>
              <a:endParaRPr kumimoji="0" lang="en-US" sz="1600" b="1" i="0" u="none" strike="noStrike" kern="1200" cap="none" spc="0" normalizeH="0" baseline="0" noProof="0" dirty="0">
                <a:ln>
                  <a:noFill/>
                </a:ln>
                <a:solidFill>
                  <a:srgbClr val="002060"/>
                </a:solidFill>
                <a:effectLst/>
                <a:uLnTx/>
                <a:uFillTx/>
                <a:latin typeface="Calibri"/>
                <a:ea typeface="+mn-ea"/>
                <a:cs typeface="+mn-cs"/>
              </a:endParaRPr>
            </a:p>
          </p:txBody>
        </p:sp>
        <p:sp>
          <p:nvSpPr>
            <p:cNvPr id="78" name="TextBox 77"/>
            <p:cNvSpPr txBox="1"/>
            <p:nvPr/>
          </p:nvSpPr>
          <p:spPr bwMode="auto">
            <a:xfrm>
              <a:off x="2196509" y="1842965"/>
              <a:ext cx="457296" cy="274387"/>
            </a:xfrm>
            <a:prstGeom prst="rect">
              <a:avLst/>
            </a:prstGeom>
            <a:noFill/>
          </p:spPr>
          <p:txBody>
            <a:bodyPr wrap="square" lIns="9144" tIns="9144" rIns="9144" bIns="9144">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1600" b="0" i="0" u="none" strike="noStrike" kern="1200" cap="none" spc="0" normalizeH="0" baseline="0" noProof="0" dirty="0">
                  <a:ln>
                    <a:noFill/>
                  </a:ln>
                  <a:solidFill>
                    <a:srgbClr val="002060"/>
                  </a:solidFill>
                  <a:effectLst/>
                  <a:uLnTx/>
                  <a:uFillTx/>
                  <a:latin typeface="Calibri"/>
                  <a:ea typeface="+mn-ea"/>
                  <a:cs typeface="+mn-cs"/>
                </a:rPr>
                <a:t>(</a:t>
              </a:r>
              <a:r>
                <a:rPr kumimoji="0" lang="en-GB" sz="1600" b="1" i="0" u="none" strike="noStrike" kern="1200" cap="none" spc="0" normalizeH="0" baseline="0" noProof="0" dirty="0">
                  <a:ln>
                    <a:noFill/>
                  </a:ln>
                  <a:solidFill>
                    <a:srgbClr val="002060"/>
                  </a:solidFill>
                  <a:effectLst/>
                  <a:uLnTx/>
                  <a:uFillTx/>
                  <a:latin typeface="Calibri"/>
                  <a:ea typeface="+mn-ea"/>
                  <a:cs typeface="+mn-cs"/>
                </a:rPr>
                <a:t>PK</a:t>
              </a:r>
              <a:r>
                <a:rPr kumimoji="0" lang="en-GB" sz="1600" b="0" i="0" u="none" strike="noStrike" kern="1200" cap="none" spc="0" normalizeH="0" baseline="0" noProof="0" dirty="0">
                  <a:ln>
                    <a:noFill/>
                  </a:ln>
                  <a:solidFill>
                    <a:srgbClr val="002060"/>
                  </a:solidFill>
                  <a:effectLst/>
                  <a:uLnTx/>
                  <a:uFillTx/>
                  <a:latin typeface="Calibri"/>
                  <a:ea typeface="+mn-ea"/>
                  <a:cs typeface="+mn-cs"/>
                </a:rPr>
                <a:t>)</a:t>
              </a:r>
              <a:endParaRPr kumimoji="0" lang="en-US" sz="1600" b="0" i="0" u="none" strike="noStrike" kern="1200" cap="none" spc="0" normalizeH="0" baseline="0" noProof="0" dirty="0">
                <a:ln>
                  <a:noFill/>
                </a:ln>
                <a:solidFill>
                  <a:srgbClr val="002060"/>
                </a:solidFill>
                <a:effectLst/>
                <a:uLnTx/>
                <a:uFillTx/>
                <a:latin typeface="Calibri"/>
                <a:ea typeface="+mn-ea"/>
                <a:cs typeface="+mn-cs"/>
              </a:endParaRPr>
            </a:p>
          </p:txBody>
        </p:sp>
        <p:sp>
          <p:nvSpPr>
            <p:cNvPr id="79" name="TextBox 78"/>
            <p:cNvSpPr txBox="1"/>
            <p:nvPr/>
          </p:nvSpPr>
          <p:spPr bwMode="auto">
            <a:xfrm>
              <a:off x="1608550" y="3727685"/>
              <a:ext cx="367998" cy="264753"/>
            </a:xfrm>
            <a:prstGeom prst="rect">
              <a:avLst/>
            </a:prstGeom>
            <a:noFill/>
          </p:spPr>
          <p:txBody>
            <a:bodyPr wrap="none" lIns="9144" tIns="9144" rIns="9144" bIns="9144">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1600" b="1" i="0" u="none" strike="noStrike" kern="1200" cap="none" spc="0" normalizeH="0" baseline="0" noProof="0" dirty="0">
                  <a:ln>
                    <a:noFill/>
                  </a:ln>
                  <a:solidFill>
                    <a:srgbClr val="002060"/>
                  </a:solidFill>
                  <a:effectLst/>
                  <a:uLnTx/>
                  <a:uFillTx/>
                  <a:latin typeface="Calibri"/>
                  <a:ea typeface="+mn-ea"/>
                  <a:cs typeface="+mn-cs"/>
                </a:rPr>
                <a:t>(PK)</a:t>
              </a:r>
              <a:endParaRPr kumimoji="0" lang="en-US" sz="1600" b="1" i="0" u="none" strike="noStrike" kern="1200" cap="none" spc="0" normalizeH="0" baseline="0" noProof="0" dirty="0">
                <a:ln>
                  <a:noFill/>
                </a:ln>
                <a:solidFill>
                  <a:srgbClr val="002060"/>
                </a:solidFill>
                <a:effectLst/>
                <a:uLnTx/>
                <a:uFillTx/>
                <a:latin typeface="Calibri"/>
                <a:ea typeface="+mn-ea"/>
                <a:cs typeface="+mn-cs"/>
              </a:endParaRPr>
            </a:p>
          </p:txBody>
        </p:sp>
      </p:grpSp>
      <p:sp>
        <p:nvSpPr>
          <p:cNvPr id="19" name="TextBox 9"/>
          <p:cNvSpPr txBox="1">
            <a:spLocks noChangeArrowheads="1"/>
          </p:cNvSpPr>
          <p:nvPr/>
        </p:nvSpPr>
        <p:spPr bwMode="auto">
          <a:xfrm>
            <a:off x="787400" y="990600"/>
            <a:ext cx="81359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rIns="36000">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altLang="en-US" sz="2000" b="1" i="0" u="none" strike="noStrike" kern="1200" cap="none" spc="0" normalizeH="0" baseline="0" noProof="0" dirty="0">
                <a:ln>
                  <a:noFill/>
                </a:ln>
                <a:solidFill>
                  <a:prstClr val="black"/>
                </a:solidFill>
                <a:effectLst/>
                <a:uLnTx/>
                <a:uFillTx/>
                <a:latin typeface="Calibri" pitchFamily="34" charset="0"/>
                <a:ea typeface="Calibri" pitchFamily="34" charset="0"/>
                <a:cs typeface="Calibri" pitchFamily="34" charset="0"/>
              </a:rPr>
              <a:t>Schema (1NF):</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altLang="en-US" sz="2000" b="0" i="0" u="none" strike="noStrike" kern="1200" cap="none" spc="0" normalizeH="0" baseline="0" noProof="0" dirty="0">
                <a:ln>
                  <a:noFill/>
                </a:ln>
                <a:solidFill>
                  <a:prstClr val="black"/>
                </a:solidFill>
                <a:effectLst/>
                <a:uLnTx/>
                <a:uFillTx/>
                <a:latin typeface="Calibri" pitchFamily="34" charset="0"/>
                <a:ea typeface="Calibri" pitchFamily="34" charset="0"/>
                <a:cs typeface="Calibri" pitchFamily="34" charset="0"/>
              </a:rPr>
              <a:t>PURCHASE ( </a:t>
            </a:r>
            <a:r>
              <a:rPr kumimoji="0" lang="en-GB" altLang="en-US" sz="2000" b="1" i="0" u="sng" strike="noStrike" kern="1200" cap="none" spc="0" normalizeH="0" baseline="0" noProof="0" dirty="0" err="1">
                <a:ln>
                  <a:noFill/>
                </a:ln>
                <a:solidFill>
                  <a:srgbClr val="FF0000"/>
                </a:solidFill>
                <a:effectLst/>
                <a:uLnTx/>
                <a:uFillTx/>
                <a:latin typeface="Calibri" pitchFamily="34" charset="0"/>
                <a:ea typeface="Calibri" pitchFamily="34" charset="0"/>
                <a:cs typeface="Calibri" pitchFamily="34" charset="0"/>
              </a:rPr>
              <a:t>PartNo</a:t>
            </a:r>
            <a:r>
              <a:rPr kumimoji="0" lang="en-GB" altLang="en-US" sz="2000" b="0" i="0" u="none" strike="noStrike" kern="1200" cap="none" spc="0" normalizeH="0" baseline="0" noProof="0" dirty="0">
                <a:ln>
                  <a:noFill/>
                </a:ln>
                <a:solidFill>
                  <a:prstClr val="black"/>
                </a:solidFill>
                <a:effectLst/>
                <a:uLnTx/>
                <a:uFillTx/>
                <a:latin typeface="Calibri" pitchFamily="34" charset="0"/>
                <a:ea typeface="Calibri" pitchFamily="34" charset="0"/>
                <a:cs typeface="Calibri" pitchFamily="34" charset="0"/>
              </a:rPr>
              <a:t>, </a:t>
            </a:r>
            <a:r>
              <a:rPr kumimoji="0" lang="en-GB" altLang="en-US" sz="2000" b="1" i="0" u="sng" strike="noStrike" kern="1200" cap="none" spc="0" normalizeH="0" baseline="0" noProof="0" dirty="0" err="1">
                <a:ln>
                  <a:noFill/>
                </a:ln>
                <a:solidFill>
                  <a:srgbClr val="FF0000"/>
                </a:solidFill>
                <a:effectLst/>
                <a:uLnTx/>
                <a:uFillTx/>
                <a:latin typeface="Calibri" pitchFamily="34" charset="0"/>
                <a:ea typeface="Calibri" pitchFamily="34" charset="0"/>
                <a:cs typeface="Calibri" pitchFamily="34" charset="0"/>
              </a:rPr>
              <a:t>SuppNo</a:t>
            </a:r>
            <a:r>
              <a:rPr kumimoji="0" lang="en-GB" altLang="en-US" sz="2000" b="0" i="0" u="none" strike="noStrike" kern="1200" cap="none" spc="0" normalizeH="0" baseline="0" noProof="0" dirty="0">
                <a:ln>
                  <a:noFill/>
                </a:ln>
                <a:solidFill>
                  <a:prstClr val="black"/>
                </a:solidFill>
                <a:effectLst/>
                <a:uLnTx/>
                <a:uFillTx/>
                <a:latin typeface="Calibri" pitchFamily="34" charset="0"/>
                <a:ea typeface="Calibri" pitchFamily="34" charset="0"/>
                <a:cs typeface="Calibri" pitchFamily="34" charset="0"/>
              </a:rPr>
              <a:t>, </a:t>
            </a:r>
            <a:r>
              <a:rPr kumimoji="0" lang="en-GB" altLang="en-US" sz="2000" b="0" i="0" u="none" strike="noStrike" kern="1200" cap="none" spc="0" normalizeH="0" baseline="0" noProof="0" dirty="0" err="1">
                <a:ln>
                  <a:noFill/>
                </a:ln>
                <a:solidFill>
                  <a:prstClr val="black"/>
                </a:solidFill>
                <a:effectLst/>
                <a:uLnTx/>
                <a:uFillTx/>
                <a:latin typeface="Calibri" pitchFamily="34" charset="0"/>
                <a:ea typeface="Calibri" pitchFamily="34" charset="0"/>
                <a:cs typeface="Calibri" pitchFamily="34" charset="0"/>
              </a:rPr>
              <a:t>SuppName</a:t>
            </a:r>
            <a:r>
              <a:rPr kumimoji="0" lang="en-GB" altLang="en-US" sz="2000" b="0" i="0" u="none" strike="noStrike" kern="1200" cap="none" spc="0" normalizeH="0" baseline="0" noProof="0" dirty="0">
                <a:ln>
                  <a:noFill/>
                </a:ln>
                <a:solidFill>
                  <a:prstClr val="black"/>
                </a:solidFill>
                <a:effectLst/>
                <a:uLnTx/>
                <a:uFillTx/>
                <a:latin typeface="Calibri" pitchFamily="34" charset="0"/>
                <a:ea typeface="Calibri" pitchFamily="34" charset="0"/>
                <a:cs typeface="Calibri" pitchFamily="34" charset="0"/>
              </a:rPr>
              <a:t>, </a:t>
            </a:r>
            <a:r>
              <a:rPr kumimoji="0" lang="en-GB" altLang="en-US" sz="2000" b="0" i="0" u="none" strike="noStrike" kern="1200" cap="none" spc="0" normalizeH="0" baseline="0" noProof="0" dirty="0" err="1">
                <a:ln>
                  <a:noFill/>
                </a:ln>
                <a:solidFill>
                  <a:prstClr val="black"/>
                </a:solidFill>
                <a:effectLst/>
                <a:uLnTx/>
                <a:uFillTx/>
                <a:latin typeface="Calibri" pitchFamily="34" charset="0"/>
                <a:ea typeface="Calibri" pitchFamily="34" charset="0"/>
                <a:cs typeface="Calibri" pitchFamily="34" charset="0"/>
              </a:rPr>
              <a:t>SuppAddr</a:t>
            </a:r>
            <a:r>
              <a:rPr kumimoji="0" lang="en-GB" altLang="en-US" sz="2000" b="0" i="0" u="none" strike="noStrike" kern="1200" cap="none" spc="0" normalizeH="0" baseline="0" noProof="0" dirty="0">
                <a:ln>
                  <a:noFill/>
                </a:ln>
                <a:solidFill>
                  <a:prstClr val="black"/>
                </a:solidFill>
                <a:effectLst/>
                <a:uLnTx/>
                <a:uFillTx/>
                <a:latin typeface="Calibri" pitchFamily="34" charset="0"/>
                <a:ea typeface="Calibri" pitchFamily="34" charset="0"/>
                <a:cs typeface="Calibri" pitchFamily="34" charset="0"/>
              </a:rPr>
              <a:t>, Cost, </a:t>
            </a:r>
            <a:r>
              <a:rPr kumimoji="0" lang="en-GB" altLang="en-US" sz="2000" b="0" i="0" u="none" strike="noStrike" kern="1200" cap="none" spc="0" normalizeH="0" baseline="0" noProof="0" dirty="0" smtClean="0">
                <a:ln>
                  <a:noFill/>
                </a:ln>
                <a:solidFill>
                  <a:prstClr val="black"/>
                </a:solidFill>
                <a:effectLst/>
                <a:uLnTx/>
                <a:uFillTx/>
                <a:latin typeface="Calibri" pitchFamily="34" charset="0"/>
                <a:ea typeface="Calibri" pitchFamily="34" charset="0"/>
                <a:cs typeface="Calibri" pitchFamily="34" charset="0"/>
              </a:rPr>
              <a:t>Store, </a:t>
            </a:r>
            <a:r>
              <a:rPr kumimoji="0" lang="en-GB" altLang="en-US" sz="2000" b="0" i="0" u="none" strike="noStrike" kern="1200" cap="none" spc="0" normalizeH="0" baseline="0" noProof="0" dirty="0">
                <a:ln>
                  <a:noFill/>
                </a:ln>
                <a:solidFill>
                  <a:prstClr val="black"/>
                </a:solidFill>
                <a:effectLst/>
                <a:uLnTx/>
                <a:uFillTx/>
                <a:latin typeface="Calibri" pitchFamily="34" charset="0"/>
                <a:ea typeface="Calibri" pitchFamily="34" charset="0"/>
                <a:cs typeface="Calibri" pitchFamily="34" charset="0"/>
              </a:rPr>
              <a:t>Phone)</a:t>
            </a:r>
            <a:endParaRPr kumimoji="0" lang="en-US" altLang="en-US" sz="2000" b="0" i="0" u="none" strike="noStrike" kern="1200" cap="none" spc="0" normalizeH="0" baseline="0" noProof="0" dirty="0">
              <a:ln>
                <a:noFill/>
              </a:ln>
              <a:solidFill>
                <a:prstClr val="black"/>
              </a:solidFill>
              <a:effectLst/>
              <a:uLnTx/>
              <a:uFillTx/>
              <a:latin typeface="Calibri" pitchFamily="34" charset="0"/>
              <a:ea typeface="Calibri" pitchFamily="34" charset="0"/>
              <a:cs typeface="Calibri" pitchFamily="34" charset="0"/>
            </a:endParaRPr>
          </a:p>
        </p:txBody>
      </p:sp>
      <p:sp>
        <p:nvSpPr>
          <p:cNvPr id="21" name="TextBox 20"/>
          <p:cNvSpPr txBox="1"/>
          <p:nvPr/>
        </p:nvSpPr>
        <p:spPr>
          <a:xfrm>
            <a:off x="762000" y="6400573"/>
            <a:ext cx="8048989" cy="349702"/>
          </a:xfrm>
          <a:prstGeom prst="rect">
            <a:avLst/>
          </a:prstGeom>
          <a:solidFill>
            <a:srgbClr val="FFFF00"/>
          </a:solidFill>
        </p:spPr>
        <p:txBody>
          <a:bodyPr wrap="none" lIns="36000" tIns="36000" rIns="36000" bIns="360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800" b="0" i="0" u="none" strike="noStrike" kern="1200" cap="none" spc="0" normalizeH="0" baseline="0" noProof="0" dirty="0">
                <a:ln>
                  <a:noFill/>
                </a:ln>
                <a:solidFill>
                  <a:srgbClr val="C00000"/>
                </a:solidFill>
                <a:effectLst/>
                <a:uLnTx/>
                <a:uFillTx/>
                <a:latin typeface="Calibri"/>
                <a:ea typeface="+mn-ea"/>
                <a:cs typeface="+mn-cs"/>
              </a:rPr>
              <a:t>Note: After Normalization, the relation </a:t>
            </a:r>
            <a:r>
              <a:rPr kumimoji="0" lang="en-GB" sz="1800" b="0" i="0" u="none" strike="noStrike" kern="1200" cap="none" spc="0" normalizeH="0" baseline="0" noProof="0" dirty="0" smtClean="0">
                <a:ln>
                  <a:noFill/>
                </a:ln>
                <a:solidFill>
                  <a:srgbClr val="C00000"/>
                </a:solidFill>
                <a:effectLst/>
                <a:uLnTx/>
                <a:uFillTx/>
                <a:latin typeface="Calibri"/>
                <a:ea typeface="+mn-ea"/>
                <a:cs typeface="+mn-cs"/>
              </a:rPr>
              <a:t>has been decomposed </a:t>
            </a:r>
            <a:r>
              <a:rPr kumimoji="0" lang="en-GB" sz="1800" b="0" i="0" u="none" strike="noStrike" kern="1200" cap="none" spc="0" normalizeH="0" baseline="0" noProof="0" dirty="0">
                <a:ln>
                  <a:noFill/>
                </a:ln>
                <a:solidFill>
                  <a:srgbClr val="C00000"/>
                </a:solidFill>
                <a:effectLst/>
                <a:uLnTx/>
                <a:uFillTx/>
                <a:latin typeface="Calibri"/>
                <a:ea typeface="+mn-ea"/>
                <a:cs typeface="+mn-cs"/>
              </a:rPr>
              <a:t>into multiple relations.</a:t>
            </a:r>
            <a:endParaRPr kumimoji="0" lang="en-US" sz="1800" b="0" i="0" u="none" strike="noStrike" kern="1200" cap="none" spc="0" normalizeH="0" baseline="0" noProof="0" dirty="0">
              <a:ln>
                <a:noFill/>
              </a:ln>
              <a:solidFill>
                <a:srgbClr val="C00000"/>
              </a:solidFill>
              <a:effectLst/>
              <a:uLnTx/>
              <a:uFillTx/>
              <a:latin typeface="Calibri"/>
              <a:ea typeface="+mn-ea"/>
              <a:cs typeface="+mn-cs"/>
            </a:endParaRPr>
          </a:p>
        </p:txBody>
      </p:sp>
      <p:sp>
        <p:nvSpPr>
          <p:cNvPr id="22" name="TextBox 21"/>
          <p:cNvSpPr txBox="1"/>
          <p:nvPr/>
        </p:nvSpPr>
        <p:spPr bwMode="auto">
          <a:xfrm>
            <a:off x="6903382" y="3731602"/>
            <a:ext cx="1236749" cy="326243"/>
          </a:xfrm>
          <a:prstGeom prst="rect">
            <a:avLst/>
          </a:prstGeom>
          <a:noFill/>
        </p:spPr>
        <p:txBody>
          <a:bodyPr wrap="none" lIns="9144" tIns="9144" rIns="9144" bIns="9144">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2000" b="0" i="0" u="none" strike="noStrike" kern="1200" cap="none" spc="0" normalizeH="0" baseline="0" noProof="0" dirty="0">
                <a:ln>
                  <a:noFill/>
                </a:ln>
                <a:solidFill>
                  <a:srgbClr val="C00000"/>
                </a:solidFill>
                <a:effectLst/>
                <a:uLnTx/>
                <a:uFillTx/>
                <a:latin typeface="Calibri"/>
                <a:ea typeface="+mn-ea"/>
                <a:cs typeface="+mn-cs"/>
              </a:rPr>
              <a:t>(via Full FD)</a:t>
            </a:r>
            <a:endParaRPr kumimoji="0" lang="en-US" sz="2000" b="0" i="0" u="none" strike="noStrike" kern="1200" cap="none" spc="0" normalizeH="0" baseline="0" noProof="0" dirty="0">
              <a:ln>
                <a:noFill/>
              </a:ln>
              <a:solidFill>
                <a:srgbClr val="C00000"/>
              </a:solidFill>
              <a:effectLst/>
              <a:uLnTx/>
              <a:uFillTx/>
              <a:latin typeface="Calibri"/>
              <a:ea typeface="+mn-ea"/>
              <a:cs typeface="+mn-cs"/>
            </a:endParaRPr>
          </a:p>
        </p:txBody>
      </p:sp>
      <p:sp>
        <p:nvSpPr>
          <p:cNvPr id="23" name="TextBox 22"/>
          <p:cNvSpPr txBox="1"/>
          <p:nvPr/>
        </p:nvSpPr>
        <p:spPr bwMode="auto">
          <a:xfrm>
            <a:off x="6851287" y="2780369"/>
            <a:ext cx="1534203" cy="326243"/>
          </a:xfrm>
          <a:prstGeom prst="rect">
            <a:avLst/>
          </a:prstGeom>
          <a:noFill/>
        </p:spPr>
        <p:txBody>
          <a:bodyPr wrap="none" lIns="9144" tIns="9144" rIns="9144" bIns="9144">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2000" b="0" i="0" u="none" strike="noStrike" kern="1200" cap="none" spc="0" normalizeH="0" baseline="0" noProof="0" dirty="0">
                <a:ln>
                  <a:noFill/>
                </a:ln>
                <a:solidFill>
                  <a:srgbClr val="C00000"/>
                </a:solidFill>
                <a:effectLst/>
                <a:uLnTx/>
                <a:uFillTx/>
                <a:latin typeface="Calibri"/>
                <a:ea typeface="+mn-ea"/>
                <a:cs typeface="+mn-cs"/>
              </a:rPr>
              <a:t>(via Partial FD)</a:t>
            </a:r>
            <a:endParaRPr kumimoji="0" lang="en-US" sz="2000" b="0" i="0" u="none" strike="noStrike" kern="1200" cap="none" spc="0" normalizeH="0" baseline="0" noProof="0" dirty="0">
              <a:ln>
                <a:noFill/>
              </a:ln>
              <a:solidFill>
                <a:srgbClr val="C00000"/>
              </a:solidFill>
              <a:effectLst/>
              <a:uLnTx/>
              <a:uFillTx/>
              <a:latin typeface="Calibri"/>
              <a:ea typeface="+mn-ea"/>
              <a:cs typeface="+mn-cs"/>
            </a:endParaRPr>
          </a:p>
        </p:txBody>
      </p:sp>
      <p:sp>
        <p:nvSpPr>
          <p:cNvPr id="24" name="TextBox 23"/>
          <p:cNvSpPr txBox="1"/>
          <p:nvPr/>
        </p:nvSpPr>
        <p:spPr bwMode="auto">
          <a:xfrm>
            <a:off x="5865813" y="5563489"/>
            <a:ext cx="2893036" cy="326243"/>
          </a:xfrm>
          <a:prstGeom prst="rect">
            <a:avLst/>
          </a:prstGeom>
          <a:noFill/>
        </p:spPr>
        <p:txBody>
          <a:bodyPr wrap="none" lIns="9144" tIns="9144" rIns="9144" bIns="9144">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2000" b="0" i="0" u="none" strike="noStrike" kern="1200" cap="none" spc="0" normalizeH="0" baseline="0" noProof="0" dirty="0">
                <a:ln>
                  <a:noFill/>
                </a:ln>
                <a:solidFill>
                  <a:srgbClr val="C00000"/>
                </a:solidFill>
                <a:effectLst/>
                <a:uLnTx/>
                <a:uFillTx/>
                <a:latin typeface="Calibri"/>
                <a:ea typeface="+mn-ea"/>
                <a:cs typeface="+mn-cs"/>
              </a:rPr>
              <a:t>(via Transitive Dependency)</a:t>
            </a:r>
            <a:endParaRPr kumimoji="0" lang="en-US" sz="2000" b="0" i="0" u="none" strike="noStrike" kern="1200" cap="none" spc="0" normalizeH="0" baseline="0" noProof="0" dirty="0">
              <a:ln>
                <a:noFill/>
              </a:ln>
              <a:solidFill>
                <a:srgbClr val="C00000"/>
              </a:solidFill>
              <a:effectLst/>
              <a:uLnTx/>
              <a:uFillTx/>
              <a:latin typeface="Calibri"/>
              <a:ea typeface="+mn-ea"/>
              <a:cs typeface="+mn-cs"/>
            </a:endParaRPr>
          </a:p>
        </p:txBody>
      </p:sp>
      <p:sp>
        <p:nvSpPr>
          <p:cNvPr id="25" name="TextBox 24"/>
          <p:cNvSpPr txBox="1"/>
          <p:nvPr/>
        </p:nvSpPr>
        <p:spPr bwMode="auto">
          <a:xfrm>
            <a:off x="6918434" y="4685369"/>
            <a:ext cx="1534203" cy="326243"/>
          </a:xfrm>
          <a:prstGeom prst="rect">
            <a:avLst/>
          </a:prstGeom>
          <a:noFill/>
        </p:spPr>
        <p:txBody>
          <a:bodyPr wrap="none" lIns="9144" tIns="9144" rIns="9144" bIns="9144">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2000" b="0" i="0" u="none" strike="noStrike" kern="1200" cap="none" spc="0" normalizeH="0" baseline="0" noProof="0" dirty="0">
                <a:ln>
                  <a:noFill/>
                </a:ln>
                <a:solidFill>
                  <a:srgbClr val="C00000"/>
                </a:solidFill>
                <a:effectLst/>
                <a:uLnTx/>
                <a:uFillTx/>
                <a:latin typeface="Calibri"/>
                <a:ea typeface="+mn-ea"/>
                <a:cs typeface="+mn-cs"/>
              </a:rPr>
              <a:t>(via Partial FD)</a:t>
            </a:r>
            <a:endParaRPr kumimoji="0" lang="en-US" sz="2000" b="0" i="0" u="none" strike="noStrike" kern="1200" cap="none" spc="0" normalizeH="0" baseline="0" noProof="0" dirty="0">
              <a:ln>
                <a:noFill/>
              </a:ln>
              <a:solidFill>
                <a:srgbClr val="C00000"/>
              </a:solidFill>
              <a:effectLst/>
              <a:uLnTx/>
              <a:uFillTx/>
              <a:latin typeface="Calibri"/>
              <a:ea typeface="+mn-ea"/>
              <a:cs typeface="+mn-cs"/>
            </a:endParaRPr>
          </a:p>
        </p:txBody>
      </p:sp>
    </p:spTree>
    <p:extLst>
      <p:ext uri="{BB962C8B-B14F-4D97-AF65-F5344CB8AC3E}">
        <p14:creationId xmlns:p14="http://schemas.microsoft.com/office/powerpoint/2010/main" val="15437136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up)">
                                      <p:cBhvr>
                                        <p:cTn id="7" dur="1000"/>
                                        <p:tgtEl>
                                          <p:spTgt spid="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up)">
                                      <p:cBhvr>
                                        <p:cTn id="12" dur="1000"/>
                                        <p:tgtEl>
                                          <p:spTgt spid="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nodeType="clickEffect">
                                  <p:stCondLst>
                                    <p:cond delay="0"/>
                                  </p:stCondLst>
                                  <p:childTnLst>
                                    <p:set>
                                      <p:cBhvr>
                                        <p:cTn id="16" dur="1" fill="hold">
                                          <p:stCondLst>
                                            <p:cond delay="0"/>
                                          </p:stCondLst>
                                        </p:cTn>
                                        <p:tgtEl>
                                          <p:spTgt spid="70"/>
                                        </p:tgtEl>
                                        <p:attrNameLst>
                                          <p:attrName>style.visibility</p:attrName>
                                        </p:attrNameLst>
                                      </p:cBhvr>
                                      <p:to>
                                        <p:strVal val="visible"/>
                                      </p:to>
                                    </p:set>
                                    <p:animEffect transition="in" filter="wipe(right)">
                                      <p:cBhvr>
                                        <p:cTn id="17" dur="1000"/>
                                        <p:tgtEl>
                                          <p:spTgt spid="7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2" fill="hold" nodeType="clickEffect">
                                  <p:stCondLst>
                                    <p:cond delay="0"/>
                                  </p:stCondLst>
                                  <p:childTnLst>
                                    <p:set>
                                      <p:cBhvr>
                                        <p:cTn id="21" dur="1" fill="hold">
                                          <p:stCondLst>
                                            <p:cond delay="0"/>
                                          </p:stCondLst>
                                        </p:cTn>
                                        <p:tgtEl>
                                          <p:spTgt spid="71"/>
                                        </p:tgtEl>
                                        <p:attrNameLst>
                                          <p:attrName>style.visibility</p:attrName>
                                        </p:attrNameLst>
                                      </p:cBhvr>
                                      <p:to>
                                        <p:strVal val="visible"/>
                                      </p:to>
                                    </p:set>
                                    <p:animEffect transition="in" filter="wipe(right)">
                                      <p:cBhvr>
                                        <p:cTn id="22" dur="1000"/>
                                        <p:tgtEl>
                                          <p:spTgt spid="7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2" fill="hold" nodeType="clickEffect">
                                  <p:stCondLst>
                                    <p:cond delay="0"/>
                                  </p:stCondLst>
                                  <p:childTnLst>
                                    <p:set>
                                      <p:cBhvr>
                                        <p:cTn id="26" dur="1" fill="hold">
                                          <p:stCondLst>
                                            <p:cond delay="0"/>
                                          </p:stCondLst>
                                        </p:cTn>
                                        <p:tgtEl>
                                          <p:spTgt spid="72"/>
                                        </p:tgtEl>
                                        <p:attrNameLst>
                                          <p:attrName>style.visibility</p:attrName>
                                        </p:attrNameLst>
                                      </p:cBhvr>
                                      <p:to>
                                        <p:strVal val="visible"/>
                                      </p:to>
                                    </p:set>
                                    <p:animEffect transition="in" filter="wipe(right)">
                                      <p:cBhvr>
                                        <p:cTn id="27" dur="10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4" name="Title 1"/>
          <p:cNvSpPr>
            <a:spLocks noGrp="1"/>
          </p:cNvSpPr>
          <p:nvPr>
            <p:ph type="ctrTitle" idx="4294967295"/>
          </p:nvPr>
        </p:nvSpPr>
        <p:spPr>
          <a:xfrm>
            <a:off x="685800" y="228600"/>
            <a:ext cx="3775075" cy="585788"/>
          </a:xfrm>
        </p:spPr>
        <p:txBody>
          <a:bodyPr wrap="none" lIns="36000" tIns="36000" rIns="36000" bIns="36000" anchor="t">
            <a:spAutoFit/>
          </a:bodyPr>
          <a:lstStyle/>
          <a:p>
            <a:pPr algn="l" eaLnBrk="1" hangingPunct="1">
              <a:defRPr/>
            </a:pPr>
            <a:r>
              <a:rPr lang="en-GB" sz="3200" b="1" dirty="0" smtClean="0">
                <a:solidFill>
                  <a:srgbClr val="C00000"/>
                </a:solidFill>
                <a:latin typeface="+mn-lt"/>
              </a:rPr>
              <a:t>Normalized Relations</a:t>
            </a:r>
            <a:endParaRPr lang="en-US" sz="3200" b="1" dirty="0" smtClean="0">
              <a:solidFill>
                <a:schemeClr val="tx2">
                  <a:lumMod val="75000"/>
                </a:schemeClr>
              </a:solidFill>
              <a:latin typeface="+mn-lt"/>
            </a:endParaRPr>
          </a:p>
        </p:txBody>
      </p:sp>
      <p:sp>
        <p:nvSpPr>
          <p:cNvPr id="18" name="TextBox 17"/>
          <p:cNvSpPr txBox="1"/>
          <p:nvPr/>
        </p:nvSpPr>
        <p:spPr>
          <a:xfrm>
            <a:off x="3594100" y="3708400"/>
            <a:ext cx="508000" cy="295275"/>
          </a:xfrm>
          <a:prstGeom prst="rect">
            <a:avLst/>
          </a:prstGeom>
          <a:noFill/>
        </p:spPr>
        <p:txBody>
          <a:bodyPr wrap="none" lIns="9144" tIns="9144" rIns="9144" bIns="9144">
            <a:spAutoFit/>
          </a:bodyPr>
          <a:lstStyle/>
          <a:p>
            <a:pPr>
              <a:defRPr/>
            </a:pPr>
            <a:r>
              <a:rPr lang="en-GB" b="1" dirty="0">
                <a:solidFill>
                  <a:schemeClr val="tx2">
                    <a:lumMod val="50000"/>
                  </a:schemeClr>
                </a:solidFill>
                <a:latin typeface="+mn-lt"/>
              </a:rPr>
              <a:t>PART</a:t>
            </a:r>
            <a:endParaRPr lang="en-US" b="1" dirty="0">
              <a:solidFill>
                <a:schemeClr val="tx2">
                  <a:lumMod val="50000"/>
                </a:schemeClr>
              </a:solidFill>
              <a:latin typeface="+mn-lt"/>
            </a:endParaRPr>
          </a:p>
        </p:txBody>
      </p:sp>
      <p:sp>
        <p:nvSpPr>
          <p:cNvPr id="19" name="TextBox 18"/>
          <p:cNvSpPr txBox="1"/>
          <p:nvPr/>
        </p:nvSpPr>
        <p:spPr>
          <a:xfrm>
            <a:off x="3565525" y="5362575"/>
            <a:ext cx="927100" cy="295275"/>
          </a:xfrm>
          <a:prstGeom prst="rect">
            <a:avLst/>
          </a:prstGeom>
          <a:noFill/>
        </p:spPr>
        <p:txBody>
          <a:bodyPr wrap="none" lIns="9144" tIns="9144" rIns="9144" bIns="9144">
            <a:spAutoFit/>
          </a:bodyPr>
          <a:lstStyle/>
          <a:p>
            <a:pPr>
              <a:defRPr/>
            </a:pPr>
            <a:r>
              <a:rPr lang="en-GB" b="1" dirty="0">
                <a:solidFill>
                  <a:schemeClr val="tx2">
                    <a:lumMod val="50000"/>
                  </a:schemeClr>
                </a:solidFill>
                <a:latin typeface="+mn-lt"/>
              </a:rPr>
              <a:t>SUPPLIER</a:t>
            </a:r>
            <a:endParaRPr lang="en-US" b="1" dirty="0">
              <a:solidFill>
                <a:schemeClr val="tx2">
                  <a:lumMod val="50000"/>
                </a:schemeClr>
              </a:solidFill>
              <a:latin typeface="+mn-lt"/>
            </a:endParaRPr>
          </a:p>
        </p:txBody>
      </p:sp>
      <p:graphicFrame>
        <p:nvGraphicFramePr>
          <p:cNvPr id="22" name="Table 21"/>
          <p:cNvGraphicFramePr>
            <a:graphicFrameLocks noGrp="1"/>
          </p:cNvGraphicFramePr>
          <p:nvPr>
            <p:extLst>
              <p:ext uri="{D42A27DB-BD31-4B8C-83A1-F6EECF244321}">
                <p14:modId xmlns:p14="http://schemas.microsoft.com/office/powerpoint/2010/main" val="3662861904"/>
              </p:ext>
            </p:extLst>
          </p:nvPr>
        </p:nvGraphicFramePr>
        <p:xfrm>
          <a:off x="3538538" y="4014788"/>
          <a:ext cx="2882900" cy="1200150"/>
        </p:xfrm>
        <a:graphic>
          <a:graphicData uri="http://schemas.openxmlformats.org/drawingml/2006/table">
            <a:tbl>
              <a:tblPr firstRow="1" bandRow="1">
                <a:tableStyleId>{F5AB1C69-6EDB-4FF4-983F-18BD219EF322}</a:tableStyleId>
              </a:tblPr>
              <a:tblGrid>
                <a:gridCol w="825906">
                  <a:extLst>
                    <a:ext uri="{9D8B030D-6E8A-4147-A177-3AD203B41FA5}">
                      <a16:colId xmlns:a16="http://schemas.microsoft.com/office/drawing/2014/main" val="20000"/>
                    </a:ext>
                  </a:extLst>
                </a:gridCol>
                <a:gridCol w="1032681">
                  <a:extLst>
                    <a:ext uri="{9D8B030D-6E8A-4147-A177-3AD203B41FA5}">
                      <a16:colId xmlns:a16="http://schemas.microsoft.com/office/drawing/2014/main" val="20001"/>
                    </a:ext>
                  </a:extLst>
                </a:gridCol>
                <a:gridCol w="1024313">
                  <a:extLst>
                    <a:ext uri="{9D8B030D-6E8A-4147-A177-3AD203B41FA5}">
                      <a16:colId xmlns:a16="http://schemas.microsoft.com/office/drawing/2014/main" val="20002"/>
                    </a:ext>
                  </a:extLst>
                </a:gridCol>
              </a:tblGrid>
              <a:tr h="365670">
                <a:tc>
                  <a:txBody>
                    <a:bodyPr/>
                    <a:lstStyle/>
                    <a:p>
                      <a:pPr algn="ctr"/>
                      <a:r>
                        <a:rPr lang="en-GB" sz="1600" u="sng" dirty="0" err="1" smtClean="0">
                          <a:solidFill>
                            <a:srgbClr val="FF0000"/>
                          </a:solidFill>
                        </a:rPr>
                        <a:t>PartNo</a:t>
                      </a:r>
                      <a:endParaRPr lang="en-SG" sz="1600" u="sng" dirty="0">
                        <a:solidFill>
                          <a:srgbClr val="FF0000"/>
                        </a:solidFill>
                      </a:endParaRPr>
                    </a:p>
                  </a:txBody>
                  <a:tcPr marL="91433" marR="91433" marT="45709" marB="45709">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GB" sz="1600" dirty="0" err="1" smtClean="0">
                          <a:solidFill>
                            <a:schemeClr val="tx1"/>
                          </a:solidFill>
                        </a:rPr>
                        <a:t>PartDesc</a:t>
                      </a:r>
                      <a:endParaRPr lang="en-SG" sz="1600" dirty="0">
                        <a:solidFill>
                          <a:schemeClr val="tx1"/>
                        </a:solidFill>
                      </a:endParaRPr>
                    </a:p>
                  </a:txBody>
                  <a:tcPr marL="91433" marR="91433" marT="45709" marB="45709">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GB" sz="1600" dirty="0" smtClean="0">
                          <a:solidFill>
                            <a:schemeClr val="tx1"/>
                          </a:solidFill>
                        </a:rPr>
                        <a:t>Store</a:t>
                      </a:r>
                      <a:endParaRPr lang="en-SG" sz="1600" dirty="0">
                        <a:solidFill>
                          <a:schemeClr val="tx1"/>
                        </a:solidFill>
                      </a:endParaRPr>
                    </a:p>
                  </a:txBody>
                  <a:tcPr marL="91433" marR="91433" marT="45709" marB="45709">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417240">
                <a:tc>
                  <a:txBody>
                    <a:bodyPr/>
                    <a:lstStyle/>
                    <a:p>
                      <a:pPr algn="ctr"/>
                      <a:r>
                        <a:rPr lang="en-GB" sz="1600" dirty="0" smtClean="0"/>
                        <a:t>P1</a:t>
                      </a:r>
                      <a:endParaRPr lang="en-SG" sz="1600" dirty="0"/>
                    </a:p>
                  </a:txBody>
                  <a:tcPr marL="91433" marR="91433" marT="45709" marB="45709">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FC000"/>
                    </a:solidFill>
                  </a:tcPr>
                </a:tc>
                <a:tc>
                  <a:txBody>
                    <a:bodyPr/>
                    <a:lstStyle/>
                    <a:p>
                      <a:pPr algn="ctr"/>
                      <a:r>
                        <a:rPr lang="en-GB" sz="1600" dirty="0" smtClean="0"/>
                        <a:t>Printer</a:t>
                      </a:r>
                      <a:endParaRPr lang="en-SG" sz="1600" dirty="0"/>
                    </a:p>
                  </a:txBody>
                  <a:tcPr marL="91433" marR="91433" marT="45709" marB="45709">
                    <a:lnT w="12700" cap="flat" cmpd="sng" algn="ctr">
                      <a:solidFill>
                        <a:schemeClr val="tx1"/>
                      </a:solidFill>
                      <a:prstDash val="solid"/>
                      <a:round/>
                      <a:headEnd type="none" w="med" len="med"/>
                      <a:tailEnd type="none" w="med" len="med"/>
                    </a:lnT>
                    <a:solidFill>
                      <a:srgbClr val="FFC000"/>
                    </a:solidFill>
                  </a:tcPr>
                </a:tc>
                <a:tc>
                  <a:txBody>
                    <a:bodyPr/>
                    <a:lstStyle/>
                    <a:p>
                      <a:pPr algn="ctr"/>
                      <a:r>
                        <a:rPr lang="en-GB" sz="1600" dirty="0" smtClean="0"/>
                        <a:t>Ken</a:t>
                      </a:r>
                      <a:endParaRPr lang="en-SG" sz="1600" dirty="0"/>
                    </a:p>
                  </a:txBody>
                  <a:tcPr marL="91433" marR="91433" marT="45709" marB="45709">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C000"/>
                    </a:solidFill>
                  </a:tcPr>
                </a:tc>
                <a:extLst>
                  <a:ext uri="{0D108BD9-81ED-4DB2-BD59-A6C34878D82A}">
                    <a16:rowId xmlns:a16="http://schemas.microsoft.com/office/drawing/2014/main" val="10001"/>
                  </a:ext>
                </a:extLst>
              </a:tr>
              <a:tr h="417240">
                <a:tc>
                  <a:txBody>
                    <a:bodyPr/>
                    <a:lstStyle/>
                    <a:p>
                      <a:pPr algn="ctr"/>
                      <a:r>
                        <a:rPr lang="en-GB" sz="1600" dirty="0" smtClean="0">
                          <a:solidFill>
                            <a:srgbClr val="FF0000"/>
                          </a:solidFill>
                        </a:rPr>
                        <a:t>P2</a:t>
                      </a:r>
                      <a:endParaRPr lang="en-SG" sz="1600" dirty="0">
                        <a:solidFill>
                          <a:srgbClr val="FF0000"/>
                        </a:solidFill>
                      </a:endParaRPr>
                    </a:p>
                  </a:txBody>
                  <a:tcPr marL="91433" marR="91433" marT="45709" marB="45709">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FFC000"/>
                    </a:solidFill>
                  </a:tcPr>
                </a:tc>
                <a:tc>
                  <a:txBody>
                    <a:bodyPr/>
                    <a:lstStyle/>
                    <a:p>
                      <a:pPr algn="ctr"/>
                      <a:r>
                        <a:rPr lang="en-GB" sz="1600" dirty="0" smtClean="0">
                          <a:solidFill>
                            <a:srgbClr val="FF0000"/>
                          </a:solidFill>
                        </a:rPr>
                        <a:t>Speaker</a:t>
                      </a:r>
                      <a:endParaRPr lang="en-SG" sz="1600" dirty="0">
                        <a:solidFill>
                          <a:srgbClr val="FF0000"/>
                        </a:solidFill>
                      </a:endParaRPr>
                    </a:p>
                  </a:txBody>
                  <a:tcPr marL="91433" marR="91433" marT="45709" marB="45709">
                    <a:lnB w="12700" cap="flat" cmpd="sng" algn="ctr">
                      <a:solidFill>
                        <a:schemeClr val="tx1"/>
                      </a:solidFill>
                      <a:prstDash val="solid"/>
                      <a:round/>
                      <a:headEnd type="none" w="med" len="med"/>
                      <a:tailEnd type="none" w="med" len="med"/>
                    </a:lnB>
                    <a:solidFill>
                      <a:srgbClr val="FFC000"/>
                    </a:solidFill>
                  </a:tcPr>
                </a:tc>
                <a:tc>
                  <a:txBody>
                    <a:bodyPr/>
                    <a:lstStyle/>
                    <a:p>
                      <a:pPr algn="ctr"/>
                      <a:r>
                        <a:rPr lang="en-GB" sz="1600" dirty="0" smtClean="0">
                          <a:solidFill>
                            <a:srgbClr val="FF0000"/>
                          </a:solidFill>
                        </a:rPr>
                        <a:t>Alvin</a:t>
                      </a:r>
                      <a:endParaRPr lang="en-SG" sz="1600" dirty="0">
                        <a:solidFill>
                          <a:srgbClr val="FF0000"/>
                        </a:solidFill>
                      </a:endParaRPr>
                    </a:p>
                  </a:txBody>
                  <a:tcPr marL="91433" marR="91433" marT="45709" marB="45709">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2"/>
                  </a:ext>
                </a:extLst>
              </a:tr>
            </a:tbl>
          </a:graphicData>
        </a:graphic>
      </p:graphicFrame>
      <p:graphicFrame>
        <p:nvGraphicFramePr>
          <p:cNvPr id="24" name="Table 23"/>
          <p:cNvGraphicFramePr>
            <a:graphicFrameLocks noGrp="1"/>
          </p:cNvGraphicFramePr>
          <p:nvPr>
            <p:extLst>
              <p:ext uri="{D42A27DB-BD31-4B8C-83A1-F6EECF244321}">
                <p14:modId xmlns:p14="http://schemas.microsoft.com/office/powerpoint/2010/main" val="1297479425"/>
              </p:ext>
            </p:extLst>
          </p:nvPr>
        </p:nvGraphicFramePr>
        <p:xfrm>
          <a:off x="3546475" y="5681663"/>
          <a:ext cx="3687762" cy="1100137"/>
        </p:xfrm>
        <a:graphic>
          <a:graphicData uri="http://schemas.openxmlformats.org/drawingml/2006/table">
            <a:tbl>
              <a:tblPr firstRow="1" bandRow="1">
                <a:tableStyleId>{5C22544A-7EE6-4342-B048-85BDC9FD1C3A}</a:tableStyleId>
              </a:tblPr>
              <a:tblGrid>
                <a:gridCol w="1016605">
                  <a:extLst>
                    <a:ext uri="{9D8B030D-6E8A-4147-A177-3AD203B41FA5}">
                      <a16:colId xmlns:a16="http://schemas.microsoft.com/office/drawing/2014/main" val="20000"/>
                    </a:ext>
                  </a:extLst>
                </a:gridCol>
                <a:gridCol w="1517793">
                  <a:extLst>
                    <a:ext uri="{9D8B030D-6E8A-4147-A177-3AD203B41FA5}">
                      <a16:colId xmlns:a16="http://schemas.microsoft.com/office/drawing/2014/main" val="20001"/>
                    </a:ext>
                  </a:extLst>
                </a:gridCol>
                <a:gridCol w="1153364">
                  <a:extLst>
                    <a:ext uri="{9D8B030D-6E8A-4147-A177-3AD203B41FA5}">
                      <a16:colId xmlns:a16="http://schemas.microsoft.com/office/drawing/2014/main" val="20002"/>
                    </a:ext>
                  </a:extLst>
                </a:gridCol>
              </a:tblGrid>
              <a:tr h="402593">
                <a:tc>
                  <a:txBody>
                    <a:bodyPr/>
                    <a:lstStyle/>
                    <a:p>
                      <a:pPr algn="ctr"/>
                      <a:r>
                        <a:rPr lang="en-GB" sz="1600" u="sng" dirty="0" err="1" smtClean="0">
                          <a:solidFill>
                            <a:srgbClr val="FF0000"/>
                          </a:solidFill>
                        </a:rPr>
                        <a:t>SuppNo</a:t>
                      </a:r>
                      <a:endParaRPr lang="en-SG" sz="1600" u="sng" dirty="0">
                        <a:solidFill>
                          <a:srgbClr val="FF0000"/>
                        </a:solidFill>
                      </a:endParaRPr>
                    </a:p>
                  </a:txBody>
                  <a:tcPr marT="45707" marB="45707">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GB" sz="1600" dirty="0" err="1" smtClean="0">
                          <a:solidFill>
                            <a:schemeClr val="tx1"/>
                          </a:solidFill>
                        </a:rPr>
                        <a:t>SuppName</a:t>
                      </a:r>
                      <a:endParaRPr lang="en-SG" sz="1600" dirty="0">
                        <a:solidFill>
                          <a:schemeClr val="tx1"/>
                        </a:solidFill>
                      </a:endParaRPr>
                    </a:p>
                  </a:txBody>
                  <a:tcPr marT="45707" marB="45707">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GB" sz="1600" dirty="0" err="1" smtClean="0">
                          <a:solidFill>
                            <a:schemeClr val="tx1"/>
                          </a:solidFill>
                        </a:rPr>
                        <a:t>SuppAddr</a:t>
                      </a:r>
                      <a:endParaRPr lang="en-SG" sz="1600" dirty="0">
                        <a:solidFill>
                          <a:schemeClr val="tx1"/>
                        </a:solidFill>
                      </a:endParaRPr>
                    </a:p>
                  </a:txBody>
                  <a:tcPr marT="45707" marB="45707">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0"/>
                  </a:ext>
                </a:extLst>
              </a:tr>
              <a:tr h="338072">
                <a:tc>
                  <a:txBody>
                    <a:bodyPr/>
                    <a:lstStyle/>
                    <a:p>
                      <a:pPr algn="ctr"/>
                      <a:r>
                        <a:rPr lang="en-GB" sz="1600" dirty="0" smtClean="0"/>
                        <a:t>S1</a:t>
                      </a:r>
                      <a:endParaRPr lang="en-SG" sz="1600" dirty="0"/>
                    </a:p>
                  </a:txBody>
                  <a:tcPr marT="45707" marB="45707">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GB" sz="1600" dirty="0" err="1" smtClean="0"/>
                        <a:t>Brightware</a:t>
                      </a:r>
                      <a:endParaRPr lang="en-SG" sz="1600" dirty="0"/>
                    </a:p>
                  </a:txBody>
                  <a:tcPr marT="45707" marB="45707">
                    <a:lnT w="12700" cap="flat" cmpd="sng" algn="ctr">
                      <a:solidFill>
                        <a:schemeClr val="tx1"/>
                      </a:solidFill>
                      <a:prstDash val="solid"/>
                      <a:round/>
                      <a:headEnd type="none" w="med" len="med"/>
                      <a:tailEnd type="none" w="med" len="med"/>
                    </a:lnT>
                  </a:tcPr>
                </a:tc>
                <a:tc>
                  <a:txBody>
                    <a:bodyPr/>
                    <a:lstStyle/>
                    <a:p>
                      <a:pPr algn="ctr"/>
                      <a:r>
                        <a:rPr lang="en-GB" sz="1600" dirty="0" smtClean="0"/>
                        <a:t>AMK</a:t>
                      </a:r>
                      <a:endParaRPr lang="en-SG" sz="1600" dirty="0"/>
                    </a:p>
                  </a:txBody>
                  <a:tcPr marT="45707" marB="45707">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359472">
                <a:tc>
                  <a:txBody>
                    <a:bodyPr/>
                    <a:lstStyle/>
                    <a:p>
                      <a:pPr algn="ctr"/>
                      <a:r>
                        <a:rPr lang="en-GB" sz="1600" dirty="0" smtClean="0">
                          <a:solidFill>
                            <a:srgbClr val="FF0000"/>
                          </a:solidFill>
                        </a:rPr>
                        <a:t>S2</a:t>
                      </a:r>
                      <a:endParaRPr lang="en-SG" sz="1600" dirty="0">
                        <a:solidFill>
                          <a:srgbClr val="FF0000"/>
                        </a:solidFill>
                      </a:endParaRPr>
                    </a:p>
                  </a:txBody>
                  <a:tcPr marT="45707" marB="45707">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GB" sz="1600" dirty="0" err="1" smtClean="0">
                          <a:solidFill>
                            <a:srgbClr val="FF0000"/>
                          </a:solidFill>
                        </a:rPr>
                        <a:t>SuperWare</a:t>
                      </a:r>
                      <a:endParaRPr lang="en-SG" sz="1600" dirty="0">
                        <a:solidFill>
                          <a:srgbClr val="FF0000"/>
                        </a:solidFill>
                      </a:endParaRPr>
                    </a:p>
                  </a:txBody>
                  <a:tcPr marT="45707" marB="45707">
                    <a:lnB w="12700" cap="flat" cmpd="sng" algn="ctr">
                      <a:solidFill>
                        <a:schemeClr val="tx1"/>
                      </a:solidFill>
                      <a:prstDash val="solid"/>
                      <a:round/>
                      <a:headEnd type="none" w="med" len="med"/>
                      <a:tailEnd type="none" w="med" len="med"/>
                    </a:lnB>
                  </a:tcPr>
                </a:tc>
                <a:tc>
                  <a:txBody>
                    <a:bodyPr/>
                    <a:lstStyle/>
                    <a:p>
                      <a:pPr algn="ctr"/>
                      <a:r>
                        <a:rPr lang="en-GB" sz="1600" dirty="0" err="1" smtClean="0">
                          <a:solidFill>
                            <a:srgbClr val="FF0000"/>
                          </a:solidFill>
                        </a:rPr>
                        <a:t>Yishun</a:t>
                      </a:r>
                      <a:endParaRPr lang="en-SG" sz="1600" dirty="0">
                        <a:solidFill>
                          <a:srgbClr val="FF0000"/>
                        </a:solidFill>
                      </a:endParaRPr>
                    </a:p>
                  </a:txBody>
                  <a:tcPr marT="45707" marB="45707">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25" name="Table 24"/>
          <p:cNvGraphicFramePr>
            <a:graphicFrameLocks noGrp="1"/>
          </p:cNvGraphicFramePr>
          <p:nvPr>
            <p:extLst>
              <p:ext uri="{D42A27DB-BD31-4B8C-83A1-F6EECF244321}">
                <p14:modId xmlns:p14="http://schemas.microsoft.com/office/powerpoint/2010/main" val="3607098844"/>
              </p:ext>
            </p:extLst>
          </p:nvPr>
        </p:nvGraphicFramePr>
        <p:xfrm>
          <a:off x="609600" y="3971925"/>
          <a:ext cx="2586038" cy="1676400"/>
        </p:xfrm>
        <a:graphic>
          <a:graphicData uri="http://schemas.openxmlformats.org/drawingml/2006/table">
            <a:tbl>
              <a:tblPr firstRow="1" bandRow="1">
                <a:tableStyleId>{21E4AEA4-8DFA-4A89-87EB-49C32662AFE0}</a:tableStyleId>
              </a:tblPr>
              <a:tblGrid>
                <a:gridCol w="832900">
                  <a:extLst>
                    <a:ext uri="{9D8B030D-6E8A-4147-A177-3AD203B41FA5}">
                      <a16:colId xmlns:a16="http://schemas.microsoft.com/office/drawing/2014/main" val="20000"/>
                    </a:ext>
                  </a:extLst>
                </a:gridCol>
                <a:gridCol w="990904">
                  <a:extLst>
                    <a:ext uri="{9D8B030D-6E8A-4147-A177-3AD203B41FA5}">
                      <a16:colId xmlns:a16="http://schemas.microsoft.com/office/drawing/2014/main" val="20001"/>
                    </a:ext>
                  </a:extLst>
                </a:gridCol>
                <a:gridCol w="762234">
                  <a:extLst>
                    <a:ext uri="{9D8B030D-6E8A-4147-A177-3AD203B41FA5}">
                      <a16:colId xmlns:a16="http://schemas.microsoft.com/office/drawing/2014/main" val="20002"/>
                    </a:ext>
                  </a:extLst>
                </a:gridCol>
              </a:tblGrid>
              <a:tr h="335280">
                <a:tc>
                  <a:txBody>
                    <a:bodyPr/>
                    <a:lstStyle/>
                    <a:p>
                      <a:pPr algn="ctr"/>
                      <a:r>
                        <a:rPr lang="en-GB" sz="1600" u="none" dirty="0" err="1" smtClean="0">
                          <a:solidFill>
                            <a:srgbClr val="FF0000"/>
                          </a:solidFill>
                        </a:rPr>
                        <a:t>PartNo</a:t>
                      </a:r>
                      <a:endParaRPr lang="en-SG" sz="1600" u="none" dirty="0">
                        <a:solidFill>
                          <a:srgbClr val="FF0000"/>
                        </a:solidFill>
                      </a:endParaRPr>
                    </a:p>
                  </a:txBody>
                  <a:tcPr marL="91469" marR="91469" marT="45712" marB="45712">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GB" sz="1600" u="none" dirty="0" err="1" smtClean="0">
                          <a:solidFill>
                            <a:srgbClr val="FF0000"/>
                          </a:solidFill>
                        </a:rPr>
                        <a:t>SuppNo</a:t>
                      </a:r>
                      <a:endParaRPr lang="en-SG" sz="1600" u="none" dirty="0">
                        <a:solidFill>
                          <a:srgbClr val="FF0000"/>
                        </a:solidFill>
                      </a:endParaRPr>
                    </a:p>
                  </a:txBody>
                  <a:tcPr marL="91469" marR="91469" marT="45712" marB="45712">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GB" sz="1600" dirty="0" smtClean="0">
                          <a:solidFill>
                            <a:schemeClr val="accent1">
                              <a:lumMod val="75000"/>
                            </a:schemeClr>
                          </a:solidFill>
                        </a:rPr>
                        <a:t>Cost</a:t>
                      </a:r>
                      <a:endParaRPr lang="en-SG" sz="1600" dirty="0">
                        <a:solidFill>
                          <a:schemeClr val="accent1">
                            <a:lumMod val="75000"/>
                          </a:schemeClr>
                        </a:solidFill>
                      </a:endParaRPr>
                    </a:p>
                  </a:txBody>
                  <a:tcPr marL="91469" marR="91469" marT="45712" marB="45712">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0"/>
                  </a:ext>
                </a:extLst>
              </a:tr>
              <a:tr h="335280">
                <a:tc>
                  <a:txBody>
                    <a:bodyPr/>
                    <a:lstStyle/>
                    <a:p>
                      <a:pPr algn="ctr"/>
                      <a:r>
                        <a:rPr lang="en-GB" sz="1600" dirty="0" smtClean="0"/>
                        <a:t>P1</a:t>
                      </a:r>
                      <a:endParaRPr lang="en-SG" sz="1600" dirty="0"/>
                    </a:p>
                  </a:txBody>
                  <a:tcPr marL="91469" marR="91469" marT="45712" marB="45712">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a:r>
                        <a:rPr lang="en-GB" sz="1600" dirty="0" smtClean="0"/>
                        <a:t>S1</a:t>
                      </a:r>
                      <a:endParaRPr lang="en-SG" sz="1600" dirty="0"/>
                    </a:p>
                  </a:txBody>
                  <a:tcPr marL="91469" marR="91469" marT="45712" marB="45712">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a:r>
                        <a:rPr lang="en-GB" sz="1600" dirty="0" smtClean="0"/>
                        <a:t>200</a:t>
                      </a:r>
                      <a:endParaRPr lang="en-SG" sz="1600" dirty="0"/>
                    </a:p>
                  </a:txBody>
                  <a:tcPr marL="91469" marR="91469" marT="45712" marB="45712">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10001"/>
                  </a:ext>
                </a:extLst>
              </a:tr>
              <a:tr h="335280">
                <a:tc>
                  <a:txBody>
                    <a:bodyPr/>
                    <a:lstStyle/>
                    <a:p>
                      <a:pPr algn="ctr"/>
                      <a:r>
                        <a:rPr lang="en-GB" sz="1600" dirty="0" smtClean="0">
                          <a:solidFill>
                            <a:srgbClr val="FF0000"/>
                          </a:solidFill>
                        </a:rPr>
                        <a:t>P1</a:t>
                      </a:r>
                      <a:endParaRPr lang="en-SG" sz="1600" dirty="0">
                        <a:solidFill>
                          <a:srgbClr val="FF0000"/>
                        </a:solidFill>
                      </a:endParaRPr>
                    </a:p>
                  </a:txBody>
                  <a:tcPr marL="91469" marR="91469" marT="45712" marB="45712">
                    <a:lnL w="12700" cap="flat" cmpd="sng" algn="ctr">
                      <a:solidFill>
                        <a:schemeClr val="tx1"/>
                      </a:solidFill>
                      <a:prstDash val="solid"/>
                      <a:round/>
                      <a:headEnd type="none" w="med" len="med"/>
                      <a:tailEnd type="none" w="med" len="med"/>
                    </a:lnL>
                    <a:solidFill>
                      <a:schemeClr val="accent6">
                        <a:lumMod val="40000"/>
                        <a:lumOff val="60000"/>
                      </a:schemeClr>
                    </a:solidFill>
                  </a:tcPr>
                </a:tc>
                <a:tc>
                  <a:txBody>
                    <a:bodyPr/>
                    <a:lstStyle/>
                    <a:p>
                      <a:pPr algn="ctr"/>
                      <a:r>
                        <a:rPr lang="en-GB" sz="1600" dirty="0" smtClean="0">
                          <a:solidFill>
                            <a:srgbClr val="FF0000"/>
                          </a:solidFill>
                        </a:rPr>
                        <a:t>S2</a:t>
                      </a:r>
                      <a:endParaRPr lang="en-SG" sz="1600" dirty="0">
                        <a:solidFill>
                          <a:srgbClr val="FF0000"/>
                        </a:solidFill>
                      </a:endParaRPr>
                    </a:p>
                  </a:txBody>
                  <a:tcPr marL="91469" marR="91469" marT="45712" marB="45712">
                    <a:solidFill>
                      <a:schemeClr val="accent6">
                        <a:lumMod val="40000"/>
                        <a:lumOff val="60000"/>
                      </a:schemeClr>
                    </a:solidFill>
                  </a:tcPr>
                </a:tc>
                <a:tc>
                  <a:txBody>
                    <a:bodyPr/>
                    <a:lstStyle/>
                    <a:p>
                      <a:pPr algn="ctr"/>
                      <a:r>
                        <a:rPr lang="en-GB" sz="1600" dirty="0" smtClean="0"/>
                        <a:t>220</a:t>
                      </a:r>
                      <a:endParaRPr lang="en-SG" sz="1600" dirty="0">
                        <a:solidFill>
                          <a:srgbClr val="C00000"/>
                        </a:solidFill>
                      </a:endParaRPr>
                    </a:p>
                  </a:txBody>
                  <a:tcPr marL="91469" marR="91469" marT="45712" marB="45712">
                    <a:lnR w="12700" cap="flat" cmpd="sng" algn="ctr">
                      <a:solidFill>
                        <a:schemeClr val="tx1"/>
                      </a:solidFill>
                      <a:prstDash val="solid"/>
                      <a:round/>
                      <a:headEnd type="none" w="med" len="med"/>
                      <a:tailEnd type="none" w="med" len="med"/>
                    </a:lnR>
                    <a:solidFill>
                      <a:schemeClr val="accent6">
                        <a:lumMod val="40000"/>
                        <a:lumOff val="60000"/>
                      </a:schemeClr>
                    </a:solidFill>
                  </a:tcPr>
                </a:tc>
                <a:extLst>
                  <a:ext uri="{0D108BD9-81ED-4DB2-BD59-A6C34878D82A}">
                    <a16:rowId xmlns:a16="http://schemas.microsoft.com/office/drawing/2014/main" val="10002"/>
                  </a:ext>
                </a:extLst>
              </a:tr>
              <a:tr h="335280">
                <a:tc>
                  <a:txBody>
                    <a:bodyPr/>
                    <a:lstStyle/>
                    <a:p>
                      <a:pPr algn="ctr"/>
                      <a:r>
                        <a:rPr lang="en-GB" sz="1600" dirty="0" smtClean="0"/>
                        <a:t>P2</a:t>
                      </a:r>
                      <a:endParaRPr lang="en-SG" sz="1600" dirty="0">
                        <a:solidFill>
                          <a:schemeClr val="tx1"/>
                        </a:solidFill>
                      </a:endParaRPr>
                    </a:p>
                  </a:txBody>
                  <a:tcPr marL="91469" marR="91469" marT="45712" marB="45712">
                    <a:lnL w="12700" cap="flat" cmpd="sng" algn="ctr">
                      <a:solidFill>
                        <a:schemeClr val="tx1"/>
                      </a:solidFill>
                      <a:prstDash val="solid"/>
                      <a:round/>
                      <a:headEnd type="none" w="med" len="med"/>
                      <a:tailEnd type="none" w="med" len="med"/>
                    </a:lnL>
                    <a:solidFill>
                      <a:schemeClr val="accent6">
                        <a:lumMod val="40000"/>
                        <a:lumOff val="60000"/>
                      </a:schemeClr>
                    </a:solidFill>
                  </a:tcPr>
                </a:tc>
                <a:tc>
                  <a:txBody>
                    <a:bodyPr/>
                    <a:lstStyle/>
                    <a:p>
                      <a:pPr algn="ctr"/>
                      <a:r>
                        <a:rPr lang="en-GB" sz="1600" dirty="0" smtClean="0"/>
                        <a:t>S1</a:t>
                      </a:r>
                      <a:endParaRPr lang="en-SG" sz="1600" dirty="0">
                        <a:solidFill>
                          <a:schemeClr val="tx1"/>
                        </a:solidFill>
                      </a:endParaRPr>
                    </a:p>
                  </a:txBody>
                  <a:tcPr marL="91469" marR="91469" marT="45712" marB="45712">
                    <a:solidFill>
                      <a:schemeClr val="accent6">
                        <a:lumMod val="40000"/>
                        <a:lumOff val="60000"/>
                      </a:schemeClr>
                    </a:solidFill>
                  </a:tcPr>
                </a:tc>
                <a:tc>
                  <a:txBody>
                    <a:bodyPr/>
                    <a:lstStyle/>
                    <a:p>
                      <a:pPr algn="ctr"/>
                      <a:r>
                        <a:rPr lang="en-GB" sz="1600" dirty="0" smtClean="0"/>
                        <a:t>300</a:t>
                      </a:r>
                      <a:endParaRPr lang="en-SG" sz="1600" dirty="0">
                        <a:solidFill>
                          <a:schemeClr val="tx1"/>
                        </a:solidFill>
                      </a:endParaRPr>
                    </a:p>
                  </a:txBody>
                  <a:tcPr marL="91469" marR="91469" marT="45712" marB="45712">
                    <a:lnR w="12700" cap="flat" cmpd="sng" algn="ctr">
                      <a:solidFill>
                        <a:schemeClr val="tx1"/>
                      </a:solidFill>
                      <a:prstDash val="solid"/>
                      <a:round/>
                      <a:headEnd type="none" w="med" len="med"/>
                      <a:tailEnd type="none" w="med" len="med"/>
                    </a:lnR>
                    <a:solidFill>
                      <a:schemeClr val="accent6">
                        <a:lumMod val="40000"/>
                        <a:lumOff val="60000"/>
                      </a:schemeClr>
                    </a:solidFill>
                  </a:tcPr>
                </a:tc>
                <a:extLst>
                  <a:ext uri="{0D108BD9-81ED-4DB2-BD59-A6C34878D82A}">
                    <a16:rowId xmlns:a16="http://schemas.microsoft.com/office/drawing/2014/main" val="10003"/>
                  </a:ext>
                </a:extLst>
              </a:tr>
              <a:tr h="335280">
                <a:tc>
                  <a:txBody>
                    <a:bodyPr/>
                    <a:lstStyle/>
                    <a:p>
                      <a:pPr algn="ctr"/>
                      <a:r>
                        <a:rPr lang="en-GB" sz="1600" dirty="0" smtClean="0">
                          <a:solidFill>
                            <a:srgbClr val="FF0000"/>
                          </a:solidFill>
                        </a:rPr>
                        <a:t>P2</a:t>
                      </a:r>
                      <a:endParaRPr lang="en-SG" sz="1600" dirty="0">
                        <a:solidFill>
                          <a:srgbClr val="FF0000"/>
                        </a:solidFill>
                      </a:endParaRPr>
                    </a:p>
                  </a:txBody>
                  <a:tcPr marL="91469" marR="91469" marT="45712" marB="45712">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GB" sz="1600" dirty="0" smtClean="0">
                          <a:solidFill>
                            <a:srgbClr val="FF0000"/>
                          </a:solidFill>
                        </a:rPr>
                        <a:t>S2</a:t>
                      </a:r>
                      <a:endParaRPr lang="en-SG" sz="1600" dirty="0">
                        <a:solidFill>
                          <a:srgbClr val="FF0000"/>
                        </a:solidFill>
                      </a:endParaRPr>
                    </a:p>
                  </a:txBody>
                  <a:tcPr marL="91469" marR="91469" marT="45712" marB="45712">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GB" sz="1600" dirty="0" smtClean="0"/>
                        <a:t>350</a:t>
                      </a:r>
                      <a:endParaRPr lang="en-SG" sz="1600" dirty="0">
                        <a:solidFill>
                          <a:schemeClr val="tx1"/>
                        </a:solidFill>
                      </a:endParaRPr>
                    </a:p>
                  </a:txBody>
                  <a:tcPr marL="91469" marR="91469" marT="45712" marB="45712">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4"/>
                  </a:ext>
                </a:extLst>
              </a:tr>
            </a:tbl>
          </a:graphicData>
        </a:graphic>
      </p:graphicFrame>
      <p:sp>
        <p:nvSpPr>
          <p:cNvPr id="28" name="TextBox 27"/>
          <p:cNvSpPr txBox="1"/>
          <p:nvPr/>
        </p:nvSpPr>
        <p:spPr>
          <a:xfrm>
            <a:off x="620713" y="3667125"/>
            <a:ext cx="1049337" cy="295275"/>
          </a:xfrm>
          <a:prstGeom prst="rect">
            <a:avLst/>
          </a:prstGeom>
          <a:noFill/>
        </p:spPr>
        <p:txBody>
          <a:bodyPr wrap="none" lIns="9144" tIns="9144" rIns="9144" bIns="9144">
            <a:spAutoFit/>
          </a:bodyPr>
          <a:lstStyle/>
          <a:p>
            <a:pPr>
              <a:defRPr/>
            </a:pPr>
            <a:r>
              <a:rPr lang="en-GB" b="1" dirty="0">
                <a:solidFill>
                  <a:schemeClr val="tx2">
                    <a:lumMod val="50000"/>
                  </a:schemeClr>
                </a:solidFill>
                <a:latin typeface="+mn-lt"/>
              </a:rPr>
              <a:t>PURCHASE</a:t>
            </a:r>
            <a:endParaRPr lang="en-US" b="1" dirty="0">
              <a:solidFill>
                <a:schemeClr val="tx2">
                  <a:lumMod val="50000"/>
                </a:schemeClr>
              </a:solidFill>
              <a:latin typeface="+mn-lt"/>
            </a:endParaRPr>
          </a:p>
        </p:txBody>
      </p:sp>
      <p:graphicFrame>
        <p:nvGraphicFramePr>
          <p:cNvPr id="29" name="Table 28"/>
          <p:cNvGraphicFramePr>
            <a:graphicFrameLocks noGrp="1"/>
          </p:cNvGraphicFramePr>
          <p:nvPr>
            <p:extLst>
              <p:ext uri="{D42A27DB-BD31-4B8C-83A1-F6EECF244321}">
                <p14:modId xmlns:p14="http://schemas.microsoft.com/office/powerpoint/2010/main" val="4276425685"/>
              </p:ext>
            </p:extLst>
          </p:nvPr>
        </p:nvGraphicFramePr>
        <p:xfrm>
          <a:off x="6710363" y="4033838"/>
          <a:ext cx="2065337" cy="1200150"/>
        </p:xfrm>
        <a:graphic>
          <a:graphicData uri="http://schemas.openxmlformats.org/drawingml/2006/table">
            <a:tbl>
              <a:tblPr firstRow="1" bandRow="1">
                <a:tableStyleId>{00A15C55-8517-42AA-B614-E9B94910E393}</a:tableStyleId>
              </a:tblPr>
              <a:tblGrid>
                <a:gridCol w="1024301">
                  <a:extLst>
                    <a:ext uri="{9D8B030D-6E8A-4147-A177-3AD203B41FA5}">
                      <a16:colId xmlns:a16="http://schemas.microsoft.com/office/drawing/2014/main" val="20000"/>
                    </a:ext>
                  </a:extLst>
                </a:gridCol>
                <a:gridCol w="1041036">
                  <a:extLst>
                    <a:ext uri="{9D8B030D-6E8A-4147-A177-3AD203B41FA5}">
                      <a16:colId xmlns:a16="http://schemas.microsoft.com/office/drawing/2014/main" val="20001"/>
                    </a:ext>
                  </a:extLst>
                </a:gridCol>
              </a:tblGrid>
              <a:tr h="365670">
                <a:tc>
                  <a:txBody>
                    <a:bodyPr/>
                    <a:lstStyle/>
                    <a:p>
                      <a:pPr algn="ctr"/>
                      <a:r>
                        <a:rPr lang="en-GB" sz="1600" u="sng" dirty="0" smtClean="0">
                          <a:solidFill>
                            <a:srgbClr val="FF0000"/>
                          </a:solidFill>
                        </a:rPr>
                        <a:t>Store</a:t>
                      </a:r>
                      <a:endParaRPr lang="en-SG" sz="1600" u="sng" dirty="0">
                        <a:solidFill>
                          <a:srgbClr val="FF0000"/>
                        </a:solidFill>
                      </a:endParaRPr>
                    </a:p>
                  </a:txBody>
                  <a:tcPr marL="91432" marR="91432" marT="45709" marB="45709">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600" dirty="0" smtClean="0">
                          <a:solidFill>
                            <a:schemeClr val="tx1"/>
                          </a:solidFill>
                        </a:rPr>
                        <a:t>Phone</a:t>
                      </a:r>
                      <a:endParaRPr lang="en-SG" sz="1600" dirty="0">
                        <a:solidFill>
                          <a:schemeClr val="tx1"/>
                        </a:solidFill>
                      </a:endParaRPr>
                    </a:p>
                  </a:txBody>
                  <a:tcPr marL="91432" marR="91432" marT="45709" marB="45709">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0"/>
                  </a:ext>
                </a:extLst>
              </a:tr>
              <a:tr h="417240">
                <a:tc>
                  <a:txBody>
                    <a:bodyPr/>
                    <a:lstStyle/>
                    <a:p>
                      <a:pPr algn="ctr"/>
                      <a:r>
                        <a:rPr lang="en-GB" sz="1600" dirty="0" smtClean="0"/>
                        <a:t>Ken</a:t>
                      </a:r>
                      <a:endParaRPr lang="en-SG" sz="1600" dirty="0"/>
                    </a:p>
                  </a:txBody>
                  <a:tcPr marL="91432" marR="91432" marT="45709" marB="45709">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FFF00"/>
                    </a:solidFill>
                  </a:tcPr>
                </a:tc>
                <a:tc>
                  <a:txBody>
                    <a:bodyPr/>
                    <a:lstStyle/>
                    <a:p>
                      <a:pPr algn="ctr"/>
                      <a:r>
                        <a:rPr lang="en-GB" sz="1600" dirty="0" smtClean="0"/>
                        <a:t>98553344</a:t>
                      </a:r>
                      <a:endParaRPr lang="en-SG" sz="1600" dirty="0"/>
                    </a:p>
                  </a:txBody>
                  <a:tcPr marL="91432" marR="91432" marT="45709" marB="45709">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FF00"/>
                    </a:solidFill>
                  </a:tcPr>
                </a:tc>
                <a:extLst>
                  <a:ext uri="{0D108BD9-81ED-4DB2-BD59-A6C34878D82A}">
                    <a16:rowId xmlns:a16="http://schemas.microsoft.com/office/drawing/2014/main" val="10001"/>
                  </a:ext>
                </a:extLst>
              </a:tr>
              <a:tr h="417240">
                <a:tc>
                  <a:txBody>
                    <a:bodyPr/>
                    <a:lstStyle/>
                    <a:p>
                      <a:pPr algn="ctr"/>
                      <a:r>
                        <a:rPr lang="en-GB" sz="1600" dirty="0" smtClean="0"/>
                        <a:t>Alvin</a:t>
                      </a:r>
                      <a:endParaRPr lang="en-SG" sz="1600" dirty="0">
                        <a:solidFill>
                          <a:srgbClr val="FF0000"/>
                        </a:solidFill>
                      </a:endParaRPr>
                    </a:p>
                  </a:txBody>
                  <a:tcPr marL="91432" marR="91432" marT="45709" marB="45709">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600" dirty="0" smtClean="0"/>
                        <a:t>97334400</a:t>
                      </a:r>
                      <a:endParaRPr lang="en-SG" sz="1600" dirty="0">
                        <a:solidFill>
                          <a:srgbClr val="FF0000"/>
                        </a:solidFill>
                      </a:endParaRPr>
                    </a:p>
                  </a:txBody>
                  <a:tcPr marL="91432" marR="91432" marT="45709" marB="45709">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2"/>
                  </a:ext>
                </a:extLst>
              </a:tr>
            </a:tbl>
          </a:graphicData>
        </a:graphic>
      </p:graphicFrame>
      <p:sp>
        <p:nvSpPr>
          <p:cNvPr id="30" name="TextBox 29"/>
          <p:cNvSpPr txBox="1"/>
          <p:nvPr/>
        </p:nvSpPr>
        <p:spPr>
          <a:xfrm>
            <a:off x="6700838" y="3708400"/>
            <a:ext cx="630237" cy="295275"/>
          </a:xfrm>
          <a:prstGeom prst="rect">
            <a:avLst/>
          </a:prstGeom>
          <a:noFill/>
        </p:spPr>
        <p:txBody>
          <a:bodyPr wrap="none" lIns="9144" tIns="9144" rIns="9144" bIns="9144">
            <a:spAutoFit/>
          </a:bodyPr>
          <a:lstStyle/>
          <a:p>
            <a:pPr>
              <a:defRPr/>
            </a:pPr>
            <a:r>
              <a:rPr lang="en-GB" b="1" dirty="0">
                <a:solidFill>
                  <a:schemeClr val="tx2">
                    <a:lumMod val="50000"/>
                  </a:schemeClr>
                </a:solidFill>
                <a:latin typeface="+mn-lt"/>
              </a:rPr>
              <a:t>STORE</a:t>
            </a:r>
            <a:endParaRPr lang="en-US" b="1" dirty="0">
              <a:solidFill>
                <a:schemeClr val="tx2">
                  <a:lumMod val="50000"/>
                </a:schemeClr>
              </a:solidFill>
              <a:latin typeface="+mn-lt"/>
            </a:endParaRPr>
          </a:p>
        </p:txBody>
      </p:sp>
      <p:graphicFrame>
        <p:nvGraphicFramePr>
          <p:cNvPr id="31" name="Group 84"/>
          <p:cNvGraphicFramePr>
            <a:graphicFrameLocks noGrp="1"/>
          </p:cNvGraphicFramePr>
          <p:nvPr>
            <p:extLst>
              <p:ext uri="{D42A27DB-BD31-4B8C-83A1-F6EECF244321}">
                <p14:modId xmlns:p14="http://schemas.microsoft.com/office/powerpoint/2010/main" val="1113870764"/>
              </p:ext>
            </p:extLst>
          </p:nvPr>
        </p:nvGraphicFramePr>
        <p:xfrm>
          <a:off x="609600" y="1295400"/>
          <a:ext cx="8001000" cy="1865281"/>
        </p:xfrm>
        <a:graphic>
          <a:graphicData uri="http://schemas.openxmlformats.org/drawingml/2006/table">
            <a:tbl>
              <a:tblPr/>
              <a:tblGrid>
                <a:gridCol w="838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990600">
                  <a:extLst>
                    <a:ext uri="{9D8B030D-6E8A-4147-A177-3AD203B41FA5}">
                      <a16:colId xmlns:a16="http://schemas.microsoft.com/office/drawing/2014/main" val="20006"/>
                    </a:ext>
                  </a:extLst>
                </a:gridCol>
                <a:gridCol w="1066800">
                  <a:extLst>
                    <a:ext uri="{9D8B030D-6E8A-4147-A177-3AD203B41FA5}">
                      <a16:colId xmlns:a16="http://schemas.microsoft.com/office/drawing/2014/main" val="20007"/>
                    </a:ext>
                  </a:extLst>
                </a:gridCol>
              </a:tblGrid>
              <a:tr h="341313">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600" b="1" i="0" u="sng" strike="noStrike" cap="none" normalizeH="0" baseline="0" smtClean="0">
                          <a:ln>
                            <a:noFill/>
                          </a:ln>
                          <a:solidFill>
                            <a:schemeClr val="tx1"/>
                          </a:solidFill>
                          <a:effectLst/>
                          <a:latin typeface="Calibri" pitchFamily="34" charset="0"/>
                          <a:ea typeface="Calibri" pitchFamily="34" charset="0"/>
                          <a:cs typeface="Calibri" pitchFamily="34" charset="0"/>
                        </a:rPr>
                        <a:t>PartNo</a:t>
                      </a:r>
                      <a:r>
                        <a:rPr kumimoji="0" lang="en-GB" altLang="en-US" sz="1600" b="0" i="0" u="sng" strike="noStrike" cap="none" normalizeH="0" baseline="0" smtClean="0">
                          <a:ln>
                            <a:noFill/>
                          </a:ln>
                          <a:solidFill>
                            <a:schemeClr val="tx1"/>
                          </a:solidFill>
                          <a:effectLst/>
                          <a:latin typeface="Calibri" pitchFamily="34" charset="0"/>
                          <a:ea typeface="Calibri" pitchFamily="34" charset="0"/>
                          <a:cs typeface="Calibri" pitchFamily="34" charset="0"/>
                        </a:rPr>
                        <a:t> </a:t>
                      </a: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4BD97"/>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600" b="0" i="0" u="none" strike="noStrike" cap="none" normalizeH="0" baseline="0" smtClean="0">
                          <a:ln>
                            <a:noFill/>
                          </a:ln>
                          <a:solidFill>
                            <a:schemeClr val="tx1"/>
                          </a:solidFill>
                          <a:effectLst/>
                          <a:latin typeface="Calibri" pitchFamily="34" charset="0"/>
                          <a:ea typeface="Calibri" pitchFamily="34" charset="0"/>
                          <a:cs typeface="Calibri" pitchFamily="34" charset="0"/>
                        </a:rPr>
                        <a:t>PartDesc</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4BD97"/>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600" b="1" i="0" u="sng" strike="noStrike" cap="none" normalizeH="0" baseline="0" smtClean="0">
                          <a:ln>
                            <a:noFill/>
                          </a:ln>
                          <a:solidFill>
                            <a:schemeClr val="tx1"/>
                          </a:solidFill>
                          <a:effectLst/>
                          <a:latin typeface="Calibri" pitchFamily="34" charset="0"/>
                          <a:ea typeface="Calibri" pitchFamily="34" charset="0"/>
                          <a:cs typeface="Calibri" pitchFamily="34" charset="0"/>
                        </a:rPr>
                        <a:t>SuppNo</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4BD97"/>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600" b="0" i="0" u="none" strike="noStrike" cap="none" normalizeH="0" baseline="0" smtClean="0">
                          <a:ln>
                            <a:noFill/>
                          </a:ln>
                          <a:solidFill>
                            <a:schemeClr val="tx1"/>
                          </a:solidFill>
                          <a:effectLst/>
                          <a:latin typeface="Calibri" pitchFamily="34" charset="0"/>
                          <a:ea typeface="Calibri" pitchFamily="34" charset="0"/>
                          <a:cs typeface="Calibri" pitchFamily="34" charset="0"/>
                        </a:rPr>
                        <a:t>SuppName</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4BD97"/>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600" b="0" i="0" u="none" strike="noStrike" cap="none" normalizeH="0" baseline="0" smtClean="0">
                          <a:ln>
                            <a:noFill/>
                          </a:ln>
                          <a:solidFill>
                            <a:schemeClr val="tx1"/>
                          </a:solidFill>
                          <a:effectLst/>
                          <a:latin typeface="Calibri" pitchFamily="34" charset="0"/>
                          <a:ea typeface="Calibri" pitchFamily="34" charset="0"/>
                          <a:cs typeface="Calibri" pitchFamily="34" charset="0"/>
                        </a:rPr>
                        <a:t>SuppAddr</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4BD97"/>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600" b="0" i="0" u="none" strike="noStrike" cap="none" normalizeH="0" baseline="0" smtClean="0">
                          <a:ln>
                            <a:noFill/>
                          </a:ln>
                          <a:solidFill>
                            <a:schemeClr val="tx1"/>
                          </a:solidFill>
                          <a:effectLst/>
                          <a:latin typeface="Calibri" pitchFamily="34" charset="0"/>
                          <a:ea typeface="Calibri" pitchFamily="34" charset="0"/>
                          <a:cs typeface="Calibri" pitchFamily="34" charset="0"/>
                        </a:rPr>
                        <a:t>Cost</a:t>
                      </a:r>
                    </a:p>
                  </a:txBody>
                  <a:tcPr marL="36000" marR="36000" marT="36000" marB="36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4BD97"/>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600" b="0" i="0" u="none" strike="noStrike" cap="none" normalizeH="0" baseline="0" dirty="0" smtClean="0">
                          <a:ln>
                            <a:noFill/>
                          </a:ln>
                          <a:solidFill>
                            <a:schemeClr val="tx1"/>
                          </a:solidFill>
                          <a:effectLst/>
                          <a:latin typeface="Calibri" pitchFamily="34" charset="0"/>
                          <a:ea typeface="Calibri" pitchFamily="34" charset="0"/>
                          <a:cs typeface="Calibri" pitchFamily="34" charset="0"/>
                        </a:rPr>
                        <a:t>Store</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4BD97"/>
                    </a:solid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600" b="0" i="0" u="none" strike="noStrike" cap="none" normalizeH="0" baseline="0" smtClean="0">
                          <a:ln>
                            <a:noFill/>
                          </a:ln>
                          <a:solidFill>
                            <a:schemeClr val="tx1"/>
                          </a:solidFill>
                          <a:effectLst/>
                          <a:latin typeface="Calibri" pitchFamily="34" charset="0"/>
                          <a:ea typeface="Calibri" pitchFamily="34" charset="0"/>
                          <a:cs typeface="Calibri" pitchFamily="34" charset="0"/>
                        </a:rPr>
                        <a:t>Phone</a:t>
                      </a: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4BD97"/>
                    </a:solidFill>
                  </a:tcPr>
                </a:tc>
                <a:extLst>
                  <a:ext uri="{0D108BD9-81ED-4DB2-BD59-A6C34878D82A}">
                    <a16:rowId xmlns:a16="http://schemas.microsoft.com/office/drawing/2014/main" val="10000"/>
                  </a:ext>
                </a:extLst>
              </a:tr>
              <a:tr h="357188">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800" b="0" i="0" u="none" strike="noStrike" cap="none" normalizeH="0" baseline="0" smtClean="0">
                          <a:ln>
                            <a:noFill/>
                          </a:ln>
                          <a:solidFill>
                            <a:schemeClr val="tx1"/>
                          </a:solidFill>
                          <a:effectLst/>
                          <a:latin typeface="Calibri" pitchFamily="34" charset="0"/>
                          <a:ea typeface="Calibri" pitchFamily="34" charset="0"/>
                          <a:cs typeface="Calibri" pitchFamily="34" charset="0"/>
                        </a:rPr>
                        <a:t>P1</a:t>
                      </a: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800" b="0" i="0" u="none" strike="noStrike" cap="none" normalizeH="0" baseline="0" smtClean="0">
                          <a:ln>
                            <a:noFill/>
                          </a:ln>
                          <a:solidFill>
                            <a:schemeClr val="tx1"/>
                          </a:solidFill>
                          <a:effectLst/>
                          <a:latin typeface="Calibri" pitchFamily="34" charset="0"/>
                          <a:ea typeface="Calibri" pitchFamily="34" charset="0"/>
                          <a:cs typeface="Calibri" pitchFamily="34" charset="0"/>
                        </a:rPr>
                        <a:t>Printer</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800" b="1" i="0" u="none" strike="noStrike" cap="none" normalizeH="0" baseline="0" smtClean="0">
                          <a:ln>
                            <a:noFill/>
                          </a:ln>
                          <a:solidFill>
                            <a:schemeClr val="tx1"/>
                          </a:solidFill>
                          <a:effectLst/>
                          <a:latin typeface="Calibri" pitchFamily="34" charset="0"/>
                          <a:ea typeface="Calibri" pitchFamily="34" charset="0"/>
                          <a:cs typeface="Calibri" pitchFamily="34" charset="0"/>
                        </a:rPr>
                        <a:t>S1</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800" b="1" i="0" u="none" strike="noStrike" cap="none" normalizeH="0" baseline="0" smtClean="0">
                          <a:ln>
                            <a:noFill/>
                          </a:ln>
                          <a:solidFill>
                            <a:schemeClr val="tx1"/>
                          </a:solidFill>
                          <a:effectLst/>
                          <a:latin typeface="Calibri" pitchFamily="34" charset="0"/>
                          <a:ea typeface="Calibri" pitchFamily="34" charset="0"/>
                          <a:cs typeface="Calibri" pitchFamily="34" charset="0"/>
                        </a:rPr>
                        <a:t>Brightware</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800" b="1" i="0" u="none" strike="noStrike" cap="none" normalizeH="0" baseline="0" smtClean="0">
                          <a:ln>
                            <a:noFill/>
                          </a:ln>
                          <a:solidFill>
                            <a:schemeClr val="tx1"/>
                          </a:solidFill>
                          <a:effectLst/>
                          <a:latin typeface="Calibri" pitchFamily="34" charset="0"/>
                          <a:ea typeface="Calibri" pitchFamily="34" charset="0"/>
                          <a:cs typeface="Calibri" pitchFamily="34" charset="0"/>
                        </a:rPr>
                        <a:t>AMK</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800" b="0" i="0" u="none" strike="noStrike" cap="none" normalizeH="0" baseline="0" smtClean="0">
                          <a:ln>
                            <a:noFill/>
                          </a:ln>
                          <a:solidFill>
                            <a:schemeClr val="tx1"/>
                          </a:solidFill>
                          <a:effectLst/>
                          <a:latin typeface="Calibri" pitchFamily="34" charset="0"/>
                          <a:ea typeface="Calibri" pitchFamily="34" charset="0"/>
                          <a:cs typeface="Calibri" pitchFamily="34" charset="0"/>
                        </a:rPr>
                        <a:t>200</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2000" b="0" i="0" u="none" strike="noStrike" cap="none" normalizeH="0" baseline="0" smtClean="0">
                          <a:ln>
                            <a:noFill/>
                          </a:ln>
                          <a:solidFill>
                            <a:schemeClr val="tx1"/>
                          </a:solidFill>
                          <a:effectLst/>
                          <a:latin typeface="Calibri" pitchFamily="34" charset="0"/>
                        </a:rPr>
                        <a:t>Ken</a:t>
                      </a:r>
                      <a:endParaRPr kumimoji="0" lang="en-SG" altLang="en-US" sz="2000" b="0" i="0" u="none" strike="noStrike" cap="none" normalizeH="0" baseline="0" smtClean="0">
                        <a:ln>
                          <a:noFill/>
                        </a:ln>
                        <a:solidFill>
                          <a:schemeClr val="tx1"/>
                        </a:solidFill>
                        <a:effectLst/>
                        <a:latin typeface="Calibri" pitchFamily="34" charset="0"/>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600" b="0" i="0" u="none" strike="noStrike" cap="none" normalizeH="0" baseline="0" smtClean="0">
                          <a:ln>
                            <a:noFill/>
                          </a:ln>
                          <a:solidFill>
                            <a:schemeClr val="tx1"/>
                          </a:solidFill>
                          <a:effectLst/>
                          <a:latin typeface="Calibri" pitchFamily="34" charset="0"/>
                        </a:rPr>
                        <a:t>98553344</a:t>
                      </a:r>
                      <a:endParaRPr kumimoji="0" lang="en-GB" altLang="en-US" sz="1600" b="0" i="0" u="none" strike="noStrike" cap="none" normalizeH="0" baseline="0" smtClean="0">
                        <a:ln>
                          <a:noFill/>
                        </a:ln>
                        <a:solidFill>
                          <a:schemeClr val="tx1"/>
                        </a:solidFill>
                        <a:effectLst/>
                        <a:latin typeface="Calibri" pitchFamily="34" charset="0"/>
                        <a:ea typeface="Calibri" pitchFamily="34" charset="0"/>
                        <a:cs typeface="Calibri" pitchFamily="34" charset="0"/>
                      </a:endParaRP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7188">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800" b="0" i="0" u="none" strike="noStrike" cap="none" normalizeH="0" baseline="0" smtClean="0">
                          <a:ln>
                            <a:noFill/>
                          </a:ln>
                          <a:solidFill>
                            <a:schemeClr val="tx1"/>
                          </a:solidFill>
                          <a:effectLst/>
                          <a:latin typeface="Calibri" pitchFamily="34" charset="0"/>
                          <a:ea typeface="Calibri" pitchFamily="34" charset="0"/>
                          <a:cs typeface="Calibri" pitchFamily="34" charset="0"/>
                        </a:rPr>
                        <a:t>P1</a:t>
                      </a: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800" b="0" i="0" u="none" strike="noStrike" cap="none" normalizeH="0" baseline="0" smtClean="0">
                          <a:ln>
                            <a:noFill/>
                          </a:ln>
                          <a:solidFill>
                            <a:srgbClr val="C00000"/>
                          </a:solidFill>
                          <a:effectLst/>
                          <a:latin typeface="Calibri" pitchFamily="34" charset="0"/>
                          <a:ea typeface="Calibri" pitchFamily="34" charset="0"/>
                          <a:cs typeface="Calibri" pitchFamily="34" charset="0"/>
                        </a:rPr>
                        <a:t>Printer</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800" b="1" i="0" u="none" strike="noStrike" cap="none" normalizeH="0" baseline="0" smtClean="0">
                          <a:ln>
                            <a:noFill/>
                          </a:ln>
                          <a:solidFill>
                            <a:srgbClr val="C00000"/>
                          </a:solidFill>
                          <a:effectLst/>
                          <a:latin typeface="Calibri" pitchFamily="34" charset="0"/>
                          <a:ea typeface="Calibri" pitchFamily="34" charset="0"/>
                          <a:cs typeface="Calibri" pitchFamily="34" charset="0"/>
                        </a:rPr>
                        <a:t>S2</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800" b="1" i="0" u="none" strike="noStrike" cap="none" normalizeH="0" baseline="0" smtClean="0">
                          <a:ln>
                            <a:noFill/>
                          </a:ln>
                          <a:solidFill>
                            <a:srgbClr val="C00000"/>
                          </a:solidFill>
                          <a:effectLst/>
                          <a:latin typeface="Calibri" pitchFamily="34" charset="0"/>
                          <a:ea typeface="Calibri" pitchFamily="34" charset="0"/>
                          <a:cs typeface="Calibri" pitchFamily="34" charset="0"/>
                        </a:rPr>
                        <a:t>Superware</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800" b="1" i="0" u="none" strike="noStrike" cap="none" normalizeH="0" baseline="0" smtClean="0">
                          <a:ln>
                            <a:noFill/>
                          </a:ln>
                          <a:solidFill>
                            <a:srgbClr val="C00000"/>
                          </a:solidFill>
                          <a:effectLst/>
                          <a:latin typeface="Calibri" pitchFamily="34" charset="0"/>
                          <a:ea typeface="Calibri" pitchFamily="34" charset="0"/>
                          <a:cs typeface="Calibri" pitchFamily="34" charset="0"/>
                        </a:rPr>
                        <a:t>Yishun</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800" b="0" i="0" u="none" strike="noStrike" cap="none" normalizeH="0" baseline="0" smtClean="0">
                          <a:ln>
                            <a:noFill/>
                          </a:ln>
                          <a:solidFill>
                            <a:schemeClr val="tx1"/>
                          </a:solidFill>
                          <a:effectLst/>
                          <a:latin typeface="Calibri" pitchFamily="34" charset="0"/>
                          <a:ea typeface="Calibri" pitchFamily="34" charset="0"/>
                          <a:cs typeface="Calibri" pitchFamily="34" charset="0"/>
                        </a:rPr>
                        <a:t>220</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2000" b="0" i="0" u="none" strike="noStrike" cap="none" normalizeH="0" baseline="0" smtClean="0">
                          <a:ln>
                            <a:noFill/>
                          </a:ln>
                          <a:solidFill>
                            <a:schemeClr val="tx1"/>
                          </a:solidFill>
                          <a:effectLst/>
                          <a:latin typeface="Calibri" pitchFamily="34" charset="0"/>
                        </a:rPr>
                        <a:t>Ken</a:t>
                      </a:r>
                      <a:endParaRPr kumimoji="0" lang="en-SG" altLang="en-US" sz="2000" b="0" i="0" u="none" strike="noStrike" cap="none" normalizeH="0" baseline="0" smtClean="0">
                        <a:ln>
                          <a:noFill/>
                        </a:ln>
                        <a:solidFill>
                          <a:schemeClr val="tx1"/>
                        </a:solidFill>
                        <a:effectLst/>
                        <a:latin typeface="Calibri" pitchFamily="34" charset="0"/>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600" b="0" i="0" u="none" strike="noStrike" cap="none" normalizeH="0" baseline="0" smtClean="0">
                          <a:ln>
                            <a:noFill/>
                          </a:ln>
                          <a:solidFill>
                            <a:schemeClr val="tx1"/>
                          </a:solidFill>
                          <a:effectLst/>
                          <a:latin typeface="Calibri" pitchFamily="34" charset="0"/>
                        </a:rPr>
                        <a:t>98553344</a:t>
                      </a:r>
                      <a:endParaRPr kumimoji="0" lang="en-GB" altLang="en-US" sz="1600" b="0" i="0" u="none" strike="noStrike" cap="none" normalizeH="0" baseline="0" smtClean="0">
                        <a:ln>
                          <a:noFill/>
                        </a:ln>
                        <a:solidFill>
                          <a:schemeClr val="tx1"/>
                        </a:solidFill>
                        <a:effectLst/>
                        <a:latin typeface="Calibri" pitchFamily="34" charset="0"/>
                        <a:ea typeface="Calibri" pitchFamily="34" charset="0"/>
                        <a:cs typeface="Calibri" pitchFamily="34" charset="0"/>
                      </a:endParaRP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9725">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800" b="0" i="0" u="none" strike="noStrike" cap="none" normalizeH="0" baseline="0" smtClean="0">
                          <a:ln>
                            <a:noFill/>
                          </a:ln>
                          <a:solidFill>
                            <a:schemeClr val="tx1"/>
                          </a:solidFill>
                          <a:effectLst/>
                          <a:latin typeface="Calibri" pitchFamily="34" charset="0"/>
                          <a:ea typeface="Calibri" pitchFamily="34" charset="0"/>
                          <a:cs typeface="Calibri" pitchFamily="34" charset="0"/>
                        </a:rPr>
                        <a:t>P2</a:t>
                      </a: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800" b="0" i="0" u="none" strike="noStrike" cap="none" normalizeH="0" baseline="0" smtClean="0">
                          <a:ln>
                            <a:noFill/>
                          </a:ln>
                          <a:solidFill>
                            <a:schemeClr val="tx1"/>
                          </a:solidFill>
                          <a:effectLst/>
                          <a:latin typeface="Calibri" pitchFamily="34" charset="0"/>
                          <a:ea typeface="Calibri" pitchFamily="34" charset="0"/>
                          <a:cs typeface="Calibri" pitchFamily="34" charset="0"/>
                        </a:rPr>
                        <a:t>Speaker</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800" b="1" i="0" u="none" strike="noStrike" cap="none" normalizeH="0" baseline="0" smtClean="0">
                          <a:ln>
                            <a:noFill/>
                          </a:ln>
                          <a:solidFill>
                            <a:schemeClr val="tx1"/>
                          </a:solidFill>
                          <a:effectLst/>
                          <a:latin typeface="Calibri" pitchFamily="34" charset="0"/>
                          <a:ea typeface="Calibri" pitchFamily="34" charset="0"/>
                          <a:cs typeface="Calibri" pitchFamily="34" charset="0"/>
                        </a:rPr>
                        <a:t>S1</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800" b="1" i="0" u="none" strike="noStrike" cap="none" normalizeH="0" baseline="0" smtClean="0">
                          <a:ln>
                            <a:noFill/>
                          </a:ln>
                          <a:solidFill>
                            <a:schemeClr val="tx1"/>
                          </a:solidFill>
                          <a:effectLst/>
                          <a:latin typeface="Calibri" pitchFamily="34" charset="0"/>
                          <a:ea typeface="Calibri" pitchFamily="34" charset="0"/>
                          <a:cs typeface="Calibri" pitchFamily="34" charset="0"/>
                        </a:rPr>
                        <a:t>Brightware</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800" b="1" i="0" u="none" strike="noStrike" cap="none" normalizeH="0" baseline="0" smtClean="0">
                          <a:ln>
                            <a:noFill/>
                          </a:ln>
                          <a:solidFill>
                            <a:schemeClr val="tx1"/>
                          </a:solidFill>
                          <a:effectLst/>
                          <a:latin typeface="Calibri" pitchFamily="34" charset="0"/>
                          <a:ea typeface="Calibri" pitchFamily="34" charset="0"/>
                          <a:cs typeface="Calibri" pitchFamily="34" charset="0"/>
                        </a:rPr>
                        <a:t>AMK</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800" b="0" i="0" u="none" strike="noStrike" cap="none" normalizeH="0" baseline="0" smtClean="0">
                          <a:ln>
                            <a:noFill/>
                          </a:ln>
                          <a:solidFill>
                            <a:schemeClr val="tx1"/>
                          </a:solidFill>
                          <a:effectLst/>
                          <a:latin typeface="Calibri" pitchFamily="34" charset="0"/>
                          <a:ea typeface="Calibri" pitchFamily="34" charset="0"/>
                          <a:cs typeface="Calibri" pitchFamily="34" charset="0"/>
                        </a:rPr>
                        <a:t>300</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800" b="0" i="0" u="none" strike="noStrike" cap="none" normalizeH="0" baseline="0" smtClean="0">
                          <a:ln>
                            <a:noFill/>
                          </a:ln>
                          <a:solidFill>
                            <a:schemeClr val="tx1"/>
                          </a:solidFill>
                          <a:effectLst/>
                          <a:latin typeface="Calibri" pitchFamily="34" charset="0"/>
                        </a:rPr>
                        <a:t>Alvin</a:t>
                      </a:r>
                      <a:endParaRPr kumimoji="0" lang="en-SG" altLang="en-US" sz="1800" b="0" i="0" u="none" strike="noStrike" cap="none" normalizeH="0" baseline="0" smtClean="0">
                        <a:ln>
                          <a:noFill/>
                        </a:ln>
                        <a:solidFill>
                          <a:schemeClr val="tx1"/>
                        </a:solidFill>
                        <a:effectLst/>
                        <a:latin typeface="Calibri" pitchFamily="34" charset="0"/>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600" b="0" i="0" u="none" strike="noStrike" cap="none" normalizeH="0" baseline="0" smtClean="0">
                          <a:ln>
                            <a:noFill/>
                          </a:ln>
                          <a:solidFill>
                            <a:schemeClr val="tx1"/>
                          </a:solidFill>
                          <a:effectLst/>
                          <a:latin typeface="Calibri" pitchFamily="34" charset="0"/>
                        </a:rPr>
                        <a:t>97334400</a:t>
                      </a:r>
                      <a:endParaRPr kumimoji="0" lang="en-GB" altLang="en-US" sz="1600" b="0" i="0" u="none" strike="noStrike" cap="none" normalizeH="0" baseline="0" smtClean="0">
                        <a:ln>
                          <a:noFill/>
                        </a:ln>
                        <a:solidFill>
                          <a:srgbClr val="C00000"/>
                        </a:solidFill>
                        <a:effectLst/>
                        <a:latin typeface="Calibri" pitchFamily="34" charset="0"/>
                        <a:ea typeface="Calibri" pitchFamily="34" charset="0"/>
                        <a:cs typeface="Calibri" pitchFamily="34" charset="0"/>
                      </a:endParaRP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0838">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800" b="0" i="0" u="none" strike="noStrike" cap="none" normalizeH="0" baseline="0" smtClean="0">
                          <a:ln>
                            <a:noFill/>
                          </a:ln>
                          <a:solidFill>
                            <a:schemeClr val="tx1"/>
                          </a:solidFill>
                          <a:effectLst/>
                          <a:latin typeface="Calibri" pitchFamily="34" charset="0"/>
                          <a:ea typeface="Calibri" pitchFamily="34" charset="0"/>
                          <a:cs typeface="Calibri" pitchFamily="34" charset="0"/>
                        </a:rPr>
                        <a:t>P2</a:t>
                      </a: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800" b="0" i="0" u="none" strike="noStrike" cap="none" normalizeH="0" baseline="0" smtClean="0">
                          <a:ln>
                            <a:noFill/>
                          </a:ln>
                          <a:solidFill>
                            <a:srgbClr val="C00000"/>
                          </a:solidFill>
                          <a:effectLst/>
                          <a:latin typeface="Calibri" pitchFamily="34" charset="0"/>
                          <a:ea typeface="Calibri" pitchFamily="34" charset="0"/>
                          <a:cs typeface="Calibri" pitchFamily="34" charset="0"/>
                        </a:rPr>
                        <a:t>Speaker</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800" b="1" i="0" u="none" strike="noStrike" cap="none" normalizeH="0" baseline="0" smtClean="0">
                          <a:ln>
                            <a:noFill/>
                          </a:ln>
                          <a:solidFill>
                            <a:srgbClr val="C00000"/>
                          </a:solidFill>
                          <a:effectLst/>
                          <a:latin typeface="Calibri" pitchFamily="34" charset="0"/>
                          <a:ea typeface="Calibri" pitchFamily="34" charset="0"/>
                          <a:cs typeface="Calibri" pitchFamily="34" charset="0"/>
                        </a:rPr>
                        <a:t>S2</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800" b="1" i="0" u="none" strike="noStrike" cap="none" normalizeH="0" baseline="0" smtClean="0">
                          <a:ln>
                            <a:noFill/>
                          </a:ln>
                          <a:solidFill>
                            <a:srgbClr val="C00000"/>
                          </a:solidFill>
                          <a:effectLst/>
                          <a:latin typeface="Calibri" pitchFamily="34" charset="0"/>
                          <a:ea typeface="Calibri" pitchFamily="34" charset="0"/>
                          <a:cs typeface="Calibri" pitchFamily="34" charset="0"/>
                        </a:rPr>
                        <a:t>Superware</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800" b="1" i="0" u="none" strike="noStrike" cap="none" normalizeH="0" baseline="0" smtClean="0">
                          <a:ln>
                            <a:noFill/>
                          </a:ln>
                          <a:solidFill>
                            <a:srgbClr val="C00000"/>
                          </a:solidFill>
                          <a:effectLst/>
                          <a:latin typeface="Calibri" pitchFamily="34" charset="0"/>
                          <a:ea typeface="Calibri" pitchFamily="34" charset="0"/>
                          <a:cs typeface="Calibri" pitchFamily="34" charset="0"/>
                        </a:rPr>
                        <a:t>Yishun</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800" b="0" i="0" u="none" strike="noStrike" cap="none" normalizeH="0" baseline="0" smtClean="0">
                          <a:ln>
                            <a:noFill/>
                          </a:ln>
                          <a:solidFill>
                            <a:schemeClr val="tx1"/>
                          </a:solidFill>
                          <a:effectLst/>
                          <a:latin typeface="Calibri" pitchFamily="34" charset="0"/>
                          <a:ea typeface="Calibri" pitchFamily="34" charset="0"/>
                          <a:cs typeface="Calibri" pitchFamily="34" charset="0"/>
                        </a:rPr>
                        <a:t>350</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1800" b="0" i="0" u="none" strike="noStrike" cap="none" normalizeH="0" baseline="0" smtClean="0">
                          <a:ln>
                            <a:noFill/>
                          </a:ln>
                          <a:solidFill>
                            <a:schemeClr val="tx1"/>
                          </a:solidFill>
                          <a:effectLst/>
                          <a:latin typeface="Calibri" pitchFamily="34" charset="0"/>
                        </a:rPr>
                        <a:t>Alvin</a:t>
                      </a:r>
                      <a:endParaRPr kumimoji="0" lang="en-SG" altLang="en-US" sz="1800" b="0" i="0" u="none" strike="noStrike" cap="none" normalizeH="0" baseline="0" smtClean="0">
                        <a:ln>
                          <a:noFill/>
                        </a:ln>
                        <a:solidFill>
                          <a:schemeClr val="tx1"/>
                        </a:solidFill>
                        <a:effectLst/>
                        <a:latin typeface="Calibri" pitchFamily="34" charset="0"/>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pitchFamily="34" charset="0"/>
                        </a:defRPr>
                      </a:lvl1pPr>
                      <a:lvl2pPr marL="742950" indent="-285750" eaLnBrk="0" hangingPunct="0">
                        <a:spcBef>
                          <a:spcPct val="20000"/>
                        </a:spcBef>
                        <a:buFont typeface="Arial" charset="0"/>
                        <a:defRPr sz="2400">
                          <a:solidFill>
                            <a:schemeClr val="tx1"/>
                          </a:solidFill>
                          <a:latin typeface="Calibri" pitchFamily="34" charset="0"/>
                        </a:defRPr>
                      </a:lvl2pPr>
                      <a:lvl3pPr marL="1143000" indent="-228600" eaLnBrk="0" hangingPunct="0">
                        <a:spcBef>
                          <a:spcPct val="20000"/>
                        </a:spcBef>
                        <a:buFont typeface="Arial" charset="0"/>
                        <a:defRPr sz="2000">
                          <a:solidFill>
                            <a:schemeClr val="tx1"/>
                          </a:solidFill>
                          <a:latin typeface="Calibri" pitchFamily="34" charset="0"/>
                        </a:defRPr>
                      </a:lvl3pPr>
                      <a:lvl4pPr marL="1600200" indent="-228600" eaLnBrk="0" hangingPunct="0">
                        <a:spcBef>
                          <a:spcPct val="20000"/>
                        </a:spcBef>
                        <a:buFont typeface="Arial" charset="0"/>
                        <a:defRPr>
                          <a:solidFill>
                            <a:schemeClr val="tx1"/>
                          </a:solidFill>
                          <a:latin typeface="Calibri" pitchFamily="34" charset="0"/>
                        </a:defRPr>
                      </a:lvl4pPr>
                      <a:lvl5pPr marL="2057400" indent="-228600" eaLnBrk="0" hangingPunct="0">
                        <a:spcBef>
                          <a:spcPct val="20000"/>
                        </a:spcBef>
                        <a:buFont typeface="Arial" charset="0"/>
                        <a:defRPr>
                          <a:solidFill>
                            <a:schemeClr val="tx1"/>
                          </a:solidFill>
                          <a:latin typeface="Calibri" pitchFamily="34" charset="0"/>
                        </a:defRPr>
                      </a:lvl5pPr>
                      <a:lvl6pPr marL="2514600" indent="-228600" eaLnBrk="0" fontAlgn="base" hangingPunct="0">
                        <a:spcBef>
                          <a:spcPct val="20000"/>
                        </a:spcBef>
                        <a:spcAft>
                          <a:spcPct val="0"/>
                        </a:spcAft>
                        <a:buFont typeface="Arial" charset="0"/>
                        <a:defRPr>
                          <a:solidFill>
                            <a:schemeClr val="tx1"/>
                          </a:solidFill>
                          <a:latin typeface="Calibri" pitchFamily="34" charset="0"/>
                        </a:defRPr>
                      </a:lvl6pPr>
                      <a:lvl7pPr marL="2971800" indent="-228600" eaLnBrk="0" fontAlgn="base" hangingPunct="0">
                        <a:spcBef>
                          <a:spcPct val="20000"/>
                        </a:spcBef>
                        <a:spcAft>
                          <a:spcPct val="0"/>
                        </a:spcAft>
                        <a:buFont typeface="Arial" charset="0"/>
                        <a:defRPr>
                          <a:solidFill>
                            <a:schemeClr val="tx1"/>
                          </a:solidFill>
                          <a:latin typeface="Calibri" pitchFamily="34" charset="0"/>
                        </a:defRPr>
                      </a:lvl7pPr>
                      <a:lvl8pPr marL="3429000" indent="-228600" eaLnBrk="0" fontAlgn="base" hangingPunct="0">
                        <a:spcBef>
                          <a:spcPct val="20000"/>
                        </a:spcBef>
                        <a:spcAft>
                          <a:spcPct val="0"/>
                        </a:spcAft>
                        <a:buFont typeface="Arial" charset="0"/>
                        <a:defRPr>
                          <a:solidFill>
                            <a:schemeClr val="tx1"/>
                          </a:solidFill>
                          <a:latin typeface="Calibri" pitchFamily="34" charset="0"/>
                        </a:defRPr>
                      </a:lvl8pPr>
                      <a:lvl9pPr marL="3886200" indent="-228600" eaLnBrk="0" fontAlgn="base" hangingPunct="0">
                        <a:spcBef>
                          <a:spcPct val="20000"/>
                        </a:spcBef>
                        <a:spcAft>
                          <a:spcPct val="0"/>
                        </a:spcAft>
                        <a:buFont typeface="Arial" charset="0"/>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en-US" sz="1600" b="0" i="0" u="none" strike="noStrike" cap="none" normalizeH="0" baseline="0" dirty="0" smtClean="0">
                          <a:ln>
                            <a:noFill/>
                          </a:ln>
                          <a:solidFill>
                            <a:schemeClr val="tx1"/>
                          </a:solidFill>
                          <a:effectLst/>
                          <a:latin typeface="Calibri" pitchFamily="34" charset="0"/>
                        </a:rPr>
                        <a:t>97334400</a:t>
                      </a:r>
                      <a:endParaRPr kumimoji="0" lang="en-GB" altLang="en-US" sz="1600" b="0" i="0" u="none" strike="noStrike" cap="none" normalizeH="0" baseline="0" dirty="0" smtClean="0">
                        <a:ln>
                          <a:noFill/>
                        </a:ln>
                        <a:solidFill>
                          <a:srgbClr val="C00000"/>
                        </a:solidFill>
                        <a:effectLst/>
                        <a:latin typeface="Calibri" pitchFamily="34" charset="0"/>
                        <a:ea typeface="Calibri" pitchFamily="34" charset="0"/>
                        <a:cs typeface="Calibri" pitchFamily="34" charset="0"/>
                      </a:endParaRP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3" name="TextBox 32"/>
          <p:cNvSpPr txBox="1"/>
          <p:nvPr/>
        </p:nvSpPr>
        <p:spPr>
          <a:xfrm>
            <a:off x="2274888" y="914400"/>
            <a:ext cx="2916632" cy="344710"/>
          </a:xfrm>
          <a:prstGeom prst="rect">
            <a:avLst/>
          </a:prstGeom>
          <a:noFill/>
        </p:spPr>
        <p:txBody>
          <a:bodyPr wrap="none" lIns="18288" tIns="18288" rIns="18288" bIns="18288">
            <a:spAutoFit/>
          </a:bodyPr>
          <a:lstStyle/>
          <a:p>
            <a:pPr>
              <a:defRPr/>
            </a:pPr>
            <a:r>
              <a:rPr lang="en-GB" sz="2000" b="1" dirty="0">
                <a:solidFill>
                  <a:schemeClr val="tx2">
                    <a:lumMod val="50000"/>
                  </a:schemeClr>
                </a:solidFill>
                <a:latin typeface="+mn-lt"/>
              </a:rPr>
              <a:t>Original </a:t>
            </a:r>
            <a:r>
              <a:rPr lang="en-GB" sz="2000" b="1" dirty="0" smtClean="0">
                <a:solidFill>
                  <a:schemeClr val="tx2">
                    <a:lumMod val="50000"/>
                  </a:schemeClr>
                </a:solidFill>
                <a:latin typeface="+mn-lt"/>
              </a:rPr>
              <a:t>relation </a:t>
            </a:r>
            <a:r>
              <a:rPr lang="en-GB" sz="2000" b="1" dirty="0">
                <a:solidFill>
                  <a:schemeClr val="tx2">
                    <a:lumMod val="50000"/>
                  </a:schemeClr>
                </a:solidFill>
                <a:latin typeface="+mn-lt"/>
              </a:rPr>
              <a:t>: Purchase</a:t>
            </a:r>
            <a:endParaRPr lang="en-US" sz="2000" b="1" dirty="0">
              <a:solidFill>
                <a:schemeClr val="tx2">
                  <a:lumMod val="50000"/>
                </a:schemeClr>
              </a:solidFill>
              <a:latin typeface="+mn-lt"/>
            </a:endParaRPr>
          </a:p>
        </p:txBody>
      </p:sp>
      <p:sp>
        <p:nvSpPr>
          <p:cNvPr id="3" name="5-Point Star 2"/>
          <p:cNvSpPr/>
          <p:nvPr/>
        </p:nvSpPr>
        <p:spPr>
          <a:xfrm>
            <a:off x="6096000" y="3787775"/>
            <a:ext cx="107950" cy="107950"/>
          </a:xfrm>
          <a:prstGeom prst="star5">
            <a:avLst/>
          </a:prstGeom>
          <a:solidFill>
            <a:srgbClr val="FF000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SG"/>
          </a:p>
        </p:txBody>
      </p:sp>
      <p:sp>
        <p:nvSpPr>
          <p:cNvPr id="15" name="5-Point Star 14"/>
          <p:cNvSpPr/>
          <p:nvPr/>
        </p:nvSpPr>
        <p:spPr>
          <a:xfrm>
            <a:off x="7535863" y="3829050"/>
            <a:ext cx="107950" cy="107950"/>
          </a:xfrm>
          <a:prstGeom prst="star5">
            <a:avLst/>
          </a:prstGeom>
          <a:solidFill>
            <a:srgbClr val="FF000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SG"/>
          </a:p>
        </p:txBody>
      </p:sp>
      <p:cxnSp>
        <p:nvCxnSpPr>
          <p:cNvPr id="16" name="Straight Connector 15"/>
          <p:cNvCxnSpPr/>
          <p:nvPr/>
        </p:nvCxnSpPr>
        <p:spPr>
          <a:xfrm>
            <a:off x="609600" y="3498850"/>
            <a:ext cx="8001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Down Arrow 1"/>
          <p:cNvSpPr/>
          <p:nvPr/>
        </p:nvSpPr>
        <p:spPr>
          <a:xfrm>
            <a:off x="4030663" y="3200400"/>
            <a:ext cx="1146175" cy="417513"/>
          </a:xfrm>
          <a:prstGeom prst="downArrow">
            <a:avLst/>
          </a:prstGeom>
          <a:solidFill>
            <a:schemeClr val="tx2">
              <a:lumMod val="60000"/>
              <a:lumOff val="4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SG"/>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nodeType="afterGroup">
                            <p:stCondLst>
                              <p:cond delay="500"/>
                            </p:stCondLst>
                            <p:childTnLst>
                              <p:par>
                                <p:cTn id="9" presetID="10" presetClass="entr" presetSubtype="0"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p:cNvSpPr>
            <a:spLocks noGrp="1"/>
          </p:cNvSpPr>
          <p:nvPr>
            <p:ph type="ctrTitle" idx="4294967295"/>
          </p:nvPr>
        </p:nvSpPr>
        <p:spPr>
          <a:xfrm>
            <a:off x="685800" y="228600"/>
            <a:ext cx="5438146" cy="565146"/>
          </a:xfrm>
        </p:spPr>
        <p:txBody>
          <a:bodyPr wrap="none" lIns="36000" tIns="36000" rIns="36000" bIns="36000" anchor="t">
            <a:spAutoFit/>
          </a:bodyPr>
          <a:lstStyle/>
          <a:p>
            <a:pPr algn="l" eaLnBrk="1" hangingPunct="1">
              <a:defRPr/>
            </a:pPr>
            <a:r>
              <a:rPr lang="en-GB" sz="3200" b="1" dirty="0" smtClean="0">
                <a:solidFill>
                  <a:srgbClr val="C00000"/>
                </a:solidFill>
                <a:latin typeface="+mn-lt"/>
              </a:rPr>
              <a:t>1NF &gt;&gt; 2NF &gt;&gt; 3NF (Summary)</a:t>
            </a:r>
            <a:endParaRPr lang="en-US" sz="3200" b="1" dirty="0" smtClean="0">
              <a:solidFill>
                <a:schemeClr val="tx2">
                  <a:lumMod val="75000"/>
                </a:schemeClr>
              </a:solidFill>
              <a:latin typeface="+mn-lt"/>
            </a:endParaRPr>
          </a:p>
        </p:txBody>
      </p:sp>
      <p:graphicFrame>
        <p:nvGraphicFramePr>
          <p:cNvPr id="23" name="Table 22">
            <a:extLst>
              <a:ext uri="{FF2B5EF4-FFF2-40B4-BE49-F238E27FC236}">
                <a16:creationId xmlns:a16="http://schemas.microsoft.com/office/drawing/2014/main" id="{EB83D72D-1B60-4BCE-BE3D-43FFE90D1D0D}"/>
              </a:ext>
            </a:extLst>
          </p:cNvPr>
          <p:cNvGraphicFramePr>
            <a:graphicFrameLocks noGrp="1"/>
          </p:cNvGraphicFramePr>
          <p:nvPr>
            <p:extLst>
              <p:ext uri="{D42A27DB-BD31-4B8C-83A1-F6EECF244321}">
                <p14:modId xmlns:p14="http://schemas.microsoft.com/office/powerpoint/2010/main" val="91881054"/>
              </p:ext>
            </p:extLst>
          </p:nvPr>
        </p:nvGraphicFramePr>
        <p:xfrm>
          <a:off x="685800" y="990600"/>
          <a:ext cx="7863840" cy="3200400"/>
        </p:xfrm>
        <a:graphic>
          <a:graphicData uri="http://schemas.openxmlformats.org/drawingml/2006/table">
            <a:tbl>
              <a:tblPr firstRow="1" bandRow="1">
                <a:tableStyleId>{5C22544A-7EE6-4342-B048-85BDC9FD1C3A}</a:tableStyleId>
              </a:tblPr>
              <a:tblGrid>
                <a:gridCol w="1066800">
                  <a:extLst>
                    <a:ext uri="{9D8B030D-6E8A-4147-A177-3AD203B41FA5}">
                      <a16:colId xmlns:a16="http://schemas.microsoft.com/office/drawing/2014/main" val="3882139002"/>
                    </a:ext>
                  </a:extLst>
                </a:gridCol>
                <a:gridCol w="6797040">
                  <a:extLst>
                    <a:ext uri="{9D8B030D-6E8A-4147-A177-3AD203B41FA5}">
                      <a16:colId xmlns:a16="http://schemas.microsoft.com/office/drawing/2014/main" val="4234293058"/>
                    </a:ext>
                  </a:extLst>
                </a:gridCol>
              </a:tblGrid>
              <a:tr h="658642">
                <a:tc>
                  <a:txBody>
                    <a:bodyPr/>
                    <a:lstStyle/>
                    <a:p>
                      <a:pPr algn="ctr"/>
                      <a:r>
                        <a:rPr lang="en-SG" sz="2000" b="0" dirty="0">
                          <a:solidFill>
                            <a:schemeClr val="tx1"/>
                          </a:solidFill>
                        </a:rPr>
                        <a:t>Original </a:t>
                      </a:r>
                    </a:p>
                  </a:txBody>
                  <a:tcPr marL="18288" marR="18288" marT="91440" marB="91440">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solidFill>
                            <a:schemeClr val="tx1"/>
                          </a:solidFill>
                          <a:latin typeface="+mn-lt"/>
                        </a:rPr>
                        <a:t>PURCHASE </a:t>
                      </a:r>
                      <a:r>
                        <a:rPr lang="en-GB" sz="2000" b="0" dirty="0">
                          <a:solidFill>
                            <a:schemeClr val="tx1"/>
                          </a:solidFill>
                          <a:latin typeface="+mn-lt"/>
                        </a:rPr>
                        <a:t>(</a:t>
                      </a:r>
                      <a:r>
                        <a:rPr lang="en-GB" sz="2000" b="0" dirty="0" err="1">
                          <a:solidFill>
                            <a:schemeClr val="tx1"/>
                          </a:solidFill>
                          <a:latin typeface="+mn-lt"/>
                        </a:rPr>
                        <a:t>PartNo</a:t>
                      </a:r>
                      <a:r>
                        <a:rPr lang="en-GB" sz="2000" b="0" dirty="0">
                          <a:solidFill>
                            <a:schemeClr val="tx1"/>
                          </a:solidFill>
                          <a:latin typeface="+mn-lt"/>
                        </a:rPr>
                        <a:t>, </a:t>
                      </a:r>
                      <a:r>
                        <a:rPr lang="en-GB" sz="2000" b="0" dirty="0" err="1">
                          <a:solidFill>
                            <a:schemeClr val="tx1"/>
                          </a:solidFill>
                          <a:latin typeface="+mn-lt"/>
                        </a:rPr>
                        <a:t>PartDesc</a:t>
                      </a:r>
                      <a:r>
                        <a:rPr lang="en-GB" sz="2000" b="0" dirty="0">
                          <a:solidFill>
                            <a:schemeClr val="tx1"/>
                          </a:solidFill>
                          <a:latin typeface="+mn-lt"/>
                        </a:rPr>
                        <a:t>, </a:t>
                      </a:r>
                      <a:r>
                        <a:rPr lang="en-GB" sz="2000" b="0" dirty="0" err="1">
                          <a:solidFill>
                            <a:schemeClr val="tx1"/>
                          </a:solidFill>
                          <a:latin typeface="+mn-lt"/>
                        </a:rPr>
                        <a:t>SuppNo</a:t>
                      </a:r>
                      <a:r>
                        <a:rPr lang="en-GB" sz="2000" b="0" dirty="0">
                          <a:solidFill>
                            <a:schemeClr val="tx1"/>
                          </a:solidFill>
                          <a:latin typeface="+mn-lt"/>
                        </a:rPr>
                        <a:t>, </a:t>
                      </a:r>
                      <a:r>
                        <a:rPr lang="en-GB" sz="2000" b="0" dirty="0" err="1">
                          <a:solidFill>
                            <a:schemeClr val="tx1"/>
                          </a:solidFill>
                          <a:latin typeface="+mn-lt"/>
                        </a:rPr>
                        <a:t>SuppName</a:t>
                      </a:r>
                      <a:r>
                        <a:rPr lang="en-GB" sz="2000" b="0" dirty="0">
                          <a:solidFill>
                            <a:schemeClr val="tx1"/>
                          </a:solidFill>
                          <a:latin typeface="+mn-lt"/>
                        </a:rPr>
                        <a:t>, </a:t>
                      </a:r>
                      <a:r>
                        <a:rPr lang="en-GB" sz="2000" b="0" dirty="0" err="1">
                          <a:solidFill>
                            <a:schemeClr val="tx1"/>
                          </a:solidFill>
                          <a:latin typeface="+mn-lt"/>
                        </a:rPr>
                        <a:t>SuppAddr</a:t>
                      </a:r>
                      <a:r>
                        <a:rPr lang="en-GB" sz="2000" b="0" dirty="0">
                          <a:solidFill>
                            <a:schemeClr val="tx1"/>
                          </a:solidFill>
                          <a:latin typeface="+mn-lt"/>
                        </a:rPr>
                        <a:t>, Cost, </a:t>
                      </a:r>
                      <a:r>
                        <a:rPr lang="en-GB" sz="2000" b="0" dirty="0" smtClean="0">
                          <a:solidFill>
                            <a:schemeClr val="tx1"/>
                          </a:solidFill>
                          <a:latin typeface="+mn-lt"/>
                        </a:rPr>
                        <a:t>Store, </a:t>
                      </a:r>
                      <a:r>
                        <a:rPr lang="en-GB" sz="2000" b="0" dirty="0">
                          <a:solidFill>
                            <a:schemeClr val="tx1"/>
                          </a:solidFill>
                          <a:latin typeface="+mn-lt"/>
                        </a:rPr>
                        <a:t>Phone</a:t>
                      </a:r>
                      <a:r>
                        <a:rPr lang="en-GB" sz="2000" b="0" dirty="0" smtClean="0">
                          <a:solidFill>
                            <a:schemeClr val="tx1"/>
                          </a:solidFill>
                          <a:latin typeface="+mn-lt"/>
                        </a:rPr>
                        <a:t>)</a:t>
                      </a:r>
                      <a:endParaRPr lang="en-US" sz="2000" b="0" dirty="0">
                        <a:solidFill>
                          <a:schemeClr val="tx1"/>
                        </a:solidFill>
                        <a:latin typeface="+mn-lt"/>
                      </a:endParaRPr>
                    </a:p>
                  </a:txBody>
                  <a:tcPr marL="18288" marR="18288" marT="91440" marB="91440">
                    <a:solidFill>
                      <a:srgbClr val="FFFF00"/>
                    </a:solidFill>
                  </a:tcPr>
                </a:tc>
                <a:extLst>
                  <a:ext uri="{0D108BD9-81ED-4DB2-BD59-A6C34878D82A}">
                    <a16:rowId xmlns:a16="http://schemas.microsoft.com/office/drawing/2014/main" val="2436930064"/>
                  </a:ext>
                </a:extLst>
              </a:tr>
              <a:tr h="658642">
                <a:tc>
                  <a:txBody>
                    <a:bodyPr/>
                    <a:lstStyle/>
                    <a:p>
                      <a:pPr algn="ctr"/>
                      <a:r>
                        <a:rPr lang="en-SG" sz="2000" dirty="0"/>
                        <a:t>1NF</a:t>
                      </a:r>
                    </a:p>
                  </a:txBody>
                  <a:tcPr marL="18288" marR="18288" marT="91440" marB="9144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latin typeface="+mn-lt"/>
                        </a:rPr>
                        <a:t>PURCHASE(</a:t>
                      </a:r>
                      <a:r>
                        <a:rPr lang="en-GB" sz="2000" b="1" dirty="0">
                          <a:latin typeface="+mn-lt"/>
                        </a:rPr>
                        <a:t> </a:t>
                      </a:r>
                      <a:r>
                        <a:rPr lang="en-GB" sz="2000" b="0" u="sng" dirty="0" err="1">
                          <a:solidFill>
                            <a:srgbClr val="FF0000"/>
                          </a:solidFill>
                          <a:latin typeface="+mn-lt"/>
                        </a:rPr>
                        <a:t>PartNo</a:t>
                      </a:r>
                      <a:r>
                        <a:rPr lang="en-GB" sz="2000" dirty="0">
                          <a:latin typeface="+mn-lt"/>
                        </a:rPr>
                        <a:t>, </a:t>
                      </a:r>
                      <a:r>
                        <a:rPr lang="en-GB" sz="2000" dirty="0" err="1">
                          <a:latin typeface="+mn-lt"/>
                        </a:rPr>
                        <a:t>PartDesc</a:t>
                      </a:r>
                      <a:r>
                        <a:rPr lang="en-GB" sz="2000" dirty="0">
                          <a:latin typeface="+mn-lt"/>
                        </a:rPr>
                        <a:t>, </a:t>
                      </a:r>
                      <a:r>
                        <a:rPr lang="en-GB" sz="2000" b="0" u="sng" dirty="0" err="1">
                          <a:solidFill>
                            <a:srgbClr val="FF0000"/>
                          </a:solidFill>
                          <a:latin typeface="+mn-lt"/>
                        </a:rPr>
                        <a:t>SuppNo</a:t>
                      </a:r>
                      <a:r>
                        <a:rPr lang="en-GB" sz="2000" dirty="0">
                          <a:latin typeface="+mn-lt"/>
                        </a:rPr>
                        <a:t>, </a:t>
                      </a:r>
                      <a:r>
                        <a:rPr lang="en-GB" sz="2000" dirty="0" err="1">
                          <a:latin typeface="+mn-lt"/>
                        </a:rPr>
                        <a:t>SuppName</a:t>
                      </a:r>
                      <a:r>
                        <a:rPr lang="en-GB" sz="2000" dirty="0">
                          <a:latin typeface="+mn-lt"/>
                        </a:rPr>
                        <a:t>, </a:t>
                      </a:r>
                      <a:r>
                        <a:rPr lang="en-GB" sz="2000" dirty="0" err="1">
                          <a:latin typeface="+mn-lt"/>
                        </a:rPr>
                        <a:t>SuppAddr</a:t>
                      </a:r>
                      <a:r>
                        <a:rPr lang="en-GB" sz="2000" dirty="0">
                          <a:latin typeface="+mn-lt"/>
                        </a:rPr>
                        <a:t>, Cost, </a:t>
                      </a:r>
                      <a:r>
                        <a:rPr lang="en-GB" sz="2000" dirty="0" smtClean="0">
                          <a:latin typeface="+mn-lt"/>
                        </a:rPr>
                        <a:t>Store, </a:t>
                      </a:r>
                      <a:r>
                        <a:rPr lang="en-GB" sz="2000" dirty="0">
                          <a:latin typeface="+mn-lt"/>
                        </a:rPr>
                        <a:t>Phone</a:t>
                      </a:r>
                      <a:r>
                        <a:rPr lang="en-GB" sz="2000" dirty="0" smtClean="0">
                          <a:latin typeface="+mn-lt"/>
                        </a:rPr>
                        <a:t>)</a:t>
                      </a:r>
                    </a:p>
                  </a:txBody>
                  <a:tcPr marL="18288" marR="18288" marT="91440" marB="91440"/>
                </a:tc>
                <a:extLst>
                  <a:ext uri="{0D108BD9-81ED-4DB2-BD59-A6C34878D82A}">
                    <a16:rowId xmlns:a16="http://schemas.microsoft.com/office/drawing/2014/main" val="3772828845"/>
                  </a:ext>
                </a:extLst>
              </a:tr>
              <a:tr h="658642">
                <a:tc>
                  <a:txBody>
                    <a:bodyPr/>
                    <a:lstStyle/>
                    <a:p>
                      <a:pPr algn="ctr"/>
                      <a:r>
                        <a:rPr lang="en-SG" sz="2000" dirty="0"/>
                        <a:t>2NF</a:t>
                      </a:r>
                    </a:p>
                  </a:txBody>
                  <a:tcPr marL="18288" marR="18288" marT="91440" marB="9144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smtClean="0">
                          <a:latin typeface="+mn-lt"/>
                        </a:rPr>
                        <a:t>PURCHASE(</a:t>
                      </a:r>
                      <a:r>
                        <a:rPr lang="en-GB" sz="2000" b="1" dirty="0" smtClean="0">
                          <a:latin typeface="+mn-lt"/>
                        </a:rPr>
                        <a:t> </a:t>
                      </a:r>
                      <a:r>
                        <a:rPr lang="en-GB" sz="2000" b="0" u="sng" dirty="0" err="1" smtClean="0">
                          <a:solidFill>
                            <a:srgbClr val="FF0000"/>
                          </a:solidFill>
                          <a:latin typeface="+mn-lt"/>
                        </a:rPr>
                        <a:t>PartNo</a:t>
                      </a:r>
                      <a:r>
                        <a:rPr lang="en-GB" sz="2000" dirty="0" smtClean="0">
                          <a:latin typeface="+mn-lt"/>
                        </a:rPr>
                        <a:t>, </a:t>
                      </a:r>
                      <a:r>
                        <a:rPr lang="en-GB" sz="2000" b="0" u="sng" dirty="0" err="1" smtClean="0">
                          <a:solidFill>
                            <a:srgbClr val="FF0000"/>
                          </a:solidFill>
                          <a:latin typeface="+mn-lt"/>
                        </a:rPr>
                        <a:t>SuppNo</a:t>
                      </a:r>
                      <a:r>
                        <a:rPr lang="en-GB" sz="2000" dirty="0" smtClean="0">
                          <a:latin typeface="+mn-lt"/>
                        </a:rPr>
                        <a:t>, Cost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smtClean="0">
                          <a:latin typeface="+mn-lt"/>
                        </a:rPr>
                        <a:t>PART(</a:t>
                      </a:r>
                      <a:r>
                        <a:rPr lang="en-GB" sz="2000" b="1" dirty="0" smtClean="0">
                          <a:latin typeface="+mn-lt"/>
                        </a:rPr>
                        <a:t> </a:t>
                      </a:r>
                      <a:r>
                        <a:rPr lang="en-GB" sz="2000" b="0" u="sng" dirty="0" err="1" smtClean="0">
                          <a:solidFill>
                            <a:srgbClr val="FF0000"/>
                          </a:solidFill>
                          <a:latin typeface="+mn-lt"/>
                        </a:rPr>
                        <a:t>PartNo</a:t>
                      </a:r>
                      <a:r>
                        <a:rPr lang="en-GB" sz="2000" b="0" dirty="0" smtClean="0">
                          <a:latin typeface="+mn-lt"/>
                        </a:rPr>
                        <a:t>,</a:t>
                      </a:r>
                      <a:r>
                        <a:rPr lang="en-GB" sz="2000" dirty="0" smtClean="0">
                          <a:latin typeface="+mn-lt"/>
                        </a:rPr>
                        <a:t> </a:t>
                      </a:r>
                      <a:r>
                        <a:rPr lang="en-GB" sz="2000" dirty="0" err="1" smtClean="0">
                          <a:latin typeface="+mn-lt"/>
                        </a:rPr>
                        <a:t>PartDesc</a:t>
                      </a:r>
                      <a:r>
                        <a:rPr lang="en-GB" sz="2000" dirty="0" smtClean="0">
                          <a:latin typeface="+mn-lt"/>
                        </a:rPr>
                        <a:t>,</a:t>
                      </a:r>
                      <a:r>
                        <a:rPr lang="en-GB" sz="2000" baseline="0" dirty="0" smtClean="0">
                          <a:latin typeface="+mn-lt"/>
                        </a:rPr>
                        <a:t> Store, </a:t>
                      </a:r>
                      <a:r>
                        <a:rPr lang="en-GB" sz="2000" strike="sngStrike" baseline="0" dirty="0" smtClean="0">
                          <a:solidFill>
                            <a:srgbClr val="0070C0"/>
                          </a:solidFill>
                          <a:latin typeface="+mn-lt"/>
                        </a:rPr>
                        <a:t>Phone</a:t>
                      </a:r>
                      <a:r>
                        <a:rPr lang="en-GB" sz="2000" dirty="0" smtClean="0">
                          <a:latin typeface="+mn-lt"/>
                        </a:rPr>
                        <a:t> )</a:t>
                      </a:r>
                      <a:endParaRPr lang="en-US" sz="2000" dirty="0" smtClean="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smtClean="0">
                          <a:latin typeface="+mn-lt"/>
                        </a:rPr>
                        <a:t>SUPPLIER(</a:t>
                      </a:r>
                      <a:r>
                        <a:rPr lang="en-GB" sz="2000" b="1" dirty="0" smtClean="0">
                          <a:latin typeface="+mn-lt"/>
                        </a:rPr>
                        <a:t> </a:t>
                      </a:r>
                      <a:r>
                        <a:rPr lang="en-GB" sz="2000" b="0" u="sng" dirty="0" err="1" smtClean="0">
                          <a:solidFill>
                            <a:srgbClr val="FF0000"/>
                          </a:solidFill>
                          <a:latin typeface="+mn-lt"/>
                        </a:rPr>
                        <a:t>SuppNo</a:t>
                      </a:r>
                      <a:r>
                        <a:rPr lang="en-GB" sz="2000" dirty="0" smtClean="0">
                          <a:latin typeface="+mn-lt"/>
                        </a:rPr>
                        <a:t>, </a:t>
                      </a:r>
                      <a:r>
                        <a:rPr lang="en-GB" sz="2000" dirty="0" err="1" smtClean="0">
                          <a:latin typeface="+mn-lt"/>
                        </a:rPr>
                        <a:t>SuppName</a:t>
                      </a:r>
                      <a:r>
                        <a:rPr lang="en-GB" sz="2000" dirty="0" smtClean="0">
                          <a:latin typeface="+mn-lt"/>
                        </a:rPr>
                        <a:t>, </a:t>
                      </a:r>
                      <a:r>
                        <a:rPr lang="en-GB" sz="2000" dirty="0" err="1" smtClean="0">
                          <a:latin typeface="+mn-lt"/>
                        </a:rPr>
                        <a:t>SuppAddr</a:t>
                      </a:r>
                      <a:r>
                        <a:rPr lang="en-GB" sz="2000" dirty="0" smtClean="0">
                          <a:latin typeface="+mn-lt"/>
                        </a:rPr>
                        <a:t> )</a:t>
                      </a:r>
                      <a:endParaRPr lang="en-US" sz="2000" dirty="0" smtClean="0">
                        <a:latin typeface="+mn-lt"/>
                      </a:endParaRPr>
                    </a:p>
                  </a:txBody>
                  <a:tcPr marL="18288" marR="18288" marT="91440" marB="91440"/>
                </a:tc>
                <a:extLst>
                  <a:ext uri="{0D108BD9-81ED-4DB2-BD59-A6C34878D82A}">
                    <a16:rowId xmlns:a16="http://schemas.microsoft.com/office/drawing/2014/main" val="4251656442"/>
                  </a:ext>
                </a:extLst>
              </a:tr>
              <a:tr h="518160">
                <a:tc>
                  <a:txBody>
                    <a:bodyPr/>
                    <a:lstStyle/>
                    <a:p>
                      <a:pPr algn="ctr"/>
                      <a:r>
                        <a:rPr lang="en-SG" sz="2000" dirty="0"/>
                        <a:t>3NF</a:t>
                      </a:r>
                    </a:p>
                  </a:txBody>
                  <a:tcPr marL="18288" marR="18288" marT="91440" marB="9144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smtClean="0">
                          <a:ln>
                            <a:noFill/>
                          </a:ln>
                          <a:solidFill>
                            <a:prstClr val="black"/>
                          </a:solidFill>
                          <a:effectLst/>
                          <a:uLnTx/>
                          <a:uFillTx/>
                          <a:latin typeface="+mn-lt"/>
                          <a:ea typeface="+mn-ea"/>
                          <a:cs typeface="+mn-cs"/>
                        </a:rPr>
                        <a:t>STORE(</a:t>
                      </a:r>
                      <a:r>
                        <a:rPr kumimoji="0" lang="en-GB" sz="2000" b="1" i="0" u="none" strike="noStrike" kern="1200" cap="none" spc="0" normalizeH="0" baseline="0" noProof="0" dirty="0" smtClean="0">
                          <a:ln>
                            <a:noFill/>
                          </a:ln>
                          <a:solidFill>
                            <a:prstClr val="black"/>
                          </a:solidFill>
                          <a:effectLst/>
                          <a:uLnTx/>
                          <a:uFillTx/>
                          <a:latin typeface="+mn-lt"/>
                          <a:ea typeface="+mn-ea"/>
                          <a:cs typeface="+mn-cs"/>
                        </a:rPr>
                        <a:t> </a:t>
                      </a:r>
                      <a:r>
                        <a:rPr kumimoji="0" lang="en-GB" sz="2000" b="0" i="0" u="sng" strike="noStrike" kern="1200" cap="none" spc="0" normalizeH="0" baseline="0" noProof="0" dirty="0" smtClean="0">
                          <a:ln>
                            <a:noFill/>
                          </a:ln>
                          <a:solidFill>
                            <a:srgbClr val="FF0000"/>
                          </a:solidFill>
                          <a:effectLst/>
                          <a:uLnTx/>
                          <a:uFillTx/>
                          <a:latin typeface="+mn-lt"/>
                          <a:ea typeface="+mn-ea"/>
                          <a:cs typeface="+mn-cs"/>
                        </a:rPr>
                        <a:t>Store</a:t>
                      </a:r>
                      <a:r>
                        <a:rPr kumimoji="0" lang="en-GB" sz="2000" b="0" i="0" u="none" strike="noStrike" kern="1200" cap="none" spc="0" normalizeH="0" baseline="0" noProof="0" dirty="0" smtClean="0">
                          <a:ln>
                            <a:noFill/>
                          </a:ln>
                          <a:solidFill>
                            <a:prstClr val="black"/>
                          </a:solidFill>
                          <a:effectLst/>
                          <a:uLnTx/>
                          <a:uFillTx/>
                          <a:latin typeface="+mn-lt"/>
                          <a:ea typeface="+mn-ea"/>
                          <a:cs typeface="+mn-cs"/>
                        </a:rPr>
                        <a:t>, Phone )</a:t>
                      </a:r>
                      <a:endParaRPr kumimoji="0" lang="en-US" sz="2000" b="0" i="0" u="none" strike="noStrike" kern="1200" cap="none" spc="0" normalizeH="0" baseline="0" noProof="0" dirty="0" smtClean="0">
                        <a:ln>
                          <a:noFill/>
                        </a:ln>
                        <a:solidFill>
                          <a:prstClr val="black"/>
                        </a:solidFill>
                        <a:effectLst/>
                        <a:uLnTx/>
                        <a:uFillTx/>
                        <a:latin typeface="+mn-lt"/>
                        <a:ea typeface="+mn-ea"/>
                        <a:cs typeface="+mn-cs"/>
                      </a:endParaRPr>
                    </a:p>
                  </a:txBody>
                  <a:tcPr marL="18288" marR="18288" marT="91440" marB="91440"/>
                </a:tc>
                <a:extLst>
                  <a:ext uri="{0D108BD9-81ED-4DB2-BD59-A6C34878D82A}">
                    <a16:rowId xmlns:a16="http://schemas.microsoft.com/office/drawing/2014/main" val="1453198187"/>
                  </a:ext>
                </a:extLst>
              </a:tr>
            </a:tbl>
          </a:graphicData>
        </a:graphic>
      </p:graphicFrame>
      <p:sp>
        <p:nvSpPr>
          <p:cNvPr id="31" name="TextBox 8"/>
          <p:cNvSpPr txBox="1">
            <a:spLocks noChangeArrowheads="1"/>
          </p:cNvSpPr>
          <p:nvPr/>
        </p:nvSpPr>
        <p:spPr bwMode="auto">
          <a:xfrm>
            <a:off x="1830388" y="4948238"/>
            <a:ext cx="4721225" cy="461962"/>
          </a:xfrm>
          <a:prstGeom prst="rect">
            <a:avLst/>
          </a:prstGeom>
          <a:noFill/>
          <a:ln w="9525">
            <a:noFill/>
            <a:miter lim="800000"/>
            <a:headEnd/>
            <a:tailEnd/>
          </a:ln>
        </p:spPr>
        <p:txBody>
          <a:bodyPr lIns="45720" rIns="4572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PURCHASE ( </a:t>
            </a:r>
            <a:r>
              <a:rPr kumimoji="0" lang="en-GB" sz="2400" b="1" i="0" u="sng" strike="noStrike" kern="1200" cap="none" spc="0" normalizeH="0" baseline="0" noProof="0" dirty="0" err="1">
                <a:ln>
                  <a:noFill/>
                </a:ln>
                <a:solidFill>
                  <a:srgbClr val="FF0000"/>
                </a:solidFill>
                <a:effectLst/>
                <a:uLnTx/>
                <a:uFillTx/>
                <a:latin typeface="Calibri"/>
                <a:ea typeface="+mn-ea"/>
                <a:cs typeface="+mn-cs"/>
              </a:rPr>
              <a:t>PartNo</a:t>
            </a:r>
            <a:r>
              <a:rPr kumimoji="0" lang="en-GB" sz="2400" b="0" i="0" u="sng" strike="noStrike" kern="1200" cap="none" spc="0" normalizeH="0" baseline="0" noProof="0" dirty="0">
                <a:ln>
                  <a:noFill/>
                </a:ln>
                <a:solidFill>
                  <a:srgbClr val="FF0000"/>
                </a:solidFill>
                <a:effectLst/>
                <a:uLnTx/>
                <a:uFillTx/>
                <a:latin typeface="Calibri"/>
                <a:ea typeface="+mn-ea"/>
                <a:cs typeface="+mn-cs"/>
              </a:rPr>
              <a:t>, </a:t>
            </a:r>
            <a:r>
              <a:rPr kumimoji="0" lang="en-GB" sz="2400" b="1" i="0" u="sng" strike="noStrike" kern="1200" cap="none" spc="0" normalizeH="0" baseline="0" noProof="0" dirty="0" err="1">
                <a:ln>
                  <a:noFill/>
                </a:ln>
                <a:solidFill>
                  <a:srgbClr val="FF0000"/>
                </a:solidFill>
                <a:effectLst/>
                <a:uLnTx/>
                <a:uFillTx/>
                <a:latin typeface="Calibri"/>
                <a:ea typeface="+mn-ea"/>
                <a:cs typeface="+mn-cs"/>
              </a:rPr>
              <a:t>SuppNo</a:t>
            </a:r>
            <a:r>
              <a:rPr kumimoji="0" lang="en-GB" sz="2400" b="0" i="0" u="sng" strike="noStrike" kern="1200" cap="none" spc="0" normalizeH="0" baseline="0" noProof="0" dirty="0">
                <a:ln>
                  <a:noFill/>
                </a:ln>
                <a:solidFill>
                  <a:srgbClr val="FF0000"/>
                </a:solidFill>
                <a:effectLst/>
                <a:uLnTx/>
                <a:uFillTx/>
                <a:latin typeface="Calibri"/>
                <a:ea typeface="+mn-ea"/>
                <a:cs typeface="+mn-cs"/>
              </a:rPr>
              <a:t> </a:t>
            </a:r>
            <a:r>
              <a:rPr kumimoji="0" lang="en-GB" sz="2400" b="0" i="0" u="none" strike="noStrike" kern="1200" cap="none" spc="0" normalizeH="0" baseline="0" noProof="0" dirty="0">
                <a:ln>
                  <a:noFill/>
                </a:ln>
                <a:solidFill>
                  <a:prstClr val="black"/>
                </a:solidFill>
                <a:effectLst/>
                <a:uLnTx/>
                <a:uFillTx/>
                <a:latin typeface="Calibri"/>
                <a:ea typeface="+mn-ea"/>
                <a:cs typeface="+mn-cs"/>
              </a:rPr>
              <a:t>, Cost )</a:t>
            </a: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32" name="TextBox 8"/>
          <p:cNvSpPr txBox="1">
            <a:spLocks noChangeArrowheads="1"/>
          </p:cNvSpPr>
          <p:nvPr/>
        </p:nvSpPr>
        <p:spPr bwMode="auto">
          <a:xfrm>
            <a:off x="1825625" y="5634038"/>
            <a:ext cx="4725988" cy="461962"/>
          </a:xfrm>
          <a:prstGeom prst="rect">
            <a:avLst/>
          </a:prstGeom>
          <a:noFill/>
          <a:ln w="9525">
            <a:noFill/>
            <a:miter lim="800000"/>
            <a:headEnd/>
            <a:tailEnd/>
          </a:ln>
        </p:spPr>
        <p:txBody>
          <a:bodyPr lIns="45720" rIns="4572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PART ( </a:t>
            </a:r>
            <a:r>
              <a:rPr kumimoji="0" lang="en-GB" sz="2400" b="1" i="0" u="sng" strike="noStrike" kern="1200" cap="none" spc="0" normalizeH="0" baseline="0" noProof="0" dirty="0" err="1">
                <a:ln>
                  <a:noFill/>
                </a:ln>
                <a:solidFill>
                  <a:srgbClr val="FF0000"/>
                </a:solidFill>
                <a:effectLst/>
                <a:uLnTx/>
                <a:uFillTx/>
                <a:latin typeface="Calibri"/>
                <a:ea typeface="+mn-ea"/>
                <a:cs typeface="+mn-cs"/>
              </a:rPr>
              <a:t>PartNo</a:t>
            </a:r>
            <a:r>
              <a:rPr kumimoji="0" lang="en-GB" sz="2400" b="0" i="0" u="none" strike="noStrike" kern="1200" cap="none" spc="0" normalizeH="0" baseline="0" noProof="0" dirty="0">
                <a:ln>
                  <a:noFill/>
                </a:ln>
                <a:solidFill>
                  <a:prstClr val="black"/>
                </a:solidFill>
                <a:effectLst/>
                <a:uLnTx/>
                <a:uFillTx/>
                <a:latin typeface="Calibri"/>
                <a:ea typeface="+mn-ea"/>
                <a:cs typeface="+mn-cs"/>
              </a:rPr>
              <a:t>, </a:t>
            </a:r>
            <a:r>
              <a:rPr kumimoji="0" lang="en-GB" sz="2400" b="0" i="0" u="none" strike="noStrike" kern="1200" cap="none" spc="0" normalizeH="0" baseline="0" noProof="0" dirty="0" err="1">
                <a:ln>
                  <a:noFill/>
                </a:ln>
                <a:solidFill>
                  <a:prstClr val="black"/>
                </a:solidFill>
                <a:effectLst/>
                <a:uLnTx/>
                <a:uFillTx/>
                <a:latin typeface="Calibri"/>
                <a:ea typeface="+mn-ea"/>
                <a:cs typeface="+mn-cs"/>
              </a:rPr>
              <a:t>PartDesc</a:t>
            </a:r>
            <a:r>
              <a:rPr kumimoji="0" lang="en-GB" sz="2400" b="0" i="0" u="none" strike="noStrike" kern="1200" cap="none" spc="0" normalizeH="0" baseline="0" noProof="0" dirty="0">
                <a:ln>
                  <a:noFill/>
                </a:ln>
                <a:solidFill>
                  <a:prstClr val="black"/>
                </a:solidFill>
                <a:effectLst/>
                <a:uLnTx/>
                <a:uFillTx/>
                <a:latin typeface="Calibri"/>
                <a:ea typeface="+mn-ea"/>
                <a:cs typeface="+mn-cs"/>
              </a:rPr>
              <a:t> , </a:t>
            </a: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Store)</a:t>
            </a: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33" name="TextBox 8"/>
          <p:cNvSpPr txBox="1">
            <a:spLocks noChangeArrowheads="1"/>
          </p:cNvSpPr>
          <p:nvPr/>
        </p:nvSpPr>
        <p:spPr bwMode="auto">
          <a:xfrm>
            <a:off x="1814513" y="4338637"/>
            <a:ext cx="5424487" cy="461963"/>
          </a:xfrm>
          <a:prstGeom prst="rect">
            <a:avLst/>
          </a:prstGeom>
          <a:noFill/>
          <a:ln w="9525">
            <a:noFill/>
            <a:miter lim="800000"/>
            <a:headEnd/>
            <a:tailEnd/>
          </a:ln>
        </p:spPr>
        <p:txBody>
          <a:bodyPr lIns="45720" rIns="4572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SUPPLIER</a:t>
            </a:r>
            <a:r>
              <a:rPr kumimoji="0" lang="en-GB" sz="2400" b="1" i="0" u="none" strike="noStrike" kern="1200" cap="none" spc="0" normalizeH="0" baseline="0" noProof="0" dirty="0" smtClean="0">
                <a:ln>
                  <a:noFill/>
                </a:ln>
                <a:solidFill>
                  <a:prstClr val="black"/>
                </a:solidFill>
                <a:effectLst/>
                <a:uLnTx/>
                <a:uFillTx/>
                <a:latin typeface="Calibri"/>
                <a:ea typeface="+mn-ea"/>
                <a:cs typeface="+mn-cs"/>
              </a:rPr>
              <a:t>( </a:t>
            </a:r>
            <a:r>
              <a:rPr kumimoji="0" lang="en-GB" sz="2400" b="1" i="0" u="sng" strike="noStrike" kern="1200" cap="none" spc="0" normalizeH="0" baseline="0" noProof="0" dirty="0" err="1" smtClean="0">
                <a:ln>
                  <a:noFill/>
                </a:ln>
                <a:solidFill>
                  <a:srgbClr val="FF0000"/>
                </a:solidFill>
                <a:effectLst/>
                <a:uLnTx/>
                <a:uFillTx/>
                <a:latin typeface="Calibri"/>
                <a:ea typeface="+mn-ea"/>
                <a:cs typeface="+mn-cs"/>
              </a:rPr>
              <a:t>SuppNo</a:t>
            </a: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 </a:t>
            </a:r>
            <a:r>
              <a:rPr kumimoji="0" lang="en-GB" sz="2400" b="0" i="0" u="none" strike="noStrike" kern="1200" cap="none" spc="0" normalizeH="0" baseline="0" noProof="0" dirty="0" err="1" smtClean="0">
                <a:ln>
                  <a:noFill/>
                </a:ln>
                <a:solidFill>
                  <a:prstClr val="black"/>
                </a:solidFill>
                <a:effectLst/>
                <a:uLnTx/>
                <a:uFillTx/>
                <a:latin typeface="Calibri"/>
                <a:ea typeface="+mn-ea"/>
                <a:cs typeface="+mn-cs"/>
              </a:rPr>
              <a:t>SuppName</a:t>
            </a: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 </a:t>
            </a:r>
            <a:r>
              <a:rPr kumimoji="0" lang="en-GB" sz="2400" b="0" i="0" u="none" strike="noStrike" kern="1200" cap="none" spc="0" normalizeH="0" baseline="0" noProof="0" dirty="0" err="1" smtClean="0">
                <a:ln>
                  <a:noFill/>
                </a:ln>
                <a:solidFill>
                  <a:prstClr val="black"/>
                </a:solidFill>
                <a:effectLst/>
                <a:uLnTx/>
                <a:uFillTx/>
                <a:latin typeface="Calibri"/>
                <a:ea typeface="+mn-ea"/>
                <a:cs typeface="+mn-cs"/>
              </a:rPr>
              <a:t>SuppAddr</a:t>
            </a: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a:t>
            </a: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34" name="TextBox 8"/>
          <p:cNvSpPr txBox="1">
            <a:spLocks noChangeArrowheads="1"/>
          </p:cNvSpPr>
          <p:nvPr/>
        </p:nvSpPr>
        <p:spPr bwMode="auto">
          <a:xfrm>
            <a:off x="1833563" y="6319838"/>
            <a:ext cx="4211637" cy="461962"/>
          </a:xfrm>
          <a:prstGeom prst="rect">
            <a:avLst/>
          </a:prstGeom>
          <a:noFill/>
          <a:ln w="9525">
            <a:noFill/>
            <a:miter lim="800000"/>
            <a:headEnd/>
            <a:tailEnd/>
          </a:ln>
        </p:spPr>
        <p:txBody>
          <a:bodyPr lIns="45720" rIns="4572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STORE ( </a:t>
            </a:r>
            <a:r>
              <a:rPr kumimoji="0" lang="en-GB" sz="2400" b="1" i="0" u="sng" strike="noStrike" kern="1200" cap="none" spc="0" normalizeH="0" baseline="0" noProof="0" dirty="0" smtClean="0">
                <a:ln>
                  <a:noFill/>
                </a:ln>
                <a:solidFill>
                  <a:srgbClr val="FF0000"/>
                </a:solidFill>
                <a:effectLst/>
                <a:uLnTx/>
                <a:uFillTx/>
                <a:latin typeface="Calibri"/>
                <a:ea typeface="+mn-ea"/>
                <a:cs typeface="+mn-cs"/>
              </a:rPr>
              <a:t>Store</a:t>
            </a: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 </a:t>
            </a:r>
            <a:r>
              <a:rPr kumimoji="0" lang="en-GB" sz="2400" b="0" i="0" u="none" strike="noStrike" kern="1200" cap="none" spc="0" normalizeH="0" baseline="0" noProof="0" dirty="0">
                <a:ln>
                  <a:noFill/>
                </a:ln>
                <a:solidFill>
                  <a:prstClr val="black"/>
                </a:solidFill>
                <a:effectLst/>
                <a:uLnTx/>
                <a:uFillTx/>
                <a:latin typeface="Calibri"/>
                <a:ea typeface="+mn-ea"/>
                <a:cs typeface="+mn-cs"/>
              </a:rPr>
              <a:t>Phone)</a:t>
            </a:r>
          </a:p>
        </p:txBody>
      </p:sp>
      <p:cxnSp>
        <p:nvCxnSpPr>
          <p:cNvPr id="6" name="Straight Arrow Connector 5"/>
          <p:cNvCxnSpPr/>
          <p:nvPr/>
        </p:nvCxnSpPr>
        <p:spPr>
          <a:xfrm flipH="1" flipV="1">
            <a:off x="3886200" y="4800600"/>
            <a:ext cx="990600" cy="2286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a:off x="3200400" y="5410200"/>
            <a:ext cx="533400" cy="2743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3352800" y="6048702"/>
            <a:ext cx="1905000" cy="381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ctrTitle" idx="4294967295"/>
          </p:nvPr>
        </p:nvSpPr>
        <p:spPr>
          <a:xfrm>
            <a:off x="2590800" y="2293938"/>
            <a:ext cx="3683000" cy="830262"/>
          </a:xfrm>
        </p:spPr>
        <p:txBody>
          <a:bodyPr wrap="none" lIns="72000" rIns="72000">
            <a:spAutoFit/>
          </a:bodyPr>
          <a:lstStyle/>
          <a:p>
            <a:pPr algn="l" eaLnBrk="1" hangingPunct="1">
              <a:defRPr/>
            </a:pPr>
            <a:r>
              <a:rPr lang="en-GB" sz="4800" b="1" dirty="0" smtClean="0">
                <a:solidFill>
                  <a:srgbClr val="C00000"/>
                </a:solidFill>
                <a:latin typeface="+mn-lt"/>
              </a:rPr>
              <a:t>End of Topic 6</a:t>
            </a:r>
            <a:endParaRPr lang="en-US" sz="4800" b="1" dirty="0" smtClean="0">
              <a:solidFill>
                <a:srgbClr val="C00000"/>
              </a:solidFill>
              <a:latin typeface="+mn-lt"/>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7471</TotalTime>
  <Words>3559</Words>
  <Application>Microsoft Office PowerPoint</Application>
  <PresentationFormat>On-screen Show (4:3)</PresentationFormat>
  <Paragraphs>1055</Paragraphs>
  <Slides>43</Slides>
  <Notes>8</Notes>
  <HiddenSlides>1</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43</vt:i4>
      </vt:variant>
    </vt:vector>
  </HeadingPairs>
  <TitlesOfParts>
    <vt:vector size="53" baseType="lpstr">
      <vt:lpstr>宋体</vt:lpstr>
      <vt:lpstr>宋体</vt:lpstr>
      <vt:lpstr>Arial</vt:lpstr>
      <vt:lpstr>Calibri</vt:lpstr>
      <vt:lpstr>Courier New</vt:lpstr>
      <vt:lpstr>Times New Roman</vt:lpstr>
      <vt:lpstr>Verdana</vt:lpstr>
      <vt:lpstr>Wingdings</vt:lpstr>
      <vt:lpstr>Office Theme</vt:lpstr>
      <vt:lpstr>1_Office Theme</vt:lpstr>
      <vt:lpstr>Database Systems</vt:lpstr>
      <vt:lpstr>Unit 6 : Normalization in Database</vt:lpstr>
      <vt:lpstr>Un-Normalization Relation</vt:lpstr>
      <vt:lpstr>PowerPoint Presentation</vt:lpstr>
      <vt:lpstr>PowerPoint Presentation</vt:lpstr>
      <vt:lpstr>PowerPoint Presentation</vt:lpstr>
      <vt:lpstr>2. What is Update Anomaly ?</vt:lpstr>
      <vt:lpstr>PowerPoint Presentation</vt:lpstr>
      <vt:lpstr>3. What is Deletion Anomaly ?</vt:lpstr>
      <vt:lpstr>How did Normalization solve this problem? </vt:lpstr>
      <vt:lpstr>Deletion Anomaly</vt:lpstr>
      <vt:lpstr>What is Normalization?</vt:lpstr>
      <vt:lpstr>What can Normalization do?</vt:lpstr>
      <vt:lpstr>What can Normalization do?</vt:lpstr>
      <vt:lpstr>PowerPoint Presentation</vt:lpstr>
      <vt:lpstr>PowerPoint Presentation</vt:lpstr>
      <vt:lpstr>PowerPoint Presentation</vt:lpstr>
      <vt:lpstr>PowerPoint Presentation</vt:lpstr>
      <vt:lpstr>When to adopt Normalization?</vt:lpstr>
      <vt:lpstr>Normal Forms in Normalization</vt:lpstr>
      <vt:lpstr>Normalization Process</vt:lpstr>
      <vt:lpstr>First Normal Form(1NF)</vt:lpstr>
      <vt:lpstr>PowerPoint Presentation</vt:lpstr>
      <vt:lpstr>PowerPoint Presentation</vt:lpstr>
      <vt:lpstr>1NF – Identifying Key attributes</vt:lpstr>
      <vt:lpstr>First Normal Form (1NF)</vt:lpstr>
      <vt:lpstr>First Normal Form(1NF)</vt:lpstr>
      <vt:lpstr>From 1 NF to 2 NF</vt:lpstr>
      <vt:lpstr>Second Normal Form (2NF)</vt:lpstr>
      <vt:lpstr>2NF - Full Functional Dependency</vt:lpstr>
      <vt:lpstr>2NF - Full Functional Dependency</vt:lpstr>
      <vt:lpstr>2NF - Partial Functional Dependency</vt:lpstr>
      <vt:lpstr>2NF - Partial Functional Dependency</vt:lpstr>
      <vt:lpstr>From 1NF to 2 NF</vt:lpstr>
      <vt:lpstr>From 2 NF to 3 NF</vt:lpstr>
      <vt:lpstr>Third Normal Form (3NF)</vt:lpstr>
      <vt:lpstr>Third Normal Form (3NF)</vt:lpstr>
      <vt:lpstr>Third Normal Form (3NF)</vt:lpstr>
      <vt:lpstr>From 2NF to 3 NF</vt:lpstr>
      <vt:lpstr>Mapping of Schemas (3NF)</vt:lpstr>
      <vt:lpstr>Normalized Relations</vt:lpstr>
      <vt:lpstr>1NF &gt;&gt; 2NF &gt;&gt; 3NF (Summary)</vt:lpstr>
      <vt:lpstr>End of Topic 6</vt:lpstr>
    </vt:vector>
  </TitlesOfParts>
  <Company>Nanyang Polytechnic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albertc</dc:creator>
  <cp:lastModifiedBy>CHUA ALBERT</cp:lastModifiedBy>
  <cp:revision>736</cp:revision>
  <dcterms:created xsi:type="dcterms:W3CDTF">2008-03-05T05:57:39Z</dcterms:created>
  <dcterms:modified xsi:type="dcterms:W3CDTF">2018-05-20T15:58:31Z</dcterms:modified>
</cp:coreProperties>
</file>