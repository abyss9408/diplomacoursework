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9" r:id="rId3"/>
    <p:sldId id="448" r:id="rId4"/>
    <p:sldId id="460" r:id="rId5"/>
    <p:sldId id="496" r:id="rId6"/>
    <p:sldId id="462" r:id="rId7"/>
    <p:sldId id="461" r:id="rId8"/>
    <p:sldId id="495" r:id="rId9"/>
    <p:sldId id="463" r:id="rId10"/>
    <p:sldId id="494" r:id="rId11"/>
    <p:sldId id="475" r:id="rId12"/>
    <p:sldId id="477" r:id="rId13"/>
    <p:sldId id="478" r:id="rId14"/>
    <p:sldId id="467" r:id="rId15"/>
    <p:sldId id="468" r:id="rId16"/>
    <p:sldId id="479" r:id="rId17"/>
    <p:sldId id="501" r:id="rId18"/>
    <p:sldId id="469" r:id="rId19"/>
    <p:sldId id="486" r:id="rId20"/>
    <p:sldId id="470" r:id="rId21"/>
    <p:sldId id="471" r:id="rId22"/>
    <p:sldId id="473" r:id="rId23"/>
    <p:sldId id="474" r:id="rId24"/>
    <p:sldId id="482" r:id="rId25"/>
    <p:sldId id="483" r:id="rId26"/>
    <p:sldId id="487" r:id="rId27"/>
    <p:sldId id="498" r:id="rId28"/>
    <p:sldId id="450" r:id="rId29"/>
    <p:sldId id="488" r:id="rId30"/>
    <p:sldId id="452" r:id="rId31"/>
    <p:sldId id="489" r:id="rId32"/>
    <p:sldId id="497" r:id="rId33"/>
    <p:sldId id="491" r:id="rId34"/>
    <p:sldId id="500" r:id="rId35"/>
    <p:sldId id="451" r:id="rId36"/>
    <p:sldId id="502" r:id="rId37"/>
    <p:sldId id="499" r:id="rId38"/>
  </p:sldIdLst>
  <p:sldSz cx="9144000" cy="6858000" type="screen4x3"/>
  <p:notesSz cx="9774238" cy="67246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8">
          <p15:clr>
            <a:srgbClr val="A4A3A4"/>
          </p15:clr>
        </p15:guide>
        <p15:guide id="2" pos="30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151897"/>
    <a:srgbClr val="000066"/>
    <a:srgbClr val="181CAC"/>
    <a:srgbClr val="003399"/>
    <a:srgbClr val="000099"/>
    <a:srgbClr val="0033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8057" autoAdjust="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752" y="54"/>
      </p:cViewPr>
      <p:guideLst>
        <p:guide orient="horz" pos="2118"/>
        <p:guide pos="307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IT1768 Database Systems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GB" dirty="0"/>
              <a:t>Topic </a:t>
            </a:r>
            <a:r>
              <a:rPr lang="en-GB" dirty="0" smtClean="0"/>
              <a:t>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800" dirty="0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dirty="0" smtClean="0"/>
              <a:t>2018 </a:t>
            </a:r>
            <a:r>
              <a:rPr lang="en-GB" dirty="0"/>
              <a:t>S1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2664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200" y="0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6C4E136-5255-41F3-BD5B-00497721AD43}" type="datetimeFigureOut">
              <a:rPr lang="en-SG"/>
              <a:pPr>
                <a:defRPr/>
              </a:pPr>
              <a:t>12/5/2018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06750" y="504825"/>
            <a:ext cx="3360738" cy="2520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900" y="3194050"/>
            <a:ext cx="7818438" cy="3025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SG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86513"/>
            <a:ext cx="423545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200" y="6386513"/>
            <a:ext cx="4235450" cy="336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E354021-4DAA-4461-87B5-1B12D8AD6062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0534966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SG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A3DBAE-6D44-482A-81A5-C0A6B8D7FB0A}" type="slidenum">
              <a:rPr lang="en-SG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S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14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685800" y="990600"/>
            <a:ext cx="7772400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0" y="6591300"/>
            <a:ext cx="2209800" cy="2301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 smtClean="0">
                <a:solidFill>
                  <a:srgbClr val="FFC000"/>
                </a:solidFill>
                <a:latin typeface="Verdana" pitchFamily="34" charset="0"/>
              </a:rPr>
              <a:t>IT1768 Database Systems</a:t>
            </a:r>
            <a:endParaRPr lang="en-US" sz="900" dirty="0" smtClean="0">
              <a:solidFill>
                <a:srgbClr val="FFC000"/>
              </a:solidFill>
              <a:latin typeface="Verdana" pitchFamily="34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8686800" y="6596063"/>
            <a:ext cx="457200" cy="26193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DE558-7FED-41B5-A43E-EA479DEE9DA1}" type="slidenum">
              <a:rPr lang="en-US" altLang="en-US" sz="1100" smtClean="0">
                <a:solidFill>
                  <a:srgbClr val="FFC000"/>
                </a:solidFill>
                <a:latin typeface="Verdana" panose="020B0604030504040204" pitchFamily="34" charset="0"/>
              </a:rPr>
              <a:pPr eaLnBrk="1" hangingPunct="1">
                <a:defRPr/>
              </a:pPr>
              <a:t>‹#›</a:t>
            </a:fld>
            <a:endParaRPr lang="en-US" altLang="en-US" sz="1100" smtClean="0">
              <a:solidFill>
                <a:srgbClr val="FFC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8431213" y="152400"/>
            <a:ext cx="685800" cy="2286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GB" sz="900" dirty="0" smtClean="0">
                <a:solidFill>
                  <a:srgbClr val="FFC000"/>
                </a:solidFill>
                <a:latin typeface="Verdana" pitchFamily="34" charset="0"/>
              </a:rPr>
              <a:t>Topic 3</a:t>
            </a:r>
            <a:endParaRPr lang="en-US" sz="900" dirty="0" smtClean="0">
              <a:solidFill>
                <a:srgbClr val="FFC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9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676A8-5360-4147-99E5-DCAE15F02C08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8FDE5-11A0-49AD-B3DD-31D63E2E39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28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FDFC2-8BCF-4DEA-A9EC-1185A990B4FD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442B5-137B-464C-8186-C10B512FA8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80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CC832-E180-4280-BDAC-F992C6EDDBBB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5587E-2D32-45D8-BC2F-C4F6E9F28C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36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76665-2C9A-4E88-A2D3-964B1CBE4AF3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64731-4D9E-4A70-8197-A3537CFEB3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17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1F49-564B-4165-AE2E-8A34438E44A1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33E5F-E18B-4029-BC08-D610864AEA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54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DE1B4-62BE-49F8-A710-5EB86AB45930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D54DB-7026-44C9-ADD1-97B3AD7995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48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3AF43-C263-4E3C-A0B6-CFCBD7400D57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58940-7239-42EA-B7B7-43DEF3035E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53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C73DF-0F66-4947-AC8C-F38468A8DEF3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06212-9A26-4193-AFF7-A7F17083C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93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AA63F-97E0-406C-BF3F-11C01BFBAFF7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25073-D4FA-43F0-916D-4E437EF502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35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3634F-C5BB-41D8-BFA2-A9FC91936738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2A145-CCF0-42D4-A021-24CF33C776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50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CD899F3-B24C-493C-8F3A-68485D2BF193}" type="datetimeFigureOut">
              <a:rPr lang="en-US"/>
              <a:pPr>
                <a:defRPr/>
              </a:pPr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31A7395-F1B2-41B3-9849-D6172EEA7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11" r:id="rId1"/>
    <p:sldLayoutId id="2147485101" r:id="rId2"/>
    <p:sldLayoutId id="2147485102" r:id="rId3"/>
    <p:sldLayoutId id="2147485103" r:id="rId4"/>
    <p:sldLayoutId id="2147485104" r:id="rId5"/>
    <p:sldLayoutId id="2147485105" r:id="rId6"/>
    <p:sldLayoutId id="2147485106" r:id="rId7"/>
    <p:sldLayoutId id="2147485107" r:id="rId8"/>
    <p:sldLayoutId id="2147485108" r:id="rId9"/>
    <p:sldLayoutId id="2147485109" r:id="rId10"/>
    <p:sldLayoutId id="21474851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Z9KEBexzc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dbms/relational_data_model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BgXb66Ckz0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23850"/>
            <a:ext cx="5270500" cy="647700"/>
          </a:xfrm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3600" b="1" dirty="0" smtClean="0">
                <a:solidFill>
                  <a:srgbClr val="FFFF00"/>
                </a:solidFill>
                <a:latin typeface="+mn-lt"/>
              </a:rPr>
              <a:t>IT1768 - Database </a:t>
            </a:r>
            <a:r>
              <a:rPr lang="en-US" sz="3600" b="1" dirty="0" smtClean="0">
                <a:solidFill>
                  <a:srgbClr val="FFFF00"/>
                </a:solidFill>
                <a:latin typeface="+mn-lt"/>
              </a:rPr>
              <a:t>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1676400"/>
            <a:ext cx="3505200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6000" b="1" dirty="0">
                <a:solidFill>
                  <a:schemeClr val="bg1"/>
                </a:solidFill>
                <a:latin typeface="+mn-lt"/>
              </a:rPr>
              <a:t>Topic </a:t>
            </a:r>
            <a:r>
              <a:rPr lang="en-US" sz="6000" b="1" dirty="0" smtClean="0">
                <a:solidFill>
                  <a:schemeClr val="bg1"/>
                </a:solidFill>
                <a:latin typeface="+mn-lt"/>
              </a:rPr>
              <a:t>4 </a:t>
            </a:r>
            <a:r>
              <a:rPr lang="en-US" sz="6000" b="1" dirty="0">
                <a:solidFill>
                  <a:schemeClr val="bg1"/>
                </a:solidFill>
                <a:latin typeface="+mn-lt"/>
              </a:rPr>
              <a:t>:</a:t>
            </a: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endParaRPr lang="en-US" sz="12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defRPr/>
            </a:pPr>
            <a:r>
              <a:rPr lang="en-US" sz="3600" b="1" dirty="0">
                <a:solidFill>
                  <a:schemeClr val="bg1"/>
                </a:solidFill>
                <a:latin typeface="+mn-lt"/>
              </a:rPr>
              <a:t>Relational Data Model </a:t>
            </a:r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2209800" y="5672006"/>
            <a:ext cx="48870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rIns="72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click hyperlink </a:t>
            </a:r>
            <a:r>
              <a:rPr lang="en-SG" altLang="en-US" sz="1600" dirty="0" smtClean="0">
                <a:solidFill>
                  <a:schemeClr val="bg1"/>
                </a:solidFill>
                <a:latin typeface="Arial" panose="020B0604020202020204" pitchFamily="34" charset="0"/>
              </a:rPr>
              <a:t>below &amp; </a:t>
            </a:r>
            <a:r>
              <a:rPr lang="en-SG" altLang="en-US" sz="1600" dirty="0" smtClean="0">
                <a:solidFill>
                  <a:srgbClr val="FFFF00"/>
                </a:solidFill>
                <a:latin typeface="Arial" panose="020B0604020202020204" pitchFamily="34" charset="0"/>
              </a:rPr>
              <a:t>view from 12:00 min onward</a:t>
            </a:r>
            <a:r>
              <a:rPr lang="en-SG" altLang="en-US" sz="1600" dirty="0" smtClean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endParaRPr lang="en-SG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12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4" t="39740" r="47792" b="23344"/>
          <a:stretch>
            <a:fillRect/>
          </a:stretch>
        </p:blipFill>
        <p:spPr bwMode="auto">
          <a:xfrm>
            <a:off x="685800" y="1752600"/>
            <a:ext cx="4383088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hlinkClick r:id="rId3"/>
          </p:cNvPr>
          <p:cNvSpPr>
            <a:spLocks noChangeArrowheads="1"/>
          </p:cNvSpPr>
          <p:nvPr/>
        </p:nvSpPr>
        <p:spPr bwMode="auto">
          <a:xfrm>
            <a:off x="1981200" y="6111158"/>
            <a:ext cx="56022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400" u="sng" dirty="0">
                <a:solidFill>
                  <a:srgbClr val="FFFF00"/>
                </a:solidFill>
                <a:latin typeface="Arial" panose="020B0604020202020204" pitchFamily="34" charset="0"/>
              </a:rPr>
              <a:t>Reference Source: https://www.youtube.com/watch?v=4Z9KEBexzcM</a:t>
            </a:r>
            <a:endParaRPr lang="en-SG" altLang="en-US" sz="14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4488"/>
            <a:ext cx="7772400" cy="646112"/>
          </a:xfrm>
        </p:spPr>
        <p:txBody>
          <a:bodyPr lIns="72000" rIns="72000" anchor="t">
            <a:spAutoFit/>
          </a:bodyPr>
          <a:lstStyle/>
          <a:p>
            <a:pPr algn="l" eaLnBrk="1" hangingPunct="1">
              <a:defRPr/>
            </a:pPr>
            <a:r>
              <a:rPr lang="en-US" sz="3600" b="1" dirty="0" smtClean="0">
                <a:solidFill>
                  <a:srgbClr val="FFFF00"/>
                </a:solidFill>
                <a:latin typeface="+mn-lt"/>
              </a:rPr>
              <a:t>Unit 4 : Relational Data Model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1295400"/>
            <a:ext cx="2130425" cy="627063"/>
          </a:xfr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3600" b="1" smtClean="0">
                <a:solidFill>
                  <a:schemeClr val="bg1"/>
                </a:solidFill>
                <a:cs typeface="Times New Roman" panose="02020603050405020304" pitchFamily="18" charset="0"/>
              </a:rPr>
              <a:t>Objective 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5800" y="2082800"/>
            <a:ext cx="8077200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55600" indent="-355600" eaLnBrk="1" hangingPunct="1">
              <a:spcBef>
                <a:spcPts val="3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At the end of </a:t>
            </a:r>
            <a:r>
              <a:rPr lang="en-US" sz="2800" dirty="0">
                <a:solidFill>
                  <a:schemeClr val="bg1"/>
                </a:solidFill>
                <a:latin typeface="+mn-lt"/>
                <a:ea typeface="SimSun" pitchFamily="2" charset="-122"/>
                <a:cs typeface="Times New Roman" pitchFamily="18" charset="0"/>
              </a:rPr>
              <a:t>this unit, you </a:t>
            </a:r>
            <a:r>
              <a:rPr lang="en-US" altLang="zh-SG" sz="28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should be able to: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list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the associated elements of relational data model such as </a:t>
            </a: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types of entities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, </a:t>
            </a: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attributes and different degree of relationships.</a:t>
            </a:r>
            <a:endParaRPr lang="en-US" altLang="zh-SG" sz="2400" dirty="0">
              <a:solidFill>
                <a:schemeClr val="bg1"/>
              </a:solidFill>
              <a:latin typeface="+mn-lt"/>
              <a:cs typeface="Times New Roman" pitchFamily="18" charset="0"/>
            </a:endParaRP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classify the relationships, cardinalities and the notation used in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E</a:t>
            </a: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ntity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R</a:t>
            </a: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elationship Diagram (ERD).</a:t>
            </a:r>
          </a:p>
          <a:p>
            <a:pPr marL="628650" lvl="1" indent="-273050" eaLnBrk="1" hangingPunct="1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SG" sz="2400" dirty="0" smtClean="0">
                <a:solidFill>
                  <a:schemeClr val="bg1"/>
                </a:solidFill>
                <a:latin typeface="+mn-lt"/>
                <a:cs typeface="Times New Roman" pitchFamily="18" charset="0"/>
              </a:rPr>
              <a:t>produce a simple type of Entity </a:t>
            </a:r>
            <a:r>
              <a:rPr lang="en-US" altLang="zh-SG" sz="2400" dirty="0">
                <a:solidFill>
                  <a:schemeClr val="bg1"/>
                </a:solidFill>
                <a:latin typeface="+mn-lt"/>
                <a:cs typeface="Times New Roman" pitchFamily="18" charset="0"/>
              </a:rPr>
              <a:t>Relationship Diagram (ERD).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557138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Why use relational data model ?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2" name="Rectangle 6"/>
          <p:cNvSpPr>
            <a:spLocks noChangeArrowheads="1"/>
          </p:cNvSpPr>
          <p:nvPr/>
        </p:nvSpPr>
        <p:spPr bwMode="auto">
          <a:xfrm>
            <a:off x="661988" y="1143000"/>
            <a:ext cx="7723187" cy="93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alibri" panose="020F0502020204030204" pitchFamily="34" charset="0"/>
              <a:buAutoNum type="arabicParenR"/>
            </a:pPr>
            <a:r>
              <a:rPr lang="en-SG" altLang="en-US" sz="2800" dirty="0" smtClean="0">
                <a:solidFill>
                  <a:srgbClr val="FFFF00"/>
                </a:solidFill>
              </a:rPr>
              <a:t>In relational data model, data can be organized into tables.</a:t>
            </a:r>
            <a:endParaRPr lang="en-SG" altLang="en-US" sz="2800" dirty="0">
              <a:solidFill>
                <a:srgbClr val="FFFF00"/>
              </a:solidFill>
            </a:endParaRPr>
          </a:p>
        </p:txBody>
      </p:sp>
      <p:grpSp>
        <p:nvGrpSpPr>
          <p:cNvPr id="7173" name="Group 1"/>
          <p:cNvGrpSpPr>
            <a:grpSpLocks/>
          </p:cNvGrpSpPr>
          <p:nvPr/>
        </p:nvGrpSpPr>
        <p:grpSpPr bwMode="auto">
          <a:xfrm>
            <a:off x="972343" y="2315914"/>
            <a:ext cx="7102475" cy="2747963"/>
            <a:chOff x="100762" y="3286826"/>
            <a:chExt cx="7102487" cy="2747962"/>
          </a:xfrm>
        </p:grpSpPr>
        <p:pic>
          <p:nvPicPr>
            <p:cNvPr id="7175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286826"/>
              <a:ext cx="5984049" cy="2747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"/>
            <p:cNvSpPr>
              <a:spLocks noChangeArrowheads="1"/>
            </p:cNvSpPr>
            <p:nvPr/>
          </p:nvSpPr>
          <p:spPr bwMode="auto">
            <a:xfrm>
              <a:off x="2072440" y="4953700"/>
              <a:ext cx="1239840" cy="319088"/>
            </a:xfrm>
            <a:prstGeom prst="wedgeRectCallout">
              <a:avLst>
                <a:gd name="adj1" fmla="val 63039"/>
                <a:gd name="adj2" fmla="val 8166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relationship</a:t>
              </a:r>
            </a:p>
          </p:txBody>
        </p:sp>
        <p:sp>
          <p:nvSpPr>
            <p:cNvPr id="18" name="Rectangle 1"/>
            <p:cNvSpPr>
              <a:spLocks noChangeArrowheads="1"/>
            </p:cNvSpPr>
            <p:nvPr/>
          </p:nvSpPr>
          <p:spPr bwMode="auto">
            <a:xfrm>
              <a:off x="100762" y="4344101"/>
              <a:ext cx="1065215" cy="319088"/>
            </a:xfrm>
            <a:prstGeom prst="wedgeRectCallout">
              <a:avLst>
                <a:gd name="adj1" fmla="val 63039"/>
                <a:gd name="adj2" fmla="val 8166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attributes</a:t>
              </a:r>
            </a:p>
          </p:txBody>
        </p:sp>
        <p:sp>
          <p:nvSpPr>
            <p:cNvPr id="19" name="Rectangle 1"/>
            <p:cNvSpPr>
              <a:spLocks noChangeArrowheads="1"/>
            </p:cNvSpPr>
            <p:nvPr/>
          </p:nvSpPr>
          <p:spPr bwMode="auto">
            <a:xfrm>
              <a:off x="381750" y="3818639"/>
              <a:ext cx="736027" cy="318924"/>
            </a:xfrm>
            <a:prstGeom prst="wedgeRectCallout">
              <a:avLst>
                <a:gd name="adj1" fmla="val 80426"/>
                <a:gd name="adj2" fmla="val 14958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Entity</a:t>
              </a:r>
            </a:p>
          </p:txBody>
        </p:sp>
        <p:sp>
          <p:nvSpPr>
            <p:cNvPr id="23" name="Rectangle 1"/>
            <p:cNvSpPr>
              <a:spLocks noChangeArrowheads="1"/>
            </p:cNvSpPr>
            <p:nvPr/>
          </p:nvSpPr>
          <p:spPr bwMode="auto">
            <a:xfrm>
              <a:off x="5772910" y="5410900"/>
              <a:ext cx="985839" cy="257175"/>
            </a:xfrm>
            <a:prstGeom prst="wedgeRectCallout">
              <a:avLst>
                <a:gd name="adj1" fmla="val -84560"/>
                <a:gd name="adj2" fmla="val 51871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200" dirty="0" smtClean="0">
                  <a:solidFill>
                    <a:schemeClr val="accent6">
                      <a:lumMod val="50000"/>
                    </a:schemeClr>
                  </a:solidFill>
                </a:rPr>
                <a:t>Primary key</a:t>
              </a:r>
            </a:p>
          </p:txBody>
        </p:sp>
        <p:sp>
          <p:nvSpPr>
            <p:cNvPr id="24" name="Rectangle 1"/>
            <p:cNvSpPr>
              <a:spLocks noChangeArrowheads="1"/>
            </p:cNvSpPr>
            <p:nvPr/>
          </p:nvSpPr>
          <p:spPr bwMode="auto">
            <a:xfrm>
              <a:off x="4572758" y="4953700"/>
              <a:ext cx="962027" cy="257175"/>
            </a:xfrm>
            <a:prstGeom prst="wedgeRectCallout">
              <a:avLst>
                <a:gd name="adj1" fmla="val -103048"/>
                <a:gd name="adj2" fmla="val -271118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200" dirty="0" smtClean="0">
                  <a:solidFill>
                    <a:schemeClr val="accent6">
                      <a:lumMod val="50000"/>
                    </a:schemeClr>
                  </a:solidFill>
                </a:rPr>
                <a:t>Foreign key</a:t>
              </a:r>
            </a:p>
          </p:txBody>
        </p:sp>
      </p:grp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85800" y="5270252"/>
            <a:ext cx="7723187" cy="1365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+mj-lt"/>
              <a:buAutoNum type="arabicParenR" startAt="2"/>
            </a:pPr>
            <a:r>
              <a:rPr lang="en-SG" altLang="en-US" sz="2800" dirty="0">
                <a:solidFill>
                  <a:srgbClr val="FFFF00"/>
                </a:solidFill>
              </a:rPr>
              <a:t>R</a:t>
            </a:r>
            <a:r>
              <a:rPr lang="en-SG" altLang="en-US" sz="2800" dirty="0" smtClean="0">
                <a:solidFill>
                  <a:srgbClr val="FFFF00"/>
                </a:solidFill>
              </a:rPr>
              <a:t>elational data model produces relational database, from which data can be manipulated using SQL </a:t>
            </a:r>
            <a:r>
              <a:rPr lang="en-SG" altLang="en-US" sz="2400" dirty="0" smtClean="0">
                <a:solidFill>
                  <a:srgbClr val="FFFF00"/>
                </a:solidFill>
              </a:rPr>
              <a:t>(Structural Query Language).</a:t>
            </a:r>
            <a:endParaRPr lang="en-SG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idx="4294967295"/>
          </p:nvPr>
        </p:nvSpPr>
        <p:spPr>
          <a:xfrm>
            <a:off x="742950" y="410810"/>
            <a:ext cx="4926852" cy="50359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28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3-Level Architecture of Database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" name="Group 2"/>
          <p:cNvGrpSpPr>
            <a:grpSpLocks/>
          </p:cNvGrpSpPr>
          <p:nvPr/>
        </p:nvGrpSpPr>
        <p:grpSpPr bwMode="auto">
          <a:xfrm>
            <a:off x="2611438" y="1225550"/>
            <a:ext cx="1808162" cy="5480050"/>
            <a:chOff x="5013325" y="1828800"/>
            <a:chExt cx="1450933" cy="4532313"/>
          </a:xfrm>
        </p:grpSpPr>
        <p:sp>
          <p:nvSpPr>
            <p:cNvPr id="47" name="Oval 46">
              <a:hlinkClick r:id="rId2" action="ppaction://hlinksldjump"/>
            </p:cNvPr>
            <p:cNvSpPr/>
            <p:nvPr/>
          </p:nvSpPr>
          <p:spPr>
            <a:xfrm>
              <a:off x="5013325" y="1828800"/>
              <a:ext cx="1387240" cy="456908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1) Database planning 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Rounded Rectangle 47">
              <a:hlinkClick r:id="rId3" action="ppaction://hlinksldjump"/>
            </p:cNvPr>
            <p:cNvSpPr/>
            <p:nvPr/>
          </p:nvSpPr>
          <p:spPr>
            <a:xfrm>
              <a:off x="5033707" y="3810046"/>
              <a:ext cx="1393609" cy="456908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3) Database design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ounded Rectangle 48">
              <a:hlinkClick r:id="rId4" action="ppaction://hlinksldjump"/>
            </p:cNvPr>
            <p:cNvSpPr/>
            <p:nvPr/>
          </p:nvSpPr>
          <p:spPr>
            <a:xfrm>
              <a:off x="5048993" y="5029779"/>
              <a:ext cx="1394883" cy="456908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4) Database implementation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013325" y="5821490"/>
              <a:ext cx="1450933" cy="539623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200" b="1" dirty="0">
                  <a:solidFill>
                    <a:schemeClr val="tx1"/>
                  </a:solidFill>
                </a:rPr>
                <a:t>5) Data conversion &amp; Loading</a:t>
              </a:r>
              <a:endParaRPr lang="en-SG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5715225" y="2289647"/>
              <a:ext cx="0" cy="439839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5715225" y="3171951"/>
              <a:ext cx="0" cy="68404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715225" y="4266954"/>
              <a:ext cx="0" cy="793023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735607" y="5466993"/>
              <a:ext cx="0" cy="39519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>
              <a:hlinkClick r:id="rId5" action="ppaction://hlinksldjump"/>
            </p:cNvPr>
            <p:cNvSpPr/>
            <p:nvPr/>
          </p:nvSpPr>
          <p:spPr>
            <a:xfrm>
              <a:off x="5024789" y="2729486"/>
              <a:ext cx="1394884" cy="456908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2) Data collection &amp; analysis 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4800600" y="1225550"/>
            <a:ext cx="1606550" cy="5099050"/>
            <a:chOff x="6901586" y="1225810"/>
            <a:chExt cx="1154690" cy="5097761"/>
          </a:xfrm>
        </p:grpSpPr>
        <p:sp>
          <p:nvSpPr>
            <p:cNvPr id="57" name="TextBox 56"/>
            <p:cNvSpPr txBox="1"/>
            <p:nvPr/>
          </p:nvSpPr>
          <p:spPr>
            <a:xfrm>
              <a:off x="7054480" y="1225810"/>
              <a:ext cx="633254" cy="380904"/>
            </a:xfrm>
            <a:prstGeom prst="rect">
              <a:avLst/>
            </a:prstGeom>
            <a:noFill/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defRPr/>
              </a:pPr>
              <a:r>
                <a:rPr lang="en-GB" sz="2000" b="1" u="sng" dirty="0">
                  <a:solidFill>
                    <a:schemeClr val="bg1"/>
                  </a:solidFill>
                  <a:latin typeface="+mn-lt"/>
                </a:rPr>
                <a:t>Activity</a:t>
              </a:r>
              <a:endParaRPr lang="en-US" sz="2000" b="1" u="sng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901586" y="3581064"/>
              <a:ext cx="1152408" cy="52374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 smtClean="0">
                  <a:solidFill>
                    <a:schemeClr val="tx1"/>
                  </a:solidFill>
                </a:rPr>
                <a:t>Entity Relationships </a:t>
              </a:r>
              <a:r>
                <a:rPr lang="en-GB" sz="1400" b="1" dirty="0">
                  <a:solidFill>
                    <a:schemeClr val="tx1"/>
                  </a:solidFill>
                </a:rPr>
                <a:t>M</a:t>
              </a:r>
              <a:r>
                <a:rPr lang="en-GB" sz="1400" b="1" dirty="0" smtClean="0">
                  <a:solidFill>
                    <a:schemeClr val="tx1"/>
                  </a:solidFill>
                </a:rPr>
                <a:t>odelling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903868" y="4876137"/>
              <a:ext cx="1117037" cy="549136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Create Relational Database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903868" y="2285992"/>
              <a:ext cx="1152408" cy="607859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400" b="1" dirty="0">
                  <a:solidFill>
                    <a:schemeClr val="tx1"/>
                  </a:solidFill>
                </a:rPr>
                <a:t>Interview, Survey reports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916419" y="5866487"/>
              <a:ext cx="1115896" cy="457084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8000" rIns="18000" bIns="18000" anchor="ctr"/>
            <a:lstStyle/>
            <a:p>
              <a:pPr algn="ctr" eaLnBrk="1" hangingPunct="1">
                <a:defRPr/>
              </a:pPr>
              <a:r>
                <a:rPr lang="en-GB" sz="1100" b="1" dirty="0">
                  <a:solidFill>
                    <a:schemeClr val="tx1"/>
                  </a:solidFill>
                </a:rPr>
                <a:t> </a:t>
              </a:r>
              <a:r>
                <a:rPr lang="en-GB" sz="1400" b="1" dirty="0">
                  <a:solidFill>
                    <a:schemeClr val="tx1"/>
                  </a:solidFill>
                </a:rPr>
                <a:t>Data migration &amp; Testing</a:t>
              </a:r>
              <a:endParaRPr lang="en-SG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289137" y="2286000"/>
            <a:ext cx="6248822" cy="3429001"/>
            <a:chOff x="289121" y="2286007"/>
            <a:chExt cx="6248105" cy="3428902"/>
          </a:xfrm>
        </p:grpSpPr>
        <p:cxnSp>
          <p:nvCxnSpPr>
            <p:cNvPr id="63" name="Straight Connector 62"/>
            <p:cNvCxnSpPr/>
            <p:nvPr/>
          </p:nvCxnSpPr>
          <p:spPr bwMode="auto">
            <a:xfrm>
              <a:off x="665104" y="5713322"/>
              <a:ext cx="5851488" cy="1587"/>
            </a:xfrm>
            <a:prstGeom prst="line">
              <a:avLst/>
            </a:prstGeom>
            <a:ln>
              <a:solidFill>
                <a:srgbClr val="FFFF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4" name="Rectangle 34"/>
            <p:cNvSpPr>
              <a:spLocks noChangeArrowheads="1"/>
            </p:cNvSpPr>
            <p:nvPr/>
          </p:nvSpPr>
          <p:spPr bwMode="auto">
            <a:xfrm>
              <a:off x="1562915" y="2659062"/>
              <a:ext cx="935996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FFFF00"/>
                  </a:solidFill>
                  <a:cs typeface="Arial" panose="020B0604020202020204" pitchFamily="34" charset="0"/>
                </a:rPr>
                <a:t>External Level</a:t>
              </a:r>
              <a:endParaRPr lang="en-US" altLang="en-US" sz="1800" dirty="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5" name="Rectangle 35"/>
            <p:cNvSpPr>
              <a:spLocks noChangeArrowheads="1"/>
            </p:cNvSpPr>
            <p:nvPr/>
          </p:nvSpPr>
          <p:spPr bwMode="auto">
            <a:xfrm>
              <a:off x="1406716" y="3717924"/>
              <a:ext cx="125999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cs typeface="Arial" panose="020B0604020202020204" pitchFamily="34" charset="0"/>
                </a:rPr>
                <a:t>Conceptual Level</a:t>
              </a:r>
              <a:endParaRPr lang="en-US" altLang="en-US" sz="180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6" name="Rectangle 70"/>
            <p:cNvSpPr>
              <a:spLocks noChangeArrowheads="1"/>
            </p:cNvSpPr>
            <p:nvPr/>
          </p:nvSpPr>
          <p:spPr bwMode="auto">
            <a:xfrm>
              <a:off x="1495116" y="4999676"/>
              <a:ext cx="1079996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46038" rIns="4680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cs typeface="Arial" panose="020B0604020202020204" pitchFamily="34" charset="0"/>
                </a:rPr>
                <a:t>Internal Level</a:t>
              </a:r>
              <a:endParaRPr lang="en-US" altLang="en-US" sz="1800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 bwMode="auto">
            <a:xfrm rot="5400000">
              <a:off x="-792147" y="3976804"/>
              <a:ext cx="3383182" cy="1588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auto">
            <a:xfrm>
              <a:off x="685739" y="2286007"/>
              <a:ext cx="5851487" cy="1588"/>
            </a:xfrm>
            <a:prstGeom prst="line">
              <a:avLst/>
            </a:prstGeom>
            <a:ln>
              <a:solidFill>
                <a:srgbClr val="FFFF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TextBox 4"/>
            <p:cNvSpPr txBox="1">
              <a:spLocks noChangeArrowheads="1"/>
            </p:cNvSpPr>
            <p:nvPr/>
          </p:nvSpPr>
          <p:spPr bwMode="auto">
            <a:xfrm>
              <a:off x="289121" y="2406654"/>
              <a:ext cx="1187313" cy="793727"/>
            </a:xfrm>
            <a:prstGeom prst="rect">
              <a:avLst/>
            </a:prstGeom>
            <a:solidFill>
              <a:srgbClr val="FFFFCC"/>
            </a:solidFill>
            <a:ln w="9525">
              <a:noFill/>
              <a:miter lim="800000"/>
              <a:headEnd/>
              <a:tailEnd/>
            </a:ln>
          </p:spPr>
          <p:txBody>
            <a:bodyPr lIns="27432" tIns="27432" rIns="27432" bIns="27432">
              <a:spAutoFit/>
            </a:bodyPr>
            <a:lstStyle/>
            <a:p>
              <a:pPr>
                <a:defRPr/>
              </a:pPr>
              <a:r>
                <a:rPr lang="en-GB" sz="1600" b="1" dirty="0">
                  <a:solidFill>
                    <a:srgbClr val="FF0000"/>
                  </a:solidFill>
                  <a:latin typeface="+mn-lt"/>
                </a:rPr>
                <a:t>The 3-Level  Architecture of Database</a:t>
              </a:r>
              <a:endParaRPr lang="en-US" sz="1600" b="1" dirty="0">
                <a:solidFill>
                  <a:srgbClr val="FF0000"/>
                </a:solidFill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36976" y="2285999"/>
            <a:ext cx="2561302" cy="1752595"/>
            <a:chOff x="6536976" y="2275532"/>
            <a:chExt cx="2561302" cy="184502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6537958" y="2275532"/>
              <a:ext cx="2560320" cy="1113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76213" indent="-176213" eaLnBrk="1" hangingPunct="1">
                <a:spcBef>
                  <a:spcPct val="0"/>
                </a:spcBef>
                <a:buFont typeface="Courier New" panose="02070309020205020404" pitchFamily="49" charset="0"/>
                <a:buChar char="o"/>
              </a:pPr>
              <a:r>
                <a:rPr lang="en-SG" altLang="en-US" sz="1600" dirty="0" smtClean="0">
                  <a:solidFill>
                    <a:schemeClr val="bg1"/>
                  </a:solidFill>
                </a:rPr>
                <a:t>Survey user requirements, gathered data, formulate system requirements</a:t>
              </a:r>
            </a:p>
            <a:p>
              <a:pPr marL="176213" indent="-176213" eaLnBrk="1" hangingPunct="1">
                <a:spcBef>
                  <a:spcPct val="0"/>
                </a:spcBef>
                <a:buFont typeface="Courier New" panose="02070309020205020404" pitchFamily="49" charset="0"/>
                <a:buChar char="o"/>
              </a:pPr>
              <a:r>
                <a:rPr lang="en-SG" altLang="en-US" sz="1600" dirty="0" smtClean="0">
                  <a:solidFill>
                    <a:srgbClr val="FFFF00"/>
                  </a:solidFill>
                </a:rPr>
                <a:t>Summarise into Scenario</a:t>
              </a:r>
              <a:endParaRPr lang="en-SG" altLang="en-US" sz="1600" dirty="0">
                <a:solidFill>
                  <a:srgbClr val="FFFF00"/>
                </a:solidFill>
              </a:endParaRPr>
            </a:p>
          </p:txBody>
        </p:sp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6554193" y="3478811"/>
              <a:ext cx="2377441" cy="31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176213" indent="-176213" eaLnBrk="1" hangingPunct="1">
                <a:spcBef>
                  <a:spcPct val="0"/>
                </a:spcBef>
                <a:buFont typeface="Courier New" panose="02070309020205020404" pitchFamily="49" charset="0"/>
                <a:buChar char="o"/>
              </a:pPr>
              <a:r>
                <a:rPr lang="en-SG" altLang="en-US" sz="1600" dirty="0" smtClean="0">
                  <a:solidFill>
                    <a:srgbClr val="FFFF00"/>
                  </a:solidFill>
                </a:rPr>
                <a:t>Relational modelling</a:t>
              </a:r>
              <a:endParaRPr lang="en-SG" altLang="en-US" sz="1600" dirty="0">
                <a:solidFill>
                  <a:srgbClr val="FFFF00"/>
                </a:solidFill>
              </a:endParaRPr>
            </a:p>
          </p:txBody>
        </p:sp>
        <p:sp>
          <p:nvSpPr>
            <p:cNvPr id="2" name="5-Point Star 1"/>
            <p:cNvSpPr/>
            <p:nvPr/>
          </p:nvSpPr>
          <p:spPr>
            <a:xfrm>
              <a:off x="6536976" y="3819564"/>
              <a:ext cx="274320" cy="300990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4801370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Entity-Relationship Diagram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173" name="Group 1"/>
          <p:cNvGrpSpPr>
            <a:grpSpLocks/>
          </p:cNvGrpSpPr>
          <p:nvPr/>
        </p:nvGrpSpPr>
        <p:grpSpPr bwMode="auto">
          <a:xfrm>
            <a:off x="152400" y="1981200"/>
            <a:ext cx="8229600" cy="3810000"/>
            <a:chOff x="100762" y="3286826"/>
            <a:chExt cx="7102487" cy="2747962"/>
          </a:xfrm>
        </p:grpSpPr>
        <p:pic>
          <p:nvPicPr>
            <p:cNvPr id="7175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3286826"/>
              <a:ext cx="5984049" cy="2747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"/>
            <p:cNvSpPr>
              <a:spLocks noChangeArrowheads="1"/>
            </p:cNvSpPr>
            <p:nvPr/>
          </p:nvSpPr>
          <p:spPr bwMode="auto">
            <a:xfrm>
              <a:off x="2072440" y="4953700"/>
              <a:ext cx="1239840" cy="319088"/>
            </a:xfrm>
            <a:prstGeom prst="wedgeRectCallout">
              <a:avLst>
                <a:gd name="adj1" fmla="val 63039"/>
                <a:gd name="adj2" fmla="val 8166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relationship</a:t>
              </a:r>
            </a:p>
          </p:txBody>
        </p:sp>
        <p:sp>
          <p:nvSpPr>
            <p:cNvPr id="18" name="Rectangle 1"/>
            <p:cNvSpPr>
              <a:spLocks noChangeArrowheads="1"/>
            </p:cNvSpPr>
            <p:nvPr/>
          </p:nvSpPr>
          <p:spPr bwMode="auto">
            <a:xfrm>
              <a:off x="100762" y="4344101"/>
              <a:ext cx="1065215" cy="319088"/>
            </a:xfrm>
            <a:prstGeom prst="wedgeRectCallout">
              <a:avLst>
                <a:gd name="adj1" fmla="val 63039"/>
                <a:gd name="adj2" fmla="val 8166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attributes</a:t>
              </a:r>
            </a:p>
          </p:txBody>
        </p:sp>
        <p:sp>
          <p:nvSpPr>
            <p:cNvPr id="19" name="Rectangle 1"/>
            <p:cNvSpPr>
              <a:spLocks noChangeArrowheads="1"/>
            </p:cNvSpPr>
            <p:nvPr/>
          </p:nvSpPr>
          <p:spPr bwMode="auto">
            <a:xfrm>
              <a:off x="381750" y="3818639"/>
              <a:ext cx="635221" cy="230024"/>
            </a:xfrm>
            <a:prstGeom prst="wedgeRectCallout">
              <a:avLst>
                <a:gd name="adj1" fmla="val 80426"/>
                <a:gd name="adj2" fmla="val 14958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Entity</a:t>
              </a:r>
            </a:p>
          </p:txBody>
        </p:sp>
        <p:sp>
          <p:nvSpPr>
            <p:cNvPr id="21" name="Rectangle 1"/>
            <p:cNvSpPr>
              <a:spLocks noChangeArrowheads="1"/>
            </p:cNvSpPr>
            <p:nvPr/>
          </p:nvSpPr>
          <p:spPr bwMode="auto">
            <a:xfrm>
              <a:off x="3505956" y="3429701"/>
              <a:ext cx="1117602" cy="319088"/>
            </a:xfrm>
            <a:prstGeom prst="wedgeRectCallout">
              <a:avLst>
                <a:gd name="adj1" fmla="val 63039"/>
                <a:gd name="adj2" fmla="val 26783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600" dirty="0" smtClean="0">
                  <a:solidFill>
                    <a:schemeClr val="accent6">
                      <a:lumMod val="50000"/>
                    </a:schemeClr>
                  </a:solidFill>
                </a:rPr>
                <a:t>cardinality</a:t>
              </a:r>
            </a:p>
          </p:txBody>
        </p:sp>
        <p:sp>
          <p:nvSpPr>
            <p:cNvPr id="23" name="Rectangle 1"/>
            <p:cNvSpPr>
              <a:spLocks noChangeArrowheads="1"/>
            </p:cNvSpPr>
            <p:nvPr/>
          </p:nvSpPr>
          <p:spPr bwMode="auto">
            <a:xfrm>
              <a:off x="5772910" y="5410900"/>
              <a:ext cx="985839" cy="257175"/>
            </a:xfrm>
            <a:prstGeom prst="wedgeRectCallout">
              <a:avLst>
                <a:gd name="adj1" fmla="val -84560"/>
                <a:gd name="adj2" fmla="val 51871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200" dirty="0" smtClean="0">
                  <a:solidFill>
                    <a:schemeClr val="accent6">
                      <a:lumMod val="50000"/>
                    </a:schemeClr>
                  </a:solidFill>
                </a:rPr>
                <a:t>Primary key</a:t>
              </a:r>
            </a:p>
          </p:txBody>
        </p:sp>
        <p:sp>
          <p:nvSpPr>
            <p:cNvPr id="24" name="Rectangle 1"/>
            <p:cNvSpPr>
              <a:spLocks noChangeArrowheads="1"/>
            </p:cNvSpPr>
            <p:nvPr/>
          </p:nvSpPr>
          <p:spPr bwMode="auto">
            <a:xfrm>
              <a:off x="4572758" y="4953700"/>
              <a:ext cx="962027" cy="257175"/>
            </a:xfrm>
            <a:prstGeom prst="wedgeRectCallout">
              <a:avLst>
                <a:gd name="adj1" fmla="val -103048"/>
                <a:gd name="adj2" fmla="val -271118"/>
              </a:avLst>
            </a:prstGeom>
            <a:solidFill>
              <a:schemeClr val="bg2"/>
            </a:solidFill>
            <a:ln w="9525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marL="177800" indent="-177800" eaLnBrk="1" hangingPunct="1">
                <a:spcBef>
                  <a:spcPct val="0"/>
                </a:spcBef>
                <a:buFont typeface="Courier New" pitchFamily="49" charset="0"/>
                <a:buChar char="o"/>
                <a:defRPr/>
              </a:pPr>
              <a:r>
                <a:rPr lang="en-SG" altLang="en-US" sz="1200" dirty="0" smtClean="0">
                  <a:solidFill>
                    <a:schemeClr val="accent6">
                      <a:lumMod val="50000"/>
                    </a:schemeClr>
                  </a:solidFill>
                </a:rPr>
                <a:t>Foreign key</a:t>
              </a:r>
            </a:p>
          </p:txBody>
        </p:sp>
      </p:grpSp>
      <p:sp>
        <p:nvSpPr>
          <p:cNvPr id="11" name="TextBox 10"/>
          <p:cNvSpPr txBox="1"/>
          <p:nvPr/>
        </p:nvSpPr>
        <p:spPr bwMode="auto">
          <a:xfrm>
            <a:off x="990600" y="1295400"/>
            <a:ext cx="6006700" cy="442035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400" b="1" u="sng" dirty="0" smtClean="0">
                <a:solidFill>
                  <a:schemeClr val="bg1"/>
                </a:solidFill>
                <a:latin typeface="+mn-lt"/>
              </a:rPr>
              <a:t>Relational model &amp; Entity-</a:t>
            </a:r>
            <a:r>
              <a:rPr lang="en-GB" sz="2400" b="1" u="sng" dirty="0" err="1" smtClean="0">
                <a:solidFill>
                  <a:schemeClr val="bg1"/>
                </a:solidFill>
                <a:latin typeface="+mn-lt"/>
              </a:rPr>
              <a:t>Relationsip</a:t>
            </a:r>
            <a:r>
              <a:rPr lang="en-GB" sz="2400" b="1" u="sng" dirty="0" smtClean="0">
                <a:solidFill>
                  <a:schemeClr val="bg1"/>
                </a:solidFill>
                <a:latin typeface="+mn-lt"/>
              </a:rPr>
              <a:t> Diagram</a:t>
            </a:r>
            <a:endParaRPr lang="en-US" sz="2400" b="1" u="sng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948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360713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Modelling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685800" y="2268899"/>
            <a:ext cx="1985599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3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Entities</a:t>
            </a:r>
            <a:endParaRPr lang="en-SG" altLang="en-US" sz="3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1188789" y="3048000"/>
            <a:ext cx="2458806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3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Attributes</a:t>
            </a:r>
            <a:endParaRPr lang="en-SG" altLang="en-US" sz="3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732194" y="3869099"/>
            <a:ext cx="5662247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3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Business Rules </a:t>
            </a:r>
            <a:r>
              <a:rPr lang="en-SG" altLang="en-US" sz="2800" dirty="0" smtClean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&gt;&gt; Cardinalities</a:t>
            </a:r>
            <a:endParaRPr lang="en-SG" altLang="en-US" sz="2800" dirty="0">
              <a:solidFill>
                <a:srgbClr val="FFC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2256504" y="4707299"/>
            <a:ext cx="3081284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3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Relationships</a:t>
            </a:r>
            <a:endParaRPr lang="en-SG" altLang="en-US" sz="3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2786116" y="5469299"/>
            <a:ext cx="5639868" cy="62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3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 schema &amp; Constraints</a:t>
            </a:r>
            <a:endParaRPr lang="en-SG" altLang="en-US" sz="3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/>
          <p:cNvCxnSpPr>
            <a:stCxn id="8195" idx="1"/>
          </p:cNvCxnSpPr>
          <p:nvPr/>
        </p:nvCxnSpPr>
        <p:spPr>
          <a:xfrm>
            <a:off x="685800" y="2582250"/>
            <a:ext cx="2286000" cy="3513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644245" y="1143000"/>
            <a:ext cx="6206498" cy="503590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800" b="1" u="sng" dirty="0" smtClean="0">
                <a:solidFill>
                  <a:schemeClr val="bg1"/>
                </a:solidFill>
                <a:latin typeface="+mn-lt"/>
              </a:rPr>
              <a:t>User requirements &amp; data </a:t>
            </a:r>
            <a:r>
              <a:rPr lang="en-GB" sz="2800" b="1" u="sng" dirty="0" err="1" smtClean="0">
                <a:solidFill>
                  <a:schemeClr val="bg1"/>
                </a:solidFill>
                <a:latin typeface="+mn-lt"/>
              </a:rPr>
              <a:t>consolidaation</a:t>
            </a:r>
            <a:endParaRPr lang="en-US" sz="2800" b="1" u="sng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1447800" y="1752600"/>
            <a:ext cx="502990" cy="516299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346060" y="5958765"/>
            <a:ext cx="4579643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SG" altLang="en-US" sz="2400" dirty="0" smtClean="0">
                <a:solidFill>
                  <a:srgbClr val="FFC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(e.g. Referential integrity constraint)</a:t>
            </a:r>
            <a:endParaRPr lang="en-SG" altLang="en-US" sz="2400" dirty="0">
              <a:solidFill>
                <a:srgbClr val="FFC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4156075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Database Development</a:t>
            </a:r>
            <a:endParaRPr lang="en-US" altLang="en-US" sz="3200" b="1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2927350" y="3744913"/>
            <a:ext cx="2635250" cy="1373187"/>
          </a:xfrm>
          <a:prstGeom prst="ellipse">
            <a:avLst/>
          </a:prstGeom>
          <a:solidFill>
            <a:srgbClr val="00B05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800" dirty="0"/>
              <a:t>Established Database</a:t>
            </a:r>
            <a:endParaRPr lang="en-SG" sz="2800" dirty="0"/>
          </a:p>
        </p:txBody>
      </p:sp>
      <p:sp>
        <p:nvSpPr>
          <p:cNvPr id="9220" name="Text Box 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5486400" y="2622550"/>
            <a:ext cx="26066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(Key)  constraints </a:t>
            </a:r>
          </a:p>
        </p:txBody>
      </p:sp>
      <p:sp>
        <p:nvSpPr>
          <p:cNvPr id="9221" name="Text Box 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5497513" y="3155950"/>
            <a:ext cx="329406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Referential Integrity constraints</a:t>
            </a:r>
          </a:p>
        </p:txBody>
      </p:sp>
      <p:sp>
        <p:nvSpPr>
          <p:cNvPr id="9222" name="Text Box 3"/>
          <p:cNvSpPr txBox="1">
            <a:spLocks noChangeArrowheads="1"/>
          </p:cNvSpPr>
          <p:nvPr/>
        </p:nvSpPr>
        <p:spPr bwMode="auto">
          <a:xfrm>
            <a:off x="661988" y="1143000"/>
            <a:ext cx="7772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alibri" panose="020F0502020204030204" pitchFamily="34" charset="0"/>
              <a:buAutoNum type="arabicParenR" startAt="5"/>
            </a:pPr>
            <a:r>
              <a:rPr lang="en-SG" altLang="en-US" sz="2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What constitutes an established database?</a:t>
            </a:r>
          </a:p>
        </p:txBody>
      </p:sp>
      <p:sp>
        <p:nvSpPr>
          <p:cNvPr id="9223" name="Text Box 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5541963" y="3700463"/>
            <a:ext cx="21637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Domain constraints</a:t>
            </a:r>
          </a:p>
        </p:txBody>
      </p:sp>
      <p:sp>
        <p:nvSpPr>
          <p:cNvPr id="9224" name="Rectangle 1"/>
          <p:cNvSpPr>
            <a:spLocks noChangeArrowheads="1"/>
          </p:cNvSpPr>
          <p:nvPr/>
        </p:nvSpPr>
        <p:spPr bwMode="auto">
          <a:xfrm>
            <a:off x="814388" y="2603500"/>
            <a:ext cx="20812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</a:rPr>
              <a:t>No insert anomaly</a:t>
            </a:r>
          </a:p>
        </p:txBody>
      </p:sp>
      <p:sp>
        <p:nvSpPr>
          <p:cNvPr id="9225" name="Rectangle 1"/>
          <p:cNvSpPr>
            <a:spLocks noChangeArrowheads="1"/>
          </p:cNvSpPr>
          <p:nvPr/>
        </p:nvSpPr>
        <p:spPr bwMode="auto">
          <a:xfrm>
            <a:off x="814388" y="3016250"/>
            <a:ext cx="213836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</a:rPr>
              <a:t>No delete anomaly</a:t>
            </a:r>
          </a:p>
        </p:txBody>
      </p:sp>
      <p:sp>
        <p:nvSpPr>
          <p:cNvPr id="9226" name="Rectangle 1"/>
          <p:cNvSpPr>
            <a:spLocks noChangeArrowheads="1"/>
          </p:cNvSpPr>
          <p:nvPr/>
        </p:nvSpPr>
        <p:spPr bwMode="auto">
          <a:xfrm>
            <a:off x="814388" y="3441700"/>
            <a:ext cx="2208212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</a:rPr>
              <a:t>No update anomaly</a:t>
            </a:r>
          </a:p>
        </p:txBody>
      </p:sp>
      <p:sp>
        <p:nvSpPr>
          <p:cNvPr id="9227" name="Rectangle 1"/>
          <p:cNvSpPr>
            <a:spLocks noChangeArrowheads="1"/>
          </p:cNvSpPr>
          <p:nvPr/>
        </p:nvSpPr>
        <p:spPr bwMode="auto">
          <a:xfrm>
            <a:off x="838200" y="2070100"/>
            <a:ext cx="266382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400">
                <a:solidFill>
                  <a:srgbClr val="FFFF00"/>
                </a:solidFill>
              </a:rPr>
              <a:t>Normalized relations</a:t>
            </a:r>
          </a:p>
        </p:txBody>
      </p:sp>
      <p:sp>
        <p:nvSpPr>
          <p:cNvPr id="9228" name="Rectangle 1"/>
          <p:cNvSpPr>
            <a:spLocks noChangeArrowheads="1"/>
          </p:cNvSpPr>
          <p:nvPr/>
        </p:nvSpPr>
        <p:spPr bwMode="auto">
          <a:xfrm>
            <a:off x="5489575" y="2057400"/>
            <a:ext cx="148113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400">
                <a:solidFill>
                  <a:srgbClr val="FFFF00"/>
                </a:solidFill>
              </a:rPr>
              <a:t>Constraints</a:t>
            </a:r>
          </a:p>
        </p:txBody>
      </p:sp>
      <p:sp>
        <p:nvSpPr>
          <p:cNvPr id="9229" name="Rectangle 1"/>
          <p:cNvSpPr>
            <a:spLocks noChangeArrowheads="1"/>
          </p:cNvSpPr>
          <p:nvPr/>
        </p:nvSpPr>
        <p:spPr bwMode="auto">
          <a:xfrm>
            <a:off x="966788" y="5530850"/>
            <a:ext cx="23320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</a:rPr>
              <a:t>Ease of data retrieval</a:t>
            </a:r>
          </a:p>
        </p:txBody>
      </p:sp>
      <p:sp>
        <p:nvSpPr>
          <p:cNvPr id="9230" name="Rectangle 1"/>
          <p:cNvSpPr>
            <a:spLocks noChangeArrowheads="1"/>
          </p:cNvSpPr>
          <p:nvPr/>
        </p:nvSpPr>
        <p:spPr bwMode="auto">
          <a:xfrm>
            <a:off x="990600" y="4997450"/>
            <a:ext cx="182086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400">
                <a:solidFill>
                  <a:srgbClr val="FFFF00"/>
                </a:solidFill>
              </a:rPr>
              <a:t>Data Retrieval</a:t>
            </a:r>
          </a:p>
        </p:txBody>
      </p:sp>
      <p:sp>
        <p:nvSpPr>
          <p:cNvPr id="9231" name="Rectangle 1"/>
          <p:cNvSpPr>
            <a:spLocks noChangeArrowheads="1"/>
          </p:cNvSpPr>
          <p:nvPr/>
        </p:nvSpPr>
        <p:spPr bwMode="auto">
          <a:xfrm>
            <a:off x="5562600" y="5499100"/>
            <a:ext cx="30638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SG" altLang="en-US" sz="1800">
                <a:solidFill>
                  <a:srgbClr val="FFFF00"/>
                </a:solidFill>
              </a:rPr>
              <a:t>Ease of system maintenance</a:t>
            </a:r>
          </a:p>
        </p:txBody>
      </p:sp>
      <p:sp>
        <p:nvSpPr>
          <p:cNvPr id="9232" name="Rectangle 1"/>
          <p:cNvSpPr>
            <a:spLocks noChangeArrowheads="1"/>
          </p:cNvSpPr>
          <p:nvPr/>
        </p:nvSpPr>
        <p:spPr bwMode="auto">
          <a:xfrm>
            <a:off x="5586413" y="4965700"/>
            <a:ext cx="295116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400">
                <a:solidFill>
                  <a:srgbClr val="FFFF00"/>
                </a:solidFill>
              </a:rPr>
              <a:t>System Administration</a:t>
            </a:r>
          </a:p>
        </p:txBody>
      </p:sp>
      <p:sp>
        <p:nvSpPr>
          <p:cNvPr id="2" name="Down Arrow 1"/>
          <p:cNvSpPr/>
          <p:nvPr/>
        </p:nvSpPr>
        <p:spPr>
          <a:xfrm rot="-2400000">
            <a:off x="3154363" y="3271838"/>
            <a:ext cx="288925" cy="46672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18" name="Down Arrow 17"/>
          <p:cNvSpPr/>
          <p:nvPr/>
        </p:nvSpPr>
        <p:spPr>
          <a:xfrm rot="2400000">
            <a:off x="4841875" y="3240088"/>
            <a:ext cx="287338" cy="4683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19" name="Down Arrow 18"/>
          <p:cNvSpPr/>
          <p:nvPr/>
        </p:nvSpPr>
        <p:spPr>
          <a:xfrm rot="2400000" flipV="1">
            <a:off x="3190875" y="5094288"/>
            <a:ext cx="287338" cy="46831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20" name="Down Arrow 19"/>
          <p:cNvSpPr/>
          <p:nvPr/>
        </p:nvSpPr>
        <p:spPr>
          <a:xfrm rot="-2400000" flipV="1">
            <a:off x="4918075" y="5080000"/>
            <a:ext cx="287338" cy="46831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5192713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Modelling - Entities</a:t>
            </a:r>
            <a:endParaRPr lang="en-US" altLang="en-US" sz="3200" b="1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85800" y="1600200"/>
            <a:ext cx="7772400" cy="2037481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lIns="18288" tIns="18288" rIns="18288" bIns="18288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SG" altLang="en-US" sz="2400" dirty="0" smtClean="0">
                <a:ea typeface="Calibri" panose="020F0502020204030204" pitchFamily="34" charset="0"/>
                <a:cs typeface="Calibri" panose="020F0502020204030204" pitchFamily="34" charset="0"/>
              </a:rPr>
              <a:t>By database design, consolidated </a:t>
            </a:r>
            <a:r>
              <a:rPr lang="en-SG" altLang="en-US" sz="2400" u="sng" dirty="0" smtClean="0"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SG" altLang="en-US" sz="2400" dirty="0" smtClean="0">
                <a:ea typeface="Calibri" panose="020F0502020204030204" pitchFamily="34" charset="0"/>
                <a:cs typeface="Calibri" panose="020F0502020204030204" pitchFamily="34" charset="0"/>
              </a:rPr>
              <a:t> can be </a:t>
            </a:r>
            <a:r>
              <a:rPr lang="en-SG" altLang="en-US" sz="2400" u="sng" dirty="0" smtClean="0">
                <a:ea typeface="Calibri" panose="020F0502020204030204" pitchFamily="34" charset="0"/>
                <a:cs typeface="Calibri" panose="020F0502020204030204" pitchFamily="34" charset="0"/>
              </a:rPr>
              <a:t>categorised into</a:t>
            </a:r>
            <a:r>
              <a:rPr lang="en-SG" altLang="en-US" sz="2400" dirty="0" smtClean="0">
                <a:ea typeface="Calibri" panose="020F0502020204030204" pitchFamily="34" charset="0"/>
                <a:cs typeface="Calibri" panose="020F0502020204030204" pitchFamily="34" charset="0"/>
              </a:rPr>
              <a:t> different </a:t>
            </a:r>
            <a:r>
              <a:rPr lang="en-SG" altLang="en-US" sz="2400" u="sng" dirty="0" smtClean="0">
                <a:ea typeface="Calibri" panose="020F0502020204030204" pitchFamily="34" charset="0"/>
                <a:cs typeface="Calibri" panose="020F0502020204030204" pitchFamily="34" charset="0"/>
              </a:rPr>
              <a:t>entities</a:t>
            </a:r>
            <a:r>
              <a:rPr lang="en-SG" altLang="en-US" sz="2400" dirty="0" smtClean="0">
                <a:ea typeface="Calibri" panose="020F0502020204030204" pitchFamily="34" charset="0"/>
                <a:cs typeface="Calibri" panose="020F0502020204030204" pitchFamily="34" charset="0"/>
              </a:rPr>
              <a:t> (relations/tables).</a:t>
            </a:r>
          </a:p>
          <a:p>
            <a:pPr marL="236538" indent="-168275" eaLnBrk="1" hangingPunct="1">
              <a:spcBef>
                <a:spcPct val="0"/>
              </a:spcBef>
              <a:buNone/>
            </a:pPr>
            <a:r>
              <a:rPr lang="en-SG" altLang="en-US" sz="2000" dirty="0" smtClean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SG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 example, based on the scenario, the operation in a trading company can be represented by the following entities (including associated fields / attributes). </a:t>
            </a:r>
            <a:endParaRPr lang="en-SG" altLang="en-US" sz="2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61007"/>
              </p:ext>
            </p:extLst>
          </p:nvPr>
        </p:nvGraphicFramePr>
        <p:xfrm>
          <a:off x="2781300" y="4537560"/>
          <a:ext cx="1143000" cy="1587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/>
                        <a:t>EmpID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EmpName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Gender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DepNo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008846"/>
              </p:ext>
            </p:extLst>
          </p:nvPr>
        </p:nvGraphicFramePr>
        <p:xfrm>
          <a:off x="4762500" y="3944256"/>
          <a:ext cx="1143000" cy="12378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/>
                        <a:t>DepID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DepName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DepNo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32354"/>
              </p:ext>
            </p:extLst>
          </p:nvPr>
        </p:nvGraphicFramePr>
        <p:xfrm>
          <a:off x="990600" y="3886720"/>
          <a:ext cx="1143000" cy="1587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PRODUCTS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/>
                        <a:t>ProdID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ProdName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UnitPrice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Supplier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21770"/>
              </p:ext>
            </p:extLst>
          </p:nvPr>
        </p:nvGraphicFramePr>
        <p:xfrm>
          <a:off x="6858000" y="4420120"/>
          <a:ext cx="1143000" cy="15875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SALES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u="sng" dirty="0" err="1" smtClean="0"/>
                        <a:t>SalesID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Items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Quantity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DateSales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24" name="Text Box 3"/>
          <p:cNvSpPr txBox="1">
            <a:spLocks noChangeArrowheads="1"/>
          </p:cNvSpPr>
          <p:nvPr/>
        </p:nvSpPr>
        <p:spPr bwMode="auto">
          <a:xfrm>
            <a:off x="1676400" y="6400800"/>
            <a:ext cx="6990238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These entities come with </a:t>
            </a:r>
            <a:r>
              <a:rPr lang="en-SG" altLang="en-US" sz="20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applicable attributes but with no data yet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644245" y="1037304"/>
            <a:ext cx="4606637" cy="503590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800" b="1" dirty="0" smtClean="0">
                <a:solidFill>
                  <a:schemeClr val="bg1"/>
                </a:solidFill>
                <a:latin typeface="+mn-lt"/>
              </a:rPr>
              <a:t>1) Clustering of data &amp; Entities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5583237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85800" y="1600200"/>
            <a:ext cx="7791450" cy="1960537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lIns="18288" tIns="18288" rIns="18288" bIns="18288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altLang="en-US" sz="2400" dirty="0" smtClean="0">
                <a:cs typeface="Times New Roman" pitchFamily="18" charset="0"/>
              </a:rPr>
              <a:t>Inter-related entities connected to each other by relationships, these relationships associated the operational activities (business rules) of the two adjacent entities. </a:t>
            </a:r>
          </a:p>
          <a:p>
            <a:pPr marL="273050" indent="0">
              <a:spcBef>
                <a:spcPts val="0"/>
              </a:spcBef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cs typeface="Times New Roman" pitchFamily="18" charset="0"/>
              </a:rPr>
              <a:t>e.g. Entities ‘EMPLOYEES’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&amp;</a:t>
            </a:r>
            <a:r>
              <a:rPr lang="en-US" altLang="en-US" sz="2400" dirty="0" smtClean="0">
                <a:solidFill>
                  <a:srgbClr val="FF0000"/>
                </a:solidFill>
                <a:cs typeface="Times New Roman" pitchFamily="18" charset="0"/>
              </a:rPr>
              <a:t> ‘DEPARTMENT’</a:t>
            </a:r>
          </a:p>
          <a:p>
            <a:pPr marL="273050" indent="0">
              <a:spcBef>
                <a:spcPts val="0"/>
              </a:spcBef>
              <a:buFont typeface="Arial" charset="0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cs typeface="Times New Roman" pitchFamily="18" charset="0"/>
              </a:rPr>
              <a:t>e.g. Entities ‘EMPLOYEES’ </a:t>
            </a:r>
            <a:r>
              <a:rPr lang="en-US" altLang="en-US" sz="2400" dirty="0">
                <a:solidFill>
                  <a:srgbClr val="FF0000"/>
                </a:solidFill>
                <a:cs typeface="Times New Roman" pitchFamily="18" charset="0"/>
              </a:rPr>
              <a:t>&amp;</a:t>
            </a:r>
            <a:r>
              <a:rPr lang="en-US" altLang="en-US" sz="2400" dirty="0" smtClean="0">
                <a:solidFill>
                  <a:srgbClr val="FF0000"/>
                </a:solidFill>
                <a:cs typeface="Times New Roman" pitchFamily="18" charset="0"/>
              </a:rPr>
              <a:t> ‘PAYCHECK’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1000" y="3663835"/>
            <a:ext cx="850392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288" tIns="18288" rIns="18288" bIns="18288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73050" indent="-273050"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itchFamily="18" charset="0"/>
              </a:rPr>
              <a:t>A relationship constitutes of :</a:t>
            </a:r>
          </a:p>
          <a:p>
            <a:pPr marL="633413" indent="-360363">
              <a:spcBef>
                <a:spcPts val="0"/>
              </a:spcBef>
              <a:buFont typeface="+mj-lt"/>
              <a:buAutoNum type="arabicParenR"/>
              <a:defRPr/>
            </a:pPr>
            <a:r>
              <a:rPr lang="en-US" altLang="en-US" sz="2000" dirty="0" smtClean="0">
                <a:solidFill>
                  <a:srgbClr val="FFFF00"/>
                </a:solidFill>
                <a:cs typeface="Times New Roman" pitchFamily="18" charset="0"/>
              </a:rPr>
              <a:t>Association tie connecting the entities,</a:t>
            </a:r>
          </a:p>
          <a:p>
            <a:pPr marL="633413" indent="-360363">
              <a:spcBef>
                <a:spcPts val="0"/>
              </a:spcBef>
              <a:buFont typeface="+mj-lt"/>
              <a:buAutoNum type="arabicParenR"/>
              <a:defRPr/>
            </a:pPr>
            <a:r>
              <a:rPr lang="en-US" altLang="en-US" sz="2000" dirty="0" smtClean="0">
                <a:solidFill>
                  <a:srgbClr val="FFFF00"/>
                </a:solidFill>
                <a:cs typeface="Times New Roman" pitchFamily="18" charset="0"/>
              </a:rPr>
              <a:t>Cardinalities at both end of the ties,</a:t>
            </a:r>
          </a:p>
          <a:p>
            <a:pPr marL="633413" indent="-360363">
              <a:spcBef>
                <a:spcPts val="0"/>
              </a:spcBef>
              <a:buFont typeface="+mj-lt"/>
              <a:buAutoNum type="arabicParenR"/>
              <a:defRPr/>
            </a:pPr>
            <a:r>
              <a:rPr lang="en-US" altLang="en-US" sz="2000" dirty="0" smtClean="0">
                <a:solidFill>
                  <a:srgbClr val="FFFF00"/>
                </a:solidFill>
                <a:cs typeface="Times New Roman" pitchFamily="18" charset="0"/>
              </a:rPr>
              <a:t>Action word describes the purpose that each entity play in the relationship.</a:t>
            </a:r>
            <a:endParaRPr lang="en-US" altLang="en-US" sz="2400" dirty="0" smtClean="0">
              <a:solidFill>
                <a:schemeClr val="bg1"/>
              </a:solidFill>
              <a:cs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819391" y="5415762"/>
            <a:ext cx="2560320" cy="510382"/>
            <a:chOff x="2819391" y="5263360"/>
            <a:chExt cx="2560320" cy="510382"/>
          </a:xfrm>
        </p:grpSpPr>
        <p:cxnSp>
          <p:nvCxnSpPr>
            <p:cNvPr id="14" name="Straight Connector 13"/>
            <p:cNvCxnSpPr/>
            <p:nvPr/>
          </p:nvCxnSpPr>
          <p:spPr bwMode="auto">
            <a:xfrm>
              <a:off x="2819391" y="5683254"/>
              <a:ext cx="2560320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325" name="Group 115"/>
            <p:cNvGrpSpPr>
              <a:grpSpLocks/>
            </p:cNvGrpSpPr>
            <p:nvPr/>
          </p:nvGrpSpPr>
          <p:grpSpPr bwMode="auto">
            <a:xfrm>
              <a:off x="2970232" y="5592767"/>
              <a:ext cx="77768" cy="180975"/>
              <a:chOff x="5425054" y="6390764"/>
              <a:chExt cx="77928" cy="180534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5425699" y="6390764"/>
                <a:ext cx="0" cy="180534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503646" y="6390764"/>
                <a:ext cx="0" cy="180534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/>
            <p:cNvSpPr/>
            <p:nvPr/>
          </p:nvSpPr>
          <p:spPr bwMode="auto">
            <a:xfrm>
              <a:off x="3581400" y="5263360"/>
              <a:ext cx="895439" cy="402291"/>
            </a:xfrm>
            <a:prstGeom prst="rect">
              <a:avLst/>
            </a:prstGeom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dirty="0">
                  <a:solidFill>
                    <a:srgbClr val="FFFF00"/>
                  </a:solidFill>
                  <a:latin typeface="+mn-lt"/>
                </a:rPr>
                <a:t>Receive</a:t>
              </a:r>
            </a:p>
          </p:txBody>
        </p:sp>
        <p:grpSp>
          <p:nvGrpSpPr>
            <p:cNvPr id="12327" name="Group 115"/>
            <p:cNvGrpSpPr>
              <a:grpSpLocks/>
            </p:cNvGrpSpPr>
            <p:nvPr/>
          </p:nvGrpSpPr>
          <p:grpSpPr bwMode="auto">
            <a:xfrm>
              <a:off x="5212006" y="5591193"/>
              <a:ext cx="77750" cy="180981"/>
              <a:chOff x="5473033" y="6390743"/>
              <a:chExt cx="77926" cy="180539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5473647" y="6390729"/>
                <a:ext cx="0" cy="180533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551611" y="6390729"/>
                <a:ext cx="0" cy="180533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612674"/>
              </p:ext>
            </p:extLst>
          </p:nvPr>
        </p:nvGraphicFramePr>
        <p:xfrm>
          <a:off x="1600200" y="5110165"/>
          <a:ext cx="1220788" cy="1579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20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EMPLOYEES</a:t>
                      </a:r>
                      <a:endParaRPr lang="en-SG" sz="1600" dirty="0"/>
                    </a:p>
                  </a:txBody>
                  <a:tcPr marL="36000" marR="36000" marT="35987" marB="359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/>
                        <a:t>EmpID</a:t>
                      </a:r>
                      <a:endParaRPr lang="en-SG" sz="1600" b="1" u="sng" dirty="0"/>
                    </a:p>
                  </a:txBody>
                  <a:tcPr marL="36000" marR="36000" marT="35987" marB="359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EmpName</a:t>
                      </a:r>
                      <a:endParaRPr lang="en-SG" sz="1600" dirty="0"/>
                    </a:p>
                  </a:txBody>
                  <a:tcPr marL="36000" marR="36000" marT="35987" marB="359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Gender</a:t>
                      </a:r>
                      <a:endParaRPr lang="en-SG" sz="1600" dirty="0"/>
                    </a:p>
                  </a:txBody>
                  <a:tcPr marL="36000" marR="36000" marT="35987" marB="3598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DepNo</a:t>
                      </a:r>
                      <a:endParaRPr lang="en-SG" sz="1600" dirty="0"/>
                    </a:p>
                  </a:txBody>
                  <a:tcPr marL="36000" marR="36000" marT="35987" marB="3598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018156"/>
              </p:ext>
            </p:extLst>
          </p:nvPr>
        </p:nvGraphicFramePr>
        <p:xfrm>
          <a:off x="5408612" y="5126040"/>
          <a:ext cx="1220788" cy="1579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0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PAYCHECK</a:t>
                      </a:r>
                      <a:endParaRPr lang="en-SG" sz="1600" dirty="0"/>
                    </a:p>
                  </a:txBody>
                  <a:tcPr marL="36000" marR="36000" marT="36008" marB="360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u="sng" dirty="0" err="1" smtClean="0"/>
                        <a:t>PCheckID</a:t>
                      </a:r>
                      <a:endParaRPr lang="en-SG" sz="1600" b="1" u="sng" dirty="0"/>
                    </a:p>
                  </a:txBody>
                  <a:tcPr marL="36000" marR="36000" marT="36008" marB="360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Amount</a:t>
                      </a:r>
                      <a:endParaRPr lang="en-SG" sz="1600" dirty="0"/>
                    </a:p>
                  </a:txBody>
                  <a:tcPr marL="36000" marR="36000" marT="36008" marB="360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DatePaid</a:t>
                      </a:r>
                      <a:endParaRPr lang="en-SG" sz="1600" dirty="0"/>
                    </a:p>
                  </a:txBody>
                  <a:tcPr marL="36000" marR="36000" marT="36008" marB="360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Remark</a:t>
                      </a:r>
                      <a:endParaRPr lang="en-SG" sz="1600" dirty="0"/>
                    </a:p>
                  </a:txBody>
                  <a:tcPr marL="36000" marR="36000" marT="36008" marB="360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23" name="Text Box 3"/>
          <p:cNvSpPr txBox="1">
            <a:spLocks noChangeArrowheads="1"/>
          </p:cNvSpPr>
          <p:nvPr/>
        </p:nvSpPr>
        <p:spPr bwMode="auto">
          <a:xfrm>
            <a:off x="2919383" y="5303032"/>
            <a:ext cx="274320" cy="372201"/>
          </a:xfrm>
          <a:prstGeom prst="ellips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" tIns="9144" rIns="9144" bIns="9144" anchor="ctr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altLang="en-US" sz="1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001696" y="5303033"/>
            <a:ext cx="274320" cy="372201"/>
          </a:xfrm>
          <a:prstGeom prst="ellips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" tIns="9144" rIns="9144" bIns="9144" anchor="ctr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altLang="en-US" sz="1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4202519" y="5899945"/>
            <a:ext cx="274320" cy="372201"/>
          </a:xfrm>
          <a:prstGeom prst="ellips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" tIns="9144" rIns="9144" bIns="9144" anchor="ctr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6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altLang="en-US" sz="16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3817158" y="5100275"/>
            <a:ext cx="274320" cy="372201"/>
          </a:xfrm>
          <a:prstGeom prst="ellips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" tIns="9144" rIns="9144" bIns="9144" anchor="ctr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6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 bwMode="auto">
          <a:xfrm>
            <a:off x="644245" y="1037304"/>
            <a:ext cx="7538145" cy="503590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800" b="1" dirty="0">
                <a:solidFill>
                  <a:schemeClr val="bg1"/>
                </a:solidFill>
                <a:latin typeface="+mn-lt"/>
              </a:rPr>
              <a:t>2</a:t>
            </a:r>
            <a:r>
              <a:rPr lang="en-GB" sz="2800" b="1" dirty="0" smtClean="0">
                <a:solidFill>
                  <a:schemeClr val="bg1"/>
                </a:solidFill>
                <a:latin typeface="+mn-lt"/>
              </a:rPr>
              <a:t>) Establishment of relationships between Entities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 idx="4294967295"/>
          </p:nvPr>
        </p:nvSpPr>
        <p:spPr>
          <a:xfrm>
            <a:off x="630238" y="351504"/>
            <a:ext cx="506426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Business rules &amp; Cardinalities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1555750"/>
            <a:ext cx="7791450" cy="194945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 lIns="18288" tIns="18288" rIns="18288" bIns="18288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altLang="en-US" sz="2400" dirty="0" smtClean="0">
                <a:cs typeface="Times New Roman" pitchFamily="18" charset="0"/>
              </a:rPr>
              <a:t>Business rules is the imposed r</a:t>
            </a:r>
            <a:r>
              <a:rPr lang="en-US" sz="2400" dirty="0" smtClean="0">
                <a:cs typeface="Times New Roman" pitchFamily="18" charset="0"/>
              </a:rPr>
              <a:t>estriction </a:t>
            </a:r>
            <a:r>
              <a:rPr lang="en-US" sz="2400" dirty="0">
                <a:cs typeface="Times New Roman" pitchFamily="18" charset="0"/>
              </a:rPr>
              <a:t>on the business’s activities that must be reflected in the database and database applications</a:t>
            </a:r>
            <a:r>
              <a:rPr lang="en-SG" altLang="en-US" sz="2400" dirty="0" smtClean="0"/>
              <a:t>,</a:t>
            </a:r>
            <a:r>
              <a:rPr lang="en-SG" altLang="en-US" sz="2400" dirty="0" smtClean="0">
                <a:solidFill>
                  <a:schemeClr val="bg1"/>
                </a:solidFill>
              </a:rPr>
              <a:t> </a:t>
            </a:r>
            <a:r>
              <a:rPr lang="en-SG" altLang="en-US" sz="2400" dirty="0" smtClean="0">
                <a:solidFill>
                  <a:srgbClr val="FF0000"/>
                </a:solidFill>
              </a:rPr>
              <a:t>for example</a:t>
            </a:r>
            <a:r>
              <a:rPr lang="en-US" altLang="en-US" sz="2400" dirty="0" smtClean="0">
                <a:solidFill>
                  <a:srgbClr val="FF0000"/>
                </a:solidFill>
                <a:cs typeface="Times New Roman" pitchFamily="18" charset="0"/>
              </a:rPr>
              <a:t>: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SG" altLang="en-US" sz="2000" dirty="0" smtClean="0">
                <a:solidFill>
                  <a:srgbClr val="FF0000"/>
                </a:solidFill>
              </a:rPr>
              <a:t>One Bank </a:t>
            </a:r>
            <a:r>
              <a:rPr lang="en-SG" altLang="en-US" sz="2000" dirty="0">
                <a:solidFill>
                  <a:srgbClr val="FF0000"/>
                </a:solidFill>
              </a:rPr>
              <a:t>C</a:t>
            </a:r>
            <a:r>
              <a:rPr lang="en-SG" altLang="en-US" sz="2000" dirty="0" smtClean="0">
                <a:solidFill>
                  <a:srgbClr val="FF0000"/>
                </a:solidFill>
              </a:rPr>
              <a:t>ustomer can have at least one or more Accounts.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000" dirty="0" smtClean="0">
                <a:solidFill>
                  <a:srgbClr val="FF0000"/>
                </a:solidFill>
                <a:latin typeface="+mn-lt"/>
              </a:rPr>
              <a:t>One Bank Account is assigned to one and only Customer.</a:t>
            </a:r>
            <a:endParaRPr lang="en-US" sz="2000" dirty="0" smtClean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316" name="Rectangle 3"/>
          <p:cNvSpPr txBox="1">
            <a:spLocks noChangeArrowheads="1"/>
          </p:cNvSpPr>
          <p:nvPr/>
        </p:nvSpPr>
        <p:spPr bwMode="auto">
          <a:xfrm>
            <a:off x="703263" y="3810000"/>
            <a:ext cx="779145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By reflecting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these business rules in the relationships, </a:t>
            </a:r>
            <a:r>
              <a:rPr lang="en-US" altLang="en-US" sz="24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cardinalities 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or </a:t>
            </a:r>
            <a:r>
              <a:rPr lang="en-US" altLang="en-US" sz="2400" u="sng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structural constraints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are included.</a:t>
            </a:r>
            <a:endParaRPr lang="en-US" altLang="en-US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1919748" y="4778514"/>
            <a:ext cx="1486198" cy="707886"/>
          </a:xfrm>
          <a:prstGeom prst="rect">
            <a:avLst/>
          </a:prstGeom>
          <a:solidFill>
            <a:schemeClr val="bg2"/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lIns="46800" r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en-US" altLang="en-US" sz="2000" b="1" dirty="0">
                <a:solidFill>
                  <a:srgbClr val="06060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13320" name="Text Box 4"/>
          <p:cNvSpPr txBox="1">
            <a:spLocks noChangeArrowheads="1"/>
          </p:cNvSpPr>
          <p:nvPr/>
        </p:nvSpPr>
        <p:spPr bwMode="auto">
          <a:xfrm>
            <a:off x="5226768" y="4810670"/>
            <a:ext cx="1555031" cy="640080"/>
          </a:xfrm>
          <a:prstGeom prst="rect">
            <a:avLst/>
          </a:prstGeom>
          <a:solidFill>
            <a:srgbClr val="FFC000"/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wrap="square" lIns="46800" r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en-US" altLang="en-US" sz="2000" b="1" dirty="0">
                <a:solidFill>
                  <a:srgbClr val="06060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ACCOUNTS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98899" y="4696757"/>
            <a:ext cx="1828799" cy="561043"/>
            <a:chOff x="3398899" y="4571997"/>
            <a:chExt cx="1828799" cy="561043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3398899" y="5014907"/>
              <a:ext cx="1828799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323" name="Group 115"/>
            <p:cNvGrpSpPr>
              <a:grpSpLocks/>
            </p:cNvGrpSpPr>
            <p:nvPr/>
          </p:nvGrpSpPr>
          <p:grpSpPr bwMode="auto">
            <a:xfrm>
              <a:off x="3485671" y="4904440"/>
              <a:ext cx="101087" cy="228600"/>
              <a:chOff x="5715558" y="6400044"/>
              <a:chExt cx="83445" cy="180756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5715539" y="6400051"/>
                <a:ext cx="0" cy="180749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798282" y="6400051"/>
                <a:ext cx="0" cy="180749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Rectangle 14"/>
            <p:cNvSpPr/>
            <p:nvPr/>
          </p:nvSpPr>
          <p:spPr bwMode="auto">
            <a:xfrm>
              <a:off x="3934536" y="4571997"/>
              <a:ext cx="713657" cy="371512"/>
            </a:xfrm>
            <a:prstGeom prst="rect">
              <a:avLst/>
            </a:prstGeom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dirty="0">
                  <a:solidFill>
                    <a:schemeClr val="bg1"/>
                  </a:solidFill>
                  <a:latin typeface="+mn-lt"/>
                </a:rPr>
                <a:t>Set Up</a:t>
              </a:r>
            </a:p>
          </p:txBody>
        </p:sp>
        <p:grpSp>
          <p:nvGrpSpPr>
            <p:cNvPr id="13325" name="Group 121"/>
            <p:cNvGrpSpPr>
              <a:grpSpLocks/>
            </p:cNvGrpSpPr>
            <p:nvPr/>
          </p:nvGrpSpPr>
          <p:grpSpPr bwMode="auto">
            <a:xfrm>
              <a:off x="4961483" y="4927751"/>
              <a:ext cx="252073" cy="180966"/>
              <a:chOff x="4721377" y="6078934"/>
              <a:chExt cx="208083" cy="18074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4721008" y="6078776"/>
                <a:ext cx="0" cy="180749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327" name="Group 128"/>
              <p:cNvGrpSpPr>
                <a:grpSpLocks/>
              </p:cNvGrpSpPr>
              <p:nvPr/>
            </p:nvGrpSpPr>
            <p:grpSpPr bwMode="auto">
              <a:xfrm flipH="1">
                <a:off x="4747960" y="6078934"/>
                <a:ext cx="181500" cy="169466"/>
                <a:chOff x="4443160" y="5638800"/>
                <a:chExt cx="181500" cy="169466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4444752" y="5638642"/>
                  <a:ext cx="179809" cy="71349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 flipV="1">
                  <a:off x="4443160" y="5736944"/>
                  <a:ext cx="179810" cy="71349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1828800" y="5688012"/>
            <a:ext cx="5867400" cy="996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000" dirty="0" smtClean="0">
                <a:solidFill>
                  <a:srgbClr val="FFFF00"/>
                </a:solidFill>
              </a:rPr>
              <a:t>Interpretation:</a:t>
            </a:r>
          </a:p>
          <a:p>
            <a:pPr marL="236538" indent="-236538" eaLnBrk="1" hangingPunct="1">
              <a:spcBef>
                <a:spcPct val="0"/>
              </a:spcBef>
              <a:buFontTx/>
              <a:buChar char="-"/>
            </a:pPr>
            <a:r>
              <a:rPr lang="en-SG" altLang="en-US" sz="2000" dirty="0" smtClean="0">
                <a:solidFill>
                  <a:srgbClr val="FFFF00"/>
                </a:solidFill>
              </a:rPr>
              <a:t>One </a:t>
            </a:r>
            <a:r>
              <a:rPr lang="en-SG" altLang="en-US" sz="2000" u="sng" dirty="0" smtClean="0">
                <a:solidFill>
                  <a:srgbClr val="FFFF00"/>
                </a:solidFill>
              </a:rPr>
              <a:t>customer</a:t>
            </a:r>
            <a:r>
              <a:rPr lang="en-SG" altLang="en-US" sz="2000" dirty="0" smtClean="0">
                <a:solidFill>
                  <a:srgbClr val="FFFF00"/>
                </a:solidFill>
              </a:rPr>
              <a:t> can set up one or many </a:t>
            </a:r>
            <a:r>
              <a:rPr lang="en-SG" altLang="en-US" sz="2000" u="sng" dirty="0" smtClean="0">
                <a:solidFill>
                  <a:srgbClr val="FFFF00"/>
                </a:solidFill>
              </a:rPr>
              <a:t>accounts</a:t>
            </a:r>
            <a:r>
              <a:rPr lang="en-SG" altLang="en-US" sz="2000" dirty="0" smtClean="0">
                <a:solidFill>
                  <a:srgbClr val="FFFF00"/>
                </a:solidFill>
              </a:rPr>
              <a:t>.</a:t>
            </a:r>
          </a:p>
          <a:p>
            <a:pPr marL="236538" indent="-236538" eaLnBrk="1" hangingPunct="1">
              <a:spcBef>
                <a:spcPct val="0"/>
              </a:spcBef>
              <a:buFontTx/>
              <a:buChar char="-"/>
            </a:pPr>
            <a:r>
              <a:rPr lang="en-SG" altLang="en-US" sz="2000" dirty="0" smtClean="0">
                <a:solidFill>
                  <a:srgbClr val="FFFF00"/>
                </a:solidFill>
              </a:rPr>
              <a:t>An </a:t>
            </a:r>
            <a:r>
              <a:rPr lang="en-SG" altLang="en-US" sz="2000" u="sng" dirty="0" smtClean="0">
                <a:solidFill>
                  <a:srgbClr val="FFFF00"/>
                </a:solidFill>
              </a:rPr>
              <a:t>account</a:t>
            </a:r>
            <a:r>
              <a:rPr lang="en-SG" altLang="en-US" sz="2000" dirty="0" smtClean="0">
                <a:solidFill>
                  <a:srgbClr val="FFFF00"/>
                </a:solidFill>
              </a:rPr>
              <a:t> is set up for one and only one </a:t>
            </a:r>
            <a:r>
              <a:rPr lang="en-SG" altLang="en-US" sz="2000" u="sng" dirty="0" smtClean="0">
                <a:solidFill>
                  <a:srgbClr val="FFFF00"/>
                </a:solidFill>
              </a:rPr>
              <a:t>customer</a:t>
            </a:r>
            <a:r>
              <a:rPr lang="en-SG" altLang="en-US" sz="2000" dirty="0" smtClean="0">
                <a:solidFill>
                  <a:srgbClr val="FFFF00"/>
                </a:solidFill>
              </a:rPr>
              <a:t>. </a:t>
            </a:r>
            <a:endParaRPr lang="en-SG" altLang="en-US" sz="2000" dirty="0">
              <a:solidFill>
                <a:srgbClr val="FFFF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644245" y="1037304"/>
            <a:ext cx="7176571" cy="503590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2800" b="1" dirty="0" smtClean="0">
                <a:solidFill>
                  <a:schemeClr val="bg1"/>
                </a:solidFill>
                <a:latin typeface="+mn-lt"/>
              </a:rPr>
              <a:t>3) Business rules embedded in the relationships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5840116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 (ERD)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706564" y="1125538"/>
            <a:ext cx="76485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ntity </a:t>
            </a: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elationship Diagram (ERD) </a:t>
            </a: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altLang="en-US" sz="24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altLang="en-US" sz="24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ntities 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altLang="en-US" sz="24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altLang="en-US" sz="2400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elationships</a:t>
            </a:r>
          </a:p>
        </p:txBody>
      </p:sp>
      <p:sp>
        <p:nvSpPr>
          <p:cNvPr id="15364" name="Rectangle 3"/>
          <p:cNvSpPr txBox="1">
            <a:spLocks noChangeArrowheads="1"/>
          </p:cNvSpPr>
          <p:nvPr/>
        </p:nvSpPr>
        <p:spPr bwMode="auto">
          <a:xfrm>
            <a:off x="700088" y="1627188"/>
            <a:ext cx="7791450" cy="118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E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ntity </a:t>
            </a:r>
            <a:r>
              <a:rPr lang="en-US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elationship </a:t>
            </a:r>
            <a:r>
              <a:rPr lang="en-US" altLang="en-US" sz="2400" b="1" dirty="0">
                <a:solidFill>
                  <a:srgbClr val="FFFF00"/>
                </a:solidFill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iagram 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comprises of </a:t>
            </a:r>
            <a:r>
              <a:rPr lang="en-US" altLang="en-US" sz="2400" u="sng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entities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(with attributes) 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and </a:t>
            </a:r>
            <a:r>
              <a:rPr lang="en-US" altLang="en-US" sz="2400" u="sng" dirty="0">
                <a:solidFill>
                  <a:schemeClr val="bg1"/>
                </a:solidFill>
                <a:cs typeface="Times New Roman" panose="02020603050405020304" pitchFamily="18" charset="0"/>
              </a:rPr>
              <a:t>relationships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. The relationship associates the two adjacent entities</a:t>
            </a:r>
            <a:endParaRPr lang="en-US" altLang="en-US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05000" y="6400800"/>
            <a:ext cx="5192713" cy="381000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SG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 (partially completed)</a:t>
            </a:r>
          </a:p>
        </p:txBody>
      </p:sp>
      <p:pic>
        <p:nvPicPr>
          <p:cNvPr id="15366" name="Picture 10" descr="Image result for relational database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819400"/>
            <a:ext cx="4456113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572168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Degree of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17550" y="1066800"/>
            <a:ext cx="43910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degrees of Relationships</a:t>
            </a:r>
          </a:p>
        </p:txBody>
      </p:sp>
      <p:sp>
        <p:nvSpPr>
          <p:cNvPr id="16388" name="Rectangle 3"/>
          <p:cNvSpPr txBox="1">
            <a:spLocks noChangeArrowheads="1"/>
          </p:cNvSpPr>
          <p:nvPr/>
        </p:nvSpPr>
        <p:spPr bwMode="auto">
          <a:xfrm>
            <a:off x="700088" y="1479756"/>
            <a:ext cx="779145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degree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 of the relationship 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: It refers to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solidFill>
                  <a:srgbClr val="FFFF00"/>
                </a:solidFill>
                <a:cs typeface="Times New Roman" panose="02020603050405020304" pitchFamily="18" charset="0"/>
              </a:rPr>
              <a:t>number of </a:t>
            </a:r>
            <a:r>
              <a:rPr lang="en-US" altLang="en-US" sz="24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participating entities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in </a:t>
            </a:r>
            <a:r>
              <a:rPr lang="en-US" alt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the </a:t>
            </a:r>
            <a:r>
              <a:rPr lang="en-US" altLang="en-US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relationship.</a:t>
            </a:r>
            <a:endParaRPr lang="en-US" altLang="en-US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16389" name="Picture 2" descr="http://www.edrawsoft.com/images/howitworks/unary-relationshi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475" y="2646057"/>
            <a:ext cx="35909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82444" y="2322873"/>
            <a:ext cx="5061156" cy="19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82550" lvl="1" indent="0">
              <a:spcBef>
                <a:spcPts val="0"/>
              </a:spcBef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There are:</a:t>
            </a:r>
          </a:p>
          <a:p>
            <a:pPr marL="82550" lvl="1" indent="0">
              <a:spcBef>
                <a:spcPts val="0"/>
              </a:spcBef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- Degree 1 : unary relationship </a:t>
            </a:r>
          </a:p>
          <a:p>
            <a:pPr marL="82550" lvl="1" indent="0">
              <a:spcBef>
                <a:spcPts val="0"/>
              </a:spcBef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- Degree 2 : binary relationship</a:t>
            </a:r>
          </a:p>
          <a:p>
            <a:pPr marL="82550" lvl="1" indent="0">
              <a:spcBef>
                <a:spcPts val="0"/>
              </a:spcBef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- Degree 3 : ternary relationship</a:t>
            </a:r>
          </a:p>
          <a:p>
            <a:pPr marL="82550" lvl="1" indent="0">
              <a:spcBef>
                <a:spcPts val="0"/>
              </a:spcBef>
              <a:buNone/>
              <a:tabLst>
                <a:tab pos="273050" algn="l"/>
              </a:tabLst>
              <a:defRPr/>
            </a:pPr>
            <a:r>
              <a:rPr lang="en-US" sz="2400" dirty="0" smtClean="0">
                <a:solidFill>
                  <a:srgbClr val="FFFF00"/>
                </a:solidFill>
                <a:latin typeface="+mn-lt"/>
              </a:rPr>
              <a:t>- Degree 4 : quaternary relationship</a:t>
            </a:r>
            <a:endParaRPr lang="en-US" altLang="en-US" sz="2400" dirty="0" smtClean="0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04554"/>
              </p:ext>
            </p:extLst>
          </p:nvPr>
        </p:nvGraphicFramePr>
        <p:xfrm>
          <a:off x="5746188" y="3301695"/>
          <a:ext cx="936625" cy="62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842">
                <a:tc>
                  <a:txBody>
                    <a:bodyPr/>
                    <a:lstStyle/>
                    <a:p>
                      <a:pPr algn="ctr"/>
                      <a:r>
                        <a:rPr lang="en-GB" sz="1200" u="sng" dirty="0" err="1" smtClean="0"/>
                        <a:t>PersonID</a:t>
                      </a:r>
                      <a:endParaRPr lang="en-SG" sz="1200" u="sng" dirty="0"/>
                    </a:p>
                  </a:txBody>
                  <a:tcPr marL="36024" marR="36024" marT="35981" marB="359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33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err="1" smtClean="0"/>
                        <a:t>PersonName</a:t>
                      </a:r>
                      <a:endParaRPr lang="en-SG" sz="1200" dirty="0"/>
                    </a:p>
                  </a:txBody>
                  <a:tcPr marL="36024" marR="36024" marT="35981" marB="3598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968886"/>
              </p:ext>
            </p:extLst>
          </p:nvPr>
        </p:nvGraphicFramePr>
        <p:xfrm>
          <a:off x="7759138" y="3308045"/>
          <a:ext cx="936625" cy="5492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109">
                <a:tc>
                  <a:txBody>
                    <a:bodyPr/>
                    <a:lstStyle/>
                    <a:p>
                      <a:pPr algn="ctr"/>
                      <a:r>
                        <a:rPr lang="en-GB" sz="1200" u="sng" dirty="0" err="1" smtClean="0"/>
                        <a:t>EmpID</a:t>
                      </a:r>
                      <a:endParaRPr lang="en-SG" sz="1200" u="sng" dirty="0"/>
                    </a:p>
                  </a:txBody>
                  <a:tcPr marL="36024" marR="36024" marT="36032" marB="360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66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Designation</a:t>
                      </a:r>
                      <a:endParaRPr lang="en-SG" sz="1200" dirty="0"/>
                    </a:p>
                  </a:txBody>
                  <a:tcPr marL="36024" marR="36024" marT="36032" marB="360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07" name="Text Box 3"/>
          <p:cNvSpPr txBox="1">
            <a:spLocks noChangeArrowheads="1"/>
          </p:cNvSpPr>
          <p:nvPr/>
        </p:nvSpPr>
        <p:spPr bwMode="auto">
          <a:xfrm>
            <a:off x="6251013" y="2217432"/>
            <a:ext cx="2100309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000" b="1" u="sng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Unary </a:t>
            </a:r>
            <a:r>
              <a:rPr lang="en-SG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29056"/>
              </p:ext>
            </p:extLst>
          </p:nvPr>
        </p:nvGraphicFramePr>
        <p:xfrm>
          <a:off x="1828800" y="4965700"/>
          <a:ext cx="1282700" cy="158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EMPLOYEES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/>
                        <a:t>EmpID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EmpName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Gender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DateBorth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05304"/>
              </p:ext>
            </p:extLst>
          </p:nvPr>
        </p:nvGraphicFramePr>
        <p:xfrm>
          <a:off x="4267200" y="4956175"/>
          <a:ext cx="1295400" cy="1587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DEPARTMENT</a:t>
                      </a:r>
                      <a:endParaRPr lang="en-SG" sz="16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/>
                        <a:t>DepID</a:t>
                      </a:r>
                      <a:endParaRPr lang="en-SG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DepName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/>
                        <a:t>MainLine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Manager</a:t>
                      </a:r>
                      <a:endParaRPr lang="en-SG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 bwMode="auto">
          <a:xfrm flipH="1">
            <a:off x="3109452" y="5794375"/>
            <a:ext cx="118872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37" name="Group 8"/>
          <p:cNvGrpSpPr>
            <a:grpSpLocks/>
          </p:cNvGrpSpPr>
          <p:nvPr/>
        </p:nvGrpSpPr>
        <p:grpSpPr bwMode="auto">
          <a:xfrm>
            <a:off x="3109452" y="5707063"/>
            <a:ext cx="234950" cy="179387"/>
            <a:chOff x="5867400" y="5931725"/>
            <a:chExt cx="235525" cy="180000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5867400" y="6019335"/>
              <a:ext cx="216428" cy="71682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867400" y="5942875"/>
              <a:ext cx="216428" cy="7327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6102925" y="5931725"/>
              <a:ext cx="0" cy="18000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38" name="Group 22"/>
          <p:cNvGrpSpPr>
            <a:grpSpLocks/>
          </p:cNvGrpSpPr>
          <p:nvPr/>
        </p:nvGrpSpPr>
        <p:grpSpPr bwMode="auto">
          <a:xfrm>
            <a:off x="4119102" y="5705936"/>
            <a:ext cx="63500" cy="179387"/>
            <a:chOff x="6717475" y="5017325"/>
            <a:chExt cx="64325" cy="18000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6781800" y="5017325"/>
              <a:ext cx="0" cy="18000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6717475" y="5017325"/>
              <a:ext cx="0" cy="18000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 bwMode="auto">
          <a:xfrm>
            <a:off x="3486356" y="5426287"/>
            <a:ext cx="505386" cy="318924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 smtClean="0">
                <a:solidFill>
                  <a:srgbClr val="FFFF00"/>
                </a:solidFill>
                <a:latin typeface="+mn-lt"/>
              </a:rPr>
              <a:t>work</a:t>
            </a:r>
            <a:endParaRPr lang="en-US" sz="16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16440" name="Text Box 3"/>
          <p:cNvSpPr txBox="1">
            <a:spLocks noChangeArrowheads="1"/>
          </p:cNvSpPr>
          <p:nvPr/>
        </p:nvSpPr>
        <p:spPr bwMode="auto">
          <a:xfrm>
            <a:off x="2624138" y="4498975"/>
            <a:ext cx="2139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Binary Relationship</a:t>
            </a:r>
          </a:p>
        </p:txBody>
      </p:sp>
      <p:sp>
        <p:nvSpPr>
          <p:cNvPr id="16441" name="Text Box 3"/>
          <p:cNvSpPr txBox="1">
            <a:spLocks noChangeArrowheads="1"/>
          </p:cNvSpPr>
          <p:nvPr/>
        </p:nvSpPr>
        <p:spPr bwMode="auto">
          <a:xfrm>
            <a:off x="2438400" y="6548438"/>
            <a:ext cx="2765556" cy="31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*(This will be our </a:t>
            </a:r>
            <a:r>
              <a:rPr lang="en-GB" altLang="en-US" sz="16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focus of study)</a:t>
            </a:r>
            <a:endParaRPr lang="en-SG" altLang="en-US" sz="16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876800" y="3282554"/>
            <a:ext cx="548640" cy="1554480"/>
            <a:chOff x="5108575" y="3282554"/>
            <a:chExt cx="548640" cy="1554480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5641975" y="3282554"/>
              <a:ext cx="0" cy="155448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5108575" y="3282554"/>
              <a:ext cx="5486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/>
          <p:cNvCxnSpPr>
            <a:stCxn id="16389" idx="0"/>
          </p:cNvCxnSpPr>
          <p:nvPr/>
        </p:nvCxnSpPr>
        <p:spPr>
          <a:xfrm>
            <a:off x="7301938" y="2646057"/>
            <a:ext cx="0" cy="1697343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36819"/>
              </p:ext>
            </p:extLst>
          </p:nvPr>
        </p:nvGraphicFramePr>
        <p:xfrm>
          <a:off x="6022975" y="4466195"/>
          <a:ext cx="2663826" cy="867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26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/>
                        <a:t>PersonID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/>
                        <a:t>PersonName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Spouse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6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P1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John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Mary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269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P2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Mary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John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5791200" y="2252976"/>
            <a:ext cx="385615" cy="399736"/>
          </a:xfrm>
          <a:prstGeom prst="ellipse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" tIns="3600" rIns="3600" bIns="36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8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D1</a:t>
            </a:r>
            <a:endParaRPr lang="en-SG" altLang="en-US" sz="1800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49229" y="4518263"/>
            <a:ext cx="576000" cy="366681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txBody>
          <a:bodyPr wrap="square" lIns="7200" tIns="7200" rIns="7200" bIns="7200" rtlCol="0" anchor="ctr" anchorCtr="0">
            <a:spAutoFit/>
          </a:bodyPr>
          <a:lstStyle/>
          <a:p>
            <a:pPr algn="ctr"/>
            <a:r>
              <a:rPr lang="en-SG" sz="1600" dirty="0" smtClean="0">
                <a:solidFill>
                  <a:srgbClr val="FFFF00"/>
                </a:solidFill>
              </a:rPr>
              <a:t>D2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572168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Different Degree of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192834" y="1183817"/>
            <a:ext cx="462437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Ternary &amp; Quaternary Relationships</a:t>
            </a:r>
            <a:endParaRPr lang="en-US" altLang="en-US" sz="24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862013" y="1981200"/>
            <a:ext cx="22590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Ternary Relationship</a:t>
            </a:r>
          </a:p>
        </p:txBody>
      </p:sp>
      <p:sp>
        <p:nvSpPr>
          <p:cNvPr id="17413" name="Text Box 3"/>
          <p:cNvSpPr txBox="1">
            <a:spLocks noChangeArrowheads="1"/>
          </p:cNvSpPr>
          <p:nvPr/>
        </p:nvSpPr>
        <p:spPr bwMode="auto">
          <a:xfrm>
            <a:off x="5513388" y="1992312"/>
            <a:ext cx="26781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2000" b="1" u="sng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Quaternary Relationship</a:t>
            </a:r>
          </a:p>
        </p:txBody>
      </p:sp>
      <p:sp>
        <p:nvSpPr>
          <p:cNvPr id="17414" name="Rectangle 1"/>
          <p:cNvSpPr>
            <a:spLocks noChangeArrowheads="1"/>
          </p:cNvSpPr>
          <p:nvPr/>
        </p:nvSpPr>
        <p:spPr bwMode="auto">
          <a:xfrm>
            <a:off x="5181600" y="5629275"/>
            <a:ext cx="365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1800" dirty="0">
                <a:solidFill>
                  <a:srgbClr val="FFFF00"/>
                </a:solidFill>
              </a:rPr>
              <a:t>A data model defines a semantically significant interaction between four independent entity-types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03493"/>
              </p:ext>
            </p:extLst>
          </p:nvPr>
        </p:nvGraphicFramePr>
        <p:xfrm>
          <a:off x="6324600" y="2449512"/>
          <a:ext cx="1143000" cy="952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SolicitorR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SolicitorID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Company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831616"/>
              </p:ext>
            </p:extLst>
          </p:nvPr>
        </p:nvGraphicFramePr>
        <p:xfrm>
          <a:off x="5029200" y="3478212"/>
          <a:ext cx="914400" cy="9525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BUYER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BuyerID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Address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150237"/>
              </p:ext>
            </p:extLst>
          </p:nvPr>
        </p:nvGraphicFramePr>
        <p:xfrm>
          <a:off x="7772400" y="3478212"/>
          <a:ext cx="1066800" cy="9525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FINANCE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InstituteID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InstName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80204"/>
              </p:ext>
            </p:extLst>
          </p:nvPr>
        </p:nvGraphicFramePr>
        <p:xfrm>
          <a:off x="6324600" y="4610100"/>
          <a:ext cx="1143000" cy="952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BID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BidCode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DateBid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5" marR="35985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455" name="Group 2"/>
          <p:cNvGrpSpPr>
            <a:grpSpLocks/>
          </p:cNvGrpSpPr>
          <p:nvPr/>
        </p:nvGrpSpPr>
        <p:grpSpPr bwMode="auto">
          <a:xfrm>
            <a:off x="5954713" y="3413125"/>
            <a:ext cx="1817687" cy="1158875"/>
            <a:chOff x="5954713" y="3173413"/>
            <a:chExt cx="1817687" cy="1158875"/>
          </a:xfrm>
        </p:grpSpPr>
        <p:sp>
          <p:nvSpPr>
            <p:cNvPr id="19" name="Flowchart: Decision 18"/>
            <p:cNvSpPr/>
            <p:nvPr/>
          </p:nvSpPr>
          <p:spPr bwMode="auto">
            <a:xfrm>
              <a:off x="6200775" y="3429000"/>
              <a:ext cx="1360488" cy="615950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b="1" dirty="0">
                  <a:latin typeface="+mn-lt"/>
                </a:rPr>
                <a:t>Arrange</a:t>
              </a:r>
            </a:p>
          </p:txBody>
        </p:sp>
        <p:grpSp>
          <p:nvGrpSpPr>
            <p:cNvPr id="17493" name="Group 6"/>
            <p:cNvGrpSpPr>
              <a:grpSpLocks/>
            </p:cNvGrpSpPr>
            <p:nvPr/>
          </p:nvGrpSpPr>
          <p:grpSpPr bwMode="auto">
            <a:xfrm>
              <a:off x="5954713" y="3173413"/>
              <a:ext cx="1817687" cy="1158875"/>
              <a:chOff x="5955475" y="3174175"/>
              <a:chExt cx="1816925" cy="1157350"/>
            </a:xfrm>
          </p:grpSpPr>
          <p:cxnSp>
            <p:nvCxnSpPr>
              <p:cNvPr id="4" name="Straight Connector 3"/>
              <p:cNvCxnSpPr/>
              <p:nvPr/>
            </p:nvCxnSpPr>
            <p:spPr>
              <a:xfrm flipH="1" flipV="1">
                <a:off x="5955475" y="3749679"/>
                <a:ext cx="257067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 flipV="1">
                <a:off x="7515333" y="3757606"/>
                <a:ext cx="257067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flipV="1">
                <a:off x="6882186" y="3174175"/>
                <a:ext cx="0" cy="258421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6882186" y="4073103"/>
                <a:ext cx="0" cy="258422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566985"/>
              </p:ext>
            </p:extLst>
          </p:nvPr>
        </p:nvGraphicFramePr>
        <p:xfrm>
          <a:off x="381000" y="3836988"/>
          <a:ext cx="946150" cy="9525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SELLER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3" marR="36013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SellerID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3" marR="36013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Address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3" marR="36013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94558"/>
              </p:ext>
            </p:extLst>
          </p:nvPr>
        </p:nvGraphicFramePr>
        <p:xfrm>
          <a:off x="3405188" y="3810000"/>
          <a:ext cx="935037" cy="9525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AGENT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18" marR="36018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AgentID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InstName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6018" marR="36018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68874"/>
              </p:ext>
            </p:extLst>
          </p:nvPr>
        </p:nvGraphicFramePr>
        <p:xfrm>
          <a:off x="1784350" y="2600325"/>
          <a:ext cx="1158875" cy="952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BUYER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BuyerID</a:t>
                      </a:r>
                      <a:endParaRPr lang="en-SG" sz="14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 smtClean="0"/>
                        <a:t>BuyerAddr</a:t>
                      </a:r>
                      <a:endParaRPr lang="en-SG" sz="14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6002" marB="360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486" name="Group 1"/>
          <p:cNvGrpSpPr>
            <a:grpSpLocks/>
          </p:cNvGrpSpPr>
          <p:nvPr/>
        </p:nvGrpSpPr>
        <p:grpSpPr bwMode="auto">
          <a:xfrm>
            <a:off x="1330325" y="3576638"/>
            <a:ext cx="2049463" cy="1223962"/>
            <a:chOff x="1330325" y="3424238"/>
            <a:chExt cx="2049463" cy="1223962"/>
          </a:xfrm>
        </p:grpSpPr>
        <p:sp>
          <p:nvSpPr>
            <p:cNvPr id="30" name="Flowchart: Decision 29"/>
            <p:cNvSpPr/>
            <p:nvPr/>
          </p:nvSpPr>
          <p:spPr bwMode="auto">
            <a:xfrm>
              <a:off x="1500188" y="3605213"/>
              <a:ext cx="1720850" cy="1042987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txBody>
            <a:bodyPr wrap="none" lIns="46800" tIns="46800" rIns="46800" bIns="46800">
              <a:spAutoFit/>
            </a:bodyPr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+mn-lt"/>
                </a:rPr>
                <a:t>Negotiate </a:t>
              </a:r>
            </a:p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latin typeface="+mn-lt"/>
                </a:rPr>
                <a:t>Price</a:t>
              </a:r>
            </a:p>
          </p:txBody>
        </p:sp>
        <p:grpSp>
          <p:nvGrpSpPr>
            <p:cNvPr id="17488" name="Group 30"/>
            <p:cNvGrpSpPr>
              <a:grpSpLocks/>
            </p:cNvGrpSpPr>
            <p:nvPr/>
          </p:nvGrpSpPr>
          <p:grpSpPr bwMode="auto">
            <a:xfrm>
              <a:off x="1330325" y="3424238"/>
              <a:ext cx="2049463" cy="712787"/>
              <a:chOff x="5967350" y="3021358"/>
              <a:chExt cx="2049533" cy="712442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 flipH="1" flipV="1">
                <a:off x="5967350" y="3725867"/>
                <a:ext cx="17939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 flipV="1">
                <a:off x="7837489" y="3733800"/>
                <a:ext cx="17939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6999260" y="3021358"/>
                <a:ext cx="0" cy="215796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TextBox 30"/>
          <p:cNvSpPr txBox="1"/>
          <p:nvPr/>
        </p:nvSpPr>
        <p:spPr>
          <a:xfrm>
            <a:off x="408913" y="1625631"/>
            <a:ext cx="576000" cy="366681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txBody>
          <a:bodyPr wrap="square" lIns="7200" tIns="7200" rIns="7200" bIns="7200" rtlCol="0" anchor="ctr" anchorCtr="0">
            <a:spAutoFit/>
          </a:bodyPr>
          <a:lstStyle/>
          <a:p>
            <a:pPr algn="ctr"/>
            <a:r>
              <a:rPr lang="en-SG" sz="1600" dirty="0" smtClean="0">
                <a:solidFill>
                  <a:srgbClr val="FFFF00"/>
                </a:solidFill>
              </a:rPr>
              <a:t>D3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0" y="1676400"/>
            <a:ext cx="576000" cy="366681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txBody>
          <a:bodyPr wrap="square" lIns="7200" tIns="7200" rIns="7200" bIns="7200" rtlCol="0" anchor="ctr" anchorCtr="0">
            <a:spAutoFit/>
          </a:bodyPr>
          <a:lstStyle/>
          <a:p>
            <a:pPr algn="ctr"/>
            <a:r>
              <a:rPr lang="en-SG" sz="1600" dirty="0" smtClean="0">
                <a:solidFill>
                  <a:srgbClr val="FFFF00"/>
                </a:solidFill>
              </a:rPr>
              <a:t>D4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93494"/>
            <a:ext cx="417959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Cardinalities &amp; Notation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435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" t="24625" r="54025" b="38908"/>
          <a:stretch>
            <a:fillRect/>
          </a:stretch>
        </p:blipFill>
        <p:spPr bwMode="auto">
          <a:xfrm>
            <a:off x="990600" y="3733800"/>
            <a:ext cx="5272088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3" t="28209" r="46146" b="34985"/>
          <a:stretch>
            <a:fillRect/>
          </a:stretch>
        </p:blipFill>
        <p:spPr bwMode="auto">
          <a:xfrm>
            <a:off x="6367463" y="3822700"/>
            <a:ext cx="2319337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685800" y="1066800"/>
            <a:ext cx="7772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Cardinality refers to the </a:t>
            </a:r>
            <a:r>
              <a:rPr lang="en-US" altLang="en-US" sz="2400" dirty="0">
                <a:solidFill>
                  <a:srgbClr val="FFFF00"/>
                </a:solidFill>
              </a:rPr>
              <a:t>number of times instances in one entity</a:t>
            </a:r>
            <a:r>
              <a:rPr lang="en-US" altLang="en-US" sz="2400" dirty="0">
                <a:solidFill>
                  <a:schemeClr val="bg1"/>
                </a:solidFill>
              </a:rPr>
              <a:t> can be related to </a:t>
            </a:r>
            <a:r>
              <a:rPr lang="en-US" altLang="en-US" sz="2400" dirty="0">
                <a:solidFill>
                  <a:srgbClr val="FFFF00"/>
                </a:solidFill>
              </a:rPr>
              <a:t>instances in another entity</a:t>
            </a:r>
            <a:r>
              <a:rPr lang="en-US" altLang="en-US" sz="2400" dirty="0">
                <a:solidFill>
                  <a:schemeClr val="bg1"/>
                </a:solidFill>
              </a:rPr>
              <a:t>. </a:t>
            </a:r>
            <a:endParaRPr lang="en-US" altLang="en-US" sz="2400" u="sng" dirty="0">
              <a:solidFill>
                <a:schemeClr val="bg1"/>
              </a:solidFill>
            </a:endParaRPr>
          </a:p>
        </p:txBody>
      </p:sp>
      <p:sp>
        <p:nvSpPr>
          <p:cNvPr id="18438" name="Rectangle 3"/>
          <p:cNvSpPr txBox="1">
            <a:spLocks noChangeArrowheads="1"/>
          </p:cNvSpPr>
          <p:nvPr/>
        </p:nvSpPr>
        <p:spPr bwMode="auto">
          <a:xfrm>
            <a:off x="762000" y="1981200"/>
            <a:ext cx="7772400" cy="144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solidFill>
                  <a:schemeClr val="bg1"/>
                </a:solidFill>
              </a:rPr>
              <a:t>In our studies, </a:t>
            </a:r>
            <a:r>
              <a:rPr lang="en-US" altLang="en-US" sz="2000" dirty="0">
                <a:solidFill>
                  <a:schemeClr val="bg1"/>
                </a:solidFill>
              </a:rPr>
              <a:t>only binary relationship models will be used for illustration with </a:t>
            </a:r>
            <a:r>
              <a:rPr lang="en-US" altLang="en-US" sz="2000" b="1" dirty="0">
                <a:solidFill>
                  <a:srgbClr val="FFFF00"/>
                </a:solidFill>
              </a:rPr>
              <a:t>Crow’s Foot notation</a:t>
            </a:r>
          </a:p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bg1"/>
                </a:solidFill>
              </a:rPr>
              <a:t>There are four (4) types of cardinalities </a:t>
            </a:r>
            <a:r>
              <a:rPr lang="en-US" altLang="en-US" sz="1800" dirty="0" smtClean="0">
                <a:solidFill>
                  <a:srgbClr val="FFFF00"/>
                </a:solidFill>
              </a:rPr>
              <a:t>(denoting the minimum </a:t>
            </a:r>
            <a:r>
              <a:rPr lang="en-US" altLang="en-US" sz="1800" dirty="0">
                <a:solidFill>
                  <a:srgbClr val="FFFF00"/>
                </a:solidFill>
              </a:rPr>
              <a:t>&amp; </a:t>
            </a:r>
            <a:r>
              <a:rPr lang="en-US" altLang="en-US" sz="1800" dirty="0" smtClean="0">
                <a:solidFill>
                  <a:srgbClr val="FFFF00"/>
                </a:solidFill>
              </a:rPr>
              <a:t>maximum values)</a:t>
            </a:r>
            <a:r>
              <a:rPr lang="en-US" altLang="en-US" sz="2400" dirty="0" smtClean="0">
                <a:solidFill>
                  <a:srgbClr val="FFFF00"/>
                </a:solidFill>
              </a:rPr>
              <a:t>: </a:t>
            </a:r>
            <a:endParaRPr lang="en-US" altLang="en-US" sz="2400" u="sng" dirty="0">
              <a:solidFill>
                <a:srgbClr val="FFFF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995787"/>
              </p:ext>
            </p:extLst>
          </p:nvPr>
        </p:nvGraphicFramePr>
        <p:xfrm>
          <a:off x="4876800" y="4420092"/>
          <a:ext cx="720725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ENTITY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24" marR="36024" marT="35813" marB="358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690852" y="5238151"/>
            <a:ext cx="1828800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000" dirty="0">
                <a:solidFill>
                  <a:srgbClr val="FFFF00"/>
                </a:solidFill>
              </a:rPr>
              <a:t>The </a:t>
            </a:r>
            <a:r>
              <a:rPr lang="en-SG" altLang="en-US" sz="2000" dirty="0" smtClean="0">
                <a:solidFill>
                  <a:srgbClr val="FFFF00"/>
                </a:solidFill>
              </a:rPr>
              <a:t>Crow’s Foot </a:t>
            </a:r>
            <a:endParaRPr lang="en-SG" altLang="en-US" sz="2000" dirty="0">
              <a:solidFill>
                <a:srgbClr val="FFFF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715175"/>
              </p:ext>
            </p:extLst>
          </p:nvPr>
        </p:nvGraphicFramePr>
        <p:xfrm>
          <a:off x="4906296" y="4874832"/>
          <a:ext cx="720725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ENTITY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24" marR="36024" marT="35813" marB="358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830294"/>
              </p:ext>
            </p:extLst>
          </p:nvPr>
        </p:nvGraphicFramePr>
        <p:xfrm>
          <a:off x="4906296" y="5349240"/>
          <a:ext cx="720725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ENTITY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24" marR="36024" marT="35813" marB="358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781628"/>
              </p:ext>
            </p:extLst>
          </p:nvPr>
        </p:nvGraphicFramePr>
        <p:xfrm>
          <a:off x="4918075" y="5806440"/>
          <a:ext cx="720725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ENTITY</a:t>
                      </a:r>
                      <a:endParaRPr lang="en-SG" sz="14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6024" marR="36024" marT="35813" marB="3581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494243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Interpretation on Cardinality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735127" y="1158165"/>
            <a:ext cx="7530514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chemeClr val="bg1"/>
                </a:solidFill>
              </a:rPr>
              <a:t>The Maximum </a:t>
            </a:r>
            <a:r>
              <a:rPr lang="en-US" altLang="en-US" sz="2400" dirty="0">
                <a:solidFill>
                  <a:schemeClr val="bg1"/>
                </a:solidFill>
              </a:rPr>
              <a:t>and Minimum Cardinalities </a:t>
            </a:r>
            <a:r>
              <a:rPr lang="en-US" altLang="en-US" sz="2400" dirty="0" smtClean="0">
                <a:solidFill>
                  <a:schemeClr val="bg1"/>
                </a:solidFill>
              </a:rPr>
              <a:t>in a relationship: </a:t>
            </a:r>
            <a:endParaRPr lang="en-US" altLang="en-US" sz="2400" u="sng" dirty="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714375" y="5099050"/>
            <a:ext cx="78962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bg1"/>
                </a:solidFill>
              </a:rPr>
              <a:t>Relationships are named and classified by their cardinalities. </a:t>
            </a:r>
            <a:endParaRPr lang="en-US" altLang="en-US" sz="16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bg1"/>
                </a:solidFill>
              </a:rPr>
              <a:t>Maximum cardinality is the maximum number of  entity instances that can participate in a relationship; Vice versa for Minimum cardinality. </a:t>
            </a:r>
            <a:endParaRPr lang="en-US" altLang="en-US" sz="2000" u="sng" dirty="0">
              <a:solidFill>
                <a:schemeClr val="bg1"/>
              </a:solidFill>
            </a:endParaRPr>
          </a:p>
        </p:txBody>
      </p:sp>
      <p:grpSp>
        <p:nvGrpSpPr>
          <p:cNvPr id="19461" name="Group 15"/>
          <p:cNvGrpSpPr>
            <a:grpSpLocks/>
          </p:cNvGrpSpPr>
          <p:nvPr/>
        </p:nvGrpSpPr>
        <p:grpSpPr bwMode="auto">
          <a:xfrm>
            <a:off x="819150" y="1676400"/>
            <a:ext cx="3843968" cy="1752600"/>
            <a:chOff x="819945" y="1210487"/>
            <a:chExt cx="3842112" cy="1751524"/>
          </a:xfrm>
        </p:grpSpPr>
        <p:pic>
          <p:nvPicPr>
            <p:cNvPr id="19471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8" t="25726" r="48749" b="60698"/>
            <a:stretch>
              <a:fillRect/>
            </a:stretch>
          </p:blipFill>
          <p:spPr bwMode="auto">
            <a:xfrm>
              <a:off x="838200" y="2175333"/>
              <a:ext cx="3823857" cy="786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819945" y="1210487"/>
              <a:ext cx="3792274" cy="441764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400" b="1" u="sng" dirty="0" smtClean="0">
                  <a:solidFill>
                    <a:srgbClr val="FFFF00"/>
                  </a:solidFill>
                  <a:latin typeface="+mn-lt"/>
                </a:rPr>
                <a:t>One-and-only </a:t>
              </a:r>
              <a:r>
                <a:rPr lang="en-US" sz="2400" b="1" u="sng" dirty="0">
                  <a:solidFill>
                    <a:srgbClr val="FFFF00"/>
                  </a:solidFill>
                  <a:latin typeface="+mn-lt"/>
                </a:rPr>
                <a:t>one</a:t>
              </a:r>
              <a:r>
                <a:rPr lang="en-US" sz="2400" b="1" dirty="0">
                  <a:solidFill>
                    <a:srgbClr val="FFFF00"/>
                  </a:solidFill>
                  <a:latin typeface="+mn-lt"/>
                </a:rPr>
                <a:t> cardinality</a:t>
              </a:r>
            </a:p>
          </p:txBody>
        </p:sp>
      </p:grpSp>
      <p:grpSp>
        <p:nvGrpSpPr>
          <p:cNvPr id="19462" name="Group 16"/>
          <p:cNvGrpSpPr>
            <a:grpSpLocks/>
          </p:cNvGrpSpPr>
          <p:nvPr/>
        </p:nvGrpSpPr>
        <p:grpSpPr bwMode="auto">
          <a:xfrm>
            <a:off x="4657725" y="2743201"/>
            <a:ext cx="4121150" cy="1904999"/>
            <a:chOff x="4657725" y="1900517"/>
            <a:chExt cx="4120737" cy="1906506"/>
          </a:xfrm>
        </p:grpSpPr>
        <p:pic>
          <p:nvPicPr>
            <p:cNvPr id="19469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94" t="35222" r="48749" b="50778"/>
            <a:stretch>
              <a:fillRect/>
            </a:stretch>
          </p:blipFill>
          <p:spPr bwMode="auto">
            <a:xfrm>
              <a:off x="4657725" y="2897840"/>
              <a:ext cx="4120737" cy="90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5181548" y="1900517"/>
              <a:ext cx="2965442" cy="442385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400" b="1" u="sng" dirty="0" smtClean="0">
                  <a:solidFill>
                    <a:srgbClr val="FFFF00"/>
                  </a:solidFill>
                  <a:latin typeface="+mn-lt"/>
                </a:rPr>
                <a:t>One-to-Many</a:t>
              </a:r>
              <a:r>
                <a:rPr lang="en-US" sz="2000" b="1" dirty="0" smtClean="0">
                  <a:solidFill>
                    <a:srgbClr val="FFFF00"/>
                  </a:solidFill>
                  <a:latin typeface="+mn-lt"/>
                </a:rPr>
                <a:t> </a:t>
              </a: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cardinality</a:t>
              </a:r>
            </a:p>
          </p:txBody>
        </p:sp>
      </p:grpSp>
      <p:grpSp>
        <p:nvGrpSpPr>
          <p:cNvPr id="19463" name="Group 5"/>
          <p:cNvGrpSpPr>
            <a:grpSpLocks/>
          </p:cNvGrpSpPr>
          <p:nvPr/>
        </p:nvGrpSpPr>
        <p:grpSpPr bwMode="auto">
          <a:xfrm>
            <a:off x="1219200" y="2179638"/>
            <a:ext cx="2293055" cy="757237"/>
            <a:chOff x="1219200" y="1713038"/>
            <a:chExt cx="2293893" cy="757946"/>
          </a:xfrm>
        </p:grpSpPr>
        <p:sp>
          <p:nvSpPr>
            <p:cNvPr id="13" name="Rectangle 12"/>
            <p:cNvSpPr/>
            <p:nvPr/>
          </p:nvSpPr>
          <p:spPr>
            <a:xfrm>
              <a:off x="1219200" y="1713038"/>
              <a:ext cx="2293893" cy="38083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0000"/>
                  </a:solidFill>
                  <a:latin typeface="+mn-lt"/>
                </a:rPr>
                <a:t>Minimum</a:t>
              </a:r>
              <a:r>
                <a:rPr lang="en-US" sz="2000" b="1" dirty="0">
                  <a:solidFill>
                    <a:srgbClr val="FFC000"/>
                  </a:solidFill>
                  <a:latin typeface="+mn-lt"/>
                </a:rPr>
                <a:t> </a:t>
              </a:r>
              <a:r>
                <a:rPr lang="en-US" sz="2000" b="1" dirty="0">
                  <a:solidFill>
                    <a:srgbClr val="FF0000"/>
                  </a:solidFill>
                  <a:latin typeface="+mn-lt"/>
                </a:rPr>
                <a:t>cardinality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>
            <a:xfrm>
              <a:off x="2773931" y="2013356"/>
              <a:ext cx="548841" cy="45762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4" name="Group 14"/>
          <p:cNvGrpSpPr>
            <a:grpSpLocks/>
          </p:cNvGrpSpPr>
          <p:nvPr/>
        </p:nvGrpSpPr>
        <p:grpSpPr bwMode="auto">
          <a:xfrm>
            <a:off x="5410201" y="3277119"/>
            <a:ext cx="2293055" cy="822932"/>
            <a:chOff x="5410200" y="2435457"/>
            <a:chExt cx="2292475" cy="823927"/>
          </a:xfrm>
        </p:grpSpPr>
        <p:sp>
          <p:nvSpPr>
            <p:cNvPr id="14" name="Rectangle 13"/>
            <p:cNvSpPr/>
            <p:nvPr/>
          </p:nvSpPr>
          <p:spPr>
            <a:xfrm>
              <a:off x="5410200" y="2435457"/>
              <a:ext cx="2292475" cy="38094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rgbClr val="FF0000"/>
                  </a:solidFill>
                  <a:latin typeface="+mn-lt"/>
                </a:rPr>
                <a:t>Minimum cardinality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6526949" y="2801631"/>
              <a:ext cx="758279" cy="457753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821456" y="2652744"/>
            <a:ext cx="2194560" cy="822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658391" y="3729656"/>
            <a:ext cx="22860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49250"/>
            <a:ext cx="494243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Interpretation on Cardinality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3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7108219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sz="2400" dirty="0" smtClean="0">
                <a:solidFill>
                  <a:schemeClr val="bg1"/>
                </a:solidFill>
              </a:rPr>
              <a:t>Interpretation on maximum </a:t>
            </a:r>
            <a:r>
              <a:rPr lang="en-US" altLang="en-US" sz="2400" dirty="0">
                <a:solidFill>
                  <a:schemeClr val="bg1"/>
                </a:solidFill>
              </a:rPr>
              <a:t>and </a:t>
            </a:r>
            <a:r>
              <a:rPr lang="en-US" altLang="en-US" sz="2400" dirty="0" smtClean="0">
                <a:solidFill>
                  <a:schemeClr val="bg1"/>
                </a:solidFill>
              </a:rPr>
              <a:t>minimum Cardinalities: </a:t>
            </a:r>
            <a:endParaRPr lang="en-US" altLang="en-US" sz="2400" u="sng" dirty="0">
              <a:solidFill>
                <a:schemeClr val="bg1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28044"/>
              </p:ext>
            </p:extLst>
          </p:nvPr>
        </p:nvGraphicFramePr>
        <p:xfrm>
          <a:off x="1066800" y="2171670"/>
          <a:ext cx="1416050" cy="15071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COURSE</a:t>
                      </a:r>
                      <a:endParaRPr lang="en-SG" sz="20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b="1" u="sng" dirty="0" err="1" smtClean="0"/>
                        <a:t>CourseID</a:t>
                      </a:r>
                      <a:endParaRPr lang="en-SG" sz="20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Title</a:t>
                      </a:r>
                      <a:endParaRPr lang="en-SG" sz="20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solidFill>
                            <a:schemeClr val="tx1"/>
                          </a:solidFill>
                        </a:rPr>
                        <a:t>Offer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68138"/>
              </p:ext>
            </p:extLst>
          </p:nvPr>
        </p:nvGraphicFramePr>
        <p:xfrm>
          <a:off x="6127750" y="2182167"/>
          <a:ext cx="1263650" cy="150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</a:t>
                      </a:r>
                      <a:endParaRPr lang="en-SG" sz="20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u="sng" dirty="0" err="1" smtClean="0"/>
                        <a:t>AdminNo</a:t>
                      </a:r>
                      <a:endParaRPr lang="en-SG" sz="20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 smtClean="0"/>
                        <a:t>StudName</a:t>
                      </a:r>
                      <a:endParaRPr lang="en-SG" sz="20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DOB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/>
          <p:nvPr/>
        </p:nvCxnSpPr>
        <p:spPr bwMode="auto">
          <a:xfrm>
            <a:off x="2470848" y="2949575"/>
            <a:ext cx="36576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510" name="Group 115"/>
          <p:cNvGrpSpPr>
            <a:grpSpLocks/>
          </p:cNvGrpSpPr>
          <p:nvPr/>
        </p:nvGrpSpPr>
        <p:grpSpPr bwMode="auto">
          <a:xfrm>
            <a:off x="2667000" y="2811207"/>
            <a:ext cx="213352" cy="274320"/>
            <a:chOff x="5381765" y="6390764"/>
            <a:chExt cx="121217" cy="180534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5381765" y="6390764"/>
              <a:ext cx="0" cy="180534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502982" y="6390764"/>
              <a:ext cx="0" cy="180534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/>
        </p:nvSpPr>
        <p:spPr bwMode="auto">
          <a:xfrm>
            <a:off x="3792538" y="2560638"/>
            <a:ext cx="515937" cy="309562"/>
          </a:xfrm>
          <a:prstGeom prst="rect">
            <a:avLst/>
          </a:prstGeom>
        </p:spPr>
        <p:txBody>
          <a:bodyPr wrap="none" lIns="46800" tIns="46800" rIns="46800" bIns="468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dirty="0">
                <a:solidFill>
                  <a:srgbClr val="FFFF00"/>
                </a:solidFill>
                <a:latin typeface="+mn-lt"/>
              </a:rPr>
              <a:t>enroll</a:t>
            </a:r>
          </a:p>
        </p:txBody>
      </p:sp>
      <p:grpSp>
        <p:nvGrpSpPr>
          <p:cNvPr id="20512" name="Group 6"/>
          <p:cNvGrpSpPr>
            <a:grpSpLocks/>
          </p:cNvGrpSpPr>
          <p:nvPr/>
        </p:nvGrpSpPr>
        <p:grpSpPr bwMode="auto">
          <a:xfrm>
            <a:off x="5835851" y="2819400"/>
            <a:ext cx="288663" cy="267335"/>
            <a:chOff x="4880890" y="2895518"/>
            <a:chExt cx="288662" cy="267335"/>
          </a:xfrm>
        </p:grpSpPr>
        <p:cxnSp>
          <p:nvCxnSpPr>
            <p:cNvPr id="31" name="Straight Connector 30"/>
            <p:cNvCxnSpPr/>
            <p:nvPr/>
          </p:nvCxnSpPr>
          <p:spPr bwMode="auto">
            <a:xfrm>
              <a:off x="4895233" y="3025693"/>
              <a:ext cx="274319" cy="13716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4880890" y="2895518"/>
              <a:ext cx="274319" cy="13716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/>
          <p:cNvSpPr/>
          <p:nvPr/>
        </p:nvSpPr>
        <p:spPr>
          <a:xfrm>
            <a:off x="5559648" y="2770599"/>
            <a:ext cx="137160" cy="3657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20514" name="Group 14"/>
          <p:cNvGrpSpPr>
            <a:grpSpLocks/>
          </p:cNvGrpSpPr>
          <p:nvPr/>
        </p:nvGrpSpPr>
        <p:grpSpPr bwMode="auto">
          <a:xfrm>
            <a:off x="2887663" y="1890713"/>
            <a:ext cx="2583498" cy="948918"/>
            <a:chOff x="2887662" y="1966913"/>
            <a:chExt cx="2583499" cy="948839"/>
          </a:xfrm>
        </p:grpSpPr>
        <p:sp>
          <p:nvSpPr>
            <p:cNvPr id="13" name="Rectangle 12"/>
            <p:cNvSpPr/>
            <p:nvPr/>
          </p:nvSpPr>
          <p:spPr bwMode="auto">
            <a:xfrm>
              <a:off x="2887662" y="1966913"/>
              <a:ext cx="2293056" cy="380448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+mn-lt"/>
                </a:rPr>
                <a:t>Minimum cardinality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 bwMode="auto">
            <a:xfrm>
              <a:off x="4191000" y="2285973"/>
              <a:ext cx="1280161" cy="629779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 bwMode="auto">
            <a:xfrm flipH="1">
              <a:off x="2931906" y="2285973"/>
              <a:ext cx="1188720" cy="601357"/>
            </a:xfrm>
            <a:prstGeom prst="straightConnector1">
              <a:avLst/>
            </a:prstGeom>
            <a:ln>
              <a:solidFill>
                <a:schemeClr val="bg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15" name="Group 14335"/>
          <p:cNvGrpSpPr>
            <a:grpSpLocks/>
          </p:cNvGrpSpPr>
          <p:nvPr/>
        </p:nvGrpSpPr>
        <p:grpSpPr bwMode="auto">
          <a:xfrm>
            <a:off x="2667000" y="3129223"/>
            <a:ext cx="3347104" cy="908860"/>
            <a:chOff x="2667079" y="3205538"/>
            <a:chExt cx="3346994" cy="908733"/>
          </a:xfrm>
        </p:grpSpPr>
        <p:sp>
          <p:nvSpPr>
            <p:cNvPr id="14" name="Rectangle 13"/>
            <p:cNvSpPr/>
            <p:nvPr/>
          </p:nvSpPr>
          <p:spPr bwMode="auto">
            <a:xfrm>
              <a:off x="3200462" y="3733844"/>
              <a:ext cx="2335491" cy="380427"/>
            </a:xfrm>
            <a:prstGeom prst="rect">
              <a:avLst/>
            </a:prstGeom>
          </p:spPr>
          <p:txBody>
            <a:bodyPr wrap="none" lIns="36000" tIns="36000" rIns="36000" bIns="360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2000" b="1" dirty="0" smtClean="0">
                  <a:solidFill>
                    <a:srgbClr val="FFFF00"/>
                  </a:solidFill>
                  <a:latin typeface="+mn-lt"/>
                </a:rPr>
                <a:t>Maximum </a:t>
              </a:r>
              <a:r>
                <a:rPr lang="en-US" sz="2000" b="1" dirty="0">
                  <a:solidFill>
                    <a:srgbClr val="FFFF00"/>
                  </a:solidFill>
                  <a:latin typeface="+mn-lt"/>
                </a:rPr>
                <a:t>cardinality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 flipV="1">
              <a:off x="4368207" y="3205538"/>
              <a:ext cx="1645866" cy="594277"/>
            </a:xfrm>
            <a:prstGeom prst="straightConnector1">
              <a:avLst/>
            </a:prstGeom>
            <a:ln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 bwMode="auto">
            <a:xfrm flipH="1" flipV="1">
              <a:off x="2667079" y="3235031"/>
              <a:ext cx="1411244" cy="530560"/>
            </a:xfrm>
            <a:prstGeom prst="straightConnector1">
              <a:avLst/>
            </a:prstGeom>
            <a:ln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838200" y="4562846"/>
            <a:ext cx="7704137" cy="138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solidFill>
                  <a:schemeClr val="bg1"/>
                </a:solidFill>
              </a:rPr>
              <a:t>The cardinality placed nearer to the entity represents the </a:t>
            </a:r>
            <a:r>
              <a:rPr lang="en-US" altLang="en-US" sz="2000" dirty="0" smtClean="0">
                <a:solidFill>
                  <a:srgbClr val="FFC000"/>
                </a:solidFill>
              </a:rPr>
              <a:t>maximum</a:t>
            </a:r>
            <a:r>
              <a:rPr lang="en-US" altLang="en-US" sz="2000" dirty="0">
                <a:solidFill>
                  <a:srgbClr val="FFC000"/>
                </a:solidFill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</a:rPr>
              <a:t>value</a:t>
            </a:r>
            <a:r>
              <a:rPr lang="en-US" altLang="en-US" sz="2000" dirty="0" smtClean="0">
                <a:solidFill>
                  <a:schemeClr val="bg1"/>
                </a:solidFill>
              </a:rPr>
              <a:t>.</a:t>
            </a:r>
            <a:endParaRPr lang="en-US" altLang="en-US" sz="20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solidFill>
                  <a:schemeClr val="bg1"/>
                </a:solidFill>
              </a:rPr>
              <a:t>The cardinality placed away from the entity represents the </a:t>
            </a:r>
            <a:r>
              <a:rPr lang="en-US" altLang="en-US" sz="2000" dirty="0" smtClean="0">
                <a:solidFill>
                  <a:srgbClr val="FFC000"/>
                </a:solidFill>
              </a:rPr>
              <a:t>minimum value</a:t>
            </a:r>
            <a:r>
              <a:rPr lang="en-US" altLang="en-US" sz="2000" dirty="0" smtClean="0">
                <a:solidFill>
                  <a:schemeClr val="bg1"/>
                </a:solidFill>
              </a:rPr>
              <a:t>.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494865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Relationships &amp; Cardinalities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37" name="Rectangle 1"/>
          <p:cNvSpPr>
            <a:spLocks noChangeArrowheads="1"/>
          </p:cNvSpPr>
          <p:nvPr/>
        </p:nvSpPr>
        <p:spPr bwMode="auto">
          <a:xfrm>
            <a:off x="860840" y="1298573"/>
            <a:ext cx="1644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000" b="1" dirty="0">
                <a:solidFill>
                  <a:srgbClr val="FFFF00"/>
                </a:solidFill>
              </a:rPr>
              <a:t>Interpretation:</a:t>
            </a:r>
          </a:p>
        </p:txBody>
      </p:sp>
      <p:grpSp>
        <p:nvGrpSpPr>
          <p:cNvPr id="21538" name="Group 72"/>
          <p:cNvGrpSpPr>
            <a:grpSpLocks/>
          </p:cNvGrpSpPr>
          <p:nvPr/>
        </p:nvGrpSpPr>
        <p:grpSpPr bwMode="auto">
          <a:xfrm>
            <a:off x="2977232" y="1143000"/>
            <a:ext cx="2657221" cy="546098"/>
            <a:chOff x="3008564" y="1575179"/>
            <a:chExt cx="2657221" cy="546098"/>
          </a:xfrm>
        </p:grpSpPr>
        <p:sp>
          <p:nvSpPr>
            <p:cNvPr id="74" name="Text Box 4"/>
            <p:cNvSpPr txBox="1">
              <a:spLocks noChangeArrowheads="1"/>
            </p:cNvSpPr>
            <p:nvPr/>
          </p:nvSpPr>
          <p:spPr bwMode="auto">
            <a:xfrm>
              <a:off x="3008564" y="1814890"/>
              <a:ext cx="976313" cy="30638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EMPLOYEES</a:t>
              </a:r>
            </a:p>
          </p:txBody>
        </p:sp>
        <p:sp>
          <p:nvSpPr>
            <p:cNvPr id="21541" name="Text Box 4"/>
            <p:cNvSpPr txBox="1">
              <a:spLocks noChangeArrowheads="1"/>
            </p:cNvSpPr>
            <p:nvPr/>
          </p:nvSpPr>
          <p:spPr bwMode="auto">
            <a:xfrm>
              <a:off x="4821235" y="1800602"/>
              <a:ext cx="844550" cy="306387"/>
            </a:xfrm>
            <a:prstGeom prst="rect">
              <a:avLst/>
            </a:prstGeom>
            <a:solidFill>
              <a:srgbClr val="FFCC66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PAYCHECK</a:t>
              </a:r>
            </a:p>
          </p:txBody>
        </p:sp>
        <p:grpSp>
          <p:nvGrpSpPr>
            <p:cNvPr id="21542" name="Group 4"/>
            <p:cNvGrpSpPr>
              <a:grpSpLocks/>
            </p:cNvGrpSpPr>
            <p:nvPr/>
          </p:nvGrpSpPr>
          <p:grpSpPr bwMode="auto">
            <a:xfrm>
              <a:off x="3969669" y="1575179"/>
              <a:ext cx="868680" cy="492129"/>
              <a:chOff x="5915276" y="3007485"/>
              <a:chExt cx="867919" cy="492137"/>
            </a:xfrm>
          </p:grpSpPr>
          <p:cxnSp>
            <p:nvCxnSpPr>
              <p:cNvPr id="77" name="Straight Connector 76"/>
              <p:cNvCxnSpPr/>
              <p:nvPr/>
            </p:nvCxnSpPr>
            <p:spPr bwMode="auto">
              <a:xfrm>
                <a:off x="5915276" y="3400857"/>
                <a:ext cx="867919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Rectangle 78"/>
              <p:cNvSpPr/>
              <p:nvPr/>
            </p:nvSpPr>
            <p:spPr bwMode="auto">
              <a:xfrm>
                <a:off x="6088827" y="3007485"/>
                <a:ext cx="654927" cy="309963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rgbClr val="FFFF00"/>
                    </a:solidFill>
                    <a:latin typeface="+mn-lt"/>
                  </a:rPr>
                  <a:t>Receive</a:t>
                </a:r>
              </a:p>
            </p:txBody>
          </p:sp>
          <p:grpSp>
            <p:nvGrpSpPr>
              <p:cNvPr id="21546" name="Group 115"/>
              <p:cNvGrpSpPr>
                <a:grpSpLocks/>
              </p:cNvGrpSpPr>
              <p:nvPr/>
            </p:nvGrpSpPr>
            <p:grpSpPr bwMode="auto">
              <a:xfrm>
                <a:off x="6570088" y="3318632"/>
                <a:ext cx="107182" cy="180990"/>
                <a:chOff x="5237208" y="6402241"/>
                <a:chExt cx="107335" cy="180878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5237208" y="6402253"/>
                  <a:ext cx="0" cy="180866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5344543" y="6402241"/>
                  <a:ext cx="0" cy="180866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5" name="Rectangle 84"/>
          <p:cNvSpPr/>
          <p:nvPr/>
        </p:nvSpPr>
        <p:spPr>
          <a:xfrm>
            <a:off x="913354" y="2269512"/>
            <a:ext cx="7986713" cy="98064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One entity instance in class </a:t>
            </a:r>
            <a:r>
              <a:rPr lang="en-GB" b="1" dirty="0">
                <a:solidFill>
                  <a:srgbClr val="FFFF00"/>
                </a:solidFill>
                <a:latin typeface="Calibri" panose="020F0502020204030204" pitchFamily="34" charset="0"/>
              </a:rPr>
              <a:t>EMPLOYEES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is related to </a:t>
            </a:r>
            <a:r>
              <a:rPr lang="en-GB" u="sng" dirty="0">
                <a:solidFill>
                  <a:srgbClr val="FFFF00"/>
                </a:solidFill>
                <a:latin typeface="Calibri" panose="020F0502020204030204" pitchFamily="34" charset="0"/>
              </a:rPr>
              <a:t>minimum 1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and </a:t>
            </a:r>
            <a:r>
              <a:rPr lang="en-GB" u="sng" dirty="0">
                <a:solidFill>
                  <a:srgbClr val="FFFF00"/>
                </a:solidFill>
                <a:latin typeface="Calibri" panose="020F0502020204030204" pitchFamily="34" charset="0"/>
              </a:rPr>
              <a:t>maximum 1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entity instance in class </a:t>
            </a:r>
            <a:r>
              <a:rPr lang="en-GB" b="1" dirty="0">
                <a:solidFill>
                  <a:srgbClr val="FFFF00"/>
                </a:solidFill>
                <a:latin typeface="Calibri" panose="020F0502020204030204" pitchFamily="34" charset="0"/>
              </a:rPr>
              <a:t>PAYCHECK</a:t>
            </a:r>
            <a:endParaRPr lang="en-GB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marL="273050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i.e. </a:t>
            </a:r>
            <a:r>
              <a:rPr lang="en-GB" dirty="0">
                <a:solidFill>
                  <a:srgbClr val="FFFF00"/>
                </a:solidFill>
                <a:latin typeface="Calibri" panose="020F0502020204030204" pitchFamily="34" charset="0"/>
              </a:rPr>
              <a:t>One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EMPLOYEE receives </a:t>
            </a:r>
            <a:r>
              <a:rPr lang="en-GB" b="1" u="sng" dirty="0">
                <a:solidFill>
                  <a:srgbClr val="FFFF00"/>
                </a:solidFill>
                <a:latin typeface="Calibri" panose="020F0502020204030204" pitchFamily="34" charset="0"/>
              </a:rPr>
              <a:t>one and only one</a:t>
            </a:r>
            <a:r>
              <a:rPr lang="en-GB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PAYCHECK in a month.</a:t>
            </a:r>
            <a:endParaRPr lang="en-SG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 rotWithShape="1">
          <a:blip r:embed="rId2"/>
          <a:srcRect l="26960" t="15026" r="29562" b="15028"/>
          <a:stretch/>
        </p:blipFill>
        <p:spPr>
          <a:xfrm>
            <a:off x="8337894" y="6328353"/>
            <a:ext cx="365760" cy="390145"/>
          </a:xfrm>
          <a:prstGeom prst="rect">
            <a:avLst/>
          </a:prstGeom>
        </p:spPr>
      </p:pic>
      <p:pic>
        <p:nvPicPr>
          <p:cNvPr id="76" name="Picture 3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1" t="38000" r="51396" b="21001"/>
          <a:stretch>
            <a:fillRect/>
          </a:stretch>
        </p:blipFill>
        <p:spPr bwMode="auto">
          <a:xfrm>
            <a:off x="3153635" y="1776931"/>
            <a:ext cx="548640" cy="425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3"/>
          <p:cNvSpPr/>
          <p:nvPr/>
        </p:nvSpPr>
        <p:spPr>
          <a:xfrm>
            <a:off x="4625032" y="1679934"/>
            <a:ext cx="1784555" cy="619433"/>
          </a:xfrm>
          <a:custGeom>
            <a:avLst/>
            <a:gdLst>
              <a:gd name="connsiteX0" fmla="*/ 1784555 w 1784555"/>
              <a:gd name="connsiteY0" fmla="*/ 619433 h 619433"/>
              <a:gd name="connsiteX1" fmla="*/ 929149 w 1784555"/>
              <a:gd name="connsiteY1" fmla="*/ 560439 h 619433"/>
              <a:gd name="connsiteX2" fmla="*/ 309717 w 1784555"/>
              <a:gd name="connsiteY2" fmla="*/ 412955 h 619433"/>
              <a:gd name="connsiteX3" fmla="*/ 73742 w 1784555"/>
              <a:gd name="connsiteY3" fmla="*/ 265471 h 619433"/>
              <a:gd name="connsiteX4" fmla="*/ 0 w 1784555"/>
              <a:gd name="connsiteY4" fmla="*/ 0 h 619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4555" h="619433">
                <a:moveTo>
                  <a:pt x="1784555" y="619433"/>
                </a:moveTo>
                <a:cubicBezTo>
                  <a:pt x="1479755" y="607142"/>
                  <a:pt x="1174955" y="594852"/>
                  <a:pt x="929149" y="560439"/>
                </a:cubicBezTo>
                <a:cubicBezTo>
                  <a:pt x="683343" y="526026"/>
                  <a:pt x="452285" y="462116"/>
                  <a:pt x="309717" y="412955"/>
                </a:cubicBezTo>
                <a:cubicBezTo>
                  <a:pt x="167149" y="363794"/>
                  <a:pt x="125361" y="334297"/>
                  <a:pt x="73742" y="265471"/>
                </a:cubicBezTo>
                <a:cubicBezTo>
                  <a:pt x="22123" y="196645"/>
                  <a:pt x="11061" y="98322"/>
                  <a:pt x="0" y="0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4743020" y="1665186"/>
            <a:ext cx="3259393" cy="589935"/>
          </a:xfrm>
          <a:custGeom>
            <a:avLst/>
            <a:gdLst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427703 h 589935"/>
              <a:gd name="connsiteX5" fmla="*/ 707922 w 3259393"/>
              <a:gd name="connsiteY5" fmla="*/ 339213 h 589935"/>
              <a:gd name="connsiteX6" fmla="*/ 398206 w 3259393"/>
              <a:gd name="connsiteY6" fmla="*/ 265471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427703 h 589935"/>
              <a:gd name="connsiteX5" fmla="*/ 707922 w 3259393"/>
              <a:gd name="connsiteY5" fmla="*/ 339213 h 589935"/>
              <a:gd name="connsiteX6" fmla="*/ 457200 w 3259393"/>
              <a:gd name="connsiteY6" fmla="*/ 294967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383457 h 589935"/>
              <a:gd name="connsiteX5" fmla="*/ 707922 w 3259393"/>
              <a:gd name="connsiteY5" fmla="*/ 339213 h 589935"/>
              <a:gd name="connsiteX6" fmla="*/ 457200 w 3259393"/>
              <a:gd name="connsiteY6" fmla="*/ 294967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59393" h="589935">
                <a:moveTo>
                  <a:pt x="3259393" y="589935"/>
                </a:moveTo>
                <a:cubicBezTo>
                  <a:pt x="3055374" y="556751"/>
                  <a:pt x="2851355" y="523567"/>
                  <a:pt x="2669458" y="501445"/>
                </a:cubicBezTo>
                <a:cubicBezTo>
                  <a:pt x="2487561" y="479323"/>
                  <a:pt x="2344993" y="467032"/>
                  <a:pt x="2168012" y="457200"/>
                </a:cubicBezTo>
                <a:cubicBezTo>
                  <a:pt x="1991031" y="447368"/>
                  <a:pt x="1787013" y="454742"/>
                  <a:pt x="1607574" y="442452"/>
                </a:cubicBezTo>
                <a:cubicBezTo>
                  <a:pt x="1428135" y="430162"/>
                  <a:pt x="1241322" y="400664"/>
                  <a:pt x="1091380" y="383457"/>
                </a:cubicBezTo>
                <a:lnTo>
                  <a:pt x="707922" y="339213"/>
                </a:lnTo>
                <a:cubicBezTo>
                  <a:pt x="602225" y="324465"/>
                  <a:pt x="540774" y="312173"/>
                  <a:pt x="457200" y="294967"/>
                </a:cubicBezTo>
                <a:cubicBezTo>
                  <a:pt x="373626" y="277760"/>
                  <a:pt x="267929" y="258097"/>
                  <a:pt x="206477" y="235974"/>
                </a:cubicBezTo>
                <a:cubicBezTo>
                  <a:pt x="145025" y="213852"/>
                  <a:pt x="122903" y="201561"/>
                  <a:pt x="88490" y="162232"/>
                </a:cubicBezTo>
                <a:cubicBezTo>
                  <a:pt x="54077" y="122903"/>
                  <a:pt x="27038" y="61451"/>
                  <a:pt x="0" y="0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Connector 83"/>
          <p:cNvCxnSpPr/>
          <p:nvPr/>
        </p:nvCxnSpPr>
        <p:spPr bwMode="auto">
          <a:xfrm>
            <a:off x="4700999" y="1434730"/>
            <a:ext cx="0" cy="219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80823" y="5032833"/>
            <a:ext cx="8062913" cy="98064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An entity instance in class </a:t>
            </a:r>
            <a:r>
              <a:rPr lang="en-GB" b="1" dirty="0">
                <a:solidFill>
                  <a:srgbClr val="FFFF00"/>
                </a:solidFill>
                <a:latin typeface="Calibri" panose="020F0502020204030204" pitchFamily="34" charset="0"/>
              </a:rPr>
              <a:t>PAYCHECK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is related to </a:t>
            </a:r>
            <a:r>
              <a:rPr lang="en-GB" u="sng" dirty="0">
                <a:solidFill>
                  <a:srgbClr val="FFFF00"/>
                </a:solidFill>
                <a:latin typeface="Calibri" panose="020F0502020204030204" pitchFamily="34" charset="0"/>
              </a:rPr>
              <a:t>minimum 1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and </a:t>
            </a:r>
            <a:r>
              <a:rPr lang="en-GB" u="sng" dirty="0">
                <a:solidFill>
                  <a:srgbClr val="FFFF00"/>
                </a:solidFill>
                <a:latin typeface="Calibri" panose="020F0502020204030204" pitchFamily="34" charset="0"/>
              </a:rPr>
              <a:t>maximum 1 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entity instance of class  </a:t>
            </a:r>
            <a:r>
              <a:rPr lang="en-GB" b="1" dirty="0">
                <a:solidFill>
                  <a:srgbClr val="FFFF00"/>
                </a:solidFill>
                <a:latin typeface="Calibri" panose="020F0502020204030204" pitchFamily="34" charset="0"/>
              </a:rPr>
              <a:t>EMPLOYEE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.</a:t>
            </a:r>
          </a:p>
          <a:p>
            <a:pPr marL="273050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i.e. </a:t>
            </a:r>
            <a:r>
              <a:rPr lang="en-GB" dirty="0">
                <a:solidFill>
                  <a:srgbClr val="FFFF00"/>
                </a:solidFill>
                <a:latin typeface="Calibri" panose="020F0502020204030204" pitchFamily="34" charset="0"/>
              </a:rPr>
              <a:t>One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PAYCHECK is being sent to </a:t>
            </a:r>
            <a:r>
              <a:rPr lang="en-GB" b="1" u="sng" dirty="0">
                <a:solidFill>
                  <a:srgbClr val="FFFF00"/>
                </a:solidFill>
                <a:latin typeface="Calibri" panose="020F0502020204030204" pitchFamily="34" charset="0"/>
              </a:rPr>
              <a:t>one and only one</a:t>
            </a: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</a:rPr>
              <a:t> EMPLOYEE in a month.</a:t>
            </a:r>
            <a:endParaRPr lang="en-SG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87" name="Picture 3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1" t="38000" r="51396" b="21001"/>
          <a:stretch>
            <a:fillRect/>
          </a:stretch>
        </p:blipFill>
        <p:spPr bwMode="auto">
          <a:xfrm flipH="1">
            <a:off x="5257388" y="3867900"/>
            <a:ext cx="640080" cy="49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Rectangle 1"/>
          <p:cNvSpPr>
            <a:spLocks noChangeArrowheads="1"/>
          </p:cNvSpPr>
          <p:nvPr/>
        </p:nvSpPr>
        <p:spPr bwMode="auto">
          <a:xfrm>
            <a:off x="966536" y="4337077"/>
            <a:ext cx="1644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000" b="1">
                <a:solidFill>
                  <a:srgbClr val="FFFF00"/>
                </a:solidFill>
              </a:rPr>
              <a:t>Interpretation:</a:t>
            </a:r>
          </a:p>
        </p:txBody>
      </p:sp>
      <p:grpSp>
        <p:nvGrpSpPr>
          <p:cNvPr id="89" name="Group 72"/>
          <p:cNvGrpSpPr>
            <a:grpSpLocks/>
          </p:cNvGrpSpPr>
          <p:nvPr/>
        </p:nvGrpSpPr>
        <p:grpSpPr bwMode="auto">
          <a:xfrm>
            <a:off x="2977232" y="4181503"/>
            <a:ext cx="2989008" cy="531811"/>
            <a:chOff x="2902868" y="1575178"/>
            <a:chExt cx="2989008" cy="531811"/>
          </a:xfrm>
        </p:grpSpPr>
        <p:sp>
          <p:nvSpPr>
            <p:cNvPr id="90" name="Text Box 4"/>
            <p:cNvSpPr txBox="1">
              <a:spLocks noChangeArrowheads="1"/>
            </p:cNvSpPr>
            <p:nvPr/>
          </p:nvSpPr>
          <p:spPr bwMode="auto">
            <a:xfrm>
              <a:off x="2902868" y="1800142"/>
              <a:ext cx="976313" cy="30638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EMPLOYEES</a:t>
              </a:r>
            </a:p>
          </p:txBody>
        </p:sp>
        <p:sp>
          <p:nvSpPr>
            <p:cNvPr id="91" name="Text Box 4"/>
            <p:cNvSpPr txBox="1">
              <a:spLocks noChangeArrowheads="1"/>
            </p:cNvSpPr>
            <p:nvPr/>
          </p:nvSpPr>
          <p:spPr bwMode="auto">
            <a:xfrm>
              <a:off x="5047326" y="1800602"/>
              <a:ext cx="844550" cy="306387"/>
            </a:xfrm>
            <a:prstGeom prst="rect">
              <a:avLst/>
            </a:prstGeom>
            <a:solidFill>
              <a:srgbClr val="FFCC66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PAYCHECK</a:t>
              </a:r>
            </a:p>
          </p:txBody>
        </p:sp>
        <p:grpSp>
          <p:nvGrpSpPr>
            <p:cNvPr id="92" name="Group 4"/>
            <p:cNvGrpSpPr>
              <a:grpSpLocks/>
            </p:cNvGrpSpPr>
            <p:nvPr/>
          </p:nvGrpSpPr>
          <p:grpSpPr bwMode="auto">
            <a:xfrm>
              <a:off x="3877749" y="1575178"/>
              <a:ext cx="1188720" cy="482600"/>
              <a:chOff x="5823438" y="3007485"/>
              <a:chExt cx="1187679" cy="482608"/>
            </a:xfrm>
          </p:grpSpPr>
          <p:cxnSp>
            <p:nvCxnSpPr>
              <p:cNvPr id="93" name="Straight Connector 92"/>
              <p:cNvCxnSpPr/>
              <p:nvPr/>
            </p:nvCxnSpPr>
            <p:spPr bwMode="auto">
              <a:xfrm>
                <a:off x="5823438" y="3399605"/>
                <a:ext cx="1187679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4" name="Group 115"/>
              <p:cNvGrpSpPr>
                <a:grpSpLocks/>
              </p:cNvGrpSpPr>
              <p:nvPr/>
            </p:nvGrpSpPr>
            <p:grpSpPr bwMode="auto">
              <a:xfrm>
                <a:off x="5989522" y="3309115"/>
                <a:ext cx="121925" cy="180978"/>
                <a:chOff x="5685129" y="6391179"/>
                <a:chExt cx="122155" cy="180867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>
                  <a:off x="5685129" y="6391179"/>
                  <a:ext cx="0" cy="180867"/>
                </a:xfrm>
                <a:prstGeom prst="line">
                  <a:avLst/>
                </a:prstGeom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5807284" y="6391179"/>
                  <a:ext cx="0" cy="180867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Rectangle 94"/>
              <p:cNvSpPr/>
              <p:nvPr/>
            </p:nvSpPr>
            <p:spPr bwMode="auto">
              <a:xfrm>
                <a:off x="6220611" y="3007485"/>
                <a:ext cx="654927" cy="309963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rgbClr val="FFFF00"/>
                    </a:solidFill>
                    <a:latin typeface="+mn-lt"/>
                  </a:rPr>
                  <a:t>Receive</a:t>
                </a:r>
              </a:p>
            </p:txBody>
          </p:sp>
        </p:grpSp>
      </p:grpSp>
      <p:sp>
        <p:nvSpPr>
          <p:cNvPr id="98" name="Freeform 97"/>
          <p:cNvSpPr/>
          <p:nvPr/>
        </p:nvSpPr>
        <p:spPr>
          <a:xfrm>
            <a:off x="4118343" y="4750642"/>
            <a:ext cx="3629993" cy="301625"/>
          </a:xfrm>
          <a:custGeom>
            <a:avLst/>
            <a:gdLst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427703 h 589935"/>
              <a:gd name="connsiteX5" fmla="*/ 707922 w 3259393"/>
              <a:gd name="connsiteY5" fmla="*/ 339213 h 589935"/>
              <a:gd name="connsiteX6" fmla="*/ 398206 w 3259393"/>
              <a:gd name="connsiteY6" fmla="*/ 265471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427703 h 589935"/>
              <a:gd name="connsiteX5" fmla="*/ 707922 w 3259393"/>
              <a:gd name="connsiteY5" fmla="*/ 339213 h 589935"/>
              <a:gd name="connsiteX6" fmla="*/ 457200 w 3259393"/>
              <a:gd name="connsiteY6" fmla="*/ 294967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  <a:gd name="connsiteX0" fmla="*/ 3259393 w 3259393"/>
              <a:gd name="connsiteY0" fmla="*/ 589935 h 589935"/>
              <a:gd name="connsiteX1" fmla="*/ 2669458 w 3259393"/>
              <a:gd name="connsiteY1" fmla="*/ 501445 h 589935"/>
              <a:gd name="connsiteX2" fmla="*/ 2168012 w 3259393"/>
              <a:gd name="connsiteY2" fmla="*/ 457200 h 589935"/>
              <a:gd name="connsiteX3" fmla="*/ 1607574 w 3259393"/>
              <a:gd name="connsiteY3" fmla="*/ 442452 h 589935"/>
              <a:gd name="connsiteX4" fmla="*/ 1091380 w 3259393"/>
              <a:gd name="connsiteY4" fmla="*/ 383457 h 589935"/>
              <a:gd name="connsiteX5" fmla="*/ 707922 w 3259393"/>
              <a:gd name="connsiteY5" fmla="*/ 339213 h 589935"/>
              <a:gd name="connsiteX6" fmla="*/ 457200 w 3259393"/>
              <a:gd name="connsiteY6" fmla="*/ 294967 h 589935"/>
              <a:gd name="connsiteX7" fmla="*/ 206477 w 3259393"/>
              <a:gd name="connsiteY7" fmla="*/ 235974 h 589935"/>
              <a:gd name="connsiteX8" fmla="*/ 88490 w 3259393"/>
              <a:gd name="connsiteY8" fmla="*/ 162232 h 589935"/>
              <a:gd name="connsiteX9" fmla="*/ 0 w 3259393"/>
              <a:gd name="connsiteY9" fmla="*/ 0 h 58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59393" h="589935">
                <a:moveTo>
                  <a:pt x="3259393" y="589935"/>
                </a:moveTo>
                <a:cubicBezTo>
                  <a:pt x="3055374" y="556751"/>
                  <a:pt x="2851355" y="523567"/>
                  <a:pt x="2669458" y="501445"/>
                </a:cubicBezTo>
                <a:cubicBezTo>
                  <a:pt x="2487561" y="479323"/>
                  <a:pt x="2344993" y="467032"/>
                  <a:pt x="2168012" y="457200"/>
                </a:cubicBezTo>
                <a:cubicBezTo>
                  <a:pt x="1991031" y="447368"/>
                  <a:pt x="1787013" y="454742"/>
                  <a:pt x="1607574" y="442452"/>
                </a:cubicBezTo>
                <a:cubicBezTo>
                  <a:pt x="1428135" y="430162"/>
                  <a:pt x="1241322" y="400664"/>
                  <a:pt x="1091380" y="383457"/>
                </a:cubicBezTo>
                <a:lnTo>
                  <a:pt x="707922" y="339213"/>
                </a:lnTo>
                <a:cubicBezTo>
                  <a:pt x="602225" y="324465"/>
                  <a:pt x="540774" y="312173"/>
                  <a:pt x="457200" y="294967"/>
                </a:cubicBezTo>
                <a:cubicBezTo>
                  <a:pt x="373626" y="277760"/>
                  <a:pt x="267929" y="258097"/>
                  <a:pt x="206477" y="235974"/>
                </a:cubicBezTo>
                <a:cubicBezTo>
                  <a:pt x="145025" y="213852"/>
                  <a:pt x="122903" y="201561"/>
                  <a:pt x="88490" y="162232"/>
                </a:cubicBezTo>
                <a:cubicBezTo>
                  <a:pt x="54077" y="122903"/>
                  <a:pt x="27038" y="61451"/>
                  <a:pt x="0" y="0"/>
                </a:cubicBezTo>
              </a:path>
            </a:pathLst>
          </a:custGeom>
          <a:noFill/>
          <a:ln>
            <a:solidFill>
              <a:schemeClr val="bg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 bwMode="auto">
          <a:xfrm>
            <a:off x="4104695" y="4464165"/>
            <a:ext cx="0" cy="219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4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63998"/>
            <a:ext cx="5110172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Relationships &amp; Cardinalities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8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72711"/>
              </p:ext>
            </p:extLst>
          </p:nvPr>
        </p:nvGraphicFramePr>
        <p:xfrm>
          <a:off x="1219200" y="1987519"/>
          <a:ext cx="1416050" cy="15071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COURSE</a:t>
                      </a:r>
                      <a:endParaRPr lang="en-SG" sz="20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b="1" u="sng" dirty="0" err="1" smtClean="0"/>
                        <a:t>CourseID</a:t>
                      </a:r>
                      <a:endParaRPr lang="en-SG" sz="20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Title</a:t>
                      </a:r>
                      <a:endParaRPr lang="en-SG" sz="20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solidFill>
                            <a:schemeClr val="tx1"/>
                          </a:solidFill>
                        </a:rPr>
                        <a:t>Offer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36150"/>
              </p:ext>
            </p:extLst>
          </p:nvPr>
        </p:nvGraphicFramePr>
        <p:xfrm>
          <a:off x="5527344" y="1998016"/>
          <a:ext cx="1263650" cy="150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</a:t>
                      </a:r>
                      <a:endParaRPr lang="en-SG" sz="2000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u="sng" dirty="0" err="1" smtClean="0"/>
                        <a:t>AdminNo</a:t>
                      </a:r>
                      <a:endParaRPr lang="en-SG" sz="20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 smtClean="0"/>
                        <a:t>StudName</a:t>
                      </a:r>
                      <a:endParaRPr lang="en-SG" sz="2000" dirty="0">
                        <a:solidFill>
                          <a:srgbClr val="C00000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DOB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 marL="35988" marR="35988" marT="35998" marB="3599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3" name="Straight Connector 72"/>
          <p:cNvCxnSpPr/>
          <p:nvPr/>
        </p:nvCxnSpPr>
        <p:spPr bwMode="auto">
          <a:xfrm>
            <a:off x="2623248" y="2765424"/>
            <a:ext cx="288000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5" name="Group 115"/>
          <p:cNvGrpSpPr>
            <a:grpSpLocks/>
          </p:cNvGrpSpPr>
          <p:nvPr/>
        </p:nvGrpSpPr>
        <p:grpSpPr bwMode="auto">
          <a:xfrm>
            <a:off x="2819400" y="2627056"/>
            <a:ext cx="213352" cy="274320"/>
            <a:chOff x="5381765" y="6390764"/>
            <a:chExt cx="121217" cy="180534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5381765" y="6390764"/>
              <a:ext cx="0" cy="180534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5502982" y="6390764"/>
              <a:ext cx="0" cy="180534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Rectangle 79"/>
          <p:cNvSpPr/>
          <p:nvPr/>
        </p:nvSpPr>
        <p:spPr bwMode="auto">
          <a:xfrm>
            <a:off x="3581400" y="2239962"/>
            <a:ext cx="632610" cy="371513"/>
          </a:xfrm>
          <a:prstGeom prst="rect">
            <a:avLst/>
          </a:prstGeom>
        </p:spPr>
        <p:txBody>
          <a:bodyPr wrap="none" lIns="46800" tIns="46800" rIns="46800" bIns="468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rgbClr val="FFFF00"/>
                </a:solidFill>
                <a:latin typeface="+mn-lt"/>
              </a:rPr>
              <a:t>Enroll</a:t>
            </a:r>
            <a:endParaRPr lang="en-US" dirty="0">
              <a:solidFill>
                <a:srgbClr val="FFFF00"/>
              </a:solidFill>
              <a:latin typeface="+mn-lt"/>
            </a:endParaRPr>
          </a:p>
        </p:txBody>
      </p:sp>
      <p:grpSp>
        <p:nvGrpSpPr>
          <p:cNvPr id="81" name="Group 6"/>
          <p:cNvGrpSpPr>
            <a:grpSpLocks/>
          </p:cNvGrpSpPr>
          <p:nvPr/>
        </p:nvGrpSpPr>
        <p:grpSpPr bwMode="auto">
          <a:xfrm>
            <a:off x="5229203" y="2635249"/>
            <a:ext cx="288663" cy="267335"/>
            <a:chOff x="4880890" y="2895518"/>
            <a:chExt cx="288662" cy="267335"/>
          </a:xfrm>
        </p:grpSpPr>
        <p:cxnSp>
          <p:nvCxnSpPr>
            <p:cNvPr id="82" name="Straight Connector 81"/>
            <p:cNvCxnSpPr/>
            <p:nvPr/>
          </p:nvCxnSpPr>
          <p:spPr bwMode="auto">
            <a:xfrm>
              <a:off x="4895233" y="3025693"/>
              <a:ext cx="274319" cy="13716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 bwMode="auto">
            <a:xfrm flipH="1">
              <a:off x="4880890" y="2895518"/>
              <a:ext cx="274319" cy="13716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Oval 85"/>
          <p:cNvSpPr/>
          <p:nvPr/>
        </p:nvSpPr>
        <p:spPr>
          <a:xfrm>
            <a:off x="4953000" y="2586448"/>
            <a:ext cx="137160" cy="36576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sp>
        <p:nvSpPr>
          <p:cNvPr id="95" name="Rectangle 3"/>
          <p:cNvSpPr txBox="1">
            <a:spLocks noChangeArrowheads="1"/>
          </p:cNvSpPr>
          <p:nvPr/>
        </p:nvSpPr>
        <p:spPr bwMode="auto">
          <a:xfrm>
            <a:off x="838200" y="4108623"/>
            <a:ext cx="7704137" cy="1072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bg1"/>
                </a:solidFill>
              </a:rPr>
              <a:t>A course can accept </a:t>
            </a:r>
            <a:r>
              <a:rPr lang="en-US" altLang="en-US" sz="2000" u="sng" dirty="0">
                <a:solidFill>
                  <a:schemeClr val="bg1"/>
                </a:solidFill>
              </a:rPr>
              <a:t>zero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>
                <a:solidFill>
                  <a:srgbClr val="FFC000"/>
                </a:solidFill>
              </a:rPr>
              <a:t>(minimum)</a:t>
            </a:r>
            <a:r>
              <a:rPr lang="en-US" altLang="en-US" sz="2000" dirty="0">
                <a:solidFill>
                  <a:schemeClr val="bg1"/>
                </a:solidFill>
              </a:rPr>
              <a:t> or </a:t>
            </a:r>
            <a:r>
              <a:rPr lang="en-US" altLang="en-US" sz="2000" u="sng" dirty="0">
                <a:solidFill>
                  <a:schemeClr val="bg1"/>
                </a:solidFill>
              </a:rPr>
              <a:t>many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>
                <a:solidFill>
                  <a:srgbClr val="FFC000"/>
                </a:solidFill>
              </a:rPr>
              <a:t>(maximum) </a:t>
            </a:r>
            <a:r>
              <a:rPr lang="en-US" altLang="en-US" sz="2000" dirty="0">
                <a:solidFill>
                  <a:schemeClr val="bg1"/>
                </a:solidFill>
              </a:rPr>
              <a:t>students.</a:t>
            </a:r>
            <a:endParaRPr lang="en-US" altLang="en-US" sz="20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bg1"/>
                </a:solidFill>
              </a:rPr>
              <a:t>A student can enroll into </a:t>
            </a:r>
            <a:r>
              <a:rPr lang="en-US" altLang="en-US" sz="2000" u="sng" dirty="0">
                <a:solidFill>
                  <a:schemeClr val="bg1"/>
                </a:solidFill>
              </a:rPr>
              <a:t>one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>
                <a:solidFill>
                  <a:srgbClr val="FFC000"/>
                </a:solidFill>
              </a:rPr>
              <a:t>(minimum) </a:t>
            </a:r>
            <a:r>
              <a:rPr lang="en-US" altLang="en-US" sz="2000" dirty="0">
                <a:solidFill>
                  <a:schemeClr val="bg1"/>
                </a:solidFill>
              </a:rPr>
              <a:t>and </a:t>
            </a:r>
            <a:r>
              <a:rPr lang="en-US" altLang="en-US" sz="2000" u="sng" dirty="0">
                <a:solidFill>
                  <a:schemeClr val="bg1"/>
                </a:solidFill>
              </a:rPr>
              <a:t>only one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>
                <a:solidFill>
                  <a:srgbClr val="FFC000"/>
                </a:solidFill>
              </a:rPr>
              <a:t>(maximum</a:t>
            </a:r>
            <a:r>
              <a:rPr lang="en-US" altLang="en-US" sz="2000" dirty="0">
                <a:solidFill>
                  <a:schemeClr val="bg1"/>
                </a:solidFill>
              </a:rPr>
              <a:t>) course</a:t>
            </a:r>
            <a:r>
              <a:rPr lang="en-US" altLang="en-US" sz="2000" dirty="0" smtClean="0">
                <a:solidFill>
                  <a:schemeClr val="bg1"/>
                </a:solidFill>
              </a:rPr>
              <a:t>.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96" name="Rectangle 1"/>
          <p:cNvSpPr>
            <a:spLocks noChangeArrowheads="1"/>
          </p:cNvSpPr>
          <p:nvPr/>
        </p:nvSpPr>
        <p:spPr bwMode="auto">
          <a:xfrm>
            <a:off x="860840" y="1298573"/>
            <a:ext cx="3334302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400" b="1" dirty="0" smtClean="0">
                <a:solidFill>
                  <a:srgbClr val="FFFF00"/>
                </a:solidFill>
              </a:rPr>
              <a:t>Combined Interpretation</a:t>
            </a:r>
            <a:r>
              <a:rPr lang="en-SG" altLang="en-US" sz="2400" b="1" dirty="0">
                <a:solidFill>
                  <a:srgbClr val="FFFF00"/>
                </a:solidFill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49250"/>
            <a:ext cx="494865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Relationships &amp; Cardinalities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08" name="Rectangle 3"/>
          <p:cNvSpPr txBox="1">
            <a:spLocks noChangeArrowheads="1"/>
          </p:cNvSpPr>
          <p:nvPr/>
        </p:nvSpPr>
        <p:spPr bwMode="auto">
          <a:xfrm>
            <a:off x="693738" y="3706813"/>
            <a:ext cx="37242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chemeClr val="bg1"/>
                </a:solidFill>
              </a:rPr>
              <a:t>Three types of relationship: </a:t>
            </a:r>
            <a:endParaRPr lang="en-US" altLang="en-US" sz="2400" b="1" u="sng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424197"/>
              </p:ext>
            </p:extLst>
          </p:nvPr>
        </p:nvGraphicFramePr>
        <p:xfrm>
          <a:off x="525463" y="2971800"/>
          <a:ext cx="8237537" cy="320357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370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07"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Relationship</a:t>
                      </a:r>
                      <a:endParaRPr lang="en-SG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Notation</a:t>
                      </a:r>
                      <a:endParaRPr lang="en-SG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r>
                        <a:rPr lang="en-SG" sz="1800" dirty="0" smtClean="0"/>
                        <a:t>Instances in entity classes</a:t>
                      </a:r>
                      <a:endParaRPr lang="en-SG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23">
                <a:tc>
                  <a:txBody>
                    <a:bodyPr/>
                    <a:lstStyle/>
                    <a:p>
                      <a:endParaRPr lang="en-SG" sz="1800" dirty="0" smtClean="0"/>
                    </a:p>
                    <a:p>
                      <a:r>
                        <a:rPr lang="en-SG" sz="1800" b="1" dirty="0" smtClean="0">
                          <a:solidFill>
                            <a:srgbClr val="C00000"/>
                          </a:solidFill>
                        </a:rPr>
                        <a:t>1:1</a:t>
                      </a:r>
                      <a:r>
                        <a:rPr lang="en-SG" sz="1800" dirty="0" smtClean="0"/>
                        <a:t>, one-to-one</a:t>
                      </a:r>
                    </a:p>
                    <a:p>
                      <a:r>
                        <a:rPr lang="en-SG" sz="1800" dirty="0" smtClean="0"/>
                        <a:t>(one and only one)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23">
                <a:tc>
                  <a:txBody>
                    <a:bodyPr/>
                    <a:lstStyle/>
                    <a:p>
                      <a:endParaRPr lang="en-SG" sz="1800" dirty="0" smtClean="0"/>
                    </a:p>
                    <a:p>
                      <a:r>
                        <a:rPr lang="en-SG" sz="1800" b="1" dirty="0" smtClean="0">
                          <a:solidFill>
                            <a:srgbClr val="C00000"/>
                          </a:solidFill>
                        </a:rPr>
                        <a:t>1:N</a:t>
                      </a:r>
                      <a:r>
                        <a:rPr lang="en-SG" sz="1800" dirty="0" smtClean="0"/>
                        <a:t>,</a:t>
                      </a:r>
                      <a:r>
                        <a:rPr lang="en-SG" sz="1800" baseline="0" dirty="0" smtClean="0"/>
                        <a:t> one-to-many</a:t>
                      </a:r>
                    </a:p>
                    <a:p>
                      <a:endParaRPr lang="en-SG" sz="1800" baseline="0" dirty="0" smtClean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23">
                <a:tc>
                  <a:txBody>
                    <a:bodyPr/>
                    <a:lstStyle/>
                    <a:p>
                      <a:endParaRPr lang="en-SG" sz="1800" dirty="0" smtClean="0"/>
                    </a:p>
                    <a:p>
                      <a:r>
                        <a:rPr lang="en-SG" sz="1800" b="1" dirty="0" smtClean="0">
                          <a:solidFill>
                            <a:srgbClr val="C00000"/>
                          </a:solidFill>
                        </a:rPr>
                        <a:t>M:N</a:t>
                      </a:r>
                      <a:r>
                        <a:rPr lang="en-SG" sz="1800" dirty="0" smtClean="0"/>
                        <a:t>, many-to-many</a:t>
                      </a:r>
                    </a:p>
                    <a:p>
                      <a:endParaRPr lang="en-SG" sz="1800" dirty="0" smtClean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endParaRPr lang="en-SG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531" name="Group 7"/>
          <p:cNvGrpSpPr>
            <a:grpSpLocks/>
          </p:cNvGrpSpPr>
          <p:nvPr/>
        </p:nvGrpSpPr>
        <p:grpSpPr bwMode="auto">
          <a:xfrm>
            <a:off x="3027363" y="5446713"/>
            <a:ext cx="2593975" cy="433387"/>
            <a:chOff x="3027361" y="3516690"/>
            <a:chExt cx="2593977" cy="433387"/>
          </a:xfrm>
        </p:grpSpPr>
        <p:sp>
          <p:nvSpPr>
            <p:cNvPr id="58" name="Text Box 4"/>
            <p:cNvSpPr txBox="1">
              <a:spLocks noChangeArrowheads="1"/>
            </p:cNvSpPr>
            <p:nvPr/>
          </p:nvSpPr>
          <p:spPr bwMode="auto">
            <a:xfrm>
              <a:off x="3027361" y="3642102"/>
              <a:ext cx="876301" cy="3079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STUDENTS</a:t>
              </a:r>
            </a:p>
          </p:txBody>
        </p:sp>
        <p:sp>
          <p:nvSpPr>
            <p:cNvPr id="21576" name="Text Box 4"/>
            <p:cNvSpPr txBox="1">
              <a:spLocks noChangeArrowheads="1"/>
            </p:cNvSpPr>
            <p:nvPr/>
          </p:nvSpPr>
          <p:spPr bwMode="auto">
            <a:xfrm>
              <a:off x="4770438" y="3640515"/>
              <a:ext cx="850900" cy="306387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MODULES</a:t>
              </a:r>
            </a:p>
          </p:txBody>
        </p:sp>
        <p:grpSp>
          <p:nvGrpSpPr>
            <p:cNvPr id="21577" name="Group 12"/>
            <p:cNvGrpSpPr>
              <a:grpSpLocks/>
            </p:cNvGrpSpPr>
            <p:nvPr/>
          </p:nvGrpSpPr>
          <p:grpSpPr bwMode="auto">
            <a:xfrm>
              <a:off x="3890962" y="3516690"/>
              <a:ext cx="885175" cy="384175"/>
              <a:chOff x="3845625" y="2057400"/>
              <a:chExt cx="886241" cy="384175"/>
            </a:xfrm>
          </p:grpSpPr>
          <p:cxnSp>
            <p:nvCxnSpPr>
              <p:cNvPr id="61" name="Straight Connector 60"/>
              <p:cNvCxnSpPr/>
              <p:nvPr/>
            </p:nvCxnSpPr>
            <p:spPr bwMode="auto">
              <a:xfrm>
                <a:off x="3848804" y="2347912"/>
                <a:ext cx="88371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>
                <a:off x="4090395" y="2255837"/>
                <a:ext cx="0" cy="1809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Rectangle 62"/>
              <p:cNvSpPr/>
              <p:nvPr/>
            </p:nvSpPr>
            <p:spPr bwMode="auto">
              <a:xfrm>
                <a:off x="4066553" y="2057400"/>
                <a:ext cx="452983" cy="279400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200" dirty="0">
                    <a:latin typeface="+mn-lt"/>
                  </a:rPr>
                  <a:t>Enroll</a:t>
                </a:r>
              </a:p>
            </p:txBody>
          </p:sp>
          <p:grpSp>
            <p:nvGrpSpPr>
              <p:cNvPr id="21581" name="Group 121"/>
              <p:cNvGrpSpPr>
                <a:grpSpLocks/>
              </p:cNvGrpSpPr>
              <p:nvPr/>
            </p:nvGrpSpPr>
            <p:grpSpPr bwMode="auto">
              <a:xfrm>
                <a:off x="4498990" y="2260600"/>
                <a:ext cx="231675" cy="180975"/>
                <a:chOff x="4542828" y="6078777"/>
                <a:chExt cx="232220" cy="180749"/>
              </a:xfrm>
            </p:grpSpPr>
            <p:cxnSp>
              <p:nvCxnSpPr>
                <p:cNvPr id="67" name="Straight Connector 66"/>
                <p:cNvCxnSpPr/>
                <p:nvPr/>
              </p:nvCxnSpPr>
              <p:spPr>
                <a:xfrm>
                  <a:off x="4542712" y="6078777"/>
                  <a:ext cx="0" cy="1807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1585" name="Group 128"/>
                <p:cNvGrpSpPr>
                  <a:grpSpLocks/>
                </p:cNvGrpSpPr>
                <p:nvPr/>
              </p:nvGrpSpPr>
              <p:grpSpPr bwMode="auto">
                <a:xfrm flipH="1">
                  <a:off x="4593724" y="6089876"/>
                  <a:ext cx="181324" cy="158552"/>
                  <a:chOff x="4597572" y="5649742"/>
                  <a:chExt cx="181324" cy="158552"/>
                </a:xfrm>
              </p:grpSpPr>
              <p:cxnSp>
                <p:nvCxnSpPr>
                  <p:cNvPr id="69" name="Straight Connector 68"/>
                  <p:cNvCxnSpPr/>
                  <p:nvPr/>
                </p:nvCxnSpPr>
                <p:spPr>
                  <a:xfrm>
                    <a:off x="4598901" y="5649741"/>
                    <a:ext cx="180026" cy="7134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/>
                  <p:cNvCxnSpPr/>
                  <p:nvPr/>
                </p:nvCxnSpPr>
                <p:spPr>
                  <a:xfrm flipV="1">
                    <a:off x="4597308" y="5736945"/>
                    <a:ext cx="180025" cy="7134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850393" y="2351087"/>
                <a:ext cx="179604" cy="7143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 flipH="1" flipV="1">
                <a:off x="3845625" y="2276475"/>
                <a:ext cx="179603" cy="7143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532" name="Group 6"/>
          <p:cNvGrpSpPr>
            <a:grpSpLocks/>
          </p:cNvGrpSpPr>
          <p:nvPr/>
        </p:nvGrpSpPr>
        <p:grpSpPr bwMode="auto">
          <a:xfrm>
            <a:off x="2976563" y="4508500"/>
            <a:ext cx="2760662" cy="433388"/>
            <a:chOff x="2976562" y="2602289"/>
            <a:chExt cx="2760663" cy="433388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2976562" y="2727702"/>
              <a:ext cx="1023937" cy="3079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CUSTOMERS</a:t>
              </a:r>
            </a:p>
          </p:txBody>
        </p:sp>
        <p:sp>
          <p:nvSpPr>
            <p:cNvPr id="21563" name="Text Box 4"/>
            <p:cNvSpPr txBox="1">
              <a:spLocks noChangeArrowheads="1"/>
            </p:cNvSpPr>
            <p:nvPr/>
          </p:nvSpPr>
          <p:spPr bwMode="auto">
            <a:xfrm>
              <a:off x="4819650" y="2724527"/>
              <a:ext cx="917575" cy="307975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ACCOUNTS</a:t>
              </a:r>
            </a:p>
          </p:txBody>
        </p:sp>
        <p:grpSp>
          <p:nvGrpSpPr>
            <p:cNvPr id="21564" name="Group 8"/>
            <p:cNvGrpSpPr>
              <a:grpSpLocks/>
            </p:cNvGrpSpPr>
            <p:nvPr/>
          </p:nvGrpSpPr>
          <p:grpSpPr bwMode="auto">
            <a:xfrm>
              <a:off x="3987800" y="2602289"/>
              <a:ext cx="842962" cy="390525"/>
              <a:chOff x="5941319" y="4340320"/>
              <a:chExt cx="843362" cy="390277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>
                <a:off x="5941318" y="4630649"/>
                <a:ext cx="82906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566" name="Group 115"/>
              <p:cNvGrpSpPr>
                <a:grpSpLocks/>
              </p:cNvGrpSpPr>
              <p:nvPr/>
            </p:nvGrpSpPr>
            <p:grpSpPr bwMode="auto">
              <a:xfrm>
                <a:off x="6012810" y="4549730"/>
                <a:ext cx="83290" cy="180867"/>
                <a:chOff x="5715558" y="6400044"/>
                <a:chExt cx="83445" cy="180756"/>
              </a:xfrm>
            </p:grpSpPr>
            <p:cxnSp>
              <p:nvCxnSpPr>
                <p:cNvPr id="56" name="Straight Connector 55"/>
                <p:cNvCxnSpPr/>
                <p:nvPr/>
              </p:nvCxnSpPr>
              <p:spPr>
                <a:xfrm>
                  <a:off x="5715538" y="6400051"/>
                  <a:ext cx="0" cy="1807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5798281" y="6400051"/>
                  <a:ext cx="0" cy="1807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Rectangle 49"/>
              <p:cNvSpPr/>
              <p:nvPr/>
            </p:nvSpPr>
            <p:spPr bwMode="auto">
              <a:xfrm>
                <a:off x="6100143" y="4340320"/>
                <a:ext cx="506653" cy="279223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200" dirty="0">
                    <a:latin typeface="+mn-lt"/>
                  </a:rPr>
                  <a:t>Set Up</a:t>
                </a:r>
              </a:p>
            </p:txBody>
          </p:sp>
          <p:grpSp>
            <p:nvGrpSpPr>
              <p:cNvPr id="21568" name="Group 121"/>
              <p:cNvGrpSpPr>
                <a:grpSpLocks/>
              </p:cNvGrpSpPr>
              <p:nvPr/>
            </p:nvGrpSpPr>
            <p:grpSpPr bwMode="auto">
              <a:xfrm>
                <a:off x="6576620" y="4543391"/>
                <a:ext cx="208061" cy="180860"/>
                <a:chOff x="4539614" y="6078776"/>
                <a:chExt cx="208451" cy="180749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4539613" y="6078776"/>
                  <a:ext cx="0" cy="18074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1570" name="Group 128"/>
                <p:cNvGrpSpPr>
                  <a:grpSpLocks/>
                </p:cNvGrpSpPr>
                <p:nvPr/>
              </p:nvGrpSpPr>
              <p:grpSpPr bwMode="auto">
                <a:xfrm flipH="1">
                  <a:off x="4566664" y="6093046"/>
                  <a:ext cx="181401" cy="155381"/>
                  <a:chOff x="4624555" y="5652912"/>
                  <a:chExt cx="181401" cy="155381"/>
                </a:xfrm>
              </p:grpSpPr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4626147" y="5652912"/>
                    <a:ext cx="179809" cy="7134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V="1">
                    <a:off x="4624555" y="5736944"/>
                    <a:ext cx="179810" cy="7134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1533" name="Group 5"/>
          <p:cNvGrpSpPr>
            <a:grpSpLocks/>
          </p:cNvGrpSpPr>
          <p:nvPr/>
        </p:nvGrpSpPr>
        <p:grpSpPr bwMode="auto">
          <a:xfrm>
            <a:off x="3025775" y="3584575"/>
            <a:ext cx="2640013" cy="466725"/>
            <a:chOff x="3025772" y="1654552"/>
            <a:chExt cx="2640013" cy="466725"/>
          </a:xfrm>
        </p:grpSpPr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3025772" y="1814890"/>
              <a:ext cx="976313" cy="30638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EMPLOYEES</a:t>
              </a:r>
            </a:p>
          </p:txBody>
        </p:sp>
        <p:sp>
          <p:nvSpPr>
            <p:cNvPr id="21552" name="Text Box 4"/>
            <p:cNvSpPr txBox="1">
              <a:spLocks noChangeArrowheads="1"/>
            </p:cNvSpPr>
            <p:nvPr/>
          </p:nvSpPr>
          <p:spPr bwMode="auto">
            <a:xfrm>
              <a:off x="4821235" y="1800602"/>
              <a:ext cx="844550" cy="306387"/>
            </a:xfrm>
            <a:prstGeom prst="rect">
              <a:avLst/>
            </a:prstGeom>
            <a:solidFill>
              <a:srgbClr val="FFCC66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PAYCHECK</a:t>
              </a:r>
            </a:p>
          </p:txBody>
        </p:sp>
        <p:grpSp>
          <p:nvGrpSpPr>
            <p:cNvPr id="21553" name="Group 4"/>
            <p:cNvGrpSpPr>
              <a:grpSpLocks/>
            </p:cNvGrpSpPr>
            <p:nvPr/>
          </p:nvGrpSpPr>
          <p:grpSpPr bwMode="auto">
            <a:xfrm>
              <a:off x="3995735" y="1654552"/>
              <a:ext cx="828675" cy="414337"/>
              <a:chOff x="5941319" y="3086861"/>
              <a:chExt cx="827949" cy="414344"/>
            </a:xfrm>
          </p:grpSpPr>
          <p:cxnSp>
            <p:nvCxnSpPr>
              <p:cNvPr id="15" name="Straight Connector 14"/>
              <p:cNvCxnSpPr/>
              <p:nvPr/>
            </p:nvCxnSpPr>
            <p:spPr bwMode="auto">
              <a:xfrm>
                <a:off x="5941319" y="3399604"/>
                <a:ext cx="82794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555" name="Group 115"/>
              <p:cNvGrpSpPr>
                <a:grpSpLocks/>
              </p:cNvGrpSpPr>
              <p:nvPr/>
            </p:nvGrpSpPr>
            <p:grpSpPr bwMode="auto">
              <a:xfrm>
                <a:off x="6019101" y="3320560"/>
                <a:ext cx="77783" cy="180645"/>
                <a:chOff x="5714709" y="6402610"/>
                <a:chExt cx="77929" cy="180534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5714646" y="6402278"/>
                  <a:ext cx="0" cy="18086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5792512" y="6402278"/>
                  <a:ext cx="0" cy="18086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Rectangle 16"/>
              <p:cNvSpPr/>
              <p:nvPr/>
            </p:nvSpPr>
            <p:spPr bwMode="auto">
              <a:xfrm>
                <a:off x="6088827" y="3086861"/>
                <a:ext cx="574172" cy="279405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200" dirty="0">
                    <a:latin typeface="+mn-lt"/>
                  </a:rPr>
                  <a:t>Receive</a:t>
                </a:r>
              </a:p>
            </p:txBody>
          </p:sp>
          <p:grpSp>
            <p:nvGrpSpPr>
              <p:cNvPr id="21557" name="Group 115"/>
              <p:cNvGrpSpPr>
                <a:grpSpLocks/>
              </p:cNvGrpSpPr>
              <p:nvPr/>
            </p:nvGrpSpPr>
            <p:grpSpPr bwMode="auto">
              <a:xfrm>
                <a:off x="6599174" y="3318975"/>
                <a:ext cx="77798" cy="180645"/>
                <a:chOff x="5266332" y="6402576"/>
                <a:chExt cx="77909" cy="180533"/>
              </a:xfrm>
            </p:grpSpPr>
            <p:cxnSp>
              <p:nvCxnSpPr>
                <p:cNvPr id="19" name="Straight Connector 18"/>
                <p:cNvCxnSpPr/>
                <p:nvPr/>
              </p:nvCxnSpPr>
              <p:spPr>
                <a:xfrm>
                  <a:off x="5266712" y="6402241"/>
                  <a:ext cx="0" cy="18086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5344543" y="6402241"/>
                  <a:ext cx="0" cy="18086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21534" name="Picture 2" descr="http://port.sas.ac.uk/pluginfile.php/233/mod_book/chapter/140/10%20Image%20D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4" t="28224" r="7326" b="34846"/>
          <a:stretch>
            <a:fillRect/>
          </a:stretch>
        </p:blipFill>
        <p:spPr bwMode="auto">
          <a:xfrm>
            <a:off x="5929313" y="4195763"/>
            <a:ext cx="2667000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5" name="Picture 2" descr="http://port.sas.ac.uk/pluginfile.php/233/mod_book/chapter/140/10%20Image%20D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4" t="774" r="16614" b="74467"/>
          <a:stretch>
            <a:fillRect/>
          </a:stretch>
        </p:blipFill>
        <p:spPr bwMode="auto">
          <a:xfrm>
            <a:off x="5891213" y="3448050"/>
            <a:ext cx="26638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6" name="Picture 2" descr="http://port.sas.ac.uk/pluginfile.php/233/mod_book/chapter/140/10%20Image%20D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4" t="63556" r="7326"/>
          <a:stretch>
            <a:fillRect/>
          </a:stretch>
        </p:blipFill>
        <p:spPr bwMode="auto">
          <a:xfrm>
            <a:off x="5891213" y="5237163"/>
            <a:ext cx="2667000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 Box 3"/>
          <p:cNvSpPr txBox="1">
            <a:spLocks noChangeArrowheads="1"/>
          </p:cNvSpPr>
          <p:nvPr/>
        </p:nvSpPr>
        <p:spPr bwMode="auto">
          <a:xfrm>
            <a:off x="580029" y="3400425"/>
            <a:ext cx="1258284" cy="31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SG" altLang="en-US" sz="1600" dirty="0" smtClean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(Max ---- Max)</a:t>
            </a:r>
            <a:endParaRPr lang="en-SG" altLang="en-US" sz="1600" dirty="0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 bwMode="auto">
          <a:xfrm>
            <a:off x="4073856" y="3792752"/>
            <a:ext cx="0" cy="219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 bwMode="auto">
          <a:xfrm>
            <a:off x="4724400" y="3787064"/>
            <a:ext cx="0" cy="219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 bwMode="auto">
          <a:xfrm>
            <a:off x="4065896" y="4701464"/>
            <a:ext cx="0" cy="2194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663664" y="4704117"/>
            <a:ext cx="165600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4589005" y="5652291"/>
            <a:ext cx="180000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3888800" y="5740400"/>
            <a:ext cx="180000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649788" y="4803776"/>
            <a:ext cx="166687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902256" y="5651837"/>
            <a:ext cx="166687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595711" y="5739377"/>
            <a:ext cx="166687" cy="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09600" y="1066800"/>
            <a:ext cx="7947546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In modelling, we shall focus on the maximum cardinalities in both entities. In this </a:t>
            </a:r>
            <a:r>
              <a:rPr lang="en-US" altLang="en-US" sz="2400" dirty="0" smtClean="0">
                <a:solidFill>
                  <a:schemeClr val="bg1"/>
                </a:solidFill>
                <a:latin typeface="Calibri" panose="020F0502020204030204" pitchFamily="34" charset="0"/>
              </a:rPr>
              <a:t>example;</a:t>
            </a:r>
          </a:p>
          <a:p>
            <a:pPr marL="273050">
              <a:spcBef>
                <a:spcPts val="600"/>
              </a:spcBef>
            </a:pPr>
            <a:r>
              <a:rPr lang="en-US" altLang="en-US" sz="2400" dirty="0" smtClean="0">
                <a:solidFill>
                  <a:schemeClr val="bg1"/>
                </a:solidFill>
                <a:latin typeface="Calibri" panose="020F0502020204030204" pitchFamily="34" charset="0"/>
              </a:rPr>
              <a:t>- The </a:t>
            </a:r>
            <a:r>
              <a:rPr lang="en-US" altLang="en-US" sz="2400" dirty="0">
                <a:solidFill>
                  <a:srgbClr val="FFC000"/>
                </a:solidFill>
                <a:latin typeface="Calibri" panose="020F0502020204030204" pitchFamily="34" charset="0"/>
              </a:rPr>
              <a:t>one-to-many</a:t>
            </a:r>
            <a:r>
              <a:rPr lang="en-US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or </a:t>
            </a:r>
            <a:r>
              <a:rPr lang="en-US" altLang="en-US" sz="2400" dirty="0">
                <a:solidFill>
                  <a:srgbClr val="FFC000"/>
                </a:solidFill>
                <a:latin typeface="Calibri" panose="020F0502020204030204" pitchFamily="34" charset="0"/>
              </a:rPr>
              <a:t>many-to-one</a:t>
            </a:r>
            <a:r>
              <a:rPr lang="en-US" altLang="en-US" sz="2400" dirty="0">
                <a:solidFill>
                  <a:schemeClr val="bg1"/>
                </a:solidFill>
                <a:latin typeface="Calibri" panose="020F0502020204030204" pitchFamily="34" charset="0"/>
              </a:rPr>
              <a:t> type of relationship </a:t>
            </a:r>
            <a:r>
              <a:rPr lang="en-US" altLang="en-US" sz="2400" dirty="0">
                <a:solidFill>
                  <a:srgbClr val="FFFF00"/>
                </a:solidFill>
                <a:latin typeface="Calibri" panose="020F0502020204030204" pitchFamily="34" charset="0"/>
              </a:rPr>
              <a:t>(referring to the maximum cardinalities only).</a:t>
            </a:r>
            <a:endParaRPr lang="en-US" altLang="en-US" sz="2400" u="sng" dirty="0">
              <a:solidFill>
                <a:srgbClr val="FFFF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13865"/>
            <a:ext cx="5586841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Rectangle 3"/>
          <p:cNvSpPr txBox="1">
            <a:spLocks noChangeArrowheads="1"/>
          </p:cNvSpPr>
          <p:nvPr/>
        </p:nvSpPr>
        <p:spPr bwMode="auto">
          <a:xfrm>
            <a:off x="685800" y="1295400"/>
            <a:ext cx="5250595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/>
            </a:pPr>
            <a:r>
              <a:rPr lang="en-US" altLang="en-US" sz="2400" b="1" dirty="0" smtClean="0">
                <a:solidFill>
                  <a:schemeClr val="bg1"/>
                </a:solidFill>
              </a:rPr>
              <a:t>One-to-One</a:t>
            </a:r>
            <a:r>
              <a:rPr lang="en-US" altLang="en-US" sz="2400" dirty="0" smtClean="0">
                <a:solidFill>
                  <a:schemeClr val="bg1"/>
                </a:solidFill>
              </a:rPr>
              <a:t> (1 : 1), One and only one)</a:t>
            </a:r>
            <a:r>
              <a:rPr lang="en-US" altLang="en-US" sz="2400" b="1" dirty="0" smtClean="0">
                <a:solidFill>
                  <a:schemeClr val="bg1"/>
                </a:solidFill>
              </a:rPr>
              <a:t>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990600" y="2274015"/>
            <a:ext cx="1097280" cy="4572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wrap="none" lIns="46800" rIns="4680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en-US" sz="1400" b="1" dirty="0" smtClean="0">
                <a:solidFill>
                  <a:srgbClr val="060606"/>
                </a:solidFill>
                <a:ea typeface="Calibri" pitchFamily="34" charset="0"/>
                <a:cs typeface="Calibri" pitchFamily="34" charset="0"/>
              </a:rPr>
              <a:t>EMPLOYEES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3683206" y="2283540"/>
            <a:ext cx="1005840" cy="457200"/>
          </a:xfrm>
          <a:prstGeom prst="rect">
            <a:avLst/>
          </a:prstGeom>
          <a:solidFill>
            <a:srgbClr val="FFCC66"/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wrap="none" lIns="46800" r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en-US" altLang="en-US" sz="1400" b="1" dirty="0">
                <a:solidFill>
                  <a:srgbClr val="06060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PAYCHECK</a:t>
            </a:r>
          </a:p>
        </p:txBody>
      </p:sp>
      <p:grpSp>
        <p:nvGrpSpPr>
          <p:cNvPr id="23558" name="Group 4"/>
          <p:cNvGrpSpPr>
            <a:grpSpLocks/>
          </p:cNvGrpSpPr>
          <p:nvPr/>
        </p:nvGrpSpPr>
        <p:grpSpPr bwMode="auto">
          <a:xfrm>
            <a:off x="2057403" y="2180351"/>
            <a:ext cx="1645920" cy="426969"/>
            <a:chOff x="5571448" y="3086861"/>
            <a:chExt cx="1645816" cy="426191"/>
          </a:xfrm>
        </p:grpSpPr>
        <p:cxnSp>
          <p:nvCxnSpPr>
            <p:cNvPr id="15" name="Straight Connector 14"/>
            <p:cNvCxnSpPr/>
            <p:nvPr/>
          </p:nvCxnSpPr>
          <p:spPr bwMode="auto">
            <a:xfrm>
              <a:off x="5571448" y="3399029"/>
              <a:ext cx="1645816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584" name="Group 115"/>
            <p:cNvGrpSpPr>
              <a:grpSpLocks/>
            </p:cNvGrpSpPr>
            <p:nvPr/>
          </p:nvGrpSpPr>
          <p:grpSpPr bwMode="auto">
            <a:xfrm>
              <a:off x="5723882" y="3293996"/>
              <a:ext cx="169592" cy="219056"/>
              <a:chOff x="5418893" y="6376051"/>
              <a:chExt cx="169909" cy="218921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5418893" y="6376051"/>
                <a:ext cx="0" cy="218921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588802" y="6376051"/>
                <a:ext cx="0" cy="218921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" name="Rectangle 16"/>
            <p:cNvSpPr/>
            <p:nvPr/>
          </p:nvSpPr>
          <p:spPr bwMode="auto">
            <a:xfrm>
              <a:off x="6160381" y="3086861"/>
              <a:ext cx="655460" cy="309393"/>
            </a:xfrm>
            <a:prstGeom prst="rect">
              <a:avLst/>
            </a:prstGeom>
            <a:ln w="28575">
              <a:noFill/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  <a:latin typeface="+mn-lt"/>
                </a:rPr>
                <a:t>Receive</a:t>
              </a:r>
            </a:p>
          </p:txBody>
        </p:sp>
        <p:grpSp>
          <p:nvGrpSpPr>
            <p:cNvPr id="23586" name="Group 115"/>
            <p:cNvGrpSpPr>
              <a:grpSpLocks/>
            </p:cNvGrpSpPr>
            <p:nvPr/>
          </p:nvGrpSpPr>
          <p:grpSpPr bwMode="auto">
            <a:xfrm>
              <a:off x="6910986" y="3292406"/>
              <a:ext cx="184340" cy="219056"/>
              <a:chOff x="5581036" y="6376017"/>
              <a:chExt cx="184684" cy="21892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5581036" y="6376017"/>
                <a:ext cx="0" cy="21892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765720" y="6376017"/>
                <a:ext cx="0" cy="21892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5553075" y="3023315"/>
            <a:ext cx="1944688" cy="3527425"/>
            <a:chOff x="5553075" y="2162300"/>
            <a:chExt cx="1944688" cy="3527300"/>
          </a:xfrm>
        </p:grpSpPr>
        <p:sp>
          <p:nvSpPr>
            <p:cNvPr id="23575" name="Oval 9"/>
            <p:cNvSpPr>
              <a:spLocks noChangeArrowheads="1"/>
            </p:cNvSpPr>
            <p:nvPr/>
          </p:nvSpPr>
          <p:spPr bwMode="auto">
            <a:xfrm>
              <a:off x="5553075" y="2565400"/>
              <a:ext cx="1944688" cy="31242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28575">
              <a:solidFill>
                <a:srgbClr val="FFC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5867400" y="5022874"/>
              <a:ext cx="533400" cy="409560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b4</a:t>
              </a:r>
            </a:p>
          </p:txBody>
        </p:sp>
        <p:sp>
          <p:nvSpPr>
            <p:cNvPr id="44" name="Text Box 11"/>
            <p:cNvSpPr txBox="1">
              <a:spLocks noChangeArrowheads="1"/>
            </p:cNvSpPr>
            <p:nvPr/>
          </p:nvSpPr>
          <p:spPr bwMode="auto">
            <a:xfrm>
              <a:off x="5867400" y="4260901"/>
              <a:ext cx="533400" cy="409560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b3</a:t>
              </a:r>
            </a:p>
          </p:txBody>
        </p: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>
              <a:off x="5867400" y="3498928"/>
              <a:ext cx="533400" cy="409560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b2</a:t>
              </a:r>
            </a:p>
          </p:txBody>
        </p:sp>
        <p:sp>
          <p:nvSpPr>
            <p:cNvPr id="48" name="Text Box 13"/>
            <p:cNvSpPr txBox="1">
              <a:spLocks noChangeArrowheads="1"/>
            </p:cNvSpPr>
            <p:nvPr/>
          </p:nvSpPr>
          <p:spPr bwMode="auto">
            <a:xfrm>
              <a:off x="5867400" y="2736955"/>
              <a:ext cx="533400" cy="409560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b1</a:t>
              </a:r>
            </a:p>
          </p:txBody>
        </p:sp>
        <p:sp>
          <p:nvSpPr>
            <p:cNvPr id="23580" name="TextBox 18"/>
            <p:cNvSpPr txBox="1">
              <a:spLocks noChangeArrowheads="1"/>
            </p:cNvSpPr>
            <p:nvPr/>
          </p:nvSpPr>
          <p:spPr bwMode="auto">
            <a:xfrm>
              <a:off x="5747292" y="2162300"/>
              <a:ext cx="1476879" cy="2646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ea typeface="Calibri" panose="020F0502020204030204" pitchFamily="34" charset="0"/>
                  <a:cs typeface="Calibri" panose="020F0502020204030204" pitchFamily="34" charset="0"/>
                </a:rPr>
                <a:t>Entity: PAYCHECK</a:t>
              </a:r>
              <a:endParaRPr lang="en-US" altLang="en-US" sz="1600" b="1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81" name="TextBox 20"/>
            <p:cNvSpPr txBox="1">
              <a:spLocks noChangeArrowheads="1"/>
            </p:cNvSpPr>
            <p:nvPr/>
          </p:nvSpPr>
          <p:spPr bwMode="auto">
            <a:xfrm>
              <a:off x="6553200" y="2794000"/>
              <a:ext cx="835025" cy="265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PC_PR-02</a:t>
              </a:r>
              <a:endParaRPr lang="en-US" altLang="en-US" sz="1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82" name="TextBox 20"/>
            <p:cNvSpPr txBox="1">
              <a:spLocks noChangeArrowheads="1"/>
            </p:cNvSpPr>
            <p:nvPr/>
          </p:nvSpPr>
          <p:spPr bwMode="auto">
            <a:xfrm>
              <a:off x="6553200" y="4306888"/>
              <a:ext cx="855663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PC_RH-02</a:t>
              </a:r>
              <a:endPara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560" name="Group 1"/>
          <p:cNvGrpSpPr>
            <a:grpSpLocks/>
          </p:cNvGrpSpPr>
          <p:nvPr/>
        </p:nvGrpSpPr>
        <p:grpSpPr bwMode="auto">
          <a:xfrm>
            <a:off x="1828800" y="2994740"/>
            <a:ext cx="1619250" cy="3498850"/>
            <a:chOff x="1828800" y="2133600"/>
            <a:chExt cx="1619250" cy="3498850"/>
          </a:xfrm>
        </p:grpSpPr>
        <p:sp>
          <p:nvSpPr>
            <p:cNvPr id="23565" name="Oval 4"/>
            <p:cNvSpPr>
              <a:spLocks noChangeArrowheads="1"/>
            </p:cNvSpPr>
            <p:nvPr/>
          </p:nvSpPr>
          <p:spPr bwMode="auto">
            <a:xfrm>
              <a:off x="1828800" y="2584450"/>
              <a:ext cx="1619250" cy="30480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28575">
              <a:solidFill>
                <a:srgbClr val="FFC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66" name="Text Box 5"/>
            <p:cNvSpPr txBox="1">
              <a:spLocks noChangeArrowheads="1"/>
            </p:cNvSpPr>
            <p:nvPr/>
          </p:nvSpPr>
          <p:spPr bwMode="auto">
            <a:xfrm>
              <a:off x="2743200" y="50228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a4</a:t>
              </a:r>
            </a:p>
          </p:txBody>
        </p:sp>
        <p:sp>
          <p:nvSpPr>
            <p:cNvPr id="23567" name="Text Box 6"/>
            <p:cNvSpPr txBox="1">
              <a:spLocks noChangeArrowheads="1"/>
            </p:cNvSpPr>
            <p:nvPr/>
          </p:nvSpPr>
          <p:spPr bwMode="auto">
            <a:xfrm>
              <a:off x="2743200" y="42608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23568" name="Text Box 7"/>
            <p:cNvSpPr txBox="1">
              <a:spLocks noChangeArrowheads="1"/>
            </p:cNvSpPr>
            <p:nvPr/>
          </p:nvSpPr>
          <p:spPr bwMode="auto">
            <a:xfrm>
              <a:off x="2743200" y="34988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23569" name="Text Box 8"/>
            <p:cNvSpPr txBox="1">
              <a:spLocks noChangeArrowheads="1"/>
            </p:cNvSpPr>
            <p:nvPr/>
          </p:nvSpPr>
          <p:spPr bwMode="auto">
            <a:xfrm>
              <a:off x="2743200" y="27368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23570" name="TextBox 17"/>
            <p:cNvSpPr txBox="1">
              <a:spLocks noChangeArrowheads="1"/>
            </p:cNvSpPr>
            <p:nvPr/>
          </p:nvSpPr>
          <p:spPr bwMode="auto">
            <a:xfrm>
              <a:off x="1828800" y="2133600"/>
              <a:ext cx="1527662" cy="2646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ea typeface="Calibri" panose="020F0502020204030204" pitchFamily="34" charset="0"/>
                  <a:cs typeface="Calibri" panose="020F0502020204030204" pitchFamily="34" charset="0"/>
                </a:rPr>
                <a:t>Entity: EMPLOYEE</a:t>
              </a:r>
              <a:endParaRPr lang="en-US" altLang="en-US" sz="1600" b="1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71" name="TextBox 19"/>
            <p:cNvSpPr txBox="1">
              <a:spLocks noChangeArrowheads="1"/>
            </p:cNvSpPr>
            <p:nvPr/>
          </p:nvSpPr>
          <p:spPr bwMode="auto">
            <a:xfrm>
              <a:off x="2133600" y="2794000"/>
              <a:ext cx="515938" cy="265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Peter </a:t>
              </a:r>
              <a:endPara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72" name="TextBox 19"/>
            <p:cNvSpPr txBox="1">
              <a:spLocks noChangeArrowheads="1"/>
            </p:cNvSpPr>
            <p:nvPr/>
          </p:nvSpPr>
          <p:spPr bwMode="auto">
            <a:xfrm>
              <a:off x="1981200" y="3544888"/>
              <a:ext cx="741363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Rosidah </a:t>
              </a:r>
              <a:endPara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73" name="TextBox 19"/>
            <p:cNvSpPr txBox="1">
              <a:spLocks noChangeArrowheads="1"/>
            </p:cNvSpPr>
            <p:nvPr/>
          </p:nvSpPr>
          <p:spPr bwMode="auto">
            <a:xfrm>
              <a:off x="1863725" y="4319588"/>
              <a:ext cx="828675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Raymond</a:t>
              </a:r>
              <a:endPara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74" name="TextBox 19"/>
            <p:cNvSpPr txBox="1">
              <a:spLocks noChangeArrowheads="1"/>
            </p:cNvSpPr>
            <p:nvPr/>
          </p:nvSpPr>
          <p:spPr bwMode="auto">
            <a:xfrm>
              <a:off x="2205038" y="5081588"/>
              <a:ext cx="473075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Kelly </a:t>
              </a:r>
              <a:endParaRPr lang="en-US" altLang="en-US" sz="16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474" name="Line 14"/>
          <p:cNvSpPr>
            <a:spLocks noChangeShapeType="1"/>
          </p:cNvSpPr>
          <p:nvPr/>
        </p:nvSpPr>
        <p:spPr bwMode="auto">
          <a:xfrm>
            <a:off x="3429000" y="3826590"/>
            <a:ext cx="228600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475" name="Line 15"/>
          <p:cNvSpPr>
            <a:spLocks noChangeShapeType="1"/>
          </p:cNvSpPr>
          <p:nvPr/>
        </p:nvSpPr>
        <p:spPr bwMode="auto">
          <a:xfrm>
            <a:off x="3320844" y="4607640"/>
            <a:ext cx="2468880" cy="719138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476" name="Line 16"/>
          <p:cNvSpPr>
            <a:spLocks noChangeShapeType="1"/>
          </p:cNvSpPr>
          <p:nvPr/>
        </p:nvSpPr>
        <p:spPr bwMode="auto">
          <a:xfrm flipV="1">
            <a:off x="3318336" y="4564778"/>
            <a:ext cx="2468880" cy="785812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477" name="Line 17"/>
          <p:cNvSpPr>
            <a:spLocks noChangeShapeType="1"/>
          </p:cNvSpPr>
          <p:nvPr/>
        </p:nvSpPr>
        <p:spPr bwMode="auto">
          <a:xfrm>
            <a:off x="3351007" y="6112590"/>
            <a:ext cx="237744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39" name="TextBox 20"/>
          <p:cNvSpPr txBox="1">
            <a:spLocks noChangeArrowheads="1"/>
          </p:cNvSpPr>
          <p:nvPr/>
        </p:nvSpPr>
        <p:spPr bwMode="auto">
          <a:xfrm>
            <a:off x="6553200" y="4456818"/>
            <a:ext cx="855234" cy="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PC_RD-03</a:t>
            </a:r>
            <a:endParaRPr lang="en-US" altLang="en-US" sz="16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20"/>
          <p:cNvSpPr txBox="1">
            <a:spLocks noChangeArrowheads="1"/>
          </p:cNvSpPr>
          <p:nvPr/>
        </p:nvSpPr>
        <p:spPr bwMode="auto">
          <a:xfrm>
            <a:off x="6573409" y="5942718"/>
            <a:ext cx="829586" cy="26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PC_KY-03</a:t>
            </a:r>
            <a:endParaRPr lang="en-US" altLang="en-US" sz="16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447800" y="1737435"/>
            <a:ext cx="685800" cy="536580"/>
          </a:xfrm>
          <a:prstGeom prst="straightConnector1">
            <a:avLst/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14600" y="1737435"/>
            <a:ext cx="1036372" cy="612850"/>
          </a:xfrm>
          <a:prstGeom prst="straightConnector1">
            <a:avLst/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4" grpId="0" animBg="1"/>
      <p:bldP spid="19475" grpId="0" animBg="1"/>
      <p:bldP spid="19476" grpId="0" animBg="1"/>
      <p:bldP spid="1947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22263"/>
            <a:ext cx="558305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579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3015817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/>
            </a:pPr>
            <a:r>
              <a:rPr lang="en-US" altLang="en-US" sz="2400" b="1" dirty="0" smtClean="0">
                <a:solidFill>
                  <a:schemeClr val="bg1"/>
                </a:solidFill>
              </a:rPr>
              <a:t>One-and-One </a:t>
            </a:r>
            <a:r>
              <a:rPr lang="en-US" altLang="en-US" sz="2400" dirty="0" smtClean="0">
                <a:solidFill>
                  <a:schemeClr val="bg1"/>
                </a:solidFill>
              </a:rPr>
              <a:t>(1 : 1)</a:t>
            </a:r>
            <a:r>
              <a:rPr lang="en-US" altLang="en-US" sz="2400" b="1" dirty="0" smtClean="0">
                <a:solidFill>
                  <a:schemeClr val="bg1"/>
                </a:solidFill>
              </a:rPr>
              <a:t>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20487" name="Rectangle 25"/>
          <p:cNvSpPr>
            <a:spLocks noChangeArrowheads="1"/>
          </p:cNvSpPr>
          <p:nvPr/>
        </p:nvSpPr>
        <p:spPr bwMode="auto">
          <a:xfrm>
            <a:off x="2590800" y="5773738"/>
            <a:ext cx="4410075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1800" b="1" u="sng" dirty="0">
                <a:solidFill>
                  <a:srgbClr val="FFFF00"/>
                </a:solidFill>
              </a:rPr>
              <a:t>one</a:t>
            </a:r>
            <a:r>
              <a:rPr lang="en-SG" altLang="en-US" sz="1800" dirty="0">
                <a:solidFill>
                  <a:schemeClr val="bg1"/>
                </a:solidFill>
              </a:rPr>
              <a:t> EMPLOYEE receives </a:t>
            </a:r>
            <a:r>
              <a:rPr lang="en-SG" altLang="en-US" sz="1800" b="1" u="sng" dirty="0">
                <a:solidFill>
                  <a:srgbClr val="FFFF00"/>
                </a:solidFill>
              </a:rPr>
              <a:t>one</a:t>
            </a:r>
            <a:r>
              <a:rPr lang="en-SG" altLang="en-US" sz="1800" dirty="0">
                <a:solidFill>
                  <a:schemeClr val="bg1"/>
                </a:solidFill>
              </a:rPr>
              <a:t> PAYCHECK</a:t>
            </a:r>
            <a:endParaRPr lang="en-GB" altLang="en-US" sz="1800" dirty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1800" b="1" u="sng" dirty="0">
                <a:solidFill>
                  <a:srgbClr val="FFFF00"/>
                </a:solidFill>
              </a:rPr>
              <a:t>one</a:t>
            </a:r>
            <a:r>
              <a:rPr lang="en-SG" altLang="en-US" sz="1800" dirty="0">
                <a:solidFill>
                  <a:schemeClr val="bg1"/>
                </a:solidFill>
              </a:rPr>
              <a:t> PAYCHECK  is </a:t>
            </a:r>
            <a:r>
              <a:rPr lang="en-SG" altLang="en-US" sz="1800" dirty="0" smtClean="0">
                <a:solidFill>
                  <a:schemeClr val="bg1"/>
                </a:solidFill>
              </a:rPr>
              <a:t>set for </a:t>
            </a:r>
            <a:r>
              <a:rPr lang="en-SG" altLang="en-US" sz="1800" u="sng" dirty="0">
                <a:solidFill>
                  <a:srgbClr val="FFFF00"/>
                </a:solidFill>
              </a:rPr>
              <a:t>one</a:t>
            </a:r>
            <a:r>
              <a:rPr lang="en-SG" altLang="en-US" sz="1800" dirty="0">
                <a:solidFill>
                  <a:schemeClr val="bg1"/>
                </a:solidFill>
              </a:rPr>
              <a:t> EMPLOYEE</a:t>
            </a:r>
            <a:r>
              <a:rPr lang="en-GB" alt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4584" name="TextBox 17"/>
          <p:cNvSpPr txBox="1">
            <a:spLocks noChangeArrowheads="1"/>
          </p:cNvSpPr>
          <p:nvPr/>
        </p:nvSpPr>
        <p:spPr bwMode="auto">
          <a:xfrm>
            <a:off x="838200" y="2992438"/>
            <a:ext cx="1581150" cy="3190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/>
              <a:t>Entity: EMPLOYEE</a:t>
            </a:r>
            <a:endParaRPr lang="en-US" altLang="en-US" sz="1600" b="1"/>
          </a:p>
        </p:txBody>
      </p:sp>
      <p:sp>
        <p:nvSpPr>
          <p:cNvPr id="24585" name="TextBox 18"/>
          <p:cNvSpPr txBox="1">
            <a:spLocks noChangeArrowheads="1"/>
          </p:cNvSpPr>
          <p:nvPr/>
        </p:nvSpPr>
        <p:spPr bwMode="auto">
          <a:xfrm>
            <a:off x="5175251" y="2957513"/>
            <a:ext cx="1530350" cy="31908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/>
              <a:t>Entity: PAYCHECK</a:t>
            </a:r>
            <a:endParaRPr lang="en-US" altLang="en-US" sz="1600" b="1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876555"/>
              </p:ext>
            </p:extLst>
          </p:nvPr>
        </p:nvGraphicFramePr>
        <p:xfrm>
          <a:off x="762000" y="3386138"/>
          <a:ext cx="3657601" cy="210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5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Emp_ID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EName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Designation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5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P622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Peter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Engrg</a:t>
                      </a:r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 Mgr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5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Q583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Rosidah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QA Exec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5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E563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Raymond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Machinist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5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S754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Kelly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Sales Exec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733138"/>
              </p:ext>
            </p:extLst>
          </p:nvPr>
        </p:nvGraphicFramePr>
        <p:xfrm>
          <a:off x="5105401" y="3375025"/>
          <a:ext cx="3352799" cy="211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PayCode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Amount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Emp_ID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PC_PR-02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5000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P622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PC_RH-02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4200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E563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PC_RD-03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3200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Q583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PC_KY-03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3800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S754</a:t>
                      </a:r>
                      <a:endParaRPr lang="en-US" sz="1600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61988" y="3773488"/>
            <a:ext cx="3816350" cy="431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4425950" y="3795713"/>
            <a:ext cx="4013200" cy="395287"/>
            <a:chOff x="4425600" y="3355911"/>
            <a:chExt cx="4013400" cy="396000"/>
          </a:xfrm>
        </p:grpSpPr>
        <p:sp>
          <p:nvSpPr>
            <p:cNvPr id="32" name="Rectangle 31"/>
            <p:cNvSpPr/>
            <p:nvPr/>
          </p:nvSpPr>
          <p:spPr>
            <a:xfrm>
              <a:off x="4982841" y="3355911"/>
              <a:ext cx="3456159" cy="396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SG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4425600" y="3559478"/>
              <a:ext cx="684247" cy="159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/>
          <p:cNvCxnSpPr/>
          <p:nvPr/>
        </p:nvCxnSpPr>
        <p:spPr>
          <a:xfrm flipH="1">
            <a:off x="4419599" y="4436808"/>
            <a:ext cx="640080" cy="36576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990600" y="2074864"/>
            <a:ext cx="1097280" cy="4572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wrap="none" lIns="46800" rIns="4680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en-US" sz="1400" b="1" dirty="0" smtClean="0">
                <a:solidFill>
                  <a:srgbClr val="060606"/>
                </a:solidFill>
                <a:ea typeface="Calibri" pitchFamily="34" charset="0"/>
                <a:cs typeface="Calibri" pitchFamily="34" charset="0"/>
              </a:rPr>
              <a:t>EMPLOYEES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3683206" y="2084389"/>
            <a:ext cx="1005840" cy="457200"/>
          </a:xfrm>
          <a:prstGeom prst="rect">
            <a:avLst/>
          </a:prstGeom>
          <a:solidFill>
            <a:srgbClr val="FFCC66"/>
          </a:solidFill>
          <a:ln w="22225">
            <a:solidFill>
              <a:srgbClr val="060606"/>
            </a:solidFill>
            <a:miter lim="800000"/>
            <a:headEnd/>
            <a:tailEnd/>
          </a:ln>
        </p:spPr>
        <p:txBody>
          <a:bodyPr wrap="none" lIns="46800" r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en-US" altLang="en-US" sz="1400" b="1" dirty="0">
                <a:solidFill>
                  <a:srgbClr val="06060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PAYCHECK</a:t>
            </a:r>
          </a:p>
        </p:txBody>
      </p:sp>
      <p:grpSp>
        <p:nvGrpSpPr>
          <p:cNvPr id="33" name="Group 4"/>
          <p:cNvGrpSpPr>
            <a:grpSpLocks/>
          </p:cNvGrpSpPr>
          <p:nvPr/>
        </p:nvGrpSpPr>
        <p:grpSpPr bwMode="auto">
          <a:xfrm>
            <a:off x="2057403" y="1981200"/>
            <a:ext cx="1645920" cy="426969"/>
            <a:chOff x="5571448" y="3086861"/>
            <a:chExt cx="1645816" cy="426191"/>
          </a:xfrm>
        </p:grpSpPr>
        <p:cxnSp>
          <p:nvCxnSpPr>
            <p:cNvPr id="34" name="Straight Connector 33"/>
            <p:cNvCxnSpPr/>
            <p:nvPr/>
          </p:nvCxnSpPr>
          <p:spPr bwMode="auto">
            <a:xfrm>
              <a:off x="5571448" y="3399029"/>
              <a:ext cx="1645816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5" name="Group 115"/>
            <p:cNvGrpSpPr>
              <a:grpSpLocks/>
            </p:cNvGrpSpPr>
            <p:nvPr/>
          </p:nvGrpSpPr>
          <p:grpSpPr bwMode="auto">
            <a:xfrm>
              <a:off x="5723882" y="3293996"/>
              <a:ext cx="169592" cy="219056"/>
              <a:chOff x="5418893" y="6376051"/>
              <a:chExt cx="169909" cy="218921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5418893" y="6376051"/>
                <a:ext cx="0" cy="218921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588802" y="6376051"/>
                <a:ext cx="0" cy="218921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" name="Rectangle 35"/>
            <p:cNvSpPr/>
            <p:nvPr/>
          </p:nvSpPr>
          <p:spPr bwMode="auto">
            <a:xfrm>
              <a:off x="6160381" y="3086861"/>
              <a:ext cx="655460" cy="309393"/>
            </a:xfrm>
            <a:prstGeom prst="rect">
              <a:avLst/>
            </a:prstGeom>
            <a:ln w="28575">
              <a:noFill/>
            </a:ln>
          </p:spPr>
          <p:txBody>
            <a:bodyPr wrap="none" lIns="46800" tIns="46800" rIns="46800" bIns="46800">
              <a:spAutoFit/>
            </a:bodyPr>
            <a:lstStyle/>
            <a:p>
              <a:pPr eaLnBrk="1" hangingPunct="1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US" sz="1400" dirty="0">
                  <a:solidFill>
                    <a:schemeClr val="bg1"/>
                  </a:solidFill>
                  <a:latin typeface="+mn-lt"/>
                </a:rPr>
                <a:t>Receive</a:t>
              </a:r>
            </a:p>
          </p:txBody>
        </p:sp>
        <p:grpSp>
          <p:nvGrpSpPr>
            <p:cNvPr id="37" name="Group 115"/>
            <p:cNvGrpSpPr>
              <a:grpSpLocks/>
            </p:cNvGrpSpPr>
            <p:nvPr/>
          </p:nvGrpSpPr>
          <p:grpSpPr bwMode="auto">
            <a:xfrm>
              <a:off x="6910986" y="3292406"/>
              <a:ext cx="184340" cy="219056"/>
              <a:chOff x="5581036" y="6376017"/>
              <a:chExt cx="184684" cy="21892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581036" y="6376017"/>
                <a:ext cx="0" cy="21892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5765720" y="6376017"/>
                <a:ext cx="0" cy="21892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33375"/>
            <a:ext cx="574656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603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2215341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2"/>
            </a:pPr>
            <a:r>
              <a:rPr lang="en-US" altLang="en-US" sz="2400" b="1" dirty="0" smtClean="0">
                <a:solidFill>
                  <a:schemeClr val="bg1"/>
                </a:solidFill>
              </a:rPr>
              <a:t>One-to-Many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22532" name="Rectangle 48"/>
          <p:cNvSpPr>
            <a:spLocks noChangeArrowheads="1"/>
          </p:cNvSpPr>
          <p:nvPr/>
        </p:nvSpPr>
        <p:spPr bwMode="auto">
          <a:xfrm>
            <a:off x="1905000" y="6432550"/>
            <a:ext cx="4833938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1800">
                <a:solidFill>
                  <a:srgbClr val="FFFF00"/>
                </a:solidFill>
              </a:rPr>
              <a:t>This is a </a:t>
            </a:r>
            <a:r>
              <a:rPr lang="en-GB" altLang="en-US" sz="1800" b="1">
                <a:solidFill>
                  <a:srgbClr val="FFFF00"/>
                </a:solidFill>
              </a:rPr>
              <a:t>1:M (one-to-many)</a:t>
            </a:r>
            <a:r>
              <a:rPr lang="en-GB" altLang="en-US" sz="1800">
                <a:solidFill>
                  <a:srgbClr val="FFFF00"/>
                </a:solidFill>
              </a:rPr>
              <a:t> binary relationship.</a:t>
            </a:r>
            <a:endParaRPr lang="en-SG" altLang="en-US" sz="1800">
              <a:solidFill>
                <a:srgbClr val="FFFF00"/>
              </a:solidFill>
            </a:endParaRPr>
          </a:p>
        </p:txBody>
      </p:sp>
      <p:grpSp>
        <p:nvGrpSpPr>
          <p:cNvPr id="25605" name="Group 4"/>
          <p:cNvGrpSpPr>
            <a:grpSpLocks/>
          </p:cNvGrpSpPr>
          <p:nvPr/>
        </p:nvGrpSpPr>
        <p:grpSpPr bwMode="auto">
          <a:xfrm>
            <a:off x="1018541" y="1811601"/>
            <a:ext cx="4163059" cy="658549"/>
            <a:chOff x="1981200" y="1811601"/>
            <a:chExt cx="4163059" cy="658549"/>
          </a:xfrm>
        </p:grpSpPr>
        <p:sp>
          <p:nvSpPr>
            <p:cNvPr id="25627" name="Text Box 4"/>
            <p:cNvSpPr txBox="1">
              <a:spLocks noChangeArrowheads="1"/>
            </p:cNvSpPr>
            <p:nvPr/>
          </p:nvSpPr>
          <p:spPr bwMode="auto">
            <a:xfrm>
              <a:off x="1981200" y="1981200"/>
              <a:ext cx="1280160" cy="457200"/>
            </a:xfrm>
            <a:prstGeom prst="rect">
              <a:avLst/>
            </a:prstGeom>
            <a:solidFill>
              <a:schemeClr val="bg2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</a:p>
          </p:txBody>
        </p:sp>
        <p:sp>
          <p:nvSpPr>
            <p:cNvPr id="25628" name="Text Box 4"/>
            <p:cNvSpPr txBox="1">
              <a:spLocks noChangeArrowheads="1"/>
            </p:cNvSpPr>
            <p:nvPr/>
          </p:nvSpPr>
          <p:spPr bwMode="auto">
            <a:xfrm>
              <a:off x="4864099" y="2012950"/>
              <a:ext cx="1280160" cy="45720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ACCOUNTS</a:t>
              </a:r>
            </a:p>
          </p:txBody>
        </p:sp>
        <p:grpSp>
          <p:nvGrpSpPr>
            <p:cNvPr id="25629" name="Group 8"/>
            <p:cNvGrpSpPr>
              <a:grpSpLocks/>
            </p:cNvGrpSpPr>
            <p:nvPr/>
          </p:nvGrpSpPr>
          <p:grpSpPr bwMode="auto">
            <a:xfrm>
              <a:off x="3247104" y="1811601"/>
              <a:ext cx="1645920" cy="532195"/>
              <a:chOff x="5327324" y="4246979"/>
              <a:chExt cx="1646701" cy="531857"/>
            </a:xfrm>
          </p:grpSpPr>
          <p:cxnSp>
            <p:nvCxnSpPr>
              <p:cNvPr id="44" name="Straight Connector 43"/>
              <p:cNvCxnSpPr/>
              <p:nvPr/>
            </p:nvCxnSpPr>
            <p:spPr bwMode="auto">
              <a:xfrm>
                <a:off x="5327324" y="4645387"/>
                <a:ext cx="1646701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5631" name="Group 115"/>
              <p:cNvGrpSpPr>
                <a:grpSpLocks/>
              </p:cNvGrpSpPr>
              <p:nvPr/>
            </p:nvGrpSpPr>
            <p:grpSpPr bwMode="auto">
              <a:xfrm>
                <a:off x="5479793" y="4535007"/>
                <a:ext cx="213930" cy="234056"/>
                <a:chOff x="5181569" y="6385320"/>
                <a:chExt cx="214329" cy="233912"/>
              </a:xfrm>
            </p:grpSpPr>
            <p:cxnSp>
              <p:nvCxnSpPr>
                <p:cNvPr id="56" name="Straight Connector 55"/>
                <p:cNvCxnSpPr/>
                <p:nvPr/>
              </p:nvCxnSpPr>
              <p:spPr>
                <a:xfrm>
                  <a:off x="5181569" y="6400050"/>
                  <a:ext cx="0" cy="219182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5395898" y="6385320"/>
                  <a:ext cx="0" cy="219182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Rectangle 49"/>
              <p:cNvSpPr/>
              <p:nvPr/>
            </p:nvSpPr>
            <p:spPr bwMode="auto">
              <a:xfrm>
                <a:off x="5816712" y="4246979"/>
                <a:ext cx="576329" cy="309762"/>
              </a:xfrm>
              <a:prstGeom prst="rect">
                <a:avLst/>
              </a:prstGeom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Set Up</a:t>
                </a:r>
              </a:p>
            </p:txBody>
          </p:sp>
          <p:grpSp>
            <p:nvGrpSpPr>
              <p:cNvPr id="25633" name="Group 121"/>
              <p:cNvGrpSpPr>
                <a:grpSpLocks/>
              </p:cNvGrpSpPr>
              <p:nvPr/>
            </p:nvGrpSpPr>
            <p:grpSpPr bwMode="auto">
              <a:xfrm>
                <a:off x="6532369" y="4513922"/>
                <a:ext cx="425088" cy="264914"/>
                <a:chOff x="4495250" y="6049316"/>
                <a:chExt cx="425882" cy="264751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4495250" y="6078774"/>
                  <a:ext cx="0" cy="219182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5635" name="Group 128"/>
                <p:cNvGrpSpPr>
                  <a:grpSpLocks/>
                </p:cNvGrpSpPr>
                <p:nvPr/>
              </p:nvGrpSpPr>
              <p:grpSpPr bwMode="auto">
                <a:xfrm flipH="1">
                  <a:off x="4644580" y="6049316"/>
                  <a:ext cx="276552" cy="264751"/>
                  <a:chOff x="4451488" y="5609182"/>
                  <a:chExt cx="276552" cy="264751"/>
                </a:xfrm>
              </p:grpSpPr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4453077" y="5609182"/>
                    <a:ext cx="274963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 flipV="1">
                    <a:off x="4451488" y="5736944"/>
                    <a:ext cx="274964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5606" name="Group 1"/>
          <p:cNvGrpSpPr>
            <a:grpSpLocks/>
          </p:cNvGrpSpPr>
          <p:nvPr/>
        </p:nvGrpSpPr>
        <p:grpSpPr bwMode="auto">
          <a:xfrm>
            <a:off x="1858467" y="2744787"/>
            <a:ext cx="1805484" cy="3508375"/>
            <a:chOff x="1858507" y="2225675"/>
            <a:chExt cx="1804885" cy="3508375"/>
          </a:xfrm>
        </p:grpSpPr>
        <p:sp>
          <p:nvSpPr>
            <p:cNvPr id="25621" name="Oval 4"/>
            <p:cNvSpPr>
              <a:spLocks noChangeArrowheads="1"/>
            </p:cNvSpPr>
            <p:nvPr/>
          </p:nvSpPr>
          <p:spPr bwMode="auto">
            <a:xfrm>
              <a:off x="1858507" y="2686050"/>
              <a:ext cx="1462555" cy="30480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19050">
              <a:solidFill>
                <a:srgbClr val="FFC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22" name="Text Box 6"/>
            <p:cNvSpPr txBox="1">
              <a:spLocks noChangeArrowheads="1"/>
            </p:cNvSpPr>
            <p:nvPr/>
          </p:nvSpPr>
          <p:spPr bwMode="auto">
            <a:xfrm>
              <a:off x="2640013" y="4362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25623" name="Text Box 7"/>
            <p:cNvSpPr txBox="1">
              <a:spLocks noChangeArrowheads="1"/>
            </p:cNvSpPr>
            <p:nvPr/>
          </p:nvSpPr>
          <p:spPr bwMode="auto">
            <a:xfrm>
              <a:off x="2640013" y="3600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25624" name="Text Box 8"/>
            <p:cNvSpPr txBox="1">
              <a:spLocks noChangeArrowheads="1"/>
            </p:cNvSpPr>
            <p:nvPr/>
          </p:nvSpPr>
          <p:spPr bwMode="auto">
            <a:xfrm>
              <a:off x="2640013" y="2838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25625" name="TextBox 17"/>
            <p:cNvSpPr txBox="1">
              <a:spLocks noChangeArrowheads="1"/>
            </p:cNvSpPr>
            <p:nvPr/>
          </p:nvSpPr>
          <p:spPr bwMode="auto">
            <a:xfrm>
              <a:off x="1981200" y="2225675"/>
              <a:ext cx="1682192" cy="2646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ea typeface="Calibri" panose="020F0502020204030204" pitchFamily="34" charset="0"/>
                  <a:cs typeface="Calibri" panose="020F0502020204030204" pitchFamily="34" charset="0"/>
                </a:rPr>
                <a:t>Entity: CUSTOMERS</a:t>
              </a:r>
              <a:endParaRPr lang="en-US" altLang="en-US" sz="1600" b="1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626" name="TextBox 19"/>
            <p:cNvSpPr txBox="1">
              <a:spLocks noChangeArrowheads="1"/>
            </p:cNvSpPr>
            <p:nvPr/>
          </p:nvSpPr>
          <p:spPr bwMode="auto">
            <a:xfrm>
              <a:off x="2147888" y="2881313"/>
              <a:ext cx="452437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Judy</a:t>
              </a:r>
              <a:endParaRPr lang="en-US" altLang="en-US" sz="18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5257800" y="2720975"/>
            <a:ext cx="2087563" cy="3589337"/>
            <a:chOff x="5257800" y="2201925"/>
            <a:chExt cx="2087563" cy="3589275"/>
          </a:xfrm>
        </p:grpSpPr>
        <p:sp>
          <p:nvSpPr>
            <p:cNvPr id="25613" name="Oval 9"/>
            <p:cNvSpPr>
              <a:spLocks noChangeArrowheads="1"/>
            </p:cNvSpPr>
            <p:nvPr/>
          </p:nvSpPr>
          <p:spPr bwMode="auto">
            <a:xfrm>
              <a:off x="5257800" y="2667000"/>
              <a:ext cx="2087563" cy="31242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19050">
              <a:solidFill>
                <a:srgbClr val="FFC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5562600" y="5124462"/>
              <a:ext cx="533400" cy="40956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b4</a:t>
              </a:r>
            </a:p>
          </p:txBody>
        </p:sp>
        <p:sp>
          <p:nvSpPr>
            <p:cNvPr id="42" name="Text Box 11"/>
            <p:cNvSpPr txBox="1">
              <a:spLocks noChangeArrowheads="1"/>
            </p:cNvSpPr>
            <p:nvPr/>
          </p:nvSpPr>
          <p:spPr bwMode="auto">
            <a:xfrm>
              <a:off x="5562600" y="4362475"/>
              <a:ext cx="533400" cy="40956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b3</a:t>
              </a:r>
            </a:p>
          </p:txBody>
        </p:sp>
        <p:sp>
          <p:nvSpPr>
            <p:cNvPr id="43" name="Text Box 12"/>
            <p:cNvSpPr txBox="1">
              <a:spLocks noChangeArrowheads="1"/>
            </p:cNvSpPr>
            <p:nvPr/>
          </p:nvSpPr>
          <p:spPr bwMode="auto">
            <a:xfrm>
              <a:off x="5562600" y="3600488"/>
              <a:ext cx="533400" cy="40956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b2</a:t>
              </a:r>
            </a:p>
          </p:txBody>
        </p:sp>
        <p:sp>
          <p:nvSpPr>
            <p:cNvPr id="45" name="Text Box 13"/>
            <p:cNvSpPr txBox="1">
              <a:spLocks noChangeArrowheads="1"/>
            </p:cNvSpPr>
            <p:nvPr/>
          </p:nvSpPr>
          <p:spPr bwMode="auto">
            <a:xfrm>
              <a:off x="5562600" y="2838501"/>
              <a:ext cx="533400" cy="40956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b1</a:t>
              </a:r>
            </a:p>
          </p:txBody>
        </p:sp>
        <p:sp>
          <p:nvSpPr>
            <p:cNvPr id="25618" name="TextBox 18"/>
            <p:cNvSpPr txBox="1">
              <a:spLocks noChangeArrowheads="1"/>
            </p:cNvSpPr>
            <p:nvPr/>
          </p:nvSpPr>
          <p:spPr bwMode="auto">
            <a:xfrm>
              <a:off x="5370887" y="2201925"/>
              <a:ext cx="1563313" cy="2646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ea typeface="Calibri" panose="020F0502020204030204" pitchFamily="34" charset="0"/>
                  <a:cs typeface="Calibri" panose="020F0502020204030204" pitchFamily="34" charset="0"/>
                </a:rPr>
                <a:t>Entity: ACCOUNTS</a:t>
              </a:r>
              <a:endParaRPr lang="en-US" altLang="en-US" sz="1600" b="1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619" name="TextBox 20"/>
            <p:cNvSpPr txBox="1">
              <a:spLocks noChangeArrowheads="1"/>
            </p:cNvSpPr>
            <p:nvPr/>
          </p:nvSpPr>
          <p:spPr bwMode="auto">
            <a:xfrm>
              <a:off x="6237288" y="2881313"/>
              <a:ext cx="1041400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FD_130-02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620" name="TextBox 21"/>
            <p:cNvSpPr txBox="1">
              <a:spLocks noChangeArrowheads="1"/>
            </p:cNvSpPr>
            <p:nvPr/>
          </p:nvSpPr>
          <p:spPr bwMode="auto">
            <a:xfrm>
              <a:off x="6261100" y="3608388"/>
              <a:ext cx="1032399" cy="295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SV_130-12</a:t>
              </a:r>
              <a:endParaRPr lang="en-US" altLang="en-US" sz="18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223546" y="3586162"/>
            <a:ext cx="2286000" cy="781050"/>
            <a:chOff x="3223546" y="3067050"/>
            <a:chExt cx="2286000" cy="781050"/>
          </a:xfrm>
        </p:grpSpPr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3223546" y="3067050"/>
              <a:ext cx="2286000" cy="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7" name="Line 15"/>
            <p:cNvSpPr>
              <a:spLocks noChangeShapeType="1"/>
            </p:cNvSpPr>
            <p:nvPr/>
          </p:nvSpPr>
          <p:spPr bwMode="auto">
            <a:xfrm>
              <a:off x="3223546" y="3124200"/>
              <a:ext cx="2286000" cy="72390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22547" name="Line 16"/>
          <p:cNvSpPr>
            <a:spLocks noChangeShapeType="1"/>
          </p:cNvSpPr>
          <p:nvPr/>
        </p:nvSpPr>
        <p:spPr bwMode="auto">
          <a:xfrm>
            <a:off x="3341530" y="5089525"/>
            <a:ext cx="2103120" cy="1587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2548" name="Line 17"/>
          <p:cNvSpPr>
            <a:spLocks noChangeShapeType="1"/>
          </p:cNvSpPr>
          <p:nvPr/>
        </p:nvSpPr>
        <p:spPr bwMode="auto">
          <a:xfrm>
            <a:off x="3312034" y="5179600"/>
            <a:ext cx="2194560" cy="64008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40" name="TextBox 19"/>
          <p:cNvSpPr txBox="1">
            <a:spLocks noChangeArrowheads="1"/>
          </p:cNvSpPr>
          <p:nvPr/>
        </p:nvSpPr>
        <p:spPr bwMode="auto">
          <a:xfrm>
            <a:off x="1922208" y="4938711"/>
            <a:ext cx="70294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Winnie</a:t>
            </a:r>
            <a:endParaRPr lang="en-US" altLang="en-US" sz="18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21"/>
          <p:cNvSpPr txBox="1">
            <a:spLocks noChangeArrowheads="1"/>
          </p:cNvSpPr>
          <p:nvPr/>
        </p:nvSpPr>
        <p:spPr bwMode="auto">
          <a:xfrm>
            <a:off x="6222738" y="4938711"/>
            <a:ext cx="1032399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SV_140-33</a:t>
            </a:r>
            <a:endParaRPr lang="en-US" altLang="en-US" sz="18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21"/>
          <p:cNvSpPr txBox="1">
            <a:spLocks noChangeArrowheads="1"/>
          </p:cNvSpPr>
          <p:nvPr/>
        </p:nvSpPr>
        <p:spPr bwMode="auto">
          <a:xfrm>
            <a:off x="6247319" y="5646834"/>
            <a:ext cx="1021946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INV_15-66</a:t>
            </a:r>
            <a:endParaRPr lang="en-US" altLang="en-US" sz="18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447800" y="1660525"/>
            <a:ext cx="989042" cy="402030"/>
          </a:xfrm>
          <a:prstGeom prst="straightConnector1">
            <a:avLst/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773601" y="1660525"/>
            <a:ext cx="890350" cy="402030"/>
          </a:xfrm>
          <a:prstGeom prst="straightConnector1">
            <a:avLst/>
          </a:prstGeom>
          <a:ln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47" grpId="0" animBg="1"/>
      <p:bldP spid="225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15913"/>
            <a:ext cx="558305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27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2215341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2"/>
            </a:pPr>
            <a:r>
              <a:rPr lang="en-US" altLang="en-US" sz="2400" b="1" dirty="0" smtClean="0">
                <a:solidFill>
                  <a:schemeClr val="bg1"/>
                </a:solidFill>
              </a:rPr>
              <a:t>One-to-Many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23556" name="Rectangle 25"/>
          <p:cNvSpPr>
            <a:spLocks noChangeArrowheads="1"/>
          </p:cNvSpPr>
          <p:nvPr/>
        </p:nvSpPr>
        <p:spPr bwMode="auto">
          <a:xfrm>
            <a:off x="2209800" y="6002338"/>
            <a:ext cx="46482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1800" b="1" u="sng">
                <a:solidFill>
                  <a:srgbClr val="FFFF00"/>
                </a:solidFill>
              </a:rPr>
              <a:t>one</a:t>
            </a:r>
            <a:r>
              <a:rPr lang="en-SG" altLang="en-US" sz="1800">
                <a:solidFill>
                  <a:schemeClr val="bg1"/>
                </a:solidFill>
              </a:rPr>
              <a:t> Customer has </a:t>
            </a:r>
            <a:r>
              <a:rPr lang="en-SG" altLang="en-US" sz="1800" b="1" u="sng">
                <a:solidFill>
                  <a:srgbClr val="FFFF00"/>
                </a:solidFill>
              </a:rPr>
              <a:t>many</a:t>
            </a:r>
            <a:r>
              <a:rPr lang="en-SG" altLang="en-US" sz="1800">
                <a:solidFill>
                  <a:schemeClr val="bg1"/>
                </a:solidFill>
              </a:rPr>
              <a:t> Accounts.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SG" altLang="en-US" sz="1800" b="1" u="sng">
                <a:solidFill>
                  <a:srgbClr val="FFFF00"/>
                </a:solidFill>
              </a:rPr>
              <a:t>one</a:t>
            </a:r>
            <a:r>
              <a:rPr lang="en-SG" altLang="en-US" sz="1800">
                <a:solidFill>
                  <a:schemeClr val="bg1"/>
                </a:solidFill>
              </a:rPr>
              <a:t> Account is for </a:t>
            </a:r>
            <a:r>
              <a:rPr lang="en-SG" altLang="en-US" sz="1800" b="1" u="sng">
                <a:solidFill>
                  <a:srgbClr val="FFFF00"/>
                </a:solidFill>
              </a:rPr>
              <a:t>one</a:t>
            </a:r>
            <a:r>
              <a:rPr lang="en-SG" altLang="en-US" sz="1800">
                <a:solidFill>
                  <a:schemeClr val="bg1"/>
                </a:solidFill>
              </a:rPr>
              <a:t> Customer only</a:t>
            </a:r>
            <a:r>
              <a:rPr lang="en-GB" altLang="en-US" sz="1800">
                <a:solidFill>
                  <a:schemeClr val="bg1"/>
                </a:solidFill>
              </a:rPr>
              <a:t>.</a:t>
            </a:r>
            <a:endParaRPr lang="en-SG" altLang="en-US" sz="180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0600" y="2614613"/>
            <a:ext cx="1676400" cy="319087"/>
          </a:xfrm>
          <a:prstGeom prst="rect">
            <a:avLst/>
          </a:prstGeom>
          <a:solidFill>
            <a:srgbClr val="FFFFCC"/>
          </a:solidFill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1600" b="1" dirty="0">
                <a:latin typeface="+mn-lt"/>
              </a:rPr>
              <a:t>Entity: CUSTOMER</a:t>
            </a:r>
            <a:endParaRPr lang="en-US" sz="1600" b="1" dirty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86200" y="2606675"/>
            <a:ext cx="1630363" cy="319088"/>
          </a:xfrm>
          <a:prstGeom prst="rect">
            <a:avLst/>
          </a:prstGeom>
          <a:solidFill>
            <a:srgbClr val="FFFFCC"/>
          </a:solidFill>
        </p:spPr>
        <p:txBody>
          <a:bodyPr wrap="none" lIns="36000" tIns="36000" rIns="36000" bIns="36000">
            <a:spAutoFit/>
          </a:bodyPr>
          <a:lstStyle/>
          <a:p>
            <a:pPr algn="ctr" eaLnBrk="1" hangingPunct="1">
              <a:defRPr/>
            </a:pPr>
            <a:r>
              <a:rPr lang="en-GB" sz="1600" b="1" dirty="0">
                <a:latin typeface="+mn-lt"/>
              </a:rPr>
              <a:t>Entity: ACCOUNTS</a:t>
            </a:r>
            <a:endParaRPr lang="en-US" sz="1600" b="1" dirty="0">
              <a:latin typeface="+mn-lt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303189"/>
              </p:ext>
            </p:extLst>
          </p:nvPr>
        </p:nvGraphicFramePr>
        <p:xfrm>
          <a:off x="990600" y="3022600"/>
          <a:ext cx="2057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Cust_ID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CName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C8532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Judy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C8533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Brayan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C8534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Sandra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C8535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Winnie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74790"/>
              </p:ext>
            </p:extLst>
          </p:nvPr>
        </p:nvGraphicFramePr>
        <p:xfrm>
          <a:off x="3810000" y="2997200"/>
          <a:ext cx="4800600" cy="296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AccCode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Amount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DateCreated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latin typeface="Calibri" panose="020F0502020204030204" pitchFamily="34" charset="0"/>
                        </a:rPr>
                        <a:t>Cust_ID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FD_130-02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$5,000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25-Oct-2008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C8532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SV_130-12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$1,200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12-Jul-2006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C8532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FD_126-03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$20,000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10-May-2005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C8533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SV_132-11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$2,000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24-Jun-2006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C8533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SV_130_20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$3,200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09-Aug-2006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C8534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SV_140-33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$4,000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23-Dec-2006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C8535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INV_15-66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$25,000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latin typeface="Calibri" panose="020F0502020204030204" pitchFamily="34" charset="0"/>
                        </a:rPr>
                        <a:t>08-Mar-2007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</a:rPr>
                        <a:t>C8535</a:t>
                      </a:r>
                      <a:endParaRPr lang="en-US" sz="16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45725" marB="457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3054350" y="4689475"/>
            <a:ext cx="719138" cy="762000"/>
          </a:xfrm>
          <a:prstGeom prst="straightConnector1">
            <a:avLst/>
          </a:prstGeom>
          <a:ln w="28575">
            <a:solidFill>
              <a:srgbClr val="FFFF00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054350" y="4814888"/>
            <a:ext cx="684213" cy="1017587"/>
          </a:xfrm>
          <a:prstGeom prst="straightConnector1">
            <a:avLst/>
          </a:prstGeom>
          <a:ln w="28575">
            <a:solidFill>
              <a:srgbClr val="FFFF00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062288" y="3533775"/>
            <a:ext cx="720725" cy="1588"/>
          </a:xfrm>
          <a:prstGeom prst="straightConnector1">
            <a:avLst/>
          </a:prstGeom>
          <a:ln w="28575">
            <a:solidFill>
              <a:srgbClr val="FFFF00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054350" y="3659188"/>
            <a:ext cx="755650" cy="255587"/>
          </a:xfrm>
          <a:prstGeom prst="straightConnector1">
            <a:avLst/>
          </a:prstGeom>
          <a:ln w="28575">
            <a:solidFill>
              <a:srgbClr val="FFFF00"/>
            </a:solidFill>
            <a:prstDash val="lgDash"/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1018541" y="1752600"/>
            <a:ext cx="4163059" cy="570309"/>
            <a:chOff x="1981200" y="1899841"/>
            <a:chExt cx="4163059" cy="570309"/>
          </a:xfrm>
        </p:grpSpPr>
        <p:sp>
          <p:nvSpPr>
            <p:cNvPr id="27" name="Text Box 4"/>
            <p:cNvSpPr txBox="1">
              <a:spLocks noChangeArrowheads="1"/>
            </p:cNvSpPr>
            <p:nvPr/>
          </p:nvSpPr>
          <p:spPr bwMode="auto">
            <a:xfrm>
              <a:off x="1981200" y="1981200"/>
              <a:ext cx="1280160" cy="457200"/>
            </a:xfrm>
            <a:prstGeom prst="rect">
              <a:avLst/>
            </a:prstGeom>
            <a:solidFill>
              <a:schemeClr val="bg2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4864099" y="2012950"/>
              <a:ext cx="1280160" cy="45720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ACCOUNTS</a:t>
              </a:r>
            </a:p>
          </p:txBody>
        </p:sp>
        <p:grpSp>
          <p:nvGrpSpPr>
            <p:cNvPr id="29" name="Group 8"/>
            <p:cNvGrpSpPr>
              <a:grpSpLocks/>
            </p:cNvGrpSpPr>
            <p:nvPr/>
          </p:nvGrpSpPr>
          <p:grpSpPr bwMode="auto">
            <a:xfrm>
              <a:off x="3247104" y="1899841"/>
              <a:ext cx="1645920" cy="443944"/>
              <a:chOff x="5327324" y="4335173"/>
              <a:chExt cx="1646701" cy="443663"/>
            </a:xfrm>
          </p:grpSpPr>
          <p:cxnSp>
            <p:nvCxnSpPr>
              <p:cNvPr id="30" name="Straight Connector 29"/>
              <p:cNvCxnSpPr/>
              <p:nvPr/>
            </p:nvCxnSpPr>
            <p:spPr bwMode="auto">
              <a:xfrm>
                <a:off x="5327324" y="4645387"/>
                <a:ext cx="1646701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1" name="Group 115"/>
              <p:cNvGrpSpPr>
                <a:grpSpLocks/>
              </p:cNvGrpSpPr>
              <p:nvPr/>
            </p:nvGrpSpPr>
            <p:grpSpPr bwMode="auto">
              <a:xfrm>
                <a:off x="5479793" y="4535007"/>
                <a:ext cx="213930" cy="234056"/>
                <a:chOff x="5181569" y="6385320"/>
                <a:chExt cx="214329" cy="233912"/>
              </a:xfrm>
            </p:grpSpPr>
            <p:cxnSp>
              <p:nvCxnSpPr>
                <p:cNvPr id="45" name="Straight Connector 44"/>
                <p:cNvCxnSpPr/>
                <p:nvPr/>
              </p:nvCxnSpPr>
              <p:spPr>
                <a:xfrm>
                  <a:off x="5181569" y="6400050"/>
                  <a:ext cx="0" cy="219182"/>
                </a:xfrm>
                <a:prstGeom prst="line">
                  <a:avLst/>
                </a:prstGeom>
                <a:ln w="5715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5395898" y="6385320"/>
                  <a:ext cx="0" cy="219182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angle 31"/>
              <p:cNvSpPr/>
              <p:nvPr/>
            </p:nvSpPr>
            <p:spPr bwMode="auto">
              <a:xfrm>
                <a:off x="5862533" y="4335173"/>
                <a:ext cx="576329" cy="309762"/>
              </a:xfrm>
              <a:prstGeom prst="rect">
                <a:avLst/>
              </a:prstGeom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Set Up</a:t>
                </a:r>
              </a:p>
            </p:txBody>
          </p:sp>
          <p:grpSp>
            <p:nvGrpSpPr>
              <p:cNvPr id="33" name="Group 121"/>
              <p:cNvGrpSpPr>
                <a:grpSpLocks/>
              </p:cNvGrpSpPr>
              <p:nvPr/>
            </p:nvGrpSpPr>
            <p:grpSpPr bwMode="auto">
              <a:xfrm>
                <a:off x="6532369" y="4513922"/>
                <a:ext cx="425088" cy="264914"/>
                <a:chOff x="4495250" y="6049316"/>
                <a:chExt cx="425882" cy="264751"/>
              </a:xfrm>
            </p:grpSpPr>
            <p:cxnSp>
              <p:nvCxnSpPr>
                <p:cNvPr id="34" name="Straight Connector 33"/>
                <p:cNvCxnSpPr/>
                <p:nvPr/>
              </p:nvCxnSpPr>
              <p:spPr>
                <a:xfrm>
                  <a:off x="4495250" y="6078774"/>
                  <a:ext cx="0" cy="219182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Group 128"/>
                <p:cNvGrpSpPr>
                  <a:grpSpLocks/>
                </p:cNvGrpSpPr>
                <p:nvPr/>
              </p:nvGrpSpPr>
              <p:grpSpPr bwMode="auto">
                <a:xfrm flipH="1">
                  <a:off x="4644580" y="6049316"/>
                  <a:ext cx="276552" cy="264751"/>
                  <a:chOff x="4451488" y="5609182"/>
                  <a:chExt cx="276552" cy="264751"/>
                </a:xfrm>
              </p:grpSpPr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4453077" y="5609182"/>
                    <a:ext cx="274963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 flipV="1">
                    <a:off x="4451488" y="5736944"/>
                    <a:ext cx="274964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33375"/>
            <a:ext cx="5746564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651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2397314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39725" indent="-339725">
              <a:spcBef>
                <a:spcPts val="600"/>
              </a:spcBef>
              <a:buFont typeface="+mj-lt"/>
              <a:buAutoNum type="arabicParenR" startAt="3"/>
            </a:pPr>
            <a:r>
              <a:rPr lang="en-US" altLang="en-US" sz="2400" b="1" dirty="0">
                <a:solidFill>
                  <a:schemeClr val="bg1"/>
                </a:solidFill>
              </a:rPr>
              <a:t>Many-to-Many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90600" y="1752600"/>
            <a:ext cx="3965893" cy="587770"/>
            <a:chOff x="1828800" y="1823642"/>
            <a:chExt cx="3965893" cy="587770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1828800" y="1954212"/>
              <a:ext cx="109728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STUDENTS</a:t>
              </a:r>
            </a:p>
          </p:txBody>
        </p:sp>
        <p:sp>
          <p:nvSpPr>
            <p:cNvPr id="27653" name="Text Box 4"/>
            <p:cNvSpPr txBox="1">
              <a:spLocks noChangeArrowheads="1"/>
            </p:cNvSpPr>
            <p:nvPr/>
          </p:nvSpPr>
          <p:spPr bwMode="auto">
            <a:xfrm>
              <a:off x="4697413" y="1952625"/>
              <a:ext cx="1097280" cy="45720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MODULES</a:t>
              </a:r>
            </a:p>
          </p:txBody>
        </p:sp>
        <p:grpSp>
          <p:nvGrpSpPr>
            <p:cNvPr id="27654" name="Group 12"/>
            <p:cNvGrpSpPr>
              <a:grpSpLocks/>
            </p:cNvGrpSpPr>
            <p:nvPr/>
          </p:nvGrpSpPr>
          <p:grpSpPr bwMode="auto">
            <a:xfrm>
              <a:off x="2885616" y="1823642"/>
              <a:ext cx="1841961" cy="502904"/>
              <a:chOff x="3835644" y="1993250"/>
              <a:chExt cx="1840935" cy="502904"/>
            </a:xfrm>
          </p:grpSpPr>
          <p:cxnSp>
            <p:nvCxnSpPr>
              <p:cNvPr id="14" name="Straight Connector 13"/>
              <p:cNvCxnSpPr/>
              <p:nvPr/>
            </p:nvCxnSpPr>
            <p:spPr bwMode="auto">
              <a:xfrm>
                <a:off x="3848797" y="2347913"/>
                <a:ext cx="1827782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 bwMode="auto">
              <a:xfrm>
                <a:off x="4255889" y="2241089"/>
                <a:ext cx="0" cy="219456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 bwMode="auto">
              <a:xfrm>
                <a:off x="4473450" y="1993250"/>
                <a:ext cx="514536" cy="309958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Enroll</a:t>
                </a:r>
              </a:p>
            </p:txBody>
          </p:sp>
          <p:grpSp>
            <p:nvGrpSpPr>
              <p:cNvPr id="27686" name="Group 121"/>
              <p:cNvGrpSpPr>
                <a:grpSpLocks/>
              </p:cNvGrpSpPr>
              <p:nvPr/>
            </p:nvGrpSpPr>
            <p:grpSpPr bwMode="auto">
              <a:xfrm>
                <a:off x="5216458" y="2197940"/>
                <a:ext cx="444609" cy="298214"/>
                <a:chOff x="5261965" y="6016225"/>
                <a:chExt cx="445653" cy="297843"/>
              </a:xfrm>
            </p:grpSpPr>
            <p:cxnSp>
              <p:nvCxnSpPr>
                <p:cNvPr id="20" name="Straight Connector 19"/>
                <p:cNvCxnSpPr/>
                <p:nvPr/>
              </p:nvCxnSpPr>
              <p:spPr>
                <a:xfrm>
                  <a:off x="5261965" y="6049318"/>
                  <a:ext cx="0" cy="219183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7690" name="Group 128"/>
                <p:cNvGrpSpPr>
                  <a:grpSpLocks/>
                </p:cNvGrpSpPr>
                <p:nvPr/>
              </p:nvGrpSpPr>
              <p:grpSpPr bwMode="auto">
                <a:xfrm flipH="1">
                  <a:off x="5419628" y="6016225"/>
                  <a:ext cx="287990" cy="297843"/>
                  <a:chOff x="3665002" y="5576091"/>
                  <a:chExt cx="287990" cy="297843"/>
                </a:xfrm>
              </p:grpSpPr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3665002" y="5576091"/>
                    <a:ext cx="274811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 flipV="1">
                    <a:off x="3678180" y="5736945"/>
                    <a:ext cx="274812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8" name="Straight Connector 17"/>
              <p:cNvCxnSpPr/>
              <p:nvPr/>
            </p:nvCxnSpPr>
            <p:spPr bwMode="auto">
              <a:xfrm flipH="1">
                <a:off x="3835644" y="2351087"/>
                <a:ext cx="274167" cy="13716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 bwMode="auto">
              <a:xfrm flipH="1" flipV="1">
                <a:off x="3860362" y="2212260"/>
                <a:ext cx="274167" cy="13716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5486400" y="2819400"/>
            <a:ext cx="1905000" cy="3505200"/>
            <a:chOff x="5486400" y="2286000"/>
            <a:chExt cx="1905000" cy="3505200"/>
          </a:xfrm>
        </p:grpSpPr>
        <p:sp>
          <p:nvSpPr>
            <p:cNvPr id="27673" name="Oval 9"/>
            <p:cNvSpPr>
              <a:spLocks noChangeArrowheads="1"/>
            </p:cNvSpPr>
            <p:nvPr/>
          </p:nvSpPr>
          <p:spPr bwMode="auto">
            <a:xfrm>
              <a:off x="5486400" y="2667000"/>
              <a:ext cx="1905000" cy="31242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5791200" y="5124450"/>
              <a:ext cx="533400" cy="409575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b4</a:t>
              </a: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5791200" y="4362450"/>
              <a:ext cx="533400" cy="409575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b3</a:t>
              </a: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5791200" y="3600450"/>
              <a:ext cx="533400" cy="409575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b2</a:t>
              </a:r>
            </a:p>
          </p:txBody>
        </p:sp>
        <p:sp>
          <p:nvSpPr>
            <p:cNvPr id="33" name="Text Box 13"/>
            <p:cNvSpPr txBox="1">
              <a:spLocks noChangeArrowheads="1"/>
            </p:cNvSpPr>
            <p:nvPr/>
          </p:nvSpPr>
          <p:spPr bwMode="auto">
            <a:xfrm>
              <a:off x="5791200" y="2838450"/>
              <a:ext cx="533400" cy="409575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2000" b="1" smtClean="0">
                  <a:solidFill>
                    <a:srgbClr val="FF3300"/>
                  </a:solidFill>
                  <a:latin typeface="Arial" pitchFamily="34" charset="0"/>
                </a:rPr>
                <a:t>b1</a:t>
              </a:r>
            </a:p>
          </p:txBody>
        </p:sp>
        <p:sp>
          <p:nvSpPr>
            <p:cNvPr id="27678" name="TextBox 18"/>
            <p:cNvSpPr txBox="1">
              <a:spLocks noChangeArrowheads="1"/>
            </p:cNvSpPr>
            <p:nvPr/>
          </p:nvSpPr>
          <p:spPr bwMode="auto">
            <a:xfrm>
              <a:off x="5603875" y="2286000"/>
              <a:ext cx="1482725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Entity: MODULES</a:t>
              </a:r>
              <a:endParaRPr lang="en-US" altLang="en-US" sz="1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79" name="TextBox 20"/>
            <p:cNvSpPr txBox="1">
              <a:spLocks noChangeArrowheads="1"/>
            </p:cNvSpPr>
            <p:nvPr/>
          </p:nvSpPr>
          <p:spPr bwMode="auto">
            <a:xfrm>
              <a:off x="6477000" y="2895600"/>
              <a:ext cx="661988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IT1761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80" name="TextBox 24"/>
            <p:cNvSpPr txBox="1">
              <a:spLocks noChangeArrowheads="1"/>
            </p:cNvSpPr>
            <p:nvPr/>
          </p:nvSpPr>
          <p:spPr bwMode="auto">
            <a:xfrm>
              <a:off x="6477000" y="3592513"/>
              <a:ext cx="661988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IT1762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81" name="TextBox 25"/>
            <p:cNvSpPr txBox="1">
              <a:spLocks noChangeArrowheads="1"/>
            </p:cNvSpPr>
            <p:nvPr/>
          </p:nvSpPr>
          <p:spPr bwMode="auto">
            <a:xfrm>
              <a:off x="6477000" y="4354513"/>
              <a:ext cx="661988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IT1764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82" name="TextBox 26"/>
            <p:cNvSpPr txBox="1">
              <a:spLocks noChangeArrowheads="1"/>
            </p:cNvSpPr>
            <p:nvPr/>
          </p:nvSpPr>
          <p:spPr bwMode="auto">
            <a:xfrm>
              <a:off x="6477000" y="5105400"/>
              <a:ext cx="661988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IT1766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656" name="Group 1"/>
          <p:cNvGrpSpPr>
            <a:grpSpLocks/>
          </p:cNvGrpSpPr>
          <p:nvPr/>
        </p:nvGrpSpPr>
        <p:grpSpPr bwMode="auto">
          <a:xfrm>
            <a:off x="2057400" y="2819400"/>
            <a:ext cx="1763713" cy="3448050"/>
            <a:chOff x="2057400" y="2286000"/>
            <a:chExt cx="1763713" cy="3448050"/>
          </a:xfrm>
        </p:grpSpPr>
        <p:sp>
          <p:nvSpPr>
            <p:cNvPr id="27663" name="Oval 4"/>
            <p:cNvSpPr>
              <a:spLocks noChangeArrowheads="1"/>
            </p:cNvSpPr>
            <p:nvPr/>
          </p:nvSpPr>
          <p:spPr bwMode="auto">
            <a:xfrm>
              <a:off x="2057400" y="2686050"/>
              <a:ext cx="1763713" cy="3048000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19050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4" name="Text Box 5"/>
            <p:cNvSpPr txBox="1">
              <a:spLocks noChangeArrowheads="1"/>
            </p:cNvSpPr>
            <p:nvPr/>
          </p:nvSpPr>
          <p:spPr bwMode="auto">
            <a:xfrm>
              <a:off x="2819400" y="5124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a4</a:t>
              </a:r>
            </a:p>
          </p:txBody>
        </p:sp>
        <p:sp>
          <p:nvSpPr>
            <p:cNvPr id="27665" name="Text Box 6"/>
            <p:cNvSpPr txBox="1">
              <a:spLocks noChangeArrowheads="1"/>
            </p:cNvSpPr>
            <p:nvPr/>
          </p:nvSpPr>
          <p:spPr bwMode="auto">
            <a:xfrm>
              <a:off x="2819400" y="4362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27666" name="Text Box 7"/>
            <p:cNvSpPr txBox="1">
              <a:spLocks noChangeArrowheads="1"/>
            </p:cNvSpPr>
            <p:nvPr/>
          </p:nvSpPr>
          <p:spPr bwMode="auto">
            <a:xfrm>
              <a:off x="2819400" y="3600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27667" name="Text Box 8"/>
            <p:cNvSpPr txBox="1">
              <a:spLocks noChangeArrowheads="1"/>
            </p:cNvSpPr>
            <p:nvPr/>
          </p:nvSpPr>
          <p:spPr bwMode="auto">
            <a:xfrm>
              <a:off x="2819400" y="2838450"/>
              <a:ext cx="533400" cy="40957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en-US" altLang="en-US" sz="2000" b="1">
                  <a:solidFill>
                    <a:srgbClr val="FF33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27668" name="TextBox 17"/>
            <p:cNvSpPr txBox="1">
              <a:spLocks noChangeArrowheads="1"/>
            </p:cNvSpPr>
            <p:nvPr/>
          </p:nvSpPr>
          <p:spPr bwMode="auto">
            <a:xfrm>
              <a:off x="2319338" y="2286000"/>
              <a:ext cx="1414462" cy="265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 dirty="0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Entity: STUDENT</a:t>
              </a:r>
              <a:endParaRPr lang="en-US" altLang="en-US" sz="1600" b="1" dirty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69" name="TextBox 19"/>
            <p:cNvSpPr txBox="1">
              <a:spLocks noChangeArrowheads="1"/>
            </p:cNvSpPr>
            <p:nvPr/>
          </p:nvSpPr>
          <p:spPr bwMode="auto">
            <a:xfrm>
              <a:off x="2160588" y="2943225"/>
              <a:ext cx="493712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Chris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70" name="TextBox 27"/>
            <p:cNvSpPr txBox="1">
              <a:spLocks noChangeArrowheads="1"/>
            </p:cNvSpPr>
            <p:nvPr/>
          </p:nvSpPr>
          <p:spPr bwMode="auto">
            <a:xfrm>
              <a:off x="2160588" y="3667125"/>
              <a:ext cx="534987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Joyce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71" name="TextBox 28"/>
            <p:cNvSpPr txBox="1">
              <a:spLocks noChangeArrowheads="1"/>
            </p:cNvSpPr>
            <p:nvPr/>
          </p:nvSpPr>
          <p:spPr bwMode="auto">
            <a:xfrm>
              <a:off x="2160588" y="4429125"/>
              <a:ext cx="474662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Rose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672" name="TextBox 29"/>
            <p:cNvSpPr txBox="1">
              <a:spLocks noChangeArrowheads="1"/>
            </p:cNvSpPr>
            <p:nvPr/>
          </p:nvSpPr>
          <p:spPr bwMode="auto">
            <a:xfrm>
              <a:off x="2160588" y="5137150"/>
              <a:ext cx="541337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" tIns="9144" rIns="9144" bIns="9144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>
                  <a:solidFill>
                    <a:srgbClr val="FFFF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Steve</a:t>
              </a:r>
              <a:endParaRPr lang="en-US" altLang="en-US" sz="18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429715" y="3576638"/>
            <a:ext cx="2300748" cy="747824"/>
            <a:chOff x="3429715" y="3043238"/>
            <a:chExt cx="2300748" cy="747516"/>
          </a:xfrm>
        </p:grpSpPr>
        <p:sp>
          <p:nvSpPr>
            <p:cNvPr id="34" name="Line 14"/>
            <p:cNvSpPr>
              <a:spLocks noChangeShapeType="1"/>
            </p:cNvSpPr>
            <p:nvPr/>
          </p:nvSpPr>
          <p:spPr bwMode="auto">
            <a:xfrm>
              <a:off x="3429715" y="3043238"/>
              <a:ext cx="2286000" cy="22216"/>
            </a:xfrm>
            <a:prstGeom prst="line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2" name="Line 14"/>
            <p:cNvSpPr>
              <a:spLocks noChangeShapeType="1"/>
            </p:cNvSpPr>
            <p:nvPr/>
          </p:nvSpPr>
          <p:spPr bwMode="auto">
            <a:xfrm>
              <a:off x="3444463" y="3150938"/>
              <a:ext cx="2286000" cy="639816"/>
            </a:xfrm>
            <a:prstGeom prst="line">
              <a:avLst/>
            </a:prstGeom>
            <a:ln w="38100">
              <a:solidFill>
                <a:srgbClr val="FFC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3444240" y="5029200"/>
            <a:ext cx="2194561" cy="904875"/>
            <a:chOff x="3450335" y="4495800"/>
            <a:chExt cx="2340865" cy="904875"/>
          </a:xfrm>
        </p:grpSpPr>
        <p:sp>
          <p:nvSpPr>
            <p:cNvPr id="36" name="Line 16"/>
            <p:cNvSpPr>
              <a:spLocks noChangeShapeType="1"/>
            </p:cNvSpPr>
            <p:nvPr/>
          </p:nvSpPr>
          <p:spPr bwMode="auto">
            <a:xfrm>
              <a:off x="3450336" y="4495800"/>
              <a:ext cx="2340864" cy="6350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43" name="Line 14"/>
            <p:cNvSpPr>
              <a:spLocks noChangeShapeType="1"/>
            </p:cNvSpPr>
            <p:nvPr/>
          </p:nvSpPr>
          <p:spPr bwMode="auto">
            <a:xfrm flipV="1">
              <a:off x="3450335" y="4616450"/>
              <a:ext cx="2340864" cy="78422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28613"/>
            <a:ext cx="5583058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-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75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2397314" cy="44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39725" indent="-339725">
              <a:spcBef>
                <a:spcPts val="600"/>
              </a:spcBef>
              <a:buFont typeface="+mj-lt"/>
              <a:buAutoNum type="arabicParenR" startAt="3"/>
            </a:pPr>
            <a:r>
              <a:rPr lang="en-US" altLang="en-US" sz="2400" b="1" dirty="0">
                <a:solidFill>
                  <a:schemeClr val="bg1"/>
                </a:solidFill>
              </a:rPr>
              <a:t>Many-to-Many </a:t>
            </a:r>
            <a:endParaRPr lang="en-US" altLang="en-US" sz="2400" b="1" u="sng" dirty="0">
              <a:solidFill>
                <a:schemeClr val="bg1"/>
              </a:solidFill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21828"/>
              </p:ext>
            </p:extLst>
          </p:nvPr>
        </p:nvGraphicFramePr>
        <p:xfrm>
          <a:off x="5257800" y="2889252"/>
          <a:ext cx="3352800" cy="18319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3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solidFill>
                            <a:schemeClr val="tx1"/>
                          </a:solidFill>
                        </a:rPr>
                        <a:t>ModID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chemeClr val="tx1"/>
                          </a:solidFill>
                        </a:rPr>
                        <a:t>Semester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36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IT1761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T="45731" marB="45731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 smtClean="0"/>
                        <a:t>Comp</a:t>
                      </a:r>
                      <a:r>
                        <a:rPr lang="en-GB" sz="1600" baseline="0" dirty="0" err="1" smtClean="0"/>
                        <a:t>Maths</a:t>
                      </a:r>
                      <a:endParaRPr lang="en-US" sz="1600" dirty="0"/>
                    </a:p>
                  </a:txBody>
                  <a:tcPr marT="45731" marB="45731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S1</a:t>
                      </a:r>
                      <a:endParaRPr lang="en-US" sz="1600" dirty="0"/>
                    </a:p>
                  </a:txBody>
                  <a:tcPr marT="45731" marB="4573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IT1762</a:t>
                      </a:r>
                      <a:endParaRPr lang="en-US" sz="16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DSA</a:t>
                      </a:r>
                      <a:endParaRPr lang="en-US" sz="16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S1</a:t>
                      </a:r>
                      <a:endParaRPr lang="en-US" sz="16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IT1764</a:t>
                      </a:r>
                      <a:endParaRPr lang="en-US" sz="1600" b="1" dirty="0"/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 smtClean="0"/>
                        <a:t>CommSkills</a:t>
                      </a:r>
                      <a:endParaRPr lang="en-US" sz="1600" dirty="0"/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S1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IT1766</a:t>
                      </a:r>
                      <a:endParaRPr lang="en-US" sz="1600" b="1" dirty="0"/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 smtClean="0"/>
                        <a:t>InnoProj</a:t>
                      </a:r>
                      <a:endParaRPr lang="en-US" sz="1600" dirty="0"/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S1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1" marB="45731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4186238" y="3413127"/>
            <a:ext cx="985837" cy="752475"/>
            <a:chOff x="2921000" y="3644900"/>
            <a:chExt cx="788407" cy="704097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924808" y="3644900"/>
              <a:ext cx="784599" cy="1486"/>
            </a:xfrm>
            <a:prstGeom prst="line">
              <a:avLst/>
            </a:prstGeom>
            <a:ln w="28575">
              <a:solidFill>
                <a:srgbClr val="FFFF0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2921000" y="3738483"/>
              <a:ext cx="778250" cy="610514"/>
            </a:xfrm>
            <a:prstGeom prst="line">
              <a:avLst/>
            </a:prstGeom>
            <a:ln w="28575">
              <a:solidFill>
                <a:srgbClr val="FFFF0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429147"/>
              </p:ext>
            </p:extLst>
          </p:nvPr>
        </p:nvGraphicFramePr>
        <p:xfrm>
          <a:off x="909638" y="2863852"/>
          <a:ext cx="3276600" cy="3003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solidFill>
                            <a:schemeClr val="tx1"/>
                          </a:solidFill>
                        </a:rPr>
                        <a:t>AdminNo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err="1" smtClean="0">
                          <a:solidFill>
                            <a:schemeClr val="tx1"/>
                          </a:solidFill>
                        </a:rPr>
                        <a:t>StudName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err="1" smtClean="0">
                          <a:solidFill>
                            <a:schemeClr val="tx1"/>
                          </a:solidFill>
                        </a:rPr>
                        <a:t>ModID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98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tx1"/>
                          </a:solidFill>
                        </a:rPr>
                        <a:t>151111A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rgbClr val="C00000"/>
                          </a:solidFill>
                        </a:rPr>
                        <a:t>Chris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marT="45732" marB="45732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IT1761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T="45732" marB="45732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tx1"/>
                          </a:solidFill>
                        </a:rPr>
                        <a:t>151111A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rgbClr val="C00000"/>
                          </a:solidFill>
                        </a:rPr>
                        <a:t>Chris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IT1762</a:t>
                      </a:r>
                      <a:endParaRPr lang="en-US" sz="1600" dirty="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tx1"/>
                          </a:solidFill>
                        </a:rPr>
                        <a:t>152222B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rgbClr val="151897"/>
                          </a:solidFill>
                        </a:rPr>
                        <a:t>Joyce</a:t>
                      </a:r>
                      <a:endParaRPr lang="en-US" sz="1600" dirty="0">
                        <a:solidFill>
                          <a:srgbClr val="151897"/>
                        </a:solidFill>
                      </a:endParaRPr>
                    </a:p>
                  </a:txBody>
                  <a:tcPr marT="45732" marB="45732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IT1761</a:t>
                      </a:r>
                      <a:endPara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T="45732" marB="45732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152222B</a:t>
                      </a:r>
                      <a:endParaRPr lang="en-US" sz="16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rgbClr val="151897"/>
                          </a:solidFill>
                        </a:rPr>
                        <a:t>Joyce</a:t>
                      </a:r>
                      <a:endParaRPr lang="en-US" sz="1600" dirty="0">
                        <a:solidFill>
                          <a:srgbClr val="151897"/>
                        </a:solidFill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IT1762</a:t>
                      </a:r>
                      <a:endParaRPr lang="en-US" sz="1600" dirty="0"/>
                    </a:p>
                  </a:txBody>
                  <a:tcPr marT="45732" marB="457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153333C</a:t>
                      </a:r>
                      <a:endParaRPr lang="en-US" sz="16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Rose</a:t>
                      </a:r>
                      <a:endParaRPr lang="en-US" sz="1600" dirty="0"/>
                    </a:p>
                  </a:txBody>
                  <a:tcPr marT="45732" marB="457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IT1764</a:t>
                      </a:r>
                      <a:endParaRPr lang="en-US" sz="1600" b="1" dirty="0"/>
                    </a:p>
                  </a:txBody>
                  <a:tcPr marT="45732" marB="457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153333C</a:t>
                      </a:r>
                      <a:endParaRPr lang="en-US" sz="16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Rose</a:t>
                      </a:r>
                      <a:endParaRPr lang="en-US" sz="1600" dirty="0"/>
                    </a:p>
                  </a:txBody>
                  <a:tcPr marT="45732" marB="45732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IT1766</a:t>
                      </a:r>
                      <a:endParaRPr lang="en-US" sz="1600" b="1" dirty="0"/>
                    </a:p>
                  </a:txBody>
                  <a:tcPr marT="45732" marB="45732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3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154444D</a:t>
                      </a:r>
                      <a:endParaRPr lang="en-US" sz="16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Steve</a:t>
                      </a:r>
                      <a:endParaRPr lang="en-US" sz="16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T="45732" marB="457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IT1766</a:t>
                      </a:r>
                      <a:endParaRPr lang="en-US" sz="1600" dirty="0"/>
                    </a:p>
                  </a:txBody>
                  <a:tcPr marT="45732" marB="4573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2" name="Group 23"/>
          <p:cNvGrpSpPr>
            <a:grpSpLocks/>
          </p:cNvGrpSpPr>
          <p:nvPr/>
        </p:nvGrpSpPr>
        <p:grpSpPr bwMode="auto">
          <a:xfrm>
            <a:off x="4186236" y="4175129"/>
            <a:ext cx="996950" cy="1142998"/>
            <a:chOff x="2983552" y="3532748"/>
            <a:chExt cx="826448" cy="646609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2984868" y="3532748"/>
              <a:ext cx="825132" cy="422991"/>
            </a:xfrm>
            <a:prstGeom prst="straightConnector1">
              <a:avLst/>
            </a:prstGeom>
            <a:ln w="28575">
              <a:solidFill>
                <a:schemeClr val="bg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H="1">
              <a:off x="2983552" y="3791391"/>
              <a:ext cx="806709" cy="387966"/>
            </a:xfrm>
            <a:prstGeom prst="straightConnector1">
              <a:avLst/>
            </a:prstGeom>
            <a:ln w="28575">
              <a:solidFill>
                <a:schemeClr val="bg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hlinkClick r:id="rId2"/>
          </p:cNvPr>
          <p:cNvSpPr/>
          <p:nvPr/>
        </p:nvSpPr>
        <p:spPr>
          <a:xfrm>
            <a:off x="1249680" y="6245423"/>
            <a:ext cx="66751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ER Diagram, reference source: https</a:t>
            </a:r>
            <a:r>
              <a:rPr lang="en-US" sz="1400" dirty="0">
                <a:solidFill>
                  <a:schemeClr val="bg1"/>
                </a:solidFill>
              </a:rPr>
              <a:t>://www.youtube.com/watch?v=ZBgXb66Ckz0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990600" y="1676400"/>
            <a:ext cx="3965893" cy="587770"/>
            <a:chOff x="1828800" y="1823642"/>
            <a:chExt cx="3965893" cy="587770"/>
          </a:xfrm>
        </p:grpSpPr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1828800" y="1954212"/>
              <a:ext cx="109728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kumimoji="1" lang="en-US" altLang="en-US" sz="1400" b="1" dirty="0" smtClean="0">
                  <a:solidFill>
                    <a:srgbClr val="060606"/>
                  </a:solidFill>
                  <a:ea typeface="Calibri" pitchFamily="34" charset="0"/>
                  <a:cs typeface="Calibri" pitchFamily="34" charset="0"/>
                </a:rPr>
                <a:t>STUDENTS</a:t>
              </a:r>
            </a:p>
          </p:txBody>
        </p:sp>
        <p:sp>
          <p:nvSpPr>
            <p:cNvPr id="30" name="Text Box 4"/>
            <p:cNvSpPr txBox="1">
              <a:spLocks noChangeArrowheads="1"/>
            </p:cNvSpPr>
            <p:nvPr/>
          </p:nvSpPr>
          <p:spPr bwMode="auto">
            <a:xfrm>
              <a:off x="4697413" y="1952625"/>
              <a:ext cx="1097280" cy="457200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wrap="none"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4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MODULES</a:t>
              </a:r>
            </a:p>
          </p:txBody>
        </p:sp>
        <p:grpSp>
          <p:nvGrpSpPr>
            <p:cNvPr id="35" name="Group 12"/>
            <p:cNvGrpSpPr>
              <a:grpSpLocks/>
            </p:cNvGrpSpPr>
            <p:nvPr/>
          </p:nvGrpSpPr>
          <p:grpSpPr bwMode="auto">
            <a:xfrm>
              <a:off x="2885616" y="1823642"/>
              <a:ext cx="1841961" cy="502904"/>
              <a:chOff x="3835644" y="1993250"/>
              <a:chExt cx="1840935" cy="502904"/>
            </a:xfrm>
          </p:grpSpPr>
          <p:cxnSp>
            <p:nvCxnSpPr>
              <p:cNvPr id="36" name="Straight Connector 35"/>
              <p:cNvCxnSpPr/>
              <p:nvPr/>
            </p:nvCxnSpPr>
            <p:spPr bwMode="auto">
              <a:xfrm>
                <a:off x="3848797" y="2347913"/>
                <a:ext cx="1827782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auto">
              <a:xfrm>
                <a:off x="4255889" y="2241089"/>
                <a:ext cx="0" cy="219456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Rectangle 37"/>
              <p:cNvSpPr/>
              <p:nvPr/>
            </p:nvSpPr>
            <p:spPr bwMode="auto">
              <a:xfrm>
                <a:off x="4473450" y="1993250"/>
                <a:ext cx="514536" cy="309958"/>
              </a:xfrm>
              <a:prstGeom prst="rect">
                <a:avLst/>
              </a:prstGeom>
              <a:ln w="28575">
                <a:noFill/>
              </a:ln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Enroll</a:t>
                </a:r>
              </a:p>
            </p:txBody>
          </p:sp>
          <p:grpSp>
            <p:nvGrpSpPr>
              <p:cNvPr id="39" name="Group 121"/>
              <p:cNvGrpSpPr>
                <a:grpSpLocks/>
              </p:cNvGrpSpPr>
              <p:nvPr/>
            </p:nvGrpSpPr>
            <p:grpSpPr bwMode="auto">
              <a:xfrm>
                <a:off x="5216458" y="2197940"/>
                <a:ext cx="444609" cy="298214"/>
                <a:chOff x="5261965" y="6016225"/>
                <a:chExt cx="445653" cy="297843"/>
              </a:xfrm>
            </p:grpSpPr>
            <p:cxnSp>
              <p:nvCxnSpPr>
                <p:cNvPr id="42" name="Straight Connector 41"/>
                <p:cNvCxnSpPr/>
                <p:nvPr/>
              </p:nvCxnSpPr>
              <p:spPr>
                <a:xfrm>
                  <a:off x="5261965" y="6049318"/>
                  <a:ext cx="0" cy="219183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Group 128"/>
                <p:cNvGrpSpPr>
                  <a:grpSpLocks/>
                </p:cNvGrpSpPr>
                <p:nvPr/>
              </p:nvGrpSpPr>
              <p:grpSpPr bwMode="auto">
                <a:xfrm flipH="1">
                  <a:off x="5419628" y="6016225"/>
                  <a:ext cx="287990" cy="297843"/>
                  <a:chOff x="3665002" y="5576091"/>
                  <a:chExt cx="287990" cy="297843"/>
                </a:xfrm>
              </p:grpSpPr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3665002" y="5576091"/>
                    <a:ext cx="274811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 flipV="1">
                    <a:off x="3678180" y="5736945"/>
                    <a:ext cx="274812" cy="136989"/>
                  </a:xfrm>
                  <a:prstGeom prst="line">
                    <a:avLst/>
                  </a:prstGeom>
                  <a:ln w="5715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0" name="Straight Connector 39"/>
              <p:cNvCxnSpPr/>
              <p:nvPr/>
            </p:nvCxnSpPr>
            <p:spPr bwMode="auto">
              <a:xfrm flipH="1">
                <a:off x="3835644" y="2351087"/>
                <a:ext cx="274167" cy="13716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 bwMode="auto">
              <a:xfrm flipH="1" flipV="1">
                <a:off x="3860362" y="2212260"/>
                <a:ext cx="274167" cy="137160"/>
              </a:xfrm>
              <a:prstGeom prst="line">
                <a:avLst/>
              </a:prstGeom>
              <a:ln w="571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58109"/>
            <a:ext cx="493666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types &amp;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699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246856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/>
            </a:pPr>
            <a:r>
              <a:rPr lang="en-US" altLang="en-US" sz="2400" b="1">
                <a:solidFill>
                  <a:srgbClr val="FFFF00"/>
                </a:solidFill>
              </a:rPr>
              <a:t>Strong entities </a:t>
            </a:r>
            <a:endParaRPr lang="en-US" altLang="en-US" sz="2400" b="1" u="sng">
              <a:solidFill>
                <a:srgbClr val="FFFF00"/>
              </a:solidFill>
            </a:endParaRPr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1114425" y="1524000"/>
            <a:ext cx="7772400" cy="77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strong entity is an </a:t>
            </a:r>
            <a:r>
              <a:rPr lang="en-GB" altLang="en-US" sz="2400" u="sng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Existence-Independent</a:t>
            </a: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entity. </a:t>
            </a:r>
            <a:r>
              <a:rPr lang="en-GB" altLang="en-US" sz="2400" u="sng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It can exist in the database independently.</a:t>
            </a:r>
            <a:endParaRPr lang="en-US" altLang="en-US" sz="2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702" name="Group 24"/>
          <p:cNvGrpSpPr>
            <a:grpSpLocks/>
          </p:cNvGrpSpPr>
          <p:nvPr/>
        </p:nvGrpSpPr>
        <p:grpSpPr bwMode="auto">
          <a:xfrm>
            <a:off x="1398588" y="2514615"/>
            <a:ext cx="3706812" cy="609585"/>
            <a:chOff x="2657625" y="1828813"/>
            <a:chExt cx="3706648" cy="609586"/>
          </a:xfrm>
        </p:grpSpPr>
        <p:sp>
          <p:nvSpPr>
            <p:cNvPr id="29719" name="Text Box 4"/>
            <p:cNvSpPr txBox="1">
              <a:spLocks noChangeArrowheads="1"/>
            </p:cNvSpPr>
            <p:nvPr/>
          </p:nvSpPr>
          <p:spPr bwMode="auto">
            <a:xfrm>
              <a:off x="2657625" y="1981198"/>
              <a:ext cx="1223962" cy="457201"/>
            </a:xfrm>
            <a:prstGeom prst="rect">
              <a:avLst/>
            </a:prstGeom>
            <a:solidFill>
              <a:schemeClr val="bg2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</a:p>
          </p:txBody>
        </p:sp>
        <p:sp>
          <p:nvSpPr>
            <p:cNvPr id="29720" name="Text Box 4"/>
            <p:cNvSpPr txBox="1">
              <a:spLocks noChangeArrowheads="1"/>
            </p:cNvSpPr>
            <p:nvPr/>
          </p:nvSpPr>
          <p:spPr bwMode="auto">
            <a:xfrm>
              <a:off x="5211748" y="1966909"/>
              <a:ext cx="1152525" cy="457201"/>
            </a:xfrm>
            <a:prstGeom prst="rect">
              <a:avLst/>
            </a:prstGeom>
            <a:solidFill>
              <a:srgbClr val="FFC000"/>
            </a:solidFill>
            <a:ln w="22225">
              <a:solidFill>
                <a:srgbClr val="060606"/>
              </a:solidFill>
              <a:miter lim="800000"/>
              <a:headEnd/>
              <a:tailEnd/>
            </a:ln>
          </p:spPr>
          <p:txBody>
            <a:bodyPr lIns="46800" rIns="4680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en-US" altLang="en-US" sz="1600" b="1" dirty="0">
                  <a:solidFill>
                    <a:srgbClr val="060606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ACCOUNTS</a:t>
              </a:r>
            </a:p>
          </p:txBody>
        </p:sp>
        <p:grpSp>
          <p:nvGrpSpPr>
            <p:cNvPr id="29721" name="Group 8"/>
            <p:cNvGrpSpPr>
              <a:grpSpLocks/>
            </p:cNvGrpSpPr>
            <p:nvPr/>
          </p:nvGrpSpPr>
          <p:grpSpPr bwMode="auto">
            <a:xfrm>
              <a:off x="3860900" y="1828813"/>
              <a:ext cx="1371539" cy="484093"/>
              <a:chOff x="5941413" y="4264168"/>
              <a:chExt cx="1372190" cy="483784"/>
            </a:xfrm>
          </p:grpSpPr>
          <p:cxnSp>
            <p:nvCxnSpPr>
              <p:cNvPr id="29" name="Straight Connector 28"/>
              <p:cNvCxnSpPr/>
              <p:nvPr/>
            </p:nvCxnSpPr>
            <p:spPr bwMode="auto">
              <a:xfrm>
                <a:off x="5941413" y="4630649"/>
                <a:ext cx="1372190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9723" name="Group 115"/>
              <p:cNvGrpSpPr>
                <a:grpSpLocks/>
              </p:cNvGrpSpPr>
              <p:nvPr/>
            </p:nvGrpSpPr>
            <p:grpSpPr bwMode="auto">
              <a:xfrm>
                <a:off x="6068275" y="4523905"/>
                <a:ext cx="166973" cy="219318"/>
                <a:chOff x="5771136" y="6374223"/>
                <a:chExt cx="167284" cy="219183"/>
              </a:xfrm>
            </p:grpSpPr>
            <p:cxnSp>
              <p:nvCxnSpPr>
                <p:cNvPr id="37" name="Straight Connector 36"/>
                <p:cNvCxnSpPr/>
                <p:nvPr/>
              </p:nvCxnSpPr>
              <p:spPr>
                <a:xfrm>
                  <a:off x="5771136" y="6374223"/>
                  <a:ext cx="0" cy="219181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5938420" y="6374224"/>
                  <a:ext cx="0" cy="219182"/>
                </a:xfrm>
                <a:prstGeom prst="line">
                  <a:avLst/>
                </a:prstGeom>
                <a:ln w="19050">
                  <a:solidFill>
                    <a:srgbClr val="FFFF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Rectangle 30"/>
              <p:cNvSpPr/>
              <p:nvPr/>
            </p:nvSpPr>
            <p:spPr bwMode="auto">
              <a:xfrm>
                <a:off x="6338455" y="4264168"/>
                <a:ext cx="576304" cy="309761"/>
              </a:xfrm>
              <a:prstGeom prst="rect">
                <a:avLst/>
              </a:prstGeom>
            </p:spPr>
            <p:txBody>
              <a:bodyPr wrap="none" lIns="46800" tIns="46800" rIns="46800" bIns="46800">
                <a:spAutoFit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+mn-lt"/>
                  </a:rPr>
                  <a:t>Set Up</a:t>
                </a:r>
              </a:p>
            </p:txBody>
          </p:sp>
          <p:grpSp>
            <p:nvGrpSpPr>
              <p:cNvPr id="29725" name="Group 121"/>
              <p:cNvGrpSpPr>
                <a:grpSpLocks/>
              </p:cNvGrpSpPr>
              <p:nvPr/>
            </p:nvGrpSpPr>
            <p:grpSpPr bwMode="auto">
              <a:xfrm>
                <a:off x="6890581" y="4528635"/>
                <a:ext cx="402075" cy="219317"/>
                <a:chOff x="4854106" y="6064046"/>
                <a:chExt cx="402824" cy="219183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4854106" y="6064046"/>
                  <a:ext cx="0" cy="219183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9727" name="Group 128"/>
                <p:cNvGrpSpPr>
                  <a:grpSpLocks/>
                </p:cNvGrpSpPr>
                <p:nvPr/>
              </p:nvGrpSpPr>
              <p:grpSpPr bwMode="auto">
                <a:xfrm flipH="1">
                  <a:off x="4968787" y="6064046"/>
                  <a:ext cx="288143" cy="204359"/>
                  <a:chOff x="4115690" y="5623912"/>
                  <a:chExt cx="288143" cy="204359"/>
                </a:xfrm>
              </p:grpSpPr>
              <p:cxnSp>
                <p:nvCxnSpPr>
                  <p:cNvPr id="35" name="Straight Connector 34"/>
                  <p:cNvCxnSpPr/>
                  <p:nvPr/>
                </p:nvCxnSpPr>
                <p:spPr>
                  <a:xfrm>
                    <a:off x="4115690" y="5623912"/>
                    <a:ext cx="274953" cy="91326"/>
                  </a:xfrm>
                  <a:prstGeom prst="line">
                    <a:avLst/>
                  </a:prstGeom>
                  <a:ln w="3810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/>
                  <p:cNvCxnSpPr/>
                  <p:nvPr/>
                </p:nvCxnSpPr>
                <p:spPr>
                  <a:xfrm flipV="1">
                    <a:off x="4128881" y="5736945"/>
                    <a:ext cx="274952" cy="91326"/>
                  </a:xfrm>
                  <a:prstGeom prst="line">
                    <a:avLst/>
                  </a:prstGeom>
                  <a:ln w="38100">
                    <a:solidFill>
                      <a:srgbClr val="FFFF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29706" name="Rectangle 3"/>
          <p:cNvSpPr txBox="1">
            <a:spLocks noChangeArrowheads="1"/>
          </p:cNvSpPr>
          <p:nvPr/>
        </p:nvSpPr>
        <p:spPr bwMode="auto">
          <a:xfrm>
            <a:off x="1377950" y="3241675"/>
            <a:ext cx="5208798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46038" rIns="45720" bIns="46038">
            <a:spAutoFit/>
          </a:bodyPr>
          <a:lstStyle>
            <a:lvl1pPr marL="177800" indent="-1778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SzPct val="80000"/>
            </a:pPr>
            <a:r>
              <a:rPr lang="en-GB" altLang="en-US" sz="1800" dirty="0">
                <a:solidFill>
                  <a:srgbClr val="FFFF00"/>
                </a:solidFill>
              </a:rPr>
              <a:t>Both ‘CUSTOMERS’ &amp; ‘ACCOUNTS’ are strong entities</a:t>
            </a: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1062038" y="4467225"/>
            <a:ext cx="1223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46038" rIns="45720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SzPct val="80000"/>
              <a:buFontTx/>
              <a:buNone/>
            </a:pPr>
            <a:r>
              <a:rPr lang="en-GB" altLang="en-US" sz="1800">
                <a:solidFill>
                  <a:srgbClr val="FFFF00"/>
                </a:solidFill>
              </a:rPr>
              <a:t>Entity : </a:t>
            </a:r>
            <a:r>
              <a:rPr lang="en-GB" altLang="en-US" sz="1800" b="1">
                <a:solidFill>
                  <a:srgbClr val="FFFF00"/>
                </a:solidFill>
              </a:rPr>
              <a:t>EMPLOYEE</a:t>
            </a:r>
            <a:endParaRPr lang="en-US" altLang="en-US" sz="1800" b="1">
              <a:solidFill>
                <a:srgbClr val="FFFF00"/>
              </a:solidFill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6484938" y="4486275"/>
            <a:ext cx="14398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46038" rIns="45720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SzPct val="80000"/>
              <a:buFontTx/>
              <a:buNone/>
            </a:pPr>
            <a:r>
              <a:rPr lang="en-GB" altLang="en-US" sz="1800">
                <a:solidFill>
                  <a:srgbClr val="FFFF00"/>
                </a:solidFill>
              </a:rPr>
              <a:t>Entity : </a:t>
            </a:r>
            <a:r>
              <a:rPr lang="en-GB" altLang="en-US" sz="1800" b="1">
                <a:solidFill>
                  <a:srgbClr val="FFFF00"/>
                </a:solidFill>
              </a:rPr>
              <a:t>DEPENDENT</a:t>
            </a:r>
            <a:endParaRPr lang="en-US" altLang="en-US" sz="1800" b="1">
              <a:solidFill>
                <a:srgbClr val="FFFF00"/>
              </a:solidFill>
            </a:endParaRPr>
          </a:p>
        </p:txBody>
      </p:sp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" t="3593" r="7040" b="4712"/>
          <a:stretch>
            <a:fillRect/>
          </a:stretch>
        </p:blipFill>
        <p:spPr bwMode="auto">
          <a:xfrm>
            <a:off x="2286000" y="4341813"/>
            <a:ext cx="4038600" cy="19065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6488113" y="5094288"/>
            <a:ext cx="1339717" cy="34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FFC000"/>
                </a:solidFill>
                <a:cs typeface="Times New Roman" panose="02020603050405020304" pitchFamily="18" charset="0"/>
              </a:rPr>
              <a:t>(Weak entity)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58109"/>
            <a:ext cx="493666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types &amp;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00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35464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2"/>
            </a:pPr>
            <a:r>
              <a:rPr lang="en-US" altLang="en-US" sz="2400" b="1" dirty="0">
                <a:solidFill>
                  <a:srgbClr val="FFFF00"/>
                </a:solidFill>
              </a:rPr>
              <a:t>Strong &amp; Weak entities </a:t>
            </a:r>
            <a:endParaRPr lang="en-US" altLang="en-US" sz="2400" b="1" u="sng" dirty="0">
              <a:solidFill>
                <a:srgbClr val="FFFF00"/>
              </a:solidFill>
            </a:endParaRPr>
          </a:p>
        </p:txBody>
      </p:sp>
      <p:sp>
        <p:nvSpPr>
          <p:cNvPr id="39" name="Subtitle 2"/>
          <p:cNvSpPr txBox="1">
            <a:spLocks/>
          </p:cNvSpPr>
          <p:nvPr/>
        </p:nvSpPr>
        <p:spPr bwMode="auto">
          <a:xfrm>
            <a:off x="1143000" y="1665288"/>
            <a:ext cx="7315200" cy="225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tIns="18288" rIns="18288" bIns="18288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73050" indent="-273050">
              <a:spcBef>
                <a:spcPct val="0"/>
              </a:spcBef>
              <a:buFont typeface="Courier New" pitchFamily="49" charset="0"/>
              <a:buChar char="o"/>
              <a:defRPr/>
            </a:pPr>
            <a:r>
              <a:rPr lang="en-GB" altLang="en-US" sz="2400" dirty="0" smtClean="0">
                <a:solidFill>
                  <a:schemeClr val="bg1"/>
                </a:solidFill>
              </a:rPr>
              <a:t>A weak entity is an entity whose </a:t>
            </a:r>
            <a:r>
              <a:rPr lang="en-GB" altLang="en-US" sz="2400" dirty="0" smtClean="0">
                <a:solidFill>
                  <a:srgbClr val="FFFF00"/>
                </a:solidFill>
              </a:rPr>
              <a:t>instance cannot exist in the database without the existence of an instance of a strong entity</a:t>
            </a:r>
            <a:r>
              <a:rPr lang="en-GB" altLang="en-US" sz="2400" dirty="0" smtClean="0">
                <a:solidFill>
                  <a:schemeClr val="bg1"/>
                </a:solidFill>
              </a:rPr>
              <a:t>.</a:t>
            </a:r>
          </a:p>
          <a:p>
            <a:pPr marL="273050" indent="0">
              <a:spcBef>
                <a:spcPct val="0"/>
              </a:spcBef>
              <a:buFont typeface="Arial" charset="0"/>
              <a:buNone/>
              <a:defRPr/>
            </a:pPr>
            <a:r>
              <a:rPr lang="en-GB" altLang="en-US" sz="2400" dirty="0" smtClean="0">
                <a:solidFill>
                  <a:schemeClr val="bg1"/>
                </a:solidFill>
              </a:rPr>
              <a:t>(i.e. It is an </a:t>
            </a:r>
            <a:r>
              <a:rPr lang="en-GB" altLang="en-US" sz="2400" u="sng" dirty="0" smtClean="0">
                <a:solidFill>
                  <a:schemeClr val="bg1"/>
                </a:solidFill>
              </a:rPr>
              <a:t>existence-dependent</a:t>
            </a:r>
            <a:r>
              <a:rPr lang="en-GB" altLang="en-US" sz="2400" dirty="0" smtClean="0">
                <a:solidFill>
                  <a:schemeClr val="bg1"/>
                </a:solidFill>
              </a:rPr>
              <a:t> entity. It can exist only when it is associated with another related entity occurrence.</a:t>
            </a:r>
          </a:p>
        </p:txBody>
      </p:sp>
      <p:grpSp>
        <p:nvGrpSpPr>
          <p:cNvPr id="29704" name="Group 5"/>
          <p:cNvGrpSpPr>
            <a:grpSpLocks/>
          </p:cNvGrpSpPr>
          <p:nvPr/>
        </p:nvGrpSpPr>
        <p:grpSpPr bwMode="auto">
          <a:xfrm>
            <a:off x="1524000" y="4267200"/>
            <a:ext cx="5251336" cy="1018191"/>
            <a:chOff x="1996007" y="5359131"/>
            <a:chExt cx="5250864" cy="1018712"/>
          </a:xfrm>
        </p:grpSpPr>
        <p:sp>
          <p:nvSpPr>
            <p:cNvPr id="29707" name="Rectangle 3"/>
            <p:cNvSpPr txBox="1">
              <a:spLocks noChangeArrowheads="1"/>
            </p:cNvSpPr>
            <p:nvPr/>
          </p:nvSpPr>
          <p:spPr bwMode="auto">
            <a:xfrm>
              <a:off x="5592642" y="6027962"/>
              <a:ext cx="1339598" cy="349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800" dirty="0">
                  <a:solidFill>
                    <a:srgbClr val="FFC000"/>
                  </a:solidFill>
                  <a:cs typeface="Times New Roman" panose="02020603050405020304" pitchFamily="18" charset="0"/>
                </a:rPr>
                <a:t>(Weak entity)</a:t>
              </a:r>
            </a:p>
          </p:txBody>
        </p:sp>
        <p:grpSp>
          <p:nvGrpSpPr>
            <p:cNvPr id="29708" name="Group 4"/>
            <p:cNvGrpSpPr>
              <a:grpSpLocks/>
            </p:cNvGrpSpPr>
            <p:nvPr/>
          </p:nvGrpSpPr>
          <p:grpSpPr bwMode="auto">
            <a:xfrm>
              <a:off x="1996007" y="5371726"/>
              <a:ext cx="5250864" cy="640407"/>
              <a:chOff x="1996007" y="5295526"/>
              <a:chExt cx="5250864" cy="640407"/>
            </a:xfrm>
          </p:grpSpPr>
          <p:sp>
            <p:nvSpPr>
              <p:cNvPr id="44" name="Frame 43"/>
              <p:cNvSpPr/>
              <p:nvPr/>
            </p:nvSpPr>
            <p:spPr>
              <a:xfrm>
                <a:off x="5601099" y="5295526"/>
                <a:ext cx="1645772" cy="640407"/>
              </a:xfrm>
              <a:prstGeom prst="fram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en-GB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DEPENDENTS</a:t>
                </a:r>
                <a:endParaRPr lang="en-SG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1996007" y="5365413"/>
                <a:ext cx="1188613" cy="4574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en-GB" sz="1600" b="1" dirty="0">
                    <a:solidFill>
                      <a:srgbClr val="C00000"/>
                    </a:solidFill>
                  </a:rPr>
                  <a:t>EMPLOYEES</a:t>
                </a:r>
                <a:endParaRPr lang="en-SG" sz="1600" b="1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29712" name="Group 3"/>
              <p:cNvGrpSpPr>
                <a:grpSpLocks/>
              </p:cNvGrpSpPr>
              <p:nvPr/>
            </p:nvGrpSpPr>
            <p:grpSpPr bwMode="auto">
              <a:xfrm>
                <a:off x="3226207" y="5462760"/>
                <a:ext cx="2395118" cy="278161"/>
                <a:chOff x="3226207" y="5462760"/>
                <a:chExt cx="2395118" cy="278161"/>
              </a:xfrm>
            </p:grpSpPr>
            <p:cxnSp>
              <p:nvCxnSpPr>
                <p:cNvPr id="47" name="Straight Connector 46"/>
                <p:cNvCxnSpPr/>
                <p:nvPr/>
              </p:nvCxnSpPr>
              <p:spPr>
                <a:xfrm>
                  <a:off x="3226207" y="5614778"/>
                  <a:ext cx="2377227" cy="3177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5347030" y="5603691"/>
                  <a:ext cx="274295" cy="137230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flipV="1">
                  <a:off x="5332283" y="5462760"/>
                  <a:ext cx="274295" cy="137230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>
                  <a:off x="3348436" y="5497959"/>
                  <a:ext cx="0" cy="219568"/>
                </a:xfrm>
                <a:prstGeom prst="line">
                  <a:avLst/>
                </a:prstGeom>
                <a:ln w="381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3596063" y="5498372"/>
                  <a:ext cx="0" cy="219568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5119926" y="5504137"/>
                  <a:ext cx="0" cy="219568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709" name="Rectangle 3"/>
            <p:cNvSpPr txBox="1">
              <a:spLocks noChangeArrowheads="1"/>
            </p:cNvSpPr>
            <p:nvPr/>
          </p:nvSpPr>
          <p:spPr bwMode="auto">
            <a:xfrm>
              <a:off x="4094042" y="5359131"/>
              <a:ext cx="644918" cy="288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4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support</a:t>
              </a:r>
            </a:p>
          </p:txBody>
        </p:sp>
      </p:grpSp>
      <p:sp>
        <p:nvSpPr>
          <p:cNvPr id="29705" name="Rectangle 3"/>
          <p:cNvSpPr txBox="1">
            <a:spLocks noChangeArrowheads="1"/>
          </p:cNvSpPr>
          <p:nvPr/>
        </p:nvSpPr>
        <p:spPr bwMode="auto">
          <a:xfrm>
            <a:off x="1377950" y="5791200"/>
            <a:ext cx="7160165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" tIns="18288" rIns="18288" bIns="18288">
            <a:spAutoFit/>
          </a:bodyPr>
          <a:lstStyle>
            <a:lvl1pPr marL="177800" indent="-1778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SzPct val="80000"/>
            </a:pPr>
            <a:r>
              <a:rPr lang="en-GB" altLang="en-US" sz="1800" dirty="0">
                <a:solidFill>
                  <a:srgbClr val="FFFF00"/>
                </a:solidFill>
              </a:rPr>
              <a:t>‘DEPENDENTS’ is a weak entity, it cannot exist without entity ‘EMPLOYEES’</a:t>
            </a:r>
            <a:endParaRPr lang="en-US" alt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13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ctrTitle" idx="4294967295"/>
          </p:nvPr>
        </p:nvSpPr>
        <p:spPr>
          <a:xfrm>
            <a:off x="709613" y="328613"/>
            <a:ext cx="4843689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types &amp;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26" name="Rectangle 3"/>
          <p:cNvSpPr txBox="1">
            <a:spLocks noChangeArrowheads="1"/>
          </p:cNvSpPr>
          <p:nvPr/>
        </p:nvSpPr>
        <p:spPr bwMode="auto">
          <a:xfrm>
            <a:off x="685800" y="1143000"/>
            <a:ext cx="331311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7188" indent="-35718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3"/>
            </a:pPr>
            <a:r>
              <a:rPr lang="en-US" altLang="en-US" sz="2400" b="1" dirty="0">
                <a:solidFill>
                  <a:srgbClr val="FFFF00"/>
                </a:solidFill>
              </a:rPr>
              <a:t>Recursive Relationship</a:t>
            </a:r>
            <a:endParaRPr lang="en-US" altLang="en-US" sz="2400" b="1" u="sng" dirty="0">
              <a:solidFill>
                <a:srgbClr val="FFFF00"/>
              </a:solidFill>
            </a:endParaRPr>
          </a:p>
        </p:txBody>
      </p:sp>
      <p:sp>
        <p:nvSpPr>
          <p:cNvPr id="30727" name="Rectangle 3"/>
          <p:cNvSpPr txBox="1">
            <a:spLocks noChangeArrowheads="1"/>
          </p:cNvSpPr>
          <p:nvPr/>
        </p:nvSpPr>
        <p:spPr bwMode="auto">
          <a:xfrm>
            <a:off x="1004888" y="1600200"/>
            <a:ext cx="7772400" cy="81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Recursive r</a:t>
            </a:r>
            <a:r>
              <a:rPr lang="en-GB" altLang="en-US" sz="2400" dirty="0">
                <a:solidFill>
                  <a:schemeClr val="bg1"/>
                </a:solidFill>
              </a:rPr>
              <a:t>elationship</a:t>
            </a:r>
            <a:r>
              <a:rPr lang="en-SG" altLang="en-US" sz="2400" dirty="0">
                <a:solidFill>
                  <a:schemeClr val="bg1"/>
                </a:solidFill>
              </a:rPr>
              <a:t> is a relationship between an entity and itself</a:t>
            </a:r>
            <a:r>
              <a:rPr lang="en-GB" altLang="en-US" sz="2400" dirty="0">
                <a:solidFill>
                  <a:schemeClr val="bg1"/>
                </a:solidFill>
              </a:rPr>
              <a:t>. </a:t>
            </a:r>
            <a:r>
              <a:rPr lang="en-GB" altLang="en-US" sz="2400" dirty="0" smtClean="0">
                <a:solidFill>
                  <a:schemeClr val="bg1"/>
                </a:solidFill>
              </a:rPr>
              <a:t>It is an unary relationship.</a:t>
            </a:r>
            <a:endParaRPr lang="en-GB" alt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482415"/>
              </p:ext>
            </p:extLst>
          </p:nvPr>
        </p:nvGraphicFramePr>
        <p:xfrm>
          <a:off x="5397172" y="4094774"/>
          <a:ext cx="1463040" cy="188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32">
                <a:tc>
                  <a:txBody>
                    <a:bodyPr/>
                    <a:lstStyle/>
                    <a:p>
                      <a:pPr algn="ctr"/>
                      <a:r>
                        <a:rPr lang="en-GB" sz="2000" u="none" dirty="0" smtClean="0">
                          <a:solidFill>
                            <a:srgbClr val="C00000"/>
                          </a:solidFill>
                        </a:rPr>
                        <a:t>EMPLOYEES</a:t>
                      </a:r>
                      <a:endParaRPr lang="en-US" sz="20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87" marB="359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32">
                <a:tc>
                  <a:txBody>
                    <a:bodyPr/>
                    <a:lstStyle/>
                    <a:p>
                      <a:pPr algn="ctr"/>
                      <a:r>
                        <a:rPr lang="en-GB" sz="2000" b="1" u="sng" dirty="0" err="1" smtClean="0"/>
                        <a:t>EmpID</a:t>
                      </a:r>
                      <a:endParaRPr lang="en-US" sz="2000" b="1" u="sng" dirty="0"/>
                    </a:p>
                  </a:txBody>
                  <a:tcPr marL="36000" marR="36000" marT="35987" marB="359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32">
                <a:tc>
                  <a:txBody>
                    <a:bodyPr/>
                    <a:lstStyle/>
                    <a:p>
                      <a:pPr algn="ctr"/>
                      <a:r>
                        <a:rPr lang="en-GB" sz="2000" b="0" u="none" dirty="0" err="1" smtClean="0"/>
                        <a:t>EmpName</a:t>
                      </a:r>
                      <a:endParaRPr lang="en-US" sz="2000" b="0" u="none" dirty="0"/>
                    </a:p>
                  </a:txBody>
                  <a:tcPr marL="36000" marR="36000" marT="35987" marB="359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3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Gender</a:t>
                      </a:r>
                      <a:endParaRPr lang="en-US" sz="2000" dirty="0"/>
                    </a:p>
                  </a:txBody>
                  <a:tcPr marL="36000" marR="36000" marT="35987" marB="359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32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 smtClean="0"/>
                        <a:t>Supervisor</a:t>
                      </a:r>
                      <a:endParaRPr lang="en-US" sz="2000" dirty="0"/>
                    </a:p>
                  </a:txBody>
                  <a:tcPr marL="36000" marR="36000" marT="35987" marB="3598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7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t="37167" r="69946" b="46832"/>
          <a:stretch>
            <a:fillRect/>
          </a:stretch>
        </p:blipFill>
        <p:spPr bwMode="auto">
          <a:xfrm>
            <a:off x="1338263" y="2690630"/>
            <a:ext cx="2682122" cy="1532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4753895" y="3549444"/>
            <a:ext cx="2743200" cy="1250167"/>
            <a:chOff x="4753895" y="3549444"/>
            <a:chExt cx="2743200" cy="1250167"/>
          </a:xfrm>
        </p:grpSpPr>
        <p:cxnSp>
          <p:nvCxnSpPr>
            <p:cNvPr id="46" name="Straight Connector 45"/>
            <p:cNvCxnSpPr/>
            <p:nvPr/>
          </p:nvCxnSpPr>
          <p:spPr bwMode="auto">
            <a:xfrm flipH="1">
              <a:off x="5240132" y="4521867"/>
              <a:ext cx="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 flipH="1">
              <a:off x="5029200" y="4541838"/>
              <a:ext cx="0" cy="21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747" name="Rectangle 3"/>
            <p:cNvSpPr txBox="1">
              <a:spLocks noChangeArrowheads="1"/>
            </p:cNvSpPr>
            <p:nvPr/>
          </p:nvSpPr>
          <p:spPr bwMode="auto">
            <a:xfrm>
              <a:off x="4826337" y="3651804"/>
              <a:ext cx="827590" cy="3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6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Manages</a:t>
              </a: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7192788" y="4525291"/>
              <a:ext cx="137160" cy="274320"/>
            </a:xfrm>
            <a:prstGeom prst="ellipse">
              <a:avLst/>
            </a:prstGeom>
            <a:noFill/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6835376" y="4518232"/>
              <a:ext cx="283180" cy="279369"/>
              <a:chOff x="6074677" y="4532980"/>
              <a:chExt cx="283180" cy="279369"/>
            </a:xfrm>
          </p:grpSpPr>
          <p:cxnSp>
            <p:nvCxnSpPr>
              <p:cNvPr id="50" name="Straight Connector 49"/>
              <p:cNvCxnSpPr/>
              <p:nvPr/>
            </p:nvCxnSpPr>
            <p:spPr bwMode="auto">
              <a:xfrm flipV="1">
                <a:off x="6083535" y="4675189"/>
                <a:ext cx="274322" cy="13716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auto">
              <a:xfrm flipH="1" flipV="1">
                <a:off x="6074677" y="4532980"/>
                <a:ext cx="274322" cy="13716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/>
            <p:cNvCxnSpPr/>
            <p:nvPr/>
          </p:nvCxnSpPr>
          <p:spPr bwMode="auto">
            <a:xfrm flipV="1">
              <a:off x="6830964" y="4664076"/>
              <a:ext cx="640080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 bwMode="auto">
            <a:xfrm flipV="1">
              <a:off x="4770120" y="4644565"/>
              <a:ext cx="640080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 bwMode="auto">
            <a:xfrm flipV="1">
              <a:off x="4753895" y="3566652"/>
              <a:ext cx="2743200" cy="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auto">
            <a:xfrm>
              <a:off x="4768644" y="3549444"/>
              <a:ext cx="0" cy="109728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 bwMode="auto">
            <a:xfrm>
              <a:off x="7470060" y="3566652"/>
              <a:ext cx="0" cy="109728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38501"/>
              </p:ext>
            </p:extLst>
          </p:nvPr>
        </p:nvGraphicFramePr>
        <p:xfrm>
          <a:off x="1143000" y="5334000"/>
          <a:ext cx="3276599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>
                          <a:solidFill>
                            <a:schemeClr val="tx1"/>
                          </a:solidFill>
                        </a:rPr>
                        <a:t>EmpID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200" marR="7200" marT="7200" marB="72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>
                          <a:solidFill>
                            <a:schemeClr val="tx1"/>
                          </a:solidFill>
                        </a:rPr>
                        <a:t>EmpName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200" marR="7200" marT="7200" marB="72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>
                          <a:solidFill>
                            <a:schemeClr val="tx1"/>
                          </a:solidFill>
                        </a:rPr>
                        <a:t>Gender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200" marR="7200" marT="7200" marB="72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>
                          <a:solidFill>
                            <a:schemeClr val="tx1"/>
                          </a:solidFill>
                        </a:rPr>
                        <a:t>Supervisor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200" marR="7200" marT="7200" marB="72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E1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Kenny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Male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Trump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E2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err="1" smtClean="0"/>
                        <a:t>Katty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Female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Kenny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E3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Tina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Female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 smtClean="0"/>
                        <a:t>Kenny</a:t>
                      </a:r>
                      <a:endParaRPr lang="en-US" sz="1400" dirty="0"/>
                    </a:p>
                  </a:txBody>
                  <a:tcPr marL="7200" marR="7200" marT="7200" marB="7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1143000" y="4953000"/>
            <a:ext cx="1330355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7188" indent="-35718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b="1" dirty="0" smtClean="0">
                <a:solidFill>
                  <a:srgbClr val="FFFF00"/>
                </a:solidFill>
              </a:rPr>
              <a:t>EMPLOYEES</a:t>
            </a:r>
            <a:endParaRPr lang="en-US" altLang="en-US" sz="2000" b="1" u="sng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72857"/>
            <a:ext cx="4843689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types &amp; Relationships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747" name="Rectangle 3"/>
          <p:cNvSpPr txBox="1">
            <a:spLocks noChangeArrowheads="1"/>
          </p:cNvSpPr>
          <p:nvPr/>
        </p:nvSpPr>
        <p:spPr bwMode="auto">
          <a:xfrm>
            <a:off x="762000" y="1066800"/>
            <a:ext cx="435133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7188" indent="-357188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600"/>
              </a:spcBef>
              <a:buFont typeface="Calibri" panose="020F0502020204030204" pitchFamily="34" charset="0"/>
              <a:buAutoNum type="arabicParenR" startAt="4"/>
            </a:pPr>
            <a:r>
              <a:rPr lang="en-US" altLang="en-US" sz="2400" b="1">
                <a:solidFill>
                  <a:srgbClr val="FFFF00"/>
                </a:solidFill>
              </a:rPr>
              <a:t>Super-type &amp; Subtype entities </a:t>
            </a:r>
            <a:endParaRPr lang="en-US" altLang="en-US" sz="2400" b="1" u="sng">
              <a:solidFill>
                <a:srgbClr val="FFFF00"/>
              </a:solidFill>
            </a:endParaRPr>
          </a:p>
        </p:txBody>
      </p:sp>
      <p:sp>
        <p:nvSpPr>
          <p:cNvPr id="31748" name="Rectangle 3"/>
          <p:cNvSpPr txBox="1">
            <a:spLocks noChangeArrowheads="1"/>
          </p:cNvSpPr>
          <p:nvPr/>
        </p:nvSpPr>
        <p:spPr bwMode="auto">
          <a:xfrm>
            <a:off x="1116013" y="1462548"/>
            <a:ext cx="7772400" cy="118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 Super-type </a:t>
            </a:r>
            <a:r>
              <a:rPr lang="en-GB" altLang="en-US" sz="2400" dirty="0">
                <a:solidFill>
                  <a:schemeClr val="bg1"/>
                </a:solidFill>
              </a:rPr>
              <a:t>entity has got the parent-child relationship with one or more subtypes and it </a:t>
            </a:r>
            <a:r>
              <a:rPr lang="en-GB" altLang="en-US" sz="2400" dirty="0">
                <a:solidFill>
                  <a:srgbClr val="FFFF00"/>
                </a:solidFill>
              </a:rPr>
              <a:t>contains attributes that are common to its subtypes</a:t>
            </a:r>
            <a:r>
              <a:rPr lang="en-GB" alt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1749" name="Subtitle 2"/>
          <p:cNvSpPr txBox="1">
            <a:spLocks/>
          </p:cNvSpPr>
          <p:nvPr/>
        </p:nvSpPr>
        <p:spPr bwMode="auto">
          <a:xfrm>
            <a:off x="1093788" y="2663825"/>
            <a:ext cx="77724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000">
                <a:solidFill>
                  <a:schemeClr val="bg1"/>
                </a:solidFill>
              </a:rPr>
              <a:t>Subtypes are subgroups of the super-type entity. They have  unique attributes but they will be different from each subtype.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645532"/>
              </p:ext>
            </p:extLst>
          </p:nvPr>
        </p:nvGraphicFramePr>
        <p:xfrm>
          <a:off x="3600450" y="3505200"/>
          <a:ext cx="1112838" cy="1263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1600" u="none" dirty="0" smtClean="0">
                          <a:solidFill>
                            <a:srgbClr val="C00000"/>
                          </a:solidFill>
                        </a:rPr>
                        <a:t>CLIENTS</a:t>
                      </a:r>
                      <a:endParaRPr lang="en-US" sz="16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8" marB="35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1600" b="1" u="sng" dirty="0" err="1" smtClean="0">
                          <a:solidFill>
                            <a:srgbClr val="C00000"/>
                          </a:solidFill>
                        </a:rPr>
                        <a:t>ClientID</a:t>
                      </a:r>
                      <a:endParaRPr lang="en-US" sz="1600" b="1" u="sng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8" marB="35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GB" sz="1600" b="0" u="none" dirty="0" err="1" smtClean="0">
                          <a:solidFill>
                            <a:srgbClr val="C00000"/>
                          </a:solidFill>
                        </a:rPr>
                        <a:t>ClientName</a:t>
                      </a:r>
                      <a:endParaRPr lang="en-US" sz="1600" b="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8" marB="35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solidFill>
                            <a:srgbClr val="C00000"/>
                          </a:solidFill>
                        </a:rPr>
                        <a:t>AmountDue</a:t>
                      </a:r>
                      <a:endParaRPr 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8" marB="35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79699"/>
              </p:ext>
            </p:extLst>
          </p:nvPr>
        </p:nvGraphicFramePr>
        <p:xfrm>
          <a:off x="5410200" y="5532438"/>
          <a:ext cx="1284288" cy="85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err="1" smtClean="0">
                          <a:solidFill>
                            <a:srgbClr val="C00000"/>
                          </a:solidFill>
                        </a:rPr>
                        <a:t>OverseasCLIENT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73" marB="359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PersonContact</a:t>
                      </a:r>
                      <a:endParaRPr lang="en-US" sz="1400" dirty="0"/>
                    </a:p>
                  </a:txBody>
                  <a:tcPr marL="36000" marR="36000" marT="35973" marB="359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CountryID</a:t>
                      </a:r>
                      <a:endParaRPr lang="en-US" sz="1400" dirty="0"/>
                    </a:p>
                  </a:txBody>
                  <a:tcPr marL="36000" marR="36000" marT="35973" marB="359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71631"/>
              </p:ext>
            </p:extLst>
          </p:nvPr>
        </p:nvGraphicFramePr>
        <p:xfrm>
          <a:off x="1626060" y="5526088"/>
          <a:ext cx="1436688" cy="85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err="1" smtClean="0">
                          <a:solidFill>
                            <a:srgbClr val="C00000"/>
                          </a:solidFill>
                        </a:rPr>
                        <a:t>IndividualCLIENT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none" dirty="0" smtClean="0"/>
                        <a:t>Profession</a:t>
                      </a:r>
                      <a:endParaRPr lang="en-US" sz="1400" b="0" u="none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Address</a:t>
                      </a:r>
                      <a:endParaRPr lang="en-US" sz="1400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451254"/>
              </p:ext>
            </p:extLst>
          </p:nvPr>
        </p:nvGraphicFramePr>
        <p:xfrm>
          <a:off x="3428999" y="5532438"/>
          <a:ext cx="1492711" cy="114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err="1" smtClean="0">
                          <a:solidFill>
                            <a:srgbClr val="C00000"/>
                          </a:solidFill>
                        </a:rPr>
                        <a:t>CorporateCLIENT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DateTransact</a:t>
                      </a:r>
                      <a:endParaRPr lang="en-US" sz="14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PaymentClass</a:t>
                      </a:r>
                      <a:endParaRPr lang="en-US" sz="14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GSTRegisNo</a:t>
                      </a:r>
                      <a:endParaRPr lang="en-US" sz="14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2351088" y="4746626"/>
            <a:ext cx="3708400" cy="815973"/>
            <a:chOff x="4267201" y="4472050"/>
            <a:chExt cx="3708830" cy="816580"/>
          </a:xfrm>
        </p:grpSpPr>
        <p:cxnSp>
          <p:nvCxnSpPr>
            <p:cNvPr id="46" name="Straight Connector 45"/>
            <p:cNvCxnSpPr/>
            <p:nvPr/>
          </p:nvCxnSpPr>
          <p:spPr bwMode="auto">
            <a:xfrm flipH="1">
              <a:off x="6086687" y="4831090"/>
              <a:ext cx="0" cy="45754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 bwMode="auto">
            <a:xfrm flipH="1">
              <a:off x="4267201" y="5105934"/>
              <a:ext cx="1800434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 bwMode="auto">
            <a:xfrm flipV="1">
              <a:off x="6104151" y="5105934"/>
              <a:ext cx="1871880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Oval 48"/>
            <p:cNvSpPr/>
            <p:nvPr/>
          </p:nvSpPr>
          <p:spPr bwMode="auto">
            <a:xfrm rot="18000000">
              <a:off x="5975481" y="4643695"/>
              <a:ext cx="216061" cy="215925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 flipH="1">
              <a:off x="6081923" y="4472050"/>
              <a:ext cx="0" cy="1795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 flipH="1">
              <a:off x="7963330" y="5110700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 bwMode="auto">
            <a:xfrm flipH="1">
              <a:off x="4271964" y="5112289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TextBox 18"/>
          <p:cNvSpPr txBox="1">
            <a:spLocks noChangeArrowheads="1"/>
          </p:cNvSpPr>
          <p:nvPr/>
        </p:nvSpPr>
        <p:spPr bwMode="auto">
          <a:xfrm>
            <a:off x="4861560" y="3962390"/>
            <a:ext cx="192024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tIns="9144" rIns="9144" bIns="914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8738" indent="-58738"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(These attributes common to all subtype entities)</a:t>
            </a:r>
            <a:endParaRPr lang="en-US" altLang="en-US" sz="1600" b="1" dirty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77619"/>
            <a:ext cx="5322345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Super-type &amp; Subtype Entities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133600" y="4876800"/>
            <a:ext cx="43878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Elements of data model includes: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6438" y="1143000"/>
            <a:ext cx="6456362" cy="441325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400" b="1" dirty="0">
                <a:solidFill>
                  <a:srgbClr val="FFFF00"/>
                </a:solidFill>
                <a:latin typeface="+mn-lt"/>
              </a:rPr>
              <a:t>Another example of Super-type, Subtype Entities</a:t>
            </a:r>
          </a:p>
        </p:txBody>
      </p:sp>
      <p:sp>
        <p:nvSpPr>
          <p:cNvPr id="32773" name="Rectangle 3"/>
          <p:cNvSpPr txBox="1">
            <a:spLocks noChangeArrowheads="1"/>
          </p:cNvSpPr>
          <p:nvPr/>
        </p:nvSpPr>
        <p:spPr bwMode="auto">
          <a:xfrm>
            <a:off x="838200" y="5724525"/>
            <a:ext cx="77724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altLang="en-US" sz="18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Note that unique attribute </a:t>
            </a:r>
            <a:r>
              <a:rPr lang="en-GB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‘Employee_Number’ </a:t>
            </a:r>
            <a:r>
              <a:rPr lang="en-GB" altLang="en-US" sz="18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together with common attributes</a:t>
            </a:r>
            <a:r>
              <a:rPr lang="en-GB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‘Employee_Name’, ‘Address’ &amp; ‘Date_Hired’ </a:t>
            </a:r>
            <a:r>
              <a:rPr lang="en-GB" altLang="en-US" sz="18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 the Super-type entity. </a:t>
            </a:r>
          </a:p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180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While each sub-entity attached with unique attributes to themselves.</a:t>
            </a:r>
            <a:endParaRPr lang="en-US" altLang="en-US" sz="180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774" name="Picture 6" descr="CAP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46300"/>
            <a:ext cx="5334000" cy="3416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5257800" y="1828800"/>
            <a:ext cx="1752600" cy="609600"/>
            <a:chOff x="5257800" y="3124200"/>
            <a:chExt cx="1752600" cy="609600"/>
          </a:xfrm>
        </p:grpSpPr>
        <p:sp>
          <p:nvSpPr>
            <p:cNvPr id="32783" name="Rectangle 3"/>
            <p:cNvSpPr txBox="1">
              <a:spLocks noChangeArrowheads="1"/>
            </p:cNvSpPr>
            <p:nvPr/>
          </p:nvSpPr>
          <p:spPr bwMode="auto">
            <a:xfrm>
              <a:off x="5390400" y="3124200"/>
              <a:ext cx="1620000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tIns="46038" rIns="4572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SzPct val="80000"/>
                <a:buFontTx/>
                <a:buNone/>
              </a:pPr>
              <a:r>
                <a:rPr lang="en-GB" altLang="en-US" sz="1600">
                  <a:solidFill>
                    <a:srgbClr val="FFFF00"/>
                  </a:solidFill>
                </a:rPr>
                <a:t>Super-type Entity : </a:t>
              </a:r>
              <a:endParaRPr lang="en-US" altLang="en-US" sz="1600" b="1">
                <a:solidFill>
                  <a:srgbClr val="FFFF00"/>
                </a:solidFill>
              </a:endParaRPr>
            </a:p>
          </p:txBody>
        </p:sp>
        <p:cxnSp>
          <p:nvCxnSpPr>
            <p:cNvPr id="3" name="Straight Connector 2"/>
            <p:cNvCxnSpPr>
              <a:stCxn id="32783" idx="2"/>
            </p:cNvCxnSpPr>
            <p:nvPr/>
          </p:nvCxnSpPr>
          <p:spPr>
            <a:xfrm flipH="1">
              <a:off x="5257800" y="3448050"/>
              <a:ext cx="942975" cy="28575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6934200" y="4343400"/>
            <a:ext cx="1905000" cy="339725"/>
            <a:chOff x="6934200" y="5638800"/>
            <a:chExt cx="1905000" cy="339196"/>
          </a:xfrm>
        </p:grpSpPr>
        <p:sp>
          <p:nvSpPr>
            <p:cNvPr id="32781" name="Rectangle 3"/>
            <p:cNvSpPr txBox="1">
              <a:spLocks noChangeArrowheads="1"/>
            </p:cNvSpPr>
            <p:nvPr/>
          </p:nvSpPr>
          <p:spPr bwMode="auto">
            <a:xfrm>
              <a:off x="7219200" y="5638800"/>
              <a:ext cx="162000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tIns="46038" rIns="45720" bIns="46038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SzPct val="80000"/>
                <a:buFontTx/>
                <a:buNone/>
              </a:pPr>
              <a:r>
                <a:rPr lang="en-GB" altLang="en-US" sz="1600">
                  <a:solidFill>
                    <a:srgbClr val="FFFF00"/>
                  </a:solidFill>
                </a:rPr>
                <a:t>Sub-type Entities </a:t>
              </a:r>
              <a:endParaRPr lang="en-US" altLang="en-US" sz="1600" b="1">
                <a:solidFill>
                  <a:srgbClr val="FFFF00"/>
                </a:solidFill>
              </a:endParaRPr>
            </a:p>
          </p:txBody>
        </p:sp>
        <p:cxnSp>
          <p:nvCxnSpPr>
            <p:cNvPr id="5" name="Straight Connector 4"/>
            <p:cNvCxnSpPr>
              <a:stCxn id="32781" idx="1"/>
            </p:cNvCxnSpPr>
            <p:nvPr/>
          </p:nvCxnSpPr>
          <p:spPr>
            <a:xfrm flipH="1">
              <a:off x="6934200" y="5808398"/>
              <a:ext cx="285750" cy="7132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5749925" y="2932113"/>
            <a:ext cx="3240088" cy="8937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46038" rIns="46800" bIns="46038">
            <a:spAutoFit/>
          </a:bodyPr>
          <a:lstStyle>
            <a:lvl1pPr marL="177800" indent="-1778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1600">
                <a:ea typeface="Calibri" panose="020F0502020204030204" pitchFamily="34" charset="0"/>
                <a:cs typeface="Calibri" panose="020F0502020204030204" pitchFamily="34" charset="0"/>
              </a:rPr>
              <a:t>By Generalization hierarchy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altLang="en-US" sz="1600"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GB" altLang="en-US" sz="1400">
                <a:ea typeface="Calibri" panose="020F0502020204030204" pitchFamily="34" charset="0"/>
                <a:cs typeface="Calibri" panose="020F0502020204030204" pitchFamily="34" charset="0"/>
              </a:rPr>
              <a:t>Super-type has shared attributes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400">
                <a:ea typeface="Calibri" panose="020F0502020204030204" pitchFamily="34" charset="0"/>
                <a:cs typeface="Calibri" panose="020F0502020204030204" pitchFamily="34" charset="0"/>
              </a:rPr>
              <a:t>	- Sub-types have unique attributes</a:t>
            </a:r>
          </a:p>
        </p:txBody>
      </p:sp>
      <p:grpSp>
        <p:nvGrpSpPr>
          <p:cNvPr id="24" name="Group 4"/>
          <p:cNvGrpSpPr>
            <a:grpSpLocks/>
          </p:cNvGrpSpPr>
          <p:nvPr/>
        </p:nvGrpSpPr>
        <p:grpSpPr bwMode="auto">
          <a:xfrm>
            <a:off x="1841500" y="2984500"/>
            <a:ext cx="1892300" cy="596900"/>
            <a:chOff x="7223401" y="2450339"/>
            <a:chExt cx="1893456" cy="598068"/>
          </a:xfrm>
        </p:grpSpPr>
        <p:sp>
          <p:nvSpPr>
            <p:cNvPr id="32779" name="TextBox 40"/>
            <p:cNvSpPr txBox="1">
              <a:spLocks noChangeArrowheads="1"/>
            </p:cNvSpPr>
            <p:nvPr/>
          </p:nvSpPr>
          <p:spPr bwMode="auto">
            <a:xfrm>
              <a:off x="7223401" y="2543398"/>
              <a:ext cx="1753674" cy="50500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ea typeface="Calibri" panose="020F0502020204030204" pitchFamily="34" charset="0"/>
                  <a:cs typeface="Calibri" panose="020F0502020204030204" pitchFamily="34" charset="0"/>
                </a:rPr>
                <a:t>Common attributes to all sub-type entities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8964364" y="2450339"/>
              <a:ext cx="152493" cy="15269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60157"/>
            <a:ext cx="5840116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 (ERD)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717550" y="1143000"/>
            <a:ext cx="78930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800" tIns="27432" rIns="27432" bIns="2743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 (ERD) with Super-type &amp; Subtype entities</a:t>
            </a:r>
          </a:p>
        </p:txBody>
      </p:sp>
      <p:pic>
        <p:nvPicPr>
          <p:cNvPr id="33796" name="Picture 2" descr="http://www.csc.villanova.edu/%7Ejkramer/BakeryER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828800"/>
            <a:ext cx="5724525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286125" y="6324600"/>
            <a:ext cx="3038475" cy="381000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SG" altLang="en-US" sz="2000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276600" y="3570288"/>
            <a:ext cx="0" cy="682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://help.innovator.de/11.4/en_us/InnovatorX/Content/Resources/Images/GRAFIK/WPF-Grafiken/SampleER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533400"/>
            <a:ext cx="7693025" cy="621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362200" y="101197"/>
            <a:ext cx="3622393" cy="442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36000" rIns="36000" bIns="36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SG" altLang="en-US" sz="2400" b="1" dirty="0" smtClean="0">
                <a:solidFill>
                  <a:srgbClr val="C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Entity Relationship Diagram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276600" y="3570288"/>
            <a:ext cx="0" cy="682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3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15913"/>
            <a:ext cx="3116613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Questions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971932"/>
              </p:ext>
            </p:extLst>
          </p:nvPr>
        </p:nvGraphicFramePr>
        <p:xfrm>
          <a:off x="914400" y="1309355"/>
          <a:ext cx="1436688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u="none" dirty="0" smtClean="0">
                          <a:solidFill>
                            <a:srgbClr val="C00000"/>
                          </a:solidFill>
                        </a:rPr>
                        <a:t>VEHICLES</a:t>
                      </a:r>
                      <a:endParaRPr lang="en-US" sz="20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b="1" u="sng" dirty="0" err="1" smtClean="0"/>
                        <a:t>VehNum</a:t>
                      </a:r>
                      <a:endParaRPr lang="en-US" sz="2000" b="1" u="sng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b="0" u="none" dirty="0" err="1" smtClean="0"/>
                        <a:t>VehModel</a:t>
                      </a:r>
                      <a:endParaRPr lang="en-US" sz="2000" b="0" u="none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 smtClean="0"/>
                        <a:t>Engine</a:t>
                      </a:r>
                      <a:endParaRPr lang="en-US" sz="2000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59128"/>
              </p:ext>
            </p:extLst>
          </p:nvPr>
        </p:nvGraphicFramePr>
        <p:xfrm>
          <a:off x="5791200" y="1143000"/>
          <a:ext cx="1436688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u="none" dirty="0" smtClean="0">
                          <a:solidFill>
                            <a:srgbClr val="C00000"/>
                          </a:solidFill>
                        </a:rPr>
                        <a:t>WORKSHOP</a:t>
                      </a:r>
                      <a:endParaRPr lang="en-US" sz="20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b="1" u="sng" dirty="0" err="1" smtClean="0"/>
                        <a:t>ShopID</a:t>
                      </a:r>
                      <a:endParaRPr lang="en-US" sz="2000" b="1" u="sng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2000" b="0" u="none" dirty="0" err="1" smtClean="0"/>
                        <a:t>ShopAddr</a:t>
                      </a:r>
                      <a:endParaRPr lang="en-US" sz="2000" b="0" u="none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 smtClean="0"/>
                        <a:t>Speciality</a:t>
                      </a:r>
                      <a:endParaRPr lang="en-US" sz="2000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 err="1" smtClean="0"/>
                        <a:t>Mgr</a:t>
                      </a:r>
                      <a:r>
                        <a:rPr lang="en-SG" sz="2000" dirty="0" smtClean="0"/>
                        <a:t> Phone</a:t>
                      </a:r>
                      <a:endParaRPr lang="en-US" sz="2000" dirty="0"/>
                    </a:p>
                  </a:txBody>
                  <a:tcPr marL="36000" marR="36000"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860135"/>
                  </a:ext>
                </a:extLst>
              </a:tr>
            </a:tbl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2351088" y="1547666"/>
            <a:ext cx="3492000" cy="433534"/>
            <a:chOff x="2351088" y="1547666"/>
            <a:chExt cx="3492000" cy="433534"/>
          </a:xfrm>
        </p:grpSpPr>
        <p:sp>
          <p:nvSpPr>
            <p:cNvPr id="37891" name="Rectangle 3"/>
            <p:cNvSpPr txBox="1">
              <a:spLocks noChangeArrowheads="1"/>
            </p:cNvSpPr>
            <p:nvPr/>
          </p:nvSpPr>
          <p:spPr bwMode="auto">
            <a:xfrm>
              <a:off x="3657600" y="1547666"/>
              <a:ext cx="638829" cy="31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288" tIns="18288" rIns="18288" bIns="18288">
              <a:spAutoFit/>
            </a:bodyPr>
            <a:lstStyle>
              <a:lvl1pPr marL="273050" indent="-27305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indent="0">
                <a:spcBef>
                  <a:spcPct val="0"/>
                </a:spcBef>
                <a:buNone/>
              </a:pPr>
              <a:r>
                <a:rPr lang="en-GB" altLang="en-US" sz="1800" dirty="0" smtClean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Repair</a:t>
              </a:r>
              <a:endParaRPr lang="en-GB" altLang="en-US" sz="1800" dirty="0">
                <a:solidFill>
                  <a:schemeClr val="bg1"/>
                </a:solidFill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351088" y="1981200"/>
              <a:ext cx="3492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029200" y="1755060"/>
            <a:ext cx="781668" cy="457200"/>
            <a:chOff x="6002592" y="1755060"/>
            <a:chExt cx="781668" cy="457200"/>
          </a:xfrm>
        </p:grpSpPr>
        <p:grpSp>
          <p:nvGrpSpPr>
            <p:cNvPr id="23" name="Group 22"/>
            <p:cNvGrpSpPr/>
            <p:nvPr/>
          </p:nvGrpSpPr>
          <p:grpSpPr>
            <a:xfrm>
              <a:off x="6324600" y="1784556"/>
              <a:ext cx="459660" cy="379524"/>
              <a:chOff x="6324600" y="1784556"/>
              <a:chExt cx="459660" cy="379524"/>
            </a:xfrm>
          </p:grpSpPr>
          <p:cxnSp>
            <p:nvCxnSpPr>
              <p:cNvPr id="7" name="Straight Connector 6"/>
              <p:cNvCxnSpPr/>
              <p:nvPr/>
            </p:nvCxnSpPr>
            <p:spPr>
              <a:xfrm flipV="1">
                <a:off x="6327060" y="1784556"/>
                <a:ext cx="457200" cy="18288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6324600" y="1981200"/>
                <a:ext cx="457200" cy="18288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/>
            <p:cNvSpPr/>
            <p:nvPr/>
          </p:nvSpPr>
          <p:spPr>
            <a:xfrm>
              <a:off x="6002592" y="1755060"/>
              <a:ext cx="182880" cy="4572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16480" y="1755060"/>
            <a:ext cx="655320" cy="457200"/>
            <a:chOff x="2316480" y="1755060"/>
            <a:chExt cx="655320" cy="4572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971800" y="1755060"/>
              <a:ext cx="0" cy="4572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2316480" y="1783271"/>
              <a:ext cx="463049" cy="378098"/>
              <a:chOff x="2316480" y="1783271"/>
              <a:chExt cx="463049" cy="37809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flipV="1">
                <a:off x="2322329" y="1978489"/>
                <a:ext cx="457200" cy="18288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2316480" y="1783271"/>
                <a:ext cx="457200" cy="18288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7888" name="Table 378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305645"/>
              </p:ext>
            </p:extLst>
          </p:nvPr>
        </p:nvGraphicFramePr>
        <p:xfrm>
          <a:off x="921774" y="3804920"/>
          <a:ext cx="5707626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8826">
                  <a:extLst>
                    <a:ext uri="{9D8B030D-6E8A-4147-A177-3AD203B41FA5}">
                      <a16:colId xmlns:a16="http://schemas.microsoft.com/office/drawing/2014/main" val="348968097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50264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 one Entity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694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 one Attribute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2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Indicate</a:t>
                      </a:r>
                      <a:r>
                        <a:rPr lang="en-SG" sz="2000" baseline="0" dirty="0" smtClean="0"/>
                        <a:t> the </a:t>
                      </a:r>
                      <a:r>
                        <a:rPr lang="en-SG" sz="2000" baseline="0" dirty="0" smtClean="0"/>
                        <a:t>degree of </a:t>
                      </a:r>
                      <a:r>
                        <a:rPr lang="en-SG" sz="2000" dirty="0" smtClean="0"/>
                        <a:t>Relationship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70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Indicate a Cardinality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1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Max. cardinality at Workshop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29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Type of relationship in ERD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29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dirty="0" smtClean="0"/>
                        <a:t>Action word</a:t>
                      </a:r>
                      <a:endParaRPr lang="en-US" sz="2000" dirty="0" smtClean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23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2000" dirty="0" smtClean="0"/>
                        <a:t>Possible PK in VEHICLES</a:t>
                      </a:r>
                      <a:r>
                        <a:rPr lang="en-SG" sz="2000" baseline="0" dirty="0" smtClean="0"/>
                        <a:t> entity</a:t>
                      </a:r>
                      <a:endParaRPr lang="en-US" sz="2000" dirty="0" smtClean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14282"/>
                  </a:ext>
                </a:extLst>
              </a:tr>
            </a:tbl>
          </a:graphicData>
        </a:graphic>
      </p:graphicFrame>
      <p:sp>
        <p:nvSpPr>
          <p:cNvPr id="52" name="Rectangle 3"/>
          <p:cNvSpPr txBox="1">
            <a:spLocks noChangeArrowheads="1"/>
          </p:cNvSpPr>
          <p:nvPr/>
        </p:nvSpPr>
        <p:spPr bwMode="auto">
          <a:xfrm>
            <a:off x="7315200" y="5791200"/>
            <a:ext cx="172328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Many-to-Many 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 bwMode="auto">
          <a:xfrm>
            <a:off x="8190812" y="5486920"/>
            <a:ext cx="800788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Repair</a:t>
            </a:r>
            <a:r>
              <a:rPr lang="en-US" altLang="en-US" sz="2000" dirty="0" smtClean="0">
                <a:solidFill>
                  <a:srgbClr val="FF0000"/>
                </a:solidFill>
              </a:rPr>
              <a:t> 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54" name="Rectangle 3"/>
          <p:cNvSpPr txBox="1">
            <a:spLocks noChangeArrowheads="1"/>
          </p:cNvSpPr>
          <p:nvPr/>
        </p:nvSpPr>
        <p:spPr bwMode="auto">
          <a:xfrm>
            <a:off x="7695959" y="5090652"/>
            <a:ext cx="1371841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One-to-One 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7944388" y="3364130"/>
            <a:ext cx="1066565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Speciality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7805493" y="6401320"/>
            <a:ext cx="1319648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WORKSHOP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8017945" y="4648200"/>
            <a:ext cx="973655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VehNum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8140582" y="4343400"/>
            <a:ext cx="774818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Engine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8175104" y="6140573"/>
            <a:ext cx="816496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ShopID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6985701" y="4039120"/>
            <a:ext cx="2082099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Binary Relationship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8014957" y="3767080"/>
            <a:ext cx="105284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VEHICLES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8122856" y="1892581"/>
            <a:ext cx="182880" cy="4572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8077136" y="2488130"/>
            <a:ext cx="459660" cy="379524"/>
            <a:chOff x="6324600" y="1784556"/>
            <a:chExt cx="459660" cy="379524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6327060" y="1784556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6324600" y="1981200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/>
          <p:cNvCxnSpPr/>
          <p:nvPr/>
        </p:nvCxnSpPr>
        <p:spPr>
          <a:xfrm>
            <a:off x="8616014" y="1905000"/>
            <a:ext cx="0" cy="4572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26" grpId="0"/>
      <p:bldP spid="27" grpId="0"/>
      <p:bldP spid="29" grpId="0"/>
      <p:bldP spid="30" grpId="0"/>
      <p:bldP spid="32" grpId="0"/>
      <p:bldP spid="33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15913"/>
            <a:ext cx="320958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Questions 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891" name="Rectangle 3"/>
          <p:cNvSpPr txBox="1">
            <a:spLocks noChangeArrowheads="1"/>
          </p:cNvSpPr>
          <p:nvPr/>
        </p:nvSpPr>
        <p:spPr bwMode="auto">
          <a:xfrm>
            <a:off x="4114800" y="410738"/>
            <a:ext cx="38862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GB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Super-type </a:t>
            </a: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Subtype Example:</a:t>
            </a:r>
            <a:r>
              <a:rPr lang="en-GB" altLang="en-US" sz="2400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83228"/>
              </p:ext>
            </p:extLst>
          </p:nvPr>
        </p:nvGraphicFramePr>
        <p:xfrm>
          <a:off x="5819775" y="1487090"/>
          <a:ext cx="1112837" cy="171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smtClean="0">
                          <a:solidFill>
                            <a:srgbClr val="C00000"/>
                          </a:solidFill>
                        </a:rPr>
                        <a:t>VEHICLES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RegNum</a:t>
                      </a:r>
                      <a:endParaRPr lang="en-US" sz="1400" b="1" u="sng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none" dirty="0" err="1" smtClean="0"/>
                        <a:t>VehModel</a:t>
                      </a:r>
                      <a:endParaRPr lang="en-US" sz="1400" b="0" u="none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OMV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EngineCC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Price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78829"/>
              </p:ext>
            </p:extLst>
          </p:nvPr>
        </p:nvGraphicFramePr>
        <p:xfrm>
          <a:off x="7694612" y="3977877"/>
          <a:ext cx="1219200" cy="822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TRUCKS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516766"/>
              </p:ext>
            </p:extLst>
          </p:nvPr>
        </p:nvGraphicFramePr>
        <p:xfrm>
          <a:off x="3971925" y="3971527"/>
          <a:ext cx="1208087" cy="57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MOTORBICYCLE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u="none" dirty="0" err="1" smtClean="0"/>
                        <a:t>NoOfWheel</a:t>
                      </a:r>
                      <a:endParaRPr lang="en-US" sz="1200" b="0" u="none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6821"/>
              </p:ext>
            </p:extLst>
          </p:nvPr>
        </p:nvGraphicFramePr>
        <p:xfrm>
          <a:off x="5800725" y="3977877"/>
          <a:ext cx="1284287" cy="822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CARS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67389"/>
              </p:ext>
            </p:extLst>
          </p:nvPr>
        </p:nvGraphicFramePr>
        <p:xfrm>
          <a:off x="3763962" y="914400"/>
          <a:ext cx="1112838" cy="2803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/>
                        <a:t>VEHICLES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err="1" smtClean="0"/>
                        <a:t>VehType</a:t>
                      </a:r>
                      <a:endParaRPr lang="en-US" sz="1200" b="0" u="none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VehModel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OMV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EngineCC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Price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5029200" y="2174464"/>
            <a:ext cx="533400" cy="32861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4570412" y="3192065"/>
            <a:ext cx="3708400" cy="788987"/>
            <a:chOff x="4267201" y="4472050"/>
            <a:chExt cx="3708830" cy="789575"/>
          </a:xfrm>
        </p:grpSpPr>
        <p:cxnSp>
          <p:nvCxnSpPr>
            <p:cNvPr id="17" name="Straight Connector 16"/>
            <p:cNvCxnSpPr/>
            <p:nvPr/>
          </p:nvCxnSpPr>
          <p:spPr bwMode="auto">
            <a:xfrm flipH="1">
              <a:off x="6086687" y="4937534"/>
              <a:ext cx="0" cy="32409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auto">
            <a:xfrm flipH="1">
              <a:off x="4267201" y="5105934"/>
              <a:ext cx="1800434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V="1">
              <a:off x="6104152" y="5105934"/>
              <a:ext cx="1871879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 bwMode="auto">
            <a:xfrm rot="18000000">
              <a:off x="5975481" y="4643696"/>
              <a:ext cx="216061" cy="215925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 flipH="1">
              <a:off x="6081924" y="4472050"/>
              <a:ext cx="0" cy="1795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>
              <a:off x="5943795" y="4878753"/>
              <a:ext cx="287371" cy="1588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flipH="1">
              <a:off x="7963330" y="5110701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flipH="1">
              <a:off x="4271965" y="5112289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7968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5" t="24734" r="42320" b="34308"/>
          <a:stretch>
            <a:fillRect/>
          </a:stretch>
        </p:blipFill>
        <p:spPr bwMode="auto">
          <a:xfrm>
            <a:off x="762000" y="1219200"/>
            <a:ext cx="28670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643728"/>
              </p:ext>
            </p:extLst>
          </p:nvPr>
        </p:nvGraphicFramePr>
        <p:xfrm>
          <a:off x="533400" y="4875210"/>
          <a:ext cx="6717451" cy="1830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0226">
                  <a:extLst>
                    <a:ext uri="{9D8B030D-6E8A-4147-A177-3AD203B41FA5}">
                      <a16:colId xmlns:a16="http://schemas.microsoft.com/office/drawing/2014/main" val="3489680979"/>
                    </a:ext>
                  </a:extLst>
                </a:gridCol>
                <a:gridCol w="3067225">
                  <a:extLst>
                    <a:ext uri="{9D8B030D-6E8A-4147-A177-3AD203B41FA5}">
                      <a16:colId xmlns:a16="http://schemas.microsoft.com/office/drawing/2014/main" val="4250264293"/>
                    </a:ext>
                  </a:extLst>
                </a:gridCol>
              </a:tblGrid>
              <a:tr h="457598">
                <a:tc>
                  <a:txBody>
                    <a:bodyPr/>
                    <a:lstStyle/>
                    <a:p>
                      <a:r>
                        <a:rPr lang="en-SG" sz="2000" baseline="0" dirty="0" smtClean="0"/>
                        <a:t>Name the type of relationship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694556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 the</a:t>
                      </a:r>
                      <a:r>
                        <a:rPr lang="en-SG" sz="2000" baseline="0" dirty="0" smtClean="0"/>
                        <a:t> super-type entity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27551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</a:t>
                      </a:r>
                      <a:r>
                        <a:rPr lang="en-SG" sz="2000" baseline="0" dirty="0" smtClean="0"/>
                        <a:t> one sub-type entity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70469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</a:t>
                      </a:r>
                      <a:r>
                        <a:rPr lang="en-SG" sz="2000" baseline="0" dirty="0" smtClean="0"/>
                        <a:t> the common attributes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1270"/>
                  </a:ext>
                </a:extLst>
              </a:tr>
            </a:tbl>
          </a:graphicData>
        </a:graphic>
      </p:graphicFrame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7315200" y="5600166"/>
            <a:ext cx="1878134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Super &amp; Subtype</a:t>
            </a:r>
            <a:r>
              <a:rPr lang="en-US" altLang="en-US" sz="2000" dirty="0" smtClean="0">
                <a:solidFill>
                  <a:srgbClr val="FF0000"/>
                </a:solidFill>
              </a:rPr>
              <a:t> 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8378877" y="4875210"/>
            <a:ext cx="61272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CARS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7938757" y="5090652"/>
            <a:ext cx="1052843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VEHICLES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8219988" y="5334520"/>
            <a:ext cx="771612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smtClean="0">
                <a:solidFill>
                  <a:srgbClr val="FF0000"/>
                </a:solidFill>
              </a:rPr>
              <a:t>TRUCK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8106712" y="5867400"/>
            <a:ext cx="961088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RegNum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7922624" y="6157972"/>
            <a:ext cx="1145176" cy="38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355600" indent="-355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VehModel</a:t>
            </a:r>
            <a:endParaRPr lang="en-US" altLang="en-US" sz="20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3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3" grpId="0"/>
      <p:bldP spid="34" grpId="0"/>
      <p:bldP spid="35" grpId="0"/>
      <p:bldP spid="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41613" y="2438400"/>
            <a:ext cx="3610210" cy="811367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defRPr/>
            </a:pPr>
            <a:r>
              <a:rPr lang="en-GB" sz="4800" b="1" dirty="0">
                <a:solidFill>
                  <a:srgbClr val="FFFF00"/>
                </a:solidFill>
                <a:latin typeface="+mn-lt"/>
              </a:rPr>
              <a:t>End of Topic </a:t>
            </a:r>
            <a:r>
              <a:rPr lang="en-US" sz="4800" b="1" dirty="0" smtClean="0">
                <a:solidFill>
                  <a:srgbClr val="FFFF00"/>
                </a:solidFill>
                <a:latin typeface="+mn-lt"/>
              </a:rPr>
              <a:t>4</a:t>
            </a:r>
            <a:endParaRPr lang="en-US" sz="4800" b="1" dirty="0">
              <a:solidFill>
                <a:srgbClr val="FFFF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15913"/>
            <a:ext cx="3209587" cy="565146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dirty="0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Review Questions </a:t>
            </a:r>
            <a:endParaRPr lang="en-US" altLang="en-US" sz="3200" b="1" dirty="0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891" name="Rectangle 3"/>
          <p:cNvSpPr txBox="1">
            <a:spLocks noChangeArrowheads="1"/>
          </p:cNvSpPr>
          <p:nvPr/>
        </p:nvSpPr>
        <p:spPr bwMode="auto">
          <a:xfrm>
            <a:off x="914400" y="3007517"/>
            <a:ext cx="77724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GB" altLang="en-US" sz="24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Super-type </a:t>
            </a:r>
            <a:r>
              <a:rPr lang="en-GB" alt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Subtype Example:</a:t>
            </a:r>
            <a:r>
              <a:rPr lang="en-GB" altLang="en-US" sz="2400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58519"/>
              </p:ext>
            </p:extLst>
          </p:nvPr>
        </p:nvGraphicFramePr>
        <p:xfrm>
          <a:off x="5819775" y="1212849"/>
          <a:ext cx="1112837" cy="171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smtClean="0">
                          <a:solidFill>
                            <a:srgbClr val="C00000"/>
                          </a:solidFill>
                        </a:rPr>
                        <a:t>VEHICLES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RegNum</a:t>
                      </a:r>
                      <a:endParaRPr lang="en-US" sz="1400" b="1" u="sng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none" dirty="0" err="1" smtClean="0"/>
                        <a:t>VehModel</a:t>
                      </a:r>
                      <a:endParaRPr lang="en-US" sz="1400" b="0" u="none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OMV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EngineCC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Price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186049"/>
              </p:ext>
            </p:extLst>
          </p:nvPr>
        </p:nvGraphicFramePr>
        <p:xfrm>
          <a:off x="7694612" y="3703636"/>
          <a:ext cx="1219200" cy="109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TRUCKS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33753"/>
              </p:ext>
            </p:extLst>
          </p:nvPr>
        </p:nvGraphicFramePr>
        <p:xfrm>
          <a:off x="3971925" y="3697286"/>
          <a:ext cx="1208087" cy="85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MOTORBICYCLE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u="none" dirty="0" err="1" smtClean="0"/>
                        <a:t>NoOfWheel</a:t>
                      </a:r>
                      <a:endParaRPr lang="en-US" sz="1200" b="0" u="none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10259"/>
              </p:ext>
            </p:extLst>
          </p:nvPr>
        </p:nvGraphicFramePr>
        <p:xfrm>
          <a:off x="5800725" y="3703636"/>
          <a:ext cx="1284287" cy="109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CARS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165864"/>
              </p:ext>
            </p:extLst>
          </p:nvPr>
        </p:nvGraphicFramePr>
        <p:xfrm>
          <a:off x="3629025" y="573064"/>
          <a:ext cx="1112838" cy="2803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/>
                        <a:t>VEHICLES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err="1" smtClean="0"/>
                        <a:t>VehType</a:t>
                      </a:r>
                      <a:endParaRPr lang="en-US" sz="1200" b="0" u="none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VehModel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OMV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EngineCC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Price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4866372" y="1900223"/>
            <a:ext cx="533400" cy="32861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4570412" y="2917824"/>
            <a:ext cx="3708400" cy="788987"/>
            <a:chOff x="4267201" y="4472050"/>
            <a:chExt cx="3708830" cy="789575"/>
          </a:xfrm>
        </p:grpSpPr>
        <p:cxnSp>
          <p:nvCxnSpPr>
            <p:cNvPr id="17" name="Straight Connector 16"/>
            <p:cNvCxnSpPr/>
            <p:nvPr/>
          </p:nvCxnSpPr>
          <p:spPr bwMode="auto">
            <a:xfrm flipH="1">
              <a:off x="6086687" y="4937534"/>
              <a:ext cx="0" cy="32409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auto">
            <a:xfrm flipH="1">
              <a:off x="4267201" y="5105934"/>
              <a:ext cx="1800434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V="1">
              <a:off x="6104152" y="5105934"/>
              <a:ext cx="1871879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 bwMode="auto">
            <a:xfrm rot="18000000">
              <a:off x="5975481" y="4643696"/>
              <a:ext cx="216061" cy="215925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 flipH="1">
              <a:off x="6081924" y="4472050"/>
              <a:ext cx="0" cy="1795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>
              <a:off x="5943795" y="4878753"/>
              <a:ext cx="287371" cy="1588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flipH="1">
              <a:off x="7963330" y="5110701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flipH="1">
              <a:off x="4271965" y="5112289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7894637" y="1822449"/>
            <a:ext cx="1249363" cy="1541462"/>
            <a:chOff x="7591756" y="3376550"/>
            <a:chExt cx="1249137" cy="1540825"/>
          </a:xfrm>
        </p:grpSpPr>
        <p:grpSp>
          <p:nvGrpSpPr>
            <p:cNvPr id="37969" name="Group 32"/>
            <p:cNvGrpSpPr>
              <a:grpSpLocks/>
            </p:cNvGrpSpPr>
            <p:nvPr/>
          </p:nvGrpSpPr>
          <p:grpSpPr bwMode="auto">
            <a:xfrm>
              <a:off x="7636800" y="4423506"/>
              <a:ext cx="288000" cy="237486"/>
              <a:chOff x="7636800" y="4423506"/>
              <a:chExt cx="288000" cy="237486"/>
            </a:xfrm>
          </p:grpSpPr>
          <p:cxnSp>
            <p:nvCxnSpPr>
              <p:cNvPr id="42" name="Straight Connector 41"/>
              <p:cNvCxnSpPr/>
              <p:nvPr/>
            </p:nvCxnSpPr>
            <p:spPr bwMode="auto">
              <a:xfrm>
                <a:off x="7636198" y="4658720"/>
                <a:ext cx="288873" cy="1586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 bwMode="auto">
              <a:xfrm rot="18000000">
                <a:off x="7657651" y="4423048"/>
                <a:ext cx="215811" cy="217448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grpSp>
          <p:nvGrpSpPr>
            <p:cNvPr id="37970" name="Group 30"/>
            <p:cNvGrpSpPr>
              <a:grpSpLocks/>
            </p:cNvGrpSpPr>
            <p:nvPr/>
          </p:nvGrpSpPr>
          <p:grpSpPr bwMode="auto">
            <a:xfrm>
              <a:off x="7636800" y="3694638"/>
              <a:ext cx="288000" cy="300894"/>
              <a:chOff x="7636800" y="3544731"/>
              <a:chExt cx="288000" cy="300894"/>
            </a:xfrm>
          </p:grpSpPr>
          <p:cxnSp>
            <p:nvCxnSpPr>
              <p:cNvPr id="44" name="Straight Connector 43"/>
              <p:cNvCxnSpPr/>
              <p:nvPr/>
            </p:nvCxnSpPr>
            <p:spPr bwMode="auto">
              <a:xfrm>
                <a:off x="7636198" y="3843925"/>
                <a:ext cx="288873" cy="158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auto">
              <a:xfrm>
                <a:off x="7636198" y="3780451"/>
                <a:ext cx="288873" cy="158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Oval 45"/>
              <p:cNvSpPr/>
              <p:nvPr/>
            </p:nvSpPr>
            <p:spPr bwMode="auto">
              <a:xfrm rot="18000000">
                <a:off x="7657651" y="3543192"/>
                <a:ext cx="215811" cy="217448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sp>
          <p:nvSpPr>
            <p:cNvPr id="37971" name="Rectangle 3"/>
            <p:cNvSpPr txBox="1">
              <a:spLocks noChangeArrowheads="1"/>
            </p:cNvSpPr>
            <p:nvPr/>
          </p:nvSpPr>
          <p:spPr bwMode="auto">
            <a:xfrm>
              <a:off x="7591756" y="4025220"/>
              <a:ext cx="1156333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>
                  <a:solidFill>
                    <a:schemeClr val="bg1"/>
                  </a:solidFill>
                  <a:cs typeface="Times New Roman" panose="02020603050405020304" pitchFamily="18" charset="0"/>
                </a:rPr>
                <a:t>Complete category</a:t>
              </a:r>
            </a:p>
          </p:txBody>
        </p:sp>
        <p:sp>
          <p:nvSpPr>
            <p:cNvPr id="37972" name="Rectangle 3"/>
            <p:cNvSpPr txBox="1">
              <a:spLocks noChangeArrowheads="1"/>
            </p:cNvSpPr>
            <p:nvPr/>
          </p:nvSpPr>
          <p:spPr bwMode="auto">
            <a:xfrm>
              <a:off x="7594792" y="4675395"/>
              <a:ext cx="1246101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>
                  <a:solidFill>
                    <a:schemeClr val="bg1"/>
                  </a:solidFill>
                  <a:cs typeface="Times New Roman" panose="02020603050405020304" pitchFamily="18" charset="0"/>
                </a:rPr>
                <a:t>incomplete category</a:t>
              </a:r>
            </a:p>
          </p:txBody>
        </p:sp>
        <p:sp>
          <p:nvSpPr>
            <p:cNvPr id="37973" name="Rectangle 3"/>
            <p:cNvSpPr txBox="1">
              <a:spLocks noChangeArrowheads="1"/>
            </p:cNvSpPr>
            <p:nvPr/>
          </p:nvSpPr>
          <p:spPr bwMode="auto">
            <a:xfrm>
              <a:off x="7620000" y="3376550"/>
              <a:ext cx="524750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 b="1" u="sng">
                  <a:solidFill>
                    <a:schemeClr val="bg1"/>
                  </a:solidFill>
                  <a:cs typeface="Times New Roman" panose="02020603050405020304" pitchFamily="18" charset="0"/>
                </a:rPr>
                <a:t>Legend:</a:t>
              </a:r>
            </a:p>
          </p:txBody>
        </p:sp>
      </p:grpSp>
      <p:pic>
        <p:nvPicPr>
          <p:cNvPr id="37968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5" t="24734" r="42320" b="34308"/>
          <a:stretch>
            <a:fillRect/>
          </a:stretch>
        </p:blipFill>
        <p:spPr bwMode="auto">
          <a:xfrm>
            <a:off x="762000" y="1219200"/>
            <a:ext cx="28670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75303"/>
              </p:ext>
            </p:extLst>
          </p:nvPr>
        </p:nvGraphicFramePr>
        <p:xfrm>
          <a:off x="826349" y="4875210"/>
          <a:ext cx="6717451" cy="1830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0226">
                  <a:extLst>
                    <a:ext uri="{9D8B030D-6E8A-4147-A177-3AD203B41FA5}">
                      <a16:colId xmlns:a16="http://schemas.microsoft.com/office/drawing/2014/main" val="3489680979"/>
                    </a:ext>
                  </a:extLst>
                </a:gridCol>
                <a:gridCol w="3067225">
                  <a:extLst>
                    <a:ext uri="{9D8B030D-6E8A-4147-A177-3AD203B41FA5}">
                      <a16:colId xmlns:a16="http://schemas.microsoft.com/office/drawing/2014/main" val="4250264293"/>
                    </a:ext>
                  </a:extLst>
                </a:gridCol>
              </a:tblGrid>
              <a:tr h="457598">
                <a:tc>
                  <a:txBody>
                    <a:bodyPr/>
                    <a:lstStyle/>
                    <a:p>
                      <a:r>
                        <a:rPr lang="en-SG" sz="2000" baseline="0" dirty="0" smtClean="0"/>
                        <a:t>Name the type of relationship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694556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 the</a:t>
                      </a:r>
                      <a:r>
                        <a:rPr lang="en-SG" sz="2000" baseline="0" dirty="0" smtClean="0"/>
                        <a:t> super-type entity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27551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</a:t>
                      </a:r>
                      <a:r>
                        <a:rPr lang="en-SG" sz="2000" baseline="0" dirty="0" smtClean="0"/>
                        <a:t> one sub-type entity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70469"/>
                  </a:ext>
                </a:extLst>
              </a:tr>
              <a:tr h="457598">
                <a:tc>
                  <a:txBody>
                    <a:bodyPr/>
                    <a:lstStyle/>
                    <a:p>
                      <a:r>
                        <a:rPr lang="en-SG" sz="2000" dirty="0" smtClean="0"/>
                        <a:t>Name</a:t>
                      </a:r>
                      <a:r>
                        <a:rPr lang="en-SG" sz="2000" baseline="0" dirty="0" smtClean="0"/>
                        <a:t> the common attributes</a:t>
                      </a:r>
                      <a:endParaRPr lang="en-US" sz="2000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8288" marR="18288" marT="18288" marB="18288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44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 idx="4294967295"/>
          </p:nvPr>
        </p:nvSpPr>
        <p:spPr>
          <a:xfrm>
            <a:off x="696913" y="315913"/>
            <a:ext cx="7550150" cy="565150"/>
          </a:xfrm>
        </p:spPr>
        <p:txBody>
          <a:bodyPr wrap="none" lIns="36000" tIns="36000" rIns="36000" bIns="36000" anchor="t">
            <a:spAutoFit/>
          </a:bodyPr>
          <a:lstStyle/>
          <a:p>
            <a:pPr algn="l" eaLnBrk="1" hangingPunct="1"/>
            <a:r>
              <a:rPr lang="en-GB" altLang="en-US" sz="3200" b="1" smtClean="0">
                <a:solidFill>
                  <a:srgbClr val="FFFF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Relational Model – Super-Types &amp; SubTypes</a:t>
            </a:r>
            <a:endParaRPr lang="en-US" altLang="en-US" sz="3200" b="1" smtClean="0">
              <a:solidFill>
                <a:srgbClr val="FFFF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891" name="Rectangle 3"/>
          <p:cNvSpPr txBox="1">
            <a:spLocks noChangeArrowheads="1"/>
          </p:cNvSpPr>
          <p:nvPr/>
        </p:nvSpPr>
        <p:spPr bwMode="auto">
          <a:xfrm>
            <a:off x="685800" y="1219200"/>
            <a:ext cx="77724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 marL="273050" indent="-2730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Another Super-type , Subtype Example:</a:t>
            </a:r>
            <a:r>
              <a:rPr lang="en-GB" altLang="en-US" sz="240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16563" y="2767013"/>
          <a:ext cx="1112837" cy="171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u="none" dirty="0" smtClean="0">
                          <a:solidFill>
                            <a:srgbClr val="C00000"/>
                          </a:solidFill>
                        </a:rPr>
                        <a:t>VEHICLES</a:t>
                      </a:r>
                      <a:endParaRPr lang="en-US" sz="14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1" u="sng" dirty="0" err="1" smtClean="0"/>
                        <a:t>RegNum</a:t>
                      </a:r>
                      <a:endParaRPr lang="en-US" sz="1400" b="1" u="sng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GB" sz="1400" b="0" u="none" dirty="0" err="1" smtClean="0"/>
                        <a:t>VehModel</a:t>
                      </a:r>
                      <a:endParaRPr lang="en-US" sz="1400" b="0" u="none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OMV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EngineCC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2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Price</a:t>
                      </a:r>
                      <a:endParaRPr lang="en-US" sz="1400" dirty="0"/>
                    </a:p>
                  </a:txBody>
                  <a:tcPr marL="36000" marR="36000" marT="35932" marB="3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91400" y="5257800"/>
          <a:ext cx="1219200" cy="109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TRUCKS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68713" y="5251450"/>
          <a:ext cx="1208087" cy="85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MOTORBICYCLE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GB" sz="1200" b="0" u="none" dirty="0" err="1" smtClean="0"/>
                        <a:t>NoOfWheel</a:t>
                      </a:r>
                      <a:endParaRPr lang="en-US" sz="1200" b="0" u="none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97513" y="5257800"/>
          <a:ext cx="1284287" cy="109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>
                          <a:solidFill>
                            <a:srgbClr val="C00000"/>
                          </a:solidFill>
                        </a:rPr>
                        <a:t>CARS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0" marB="35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238250" y="3902075"/>
          <a:ext cx="1112838" cy="28035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2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smtClean="0"/>
                        <a:t>VEHICLES</a:t>
                      </a:r>
                      <a:endParaRPr lang="en-US" sz="1200" u="none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sng" dirty="0" err="1" smtClean="0"/>
                        <a:t>RegNum</a:t>
                      </a:r>
                      <a:endParaRPr lang="en-US" sz="1200" b="1" u="sng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GB" sz="1200" u="none" dirty="0" err="1" smtClean="0"/>
                        <a:t>VehType</a:t>
                      </a:r>
                      <a:endParaRPr lang="en-US" sz="1200" b="0" u="none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VehModel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OMV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EngineCC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NoOfWheel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NoOfDoor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NoOfPassenger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CarryLoad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Price</a:t>
                      </a:r>
                      <a:endParaRPr lang="en-US" sz="1200" dirty="0"/>
                    </a:p>
                  </a:txBody>
                  <a:tcPr marL="36000" marR="36000" marT="35994" marB="3599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2667000" y="5081588"/>
            <a:ext cx="533400" cy="32861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SG"/>
          </a:p>
        </p:txBody>
      </p: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4267200" y="4471988"/>
            <a:ext cx="3708400" cy="788987"/>
            <a:chOff x="4267201" y="4472050"/>
            <a:chExt cx="3708830" cy="789575"/>
          </a:xfrm>
        </p:grpSpPr>
        <p:cxnSp>
          <p:nvCxnSpPr>
            <p:cNvPr id="17" name="Straight Connector 16"/>
            <p:cNvCxnSpPr/>
            <p:nvPr/>
          </p:nvCxnSpPr>
          <p:spPr bwMode="auto">
            <a:xfrm flipH="1">
              <a:off x="6086687" y="4937534"/>
              <a:ext cx="0" cy="32409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auto">
            <a:xfrm flipH="1">
              <a:off x="4267201" y="5105934"/>
              <a:ext cx="1800434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V="1">
              <a:off x="6104152" y="5105934"/>
              <a:ext cx="1871879" cy="0"/>
            </a:xfrm>
            <a:prstGeom prst="line">
              <a:avLst/>
            </a:prstGeom>
            <a:ln w="1270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 bwMode="auto">
            <a:xfrm rot="18000000">
              <a:off x="5975481" y="4643696"/>
              <a:ext cx="216061" cy="215925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 flipH="1">
              <a:off x="6081924" y="4472050"/>
              <a:ext cx="0" cy="17952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>
              <a:off x="5943795" y="4878753"/>
              <a:ext cx="287371" cy="1588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flipH="1">
              <a:off x="7963330" y="5110701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flipH="1">
              <a:off x="4271965" y="5112289"/>
              <a:ext cx="0" cy="14298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7591425" y="3376613"/>
            <a:ext cx="1249363" cy="1541462"/>
            <a:chOff x="7591756" y="3376550"/>
            <a:chExt cx="1249137" cy="1540825"/>
          </a:xfrm>
        </p:grpSpPr>
        <p:grpSp>
          <p:nvGrpSpPr>
            <p:cNvPr id="37969" name="Group 32"/>
            <p:cNvGrpSpPr>
              <a:grpSpLocks/>
            </p:cNvGrpSpPr>
            <p:nvPr/>
          </p:nvGrpSpPr>
          <p:grpSpPr bwMode="auto">
            <a:xfrm>
              <a:off x="7636800" y="4423506"/>
              <a:ext cx="288000" cy="237486"/>
              <a:chOff x="7636800" y="4423506"/>
              <a:chExt cx="288000" cy="237486"/>
            </a:xfrm>
          </p:grpSpPr>
          <p:cxnSp>
            <p:nvCxnSpPr>
              <p:cNvPr id="42" name="Straight Connector 41"/>
              <p:cNvCxnSpPr/>
              <p:nvPr/>
            </p:nvCxnSpPr>
            <p:spPr bwMode="auto">
              <a:xfrm>
                <a:off x="7636198" y="4658720"/>
                <a:ext cx="288873" cy="1586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 bwMode="auto">
              <a:xfrm rot="18000000">
                <a:off x="7657651" y="4423048"/>
                <a:ext cx="215811" cy="217448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grpSp>
          <p:nvGrpSpPr>
            <p:cNvPr id="37970" name="Group 30"/>
            <p:cNvGrpSpPr>
              <a:grpSpLocks/>
            </p:cNvGrpSpPr>
            <p:nvPr/>
          </p:nvGrpSpPr>
          <p:grpSpPr bwMode="auto">
            <a:xfrm>
              <a:off x="7636800" y="3694638"/>
              <a:ext cx="288000" cy="300894"/>
              <a:chOff x="7636800" y="3544731"/>
              <a:chExt cx="288000" cy="300894"/>
            </a:xfrm>
          </p:grpSpPr>
          <p:cxnSp>
            <p:nvCxnSpPr>
              <p:cNvPr id="44" name="Straight Connector 43"/>
              <p:cNvCxnSpPr/>
              <p:nvPr/>
            </p:nvCxnSpPr>
            <p:spPr bwMode="auto">
              <a:xfrm>
                <a:off x="7636198" y="3843925"/>
                <a:ext cx="288873" cy="158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auto">
              <a:xfrm>
                <a:off x="7636198" y="3780451"/>
                <a:ext cx="288873" cy="1587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Oval 45"/>
              <p:cNvSpPr/>
              <p:nvPr/>
            </p:nvSpPr>
            <p:spPr bwMode="auto">
              <a:xfrm rot="18000000">
                <a:off x="7657651" y="3543192"/>
                <a:ext cx="215811" cy="217448"/>
              </a:xfrm>
              <a:prstGeom prst="ellipse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sp>
          <p:nvSpPr>
            <p:cNvPr id="37971" name="Rectangle 3"/>
            <p:cNvSpPr txBox="1">
              <a:spLocks noChangeArrowheads="1"/>
            </p:cNvSpPr>
            <p:nvPr/>
          </p:nvSpPr>
          <p:spPr bwMode="auto">
            <a:xfrm>
              <a:off x="7591756" y="4025220"/>
              <a:ext cx="1156333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>
                  <a:solidFill>
                    <a:schemeClr val="bg1"/>
                  </a:solidFill>
                  <a:cs typeface="Times New Roman" panose="02020603050405020304" pitchFamily="18" charset="0"/>
                </a:rPr>
                <a:t>Complete category</a:t>
              </a:r>
            </a:p>
          </p:txBody>
        </p:sp>
        <p:sp>
          <p:nvSpPr>
            <p:cNvPr id="37972" name="Rectangle 3"/>
            <p:cNvSpPr txBox="1">
              <a:spLocks noChangeArrowheads="1"/>
            </p:cNvSpPr>
            <p:nvPr/>
          </p:nvSpPr>
          <p:spPr bwMode="auto">
            <a:xfrm>
              <a:off x="7594792" y="4675395"/>
              <a:ext cx="1246101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>
                  <a:solidFill>
                    <a:schemeClr val="bg1"/>
                  </a:solidFill>
                  <a:cs typeface="Times New Roman" panose="02020603050405020304" pitchFamily="18" charset="0"/>
                </a:rPr>
                <a:t>incomplete category</a:t>
              </a:r>
            </a:p>
          </p:txBody>
        </p:sp>
        <p:sp>
          <p:nvSpPr>
            <p:cNvPr id="37973" name="Rectangle 3"/>
            <p:cNvSpPr txBox="1">
              <a:spLocks noChangeArrowheads="1"/>
            </p:cNvSpPr>
            <p:nvPr/>
          </p:nvSpPr>
          <p:spPr bwMode="auto">
            <a:xfrm>
              <a:off x="7620000" y="3376550"/>
              <a:ext cx="524750" cy="241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en-US" sz="1100" b="1" u="sng">
                  <a:solidFill>
                    <a:schemeClr val="bg1"/>
                  </a:solidFill>
                  <a:cs typeface="Times New Roman" panose="02020603050405020304" pitchFamily="18" charset="0"/>
                </a:rPr>
                <a:t>Legend:</a:t>
              </a:r>
            </a:p>
          </p:txBody>
        </p:sp>
      </p:grpSp>
      <p:pic>
        <p:nvPicPr>
          <p:cNvPr id="37968" name="Picture 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5" t="24734" r="42320" b="34308"/>
          <a:stretch>
            <a:fillRect/>
          </a:stretch>
        </p:blipFill>
        <p:spPr bwMode="auto">
          <a:xfrm>
            <a:off x="990600" y="1909763"/>
            <a:ext cx="28670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110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9425</TotalTime>
  <Words>1998</Words>
  <Application>Microsoft Office PowerPoint</Application>
  <PresentationFormat>On-screen Show (4:3)</PresentationFormat>
  <Paragraphs>702</Paragraphs>
  <Slides>37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宋体</vt:lpstr>
      <vt:lpstr>宋体</vt:lpstr>
      <vt:lpstr>Arial</vt:lpstr>
      <vt:lpstr>Calibri</vt:lpstr>
      <vt:lpstr>Courier New</vt:lpstr>
      <vt:lpstr>Times New Roman</vt:lpstr>
      <vt:lpstr>Verdana</vt:lpstr>
      <vt:lpstr>Wingdings</vt:lpstr>
      <vt:lpstr>Office Theme</vt:lpstr>
      <vt:lpstr>IT1768 - Database Systems</vt:lpstr>
      <vt:lpstr>Unit 4 : Relational Data Model</vt:lpstr>
      <vt:lpstr>Why use relational data model ?</vt:lpstr>
      <vt:lpstr>3-Level Architecture of Database</vt:lpstr>
      <vt:lpstr>Entity-Relationship Diagram</vt:lpstr>
      <vt:lpstr>Relational Modelling</vt:lpstr>
      <vt:lpstr>Database Development</vt:lpstr>
      <vt:lpstr>Relational Modelling - Entities</vt:lpstr>
      <vt:lpstr>Relational Model - Relationships</vt:lpstr>
      <vt:lpstr>Business rules &amp; Cardinalities</vt:lpstr>
      <vt:lpstr>Entity Relationship Diagram (ERD)</vt:lpstr>
      <vt:lpstr>Different Degree of Relationships</vt:lpstr>
      <vt:lpstr>Different Degree of Relationships</vt:lpstr>
      <vt:lpstr>Cardinalities &amp; Notation</vt:lpstr>
      <vt:lpstr>Interpretation on Cardinality</vt:lpstr>
      <vt:lpstr>Interpretation on Cardinality</vt:lpstr>
      <vt:lpstr>Relationships &amp; Cardinalities</vt:lpstr>
      <vt:lpstr>Relationships &amp; Cardinalities</vt:lpstr>
      <vt:lpstr>Relationships &amp; Cardinalities</vt:lpstr>
      <vt:lpstr>Relational Model - Relationships</vt:lpstr>
      <vt:lpstr>Relational Model - Relationships</vt:lpstr>
      <vt:lpstr>Relational Model - Relationships</vt:lpstr>
      <vt:lpstr>Relational Model - Relationships</vt:lpstr>
      <vt:lpstr>Relational Model - Relationships</vt:lpstr>
      <vt:lpstr>Relational Model - Relationships</vt:lpstr>
      <vt:lpstr>Entity types &amp; Relationships</vt:lpstr>
      <vt:lpstr>Entity types &amp; Relationships</vt:lpstr>
      <vt:lpstr>Entity types &amp; Relationships</vt:lpstr>
      <vt:lpstr>Entity types &amp; Relationships</vt:lpstr>
      <vt:lpstr>Super-type &amp; Subtype Entities</vt:lpstr>
      <vt:lpstr>Entity Relationship Diagram (ERD)</vt:lpstr>
      <vt:lpstr>PowerPoint Presentation</vt:lpstr>
      <vt:lpstr>Review Questions</vt:lpstr>
      <vt:lpstr>Review Questions </vt:lpstr>
      <vt:lpstr>PowerPoint Presentation</vt:lpstr>
      <vt:lpstr>Review Questions </vt:lpstr>
      <vt:lpstr>Relational Model – Super-Types &amp; SubTypes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albertc</dc:creator>
  <cp:lastModifiedBy>CHUA ALBERT</cp:lastModifiedBy>
  <cp:revision>803</cp:revision>
  <cp:lastPrinted>2013-04-04T08:55:38Z</cp:lastPrinted>
  <dcterms:created xsi:type="dcterms:W3CDTF">2008-03-05T05:57:39Z</dcterms:created>
  <dcterms:modified xsi:type="dcterms:W3CDTF">2018-05-12T09:25:06Z</dcterms:modified>
</cp:coreProperties>
</file>