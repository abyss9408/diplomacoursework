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440" r:id="rId4"/>
    <p:sldId id="452" r:id="rId5"/>
    <p:sldId id="454" r:id="rId6"/>
    <p:sldId id="455" r:id="rId7"/>
    <p:sldId id="441" r:id="rId8"/>
    <p:sldId id="442" r:id="rId9"/>
    <p:sldId id="443" r:id="rId10"/>
    <p:sldId id="456" r:id="rId11"/>
    <p:sldId id="457" r:id="rId12"/>
    <p:sldId id="458" r:id="rId13"/>
    <p:sldId id="459" r:id="rId14"/>
    <p:sldId id="460" r:id="rId15"/>
    <p:sldId id="461" r:id="rId16"/>
    <p:sldId id="295" r:id="rId17"/>
    <p:sldId id="416" r:id="rId18"/>
    <p:sldId id="462" r:id="rId19"/>
    <p:sldId id="421" r:id="rId20"/>
    <p:sldId id="464" r:id="rId21"/>
    <p:sldId id="436" r:id="rId22"/>
  </p:sldIdLst>
  <p:sldSz cx="6858000" cy="9144000" type="screen4x3"/>
  <p:notesSz cx="9874250" cy="6797675"/>
  <p:custDataLst>
    <p:tags r:id="rId25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>
          <p15:clr>
            <a:srgbClr val="A4A3A4"/>
          </p15:clr>
        </p15:guide>
        <p15:guide id="2" pos="311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641C6"/>
    <a:srgbClr val="333399"/>
    <a:srgbClr val="0066FF"/>
    <a:srgbClr val="3366FF"/>
    <a:srgbClr val="009999"/>
    <a:srgbClr val="0080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 autoAdjust="0"/>
    <p:restoredTop sz="94572" autoAdjust="0"/>
  </p:normalViewPr>
  <p:slideViewPr>
    <p:cSldViewPr snapToGrid="0">
      <p:cViewPr>
        <p:scale>
          <a:sx n="70" d="100"/>
          <a:sy n="70" d="100"/>
        </p:scale>
        <p:origin x="1136" y="-184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592"/>
    </p:cViewPr>
  </p:sorterViewPr>
  <p:notesViewPr>
    <p:cSldViewPr snapToGrid="0">
      <p:cViewPr varScale="1">
        <p:scale>
          <a:sx n="47" d="100"/>
          <a:sy n="47" d="100"/>
        </p:scale>
        <p:origin x="-2796" y="-90"/>
      </p:cViewPr>
      <p:guideLst>
        <p:guide orient="horz" pos="2141"/>
        <p:guide pos="311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279136" cy="338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44" tIns="47623" rIns="95244" bIns="47623" numCol="1" anchor="t" anchorCtr="0" compatLnSpc="1">
            <a:prstTxWarp prst="textNoShape">
              <a:avLst/>
            </a:prstTxWarp>
          </a:bodyPr>
          <a:lstStyle>
            <a:lvl1pPr defTabSz="952675">
              <a:defRPr sz="1300" smtClean="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92908" y="0"/>
            <a:ext cx="4279136" cy="338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44" tIns="47623" rIns="95244" bIns="47623" numCol="1" anchor="t" anchorCtr="0" compatLnSpc="1">
            <a:prstTxWarp prst="textNoShape">
              <a:avLst/>
            </a:prstTxWarp>
          </a:bodyPr>
          <a:lstStyle>
            <a:lvl1pPr algn="r" defTabSz="952675">
              <a:defRPr sz="1300" smtClean="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92908" y="6457106"/>
            <a:ext cx="4279136" cy="339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44" tIns="47623" rIns="95244" bIns="47623" numCol="1" anchor="b" anchorCtr="0" compatLnSpc="1">
            <a:prstTxWarp prst="textNoShape">
              <a:avLst/>
            </a:prstTxWarp>
          </a:bodyPr>
          <a:lstStyle>
            <a:lvl1pPr algn="r" defTabSz="952675">
              <a:defRPr sz="1300" smtClean="0">
                <a:latin typeface="Arial" charset="0"/>
              </a:defRPr>
            </a:lvl1pPr>
          </a:lstStyle>
          <a:p>
            <a:pPr>
              <a:defRPr/>
            </a:pPr>
            <a:fld id="{98AE70DA-BE83-4246-8033-0D4F5CED24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2"/>
          </p:nvPr>
        </p:nvSpPr>
        <p:spPr>
          <a:xfrm>
            <a:off x="1" y="6457106"/>
            <a:ext cx="4279136" cy="339515"/>
          </a:xfrm>
          <a:prstGeom prst="rect">
            <a:avLst/>
          </a:prstGeom>
        </p:spPr>
        <p:txBody>
          <a:bodyPr vert="horz" lIns="87939" tIns="43970" rIns="87939" bIns="4397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1145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279136" cy="338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44" tIns="47623" rIns="95244" bIns="47623" numCol="1" anchor="t" anchorCtr="0" compatLnSpc="1">
            <a:prstTxWarp prst="textNoShape">
              <a:avLst/>
            </a:prstTxWarp>
          </a:bodyPr>
          <a:lstStyle>
            <a:lvl1pPr defTabSz="952675">
              <a:defRPr sz="1300" smtClean="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92908" y="0"/>
            <a:ext cx="4279136" cy="338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44" tIns="47623" rIns="95244" bIns="47623" numCol="1" anchor="t" anchorCtr="0" compatLnSpc="1">
            <a:prstTxWarp prst="textNoShape">
              <a:avLst/>
            </a:prstTxWarp>
          </a:bodyPr>
          <a:lstStyle>
            <a:lvl1pPr algn="r" defTabSz="952675">
              <a:defRPr sz="1300" smtClean="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984625" y="512763"/>
            <a:ext cx="1909763" cy="25479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986" y="3228552"/>
            <a:ext cx="7900283" cy="3058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44" tIns="47623" rIns="95244" bIns="476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457106"/>
            <a:ext cx="4279136" cy="339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44" tIns="47623" rIns="95244" bIns="47623" numCol="1" anchor="b" anchorCtr="0" compatLnSpc="1">
            <a:prstTxWarp prst="textNoShape">
              <a:avLst/>
            </a:prstTxWarp>
          </a:bodyPr>
          <a:lstStyle>
            <a:lvl1pPr defTabSz="952675">
              <a:defRPr sz="1300" smtClean="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92908" y="6457106"/>
            <a:ext cx="4279136" cy="339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44" tIns="47623" rIns="95244" bIns="47623" numCol="1" anchor="b" anchorCtr="0" compatLnSpc="1">
            <a:prstTxWarp prst="textNoShape">
              <a:avLst/>
            </a:prstTxWarp>
          </a:bodyPr>
          <a:lstStyle>
            <a:lvl1pPr algn="r" defTabSz="952675">
              <a:defRPr sz="1300" smtClean="0">
                <a:latin typeface="Arial" charset="0"/>
              </a:defRPr>
            </a:lvl1pPr>
          </a:lstStyle>
          <a:p>
            <a:pPr>
              <a:defRPr/>
            </a:pPr>
            <a:fld id="{EE6A17AE-E383-4B2C-8367-33F482FFB8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5342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6572250" cy="7924800"/>
            <a:chOff x="0" y="0"/>
            <a:chExt cx="5520" cy="37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white">
              <a:xfrm>
                <a:off x="655" y="2352"/>
                <a:ext cx="4817" cy="134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7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13" name="Rectangle 13"/>
          <p:cNvSpPr>
            <a:spLocks noChangeArrowheads="1"/>
          </p:cNvSpPr>
          <p:nvPr userDrawn="1"/>
        </p:nvSpPr>
        <p:spPr bwMode="auto">
          <a:xfrm>
            <a:off x="0" y="8636000"/>
            <a:ext cx="3789363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eaLnBrk="0" hangingPunct="0">
              <a:defRPr/>
            </a:pPr>
            <a:r>
              <a:rPr lang="en-US" sz="800" dirty="0">
                <a:latin typeface="Arial" charset="0"/>
              </a:rPr>
              <a:t>Copyrights © Nanyang Polytechnic, 2018</a:t>
            </a:r>
          </a:p>
        </p:txBody>
      </p:sp>
      <p:sp>
        <p:nvSpPr>
          <p:cNvPr id="211979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1543050" y="1524000"/>
            <a:ext cx="4972050" cy="2946400"/>
          </a:xfrm>
        </p:spPr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11980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028700" y="5283200"/>
            <a:ext cx="5143500" cy="21336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5821" y="332617"/>
            <a:ext cx="1486429" cy="3494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custDataLst>
      <p:tags r:id="rId1"/>
    </p:custData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701800"/>
            <a:ext cx="2838450" cy="6472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76650" y="1701800"/>
            <a:ext cx="2838450" cy="6472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54600" y="277813"/>
            <a:ext cx="1500188" cy="7896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5" y="277813"/>
            <a:ext cx="4352925" cy="7896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77813"/>
            <a:ext cx="6005513" cy="8556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701800"/>
            <a:ext cx="2838450" cy="6472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76650" y="1701800"/>
            <a:ext cx="2838450" cy="6472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Rectangle 3"/>
          <p:cNvSpPr>
            <a:spLocks noChangeArrowheads="1"/>
          </p:cNvSpPr>
          <p:nvPr/>
        </p:nvSpPr>
        <p:spPr bwMode="auto">
          <a:xfrm>
            <a:off x="0" y="0"/>
            <a:ext cx="457200" cy="65024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Times New Roman" pitchFamily="18" charset="0"/>
            </a:endParaRPr>
          </a:p>
        </p:txBody>
      </p:sp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376238" y="1160463"/>
            <a:ext cx="6229350" cy="242887"/>
            <a:chOff x="240" y="893"/>
            <a:chExt cx="5232" cy="115"/>
          </a:xfrm>
        </p:grpSpPr>
        <p:sp>
          <p:nvSpPr>
            <p:cNvPr id="210949" name="Rectangle 5"/>
            <p:cNvSpPr>
              <a:spLocks noChangeArrowheads="1"/>
            </p:cNvSpPr>
            <p:nvPr/>
          </p:nvSpPr>
          <p:spPr bwMode="auto">
            <a:xfrm>
              <a:off x="4320" y="893"/>
              <a:ext cx="1152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10950" name="Line 6"/>
            <p:cNvSpPr>
              <a:spLocks noChangeShapeType="1"/>
            </p:cNvSpPr>
            <p:nvPr/>
          </p:nvSpPr>
          <p:spPr bwMode="auto">
            <a:xfrm>
              <a:off x="240" y="941"/>
              <a:ext cx="5232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028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549275" y="277813"/>
            <a:ext cx="6005513" cy="855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9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701800"/>
            <a:ext cx="5829300" cy="647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10953" name="Line 9"/>
          <p:cNvSpPr>
            <a:spLocks noChangeShapeType="1"/>
          </p:cNvSpPr>
          <p:nvPr/>
        </p:nvSpPr>
        <p:spPr bwMode="auto">
          <a:xfrm>
            <a:off x="0" y="6502400"/>
            <a:ext cx="4572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954" name="Rectangle 10"/>
          <p:cNvSpPr>
            <a:spLocks noChangeArrowheads="1"/>
          </p:cNvSpPr>
          <p:nvPr userDrawn="1"/>
        </p:nvSpPr>
        <p:spPr bwMode="auto">
          <a:xfrm>
            <a:off x="0" y="8636000"/>
            <a:ext cx="446405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eaLnBrk="0" hangingPunct="0">
              <a:defRPr/>
            </a:pPr>
            <a:r>
              <a:rPr lang="en-US" sz="800" dirty="0">
                <a:latin typeface="Arial" charset="0"/>
              </a:rPr>
              <a:t>Copyrights © Nanyang Polytechnic, 2018</a:t>
            </a:r>
            <a:r>
              <a:rPr lang="en-US" sz="800" baseline="0" dirty="0">
                <a:latin typeface="Arial" charset="0"/>
              </a:rPr>
              <a:t> </a:t>
            </a:r>
            <a:r>
              <a:rPr lang="en-US" sz="800" dirty="0">
                <a:latin typeface="Arial" charset="0"/>
              </a:rPr>
              <a:t>S2		</a:t>
            </a:r>
          </a:p>
        </p:txBody>
      </p:sp>
      <p:sp>
        <p:nvSpPr>
          <p:cNvPr id="210956" name="Rectangle 12"/>
          <p:cNvSpPr>
            <a:spLocks noChangeArrowheads="1"/>
          </p:cNvSpPr>
          <p:nvPr/>
        </p:nvSpPr>
        <p:spPr bwMode="auto">
          <a:xfrm>
            <a:off x="2444750" y="8739188"/>
            <a:ext cx="1933575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GB" sz="1000">
                <a:latin typeface="Arial" charset="0"/>
              </a:rPr>
              <a:t>Page </a:t>
            </a:r>
            <a:fld id="{E8060906-3A6C-4DE7-AD42-24BEE673FAC3}" type="slidenum">
              <a:rPr lang="en-GB" sz="1000">
                <a:latin typeface="Arial" charset="0"/>
              </a:rPr>
              <a:pPr algn="ctr">
                <a:defRPr/>
              </a:pPr>
              <a:t>‹#›</a:t>
            </a:fld>
            <a:endParaRPr lang="en-GB" sz="1000">
              <a:latin typeface="Arial" charset="0"/>
            </a:endParaRPr>
          </a:p>
        </p:txBody>
      </p:sp>
      <p:sp>
        <p:nvSpPr>
          <p:cNvPr id="210959" name="Text Box 15"/>
          <p:cNvSpPr txBox="1">
            <a:spLocks noChangeArrowheads="1"/>
          </p:cNvSpPr>
          <p:nvPr userDrawn="1"/>
        </p:nvSpPr>
        <p:spPr bwMode="auto">
          <a:xfrm>
            <a:off x="3935413" y="8755063"/>
            <a:ext cx="2808287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defRPr/>
            </a:pPr>
            <a:r>
              <a:rPr lang="en-GB" sz="800">
                <a:latin typeface="Arial" charset="0"/>
              </a:rPr>
              <a:t>IT1762 Data Structures and Algorithms</a:t>
            </a:r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00175" y="1493838"/>
            <a:ext cx="4972050" cy="2946400"/>
          </a:xfrm>
        </p:spPr>
        <p:txBody>
          <a:bodyPr/>
          <a:lstStyle/>
          <a:p>
            <a:pPr algn="ctr" eaLnBrk="1" hangingPunct="1"/>
            <a:r>
              <a:rPr lang="en-GB" sz="3800"/>
              <a:t>IT1762</a:t>
            </a:r>
            <a:br>
              <a:rPr lang="en-GB" sz="3800"/>
            </a:br>
            <a:r>
              <a:rPr lang="en-GB" sz="3800"/>
              <a:t>Data Structures &amp; Algorithms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79450" y="5043488"/>
            <a:ext cx="5834063" cy="2336800"/>
          </a:xfrm>
        </p:spPr>
        <p:txBody>
          <a:bodyPr/>
          <a:lstStyle/>
          <a:p>
            <a:pPr eaLnBrk="1" hangingPunct="1"/>
            <a:r>
              <a:rPr lang="en-GB" sz="2800" dirty="0"/>
              <a:t>Topic 2B</a:t>
            </a:r>
          </a:p>
          <a:p>
            <a:pPr eaLnBrk="1" hangingPunct="1"/>
            <a:r>
              <a:rPr lang="en-GB" sz="2800" i="1" dirty="0">
                <a:solidFill>
                  <a:srgbClr val="FF0000"/>
                </a:solidFill>
              </a:rPr>
              <a:t>FOR loops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Topics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94460"/>
            <a:ext cx="5829300" cy="6779578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/>
              <a:t>Refresher on FOR loop</a:t>
            </a:r>
            <a:endParaRPr lang="en-GB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defRPr/>
            </a:pPr>
            <a:endParaRPr lang="en-GB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Objectives:</a:t>
            </a:r>
          </a:p>
          <a:p>
            <a:pPr eaLnBrk="1" hangingPunct="1">
              <a:defRPr/>
            </a:pPr>
            <a:r>
              <a:rPr lang="en-GB" dirty="0"/>
              <a:t>Identify repetitive tasks</a:t>
            </a:r>
          </a:p>
          <a:p>
            <a:pPr eaLnBrk="1" hangingPunct="1">
              <a:defRPr/>
            </a:pPr>
            <a:r>
              <a:rPr lang="en-GB" dirty="0"/>
              <a:t>Be able to use FOR loop constructs for repetitive tasks</a:t>
            </a:r>
          </a:p>
          <a:p>
            <a:pPr eaLnBrk="1" hangingPunct="1">
              <a:defRPr/>
            </a:pPr>
            <a:r>
              <a:rPr lang="en-GB" dirty="0"/>
              <a:t>Use counter in FOR loop</a:t>
            </a:r>
          </a:p>
          <a:p>
            <a:pPr eaLnBrk="1" hangingPunct="1">
              <a:defRPr/>
            </a:pPr>
            <a:endParaRPr lang="en-GB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9229" y="596340"/>
            <a:ext cx="5829300" cy="526774"/>
          </a:xfrm>
          <a:noFill/>
        </p:spPr>
        <p:txBody>
          <a:bodyPr anchor="b"/>
          <a:lstStyle/>
          <a:p>
            <a:pPr eaLnBrk="1" hangingPunct="1"/>
            <a:r>
              <a:rPr lang="en-US" dirty="0"/>
              <a:t>Need for Repetition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4813" y="1763713"/>
            <a:ext cx="6192539" cy="7092950"/>
          </a:xfrm>
        </p:spPr>
        <p:txBody>
          <a:bodyPr/>
          <a:lstStyle/>
          <a:p>
            <a:pPr eaLnBrk="1" hangingPunct="1"/>
            <a:r>
              <a:rPr lang="en-US" sz="2400" dirty="0"/>
              <a:t>In computer programs, as in our every life, we encounter repetitive tasks.</a:t>
            </a:r>
          </a:p>
          <a:p>
            <a:pPr eaLnBrk="1" hangingPunct="1"/>
            <a:r>
              <a:rPr lang="en-US" sz="2400" dirty="0"/>
              <a:t>For example, we wake up, freshen ourselves, take break fast, go to school and back home… and</a:t>
            </a:r>
          </a:p>
          <a:p>
            <a:pPr eaLnBrk="1" hangingPunct="1"/>
            <a:r>
              <a:rPr lang="en-US" sz="2400" dirty="0"/>
              <a:t>.. It repeats the next day.</a:t>
            </a:r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It is the same for computer programs.</a:t>
            </a:r>
          </a:p>
          <a:p>
            <a:pPr eaLnBrk="1" hangingPunct="1"/>
            <a:r>
              <a:rPr lang="en-US" sz="2400" dirty="0"/>
              <a:t>Let us take a look at a simple example.</a:t>
            </a:r>
          </a:p>
        </p:txBody>
      </p:sp>
      <p:pic>
        <p:nvPicPr>
          <p:cNvPr id="1026" name="Picture 2" descr="C:\Users\tanail\AppData\Local\Microsoft\Windows\Temporary Internet Files\Content.IE5\6KSNL5KG\MC900432635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136" y="3488432"/>
            <a:ext cx="1731640" cy="1731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27536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49275" y="1431236"/>
            <a:ext cx="5904062" cy="1479636"/>
          </a:xfrm>
        </p:spPr>
        <p:txBody>
          <a:bodyPr/>
          <a:lstStyle/>
          <a:p>
            <a:pPr marL="449263" lvl="1" indent="-269875" eaLnBrk="1" hangingPunct="1">
              <a:spcBef>
                <a:spcPct val="30000"/>
              </a:spcBef>
              <a:spcAft>
                <a:spcPct val="30000"/>
              </a:spcAft>
            </a:pPr>
            <a:r>
              <a:rPr lang="en-US" sz="2400" b="1" dirty="0"/>
              <a:t>Problem </a:t>
            </a:r>
            <a:r>
              <a:rPr lang="en-US" sz="2400" dirty="0"/>
              <a:t>:  Display a title in a message box for 50 times</a:t>
            </a:r>
          </a:p>
          <a:p>
            <a:pPr marL="449263" lvl="1" indent="-269875" eaLnBrk="1" hangingPunct="1">
              <a:spcBef>
                <a:spcPct val="30000"/>
              </a:spcBef>
              <a:spcAft>
                <a:spcPct val="30000"/>
              </a:spcAft>
            </a:pPr>
            <a:r>
              <a:rPr lang="en-US" sz="2400" dirty="0"/>
              <a:t>Example of C# codes:</a:t>
            </a:r>
          </a:p>
          <a:p>
            <a:pPr marL="449263" lvl="1" indent="-269875" eaLnBrk="1" hangingPunct="1">
              <a:spcBef>
                <a:spcPct val="30000"/>
              </a:spcBef>
              <a:spcAft>
                <a:spcPct val="30000"/>
              </a:spcAft>
              <a:buNone/>
            </a:pPr>
            <a:r>
              <a:rPr lang="en-US" sz="2400" dirty="0"/>
              <a:t>		</a:t>
            </a:r>
          </a:p>
          <a:p>
            <a:pPr marL="449263" lvl="1" indent="-269875" eaLnBrk="1" hangingPunct="1">
              <a:spcBef>
                <a:spcPct val="30000"/>
              </a:spcBef>
              <a:spcAft>
                <a:spcPct val="30000"/>
              </a:spcAft>
            </a:pPr>
            <a:endParaRPr lang="en-US" sz="2400" dirty="0"/>
          </a:p>
          <a:p>
            <a:pPr marL="449263" lvl="1" indent="-269875" eaLnBrk="1" hangingPunct="1">
              <a:spcBef>
                <a:spcPct val="30000"/>
              </a:spcBef>
              <a:spcAft>
                <a:spcPct val="30000"/>
              </a:spcAft>
            </a:pPr>
            <a:endParaRPr lang="en-US" sz="2400" dirty="0"/>
          </a:p>
          <a:p>
            <a:pPr marL="449263" lvl="1" indent="-269875" eaLnBrk="1" hangingPunct="1">
              <a:spcBef>
                <a:spcPct val="30000"/>
              </a:spcBef>
              <a:spcAft>
                <a:spcPct val="30000"/>
              </a:spcAft>
            </a:pPr>
            <a:endParaRPr lang="en-US" sz="2400" b="1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>
          <a:xfrm>
            <a:off x="373524" y="536714"/>
            <a:ext cx="6495105" cy="727146"/>
          </a:xfrm>
          <a:noFill/>
        </p:spPr>
        <p:txBody>
          <a:bodyPr anchor="b"/>
          <a:lstStyle/>
          <a:p>
            <a:pPr eaLnBrk="1" hangingPunct="1"/>
            <a:r>
              <a:rPr lang="en-US" dirty="0"/>
              <a:t>Example1 of repetitive problem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815009" y="2910872"/>
            <a:ext cx="4820478" cy="24929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49263" lvl="1" indent="-269875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string </a:t>
            </a:r>
            <a:r>
              <a:rPr lang="en-US" dirty="0" err="1">
                <a:solidFill>
                  <a:srgbClr val="FF0000"/>
                </a:solidFill>
              </a:rPr>
              <a:t>myMessage</a:t>
            </a:r>
            <a:r>
              <a:rPr lang="en-US" dirty="0">
                <a:solidFill>
                  <a:srgbClr val="FF0000"/>
                </a:solidFill>
              </a:rPr>
              <a:t>;</a:t>
            </a:r>
          </a:p>
          <a:p>
            <a:pPr marL="449263" lvl="1" indent="-269875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 err="1">
                <a:solidFill>
                  <a:srgbClr val="FF0000"/>
                </a:solidFill>
              </a:rPr>
              <a:t>myMessage</a:t>
            </a:r>
            <a:r>
              <a:rPr lang="en-US" dirty="0">
                <a:solidFill>
                  <a:srgbClr val="FF0000"/>
                </a:solidFill>
              </a:rPr>
              <a:t> = “Hello My friend! ”;</a:t>
            </a:r>
          </a:p>
          <a:p>
            <a:pPr marL="449263" lvl="1" indent="-269875" eaLnBrk="1" hangingPunct="1">
              <a:spcBef>
                <a:spcPts val="0"/>
              </a:spcBef>
              <a:spcAft>
                <a:spcPts val="600"/>
              </a:spcAft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449263" lvl="1" indent="-269875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 err="1">
                <a:solidFill>
                  <a:srgbClr val="FF0000"/>
                </a:solidFill>
              </a:rPr>
              <a:t>MesageBox.Show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myMessage</a:t>
            </a:r>
            <a:r>
              <a:rPr lang="en-US" dirty="0">
                <a:solidFill>
                  <a:srgbClr val="FF0000"/>
                </a:solidFill>
              </a:rPr>
              <a:t>);</a:t>
            </a:r>
          </a:p>
          <a:p>
            <a:pPr marL="449263" lvl="1" indent="-269875">
              <a:spcBef>
                <a:spcPts val="0"/>
              </a:spcBef>
              <a:spcAft>
                <a:spcPts val="600"/>
              </a:spcAft>
            </a:pPr>
            <a:r>
              <a:rPr lang="en-US" dirty="0" err="1">
                <a:solidFill>
                  <a:srgbClr val="FF0000"/>
                </a:solidFill>
              </a:rPr>
              <a:t>MesageBox.Show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myMessage</a:t>
            </a:r>
            <a:r>
              <a:rPr lang="en-US" dirty="0">
                <a:solidFill>
                  <a:srgbClr val="FF0000"/>
                </a:solidFill>
              </a:rPr>
              <a:t>);</a:t>
            </a:r>
          </a:p>
          <a:p>
            <a:pPr marL="449263" lvl="1" indent="-269875">
              <a:spcBef>
                <a:spcPts val="0"/>
              </a:spcBef>
              <a:spcAft>
                <a:spcPts val="600"/>
              </a:spcAft>
            </a:pPr>
            <a:r>
              <a:rPr lang="en-US" dirty="0" err="1">
                <a:solidFill>
                  <a:srgbClr val="FF0000"/>
                </a:solidFill>
              </a:rPr>
              <a:t>MesageBox.Show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myMessage</a:t>
            </a:r>
            <a:r>
              <a:rPr lang="en-US" dirty="0">
                <a:solidFill>
                  <a:srgbClr val="FF0000"/>
                </a:solidFill>
              </a:rPr>
              <a:t>);</a:t>
            </a:r>
          </a:p>
          <a:p>
            <a:pPr marL="449263" lvl="1" indent="-269875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… // repeat the above statement 50 times</a:t>
            </a:r>
          </a:p>
        </p:txBody>
      </p:sp>
      <p:pic>
        <p:nvPicPr>
          <p:cNvPr id="1028" name="Picture 4" descr="C:\Users\tanail\AppData\Local\Microsoft\Windows\Temporary Internet Files\Content.IE5\E30L0XOG\MC900441338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635488"/>
            <a:ext cx="2882348" cy="2882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081130" y="6082744"/>
            <a:ext cx="3617382" cy="2160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9263" lvl="1" indent="-269875" eaLnBrk="1" hangingPunct="1">
              <a:spcBef>
                <a:spcPct val="30000"/>
              </a:spcBef>
              <a:spcAft>
                <a:spcPct val="30000"/>
              </a:spcAft>
            </a:pPr>
            <a:r>
              <a:rPr lang="en-US" sz="2400" dirty="0"/>
              <a:t>This is not the way to code it. </a:t>
            </a:r>
          </a:p>
          <a:p>
            <a:pPr marL="449263" lvl="1" indent="-269875" eaLnBrk="1" hangingPunct="1">
              <a:spcBef>
                <a:spcPct val="30000"/>
              </a:spcBef>
              <a:spcAft>
                <a:spcPct val="30000"/>
              </a:spcAft>
            </a:pPr>
            <a:r>
              <a:rPr lang="en-US" sz="2400" b="1" dirty="0"/>
              <a:t>FOR loop </a:t>
            </a:r>
            <a:r>
              <a:rPr lang="en-US" sz="2400" dirty="0"/>
              <a:t>will help us to code this better!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0972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Using </a:t>
            </a:r>
            <a:r>
              <a:rPr lang="en-GB" dirty="0">
                <a:solidFill>
                  <a:srgbClr val="FF0000"/>
                </a:solidFill>
              </a:rPr>
              <a:t>FOR</a:t>
            </a:r>
            <a:r>
              <a:rPr lang="en-GB" dirty="0"/>
              <a:t> LOOP Statement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4864" y="1647825"/>
            <a:ext cx="4307061" cy="811213"/>
          </a:xfrm>
        </p:spPr>
        <p:txBody>
          <a:bodyPr/>
          <a:lstStyle/>
          <a:p>
            <a:pPr eaLnBrk="1" hangingPunct="1"/>
            <a:r>
              <a:rPr lang="en-GB" sz="2400" dirty="0"/>
              <a:t>The </a:t>
            </a:r>
            <a:r>
              <a:rPr lang="en-GB" sz="2400" dirty="0">
                <a:solidFill>
                  <a:srgbClr val="FF0000"/>
                </a:solidFill>
              </a:rPr>
              <a:t>for</a:t>
            </a:r>
            <a:r>
              <a:rPr lang="en-GB" sz="2400" dirty="0"/>
              <a:t> statement has the following syntax: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216069" name="Text Box 5"/>
          <p:cNvSpPr txBox="1">
            <a:spLocks noChangeArrowheads="1"/>
          </p:cNvSpPr>
          <p:nvPr/>
        </p:nvSpPr>
        <p:spPr bwMode="auto">
          <a:xfrm>
            <a:off x="2484710" y="2598738"/>
            <a:ext cx="418465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60000"/>
              </a:spcBef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for ( </a:t>
            </a:r>
            <a:r>
              <a:rPr lang="en-US" sz="2000" dirty="0" err="1">
                <a:solidFill>
                  <a:srgbClr val="FF0000"/>
                </a:solidFill>
                <a:latin typeface="Arial" charset="0"/>
              </a:rPr>
              <a:t>initialise</a:t>
            </a:r>
            <a:r>
              <a:rPr lang="en-US" sz="2000" dirty="0">
                <a:solidFill>
                  <a:srgbClr val="FF0000"/>
                </a:solidFill>
                <a:latin typeface="Arial" charset="0"/>
              </a:rPr>
              <a:t>; condition; increment)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{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    statement1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    statement2 .... 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}</a:t>
            </a:r>
          </a:p>
        </p:txBody>
      </p:sp>
      <p:sp>
        <p:nvSpPr>
          <p:cNvPr id="216071" name="Text Box 7"/>
          <p:cNvSpPr txBox="1">
            <a:spLocks noChangeArrowheads="1"/>
          </p:cNvSpPr>
          <p:nvPr/>
        </p:nvSpPr>
        <p:spPr bwMode="auto">
          <a:xfrm>
            <a:off x="585788" y="5292080"/>
            <a:ext cx="6083572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63538" indent="-363538"/>
            <a:r>
              <a:rPr lang="en-US" sz="2400" dirty="0">
                <a:latin typeface="Arial" charset="0"/>
                <a:sym typeface="Wingdings" pitchFamily="2" charset="2"/>
              </a:rPr>
              <a:t>where:</a:t>
            </a:r>
          </a:p>
          <a:p>
            <a:pPr marL="363538" indent="-363538"/>
            <a:r>
              <a:rPr lang="en-US" sz="2000" dirty="0">
                <a:solidFill>
                  <a:srgbClr val="0033CC"/>
                </a:solidFill>
                <a:latin typeface="Arial" charset="0"/>
                <a:sym typeface="Wingdings" pitchFamily="2" charset="2"/>
              </a:rPr>
              <a:t>for 		: compulsory keyword.</a:t>
            </a:r>
          </a:p>
          <a:p>
            <a:pPr marL="363538" indent="-363538"/>
            <a:r>
              <a:rPr lang="en-US" sz="2000" dirty="0" err="1">
                <a:solidFill>
                  <a:srgbClr val="0033CC"/>
                </a:solidFill>
                <a:latin typeface="Arial" charset="0"/>
                <a:sym typeface="Wingdings" pitchFamily="2" charset="2"/>
              </a:rPr>
              <a:t>Initialise</a:t>
            </a:r>
            <a:r>
              <a:rPr lang="en-US" sz="2000" dirty="0">
                <a:solidFill>
                  <a:srgbClr val="0033CC"/>
                </a:solidFill>
                <a:latin typeface="Arial" charset="0"/>
                <a:sym typeface="Wingdings" pitchFamily="2" charset="2"/>
              </a:rPr>
              <a:t>	: start value of loop counter.</a:t>
            </a:r>
          </a:p>
          <a:p>
            <a:pPr marL="363538" indent="-363538"/>
            <a:r>
              <a:rPr lang="en-US" sz="2000" dirty="0">
                <a:solidFill>
                  <a:srgbClr val="0033CC"/>
                </a:solidFill>
                <a:latin typeface="Arial" charset="0"/>
                <a:sym typeface="Wingdings" pitchFamily="2" charset="2"/>
              </a:rPr>
              <a:t>Condition 	: condition to test whether to loop.</a:t>
            </a:r>
          </a:p>
          <a:p>
            <a:pPr marL="363538" indent="-363538"/>
            <a:r>
              <a:rPr lang="en-US" sz="2000" dirty="0">
                <a:solidFill>
                  <a:srgbClr val="0033CC"/>
                </a:solidFill>
                <a:latin typeface="Arial" charset="0"/>
                <a:sym typeface="Wingdings" pitchFamily="2" charset="2"/>
              </a:rPr>
              <a:t>increment 	: value to increase loop counter.</a:t>
            </a:r>
            <a:endParaRPr lang="en-GB" sz="2000" dirty="0">
              <a:solidFill>
                <a:srgbClr val="0033CC"/>
              </a:solidFill>
              <a:latin typeface="Arial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04664" y="1619672"/>
            <a:ext cx="1388783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31550" cmpd="sng">
                  <a:gradFill>
                    <a:gsLst>
                      <a:gs pos="0">
                        <a:srgbClr val="000000"/>
                      </a:gs>
                      <a:gs pos="20000">
                        <a:srgbClr val="000040"/>
                      </a:gs>
                      <a:gs pos="50000">
                        <a:srgbClr val="400040"/>
                      </a:gs>
                      <a:gs pos="75000">
                        <a:srgbClr val="8F0040"/>
                      </a:gs>
                      <a:gs pos="89999">
                        <a:srgbClr val="F27300"/>
                      </a:gs>
                      <a:gs pos="100000">
                        <a:srgbClr val="FFBF00"/>
                      </a:gs>
                    </a:gsLst>
                    <a:lin ang="5400000" scaled="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FOR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2694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60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9" grpId="0"/>
      <p:bldP spid="21607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Using </a:t>
            </a:r>
            <a:r>
              <a:rPr lang="en-GB" dirty="0">
                <a:solidFill>
                  <a:srgbClr val="FF0000"/>
                </a:solidFill>
              </a:rPr>
              <a:t>for</a:t>
            </a:r>
            <a:r>
              <a:rPr lang="en-GB" dirty="0"/>
              <a:t> Statement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0647" y="1403277"/>
            <a:ext cx="4595093" cy="1301090"/>
          </a:xfrm>
        </p:spPr>
        <p:txBody>
          <a:bodyPr/>
          <a:lstStyle/>
          <a:p>
            <a:pPr eaLnBrk="1" hangingPunct="1"/>
            <a:r>
              <a:rPr lang="en-GB" sz="2400" dirty="0"/>
              <a:t>How to display message box 50 times?</a:t>
            </a:r>
          </a:p>
          <a:p>
            <a:pPr eaLnBrk="1" hangingPunct="1"/>
            <a:r>
              <a:rPr lang="en-GB" dirty="0"/>
              <a:t>R</a:t>
            </a:r>
            <a:r>
              <a:rPr lang="en-GB" sz="2400" dirty="0"/>
              <a:t>ewrite the code as follows:</a:t>
            </a:r>
          </a:p>
        </p:txBody>
      </p:sp>
      <p:sp>
        <p:nvSpPr>
          <p:cNvPr id="216069" name="Text Box 5"/>
          <p:cNvSpPr txBox="1">
            <a:spLocks noChangeArrowheads="1"/>
          </p:cNvSpPr>
          <p:nvPr/>
        </p:nvSpPr>
        <p:spPr bwMode="auto">
          <a:xfrm>
            <a:off x="1772816" y="3063393"/>
            <a:ext cx="5010756" cy="3293209"/>
          </a:xfrm>
          <a:prstGeom prst="rect">
            <a:avLst/>
          </a:prstGeom>
          <a:solidFill>
            <a:schemeClr val="bg1">
              <a:lumMod val="90000"/>
            </a:schemeClr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49263" lvl="1" indent="-269875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string </a:t>
            </a:r>
            <a:r>
              <a:rPr lang="en-US" dirty="0" err="1">
                <a:solidFill>
                  <a:srgbClr val="FF0000"/>
                </a:solidFill>
              </a:rPr>
              <a:t>myMessage</a:t>
            </a:r>
            <a:r>
              <a:rPr lang="en-US" dirty="0">
                <a:solidFill>
                  <a:srgbClr val="FF0000"/>
                </a:solidFill>
              </a:rPr>
              <a:t>;</a:t>
            </a:r>
          </a:p>
          <a:p>
            <a:pPr marL="449263" lvl="1" indent="-269875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 err="1">
                <a:solidFill>
                  <a:srgbClr val="FF0000"/>
                </a:solidFill>
              </a:rPr>
              <a:t>myMessage</a:t>
            </a:r>
            <a:r>
              <a:rPr lang="en-US" dirty="0">
                <a:solidFill>
                  <a:srgbClr val="FF0000"/>
                </a:solidFill>
              </a:rPr>
              <a:t> = “Hello My friend! ”;</a:t>
            </a:r>
          </a:p>
          <a:p>
            <a:pPr>
              <a:lnSpc>
                <a:spcPct val="80000"/>
              </a:lnSpc>
              <a:spcBef>
                <a:spcPct val="60000"/>
              </a:spcBef>
              <a:buClr>
                <a:schemeClr val="tx2"/>
              </a:buClr>
            </a:pPr>
            <a:r>
              <a:rPr lang="en-US" sz="2000" dirty="0">
                <a:latin typeface="Arial" charset="0"/>
              </a:rPr>
              <a:t>for ( int i = 1; i &lt;= 50; i++)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latin typeface="Arial" charset="0"/>
              </a:rPr>
              <a:t>{</a:t>
            </a:r>
          </a:p>
          <a:p>
            <a:pPr>
              <a:buClr>
                <a:schemeClr val="tx2"/>
              </a:buClr>
            </a:pPr>
            <a:endParaRPr lang="en-US" sz="2000" dirty="0">
              <a:latin typeface="Arial" charset="0"/>
            </a:endParaRPr>
          </a:p>
          <a:p>
            <a:pPr marL="0" lvl="1">
              <a:buClr>
                <a:schemeClr val="tx2"/>
              </a:buClr>
            </a:pPr>
            <a:r>
              <a:rPr lang="en-US" dirty="0" err="1">
                <a:solidFill>
                  <a:srgbClr val="FF0000"/>
                </a:solidFill>
              </a:rPr>
              <a:t>MesageBox.Show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myMessage</a:t>
            </a:r>
            <a:r>
              <a:rPr lang="en-US" dirty="0">
                <a:solidFill>
                  <a:srgbClr val="FF0000"/>
                </a:solidFill>
              </a:rPr>
              <a:t>);</a:t>
            </a:r>
          </a:p>
          <a:p>
            <a:pPr marL="0" lvl="1">
              <a:buClr>
                <a:schemeClr val="tx2"/>
              </a:buClr>
            </a:pPr>
            <a:endParaRPr lang="en-US" dirty="0">
              <a:solidFill>
                <a:srgbClr val="FF0000"/>
              </a:solidFill>
            </a:endParaRPr>
          </a:p>
          <a:p>
            <a:pPr>
              <a:buClr>
                <a:schemeClr val="tx2"/>
              </a:buClr>
            </a:pPr>
            <a:r>
              <a:rPr lang="en-US" sz="2000" dirty="0">
                <a:latin typeface="Arial" charset="0"/>
              </a:rPr>
              <a:t>} //end of FOR loop</a:t>
            </a:r>
          </a:p>
          <a:p>
            <a:pPr marL="0" lvl="1">
              <a:buClr>
                <a:schemeClr val="tx2"/>
              </a:buClr>
            </a:pPr>
            <a:endParaRPr lang="en-US" dirty="0">
              <a:solidFill>
                <a:srgbClr val="FF0000"/>
              </a:solidFill>
            </a:endParaRPr>
          </a:p>
          <a:p>
            <a:pPr marL="0" lvl="1">
              <a:buClr>
                <a:schemeClr val="tx2"/>
              </a:buClr>
            </a:pPr>
            <a:r>
              <a:rPr lang="en-US" dirty="0" err="1">
                <a:solidFill>
                  <a:srgbClr val="FF0000"/>
                </a:solidFill>
              </a:rPr>
              <a:t>MesageBox.Show</a:t>
            </a:r>
            <a:r>
              <a:rPr lang="en-US" dirty="0">
                <a:solidFill>
                  <a:srgbClr val="FF0000"/>
                </a:solidFill>
              </a:rPr>
              <a:t> (“Exit Loop”);</a:t>
            </a:r>
            <a:r>
              <a:rPr lang="en-US" sz="2000" dirty="0">
                <a:latin typeface="Arial" charset="0"/>
              </a:rPr>
              <a:t>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664" y="6371436"/>
            <a:ext cx="6315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conditions i = 1</a:t>
            </a:r>
          </a:p>
          <a:p>
            <a:r>
              <a:rPr lang="en-US" b="1" u="sng" dirty="0"/>
              <a:t>i          i&lt;=50?        Run repeated statements</a:t>
            </a:r>
          </a:p>
          <a:p>
            <a:r>
              <a:rPr lang="en-US" dirty="0"/>
              <a:t>1	True	     </a:t>
            </a:r>
            <a:r>
              <a:rPr lang="en-US" dirty="0" err="1"/>
              <a:t>MessageBox.Show</a:t>
            </a:r>
            <a:r>
              <a:rPr lang="en-US" dirty="0"/>
              <a:t>(</a:t>
            </a:r>
            <a:r>
              <a:rPr lang="en-US" dirty="0" err="1"/>
              <a:t>mymessage</a:t>
            </a:r>
            <a:r>
              <a:rPr lang="en-US"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638" y="7248411"/>
            <a:ext cx="6528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	True 	     </a:t>
            </a:r>
            <a:r>
              <a:rPr lang="en-US" dirty="0" err="1"/>
              <a:t>MessageBox.Show</a:t>
            </a:r>
            <a:r>
              <a:rPr lang="en-US" dirty="0"/>
              <a:t>(</a:t>
            </a:r>
            <a:r>
              <a:rPr lang="en-US" dirty="0" err="1"/>
              <a:t>mymessage</a:t>
            </a:r>
            <a:r>
              <a:rPr lang="en-US" dirty="0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70" y="7527151"/>
            <a:ext cx="3717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5148" y="2681456"/>
            <a:ext cx="1800200" cy="33855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Initial condition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2708922" y="3051909"/>
            <a:ext cx="1" cy="8673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87526" y="2674520"/>
            <a:ext cx="2232248" cy="58477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Increment after execution of each loop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4393403" y="3287052"/>
            <a:ext cx="1086319" cy="6280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10800000">
            <a:off x="3861048" y="4232362"/>
            <a:ext cx="1152127" cy="4320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769768" y="4279110"/>
            <a:ext cx="1950006" cy="58477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Condition to test whether to loop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4664" y="1619672"/>
            <a:ext cx="1388783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31550" cmpd="sng">
                  <a:gradFill>
                    <a:gsLst>
                      <a:gs pos="0">
                        <a:srgbClr val="000000"/>
                      </a:gs>
                      <a:gs pos="20000">
                        <a:srgbClr val="000040"/>
                      </a:gs>
                      <a:gs pos="50000">
                        <a:srgbClr val="400040"/>
                      </a:gs>
                      <a:gs pos="75000">
                        <a:srgbClr val="8F0040"/>
                      </a:gs>
                      <a:gs pos="89999">
                        <a:srgbClr val="F27300"/>
                      </a:gs>
                      <a:gs pos="100000">
                        <a:srgbClr val="FFBF00"/>
                      </a:gs>
                    </a:gsLst>
                    <a:lin ang="5400000" scaled="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70" y="7896483"/>
            <a:ext cx="6528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	True 	     </a:t>
            </a:r>
            <a:r>
              <a:rPr lang="en-US" dirty="0" err="1"/>
              <a:t>MessageBox.Show</a:t>
            </a:r>
            <a:r>
              <a:rPr lang="en-US" dirty="0"/>
              <a:t>(</a:t>
            </a:r>
            <a:r>
              <a:rPr lang="en-US" dirty="0" err="1"/>
              <a:t>mymessage</a:t>
            </a:r>
            <a:r>
              <a:rPr lang="en-US" dirty="0"/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245" y="8418215"/>
            <a:ext cx="6244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51	False 	     </a:t>
            </a:r>
            <a:r>
              <a:rPr lang="en-US" dirty="0" err="1"/>
              <a:t>MessageBox.Show</a:t>
            </a:r>
            <a:r>
              <a:rPr lang="en-US" dirty="0"/>
              <a:t>(“Exit loop”)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658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allAtOnce"/>
      <p:bldP spid="10" grpId="0" build="allAtOnce"/>
      <p:bldP spid="21" grpId="0" build="allAtOnce"/>
      <p:bldP spid="22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49275" y="1446029"/>
            <a:ext cx="5904062" cy="7013760"/>
          </a:xfrm>
        </p:spPr>
        <p:txBody>
          <a:bodyPr/>
          <a:lstStyle/>
          <a:p>
            <a:pPr marL="449263" lvl="1" indent="-269875" eaLnBrk="1" hangingPunct="1">
              <a:spcBef>
                <a:spcPct val="30000"/>
              </a:spcBef>
              <a:spcAft>
                <a:spcPct val="30000"/>
              </a:spcAft>
            </a:pPr>
            <a:r>
              <a:rPr lang="en-US" sz="2400" b="1" dirty="0"/>
              <a:t>Problem </a:t>
            </a:r>
            <a:r>
              <a:rPr lang="en-US" sz="2400" dirty="0"/>
              <a:t>:  Add the numbers 1,2,3,4,5. Display the sum</a:t>
            </a:r>
          </a:p>
          <a:p>
            <a:pPr marL="449263" lvl="1" indent="-269875" eaLnBrk="1" hangingPunct="1">
              <a:spcBef>
                <a:spcPct val="30000"/>
              </a:spcBef>
              <a:spcAft>
                <a:spcPct val="30000"/>
              </a:spcAft>
            </a:pPr>
            <a:r>
              <a:rPr lang="en-US" sz="2400" dirty="0"/>
              <a:t>In this case, the task to be accomplished repeatedly is the addition operation:</a:t>
            </a:r>
          </a:p>
          <a:p>
            <a:pPr marL="449263" lvl="1" indent="-269875" eaLnBrk="1" hangingPunct="1">
              <a:spcBef>
                <a:spcPct val="30000"/>
              </a:spcBef>
              <a:spcAft>
                <a:spcPct val="30000"/>
              </a:spcAft>
              <a:buNone/>
            </a:pPr>
            <a:r>
              <a:rPr lang="en-US" sz="2400" dirty="0"/>
              <a:t>	</a:t>
            </a:r>
          </a:p>
          <a:p>
            <a:pPr marL="449263" lvl="1" indent="-269875" eaLnBrk="1" hangingPunct="1">
              <a:spcBef>
                <a:spcPct val="30000"/>
              </a:spcBef>
              <a:spcAft>
                <a:spcPct val="30000"/>
              </a:spcAft>
              <a:buNone/>
            </a:pPr>
            <a:r>
              <a:rPr lang="en-US" sz="2400" dirty="0"/>
              <a:t>	</a:t>
            </a:r>
          </a:p>
          <a:p>
            <a:pPr marL="449263" lvl="1" indent="-269875" eaLnBrk="1" hangingPunct="1">
              <a:spcBef>
                <a:spcPct val="30000"/>
              </a:spcBef>
              <a:spcAft>
                <a:spcPct val="30000"/>
              </a:spcAft>
            </a:pPr>
            <a:endParaRPr lang="en-US" sz="2400" dirty="0"/>
          </a:p>
          <a:p>
            <a:pPr marL="449263" lvl="1" indent="-269875" eaLnBrk="1" hangingPunct="1">
              <a:spcBef>
                <a:spcPct val="30000"/>
              </a:spcBef>
              <a:spcAft>
                <a:spcPct val="30000"/>
              </a:spcAft>
            </a:pPr>
            <a:endParaRPr lang="en-US" sz="2400" dirty="0"/>
          </a:p>
          <a:p>
            <a:pPr marL="449263" lvl="1" indent="-269875" eaLnBrk="1" hangingPunct="1">
              <a:spcBef>
                <a:spcPct val="30000"/>
              </a:spcBef>
              <a:spcAft>
                <a:spcPct val="30000"/>
              </a:spcAft>
            </a:pPr>
            <a:endParaRPr lang="en-US" sz="2400" dirty="0"/>
          </a:p>
          <a:p>
            <a:pPr marL="449263" lvl="1" indent="-269875" eaLnBrk="1" hangingPunct="1">
              <a:spcBef>
                <a:spcPct val="30000"/>
              </a:spcBef>
              <a:spcAft>
                <a:spcPct val="30000"/>
              </a:spcAft>
            </a:pPr>
            <a:r>
              <a:rPr lang="en-US" sz="2400" dirty="0"/>
              <a:t> Evidently, the above approach is not desired. What if we need to add 1 to 500?  We can accomplish this task more efficiently using a </a:t>
            </a:r>
            <a:r>
              <a:rPr lang="en-US" sz="2400" b="1" i="1" dirty="0"/>
              <a:t>for</a:t>
            </a:r>
            <a:r>
              <a:rPr lang="en-US" sz="2400" dirty="0"/>
              <a:t> statement.</a:t>
            </a:r>
            <a:endParaRPr lang="en-US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2636912" y="3684850"/>
            <a:ext cx="3960440" cy="2523768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49263" lvl="1" indent="-269875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/>
              <a:t> </a:t>
            </a:r>
            <a:r>
              <a:rPr lang="en-US" dirty="0">
                <a:solidFill>
                  <a:srgbClr val="FF0000"/>
                </a:solidFill>
              </a:rPr>
              <a:t>	int sum = 0;</a:t>
            </a:r>
          </a:p>
          <a:p>
            <a:pPr marL="449263" lvl="1" indent="-269875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	sum = sum + 1;</a:t>
            </a:r>
          </a:p>
          <a:p>
            <a:pPr marL="449263" lvl="1" indent="-269875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	sum = sum + 2;</a:t>
            </a:r>
          </a:p>
          <a:p>
            <a:pPr marL="449263" lvl="1" indent="-269875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	sum = sum + 3;</a:t>
            </a:r>
          </a:p>
          <a:p>
            <a:pPr marL="449263" lvl="1" indent="-269875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   sum = sum + 4;</a:t>
            </a:r>
          </a:p>
          <a:p>
            <a:pPr marL="449263" lvl="1" indent="-269875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	sum = sum + 5;</a:t>
            </a:r>
          </a:p>
          <a:p>
            <a:pPr marL="449263" lvl="1" indent="-269875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	lblDisplay.Text = sum.ToString();</a:t>
            </a:r>
          </a:p>
        </p:txBody>
      </p:sp>
      <p:pic>
        <p:nvPicPr>
          <p:cNvPr id="2050" name="Picture 2" descr="C:\Users\tanail\AppData\Local\Microsoft\Windows\Temporary Internet Files\Content.IE5\IUCJNDU7\MC900199349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207" y="4663573"/>
            <a:ext cx="1951216" cy="1545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73524" y="536714"/>
            <a:ext cx="6495105" cy="727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kern="0" dirty="0"/>
              <a:t>Example2 of repetitive problem</a:t>
            </a:r>
            <a:endParaRPr lang="en-US" sz="2800" kern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0001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Using </a:t>
            </a:r>
            <a:r>
              <a:rPr lang="en-GB" dirty="0">
                <a:solidFill>
                  <a:srgbClr val="FF0000"/>
                </a:solidFill>
              </a:rPr>
              <a:t>For</a:t>
            </a:r>
            <a:r>
              <a:rPr lang="en-GB" dirty="0"/>
              <a:t> Statement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4864" y="1647825"/>
            <a:ext cx="4307061" cy="811213"/>
          </a:xfrm>
        </p:spPr>
        <p:txBody>
          <a:bodyPr/>
          <a:lstStyle/>
          <a:p>
            <a:pPr eaLnBrk="1" hangingPunct="1"/>
            <a:r>
              <a:rPr lang="en-GB" sz="2400" dirty="0"/>
              <a:t>The </a:t>
            </a:r>
            <a:r>
              <a:rPr lang="en-GB" sz="2400" dirty="0">
                <a:solidFill>
                  <a:srgbClr val="FF0000"/>
                </a:solidFill>
              </a:rPr>
              <a:t>for</a:t>
            </a:r>
            <a:r>
              <a:rPr lang="en-GB" sz="2400" dirty="0"/>
              <a:t> statement has the following syntax: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216069" name="Text Box 5"/>
          <p:cNvSpPr txBox="1">
            <a:spLocks noChangeArrowheads="1"/>
          </p:cNvSpPr>
          <p:nvPr/>
        </p:nvSpPr>
        <p:spPr bwMode="auto">
          <a:xfrm>
            <a:off x="2484710" y="2598738"/>
            <a:ext cx="418465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60000"/>
              </a:spcBef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for ( </a:t>
            </a:r>
            <a:r>
              <a:rPr lang="en-US" sz="2000" dirty="0" err="1">
                <a:solidFill>
                  <a:srgbClr val="FF0000"/>
                </a:solidFill>
                <a:latin typeface="Arial" charset="0"/>
              </a:rPr>
              <a:t>initialise</a:t>
            </a:r>
            <a:r>
              <a:rPr lang="en-US" sz="2000" dirty="0">
                <a:solidFill>
                  <a:srgbClr val="FF0000"/>
                </a:solidFill>
                <a:latin typeface="Arial" charset="0"/>
              </a:rPr>
              <a:t>; condition; increment)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{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    statement1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    statement2 .... 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}</a:t>
            </a:r>
          </a:p>
        </p:txBody>
      </p:sp>
      <p:sp>
        <p:nvSpPr>
          <p:cNvPr id="216071" name="Text Box 7"/>
          <p:cNvSpPr txBox="1">
            <a:spLocks noChangeArrowheads="1"/>
          </p:cNvSpPr>
          <p:nvPr/>
        </p:nvSpPr>
        <p:spPr bwMode="auto">
          <a:xfrm>
            <a:off x="585788" y="5292080"/>
            <a:ext cx="6272212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63538" indent="-363538"/>
            <a:r>
              <a:rPr lang="en-US" sz="2400" dirty="0">
                <a:latin typeface="Arial" charset="0"/>
                <a:sym typeface="Wingdings" pitchFamily="2" charset="2"/>
              </a:rPr>
              <a:t>where:</a:t>
            </a:r>
          </a:p>
          <a:p>
            <a:pPr marL="363538" indent="-363538"/>
            <a:r>
              <a:rPr lang="en-US" sz="2000" dirty="0">
                <a:solidFill>
                  <a:srgbClr val="0033CC"/>
                </a:solidFill>
                <a:latin typeface="Arial" charset="0"/>
                <a:sym typeface="Wingdings" pitchFamily="2" charset="2"/>
              </a:rPr>
              <a:t>for 		: compulsory keyword.</a:t>
            </a:r>
          </a:p>
          <a:p>
            <a:pPr marL="363538" indent="-363538"/>
            <a:r>
              <a:rPr lang="en-US" sz="2000" dirty="0" err="1">
                <a:solidFill>
                  <a:srgbClr val="0033CC"/>
                </a:solidFill>
                <a:latin typeface="Arial" charset="0"/>
                <a:sym typeface="Wingdings" pitchFamily="2" charset="2"/>
              </a:rPr>
              <a:t>Intialise</a:t>
            </a:r>
            <a:r>
              <a:rPr lang="en-US" sz="2000" dirty="0">
                <a:solidFill>
                  <a:srgbClr val="0033CC"/>
                </a:solidFill>
                <a:latin typeface="Arial" charset="0"/>
                <a:sym typeface="Wingdings" pitchFamily="2" charset="2"/>
              </a:rPr>
              <a:t>	 	: start value of loop counter.</a:t>
            </a:r>
          </a:p>
          <a:p>
            <a:pPr marL="363538" indent="-363538"/>
            <a:r>
              <a:rPr lang="en-US" sz="2000" dirty="0">
                <a:solidFill>
                  <a:srgbClr val="0033CC"/>
                </a:solidFill>
                <a:latin typeface="Arial" charset="0"/>
                <a:sym typeface="Wingdings" pitchFamily="2" charset="2"/>
              </a:rPr>
              <a:t>Condition 	: condition to test whether to loop.</a:t>
            </a:r>
          </a:p>
          <a:p>
            <a:pPr marL="363538" indent="-363538"/>
            <a:r>
              <a:rPr lang="en-US" sz="2000" dirty="0">
                <a:solidFill>
                  <a:srgbClr val="0033CC"/>
                </a:solidFill>
                <a:latin typeface="Arial" charset="0"/>
                <a:sym typeface="Wingdings" pitchFamily="2" charset="2"/>
              </a:rPr>
              <a:t>increment 	: value to increase loop counter.</a:t>
            </a:r>
            <a:endParaRPr lang="en-GB" sz="2000" dirty="0">
              <a:solidFill>
                <a:srgbClr val="0033CC"/>
              </a:solidFill>
              <a:latin typeface="Arial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04664" y="1619672"/>
            <a:ext cx="1388783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31550" cmpd="sng">
                  <a:gradFill>
                    <a:gsLst>
                      <a:gs pos="0">
                        <a:srgbClr val="000000"/>
                      </a:gs>
                      <a:gs pos="20000">
                        <a:srgbClr val="000040"/>
                      </a:gs>
                      <a:gs pos="50000">
                        <a:srgbClr val="400040"/>
                      </a:gs>
                      <a:gs pos="75000">
                        <a:srgbClr val="8F0040"/>
                      </a:gs>
                      <a:gs pos="89999">
                        <a:srgbClr val="F27300"/>
                      </a:gs>
                      <a:gs pos="100000">
                        <a:srgbClr val="FFBF00"/>
                      </a:gs>
                    </a:gsLst>
                    <a:lin ang="5400000" scaled="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FOR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6309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60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9" grpId="0"/>
      <p:bldP spid="21607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Using </a:t>
            </a:r>
            <a:r>
              <a:rPr lang="en-GB" dirty="0">
                <a:solidFill>
                  <a:srgbClr val="FF0000"/>
                </a:solidFill>
              </a:rPr>
              <a:t>For</a:t>
            </a:r>
            <a:r>
              <a:rPr lang="en-GB" dirty="0"/>
              <a:t> Statement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6832" y="1647825"/>
            <a:ext cx="4595093" cy="1700039"/>
          </a:xfrm>
        </p:spPr>
        <p:txBody>
          <a:bodyPr/>
          <a:lstStyle/>
          <a:p>
            <a:pPr eaLnBrk="1" hangingPunct="1"/>
            <a:r>
              <a:rPr lang="en-GB" sz="2400" dirty="0"/>
              <a:t>Returning to the problem of adding 1,2,3,4,5, we can rewrite the code as follows:</a:t>
            </a:r>
          </a:p>
        </p:txBody>
      </p:sp>
      <p:sp>
        <p:nvSpPr>
          <p:cNvPr id="216069" name="Text Box 5"/>
          <p:cNvSpPr txBox="1">
            <a:spLocks noChangeArrowheads="1"/>
          </p:cNvSpPr>
          <p:nvPr/>
        </p:nvSpPr>
        <p:spPr bwMode="auto">
          <a:xfrm>
            <a:off x="1772816" y="3435548"/>
            <a:ext cx="5544616" cy="2000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60000"/>
              </a:spcBef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int sum = 0;</a:t>
            </a:r>
          </a:p>
          <a:p>
            <a:pPr>
              <a:lnSpc>
                <a:spcPct val="80000"/>
              </a:lnSpc>
              <a:spcBef>
                <a:spcPct val="60000"/>
              </a:spcBef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for ( int i = 1; i &lt;= 5; i = i +1 )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{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     sum = sum +i;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}</a:t>
            </a:r>
          </a:p>
          <a:p>
            <a:pPr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Arial" charset="0"/>
              </a:rPr>
              <a:t>lblDisplay.Text = sum.ToString()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8800" y="5724128"/>
            <a:ext cx="4680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conditions i = 1</a:t>
            </a:r>
          </a:p>
          <a:p>
            <a:endParaRPr lang="en-US" dirty="0"/>
          </a:p>
          <a:p>
            <a:r>
              <a:rPr lang="en-US" u="sng" dirty="0"/>
              <a:t>I          </a:t>
            </a:r>
            <a:r>
              <a:rPr lang="en-US" u="sng" dirty="0" err="1"/>
              <a:t>i</a:t>
            </a:r>
            <a:r>
              <a:rPr lang="en-US" u="sng" dirty="0"/>
              <a:t>&lt;=5?        sum</a:t>
            </a:r>
          </a:p>
          <a:p>
            <a:r>
              <a:rPr lang="en-US" dirty="0"/>
              <a:t>1	True	   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8800" y="6876256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	True         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8800" y="7154996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	True         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8800" y="7443028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	True         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8800" y="7731060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	True         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8800" y="8019092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	False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2816" y="3009310"/>
            <a:ext cx="1800200" cy="33855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Initial condition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2708922" y="3435548"/>
            <a:ext cx="1" cy="48372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65104" y="2948915"/>
            <a:ext cx="2232248" cy="58477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Increment after execution of each loop</a:t>
            </a:r>
          </a:p>
        </p:txBody>
      </p:sp>
      <p:cxnSp>
        <p:nvCxnSpPr>
          <p:cNvPr id="20" name="Straight Arrow Connector 19"/>
          <p:cNvCxnSpPr>
            <a:stCxn id="19" idx="2"/>
          </p:cNvCxnSpPr>
          <p:nvPr/>
        </p:nvCxnSpPr>
        <p:spPr>
          <a:xfrm flipH="1">
            <a:off x="4581128" y="3533690"/>
            <a:ext cx="900100" cy="2979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10800000">
            <a:off x="3429002" y="4083618"/>
            <a:ext cx="1152127" cy="4320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437112" y="4347265"/>
            <a:ext cx="2088232" cy="58477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Condition to test whether to loop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4664" y="1619672"/>
            <a:ext cx="1388783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31550" cmpd="sng">
                  <a:gradFill>
                    <a:gsLst>
                      <a:gs pos="0">
                        <a:srgbClr val="000000"/>
                      </a:gs>
                      <a:gs pos="20000">
                        <a:srgbClr val="000040"/>
                      </a:gs>
                      <a:gs pos="50000">
                        <a:srgbClr val="400040"/>
                      </a:gs>
                      <a:gs pos="75000">
                        <a:srgbClr val="8F0040"/>
                      </a:gs>
                      <a:gs pos="89999">
                        <a:srgbClr val="F27300"/>
                      </a:gs>
                      <a:gs pos="100000">
                        <a:srgbClr val="FFBF00"/>
                      </a:gs>
                    </a:gsLst>
                    <a:lin ang="5400000" scaled="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FOR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832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allAtOnce"/>
      <p:bldP spid="10" grpId="0" build="allAtOnce"/>
      <p:bldP spid="11" grpId="0" build="allAtOnce"/>
      <p:bldP spid="12" grpId="0" build="allAtOnce"/>
      <p:bldP spid="13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1: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5" y="1318438"/>
            <a:ext cx="6379535" cy="3785190"/>
          </a:xfrm>
        </p:spPr>
        <p:txBody>
          <a:bodyPr/>
          <a:lstStyle/>
          <a:p>
            <a:r>
              <a:rPr lang="en-GB" dirty="0"/>
              <a:t>What is the output of the following code?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string text;</a:t>
            </a:r>
          </a:p>
          <a:p>
            <a:pPr marL="0" indent="0">
              <a:buNone/>
            </a:pPr>
            <a:r>
              <a:rPr lang="en-GB" dirty="0"/>
              <a:t>for  (</a:t>
            </a:r>
            <a:r>
              <a:rPr lang="en-GB" dirty="0" err="1"/>
              <a:t>int</a:t>
            </a:r>
            <a:r>
              <a:rPr lang="en-GB" dirty="0"/>
              <a:t> i=0; i&lt;=4; i++)</a:t>
            </a:r>
          </a:p>
          <a:p>
            <a:pPr marL="0" indent="0">
              <a:buNone/>
            </a:pPr>
            <a:r>
              <a:rPr lang="en-GB" dirty="0"/>
              <a:t>{</a:t>
            </a:r>
          </a:p>
          <a:p>
            <a:pPr marL="0" indent="0">
              <a:buNone/>
            </a:pPr>
            <a:r>
              <a:rPr lang="en-GB" dirty="0"/>
              <a:t>    text = “i is:” + i + “\n”;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display.AppendText</a:t>
            </a:r>
            <a:r>
              <a:rPr lang="en-GB" dirty="0"/>
              <a:t> (text);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SG" dirty="0"/>
          </a:p>
        </p:txBody>
      </p:sp>
      <p:sp>
        <p:nvSpPr>
          <p:cNvPr id="4" name="Rectangle 3"/>
          <p:cNvSpPr/>
          <p:nvPr/>
        </p:nvSpPr>
        <p:spPr>
          <a:xfrm>
            <a:off x="1063254" y="5624622"/>
            <a:ext cx="2838893" cy="26794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dirty="0"/>
              <a:t>i is 0</a:t>
            </a:r>
          </a:p>
          <a:p>
            <a:r>
              <a:rPr lang="en-GB" sz="2800" dirty="0"/>
              <a:t>i is 1</a:t>
            </a:r>
          </a:p>
          <a:p>
            <a:r>
              <a:rPr lang="en-GB" sz="2800" dirty="0"/>
              <a:t>i is 2</a:t>
            </a:r>
          </a:p>
          <a:p>
            <a:r>
              <a:rPr lang="en-GB" sz="2800" dirty="0"/>
              <a:t>i is 3</a:t>
            </a:r>
          </a:p>
          <a:p>
            <a:r>
              <a:rPr lang="en-GB" sz="2800" dirty="0"/>
              <a:t>i is 4</a:t>
            </a:r>
          </a:p>
          <a:p>
            <a:pPr algn="ctr"/>
            <a:endParaRPr lang="en-SG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4503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2: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5" y="1318438"/>
            <a:ext cx="6379535" cy="3785190"/>
          </a:xfrm>
        </p:spPr>
        <p:txBody>
          <a:bodyPr/>
          <a:lstStyle/>
          <a:p>
            <a:r>
              <a:rPr lang="en-GB" dirty="0"/>
              <a:t>What is the output of the following code?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string text;</a:t>
            </a:r>
          </a:p>
          <a:p>
            <a:pPr marL="0" indent="0">
              <a:buNone/>
            </a:pPr>
            <a:r>
              <a:rPr lang="en-GB" dirty="0"/>
              <a:t>for  (</a:t>
            </a:r>
            <a:r>
              <a:rPr lang="en-GB" dirty="0" err="1"/>
              <a:t>int</a:t>
            </a:r>
            <a:r>
              <a:rPr lang="en-GB" dirty="0"/>
              <a:t> i=5; i&lt;=10; i++)</a:t>
            </a:r>
          </a:p>
          <a:p>
            <a:pPr marL="0" indent="0">
              <a:buNone/>
            </a:pPr>
            <a:r>
              <a:rPr lang="en-GB" dirty="0"/>
              <a:t>{</a:t>
            </a:r>
          </a:p>
          <a:p>
            <a:pPr marL="0" indent="0">
              <a:buNone/>
            </a:pPr>
            <a:r>
              <a:rPr lang="en-GB" dirty="0"/>
              <a:t>    text = “i is:” + i + “\n”;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rtbDisplay.AppendText</a:t>
            </a:r>
            <a:r>
              <a:rPr lang="en-GB" dirty="0"/>
              <a:t> (text);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SG" dirty="0"/>
          </a:p>
        </p:txBody>
      </p:sp>
      <p:sp>
        <p:nvSpPr>
          <p:cNvPr id="4" name="Rectangle 3"/>
          <p:cNvSpPr/>
          <p:nvPr/>
        </p:nvSpPr>
        <p:spPr>
          <a:xfrm>
            <a:off x="1063253" y="5528928"/>
            <a:ext cx="2838893" cy="26794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800" dirty="0"/>
          </a:p>
        </p:txBody>
      </p:sp>
      <p:sp>
        <p:nvSpPr>
          <p:cNvPr id="5" name="Rectangle 4"/>
          <p:cNvSpPr/>
          <p:nvPr/>
        </p:nvSpPr>
        <p:spPr>
          <a:xfrm>
            <a:off x="978188" y="5035920"/>
            <a:ext cx="45720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The output in </a:t>
            </a:r>
            <a:r>
              <a:rPr lang="en-GB" dirty="0" err="1"/>
              <a:t>rtbDisplay</a:t>
            </a:r>
            <a:r>
              <a:rPr lang="en-GB" dirty="0"/>
              <a:t> is: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3221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3: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5" y="1318438"/>
            <a:ext cx="6188149" cy="3785190"/>
          </a:xfrm>
        </p:spPr>
        <p:txBody>
          <a:bodyPr/>
          <a:lstStyle/>
          <a:p>
            <a:r>
              <a:rPr lang="en-GB" dirty="0"/>
              <a:t>Fill in the blanks to display number from 10 to 1 in descending order</a:t>
            </a:r>
          </a:p>
          <a:p>
            <a:pPr marL="0" indent="0">
              <a:buNone/>
            </a:pPr>
            <a:r>
              <a:rPr lang="en-GB" dirty="0"/>
              <a:t>string text;</a:t>
            </a:r>
          </a:p>
          <a:p>
            <a:pPr marL="0" indent="0">
              <a:buNone/>
            </a:pPr>
            <a:r>
              <a:rPr lang="en-GB" dirty="0"/>
              <a:t>for  (            ; i          ;             )</a:t>
            </a:r>
          </a:p>
          <a:p>
            <a:pPr marL="0" indent="0">
              <a:buNone/>
            </a:pPr>
            <a:r>
              <a:rPr lang="en-GB" dirty="0"/>
              <a:t>{</a:t>
            </a:r>
          </a:p>
          <a:p>
            <a:pPr marL="0" indent="0">
              <a:buNone/>
            </a:pPr>
            <a:r>
              <a:rPr lang="en-GB" dirty="0"/>
              <a:t>    text = “i is:” + i + “\n”;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rtbDisplay.AppendText</a:t>
            </a:r>
            <a:r>
              <a:rPr lang="en-GB" dirty="0"/>
              <a:t> (text);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SG" dirty="0"/>
          </a:p>
        </p:txBody>
      </p:sp>
      <p:sp>
        <p:nvSpPr>
          <p:cNvPr id="5" name="Rectangle 4"/>
          <p:cNvSpPr/>
          <p:nvPr/>
        </p:nvSpPr>
        <p:spPr>
          <a:xfrm>
            <a:off x="616679" y="5398129"/>
            <a:ext cx="24561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The output in </a:t>
            </a:r>
            <a:r>
              <a:rPr lang="en-GB" dirty="0" err="1"/>
              <a:t>rtbDisplay</a:t>
            </a:r>
            <a:r>
              <a:rPr lang="en-GB" dirty="0"/>
              <a:t> is:</a:t>
            </a:r>
            <a:endParaRPr lang="en-SG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649" y="4855866"/>
            <a:ext cx="3248025" cy="387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60326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4: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5" y="1318437"/>
            <a:ext cx="6379535" cy="3593805"/>
          </a:xfrm>
        </p:spPr>
        <p:txBody>
          <a:bodyPr/>
          <a:lstStyle/>
          <a:p>
            <a:r>
              <a:rPr lang="en-GB" dirty="0"/>
              <a:t>Spot the 10 mistakes in the following code and rewrite it.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string text;</a:t>
            </a:r>
          </a:p>
          <a:p>
            <a:pPr marL="0" indent="0">
              <a:buNone/>
            </a:pPr>
            <a:r>
              <a:rPr lang="en-GB" dirty="0"/>
              <a:t>for  ( i=1.0 , i&gt;=10.0 , i);</a:t>
            </a:r>
          </a:p>
          <a:p>
            <a:pPr marL="0" indent="0">
              <a:buNone/>
            </a:pPr>
            <a:r>
              <a:rPr lang="en-GB" dirty="0"/>
              <a:t>    text = “i is:” + i + “\n”;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display.AppendText</a:t>
            </a:r>
            <a:r>
              <a:rPr lang="en-GB" dirty="0"/>
              <a:t> (text);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5" name="Rectangle 4"/>
          <p:cNvSpPr/>
          <p:nvPr/>
        </p:nvSpPr>
        <p:spPr>
          <a:xfrm>
            <a:off x="606056" y="5624622"/>
            <a:ext cx="5667153" cy="26794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GB" sz="2400" dirty="0">
                <a:solidFill>
                  <a:schemeClr val="tx1"/>
                </a:solidFill>
              </a:rPr>
              <a:t>string text;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tx1"/>
                </a:solidFill>
              </a:rPr>
              <a:t>for  ( </a:t>
            </a:r>
            <a:r>
              <a:rPr lang="en-GB" sz="2400" dirty="0" err="1">
                <a:solidFill>
                  <a:schemeClr val="tx1"/>
                </a:solidFill>
              </a:rPr>
              <a:t>int</a:t>
            </a:r>
            <a:r>
              <a:rPr lang="en-GB" sz="2400" dirty="0">
                <a:solidFill>
                  <a:schemeClr val="tx1"/>
                </a:solidFill>
              </a:rPr>
              <a:t> i=1 ; i&lt;=10; i++)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tx1"/>
                </a:solidFill>
              </a:rPr>
              <a:t>{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tx1"/>
                </a:solidFill>
              </a:rPr>
              <a:t>    text = “i is:” + i + “\n”;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tx1"/>
                </a:solidFill>
              </a:rPr>
              <a:t>    </a:t>
            </a:r>
            <a:r>
              <a:rPr lang="en-GB" sz="2400" dirty="0" err="1">
                <a:solidFill>
                  <a:schemeClr val="tx1"/>
                </a:solidFill>
              </a:rPr>
              <a:t>display.AppendText</a:t>
            </a:r>
            <a:r>
              <a:rPr lang="en-GB" sz="2400" dirty="0">
                <a:solidFill>
                  <a:schemeClr val="tx1"/>
                </a:solidFill>
              </a:rPr>
              <a:t> (text);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tx1"/>
                </a:solidFill>
              </a:rPr>
              <a:t>}</a:t>
            </a:r>
            <a:endParaRPr lang="en-SG" sz="2400" dirty="0">
              <a:solidFill>
                <a:schemeClr val="tx1"/>
              </a:solidFill>
            </a:endParaRPr>
          </a:p>
          <a:p>
            <a:pPr algn="ctr"/>
            <a:endParaRPr lang="en-SG" sz="2400" dirty="0"/>
          </a:p>
        </p:txBody>
      </p:sp>
      <p:sp>
        <p:nvSpPr>
          <p:cNvPr id="6" name="5-Point Star 5"/>
          <p:cNvSpPr/>
          <p:nvPr/>
        </p:nvSpPr>
        <p:spPr>
          <a:xfrm>
            <a:off x="5199321" y="31899"/>
            <a:ext cx="1297172" cy="1318437"/>
          </a:xfrm>
          <a:prstGeom prst="star5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032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6" y="180753"/>
            <a:ext cx="6021646" cy="952722"/>
          </a:xfrm>
        </p:spPr>
        <p:txBody>
          <a:bodyPr/>
          <a:lstStyle/>
          <a:p>
            <a:r>
              <a:rPr lang="en-US" sz="3200" dirty="0"/>
              <a:t>Example 1: </a:t>
            </a:r>
            <a:br>
              <a:rPr lang="en-US" sz="3200" dirty="0"/>
            </a:br>
            <a:r>
              <a:rPr lang="en-US" sz="3200" dirty="0"/>
              <a:t>Find the sum between 2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Let us generalize the problem. Instead of adding numbers 1 through 5, we allow the user to enter a starting and ending number. The computer then computes the sum between these 2 numbers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16832" y="4644008"/>
            <a:ext cx="2819400" cy="232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98250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Find the sum between 2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Codes: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6983" y="2555776"/>
            <a:ext cx="6459118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0095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75" y="328613"/>
            <a:ext cx="5829300" cy="730250"/>
          </a:xfrm>
        </p:spPr>
        <p:txBody>
          <a:bodyPr/>
          <a:lstStyle/>
          <a:p>
            <a:pPr eaLnBrk="1" hangingPunct="1"/>
            <a:r>
              <a:rPr lang="en-US"/>
              <a:t>Summary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2460" y="1285177"/>
            <a:ext cx="5829300" cy="6472238"/>
          </a:xfrm>
        </p:spPr>
        <p:txBody>
          <a:bodyPr/>
          <a:lstStyle/>
          <a:p>
            <a:pPr marL="457200" lvl="1" indent="0" eaLnBrk="1" hangingPunct="1">
              <a:spcBef>
                <a:spcPct val="50000"/>
              </a:spcBef>
              <a:buClrTx/>
              <a:buNone/>
            </a:pPr>
            <a:endParaRPr lang="en-GB" sz="2800" dirty="0"/>
          </a:p>
          <a:p>
            <a:pPr lvl="1" eaLnBrk="1" hangingPunct="1">
              <a:spcBef>
                <a:spcPct val="50000"/>
              </a:spcBef>
              <a:buClrTx/>
            </a:pPr>
            <a:r>
              <a:rPr lang="en-US" sz="2400" dirty="0"/>
              <a:t>Define loop</a:t>
            </a:r>
          </a:p>
          <a:p>
            <a:pPr lvl="1" eaLnBrk="1" hangingPunct="1">
              <a:spcBef>
                <a:spcPct val="50000"/>
              </a:spcBef>
              <a:buClrTx/>
            </a:pPr>
            <a:r>
              <a:rPr lang="en-US" sz="2400" dirty="0"/>
              <a:t>How to use FOR loop</a:t>
            </a:r>
          </a:p>
          <a:p>
            <a:pPr lvl="1" eaLnBrk="1" hangingPunct="1">
              <a:spcBef>
                <a:spcPct val="50000"/>
              </a:spcBef>
              <a:buClrTx/>
            </a:pPr>
            <a:r>
              <a:rPr lang="en-US" sz="2400" dirty="0"/>
              <a:t>When to use FOR loop</a:t>
            </a:r>
          </a:p>
          <a:p>
            <a:pPr lvl="1" eaLnBrk="1" hangingPunct="1">
              <a:spcBef>
                <a:spcPct val="50000"/>
              </a:spcBef>
              <a:buClrTx/>
            </a:pPr>
            <a:r>
              <a:rPr lang="en-US" sz="2400" dirty="0"/>
              <a:t>Common mistakes of FOR Loop</a:t>
            </a:r>
          </a:p>
          <a:p>
            <a:pPr lvl="1" eaLnBrk="1" hangingPunct="1">
              <a:spcBef>
                <a:spcPct val="50000"/>
              </a:spcBef>
              <a:buClrTx/>
              <a:buNone/>
            </a:pPr>
            <a:endParaRPr lang="en-US" sz="2400" dirty="0"/>
          </a:p>
          <a:p>
            <a:pPr eaLnBrk="1" hangingPunct="1"/>
            <a:endParaRPr lang="en-GB" dirty="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Practical 2B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7745"/>
            <a:ext cx="5829300" cy="4901035"/>
          </a:xfrm>
        </p:spPr>
        <p:txBody>
          <a:bodyPr/>
          <a:lstStyle/>
          <a:p>
            <a:pPr marL="0" lvl="0" indent="0">
              <a:buNone/>
            </a:pPr>
            <a:r>
              <a:rPr lang="en-GB" sz="2000" dirty="0"/>
              <a:t>1. Using FOR loop </a:t>
            </a:r>
          </a:p>
          <a:p>
            <a:pPr marL="0" lvl="0" indent="0">
              <a:buNone/>
            </a:pPr>
            <a:r>
              <a:rPr lang="en-GB" sz="2000" dirty="0"/>
              <a:t>Spot the mistakes and rewrite the code</a:t>
            </a:r>
          </a:p>
          <a:p>
            <a:pPr marL="0" lvl="0" indent="0">
              <a:buNone/>
            </a:pPr>
            <a:endParaRPr lang="en-SG" sz="2000" dirty="0"/>
          </a:p>
          <a:p>
            <a:pPr marL="0" indent="0">
              <a:buNone/>
            </a:pPr>
            <a:r>
              <a:rPr lang="en-GB" sz="2000" dirty="0" err="1"/>
              <a:t>int</a:t>
            </a:r>
            <a:r>
              <a:rPr lang="en-GB" sz="2000" dirty="0"/>
              <a:t> i;</a:t>
            </a:r>
            <a:endParaRPr lang="en-SG" sz="2000" dirty="0"/>
          </a:p>
          <a:p>
            <a:pPr marL="0" indent="0">
              <a:buNone/>
            </a:pPr>
            <a:r>
              <a:rPr lang="en-SG" sz="2000" dirty="0"/>
              <a:t> </a:t>
            </a:r>
          </a:p>
          <a:p>
            <a:pPr marL="0" indent="0">
              <a:buNone/>
            </a:pPr>
            <a:r>
              <a:rPr lang="en-SG" sz="2000" dirty="0"/>
              <a:t>for (</a:t>
            </a:r>
            <a:r>
              <a:rPr lang="en-SG" sz="2000" dirty="0" err="1"/>
              <a:t>int</a:t>
            </a:r>
            <a:r>
              <a:rPr lang="en-SG" sz="2000" dirty="0"/>
              <a:t> i=1; i &gt; 10 ; i) ;</a:t>
            </a:r>
          </a:p>
          <a:p>
            <a:pPr marL="0" indent="0">
              <a:buNone/>
            </a:pPr>
            <a:r>
              <a:rPr lang="en-SG" sz="2000" dirty="0"/>
              <a:t>{</a:t>
            </a:r>
          </a:p>
          <a:p>
            <a:pPr marL="0" indent="0">
              <a:buNone/>
            </a:pPr>
            <a:r>
              <a:rPr lang="en-GB" sz="2000" dirty="0" err="1"/>
              <a:t>MessageBox.Show</a:t>
            </a:r>
            <a:r>
              <a:rPr lang="en-GB" sz="2000" dirty="0"/>
              <a:t>( i + “ I feel great today! ”); </a:t>
            </a:r>
          </a:p>
          <a:p>
            <a:pPr marL="0" indent="0">
              <a:buNone/>
            </a:pPr>
            <a:r>
              <a:rPr lang="en-GB" sz="2000" dirty="0"/>
              <a:t>// Display this line for 10 times</a:t>
            </a:r>
            <a:endParaRPr lang="en-SG" sz="2000" dirty="0"/>
          </a:p>
          <a:p>
            <a:pPr marL="0" indent="0">
              <a:buNone/>
            </a:pPr>
            <a:r>
              <a:rPr lang="en-GB" sz="2000" dirty="0"/>
              <a:t>} </a:t>
            </a:r>
            <a:endParaRPr lang="en-SG" sz="2000" dirty="0"/>
          </a:p>
          <a:p>
            <a:pPr marL="0" indent="0">
              <a:buNone/>
            </a:pPr>
            <a:r>
              <a:rPr lang="en-SG" sz="2000" dirty="0"/>
              <a:t> </a:t>
            </a:r>
          </a:p>
          <a:p>
            <a:pPr marL="0" indent="0">
              <a:buNone/>
            </a:pPr>
            <a:r>
              <a:rPr lang="en-GB" sz="2000" dirty="0"/>
              <a:t> </a:t>
            </a:r>
            <a:r>
              <a:rPr lang="en-SG" sz="2000" dirty="0"/>
              <a:t> </a:t>
            </a:r>
            <a:r>
              <a:rPr lang="en-GB" sz="2000" dirty="0"/>
              <a:t> </a:t>
            </a:r>
            <a:endParaRPr lang="en-SG" sz="2000" dirty="0"/>
          </a:p>
          <a:p>
            <a:pPr marL="0" indent="0">
              <a:buNone/>
            </a:pPr>
            <a:r>
              <a:rPr lang="en-GB" sz="2000" dirty="0"/>
              <a:t> </a:t>
            </a:r>
            <a:endParaRPr lang="en-SG" sz="2000" dirty="0"/>
          </a:p>
          <a:p>
            <a:pPr marL="533400" indent="-533400" eaLnBrk="1" hangingPunct="1">
              <a:buClr>
                <a:srgbClr val="FF0000"/>
              </a:buClr>
              <a:buFont typeface="Wingdings" pitchFamily="2" charset="2"/>
              <a:buNone/>
            </a:pPr>
            <a:endParaRPr lang="en-GB" sz="2000" dirty="0">
              <a:latin typeface="Verdana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Practical 2B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7746"/>
            <a:ext cx="5829300" cy="3912207"/>
          </a:xfrm>
        </p:spPr>
        <p:txBody>
          <a:bodyPr/>
          <a:lstStyle/>
          <a:p>
            <a:pPr marL="0" lvl="0" indent="0">
              <a:buNone/>
            </a:pPr>
            <a:r>
              <a:rPr lang="en-GB" sz="2000" dirty="0"/>
              <a:t>2.  Using FOR loop </a:t>
            </a:r>
          </a:p>
          <a:p>
            <a:pPr marL="0" lvl="0" indent="0">
              <a:buNone/>
            </a:pPr>
            <a:r>
              <a:rPr lang="en-GB" sz="2000" dirty="0"/>
              <a:t>Spot the mistakes and rewrite the code</a:t>
            </a:r>
          </a:p>
          <a:p>
            <a:pPr marL="0" indent="0">
              <a:buNone/>
            </a:pPr>
            <a:r>
              <a:rPr lang="en-SG" sz="2000" dirty="0"/>
              <a:t> </a:t>
            </a:r>
          </a:p>
          <a:p>
            <a:pPr marL="0" indent="0">
              <a:buNone/>
            </a:pPr>
            <a:r>
              <a:rPr lang="en-SG" sz="2000" dirty="0"/>
              <a:t>for (float i=1.0,  i &lt; 5.0 , i+1.0) ;</a:t>
            </a:r>
          </a:p>
          <a:p>
            <a:pPr marL="0" indent="0">
              <a:buNone/>
            </a:pPr>
            <a:r>
              <a:rPr lang="en-SG" sz="2000" dirty="0"/>
              <a:t>{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 err="1"/>
              <a:t>MessageBox.Show</a:t>
            </a:r>
            <a:r>
              <a:rPr lang="en-GB" sz="2000" dirty="0"/>
              <a:t>( i + “ I feel great today! ”); </a:t>
            </a:r>
          </a:p>
          <a:p>
            <a:pPr marL="0" indent="0">
              <a:buNone/>
            </a:pPr>
            <a:r>
              <a:rPr lang="en-GB" sz="2000" dirty="0"/>
              <a:t>// Display this line for 5 times</a:t>
            </a:r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r>
              <a:rPr lang="en-GB" sz="2000" dirty="0"/>
              <a:t>} </a:t>
            </a:r>
            <a:endParaRPr lang="en-SG" sz="2000" dirty="0"/>
          </a:p>
          <a:p>
            <a:pPr marL="0" indent="0">
              <a:buNone/>
            </a:pPr>
            <a:r>
              <a:rPr lang="en-SG" sz="2000" dirty="0"/>
              <a:t> </a:t>
            </a:r>
          </a:p>
          <a:p>
            <a:pPr marL="0" indent="0">
              <a:buNone/>
            </a:pPr>
            <a:r>
              <a:rPr lang="en-GB" sz="2000" dirty="0"/>
              <a:t> </a:t>
            </a:r>
            <a:r>
              <a:rPr lang="en-SG" sz="2000" dirty="0"/>
              <a:t> </a:t>
            </a:r>
            <a:r>
              <a:rPr lang="en-GB" sz="2000" dirty="0"/>
              <a:t> </a:t>
            </a:r>
            <a:endParaRPr lang="en-SG" sz="2000" dirty="0"/>
          </a:p>
          <a:p>
            <a:pPr marL="0" indent="0">
              <a:buNone/>
            </a:pPr>
            <a:r>
              <a:rPr lang="en-GB" sz="2000" dirty="0"/>
              <a:t> </a:t>
            </a:r>
            <a:endParaRPr lang="en-SG" sz="2000" dirty="0"/>
          </a:p>
          <a:p>
            <a:pPr marL="533400" indent="-533400" eaLnBrk="1" hangingPunct="1">
              <a:buClr>
                <a:srgbClr val="FF0000"/>
              </a:buClr>
              <a:buFont typeface="Wingdings" pitchFamily="2" charset="2"/>
              <a:buNone/>
            </a:pPr>
            <a:endParaRPr lang="en-GB" sz="2000" dirty="0">
              <a:latin typeface="Verdana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2706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Practical 2B</a:t>
            </a:r>
            <a:endParaRPr 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4913" y="1287601"/>
            <a:ext cx="5829300" cy="3390725"/>
          </a:xfrm>
        </p:spPr>
        <p:txBody>
          <a:bodyPr/>
          <a:lstStyle/>
          <a:p>
            <a:pPr marL="463550" indent="-463550" eaLnBrk="1" hangingPunct="1">
              <a:buClr>
                <a:srgbClr val="0033CC"/>
              </a:buClr>
              <a:buSzTx/>
              <a:buFont typeface="Wingdings" pitchFamily="2" charset="2"/>
              <a:buAutoNum type="arabicPeriod" startAt="3"/>
            </a:pPr>
            <a:r>
              <a:rPr lang="en-US" sz="1800" dirty="0"/>
              <a:t>Create a window application to perform the following tasks when user clicks “Click Me” button:</a:t>
            </a:r>
          </a:p>
          <a:p>
            <a:pPr marL="914400" lvl="1" indent="-336550" eaLnBrk="1" hangingPunct="1">
              <a:buClr>
                <a:srgbClr val="0033CC"/>
              </a:buClr>
              <a:buSzTx/>
              <a:buFontTx/>
              <a:buChar char="•"/>
            </a:pPr>
            <a:r>
              <a:rPr lang="en-US" sz="1800" dirty="0"/>
              <a:t>It prints out numbers from  10 to 20 in ascending order</a:t>
            </a:r>
          </a:p>
          <a:p>
            <a:pPr marL="914400" lvl="1" indent="-336550" eaLnBrk="1" hangingPunct="1">
              <a:buClr>
                <a:srgbClr val="0033CC"/>
              </a:buClr>
              <a:buSzTx/>
              <a:buFontTx/>
              <a:buChar char="•"/>
            </a:pPr>
            <a:r>
              <a:rPr lang="en-US" sz="1800" dirty="0"/>
              <a:t>It prints out numbers from 20 to 10 in descending order</a:t>
            </a:r>
          </a:p>
          <a:p>
            <a:pPr marL="914400" lvl="1" indent="-336550" eaLnBrk="1" hangingPunct="1">
              <a:buClr>
                <a:srgbClr val="0033CC"/>
              </a:buClr>
              <a:buSzTx/>
              <a:buFontTx/>
              <a:buChar char="•"/>
            </a:pPr>
            <a:r>
              <a:rPr lang="en-US" sz="1800" dirty="0"/>
              <a:t>It prints out Alphabets from A to G</a:t>
            </a:r>
          </a:p>
          <a:p>
            <a:pPr marL="577850" lvl="1" indent="0" eaLnBrk="1" hangingPunct="1">
              <a:buClr>
                <a:srgbClr val="0033CC"/>
              </a:buClr>
              <a:buSzTx/>
              <a:buNone/>
            </a:pPr>
            <a:endParaRPr lang="en-GB" sz="1800" dirty="0"/>
          </a:p>
          <a:p>
            <a:pPr marL="0" indent="0" eaLnBrk="1" hangingPunct="1">
              <a:buClr>
                <a:srgbClr val="0033CC"/>
              </a:buClr>
              <a:buSzTx/>
              <a:buNone/>
            </a:pPr>
            <a:r>
              <a:rPr lang="en-US" sz="1800" dirty="0"/>
              <a:t>The output is display in </a:t>
            </a:r>
            <a:r>
              <a:rPr lang="en-US" sz="1800" dirty="0" err="1"/>
              <a:t>rtbDisplay</a:t>
            </a:r>
            <a:r>
              <a:rPr lang="en-US" sz="1800" dirty="0"/>
              <a:t> rich text box</a:t>
            </a:r>
          </a:p>
          <a:p>
            <a:pPr marL="0" indent="0" eaLnBrk="1" hangingPunct="1">
              <a:buClr>
                <a:srgbClr val="0033CC"/>
              </a:buClr>
              <a:buSzTx/>
              <a:buNone/>
            </a:pPr>
            <a:r>
              <a:rPr lang="en-US" sz="1800" dirty="0"/>
              <a:t>You MUST use FOR loops to perform the above tasks</a:t>
            </a:r>
          </a:p>
          <a:p>
            <a:pPr marL="463550" indent="-463550" eaLnBrk="1" hangingPunct="1">
              <a:buNone/>
            </a:pPr>
            <a:endParaRPr lang="en-US" sz="1800" dirty="0"/>
          </a:p>
          <a:p>
            <a:pPr marL="463550" indent="-463550" eaLnBrk="1" hangingPunct="1">
              <a:buNone/>
            </a:pPr>
            <a:r>
              <a:rPr lang="en-US" sz="1800" dirty="0"/>
              <a:t> </a:t>
            </a:r>
            <a:r>
              <a:rPr lang="en-GB" sz="2000" dirty="0"/>
              <a:t> 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5199321" y="31899"/>
            <a:ext cx="1297172" cy="1318437"/>
          </a:xfrm>
          <a:prstGeom prst="star5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4885772"/>
            <a:ext cx="6000750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0"/>
            <a:ext cx="6005513" cy="1225296"/>
          </a:xfrm>
        </p:spPr>
        <p:txBody>
          <a:bodyPr/>
          <a:lstStyle/>
          <a:p>
            <a:r>
              <a:rPr lang="en-SG" b="0" dirty="0">
                <a:solidFill>
                  <a:srgbClr val="FF0000"/>
                </a:solidFill>
              </a:rPr>
              <a:t>Extras</a:t>
            </a:r>
            <a:r>
              <a:rPr lang="en-SG" dirty="0"/>
              <a:t> </a:t>
            </a:r>
            <a:r>
              <a:rPr lang="en-SG" dirty="0" err="1"/>
              <a:t>elearning</a:t>
            </a:r>
            <a:r>
              <a:rPr lang="en-SG" dirty="0"/>
              <a:t>:</a:t>
            </a:r>
            <a:br>
              <a:rPr lang="en-SG" dirty="0"/>
            </a:br>
            <a:r>
              <a:rPr lang="en-SG" dirty="0"/>
              <a:t>Differential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918" y="1297538"/>
            <a:ext cx="5829300" cy="2870201"/>
          </a:xfrm>
        </p:spPr>
        <p:txBody>
          <a:bodyPr/>
          <a:lstStyle/>
          <a:p>
            <a:r>
              <a:rPr lang="en-SG" dirty="0"/>
              <a:t>Visit Lynda.com site</a:t>
            </a:r>
          </a:p>
          <a:p>
            <a:r>
              <a:rPr lang="en-SG" dirty="0"/>
              <a:t>Watch Course: </a:t>
            </a:r>
            <a:r>
              <a:rPr lang="en-SG" dirty="0">
                <a:solidFill>
                  <a:srgbClr val="FF0000"/>
                </a:solidFill>
              </a:rPr>
              <a:t>Programming Foundations: Real-World Examples</a:t>
            </a:r>
          </a:p>
          <a:p>
            <a:r>
              <a:rPr lang="en-SG" dirty="0"/>
              <a:t>Topic: 10.1 For Loops (5Min)</a:t>
            </a:r>
          </a:p>
          <a:p>
            <a:r>
              <a:rPr lang="en-SG" dirty="0"/>
              <a:t>Topic: 10:2 While Loops (3Min)</a:t>
            </a:r>
          </a:p>
          <a:p>
            <a:pPr lvl="1"/>
            <a:r>
              <a:rPr lang="en-SG" dirty="0"/>
              <a:t>It gives excellent explanation with day to day examples on how to apply Loops.</a:t>
            </a: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61" y="4136913"/>
            <a:ext cx="6382078" cy="434997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953425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00175" y="1493838"/>
            <a:ext cx="4972050" cy="2946400"/>
          </a:xfrm>
        </p:spPr>
        <p:txBody>
          <a:bodyPr/>
          <a:lstStyle/>
          <a:p>
            <a:pPr algn="ctr" eaLnBrk="1" hangingPunct="1"/>
            <a:r>
              <a:rPr lang="en-GB" sz="3800"/>
              <a:t>IT1762</a:t>
            </a:r>
            <a:br>
              <a:rPr lang="en-GB" sz="3800"/>
            </a:br>
            <a:r>
              <a:rPr lang="en-GB" sz="3800"/>
              <a:t>Data Structures &amp; Algorithms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79450" y="5043488"/>
            <a:ext cx="5834063" cy="2336800"/>
          </a:xfrm>
        </p:spPr>
        <p:txBody>
          <a:bodyPr/>
          <a:lstStyle/>
          <a:p>
            <a:pPr eaLnBrk="1" hangingPunct="1"/>
            <a:r>
              <a:rPr lang="en-GB" sz="2800" dirty="0"/>
              <a:t>End of </a:t>
            </a:r>
            <a:r>
              <a:rPr lang="en-GB" sz="2800"/>
              <a:t>Topic 2B</a:t>
            </a:r>
            <a:endParaRPr lang="en-GB" sz="2800" dirty="0"/>
          </a:p>
          <a:p>
            <a:pPr eaLnBrk="1" hangingPunct="1"/>
            <a:r>
              <a:rPr lang="en-GB" sz="2800" i="1" dirty="0">
                <a:solidFill>
                  <a:srgbClr val="FF0000"/>
                </a:solidFill>
              </a:rPr>
              <a:t>1 Dimensional Arrays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3398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5038</TotalTime>
  <Words>935</Words>
  <Application>Microsoft Office PowerPoint</Application>
  <PresentationFormat>On-screen Show (4:3)</PresentationFormat>
  <Paragraphs>223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Times New Roman</vt:lpstr>
      <vt:lpstr>Verdana</vt:lpstr>
      <vt:lpstr>Wingdings</vt:lpstr>
      <vt:lpstr>Layers</vt:lpstr>
      <vt:lpstr>IT1762 Data Structures &amp; Algorithms</vt:lpstr>
      <vt:lpstr>Topics</vt:lpstr>
      <vt:lpstr>Need for Repetition</vt:lpstr>
      <vt:lpstr>Example1 of repetitive problem</vt:lpstr>
      <vt:lpstr>Using FOR LOOP Statement</vt:lpstr>
      <vt:lpstr>Using for Statement</vt:lpstr>
      <vt:lpstr>PowerPoint Presentation</vt:lpstr>
      <vt:lpstr>Using For Statement</vt:lpstr>
      <vt:lpstr>Using For Statement</vt:lpstr>
      <vt:lpstr>Exercise 1:</vt:lpstr>
      <vt:lpstr>Exercise 2:</vt:lpstr>
      <vt:lpstr>Exercise 3:</vt:lpstr>
      <vt:lpstr>Exercise 4:</vt:lpstr>
      <vt:lpstr>Example 1:  Find the sum between 2 numbers</vt:lpstr>
      <vt:lpstr>Example 1: Find the sum between 2 numbers</vt:lpstr>
      <vt:lpstr>Summary</vt:lpstr>
      <vt:lpstr>Practical 2B</vt:lpstr>
      <vt:lpstr>Practical 2B</vt:lpstr>
      <vt:lpstr>Practical 2B</vt:lpstr>
      <vt:lpstr>Extras elearning: Differential Learning</vt:lpstr>
      <vt:lpstr>IT1762 Data Structures &amp; Algorithms</vt:lpstr>
    </vt:vector>
  </TitlesOfParts>
  <Company>Nanyang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Computing</dc:title>
  <dc:creator>NYP</dc:creator>
  <cp:lastModifiedBy>TAN AI LIAN</cp:lastModifiedBy>
  <cp:revision>268</cp:revision>
  <cp:lastPrinted>2011-08-26T06:10:02Z</cp:lastPrinted>
  <dcterms:created xsi:type="dcterms:W3CDTF">2003-02-28T08:34:47Z</dcterms:created>
  <dcterms:modified xsi:type="dcterms:W3CDTF">2018-09-25T05:59:13Z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CAB5A3FA-EBAC-4590-8CA1-C0056AAAB516</vt:lpwstr>
  </property>
  <property fmtid="{D5CDD505-2E9C-101B-9397-08002B2CF9AE}" pid="3" name="ArticulatePath">
    <vt:lpwstr>IT1762 Topic 2B - FOR Loops</vt:lpwstr>
  </property>
</Properties>
</file>