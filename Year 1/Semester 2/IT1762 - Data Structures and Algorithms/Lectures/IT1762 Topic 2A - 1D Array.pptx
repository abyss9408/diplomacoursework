
<file path=[Content_Types].xml><?xml version="1.0" encoding="utf-8"?>
<Types xmlns="http://schemas.openxmlformats.org/package/2006/content-types">
  <Default Extension="png" ContentType="image/png"/>
  <Default Extension="tmp"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28"/>
  </p:notesMasterIdLst>
  <p:handoutMasterIdLst>
    <p:handoutMasterId r:id="rId29"/>
  </p:handoutMasterIdLst>
  <p:sldIdLst>
    <p:sldId id="256" r:id="rId2"/>
    <p:sldId id="257" r:id="rId3"/>
    <p:sldId id="425" r:id="rId4"/>
    <p:sldId id="426" r:id="rId5"/>
    <p:sldId id="409" r:id="rId6"/>
    <p:sldId id="410" r:id="rId7"/>
    <p:sldId id="422" r:id="rId8"/>
    <p:sldId id="430" r:id="rId9"/>
    <p:sldId id="431" r:id="rId10"/>
    <p:sldId id="432" r:id="rId11"/>
    <p:sldId id="433" r:id="rId12"/>
    <p:sldId id="417" r:id="rId13"/>
    <p:sldId id="419" r:id="rId14"/>
    <p:sldId id="418" r:id="rId15"/>
    <p:sldId id="437" r:id="rId16"/>
    <p:sldId id="428" r:id="rId17"/>
    <p:sldId id="295" r:id="rId18"/>
    <p:sldId id="429" r:id="rId19"/>
    <p:sldId id="416" r:id="rId20"/>
    <p:sldId id="421" r:id="rId21"/>
    <p:sldId id="420" r:id="rId22"/>
    <p:sldId id="423" r:id="rId23"/>
    <p:sldId id="438" r:id="rId24"/>
    <p:sldId id="435" r:id="rId25"/>
    <p:sldId id="439" r:id="rId26"/>
    <p:sldId id="436" r:id="rId27"/>
  </p:sldIdLst>
  <p:sldSz cx="6858000" cy="9144000" type="screen4x3"/>
  <p:notesSz cx="9874250" cy="6797675"/>
  <p:custDataLst>
    <p:tags r:id="rId30"/>
  </p:custDataLst>
  <p:defaultTextStyle>
    <a:defPPr>
      <a:defRPr lang="en-GB"/>
    </a:defPPr>
    <a:lvl1pPr algn="l" rtl="0" fontAlgn="base">
      <a:spcBef>
        <a:spcPct val="0"/>
      </a:spcBef>
      <a:spcAft>
        <a:spcPct val="0"/>
      </a:spcAft>
      <a:defRPr kern="1200">
        <a:solidFill>
          <a:schemeClr val="tx1"/>
        </a:solidFill>
        <a:latin typeface="Verdana" pitchFamily="34" charset="0"/>
        <a:ea typeface="+mn-ea"/>
        <a:cs typeface="+mn-cs"/>
      </a:defRPr>
    </a:lvl1pPr>
    <a:lvl2pPr marL="457200" algn="l" rtl="0" fontAlgn="base">
      <a:spcBef>
        <a:spcPct val="0"/>
      </a:spcBef>
      <a:spcAft>
        <a:spcPct val="0"/>
      </a:spcAft>
      <a:defRPr kern="1200">
        <a:solidFill>
          <a:schemeClr val="tx1"/>
        </a:solidFill>
        <a:latin typeface="Verdana" pitchFamily="34" charset="0"/>
        <a:ea typeface="+mn-ea"/>
        <a:cs typeface="+mn-cs"/>
      </a:defRPr>
    </a:lvl2pPr>
    <a:lvl3pPr marL="914400" algn="l" rtl="0" fontAlgn="base">
      <a:spcBef>
        <a:spcPct val="0"/>
      </a:spcBef>
      <a:spcAft>
        <a:spcPct val="0"/>
      </a:spcAft>
      <a:defRPr kern="1200">
        <a:solidFill>
          <a:schemeClr val="tx1"/>
        </a:solidFill>
        <a:latin typeface="Verdana" pitchFamily="34" charset="0"/>
        <a:ea typeface="+mn-ea"/>
        <a:cs typeface="+mn-cs"/>
      </a:defRPr>
    </a:lvl3pPr>
    <a:lvl4pPr marL="1371600" algn="l" rtl="0" fontAlgn="base">
      <a:spcBef>
        <a:spcPct val="0"/>
      </a:spcBef>
      <a:spcAft>
        <a:spcPct val="0"/>
      </a:spcAft>
      <a:defRPr kern="1200">
        <a:solidFill>
          <a:schemeClr val="tx1"/>
        </a:solidFill>
        <a:latin typeface="Verdana" pitchFamily="34" charset="0"/>
        <a:ea typeface="+mn-ea"/>
        <a:cs typeface="+mn-cs"/>
      </a:defRPr>
    </a:lvl4pPr>
    <a:lvl5pPr marL="1828800" algn="l" rtl="0" fontAlgn="base">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141">
          <p15:clr>
            <a:srgbClr val="A4A3A4"/>
          </p15:clr>
        </p15:guide>
        <p15:guide id="2" pos="311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0641C6"/>
    <a:srgbClr val="333399"/>
    <a:srgbClr val="0066FF"/>
    <a:srgbClr val="3366FF"/>
    <a:srgbClr val="009999"/>
    <a:srgbClr val="0080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152" autoAdjust="0"/>
    <p:restoredTop sz="94550" autoAdjust="0"/>
  </p:normalViewPr>
  <p:slideViewPr>
    <p:cSldViewPr snapToGrid="0">
      <p:cViewPr>
        <p:scale>
          <a:sx n="66" d="100"/>
          <a:sy n="66" d="100"/>
        </p:scale>
        <p:origin x="964" y="-976"/>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592"/>
    </p:cViewPr>
  </p:sorterViewPr>
  <p:notesViewPr>
    <p:cSldViewPr snapToGrid="0">
      <p:cViewPr varScale="1">
        <p:scale>
          <a:sx n="47" d="100"/>
          <a:sy n="47" d="100"/>
        </p:scale>
        <p:origin x="-2796" y="-90"/>
      </p:cViewPr>
      <p:guideLst>
        <p:guide orient="horz" pos="2141"/>
        <p:guide pos="311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1" Type="http://schemas.openxmlformats.org/officeDocument/2006/relationships/image" Target="../media/image4.png"/></Relationships>
</file>

<file path=ppt/diagrams/_rels/drawing1.xml.rels><?xml version="1.0" encoding="UTF-8" standalone="yes"?>
<Relationships xmlns="http://schemas.openxmlformats.org/package/2006/relationships"><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7E9490-A5A7-489E-9593-554BB970A55C}"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en-US"/>
        </a:p>
      </dgm:t>
    </dgm:pt>
    <dgm:pt modelId="{107F558F-4549-49F6-986B-76472C5D31FE}">
      <dgm:prSet phldrT="[Text]"/>
      <dgm:spPr>
        <a:noFill/>
        <a:ln>
          <a:solidFill>
            <a:schemeClr val="tx1"/>
          </a:solidFill>
        </a:ln>
      </dgm:spPr>
      <dgm:t>
        <a:bodyPr/>
        <a:lstStyle/>
        <a:p>
          <a:r>
            <a:rPr lang="en-US" dirty="0">
              <a:solidFill>
                <a:schemeClr val="tx1"/>
              </a:solidFill>
            </a:rPr>
            <a:t>Create</a:t>
          </a:r>
        </a:p>
      </dgm:t>
    </dgm:pt>
    <dgm:pt modelId="{C3A490FE-1BF8-402B-A9C9-8CA572B40D95}" type="parTrans" cxnId="{558B1539-53ED-4933-B084-F98534EB2B2D}">
      <dgm:prSet/>
      <dgm:spPr/>
      <dgm:t>
        <a:bodyPr/>
        <a:lstStyle/>
        <a:p>
          <a:endParaRPr lang="en-US"/>
        </a:p>
      </dgm:t>
    </dgm:pt>
    <dgm:pt modelId="{E1A77E29-FEB1-4ECF-B974-21E559077492}" type="sibTrans" cxnId="{558B1539-53ED-4933-B084-F98534EB2B2D}">
      <dgm:prSet/>
      <dgm:spPr/>
      <dgm:t>
        <a:bodyPr/>
        <a:lstStyle/>
        <a:p>
          <a:endParaRPr lang="en-US"/>
        </a:p>
      </dgm:t>
    </dgm:pt>
    <dgm:pt modelId="{9F318D83-D1F7-4A93-B080-F1D88FE58303}">
      <dgm:prSet phldrT="[Text]"/>
      <dgm:spPr/>
      <dgm:t>
        <a:bodyPr/>
        <a:lstStyle/>
        <a:p>
          <a:r>
            <a:rPr lang="en-US" dirty="0" err="1"/>
            <a:t>int</a:t>
          </a:r>
          <a:r>
            <a:rPr lang="en-US" dirty="0"/>
            <a:t> [] age = {11,22,33}</a:t>
          </a:r>
        </a:p>
      </dgm:t>
    </dgm:pt>
    <dgm:pt modelId="{C353BF1A-9EB1-471F-98CA-58A07D556C16}" type="parTrans" cxnId="{53E05453-E4E5-40A1-AF41-4438F14F799D}">
      <dgm:prSet/>
      <dgm:spPr/>
      <dgm:t>
        <a:bodyPr/>
        <a:lstStyle/>
        <a:p>
          <a:endParaRPr lang="en-US"/>
        </a:p>
      </dgm:t>
    </dgm:pt>
    <dgm:pt modelId="{88FDBDF2-18FA-4B4C-A0E4-5DA8A449C9CD}" type="sibTrans" cxnId="{53E05453-E4E5-40A1-AF41-4438F14F799D}">
      <dgm:prSet/>
      <dgm:spPr/>
      <dgm:t>
        <a:bodyPr/>
        <a:lstStyle/>
        <a:p>
          <a:endParaRPr lang="en-US"/>
        </a:p>
      </dgm:t>
    </dgm:pt>
    <dgm:pt modelId="{F596F509-EC42-4CE3-A95A-13442A0B7A89}">
      <dgm:prSet phldrT="[Text]"/>
      <dgm:spPr/>
      <dgm:t>
        <a:bodyPr/>
        <a:lstStyle/>
        <a:p>
          <a:r>
            <a:rPr lang="en-US" dirty="0" err="1"/>
            <a:t>int</a:t>
          </a:r>
          <a:r>
            <a:rPr lang="en-US" dirty="0"/>
            <a:t> [] age = new </a:t>
          </a:r>
          <a:r>
            <a:rPr lang="en-US" dirty="0" err="1"/>
            <a:t>int</a:t>
          </a:r>
          <a:r>
            <a:rPr lang="en-US" dirty="0"/>
            <a:t> [3]</a:t>
          </a:r>
        </a:p>
      </dgm:t>
    </dgm:pt>
    <dgm:pt modelId="{DD50D4AA-B401-4C23-86A7-EC98F1D2E32E}" type="parTrans" cxnId="{24F33D27-97AC-46FB-B734-DEA3255E1FC8}">
      <dgm:prSet/>
      <dgm:spPr/>
      <dgm:t>
        <a:bodyPr/>
        <a:lstStyle/>
        <a:p>
          <a:endParaRPr lang="en-US"/>
        </a:p>
      </dgm:t>
    </dgm:pt>
    <dgm:pt modelId="{3ABC30B2-284A-4E53-8BB9-B0DB838EEF3C}" type="sibTrans" cxnId="{24F33D27-97AC-46FB-B734-DEA3255E1FC8}">
      <dgm:prSet/>
      <dgm:spPr/>
      <dgm:t>
        <a:bodyPr/>
        <a:lstStyle/>
        <a:p>
          <a:endParaRPr lang="en-US"/>
        </a:p>
      </dgm:t>
    </dgm:pt>
    <dgm:pt modelId="{F59387F9-9B9E-42A1-A38F-5DD1E83D3719}">
      <dgm:prSet phldrT="[Text]"/>
      <dgm:spPr>
        <a:noFill/>
        <a:ln>
          <a:solidFill>
            <a:schemeClr val="tx1"/>
          </a:solidFill>
        </a:ln>
      </dgm:spPr>
      <dgm:t>
        <a:bodyPr/>
        <a:lstStyle/>
        <a:p>
          <a:r>
            <a:rPr lang="en-US" dirty="0">
              <a:solidFill>
                <a:schemeClr val="tx1"/>
              </a:solidFill>
            </a:rPr>
            <a:t>Access</a:t>
          </a:r>
        </a:p>
      </dgm:t>
    </dgm:pt>
    <dgm:pt modelId="{068FBE07-6E63-42E6-B90F-7E2E0D1D6E45}" type="parTrans" cxnId="{51DA7485-7695-4320-B0ED-0C38FB7295AA}">
      <dgm:prSet/>
      <dgm:spPr/>
      <dgm:t>
        <a:bodyPr/>
        <a:lstStyle/>
        <a:p>
          <a:endParaRPr lang="en-US"/>
        </a:p>
      </dgm:t>
    </dgm:pt>
    <dgm:pt modelId="{225D03B8-5F89-4C6A-8BFD-E22F1A215BCA}" type="sibTrans" cxnId="{51DA7485-7695-4320-B0ED-0C38FB7295AA}">
      <dgm:prSet/>
      <dgm:spPr/>
      <dgm:t>
        <a:bodyPr/>
        <a:lstStyle/>
        <a:p>
          <a:endParaRPr lang="en-US"/>
        </a:p>
      </dgm:t>
    </dgm:pt>
    <dgm:pt modelId="{B2F9E38A-AD1F-48A7-A77B-994594D9B084}">
      <dgm:prSet phldrT="[Text]"/>
      <dgm:spPr/>
      <dgm:t>
        <a:bodyPr/>
        <a:lstStyle/>
        <a:p>
          <a:r>
            <a:rPr lang="en-US" dirty="0"/>
            <a:t>Index / position, starts from 0</a:t>
          </a:r>
        </a:p>
      </dgm:t>
    </dgm:pt>
    <dgm:pt modelId="{A6F34DFE-990F-4F34-B7C9-0310861EFADA}" type="parTrans" cxnId="{429CC6EC-9EB1-4C3C-AF8D-5BDE4A9BD3AC}">
      <dgm:prSet/>
      <dgm:spPr/>
      <dgm:t>
        <a:bodyPr/>
        <a:lstStyle/>
        <a:p>
          <a:endParaRPr lang="en-US"/>
        </a:p>
      </dgm:t>
    </dgm:pt>
    <dgm:pt modelId="{096C4436-4996-436B-8AAE-8975F346DC4B}" type="sibTrans" cxnId="{429CC6EC-9EB1-4C3C-AF8D-5BDE4A9BD3AC}">
      <dgm:prSet/>
      <dgm:spPr/>
      <dgm:t>
        <a:bodyPr/>
        <a:lstStyle/>
        <a:p>
          <a:endParaRPr lang="en-US"/>
        </a:p>
      </dgm:t>
    </dgm:pt>
    <dgm:pt modelId="{C76EDF58-C3D0-444E-9E0C-11BACDB79E0B}">
      <dgm:prSet phldrT="[Text]"/>
      <dgm:spPr>
        <a:noFill/>
        <a:ln>
          <a:solidFill>
            <a:schemeClr val="tx1"/>
          </a:solidFill>
        </a:ln>
      </dgm:spPr>
      <dgm:t>
        <a:bodyPr/>
        <a:lstStyle/>
        <a:p>
          <a:r>
            <a:rPr lang="en-US" dirty="0">
              <a:solidFill>
                <a:schemeClr val="tx1"/>
              </a:solidFill>
            </a:rPr>
            <a:t>Store</a:t>
          </a:r>
        </a:p>
      </dgm:t>
    </dgm:pt>
    <dgm:pt modelId="{027A19A7-318D-4FBB-8BE5-08D0BB4A6C2A}" type="parTrans" cxnId="{A728D069-3629-43AE-B8AF-ACD383FD18C1}">
      <dgm:prSet/>
      <dgm:spPr/>
      <dgm:t>
        <a:bodyPr/>
        <a:lstStyle/>
        <a:p>
          <a:endParaRPr lang="en-US"/>
        </a:p>
      </dgm:t>
    </dgm:pt>
    <dgm:pt modelId="{E1E7D056-E16B-4B7C-8705-DF564A674189}" type="sibTrans" cxnId="{A728D069-3629-43AE-B8AF-ACD383FD18C1}">
      <dgm:prSet/>
      <dgm:spPr/>
      <dgm:t>
        <a:bodyPr/>
        <a:lstStyle/>
        <a:p>
          <a:endParaRPr lang="en-US"/>
        </a:p>
      </dgm:t>
    </dgm:pt>
    <dgm:pt modelId="{EAD15282-EC74-4FFF-9290-B7A897498BC7}">
      <dgm:prSet phldrT="[Text]"/>
      <dgm:spPr/>
      <dgm:t>
        <a:bodyPr/>
        <a:lstStyle/>
        <a:p>
          <a:r>
            <a:rPr lang="en-US" dirty="0"/>
            <a:t>age [0] = 22</a:t>
          </a:r>
        </a:p>
      </dgm:t>
    </dgm:pt>
    <dgm:pt modelId="{C836358D-6ED9-4CD7-94A1-3EF35263AEE4}" type="parTrans" cxnId="{87D2654B-8D1B-4BD4-BD5E-C50CCEA86A4E}">
      <dgm:prSet/>
      <dgm:spPr/>
      <dgm:t>
        <a:bodyPr/>
        <a:lstStyle/>
        <a:p>
          <a:endParaRPr lang="en-US"/>
        </a:p>
      </dgm:t>
    </dgm:pt>
    <dgm:pt modelId="{F05DC6C5-7C9B-4E62-B2AF-26E06FA676E1}" type="sibTrans" cxnId="{87D2654B-8D1B-4BD4-BD5E-C50CCEA86A4E}">
      <dgm:prSet/>
      <dgm:spPr/>
      <dgm:t>
        <a:bodyPr/>
        <a:lstStyle/>
        <a:p>
          <a:endParaRPr lang="en-US"/>
        </a:p>
      </dgm:t>
    </dgm:pt>
    <dgm:pt modelId="{18DCCADC-B029-477D-9076-69A6F3C5EA0F}">
      <dgm:prSet phldrT="[Text]"/>
      <dgm:spPr/>
      <dgm:t>
        <a:bodyPr/>
        <a:lstStyle/>
        <a:p>
          <a:r>
            <a:rPr lang="en-US" dirty="0"/>
            <a:t>Using index</a:t>
          </a:r>
        </a:p>
      </dgm:t>
    </dgm:pt>
    <dgm:pt modelId="{94062D32-A088-4704-9EFD-84584065C47F}" type="parTrans" cxnId="{32CE971F-698C-4536-A668-AB3CAA87B865}">
      <dgm:prSet/>
      <dgm:spPr/>
      <dgm:t>
        <a:bodyPr/>
        <a:lstStyle/>
        <a:p>
          <a:endParaRPr lang="en-US"/>
        </a:p>
      </dgm:t>
    </dgm:pt>
    <dgm:pt modelId="{4F0F0E88-796A-497F-99CD-8A260F11104F}" type="sibTrans" cxnId="{32CE971F-698C-4536-A668-AB3CAA87B865}">
      <dgm:prSet/>
      <dgm:spPr/>
      <dgm:t>
        <a:bodyPr/>
        <a:lstStyle/>
        <a:p>
          <a:endParaRPr lang="en-US"/>
        </a:p>
      </dgm:t>
    </dgm:pt>
    <dgm:pt modelId="{3E037455-0092-4710-A927-1DFECB7E9ACC}">
      <dgm:prSet phldrT="[Text]"/>
      <dgm:spPr/>
      <dgm:t>
        <a:bodyPr/>
        <a:lstStyle/>
        <a:p>
          <a:r>
            <a:rPr lang="en-US" dirty="0"/>
            <a:t>age [0] is the content at first location</a:t>
          </a:r>
        </a:p>
      </dgm:t>
    </dgm:pt>
    <dgm:pt modelId="{5237E5B8-B7F2-4B3D-9512-3A0DEE2539A7}" type="parTrans" cxnId="{BA54A314-31D2-47FE-BD4B-D1F72FE14A63}">
      <dgm:prSet/>
      <dgm:spPr/>
      <dgm:t>
        <a:bodyPr/>
        <a:lstStyle/>
        <a:p>
          <a:endParaRPr lang="en-US"/>
        </a:p>
      </dgm:t>
    </dgm:pt>
    <dgm:pt modelId="{6D25B596-6FF2-4C76-841F-C736E2D4E2A0}" type="sibTrans" cxnId="{BA54A314-31D2-47FE-BD4B-D1F72FE14A63}">
      <dgm:prSet/>
      <dgm:spPr/>
      <dgm:t>
        <a:bodyPr/>
        <a:lstStyle/>
        <a:p>
          <a:endParaRPr lang="en-US"/>
        </a:p>
      </dgm:t>
    </dgm:pt>
    <dgm:pt modelId="{7B15FEB9-2BB1-499D-9EB2-25D44C8651E3}" type="pres">
      <dgm:prSet presAssocID="{F27E9490-A5A7-489E-9593-554BB970A55C}" presName="composite" presStyleCnt="0">
        <dgm:presLayoutVars>
          <dgm:chMax val="5"/>
          <dgm:dir/>
          <dgm:animLvl val="ctr"/>
          <dgm:resizeHandles val="exact"/>
        </dgm:presLayoutVars>
      </dgm:prSet>
      <dgm:spPr/>
    </dgm:pt>
    <dgm:pt modelId="{A7DA99BA-39C3-48FA-AE0C-2EA8E536E574}" type="pres">
      <dgm:prSet presAssocID="{F27E9490-A5A7-489E-9593-554BB970A55C}" presName="cycle" presStyleCnt="0"/>
      <dgm:spPr/>
    </dgm:pt>
    <dgm:pt modelId="{18D29ADC-9DEF-4844-93F6-AFD5E52F315E}" type="pres">
      <dgm:prSet presAssocID="{F27E9490-A5A7-489E-9593-554BB970A55C}" presName="centerShape" presStyleCnt="0"/>
      <dgm:spPr/>
    </dgm:pt>
    <dgm:pt modelId="{F251B129-3B27-42AA-8B8F-4115340822DF}" type="pres">
      <dgm:prSet presAssocID="{F27E9490-A5A7-489E-9593-554BB970A55C}" presName="connSite" presStyleLbl="node1" presStyleIdx="0" presStyleCnt="4"/>
      <dgm:spPr/>
    </dgm:pt>
    <dgm:pt modelId="{FA9D5EB3-E2A2-46F0-81DA-257A83C4EBFD}" type="pres">
      <dgm:prSet presAssocID="{F27E9490-A5A7-489E-9593-554BB970A55C}" presName="visible" presStyleLbl="node1" presStyleIdx="0" presStyleCnt="4"/>
      <dgm:spPr>
        <a:blipFill rotWithShape="0">
          <a:blip xmlns:r="http://schemas.openxmlformats.org/officeDocument/2006/relationships" r:embed="rId1"/>
          <a:stretch>
            <a:fillRect/>
          </a:stretch>
        </a:blipFill>
      </dgm:spPr>
    </dgm:pt>
    <dgm:pt modelId="{37FF2379-4552-4ACB-9D1E-37B408444A49}" type="pres">
      <dgm:prSet presAssocID="{C3A490FE-1BF8-402B-A9C9-8CA572B40D95}" presName="Name25" presStyleLbl="parChTrans1D1" presStyleIdx="0" presStyleCnt="3"/>
      <dgm:spPr/>
    </dgm:pt>
    <dgm:pt modelId="{80BCA9A3-7D2C-437D-BED2-8307B00F37CD}" type="pres">
      <dgm:prSet presAssocID="{107F558F-4549-49F6-986B-76472C5D31FE}" presName="node" presStyleCnt="0"/>
      <dgm:spPr/>
    </dgm:pt>
    <dgm:pt modelId="{FA6115CE-CC79-4197-BCF2-165E0C1B1EF1}" type="pres">
      <dgm:prSet presAssocID="{107F558F-4549-49F6-986B-76472C5D31FE}" presName="parentNode" presStyleLbl="node1" presStyleIdx="1" presStyleCnt="4" custScaleX="109071" custScaleY="65922" custLinFactNeighborX="-10011" custLinFactNeighborY="-60113">
        <dgm:presLayoutVars>
          <dgm:chMax val="1"/>
          <dgm:bulletEnabled val="1"/>
        </dgm:presLayoutVars>
      </dgm:prSet>
      <dgm:spPr/>
    </dgm:pt>
    <dgm:pt modelId="{F7052BAE-CC98-4658-98C1-0D2A409E74C7}" type="pres">
      <dgm:prSet presAssocID="{107F558F-4549-49F6-986B-76472C5D31FE}" presName="childNode" presStyleLbl="revTx" presStyleIdx="0" presStyleCnt="3">
        <dgm:presLayoutVars>
          <dgm:bulletEnabled val="1"/>
        </dgm:presLayoutVars>
      </dgm:prSet>
      <dgm:spPr/>
    </dgm:pt>
    <dgm:pt modelId="{7267AD53-C883-43EA-B2CA-3F611631DC98}" type="pres">
      <dgm:prSet presAssocID="{068FBE07-6E63-42E6-B90F-7E2E0D1D6E45}" presName="Name25" presStyleLbl="parChTrans1D1" presStyleIdx="1" presStyleCnt="3"/>
      <dgm:spPr/>
    </dgm:pt>
    <dgm:pt modelId="{72DBBFAA-6DDF-4144-B6F5-1187C8D738CE}" type="pres">
      <dgm:prSet presAssocID="{F59387F9-9B9E-42A1-A38F-5DD1E83D3719}" presName="node" presStyleCnt="0"/>
      <dgm:spPr/>
    </dgm:pt>
    <dgm:pt modelId="{C27BB6C4-3458-4A02-936C-F7BB7CC7B709}" type="pres">
      <dgm:prSet presAssocID="{F59387F9-9B9E-42A1-A38F-5DD1E83D3719}" presName="parentNode" presStyleLbl="node1" presStyleIdx="2" presStyleCnt="4" custScaleX="103202" custScaleY="65922" custLinFactNeighborX="-25050" custLinFactNeighborY="-56092">
        <dgm:presLayoutVars>
          <dgm:chMax val="1"/>
          <dgm:bulletEnabled val="1"/>
        </dgm:presLayoutVars>
      </dgm:prSet>
      <dgm:spPr/>
    </dgm:pt>
    <dgm:pt modelId="{9F2030DC-8C7E-4FA8-A066-890D40F817FA}" type="pres">
      <dgm:prSet presAssocID="{F59387F9-9B9E-42A1-A38F-5DD1E83D3719}" presName="childNode" presStyleLbl="revTx" presStyleIdx="1" presStyleCnt="3">
        <dgm:presLayoutVars>
          <dgm:bulletEnabled val="1"/>
        </dgm:presLayoutVars>
      </dgm:prSet>
      <dgm:spPr/>
    </dgm:pt>
    <dgm:pt modelId="{029BB0A4-C2AC-4477-AC30-E75BFAB2320E}" type="pres">
      <dgm:prSet presAssocID="{027A19A7-318D-4FBB-8BE5-08D0BB4A6C2A}" presName="Name25" presStyleLbl="parChTrans1D1" presStyleIdx="2" presStyleCnt="3"/>
      <dgm:spPr/>
    </dgm:pt>
    <dgm:pt modelId="{0081C855-66B8-4E97-BD41-5EBD2495B16E}" type="pres">
      <dgm:prSet presAssocID="{C76EDF58-C3D0-444E-9E0C-11BACDB79E0B}" presName="node" presStyleCnt="0"/>
      <dgm:spPr/>
    </dgm:pt>
    <dgm:pt modelId="{3F116F0A-510F-4E03-9520-F65ACAE955A2}" type="pres">
      <dgm:prSet presAssocID="{C76EDF58-C3D0-444E-9E0C-11BACDB79E0B}" presName="parentNode" presStyleLbl="node1" presStyleIdx="3" presStyleCnt="4" custScaleX="96169" custScaleY="46472" custLinFactNeighborX="37952" custLinFactNeighborY="-53287">
        <dgm:presLayoutVars>
          <dgm:chMax val="1"/>
          <dgm:bulletEnabled val="1"/>
        </dgm:presLayoutVars>
      </dgm:prSet>
      <dgm:spPr/>
    </dgm:pt>
    <dgm:pt modelId="{B1DCB878-9EBB-459A-9469-4A397DE6D3B4}" type="pres">
      <dgm:prSet presAssocID="{C76EDF58-C3D0-444E-9E0C-11BACDB79E0B}" presName="childNode" presStyleLbl="revTx" presStyleIdx="2" presStyleCnt="3">
        <dgm:presLayoutVars>
          <dgm:bulletEnabled val="1"/>
        </dgm:presLayoutVars>
      </dgm:prSet>
      <dgm:spPr/>
    </dgm:pt>
  </dgm:ptLst>
  <dgm:cxnLst>
    <dgm:cxn modelId="{BC2E9C08-EB8A-4246-AFF7-B23638993591}" type="presOf" srcId="{F596F509-EC42-4CE3-A95A-13442A0B7A89}" destId="{F7052BAE-CC98-4658-98C1-0D2A409E74C7}" srcOrd="0" destOrd="1" presId="urn:microsoft.com/office/officeart/2005/8/layout/radial2"/>
    <dgm:cxn modelId="{DA61AE09-95E0-4F90-ACFA-0B475363994C}" type="presOf" srcId="{18DCCADC-B029-477D-9076-69A6F3C5EA0F}" destId="{B1DCB878-9EBB-459A-9469-4A397DE6D3B4}" srcOrd="0" destOrd="1" presId="urn:microsoft.com/office/officeart/2005/8/layout/radial2"/>
    <dgm:cxn modelId="{BA54A314-31D2-47FE-BD4B-D1F72FE14A63}" srcId="{F59387F9-9B9E-42A1-A38F-5DD1E83D3719}" destId="{3E037455-0092-4710-A927-1DFECB7E9ACC}" srcOrd="1" destOrd="0" parTransId="{5237E5B8-B7F2-4B3D-9512-3A0DEE2539A7}" sibTransId="{6D25B596-6FF2-4C76-841F-C736E2D4E2A0}"/>
    <dgm:cxn modelId="{32CE971F-698C-4536-A668-AB3CAA87B865}" srcId="{C76EDF58-C3D0-444E-9E0C-11BACDB79E0B}" destId="{18DCCADC-B029-477D-9076-69A6F3C5EA0F}" srcOrd="1" destOrd="0" parTransId="{94062D32-A088-4704-9EFD-84584065C47F}" sibTransId="{4F0F0E88-796A-497F-99CD-8A260F11104F}"/>
    <dgm:cxn modelId="{24F33D27-97AC-46FB-B734-DEA3255E1FC8}" srcId="{107F558F-4549-49F6-986B-76472C5D31FE}" destId="{F596F509-EC42-4CE3-A95A-13442A0B7A89}" srcOrd="1" destOrd="0" parTransId="{DD50D4AA-B401-4C23-86A7-EC98F1D2E32E}" sibTransId="{3ABC30B2-284A-4E53-8BB9-B0DB838EEF3C}"/>
    <dgm:cxn modelId="{2DB76F28-5885-4E28-BAF0-051B33FA6CAE}" type="presOf" srcId="{F59387F9-9B9E-42A1-A38F-5DD1E83D3719}" destId="{C27BB6C4-3458-4A02-936C-F7BB7CC7B709}" srcOrd="0" destOrd="0" presId="urn:microsoft.com/office/officeart/2005/8/layout/radial2"/>
    <dgm:cxn modelId="{558B1539-53ED-4933-B084-F98534EB2B2D}" srcId="{F27E9490-A5A7-489E-9593-554BB970A55C}" destId="{107F558F-4549-49F6-986B-76472C5D31FE}" srcOrd="0" destOrd="0" parTransId="{C3A490FE-1BF8-402B-A9C9-8CA572B40D95}" sibTransId="{E1A77E29-FEB1-4ECF-B974-21E559077492}"/>
    <dgm:cxn modelId="{AEB8D03E-F271-4B89-AB82-1F1CC30C2B7A}" type="presOf" srcId="{C76EDF58-C3D0-444E-9E0C-11BACDB79E0B}" destId="{3F116F0A-510F-4E03-9520-F65ACAE955A2}" srcOrd="0" destOrd="0" presId="urn:microsoft.com/office/officeart/2005/8/layout/radial2"/>
    <dgm:cxn modelId="{4A951267-AF60-49DB-A5A3-D946A1E2B291}" type="presOf" srcId="{F27E9490-A5A7-489E-9593-554BB970A55C}" destId="{7B15FEB9-2BB1-499D-9EB2-25D44C8651E3}" srcOrd="0" destOrd="0" presId="urn:microsoft.com/office/officeart/2005/8/layout/radial2"/>
    <dgm:cxn modelId="{A728D069-3629-43AE-B8AF-ACD383FD18C1}" srcId="{F27E9490-A5A7-489E-9593-554BB970A55C}" destId="{C76EDF58-C3D0-444E-9E0C-11BACDB79E0B}" srcOrd="2" destOrd="0" parTransId="{027A19A7-318D-4FBB-8BE5-08D0BB4A6C2A}" sibTransId="{E1E7D056-E16B-4B7C-8705-DF564A674189}"/>
    <dgm:cxn modelId="{87D2654B-8D1B-4BD4-BD5E-C50CCEA86A4E}" srcId="{C76EDF58-C3D0-444E-9E0C-11BACDB79E0B}" destId="{EAD15282-EC74-4FFF-9290-B7A897498BC7}" srcOrd="0" destOrd="0" parTransId="{C836358D-6ED9-4CD7-94A1-3EF35263AEE4}" sibTransId="{F05DC6C5-7C9B-4E62-B2AF-26E06FA676E1}"/>
    <dgm:cxn modelId="{53E05453-E4E5-40A1-AF41-4438F14F799D}" srcId="{107F558F-4549-49F6-986B-76472C5D31FE}" destId="{9F318D83-D1F7-4A93-B080-F1D88FE58303}" srcOrd="0" destOrd="0" parTransId="{C353BF1A-9EB1-471F-98CA-58A07D556C16}" sibTransId="{88FDBDF2-18FA-4B4C-A0E4-5DA8A449C9CD}"/>
    <dgm:cxn modelId="{48B1C154-CDAB-45AA-8100-B2C96F213F2C}" type="presOf" srcId="{B2F9E38A-AD1F-48A7-A77B-994594D9B084}" destId="{9F2030DC-8C7E-4FA8-A066-890D40F817FA}" srcOrd="0" destOrd="0" presId="urn:microsoft.com/office/officeart/2005/8/layout/radial2"/>
    <dgm:cxn modelId="{51DA7485-7695-4320-B0ED-0C38FB7295AA}" srcId="{F27E9490-A5A7-489E-9593-554BB970A55C}" destId="{F59387F9-9B9E-42A1-A38F-5DD1E83D3719}" srcOrd="1" destOrd="0" parTransId="{068FBE07-6E63-42E6-B90F-7E2E0D1D6E45}" sibTransId="{225D03B8-5F89-4C6A-8BFD-E22F1A215BCA}"/>
    <dgm:cxn modelId="{82AA7C86-717A-458C-8CF1-16A2BA2CA095}" type="presOf" srcId="{068FBE07-6E63-42E6-B90F-7E2E0D1D6E45}" destId="{7267AD53-C883-43EA-B2CA-3F611631DC98}" srcOrd="0" destOrd="0" presId="urn:microsoft.com/office/officeart/2005/8/layout/radial2"/>
    <dgm:cxn modelId="{27DA7A9A-7000-4C18-B81A-1F1156D43B5A}" type="presOf" srcId="{3E037455-0092-4710-A927-1DFECB7E9ACC}" destId="{9F2030DC-8C7E-4FA8-A066-890D40F817FA}" srcOrd="0" destOrd="1" presId="urn:microsoft.com/office/officeart/2005/8/layout/radial2"/>
    <dgm:cxn modelId="{7B0E18AB-08D4-47E7-9F7F-8671EB01A372}" type="presOf" srcId="{027A19A7-318D-4FBB-8BE5-08D0BB4A6C2A}" destId="{029BB0A4-C2AC-4477-AC30-E75BFAB2320E}" srcOrd="0" destOrd="0" presId="urn:microsoft.com/office/officeart/2005/8/layout/radial2"/>
    <dgm:cxn modelId="{067C8EAD-BBE5-42BE-90E7-CA56741EFAA9}" type="presOf" srcId="{9F318D83-D1F7-4A93-B080-F1D88FE58303}" destId="{F7052BAE-CC98-4658-98C1-0D2A409E74C7}" srcOrd="0" destOrd="0" presId="urn:microsoft.com/office/officeart/2005/8/layout/radial2"/>
    <dgm:cxn modelId="{4FE22DB6-DF21-4272-BC71-8E5996773203}" type="presOf" srcId="{107F558F-4549-49F6-986B-76472C5D31FE}" destId="{FA6115CE-CC79-4197-BCF2-165E0C1B1EF1}" srcOrd="0" destOrd="0" presId="urn:microsoft.com/office/officeart/2005/8/layout/radial2"/>
    <dgm:cxn modelId="{C181B9CA-A7CD-4CA3-B6CE-D8A69AD1EFC8}" type="presOf" srcId="{C3A490FE-1BF8-402B-A9C9-8CA572B40D95}" destId="{37FF2379-4552-4ACB-9D1E-37B408444A49}" srcOrd="0" destOrd="0" presId="urn:microsoft.com/office/officeart/2005/8/layout/radial2"/>
    <dgm:cxn modelId="{429CC6EC-9EB1-4C3C-AF8D-5BDE4A9BD3AC}" srcId="{F59387F9-9B9E-42A1-A38F-5DD1E83D3719}" destId="{B2F9E38A-AD1F-48A7-A77B-994594D9B084}" srcOrd="0" destOrd="0" parTransId="{A6F34DFE-990F-4F34-B7C9-0310861EFADA}" sibTransId="{096C4436-4996-436B-8AAE-8975F346DC4B}"/>
    <dgm:cxn modelId="{259B45FE-7283-4D8C-8056-80B41E685FFA}" type="presOf" srcId="{EAD15282-EC74-4FFF-9290-B7A897498BC7}" destId="{B1DCB878-9EBB-459A-9469-4A397DE6D3B4}" srcOrd="0" destOrd="0" presId="urn:microsoft.com/office/officeart/2005/8/layout/radial2"/>
    <dgm:cxn modelId="{9F626958-5B32-4B4A-AD76-2A0188C2F792}" type="presParOf" srcId="{7B15FEB9-2BB1-499D-9EB2-25D44C8651E3}" destId="{A7DA99BA-39C3-48FA-AE0C-2EA8E536E574}" srcOrd="0" destOrd="0" presId="urn:microsoft.com/office/officeart/2005/8/layout/radial2"/>
    <dgm:cxn modelId="{C6C195DC-C7BF-41A4-AAB0-60E8C84F0D0F}" type="presParOf" srcId="{A7DA99BA-39C3-48FA-AE0C-2EA8E536E574}" destId="{18D29ADC-9DEF-4844-93F6-AFD5E52F315E}" srcOrd="0" destOrd="0" presId="urn:microsoft.com/office/officeart/2005/8/layout/radial2"/>
    <dgm:cxn modelId="{681A5057-E085-4F5F-8E18-C9E1E0827EDA}" type="presParOf" srcId="{18D29ADC-9DEF-4844-93F6-AFD5E52F315E}" destId="{F251B129-3B27-42AA-8B8F-4115340822DF}" srcOrd="0" destOrd="0" presId="urn:microsoft.com/office/officeart/2005/8/layout/radial2"/>
    <dgm:cxn modelId="{6D4BD390-34D9-4F6B-95FA-870C8DE72C81}" type="presParOf" srcId="{18D29ADC-9DEF-4844-93F6-AFD5E52F315E}" destId="{FA9D5EB3-E2A2-46F0-81DA-257A83C4EBFD}" srcOrd="1" destOrd="0" presId="urn:microsoft.com/office/officeart/2005/8/layout/radial2"/>
    <dgm:cxn modelId="{27F7A0E4-396E-46CA-9458-0E18A0997857}" type="presParOf" srcId="{A7DA99BA-39C3-48FA-AE0C-2EA8E536E574}" destId="{37FF2379-4552-4ACB-9D1E-37B408444A49}" srcOrd="1" destOrd="0" presId="urn:microsoft.com/office/officeart/2005/8/layout/radial2"/>
    <dgm:cxn modelId="{995F4391-D706-4999-91FB-23652B639D16}" type="presParOf" srcId="{A7DA99BA-39C3-48FA-AE0C-2EA8E536E574}" destId="{80BCA9A3-7D2C-437D-BED2-8307B00F37CD}" srcOrd="2" destOrd="0" presId="urn:microsoft.com/office/officeart/2005/8/layout/radial2"/>
    <dgm:cxn modelId="{9B039776-1463-49C9-9F21-A2B2366D1A14}" type="presParOf" srcId="{80BCA9A3-7D2C-437D-BED2-8307B00F37CD}" destId="{FA6115CE-CC79-4197-BCF2-165E0C1B1EF1}" srcOrd="0" destOrd="0" presId="urn:microsoft.com/office/officeart/2005/8/layout/radial2"/>
    <dgm:cxn modelId="{441BA22A-D7F7-4BA4-9399-9BB4543B8D95}" type="presParOf" srcId="{80BCA9A3-7D2C-437D-BED2-8307B00F37CD}" destId="{F7052BAE-CC98-4658-98C1-0D2A409E74C7}" srcOrd="1" destOrd="0" presId="urn:microsoft.com/office/officeart/2005/8/layout/radial2"/>
    <dgm:cxn modelId="{FEA503B8-1F2C-4791-B238-CBCA2F83E2EF}" type="presParOf" srcId="{A7DA99BA-39C3-48FA-AE0C-2EA8E536E574}" destId="{7267AD53-C883-43EA-B2CA-3F611631DC98}" srcOrd="3" destOrd="0" presId="urn:microsoft.com/office/officeart/2005/8/layout/radial2"/>
    <dgm:cxn modelId="{5E628CEA-0611-4F3F-B27F-C53DB2813124}" type="presParOf" srcId="{A7DA99BA-39C3-48FA-AE0C-2EA8E536E574}" destId="{72DBBFAA-6DDF-4144-B6F5-1187C8D738CE}" srcOrd="4" destOrd="0" presId="urn:microsoft.com/office/officeart/2005/8/layout/radial2"/>
    <dgm:cxn modelId="{D341924C-CFA2-4C87-B426-ACF741A8A0C8}" type="presParOf" srcId="{72DBBFAA-6DDF-4144-B6F5-1187C8D738CE}" destId="{C27BB6C4-3458-4A02-936C-F7BB7CC7B709}" srcOrd="0" destOrd="0" presId="urn:microsoft.com/office/officeart/2005/8/layout/radial2"/>
    <dgm:cxn modelId="{0877471B-1089-414B-BE04-18BADC155017}" type="presParOf" srcId="{72DBBFAA-6DDF-4144-B6F5-1187C8D738CE}" destId="{9F2030DC-8C7E-4FA8-A066-890D40F817FA}" srcOrd="1" destOrd="0" presId="urn:microsoft.com/office/officeart/2005/8/layout/radial2"/>
    <dgm:cxn modelId="{C3D98FB8-1DE9-4D42-A820-83E1B94E509A}" type="presParOf" srcId="{A7DA99BA-39C3-48FA-AE0C-2EA8E536E574}" destId="{029BB0A4-C2AC-4477-AC30-E75BFAB2320E}" srcOrd="5" destOrd="0" presId="urn:microsoft.com/office/officeart/2005/8/layout/radial2"/>
    <dgm:cxn modelId="{8007CA69-16EB-430D-9F31-6A3FF9176026}" type="presParOf" srcId="{A7DA99BA-39C3-48FA-AE0C-2EA8E536E574}" destId="{0081C855-66B8-4E97-BD41-5EBD2495B16E}" srcOrd="6" destOrd="0" presId="urn:microsoft.com/office/officeart/2005/8/layout/radial2"/>
    <dgm:cxn modelId="{59D5CAFD-3819-4466-A292-665882051582}" type="presParOf" srcId="{0081C855-66B8-4E97-BD41-5EBD2495B16E}" destId="{3F116F0A-510F-4E03-9520-F65ACAE955A2}" srcOrd="0" destOrd="0" presId="urn:microsoft.com/office/officeart/2005/8/layout/radial2"/>
    <dgm:cxn modelId="{A116962A-0304-4BB1-B3E2-26C7370C0975}" type="presParOf" srcId="{0081C855-66B8-4E97-BD41-5EBD2495B16E}" destId="{B1DCB878-9EBB-459A-9469-4A397DE6D3B4}" srcOrd="1" destOrd="0" presId="urn:microsoft.com/office/officeart/2005/8/layout/radial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9BB0A4-C2AC-4477-AC30-E75BFAB2320E}">
      <dsp:nvSpPr>
        <dsp:cNvPr id="0" name=""/>
        <dsp:cNvSpPr/>
      </dsp:nvSpPr>
      <dsp:spPr>
        <a:xfrm rot="1125988">
          <a:off x="1940523" y="3677997"/>
          <a:ext cx="1038800" cy="67939"/>
        </a:xfrm>
        <a:custGeom>
          <a:avLst/>
          <a:gdLst/>
          <a:ahLst/>
          <a:cxnLst/>
          <a:rect l="0" t="0" r="0" b="0"/>
          <a:pathLst>
            <a:path>
              <a:moveTo>
                <a:pt x="0" y="33969"/>
              </a:moveTo>
              <a:lnTo>
                <a:pt x="1038800" y="339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67AD53-C883-43EA-B2CA-3F611631DC98}">
      <dsp:nvSpPr>
        <dsp:cNvPr id="0" name=""/>
        <dsp:cNvSpPr/>
      </dsp:nvSpPr>
      <dsp:spPr>
        <a:xfrm rot="20187954">
          <a:off x="1942579" y="2756062"/>
          <a:ext cx="614493" cy="67939"/>
        </a:xfrm>
        <a:custGeom>
          <a:avLst/>
          <a:gdLst/>
          <a:ahLst/>
          <a:cxnLst/>
          <a:rect l="0" t="0" r="0" b="0"/>
          <a:pathLst>
            <a:path>
              <a:moveTo>
                <a:pt x="0" y="33969"/>
              </a:moveTo>
              <a:lnTo>
                <a:pt x="614493" y="339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7FF2379-4552-4ACB-9D1E-37B408444A49}">
      <dsp:nvSpPr>
        <dsp:cNvPr id="0" name=""/>
        <dsp:cNvSpPr/>
      </dsp:nvSpPr>
      <dsp:spPr>
        <a:xfrm rot="18200630">
          <a:off x="1329350" y="1750849"/>
          <a:ext cx="1598376" cy="67939"/>
        </a:xfrm>
        <a:custGeom>
          <a:avLst/>
          <a:gdLst/>
          <a:ahLst/>
          <a:cxnLst/>
          <a:rect l="0" t="0" r="0" b="0"/>
          <a:pathLst>
            <a:path>
              <a:moveTo>
                <a:pt x="0" y="33969"/>
              </a:moveTo>
              <a:lnTo>
                <a:pt x="1598376" y="3396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9D5EB3-E2A2-46F0-81DA-257A83C4EBFD}">
      <dsp:nvSpPr>
        <dsp:cNvPr id="0" name=""/>
        <dsp:cNvSpPr/>
      </dsp:nvSpPr>
      <dsp:spPr>
        <a:xfrm>
          <a:off x="-12061" y="2103004"/>
          <a:ext cx="2329643" cy="2329643"/>
        </a:xfrm>
        <a:prstGeom prst="ellipse">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6115CE-CC79-4197-BCF2-165E0C1B1EF1}">
      <dsp:nvSpPr>
        <dsp:cNvPr id="0" name=""/>
        <dsp:cNvSpPr/>
      </dsp:nvSpPr>
      <dsp:spPr>
        <a:xfrm>
          <a:off x="2119413" y="287890"/>
          <a:ext cx="1422451" cy="859723"/>
        </a:xfrm>
        <a:prstGeom prst="ellipse">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1"/>
              </a:solidFill>
            </a:rPr>
            <a:t>Create</a:t>
          </a:r>
        </a:p>
      </dsp:txBody>
      <dsp:txXfrm>
        <a:off x="2327726" y="413794"/>
        <a:ext cx="1005825" cy="607915"/>
      </dsp:txXfrm>
    </dsp:sp>
    <dsp:sp modelId="{F7052BAE-CC98-4658-98C1-0D2A409E74C7}">
      <dsp:nvSpPr>
        <dsp:cNvPr id="0" name=""/>
        <dsp:cNvSpPr/>
      </dsp:nvSpPr>
      <dsp:spPr>
        <a:xfrm>
          <a:off x="3524406" y="510104"/>
          <a:ext cx="2133677" cy="859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14300" lvl="1" indent="-114300" algn="l" defTabSz="666750">
            <a:lnSpc>
              <a:spcPct val="90000"/>
            </a:lnSpc>
            <a:spcBef>
              <a:spcPct val="0"/>
            </a:spcBef>
            <a:spcAft>
              <a:spcPct val="15000"/>
            </a:spcAft>
            <a:buChar char="•"/>
          </a:pPr>
          <a:r>
            <a:rPr lang="en-US" sz="1500" kern="1200" dirty="0" err="1"/>
            <a:t>int</a:t>
          </a:r>
          <a:r>
            <a:rPr lang="en-US" sz="1500" kern="1200" dirty="0"/>
            <a:t> [] age = {11,22,33}</a:t>
          </a:r>
        </a:p>
        <a:p>
          <a:pPr marL="114300" lvl="1" indent="-114300" algn="l" defTabSz="666750">
            <a:lnSpc>
              <a:spcPct val="90000"/>
            </a:lnSpc>
            <a:spcBef>
              <a:spcPct val="0"/>
            </a:spcBef>
            <a:spcAft>
              <a:spcPct val="15000"/>
            </a:spcAft>
            <a:buChar char="•"/>
          </a:pPr>
          <a:r>
            <a:rPr lang="en-US" sz="1500" kern="1200" dirty="0" err="1"/>
            <a:t>int</a:t>
          </a:r>
          <a:r>
            <a:rPr lang="en-US" sz="1500" kern="1200" dirty="0"/>
            <a:t> [] age = new </a:t>
          </a:r>
          <a:r>
            <a:rPr lang="en-US" sz="1500" kern="1200" dirty="0" err="1"/>
            <a:t>int</a:t>
          </a:r>
          <a:r>
            <a:rPr lang="en-US" sz="1500" kern="1200" dirty="0"/>
            <a:t> [3]</a:t>
          </a:r>
        </a:p>
      </dsp:txBody>
      <dsp:txXfrm>
        <a:off x="3524406" y="510104"/>
        <a:ext cx="2133677" cy="859723"/>
      </dsp:txXfrm>
    </dsp:sp>
    <dsp:sp modelId="{C27BB6C4-3458-4A02-936C-F7BB7CC7B709}">
      <dsp:nvSpPr>
        <dsp:cNvPr id="0" name=""/>
        <dsp:cNvSpPr/>
      </dsp:nvSpPr>
      <dsp:spPr>
        <a:xfrm>
          <a:off x="2414576" y="1995332"/>
          <a:ext cx="1345911" cy="859723"/>
        </a:xfrm>
        <a:prstGeom prst="ellipse">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1"/>
              </a:solidFill>
            </a:rPr>
            <a:t>Access</a:t>
          </a:r>
        </a:p>
      </dsp:txBody>
      <dsp:txXfrm>
        <a:off x="2611680" y="2121236"/>
        <a:ext cx="951703" cy="607915"/>
      </dsp:txXfrm>
    </dsp:sp>
    <dsp:sp modelId="{9F2030DC-8C7E-4FA8-A066-890D40F817FA}">
      <dsp:nvSpPr>
        <dsp:cNvPr id="0" name=""/>
        <dsp:cNvSpPr/>
      </dsp:nvSpPr>
      <dsp:spPr>
        <a:xfrm>
          <a:off x="3838704" y="2217546"/>
          <a:ext cx="2018866" cy="859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Index / position, starts from 0</a:t>
          </a:r>
        </a:p>
        <a:p>
          <a:pPr marL="114300" lvl="1" indent="-114300" algn="l" defTabSz="666750">
            <a:lnSpc>
              <a:spcPct val="90000"/>
            </a:lnSpc>
            <a:spcBef>
              <a:spcPct val="0"/>
            </a:spcBef>
            <a:spcAft>
              <a:spcPct val="15000"/>
            </a:spcAft>
            <a:buChar char="•"/>
          </a:pPr>
          <a:r>
            <a:rPr lang="en-US" sz="1500" kern="1200" dirty="0"/>
            <a:t>age [0] is the content at first location</a:t>
          </a:r>
        </a:p>
      </dsp:txBody>
      <dsp:txXfrm>
        <a:off x="3838704" y="2217546"/>
        <a:ext cx="2018866" cy="859723"/>
      </dsp:txXfrm>
    </dsp:sp>
    <dsp:sp modelId="{3F116F0A-510F-4E03-9520-F65ACAE955A2}">
      <dsp:nvSpPr>
        <dsp:cNvPr id="0" name=""/>
        <dsp:cNvSpPr/>
      </dsp:nvSpPr>
      <dsp:spPr>
        <a:xfrm>
          <a:off x="2837597" y="3750330"/>
          <a:ext cx="1254190" cy="606065"/>
        </a:xfrm>
        <a:prstGeom prst="ellipse">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1"/>
              </a:solidFill>
            </a:rPr>
            <a:t>Store</a:t>
          </a:r>
        </a:p>
      </dsp:txBody>
      <dsp:txXfrm>
        <a:off x="3021269" y="3839086"/>
        <a:ext cx="886846" cy="428553"/>
      </dsp:txXfrm>
    </dsp:sp>
    <dsp:sp modelId="{B1DCB878-9EBB-459A-9469-4A397DE6D3B4}">
      <dsp:nvSpPr>
        <dsp:cNvPr id="0" name=""/>
        <dsp:cNvSpPr/>
      </dsp:nvSpPr>
      <dsp:spPr>
        <a:xfrm>
          <a:off x="4309636" y="4099373"/>
          <a:ext cx="1881285" cy="606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age [0] = 22</a:t>
          </a:r>
        </a:p>
        <a:p>
          <a:pPr marL="114300" lvl="1" indent="-114300" algn="l" defTabSz="666750">
            <a:lnSpc>
              <a:spcPct val="90000"/>
            </a:lnSpc>
            <a:spcBef>
              <a:spcPct val="0"/>
            </a:spcBef>
            <a:spcAft>
              <a:spcPct val="15000"/>
            </a:spcAft>
            <a:buChar char="•"/>
          </a:pPr>
          <a:r>
            <a:rPr lang="en-US" sz="1500" kern="1200" dirty="0"/>
            <a:t>Using index</a:t>
          </a:r>
        </a:p>
      </dsp:txBody>
      <dsp:txXfrm>
        <a:off x="4309636" y="4099373"/>
        <a:ext cx="1881285" cy="606065"/>
      </dsp:txXfrm>
    </dsp:sp>
  </dsp:spTree>
</dsp:drawing>
</file>

<file path=ppt/diagrams/layout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1" y="0"/>
            <a:ext cx="4279136" cy="338461"/>
          </a:xfrm>
          <a:prstGeom prst="rect">
            <a:avLst/>
          </a:prstGeom>
          <a:noFill/>
          <a:ln w="9525">
            <a:noFill/>
            <a:miter lim="800000"/>
            <a:headEnd/>
            <a:tailEnd/>
          </a:ln>
          <a:effectLst/>
        </p:spPr>
        <p:txBody>
          <a:bodyPr vert="horz" wrap="square" lIns="95244" tIns="47623" rIns="95244" bIns="47623" numCol="1" anchor="t" anchorCtr="0" compatLnSpc="1">
            <a:prstTxWarp prst="textNoShape">
              <a:avLst/>
            </a:prstTxWarp>
          </a:bodyPr>
          <a:lstStyle>
            <a:lvl1pPr defTabSz="952675">
              <a:defRPr sz="1300" smtClean="0">
                <a:latin typeface="Arial" charset="0"/>
              </a:defRPr>
            </a:lvl1pPr>
          </a:lstStyle>
          <a:p>
            <a:pPr>
              <a:defRPr/>
            </a:pPr>
            <a:endParaRPr lang="en-GB"/>
          </a:p>
        </p:txBody>
      </p:sp>
      <p:sp>
        <p:nvSpPr>
          <p:cNvPr id="35843" name="Rectangle 3"/>
          <p:cNvSpPr>
            <a:spLocks noGrp="1" noChangeArrowheads="1"/>
          </p:cNvSpPr>
          <p:nvPr>
            <p:ph type="dt" sz="quarter" idx="1"/>
          </p:nvPr>
        </p:nvSpPr>
        <p:spPr bwMode="auto">
          <a:xfrm>
            <a:off x="5592908" y="0"/>
            <a:ext cx="4279136" cy="338461"/>
          </a:xfrm>
          <a:prstGeom prst="rect">
            <a:avLst/>
          </a:prstGeom>
          <a:noFill/>
          <a:ln w="9525">
            <a:noFill/>
            <a:miter lim="800000"/>
            <a:headEnd/>
            <a:tailEnd/>
          </a:ln>
          <a:effectLst/>
        </p:spPr>
        <p:txBody>
          <a:bodyPr vert="horz" wrap="square" lIns="95244" tIns="47623" rIns="95244" bIns="47623" numCol="1" anchor="t" anchorCtr="0" compatLnSpc="1">
            <a:prstTxWarp prst="textNoShape">
              <a:avLst/>
            </a:prstTxWarp>
          </a:bodyPr>
          <a:lstStyle>
            <a:lvl1pPr algn="r" defTabSz="952675">
              <a:defRPr sz="1300" smtClean="0">
                <a:latin typeface="Arial" charset="0"/>
              </a:defRPr>
            </a:lvl1pPr>
          </a:lstStyle>
          <a:p>
            <a:pPr>
              <a:defRPr/>
            </a:pPr>
            <a:endParaRPr lang="en-GB"/>
          </a:p>
        </p:txBody>
      </p:sp>
      <p:sp>
        <p:nvSpPr>
          <p:cNvPr id="35845" name="Rectangle 5"/>
          <p:cNvSpPr>
            <a:spLocks noGrp="1" noChangeArrowheads="1"/>
          </p:cNvSpPr>
          <p:nvPr>
            <p:ph type="sldNum" sz="quarter" idx="3"/>
          </p:nvPr>
        </p:nvSpPr>
        <p:spPr bwMode="auto">
          <a:xfrm>
            <a:off x="5592908" y="6457106"/>
            <a:ext cx="4279136" cy="339515"/>
          </a:xfrm>
          <a:prstGeom prst="rect">
            <a:avLst/>
          </a:prstGeom>
          <a:noFill/>
          <a:ln w="9525">
            <a:noFill/>
            <a:miter lim="800000"/>
            <a:headEnd/>
            <a:tailEnd/>
          </a:ln>
          <a:effectLst/>
        </p:spPr>
        <p:txBody>
          <a:bodyPr vert="horz" wrap="square" lIns="95244" tIns="47623" rIns="95244" bIns="47623" numCol="1" anchor="b" anchorCtr="0" compatLnSpc="1">
            <a:prstTxWarp prst="textNoShape">
              <a:avLst/>
            </a:prstTxWarp>
          </a:bodyPr>
          <a:lstStyle>
            <a:lvl1pPr algn="r" defTabSz="952675">
              <a:defRPr sz="1300" smtClean="0">
                <a:latin typeface="Arial" charset="0"/>
              </a:defRPr>
            </a:lvl1pPr>
          </a:lstStyle>
          <a:p>
            <a:pPr>
              <a:defRPr/>
            </a:pPr>
            <a:fld id="{98AE70DA-BE83-4246-8033-0D4F5CED2481}" type="slidenum">
              <a:rPr lang="en-GB"/>
              <a:pPr>
                <a:defRPr/>
              </a:pPr>
              <a:t>‹#›</a:t>
            </a:fld>
            <a:endParaRPr lang="en-GB"/>
          </a:p>
        </p:txBody>
      </p:sp>
      <p:sp>
        <p:nvSpPr>
          <p:cNvPr id="6" name="Footer Placeholder 5"/>
          <p:cNvSpPr>
            <a:spLocks noGrp="1"/>
          </p:cNvSpPr>
          <p:nvPr>
            <p:ph type="ftr" sz="quarter" idx="2"/>
          </p:nvPr>
        </p:nvSpPr>
        <p:spPr>
          <a:xfrm>
            <a:off x="1" y="6457106"/>
            <a:ext cx="4279136" cy="339515"/>
          </a:xfrm>
          <a:prstGeom prst="rect">
            <a:avLst/>
          </a:prstGeom>
        </p:spPr>
        <p:txBody>
          <a:bodyPr vert="horz" lIns="87939" tIns="43970" rIns="87939" bIns="43970" rtlCol="0" anchor="b"/>
          <a:lstStyle>
            <a:lvl1pPr algn="l">
              <a:defRPr sz="1200"/>
            </a:lvl1pPr>
          </a:lstStyle>
          <a:p>
            <a:endParaRPr lang="en-US"/>
          </a:p>
        </p:txBody>
      </p:sp>
    </p:spTree>
    <p:extLst>
      <p:ext uri="{BB962C8B-B14F-4D97-AF65-F5344CB8AC3E}">
        <p14:creationId xmlns:p14="http://schemas.microsoft.com/office/powerpoint/2010/main" val="42721145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1" y="0"/>
            <a:ext cx="4279136" cy="338461"/>
          </a:xfrm>
          <a:prstGeom prst="rect">
            <a:avLst/>
          </a:prstGeom>
          <a:noFill/>
          <a:ln w="9525">
            <a:noFill/>
            <a:miter lim="800000"/>
            <a:headEnd/>
            <a:tailEnd/>
          </a:ln>
          <a:effectLst/>
        </p:spPr>
        <p:txBody>
          <a:bodyPr vert="horz" wrap="square" lIns="95244" tIns="47623" rIns="95244" bIns="47623" numCol="1" anchor="t" anchorCtr="0" compatLnSpc="1">
            <a:prstTxWarp prst="textNoShape">
              <a:avLst/>
            </a:prstTxWarp>
          </a:bodyPr>
          <a:lstStyle>
            <a:lvl1pPr defTabSz="952675">
              <a:defRPr sz="1300" smtClean="0">
                <a:latin typeface="Arial" charset="0"/>
              </a:defRPr>
            </a:lvl1pPr>
          </a:lstStyle>
          <a:p>
            <a:pPr>
              <a:defRPr/>
            </a:pPr>
            <a:endParaRPr lang="en-GB"/>
          </a:p>
        </p:txBody>
      </p:sp>
      <p:sp>
        <p:nvSpPr>
          <p:cNvPr id="10243" name="Rectangle 3"/>
          <p:cNvSpPr>
            <a:spLocks noGrp="1" noChangeArrowheads="1"/>
          </p:cNvSpPr>
          <p:nvPr>
            <p:ph type="dt" idx="1"/>
          </p:nvPr>
        </p:nvSpPr>
        <p:spPr bwMode="auto">
          <a:xfrm>
            <a:off x="5592908" y="0"/>
            <a:ext cx="4279136" cy="338461"/>
          </a:xfrm>
          <a:prstGeom prst="rect">
            <a:avLst/>
          </a:prstGeom>
          <a:noFill/>
          <a:ln w="9525">
            <a:noFill/>
            <a:miter lim="800000"/>
            <a:headEnd/>
            <a:tailEnd/>
          </a:ln>
          <a:effectLst/>
        </p:spPr>
        <p:txBody>
          <a:bodyPr vert="horz" wrap="square" lIns="95244" tIns="47623" rIns="95244" bIns="47623" numCol="1" anchor="t" anchorCtr="0" compatLnSpc="1">
            <a:prstTxWarp prst="textNoShape">
              <a:avLst/>
            </a:prstTxWarp>
          </a:bodyPr>
          <a:lstStyle>
            <a:lvl1pPr algn="r" defTabSz="952675">
              <a:defRPr sz="1300" smtClean="0">
                <a:latin typeface="Arial" charset="0"/>
              </a:defRPr>
            </a:lvl1pPr>
          </a:lstStyle>
          <a:p>
            <a:pPr>
              <a:defRPr/>
            </a:pPr>
            <a:endParaRPr lang="en-GB"/>
          </a:p>
        </p:txBody>
      </p:sp>
      <p:sp>
        <p:nvSpPr>
          <p:cNvPr id="22532" name="Rectangle 4"/>
          <p:cNvSpPr>
            <a:spLocks noGrp="1" noRot="1" noChangeAspect="1" noChangeArrowheads="1" noTextEdit="1"/>
          </p:cNvSpPr>
          <p:nvPr>
            <p:ph type="sldImg" idx="2"/>
          </p:nvPr>
        </p:nvSpPr>
        <p:spPr bwMode="auto">
          <a:xfrm>
            <a:off x="3984625" y="512763"/>
            <a:ext cx="1909763" cy="2547937"/>
          </a:xfrm>
          <a:prstGeom prst="rect">
            <a:avLst/>
          </a:prstGeom>
          <a:noFill/>
          <a:ln w="9525">
            <a:solidFill>
              <a:srgbClr val="000000"/>
            </a:solidFill>
            <a:miter lim="800000"/>
            <a:headEnd/>
            <a:tailEnd/>
          </a:ln>
        </p:spPr>
      </p:sp>
      <p:sp>
        <p:nvSpPr>
          <p:cNvPr id="10245" name="Rectangle 5"/>
          <p:cNvSpPr>
            <a:spLocks noGrp="1" noChangeArrowheads="1"/>
          </p:cNvSpPr>
          <p:nvPr>
            <p:ph type="body" sz="quarter" idx="3"/>
          </p:nvPr>
        </p:nvSpPr>
        <p:spPr bwMode="auto">
          <a:xfrm>
            <a:off x="986986" y="3228552"/>
            <a:ext cx="7900283" cy="3058796"/>
          </a:xfrm>
          <a:prstGeom prst="rect">
            <a:avLst/>
          </a:prstGeom>
          <a:noFill/>
          <a:ln w="9525">
            <a:noFill/>
            <a:miter lim="800000"/>
            <a:headEnd/>
            <a:tailEnd/>
          </a:ln>
          <a:effectLst/>
        </p:spPr>
        <p:txBody>
          <a:bodyPr vert="horz" wrap="square" lIns="95244" tIns="47623" rIns="95244" bIns="47623"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0246" name="Rectangle 6"/>
          <p:cNvSpPr>
            <a:spLocks noGrp="1" noChangeArrowheads="1"/>
          </p:cNvSpPr>
          <p:nvPr>
            <p:ph type="ftr" sz="quarter" idx="4"/>
          </p:nvPr>
        </p:nvSpPr>
        <p:spPr bwMode="auto">
          <a:xfrm>
            <a:off x="1" y="6457106"/>
            <a:ext cx="4279136" cy="339515"/>
          </a:xfrm>
          <a:prstGeom prst="rect">
            <a:avLst/>
          </a:prstGeom>
          <a:noFill/>
          <a:ln w="9525">
            <a:noFill/>
            <a:miter lim="800000"/>
            <a:headEnd/>
            <a:tailEnd/>
          </a:ln>
          <a:effectLst/>
        </p:spPr>
        <p:txBody>
          <a:bodyPr vert="horz" wrap="square" lIns="95244" tIns="47623" rIns="95244" bIns="47623" numCol="1" anchor="b" anchorCtr="0" compatLnSpc="1">
            <a:prstTxWarp prst="textNoShape">
              <a:avLst/>
            </a:prstTxWarp>
          </a:bodyPr>
          <a:lstStyle>
            <a:lvl1pPr defTabSz="952675">
              <a:defRPr sz="1300" smtClean="0">
                <a:latin typeface="Arial" charset="0"/>
              </a:defRPr>
            </a:lvl1pPr>
          </a:lstStyle>
          <a:p>
            <a:pPr>
              <a:defRPr/>
            </a:pPr>
            <a:endParaRPr lang="en-GB"/>
          </a:p>
        </p:txBody>
      </p:sp>
      <p:sp>
        <p:nvSpPr>
          <p:cNvPr id="10247" name="Rectangle 7"/>
          <p:cNvSpPr>
            <a:spLocks noGrp="1" noChangeArrowheads="1"/>
          </p:cNvSpPr>
          <p:nvPr>
            <p:ph type="sldNum" sz="quarter" idx="5"/>
          </p:nvPr>
        </p:nvSpPr>
        <p:spPr bwMode="auto">
          <a:xfrm>
            <a:off x="5592908" y="6457106"/>
            <a:ext cx="4279136" cy="339515"/>
          </a:xfrm>
          <a:prstGeom prst="rect">
            <a:avLst/>
          </a:prstGeom>
          <a:noFill/>
          <a:ln w="9525">
            <a:noFill/>
            <a:miter lim="800000"/>
            <a:headEnd/>
            <a:tailEnd/>
          </a:ln>
          <a:effectLst/>
        </p:spPr>
        <p:txBody>
          <a:bodyPr vert="horz" wrap="square" lIns="95244" tIns="47623" rIns="95244" bIns="47623" numCol="1" anchor="b" anchorCtr="0" compatLnSpc="1">
            <a:prstTxWarp prst="textNoShape">
              <a:avLst/>
            </a:prstTxWarp>
          </a:bodyPr>
          <a:lstStyle>
            <a:lvl1pPr algn="r" defTabSz="952675">
              <a:defRPr sz="1300" smtClean="0">
                <a:latin typeface="Arial" charset="0"/>
              </a:defRPr>
            </a:lvl1pPr>
          </a:lstStyle>
          <a:p>
            <a:pPr>
              <a:defRPr/>
            </a:pPr>
            <a:fld id="{EE6A17AE-E383-4B2C-8367-33F482FFB8D0}" type="slidenum">
              <a:rPr lang="en-GB"/>
              <a:pPr>
                <a:defRPr/>
              </a:pPr>
              <a:t>‹#›</a:t>
            </a:fld>
            <a:endParaRPr lang="en-GB"/>
          </a:p>
        </p:txBody>
      </p:sp>
    </p:spTree>
    <p:extLst>
      <p:ext uri="{BB962C8B-B14F-4D97-AF65-F5344CB8AC3E}">
        <p14:creationId xmlns:p14="http://schemas.microsoft.com/office/powerpoint/2010/main" val="2975342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6572250" cy="7924800"/>
            <a:chOff x="0" y="0"/>
            <a:chExt cx="5520" cy="3744"/>
          </a:xfrm>
        </p:grpSpPr>
        <p:sp>
          <p:nvSpPr>
            <p:cNvPr id="5" name="Rectangle 3"/>
            <p:cNvSpPr>
              <a:spLocks noChangeArrowheads="1"/>
            </p:cNvSpPr>
            <p:nvPr/>
          </p:nvSpPr>
          <p:spPr bwMode="auto">
            <a:xfrm>
              <a:off x="0" y="0"/>
              <a:ext cx="1104" cy="3072"/>
            </a:xfrm>
            <a:prstGeom prst="rect">
              <a:avLst/>
            </a:prstGeom>
            <a:solidFill>
              <a:schemeClr val="accent1"/>
            </a:solidFill>
            <a:ln w="9525">
              <a:noFill/>
              <a:miter lim="800000"/>
              <a:headEnd/>
              <a:tailEnd/>
            </a:ln>
            <a:effectLst/>
          </p:spPr>
          <p:txBody>
            <a:bodyPr wrap="none" anchor="ctr"/>
            <a:lstStyle/>
            <a:p>
              <a:pPr algn="ctr">
                <a:defRPr/>
              </a:pPr>
              <a:endParaRPr lang="en-US" sz="2400">
                <a:latin typeface="Times New Roman" pitchFamily="18" charset="0"/>
              </a:endParaRPr>
            </a:p>
          </p:txBody>
        </p:sp>
        <p:grpSp>
          <p:nvGrpSpPr>
            <p:cNvPr id="6" name="Group 4"/>
            <p:cNvGrpSpPr>
              <a:grpSpLocks/>
            </p:cNvGrpSpPr>
            <p:nvPr userDrawn="1"/>
          </p:nvGrpSpPr>
          <p:grpSpPr bwMode="auto">
            <a:xfrm>
              <a:off x="0" y="2208"/>
              <a:ext cx="5520" cy="1536"/>
              <a:chOff x="0" y="2208"/>
              <a:chExt cx="5520" cy="1536"/>
            </a:xfrm>
          </p:grpSpPr>
          <p:sp>
            <p:nvSpPr>
              <p:cNvPr id="10" name="Rectangle 5"/>
              <p:cNvSpPr>
                <a:spLocks noChangeArrowheads="1"/>
              </p:cNvSpPr>
              <p:nvPr/>
            </p:nvSpPr>
            <p:spPr bwMode="ltGray">
              <a:xfrm>
                <a:off x="624" y="2208"/>
                <a:ext cx="4896" cy="1536"/>
              </a:xfrm>
              <a:prstGeom prst="rect">
                <a:avLst/>
              </a:prstGeom>
              <a:solidFill>
                <a:schemeClr val="bg2"/>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11" name="Rectangle 6"/>
              <p:cNvSpPr>
                <a:spLocks noChangeArrowheads="1"/>
              </p:cNvSpPr>
              <p:nvPr/>
            </p:nvSpPr>
            <p:spPr bwMode="white">
              <a:xfrm>
                <a:off x="655" y="2352"/>
                <a:ext cx="4817" cy="1347"/>
              </a:xfrm>
              <a:prstGeom prst="rect">
                <a:avLst/>
              </a:prstGeom>
              <a:solidFill>
                <a:schemeClr val="bg1"/>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12" name="Line 7"/>
              <p:cNvSpPr>
                <a:spLocks noChangeShapeType="1"/>
              </p:cNvSpPr>
              <p:nvPr/>
            </p:nvSpPr>
            <p:spPr bwMode="auto">
              <a:xfrm>
                <a:off x="0" y="3072"/>
                <a:ext cx="624" cy="0"/>
              </a:xfrm>
              <a:prstGeom prst="line">
                <a:avLst/>
              </a:prstGeom>
              <a:noFill/>
              <a:ln w="50800">
                <a:solidFill>
                  <a:schemeClr val="bg2"/>
                </a:solidFill>
                <a:round/>
                <a:headEnd/>
                <a:tailEnd/>
              </a:ln>
              <a:effectLst/>
            </p:spPr>
            <p:txBody>
              <a:bodyPr/>
              <a:lstStyle/>
              <a:p>
                <a:pPr>
                  <a:defRPr/>
                </a:pPr>
                <a:endParaRPr lang="en-US"/>
              </a:p>
            </p:txBody>
          </p:sp>
        </p:grpSp>
        <p:grpSp>
          <p:nvGrpSpPr>
            <p:cNvPr id="7" name="Group 8"/>
            <p:cNvGrpSpPr>
              <a:grpSpLocks/>
            </p:cNvGrpSpPr>
            <p:nvPr userDrawn="1"/>
          </p:nvGrpSpPr>
          <p:grpSpPr bwMode="auto">
            <a:xfrm>
              <a:off x="400" y="336"/>
              <a:ext cx="5088" cy="192"/>
              <a:chOff x="400" y="336"/>
              <a:chExt cx="5088" cy="192"/>
            </a:xfrm>
          </p:grpSpPr>
          <p:sp>
            <p:nvSpPr>
              <p:cNvPr id="8" name="Rectangle 9"/>
              <p:cNvSpPr>
                <a:spLocks noChangeArrowheads="1"/>
              </p:cNvSpPr>
              <p:nvPr/>
            </p:nvSpPr>
            <p:spPr bwMode="auto">
              <a:xfrm>
                <a:off x="3952" y="336"/>
                <a:ext cx="1536" cy="192"/>
              </a:xfrm>
              <a:prstGeom prst="rect">
                <a:avLst/>
              </a:prstGeom>
              <a:solidFill>
                <a:srgbClr val="FF9900"/>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9" name="Line 10"/>
              <p:cNvSpPr>
                <a:spLocks noChangeShapeType="1"/>
              </p:cNvSpPr>
              <p:nvPr/>
            </p:nvSpPr>
            <p:spPr bwMode="auto">
              <a:xfrm>
                <a:off x="400" y="432"/>
                <a:ext cx="5088" cy="0"/>
              </a:xfrm>
              <a:prstGeom prst="line">
                <a:avLst/>
              </a:prstGeom>
              <a:noFill/>
              <a:ln w="44450">
                <a:solidFill>
                  <a:schemeClr val="bg2"/>
                </a:solidFill>
                <a:round/>
                <a:headEnd/>
                <a:tailEnd/>
              </a:ln>
              <a:effectLst/>
            </p:spPr>
            <p:txBody>
              <a:bodyPr/>
              <a:lstStyle/>
              <a:p>
                <a:pPr>
                  <a:defRPr/>
                </a:pPr>
                <a:endParaRPr lang="en-US"/>
              </a:p>
            </p:txBody>
          </p:sp>
        </p:grpSp>
      </p:grpSp>
      <p:sp>
        <p:nvSpPr>
          <p:cNvPr id="13" name="Rectangle 13"/>
          <p:cNvSpPr>
            <a:spLocks noChangeArrowheads="1"/>
          </p:cNvSpPr>
          <p:nvPr userDrawn="1"/>
        </p:nvSpPr>
        <p:spPr bwMode="auto">
          <a:xfrm>
            <a:off x="0" y="8636000"/>
            <a:ext cx="3789363" cy="508000"/>
          </a:xfrm>
          <a:prstGeom prst="rect">
            <a:avLst/>
          </a:prstGeom>
          <a:noFill/>
          <a:ln w="12700">
            <a:noFill/>
            <a:miter lim="800000"/>
            <a:headEnd/>
            <a:tailEnd/>
          </a:ln>
          <a:effectLst/>
        </p:spPr>
        <p:txBody>
          <a:bodyPr wrap="none" lIns="90488" tIns="44450" rIns="90488" bIns="44450" anchor="ctr"/>
          <a:lstStyle/>
          <a:p>
            <a:pPr eaLnBrk="0" hangingPunct="0">
              <a:defRPr/>
            </a:pPr>
            <a:r>
              <a:rPr lang="en-US" sz="800" dirty="0">
                <a:latin typeface="Arial" charset="0"/>
              </a:rPr>
              <a:t>Copyrights © Nanyang Polytechnic, 2018 S2</a:t>
            </a:r>
          </a:p>
        </p:txBody>
      </p:sp>
      <p:sp>
        <p:nvSpPr>
          <p:cNvPr id="211979" name="Rectangle 11"/>
          <p:cNvSpPr>
            <a:spLocks noGrp="1" noChangeArrowheads="1"/>
          </p:cNvSpPr>
          <p:nvPr>
            <p:ph type="ctrTitle"/>
          </p:nvPr>
        </p:nvSpPr>
        <p:spPr>
          <a:xfrm>
            <a:off x="1543050" y="1524000"/>
            <a:ext cx="4972050" cy="2946400"/>
          </a:xfrm>
        </p:spPr>
        <p:txBody>
          <a:bodyPr/>
          <a:lstStyle>
            <a:lvl1pPr>
              <a:defRPr sz="4200"/>
            </a:lvl1pPr>
          </a:lstStyle>
          <a:p>
            <a:r>
              <a:rPr lang="en-GB"/>
              <a:t>Click to edit Master title style</a:t>
            </a:r>
          </a:p>
        </p:txBody>
      </p:sp>
      <p:sp>
        <p:nvSpPr>
          <p:cNvPr id="211980" name="Rectangle 12"/>
          <p:cNvSpPr>
            <a:spLocks noGrp="1" noChangeArrowheads="1"/>
          </p:cNvSpPr>
          <p:nvPr>
            <p:ph type="subTitle" idx="1"/>
          </p:nvPr>
        </p:nvSpPr>
        <p:spPr>
          <a:xfrm>
            <a:off x="1028700" y="5283200"/>
            <a:ext cx="5143500" cy="2133600"/>
          </a:xfrm>
        </p:spPr>
        <p:txBody>
          <a:bodyPr anchor="ctr"/>
          <a:lstStyle>
            <a:lvl1pPr marL="0" indent="0" algn="ctr">
              <a:buFont typeface="Wingdings" pitchFamily="2" charset="2"/>
              <a:buNone/>
              <a:defRPr/>
            </a:lvl1pPr>
          </a:lstStyle>
          <a:p>
            <a:r>
              <a:rPr lang="en-GB"/>
              <a:t>Click to edit Master subtitle style</a:t>
            </a:r>
          </a:p>
        </p:txBody>
      </p:sp>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85821" y="332617"/>
            <a:ext cx="1486429" cy="349400"/>
          </a:xfrm>
          <a:prstGeom prst="rect">
            <a:avLst/>
          </a:prstGeom>
        </p:spPr>
      </p:pic>
    </p:spTree>
    <p:custDataLst>
      <p:tags r:id="rId1"/>
    </p:custData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5875338"/>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ustDataLst>
      <p:tags r:id="rId1"/>
    </p:custData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701800"/>
            <a:ext cx="2838450" cy="647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676650" y="1701800"/>
            <a:ext cx="2838450" cy="647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713"/>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3538"/>
            <a:ext cx="2255838"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6400800"/>
            <a:ext cx="4114800" cy="7556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54600" y="277813"/>
            <a:ext cx="1500188" cy="78962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9275" y="277813"/>
            <a:ext cx="4352925" cy="78962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277813"/>
            <a:ext cx="6005513" cy="855662"/>
          </a:xfrm>
        </p:spPr>
        <p:txBody>
          <a:bodyPr/>
          <a:lstStyle/>
          <a:p>
            <a:r>
              <a:rPr lang="en-US"/>
              <a:t>Click to edit Master title style</a:t>
            </a:r>
          </a:p>
        </p:txBody>
      </p:sp>
      <p:sp>
        <p:nvSpPr>
          <p:cNvPr id="3" name="Text Placeholder 2"/>
          <p:cNvSpPr>
            <a:spLocks noGrp="1"/>
          </p:cNvSpPr>
          <p:nvPr>
            <p:ph type="body" sz="half" idx="1"/>
          </p:nvPr>
        </p:nvSpPr>
        <p:spPr>
          <a:xfrm>
            <a:off x="685800" y="1701800"/>
            <a:ext cx="2838450" cy="6472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676650" y="1701800"/>
            <a:ext cx="2838450" cy="6472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10947" name="Rectangle 3"/>
          <p:cNvSpPr>
            <a:spLocks noChangeArrowheads="1"/>
          </p:cNvSpPr>
          <p:nvPr/>
        </p:nvSpPr>
        <p:spPr bwMode="auto">
          <a:xfrm>
            <a:off x="0" y="0"/>
            <a:ext cx="457200" cy="6502400"/>
          </a:xfrm>
          <a:prstGeom prst="rect">
            <a:avLst/>
          </a:prstGeom>
          <a:solidFill>
            <a:schemeClr val="accent1"/>
          </a:solidFill>
          <a:ln w="9525">
            <a:noFill/>
            <a:miter lim="800000"/>
            <a:headEnd/>
            <a:tailEnd/>
          </a:ln>
          <a:effectLst/>
        </p:spPr>
        <p:txBody>
          <a:bodyPr wrap="none" anchor="ctr"/>
          <a:lstStyle/>
          <a:p>
            <a:pPr algn="ctr">
              <a:defRPr/>
            </a:pPr>
            <a:endParaRPr lang="en-US" sz="2400">
              <a:latin typeface="Times New Roman" pitchFamily="18" charset="0"/>
            </a:endParaRPr>
          </a:p>
        </p:txBody>
      </p:sp>
      <p:grpSp>
        <p:nvGrpSpPr>
          <p:cNvPr id="1027" name="Group 4"/>
          <p:cNvGrpSpPr>
            <a:grpSpLocks/>
          </p:cNvGrpSpPr>
          <p:nvPr/>
        </p:nvGrpSpPr>
        <p:grpSpPr bwMode="auto">
          <a:xfrm>
            <a:off x="376238" y="1160463"/>
            <a:ext cx="6229350" cy="242887"/>
            <a:chOff x="240" y="893"/>
            <a:chExt cx="5232" cy="115"/>
          </a:xfrm>
        </p:grpSpPr>
        <p:sp>
          <p:nvSpPr>
            <p:cNvPr id="210949" name="Rectangle 5"/>
            <p:cNvSpPr>
              <a:spLocks noChangeArrowheads="1"/>
            </p:cNvSpPr>
            <p:nvPr/>
          </p:nvSpPr>
          <p:spPr bwMode="auto">
            <a:xfrm>
              <a:off x="4320" y="893"/>
              <a:ext cx="1152" cy="115"/>
            </a:xfrm>
            <a:prstGeom prst="rect">
              <a:avLst/>
            </a:prstGeom>
            <a:solidFill>
              <a:srgbClr val="FFCC99"/>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210950" name="Line 6"/>
            <p:cNvSpPr>
              <a:spLocks noChangeShapeType="1"/>
            </p:cNvSpPr>
            <p:nvPr/>
          </p:nvSpPr>
          <p:spPr bwMode="auto">
            <a:xfrm>
              <a:off x="240" y="941"/>
              <a:ext cx="5232" cy="0"/>
            </a:xfrm>
            <a:prstGeom prst="line">
              <a:avLst/>
            </a:prstGeom>
            <a:noFill/>
            <a:ln w="19050">
              <a:solidFill>
                <a:schemeClr val="bg2"/>
              </a:solidFill>
              <a:round/>
              <a:headEnd/>
              <a:tailEnd/>
            </a:ln>
            <a:effectLst/>
          </p:spPr>
          <p:txBody>
            <a:bodyPr/>
            <a:lstStyle/>
            <a:p>
              <a:pPr>
                <a:defRPr/>
              </a:pPr>
              <a:endParaRPr lang="en-US"/>
            </a:p>
          </p:txBody>
        </p:sp>
      </p:grpSp>
      <p:sp>
        <p:nvSpPr>
          <p:cNvPr id="1028" name="Rectangle 7"/>
          <p:cNvSpPr>
            <a:spLocks noGrp="1" noChangeArrowheads="1"/>
          </p:cNvSpPr>
          <p:nvPr>
            <p:ph type="title"/>
          </p:nvPr>
        </p:nvSpPr>
        <p:spPr bwMode="auto">
          <a:xfrm>
            <a:off x="549275" y="277813"/>
            <a:ext cx="6005513" cy="8556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9" name="Rectangle 8"/>
          <p:cNvSpPr>
            <a:spLocks noGrp="1" noChangeArrowheads="1"/>
          </p:cNvSpPr>
          <p:nvPr>
            <p:ph type="body" idx="1"/>
          </p:nvPr>
        </p:nvSpPr>
        <p:spPr bwMode="auto">
          <a:xfrm>
            <a:off x="685800" y="1701800"/>
            <a:ext cx="5829300" cy="64722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10953" name="Line 9"/>
          <p:cNvSpPr>
            <a:spLocks noChangeShapeType="1"/>
          </p:cNvSpPr>
          <p:nvPr/>
        </p:nvSpPr>
        <p:spPr bwMode="auto">
          <a:xfrm>
            <a:off x="0" y="6502400"/>
            <a:ext cx="457200" cy="0"/>
          </a:xfrm>
          <a:prstGeom prst="line">
            <a:avLst/>
          </a:prstGeom>
          <a:noFill/>
          <a:ln w="44450">
            <a:solidFill>
              <a:schemeClr val="bg2"/>
            </a:solidFill>
            <a:round/>
            <a:headEnd/>
            <a:tailEnd/>
          </a:ln>
          <a:effectLst/>
        </p:spPr>
        <p:txBody>
          <a:bodyPr/>
          <a:lstStyle/>
          <a:p>
            <a:pPr>
              <a:defRPr/>
            </a:pPr>
            <a:endParaRPr lang="en-US"/>
          </a:p>
        </p:txBody>
      </p:sp>
      <p:sp>
        <p:nvSpPr>
          <p:cNvPr id="210954" name="Rectangle 10"/>
          <p:cNvSpPr>
            <a:spLocks noChangeArrowheads="1"/>
          </p:cNvSpPr>
          <p:nvPr userDrawn="1"/>
        </p:nvSpPr>
        <p:spPr bwMode="auto">
          <a:xfrm>
            <a:off x="0" y="8636000"/>
            <a:ext cx="4464050" cy="508000"/>
          </a:xfrm>
          <a:prstGeom prst="rect">
            <a:avLst/>
          </a:prstGeom>
          <a:noFill/>
          <a:ln w="12700">
            <a:noFill/>
            <a:miter lim="800000"/>
            <a:headEnd/>
            <a:tailEnd/>
          </a:ln>
          <a:effectLst/>
        </p:spPr>
        <p:txBody>
          <a:bodyPr wrap="none" lIns="90488" tIns="44450" rIns="90488" bIns="44450" anchor="ctr"/>
          <a:lstStyle/>
          <a:p>
            <a:pPr eaLnBrk="0" hangingPunct="0">
              <a:defRPr/>
            </a:pPr>
            <a:r>
              <a:rPr lang="en-US" sz="800" dirty="0">
                <a:latin typeface="Arial" charset="0"/>
              </a:rPr>
              <a:t>Copyrights © Nanyang Polytechnic, 2017</a:t>
            </a:r>
            <a:r>
              <a:rPr lang="en-US" sz="800" baseline="0" dirty="0">
                <a:latin typeface="Arial" charset="0"/>
              </a:rPr>
              <a:t> </a:t>
            </a:r>
            <a:r>
              <a:rPr lang="en-US" sz="800" dirty="0">
                <a:latin typeface="Arial" charset="0"/>
              </a:rPr>
              <a:t> S2		</a:t>
            </a:r>
          </a:p>
        </p:txBody>
      </p:sp>
      <p:sp>
        <p:nvSpPr>
          <p:cNvPr id="210956" name="Rectangle 12"/>
          <p:cNvSpPr>
            <a:spLocks noChangeArrowheads="1"/>
          </p:cNvSpPr>
          <p:nvPr/>
        </p:nvSpPr>
        <p:spPr bwMode="auto">
          <a:xfrm>
            <a:off x="2444750" y="8739188"/>
            <a:ext cx="1933575" cy="273050"/>
          </a:xfrm>
          <a:prstGeom prst="rect">
            <a:avLst/>
          </a:prstGeom>
          <a:noFill/>
          <a:ln w="9525">
            <a:noFill/>
            <a:miter lim="800000"/>
            <a:headEnd/>
            <a:tailEnd/>
          </a:ln>
          <a:effectLst/>
        </p:spPr>
        <p:txBody>
          <a:bodyPr/>
          <a:lstStyle/>
          <a:p>
            <a:pPr algn="ctr">
              <a:defRPr/>
            </a:pPr>
            <a:r>
              <a:rPr lang="en-GB" sz="1000">
                <a:latin typeface="Arial" charset="0"/>
              </a:rPr>
              <a:t>Page </a:t>
            </a:r>
            <a:fld id="{E8060906-3A6C-4DE7-AD42-24BEE673FAC3}" type="slidenum">
              <a:rPr lang="en-GB" sz="1000">
                <a:latin typeface="Arial" charset="0"/>
              </a:rPr>
              <a:pPr algn="ctr">
                <a:defRPr/>
              </a:pPr>
              <a:t>‹#›</a:t>
            </a:fld>
            <a:endParaRPr lang="en-GB" sz="1000">
              <a:latin typeface="Arial" charset="0"/>
            </a:endParaRPr>
          </a:p>
        </p:txBody>
      </p:sp>
      <p:sp>
        <p:nvSpPr>
          <p:cNvPr id="210957" name="Text Box 13"/>
          <p:cNvSpPr txBox="1">
            <a:spLocks noChangeArrowheads="1"/>
          </p:cNvSpPr>
          <p:nvPr userDrawn="1"/>
        </p:nvSpPr>
        <p:spPr bwMode="auto">
          <a:xfrm>
            <a:off x="5165725" y="1079500"/>
            <a:ext cx="696913" cy="244475"/>
          </a:xfrm>
          <a:prstGeom prst="rect">
            <a:avLst/>
          </a:prstGeom>
          <a:noFill/>
          <a:ln w="9525">
            <a:noFill/>
            <a:miter lim="800000"/>
            <a:headEnd/>
            <a:tailEnd/>
          </a:ln>
          <a:effectLst/>
        </p:spPr>
        <p:txBody>
          <a:bodyPr wrap="none">
            <a:spAutoFit/>
          </a:bodyPr>
          <a:lstStyle/>
          <a:p>
            <a:pPr>
              <a:defRPr/>
            </a:pPr>
            <a:r>
              <a:rPr lang="en-GB" sz="1000">
                <a:latin typeface="Garamond" pitchFamily="18" charset="0"/>
              </a:rPr>
              <a:t>1D Arrays</a:t>
            </a:r>
          </a:p>
        </p:txBody>
      </p:sp>
      <p:sp>
        <p:nvSpPr>
          <p:cNvPr id="210959" name="Text Box 15"/>
          <p:cNvSpPr txBox="1">
            <a:spLocks noChangeArrowheads="1"/>
          </p:cNvSpPr>
          <p:nvPr userDrawn="1"/>
        </p:nvSpPr>
        <p:spPr bwMode="auto">
          <a:xfrm>
            <a:off x="3935413" y="8755063"/>
            <a:ext cx="2808287" cy="214312"/>
          </a:xfrm>
          <a:prstGeom prst="rect">
            <a:avLst/>
          </a:prstGeom>
          <a:noFill/>
          <a:ln w="9525">
            <a:noFill/>
            <a:miter lim="800000"/>
            <a:headEnd/>
            <a:tailEnd/>
          </a:ln>
          <a:effectLst/>
        </p:spPr>
        <p:txBody>
          <a:bodyPr>
            <a:spAutoFit/>
          </a:bodyPr>
          <a:lstStyle/>
          <a:p>
            <a:pPr algn="r">
              <a:defRPr/>
            </a:pPr>
            <a:r>
              <a:rPr lang="en-GB" sz="800">
                <a:latin typeface="Arial" charset="0"/>
              </a:rPr>
              <a:t>IT1762 Data Structures and Algorithms</a:t>
            </a:r>
          </a:p>
        </p:txBody>
      </p:sp>
    </p:spTree>
    <p:custDataLst>
      <p:tags r:id="rId14"/>
    </p:custDataLst>
  </p:cSld>
  <p:clrMap bg1="lt1" tx1="dk1" bg2="lt2" tx2="dk2" accent1="accent1" accent2="accent2" accent3="accent3" accent4="accent4" accent5="accent5" accent6="accent6" hlink="hlink" folHlink="folHlink"/>
  <p:sldLayoutIdLst>
    <p:sldLayoutId id="2147483676"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Times New Roman" pitchFamily="18" charset="0"/>
        </a:defRPr>
      </a:lvl2pPr>
      <a:lvl3pPr algn="l" rtl="0" eaLnBrk="0" fontAlgn="base" hangingPunct="0">
        <a:spcBef>
          <a:spcPct val="0"/>
        </a:spcBef>
        <a:spcAft>
          <a:spcPct val="0"/>
        </a:spcAft>
        <a:defRPr sz="3600" b="1">
          <a:solidFill>
            <a:schemeClr val="tx2"/>
          </a:solidFill>
          <a:latin typeface="Times New Roman" pitchFamily="18" charset="0"/>
        </a:defRPr>
      </a:lvl3pPr>
      <a:lvl4pPr algn="l" rtl="0" eaLnBrk="0" fontAlgn="base" hangingPunct="0">
        <a:spcBef>
          <a:spcPct val="0"/>
        </a:spcBef>
        <a:spcAft>
          <a:spcPct val="0"/>
        </a:spcAft>
        <a:defRPr sz="3600" b="1">
          <a:solidFill>
            <a:schemeClr val="tx2"/>
          </a:solidFill>
          <a:latin typeface="Times New Roman" pitchFamily="18" charset="0"/>
        </a:defRPr>
      </a:lvl4pPr>
      <a:lvl5pPr algn="l" rtl="0" eaLnBrk="0" fontAlgn="base" hangingPunct="0">
        <a:spcBef>
          <a:spcPct val="0"/>
        </a:spcBef>
        <a:spcAft>
          <a:spcPct val="0"/>
        </a:spcAft>
        <a:defRPr sz="3600" b="1">
          <a:solidFill>
            <a:schemeClr val="tx2"/>
          </a:solidFill>
          <a:latin typeface="Times New Roman" pitchFamily="18" charset="0"/>
        </a:defRPr>
      </a:lvl5pPr>
      <a:lvl6pPr marL="457200" algn="l" rtl="0" fontAlgn="base">
        <a:spcBef>
          <a:spcPct val="0"/>
        </a:spcBef>
        <a:spcAft>
          <a:spcPct val="0"/>
        </a:spcAft>
        <a:defRPr sz="3600" b="1">
          <a:solidFill>
            <a:schemeClr val="tx2"/>
          </a:solidFill>
          <a:latin typeface="Times New Roman" pitchFamily="18" charset="0"/>
        </a:defRPr>
      </a:lvl6pPr>
      <a:lvl7pPr marL="914400" algn="l" rtl="0" fontAlgn="base">
        <a:spcBef>
          <a:spcPct val="0"/>
        </a:spcBef>
        <a:spcAft>
          <a:spcPct val="0"/>
        </a:spcAft>
        <a:defRPr sz="3600" b="1">
          <a:solidFill>
            <a:schemeClr val="tx2"/>
          </a:solidFill>
          <a:latin typeface="Times New Roman" pitchFamily="18" charset="0"/>
        </a:defRPr>
      </a:lvl7pPr>
      <a:lvl8pPr marL="1371600" algn="l" rtl="0" fontAlgn="base">
        <a:spcBef>
          <a:spcPct val="0"/>
        </a:spcBef>
        <a:spcAft>
          <a:spcPct val="0"/>
        </a:spcAft>
        <a:defRPr sz="3600" b="1">
          <a:solidFill>
            <a:schemeClr val="tx2"/>
          </a:solidFill>
          <a:latin typeface="Times New Roman" pitchFamily="18" charset="0"/>
        </a:defRPr>
      </a:lvl8pPr>
      <a:lvl9pPr marL="1828800" algn="l" rtl="0" fontAlgn="base">
        <a:spcBef>
          <a:spcPct val="0"/>
        </a:spcBef>
        <a:spcAft>
          <a:spcPct val="0"/>
        </a:spcAft>
        <a:defRPr sz="36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folHlink"/>
        </a:buClr>
        <a:buSzPct val="90000"/>
        <a:buFont typeface="Wingdings"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itchFamily="2" charset="2"/>
        <a:buChar char="n"/>
        <a:defRPr sz="2000">
          <a:solidFill>
            <a:schemeClr val="tx1"/>
          </a:solidFill>
          <a:latin typeface="+mn-lt"/>
        </a:defRPr>
      </a:lvl2pPr>
      <a:lvl3pPr marL="1143000" indent="-228600" algn="l" rtl="0" eaLnBrk="0" fontAlgn="base" hangingPunct="0">
        <a:spcBef>
          <a:spcPct val="20000"/>
        </a:spcBef>
        <a:spcAft>
          <a:spcPct val="0"/>
        </a:spcAft>
        <a:buClr>
          <a:schemeClr val="folHlink"/>
        </a:buClr>
        <a:buSzPct val="55000"/>
        <a:buFont typeface="Wingdings" pitchFamily="2" charset="2"/>
        <a:buChar char="n"/>
        <a:defRPr>
          <a:solidFill>
            <a:schemeClr val="tx1"/>
          </a:solidFill>
          <a:latin typeface="+mn-lt"/>
        </a:defRPr>
      </a:lvl3pPr>
      <a:lvl4pPr marL="1600200" indent="-228600" algn="l" rtl="0" eaLnBrk="0" fontAlgn="base" hangingPunct="0">
        <a:spcBef>
          <a:spcPct val="20000"/>
        </a:spcBef>
        <a:spcAft>
          <a:spcPct val="0"/>
        </a:spcAft>
        <a:buClr>
          <a:schemeClr val="accent1"/>
        </a:buClr>
        <a:buFont typeface="Wingdings" pitchFamily="2" charset="2"/>
        <a:buChar char="§"/>
        <a:defRPr>
          <a:solidFill>
            <a:schemeClr val="tx1"/>
          </a:solidFill>
          <a:latin typeface="+mn-lt"/>
        </a:defRPr>
      </a:lvl4pPr>
      <a:lvl5pPr marL="2057400" indent="-228600" algn="l" rtl="0" eaLnBrk="0" fontAlgn="base" hangingPunct="0">
        <a:spcBef>
          <a:spcPct val="20000"/>
        </a:spcBef>
        <a:spcAft>
          <a:spcPct val="0"/>
        </a:spcAft>
        <a:buClr>
          <a:schemeClr val="accent1"/>
        </a:buClr>
        <a:buFont typeface="Wingdings" pitchFamily="2" charset="2"/>
        <a:buChar char="§"/>
        <a:defRPr>
          <a:solidFill>
            <a:schemeClr val="tx1"/>
          </a:solidFill>
          <a:latin typeface="+mn-lt"/>
        </a:defRPr>
      </a:lvl5pPr>
      <a:lvl6pPr marL="2514600" indent="-228600" algn="l" rtl="0" fontAlgn="base">
        <a:spcBef>
          <a:spcPct val="20000"/>
        </a:spcBef>
        <a:spcAft>
          <a:spcPct val="0"/>
        </a:spcAft>
        <a:buClr>
          <a:schemeClr val="accent1"/>
        </a:buClr>
        <a:buFont typeface="Wingdings" pitchFamily="2" charset="2"/>
        <a:buChar char="§"/>
        <a:defRPr>
          <a:solidFill>
            <a:schemeClr val="tx1"/>
          </a:solidFill>
          <a:latin typeface="+mn-lt"/>
        </a:defRPr>
      </a:lvl6pPr>
      <a:lvl7pPr marL="2971800" indent="-228600" algn="l" rtl="0" fontAlgn="base">
        <a:spcBef>
          <a:spcPct val="20000"/>
        </a:spcBef>
        <a:spcAft>
          <a:spcPct val="0"/>
        </a:spcAft>
        <a:buClr>
          <a:schemeClr val="accent1"/>
        </a:buClr>
        <a:buFont typeface="Wingdings" pitchFamily="2" charset="2"/>
        <a:buChar char="§"/>
        <a:defRPr>
          <a:solidFill>
            <a:schemeClr val="tx1"/>
          </a:solidFill>
          <a:latin typeface="+mn-lt"/>
        </a:defRPr>
      </a:lvl7pPr>
      <a:lvl8pPr marL="3429000" indent="-228600" algn="l" rtl="0" fontAlgn="base">
        <a:spcBef>
          <a:spcPct val="20000"/>
        </a:spcBef>
        <a:spcAft>
          <a:spcPct val="0"/>
        </a:spcAft>
        <a:buClr>
          <a:schemeClr val="accent1"/>
        </a:buClr>
        <a:buFont typeface="Wingdings" pitchFamily="2" charset="2"/>
        <a:buChar char="§"/>
        <a:defRPr>
          <a:solidFill>
            <a:schemeClr val="tx1"/>
          </a:solidFill>
          <a:latin typeface="+mn-lt"/>
        </a:defRPr>
      </a:lvl8pPr>
      <a:lvl9pPr marL="3886200" indent="-228600" algn="l" rtl="0" fontAlgn="base">
        <a:spcBef>
          <a:spcPct val="20000"/>
        </a:spcBef>
        <a:spcAft>
          <a:spcPct val="0"/>
        </a:spcAft>
        <a:buClr>
          <a:schemeClr val="accent1"/>
        </a:buClr>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5.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400175" y="1493838"/>
            <a:ext cx="4972050" cy="2946400"/>
          </a:xfrm>
        </p:spPr>
        <p:txBody>
          <a:bodyPr/>
          <a:lstStyle/>
          <a:p>
            <a:pPr algn="ctr" eaLnBrk="1" hangingPunct="1"/>
            <a:r>
              <a:rPr lang="en-GB" sz="3800"/>
              <a:t>IT1762</a:t>
            </a:r>
            <a:br>
              <a:rPr lang="en-GB" sz="3800"/>
            </a:br>
            <a:r>
              <a:rPr lang="en-GB" sz="3800"/>
              <a:t>Data Structures &amp; Algorithms</a:t>
            </a:r>
          </a:p>
        </p:txBody>
      </p:sp>
      <p:sp>
        <p:nvSpPr>
          <p:cNvPr id="3075" name="Rectangle 3"/>
          <p:cNvSpPr>
            <a:spLocks noGrp="1" noChangeArrowheads="1"/>
          </p:cNvSpPr>
          <p:nvPr>
            <p:ph type="subTitle" idx="1"/>
          </p:nvPr>
        </p:nvSpPr>
        <p:spPr>
          <a:xfrm>
            <a:off x="679450" y="5043488"/>
            <a:ext cx="5834063" cy="2336800"/>
          </a:xfrm>
        </p:spPr>
        <p:txBody>
          <a:bodyPr/>
          <a:lstStyle/>
          <a:p>
            <a:pPr eaLnBrk="1" hangingPunct="1"/>
            <a:r>
              <a:rPr lang="en-GB" sz="2800" dirty="0"/>
              <a:t>Topic 2A</a:t>
            </a:r>
          </a:p>
          <a:p>
            <a:pPr eaLnBrk="1" hangingPunct="1"/>
            <a:r>
              <a:rPr lang="en-GB" sz="2800" i="1" dirty="0">
                <a:solidFill>
                  <a:srgbClr val="FF0000"/>
                </a:solidFill>
              </a:rPr>
              <a:t>1 Dimensional Arrays</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GB"/>
              <a:t>Topics</a:t>
            </a:r>
          </a:p>
        </p:txBody>
      </p:sp>
      <p:sp>
        <p:nvSpPr>
          <p:cNvPr id="7171" name="Rectangle 3"/>
          <p:cNvSpPr>
            <a:spLocks noGrp="1" noChangeArrowheads="1"/>
          </p:cNvSpPr>
          <p:nvPr>
            <p:ph type="body" idx="1"/>
          </p:nvPr>
        </p:nvSpPr>
        <p:spPr>
          <a:xfrm>
            <a:off x="685800" y="1394460"/>
            <a:ext cx="5829300" cy="6779578"/>
          </a:xfrm>
        </p:spPr>
        <p:txBody>
          <a:bodyPr/>
          <a:lstStyle/>
          <a:p>
            <a:pPr eaLnBrk="1" hangingPunct="1"/>
            <a:r>
              <a:rPr lang="en-GB" dirty="0">
                <a:effectLst>
                  <a:outerShdw blurRad="38100" dist="38100" dir="2700000" algn="tl">
                    <a:srgbClr val="FFFFFF"/>
                  </a:outerShdw>
                </a:effectLst>
              </a:rPr>
              <a:t>Array Declaration &amp; Initialisation</a:t>
            </a:r>
          </a:p>
          <a:p>
            <a:pPr eaLnBrk="1" hangingPunct="1">
              <a:defRPr/>
            </a:pPr>
            <a:r>
              <a:rPr lang="en-GB" dirty="0">
                <a:effectLst>
                  <a:outerShdw blurRad="38100" dist="38100" dir="2700000" algn="tl">
                    <a:srgbClr val="FFFFFF"/>
                  </a:outerShdw>
                </a:effectLst>
              </a:rPr>
              <a:t>Accessing data in arrays</a:t>
            </a:r>
          </a:p>
          <a:p>
            <a:pPr eaLnBrk="1" hangingPunct="1">
              <a:defRPr/>
            </a:pPr>
            <a:endParaRPr lang="en-GB" dirty="0">
              <a:effectLst>
                <a:outerShdw blurRad="38100" dist="38100" dir="2700000" algn="tl">
                  <a:srgbClr val="FFFFFF"/>
                </a:outerShdw>
              </a:effectLst>
            </a:endParaRPr>
          </a:p>
          <a:p>
            <a:pPr eaLnBrk="1" hangingPunct="1">
              <a:buFont typeface="Wingdings" pitchFamily="2" charset="2"/>
              <a:buNone/>
              <a:defRPr/>
            </a:pPr>
            <a:r>
              <a:rPr lang="en-GB" b="1" dirty="0">
                <a:effectLst>
                  <a:outerShdw blurRad="38100" dist="38100" dir="2700000" algn="tl">
                    <a:srgbClr val="FFFFFF"/>
                  </a:outerShdw>
                </a:effectLst>
              </a:rPr>
              <a:t>Objectives:</a:t>
            </a:r>
          </a:p>
          <a:p>
            <a:pPr eaLnBrk="1" hangingPunct="1">
              <a:spcBef>
                <a:spcPct val="100000"/>
              </a:spcBef>
              <a:defRPr/>
            </a:pPr>
            <a:r>
              <a:rPr lang="en-US" dirty="0"/>
              <a:t>Be able to declare, create and initialize one-dimensional arrays.</a:t>
            </a:r>
          </a:p>
          <a:p>
            <a:pPr eaLnBrk="1" hangingPunct="1">
              <a:spcBef>
                <a:spcPct val="100000"/>
              </a:spcBef>
              <a:defRPr/>
            </a:pPr>
            <a:r>
              <a:rPr lang="en-US" dirty="0"/>
              <a:t>Be able to store and retrieve data items inside arrays.</a:t>
            </a:r>
            <a:endParaRPr lang="en-GB" dirty="0">
              <a:effectLst>
                <a:outerShdw blurRad="38100" dist="38100" dir="2700000" algn="tl">
                  <a:srgbClr val="FFFFFF"/>
                </a:outerShdw>
              </a:effectLst>
            </a:endParaRPr>
          </a:p>
          <a:p>
            <a:pPr eaLnBrk="1" hangingPunct="1">
              <a:defRPr/>
            </a:pPr>
            <a:endParaRPr lang="en-GB" dirty="0">
              <a:effectLst>
                <a:outerShdw blurRad="38100" dist="38100" dir="2700000" algn="tl">
                  <a:srgbClr val="FFFFFF"/>
                </a:outerShdw>
              </a:effectLst>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What is an Array ?</a:t>
            </a:r>
          </a:p>
        </p:txBody>
      </p:sp>
      <p:sp>
        <p:nvSpPr>
          <p:cNvPr id="5123" name="Rectangle 3"/>
          <p:cNvSpPr>
            <a:spLocks noGrp="1" noChangeArrowheads="1"/>
          </p:cNvSpPr>
          <p:nvPr>
            <p:ph type="body" sz="half" idx="1"/>
          </p:nvPr>
        </p:nvSpPr>
        <p:spPr>
          <a:xfrm>
            <a:off x="685800" y="1450975"/>
            <a:ext cx="5943600" cy="7369175"/>
          </a:xfrm>
        </p:spPr>
        <p:txBody>
          <a:bodyPr/>
          <a:lstStyle/>
          <a:p>
            <a:pPr eaLnBrk="1" hangingPunct="1">
              <a:lnSpc>
                <a:spcPct val="90000"/>
              </a:lnSpc>
              <a:spcBef>
                <a:spcPct val="50000"/>
              </a:spcBef>
            </a:pPr>
            <a:r>
              <a:rPr lang="en-US" sz="2000"/>
              <a:t>An array is a collection of  elements of the </a:t>
            </a:r>
            <a:r>
              <a:rPr lang="en-US" sz="2000" u="sng"/>
              <a:t>same data type</a:t>
            </a:r>
            <a:r>
              <a:rPr lang="en-US" sz="2000"/>
              <a:t>.</a:t>
            </a:r>
          </a:p>
          <a:p>
            <a:pPr eaLnBrk="1" hangingPunct="1">
              <a:lnSpc>
                <a:spcPct val="90000"/>
              </a:lnSpc>
              <a:spcBef>
                <a:spcPct val="50000"/>
              </a:spcBef>
            </a:pPr>
            <a:r>
              <a:rPr lang="en-US" sz="2000"/>
              <a:t>Recall what is a variable:</a:t>
            </a:r>
          </a:p>
          <a:p>
            <a:pPr eaLnBrk="1" hangingPunct="1">
              <a:lnSpc>
                <a:spcPct val="90000"/>
              </a:lnSpc>
              <a:spcBef>
                <a:spcPct val="50000"/>
              </a:spcBef>
              <a:buFont typeface="Wingdings" pitchFamily="2" charset="2"/>
              <a:buNone/>
            </a:pPr>
            <a:r>
              <a:rPr lang="en-US" sz="2000"/>
              <a:t>    int age = 42;</a:t>
            </a:r>
          </a:p>
          <a:p>
            <a:pPr eaLnBrk="1" hangingPunct="1">
              <a:lnSpc>
                <a:spcPct val="90000"/>
              </a:lnSpc>
              <a:spcBef>
                <a:spcPct val="50000"/>
              </a:spcBef>
              <a:buFont typeface="Wingdings" pitchFamily="2" charset="2"/>
              <a:buNone/>
            </a:pPr>
            <a:endParaRPr lang="en-US" sz="2000"/>
          </a:p>
          <a:p>
            <a:pPr eaLnBrk="1" hangingPunct="1">
              <a:lnSpc>
                <a:spcPct val="90000"/>
              </a:lnSpc>
              <a:spcBef>
                <a:spcPct val="50000"/>
              </a:spcBef>
            </a:pPr>
            <a:endParaRPr lang="en-US" sz="2000"/>
          </a:p>
          <a:p>
            <a:pPr eaLnBrk="1" hangingPunct="1">
              <a:lnSpc>
                <a:spcPct val="90000"/>
              </a:lnSpc>
              <a:spcBef>
                <a:spcPct val="50000"/>
              </a:spcBef>
            </a:pPr>
            <a:r>
              <a:rPr lang="en-US" sz="2000"/>
              <a:t>An array is like many variables joined together to form a group or collection of variables.</a:t>
            </a:r>
          </a:p>
          <a:p>
            <a:pPr eaLnBrk="1" hangingPunct="1">
              <a:lnSpc>
                <a:spcPct val="90000"/>
              </a:lnSpc>
              <a:spcBef>
                <a:spcPct val="50000"/>
              </a:spcBef>
            </a:pPr>
            <a:endParaRPr lang="en-US" sz="2000"/>
          </a:p>
          <a:p>
            <a:pPr eaLnBrk="1" hangingPunct="1">
              <a:lnSpc>
                <a:spcPct val="90000"/>
              </a:lnSpc>
              <a:spcBef>
                <a:spcPct val="50000"/>
              </a:spcBef>
            </a:pPr>
            <a:endParaRPr lang="en-US" sz="2000"/>
          </a:p>
          <a:p>
            <a:pPr eaLnBrk="1" hangingPunct="1">
              <a:lnSpc>
                <a:spcPct val="90000"/>
              </a:lnSpc>
              <a:spcBef>
                <a:spcPct val="50000"/>
              </a:spcBef>
            </a:pPr>
            <a:endParaRPr lang="en-US" sz="2000"/>
          </a:p>
          <a:p>
            <a:pPr eaLnBrk="1" hangingPunct="1">
              <a:lnSpc>
                <a:spcPct val="90000"/>
              </a:lnSpc>
              <a:spcBef>
                <a:spcPct val="50000"/>
              </a:spcBef>
            </a:pPr>
            <a:endParaRPr lang="en-US" sz="2000"/>
          </a:p>
          <a:p>
            <a:pPr eaLnBrk="1" hangingPunct="1">
              <a:lnSpc>
                <a:spcPct val="90000"/>
              </a:lnSpc>
              <a:spcBef>
                <a:spcPct val="50000"/>
              </a:spcBef>
            </a:pPr>
            <a:r>
              <a:rPr lang="en-US" sz="2000"/>
              <a:t>An array can only store the same type of data ie. all integers or all float.  You cannot have different type of data in the same array ie. integer and float together.</a:t>
            </a:r>
          </a:p>
        </p:txBody>
      </p:sp>
      <p:grpSp>
        <p:nvGrpSpPr>
          <p:cNvPr id="5124" name="Group 4"/>
          <p:cNvGrpSpPr>
            <a:grpSpLocks/>
          </p:cNvGrpSpPr>
          <p:nvPr/>
        </p:nvGrpSpPr>
        <p:grpSpPr bwMode="auto">
          <a:xfrm>
            <a:off x="5227638" y="2311400"/>
            <a:ext cx="982662" cy="1249363"/>
            <a:chOff x="3119" y="1913"/>
            <a:chExt cx="619" cy="787"/>
          </a:xfrm>
        </p:grpSpPr>
        <p:sp>
          <p:nvSpPr>
            <p:cNvPr id="5138" name="Rectangle 5"/>
            <p:cNvSpPr>
              <a:spLocks noChangeArrowheads="1"/>
            </p:cNvSpPr>
            <p:nvPr/>
          </p:nvSpPr>
          <p:spPr bwMode="auto">
            <a:xfrm>
              <a:off x="3119" y="1913"/>
              <a:ext cx="587" cy="445"/>
            </a:xfrm>
            <a:prstGeom prst="rect">
              <a:avLst/>
            </a:prstGeom>
            <a:solidFill>
              <a:srgbClr val="FFFF00"/>
            </a:solidFill>
            <a:ln w="9525">
              <a:solidFill>
                <a:schemeClr val="tx1"/>
              </a:solidFill>
              <a:miter lim="800000"/>
              <a:headEnd/>
              <a:tailEnd/>
            </a:ln>
          </p:spPr>
          <p:txBody>
            <a:bodyPr wrap="none" anchor="ctr"/>
            <a:lstStyle/>
            <a:p>
              <a:pPr algn="ctr"/>
              <a:r>
                <a:rPr lang="en-US" sz="2400" b="1"/>
                <a:t>42</a:t>
              </a:r>
            </a:p>
          </p:txBody>
        </p:sp>
        <p:sp>
          <p:nvSpPr>
            <p:cNvPr id="5139" name="Text Box 6"/>
            <p:cNvSpPr txBox="1">
              <a:spLocks noChangeArrowheads="1"/>
            </p:cNvSpPr>
            <p:nvPr/>
          </p:nvSpPr>
          <p:spPr bwMode="auto">
            <a:xfrm>
              <a:off x="3173" y="2412"/>
              <a:ext cx="565" cy="288"/>
            </a:xfrm>
            <a:prstGeom prst="rect">
              <a:avLst/>
            </a:prstGeom>
            <a:noFill/>
            <a:ln w="9525">
              <a:noFill/>
              <a:miter lim="800000"/>
              <a:headEnd/>
              <a:tailEnd/>
            </a:ln>
          </p:spPr>
          <p:txBody>
            <a:bodyPr>
              <a:spAutoFit/>
            </a:bodyPr>
            <a:lstStyle/>
            <a:p>
              <a:pPr>
                <a:spcBef>
                  <a:spcPct val="50000"/>
                </a:spcBef>
              </a:pPr>
              <a:r>
                <a:rPr lang="en-US" sz="2400" b="1"/>
                <a:t>age</a:t>
              </a:r>
            </a:p>
          </p:txBody>
        </p:sp>
      </p:grpSp>
      <p:grpSp>
        <p:nvGrpSpPr>
          <p:cNvPr id="5125" name="Group 20"/>
          <p:cNvGrpSpPr>
            <a:grpSpLocks/>
          </p:cNvGrpSpPr>
          <p:nvPr/>
        </p:nvGrpSpPr>
        <p:grpSpPr bwMode="auto">
          <a:xfrm>
            <a:off x="1846263" y="4827588"/>
            <a:ext cx="3209925" cy="1038225"/>
            <a:chOff x="1174" y="2737"/>
            <a:chExt cx="2022" cy="654"/>
          </a:xfrm>
        </p:grpSpPr>
        <p:sp>
          <p:nvSpPr>
            <p:cNvPr id="5126" name="Rectangle 8"/>
            <p:cNvSpPr>
              <a:spLocks noChangeArrowheads="1"/>
            </p:cNvSpPr>
            <p:nvPr/>
          </p:nvSpPr>
          <p:spPr bwMode="auto">
            <a:xfrm>
              <a:off x="2592" y="2737"/>
              <a:ext cx="447" cy="351"/>
            </a:xfrm>
            <a:prstGeom prst="rect">
              <a:avLst/>
            </a:prstGeom>
            <a:solidFill>
              <a:srgbClr val="66FFFF"/>
            </a:solidFill>
            <a:ln w="9525">
              <a:noFill/>
              <a:miter lim="800000"/>
              <a:headEnd/>
              <a:tailEnd/>
            </a:ln>
          </p:spPr>
          <p:txBody>
            <a:bodyPr/>
            <a:lstStyle/>
            <a:p>
              <a:pPr algn="ctr">
                <a:spcBef>
                  <a:spcPct val="20000"/>
                </a:spcBef>
                <a:buClr>
                  <a:schemeClr val="folHlink"/>
                </a:buClr>
                <a:buSzPct val="90000"/>
                <a:buFont typeface="Wingdings" pitchFamily="2" charset="2"/>
                <a:buNone/>
              </a:pPr>
              <a:r>
                <a:rPr lang="en-US" sz="2000">
                  <a:latin typeface="Arial" charset="0"/>
                </a:rPr>
                <a:t>66</a:t>
              </a:r>
            </a:p>
          </p:txBody>
        </p:sp>
        <p:sp>
          <p:nvSpPr>
            <p:cNvPr id="5127" name="Rectangle 9"/>
            <p:cNvSpPr>
              <a:spLocks noChangeArrowheads="1"/>
            </p:cNvSpPr>
            <p:nvPr/>
          </p:nvSpPr>
          <p:spPr bwMode="auto">
            <a:xfrm>
              <a:off x="2145" y="2737"/>
              <a:ext cx="447" cy="351"/>
            </a:xfrm>
            <a:prstGeom prst="rect">
              <a:avLst/>
            </a:prstGeom>
            <a:solidFill>
              <a:srgbClr val="66FFFF"/>
            </a:solidFill>
            <a:ln w="9525">
              <a:noFill/>
              <a:miter lim="800000"/>
              <a:headEnd/>
              <a:tailEnd/>
            </a:ln>
          </p:spPr>
          <p:txBody>
            <a:bodyPr/>
            <a:lstStyle/>
            <a:p>
              <a:pPr algn="ctr">
                <a:spcBef>
                  <a:spcPct val="20000"/>
                </a:spcBef>
                <a:buClr>
                  <a:schemeClr val="folHlink"/>
                </a:buClr>
                <a:buSzPct val="90000"/>
                <a:buFont typeface="Wingdings" pitchFamily="2" charset="2"/>
                <a:buNone/>
              </a:pPr>
              <a:r>
                <a:rPr lang="en-US" sz="2000">
                  <a:latin typeface="Arial" charset="0"/>
                </a:rPr>
                <a:t>5</a:t>
              </a:r>
            </a:p>
          </p:txBody>
        </p:sp>
        <p:sp>
          <p:nvSpPr>
            <p:cNvPr id="5128" name="Rectangle 10"/>
            <p:cNvSpPr>
              <a:spLocks noChangeArrowheads="1"/>
            </p:cNvSpPr>
            <p:nvPr/>
          </p:nvSpPr>
          <p:spPr bwMode="auto">
            <a:xfrm>
              <a:off x="1698" y="2737"/>
              <a:ext cx="447" cy="351"/>
            </a:xfrm>
            <a:prstGeom prst="rect">
              <a:avLst/>
            </a:prstGeom>
            <a:solidFill>
              <a:srgbClr val="66FFFF"/>
            </a:solidFill>
            <a:ln w="9525">
              <a:noFill/>
              <a:miter lim="800000"/>
              <a:headEnd/>
              <a:tailEnd/>
            </a:ln>
          </p:spPr>
          <p:txBody>
            <a:bodyPr/>
            <a:lstStyle/>
            <a:p>
              <a:pPr algn="ctr">
                <a:spcBef>
                  <a:spcPct val="20000"/>
                </a:spcBef>
                <a:buClr>
                  <a:schemeClr val="folHlink"/>
                </a:buClr>
                <a:buSzPct val="90000"/>
                <a:buFont typeface="Wingdings" pitchFamily="2" charset="2"/>
                <a:buNone/>
              </a:pPr>
              <a:r>
                <a:rPr lang="en-US" sz="2000">
                  <a:latin typeface="Arial" charset="0"/>
                </a:rPr>
                <a:t>33</a:t>
              </a:r>
            </a:p>
          </p:txBody>
        </p:sp>
        <p:sp>
          <p:nvSpPr>
            <p:cNvPr id="5129" name="Rectangle 11"/>
            <p:cNvSpPr>
              <a:spLocks noChangeArrowheads="1"/>
            </p:cNvSpPr>
            <p:nvPr/>
          </p:nvSpPr>
          <p:spPr bwMode="auto">
            <a:xfrm>
              <a:off x="1251" y="2737"/>
              <a:ext cx="447" cy="351"/>
            </a:xfrm>
            <a:prstGeom prst="rect">
              <a:avLst/>
            </a:prstGeom>
            <a:solidFill>
              <a:srgbClr val="66FFFF"/>
            </a:solidFill>
            <a:ln w="9525">
              <a:noFill/>
              <a:miter lim="800000"/>
              <a:headEnd/>
              <a:tailEnd/>
            </a:ln>
          </p:spPr>
          <p:txBody>
            <a:bodyPr/>
            <a:lstStyle/>
            <a:p>
              <a:pPr algn="ctr">
                <a:spcBef>
                  <a:spcPct val="20000"/>
                </a:spcBef>
                <a:buClr>
                  <a:schemeClr val="folHlink"/>
                </a:buClr>
                <a:buSzPct val="90000"/>
                <a:buFont typeface="Wingdings" pitchFamily="2" charset="2"/>
                <a:buNone/>
              </a:pPr>
              <a:r>
                <a:rPr lang="en-US" sz="2000">
                  <a:latin typeface="Arial" charset="0"/>
                </a:rPr>
                <a:t>21</a:t>
              </a:r>
            </a:p>
          </p:txBody>
        </p:sp>
        <p:sp>
          <p:nvSpPr>
            <p:cNvPr id="5130" name="Line 12"/>
            <p:cNvSpPr>
              <a:spLocks noChangeShapeType="1"/>
            </p:cNvSpPr>
            <p:nvPr/>
          </p:nvSpPr>
          <p:spPr bwMode="auto">
            <a:xfrm>
              <a:off x="1251" y="2737"/>
              <a:ext cx="1788" cy="0"/>
            </a:xfrm>
            <a:prstGeom prst="line">
              <a:avLst/>
            </a:prstGeom>
            <a:noFill/>
            <a:ln w="28575" cap="sq">
              <a:solidFill>
                <a:schemeClr val="tx1"/>
              </a:solidFill>
              <a:round/>
              <a:headEnd/>
              <a:tailEnd/>
            </a:ln>
          </p:spPr>
          <p:txBody>
            <a:bodyPr/>
            <a:lstStyle/>
            <a:p>
              <a:endParaRPr lang="en-US"/>
            </a:p>
          </p:txBody>
        </p:sp>
        <p:sp>
          <p:nvSpPr>
            <p:cNvPr id="5131" name="Line 13"/>
            <p:cNvSpPr>
              <a:spLocks noChangeShapeType="1"/>
            </p:cNvSpPr>
            <p:nvPr/>
          </p:nvSpPr>
          <p:spPr bwMode="auto">
            <a:xfrm>
              <a:off x="1251" y="3088"/>
              <a:ext cx="1788" cy="0"/>
            </a:xfrm>
            <a:prstGeom prst="line">
              <a:avLst/>
            </a:prstGeom>
            <a:noFill/>
            <a:ln w="28575" cap="sq">
              <a:solidFill>
                <a:schemeClr val="tx1"/>
              </a:solidFill>
              <a:round/>
              <a:headEnd/>
              <a:tailEnd/>
            </a:ln>
          </p:spPr>
          <p:txBody>
            <a:bodyPr/>
            <a:lstStyle/>
            <a:p>
              <a:endParaRPr lang="en-US"/>
            </a:p>
          </p:txBody>
        </p:sp>
        <p:sp>
          <p:nvSpPr>
            <p:cNvPr id="5132" name="Line 14"/>
            <p:cNvSpPr>
              <a:spLocks noChangeShapeType="1"/>
            </p:cNvSpPr>
            <p:nvPr/>
          </p:nvSpPr>
          <p:spPr bwMode="auto">
            <a:xfrm>
              <a:off x="1251" y="2737"/>
              <a:ext cx="0" cy="351"/>
            </a:xfrm>
            <a:prstGeom prst="line">
              <a:avLst/>
            </a:prstGeom>
            <a:noFill/>
            <a:ln w="28575" cap="sq">
              <a:solidFill>
                <a:schemeClr val="tx1"/>
              </a:solidFill>
              <a:round/>
              <a:headEnd/>
              <a:tailEnd/>
            </a:ln>
          </p:spPr>
          <p:txBody>
            <a:bodyPr/>
            <a:lstStyle/>
            <a:p>
              <a:endParaRPr lang="en-US"/>
            </a:p>
          </p:txBody>
        </p:sp>
        <p:sp>
          <p:nvSpPr>
            <p:cNvPr id="5133" name="Line 15"/>
            <p:cNvSpPr>
              <a:spLocks noChangeShapeType="1"/>
            </p:cNvSpPr>
            <p:nvPr/>
          </p:nvSpPr>
          <p:spPr bwMode="auto">
            <a:xfrm>
              <a:off x="1698" y="2737"/>
              <a:ext cx="0" cy="351"/>
            </a:xfrm>
            <a:prstGeom prst="line">
              <a:avLst/>
            </a:prstGeom>
            <a:noFill/>
            <a:ln w="12700">
              <a:solidFill>
                <a:schemeClr val="tx1"/>
              </a:solidFill>
              <a:round/>
              <a:headEnd/>
              <a:tailEnd/>
            </a:ln>
          </p:spPr>
          <p:txBody>
            <a:bodyPr/>
            <a:lstStyle/>
            <a:p>
              <a:endParaRPr lang="en-US"/>
            </a:p>
          </p:txBody>
        </p:sp>
        <p:sp>
          <p:nvSpPr>
            <p:cNvPr id="5134" name="Line 16"/>
            <p:cNvSpPr>
              <a:spLocks noChangeShapeType="1"/>
            </p:cNvSpPr>
            <p:nvPr/>
          </p:nvSpPr>
          <p:spPr bwMode="auto">
            <a:xfrm>
              <a:off x="2145" y="2737"/>
              <a:ext cx="0" cy="351"/>
            </a:xfrm>
            <a:prstGeom prst="line">
              <a:avLst/>
            </a:prstGeom>
            <a:noFill/>
            <a:ln w="12700">
              <a:solidFill>
                <a:schemeClr val="tx1"/>
              </a:solidFill>
              <a:round/>
              <a:headEnd/>
              <a:tailEnd/>
            </a:ln>
          </p:spPr>
          <p:txBody>
            <a:bodyPr/>
            <a:lstStyle/>
            <a:p>
              <a:endParaRPr lang="en-US"/>
            </a:p>
          </p:txBody>
        </p:sp>
        <p:sp>
          <p:nvSpPr>
            <p:cNvPr id="5135" name="Line 17"/>
            <p:cNvSpPr>
              <a:spLocks noChangeShapeType="1"/>
            </p:cNvSpPr>
            <p:nvPr/>
          </p:nvSpPr>
          <p:spPr bwMode="auto">
            <a:xfrm>
              <a:off x="2592" y="2737"/>
              <a:ext cx="0" cy="351"/>
            </a:xfrm>
            <a:prstGeom prst="line">
              <a:avLst/>
            </a:prstGeom>
            <a:noFill/>
            <a:ln w="12700">
              <a:solidFill>
                <a:schemeClr val="tx1"/>
              </a:solidFill>
              <a:round/>
              <a:headEnd/>
              <a:tailEnd/>
            </a:ln>
          </p:spPr>
          <p:txBody>
            <a:bodyPr/>
            <a:lstStyle/>
            <a:p>
              <a:endParaRPr lang="en-US"/>
            </a:p>
          </p:txBody>
        </p:sp>
        <p:sp>
          <p:nvSpPr>
            <p:cNvPr id="5136" name="Line 18"/>
            <p:cNvSpPr>
              <a:spLocks noChangeShapeType="1"/>
            </p:cNvSpPr>
            <p:nvPr/>
          </p:nvSpPr>
          <p:spPr bwMode="auto">
            <a:xfrm>
              <a:off x="3039" y="2737"/>
              <a:ext cx="0" cy="351"/>
            </a:xfrm>
            <a:prstGeom prst="line">
              <a:avLst/>
            </a:prstGeom>
            <a:noFill/>
            <a:ln w="28575" cap="sq">
              <a:solidFill>
                <a:schemeClr val="tx1"/>
              </a:solidFill>
              <a:round/>
              <a:headEnd/>
              <a:tailEnd/>
            </a:ln>
          </p:spPr>
          <p:txBody>
            <a:bodyPr/>
            <a:lstStyle/>
            <a:p>
              <a:endParaRPr lang="en-US"/>
            </a:p>
          </p:txBody>
        </p:sp>
        <p:sp>
          <p:nvSpPr>
            <p:cNvPr id="5137" name="Text Box 19"/>
            <p:cNvSpPr txBox="1">
              <a:spLocks noChangeArrowheads="1"/>
            </p:cNvSpPr>
            <p:nvPr/>
          </p:nvSpPr>
          <p:spPr bwMode="auto">
            <a:xfrm>
              <a:off x="1174" y="3141"/>
              <a:ext cx="2022" cy="250"/>
            </a:xfrm>
            <a:prstGeom prst="rect">
              <a:avLst/>
            </a:prstGeom>
            <a:noFill/>
            <a:ln w="9525">
              <a:noFill/>
              <a:miter lim="800000"/>
              <a:headEnd/>
              <a:tailEnd/>
            </a:ln>
          </p:spPr>
          <p:txBody>
            <a:bodyPr>
              <a:spAutoFit/>
            </a:bodyPr>
            <a:lstStyle/>
            <a:p>
              <a:pPr>
                <a:spcBef>
                  <a:spcPct val="50000"/>
                </a:spcBef>
              </a:pPr>
              <a:r>
                <a:rPr lang="en-US" sz="2000" b="1"/>
                <a:t>An array of integers</a:t>
              </a:r>
            </a:p>
          </p:txBody>
        </p:sp>
      </p:gr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body" idx="1"/>
          </p:nvPr>
        </p:nvSpPr>
        <p:spPr>
          <a:xfrm>
            <a:off x="620713" y="1403350"/>
            <a:ext cx="6107112" cy="7562850"/>
          </a:xfrm>
          <a:noFill/>
        </p:spPr>
        <p:txBody>
          <a:bodyPr lIns="90488" tIns="44450" rIns="90488" bIns="44450"/>
          <a:lstStyle/>
          <a:p>
            <a:pPr marL="363538" indent="-363538" eaLnBrk="1" hangingPunct="1">
              <a:spcBef>
                <a:spcPct val="30000"/>
              </a:spcBef>
            </a:pPr>
            <a:r>
              <a:rPr lang="en-US" sz="1800"/>
              <a:t>The syntax for an array declaration:</a:t>
            </a:r>
          </a:p>
          <a:p>
            <a:pPr marL="542925" lvl="1" indent="7938" eaLnBrk="1" hangingPunct="1">
              <a:spcBef>
                <a:spcPct val="30000"/>
              </a:spcBef>
            </a:pPr>
            <a:r>
              <a:rPr lang="en-US" sz="1700" b="1" i="1"/>
              <a:t>	</a:t>
            </a:r>
            <a:r>
              <a:rPr lang="en-US" sz="1700" b="1" i="1">
                <a:solidFill>
                  <a:srgbClr val="FF0000"/>
                </a:solidFill>
              </a:rPr>
              <a:t>data_type</a:t>
            </a:r>
            <a:r>
              <a:rPr lang="en-US" sz="1700" b="1">
                <a:solidFill>
                  <a:srgbClr val="FF0000"/>
                </a:solidFill>
              </a:rPr>
              <a:t> [ ] array</a:t>
            </a:r>
            <a:r>
              <a:rPr lang="en-US" sz="1700" b="1" i="1">
                <a:solidFill>
                  <a:srgbClr val="FF0000"/>
                </a:solidFill>
              </a:rPr>
              <a:t>Name</a:t>
            </a:r>
            <a:r>
              <a:rPr lang="en-US" sz="1700" b="1">
                <a:solidFill>
                  <a:srgbClr val="FF0000"/>
                </a:solidFill>
              </a:rPr>
              <a:t>;</a:t>
            </a:r>
          </a:p>
          <a:p>
            <a:pPr marL="363538" indent="-363538" eaLnBrk="1" hangingPunct="1">
              <a:spcBef>
                <a:spcPct val="30000"/>
              </a:spcBef>
              <a:buFont typeface="Wingdings" pitchFamily="2" charset="2"/>
              <a:buNone/>
            </a:pPr>
            <a:r>
              <a:rPr lang="en-US" sz="1800" b="1"/>
              <a:t>where:</a:t>
            </a:r>
          </a:p>
          <a:p>
            <a:pPr marL="363538" indent="-363538" eaLnBrk="1" hangingPunct="1">
              <a:spcBef>
                <a:spcPct val="30000"/>
              </a:spcBef>
            </a:pPr>
            <a:r>
              <a:rPr lang="en-US" sz="1800"/>
              <a:t>data_type – data type of the array elements eg. int, float, char, string etc..</a:t>
            </a:r>
          </a:p>
          <a:p>
            <a:pPr marL="363538" indent="-363538" eaLnBrk="1" hangingPunct="1">
              <a:spcBef>
                <a:spcPct val="30000"/>
              </a:spcBef>
            </a:pPr>
            <a:r>
              <a:rPr lang="en-US" sz="1800"/>
              <a:t>[ ] – indicates a One Dimension array</a:t>
            </a:r>
          </a:p>
          <a:p>
            <a:pPr marL="363538" indent="-363538" eaLnBrk="1" hangingPunct="1">
              <a:spcBef>
                <a:spcPct val="30000"/>
              </a:spcBef>
            </a:pPr>
            <a:r>
              <a:rPr lang="en-US" sz="1800"/>
              <a:t>arrayName – name of array, rules follow after that of variables. Up to programmer.</a:t>
            </a:r>
          </a:p>
          <a:p>
            <a:pPr marL="363538" indent="-363538" eaLnBrk="1" hangingPunct="1">
              <a:spcBef>
                <a:spcPct val="30000"/>
              </a:spcBef>
              <a:buFont typeface="Wingdings" pitchFamily="2" charset="2"/>
              <a:buNone/>
            </a:pPr>
            <a:r>
              <a:rPr lang="en-US" sz="1800" b="1"/>
              <a:t>Examples:</a:t>
            </a:r>
          </a:p>
          <a:p>
            <a:pPr marL="363538" indent="-363538" eaLnBrk="1" hangingPunct="1">
              <a:spcBef>
                <a:spcPct val="30000"/>
              </a:spcBef>
              <a:buFont typeface="Wingdings" pitchFamily="2" charset="2"/>
              <a:buNone/>
            </a:pPr>
            <a:r>
              <a:rPr lang="en-US" sz="1800" b="1"/>
              <a:t>	int [ ] pizza;</a:t>
            </a:r>
          </a:p>
          <a:p>
            <a:pPr marL="363538" indent="-363538" eaLnBrk="1" hangingPunct="1">
              <a:spcBef>
                <a:spcPct val="30000"/>
              </a:spcBef>
              <a:buFont typeface="Wingdings" pitchFamily="2" charset="2"/>
              <a:buNone/>
            </a:pPr>
            <a:r>
              <a:rPr lang="en-US" sz="1800" b="1"/>
              <a:t>	string [ ] nickNames;</a:t>
            </a:r>
            <a:endParaRPr lang="en-GB" sz="1800" i="1"/>
          </a:p>
          <a:p>
            <a:pPr marL="542925" lvl="1" indent="7938" eaLnBrk="1" hangingPunct="1">
              <a:spcBef>
                <a:spcPct val="30000"/>
              </a:spcBef>
              <a:buFont typeface="Wingdings" pitchFamily="2" charset="2"/>
              <a:buNone/>
            </a:pPr>
            <a:r>
              <a:rPr lang="en-US" sz="1700"/>
              <a:t>Arrays are </a:t>
            </a:r>
            <a:r>
              <a:rPr lang="en-US" sz="1700" i="1"/>
              <a:t>objects</a:t>
            </a:r>
            <a:r>
              <a:rPr lang="en-US" sz="1700"/>
              <a:t> in C#. We will only discuss objects in detail next semester.</a:t>
            </a:r>
          </a:p>
          <a:p>
            <a:pPr marL="363538" indent="-363538" eaLnBrk="1" hangingPunct="1">
              <a:spcBef>
                <a:spcPct val="30000"/>
              </a:spcBef>
            </a:pPr>
            <a:r>
              <a:rPr lang="en-US" sz="1800"/>
              <a:t>To create elements in an array, we will assume the following syntax:</a:t>
            </a:r>
          </a:p>
          <a:p>
            <a:pPr marL="542925" lvl="1" indent="7938" eaLnBrk="1" hangingPunct="1">
              <a:spcBef>
                <a:spcPct val="30000"/>
              </a:spcBef>
              <a:buFont typeface="Wingdings" pitchFamily="2" charset="2"/>
              <a:buNone/>
            </a:pPr>
            <a:r>
              <a:rPr lang="en-US" sz="1700"/>
              <a:t> </a:t>
            </a:r>
          </a:p>
        </p:txBody>
      </p:sp>
      <p:sp>
        <p:nvSpPr>
          <p:cNvPr id="6147" name="Rectangle 3"/>
          <p:cNvSpPr>
            <a:spLocks noGrp="1" noChangeArrowheads="1"/>
          </p:cNvSpPr>
          <p:nvPr>
            <p:ph type="title"/>
          </p:nvPr>
        </p:nvSpPr>
        <p:spPr/>
        <p:txBody>
          <a:bodyPr/>
          <a:lstStyle/>
          <a:p>
            <a:pPr eaLnBrk="1" hangingPunct="1"/>
            <a:r>
              <a:rPr lang="en-US"/>
              <a:t>How to Create an Array</a:t>
            </a:r>
          </a:p>
        </p:txBody>
      </p:sp>
      <p:sp>
        <p:nvSpPr>
          <p:cNvPr id="229380" name="Text Box 4"/>
          <p:cNvSpPr txBox="1">
            <a:spLocks noChangeArrowheads="1"/>
          </p:cNvSpPr>
          <p:nvPr/>
        </p:nvSpPr>
        <p:spPr bwMode="auto">
          <a:xfrm>
            <a:off x="1184275" y="6496050"/>
            <a:ext cx="4845050" cy="863600"/>
          </a:xfrm>
          <a:prstGeom prst="rect">
            <a:avLst/>
          </a:prstGeom>
          <a:noFill/>
          <a:ln w="9525">
            <a:solidFill>
              <a:srgbClr val="FF0000"/>
            </a:solidFill>
            <a:miter lim="800000"/>
            <a:headEnd/>
            <a:tailEnd/>
          </a:ln>
        </p:spPr>
        <p:txBody>
          <a:bodyPr>
            <a:spAutoFit/>
          </a:bodyPr>
          <a:lstStyle/>
          <a:p>
            <a:pPr>
              <a:spcBef>
                <a:spcPct val="50000"/>
              </a:spcBef>
            </a:pPr>
            <a:r>
              <a:rPr lang="en-GB" sz="2000" b="1"/>
              <a:t>Example:</a:t>
            </a:r>
          </a:p>
          <a:p>
            <a:pPr>
              <a:spcBef>
                <a:spcPct val="50000"/>
              </a:spcBef>
            </a:pPr>
            <a:r>
              <a:rPr lang="en-GB" sz="2000" b="1">
                <a:solidFill>
                  <a:srgbClr val="0033CC"/>
                </a:solidFill>
              </a:rPr>
              <a:t>int</a:t>
            </a:r>
            <a:r>
              <a:rPr lang="en-GB" sz="2000" b="1"/>
              <a:t> [ ] age={18,17,18,19,17};</a:t>
            </a:r>
          </a:p>
        </p:txBody>
      </p:sp>
      <p:sp>
        <p:nvSpPr>
          <p:cNvPr id="5" name="Cloud 4"/>
          <p:cNvSpPr/>
          <p:nvPr/>
        </p:nvSpPr>
        <p:spPr>
          <a:xfrm>
            <a:off x="2011681" y="7528897"/>
            <a:ext cx="4408170" cy="1152525"/>
          </a:xfrm>
          <a:prstGeom prst="cloud">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latin typeface="Comic Sans MS" pitchFamily="66" charset="0"/>
              </a:rPr>
              <a:t>Create and initialize the array with values</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9378">
                                            <p:txEl>
                                              <p:pRg st="0" end="0"/>
                                            </p:txEl>
                                          </p:spTgt>
                                        </p:tgtEl>
                                        <p:attrNameLst>
                                          <p:attrName>style.visibility</p:attrName>
                                        </p:attrNameLst>
                                      </p:cBhvr>
                                      <p:to>
                                        <p:strVal val="visible"/>
                                      </p:to>
                                    </p:set>
                                    <p:animEffect transition="in" filter="blinds(horizontal)">
                                      <p:cBhvr>
                                        <p:cTn id="7" dur="500"/>
                                        <p:tgtEl>
                                          <p:spTgt spid="229378">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9378">
                                            <p:txEl>
                                              <p:pRg st="1" end="1"/>
                                            </p:txEl>
                                          </p:spTgt>
                                        </p:tgtEl>
                                        <p:attrNameLst>
                                          <p:attrName>style.visibility</p:attrName>
                                        </p:attrNameLst>
                                      </p:cBhvr>
                                      <p:to>
                                        <p:strVal val="visible"/>
                                      </p:to>
                                    </p:set>
                                    <p:animEffect transition="in" filter="blinds(horizontal)">
                                      <p:cBhvr>
                                        <p:cTn id="10" dur="500"/>
                                        <p:tgtEl>
                                          <p:spTgt spid="22937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29378">
                                            <p:txEl>
                                              <p:pRg st="2" end="2"/>
                                            </p:txEl>
                                          </p:spTgt>
                                        </p:tgtEl>
                                        <p:attrNameLst>
                                          <p:attrName>style.visibility</p:attrName>
                                        </p:attrNameLst>
                                      </p:cBhvr>
                                      <p:to>
                                        <p:strVal val="visible"/>
                                      </p:to>
                                    </p:set>
                                    <p:animEffect transition="in" filter="blinds(horizontal)">
                                      <p:cBhvr>
                                        <p:cTn id="15" dur="500"/>
                                        <p:tgtEl>
                                          <p:spTgt spid="22937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29378">
                                            <p:txEl>
                                              <p:pRg st="3" end="3"/>
                                            </p:txEl>
                                          </p:spTgt>
                                        </p:tgtEl>
                                        <p:attrNameLst>
                                          <p:attrName>style.visibility</p:attrName>
                                        </p:attrNameLst>
                                      </p:cBhvr>
                                      <p:to>
                                        <p:strVal val="visible"/>
                                      </p:to>
                                    </p:set>
                                    <p:animEffect transition="in" filter="blinds(horizontal)">
                                      <p:cBhvr>
                                        <p:cTn id="20" dur="500"/>
                                        <p:tgtEl>
                                          <p:spTgt spid="22937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29378">
                                            <p:txEl>
                                              <p:pRg st="4" end="4"/>
                                            </p:txEl>
                                          </p:spTgt>
                                        </p:tgtEl>
                                        <p:attrNameLst>
                                          <p:attrName>style.visibility</p:attrName>
                                        </p:attrNameLst>
                                      </p:cBhvr>
                                      <p:to>
                                        <p:strVal val="visible"/>
                                      </p:to>
                                    </p:set>
                                    <p:animEffect transition="in" filter="blinds(horizontal)">
                                      <p:cBhvr>
                                        <p:cTn id="25" dur="500"/>
                                        <p:tgtEl>
                                          <p:spTgt spid="229378">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29378">
                                            <p:txEl>
                                              <p:pRg st="5" end="5"/>
                                            </p:txEl>
                                          </p:spTgt>
                                        </p:tgtEl>
                                        <p:attrNameLst>
                                          <p:attrName>style.visibility</p:attrName>
                                        </p:attrNameLst>
                                      </p:cBhvr>
                                      <p:to>
                                        <p:strVal val="visible"/>
                                      </p:to>
                                    </p:set>
                                    <p:animEffect transition="in" filter="blinds(horizontal)">
                                      <p:cBhvr>
                                        <p:cTn id="30" dur="500"/>
                                        <p:tgtEl>
                                          <p:spTgt spid="229378">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29378">
                                            <p:txEl>
                                              <p:pRg st="6" end="6"/>
                                            </p:txEl>
                                          </p:spTgt>
                                        </p:tgtEl>
                                        <p:attrNameLst>
                                          <p:attrName>style.visibility</p:attrName>
                                        </p:attrNameLst>
                                      </p:cBhvr>
                                      <p:to>
                                        <p:strVal val="visible"/>
                                      </p:to>
                                    </p:set>
                                    <p:animEffect transition="in" filter="blinds(horizontal)">
                                      <p:cBhvr>
                                        <p:cTn id="35" dur="500"/>
                                        <p:tgtEl>
                                          <p:spTgt spid="229378">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29378">
                                            <p:txEl>
                                              <p:pRg st="7" end="7"/>
                                            </p:txEl>
                                          </p:spTgt>
                                        </p:tgtEl>
                                        <p:attrNameLst>
                                          <p:attrName>style.visibility</p:attrName>
                                        </p:attrNameLst>
                                      </p:cBhvr>
                                      <p:to>
                                        <p:strVal val="visible"/>
                                      </p:to>
                                    </p:set>
                                    <p:animEffect transition="in" filter="blinds(horizontal)">
                                      <p:cBhvr>
                                        <p:cTn id="40" dur="500"/>
                                        <p:tgtEl>
                                          <p:spTgt spid="229378">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29378">
                                            <p:txEl>
                                              <p:pRg st="8" end="8"/>
                                            </p:txEl>
                                          </p:spTgt>
                                        </p:tgtEl>
                                        <p:attrNameLst>
                                          <p:attrName>style.visibility</p:attrName>
                                        </p:attrNameLst>
                                      </p:cBhvr>
                                      <p:to>
                                        <p:strVal val="visible"/>
                                      </p:to>
                                    </p:set>
                                    <p:animEffect transition="in" filter="blinds(horizontal)">
                                      <p:cBhvr>
                                        <p:cTn id="45" dur="500"/>
                                        <p:tgtEl>
                                          <p:spTgt spid="229378">
                                            <p:txEl>
                                              <p:pRg st="8" end="8"/>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29378">
                                            <p:txEl>
                                              <p:pRg st="9" end="9"/>
                                            </p:txEl>
                                          </p:spTgt>
                                        </p:tgtEl>
                                        <p:attrNameLst>
                                          <p:attrName>style.visibility</p:attrName>
                                        </p:attrNameLst>
                                      </p:cBhvr>
                                      <p:to>
                                        <p:strVal val="visible"/>
                                      </p:to>
                                    </p:set>
                                    <p:animEffect transition="in" filter="blinds(horizontal)">
                                      <p:cBhvr>
                                        <p:cTn id="48" dur="500"/>
                                        <p:tgtEl>
                                          <p:spTgt spid="229378">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29378">
                                            <p:txEl>
                                              <p:pRg st="10" end="10"/>
                                            </p:txEl>
                                          </p:spTgt>
                                        </p:tgtEl>
                                        <p:attrNameLst>
                                          <p:attrName>style.visibility</p:attrName>
                                        </p:attrNameLst>
                                      </p:cBhvr>
                                      <p:to>
                                        <p:strVal val="visible"/>
                                      </p:to>
                                    </p:set>
                                    <p:animEffect transition="in" filter="blinds(horizontal)">
                                      <p:cBhvr>
                                        <p:cTn id="53" dur="500"/>
                                        <p:tgtEl>
                                          <p:spTgt spid="229378">
                                            <p:txEl>
                                              <p:pRg st="10" end="10"/>
                                            </p:txEl>
                                          </p:spTgt>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29378">
                                            <p:txEl>
                                              <p:pRg st="11" end="11"/>
                                            </p:txEl>
                                          </p:spTgt>
                                        </p:tgtEl>
                                        <p:attrNameLst>
                                          <p:attrName>style.visibility</p:attrName>
                                        </p:attrNameLst>
                                      </p:cBhvr>
                                      <p:to>
                                        <p:strVal val="visible"/>
                                      </p:to>
                                    </p:set>
                                    <p:animEffect transition="in" filter="blinds(horizontal)">
                                      <p:cBhvr>
                                        <p:cTn id="56" dur="500"/>
                                        <p:tgtEl>
                                          <p:spTgt spid="229378">
                                            <p:txEl>
                                              <p:pRg st="11" end="1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29380"/>
                                        </p:tgtEl>
                                        <p:attrNameLst>
                                          <p:attrName>style.visibility</p:attrName>
                                        </p:attrNameLst>
                                      </p:cBhvr>
                                      <p:to>
                                        <p:strVal val="visible"/>
                                      </p:to>
                                    </p:set>
                                    <p:animEffect transition="in" filter="blinds(horizontal)">
                                      <p:cBhvr>
                                        <p:cTn id="61" dur="500"/>
                                        <p:tgtEl>
                                          <p:spTgt spid="229380"/>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5"/>
                                        </p:tgtEl>
                                        <p:attrNameLst>
                                          <p:attrName>style.visibility</p:attrName>
                                        </p:attrNameLst>
                                      </p:cBhvr>
                                      <p:to>
                                        <p:strVal val="visible"/>
                                      </p:to>
                                    </p:set>
                                    <p:anim calcmode="lin" valueType="num">
                                      <p:cBhvr additive="base">
                                        <p:cTn id="66" dur="500" fill="hold"/>
                                        <p:tgtEl>
                                          <p:spTgt spid="5"/>
                                        </p:tgtEl>
                                        <p:attrNameLst>
                                          <p:attrName>ppt_x</p:attrName>
                                        </p:attrNameLst>
                                      </p:cBhvr>
                                      <p:tavLst>
                                        <p:tav tm="0">
                                          <p:val>
                                            <p:strVal val="#ppt_x"/>
                                          </p:val>
                                        </p:tav>
                                        <p:tav tm="100000">
                                          <p:val>
                                            <p:strVal val="#ppt_x"/>
                                          </p:val>
                                        </p:tav>
                                      </p:tavLst>
                                    </p:anim>
                                    <p:anim calcmode="lin" valueType="num">
                                      <p:cBhvr additive="base">
                                        <p:cTn id="6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build="p"/>
      <p:bldP spid="229380"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GB"/>
              <a:t>Array Declaration</a:t>
            </a:r>
            <a:endParaRPr lang="en-US"/>
          </a:p>
        </p:txBody>
      </p:sp>
      <p:sp>
        <p:nvSpPr>
          <p:cNvPr id="7171" name="Rectangle 3"/>
          <p:cNvSpPr>
            <a:spLocks noGrp="1" noChangeArrowheads="1"/>
          </p:cNvSpPr>
          <p:nvPr>
            <p:ph type="body" sz="half" idx="1"/>
          </p:nvPr>
        </p:nvSpPr>
        <p:spPr>
          <a:xfrm>
            <a:off x="376238" y="2436813"/>
            <a:ext cx="5160962" cy="6072187"/>
          </a:xfrm>
        </p:spPr>
        <p:txBody>
          <a:bodyPr/>
          <a:lstStyle/>
          <a:p>
            <a:pPr eaLnBrk="1" hangingPunct="1">
              <a:buFont typeface="Wingdings" pitchFamily="2" charset="2"/>
              <a:buNone/>
            </a:pPr>
            <a:endParaRPr lang="en-GB" sz="1600"/>
          </a:p>
          <a:p>
            <a:pPr eaLnBrk="1" hangingPunct="1">
              <a:buFont typeface="Wingdings" pitchFamily="2" charset="2"/>
              <a:buNone/>
            </a:pPr>
            <a:r>
              <a:rPr lang="en-GB" sz="1800"/>
              <a:t>static void Main( )</a:t>
            </a:r>
          </a:p>
          <a:p>
            <a:pPr eaLnBrk="1" hangingPunct="1">
              <a:buFont typeface="Wingdings" pitchFamily="2" charset="2"/>
              <a:buNone/>
            </a:pPr>
            <a:r>
              <a:rPr lang="en-GB" sz="1800"/>
              <a:t>{</a:t>
            </a:r>
          </a:p>
          <a:p>
            <a:pPr eaLnBrk="1" hangingPunct="1">
              <a:buFont typeface="Wingdings" pitchFamily="2" charset="2"/>
              <a:buNone/>
            </a:pPr>
            <a:r>
              <a:rPr lang="en-GB" sz="2000">
                <a:solidFill>
                  <a:srgbClr val="0033CC"/>
                </a:solidFill>
                <a:latin typeface="Lucida Console" pitchFamily="49" charset="0"/>
              </a:rPr>
              <a:t> int</a:t>
            </a:r>
            <a:r>
              <a:rPr lang="en-GB" sz="2000">
                <a:latin typeface="Lucida Console" pitchFamily="49" charset="0"/>
              </a:rPr>
              <a:t> [] age={18,17,17,19};</a:t>
            </a:r>
          </a:p>
          <a:p>
            <a:pPr eaLnBrk="1" hangingPunct="1">
              <a:buFont typeface="Wingdings" pitchFamily="2" charset="2"/>
              <a:buNone/>
            </a:pPr>
            <a:endParaRPr lang="en-GB" sz="1800"/>
          </a:p>
          <a:p>
            <a:pPr eaLnBrk="1" hangingPunct="1">
              <a:buFont typeface="Wingdings" pitchFamily="2" charset="2"/>
              <a:buNone/>
            </a:pPr>
            <a:endParaRPr lang="en-GB" sz="1800"/>
          </a:p>
          <a:p>
            <a:pPr eaLnBrk="1" hangingPunct="1">
              <a:buFont typeface="Wingdings" pitchFamily="2" charset="2"/>
              <a:buNone/>
            </a:pPr>
            <a:endParaRPr lang="en-GB" sz="1800"/>
          </a:p>
          <a:p>
            <a:pPr eaLnBrk="1" hangingPunct="1">
              <a:buFont typeface="Wingdings" pitchFamily="2" charset="2"/>
              <a:buNone/>
            </a:pPr>
            <a:r>
              <a:rPr lang="en-GB" sz="1800"/>
              <a:t>}</a:t>
            </a:r>
          </a:p>
          <a:p>
            <a:pPr eaLnBrk="1" hangingPunct="1">
              <a:buFont typeface="Wingdings" pitchFamily="2" charset="2"/>
              <a:buNone/>
            </a:pPr>
            <a:endParaRPr lang="en-US" sz="1800"/>
          </a:p>
        </p:txBody>
      </p:sp>
      <p:sp>
        <p:nvSpPr>
          <p:cNvPr id="7172" name="Text Box 5"/>
          <p:cNvSpPr txBox="1">
            <a:spLocks noChangeArrowheads="1"/>
          </p:cNvSpPr>
          <p:nvPr/>
        </p:nvSpPr>
        <p:spPr bwMode="auto">
          <a:xfrm>
            <a:off x="650875" y="1817688"/>
            <a:ext cx="1566863" cy="427037"/>
          </a:xfrm>
          <a:prstGeom prst="rect">
            <a:avLst/>
          </a:prstGeom>
          <a:noFill/>
          <a:ln w="9525">
            <a:noFill/>
            <a:miter lim="800000"/>
            <a:headEnd/>
            <a:tailEnd/>
          </a:ln>
        </p:spPr>
        <p:txBody>
          <a:bodyPr>
            <a:spAutoFit/>
          </a:bodyPr>
          <a:lstStyle/>
          <a:p>
            <a:pPr>
              <a:spcBef>
                <a:spcPct val="50000"/>
              </a:spcBef>
            </a:pPr>
            <a:r>
              <a:rPr lang="en-GB" sz="2200"/>
              <a:t>Example:</a:t>
            </a:r>
          </a:p>
        </p:txBody>
      </p:sp>
      <p:sp>
        <p:nvSpPr>
          <p:cNvPr id="184326" name="Rectangle 6"/>
          <p:cNvSpPr>
            <a:spLocks noChangeArrowheads="1"/>
          </p:cNvSpPr>
          <p:nvPr/>
        </p:nvSpPr>
        <p:spPr bwMode="auto">
          <a:xfrm>
            <a:off x="2789238" y="4241800"/>
            <a:ext cx="2000250" cy="336550"/>
          </a:xfrm>
          <a:prstGeom prst="rect">
            <a:avLst/>
          </a:prstGeom>
          <a:noFill/>
          <a:ln w="9525">
            <a:noFill/>
            <a:miter lim="800000"/>
            <a:headEnd/>
            <a:tailEnd/>
          </a:ln>
        </p:spPr>
        <p:txBody>
          <a:bodyPr>
            <a:spAutoFit/>
          </a:bodyPr>
          <a:lstStyle/>
          <a:p>
            <a:r>
              <a:rPr lang="en-GB" sz="1600"/>
              <a:t>Elements of array</a:t>
            </a:r>
          </a:p>
        </p:txBody>
      </p:sp>
      <p:grpSp>
        <p:nvGrpSpPr>
          <p:cNvPr id="2" name="Group 36"/>
          <p:cNvGrpSpPr>
            <a:grpSpLocks/>
          </p:cNvGrpSpPr>
          <p:nvPr/>
        </p:nvGrpSpPr>
        <p:grpSpPr bwMode="auto">
          <a:xfrm>
            <a:off x="1989138" y="3873500"/>
            <a:ext cx="1295400" cy="1274763"/>
            <a:chOff x="1474" y="1933"/>
            <a:chExt cx="1088" cy="318"/>
          </a:xfrm>
        </p:grpSpPr>
        <p:sp>
          <p:nvSpPr>
            <p:cNvPr id="7206" name="Line 4"/>
            <p:cNvSpPr>
              <a:spLocks noChangeShapeType="1"/>
            </p:cNvSpPr>
            <p:nvPr/>
          </p:nvSpPr>
          <p:spPr bwMode="auto">
            <a:xfrm flipV="1">
              <a:off x="1474" y="1933"/>
              <a:ext cx="0" cy="318"/>
            </a:xfrm>
            <a:prstGeom prst="line">
              <a:avLst/>
            </a:prstGeom>
            <a:noFill/>
            <a:ln w="12700">
              <a:solidFill>
                <a:schemeClr val="tx1"/>
              </a:solidFill>
              <a:round/>
              <a:headEnd/>
              <a:tailEnd type="triangle" w="med" len="med"/>
            </a:ln>
          </p:spPr>
          <p:txBody>
            <a:bodyPr wrap="none" anchor="ctr"/>
            <a:lstStyle/>
            <a:p>
              <a:endParaRPr lang="en-US"/>
            </a:p>
          </p:txBody>
        </p:sp>
        <p:sp>
          <p:nvSpPr>
            <p:cNvPr id="7207" name="Line 7"/>
            <p:cNvSpPr>
              <a:spLocks noChangeShapeType="1"/>
            </p:cNvSpPr>
            <p:nvPr/>
          </p:nvSpPr>
          <p:spPr bwMode="auto">
            <a:xfrm>
              <a:off x="1474" y="2251"/>
              <a:ext cx="1088" cy="0"/>
            </a:xfrm>
            <a:prstGeom prst="line">
              <a:avLst/>
            </a:prstGeom>
            <a:noFill/>
            <a:ln w="9525">
              <a:solidFill>
                <a:schemeClr val="tx1"/>
              </a:solidFill>
              <a:round/>
              <a:headEnd/>
              <a:tailEnd/>
            </a:ln>
          </p:spPr>
          <p:txBody>
            <a:bodyPr/>
            <a:lstStyle/>
            <a:p>
              <a:endParaRPr lang="en-US"/>
            </a:p>
          </p:txBody>
        </p:sp>
      </p:grpSp>
      <p:sp>
        <p:nvSpPr>
          <p:cNvPr id="184328" name="Rectangle 8"/>
          <p:cNvSpPr>
            <a:spLocks noChangeArrowheads="1"/>
          </p:cNvSpPr>
          <p:nvPr/>
        </p:nvSpPr>
        <p:spPr bwMode="auto">
          <a:xfrm>
            <a:off x="2528888" y="5464175"/>
            <a:ext cx="1184275" cy="336550"/>
          </a:xfrm>
          <a:prstGeom prst="rect">
            <a:avLst/>
          </a:prstGeom>
          <a:noFill/>
          <a:ln w="9525">
            <a:noFill/>
            <a:miter lim="800000"/>
            <a:headEnd/>
            <a:tailEnd/>
          </a:ln>
        </p:spPr>
        <p:txBody>
          <a:bodyPr wrap="none">
            <a:spAutoFit/>
          </a:bodyPr>
          <a:lstStyle/>
          <a:p>
            <a:r>
              <a:rPr lang="en-GB" sz="1600"/>
              <a:t>Data type</a:t>
            </a:r>
          </a:p>
        </p:txBody>
      </p:sp>
      <p:sp>
        <p:nvSpPr>
          <p:cNvPr id="184329" name="Rectangle 9"/>
          <p:cNvSpPr>
            <a:spLocks noChangeArrowheads="1"/>
          </p:cNvSpPr>
          <p:nvPr/>
        </p:nvSpPr>
        <p:spPr bwMode="auto">
          <a:xfrm>
            <a:off x="2805113" y="4816475"/>
            <a:ext cx="1655762" cy="336550"/>
          </a:xfrm>
          <a:prstGeom prst="rect">
            <a:avLst/>
          </a:prstGeom>
          <a:noFill/>
          <a:ln w="9525">
            <a:noFill/>
            <a:miter lim="800000"/>
            <a:headEnd/>
            <a:tailEnd/>
          </a:ln>
        </p:spPr>
        <p:txBody>
          <a:bodyPr wrap="none">
            <a:spAutoFit/>
          </a:bodyPr>
          <a:lstStyle/>
          <a:p>
            <a:r>
              <a:rPr lang="en-GB" sz="1600"/>
              <a:t>Variable name</a:t>
            </a:r>
          </a:p>
        </p:txBody>
      </p:sp>
      <p:grpSp>
        <p:nvGrpSpPr>
          <p:cNvPr id="3" name="Group 40"/>
          <p:cNvGrpSpPr>
            <a:grpSpLocks/>
          </p:cNvGrpSpPr>
          <p:nvPr/>
        </p:nvGrpSpPr>
        <p:grpSpPr bwMode="auto">
          <a:xfrm>
            <a:off x="917575" y="3857625"/>
            <a:ext cx="1851025" cy="1954213"/>
            <a:chOff x="1247" y="1979"/>
            <a:chExt cx="1225" cy="544"/>
          </a:xfrm>
        </p:grpSpPr>
        <p:sp>
          <p:nvSpPr>
            <p:cNvPr id="7204" name="Line 10"/>
            <p:cNvSpPr>
              <a:spLocks noChangeShapeType="1"/>
            </p:cNvSpPr>
            <p:nvPr/>
          </p:nvSpPr>
          <p:spPr bwMode="auto">
            <a:xfrm flipV="1">
              <a:off x="1247" y="1979"/>
              <a:ext cx="0" cy="544"/>
            </a:xfrm>
            <a:prstGeom prst="line">
              <a:avLst/>
            </a:prstGeom>
            <a:noFill/>
            <a:ln w="9525">
              <a:solidFill>
                <a:schemeClr val="tx1"/>
              </a:solidFill>
              <a:round/>
              <a:headEnd/>
              <a:tailEnd type="triangle" w="med" len="med"/>
            </a:ln>
          </p:spPr>
          <p:txBody>
            <a:bodyPr/>
            <a:lstStyle/>
            <a:p>
              <a:endParaRPr lang="en-US"/>
            </a:p>
          </p:txBody>
        </p:sp>
        <p:sp>
          <p:nvSpPr>
            <p:cNvPr id="7205" name="Line 11"/>
            <p:cNvSpPr>
              <a:spLocks noChangeShapeType="1"/>
            </p:cNvSpPr>
            <p:nvPr/>
          </p:nvSpPr>
          <p:spPr bwMode="auto">
            <a:xfrm>
              <a:off x="1247" y="2523"/>
              <a:ext cx="1225" cy="0"/>
            </a:xfrm>
            <a:prstGeom prst="line">
              <a:avLst/>
            </a:prstGeom>
            <a:noFill/>
            <a:ln w="9525">
              <a:solidFill>
                <a:schemeClr val="tx1"/>
              </a:solidFill>
              <a:round/>
              <a:headEnd/>
              <a:tailEnd/>
            </a:ln>
          </p:spPr>
          <p:txBody>
            <a:bodyPr/>
            <a:lstStyle/>
            <a:p>
              <a:endParaRPr lang="en-US"/>
            </a:p>
          </p:txBody>
        </p:sp>
      </p:grpSp>
      <p:sp>
        <p:nvSpPr>
          <p:cNvPr id="7178" name="Rectangle 13"/>
          <p:cNvSpPr>
            <a:spLocks noChangeArrowheads="1"/>
          </p:cNvSpPr>
          <p:nvPr/>
        </p:nvSpPr>
        <p:spPr bwMode="auto">
          <a:xfrm>
            <a:off x="641350" y="6096000"/>
            <a:ext cx="5810250" cy="2328863"/>
          </a:xfrm>
          <a:prstGeom prst="rect">
            <a:avLst/>
          </a:prstGeom>
          <a:noFill/>
          <a:ln w="25400">
            <a:noFill/>
            <a:miter lim="800000"/>
            <a:headEnd/>
            <a:tailEnd/>
          </a:ln>
        </p:spPr>
        <p:txBody>
          <a:bodyPr lIns="90488" tIns="44450" rIns="90488" bIns="44450"/>
          <a:lstStyle/>
          <a:p>
            <a:pPr marL="342900" indent="-342900">
              <a:spcBef>
                <a:spcPct val="50000"/>
              </a:spcBef>
              <a:buClr>
                <a:schemeClr val="folHlink"/>
              </a:buClr>
              <a:buSzPct val="90000"/>
              <a:buFont typeface="Wingdings" pitchFamily="2" charset="2"/>
              <a:buChar char="n"/>
            </a:pPr>
            <a:r>
              <a:rPr lang="en-US" sz="2000">
                <a:latin typeface="Arial" charset="0"/>
              </a:rPr>
              <a:t>Data type of array is</a:t>
            </a:r>
            <a:r>
              <a:rPr lang="en-US" sz="2000">
                <a:solidFill>
                  <a:srgbClr val="0033CC"/>
                </a:solidFill>
                <a:latin typeface="Arial" charset="0"/>
              </a:rPr>
              <a:t> </a:t>
            </a:r>
            <a:r>
              <a:rPr lang="en-US" sz="2000" b="1">
                <a:solidFill>
                  <a:srgbClr val="0033CC"/>
                </a:solidFill>
                <a:latin typeface="Arial" charset="0"/>
              </a:rPr>
              <a:t>integer</a:t>
            </a:r>
            <a:r>
              <a:rPr lang="en-US" sz="2000">
                <a:latin typeface="Arial" charset="0"/>
              </a:rPr>
              <a:t> </a:t>
            </a:r>
          </a:p>
          <a:p>
            <a:pPr marL="342900" indent="-342900">
              <a:spcBef>
                <a:spcPct val="50000"/>
              </a:spcBef>
              <a:buClr>
                <a:schemeClr val="folHlink"/>
              </a:buClr>
              <a:buSzPct val="90000"/>
              <a:buFont typeface="Wingdings" pitchFamily="2" charset="2"/>
              <a:buChar char="n"/>
            </a:pPr>
            <a:r>
              <a:rPr lang="en-US" sz="2000">
                <a:latin typeface="Arial" charset="0"/>
              </a:rPr>
              <a:t>The array name is </a:t>
            </a:r>
            <a:r>
              <a:rPr lang="en-US" sz="2000" i="1">
                <a:latin typeface="Arial" charset="0"/>
              </a:rPr>
              <a:t>age</a:t>
            </a:r>
          </a:p>
          <a:p>
            <a:pPr marL="342900" indent="-342900">
              <a:spcBef>
                <a:spcPct val="50000"/>
              </a:spcBef>
              <a:buClr>
                <a:schemeClr val="folHlink"/>
              </a:buClr>
              <a:buSzPct val="90000"/>
              <a:buFont typeface="Wingdings" pitchFamily="2" charset="2"/>
              <a:buChar char="n"/>
            </a:pPr>
            <a:r>
              <a:rPr lang="en-US" sz="2000">
                <a:latin typeface="Arial" charset="0"/>
              </a:rPr>
              <a:t>The array has 4 elements/items</a:t>
            </a:r>
            <a:endParaRPr lang="en-US" sz="2000" b="1">
              <a:latin typeface="Arial" charset="0"/>
            </a:endParaRPr>
          </a:p>
          <a:p>
            <a:pPr marL="342900" indent="-342900">
              <a:spcBef>
                <a:spcPct val="50000"/>
              </a:spcBef>
              <a:buClr>
                <a:schemeClr val="folHlink"/>
              </a:buClr>
              <a:buSzPct val="90000"/>
              <a:buFont typeface="Wingdings" pitchFamily="2" charset="2"/>
              <a:buChar char="n"/>
            </a:pPr>
            <a:r>
              <a:rPr lang="en-US" sz="2000">
                <a:latin typeface="Arial" charset="0"/>
              </a:rPr>
              <a:t>The array is accessed thru its </a:t>
            </a:r>
            <a:r>
              <a:rPr lang="en-US" sz="2000" b="1">
                <a:solidFill>
                  <a:srgbClr val="FF0000"/>
                </a:solidFill>
                <a:latin typeface="Arial" charset="0"/>
              </a:rPr>
              <a:t>index starting from 0.</a:t>
            </a:r>
          </a:p>
        </p:txBody>
      </p:sp>
      <p:graphicFrame>
        <p:nvGraphicFramePr>
          <p:cNvPr id="184367" name="Group 47"/>
          <p:cNvGraphicFramePr>
            <a:graphicFrameLocks noGrp="1"/>
          </p:cNvGraphicFramePr>
          <p:nvPr>
            <p:ph sz="half" idx="2"/>
          </p:nvPr>
        </p:nvGraphicFramePr>
        <p:xfrm>
          <a:off x="4881563" y="2689225"/>
          <a:ext cx="881062" cy="3254376"/>
        </p:xfrm>
        <a:graphic>
          <a:graphicData uri="http://schemas.openxmlformats.org/drawingml/2006/table">
            <a:tbl>
              <a:tblPr/>
              <a:tblGrid>
                <a:gridCol w="881062">
                  <a:extLst>
                    <a:ext uri="{9D8B030D-6E8A-4147-A177-3AD203B41FA5}">
                      <a16:colId xmlns:a16="http://schemas.microsoft.com/office/drawing/2014/main" val="20000"/>
                    </a:ext>
                  </a:extLst>
                </a:gridCol>
              </a:tblGrid>
              <a:tr h="7366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366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429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38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0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84346" name="Text Box 26"/>
          <p:cNvSpPr txBox="1">
            <a:spLocks noChangeArrowheads="1"/>
          </p:cNvSpPr>
          <p:nvPr/>
        </p:nvSpPr>
        <p:spPr bwMode="auto">
          <a:xfrm>
            <a:off x="5859463" y="2940050"/>
            <a:ext cx="998537" cy="366713"/>
          </a:xfrm>
          <a:prstGeom prst="rect">
            <a:avLst/>
          </a:prstGeom>
          <a:noFill/>
          <a:ln w="9525">
            <a:noFill/>
            <a:miter lim="800000"/>
            <a:headEnd/>
            <a:tailEnd/>
          </a:ln>
        </p:spPr>
        <p:txBody>
          <a:bodyPr>
            <a:spAutoFit/>
          </a:bodyPr>
          <a:lstStyle/>
          <a:p>
            <a:pPr>
              <a:spcBef>
                <a:spcPct val="50000"/>
              </a:spcBef>
            </a:pPr>
            <a:r>
              <a:rPr lang="en-GB"/>
              <a:t>age[0]</a:t>
            </a:r>
          </a:p>
        </p:txBody>
      </p:sp>
      <p:sp>
        <p:nvSpPr>
          <p:cNvPr id="7192" name="Text Box 29"/>
          <p:cNvSpPr txBox="1">
            <a:spLocks noChangeArrowheads="1"/>
          </p:cNvSpPr>
          <p:nvPr/>
        </p:nvSpPr>
        <p:spPr bwMode="auto">
          <a:xfrm>
            <a:off x="4926013" y="2363788"/>
            <a:ext cx="896937" cy="366712"/>
          </a:xfrm>
          <a:prstGeom prst="rect">
            <a:avLst/>
          </a:prstGeom>
          <a:noFill/>
          <a:ln w="12700">
            <a:noFill/>
            <a:miter lim="800000"/>
            <a:headEnd/>
            <a:tailEnd/>
          </a:ln>
        </p:spPr>
        <p:txBody>
          <a:bodyPr>
            <a:spAutoFit/>
          </a:bodyPr>
          <a:lstStyle/>
          <a:p>
            <a:pPr eaLnBrk="0" hangingPunct="0"/>
            <a:r>
              <a:rPr lang="en-US">
                <a:solidFill>
                  <a:schemeClr val="tx2"/>
                </a:solidFill>
                <a:latin typeface="Arial" charset="0"/>
              </a:rPr>
              <a:t>age</a:t>
            </a:r>
          </a:p>
        </p:txBody>
      </p:sp>
      <p:sp>
        <p:nvSpPr>
          <p:cNvPr id="184352" name="Text Box 32"/>
          <p:cNvSpPr txBox="1">
            <a:spLocks noChangeArrowheads="1"/>
          </p:cNvSpPr>
          <p:nvPr/>
        </p:nvSpPr>
        <p:spPr bwMode="auto">
          <a:xfrm>
            <a:off x="5859463" y="3708400"/>
            <a:ext cx="998537" cy="366713"/>
          </a:xfrm>
          <a:prstGeom prst="rect">
            <a:avLst/>
          </a:prstGeom>
          <a:noFill/>
          <a:ln w="9525">
            <a:noFill/>
            <a:miter lim="800000"/>
            <a:headEnd/>
            <a:tailEnd/>
          </a:ln>
        </p:spPr>
        <p:txBody>
          <a:bodyPr>
            <a:spAutoFit/>
          </a:bodyPr>
          <a:lstStyle/>
          <a:p>
            <a:pPr>
              <a:spcBef>
                <a:spcPct val="50000"/>
              </a:spcBef>
            </a:pPr>
            <a:r>
              <a:rPr lang="en-GB"/>
              <a:t>age[1]</a:t>
            </a:r>
          </a:p>
        </p:txBody>
      </p:sp>
      <p:sp>
        <p:nvSpPr>
          <p:cNvPr id="184353" name="Text Box 33"/>
          <p:cNvSpPr txBox="1">
            <a:spLocks noChangeArrowheads="1"/>
          </p:cNvSpPr>
          <p:nvPr/>
        </p:nvSpPr>
        <p:spPr bwMode="auto">
          <a:xfrm>
            <a:off x="5859463" y="4476750"/>
            <a:ext cx="998537" cy="366713"/>
          </a:xfrm>
          <a:prstGeom prst="rect">
            <a:avLst/>
          </a:prstGeom>
          <a:noFill/>
          <a:ln w="9525">
            <a:noFill/>
            <a:miter lim="800000"/>
            <a:headEnd/>
            <a:tailEnd/>
          </a:ln>
        </p:spPr>
        <p:txBody>
          <a:bodyPr>
            <a:spAutoFit/>
          </a:bodyPr>
          <a:lstStyle/>
          <a:p>
            <a:pPr>
              <a:spcBef>
                <a:spcPct val="50000"/>
              </a:spcBef>
            </a:pPr>
            <a:r>
              <a:rPr lang="en-GB"/>
              <a:t>age[2]</a:t>
            </a:r>
          </a:p>
        </p:txBody>
      </p:sp>
      <p:sp>
        <p:nvSpPr>
          <p:cNvPr id="184354" name="Text Box 34"/>
          <p:cNvSpPr txBox="1">
            <a:spLocks noChangeArrowheads="1"/>
          </p:cNvSpPr>
          <p:nvPr/>
        </p:nvSpPr>
        <p:spPr bwMode="auto">
          <a:xfrm>
            <a:off x="5859463" y="5245100"/>
            <a:ext cx="998537" cy="366713"/>
          </a:xfrm>
          <a:prstGeom prst="rect">
            <a:avLst/>
          </a:prstGeom>
          <a:noFill/>
          <a:ln w="9525">
            <a:noFill/>
            <a:miter lim="800000"/>
            <a:headEnd/>
            <a:tailEnd/>
          </a:ln>
        </p:spPr>
        <p:txBody>
          <a:bodyPr>
            <a:spAutoFit/>
          </a:bodyPr>
          <a:lstStyle/>
          <a:p>
            <a:pPr>
              <a:spcBef>
                <a:spcPct val="50000"/>
              </a:spcBef>
            </a:pPr>
            <a:r>
              <a:rPr lang="en-GB"/>
              <a:t>age[3]</a:t>
            </a:r>
          </a:p>
        </p:txBody>
      </p:sp>
      <p:grpSp>
        <p:nvGrpSpPr>
          <p:cNvPr id="4" name="Group 37"/>
          <p:cNvGrpSpPr>
            <a:grpSpLocks/>
          </p:cNvGrpSpPr>
          <p:nvPr/>
        </p:nvGrpSpPr>
        <p:grpSpPr bwMode="auto">
          <a:xfrm>
            <a:off x="2784475" y="3883025"/>
            <a:ext cx="687388" cy="717550"/>
            <a:chOff x="1474" y="1933"/>
            <a:chExt cx="1088" cy="318"/>
          </a:xfrm>
        </p:grpSpPr>
        <p:sp>
          <p:nvSpPr>
            <p:cNvPr id="7202" name="Line 38"/>
            <p:cNvSpPr>
              <a:spLocks noChangeShapeType="1"/>
            </p:cNvSpPr>
            <p:nvPr/>
          </p:nvSpPr>
          <p:spPr bwMode="auto">
            <a:xfrm flipV="1">
              <a:off x="1474" y="1933"/>
              <a:ext cx="0" cy="318"/>
            </a:xfrm>
            <a:prstGeom prst="line">
              <a:avLst/>
            </a:prstGeom>
            <a:noFill/>
            <a:ln w="12700">
              <a:solidFill>
                <a:schemeClr val="tx1"/>
              </a:solidFill>
              <a:round/>
              <a:headEnd/>
              <a:tailEnd type="triangle" w="med" len="med"/>
            </a:ln>
          </p:spPr>
          <p:txBody>
            <a:bodyPr wrap="none" anchor="ctr"/>
            <a:lstStyle/>
            <a:p>
              <a:endParaRPr lang="en-US"/>
            </a:p>
          </p:txBody>
        </p:sp>
        <p:sp>
          <p:nvSpPr>
            <p:cNvPr id="7203" name="Line 39"/>
            <p:cNvSpPr>
              <a:spLocks noChangeShapeType="1"/>
            </p:cNvSpPr>
            <p:nvPr/>
          </p:nvSpPr>
          <p:spPr bwMode="auto">
            <a:xfrm>
              <a:off x="1474" y="2251"/>
              <a:ext cx="1088" cy="0"/>
            </a:xfrm>
            <a:prstGeom prst="line">
              <a:avLst/>
            </a:prstGeom>
            <a:noFill/>
            <a:ln w="9525">
              <a:solidFill>
                <a:schemeClr val="tx1"/>
              </a:solidFill>
              <a:round/>
              <a:headEnd/>
              <a:tailEnd/>
            </a:ln>
          </p:spPr>
          <p:txBody>
            <a:bodyPr/>
            <a:lstStyle/>
            <a:p>
              <a:endParaRPr lang="en-US"/>
            </a:p>
          </p:txBody>
        </p:sp>
      </p:grpSp>
      <p:sp>
        <p:nvSpPr>
          <p:cNvPr id="184362" name="Text Box 42"/>
          <p:cNvSpPr txBox="1">
            <a:spLocks noChangeArrowheads="1"/>
          </p:cNvSpPr>
          <p:nvPr/>
        </p:nvSpPr>
        <p:spPr bwMode="auto">
          <a:xfrm>
            <a:off x="4737100" y="2728913"/>
            <a:ext cx="1489075" cy="641350"/>
          </a:xfrm>
          <a:prstGeom prst="rect">
            <a:avLst/>
          </a:prstGeom>
          <a:noFill/>
          <a:ln w="9525">
            <a:noFill/>
            <a:miter lim="800000"/>
            <a:headEnd/>
            <a:tailEnd/>
          </a:ln>
        </p:spPr>
        <p:txBody>
          <a:bodyPr>
            <a:spAutoFit/>
          </a:bodyPr>
          <a:lstStyle/>
          <a:p>
            <a:r>
              <a:rPr lang="en-US" sz="3600" b="1">
                <a:solidFill>
                  <a:srgbClr val="FF0000"/>
                </a:solidFill>
              </a:rPr>
              <a:t>[</a:t>
            </a:r>
            <a:r>
              <a:rPr lang="en-US" sz="2400" b="1">
                <a:solidFill>
                  <a:srgbClr val="FF0000"/>
                </a:solidFill>
              </a:rPr>
              <a:t>18</a:t>
            </a:r>
            <a:r>
              <a:rPr lang="en-US" sz="3600" b="1">
                <a:solidFill>
                  <a:srgbClr val="FF0000"/>
                </a:solidFill>
              </a:rPr>
              <a:t>]</a:t>
            </a:r>
          </a:p>
        </p:txBody>
      </p:sp>
      <p:sp>
        <p:nvSpPr>
          <p:cNvPr id="184363" name="Text Box 43"/>
          <p:cNvSpPr txBox="1">
            <a:spLocks noChangeArrowheads="1"/>
          </p:cNvSpPr>
          <p:nvPr/>
        </p:nvSpPr>
        <p:spPr bwMode="auto">
          <a:xfrm>
            <a:off x="4735513" y="3475038"/>
            <a:ext cx="1184275" cy="641350"/>
          </a:xfrm>
          <a:prstGeom prst="rect">
            <a:avLst/>
          </a:prstGeom>
          <a:noFill/>
          <a:ln w="9525">
            <a:noFill/>
            <a:miter lim="800000"/>
            <a:headEnd/>
            <a:tailEnd/>
          </a:ln>
        </p:spPr>
        <p:txBody>
          <a:bodyPr>
            <a:spAutoFit/>
          </a:bodyPr>
          <a:lstStyle/>
          <a:p>
            <a:r>
              <a:rPr lang="en-US" sz="3600" b="1">
                <a:solidFill>
                  <a:srgbClr val="FF0000"/>
                </a:solidFill>
              </a:rPr>
              <a:t>[</a:t>
            </a:r>
            <a:r>
              <a:rPr lang="en-US" sz="2400" b="1">
                <a:solidFill>
                  <a:srgbClr val="FF0000"/>
                </a:solidFill>
              </a:rPr>
              <a:t>17</a:t>
            </a:r>
            <a:r>
              <a:rPr lang="en-US" sz="3600" b="1">
                <a:solidFill>
                  <a:srgbClr val="FF0000"/>
                </a:solidFill>
              </a:rPr>
              <a:t>]</a:t>
            </a:r>
          </a:p>
        </p:txBody>
      </p:sp>
      <p:sp>
        <p:nvSpPr>
          <p:cNvPr id="184364" name="Text Box 44"/>
          <p:cNvSpPr txBox="1">
            <a:spLocks noChangeArrowheads="1"/>
          </p:cNvSpPr>
          <p:nvPr/>
        </p:nvSpPr>
        <p:spPr bwMode="auto">
          <a:xfrm>
            <a:off x="4760913" y="4259263"/>
            <a:ext cx="1373187" cy="641350"/>
          </a:xfrm>
          <a:prstGeom prst="rect">
            <a:avLst/>
          </a:prstGeom>
          <a:noFill/>
          <a:ln w="9525">
            <a:noFill/>
            <a:miter lim="800000"/>
            <a:headEnd/>
            <a:tailEnd/>
          </a:ln>
        </p:spPr>
        <p:txBody>
          <a:bodyPr>
            <a:spAutoFit/>
          </a:bodyPr>
          <a:lstStyle/>
          <a:p>
            <a:r>
              <a:rPr lang="en-US" sz="3600" b="1">
                <a:solidFill>
                  <a:srgbClr val="FF0000"/>
                </a:solidFill>
              </a:rPr>
              <a:t>[</a:t>
            </a:r>
            <a:r>
              <a:rPr lang="en-US" sz="2400" b="1">
                <a:solidFill>
                  <a:srgbClr val="FF0000"/>
                </a:solidFill>
              </a:rPr>
              <a:t>17</a:t>
            </a:r>
            <a:r>
              <a:rPr lang="en-US" sz="3600" b="1">
                <a:solidFill>
                  <a:srgbClr val="FF0000"/>
                </a:solidFill>
              </a:rPr>
              <a:t>]</a:t>
            </a:r>
          </a:p>
        </p:txBody>
      </p:sp>
      <p:sp>
        <p:nvSpPr>
          <p:cNvPr id="184365" name="Text Box 45"/>
          <p:cNvSpPr txBox="1">
            <a:spLocks noChangeArrowheads="1"/>
          </p:cNvSpPr>
          <p:nvPr/>
        </p:nvSpPr>
        <p:spPr bwMode="auto">
          <a:xfrm>
            <a:off x="4762500" y="5024438"/>
            <a:ext cx="1487488" cy="641350"/>
          </a:xfrm>
          <a:prstGeom prst="rect">
            <a:avLst/>
          </a:prstGeom>
          <a:noFill/>
          <a:ln w="9525">
            <a:noFill/>
            <a:miter lim="800000"/>
            <a:headEnd/>
            <a:tailEnd/>
          </a:ln>
        </p:spPr>
        <p:txBody>
          <a:bodyPr>
            <a:spAutoFit/>
          </a:bodyPr>
          <a:lstStyle/>
          <a:p>
            <a:r>
              <a:rPr lang="en-US" sz="3600" b="1">
                <a:solidFill>
                  <a:srgbClr val="FF0000"/>
                </a:solidFill>
              </a:rPr>
              <a:t>[</a:t>
            </a:r>
            <a:r>
              <a:rPr lang="en-US" sz="2400" b="1">
                <a:solidFill>
                  <a:srgbClr val="FF0000"/>
                </a:solidFill>
              </a:rPr>
              <a:t>19</a:t>
            </a:r>
            <a:r>
              <a:rPr lang="en-US" sz="3600" b="1">
                <a:solidFill>
                  <a:srgbClr val="FF0000"/>
                </a:solidFill>
              </a:rPr>
              <a:t>]</a:t>
            </a:r>
          </a:p>
        </p:txBody>
      </p:sp>
      <p:sp>
        <p:nvSpPr>
          <p:cNvPr id="7201" name="Freeform 48"/>
          <p:cNvSpPr>
            <a:spLocks/>
          </p:cNvSpPr>
          <p:nvPr/>
        </p:nvSpPr>
        <p:spPr bwMode="auto">
          <a:xfrm>
            <a:off x="4894263" y="5588000"/>
            <a:ext cx="1968500" cy="1981200"/>
          </a:xfrm>
          <a:custGeom>
            <a:avLst/>
            <a:gdLst>
              <a:gd name="T0" fmla="*/ 0 w 1240"/>
              <a:gd name="T1" fmla="*/ 1248 h 1248"/>
              <a:gd name="T2" fmla="*/ 1066 w 1240"/>
              <a:gd name="T3" fmla="*/ 800 h 1248"/>
              <a:gd name="T4" fmla="*/ 1045 w 1240"/>
              <a:gd name="T5" fmla="*/ 0 h 1248"/>
              <a:gd name="T6" fmla="*/ 0 60000 65536"/>
              <a:gd name="T7" fmla="*/ 0 60000 65536"/>
              <a:gd name="T8" fmla="*/ 0 60000 65536"/>
              <a:gd name="T9" fmla="*/ 0 w 1240"/>
              <a:gd name="T10" fmla="*/ 0 h 1248"/>
              <a:gd name="T11" fmla="*/ 1240 w 1240"/>
              <a:gd name="T12" fmla="*/ 1248 h 1248"/>
            </a:gdLst>
            <a:ahLst/>
            <a:cxnLst>
              <a:cxn ang="T6">
                <a:pos x="T0" y="T1"/>
              </a:cxn>
              <a:cxn ang="T7">
                <a:pos x="T2" y="T3"/>
              </a:cxn>
              <a:cxn ang="T8">
                <a:pos x="T4" y="T5"/>
              </a:cxn>
            </a:cxnLst>
            <a:rect l="T9" t="T10" r="T11" b="T12"/>
            <a:pathLst>
              <a:path w="1240" h="1248">
                <a:moveTo>
                  <a:pt x="0" y="1248"/>
                </a:moveTo>
                <a:cubicBezTo>
                  <a:pt x="446" y="1128"/>
                  <a:pt x="892" y="1008"/>
                  <a:pt x="1066" y="800"/>
                </a:cubicBezTo>
                <a:cubicBezTo>
                  <a:pt x="1240" y="592"/>
                  <a:pt x="1142" y="296"/>
                  <a:pt x="1045" y="0"/>
                </a:cubicBezTo>
              </a:path>
            </a:pathLst>
          </a:custGeom>
          <a:noFill/>
          <a:ln w="12700">
            <a:solidFill>
              <a:srgbClr val="0000FF"/>
            </a:solidFill>
            <a:round/>
            <a:headEnd/>
            <a:tailEnd type="triangle" w="med" len="med"/>
          </a:ln>
        </p:spPr>
        <p:txBody>
          <a:bodyPr/>
          <a:lstStyle/>
          <a:p>
            <a:endParaRPr lang="en-US"/>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4328"/>
                                        </p:tgtEl>
                                        <p:attrNameLst>
                                          <p:attrName>style.visibility</p:attrName>
                                        </p:attrNameLst>
                                      </p:cBhvr>
                                      <p:to>
                                        <p:strVal val="visible"/>
                                      </p:to>
                                    </p:set>
                                    <p:anim calcmode="lin" valueType="num">
                                      <p:cBhvr additive="base">
                                        <p:cTn id="11" dur="500" fill="hold"/>
                                        <p:tgtEl>
                                          <p:spTgt spid="184328"/>
                                        </p:tgtEl>
                                        <p:attrNameLst>
                                          <p:attrName>ppt_x</p:attrName>
                                        </p:attrNameLst>
                                      </p:cBhvr>
                                      <p:tavLst>
                                        <p:tav tm="0">
                                          <p:val>
                                            <p:strVal val="#ppt_x"/>
                                          </p:val>
                                        </p:tav>
                                        <p:tav tm="100000">
                                          <p:val>
                                            <p:strVal val="#ppt_x"/>
                                          </p:val>
                                        </p:tav>
                                      </p:tavLst>
                                    </p:anim>
                                    <p:anim calcmode="lin" valueType="num">
                                      <p:cBhvr additive="base">
                                        <p:cTn id="12" dur="500" fill="hold"/>
                                        <p:tgtEl>
                                          <p:spTgt spid="18432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84329"/>
                                        </p:tgtEl>
                                        <p:attrNameLst>
                                          <p:attrName>style.visibility</p:attrName>
                                        </p:attrNameLst>
                                      </p:cBhvr>
                                      <p:to>
                                        <p:strVal val="visible"/>
                                      </p:to>
                                    </p:set>
                                    <p:anim calcmode="lin" valueType="num">
                                      <p:cBhvr additive="base">
                                        <p:cTn id="21" dur="500" fill="hold"/>
                                        <p:tgtEl>
                                          <p:spTgt spid="184329"/>
                                        </p:tgtEl>
                                        <p:attrNameLst>
                                          <p:attrName>ppt_x</p:attrName>
                                        </p:attrNameLst>
                                      </p:cBhvr>
                                      <p:tavLst>
                                        <p:tav tm="0">
                                          <p:val>
                                            <p:strVal val="#ppt_x"/>
                                          </p:val>
                                        </p:tav>
                                        <p:tav tm="100000">
                                          <p:val>
                                            <p:strVal val="#ppt_x"/>
                                          </p:val>
                                        </p:tav>
                                      </p:tavLst>
                                    </p:anim>
                                    <p:anim calcmode="lin" valueType="num">
                                      <p:cBhvr additive="base">
                                        <p:cTn id="22" dur="500" fill="hold"/>
                                        <p:tgtEl>
                                          <p:spTgt spid="18432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4326"/>
                                        </p:tgtEl>
                                        <p:attrNameLst>
                                          <p:attrName>style.visibility</p:attrName>
                                        </p:attrNameLst>
                                      </p:cBhvr>
                                      <p:to>
                                        <p:strVal val="visible"/>
                                      </p:to>
                                    </p:set>
                                    <p:anim calcmode="lin" valueType="num">
                                      <p:cBhvr additive="base">
                                        <p:cTn id="31" dur="500" fill="hold"/>
                                        <p:tgtEl>
                                          <p:spTgt spid="184326"/>
                                        </p:tgtEl>
                                        <p:attrNameLst>
                                          <p:attrName>ppt_x</p:attrName>
                                        </p:attrNameLst>
                                      </p:cBhvr>
                                      <p:tavLst>
                                        <p:tav tm="0">
                                          <p:val>
                                            <p:strVal val="#ppt_x"/>
                                          </p:val>
                                        </p:tav>
                                        <p:tav tm="100000">
                                          <p:val>
                                            <p:strVal val="#ppt_x"/>
                                          </p:val>
                                        </p:tav>
                                      </p:tavLst>
                                    </p:anim>
                                    <p:anim calcmode="lin" valueType="num">
                                      <p:cBhvr additive="base">
                                        <p:cTn id="32" dur="500" fill="hold"/>
                                        <p:tgtEl>
                                          <p:spTgt spid="18432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1" presetClass="entr" presetSubtype="0" fill="hold" grpId="0" nodeType="clickEffect">
                                  <p:stCondLst>
                                    <p:cond delay="0"/>
                                  </p:stCondLst>
                                  <p:childTnLst>
                                    <p:set>
                                      <p:cBhvr>
                                        <p:cTn id="36" dur="1" fill="hold">
                                          <p:stCondLst>
                                            <p:cond delay="0"/>
                                          </p:stCondLst>
                                        </p:cTn>
                                        <p:tgtEl>
                                          <p:spTgt spid="184362"/>
                                        </p:tgtEl>
                                        <p:attrNameLst>
                                          <p:attrName>style.visibility</p:attrName>
                                        </p:attrNameLst>
                                      </p:cBhvr>
                                      <p:to>
                                        <p:strVal val="visible"/>
                                      </p:to>
                                    </p:set>
                                    <p:animEffect transition="in" filter="fade">
                                      <p:cBhvr>
                                        <p:cTn id="37" dur="770" decel="100000"/>
                                        <p:tgtEl>
                                          <p:spTgt spid="184362"/>
                                        </p:tgtEl>
                                      </p:cBhvr>
                                    </p:animEffect>
                                    <p:animScale>
                                      <p:cBhvr>
                                        <p:cTn id="38" dur="770" decel="100000"/>
                                        <p:tgtEl>
                                          <p:spTgt spid="184362"/>
                                        </p:tgtEl>
                                      </p:cBhvr>
                                      <p:from x="10000" y="10000"/>
                                      <p:to x="200000" y="450000"/>
                                    </p:animScale>
                                    <p:animScale>
                                      <p:cBhvr>
                                        <p:cTn id="39" dur="1230" accel="100000" fill="hold">
                                          <p:stCondLst>
                                            <p:cond delay="770"/>
                                          </p:stCondLst>
                                        </p:cTn>
                                        <p:tgtEl>
                                          <p:spTgt spid="184362"/>
                                        </p:tgtEl>
                                      </p:cBhvr>
                                      <p:from x="200000" y="450000"/>
                                      <p:to x="100000" y="100000"/>
                                    </p:animScale>
                                    <p:set>
                                      <p:cBhvr>
                                        <p:cTn id="40" dur="770" fill="hold"/>
                                        <p:tgtEl>
                                          <p:spTgt spid="184362"/>
                                        </p:tgtEl>
                                        <p:attrNameLst>
                                          <p:attrName>ppt_x</p:attrName>
                                        </p:attrNameLst>
                                      </p:cBhvr>
                                      <p:to>
                                        <p:strVal val="(0.5)"/>
                                      </p:to>
                                    </p:set>
                                    <p:anim from="(0.5)" to="(#ppt_x)" calcmode="lin" valueType="num">
                                      <p:cBhvr>
                                        <p:cTn id="41" dur="1230" accel="100000" fill="hold">
                                          <p:stCondLst>
                                            <p:cond delay="770"/>
                                          </p:stCondLst>
                                        </p:cTn>
                                        <p:tgtEl>
                                          <p:spTgt spid="184362"/>
                                        </p:tgtEl>
                                        <p:attrNameLst>
                                          <p:attrName>ppt_x</p:attrName>
                                        </p:attrNameLst>
                                      </p:cBhvr>
                                    </p:anim>
                                    <p:set>
                                      <p:cBhvr>
                                        <p:cTn id="42" dur="770" fill="hold"/>
                                        <p:tgtEl>
                                          <p:spTgt spid="184362"/>
                                        </p:tgtEl>
                                        <p:attrNameLst>
                                          <p:attrName>ppt_y</p:attrName>
                                        </p:attrNameLst>
                                      </p:cBhvr>
                                      <p:to>
                                        <p:strVal val="(#ppt_y+0.4)"/>
                                      </p:to>
                                    </p:set>
                                    <p:anim from="(#ppt_y+0.4)" to="(#ppt_y)" calcmode="lin" valueType="num">
                                      <p:cBhvr>
                                        <p:cTn id="43" dur="1230" accel="100000" fill="hold">
                                          <p:stCondLst>
                                            <p:cond delay="770"/>
                                          </p:stCondLst>
                                        </p:cTn>
                                        <p:tgtEl>
                                          <p:spTgt spid="184362"/>
                                        </p:tgtEl>
                                        <p:attrNameLst>
                                          <p:attrName>ppt_y</p:attrName>
                                        </p:attrNameLst>
                                      </p:cBhvr>
                                    </p:anim>
                                  </p:childTnLst>
                                </p:cTn>
                              </p:par>
                              <p:par>
                                <p:cTn id="44" presetID="51" presetClass="entr" presetSubtype="0" fill="hold" grpId="0" nodeType="withEffect">
                                  <p:stCondLst>
                                    <p:cond delay="0"/>
                                  </p:stCondLst>
                                  <p:childTnLst>
                                    <p:set>
                                      <p:cBhvr>
                                        <p:cTn id="45" dur="1" fill="hold">
                                          <p:stCondLst>
                                            <p:cond delay="0"/>
                                          </p:stCondLst>
                                        </p:cTn>
                                        <p:tgtEl>
                                          <p:spTgt spid="184346"/>
                                        </p:tgtEl>
                                        <p:attrNameLst>
                                          <p:attrName>style.visibility</p:attrName>
                                        </p:attrNameLst>
                                      </p:cBhvr>
                                      <p:to>
                                        <p:strVal val="visible"/>
                                      </p:to>
                                    </p:set>
                                    <p:animEffect transition="in" filter="fade">
                                      <p:cBhvr>
                                        <p:cTn id="46" dur="770" decel="100000"/>
                                        <p:tgtEl>
                                          <p:spTgt spid="184346"/>
                                        </p:tgtEl>
                                      </p:cBhvr>
                                    </p:animEffect>
                                    <p:animScale>
                                      <p:cBhvr>
                                        <p:cTn id="47" dur="770" decel="100000"/>
                                        <p:tgtEl>
                                          <p:spTgt spid="184346"/>
                                        </p:tgtEl>
                                      </p:cBhvr>
                                      <p:from x="10000" y="10000"/>
                                      <p:to x="200000" y="450000"/>
                                    </p:animScale>
                                    <p:animScale>
                                      <p:cBhvr>
                                        <p:cTn id="48" dur="1230" accel="100000" fill="hold">
                                          <p:stCondLst>
                                            <p:cond delay="770"/>
                                          </p:stCondLst>
                                        </p:cTn>
                                        <p:tgtEl>
                                          <p:spTgt spid="184346"/>
                                        </p:tgtEl>
                                      </p:cBhvr>
                                      <p:from x="200000" y="450000"/>
                                      <p:to x="100000" y="100000"/>
                                    </p:animScale>
                                    <p:set>
                                      <p:cBhvr>
                                        <p:cTn id="49" dur="770" fill="hold"/>
                                        <p:tgtEl>
                                          <p:spTgt spid="184346"/>
                                        </p:tgtEl>
                                        <p:attrNameLst>
                                          <p:attrName>ppt_x</p:attrName>
                                        </p:attrNameLst>
                                      </p:cBhvr>
                                      <p:to>
                                        <p:strVal val="(0.5)"/>
                                      </p:to>
                                    </p:set>
                                    <p:anim from="(0.5)" to="(#ppt_x)" calcmode="lin" valueType="num">
                                      <p:cBhvr>
                                        <p:cTn id="50" dur="1230" accel="100000" fill="hold">
                                          <p:stCondLst>
                                            <p:cond delay="770"/>
                                          </p:stCondLst>
                                        </p:cTn>
                                        <p:tgtEl>
                                          <p:spTgt spid="184346"/>
                                        </p:tgtEl>
                                        <p:attrNameLst>
                                          <p:attrName>ppt_x</p:attrName>
                                        </p:attrNameLst>
                                      </p:cBhvr>
                                    </p:anim>
                                    <p:set>
                                      <p:cBhvr>
                                        <p:cTn id="51" dur="770" fill="hold"/>
                                        <p:tgtEl>
                                          <p:spTgt spid="184346"/>
                                        </p:tgtEl>
                                        <p:attrNameLst>
                                          <p:attrName>ppt_y</p:attrName>
                                        </p:attrNameLst>
                                      </p:cBhvr>
                                      <p:to>
                                        <p:strVal val="(#ppt_y+0.4)"/>
                                      </p:to>
                                    </p:set>
                                    <p:anim from="(#ppt_y+0.4)" to="(#ppt_y)" calcmode="lin" valueType="num">
                                      <p:cBhvr>
                                        <p:cTn id="52" dur="1230" accel="100000" fill="hold">
                                          <p:stCondLst>
                                            <p:cond delay="770"/>
                                          </p:stCondLst>
                                        </p:cTn>
                                        <p:tgtEl>
                                          <p:spTgt spid="184346"/>
                                        </p:tgtEl>
                                        <p:attrNameLst>
                                          <p:attrName>ppt_y</p:attrName>
                                        </p:attrNameLst>
                                      </p:cBhvr>
                                    </p:anim>
                                  </p:childTnLst>
                                </p:cTn>
                              </p:par>
                            </p:childTnLst>
                          </p:cTn>
                        </p:par>
                      </p:childTnLst>
                    </p:cTn>
                  </p:par>
                  <p:par>
                    <p:cTn id="53" fill="hold">
                      <p:stCondLst>
                        <p:cond delay="indefinite"/>
                      </p:stCondLst>
                      <p:childTnLst>
                        <p:par>
                          <p:cTn id="54" fill="hold">
                            <p:stCondLst>
                              <p:cond delay="0"/>
                            </p:stCondLst>
                            <p:childTnLst>
                              <p:par>
                                <p:cTn id="55" presetID="51" presetClass="entr" presetSubtype="0" fill="hold" grpId="0" nodeType="clickEffect">
                                  <p:stCondLst>
                                    <p:cond delay="0"/>
                                  </p:stCondLst>
                                  <p:childTnLst>
                                    <p:set>
                                      <p:cBhvr>
                                        <p:cTn id="56" dur="1" fill="hold">
                                          <p:stCondLst>
                                            <p:cond delay="0"/>
                                          </p:stCondLst>
                                        </p:cTn>
                                        <p:tgtEl>
                                          <p:spTgt spid="184363"/>
                                        </p:tgtEl>
                                        <p:attrNameLst>
                                          <p:attrName>style.visibility</p:attrName>
                                        </p:attrNameLst>
                                      </p:cBhvr>
                                      <p:to>
                                        <p:strVal val="visible"/>
                                      </p:to>
                                    </p:set>
                                    <p:animEffect transition="in" filter="fade">
                                      <p:cBhvr>
                                        <p:cTn id="57" dur="770" decel="100000"/>
                                        <p:tgtEl>
                                          <p:spTgt spid="184363"/>
                                        </p:tgtEl>
                                      </p:cBhvr>
                                    </p:animEffect>
                                    <p:animScale>
                                      <p:cBhvr>
                                        <p:cTn id="58" dur="770" decel="100000"/>
                                        <p:tgtEl>
                                          <p:spTgt spid="184363"/>
                                        </p:tgtEl>
                                      </p:cBhvr>
                                      <p:from x="10000" y="10000"/>
                                      <p:to x="200000" y="450000"/>
                                    </p:animScale>
                                    <p:animScale>
                                      <p:cBhvr>
                                        <p:cTn id="59" dur="1230" accel="100000" fill="hold">
                                          <p:stCondLst>
                                            <p:cond delay="770"/>
                                          </p:stCondLst>
                                        </p:cTn>
                                        <p:tgtEl>
                                          <p:spTgt spid="184363"/>
                                        </p:tgtEl>
                                      </p:cBhvr>
                                      <p:from x="200000" y="450000"/>
                                      <p:to x="100000" y="100000"/>
                                    </p:animScale>
                                    <p:set>
                                      <p:cBhvr>
                                        <p:cTn id="60" dur="770" fill="hold"/>
                                        <p:tgtEl>
                                          <p:spTgt spid="184363"/>
                                        </p:tgtEl>
                                        <p:attrNameLst>
                                          <p:attrName>ppt_x</p:attrName>
                                        </p:attrNameLst>
                                      </p:cBhvr>
                                      <p:to>
                                        <p:strVal val="(0.5)"/>
                                      </p:to>
                                    </p:set>
                                    <p:anim from="(0.5)" to="(#ppt_x)" calcmode="lin" valueType="num">
                                      <p:cBhvr>
                                        <p:cTn id="61" dur="1230" accel="100000" fill="hold">
                                          <p:stCondLst>
                                            <p:cond delay="770"/>
                                          </p:stCondLst>
                                        </p:cTn>
                                        <p:tgtEl>
                                          <p:spTgt spid="184363"/>
                                        </p:tgtEl>
                                        <p:attrNameLst>
                                          <p:attrName>ppt_x</p:attrName>
                                        </p:attrNameLst>
                                      </p:cBhvr>
                                    </p:anim>
                                    <p:set>
                                      <p:cBhvr>
                                        <p:cTn id="62" dur="770" fill="hold"/>
                                        <p:tgtEl>
                                          <p:spTgt spid="184363"/>
                                        </p:tgtEl>
                                        <p:attrNameLst>
                                          <p:attrName>ppt_y</p:attrName>
                                        </p:attrNameLst>
                                      </p:cBhvr>
                                      <p:to>
                                        <p:strVal val="(#ppt_y+0.4)"/>
                                      </p:to>
                                    </p:set>
                                    <p:anim from="(#ppt_y+0.4)" to="(#ppt_y)" calcmode="lin" valueType="num">
                                      <p:cBhvr>
                                        <p:cTn id="63" dur="1230" accel="100000" fill="hold">
                                          <p:stCondLst>
                                            <p:cond delay="770"/>
                                          </p:stCondLst>
                                        </p:cTn>
                                        <p:tgtEl>
                                          <p:spTgt spid="184363"/>
                                        </p:tgtEl>
                                        <p:attrNameLst>
                                          <p:attrName>ppt_y</p:attrName>
                                        </p:attrNameLst>
                                      </p:cBhvr>
                                    </p:anim>
                                  </p:childTnLst>
                                </p:cTn>
                              </p:par>
                              <p:par>
                                <p:cTn id="64" presetID="51" presetClass="entr" presetSubtype="0" fill="hold" grpId="0" nodeType="withEffect">
                                  <p:stCondLst>
                                    <p:cond delay="0"/>
                                  </p:stCondLst>
                                  <p:childTnLst>
                                    <p:set>
                                      <p:cBhvr>
                                        <p:cTn id="65" dur="1" fill="hold">
                                          <p:stCondLst>
                                            <p:cond delay="0"/>
                                          </p:stCondLst>
                                        </p:cTn>
                                        <p:tgtEl>
                                          <p:spTgt spid="184352"/>
                                        </p:tgtEl>
                                        <p:attrNameLst>
                                          <p:attrName>style.visibility</p:attrName>
                                        </p:attrNameLst>
                                      </p:cBhvr>
                                      <p:to>
                                        <p:strVal val="visible"/>
                                      </p:to>
                                    </p:set>
                                    <p:animEffect transition="in" filter="fade">
                                      <p:cBhvr>
                                        <p:cTn id="66" dur="770" decel="100000"/>
                                        <p:tgtEl>
                                          <p:spTgt spid="184352"/>
                                        </p:tgtEl>
                                      </p:cBhvr>
                                    </p:animEffect>
                                    <p:animScale>
                                      <p:cBhvr>
                                        <p:cTn id="67" dur="770" decel="100000"/>
                                        <p:tgtEl>
                                          <p:spTgt spid="184352"/>
                                        </p:tgtEl>
                                      </p:cBhvr>
                                      <p:from x="10000" y="10000"/>
                                      <p:to x="200000" y="450000"/>
                                    </p:animScale>
                                    <p:animScale>
                                      <p:cBhvr>
                                        <p:cTn id="68" dur="1230" accel="100000" fill="hold">
                                          <p:stCondLst>
                                            <p:cond delay="770"/>
                                          </p:stCondLst>
                                        </p:cTn>
                                        <p:tgtEl>
                                          <p:spTgt spid="184352"/>
                                        </p:tgtEl>
                                      </p:cBhvr>
                                      <p:from x="200000" y="450000"/>
                                      <p:to x="100000" y="100000"/>
                                    </p:animScale>
                                    <p:set>
                                      <p:cBhvr>
                                        <p:cTn id="69" dur="770" fill="hold"/>
                                        <p:tgtEl>
                                          <p:spTgt spid="184352"/>
                                        </p:tgtEl>
                                        <p:attrNameLst>
                                          <p:attrName>ppt_x</p:attrName>
                                        </p:attrNameLst>
                                      </p:cBhvr>
                                      <p:to>
                                        <p:strVal val="(0.5)"/>
                                      </p:to>
                                    </p:set>
                                    <p:anim from="(0.5)" to="(#ppt_x)" calcmode="lin" valueType="num">
                                      <p:cBhvr>
                                        <p:cTn id="70" dur="1230" accel="100000" fill="hold">
                                          <p:stCondLst>
                                            <p:cond delay="770"/>
                                          </p:stCondLst>
                                        </p:cTn>
                                        <p:tgtEl>
                                          <p:spTgt spid="184352"/>
                                        </p:tgtEl>
                                        <p:attrNameLst>
                                          <p:attrName>ppt_x</p:attrName>
                                        </p:attrNameLst>
                                      </p:cBhvr>
                                    </p:anim>
                                    <p:set>
                                      <p:cBhvr>
                                        <p:cTn id="71" dur="770" fill="hold"/>
                                        <p:tgtEl>
                                          <p:spTgt spid="184352"/>
                                        </p:tgtEl>
                                        <p:attrNameLst>
                                          <p:attrName>ppt_y</p:attrName>
                                        </p:attrNameLst>
                                      </p:cBhvr>
                                      <p:to>
                                        <p:strVal val="(#ppt_y+0.4)"/>
                                      </p:to>
                                    </p:set>
                                    <p:anim from="(#ppt_y+0.4)" to="(#ppt_y)" calcmode="lin" valueType="num">
                                      <p:cBhvr>
                                        <p:cTn id="72" dur="1230" accel="100000" fill="hold">
                                          <p:stCondLst>
                                            <p:cond delay="770"/>
                                          </p:stCondLst>
                                        </p:cTn>
                                        <p:tgtEl>
                                          <p:spTgt spid="184352"/>
                                        </p:tgtEl>
                                        <p:attrNameLst>
                                          <p:attrName>ppt_y</p:attrName>
                                        </p:attrNameLst>
                                      </p:cBhvr>
                                    </p:anim>
                                  </p:childTnLst>
                                </p:cTn>
                              </p:par>
                            </p:childTnLst>
                          </p:cTn>
                        </p:par>
                      </p:childTnLst>
                    </p:cTn>
                  </p:par>
                  <p:par>
                    <p:cTn id="73" fill="hold">
                      <p:stCondLst>
                        <p:cond delay="indefinite"/>
                      </p:stCondLst>
                      <p:childTnLst>
                        <p:par>
                          <p:cTn id="74" fill="hold">
                            <p:stCondLst>
                              <p:cond delay="0"/>
                            </p:stCondLst>
                            <p:childTnLst>
                              <p:par>
                                <p:cTn id="75" presetID="51" presetClass="entr" presetSubtype="0" fill="hold" grpId="0" nodeType="clickEffect">
                                  <p:stCondLst>
                                    <p:cond delay="0"/>
                                  </p:stCondLst>
                                  <p:childTnLst>
                                    <p:set>
                                      <p:cBhvr>
                                        <p:cTn id="76" dur="1" fill="hold">
                                          <p:stCondLst>
                                            <p:cond delay="0"/>
                                          </p:stCondLst>
                                        </p:cTn>
                                        <p:tgtEl>
                                          <p:spTgt spid="184364"/>
                                        </p:tgtEl>
                                        <p:attrNameLst>
                                          <p:attrName>style.visibility</p:attrName>
                                        </p:attrNameLst>
                                      </p:cBhvr>
                                      <p:to>
                                        <p:strVal val="visible"/>
                                      </p:to>
                                    </p:set>
                                    <p:animEffect transition="in" filter="fade">
                                      <p:cBhvr>
                                        <p:cTn id="77" dur="770" decel="100000"/>
                                        <p:tgtEl>
                                          <p:spTgt spid="184364"/>
                                        </p:tgtEl>
                                      </p:cBhvr>
                                    </p:animEffect>
                                    <p:animScale>
                                      <p:cBhvr>
                                        <p:cTn id="78" dur="770" decel="100000"/>
                                        <p:tgtEl>
                                          <p:spTgt spid="184364"/>
                                        </p:tgtEl>
                                      </p:cBhvr>
                                      <p:from x="10000" y="10000"/>
                                      <p:to x="200000" y="450000"/>
                                    </p:animScale>
                                    <p:animScale>
                                      <p:cBhvr>
                                        <p:cTn id="79" dur="1230" accel="100000" fill="hold">
                                          <p:stCondLst>
                                            <p:cond delay="770"/>
                                          </p:stCondLst>
                                        </p:cTn>
                                        <p:tgtEl>
                                          <p:spTgt spid="184364"/>
                                        </p:tgtEl>
                                      </p:cBhvr>
                                      <p:from x="200000" y="450000"/>
                                      <p:to x="100000" y="100000"/>
                                    </p:animScale>
                                    <p:set>
                                      <p:cBhvr>
                                        <p:cTn id="80" dur="770" fill="hold"/>
                                        <p:tgtEl>
                                          <p:spTgt spid="184364"/>
                                        </p:tgtEl>
                                        <p:attrNameLst>
                                          <p:attrName>ppt_x</p:attrName>
                                        </p:attrNameLst>
                                      </p:cBhvr>
                                      <p:to>
                                        <p:strVal val="(0.5)"/>
                                      </p:to>
                                    </p:set>
                                    <p:anim from="(0.5)" to="(#ppt_x)" calcmode="lin" valueType="num">
                                      <p:cBhvr>
                                        <p:cTn id="81" dur="1230" accel="100000" fill="hold">
                                          <p:stCondLst>
                                            <p:cond delay="770"/>
                                          </p:stCondLst>
                                        </p:cTn>
                                        <p:tgtEl>
                                          <p:spTgt spid="184364"/>
                                        </p:tgtEl>
                                        <p:attrNameLst>
                                          <p:attrName>ppt_x</p:attrName>
                                        </p:attrNameLst>
                                      </p:cBhvr>
                                    </p:anim>
                                    <p:set>
                                      <p:cBhvr>
                                        <p:cTn id="82" dur="770" fill="hold"/>
                                        <p:tgtEl>
                                          <p:spTgt spid="184364"/>
                                        </p:tgtEl>
                                        <p:attrNameLst>
                                          <p:attrName>ppt_y</p:attrName>
                                        </p:attrNameLst>
                                      </p:cBhvr>
                                      <p:to>
                                        <p:strVal val="(#ppt_y+0.4)"/>
                                      </p:to>
                                    </p:set>
                                    <p:anim from="(#ppt_y+0.4)" to="(#ppt_y)" calcmode="lin" valueType="num">
                                      <p:cBhvr>
                                        <p:cTn id="83" dur="1230" accel="100000" fill="hold">
                                          <p:stCondLst>
                                            <p:cond delay="770"/>
                                          </p:stCondLst>
                                        </p:cTn>
                                        <p:tgtEl>
                                          <p:spTgt spid="184364"/>
                                        </p:tgtEl>
                                        <p:attrNameLst>
                                          <p:attrName>ppt_y</p:attrName>
                                        </p:attrNameLst>
                                      </p:cBhvr>
                                    </p:anim>
                                  </p:childTnLst>
                                </p:cTn>
                              </p:par>
                              <p:par>
                                <p:cTn id="84" presetID="51" presetClass="entr" presetSubtype="0" fill="hold" grpId="0" nodeType="withEffect">
                                  <p:stCondLst>
                                    <p:cond delay="0"/>
                                  </p:stCondLst>
                                  <p:childTnLst>
                                    <p:set>
                                      <p:cBhvr>
                                        <p:cTn id="85" dur="1" fill="hold">
                                          <p:stCondLst>
                                            <p:cond delay="0"/>
                                          </p:stCondLst>
                                        </p:cTn>
                                        <p:tgtEl>
                                          <p:spTgt spid="184353"/>
                                        </p:tgtEl>
                                        <p:attrNameLst>
                                          <p:attrName>style.visibility</p:attrName>
                                        </p:attrNameLst>
                                      </p:cBhvr>
                                      <p:to>
                                        <p:strVal val="visible"/>
                                      </p:to>
                                    </p:set>
                                    <p:animEffect transition="in" filter="fade">
                                      <p:cBhvr>
                                        <p:cTn id="86" dur="770" decel="100000"/>
                                        <p:tgtEl>
                                          <p:spTgt spid="184353"/>
                                        </p:tgtEl>
                                      </p:cBhvr>
                                    </p:animEffect>
                                    <p:animScale>
                                      <p:cBhvr>
                                        <p:cTn id="87" dur="770" decel="100000"/>
                                        <p:tgtEl>
                                          <p:spTgt spid="184353"/>
                                        </p:tgtEl>
                                      </p:cBhvr>
                                      <p:from x="10000" y="10000"/>
                                      <p:to x="200000" y="450000"/>
                                    </p:animScale>
                                    <p:animScale>
                                      <p:cBhvr>
                                        <p:cTn id="88" dur="1230" accel="100000" fill="hold">
                                          <p:stCondLst>
                                            <p:cond delay="770"/>
                                          </p:stCondLst>
                                        </p:cTn>
                                        <p:tgtEl>
                                          <p:spTgt spid="184353"/>
                                        </p:tgtEl>
                                      </p:cBhvr>
                                      <p:from x="200000" y="450000"/>
                                      <p:to x="100000" y="100000"/>
                                    </p:animScale>
                                    <p:set>
                                      <p:cBhvr>
                                        <p:cTn id="89" dur="770" fill="hold"/>
                                        <p:tgtEl>
                                          <p:spTgt spid="184353"/>
                                        </p:tgtEl>
                                        <p:attrNameLst>
                                          <p:attrName>ppt_x</p:attrName>
                                        </p:attrNameLst>
                                      </p:cBhvr>
                                      <p:to>
                                        <p:strVal val="(0.5)"/>
                                      </p:to>
                                    </p:set>
                                    <p:anim from="(0.5)" to="(#ppt_x)" calcmode="lin" valueType="num">
                                      <p:cBhvr>
                                        <p:cTn id="90" dur="1230" accel="100000" fill="hold">
                                          <p:stCondLst>
                                            <p:cond delay="770"/>
                                          </p:stCondLst>
                                        </p:cTn>
                                        <p:tgtEl>
                                          <p:spTgt spid="184353"/>
                                        </p:tgtEl>
                                        <p:attrNameLst>
                                          <p:attrName>ppt_x</p:attrName>
                                        </p:attrNameLst>
                                      </p:cBhvr>
                                    </p:anim>
                                    <p:set>
                                      <p:cBhvr>
                                        <p:cTn id="91" dur="770" fill="hold"/>
                                        <p:tgtEl>
                                          <p:spTgt spid="184353"/>
                                        </p:tgtEl>
                                        <p:attrNameLst>
                                          <p:attrName>ppt_y</p:attrName>
                                        </p:attrNameLst>
                                      </p:cBhvr>
                                      <p:to>
                                        <p:strVal val="(#ppt_y+0.4)"/>
                                      </p:to>
                                    </p:set>
                                    <p:anim from="(#ppt_y+0.4)" to="(#ppt_y)" calcmode="lin" valueType="num">
                                      <p:cBhvr>
                                        <p:cTn id="92" dur="1230" accel="100000" fill="hold">
                                          <p:stCondLst>
                                            <p:cond delay="770"/>
                                          </p:stCondLst>
                                        </p:cTn>
                                        <p:tgtEl>
                                          <p:spTgt spid="184353"/>
                                        </p:tgtEl>
                                        <p:attrNameLst>
                                          <p:attrName>ppt_y</p:attrName>
                                        </p:attrNameLst>
                                      </p:cBhvr>
                                    </p:anim>
                                  </p:childTnLst>
                                </p:cTn>
                              </p:par>
                            </p:childTnLst>
                          </p:cTn>
                        </p:par>
                      </p:childTnLst>
                    </p:cTn>
                  </p:par>
                  <p:par>
                    <p:cTn id="93" fill="hold">
                      <p:stCondLst>
                        <p:cond delay="indefinite"/>
                      </p:stCondLst>
                      <p:childTnLst>
                        <p:par>
                          <p:cTn id="94" fill="hold">
                            <p:stCondLst>
                              <p:cond delay="0"/>
                            </p:stCondLst>
                            <p:childTnLst>
                              <p:par>
                                <p:cTn id="95" presetID="51" presetClass="entr" presetSubtype="0" fill="hold" grpId="0" nodeType="clickEffect">
                                  <p:stCondLst>
                                    <p:cond delay="0"/>
                                  </p:stCondLst>
                                  <p:childTnLst>
                                    <p:set>
                                      <p:cBhvr>
                                        <p:cTn id="96" dur="1" fill="hold">
                                          <p:stCondLst>
                                            <p:cond delay="0"/>
                                          </p:stCondLst>
                                        </p:cTn>
                                        <p:tgtEl>
                                          <p:spTgt spid="184365"/>
                                        </p:tgtEl>
                                        <p:attrNameLst>
                                          <p:attrName>style.visibility</p:attrName>
                                        </p:attrNameLst>
                                      </p:cBhvr>
                                      <p:to>
                                        <p:strVal val="visible"/>
                                      </p:to>
                                    </p:set>
                                    <p:animEffect transition="in" filter="fade">
                                      <p:cBhvr>
                                        <p:cTn id="97" dur="770" decel="100000"/>
                                        <p:tgtEl>
                                          <p:spTgt spid="184365"/>
                                        </p:tgtEl>
                                      </p:cBhvr>
                                    </p:animEffect>
                                    <p:animScale>
                                      <p:cBhvr>
                                        <p:cTn id="98" dur="770" decel="100000"/>
                                        <p:tgtEl>
                                          <p:spTgt spid="184365"/>
                                        </p:tgtEl>
                                      </p:cBhvr>
                                      <p:from x="10000" y="10000"/>
                                      <p:to x="200000" y="450000"/>
                                    </p:animScale>
                                    <p:animScale>
                                      <p:cBhvr>
                                        <p:cTn id="99" dur="1230" accel="100000" fill="hold">
                                          <p:stCondLst>
                                            <p:cond delay="770"/>
                                          </p:stCondLst>
                                        </p:cTn>
                                        <p:tgtEl>
                                          <p:spTgt spid="184365"/>
                                        </p:tgtEl>
                                      </p:cBhvr>
                                      <p:from x="200000" y="450000"/>
                                      <p:to x="100000" y="100000"/>
                                    </p:animScale>
                                    <p:set>
                                      <p:cBhvr>
                                        <p:cTn id="100" dur="770" fill="hold"/>
                                        <p:tgtEl>
                                          <p:spTgt spid="184365"/>
                                        </p:tgtEl>
                                        <p:attrNameLst>
                                          <p:attrName>ppt_x</p:attrName>
                                        </p:attrNameLst>
                                      </p:cBhvr>
                                      <p:to>
                                        <p:strVal val="(0.5)"/>
                                      </p:to>
                                    </p:set>
                                    <p:anim from="(0.5)" to="(#ppt_x)" calcmode="lin" valueType="num">
                                      <p:cBhvr>
                                        <p:cTn id="101" dur="1230" accel="100000" fill="hold">
                                          <p:stCondLst>
                                            <p:cond delay="770"/>
                                          </p:stCondLst>
                                        </p:cTn>
                                        <p:tgtEl>
                                          <p:spTgt spid="184365"/>
                                        </p:tgtEl>
                                        <p:attrNameLst>
                                          <p:attrName>ppt_x</p:attrName>
                                        </p:attrNameLst>
                                      </p:cBhvr>
                                    </p:anim>
                                    <p:set>
                                      <p:cBhvr>
                                        <p:cTn id="102" dur="770" fill="hold"/>
                                        <p:tgtEl>
                                          <p:spTgt spid="184365"/>
                                        </p:tgtEl>
                                        <p:attrNameLst>
                                          <p:attrName>ppt_y</p:attrName>
                                        </p:attrNameLst>
                                      </p:cBhvr>
                                      <p:to>
                                        <p:strVal val="(#ppt_y+0.4)"/>
                                      </p:to>
                                    </p:set>
                                    <p:anim from="(#ppt_y+0.4)" to="(#ppt_y)" calcmode="lin" valueType="num">
                                      <p:cBhvr>
                                        <p:cTn id="103" dur="1230" accel="100000" fill="hold">
                                          <p:stCondLst>
                                            <p:cond delay="770"/>
                                          </p:stCondLst>
                                        </p:cTn>
                                        <p:tgtEl>
                                          <p:spTgt spid="184365"/>
                                        </p:tgtEl>
                                        <p:attrNameLst>
                                          <p:attrName>ppt_y</p:attrName>
                                        </p:attrNameLst>
                                      </p:cBhvr>
                                    </p:anim>
                                  </p:childTnLst>
                                </p:cTn>
                              </p:par>
                              <p:par>
                                <p:cTn id="104" presetID="51" presetClass="entr" presetSubtype="0" fill="hold" grpId="0" nodeType="withEffect">
                                  <p:stCondLst>
                                    <p:cond delay="0"/>
                                  </p:stCondLst>
                                  <p:childTnLst>
                                    <p:set>
                                      <p:cBhvr>
                                        <p:cTn id="105" dur="1" fill="hold">
                                          <p:stCondLst>
                                            <p:cond delay="0"/>
                                          </p:stCondLst>
                                        </p:cTn>
                                        <p:tgtEl>
                                          <p:spTgt spid="184354"/>
                                        </p:tgtEl>
                                        <p:attrNameLst>
                                          <p:attrName>style.visibility</p:attrName>
                                        </p:attrNameLst>
                                      </p:cBhvr>
                                      <p:to>
                                        <p:strVal val="visible"/>
                                      </p:to>
                                    </p:set>
                                    <p:animEffect transition="in" filter="fade">
                                      <p:cBhvr>
                                        <p:cTn id="106" dur="770" decel="100000"/>
                                        <p:tgtEl>
                                          <p:spTgt spid="184354"/>
                                        </p:tgtEl>
                                      </p:cBhvr>
                                    </p:animEffect>
                                    <p:animScale>
                                      <p:cBhvr>
                                        <p:cTn id="107" dur="770" decel="100000"/>
                                        <p:tgtEl>
                                          <p:spTgt spid="184354"/>
                                        </p:tgtEl>
                                      </p:cBhvr>
                                      <p:from x="10000" y="10000"/>
                                      <p:to x="200000" y="450000"/>
                                    </p:animScale>
                                    <p:animScale>
                                      <p:cBhvr>
                                        <p:cTn id="108" dur="1230" accel="100000" fill="hold">
                                          <p:stCondLst>
                                            <p:cond delay="770"/>
                                          </p:stCondLst>
                                        </p:cTn>
                                        <p:tgtEl>
                                          <p:spTgt spid="184354"/>
                                        </p:tgtEl>
                                      </p:cBhvr>
                                      <p:from x="200000" y="450000"/>
                                      <p:to x="100000" y="100000"/>
                                    </p:animScale>
                                    <p:set>
                                      <p:cBhvr>
                                        <p:cTn id="109" dur="770" fill="hold"/>
                                        <p:tgtEl>
                                          <p:spTgt spid="184354"/>
                                        </p:tgtEl>
                                        <p:attrNameLst>
                                          <p:attrName>ppt_x</p:attrName>
                                        </p:attrNameLst>
                                      </p:cBhvr>
                                      <p:to>
                                        <p:strVal val="(0.5)"/>
                                      </p:to>
                                    </p:set>
                                    <p:anim from="(0.5)" to="(#ppt_x)" calcmode="lin" valueType="num">
                                      <p:cBhvr>
                                        <p:cTn id="110" dur="1230" accel="100000" fill="hold">
                                          <p:stCondLst>
                                            <p:cond delay="770"/>
                                          </p:stCondLst>
                                        </p:cTn>
                                        <p:tgtEl>
                                          <p:spTgt spid="184354"/>
                                        </p:tgtEl>
                                        <p:attrNameLst>
                                          <p:attrName>ppt_x</p:attrName>
                                        </p:attrNameLst>
                                      </p:cBhvr>
                                    </p:anim>
                                    <p:set>
                                      <p:cBhvr>
                                        <p:cTn id="111" dur="770" fill="hold"/>
                                        <p:tgtEl>
                                          <p:spTgt spid="184354"/>
                                        </p:tgtEl>
                                        <p:attrNameLst>
                                          <p:attrName>ppt_y</p:attrName>
                                        </p:attrNameLst>
                                      </p:cBhvr>
                                      <p:to>
                                        <p:strVal val="(#ppt_y+0.4)"/>
                                      </p:to>
                                    </p:set>
                                    <p:anim from="(#ppt_y+0.4)" to="(#ppt_y)" calcmode="lin" valueType="num">
                                      <p:cBhvr>
                                        <p:cTn id="112" dur="1230" accel="100000" fill="hold">
                                          <p:stCondLst>
                                            <p:cond delay="770"/>
                                          </p:stCondLst>
                                        </p:cTn>
                                        <p:tgtEl>
                                          <p:spTgt spid="18435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6" grpId="0"/>
      <p:bldP spid="184328" grpId="0"/>
      <p:bldP spid="184329" grpId="0"/>
      <p:bldP spid="184346" grpId="0"/>
      <p:bldP spid="184352" grpId="0"/>
      <p:bldP spid="184353" grpId="0"/>
      <p:bldP spid="184354" grpId="0"/>
      <p:bldP spid="184362" grpId="0"/>
      <p:bldP spid="184363" grpId="0"/>
      <p:bldP spid="184364" grpId="0"/>
      <p:bldP spid="18436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GB"/>
              <a:t>Array Initialisation</a:t>
            </a:r>
          </a:p>
        </p:txBody>
      </p:sp>
      <p:sp>
        <p:nvSpPr>
          <p:cNvPr id="8195" name="Rectangle 3"/>
          <p:cNvSpPr>
            <a:spLocks noGrp="1" noChangeArrowheads="1"/>
          </p:cNvSpPr>
          <p:nvPr>
            <p:ph type="body" idx="1"/>
          </p:nvPr>
        </p:nvSpPr>
        <p:spPr>
          <a:xfrm>
            <a:off x="417513" y="1628775"/>
            <a:ext cx="6151562" cy="6838950"/>
          </a:xfrm>
        </p:spPr>
        <p:txBody>
          <a:bodyPr/>
          <a:lstStyle/>
          <a:p>
            <a:pPr eaLnBrk="1" hangingPunct="1"/>
            <a:r>
              <a:rPr lang="en-US" sz="2800" dirty="0"/>
              <a:t>We could create an array and set </a:t>
            </a:r>
            <a:r>
              <a:rPr lang="en-US" sz="2800" b="1" dirty="0"/>
              <a:t>all the</a:t>
            </a:r>
            <a:r>
              <a:rPr lang="en-US" sz="2800" dirty="0"/>
              <a:t> </a:t>
            </a:r>
            <a:r>
              <a:rPr lang="en-US" sz="2800" b="1" dirty="0"/>
              <a:t>values</a:t>
            </a:r>
            <a:r>
              <a:rPr lang="en-US" sz="2800" dirty="0"/>
              <a:t> of an </a:t>
            </a:r>
            <a:r>
              <a:rPr lang="en-GB" sz="2800" dirty="0"/>
              <a:t>array</a:t>
            </a:r>
          </a:p>
          <a:p>
            <a:pPr eaLnBrk="1" hangingPunct="1"/>
            <a:r>
              <a:rPr lang="en-GB" sz="2800" dirty="0"/>
              <a:t>We declare it like this:</a:t>
            </a:r>
          </a:p>
          <a:p>
            <a:pPr eaLnBrk="1" hangingPunct="1"/>
            <a:endParaRPr lang="en-GB" sz="2800" dirty="0"/>
          </a:p>
          <a:p>
            <a:pPr eaLnBrk="1" hangingPunct="1">
              <a:buFont typeface="Wingdings" pitchFamily="2" charset="2"/>
              <a:buNone/>
            </a:pPr>
            <a:r>
              <a:rPr lang="en-GB" b="1" dirty="0">
                <a:solidFill>
                  <a:srgbClr val="008000"/>
                </a:solidFill>
                <a:latin typeface="Lucida Console" pitchFamily="49" charset="0"/>
              </a:rPr>
              <a:t>//array of 4 float elements</a:t>
            </a:r>
          </a:p>
          <a:p>
            <a:pPr eaLnBrk="1" hangingPunct="1">
              <a:spcBef>
                <a:spcPct val="0"/>
              </a:spcBef>
              <a:buFont typeface="Wingdings" pitchFamily="2" charset="2"/>
              <a:buNone/>
            </a:pPr>
            <a:r>
              <a:rPr lang="en-GB" b="1" dirty="0">
                <a:latin typeface="Lucida Console" pitchFamily="49" charset="0"/>
              </a:rPr>
              <a:t>	</a:t>
            </a:r>
            <a:r>
              <a:rPr lang="en-GB" b="1" dirty="0">
                <a:solidFill>
                  <a:srgbClr val="0033CC"/>
                </a:solidFill>
                <a:latin typeface="Lucida Console" pitchFamily="49" charset="0"/>
              </a:rPr>
              <a:t>float</a:t>
            </a:r>
            <a:r>
              <a:rPr lang="en-GB" b="1" dirty="0">
                <a:latin typeface="Lucida Console" pitchFamily="49" charset="0"/>
              </a:rPr>
              <a:t> [] </a:t>
            </a:r>
            <a:r>
              <a:rPr lang="en-GB" dirty="0">
                <a:latin typeface="Lucida Console" pitchFamily="49" charset="0"/>
              </a:rPr>
              <a:t>interest </a:t>
            </a:r>
            <a:r>
              <a:rPr lang="en-US" dirty="0">
                <a:latin typeface="Lucida Console" pitchFamily="49" charset="0"/>
              </a:rPr>
              <a:t>= </a:t>
            </a:r>
          </a:p>
          <a:p>
            <a:pPr eaLnBrk="1" hangingPunct="1">
              <a:buFont typeface="Wingdings" pitchFamily="2" charset="2"/>
              <a:buNone/>
            </a:pPr>
            <a:r>
              <a:rPr lang="en-US" dirty="0">
                <a:latin typeface="Lucida Console" pitchFamily="49" charset="0"/>
              </a:rPr>
              <a:t>		  {8.0f,</a:t>
            </a:r>
            <a:r>
              <a:rPr lang="en-GB" dirty="0">
                <a:latin typeface="Lucida Console" pitchFamily="49" charset="0"/>
              </a:rPr>
              <a:t>6.5f</a:t>
            </a:r>
            <a:r>
              <a:rPr lang="en-US" dirty="0">
                <a:latin typeface="Lucida Console" pitchFamily="49" charset="0"/>
              </a:rPr>
              <a:t>,</a:t>
            </a:r>
            <a:r>
              <a:rPr lang="en-GB" dirty="0">
                <a:latin typeface="Lucida Console" pitchFamily="49" charset="0"/>
              </a:rPr>
              <a:t>5.2F,10.0F</a:t>
            </a:r>
            <a:r>
              <a:rPr lang="en-US" dirty="0">
                <a:latin typeface="Lucida Console" pitchFamily="49" charset="0"/>
              </a:rPr>
              <a:t>};</a:t>
            </a:r>
          </a:p>
          <a:p>
            <a:pPr eaLnBrk="1" hangingPunct="1">
              <a:buFont typeface="Wingdings" pitchFamily="2" charset="2"/>
              <a:buNone/>
            </a:pPr>
            <a:r>
              <a:rPr lang="en-GB" b="1" dirty="0">
                <a:solidFill>
                  <a:srgbClr val="008000"/>
                </a:solidFill>
                <a:latin typeface="Lucida Console" pitchFamily="49" charset="0"/>
              </a:rPr>
              <a:t>//array of 2 long elements</a:t>
            </a:r>
            <a:endParaRPr lang="en-US" dirty="0">
              <a:solidFill>
                <a:srgbClr val="008000"/>
              </a:solidFill>
              <a:latin typeface="Lucida Console" pitchFamily="49" charset="0"/>
            </a:endParaRPr>
          </a:p>
          <a:p>
            <a:pPr eaLnBrk="1" hangingPunct="1">
              <a:spcBef>
                <a:spcPct val="0"/>
              </a:spcBef>
              <a:buFont typeface="Wingdings" pitchFamily="2" charset="2"/>
              <a:buNone/>
            </a:pPr>
            <a:r>
              <a:rPr lang="en-US" b="1" dirty="0">
                <a:latin typeface="Lucida Console" pitchFamily="49" charset="0"/>
              </a:rPr>
              <a:t>  </a:t>
            </a:r>
            <a:r>
              <a:rPr lang="en-US" b="1" dirty="0">
                <a:solidFill>
                  <a:srgbClr val="0033CC"/>
                </a:solidFill>
                <a:latin typeface="Lucida Console" pitchFamily="49" charset="0"/>
              </a:rPr>
              <a:t>long</a:t>
            </a:r>
            <a:r>
              <a:rPr lang="en-US" b="1" dirty="0">
                <a:latin typeface="Lucida Console" pitchFamily="49" charset="0"/>
              </a:rPr>
              <a:t> [] </a:t>
            </a:r>
            <a:r>
              <a:rPr lang="en-US" dirty="0" err="1">
                <a:latin typeface="Lucida Console" pitchFamily="49" charset="0"/>
              </a:rPr>
              <a:t>acctno</a:t>
            </a:r>
            <a:r>
              <a:rPr lang="en-US" dirty="0">
                <a:latin typeface="Lucida Console" pitchFamily="49" charset="0"/>
              </a:rPr>
              <a:t> =</a:t>
            </a:r>
          </a:p>
          <a:p>
            <a:pPr eaLnBrk="1" hangingPunct="1">
              <a:buFont typeface="Wingdings" pitchFamily="2" charset="2"/>
              <a:buNone/>
            </a:pPr>
            <a:r>
              <a:rPr lang="en-US" dirty="0">
                <a:latin typeface="Lucida Console" pitchFamily="49" charset="0"/>
              </a:rPr>
              <a:t>	{885657410211L,787852526336l};</a:t>
            </a:r>
          </a:p>
          <a:p>
            <a:pPr eaLnBrk="1" hangingPunct="1">
              <a:buFont typeface="Wingdings" pitchFamily="2" charset="2"/>
              <a:buNone/>
            </a:pPr>
            <a:r>
              <a:rPr lang="en-US" b="1" dirty="0">
                <a:solidFill>
                  <a:srgbClr val="008000"/>
                </a:solidFill>
                <a:latin typeface="Lucida Console" pitchFamily="49" charset="0"/>
              </a:rPr>
              <a:t>//array of 7 string elements</a:t>
            </a:r>
          </a:p>
          <a:p>
            <a:pPr eaLnBrk="1" hangingPunct="1">
              <a:spcBef>
                <a:spcPct val="0"/>
              </a:spcBef>
              <a:buFont typeface="Wingdings" pitchFamily="2" charset="2"/>
              <a:buNone/>
            </a:pPr>
            <a:r>
              <a:rPr lang="en-GB" b="1" dirty="0">
                <a:latin typeface="Lucida Console" pitchFamily="49" charset="0"/>
              </a:rPr>
              <a:t>	</a:t>
            </a:r>
            <a:r>
              <a:rPr lang="en-GB" b="1" dirty="0">
                <a:solidFill>
                  <a:srgbClr val="0033CC"/>
                </a:solidFill>
                <a:latin typeface="Lucida Console" pitchFamily="49" charset="0"/>
              </a:rPr>
              <a:t>string</a:t>
            </a:r>
            <a:r>
              <a:rPr lang="en-GB" b="1" dirty="0">
                <a:latin typeface="Lucida Console" pitchFamily="49" charset="0"/>
              </a:rPr>
              <a:t> [] </a:t>
            </a:r>
            <a:r>
              <a:rPr lang="en-GB" dirty="0" err="1">
                <a:latin typeface="Lucida Console" pitchFamily="49" charset="0"/>
              </a:rPr>
              <a:t>acctname</a:t>
            </a:r>
            <a:r>
              <a:rPr lang="en-GB" dirty="0">
                <a:latin typeface="Lucida Console" pitchFamily="49" charset="0"/>
              </a:rPr>
              <a:t> =</a:t>
            </a:r>
          </a:p>
          <a:p>
            <a:pPr eaLnBrk="1" hangingPunct="1">
              <a:buFont typeface="Wingdings" pitchFamily="2" charset="2"/>
              <a:buNone/>
            </a:pPr>
            <a:r>
              <a:rPr lang="en-GB" b="1" dirty="0">
                <a:latin typeface="Lucida Console" pitchFamily="49" charset="0"/>
              </a:rPr>
              <a:t>	 </a:t>
            </a:r>
            <a:r>
              <a:rPr lang="en-GB" dirty="0">
                <a:latin typeface="Lucida Console" pitchFamily="49" charset="0"/>
              </a:rPr>
              <a:t>{“”, “”, “”, “”, “”, “”, “”};</a:t>
            </a:r>
          </a:p>
          <a:p>
            <a:pPr eaLnBrk="1" hangingPunct="1">
              <a:buFont typeface="Wingdings" pitchFamily="2" charset="2"/>
              <a:buNone/>
            </a:pPr>
            <a:endParaRPr lang="en-GB" b="1" dirty="0">
              <a:latin typeface="Lucida Console" pitchFamily="49"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t>Exercise</a:t>
            </a:r>
          </a:p>
        </p:txBody>
      </p:sp>
      <p:sp>
        <p:nvSpPr>
          <p:cNvPr id="9219" name="Rectangle 3"/>
          <p:cNvSpPr>
            <a:spLocks noGrp="1" noChangeArrowheads="1"/>
          </p:cNvSpPr>
          <p:nvPr>
            <p:ph type="body" idx="1"/>
          </p:nvPr>
        </p:nvSpPr>
        <p:spPr>
          <a:xfrm>
            <a:off x="427038" y="1701800"/>
            <a:ext cx="6088062" cy="4970463"/>
          </a:xfrm>
        </p:spPr>
        <p:txBody>
          <a:bodyPr/>
          <a:lstStyle/>
          <a:p>
            <a:pPr eaLnBrk="1" hangingPunct="1"/>
            <a:r>
              <a:rPr lang="en-US" dirty="0"/>
              <a:t>Create and initialize an array with “apple”, “orange”, “pear”.</a:t>
            </a:r>
          </a:p>
          <a:p>
            <a:pPr eaLnBrk="1" hangingPunct="1">
              <a:buFont typeface="Wingdings" pitchFamily="2" charset="2"/>
              <a:buNone/>
            </a:pPr>
            <a:endParaRPr lang="en-US" dirty="0"/>
          </a:p>
          <a:p>
            <a:pPr eaLnBrk="1" hangingPunct="1"/>
            <a:endParaRPr lang="en-US" dirty="0"/>
          </a:p>
          <a:p>
            <a:pPr eaLnBrk="1" hangingPunct="1"/>
            <a:endParaRPr lang="en-US" dirty="0"/>
          </a:p>
          <a:p>
            <a:pPr eaLnBrk="1" hangingPunct="1"/>
            <a:r>
              <a:rPr lang="en-US" dirty="0"/>
              <a:t>Create and initialize an array with 33.3, 44.4, 55.5.</a:t>
            </a:r>
          </a:p>
          <a:p>
            <a:pPr eaLnBrk="1" hangingPunct="1"/>
            <a:endParaRPr lang="en-US" dirty="0"/>
          </a:p>
          <a:p>
            <a:pPr eaLnBrk="1" hangingPunct="1">
              <a:buFont typeface="Wingdings" pitchFamily="2" charset="2"/>
              <a:buNone/>
            </a:pPr>
            <a:endParaRPr lang="en-US" dirty="0">
              <a:solidFill>
                <a:srgbClr val="FF0000"/>
              </a:solidFill>
            </a:endParaRPr>
          </a:p>
          <a:p>
            <a:pPr eaLnBrk="1" hangingPunct="1"/>
            <a:r>
              <a:rPr lang="en-US" dirty="0"/>
              <a:t>Create and initialize an array with “jack”, 33, “pie”, 22</a:t>
            </a:r>
          </a:p>
        </p:txBody>
      </p:sp>
      <p:sp>
        <p:nvSpPr>
          <p:cNvPr id="223236" name="Text Box 4"/>
          <p:cNvSpPr txBox="1">
            <a:spLocks noChangeArrowheads="1"/>
          </p:cNvSpPr>
          <p:nvPr/>
        </p:nvSpPr>
        <p:spPr bwMode="auto">
          <a:xfrm>
            <a:off x="534988" y="2778125"/>
            <a:ext cx="6323012" cy="457200"/>
          </a:xfrm>
          <a:prstGeom prst="rect">
            <a:avLst/>
          </a:prstGeom>
          <a:noFill/>
          <a:ln w="9525">
            <a:noFill/>
            <a:miter lim="800000"/>
            <a:headEnd/>
            <a:tailEnd/>
          </a:ln>
        </p:spPr>
        <p:txBody>
          <a:bodyPr>
            <a:spAutoFit/>
          </a:bodyPr>
          <a:lstStyle/>
          <a:p>
            <a:pPr>
              <a:spcBef>
                <a:spcPct val="20000"/>
              </a:spcBef>
              <a:buClr>
                <a:schemeClr val="folHlink"/>
              </a:buClr>
              <a:buSzPct val="90000"/>
              <a:buFont typeface="Wingdings" pitchFamily="2" charset="2"/>
              <a:buNone/>
            </a:pPr>
            <a:r>
              <a:rPr lang="en-US" sz="2400">
                <a:solidFill>
                  <a:srgbClr val="FF0000"/>
                </a:solidFill>
                <a:latin typeface="Arial" charset="0"/>
              </a:rPr>
              <a:t>string [ ] fruits = { “apple”, “orange”, “pear”};</a:t>
            </a:r>
            <a:endParaRPr lang="en-US" sz="2400">
              <a:latin typeface="Arial" charset="0"/>
            </a:endParaRPr>
          </a:p>
        </p:txBody>
      </p:sp>
      <p:sp>
        <p:nvSpPr>
          <p:cNvPr id="223237" name="Text Box 5"/>
          <p:cNvSpPr txBox="1">
            <a:spLocks noChangeArrowheads="1"/>
          </p:cNvSpPr>
          <p:nvPr/>
        </p:nvSpPr>
        <p:spPr bwMode="auto">
          <a:xfrm>
            <a:off x="654050" y="4727575"/>
            <a:ext cx="5832475" cy="420688"/>
          </a:xfrm>
          <a:prstGeom prst="rect">
            <a:avLst/>
          </a:prstGeom>
          <a:noFill/>
          <a:ln w="9525">
            <a:noFill/>
            <a:miter lim="800000"/>
            <a:headEnd/>
            <a:tailEnd/>
          </a:ln>
        </p:spPr>
        <p:txBody>
          <a:bodyPr>
            <a:spAutoFit/>
          </a:bodyPr>
          <a:lstStyle/>
          <a:p>
            <a:pPr>
              <a:lnSpc>
                <a:spcPct val="90000"/>
              </a:lnSpc>
              <a:spcBef>
                <a:spcPct val="20000"/>
              </a:spcBef>
              <a:buClr>
                <a:schemeClr val="folHlink"/>
              </a:buClr>
              <a:buSzPct val="90000"/>
              <a:buFont typeface="Wingdings" pitchFamily="2" charset="2"/>
              <a:buNone/>
            </a:pPr>
            <a:r>
              <a:rPr lang="en-US" sz="2400">
                <a:solidFill>
                  <a:srgbClr val="FF0000"/>
                </a:solidFill>
                <a:latin typeface="Arial" charset="0"/>
              </a:rPr>
              <a:t>double [ ] weight = { 33.3, 44.4, 55.5 };</a:t>
            </a:r>
            <a:endParaRPr lang="en-US" sz="2400">
              <a:latin typeface="Arial" charset="0"/>
            </a:endParaRPr>
          </a:p>
        </p:txBody>
      </p:sp>
      <p:sp>
        <p:nvSpPr>
          <p:cNvPr id="7" name="Up Arrow Callout 6"/>
          <p:cNvSpPr/>
          <p:nvPr/>
        </p:nvSpPr>
        <p:spPr>
          <a:xfrm>
            <a:off x="1627188" y="6473825"/>
            <a:ext cx="4243387" cy="1811338"/>
          </a:xfrm>
          <a:prstGeom prst="upArrowCallou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20000"/>
              </a:spcBef>
              <a:buClr>
                <a:schemeClr val="folHlink"/>
              </a:buClr>
              <a:buSzPct val="90000"/>
              <a:buFont typeface="Wingdings" pitchFamily="2" charset="2"/>
              <a:buNone/>
              <a:defRPr/>
            </a:pPr>
            <a:r>
              <a:rPr lang="en-US" dirty="0">
                <a:solidFill>
                  <a:schemeClr val="tx1"/>
                </a:solidFill>
                <a:latin typeface="Comic Sans MS" pitchFamily="66" charset="0"/>
              </a:rPr>
              <a:t>Not possible!!  An array can only store values of the </a:t>
            </a:r>
            <a:r>
              <a:rPr lang="en-US" b="1" u="sng" dirty="0">
                <a:solidFill>
                  <a:schemeClr val="tx1"/>
                </a:solidFill>
                <a:latin typeface="Comic Sans MS" pitchFamily="66" charset="0"/>
              </a:rPr>
              <a:t>SAME </a:t>
            </a:r>
            <a:r>
              <a:rPr lang="en-US" dirty="0">
                <a:solidFill>
                  <a:schemeClr val="tx1"/>
                </a:solidFill>
                <a:latin typeface="Comic Sans MS" pitchFamily="66" charset="0"/>
              </a:rPr>
              <a:t>data type.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3236"/>
                                        </p:tgtEl>
                                        <p:attrNameLst>
                                          <p:attrName>style.visibility</p:attrName>
                                        </p:attrNameLst>
                                      </p:cBhvr>
                                      <p:to>
                                        <p:strVal val="visible"/>
                                      </p:to>
                                    </p:set>
                                    <p:animEffect transition="in" filter="box(in)">
                                      <p:cBhvr>
                                        <p:cTn id="7" dur="500"/>
                                        <p:tgtEl>
                                          <p:spTgt spid="22323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23237"/>
                                        </p:tgtEl>
                                        <p:attrNameLst>
                                          <p:attrName>style.visibility</p:attrName>
                                        </p:attrNameLst>
                                      </p:cBhvr>
                                      <p:to>
                                        <p:strVal val="visible"/>
                                      </p:to>
                                    </p:set>
                                    <p:animEffect transition="in" filter="box(in)">
                                      <p:cBhvr>
                                        <p:cTn id="12" dur="500"/>
                                        <p:tgtEl>
                                          <p:spTgt spid="223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6" grpId="0"/>
      <p:bldP spid="22323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The Array Index or Subscript</a:t>
            </a:r>
            <a:endParaRPr lang="en-GB"/>
          </a:p>
        </p:txBody>
      </p:sp>
      <p:sp>
        <p:nvSpPr>
          <p:cNvPr id="8195" name="Rectangle 3"/>
          <p:cNvSpPr>
            <a:spLocks noGrp="1" noChangeArrowheads="1"/>
          </p:cNvSpPr>
          <p:nvPr>
            <p:ph type="body" sz="half" idx="1"/>
          </p:nvPr>
        </p:nvSpPr>
        <p:spPr>
          <a:xfrm>
            <a:off x="625475" y="1568450"/>
            <a:ext cx="5861050" cy="577850"/>
          </a:xfrm>
        </p:spPr>
        <p:txBody>
          <a:bodyPr/>
          <a:lstStyle/>
          <a:p>
            <a:pPr eaLnBrk="1" hangingPunct="1">
              <a:buFont typeface="Wingdings" pitchFamily="2" charset="2"/>
              <a:buNone/>
            </a:pPr>
            <a:r>
              <a:rPr lang="en-US" sz="2400"/>
              <a:t>int [ ] marks = { 20, 33, 15, 29 };</a:t>
            </a:r>
            <a:endParaRPr lang="en-GB" sz="2400"/>
          </a:p>
        </p:txBody>
      </p:sp>
      <p:graphicFrame>
        <p:nvGraphicFramePr>
          <p:cNvPr id="218130" name="Group 18"/>
          <p:cNvGraphicFramePr>
            <a:graphicFrameLocks noGrp="1"/>
          </p:cNvGraphicFramePr>
          <p:nvPr>
            <p:ph sz="half" idx="2"/>
          </p:nvPr>
        </p:nvGraphicFramePr>
        <p:xfrm>
          <a:off x="2363788" y="2611438"/>
          <a:ext cx="2838450" cy="541338"/>
        </p:xfrm>
        <a:graphic>
          <a:graphicData uri="http://schemas.openxmlformats.org/drawingml/2006/table">
            <a:tbl>
              <a:tblPr/>
              <a:tblGrid>
                <a:gridCol w="709612">
                  <a:extLst>
                    <a:ext uri="{9D8B030D-6E8A-4147-A177-3AD203B41FA5}">
                      <a16:colId xmlns:a16="http://schemas.microsoft.com/office/drawing/2014/main" val="20000"/>
                    </a:ext>
                  </a:extLst>
                </a:gridCol>
                <a:gridCol w="709613">
                  <a:extLst>
                    <a:ext uri="{9D8B030D-6E8A-4147-A177-3AD203B41FA5}">
                      <a16:colId xmlns:a16="http://schemas.microsoft.com/office/drawing/2014/main" val="20001"/>
                    </a:ext>
                  </a:extLst>
                </a:gridCol>
                <a:gridCol w="709612">
                  <a:extLst>
                    <a:ext uri="{9D8B030D-6E8A-4147-A177-3AD203B41FA5}">
                      <a16:colId xmlns:a16="http://schemas.microsoft.com/office/drawing/2014/main" val="20002"/>
                    </a:ext>
                  </a:extLst>
                </a:gridCol>
                <a:gridCol w="709613">
                  <a:extLst>
                    <a:ext uri="{9D8B030D-6E8A-4147-A177-3AD203B41FA5}">
                      <a16:colId xmlns:a16="http://schemas.microsoft.com/office/drawing/2014/main" val="20003"/>
                    </a:ext>
                  </a:extLst>
                </a:gridCol>
              </a:tblGrid>
              <a:tr h="5413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20</a:t>
                      </a:r>
                      <a:endParaRPr kumimoji="0" lang="en-GB"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33</a:t>
                      </a:r>
                      <a:endParaRPr kumimoji="0" lang="en-GB"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15</a:t>
                      </a:r>
                      <a:endParaRPr kumimoji="0" lang="en-GB"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29</a:t>
                      </a:r>
                      <a:endParaRPr kumimoji="0" lang="en-GB"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208" name="Text Box 19"/>
          <p:cNvSpPr txBox="1">
            <a:spLocks noChangeArrowheads="1"/>
          </p:cNvSpPr>
          <p:nvPr/>
        </p:nvSpPr>
        <p:spPr bwMode="auto">
          <a:xfrm>
            <a:off x="900113" y="2668588"/>
            <a:ext cx="989012" cy="366712"/>
          </a:xfrm>
          <a:prstGeom prst="rect">
            <a:avLst/>
          </a:prstGeom>
          <a:noFill/>
          <a:ln w="9525">
            <a:noFill/>
            <a:miter lim="800000"/>
            <a:headEnd/>
            <a:tailEnd/>
          </a:ln>
        </p:spPr>
        <p:txBody>
          <a:bodyPr>
            <a:spAutoFit/>
          </a:bodyPr>
          <a:lstStyle/>
          <a:p>
            <a:pPr>
              <a:spcBef>
                <a:spcPct val="50000"/>
              </a:spcBef>
            </a:pPr>
            <a:r>
              <a:rPr lang="en-US" b="1"/>
              <a:t>marks</a:t>
            </a:r>
            <a:endParaRPr lang="en-GB" b="1"/>
          </a:p>
        </p:txBody>
      </p:sp>
      <p:sp>
        <p:nvSpPr>
          <p:cNvPr id="8209" name="Text Box 20"/>
          <p:cNvSpPr txBox="1">
            <a:spLocks noChangeArrowheads="1"/>
          </p:cNvSpPr>
          <p:nvPr/>
        </p:nvSpPr>
        <p:spPr bwMode="auto">
          <a:xfrm>
            <a:off x="2582863" y="3303588"/>
            <a:ext cx="3273425" cy="366712"/>
          </a:xfrm>
          <a:prstGeom prst="rect">
            <a:avLst/>
          </a:prstGeom>
          <a:noFill/>
          <a:ln w="9525">
            <a:noFill/>
            <a:miter lim="800000"/>
            <a:headEnd/>
            <a:tailEnd/>
          </a:ln>
        </p:spPr>
        <p:txBody>
          <a:bodyPr>
            <a:spAutoFit/>
          </a:bodyPr>
          <a:lstStyle/>
          <a:p>
            <a:pPr>
              <a:spcBef>
                <a:spcPct val="50000"/>
              </a:spcBef>
            </a:pPr>
            <a:r>
              <a:rPr lang="en-US" b="1">
                <a:solidFill>
                  <a:srgbClr val="FF0000"/>
                </a:solidFill>
              </a:rPr>
              <a:t>0       1        2       3</a:t>
            </a:r>
            <a:endParaRPr lang="en-GB" b="1">
              <a:solidFill>
                <a:srgbClr val="FF0000"/>
              </a:solidFill>
            </a:endParaRPr>
          </a:p>
        </p:txBody>
      </p:sp>
      <p:sp>
        <p:nvSpPr>
          <p:cNvPr id="8210" name="Text Box 21"/>
          <p:cNvSpPr txBox="1">
            <a:spLocks noChangeArrowheads="1"/>
          </p:cNvSpPr>
          <p:nvPr/>
        </p:nvSpPr>
        <p:spPr bwMode="auto">
          <a:xfrm>
            <a:off x="649288" y="3790950"/>
            <a:ext cx="4926012" cy="1192213"/>
          </a:xfrm>
          <a:prstGeom prst="rect">
            <a:avLst/>
          </a:prstGeom>
          <a:noFill/>
          <a:ln w="9525">
            <a:noFill/>
            <a:miter lim="800000"/>
            <a:headEnd/>
            <a:tailEnd/>
          </a:ln>
        </p:spPr>
        <p:txBody>
          <a:bodyPr>
            <a:spAutoFit/>
          </a:bodyPr>
          <a:lstStyle/>
          <a:p>
            <a:pPr>
              <a:spcBef>
                <a:spcPct val="50000"/>
              </a:spcBef>
            </a:pPr>
            <a:r>
              <a:rPr lang="en-US" b="1" i="1">
                <a:solidFill>
                  <a:srgbClr val="0033CC"/>
                </a:solidFill>
              </a:rPr>
              <a:t>Array Index or Subscript:</a:t>
            </a:r>
          </a:p>
          <a:p>
            <a:pPr>
              <a:spcBef>
                <a:spcPct val="50000"/>
              </a:spcBef>
              <a:buFontTx/>
              <a:buChar char="•"/>
            </a:pPr>
            <a:r>
              <a:rPr lang="en-US" b="1" i="1">
                <a:solidFill>
                  <a:srgbClr val="0033CC"/>
                </a:solidFill>
              </a:rPr>
              <a:t>Always start with zero</a:t>
            </a:r>
          </a:p>
          <a:p>
            <a:pPr>
              <a:spcBef>
                <a:spcPct val="50000"/>
              </a:spcBef>
              <a:buFontTx/>
              <a:buChar char="•"/>
            </a:pPr>
            <a:r>
              <a:rPr lang="en-US" b="1" i="1">
                <a:solidFill>
                  <a:srgbClr val="0033CC"/>
                </a:solidFill>
              </a:rPr>
              <a:t>Last value is Array Size - 1</a:t>
            </a:r>
            <a:endParaRPr lang="en-GB" b="1" i="1">
              <a:solidFill>
                <a:srgbClr val="0033CC"/>
              </a:solidFill>
            </a:endParaRPr>
          </a:p>
        </p:txBody>
      </p:sp>
      <p:sp>
        <p:nvSpPr>
          <p:cNvPr id="8211" name="Freeform 23"/>
          <p:cNvSpPr>
            <a:spLocks/>
          </p:cNvSpPr>
          <p:nvPr/>
        </p:nvSpPr>
        <p:spPr bwMode="auto">
          <a:xfrm>
            <a:off x="933450" y="3436938"/>
            <a:ext cx="1589088" cy="309562"/>
          </a:xfrm>
          <a:custGeom>
            <a:avLst/>
            <a:gdLst>
              <a:gd name="T0" fmla="*/ 201613 w 1001"/>
              <a:gd name="T1" fmla="*/ 309562 h 195"/>
              <a:gd name="T2" fmla="*/ 231775 w 1001"/>
              <a:gd name="T3" fmla="*/ 44450 h 195"/>
              <a:gd name="T4" fmla="*/ 1589088 w 1001"/>
              <a:gd name="T5" fmla="*/ 44450 h 195"/>
              <a:gd name="T6" fmla="*/ 0 60000 65536"/>
              <a:gd name="T7" fmla="*/ 0 60000 65536"/>
              <a:gd name="T8" fmla="*/ 0 60000 65536"/>
              <a:gd name="T9" fmla="*/ 0 w 1001"/>
              <a:gd name="T10" fmla="*/ 0 h 195"/>
              <a:gd name="T11" fmla="*/ 1001 w 1001"/>
              <a:gd name="T12" fmla="*/ 195 h 195"/>
            </a:gdLst>
            <a:ahLst/>
            <a:cxnLst>
              <a:cxn ang="T6">
                <a:pos x="T0" y="T1"/>
              </a:cxn>
              <a:cxn ang="T7">
                <a:pos x="T2" y="T3"/>
              </a:cxn>
              <a:cxn ang="T8">
                <a:pos x="T4" y="T5"/>
              </a:cxn>
            </a:cxnLst>
            <a:rect l="T9" t="T10" r="T11" b="T12"/>
            <a:pathLst>
              <a:path w="1001" h="195">
                <a:moveTo>
                  <a:pt x="127" y="195"/>
                </a:moveTo>
                <a:cubicBezTo>
                  <a:pt x="63" y="125"/>
                  <a:pt x="0" y="56"/>
                  <a:pt x="146" y="28"/>
                </a:cubicBezTo>
                <a:cubicBezTo>
                  <a:pt x="292" y="0"/>
                  <a:pt x="859" y="27"/>
                  <a:pt x="1001" y="28"/>
                </a:cubicBezTo>
              </a:path>
            </a:pathLst>
          </a:custGeom>
          <a:noFill/>
          <a:ln w="12700">
            <a:solidFill>
              <a:schemeClr val="accent2"/>
            </a:solidFill>
            <a:round/>
            <a:headEnd/>
            <a:tailEnd type="triangle" w="med" len="med"/>
          </a:ln>
        </p:spPr>
        <p:txBody>
          <a:bodyPr/>
          <a:lstStyle/>
          <a:p>
            <a:endParaRPr lang="en-US"/>
          </a:p>
        </p:txBody>
      </p:sp>
      <p:sp>
        <p:nvSpPr>
          <p:cNvPr id="8212" name="Text Box 24"/>
          <p:cNvSpPr txBox="1">
            <a:spLocks noChangeArrowheads="1"/>
          </p:cNvSpPr>
          <p:nvPr/>
        </p:nvSpPr>
        <p:spPr bwMode="auto">
          <a:xfrm>
            <a:off x="480061" y="5192713"/>
            <a:ext cx="6041390" cy="2585323"/>
          </a:xfrm>
          <a:prstGeom prst="rect">
            <a:avLst/>
          </a:prstGeom>
          <a:noFill/>
          <a:ln w="9525">
            <a:noFill/>
            <a:miter lim="800000"/>
            <a:headEnd/>
            <a:tailEnd/>
          </a:ln>
        </p:spPr>
        <p:txBody>
          <a:bodyPr wrap="square">
            <a:spAutoFit/>
          </a:bodyPr>
          <a:lstStyle/>
          <a:p>
            <a:pPr>
              <a:spcBef>
                <a:spcPct val="50000"/>
              </a:spcBef>
            </a:pPr>
            <a:r>
              <a:rPr lang="en-US" b="1" dirty="0"/>
              <a:t>Use the Index or Subscript to STORE or GET data from individual element or box.</a:t>
            </a:r>
          </a:p>
          <a:p>
            <a:pPr>
              <a:spcBef>
                <a:spcPct val="50000"/>
              </a:spcBef>
            </a:pPr>
            <a:r>
              <a:rPr lang="en-US" b="1" dirty="0"/>
              <a:t>Example:</a:t>
            </a:r>
          </a:p>
          <a:p>
            <a:pPr>
              <a:spcBef>
                <a:spcPct val="50000"/>
              </a:spcBef>
            </a:pPr>
            <a:r>
              <a:rPr lang="en-US" sz="1600" b="1" dirty="0">
                <a:solidFill>
                  <a:srgbClr val="FF0000"/>
                </a:solidFill>
              </a:rPr>
              <a:t>marks[ 2 ] = 99;</a:t>
            </a:r>
            <a:endParaRPr lang="en-US" sz="1600" dirty="0"/>
          </a:p>
          <a:p>
            <a:pPr>
              <a:spcBef>
                <a:spcPct val="50000"/>
              </a:spcBef>
            </a:pPr>
            <a:r>
              <a:rPr lang="en-US" b="1" dirty="0"/>
              <a:t>Getting individual marks out:</a:t>
            </a:r>
          </a:p>
          <a:p>
            <a:pPr>
              <a:spcBef>
                <a:spcPct val="50000"/>
              </a:spcBef>
            </a:pPr>
            <a:r>
              <a:rPr lang="en-US" sz="1600" b="1" dirty="0" err="1"/>
              <a:t>int</a:t>
            </a:r>
            <a:r>
              <a:rPr lang="en-US" sz="1600" b="1" dirty="0"/>
              <a:t> temp = </a:t>
            </a:r>
            <a:r>
              <a:rPr lang="en-US" sz="1600" b="1" dirty="0">
                <a:solidFill>
                  <a:srgbClr val="FF0000"/>
                </a:solidFill>
              </a:rPr>
              <a:t>marks[ 0 ];</a:t>
            </a:r>
          </a:p>
          <a:p>
            <a:pPr>
              <a:spcBef>
                <a:spcPct val="50000"/>
              </a:spcBef>
            </a:pPr>
            <a:r>
              <a:rPr lang="en-US" sz="1600" b="1" dirty="0" err="1"/>
              <a:t>MessageBox.Show</a:t>
            </a:r>
            <a:r>
              <a:rPr lang="en-US" sz="1600" b="1" dirty="0"/>
              <a:t> (“Last mark is “ + </a:t>
            </a:r>
            <a:r>
              <a:rPr lang="en-US" sz="1600" b="1" dirty="0">
                <a:solidFill>
                  <a:srgbClr val="FF0000"/>
                </a:solidFill>
              </a:rPr>
              <a:t>mark[ 3 ]</a:t>
            </a:r>
            <a:r>
              <a:rPr lang="en-US" sz="1600" b="1" dirty="0"/>
              <a:t>);</a:t>
            </a:r>
            <a:endParaRPr lang="en-GB" sz="1600" b="1" dirty="0"/>
          </a:p>
        </p:txBody>
      </p:sp>
      <p:sp>
        <p:nvSpPr>
          <p:cNvPr id="2" name="Oval Callout 1"/>
          <p:cNvSpPr/>
          <p:nvPr/>
        </p:nvSpPr>
        <p:spPr>
          <a:xfrm>
            <a:off x="3112294" y="5897880"/>
            <a:ext cx="3113246" cy="685800"/>
          </a:xfrm>
          <a:prstGeom prst="wedgeEllipseCallout">
            <a:avLst>
              <a:gd name="adj1" fmla="val -68069"/>
              <a:gd name="adj2" fmla="val 33661"/>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will store 99 into the 3</a:t>
            </a:r>
            <a:r>
              <a:rPr lang="en-US" sz="1400" baseline="30000" dirty="0"/>
              <a:t>rd</a:t>
            </a:r>
            <a:r>
              <a:rPr lang="en-US" sz="1400" dirty="0"/>
              <a:t> element or box.</a:t>
            </a:r>
            <a:endParaRPr lang="en-SG" sz="1400" dirty="0"/>
          </a:p>
        </p:txBody>
      </p:sp>
      <p:sp>
        <p:nvSpPr>
          <p:cNvPr id="11" name="Oval Callout 10"/>
          <p:cNvSpPr/>
          <p:nvPr/>
        </p:nvSpPr>
        <p:spPr>
          <a:xfrm>
            <a:off x="2662952" y="8001000"/>
            <a:ext cx="3113246" cy="685800"/>
          </a:xfrm>
          <a:prstGeom prst="wedgeEllipseCallout">
            <a:avLst>
              <a:gd name="adj1" fmla="val 27143"/>
              <a:gd name="adj2" fmla="val -8745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It displays 29</a:t>
            </a:r>
            <a:endParaRPr lang="en-SG" sz="1400" dirty="0"/>
          </a:p>
        </p:txBody>
      </p:sp>
    </p:spTree>
    <p:custDataLst>
      <p:tags r:id="rId1"/>
    </p:custDataLst>
    <p:extLst>
      <p:ext uri="{BB962C8B-B14F-4D97-AF65-F5344CB8AC3E}">
        <p14:creationId xmlns:p14="http://schemas.microsoft.com/office/powerpoint/2010/main" val="639976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GB"/>
              <a:t>Getting data from Arrays</a:t>
            </a:r>
            <a:endParaRPr lang="en-US"/>
          </a:p>
        </p:txBody>
      </p:sp>
      <p:sp>
        <p:nvSpPr>
          <p:cNvPr id="186371" name="Text Box 3"/>
          <p:cNvSpPr txBox="1">
            <a:spLocks noChangeArrowheads="1"/>
          </p:cNvSpPr>
          <p:nvPr/>
        </p:nvSpPr>
        <p:spPr bwMode="auto">
          <a:xfrm>
            <a:off x="603885" y="1408748"/>
            <a:ext cx="5661025" cy="1600438"/>
          </a:xfrm>
          <a:prstGeom prst="rect">
            <a:avLst/>
          </a:prstGeom>
          <a:noFill/>
          <a:ln w="9525">
            <a:noFill/>
            <a:miter lim="800000"/>
            <a:headEnd/>
            <a:tailEnd/>
          </a:ln>
        </p:spPr>
        <p:txBody>
          <a:bodyPr>
            <a:spAutoFit/>
          </a:bodyPr>
          <a:lstStyle/>
          <a:p>
            <a:pPr>
              <a:spcBef>
                <a:spcPct val="50000"/>
              </a:spcBef>
            </a:pPr>
            <a:r>
              <a:rPr lang="en-GB" sz="1400" dirty="0">
                <a:solidFill>
                  <a:srgbClr val="0033CC"/>
                </a:solidFill>
                <a:latin typeface="Lucida Console" pitchFamily="49" charset="0"/>
              </a:rPr>
              <a:t>//Array of 3 integer numbers and initialise it</a:t>
            </a:r>
          </a:p>
          <a:p>
            <a:pPr>
              <a:spcBef>
                <a:spcPct val="50000"/>
              </a:spcBef>
            </a:pPr>
            <a:r>
              <a:rPr lang="en-GB" sz="1400" dirty="0" err="1">
                <a:solidFill>
                  <a:srgbClr val="0033CC"/>
                </a:solidFill>
                <a:latin typeface="Lucida Console" pitchFamily="49" charset="0"/>
              </a:rPr>
              <a:t>int</a:t>
            </a:r>
            <a:r>
              <a:rPr lang="en-GB" sz="1400" dirty="0">
                <a:latin typeface="Lucida Console" pitchFamily="49" charset="0"/>
              </a:rPr>
              <a:t> [] numbers= {1,2,3};</a:t>
            </a:r>
          </a:p>
          <a:p>
            <a:pPr>
              <a:spcBef>
                <a:spcPct val="50000"/>
              </a:spcBef>
            </a:pPr>
            <a:r>
              <a:rPr lang="en-GB" sz="1400" dirty="0">
                <a:latin typeface="Lucida Console" pitchFamily="49" charset="0"/>
              </a:rPr>
              <a:t>  </a:t>
            </a:r>
            <a:r>
              <a:rPr lang="en-GB" sz="1400" dirty="0" err="1">
                <a:solidFill>
                  <a:srgbClr val="009999"/>
                </a:solidFill>
                <a:latin typeface="Lucida Console" pitchFamily="49" charset="0"/>
              </a:rPr>
              <a:t>MessageBox.Show</a:t>
            </a:r>
            <a:r>
              <a:rPr lang="en-GB" sz="1400" dirty="0">
                <a:solidFill>
                  <a:srgbClr val="009999"/>
                </a:solidFill>
                <a:latin typeface="Lucida Console" pitchFamily="49" charset="0"/>
              </a:rPr>
              <a:t>(</a:t>
            </a:r>
            <a:r>
              <a:rPr lang="en-GB" altLang="zh-CN" sz="1400" noProof="1"/>
              <a:t>“</a:t>
            </a:r>
            <a:r>
              <a:rPr lang="en-GB" altLang="zh-CN" sz="1400" noProof="1">
                <a:latin typeface="Lucida Console" pitchFamily="49" charset="0"/>
              </a:rPr>
              <a:t>1st</a:t>
            </a:r>
            <a:r>
              <a:rPr lang="en-GB" sz="1400" dirty="0">
                <a:latin typeface="Lucida Console" pitchFamily="49" charset="0"/>
              </a:rPr>
              <a:t> number:</a:t>
            </a:r>
            <a:r>
              <a:rPr lang="en-GB" altLang="zh-CN" sz="1400" noProof="1"/>
              <a:t>“ </a:t>
            </a:r>
            <a:r>
              <a:rPr lang="en-GB" sz="1400" dirty="0">
                <a:latin typeface="Lucida Console" pitchFamily="49" charset="0"/>
              </a:rPr>
              <a:t>+ numbers[0]</a:t>
            </a:r>
            <a:r>
              <a:rPr lang="en-GB" sz="1400" dirty="0">
                <a:solidFill>
                  <a:srgbClr val="009999"/>
                </a:solidFill>
                <a:latin typeface="Lucida Console" pitchFamily="49" charset="0"/>
              </a:rPr>
              <a:t>)</a:t>
            </a:r>
            <a:r>
              <a:rPr lang="en-GB" sz="1400" dirty="0">
                <a:latin typeface="Lucida Console" pitchFamily="49" charset="0"/>
              </a:rPr>
              <a:t>;</a:t>
            </a:r>
          </a:p>
          <a:p>
            <a:pPr>
              <a:spcBef>
                <a:spcPct val="50000"/>
              </a:spcBef>
            </a:pPr>
            <a:r>
              <a:rPr lang="en-GB" sz="1400" dirty="0">
                <a:solidFill>
                  <a:srgbClr val="009999"/>
                </a:solidFill>
                <a:latin typeface="Lucida Console" pitchFamily="49" charset="0"/>
              </a:rPr>
              <a:t>  </a:t>
            </a:r>
            <a:r>
              <a:rPr lang="en-GB" sz="1400" dirty="0" err="1">
                <a:solidFill>
                  <a:srgbClr val="009999"/>
                </a:solidFill>
                <a:latin typeface="Lucida Console" pitchFamily="49" charset="0"/>
              </a:rPr>
              <a:t>MessageBox.Show</a:t>
            </a:r>
            <a:r>
              <a:rPr lang="en-GB" sz="1400" dirty="0">
                <a:solidFill>
                  <a:srgbClr val="009999"/>
                </a:solidFill>
                <a:latin typeface="Lucida Console" pitchFamily="49" charset="0"/>
              </a:rPr>
              <a:t>(</a:t>
            </a:r>
            <a:r>
              <a:rPr lang="en-GB" altLang="zh-CN" sz="1400" noProof="1"/>
              <a:t>“</a:t>
            </a:r>
            <a:r>
              <a:rPr lang="en-GB" altLang="zh-CN" sz="1400" noProof="1">
                <a:latin typeface="Lucida Console" pitchFamily="49" charset="0"/>
              </a:rPr>
              <a:t>2nd</a:t>
            </a:r>
            <a:r>
              <a:rPr lang="en-GB" sz="1400" dirty="0">
                <a:latin typeface="Lucida Console" pitchFamily="49" charset="0"/>
              </a:rPr>
              <a:t> number:</a:t>
            </a:r>
            <a:r>
              <a:rPr lang="en-GB" altLang="zh-CN" sz="1400" noProof="1"/>
              <a:t>“ </a:t>
            </a:r>
            <a:r>
              <a:rPr lang="en-GB" sz="1400" dirty="0">
                <a:latin typeface="Lucida Console" pitchFamily="49" charset="0"/>
              </a:rPr>
              <a:t>+ numbers[1]</a:t>
            </a:r>
            <a:r>
              <a:rPr lang="en-GB" sz="1400" dirty="0">
                <a:solidFill>
                  <a:srgbClr val="009999"/>
                </a:solidFill>
                <a:latin typeface="Lucida Console" pitchFamily="49" charset="0"/>
              </a:rPr>
              <a:t>)</a:t>
            </a:r>
            <a:r>
              <a:rPr lang="en-GB" sz="1400" dirty="0">
                <a:latin typeface="Lucida Console" pitchFamily="49" charset="0"/>
              </a:rPr>
              <a:t>; </a:t>
            </a:r>
          </a:p>
          <a:p>
            <a:pPr>
              <a:spcBef>
                <a:spcPct val="50000"/>
              </a:spcBef>
            </a:pPr>
            <a:r>
              <a:rPr lang="en-GB" sz="1400" dirty="0">
                <a:latin typeface="Lucida Console" pitchFamily="49" charset="0"/>
              </a:rPr>
              <a:t>  </a:t>
            </a:r>
            <a:r>
              <a:rPr lang="en-GB" sz="1400" dirty="0" err="1">
                <a:solidFill>
                  <a:srgbClr val="009999"/>
                </a:solidFill>
                <a:latin typeface="Lucida Console" pitchFamily="49" charset="0"/>
              </a:rPr>
              <a:t>MessageBox.Show</a:t>
            </a:r>
            <a:r>
              <a:rPr lang="en-GB" sz="1400" dirty="0">
                <a:solidFill>
                  <a:srgbClr val="009999"/>
                </a:solidFill>
                <a:latin typeface="Lucida Console" pitchFamily="49" charset="0"/>
              </a:rPr>
              <a:t>(</a:t>
            </a:r>
            <a:r>
              <a:rPr lang="en-GB" altLang="zh-CN" sz="1400" noProof="1"/>
              <a:t>“</a:t>
            </a:r>
            <a:r>
              <a:rPr lang="en-GB" altLang="zh-CN" sz="1400" noProof="1">
                <a:latin typeface="Lucida Console" pitchFamily="49" charset="0"/>
              </a:rPr>
              <a:t>3rd</a:t>
            </a:r>
            <a:r>
              <a:rPr lang="en-GB" sz="1400" dirty="0">
                <a:latin typeface="Lucida Console" pitchFamily="49" charset="0"/>
              </a:rPr>
              <a:t> number:</a:t>
            </a:r>
            <a:r>
              <a:rPr lang="en-GB" altLang="zh-CN" sz="1400" noProof="1"/>
              <a:t>“ </a:t>
            </a:r>
            <a:r>
              <a:rPr lang="en-GB" sz="1400" dirty="0">
                <a:latin typeface="Lucida Console" pitchFamily="49" charset="0"/>
              </a:rPr>
              <a:t>+ numbers[2]</a:t>
            </a:r>
            <a:r>
              <a:rPr lang="en-GB" sz="1400" dirty="0">
                <a:solidFill>
                  <a:srgbClr val="009999"/>
                </a:solidFill>
                <a:latin typeface="Lucida Console" pitchFamily="49" charset="0"/>
              </a:rPr>
              <a:t>)</a:t>
            </a:r>
            <a:r>
              <a:rPr lang="en-GB" sz="1400" dirty="0">
                <a:latin typeface="Lucida Console" pitchFamily="49" charset="0"/>
              </a:rPr>
              <a:t>;</a:t>
            </a:r>
          </a:p>
        </p:txBody>
      </p:sp>
      <p:sp>
        <p:nvSpPr>
          <p:cNvPr id="186372" name="Text Box 4"/>
          <p:cNvSpPr txBox="1">
            <a:spLocks noChangeArrowheads="1"/>
          </p:cNvSpPr>
          <p:nvPr/>
        </p:nvSpPr>
        <p:spPr bwMode="auto">
          <a:xfrm>
            <a:off x="601980" y="3230881"/>
            <a:ext cx="2735580" cy="1615827"/>
          </a:xfrm>
          <a:prstGeom prst="rect">
            <a:avLst/>
          </a:prstGeom>
          <a:noFill/>
          <a:ln w="9525">
            <a:solidFill>
              <a:srgbClr val="FF0000"/>
            </a:solidFill>
            <a:miter lim="800000"/>
            <a:headEnd/>
            <a:tailEnd/>
          </a:ln>
        </p:spPr>
        <p:txBody>
          <a:bodyPr wrap="square">
            <a:spAutoFit/>
          </a:bodyPr>
          <a:lstStyle/>
          <a:p>
            <a:pPr>
              <a:spcBef>
                <a:spcPct val="50000"/>
              </a:spcBef>
            </a:pPr>
            <a:r>
              <a:rPr lang="en-GB" b="1" dirty="0"/>
              <a:t>OUTPUT</a:t>
            </a:r>
          </a:p>
          <a:p>
            <a:pPr>
              <a:spcBef>
                <a:spcPct val="50000"/>
              </a:spcBef>
            </a:pPr>
            <a:r>
              <a:rPr lang="en-GB" dirty="0"/>
              <a:t>1</a:t>
            </a:r>
            <a:r>
              <a:rPr lang="en-GB" baseline="30000" dirty="0"/>
              <a:t>st</a:t>
            </a:r>
            <a:r>
              <a:rPr lang="en-GB" dirty="0"/>
              <a:t> number:</a:t>
            </a:r>
            <a:r>
              <a:rPr lang="en-GB" dirty="0">
                <a:solidFill>
                  <a:srgbClr val="FF0000"/>
                </a:solidFill>
              </a:rPr>
              <a:t>1</a:t>
            </a:r>
          </a:p>
          <a:p>
            <a:pPr>
              <a:spcBef>
                <a:spcPct val="50000"/>
              </a:spcBef>
            </a:pPr>
            <a:r>
              <a:rPr lang="en-GB" dirty="0"/>
              <a:t>2</a:t>
            </a:r>
            <a:r>
              <a:rPr lang="en-GB" baseline="30000" dirty="0"/>
              <a:t>nd</a:t>
            </a:r>
            <a:r>
              <a:rPr lang="en-GB" dirty="0"/>
              <a:t> number:</a:t>
            </a:r>
            <a:r>
              <a:rPr lang="en-GB" dirty="0">
                <a:solidFill>
                  <a:srgbClr val="FF0000"/>
                </a:solidFill>
              </a:rPr>
              <a:t>2</a:t>
            </a:r>
          </a:p>
          <a:p>
            <a:pPr>
              <a:spcBef>
                <a:spcPct val="50000"/>
              </a:spcBef>
            </a:pPr>
            <a:r>
              <a:rPr lang="en-GB" dirty="0"/>
              <a:t>3</a:t>
            </a:r>
            <a:r>
              <a:rPr lang="en-GB" baseline="30000" dirty="0"/>
              <a:t>rd</a:t>
            </a:r>
            <a:r>
              <a:rPr lang="en-GB" dirty="0"/>
              <a:t> number:</a:t>
            </a:r>
            <a:r>
              <a:rPr lang="en-GB" dirty="0">
                <a:solidFill>
                  <a:srgbClr val="FF0000"/>
                </a:solidFill>
              </a:rPr>
              <a:t>3</a:t>
            </a:r>
          </a:p>
        </p:txBody>
      </p:sp>
      <p:graphicFrame>
        <p:nvGraphicFramePr>
          <p:cNvPr id="186402" name="Group 34"/>
          <p:cNvGraphicFramePr>
            <a:graphicFrameLocks noGrp="1"/>
          </p:cNvGraphicFramePr>
          <p:nvPr>
            <p:extLst>
              <p:ext uri="{D42A27DB-BD31-4B8C-83A1-F6EECF244321}">
                <p14:modId xmlns:p14="http://schemas.microsoft.com/office/powerpoint/2010/main" val="2307285015"/>
              </p:ext>
            </p:extLst>
          </p:nvPr>
        </p:nvGraphicFramePr>
        <p:xfrm>
          <a:off x="3657283" y="3394393"/>
          <a:ext cx="890587" cy="2355851"/>
        </p:xfrm>
        <a:graphic>
          <a:graphicData uri="http://schemas.openxmlformats.org/drawingml/2006/table">
            <a:tbl>
              <a:tblPr/>
              <a:tblGrid>
                <a:gridCol w="890587">
                  <a:extLst>
                    <a:ext uri="{9D8B030D-6E8A-4147-A177-3AD203B41FA5}">
                      <a16:colId xmlns:a16="http://schemas.microsoft.com/office/drawing/2014/main" val="20000"/>
                    </a:ext>
                  </a:extLst>
                </a:gridCol>
              </a:tblGrid>
              <a:tr h="5461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38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08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rPr>
                        <a:t> 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50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rPr>
                        <a:t>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2" name="Group 37"/>
          <p:cNvGrpSpPr>
            <a:grpSpLocks/>
          </p:cNvGrpSpPr>
          <p:nvPr/>
        </p:nvGrpSpPr>
        <p:grpSpPr bwMode="auto">
          <a:xfrm>
            <a:off x="4582795" y="3455035"/>
            <a:ext cx="2016125" cy="2222500"/>
            <a:chOff x="3050" y="3506"/>
            <a:chExt cx="1060" cy="1400"/>
          </a:xfrm>
        </p:grpSpPr>
        <p:sp>
          <p:nvSpPr>
            <p:cNvPr id="9236" name="Text Box 20"/>
            <p:cNvSpPr txBox="1">
              <a:spLocks noChangeArrowheads="1"/>
            </p:cNvSpPr>
            <p:nvPr/>
          </p:nvSpPr>
          <p:spPr bwMode="auto">
            <a:xfrm>
              <a:off x="3069" y="3506"/>
              <a:ext cx="1022" cy="231"/>
            </a:xfrm>
            <a:prstGeom prst="rect">
              <a:avLst/>
            </a:prstGeom>
            <a:noFill/>
            <a:ln w="9525">
              <a:noFill/>
              <a:miter lim="800000"/>
              <a:headEnd/>
              <a:tailEnd/>
            </a:ln>
          </p:spPr>
          <p:txBody>
            <a:bodyPr>
              <a:spAutoFit/>
            </a:bodyPr>
            <a:lstStyle/>
            <a:p>
              <a:pPr>
                <a:spcBef>
                  <a:spcPct val="50000"/>
                </a:spcBef>
              </a:pPr>
              <a:r>
                <a:rPr lang="en-GB"/>
                <a:t>numbers [0]</a:t>
              </a:r>
            </a:p>
          </p:txBody>
        </p:sp>
        <p:sp>
          <p:nvSpPr>
            <p:cNvPr id="9237" name="Text Box 21"/>
            <p:cNvSpPr txBox="1">
              <a:spLocks noChangeArrowheads="1"/>
            </p:cNvSpPr>
            <p:nvPr/>
          </p:nvSpPr>
          <p:spPr bwMode="auto">
            <a:xfrm>
              <a:off x="3069" y="3907"/>
              <a:ext cx="995" cy="231"/>
            </a:xfrm>
            <a:prstGeom prst="rect">
              <a:avLst/>
            </a:prstGeom>
            <a:noFill/>
            <a:ln w="9525">
              <a:noFill/>
              <a:miter lim="800000"/>
              <a:headEnd/>
              <a:tailEnd/>
            </a:ln>
          </p:spPr>
          <p:txBody>
            <a:bodyPr>
              <a:spAutoFit/>
            </a:bodyPr>
            <a:lstStyle/>
            <a:p>
              <a:pPr>
                <a:spcBef>
                  <a:spcPct val="50000"/>
                </a:spcBef>
              </a:pPr>
              <a:r>
                <a:rPr lang="en-GB"/>
                <a:t>numbers [1]</a:t>
              </a:r>
            </a:p>
          </p:txBody>
        </p:sp>
        <p:sp>
          <p:nvSpPr>
            <p:cNvPr id="9238" name="Text Box 22"/>
            <p:cNvSpPr txBox="1">
              <a:spLocks noChangeArrowheads="1"/>
            </p:cNvSpPr>
            <p:nvPr/>
          </p:nvSpPr>
          <p:spPr bwMode="auto">
            <a:xfrm>
              <a:off x="3060" y="4291"/>
              <a:ext cx="985" cy="231"/>
            </a:xfrm>
            <a:prstGeom prst="rect">
              <a:avLst/>
            </a:prstGeom>
            <a:noFill/>
            <a:ln w="9525">
              <a:noFill/>
              <a:miter lim="800000"/>
              <a:headEnd/>
              <a:tailEnd/>
            </a:ln>
          </p:spPr>
          <p:txBody>
            <a:bodyPr>
              <a:spAutoFit/>
            </a:bodyPr>
            <a:lstStyle/>
            <a:p>
              <a:pPr>
                <a:spcBef>
                  <a:spcPct val="50000"/>
                </a:spcBef>
              </a:pPr>
              <a:r>
                <a:rPr lang="en-GB"/>
                <a:t>numbers [2]</a:t>
              </a:r>
            </a:p>
          </p:txBody>
        </p:sp>
        <p:sp>
          <p:nvSpPr>
            <p:cNvPr id="9239" name="Text Box 23"/>
            <p:cNvSpPr txBox="1">
              <a:spLocks noChangeArrowheads="1"/>
            </p:cNvSpPr>
            <p:nvPr/>
          </p:nvSpPr>
          <p:spPr bwMode="auto">
            <a:xfrm>
              <a:off x="3050" y="4675"/>
              <a:ext cx="1060" cy="231"/>
            </a:xfrm>
            <a:prstGeom prst="rect">
              <a:avLst/>
            </a:prstGeom>
            <a:noFill/>
            <a:ln w="9525">
              <a:noFill/>
              <a:miter lim="800000"/>
              <a:headEnd/>
              <a:tailEnd/>
            </a:ln>
          </p:spPr>
          <p:txBody>
            <a:bodyPr>
              <a:spAutoFit/>
            </a:bodyPr>
            <a:lstStyle/>
            <a:p>
              <a:pPr>
                <a:spcBef>
                  <a:spcPct val="50000"/>
                </a:spcBef>
              </a:pPr>
              <a:r>
                <a:rPr lang="en-GB">
                  <a:solidFill>
                    <a:srgbClr val="FF0000"/>
                  </a:solidFill>
                </a:rPr>
                <a:t>? numbers[3]</a:t>
              </a:r>
            </a:p>
          </p:txBody>
        </p:sp>
      </p:grpSp>
      <p:sp>
        <p:nvSpPr>
          <p:cNvPr id="9234" name="Text Box 35"/>
          <p:cNvSpPr txBox="1">
            <a:spLocks noChangeArrowheads="1"/>
          </p:cNvSpPr>
          <p:nvPr/>
        </p:nvSpPr>
        <p:spPr bwMode="auto">
          <a:xfrm>
            <a:off x="336233" y="6090285"/>
            <a:ext cx="4905375" cy="366713"/>
          </a:xfrm>
          <a:prstGeom prst="rect">
            <a:avLst/>
          </a:prstGeom>
          <a:noFill/>
          <a:ln w="9525">
            <a:noFill/>
            <a:miter lim="800000"/>
            <a:headEnd/>
            <a:tailEnd/>
          </a:ln>
        </p:spPr>
        <p:txBody>
          <a:bodyPr>
            <a:spAutoFit/>
          </a:bodyPr>
          <a:lstStyle/>
          <a:p>
            <a:pPr>
              <a:spcBef>
                <a:spcPct val="50000"/>
              </a:spcBef>
            </a:pPr>
            <a:endParaRPr lang="en-US"/>
          </a:p>
        </p:txBody>
      </p:sp>
      <p:sp>
        <p:nvSpPr>
          <p:cNvPr id="186404" name="Text Box 36"/>
          <p:cNvSpPr txBox="1">
            <a:spLocks noChangeArrowheads="1"/>
          </p:cNvSpPr>
          <p:nvPr/>
        </p:nvSpPr>
        <p:spPr bwMode="auto">
          <a:xfrm>
            <a:off x="-171767" y="5915660"/>
            <a:ext cx="6770687" cy="1184940"/>
          </a:xfrm>
          <a:prstGeom prst="rect">
            <a:avLst/>
          </a:prstGeom>
          <a:noFill/>
          <a:ln w="9525">
            <a:noFill/>
            <a:miter lim="800000"/>
            <a:headEnd/>
            <a:tailEnd/>
          </a:ln>
        </p:spPr>
        <p:txBody>
          <a:bodyPr>
            <a:spAutoFit/>
          </a:bodyPr>
          <a:lstStyle/>
          <a:p>
            <a:pPr marL="342900" indent="-342900">
              <a:spcBef>
                <a:spcPct val="50000"/>
              </a:spcBef>
              <a:buFont typeface="Wingdings"/>
              <a:buChar char="I"/>
            </a:pPr>
            <a:r>
              <a:rPr lang="en-US" sz="2000" dirty="0"/>
              <a:t>What will happen if we try to print numbers[3] ?</a:t>
            </a:r>
          </a:p>
          <a:p>
            <a:pPr marL="1257300" lvl="2" indent="-342900">
              <a:spcBef>
                <a:spcPct val="50000"/>
              </a:spcBef>
              <a:buFont typeface="Wingdings"/>
              <a:buChar char="I"/>
            </a:pPr>
            <a:r>
              <a:rPr lang="en-GB" sz="1400" dirty="0" err="1">
                <a:solidFill>
                  <a:srgbClr val="009999"/>
                </a:solidFill>
                <a:latin typeface="Lucida Console" pitchFamily="49" charset="0"/>
              </a:rPr>
              <a:t>MessageBox.Show</a:t>
            </a:r>
            <a:r>
              <a:rPr lang="en-GB" sz="1400" dirty="0">
                <a:solidFill>
                  <a:srgbClr val="009999"/>
                </a:solidFill>
                <a:latin typeface="Lucida Console" pitchFamily="49" charset="0"/>
              </a:rPr>
              <a:t>(</a:t>
            </a:r>
            <a:r>
              <a:rPr lang="en-GB" altLang="zh-CN" sz="1400" noProof="1"/>
              <a:t>“</a:t>
            </a:r>
            <a:r>
              <a:rPr lang="en-GB" altLang="zh-CN" sz="1400" noProof="1">
                <a:latin typeface="Lucida Console" pitchFamily="49" charset="0"/>
              </a:rPr>
              <a:t>4th</a:t>
            </a:r>
            <a:r>
              <a:rPr lang="en-GB" sz="1400" dirty="0">
                <a:latin typeface="Lucida Console" pitchFamily="49" charset="0"/>
              </a:rPr>
              <a:t> number:</a:t>
            </a:r>
            <a:r>
              <a:rPr lang="en-GB" altLang="zh-CN" sz="1400" noProof="1"/>
              <a:t>“ </a:t>
            </a:r>
            <a:r>
              <a:rPr lang="en-GB" sz="1400" dirty="0">
                <a:latin typeface="Lucida Console" pitchFamily="49" charset="0"/>
              </a:rPr>
              <a:t>+ numbers[3]</a:t>
            </a:r>
            <a:r>
              <a:rPr lang="en-GB" sz="1400" dirty="0">
                <a:solidFill>
                  <a:srgbClr val="009999"/>
                </a:solidFill>
                <a:latin typeface="Lucida Console" pitchFamily="49" charset="0"/>
              </a:rPr>
              <a:t>)</a:t>
            </a:r>
            <a:r>
              <a:rPr lang="en-GB" sz="1400" dirty="0">
                <a:latin typeface="Lucida Console" pitchFamily="49" charset="0"/>
              </a:rPr>
              <a:t>;</a:t>
            </a:r>
          </a:p>
          <a:p>
            <a:pPr marL="342900" indent="-342900">
              <a:spcBef>
                <a:spcPct val="50000"/>
              </a:spcBef>
              <a:buFont typeface="Wingdings"/>
              <a:buChar char="I"/>
            </a:pPr>
            <a:endParaRPr lang="en-GB" sz="2000" dirty="0"/>
          </a:p>
        </p:txBody>
      </p:sp>
      <p:pic>
        <p:nvPicPr>
          <p:cNvPr id="1026" name="Picture 2" descr="C:\Users\tanail\AppData\Local\Microsoft\Windows\Temporary Internet Files\Content.IE5\6KSNL5KG\MC900441902[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102" y="6637655"/>
            <a:ext cx="1520825" cy="17970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7925568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86371"/>
                                        </p:tgtEl>
                                        <p:attrNameLst>
                                          <p:attrName>style.visibility</p:attrName>
                                        </p:attrNameLst>
                                      </p:cBhvr>
                                      <p:to>
                                        <p:strVal val="visible"/>
                                      </p:to>
                                    </p:set>
                                    <p:animEffect transition="in" filter="blinds(horizontal)">
                                      <p:cBhvr>
                                        <p:cTn id="7" dur="500"/>
                                        <p:tgtEl>
                                          <p:spTgt spid="1863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6372"/>
                                        </p:tgtEl>
                                        <p:attrNameLst>
                                          <p:attrName>style.visibility</p:attrName>
                                        </p:attrNameLst>
                                      </p:cBhvr>
                                      <p:to>
                                        <p:strVal val="visible"/>
                                      </p:to>
                                    </p:set>
                                    <p:animEffect transition="in" filter="blinds(horizontal)">
                                      <p:cBhvr>
                                        <p:cTn id="12" dur="500"/>
                                        <p:tgtEl>
                                          <p:spTgt spid="18637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6402"/>
                                        </p:tgtEl>
                                        <p:attrNameLst>
                                          <p:attrName>style.visibility</p:attrName>
                                        </p:attrNameLst>
                                      </p:cBhvr>
                                      <p:to>
                                        <p:strVal val="visible"/>
                                      </p:to>
                                    </p:set>
                                    <p:animEffect transition="in" filter="blinds(horizontal)">
                                      <p:cBhvr>
                                        <p:cTn id="17" dur="500"/>
                                        <p:tgtEl>
                                          <p:spTgt spid="186402"/>
                                        </p:tgtEl>
                                      </p:cBhvr>
                                    </p:animEffect>
                                  </p:childTnLst>
                                </p:cTn>
                              </p:par>
                            </p:childTnLst>
                          </p:cTn>
                        </p:par>
                        <p:par>
                          <p:cTn id="18" fill="hold">
                            <p:stCondLst>
                              <p:cond delay="500"/>
                            </p:stCondLst>
                            <p:childTnLst>
                              <p:par>
                                <p:cTn id="19" presetID="30" presetClass="entr" presetSubtype="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800" decel="100000"/>
                                        <p:tgtEl>
                                          <p:spTgt spid="2"/>
                                        </p:tgtEl>
                                      </p:cBhvr>
                                    </p:animEffect>
                                    <p:anim calcmode="lin" valueType="num">
                                      <p:cBhvr>
                                        <p:cTn id="22" dur="800" decel="100000" fill="hold"/>
                                        <p:tgtEl>
                                          <p:spTgt spid="2"/>
                                        </p:tgtEl>
                                        <p:attrNameLst>
                                          <p:attrName>style.rotation</p:attrName>
                                        </p:attrNameLst>
                                      </p:cBhvr>
                                      <p:tavLst>
                                        <p:tav tm="0">
                                          <p:val>
                                            <p:fltVal val="-90"/>
                                          </p:val>
                                        </p:tav>
                                        <p:tav tm="100000">
                                          <p:val>
                                            <p:fltVal val="0"/>
                                          </p:val>
                                        </p:tav>
                                      </p:tavLst>
                                    </p:anim>
                                    <p:anim calcmode="lin" valueType="num">
                                      <p:cBhvr>
                                        <p:cTn id="23" dur="800" decel="100000" fill="hold"/>
                                        <p:tgtEl>
                                          <p:spTgt spid="2"/>
                                        </p:tgtEl>
                                        <p:attrNameLst>
                                          <p:attrName>ppt_x</p:attrName>
                                        </p:attrNameLst>
                                      </p:cBhvr>
                                      <p:tavLst>
                                        <p:tav tm="0">
                                          <p:val>
                                            <p:strVal val="#ppt_x+0.4"/>
                                          </p:val>
                                        </p:tav>
                                        <p:tav tm="100000">
                                          <p:val>
                                            <p:strVal val="#ppt_x-0.05"/>
                                          </p:val>
                                        </p:tav>
                                      </p:tavLst>
                                    </p:anim>
                                    <p:anim calcmode="lin" valueType="num">
                                      <p:cBhvr>
                                        <p:cTn id="24" dur="800" decel="100000" fill="hold"/>
                                        <p:tgtEl>
                                          <p:spTgt spid="2"/>
                                        </p:tgtEl>
                                        <p:attrNameLst>
                                          <p:attrName>ppt_y</p:attrName>
                                        </p:attrNameLst>
                                      </p:cBhvr>
                                      <p:tavLst>
                                        <p:tav tm="0">
                                          <p:val>
                                            <p:strVal val="#ppt_y-0.4"/>
                                          </p:val>
                                        </p:tav>
                                        <p:tav tm="100000">
                                          <p:val>
                                            <p:strVal val="#ppt_y+0.1"/>
                                          </p:val>
                                        </p:tav>
                                      </p:tavLst>
                                    </p:anim>
                                    <p:anim calcmode="lin" valueType="num">
                                      <p:cBhvr>
                                        <p:cTn id="25" dur="200" accel="100000" fill="hold">
                                          <p:stCondLst>
                                            <p:cond delay="800"/>
                                          </p:stCondLst>
                                        </p:cTn>
                                        <p:tgtEl>
                                          <p:spTgt spid="2"/>
                                        </p:tgtEl>
                                        <p:attrNameLst>
                                          <p:attrName>ppt_x</p:attrName>
                                        </p:attrNameLst>
                                      </p:cBhvr>
                                      <p:tavLst>
                                        <p:tav tm="0">
                                          <p:val>
                                            <p:strVal val="#ppt_x-0.05"/>
                                          </p:val>
                                        </p:tav>
                                        <p:tav tm="100000">
                                          <p:val>
                                            <p:strVal val="#ppt_x"/>
                                          </p:val>
                                        </p:tav>
                                      </p:tavLst>
                                    </p:anim>
                                    <p:anim calcmode="lin" valueType="num">
                                      <p:cBhvr>
                                        <p:cTn id="26" dur="200" accel="100000" fill="hold">
                                          <p:stCondLst>
                                            <p:cond delay="800"/>
                                          </p:stCondLst>
                                        </p:cTn>
                                        <p:tgtEl>
                                          <p:spTgt spid="2"/>
                                        </p:tgtEl>
                                        <p:attrNameLst>
                                          <p:attrName>ppt_y</p:attrName>
                                        </p:attrNameLst>
                                      </p:cBhvr>
                                      <p:tavLst>
                                        <p:tav tm="0">
                                          <p:val>
                                            <p:strVal val="#ppt_y+0.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026"/>
                                        </p:tgtEl>
                                        <p:attrNameLst>
                                          <p:attrName>style.visibility</p:attrName>
                                        </p:attrNameLst>
                                      </p:cBhvr>
                                      <p:to>
                                        <p:strVal val="visible"/>
                                      </p:to>
                                    </p:set>
                                    <p:animEffect transition="in" filter="fade">
                                      <p:cBhvr>
                                        <p:cTn id="31" dur="1000"/>
                                        <p:tgtEl>
                                          <p:spTgt spid="1026"/>
                                        </p:tgtEl>
                                      </p:cBhvr>
                                    </p:animEffect>
                                    <p:anim calcmode="lin" valueType="num">
                                      <p:cBhvr>
                                        <p:cTn id="32" dur="1000" fill="hold"/>
                                        <p:tgtEl>
                                          <p:spTgt spid="1026"/>
                                        </p:tgtEl>
                                        <p:attrNameLst>
                                          <p:attrName>ppt_x</p:attrName>
                                        </p:attrNameLst>
                                      </p:cBhvr>
                                      <p:tavLst>
                                        <p:tav tm="0">
                                          <p:val>
                                            <p:strVal val="#ppt_x"/>
                                          </p:val>
                                        </p:tav>
                                        <p:tav tm="100000">
                                          <p:val>
                                            <p:strVal val="#ppt_x"/>
                                          </p:val>
                                        </p:tav>
                                      </p:tavLst>
                                    </p:anim>
                                    <p:anim calcmode="lin" valueType="num">
                                      <p:cBhvr>
                                        <p:cTn id="33"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7" presetClass="entr" presetSubtype="0" fill="hold" grpId="0" nodeType="clickEffect">
                                  <p:stCondLst>
                                    <p:cond delay="0"/>
                                  </p:stCondLst>
                                  <p:childTnLst>
                                    <p:set>
                                      <p:cBhvr>
                                        <p:cTn id="37" dur="1" fill="hold">
                                          <p:stCondLst>
                                            <p:cond delay="0"/>
                                          </p:stCondLst>
                                        </p:cTn>
                                        <p:tgtEl>
                                          <p:spTgt spid="186404"/>
                                        </p:tgtEl>
                                        <p:attrNameLst>
                                          <p:attrName>style.visibility</p:attrName>
                                        </p:attrNameLst>
                                      </p:cBhvr>
                                      <p:to>
                                        <p:strVal val="visible"/>
                                      </p:to>
                                    </p:set>
                                    <p:animEffect transition="in" filter="fade">
                                      <p:cBhvr>
                                        <p:cTn id="38" dur="1000"/>
                                        <p:tgtEl>
                                          <p:spTgt spid="186404"/>
                                        </p:tgtEl>
                                      </p:cBhvr>
                                    </p:animEffect>
                                    <p:anim calcmode="lin" valueType="num">
                                      <p:cBhvr>
                                        <p:cTn id="39" dur="1000" fill="hold"/>
                                        <p:tgtEl>
                                          <p:spTgt spid="186404"/>
                                        </p:tgtEl>
                                        <p:attrNameLst>
                                          <p:attrName>ppt_x</p:attrName>
                                        </p:attrNameLst>
                                      </p:cBhvr>
                                      <p:tavLst>
                                        <p:tav tm="0">
                                          <p:val>
                                            <p:strVal val="#ppt_x"/>
                                          </p:val>
                                        </p:tav>
                                        <p:tav tm="100000">
                                          <p:val>
                                            <p:strVal val="#ppt_x"/>
                                          </p:val>
                                        </p:tav>
                                      </p:tavLst>
                                    </p:anim>
                                    <p:anim calcmode="lin" valueType="num">
                                      <p:cBhvr>
                                        <p:cTn id="40" dur="900" decel="100000" fill="hold"/>
                                        <p:tgtEl>
                                          <p:spTgt spid="186404"/>
                                        </p:tgtEl>
                                        <p:attrNameLst>
                                          <p:attrName>ppt_y</p:attrName>
                                        </p:attrNameLst>
                                      </p:cBhvr>
                                      <p:tavLst>
                                        <p:tav tm="0">
                                          <p:val>
                                            <p:strVal val="#ppt_y+1"/>
                                          </p:val>
                                        </p:tav>
                                        <p:tav tm="100000">
                                          <p:val>
                                            <p:strVal val="#ppt_y-.03"/>
                                          </p:val>
                                        </p:tav>
                                      </p:tavLst>
                                    </p:anim>
                                    <p:anim calcmode="lin" valueType="num">
                                      <p:cBhvr>
                                        <p:cTn id="41" dur="100" accel="100000" fill="hold">
                                          <p:stCondLst>
                                            <p:cond delay="900"/>
                                          </p:stCondLst>
                                        </p:cTn>
                                        <p:tgtEl>
                                          <p:spTgt spid="18640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autoUpdateAnimBg="0"/>
      <p:bldP spid="186372" grpId="0" animBg="1" autoUpdateAnimBg="0"/>
      <p:bldP spid="18640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GB"/>
              <a:t>Storing Data in Arrays</a:t>
            </a:r>
          </a:p>
        </p:txBody>
      </p:sp>
      <p:sp>
        <p:nvSpPr>
          <p:cNvPr id="5" name="Text Box 3"/>
          <p:cNvSpPr txBox="1">
            <a:spLocks noChangeArrowheads="1"/>
          </p:cNvSpPr>
          <p:nvPr/>
        </p:nvSpPr>
        <p:spPr bwMode="auto">
          <a:xfrm>
            <a:off x="603885" y="1408748"/>
            <a:ext cx="5661025" cy="5478423"/>
          </a:xfrm>
          <a:prstGeom prst="rect">
            <a:avLst/>
          </a:prstGeom>
          <a:noFill/>
          <a:ln w="9525">
            <a:noFill/>
            <a:miter lim="800000"/>
            <a:headEnd/>
            <a:tailEnd/>
          </a:ln>
        </p:spPr>
        <p:txBody>
          <a:bodyPr>
            <a:spAutoFit/>
          </a:bodyPr>
          <a:lstStyle/>
          <a:p>
            <a:pPr>
              <a:spcBef>
                <a:spcPct val="50000"/>
              </a:spcBef>
            </a:pPr>
            <a:r>
              <a:rPr lang="en-GB" sz="1400" dirty="0">
                <a:solidFill>
                  <a:srgbClr val="0033CC"/>
                </a:solidFill>
                <a:latin typeface="Lucida Console" pitchFamily="49" charset="0"/>
              </a:rPr>
              <a:t>//Array of 3 integer numbers</a:t>
            </a:r>
          </a:p>
          <a:p>
            <a:pPr>
              <a:spcBef>
                <a:spcPct val="50000"/>
              </a:spcBef>
            </a:pPr>
            <a:r>
              <a:rPr lang="en-GB" sz="1400" dirty="0" err="1">
                <a:solidFill>
                  <a:srgbClr val="0033CC"/>
                </a:solidFill>
                <a:latin typeface="Lucida Console" pitchFamily="49" charset="0"/>
              </a:rPr>
              <a:t>int</a:t>
            </a:r>
            <a:r>
              <a:rPr lang="en-GB" sz="1400" dirty="0">
                <a:latin typeface="Lucida Console" pitchFamily="49" charset="0"/>
              </a:rPr>
              <a:t> [] numbers= {1,2,3};</a:t>
            </a:r>
          </a:p>
          <a:p>
            <a:pPr>
              <a:spcBef>
                <a:spcPct val="50000"/>
              </a:spcBef>
            </a:pPr>
            <a:endParaRPr lang="en-GB" sz="1400" dirty="0">
              <a:latin typeface="Lucida Console" pitchFamily="49" charset="0"/>
            </a:endParaRPr>
          </a:p>
          <a:p>
            <a:pPr>
              <a:spcBef>
                <a:spcPct val="50000"/>
              </a:spcBef>
            </a:pPr>
            <a:r>
              <a:rPr lang="en-GB" sz="1400" dirty="0">
                <a:latin typeface="Lucida Console" pitchFamily="49" charset="0"/>
              </a:rPr>
              <a:t>// Assign 3 new numbers in array</a:t>
            </a:r>
          </a:p>
          <a:p>
            <a:pPr>
              <a:spcBef>
                <a:spcPct val="50000"/>
              </a:spcBef>
            </a:pPr>
            <a:r>
              <a:rPr lang="en-GB" sz="1400" dirty="0">
                <a:latin typeface="Lucida Console" pitchFamily="49" charset="0"/>
              </a:rPr>
              <a:t>  numbers[0] = 10;</a:t>
            </a:r>
          </a:p>
          <a:p>
            <a:pPr>
              <a:spcBef>
                <a:spcPct val="50000"/>
              </a:spcBef>
            </a:pPr>
            <a:r>
              <a:rPr lang="en-GB" sz="1400" dirty="0">
                <a:latin typeface="Lucida Console" pitchFamily="49" charset="0"/>
              </a:rPr>
              <a:t>  numbers[1] = 11;</a:t>
            </a:r>
          </a:p>
          <a:p>
            <a:pPr>
              <a:spcBef>
                <a:spcPct val="50000"/>
              </a:spcBef>
            </a:pPr>
            <a:r>
              <a:rPr lang="en-GB" sz="1400" dirty="0">
                <a:latin typeface="Lucida Console" pitchFamily="49" charset="0"/>
              </a:rPr>
              <a:t>  numbers[2] = 12;</a:t>
            </a:r>
          </a:p>
          <a:p>
            <a:pPr>
              <a:spcBef>
                <a:spcPct val="50000"/>
              </a:spcBef>
            </a:pPr>
            <a:endParaRPr lang="en-GB" sz="1400" dirty="0">
              <a:latin typeface="Lucida Console" pitchFamily="49" charset="0"/>
            </a:endParaRPr>
          </a:p>
          <a:p>
            <a:pPr>
              <a:spcBef>
                <a:spcPct val="50000"/>
              </a:spcBef>
            </a:pPr>
            <a:r>
              <a:rPr lang="en-GB" sz="1400" dirty="0">
                <a:solidFill>
                  <a:srgbClr val="009999"/>
                </a:solidFill>
                <a:latin typeface="Lucida Console" pitchFamily="49" charset="0"/>
              </a:rPr>
              <a:t>  </a:t>
            </a:r>
            <a:r>
              <a:rPr lang="en-GB" sz="1400" dirty="0" err="1">
                <a:solidFill>
                  <a:srgbClr val="009999"/>
                </a:solidFill>
                <a:latin typeface="Lucida Console" pitchFamily="49" charset="0"/>
              </a:rPr>
              <a:t>MessageBox.Show</a:t>
            </a:r>
            <a:r>
              <a:rPr lang="en-GB" sz="1400" dirty="0">
                <a:solidFill>
                  <a:srgbClr val="009999"/>
                </a:solidFill>
                <a:latin typeface="Lucida Console" pitchFamily="49" charset="0"/>
              </a:rPr>
              <a:t>(</a:t>
            </a:r>
            <a:r>
              <a:rPr lang="en-GB" altLang="zh-CN" sz="1400" noProof="1"/>
              <a:t>“</a:t>
            </a:r>
            <a:r>
              <a:rPr lang="en-GB" altLang="zh-CN" sz="1400" noProof="1">
                <a:latin typeface="Lucida Console" pitchFamily="49" charset="0"/>
              </a:rPr>
              <a:t>1st</a:t>
            </a:r>
            <a:r>
              <a:rPr lang="en-GB" sz="1400" dirty="0">
                <a:latin typeface="Lucida Console" pitchFamily="49" charset="0"/>
              </a:rPr>
              <a:t> number:</a:t>
            </a:r>
            <a:r>
              <a:rPr lang="en-GB" altLang="zh-CN" sz="1400" noProof="1"/>
              <a:t>“ </a:t>
            </a:r>
            <a:r>
              <a:rPr lang="en-GB" sz="1400" dirty="0">
                <a:latin typeface="Lucida Console" pitchFamily="49" charset="0"/>
              </a:rPr>
              <a:t>+ numbers[0]</a:t>
            </a:r>
            <a:r>
              <a:rPr lang="en-GB" sz="1400" dirty="0">
                <a:solidFill>
                  <a:srgbClr val="009999"/>
                </a:solidFill>
                <a:latin typeface="Lucida Console" pitchFamily="49" charset="0"/>
              </a:rPr>
              <a:t>)</a:t>
            </a:r>
            <a:r>
              <a:rPr lang="en-GB" sz="1400" dirty="0">
                <a:latin typeface="Lucida Console" pitchFamily="49" charset="0"/>
              </a:rPr>
              <a:t>;</a:t>
            </a:r>
          </a:p>
          <a:p>
            <a:pPr>
              <a:spcBef>
                <a:spcPct val="50000"/>
              </a:spcBef>
            </a:pPr>
            <a:r>
              <a:rPr lang="en-GB" sz="1400" dirty="0">
                <a:solidFill>
                  <a:srgbClr val="009999"/>
                </a:solidFill>
                <a:latin typeface="Lucida Console" pitchFamily="49" charset="0"/>
              </a:rPr>
              <a:t>  </a:t>
            </a:r>
            <a:r>
              <a:rPr lang="en-GB" sz="1400" dirty="0" err="1">
                <a:solidFill>
                  <a:srgbClr val="009999"/>
                </a:solidFill>
                <a:latin typeface="Lucida Console" pitchFamily="49" charset="0"/>
              </a:rPr>
              <a:t>MessageBox.Show</a:t>
            </a:r>
            <a:r>
              <a:rPr lang="en-GB" sz="1400" dirty="0">
                <a:solidFill>
                  <a:srgbClr val="009999"/>
                </a:solidFill>
                <a:latin typeface="Lucida Console" pitchFamily="49" charset="0"/>
              </a:rPr>
              <a:t>(</a:t>
            </a:r>
            <a:r>
              <a:rPr lang="en-GB" altLang="zh-CN" sz="1400" noProof="1"/>
              <a:t>“</a:t>
            </a:r>
            <a:r>
              <a:rPr lang="en-GB" altLang="zh-CN" sz="1400" noProof="1">
                <a:latin typeface="Lucida Console" pitchFamily="49" charset="0"/>
              </a:rPr>
              <a:t>2nd</a:t>
            </a:r>
            <a:r>
              <a:rPr lang="en-GB" sz="1400" dirty="0">
                <a:latin typeface="Lucida Console" pitchFamily="49" charset="0"/>
              </a:rPr>
              <a:t> number:</a:t>
            </a:r>
            <a:r>
              <a:rPr lang="en-GB" altLang="zh-CN" sz="1400" noProof="1"/>
              <a:t>“ </a:t>
            </a:r>
            <a:r>
              <a:rPr lang="en-GB" sz="1400" dirty="0">
                <a:latin typeface="Lucida Console" pitchFamily="49" charset="0"/>
              </a:rPr>
              <a:t>+ numbers[1]</a:t>
            </a:r>
            <a:r>
              <a:rPr lang="en-GB" sz="1400" dirty="0">
                <a:solidFill>
                  <a:srgbClr val="009999"/>
                </a:solidFill>
                <a:latin typeface="Lucida Console" pitchFamily="49" charset="0"/>
              </a:rPr>
              <a:t>)</a:t>
            </a:r>
            <a:r>
              <a:rPr lang="en-GB" sz="1400" dirty="0">
                <a:latin typeface="Lucida Console" pitchFamily="49" charset="0"/>
              </a:rPr>
              <a:t>; </a:t>
            </a:r>
          </a:p>
          <a:p>
            <a:pPr>
              <a:spcBef>
                <a:spcPct val="50000"/>
              </a:spcBef>
            </a:pPr>
            <a:r>
              <a:rPr lang="en-GB" sz="1400" dirty="0">
                <a:latin typeface="Lucida Console" pitchFamily="49" charset="0"/>
              </a:rPr>
              <a:t>  </a:t>
            </a:r>
            <a:r>
              <a:rPr lang="en-GB" sz="1400" dirty="0" err="1">
                <a:solidFill>
                  <a:srgbClr val="009999"/>
                </a:solidFill>
                <a:latin typeface="Lucida Console" pitchFamily="49" charset="0"/>
              </a:rPr>
              <a:t>MessageBox.Show</a:t>
            </a:r>
            <a:r>
              <a:rPr lang="en-GB" sz="1400" dirty="0">
                <a:solidFill>
                  <a:srgbClr val="009999"/>
                </a:solidFill>
                <a:latin typeface="Lucida Console" pitchFamily="49" charset="0"/>
              </a:rPr>
              <a:t>(</a:t>
            </a:r>
            <a:r>
              <a:rPr lang="en-GB" altLang="zh-CN" sz="1400" noProof="1"/>
              <a:t>“</a:t>
            </a:r>
            <a:r>
              <a:rPr lang="en-GB" altLang="zh-CN" sz="1400" noProof="1">
                <a:latin typeface="Lucida Console" pitchFamily="49" charset="0"/>
              </a:rPr>
              <a:t>3rd</a:t>
            </a:r>
            <a:r>
              <a:rPr lang="en-GB" sz="1400" dirty="0">
                <a:latin typeface="Lucida Console" pitchFamily="49" charset="0"/>
              </a:rPr>
              <a:t> number:</a:t>
            </a:r>
            <a:r>
              <a:rPr lang="en-GB" altLang="zh-CN" sz="1400" noProof="1"/>
              <a:t>“ </a:t>
            </a:r>
            <a:r>
              <a:rPr lang="en-GB" sz="1400" dirty="0">
                <a:latin typeface="Lucida Console" pitchFamily="49" charset="0"/>
              </a:rPr>
              <a:t>+ numbers[2]</a:t>
            </a:r>
            <a:r>
              <a:rPr lang="en-GB" sz="1400" dirty="0">
                <a:solidFill>
                  <a:srgbClr val="009999"/>
                </a:solidFill>
                <a:latin typeface="Lucida Console" pitchFamily="49" charset="0"/>
              </a:rPr>
              <a:t>)</a:t>
            </a:r>
            <a:r>
              <a:rPr lang="en-GB" sz="1400" dirty="0">
                <a:latin typeface="Lucida Console" pitchFamily="49" charset="0"/>
              </a:rPr>
              <a:t>;</a:t>
            </a:r>
          </a:p>
          <a:p>
            <a:pPr>
              <a:spcBef>
                <a:spcPct val="50000"/>
              </a:spcBef>
            </a:pPr>
            <a:endParaRPr lang="en-GB" sz="1400" dirty="0">
              <a:latin typeface="Lucida Console" pitchFamily="49" charset="0"/>
            </a:endParaRPr>
          </a:p>
          <a:p>
            <a:pPr>
              <a:spcBef>
                <a:spcPct val="50000"/>
              </a:spcBef>
            </a:pPr>
            <a:endParaRPr lang="en-GB" sz="1400" dirty="0">
              <a:latin typeface="Lucida Console" pitchFamily="49" charset="0"/>
            </a:endParaRPr>
          </a:p>
          <a:p>
            <a:pPr>
              <a:spcBef>
                <a:spcPct val="50000"/>
              </a:spcBef>
            </a:pPr>
            <a:endParaRPr lang="en-GB" sz="1400" dirty="0">
              <a:latin typeface="Lucida Console" pitchFamily="49" charset="0"/>
            </a:endParaRPr>
          </a:p>
          <a:p>
            <a:pPr>
              <a:spcBef>
                <a:spcPct val="50000"/>
              </a:spcBef>
            </a:pPr>
            <a:endParaRPr lang="en-GB" sz="1400" dirty="0">
              <a:latin typeface="Lucida Console" pitchFamily="49" charset="0"/>
            </a:endParaRPr>
          </a:p>
          <a:p>
            <a:pPr>
              <a:spcBef>
                <a:spcPct val="50000"/>
              </a:spcBef>
            </a:pPr>
            <a:endParaRPr lang="en-GB" sz="1400" dirty="0">
              <a:latin typeface="Lucida Console" pitchFamily="49" charset="0"/>
            </a:endParaRPr>
          </a:p>
          <a:p>
            <a:pPr>
              <a:spcBef>
                <a:spcPct val="50000"/>
              </a:spcBef>
            </a:pPr>
            <a:endParaRPr lang="en-GB" sz="1400" dirty="0">
              <a:latin typeface="Lucida Console" pitchFamily="49" charset="0"/>
            </a:endParaRPr>
          </a:p>
        </p:txBody>
      </p:sp>
      <p:sp>
        <p:nvSpPr>
          <p:cNvPr id="6" name="Text Box 36"/>
          <p:cNvSpPr txBox="1">
            <a:spLocks noChangeArrowheads="1"/>
          </p:cNvSpPr>
          <p:nvPr/>
        </p:nvSpPr>
        <p:spPr bwMode="auto">
          <a:xfrm>
            <a:off x="87313" y="5123180"/>
            <a:ext cx="6770687" cy="400110"/>
          </a:xfrm>
          <a:prstGeom prst="rect">
            <a:avLst/>
          </a:prstGeom>
          <a:noFill/>
          <a:ln w="9525">
            <a:noFill/>
            <a:miter lim="800000"/>
            <a:headEnd/>
            <a:tailEnd/>
          </a:ln>
        </p:spPr>
        <p:txBody>
          <a:bodyPr>
            <a:spAutoFit/>
          </a:bodyPr>
          <a:lstStyle/>
          <a:p>
            <a:pPr marL="342900" indent="-342900">
              <a:spcBef>
                <a:spcPct val="50000"/>
              </a:spcBef>
              <a:buFont typeface="Wingdings"/>
              <a:buChar char="I"/>
            </a:pPr>
            <a:r>
              <a:rPr lang="en-US" sz="2000" dirty="0"/>
              <a:t>What will be displayed in the message box?</a:t>
            </a:r>
          </a:p>
        </p:txBody>
      </p:sp>
      <p:pic>
        <p:nvPicPr>
          <p:cNvPr id="7" name="Picture 2" descr="C:\Users\tanail\AppData\Local\Microsoft\Windows\Temporary Internet Files\Content.IE5\6KSNL5KG\MC900441902[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8182" y="5601335"/>
            <a:ext cx="1520825" cy="1797050"/>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36"/>
          <p:cNvSpPr txBox="1">
            <a:spLocks noChangeArrowheads="1"/>
          </p:cNvSpPr>
          <p:nvPr/>
        </p:nvSpPr>
        <p:spPr bwMode="auto">
          <a:xfrm>
            <a:off x="49053" y="7515860"/>
            <a:ext cx="6770687" cy="707886"/>
          </a:xfrm>
          <a:prstGeom prst="rect">
            <a:avLst/>
          </a:prstGeom>
          <a:noFill/>
          <a:ln w="9525">
            <a:noFill/>
            <a:miter lim="800000"/>
            <a:headEnd/>
            <a:tailEnd/>
          </a:ln>
        </p:spPr>
        <p:txBody>
          <a:bodyPr>
            <a:spAutoFit/>
          </a:bodyPr>
          <a:lstStyle/>
          <a:p>
            <a:pPr marL="0" indent="0" eaLnBrk="1" hangingPunct="1">
              <a:buNone/>
            </a:pPr>
            <a:r>
              <a:rPr lang="en-GB" sz="2000" dirty="0"/>
              <a:t>When the array size grows to 100, how would you store the 100 numbers? </a:t>
            </a:r>
          </a:p>
        </p:txBody>
      </p:sp>
      <p:sp>
        <p:nvSpPr>
          <p:cNvPr id="9" name="Cloud 8"/>
          <p:cNvSpPr/>
          <p:nvPr/>
        </p:nvSpPr>
        <p:spPr>
          <a:xfrm>
            <a:off x="2653030" y="5593714"/>
            <a:ext cx="3611880" cy="701993"/>
          </a:xfrm>
          <a:prstGeom prst="cloud">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000" b="1" dirty="0">
                <a:solidFill>
                  <a:schemeClr val="tx1"/>
                </a:solidFill>
                <a:latin typeface="Comic Sans MS" pitchFamily="66" charset="0"/>
              </a:rPr>
              <a:t>numbers[0]</a:t>
            </a:r>
            <a:r>
              <a:rPr lang="en-US" sz="1000" dirty="0">
                <a:solidFill>
                  <a:schemeClr val="tx1"/>
                </a:solidFill>
                <a:latin typeface="Comic Sans MS" pitchFamily="66" charset="0"/>
              </a:rPr>
              <a:t> means at index 0. </a:t>
            </a:r>
          </a:p>
          <a:p>
            <a:pPr algn="ctr">
              <a:defRPr/>
            </a:pPr>
            <a:r>
              <a:rPr lang="en-US" sz="1000" dirty="0">
                <a:solidFill>
                  <a:schemeClr val="tx1"/>
                </a:solidFill>
                <a:latin typeface="Comic Sans MS" pitchFamily="66" charset="0"/>
              </a:rPr>
              <a:t>The number is 10.</a:t>
            </a:r>
          </a:p>
        </p:txBody>
      </p:sp>
    </p:spTree>
    <p:custDataLst>
      <p:tags r:id="rId1"/>
    </p:custDataLst>
    <p:extLst>
      <p:ext uri="{BB962C8B-B14F-4D97-AF65-F5344CB8AC3E}">
        <p14:creationId xmlns:p14="http://schemas.microsoft.com/office/powerpoint/2010/main" val="4189697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900" decel="100000" fill="hold"/>
                                        <p:tgtEl>
                                          <p:spTgt spid="6"/>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p:bldP spid="8" grpId="0"/>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GB"/>
              <a:t>Spot the errors</a:t>
            </a:r>
          </a:p>
        </p:txBody>
      </p:sp>
      <p:sp>
        <p:nvSpPr>
          <p:cNvPr id="214019" name="Text Box 3"/>
          <p:cNvSpPr txBox="1">
            <a:spLocks noChangeArrowheads="1"/>
          </p:cNvSpPr>
          <p:nvPr/>
        </p:nvSpPr>
        <p:spPr bwMode="auto">
          <a:xfrm>
            <a:off x="376238" y="3065463"/>
            <a:ext cx="6207125" cy="4093428"/>
          </a:xfrm>
          <a:prstGeom prst="rect">
            <a:avLst/>
          </a:prstGeom>
          <a:noFill/>
          <a:ln w="9525">
            <a:noFill/>
            <a:miter lim="800000"/>
            <a:headEnd/>
            <a:tailEnd/>
          </a:ln>
        </p:spPr>
        <p:txBody>
          <a:bodyPr>
            <a:spAutoFit/>
          </a:bodyPr>
          <a:lstStyle/>
          <a:p>
            <a:pPr>
              <a:spcBef>
                <a:spcPct val="50000"/>
              </a:spcBef>
            </a:pPr>
            <a:r>
              <a:rPr lang="en-GB" sz="2000" dirty="0">
                <a:solidFill>
                  <a:srgbClr val="0033CC"/>
                </a:solidFill>
                <a:latin typeface="Lucida Console" pitchFamily="49" charset="0"/>
              </a:rPr>
              <a:t>  </a:t>
            </a:r>
            <a:r>
              <a:rPr lang="en-GB" dirty="0" err="1">
                <a:solidFill>
                  <a:srgbClr val="0033CC"/>
                </a:solidFill>
                <a:latin typeface="Lucida Console" pitchFamily="49" charset="0"/>
              </a:rPr>
              <a:t>int</a:t>
            </a:r>
            <a:r>
              <a:rPr lang="en-GB" dirty="0">
                <a:latin typeface="Lucida Console" pitchFamily="49" charset="0"/>
              </a:rPr>
              <a:t> [] array1;</a:t>
            </a:r>
          </a:p>
          <a:p>
            <a:r>
              <a:rPr lang="en-GB" dirty="0">
                <a:latin typeface="Lucida Console" pitchFamily="49" charset="0"/>
              </a:rPr>
              <a:t>  array1 = {0,2,4,6};</a:t>
            </a:r>
          </a:p>
          <a:p>
            <a:pPr>
              <a:spcBef>
                <a:spcPct val="50000"/>
              </a:spcBef>
            </a:pPr>
            <a:r>
              <a:rPr lang="en-GB" dirty="0">
                <a:latin typeface="Lucida Console" pitchFamily="49" charset="0"/>
              </a:rPr>
              <a:t>  </a:t>
            </a:r>
            <a:r>
              <a:rPr lang="en-GB" dirty="0" err="1">
                <a:solidFill>
                  <a:srgbClr val="0033CC"/>
                </a:solidFill>
                <a:latin typeface="Lucida Console" pitchFamily="49" charset="0"/>
              </a:rPr>
              <a:t>int</a:t>
            </a:r>
            <a:r>
              <a:rPr lang="en-GB" dirty="0">
                <a:latin typeface="Lucida Console" pitchFamily="49" charset="0"/>
              </a:rPr>
              <a:t> [] array2;</a:t>
            </a:r>
          </a:p>
          <a:p>
            <a:pPr>
              <a:spcBef>
                <a:spcPct val="50000"/>
              </a:spcBef>
            </a:pPr>
            <a:endParaRPr lang="en-GB" dirty="0">
              <a:latin typeface="Lucida Console" pitchFamily="49" charset="0"/>
            </a:endParaRPr>
          </a:p>
          <a:p>
            <a:r>
              <a:rPr lang="en-GB" dirty="0" err="1">
                <a:latin typeface="Lucida Console" pitchFamily="49" charset="0"/>
              </a:rPr>
              <a:t>MessageBox.Show</a:t>
            </a:r>
            <a:r>
              <a:rPr lang="en-GB" dirty="0">
                <a:latin typeface="Lucida Console" pitchFamily="49" charset="0"/>
              </a:rPr>
              <a:t>( “value is “ + array2[0] );</a:t>
            </a:r>
          </a:p>
          <a:p>
            <a:endParaRPr lang="en-GB" sz="2000" dirty="0">
              <a:latin typeface="Lucida Console" pitchFamily="49" charset="0"/>
            </a:endParaRPr>
          </a:p>
          <a:p>
            <a:pPr>
              <a:spcBef>
                <a:spcPct val="50000"/>
              </a:spcBef>
            </a:pPr>
            <a:r>
              <a:rPr lang="en-GB" sz="2000" dirty="0">
                <a:latin typeface="Lucida Console" pitchFamily="49" charset="0"/>
              </a:rPr>
              <a:t>  double [] </a:t>
            </a:r>
            <a:r>
              <a:rPr lang="en-GB" sz="2000" dirty="0" err="1">
                <a:latin typeface="Lucida Console" pitchFamily="49" charset="0"/>
              </a:rPr>
              <a:t>arrayA</a:t>
            </a:r>
            <a:r>
              <a:rPr lang="en-GB" sz="2000" dirty="0">
                <a:latin typeface="Lucida Console" pitchFamily="49" charset="0"/>
              </a:rPr>
              <a:t>={1.0,1.6};</a:t>
            </a:r>
          </a:p>
          <a:p>
            <a:r>
              <a:rPr lang="en-GB" sz="2000" dirty="0">
                <a:latin typeface="Lucida Console" pitchFamily="49" charset="0"/>
              </a:rPr>
              <a:t>  </a:t>
            </a:r>
            <a:r>
              <a:rPr lang="en-GB" sz="2000" dirty="0" err="1">
                <a:latin typeface="Lucida Console" pitchFamily="49" charset="0"/>
              </a:rPr>
              <a:t>MessageBox.Show</a:t>
            </a:r>
            <a:r>
              <a:rPr lang="en-GB" sz="2000" dirty="0">
                <a:latin typeface="Lucida Console" pitchFamily="49" charset="0"/>
              </a:rPr>
              <a:t>(</a:t>
            </a:r>
            <a:r>
              <a:rPr lang="en-GB" sz="2000" dirty="0" err="1">
                <a:latin typeface="Lucida Console" pitchFamily="49" charset="0"/>
              </a:rPr>
              <a:t>arrayA</a:t>
            </a:r>
            <a:r>
              <a:rPr lang="en-GB" sz="2000" dirty="0">
                <a:latin typeface="Lucida Console" pitchFamily="49" charset="0"/>
              </a:rPr>
              <a:t>[2]);</a:t>
            </a:r>
          </a:p>
          <a:p>
            <a:endParaRPr lang="en-GB" sz="2000" dirty="0">
              <a:latin typeface="Lucida Console" pitchFamily="49" charset="0"/>
            </a:endParaRPr>
          </a:p>
          <a:p>
            <a:r>
              <a:rPr lang="en-GB" sz="2000" dirty="0">
                <a:latin typeface="Lucida Console" pitchFamily="49" charset="0"/>
              </a:rPr>
              <a:t>  </a:t>
            </a:r>
            <a:r>
              <a:rPr lang="en-GB" sz="2000" dirty="0">
                <a:solidFill>
                  <a:srgbClr val="0033CC"/>
                </a:solidFill>
                <a:latin typeface="Lucida Console" pitchFamily="49" charset="0"/>
              </a:rPr>
              <a:t>double</a:t>
            </a:r>
            <a:r>
              <a:rPr lang="en-GB" sz="2000" dirty="0">
                <a:latin typeface="Lucida Console" pitchFamily="49" charset="0"/>
              </a:rPr>
              <a:t> [] </a:t>
            </a:r>
            <a:r>
              <a:rPr lang="en-GB" sz="2000" dirty="0" err="1">
                <a:latin typeface="Lucida Console" pitchFamily="49" charset="0"/>
              </a:rPr>
              <a:t>arrayB</a:t>
            </a:r>
            <a:r>
              <a:rPr lang="en-GB" sz="2000" dirty="0">
                <a:latin typeface="Lucida Console" pitchFamily="49" charset="0"/>
              </a:rPr>
              <a:t>={1.0,1.6};</a:t>
            </a:r>
          </a:p>
          <a:p>
            <a:r>
              <a:rPr lang="en-GB" sz="2000" dirty="0">
                <a:latin typeface="Lucida Console" pitchFamily="49" charset="0"/>
              </a:rPr>
              <a:t>  </a:t>
            </a:r>
            <a:r>
              <a:rPr lang="en-GB" sz="2000" dirty="0">
                <a:solidFill>
                  <a:srgbClr val="009999"/>
                </a:solidFill>
                <a:latin typeface="Lucida Console" pitchFamily="49" charset="0"/>
              </a:rPr>
              <a:t>  </a:t>
            </a:r>
            <a:r>
              <a:rPr lang="en-GB" sz="2000" dirty="0" err="1">
                <a:latin typeface="Lucida Console" pitchFamily="49" charset="0"/>
              </a:rPr>
              <a:t>arrayB</a:t>
            </a:r>
            <a:r>
              <a:rPr lang="en-GB" sz="2000" dirty="0">
                <a:latin typeface="Lucida Console" pitchFamily="49" charset="0"/>
              </a:rPr>
              <a:t>[2] = 1.8;</a:t>
            </a:r>
          </a:p>
          <a:p>
            <a:r>
              <a:rPr lang="en-GB" sz="2000" dirty="0">
                <a:latin typeface="Lucida Console" pitchFamily="49" charset="0"/>
              </a:rPr>
              <a:t>    </a:t>
            </a:r>
            <a:r>
              <a:rPr lang="en-GB" sz="2000" dirty="0" err="1">
                <a:latin typeface="Lucida Console" pitchFamily="49" charset="0"/>
              </a:rPr>
              <a:t>arrayB</a:t>
            </a:r>
            <a:r>
              <a:rPr lang="en-GB" sz="2000" dirty="0">
                <a:latin typeface="Lucida Console" pitchFamily="49" charset="0"/>
              </a:rPr>
              <a:t>[3] = 1.75;</a:t>
            </a:r>
          </a:p>
        </p:txBody>
      </p:sp>
      <p:sp>
        <p:nvSpPr>
          <p:cNvPr id="11268" name="Rectangle 4"/>
          <p:cNvSpPr>
            <a:spLocks noGrp="1" noChangeArrowheads="1"/>
          </p:cNvSpPr>
          <p:nvPr>
            <p:ph type="body" idx="1"/>
          </p:nvPr>
        </p:nvSpPr>
        <p:spPr>
          <a:xfrm>
            <a:off x="522288" y="1708150"/>
            <a:ext cx="6175692" cy="1308100"/>
          </a:xfrm>
          <a:noFill/>
        </p:spPr>
        <p:txBody>
          <a:bodyPr/>
          <a:lstStyle/>
          <a:p>
            <a:pPr eaLnBrk="1" hangingPunct="1"/>
            <a:r>
              <a:rPr lang="en-GB" dirty="0"/>
              <a:t>Try out the following statements to see if they are valid or invalid.</a:t>
            </a:r>
          </a:p>
        </p:txBody>
      </p:sp>
      <p:sp>
        <p:nvSpPr>
          <p:cNvPr id="11269" name="Line 5"/>
          <p:cNvSpPr>
            <a:spLocks noChangeShapeType="1"/>
          </p:cNvSpPr>
          <p:nvPr/>
        </p:nvSpPr>
        <p:spPr bwMode="auto">
          <a:xfrm>
            <a:off x="495851" y="5112177"/>
            <a:ext cx="5994400" cy="0"/>
          </a:xfrm>
          <a:prstGeom prst="line">
            <a:avLst/>
          </a:prstGeom>
          <a:noFill/>
          <a:ln w="9525">
            <a:solidFill>
              <a:srgbClr val="800000"/>
            </a:solidFill>
            <a:round/>
            <a:headEnd/>
            <a:tailEnd/>
          </a:ln>
        </p:spPr>
        <p:txBody>
          <a:bodyPr/>
          <a:lstStyle/>
          <a:p>
            <a:endParaRPr lang="en-US"/>
          </a:p>
        </p:txBody>
      </p:sp>
      <p:sp>
        <p:nvSpPr>
          <p:cNvPr id="11271" name="Line 8"/>
          <p:cNvSpPr>
            <a:spLocks noChangeShapeType="1"/>
          </p:cNvSpPr>
          <p:nvPr/>
        </p:nvSpPr>
        <p:spPr bwMode="auto">
          <a:xfrm>
            <a:off x="518711" y="7253411"/>
            <a:ext cx="6070931" cy="0"/>
          </a:xfrm>
          <a:prstGeom prst="line">
            <a:avLst/>
          </a:prstGeom>
          <a:noFill/>
          <a:ln w="9525">
            <a:solidFill>
              <a:srgbClr val="800000"/>
            </a:solidFill>
            <a:round/>
            <a:headEnd/>
            <a:tailEnd/>
          </a:ln>
        </p:spPr>
        <p:txBody>
          <a:bodyPr/>
          <a:lstStyle/>
          <a:p>
            <a:endParaRPr lang="en-US"/>
          </a:p>
        </p:txBody>
      </p:sp>
    </p:spTree>
    <p:custDataLst>
      <p:tags r:id="rId1"/>
    </p:custDataLst>
    <p:extLst>
      <p:ext uri="{BB962C8B-B14F-4D97-AF65-F5344CB8AC3E}">
        <p14:creationId xmlns:p14="http://schemas.microsoft.com/office/powerpoint/2010/main" val="2281250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14019">
                                            <p:txEl>
                                              <p:pRg st="0" end="0"/>
                                            </p:txEl>
                                          </p:spTgt>
                                        </p:tgtEl>
                                        <p:attrNameLst>
                                          <p:attrName>style.visibility</p:attrName>
                                        </p:attrNameLst>
                                      </p:cBhvr>
                                      <p:to>
                                        <p:strVal val="visible"/>
                                      </p:to>
                                    </p:set>
                                    <p:animEffect transition="in" filter="circle(in)">
                                      <p:cBhvr>
                                        <p:cTn id="7" dur="2000"/>
                                        <p:tgtEl>
                                          <p:spTgt spid="214019">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214019">
                                            <p:txEl>
                                              <p:pRg st="1" end="1"/>
                                            </p:txEl>
                                          </p:spTgt>
                                        </p:tgtEl>
                                        <p:attrNameLst>
                                          <p:attrName>style.visibility</p:attrName>
                                        </p:attrNameLst>
                                      </p:cBhvr>
                                      <p:to>
                                        <p:strVal val="visible"/>
                                      </p:to>
                                    </p:set>
                                    <p:animEffect transition="in" filter="circle(in)">
                                      <p:cBhvr>
                                        <p:cTn id="10" dur="2000"/>
                                        <p:tgtEl>
                                          <p:spTgt spid="21401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14019">
                                            <p:txEl>
                                              <p:pRg st="2" end="2"/>
                                            </p:txEl>
                                          </p:spTgt>
                                        </p:tgtEl>
                                        <p:attrNameLst>
                                          <p:attrName>style.visibility</p:attrName>
                                        </p:attrNameLst>
                                      </p:cBhvr>
                                      <p:to>
                                        <p:strVal val="visible"/>
                                      </p:to>
                                    </p:set>
                                    <p:animEffect transition="in" filter="blinds(horizontal)">
                                      <p:cBhvr>
                                        <p:cTn id="15" dur="500"/>
                                        <p:tgtEl>
                                          <p:spTgt spid="214019">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14019">
                                            <p:txEl>
                                              <p:pRg st="4" end="4"/>
                                            </p:txEl>
                                          </p:spTgt>
                                        </p:tgtEl>
                                        <p:attrNameLst>
                                          <p:attrName>style.visibility</p:attrName>
                                        </p:attrNameLst>
                                      </p:cBhvr>
                                      <p:to>
                                        <p:strVal val="visible"/>
                                      </p:to>
                                    </p:set>
                                    <p:animEffect transition="in" filter="blinds(horizontal)">
                                      <p:cBhvr>
                                        <p:cTn id="18" dur="500"/>
                                        <p:tgtEl>
                                          <p:spTgt spid="214019">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32" fill="hold" nodeType="clickEffect">
                                  <p:stCondLst>
                                    <p:cond delay="0"/>
                                  </p:stCondLst>
                                  <p:childTnLst>
                                    <p:set>
                                      <p:cBhvr>
                                        <p:cTn id="22" dur="1" fill="hold">
                                          <p:stCondLst>
                                            <p:cond delay="0"/>
                                          </p:stCondLst>
                                        </p:cTn>
                                        <p:tgtEl>
                                          <p:spTgt spid="214019">
                                            <p:txEl>
                                              <p:pRg st="6" end="6"/>
                                            </p:txEl>
                                          </p:spTgt>
                                        </p:tgtEl>
                                        <p:attrNameLst>
                                          <p:attrName>style.visibility</p:attrName>
                                        </p:attrNameLst>
                                      </p:cBhvr>
                                      <p:to>
                                        <p:strVal val="visible"/>
                                      </p:to>
                                    </p:set>
                                    <p:animEffect transition="in" filter="circle(out)">
                                      <p:cBhvr>
                                        <p:cTn id="23" dur="2000"/>
                                        <p:tgtEl>
                                          <p:spTgt spid="214019">
                                            <p:txEl>
                                              <p:pRg st="6" end="6"/>
                                            </p:txEl>
                                          </p:spTgt>
                                        </p:tgtEl>
                                      </p:cBhvr>
                                    </p:animEffect>
                                  </p:childTnLst>
                                </p:cTn>
                              </p:par>
                              <p:par>
                                <p:cTn id="24" presetID="6" presetClass="entr" presetSubtype="32" fill="hold" nodeType="withEffect">
                                  <p:stCondLst>
                                    <p:cond delay="0"/>
                                  </p:stCondLst>
                                  <p:childTnLst>
                                    <p:set>
                                      <p:cBhvr>
                                        <p:cTn id="25" dur="1" fill="hold">
                                          <p:stCondLst>
                                            <p:cond delay="0"/>
                                          </p:stCondLst>
                                        </p:cTn>
                                        <p:tgtEl>
                                          <p:spTgt spid="214019">
                                            <p:txEl>
                                              <p:pRg st="7" end="7"/>
                                            </p:txEl>
                                          </p:spTgt>
                                        </p:tgtEl>
                                        <p:attrNameLst>
                                          <p:attrName>style.visibility</p:attrName>
                                        </p:attrNameLst>
                                      </p:cBhvr>
                                      <p:to>
                                        <p:strVal val="visible"/>
                                      </p:to>
                                    </p:set>
                                    <p:animEffect transition="in" filter="circle(out)">
                                      <p:cBhvr>
                                        <p:cTn id="26" dur="2000"/>
                                        <p:tgtEl>
                                          <p:spTgt spid="214019">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5" fill="hold" nodeType="clickEffect">
                                  <p:stCondLst>
                                    <p:cond delay="0"/>
                                  </p:stCondLst>
                                  <p:childTnLst>
                                    <p:set>
                                      <p:cBhvr>
                                        <p:cTn id="30" dur="1" fill="hold">
                                          <p:stCondLst>
                                            <p:cond delay="0"/>
                                          </p:stCondLst>
                                        </p:cTn>
                                        <p:tgtEl>
                                          <p:spTgt spid="214019">
                                            <p:txEl>
                                              <p:pRg st="9" end="9"/>
                                            </p:txEl>
                                          </p:spTgt>
                                        </p:tgtEl>
                                        <p:attrNameLst>
                                          <p:attrName>style.visibility</p:attrName>
                                        </p:attrNameLst>
                                      </p:cBhvr>
                                      <p:to>
                                        <p:strVal val="visible"/>
                                      </p:to>
                                    </p:set>
                                    <p:animEffect transition="in" filter="blinds(vertical)">
                                      <p:cBhvr>
                                        <p:cTn id="31" dur="500"/>
                                        <p:tgtEl>
                                          <p:spTgt spid="214019">
                                            <p:txEl>
                                              <p:pRg st="9" end="9"/>
                                            </p:txEl>
                                          </p:spTgt>
                                        </p:tgtEl>
                                      </p:cBhvr>
                                    </p:animEffect>
                                  </p:childTnLst>
                                </p:cTn>
                              </p:par>
                              <p:par>
                                <p:cTn id="32" presetID="3" presetClass="entr" presetSubtype="5" fill="hold" nodeType="withEffect">
                                  <p:stCondLst>
                                    <p:cond delay="0"/>
                                  </p:stCondLst>
                                  <p:childTnLst>
                                    <p:set>
                                      <p:cBhvr>
                                        <p:cTn id="33" dur="1" fill="hold">
                                          <p:stCondLst>
                                            <p:cond delay="0"/>
                                          </p:stCondLst>
                                        </p:cTn>
                                        <p:tgtEl>
                                          <p:spTgt spid="214019">
                                            <p:txEl>
                                              <p:pRg st="10" end="10"/>
                                            </p:txEl>
                                          </p:spTgt>
                                        </p:tgtEl>
                                        <p:attrNameLst>
                                          <p:attrName>style.visibility</p:attrName>
                                        </p:attrNameLst>
                                      </p:cBhvr>
                                      <p:to>
                                        <p:strVal val="visible"/>
                                      </p:to>
                                    </p:set>
                                    <p:animEffect transition="in" filter="blinds(vertical)">
                                      <p:cBhvr>
                                        <p:cTn id="34" dur="500"/>
                                        <p:tgtEl>
                                          <p:spTgt spid="214019">
                                            <p:txEl>
                                              <p:pRg st="10" end="10"/>
                                            </p:txEl>
                                          </p:spTgt>
                                        </p:tgtEl>
                                      </p:cBhvr>
                                    </p:animEffect>
                                  </p:childTnLst>
                                </p:cTn>
                              </p:par>
                              <p:par>
                                <p:cTn id="35" presetID="3" presetClass="entr" presetSubtype="5" fill="hold" nodeType="withEffect">
                                  <p:stCondLst>
                                    <p:cond delay="0"/>
                                  </p:stCondLst>
                                  <p:childTnLst>
                                    <p:set>
                                      <p:cBhvr>
                                        <p:cTn id="36" dur="1" fill="hold">
                                          <p:stCondLst>
                                            <p:cond delay="0"/>
                                          </p:stCondLst>
                                        </p:cTn>
                                        <p:tgtEl>
                                          <p:spTgt spid="214019">
                                            <p:txEl>
                                              <p:pRg st="11" end="11"/>
                                            </p:txEl>
                                          </p:spTgt>
                                        </p:tgtEl>
                                        <p:attrNameLst>
                                          <p:attrName>style.visibility</p:attrName>
                                        </p:attrNameLst>
                                      </p:cBhvr>
                                      <p:to>
                                        <p:strVal val="visible"/>
                                      </p:to>
                                    </p:set>
                                    <p:animEffect transition="in" filter="blinds(vertical)">
                                      <p:cBhvr>
                                        <p:cTn id="37" dur="500"/>
                                        <p:tgtEl>
                                          <p:spTgt spid="21401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38913" y="219456"/>
            <a:ext cx="6115876" cy="1024128"/>
          </a:xfrm>
        </p:spPr>
        <p:txBody>
          <a:bodyPr/>
          <a:lstStyle/>
          <a:p>
            <a:pPr eaLnBrk="1" hangingPunct="1"/>
            <a:r>
              <a:rPr lang="en-US" sz="3200" b="0" dirty="0">
                <a:latin typeface="+mn-lt"/>
              </a:rPr>
              <a:t>Creating Empty Arrays </a:t>
            </a:r>
            <a:br>
              <a:rPr lang="en-US" sz="3200" b="0" dirty="0">
                <a:latin typeface="+mn-lt"/>
              </a:rPr>
            </a:br>
            <a:r>
              <a:rPr lang="en-US" sz="3200" b="0" dirty="0">
                <a:latin typeface="+mn-lt"/>
              </a:rPr>
              <a:t>using keyword </a:t>
            </a:r>
            <a:r>
              <a:rPr lang="en-US" sz="3200" dirty="0">
                <a:solidFill>
                  <a:srgbClr val="FF0000"/>
                </a:solidFill>
                <a:latin typeface="+mn-lt"/>
              </a:rPr>
              <a:t>- NEW</a:t>
            </a:r>
          </a:p>
        </p:txBody>
      </p:sp>
      <p:sp>
        <p:nvSpPr>
          <p:cNvPr id="10243" name="Rectangle 3"/>
          <p:cNvSpPr>
            <a:spLocks noGrp="1" noChangeArrowheads="1"/>
          </p:cNvSpPr>
          <p:nvPr>
            <p:ph type="body" idx="1"/>
          </p:nvPr>
        </p:nvSpPr>
        <p:spPr>
          <a:xfrm>
            <a:off x="466725" y="1419860"/>
            <a:ext cx="6148388" cy="6472238"/>
          </a:xfrm>
        </p:spPr>
        <p:txBody>
          <a:bodyPr/>
          <a:lstStyle/>
          <a:p>
            <a:pPr eaLnBrk="1" hangingPunct="1"/>
            <a:r>
              <a:rPr lang="en-GB" dirty="0"/>
              <a:t>Here is another way to create Array</a:t>
            </a:r>
          </a:p>
          <a:p>
            <a:pPr lvl="1" eaLnBrk="1" hangingPunct="1"/>
            <a:r>
              <a:rPr lang="en-GB" dirty="0"/>
              <a:t>Arrays in C# are objects and reference type (these concepts shall be covered later).</a:t>
            </a:r>
          </a:p>
          <a:p>
            <a:pPr eaLnBrk="1" hangingPunct="1"/>
            <a:r>
              <a:rPr lang="en-GB" dirty="0"/>
              <a:t>To create an </a:t>
            </a:r>
            <a:r>
              <a:rPr lang="en-GB" u="sng" dirty="0"/>
              <a:t>empty</a:t>
            </a:r>
            <a:r>
              <a:rPr lang="en-GB" dirty="0"/>
              <a:t> Array, use the following syntax:</a:t>
            </a:r>
          </a:p>
          <a:p>
            <a:pPr eaLnBrk="1" hangingPunct="1">
              <a:buFont typeface="Wingdings" pitchFamily="2" charset="2"/>
              <a:buNone/>
            </a:pPr>
            <a:endParaRPr lang="en-GB" dirty="0"/>
          </a:p>
          <a:p>
            <a:pPr eaLnBrk="1" hangingPunct="1">
              <a:buFont typeface="Wingdings" pitchFamily="2" charset="2"/>
              <a:buNone/>
            </a:pPr>
            <a:r>
              <a:rPr lang="en-GB" sz="2000" b="1" dirty="0" err="1">
                <a:solidFill>
                  <a:srgbClr val="FF0000"/>
                </a:solidFill>
              </a:rPr>
              <a:t>data_type</a:t>
            </a:r>
            <a:r>
              <a:rPr lang="en-GB" sz="2000" b="1" dirty="0">
                <a:solidFill>
                  <a:srgbClr val="FF0000"/>
                </a:solidFill>
              </a:rPr>
              <a:t> </a:t>
            </a:r>
            <a:r>
              <a:rPr lang="en-GB" sz="2000" b="1" dirty="0">
                <a:solidFill>
                  <a:srgbClr val="0033CC"/>
                </a:solidFill>
              </a:rPr>
              <a:t>[ ]</a:t>
            </a:r>
            <a:r>
              <a:rPr lang="en-GB" sz="2000" b="1" dirty="0">
                <a:solidFill>
                  <a:srgbClr val="FF0000"/>
                </a:solidFill>
              </a:rPr>
              <a:t> </a:t>
            </a:r>
            <a:r>
              <a:rPr lang="en-GB" sz="2000" b="1" dirty="0" err="1"/>
              <a:t>array_name</a:t>
            </a:r>
            <a:r>
              <a:rPr lang="en-GB" sz="2000" b="1" dirty="0">
                <a:solidFill>
                  <a:srgbClr val="FF0000"/>
                </a:solidFill>
              </a:rPr>
              <a:t> </a:t>
            </a:r>
            <a:r>
              <a:rPr lang="en-GB" sz="2000" b="1" dirty="0">
                <a:solidFill>
                  <a:srgbClr val="0033CC"/>
                </a:solidFill>
              </a:rPr>
              <a:t>=</a:t>
            </a:r>
            <a:r>
              <a:rPr lang="en-GB" sz="2000" b="1" dirty="0">
                <a:solidFill>
                  <a:srgbClr val="FF0000"/>
                </a:solidFill>
              </a:rPr>
              <a:t> </a:t>
            </a:r>
            <a:r>
              <a:rPr lang="en-GB" sz="2000" b="1" dirty="0">
                <a:solidFill>
                  <a:srgbClr val="0033CC"/>
                </a:solidFill>
              </a:rPr>
              <a:t>new</a:t>
            </a:r>
            <a:r>
              <a:rPr lang="en-GB" sz="2000" b="1" dirty="0">
                <a:solidFill>
                  <a:srgbClr val="FF0000"/>
                </a:solidFill>
              </a:rPr>
              <a:t> </a:t>
            </a:r>
            <a:r>
              <a:rPr lang="en-GB" sz="2000" b="1" dirty="0" err="1">
                <a:solidFill>
                  <a:srgbClr val="FF0000"/>
                </a:solidFill>
              </a:rPr>
              <a:t>data_type</a:t>
            </a:r>
            <a:r>
              <a:rPr lang="en-GB" sz="2000" b="1" dirty="0">
                <a:solidFill>
                  <a:srgbClr val="0033CC"/>
                </a:solidFill>
              </a:rPr>
              <a:t>[ </a:t>
            </a:r>
            <a:r>
              <a:rPr lang="en-GB" sz="2000" b="1" dirty="0"/>
              <a:t>size</a:t>
            </a:r>
            <a:r>
              <a:rPr lang="en-GB" sz="2000" b="1" dirty="0">
                <a:solidFill>
                  <a:srgbClr val="FF0000"/>
                </a:solidFill>
              </a:rPr>
              <a:t> </a:t>
            </a:r>
            <a:r>
              <a:rPr lang="en-GB" sz="2000" b="1" dirty="0">
                <a:solidFill>
                  <a:srgbClr val="0033CC"/>
                </a:solidFill>
              </a:rPr>
              <a:t>]</a:t>
            </a:r>
            <a:r>
              <a:rPr lang="en-GB" sz="2000" b="1" dirty="0">
                <a:solidFill>
                  <a:srgbClr val="FF0000"/>
                </a:solidFill>
              </a:rPr>
              <a:t>;</a:t>
            </a:r>
          </a:p>
          <a:p>
            <a:pPr eaLnBrk="1" hangingPunct="1">
              <a:spcBef>
                <a:spcPct val="50000"/>
              </a:spcBef>
              <a:buFont typeface="Wingdings" pitchFamily="2" charset="2"/>
              <a:buNone/>
            </a:pPr>
            <a:r>
              <a:rPr lang="en-GB" sz="2000" i="1" dirty="0"/>
              <a:t>where:</a:t>
            </a:r>
          </a:p>
          <a:p>
            <a:pPr eaLnBrk="1" hangingPunct="1">
              <a:buFont typeface="Wingdings" pitchFamily="2" charset="2"/>
              <a:buNone/>
            </a:pPr>
            <a:r>
              <a:rPr lang="en-GB" sz="2000" i="1" dirty="0" err="1"/>
              <a:t>data_type</a:t>
            </a:r>
            <a:r>
              <a:rPr lang="en-GB" sz="2000" i="1" dirty="0"/>
              <a:t> : </a:t>
            </a:r>
            <a:r>
              <a:rPr lang="en-GB" sz="2000" i="1" dirty="0" err="1"/>
              <a:t>int</a:t>
            </a:r>
            <a:r>
              <a:rPr lang="en-GB" sz="2000" i="1" dirty="0"/>
              <a:t>, float, double, string etc.. etc..</a:t>
            </a:r>
          </a:p>
          <a:p>
            <a:pPr eaLnBrk="1" hangingPunct="1">
              <a:buFont typeface="Wingdings" pitchFamily="2" charset="2"/>
              <a:buNone/>
            </a:pPr>
            <a:r>
              <a:rPr lang="en-GB" sz="2000" i="1" dirty="0" err="1"/>
              <a:t>array_name</a:t>
            </a:r>
            <a:r>
              <a:rPr lang="en-GB" sz="2000" i="1" dirty="0"/>
              <a:t> : any variable name</a:t>
            </a:r>
          </a:p>
          <a:p>
            <a:pPr eaLnBrk="1" hangingPunct="1">
              <a:buFont typeface="Wingdings" pitchFamily="2" charset="2"/>
              <a:buNone/>
            </a:pPr>
            <a:r>
              <a:rPr lang="en-GB" sz="2000" i="1" dirty="0"/>
              <a:t>size : positive integer value</a:t>
            </a:r>
          </a:p>
          <a:p>
            <a:pPr eaLnBrk="1" hangingPunct="1">
              <a:spcBef>
                <a:spcPct val="50000"/>
              </a:spcBef>
              <a:buFont typeface="Wingdings" pitchFamily="2" charset="2"/>
              <a:buNone/>
            </a:pPr>
            <a:r>
              <a:rPr lang="en-GB" sz="2000" dirty="0"/>
              <a:t>Example:</a:t>
            </a:r>
          </a:p>
          <a:p>
            <a:pPr eaLnBrk="1" hangingPunct="1">
              <a:buFont typeface="Wingdings" pitchFamily="2" charset="2"/>
              <a:buNone/>
            </a:pPr>
            <a:r>
              <a:rPr lang="en-GB" sz="2000" b="1" dirty="0" err="1">
                <a:solidFill>
                  <a:srgbClr val="0033CC"/>
                </a:solidFill>
              </a:rPr>
              <a:t>int</a:t>
            </a:r>
            <a:r>
              <a:rPr lang="en-GB" sz="2000" b="1" dirty="0">
                <a:solidFill>
                  <a:srgbClr val="0033CC"/>
                </a:solidFill>
              </a:rPr>
              <a:t> [ ] ages = new </a:t>
            </a:r>
            <a:r>
              <a:rPr lang="en-GB" sz="2000" b="1" dirty="0" err="1">
                <a:solidFill>
                  <a:srgbClr val="0033CC"/>
                </a:solidFill>
              </a:rPr>
              <a:t>int</a:t>
            </a:r>
            <a:r>
              <a:rPr lang="en-GB" sz="2000" b="1" dirty="0">
                <a:solidFill>
                  <a:srgbClr val="0033CC"/>
                </a:solidFill>
              </a:rPr>
              <a:t>[ 10 ];</a:t>
            </a:r>
          </a:p>
        </p:txBody>
      </p:sp>
      <p:sp>
        <p:nvSpPr>
          <p:cNvPr id="4" name="Cloud 3"/>
          <p:cNvSpPr/>
          <p:nvPr/>
        </p:nvSpPr>
        <p:spPr>
          <a:xfrm>
            <a:off x="99391" y="6569765"/>
            <a:ext cx="6590969" cy="2071817"/>
          </a:xfrm>
          <a:prstGeom prst="cloud">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dirty="0">
                <a:solidFill>
                  <a:schemeClr val="tx1"/>
                </a:solidFill>
                <a:latin typeface="Comic Sans MS" pitchFamily="66" charset="0"/>
              </a:rPr>
              <a:t>Create an array, ages with 10 integers of zeros.</a:t>
            </a:r>
          </a:p>
          <a:p>
            <a:pPr algn="ctr">
              <a:defRPr/>
            </a:pPr>
            <a:endParaRPr lang="en-US" sz="1200" dirty="0">
              <a:solidFill>
                <a:schemeClr val="tx1"/>
              </a:solidFill>
              <a:latin typeface="Comic Sans MS" pitchFamily="66" charset="0"/>
            </a:endParaRPr>
          </a:p>
          <a:p>
            <a:pPr algn="ctr">
              <a:defRPr/>
            </a:pPr>
            <a:r>
              <a:rPr lang="en-US" sz="1200" dirty="0">
                <a:solidFill>
                  <a:schemeClr val="tx1"/>
                </a:solidFill>
                <a:latin typeface="Comic Sans MS" pitchFamily="66" charset="0"/>
              </a:rPr>
              <a:t>It is the same as:</a:t>
            </a:r>
          </a:p>
          <a:p>
            <a:pPr algn="ctr">
              <a:defRPr/>
            </a:pPr>
            <a:r>
              <a:rPr lang="en-US" dirty="0" err="1">
                <a:solidFill>
                  <a:srgbClr val="FF0000"/>
                </a:solidFill>
                <a:latin typeface="Comic Sans MS" pitchFamily="66" charset="0"/>
              </a:rPr>
              <a:t>int</a:t>
            </a:r>
            <a:r>
              <a:rPr lang="en-US" dirty="0">
                <a:solidFill>
                  <a:srgbClr val="FF0000"/>
                </a:solidFill>
                <a:latin typeface="Comic Sans MS" pitchFamily="66" charset="0"/>
              </a:rPr>
              <a:t> [] ages = {0,0,0,0,0 0,0,0,0,0} </a:t>
            </a:r>
          </a:p>
          <a:p>
            <a:pPr algn="ctr">
              <a:defRPr/>
            </a:pPr>
            <a:r>
              <a:rPr lang="en-US" sz="1200" dirty="0">
                <a:solidFill>
                  <a:schemeClr val="tx1"/>
                </a:solidFill>
                <a:latin typeface="Comic Sans MS" pitchFamily="66" charset="0"/>
              </a:rPr>
              <a:t>but it saves the coding effort to define the initial values. </a:t>
            </a:r>
          </a:p>
          <a:p>
            <a:pPr algn="ctr">
              <a:defRPr/>
            </a:pPr>
            <a:r>
              <a:rPr lang="en-US" sz="1200" dirty="0">
                <a:solidFill>
                  <a:schemeClr val="tx1"/>
                </a:solidFill>
                <a:latin typeface="Comic Sans MS" pitchFamily="66" charset="0"/>
              </a:rPr>
              <a:t>What happened if you would need an array of size 1000?</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GB"/>
              <a:t>Creating an Empty Array</a:t>
            </a:r>
            <a:endParaRPr lang="en-US"/>
          </a:p>
        </p:txBody>
      </p:sp>
      <p:sp>
        <p:nvSpPr>
          <p:cNvPr id="11267" name="Rectangle 3"/>
          <p:cNvSpPr>
            <a:spLocks noGrp="1" noChangeArrowheads="1"/>
          </p:cNvSpPr>
          <p:nvPr>
            <p:ph type="body" idx="1"/>
          </p:nvPr>
        </p:nvSpPr>
        <p:spPr>
          <a:xfrm>
            <a:off x="685799" y="1625600"/>
            <a:ext cx="6072809" cy="6548438"/>
          </a:xfrm>
        </p:spPr>
        <p:txBody>
          <a:bodyPr/>
          <a:lstStyle/>
          <a:p>
            <a:pPr eaLnBrk="1" hangingPunct="1">
              <a:buFont typeface="Wingdings" pitchFamily="2" charset="2"/>
              <a:buNone/>
            </a:pPr>
            <a:r>
              <a:rPr lang="en-GB" dirty="0" err="1">
                <a:solidFill>
                  <a:srgbClr val="0033CC"/>
                </a:solidFill>
              </a:rPr>
              <a:t>int</a:t>
            </a:r>
            <a:r>
              <a:rPr lang="en-GB" dirty="0">
                <a:solidFill>
                  <a:srgbClr val="0033CC"/>
                </a:solidFill>
              </a:rPr>
              <a:t> [ ] age;</a:t>
            </a:r>
          </a:p>
          <a:p>
            <a:pPr eaLnBrk="1" hangingPunct="1">
              <a:buFont typeface="Wingdings" pitchFamily="2" charset="2"/>
              <a:buNone/>
            </a:pPr>
            <a:r>
              <a:rPr lang="en-GB" dirty="0"/>
              <a:t>	This just declares an Array variable age.  It does not create any Array instance.</a:t>
            </a:r>
          </a:p>
          <a:p>
            <a:pPr eaLnBrk="1" hangingPunct="1">
              <a:buFont typeface="Wingdings" pitchFamily="2" charset="2"/>
              <a:buNone/>
            </a:pPr>
            <a:endParaRPr lang="en-GB" dirty="0"/>
          </a:p>
          <a:p>
            <a:pPr eaLnBrk="1" hangingPunct="1">
              <a:buFont typeface="Wingdings" pitchFamily="2" charset="2"/>
              <a:buNone/>
            </a:pPr>
            <a:endParaRPr lang="en-GB" dirty="0">
              <a:solidFill>
                <a:srgbClr val="0033CC"/>
              </a:solidFill>
            </a:endParaRPr>
          </a:p>
          <a:p>
            <a:pPr eaLnBrk="1" hangingPunct="1">
              <a:buFont typeface="Wingdings" pitchFamily="2" charset="2"/>
              <a:buNone/>
            </a:pPr>
            <a:endParaRPr lang="en-GB" dirty="0">
              <a:solidFill>
                <a:srgbClr val="0033CC"/>
              </a:solidFill>
            </a:endParaRPr>
          </a:p>
          <a:p>
            <a:pPr eaLnBrk="1" hangingPunct="1">
              <a:buFont typeface="Wingdings" pitchFamily="2" charset="2"/>
              <a:buNone/>
            </a:pPr>
            <a:endParaRPr lang="en-GB" dirty="0">
              <a:solidFill>
                <a:srgbClr val="0033CC"/>
              </a:solidFill>
            </a:endParaRPr>
          </a:p>
          <a:p>
            <a:pPr eaLnBrk="1" hangingPunct="1">
              <a:buFont typeface="Wingdings" pitchFamily="2" charset="2"/>
              <a:buNone/>
            </a:pPr>
            <a:r>
              <a:rPr lang="en-GB" dirty="0" err="1">
                <a:solidFill>
                  <a:srgbClr val="0033CC"/>
                </a:solidFill>
              </a:rPr>
              <a:t>int</a:t>
            </a:r>
            <a:r>
              <a:rPr lang="en-GB" dirty="0">
                <a:solidFill>
                  <a:srgbClr val="0033CC"/>
                </a:solidFill>
              </a:rPr>
              <a:t> [ ] age = </a:t>
            </a:r>
            <a:r>
              <a:rPr lang="en-GB" dirty="0">
                <a:solidFill>
                  <a:srgbClr val="FF0000"/>
                </a:solidFill>
              </a:rPr>
              <a:t>new</a:t>
            </a:r>
            <a:r>
              <a:rPr lang="en-GB" dirty="0">
                <a:solidFill>
                  <a:srgbClr val="0033CC"/>
                </a:solidFill>
              </a:rPr>
              <a:t> </a:t>
            </a:r>
            <a:r>
              <a:rPr lang="en-GB" dirty="0" err="1">
                <a:solidFill>
                  <a:srgbClr val="0033CC"/>
                </a:solidFill>
              </a:rPr>
              <a:t>int</a:t>
            </a:r>
            <a:r>
              <a:rPr lang="en-GB" dirty="0">
                <a:solidFill>
                  <a:srgbClr val="0033CC"/>
                </a:solidFill>
              </a:rPr>
              <a:t>[ </a:t>
            </a:r>
            <a:r>
              <a:rPr lang="en-GB" dirty="0">
                <a:solidFill>
                  <a:srgbClr val="FF0000"/>
                </a:solidFill>
              </a:rPr>
              <a:t>4 </a:t>
            </a:r>
            <a:r>
              <a:rPr lang="en-GB" dirty="0">
                <a:solidFill>
                  <a:srgbClr val="0033CC"/>
                </a:solidFill>
              </a:rPr>
              <a:t>];</a:t>
            </a:r>
          </a:p>
          <a:p>
            <a:pPr eaLnBrk="1" hangingPunct="1">
              <a:buFont typeface="Wingdings" pitchFamily="2" charset="2"/>
              <a:buNone/>
            </a:pPr>
            <a:r>
              <a:rPr lang="en-GB" dirty="0"/>
              <a:t>	</a:t>
            </a:r>
            <a:endParaRPr lang="en-US" b="1" dirty="0"/>
          </a:p>
        </p:txBody>
      </p:sp>
      <p:grpSp>
        <p:nvGrpSpPr>
          <p:cNvPr id="11268" name="Group 15"/>
          <p:cNvGrpSpPr>
            <a:grpSpLocks/>
          </p:cNvGrpSpPr>
          <p:nvPr/>
        </p:nvGrpSpPr>
        <p:grpSpPr bwMode="auto">
          <a:xfrm>
            <a:off x="806450" y="6002338"/>
            <a:ext cx="5016500" cy="852487"/>
            <a:chOff x="653" y="3562"/>
            <a:chExt cx="3160" cy="537"/>
          </a:xfrm>
        </p:grpSpPr>
        <p:sp>
          <p:nvSpPr>
            <p:cNvPr id="11276" name="Rectangle 5"/>
            <p:cNvSpPr>
              <a:spLocks noChangeArrowheads="1"/>
            </p:cNvSpPr>
            <p:nvPr/>
          </p:nvSpPr>
          <p:spPr bwMode="auto">
            <a:xfrm>
              <a:off x="653" y="3590"/>
              <a:ext cx="422" cy="25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77" name="Rectangle 6"/>
            <p:cNvSpPr>
              <a:spLocks noChangeArrowheads="1"/>
            </p:cNvSpPr>
            <p:nvPr/>
          </p:nvSpPr>
          <p:spPr bwMode="auto">
            <a:xfrm>
              <a:off x="2114" y="3562"/>
              <a:ext cx="422" cy="250"/>
            </a:xfrm>
            <a:prstGeom prst="rect">
              <a:avLst/>
            </a:prstGeom>
            <a:solidFill>
              <a:schemeClr val="accent1"/>
            </a:solidFill>
            <a:ln w="9525">
              <a:solidFill>
                <a:schemeClr val="tx1"/>
              </a:solidFill>
              <a:miter lim="800000"/>
              <a:headEnd/>
              <a:tailEnd/>
            </a:ln>
          </p:spPr>
          <p:txBody>
            <a:bodyPr wrap="none" anchor="ctr"/>
            <a:lstStyle/>
            <a:p>
              <a:pPr algn="ctr"/>
              <a:r>
                <a:rPr lang="en-GB" dirty="0"/>
                <a:t>0</a:t>
              </a:r>
              <a:endParaRPr lang="en-US" dirty="0"/>
            </a:p>
          </p:txBody>
        </p:sp>
        <p:sp>
          <p:nvSpPr>
            <p:cNvPr id="11278" name="Rectangle 7"/>
            <p:cNvSpPr>
              <a:spLocks noChangeArrowheads="1"/>
            </p:cNvSpPr>
            <p:nvPr/>
          </p:nvSpPr>
          <p:spPr bwMode="auto">
            <a:xfrm>
              <a:off x="2546" y="3562"/>
              <a:ext cx="422" cy="250"/>
            </a:xfrm>
            <a:prstGeom prst="rect">
              <a:avLst/>
            </a:prstGeom>
            <a:solidFill>
              <a:schemeClr val="accent1"/>
            </a:solidFill>
            <a:ln w="9525">
              <a:solidFill>
                <a:schemeClr val="tx1"/>
              </a:solidFill>
              <a:miter lim="800000"/>
              <a:headEnd/>
              <a:tailEnd/>
            </a:ln>
          </p:spPr>
          <p:txBody>
            <a:bodyPr wrap="none" anchor="ctr"/>
            <a:lstStyle/>
            <a:p>
              <a:pPr algn="ctr"/>
              <a:r>
                <a:rPr lang="en-GB"/>
                <a:t>0</a:t>
              </a:r>
              <a:endParaRPr lang="en-US"/>
            </a:p>
          </p:txBody>
        </p:sp>
        <p:sp>
          <p:nvSpPr>
            <p:cNvPr id="11279" name="Rectangle 8"/>
            <p:cNvSpPr>
              <a:spLocks noChangeArrowheads="1"/>
            </p:cNvSpPr>
            <p:nvPr/>
          </p:nvSpPr>
          <p:spPr bwMode="auto">
            <a:xfrm>
              <a:off x="2968" y="3562"/>
              <a:ext cx="422" cy="250"/>
            </a:xfrm>
            <a:prstGeom prst="rect">
              <a:avLst/>
            </a:prstGeom>
            <a:solidFill>
              <a:schemeClr val="accent1"/>
            </a:solidFill>
            <a:ln w="9525">
              <a:solidFill>
                <a:schemeClr val="tx1"/>
              </a:solidFill>
              <a:miter lim="800000"/>
              <a:headEnd/>
              <a:tailEnd/>
            </a:ln>
          </p:spPr>
          <p:txBody>
            <a:bodyPr wrap="none" anchor="ctr"/>
            <a:lstStyle/>
            <a:p>
              <a:pPr algn="ctr"/>
              <a:r>
                <a:rPr lang="en-GB" altLang="ug-CN"/>
                <a:t>0</a:t>
              </a:r>
              <a:endParaRPr lang="en-US"/>
            </a:p>
          </p:txBody>
        </p:sp>
        <p:sp>
          <p:nvSpPr>
            <p:cNvPr id="11280" name="Rectangle 9"/>
            <p:cNvSpPr>
              <a:spLocks noChangeArrowheads="1"/>
            </p:cNvSpPr>
            <p:nvPr/>
          </p:nvSpPr>
          <p:spPr bwMode="auto">
            <a:xfrm>
              <a:off x="3391" y="3562"/>
              <a:ext cx="422" cy="250"/>
            </a:xfrm>
            <a:prstGeom prst="rect">
              <a:avLst/>
            </a:prstGeom>
            <a:solidFill>
              <a:schemeClr val="accent1"/>
            </a:solidFill>
            <a:ln w="9525">
              <a:solidFill>
                <a:schemeClr val="tx1"/>
              </a:solidFill>
              <a:miter lim="800000"/>
              <a:headEnd/>
              <a:tailEnd/>
            </a:ln>
          </p:spPr>
          <p:txBody>
            <a:bodyPr wrap="none" anchor="ctr"/>
            <a:lstStyle/>
            <a:p>
              <a:pPr algn="ctr"/>
              <a:r>
                <a:rPr lang="en-GB" altLang="ug-CN"/>
                <a:t>0</a:t>
              </a:r>
              <a:endParaRPr lang="en-US"/>
            </a:p>
          </p:txBody>
        </p:sp>
        <p:sp>
          <p:nvSpPr>
            <p:cNvPr id="11281" name="Text Box 10"/>
            <p:cNvSpPr txBox="1">
              <a:spLocks noChangeArrowheads="1"/>
            </p:cNvSpPr>
            <p:nvPr/>
          </p:nvSpPr>
          <p:spPr bwMode="auto">
            <a:xfrm>
              <a:off x="663" y="3868"/>
              <a:ext cx="643" cy="231"/>
            </a:xfrm>
            <a:prstGeom prst="rect">
              <a:avLst/>
            </a:prstGeom>
            <a:noFill/>
            <a:ln w="9525">
              <a:noFill/>
              <a:miter lim="800000"/>
              <a:headEnd/>
              <a:tailEnd/>
            </a:ln>
          </p:spPr>
          <p:txBody>
            <a:bodyPr>
              <a:spAutoFit/>
            </a:bodyPr>
            <a:lstStyle/>
            <a:p>
              <a:pPr>
                <a:spcBef>
                  <a:spcPct val="50000"/>
                </a:spcBef>
              </a:pPr>
              <a:r>
                <a:rPr lang="en-GB"/>
                <a:t>age</a:t>
              </a:r>
              <a:endParaRPr lang="en-US"/>
            </a:p>
          </p:txBody>
        </p:sp>
        <p:sp>
          <p:nvSpPr>
            <p:cNvPr id="11282" name="Line 11"/>
            <p:cNvSpPr>
              <a:spLocks noChangeShapeType="1"/>
            </p:cNvSpPr>
            <p:nvPr/>
          </p:nvSpPr>
          <p:spPr bwMode="auto">
            <a:xfrm flipV="1">
              <a:off x="883" y="3706"/>
              <a:ext cx="1248" cy="9"/>
            </a:xfrm>
            <a:prstGeom prst="line">
              <a:avLst/>
            </a:prstGeom>
            <a:noFill/>
            <a:ln w="9525">
              <a:solidFill>
                <a:schemeClr val="tx1"/>
              </a:solidFill>
              <a:round/>
              <a:headEnd/>
              <a:tailEnd type="triangle" w="lg" len="lg"/>
            </a:ln>
          </p:spPr>
          <p:txBody>
            <a:bodyPr/>
            <a:lstStyle/>
            <a:p>
              <a:endParaRPr lang="en-US"/>
            </a:p>
          </p:txBody>
        </p:sp>
      </p:grpSp>
      <p:grpSp>
        <p:nvGrpSpPr>
          <p:cNvPr id="11269" name="Group 14"/>
          <p:cNvGrpSpPr>
            <a:grpSpLocks/>
          </p:cNvGrpSpPr>
          <p:nvPr/>
        </p:nvGrpSpPr>
        <p:grpSpPr bwMode="auto">
          <a:xfrm>
            <a:off x="1708150" y="3109913"/>
            <a:ext cx="1036638" cy="808037"/>
            <a:chOff x="2536" y="4340"/>
            <a:chExt cx="653" cy="509"/>
          </a:xfrm>
        </p:grpSpPr>
        <p:sp>
          <p:nvSpPr>
            <p:cNvPr id="11274" name="Rectangle 12"/>
            <p:cNvSpPr>
              <a:spLocks noChangeArrowheads="1"/>
            </p:cNvSpPr>
            <p:nvPr/>
          </p:nvSpPr>
          <p:spPr bwMode="auto">
            <a:xfrm>
              <a:off x="2536" y="4340"/>
              <a:ext cx="422" cy="25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275" name="Text Box 13"/>
            <p:cNvSpPr txBox="1">
              <a:spLocks noChangeArrowheads="1"/>
            </p:cNvSpPr>
            <p:nvPr/>
          </p:nvSpPr>
          <p:spPr bwMode="auto">
            <a:xfrm>
              <a:off x="2546" y="4618"/>
              <a:ext cx="643" cy="231"/>
            </a:xfrm>
            <a:prstGeom prst="rect">
              <a:avLst/>
            </a:prstGeom>
            <a:noFill/>
            <a:ln w="9525">
              <a:noFill/>
              <a:miter lim="800000"/>
              <a:headEnd/>
              <a:tailEnd/>
            </a:ln>
          </p:spPr>
          <p:txBody>
            <a:bodyPr>
              <a:spAutoFit/>
            </a:bodyPr>
            <a:lstStyle/>
            <a:p>
              <a:pPr>
                <a:spcBef>
                  <a:spcPct val="50000"/>
                </a:spcBef>
              </a:pPr>
              <a:r>
                <a:rPr lang="en-GB"/>
                <a:t>age</a:t>
              </a:r>
              <a:endParaRPr lang="en-US"/>
            </a:p>
          </p:txBody>
        </p:sp>
      </p:grpSp>
      <p:sp>
        <p:nvSpPr>
          <p:cNvPr id="11270" name="Text Box 16"/>
          <p:cNvSpPr txBox="1">
            <a:spLocks noChangeArrowheads="1"/>
          </p:cNvSpPr>
          <p:nvPr/>
        </p:nvSpPr>
        <p:spPr bwMode="auto">
          <a:xfrm>
            <a:off x="423863" y="7145338"/>
            <a:ext cx="5129212" cy="366712"/>
          </a:xfrm>
          <a:prstGeom prst="rect">
            <a:avLst/>
          </a:prstGeom>
          <a:noFill/>
          <a:ln w="9525">
            <a:noFill/>
            <a:miter lim="800000"/>
            <a:headEnd/>
            <a:tailEnd/>
          </a:ln>
        </p:spPr>
        <p:txBody>
          <a:bodyPr>
            <a:spAutoFit/>
          </a:bodyPr>
          <a:lstStyle/>
          <a:p>
            <a:pPr>
              <a:spcBef>
                <a:spcPct val="50000"/>
              </a:spcBef>
            </a:pPr>
            <a:r>
              <a:rPr lang="en-US" i="1"/>
              <a:t>You can use one or two statements:</a:t>
            </a:r>
            <a:endParaRPr lang="en-GB" i="1"/>
          </a:p>
        </p:txBody>
      </p:sp>
      <p:sp>
        <p:nvSpPr>
          <p:cNvPr id="11271" name="Text Box 17"/>
          <p:cNvSpPr txBox="1">
            <a:spLocks noChangeArrowheads="1"/>
          </p:cNvSpPr>
          <p:nvPr/>
        </p:nvSpPr>
        <p:spPr bwMode="auto">
          <a:xfrm>
            <a:off x="477838" y="7646988"/>
            <a:ext cx="3286125" cy="779462"/>
          </a:xfrm>
          <a:prstGeom prst="rect">
            <a:avLst/>
          </a:prstGeom>
          <a:noFill/>
          <a:ln w="9525">
            <a:noFill/>
            <a:miter lim="800000"/>
            <a:headEnd/>
            <a:tailEnd/>
          </a:ln>
        </p:spPr>
        <p:txBody>
          <a:bodyPr>
            <a:spAutoFit/>
          </a:bodyPr>
          <a:lstStyle/>
          <a:p>
            <a:pPr>
              <a:spcBef>
                <a:spcPct val="50000"/>
              </a:spcBef>
            </a:pPr>
            <a:r>
              <a:rPr lang="en-US"/>
              <a:t>int [ ] age;</a:t>
            </a:r>
          </a:p>
          <a:p>
            <a:pPr>
              <a:spcBef>
                <a:spcPct val="50000"/>
              </a:spcBef>
            </a:pPr>
            <a:r>
              <a:rPr lang="en-US"/>
              <a:t>age = new int[5];</a:t>
            </a:r>
            <a:endParaRPr lang="en-GB"/>
          </a:p>
        </p:txBody>
      </p:sp>
      <p:sp>
        <p:nvSpPr>
          <p:cNvPr id="11272" name="Text Box 18"/>
          <p:cNvSpPr txBox="1">
            <a:spLocks noChangeArrowheads="1"/>
          </p:cNvSpPr>
          <p:nvPr/>
        </p:nvSpPr>
        <p:spPr bwMode="auto">
          <a:xfrm>
            <a:off x="3416300" y="7607300"/>
            <a:ext cx="3062288" cy="366713"/>
          </a:xfrm>
          <a:prstGeom prst="rect">
            <a:avLst/>
          </a:prstGeom>
          <a:noFill/>
          <a:ln w="9525">
            <a:noFill/>
            <a:miter lim="800000"/>
            <a:headEnd/>
            <a:tailEnd/>
          </a:ln>
        </p:spPr>
        <p:txBody>
          <a:bodyPr>
            <a:spAutoFit/>
          </a:bodyPr>
          <a:lstStyle/>
          <a:p>
            <a:pPr>
              <a:spcBef>
                <a:spcPct val="50000"/>
              </a:spcBef>
            </a:pPr>
            <a:r>
              <a:rPr lang="en-US"/>
              <a:t>int [ ] age = new int[5];</a:t>
            </a:r>
            <a:endParaRPr lang="en-GB"/>
          </a:p>
        </p:txBody>
      </p:sp>
      <p:sp>
        <p:nvSpPr>
          <p:cNvPr id="11273" name="Line 19"/>
          <p:cNvSpPr>
            <a:spLocks noChangeShapeType="1"/>
          </p:cNvSpPr>
          <p:nvPr/>
        </p:nvSpPr>
        <p:spPr bwMode="auto">
          <a:xfrm>
            <a:off x="3100388" y="7646988"/>
            <a:ext cx="0" cy="1019175"/>
          </a:xfrm>
          <a:prstGeom prst="line">
            <a:avLst/>
          </a:prstGeom>
          <a:noFill/>
          <a:ln w="57150">
            <a:solidFill>
              <a:schemeClr val="tx1"/>
            </a:solidFill>
            <a:round/>
            <a:headEnd/>
            <a:tailEnd/>
          </a:ln>
        </p:spPr>
        <p:txBody>
          <a:bodyPr/>
          <a:lstStyle/>
          <a:p>
            <a:endParaRPr lang="en-US"/>
          </a:p>
        </p:txBody>
      </p:sp>
      <p:sp>
        <p:nvSpPr>
          <p:cNvPr id="19" name="Cloud 18"/>
          <p:cNvSpPr/>
          <p:nvPr/>
        </p:nvSpPr>
        <p:spPr>
          <a:xfrm>
            <a:off x="2743200" y="2980944"/>
            <a:ext cx="3511550" cy="1517904"/>
          </a:xfrm>
          <a:prstGeom prst="cloud">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Comic Sans MS" pitchFamily="66" charset="0"/>
              </a:rPr>
              <a:t>Using </a:t>
            </a:r>
            <a:r>
              <a:rPr lang="en-US" b="1" u="sng" dirty="0">
                <a:solidFill>
                  <a:srgbClr val="FF0000"/>
                </a:solidFill>
                <a:latin typeface="Comic Sans MS" pitchFamily="66" charset="0"/>
              </a:rPr>
              <a:t>new</a:t>
            </a:r>
            <a:r>
              <a:rPr lang="en-US" b="1" dirty="0">
                <a:solidFill>
                  <a:schemeClr val="tx1"/>
                </a:solidFill>
                <a:latin typeface="Comic Sans MS" pitchFamily="66" charset="0"/>
              </a:rPr>
              <a:t> keyword to create empty array</a:t>
            </a:r>
          </a:p>
        </p:txBody>
      </p:sp>
      <p:sp>
        <p:nvSpPr>
          <p:cNvPr id="20" name="Rectangle 19"/>
          <p:cNvSpPr/>
          <p:nvPr/>
        </p:nvSpPr>
        <p:spPr>
          <a:xfrm>
            <a:off x="1293876" y="5134463"/>
            <a:ext cx="4631436" cy="646331"/>
          </a:xfrm>
          <a:prstGeom prst="rect">
            <a:avLst/>
          </a:prstGeom>
        </p:spPr>
        <p:txBody>
          <a:bodyPr wrap="square">
            <a:spAutoFit/>
          </a:bodyPr>
          <a:lstStyle/>
          <a:p>
            <a:r>
              <a:rPr lang="en-GB" dirty="0">
                <a:latin typeface="Comic Sans MS" pitchFamily="66" charset="0"/>
              </a:rPr>
              <a:t>Specify the </a:t>
            </a:r>
            <a:r>
              <a:rPr lang="en-GB" dirty="0">
                <a:solidFill>
                  <a:srgbClr val="FF0000"/>
                </a:solidFill>
                <a:latin typeface="Comic Sans MS" pitchFamily="66" charset="0"/>
              </a:rPr>
              <a:t>size</a:t>
            </a:r>
            <a:r>
              <a:rPr lang="en-GB" dirty="0">
                <a:latin typeface="Comic Sans MS" pitchFamily="66" charset="0"/>
              </a:rPr>
              <a:t> to create the actual array instances (elements). </a:t>
            </a:r>
            <a:r>
              <a:rPr lang="en-GB" dirty="0" err="1">
                <a:latin typeface="Comic Sans MS" pitchFamily="66" charset="0"/>
              </a:rPr>
              <a:t>E.g</a:t>
            </a:r>
            <a:r>
              <a:rPr lang="en-GB" dirty="0">
                <a:latin typeface="Comic Sans MS" pitchFamily="66" charset="0"/>
              </a:rPr>
              <a:t> </a:t>
            </a:r>
            <a:r>
              <a:rPr lang="en-GB" b="1" dirty="0">
                <a:latin typeface="Comic Sans MS" pitchFamily="66" charset="0"/>
              </a:rPr>
              <a:t>4</a:t>
            </a:r>
            <a:endParaRPr lang="en-US" dirty="0">
              <a:latin typeface="Comic Sans MS" pitchFamily="66"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GB"/>
              <a:t>Creating an Empty Array</a:t>
            </a:r>
            <a:endParaRPr lang="en-US"/>
          </a:p>
        </p:txBody>
      </p:sp>
      <p:sp>
        <p:nvSpPr>
          <p:cNvPr id="12291" name="Rectangle 3"/>
          <p:cNvSpPr>
            <a:spLocks noGrp="1" noChangeArrowheads="1"/>
          </p:cNvSpPr>
          <p:nvPr>
            <p:ph type="body" idx="1"/>
          </p:nvPr>
        </p:nvSpPr>
        <p:spPr>
          <a:xfrm>
            <a:off x="685800" y="1701800"/>
            <a:ext cx="5829300" cy="3546475"/>
          </a:xfrm>
        </p:spPr>
        <p:txBody>
          <a:bodyPr/>
          <a:lstStyle/>
          <a:p>
            <a:pPr eaLnBrk="1" hangingPunct="1"/>
            <a:r>
              <a:rPr lang="en-GB" sz="2000" b="1" dirty="0">
                <a:solidFill>
                  <a:srgbClr val="0033CC"/>
                </a:solidFill>
                <a:latin typeface="Verdana" pitchFamily="34" charset="0"/>
              </a:rPr>
              <a:t>C# automatically fills empty arrays with default values:</a:t>
            </a:r>
          </a:p>
          <a:p>
            <a:pPr lvl="1" eaLnBrk="1" hangingPunct="1"/>
            <a:r>
              <a:rPr lang="en-GB" b="1" dirty="0"/>
              <a:t>integer array initialise with 0</a:t>
            </a:r>
          </a:p>
          <a:p>
            <a:pPr lvl="1" eaLnBrk="1" hangingPunct="1"/>
            <a:r>
              <a:rPr lang="en-GB" b="1" dirty="0"/>
              <a:t>floating-point array </a:t>
            </a:r>
            <a:r>
              <a:rPr lang="en-GB" b="1" dirty="0" err="1"/>
              <a:t>intialise</a:t>
            </a:r>
            <a:r>
              <a:rPr lang="en-GB" b="1" dirty="0"/>
              <a:t> with 0.0</a:t>
            </a:r>
          </a:p>
          <a:p>
            <a:pPr lvl="1" eaLnBrk="1" hangingPunct="1"/>
            <a:r>
              <a:rPr lang="en-GB" b="1" dirty="0" err="1"/>
              <a:t>boolean</a:t>
            </a:r>
            <a:r>
              <a:rPr lang="en-GB" b="1" dirty="0"/>
              <a:t> array initialise with false</a:t>
            </a:r>
          </a:p>
          <a:p>
            <a:pPr lvl="1" eaLnBrk="1" hangingPunct="1"/>
            <a:r>
              <a:rPr lang="en-GB" b="1" dirty="0"/>
              <a:t>string array initialise with null values</a:t>
            </a:r>
          </a:p>
          <a:p>
            <a:pPr eaLnBrk="1" hangingPunct="1">
              <a:spcBef>
                <a:spcPct val="50000"/>
              </a:spcBef>
            </a:pPr>
            <a:r>
              <a:rPr lang="en-GB" sz="2000" b="1" dirty="0">
                <a:solidFill>
                  <a:srgbClr val="0033CC"/>
                </a:solidFill>
                <a:latin typeface="Verdana" pitchFamily="34" charset="0"/>
              </a:rPr>
              <a:t>C# arrays are Reference Type</a:t>
            </a:r>
          </a:p>
          <a:p>
            <a:pPr lvl="1" eaLnBrk="1" hangingPunct="1">
              <a:buFont typeface="Wingdings" pitchFamily="2" charset="2"/>
              <a:buNone/>
            </a:pPr>
            <a:r>
              <a:rPr lang="en-GB" b="1" dirty="0"/>
              <a:t>example:</a:t>
            </a:r>
          </a:p>
          <a:p>
            <a:pPr lvl="1" eaLnBrk="1" hangingPunct="1">
              <a:buFont typeface="Wingdings" pitchFamily="2" charset="2"/>
              <a:buNone/>
            </a:pPr>
            <a:r>
              <a:rPr lang="en-GB" b="1" dirty="0" err="1"/>
              <a:t>int</a:t>
            </a:r>
            <a:r>
              <a:rPr lang="en-GB" b="1" dirty="0"/>
              <a:t> [ ] marks = new </a:t>
            </a:r>
            <a:r>
              <a:rPr lang="en-GB" b="1" dirty="0" err="1"/>
              <a:t>int</a:t>
            </a:r>
            <a:r>
              <a:rPr lang="en-GB" b="1" dirty="0"/>
              <a:t>[ 4 ];</a:t>
            </a:r>
            <a:endParaRPr lang="en-US" b="1" dirty="0"/>
          </a:p>
        </p:txBody>
      </p:sp>
      <p:grpSp>
        <p:nvGrpSpPr>
          <p:cNvPr id="12292" name="Group 11"/>
          <p:cNvGrpSpPr>
            <a:grpSpLocks/>
          </p:cNvGrpSpPr>
          <p:nvPr/>
        </p:nvGrpSpPr>
        <p:grpSpPr bwMode="auto">
          <a:xfrm>
            <a:off x="944563" y="5654675"/>
            <a:ext cx="5108575" cy="852488"/>
            <a:chOff x="576" y="3130"/>
            <a:chExt cx="3218" cy="537"/>
          </a:xfrm>
        </p:grpSpPr>
        <p:sp>
          <p:nvSpPr>
            <p:cNvPr id="12294" name="Rectangle 4"/>
            <p:cNvSpPr>
              <a:spLocks noChangeArrowheads="1"/>
            </p:cNvSpPr>
            <p:nvPr/>
          </p:nvSpPr>
          <p:spPr bwMode="auto">
            <a:xfrm>
              <a:off x="634" y="3158"/>
              <a:ext cx="422" cy="25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2295" name="Rectangle 5"/>
            <p:cNvSpPr>
              <a:spLocks noChangeArrowheads="1"/>
            </p:cNvSpPr>
            <p:nvPr/>
          </p:nvSpPr>
          <p:spPr bwMode="auto">
            <a:xfrm>
              <a:off x="2095" y="3131"/>
              <a:ext cx="422" cy="250"/>
            </a:xfrm>
            <a:prstGeom prst="rect">
              <a:avLst/>
            </a:prstGeom>
            <a:solidFill>
              <a:schemeClr val="accent1"/>
            </a:solidFill>
            <a:ln w="9525">
              <a:solidFill>
                <a:schemeClr val="tx1"/>
              </a:solidFill>
              <a:miter lim="800000"/>
              <a:headEnd/>
              <a:tailEnd/>
            </a:ln>
          </p:spPr>
          <p:txBody>
            <a:bodyPr wrap="none" anchor="ctr"/>
            <a:lstStyle/>
            <a:p>
              <a:pPr algn="ctr"/>
              <a:r>
                <a:rPr lang="en-GB"/>
                <a:t>0</a:t>
              </a:r>
              <a:endParaRPr lang="en-US"/>
            </a:p>
          </p:txBody>
        </p:sp>
        <p:sp>
          <p:nvSpPr>
            <p:cNvPr id="12296" name="Rectangle 6"/>
            <p:cNvSpPr>
              <a:spLocks noChangeArrowheads="1"/>
            </p:cNvSpPr>
            <p:nvPr/>
          </p:nvSpPr>
          <p:spPr bwMode="auto">
            <a:xfrm>
              <a:off x="2527" y="3130"/>
              <a:ext cx="422" cy="250"/>
            </a:xfrm>
            <a:prstGeom prst="rect">
              <a:avLst/>
            </a:prstGeom>
            <a:solidFill>
              <a:schemeClr val="accent1"/>
            </a:solidFill>
            <a:ln w="9525">
              <a:solidFill>
                <a:schemeClr val="tx1"/>
              </a:solidFill>
              <a:miter lim="800000"/>
              <a:headEnd/>
              <a:tailEnd/>
            </a:ln>
          </p:spPr>
          <p:txBody>
            <a:bodyPr wrap="none" anchor="ctr"/>
            <a:lstStyle/>
            <a:p>
              <a:pPr algn="ctr"/>
              <a:r>
                <a:rPr lang="en-GB"/>
                <a:t>0</a:t>
              </a:r>
              <a:endParaRPr lang="en-US"/>
            </a:p>
          </p:txBody>
        </p:sp>
        <p:sp>
          <p:nvSpPr>
            <p:cNvPr id="12297" name="Rectangle 7"/>
            <p:cNvSpPr>
              <a:spLocks noChangeArrowheads="1"/>
            </p:cNvSpPr>
            <p:nvPr/>
          </p:nvSpPr>
          <p:spPr bwMode="auto">
            <a:xfrm>
              <a:off x="2949" y="3130"/>
              <a:ext cx="422" cy="250"/>
            </a:xfrm>
            <a:prstGeom prst="rect">
              <a:avLst/>
            </a:prstGeom>
            <a:solidFill>
              <a:schemeClr val="accent1"/>
            </a:solidFill>
            <a:ln w="9525">
              <a:solidFill>
                <a:schemeClr val="tx1"/>
              </a:solidFill>
              <a:miter lim="800000"/>
              <a:headEnd/>
              <a:tailEnd/>
            </a:ln>
          </p:spPr>
          <p:txBody>
            <a:bodyPr wrap="none" anchor="ctr"/>
            <a:lstStyle/>
            <a:p>
              <a:pPr algn="ctr"/>
              <a:r>
                <a:rPr lang="en-GB" altLang="ug-CN"/>
                <a:t>0</a:t>
              </a:r>
              <a:endParaRPr lang="en-US"/>
            </a:p>
          </p:txBody>
        </p:sp>
        <p:sp>
          <p:nvSpPr>
            <p:cNvPr id="12298" name="Rectangle 8"/>
            <p:cNvSpPr>
              <a:spLocks noChangeArrowheads="1"/>
            </p:cNvSpPr>
            <p:nvPr/>
          </p:nvSpPr>
          <p:spPr bwMode="auto">
            <a:xfrm>
              <a:off x="3372" y="3131"/>
              <a:ext cx="422" cy="250"/>
            </a:xfrm>
            <a:prstGeom prst="rect">
              <a:avLst/>
            </a:prstGeom>
            <a:solidFill>
              <a:schemeClr val="accent1"/>
            </a:solidFill>
            <a:ln w="9525">
              <a:solidFill>
                <a:schemeClr val="tx1"/>
              </a:solidFill>
              <a:miter lim="800000"/>
              <a:headEnd/>
              <a:tailEnd/>
            </a:ln>
          </p:spPr>
          <p:txBody>
            <a:bodyPr wrap="none" anchor="ctr"/>
            <a:lstStyle/>
            <a:p>
              <a:pPr algn="ctr"/>
              <a:r>
                <a:rPr lang="en-GB" altLang="ug-CN"/>
                <a:t>0</a:t>
              </a:r>
              <a:endParaRPr lang="en-US"/>
            </a:p>
          </p:txBody>
        </p:sp>
        <p:sp>
          <p:nvSpPr>
            <p:cNvPr id="12299" name="Text Box 9"/>
            <p:cNvSpPr txBox="1">
              <a:spLocks noChangeArrowheads="1"/>
            </p:cNvSpPr>
            <p:nvPr/>
          </p:nvSpPr>
          <p:spPr bwMode="auto">
            <a:xfrm>
              <a:off x="576" y="3436"/>
              <a:ext cx="643" cy="231"/>
            </a:xfrm>
            <a:prstGeom prst="rect">
              <a:avLst/>
            </a:prstGeom>
            <a:noFill/>
            <a:ln w="9525">
              <a:noFill/>
              <a:miter lim="800000"/>
              <a:headEnd/>
              <a:tailEnd/>
            </a:ln>
          </p:spPr>
          <p:txBody>
            <a:bodyPr>
              <a:spAutoFit/>
            </a:bodyPr>
            <a:lstStyle/>
            <a:p>
              <a:pPr>
                <a:spcBef>
                  <a:spcPct val="50000"/>
                </a:spcBef>
              </a:pPr>
              <a:r>
                <a:rPr lang="en-GB"/>
                <a:t>marks</a:t>
              </a:r>
              <a:endParaRPr lang="en-US"/>
            </a:p>
          </p:txBody>
        </p:sp>
        <p:sp>
          <p:nvSpPr>
            <p:cNvPr id="12300" name="Line 10"/>
            <p:cNvSpPr>
              <a:spLocks noChangeShapeType="1"/>
            </p:cNvSpPr>
            <p:nvPr/>
          </p:nvSpPr>
          <p:spPr bwMode="auto">
            <a:xfrm flipV="1">
              <a:off x="864" y="3274"/>
              <a:ext cx="1248" cy="9"/>
            </a:xfrm>
            <a:prstGeom prst="line">
              <a:avLst/>
            </a:prstGeom>
            <a:noFill/>
            <a:ln w="9525">
              <a:solidFill>
                <a:schemeClr val="tx1"/>
              </a:solidFill>
              <a:round/>
              <a:headEnd/>
              <a:tailEnd type="triangle" w="lg" len="lg"/>
            </a:ln>
          </p:spPr>
          <p:txBody>
            <a:bodyPr/>
            <a:lstStyle/>
            <a:p>
              <a:endParaRPr lang="en-US"/>
            </a:p>
          </p:txBody>
        </p:sp>
      </p:grpSp>
      <p:sp>
        <p:nvSpPr>
          <p:cNvPr id="12293" name="Text Box 13"/>
          <p:cNvSpPr txBox="1">
            <a:spLocks noChangeArrowheads="1"/>
          </p:cNvSpPr>
          <p:nvPr/>
        </p:nvSpPr>
        <p:spPr bwMode="auto">
          <a:xfrm>
            <a:off x="1016000" y="7112000"/>
            <a:ext cx="5351463" cy="1190625"/>
          </a:xfrm>
          <a:prstGeom prst="rect">
            <a:avLst/>
          </a:prstGeom>
          <a:noFill/>
          <a:ln w="9525">
            <a:noFill/>
            <a:miter lim="800000"/>
            <a:headEnd/>
            <a:tailEnd/>
          </a:ln>
        </p:spPr>
        <p:txBody>
          <a:bodyPr>
            <a:spAutoFit/>
          </a:bodyPr>
          <a:lstStyle/>
          <a:p>
            <a:pPr>
              <a:spcBef>
                <a:spcPct val="50000"/>
              </a:spcBef>
            </a:pPr>
            <a:r>
              <a:rPr lang="en-US" i="1"/>
              <a:t>However, it is a good practice to initialise array with zero or null values as other programming languages may not have this feature of setting it to zero.</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Initialise an Array</a:t>
            </a:r>
            <a:endParaRPr lang="en-SG" dirty="0"/>
          </a:p>
        </p:txBody>
      </p:sp>
      <p:sp>
        <p:nvSpPr>
          <p:cNvPr id="3" name="Content Placeholder 2"/>
          <p:cNvSpPr>
            <a:spLocks noGrp="1"/>
          </p:cNvSpPr>
          <p:nvPr>
            <p:ph idx="1"/>
          </p:nvPr>
        </p:nvSpPr>
        <p:spPr>
          <a:xfrm>
            <a:off x="482317" y="1289815"/>
            <a:ext cx="6012683" cy="6899592"/>
          </a:xfrm>
        </p:spPr>
        <p:txBody>
          <a:bodyPr/>
          <a:lstStyle/>
          <a:p>
            <a:pPr marL="342900" lvl="1" indent="-342900">
              <a:buClr>
                <a:schemeClr val="folHlink"/>
              </a:buClr>
              <a:buSzPct val="90000"/>
              <a:buFont typeface="Wingdings" pitchFamily="2" charset="2"/>
              <a:buChar char="q"/>
            </a:pPr>
            <a:r>
              <a:rPr lang="en-GB" dirty="0"/>
              <a:t> Create an empty array with length explicitly given</a:t>
            </a:r>
          </a:p>
          <a:p>
            <a:pPr marL="342900" lvl="1" indent="-342900">
              <a:buClr>
                <a:schemeClr val="folHlink"/>
              </a:buClr>
              <a:buSzPct val="90000"/>
              <a:buFont typeface="Wingdings" pitchFamily="2" charset="2"/>
              <a:buChar char="q"/>
            </a:pPr>
            <a:endParaRPr lang="en-GB" dirty="0"/>
          </a:p>
          <a:p>
            <a:pPr marL="0" lvl="1" indent="0">
              <a:buClr>
                <a:schemeClr val="folHlink"/>
              </a:buClr>
              <a:buSzPct val="90000"/>
              <a:buNone/>
            </a:pPr>
            <a:r>
              <a:rPr lang="en-GB" dirty="0" err="1"/>
              <a:t>int</a:t>
            </a:r>
            <a:r>
              <a:rPr lang="en-GB" dirty="0"/>
              <a:t> [ ] Marks = new </a:t>
            </a:r>
            <a:r>
              <a:rPr lang="en-GB" dirty="0" err="1"/>
              <a:t>int</a:t>
            </a:r>
            <a:r>
              <a:rPr lang="en-GB" dirty="0"/>
              <a:t>[ 4 ];</a:t>
            </a:r>
          </a:p>
          <a:p>
            <a:pPr marL="0" lvl="1" indent="0">
              <a:buClr>
                <a:schemeClr val="folHlink"/>
              </a:buClr>
              <a:buSzPct val="90000"/>
              <a:buNone/>
            </a:pPr>
            <a:endParaRPr lang="en-GB" dirty="0"/>
          </a:p>
          <a:p>
            <a:pPr marL="0" lvl="1" indent="0">
              <a:buClr>
                <a:schemeClr val="folHlink"/>
              </a:buClr>
              <a:buSzPct val="90000"/>
              <a:buNone/>
            </a:pPr>
            <a:r>
              <a:rPr lang="en-GB" dirty="0"/>
              <a:t>// initialise the array using indexing, one by one</a:t>
            </a:r>
          </a:p>
          <a:p>
            <a:pPr marL="0" lvl="1" indent="0">
              <a:buClr>
                <a:schemeClr val="folHlink"/>
              </a:buClr>
              <a:buSzPct val="90000"/>
              <a:buNone/>
            </a:pPr>
            <a:r>
              <a:rPr lang="en-GB" dirty="0"/>
              <a:t>Marks[0] = 23;</a:t>
            </a:r>
          </a:p>
          <a:p>
            <a:pPr marL="0" lvl="1" indent="0">
              <a:buClr>
                <a:schemeClr val="folHlink"/>
              </a:buClr>
              <a:buSzPct val="90000"/>
              <a:buNone/>
            </a:pPr>
            <a:r>
              <a:rPr lang="en-GB" dirty="0"/>
              <a:t>Marks[1] = 33;</a:t>
            </a:r>
          </a:p>
          <a:p>
            <a:pPr marL="0" lvl="1" indent="0">
              <a:buClr>
                <a:schemeClr val="folHlink"/>
              </a:buClr>
              <a:buSzPct val="90000"/>
              <a:buNone/>
            </a:pPr>
            <a:r>
              <a:rPr lang="en-GB" dirty="0"/>
              <a:t>Marks[2] = 43;</a:t>
            </a:r>
          </a:p>
          <a:p>
            <a:pPr marL="0" lvl="1" indent="0">
              <a:buClr>
                <a:schemeClr val="folHlink"/>
              </a:buClr>
              <a:buSzPct val="90000"/>
              <a:buNone/>
            </a:pPr>
            <a:r>
              <a:rPr lang="en-GB" dirty="0"/>
              <a:t>Marks[3] = 53;</a:t>
            </a:r>
          </a:p>
          <a:p>
            <a:pPr marL="0" lvl="1" indent="0">
              <a:buClr>
                <a:schemeClr val="folHlink"/>
              </a:buClr>
              <a:buSzPct val="90000"/>
              <a:buNone/>
            </a:pPr>
            <a:endParaRPr lang="en-US" dirty="0"/>
          </a:p>
          <a:p>
            <a:pPr marL="0" indent="0">
              <a:buNone/>
            </a:pPr>
            <a:r>
              <a:rPr lang="en-GB" sz="3600" dirty="0"/>
              <a:t>Or the equivalent</a:t>
            </a:r>
          </a:p>
          <a:p>
            <a:pPr marL="0" indent="0">
              <a:buNone/>
            </a:pPr>
            <a:r>
              <a:rPr lang="en-GB" sz="3600" dirty="0"/>
              <a:t> </a:t>
            </a:r>
          </a:p>
          <a:p>
            <a:pPr>
              <a:buFont typeface="Wingdings" pitchFamily="2" charset="2"/>
              <a:buChar char="q"/>
            </a:pPr>
            <a:r>
              <a:rPr lang="en-GB" sz="2000" dirty="0"/>
              <a:t>Create and initialise it explicitly with No length given</a:t>
            </a:r>
          </a:p>
          <a:p>
            <a:endParaRPr lang="en-GB" sz="2000" dirty="0"/>
          </a:p>
          <a:p>
            <a:pPr marL="0" lvl="1" indent="0">
              <a:buClr>
                <a:schemeClr val="folHlink"/>
              </a:buClr>
              <a:buSzPct val="90000"/>
              <a:buNone/>
            </a:pPr>
            <a:r>
              <a:rPr lang="en-GB" dirty="0" err="1"/>
              <a:t>int</a:t>
            </a:r>
            <a:r>
              <a:rPr lang="en-GB" dirty="0"/>
              <a:t> [ ] Marks = {23, 33, 43, 53};</a:t>
            </a:r>
            <a:endParaRPr lang="en-SG" dirty="0"/>
          </a:p>
        </p:txBody>
      </p:sp>
    </p:spTree>
    <p:custDataLst>
      <p:tags r:id="rId1"/>
    </p:custDataLst>
    <p:extLst>
      <p:ext uri="{BB962C8B-B14F-4D97-AF65-F5344CB8AC3E}">
        <p14:creationId xmlns:p14="http://schemas.microsoft.com/office/powerpoint/2010/main" val="659756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a:t>Summary – What is Array?</a:t>
            </a:r>
          </a:p>
        </p:txBody>
      </p:sp>
      <p:pic>
        <p:nvPicPr>
          <p:cNvPr id="15363" name="Picture 2" descr="C:\temp\Temporary Internet Files\Content.IE5\SVVJASD1\MPj04385130000[1].jpg"/>
          <p:cNvPicPr>
            <a:picLocks noGrp="1" noChangeAspect="1" noChangeArrowheads="1"/>
          </p:cNvPicPr>
          <p:nvPr>
            <p:ph idx="1"/>
          </p:nvPr>
        </p:nvPicPr>
        <p:blipFill>
          <a:blip r:embed="rId3" cstate="print"/>
          <a:srcRect/>
          <a:stretch>
            <a:fillRect/>
          </a:stretch>
        </p:blipFill>
        <p:spPr>
          <a:xfrm>
            <a:off x="466243" y="2542246"/>
            <a:ext cx="6382954" cy="5138478"/>
          </a:xfrm>
          <a:noFill/>
        </p:spPr>
      </p:pic>
      <p:sp>
        <p:nvSpPr>
          <p:cNvPr id="15364" name="TextBox 4"/>
          <p:cNvSpPr txBox="1">
            <a:spLocks noChangeArrowheads="1"/>
          </p:cNvSpPr>
          <p:nvPr/>
        </p:nvSpPr>
        <p:spPr bwMode="auto">
          <a:xfrm>
            <a:off x="457454" y="1279525"/>
            <a:ext cx="6291263" cy="954107"/>
          </a:xfrm>
          <a:prstGeom prst="rect">
            <a:avLst/>
          </a:prstGeom>
          <a:noFill/>
          <a:ln w="9525">
            <a:noFill/>
            <a:miter lim="800000"/>
            <a:headEnd/>
            <a:tailEnd/>
          </a:ln>
        </p:spPr>
        <p:txBody>
          <a:bodyPr>
            <a:spAutoFit/>
          </a:bodyPr>
          <a:lstStyle/>
          <a:p>
            <a:r>
              <a:rPr lang="en-US" sz="2800" dirty="0" err="1"/>
              <a:t>int</a:t>
            </a:r>
            <a:r>
              <a:rPr lang="en-US" sz="2800" dirty="0"/>
              <a:t> [] </a:t>
            </a:r>
            <a:r>
              <a:rPr lang="en-US" sz="2800" dirty="0" err="1"/>
              <a:t>SilverSea</a:t>
            </a:r>
            <a:r>
              <a:rPr lang="en-US" sz="2800" dirty="0"/>
              <a:t>= {0,0,0};</a:t>
            </a:r>
          </a:p>
          <a:p>
            <a:r>
              <a:rPr lang="en-US" sz="2800" dirty="0"/>
              <a:t>Or </a:t>
            </a:r>
            <a:r>
              <a:rPr lang="en-US" sz="2800" dirty="0" err="1"/>
              <a:t>int</a:t>
            </a:r>
            <a:r>
              <a:rPr lang="en-US" sz="2800" dirty="0"/>
              <a:t> [] </a:t>
            </a:r>
            <a:r>
              <a:rPr lang="en-US" sz="2800" dirty="0" err="1"/>
              <a:t>SilverSea</a:t>
            </a:r>
            <a:r>
              <a:rPr lang="en-US" sz="2800" dirty="0"/>
              <a:t> = new </a:t>
            </a:r>
            <a:r>
              <a:rPr lang="en-US" sz="2800" dirty="0" err="1"/>
              <a:t>int</a:t>
            </a:r>
            <a:r>
              <a:rPr lang="en-US" sz="2800" dirty="0"/>
              <a:t> [3];</a:t>
            </a:r>
          </a:p>
        </p:txBody>
      </p:sp>
      <p:sp>
        <p:nvSpPr>
          <p:cNvPr id="6" name="TextBox 5"/>
          <p:cNvSpPr txBox="1"/>
          <p:nvPr/>
        </p:nvSpPr>
        <p:spPr>
          <a:xfrm>
            <a:off x="2050121" y="4264144"/>
            <a:ext cx="2462212" cy="646112"/>
          </a:xfrm>
          <a:prstGeom prst="rect">
            <a:avLst/>
          </a:prstGeom>
          <a:noFill/>
        </p:spPr>
        <p:txBody>
          <a:bodyPr>
            <a:spAutoFit/>
          </a:bodyPr>
          <a:lstStyle/>
          <a:p>
            <a:pPr>
              <a:defRPr/>
            </a:pPr>
            <a:r>
              <a:rPr lang="en-US" sz="3600" dirty="0" err="1">
                <a:effectLst>
                  <a:outerShdw blurRad="38100" dist="38100" dir="2700000" algn="tl">
                    <a:srgbClr val="000000">
                      <a:alpha val="43137"/>
                    </a:srgbClr>
                  </a:outerShdw>
                </a:effectLst>
              </a:rPr>
              <a:t>SilverSea</a:t>
            </a:r>
            <a:endParaRPr lang="en-US" sz="3600" dirty="0">
              <a:effectLst>
                <a:outerShdw blurRad="38100" dist="38100" dir="2700000" algn="tl">
                  <a:srgbClr val="000000">
                    <a:alpha val="43137"/>
                  </a:srgbClr>
                </a:outerShdw>
              </a:effectLst>
            </a:endParaRPr>
          </a:p>
        </p:txBody>
      </p:sp>
      <p:sp>
        <p:nvSpPr>
          <p:cNvPr id="7" name="TextBox 6"/>
          <p:cNvSpPr txBox="1"/>
          <p:nvPr/>
        </p:nvSpPr>
        <p:spPr>
          <a:xfrm>
            <a:off x="0" y="7985125"/>
            <a:ext cx="5578475" cy="647700"/>
          </a:xfrm>
          <a:prstGeom prst="rect">
            <a:avLst/>
          </a:prstGeom>
          <a:noFill/>
        </p:spPr>
        <p:txBody>
          <a:bodyPr>
            <a:spAutoFit/>
          </a:bodyPr>
          <a:lstStyle/>
          <a:p>
            <a:pPr>
              <a:defRPr/>
            </a:pPr>
            <a:r>
              <a:rPr lang="en-US" sz="3600" dirty="0" err="1">
                <a:effectLst>
                  <a:outerShdw blurRad="38100" dist="38100" dir="2700000" algn="tl">
                    <a:srgbClr val="000000">
                      <a:alpha val="43137"/>
                    </a:srgbClr>
                  </a:outerShdw>
                </a:effectLst>
              </a:rPr>
              <a:t>SilverSea</a:t>
            </a:r>
            <a:r>
              <a:rPr lang="en-US" sz="3600" dirty="0">
                <a:effectLst>
                  <a:outerShdw blurRad="38100" dist="38100" dir="2700000" algn="tl">
                    <a:srgbClr val="000000">
                      <a:alpha val="43137"/>
                    </a:srgbClr>
                  </a:outerShdw>
                </a:effectLst>
              </a:rPr>
              <a:t>[0] = 15</a:t>
            </a:r>
          </a:p>
        </p:txBody>
      </p:sp>
      <p:cxnSp>
        <p:nvCxnSpPr>
          <p:cNvPr id="9" name="Straight Arrow Connector 8"/>
          <p:cNvCxnSpPr/>
          <p:nvPr/>
        </p:nvCxnSpPr>
        <p:spPr>
          <a:xfrm flipV="1">
            <a:off x="643098" y="5653838"/>
            <a:ext cx="1407023" cy="2331287"/>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14" name="Cloud 13"/>
          <p:cNvSpPr/>
          <p:nvPr/>
        </p:nvSpPr>
        <p:spPr>
          <a:xfrm>
            <a:off x="1808969" y="6911288"/>
            <a:ext cx="4132262" cy="1158875"/>
          </a:xfrm>
          <a:prstGeom prst="cloud">
            <a:avLst/>
          </a:prstGeom>
          <a:solidFill>
            <a:srgbClr val="FFFF00">
              <a:alpha val="61961"/>
            </a:srgb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Comic Sans MS" pitchFamily="66" charset="0"/>
              </a:rPr>
              <a:t>15 is the person staying in the unit [0]</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49275" y="328613"/>
            <a:ext cx="5829300" cy="730250"/>
          </a:xfrm>
        </p:spPr>
        <p:txBody>
          <a:bodyPr/>
          <a:lstStyle/>
          <a:p>
            <a:pPr eaLnBrk="1" hangingPunct="1"/>
            <a:r>
              <a:rPr lang="en-US"/>
              <a:t>Summary</a:t>
            </a:r>
          </a:p>
        </p:txBody>
      </p:sp>
      <p:sp>
        <p:nvSpPr>
          <p:cNvPr id="16387" name="Rectangle 3"/>
          <p:cNvSpPr>
            <a:spLocks noGrp="1" noChangeArrowheads="1"/>
          </p:cNvSpPr>
          <p:nvPr>
            <p:ph type="body" idx="1"/>
          </p:nvPr>
        </p:nvSpPr>
        <p:spPr>
          <a:xfrm>
            <a:off x="442460" y="1285177"/>
            <a:ext cx="5829300" cy="6472238"/>
          </a:xfrm>
        </p:spPr>
        <p:txBody>
          <a:bodyPr/>
          <a:lstStyle/>
          <a:p>
            <a:pPr lvl="1" eaLnBrk="1" hangingPunct="1">
              <a:spcBef>
                <a:spcPct val="50000"/>
              </a:spcBef>
              <a:buClrTx/>
              <a:buFont typeface="Wingdings" pitchFamily="2" charset="2"/>
              <a:buChar char="§"/>
            </a:pPr>
            <a:r>
              <a:rPr lang="en-US" sz="2400" dirty="0"/>
              <a:t>How to declare an array</a:t>
            </a:r>
          </a:p>
          <a:p>
            <a:pPr lvl="1" eaLnBrk="1" hangingPunct="1">
              <a:spcBef>
                <a:spcPct val="50000"/>
              </a:spcBef>
              <a:buClrTx/>
              <a:buFont typeface="Wingdings" pitchFamily="2" charset="2"/>
              <a:buChar char="§"/>
            </a:pPr>
            <a:r>
              <a:rPr lang="en-US" sz="2400" dirty="0"/>
              <a:t>How to </a:t>
            </a:r>
            <a:r>
              <a:rPr lang="en-US" sz="2400" dirty="0" err="1"/>
              <a:t>initialise</a:t>
            </a:r>
            <a:r>
              <a:rPr lang="en-US" sz="2400" dirty="0"/>
              <a:t> an array</a:t>
            </a:r>
          </a:p>
          <a:p>
            <a:pPr lvl="1" eaLnBrk="1" hangingPunct="1">
              <a:spcBef>
                <a:spcPct val="50000"/>
              </a:spcBef>
              <a:buClrTx/>
              <a:buFont typeface="Wingdings" pitchFamily="2" charset="2"/>
              <a:buChar char="§"/>
            </a:pPr>
            <a:r>
              <a:rPr lang="en-GB" sz="2400" dirty="0"/>
              <a:t>How to create an empty array</a:t>
            </a:r>
            <a:endParaRPr lang="en-US" sz="2400" dirty="0"/>
          </a:p>
          <a:p>
            <a:pPr lvl="1" eaLnBrk="1" hangingPunct="1">
              <a:spcBef>
                <a:spcPct val="50000"/>
              </a:spcBef>
              <a:buClrTx/>
              <a:buFont typeface="Wingdings" pitchFamily="2" charset="2"/>
              <a:buChar char="§"/>
            </a:pPr>
            <a:r>
              <a:rPr lang="en-US" sz="2400" dirty="0"/>
              <a:t>How to access an array’s elements by using the index to:</a:t>
            </a:r>
          </a:p>
          <a:p>
            <a:pPr lvl="2" eaLnBrk="1" hangingPunct="1">
              <a:spcBef>
                <a:spcPct val="50000"/>
              </a:spcBef>
              <a:buClrTx/>
              <a:buFont typeface="Wingdings" pitchFamily="2" charset="2"/>
              <a:buChar char="§"/>
            </a:pPr>
            <a:r>
              <a:rPr lang="en-US" sz="2400" b="1" dirty="0"/>
              <a:t>obtain data </a:t>
            </a:r>
          </a:p>
          <a:p>
            <a:pPr lvl="2" eaLnBrk="1" hangingPunct="1">
              <a:spcBef>
                <a:spcPct val="50000"/>
              </a:spcBef>
              <a:buClrTx/>
              <a:buFont typeface="Wingdings" pitchFamily="2" charset="2"/>
              <a:buChar char="§"/>
            </a:pPr>
            <a:r>
              <a:rPr lang="en-US" sz="2400" b="1" dirty="0"/>
              <a:t>store data</a:t>
            </a:r>
            <a:r>
              <a:rPr lang="en-US" sz="2000" dirty="0"/>
              <a:t> </a:t>
            </a:r>
          </a:p>
          <a:p>
            <a:pPr lvl="1" eaLnBrk="1" hangingPunct="1">
              <a:spcBef>
                <a:spcPct val="50000"/>
              </a:spcBef>
              <a:buClrTx/>
              <a:buNone/>
            </a:pPr>
            <a:endParaRPr lang="en-US" sz="2400" dirty="0"/>
          </a:p>
          <a:p>
            <a:pPr eaLnBrk="1" hangingPunct="1"/>
            <a:endParaRPr lang="en-GB" dirty="0"/>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- 1D Array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58357459"/>
              </p:ext>
            </p:extLst>
          </p:nvPr>
        </p:nvGraphicFramePr>
        <p:xfrm>
          <a:off x="535080" y="1701800"/>
          <a:ext cx="6172200" cy="6472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719519" y="5930964"/>
            <a:ext cx="2462212" cy="646112"/>
          </a:xfrm>
          <a:prstGeom prst="rect">
            <a:avLst/>
          </a:prstGeom>
          <a:noFill/>
        </p:spPr>
        <p:txBody>
          <a:bodyPr>
            <a:spAutoFit/>
          </a:bodyPr>
          <a:lstStyle/>
          <a:p>
            <a:pPr>
              <a:defRPr/>
            </a:pPr>
            <a:r>
              <a:rPr lang="en-US" sz="3600" dirty="0">
                <a:effectLst>
                  <a:outerShdw blurRad="38100" dist="38100" dir="2700000" algn="tl">
                    <a:srgbClr val="000000">
                      <a:alpha val="43137"/>
                    </a:srgbClr>
                  </a:outerShdw>
                </a:effectLst>
              </a:rPr>
              <a:t>1D array</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GB"/>
              <a:t>Practical 2A</a:t>
            </a:r>
          </a:p>
        </p:txBody>
      </p:sp>
      <p:sp>
        <p:nvSpPr>
          <p:cNvPr id="17411" name="Rectangle 3"/>
          <p:cNvSpPr>
            <a:spLocks noGrp="1" noChangeArrowheads="1"/>
          </p:cNvSpPr>
          <p:nvPr>
            <p:ph type="body" idx="1"/>
          </p:nvPr>
        </p:nvSpPr>
        <p:spPr/>
        <p:txBody>
          <a:bodyPr/>
          <a:lstStyle/>
          <a:p>
            <a:pPr marL="533400" indent="-533400" eaLnBrk="1" hangingPunct="1">
              <a:buClr>
                <a:srgbClr val="FF0000"/>
              </a:buClr>
              <a:buFont typeface="Wingdings" pitchFamily="2" charset="2"/>
              <a:buAutoNum type="arabicPeriod"/>
            </a:pPr>
            <a:r>
              <a:rPr lang="en-GB" sz="2000" dirty="0">
                <a:latin typeface="Verdana" pitchFamily="34" charset="0"/>
              </a:rPr>
              <a:t>Write C# statements to create and </a:t>
            </a:r>
            <a:r>
              <a:rPr lang="en-GB" sz="2000" dirty="0" err="1">
                <a:latin typeface="Verdana" pitchFamily="34" charset="0"/>
              </a:rPr>
              <a:t>intialize</a:t>
            </a:r>
            <a:r>
              <a:rPr lang="en-GB" sz="2000" dirty="0">
                <a:latin typeface="Verdana" pitchFamily="34" charset="0"/>
              </a:rPr>
              <a:t> the arrays below:</a:t>
            </a:r>
          </a:p>
          <a:p>
            <a:pPr marL="533400" indent="-533400" eaLnBrk="1" hangingPunct="1">
              <a:buClr>
                <a:srgbClr val="FF0000"/>
              </a:buClr>
              <a:buFont typeface="Wingdings" pitchFamily="2" charset="2"/>
              <a:buNone/>
            </a:pPr>
            <a:endParaRPr lang="en-GB" sz="2000" dirty="0">
              <a:latin typeface="Verdana" pitchFamily="34" charset="0"/>
            </a:endParaRPr>
          </a:p>
          <a:p>
            <a:pPr marL="533400" indent="-533400" eaLnBrk="1" hangingPunct="1">
              <a:spcBef>
                <a:spcPct val="50000"/>
              </a:spcBef>
              <a:buClr>
                <a:srgbClr val="FF0000"/>
              </a:buClr>
              <a:buFont typeface="Wingdings" pitchFamily="2" charset="2"/>
              <a:buAutoNum type="alphaLcParenBoth"/>
            </a:pPr>
            <a:r>
              <a:rPr lang="en-GB" sz="2000" dirty="0">
                <a:latin typeface="Verdana" pitchFamily="34" charset="0"/>
              </a:rPr>
              <a:t>an array of age containing these integers -  11, 22, 31, 44.</a:t>
            </a:r>
          </a:p>
          <a:p>
            <a:pPr marL="533400" indent="-533400" eaLnBrk="1" hangingPunct="1">
              <a:spcBef>
                <a:spcPct val="50000"/>
              </a:spcBef>
              <a:buClr>
                <a:srgbClr val="FF0000"/>
              </a:buClr>
              <a:buFont typeface="Wingdings" pitchFamily="2" charset="2"/>
              <a:buAutoNum type="alphaLcParenBoth"/>
            </a:pPr>
            <a:endParaRPr lang="en-GB" sz="2000" dirty="0">
              <a:latin typeface="Verdana" pitchFamily="34" charset="0"/>
            </a:endParaRPr>
          </a:p>
          <a:p>
            <a:pPr marL="533400" indent="-533400" eaLnBrk="1" hangingPunct="1">
              <a:spcBef>
                <a:spcPct val="50000"/>
              </a:spcBef>
              <a:buClr>
                <a:srgbClr val="FF0000"/>
              </a:buClr>
              <a:buFont typeface="Wingdings" pitchFamily="2" charset="2"/>
              <a:buAutoNum type="alphaLcParenBoth"/>
            </a:pPr>
            <a:r>
              <a:rPr lang="en-GB" sz="2000" dirty="0">
                <a:latin typeface="Verdana" pitchFamily="34" charset="0"/>
              </a:rPr>
              <a:t>an array of height containing  these values - 1.32, 1.40, 1.55, 2.0, 1.8</a:t>
            </a:r>
          </a:p>
          <a:p>
            <a:pPr marL="533400" indent="-533400" eaLnBrk="1" hangingPunct="1">
              <a:spcBef>
                <a:spcPct val="50000"/>
              </a:spcBef>
              <a:buClr>
                <a:srgbClr val="FF0000"/>
              </a:buClr>
              <a:buFont typeface="Wingdings" pitchFamily="2" charset="2"/>
              <a:buAutoNum type="alphaLcParenBoth"/>
            </a:pPr>
            <a:endParaRPr lang="en-GB" sz="2000" dirty="0">
              <a:latin typeface="Verdana" pitchFamily="34" charset="0"/>
            </a:endParaRPr>
          </a:p>
          <a:p>
            <a:pPr marL="533400" indent="-533400" eaLnBrk="1" hangingPunct="1">
              <a:spcBef>
                <a:spcPct val="50000"/>
              </a:spcBef>
              <a:buClr>
                <a:srgbClr val="FF0000"/>
              </a:buClr>
              <a:buFont typeface="Wingdings" pitchFamily="2" charset="2"/>
              <a:buNone/>
            </a:pPr>
            <a:r>
              <a:rPr lang="en-GB" sz="2000" dirty="0">
                <a:solidFill>
                  <a:srgbClr val="FF0000"/>
                </a:solidFill>
                <a:latin typeface="Verdana" pitchFamily="34" charset="0"/>
              </a:rPr>
              <a:t>(c)</a:t>
            </a:r>
            <a:r>
              <a:rPr lang="en-GB" sz="2000" dirty="0">
                <a:latin typeface="Verdana" pitchFamily="34" charset="0"/>
              </a:rPr>
              <a:t>	an array of names containing these strings – Alex Foley, Jane Smith, Louis </a:t>
            </a:r>
            <a:r>
              <a:rPr lang="en-GB" sz="2000" dirty="0" err="1">
                <a:latin typeface="Verdana" pitchFamily="34" charset="0"/>
              </a:rPr>
              <a:t>Vuitton</a:t>
            </a:r>
            <a:r>
              <a:rPr lang="en-GB" sz="2000" dirty="0">
                <a:latin typeface="Verdana" pitchFamily="34" charset="0"/>
              </a:rPr>
              <a:t>, Jack </a:t>
            </a:r>
            <a:r>
              <a:rPr lang="en-GB" sz="2000" dirty="0" err="1">
                <a:latin typeface="Verdana" pitchFamily="34" charset="0"/>
              </a:rPr>
              <a:t>Seah</a:t>
            </a:r>
            <a:endParaRPr lang="en-GB" sz="2000" dirty="0">
              <a:latin typeface="Verdana" pitchFamily="34" charset="0"/>
            </a:endParaRPr>
          </a:p>
          <a:p>
            <a:pPr marL="533400" indent="-533400" eaLnBrk="1" hangingPunct="1">
              <a:buClr>
                <a:srgbClr val="FF0000"/>
              </a:buClr>
              <a:buFont typeface="Wingdings" pitchFamily="2" charset="2"/>
              <a:buNone/>
            </a:pPr>
            <a:endParaRPr lang="en-GB" sz="2000" dirty="0">
              <a:latin typeface="Verdana" pitchFamily="34" charset="0"/>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GB"/>
              <a:t>Practical 2A</a:t>
            </a:r>
            <a:endParaRPr lang="en-US"/>
          </a:p>
        </p:txBody>
      </p:sp>
      <p:sp>
        <p:nvSpPr>
          <p:cNvPr id="18435" name="Rectangle 3"/>
          <p:cNvSpPr>
            <a:spLocks noGrp="1" noChangeArrowheads="1"/>
          </p:cNvSpPr>
          <p:nvPr>
            <p:ph type="body" idx="1"/>
          </p:nvPr>
        </p:nvSpPr>
        <p:spPr>
          <a:xfrm>
            <a:off x="474792" y="1510888"/>
            <a:ext cx="5829300" cy="6472238"/>
          </a:xfrm>
        </p:spPr>
        <p:txBody>
          <a:bodyPr/>
          <a:lstStyle/>
          <a:p>
            <a:pPr marL="457200" indent="-457200" eaLnBrk="1" hangingPunct="1">
              <a:buClr>
                <a:srgbClr val="0033CC"/>
              </a:buClr>
              <a:buSzTx/>
              <a:buFont typeface="Wingdings" pitchFamily="2" charset="2"/>
              <a:buAutoNum type="arabicPeriod" startAt="2"/>
            </a:pPr>
            <a:r>
              <a:rPr lang="en-GB" sz="2000" dirty="0"/>
              <a:t>Write the C# statements to create empty arrays (using New keyword) for the following cases.  You can define your own array names.</a:t>
            </a:r>
          </a:p>
          <a:p>
            <a:pPr marL="457200" indent="-457200" eaLnBrk="1" hangingPunct="1">
              <a:buClr>
                <a:srgbClr val="0033CC"/>
              </a:buClr>
              <a:buSzTx/>
              <a:buFont typeface="Wingdings" pitchFamily="2" charset="2"/>
              <a:buNone/>
            </a:pPr>
            <a:endParaRPr lang="en-GB" sz="2000" dirty="0"/>
          </a:p>
          <a:p>
            <a:pPr marL="457200" indent="-457200" eaLnBrk="1" hangingPunct="1">
              <a:buClr>
                <a:srgbClr val="0033CC"/>
              </a:buClr>
              <a:buSzTx/>
              <a:buFont typeface="Wingdings" pitchFamily="2" charset="2"/>
              <a:buAutoNum type="alphaLcParenBoth"/>
            </a:pPr>
            <a:r>
              <a:rPr lang="en-GB" sz="2000" dirty="0"/>
              <a:t>10 integer values to capture Marks. Set the 1</a:t>
            </a:r>
            <a:r>
              <a:rPr lang="en-GB" sz="2000" baseline="30000" dirty="0"/>
              <a:t>st</a:t>
            </a:r>
            <a:r>
              <a:rPr lang="en-GB" sz="2000" dirty="0"/>
              <a:t> mark as 80</a:t>
            </a:r>
          </a:p>
          <a:p>
            <a:pPr marL="457200" indent="-457200" eaLnBrk="1" hangingPunct="1">
              <a:buClr>
                <a:srgbClr val="0033CC"/>
              </a:buClr>
              <a:buSzTx/>
              <a:buFont typeface="Wingdings" pitchFamily="2" charset="2"/>
              <a:buAutoNum type="alphaLcParenBoth"/>
            </a:pPr>
            <a:endParaRPr lang="en-GB" sz="2000" dirty="0"/>
          </a:p>
          <a:p>
            <a:pPr marL="457200" indent="-457200" eaLnBrk="1" hangingPunct="1">
              <a:buClr>
                <a:srgbClr val="0033CC"/>
              </a:buClr>
              <a:buSzTx/>
              <a:buFont typeface="Wingdings" pitchFamily="2" charset="2"/>
              <a:buAutoNum type="alphaLcParenBoth"/>
            </a:pPr>
            <a:endParaRPr lang="en-GB" sz="2000" dirty="0"/>
          </a:p>
          <a:p>
            <a:pPr marL="457200" indent="-457200" eaLnBrk="1" hangingPunct="1">
              <a:buClr>
                <a:srgbClr val="0033CC"/>
              </a:buClr>
              <a:buSzTx/>
              <a:buFont typeface="Wingdings" pitchFamily="2" charset="2"/>
              <a:buAutoNum type="alphaLcParenBoth"/>
            </a:pPr>
            <a:r>
              <a:rPr lang="en-GB" sz="2000" dirty="0"/>
              <a:t>12 float values to capture Sales. Set the 10</a:t>
            </a:r>
            <a:r>
              <a:rPr lang="en-GB" sz="2000" baseline="30000" dirty="0"/>
              <a:t>th</a:t>
            </a:r>
            <a:r>
              <a:rPr lang="en-GB" sz="2000" dirty="0"/>
              <a:t> value as 900.99</a:t>
            </a:r>
          </a:p>
          <a:p>
            <a:pPr marL="457200" indent="-457200" eaLnBrk="1" hangingPunct="1">
              <a:buClr>
                <a:srgbClr val="0033CC"/>
              </a:buClr>
              <a:buSzTx/>
              <a:buFont typeface="Wingdings" pitchFamily="2" charset="2"/>
              <a:buAutoNum type="alphaLcParenBoth"/>
            </a:pPr>
            <a:endParaRPr lang="en-GB" sz="2000" dirty="0"/>
          </a:p>
          <a:p>
            <a:pPr marL="457200" indent="-457200" eaLnBrk="1" hangingPunct="1">
              <a:buClr>
                <a:srgbClr val="0033CC"/>
              </a:buClr>
              <a:buSzTx/>
              <a:buFont typeface="Wingdings" pitchFamily="2" charset="2"/>
              <a:buAutoNum type="alphaLcParenBoth"/>
            </a:pPr>
            <a:endParaRPr lang="en-GB" sz="2000" dirty="0"/>
          </a:p>
          <a:p>
            <a:pPr marL="457200" indent="-457200" eaLnBrk="1" hangingPunct="1">
              <a:buClr>
                <a:srgbClr val="0033CC"/>
              </a:buClr>
              <a:buSzTx/>
              <a:buFont typeface="Wingdings" pitchFamily="2" charset="2"/>
              <a:buAutoNum type="alphaLcParenBoth"/>
            </a:pPr>
            <a:r>
              <a:rPr lang="en-GB" sz="2000" dirty="0"/>
              <a:t>6 string values to capture Months. Set the last month as “June”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GB"/>
              <a:t>Practical 2A</a:t>
            </a:r>
            <a:endParaRPr lang="en-US"/>
          </a:p>
        </p:txBody>
      </p:sp>
      <p:sp>
        <p:nvSpPr>
          <p:cNvPr id="19459" name="Rectangle 3"/>
          <p:cNvSpPr>
            <a:spLocks noGrp="1" noChangeArrowheads="1"/>
          </p:cNvSpPr>
          <p:nvPr>
            <p:ph type="body" idx="1"/>
          </p:nvPr>
        </p:nvSpPr>
        <p:spPr>
          <a:xfrm>
            <a:off x="593725" y="1308716"/>
            <a:ext cx="6028748" cy="5443781"/>
          </a:xfrm>
        </p:spPr>
        <p:txBody>
          <a:bodyPr/>
          <a:lstStyle/>
          <a:p>
            <a:pPr marL="463550" indent="-463550" eaLnBrk="1" hangingPunct="1">
              <a:buClr>
                <a:srgbClr val="0033CC"/>
              </a:buClr>
              <a:buSzTx/>
              <a:buFont typeface="Wingdings" pitchFamily="2" charset="2"/>
              <a:buAutoNum type="arabicPeriod" startAt="3"/>
            </a:pPr>
            <a:r>
              <a:rPr lang="en-US" sz="1800" dirty="0"/>
              <a:t>Create a window application to perform the following tasks when user clicks “Click Me” button:</a:t>
            </a:r>
          </a:p>
          <a:p>
            <a:pPr marL="914400" lvl="1" indent="-336550" eaLnBrk="1" hangingPunct="1">
              <a:buClr>
                <a:srgbClr val="0033CC"/>
              </a:buClr>
              <a:buSzTx/>
              <a:buFontTx/>
              <a:buChar char="•"/>
            </a:pPr>
            <a:r>
              <a:rPr lang="en-US" sz="1800" dirty="0"/>
              <a:t>Create a string array named Friends with 3 elements using the “new” keyword.</a:t>
            </a:r>
          </a:p>
          <a:p>
            <a:pPr marL="914400" lvl="1" indent="-336550" eaLnBrk="1" hangingPunct="1">
              <a:buClr>
                <a:srgbClr val="0033CC"/>
              </a:buClr>
              <a:buSzTx/>
              <a:buFontTx/>
              <a:buChar char="•"/>
            </a:pPr>
            <a:r>
              <a:rPr lang="en-US" sz="1800" dirty="0"/>
              <a:t>Assign each array element with the following names – Suzie, Jackie, Tom (use array subscript or index)</a:t>
            </a:r>
          </a:p>
          <a:p>
            <a:pPr marL="914400" lvl="1" indent="-336550" eaLnBrk="1" hangingPunct="1">
              <a:buClr>
                <a:srgbClr val="0033CC"/>
              </a:buClr>
              <a:buSzTx/>
              <a:buFontTx/>
              <a:buChar char="•"/>
            </a:pPr>
            <a:r>
              <a:rPr lang="en-US" sz="1800" dirty="0"/>
              <a:t>Print out all the names using the array subscript or index.  Hint using </a:t>
            </a:r>
            <a:r>
              <a:rPr lang="en-US" sz="1800" dirty="0" err="1"/>
              <a:t>MessageBox</a:t>
            </a:r>
            <a:r>
              <a:rPr lang="en-US" sz="1800" dirty="0"/>
              <a:t>. Show ()</a:t>
            </a:r>
            <a:endParaRPr lang="en-GB" sz="1800" dirty="0"/>
          </a:p>
          <a:p>
            <a:pPr marL="0" indent="0" eaLnBrk="1" hangingPunct="1">
              <a:buClr>
                <a:srgbClr val="0033CC"/>
              </a:buClr>
              <a:buSzTx/>
              <a:buNone/>
            </a:pPr>
            <a:endParaRPr lang="en-US" sz="1800" dirty="0"/>
          </a:p>
          <a:p>
            <a:pPr marL="463550" indent="-463550" eaLnBrk="1" hangingPunct="1">
              <a:buNone/>
            </a:pPr>
            <a:r>
              <a:rPr lang="en-US" sz="1800" dirty="0"/>
              <a:t> Complete the program in the </a:t>
            </a:r>
            <a:r>
              <a:rPr lang="en-US" sz="1800" dirty="0" err="1"/>
              <a:t>BtnClickme_Click</a:t>
            </a:r>
            <a:r>
              <a:rPr lang="en-US" sz="1800" dirty="0"/>
              <a:t> method.</a:t>
            </a:r>
          </a:p>
          <a:p>
            <a:pPr marL="457200" indent="-457200" eaLnBrk="1" hangingPunct="1">
              <a:buClr>
                <a:srgbClr val="0033CC"/>
              </a:buClr>
              <a:buSzTx/>
              <a:buNone/>
            </a:pPr>
            <a:r>
              <a:rPr lang="en-US" sz="1600" dirty="0"/>
              <a:t> </a:t>
            </a:r>
          </a:p>
          <a:p>
            <a:pPr marL="457200" indent="-457200" eaLnBrk="1" hangingPunct="1">
              <a:buClr>
                <a:srgbClr val="0033CC"/>
              </a:buClr>
              <a:buSzTx/>
              <a:buNone/>
            </a:pPr>
            <a:r>
              <a:rPr lang="en-US" sz="1600" dirty="0"/>
              <a:t>private void </a:t>
            </a:r>
            <a:r>
              <a:rPr lang="en-US" sz="1600" dirty="0" err="1"/>
              <a:t>BtnClickme_Click</a:t>
            </a:r>
            <a:r>
              <a:rPr lang="en-US" sz="1600" dirty="0"/>
              <a:t>(object sender, </a:t>
            </a:r>
            <a:r>
              <a:rPr lang="en-US" sz="1600" dirty="0" err="1"/>
              <a:t>EventArgs</a:t>
            </a:r>
            <a:r>
              <a:rPr lang="en-US" sz="1600" dirty="0"/>
              <a:t> e)</a:t>
            </a:r>
          </a:p>
          <a:p>
            <a:pPr marL="457200" indent="-457200" eaLnBrk="1" hangingPunct="1">
              <a:buClr>
                <a:srgbClr val="0033CC"/>
              </a:buClr>
              <a:buSzTx/>
              <a:buNone/>
            </a:pPr>
            <a:r>
              <a:rPr lang="en-US" sz="1600" dirty="0"/>
              <a:t> {</a:t>
            </a:r>
          </a:p>
          <a:p>
            <a:pPr marL="463550" indent="-463550" eaLnBrk="1" hangingPunct="1">
              <a:buFont typeface="Wingdings" pitchFamily="2" charset="2"/>
              <a:buNone/>
            </a:pPr>
            <a:endParaRPr lang="en-US" sz="1600" dirty="0"/>
          </a:p>
          <a:p>
            <a:pPr marL="463550" indent="-463550" eaLnBrk="1" hangingPunct="1">
              <a:buFont typeface="Wingdings" pitchFamily="2" charset="2"/>
              <a:buNone/>
            </a:pPr>
            <a:r>
              <a:rPr lang="en-US" sz="1600" dirty="0"/>
              <a:t>}</a:t>
            </a:r>
          </a:p>
          <a:p>
            <a:pPr marL="463550" indent="-463550" eaLnBrk="1" hangingPunct="1">
              <a:buFont typeface="Wingdings" pitchFamily="2" charset="2"/>
              <a:buNone/>
            </a:pPr>
            <a:endParaRPr lang="en-US" sz="1800" dirty="0"/>
          </a:p>
        </p:txBody>
      </p:sp>
      <p:pic>
        <p:nvPicPr>
          <p:cNvPr id="2" name="Picture 1" descr="Form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9712" y="6423310"/>
            <a:ext cx="2286198" cy="2286198"/>
          </a:xfrm>
          <a:prstGeom prst="rect">
            <a:avLst/>
          </a:prstGeom>
        </p:spPr>
      </p:pic>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6387" y="6423310"/>
            <a:ext cx="1920407" cy="14250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GB" dirty="0"/>
              <a:t>Practical 2A</a:t>
            </a:r>
            <a:endParaRPr lang="en-US" dirty="0"/>
          </a:p>
        </p:txBody>
      </p:sp>
      <p:sp>
        <p:nvSpPr>
          <p:cNvPr id="20483" name="Rectangle 3"/>
          <p:cNvSpPr>
            <a:spLocks noGrp="1" noChangeArrowheads="1"/>
          </p:cNvSpPr>
          <p:nvPr>
            <p:ph type="body" idx="1"/>
          </p:nvPr>
        </p:nvSpPr>
        <p:spPr>
          <a:xfrm>
            <a:off x="576280" y="1385252"/>
            <a:ext cx="5829300" cy="7385896"/>
          </a:xfrm>
        </p:spPr>
        <p:txBody>
          <a:bodyPr>
            <a:normAutofit/>
          </a:bodyPr>
          <a:lstStyle/>
          <a:p>
            <a:pPr marL="457200" indent="-457200" eaLnBrk="1" hangingPunct="1">
              <a:buClr>
                <a:srgbClr val="0033CC"/>
              </a:buClr>
              <a:buSzTx/>
              <a:buFont typeface="Wingdings" pitchFamily="2" charset="2"/>
              <a:buAutoNum type="arabicPeriod" startAt="4"/>
            </a:pPr>
            <a:r>
              <a:rPr lang="en-US" sz="1800" dirty="0"/>
              <a:t>A class can take up to 5 students. Write a C# window application program, when user clicks Calculate button, it captures the marks of the 5 students (</a:t>
            </a:r>
            <a:r>
              <a:rPr lang="en-US" sz="1800" dirty="0" err="1"/>
              <a:t>e.g</a:t>
            </a:r>
            <a:r>
              <a:rPr lang="en-US" sz="1800" dirty="0"/>
              <a:t> 75) and Calculates the average mark.  Use array subscript or index (no looping). </a:t>
            </a:r>
          </a:p>
          <a:p>
            <a:pPr marL="457200" indent="-457200" eaLnBrk="1" hangingPunct="1">
              <a:buClr>
                <a:srgbClr val="0033CC"/>
              </a:buClr>
              <a:buSzTx/>
              <a:buFont typeface="Wingdings" pitchFamily="2" charset="2"/>
              <a:buNone/>
            </a:pPr>
            <a:r>
              <a:rPr lang="en-US" sz="1800" dirty="0"/>
              <a:t>        </a:t>
            </a:r>
          </a:p>
          <a:p>
            <a:pPr marL="457200" indent="-457200" eaLnBrk="1" hangingPunct="1">
              <a:buClr>
                <a:srgbClr val="0033CC"/>
              </a:buClr>
              <a:buSzTx/>
              <a:buFont typeface="Wingdings" pitchFamily="2" charset="2"/>
              <a:buNone/>
            </a:pPr>
            <a:endParaRPr lang="en-US" sz="1800" dirty="0"/>
          </a:p>
          <a:p>
            <a:pPr marL="457200" indent="-457200" eaLnBrk="1" hangingPunct="1">
              <a:buClr>
                <a:srgbClr val="0033CC"/>
              </a:buClr>
              <a:buSzTx/>
              <a:buFont typeface="Wingdings" pitchFamily="2" charset="2"/>
              <a:buNone/>
            </a:pPr>
            <a:endParaRPr lang="en-US" sz="1800" dirty="0"/>
          </a:p>
          <a:p>
            <a:pPr marL="457200" indent="-457200" eaLnBrk="1" hangingPunct="1">
              <a:buClr>
                <a:srgbClr val="0033CC"/>
              </a:buClr>
              <a:buSzTx/>
              <a:buNone/>
            </a:pPr>
            <a:r>
              <a:rPr lang="en-US" sz="1400" dirty="0"/>
              <a:t> </a:t>
            </a:r>
            <a:endParaRPr lang="en-US" sz="1600" dirty="0"/>
          </a:p>
        </p:txBody>
      </p:sp>
      <p:sp>
        <p:nvSpPr>
          <p:cNvPr id="4" name="Content Placeholder 2"/>
          <p:cNvSpPr txBox="1">
            <a:spLocks/>
          </p:cNvSpPr>
          <p:nvPr/>
        </p:nvSpPr>
        <p:spPr bwMode="auto">
          <a:xfrm>
            <a:off x="1066800" y="3635886"/>
            <a:ext cx="5791200" cy="5620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90000"/>
              <a:buFont typeface="Wingdings"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itchFamily="2" charset="2"/>
              <a:buChar char="n"/>
              <a:defRPr sz="2000">
                <a:solidFill>
                  <a:schemeClr val="tx1"/>
                </a:solidFill>
                <a:latin typeface="+mn-lt"/>
              </a:defRPr>
            </a:lvl2pPr>
            <a:lvl3pPr marL="1143000" indent="-228600" algn="l" rtl="0" eaLnBrk="0" fontAlgn="base" hangingPunct="0">
              <a:spcBef>
                <a:spcPct val="20000"/>
              </a:spcBef>
              <a:spcAft>
                <a:spcPct val="0"/>
              </a:spcAft>
              <a:buClr>
                <a:schemeClr val="folHlink"/>
              </a:buClr>
              <a:buSzPct val="55000"/>
              <a:buFont typeface="Wingdings" pitchFamily="2" charset="2"/>
              <a:buChar char="n"/>
              <a:defRPr>
                <a:solidFill>
                  <a:schemeClr val="tx1"/>
                </a:solidFill>
                <a:latin typeface="+mn-lt"/>
              </a:defRPr>
            </a:lvl3pPr>
            <a:lvl4pPr marL="1600200" indent="-228600" algn="l" rtl="0" eaLnBrk="0" fontAlgn="base" hangingPunct="0">
              <a:spcBef>
                <a:spcPct val="20000"/>
              </a:spcBef>
              <a:spcAft>
                <a:spcPct val="0"/>
              </a:spcAft>
              <a:buClr>
                <a:schemeClr val="accent1"/>
              </a:buClr>
              <a:buFont typeface="Wingdings" pitchFamily="2" charset="2"/>
              <a:buChar char="§"/>
              <a:defRPr>
                <a:solidFill>
                  <a:schemeClr val="tx1"/>
                </a:solidFill>
                <a:latin typeface="+mn-lt"/>
              </a:defRPr>
            </a:lvl4pPr>
            <a:lvl5pPr marL="2057400" indent="-228600" algn="l" rtl="0" eaLnBrk="0" fontAlgn="base" hangingPunct="0">
              <a:spcBef>
                <a:spcPct val="20000"/>
              </a:spcBef>
              <a:spcAft>
                <a:spcPct val="0"/>
              </a:spcAft>
              <a:buClr>
                <a:schemeClr val="accent1"/>
              </a:buClr>
              <a:buFont typeface="Wingdings" pitchFamily="2" charset="2"/>
              <a:buChar char="§"/>
              <a:defRPr>
                <a:solidFill>
                  <a:schemeClr val="tx1"/>
                </a:solidFill>
                <a:latin typeface="+mn-lt"/>
              </a:defRPr>
            </a:lvl5pPr>
            <a:lvl6pPr marL="2514600" indent="-228600" algn="l" rtl="0" fontAlgn="base">
              <a:spcBef>
                <a:spcPct val="20000"/>
              </a:spcBef>
              <a:spcAft>
                <a:spcPct val="0"/>
              </a:spcAft>
              <a:buClr>
                <a:schemeClr val="accent1"/>
              </a:buClr>
              <a:buFont typeface="Wingdings" pitchFamily="2" charset="2"/>
              <a:buChar char="§"/>
              <a:defRPr>
                <a:solidFill>
                  <a:schemeClr val="tx1"/>
                </a:solidFill>
                <a:latin typeface="+mn-lt"/>
              </a:defRPr>
            </a:lvl6pPr>
            <a:lvl7pPr marL="2971800" indent="-228600" algn="l" rtl="0" fontAlgn="base">
              <a:spcBef>
                <a:spcPct val="20000"/>
              </a:spcBef>
              <a:spcAft>
                <a:spcPct val="0"/>
              </a:spcAft>
              <a:buClr>
                <a:schemeClr val="accent1"/>
              </a:buClr>
              <a:buFont typeface="Wingdings" pitchFamily="2" charset="2"/>
              <a:buChar char="§"/>
              <a:defRPr>
                <a:solidFill>
                  <a:schemeClr val="tx1"/>
                </a:solidFill>
                <a:latin typeface="+mn-lt"/>
              </a:defRPr>
            </a:lvl7pPr>
            <a:lvl8pPr marL="3429000" indent="-228600" algn="l" rtl="0" fontAlgn="base">
              <a:spcBef>
                <a:spcPct val="20000"/>
              </a:spcBef>
              <a:spcAft>
                <a:spcPct val="0"/>
              </a:spcAft>
              <a:buClr>
                <a:schemeClr val="accent1"/>
              </a:buClr>
              <a:buFont typeface="Wingdings" pitchFamily="2" charset="2"/>
              <a:buChar char="§"/>
              <a:defRPr>
                <a:solidFill>
                  <a:schemeClr val="tx1"/>
                </a:solidFill>
                <a:latin typeface="+mn-lt"/>
              </a:defRPr>
            </a:lvl8pPr>
            <a:lvl9pPr marL="3886200" indent="-228600" algn="l" rtl="0" fontAlgn="base">
              <a:spcBef>
                <a:spcPct val="20000"/>
              </a:spcBef>
              <a:spcAft>
                <a:spcPct val="0"/>
              </a:spcAft>
              <a:buClr>
                <a:schemeClr val="accent1"/>
              </a:buClr>
              <a:buFont typeface="Wingdings" pitchFamily="2" charset="2"/>
              <a:buChar char="§"/>
              <a:defRPr>
                <a:solidFill>
                  <a:schemeClr val="tx1"/>
                </a:solidFill>
                <a:latin typeface="+mn-lt"/>
              </a:defRPr>
            </a:lvl9pPr>
          </a:lstStyle>
          <a:p>
            <a:pPr marL="0" indent="0">
              <a:buNone/>
            </a:pPr>
            <a:r>
              <a:rPr lang="en-GB" sz="1800" dirty="0"/>
              <a:t>Create the GUI form as in the figure.  </a:t>
            </a:r>
          </a:p>
          <a:p>
            <a:pPr marL="0" indent="0">
              <a:buFont typeface="Wingdings" pitchFamily="2" charset="2"/>
              <a:buNone/>
            </a:pPr>
            <a:endParaRPr lang="en-SG" sz="2000" dirty="0"/>
          </a:p>
        </p:txBody>
      </p:sp>
      <p:pic>
        <p:nvPicPr>
          <p:cNvPr id="5" name="Picture 4" descr="Form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0185" y="4893956"/>
            <a:ext cx="3195559" cy="29317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Practical 2A</a:t>
            </a:r>
            <a:endParaRPr lang="en-SG" dirty="0"/>
          </a:p>
        </p:txBody>
      </p:sp>
      <p:sp>
        <p:nvSpPr>
          <p:cNvPr id="4" name="Content Placeholder 3"/>
          <p:cNvSpPr>
            <a:spLocks noGrp="1"/>
          </p:cNvSpPr>
          <p:nvPr>
            <p:ph idx="1"/>
          </p:nvPr>
        </p:nvSpPr>
        <p:spPr>
          <a:xfrm>
            <a:off x="685800" y="1385455"/>
            <a:ext cx="5829300" cy="6802581"/>
          </a:xfrm>
        </p:spPr>
        <p:txBody>
          <a:bodyPr/>
          <a:lstStyle/>
          <a:p>
            <a:pPr marL="457200" indent="-457200" eaLnBrk="1" hangingPunct="1">
              <a:buClr>
                <a:srgbClr val="0033CC"/>
              </a:buClr>
              <a:buSzTx/>
              <a:buNone/>
            </a:pPr>
            <a:r>
              <a:rPr lang="en-US" sz="1600" dirty="0"/>
              <a:t>Complete the program in the </a:t>
            </a:r>
            <a:r>
              <a:rPr lang="en-US" sz="1600" b="1" dirty="0" err="1"/>
              <a:t>BtnCalculate</a:t>
            </a:r>
            <a:r>
              <a:rPr lang="en-US" sz="1600" b="1" dirty="0"/>
              <a:t> method </a:t>
            </a:r>
            <a:r>
              <a:rPr lang="en-US" sz="1600" dirty="0"/>
              <a:t>provided.</a:t>
            </a:r>
          </a:p>
          <a:p>
            <a:pPr marL="457200" indent="-457200" eaLnBrk="1" hangingPunct="1">
              <a:buClr>
                <a:srgbClr val="0033CC"/>
              </a:buClr>
              <a:buSzTx/>
              <a:buNone/>
            </a:pPr>
            <a:r>
              <a:rPr lang="en-GB" sz="1600" dirty="0"/>
              <a:t>Test your result in the window application you have created.</a:t>
            </a:r>
          </a:p>
          <a:p>
            <a:pPr marL="457200" indent="-457200" eaLnBrk="1" hangingPunct="1">
              <a:buClr>
                <a:srgbClr val="0033CC"/>
              </a:buClr>
              <a:buSzTx/>
              <a:buNone/>
            </a:pPr>
            <a:endParaRPr lang="en-US" sz="1600" dirty="0"/>
          </a:p>
          <a:p>
            <a:pPr marL="457200" indent="-457200" eaLnBrk="1" hangingPunct="1">
              <a:buClr>
                <a:srgbClr val="0033CC"/>
              </a:buClr>
              <a:buSzTx/>
              <a:buNone/>
            </a:pPr>
            <a:r>
              <a:rPr lang="en-US" sz="1600" dirty="0"/>
              <a:t>private void </a:t>
            </a:r>
            <a:r>
              <a:rPr lang="en-US" sz="1600" dirty="0" err="1"/>
              <a:t>BtnCalculate_Click</a:t>
            </a:r>
            <a:r>
              <a:rPr lang="en-US" sz="1600" dirty="0"/>
              <a:t>(object sender, </a:t>
            </a:r>
            <a:r>
              <a:rPr lang="en-US" sz="1600" dirty="0" err="1"/>
              <a:t>EventArgs</a:t>
            </a:r>
            <a:r>
              <a:rPr lang="en-US" sz="1600" dirty="0"/>
              <a:t> e)</a:t>
            </a:r>
          </a:p>
          <a:p>
            <a:pPr marL="457200" indent="-457200" eaLnBrk="1" hangingPunct="1">
              <a:buClr>
                <a:srgbClr val="0033CC"/>
              </a:buClr>
              <a:buSzTx/>
              <a:buNone/>
            </a:pPr>
            <a:r>
              <a:rPr lang="en-US" sz="1600" dirty="0"/>
              <a:t> {</a:t>
            </a:r>
          </a:p>
          <a:p>
            <a:pPr marL="457200" indent="-457200" eaLnBrk="1" hangingPunct="1">
              <a:buClr>
                <a:srgbClr val="0033CC"/>
              </a:buClr>
              <a:buSzTx/>
              <a:buNone/>
            </a:pPr>
            <a:r>
              <a:rPr lang="en-US" sz="1600" dirty="0"/>
              <a:t>	// create array using New keyword</a:t>
            </a:r>
          </a:p>
          <a:p>
            <a:pPr marL="457200" indent="-457200" eaLnBrk="1" hangingPunct="1">
              <a:buClr>
                <a:srgbClr val="0033CC"/>
              </a:buClr>
              <a:buSzTx/>
              <a:buNone/>
            </a:pPr>
            <a:r>
              <a:rPr lang="en-US" sz="1600" dirty="0"/>
              <a:t> </a:t>
            </a:r>
            <a:r>
              <a:rPr lang="en-US" sz="1600" dirty="0" err="1"/>
              <a:t>int</a:t>
            </a:r>
            <a:r>
              <a:rPr lang="en-US" sz="1600" dirty="0"/>
              <a:t> [] Mark = _______ </a:t>
            </a:r>
            <a:r>
              <a:rPr lang="en-US" sz="1600" dirty="0" err="1"/>
              <a:t>int</a:t>
            </a:r>
            <a:r>
              <a:rPr lang="en-US" sz="1600" dirty="0"/>
              <a:t> [ ______ ];</a:t>
            </a:r>
          </a:p>
          <a:p>
            <a:pPr marL="457200" indent="-457200" eaLnBrk="1" hangingPunct="1">
              <a:buClr>
                <a:srgbClr val="0033CC"/>
              </a:buClr>
              <a:buSzTx/>
              <a:buNone/>
            </a:pPr>
            <a:r>
              <a:rPr lang="en-US" sz="1600" dirty="0"/>
              <a:t> </a:t>
            </a:r>
            <a:r>
              <a:rPr lang="en-US" sz="1600" dirty="0" err="1"/>
              <a:t>int</a:t>
            </a:r>
            <a:r>
              <a:rPr lang="en-US" sz="1600" dirty="0"/>
              <a:t> total;</a:t>
            </a:r>
          </a:p>
          <a:p>
            <a:pPr marL="457200" indent="-457200" eaLnBrk="1" hangingPunct="1">
              <a:buClr>
                <a:srgbClr val="0033CC"/>
              </a:buClr>
              <a:buSzTx/>
              <a:buNone/>
            </a:pPr>
            <a:r>
              <a:rPr lang="en-US" sz="1600" dirty="0"/>
              <a:t> float average;</a:t>
            </a:r>
          </a:p>
          <a:p>
            <a:pPr marL="457200" indent="-457200" eaLnBrk="1" hangingPunct="1">
              <a:buClr>
                <a:srgbClr val="0033CC"/>
              </a:buClr>
              <a:buSzTx/>
              <a:buNone/>
            </a:pPr>
            <a:endParaRPr lang="en-US" sz="1600" dirty="0"/>
          </a:p>
          <a:p>
            <a:pPr marL="457200" indent="-457200" eaLnBrk="1" hangingPunct="1">
              <a:buClr>
                <a:srgbClr val="0033CC"/>
              </a:buClr>
              <a:buSzTx/>
              <a:buNone/>
            </a:pPr>
            <a:r>
              <a:rPr lang="en-US" sz="1600" dirty="0"/>
              <a:t>	// store 5 marks;</a:t>
            </a:r>
          </a:p>
          <a:p>
            <a:pPr marL="457200" indent="-457200" eaLnBrk="1" hangingPunct="1">
              <a:buClr>
                <a:srgbClr val="0033CC"/>
              </a:buClr>
              <a:buSzTx/>
              <a:buNone/>
            </a:pPr>
            <a:r>
              <a:rPr lang="en-US" sz="1600" dirty="0"/>
              <a:t>Mark[ ____ ] = </a:t>
            </a:r>
            <a:r>
              <a:rPr lang="en-US" sz="1600" dirty="0" err="1"/>
              <a:t>int.Parse</a:t>
            </a:r>
            <a:r>
              <a:rPr lang="en-US" sz="1600" dirty="0"/>
              <a:t>( txtMark1.Text );</a:t>
            </a:r>
          </a:p>
          <a:p>
            <a:pPr marL="457200" indent="-457200" eaLnBrk="1" hangingPunct="1">
              <a:buClr>
                <a:srgbClr val="0033CC"/>
              </a:buClr>
              <a:buSzTx/>
              <a:buNone/>
            </a:pPr>
            <a:r>
              <a:rPr lang="en-US" sz="1600" dirty="0"/>
              <a:t>Mark[ ____ ] = </a:t>
            </a:r>
            <a:r>
              <a:rPr lang="en-US" sz="1600" dirty="0" err="1"/>
              <a:t>int.Parse</a:t>
            </a:r>
            <a:r>
              <a:rPr lang="en-US" sz="1600" dirty="0"/>
              <a:t>( txtMark2.Text );</a:t>
            </a:r>
          </a:p>
          <a:p>
            <a:pPr marL="457200" indent="-457200" eaLnBrk="1" hangingPunct="1">
              <a:buClr>
                <a:srgbClr val="0033CC"/>
              </a:buClr>
              <a:buSzTx/>
              <a:buNone/>
            </a:pPr>
            <a:r>
              <a:rPr lang="en-US" sz="1600" dirty="0"/>
              <a:t>Mark[ ____ ] = </a:t>
            </a:r>
            <a:r>
              <a:rPr lang="en-US" sz="1600" dirty="0" err="1"/>
              <a:t>int.Parse</a:t>
            </a:r>
            <a:r>
              <a:rPr lang="en-US" sz="1600" dirty="0"/>
              <a:t>( txtMark3.Text );</a:t>
            </a:r>
          </a:p>
          <a:p>
            <a:pPr marL="457200" indent="-457200" eaLnBrk="1" hangingPunct="1">
              <a:buClr>
                <a:srgbClr val="0033CC"/>
              </a:buClr>
              <a:buSzTx/>
              <a:buNone/>
            </a:pPr>
            <a:r>
              <a:rPr lang="en-US" sz="1600" dirty="0"/>
              <a:t>Mark[ ____ ] = </a:t>
            </a:r>
            <a:r>
              <a:rPr lang="en-US" sz="1600" dirty="0" err="1"/>
              <a:t>int.Parse</a:t>
            </a:r>
            <a:r>
              <a:rPr lang="en-US" sz="1600" dirty="0"/>
              <a:t>( txtMark4.Text );</a:t>
            </a:r>
          </a:p>
          <a:p>
            <a:pPr marL="457200" indent="-457200" eaLnBrk="1" hangingPunct="1">
              <a:buClr>
                <a:srgbClr val="0033CC"/>
              </a:buClr>
              <a:buSzTx/>
              <a:buNone/>
            </a:pPr>
            <a:r>
              <a:rPr lang="en-US" sz="1600" dirty="0"/>
              <a:t>Mark[ ____ ] = </a:t>
            </a:r>
            <a:r>
              <a:rPr lang="en-US" sz="1600" dirty="0" err="1"/>
              <a:t>int.Parse</a:t>
            </a:r>
            <a:r>
              <a:rPr lang="en-US" sz="1600" dirty="0"/>
              <a:t>( txtMark5.Text );</a:t>
            </a:r>
          </a:p>
          <a:p>
            <a:pPr marL="457200" indent="-457200" eaLnBrk="1" hangingPunct="1">
              <a:buClr>
                <a:srgbClr val="0033CC"/>
              </a:buClr>
              <a:buSzTx/>
              <a:buNone/>
            </a:pPr>
            <a:endParaRPr lang="en-US" sz="1600" dirty="0"/>
          </a:p>
          <a:p>
            <a:pPr marL="457200" indent="-457200" eaLnBrk="1" hangingPunct="1">
              <a:buClr>
                <a:srgbClr val="0033CC"/>
              </a:buClr>
              <a:buSzTx/>
              <a:buNone/>
            </a:pPr>
            <a:r>
              <a:rPr lang="en-US" sz="1600" dirty="0"/>
              <a:t>total= Mark[__] + ____________________________________</a:t>
            </a:r>
          </a:p>
          <a:p>
            <a:pPr marL="457200" indent="-457200" eaLnBrk="1" hangingPunct="1">
              <a:buClr>
                <a:srgbClr val="0033CC"/>
              </a:buClr>
              <a:buSzTx/>
              <a:buNone/>
            </a:pPr>
            <a:r>
              <a:rPr lang="en-US" sz="1600" dirty="0"/>
              <a:t>average = total  /  __________;</a:t>
            </a:r>
          </a:p>
          <a:p>
            <a:pPr marL="457200" indent="-457200" eaLnBrk="1" hangingPunct="1">
              <a:buClr>
                <a:srgbClr val="0033CC"/>
              </a:buClr>
              <a:buSzTx/>
              <a:buNone/>
            </a:pPr>
            <a:r>
              <a:rPr lang="en-US" sz="1600" dirty="0" err="1"/>
              <a:t>lblAverage.Text</a:t>
            </a:r>
            <a:r>
              <a:rPr lang="en-US" sz="1600" dirty="0"/>
              <a:t> = average. </a:t>
            </a:r>
            <a:r>
              <a:rPr lang="en-US" sz="1600" dirty="0" err="1"/>
              <a:t>ToString</a:t>
            </a:r>
            <a:r>
              <a:rPr lang="en-US" sz="1600" dirty="0"/>
              <a:t>();</a:t>
            </a:r>
          </a:p>
          <a:p>
            <a:pPr marL="457200" indent="-457200" eaLnBrk="1" hangingPunct="1">
              <a:buClr>
                <a:srgbClr val="0033CC"/>
              </a:buClr>
              <a:buSzTx/>
              <a:buNone/>
            </a:pPr>
            <a:endParaRPr lang="en-US" sz="1600" dirty="0"/>
          </a:p>
          <a:p>
            <a:pPr marL="457200" indent="-457200" eaLnBrk="1" hangingPunct="1">
              <a:buClr>
                <a:srgbClr val="0033CC"/>
              </a:buClr>
              <a:buSzTx/>
              <a:buNone/>
            </a:pPr>
            <a:r>
              <a:rPr lang="en-US" sz="1600" dirty="0"/>
              <a:t>}</a:t>
            </a:r>
            <a:endParaRPr lang="en-SG" sz="1600" dirty="0"/>
          </a:p>
        </p:txBody>
      </p:sp>
    </p:spTree>
    <p:custDataLst>
      <p:tags r:id="rId1"/>
    </p:custDataLst>
    <p:extLst>
      <p:ext uri="{BB962C8B-B14F-4D97-AF65-F5344CB8AC3E}">
        <p14:creationId xmlns:p14="http://schemas.microsoft.com/office/powerpoint/2010/main" val="3784224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Practical 2A</a:t>
            </a:r>
            <a:endParaRPr lang="en-SG" dirty="0"/>
          </a:p>
        </p:txBody>
      </p:sp>
      <p:sp>
        <p:nvSpPr>
          <p:cNvPr id="18" name="Content Placeholder 2"/>
          <p:cNvSpPr txBox="1">
            <a:spLocks/>
          </p:cNvSpPr>
          <p:nvPr/>
        </p:nvSpPr>
        <p:spPr bwMode="auto">
          <a:xfrm>
            <a:off x="643890" y="2753261"/>
            <a:ext cx="5829300" cy="50986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90000"/>
              <a:buFont typeface="Wingdings"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itchFamily="2" charset="2"/>
              <a:buChar char="n"/>
              <a:defRPr sz="2000">
                <a:solidFill>
                  <a:schemeClr val="tx1"/>
                </a:solidFill>
                <a:latin typeface="+mn-lt"/>
              </a:defRPr>
            </a:lvl2pPr>
            <a:lvl3pPr marL="1143000" indent="-228600" algn="l" rtl="0" eaLnBrk="0" fontAlgn="base" hangingPunct="0">
              <a:spcBef>
                <a:spcPct val="20000"/>
              </a:spcBef>
              <a:spcAft>
                <a:spcPct val="0"/>
              </a:spcAft>
              <a:buClr>
                <a:schemeClr val="folHlink"/>
              </a:buClr>
              <a:buSzPct val="55000"/>
              <a:buFont typeface="Wingdings" pitchFamily="2" charset="2"/>
              <a:buChar char="n"/>
              <a:defRPr>
                <a:solidFill>
                  <a:schemeClr val="tx1"/>
                </a:solidFill>
                <a:latin typeface="+mn-lt"/>
              </a:defRPr>
            </a:lvl3pPr>
            <a:lvl4pPr marL="1600200" indent="-228600" algn="l" rtl="0" eaLnBrk="0" fontAlgn="base" hangingPunct="0">
              <a:spcBef>
                <a:spcPct val="20000"/>
              </a:spcBef>
              <a:spcAft>
                <a:spcPct val="0"/>
              </a:spcAft>
              <a:buClr>
                <a:schemeClr val="accent1"/>
              </a:buClr>
              <a:buFont typeface="Wingdings" pitchFamily="2" charset="2"/>
              <a:buChar char="§"/>
              <a:defRPr>
                <a:solidFill>
                  <a:schemeClr val="tx1"/>
                </a:solidFill>
                <a:latin typeface="+mn-lt"/>
              </a:defRPr>
            </a:lvl4pPr>
            <a:lvl5pPr marL="2057400" indent="-228600" algn="l" rtl="0" eaLnBrk="0" fontAlgn="base" hangingPunct="0">
              <a:spcBef>
                <a:spcPct val="20000"/>
              </a:spcBef>
              <a:spcAft>
                <a:spcPct val="0"/>
              </a:spcAft>
              <a:buClr>
                <a:schemeClr val="accent1"/>
              </a:buClr>
              <a:buFont typeface="Wingdings" pitchFamily="2" charset="2"/>
              <a:buChar char="§"/>
              <a:defRPr>
                <a:solidFill>
                  <a:schemeClr val="tx1"/>
                </a:solidFill>
                <a:latin typeface="+mn-lt"/>
              </a:defRPr>
            </a:lvl5pPr>
            <a:lvl6pPr marL="2514600" indent="-228600" algn="l" rtl="0" fontAlgn="base">
              <a:spcBef>
                <a:spcPct val="20000"/>
              </a:spcBef>
              <a:spcAft>
                <a:spcPct val="0"/>
              </a:spcAft>
              <a:buClr>
                <a:schemeClr val="accent1"/>
              </a:buClr>
              <a:buFont typeface="Wingdings" pitchFamily="2" charset="2"/>
              <a:buChar char="§"/>
              <a:defRPr>
                <a:solidFill>
                  <a:schemeClr val="tx1"/>
                </a:solidFill>
                <a:latin typeface="+mn-lt"/>
              </a:defRPr>
            </a:lvl6pPr>
            <a:lvl7pPr marL="2971800" indent="-228600" algn="l" rtl="0" fontAlgn="base">
              <a:spcBef>
                <a:spcPct val="20000"/>
              </a:spcBef>
              <a:spcAft>
                <a:spcPct val="0"/>
              </a:spcAft>
              <a:buClr>
                <a:schemeClr val="accent1"/>
              </a:buClr>
              <a:buFont typeface="Wingdings" pitchFamily="2" charset="2"/>
              <a:buChar char="§"/>
              <a:defRPr>
                <a:solidFill>
                  <a:schemeClr val="tx1"/>
                </a:solidFill>
                <a:latin typeface="+mn-lt"/>
              </a:defRPr>
            </a:lvl7pPr>
            <a:lvl8pPr marL="3429000" indent="-228600" algn="l" rtl="0" fontAlgn="base">
              <a:spcBef>
                <a:spcPct val="20000"/>
              </a:spcBef>
              <a:spcAft>
                <a:spcPct val="0"/>
              </a:spcAft>
              <a:buClr>
                <a:schemeClr val="accent1"/>
              </a:buClr>
              <a:buFont typeface="Wingdings" pitchFamily="2" charset="2"/>
              <a:buChar char="§"/>
              <a:defRPr>
                <a:solidFill>
                  <a:schemeClr val="tx1"/>
                </a:solidFill>
                <a:latin typeface="+mn-lt"/>
              </a:defRPr>
            </a:lvl8pPr>
            <a:lvl9pPr marL="3886200" indent="-228600" algn="l" rtl="0" fontAlgn="base">
              <a:spcBef>
                <a:spcPct val="20000"/>
              </a:spcBef>
              <a:spcAft>
                <a:spcPct val="0"/>
              </a:spcAft>
              <a:buClr>
                <a:schemeClr val="accent1"/>
              </a:buClr>
              <a:buFont typeface="Wingdings" pitchFamily="2" charset="2"/>
              <a:buChar char="§"/>
              <a:defRPr>
                <a:solidFill>
                  <a:schemeClr val="tx1"/>
                </a:solidFill>
                <a:latin typeface="+mn-lt"/>
              </a:defRPr>
            </a:lvl9pPr>
          </a:lstStyle>
          <a:p>
            <a:pPr>
              <a:buAutoNum type="arabicPeriod" startAt="5"/>
            </a:pPr>
            <a:r>
              <a:rPr lang="en-GB" sz="1800" dirty="0"/>
              <a:t>Set a breakpoint and debug your completed code in </a:t>
            </a:r>
          </a:p>
          <a:p>
            <a:pPr marL="0" indent="0">
              <a:buNone/>
            </a:pPr>
            <a:r>
              <a:rPr lang="en-GB" sz="1800" dirty="0"/>
              <a:t>Question 4. </a:t>
            </a:r>
          </a:p>
          <a:p>
            <a:pPr marL="0" indent="0">
              <a:buNone/>
            </a:pPr>
            <a:endParaRPr lang="en-GB" sz="1800" dirty="0"/>
          </a:p>
          <a:p>
            <a:pPr marL="0" indent="0">
              <a:buNone/>
            </a:pPr>
            <a:r>
              <a:rPr lang="en-GB" sz="1800" dirty="0"/>
              <a:t>Watch the Mark array, total and average variable. Record your observations.</a:t>
            </a:r>
          </a:p>
          <a:p>
            <a:pPr lvl="1">
              <a:buFont typeface="Courier New" pitchFamily="49" charset="0"/>
              <a:buChar char="o"/>
            </a:pPr>
            <a:r>
              <a:rPr lang="en-GB" sz="1800" dirty="0">
                <a:solidFill>
                  <a:srgbClr val="FF0000"/>
                </a:solidFill>
              </a:rPr>
              <a:t>What are the initial values (default values) of Mark array?</a:t>
            </a:r>
          </a:p>
          <a:p>
            <a:pPr lvl="1">
              <a:buFont typeface="Courier New" pitchFamily="49" charset="0"/>
              <a:buChar char="o"/>
            </a:pPr>
            <a:r>
              <a:rPr lang="en-GB" sz="1800" dirty="0">
                <a:solidFill>
                  <a:srgbClr val="FF0000"/>
                </a:solidFill>
              </a:rPr>
              <a:t>What is the purpose of index in array?</a:t>
            </a:r>
          </a:p>
          <a:p>
            <a:pPr lvl="1">
              <a:buFont typeface="Courier New" pitchFamily="49" charset="0"/>
              <a:buChar char="o"/>
            </a:pPr>
            <a:r>
              <a:rPr lang="en-GB" sz="1800" dirty="0">
                <a:solidFill>
                  <a:srgbClr val="FF0000"/>
                </a:solidFill>
              </a:rPr>
              <a:t>How to compute the total and average values?</a:t>
            </a:r>
          </a:p>
          <a:p>
            <a:pPr lvl="1">
              <a:buFont typeface="Courier New" pitchFamily="49" charset="0"/>
              <a:buChar char="o"/>
            </a:pPr>
            <a:r>
              <a:rPr lang="en-GB" sz="1800" dirty="0">
                <a:solidFill>
                  <a:srgbClr val="FF0000"/>
                </a:solidFill>
              </a:rPr>
              <a:t>What will happen if I create the array of size 3? (</a:t>
            </a:r>
            <a:r>
              <a:rPr lang="en-GB" sz="1800" dirty="0" err="1">
                <a:solidFill>
                  <a:srgbClr val="FF0000"/>
                </a:solidFill>
              </a:rPr>
              <a:t>e.g</a:t>
            </a:r>
            <a:r>
              <a:rPr lang="en-GB" sz="1800" dirty="0">
                <a:solidFill>
                  <a:srgbClr val="FF0000"/>
                </a:solidFill>
              </a:rPr>
              <a:t> </a:t>
            </a:r>
            <a:r>
              <a:rPr lang="en-GB" sz="1800" dirty="0" err="1">
                <a:solidFill>
                  <a:srgbClr val="FF0000"/>
                </a:solidFill>
              </a:rPr>
              <a:t>int</a:t>
            </a:r>
            <a:r>
              <a:rPr lang="en-GB" sz="1800" dirty="0">
                <a:solidFill>
                  <a:srgbClr val="FF0000"/>
                </a:solidFill>
              </a:rPr>
              <a:t>[] Mark = new </a:t>
            </a:r>
            <a:r>
              <a:rPr lang="en-GB" sz="1800" dirty="0" err="1">
                <a:solidFill>
                  <a:srgbClr val="FF0000"/>
                </a:solidFill>
              </a:rPr>
              <a:t>int</a:t>
            </a:r>
            <a:r>
              <a:rPr lang="en-GB" sz="1800" dirty="0">
                <a:solidFill>
                  <a:srgbClr val="FF0000"/>
                </a:solidFill>
              </a:rPr>
              <a:t> [3]) Will the program work?</a:t>
            </a:r>
          </a:p>
          <a:p>
            <a:pPr lvl="1">
              <a:buFont typeface="Courier New" pitchFamily="49" charset="0"/>
              <a:buChar char="o"/>
            </a:pPr>
            <a:r>
              <a:rPr lang="en-GB" sz="1800" dirty="0">
                <a:solidFill>
                  <a:srgbClr val="FF0000"/>
                </a:solidFill>
              </a:rPr>
              <a:t>What happen if we were to have 100 mark records? </a:t>
            </a:r>
          </a:p>
          <a:p>
            <a:pPr lvl="1">
              <a:buFont typeface="Courier New" pitchFamily="49" charset="0"/>
              <a:buChar char="o"/>
            </a:pPr>
            <a:r>
              <a:rPr lang="en-GB" sz="1800" dirty="0">
                <a:solidFill>
                  <a:srgbClr val="FF0000"/>
                </a:solidFill>
              </a:rPr>
              <a:t>Suggest ways to improve the program.</a:t>
            </a:r>
          </a:p>
          <a:p>
            <a:pPr lvl="1">
              <a:buFont typeface="Courier New" pitchFamily="49" charset="0"/>
              <a:buChar char="o"/>
            </a:pPr>
            <a:endParaRPr lang="en-GB" sz="1800" dirty="0"/>
          </a:p>
        </p:txBody>
      </p:sp>
      <p:sp>
        <p:nvSpPr>
          <p:cNvPr id="4" name="Up Ribbon 3"/>
          <p:cNvSpPr/>
          <p:nvPr/>
        </p:nvSpPr>
        <p:spPr>
          <a:xfrm>
            <a:off x="4173881" y="1837267"/>
            <a:ext cx="2548467" cy="711200"/>
          </a:xfrm>
          <a:prstGeom prst="ribbon2">
            <a:avLst/>
          </a:prstGeom>
          <a:solidFill>
            <a:srgbClr val="FFFF00"/>
          </a:solidFill>
          <a:scene3d>
            <a:camera prst="orthographicFront">
              <a:rot lat="21599992" lon="299999" rev="20699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n w="18415" cmpd="sng">
                  <a:solidFill>
                    <a:srgbClr val="FFFFFF"/>
                  </a:solidFill>
                  <a:prstDash val="solid"/>
                </a:ln>
                <a:solidFill>
                  <a:srgbClr val="FFFFFF"/>
                </a:solidFill>
                <a:effectLst>
                  <a:outerShdw blurRad="63500" dir="3600000" algn="tl" rotWithShape="0">
                    <a:srgbClr val="000000">
                      <a:alpha val="70000"/>
                    </a:srgbClr>
                  </a:outerShdw>
                </a:effectLst>
              </a:rPr>
              <a:t>Bonus!</a:t>
            </a:r>
            <a:endParaRPr lang="en-SG"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ustDataLst>
      <p:tags r:id="rId1"/>
    </p:custDataLst>
    <p:extLst>
      <p:ext uri="{BB962C8B-B14F-4D97-AF65-F5344CB8AC3E}">
        <p14:creationId xmlns:p14="http://schemas.microsoft.com/office/powerpoint/2010/main" val="1724552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275" y="0"/>
            <a:ext cx="6005513" cy="1133475"/>
          </a:xfrm>
        </p:spPr>
        <p:txBody>
          <a:bodyPr/>
          <a:lstStyle/>
          <a:p>
            <a:r>
              <a:rPr lang="en-SG" b="0" dirty="0">
                <a:solidFill>
                  <a:srgbClr val="FF0000"/>
                </a:solidFill>
              </a:rPr>
              <a:t>Extras</a:t>
            </a:r>
            <a:r>
              <a:rPr lang="en-SG" dirty="0"/>
              <a:t> </a:t>
            </a:r>
            <a:r>
              <a:rPr lang="en-SG" dirty="0" err="1"/>
              <a:t>elearning</a:t>
            </a:r>
            <a:r>
              <a:rPr lang="en-SG" dirty="0"/>
              <a:t>:</a:t>
            </a:r>
            <a:br>
              <a:rPr lang="en-SG" dirty="0"/>
            </a:br>
            <a:r>
              <a:rPr lang="en-SG" dirty="0"/>
              <a:t>Differential Learning</a:t>
            </a:r>
          </a:p>
        </p:txBody>
      </p:sp>
      <p:sp>
        <p:nvSpPr>
          <p:cNvPr id="3" name="Content Placeholder 2"/>
          <p:cNvSpPr>
            <a:spLocks noGrp="1"/>
          </p:cNvSpPr>
          <p:nvPr>
            <p:ph idx="1"/>
          </p:nvPr>
        </p:nvSpPr>
        <p:spPr>
          <a:xfrm>
            <a:off x="425918" y="1297538"/>
            <a:ext cx="5829300" cy="2870201"/>
          </a:xfrm>
        </p:spPr>
        <p:txBody>
          <a:bodyPr/>
          <a:lstStyle/>
          <a:p>
            <a:r>
              <a:rPr lang="en-SG" dirty="0"/>
              <a:t>Visit Lynda.com site</a:t>
            </a:r>
          </a:p>
          <a:p>
            <a:r>
              <a:rPr lang="en-SG" dirty="0"/>
              <a:t>Watch Course: </a:t>
            </a:r>
            <a:r>
              <a:rPr lang="en-SG" dirty="0">
                <a:solidFill>
                  <a:srgbClr val="FF0000"/>
                </a:solidFill>
              </a:rPr>
              <a:t>Programming Foundations: Data Structures</a:t>
            </a:r>
          </a:p>
          <a:p>
            <a:r>
              <a:rPr lang="en-SG" dirty="0"/>
              <a:t>Topic: 1. Simple Structures and Basic Array ( 30mins )</a:t>
            </a:r>
          </a:p>
          <a:p>
            <a:pPr lvl="1"/>
            <a:r>
              <a:rPr lang="en-SG" dirty="0"/>
              <a:t>It provides an insight of the unique function of arrays</a:t>
            </a: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918" y="4052758"/>
            <a:ext cx="6369377" cy="4388076"/>
          </a:xfrm>
          <a:prstGeom prst="rect">
            <a:avLst/>
          </a:prstGeom>
        </p:spPr>
      </p:pic>
    </p:spTree>
    <p:custDataLst>
      <p:tags r:id="rId1"/>
    </p:custDataLst>
    <p:extLst>
      <p:ext uri="{BB962C8B-B14F-4D97-AF65-F5344CB8AC3E}">
        <p14:creationId xmlns:p14="http://schemas.microsoft.com/office/powerpoint/2010/main" val="3517298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400175" y="1493838"/>
            <a:ext cx="4972050" cy="2946400"/>
          </a:xfrm>
        </p:spPr>
        <p:txBody>
          <a:bodyPr/>
          <a:lstStyle/>
          <a:p>
            <a:pPr algn="ctr" eaLnBrk="1" hangingPunct="1"/>
            <a:r>
              <a:rPr lang="en-GB" sz="3800"/>
              <a:t>IT1762</a:t>
            </a:r>
            <a:br>
              <a:rPr lang="en-GB" sz="3800"/>
            </a:br>
            <a:r>
              <a:rPr lang="en-GB" sz="3800"/>
              <a:t>Data Structures &amp; Algorithms</a:t>
            </a:r>
          </a:p>
        </p:txBody>
      </p:sp>
      <p:sp>
        <p:nvSpPr>
          <p:cNvPr id="3075" name="Rectangle 3"/>
          <p:cNvSpPr>
            <a:spLocks noGrp="1" noChangeArrowheads="1"/>
          </p:cNvSpPr>
          <p:nvPr>
            <p:ph type="subTitle" idx="1"/>
          </p:nvPr>
        </p:nvSpPr>
        <p:spPr>
          <a:xfrm>
            <a:off x="679450" y="5043488"/>
            <a:ext cx="5834063" cy="2336800"/>
          </a:xfrm>
        </p:spPr>
        <p:txBody>
          <a:bodyPr/>
          <a:lstStyle/>
          <a:p>
            <a:pPr eaLnBrk="1" hangingPunct="1"/>
            <a:r>
              <a:rPr lang="en-GB" sz="2800" dirty="0"/>
              <a:t>End of Topic 2A</a:t>
            </a:r>
          </a:p>
          <a:p>
            <a:pPr eaLnBrk="1" hangingPunct="1"/>
            <a:r>
              <a:rPr lang="en-GB" sz="2800" i="1" dirty="0">
                <a:solidFill>
                  <a:srgbClr val="FF0000"/>
                </a:solidFill>
              </a:rPr>
              <a:t>1 Dimensional Arrays</a:t>
            </a:r>
          </a:p>
        </p:txBody>
      </p:sp>
    </p:spTree>
    <p:custDataLst>
      <p:tags r:id="rId1"/>
    </p:custDataLst>
    <p:extLst>
      <p:ext uri="{BB962C8B-B14F-4D97-AF65-F5344CB8AC3E}">
        <p14:creationId xmlns:p14="http://schemas.microsoft.com/office/powerpoint/2010/main" val="3993398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3701</TotalTime>
  <Words>1781</Words>
  <Application>Microsoft Office PowerPoint</Application>
  <PresentationFormat>On-screen Show (4:3)</PresentationFormat>
  <Paragraphs>343</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Comic Sans MS</vt:lpstr>
      <vt:lpstr>Courier New</vt:lpstr>
      <vt:lpstr>Garamond</vt:lpstr>
      <vt:lpstr>Lucida Console</vt:lpstr>
      <vt:lpstr>Times New Roman</vt:lpstr>
      <vt:lpstr>Verdana</vt:lpstr>
      <vt:lpstr>Wingdings</vt:lpstr>
      <vt:lpstr>Layers</vt:lpstr>
      <vt:lpstr>IT1762 Data Structures &amp; Algorithms</vt:lpstr>
      <vt:lpstr>Topics</vt:lpstr>
      <vt:lpstr>What is an Array ?</vt:lpstr>
      <vt:lpstr>How to Create an Array</vt:lpstr>
      <vt:lpstr>Array Declaration</vt:lpstr>
      <vt:lpstr>Array Initialisation</vt:lpstr>
      <vt:lpstr>Exercise</vt:lpstr>
      <vt:lpstr>The Array Index or Subscript</vt:lpstr>
      <vt:lpstr>Getting data from Arrays</vt:lpstr>
      <vt:lpstr>Storing Data in Arrays</vt:lpstr>
      <vt:lpstr>Spot the errors</vt:lpstr>
      <vt:lpstr>Creating Empty Arrays  using keyword - NEW</vt:lpstr>
      <vt:lpstr>Creating an Empty Array</vt:lpstr>
      <vt:lpstr>Creating an Empty Array</vt:lpstr>
      <vt:lpstr>Initialise an Array</vt:lpstr>
      <vt:lpstr>Summary – What is Array?</vt:lpstr>
      <vt:lpstr>Summary</vt:lpstr>
      <vt:lpstr>Summary - 1D Array</vt:lpstr>
      <vt:lpstr>Practical 2A</vt:lpstr>
      <vt:lpstr>Practical 2A</vt:lpstr>
      <vt:lpstr>Practical 2A</vt:lpstr>
      <vt:lpstr>Practical 2A</vt:lpstr>
      <vt:lpstr>Practical 2A</vt:lpstr>
      <vt:lpstr>Practical 2A</vt:lpstr>
      <vt:lpstr>Extras elearning: Differential Learning</vt:lpstr>
      <vt:lpstr>IT1762 Data Structures &amp; Algorithms</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Computing</dc:title>
  <dc:creator>NYP</dc:creator>
  <cp:lastModifiedBy>TAN AI LIAN</cp:lastModifiedBy>
  <cp:revision>238</cp:revision>
  <cp:lastPrinted>2011-08-26T06:10:02Z</cp:lastPrinted>
  <dcterms:created xsi:type="dcterms:W3CDTF">2003-02-28T08:34:47Z</dcterms:created>
  <dcterms:modified xsi:type="dcterms:W3CDTF">2018-09-25T05:51:28Z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19A66689-3D58-4489-9486-F6AD7D9B5764</vt:lpwstr>
  </property>
  <property fmtid="{D5CDD505-2E9C-101B-9397-08002B2CF9AE}" pid="3" name="ArticulatePath">
    <vt:lpwstr>IT1762 Topic 2A - 1D Array</vt:lpwstr>
  </property>
</Properties>
</file>