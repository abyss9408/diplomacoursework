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2.xml" ContentType="application/vnd.openxmlformats-officedocument.presentationml.notesSlide+xml"/>
  <Override PartName="/ppt/tags/tag22.xml" ContentType="application/vnd.openxmlformats-officedocument.presentationml.tags+xml"/>
  <Override PartName="/ppt/notesSlides/notesSlide3.xml" ContentType="application/vnd.openxmlformats-officedocument.presentationml.notesSlide+xml"/>
  <Override PartName="/ppt/tags/tag23.xml" ContentType="application/vnd.openxmlformats-officedocument.presentationml.tags+xml"/>
  <Override PartName="/ppt/notesSlides/notesSlide4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5.xml" ContentType="application/vnd.openxmlformats-officedocument.presentationml.notesSlide+xml"/>
  <Override PartName="/ppt/tags/tag26.xml" ContentType="application/vnd.openxmlformats-officedocument.presentationml.tags+xml"/>
  <Override PartName="/ppt/notesSlides/notesSlide6.xml" ContentType="application/vnd.openxmlformats-officedocument.presentationml.notesSlide+xml"/>
  <Override PartName="/ppt/tags/tag27.xml" ContentType="application/vnd.openxmlformats-officedocument.presentationml.tags+xml"/>
  <Override PartName="/ppt/notesSlides/notesSlide7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8.xml" ContentType="application/vnd.openxmlformats-officedocument.presentationml.notesSlide+xml"/>
  <Override PartName="/ppt/tags/tag30.xml" ContentType="application/vnd.openxmlformats-officedocument.presentationml.tags+xml"/>
  <Override PartName="/ppt/notesSlides/notesSlide9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0.xml" ContentType="application/vnd.openxmlformats-officedocument.presentationml.notesSlide+xml"/>
  <Override PartName="/ppt/tags/tag33.xml" ContentType="application/vnd.openxmlformats-officedocument.presentationml.tags+xml"/>
  <Override PartName="/ppt/notesSlides/notesSlide11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notesMasterIdLst>
    <p:notesMasterId r:id="rId35"/>
  </p:notesMasterIdLst>
  <p:handoutMasterIdLst>
    <p:handoutMasterId r:id="rId36"/>
  </p:handoutMasterIdLst>
  <p:sldIdLst>
    <p:sldId id="256" r:id="rId2"/>
    <p:sldId id="262" r:id="rId3"/>
    <p:sldId id="357" r:id="rId4"/>
    <p:sldId id="358" r:id="rId5"/>
    <p:sldId id="359" r:id="rId6"/>
    <p:sldId id="387" r:id="rId7"/>
    <p:sldId id="360" r:id="rId8"/>
    <p:sldId id="361" r:id="rId9"/>
    <p:sldId id="362" r:id="rId10"/>
    <p:sldId id="363" r:id="rId11"/>
    <p:sldId id="364" r:id="rId12"/>
    <p:sldId id="365" r:id="rId13"/>
    <p:sldId id="366" r:id="rId14"/>
    <p:sldId id="367" r:id="rId15"/>
    <p:sldId id="368" r:id="rId16"/>
    <p:sldId id="369" r:id="rId17"/>
    <p:sldId id="370" r:id="rId18"/>
    <p:sldId id="371" r:id="rId19"/>
    <p:sldId id="372" r:id="rId20"/>
    <p:sldId id="373" r:id="rId21"/>
    <p:sldId id="374" r:id="rId22"/>
    <p:sldId id="375" r:id="rId23"/>
    <p:sldId id="376" r:id="rId24"/>
    <p:sldId id="377" r:id="rId25"/>
    <p:sldId id="378" r:id="rId26"/>
    <p:sldId id="379" r:id="rId27"/>
    <p:sldId id="380" r:id="rId28"/>
    <p:sldId id="381" r:id="rId29"/>
    <p:sldId id="382" r:id="rId30"/>
    <p:sldId id="383" r:id="rId31"/>
    <p:sldId id="385" r:id="rId32"/>
    <p:sldId id="386" r:id="rId33"/>
    <p:sldId id="384" r:id="rId34"/>
  </p:sldIdLst>
  <p:sldSz cx="6858000" cy="9144000" type="screen4x3"/>
  <p:notesSz cx="9926638" cy="6797675"/>
  <p:custDataLst>
    <p:tags r:id="rId37"/>
  </p:custData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33CC"/>
    <a:srgbClr val="0000FF"/>
    <a:srgbClr val="009999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14" autoAdjust="0"/>
    <p:restoredTop sz="94455" autoAdjust="0"/>
  </p:normalViewPr>
  <p:slideViewPr>
    <p:cSldViewPr snapToGrid="0">
      <p:cViewPr>
        <p:scale>
          <a:sx n="75" d="100"/>
          <a:sy n="75" d="100"/>
        </p:scale>
        <p:origin x="1004" y="-100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005" cy="340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69" tIns="46485" rIns="92969" bIns="46485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3093" y="0"/>
            <a:ext cx="4302005" cy="340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69" tIns="46485" rIns="92969" bIns="46485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7184"/>
            <a:ext cx="4302005" cy="338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69" tIns="46485" rIns="92969" bIns="46485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3093" y="6457184"/>
            <a:ext cx="4302005" cy="338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69" tIns="46485" rIns="92969" bIns="46485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</a:defRPr>
            </a:lvl1pPr>
          </a:lstStyle>
          <a:p>
            <a:pPr>
              <a:defRPr/>
            </a:pPr>
            <a:fld id="{1C24FB9D-886C-4E5E-9CE4-2A382B84C7A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35604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005" cy="340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69" tIns="46485" rIns="92969" bIns="46485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3093" y="0"/>
            <a:ext cx="4302005" cy="340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69" tIns="46485" rIns="92969" bIns="46485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08438" y="511175"/>
            <a:ext cx="1909762" cy="25479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3126" y="3228592"/>
            <a:ext cx="7940386" cy="3059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69" tIns="46485" rIns="92969" bIns="464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7184"/>
            <a:ext cx="4302005" cy="338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69" tIns="46485" rIns="92969" bIns="46485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3093" y="6457184"/>
            <a:ext cx="4302005" cy="338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69" tIns="46485" rIns="92969" bIns="46485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</a:defRPr>
            </a:lvl1pPr>
          </a:lstStyle>
          <a:p>
            <a:pPr>
              <a:defRPr/>
            </a:pPr>
            <a:fld id="{E178DDCB-BF89-403A-84BB-2F516348CD3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16663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7E3A649-132A-4779-99F5-CDE2FC4E19A4}" type="slidenum">
              <a:rPr lang="en-US"/>
              <a:pPr/>
              <a:t>14</a:t>
            </a:fld>
            <a:endParaRPr lang="en-US"/>
          </a:p>
        </p:txBody>
      </p:sp>
      <p:sp>
        <p:nvSpPr>
          <p:cNvPr id="20787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4011613" y="517525"/>
            <a:ext cx="1905000" cy="25400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23448" y="3232329"/>
            <a:ext cx="7278158" cy="285985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399" tIns="46700" rIns="93399" bIns="4670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22465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485685-CDC7-4393-942D-E2643090F796}" type="slidenum">
              <a:rPr lang="en-US"/>
              <a:pPr/>
              <a:t>16</a:t>
            </a:fld>
            <a:endParaRPr lang="en-US"/>
          </a:p>
        </p:txBody>
      </p:sp>
      <p:sp>
        <p:nvSpPr>
          <p:cNvPr id="20992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4011613" y="517525"/>
            <a:ext cx="1905000" cy="25400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23448" y="3232329"/>
            <a:ext cx="7278158" cy="285985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399" tIns="46700" rIns="93399" bIns="4670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125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D088CC-22D5-4AC1-8BFC-C956038EADE5}" type="slidenum">
              <a:rPr lang="en-US"/>
              <a:pPr/>
              <a:t>17</a:t>
            </a:fld>
            <a:endParaRPr lang="en-US"/>
          </a:p>
        </p:txBody>
      </p:sp>
      <p:sp>
        <p:nvSpPr>
          <p:cNvPr id="12902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4011613" y="517525"/>
            <a:ext cx="1905000" cy="25400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23448" y="3232329"/>
            <a:ext cx="7278158" cy="285985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399" tIns="46700" rIns="93399" bIns="4670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001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223D12-4CF7-4C7F-B20D-55A2BDD61AA9}" type="slidenum">
              <a:rPr lang="en-US"/>
              <a:pPr/>
              <a:t>18</a:t>
            </a:fld>
            <a:endParaRPr lang="en-US"/>
          </a:p>
        </p:txBody>
      </p:sp>
      <p:sp>
        <p:nvSpPr>
          <p:cNvPr id="13107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4011613" y="517525"/>
            <a:ext cx="1905000" cy="25400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23448" y="3232329"/>
            <a:ext cx="7278158" cy="285985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399" tIns="46700" rIns="93399" bIns="4670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700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CED15A-D38F-49AC-913A-A99F057AA293}" type="slidenum">
              <a:rPr lang="en-US"/>
              <a:pPr/>
              <a:t>20</a:t>
            </a:fld>
            <a:endParaRPr lang="en-US"/>
          </a:p>
        </p:txBody>
      </p:sp>
      <p:sp>
        <p:nvSpPr>
          <p:cNvPr id="21401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4011613" y="517525"/>
            <a:ext cx="1905000" cy="25400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23448" y="3232329"/>
            <a:ext cx="7278158" cy="285985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399" tIns="46700" rIns="93399" bIns="4670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792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3A84BEC-7FA2-4D9F-84B3-F76D973F73B8}" type="slidenum">
              <a:rPr lang="en-US"/>
              <a:pPr/>
              <a:t>21</a:t>
            </a:fld>
            <a:endParaRPr lang="en-US"/>
          </a:p>
        </p:txBody>
      </p:sp>
      <p:sp>
        <p:nvSpPr>
          <p:cNvPr id="13414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4011613" y="517525"/>
            <a:ext cx="1905000" cy="25400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23448" y="3232329"/>
            <a:ext cx="7278158" cy="285985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399" tIns="46700" rIns="93399" bIns="4670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73514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8258E4-1050-45EE-8884-CA0D3C252E3D}" type="slidenum">
              <a:rPr lang="en-US"/>
              <a:pPr/>
              <a:t>22</a:t>
            </a:fld>
            <a:endParaRPr lang="en-US"/>
          </a:p>
        </p:txBody>
      </p:sp>
      <p:sp>
        <p:nvSpPr>
          <p:cNvPr id="13619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4011613" y="517525"/>
            <a:ext cx="1905000" cy="25400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23448" y="3232329"/>
            <a:ext cx="7278158" cy="285985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399" tIns="46700" rIns="93399" bIns="4670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1857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50F2B3-6BF3-463D-9AC9-07E45B227295}" type="slidenum">
              <a:rPr lang="en-US"/>
              <a:pPr/>
              <a:t>24</a:t>
            </a:fld>
            <a:endParaRPr lang="en-US"/>
          </a:p>
        </p:txBody>
      </p:sp>
      <p:sp>
        <p:nvSpPr>
          <p:cNvPr id="13824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4011613" y="517525"/>
            <a:ext cx="1905000" cy="25400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23448" y="3232329"/>
            <a:ext cx="7278158" cy="285985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399" tIns="46700" rIns="93399" bIns="4670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45048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FDA1147-8084-4658-A7CF-17BFC64EF128}" type="slidenum">
              <a:rPr lang="en-US"/>
              <a:pPr/>
              <a:t>25</a:t>
            </a:fld>
            <a:endParaRPr lang="en-US"/>
          </a:p>
        </p:txBody>
      </p:sp>
      <p:sp>
        <p:nvSpPr>
          <p:cNvPr id="14029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4011613" y="517525"/>
            <a:ext cx="1905000" cy="25400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23448" y="3232329"/>
            <a:ext cx="7278158" cy="285985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399" tIns="46700" rIns="93399" bIns="4670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73844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7E9D8C-8F84-4411-A7E0-27C469522668}" type="slidenum">
              <a:rPr lang="en-US"/>
              <a:pPr/>
              <a:t>27</a:t>
            </a:fld>
            <a:endParaRPr lang="en-US"/>
          </a:p>
        </p:txBody>
      </p:sp>
      <p:sp>
        <p:nvSpPr>
          <p:cNvPr id="21606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4011613" y="517525"/>
            <a:ext cx="1905000" cy="25400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23448" y="3232329"/>
            <a:ext cx="7278158" cy="285985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399" tIns="46700" rIns="93399" bIns="4670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03215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6DA903-594B-4FE1-88E9-F8A2967079F0}" type="slidenum">
              <a:rPr lang="en-US"/>
              <a:pPr/>
              <a:t>28</a:t>
            </a:fld>
            <a:endParaRPr lang="en-US"/>
          </a:p>
        </p:txBody>
      </p:sp>
      <p:sp>
        <p:nvSpPr>
          <p:cNvPr id="14336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4011613" y="517525"/>
            <a:ext cx="1905000" cy="25400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23448" y="3232329"/>
            <a:ext cx="7278158" cy="285985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399" tIns="46700" rIns="93399" bIns="4670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3744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6572250" cy="7924800"/>
            <a:chOff x="0" y="0"/>
            <a:chExt cx="5520" cy="3744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sz="2400">
                <a:latin typeface="Times New Roman" pitchFamily="18" charset="0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white">
              <a:xfrm>
                <a:off x="655" y="2352"/>
                <a:ext cx="4817" cy="1347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" name="Line 7"/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7" name="Group 8"/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8" name="Rectangle 9"/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rgbClr val="FF99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9" name="Line 10"/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</p:grpSp>
      <p:sp>
        <p:nvSpPr>
          <p:cNvPr id="13" name="Rectangle 13"/>
          <p:cNvSpPr>
            <a:spLocks noChangeArrowheads="1"/>
          </p:cNvSpPr>
          <p:nvPr userDrawn="1"/>
        </p:nvSpPr>
        <p:spPr bwMode="auto">
          <a:xfrm>
            <a:off x="0" y="8636000"/>
            <a:ext cx="3789363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eaLnBrk="0" hangingPunct="0">
              <a:defRPr/>
            </a:pPr>
            <a:r>
              <a:rPr lang="en-US" sz="800" dirty="0">
                <a:latin typeface="Arial" charset="0"/>
              </a:rPr>
              <a:t>Copyrights © Nanyang Polytechnic, 2018 S2</a:t>
            </a:r>
          </a:p>
        </p:txBody>
      </p:sp>
      <p:sp>
        <p:nvSpPr>
          <p:cNvPr id="14" name="Text Box 14"/>
          <p:cNvSpPr txBox="1">
            <a:spLocks noChangeArrowheads="1"/>
          </p:cNvSpPr>
          <p:nvPr userDrawn="1"/>
        </p:nvSpPr>
        <p:spPr bwMode="auto">
          <a:xfrm>
            <a:off x="1341438" y="468313"/>
            <a:ext cx="28082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GB" sz="1000"/>
              <a:t>IT1762 Data Structures and Algorithms</a:t>
            </a:r>
          </a:p>
        </p:txBody>
      </p:sp>
      <p:sp>
        <p:nvSpPr>
          <p:cNvPr id="15" name="Rectangle 15"/>
          <p:cNvSpPr>
            <a:spLocks noChangeArrowheads="1"/>
          </p:cNvSpPr>
          <p:nvPr userDrawn="1"/>
        </p:nvSpPr>
        <p:spPr bwMode="auto">
          <a:xfrm>
            <a:off x="4797425" y="8748713"/>
            <a:ext cx="1933575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r>
              <a:rPr lang="en-GB" sz="1000">
                <a:latin typeface="Arial" charset="0"/>
              </a:rPr>
              <a:t>page </a:t>
            </a:r>
            <a:fld id="{6179BE9E-A586-4395-840D-FFD4C572EF2B}" type="slidenum">
              <a:rPr lang="en-GB" sz="1000">
                <a:latin typeface="Arial" charset="0"/>
              </a:rPr>
              <a:pPr algn="r">
                <a:defRPr/>
              </a:pPr>
              <a:t>‹#›</a:t>
            </a:fld>
            <a:endParaRPr lang="en-GB" sz="1000">
              <a:latin typeface="Arial" charset="0"/>
            </a:endParaRPr>
          </a:p>
        </p:txBody>
      </p:sp>
      <p:sp>
        <p:nvSpPr>
          <p:cNvPr id="293899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1543050" y="1524000"/>
            <a:ext cx="4972050" cy="2946400"/>
          </a:xfrm>
        </p:spPr>
        <p:txBody>
          <a:bodyPr/>
          <a:lstStyle>
            <a:lvl1pPr>
              <a:defRPr sz="3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293900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028700" y="5283200"/>
            <a:ext cx="5143500" cy="21336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GB" dirty="0"/>
              <a:t>Click to edit Master subtitle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3102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4720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338" y="587533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338" y="3875088"/>
            <a:ext cx="5829300" cy="200025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57892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6250" y="1619250"/>
            <a:ext cx="2943225" cy="6913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71875" y="1619250"/>
            <a:ext cx="2943225" cy="6913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3947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713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288"/>
            <a:ext cx="3030538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900363"/>
            <a:ext cx="3030538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4563" y="2046288"/>
            <a:ext cx="3030537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4563" y="2900363"/>
            <a:ext cx="3030537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8600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017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3298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3538"/>
            <a:ext cx="2255838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8" y="363538"/>
            <a:ext cx="3833812" cy="78041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2938"/>
            <a:ext cx="2255838" cy="62547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7929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613" y="6400800"/>
            <a:ext cx="4114800" cy="7556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613" y="81756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613" y="7156450"/>
            <a:ext cx="4114800" cy="10731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2710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4354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67300" y="179388"/>
            <a:ext cx="1530350" cy="83534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6250" y="179388"/>
            <a:ext cx="4438650" cy="83534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6430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79388"/>
            <a:ext cx="6048375" cy="7905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76250" y="1619250"/>
            <a:ext cx="2943225" cy="6913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71875" y="1619250"/>
            <a:ext cx="2943225" cy="6913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0770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7" name="Rectangle 3"/>
          <p:cNvSpPr>
            <a:spLocks noChangeArrowheads="1"/>
          </p:cNvSpPr>
          <p:nvPr/>
        </p:nvSpPr>
        <p:spPr bwMode="auto">
          <a:xfrm>
            <a:off x="0" y="0"/>
            <a:ext cx="457200" cy="65024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2400">
              <a:latin typeface="Times New Roman" pitchFamily="18" charset="0"/>
            </a:endParaRPr>
          </a:p>
        </p:txBody>
      </p:sp>
      <p:grpSp>
        <p:nvGrpSpPr>
          <p:cNvPr id="1027" name="Group 4"/>
          <p:cNvGrpSpPr>
            <a:grpSpLocks/>
          </p:cNvGrpSpPr>
          <p:nvPr/>
        </p:nvGrpSpPr>
        <p:grpSpPr bwMode="auto">
          <a:xfrm>
            <a:off x="454025" y="1030288"/>
            <a:ext cx="6229350" cy="242887"/>
            <a:chOff x="240" y="893"/>
            <a:chExt cx="5232" cy="115"/>
          </a:xfrm>
        </p:grpSpPr>
        <p:sp>
          <p:nvSpPr>
            <p:cNvPr id="292869" name="Rectangle 5"/>
            <p:cNvSpPr>
              <a:spLocks noChangeArrowheads="1"/>
            </p:cNvSpPr>
            <p:nvPr/>
          </p:nvSpPr>
          <p:spPr bwMode="auto">
            <a:xfrm>
              <a:off x="4320" y="893"/>
              <a:ext cx="1152" cy="115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2870" name="Line 6"/>
            <p:cNvSpPr>
              <a:spLocks noChangeShapeType="1"/>
            </p:cNvSpPr>
            <p:nvPr/>
          </p:nvSpPr>
          <p:spPr bwMode="auto">
            <a:xfrm>
              <a:off x="240" y="941"/>
              <a:ext cx="5232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028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549275" y="179388"/>
            <a:ext cx="6048375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9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6250" y="1619250"/>
            <a:ext cx="6038850" cy="691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92873" name="Line 9"/>
          <p:cNvSpPr>
            <a:spLocks noChangeShapeType="1"/>
          </p:cNvSpPr>
          <p:nvPr/>
        </p:nvSpPr>
        <p:spPr bwMode="auto">
          <a:xfrm>
            <a:off x="0" y="6502400"/>
            <a:ext cx="4572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2874" name="Rectangle 10"/>
          <p:cNvSpPr>
            <a:spLocks noChangeArrowheads="1"/>
          </p:cNvSpPr>
          <p:nvPr userDrawn="1"/>
        </p:nvSpPr>
        <p:spPr bwMode="auto">
          <a:xfrm>
            <a:off x="0" y="8636000"/>
            <a:ext cx="446405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eaLnBrk="0" hangingPunct="0">
              <a:defRPr/>
            </a:pPr>
            <a:r>
              <a:rPr lang="en-US" sz="800" dirty="0">
                <a:latin typeface="Arial" charset="0"/>
              </a:rPr>
              <a:t>Copyrights © Nanyang Polytechnic, 2018 S2		</a:t>
            </a:r>
          </a:p>
        </p:txBody>
      </p:sp>
      <p:sp>
        <p:nvSpPr>
          <p:cNvPr id="292876" name="Rectangle 12"/>
          <p:cNvSpPr>
            <a:spLocks noChangeArrowheads="1"/>
          </p:cNvSpPr>
          <p:nvPr/>
        </p:nvSpPr>
        <p:spPr bwMode="auto">
          <a:xfrm>
            <a:off x="4797425" y="8748713"/>
            <a:ext cx="1933575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r>
              <a:rPr lang="en-GB" sz="1000">
                <a:latin typeface="Arial" charset="0"/>
              </a:rPr>
              <a:t>page </a:t>
            </a:r>
            <a:fld id="{57FB524B-2D38-437C-8842-0136BB424370}" type="slidenum">
              <a:rPr lang="en-GB" sz="1000">
                <a:latin typeface="Arial" charset="0"/>
              </a:rPr>
              <a:pPr algn="r">
                <a:defRPr/>
              </a:pPr>
              <a:t>‹#›</a:t>
            </a:fld>
            <a:endParaRPr lang="en-GB" sz="1000">
              <a:latin typeface="Arial" charset="0"/>
            </a:endParaRPr>
          </a:p>
        </p:txBody>
      </p:sp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sz="2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itchFamily="2" charset="2"/>
        <a:buChar char="n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8Kp-8OGwphY" TargetMode="Externa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Relationship Id="rId5" Type="http://schemas.openxmlformats.org/officeDocument/2006/relationships/hyperlink" Target="https://youtu.be/DFG-XuyPYUQ?list=PLx3witYKF_5L3YKvXS3p3da-rqwghvW_Q" TargetMode="External"/><Relationship Id="rId4" Type="http://schemas.openxmlformats.org/officeDocument/2006/relationships/hyperlink" Target="https://www.youtube.com/watch?v=f8hXR_Hvybo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e.ryerson.ca/~courses/coe428/sorting/bubblesort.html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4" Type="http://schemas.openxmlformats.org/officeDocument/2006/relationships/image" Target="../media/image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5" Type="http://schemas.openxmlformats.org/officeDocument/2006/relationships/hyperlink" Target="http://www.ee.ryerson.ca/~courses/coe428/sorting/bubblesort.html" TargetMode="External"/><Relationship Id="rId4" Type="http://schemas.openxmlformats.org/officeDocument/2006/relationships/hyperlink" Target="http://www.ee.ryerson.ca/~courses/coe428/sorting/selectionsort.html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5" Type="http://schemas.openxmlformats.org/officeDocument/2006/relationships/hyperlink" Target="http://www.ee.ryerson.ca/~courses/coe428/sorting/bubblesort.html" TargetMode="External"/><Relationship Id="rId4" Type="http://schemas.openxmlformats.org/officeDocument/2006/relationships/hyperlink" Target="http://www.ee.ryerson.ca/~courses/coe428/sorting/insertionsort.html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msdn.microsoft.com/en-us/library/default.aspx" TargetMode="Externa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6.xml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58875" y="1524000"/>
            <a:ext cx="4972050" cy="2946400"/>
          </a:xfrm>
        </p:spPr>
        <p:txBody>
          <a:bodyPr/>
          <a:lstStyle/>
          <a:p>
            <a:pPr algn="r" eaLnBrk="1" hangingPunct="1"/>
            <a:r>
              <a:rPr lang="en-GB" dirty="0"/>
              <a:t>IT1762</a:t>
            </a:r>
            <a:br>
              <a:rPr lang="en-GB" dirty="0"/>
            </a:br>
            <a:r>
              <a:rPr lang="en-GB" dirty="0"/>
              <a:t>Data Structures &amp; Algorithms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47700" y="5138738"/>
            <a:ext cx="5834063" cy="2336800"/>
          </a:xfrm>
        </p:spPr>
        <p:txBody>
          <a:bodyPr/>
          <a:lstStyle/>
          <a:p>
            <a:pPr eaLnBrk="1" hangingPunct="1"/>
            <a:r>
              <a:rPr lang="en-SG" sz="3200" dirty="0">
                <a:solidFill>
                  <a:srgbClr val="FF0000"/>
                </a:solidFill>
              </a:rPr>
              <a:t>Topic 7B</a:t>
            </a:r>
          </a:p>
          <a:p>
            <a:pPr eaLnBrk="1" hangingPunct="1"/>
            <a:r>
              <a:rPr lang="en-SG" sz="3200" dirty="0">
                <a:solidFill>
                  <a:srgbClr val="FF0000"/>
                </a:solidFill>
              </a:rPr>
              <a:t>Advanced Algorithms – </a:t>
            </a:r>
          </a:p>
          <a:p>
            <a:pPr eaLnBrk="1" hangingPunct="1"/>
            <a:r>
              <a:rPr lang="en-SG" sz="3200" dirty="0">
                <a:solidFill>
                  <a:srgbClr val="FF0000"/>
                </a:solidFill>
              </a:rPr>
              <a:t>Sorting Algorithm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400" dirty="0"/>
              <a:t>Instructional Learning Objectives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476251" y="1181101"/>
            <a:ext cx="6296024" cy="3439026"/>
          </a:xfrm>
        </p:spPr>
        <p:txBody>
          <a:bodyPr/>
          <a:lstStyle/>
          <a:p>
            <a:pPr marL="457200" lvl="0" indent="-457200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q"/>
            </a:pPr>
            <a:r>
              <a:rPr lang="en-GB" dirty="0"/>
              <a:t>Explain the Sorting Algorithm</a:t>
            </a:r>
            <a:endParaRPr lang="en-SG" dirty="0"/>
          </a:p>
          <a:p>
            <a:pPr marL="457200" indent="-457200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q"/>
            </a:pPr>
            <a:endParaRPr lang="en-US" dirty="0"/>
          </a:p>
          <a:p>
            <a:pPr marL="457200" indent="-457200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q"/>
            </a:pPr>
            <a:r>
              <a:rPr lang="en-US" dirty="0"/>
              <a:t>Describe Different Sorting algorithms</a:t>
            </a:r>
            <a:endParaRPr lang="en-US" sz="2000" dirty="0"/>
          </a:p>
          <a:p>
            <a:pPr marL="1150938" lvl="1" indent="-579438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Ø"/>
            </a:pPr>
            <a:r>
              <a:rPr lang="en-US" sz="2000" dirty="0"/>
              <a:t>Bubble</a:t>
            </a:r>
          </a:p>
          <a:p>
            <a:pPr marL="1150938" lvl="1" indent="-579438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Ø"/>
            </a:pPr>
            <a:r>
              <a:rPr lang="en-US" sz="2000" dirty="0"/>
              <a:t>Selection</a:t>
            </a:r>
          </a:p>
          <a:p>
            <a:pPr marL="1150938" lvl="1" indent="-579438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Ø"/>
            </a:pPr>
            <a:r>
              <a:rPr lang="en-US" sz="2000" dirty="0"/>
              <a:t>Inversion</a:t>
            </a:r>
          </a:p>
          <a:p>
            <a:pPr>
              <a:spcBef>
                <a:spcPct val="50000"/>
              </a:spcBef>
            </a:pPr>
            <a:endParaRPr lang="en-US" i="1" dirty="0"/>
          </a:p>
        </p:txBody>
      </p:sp>
      <p:pic>
        <p:nvPicPr>
          <p:cNvPr id="5" name="Picture 2" descr="C:\Users\tanail\AppData\Local\Microsoft\Windows\Temporary Internet Files\Content.IE5\RXI7DR66\MC900335667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989" y="4534390"/>
            <a:ext cx="3685703" cy="3903479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ChangeArrowheads="1"/>
          </p:cNvSpPr>
          <p:nvPr/>
        </p:nvSpPr>
        <p:spPr bwMode="auto">
          <a:xfrm>
            <a:off x="485775" y="1228725"/>
            <a:ext cx="5734050" cy="739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defTabSz="457200">
              <a:lnSpc>
                <a:spcPct val="120000"/>
              </a:lnSpc>
              <a:spcBef>
                <a:spcPct val="90000"/>
              </a:spcBef>
              <a:buSzPct val="100000"/>
            </a:pPr>
            <a:r>
              <a:rPr lang="en-US" sz="2400" b="0" dirty="0"/>
              <a:t>Sorting is the process of arranging a set of similar pieces of information into </a:t>
            </a:r>
            <a:r>
              <a:rPr lang="en-US" sz="2400" b="0" i="1" dirty="0"/>
              <a:t>ascending</a:t>
            </a:r>
            <a:r>
              <a:rPr lang="en-US" sz="2400" b="0" dirty="0"/>
              <a:t> or </a:t>
            </a:r>
            <a:r>
              <a:rPr lang="en-US" sz="2400" b="0" i="1" dirty="0"/>
              <a:t>descending</a:t>
            </a:r>
            <a:r>
              <a:rPr lang="en-US" sz="2400" b="0" dirty="0"/>
              <a:t> order.</a:t>
            </a:r>
          </a:p>
          <a:p>
            <a:pPr lvl="1" indent="-171450" defTabSz="457200">
              <a:lnSpc>
                <a:spcPct val="120000"/>
              </a:lnSpc>
              <a:spcBef>
                <a:spcPct val="50000"/>
              </a:spcBef>
              <a:buSzPct val="100000"/>
              <a:buFont typeface="Wingdings" pitchFamily="2" charset="2"/>
              <a:buChar char="G"/>
            </a:pPr>
            <a:r>
              <a:rPr lang="en-US" sz="2400" b="0" dirty="0"/>
              <a:t>a small portion of that information on which comparisons are based is known as the </a:t>
            </a:r>
            <a:r>
              <a:rPr lang="en-US" sz="2400" b="0" i="1" dirty="0">
                <a:solidFill>
                  <a:srgbClr val="FF0000"/>
                </a:solidFill>
              </a:rPr>
              <a:t>sort key</a:t>
            </a:r>
            <a:r>
              <a:rPr lang="en-US" sz="1800" b="0" dirty="0">
                <a:solidFill>
                  <a:srgbClr val="FF0000"/>
                </a:solidFill>
              </a:rPr>
              <a:t>.</a:t>
            </a:r>
            <a:endParaRPr lang="en-GB" sz="1800" b="0" dirty="0">
              <a:solidFill>
                <a:srgbClr val="FF0000"/>
              </a:solidFill>
            </a:endParaRPr>
          </a:p>
        </p:txBody>
      </p:sp>
      <p:pic>
        <p:nvPicPr>
          <p:cNvPr id="203781" name="Picture 5" descr="C:\temp\Temporary Internet Files\Content.IE5\2XJKH8BU\MPj04090310000[1].jpg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3500438" y="6000784"/>
            <a:ext cx="3286124" cy="2500306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457200" y="539233"/>
            <a:ext cx="45416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/>
              <a:t>Sorting</a:t>
            </a:r>
            <a:r>
              <a:rPr lang="en-GB" sz="3200" b="1" dirty="0"/>
              <a:t> Algorithms</a:t>
            </a:r>
            <a:endParaRPr lang="en-US" sz="3200" b="1" dirty="0"/>
          </a:p>
        </p:txBody>
      </p:sp>
      <p:pic>
        <p:nvPicPr>
          <p:cNvPr id="5122" name="Picture 2" descr="C:\Users\tanail\AppData\Local\Microsoft\Windows\Temporary Internet Files\Content.IE5\6KSNL5KG\MC900383558[1]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426" y="5414196"/>
            <a:ext cx="1828649" cy="2704232"/>
          </a:xfrm>
          <a:prstGeom prst="rect">
            <a:avLst/>
          </a:prstGeom>
          <a:noFill/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40313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3074"/>
          <p:cNvSpPr>
            <a:spLocks noChangeArrowheads="1"/>
          </p:cNvSpPr>
          <p:nvPr/>
        </p:nvSpPr>
        <p:spPr bwMode="auto">
          <a:xfrm>
            <a:off x="457200" y="1155528"/>
            <a:ext cx="5734050" cy="739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171450" indent="-171450" defTabSz="457200">
              <a:lnSpc>
                <a:spcPct val="120000"/>
              </a:lnSpc>
              <a:spcBef>
                <a:spcPct val="90000"/>
              </a:spcBef>
              <a:buSzPct val="100000"/>
              <a:buFontTx/>
              <a:buChar char="•"/>
            </a:pPr>
            <a:r>
              <a:rPr lang="en-US" sz="2400" b="0" dirty="0">
                <a:latin typeface="+mn-lt"/>
              </a:rPr>
              <a:t>The efficiencies for judging a sorting algorithm are :</a:t>
            </a:r>
          </a:p>
          <a:p>
            <a:pPr lvl="1" indent="-171450" defTabSz="457200">
              <a:lnSpc>
                <a:spcPct val="120000"/>
              </a:lnSpc>
              <a:spcBef>
                <a:spcPct val="50000"/>
              </a:spcBef>
              <a:buSzPct val="100000"/>
              <a:buFont typeface="Wingdings" pitchFamily="2" charset="2"/>
              <a:buNone/>
            </a:pPr>
            <a:r>
              <a:rPr lang="en-GB" sz="2400" dirty="0">
                <a:latin typeface="+mn-lt"/>
              </a:rPr>
              <a:t>1)</a:t>
            </a:r>
            <a:r>
              <a:rPr lang="en-GB" sz="2400" b="0" dirty="0">
                <a:latin typeface="+mn-lt"/>
              </a:rPr>
              <a:t> </a:t>
            </a:r>
            <a:r>
              <a:rPr lang="en-US" sz="2400" b="0" dirty="0">
                <a:latin typeface="+mn-lt"/>
              </a:rPr>
              <a:t>Speed of sorting</a:t>
            </a:r>
          </a:p>
          <a:p>
            <a:pPr marL="857250" lvl="2" indent="-285750" defTabSz="457200">
              <a:lnSpc>
                <a:spcPct val="120000"/>
              </a:lnSpc>
              <a:spcBef>
                <a:spcPct val="50000"/>
              </a:spcBef>
              <a:buSzPct val="100000"/>
              <a:buFont typeface="Wingdings" pitchFamily="2" charset="2"/>
              <a:buNone/>
            </a:pPr>
            <a:r>
              <a:rPr lang="en-US" sz="2400" b="0" dirty="0">
                <a:latin typeface="+mn-lt"/>
              </a:rPr>
              <a:t>- average time, best time and worse time</a:t>
            </a:r>
          </a:p>
          <a:p>
            <a:pPr lvl="1" indent="-171450" defTabSz="457200">
              <a:lnSpc>
                <a:spcPct val="120000"/>
              </a:lnSpc>
              <a:spcBef>
                <a:spcPct val="50000"/>
              </a:spcBef>
              <a:buSzPct val="100000"/>
              <a:buFont typeface="Wingdings" pitchFamily="2" charset="2"/>
              <a:buNone/>
            </a:pPr>
            <a:r>
              <a:rPr lang="en-GB" sz="2400" dirty="0">
                <a:latin typeface="+mn-lt"/>
              </a:rPr>
              <a:t>2)</a:t>
            </a:r>
            <a:r>
              <a:rPr lang="en-GB" sz="2400" b="0" dirty="0">
                <a:latin typeface="+mn-lt"/>
              </a:rPr>
              <a:t> </a:t>
            </a:r>
            <a:r>
              <a:rPr lang="en-US" sz="2400" b="0" dirty="0">
                <a:latin typeface="+mn-lt"/>
              </a:rPr>
              <a:t>Length of time spent on the coding</a:t>
            </a:r>
          </a:p>
          <a:p>
            <a:pPr lvl="1" indent="-171450" defTabSz="457200">
              <a:lnSpc>
                <a:spcPct val="120000"/>
              </a:lnSpc>
              <a:spcBef>
                <a:spcPct val="50000"/>
              </a:spcBef>
              <a:buSzPct val="100000"/>
              <a:buFont typeface="Wingdings" pitchFamily="2" charset="2"/>
              <a:buNone/>
            </a:pPr>
            <a:r>
              <a:rPr lang="en-GB" sz="2400" dirty="0">
                <a:latin typeface="+mn-lt"/>
              </a:rPr>
              <a:t>3)</a:t>
            </a:r>
            <a:r>
              <a:rPr lang="en-GB" sz="2400" b="0" dirty="0">
                <a:latin typeface="+mn-lt"/>
              </a:rPr>
              <a:t> Memory </a:t>
            </a:r>
            <a:r>
              <a:rPr lang="en-US" sz="2400" b="0" dirty="0">
                <a:latin typeface="+mn-lt"/>
              </a:rPr>
              <a:t>space for running the </a:t>
            </a:r>
            <a:r>
              <a:rPr lang="en-GB" sz="2400" b="0" dirty="0">
                <a:latin typeface="+mn-lt"/>
              </a:rPr>
              <a:t>	</a:t>
            </a:r>
            <a:r>
              <a:rPr lang="en-US" sz="2400" b="0" dirty="0">
                <a:latin typeface="+mn-lt"/>
              </a:rPr>
              <a:t>algorithm</a:t>
            </a:r>
            <a:endParaRPr lang="en-GB" sz="2400" b="0" dirty="0">
              <a:latin typeface="+mn-lt"/>
            </a:endParaRPr>
          </a:p>
          <a:p>
            <a:pPr marL="171450" indent="-171450" defTabSz="457200">
              <a:lnSpc>
                <a:spcPct val="120000"/>
              </a:lnSpc>
              <a:spcBef>
                <a:spcPct val="90000"/>
              </a:spcBef>
              <a:buSzPct val="100000"/>
              <a:buFontTx/>
              <a:buChar char="•"/>
            </a:pPr>
            <a:r>
              <a:rPr lang="en-US" sz="2400" b="0" dirty="0">
                <a:latin typeface="+mn-lt"/>
              </a:rPr>
              <a:t>Speed of sorting is directly related to the number of comparisons and the number of exchanges required.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39233"/>
            <a:ext cx="45416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/>
              <a:t>Sorting</a:t>
            </a:r>
            <a:r>
              <a:rPr lang="en-GB" sz="3200" b="1" dirty="0"/>
              <a:t> Algorithms</a:t>
            </a:r>
            <a:endParaRPr 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78036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ChangeArrowheads="1"/>
          </p:cNvSpPr>
          <p:nvPr/>
        </p:nvSpPr>
        <p:spPr bwMode="auto">
          <a:xfrm>
            <a:off x="466725" y="1295400"/>
            <a:ext cx="5734050" cy="682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171450" indent="-171450" defTabSz="457200">
              <a:lnSpc>
                <a:spcPct val="120000"/>
              </a:lnSpc>
              <a:spcBef>
                <a:spcPct val="90000"/>
              </a:spcBef>
              <a:buSzPct val="100000"/>
              <a:buFontTx/>
              <a:buChar char="•"/>
            </a:pPr>
            <a:r>
              <a:rPr lang="en-US" sz="2400" b="0" dirty="0">
                <a:latin typeface="+mn-lt"/>
              </a:rPr>
              <a:t>Generally, there are 3 classes of sorting algorithms :</a:t>
            </a:r>
          </a:p>
          <a:p>
            <a:pPr lvl="1" indent="-171450" defTabSz="457200">
              <a:lnSpc>
                <a:spcPct val="120000"/>
              </a:lnSpc>
              <a:spcBef>
                <a:spcPct val="50000"/>
              </a:spcBef>
              <a:buSzPct val="100000"/>
              <a:buFont typeface="Wingdings" pitchFamily="2" charset="2"/>
              <a:buChar char="Œ"/>
            </a:pPr>
            <a:r>
              <a:rPr lang="en-US" sz="2400" b="0" dirty="0">
                <a:latin typeface="+mn-lt"/>
              </a:rPr>
              <a:t> </a:t>
            </a:r>
            <a:r>
              <a:rPr lang="en-US" sz="2400" b="1" dirty="0">
                <a:solidFill>
                  <a:srgbClr val="008000"/>
                </a:solidFill>
                <a:latin typeface="+mn-lt"/>
              </a:rPr>
              <a:t>Exchange Sort</a:t>
            </a:r>
          </a:p>
          <a:p>
            <a:pPr marL="857250" lvl="2" indent="-285750" defTabSz="457200">
              <a:lnSpc>
                <a:spcPct val="120000"/>
              </a:lnSpc>
              <a:spcBef>
                <a:spcPct val="50000"/>
              </a:spcBef>
              <a:buSzPct val="100000"/>
              <a:buFont typeface="Wingdings" pitchFamily="2" charset="2"/>
              <a:buNone/>
            </a:pPr>
            <a:r>
              <a:rPr lang="en-US" sz="2400" b="0" dirty="0">
                <a:latin typeface="+mn-lt"/>
              </a:rPr>
              <a:t>- </a:t>
            </a:r>
            <a:r>
              <a:rPr lang="en-US" sz="2400" b="0" dirty="0" err="1">
                <a:latin typeface="+mn-lt"/>
              </a:rPr>
              <a:t>eg</a:t>
            </a:r>
            <a:r>
              <a:rPr lang="en-US" sz="2400" b="0" dirty="0">
                <a:latin typeface="+mn-lt"/>
              </a:rPr>
              <a:t>. bubble sort, </a:t>
            </a:r>
            <a:r>
              <a:rPr lang="en-US" sz="2400" b="0" dirty="0" err="1">
                <a:latin typeface="+mn-lt"/>
              </a:rPr>
              <a:t>quicksort</a:t>
            </a:r>
            <a:endParaRPr lang="en-US" sz="2400" b="0" dirty="0">
              <a:latin typeface="+mn-lt"/>
            </a:endParaRPr>
          </a:p>
          <a:p>
            <a:pPr lvl="1" indent="-171450" defTabSz="457200">
              <a:lnSpc>
                <a:spcPct val="120000"/>
              </a:lnSpc>
              <a:spcBef>
                <a:spcPct val="50000"/>
              </a:spcBef>
              <a:buSzPct val="100000"/>
              <a:buFont typeface="Wingdings" pitchFamily="2" charset="2"/>
              <a:buChar char=""/>
            </a:pPr>
            <a:r>
              <a:rPr lang="en-US" sz="2400" b="0" dirty="0">
                <a:latin typeface="+mn-lt"/>
              </a:rPr>
              <a:t> </a:t>
            </a:r>
            <a:r>
              <a:rPr lang="en-US" sz="2400" b="1" dirty="0">
                <a:solidFill>
                  <a:srgbClr val="008000"/>
                </a:solidFill>
                <a:latin typeface="+mn-lt"/>
              </a:rPr>
              <a:t>Selection Sort</a:t>
            </a:r>
          </a:p>
          <a:p>
            <a:pPr marL="857250" lvl="2" indent="-285750" defTabSz="457200">
              <a:lnSpc>
                <a:spcPct val="120000"/>
              </a:lnSpc>
              <a:spcBef>
                <a:spcPct val="50000"/>
              </a:spcBef>
              <a:buSzPct val="100000"/>
              <a:buFont typeface="Wingdings" pitchFamily="2" charset="2"/>
              <a:buNone/>
            </a:pPr>
            <a:r>
              <a:rPr lang="en-US" sz="2400" b="0" dirty="0">
                <a:latin typeface="+mn-lt"/>
              </a:rPr>
              <a:t>- </a:t>
            </a:r>
            <a:r>
              <a:rPr lang="en-US" sz="2400" b="0" dirty="0" err="1">
                <a:latin typeface="+mn-lt"/>
              </a:rPr>
              <a:t>eg</a:t>
            </a:r>
            <a:r>
              <a:rPr lang="en-US" sz="2400" b="0" dirty="0">
                <a:latin typeface="+mn-lt"/>
              </a:rPr>
              <a:t>. straight selection sort, binary tree sort</a:t>
            </a:r>
          </a:p>
          <a:p>
            <a:pPr lvl="1" indent="-171450" defTabSz="457200">
              <a:lnSpc>
                <a:spcPct val="120000"/>
              </a:lnSpc>
              <a:spcBef>
                <a:spcPct val="50000"/>
              </a:spcBef>
              <a:buSzPct val="100000"/>
              <a:buFont typeface="Wingdings" pitchFamily="2" charset="2"/>
              <a:buChar char=""/>
            </a:pPr>
            <a:r>
              <a:rPr lang="en-US" sz="2400" b="0" dirty="0">
                <a:latin typeface="+mn-lt"/>
              </a:rPr>
              <a:t> </a:t>
            </a:r>
            <a:r>
              <a:rPr lang="en-US" sz="2400" b="1" dirty="0">
                <a:solidFill>
                  <a:srgbClr val="008000"/>
                </a:solidFill>
                <a:latin typeface="+mn-lt"/>
              </a:rPr>
              <a:t>Insertion Sort</a:t>
            </a:r>
          </a:p>
          <a:p>
            <a:pPr marL="857250" lvl="2" indent="-285750" defTabSz="457200">
              <a:lnSpc>
                <a:spcPct val="120000"/>
              </a:lnSpc>
              <a:spcBef>
                <a:spcPct val="50000"/>
              </a:spcBef>
              <a:buSzPct val="100000"/>
              <a:buFont typeface="Wingdings" pitchFamily="2" charset="2"/>
              <a:buNone/>
            </a:pPr>
            <a:r>
              <a:rPr lang="en-US" sz="2400" b="0" dirty="0">
                <a:latin typeface="+mn-lt"/>
              </a:rPr>
              <a:t>- </a:t>
            </a:r>
            <a:r>
              <a:rPr lang="en-US" sz="2400" b="0" dirty="0" err="1">
                <a:latin typeface="+mn-lt"/>
              </a:rPr>
              <a:t>eg</a:t>
            </a:r>
            <a:r>
              <a:rPr lang="en-US" sz="2400" b="0" dirty="0">
                <a:latin typeface="+mn-lt"/>
              </a:rPr>
              <a:t>. simple insertion sort</a:t>
            </a:r>
          </a:p>
          <a:p>
            <a:pPr lvl="1" indent="-171450" defTabSz="457200">
              <a:lnSpc>
                <a:spcPct val="120000"/>
              </a:lnSpc>
              <a:spcBef>
                <a:spcPct val="50000"/>
              </a:spcBef>
              <a:buSzPct val="100000"/>
              <a:buFont typeface="Wingdings" pitchFamily="2" charset="2"/>
              <a:buNone/>
            </a:pPr>
            <a:endParaRPr lang="en-GB" sz="2400" b="0" dirty="0">
              <a:latin typeface="+mn-lt"/>
            </a:endParaRPr>
          </a:p>
          <a:p>
            <a:pPr lvl="1" indent="-171450" defTabSz="457200">
              <a:lnSpc>
                <a:spcPct val="120000"/>
              </a:lnSpc>
              <a:spcBef>
                <a:spcPct val="50000"/>
              </a:spcBef>
              <a:buSzPct val="100000"/>
              <a:buFont typeface="Wingdings" pitchFamily="2" charset="2"/>
              <a:buNone/>
            </a:pPr>
            <a:r>
              <a:rPr lang="en-US" sz="2400" b="0" dirty="0">
                <a:latin typeface="+mn-lt"/>
              </a:rPr>
              <a:t>We will look at </a:t>
            </a:r>
            <a:r>
              <a:rPr lang="en-US" sz="2400" dirty="0">
                <a:latin typeface="+mn-lt"/>
              </a:rPr>
              <a:t>Bubble Sort, </a:t>
            </a:r>
            <a:r>
              <a:rPr lang="en-GB" sz="2400" dirty="0">
                <a:latin typeface="+mn-lt"/>
              </a:rPr>
              <a:t>S</a:t>
            </a:r>
            <a:r>
              <a:rPr lang="en-US" sz="2400" dirty="0">
                <a:latin typeface="+mn-lt"/>
              </a:rPr>
              <a:t>election Sort </a:t>
            </a:r>
            <a:r>
              <a:rPr lang="en-US" sz="2400" b="0" dirty="0">
                <a:latin typeface="+mn-lt"/>
              </a:rPr>
              <a:t>and</a:t>
            </a:r>
            <a:r>
              <a:rPr lang="en-US" sz="2400" dirty="0">
                <a:latin typeface="+mn-lt"/>
              </a:rPr>
              <a:t> Insertion Sort</a:t>
            </a:r>
          </a:p>
          <a:p>
            <a:pPr marL="171450" indent="-171450" defTabSz="457200"/>
            <a:endParaRPr lang="en-GB" sz="2400" b="0" i="1" dirty="0">
              <a:solidFill>
                <a:srgbClr val="FF33CC"/>
              </a:solidFill>
              <a:latin typeface="+mn-lt"/>
            </a:endParaRPr>
          </a:p>
          <a:p>
            <a:pPr marL="171450" indent="-171450" defTabSz="457200"/>
            <a:r>
              <a:rPr lang="en-GB" sz="2400" b="0" i="1" dirty="0">
                <a:solidFill>
                  <a:srgbClr val="FF33CC"/>
                </a:solidFill>
                <a:latin typeface="+mn-lt"/>
              </a:rPr>
              <a:t>	</a:t>
            </a:r>
            <a:endParaRPr lang="en-US" sz="2400" b="0" i="1" dirty="0">
              <a:solidFill>
                <a:srgbClr val="FF33CC"/>
              </a:solidFill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539233"/>
            <a:ext cx="45416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/>
              <a:t>Sorting</a:t>
            </a:r>
            <a:r>
              <a:rPr lang="en-GB" sz="3200" b="1" dirty="0"/>
              <a:t> Algorithms</a:t>
            </a:r>
            <a:endParaRPr 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28873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5186" y="539232"/>
            <a:ext cx="59795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/>
              <a:t>Sorting</a:t>
            </a:r>
            <a:r>
              <a:rPr lang="en-GB" sz="3200" b="1" dirty="0"/>
              <a:t> Algorithms Video</a:t>
            </a:r>
            <a:endParaRPr lang="en-US" sz="3200" b="1" dirty="0"/>
          </a:p>
        </p:txBody>
      </p:sp>
      <p:sp>
        <p:nvSpPr>
          <p:cNvPr id="3" name="Rectangle 2"/>
          <p:cNvSpPr/>
          <p:nvPr/>
        </p:nvSpPr>
        <p:spPr>
          <a:xfrm>
            <a:off x="559469" y="1332163"/>
            <a:ext cx="5850956" cy="7201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>
              <a:lnSpc>
                <a:spcPct val="120000"/>
              </a:lnSpc>
              <a:spcBef>
                <a:spcPct val="90000"/>
              </a:spcBef>
              <a:buSzPct val="100000"/>
            </a:pPr>
            <a:r>
              <a:rPr lang="en-US" sz="2000" dirty="0"/>
              <a:t>Watch these Short video clips to have an overview of the sorting algorithms. The explanation is clear and simple.</a:t>
            </a:r>
          </a:p>
          <a:p>
            <a:pPr marL="342900" indent="-342900" defTabSz="457200">
              <a:lnSpc>
                <a:spcPct val="120000"/>
              </a:lnSpc>
              <a:spcBef>
                <a:spcPct val="900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000" b="1" dirty="0"/>
              <a:t>Exchange/Bubble Sort (5Mins)</a:t>
            </a:r>
          </a:p>
          <a:p>
            <a:pPr defTabSz="457200">
              <a:lnSpc>
                <a:spcPct val="120000"/>
              </a:lnSpc>
              <a:spcBef>
                <a:spcPct val="90000"/>
              </a:spcBef>
              <a:buSzPct val="100000"/>
            </a:pPr>
            <a:r>
              <a:rPr lang="en-US" sz="2000" dirty="0">
                <a:hlinkClick r:id="rId3"/>
              </a:rPr>
              <a:t>https://www.youtube.com/watch?v=8Kp-8OGwphY</a:t>
            </a:r>
            <a:endParaRPr lang="en-US" sz="2000" dirty="0"/>
          </a:p>
          <a:p>
            <a:pPr marL="342900" indent="-342900" defTabSz="457200">
              <a:lnSpc>
                <a:spcPct val="120000"/>
              </a:lnSpc>
              <a:spcBef>
                <a:spcPct val="900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000" b="1" dirty="0"/>
              <a:t>Selection Sort (9Mins)</a:t>
            </a:r>
          </a:p>
          <a:p>
            <a:pPr defTabSz="457200">
              <a:lnSpc>
                <a:spcPct val="120000"/>
              </a:lnSpc>
              <a:spcBef>
                <a:spcPct val="90000"/>
              </a:spcBef>
              <a:buSzPct val="100000"/>
            </a:pPr>
            <a:r>
              <a:rPr lang="en-US" sz="2000" dirty="0">
                <a:hlinkClick r:id="rId4"/>
              </a:rPr>
              <a:t>https://www.youtube.com/watch?v=f8hXR_Hvybo</a:t>
            </a:r>
            <a:endParaRPr lang="en-US" sz="2000" dirty="0"/>
          </a:p>
          <a:p>
            <a:pPr marL="342900" indent="-342900" defTabSz="457200">
              <a:lnSpc>
                <a:spcPct val="120000"/>
              </a:lnSpc>
              <a:spcBef>
                <a:spcPct val="900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000" b="1" dirty="0"/>
              <a:t>Insertion Sort (9Mins)</a:t>
            </a:r>
          </a:p>
          <a:p>
            <a:pPr defTabSz="457200">
              <a:lnSpc>
                <a:spcPct val="120000"/>
              </a:lnSpc>
              <a:spcBef>
                <a:spcPct val="90000"/>
              </a:spcBef>
              <a:buSzPct val="100000"/>
            </a:pPr>
            <a:r>
              <a:rPr lang="en-US" sz="2000" dirty="0">
                <a:hlinkClick r:id="rId5"/>
              </a:rPr>
              <a:t>https://youtu.be/DFG-XuyPYUQ?list=PLx3witYKF_5L3YKvXS3p3da-rqwghvW_Q</a:t>
            </a:r>
            <a:endParaRPr lang="en-US" sz="2000" dirty="0"/>
          </a:p>
          <a:p>
            <a:pPr defTabSz="457200">
              <a:lnSpc>
                <a:spcPct val="120000"/>
              </a:lnSpc>
              <a:spcBef>
                <a:spcPct val="90000"/>
              </a:spcBef>
              <a:buSzPct val="100000"/>
            </a:pPr>
            <a:endParaRPr lang="en-US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19868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3074"/>
          <p:cNvSpPr>
            <a:spLocks noChangeArrowheads="1"/>
          </p:cNvSpPr>
          <p:nvPr/>
        </p:nvSpPr>
        <p:spPr bwMode="auto">
          <a:xfrm>
            <a:off x="457200" y="1136478"/>
            <a:ext cx="6143668" cy="739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171450" indent="-171450" defTabSz="457200">
              <a:lnSpc>
                <a:spcPct val="160000"/>
              </a:lnSpc>
              <a:spcBef>
                <a:spcPct val="90000"/>
              </a:spcBef>
              <a:buSzPct val="100000"/>
            </a:pPr>
            <a:r>
              <a:rPr lang="en-US" sz="2400" dirty="0">
                <a:latin typeface="+mn-lt"/>
              </a:rPr>
              <a:t>Types </a:t>
            </a:r>
            <a:r>
              <a:rPr lang="en-GB" sz="2400" dirty="0">
                <a:latin typeface="+mn-lt"/>
              </a:rPr>
              <a:t>of </a:t>
            </a:r>
            <a:r>
              <a:rPr lang="en-US" sz="2400" dirty="0">
                <a:latin typeface="+mn-lt"/>
              </a:rPr>
              <a:t>Sorting</a:t>
            </a:r>
            <a:r>
              <a:rPr lang="en-GB" sz="2400" dirty="0">
                <a:latin typeface="+mn-lt"/>
              </a:rPr>
              <a:t> Algorithms</a:t>
            </a:r>
            <a:endParaRPr lang="en-US" sz="2400" b="0" dirty="0">
              <a:latin typeface="+mn-lt"/>
            </a:endParaRPr>
          </a:p>
          <a:p>
            <a:pPr marL="171450" indent="-171450" defTabSz="457200">
              <a:lnSpc>
                <a:spcPct val="120000"/>
              </a:lnSpc>
              <a:spcBef>
                <a:spcPct val="90000"/>
              </a:spcBef>
              <a:buSzPct val="100000"/>
              <a:buFont typeface="Wingdings" pitchFamily="2" charset="2"/>
              <a:buChar char="Œ"/>
            </a:pPr>
            <a:r>
              <a:rPr lang="en-GB" sz="2400" dirty="0">
                <a:latin typeface="+mn-lt"/>
              </a:rPr>
              <a:t> </a:t>
            </a:r>
            <a:r>
              <a:rPr lang="en-US" sz="2400" dirty="0">
                <a:latin typeface="+mn-lt"/>
              </a:rPr>
              <a:t>Bubble Sort</a:t>
            </a:r>
            <a:endParaRPr lang="en-US" sz="2400" b="0" dirty="0">
              <a:latin typeface="+mn-lt"/>
            </a:endParaRPr>
          </a:p>
          <a:p>
            <a:pPr marL="171450" indent="-171450" defTabSz="457200">
              <a:lnSpc>
                <a:spcPct val="120000"/>
              </a:lnSpc>
              <a:spcBef>
                <a:spcPct val="90000"/>
              </a:spcBef>
              <a:buSzPct val="100000"/>
              <a:buFontTx/>
              <a:buChar char="•"/>
            </a:pPr>
            <a:r>
              <a:rPr lang="en-US" sz="2400" b="0" dirty="0">
                <a:latin typeface="+mn-lt"/>
              </a:rPr>
              <a:t>It uses the exchange method of sorting.</a:t>
            </a:r>
          </a:p>
          <a:p>
            <a:pPr marL="171450" indent="-171450" defTabSz="457200">
              <a:lnSpc>
                <a:spcPct val="120000"/>
              </a:lnSpc>
              <a:spcBef>
                <a:spcPct val="90000"/>
              </a:spcBef>
              <a:buSzPct val="100000"/>
              <a:buFontTx/>
              <a:buChar char="•"/>
            </a:pPr>
            <a:r>
              <a:rPr lang="en-US" sz="2400" b="0" dirty="0">
                <a:latin typeface="+mn-lt"/>
              </a:rPr>
              <a:t>The data “bubbles” its way to the top</a:t>
            </a:r>
            <a:r>
              <a:rPr lang="en-GB" sz="2400" b="0" dirty="0">
                <a:latin typeface="+mn-lt"/>
              </a:rPr>
              <a:t>.</a:t>
            </a:r>
          </a:p>
          <a:p>
            <a:pPr marL="171450" indent="-171450" defTabSz="457200">
              <a:lnSpc>
                <a:spcPct val="120000"/>
              </a:lnSpc>
              <a:spcBef>
                <a:spcPct val="90000"/>
              </a:spcBef>
              <a:buSzPct val="100000"/>
              <a:buFontTx/>
              <a:buChar char="•"/>
            </a:pPr>
            <a:r>
              <a:rPr lang="en-GB" sz="2400" b="0" dirty="0">
                <a:latin typeface="+mn-lt"/>
              </a:rPr>
              <a:t>When an array of numbers is used, the smaller numbers “bubble” their way to the start of the array.</a:t>
            </a:r>
            <a:endParaRPr lang="en-US" sz="2400" b="0" dirty="0">
              <a:latin typeface="+mn-lt"/>
            </a:endParaRPr>
          </a:p>
          <a:p>
            <a:pPr marL="171450" indent="-171450" defTabSz="457200">
              <a:lnSpc>
                <a:spcPct val="120000"/>
              </a:lnSpc>
              <a:spcBef>
                <a:spcPct val="90000"/>
              </a:spcBef>
              <a:buSzPct val="100000"/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  <a:latin typeface="+mn-lt"/>
              </a:rPr>
              <a:t>Simplest</a:t>
            </a:r>
            <a:r>
              <a:rPr lang="en-US" sz="2400" b="0" dirty="0">
                <a:latin typeface="+mn-lt"/>
              </a:rPr>
              <a:t> to implement but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not efficient</a:t>
            </a:r>
            <a:r>
              <a:rPr lang="en-US" sz="2400" b="0" dirty="0">
                <a:latin typeface="+mn-lt"/>
              </a:rPr>
              <a:t>.</a:t>
            </a:r>
          </a:p>
        </p:txBody>
      </p:sp>
      <p:pic>
        <p:nvPicPr>
          <p:cNvPr id="254977" name="Picture 5121" descr="C:\temp\Temporary Internet Files\Content.IE5\2XJKH8BU\MPj04450080000[1].jpg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1285860" y="6543688"/>
            <a:ext cx="4214842" cy="1643074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</p:pic>
      <p:sp>
        <p:nvSpPr>
          <p:cNvPr id="4" name="Rectangle 3"/>
          <p:cNvSpPr/>
          <p:nvPr/>
        </p:nvSpPr>
        <p:spPr>
          <a:xfrm>
            <a:off x="457200" y="5833"/>
            <a:ext cx="45416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/>
              <a:t>Sorting</a:t>
            </a:r>
            <a:r>
              <a:rPr lang="en-GB" sz="3200" b="1" dirty="0"/>
              <a:t> Algorithms</a:t>
            </a:r>
            <a:endParaRPr lang="en-US" sz="3200" b="1" dirty="0"/>
          </a:p>
        </p:txBody>
      </p:sp>
      <p:sp>
        <p:nvSpPr>
          <p:cNvPr id="5" name="Rectangle 4"/>
          <p:cNvSpPr/>
          <p:nvPr/>
        </p:nvSpPr>
        <p:spPr>
          <a:xfrm>
            <a:off x="754054" y="635418"/>
            <a:ext cx="1786066" cy="3894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>
              <a:lnSpc>
                <a:spcPct val="120000"/>
              </a:lnSpc>
              <a:spcBef>
                <a:spcPct val="90000"/>
              </a:spcBef>
              <a:buClr>
                <a:schemeClr val="hlink"/>
              </a:buClr>
              <a:buSzPct val="150000"/>
            </a:pPr>
            <a:r>
              <a:rPr lang="en-GB" dirty="0"/>
              <a:t> </a:t>
            </a:r>
            <a:r>
              <a:rPr lang="en-US" b="1" dirty="0">
                <a:solidFill>
                  <a:srgbClr val="008000"/>
                </a:solidFill>
              </a:rPr>
              <a:t>Bubble Sort</a:t>
            </a:r>
          </a:p>
        </p:txBody>
      </p:sp>
      <p:sp>
        <p:nvSpPr>
          <p:cNvPr id="6" name="Oval 5"/>
          <p:cNvSpPr/>
          <p:nvPr/>
        </p:nvSpPr>
        <p:spPr>
          <a:xfrm>
            <a:off x="561975" y="710559"/>
            <a:ext cx="302102" cy="27622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2584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155528"/>
            <a:ext cx="6048375" cy="7705725"/>
          </a:xfrm>
        </p:spPr>
        <p:txBody>
          <a:bodyPr/>
          <a:lstStyle/>
          <a:p>
            <a:pPr marL="0" indent="0">
              <a:lnSpc>
                <a:spcPct val="120000"/>
              </a:lnSpc>
              <a:buFontTx/>
              <a:buNone/>
            </a:pPr>
            <a:r>
              <a:rPr lang="en-GB" sz="2400" b="1" dirty="0"/>
              <a:t>I</a:t>
            </a:r>
            <a:r>
              <a:rPr lang="en-US" sz="2400" b="1" dirty="0" err="1"/>
              <a:t>mplement</a:t>
            </a:r>
            <a:r>
              <a:rPr lang="en-GB" sz="2400" b="1" dirty="0" err="1"/>
              <a:t>ing</a:t>
            </a:r>
            <a:r>
              <a:rPr lang="en-US" sz="2400" b="1" dirty="0"/>
              <a:t> the </a:t>
            </a:r>
            <a:r>
              <a:rPr lang="en-GB" sz="2400" b="1" dirty="0"/>
              <a:t>Bubble Sort </a:t>
            </a:r>
            <a:r>
              <a:rPr lang="en-US" sz="2400" b="1" dirty="0"/>
              <a:t>algorithm in C</a:t>
            </a:r>
            <a:r>
              <a:rPr lang="en-GB" sz="2400" b="1" dirty="0"/>
              <a:t>#</a:t>
            </a:r>
          </a:p>
          <a:p>
            <a:pPr marL="0" indent="0">
              <a:lnSpc>
                <a:spcPct val="120000"/>
              </a:lnSpc>
              <a:buFontTx/>
              <a:buNone/>
            </a:pPr>
            <a:r>
              <a:rPr lang="en-US" sz="2400" dirty="0"/>
              <a:t>Assume </a:t>
            </a:r>
            <a:r>
              <a:rPr lang="en-GB" sz="2400" dirty="0"/>
              <a:t>you had to sort the following </a:t>
            </a:r>
            <a:r>
              <a:rPr lang="en-US" sz="2400" dirty="0"/>
              <a:t>data in an integer array.</a:t>
            </a:r>
          </a:p>
          <a:p>
            <a:pPr marL="0" indent="0">
              <a:lnSpc>
                <a:spcPct val="120000"/>
              </a:lnSpc>
              <a:buFontTx/>
              <a:buNone/>
            </a:pPr>
            <a:r>
              <a:rPr lang="en-US" sz="2400" b="1" dirty="0"/>
              <a:t>		28  65  59  23  76  32</a:t>
            </a:r>
            <a:endParaRPr lang="en-US" sz="2400" dirty="0"/>
          </a:p>
          <a:p>
            <a:pPr marL="0" indent="0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GB" sz="2400" dirty="0"/>
              <a:t>Bubble sort searches through n numbers using n – 1 passes. 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GB" sz="2400" dirty="0"/>
              <a:t>After each pass, the next smallest number has been bubbled to the front.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GB" sz="2400" dirty="0"/>
              <a:t>So, after the first pass the smallest number is at the front.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GB" sz="2400" dirty="0"/>
              <a:t>After the second pass the second smallest number is next, and so on.</a:t>
            </a:r>
            <a:endParaRPr lang="en-US" sz="2400" dirty="0"/>
          </a:p>
        </p:txBody>
      </p:sp>
      <p:sp>
        <p:nvSpPr>
          <p:cNvPr id="117763" name="Line 3"/>
          <p:cNvSpPr>
            <a:spLocks noChangeShapeType="1"/>
          </p:cNvSpPr>
          <p:nvPr/>
        </p:nvSpPr>
        <p:spPr bwMode="auto">
          <a:xfrm flipH="1">
            <a:off x="3581400" y="2898775"/>
            <a:ext cx="1676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7764" name="Text Box 4"/>
          <p:cNvSpPr txBox="1">
            <a:spLocks noChangeArrowheads="1"/>
          </p:cNvSpPr>
          <p:nvPr/>
        </p:nvSpPr>
        <p:spPr bwMode="auto">
          <a:xfrm>
            <a:off x="4572000" y="2898775"/>
            <a:ext cx="730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Back</a:t>
            </a: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57200" y="5833"/>
            <a:ext cx="45416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/>
              <a:t>Sorting</a:t>
            </a:r>
            <a:r>
              <a:rPr lang="en-GB" sz="3200" b="1" dirty="0"/>
              <a:t> Algorithms</a:t>
            </a:r>
            <a:endParaRPr lang="en-US" sz="3200" b="1" dirty="0"/>
          </a:p>
        </p:txBody>
      </p:sp>
      <p:sp>
        <p:nvSpPr>
          <p:cNvPr id="7" name="Rectangle 6"/>
          <p:cNvSpPr/>
          <p:nvPr/>
        </p:nvSpPr>
        <p:spPr>
          <a:xfrm>
            <a:off x="754054" y="635418"/>
            <a:ext cx="1786066" cy="3894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>
              <a:lnSpc>
                <a:spcPct val="120000"/>
              </a:lnSpc>
              <a:spcBef>
                <a:spcPct val="90000"/>
              </a:spcBef>
              <a:buClr>
                <a:schemeClr val="hlink"/>
              </a:buClr>
              <a:buSzPct val="150000"/>
            </a:pPr>
            <a:r>
              <a:rPr lang="en-GB" dirty="0"/>
              <a:t> </a:t>
            </a:r>
            <a:r>
              <a:rPr lang="en-US" b="1" dirty="0">
                <a:solidFill>
                  <a:srgbClr val="008000"/>
                </a:solidFill>
              </a:rPr>
              <a:t>Bubble Sort</a:t>
            </a:r>
          </a:p>
        </p:txBody>
      </p:sp>
      <p:sp>
        <p:nvSpPr>
          <p:cNvPr id="8" name="Oval 7"/>
          <p:cNvSpPr/>
          <p:nvPr/>
        </p:nvSpPr>
        <p:spPr>
          <a:xfrm>
            <a:off x="561975" y="710559"/>
            <a:ext cx="302102" cy="27622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31233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129085"/>
            <a:ext cx="6048375" cy="7625184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50000"/>
              </a:spcBef>
              <a:buClr>
                <a:schemeClr val="hlink"/>
              </a:buClr>
              <a:buFontTx/>
              <a:buNone/>
            </a:pPr>
            <a:r>
              <a:rPr lang="en-GB" sz="2400" b="1" dirty="0"/>
              <a:t>View this animation, it helps you to understand how Bubble sort works:</a:t>
            </a:r>
            <a:endParaRPr lang="en-GB" sz="2400" b="1" dirty="0">
              <a:hlinkClick r:id="rId3"/>
            </a:endParaRPr>
          </a:p>
          <a:p>
            <a:pPr>
              <a:lnSpc>
                <a:spcPct val="100000"/>
              </a:lnSpc>
              <a:spcBef>
                <a:spcPct val="50000"/>
              </a:spcBef>
              <a:buClr>
                <a:schemeClr val="hlink"/>
              </a:buClr>
              <a:buFontTx/>
              <a:buNone/>
            </a:pPr>
            <a:r>
              <a:rPr lang="en-GB" sz="2400" dirty="0">
                <a:hlinkClick r:id="rId3"/>
              </a:rPr>
              <a:t>http://www.ee.ryerson.ca/~courses/coe428/sorting/bubblesort.html</a:t>
            </a:r>
            <a:endParaRPr lang="en-GB" sz="2400" dirty="0"/>
          </a:p>
          <a:p>
            <a:pPr>
              <a:lnSpc>
                <a:spcPct val="100000"/>
              </a:lnSpc>
              <a:spcBef>
                <a:spcPct val="50000"/>
              </a:spcBef>
              <a:buClr>
                <a:schemeClr val="hlink"/>
              </a:buClr>
              <a:buFontTx/>
              <a:buNone/>
            </a:pPr>
            <a:endParaRPr lang="en-GB" sz="2400" dirty="0"/>
          </a:p>
          <a:p>
            <a:pPr>
              <a:lnSpc>
                <a:spcPct val="100000"/>
              </a:lnSpc>
              <a:spcBef>
                <a:spcPct val="50000"/>
              </a:spcBef>
              <a:buClr>
                <a:schemeClr val="hlink"/>
              </a:buClr>
              <a:buFontTx/>
              <a:buNone/>
            </a:pPr>
            <a:r>
              <a:rPr lang="en-GB" sz="2000" dirty="0"/>
              <a:t>The </a:t>
            </a:r>
            <a:r>
              <a:rPr lang="en-US" sz="2000" dirty="0"/>
              <a:t>Pattern:</a:t>
            </a:r>
          </a:p>
          <a:p>
            <a:pPr marL="863600" lvl="1" indent="-577850">
              <a:lnSpc>
                <a:spcPct val="100000"/>
              </a:lnSpc>
              <a:buClr>
                <a:schemeClr val="hlink"/>
              </a:buClr>
              <a:buFont typeface="Wingdings" pitchFamily="2" charset="2"/>
              <a:buChar char="q"/>
            </a:pPr>
            <a:r>
              <a:rPr lang="en-US" sz="2000" dirty="0"/>
              <a:t>Scan data from back to front.</a:t>
            </a:r>
            <a:endParaRPr lang="en-GB" sz="2000" dirty="0"/>
          </a:p>
          <a:p>
            <a:pPr marL="863600" lvl="1" indent="-577850">
              <a:lnSpc>
                <a:spcPct val="100000"/>
              </a:lnSpc>
              <a:buClr>
                <a:schemeClr val="hlink"/>
              </a:buClr>
              <a:buFont typeface="Wingdings" pitchFamily="2" charset="2"/>
              <a:buChar char="q"/>
            </a:pPr>
            <a:r>
              <a:rPr lang="en-GB" sz="2000" dirty="0"/>
              <a:t>At each position, c</a:t>
            </a:r>
            <a:r>
              <a:rPr lang="en-US" sz="2000" dirty="0"/>
              <a:t>heck if value of </a:t>
            </a:r>
            <a:r>
              <a:rPr lang="en-GB" sz="2000" dirty="0"/>
              <a:t>the </a:t>
            </a:r>
            <a:r>
              <a:rPr lang="en-US" sz="2000" dirty="0"/>
              <a:t>current data is less than data in </a:t>
            </a:r>
            <a:r>
              <a:rPr lang="en-GB" sz="2000" dirty="0"/>
              <a:t>before it (</a:t>
            </a:r>
            <a:r>
              <a:rPr lang="en-GB" sz="2000" dirty="0" err="1"/>
              <a:t>eg</a:t>
            </a:r>
            <a:r>
              <a:rPr lang="en-GB" sz="2000" dirty="0"/>
              <a:t> if 32 &lt; 76)</a:t>
            </a:r>
            <a:r>
              <a:rPr lang="en-US" sz="2000" dirty="0"/>
              <a:t>. </a:t>
            </a:r>
            <a:endParaRPr lang="en-GB" sz="2000" dirty="0"/>
          </a:p>
          <a:p>
            <a:pPr marL="863600" lvl="1" indent="-577850">
              <a:lnSpc>
                <a:spcPct val="100000"/>
              </a:lnSpc>
              <a:buClr>
                <a:schemeClr val="hlink"/>
              </a:buClr>
              <a:buFont typeface="Wingdings" pitchFamily="2" charset="2"/>
              <a:buChar char="q"/>
            </a:pPr>
            <a:r>
              <a:rPr lang="en-US" sz="2000" dirty="0"/>
              <a:t>If TRUE, swap their position! </a:t>
            </a:r>
            <a:endParaRPr lang="en-GB" sz="2000" dirty="0"/>
          </a:p>
          <a:p>
            <a:pPr marL="863600" lvl="1" indent="-577850">
              <a:lnSpc>
                <a:spcPct val="100000"/>
              </a:lnSpc>
              <a:buClr>
                <a:schemeClr val="hlink"/>
              </a:buClr>
              <a:buFont typeface="Wingdings" pitchFamily="2" charset="2"/>
              <a:buChar char="q"/>
            </a:pPr>
            <a:r>
              <a:rPr lang="en-US" sz="2000" dirty="0"/>
              <a:t>If FALSE, do nothing.</a:t>
            </a:r>
          </a:p>
          <a:p>
            <a:pPr marL="863600" lvl="1" indent="-577850">
              <a:lnSpc>
                <a:spcPct val="100000"/>
              </a:lnSpc>
              <a:buClr>
                <a:schemeClr val="hlink"/>
              </a:buClr>
              <a:buFont typeface="Wingdings" pitchFamily="2" charset="2"/>
              <a:buChar char="q"/>
            </a:pPr>
            <a:r>
              <a:rPr lang="en-GB" sz="2000" dirty="0"/>
              <a:t>Repeat n – 1 times (where n is the number of numbers in the array)</a:t>
            </a:r>
            <a:r>
              <a:rPr lang="en-US" sz="2000" dirty="0"/>
              <a:t>.</a:t>
            </a:r>
            <a:endParaRPr lang="en-GB" sz="2000" dirty="0"/>
          </a:p>
          <a:p>
            <a:pPr marL="863600" lvl="1" indent="-577850">
              <a:lnSpc>
                <a:spcPct val="100000"/>
              </a:lnSpc>
              <a:buClr>
                <a:schemeClr val="hlink"/>
              </a:buClr>
              <a:buFont typeface="Wingdings" pitchFamily="2" charset="2"/>
              <a:buChar char="q"/>
            </a:pPr>
            <a:r>
              <a:rPr lang="en-GB" sz="2000" dirty="0"/>
              <a:t>Note that on the first pass you stop at position 1 (where 65 is above). On the second pass you stop at position 2. And so on. This is because when you get there the numbers in front are already sorted.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457200" y="5833"/>
            <a:ext cx="45416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/>
              <a:t>Sorting</a:t>
            </a:r>
            <a:r>
              <a:rPr lang="en-GB" sz="3200" b="1" dirty="0"/>
              <a:t> Algorithms</a:t>
            </a:r>
            <a:endParaRPr lang="en-US" sz="3200" b="1" dirty="0"/>
          </a:p>
        </p:txBody>
      </p:sp>
      <p:sp>
        <p:nvSpPr>
          <p:cNvPr id="7" name="Rectangle 6"/>
          <p:cNvSpPr/>
          <p:nvPr/>
        </p:nvSpPr>
        <p:spPr>
          <a:xfrm>
            <a:off x="754054" y="635418"/>
            <a:ext cx="1786066" cy="3894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>
              <a:lnSpc>
                <a:spcPct val="120000"/>
              </a:lnSpc>
              <a:spcBef>
                <a:spcPct val="90000"/>
              </a:spcBef>
              <a:buClr>
                <a:schemeClr val="hlink"/>
              </a:buClr>
              <a:buSzPct val="150000"/>
            </a:pPr>
            <a:r>
              <a:rPr lang="en-GB" dirty="0"/>
              <a:t> </a:t>
            </a:r>
            <a:r>
              <a:rPr lang="en-US" b="1" dirty="0">
                <a:solidFill>
                  <a:srgbClr val="008000"/>
                </a:solidFill>
              </a:rPr>
              <a:t>Bubble Sort</a:t>
            </a:r>
          </a:p>
        </p:txBody>
      </p:sp>
      <p:sp>
        <p:nvSpPr>
          <p:cNvPr id="8" name="Oval 7"/>
          <p:cNvSpPr/>
          <p:nvPr/>
        </p:nvSpPr>
        <p:spPr>
          <a:xfrm>
            <a:off x="561975" y="710559"/>
            <a:ext cx="302102" cy="27622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5264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68313" y="1146175"/>
            <a:ext cx="5734050" cy="7391400"/>
          </a:xfr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40000"/>
              </a:lnSpc>
              <a:buNone/>
            </a:pPr>
            <a:r>
              <a:rPr lang="en-US" sz="2400" b="1" u="sng" dirty="0"/>
              <a:t>Bubble Sort Code:</a:t>
            </a:r>
          </a:p>
          <a:p>
            <a:pPr lvl="1">
              <a:lnSpc>
                <a:spcPct val="70000"/>
              </a:lnSpc>
              <a:buNone/>
            </a:pPr>
            <a:r>
              <a:rPr lang="en-US" sz="2000" dirty="0"/>
              <a:t>private void bubble(</a:t>
            </a:r>
            <a:r>
              <a:rPr lang="en-US" sz="2000" dirty="0" err="1"/>
              <a:t>int</a:t>
            </a:r>
            <a:r>
              <a:rPr lang="en-US" sz="2000" dirty="0"/>
              <a:t> []</a:t>
            </a:r>
            <a:r>
              <a:rPr lang="en-US" sz="2000" dirty="0" err="1"/>
              <a:t>ar</a:t>
            </a:r>
            <a:r>
              <a:rPr lang="en-US" sz="2000" dirty="0"/>
              <a:t>)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dirty="0"/>
              <a:t>{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dirty="0"/>
              <a:t>	 </a:t>
            </a:r>
            <a:r>
              <a:rPr lang="en-US" sz="2000" dirty="0" err="1"/>
              <a:t>int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, j, temp;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None/>
            </a:pPr>
            <a:r>
              <a:rPr lang="en-GB" sz="2000" dirty="0"/>
              <a:t>	 </a:t>
            </a:r>
            <a:r>
              <a:rPr lang="en-GB" sz="2000" dirty="0" err="1"/>
              <a:t>int</a:t>
            </a:r>
            <a:r>
              <a:rPr lang="en-GB" sz="2000" dirty="0"/>
              <a:t> n = </a:t>
            </a:r>
            <a:r>
              <a:rPr lang="en-GB" sz="2000" dirty="0" err="1"/>
              <a:t>ar.Length</a:t>
            </a:r>
            <a:r>
              <a:rPr lang="en-GB" sz="2000" dirty="0"/>
              <a:t>;</a:t>
            </a:r>
            <a:endParaRPr lang="en-US" sz="2000" dirty="0"/>
          </a:p>
          <a:p>
            <a:pPr lvl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dirty="0"/>
              <a:t>	 for (</a:t>
            </a:r>
            <a:r>
              <a:rPr lang="en-US" sz="2000" dirty="0" err="1"/>
              <a:t>i</a:t>
            </a:r>
            <a:r>
              <a:rPr lang="en-US" sz="2000" dirty="0"/>
              <a:t>=1; </a:t>
            </a:r>
            <a:r>
              <a:rPr lang="en-US" sz="2000" dirty="0" err="1"/>
              <a:t>i</a:t>
            </a:r>
            <a:r>
              <a:rPr lang="en-US" sz="2000" dirty="0"/>
              <a:t>&lt;n; </a:t>
            </a:r>
            <a:r>
              <a:rPr lang="en-US" sz="2000" dirty="0" err="1"/>
              <a:t>i</a:t>
            </a:r>
            <a:r>
              <a:rPr lang="en-US" sz="2000" dirty="0"/>
              <a:t>++)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None/>
            </a:pPr>
            <a:endParaRPr lang="en-US" sz="2000" dirty="0"/>
          </a:p>
          <a:p>
            <a:pPr lvl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dirty="0"/>
              <a:t>		/</a:t>
            </a:r>
            <a:r>
              <a:rPr lang="en-GB" sz="2000" dirty="0"/>
              <a:t>/</a:t>
            </a:r>
            <a:r>
              <a:rPr lang="en-US" sz="2000" dirty="0"/>
              <a:t> compare back to front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dirty="0"/>
              <a:t>	 	for (j=n-1; j&gt;=</a:t>
            </a:r>
            <a:r>
              <a:rPr lang="en-US" sz="2000" dirty="0" err="1"/>
              <a:t>i</a:t>
            </a:r>
            <a:r>
              <a:rPr lang="en-US" sz="2000" dirty="0"/>
              <a:t>; j--)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dirty="0"/>
              <a:t>		{	/</a:t>
            </a:r>
            <a:r>
              <a:rPr lang="en-GB" sz="2000" dirty="0"/>
              <a:t>/</a:t>
            </a:r>
            <a:r>
              <a:rPr lang="en-US" sz="2000" dirty="0"/>
              <a:t> swap if element is</a:t>
            </a:r>
            <a:endParaRPr lang="en-GB" sz="2000" dirty="0"/>
          </a:p>
          <a:p>
            <a:pPr lvl="1">
              <a:lnSpc>
                <a:spcPct val="100000"/>
              </a:lnSpc>
              <a:spcBef>
                <a:spcPct val="0"/>
              </a:spcBef>
              <a:buNone/>
            </a:pPr>
            <a:r>
              <a:rPr lang="en-GB" sz="2000" dirty="0"/>
              <a:t>			//</a:t>
            </a:r>
            <a:r>
              <a:rPr lang="en-US" sz="2000" dirty="0"/>
              <a:t> out of order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dirty="0"/>
              <a:t>	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dirty="0"/>
              <a:t>			/</a:t>
            </a:r>
            <a:r>
              <a:rPr lang="en-GB" sz="2000" dirty="0"/>
              <a:t>/</a:t>
            </a:r>
            <a:r>
              <a:rPr lang="en-US" sz="2000" dirty="0"/>
              <a:t>in-front</a:t>
            </a:r>
            <a:r>
              <a:rPr lang="en-GB" sz="2000" dirty="0"/>
              <a:t> </a:t>
            </a:r>
            <a:r>
              <a:rPr lang="en-US" sz="2000" dirty="0"/>
              <a:t>&gt;</a:t>
            </a:r>
            <a:r>
              <a:rPr lang="en-GB" sz="2000" dirty="0"/>
              <a:t> </a:t>
            </a:r>
            <a:r>
              <a:rPr lang="en-US" sz="2000" dirty="0"/>
              <a:t>current ?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dirty="0"/>
              <a:t>			if (</a:t>
            </a:r>
            <a:r>
              <a:rPr lang="en-US" sz="2000" dirty="0" err="1"/>
              <a:t>ar</a:t>
            </a:r>
            <a:r>
              <a:rPr lang="en-US" sz="2000" dirty="0"/>
              <a:t>[j-1] &gt; </a:t>
            </a:r>
            <a:r>
              <a:rPr lang="en-US" sz="2000" dirty="0" err="1"/>
              <a:t>ar</a:t>
            </a:r>
            <a:r>
              <a:rPr lang="en-US" sz="2000" dirty="0"/>
              <a:t>[j])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dirty="0"/>
              <a:t>			{</a:t>
            </a:r>
            <a:r>
              <a:rPr lang="en-GB" sz="2000" dirty="0"/>
              <a:t>	</a:t>
            </a:r>
            <a:r>
              <a:rPr lang="en-US" sz="2000" dirty="0"/>
              <a:t>/</a:t>
            </a:r>
            <a:r>
              <a:rPr lang="en-GB" sz="2000" dirty="0"/>
              <a:t>/</a:t>
            </a:r>
            <a:r>
              <a:rPr lang="en-US" sz="2000" dirty="0"/>
              <a:t> swap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dirty="0"/>
              <a:t>				temp    = </a:t>
            </a:r>
            <a:r>
              <a:rPr lang="en-US" sz="2000" dirty="0" err="1"/>
              <a:t>ar</a:t>
            </a:r>
            <a:r>
              <a:rPr lang="en-US" sz="2000" dirty="0"/>
              <a:t>[j-1];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dirty="0"/>
              <a:t>				</a:t>
            </a:r>
            <a:r>
              <a:rPr lang="en-US" sz="2000" dirty="0" err="1"/>
              <a:t>ar</a:t>
            </a:r>
            <a:r>
              <a:rPr lang="en-US" sz="2000" dirty="0"/>
              <a:t>[j-1] = </a:t>
            </a:r>
            <a:r>
              <a:rPr lang="en-US" sz="2000" dirty="0" err="1"/>
              <a:t>ar</a:t>
            </a:r>
            <a:r>
              <a:rPr lang="en-US" sz="2000" dirty="0"/>
              <a:t>[j];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dirty="0"/>
              <a:t>				</a:t>
            </a:r>
            <a:r>
              <a:rPr lang="en-US" sz="2000" dirty="0" err="1"/>
              <a:t>ar</a:t>
            </a:r>
            <a:r>
              <a:rPr lang="en-US" sz="2000" dirty="0"/>
              <a:t>[j]   = temp;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dirty="0"/>
              <a:t>			}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dirty="0"/>
              <a:t>		}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dirty="0"/>
              <a:t>	}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833"/>
            <a:ext cx="45416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/>
              <a:t>Sorting</a:t>
            </a:r>
            <a:r>
              <a:rPr lang="en-GB" sz="3200" b="1" dirty="0"/>
              <a:t> Algorithms</a:t>
            </a:r>
            <a:endParaRPr lang="en-US" sz="3200" b="1" dirty="0"/>
          </a:p>
        </p:txBody>
      </p:sp>
      <p:sp>
        <p:nvSpPr>
          <p:cNvPr id="4" name="Rectangle 3"/>
          <p:cNvSpPr/>
          <p:nvPr/>
        </p:nvSpPr>
        <p:spPr>
          <a:xfrm>
            <a:off x="754054" y="635418"/>
            <a:ext cx="1786066" cy="3894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>
              <a:lnSpc>
                <a:spcPct val="120000"/>
              </a:lnSpc>
              <a:spcBef>
                <a:spcPct val="90000"/>
              </a:spcBef>
              <a:buClr>
                <a:schemeClr val="hlink"/>
              </a:buClr>
              <a:buSzPct val="150000"/>
            </a:pPr>
            <a:r>
              <a:rPr lang="en-GB" dirty="0"/>
              <a:t> </a:t>
            </a:r>
            <a:r>
              <a:rPr lang="en-US" b="1" dirty="0">
                <a:solidFill>
                  <a:srgbClr val="008000"/>
                </a:solidFill>
              </a:rPr>
              <a:t>Bubble Sort</a:t>
            </a:r>
          </a:p>
        </p:txBody>
      </p:sp>
      <p:sp>
        <p:nvSpPr>
          <p:cNvPr id="5" name="Oval 4"/>
          <p:cNvSpPr/>
          <p:nvPr/>
        </p:nvSpPr>
        <p:spPr>
          <a:xfrm>
            <a:off x="561975" y="710559"/>
            <a:ext cx="302102" cy="27622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82972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49275" y="1258888"/>
            <a:ext cx="5734050" cy="709612"/>
          </a:xfrm>
          <a:noFill/>
          <a:ln/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3200" b="1" dirty="0">
                <a:solidFill>
                  <a:srgbClr val="000000"/>
                </a:solidFill>
              </a:rPr>
              <a:t>25</a:t>
            </a:r>
            <a:r>
              <a:rPr lang="en-GB" sz="3200" b="1" dirty="0">
                <a:solidFill>
                  <a:srgbClr val="000000"/>
                </a:solidFill>
              </a:rPr>
              <a:t> </a:t>
            </a:r>
            <a:r>
              <a:rPr lang="en-US" sz="3200" b="1" dirty="0">
                <a:solidFill>
                  <a:srgbClr val="000000"/>
                </a:solidFill>
              </a:rPr>
              <a:t> 57  48  </a:t>
            </a:r>
            <a:r>
              <a:rPr lang="en-GB" sz="3200" b="1" dirty="0">
                <a:solidFill>
                  <a:srgbClr val="000000"/>
                </a:solidFill>
              </a:rPr>
              <a:t> </a:t>
            </a:r>
            <a:r>
              <a:rPr lang="en-US" sz="3200" b="1" dirty="0">
                <a:solidFill>
                  <a:srgbClr val="000000"/>
                </a:solidFill>
              </a:rPr>
              <a:t>37  12 </a:t>
            </a:r>
            <a:r>
              <a:rPr lang="en-GB" sz="3200" b="1" dirty="0">
                <a:solidFill>
                  <a:srgbClr val="000000"/>
                </a:solidFill>
              </a:rPr>
              <a:t> </a:t>
            </a:r>
            <a:r>
              <a:rPr lang="en-US" sz="3200" b="1" dirty="0">
                <a:solidFill>
                  <a:srgbClr val="000000"/>
                </a:solidFill>
              </a:rPr>
              <a:t> 92  86  33</a:t>
            </a:r>
            <a:endParaRPr lang="en-US" dirty="0">
              <a:latin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dirty="0">
              <a:latin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dirty="0">
              <a:latin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dirty="0">
              <a:latin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dirty="0">
              <a:latin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dirty="0">
              <a:latin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dirty="0">
              <a:latin typeface="Courier New" pitchFamily="49" charset="0"/>
            </a:endParaRPr>
          </a:p>
        </p:txBody>
      </p:sp>
      <p:grpSp>
        <p:nvGrpSpPr>
          <p:cNvPr id="119811" name="Group 3"/>
          <p:cNvGrpSpPr>
            <a:grpSpLocks/>
          </p:cNvGrpSpPr>
          <p:nvPr/>
        </p:nvGrpSpPr>
        <p:grpSpPr bwMode="auto">
          <a:xfrm>
            <a:off x="549275" y="2743200"/>
            <a:ext cx="5903913" cy="947738"/>
            <a:chOff x="351" y="3566"/>
            <a:chExt cx="3719" cy="647"/>
          </a:xfrm>
        </p:grpSpPr>
        <p:sp>
          <p:nvSpPr>
            <p:cNvPr id="119812" name="AutoShape 4"/>
            <p:cNvSpPr>
              <a:spLocks noChangeArrowheads="1"/>
            </p:cNvSpPr>
            <p:nvPr/>
          </p:nvSpPr>
          <p:spPr bwMode="auto">
            <a:xfrm>
              <a:off x="351" y="3792"/>
              <a:ext cx="471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13" name="AutoShape 5"/>
            <p:cNvSpPr>
              <a:spLocks noChangeArrowheads="1"/>
            </p:cNvSpPr>
            <p:nvPr/>
          </p:nvSpPr>
          <p:spPr bwMode="auto">
            <a:xfrm>
              <a:off x="804" y="3792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14" name="AutoShape 6"/>
            <p:cNvSpPr>
              <a:spLocks noChangeArrowheads="1"/>
            </p:cNvSpPr>
            <p:nvPr/>
          </p:nvSpPr>
          <p:spPr bwMode="auto">
            <a:xfrm>
              <a:off x="1256" y="3792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15" name="AutoShape 7"/>
            <p:cNvSpPr>
              <a:spLocks noChangeArrowheads="1"/>
            </p:cNvSpPr>
            <p:nvPr/>
          </p:nvSpPr>
          <p:spPr bwMode="auto">
            <a:xfrm>
              <a:off x="1707" y="3792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16" name="AutoShape 8"/>
            <p:cNvSpPr>
              <a:spLocks noChangeArrowheads="1"/>
            </p:cNvSpPr>
            <p:nvPr/>
          </p:nvSpPr>
          <p:spPr bwMode="auto">
            <a:xfrm>
              <a:off x="2160" y="3792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17" name="AutoShape 9"/>
            <p:cNvSpPr>
              <a:spLocks noChangeArrowheads="1"/>
            </p:cNvSpPr>
            <p:nvPr/>
          </p:nvSpPr>
          <p:spPr bwMode="auto">
            <a:xfrm>
              <a:off x="2640" y="3792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18" name="Rectangle 10"/>
            <p:cNvSpPr>
              <a:spLocks noChangeArrowheads="1"/>
            </p:cNvSpPr>
            <p:nvPr/>
          </p:nvSpPr>
          <p:spPr bwMode="auto">
            <a:xfrm>
              <a:off x="533" y="3566"/>
              <a:ext cx="79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defTabSz="457200"/>
              <a:r>
                <a:rPr lang="en-US" sz="2500" b="0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119819" name="Rectangle 11"/>
            <p:cNvSpPr>
              <a:spLocks noChangeArrowheads="1"/>
            </p:cNvSpPr>
            <p:nvPr/>
          </p:nvSpPr>
          <p:spPr bwMode="auto">
            <a:xfrm>
              <a:off x="965" y="3566"/>
              <a:ext cx="79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defTabSz="457200"/>
              <a:r>
                <a:rPr lang="en-US" sz="2500" b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19820" name="Rectangle 12"/>
            <p:cNvSpPr>
              <a:spLocks noChangeArrowheads="1"/>
            </p:cNvSpPr>
            <p:nvPr/>
          </p:nvSpPr>
          <p:spPr bwMode="auto">
            <a:xfrm>
              <a:off x="1445" y="3566"/>
              <a:ext cx="79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defTabSz="457200"/>
              <a:r>
                <a:rPr lang="en-US" sz="2500" b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19821" name="Rectangle 13"/>
            <p:cNvSpPr>
              <a:spLocks noChangeArrowheads="1"/>
            </p:cNvSpPr>
            <p:nvPr/>
          </p:nvSpPr>
          <p:spPr bwMode="auto">
            <a:xfrm>
              <a:off x="1877" y="3566"/>
              <a:ext cx="79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defTabSz="457200"/>
              <a:r>
                <a:rPr lang="en-US" sz="2500" b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19822" name="Rectangle 14"/>
            <p:cNvSpPr>
              <a:spLocks noChangeArrowheads="1"/>
            </p:cNvSpPr>
            <p:nvPr/>
          </p:nvSpPr>
          <p:spPr bwMode="auto">
            <a:xfrm>
              <a:off x="2309" y="3566"/>
              <a:ext cx="79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defTabSz="457200"/>
              <a:r>
                <a:rPr lang="en-US" sz="2500" b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19823" name="Rectangle 15"/>
            <p:cNvSpPr>
              <a:spLocks noChangeArrowheads="1"/>
            </p:cNvSpPr>
            <p:nvPr/>
          </p:nvSpPr>
          <p:spPr bwMode="auto">
            <a:xfrm>
              <a:off x="2837" y="3566"/>
              <a:ext cx="79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defTabSz="457200"/>
              <a:r>
                <a:rPr lang="en-US" sz="2500" b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19824" name="AutoShape 16"/>
            <p:cNvSpPr>
              <a:spLocks noChangeArrowheads="1"/>
            </p:cNvSpPr>
            <p:nvPr/>
          </p:nvSpPr>
          <p:spPr bwMode="auto">
            <a:xfrm>
              <a:off x="3120" y="3792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25" name="AutoShape 17"/>
            <p:cNvSpPr>
              <a:spLocks noChangeArrowheads="1"/>
            </p:cNvSpPr>
            <p:nvPr/>
          </p:nvSpPr>
          <p:spPr bwMode="auto">
            <a:xfrm>
              <a:off x="3600" y="3792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26" name="Rectangle 18"/>
            <p:cNvSpPr>
              <a:spLocks noChangeArrowheads="1"/>
            </p:cNvSpPr>
            <p:nvPr/>
          </p:nvSpPr>
          <p:spPr bwMode="auto">
            <a:xfrm>
              <a:off x="3269" y="3566"/>
              <a:ext cx="79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defTabSz="457200"/>
              <a:r>
                <a:rPr lang="en-US" sz="2500" b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119827" name="Rectangle 19"/>
            <p:cNvSpPr>
              <a:spLocks noChangeArrowheads="1"/>
            </p:cNvSpPr>
            <p:nvPr/>
          </p:nvSpPr>
          <p:spPr bwMode="auto">
            <a:xfrm>
              <a:off x="3797" y="3566"/>
              <a:ext cx="79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defTabSz="457200"/>
              <a:r>
                <a:rPr lang="en-US" sz="2500" b="0">
                  <a:solidFill>
                    <a:srgbClr val="000000"/>
                  </a:solidFill>
                </a:rPr>
                <a:t>7</a:t>
              </a:r>
            </a:p>
          </p:txBody>
        </p:sp>
      </p:grpSp>
      <p:grpSp>
        <p:nvGrpSpPr>
          <p:cNvPr id="119828" name="Group 20"/>
          <p:cNvGrpSpPr>
            <a:grpSpLocks/>
          </p:cNvGrpSpPr>
          <p:nvPr/>
        </p:nvGrpSpPr>
        <p:grpSpPr bwMode="auto">
          <a:xfrm>
            <a:off x="930275" y="3938588"/>
            <a:ext cx="5537200" cy="2055812"/>
            <a:chOff x="624" y="4320"/>
            <a:chExt cx="3488" cy="1402"/>
          </a:xfrm>
        </p:grpSpPr>
        <p:sp>
          <p:nvSpPr>
            <p:cNvPr id="119829" name="AutoShape 21"/>
            <p:cNvSpPr>
              <a:spLocks noChangeArrowheads="1"/>
            </p:cNvSpPr>
            <p:nvPr/>
          </p:nvSpPr>
          <p:spPr bwMode="auto">
            <a:xfrm>
              <a:off x="864" y="4546"/>
              <a:ext cx="471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30" name="AutoShape 22"/>
            <p:cNvSpPr>
              <a:spLocks noChangeArrowheads="1"/>
            </p:cNvSpPr>
            <p:nvPr/>
          </p:nvSpPr>
          <p:spPr bwMode="auto">
            <a:xfrm>
              <a:off x="1317" y="4546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31" name="AutoShape 23"/>
            <p:cNvSpPr>
              <a:spLocks noChangeArrowheads="1"/>
            </p:cNvSpPr>
            <p:nvPr/>
          </p:nvSpPr>
          <p:spPr bwMode="auto">
            <a:xfrm>
              <a:off x="1769" y="4546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32" name="AutoShape 24"/>
            <p:cNvSpPr>
              <a:spLocks noChangeArrowheads="1"/>
            </p:cNvSpPr>
            <p:nvPr/>
          </p:nvSpPr>
          <p:spPr bwMode="auto">
            <a:xfrm>
              <a:off x="2220" y="4546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33" name="AutoShape 25"/>
            <p:cNvSpPr>
              <a:spLocks noChangeArrowheads="1"/>
            </p:cNvSpPr>
            <p:nvPr/>
          </p:nvSpPr>
          <p:spPr bwMode="auto">
            <a:xfrm>
              <a:off x="2673" y="4546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chemeClr val="folHlink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34" name="AutoShape 26"/>
            <p:cNvSpPr>
              <a:spLocks noChangeArrowheads="1"/>
            </p:cNvSpPr>
            <p:nvPr/>
          </p:nvSpPr>
          <p:spPr bwMode="auto">
            <a:xfrm>
              <a:off x="3153" y="4546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chemeClr val="folHlink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35" name="Text Box 27"/>
            <p:cNvSpPr txBox="1">
              <a:spLocks noChangeArrowheads="1"/>
            </p:cNvSpPr>
            <p:nvPr/>
          </p:nvSpPr>
          <p:spPr bwMode="auto">
            <a:xfrm>
              <a:off x="3216" y="4608"/>
              <a:ext cx="366" cy="3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</a:rPr>
                <a:t>33</a:t>
              </a:r>
              <a:endParaRPr lang="en-US" sz="40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19836" name="Text Box 28"/>
            <p:cNvSpPr txBox="1">
              <a:spLocks noChangeArrowheads="1"/>
            </p:cNvSpPr>
            <p:nvPr/>
          </p:nvSpPr>
          <p:spPr bwMode="auto">
            <a:xfrm>
              <a:off x="2736" y="4608"/>
              <a:ext cx="366" cy="3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</a:rPr>
                <a:t>86</a:t>
              </a:r>
              <a:endParaRPr lang="en-US" sz="40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19837" name="Text Box 29"/>
            <p:cNvSpPr txBox="1">
              <a:spLocks noChangeArrowheads="1"/>
            </p:cNvSpPr>
            <p:nvPr/>
          </p:nvSpPr>
          <p:spPr bwMode="auto">
            <a:xfrm>
              <a:off x="2256" y="4608"/>
              <a:ext cx="366" cy="3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</a:rPr>
                <a:t>92</a:t>
              </a:r>
              <a:endParaRPr lang="en-US" sz="40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19838" name="Text Box 30"/>
            <p:cNvSpPr txBox="1">
              <a:spLocks noChangeArrowheads="1"/>
            </p:cNvSpPr>
            <p:nvPr/>
          </p:nvSpPr>
          <p:spPr bwMode="auto">
            <a:xfrm>
              <a:off x="1824" y="4608"/>
              <a:ext cx="366" cy="3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</a:rPr>
                <a:t>12</a:t>
              </a:r>
              <a:endParaRPr lang="en-US" sz="40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19839" name="Text Box 31"/>
            <p:cNvSpPr txBox="1">
              <a:spLocks noChangeArrowheads="1"/>
            </p:cNvSpPr>
            <p:nvPr/>
          </p:nvSpPr>
          <p:spPr bwMode="auto">
            <a:xfrm>
              <a:off x="1344" y="4608"/>
              <a:ext cx="366" cy="3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</a:rPr>
                <a:t>37</a:t>
              </a:r>
              <a:endParaRPr lang="en-US" sz="40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19840" name="Text Box 32"/>
            <p:cNvSpPr txBox="1">
              <a:spLocks noChangeArrowheads="1"/>
            </p:cNvSpPr>
            <p:nvPr/>
          </p:nvSpPr>
          <p:spPr bwMode="auto">
            <a:xfrm>
              <a:off x="912" y="4608"/>
              <a:ext cx="366" cy="3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</a:rPr>
                <a:t>48</a:t>
              </a:r>
              <a:endParaRPr lang="en-US" sz="40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19841" name="AutoShape 33"/>
            <p:cNvSpPr>
              <a:spLocks noChangeArrowheads="1"/>
            </p:cNvSpPr>
            <p:nvPr/>
          </p:nvSpPr>
          <p:spPr bwMode="auto">
            <a:xfrm>
              <a:off x="2928" y="5088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42" name="Freeform 34"/>
            <p:cNvSpPr>
              <a:spLocks/>
            </p:cNvSpPr>
            <p:nvPr/>
          </p:nvSpPr>
          <p:spPr bwMode="auto">
            <a:xfrm>
              <a:off x="3312" y="4896"/>
              <a:ext cx="392" cy="432"/>
            </a:xfrm>
            <a:custGeom>
              <a:avLst/>
              <a:gdLst/>
              <a:ahLst/>
              <a:cxnLst>
                <a:cxn ang="0">
                  <a:pos x="240" y="0"/>
                </a:cxn>
                <a:cxn ang="0">
                  <a:pos x="384" y="144"/>
                </a:cxn>
                <a:cxn ang="0">
                  <a:pos x="288" y="336"/>
                </a:cxn>
                <a:cxn ang="0">
                  <a:pos x="0" y="432"/>
                </a:cxn>
              </a:cxnLst>
              <a:rect l="0" t="0" r="r" b="b"/>
              <a:pathLst>
                <a:path w="392" h="432">
                  <a:moveTo>
                    <a:pt x="240" y="0"/>
                  </a:moveTo>
                  <a:cubicBezTo>
                    <a:pt x="308" y="44"/>
                    <a:pt x="376" y="88"/>
                    <a:pt x="384" y="144"/>
                  </a:cubicBezTo>
                  <a:cubicBezTo>
                    <a:pt x="392" y="200"/>
                    <a:pt x="352" y="288"/>
                    <a:pt x="288" y="336"/>
                  </a:cubicBezTo>
                  <a:cubicBezTo>
                    <a:pt x="224" y="384"/>
                    <a:pt x="112" y="408"/>
                    <a:pt x="0" y="432"/>
                  </a:cubicBezTo>
                </a:path>
              </a:pathLst>
            </a:custGeom>
            <a:noFill/>
            <a:ln w="508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43" name="Freeform 35"/>
            <p:cNvSpPr>
              <a:spLocks/>
            </p:cNvSpPr>
            <p:nvPr/>
          </p:nvSpPr>
          <p:spPr bwMode="auto">
            <a:xfrm rot="-6862468">
              <a:off x="2900" y="4300"/>
              <a:ext cx="392" cy="432"/>
            </a:xfrm>
            <a:custGeom>
              <a:avLst/>
              <a:gdLst/>
              <a:ahLst/>
              <a:cxnLst>
                <a:cxn ang="0">
                  <a:pos x="240" y="0"/>
                </a:cxn>
                <a:cxn ang="0">
                  <a:pos x="384" y="144"/>
                </a:cxn>
                <a:cxn ang="0">
                  <a:pos x="288" y="336"/>
                </a:cxn>
                <a:cxn ang="0">
                  <a:pos x="0" y="432"/>
                </a:cxn>
              </a:cxnLst>
              <a:rect l="0" t="0" r="r" b="b"/>
              <a:pathLst>
                <a:path w="392" h="432">
                  <a:moveTo>
                    <a:pt x="240" y="0"/>
                  </a:moveTo>
                  <a:cubicBezTo>
                    <a:pt x="308" y="44"/>
                    <a:pt x="376" y="88"/>
                    <a:pt x="384" y="144"/>
                  </a:cubicBezTo>
                  <a:cubicBezTo>
                    <a:pt x="392" y="200"/>
                    <a:pt x="352" y="288"/>
                    <a:pt x="288" y="336"/>
                  </a:cubicBezTo>
                  <a:cubicBezTo>
                    <a:pt x="224" y="384"/>
                    <a:pt x="112" y="408"/>
                    <a:pt x="0" y="432"/>
                  </a:cubicBezTo>
                </a:path>
              </a:pathLst>
            </a:custGeom>
            <a:noFill/>
            <a:ln w="508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44" name="Freeform 36"/>
            <p:cNvSpPr>
              <a:spLocks/>
            </p:cNvSpPr>
            <p:nvPr/>
          </p:nvSpPr>
          <p:spPr bwMode="auto">
            <a:xfrm rot="-14082351">
              <a:off x="2640" y="4982"/>
              <a:ext cx="392" cy="384"/>
            </a:xfrm>
            <a:custGeom>
              <a:avLst/>
              <a:gdLst/>
              <a:ahLst/>
              <a:cxnLst>
                <a:cxn ang="0">
                  <a:pos x="240" y="0"/>
                </a:cxn>
                <a:cxn ang="0">
                  <a:pos x="384" y="144"/>
                </a:cxn>
                <a:cxn ang="0">
                  <a:pos x="288" y="336"/>
                </a:cxn>
                <a:cxn ang="0">
                  <a:pos x="0" y="432"/>
                </a:cxn>
              </a:cxnLst>
              <a:rect l="0" t="0" r="r" b="b"/>
              <a:pathLst>
                <a:path w="392" h="432">
                  <a:moveTo>
                    <a:pt x="240" y="0"/>
                  </a:moveTo>
                  <a:cubicBezTo>
                    <a:pt x="308" y="44"/>
                    <a:pt x="376" y="88"/>
                    <a:pt x="384" y="144"/>
                  </a:cubicBezTo>
                  <a:cubicBezTo>
                    <a:pt x="392" y="200"/>
                    <a:pt x="352" y="288"/>
                    <a:pt x="288" y="336"/>
                  </a:cubicBezTo>
                  <a:cubicBezTo>
                    <a:pt x="224" y="384"/>
                    <a:pt x="112" y="408"/>
                    <a:pt x="0" y="432"/>
                  </a:cubicBezTo>
                </a:path>
              </a:pathLst>
            </a:custGeom>
            <a:noFill/>
            <a:ln w="508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45" name="Text Box 37"/>
            <p:cNvSpPr txBox="1">
              <a:spLocks noChangeArrowheads="1"/>
            </p:cNvSpPr>
            <p:nvPr/>
          </p:nvSpPr>
          <p:spPr bwMode="auto">
            <a:xfrm>
              <a:off x="2976" y="5136"/>
              <a:ext cx="366" cy="3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</a:rPr>
                <a:t>33</a:t>
              </a:r>
              <a:endParaRPr lang="en-US" sz="40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19846" name="Text Box 38"/>
            <p:cNvSpPr txBox="1">
              <a:spLocks noChangeArrowheads="1"/>
            </p:cNvSpPr>
            <p:nvPr/>
          </p:nvSpPr>
          <p:spPr bwMode="auto">
            <a:xfrm>
              <a:off x="2976" y="5472"/>
              <a:ext cx="460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/>
                <a:t>temp</a:t>
              </a:r>
            </a:p>
          </p:txBody>
        </p:sp>
        <p:sp>
          <p:nvSpPr>
            <p:cNvPr id="119847" name="Line 39"/>
            <p:cNvSpPr>
              <a:spLocks noChangeShapeType="1"/>
            </p:cNvSpPr>
            <p:nvPr/>
          </p:nvSpPr>
          <p:spPr bwMode="auto">
            <a:xfrm>
              <a:off x="624" y="4560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48" name="Line 40"/>
            <p:cNvSpPr>
              <a:spLocks noChangeShapeType="1"/>
            </p:cNvSpPr>
            <p:nvPr/>
          </p:nvSpPr>
          <p:spPr bwMode="auto">
            <a:xfrm>
              <a:off x="624" y="4944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49" name="Text Box 41"/>
            <p:cNvSpPr txBox="1">
              <a:spLocks noChangeArrowheads="1"/>
            </p:cNvSpPr>
            <p:nvPr/>
          </p:nvSpPr>
          <p:spPr bwMode="auto">
            <a:xfrm>
              <a:off x="3792" y="4656"/>
              <a:ext cx="320" cy="43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/>
                <a:t>i=1</a:t>
              </a:r>
            </a:p>
            <a:p>
              <a:r>
                <a:rPr lang="en-US" sz="1800"/>
                <a:t>j=7</a:t>
              </a:r>
            </a:p>
          </p:txBody>
        </p:sp>
      </p:grpSp>
      <p:sp>
        <p:nvSpPr>
          <p:cNvPr id="119850" name="Text Box 42"/>
          <p:cNvSpPr txBox="1">
            <a:spLocks noChangeArrowheads="1"/>
          </p:cNvSpPr>
          <p:nvPr/>
        </p:nvSpPr>
        <p:spPr bwMode="auto">
          <a:xfrm>
            <a:off x="1057275" y="2054225"/>
            <a:ext cx="88582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n = 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833"/>
            <a:ext cx="45416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/>
              <a:t>Sorting</a:t>
            </a:r>
            <a:r>
              <a:rPr lang="en-GB" sz="3200" b="1" dirty="0"/>
              <a:t> Algorithms</a:t>
            </a:r>
            <a:endParaRPr lang="en-US" sz="3200" b="1" dirty="0"/>
          </a:p>
        </p:txBody>
      </p:sp>
      <p:sp>
        <p:nvSpPr>
          <p:cNvPr id="44" name="Rectangle 43"/>
          <p:cNvSpPr/>
          <p:nvPr/>
        </p:nvSpPr>
        <p:spPr>
          <a:xfrm>
            <a:off x="754054" y="635418"/>
            <a:ext cx="1786066" cy="3894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>
              <a:lnSpc>
                <a:spcPct val="120000"/>
              </a:lnSpc>
              <a:spcBef>
                <a:spcPct val="90000"/>
              </a:spcBef>
              <a:buClr>
                <a:schemeClr val="hlink"/>
              </a:buClr>
              <a:buSzPct val="150000"/>
            </a:pPr>
            <a:r>
              <a:rPr lang="en-GB" dirty="0"/>
              <a:t> </a:t>
            </a:r>
            <a:r>
              <a:rPr lang="en-US" b="1" dirty="0">
                <a:solidFill>
                  <a:srgbClr val="008000"/>
                </a:solidFill>
              </a:rPr>
              <a:t>Bubble Sort</a:t>
            </a:r>
          </a:p>
        </p:txBody>
      </p:sp>
      <p:sp>
        <p:nvSpPr>
          <p:cNvPr id="45" name="Oval 44"/>
          <p:cNvSpPr/>
          <p:nvPr/>
        </p:nvSpPr>
        <p:spPr>
          <a:xfrm>
            <a:off x="561975" y="710559"/>
            <a:ext cx="302102" cy="27622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14508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835" name="Group 3"/>
          <p:cNvGrpSpPr>
            <a:grpSpLocks/>
          </p:cNvGrpSpPr>
          <p:nvPr/>
        </p:nvGrpSpPr>
        <p:grpSpPr bwMode="auto">
          <a:xfrm>
            <a:off x="990600" y="1195388"/>
            <a:ext cx="5384800" cy="2127250"/>
            <a:chOff x="720" y="960"/>
            <a:chExt cx="3392" cy="1450"/>
          </a:xfrm>
        </p:grpSpPr>
        <p:sp>
          <p:nvSpPr>
            <p:cNvPr id="120836" name="AutoShape 4"/>
            <p:cNvSpPr>
              <a:spLocks noChangeArrowheads="1"/>
            </p:cNvSpPr>
            <p:nvPr/>
          </p:nvSpPr>
          <p:spPr bwMode="auto">
            <a:xfrm>
              <a:off x="960" y="1186"/>
              <a:ext cx="471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37" name="AutoShape 5"/>
            <p:cNvSpPr>
              <a:spLocks noChangeArrowheads="1"/>
            </p:cNvSpPr>
            <p:nvPr/>
          </p:nvSpPr>
          <p:spPr bwMode="auto">
            <a:xfrm>
              <a:off x="1413" y="1186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38" name="AutoShape 6"/>
            <p:cNvSpPr>
              <a:spLocks noChangeArrowheads="1"/>
            </p:cNvSpPr>
            <p:nvPr/>
          </p:nvSpPr>
          <p:spPr bwMode="auto">
            <a:xfrm>
              <a:off x="1865" y="1186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39" name="AutoShape 7"/>
            <p:cNvSpPr>
              <a:spLocks noChangeArrowheads="1"/>
            </p:cNvSpPr>
            <p:nvPr/>
          </p:nvSpPr>
          <p:spPr bwMode="auto">
            <a:xfrm>
              <a:off x="2316" y="1186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chemeClr val="folHlink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40" name="AutoShape 8"/>
            <p:cNvSpPr>
              <a:spLocks noChangeArrowheads="1"/>
            </p:cNvSpPr>
            <p:nvPr/>
          </p:nvSpPr>
          <p:spPr bwMode="auto">
            <a:xfrm>
              <a:off x="2769" y="1186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chemeClr val="folHlink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41" name="AutoShape 9"/>
            <p:cNvSpPr>
              <a:spLocks noChangeArrowheads="1"/>
            </p:cNvSpPr>
            <p:nvPr/>
          </p:nvSpPr>
          <p:spPr bwMode="auto">
            <a:xfrm>
              <a:off x="3249" y="1186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42" name="Text Box 10"/>
            <p:cNvSpPr txBox="1">
              <a:spLocks noChangeArrowheads="1"/>
            </p:cNvSpPr>
            <p:nvPr/>
          </p:nvSpPr>
          <p:spPr bwMode="auto">
            <a:xfrm>
              <a:off x="3312" y="1248"/>
              <a:ext cx="366" cy="3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</a:rPr>
                <a:t>86</a:t>
              </a:r>
            </a:p>
          </p:txBody>
        </p:sp>
        <p:sp>
          <p:nvSpPr>
            <p:cNvPr id="120843" name="Text Box 11"/>
            <p:cNvSpPr txBox="1">
              <a:spLocks noChangeArrowheads="1"/>
            </p:cNvSpPr>
            <p:nvPr/>
          </p:nvSpPr>
          <p:spPr bwMode="auto">
            <a:xfrm>
              <a:off x="2832" y="1248"/>
              <a:ext cx="366" cy="3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</a:rPr>
                <a:t>33</a:t>
              </a:r>
            </a:p>
          </p:txBody>
        </p:sp>
        <p:sp>
          <p:nvSpPr>
            <p:cNvPr id="120844" name="Text Box 12"/>
            <p:cNvSpPr txBox="1">
              <a:spLocks noChangeArrowheads="1"/>
            </p:cNvSpPr>
            <p:nvPr/>
          </p:nvSpPr>
          <p:spPr bwMode="auto">
            <a:xfrm>
              <a:off x="2352" y="1248"/>
              <a:ext cx="366" cy="3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</a:rPr>
                <a:t>92</a:t>
              </a:r>
              <a:endParaRPr lang="en-US" sz="40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20845" name="Text Box 13"/>
            <p:cNvSpPr txBox="1">
              <a:spLocks noChangeArrowheads="1"/>
            </p:cNvSpPr>
            <p:nvPr/>
          </p:nvSpPr>
          <p:spPr bwMode="auto">
            <a:xfrm>
              <a:off x="1920" y="1248"/>
              <a:ext cx="366" cy="3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</a:rPr>
                <a:t>12</a:t>
              </a:r>
              <a:endParaRPr lang="en-US" sz="40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20846" name="Text Box 14"/>
            <p:cNvSpPr txBox="1">
              <a:spLocks noChangeArrowheads="1"/>
            </p:cNvSpPr>
            <p:nvPr/>
          </p:nvSpPr>
          <p:spPr bwMode="auto">
            <a:xfrm>
              <a:off x="1440" y="1248"/>
              <a:ext cx="366" cy="3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</a:rPr>
                <a:t>37</a:t>
              </a:r>
              <a:endParaRPr lang="en-US" sz="40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20847" name="Text Box 15"/>
            <p:cNvSpPr txBox="1">
              <a:spLocks noChangeArrowheads="1"/>
            </p:cNvSpPr>
            <p:nvPr/>
          </p:nvSpPr>
          <p:spPr bwMode="auto">
            <a:xfrm>
              <a:off x="1008" y="1248"/>
              <a:ext cx="366" cy="3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</a:rPr>
                <a:t>48</a:t>
              </a:r>
              <a:endParaRPr lang="en-US" sz="40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20848" name="AutoShape 16"/>
            <p:cNvSpPr>
              <a:spLocks noChangeArrowheads="1"/>
            </p:cNvSpPr>
            <p:nvPr/>
          </p:nvSpPr>
          <p:spPr bwMode="auto">
            <a:xfrm>
              <a:off x="2496" y="1728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49" name="Freeform 17"/>
            <p:cNvSpPr>
              <a:spLocks/>
            </p:cNvSpPr>
            <p:nvPr/>
          </p:nvSpPr>
          <p:spPr bwMode="auto">
            <a:xfrm>
              <a:off x="2880" y="1536"/>
              <a:ext cx="392" cy="432"/>
            </a:xfrm>
            <a:custGeom>
              <a:avLst/>
              <a:gdLst/>
              <a:ahLst/>
              <a:cxnLst>
                <a:cxn ang="0">
                  <a:pos x="240" y="0"/>
                </a:cxn>
                <a:cxn ang="0">
                  <a:pos x="384" y="144"/>
                </a:cxn>
                <a:cxn ang="0">
                  <a:pos x="288" y="336"/>
                </a:cxn>
                <a:cxn ang="0">
                  <a:pos x="0" y="432"/>
                </a:cxn>
              </a:cxnLst>
              <a:rect l="0" t="0" r="r" b="b"/>
              <a:pathLst>
                <a:path w="392" h="432">
                  <a:moveTo>
                    <a:pt x="240" y="0"/>
                  </a:moveTo>
                  <a:cubicBezTo>
                    <a:pt x="308" y="44"/>
                    <a:pt x="376" y="88"/>
                    <a:pt x="384" y="144"/>
                  </a:cubicBezTo>
                  <a:cubicBezTo>
                    <a:pt x="392" y="200"/>
                    <a:pt x="352" y="288"/>
                    <a:pt x="288" y="336"/>
                  </a:cubicBezTo>
                  <a:cubicBezTo>
                    <a:pt x="224" y="384"/>
                    <a:pt x="112" y="408"/>
                    <a:pt x="0" y="432"/>
                  </a:cubicBezTo>
                </a:path>
              </a:pathLst>
            </a:custGeom>
            <a:noFill/>
            <a:ln w="508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50" name="Freeform 18"/>
            <p:cNvSpPr>
              <a:spLocks/>
            </p:cNvSpPr>
            <p:nvPr/>
          </p:nvSpPr>
          <p:spPr bwMode="auto">
            <a:xfrm rot="-6862468">
              <a:off x="2516" y="940"/>
              <a:ext cx="392" cy="432"/>
            </a:xfrm>
            <a:custGeom>
              <a:avLst/>
              <a:gdLst/>
              <a:ahLst/>
              <a:cxnLst>
                <a:cxn ang="0">
                  <a:pos x="240" y="0"/>
                </a:cxn>
                <a:cxn ang="0">
                  <a:pos x="384" y="144"/>
                </a:cxn>
                <a:cxn ang="0">
                  <a:pos x="288" y="336"/>
                </a:cxn>
                <a:cxn ang="0">
                  <a:pos x="0" y="432"/>
                </a:cxn>
              </a:cxnLst>
              <a:rect l="0" t="0" r="r" b="b"/>
              <a:pathLst>
                <a:path w="392" h="432">
                  <a:moveTo>
                    <a:pt x="240" y="0"/>
                  </a:moveTo>
                  <a:cubicBezTo>
                    <a:pt x="308" y="44"/>
                    <a:pt x="376" y="88"/>
                    <a:pt x="384" y="144"/>
                  </a:cubicBezTo>
                  <a:cubicBezTo>
                    <a:pt x="392" y="200"/>
                    <a:pt x="352" y="288"/>
                    <a:pt x="288" y="336"/>
                  </a:cubicBezTo>
                  <a:cubicBezTo>
                    <a:pt x="224" y="384"/>
                    <a:pt x="112" y="408"/>
                    <a:pt x="0" y="432"/>
                  </a:cubicBezTo>
                </a:path>
              </a:pathLst>
            </a:custGeom>
            <a:noFill/>
            <a:ln w="508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51" name="Freeform 19"/>
            <p:cNvSpPr>
              <a:spLocks/>
            </p:cNvSpPr>
            <p:nvPr/>
          </p:nvSpPr>
          <p:spPr bwMode="auto">
            <a:xfrm rot="-14082351">
              <a:off x="2208" y="1622"/>
              <a:ext cx="392" cy="384"/>
            </a:xfrm>
            <a:custGeom>
              <a:avLst/>
              <a:gdLst/>
              <a:ahLst/>
              <a:cxnLst>
                <a:cxn ang="0">
                  <a:pos x="240" y="0"/>
                </a:cxn>
                <a:cxn ang="0">
                  <a:pos x="384" y="144"/>
                </a:cxn>
                <a:cxn ang="0">
                  <a:pos x="288" y="336"/>
                </a:cxn>
                <a:cxn ang="0">
                  <a:pos x="0" y="432"/>
                </a:cxn>
              </a:cxnLst>
              <a:rect l="0" t="0" r="r" b="b"/>
              <a:pathLst>
                <a:path w="392" h="432">
                  <a:moveTo>
                    <a:pt x="240" y="0"/>
                  </a:moveTo>
                  <a:cubicBezTo>
                    <a:pt x="308" y="44"/>
                    <a:pt x="376" y="88"/>
                    <a:pt x="384" y="144"/>
                  </a:cubicBezTo>
                  <a:cubicBezTo>
                    <a:pt x="392" y="200"/>
                    <a:pt x="352" y="288"/>
                    <a:pt x="288" y="336"/>
                  </a:cubicBezTo>
                  <a:cubicBezTo>
                    <a:pt x="224" y="384"/>
                    <a:pt x="112" y="408"/>
                    <a:pt x="0" y="432"/>
                  </a:cubicBezTo>
                </a:path>
              </a:pathLst>
            </a:custGeom>
            <a:noFill/>
            <a:ln w="508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52" name="Text Box 20"/>
            <p:cNvSpPr txBox="1">
              <a:spLocks noChangeArrowheads="1"/>
            </p:cNvSpPr>
            <p:nvPr/>
          </p:nvSpPr>
          <p:spPr bwMode="auto">
            <a:xfrm>
              <a:off x="2544" y="1776"/>
              <a:ext cx="366" cy="3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</a:rPr>
                <a:t>33</a:t>
              </a:r>
              <a:endParaRPr lang="en-US" sz="40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20853" name="Text Box 21"/>
            <p:cNvSpPr txBox="1">
              <a:spLocks noChangeArrowheads="1"/>
            </p:cNvSpPr>
            <p:nvPr/>
          </p:nvSpPr>
          <p:spPr bwMode="auto">
            <a:xfrm>
              <a:off x="2544" y="2160"/>
              <a:ext cx="460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/>
                <a:t>temp</a:t>
              </a:r>
            </a:p>
          </p:txBody>
        </p:sp>
        <p:sp>
          <p:nvSpPr>
            <p:cNvPr id="120854" name="Line 22"/>
            <p:cNvSpPr>
              <a:spLocks noChangeShapeType="1"/>
            </p:cNvSpPr>
            <p:nvPr/>
          </p:nvSpPr>
          <p:spPr bwMode="auto">
            <a:xfrm>
              <a:off x="720" y="1200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55" name="Line 23"/>
            <p:cNvSpPr>
              <a:spLocks noChangeShapeType="1"/>
            </p:cNvSpPr>
            <p:nvPr/>
          </p:nvSpPr>
          <p:spPr bwMode="auto">
            <a:xfrm>
              <a:off x="720" y="1584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56" name="Text Box 24"/>
            <p:cNvSpPr txBox="1">
              <a:spLocks noChangeArrowheads="1"/>
            </p:cNvSpPr>
            <p:nvPr/>
          </p:nvSpPr>
          <p:spPr bwMode="auto">
            <a:xfrm>
              <a:off x="3792" y="1296"/>
              <a:ext cx="320" cy="43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/>
                <a:t>i=1</a:t>
              </a:r>
            </a:p>
            <a:p>
              <a:r>
                <a:rPr lang="en-US" sz="1800"/>
                <a:t>j=6</a:t>
              </a:r>
            </a:p>
          </p:txBody>
        </p:sp>
      </p:grpSp>
      <p:grpSp>
        <p:nvGrpSpPr>
          <p:cNvPr id="120857" name="Group 25"/>
          <p:cNvGrpSpPr>
            <a:grpSpLocks/>
          </p:cNvGrpSpPr>
          <p:nvPr/>
        </p:nvGrpSpPr>
        <p:grpSpPr bwMode="auto">
          <a:xfrm>
            <a:off x="990600" y="3378200"/>
            <a:ext cx="5384800" cy="782638"/>
            <a:chOff x="720" y="2496"/>
            <a:chExt cx="3392" cy="535"/>
          </a:xfrm>
        </p:grpSpPr>
        <p:sp>
          <p:nvSpPr>
            <p:cNvPr id="120858" name="AutoShape 26"/>
            <p:cNvSpPr>
              <a:spLocks noChangeArrowheads="1"/>
            </p:cNvSpPr>
            <p:nvPr/>
          </p:nvSpPr>
          <p:spPr bwMode="auto">
            <a:xfrm>
              <a:off x="960" y="2496"/>
              <a:ext cx="471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59" name="AutoShape 27"/>
            <p:cNvSpPr>
              <a:spLocks noChangeArrowheads="1"/>
            </p:cNvSpPr>
            <p:nvPr/>
          </p:nvSpPr>
          <p:spPr bwMode="auto">
            <a:xfrm>
              <a:off x="1413" y="2496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60" name="AutoShape 28"/>
            <p:cNvSpPr>
              <a:spLocks noChangeArrowheads="1"/>
            </p:cNvSpPr>
            <p:nvPr/>
          </p:nvSpPr>
          <p:spPr bwMode="auto">
            <a:xfrm>
              <a:off x="1865" y="2496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chemeClr val="folHlink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61" name="AutoShape 29"/>
            <p:cNvSpPr>
              <a:spLocks noChangeArrowheads="1"/>
            </p:cNvSpPr>
            <p:nvPr/>
          </p:nvSpPr>
          <p:spPr bwMode="auto">
            <a:xfrm>
              <a:off x="2316" y="2496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chemeClr val="folHlink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62" name="AutoShape 30"/>
            <p:cNvSpPr>
              <a:spLocks noChangeArrowheads="1"/>
            </p:cNvSpPr>
            <p:nvPr/>
          </p:nvSpPr>
          <p:spPr bwMode="auto">
            <a:xfrm>
              <a:off x="2769" y="2496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63" name="AutoShape 31"/>
            <p:cNvSpPr>
              <a:spLocks noChangeArrowheads="1"/>
            </p:cNvSpPr>
            <p:nvPr/>
          </p:nvSpPr>
          <p:spPr bwMode="auto">
            <a:xfrm>
              <a:off x="3249" y="2496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64" name="Text Box 32"/>
            <p:cNvSpPr txBox="1">
              <a:spLocks noChangeArrowheads="1"/>
            </p:cNvSpPr>
            <p:nvPr/>
          </p:nvSpPr>
          <p:spPr bwMode="auto">
            <a:xfrm>
              <a:off x="3312" y="2558"/>
              <a:ext cx="366" cy="35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</a:rPr>
                <a:t>86</a:t>
              </a:r>
            </a:p>
          </p:txBody>
        </p:sp>
        <p:sp>
          <p:nvSpPr>
            <p:cNvPr id="120865" name="Text Box 33"/>
            <p:cNvSpPr txBox="1">
              <a:spLocks noChangeArrowheads="1"/>
            </p:cNvSpPr>
            <p:nvPr/>
          </p:nvSpPr>
          <p:spPr bwMode="auto">
            <a:xfrm>
              <a:off x="2832" y="2558"/>
              <a:ext cx="366" cy="35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</a:rPr>
                <a:t>92</a:t>
              </a:r>
            </a:p>
          </p:txBody>
        </p:sp>
        <p:sp>
          <p:nvSpPr>
            <p:cNvPr id="120866" name="Text Box 34"/>
            <p:cNvSpPr txBox="1">
              <a:spLocks noChangeArrowheads="1"/>
            </p:cNvSpPr>
            <p:nvPr/>
          </p:nvSpPr>
          <p:spPr bwMode="auto">
            <a:xfrm>
              <a:off x="2352" y="2558"/>
              <a:ext cx="366" cy="35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</a:rPr>
                <a:t>33</a:t>
              </a:r>
            </a:p>
          </p:txBody>
        </p:sp>
        <p:sp>
          <p:nvSpPr>
            <p:cNvPr id="120867" name="Text Box 35"/>
            <p:cNvSpPr txBox="1">
              <a:spLocks noChangeArrowheads="1"/>
            </p:cNvSpPr>
            <p:nvPr/>
          </p:nvSpPr>
          <p:spPr bwMode="auto">
            <a:xfrm>
              <a:off x="1920" y="2558"/>
              <a:ext cx="366" cy="35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</a:rPr>
                <a:t>12</a:t>
              </a:r>
              <a:endParaRPr lang="en-US" sz="40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20868" name="Text Box 36"/>
            <p:cNvSpPr txBox="1">
              <a:spLocks noChangeArrowheads="1"/>
            </p:cNvSpPr>
            <p:nvPr/>
          </p:nvSpPr>
          <p:spPr bwMode="auto">
            <a:xfrm>
              <a:off x="1440" y="2558"/>
              <a:ext cx="366" cy="35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</a:rPr>
                <a:t>37</a:t>
              </a:r>
              <a:endParaRPr lang="en-US" sz="40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20869" name="Text Box 37"/>
            <p:cNvSpPr txBox="1">
              <a:spLocks noChangeArrowheads="1"/>
            </p:cNvSpPr>
            <p:nvPr/>
          </p:nvSpPr>
          <p:spPr bwMode="auto">
            <a:xfrm>
              <a:off x="1008" y="2558"/>
              <a:ext cx="366" cy="35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 dirty="0">
                  <a:solidFill>
                    <a:srgbClr val="000000"/>
                  </a:solidFill>
                </a:rPr>
                <a:t>48</a:t>
              </a:r>
              <a:endParaRPr lang="en-US" sz="40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20870" name="Line 38"/>
            <p:cNvSpPr>
              <a:spLocks noChangeShapeType="1"/>
            </p:cNvSpPr>
            <p:nvPr/>
          </p:nvSpPr>
          <p:spPr bwMode="auto">
            <a:xfrm>
              <a:off x="720" y="2510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71" name="Line 39"/>
            <p:cNvSpPr>
              <a:spLocks noChangeShapeType="1"/>
            </p:cNvSpPr>
            <p:nvPr/>
          </p:nvSpPr>
          <p:spPr bwMode="auto">
            <a:xfrm>
              <a:off x="720" y="2894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72" name="Text Box 40"/>
            <p:cNvSpPr txBox="1">
              <a:spLocks noChangeArrowheads="1"/>
            </p:cNvSpPr>
            <p:nvPr/>
          </p:nvSpPr>
          <p:spPr bwMode="auto">
            <a:xfrm>
              <a:off x="3792" y="2593"/>
              <a:ext cx="320" cy="43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/>
                <a:t>i=1</a:t>
              </a:r>
            </a:p>
            <a:p>
              <a:r>
                <a:rPr lang="en-US" sz="1800"/>
                <a:t>j=5</a:t>
              </a:r>
            </a:p>
          </p:txBody>
        </p:sp>
      </p:grpSp>
      <p:grpSp>
        <p:nvGrpSpPr>
          <p:cNvPr id="120873" name="Group 41"/>
          <p:cNvGrpSpPr>
            <a:grpSpLocks/>
          </p:cNvGrpSpPr>
          <p:nvPr/>
        </p:nvGrpSpPr>
        <p:grpSpPr bwMode="auto">
          <a:xfrm>
            <a:off x="990600" y="4151313"/>
            <a:ext cx="5384800" cy="2125662"/>
            <a:chOff x="720" y="3168"/>
            <a:chExt cx="3392" cy="1450"/>
          </a:xfrm>
        </p:grpSpPr>
        <p:sp>
          <p:nvSpPr>
            <p:cNvPr id="120874" name="AutoShape 42"/>
            <p:cNvSpPr>
              <a:spLocks noChangeArrowheads="1"/>
            </p:cNvSpPr>
            <p:nvPr/>
          </p:nvSpPr>
          <p:spPr bwMode="auto">
            <a:xfrm>
              <a:off x="960" y="3394"/>
              <a:ext cx="471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75" name="AutoShape 43"/>
            <p:cNvSpPr>
              <a:spLocks noChangeArrowheads="1"/>
            </p:cNvSpPr>
            <p:nvPr/>
          </p:nvSpPr>
          <p:spPr bwMode="auto">
            <a:xfrm>
              <a:off x="1413" y="3394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chemeClr val="folHlink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76" name="AutoShape 44"/>
            <p:cNvSpPr>
              <a:spLocks noChangeArrowheads="1"/>
            </p:cNvSpPr>
            <p:nvPr/>
          </p:nvSpPr>
          <p:spPr bwMode="auto">
            <a:xfrm>
              <a:off x="1865" y="3394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chemeClr val="folHlink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77" name="AutoShape 45"/>
            <p:cNvSpPr>
              <a:spLocks noChangeArrowheads="1"/>
            </p:cNvSpPr>
            <p:nvPr/>
          </p:nvSpPr>
          <p:spPr bwMode="auto">
            <a:xfrm>
              <a:off x="2316" y="3394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78" name="AutoShape 46"/>
            <p:cNvSpPr>
              <a:spLocks noChangeArrowheads="1"/>
            </p:cNvSpPr>
            <p:nvPr/>
          </p:nvSpPr>
          <p:spPr bwMode="auto">
            <a:xfrm>
              <a:off x="2769" y="3394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79" name="AutoShape 47"/>
            <p:cNvSpPr>
              <a:spLocks noChangeArrowheads="1"/>
            </p:cNvSpPr>
            <p:nvPr/>
          </p:nvSpPr>
          <p:spPr bwMode="auto">
            <a:xfrm>
              <a:off x="3249" y="3394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80" name="Text Box 48"/>
            <p:cNvSpPr txBox="1">
              <a:spLocks noChangeArrowheads="1"/>
            </p:cNvSpPr>
            <p:nvPr/>
          </p:nvSpPr>
          <p:spPr bwMode="auto">
            <a:xfrm>
              <a:off x="3312" y="3456"/>
              <a:ext cx="366" cy="3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</a:rPr>
                <a:t>86</a:t>
              </a:r>
            </a:p>
          </p:txBody>
        </p:sp>
        <p:sp>
          <p:nvSpPr>
            <p:cNvPr id="120881" name="Text Box 49"/>
            <p:cNvSpPr txBox="1">
              <a:spLocks noChangeArrowheads="1"/>
            </p:cNvSpPr>
            <p:nvPr/>
          </p:nvSpPr>
          <p:spPr bwMode="auto">
            <a:xfrm>
              <a:off x="2832" y="3456"/>
              <a:ext cx="366" cy="3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</a:rPr>
                <a:t>92</a:t>
              </a:r>
            </a:p>
          </p:txBody>
        </p:sp>
        <p:sp>
          <p:nvSpPr>
            <p:cNvPr id="120882" name="Text Box 50"/>
            <p:cNvSpPr txBox="1">
              <a:spLocks noChangeArrowheads="1"/>
            </p:cNvSpPr>
            <p:nvPr/>
          </p:nvSpPr>
          <p:spPr bwMode="auto">
            <a:xfrm>
              <a:off x="2352" y="3456"/>
              <a:ext cx="366" cy="3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</a:rPr>
                <a:t>33</a:t>
              </a:r>
            </a:p>
          </p:txBody>
        </p:sp>
        <p:sp>
          <p:nvSpPr>
            <p:cNvPr id="120883" name="Text Box 51"/>
            <p:cNvSpPr txBox="1">
              <a:spLocks noChangeArrowheads="1"/>
            </p:cNvSpPr>
            <p:nvPr/>
          </p:nvSpPr>
          <p:spPr bwMode="auto">
            <a:xfrm>
              <a:off x="1920" y="3456"/>
              <a:ext cx="366" cy="3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</a:rPr>
                <a:t>12</a:t>
              </a:r>
              <a:endParaRPr lang="en-US" sz="40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20884" name="Text Box 52"/>
            <p:cNvSpPr txBox="1">
              <a:spLocks noChangeArrowheads="1"/>
            </p:cNvSpPr>
            <p:nvPr/>
          </p:nvSpPr>
          <p:spPr bwMode="auto">
            <a:xfrm>
              <a:off x="1440" y="3456"/>
              <a:ext cx="366" cy="3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</a:rPr>
                <a:t>37</a:t>
              </a:r>
              <a:endParaRPr lang="en-US" sz="40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20885" name="Text Box 53"/>
            <p:cNvSpPr txBox="1">
              <a:spLocks noChangeArrowheads="1"/>
            </p:cNvSpPr>
            <p:nvPr/>
          </p:nvSpPr>
          <p:spPr bwMode="auto">
            <a:xfrm>
              <a:off x="1008" y="3456"/>
              <a:ext cx="366" cy="3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</a:rPr>
                <a:t>48</a:t>
              </a:r>
              <a:endParaRPr lang="en-US" sz="40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20886" name="AutoShape 54"/>
            <p:cNvSpPr>
              <a:spLocks noChangeArrowheads="1"/>
            </p:cNvSpPr>
            <p:nvPr/>
          </p:nvSpPr>
          <p:spPr bwMode="auto">
            <a:xfrm>
              <a:off x="1632" y="3936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87" name="Freeform 55"/>
            <p:cNvSpPr>
              <a:spLocks/>
            </p:cNvSpPr>
            <p:nvPr/>
          </p:nvSpPr>
          <p:spPr bwMode="auto">
            <a:xfrm>
              <a:off x="2016" y="3744"/>
              <a:ext cx="392" cy="432"/>
            </a:xfrm>
            <a:custGeom>
              <a:avLst/>
              <a:gdLst/>
              <a:ahLst/>
              <a:cxnLst>
                <a:cxn ang="0">
                  <a:pos x="240" y="0"/>
                </a:cxn>
                <a:cxn ang="0">
                  <a:pos x="384" y="144"/>
                </a:cxn>
                <a:cxn ang="0">
                  <a:pos x="288" y="336"/>
                </a:cxn>
                <a:cxn ang="0">
                  <a:pos x="0" y="432"/>
                </a:cxn>
              </a:cxnLst>
              <a:rect l="0" t="0" r="r" b="b"/>
              <a:pathLst>
                <a:path w="392" h="432">
                  <a:moveTo>
                    <a:pt x="240" y="0"/>
                  </a:moveTo>
                  <a:cubicBezTo>
                    <a:pt x="308" y="44"/>
                    <a:pt x="376" y="88"/>
                    <a:pt x="384" y="144"/>
                  </a:cubicBezTo>
                  <a:cubicBezTo>
                    <a:pt x="392" y="200"/>
                    <a:pt x="352" y="288"/>
                    <a:pt x="288" y="336"/>
                  </a:cubicBezTo>
                  <a:cubicBezTo>
                    <a:pt x="224" y="384"/>
                    <a:pt x="112" y="408"/>
                    <a:pt x="0" y="432"/>
                  </a:cubicBezTo>
                </a:path>
              </a:pathLst>
            </a:custGeom>
            <a:noFill/>
            <a:ln w="508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88" name="Freeform 56"/>
            <p:cNvSpPr>
              <a:spLocks/>
            </p:cNvSpPr>
            <p:nvPr/>
          </p:nvSpPr>
          <p:spPr bwMode="auto">
            <a:xfrm rot="-6862468">
              <a:off x="1604" y="3148"/>
              <a:ext cx="392" cy="432"/>
            </a:xfrm>
            <a:custGeom>
              <a:avLst/>
              <a:gdLst/>
              <a:ahLst/>
              <a:cxnLst>
                <a:cxn ang="0">
                  <a:pos x="240" y="0"/>
                </a:cxn>
                <a:cxn ang="0">
                  <a:pos x="384" y="144"/>
                </a:cxn>
                <a:cxn ang="0">
                  <a:pos x="288" y="336"/>
                </a:cxn>
                <a:cxn ang="0">
                  <a:pos x="0" y="432"/>
                </a:cxn>
              </a:cxnLst>
              <a:rect l="0" t="0" r="r" b="b"/>
              <a:pathLst>
                <a:path w="392" h="432">
                  <a:moveTo>
                    <a:pt x="240" y="0"/>
                  </a:moveTo>
                  <a:cubicBezTo>
                    <a:pt x="308" y="44"/>
                    <a:pt x="376" y="88"/>
                    <a:pt x="384" y="144"/>
                  </a:cubicBezTo>
                  <a:cubicBezTo>
                    <a:pt x="392" y="200"/>
                    <a:pt x="352" y="288"/>
                    <a:pt x="288" y="336"/>
                  </a:cubicBezTo>
                  <a:cubicBezTo>
                    <a:pt x="224" y="384"/>
                    <a:pt x="112" y="408"/>
                    <a:pt x="0" y="432"/>
                  </a:cubicBezTo>
                </a:path>
              </a:pathLst>
            </a:custGeom>
            <a:noFill/>
            <a:ln w="508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89" name="Freeform 57"/>
            <p:cNvSpPr>
              <a:spLocks/>
            </p:cNvSpPr>
            <p:nvPr/>
          </p:nvSpPr>
          <p:spPr bwMode="auto">
            <a:xfrm rot="-14082351">
              <a:off x="1344" y="3830"/>
              <a:ext cx="392" cy="384"/>
            </a:xfrm>
            <a:custGeom>
              <a:avLst/>
              <a:gdLst/>
              <a:ahLst/>
              <a:cxnLst>
                <a:cxn ang="0">
                  <a:pos x="240" y="0"/>
                </a:cxn>
                <a:cxn ang="0">
                  <a:pos x="384" y="144"/>
                </a:cxn>
                <a:cxn ang="0">
                  <a:pos x="288" y="336"/>
                </a:cxn>
                <a:cxn ang="0">
                  <a:pos x="0" y="432"/>
                </a:cxn>
              </a:cxnLst>
              <a:rect l="0" t="0" r="r" b="b"/>
              <a:pathLst>
                <a:path w="392" h="432">
                  <a:moveTo>
                    <a:pt x="240" y="0"/>
                  </a:moveTo>
                  <a:cubicBezTo>
                    <a:pt x="308" y="44"/>
                    <a:pt x="376" y="88"/>
                    <a:pt x="384" y="144"/>
                  </a:cubicBezTo>
                  <a:cubicBezTo>
                    <a:pt x="392" y="200"/>
                    <a:pt x="352" y="288"/>
                    <a:pt x="288" y="336"/>
                  </a:cubicBezTo>
                  <a:cubicBezTo>
                    <a:pt x="224" y="384"/>
                    <a:pt x="112" y="408"/>
                    <a:pt x="0" y="432"/>
                  </a:cubicBezTo>
                </a:path>
              </a:pathLst>
            </a:custGeom>
            <a:noFill/>
            <a:ln w="508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90" name="Text Box 58"/>
            <p:cNvSpPr txBox="1">
              <a:spLocks noChangeArrowheads="1"/>
            </p:cNvSpPr>
            <p:nvPr/>
          </p:nvSpPr>
          <p:spPr bwMode="auto">
            <a:xfrm>
              <a:off x="1680" y="3985"/>
              <a:ext cx="366" cy="3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</a:rPr>
                <a:t>12</a:t>
              </a:r>
            </a:p>
          </p:txBody>
        </p:sp>
        <p:sp>
          <p:nvSpPr>
            <p:cNvPr id="120891" name="Text Box 59"/>
            <p:cNvSpPr txBox="1">
              <a:spLocks noChangeArrowheads="1"/>
            </p:cNvSpPr>
            <p:nvPr/>
          </p:nvSpPr>
          <p:spPr bwMode="auto">
            <a:xfrm>
              <a:off x="1680" y="4368"/>
              <a:ext cx="460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/>
                <a:t>temp</a:t>
              </a:r>
            </a:p>
          </p:txBody>
        </p:sp>
        <p:sp>
          <p:nvSpPr>
            <p:cNvPr id="120892" name="Line 60"/>
            <p:cNvSpPr>
              <a:spLocks noChangeShapeType="1"/>
            </p:cNvSpPr>
            <p:nvPr/>
          </p:nvSpPr>
          <p:spPr bwMode="auto">
            <a:xfrm>
              <a:off x="720" y="3408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93" name="Line 61"/>
            <p:cNvSpPr>
              <a:spLocks noChangeShapeType="1"/>
            </p:cNvSpPr>
            <p:nvPr/>
          </p:nvSpPr>
          <p:spPr bwMode="auto">
            <a:xfrm>
              <a:off x="720" y="3792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94" name="Text Box 62"/>
            <p:cNvSpPr txBox="1">
              <a:spLocks noChangeArrowheads="1"/>
            </p:cNvSpPr>
            <p:nvPr/>
          </p:nvSpPr>
          <p:spPr bwMode="auto">
            <a:xfrm>
              <a:off x="3792" y="3504"/>
              <a:ext cx="320" cy="43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/>
                <a:t>i=1</a:t>
              </a:r>
            </a:p>
            <a:p>
              <a:r>
                <a:rPr lang="en-US" sz="1800"/>
                <a:t>j=4</a:t>
              </a:r>
            </a:p>
          </p:txBody>
        </p:sp>
      </p:grpSp>
      <p:grpSp>
        <p:nvGrpSpPr>
          <p:cNvPr id="120895" name="Group 63"/>
          <p:cNvGrpSpPr>
            <a:grpSpLocks/>
          </p:cNvGrpSpPr>
          <p:nvPr/>
        </p:nvGrpSpPr>
        <p:grpSpPr bwMode="auto">
          <a:xfrm>
            <a:off x="1149350" y="6261100"/>
            <a:ext cx="5226050" cy="2127250"/>
            <a:chOff x="724" y="4272"/>
            <a:chExt cx="3292" cy="1450"/>
          </a:xfrm>
        </p:grpSpPr>
        <p:sp>
          <p:nvSpPr>
            <p:cNvPr id="120896" name="AutoShape 64"/>
            <p:cNvSpPr>
              <a:spLocks noChangeArrowheads="1"/>
            </p:cNvSpPr>
            <p:nvPr/>
          </p:nvSpPr>
          <p:spPr bwMode="auto">
            <a:xfrm>
              <a:off x="816" y="4498"/>
              <a:ext cx="471" cy="421"/>
            </a:xfrm>
            <a:prstGeom prst="roundRect">
              <a:avLst>
                <a:gd name="adj" fmla="val 12486"/>
              </a:avLst>
            </a:prstGeom>
            <a:solidFill>
              <a:schemeClr val="folHlink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97" name="AutoShape 65"/>
            <p:cNvSpPr>
              <a:spLocks noChangeArrowheads="1"/>
            </p:cNvSpPr>
            <p:nvPr/>
          </p:nvSpPr>
          <p:spPr bwMode="auto">
            <a:xfrm>
              <a:off x="1269" y="4498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chemeClr val="folHlink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98" name="AutoShape 66"/>
            <p:cNvSpPr>
              <a:spLocks noChangeArrowheads="1"/>
            </p:cNvSpPr>
            <p:nvPr/>
          </p:nvSpPr>
          <p:spPr bwMode="auto">
            <a:xfrm>
              <a:off x="1721" y="4498"/>
              <a:ext cx="470" cy="421"/>
            </a:xfrm>
            <a:prstGeom prst="roundRect">
              <a:avLst>
                <a:gd name="adj" fmla="val 12486"/>
              </a:avLst>
            </a:prstGeom>
            <a:noFill/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99" name="AutoShape 67"/>
            <p:cNvSpPr>
              <a:spLocks noChangeArrowheads="1"/>
            </p:cNvSpPr>
            <p:nvPr/>
          </p:nvSpPr>
          <p:spPr bwMode="auto">
            <a:xfrm>
              <a:off x="2172" y="4498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900" name="AutoShape 68"/>
            <p:cNvSpPr>
              <a:spLocks noChangeArrowheads="1"/>
            </p:cNvSpPr>
            <p:nvPr/>
          </p:nvSpPr>
          <p:spPr bwMode="auto">
            <a:xfrm>
              <a:off x="2625" y="4498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901" name="AutoShape 69"/>
            <p:cNvSpPr>
              <a:spLocks noChangeArrowheads="1"/>
            </p:cNvSpPr>
            <p:nvPr/>
          </p:nvSpPr>
          <p:spPr bwMode="auto">
            <a:xfrm>
              <a:off x="3105" y="4498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902" name="Text Box 70"/>
            <p:cNvSpPr txBox="1">
              <a:spLocks noChangeArrowheads="1"/>
            </p:cNvSpPr>
            <p:nvPr/>
          </p:nvSpPr>
          <p:spPr bwMode="auto">
            <a:xfrm>
              <a:off x="3168" y="4560"/>
              <a:ext cx="366" cy="3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</a:rPr>
                <a:t>33</a:t>
              </a:r>
            </a:p>
          </p:txBody>
        </p:sp>
        <p:sp>
          <p:nvSpPr>
            <p:cNvPr id="120903" name="Text Box 71"/>
            <p:cNvSpPr txBox="1">
              <a:spLocks noChangeArrowheads="1"/>
            </p:cNvSpPr>
            <p:nvPr/>
          </p:nvSpPr>
          <p:spPr bwMode="auto">
            <a:xfrm>
              <a:off x="2688" y="4560"/>
              <a:ext cx="366" cy="3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</a:rPr>
                <a:t>37</a:t>
              </a:r>
            </a:p>
          </p:txBody>
        </p:sp>
        <p:sp>
          <p:nvSpPr>
            <p:cNvPr id="120904" name="Text Box 72"/>
            <p:cNvSpPr txBox="1">
              <a:spLocks noChangeArrowheads="1"/>
            </p:cNvSpPr>
            <p:nvPr/>
          </p:nvSpPr>
          <p:spPr bwMode="auto">
            <a:xfrm>
              <a:off x="2208" y="4560"/>
              <a:ext cx="366" cy="3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</a:rPr>
                <a:t>48</a:t>
              </a:r>
            </a:p>
          </p:txBody>
        </p:sp>
        <p:sp>
          <p:nvSpPr>
            <p:cNvPr id="120905" name="Text Box 73"/>
            <p:cNvSpPr txBox="1">
              <a:spLocks noChangeArrowheads="1"/>
            </p:cNvSpPr>
            <p:nvPr/>
          </p:nvSpPr>
          <p:spPr bwMode="auto">
            <a:xfrm>
              <a:off x="1776" y="4560"/>
              <a:ext cx="366" cy="3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</a:rPr>
                <a:t>57</a:t>
              </a:r>
              <a:endParaRPr lang="en-US" sz="40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20906" name="Text Box 74"/>
            <p:cNvSpPr txBox="1">
              <a:spLocks noChangeArrowheads="1"/>
            </p:cNvSpPr>
            <p:nvPr/>
          </p:nvSpPr>
          <p:spPr bwMode="auto">
            <a:xfrm>
              <a:off x="1296" y="4560"/>
              <a:ext cx="366" cy="3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</a:rPr>
                <a:t>12</a:t>
              </a:r>
              <a:endParaRPr lang="en-US" sz="40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20907" name="Text Box 75"/>
            <p:cNvSpPr txBox="1">
              <a:spLocks noChangeArrowheads="1"/>
            </p:cNvSpPr>
            <p:nvPr/>
          </p:nvSpPr>
          <p:spPr bwMode="auto">
            <a:xfrm>
              <a:off x="864" y="4560"/>
              <a:ext cx="366" cy="3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</a:rPr>
                <a:t>25</a:t>
              </a:r>
              <a:endParaRPr lang="en-US" sz="40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20908" name="AutoShape 76"/>
            <p:cNvSpPr>
              <a:spLocks noChangeArrowheads="1"/>
            </p:cNvSpPr>
            <p:nvPr/>
          </p:nvSpPr>
          <p:spPr bwMode="auto">
            <a:xfrm>
              <a:off x="1008" y="5040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909" name="Freeform 77"/>
            <p:cNvSpPr>
              <a:spLocks/>
            </p:cNvSpPr>
            <p:nvPr/>
          </p:nvSpPr>
          <p:spPr bwMode="auto">
            <a:xfrm>
              <a:off x="1392" y="4848"/>
              <a:ext cx="392" cy="432"/>
            </a:xfrm>
            <a:custGeom>
              <a:avLst/>
              <a:gdLst/>
              <a:ahLst/>
              <a:cxnLst>
                <a:cxn ang="0">
                  <a:pos x="240" y="0"/>
                </a:cxn>
                <a:cxn ang="0">
                  <a:pos x="384" y="144"/>
                </a:cxn>
                <a:cxn ang="0">
                  <a:pos x="288" y="336"/>
                </a:cxn>
                <a:cxn ang="0">
                  <a:pos x="0" y="432"/>
                </a:cxn>
              </a:cxnLst>
              <a:rect l="0" t="0" r="r" b="b"/>
              <a:pathLst>
                <a:path w="392" h="432">
                  <a:moveTo>
                    <a:pt x="240" y="0"/>
                  </a:moveTo>
                  <a:cubicBezTo>
                    <a:pt x="308" y="44"/>
                    <a:pt x="376" y="88"/>
                    <a:pt x="384" y="144"/>
                  </a:cubicBezTo>
                  <a:cubicBezTo>
                    <a:pt x="392" y="200"/>
                    <a:pt x="352" y="288"/>
                    <a:pt x="288" y="336"/>
                  </a:cubicBezTo>
                  <a:cubicBezTo>
                    <a:pt x="224" y="384"/>
                    <a:pt x="112" y="408"/>
                    <a:pt x="0" y="432"/>
                  </a:cubicBezTo>
                </a:path>
              </a:pathLst>
            </a:custGeom>
            <a:noFill/>
            <a:ln w="508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910" name="Freeform 78"/>
            <p:cNvSpPr>
              <a:spLocks/>
            </p:cNvSpPr>
            <p:nvPr/>
          </p:nvSpPr>
          <p:spPr bwMode="auto">
            <a:xfrm rot="-6862468">
              <a:off x="1028" y="4252"/>
              <a:ext cx="392" cy="432"/>
            </a:xfrm>
            <a:custGeom>
              <a:avLst/>
              <a:gdLst/>
              <a:ahLst/>
              <a:cxnLst>
                <a:cxn ang="0">
                  <a:pos x="240" y="0"/>
                </a:cxn>
                <a:cxn ang="0">
                  <a:pos x="384" y="144"/>
                </a:cxn>
                <a:cxn ang="0">
                  <a:pos x="288" y="336"/>
                </a:cxn>
                <a:cxn ang="0">
                  <a:pos x="0" y="432"/>
                </a:cxn>
              </a:cxnLst>
              <a:rect l="0" t="0" r="r" b="b"/>
              <a:pathLst>
                <a:path w="392" h="432">
                  <a:moveTo>
                    <a:pt x="240" y="0"/>
                  </a:moveTo>
                  <a:cubicBezTo>
                    <a:pt x="308" y="44"/>
                    <a:pt x="376" y="88"/>
                    <a:pt x="384" y="144"/>
                  </a:cubicBezTo>
                  <a:cubicBezTo>
                    <a:pt x="392" y="200"/>
                    <a:pt x="352" y="288"/>
                    <a:pt x="288" y="336"/>
                  </a:cubicBezTo>
                  <a:cubicBezTo>
                    <a:pt x="224" y="384"/>
                    <a:pt x="112" y="408"/>
                    <a:pt x="0" y="432"/>
                  </a:cubicBezTo>
                </a:path>
              </a:pathLst>
            </a:custGeom>
            <a:noFill/>
            <a:ln w="508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911" name="Freeform 79"/>
            <p:cNvSpPr>
              <a:spLocks/>
            </p:cNvSpPr>
            <p:nvPr/>
          </p:nvSpPr>
          <p:spPr bwMode="auto">
            <a:xfrm rot="-14082351">
              <a:off x="720" y="4934"/>
              <a:ext cx="392" cy="384"/>
            </a:xfrm>
            <a:custGeom>
              <a:avLst/>
              <a:gdLst/>
              <a:ahLst/>
              <a:cxnLst>
                <a:cxn ang="0">
                  <a:pos x="240" y="0"/>
                </a:cxn>
                <a:cxn ang="0">
                  <a:pos x="384" y="144"/>
                </a:cxn>
                <a:cxn ang="0">
                  <a:pos x="288" y="336"/>
                </a:cxn>
                <a:cxn ang="0">
                  <a:pos x="0" y="432"/>
                </a:cxn>
              </a:cxnLst>
              <a:rect l="0" t="0" r="r" b="b"/>
              <a:pathLst>
                <a:path w="392" h="432">
                  <a:moveTo>
                    <a:pt x="240" y="0"/>
                  </a:moveTo>
                  <a:cubicBezTo>
                    <a:pt x="308" y="44"/>
                    <a:pt x="376" y="88"/>
                    <a:pt x="384" y="144"/>
                  </a:cubicBezTo>
                  <a:cubicBezTo>
                    <a:pt x="392" y="200"/>
                    <a:pt x="352" y="288"/>
                    <a:pt x="288" y="336"/>
                  </a:cubicBezTo>
                  <a:cubicBezTo>
                    <a:pt x="224" y="384"/>
                    <a:pt x="112" y="408"/>
                    <a:pt x="0" y="432"/>
                  </a:cubicBezTo>
                </a:path>
              </a:pathLst>
            </a:custGeom>
            <a:noFill/>
            <a:ln w="508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912" name="Text Box 80"/>
            <p:cNvSpPr txBox="1">
              <a:spLocks noChangeArrowheads="1"/>
            </p:cNvSpPr>
            <p:nvPr/>
          </p:nvSpPr>
          <p:spPr bwMode="auto">
            <a:xfrm>
              <a:off x="1056" y="5088"/>
              <a:ext cx="366" cy="3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</a:rPr>
                <a:t>12</a:t>
              </a:r>
            </a:p>
          </p:txBody>
        </p:sp>
        <p:sp>
          <p:nvSpPr>
            <p:cNvPr id="120913" name="Text Box 81"/>
            <p:cNvSpPr txBox="1">
              <a:spLocks noChangeArrowheads="1"/>
            </p:cNvSpPr>
            <p:nvPr/>
          </p:nvSpPr>
          <p:spPr bwMode="auto">
            <a:xfrm>
              <a:off x="1056" y="5472"/>
              <a:ext cx="460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/>
                <a:t>temp</a:t>
              </a:r>
            </a:p>
          </p:txBody>
        </p:sp>
        <p:sp>
          <p:nvSpPr>
            <p:cNvPr id="120914" name="Line 82"/>
            <p:cNvSpPr>
              <a:spLocks noChangeShapeType="1"/>
            </p:cNvSpPr>
            <p:nvPr/>
          </p:nvSpPr>
          <p:spPr bwMode="auto">
            <a:xfrm>
              <a:off x="3600" y="4512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915" name="Line 83"/>
            <p:cNvSpPr>
              <a:spLocks noChangeShapeType="1"/>
            </p:cNvSpPr>
            <p:nvPr/>
          </p:nvSpPr>
          <p:spPr bwMode="auto">
            <a:xfrm>
              <a:off x="3600" y="4896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916" name="Text Box 84"/>
            <p:cNvSpPr txBox="1">
              <a:spLocks noChangeArrowheads="1"/>
            </p:cNvSpPr>
            <p:nvPr/>
          </p:nvSpPr>
          <p:spPr bwMode="auto">
            <a:xfrm>
              <a:off x="3696" y="4512"/>
              <a:ext cx="320" cy="43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/>
                <a:t>i=1</a:t>
              </a:r>
            </a:p>
            <a:p>
              <a:r>
                <a:rPr lang="en-US" sz="1800"/>
                <a:t>j=1</a:t>
              </a:r>
            </a:p>
          </p:txBody>
        </p:sp>
      </p:grpSp>
      <p:sp>
        <p:nvSpPr>
          <p:cNvPr id="85" name="Rectangle 84"/>
          <p:cNvSpPr/>
          <p:nvPr/>
        </p:nvSpPr>
        <p:spPr>
          <a:xfrm>
            <a:off x="457200" y="5833"/>
            <a:ext cx="45416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/>
              <a:t>Sorting</a:t>
            </a:r>
            <a:r>
              <a:rPr lang="en-GB" sz="3200" b="1" dirty="0"/>
              <a:t> Algorithms</a:t>
            </a:r>
            <a:endParaRPr lang="en-US" sz="3200" b="1" dirty="0"/>
          </a:p>
        </p:txBody>
      </p:sp>
      <p:sp>
        <p:nvSpPr>
          <p:cNvPr id="86" name="Rectangle 85"/>
          <p:cNvSpPr/>
          <p:nvPr/>
        </p:nvSpPr>
        <p:spPr>
          <a:xfrm>
            <a:off x="754054" y="635418"/>
            <a:ext cx="1786066" cy="3894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>
              <a:lnSpc>
                <a:spcPct val="120000"/>
              </a:lnSpc>
              <a:spcBef>
                <a:spcPct val="90000"/>
              </a:spcBef>
              <a:buClr>
                <a:schemeClr val="hlink"/>
              </a:buClr>
              <a:buSzPct val="150000"/>
            </a:pPr>
            <a:r>
              <a:rPr lang="en-GB" dirty="0"/>
              <a:t> </a:t>
            </a:r>
            <a:r>
              <a:rPr lang="en-US" b="1" dirty="0">
                <a:solidFill>
                  <a:srgbClr val="008000"/>
                </a:solidFill>
              </a:rPr>
              <a:t>Bubble Sort</a:t>
            </a:r>
          </a:p>
        </p:txBody>
      </p:sp>
      <p:sp>
        <p:nvSpPr>
          <p:cNvPr id="87" name="Oval 86"/>
          <p:cNvSpPr/>
          <p:nvPr/>
        </p:nvSpPr>
        <p:spPr>
          <a:xfrm>
            <a:off x="561975" y="710559"/>
            <a:ext cx="302102" cy="27622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8925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AutoShape 3"/>
          <p:cNvSpPr>
            <a:spLocks noChangeArrowheads="1"/>
          </p:cNvSpPr>
          <p:nvPr/>
        </p:nvSpPr>
        <p:spPr bwMode="auto">
          <a:xfrm>
            <a:off x="1136650" y="1666875"/>
            <a:ext cx="747713" cy="617538"/>
          </a:xfrm>
          <a:prstGeom prst="roundRect">
            <a:avLst>
              <a:gd name="adj" fmla="val 12486"/>
            </a:avLst>
          </a:prstGeom>
          <a:noFill/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1860" name="AutoShape 4"/>
          <p:cNvSpPr>
            <a:spLocks noChangeArrowheads="1"/>
          </p:cNvSpPr>
          <p:nvPr/>
        </p:nvSpPr>
        <p:spPr bwMode="auto">
          <a:xfrm>
            <a:off x="1855788" y="1666875"/>
            <a:ext cx="746125" cy="617538"/>
          </a:xfrm>
          <a:prstGeom prst="roundRect">
            <a:avLst>
              <a:gd name="adj" fmla="val 12486"/>
            </a:avLst>
          </a:prstGeom>
          <a:solidFill>
            <a:schemeClr val="folHlink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1861" name="AutoShape 5"/>
          <p:cNvSpPr>
            <a:spLocks noChangeArrowheads="1"/>
          </p:cNvSpPr>
          <p:nvPr/>
        </p:nvSpPr>
        <p:spPr bwMode="auto">
          <a:xfrm>
            <a:off x="2573338" y="1666875"/>
            <a:ext cx="746125" cy="617538"/>
          </a:xfrm>
          <a:prstGeom prst="roundRect">
            <a:avLst>
              <a:gd name="adj" fmla="val 12486"/>
            </a:avLst>
          </a:prstGeom>
          <a:solidFill>
            <a:schemeClr val="folHlink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1862" name="AutoShape 6"/>
          <p:cNvSpPr>
            <a:spLocks noChangeArrowheads="1"/>
          </p:cNvSpPr>
          <p:nvPr/>
        </p:nvSpPr>
        <p:spPr bwMode="auto">
          <a:xfrm>
            <a:off x="3289300" y="1666875"/>
            <a:ext cx="746125" cy="617538"/>
          </a:xfrm>
          <a:prstGeom prst="roundRect">
            <a:avLst>
              <a:gd name="adj" fmla="val 12486"/>
            </a:avLst>
          </a:prstGeom>
          <a:solidFill>
            <a:srgbClr val="FFFFFF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1863" name="AutoShape 7"/>
          <p:cNvSpPr>
            <a:spLocks noChangeArrowheads="1"/>
          </p:cNvSpPr>
          <p:nvPr/>
        </p:nvSpPr>
        <p:spPr bwMode="auto">
          <a:xfrm>
            <a:off x="4008438" y="1666875"/>
            <a:ext cx="746125" cy="617538"/>
          </a:xfrm>
          <a:prstGeom prst="roundRect">
            <a:avLst>
              <a:gd name="adj" fmla="val 12486"/>
            </a:avLst>
          </a:prstGeom>
          <a:solidFill>
            <a:srgbClr val="FFFFFF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1864" name="AutoShape 8"/>
          <p:cNvSpPr>
            <a:spLocks noChangeArrowheads="1"/>
          </p:cNvSpPr>
          <p:nvPr/>
        </p:nvSpPr>
        <p:spPr bwMode="auto">
          <a:xfrm>
            <a:off x="4770438" y="1666875"/>
            <a:ext cx="746125" cy="617538"/>
          </a:xfrm>
          <a:prstGeom prst="roundRect">
            <a:avLst>
              <a:gd name="adj" fmla="val 12486"/>
            </a:avLst>
          </a:prstGeom>
          <a:solidFill>
            <a:srgbClr val="FFFFFF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1865" name="Text Box 9"/>
          <p:cNvSpPr txBox="1">
            <a:spLocks noChangeArrowheads="1"/>
          </p:cNvSpPr>
          <p:nvPr/>
        </p:nvSpPr>
        <p:spPr bwMode="auto">
          <a:xfrm>
            <a:off x="4870450" y="1758950"/>
            <a:ext cx="581025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37</a:t>
            </a:r>
          </a:p>
        </p:txBody>
      </p:sp>
      <p:sp>
        <p:nvSpPr>
          <p:cNvPr id="121866" name="Text Box 10"/>
          <p:cNvSpPr txBox="1">
            <a:spLocks noChangeArrowheads="1"/>
          </p:cNvSpPr>
          <p:nvPr/>
        </p:nvSpPr>
        <p:spPr bwMode="auto">
          <a:xfrm>
            <a:off x="4108450" y="1758950"/>
            <a:ext cx="581025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48</a:t>
            </a:r>
          </a:p>
        </p:txBody>
      </p:sp>
      <p:sp>
        <p:nvSpPr>
          <p:cNvPr id="121867" name="Text Box 11"/>
          <p:cNvSpPr txBox="1">
            <a:spLocks noChangeArrowheads="1"/>
          </p:cNvSpPr>
          <p:nvPr/>
        </p:nvSpPr>
        <p:spPr bwMode="auto">
          <a:xfrm>
            <a:off x="3346450" y="1758950"/>
            <a:ext cx="581025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57</a:t>
            </a:r>
          </a:p>
        </p:txBody>
      </p:sp>
      <p:sp>
        <p:nvSpPr>
          <p:cNvPr id="121868" name="Text Box 12"/>
          <p:cNvSpPr txBox="1">
            <a:spLocks noChangeArrowheads="1"/>
          </p:cNvSpPr>
          <p:nvPr/>
        </p:nvSpPr>
        <p:spPr bwMode="auto">
          <a:xfrm>
            <a:off x="2660650" y="1758950"/>
            <a:ext cx="581025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33</a:t>
            </a:r>
            <a:endParaRPr lang="en-US" sz="40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21869" name="Text Box 13"/>
          <p:cNvSpPr txBox="1">
            <a:spLocks noChangeArrowheads="1"/>
          </p:cNvSpPr>
          <p:nvPr/>
        </p:nvSpPr>
        <p:spPr bwMode="auto">
          <a:xfrm>
            <a:off x="1898650" y="1758950"/>
            <a:ext cx="581025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25</a:t>
            </a:r>
            <a:endParaRPr lang="en-US" sz="40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21870" name="Text Box 14"/>
          <p:cNvSpPr txBox="1">
            <a:spLocks noChangeArrowheads="1"/>
          </p:cNvSpPr>
          <p:nvPr/>
        </p:nvSpPr>
        <p:spPr bwMode="auto">
          <a:xfrm>
            <a:off x="1212850" y="1758950"/>
            <a:ext cx="581025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12</a:t>
            </a:r>
            <a:endParaRPr lang="en-US" sz="40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21871" name="Line 15"/>
          <p:cNvSpPr>
            <a:spLocks noChangeShapeType="1"/>
          </p:cNvSpPr>
          <p:nvPr/>
        </p:nvSpPr>
        <p:spPr bwMode="auto">
          <a:xfrm>
            <a:off x="5556250" y="1687513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1872" name="Line 16"/>
          <p:cNvSpPr>
            <a:spLocks noChangeShapeType="1"/>
          </p:cNvSpPr>
          <p:nvPr/>
        </p:nvSpPr>
        <p:spPr bwMode="auto">
          <a:xfrm>
            <a:off x="5556250" y="2251075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1873" name="Text Box 17"/>
          <p:cNvSpPr txBox="1">
            <a:spLocks noChangeArrowheads="1"/>
          </p:cNvSpPr>
          <p:nvPr/>
        </p:nvSpPr>
        <p:spPr bwMode="auto">
          <a:xfrm>
            <a:off x="5708650" y="1687513"/>
            <a:ext cx="508000" cy="6413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i=2</a:t>
            </a:r>
          </a:p>
          <a:p>
            <a:r>
              <a:rPr lang="en-US" sz="1800"/>
              <a:t>j=2</a:t>
            </a:r>
          </a:p>
        </p:txBody>
      </p:sp>
      <p:sp>
        <p:nvSpPr>
          <p:cNvPr id="121874" name="Line 18"/>
          <p:cNvSpPr>
            <a:spLocks noChangeShapeType="1"/>
          </p:cNvSpPr>
          <p:nvPr/>
        </p:nvSpPr>
        <p:spPr bwMode="auto">
          <a:xfrm flipV="1">
            <a:off x="2209800" y="2322513"/>
            <a:ext cx="0" cy="4921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1875" name="AutoShape 19"/>
          <p:cNvSpPr>
            <a:spLocks noChangeArrowheads="1"/>
          </p:cNvSpPr>
          <p:nvPr/>
        </p:nvSpPr>
        <p:spPr bwMode="auto">
          <a:xfrm>
            <a:off x="1143000" y="3005138"/>
            <a:ext cx="747713" cy="617537"/>
          </a:xfrm>
          <a:prstGeom prst="roundRect">
            <a:avLst>
              <a:gd name="adj" fmla="val 12486"/>
            </a:avLst>
          </a:prstGeom>
          <a:noFill/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1876" name="AutoShape 20"/>
          <p:cNvSpPr>
            <a:spLocks noChangeArrowheads="1"/>
          </p:cNvSpPr>
          <p:nvPr/>
        </p:nvSpPr>
        <p:spPr bwMode="auto">
          <a:xfrm>
            <a:off x="1862138" y="3005138"/>
            <a:ext cx="746125" cy="617537"/>
          </a:xfrm>
          <a:prstGeom prst="roundRect">
            <a:avLst>
              <a:gd name="adj" fmla="val 12486"/>
            </a:avLst>
          </a:prstGeom>
          <a:noFill/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1877" name="AutoShape 21"/>
          <p:cNvSpPr>
            <a:spLocks noChangeArrowheads="1"/>
          </p:cNvSpPr>
          <p:nvPr/>
        </p:nvSpPr>
        <p:spPr bwMode="auto">
          <a:xfrm>
            <a:off x="2579688" y="3005138"/>
            <a:ext cx="746125" cy="617537"/>
          </a:xfrm>
          <a:prstGeom prst="roundRect">
            <a:avLst>
              <a:gd name="adj" fmla="val 12486"/>
            </a:avLst>
          </a:prstGeom>
          <a:solidFill>
            <a:schemeClr val="folHlink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1878" name="AutoShape 22"/>
          <p:cNvSpPr>
            <a:spLocks noChangeArrowheads="1"/>
          </p:cNvSpPr>
          <p:nvPr/>
        </p:nvSpPr>
        <p:spPr bwMode="auto">
          <a:xfrm>
            <a:off x="3295650" y="3005138"/>
            <a:ext cx="746125" cy="617537"/>
          </a:xfrm>
          <a:prstGeom prst="roundRect">
            <a:avLst>
              <a:gd name="adj" fmla="val 12486"/>
            </a:avLst>
          </a:prstGeom>
          <a:solidFill>
            <a:schemeClr val="folHlink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1879" name="AutoShape 23"/>
          <p:cNvSpPr>
            <a:spLocks noChangeArrowheads="1"/>
          </p:cNvSpPr>
          <p:nvPr/>
        </p:nvSpPr>
        <p:spPr bwMode="auto">
          <a:xfrm>
            <a:off x="4014788" y="3005138"/>
            <a:ext cx="746125" cy="617537"/>
          </a:xfrm>
          <a:prstGeom prst="roundRect">
            <a:avLst>
              <a:gd name="adj" fmla="val 12486"/>
            </a:avLst>
          </a:prstGeom>
          <a:solidFill>
            <a:srgbClr val="FFFFFF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1880" name="AutoShape 24"/>
          <p:cNvSpPr>
            <a:spLocks noChangeArrowheads="1"/>
          </p:cNvSpPr>
          <p:nvPr/>
        </p:nvSpPr>
        <p:spPr bwMode="auto">
          <a:xfrm>
            <a:off x="4776788" y="3005138"/>
            <a:ext cx="746125" cy="617537"/>
          </a:xfrm>
          <a:prstGeom prst="roundRect">
            <a:avLst>
              <a:gd name="adj" fmla="val 12486"/>
            </a:avLst>
          </a:prstGeom>
          <a:solidFill>
            <a:srgbClr val="FFFFFF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1881" name="Text Box 25"/>
          <p:cNvSpPr txBox="1">
            <a:spLocks noChangeArrowheads="1"/>
          </p:cNvSpPr>
          <p:nvPr/>
        </p:nvSpPr>
        <p:spPr bwMode="auto">
          <a:xfrm>
            <a:off x="4876800" y="3095625"/>
            <a:ext cx="581025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48</a:t>
            </a:r>
          </a:p>
        </p:txBody>
      </p:sp>
      <p:sp>
        <p:nvSpPr>
          <p:cNvPr id="121882" name="Text Box 26"/>
          <p:cNvSpPr txBox="1">
            <a:spLocks noChangeArrowheads="1"/>
          </p:cNvSpPr>
          <p:nvPr/>
        </p:nvSpPr>
        <p:spPr bwMode="auto">
          <a:xfrm>
            <a:off x="4114800" y="3095625"/>
            <a:ext cx="581025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57</a:t>
            </a:r>
          </a:p>
        </p:txBody>
      </p:sp>
      <p:sp>
        <p:nvSpPr>
          <p:cNvPr id="121883" name="Text Box 27"/>
          <p:cNvSpPr txBox="1">
            <a:spLocks noChangeArrowheads="1"/>
          </p:cNvSpPr>
          <p:nvPr/>
        </p:nvSpPr>
        <p:spPr bwMode="auto">
          <a:xfrm>
            <a:off x="3352800" y="3095625"/>
            <a:ext cx="581025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37</a:t>
            </a:r>
          </a:p>
        </p:txBody>
      </p:sp>
      <p:sp>
        <p:nvSpPr>
          <p:cNvPr id="121884" name="Text Box 28"/>
          <p:cNvSpPr txBox="1">
            <a:spLocks noChangeArrowheads="1"/>
          </p:cNvSpPr>
          <p:nvPr/>
        </p:nvSpPr>
        <p:spPr bwMode="auto">
          <a:xfrm>
            <a:off x="2667000" y="3095625"/>
            <a:ext cx="581025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33</a:t>
            </a:r>
            <a:endParaRPr lang="en-US" sz="40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21885" name="Text Box 29"/>
          <p:cNvSpPr txBox="1">
            <a:spLocks noChangeArrowheads="1"/>
          </p:cNvSpPr>
          <p:nvPr/>
        </p:nvSpPr>
        <p:spPr bwMode="auto">
          <a:xfrm>
            <a:off x="1905000" y="3095625"/>
            <a:ext cx="581025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25</a:t>
            </a:r>
            <a:endParaRPr lang="en-US" sz="40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21886" name="Text Box 30"/>
          <p:cNvSpPr txBox="1">
            <a:spLocks noChangeArrowheads="1"/>
          </p:cNvSpPr>
          <p:nvPr/>
        </p:nvSpPr>
        <p:spPr bwMode="auto">
          <a:xfrm>
            <a:off x="1219200" y="3095625"/>
            <a:ext cx="581025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12</a:t>
            </a:r>
            <a:endParaRPr lang="en-US" sz="40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21887" name="Line 31"/>
          <p:cNvSpPr>
            <a:spLocks noChangeShapeType="1"/>
          </p:cNvSpPr>
          <p:nvPr/>
        </p:nvSpPr>
        <p:spPr bwMode="auto">
          <a:xfrm>
            <a:off x="5562600" y="3025775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1888" name="Line 32"/>
          <p:cNvSpPr>
            <a:spLocks noChangeShapeType="1"/>
          </p:cNvSpPr>
          <p:nvPr/>
        </p:nvSpPr>
        <p:spPr bwMode="auto">
          <a:xfrm>
            <a:off x="5562600" y="3589338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1889" name="Text Box 33"/>
          <p:cNvSpPr txBox="1">
            <a:spLocks noChangeArrowheads="1"/>
          </p:cNvSpPr>
          <p:nvPr/>
        </p:nvSpPr>
        <p:spPr bwMode="auto">
          <a:xfrm>
            <a:off x="5715000" y="3025775"/>
            <a:ext cx="508000" cy="6413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i=3</a:t>
            </a:r>
          </a:p>
          <a:p>
            <a:r>
              <a:rPr lang="en-US" sz="1800"/>
              <a:t>j=3</a:t>
            </a:r>
          </a:p>
        </p:txBody>
      </p:sp>
      <p:sp>
        <p:nvSpPr>
          <p:cNvPr id="121890" name="Line 34"/>
          <p:cNvSpPr>
            <a:spLocks noChangeShapeType="1"/>
          </p:cNvSpPr>
          <p:nvPr/>
        </p:nvSpPr>
        <p:spPr bwMode="auto">
          <a:xfrm flipV="1">
            <a:off x="2971800" y="3659188"/>
            <a:ext cx="0" cy="4921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1891" name="AutoShape 35"/>
          <p:cNvSpPr>
            <a:spLocks noChangeArrowheads="1"/>
          </p:cNvSpPr>
          <p:nvPr/>
        </p:nvSpPr>
        <p:spPr bwMode="auto">
          <a:xfrm>
            <a:off x="1143000" y="4341813"/>
            <a:ext cx="747713" cy="617537"/>
          </a:xfrm>
          <a:prstGeom prst="roundRect">
            <a:avLst>
              <a:gd name="adj" fmla="val 12486"/>
            </a:avLst>
          </a:prstGeom>
          <a:noFill/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1892" name="AutoShape 36"/>
          <p:cNvSpPr>
            <a:spLocks noChangeArrowheads="1"/>
          </p:cNvSpPr>
          <p:nvPr/>
        </p:nvSpPr>
        <p:spPr bwMode="auto">
          <a:xfrm>
            <a:off x="1862138" y="4341813"/>
            <a:ext cx="746125" cy="617537"/>
          </a:xfrm>
          <a:prstGeom prst="roundRect">
            <a:avLst>
              <a:gd name="adj" fmla="val 12486"/>
            </a:avLst>
          </a:prstGeom>
          <a:noFill/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1893" name="AutoShape 37"/>
          <p:cNvSpPr>
            <a:spLocks noChangeArrowheads="1"/>
          </p:cNvSpPr>
          <p:nvPr/>
        </p:nvSpPr>
        <p:spPr bwMode="auto">
          <a:xfrm>
            <a:off x="2579688" y="4341813"/>
            <a:ext cx="746125" cy="617537"/>
          </a:xfrm>
          <a:prstGeom prst="roundRect">
            <a:avLst>
              <a:gd name="adj" fmla="val 12486"/>
            </a:avLst>
          </a:prstGeom>
          <a:noFill/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1894" name="AutoShape 38"/>
          <p:cNvSpPr>
            <a:spLocks noChangeArrowheads="1"/>
          </p:cNvSpPr>
          <p:nvPr/>
        </p:nvSpPr>
        <p:spPr bwMode="auto">
          <a:xfrm>
            <a:off x="3295650" y="4341813"/>
            <a:ext cx="746125" cy="617537"/>
          </a:xfrm>
          <a:prstGeom prst="roundRect">
            <a:avLst>
              <a:gd name="adj" fmla="val 12486"/>
            </a:avLst>
          </a:prstGeom>
          <a:solidFill>
            <a:schemeClr val="folHlink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1895" name="AutoShape 39"/>
          <p:cNvSpPr>
            <a:spLocks noChangeArrowheads="1"/>
          </p:cNvSpPr>
          <p:nvPr/>
        </p:nvSpPr>
        <p:spPr bwMode="auto">
          <a:xfrm>
            <a:off x="4014788" y="4341813"/>
            <a:ext cx="746125" cy="617537"/>
          </a:xfrm>
          <a:prstGeom prst="roundRect">
            <a:avLst>
              <a:gd name="adj" fmla="val 12486"/>
            </a:avLst>
          </a:prstGeom>
          <a:solidFill>
            <a:schemeClr val="folHlink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1896" name="AutoShape 40"/>
          <p:cNvSpPr>
            <a:spLocks noChangeArrowheads="1"/>
          </p:cNvSpPr>
          <p:nvPr/>
        </p:nvSpPr>
        <p:spPr bwMode="auto">
          <a:xfrm>
            <a:off x="4776788" y="4341813"/>
            <a:ext cx="746125" cy="617537"/>
          </a:xfrm>
          <a:prstGeom prst="roundRect">
            <a:avLst>
              <a:gd name="adj" fmla="val 12486"/>
            </a:avLst>
          </a:prstGeom>
          <a:solidFill>
            <a:srgbClr val="FFFFFF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1897" name="Text Box 41"/>
          <p:cNvSpPr txBox="1">
            <a:spLocks noChangeArrowheads="1"/>
          </p:cNvSpPr>
          <p:nvPr/>
        </p:nvSpPr>
        <p:spPr bwMode="auto">
          <a:xfrm>
            <a:off x="4876800" y="4432300"/>
            <a:ext cx="581025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57</a:t>
            </a:r>
          </a:p>
        </p:txBody>
      </p:sp>
      <p:sp>
        <p:nvSpPr>
          <p:cNvPr id="121898" name="Text Box 42"/>
          <p:cNvSpPr txBox="1">
            <a:spLocks noChangeArrowheads="1"/>
          </p:cNvSpPr>
          <p:nvPr/>
        </p:nvSpPr>
        <p:spPr bwMode="auto">
          <a:xfrm>
            <a:off x="4114800" y="4432300"/>
            <a:ext cx="581025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48</a:t>
            </a:r>
          </a:p>
        </p:txBody>
      </p:sp>
      <p:sp>
        <p:nvSpPr>
          <p:cNvPr id="121899" name="Text Box 43"/>
          <p:cNvSpPr txBox="1">
            <a:spLocks noChangeArrowheads="1"/>
          </p:cNvSpPr>
          <p:nvPr/>
        </p:nvSpPr>
        <p:spPr bwMode="auto">
          <a:xfrm>
            <a:off x="3352800" y="4432300"/>
            <a:ext cx="581025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37</a:t>
            </a:r>
          </a:p>
        </p:txBody>
      </p:sp>
      <p:sp>
        <p:nvSpPr>
          <p:cNvPr id="121900" name="Text Box 44"/>
          <p:cNvSpPr txBox="1">
            <a:spLocks noChangeArrowheads="1"/>
          </p:cNvSpPr>
          <p:nvPr/>
        </p:nvSpPr>
        <p:spPr bwMode="auto">
          <a:xfrm>
            <a:off x="2667000" y="4432300"/>
            <a:ext cx="581025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33</a:t>
            </a:r>
            <a:endParaRPr lang="en-US" sz="40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21901" name="Text Box 45"/>
          <p:cNvSpPr txBox="1">
            <a:spLocks noChangeArrowheads="1"/>
          </p:cNvSpPr>
          <p:nvPr/>
        </p:nvSpPr>
        <p:spPr bwMode="auto">
          <a:xfrm>
            <a:off x="1905000" y="4432300"/>
            <a:ext cx="581025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25</a:t>
            </a:r>
            <a:endParaRPr lang="en-US" sz="40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21902" name="Text Box 46"/>
          <p:cNvSpPr txBox="1">
            <a:spLocks noChangeArrowheads="1"/>
          </p:cNvSpPr>
          <p:nvPr/>
        </p:nvSpPr>
        <p:spPr bwMode="auto">
          <a:xfrm>
            <a:off x="1219200" y="4432300"/>
            <a:ext cx="581025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12</a:t>
            </a:r>
            <a:endParaRPr lang="en-US" sz="40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21903" name="Line 47"/>
          <p:cNvSpPr>
            <a:spLocks noChangeShapeType="1"/>
          </p:cNvSpPr>
          <p:nvPr/>
        </p:nvSpPr>
        <p:spPr bwMode="auto">
          <a:xfrm>
            <a:off x="5562600" y="436245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1904" name="Line 48"/>
          <p:cNvSpPr>
            <a:spLocks noChangeShapeType="1"/>
          </p:cNvSpPr>
          <p:nvPr/>
        </p:nvSpPr>
        <p:spPr bwMode="auto">
          <a:xfrm>
            <a:off x="5562600" y="4924425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1905" name="Text Box 49"/>
          <p:cNvSpPr txBox="1">
            <a:spLocks noChangeArrowheads="1"/>
          </p:cNvSpPr>
          <p:nvPr/>
        </p:nvSpPr>
        <p:spPr bwMode="auto">
          <a:xfrm>
            <a:off x="5715000" y="4362450"/>
            <a:ext cx="508000" cy="6413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i=4</a:t>
            </a:r>
          </a:p>
          <a:p>
            <a:r>
              <a:rPr lang="en-US" sz="1800"/>
              <a:t>j=4</a:t>
            </a:r>
          </a:p>
        </p:txBody>
      </p:sp>
      <p:sp>
        <p:nvSpPr>
          <p:cNvPr id="121906" name="Line 50"/>
          <p:cNvSpPr>
            <a:spLocks noChangeShapeType="1"/>
          </p:cNvSpPr>
          <p:nvPr/>
        </p:nvSpPr>
        <p:spPr bwMode="auto">
          <a:xfrm flipV="1">
            <a:off x="3657600" y="4995863"/>
            <a:ext cx="0" cy="4921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457200" y="5833"/>
            <a:ext cx="45416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/>
              <a:t>Sorting</a:t>
            </a:r>
            <a:r>
              <a:rPr lang="en-GB" sz="3200" b="1" dirty="0"/>
              <a:t> Algorithms</a:t>
            </a:r>
            <a:endParaRPr lang="en-US" sz="3200" b="1" dirty="0"/>
          </a:p>
        </p:txBody>
      </p:sp>
      <p:sp>
        <p:nvSpPr>
          <p:cNvPr id="52" name="Rectangle 51"/>
          <p:cNvSpPr/>
          <p:nvPr/>
        </p:nvSpPr>
        <p:spPr>
          <a:xfrm>
            <a:off x="754054" y="635418"/>
            <a:ext cx="1786066" cy="3894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>
              <a:lnSpc>
                <a:spcPct val="120000"/>
              </a:lnSpc>
              <a:spcBef>
                <a:spcPct val="90000"/>
              </a:spcBef>
              <a:buClr>
                <a:schemeClr val="hlink"/>
              </a:buClr>
              <a:buSzPct val="150000"/>
            </a:pPr>
            <a:r>
              <a:rPr lang="en-GB" dirty="0"/>
              <a:t> </a:t>
            </a:r>
            <a:r>
              <a:rPr lang="en-US" b="1" dirty="0">
                <a:solidFill>
                  <a:srgbClr val="008000"/>
                </a:solidFill>
              </a:rPr>
              <a:t>Bubble Sort</a:t>
            </a:r>
          </a:p>
        </p:txBody>
      </p:sp>
      <p:sp>
        <p:nvSpPr>
          <p:cNvPr id="53" name="Oval 52"/>
          <p:cNvSpPr/>
          <p:nvPr/>
        </p:nvSpPr>
        <p:spPr>
          <a:xfrm>
            <a:off x="561975" y="710559"/>
            <a:ext cx="302102" cy="27622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0113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476250" y="1152525"/>
            <a:ext cx="6000750" cy="7391400"/>
          </a:xfrm>
          <a:noFill/>
          <a:ln/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Notice that after each pass, the smallest element is in its proper position within the array.</a:t>
            </a:r>
          </a:p>
          <a:p>
            <a:pPr lvl="1">
              <a:lnSpc>
                <a:spcPct val="100000"/>
              </a:lnSpc>
            </a:pPr>
            <a:r>
              <a:rPr lang="en-US" sz="2400" dirty="0"/>
              <a:t>This method is called the bubble sort because each number slowly “bubbles” up to its proper position.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The total number of comparisons is :	</a:t>
            </a:r>
          </a:p>
          <a:p>
            <a:pPr lvl="1">
              <a:lnSpc>
                <a:spcPct val="100000"/>
              </a:lnSpc>
              <a:buFont typeface="Wingdings" pitchFamily="2" charset="2"/>
              <a:buNone/>
            </a:pPr>
            <a:r>
              <a:rPr lang="en-US" sz="2400" dirty="0"/>
              <a:t>(n-1) + (n-2) + … + 1 = n*(n-1)/2</a:t>
            </a:r>
          </a:p>
          <a:p>
            <a:pPr lvl="1">
              <a:lnSpc>
                <a:spcPct val="100000"/>
              </a:lnSpc>
            </a:pPr>
            <a:r>
              <a:rPr lang="en-US" sz="2400" dirty="0"/>
              <a:t>There are </a:t>
            </a:r>
            <a:r>
              <a:rPr lang="en-US" sz="2400" i="1" dirty="0"/>
              <a:t>n-1</a:t>
            </a:r>
            <a:r>
              <a:rPr lang="en-US" sz="2400" dirty="0"/>
              <a:t> passes and at most </a:t>
            </a:r>
            <a:r>
              <a:rPr lang="en-US" sz="2400" i="1" dirty="0"/>
              <a:t>n-1</a:t>
            </a:r>
            <a:r>
              <a:rPr lang="en-US" sz="2400" dirty="0"/>
              <a:t> comparisons on each pass.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However, in the preceding sample file of eight elements, the file was sorted after 5 iterations.</a:t>
            </a:r>
            <a:endParaRPr lang="en-GB" sz="2400" dirty="0"/>
          </a:p>
          <a:p>
            <a:pPr>
              <a:lnSpc>
                <a:spcPct val="100000"/>
              </a:lnSpc>
            </a:pPr>
            <a:r>
              <a:rPr lang="en-US" sz="2400" dirty="0"/>
              <a:t>How do we modify the code for faster sorting?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833"/>
            <a:ext cx="45416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/>
              <a:t>Sorting</a:t>
            </a:r>
            <a:r>
              <a:rPr lang="en-GB" sz="3200" b="1" dirty="0"/>
              <a:t> Algorithms</a:t>
            </a:r>
            <a:endParaRPr lang="en-US" sz="3200" b="1" dirty="0"/>
          </a:p>
        </p:txBody>
      </p:sp>
      <p:sp>
        <p:nvSpPr>
          <p:cNvPr id="4" name="Rectangle 3"/>
          <p:cNvSpPr/>
          <p:nvPr/>
        </p:nvSpPr>
        <p:spPr>
          <a:xfrm>
            <a:off x="754054" y="635418"/>
            <a:ext cx="1786066" cy="3894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>
              <a:lnSpc>
                <a:spcPct val="120000"/>
              </a:lnSpc>
              <a:spcBef>
                <a:spcPct val="90000"/>
              </a:spcBef>
              <a:buClr>
                <a:schemeClr val="hlink"/>
              </a:buClr>
              <a:buSzPct val="150000"/>
            </a:pPr>
            <a:r>
              <a:rPr lang="en-GB" dirty="0"/>
              <a:t> </a:t>
            </a:r>
            <a:r>
              <a:rPr lang="en-US" b="1" dirty="0">
                <a:solidFill>
                  <a:srgbClr val="008000"/>
                </a:solidFill>
              </a:rPr>
              <a:t>Bubble Sort</a:t>
            </a:r>
          </a:p>
        </p:txBody>
      </p:sp>
      <p:sp>
        <p:nvSpPr>
          <p:cNvPr id="5" name="Oval 4"/>
          <p:cNvSpPr/>
          <p:nvPr/>
        </p:nvSpPr>
        <p:spPr>
          <a:xfrm>
            <a:off x="561975" y="710559"/>
            <a:ext cx="302102" cy="27622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2290978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66725" y="1143000"/>
            <a:ext cx="5710238" cy="1474788"/>
          </a:xfrm>
        </p:spPr>
        <p:txBody>
          <a:bodyPr/>
          <a:lstStyle/>
          <a:p>
            <a:pPr marL="342900" indent="-342900" algn="just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sz="1800" b="1" dirty="0">
                <a:solidFill>
                  <a:srgbClr val="000000"/>
                </a:solidFill>
                <a:cs typeface="Times New Roman" pitchFamily="18" charset="0"/>
              </a:rPr>
              <a:t>Q1: Bubble Sort</a:t>
            </a:r>
          </a:p>
          <a:p>
            <a:pPr marL="342900" indent="-342900" algn="just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sz="1800" dirty="0">
                <a:solidFill>
                  <a:srgbClr val="000000"/>
                </a:solidFill>
                <a:cs typeface="Times New Roman" pitchFamily="18" charset="0"/>
              </a:rPr>
              <a:t>	Sort the following numbers in ascending order, using </a:t>
            </a:r>
            <a:r>
              <a:rPr lang="en-GB" sz="1800" b="1" dirty="0">
                <a:solidFill>
                  <a:srgbClr val="000000"/>
                </a:solidFill>
                <a:cs typeface="Times New Roman" pitchFamily="18" charset="0"/>
              </a:rPr>
              <a:t>bubble</a:t>
            </a:r>
            <a:r>
              <a:rPr lang="en-GB" sz="1800" dirty="0">
                <a:solidFill>
                  <a:srgbClr val="000000"/>
                </a:solidFill>
                <a:cs typeface="Times New Roman" pitchFamily="18" charset="0"/>
              </a:rPr>
              <a:t> sort. Start your comparison from the right hand side and bubble the smaller values to the left.</a:t>
            </a:r>
          </a:p>
          <a:p>
            <a:pPr marL="342900" indent="-342900" algn="just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GB" sz="1800" dirty="0">
              <a:solidFill>
                <a:srgbClr val="000000"/>
              </a:solidFill>
              <a:cs typeface="Times New Roman" pitchFamily="18" charset="0"/>
            </a:endParaRPr>
          </a:p>
        </p:txBody>
      </p:sp>
      <p:graphicFrame>
        <p:nvGraphicFramePr>
          <p:cNvPr id="249982" name="Group 126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48873847"/>
              </p:ext>
            </p:extLst>
          </p:nvPr>
        </p:nvGraphicFramePr>
        <p:xfrm>
          <a:off x="488950" y="2617788"/>
          <a:ext cx="5400675" cy="5781678"/>
        </p:xfrm>
        <a:graphic>
          <a:graphicData uri="http://schemas.openxmlformats.org/drawingml/2006/table">
            <a:tbl>
              <a:tblPr/>
              <a:tblGrid>
                <a:gridCol w="541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81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13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81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13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81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13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263"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6263"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6" name="Oval 125"/>
          <p:cNvSpPr/>
          <p:nvPr/>
        </p:nvSpPr>
        <p:spPr bwMode="auto">
          <a:xfrm>
            <a:off x="5224477" y="2590784"/>
            <a:ext cx="714380" cy="642942"/>
          </a:xfrm>
          <a:prstGeom prst="ellipse">
            <a:avLst/>
          </a:prstGeom>
          <a:noFill/>
          <a:ln w="57150"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8431" y="520183"/>
            <a:ext cx="29370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3200" b="1" dirty="0"/>
              <a:t>Practical 7B</a:t>
            </a:r>
            <a:endParaRPr 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72954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149350"/>
            <a:ext cx="5734050" cy="7391400"/>
          </a:xfrm>
          <a:noFill/>
          <a:ln/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A selection sort is one in which successive elements are selected and placed in order.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The largest of the remaining elements is repeatedly selected and placed in its proper position.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sz="2400" dirty="0">
              <a:solidFill>
                <a:srgbClr val="000000"/>
              </a:solidFill>
            </a:endParaRPr>
          </a:p>
        </p:txBody>
      </p:sp>
      <p:pic>
        <p:nvPicPr>
          <p:cNvPr id="208912" name="Picture 16" descr="C:\temp\Temporary Internet Files\Content.IE5\WYN0STF4\MPj04424260000[1].jpg"/>
          <p:cNvPicPr>
            <a:picLocks noChangeAspect="1" noChangeArrowheads="1"/>
          </p:cNvPicPr>
          <p:nvPr/>
        </p:nvPicPr>
        <p:blipFill>
          <a:blip r:embed="rId4" cstate="email"/>
          <a:srcRect/>
          <a:stretch>
            <a:fillRect/>
          </a:stretch>
        </p:blipFill>
        <p:spPr bwMode="auto">
          <a:xfrm>
            <a:off x="1643050" y="4516903"/>
            <a:ext cx="3714776" cy="2912617"/>
          </a:xfrm>
          <a:prstGeom prst="rect">
            <a:avLst/>
          </a:prstGeom>
          <a:noFill/>
          <a:effectLst>
            <a:reflection blurRad="6350" stA="50000" endA="300" endPos="55500" dist="50800" dir="5400000" sy="-100000" algn="bl" rotWithShape="0"/>
          </a:effectLst>
        </p:spPr>
      </p:pic>
      <p:sp>
        <p:nvSpPr>
          <p:cNvPr id="4" name="Rectangle 3"/>
          <p:cNvSpPr/>
          <p:nvPr/>
        </p:nvSpPr>
        <p:spPr>
          <a:xfrm>
            <a:off x="457200" y="5833"/>
            <a:ext cx="45416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/>
              <a:t>Sorting</a:t>
            </a:r>
            <a:r>
              <a:rPr lang="en-GB" sz="3200" b="1" dirty="0"/>
              <a:t> Algorithms</a:t>
            </a:r>
            <a:endParaRPr lang="en-US" sz="3200" b="1" dirty="0"/>
          </a:p>
        </p:txBody>
      </p:sp>
      <p:sp>
        <p:nvSpPr>
          <p:cNvPr id="5" name="Rectangle 4"/>
          <p:cNvSpPr/>
          <p:nvPr/>
        </p:nvSpPr>
        <p:spPr>
          <a:xfrm>
            <a:off x="754054" y="635418"/>
            <a:ext cx="2082621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>
              <a:lnSpc>
                <a:spcPct val="120000"/>
              </a:lnSpc>
              <a:spcBef>
                <a:spcPct val="90000"/>
              </a:spcBef>
              <a:buClr>
                <a:schemeClr val="hlink"/>
              </a:buClr>
              <a:buSzPct val="150000"/>
            </a:pPr>
            <a:r>
              <a:rPr lang="en-GB" dirty="0"/>
              <a:t> </a:t>
            </a:r>
            <a:r>
              <a:rPr lang="en-US" b="1" dirty="0">
                <a:solidFill>
                  <a:srgbClr val="008000"/>
                </a:solidFill>
              </a:rPr>
              <a:t>Selection Sort</a:t>
            </a:r>
          </a:p>
        </p:txBody>
      </p:sp>
      <p:sp>
        <p:nvSpPr>
          <p:cNvPr id="6" name="Oval 5"/>
          <p:cNvSpPr/>
          <p:nvPr/>
        </p:nvSpPr>
        <p:spPr>
          <a:xfrm>
            <a:off x="561975" y="710559"/>
            <a:ext cx="302102" cy="27622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0045254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697133" y="2273413"/>
            <a:ext cx="5734050" cy="6299087"/>
          </a:xfrm>
          <a:noFill/>
          <a:ln/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olidFill>
                  <a:srgbClr val="000000"/>
                </a:solidFill>
              </a:rPr>
              <a:t>		25   57   48   37   12   </a:t>
            </a:r>
            <a:r>
              <a:rPr lang="en-US" sz="2000" b="1" dirty="0">
                <a:solidFill>
                  <a:srgbClr val="000000"/>
                </a:solidFill>
              </a:rPr>
              <a:t>92</a:t>
            </a:r>
            <a:r>
              <a:rPr lang="en-US" sz="2000" dirty="0">
                <a:solidFill>
                  <a:srgbClr val="000000"/>
                </a:solidFill>
              </a:rPr>
              <a:t>   86   33</a:t>
            </a:r>
          </a:p>
          <a:p>
            <a:pPr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olidFill>
                  <a:srgbClr val="000000"/>
                </a:solidFill>
              </a:rPr>
              <a:t>		25   57   48   37   12   33   </a:t>
            </a:r>
            <a:r>
              <a:rPr lang="en-US" sz="2000" b="1" dirty="0">
                <a:solidFill>
                  <a:srgbClr val="000000"/>
                </a:solidFill>
              </a:rPr>
              <a:t>86</a:t>
            </a:r>
            <a:r>
              <a:rPr lang="en-US" sz="2000" dirty="0">
                <a:solidFill>
                  <a:srgbClr val="000000"/>
                </a:solidFill>
              </a:rPr>
              <a:t>   92</a:t>
            </a:r>
          </a:p>
          <a:p>
            <a:pPr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olidFill>
                  <a:srgbClr val="000000"/>
                </a:solidFill>
              </a:rPr>
              <a:t>		25   </a:t>
            </a:r>
            <a:r>
              <a:rPr lang="en-US" sz="2000" b="1" dirty="0">
                <a:solidFill>
                  <a:srgbClr val="000000"/>
                </a:solidFill>
              </a:rPr>
              <a:t>57</a:t>
            </a:r>
            <a:r>
              <a:rPr lang="en-US" sz="2000" dirty="0">
                <a:solidFill>
                  <a:srgbClr val="000000"/>
                </a:solidFill>
              </a:rPr>
              <a:t>   48   37   12   33   86   92</a:t>
            </a:r>
          </a:p>
          <a:p>
            <a:pPr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olidFill>
                  <a:srgbClr val="000000"/>
                </a:solidFill>
              </a:rPr>
              <a:t>		25   33   </a:t>
            </a:r>
            <a:r>
              <a:rPr lang="en-US" sz="2000" b="1" dirty="0">
                <a:solidFill>
                  <a:srgbClr val="000000"/>
                </a:solidFill>
              </a:rPr>
              <a:t>48</a:t>
            </a:r>
            <a:r>
              <a:rPr lang="en-US" sz="2000" dirty="0">
                <a:solidFill>
                  <a:srgbClr val="000000"/>
                </a:solidFill>
              </a:rPr>
              <a:t>   37   12   57   86   92</a:t>
            </a:r>
          </a:p>
          <a:p>
            <a:pPr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olidFill>
                  <a:srgbClr val="000000"/>
                </a:solidFill>
              </a:rPr>
              <a:t>		25   33   12   </a:t>
            </a:r>
            <a:r>
              <a:rPr lang="en-US" sz="2000" b="1" dirty="0">
                <a:solidFill>
                  <a:srgbClr val="000000"/>
                </a:solidFill>
              </a:rPr>
              <a:t>37</a:t>
            </a:r>
            <a:r>
              <a:rPr lang="en-US" sz="2000" dirty="0">
                <a:solidFill>
                  <a:srgbClr val="000000"/>
                </a:solidFill>
              </a:rPr>
              <a:t>   48   57   86   92</a:t>
            </a:r>
          </a:p>
          <a:p>
            <a:pPr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olidFill>
                  <a:srgbClr val="000000"/>
                </a:solidFill>
              </a:rPr>
              <a:t>		25   </a:t>
            </a:r>
            <a:r>
              <a:rPr lang="en-US" sz="2000" b="1" dirty="0">
                <a:solidFill>
                  <a:srgbClr val="000000"/>
                </a:solidFill>
              </a:rPr>
              <a:t>33</a:t>
            </a:r>
            <a:r>
              <a:rPr lang="en-US" sz="2000" dirty="0">
                <a:solidFill>
                  <a:srgbClr val="000000"/>
                </a:solidFill>
              </a:rPr>
              <a:t>   12   37   48   57   86   92</a:t>
            </a:r>
          </a:p>
          <a:p>
            <a:pPr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olidFill>
                  <a:srgbClr val="000000"/>
                </a:solidFill>
              </a:rPr>
              <a:t>		</a:t>
            </a:r>
            <a:r>
              <a:rPr lang="en-US" sz="2000" b="1" dirty="0">
                <a:solidFill>
                  <a:srgbClr val="000000"/>
                </a:solidFill>
              </a:rPr>
              <a:t>25</a:t>
            </a:r>
            <a:r>
              <a:rPr lang="en-US" sz="2000" dirty="0">
                <a:solidFill>
                  <a:srgbClr val="000000"/>
                </a:solidFill>
              </a:rPr>
              <a:t>   12   33   37   48   57   86   92</a:t>
            </a:r>
          </a:p>
          <a:p>
            <a:pPr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olidFill>
                  <a:srgbClr val="000000"/>
                </a:solidFill>
              </a:rPr>
              <a:t>		12   25   33   37   48   57   86   92</a:t>
            </a:r>
          </a:p>
        </p:txBody>
      </p:sp>
      <p:sp>
        <p:nvSpPr>
          <p:cNvPr id="128003" name="Line 1027"/>
          <p:cNvSpPr>
            <a:spLocks noChangeShapeType="1"/>
          </p:cNvSpPr>
          <p:nvPr/>
        </p:nvSpPr>
        <p:spPr bwMode="auto">
          <a:xfrm>
            <a:off x="1020983" y="2938696"/>
            <a:ext cx="4419600" cy="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8004" name="Line 1028"/>
          <p:cNvSpPr>
            <a:spLocks noChangeShapeType="1"/>
          </p:cNvSpPr>
          <p:nvPr/>
        </p:nvSpPr>
        <p:spPr bwMode="auto">
          <a:xfrm>
            <a:off x="1020983" y="3854683"/>
            <a:ext cx="3657600" cy="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8005" name="Line 1029"/>
          <p:cNvSpPr>
            <a:spLocks noChangeShapeType="1"/>
          </p:cNvSpPr>
          <p:nvPr/>
        </p:nvSpPr>
        <p:spPr bwMode="auto">
          <a:xfrm>
            <a:off x="1020983" y="4654783"/>
            <a:ext cx="3124200" cy="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8006" name="Line 1030"/>
          <p:cNvSpPr>
            <a:spLocks noChangeShapeType="1"/>
          </p:cNvSpPr>
          <p:nvPr/>
        </p:nvSpPr>
        <p:spPr bwMode="auto">
          <a:xfrm>
            <a:off x="1020983" y="5346959"/>
            <a:ext cx="2514600" cy="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8007" name="Line 1031"/>
          <p:cNvSpPr>
            <a:spLocks noChangeShapeType="1"/>
          </p:cNvSpPr>
          <p:nvPr/>
        </p:nvSpPr>
        <p:spPr bwMode="auto">
          <a:xfrm>
            <a:off x="982865" y="6162927"/>
            <a:ext cx="1855788" cy="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8008" name="Line 1032"/>
          <p:cNvSpPr>
            <a:spLocks noChangeShapeType="1"/>
          </p:cNvSpPr>
          <p:nvPr/>
        </p:nvSpPr>
        <p:spPr bwMode="auto">
          <a:xfrm>
            <a:off x="1045571" y="6796097"/>
            <a:ext cx="1398587" cy="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8009" name="Line 1033"/>
          <p:cNvSpPr>
            <a:spLocks noChangeShapeType="1"/>
          </p:cNvSpPr>
          <p:nvPr/>
        </p:nvSpPr>
        <p:spPr bwMode="auto">
          <a:xfrm>
            <a:off x="1045589" y="7607309"/>
            <a:ext cx="865188" cy="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8015" name="Oval 1039"/>
          <p:cNvSpPr>
            <a:spLocks noChangeArrowheads="1"/>
          </p:cNvSpPr>
          <p:nvPr/>
        </p:nvSpPr>
        <p:spPr bwMode="auto">
          <a:xfrm>
            <a:off x="3916583" y="2589446"/>
            <a:ext cx="603250" cy="49212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8017" name="Oval 1041"/>
          <p:cNvSpPr>
            <a:spLocks noChangeArrowheads="1"/>
          </p:cNvSpPr>
          <p:nvPr/>
        </p:nvSpPr>
        <p:spPr bwMode="auto">
          <a:xfrm>
            <a:off x="4421408" y="3313346"/>
            <a:ext cx="603250" cy="493712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8018" name="Oval 1042"/>
          <p:cNvSpPr>
            <a:spLocks noChangeArrowheads="1"/>
          </p:cNvSpPr>
          <p:nvPr/>
        </p:nvSpPr>
        <p:spPr bwMode="auto">
          <a:xfrm>
            <a:off x="1935383" y="4207097"/>
            <a:ext cx="603250" cy="49212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8019" name="Oval 1043"/>
          <p:cNvSpPr>
            <a:spLocks noChangeArrowheads="1"/>
          </p:cNvSpPr>
          <p:nvPr/>
        </p:nvSpPr>
        <p:spPr bwMode="auto">
          <a:xfrm>
            <a:off x="2449733" y="4986570"/>
            <a:ext cx="603250" cy="49212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8020" name="Oval 1044"/>
          <p:cNvSpPr>
            <a:spLocks noChangeArrowheads="1"/>
          </p:cNvSpPr>
          <p:nvPr/>
        </p:nvSpPr>
        <p:spPr bwMode="auto">
          <a:xfrm>
            <a:off x="2945015" y="5807301"/>
            <a:ext cx="603250" cy="49212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8021" name="Oval 1045"/>
          <p:cNvSpPr>
            <a:spLocks noChangeArrowheads="1"/>
          </p:cNvSpPr>
          <p:nvPr/>
        </p:nvSpPr>
        <p:spPr bwMode="auto">
          <a:xfrm>
            <a:off x="1963940" y="6470633"/>
            <a:ext cx="609600" cy="49212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8022" name="Oval 1046"/>
          <p:cNvSpPr>
            <a:spLocks noChangeArrowheads="1"/>
          </p:cNvSpPr>
          <p:nvPr/>
        </p:nvSpPr>
        <p:spPr bwMode="auto">
          <a:xfrm>
            <a:off x="1443239" y="7189797"/>
            <a:ext cx="603250" cy="493712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57200" y="5833"/>
            <a:ext cx="45416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/>
              <a:t>Sorting</a:t>
            </a:r>
            <a:r>
              <a:rPr lang="en-GB" sz="3200" b="1" dirty="0"/>
              <a:t> Algorithms</a:t>
            </a:r>
            <a:endParaRPr lang="en-US" sz="3200" b="1" dirty="0"/>
          </a:p>
        </p:txBody>
      </p:sp>
      <p:sp>
        <p:nvSpPr>
          <p:cNvPr id="18" name="Rectangle 17"/>
          <p:cNvSpPr/>
          <p:nvPr/>
        </p:nvSpPr>
        <p:spPr>
          <a:xfrm>
            <a:off x="754054" y="635418"/>
            <a:ext cx="2082621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>
              <a:lnSpc>
                <a:spcPct val="120000"/>
              </a:lnSpc>
              <a:spcBef>
                <a:spcPct val="90000"/>
              </a:spcBef>
              <a:buClr>
                <a:schemeClr val="hlink"/>
              </a:buClr>
              <a:buSzPct val="150000"/>
            </a:pPr>
            <a:r>
              <a:rPr lang="en-GB" dirty="0"/>
              <a:t> </a:t>
            </a:r>
            <a:r>
              <a:rPr lang="en-US" b="1" dirty="0">
                <a:solidFill>
                  <a:srgbClr val="008000"/>
                </a:solidFill>
              </a:rPr>
              <a:t>Selection Sort</a:t>
            </a:r>
          </a:p>
        </p:txBody>
      </p:sp>
      <p:sp>
        <p:nvSpPr>
          <p:cNvPr id="19" name="Oval 18"/>
          <p:cNvSpPr/>
          <p:nvPr/>
        </p:nvSpPr>
        <p:spPr>
          <a:xfrm>
            <a:off x="561975" y="710559"/>
            <a:ext cx="302102" cy="27622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sp>
        <p:nvSpPr>
          <p:cNvPr id="2" name="Rectangle 1"/>
          <p:cNvSpPr/>
          <p:nvPr/>
        </p:nvSpPr>
        <p:spPr>
          <a:xfrm>
            <a:off x="522508" y="1265534"/>
            <a:ext cx="6119592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buClr>
                <a:schemeClr val="hlink"/>
              </a:buClr>
              <a:buFontTx/>
              <a:buNone/>
            </a:pPr>
            <a:r>
              <a:rPr lang="en-GB" b="1" dirty="0"/>
              <a:t>View this animation, it helps you to understand how </a:t>
            </a:r>
            <a:r>
              <a:rPr lang="en-GB" b="1" dirty="0" err="1"/>
              <a:t>Selecion</a:t>
            </a:r>
            <a:r>
              <a:rPr lang="en-GB" b="1" dirty="0"/>
              <a:t> sort works:</a:t>
            </a:r>
          </a:p>
          <a:p>
            <a:pPr>
              <a:lnSpc>
                <a:spcPct val="100000"/>
              </a:lnSpc>
              <a:spcBef>
                <a:spcPct val="50000"/>
              </a:spcBef>
              <a:buClr>
                <a:schemeClr val="hlink"/>
              </a:buClr>
              <a:buFontTx/>
              <a:buNone/>
            </a:pPr>
            <a:r>
              <a:rPr lang="en-GB" b="1" dirty="0">
                <a:hlinkClick r:id="rId4"/>
              </a:rPr>
              <a:t>http://www.ee.ryerson.ca/~courses/coe428/sorting/selectionsort.html</a:t>
            </a:r>
            <a:endParaRPr lang="en-GB" b="1" dirty="0">
              <a:hlinkClick r:id="rId5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3652190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1026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sz="2400"/>
              <a:t>Can you spot the pattern?</a:t>
            </a:r>
          </a:p>
          <a:p>
            <a:pPr>
              <a:lnSpc>
                <a:spcPct val="120000"/>
              </a:lnSpc>
            </a:pPr>
            <a:r>
              <a:rPr lang="en-US" sz="2400"/>
              <a:t>How would you implement the algorithm in C</a:t>
            </a:r>
            <a:r>
              <a:rPr lang="en-GB" sz="2400"/>
              <a:t># </a:t>
            </a:r>
            <a:r>
              <a:rPr lang="en-US" sz="2400"/>
              <a:t>?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		</a:t>
            </a:r>
            <a:r>
              <a:rPr lang="en-US" sz="2400" b="1">
                <a:solidFill>
                  <a:srgbClr val="000000"/>
                </a:solidFill>
              </a:rPr>
              <a:t>25   57   48   37   12   92   86   33</a:t>
            </a:r>
            <a:endParaRPr lang="en-US" sz="2400"/>
          </a:p>
          <a:p>
            <a:pPr>
              <a:lnSpc>
                <a:spcPct val="120000"/>
              </a:lnSpc>
            </a:pPr>
            <a:r>
              <a:rPr lang="en-US" sz="2400"/>
              <a:t>Pattern:</a:t>
            </a:r>
          </a:p>
          <a:p>
            <a:pPr lvl="1">
              <a:lnSpc>
                <a:spcPct val="120000"/>
              </a:lnSpc>
            </a:pPr>
            <a:r>
              <a:rPr lang="en-US" sz="2400"/>
              <a:t>Scan unsorted data from front to back</a:t>
            </a:r>
            <a:r>
              <a:rPr lang="en-GB" sz="2400"/>
              <a:t> to find the largest value.</a:t>
            </a:r>
            <a:endParaRPr lang="en-US" sz="2400"/>
          </a:p>
          <a:p>
            <a:pPr lvl="1">
              <a:lnSpc>
                <a:spcPct val="120000"/>
              </a:lnSpc>
            </a:pPr>
            <a:r>
              <a:rPr lang="en-GB" sz="2400"/>
              <a:t>S</a:t>
            </a:r>
            <a:r>
              <a:rPr lang="en-US" sz="2400"/>
              <a:t>wap </a:t>
            </a:r>
            <a:r>
              <a:rPr lang="en-GB" sz="2400"/>
              <a:t>the largest</a:t>
            </a:r>
            <a:r>
              <a:rPr lang="en-US" sz="2400"/>
              <a:t> value with the data at end (last scan location).</a:t>
            </a:r>
          </a:p>
          <a:p>
            <a:pPr lvl="1">
              <a:lnSpc>
                <a:spcPct val="120000"/>
              </a:lnSpc>
            </a:pPr>
            <a:r>
              <a:rPr lang="en-US" sz="2400"/>
              <a:t>Go to step 1.</a:t>
            </a:r>
          </a:p>
        </p:txBody>
      </p:sp>
      <p:sp>
        <p:nvSpPr>
          <p:cNvPr id="130051" name="Line 1027"/>
          <p:cNvSpPr>
            <a:spLocks noChangeShapeType="1"/>
          </p:cNvSpPr>
          <p:nvPr/>
        </p:nvSpPr>
        <p:spPr bwMode="auto">
          <a:xfrm>
            <a:off x="1828800" y="2674938"/>
            <a:ext cx="2286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57200" y="5833"/>
            <a:ext cx="45416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/>
              <a:t>Sorting</a:t>
            </a:r>
            <a:r>
              <a:rPr lang="en-GB" sz="3200" b="1" dirty="0"/>
              <a:t> Algorithms</a:t>
            </a:r>
            <a:endParaRPr lang="en-US" sz="3200" b="1" dirty="0"/>
          </a:p>
        </p:txBody>
      </p:sp>
      <p:sp>
        <p:nvSpPr>
          <p:cNvPr id="5" name="Rectangle 4"/>
          <p:cNvSpPr/>
          <p:nvPr/>
        </p:nvSpPr>
        <p:spPr>
          <a:xfrm>
            <a:off x="754054" y="635418"/>
            <a:ext cx="2082621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>
              <a:lnSpc>
                <a:spcPct val="120000"/>
              </a:lnSpc>
              <a:spcBef>
                <a:spcPct val="90000"/>
              </a:spcBef>
              <a:buClr>
                <a:schemeClr val="hlink"/>
              </a:buClr>
              <a:buSzPct val="150000"/>
            </a:pPr>
            <a:r>
              <a:rPr lang="en-GB" dirty="0"/>
              <a:t> </a:t>
            </a:r>
            <a:r>
              <a:rPr lang="en-US" b="1" dirty="0">
                <a:solidFill>
                  <a:srgbClr val="008000"/>
                </a:solidFill>
              </a:rPr>
              <a:t>Selection Sort</a:t>
            </a:r>
          </a:p>
        </p:txBody>
      </p:sp>
      <p:sp>
        <p:nvSpPr>
          <p:cNvPr id="6" name="Oval 5"/>
          <p:cNvSpPr/>
          <p:nvPr/>
        </p:nvSpPr>
        <p:spPr>
          <a:xfrm>
            <a:off x="561975" y="710559"/>
            <a:ext cx="302102" cy="27622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351970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33366" y="1143025"/>
            <a:ext cx="6115050" cy="7391400"/>
          </a:xfr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buFontTx/>
              <a:buNone/>
            </a:pPr>
            <a:r>
              <a:rPr lang="en-GB" sz="2000" dirty="0"/>
              <a:t>	</a:t>
            </a:r>
            <a:r>
              <a:rPr lang="en-US" sz="2000" u="sng" dirty="0"/>
              <a:t>Selection Sort Code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ct val="10000"/>
              </a:spcBef>
              <a:buFontTx/>
              <a:buNone/>
            </a:pPr>
            <a:r>
              <a:rPr lang="en-US" sz="2000" dirty="0">
                <a:solidFill>
                  <a:srgbClr val="000000"/>
                </a:solidFill>
              </a:rPr>
              <a:t>	</a:t>
            </a:r>
            <a:r>
              <a:rPr lang="en-US" sz="2000" b="1" dirty="0">
                <a:solidFill>
                  <a:srgbClr val="000000"/>
                </a:solidFill>
              </a:rPr>
              <a:t>private void </a:t>
            </a:r>
            <a:r>
              <a:rPr lang="en-US" sz="2000" b="1" dirty="0" err="1">
                <a:solidFill>
                  <a:srgbClr val="000000"/>
                </a:solidFill>
              </a:rPr>
              <a:t>selectSort</a:t>
            </a:r>
            <a:r>
              <a:rPr lang="en-US" sz="2000" b="1" dirty="0">
                <a:solidFill>
                  <a:srgbClr val="000000"/>
                </a:solidFill>
              </a:rPr>
              <a:t>(</a:t>
            </a:r>
            <a:r>
              <a:rPr lang="en-US" sz="2000" b="1" dirty="0" err="1">
                <a:solidFill>
                  <a:srgbClr val="000000"/>
                </a:solidFill>
              </a:rPr>
              <a:t>int</a:t>
            </a:r>
            <a:r>
              <a:rPr lang="en-US" sz="2000" b="1" dirty="0">
                <a:solidFill>
                  <a:srgbClr val="000000"/>
                </a:solidFill>
              </a:rPr>
              <a:t> [ ]</a:t>
            </a:r>
            <a:r>
              <a:rPr lang="en-GB" sz="2000" b="1" dirty="0" err="1">
                <a:solidFill>
                  <a:srgbClr val="000000"/>
                </a:solidFill>
              </a:rPr>
              <a:t>ar</a:t>
            </a:r>
            <a:r>
              <a:rPr lang="en-US" sz="2000" b="1" dirty="0">
                <a:solidFill>
                  <a:srgbClr val="000000"/>
                </a:solidFill>
              </a:rPr>
              <a:t>)</a:t>
            </a:r>
          </a:p>
          <a:p>
            <a:pPr>
              <a:lnSpc>
                <a:spcPct val="100000"/>
              </a:lnSpc>
              <a:spcBef>
                <a:spcPct val="10000"/>
              </a:spcBef>
              <a:buFontTx/>
              <a:buNone/>
            </a:pPr>
            <a:r>
              <a:rPr lang="en-US" sz="2000" dirty="0">
                <a:solidFill>
                  <a:srgbClr val="000000"/>
                </a:solidFill>
              </a:rPr>
              <a:t> {</a:t>
            </a:r>
          </a:p>
          <a:p>
            <a:pPr>
              <a:lnSpc>
                <a:spcPct val="100000"/>
              </a:lnSpc>
              <a:spcBef>
                <a:spcPct val="10000"/>
              </a:spcBef>
              <a:buFontTx/>
              <a:buNone/>
            </a:pPr>
            <a:r>
              <a:rPr lang="en-US" sz="2000" dirty="0">
                <a:solidFill>
                  <a:srgbClr val="000000"/>
                </a:solidFill>
              </a:rPr>
              <a:t>		</a:t>
            </a:r>
            <a:r>
              <a:rPr lang="en-US" sz="2000" dirty="0" err="1">
                <a:solidFill>
                  <a:srgbClr val="000000"/>
                </a:solidFill>
              </a:rPr>
              <a:t>int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i</a:t>
            </a:r>
            <a:r>
              <a:rPr lang="en-US" sz="2000" dirty="0">
                <a:solidFill>
                  <a:srgbClr val="000000"/>
                </a:solidFill>
              </a:rPr>
              <a:t>, j, </a:t>
            </a:r>
            <a:r>
              <a:rPr lang="en-GB" sz="2000" dirty="0">
                <a:solidFill>
                  <a:srgbClr val="000000"/>
                </a:solidFill>
              </a:rPr>
              <a:t>largest</a:t>
            </a:r>
            <a:r>
              <a:rPr lang="en-US" sz="2000" dirty="0">
                <a:solidFill>
                  <a:srgbClr val="000000"/>
                </a:solidFill>
              </a:rPr>
              <a:t>, </a:t>
            </a:r>
            <a:r>
              <a:rPr lang="en-GB" sz="2000" dirty="0">
                <a:solidFill>
                  <a:srgbClr val="000000"/>
                </a:solidFill>
              </a:rPr>
              <a:t>temp</a:t>
            </a:r>
            <a:r>
              <a:rPr lang="en-US" sz="2000" dirty="0">
                <a:solidFill>
                  <a:srgbClr val="000000"/>
                </a:solidFill>
              </a:rPr>
              <a:t>;</a:t>
            </a:r>
          </a:p>
          <a:p>
            <a:pPr>
              <a:lnSpc>
                <a:spcPct val="100000"/>
              </a:lnSpc>
              <a:spcBef>
                <a:spcPct val="10000"/>
              </a:spcBef>
              <a:buFontTx/>
              <a:buNone/>
            </a:pPr>
            <a:r>
              <a:rPr lang="en-GB" sz="2000" dirty="0">
                <a:solidFill>
                  <a:srgbClr val="000000"/>
                </a:solidFill>
              </a:rPr>
              <a:t>   </a:t>
            </a:r>
            <a:r>
              <a:rPr lang="en-GB" sz="2000" dirty="0" err="1">
                <a:solidFill>
                  <a:srgbClr val="000000"/>
                </a:solidFill>
              </a:rPr>
              <a:t>int</a:t>
            </a:r>
            <a:r>
              <a:rPr lang="en-GB" sz="2000" dirty="0">
                <a:solidFill>
                  <a:srgbClr val="000000"/>
                </a:solidFill>
              </a:rPr>
              <a:t> n = </a:t>
            </a:r>
            <a:r>
              <a:rPr lang="en-GB" sz="2000" dirty="0" err="1">
                <a:solidFill>
                  <a:srgbClr val="000000"/>
                </a:solidFill>
              </a:rPr>
              <a:t>ar.Length</a:t>
            </a:r>
            <a:r>
              <a:rPr lang="en-GB" sz="2000" dirty="0">
                <a:solidFill>
                  <a:srgbClr val="000000"/>
                </a:solidFill>
              </a:rPr>
              <a:t>;</a:t>
            </a:r>
            <a:endParaRPr lang="en-US" sz="20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ct val="10000"/>
              </a:spcBef>
              <a:buFontTx/>
              <a:buNone/>
            </a:pPr>
            <a:r>
              <a:rPr lang="en-US" sz="2000" dirty="0">
                <a:solidFill>
                  <a:srgbClr val="000000"/>
                </a:solidFill>
              </a:rPr>
              <a:t>   </a:t>
            </a:r>
          </a:p>
          <a:p>
            <a:pPr>
              <a:lnSpc>
                <a:spcPct val="100000"/>
              </a:lnSpc>
              <a:spcBef>
                <a:spcPct val="10000"/>
              </a:spcBef>
              <a:buFontTx/>
              <a:buNone/>
            </a:pPr>
            <a:r>
              <a:rPr lang="en-US" sz="2000" dirty="0">
                <a:solidFill>
                  <a:srgbClr val="000000"/>
                </a:solidFill>
              </a:rPr>
              <a:t>		for (</a:t>
            </a:r>
            <a:r>
              <a:rPr lang="en-US" sz="2000" dirty="0" err="1">
                <a:solidFill>
                  <a:srgbClr val="000000"/>
                </a:solidFill>
              </a:rPr>
              <a:t>i</a:t>
            </a:r>
            <a:r>
              <a:rPr lang="en-US" sz="2000" dirty="0">
                <a:solidFill>
                  <a:srgbClr val="000000"/>
                </a:solidFill>
              </a:rPr>
              <a:t>=n</a:t>
            </a:r>
            <a:r>
              <a:rPr lang="en-GB" sz="2000" dirty="0">
                <a:solidFill>
                  <a:srgbClr val="000000"/>
                </a:solidFill>
              </a:rPr>
              <a:t>-1</a:t>
            </a:r>
            <a:r>
              <a:rPr lang="en-US" sz="2000" dirty="0">
                <a:solidFill>
                  <a:srgbClr val="000000"/>
                </a:solidFill>
              </a:rPr>
              <a:t>; </a:t>
            </a:r>
            <a:r>
              <a:rPr lang="en-US" sz="2000" dirty="0" err="1">
                <a:solidFill>
                  <a:srgbClr val="000000"/>
                </a:solidFill>
              </a:rPr>
              <a:t>i</a:t>
            </a:r>
            <a:r>
              <a:rPr lang="en-US" sz="2000" dirty="0">
                <a:solidFill>
                  <a:srgbClr val="000000"/>
                </a:solidFill>
              </a:rPr>
              <a:t>&gt;0; </a:t>
            </a:r>
            <a:r>
              <a:rPr lang="en-US" sz="2000" dirty="0" err="1">
                <a:solidFill>
                  <a:srgbClr val="000000"/>
                </a:solidFill>
              </a:rPr>
              <a:t>i</a:t>
            </a:r>
            <a:r>
              <a:rPr lang="en-US" sz="2000" dirty="0">
                <a:solidFill>
                  <a:srgbClr val="000000"/>
                </a:solidFill>
              </a:rPr>
              <a:t>--)</a:t>
            </a:r>
          </a:p>
          <a:p>
            <a:pPr>
              <a:lnSpc>
                <a:spcPct val="100000"/>
              </a:lnSpc>
              <a:spcBef>
                <a:spcPct val="10000"/>
              </a:spcBef>
              <a:buFontTx/>
              <a:buNone/>
            </a:pPr>
            <a:r>
              <a:rPr lang="en-US" sz="2000" dirty="0">
                <a:solidFill>
                  <a:srgbClr val="000000"/>
                </a:solidFill>
              </a:rPr>
              <a:t>   		{</a:t>
            </a:r>
            <a:r>
              <a:rPr lang="en-GB" sz="2000" dirty="0">
                <a:solidFill>
                  <a:srgbClr val="000000"/>
                </a:solidFill>
              </a:rPr>
              <a:t>	// Select </a:t>
            </a:r>
            <a:r>
              <a:rPr lang="en-US" sz="2000" dirty="0">
                <a:solidFill>
                  <a:srgbClr val="000000"/>
                </a:solidFill>
              </a:rPr>
              <a:t>largest of</a:t>
            </a:r>
            <a:r>
              <a:rPr lang="en-GB" sz="2000" dirty="0">
                <a:solidFill>
                  <a:srgbClr val="000000"/>
                </a:solidFill>
              </a:rPr>
              <a:t> </a:t>
            </a:r>
            <a:r>
              <a:rPr lang="en-GB" sz="2000" dirty="0" err="1">
                <a:solidFill>
                  <a:srgbClr val="000000"/>
                </a:solidFill>
              </a:rPr>
              <a:t>ar</a:t>
            </a:r>
            <a:r>
              <a:rPr lang="en-GB" sz="2000" dirty="0">
                <a:solidFill>
                  <a:srgbClr val="000000"/>
                </a:solidFill>
              </a:rPr>
              <a:t>[0]</a:t>
            </a:r>
          </a:p>
          <a:p>
            <a:pPr>
              <a:lnSpc>
                <a:spcPct val="100000"/>
              </a:lnSpc>
              <a:spcBef>
                <a:spcPct val="10000"/>
              </a:spcBef>
              <a:buFontTx/>
              <a:buNone/>
            </a:pPr>
            <a:r>
              <a:rPr lang="en-GB" sz="2000" dirty="0">
                <a:solidFill>
                  <a:srgbClr val="000000"/>
                </a:solidFill>
              </a:rPr>
              <a:t>			// to </a:t>
            </a:r>
            <a:r>
              <a:rPr lang="en-GB" sz="2000" dirty="0" err="1">
                <a:solidFill>
                  <a:srgbClr val="000000"/>
                </a:solidFill>
              </a:rPr>
              <a:t>ar</a:t>
            </a:r>
            <a:r>
              <a:rPr lang="en-GB" sz="2000" dirty="0">
                <a:solidFill>
                  <a:srgbClr val="000000"/>
                </a:solidFill>
              </a:rPr>
              <a:t>[</a:t>
            </a:r>
            <a:r>
              <a:rPr lang="en-GB" sz="2000" dirty="0" err="1">
                <a:solidFill>
                  <a:srgbClr val="000000"/>
                </a:solidFill>
              </a:rPr>
              <a:t>i</a:t>
            </a:r>
            <a:r>
              <a:rPr lang="en-GB" sz="2000" dirty="0">
                <a:solidFill>
                  <a:srgbClr val="000000"/>
                </a:solidFill>
              </a:rPr>
              <a:t>]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GB" sz="2000" dirty="0">
                <a:solidFill>
                  <a:srgbClr val="000000"/>
                </a:solidFill>
              </a:rPr>
              <a:t>to go in </a:t>
            </a:r>
            <a:r>
              <a:rPr lang="en-GB" sz="2000" dirty="0" err="1">
                <a:solidFill>
                  <a:srgbClr val="000000"/>
                </a:solidFill>
              </a:rPr>
              <a:t>ar</a:t>
            </a:r>
            <a:r>
              <a:rPr lang="en-GB" sz="2000" dirty="0">
                <a:solidFill>
                  <a:srgbClr val="000000"/>
                </a:solidFill>
              </a:rPr>
              <a:t>[</a:t>
            </a:r>
            <a:r>
              <a:rPr lang="en-GB" sz="2000" dirty="0" err="1">
                <a:solidFill>
                  <a:srgbClr val="000000"/>
                </a:solidFill>
              </a:rPr>
              <a:t>i</a:t>
            </a:r>
            <a:r>
              <a:rPr lang="en-GB" sz="2000" dirty="0">
                <a:solidFill>
                  <a:srgbClr val="000000"/>
                </a:solidFill>
              </a:rPr>
              <a:t>]</a:t>
            </a:r>
            <a:endParaRPr lang="en-US" sz="20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ct val="10000"/>
              </a:spcBef>
              <a:buFontTx/>
              <a:buNone/>
            </a:pPr>
            <a:r>
              <a:rPr lang="en-US" sz="2000" dirty="0">
                <a:solidFill>
                  <a:srgbClr val="000000"/>
                </a:solidFill>
              </a:rPr>
              <a:t>			</a:t>
            </a:r>
            <a:r>
              <a:rPr lang="en-GB" sz="2000" dirty="0">
                <a:solidFill>
                  <a:srgbClr val="000000"/>
                </a:solidFill>
              </a:rPr>
              <a:t>largest</a:t>
            </a:r>
            <a:r>
              <a:rPr lang="en-US" sz="2000" dirty="0">
                <a:solidFill>
                  <a:srgbClr val="000000"/>
                </a:solidFill>
              </a:rPr>
              <a:t> = 0;</a:t>
            </a:r>
          </a:p>
          <a:p>
            <a:pPr>
              <a:lnSpc>
                <a:spcPct val="100000"/>
              </a:lnSpc>
              <a:spcBef>
                <a:spcPct val="10000"/>
              </a:spcBef>
              <a:buFontTx/>
              <a:buNone/>
            </a:pPr>
            <a:r>
              <a:rPr lang="en-US" sz="2000" dirty="0">
                <a:solidFill>
                  <a:srgbClr val="000000"/>
                </a:solidFill>
              </a:rPr>
              <a:t>			for (j=1; j&lt;=</a:t>
            </a:r>
            <a:r>
              <a:rPr lang="en-US" sz="2000" dirty="0" err="1">
                <a:solidFill>
                  <a:srgbClr val="000000"/>
                </a:solidFill>
              </a:rPr>
              <a:t>i</a:t>
            </a:r>
            <a:r>
              <a:rPr lang="en-US" sz="2000" dirty="0">
                <a:solidFill>
                  <a:srgbClr val="000000"/>
                </a:solidFill>
              </a:rPr>
              <a:t>; j++)</a:t>
            </a:r>
          </a:p>
          <a:p>
            <a:pPr>
              <a:lnSpc>
                <a:spcPct val="100000"/>
              </a:lnSpc>
              <a:spcBef>
                <a:spcPct val="10000"/>
              </a:spcBef>
              <a:buFontTx/>
              <a:buNone/>
            </a:pPr>
            <a:r>
              <a:rPr lang="en-US" sz="2000" dirty="0">
                <a:solidFill>
                  <a:srgbClr val="000000"/>
                </a:solidFill>
              </a:rPr>
              <a:t>			{</a:t>
            </a:r>
          </a:p>
          <a:p>
            <a:pPr>
              <a:lnSpc>
                <a:spcPct val="100000"/>
              </a:lnSpc>
              <a:spcBef>
                <a:spcPct val="10000"/>
              </a:spcBef>
              <a:buFontTx/>
              <a:buNone/>
            </a:pPr>
            <a:r>
              <a:rPr lang="en-US" sz="2000" dirty="0">
                <a:solidFill>
                  <a:srgbClr val="000000"/>
                </a:solidFill>
              </a:rPr>
              <a:t>       			if (</a:t>
            </a:r>
            <a:r>
              <a:rPr lang="en-GB" sz="2000" dirty="0" err="1">
                <a:solidFill>
                  <a:srgbClr val="000000"/>
                </a:solidFill>
              </a:rPr>
              <a:t>ar</a:t>
            </a:r>
            <a:r>
              <a:rPr lang="en-US" sz="2000" dirty="0">
                <a:solidFill>
                  <a:srgbClr val="000000"/>
                </a:solidFill>
              </a:rPr>
              <a:t>[j] &gt; </a:t>
            </a:r>
            <a:r>
              <a:rPr lang="en-GB" sz="2000" dirty="0" err="1">
                <a:solidFill>
                  <a:srgbClr val="000000"/>
                </a:solidFill>
              </a:rPr>
              <a:t>ar</a:t>
            </a:r>
            <a:r>
              <a:rPr lang="en-GB" sz="2000" dirty="0">
                <a:solidFill>
                  <a:srgbClr val="000000"/>
                </a:solidFill>
              </a:rPr>
              <a:t>[largest]</a:t>
            </a:r>
            <a:r>
              <a:rPr lang="en-US" sz="2000" dirty="0">
                <a:solidFill>
                  <a:srgbClr val="000000"/>
                </a:solidFill>
              </a:rPr>
              <a:t>)</a:t>
            </a:r>
          </a:p>
          <a:p>
            <a:pPr>
              <a:lnSpc>
                <a:spcPct val="100000"/>
              </a:lnSpc>
              <a:spcBef>
                <a:spcPct val="10000"/>
              </a:spcBef>
              <a:buFontTx/>
              <a:buNone/>
            </a:pPr>
            <a:r>
              <a:rPr lang="en-US" sz="2000" dirty="0">
                <a:solidFill>
                  <a:srgbClr val="000000"/>
                </a:solidFill>
              </a:rPr>
              <a:t>					</a:t>
            </a:r>
            <a:r>
              <a:rPr lang="en-GB" sz="2000" dirty="0">
                <a:solidFill>
                  <a:srgbClr val="000000"/>
                </a:solidFill>
              </a:rPr>
              <a:t>largest</a:t>
            </a:r>
            <a:r>
              <a:rPr lang="en-US" sz="2000" dirty="0">
                <a:solidFill>
                  <a:srgbClr val="000000"/>
                </a:solidFill>
              </a:rPr>
              <a:t> = j;</a:t>
            </a:r>
            <a:endParaRPr lang="en-GB" sz="20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ct val="10000"/>
              </a:spcBef>
              <a:buFontTx/>
              <a:buNone/>
            </a:pPr>
            <a:r>
              <a:rPr lang="en-GB" sz="2000" dirty="0">
                <a:solidFill>
                  <a:srgbClr val="000000"/>
                </a:solidFill>
              </a:rPr>
              <a:t>			}</a:t>
            </a:r>
          </a:p>
          <a:p>
            <a:pPr>
              <a:lnSpc>
                <a:spcPct val="100000"/>
              </a:lnSpc>
              <a:spcBef>
                <a:spcPct val="10000"/>
              </a:spcBef>
              <a:buFontTx/>
              <a:buNone/>
            </a:pPr>
            <a:r>
              <a:rPr lang="en-GB" sz="2000" dirty="0">
                <a:solidFill>
                  <a:srgbClr val="000000"/>
                </a:solidFill>
              </a:rPr>
              <a:t>			// swap</a:t>
            </a:r>
            <a:endParaRPr lang="en-US" sz="20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ct val="10000"/>
              </a:spcBef>
              <a:buFontTx/>
              <a:buNone/>
            </a:pPr>
            <a:r>
              <a:rPr lang="en-US" sz="2000" dirty="0">
                <a:solidFill>
                  <a:srgbClr val="000000"/>
                </a:solidFill>
              </a:rPr>
              <a:t>			</a:t>
            </a:r>
            <a:r>
              <a:rPr lang="en-GB" sz="2000" dirty="0">
                <a:solidFill>
                  <a:srgbClr val="000000"/>
                </a:solidFill>
              </a:rPr>
              <a:t>temp = </a:t>
            </a:r>
            <a:r>
              <a:rPr lang="en-GB" sz="2000" dirty="0" err="1">
                <a:solidFill>
                  <a:srgbClr val="000000"/>
                </a:solidFill>
              </a:rPr>
              <a:t>ar</a:t>
            </a:r>
            <a:r>
              <a:rPr lang="en-GB" sz="2000" dirty="0">
                <a:solidFill>
                  <a:srgbClr val="000000"/>
                </a:solidFill>
              </a:rPr>
              <a:t>[largest];</a:t>
            </a:r>
            <a:endParaRPr lang="en-US" sz="20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ct val="10000"/>
              </a:spcBef>
              <a:buFontTx/>
              <a:buNone/>
            </a:pPr>
            <a:r>
              <a:rPr lang="en-US" sz="2000" dirty="0">
                <a:solidFill>
                  <a:srgbClr val="000000"/>
                </a:solidFill>
              </a:rPr>
              <a:t>			</a:t>
            </a:r>
            <a:r>
              <a:rPr lang="en-GB" sz="2000" dirty="0" err="1">
                <a:solidFill>
                  <a:srgbClr val="000000"/>
                </a:solidFill>
              </a:rPr>
              <a:t>ar</a:t>
            </a:r>
            <a:r>
              <a:rPr lang="en-US" sz="2000" dirty="0">
                <a:solidFill>
                  <a:srgbClr val="000000"/>
                </a:solidFill>
              </a:rPr>
              <a:t>[</a:t>
            </a:r>
            <a:r>
              <a:rPr lang="en-GB" sz="2000" dirty="0">
                <a:solidFill>
                  <a:srgbClr val="000000"/>
                </a:solidFill>
              </a:rPr>
              <a:t>largest</a:t>
            </a:r>
            <a:r>
              <a:rPr lang="en-US" sz="2000" dirty="0">
                <a:solidFill>
                  <a:srgbClr val="000000"/>
                </a:solidFill>
              </a:rPr>
              <a:t>] = </a:t>
            </a:r>
            <a:r>
              <a:rPr lang="en-GB" sz="2000" dirty="0" err="1">
                <a:solidFill>
                  <a:srgbClr val="000000"/>
                </a:solidFill>
              </a:rPr>
              <a:t>ar</a:t>
            </a:r>
            <a:r>
              <a:rPr lang="en-US" sz="2000" dirty="0">
                <a:solidFill>
                  <a:srgbClr val="000000"/>
                </a:solidFill>
              </a:rPr>
              <a:t>[</a:t>
            </a:r>
            <a:r>
              <a:rPr lang="en-US" sz="2000" dirty="0" err="1">
                <a:solidFill>
                  <a:srgbClr val="000000"/>
                </a:solidFill>
              </a:rPr>
              <a:t>i</a:t>
            </a:r>
            <a:r>
              <a:rPr lang="en-US" sz="2000" dirty="0">
                <a:solidFill>
                  <a:srgbClr val="000000"/>
                </a:solidFill>
              </a:rPr>
              <a:t>];</a:t>
            </a:r>
          </a:p>
          <a:p>
            <a:pPr>
              <a:lnSpc>
                <a:spcPct val="100000"/>
              </a:lnSpc>
              <a:spcBef>
                <a:spcPct val="10000"/>
              </a:spcBef>
              <a:buFontTx/>
              <a:buNone/>
            </a:pPr>
            <a:r>
              <a:rPr lang="en-US" sz="2000" dirty="0">
                <a:solidFill>
                  <a:srgbClr val="000000"/>
                </a:solidFill>
              </a:rPr>
              <a:t>			</a:t>
            </a:r>
            <a:r>
              <a:rPr lang="en-GB" sz="2000" dirty="0" err="1">
                <a:solidFill>
                  <a:srgbClr val="000000"/>
                </a:solidFill>
              </a:rPr>
              <a:t>ar</a:t>
            </a:r>
            <a:r>
              <a:rPr lang="en-US" sz="2000" dirty="0">
                <a:solidFill>
                  <a:srgbClr val="000000"/>
                </a:solidFill>
              </a:rPr>
              <a:t>[</a:t>
            </a:r>
            <a:r>
              <a:rPr lang="en-US" sz="2000" dirty="0" err="1">
                <a:solidFill>
                  <a:srgbClr val="000000"/>
                </a:solidFill>
              </a:rPr>
              <a:t>i</a:t>
            </a:r>
            <a:r>
              <a:rPr lang="en-US" sz="2000" dirty="0">
                <a:solidFill>
                  <a:srgbClr val="000000"/>
                </a:solidFill>
              </a:rPr>
              <a:t>] = </a:t>
            </a:r>
            <a:r>
              <a:rPr lang="en-GB" sz="2000" dirty="0">
                <a:solidFill>
                  <a:srgbClr val="000000"/>
                </a:solidFill>
              </a:rPr>
              <a:t>temp</a:t>
            </a:r>
            <a:r>
              <a:rPr lang="en-US" sz="2000" dirty="0">
                <a:solidFill>
                  <a:srgbClr val="000000"/>
                </a:solidFill>
              </a:rPr>
              <a:t>;</a:t>
            </a:r>
          </a:p>
          <a:p>
            <a:pPr>
              <a:lnSpc>
                <a:spcPct val="100000"/>
              </a:lnSpc>
              <a:spcBef>
                <a:spcPct val="10000"/>
              </a:spcBef>
              <a:buFontTx/>
              <a:buNone/>
            </a:pPr>
            <a:r>
              <a:rPr lang="en-US" sz="2000" dirty="0">
                <a:solidFill>
                  <a:srgbClr val="000000"/>
                </a:solidFill>
              </a:rPr>
              <a:t>    		}</a:t>
            </a:r>
          </a:p>
          <a:p>
            <a:pPr>
              <a:lnSpc>
                <a:spcPct val="100000"/>
              </a:lnSpc>
              <a:spcBef>
                <a:spcPct val="10000"/>
              </a:spcBef>
              <a:buFontTx/>
              <a:buNone/>
            </a:pPr>
            <a:r>
              <a:rPr lang="en-US" sz="2000" dirty="0">
                <a:solidFill>
                  <a:srgbClr val="000000"/>
                </a:solidFill>
              </a:rPr>
              <a:t>	}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833"/>
            <a:ext cx="45416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/>
              <a:t>Sorting</a:t>
            </a:r>
            <a:r>
              <a:rPr lang="en-GB" sz="3200" b="1" dirty="0"/>
              <a:t> Algorithms</a:t>
            </a:r>
            <a:endParaRPr lang="en-US" sz="3200" b="1" dirty="0"/>
          </a:p>
        </p:txBody>
      </p:sp>
      <p:sp>
        <p:nvSpPr>
          <p:cNvPr id="4" name="Rectangle 3"/>
          <p:cNvSpPr/>
          <p:nvPr/>
        </p:nvSpPr>
        <p:spPr>
          <a:xfrm>
            <a:off x="754054" y="635418"/>
            <a:ext cx="2082621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>
              <a:lnSpc>
                <a:spcPct val="120000"/>
              </a:lnSpc>
              <a:spcBef>
                <a:spcPct val="90000"/>
              </a:spcBef>
              <a:buClr>
                <a:schemeClr val="hlink"/>
              </a:buClr>
              <a:buSzPct val="150000"/>
            </a:pPr>
            <a:r>
              <a:rPr lang="en-GB" dirty="0"/>
              <a:t> </a:t>
            </a:r>
            <a:r>
              <a:rPr lang="en-US" b="1" dirty="0">
                <a:solidFill>
                  <a:srgbClr val="008000"/>
                </a:solidFill>
              </a:rPr>
              <a:t>Selection Sort</a:t>
            </a:r>
          </a:p>
        </p:txBody>
      </p:sp>
      <p:sp>
        <p:nvSpPr>
          <p:cNvPr id="5" name="Oval 4"/>
          <p:cNvSpPr/>
          <p:nvPr/>
        </p:nvSpPr>
        <p:spPr>
          <a:xfrm>
            <a:off x="561975" y="710559"/>
            <a:ext cx="302102" cy="27622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32055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1026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sz="2400"/>
              <a:t>The first pass makes  </a:t>
            </a:r>
            <a:r>
              <a:rPr lang="en-US" sz="2400" i="1"/>
              <a:t>n -1</a:t>
            </a:r>
            <a:r>
              <a:rPr lang="en-US" sz="2400"/>
              <a:t> comparisons, the second pass makes  </a:t>
            </a:r>
            <a:r>
              <a:rPr lang="en-US" sz="2400" i="1"/>
              <a:t>n - 2</a:t>
            </a:r>
            <a:r>
              <a:rPr lang="en-US" sz="2400"/>
              <a:t>, and so on.</a:t>
            </a:r>
            <a:endParaRPr lang="en-GB" sz="2400"/>
          </a:p>
          <a:p>
            <a:pPr>
              <a:lnSpc>
                <a:spcPct val="120000"/>
              </a:lnSpc>
            </a:pPr>
            <a:r>
              <a:rPr lang="en-US" sz="2400"/>
              <a:t>Therefore, the total number of comparisons is  </a:t>
            </a:r>
            <a:r>
              <a:rPr lang="en-US" sz="2400" i="1"/>
              <a:t>n*(n-1)/2</a:t>
            </a:r>
            <a:r>
              <a:rPr lang="en-US" sz="2400"/>
              <a:t>.</a:t>
            </a:r>
          </a:p>
          <a:p>
            <a:pPr>
              <a:lnSpc>
                <a:spcPct val="120000"/>
              </a:lnSpc>
            </a:pPr>
            <a:r>
              <a:rPr lang="en-US" sz="2400"/>
              <a:t>There is no improvement if the input file is completely sorted or unsorted, since the selection phase is always required.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833"/>
            <a:ext cx="45416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/>
              <a:t>Sorting</a:t>
            </a:r>
            <a:r>
              <a:rPr lang="en-GB" sz="3200" b="1" dirty="0"/>
              <a:t> Algorithms</a:t>
            </a:r>
            <a:endParaRPr lang="en-US" sz="3200" b="1" dirty="0"/>
          </a:p>
        </p:txBody>
      </p:sp>
      <p:sp>
        <p:nvSpPr>
          <p:cNvPr id="4" name="Rectangle 3"/>
          <p:cNvSpPr/>
          <p:nvPr/>
        </p:nvSpPr>
        <p:spPr>
          <a:xfrm>
            <a:off x="754054" y="635418"/>
            <a:ext cx="2082621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>
              <a:lnSpc>
                <a:spcPct val="120000"/>
              </a:lnSpc>
              <a:spcBef>
                <a:spcPct val="90000"/>
              </a:spcBef>
              <a:buClr>
                <a:schemeClr val="hlink"/>
              </a:buClr>
              <a:buSzPct val="150000"/>
            </a:pPr>
            <a:r>
              <a:rPr lang="en-GB" dirty="0"/>
              <a:t> </a:t>
            </a:r>
            <a:r>
              <a:rPr lang="en-US" b="1" dirty="0">
                <a:solidFill>
                  <a:srgbClr val="008000"/>
                </a:solidFill>
              </a:rPr>
              <a:t>Selection Sort</a:t>
            </a:r>
          </a:p>
        </p:txBody>
      </p:sp>
      <p:sp>
        <p:nvSpPr>
          <p:cNvPr id="5" name="Oval 4"/>
          <p:cNvSpPr/>
          <p:nvPr/>
        </p:nvSpPr>
        <p:spPr>
          <a:xfrm>
            <a:off x="561975" y="710559"/>
            <a:ext cx="302102" cy="27622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2820502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66725" y="1152525"/>
            <a:ext cx="5734050" cy="2962275"/>
          </a:xfrm>
          <a:noFill/>
          <a:ln/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u="sng" dirty="0"/>
              <a:t>Exercise (a):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en-US" sz="2400" dirty="0"/>
              <a:t>	Sort the data in ascending order and show the result of each pass by using </a:t>
            </a:r>
            <a:r>
              <a:rPr lang="en-US" sz="2400" b="1" dirty="0"/>
              <a:t>SELECTION Sort</a:t>
            </a:r>
            <a:r>
              <a:rPr lang="en-US" sz="2400" dirty="0"/>
              <a:t>.</a:t>
            </a:r>
          </a:p>
          <a:p>
            <a:pPr lvl="1">
              <a:lnSpc>
                <a:spcPct val="120000"/>
              </a:lnSpc>
              <a:buFont typeface="Wingdings" pitchFamily="2" charset="2"/>
              <a:buNone/>
            </a:pPr>
            <a:r>
              <a:rPr lang="en-US" sz="2400" b="1" dirty="0">
                <a:latin typeface="Courier New" pitchFamily="49" charset="0"/>
              </a:rPr>
              <a:t>37   9  12  18  25   2</a:t>
            </a:r>
            <a:r>
              <a:rPr lang="en-US" sz="2400" dirty="0"/>
              <a:t> </a:t>
            </a:r>
          </a:p>
        </p:txBody>
      </p:sp>
      <p:sp>
        <p:nvSpPr>
          <p:cNvPr id="133123" name="Text Box 3"/>
          <p:cNvSpPr txBox="1">
            <a:spLocks noChangeArrowheads="1"/>
          </p:cNvSpPr>
          <p:nvPr/>
        </p:nvSpPr>
        <p:spPr bwMode="auto">
          <a:xfrm>
            <a:off x="685800" y="4292600"/>
            <a:ext cx="5661025" cy="26479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latin typeface="Courier New" pitchFamily="49" charset="0"/>
              </a:rPr>
              <a:t>Unsort: 37   9  12  18  25   2</a:t>
            </a:r>
          </a:p>
          <a:p>
            <a:r>
              <a:rPr lang="en-US" sz="2400">
                <a:latin typeface="Courier New" pitchFamily="49" charset="0"/>
              </a:rPr>
              <a:t>Pass 1: [2   9  12  18  25] 37</a:t>
            </a:r>
          </a:p>
          <a:p>
            <a:r>
              <a:rPr lang="en-US" sz="2400">
                <a:latin typeface="Courier New" pitchFamily="49" charset="0"/>
              </a:rPr>
              <a:t>Pass 2: [2   9  12  18] 25  37</a:t>
            </a:r>
          </a:p>
          <a:p>
            <a:r>
              <a:rPr lang="en-US" sz="2400">
                <a:latin typeface="Courier New" pitchFamily="49" charset="0"/>
              </a:rPr>
              <a:t>Pass 3: [2   9  12] 18  25  37</a:t>
            </a:r>
          </a:p>
          <a:p>
            <a:r>
              <a:rPr lang="en-US" sz="2400">
                <a:latin typeface="Courier New" pitchFamily="49" charset="0"/>
              </a:rPr>
              <a:t>Pass 4: [2   9] 12  18  25  37</a:t>
            </a:r>
          </a:p>
          <a:p>
            <a:r>
              <a:rPr lang="en-US" sz="2400">
                <a:latin typeface="Courier New" pitchFamily="49" charset="0"/>
              </a:rPr>
              <a:t>Pass 5:  2   9  12  18  37  25</a:t>
            </a:r>
          </a:p>
          <a:p>
            <a:endParaRPr lang="en-US" sz="2400">
              <a:latin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5833"/>
            <a:ext cx="45416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/>
              <a:t>Sorting</a:t>
            </a:r>
            <a:r>
              <a:rPr lang="en-GB" sz="3200" b="1" dirty="0"/>
              <a:t> Algorithms</a:t>
            </a:r>
            <a:endParaRPr lang="en-US" sz="3200" b="1" dirty="0"/>
          </a:p>
        </p:txBody>
      </p:sp>
      <p:sp>
        <p:nvSpPr>
          <p:cNvPr id="5" name="Rectangle 4"/>
          <p:cNvSpPr/>
          <p:nvPr/>
        </p:nvSpPr>
        <p:spPr>
          <a:xfrm>
            <a:off x="754054" y="635418"/>
            <a:ext cx="2082621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>
              <a:lnSpc>
                <a:spcPct val="120000"/>
              </a:lnSpc>
              <a:spcBef>
                <a:spcPct val="90000"/>
              </a:spcBef>
              <a:buClr>
                <a:schemeClr val="hlink"/>
              </a:buClr>
              <a:buSzPct val="150000"/>
            </a:pPr>
            <a:r>
              <a:rPr lang="en-GB" dirty="0"/>
              <a:t> </a:t>
            </a:r>
            <a:r>
              <a:rPr lang="en-US" b="1" dirty="0">
                <a:solidFill>
                  <a:srgbClr val="008000"/>
                </a:solidFill>
              </a:rPr>
              <a:t>Selection Sort</a:t>
            </a:r>
          </a:p>
        </p:txBody>
      </p:sp>
      <p:sp>
        <p:nvSpPr>
          <p:cNvPr id="6" name="Oval 5"/>
          <p:cNvSpPr/>
          <p:nvPr/>
        </p:nvSpPr>
        <p:spPr>
          <a:xfrm>
            <a:off x="561975" y="710559"/>
            <a:ext cx="302102" cy="27622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0027868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6038850" cy="6913563"/>
          </a:xfrm>
          <a:noFill/>
          <a:ln/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u="sng" dirty="0"/>
              <a:t>Exercise (b):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en-US" sz="2400" dirty="0"/>
              <a:t>	Sort the data in ascending order and show the result of each pass by using </a:t>
            </a:r>
            <a:r>
              <a:rPr lang="en-US" sz="2400" b="1" dirty="0"/>
              <a:t>SELECTION Sort</a:t>
            </a:r>
            <a:r>
              <a:rPr lang="en-US" sz="2400" dirty="0"/>
              <a:t>.</a:t>
            </a:r>
          </a:p>
          <a:p>
            <a:pPr lvl="1">
              <a:lnSpc>
                <a:spcPct val="120000"/>
              </a:lnSpc>
              <a:buFont typeface="Wingdings" pitchFamily="2" charset="2"/>
              <a:buNone/>
            </a:pPr>
            <a:r>
              <a:rPr lang="en-US" sz="2400" dirty="0"/>
              <a:t>	</a:t>
            </a:r>
            <a:r>
              <a:rPr lang="en-US" sz="2400" b="1" dirty="0">
                <a:latin typeface="Courier New" pitchFamily="49" charset="0"/>
              </a:rPr>
              <a:t>28  65  59  23  76  3</a:t>
            </a:r>
            <a:r>
              <a:rPr lang="en-GB" sz="2400" b="1" dirty="0">
                <a:latin typeface="Courier New" pitchFamily="49" charset="0"/>
              </a:rPr>
              <a:t>2</a:t>
            </a:r>
            <a:endParaRPr lang="en-US" sz="2400" dirty="0"/>
          </a:p>
        </p:txBody>
      </p:sp>
      <p:sp>
        <p:nvSpPr>
          <p:cNvPr id="135171" name="Text Box 3"/>
          <p:cNvSpPr txBox="1">
            <a:spLocks noChangeArrowheads="1"/>
          </p:cNvSpPr>
          <p:nvPr/>
        </p:nvSpPr>
        <p:spPr bwMode="auto">
          <a:xfrm>
            <a:off x="685800" y="4292600"/>
            <a:ext cx="5661025" cy="22828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latin typeface="Courier New" pitchFamily="49" charset="0"/>
              </a:rPr>
              <a:t>Unsort: 28  65  59  23  76  32</a:t>
            </a:r>
          </a:p>
          <a:p>
            <a:r>
              <a:rPr lang="en-US" sz="2400">
                <a:latin typeface="Courier New" pitchFamily="49" charset="0"/>
              </a:rPr>
              <a:t>Pass 1: 28  65  59  23  32  76</a:t>
            </a:r>
          </a:p>
          <a:p>
            <a:r>
              <a:rPr lang="en-US" sz="2400">
                <a:latin typeface="Courier New" pitchFamily="49" charset="0"/>
              </a:rPr>
              <a:t>Pass 2: 28  32  59  23  65  76</a:t>
            </a:r>
          </a:p>
          <a:p>
            <a:r>
              <a:rPr lang="en-US" sz="2400">
                <a:latin typeface="Courier New" pitchFamily="49" charset="0"/>
              </a:rPr>
              <a:t>Pass 3: 28  32  23  59  65  76</a:t>
            </a:r>
          </a:p>
          <a:p>
            <a:r>
              <a:rPr lang="en-US" sz="2400">
                <a:latin typeface="Courier New" pitchFamily="49" charset="0"/>
              </a:rPr>
              <a:t>Pass 4: 28  23  32  59  65  76</a:t>
            </a:r>
          </a:p>
          <a:p>
            <a:r>
              <a:rPr lang="en-US" sz="2400">
                <a:latin typeface="Courier New" pitchFamily="49" charset="0"/>
              </a:rPr>
              <a:t>Pass 5: 23  28  32  59  65  76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833"/>
            <a:ext cx="45416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/>
              <a:t>Sorting</a:t>
            </a:r>
            <a:r>
              <a:rPr lang="en-GB" sz="3200" b="1" dirty="0"/>
              <a:t> Algorithms</a:t>
            </a:r>
            <a:endParaRPr lang="en-US" sz="3200" b="1" dirty="0"/>
          </a:p>
        </p:txBody>
      </p:sp>
      <p:sp>
        <p:nvSpPr>
          <p:cNvPr id="5" name="Rectangle 4"/>
          <p:cNvSpPr/>
          <p:nvPr/>
        </p:nvSpPr>
        <p:spPr>
          <a:xfrm>
            <a:off x="754054" y="635418"/>
            <a:ext cx="2082621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>
              <a:lnSpc>
                <a:spcPct val="120000"/>
              </a:lnSpc>
              <a:spcBef>
                <a:spcPct val="90000"/>
              </a:spcBef>
              <a:buClr>
                <a:schemeClr val="hlink"/>
              </a:buClr>
              <a:buSzPct val="150000"/>
            </a:pPr>
            <a:r>
              <a:rPr lang="en-GB" dirty="0"/>
              <a:t> </a:t>
            </a:r>
            <a:r>
              <a:rPr lang="en-US" b="1" dirty="0">
                <a:solidFill>
                  <a:srgbClr val="008000"/>
                </a:solidFill>
              </a:rPr>
              <a:t>Selection Sort</a:t>
            </a:r>
          </a:p>
        </p:txBody>
      </p:sp>
      <p:sp>
        <p:nvSpPr>
          <p:cNvPr id="6" name="Oval 5"/>
          <p:cNvSpPr/>
          <p:nvPr/>
        </p:nvSpPr>
        <p:spPr>
          <a:xfrm>
            <a:off x="561975" y="710559"/>
            <a:ext cx="302102" cy="27622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6762364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34724" y="1209675"/>
            <a:ext cx="5710238" cy="1474788"/>
          </a:xfrm>
        </p:spPr>
        <p:txBody>
          <a:bodyPr/>
          <a:lstStyle/>
          <a:p>
            <a:pPr marL="342900" indent="-342900" algn="just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sz="1800" b="1" dirty="0">
                <a:solidFill>
                  <a:srgbClr val="000000"/>
                </a:solidFill>
                <a:cs typeface="Times New Roman" pitchFamily="18" charset="0"/>
              </a:rPr>
              <a:t>Question 2 :Selection Sort</a:t>
            </a:r>
          </a:p>
          <a:p>
            <a:pPr marL="342900" indent="-342900" algn="just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sz="1800" dirty="0">
                <a:solidFill>
                  <a:srgbClr val="000000"/>
                </a:solidFill>
                <a:cs typeface="Times New Roman" pitchFamily="18" charset="0"/>
              </a:rPr>
              <a:t>	Sort the following numbers in ascending order, using </a:t>
            </a:r>
            <a:r>
              <a:rPr lang="en-GB" sz="1800" b="1" dirty="0">
                <a:solidFill>
                  <a:srgbClr val="000000"/>
                </a:solidFill>
                <a:cs typeface="Times New Roman" pitchFamily="18" charset="0"/>
              </a:rPr>
              <a:t>Selection </a:t>
            </a:r>
            <a:r>
              <a:rPr lang="en-GB" sz="1800" dirty="0">
                <a:solidFill>
                  <a:srgbClr val="000000"/>
                </a:solidFill>
                <a:cs typeface="Times New Roman" pitchFamily="18" charset="0"/>
              </a:rPr>
              <a:t>sort. Start your comparison from the left hand side and select the largest value and put it to the right.</a:t>
            </a:r>
          </a:p>
          <a:p>
            <a:pPr marL="342900" indent="-342900" algn="just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GB" sz="1800" dirty="0">
              <a:solidFill>
                <a:srgbClr val="000000"/>
              </a:solidFill>
              <a:cs typeface="Times New Roman" pitchFamily="18" charset="0"/>
            </a:endParaRPr>
          </a:p>
        </p:txBody>
      </p:sp>
      <p:graphicFrame>
        <p:nvGraphicFramePr>
          <p:cNvPr id="248958" name="Group 126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73127367"/>
              </p:ext>
            </p:extLst>
          </p:nvPr>
        </p:nvGraphicFramePr>
        <p:xfrm>
          <a:off x="765175" y="2922588"/>
          <a:ext cx="5400675" cy="5781678"/>
        </p:xfrm>
        <a:graphic>
          <a:graphicData uri="http://schemas.openxmlformats.org/drawingml/2006/table">
            <a:tbl>
              <a:tblPr/>
              <a:tblGrid>
                <a:gridCol w="541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81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13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81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13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81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13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263"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6263"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6" name="Oval 125"/>
          <p:cNvSpPr/>
          <p:nvPr/>
        </p:nvSpPr>
        <p:spPr bwMode="auto">
          <a:xfrm>
            <a:off x="642918" y="2895584"/>
            <a:ext cx="714380" cy="642942"/>
          </a:xfrm>
          <a:prstGeom prst="ellipse">
            <a:avLst/>
          </a:prstGeom>
          <a:noFill/>
          <a:ln w="57150"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6556" y="520183"/>
            <a:ext cx="29370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3200" b="1" dirty="0"/>
              <a:t>Practical 7B</a:t>
            </a:r>
            <a:endParaRPr 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0301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166836"/>
            <a:ext cx="5734050" cy="7391400"/>
          </a:xfrm>
          <a:noFill/>
          <a:ln/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sz="2000" dirty="0"/>
              <a:t>A insertion sort is one that sorts a set of records by inserting records into an </a:t>
            </a:r>
            <a:r>
              <a:rPr lang="en-US" sz="2000" b="1" i="1" dirty="0"/>
              <a:t>existing sorted</a:t>
            </a:r>
            <a:r>
              <a:rPr lang="en-US" sz="2000" dirty="0"/>
              <a:t> file.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olidFill>
                  <a:srgbClr val="000000"/>
                </a:solidFill>
              </a:rPr>
              <a:t>      </a:t>
            </a:r>
            <a:r>
              <a:rPr lang="en-US" sz="2000" b="1" dirty="0">
                <a:solidFill>
                  <a:srgbClr val="000000"/>
                </a:solidFill>
              </a:rPr>
              <a:t>[ 25 ]</a:t>
            </a:r>
            <a:r>
              <a:rPr lang="en-US" sz="2000" dirty="0">
                <a:solidFill>
                  <a:srgbClr val="000000"/>
                </a:solidFill>
              </a:rPr>
              <a:t>  57   48   37   12   92   86   33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olidFill>
                  <a:srgbClr val="000000"/>
                </a:solidFill>
              </a:rPr>
              <a:t>		</a:t>
            </a:r>
            <a:r>
              <a:rPr lang="en-US" sz="2000" b="1" dirty="0">
                <a:solidFill>
                  <a:srgbClr val="000000"/>
                </a:solidFill>
              </a:rPr>
              <a:t>[ 25   57 ]</a:t>
            </a:r>
            <a:r>
              <a:rPr lang="en-US" sz="2000" dirty="0">
                <a:solidFill>
                  <a:srgbClr val="000000"/>
                </a:solidFill>
              </a:rPr>
              <a:t>  48   37   12   92   86   33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olidFill>
                  <a:srgbClr val="000000"/>
                </a:solidFill>
              </a:rPr>
              <a:t>		</a:t>
            </a:r>
            <a:r>
              <a:rPr lang="en-US" sz="2000" b="1" dirty="0">
                <a:solidFill>
                  <a:srgbClr val="000000"/>
                </a:solidFill>
              </a:rPr>
              <a:t>[ 25   48   57 ]</a:t>
            </a:r>
            <a:r>
              <a:rPr lang="en-US" sz="2000" dirty="0">
                <a:solidFill>
                  <a:srgbClr val="000000"/>
                </a:solidFill>
              </a:rPr>
              <a:t>   37  12   92   86   33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olidFill>
                  <a:srgbClr val="000000"/>
                </a:solidFill>
              </a:rPr>
              <a:t>		</a:t>
            </a:r>
            <a:r>
              <a:rPr lang="en-US" sz="2000" b="1" dirty="0">
                <a:solidFill>
                  <a:srgbClr val="000000"/>
                </a:solidFill>
              </a:rPr>
              <a:t>[ 25   37   48   57 ]</a:t>
            </a:r>
            <a:r>
              <a:rPr lang="en-US" sz="2000" dirty="0">
                <a:solidFill>
                  <a:srgbClr val="000000"/>
                </a:solidFill>
              </a:rPr>
              <a:t>  12   92   86   33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olidFill>
                  <a:srgbClr val="000000"/>
                </a:solidFill>
              </a:rPr>
              <a:t>		</a:t>
            </a:r>
            <a:r>
              <a:rPr lang="en-US" sz="2000" b="1" dirty="0">
                <a:solidFill>
                  <a:srgbClr val="000000"/>
                </a:solidFill>
              </a:rPr>
              <a:t>[ 12   25   37   48   57 ]</a:t>
            </a:r>
            <a:r>
              <a:rPr lang="en-US" sz="2000" dirty="0">
                <a:solidFill>
                  <a:srgbClr val="000000"/>
                </a:solidFill>
              </a:rPr>
              <a:t>  92   86   33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olidFill>
                  <a:srgbClr val="000000"/>
                </a:solidFill>
              </a:rPr>
              <a:t>		</a:t>
            </a:r>
            <a:r>
              <a:rPr lang="en-US" sz="2000" b="1" dirty="0">
                <a:solidFill>
                  <a:srgbClr val="000000"/>
                </a:solidFill>
              </a:rPr>
              <a:t>.</a:t>
            </a:r>
            <a:endParaRPr lang="en-US" sz="20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olidFill>
                  <a:srgbClr val="000000"/>
                </a:solidFill>
              </a:rPr>
              <a:t>		</a:t>
            </a:r>
            <a:r>
              <a:rPr lang="en-US" sz="2000" b="1" dirty="0">
                <a:solidFill>
                  <a:srgbClr val="000000"/>
                </a:solidFill>
              </a:rPr>
              <a:t>.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sz="2000" b="1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olidFill>
                  <a:srgbClr val="000000"/>
                </a:solidFill>
              </a:rPr>
              <a:t>		</a:t>
            </a:r>
            <a:r>
              <a:rPr lang="en-US" sz="2000" b="1" dirty="0">
                <a:solidFill>
                  <a:srgbClr val="000000"/>
                </a:solidFill>
              </a:rPr>
              <a:t>12    25   33    37    48    57   86   92</a:t>
            </a:r>
          </a:p>
        </p:txBody>
      </p:sp>
      <p:sp>
        <p:nvSpPr>
          <p:cNvPr id="137219" name="Oval 3"/>
          <p:cNvSpPr>
            <a:spLocks noChangeArrowheads="1"/>
          </p:cNvSpPr>
          <p:nvPr/>
        </p:nvSpPr>
        <p:spPr bwMode="auto">
          <a:xfrm>
            <a:off x="1593850" y="2571740"/>
            <a:ext cx="444500" cy="411162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7220" name="Oval 4"/>
          <p:cNvSpPr>
            <a:spLocks noChangeArrowheads="1"/>
          </p:cNvSpPr>
          <p:nvPr/>
        </p:nvSpPr>
        <p:spPr bwMode="auto">
          <a:xfrm>
            <a:off x="2628900" y="3190869"/>
            <a:ext cx="444500" cy="411163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7221" name="Oval 5"/>
          <p:cNvSpPr>
            <a:spLocks noChangeArrowheads="1"/>
          </p:cNvSpPr>
          <p:nvPr/>
        </p:nvSpPr>
        <p:spPr bwMode="auto">
          <a:xfrm>
            <a:off x="3181350" y="3725863"/>
            <a:ext cx="444500" cy="40957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7222" name="Oval 6"/>
          <p:cNvSpPr>
            <a:spLocks noChangeArrowheads="1"/>
          </p:cNvSpPr>
          <p:nvPr/>
        </p:nvSpPr>
        <p:spPr bwMode="auto">
          <a:xfrm>
            <a:off x="3625850" y="4395796"/>
            <a:ext cx="444500" cy="40957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7223" name="Oval 7"/>
          <p:cNvSpPr>
            <a:spLocks noChangeArrowheads="1"/>
          </p:cNvSpPr>
          <p:nvPr/>
        </p:nvSpPr>
        <p:spPr bwMode="auto">
          <a:xfrm>
            <a:off x="4070350" y="4967301"/>
            <a:ext cx="444500" cy="40957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57200" y="5833"/>
            <a:ext cx="45416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/>
              <a:t>Sorting</a:t>
            </a:r>
            <a:r>
              <a:rPr lang="en-GB" sz="3200" b="1" dirty="0"/>
              <a:t> Algorithms</a:t>
            </a:r>
            <a:endParaRPr lang="en-US" sz="3200" b="1" dirty="0"/>
          </a:p>
        </p:txBody>
      </p:sp>
      <p:sp>
        <p:nvSpPr>
          <p:cNvPr id="9" name="Rectangle 8"/>
          <p:cNvSpPr/>
          <p:nvPr/>
        </p:nvSpPr>
        <p:spPr>
          <a:xfrm>
            <a:off x="864077" y="635418"/>
            <a:ext cx="2012089" cy="3894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>
              <a:lnSpc>
                <a:spcPct val="120000"/>
              </a:lnSpc>
              <a:spcBef>
                <a:spcPct val="90000"/>
              </a:spcBef>
              <a:buClr>
                <a:schemeClr val="hlink"/>
              </a:buClr>
              <a:buSzPct val="150000"/>
            </a:pPr>
            <a:r>
              <a:rPr lang="en-US" b="1" dirty="0">
                <a:solidFill>
                  <a:srgbClr val="008000"/>
                </a:solidFill>
              </a:rPr>
              <a:t>Insertion Sort</a:t>
            </a:r>
          </a:p>
        </p:txBody>
      </p:sp>
      <p:sp>
        <p:nvSpPr>
          <p:cNvPr id="10" name="Oval 9"/>
          <p:cNvSpPr/>
          <p:nvPr/>
        </p:nvSpPr>
        <p:spPr>
          <a:xfrm>
            <a:off x="561975" y="710559"/>
            <a:ext cx="302102" cy="27622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  <a:endParaRPr lang="en-SG" dirty="0"/>
          </a:p>
        </p:txBody>
      </p:sp>
      <p:sp>
        <p:nvSpPr>
          <p:cNvPr id="11" name="Rectangle 10"/>
          <p:cNvSpPr/>
          <p:nvPr/>
        </p:nvSpPr>
        <p:spPr>
          <a:xfrm>
            <a:off x="687608" y="7039568"/>
            <a:ext cx="6119592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buClr>
                <a:schemeClr val="hlink"/>
              </a:buClr>
              <a:buFontTx/>
              <a:buNone/>
            </a:pPr>
            <a:r>
              <a:rPr lang="en-GB" b="1" dirty="0"/>
              <a:t>View this animation, it helps you to understand how Insertion sort works:</a:t>
            </a:r>
          </a:p>
          <a:p>
            <a:pPr>
              <a:lnSpc>
                <a:spcPct val="100000"/>
              </a:lnSpc>
              <a:spcBef>
                <a:spcPct val="50000"/>
              </a:spcBef>
              <a:buClr>
                <a:schemeClr val="hlink"/>
              </a:buClr>
              <a:buFontTx/>
              <a:buNone/>
            </a:pPr>
            <a:r>
              <a:rPr lang="en-GB" b="1" dirty="0">
                <a:hlinkClick r:id="rId4"/>
              </a:rPr>
              <a:t>http://www.ee.ryerson.ca/~courses/coe428/sorting/insertionsort.html</a:t>
            </a:r>
            <a:endParaRPr lang="en-GB" b="1" dirty="0">
              <a:hlinkClick r:id="rId5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63629877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1026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2400" dirty="0"/>
              <a:t>What is the pattern for this case?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How would you implement the algorithm in C</a:t>
            </a:r>
            <a:r>
              <a:rPr lang="en-GB" sz="2400" dirty="0"/>
              <a:t>#</a:t>
            </a:r>
            <a:r>
              <a:rPr lang="en-US" sz="2400" dirty="0"/>
              <a:t>?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en-US" sz="2400" b="1" dirty="0">
                <a:latin typeface="Courier New" pitchFamily="49" charset="0"/>
              </a:rPr>
              <a:t>		 </a:t>
            </a:r>
            <a:r>
              <a:rPr lang="en-US" sz="2400" b="1" dirty="0">
                <a:solidFill>
                  <a:srgbClr val="000000"/>
                </a:solidFill>
              </a:rPr>
              <a:t>25   57   48   37   12   92   86   33</a:t>
            </a:r>
            <a:endParaRPr lang="en-US" sz="2400" dirty="0"/>
          </a:p>
          <a:p>
            <a:pPr>
              <a:lnSpc>
                <a:spcPct val="110000"/>
              </a:lnSpc>
            </a:pPr>
            <a:r>
              <a:rPr lang="en-US" sz="2400" dirty="0"/>
              <a:t>Pattern:</a:t>
            </a:r>
          </a:p>
          <a:p>
            <a:pPr lvl="1">
              <a:lnSpc>
                <a:spcPct val="110000"/>
              </a:lnSpc>
            </a:pPr>
            <a:r>
              <a:rPr lang="en-US" sz="2400" dirty="0"/>
              <a:t>Scan unsorted data from front to back.</a:t>
            </a:r>
          </a:p>
          <a:p>
            <a:pPr lvl="1">
              <a:lnSpc>
                <a:spcPct val="110000"/>
              </a:lnSpc>
            </a:pPr>
            <a:r>
              <a:rPr lang="en-US" sz="2400" dirty="0"/>
              <a:t>Store first data into sorted space.</a:t>
            </a:r>
          </a:p>
          <a:p>
            <a:pPr lvl="1">
              <a:lnSpc>
                <a:spcPct val="110000"/>
              </a:lnSpc>
            </a:pPr>
            <a:r>
              <a:rPr lang="en-US" sz="2400" dirty="0"/>
              <a:t>Get next data</a:t>
            </a:r>
          </a:p>
          <a:p>
            <a:pPr lvl="1">
              <a:lnSpc>
                <a:spcPct val="110000"/>
              </a:lnSpc>
            </a:pPr>
            <a:r>
              <a:rPr lang="en-GB" sz="2400" dirty="0"/>
              <a:t>Insert it in the correct spot in the sorted space. (By first moving all the larger values down one space).</a:t>
            </a:r>
            <a:endParaRPr lang="en-US" sz="2400" dirty="0"/>
          </a:p>
          <a:p>
            <a:pPr lvl="1">
              <a:lnSpc>
                <a:spcPct val="110000"/>
              </a:lnSpc>
            </a:pPr>
            <a:r>
              <a:rPr lang="en-US" sz="2400" dirty="0"/>
              <a:t>Go to step 3.</a:t>
            </a:r>
          </a:p>
        </p:txBody>
      </p:sp>
      <p:sp>
        <p:nvSpPr>
          <p:cNvPr id="3" name="Rectangle 2"/>
          <p:cNvSpPr/>
          <p:nvPr/>
        </p:nvSpPr>
        <p:spPr>
          <a:xfrm>
            <a:off x="864077" y="635418"/>
            <a:ext cx="2012089" cy="3894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>
              <a:lnSpc>
                <a:spcPct val="120000"/>
              </a:lnSpc>
              <a:spcBef>
                <a:spcPct val="90000"/>
              </a:spcBef>
              <a:buClr>
                <a:schemeClr val="hlink"/>
              </a:buClr>
              <a:buSzPct val="150000"/>
            </a:pPr>
            <a:r>
              <a:rPr lang="en-US" b="1" dirty="0">
                <a:solidFill>
                  <a:srgbClr val="008000"/>
                </a:solidFill>
              </a:rPr>
              <a:t>Insertion Sort</a:t>
            </a:r>
          </a:p>
        </p:txBody>
      </p:sp>
      <p:sp>
        <p:nvSpPr>
          <p:cNvPr id="4" name="Oval 3"/>
          <p:cNvSpPr/>
          <p:nvPr/>
        </p:nvSpPr>
        <p:spPr>
          <a:xfrm>
            <a:off x="561975" y="710559"/>
            <a:ext cx="302102" cy="27622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  <a:endParaRPr lang="en-SG" dirty="0"/>
          </a:p>
        </p:txBody>
      </p:sp>
      <p:sp>
        <p:nvSpPr>
          <p:cNvPr id="5" name="Rectangle 4"/>
          <p:cNvSpPr/>
          <p:nvPr/>
        </p:nvSpPr>
        <p:spPr>
          <a:xfrm>
            <a:off x="457200" y="5833"/>
            <a:ext cx="45416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/>
              <a:t>Sorting</a:t>
            </a:r>
            <a:r>
              <a:rPr lang="en-GB" sz="3200" b="1" dirty="0"/>
              <a:t> Algorithms</a:t>
            </a:r>
            <a:endParaRPr 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32601180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4025" y="1135063"/>
            <a:ext cx="5734050" cy="7712075"/>
          </a:xfr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1800" b="1" u="sng" dirty="0"/>
              <a:t>Insertion Sort Code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000000"/>
                </a:solidFill>
              </a:rPr>
              <a:t>/</a:t>
            </a:r>
            <a:r>
              <a:rPr lang="en-GB" sz="1800" dirty="0">
                <a:solidFill>
                  <a:srgbClr val="000000"/>
                </a:solidFill>
              </a:rPr>
              <a:t>/</a:t>
            </a:r>
            <a:r>
              <a:rPr lang="en-US" sz="1800" dirty="0">
                <a:solidFill>
                  <a:srgbClr val="000000"/>
                </a:solidFill>
              </a:rPr>
              <a:t>Initially x[0] may be thought</a:t>
            </a:r>
            <a:endParaRPr lang="en-GB" sz="18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sz="1800" dirty="0">
                <a:solidFill>
                  <a:srgbClr val="000000"/>
                </a:solidFill>
              </a:rPr>
              <a:t>	//</a:t>
            </a:r>
            <a:r>
              <a:rPr lang="en-US" sz="1800" dirty="0">
                <a:solidFill>
                  <a:srgbClr val="000000"/>
                </a:solidFill>
              </a:rPr>
              <a:t>of as a sorted file of </a:t>
            </a:r>
            <a:r>
              <a:rPr lang="en-GB" sz="1800" dirty="0">
                <a:solidFill>
                  <a:srgbClr val="000000"/>
                </a:solidFill>
              </a:rPr>
              <a:t>1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sz="1800" dirty="0">
                <a:solidFill>
                  <a:srgbClr val="000000"/>
                </a:solidFill>
              </a:rPr>
              <a:t>	//</a:t>
            </a:r>
            <a:r>
              <a:rPr lang="en-US" sz="1800" dirty="0" err="1">
                <a:solidFill>
                  <a:srgbClr val="000000"/>
                </a:solidFill>
              </a:rPr>
              <a:t>element.After</a:t>
            </a:r>
            <a:r>
              <a:rPr lang="en-US" sz="1800" dirty="0">
                <a:solidFill>
                  <a:srgbClr val="000000"/>
                </a:solidFill>
              </a:rPr>
              <a:t> each repetition</a:t>
            </a:r>
            <a:endParaRPr lang="en-GB" sz="18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sz="1800" dirty="0">
                <a:solidFill>
                  <a:srgbClr val="000000"/>
                </a:solidFill>
              </a:rPr>
              <a:t>	//</a:t>
            </a:r>
            <a:r>
              <a:rPr lang="en-US" sz="1800" dirty="0">
                <a:solidFill>
                  <a:srgbClr val="000000"/>
                </a:solidFill>
              </a:rPr>
              <a:t>the elements x[0] through</a:t>
            </a:r>
            <a:endParaRPr lang="en-GB" sz="18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sz="1800" dirty="0">
                <a:solidFill>
                  <a:srgbClr val="000000"/>
                </a:solidFill>
              </a:rPr>
              <a:t>	//</a:t>
            </a:r>
            <a:r>
              <a:rPr lang="en-US" sz="1800" dirty="0">
                <a:solidFill>
                  <a:srgbClr val="000000"/>
                </a:solidFill>
              </a:rPr>
              <a:t>x[k]</a:t>
            </a:r>
            <a:r>
              <a:rPr lang="en-GB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000000"/>
                </a:solidFill>
              </a:rPr>
              <a:t>are in order.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800" dirty="0">
                <a:solidFill>
                  <a:srgbClr val="000000"/>
                </a:solidFill>
              </a:rPr>
              <a:t>	void </a:t>
            </a:r>
            <a:r>
              <a:rPr lang="en-US" sz="1800" dirty="0" err="1">
                <a:solidFill>
                  <a:srgbClr val="000000"/>
                </a:solidFill>
              </a:rPr>
              <a:t>insertSort</a:t>
            </a:r>
            <a:r>
              <a:rPr lang="en-US" sz="1800" dirty="0">
                <a:solidFill>
                  <a:srgbClr val="000000"/>
                </a:solidFill>
              </a:rPr>
              <a:t>(</a:t>
            </a:r>
            <a:r>
              <a:rPr lang="en-US" sz="1800" dirty="0" err="1">
                <a:solidFill>
                  <a:srgbClr val="000000"/>
                </a:solidFill>
              </a:rPr>
              <a:t>int</a:t>
            </a:r>
            <a:r>
              <a:rPr lang="en-US" sz="1800" dirty="0">
                <a:solidFill>
                  <a:srgbClr val="000000"/>
                </a:solidFill>
              </a:rPr>
              <a:t> []x)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800" dirty="0">
                <a:solidFill>
                  <a:srgbClr val="000000"/>
                </a:solidFill>
              </a:rPr>
              <a:t> {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800" dirty="0">
                <a:solidFill>
                  <a:srgbClr val="000000"/>
                </a:solidFill>
              </a:rPr>
              <a:t>		</a:t>
            </a:r>
            <a:r>
              <a:rPr lang="en-US" sz="1800" dirty="0" err="1">
                <a:solidFill>
                  <a:srgbClr val="000000"/>
                </a:solidFill>
              </a:rPr>
              <a:t>int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 err="1">
                <a:solidFill>
                  <a:srgbClr val="000000"/>
                </a:solidFill>
              </a:rPr>
              <a:t>i</a:t>
            </a:r>
            <a:r>
              <a:rPr lang="en-US" sz="1800" dirty="0">
                <a:solidFill>
                  <a:srgbClr val="000000"/>
                </a:solidFill>
              </a:rPr>
              <a:t>, k, y;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800" dirty="0">
                <a:solidFill>
                  <a:srgbClr val="000000"/>
                </a:solidFill>
              </a:rPr>
              <a:t>	  	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800" dirty="0">
                <a:solidFill>
                  <a:srgbClr val="000000"/>
                </a:solidFill>
              </a:rPr>
              <a:t>		for (k=1; k&lt;</a:t>
            </a:r>
            <a:r>
              <a:rPr lang="en-US" sz="1800" dirty="0" err="1">
                <a:solidFill>
                  <a:srgbClr val="000000"/>
                </a:solidFill>
              </a:rPr>
              <a:t>x.Length</a:t>
            </a:r>
            <a:r>
              <a:rPr lang="en-US" sz="1800" dirty="0">
                <a:solidFill>
                  <a:srgbClr val="000000"/>
                </a:solidFill>
              </a:rPr>
              <a:t>; k++)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800" dirty="0">
                <a:solidFill>
                  <a:srgbClr val="000000"/>
                </a:solidFill>
              </a:rPr>
              <a:t>   		{	y = x[k];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800" dirty="0">
                <a:solidFill>
                  <a:srgbClr val="000000"/>
                </a:solidFill>
              </a:rPr>
              <a:t> 			/</a:t>
            </a:r>
            <a:r>
              <a:rPr lang="en-GB" sz="1800" dirty="0">
                <a:solidFill>
                  <a:srgbClr val="000000"/>
                </a:solidFill>
              </a:rPr>
              <a:t>/</a:t>
            </a:r>
            <a:r>
              <a:rPr lang="en-US" sz="1800" dirty="0">
                <a:solidFill>
                  <a:srgbClr val="000000"/>
                </a:solidFill>
              </a:rPr>
              <a:t> Move down 1 </a:t>
            </a:r>
            <a:r>
              <a:rPr lang="en-GB" sz="1800" dirty="0">
                <a:solidFill>
                  <a:srgbClr val="000000"/>
                </a:solidFill>
              </a:rPr>
              <a:t>spot</a:t>
            </a:r>
            <a:r>
              <a:rPr lang="en-US" sz="1800" dirty="0">
                <a:solidFill>
                  <a:srgbClr val="000000"/>
                </a:solidFill>
              </a:rPr>
              <a:t> for all 		</a:t>
            </a:r>
            <a:r>
              <a:rPr lang="en-GB" sz="1800" dirty="0">
                <a:solidFill>
                  <a:srgbClr val="000000"/>
                </a:solidFill>
              </a:rPr>
              <a:t>// </a:t>
            </a:r>
            <a:r>
              <a:rPr lang="en-US" sz="1800" dirty="0">
                <a:solidFill>
                  <a:srgbClr val="000000"/>
                </a:solidFill>
              </a:rPr>
              <a:t>elements greater than y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800" dirty="0">
                <a:solidFill>
                  <a:srgbClr val="000000"/>
                </a:solidFill>
              </a:rPr>
              <a:t>			for (</a:t>
            </a:r>
            <a:r>
              <a:rPr lang="en-US" sz="1800" dirty="0" err="1">
                <a:solidFill>
                  <a:srgbClr val="000000"/>
                </a:solidFill>
              </a:rPr>
              <a:t>i</a:t>
            </a:r>
            <a:r>
              <a:rPr lang="en-US" sz="1800" dirty="0">
                <a:solidFill>
                  <a:srgbClr val="000000"/>
                </a:solidFill>
              </a:rPr>
              <a:t>=k-1; </a:t>
            </a:r>
            <a:r>
              <a:rPr lang="en-US" sz="1800" dirty="0" err="1">
                <a:solidFill>
                  <a:srgbClr val="000000"/>
                </a:solidFill>
              </a:rPr>
              <a:t>i</a:t>
            </a:r>
            <a:r>
              <a:rPr lang="en-US" sz="1800" dirty="0">
                <a:solidFill>
                  <a:srgbClr val="000000"/>
                </a:solidFill>
              </a:rPr>
              <a:t>&gt;=0; </a:t>
            </a:r>
            <a:r>
              <a:rPr lang="en-US" sz="1800" dirty="0" err="1">
                <a:solidFill>
                  <a:srgbClr val="000000"/>
                </a:solidFill>
              </a:rPr>
              <a:t>i</a:t>
            </a:r>
            <a:r>
              <a:rPr lang="en-US" sz="1800" dirty="0">
                <a:solidFill>
                  <a:srgbClr val="000000"/>
                </a:solidFill>
              </a:rPr>
              <a:t>--)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800" dirty="0">
                <a:solidFill>
                  <a:srgbClr val="000000"/>
                </a:solidFill>
              </a:rPr>
              <a:t>			{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800" dirty="0">
                <a:solidFill>
                  <a:srgbClr val="000000"/>
                </a:solidFill>
              </a:rPr>
              <a:t>       			if (y &lt; x[</a:t>
            </a:r>
            <a:r>
              <a:rPr lang="en-US" sz="1800" dirty="0" err="1">
                <a:solidFill>
                  <a:srgbClr val="000000"/>
                </a:solidFill>
              </a:rPr>
              <a:t>i</a:t>
            </a:r>
            <a:r>
              <a:rPr lang="en-US" sz="1800" dirty="0">
                <a:solidFill>
                  <a:srgbClr val="000000"/>
                </a:solidFill>
              </a:rPr>
              <a:t>])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800" dirty="0">
                <a:solidFill>
                  <a:srgbClr val="000000"/>
                </a:solidFill>
              </a:rPr>
              <a:t>					x[i+1] = x[</a:t>
            </a:r>
            <a:r>
              <a:rPr lang="en-US" sz="1800" dirty="0" err="1">
                <a:solidFill>
                  <a:srgbClr val="000000"/>
                </a:solidFill>
              </a:rPr>
              <a:t>i</a:t>
            </a:r>
            <a:r>
              <a:rPr lang="en-US" sz="1800" dirty="0">
                <a:solidFill>
                  <a:srgbClr val="000000"/>
                </a:solidFill>
              </a:rPr>
              <a:t>];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800" dirty="0">
                <a:solidFill>
                  <a:srgbClr val="000000"/>
                </a:solidFill>
              </a:rPr>
              <a:t>				else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800" dirty="0">
                <a:solidFill>
                  <a:srgbClr val="000000"/>
                </a:solidFill>
              </a:rPr>
              <a:t>					break;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800" dirty="0">
                <a:solidFill>
                  <a:srgbClr val="000000"/>
                </a:solidFill>
              </a:rPr>
              <a:t>			}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800" dirty="0">
                <a:solidFill>
                  <a:srgbClr val="000000"/>
                </a:solidFill>
              </a:rPr>
              <a:t>			/</a:t>
            </a:r>
            <a:r>
              <a:rPr lang="en-GB" sz="1800" dirty="0">
                <a:solidFill>
                  <a:srgbClr val="000000"/>
                </a:solidFill>
              </a:rPr>
              <a:t>/</a:t>
            </a:r>
            <a:r>
              <a:rPr lang="en-US" sz="1800" dirty="0">
                <a:solidFill>
                  <a:srgbClr val="000000"/>
                </a:solidFill>
              </a:rPr>
              <a:t> Insert y at proper</a:t>
            </a:r>
            <a:r>
              <a:rPr lang="en-GB" sz="1800" dirty="0">
                <a:solidFill>
                  <a:srgbClr val="000000"/>
                </a:solidFill>
              </a:rPr>
              <a:t> spot</a:t>
            </a:r>
            <a:endParaRPr lang="en-US" sz="18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800" dirty="0">
                <a:solidFill>
                  <a:srgbClr val="000000"/>
                </a:solidFill>
              </a:rPr>
              <a:t>			x[i+1] = y;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800" dirty="0">
                <a:solidFill>
                  <a:srgbClr val="000000"/>
                </a:solidFill>
              </a:rPr>
              <a:t> 		}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800" dirty="0">
                <a:solidFill>
                  <a:srgbClr val="000000"/>
                </a:solidFill>
              </a:rPr>
              <a:t>	}</a:t>
            </a:r>
          </a:p>
        </p:txBody>
      </p:sp>
      <p:sp>
        <p:nvSpPr>
          <p:cNvPr id="3" name="Rectangle 2"/>
          <p:cNvSpPr/>
          <p:nvPr/>
        </p:nvSpPr>
        <p:spPr>
          <a:xfrm>
            <a:off x="864077" y="635418"/>
            <a:ext cx="2012089" cy="3894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>
              <a:lnSpc>
                <a:spcPct val="120000"/>
              </a:lnSpc>
              <a:spcBef>
                <a:spcPct val="90000"/>
              </a:spcBef>
              <a:buClr>
                <a:schemeClr val="hlink"/>
              </a:buClr>
              <a:buSzPct val="150000"/>
            </a:pPr>
            <a:r>
              <a:rPr lang="en-US" b="1" dirty="0">
                <a:solidFill>
                  <a:srgbClr val="008000"/>
                </a:solidFill>
              </a:rPr>
              <a:t>Insertion Sort</a:t>
            </a:r>
          </a:p>
        </p:txBody>
      </p:sp>
      <p:sp>
        <p:nvSpPr>
          <p:cNvPr id="4" name="Oval 3"/>
          <p:cNvSpPr/>
          <p:nvPr/>
        </p:nvSpPr>
        <p:spPr>
          <a:xfrm>
            <a:off x="561975" y="710559"/>
            <a:ext cx="302102" cy="27622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  <a:endParaRPr lang="en-SG" dirty="0"/>
          </a:p>
        </p:txBody>
      </p:sp>
      <p:sp>
        <p:nvSpPr>
          <p:cNvPr id="5" name="Rectangle 4"/>
          <p:cNvSpPr/>
          <p:nvPr/>
        </p:nvSpPr>
        <p:spPr>
          <a:xfrm>
            <a:off x="457200" y="5833"/>
            <a:ext cx="45416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/>
              <a:t>Sorting</a:t>
            </a:r>
            <a:r>
              <a:rPr lang="en-GB" sz="3200" b="1" dirty="0"/>
              <a:t> Algorithms</a:t>
            </a:r>
            <a:endParaRPr 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28791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sz="2400"/>
              <a:t>The total number of comparisons in the simple insertion sort is also </a:t>
            </a:r>
            <a:r>
              <a:rPr lang="en-US" sz="2400" i="1"/>
              <a:t>n*(n-1)/2</a:t>
            </a:r>
            <a:r>
              <a:rPr lang="en-US" sz="2400"/>
              <a:t>.</a:t>
            </a:r>
          </a:p>
          <a:p>
            <a:pPr>
              <a:lnSpc>
                <a:spcPct val="120000"/>
              </a:lnSpc>
            </a:pPr>
            <a:r>
              <a:rPr lang="en-US" sz="2400"/>
              <a:t>If the initial file is sorted, only one comparison is made on each pass</a:t>
            </a:r>
            <a:r>
              <a:rPr lang="en-GB" sz="2400"/>
              <a:t>.</a:t>
            </a:r>
          </a:p>
          <a:p>
            <a:pPr>
              <a:lnSpc>
                <a:spcPct val="120000"/>
              </a:lnSpc>
            </a:pPr>
            <a:r>
              <a:rPr lang="en-GB" sz="2400"/>
              <a:t>I</a:t>
            </a:r>
            <a:r>
              <a:rPr lang="en-US" sz="2400"/>
              <a:t>f the file is initially sorted in the reverse order, the sort is (n-1) + (n-2) + … + 1.</a:t>
            </a:r>
          </a:p>
          <a:p>
            <a:pPr>
              <a:lnSpc>
                <a:spcPct val="120000"/>
              </a:lnSpc>
            </a:pPr>
            <a:r>
              <a:rPr lang="en-US" sz="2400"/>
              <a:t>However, the insertion sort is still usually better than the bubble sort.</a:t>
            </a:r>
            <a:endParaRPr lang="en-GB" sz="2400"/>
          </a:p>
          <a:p>
            <a:pPr>
              <a:lnSpc>
                <a:spcPct val="120000"/>
              </a:lnSpc>
            </a:pPr>
            <a:r>
              <a:rPr lang="en-US" sz="2400"/>
              <a:t>The closer the file is to sorted order, the more efficient the simple insertion sort becomes.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864077" y="635418"/>
            <a:ext cx="2012089" cy="3894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>
              <a:lnSpc>
                <a:spcPct val="120000"/>
              </a:lnSpc>
              <a:spcBef>
                <a:spcPct val="90000"/>
              </a:spcBef>
              <a:buClr>
                <a:schemeClr val="hlink"/>
              </a:buClr>
              <a:buSzPct val="150000"/>
            </a:pPr>
            <a:r>
              <a:rPr lang="en-US" b="1" dirty="0">
                <a:solidFill>
                  <a:srgbClr val="008000"/>
                </a:solidFill>
              </a:rPr>
              <a:t>Insertion Sort</a:t>
            </a:r>
          </a:p>
        </p:txBody>
      </p:sp>
      <p:sp>
        <p:nvSpPr>
          <p:cNvPr id="4" name="Oval 3"/>
          <p:cNvSpPr/>
          <p:nvPr/>
        </p:nvSpPr>
        <p:spPr>
          <a:xfrm>
            <a:off x="561975" y="710559"/>
            <a:ext cx="302102" cy="27622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  <a:endParaRPr lang="en-SG" dirty="0"/>
          </a:p>
        </p:txBody>
      </p:sp>
      <p:sp>
        <p:nvSpPr>
          <p:cNvPr id="5" name="Rectangle 4"/>
          <p:cNvSpPr/>
          <p:nvPr/>
        </p:nvSpPr>
        <p:spPr>
          <a:xfrm>
            <a:off x="457200" y="5833"/>
            <a:ext cx="45416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/>
              <a:t>Sorting</a:t>
            </a:r>
            <a:r>
              <a:rPr lang="en-GB" sz="3200" b="1" dirty="0"/>
              <a:t> Algorithms</a:t>
            </a:r>
            <a:endParaRPr 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5302506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123950"/>
            <a:ext cx="6210300" cy="2609850"/>
          </a:xfrm>
          <a:noFill/>
          <a:ln/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b="1" dirty="0"/>
              <a:t>Question 3a:Insertion Sort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en-US" sz="2000" dirty="0"/>
              <a:t>	Sort the data in ascending order and show the result of each pass by using </a:t>
            </a:r>
            <a:r>
              <a:rPr lang="en-US" sz="2000" b="1" dirty="0"/>
              <a:t>INSERTION Sort</a:t>
            </a:r>
            <a:r>
              <a:rPr lang="en-US" sz="2000" dirty="0"/>
              <a:t>.</a:t>
            </a:r>
          </a:p>
          <a:p>
            <a:pPr lvl="1">
              <a:lnSpc>
                <a:spcPct val="120000"/>
              </a:lnSpc>
              <a:buFont typeface="Wingdings" pitchFamily="2" charset="2"/>
              <a:buNone/>
            </a:pPr>
            <a:r>
              <a:rPr lang="en-US" sz="2000" dirty="0"/>
              <a:t>		 </a:t>
            </a:r>
            <a:r>
              <a:rPr lang="en-US" sz="2000" b="1" dirty="0"/>
              <a:t>37   9  12  18  25   2</a:t>
            </a:r>
            <a:r>
              <a:rPr lang="en-US" sz="2000" dirty="0"/>
              <a:t> </a:t>
            </a:r>
          </a:p>
        </p:txBody>
      </p:sp>
      <p:sp>
        <p:nvSpPr>
          <p:cNvPr id="142339" name="Text Box 3"/>
          <p:cNvSpPr txBox="1">
            <a:spLocks noChangeArrowheads="1"/>
          </p:cNvSpPr>
          <p:nvPr/>
        </p:nvSpPr>
        <p:spPr bwMode="auto">
          <a:xfrm>
            <a:off x="609600" y="3800475"/>
            <a:ext cx="4854727" cy="267765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2400" dirty="0">
                <a:latin typeface="+mj-lt"/>
              </a:rPr>
              <a:t>Unsort: 37   9  12  18  25   2</a:t>
            </a:r>
          </a:p>
          <a:p>
            <a:r>
              <a:rPr lang="en-US" sz="2400" dirty="0">
                <a:latin typeface="+mj-lt"/>
              </a:rPr>
              <a:t>Pass 1:[37]  9  12  18  25   2</a:t>
            </a:r>
          </a:p>
          <a:p>
            <a:r>
              <a:rPr lang="en-US" sz="2400" dirty="0">
                <a:latin typeface="+mj-lt"/>
              </a:rPr>
              <a:t>Pass 2:[ 9  37] 12  18  25   2</a:t>
            </a:r>
          </a:p>
          <a:p>
            <a:r>
              <a:rPr lang="en-US" sz="2400" dirty="0">
                <a:latin typeface="+mj-lt"/>
              </a:rPr>
              <a:t>Pass 3:[ 9  12  37] 18  25   2</a:t>
            </a:r>
          </a:p>
          <a:p>
            <a:r>
              <a:rPr lang="en-US" sz="2400" dirty="0">
                <a:latin typeface="+mj-lt"/>
              </a:rPr>
              <a:t>Pass 4:[ 9  12  18  37] 25   2</a:t>
            </a:r>
          </a:p>
          <a:p>
            <a:r>
              <a:rPr lang="en-US" sz="2400" dirty="0">
                <a:latin typeface="+mj-lt"/>
              </a:rPr>
              <a:t>Pass 5:[ 9  12  18  25  37]  2</a:t>
            </a:r>
          </a:p>
          <a:p>
            <a:r>
              <a:rPr lang="en-US" sz="2400" dirty="0">
                <a:latin typeface="+mj-lt"/>
              </a:rPr>
              <a:t>Pass 6:[ 2   9  12  18  25  37]</a:t>
            </a:r>
          </a:p>
        </p:txBody>
      </p:sp>
      <p:sp>
        <p:nvSpPr>
          <p:cNvPr id="4" name="Rectangle 3"/>
          <p:cNvSpPr/>
          <p:nvPr/>
        </p:nvSpPr>
        <p:spPr>
          <a:xfrm>
            <a:off x="461306" y="529808"/>
            <a:ext cx="29370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3200" b="1" dirty="0"/>
              <a:t>Practical 7B</a:t>
            </a:r>
            <a:endParaRPr 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0334174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ChangeArrowheads="1"/>
          </p:cNvSpPr>
          <p:nvPr/>
        </p:nvSpPr>
        <p:spPr bwMode="auto">
          <a:xfrm>
            <a:off x="453774" y="1138238"/>
            <a:ext cx="5734050" cy="2128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latin typeface="+mn-lt"/>
              </a:rPr>
              <a:t>Question 3b:Insertion Sort</a:t>
            </a:r>
          </a:p>
          <a:p>
            <a:pPr marL="171450" indent="-171450" defTabSz="457200">
              <a:lnSpc>
                <a:spcPct val="120000"/>
              </a:lnSpc>
              <a:spcBef>
                <a:spcPct val="90000"/>
              </a:spcBef>
              <a:buSzPct val="100000"/>
            </a:pPr>
            <a:r>
              <a:rPr lang="en-US" sz="2000" b="0" dirty="0">
                <a:latin typeface="+mn-lt"/>
              </a:rPr>
              <a:t>	Sort the data in ascending order and show the result of each pass by using </a:t>
            </a:r>
            <a:r>
              <a:rPr lang="en-US" sz="2000" dirty="0">
                <a:latin typeface="+mn-lt"/>
              </a:rPr>
              <a:t>INSERTION Sort</a:t>
            </a:r>
            <a:r>
              <a:rPr lang="en-US" sz="2000" b="0" dirty="0">
                <a:latin typeface="+mn-lt"/>
              </a:rPr>
              <a:t>.</a:t>
            </a:r>
          </a:p>
          <a:p>
            <a:pPr lvl="1" indent="-171450" defTabSz="457200">
              <a:lnSpc>
                <a:spcPct val="120000"/>
              </a:lnSpc>
              <a:spcBef>
                <a:spcPct val="50000"/>
              </a:spcBef>
              <a:buSzPct val="100000"/>
              <a:buFont typeface="Wingdings" pitchFamily="2" charset="2"/>
              <a:buNone/>
            </a:pPr>
            <a:r>
              <a:rPr lang="en-US" sz="2000" b="0" dirty="0">
                <a:latin typeface="+mn-lt"/>
              </a:rPr>
              <a:t>		 </a:t>
            </a:r>
            <a:r>
              <a:rPr lang="en-US" sz="2000" dirty="0">
                <a:latin typeface="+mn-lt"/>
              </a:rPr>
              <a:t>28  65  59  23  76  32</a:t>
            </a:r>
            <a:endParaRPr lang="en-US" sz="2000" b="0" dirty="0">
              <a:latin typeface="+mn-lt"/>
            </a:endParaRPr>
          </a:p>
        </p:txBody>
      </p:sp>
      <p:sp>
        <p:nvSpPr>
          <p:cNvPr id="144387" name="Text Box 3"/>
          <p:cNvSpPr txBox="1">
            <a:spLocks noChangeArrowheads="1"/>
          </p:cNvSpPr>
          <p:nvPr/>
        </p:nvSpPr>
        <p:spPr bwMode="auto">
          <a:xfrm>
            <a:off x="609600" y="3817938"/>
            <a:ext cx="5843588" cy="31178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2400" dirty="0">
                <a:latin typeface="Courier New" pitchFamily="49" charset="0"/>
              </a:rPr>
              <a:t>Unsort: 28  65  59  23  76  32</a:t>
            </a:r>
          </a:p>
          <a:p>
            <a:r>
              <a:rPr lang="en-US" sz="2400" dirty="0">
                <a:latin typeface="Courier New" pitchFamily="49" charset="0"/>
              </a:rPr>
              <a:t>Pass 1:[28] 65  59  23  76  32</a:t>
            </a:r>
          </a:p>
          <a:p>
            <a:r>
              <a:rPr lang="en-US" sz="2400" dirty="0">
                <a:latin typeface="Courier New" pitchFamily="49" charset="0"/>
              </a:rPr>
              <a:t>Pass 2:[28  65] 59  23  76  32</a:t>
            </a:r>
          </a:p>
          <a:p>
            <a:r>
              <a:rPr lang="en-US" sz="2400" dirty="0">
                <a:latin typeface="Courier New" pitchFamily="49" charset="0"/>
              </a:rPr>
              <a:t>Pass 3:[28  59  65] 23  76  32</a:t>
            </a:r>
          </a:p>
          <a:p>
            <a:r>
              <a:rPr lang="en-US" sz="2400" dirty="0">
                <a:latin typeface="Courier New" pitchFamily="49" charset="0"/>
              </a:rPr>
              <a:t>Pass 4:[23  28  59  65] 76  32</a:t>
            </a:r>
          </a:p>
          <a:p>
            <a:r>
              <a:rPr lang="en-US" sz="2400" dirty="0">
                <a:latin typeface="Courier New" pitchFamily="49" charset="0"/>
              </a:rPr>
              <a:t>Pass 5:[23  28  59  65  76] 32</a:t>
            </a:r>
          </a:p>
          <a:p>
            <a:r>
              <a:rPr lang="en-US" sz="2400" dirty="0">
                <a:latin typeface="Courier New" pitchFamily="49" charset="0"/>
              </a:rPr>
              <a:t>Pass 6:[23  28  32  59  65  76]</a:t>
            </a:r>
          </a:p>
          <a:p>
            <a:endParaRPr lang="en-US" sz="2400" dirty="0">
              <a:latin typeface="Courier New" pitchFamily="49" charset="0"/>
            </a:endParaRPr>
          </a:p>
          <a:p>
            <a:endParaRPr lang="en-US" sz="2400" dirty="0">
              <a:latin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70931" y="520183"/>
            <a:ext cx="29370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3200" b="1" dirty="0"/>
              <a:t>Practical 7B</a:t>
            </a:r>
            <a:endParaRPr 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725745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34724" y="1104958"/>
            <a:ext cx="5710238" cy="1474788"/>
          </a:xfrm>
        </p:spPr>
        <p:txBody>
          <a:bodyPr/>
          <a:lstStyle/>
          <a:p>
            <a:pPr marL="342900" indent="-342900" algn="just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sz="2000" b="1" dirty="0">
                <a:solidFill>
                  <a:srgbClr val="000000"/>
                </a:solidFill>
                <a:cs typeface="Times New Roman" pitchFamily="18" charset="0"/>
              </a:rPr>
              <a:t>Question 3C: Insertion</a:t>
            </a:r>
            <a:r>
              <a:rPr lang="en-GB" sz="2000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GB" sz="2000" b="1" dirty="0">
                <a:solidFill>
                  <a:srgbClr val="000000"/>
                </a:solidFill>
                <a:cs typeface="Times New Roman" pitchFamily="18" charset="0"/>
              </a:rPr>
              <a:t>Sort</a:t>
            </a:r>
          </a:p>
          <a:p>
            <a:pPr marL="342900" indent="-342900" algn="just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sz="2000" dirty="0">
                <a:solidFill>
                  <a:srgbClr val="000000"/>
                </a:solidFill>
                <a:cs typeface="Times New Roman" pitchFamily="18" charset="0"/>
              </a:rPr>
              <a:t>	Sort the following numbers in ascending order, using </a:t>
            </a:r>
            <a:r>
              <a:rPr lang="en-GB" sz="2000" b="1" dirty="0">
                <a:solidFill>
                  <a:srgbClr val="000000"/>
                </a:solidFill>
                <a:cs typeface="Times New Roman" pitchFamily="18" charset="0"/>
              </a:rPr>
              <a:t>insertion</a:t>
            </a:r>
            <a:r>
              <a:rPr lang="en-GB" sz="2000" dirty="0">
                <a:solidFill>
                  <a:srgbClr val="000000"/>
                </a:solidFill>
                <a:cs typeface="Times New Roman" pitchFamily="18" charset="0"/>
              </a:rPr>
              <a:t> sort. Start your comparison from the left to right.</a:t>
            </a:r>
          </a:p>
          <a:p>
            <a:pPr marL="342900" indent="-342900" algn="just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GB" sz="2000" dirty="0">
              <a:solidFill>
                <a:srgbClr val="000000"/>
              </a:solidFill>
              <a:cs typeface="Times New Roman" pitchFamily="18" charset="0"/>
            </a:endParaRPr>
          </a:p>
        </p:txBody>
      </p:sp>
      <p:graphicFrame>
        <p:nvGraphicFramePr>
          <p:cNvPr id="227454" name="Group 126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42566182"/>
              </p:ext>
            </p:extLst>
          </p:nvPr>
        </p:nvGraphicFramePr>
        <p:xfrm>
          <a:off x="765175" y="2855913"/>
          <a:ext cx="5400675" cy="5781678"/>
        </p:xfrm>
        <a:graphic>
          <a:graphicData uri="http://schemas.openxmlformats.org/drawingml/2006/table">
            <a:tbl>
              <a:tblPr/>
              <a:tblGrid>
                <a:gridCol w="541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81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13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81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13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81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13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263"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6263"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160000"/>
                        </a:lnSpc>
                        <a:spcBef>
                          <a:spcPct val="9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6" name="Oval 125"/>
          <p:cNvSpPr/>
          <p:nvPr/>
        </p:nvSpPr>
        <p:spPr bwMode="auto">
          <a:xfrm>
            <a:off x="642918" y="2828909"/>
            <a:ext cx="714380" cy="642942"/>
          </a:xfrm>
          <a:prstGeom prst="ellipse">
            <a:avLst/>
          </a:prstGeom>
          <a:noFill/>
          <a:ln w="57150"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6556" y="520183"/>
            <a:ext cx="29370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3200" b="1" dirty="0"/>
              <a:t>Practical 7B</a:t>
            </a:r>
            <a:endParaRPr 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37754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76250" y="1333015"/>
            <a:ext cx="5892745" cy="2849372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Question 4</a:t>
            </a:r>
          </a:p>
          <a:p>
            <a:r>
              <a:rPr lang="en-GB" dirty="0"/>
              <a:t>Visit MSDN library website</a:t>
            </a:r>
          </a:p>
          <a:p>
            <a:pPr lvl="1"/>
            <a:r>
              <a:rPr lang="en-GB" dirty="0">
                <a:hlinkClick r:id="rId3"/>
              </a:rPr>
              <a:t>http://msdn.microsoft.com/en-us/library/default.aspx</a:t>
            </a:r>
            <a:endParaRPr lang="en-GB" dirty="0"/>
          </a:p>
          <a:p>
            <a:r>
              <a:rPr lang="en-GB" dirty="0"/>
              <a:t>Search for </a:t>
            </a:r>
            <a:r>
              <a:rPr lang="en-GB" b="1" dirty="0">
                <a:solidFill>
                  <a:srgbClr val="FFC000"/>
                </a:solidFill>
              </a:rPr>
              <a:t>“bubble sorting” </a:t>
            </a:r>
            <a:r>
              <a:rPr lang="en-GB" dirty="0"/>
              <a:t>in MSDN website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4400" y="4261899"/>
            <a:ext cx="4681984" cy="1637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49275" y="282288"/>
            <a:ext cx="29370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b="1" dirty="0"/>
              <a:t>Practical 7B</a:t>
            </a:r>
            <a:endParaRPr 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833061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/>
          <p:cNvSpPr>
            <a:spLocks noGrp="1"/>
          </p:cNvSpPr>
          <p:nvPr>
            <p:ph type="title"/>
          </p:nvPr>
        </p:nvSpPr>
        <p:spPr>
          <a:xfrm>
            <a:off x="549275" y="277082"/>
            <a:ext cx="34933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b="1" dirty="0"/>
              <a:t>Practical 7B</a:t>
            </a:r>
            <a:endParaRPr lang="en-US" sz="32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60"/>
          <a:stretch/>
        </p:blipFill>
        <p:spPr bwMode="auto">
          <a:xfrm>
            <a:off x="620198" y="2393299"/>
            <a:ext cx="5716987" cy="5432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633118" y="1427412"/>
            <a:ext cx="58312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Read the findings and articles to see how you can apply sorting in your application.</a:t>
            </a:r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90636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49275" y="2152651"/>
            <a:ext cx="5829300" cy="2363788"/>
          </a:xfrm>
          <a:noFill/>
          <a:ln/>
        </p:spPr>
        <p:txBody>
          <a:bodyPr/>
          <a:lstStyle/>
          <a:p>
            <a:pPr algn="r"/>
            <a:r>
              <a:rPr lang="en-GB" sz="4400" b="1" dirty="0">
                <a:latin typeface="Times New Roman" pitchFamily="18" charset="0"/>
              </a:rPr>
              <a:t>IT1762</a:t>
            </a:r>
            <a:br>
              <a:rPr lang="en-GB" sz="4400" b="1" dirty="0">
                <a:latin typeface="Times New Roman" pitchFamily="18" charset="0"/>
              </a:rPr>
            </a:br>
            <a:r>
              <a:rPr lang="en-GB" sz="4400" b="1" dirty="0">
                <a:latin typeface="Times New Roman" pitchFamily="18" charset="0"/>
              </a:rPr>
              <a:t>Data Structures and Algorithms</a:t>
            </a:r>
            <a:endParaRPr lang="en-US" sz="4400" b="1" dirty="0">
              <a:latin typeface="Times New Roman" pitchFamily="18" charset="0"/>
            </a:endParaRPr>
          </a:p>
        </p:txBody>
      </p:sp>
      <p:sp>
        <p:nvSpPr>
          <p:cNvPr id="2519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09738" y="5335588"/>
            <a:ext cx="4800600" cy="2336800"/>
          </a:xfrm>
        </p:spPr>
        <p:txBody>
          <a:bodyPr/>
          <a:lstStyle/>
          <a:p>
            <a:r>
              <a:rPr lang="en-GB" sz="2800" dirty="0">
                <a:latin typeface="Verdana" pitchFamily="34" charset="0"/>
              </a:rPr>
              <a:t>End of Topic 7B</a:t>
            </a:r>
          </a:p>
          <a:p>
            <a:r>
              <a:rPr lang="en-GB" sz="2800" b="1" dirty="0">
                <a:solidFill>
                  <a:srgbClr val="FF0000"/>
                </a:solidFill>
                <a:latin typeface="Verdana" pitchFamily="34" charset="0"/>
              </a:rPr>
              <a:t>Advanced Algorithms</a:t>
            </a:r>
          </a:p>
          <a:p>
            <a:r>
              <a:rPr lang="en-GB" b="1" dirty="0">
                <a:solidFill>
                  <a:srgbClr val="FF0000"/>
                </a:solidFill>
                <a:latin typeface="Verdana" pitchFamily="34" charset="0"/>
              </a:rPr>
              <a:t>- Sorting Algorithms</a:t>
            </a:r>
            <a:endParaRPr lang="en-US" sz="2800" b="1" dirty="0">
              <a:solidFill>
                <a:srgbClr val="FF0000"/>
              </a:solidFill>
              <a:latin typeface="Verdana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319329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33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Layers">
  <a:themeElements>
    <a:clrScheme name="Layers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Layers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ayers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5544</TotalTime>
  <Words>1481</Words>
  <Application>Microsoft Office PowerPoint</Application>
  <PresentationFormat>On-screen Show (4:3)</PresentationFormat>
  <Paragraphs>447</Paragraphs>
  <Slides>33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Courier New</vt:lpstr>
      <vt:lpstr>Times New Roman</vt:lpstr>
      <vt:lpstr>Verdana</vt:lpstr>
      <vt:lpstr>Wingdings</vt:lpstr>
      <vt:lpstr>1_Layers</vt:lpstr>
      <vt:lpstr>IT1762 Data Structures &amp; Algorithms</vt:lpstr>
      <vt:lpstr>Instructional Learning 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Practical 7B</vt:lpstr>
      <vt:lpstr>Practical 7B</vt:lpstr>
      <vt:lpstr>IT1762 Data Structures and Algorithms</vt:lpstr>
    </vt:vector>
  </TitlesOfParts>
  <Company>Nanyang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Computing</dc:title>
  <dc:creator>NYP</dc:creator>
  <cp:lastModifiedBy>TAN AI LIAN</cp:lastModifiedBy>
  <cp:revision>385</cp:revision>
  <cp:lastPrinted>2015-11-27T09:48:07Z</cp:lastPrinted>
  <dcterms:created xsi:type="dcterms:W3CDTF">2003-02-28T08:34:47Z</dcterms:created>
  <dcterms:modified xsi:type="dcterms:W3CDTF">2018-09-25T06:12:20Z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AB68C3D3-42E0-4649-A81C-E7CBF6506855</vt:lpwstr>
  </property>
  <property fmtid="{D5CDD505-2E9C-101B-9397-08002B2CF9AE}" pid="3" name="ArticulatePath">
    <vt:lpwstr>IT1762 Topic 7 - Advanced Algorithms</vt:lpwstr>
  </property>
</Properties>
</file>