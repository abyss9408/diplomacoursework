
<file path=[Content_Types].xml><?xml version="1.0" encoding="utf-8"?>
<Types xmlns="http://schemas.openxmlformats.org/package/2006/content-types">
  <Default Extension="tmp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6" r:id="rId1"/>
  </p:sldMasterIdLst>
  <p:notesMasterIdLst>
    <p:notesMasterId r:id="rId25"/>
  </p:notesMasterIdLst>
  <p:handoutMasterIdLst>
    <p:handoutMasterId r:id="rId26"/>
  </p:handoutMasterIdLst>
  <p:sldIdLst>
    <p:sldId id="431" r:id="rId2"/>
    <p:sldId id="451" r:id="rId3"/>
    <p:sldId id="434" r:id="rId4"/>
    <p:sldId id="435" r:id="rId5"/>
    <p:sldId id="433" r:id="rId6"/>
    <p:sldId id="436" r:id="rId7"/>
    <p:sldId id="449" r:id="rId8"/>
    <p:sldId id="450" r:id="rId9"/>
    <p:sldId id="437" r:id="rId10"/>
    <p:sldId id="438" r:id="rId11"/>
    <p:sldId id="444" r:id="rId12"/>
    <p:sldId id="441" r:id="rId13"/>
    <p:sldId id="443" r:id="rId14"/>
    <p:sldId id="455" r:id="rId15"/>
    <p:sldId id="456" r:id="rId16"/>
    <p:sldId id="445" r:id="rId17"/>
    <p:sldId id="448" r:id="rId18"/>
    <p:sldId id="457" r:id="rId19"/>
    <p:sldId id="458" r:id="rId20"/>
    <p:sldId id="460" r:id="rId21"/>
    <p:sldId id="447" r:id="rId22"/>
    <p:sldId id="459" r:id="rId23"/>
    <p:sldId id="454" r:id="rId24"/>
  </p:sldIdLst>
  <p:sldSz cx="6858000" cy="9144000" type="screen4x3"/>
  <p:notesSz cx="10234613" cy="7099300"/>
  <p:custDataLst>
    <p:tags r:id="rId2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CC"/>
    <a:srgbClr val="FFFF00"/>
    <a:srgbClr val="A8C1FE"/>
    <a:srgbClr val="033E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/>
  </p:normalViewPr>
  <p:slideViewPr>
    <p:cSldViewPr>
      <p:cViewPr>
        <p:scale>
          <a:sx n="66" d="100"/>
          <a:sy n="66" d="100"/>
        </p:scale>
        <p:origin x="1208" y="-84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024"/>
    </p:cViewPr>
  </p:sorterViewPr>
  <p:notesViewPr>
    <p:cSldViewPr>
      <p:cViewPr varScale="1">
        <p:scale>
          <a:sx n="80" d="100"/>
          <a:sy n="80" d="100"/>
        </p:scale>
        <p:origin x="-594" y="-78"/>
      </p:cViewPr>
      <p:guideLst>
        <p:guide orient="horz" pos="2236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2.xml"/><Relationship Id="rId2" Type="http://schemas.openxmlformats.org/officeDocument/2006/relationships/slide" Target="slides/slide21.xml"/><Relationship Id="rId1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1594" y="0"/>
            <a:ext cx="4386972" cy="314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b="0" i="1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836048" y="0"/>
            <a:ext cx="4386973" cy="314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b="0" i="1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1594" y="0"/>
            <a:ext cx="4386972" cy="314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836048" y="0"/>
            <a:ext cx="4386973" cy="314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1594" y="6704516"/>
            <a:ext cx="4386972" cy="39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836048" y="6704516"/>
            <a:ext cx="4386973" cy="39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3C9FC386-5732-4B35-9397-09CCCC692C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4734990" y="6750462"/>
            <a:ext cx="764632" cy="255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312" tIns="44450" rIns="87312" bIns="44450">
            <a:spAutoFit/>
          </a:bodyPr>
          <a:lstStyle/>
          <a:p>
            <a:pPr algn="ctr" defTabSz="868363" eaLnBrk="0" hangingPunct="0">
              <a:lnSpc>
                <a:spcPct val="90000"/>
              </a:lnSpc>
              <a:defRPr/>
            </a:pPr>
            <a:r>
              <a:rPr lang="en-US" b="0">
                <a:latin typeface="Arial" charset="0"/>
              </a:rPr>
              <a:t>Page </a:t>
            </a:r>
            <a:fld id="{DC2A0A6C-362C-444E-B74E-EE6EB6757A76}" type="slidenum">
              <a:rPr lang="en-US" b="0">
                <a:latin typeface="Arial" charset="0"/>
              </a:rPr>
              <a:pPr algn="ctr" defTabSz="868363" eaLnBrk="0" hangingPunct="0">
                <a:lnSpc>
                  <a:spcPct val="90000"/>
                </a:lnSpc>
                <a:defRPr/>
              </a:pPr>
              <a:t>‹#›</a:t>
            </a:fld>
            <a:endParaRPr lang="en-US" b="0">
              <a:latin typeface="Arial" charset="0"/>
            </a:endParaRPr>
          </a:p>
        </p:txBody>
      </p:sp>
      <p:sp>
        <p:nvSpPr>
          <p:cNvPr id="33799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121150" y="534988"/>
            <a:ext cx="1992313" cy="26574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64616" y="3376082"/>
            <a:ext cx="7503727" cy="2986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04062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695D22-9319-492D-B69A-F9C455E78FD2}" type="slidenum">
              <a:rPr lang="en-US"/>
              <a:pPr/>
              <a:t>3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2738" y="536575"/>
            <a:ext cx="1990725" cy="2655888"/>
          </a:xfrm>
          <a:ln cap="flat"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092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D50015-01C9-43B1-A57F-A59974CFA56D}" type="slidenum">
              <a:rPr lang="en-US"/>
              <a:pPr/>
              <a:t>11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2738" y="536575"/>
            <a:ext cx="1990725" cy="2655888"/>
          </a:xfrm>
          <a:ln cap="flat"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820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B1456E-BEC1-4428-B8BE-5233F6028154}" type="slidenum">
              <a:rPr lang="en-US"/>
              <a:pPr/>
              <a:t>16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5913" y="544513"/>
            <a:ext cx="1987550" cy="2647950"/>
          </a:xfrm>
          <a:ln cap="flat"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582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300A11-E2A6-4ED8-8967-F13852AF641F}" type="slidenum">
              <a:rPr lang="en-US"/>
              <a:pPr/>
              <a:t>21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4325" y="544513"/>
            <a:ext cx="1987550" cy="264795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783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300A11-E2A6-4ED8-8967-F13852AF641F}" type="slidenum">
              <a:rPr lang="en-US"/>
              <a:pPr/>
              <a:t>22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4325" y="544513"/>
            <a:ext cx="1987550" cy="264795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30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6572250" cy="79248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3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5" y="2352"/>
                <a:ext cx="4817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3" name="Rectangle 13"/>
          <p:cNvSpPr>
            <a:spLocks noChangeArrowheads="1"/>
          </p:cNvSpPr>
          <p:nvPr userDrawn="1"/>
        </p:nvSpPr>
        <p:spPr bwMode="auto">
          <a:xfrm>
            <a:off x="0" y="8636000"/>
            <a:ext cx="3789363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 S2</a:t>
            </a:r>
          </a:p>
        </p:txBody>
      </p:sp>
      <p:sp>
        <p:nvSpPr>
          <p:cNvPr id="14" name="Text Box 14"/>
          <p:cNvSpPr txBox="1">
            <a:spLocks noChangeArrowheads="1"/>
          </p:cNvSpPr>
          <p:nvPr userDrawn="1"/>
        </p:nvSpPr>
        <p:spPr bwMode="auto">
          <a:xfrm>
            <a:off x="1341438" y="468313"/>
            <a:ext cx="28082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GB" sz="1000"/>
              <a:t>IT1762 Data Structures and Algorithms</a:t>
            </a:r>
          </a:p>
        </p:txBody>
      </p:sp>
      <p:sp>
        <p:nvSpPr>
          <p:cNvPr id="15" name="Rectangle 15"/>
          <p:cNvSpPr>
            <a:spLocks noChangeArrowheads="1"/>
          </p:cNvSpPr>
          <p:nvPr userDrawn="1"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>
                <a:latin typeface="Arial" charset="0"/>
              </a:rPr>
              <a:t>page </a:t>
            </a:r>
            <a:fld id="{031DFFDD-9244-442C-BECF-AAF258B5BD95}" type="slidenum">
              <a:rPr lang="en-GB" sz="1000">
                <a:latin typeface="Arial" charset="0"/>
              </a:rPr>
              <a:pPr algn="r">
                <a:defRPr/>
              </a:pPr>
              <a:t>‹#›</a:t>
            </a:fld>
            <a:endParaRPr lang="en-GB" sz="1000">
              <a:latin typeface="Arial" charset="0"/>
            </a:endParaRPr>
          </a:p>
        </p:txBody>
      </p:sp>
      <p:sp>
        <p:nvSpPr>
          <p:cNvPr id="29389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1543050" y="1524000"/>
            <a:ext cx="4972050" cy="2946400"/>
          </a:xfrm>
        </p:spPr>
        <p:txBody>
          <a:bodyPr/>
          <a:lstStyle>
            <a:lvl1pPr>
              <a:defRPr sz="3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93900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028700" y="5283200"/>
            <a:ext cx="5143500" cy="2133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250" y="1619250"/>
            <a:ext cx="2943225" cy="6913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1875" y="1619250"/>
            <a:ext cx="2943225" cy="6913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67300" y="179388"/>
            <a:ext cx="1530350" cy="83534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6250" y="179388"/>
            <a:ext cx="4438650" cy="8353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79388"/>
            <a:ext cx="6048375" cy="790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76250" y="1619250"/>
            <a:ext cx="2943225" cy="6913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1875" y="1619250"/>
            <a:ext cx="2943225" cy="6913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7" name="Rectangle 3"/>
          <p:cNvSpPr>
            <a:spLocks noChangeArrowheads="1"/>
          </p:cNvSpPr>
          <p:nvPr/>
        </p:nvSpPr>
        <p:spPr bwMode="auto">
          <a:xfrm>
            <a:off x="0" y="0"/>
            <a:ext cx="457200" cy="6502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4025" y="1030288"/>
            <a:ext cx="6229350" cy="242887"/>
            <a:chOff x="240" y="893"/>
            <a:chExt cx="5232" cy="115"/>
          </a:xfrm>
        </p:grpSpPr>
        <p:sp>
          <p:nvSpPr>
            <p:cNvPr id="292869" name="Rectangle 5"/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2870" name="Line 6"/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28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549275" y="179388"/>
            <a:ext cx="604837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9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0" y="1619250"/>
            <a:ext cx="6038850" cy="691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92873" name="Line 9"/>
          <p:cNvSpPr>
            <a:spLocks noChangeShapeType="1"/>
          </p:cNvSpPr>
          <p:nvPr/>
        </p:nvSpPr>
        <p:spPr bwMode="auto">
          <a:xfrm>
            <a:off x="0" y="6502400"/>
            <a:ext cx="4572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2874" name="Rectangle 10"/>
          <p:cNvSpPr>
            <a:spLocks noChangeArrowheads="1"/>
          </p:cNvSpPr>
          <p:nvPr userDrawn="1"/>
        </p:nvSpPr>
        <p:spPr bwMode="auto">
          <a:xfrm>
            <a:off x="0" y="8636000"/>
            <a:ext cx="446405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		</a:t>
            </a:r>
          </a:p>
        </p:txBody>
      </p:sp>
      <p:sp>
        <p:nvSpPr>
          <p:cNvPr id="292876" name="Rectangle 12"/>
          <p:cNvSpPr>
            <a:spLocks noChangeArrowheads="1"/>
          </p:cNvSpPr>
          <p:nvPr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>
                <a:latin typeface="Arial" charset="0"/>
              </a:rPr>
              <a:t>page </a:t>
            </a:r>
            <a:fld id="{8CA2E951-249F-4E27-B4E3-5C4572D9A724}" type="slidenum">
              <a:rPr lang="en-GB" sz="1000">
                <a:latin typeface="Arial" charset="0"/>
              </a:rPr>
              <a:pPr algn="r">
                <a:defRPr/>
              </a:pPr>
              <a:t>‹#›</a:t>
            </a:fld>
            <a:endParaRPr lang="en-GB" sz="1000">
              <a:latin typeface="Arial" charset="0"/>
            </a:endParaRPr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49275" y="2511425"/>
            <a:ext cx="5829300" cy="1960563"/>
          </a:xfrm>
          <a:noFill/>
        </p:spPr>
        <p:txBody>
          <a:bodyPr/>
          <a:lstStyle/>
          <a:p>
            <a:pPr algn="r" eaLnBrk="1" hangingPunct="1"/>
            <a:r>
              <a:rPr lang="en-GB" sz="4400" b="0" dirty="0"/>
              <a:t>IT1762</a:t>
            </a:r>
            <a:br>
              <a:rPr lang="en-GB" sz="4400" b="0" dirty="0"/>
            </a:br>
            <a:r>
              <a:rPr lang="en-GB" sz="4400" b="0" dirty="0"/>
              <a:t>Data Structures and Algorithms</a:t>
            </a:r>
            <a:endParaRPr lang="en-US" sz="4400" b="0" dirty="0"/>
          </a:p>
        </p:txBody>
      </p:sp>
      <p:sp>
        <p:nvSpPr>
          <p:cNvPr id="1433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908050" y="4905375"/>
            <a:ext cx="5353050" cy="2857500"/>
          </a:xfrm>
        </p:spPr>
        <p:txBody>
          <a:bodyPr/>
          <a:lstStyle/>
          <a:p>
            <a:pPr eaLnBrk="1" hangingPunct="1"/>
            <a:r>
              <a:rPr lang="en-GB" sz="4000" b="1" dirty="0">
                <a:latin typeface="Times New Roman" pitchFamily="18" charset="0"/>
              </a:rPr>
              <a:t>Topic 5B</a:t>
            </a:r>
          </a:p>
          <a:p>
            <a:pPr eaLnBrk="1" hangingPunct="1"/>
            <a:r>
              <a:rPr lang="en-GB" sz="4000" b="1" dirty="0">
                <a:latin typeface="Times New Roman" pitchFamily="18" charset="0"/>
              </a:rPr>
              <a:t> Types in C#</a:t>
            </a:r>
          </a:p>
          <a:p>
            <a:pPr eaLnBrk="1" hangingPunct="1"/>
            <a:r>
              <a:rPr lang="en-GB" b="1" dirty="0">
                <a:latin typeface="Times New Roman" pitchFamily="18" charset="0"/>
              </a:rPr>
              <a:t>Value Type and Reference Type</a:t>
            </a:r>
            <a:endParaRPr lang="en-US" b="1" dirty="0">
              <a:latin typeface="Times New Roman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Objectives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dirty="0"/>
              <a:t>Understand the difference between Value type and Reference type.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Able to use Reference type variables in methods.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dirty="0"/>
              <a:t>ref parameter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dirty="0"/>
              <a:t>out parameter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Understand the difference between Stack and Heap memory.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4045" y="1142976"/>
            <a:ext cx="5832475" cy="7045325"/>
          </a:xfrm>
        </p:spPr>
        <p:txBody>
          <a:bodyPr lIns="92075" tIns="46038" rIns="92075" bIns="46038"/>
          <a:lstStyle/>
          <a:p>
            <a:pPr marL="449263" indent="-449263" defTabSz="457200" eaLnBrk="1" hangingPunct="1">
              <a:spcBef>
                <a:spcPct val="50000"/>
              </a:spcBef>
            </a:pPr>
            <a:r>
              <a:rPr lang="en-GB" dirty="0"/>
              <a:t>	A variable is a space in the computer's memory set aside for a certain kind of data.</a:t>
            </a:r>
          </a:p>
          <a:p>
            <a:pPr marL="449263" indent="-449263" defTabSz="457200" eaLnBrk="1" hangingPunct="1">
              <a:spcBef>
                <a:spcPct val="50000"/>
              </a:spcBef>
            </a:pPr>
            <a:r>
              <a:rPr lang="en-GB" dirty="0"/>
              <a:t>	It is given a name for easy reference.  </a:t>
            </a:r>
          </a:p>
          <a:p>
            <a:pPr marL="449263" indent="-449263" defTabSz="457200" eaLnBrk="1" hangingPunct="1">
              <a:spcBef>
                <a:spcPct val="50000"/>
              </a:spcBef>
            </a:pPr>
            <a:r>
              <a:rPr lang="en-GB" dirty="0"/>
              <a:t>	By defining a variable, we can use the same space in memory to hold different values at different times. </a:t>
            </a:r>
            <a:br>
              <a:rPr lang="en-GB" dirty="0"/>
            </a:br>
            <a:br>
              <a:rPr lang="en-GB" dirty="0"/>
            </a:br>
            <a:r>
              <a:rPr lang="en-GB" u="sng" dirty="0"/>
              <a:t>Example</a:t>
            </a:r>
          </a:p>
          <a:p>
            <a:pPr marL="971550" lvl="1" indent="-342900" defTabSz="45720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GB" dirty="0" err="1"/>
              <a:t>int</a:t>
            </a:r>
            <a:r>
              <a:rPr lang="en-GB" dirty="0"/>
              <a:t> apples, oranges, cherries;</a:t>
            </a:r>
          </a:p>
          <a:p>
            <a:pPr marL="971550" lvl="1" indent="-342900" defTabSz="45720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GB" dirty="0"/>
              <a:t>apples = 100;</a:t>
            </a:r>
          </a:p>
          <a:p>
            <a:pPr marL="971550" lvl="1" indent="-342900" defTabSz="45720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GB" dirty="0"/>
              <a:t>oranges = apples;</a:t>
            </a:r>
          </a:p>
          <a:p>
            <a:pPr marL="971550" lvl="1" indent="-342900" defTabSz="45720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GB" dirty="0"/>
              <a:t>apples = 55;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604" y="496645"/>
            <a:ext cx="5565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9263" indent="-449263" algn="ctr" defTabSz="457200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GB" sz="3600" dirty="0">
                <a:solidFill>
                  <a:srgbClr val="FF0000"/>
                </a:solidFill>
                <a:latin typeface="+mj-lt"/>
              </a:rPr>
              <a:t>What are Variables ?</a:t>
            </a:r>
          </a:p>
        </p:txBody>
      </p:sp>
      <p:pic>
        <p:nvPicPr>
          <p:cNvPr id="1026" name="Picture 2" descr="C:\Users\tanail\AppData\Local\Microsoft\Windows\Temporary Internet Files\Content.IE5\6KSNL5KG\MC900310896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080" y="7020272"/>
            <a:ext cx="2020738" cy="2042257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idx="1"/>
          </p:nvPr>
        </p:nvSpPr>
        <p:spPr>
          <a:xfrm>
            <a:off x="474682" y="1149373"/>
            <a:ext cx="5811838" cy="6780213"/>
          </a:xfrm>
        </p:spPr>
        <p:txBody>
          <a:bodyPr/>
          <a:lstStyle/>
          <a:p>
            <a:pPr marL="171450" indent="-171450" defTabSz="457200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GB" sz="3200" dirty="0"/>
              <a:t>	</a:t>
            </a:r>
            <a:r>
              <a:rPr lang="en-GB" dirty="0"/>
              <a:t>When we declare a variable we state the </a:t>
            </a:r>
            <a:r>
              <a:rPr lang="en-GB" dirty="0">
                <a:solidFill>
                  <a:srgbClr val="FF0000"/>
                </a:solidFill>
              </a:rPr>
              <a:t>type</a:t>
            </a:r>
            <a:r>
              <a:rPr lang="en-GB" dirty="0"/>
              <a:t> of variable we want and a </a:t>
            </a:r>
            <a:r>
              <a:rPr lang="en-GB" dirty="0">
                <a:solidFill>
                  <a:srgbClr val="FF0000"/>
                </a:solidFill>
              </a:rPr>
              <a:t>name</a:t>
            </a:r>
            <a:r>
              <a:rPr lang="en-GB" dirty="0"/>
              <a:t> which we use to refer to it.</a:t>
            </a:r>
          </a:p>
          <a:p>
            <a:pPr marL="171450" indent="-171450" defTabSz="457200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GB" dirty="0"/>
              <a:t>	The compiler then sets aside an appropriate amount of memory to store that variable. </a:t>
            </a:r>
          </a:p>
          <a:p>
            <a:pPr marL="171450" indent="-171450" defTabSz="457200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GB" sz="3200" dirty="0"/>
              <a:t>	</a:t>
            </a:r>
            <a:r>
              <a:rPr lang="en-GB" u="sng" dirty="0"/>
              <a:t>Example</a:t>
            </a:r>
          </a:p>
          <a:p>
            <a:pPr marL="571500" lvl="1" defTabSz="457200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GB" dirty="0"/>
              <a:t>	</a:t>
            </a:r>
            <a:r>
              <a:rPr lang="en-GB" dirty="0" err="1"/>
              <a:t>int</a:t>
            </a:r>
            <a:r>
              <a:rPr lang="en-GB" dirty="0"/>
              <a:t>  sum = 27</a:t>
            </a:r>
            <a:r>
              <a:rPr lang="en-GB" sz="3200" dirty="0"/>
              <a:t>;</a:t>
            </a:r>
          </a:p>
          <a:p>
            <a:pPr marL="571500" lvl="1" defTabSz="457200" eaLnBrk="1" hangingPunct="1">
              <a:buClr>
                <a:schemeClr val="tx1"/>
              </a:buClr>
              <a:buFont typeface="Wingdings" pitchFamily="2" charset="2"/>
              <a:buChar char="F"/>
            </a:pPr>
            <a:endParaRPr lang="en-GB" sz="3200" dirty="0"/>
          </a:p>
        </p:txBody>
      </p:sp>
      <p:grpSp>
        <p:nvGrpSpPr>
          <p:cNvPr id="17411" name="Group 20"/>
          <p:cNvGrpSpPr>
            <a:grpSpLocks/>
          </p:cNvGrpSpPr>
          <p:nvPr/>
        </p:nvGrpSpPr>
        <p:grpSpPr bwMode="auto">
          <a:xfrm>
            <a:off x="981075" y="5635625"/>
            <a:ext cx="5356225" cy="2686050"/>
            <a:chOff x="618" y="4118"/>
            <a:chExt cx="3374" cy="1833"/>
          </a:xfrm>
        </p:grpSpPr>
        <p:grpSp>
          <p:nvGrpSpPr>
            <p:cNvPr id="17413" name="Group 18"/>
            <p:cNvGrpSpPr>
              <a:grpSpLocks/>
            </p:cNvGrpSpPr>
            <p:nvPr/>
          </p:nvGrpSpPr>
          <p:grpSpPr bwMode="auto">
            <a:xfrm>
              <a:off x="618" y="4118"/>
              <a:ext cx="3374" cy="1833"/>
              <a:chOff x="709" y="3936"/>
              <a:chExt cx="3374" cy="1833"/>
            </a:xfrm>
          </p:grpSpPr>
          <p:sp>
            <p:nvSpPr>
              <p:cNvPr id="17415" name="Text Box 6"/>
              <p:cNvSpPr txBox="1">
                <a:spLocks noChangeArrowheads="1"/>
              </p:cNvSpPr>
              <p:nvPr/>
            </p:nvSpPr>
            <p:spPr bwMode="auto">
              <a:xfrm>
                <a:off x="1253" y="3936"/>
                <a:ext cx="768" cy="32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endParaRPr lang="en-GB" sz="2400" b="0">
                  <a:solidFill>
                    <a:schemeClr val="tx2"/>
                  </a:solidFill>
                  <a:latin typeface="Arial" charset="0"/>
                </a:endParaRPr>
              </a:p>
            </p:txBody>
          </p:sp>
          <p:sp>
            <p:nvSpPr>
              <p:cNvPr id="17416" name="Text Box 9"/>
              <p:cNvSpPr txBox="1">
                <a:spLocks noChangeArrowheads="1"/>
              </p:cNvSpPr>
              <p:nvPr/>
            </p:nvSpPr>
            <p:spPr bwMode="auto">
              <a:xfrm>
                <a:off x="709" y="3936"/>
                <a:ext cx="544" cy="3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 b="0">
                    <a:solidFill>
                      <a:schemeClr val="tx2"/>
                    </a:solidFill>
                    <a:latin typeface="Arial" charset="0"/>
                  </a:rPr>
                  <a:t>1491</a:t>
                </a:r>
              </a:p>
            </p:txBody>
          </p:sp>
          <p:grpSp>
            <p:nvGrpSpPr>
              <p:cNvPr id="17417" name="Group 17"/>
              <p:cNvGrpSpPr>
                <a:grpSpLocks/>
              </p:cNvGrpSpPr>
              <p:nvPr/>
            </p:nvGrpSpPr>
            <p:grpSpPr bwMode="auto">
              <a:xfrm>
                <a:off x="754" y="4209"/>
                <a:ext cx="3329" cy="1560"/>
                <a:chOff x="816" y="3984"/>
                <a:chExt cx="3329" cy="1560"/>
              </a:xfrm>
            </p:grpSpPr>
            <p:sp>
              <p:nvSpPr>
                <p:cNvPr id="17418" name="Text Box 3"/>
                <p:cNvSpPr txBox="1">
                  <a:spLocks noChangeArrowheads="1"/>
                </p:cNvSpPr>
                <p:nvPr/>
              </p:nvSpPr>
              <p:spPr bwMode="auto">
                <a:xfrm>
                  <a:off x="1312" y="3997"/>
                  <a:ext cx="768" cy="69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 sz="2400" b="0">
                      <a:solidFill>
                        <a:schemeClr val="tx2"/>
                      </a:solidFill>
                      <a:latin typeface="Arial" charset="0"/>
                    </a:rPr>
                    <a:t>27</a:t>
                  </a:r>
                </a:p>
                <a:p>
                  <a:pPr algn="ctr" eaLnBrk="0" hangingPunct="0">
                    <a:spcBef>
                      <a:spcPct val="50000"/>
                    </a:spcBef>
                  </a:pPr>
                  <a:endParaRPr lang="en-US" sz="2400" b="0">
                    <a:solidFill>
                      <a:schemeClr val="tx2"/>
                    </a:solidFill>
                    <a:latin typeface="Arial" charset="0"/>
                  </a:endParaRPr>
                </a:p>
              </p:txBody>
            </p:sp>
            <p:sp>
              <p:nvSpPr>
                <p:cNvPr id="17419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816" y="4032"/>
                  <a:ext cx="544" cy="31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2400" b="0">
                      <a:solidFill>
                        <a:schemeClr val="tx2"/>
                      </a:solidFill>
                      <a:latin typeface="Arial" charset="0"/>
                    </a:rPr>
                    <a:t>1492</a:t>
                  </a:r>
                </a:p>
              </p:txBody>
            </p:sp>
            <p:sp>
              <p:nvSpPr>
                <p:cNvPr id="17420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312" y="4656"/>
                  <a:ext cx="768" cy="32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en-GB" sz="2400" b="0">
                    <a:solidFill>
                      <a:schemeClr val="tx2"/>
                    </a:solidFill>
                    <a:latin typeface="Arial" charset="0"/>
                  </a:endParaRPr>
                </a:p>
              </p:txBody>
            </p:sp>
            <p:sp>
              <p:nvSpPr>
                <p:cNvPr id="1742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816" y="4320"/>
                  <a:ext cx="544" cy="31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2400" b="0">
                      <a:solidFill>
                        <a:schemeClr val="tx2"/>
                      </a:solidFill>
                      <a:latin typeface="Arial" charset="0"/>
                    </a:rPr>
                    <a:t>1493</a:t>
                  </a:r>
                </a:p>
              </p:txBody>
            </p:sp>
            <p:sp>
              <p:nvSpPr>
                <p:cNvPr id="17422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816" y="4656"/>
                  <a:ext cx="544" cy="31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2400" b="0">
                      <a:solidFill>
                        <a:schemeClr val="tx2"/>
                      </a:solidFill>
                      <a:latin typeface="Arial" charset="0"/>
                    </a:rPr>
                    <a:t>1494</a:t>
                  </a:r>
                </a:p>
              </p:txBody>
            </p:sp>
            <p:sp>
              <p:nvSpPr>
                <p:cNvPr id="17423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608" y="4849"/>
                  <a:ext cx="1516" cy="31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2400" b="0">
                      <a:solidFill>
                        <a:schemeClr val="tx2"/>
                      </a:solidFill>
                      <a:latin typeface="Arial" charset="0"/>
                    </a:rPr>
                    <a:t>value of variable</a:t>
                  </a:r>
                </a:p>
              </p:txBody>
            </p:sp>
            <p:sp>
              <p:nvSpPr>
                <p:cNvPr id="1742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128" y="3984"/>
                  <a:ext cx="479" cy="31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2400" b="0">
                      <a:solidFill>
                        <a:schemeClr val="tx2"/>
                      </a:solidFill>
                      <a:latin typeface="Arial" charset="0"/>
                    </a:rPr>
                    <a:t>sum</a:t>
                  </a:r>
                </a:p>
              </p:txBody>
            </p:sp>
            <p:sp>
              <p:nvSpPr>
                <p:cNvPr id="17425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608" y="4464"/>
                  <a:ext cx="1537" cy="31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2400" b="0">
                      <a:solidFill>
                        <a:schemeClr val="tx2"/>
                      </a:solidFill>
                      <a:latin typeface="Arial" charset="0"/>
                    </a:rPr>
                    <a:t>name of variable</a:t>
                  </a:r>
                </a:p>
              </p:txBody>
            </p:sp>
            <p:sp>
              <p:nvSpPr>
                <p:cNvPr id="17426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2340" y="5232"/>
                  <a:ext cx="1740" cy="31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2400" b="0">
                      <a:solidFill>
                        <a:schemeClr val="tx2"/>
                      </a:solidFill>
                      <a:latin typeface="Arial" charset="0"/>
                    </a:rPr>
                    <a:t>address of variable</a:t>
                  </a:r>
                </a:p>
              </p:txBody>
            </p:sp>
            <p:sp>
              <p:nvSpPr>
                <p:cNvPr id="17427" name="Line 14"/>
                <p:cNvSpPr>
                  <a:spLocks noChangeShapeType="1"/>
                </p:cNvSpPr>
                <p:nvPr/>
              </p:nvSpPr>
              <p:spPr bwMode="auto">
                <a:xfrm flipH="1" flipV="1">
                  <a:off x="1344" y="4224"/>
                  <a:ext cx="1056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lg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28" name="Line 15"/>
                <p:cNvSpPr>
                  <a:spLocks noChangeShapeType="1"/>
                </p:cNvSpPr>
                <p:nvPr/>
              </p:nvSpPr>
              <p:spPr bwMode="auto">
                <a:xfrm flipH="1" flipV="1">
                  <a:off x="1792" y="4141"/>
                  <a:ext cx="848" cy="85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lg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29" name="Line 16"/>
                <p:cNvSpPr>
                  <a:spLocks noChangeShapeType="1"/>
                </p:cNvSpPr>
                <p:nvPr/>
              </p:nvSpPr>
              <p:spPr bwMode="auto">
                <a:xfrm flipH="1" flipV="1">
                  <a:off x="2352" y="4224"/>
                  <a:ext cx="288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lg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7414" name="Line 19"/>
            <p:cNvSpPr>
              <a:spLocks noChangeShapeType="1"/>
            </p:cNvSpPr>
            <p:nvPr/>
          </p:nvSpPr>
          <p:spPr bwMode="auto">
            <a:xfrm>
              <a:off x="1162" y="4753"/>
              <a:ext cx="77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12" name="Text Box 21"/>
          <p:cNvSpPr txBox="1">
            <a:spLocks noChangeArrowheads="1"/>
          </p:cNvSpPr>
          <p:nvPr/>
        </p:nvSpPr>
        <p:spPr bwMode="auto">
          <a:xfrm>
            <a:off x="428604" y="563538"/>
            <a:ext cx="5184775" cy="5794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3200" dirty="0">
                <a:solidFill>
                  <a:srgbClr val="FF0000"/>
                </a:solidFill>
                <a:latin typeface="+mj-lt"/>
              </a:rPr>
              <a:t>Declaring a Variable</a:t>
            </a:r>
            <a:endParaRPr lang="en-US" sz="3200" dirty="0">
              <a:solidFill>
                <a:srgbClr val="FF0000"/>
              </a:solidFill>
              <a:latin typeface="+mj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2459" y="352401"/>
            <a:ext cx="6048375" cy="790575"/>
          </a:xfrm>
        </p:spPr>
        <p:txBody>
          <a:bodyPr/>
          <a:lstStyle/>
          <a:p>
            <a:pPr eaLnBrk="1" hangingPunct="1"/>
            <a:r>
              <a:rPr lang="en-GB" b="1" dirty="0"/>
              <a:t>Value Type</a:t>
            </a:r>
            <a:endParaRPr lang="en-US" b="1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1158899"/>
            <a:ext cx="6038850" cy="6913563"/>
          </a:xfrm>
        </p:spPr>
        <p:txBody>
          <a:bodyPr/>
          <a:lstStyle/>
          <a:p>
            <a:pPr marL="457200" indent="-457200" eaLnBrk="1" hangingPunct="1">
              <a:spcBef>
                <a:spcPct val="0"/>
              </a:spcBef>
            </a:pPr>
            <a:r>
              <a:rPr lang="en-GB" sz="2400" dirty="0"/>
              <a:t>Variables can be:</a:t>
            </a:r>
          </a:p>
          <a:p>
            <a:pPr marL="914400" lvl="1" indent="-457200" eaLnBrk="1" hangingPunct="1">
              <a:spcBef>
                <a:spcPct val="0"/>
              </a:spcBef>
              <a:buFont typeface="Wingdings" pitchFamily="2" charset="2"/>
              <a:buAutoNum type="arabicPeriod"/>
            </a:pPr>
            <a:r>
              <a:rPr lang="en-GB" sz="2400" dirty="0"/>
              <a:t>Value-type, or</a:t>
            </a:r>
          </a:p>
          <a:p>
            <a:pPr marL="914400" lvl="1" indent="-457200" eaLnBrk="1" hangingPunct="1">
              <a:spcBef>
                <a:spcPct val="0"/>
              </a:spcBef>
              <a:buFont typeface="Wingdings" pitchFamily="2" charset="2"/>
              <a:buAutoNum type="arabicPeriod"/>
            </a:pPr>
            <a:r>
              <a:rPr lang="en-GB" sz="2400" dirty="0"/>
              <a:t>Reference-type</a:t>
            </a:r>
          </a:p>
          <a:p>
            <a:pPr marL="914400" lvl="1" indent="-457200" eaLnBrk="1" hangingPunct="1"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q"/>
            </a:pPr>
            <a:endParaRPr lang="en-GB" sz="2400" dirty="0"/>
          </a:p>
          <a:p>
            <a:pPr marL="457200" indent="-457200" eaLnBrk="1" hangingPunct="1">
              <a:spcBef>
                <a:spcPct val="0"/>
              </a:spcBef>
            </a:pPr>
            <a:r>
              <a:rPr lang="en-GB" sz="2400" b="1" dirty="0">
                <a:solidFill>
                  <a:srgbClr val="FF0000"/>
                </a:solidFill>
                <a:latin typeface="Times New Roman" pitchFamily="18" charset="0"/>
              </a:rPr>
              <a:t>Value-Type Variable</a:t>
            </a:r>
          </a:p>
          <a:p>
            <a:pPr marL="914400" lvl="1" indent="-457200" eaLnBrk="1" hangingPunct="1">
              <a:spcBef>
                <a:spcPct val="0"/>
              </a:spcBef>
            </a:pPr>
            <a:r>
              <a:rPr lang="en-GB" sz="2400" dirty="0"/>
              <a:t>Value-type variable store the data </a:t>
            </a:r>
            <a:r>
              <a:rPr lang="en-GB" sz="2400" b="1" dirty="0"/>
              <a:t>DIRECTLY</a:t>
            </a:r>
            <a:r>
              <a:rPr lang="en-GB" sz="2400" dirty="0"/>
              <a:t> in the variable.</a:t>
            </a:r>
          </a:p>
          <a:p>
            <a:pPr marL="914400" lvl="1" indent="-457200" eaLnBrk="1" hangingPunct="1">
              <a:spcBef>
                <a:spcPct val="0"/>
              </a:spcBef>
            </a:pPr>
            <a:r>
              <a:rPr lang="en-GB" sz="2400" dirty="0"/>
              <a:t>Examples are   </a:t>
            </a:r>
            <a:r>
              <a:rPr lang="en-GB" sz="2400" dirty="0">
                <a:solidFill>
                  <a:srgbClr val="FF0000"/>
                </a:solidFill>
              </a:rPr>
              <a:t>char</a:t>
            </a:r>
            <a:r>
              <a:rPr lang="en-GB" sz="2400" dirty="0"/>
              <a:t>   &amp;   </a:t>
            </a:r>
            <a:r>
              <a:rPr lang="en-GB" sz="2400" dirty="0" err="1">
                <a:solidFill>
                  <a:srgbClr val="FF0000"/>
                </a:solidFill>
              </a:rPr>
              <a:t>int</a:t>
            </a:r>
            <a:r>
              <a:rPr lang="en-GB" sz="2400" dirty="0"/>
              <a:t>   data types.</a:t>
            </a:r>
          </a:p>
          <a:p>
            <a:pPr marL="457200" indent="-457200" eaLnBrk="1" hangingPunct="1">
              <a:spcBef>
                <a:spcPct val="0"/>
              </a:spcBef>
              <a:buClr>
                <a:srgbClr val="033ED3"/>
              </a:buClr>
              <a:buFont typeface="Wingdings" pitchFamily="2" charset="2"/>
              <a:buNone/>
            </a:pPr>
            <a:endParaRPr lang="en-GB" sz="2400" dirty="0"/>
          </a:p>
          <a:p>
            <a:pPr marL="457200" indent="-457200" eaLnBrk="1" hangingPunct="1">
              <a:spcBef>
                <a:spcPct val="0"/>
              </a:spcBef>
              <a:buClr>
                <a:srgbClr val="033ED3"/>
              </a:buClr>
              <a:buFont typeface="Wingdings" pitchFamily="2" charset="2"/>
              <a:buNone/>
            </a:pPr>
            <a:r>
              <a:rPr lang="en-GB" sz="2400" dirty="0"/>
              <a:t>Example:</a:t>
            </a:r>
          </a:p>
          <a:p>
            <a:pPr marL="457200" indent="-457200" eaLnBrk="1" hangingPunct="1">
              <a:spcBef>
                <a:spcPct val="0"/>
              </a:spcBef>
              <a:buClr>
                <a:srgbClr val="033ED3"/>
              </a:buClr>
              <a:buFont typeface="Wingdings" pitchFamily="2" charset="2"/>
              <a:buNone/>
            </a:pPr>
            <a:r>
              <a:rPr lang="en-GB" sz="2400" dirty="0"/>
              <a:t>			</a:t>
            </a:r>
            <a:r>
              <a:rPr lang="en-GB" sz="2400" dirty="0" err="1"/>
              <a:t>int</a:t>
            </a:r>
            <a:r>
              <a:rPr lang="en-GB" sz="2400" dirty="0"/>
              <a:t> age = 42;</a:t>
            </a:r>
          </a:p>
          <a:p>
            <a:pPr marL="914400" lvl="1" indent="-457200" eaLnBrk="1" hangingPunct="1"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q"/>
            </a:pPr>
            <a:endParaRPr lang="en-US" sz="2400" dirty="0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1125538" y="5969000"/>
            <a:ext cx="1008062" cy="796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GB" sz="4000">
                <a:latin typeface="Arial" charset="0"/>
              </a:rPr>
              <a:t>42</a:t>
            </a:r>
            <a:endParaRPr lang="en-US" sz="4000">
              <a:latin typeface="Arial" charset="0"/>
            </a:endParaRP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2636838" y="6156325"/>
            <a:ext cx="3455987" cy="1006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 i="1">
                <a:latin typeface="Arial" charset="0"/>
              </a:rPr>
              <a:t>Here, the value of 42 is stored directly into the variable called age.</a:t>
            </a:r>
            <a:endParaRPr lang="en-US" sz="2000" i="1">
              <a:latin typeface="Arial" charset="0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1412875" y="6899275"/>
            <a:ext cx="86360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>
                <a:latin typeface="Arial" charset="0"/>
              </a:rPr>
              <a:t>age</a:t>
            </a:r>
            <a:endParaRPr lang="en-US" sz="2000">
              <a:latin typeface="Arial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04" y="352401"/>
            <a:ext cx="6048375" cy="790575"/>
          </a:xfrm>
        </p:spPr>
        <p:txBody>
          <a:bodyPr/>
          <a:lstStyle/>
          <a:p>
            <a:pPr eaLnBrk="1" hangingPunct="1"/>
            <a:r>
              <a:rPr lang="en-GB" b="1" dirty="0"/>
              <a:t>Reference Type</a:t>
            </a:r>
            <a:endParaRPr lang="en-US" b="1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8604" y="1098575"/>
            <a:ext cx="6312764" cy="7045325"/>
          </a:xfrm>
        </p:spPr>
        <p:txBody>
          <a:bodyPr/>
          <a:lstStyle/>
          <a:p>
            <a:pPr eaLnBrk="1" hangingPunct="1"/>
            <a:r>
              <a:rPr lang="en-GB" sz="2400" dirty="0"/>
              <a:t>Reference-type variable stores a reference (address of memory) to the data, and </a:t>
            </a:r>
            <a:r>
              <a:rPr lang="en-GB" sz="2400" u="sng" dirty="0"/>
              <a:t>not the data</a:t>
            </a:r>
            <a:r>
              <a:rPr lang="en-GB" sz="2400" dirty="0"/>
              <a:t> itself.  </a:t>
            </a:r>
          </a:p>
          <a:p>
            <a:pPr eaLnBrk="1" hangingPunct="1"/>
            <a:r>
              <a:rPr lang="en-GB" sz="2400" dirty="0"/>
              <a:t>The data is stored in a separate memory area.</a:t>
            </a:r>
          </a:p>
          <a:p>
            <a:pPr eaLnBrk="1" hangingPunct="1"/>
            <a:r>
              <a:rPr lang="en-GB" sz="2400" dirty="0"/>
              <a:t>Examples of </a:t>
            </a:r>
            <a:r>
              <a:rPr lang="en-GB" sz="2400" b="1" dirty="0"/>
              <a:t>reference-types</a:t>
            </a:r>
            <a:r>
              <a:rPr lang="en-GB" sz="2400" dirty="0"/>
              <a:t> include </a:t>
            </a:r>
            <a:r>
              <a:rPr lang="en-GB" sz="2400" b="1" dirty="0"/>
              <a:t>string, array and class</a:t>
            </a:r>
            <a:r>
              <a:rPr lang="en-GB" sz="2400" dirty="0"/>
              <a:t>.</a:t>
            </a:r>
          </a:p>
          <a:p>
            <a:pPr eaLnBrk="1" hangingPunct="1">
              <a:buFont typeface="Wingdings" pitchFamily="2" charset="2"/>
              <a:buNone/>
            </a:pPr>
            <a:endParaRPr lang="en-GB" sz="2400" dirty="0"/>
          </a:p>
          <a:p>
            <a:pPr eaLnBrk="1" hangingPunct="1">
              <a:buFont typeface="Wingdings" pitchFamily="2" charset="2"/>
              <a:buNone/>
            </a:pPr>
            <a:r>
              <a:rPr lang="en-GB" sz="2400" dirty="0"/>
              <a:t>Example: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2400" dirty="0"/>
              <a:t>	string address; </a:t>
            </a:r>
            <a:r>
              <a:rPr lang="en-GB" sz="2400" dirty="0">
                <a:solidFill>
                  <a:srgbClr val="00B050"/>
                </a:solidFill>
              </a:rPr>
              <a:t>// ref type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2400" dirty="0"/>
              <a:t>	address = “11 Kent Rd”; </a:t>
            </a:r>
            <a:r>
              <a:rPr lang="en-GB" sz="2400" dirty="0">
                <a:solidFill>
                  <a:srgbClr val="00B050"/>
                </a:solidFill>
              </a:rPr>
              <a:t>//store address</a:t>
            </a:r>
            <a:endParaRPr lang="en-US" sz="2400" dirty="0">
              <a:solidFill>
                <a:srgbClr val="00B050"/>
              </a:solidFill>
            </a:endParaRPr>
          </a:p>
        </p:txBody>
      </p:sp>
      <p:grpSp>
        <p:nvGrpSpPr>
          <p:cNvPr id="19460" name="Group 67"/>
          <p:cNvGrpSpPr>
            <a:grpSpLocks/>
          </p:cNvGrpSpPr>
          <p:nvPr/>
        </p:nvGrpSpPr>
        <p:grpSpPr bwMode="auto">
          <a:xfrm>
            <a:off x="1052513" y="6072198"/>
            <a:ext cx="5205412" cy="1317625"/>
            <a:chOff x="663" y="3846"/>
            <a:chExt cx="3279" cy="899"/>
          </a:xfrm>
        </p:grpSpPr>
        <p:sp>
          <p:nvSpPr>
            <p:cNvPr id="19463" name="Rectangle 44"/>
            <p:cNvSpPr>
              <a:spLocks noChangeArrowheads="1"/>
            </p:cNvSpPr>
            <p:nvPr/>
          </p:nvSpPr>
          <p:spPr bwMode="auto">
            <a:xfrm>
              <a:off x="3764" y="3892"/>
              <a:ext cx="178" cy="27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d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19464" name="Rectangle 43"/>
            <p:cNvSpPr>
              <a:spLocks noChangeArrowheads="1"/>
            </p:cNvSpPr>
            <p:nvPr/>
          </p:nvSpPr>
          <p:spPr bwMode="auto">
            <a:xfrm>
              <a:off x="3585" y="3892"/>
              <a:ext cx="179" cy="27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R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19465" name="Rectangle 42"/>
            <p:cNvSpPr>
              <a:spLocks noChangeArrowheads="1"/>
            </p:cNvSpPr>
            <p:nvPr/>
          </p:nvSpPr>
          <p:spPr bwMode="auto">
            <a:xfrm>
              <a:off x="3407" y="3892"/>
              <a:ext cx="178" cy="27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en-US" sz="2000" b="0">
                <a:latin typeface="Arial" charset="0"/>
              </a:endParaRPr>
            </a:p>
          </p:txBody>
        </p:sp>
        <p:sp>
          <p:nvSpPr>
            <p:cNvPr id="19466" name="Rectangle 41"/>
            <p:cNvSpPr>
              <a:spLocks noChangeArrowheads="1"/>
            </p:cNvSpPr>
            <p:nvPr/>
          </p:nvSpPr>
          <p:spPr bwMode="auto">
            <a:xfrm>
              <a:off x="3229" y="3892"/>
              <a:ext cx="178" cy="27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t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19467" name="Rectangle 40"/>
            <p:cNvSpPr>
              <a:spLocks noChangeArrowheads="1"/>
            </p:cNvSpPr>
            <p:nvPr/>
          </p:nvSpPr>
          <p:spPr bwMode="auto">
            <a:xfrm>
              <a:off x="3051" y="3892"/>
              <a:ext cx="178" cy="27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n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19468" name="Rectangle 39"/>
            <p:cNvSpPr>
              <a:spLocks noChangeArrowheads="1"/>
            </p:cNvSpPr>
            <p:nvPr/>
          </p:nvSpPr>
          <p:spPr bwMode="auto">
            <a:xfrm>
              <a:off x="2872" y="3892"/>
              <a:ext cx="179" cy="27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e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19469" name="Rectangle 38"/>
            <p:cNvSpPr>
              <a:spLocks noChangeArrowheads="1"/>
            </p:cNvSpPr>
            <p:nvPr/>
          </p:nvSpPr>
          <p:spPr bwMode="auto">
            <a:xfrm>
              <a:off x="2694" y="3892"/>
              <a:ext cx="178" cy="27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K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19470" name="Rectangle 37"/>
            <p:cNvSpPr>
              <a:spLocks noChangeArrowheads="1"/>
            </p:cNvSpPr>
            <p:nvPr/>
          </p:nvSpPr>
          <p:spPr bwMode="auto">
            <a:xfrm>
              <a:off x="2516" y="3892"/>
              <a:ext cx="178" cy="27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en-US" sz="2000" b="0">
                <a:latin typeface="Arial" charset="0"/>
              </a:endParaRPr>
            </a:p>
          </p:txBody>
        </p:sp>
        <p:sp>
          <p:nvSpPr>
            <p:cNvPr id="19471" name="Rectangle 36"/>
            <p:cNvSpPr>
              <a:spLocks noChangeArrowheads="1"/>
            </p:cNvSpPr>
            <p:nvPr/>
          </p:nvSpPr>
          <p:spPr bwMode="auto">
            <a:xfrm>
              <a:off x="2337" y="3892"/>
              <a:ext cx="179" cy="27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1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19472" name="Rectangle 35"/>
            <p:cNvSpPr>
              <a:spLocks noChangeArrowheads="1"/>
            </p:cNvSpPr>
            <p:nvPr/>
          </p:nvSpPr>
          <p:spPr bwMode="auto">
            <a:xfrm>
              <a:off x="2159" y="3892"/>
              <a:ext cx="178" cy="27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1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19473" name="Line 45"/>
            <p:cNvSpPr>
              <a:spLocks noChangeShapeType="1"/>
            </p:cNvSpPr>
            <p:nvPr/>
          </p:nvSpPr>
          <p:spPr bwMode="auto">
            <a:xfrm>
              <a:off x="2159" y="3892"/>
              <a:ext cx="178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4" name="Line 46"/>
            <p:cNvSpPr>
              <a:spLocks noChangeShapeType="1"/>
            </p:cNvSpPr>
            <p:nvPr/>
          </p:nvSpPr>
          <p:spPr bwMode="auto">
            <a:xfrm>
              <a:off x="2159" y="4164"/>
              <a:ext cx="178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5" name="Line 47"/>
            <p:cNvSpPr>
              <a:spLocks noChangeShapeType="1"/>
            </p:cNvSpPr>
            <p:nvPr/>
          </p:nvSpPr>
          <p:spPr bwMode="auto">
            <a:xfrm>
              <a:off x="2159" y="3892"/>
              <a:ext cx="0" cy="27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Line 48"/>
            <p:cNvSpPr>
              <a:spLocks noChangeShapeType="1"/>
            </p:cNvSpPr>
            <p:nvPr/>
          </p:nvSpPr>
          <p:spPr bwMode="auto">
            <a:xfrm>
              <a:off x="2337" y="3892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Line 49"/>
            <p:cNvSpPr>
              <a:spLocks noChangeShapeType="1"/>
            </p:cNvSpPr>
            <p:nvPr/>
          </p:nvSpPr>
          <p:spPr bwMode="auto">
            <a:xfrm>
              <a:off x="2516" y="3892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Line 50"/>
            <p:cNvSpPr>
              <a:spLocks noChangeShapeType="1"/>
            </p:cNvSpPr>
            <p:nvPr/>
          </p:nvSpPr>
          <p:spPr bwMode="auto">
            <a:xfrm>
              <a:off x="2694" y="3892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9" name="Line 51"/>
            <p:cNvSpPr>
              <a:spLocks noChangeShapeType="1"/>
            </p:cNvSpPr>
            <p:nvPr/>
          </p:nvSpPr>
          <p:spPr bwMode="auto">
            <a:xfrm>
              <a:off x="2872" y="3892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0" name="Line 52"/>
            <p:cNvSpPr>
              <a:spLocks noChangeShapeType="1"/>
            </p:cNvSpPr>
            <p:nvPr/>
          </p:nvSpPr>
          <p:spPr bwMode="auto">
            <a:xfrm>
              <a:off x="3051" y="3892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Line 53"/>
            <p:cNvSpPr>
              <a:spLocks noChangeShapeType="1"/>
            </p:cNvSpPr>
            <p:nvPr/>
          </p:nvSpPr>
          <p:spPr bwMode="auto">
            <a:xfrm>
              <a:off x="3229" y="3892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Line 54"/>
            <p:cNvSpPr>
              <a:spLocks noChangeShapeType="1"/>
            </p:cNvSpPr>
            <p:nvPr/>
          </p:nvSpPr>
          <p:spPr bwMode="auto">
            <a:xfrm>
              <a:off x="3407" y="3892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3" name="Line 55"/>
            <p:cNvSpPr>
              <a:spLocks noChangeShapeType="1"/>
            </p:cNvSpPr>
            <p:nvPr/>
          </p:nvSpPr>
          <p:spPr bwMode="auto">
            <a:xfrm>
              <a:off x="3585" y="3892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4" name="Line 56"/>
            <p:cNvSpPr>
              <a:spLocks noChangeShapeType="1"/>
            </p:cNvSpPr>
            <p:nvPr/>
          </p:nvSpPr>
          <p:spPr bwMode="auto">
            <a:xfrm>
              <a:off x="3764" y="3892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5" name="Line 57"/>
            <p:cNvSpPr>
              <a:spLocks noChangeShapeType="1"/>
            </p:cNvSpPr>
            <p:nvPr/>
          </p:nvSpPr>
          <p:spPr bwMode="auto">
            <a:xfrm>
              <a:off x="3942" y="3892"/>
              <a:ext cx="0" cy="27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6" name="Text Box 61"/>
            <p:cNvSpPr txBox="1">
              <a:spLocks noChangeArrowheads="1"/>
            </p:cNvSpPr>
            <p:nvPr/>
          </p:nvSpPr>
          <p:spPr bwMode="auto">
            <a:xfrm>
              <a:off x="2069" y="4572"/>
              <a:ext cx="408" cy="17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>
                  <a:latin typeface="Arial" charset="0"/>
                </a:rPr>
                <a:t>1063</a:t>
              </a:r>
              <a:endParaRPr lang="en-US">
                <a:latin typeface="Arial" charset="0"/>
              </a:endParaRPr>
            </a:p>
          </p:txBody>
        </p:sp>
        <p:sp>
          <p:nvSpPr>
            <p:cNvPr id="19487" name="Line 62"/>
            <p:cNvSpPr>
              <a:spLocks noChangeShapeType="1"/>
            </p:cNvSpPr>
            <p:nvPr/>
          </p:nvSpPr>
          <p:spPr bwMode="auto">
            <a:xfrm flipV="1">
              <a:off x="2205" y="4164"/>
              <a:ext cx="0" cy="40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8" name="Rectangle 64"/>
            <p:cNvSpPr>
              <a:spLocks noChangeArrowheads="1"/>
            </p:cNvSpPr>
            <p:nvPr/>
          </p:nvSpPr>
          <p:spPr bwMode="auto">
            <a:xfrm>
              <a:off x="663" y="3846"/>
              <a:ext cx="453" cy="2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Arial" charset="0"/>
                </a:rPr>
                <a:t>1063</a:t>
              </a:r>
              <a:endParaRPr lang="en-US">
                <a:latin typeface="Arial" charset="0"/>
              </a:endParaRPr>
            </a:p>
          </p:txBody>
        </p:sp>
        <p:sp>
          <p:nvSpPr>
            <p:cNvPr id="19489" name="Line 65"/>
            <p:cNvSpPr>
              <a:spLocks noChangeShapeType="1"/>
            </p:cNvSpPr>
            <p:nvPr/>
          </p:nvSpPr>
          <p:spPr bwMode="auto">
            <a:xfrm>
              <a:off x="1025" y="4028"/>
              <a:ext cx="118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61" name="Text Box 68"/>
          <p:cNvSpPr txBox="1">
            <a:spLocks noChangeArrowheads="1"/>
          </p:cNvSpPr>
          <p:nvPr/>
        </p:nvSpPr>
        <p:spPr bwMode="auto">
          <a:xfrm>
            <a:off x="908050" y="6737361"/>
            <a:ext cx="1081088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 dirty="0">
                <a:solidFill>
                  <a:srgbClr val="FF0000"/>
                </a:solidFill>
              </a:rPr>
              <a:t>address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9462" name="Text Box 69"/>
          <p:cNvSpPr txBox="1">
            <a:spLocks noChangeArrowheads="1"/>
          </p:cNvSpPr>
          <p:nvPr/>
        </p:nvSpPr>
        <p:spPr bwMode="auto">
          <a:xfrm>
            <a:off x="906464" y="7442226"/>
            <a:ext cx="2808288" cy="9159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b="0" i="1" dirty="0"/>
              <a:t>address stores the address 1063 which reference the first location of the string – index 0.</a:t>
            </a:r>
            <a:endParaRPr lang="en-US" sz="1800" b="0" i="1" dirty="0"/>
          </a:p>
        </p:txBody>
      </p:sp>
      <p:pic>
        <p:nvPicPr>
          <p:cNvPr id="1026" name="Picture 2" descr="C:\Users\tanail\AppData\Local\Microsoft\Windows\Temporary Internet Files\Content.IE5\WOH74YVD\MC900389788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207" y="6837271"/>
            <a:ext cx="1340781" cy="1811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2459" y="179388"/>
            <a:ext cx="6048375" cy="790575"/>
          </a:xfrm>
        </p:spPr>
        <p:txBody>
          <a:bodyPr/>
          <a:lstStyle/>
          <a:p>
            <a:pPr eaLnBrk="1" hangingPunct="1"/>
            <a:r>
              <a:rPr lang="en-GB" sz="2000" b="1" dirty="0"/>
              <a:t>Computer </a:t>
            </a:r>
            <a:br>
              <a:rPr lang="en-GB" sz="2800" b="1" dirty="0"/>
            </a:br>
            <a:r>
              <a:rPr lang="en-GB" sz="2800" b="1" dirty="0"/>
              <a:t>Memory Management</a:t>
            </a:r>
            <a:endParaRPr lang="en-US" sz="2800" b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1142976"/>
            <a:ext cx="6038850" cy="6913563"/>
          </a:xfrm>
        </p:spPr>
        <p:txBody>
          <a:bodyPr/>
          <a:lstStyle/>
          <a:p>
            <a:pPr marL="457200" indent="-457200" eaLnBrk="1" hangingPunct="1"/>
            <a:r>
              <a:rPr lang="en-GB" sz="2400" dirty="0"/>
              <a:t>The computer uses 2 memory areas to handle data:</a:t>
            </a:r>
          </a:p>
          <a:p>
            <a:pPr marL="914400" lvl="1" indent="-457200" eaLnBrk="1" hangingPunct="1">
              <a:buFont typeface="Wingdings" pitchFamily="2" charset="2"/>
              <a:buAutoNum type="arabicPeriod"/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FF0000"/>
                </a:solidFill>
              </a:rPr>
              <a:t>STACK</a:t>
            </a:r>
          </a:p>
          <a:p>
            <a:pPr marL="914400" lvl="1" indent="-457200" eaLnBrk="1" hangingPunct="1">
              <a:buFont typeface="Wingdings" pitchFamily="2" charset="2"/>
              <a:buAutoNum type="arabicPeriod"/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FF0000"/>
                </a:solidFill>
              </a:rPr>
              <a:t>HEAP</a:t>
            </a:r>
          </a:p>
          <a:p>
            <a:pPr marL="457200" indent="-457200" eaLnBrk="1" hangingPunct="1">
              <a:buFont typeface="Wingdings" pitchFamily="2" charset="2"/>
              <a:buChar char="Ø"/>
            </a:pPr>
            <a:endParaRPr lang="en-GB" sz="2400" dirty="0"/>
          </a:p>
          <a:p>
            <a:pPr marL="457200" indent="-457200" eaLnBrk="1" hangingPunct="1">
              <a:buFont typeface="Wingdings" pitchFamily="2" charset="2"/>
              <a:buChar char="Ø"/>
            </a:pPr>
            <a:r>
              <a:rPr lang="en-GB" sz="2400" dirty="0"/>
              <a:t>Value-type variables are stored in a memory area known as the </a:t>
            </a:r>
            <a:r>
              <a:rPr lang="en-GB" sz="2400" dirty="0">
                <a:solidFill>
                  <a:srgbClr val="FF0000"/>
                </a:solidFill>
              </a:rPr>
              <a:t>STACK</a:t>
            </a:r>
            <a:r>
              <a:rPr lang="en-GB" sz="2400" dirty="0"/>
              <a:t>.</a:t>
            </a:r>
          </a:p>
          <a:p>
            <a:pPr marL="457200" indent="-457200" eaLnBrk="1" hangingPunct="1">
              <a:buFont typeface="Wingdings" pitchFamily="2" charset="2"/>
              <a:buChar char="Ø"/>
            </a:pPr>
            <a:r>
              <a:rPr lang="en-GB" sz="2400" dirty="0"/>
              <a:t>Examples of value-type variables include </a:t>
            </a:r>
            <a:r>
              <a:rPr lang="en-GB" sz="2400" dirty="0" err="1"/>
              <a:t>int</a:t>
            </a:r>
            <a:r>
              <a:rPr lang="en-GB" sz="2400" dirty="0"/>
              <a:t>, float, double, char.</a:t>
            </a:r>
          </a:p>
          <a:p>
            <a:pPr marL="457200" indent="-457200" eaLnBrk="1" hangingPunct="1">
              <a:buFont typeface="Wingdings" pitchFamily="2" charset="2"/>
              <a:buChar char="Ø"/>
            </a:pPr>
            <a:endParaRPr lang="en-GB" sz="2400" dirty="0"/>
          </a:p>
          <a:p>
            <a:pPr marL="457200" indent="-457200" eaLnBrk="1" hangingPunct="1">
              <a:buFont typeface="Wingdings" pitchFamily="2" charset="2"/>
              <a:buChar char="Ø"/>
            </a:pPr>
            <a:r>
              <a:rPr lang="en-GB" sz="2400" dirty="0"/>
              <a:t>Objects and strings are declared using reference types.</a:t>
            </a:r>
          </a:p>
          <a:p>
            <a:pPr marL="457200" indent="-457200" eaLnBrk="1" hangingPunct="1">
              <a:buFont typeface="Wingdings" pitchFamily="2" charset="2"/>
              <a:buChar char="Ø"/>
            </a:pPr>
            <a:r>
              <a:rPr lang="en-GB" sz="2400" dirty="0"/>
              <a:t>Reference-types are stored in a memory area known as the </a:t>
            </a:r>
            <a:r>
              <a:rPr lang="en-GB" sz="2400" dirty="0">
                <a:solidFill>
                  <a:srgbClr val="FF0000"/>
                </a:solidFill>
              </a:rPr>
              <a:t>HEAP</a:t>
            </a:r>
            <a:r>
              <a:rPr lang="en-GB" sz="2400" dirty="0"/>
              <a:t>.</a:t>
            </a:r>
            <a:endParaRPr lang="en-US" sz="2400" dirty="0"/>
          </a:p>
        </p:txBody>
      </p:sp>
      <p:pic>
        <p:nvPicPr>
          <p:cNvPr id="2050" name="Picture 2" descr="C:\Users\tanail\AppData\Local\Microsoft\Windows\Temporary Internet Files\Content.IE5\IUCJNDU7\MC900058917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144" y="7020272"/>
            <a:ext cx="1852574" cy="1726387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04" y="357158"/>
            <a:ext cx="5657869" cy="696943"/>
          </a:xfrm>
        </p:spPr>
        <p:txBody>
          <a:bodyPr/>
          <a:lstStyle/>
          <a:p>
            <a:pPr eaLnBrk="1" hangingPunct="1"/>
            <a:r>
              <a:rPr lang="en-GB" sz="2800" dirty="0"/>
              <a:t>Computer Memory Management</a:t>
            </a:r>
            <a:endParaRPr lang="en-US" sz="2800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765175" y="1247775"/>
            <a:ext cx="5811838" cy="5395927"/>
          </a:xfrm>
        </p:spPr>
        <p:txBody>
          <a:bodyPr/>
          <a:lstStyle/>
          <a:p>
            <a:pPr marL="365125" indent="-365125" eaLnBrk="1" hangingPunct="1"/>
            <a:r>
              <a:rPr lang="en-GB" sz="2000" dirty="0"/>
              <a:t>Variables, objects, and strings are removed from computer memory (</a:t>
            </a:r>
            <a:r>
              <a:rPr lang="en-GB" sz="2000" dirty="0" err="1"/>
              <a:t>ie</a:t>
            </a:r>
            <a:r>
              <a:rPr lang="en-GB" sz="2000" dirty="0"/>
              <a:t>. destroyed) by a process known as </a:t>
            </a:r>
            <a:r>
              <a:rPr lang="en-GB" sz="2000" b="1" dirty="0"/>
              <a:t>GARBAGE COLLECTION</a:t>
            </a:r>
            <a:r>
              <a:rPr lang="en-GB" sz="2000" dirty="0"/>
              <a:t>.</a:t>
            </a:r>
          </a:p>
          <a:p>
            <a:pPr marL="365125" indent="-365125" eaLnBrk="1" hangingPunct="1"/>
            <a:r>
              <a:rPr lang="en-GB" sz="2000" dirty="0"/>
              <a:t>Garbage collector – object that does the garbage collection automatically.</a:t>
            </a:r>
          </a:p>
          <a:p>
            <a:pPr marL="365125" indent="-365125" eaLnBrk="1" hangingPunct="1"/>
            <a:r>
              <a:rPr lang="en-GB" sz="2000" dirty="0"/>
              <a:t>Value-type variable – destroyed when it goes out of scope.</a:t>
            </a:r>
          </a:p>
          <a:p>
            <a:pPr marL="365125" indent="-365125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GB" sz="2000" dirty="0"/>
          </a:p>
          <a:p>
            <a:pPr marL="365125" indent="-365125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GB" sz="2000" b="1" dirty="0"/>
              <a:t>Example:</a:t>
            </a:r>
          </a:p>
          <a:p>
            <a:pPr marL="365125" indent="-365125" eaLnBrk="1" hangingPunct="1">
              <a:spcBef>
                <a:spcPct val="30000"/>
              </a:spcBef>
              <a:buClr>
                <a:srgbClr val="033ED3"/>
              </a:buClr>
              <a:buFont typeface="Wingdings" pitchFamily="2" charset="2"/>
              <a:buChar char="ü"/>
            </a:pPr>
            <a:r>
              <a:rPr lang="en-GB" sz="2000" dirty="0"/>
              <a:t>A local variable is declared by a method: when the method is called, the local variable is pushed onto the </a:t>
            </a:r>
            <a:r>
              <a:rPr lang="en-GB" sz="2000" b="1" dirty="0">
                <a:solidFill>
                  <a:srgbClr val="FF0000"/>
                </a:solidFill>
              </a:rPr>
              <a:t>STACK</a:t>
            </a:r>
            <a:r>
              <a:rPr lang="en-GB" sz="2000" dirty="0"/>
              <a:t>.</a:t>
            </a:r>
          </a:p>
          <a:p>
            <a:pPr marL="365125" indent="-365125" eaLnBrk="1" hangingPunct="1">
              <a:spcBef>
                <a:spcPct val="30000"/>
              </a:spcBef>
              <a:buClr>
                <a:srgbClr val="033ED3"/>
              </a:buClr>
              <a:buFont typeface="Wingdings" pitchFamily="2" charset="2"/>
              <a:buChar char="ü"/>
            </a:pPr>
            <a:r>
              <a:rPr lang="en-GB" sz="2000" dirty="0"/>
              <a:t>When the </a:t>
            </a:r>
            <a:r>
              <a:rPr lang="en-GB" sz="2000" u="sng" dirty="0"/>
              <a:t>method ends</a:t>
            </a:r>
            <a:r>
              <a:rPr lang="en-GB" sz="2000" dirty="0"/>
              <a:t>, the local variable </a:t>
            </a:r>
            <a:r>
              <a:rPr lang="en-GB" sz="2000" u="sng" dirty="0"/>
              <a:t>goes out of scope</a:t>
            </a:r>
            <a:r>
              <a:rPr lang="en-GB" sz="2000" dirty="0"/>
              <a:t> &amp; scheduled for destruction.</a:t>
            </a:r>
          </a:p>
          <a:p>
            <a:pPr marL="365125" indent="-365125" eaLnBrk="1" hangingPunct="1">
              <a:spcBef>
                <a:spcPct val="30000"/>
              </a:spcBef>
              <a:buClr>
                <a:srgbClr val="033ED3"/>
              </a:buClr>
              <a:buFont typeface="Wingdings" pitchFamily="2" charset="2"/>
              <a:buChar char="ü"/>
            </a:pPr>
            <a:r>
              <a:rPr lang="en-GB" sz="2000" dirty="0"/>
              <a:t>When variable is destroyed, it is popped off or removed from the Stack.</a:t>
            </a:r>
          </a:p>
          <a:p>
            <a:pPr marL="365125" indent="-365125" eaLnBrk="1" hangingPunct="1">
              <a:lnSpc>
                <a:spcPct val="80000"/>
              </a:lnSpc>
              <a:spcBef>
                <a:spcPct val="0"/>
              </a:spcBef>
              <a:buClr>
                <a:srgbClr val="033ED3"/>
              </a:buClr>
              <a:buFont typeface="Wingdings" pitchFamily="2" charset="2"/>
              <a:buNone/>
            </a:pPr>
            <a:endParaRPr lang="en-GB" sz="2000" dirty="0"/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595335" y="7931178"/>
            <a:ext cx="6119813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GB" sz="1800" i="1" dirty="0">
                <a:solidFill>
                  <a:srgbClr val="033ED3"/>
                </a:solidFill>
              </a:rPr>
              <a:t>// when the method </a:t>
            </a:r>
            <a:r>
              <a:rPr lang="en-GB" sz="1800" i="1" dirty="0" err="1">
                <a:solidFill>
                  <a:srgbClr val="033ED3"/>
                </a:solidFill>
              </a:rPr>
              <a:t>AddItem</a:t>
            </a:r>
            <a:r>
              <a:rPr lang="en-GB" sz="1800" i="1" dirty="0">
                <a:solidFill>
                  <a:srgbClr val="033ED3"/>
                </a:solidFill>
              </a:rPr>
              <a:t>() ends, the (stack) memory holding </a:t>
            </a:r>
          </a:p>
          <a:p>
            <a:r>
              <a:rPr lang="en-GB" sz="1800" i="1" dirty="0">
                <a:solidFill>
                  <a:srgbClr val="033ED3"/>
                </a:solidFill>
              </a:rPr>
              <a:t>// the variable sum is freed up.</a:t>
            </a:r>
            <a:endParaRPr lang="en-US" sz="1800" dirty="0"/>
          </a:p>
        </p:txBody>
      </p:sp>
      <p:sp>
        <p:nvSpPr>
          <p:cNvPr id="6" name="Rectangle 5"/>
          <p:cNvSpPr/>
          <p:nvPr/>
        </p:nvSpPr>
        <p:spPr>
          <a:xfrm>
            <a:off x="1214422" y="6593667"/>
            <a:ext cx="50720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125" indent="-365125">
              <a:lnSpc>
                <a:spcPct val="80000"/>
              </a:lnSpc>
              <a:buClr>
                <a:srgbClr val="033ED3"/>
              </a:buClr>
            </a:pPr>
            <a:r>
              <a:rPr lang="en-GB" sz="1600" dirty="0">
                <a:latin typeface="Comic Sans MS" pitchFamily="66" charset="0"/>
              </a:rPr>
              <a:t>private void </a:t>
            </a:r>
            <a:r>
              <a:rPr lang="en-GB" sz="1600" dirty="0" err="1">
                <a:latin typeface="Comic Sans MS" pitchFamily="66" charset="0"/>
              </a:rPr>
              <a:t>AddItem</a:t>
            </a:r>
            <a:r>
              <a:rPr lang="en-GB" sz="1600" dirty="0">
                <a:latin typeface="Comic Sans MS" pitchFamily="66" charset="0"/>
              </a:rPr>
              <a:t>()</a:t>
            </a:r>
          </a:p>
          <a:p>
            <a:pPr marL="365125" indent="-365125">
              <a:lnSpc>
                <a:spcPct val="80000"/>
              </a:lnSpc>
              <a:buClr>
                <a:srgbClr val="033ED3"/>
              </a:buClr>
            </a:pPr>
            <a:r>
              <a:rPr lang="en-GB" sz="1600" dirty="0">
                <a:latin typeface="Comic Sans MS" pitchFamily="66" charset="0"/>
              </a:rPr>
              <a:t>{</a:t>
            </a:r>
          </a:p>
          <a:p>
            <a:pPr marL="365125" indent="-365125">
              <a:lnSpc>
                <a:spcPct val="80000"/>
              </a:lnSpc>
              <a:buClr>
                <a:srgbClr val="033ED3"/>
              </a:buClr>
            </a:pPr>
            <a:r>
              <a:rPr lang="en-GB" sz="1600" dirty="0">
                <a:latin typeface="Comic Sans MS" pitchFamily="66" charset="0"/>
              </a:rPr>
              <a:t>	</a:t>
            </a:r>
            <a:r>
              <a:rPr lang="en-GB" sz="1600" dirty="0" err="1">
                <a:latin typeface="Comic Sans MS" pitchFamily="66" charset="0"/>
              </a:rPr>
              <a:t>int</a:t>
            </a:r>
            <a:r>
              <a:rPr lang="en-GB" sz="1600" dirty="0">
                <a:latin typeface="Comic Sans MS" pitchFamily="66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mic Sans MS" pitchFamily="66" charset="0"/>
              </a:rPr>
              <a:t>sum</a:t>
            </a:r>
            <a:r>
              <a:rPr lang="en-GB" sz="1600" dirty="0">
                <a:latin typeface="Comic Sans MS" pitchFamily="66" charset="0"/>
              </a:rPr>
              <a:t> = 3 + 4;</a:t>
            </a:r>
            <a:r>
              <a:rPr lang="en-GB" sz="1600" i="1" dirty="0">
                <a:latin typeface="Comic Sans MS" pitchFamily="66" charset="0"/>
              </a:rPr>
              <a:t>// sum is a local variable</a:t>
            </a:r>
          </a:p>
          <a:p>
            <a:pPr marL="365125" indent="-365125">
              <a:lnSpc>
                <a:spcPct val="80000"/>
              </a:lnSpc>
              <a:buClr>
                <a:srgbClr val="033ED3"/>
              </a:buClr>
            </a:pPr>
            <a:r>
              <a:rPr lang="en-GB" sz="1600" dirty="0">
                <a:latin typeface="Comic Sans MS" pitchFamily="66" charset="0"/>
              </a:rPr>
              <a:t>	</a:t>
            </a:r>
            <a:r>
              <a:rPr lang="en-GB" sz="1600" dirty="0" err="1">
                <a:latin typeface="Comic Sans MS" pitchFamily="66" charset="0"/>
              </a:rPr>
              <a:t>MessageBox.Show</a:t>
            </a:r>
            <a:r>
              <a:rPr lang="en-GB" sz="1600" dirty="0">
                <a:latin typeface="Comic Sans MS" pitchFamily="66" charset="0"/>
              </a:rPr>
              <a:t>(“sum is ” + </a:t>
            </a:r>
            <a:r>
              <a:rPr lang="en-GB" sz="1600" dirty="0">
                <a:solidFill>
                  <a:srgbClr val="FF0000"/>
                </a:solidFill>
                <a:latin typeface="Comic Sans MS" pitchFamily="66" charset="0"/>
              </a:rPr>
              <a:t>sum</a:t>
            </a:r>
            <a:r>
              <a:rPr lang="en-GB" sz="1600" dirty="0">
                <a:latin typeface="Comic Sans MS" pitchFamily="66" charset="0"/>
              </a:rPr>
              <a:t>);</a:t>
            </a:r>
          </a:p>
          <a:p>
            <a:pPr marL="365125" indent="-365125">
              <a:lnSpc>
                <a:spcPct val="80000"/>
              </a:lnSpc>
              <a:buClr>
                <a:srgbClr val="033ED3"/>
              </a:buClr>
            </a:pPr>
            <a:r>
              <a:rPr lang="en-GB" sz="1600" dirty="0">
                <a:latin typeface="Comic Sans MS" pitchFamily="66" charset="0"/>
              </a:rPr>
              <a:t>}</a:t>
            </a:r>
            <a:endParaRPr lang="en-US" sz="1600" dirty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4045" y="357158"/>
            <a:ext cx="5832475" cy="665162"/>
          </a:xfrm>
        </p:spPr>
        <p:txBody>
          <a:bodyPr/>
          <a:lstStyle/>
          <a:p>
            <a:pPr algn="l" eaLnBrk="1" hangingPunct="1"/>
            <a:r>
              <a:rPr lang="en-GB" sz="2800" b="1" dirty="0">
                <a:solidFill>
                  <a:srgbClr val="033ED3"/>
                </a:solidFill>
              </a:rPr>
              <a:t>Comparing </a:t>
            </a:r>
            <a:br>
              <a:rPr lang="en-GB" sz="2800" b="1" dirty="0">
                <a:solidFill>
                  <a:srgbClr val="033ED3"/>
                </a:solidFill>
              </a:rPr>
            </a:br>
            <a:r>
              <a:rPr lang="en-GB" sz="3600" b="1" dirty="0">
                <a:solidFill>
                  <a:srgbClr val="033ED3"/>
                </a:solidFill>
              </a:rPr>
              <a:t>Values Types</a:t>
            </a:r>
            <a:endParaRPr lang="en-US" sz="2800" b="1" dirty="0">
              <a:solidFill>
                <a:srgbClr val="033ED3"/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28604" y="1142977"/>
            <a:ext cx="6038850" cy="2852960"/>
          </a:xfrm>
        </p:spPr>
        <p:txBody>
          <a:bodyPr/>
          <a:lstStyle/>
          <a:p>
            <a:pPr marL="457200" indent="-457200" eaLnBrk="1" hangingPunct="1">
              <a:spcBef>
                <a:spcPct val="0"/>
              </a:spcBef>
            </a:pPr>
            <a:r>
              <a:rPr lang="en-GB" sz="2000" dirty="0">
                <a:latin typeface="+mj-lt"/>
              </a:rPr>
              <a:t>Comparing Value Types</a:t>
            </a:r>
          </a:p>
          <a:p>
            <a:pPr marL="914400" lvl="1" indent="-457200" eaLnBrk="1" hangingPunct="1">
              <a:spcBef>
                <a:spcPct val="0"/>
              </a:spcBef>
            </a:pPr>
            <a:r>
              <a:rPr lang="en-GB" sz="2000" dirty="0">
                <a:latin typeface="+mj-lt"/>
              </a:rPr>
              <a:t>can use all the comparison operators  (== , != , &gt; , &lt; , &gt;= , &lt;=)</a:t>
            </a:r>
          </a:p>
          <a:p>
            <a:pPr marL="457200" indent="-457200" eaLnBrk="1" hangingPunct="1">
              <a:spcBef>
                <a:spcPct val="0"/>
              </a:spcBef>
            </a:pPr>
            <a:endParaRPr lang="en-GB" sz="2000" dirty="0">
              <a:latin typeface="+mj-lt"/>
            </a:endParaRPr>
          </a:p>
          <a:p>
            <a:pPr marL="457200" indent="-457200" eaLnBrk="1" hangingPunct="1">
              <a:spcBef>
                <a:spcPct val="0"/>
              </a:spcBef>
            </a:pPr>
            <a:r>
              <a:rPr lang="en-GB" sz="2000" dirty="0">
                <a:latin typeface="+mj-lt"/>
              </a:rPr>
              <a:t>Comparison work as expected.</a:t>
            </a:r>
          </a:p>
          <a:p>
            <a:pPr marL="457200" indent="-457200" eaLnBrk="1" hangingPunct="1">
              <a:spcBef>
                <a:spcPct val="0"/>
              </a:spcBef>
              <a:buFont typeface="Wingdings" pitchFamily="2" charset="2"/>
              <a:buNone/>
            </a:pPr>
            <a:endParaRPr lang="en-GB" sz="2000" dirty="0">
              <a:latin typeface="+mj-lt"/>
            </a:endParaRPr>
          </a:p>
          <a:p>
            <a:pPr marL="457200" indent="-45720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GB" sz="2000" dirty="0">
                <a:latin typeface="+mj-lt"/>
              </a:rPr>
              <a:t>Example:</a:t>
            </a:r>
          </a:p>
          <a:p>
            <a:pPr marL="457200" indent="-45720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GB" sz="2000" dirty="0">
                <a:latin typeface="+mj-lt"/>
              </a:rPr>
              <a:t>	The value in mark1 is compared to the value in mark2.</a:t>
            </a:r>
          </a:p>
        </p:txBody>
      </p:sp>
      <p:grpSp>
        <p:nvGrpSpPr>
          <p:cNvPr id="22532" name="Group 9"/>
          <p:cNvGrpSpPr>
            <a:grpSpLocks/>
          </p:cNvGrpSpPr>
          <p:nvPr/>
        </p:nvGrpSpPr>
        <p:grpSpPr bwMode="auto">
          <a:xfrm>
            <a:off x="1341438" y="7307907"/>
            <a:ext cx="1295400" cy="1152525"/>
            <a:chOff x="845" y="4617"/>
            <a:chExt cx="816" cy="787"/>
          </a:xfrm>
        </p:grpSpPr>
        <p:sp>
          <p:nvSpPr>
            <p:cNvPr id="22536" name="Rectangle 4"/>
            <p:cNvSpPr>
              <a:spLocks noChangeArrowheads="1"/>
            </p:cNvSpPr>
            <p:nvPr/>
          </p:nvSpPr>
          <p:spPr bwMode="auto">
            <a:xfrm>
              <a:off x="890" y="4617"/>
              <a:ext cx="544" cy="40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GB" sz="2800" dirty="0">
                  <a:latin typeface="Arial" charset="0"/>
                </a:rPr>
                <a:t>35</a:t>
              </a:r>
              <a:endParaRPr lang="en-US" sz="2800" dirty="0">
                <a:latin typeface="Arial" charset="0"/>
              </a:endParaRPr>
            </a:p>
          </p:txBody>
        </p:sp>
        <p:sp>
          <p:nvSpPr>
            <p:cNvPr id="22537" name="Text Box 5"/>
            <p:cNvSpPr txBox="1">
              <a:spLocks noChangeArrowheads="1"/>
            </p:cNvSpPr>
            <p:nvPr/>
          </p:nvSpPr>
          <p:spPr bwMode="auto">
            <a:xfrm>
              <a:off x="845" y="5116"/>
              <a:ext cx="816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2400">
                  <a:latin typeface="Arial" charset="0"/>
                </a:rPr>
                <a:t>mark1</a:t>
              </a:r>
              <a:endParaRPr lang="en-US" sz="2400">
                <a:latin typeface="Arial" charset="0"/>
              </a:endParaRPr>
            </a:p>
          </p:txBody>
        </p:sp>
      </p:grpSp>
      <p:grpSp>
        <p:nvGrpSpPr>
          <p:cNvPr id="22533" name="Group 8"/>
          <p:cNvGrpSpPr>
            <a:grpSpLocks/>
          </p:cNvGrpSpPr>
          <p:nvPr/>
        </p:nvGrpSpPr>
        <p:grpSpPr bwMode="auto">
          <a:xfrm>
            <a:off x="3573463" y="7307907"/>
            <a:ext cx="1295400" cy="1152525"/>
            <a:chOff x="2115" y="4572"/>
            <a:chExt cx="816" cy="787"/>
          </a:xfrm>
        </p:grpSpPr>
        <p:sp>
          <p:nvSpPr>
            <p:cNvPr id="22534" name="Rectangle 6"/>
            <p:cNvSpPr>
              <a:spLocks noChangeArrowheads="1"/>
            </p:cNvSpPr>
            <p:nvPr/>
          </p:nvSpPr>
          <p:spPr bwMode="auto">
            <a:xfrm>
              <a:off x="2160" y="4572"/>
              <a:ext cx="544" cy="40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GB" sz="2800" dirty="0">
                  <a:latin typeface="Arial" charset="0"/>
                </a:rPr>
                <a:t>35</a:t>
              </a:r>
              <a:endParaRPr lang="en-US" sz="2800" dirty="0">
                <a:latin typeface="Arial" charset="0"/>
              </a:endParaRPr>
            </a:p>
          </p:txBody>
        </p:sp>
        <p:sp>
          <p:nvSpPr>
            <p:cNvPr id="22535" name="Text Box 7"/>
            <p:cNvSpPr txBox="1">
              <a:spLocks noChangeArrowheads="1"/>
            </p:cNvSpPr>
            <p:nvPr/>
          </p:nvSpPr>
          <p:spPr bwMode="auto">
            <a:xfrm>
              <a:off x="2115" y="5071"/>
              <a:ext cx="816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2400" dirty="0">
                  <a:latin typeface="Arial" charset="0"/>
                </a:rPr>
                <a:t>mark2</a:t>
              </a:r>
              <a:endParaRPr lang="en-US" sz="2400" dirty="0">
                <a:latin typeface="Arial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404664" y="4196278"/>
            <a:ext cx="5184576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/>
            <a:r>
              <a:rPr lang="en-GB" sz="1800" b="0" dirty="0" err="1"/>
              <a:t>int</a:t>
            </a:r>
            <a:r>
              <a:rPr lang="en-GB" sz="1800" b="0" dirty="0"/>
              <a:t> mark1 = 35;  </a:t>
            </a:r>
            <a:r>
              <a:rPr lang="en-GB" sz="1800" b="0" dirty="0">
                <a:solidFill>
                  <a:srgbClr val="00B050"/>
                </a:solidFill>
              </a:rPr>
              <a:t>// Value Type</a:t>
            </a:r>
          </a:p>
          <a:p>
            <a:pPr marL="457200" indent="-457200"/>
            <a:r>
              <a:rPr lang="en-GB" sz="1800" b="0" dirty="0" err="1"/>
              <a:t>int</a:t>
            </a:r>
            <a:r>
              <a:rPr lang="en-GB" sz="1800" b="0" dirty="0"/>
              <a:t> mark2 = 35;</a:t>
            </a:r>
          </a:p>
          <a:p>
            <a:pPr marL="457200" indent="-457200"/>
            <a:r>
              <a:rPr lang="en-GB" sz="1800" b="0" dirty="0"/>
              <a:t>	 </a:t>
            </a:r>
          </a:p>
          <a:p>
            <a:pPr marL="457200" indent="-457200"/>
            <a:r>
              <a:rPr lang="en-GB" sz="1800" b="0" dirty="0"/>
              <a:t>     if ( mark1 == mark2)</a:t>
            </a:r>
          </a:p>
          <a:p>
            <a:pPr marL="457200" indent="-457200"/>
            <a:r>
              <a:rPr lang="en-GB" sz="1800" b="0" dirty="0"/>
              <a:t>     {</a:t>
            </a:r>
          </a:p>
          <a:p>
            <a:pPr marL="457200" indent="-457200"/>
            <a:r>
              <a:rPr lang="en-GB" sz="1800" b="0" dirty="0"/>
              <a:t>		</a:t>
            </a:r>
            <a:r>
              <a:rPr lang="en-GB" sz="1800" b="0" dirty="0" err="1"/>
              <a:t>MessageBox.Show</a:t>
            </a:r>
            <a:r>
              <a:rPr lang="en-GB" sz="1800" b="0" dirty="0"/>
              <a:t>(“They are equal!!”);</a:t>
            </a:r>
          </a:p>
          <a:p>
            <a:pPr marL="457200" indent="-457200"/>
            <a:r>
              <a:rPr lang="en-GB" sz="1800" b="0" dirty="0"/>
              <a:t>      }	</a:t>
            </a:r>
          </a:p>
          <a:p>
            <a:pPr marL="457200" indent="-457200"/>
            <a:endParaRPr lang="en-GB" sz="1800" b="0" dirty="0"/>
          </a:p>
          <a:p>
            <a:pPr marL="457200" indent="-457200"/>
            <a:r>
              <a:rPr lang="en-GB" sz="1800" b="0" i="1" dirty="0">
                <a:solidFill>
                  <a:srgbClr val="033ED3"/>
                </a:solidFill>
              </a:rPr>
              <a:t>// </a:t>
            </a:r>
            <a:r>
              <a:rPr lang="en-GB" sz="1800" b="0" i="1" dirty="0" err="1">
                <a:solidFill>
                  <a:srgbClr val="033ED3"/>
                </a:solidFill>
              </a:rPr>
              <a:t>messagebox</a:t>
            </a:r>
            <a:r>
              <a:rPr lang="en-GB" sz="1800" b="0" i="1" dirty="0">
                <a:solidFill>
                  <a:srgbClr val="033ED3"/>
                </a:solidFill>
              </a:rPr>
              <a:t> will be shown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04" y="285720"/>
            <a:ext cx="6048375" cy="790575"/>
          </a:xfrm>
        </p:spPr>
        <p:txBody>
          <a:bodyPr/>
          <a:lstStyle/>
          <a:p>
            <a:pPr eaLnBrk="1" hangingPunct="1"/>
            <a:r>
              <a:rPr lang="en-GB" sz="2400" b="1" dirty="0">
                <a:solidFill>
                  <a:srgbClr val="033ED3"/>
                </a:solidFill>
              </a:rPr>
              <a:t>Comparing </a:t>
            </a:r>
            <a:br>
              <a:rPr lang="en-GB" b="1" dirty="0">
                <a:solidFill>
                  <a:srgbClr val="033ED3"/>
                </a:solidFill>
              </a:rPr>
            </a:br>
            <a:r>
              <a:rPr lang="en-GB" b="1" dirty="0">
                <a:solidFill>
                  <a:srgbClr val="033ED3"/>
                </a:solidFill>
              </a:rPr>
              <a:t>Reference Types</a:t>
            </a:r>
            <a:endParaRPr lang="en-US" b="1" dirty="0">
              <a:solidFill>
                <a:srgbClr val="033ED3"/>
              </a:solidFill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1142977"/>
            <a:ext cx="6038850" cy="3501031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GB" sz="1600" dirty="0">
                <a:latin typeface="+mj-lt"/>
              </a:rPr>
              <a:t>Except for the string type, the  ==  and  !=  operators determine if two reference variables are </a:t>
            </a:r>
            <a:r>
              <a:rPr lang="en-GB" sz="1600" i="1" dirty="0">
                <a:solidFill>
                  <a:srgbClr val="FF0000"/>
                </a:solidFill>
                <a:latin typeface="+mj-lt"/>
              </a:rPr>
              <a:t>pointing to the same object.</a:t>
            </a:r>
          </a:p>
          <a:p>
            <a:pPr eaLnBrk="1" hangingPunct="1">
              <a:spcBef>
                <a:spcPct val="50000"/>
              </a:spcBef>
            </a:pPr>
            <a:r>
              <a:rPr lang="en-GB" sz="1600" dirty="0">
                <a:latin typeface="+mj-lt"/>
              </a:rPr>
              <a:t>You are NOT comparing the </a:t>
            </a:r>
            <a:r>
              <a:rPr lang="en-GB" sz="1600" b="1" u="sng" dirty="0">
                <a:latin typeface="+mj-lt"/>
              </a:rPr>
              <a:t>contents</a:t>
            </a:r>
            <a:r>
              <a:rPr lang="en-GB" sz="1600" dirty="0">
                <a:latin typeface="+mj-lt"/>
              </a:rPr>
              <a:t> of the objects to which the variables refer.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GB" sz="2000" dirty="0">
                <a:latin typeface="+mj-lt"/>
              </a:rPr>
              <a:t>Example:</a:t>
            </a:r>
          </a:p>
          <a:p>
            <a:pPr marL="0" indent="0" eaLnBrk="1" hangingPunct="1">
              <a:buNone/>
            </a:pPr>
            <a:r>
              <a:rPr lang="en-GB" sz="1600" dirty="0">
                <a:latin typeface="+mj-lt"/>
              </a:rPr>
              <a:t>Although mark1 and mark2 contain the same array values </a:t>
            </a:r>
            <a:r>
              <a:rPr lang="en-GB" sz="1600" dirty="0" err="1">
                <a:latin typeface="+mj-lt"/>
              </a:rPr>
              <a:t>ie</a:t>
            </a:r>
            <a:r>
              <a:rPr lang="en-GB" sz="1600" dirty="0">
                <a:latin typeface="+mj-lt"/>
              </a:rPr>
              <a:t>. {1.2.3}, the comparison ( mark1 == mark2) checks if  they are pointing to the same object; which in this case, they are not.  </a:t>
            </a:r>
            <a:endParaRPr lang="en-GB" sz="1600" dirty="0">
              <a:solidFill>
                <a:srgbClr val="FF0000"/>
              </a:solidFill>
              <a:latin typeface="+mj-lt"/>
            </a:endParaRPr>
          </a:p>
          <a:p>
            <a:pPr marL="0" indent="0" eaLnBrk="1" hangingPunct="1">
              <a:buNone/>
            </a:pPr>
            <a:r>
              <a:rPr lang="en-GB" sz="1600" dirty="0">
                <a:latin typeface="+mj-lt"/>
              </a:rPr>
              <a:t>Addresses of mark1 and mark2 are not the same</a:t>
            </a:r>
          </a:p>
          <a:p>
            <a:pPr marL="0" indent="0" eaLnBrk="1" hangingPunct="1">
              <a:buNone/>
            </a:pPr>
            <a:r>
              <a:rPr lang="en-GB" sz="1600" dirty="0">
                <a:latin typeface="+mj-lt"/>
              </a:rPr>
              <a:t>Therefore   mark1 == mark2  is </a:t>
            </a:r>
            <a:r>
              <a:rPr lang="en-GB" sz="1600" b="1" dirty="0">
                <a:solidFill>
                  <a:srgbClr val="FF0000"/>
                </a:solidFill>
                <a:latin typeface="+mj-lt"/>
              </a:rPr>
              <a:t>NOT</a:t>
            </a:r>
            <a:r>
              <a:rPr lang="en-GB" sz="16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+mj-lt"/>
              </a:rPr>
              <a:t>TRUE</a:t>
            </a:r>
            <a:r>
              <a:rPr lang="en-GB" sz="1600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3556" name="Picture 4" descr="C:\Program Files\Microsoft Office\MEDIA\CAGCAT10\j0185604.wmf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490294" y="7639106"/>
            <a:ext cx="922630" cy="923544"/>
          </a:xfrm>
          <a:prstGeom prst="rect">
            <a:avLst/>
          </a:prstGeom>
          <a:noFill/>
        </p:spPr>
      </p:pic>
      <p:pic>
        <p:nvPicPr>
          <p:cNvPr id="23557" name="Picture 5" descr="C:\Program Files\Microsoft Office\MEDIA\CAGCAT10\j0185604.wmf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4166567" y="7619266"/>
            <a:ext cx="922337" cy="92392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231522" y="8543473"/>
            <a:ext cx="1636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Mark 1 address is 19002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2253" y="8543473"/>
            <a:ext cx="1636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Mark 2 address is 99008</a:t>
            </a:r>
          </a:p>
        </p:txBody>
      </p:sp>
      <p:sp>
        <p:nvSpPr>
          <p:cNvPr id="2" name="Rectangle 1"/>
          <p:cNvSpPr/>
          <p:nvPr/>
        </p:nvSpPr>
        <p:spPr>
          <a:xfrm>
            <a:off x="620688" y="4788024"/>
            <a:ext cx="4824536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GB" sz="1800" b="0" noProof="1"/>
              <a:t>int</a:t>
            </a:r>
            <a:r>
              <a:rPr lang="en-GB" sz="1800" b="0" dirty="0"/>
              <a:t> </a:t>
            </a:r>
            <a:r>
              <a:rPr lang="en-GB" sz="1800" b="0" noProof="1"/>
              <a:t>[</a:t>
            </a:r>
            <a:r>
              <a:rPr lang="en-GB" sz="1800" b="0" dirty="0"/>
              <a:t> </a:t>
            </a:r>
            <a:r>
              <a:rPr lang="en-GB" sz="1800" b="0" noProof="1"/>
              <a:t>] mark1 = { 1, 2, 3 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1800" b="0" noProof="1"/>
              <a:t>int</a:t>
            </a:r>
            <a:r>
              <a:rPr lang="en-GB" sz="1800" b="0" dirty="0"/>
              <a:t> </a:t>
            </a:r>
            <a:r>
              <a:rPr lang="en-GB" sz="1800" b="0" noProof="1"/>
              <a:t>[</a:t>
            </a:r>
            <a:r>
              <a:rPr lang="en-GB" sz="1800" b="0" dirty="0"/>
              <a:t> </a:t>
            </a:r>
            <a:r>
              <a:rPr lang="en-GB" sz="1800" b="0" noProof="1"/>
              <a:t>] mark2 = { 1, 2, 3 };</a:t>
            </a:r>
          </a:p>
          <a:p>
            <a:pPr eaLnBrk="1" hangingPunct="1">
              <a:buFont typeface="Wingdings" pitchFamily="2" charset="2"/>
              <a:buNone/>
            </a:pPr>
            <a:endParaRPr lang="en-GB" sz="1800" b="0" noProof="1"/>
          </a:p>
          <a:p>
            <a:pPr eaLnBrk="1" hangingPunct="1">
              <a:buFont typeface="Wingdings" pitchFamily="2" charset="2"/>
              <a:buNone/>
            </a:pPr>
            <a:r>
              <a:rPr lang="en-GB" sz="1800" b="0" dirty="0"/>
              <a:t> if ( mark1 == mark2)</a:t>
            </a:r>
          </a:p>
          <a:p>
            <a:pPr marL="457200" indent="-457200"/>
            <a:r>
              <a:rPr lang="en-GB" sz="1800" b="0" dirty="0"/>
              <a:t>     {</a:t>
            </a:r>
          </a:p>
          <a:p>
            <a:pPr marL="457200" indent="-457200"/>
            <a:r>
              <a:rPr lang="en-GB" sz="1800" b="0" dirty="0"/>
              <a:t>	</a:t>
            </a:r>
            <a:r>
              <a:rPr lang="en-GB" sz="1800" b="0" dirty="0" err="1"/>
              <a:t>MessageBox.Show</a:t>
            </a:r>
            <a:r>
              <a:rPr lang="en-GB" sz="1800" b="0" dirty="0"/>
              <a:t>(“They are equal!!”);</a:t>
            </a:r>
          </a:p>
          <a:p>
            <a:pPr marL="457200" indent="-457200"/>
            <a:r>
              <a:rPr lang="en-GB" sz="1800" b="0" dirty="0"/>
              <a:t>      }	</a:t>
            </a:r>
          </a:p>
          <a:p>
            <a:pPr marL="457200" indent="-457200"/>
            <a:endParaRPr lang="en-GB" sz="1800" b="0" dirty="0"/>
          </a:p>
          <a:p>
            <a:pPr marL="457200" indent="-457200"/>
            <a:r>
              <a:rPr lang="en-GB" sz="1800" b="0" i="1" dirty="0">
                <a:solidFill>
                  <a:srgbClr val="033ED3"/>
                </a:solidFill>
              </a:rPr>
              <a:t>// </a:t>
            </a:r>
            <a:r>
              <a:rPr lang="en-GB" sz="1800" b="0" i="1" dirty="0" err="1">
                <a:solidFill>
                  <a:srgbClr val="033ED3"/>
                </a:solidFill>
              </a:rPr>
              <a:t>messagebox</a:t>
            </a:r>
            <a:r>
              <a:rPr lang="en-GB" sz="1800" b="0" i="1" dirty="0">
                <a:solidFill>
                  <a:srgbClr val="033ED3"/>
                </a:solidFill>
              </a:rPr>
              <a:t> will NOT be shown</a:t>
            </a:r>
            <a:endParaRPr lang="en-GB" sz="1800" b="0" dirty="0">
              <a:solidFill>
                <a:srgbClr val="033ED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idx="1"/>
          </p:nvPr>
        </p:nvSpPr>
        <p:spPr>
          <a:xfrm>
            <a:off x="428604" y="1299921"/>
            <a:ext cx="5886450" cy="5288303"/>
          </a:xfrm>
        </p:spPr>
        <p:txBody>
          <a:bodyPr lIns="92075" tIns="46038" rIns="92075" bIns="46038"/>
          <a:lstStyle/>
          <a:p>
            <a:pPr defTabSz="457200" eaLnBrk="1" hangingPunct="1">
              <a:spcBef>
                <a:spcPct val="0"/>
              </a:spcBef>
              <a:buClr>
                <a:schemeClr val="tx1"/>
              </a:buClr>
              <a:buFont typeface="Wingdings" pitchFamily="2" charset="2"/>
              <a:buChar char="q"/>
            </a:pPr>
            <a:r>
              <a:rPr lang="en-GB" sz="2400" dirty="0"/>
              <a:t>When a method is called, we pass the </a:t>
            </a:r>
            <a:r>
              <a:rPr lang="en-GB" sz="2400" b="1" dirty="0"/>
              <a:t>values stored in a variables</a:t>
            </a:r>
            <a:r>
              <a:rPr lang="en-GB" sz="2400" dirty="0"/>
              <a:t>  (</a:t>
            </a:r>
            <a:r>
              <a:rPr lang="en-GB" sz="2400" dirty="0" err="1"/>
              <a:t>e.g</a:t>
            </a:r>
            <a:r>
              <a:rPr lang="en-GB" sz="2400" dirty="0"/>
              <a:t> </a:t>
            </a:r>
            <a:r>
              <a:rPr lang="en-GB" sz="2400" b="1" dirty="0">
                <a:solidFill>
                  <a:schemeClr val="accent6"/>
                </a:solidFill>
              </a:rPr>
              <a:t>a</a:t>
            </a:r>
            <a:r>
              <a:rPr lang="en-GB" sz="2400" dirty="0"/>
              <a:t> and </a:t>
            </a:r>
            <a:r>
              <a:rPr lang="en-GB" sz="2400" b="1" dirty="0">
                <a:solidFill>
                  <a:schemeClr val="accent6"/>
                </a:solidFill>
              </a:rPr>
              <a:t>b</a:t>
            </a:r>
            <a:r>
              <a:rPr lang="en-GB" sz="2400" dirty="0"/>
              <a:t>) to methods (</a:t>
            </a:r>
            <a:r>
              <a:rPr lang="en-GB" sz="2400" dirty="0" err="1"/>
              <a:t>e.g</a:t>
            </a:r>
            <a:r>
              <a:rPr lang="en-GB" sz="2400" dirty="0"/>
              <a:t> </a:t>
            </a:r>
            <a:r>
              <a:rPr lang="en-GB" sz="2400" dirty="0" err="1"/>
              <a:t>calculateSum</a:t>
            </a:r>
            <a:r>
              <a:rPr lang="en-GB" sz="2400" dirty="0"/>
              <a:t>).</a:t>
            </a:r>
          </a:p>
          <a:p>
            <a:pPr defTabSz="457200" eaLnBrk="1" hangingPunct="1">
              <a:spcBef>
                <a:spcPct val="0"/>
              </a:spcBef>
              <a:buClr>
                <a:schemeClr val="tx1"/>
              </a:buClr>
              <a:buFont typeface="Wingdings" pitchFamily="2" charset="2"/>
              <a:buChar char="q"/>
            </a:pPr>
            <a:endParaRPr lang="en-GB" sz="2400" dirty="0"/>
          </a:p>
          <a:p>
            <a:pPr defTabSz="457200" eaLnBrk="1" hangingPunct="1">
              <a:spcBef>
                <a:spcPct val="0"/>
              </a:spcBef>
              <a:buClr>
                <a:schemeClr val="tx1"/>
              </a:buClr>
              <a:buFont typeface="Wingdings" pitchFamily="2" charset="2"/>
              <a:buChar char="q"/>
            </a:pPr>
            <a:r>
              <a:rPr lang="en-GB" sz="2400" dirty="0"/>
              <a:t>These values then get copied into the method’s parameters.</a:t>
            </a:r>
          </a:p>
          <a:p>
            <a:pPr defTabSz="457200" eaLnBrk="1" hangingPunct="1">
              <a:spcBef>
                <a:spcPct val="0"/>
              </a:spcBef>
              <a:buClr>
                <a:schemeClr val="tx1"/>
              </a:buClr>
              <a:buFont typeface="Wingdings" pitchFamily="2" charset="2"/>
              <a:buChar char="q"/>
            </a:pPr>
            <a:endParaRPr lang="en-GB" sz="2400" dirty="0"/>
          </a:p>
          <a:p>
            <a:pPr defTabSz="457200" eaLnBrk="1" hangingPunct="1">
              <a:spcBef>
                <a:spcPct val="0"/>
              </a:spcBef>
              <a:buClr>
                <a:schemeClr val="tx1"/>
              </a:buClr>
              <a:buFont typeface="Wingdings" pitchFamily="2" charset="2"/>
              <a:buChar char="q"/>
            </a:pPr>
            <a:r>
              <a:rPr lang="en-GB" sz="2400" dirty="0"/>
              <a:t>The method can also return a value which can be stored in variable in the calling method.</a:t>
            </a:r>
          </a:p>
          <a:p>
            <a:pPr defTabSz="457200" eaLnBrk="1" hangingPunct="1">
              <a:spcBef>
                <a:spcPct val="0"/>
              </a:spcBef>
            </a:pPr>
            <a:endParaRPr lang="en-GB" sz="2400" dirty="0"/>
          </a:p>
          <a:p>
            <a:pPr defTabSz="45720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GB" sz="2400" dirty="0"/>
              <a:t>Example: </a:t>
            </a:r>
          </a:p>
          <a:p>
            <a:pPr defTabSz="45720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GB" sz="2400" dirty="0"/>
              <a:t>		</a:t>
            </a:r>
            <a:r>
              <a:rPr lang="en-GB" sz="2400" dirty="0">
                <a:solidFill>
                  <a:schemeClr val="accent6"/>
                </a:solidFill>
                <a:latin typeface="Comic Sans MS" pitchFamily="66" charset="0"/>
              </a:rPr>
              <a:t>sum </a:t>
            </a:r>
            <a:r>
              <a:rPr lang="en-GB" sz="2400" dirty="0">
                <a:latin typeface="Comic Sans MS" pitchFamily="66" charset="0"/>
              </a:rPr>
              <a:t>= </a:t>
            </a:r>
            <a:r>
              <a:rPr lang="en-GB" sz="2400" dirty="0" err="1">
                <a:latin typeface="Comic Sans MS" pitchFamily="66" charset="0"/>
              </a:rPr>
              <a:t>calculateSum</a:t>
            </a:r>
            <a:r>
              <a:rPr lang="en-GB" sz="2400" dirty="0">
                <a:latin typeface="Comic Sans MS" pitchFamily="66" charset="0"/>
              </a:rPr>
              <a:t>(</a:t>
            </a:r>
            <a:r>
              <a:rPr lang="en-GB" sz="2400" dirty="0" err="1">
                <a:latin typeface="Comic Sans MS" pitchFamily="66" charset="0"/>
              </a:rPr>
              <a:t>a,b</a:t>
            </a:r>
            <a:r>
              <a:rPr lang="en-GB" sz="2400" dirty="0">
                <a:latin typeface="Comic Sans MS" pitchFamily="66" charset="0"/>
              </a:rPr>
              <a:t>);</a:t>
            </a:r>
          </a:p>
        </p:txBody>
      </p:sp>
      <p:sp>
        <p:nvSpPr>
          <p:cNvPr id="3" name="Rectangle 2"/>
          <p:cNvSpPr/>
          <p:nvPr/>
        </p:nvSpPr>
        <p:spPr>
          <a:xfrm>
            <a:off x="474001" y="395536"/>
            <a:ext cx="56192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/>
            <a:r>
              <a:rPr lang="en-GB" sz="3600" b="0" dirty="0">
                <a:solidFill>
                  <a:srgbClr val="033ED3"/>
                </a:solidFill>
                <a:latin typeface="+mj-lt"/>
              </a:rPr>
              <a:t>Methods pass by </a:t>
            </a:r>
            <a:r>
              <a:rPr lang="en-GB" sz="3600" dirty="0">
                <a:solidFill>
                  <a:schemeClr val="accent6"/>
                </a:solidFill>
                <a:latin typeface="+mj-lt"/>
              </a:rPr>
              <a:t>value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428604" y="6660232"/>
            <a:ext cx="6168748" cy="1139720"/>
          </a:xfrm>
          <a:prstGeom prst="wedgeRoundRectCallout">
            <a:avLst>
              <a:gd name="adj1" fmla="val 8733"/>
              <a:gd name="adj2" fmla="val -96422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400" dirty="0">
                <a:solidFill>
                  <a:schemeClr val="tx1"/>
                </a:solidFill>
              </a:rPr>
              <a:t>The value in </a:t>
            </a:r>
            <a:r>
              <a:rPr lang="en-GB" sz="1400" dirty="0">
                <a:solidFill>
                  <a:schemeClr val="accent6"/>
                </a:solidFill>
              </a:rPr>
              <a:t>a</a:t>
            </a:r>
            <a:r>
              <a:rPr lang="en-GB" sz="1400" dirty="0">
                <a:solidFill>
                  <a:schemeClr val="tx1"/>
                </a:solidFill>
              </a:rPr>
              <a:t> and </a:t>
            </a:r>
            <a:r>
              <a:rPr lang="en-GB" sz="1400" dirty="0">
                <a:solidFill>
                  <a:schemeClr val="accent6"/>
                </a:solidFill>
              </a:rPr>
              <a:t>b </a:t>
            </a:r>
            <a:r>
              <a:rPr lang="en-GB" sz="1400" dirty="0">
                <a:solidFill>
                  <a:schemeClr val="tx1"/>
                </a:solidFill>
              </a:rPr>
              <a:t>will be copied into the method parameters. The </a:t>
            </a:r>
            <a:r>
              <a:rPr lang="en-GB" sz="1400" dirty="0">
                <a:solidFill>
                  <a:schemeClr val="accent6"/>
                </a:solidFill>
              </a:rPr>
              <a:t>sum</a:t>
            </a:r>
            <a:r>
              <a:rPr lang="en-GB" sz="1400" dirty="0">
                <a:solidFill>
                  <a:schemeClr val="tx1"/>
                </a:solidFill>
              </a:rPr>
              <a:t> method computes the result and return to the calling method</a:t>
            </a:r>
            <a:endParaRPr lang="en-SG" sz="1400" dirty="0">
              <a:solidFill>
                <a:schemeClr val="accent6"/>
              </a:solidFill>
            </a:endParaRPr>
          </a:p>
        </p:txBody>
      </p:sp>
      <p:pic>
        <p:nvPicPr>
          <p:cNvPr id="5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60" y="7858510"/>
            <a:ext cx="864096" cy="102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28604" y="1142976"/>
            <a:ext cx="6215106" cy="6165328"/>
          </a:xfrm>
        </p:spPr>
        <p:txBody>
          <a:bodyPr/>
          <a:lstStyle/>
          <a:p>
            <a:pPr eaLnBrk="1" hangingPunct="1"/>
            <a:r>
              <a:rPr lang="en-GB" sz="2400" dirty="0"/>
              <a:t>Recall you can pass data to methods when you call them.</a:t>
            </a:r>
          </a:p>
          <a:p>
            <a:pPr eaLnBrk="1" hangingPunct="1">
              <a:buFont typeface="Wingdings" pitchFamily="2" charset="2"/>
              <a:buNone/>
            </a:pPr>
            <a:endParaRPr lang="en-GB" sz="2400" dirty="0"/>
          </a:p>
          <a:p>
            <a:pPr eaLnBrk="1" hangingPunct="1">
              <a:buFont typeface="Wingdings" pitchFamily="2" charset="2"/>
              <a:buNone/>
            </a:pPr>
            <a:r>
              <a:rPr lang="en-GB" sz="2400" dirty="0"/>
              <a:t>Example: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2400" dirty="0"/>
              <a:t>	</a:t>
            </a:r>
            <a:r>
              <a:rPr lang="en-GB" sz="1800" b="1" dirty="0">
                <a:solidFill>
                  <a:srgbClr val="FF0000"/>
                </a:solidFill>
                <a:latin typeface="Comic Sans MS" pitchFamily="66" charset="0"/>
              </a:rPr>
              <a:t>private float</a:t>
            </a:r>
            <a:r>
              <a:rPr lang="en-GB" sz="1800" dirty="0">
                <a:latin typeface="Comic Sans MS" pitchFamily="66" charset="0"/>
              </a:rPr>
              <a:t> </a:t>
            </a:r>
            <a:r>
              <a:rPr lang="en-GB" sz="1800" b="1" dirty="0" err="1">
                <a:latin typeface="Comic Sans MS" pitchFamily="66" charset="0"/>
              </a:rPr>
              <a:t>CalcArea</a:t>
            </a:r>
            <a:r>
              <a:rPr lang="en-GB" sz="1800" dirty="0">
                <a:latin typeface="Comic Sans MS" pitchFamily="66" charset="0"/>
              </a:rPr>
              <a:t>( float </a:t>
            </a:r>
            <a:r>
              <a:rPr lang="en-GB" sz="1800" dirty="0" err="1">
                <a:latin typeface="Comic Sans MS" pitchFamily="66" charset="0"/>
              </a:rPr>
              <a:t>xlen</a:t>
            </a:r>
            <a:r>
              <a:rPr lang="en-GB" sz="1800" dirty="0">
                <a:latin typeface="Comic Sans MS" pitchFamily="66" charset="0"/>
              </a:rPr>
              <a:t>, float </a:t>
            </a:r>
            <a:r>
              <a:rPr lang="en-GB" sz="1800" dirty="0" err="1">
                <a:latin typeface="Comic Sans MS" pitchFamily="66" charset="0"/>
              </a:rPr>
              <a:t>xbdth</a:t>
            </a:r>
            <a:r>
              <a:rPr lang="en-GB" sz="1800" dirty="0">
                <a:latin typeface="Comic Sans MS" pitchFamily="66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1800" dirty="0">
                <a:latin typeface="Comic Sans MS" pitchFamily="66" charset="0"/>
              </a:rPr>
              <a:t>	{	 ...........................;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1800" dirty="0">
                <a:latin typeface="Comic Sans MS" pitchFamily="66" charset="0"/>
              </a:rPr>
              <a:t>		return result;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1800" dirty="0">
                <a:latin typeface="Comic Sans MS" pitchFamily="66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endParaRPr lang="en-GB" sz="1800" dirty="0">
              <a:latin typeface="Comic Sans MS" pitchFamily="66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GB" sz="1800" dirty="0">
              <a:latin typeface="Comic Sans MS" pitchFamily="66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GB" sz="1800" dirty="0">
                <a:latin typeface="Comic Sans MS" pitchFamily="66" charset="0"/>
              </a:rPr>
              <a:t>	//call the method which returns a float value which // is stored in Area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1800" dirty="0">
                <a:latin typeface="Comic Sans MS" pitchFamily="66" charset="0"/>
              </a:rPr>
              <a:t>	</a:t>
            </a:r>
            <a:r>
              <a:rPr lang="en-GB" sz="1800" b="1" dirty="0">
                <a:solidFill>
                  <a:srgbClr val="FF0000"/>
                </a:solidFill>
                <a:latin typeface="Comic Sans MS" pitchFamily="66" charset="0"/>
              </a:rPr>
              <a:t>float</a:t>
            </a:r>
            <a:r>
              <a:rPr lang="en-GB" sz="1800" dirty="0">
                <a:latin typeface="Comic Sans MS" pitchFamily="66" charset="0"/>
              </a:rPr>
              <a:t> Area;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1800" dirty="0">
                <a:latin typeface="Comic Sans MS" pitchFamily="66" charset="0"/>
              </a:rPr>
              <a:t>	Area = </a:t>
            </a:r>
            <a:r>
              <a:rPr lang="en-GB" sz="1800" b="1" dirty="0" err="1">
                <a:latin typeface="Comic Sans MS" pitchFamily="66" charset="0"/>
              </a:rPr>
              <a:t>CalcArea</a:t>
            </a:r>
            <a:r>
              <a:rPr lang="en-GB" sz="1800" b="1" dirty="0">
                <a:latin typeface="Comic Sans MS" pitchFamily="66" charset="0"/>
              </a:rPr>
              <a:t>( 3.3f, 4.5f );</a:t>
            </a:r>
          </a:p>
          <a:p>
            <a:pPr eaLnBrk="1" hangingPunct="1">
              <a:buNone/>
            </a:pPr>
            <a:r>
              <a:rPr lang="en-GB" sz="1800" dirty="0">
                <a:latin typeface="Comic Sans MS" pitchFamily="66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Comic Sans MS" pitchFamily="66" charset="0"/>
              </a:rPr>
              <a:t>//call the method &amp; pass it 3.3 and 4.5</a:t>
            </a:r>
          </a:p>
          <a:p>
            <a:pPr eaLnBrk="1" hangingPunct="1">
              <a:buNone/>
            </a:pPr>
            <a:r>
              <a:rPr lang="en-GB" sz="1800" dirty="0">
                <a:solidFill>
                  <a:srgbClr val="00B050"/>
                </a:solidFill>
                <a:latin typeface="Comic Sans MS" pitchFamily="66" charset="0"/>
              </a:rPr>
              <a:t>	//3.3 is passed (copied) to </a:t>
            </a:r>
            <a:r>
              <a:rPr lang="en-GB" sz="1800" dirty="0" err="1">
                <a:solidFill>
                  <a:srgbClr val="00B050"/>
                </a:solidFill>
                <a:latin typeface="Comic Sans MS" pitchFamily="66" charset="0"/>
              </a:rPr>
              <a:t>xlen</a:t>
            </a:r>
            <a:r>
              <a:rPr lang="en-GB" sz="1800" dirty="0">
                <a:solidFill>
                  <a:srgbClr val="00B050"/>
                </a:solidFill>
                <a:latin typeface="Comic Sans MS" pitchFamily="66" charset="0"/>
              </a:rPr>
              <a:t> &amp; 4.5 is passed </a:t>
            </a:r>
          </a:p>
          <a:p>
            <a:pPr eaLnBrk="1" hangingPunct="1">
              <a:buNone/>
            </a:pPr>
            <a:r>
              <a:rPr lang="en-GB" sz="1800" dirty="0">
                <a:solidFill>
                  <a:srgbClr val="00B050"/>
                </a:solidFill>
                <a:latin typeface="Comic Sans MS" pitchFamily="66" charset="0"/>
              </a:rPr>
              <a:t>     // (copied) to </a:t>
            </a:r>
            <a:r>
              <a:rPr lang="en-GB" sz="1800" dirty="0" err="1">
                <a:solidFill>
                  <a:srgbClr val="00B050"/>
                </a:solidFill>
                <a:latin typeface="Comic Sans MS" pitchFamily="66" charset="0"/>
              </a:rPr>
              <a:t>xbdth</a:t>
            </a:r>
            <a:endParaRPr lang="en-GB" sz="1800" dirty="0">
              <a:solidFill>
                <a:srgbClr val="00B050"/>
              </a:solidFill>
              <a:latin typeface="Comic Sans MS" pitchFamily="66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1800" b="1" dirty="0">
              <a:latin typeface="Comic Sans MS" pitchFamily="66" charset="0"/>
            </a:endParaRP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 flipV="1">
            <a:off x="2929981" y="3275855"/>
            <a:ext cx="1285884" cy="259950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 flipV="1">
            <a:off x="3789040" y="3275853"/>
            <a:ext cx="1368152" cy="259950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" name="Cloud 5"/>
          <p:cNvSpPr/>
          <p:nvPr/>
        </p:nvSpPr>
        <p:spPr>
          <a:xfrm>
            <a:off x="2420888" y="7077386"/>
            <a:ext cx="4176464" cy="1214446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Area Must be a FLOAT for the method returns FLOAT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4001" y="395536"/>
            <a:ext cx="56192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/>
            <a:r>
              <a:rPr lang="en-GB" sz="3600" b="0" dirty="0">
                <a:solidFill>
                  <a:srgbClr val="033ED3"/>
                </a:solidFill>
                <a:latin typeface="+mj-lt"/>
              </a:rPr>
              <a:t>Methods pass by </a:t>
            </a:r>
            <a:r>
              <a:rPr lang="en-GB" sz="3600" dirty="0">
                <a:solidFill>
                  <a:schemeClr val="accent6"/>
                </a:solidFill>
                <a:latin typeface="+mj-lt"/>
              </a:rPr>
              <a:t>value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428604" y="1427184"/>
            <a:ext cx="3132137" cy="5607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 b="0" dirty="0">
                <a:solidFill>
                  <a:srgbClr val="0033CC"/>
                </a:solidFill>
                <a:latin typeface="+mn-lt"/>
              </a:rPr>
              <a:t>private void</a:t>
            </a:r>
            <a:r>
              <a:rPr lang="en-GB" sz="1600" b="0" dirty="0">
                <a:latin typeface="+mn-lt"/>
              </a:rPr>
              <a:t> Method1()</a:t>
            </a:r>
          </a:p>
          <a:p>
            <a:pPr>
              <a:spcBef>
                <a:spcPct val="20000"/>
              </a:spcBef>
            </a:pPr>
            <a:r>
              <a:rPr lang="en-GB" sz="1600" b="0" dirty="0">
                <a:latin typeface="+mn-lt"/>
              </a:rPr>
              <a:t>{</a:t>
            </a:r>
          </a:p>
          <a:p>
            <a:pPr>
              <a:spcBef>
                <a:spcPct val="20000"/>
              </a:spcBef>
            </a:pPr>
            <a:r>
              <a:rPr lang="en-GB" sz="1600" b="0" dirty="0">
                <a:solidFill>
                  <a:srgbClr val="0033CC"/>
                </a:solidFill>
                <a:latin typeface="+mn-lt"/>
              </a:rPr>
              <a:t>   </a:t>
            </a:r>
            <a:r>
              <a:rPr lang="en-GB" sz="1600" b="0" dirty="0" err="1">
                <a:solidFill>
                  <a:srgbClr val="0033CC"/>
                </a:solidFill>
                <a:latin typeface="+mn-lt"/>
              </a:rPr>
              <a:t>int</a:t>
            </a:r>
            <a:r>
              <a:rPr lang="en-GB" sz="1600" b="0" dirty="0">
                <a:latin typeface="+mn-lt"/>
              </a:rPr>
              <a:t> mark1, mark2;</a:t>
            </a:r>
          </a:p>
          <a:p>
            <a:endParaRPr lang="en-GB" sz="1600" b="0" dirty="0">
              <a:latin typeface="+mn-lt"/>
            </a:endParaRPr>
          </a:p>
          <a:p>
            <a:r>
              <a:rPr lang="en-GB" sz="1600" b="0" dirty="0">
                <a:latin typeface="+mn-lt"/>
              </a:rPr>
              <a:t> mark1=</a:t>
            </a:r>
            <a:r>
              <a:rPr lang="en-GB" sz="1600" b="0" dirty="0" err="1">
                <a:latin typeface="+mn-lt"/>
              </a:rPr>
              <a:t>int.Parse</a:t>
            </a:r>
            <a:r>
              <a:rPr lang="en-GB" sz="1600" b="0" dirty="0">
                <a:latin typeface="+mn-lt"/>
              </a:rPr>
              <a:t>(txtm1.text);</a:t>
            </a:r>
          </a:p>
          <a:p>
            <a:r>
              <a:rPr lang="en-GB" sz="1600" b="0" dirty="0">
                <a:latin typeface="+mn-lt"/>
              </a:rPr>
              <a:t> mark2=</a:t>
            </a:r>
            <a:r>
              <a:rPr lang="en-GB" sz="1600" b="0" dirty="0" err="1">
                <a:latin typeface="+mn-lt"/>
              </a:rPr>
              <a:t>int.Parse</a:t>
            </a:r>
            <a:r>
              <a:rPr lang="en-GB" sz="1600" b="0" dirty="0">
                <a:latin typeface="+mn-lt"/>
              </a:rPr>
              <a:t>(txtm2.text);</a:t>
            </a:r>
          </a:p>
          <a:p>
            <a:pPr>
              <a:spcBef>
                <a:spcPct val="20000"/>
              </a:spcBef>
            </a:pPr>
            <a:r>
              <a:rPr lang="en-GB" sz="1600" b="0" dirty="0">
                <a:latin typeface="+mn-lt"/>
              </a:rPr>
              <a:t>  </a:t>
            </a:r>
          </a:p>
          <a:p>
            <a:pPr>
              <a:spcBef>
                <a:spcPct val="20000"/>
              </a:spcBef>
            </a:pPr>
            <a:r>
              <a:rPr lang="en-GB" sz="1600" b="0" dirty="0">
                <a:latin typeface="+mn-lt"/>
              </a:rPr>
              <a:t>   </a:t>
            </a:r>
            <a:r>
              <a:rPr lang="en-GB" sz="1500" dirty="0" err="1">
                <a:latin typeface="+mn-lt"/>
              </a:rPr>
              <a:t>FindMax</a:t>
            </a:r>
            <a:r>
              <a:rPr lang="en-GB" sz="1500" dirty="0">
                <a:latin typeface="+mn-lt"/>
              </a:rPr>
              <a:t>(mark1,mark2);</a:t>
            </a:r>
            <a:r>
              <a:rPr lang="en-GB" sz="1600" b="0" dirty="0">
                <a:latin typeface="+mn-lt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en-GB" sz="1600" b="0" dirty="0">
                <a:latin typeface="+mn-lt"/>
              </a:rPr>
              <a:t>}</a:t>
            </a:r>
          </a:p>
          <a:p>
            <a:pPr>
              <a:spcBef>
                <a:spcPct val="20000"/>
              </a:spcBef>
            </a:pPr>
            <a:endParaRPr lang="en-GB" sz="1600" b="0" dirty="0">
              <a:latin typeface="+mn-lt"/>
            </a:endParaRPr>
          </a:p>
          <a:p>
            <a:r>
              <a:rPr lang="en-GB" sz="1600" b="0" dirty="0">
                <a:solidFill>
                  <a:srgbClr val="0033CC"/>
                </a:solidFill>
                <a:latin typeface="+mn-lt"/>
              </a:rPr>
              <a:t>private void</a:t>
            </a:r>
            <a:r>
              <a:rPr lang="en-GB" sz="1600" b="0" dirty="0">
                <a:latin typeface="+mn-lt"/>
              </a:rPr>
              <a:t>   </a:t>
            </a:r>
            <a:r>
              <a:rPr lang="en-GB" sz="1600" b="0" dirty="0" err="1">
                <a:latin typeface="+mn-lt"/>
              </a:rPr>
              <a:t>FindMax</a:t>
            </a:r>
            <a:r>
              <a:rPr lang="en-GB" sz="1600" b="0" dirty="0">
                <a:latin typeface="+mn-lt"/>
              </a:rPr>
              <a:t> ( </a:t>
            </a:r>
          </a:p>
          <a:p>
            <a:r>
              <a:rPr lang="en-GB" sz="1600" b="0" dirty="0">
                <a:latin typeface="+mn-lt"/>
              </a:rPr>
              <a:t>        </a:t>
            </a:r>
            <a:r>
              <a:rPr lang="en-GB" sz="1600" b="0" dirty="0">
                <a:solidFill>
                  <a:srgbClr val="0033CC"/>
                </a:solidFill>
                <a:latin typeface="+mn-lt"/>
              </a:rPr>
              <a:t> </a:t>
            </a:r>
            <a:r>
              <a:rPr lang="en-GB" sz="1600" dirty="0" err="1">
                <a:solidFill>
                  <a:srgbClr val="0033CC"/>
                </a:solidFill>
                <a:latin typeface="+mn-lt"/>
              </a:rPr>
              <a:t>int</a:t>
            </a:r>
            <a:r>
              <a:rPr lang="en-GB" sz="1600" b="0" dirty="0">
                <a:latin typeface="+mn-lt"/>
              </a:rPr>
              <a:t> </a:t>
            </a:r>
            <a:r>
              <a:rPr lang="en-GB" sz="1600" b="0" dirty="0">
                <a:solidFill>
                  <a:srgbClr val="00B050"/>
                </a:solidFill>
                <a:latin typeface="+mn-lt"/>
              </a:rPr>
              <a:t>num1</a:t>
            </a:r>
            <a:r>
              <a:rPr lang="en-GB" sz="1600" b="0" dirty="0">
                <a:latin typeface="+mn-lt"/>
              </a:rPr>
              <a:t>,</a:t>
            </a:r>
            <a:r>
              <a:rPr lang="en-GB" sz="1600" b="0" dirty="0">
                <a:solidFill>
                  <a:srgbClr val="0033CC"/>
                </a:solidFill>
                <a:latin typeface="+mn-lt"/>
              </a:rPr>
              <a:t> </a:t>
            </a:r>
            <a:r>
              <a:rPr lang="en-GB" sz="1600" dirty="0" err="1">
                <a:solidFill>
                  <a:srgbClr val="0033CC"/>
                </a:solidFill>
                <a:latin typeface="+mn-lt"/>
              </a:rPr>
              <a:t>int</a:t>
            </a:r>
            <a:r>
              <a:rPr lang="en-GB" sz="1600" b="0" dirty="0">
                <a:latin typeface="+mn-lt"/>
              </a:rPr>
              <a:t> </a:t>
            </a:r>
            <a:r>
              <a:rPr lang="en-GB" sz="1600" b="0" dirty="0">
                <a:solidFill>
                  <a:srgbClr val="00B050"/>
                </a:solidFill>
                <a:latin typeface="+mn-lt"/>
              </a:rPr>
              <a:t>num2</a:t>
            </a:r>
            <a:r>
              <a:rPr lang="en-GB" sz="1600" b="0" dirty="0">
                <a:latin typeface="+mn-lt"/>
              </a:rPr>
              <a:t>)</a:t>
            </a:r>
          </a:p>
          <a:p>
            <a:r>
              <a:rPr lang="en-GB" sz="1600" b="0" dirty="0">
                <a:latin typeface="+mn-lt"/>
              </a:rPr>
              <a:t>{ </a:t>
            </a:r>
          </a:p>
          <a:p>
            <a:r>
              <a:rPr lang="en-GB" sz="1600" b="0" dirty="0">
                <a:latin typeface="+mn-lt"/>
              </a:rPr>
              <a:t>   </a:t>
            </a:r>
            <a:r>
              <a:rPr lang="en-GB" sz="1600" b="0" dirty="0" err="1">
                <a:solidFill>
                  <a:srgbClr val="0033CC"/>
                </a:solidFill>
                <a:latin typeface="+mn-lt"/>
              </a:rPr>
              <a:t>int</a:t>
            </a:r>
            <a:r>
              <a:rPr lang="en-GB" sz="1600" b="0" dirty="0">
                <a:latin typeface="+mn-lt"/>
              </a:rPr>
              <a:t> max = num1;</a:t>
            </a:r>
          </a:p>
          <a:p>
            <a:r>
              <a:rPr lang="en-GB" sz="1600" b="0" dirty="0">
                <a:latin typeface="+mn-lt"/>
              </a:rPr>
              <a:t>   </a:t>
            </a:r>
            <a:r>
              <a:rPr lang="en-GB" sz="1600" b="0" dirty="0">
                <a:solidFill>
                  <a:srgbClr val="0033CC"/>
                </a:solidFill>
                <a:latin typeface="+mn-lt"/>
              </a:rPr>
              <a:t>if</a:t>
            </a:r>
            <a:r>
              <a:rPr lang="en-GB" sz="1600" b="0" dirty="0">
                <a:latin typeface="+mn-lt"/>
              </a:rPr>
              <a:t> ( num2 &gt; max)</a:t>
            </a:r>
          </a:p>
          <a:p>
            <a:r>
              <a:rPr lang="en-GB" sz="1600" b="0" dirty="0">
                <a:latin typeface="+mn-lt"/>
              </a:rPr>
              <a:t>         max = num2;</a:t>
            </a:r>
          </a:p>
          <a:p>
            <a:endParaRPr lang="en-GB" sz="1600" b="0" dirty="0">
              <a:latin typeface="+mn-lt"/>
            </a:endParaRPr>
          </a:p>
          <a:p>
            <a:r>
              <a:rPr lang="en-GB" sz="1600" b="0" dirty="0">
                <a:latin typeface="+mn-lt"/>
              </a:rPr>
              <a:t>  </a:t>
            </a:r>
            <a:r>
              <a:rPr lang="en-GB" sz="1600" b="0" dirty="0" err="1">
                <a:solidFill>
                  <a:srgbClr val="008080"/>
                </a:solidFill>
                <a:latin typeface="+mn-lt"/>
              </a:rPr>
              <a:t>MessageBox.Show</a:t>
            </a:r>
            <a:r>
              <a:rPr lang="en-GB" sz="1600" b="0" dirty="0">
                <a:latin typeface="+mn-lt"/>
              </a:rPr>
              <a:t> </a:t>
            </a:r>
          </a:p>
          <a:p>
            <a:r>
              <a:rPr lang="en-GB" sz="1600" b="0" dirty="0">
                <a:latin typeface="+mn-lt"/>
              </a:rPr>
              <a:t>    (“maximum=” + max);</a:t>
            </a:r>
          </a:p>
          <a:p>
            <a:r>
              <a:rPr lang="en-GB" sz="1600" b="0" dirty="0">
                <a:latin typeface="+mn-lt"/>
              </a:rPr>
              <a:t>}</a:t>
            </a:r>
          </a:p>
          <a:p>
            <a:pPr>
              <a:spcBef>
                <a:spcPct val="20000"/>
              </a:spcBef>
            </a:pPr>
            <a:endParaRPr lang="en-GB" sz="1600" b="0" dirty="0">
              <a:latin typeface="Verdana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xfrm>
            <a:off x="452459" y="352401"/>
            <a:ext cx="6048375" cy="790575"/>
          </a:xfrm>
          <a:noFill/>
        </p:spPr>
        <p:txBody>
          <a:bodyPr/>
          <a:lstStyle/>
          <a:p>
            <a:pPr defTabSz="457200"/>
            <a:r>
              <a:rPr lang="en-GB" dirty="0">
                <a:solidFill>
                  <a:srgbClr val="033ED3"/>
                </a:solidFill>
              </a:rPr>
              <a:t>Methods pass by </a:t>
            </a:r>
            <a:r>
              <a:rPr lang="en-GB" dirty="0">
                <a:solidFill>
                  <a:schemeClr val="accent6"/>
                </a:solidFill>
              </a:rPr>
              <a:t>value</a:t>
            </a:r>
          </a:p>
        </p:txBody>
      </p:sp>
      <p:sp>
        <p:nvSpPr>
          <p:cNvPr id="405508" name="Text Box 4"/>
          <p:cNvSpPr txBox="1">
            <a:spLocks noChangeArrowheads="1"/>
          </p:cNvSpPr>
          <p:nvPr/>
        </p:nvSpPr>
        <p:spPr bwMode="auto">
          <a:xfrm>
            <a:off x="3668691" y="1647846"/>
            <a:ext cx="2997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latin typeface="Verdana" pitchFamily="34" charset="0"/>
              </a:rPr>
              <a:t>(1) User enters 2 marks. Data is stored into mark1, mark2</a:t>
            </a:r>
          </a:p>
        </p:txBody>
      </p:sp>
      <p:sp>
        <p:nvSpPr>
          <p:cNvPr id="405509" name="Text Box 5"/>
          <p:cNvSpPr txBox="1">
            <a:spLocks noChangeArrowheads="1"/>
          </p:cNvSpPr>
          <p:nvPr/>
        </p:nvSpPr>
        <p:spPr bwMode="auto">
          <a:xfrm>
            <a:off x="3741716" y="2701946"/>
            <a:ext cx="29241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 dirty="0">
                <a:latin typeface="Verdana" pitchFamily="34" charset="0"/>
              </a:rPr>
              <a:t>(2) Method1 calls </a:t>
            </a:r>
            <a:r>
              <a:rPr lang="en-US" sz="1600" b="0" dirty="0" err="1">
                <a:latin typeface="Verdana" pitchFamily="34" charset="0"/>
              </a:rPr>
              <a:t>FindMax</a:t>
            </a:r>
            <a:r>
              <a:rPr lang="en-US" sz="1600" b="0" dirty="0">
                <a:latin typeface="Verdana" pitchFamily="34" charset="0"/>
              </a:rPr>
              <a:t>() and passes in mark1, mark2   </a:t>
            </a:r>
          </a:p>
        </p:txBody>
      </p:sp>
      <p:sp>
        <p:nvSpPr>
          <p:cNvPr id="405510" name="Text Box 6"/>
          <p:cNvSpPr txBox="1">
            <a:spLocks noChangeArrowheads="1"/>
          </p:cNvSpPr>
          <p:nvPr/>
        </p:nvSpPr>
        <p:spPr bwMode="auto">
          <a:xfrm>
            <a:off x="3813154" y="5584846"/>
            <a:ext cx="2852737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 dirty="0">
                <a:latin typeface="Verdana" pitchFamily="34" charset="0"/>
              </a:rPr>
              <a:t>(3) A </a:t>
            </a:r>
            <a:r>
              <a:rPr lang="en-US" sz="1600" dirty="0">
                <a:solidFill>
                  <a:schemeClr val="accent6"/>
                </a:solidFill>
                <a:latin typeface="Verdana" pitchFamily="34" charset="0"/>
              </a:rPr>
              <a:t>copy of values</a:t>
            </a:r>
            <a:r>
              <a:rPr lang="en-US" sz="1600" b="0" dirty="0">
                <a:latin typeface="Verdana" pitchFamily="34" charset="0"/>
              </a:rPr>
              <a:t> of mark1 and mark2 is passed to num1 and num2</a:t>
            </a:r>
          </a:p>
        </p:txBody>
      </p:sp>
      <p:sp>
        <p:nvSpPr>
          <p:cNvPr id="405511" name="Line 7"/>
          <p:cNvSpPr>
            <a:spLocks noChangeShapeType="1"/>
          </p:cNvSpPr>
          <p:nvPr/>
        </p:nvSpPr>
        <p:spPr bwMode="auto">
          <a:xfrm flipH="1">
            <a:off x="1616111" y="3635896"/>
            <a:ext cx="12689" cy="798766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5512" name="Line 8"/>
          <p:cNvSpPr>
            <a:spLocks noChangeShapeType="1"/>
          </p:cNvSpPr>
          <p:nvPr/>
        </p:nvSpPr>
        <p:spPr bwMode="auto">
          <a:xfrm flipH="1">
            <a:off x="2665610" y="3635896"/>
            <a:ext cx="10310" cy="814681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6633" name="Group 9"/>
          <p:cNvGrpSpPr>
            <a:grpSpLocks/>
          </p:cNvGrpSpPr>
          <p:nvPr/>
        </p:nvGrpSpPr>
        <p:grpSpPr bwMode="auto">
          <a:xfrm>
            <a:off x="3957616" y="3714744"/>
            <a:ext cx="2400342" cy="1749743"/>
            <a:chOff x="2614" y="2517"/>
            <a:chExt cx="1485" cy="1322"/>
          </a:xfrm>
        </p:grpSpPr>
        <p:sp>
          <p:nvSpPr>
            <p:cNvPr id="26640" name="Rectangle 10"/>
            <p:cNvSpPr>
              <a:spLocks noChangeArrowheads="1"/>
            </p:cNvSpPr>
            <p:nvPr/>
          </p:nvSpPr>
          <p:spPr bwMode="auto">
            <a:xfrm>
              <a:off x="2670" y="2697"/>
              <a:ext cx="408" cy="303"/>
            </a:xfrm>
            <a:prstGeom prst="rect">
              <a:avLst/>
            </a:prstGeom>
            <a:noFill/>
            <a:ln w="952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0" dirty="0">
                  <a:solidFill>
                    <a:srgbClr val="0033CC"/>
                  </a:solidFill>
                  <a:latin typeface="Verdana" pitchFamily="34" charset="0"/>
                </a:rPr>
                <a:t>20</a:t>
              </a:r>
            </a:p>
          </p:txBody>
        </p:sp>
        <p:sp>
          <p:nvSpPr>
            <p:cNvPr id="26641" name="Rectangle 11"/>
            <p:cNvSpPr>
              <a:spLocks noChangeArrowheads="1"/>
            </p:cNvSpPr>
            <p:nvPr/>
          </p:nvSpPr>
          <p:spPr bwMode="auto">
            <a:xfrm>
              <a:off x="3555" y="2697"/>
              <a:ext cx="408" cy="303"/>
            </a:xfrm>
            <a:prstGeom prst="rect">
              <a:avLst/>
            </a:prstGeom>
            <a:noFill/>
            <a:ln w="952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0">
                  <a:solidFill>
                    <a:srgbClr val="0033CC"/>
                  </a:solidFill>
                  <a:latin typeface="Verdana" pitchFamily="34" charset="0"/>
                </a:rPr>
                <a:t>18</a:t>
              </a:r>
            </a:p>
          </p:txBody>
        </p:sp>
        <p:sp>
          <p:nvSpPr>
            <p:cNvPr id="26642" name="Rectangle 12"/>
            <p:cNvSpPr>
              <a:spLocks noChangeArrowheads="1"/>
            </p:cNvSpPr>
            <p:nvPr/>
          </p:nvSpPr>
          <p:spPr bwMode="auto">
            <a:xfrm>
              <a:off x="2677" y="3303"/>
              <a:ext cx="408" cy="302"/>
            </a:xfrm>
            <a:prstGeom prst="rect">
              <a:avLst/>
            </a:prstGeom>
            <a:noFill/>
            <a:ln w="952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0" dirty="0">
                  <a:solidFill>
                    <a:srgbClr val="0033CC"/>
                  </a:solidFill>
                  <a:latin typeface="Verdana" pitchFamily="34" charset="0"/>
                </a:rPr>
                <a:t>20</a:t>
              </a:r>
            </a:p>
          </p:txBody>
        </p:sp>
        <p:sp>
          <p:nvSpPr>
            <p:cNvPr id="26643" name="Rectangle 13"/>
            <p:cNvSpPr>
              <a:spLocks noChangeArrowheads="1"/>
            </p:cNvSpPr>
            <p:nvPr/>
          </p:nvSpPr>
          <p:spPr bwMode="auto">
            <a:xfrm>
              <a:off x="3572" y="3303"/>
              <a:ext cx="408" cy="302"/>
            </a:xfrm>
            <a:prstGeom prst="rect">
              <a:avLst/>
            </a:prstGeom>
            <a:noFill/>
            <a:ln w="952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 b="0">
                  <a:solidFill>
                    <a:srgbClr val="0033CC"/>
                  </a:solidFill>
                  <a:latin typeface="Verdana" pitchFamily="34" charset="0"/>
                </a:rPr>
                <a:t>18</a:t>
              </a:r>
            </a:p>
          </p:txBody>
        </p:sp>
        <p:sp>
          <p:nvSpPr>
            <p:cNvPr id="26644" name="Text Box 14"/>
            <p:cNvSpPr txBox="1">
              <a:spLocks noChangeArrowheads="1"/>
            </p:cNvSpPr>
            <p:nvPr/>
          </p:nvSpPr>
          <p:spPr bwMode="auto">
            <a:xfrm>
              <a:off x="2614" y="2517"/>
              <a:ext cx="57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0" dirty="0">
                  <a:latin typeface="Verdana" pitchFamily="34" charset="0"/>
                </a:rPr>
                <a:t>mark1</a:t>
              </a:r>
            </a:p>
          </p:txBody>
        </p:sp>
        <p:sp>
          <p:nvSpPr>
            <p:cNvPr id="26645" name="Text Box 15"/>
            <p:cNvSpPr txBox="1">
              <a:spLocks noChangeArrowheads="1"/>
            </p:cNvSpPr>
            <p:nvPr/>
          </p:nvSpPr>
          <p:spPr bwMode="auto">
            <a:xfrm>
              <a:off x="3521" y="2517"/>
              <a:ext cx="57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0" dirty="0">
                  <a:latin typeface="Verdana" pitchFamily="34" charset="0"/>
                </a:rPr>
                <a:t>mark2</a:t>
              </a:r>
            </a:p>
          </p:txBody>
        </p:sp>
        <p:sp>
          <p:nvSpPr>
            <p:cNvPr id="26646" name="Text Box 16"/>
            <p:cNvSpPr txBox="1">
              <a:spLocks noChangeArrowheads="1"/>
            </p:cNvSpPr>
            <p:nvPr/>
          </p:nvSpPr>
          <p:spPr bwMode="auto">
            <a:xfrm>
              <a:off x="3521" y="3606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0" dirty="0">
                  <a:solidFill>
                    <a:srgbClr val="00B050"/>
                  </a:solidFill>
                  <a:latin typeface="Verdana" pitchFamily="34" charset="0"/>
                </a:rPr>
                <a:t>num2</a:t>
              </a:r>
            </a:p>
          </p:txBody>
        </p:sp>
        <p:sp>
          <p:nvSpPr>
            <p:cNvPr id="26647" name="Text Box 17"/>
            <p:cNvSpPr txBox="1">
              <a:spLocks noChangeArrowheads="1"/>
            </p:cNvSpPr>
            <p:nvPr/>
          </p:nvSpPr>
          <p:spPr bwMode="auto">
            <a:xfrm>
              <a:off x="2659" y="3606"/>
              <a:ext cx="57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0" dirty="0">
                  <a:solidFill>
                    <a:srgbClr val="00B050"/>
                  </a:solidFill>
                  <a:latin typeface="Verdana" pitchFamily="34" charset="0"/>
                </a:rPr>
                <a:t>num1</a:t>
              </a:r>
            </a:p>
          </p:txBody>
        </p:sp>
        <p:sp>
          <p:nvSpPr>
            <p:cNvPr id="26648" name="Line 18"/>
            <p:cNvSpPr>
              <a:spLocks noChangeShapeType="1"/>
            </p:cNvSpPr>
            <p:nvPr/>
          </p:nvSpPr>
          <p:spPr bwMode="auto">
            <a:xfrm flipH="1">
              <a:off x="2875" y="3000"/>
              <a:ext cx="0" cy="241"/>
            </a:xfrm>
            <a:prstGeom prst="line">
              <a:avLst/>
            </a:prstGeom>
            <a:noFill/>
            <a:ln w="9525">
              <a:solidFill>
                <a:srgbClr val="0033CC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9" name="Line 19"/>
            <p:cNvSpPr>
              <a:spLocks noChangeShapeType="1"/>
            </p:cNvSpPr>
            <p:nvPr/>
          </p:nvSpPr>
          <p:spPr bwMode="auto">
            <a:xfrm flipH="1">
              <a:off x="3759" y="3000"/>
              <a:ext cx="0" cy="241"/>
            </a:xfrm>
            <a:prstGeom prst="line">
              <a:avLst/>
            </a:prstGeom>
            <a:noFill/>
            <a:ln w="9525">
              <a:solidFill>
                <a:srgbClr val="0033CC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5524" name="Text Box 20"/>
          <p:cNvSpPr txBox="1">
            <a:spLocks noChangeArrowheads="1"/>
          </p:cNvSpPr>
          <p:nvPr/>
        </p:nvSpPr>
        <p:spPr bwMode="auto">
          <a:xfrm>
            <a:off x="3884591" y="6810396"/>
            <a:ext cx="27813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0">
                <a:latin typeface="Verdana" pitchFamily="34" charset="0"/>
              </a:rPr>
              <a:t>(4) FindMax() receives values; calculates &amp; displays the maximum</a:t>
            </a:r>
          </a:p>
        </p:txBody>
      </p:sp>
      <p:sp>
        <p:nvSpPr>
          <p:cNvPr id="405525" name="Oval 21"/>
          <p:cNvSpPr>
            <a:spLocks noChangeArrowheads="1"/>
          </p:cNvSpPr>
          <p:nvPr/>
        </p:nvSpPr>
        <p:spPr bwMode="auto">
          <a:xfrm>
            <a:off x="158729" y="2509064"/>
            <a:ext cx="269875" cy="3857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  <a:latin typeface="Verdana" pitchFamily="34" charset="0"/>
              </a:rPr>
              <a:t>1</a:t>
            </a:r>
          </a:p>
        </p:txBody>
      </p:sp>
      <p:sp>
        <p:nvSpPr>
          <p:cNvPr id="405526" name="Oval 22"/>
          <p:cNvSpPr>
            <a:spLocks noChangeArrowheads="1"/>
          </p:cNvSpPr>
          <p:nvPr/>
        </p:nvSpPr>
        <p:spPr bwMode="auto">
          <a:xfrm>
            <a:off x="158728" y="3356964"/>
            <a:ext cx="269875" cy="3873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  <a:latin typeface="Verdana" pitchFamily="34" charset="0"/>
              </a:rPr>
              <a:t>2</a:t>
            </a:r>
          </a:p>
        </p:txBody>
      </p:sp>
      <p:sp>
        <p:nvSpPr>
          <p:cNvPr id="405527" name="Oval 23"/>
          <p:cNvSpPr>
            <a:spLocks noChangeArrowheads="1"/>
          </p:cNvSpPr>
          <p:nvPr/>
        </p:nvSpPr>
        <p:spPr bwMode="auto">
          <a:xfrm>
            <a:off x="158726" y="4288824"/>
            <a:ext cx="269875" cy="3841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  <a:latin typeface="Verdana" pitchFamily="34" charset="0"/>
              </a:rPr>
              <a:t>3</a:t>
            </a:r>
          </a:p>
        </p:txBody>
      </p:sp>
      <p:sp>
        <p:nvSpPr>
          <p:cNvPr id="405528" name="Oval 24"/>
          <p:cNvSpPr>
            <a:spLocks noChangeArrowheads="1"/>
          </p:cNvSpPr>
          <p:nvPr/>
        </p:nvSpPr>
        <p:spPr bwMode="auto">
          <a:xfrm>
            <a:off x="158727" y="6061096"/>
            <a:ext cx="269875" cy="3841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solidFill>
                  <a:schemeClr val="accent2"/>
                </a:solidFill>
                <a:latin typeface="Verdana" pitchFamily="34" charset="0"/>
              </a:rPr>
              <a:t>4</a:t>
            </a:r>
          </a:p>
        </p:txBody>
      </p:sp>
      <p:sp>
        <p:nvSpPr>
          <p:cNvPr id="26639" name="Line 25"/>
          <p:cNvSpPr>
            <a:spLocks noChangeShapeType="1"/>
          </p:cNvSpPr>
          <p:nvPr/>
        </p:nvSpPr>
        <p:spPr bwMode="auto">
          <a:xfrm>
            <a:off x="3524229" y="1427184"/>
            <a:ext cx="0" cy="60467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05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0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0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05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05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05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0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0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0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8" grpId="0" autoUpdateAnimBg="0"/>
      <p:bldP spid="405509" grpId="0" autoUpdateAnimBg="0"/>
      <p:bldP spid="405510" grpId="0" autoUpdateAnimBg="0"/>
      <p:bldP spid="405511" grpId="0" animBg="1"/>
      <p:bldP spid="405512" grpId="0" animBg="1"/>
      <p:bldP spid="405524" grpId="0" autoUpdateAnimBg="0"/>
      <p:bldP spid="405525" grpId="0" animBg="1" autoUpdateAnimBg="0"/>
      <p:bldP spid="405526" grpId="0" animBg="1" autoUpdateAnimBg="0"/>
      <p:bldP spid="405527" grpId="0" animBg="1" autoUpdateAnimBg="0"/>
      <p:bldP spid="405528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anail\AppData\Local\Microsoft\Windows\Temporary Internet Files\Content.IE5\WOH74YVD\MC900413596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6466" y="3851920"/>
            <a:ext cx="2146910" cy="1865174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457200"/>
            <a:r>
              <a:rPr lang="en-GB" dirty="0">
                <a:solidFill>
                  <a:srgbClr val="033ED3"/>
                </a:solidFill>
              </a:rPr>
              <a:t>Methods pass by </a:t>
            </a:r>
            <a:r>
              <a:rPr lang="en-GB" dirty="0">
                <a:solidFill>
                  <a:schemeClr val="accent6"/>
                </a:solidFill>
              </a:rP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664" y="1115616"/>
            <a:ext cx="6038850" cy="7848872"/>
          </a:xfrm>
        </p:spPr>
        <p:txBody>
          <a:bodyPr/>
          <a:lstStyle/>
          <a:p>
            <a:r>
              <a:rPr lang="en-GB" sz="2400" dirty="0"/>
              <a:t>An analogy to illustrate passing by reference:</a:t>
            </a:r>
          </a:p>
          <a:p>
            <a:pPr lvl="1"/>
            <a:r>
              <a:rPr lang="en-GB" sz="2000" dirty="0"/>
              <a:t>You are working on a written report, with some classmates. Your classmate asks you for the report.</a:t>
            </a:r>
          </a:p>
          <a:p>
            <a:pPr lvl="1"/>
            <a:r>
              <a:rPr lang="en-GB" sz="2000" dirty="0"/>
              <a:t>There are 2 ways you could pass this document to them:</a:t>
            </a:r>
          </a:p>
          <a:p>
            <a:pPr lvl="2"/>
            <a:r>
              <a:rPr lang="en-GB" sz="2000" dirty="0"/>
              <a:t>You could </a:t>
            </a:r>
            <a:r>
              <a:rPr lang="en-GB" sz="2000" dirty="0">
                <a:solidFill>
                  <a:srgbClr val="00B050"/>
                </a:solidFill>
              </a:rPr>
              <a:t>photocopy</a:t>
            </a:r>
            <a:r>
              <a:rPr lang="en-GB" sz="2000" dirty="0"/>
              <a:t> the document</a:t>
            </a:r>
          </a:p>
          <a:p>
            <a:pPr lvl="2"/>
            <a:r>
              <a:rPr lang="en-GB" sz="2000" dirty="0"/>
              <a:t>You could tell your classmate </a:t>
            </a:r>
          </a:p>
          <a:p>
            <a:pPr marL="914400" lvl="2" indent="0">
              <a:buNone/>
            </a:pPr>
            <a:r>
              <a:rPr lang="en-GB" sz="2000" i="1" dirty="0">
                <a:solidFill>
                  <a:srgbClr val="00B050"/>
                </a:solidFill>
              </a:rPr>
              <a:t>”Oh yes that one. Just look on the</a:t>
            </a:r>
          </a:p>
          <a:p>
            <a:pPr marL="914400" lvl="2" indent="0">
              <a:buNone/>
            </a:pPr>
            <a:r>
              <a:rPr lang="en-GB" sz="2000" i="1" dirty="0">
                <a:solidFill>
                  <a:srgbClr val="00B050"/>
                </a:solidFill>
              </a:rPr>
              <a:t> fourth shelf down. There it is”</a:t>
            </a:r>
          </a:p>
          <a:p>
            <a:r>
              <a:rPr lang="en-GB" sz="2400" dirty="0"/>
              <a:t>The analogy:</a:t>
            </a:r>
          </a:p>
          <a:p>
            <a:pPr lvl="1"/>
            <a:r>
              <a:rPr lang="en-GB" sz="2200" dirty="0"/>
              <a:t>The document is an argument</a:t>
            </a:r>
          </a:p>
          <a:p>
            <a:pPr lvl="1"/>
            <a:r>
              <a:rPr lang="en-GB" sz="2200" dirty="0"/>
              <a:t>Your classmate is a method who is being called by you, to whom an argument is to be passed</a:t>
            </a:r>
          </a:p>
          <a:p>
            <a:pPr lvl="1"/>
            <a:r>
              <a:rPr lang="en-GB" sz="2200" dirty="0"/>
              <a:t>Passing a photocopy of the document is passing </a:t>
            </a:r>
            <a:r>
              <a:rPr lang="en-GB" sz="2200" dirty="0">
                <a:solidFill>
                  <a:srgbClr val="FF0000"/>
                </a:solidFill>
              </a:rPr>
              <a:t>“by value”</a:t>
            </a:r>
          </a:p>
          <a:p>
            <a:pPr lvl="1"/>
            <a:r>
              <a:rPr lang="en-GB" sz="2200" dirty="0"/>
              <a:t>Telling your classmate where is the original copy is stored at is </a:t>
            </a:r>
            <a:r>
              <a:rPr lang="en-GB" sz="2200" dirty="0">
                <a:solidFill>
                  <a:srgbClr val="FF0000"/>
                </a:solidFill>
              </a:rPr>
              <a:t>“passing by reference”</a:t>
            </a:r>
            <a:endParaRPr lang="en-SG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58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33ED3"/>
                </a:solidFill>
              </a:rPr>
              <a:t>Methods pass by </a:t>
            </a:r>
            <a:r>
              <a:rPr lang="en-GB" dirty="0">
                <a:solidFill>
                  <a:schemeClr val="accent6"/>
                </a:solidFill>
              </a:rPr>
              <a:t>reference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50" y="1259632"/>
            <a:ext cx="6265118" cy="6913563"/>
          </a:xfrm>
        </p:spPr>
        <p:txBody>
          <a:bodyPr/>
          <a:lstStyle/>
          <a:p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 important points</a:t>
            </a:r>
          </a:p>
          <a:p>
            <a:pPr lvl="1"/>
            <a:r>
              <a:rPr lang="en-GB" dirty="0"/>
              <a:t>Passing a copy of the data (by value) is </a:t>
            </a:r>
            <a:r>
              <a:rPr lang="en-GB" dirty="0">
                <a:solidFill>
                  <a:schemeClr val="accent2"/>
                </a:solidFill>
              </a:rPr>
              <a:t>safer</a:t>
            </a:r>
          </a:p>
          <a:p>
            <a:pPr lvl="2"/>
            <a:r>
              <a:rPr lang="en-GB" dirty="0"/>
              <a:t>You keep hold of the original item</a:t>
            </a:r>
          </a:p>
          <a:p>
            <a:pPr lvl="2"/>
            <a:r>
              <a:rPr lang="en-GB" dirty="0"/>
              <a:t>Changes make by your classmates will </a:t>
            </a:r>
            <a:r>
              <a:rPr lang="en-GB" b="1" u="sng" dirty="0"/>
              <a:t>NOT</a:t>
            </a:r>
            <a:r>
              <a:rPr lang="en-GB" dirty="0"/>
              <a:t> affect you</a:t>
            </a:r>
          </a:p>
          <a:p>
            <a:pPr lvl="1"/>
            <a:r>
              <a:rPr lang="en-GB" dirty="0"/>
              <a:t>Passing the whereabouts of the data (by reference) is </a:t>
            </a:r>
            <a:r>
              <a:rPr lang="en-GB" b="1" dirty="0">
                <a:solidFill>
                  <a:srgbClr val="FF0000"/>
                </a:solidFill>
              </a:rPr>
              <a:t>fast</a:t>
            </a:r>
          </a:p>
          <a:p>
            <a:pPr lvl="2"/>
            <a:r>
              <a:rPr lang="en-GB" dirty="0"/>
              <a:t>No data is physically copied or moved</a:t>
            </a:r>
          </a:p>
          <a:p>
            <a:pPr lvl="2"/>
            <a:r>
              <a:rPr lang="en-GB" dirty="0"/>
              <a:t>Your classmates can make changes without removing the document from your room</a:t>
            </a:r>
          </a:p>
          <a:p>
            <a:pPr lvl="2"/>
            <a:r>
              <a:rPr lang="en-GB" dirty="0"/>
              <a:t>There is only a </a:t>
            </a:r>
            <a:r>
              <a:rPr lang="en-GB" b="1" u="sng" dirty="0"/>
              <a:t>single copy</a:t>
            </a:r>
          </a:p>
          <a:p>
            <a:pPr lvl="2"/>
            <a:r>
              <a:rPr lang="en-GB" dirty="0"/>
              <a:t>Your classmates has the same power as you</a:t>
            </a:r>
            <a:endParaRPr lang="en-SG" dirty="0"/>
          </a:p>
        </p:txBody>
      </p:sp>
      <p:sp>
        <p:nvSpPr>
          <p:cNvPr id="4" name="Rounded Rectangular Callout 3"/>
          <p:cNvSpPr/>
          <p:nvPr/>
        </p:nvSpPr>
        <p:spPr>
          <a:xfrm>
            <a:off x="1340768" y="7812360"/>
            <a:ext cx="5184576" cy="628761"/>
          </a:xfrm>
          <a:prstGeom prst="wedgeRoundRectCallout">
            <a:avLst>
              <a:gd name="adj1" fmla="val 18372"/>
              <a:gd name="adj2" fmla="val -174072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400" dirty="0">
                <a:solidFill>
                  <a:schemeClr val="accent6"/>
                </a:solidFill>
              </a:rPr>
              <a:t>Which is better? Pass by value or reference (address)?</a:t>
            </a:r>
            <a:endParaRPr lang="en-SG" sz="1400" dirty="0">
              <a:solidFill>
                <a:schemeClr val="accent6"/>
              </a:solidFill>
            </a:endParaRPr>
          </a:p>
        </p:txBody>
      </p:sp>
      <p:pic>
        <p:nvPicPr>
          <p:cNvPr id="5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60" y="7740352"/>
            <a:ext cx="864096" cy="102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224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6672" y="3563888"/>
            <a:ext cx="5634062" cy="40811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65125" indent="-365125" defTabSz="457200">
              <a:lnSpc>
                <a:spcPct val="80000"/>
              </a:lnSpc>
            </a:pPr>
            <a:r>
              <a:rPr lang="en-GB" sz="1600" b="0" dirty="0"/>
              <a:t>private void button1_Click(object sender, </a:t>
            </a:r>
            <a:r>
              <a:rPr lang="en-GB" sz="1600" b="0" dirty="0" err="1"/>
              <a:t>EventArgs</a:t>
            </a:r>
            <a:r>
              <a:rPr lang="en-GB" sz="1600" b="0" dirty="0"/>
              <a:t> e)</a:t>
            </a:r>
          </a:p>
          <a:p>
            <a:pPr marL="365125" indent="-365125" defTabSz="457200">
              <a:lnSpc>
                <a:spcPct val="80000"/>
              </a:lnSpc>
            </a:pPr>
            <a:r>
              <a:rPr lang="en-GB" sz="1600" b="0" dirty="0"/>
              <a:t>{</a:t>
            </a:r>
          </a:p>
          <a:p>
            <a:pPr marL="365125" indent="-365125" defTabSz="457200"/>
            <a:r>
              <a:rPr lang="en-GB" sz="1600" b="0" dirty="0"/>
              <a:t>   </a:t>
            </a:r>
            <a:r>
              <a:rPr lang="en-GB" sz="1600" b="0" dirty="0" err="1"/>
              <a:t>int</a:t>
            </a:r>
            <a:r>
              <a:rPr lang="en-GB" sz="1600" b="0" dirty="0"/>
              <a:t> num1;      			// input</a:t>
            </a:r>
          </a:p>
          <a:p>
            <a:pPr marL="365125" indent="-365125" defTabSz="457200"/>
            <a:r>
              <a:rPr lang="en-GB" sz="1600" b="0" dirty="0"/>
              <a:t>   </a:t>
            </a:r>
            <a:r>
              <a:rPr lang="en-GB" sz="1600" b="0" dirty="0" err="1"/>
              <a:t>int</a:t>
            </a:r>
            <a:r>
              <a:rPr lang="en-GB" sz="1600" b="0" dirty="0"/>
              <a:t> num2;      			// input</a:t>
            </a:r>
          </a:p>
          <a:p>
            <a:pPr marL="365125" indent="-365125" defTabSz="457200"/>
            <a:r>
              <a:rPr lang="en-GB" sz="1600" b="0" dirty="0"/>
              <a:t>   </a:t>
            </a:r>
            <a:r>
              <a:rPr lang="en-GB" sz="1600" b="0" dirty="0" err="1"/>
              <a:t>int</a:t>
            </a:r>
            <a:r>
              <a:rPr lang="en-GB" sz="1600" b="0" dirty="0"/>
              <a:t> sum=0, prod=0; 		// outputs</a:t>
            </a:r>
          </a:p>
          <a:p>
            <a:pPr marL="365125" indent="-365125" defTabSz="457200"/>
            <a:r>
              <a:rPr lang="en-GB" sz="1600" b="0" dirty="0"/>
              <a:t>   num1 = </a:t>
            </a:r>
            <a:r>
              <a:rPr lang="en-GB" sz="1600" b="0" dirty="0" err="1"/>
              <a:t>int.Parse</a:t>
            </a:r>
            <a:r>
              <a:rPr lang="en-GB" sz="1600" b="0" dirty="0"/>
              <a:t>(txtNum1.Text);</a:t>
            </a:r>
          </a:p>
          <a:p>
            <a:pPr marL="365125" indent="-365125" defTabSz="457200"/>
            <a:r>
              <a:rPr lang="en-GB" sz="1600" b="0" dirty="0"/>
              <a:t>   num2 = </a:t>
            </a:r>
            <a:r>
              <a:rPr lang="en-GB" sz="1600" b="0" dirty="0" err="1"/>
              <a:t>int.Parse</a:t>
            </a:r>
            <a:r>
              <a:rPr lang="en-GB" sz="1600" b="0" dirty="0"/>
              <a:t>(txtNum2.Text);</a:t>
            </a:r>
          </a:p>
          <a:p>
            <a:pPr marL="365125" indent="-365125" defTabSz="457200"/>
            <a:endParaRPr lang="en-GB" sz="1600" b="0" dirty="0"/>
          </a:p>
          <a:p>
            <a:pPr marL="365125" indent="-365125" defTabSz="457200"/>
            <a:r>
              <a:rPr lang="en-GB" sz="1600" b="0" dirty="0"/>
              <a:t>   </a:t>
            </a:r>
            <a:r>
              <a:rPr lang="en-GB" sz="1600" b="0" dirty="0" err="1"/>
              <a:t>calc</a:t>
            </a:r>
            <a:r>
              <a:rPr lang="en-GB" sz="1600" b="0" dirty="0"/>
              <a:t>(num1, num2,  ref sum, ref prod);</a:t>
            </a:r>
          </a:p>
          <a:p>
            <a:pPr marL="365125" indent="-365125" defTabSz="457200"/>
            <a:r>
              <a:rPr lang="en-GB" sz="1600" b="0" dirty="0"/>
              <a:t>   </a:t>
            </a:r>
            <a:r>
              <a:rPr lang="en-GB" sz="1600" b="0" dirty="0" err="1"/>
              <a:t>rtbResult.AppendText</a:t>
            </a:r>
            <a:r>
              <a:rPr lang="en-GB" sz="1600" b="0" dirty="0"/>
              <a:t> ("Sum=" + sum );</a:t>
            </a:r>
          </a:p>
          <a:p>
            <a:pPr marL="365125" indent="-365125" defTabSz="457200"/>
            <a:r>
              <a:rPr lang="en-GB" sz="1600" b="0" dirty="0"/>
              <a:t>   </a:t>
            </a:r>
            <a:r>
              <a:rPr lang="en-GB" sz="1600" b="0" dirty="0" err="1"/>
              <a:t>rtbResult.AppendText</a:t>
            </a:r>
            <a:r>
              <a:rPr lang="en-GB" sz="1600" b="0" dirty="0"/>
              <a:t> ( "Product=" + prod );</a:t>
            </a:r>
          </a:p>
          <a:p>
            <a:pPr marL="365125" indent="-365125" defTabSz="457200">
              <a:lnSpc>
                <a:spcPct val="80000"/>
              </a:lnSpc>
            </a:pPr>
            <a:r>
              <a:rPr lang="en-GB" sz="1600" b="0" dirty="0"/>
              <a:t>}</a:t>
            </a:r>
          </a:p>
          <a:p>
            <a:pPr marL="365125" indent="-365125" defTabSz="457200">
              <a:lnSpc>
                <a:spcPct val="80000"/>
              </a:lnSpc>
            </a:pPr>
            <a:endParaRPr lang="en-GB" sz="1600" b="0" dirty="0"/>
          </a:p>
          <a:p>
            <a:pPr marL="365125" indent="-365125" defTabSz="457200">
              <a:lnSpc>
                <a:spcPct val="80000"/>
              </a:lnSpc>
            </a:pPr>
            <a:r>
              <a:rPr lang="en-GB" sz="1600" b="0" dirty="0">
                <a:solidFill>
                  <a:srgbClr val="FF0000"/>
                </a:solidFill>
              </a:rPr>
              <a:t>private void </a:t>
            </a:r>
            <a:r>
              <a:rPr lang="en-GB" sz="1600" b="0" dirty="0" err="1">
                <a:solidFill>
                  <a:srgbClr val="FF0000"/>
                </a:solidFill>
              </a:rPr>
              <a:t>calc</a:t>
            </a:r>
            <a:r>
              <a:rPr lang="en-GB" sz="1600" b="0" dirty="0">
                <a:solidFill>
                  <a:srgbClr val="FF0000"/>
                </a:solidFill>
              </a:rPr>
              <a:t>(</a:t>
            </a:r>
            <a:r>
              <a:rPr lang="en-GB" sz="1600" b="0" dirty="0" err="1">
                <a:solidFill>
                  <a:srgbClr val="FF0000"/>
                </a:solidFill>
              </a:rPr>
              <a:t>int</a:t>
            </a:r>
            <a:r>
              <a:rPr lang="en-GB" sz="1600" b="0" dirty="0">
                <a:solidFill>
                  <a:srgbClr val="FF0000"/>
                </a:solidFill>
              </a:rPr>
              <a:t> </a:t>
            </a:r>
            <a:r>
              <a:rPr lang="en-GB" sz="1600" b="0" dirty="0" err="1">
                <a:solidFill>
                  <a:srgbClr val="FF0000"/>
                </a:solidFill>
              </a:rPr>
              <a:t>a,int</a:t>
            </a:r>
            <a:r>
              <a:rPr lang="en-GB" sz="1600" b="0" dirty="0">
                <a:solidFill>
                  <a:srgbClr val="FF0000"/>
                </a:solidFill>
              </a:rPr>
              <a:t> </a:t>
            </a:r>
            <a:r>
              <a:rPr lang="en-GB" sz="1600" b="0" dirty="0" err="1">
                <a:solidFill>
                  <a:srgbClr val="FF0000"/>
                </a:solidFill>
              </a:rPr>
              <a:t>b,</a:t>
            </a:r>
            <a:r>
              <a:rPr lang="en-GB" sz="1600" u="sng" dirty="0" err="1">
                <a:solidFill>
                  <a:srgbClr val="00B050"/>
                </a:solidFill>
              </a:rPr>
              <a:t>ref</a:t>
            </a:r>
            <a:r>
              <a:rPr lang="en-GB" sz="1600" b="0" dirty="0">
                <a:solidFill>
                  <a:srgbClr val="FF0000"/>
                </a:solidFill>
              </a:rPr>
              <a:t> </a:t>
            </a:r>
            <a:r>
              <a:rPr lang="en-GB" sz="1600" b="0" dirty="0" err="1">
                <a:solidFill>
                  <a:srgbClr val="FF0000"/>
                </a:solidFill>
              </a:rPr>
              <a:t>int</a:t>
            </a:r>
            <a:r>
              <a:rPr lang="en-GB" sz="1600" b="0" dirty="0">
                <a:solidFill>
                  <a:srgbClr val="FF0000"/>
                </a:solidFill>
              </a:rPr>
              <a:t> c, </a:t>
            </a:r>
            <a:r>
              <a:rPr lang="en-GB" sz="1600" u="sng" dirty="0">
                <a:solidFill>
                  <a:srgbClr val="00B050"/>
                </a:solidFill>
              </a:rPr>
              <a:t>ref</a:t>
            </a:r>
            <a:r>
              <a:rPr lang="en-GB" sz="1600" b="0" dirty="0">
                <a:solidFill>
                  <a:srgbClr val="FF0000"/>
                </a:solidFill>
              </a:rPr>
              <a:t> </a:t>
            </a:r>
            <a:r>
              <a:rPr lang="en-GB" sz="1600" b="0" dirty="0" err="1">
                <a:solidFill>
                  <a:srgbClr val="FF0000"/>
                </a:solidFill>
              </a:rPr>
              <a:t>int</a:t>
            </a:r>
            <a:r>
              <a:rPr lang="en-GB" sz="1600" b="0" dirty="0">
                <a:solidFill>
                  <a:srgbClr val="FF0000"/>
                </a:solidFill>
              </a:rPr>
              <a:t> d)</a:t>
            </a:r>
          </a:p>
          <a:p>
            <a:pPr marL="365125" indent="-365125" defTabSz="457200">
              <a:lnSpc>
                <a:spcPct val="80000"/>
              </a:lnSpc>
            </a:pPr>
            <a:r>
              <a:rPr lang="en-GB" sz="1600" b="0" dirty="0"/>
              <a:t>{</a:t>
            </a:r>
            <a:br>
              <a:rPr lang="en-GB" sz="1600" b="0" dirty="0"/>
            </a:br>
            <a:r>
              <a:rPr lang="en-GB" sz="1600" b="0" dirty="0"/>
              <a:t>	c = </a:t>
            </a:r>
            <a:r>
              <a:rPr lang="en-GB" sz="1600" b="0" dirty="0" err="1"/>
              <a:t>a+b</a:t>
            </a:r>
            <a:r>
              <a:rPr lang="en-GB" sz="1600" b="0" dirty="0"/>
              <a:t>;</a:t>
            </a:r>
          </a:p>
          <a:p>
            <a:pPr marL="365125" indent="-365125" defTabSz="457200">
              <a:lnSpc>
                <a:spcPct val="80000"/>
              </a:lnSpc>
            </a:pPr>
            <a:r>
              <a:rPr lang="en-GB" sz="1600" b="0" dirty="0"/>
              <a:t>		d = a*b;</a:t>
            </a:r>
          </a:p>
          <a:p>
            <a:pPr marL="365125" indent="-365125" defTabSz="457200">
              <a:lnSpc>
                <a:spcPct val="80000"/>
              </a:lnSpc>
            </a:pPr>
            <a:r>
              <a:rPr lang="en-GB" sz="1600" b="0" dirty="0"/>
              <a:t>}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idx="1"/>
          </p:nvPr>
        </p:nvSpPr>
        <p:spPr>
          <a:xfrm>
            <a:off x="476672" y="1331640"/>
            <a:ext cx="6336704" cy="2232248"/>
          </a:xfrm>
          <a:noFill/>
        </p:spPr>
        <p:txBody>
          <a:bodyPr lIns="92075" tIns="46038" rIns="92075" bIns="46038"/>
          <a:lstStyle/>
          <a:p>
            <a:pPr marL="365125" indent="-365125" defTabSz="457200" eaLnBrk="1" hangingPunct="1">
              <a:lnSpc>
                <a:spcPct val="80000"/>
              </a:lnSpc>
              <a:spcBef>
                <a:spcPct val="30000"/>
              </a:spcBef>
            </a:pPr>
            <a:r>
              <a:rPr lang="en-GB" sz="2000" dirty="0"/>
              <a:t>When you use a reference variable as a   </a:t>
            </a:r>
            <a:r>
              <a:rPr lang="en-GB" sz="2000" b="1" dirty="0">
                <a:solidFill>
                  <a:srgbClr val="FF0000"/>
                </a:solidFill>
              </a:rPr>
              <a:t>ref</a:t>
            </a:r>
            <a:r>
              <a:rPr lang="en-GB" sz="2000" dirty="0"/>
              <a:t> parameter, the method receives the actual reference variable. </a:t>
            </a:r>
          </a:p>
          <a:p>
            <a:pPr marL="365125" indent="-365125" defTabSz="457200" eaLnBrk="1" hangingPunct="1">
              <a:lnSpc>
                <a:spcPct val="80000"/>
              </a:lnSpc>
              <a:spcBef>
                <a:spcPct val="30000"/>
              </a:spcBef>
            </a:pPr>
            <a:r>
              <a:rPr lang="en-GB" sz="2000" dirty="0"/>
              <a:t>If we want to return </a:t>
            </a:r>
            <a:r>
              <a:rPr lang="en-GB" sz="2000" b="1" dirty="0">
                <a:solidFill>
                  <a:schemeClr val="accent6"/>
                </a:solidFill>
              </a:rPr>
              <a:t>2 or more </a:t>
            </a:r>
            <a:r>
              <a:rPr lang="en-GB" sz="2000" dirty="0"/>
              <a:t>variables in the  calling method when we are in another method, we need to pass the address of those variables to the method.</a:t>
            </a:r>
          </a:p>
          <a:p>
            <a:pPr marL="365125" indent="-365125" defTabSz="457200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GB" sz="2000" dirty="0"/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5203825" y="4868863"/>
            <a:ext cx="625475" cy="409575"/>
          </a:xfrm>
          <a:prstGeom prst="rect">
            <a:avLst/>
          </a:prstGeom>
          <a:solidFill>
            <a:schemeClr val="bg1">
              <a:lumMod val="9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sum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6010548" y="4868863"/>
            <a:ext cx="658812" cy="409575"/>
          </a:xfrm>
          <a:prstGeom prst="rect">
            <a:avLst/>
          </a:prstGeom>
          <a:solidFill>
            <a:schemeClr val="bg1">
              <a:lumMod val="9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prod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6129486" y="6948488"/>
            <a:ext cx="32385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</a:t>
            </a:r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5300663" y="6948488"/>
            <a:ext cx="312737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c</a:t>
            </a: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 flipV="1">
            <a:off x="5445125" y="5278438"/>
            <a:ext cx="0" cy="16700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 flipV="1">
            <a:off x="6309892" y="5278438"/>
            <a:ext cx="0" cy="16700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9275" y="179388"/>
            <a:ext cx="6048375" cy="936228"/>
          </a:xfrm>
        </p:spPr>
        <p:txBody>
          <a:bodyPr/>
          <a:lstStyle/>
          <a:p>
            <a:r>
              <a:rPr lang="en-GB" dirty="0">
                <a:solidFill>
                  <a:srgbClr val="033ED3"/>
                </a:solidFill>
              </a:rPr>
              <a:t>Methods pass by </a:t>
            </a:r>
            <a:r>
              <a:rPr lang="en-GB" dirty="0">
                <a:solidFill>
                  <a:schemeClr val="accent6"/>
                </a:solidFill>
              </a:rPr>
              <a:t>reference</a:t>
            </a:r>
            <a:br>
              <a:rPr lang="en-GB" dirty="0">
                <a:solidFill>
                  <a:schemeClr val="accent6"/>
                </a:solidFill>
              </a:rPr>
            </a:br>
            <a:r>
              <a:rPr lang="en-GB" sz="2400" dirty="0">
                <a:solidFill>
                  <a:schemeClr val="tx1"/>
                </a:solidFill>
              </a:rPr>
              <a:t>Example 1 – using ref</a:t>
            </a:r>
            <a:endParaRPr lang="en-SG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76672" y="116655"/>
            <a:ext cx="6169046" cy="998961"/>
          </a:xfrm>
        </p:spPr>
        <p:txBody>
          <a:bodyPr/>
          <a:lstStyle/>
          <a:p>
            <a:pPr eaLnBrk="1" hangingPunct="1"/>
            <a:r>
              <a:rPr lang="en-GB" sz="2400" dirty="0">
                <a:solidFill>
                  <a:srgbClr val="033ED3"/>
                </a:solidFill>
              </a:rPr>
              <a:t>Methods pass by </a:t>
            </a:r>
            <a:r>
              <a:rPr lang="en-GB" sz="2400" dirty="0">
                <a:solidFill>
                  <a:schemeClr val="accent6"/>
                </a:solidFill>
              </a:rPr>
              <a:t>reference</a:t>
            </a:r>
            <a:br>
              <a:rPr lang="en-GB" sz="2400" dirty="0">
                <a:solidFill>
                  <a:schemeClr val="accent6"/>
                </a:solidFill>
              </a:rPr>
            </a:br>
            <a:r>
              <a:rPr lang="en-GB" sz="2000" dirty="0">
                <a:solidFill>
                  <a:schemeClr val="tx1"/>
                </a:solidFill>
              </a:rPr>
              <a:t>Example 1 – using out</a:t>
            </a:r>
            <a:endParaRPr lang="en-US" sz="2000" b="0" dirty="0">
              <a:solidFill>
                <a:srgbClr val="033ED3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428604" y="1286992"/>
            <a:ext cx="6240756" cy="22048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000" dirty="0"/>
              <a:t>When we pass a reference variable as a   </a:t>
            </a:r>
            <a:r>
              <a:rPr lang="en-GB" sz="2000" b="1" dirty="0">
                <a:solidFill>
                  <a:srgbClr val="FF0000"/>
                </a:solidFill>
              </a:rPr>
              <a:t>ref</a:t>
            </a:r>
            <a:r>
              <a:rPr lang="en-GB" sz="2000" dirty="0"/>
              <a:t>   parameter, the reference variable must be </a:t>
            </a:r>
            <a:r>
              <a:rPr lang="en-GB" sz="2000" b="1" dirty="0">
                <a:solidFill>
                  <a:srgbClr val="033ED3"/>
                </a:solidFill>
              </a:rPr>
              <a:t>initialised</a:t>
            </a:r>
            <a:r>
              <a:rPr lang="en-GB" sz="2000" dirty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GB" sz="2000" dirty="0"/>
              <a:t>Passing by   </a:t>
            </a:r>
            <a:r>
              <a:rPr lang="en-GB" sz="2000" b="1" dirty="0">
                <a:solidFill>
                  <a:srgbClr val="FF0000"/>
                </a:solidFill>
              </a:rPr>
              <a:t>out</a:t>
            </a:r>
            <a:r>
              <a:rPr lang="en-GB" sz="2000" dirty="0"/>
              <a:t>   is similar to passing by   </a:t>
            </a:r>
            <a:r>
              <a:rPr lang="en-GB" sz="2000" b="1" dirty="0">
                <a:solidFill>
                  <a:srgbClr val="FF0000"/>
                </a:solidFill>
              </a:rPr>
              <a:t>ref</a:t>
            </a:r>
            <a:r>
              <a:rPr lang="en-GB" sz="2000" dirty="0"/>
              <a:t>   except the reference variable need </a:t>
            </a:r>
            <a:r>
              <a:rPr lang="en-GB" sz="2000" b="1" dirty="0">
                <a:solidFill>
                  <a:srgbClr val="033ED3"/>
                </a:solidFill>
              </a:rPr>
              <a:t>not to be initialised.</a:t>
            </a:r>
          </a:p>
          <a:p>
            <a:pPr eaLnBrk="1" hangingPunct="1">
              <a:lnSpc>
                <a:spcPct val="80000"/>
              </a:lnSpc>
            </a:pPr>
            <a:r>
              <a:rPr lang="en-GB" sz="2000" dirty="0"/>
              <a:t>Compare the below program with the previous one.  What’s the difference?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400" dirty="0"/>
          </a:p>
        </p:txBody>
      </p:sp>
      <p:sp>
        <p:nvSpPr>
          <p:cNvPr id="5" name="Rectangle 4"/>
          <p:cNvSpPr/>
          <p:nvPr/>
        </p:nvSpPr>
        <p:spPr>
          <a:xfrm>
            <a:off x="476672" y="3563888"/>
            <a:ext cx="5634062" cy="40811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65125" indent="-365125" defTabSz="457200">
              <a:lnSpc>
                <a:spcPct val="80000"/>
              </a:lnSpc>
            </a:pPr>
            <a:r>
              <a:rPr lang="en-GB" sz="1600" b="0" dirty="0"/>
              <a:t>private void button1_click(object send, </a:t>
            </a:r>
            <a:r>
              <a:rPr lang="en-GB" sz="1600" b="0" dirty="0" err="1"/>
              <a:t>system.EventArgs</a:t>
            </a:r>
            <a:r>
              <a:rPr lang="en-GB" sz="1600" b="0" dirty="0"/>
              <a:t> e)</a:t>
            </a:r>
          </a:p>
          <a:p>
            <a:pPr marL="365125" indent="-365125" defTabSz="457200">
              <a:lnSpc>
                <a:spcPct val="80000"/>
              </a:lnSpc>
            </a:pPr>
            <a:r>
              <a:rPr lang="en-GB" sz="1600" b="0" dirty="0"/>
              <a:t>{</a:t>
            </a:r>
          </a:p>
          <a:p>
            <a:pPr marL="365125" indent="-365125" defTabSz="457200"/>
            <a:r>
              <a:rPr lang="en-GB" sz="1600" b="0" dirty="0"/>
              <a:t>   </a:t>
            </a:r>
            <a:r>
              <a:rPr lang="en-GB" sz="1600" b="0" dirty="0" err="1"/>
              <a:t>int</a:t>
            </a:r>
            <a:r>
              <a:rPr lang="en-GB" sz="1600" b="0" dirty="0"/>
              <a:t> num1;      			// input</a:t>
            </a:r>
          </a:p>
          <a:p>
            <a:pPr marL="365125" indent="-365125" defTabSz="457200"/>
            <a:r>
              <a:rPr lang="en-GB" sz="1600" b="0" dirty="0"/>
              <a:t>   </a:t>
            </a:r>
            <a:r>
              <a:rPr lang="en-GB" sz="1600" b="0" dirty="0" err="1"/>
              <a:t>int</a:t>
            </a:r>
            <a:r>
              <a:rPr lang="en-GB" sz="1600" b="0" dirty="0"/>
              <a:t> num2;      			// input</a:t>
            </a:r>
          </a:p>
          <a:p>
            <a:pPr marL="365125" indent="-365125" defTabSz="457200"/>
            <a:r>
              <a:rPr lang="en-GB" sz="1600" b="0" dirty="0"/>
              <a:t>   </a:t>
            </a:r>
            <a:r>
              <a:rPr lang="en-GB" sz="1600" b="0" dirty="0" err="1"/>
              <a:t>int</a:t>
            </a:r>
            <a:r>
              <a:rPr lang="en-GB" sz="1600" b="0" dirty="0"/>
              <a:t> sum, prod; 		// outputs, </a:t>
            </a:r>
            <a:r>
              <a:rPr lang="en-GB" sz="1600" b="0" dirty="0">
                <a:solidFill>
                  <a:srgbClr val="FF0000"/>
                </a:solidFill>
              </a:rPr>
              <a:t>need not to initialise</a:t>
            </a:r>
          </a:p>
          <a:p>
            <a:pPr marL="365125" indent="-365125" defTabSz="457200"/>
            <a:r>
              <a:rPr lang="en-GB" sz="1600" b="0" dirty="0"/>
              <a:t>   num1 = </a:t>
            </a:r>
            <a:r>
              <a:rPr lang="en-GB" sz="1600" b="0" dirty="0" err="1"/>
              <a:t>int.Parse</a:t>
            </a:r>
            <a:r>
              <a:rPr lang="en-GB" sz="1600" b="0" dirty="0"/>
              <a:t>(txtNum1.Text);</a:t>
            </a:r>
          </a:p>
          <a:p>
            <a:pPr marL="365125" indent="-365125" defTabSz="457200"/>
            <a:r>
              <a:rPr lang="en-GB" sz="1600" b="0" dirty="0"/>
              <a:t>   num2 = </a:t>
            </a:r>
            <a:r>
              <a:rPr lang="en-GB" sz="1600" b="0" dirty="0" err="1"/>
              <a:t>int.Parse</a:t>
            </a:r>
            <a:r>
              <a:rPr lang="en-GB" sz="1600" b="0" dirty="0"/>
              <a:t>(txtNum2.Text);</a:t>
            </a:r>
          </a:p>
          <a:p>
            <a:pPr marL="365125" indent="-365125" defTabSz="457200"/>
            <a:endParaRPr lang="en-GB" sz="1600" b="0" dirty="0"/>
          </a:p>
          <a:p>
            <a:pPr marL="365125" indent="-365125" defTabSz="457200"/>
            <a:r>
              <a:rPr lang="en-GB" sz="1600" b="0" dirty="0"/>
              <a:t>   </a:t>
            </a:r>
            <a:r>
              <a:rPr lang="en-GB" sz="1600" b="0" dirty="0" err="1"/>
              <a:t>calc</a:t>
            </a:r>
            <a:r>
              <a:rPr lang="en-GB" sz="1600" b="0" dirty="0"/>
              <a:t>(num1, num2,  out sum, out prod);</a:t>
            </a:r>
          </a:p>
          <a:p>
            <a:pPr marL="365125" indent="-365125" defTabSz="457200"/>
            <a:r>
              <a:rPr lang="en-GB" sz="1600" b="0" dirty="0"/>
              <a:t>   </a:t>
            </a:r>
            <a:r>
              <a:rPr lang="en-GB" sz="1600" b="0" dirty="0" err="1"/>
              <a:t>rtbResult.AppendText</a:t>
            </a:r>
            <a:r>
              <a:rPr lang="en-GB" sz="1600" b="0" dirty="0"/>
              <a:t> ("Sum=" + sum );</a:t>
            </a:r>
          </a:p>
          <a:p>
            <a:pPr marL="365125" indent="-365125" defTabSz="457200"/>
            <a:r>
              <a:rPr lang="en-GB" sz="1600" b="0" dirty="0"/>
              <a:t>   </a:t>
            </a:r>
            <a:r>
              <a:rPr lang="en-GB" sz="1600" b="0" dirty="0" err="1"/>
              <a:t>rtbResult.AppendText</a:t>
            </a:r>
            <a:r>
              <a:rPr lang="en-GB" sz="1600" b="0" dirty="0"/>
              <a:t> ( "Product=" + prod );</a:t>
            </a:r>
          </a:p>
          <a:p>
            <a:pPr marL="365125" indent="-365125" defTabSz="457200">
              <a:lnSpc>
                <a:spcPct val="80000"/>
              </a:lnSpc>
            </a:pPr>
            <a:r>
              <a:rPr lang="en-GB" sz="1600" b="0" dirty="0"/>
              <a:t>}</a:t>
            </a:r>
          </a:p>
          <a:p>
            <a:pPr marL="365125" indent="-365125" defTabSz="457200">
              <a:lnSpc>
                <a:spcPct val="80000"/>
              </a:lnSpc>
            </a:pPr>
            <a:endParaRPr lang="en-GB" sz="1600" b="0" dirty="0"/>
          </a:p>
          <a:p>
            <a:pPr marL="365125" indent="-365125" defTabSz="457200">
              <a:lnSpc>
                <a:spcPct val="80000"/>
              </a:lnSpc>
            </a:pPr>
            <a:r>
              <a:rPr lang="en-GB" sz="1600" b="0" dirty="0">
                <a:solidFill>
                  <a:srgbClr val="FF0000"/>
                </a:solidFill>
              </a:rPr>
              <a:t>private void </a:t>
            </a:r>
            <a:r>
              <a:rPr lang="en-GB" sz="1600" b="0" dirty="0" err="1">
                <a:solidFill>
                  <a:srgbClr val="FF0000"/>
                </a:solidFill>
              </a:rPr>
              <a:t>calc</a:t>
            </a:r>
            <a:r>
              <a:rPr lang="en-GB" sz="1600" b="0" dirty="0">
                <a:solidFill>
                  <a:srgbClr val="FF0000"/>
                </a:solidFill>
              </a:rPr>
              <a:t>(</a:t>
            </a:r>
            <a:r>
              <a:rPr lang="en-GB" sz="1600" b="0" dirty="0" err="1">
                <a:solidFill>
                  <a:srgbClr val="FF0000"/>
                </a:solidFill>
              </a:rPr>
              <a:t>int</a:t>
            </a:r>
            <a:r>
              <a:rPr lang="en-GB" sz="1600" b="0" dirty="0">
                <a:solidFill>
                  <a:srgbClr val="FF0000"/>
                </a:solidFill>
              </a:rPr>
              <a:t> </a:t>
            </a:r>
            <a:r>
              <a:rPr lang="en-GB" sz="1600" b="0" dirty="0" err="1">
                <a:solidFill>
                  <a:srgbClr val="FF0000"/>
                </a:solidFill>
              </a:rPr>
              <a:t>a,int</a:t>
            </a:r>
            <a:r>
              <a:rPr lang="en-GB" sz="1600" b="0" dirty="0">
                <a:solidFill>
                  <a:srgbClr val="FF0000"/>
                </a:solidFill>
              </a:rPr>
              <a:t> </a:t>
            </a:r>
            <a:r>
              <a:rPr lang="en-GB" sz="1600" b="0" dirty="0" err="1">
                <a:solidFill>
                  <a:srgbClr val="FF0000"/>
                </a:solidFill>
              </a:rPr>
              <a:t>b,</a:t>
            </a:r>
            <a:r>
              <a:rPr lang="en-GB" sz="1600" u="sng" dirty="0" err="1">
                <a:solidFill>
                  <a:srgbClr val="00B050"/>
                </a:solidFill>
              </a:rPr>
              <a:t>out</a:t>
            </a:r>
            <a:r>
              <a:rPr lang="en-GB" sz="1600" b="0" dirty="0">
                <a:solidFill>
                  <a:srgbClr val="FF0000"/>
                </a:solidFill>
              </a:rPr>
              <a:t> </a:t>
            </a:r>
            <a:r>
              <a:rPr lang="en-GB" sz="1600" b="0" dirty="0" err="1">
                <a:solidFill>
                  <a:srgbClr val="FF0000"/>
                </a:solidFill>
              </a:rPr>
              <a:t>int</a:t>
            </a:r>
            <a:r>
              <a:rPr lang="en-GB" sz="1600" b="0" dirty="0">
                <a:solidFill>
                  <a:srgbClr val="FF0000"/>
                </a:solidFill>
              </a:rPr>
              <a:t> c, </a:t>
            </a:r>
            <a:r>
              <a:rPr lang="en-GB" sz="1600" u="sng" dirty="0">
                <a:solidFill>
                  <a:srgbClr val="00B050"/>
                </a:solidFill>
              </a:rPr>
              <a:t>out</a:t>
            </a:r>
            <a:r>
              <a:rPr lang="en-GB" sz="1600" b="0" dirty="0">
                <a:solidFill>
                  <a:srgbClr val="FF0000"/>
                </a:solidFill>
              </a:rPr>
              <a:t> </a:t>
            </a:r>
            <a:r>
              <a:rPr lang="en-GB" sz="1600" b="0" dirty="0" err="1">
                <a:solidFill>
                  <a:srgbClr val="FF0000"/>
                </a:solidFill>
              </a:rPr>
              <a:t>int</a:t>
            </a:r>
            <a:r>
              <a:rPr lang="en-GB" sz="1600" b="0" dirty="0">
                <a:solidFill>
                  <a:srgbClr val="FF0000"/>
                </a:solidFill>
              </a:rPr>
              <a:t> d)</a:t>
            </a:r>
          </a:p>
          <a:p>
            <a:pPr marL="365125" indent="-365125" defTabSz="457200">
              <a:lnSpc>
                <a:spcPct val="80000"/>
              </a:lnSpc>
            </a:pPr>
            <a:r>
              <a:rPr lang="en-GB" sz="1600" b="0" dirty="0"/>
              <a:t>{</a:t>
            </a:r>
            <a:br>
              <a:rPr lang="en-GB" sz="1600" b="0" dirty="0"/>
            </a:br>
            <a:r>
              <a:rPr lang="en-GB" sz="1600" b="0" dirty="0"/>
              <a:t>	c = </a:t>
            </a:r>
            <a:r>
              <a:rPr lang="en-GB" sz="1600" b="0" dirty="0" err="1"/>
              <a:t>a+b</a:t>
            </a:r>
            <a:r>
              <a:rPr lang="en-GB" sz="1600" b="0" dirty="0"/>
              <a:t>;</a:t>
            </a:r>
          </a:p>
          <a:p>
            <a:pPr marL="365125" indent="-365125" defTabSz="457200">
              <a:lnSpc>
                <a:spcPct val="80000"/>
              </a:lnSpc>
            </a:pPr>
            <a:r>
              <a:rPr lang="en-GB" sz="1600" b="0" dirty="0"/>
              <a:t>		d = a*b;</a:t>
            </a:r>
          </a:p>
          <a:p>
            <a:pPr marL="365125" indent="-365125" defTabSz="457200">
              <a:lnSpc>
                <a:spcPct val="80000"/>
              </a:lnSpc>
            </a:pPr>
            <a:r>
              <a:rPr lang="en-GB" sz="1600" b="0" dirty="0"/>
              <a:t>}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203825" y="4868863"/>
            <a:ext cx="625475" cy="409575"/>
          </a:xfrm>
          <a:prstGeom prst="rect">
            <a:avLst/>
          </a:prstGeom>
          <a:solidFill>
            <a:schemeClr val="bg1">
              <a:lumMod val="9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sum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010548" y="4868863"/>
            <a:ext cx="658812" cy="409575"/>
          </a:xfrm>
          <a:prstGeom prst="rect">
            <a:avLst/>
          </a:prstGeom>
          <a:solidFill>
            <a:schemeClr val="bg1">
              <a:lumMod val="9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prod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129486" y="6948488"/>
            <a:ext cx="323850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300663" y="6948488"/>
            <a:ext cx="312737" cy="409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c</a:t>
            </a: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V="1">
            <a:off x="5445125" y="5278438"/>
            <a:ext cx="0" cy="16700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 flipV="1">
            <a:off x="6309892" y="5278438"/>
            <a:ext cx="0" cy="16700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48680" y="4499992"/>
            <a:ext cx="511256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/>
          <p:cNvSpPr/>
          <p:nvPr/>
        </p:nvSpPr>
        <p:spPr>
          <a:xfrm>
            <a:off x="528919" y="5436096"/>
            <a:ext cx="3692169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/>
          <p:cNvSpPr/>
          <p:nvPr/>
        </p:nvSpPr>
        <p:spPr>
          <a:xfrm>
            <a:off x="521860" y="6516216"/>
            <a:ext cx="434730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Cloud 1"/>
          <p:cNvSpPr/>
          <p:nvPr/>
        </p:nvSpPr>
        <p:spPr>
          <a:xfrm>
            <a:off x="1772816" y="7740352"/>
            <a:ext cx="4968552" cy="936104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0" dirty="0"/>
              <a:t>Flash back! You have used “</a:t>
            </a:r>
            <a:r>
              <a:rPr lang="en-GB" sz="1600" dirty="0"/>
              <a:t>out”</a:t>
            </a:r>
            <a:r>
              <a:rPr lang="en-GB" sz="1600" b="0" dirty="0"/>
              <a:t> before. It is in </a:t>
            </a:r>
            <a:r>
              <a:rPr lang="en-GB" sz="1600" b="0" dirty="0" err="1"/>
              <a:t>TryParse</a:t>
            </a:r>
            <a:r>
              <a:rPr lang="en-GB" sz="1600" b="0" dirty="0"/>
              <a:t> method(). </a:t>
            </a:r>
            <a:endParaRPr lang="en-SG" sz="16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04"/>
            <a:ext cx="6048375" cy="1008112"/>
          </a:xfrm>
        </p:spPr>
        <p:txBody>
          <a:bodyPr/>
          <a:lstStyle/>
          <a:p>
            <a:r>
              <a:rPr lang="en-GB" dirty="0">
                <a:solidFill>
                  <a:srgbClr val="033ED3"/>
                </a:solidFill>
              </a:rPr>
              <a:t>Methods pass by </a:t>
            </a:r>
            <a:r>
              <a:rPr lang="en-GB" dirty="0">
                <a:solidFill>
                  <a:schemeClr val="accent6"/>
                </a:solidFill>
              </a:rPr>
              <a:t>reference</a:t>
            </a:r>
            <a:br>
              <a:rPr lang="en-GB" dirty="0">
                <a:solidFill>
                  <a:schemeClr val="accent6"/>
                </a:solidFill>
              </a:rPr>
            </a:br>
            <a:r>
              <a:rPr lang="en-GB" sz="2400" dirty="0">
                <a:solidFill>
                  <a:schemeClr val="tx1"/>
                </a:solidFill>
              </a:rPr>
              <a:t>Example 2</a:t>
            </a:r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50" y="1259633"/>
            <a:ext cx="6038850" cy="2808311"/>
          </a:xfrm>
        </p:spPr>
        <p:txBody>
          <a:bodyPr/>
          <a:lstStyle/>
          <a:p>
            <a:r>
              <a:rPr lang="en-GB" sz="2000" dirty="0"/>
              <a:t>Write a method </a:t>
            </a:r>
            <a:r>
              <a:rPr lang="en-SG" sz="2000" b="1" dirty="0" err="1">
                <a:solidFill>
                  <a:srgbClr val="FF0000"/>
                </a:solidFill>
              </a:rPr>
              <a:t>DollarsAndCents</a:t>
            </a:r>
            <a:r>
              <a:rPr lang="en-SG" sz="2000" dirty="0"/>
              <a:t> </a:t>
            </a:r>
            <a:r>
              <a:rPr lang="en-GB" sz="2000" dirty="0"/>
              <a:t>which converts a number of cents into a whole number of dollars and the cents left over. This will involve coding a method which has one input and two results.  </a:t>
            </a:r>
            <a:r>
              <a:rPr lang="en-GB" sz="2000" i="1" dirty="0"/>
              <a:t>Hints: use pass by reference</a:t>
            </a:r>
          </a:p>
          <a:p>
            <a:endParaRPr lang="en-GB" sz="2000" i="1" dirty="0"/>
          </a:p>
          <a:p>
            <a:r>
              <a:rPr lang="en-GB" sz="2000" dirty="0"/>
              <a:t>Code the form with input cents, calculate button and display the result using labels.</a:t>
            </a:r>
          </a:p>
          <a:p>
            <a:endParaRPr lang="en-SG" sz="2000" dirty="0"/>
          </a:p>
        </p:txBody>
      </p:sp>
      <p:pic>
        <p:nvPicPr>
          <p:cNvPr id="4" name="Picture 3" descr="Form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104" y="6749205"/>
            <a:ext cx="2286198" cy="178323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76672" y="4444949"/>
            <a:ext cx="6192688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SG" sz="1800" b="0" dirty="0">
                <a:latin typeface="+mn-lt"/>
              </a:rPr>
              <a:t>private void </a:t>
            </a:r>
            <a:r>
              <a:rPr lang="en-SG" sz="1800" dirty="0" err="1">
                <a:solidFill>
                  <a:srgbClr val="FF0000"/>
                </a:solidFill>
                <a:latin typeface="+mn-lt"/>
              </a:rPr>
              <a:t>DollarsAndCents</a:t>
            </a:r>
            <a:r>
              <a:rPr lang="en-SG" sz="1800" b="0" dirty="0">
                <a:latin typeface="+mn-lt"/>
              </a:rPr>
              <a:t>(</a:t>
            </a:r>
          </a:p>
          <a:p>
            <a:r>
              <a:rPr lang="en-SG" sz="1800" b="0" dirty="0" err="1">
                <a:latin typeface="+mn-lt"/>
              </a:rPr>
              <a:t>int</a:t>
            </a:r>
            <a:r>
              <a:rPr lang="en-SG" sz="1800" b="0" dirty="0">
                <a:latin typeface="+mn-lt"/>
              </a:rPr>
              <a:t> </a:t>
            </a:r>
            <a:r>
              <a:rPr lang="en-SG" sz="1800" b="0" dirty="0" err="1">
                <a:latin typeface="+mn-lt"/>
              </a:rPr>
              <a:t>totalCents</a:t>
            </a:r>
            <a:r>
              <a:rPr lang="en-SG" sz="1800" b="0" dirty="0">
                <a:latin typeface="+mn-lt"/>
              </a:rPr>
              <a:t>, </a:t>
            </a:r>
            <a:r>
              <a:rPr lang="en-SG" sz="1800" dirty="0">
                <a:solidFill>
                  <a:srgbClr val="FF0000"/>
                </a:solidFill>
                <a:latin typeface="+mn-lt"/>
              </a:rPr>
              <a:t>ref</a:t>
            </a:r>
            <a:r>
              <a:rPr lang="en-SG" sz="1800" b="0" dirty="0">
                <a:latin typeface="+mn-lt"/>
              </a:rPr>
              <a:t> </a:t>
            </a:r>
            <a:r>
              <a:rPr lang="en-SG" sz="1800" b="0" dirty="0" err="1">
                <a:latin typeface="+mn-lt"/>
              </a:rPr>
              <a:t>int</a:t>
            </a:r>
            <a:r>
              <a:rPr lang="en-SG" sz="1800" b="0" dirty="0">
                <a:latin typeface="+mn-lt"/>
              </a:rPr>
              <a:t>  dollars, </a:t>
            </a:r>
            <a:r>
              <a:rPr lang="en-SG" sz="1800" dirty="0">
                <a:solidFill>
                  <a:srgbClr val="FF0000"/>
                </a:solidFill>
                <a:latin typeface="+mn-lt"/>
              </a:rPr>
              <a:t>ref</a:t>
            </a:r>
            <a:r>
              <a:rPr lang="en-SG" sz="1800" b="0" dirty="0">
                <a:latin typeface="+mn-lt"/>
              </a:rPr>
              <a:t> </a:t>
            </a:r>
            <a:r>
              <a:rPr lang="en-SG" sz="1800" b="0" dirty="0" err="1">
                <a:latin typeface="+mn-lt"/>
              </a:rPr>
              <a:t>int</a:t>
            </a:r>
            <a:r>
              <a:rPr lang="en-SG" sz="1800" b="0" dirty="0">
                <a:latin typeface="+mn-lt"/>
              </a:rPr>
              <a:t> </a:t>
            </a:r>
            <a:r>
              <a:rPr lang="en-SG" sz="1800" b="0" dirty="0" err="1">
                <a:latin typeface="+mn-lt"/>
              </a:rPr>
              <a:t>centleft</a:t>
            </a:r>
            <a:r>
              <a:rPr lang="en-SG" sz="1800" b="0" dirty="0">
                <a:latin typeface="+mn-lt"/>
              </a:rPr>
              <a:t> )</a:t>
            </a:r>
          </a:p>
          <a:p>
            <a:r>
              <a:rPr lang="en-SG" sz="1800" b="0" dirty="0">
                <a:latin typeface="+mn-lt"/>
              </a:rPr>
              <a:t> {</a:t>
            </a:r>
          </a:p>
          <a:p>
            <a:r>
              <a:rPr lang="en-SG" sz="1800" b="0" dirty="0">
                <a:latin typeface="+mn-lt"/>
              </a:rPr>
              <a:t>            dollars = </a:t>
            </a:r>
            <a:r>
              <a:rPr lang="en-SG" sz="1800" b="0" dirty="0" err="1">
                <a:latin typeface="+mn-lt"/>
              </a:rPr>
              <a:t>totalCents</a:t>
            </a:r>
            <a:r>
              <a:rPr lang="en-SG" sz="1800" b="0" dirty="0">
                <a:latin typeface="+mn-lt"/>
              </a:rPr>
              <a:t> / 100;</a:t>
            </a:r>
          </a:p>
          <a:p>
            <a:r>
              <a:rPr lang="en-SG" sz="1800" b="0" dirty="0">
                <a:latin typeface="+mn-lt"/>
              </a:rPr>
              <a:t>            </a:t>
            </a:r>
            <a:r>
              <a:rPr lang="en-SG" sz="1800" b="0" dirty="0" err="1">
                <a:latin typeface="+mn-lt"/>
              </a:rPr>
              <a:t>centleft</a:t>
            </a:r>
            <a:r>
              <a:rPr lang="en-SG" sz="1800" b="0" dirty="0">
                <a:latin typeface="+mn-lt"/>
              </a:rPr>
              <a:t> = </a:t>
            </a:r>
            <a:r>
              <a:rPr lang="en-SG" sz="1800" b="0" dirty="0" err="1">
                <a:latin typeface="+mn-lt"/>
              </a:rPr>
              <a:t>totalCents</a:t>
            </a:r>
            <a:r>
              <a:rPr lang="en-SG" sz="1800" b="0" dirty="0">
                <a:latin typeface="+mn-lt"/>
              </a:rPr>
              <a:t> % 100; </a:t>
            </a:r>
            <a:r>
              <a:rPr lang="en-SG" sz="1800" b="0" dirty="0">
                <a:solidFill>
                  <a:srgbClr val="00B050"/>
                </a:solidFill>
                <a:latin typeface="+mn-lt"/>
              </a:rPr>
              <a:t>// get the remainder</a:t>
            </a:r>
          </a:p>
          <a:p>
            <a:r>
              <a:rPr lang="en-SG" sz="1800" b="0" dirty="0">
                <a:latin typeface="+mn-lt"/>
              </a:rPr>
              <a:t> }</a:t>
            </a:r>
          </a:p>
          <a:p>
            <a:endParaRPr lang="en-SG" sz="1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6338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79388"/>
            <a:ext cx="6048375" cy="1008236"/>
          </a:xfrm>
        </p:spPr>
        <p:txBody>
          <a:bodyPr/>
          <a:lstStyle/>
          <a:p>
            <a:r>
              <a:rPr lang="en-GB" dirty="0">
                <a:solidFill>
                  <a:srgbClr val="033ED3"/>
                </a:solidFill>
              </a:rPr>
              <a:t>Methods pass by </a:t>
            </a:r>
            <a:r>
              <a:rPr lang="en-GB" dirty="0">
                <a:solidFill>
                  <a:schemeClr val="accent6"/>
                </a:solidFill>
              </a:rPr>
              <a:t>reference</a:t>
            </a:r>
            <a:br>
              <a:rPr lang="en-GB" dirty="0">
                <a:solidFill>
                  <a:schemeClr val="accent6"/>
                </a:solidFill>
              </a:rPr>
            </a:br>
            <a:r>
              <a:rPr lang="en-GB" sz="2400" dirty="0">
                <a:solidFill>
                  <a:schemeClr val="tx1"/>
                </a:solidFill>
              </a:rPr>
              <a:t>Example 2</a:t>
            </a:r>
            <a:endParaRPr lang="en-SG" dirty="0"/>
          </a:p>
        </p:txBody>
      </p:sp>
      <p:sp>
        <p:nvSpPr>
          <p:cNvPr id="4" name="Rectangle 3"/>
          <p:cNvSpPr/>
          <p:nvPr/>
        </p:nvSpPr>
        <p:spPr>
          <a:xfrm>
            <a:off x="476672" y="1332795"/>
            <a:ext cx="6192688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SG" sz="1800" b="0" dirty="0">
                <a:latin typeface="+mn-lt"/>
              </a:rPr>
              <a:t>private void </a:t>
            </a:r>
            <a:r>
              <a:rPr lang="en-SG" sz="1800" b="0" dirty="0" err="1">
                <a:latin typeface="+mn-lt"/>
              </a:rPr>
              <a:t>btnCalculate_Click</a:t>
            </a:r>
            <a:r>
              <a:rPr lang="en-SG" sz="1800" b="0" dirty="0">
                <a:latin typeface="+mn-lt"/>
              </a:rPr>
              <a:t>(object sender, </a:t>
            </a:r>
            <a:r>
              <a:rPr lang="en-SG" sz="1800" b="0" dirty="0" err="1">
                <a:latin typeface="+mn-lt"/>
              </a:rPr>
              <a:t>EventArgs</a:t>
            </a:r>
            <a:r>
              <a:rPr lang="en-SG" sz="1800" b="0" dirty="0">
                <a:latin typeface="+mn-lt"/>
              </a:rPr>
              <a:t> e)</a:t>
            </a:r>
          </a:p>
          <a:p>
            <a:r>
              <a:rPr lang="en-SG" sz="1800" b="0" dirty="0">
                <a:latin typeface="+mn-lt"/>
              </a:rPr>
              <a:t>{</a:t>
            </a:r>
          </a:p>
          <a:p>
            <a:r>
              <a:rPr lang="en-SG" sz="1800" b="0" dirty="0">
                <a:latin typeface="+mn-lt"/>
              </a:rPr>
              <a:t>   </a:t>
            </a:r>
            <a:r>
              <a:rPr lang="en-SG" sz="1800" b="0" dirty="0" err="1">
                <a:latin typeface="+mn-lt"/>
              </a:rPr>
              <a:t>int</a:t>
            </a:r>
            <a:r>
              <a:rPr lang="en-SG" sz="1800" b="0" dirty="0">
                <a:latin typeface="+mn-lt"/>
              </a:rPr>
              <a:t> </a:t>
            </a:r>
            <a:r>
              <a:rPr lang="en-SG" sz="1800" b="0" dirty="0" err="1">
                <a:latin typeface="+mn-lt"/>
              </a:rPr>
              <a:t>inputcents</a:t>
            </a:r>
            <a:r>
              <a:rPr lang="en-SG" sz="1800" b="0" dirty="0">
                <a:latin typeface="+mn-lt"/>
              </a:rPr>
              <a:t> = 0, </a:t>
            </a:r>
            <a:r>
              <a:rPr lang="en-SG" sz="1800" b="0" dirty="0" err="1">
                <a:latin typeface="+mn-lt"/>
              </a:rPr>
              <a:t>wholedollar</a:t>
            </a:r>
            <a:r>
              <a:rPr lang="en-SG" sz="1800" b="0" dirty="0">
                <a:latin typeface="+mn-lt"/>
              </a:rPr>
              <a:t> = 0, </a:t>
            </a:r>
            <a:r>
              <a:rPr lang="en-SG" sz="1800" b="0" dirty="0" err="1">
                <a:latin typeface="+mn-lt"/>
              </a:rPr>
              <a:t>centleft</a:t>
            </a:r>
            <a:r>
              <a:rPr lang="en-SG" sz="1800" b="0" dirty="0">
                <a:latin typeface="+mn-lt"/>
              </a:rPr>
              <a:t> = 0;</a:t>
            </a:r>
          </a:p>
          <a:p>
            <a:endParaRPr lang="en-SG" sz="1800" b="0" dirty="0">
              <a:latin typeface="+mn-lt"/>
            </a:endParaRPr>
          </a:p>
          <a:p>
            <a:r>
              <a:rPr lang="en-SG" sz="1800" b="0" dirty="0">
                <a:latin typeface="+mn-lt"/>
              </a:rPr>
              <a:t>   </a:t>
            </a:r>
            <a:r>
              <a:rPr lang="en-SG" sz="1800" b="0" dirty="0" err="1">
                <a:latin typeface="+mn-lt"/>
              </a:rPr>
              <a:t>inputcents</a:t>
            </a:r>
            <a:r>
              <a:rPr lang="en-SG" sz="1800" b="0" dirty="0">
                <a:latin typeface="+mn-lt"/>
              </a:rPr>
              <a:t> = </a:t>
            </a:r>
            <a:r>
              <a:rPr lang="en-SG" sz="1800" b="0" dirty="0" err="1">
                <a:latin typeface="+mn-lt"/>
              </a:rPr>
              <a:t>int.Parse</a:t>
            </a:r>
            <a:r>
              <a:rPr lang="en-SG" sz="1800" b="0" dirty="0">
                <a:latin typeface="+mn-lt"/>
              </a:rPr>
              <a:t>(</a:t>
            </a:r>
            <a:r>
              <a:rPr lang="en-SG" sz="1800" b="0" dirty="0" err="1">
                <a:latin typeface="+mn-lt"/>
              </a:rPr>
              <a:t>txtcents.Text</a:t>
            </a:r>
            <a:r>
              <a:rPr lang="en-SG" sz="1800" b="0" dirty="0">
                <a:latin typeface="+mn-lt"/>
              </a:rPr>
              <a:t>);</a:t>
            </a:r>
          </a:p>
          <a:p>
            <a:endParaRPr lang="en-SG" sz="1800" b="0" dirty="0">
              <a:latin typeface="+mn-lt"/>
            </a:endParaRPr>
          </a:p>
          <a:p>
            <a:r>
              <a:rPr lang="en-SG" sz="1800" b="0" dirty="0">
                <a:solidFill>
                  <a:srgbClr val="00B050"/>
                </a:solidFill>
                <a:latin typeface="+mn-lt"/>
              </a:rPr>
              <a:t>   //calling method</a:t>
            </a:r>
          </a:p>
          <a:p>
            <a:r>
              <a:rPr lang="en-SG" sz="1800" b="0" dirty="0">
                <a:latin typeface="+mn-lt"/>
              </a:rPr>
              <a:t>   </a:t>
            </a:r>
            <a:r>
              <a:rPr lang="en-SG" sz="1800" b="0" dirty="0" err="1">
                <a:latin typeface="+mn-lt"/>
              </a:rPr>
              <a:t>DollarsAndCents</a:t>
            </a:r>
            <a:r>
              <a:rPr lang="en-SG" sz="1800" b="0" dirty="0">
                <a:latin typeface="+mn-lt"/>
              </a:rPr>
              <a:t>(</a:t>
            </a:r>
            <a:r>
              <a:rPr lang="en-SG" sz="1800" b="0" dirty="0" err="1">
                <a:latin typeface="+mn-lt"/>
              </a:rPr>
              <a:t>inputcents</a:t>
            </a:r>
            <a:r>
              <a:rPr lang="en-SG" sz="1800" b="0" dirty="0">
                <a:latin typeface="+mn-lt"/>
              </a:rPr>
              <a:t>, </a:t>
            </a:r>
            <a:r>
              <a:rPr lang="en-SG" sz="1800" dirty="0">
                <a:solidFill>
                  <a:srgbClr val="FF0000"/>
                </a:solidFill>
                <a:latin typeface="+mn-lt"/>
              </a:rPr>
              <a:t>ref</a:t>
            </a:r>
            <a:r>
              <a:rPr lang="en-SG" sz="1800" b="0" dirty="0">
                <a:latin typeface="+mn-lt"/>
              </a:rPr>
              <a:t> </a:t>
            </a:r>
            <a:r>
              <a:rPr lang="en-SG" sz="1800" b="0" dirty="0" err="1">
                <a:latin typeface="+mn-lt"/>
              </a:rPr>
              <a:t>wholedollar</a:t>
            </a:r>
            <a:r>
              <a:rPr lang="en-SG" sz="1800" b="0" dirty="0">
                <a:latin typeface="+mn-lt"/>
              </a:rPr>
              <a:t>, </a:t>
            </a:r>
            <a:r>
              <a:rPr lang="en-SG" sz="1800" dirty="0">
                <a:solidFill>
                  <a:srgbClr val="FF0000"/>
                </a:solidFill>
                <a:latin typeface="+mn-lt"/>
              </a:rPr>
              <a:t>ref</a:t>
            </a:r>
            <a:r>
              <a:rPr lang="en-SG" sz="1800" b="0" dirty="0">
                <a:latin typeface="+mn-lt"/>
              </a:rPr>
              <a:t> </a:t>
            </a:r>
            <a:r>
              <a:rPr lang="en-SG" sz="1800" b="0" dirty="0" err="1">
                <a:latin typeface="+mn-lt"/>
              </a:rPr>
              <a:t>centleft</a:t>
            </a:r>
            <a:r>
              <a:rPr lang="en-SG" sz="1800" b="0" dirty="0">
                <a:latin typeface="+mn-lt"/>
              </a:rPr>
              <a:t>);</a:t>
            </a:r>
          </a:p>
          <a:p>
            <a:endParaRPr lang="en-SG" sz="1800" b="0" dirty="0">
              <a:latin typeface="+mn-lt"/>
            </a:endParaRPr>
          </a:p>
          <a:p>
            <a:r>
              <a:rPr lang="en-SG" sz="1800" b="0" dirty="0">
                <a:latin typeface="+mn-lt"/>
              </a:rPr>
              <a:t>            </a:t>
            </a:r>
            <a:r>
              <a:rPr lang="en-SG" sz="1800" b="0" dirty="0" err="1">
                <a:latin typeface="+mn-lt"/>
              </a:rPr>
              <a:t>lbldollar.Text</a:t>
            </a:r>
            <a:r>
              <a:rPr lang="en-SG" sz="1800" b="0" dirty="0">
                <a:latin typeface="+mn-lt"/>
              </a:rPr>
              <a:t> = </a:t>
            </a:r>
            <a:r>
              <a:rPr lang="en-SG" sz="1800" b="0" dirty="0" err="1">
                <a:latin typeface="+mn-lt"/>
              </a:rPr>
              <a:t>wholedollar.ToString</a:t>
            </a:r>
            <a:r>
              <a:rPr lang="en-SG" sz="1800" b="0" dirty="0">
                <a:latin typeface="+mn-lt"/>
              </a:rPr>
              <a:t>() + " dollars";</a:t>
            </a:r>
          </a:p>
          <a:p>
            <a:r>
              <a:rPr lang="en-SG" sz="1800" b="0" dirty="0">
                <a:latin typeface="+mn-lt"/>
              </a:rPr>
              <a:t>            </a:t>
            </a:r>
            <a:r>
              <a:rPr lang="en-SG" sz="1800" b="0" dirty="0" err="1">
                <a:latin typeface="+mn-lt"/>
              </a:rPr>
              <a:t>lblcent.Text</a:t>
            </a:r>
            <a:r>
              <a:rPr lang="en-SG" sz="1800" b="0" dirty="0">
                <a:latin typeface="+mn-lt"/>
              </a:rPr>
              <a:t> = </a:t>
            </a:r>
            <a:r>
              <a:rPr lang="en-SG" sz="1800" b="0" dirty="0" err="1">
                <a:latin typeface="+mn-lt"/>
              </a:rPr>
              <a:t>centleft.ToString</a:t>
            </a:r>
            <a:r>
              <a:rPr lang="en-SG" sz="1800" b="0" dirty="0">
                <a:latin typeface="+mn-lt"/>
              </a:rPr>
              <a:t>() + " cents";</a:t>
            </a:r>
          </a:p>
          <a:p>
            <a:r>
              <a:rPr lang="en-SG" sz="1800" b="0" dirty="0">
                <a:latin typeface="+mn-lt"/>
              </a:rPr>
              <a:t>            </a:t>
            </a:r>
          </a:p>
          <a:p>
            <a:r>
              <a:rPr lang="en-SG" sz="1800" b="0" dirty="0">
                <a:latin typeface="+mn-lt"/>
              </a:rPr>
              <a:t>}</a:t>
            </a:r>
          </a:p>
          <a:p>
            <a:endParaRPr lang="en-SG" sz="1800" b="0" dirty="0">
              <a:latin typeface="+mn-lt"/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1487166" y="6463519"/>
            <a:ext cx="5184576" cy="916793"/>
          </a:xfrm>
          <a:prstGeom prst="wedgeRoundRectCallout">
            <a:avLst>
              <a:gd name="adj1" fmla="val 20628"/>
              <a:gd name="adj2" fmla="val -178847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800" dirty="0">
                <a:solidFill>
                  <a:schemeClr val="accent6"/>
                </a:solidFill>
              </a:rPr>
              <a:t>The above example uses </a:t>
            </a:r>
            <a:r>
              <a:rPr lang="en-GB" sz="1800" dirty="0">
                <a:solidFill>
                  <a:schemeClr val="bg2"/>
                </a:solidFill>
              </a:rPr>
              <a:t>ref</a:t>
            </a:r>
            <a:r>
              <a:rPr lang="en-GB" sz="1800" dirty="0">
                <a:solidFill>
                  <a:schemeClr val="accent6"/>
                </a:solidFill>
              </a:rPr>
              <a:t> keyword.</a:t>
            </a:r>
          </a:p>
          <a:p>
            <a:pPr algn="ctr">
              <a:defRPr/>
            </a:pPr>
            <a:r>
              <a:rPr lang="en-GB" sz="1800" dirty="0">
                <a:solidFill>
                  <a:schemeClr val="accent6"/>
                </a:solidFill>
              </a:rPr>
              <a:t>Modify the program to use </a:t>
            </a:r>
            <a:r>
              <a:rPr lang="en-GB" sz="1800" dirty="0">
                <a:solidFill>
                  <a:schemeClr val="bg2"/>
                </a:solidFill>
              </a:rPr>
              <a:t>out</a:t>
            </a:r>
            <a:r>
              <a:rPr lang="en-GB" sz="1800" dirty="0">
                <a:solidFill>
                  <a:schemeClr val="accent6"/>
                </a:solidFill>
              </a:rPr>
              <a:t> keyword.</a:t>
            </a:r>
            <a:endParaRPr lang="en-SG" sz="1800" dirty="0">
              <a:solidFill>
                <a:schemeClr val="accent6"/>
              </a:solidFill>
            </a:endParaRPr>
          </a:p>
        </p:txBody>
      </p:sp>
      <p:pic>
        <p:nvPicPr>
          <p:cNvPr id="6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32" y="7188486"/>
            <a:ext cx="1320193" cy="1559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17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04664" y="232395"/>
            <a:ext cx="5829300" cy="811213"/>
          </a:xfrm>
        </p:spPr>
        <p:txBody>
          <a:bodyPr/>
          <a:lstStyle/>
          <a:p>
            <a:pPr eaLnBrk="1" hangingPunct="1"/>
            <a:r>
              <a:rPr lang="en-US" dirty="0"/>
              <a:t>Summary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1619251"/>
            <a:ext cx="6038850" cy="4824958"/>
          </a:xfrm>
        </p:spPr>
        <p:txBody>
          <a:bodyPr/>
          <a:lstStyle/>
          <a:p>
            <a:pPr eaLnBrk="1" hangingPunct="1"/>
            <a:r>
              <a:rPr lang="en-GB" sz="2400" dirty="0"/>
              <a:t>Two types of variable:</a:t>
            </a:r>
          </a:p>
          <a:p>
            <a:pPr lvl="1" eaLnBrk="1" hangingPunct="1"/>
            <a:r>
              <a:rPr lang="en-US" sz="2400" dirty="0"/>
              <a:t>Value type (store data)</a:t>
            </a:r>
          </a:p>
          <a:p>
            <a:pPr lvl="1" eaLnBrk="1" hangingPunct="1"/>
            <a:r>
              <a:rPr lang="en-US" sz="2400" dirty="0"/>
              <a:t>Reference type (store address)</a:t>
            </a:r>
          </a:p>
          <a:p>
            <a:pPr eaLnBrk="1" hangingPunct="1"/>
            <a:r>
              <a:rPr lang="en-US" sz="2400" dirty="0"/>
              <a:t>Computer Memory</a:t>
            </a:r>
          </a:p>
          <a:p>
            <a:pPr lvl="1" eaLnBrk="1" hangingPunct="1"/>
            <a:r>
              <a:rPr lang="en-US" sz="2200" dirty="0"/>
              <a:t>Heap</a:t>
            </a:r>
          </a:p>
          <a:p>
            <a:pPr lvl="1" eaLnBrk="1" hangingPunct="1"/>
            <a:r>
              <a:rPr lang="en-US" sz="2200" dirty="0"/>
              <a:t>Stack</a:t>
            </a:r>
          </a:p>
          <a:p>
            <a:pPr eaLnBrk="1" hangingPunct="1"/>
            <a:r>
              <a:rPr lang="en-US" sz="2400" dirty="0"/>
              <a:t>Methods passing by</a:t>
            </a:r>
          </a:p>
          <a:p>
            <a:pPr lvl="1" eaLnBrk="1" hangingPunct="1"/>
            <a:r>
              <a:rPr lang="en-US" sz="2200" dirty="0"/>
              <a:t>Value</a:t>
            </a:r>
          </a:p>
          <a:p>
            <a:pPr lvl="1" eaLnBrk="1" hangingPunct="1"/>
            <a:r>
              <a:rPr lang="en-US" sz="2200" dirty="0"/>
              <a:t>Reference</a:t>
            </a:r>
          </a:p>
          <a:p>
            <a:pPr lvl="2" eaLnBrk="1" hangingPunct="1"/>
            <a:r>
              <a:rPr lang="en-US" sz="1900" dirty="0"/>
              <a:t>Out</a:t>
            </a:r>
          </a:p>
          <a:p>
            <a:pPr lvl="2" eaLnBrk="1" hangingPunct="1"/>
            <a:r>
              <a:rPr lang="en-US" sz="1900" dirty="0"/>
              <a:t>Ref</a:t>
            </a:r>
          </a:p>
          <a:p>
            <a:pPr lvl="1" eaLnBrk="1" hangingPunct="1"/>
            <a:endParaRPr lang="en-US" sz="2200" dirty="0"/>
          </a:p>
          <a:p>
            <a:pPr marL="457200" lvl="1" indent="0" eaLnBrk="1" hangingPunct="1">
              <a:buNone/>
            </a:pPr>
            <a:endParaRPr lang="en-US" sz="2200" dirty="0"/>
          </a:p>
          <a:p>
            <a:pPr lvl="1" eaLnBrk="1" hangingPunct="1"/>
            <a:endParaRPr lang="en-GB" sz="2200" dirty="0"/>
          </a:p>
          <a:p>
            <a:pPr eaLnBrk="1" hangingPunct="1">
              <a:buFont typeface="Wingdings" pitchFamily="2" charset="2"/>
              <a:buNone/>
            </a:pPr>
            <a:endParaRPr lang="en-GB" sz="2400" dirty="0"/>
          </a:p>
          <a:p>
            <a:pPr eaLnBrk="1" hangingPunct="1">
              <a:buFont typeface="Wingdings" pitchFamily="2" charset="2"/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05180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428604" y="1187624"/>
            <a:ext cx="6312764" cy="4104456"/>
          </a:xfrm>
        </p:spPr>
        <p:txBody>
          <a:bodyPr/>
          <a:lstStyle/>
          <a:p>
            <a:pPr marL="457200" indent="-457200" defTabSz="457200" eaLnBrk="1" hangingPunct="1">
              <a:spcBef>
                <a:spcPct val="0"/>
              </a:spcBef>
              <a:buNone/>
            </a:pPr>
            <a:r>
              <a:rPr lang="en-GB" sz="1600" dirty="0"/>
              <a:t>Q1. A method called </a:t>
            </a:r>
            <a:r>
              <a:rPr lang="en-GB" sz="1600" b="1" dirty="0" err="1">
                <a:solidFill>
                  <a:schemeClr val="accent6"/>
                </a:solidFill>
              </a:rPr>
              <a:t>SphereAV</a:t>
            </a:r>
            <a:r>
              <a:rPr lang="en-GB" sz="1600" dirty="0"/>
              <a:t> receives the radius of a sphere, the address (</a:t>
            </a:r>
            <a:r>
              <a:rPr lang="en-GB" sz="1600" dirty="0" err="1"/>
              <a:t>ie</a:t>
            </a:r>
            <a:r>
              <a:rPr lang="en-GB" sz="1600" dirty="0"/>
              <a:t>. reference) of a variable which will store the area, and the reference of a variable which will store the volume. The method calculates the area and volume using the following formula and store them in the variables that the pointers point to.</a:t>
            </a:r>
          </a:p>
          <a:p>
            <a:pPr marL="1200150" lvl="3" defTabSz="457200" eaLnBrk="1" hangingPunct="1">
              <a:spcBef>
                <a:spcPct val="0"/>
              </a:spcBef>
              <a:buFontTx/>
              <a:buNone/>
            </a:pPr>
            <a:r>
              <a:rPr lang="en-GB" sz="1600" dirty="0"/>
              <a:t>Area of sphere = 4 * PI * r * </a:t>
            </a:r>
            <a:r>
              <a:rPr lang="en-GB" sz="1600" dirty="0" err="1"/>
              <a:t>r</a:t>
            </a:r>
            <a:endParaRPr lang="en-GB" sz="1600" dirty="0"/>
          </a:p>
          <a:p>
            <a:pPr marL="1200150" lvl="3" defTabSz="457200" eaLnBrk="1" hangingPunct="1">
              <a:spcBef>
                <a:spcPct val="0"/>
              </a:spcBef>
              <a:buFontTx/>
              <a:buNone/>
            </a:pPr>
            <a:r>
              <a:rPr lang="en-GB" sz="1600" dirty="0"/>
              <a:t>Volume of sphere = 4.0/3.0 * PI * r * </a:t>
            </a:r>
            <a:r>
              <a:rPr lang="en-GB" sz="1600" dirty="0" err="1"/>
              <a:t>r</a:t>
            </a:r>
            <a:r>
              <a:rPr lang="en-GB" sz="1600" dirty="0"/>
              <a:t> * </a:t>
            </a:r>
            <a:r>
              <a:rPr lang="en-GB" sz="1600" dirty="0" err="1"/>
              <a:t>r</a:t>
            </a:r>
            <a:endParaRPr lang="en-GB" sz="1600" dirty="0"/>
          </a:p>
          <a:p>
            <a:pPr marL="1200150" lvl="3" defTabSz="457200" eaLnBrk="1" hangingPunct="1">
              <a:spcBef>
                <a:spcPct val="0"/>
              </a:spcBef>
              <a:buFontTx/>
              <a:buNone/>
            </a:pPr>
            <a:r>
              <a:rPr lang="en-GB" sz="1600" dirty="0"/>
              <a:t>	where PI = 3.1416</a:t>
            </a:r>
          </a:p>
          <a:p>
            <a:pPr defTabSz="457200" eaLnBrk="1" hangingPunct="1">
              <a:spcBef>
                <a:spcPct val="0"/>
              </a:spcBef>
              <a:buNone/>
            </a:pPr>
            <a:r>
              <a:rPr lang="en-GB" sz="1600" dirty="0"/>
              <a:t>	When user clicks on </a:t>
            </a:r>
            <a:r>
              <a:rPr lang="en-GB" sz="1600" b="1" dirty="0"/>
              <a:t>Calculate</a:t>
            </a:r>
            <a:r>
              <a:rPr lang="en-GB" sz="1600" dirty="0"/>
              <a:t> button, it reads the radius from a text box, calls the method </a:t>
            </a:r>
            <a:r>
              <a:rPr lang="en-GB" sz="1600" b="1" dirty="0" err="1">
                <a:solidFill>
                  <a:schemeClr val="accent6"/>
                </a:solidFill>
              </a:rPr>
              <a:t>SphereAV</a:t>
            </a:r>
            <a:r>
              <a:rPr lang="en-GB" sz="1600" dirty="0"/>
              <a:t>, </a:t>
            </a:r>
          </a:p>
          <a:p>
            <a:pPr defTabSz="457200" eaLnBrk="1" hangingPunct="1">
              <a:spcBef>
                <a:spcPct val="0"/>
              </a:spcBef>
              <a:buNone/>
            </a:pPr>
            <a:r>
              <a:rPr lang="en-GB" sz="1600" dirty="0"/>
              <a:t>	E.g. of calling method:</a:t>
            </a:r>
          </a:p>
          <a:p>
            <a:pPr defTabSz="457200" eaLnBrk="1" hangingPunct="1">
              <a:spcBef>
                <a:spcPct val="0"/>
              </a:spcBef>
              <a:buNone/>
            </a:pPr>
            <a:r>
              <a:rPr lang="en-GB" sz="1600" dirty="0"/>
              <a:t>  			</a:t>
            </a:r>
            <a:r>
              <a:rPr lang="en-GB" sz="1600" b="1" dirty="0" err="1">
                <a:solidFill>
                  <a:schemeClr val="accent6"/>
                </a:solidFill>
              </a:rPr>
              <a:t>SphereAV</a:t>
            </a:r>
            <a:r>
              <a:rPr lang="en-GB" sz="1600" dirty="0"/>
              <a:t>(radius, ref area, ref </a:t>
            </a:r>
            <a:r>
              <a:rPr lang="en-GB" sz="1600" dirty="0" err="1"/>
              <a:t>vol</a:t>
            </a:r>
            <a:r>
              <a:rPr lang="en-GB" sz="1600" dirty="0"/>
              <a:t>);</a:t>
            </a:r>
          </a:p>
          <a:p>
            <a:pPr defTabSz="457200" eaLnBrk="1" hangingPunct="1">
              <a:spcBef>
                <a:spcPct val="0"/>
              </a:spcBef>
              <a:buNone/>
            </a:pPr>
            <a:r>
              <a:rPr lang="en-GB" sz="1600" dirty="0"/>
              <a:t>	and then prints out the result in a rich textbox. </a:t>
            </a:r>
          </a:p>
          <a:p>
            <a:pPr defTabSz="457200" eaLnBrk="1" hangingPunct="1">
              <a:spcBef>
                <a:spcPct val="0"/>
              </a:spcBef>
              <a:buNone/>
            </a:pPr>
            <a:endParaRPr lang="en-GB" sz="1600" dirty="0"/>
          </a:p>
          <a:p>
            <a:pPr defTabSz="457200" eaLnBrk="1" hangingPunct="1">
              <a:spcBef>
                <a:spcPct val="0"/>
              </a:spcBef>
              <a:buNone/>
            </a:pPr>
            <a:r>
              <a:rPr lang="en-GB" sz="1600" dirty="0"/>
              <a:t>Here is a sample code to help you.</a:t>
            </a:r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476672" y="8388424"/>
            <a:ext cx="410527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b="0" i="1" dirty="0">
                <a:solidFill>
                  <a:srgbClr val="FF0000"/>
                </a:solidFill>
              </a:rPr>
              <a:t>Hint: Try both ref and out keywords.</a:t>
            </a:r>
            <a:endParaRPr lang="en-US" sz="1800" b="0" i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8604" y="142844"/>
            <a:ext cx="513794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GB" sz="2800" dirty="0">
                <a:latin typeface="+mj-lt"/>
              </a:rPr>
              <a:t>Practical 5B : </a:t>
            </a:r>
          </a:p>
          <a:p>
            <a:pPr defTabSz="457200"/>
            <a:r>
              <a:rPr lang="en-GB" sz="2800" dirty="0">
                <a:latin typeface="+mj-lt"/>
              </a:rPr>
              <a:t>References and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031417" y="5364088"/>
            <a:ext cx="34290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SG" sz="1600" b="0" dirty="0"/>
              <a:t>private void </a:t>
            </a:r>
            <a:r>
              <a:rPr lang="en-SG" sz="1600" b="0" dirty="0" err="1"/>
              <a:t>SphereAV</a:t>
            </a:r>
            <a:r>
              <a:rPr lang="en-SG" sz="1600" b="0" dirty="0"/>
              <a:t>(____ r, </a:t>
            </a:r>
          </a:p>
          <a:p>
            <a:r>
              <a:rPr lang="en-SG" sz="1600" b="0" dirty="0"/>
              <a:t>r___  _____   a, r___  _____ v)</a:t>
            </a:r>
          </a:p>
          <a:p>
            <a:r>
              <a:rPr lang="en-SG" sz="1600" b="0" dirty="0"/>
              <a:t>   {</a:t>
            </a:r>
          </a:p>
          <a:p>
            <a:r>
              <a:rPr lang="en-SG" sz="1600" b="0" dirty="0"/>
              <a:t>            float pi = 3.1416f;</a:t>
            </a:r>
          </a:p>
          <a:p>
            <a:endParaRPr lang="en-SG" sz="1600" b="0" dirty="0"/>
          </a:p>
          <a:p>
            <a:r>
              <a:rPr lang="pt-BR" sz="1600" b="0" dirty="0"/>
              <a:t>            a = 4.0f * pi * r * r;</a:t>
            </a:r>
          </a:p>
          <a:p>
            <a:r>
              <a:rPr lang="pt-BR" sz="1600" b="0" dirty="0"/>
              <a:t>            v = 4.0f / 3.0f * pi * r * r * r;</a:t>
            </a:r>
          </a:p>
          <a:p>
            <a:endParaRPr lang="en-SG" sz="1600" b="0" dirty="0"/>
          </a:p>
          <a:p>
            <a:r>
              <a:rPr lang="en-SG" sz="1600" b="0" dirty="0"/>
              <a:t>     }</a:t>
            </a:r>
          </a:p>
        </p:txBody>
      </p:sp>
      <p:pic>
        <p:nvPicPr>
          <p:cNvPr id="6" name="Picture 5" descr="FormQ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61" y="5353877"/>
            <a:ext cx="2286198" cy="2286198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>
          <a:xfrm>
            <a:off x="548680" y="7812360"/>
            <a:ext cx="2286198" cy="504056"/>
          </a:xfrm>
          <a:prstGeom prst="wedgeRoundRectCallout">
            <a:avLst>
              <a:gd name="adj1" fmla="val 2857"/>
              <a:gd name="adj2" fmla="val -248305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accent6"/>
                </a:solidFill>
              </a:rPr>
              <a:t>To format 2 decimal places:</a:t>
            </a:r>
          </a:p>
          <a:p>
            <a:pPr algn="ctr">
              <a:defRPr/>
            </a:pPr>
            <a:r>
              <a:rPr lang="en-SG" dirty="0" err="1"/>
              <a:t>area.ToString</a:t>
            </a:r>
            <a:r>
              <a:rPr lang="en-SG" dirty="0"/>
              <a:t>("N2")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428604" y="1187625"/>
            <a:ext cx="6240756" cy="2664296"/>
          </a:xfrm>
        </p:spPr>
        <p:txBody>
          <a:bodyPr/>
          <a:lstStyle/>
          <a:p>
            <a:pPr marL="457200" indent="-457200" defTabSz="457200" eaLnBrk="1" hangingPunct="1">
              <a:spcBef>
                <a:spcPct val="0"/>
              </a:spcBef>
              <a:buNone/>
            </a:pPr>
            <a:r>
              <a:rPr lang="en-GB" sz="1600" dirty="0"/>
              <a:t>Q2.  Assume that an automatic cash dispenser (ATM) can only dispense 10 dollar and 1 dollar notes. Write a method which calculates the number of 10 and 1 dollar notes form any requested amount of money.</a:t>
            </a:r>
          </a:p>
          <a:p>
            <a:pPr marL="457200" indent="-457200" defTabSz="457200" eaLnBrk="1" hangingPunct="1">
              <a:spcBef>
                <a:spcPct val="0"/>
              </a:spcBef>
              <a:buNone/>
            </a:pPr>
            <a:r>
              <a:rPr lang="en-GB" sz="1600" dirty="0"/>
              <a:t>       </a:t>
            </a:r>
            <a:r>
              <a:rPr lang="en-GB" sz="1600" dirty="0" err="1"/>
              <a:t>E.g</a:t>
            </a:r>
            <a:r>
              <a:rPr lang="en-GB" sz="1600" dirty="0"/>
              <a:t> of method call:</a:t>
            </a:r>
          </a:p>
          <a:p>
            <a:pPr marL="457200" indent="-457200" defTabSz="457200" eaLnBrk="1" hangingPunct="1">
              <a:spcBef>
                <a:spcPct val="0"/>
              </a:spcBef>
              <a:buNone/>
            </a:pPr>
            <a:r>
              <a:rPr lang="en-GB" sz="1600" dirty="0"/>
              <a:t>	</a:t>
            </a:r>
            <a:r>
              <a:rPr lang="en-GB" sz="1600" b="1" dirty="0" err="1">
                <a:solidFill>
                  <a:schemeClr val="accent6"/>
                </a:solidFill>
              </a:rPr>
              <a:t>CalculateNotes</a:t>
            </a:r>
            <a:r>
              <a:rPr lang="en-GB" sz="1600" dirty="0"/>
              <a:t> (amount, out </a:t>
            </a:r>
            <a:r>
              <a:rPr lang="en-GB" sz="1600" dirty="0" err="1"/>
              <a:t>tenNotes</a:t>
            </a:r>
            <a:r>
              <a:rPr lang="en-GB" sz="1600" dirty="0"/>
              <a:t>, out </a:t>
            </a:r>
            <a:r>
              <a:rPr lang="en-GB" sz="1600" dirty="0" err="1"/>
              <a:t>oneNotes</a:t>
            </a:r>
            <a:r>
              <a:rPr lang="en-GB" sz="1600" dirty="0"/>
              <a:t>);</a:t>
            </a:r>
          </a:p>
          <a:p>
            <a:pPr marL="457200" indent="-457200" defTabSz="457200" eaLnBrk="1" hangingPunct="1">
              <a:spcBef>
                <a:spcPct val="0"/>
              </a:spcBef>
              <a:buNone/>
            </a:pPr>
            <a:endParaRPr lang="en-GB" sz="1600" dirty="0"/>
          </a:p>
          <a:p>
            <a:pPr marL="457200" indent="-457200" defTabSz="457200" eaLnBrk="1" hangingPunct="1">
              <a:spcBef>
                <a:spcPct val="0"/>
              </a:spcBef>
              <a:buNone/>
            </a:pPr>
            <a:r>
              <a:rPr lang="en-GB" sz="1600" dirty="0"/>
              <a:t>       Create a form and write code for user to enter the amount and click the Calculate button. It calls the </a:t>
            </a:r>
            <a:r>
              <a:rPr lang="en-GB" sz="1600" b="1" dirty="0" err="1">
                <a:solidFill>
                  <a:schemeClr val="accent6"/>
                </a:solidFill>
              </a:rPr>
              <a:t>CalculateNotes</a:t>
            </a:r>
            <a:r>
              <a:rPr lang="en-GB" sz="1600" dirty="0"/>
              <a:t> method and display the result in a rich text box.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8604" y="142844"/>
            <a:ext cx="513794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GB" sz="2800" dirty="0">
                <a:latin typeface="+mj-lt"/>
              </a:rPr>
              <a:t>Practical 5B : </a:t>
            </a:r>
          </a:p>
          <a:p>
            <a:pPr defTabSz="457200"/>
            <a:r>
              <a:rPr lang="en-GB" sz="2800" dirty="0">
                <a:latin typeface="+mj-lt"/>
              </a:rPr>
              <a:t>References and Methods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980728" y="7082988"/>
            <a:ext cx="410527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b="0" i="1" dirty="0">
                <a:solidFill>
                  <a:srgbClr val="FF0000"/>
                </a:solidFill>
              </a:rPr>
              <a:t>Hint: Try both ref and out keywords.</a:t>
            </a:r>
            <a:endParaRPr lang="en-US" sz="1800" b="0" i="1" dirty="0">
              <a:solidFill>
                <a:srgbClr val="FF0000"/>
              </a:solidFill>
            </a:endParaRPr>
          </a:p>
        </p:txBody>
      </p:sp>
      <p:pic>
        <p:nvPicPr>
          <p:cNvPr id="3" name="Picture 2" descr="FormQ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901" y="3851920"/>
            <a:ext cx="2804403" cy="2286198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>
          <a:xfrm>
            <a:off x="764704" y="4959015"/>
            <a:ext cx="2380172" cy="1251111"/>
          </a:xfrm>
          <a:prstGeom prst="wedgeRoundRectCallout">
            <a:avLst>
              <a:gd name="adj1" fmla="val 116411"/>
              <a:gd name="adj2" fmla="val -49491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400" dirty="0">
                <a:solidFill>
                  <a:schemeClr val="accent6"/>
                </a:solidFill>
              </a:rPr>
              <a:t>You need to use “%” to get number of ten notes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286010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49275" y="2511425"/>
            <a:ext cx="5829300" cy="1960563"/>
          </a:xfrm>
          <a:noFill/>
        </p:spPr>
        <p:txBody>
          <a:bodyPr/>
          <a:lstStyle/>
          <a:p>
            <a:pPr algn="r" eaLnBrk="1" hangingPunct="1"/>
            <a:r>
              <a:rPr lang="en-GB" sz="4400" b="0" dirty="0"/>
              <a:t>IT1762</a:t>
            </a:r>
            <a:br>
              <a:rPr lang="en-GB" sz="4400" b="0" dirty="0"/>
            </a:br>
            <a:r>
              <a:rPr lang="en-GB" sz="4400" b="0" dirty="0"/>
              <a:t>Data Structures and Algorithms</a:t>
            </a:r>
            <a:endParaRPr lang="en-US" sz="4400" b="0" dirty="0"/>
          </a:p>
        </p:txBody>
      </p:sp>
      <p:sp>
        <p:nvSpPr>
          <p:cNvPr id="1433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908050" y="4905375"/>
            <a:ext cx="5353050" cy="2857500"/>
          </a:xfrm>
        </p:spPr>
        <p:txBody>
          <a:bodyPr/>
          <a:lstStyle/>
          <a:p>
            <a:pPr eaLnBrk="1" hangingPunct="1"/>
            <a:r>
              <a:rPr lang="en-GB" sz="4000" b="1" dirty="0">
                <a:latin typeface="Times New Roman" pitchFamily="18" charset="0"/>
              </a:rPr>
              <a:t>End of</a:t>
            </a:r>
          </a:p>
          <a:p>
            <a:pPr eaLnBrk="1" hangingPunct="1"/>
            <a:r>
              <a:rPr lang="en-GB" b="1">
                <a:solidFill>
                  <a:srgbClr val="FF0000"/>
                </a:solidFill>
                <a:latin typeface="Times New Roman" pitchFamily="18" charset="0"/>
              </a:rPr>
              <a:t>Topic 5B</a:t>
            </a:r>
            <a:endParaRPr lang="en-GB" b="1" dirty="0">
              <a:solidFill>
                <a:srgbClr val="FF0000"/>
              </a:solidFill>
              <a:latin typeface="Times New Roman" pitchFamily="18" charset="0"/>
            </a:endParaRPr>
          </a:p>
          <a:p>
            <a:pPr eaLnBrk="1" hangingPunct="1"/>
            <a:r>
              <a:rPr lang="en-GB" b="1" dirty="0">
                <a:solidFill>
                  <a:srgbClr val="FF0000"/>
                </a:solidFill>
                <a:latin typeface="Times New Roman" pitchFamily="18" charset="0"/>
              </a:rPr>
              <a:t> Types in C#</a:t>
            </a:r>
          </a:p>
          <a:p>
            <a:pPr eaLnBrk="1" hangingPunct="1"/>
            <a:r>
              <a:rPr lang="en-GB" sz="1800" b="1" dirty="0">
                <a:solidFill>
                  <a:srgbClr val="FF0000"/>
                </a:solidFill>
                <a:latin typeface="Times New Roman" pitchFamily="18" charset="0"/>
              </a:rPr>
              <a:t>Value Type and Reference Type</a:t>
            </a:r>
            <a:endParaRPr lang="en-US" sz="18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3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1490591133</TotalTime>
  <Pages>18</Pages>
  <Words>1730</Words>
  <Application>Microsoft Office PowerPoint</Application>
  <PresentationFormat>On-screen Show (4:3)</PresentationFormat>
  <Paragraphs>353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Narrow</vt:lpstr>
      <vt:lpstr>Comic Sans MS</vt:lpstr>
      <vt:lpstr>Times New Roman</vt:lpstr>
      <vt:lpstr>Verdana</vt:lpstr>
      <vt:lpstr>Wingdings</vt:lpstr>
      <vt:lpstr>1_Layers</vt:lpstr>
      <vt:lpstr>IT1762 Data Structures and Algorithms</vt:lpstr>
      <vt:lpstr>Objectives</vt:lpstr>
      <vt:lpstr>PowerPoint Presentation</vt:lpstr>
      <vt:lpstr>PowerPoint Presentation</vt:lpstr>
      <vt:lpstr>Value Type</vt:lpstr>
      <vt:lpstr>Reference Type</vt:lpstr>
      <vt:lpstr>Computer  Memory Management</vt:lpstr>
      <vt:lpstr>Computer Memory Management</vt:lpstr>
      <vt:lpstr>Comparing  Values Types</vt:lpstr>
      <vt:lpstr>Comparing  Reference Types</vt:lpstr>
      <vt:lpstr>PowerPoint Presentation</vt:lpstr>
      <vt:lpstr>PowerPoint Presentation</vt:lpstr>
      <vt:lpstr>Methods pass by value</vt:lpstr>
      <vt:lpstr>Methods pass by reference</vt:lpstr>
      <vt:lpstr>Methods pass by reference</vt:lpstr>
      <vt:lpstr>Methods pass by reference Example 1 – using ref</vt:lpstr>
      <vt:lpstr>Methods pass by reference Example 1 – using out</vt:lpstr>
      <vt:lpstr>Methods pass by reference Example 2</vt:lpstr>
      <vt:lpstr>Methods pass by reference Example 2</vt:lpstr>
      <vt:lpstr>Summary</vt:lpstr>
      <vt:lpstr>PowerPoint Presentation</vt:lpstr>
      <vt:lpstr>PowerPoint Presentation</vt:lpstr>
      <vt:lpstr>IT1762 Data Structures and Algorithms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</dc:title>
  <dc:subject>Data Structures and Algorithms</dc:subject>
  <dc:creator>Brett Graham</dc:creator>
  <cp:keywords/>
  <dc:description/>
  <cp:lastModifiedBy>TAN AI LIAN</cp:lastModifiedBy>
  <cp:revision>448</cp:revision>
  <cp:lastPrinted>1998-12-30T02:15:58Z</cp:lastPrinted>
  <dcterms:created xsi:type="dcterms:W3CDTF">1995-05-09T00:36:40Z</dcterms:created>
  <dcterms:modified xsi:type="dcterms:W3CDTF">2018-09-25T06:09:28Z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B692F8B3-387B-410E-B055-9CB426C352F1</vt:lpwstr>
  </property>
  <property fmtid="{D5CDD505-2E9C-101B-9397-08002B2CF9AE}" pid="3" name="ArticulatePath">
    <vt:lpwstr>IT1762 Topic 5B - Values_References</vt:lpwstr>
  </property>
</Properties>
</file>