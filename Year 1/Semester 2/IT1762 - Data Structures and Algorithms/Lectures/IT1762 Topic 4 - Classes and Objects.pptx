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3"/>
  </p:notesMasterIdLst>
  <p:handoutMasterIdLst>
    <p:handoutMasterId r:id="rId44"/>
  </p:handoutMasterIdLst>
  <p:sldIdLst>
    <p:sldId id="256" r:id="rId2"/>
    <p:sldId id="445" r:id="rId3"/>
    <p:sldId id="446" r:id="rId4"/>
    <p:sldId id="447" r:id="rId5"/>
    <p:sldId id="448" r:id="rId6"/>
    <p:sldId id="449" r:id="rId7"/>
    <p:sldId id="450" r:id="rId8"/>
    <p:sldId id="474" r:id="rId9"/>
    <p:sldId id="451" r:id="rId10"/>
    <p:sldId id="475" r:id="rId11"/>
    <p:sldId id="477" r:id="rId12"/>
    <p:sldId id="476" r:id="rId13"/>
    <p:sldId id="452" r:id="rId14"/>
    <p:sldId id="478" r:id="rId15"/>
    <p:sldId id="481" r:id="rId16"/>
    <p:sldId id="479" r:id="rId17"/>
    <p:sldId id="480" r:id="rId18"/>
    <p:sldId id="482" r:id="rId19"/>
    <p:sldId id="453" r:id="rId20"/>
    <p:sldId id="483" r:id="rId21"/>
    <p:sldId id="455" r:id="rId22"/>
    <p:sldId id="456" r:id="rId23"/>
    <p:sldId id="457" r:id="rId24"/>
    <p:sldId id="458" r:id="rId25"/>
    <p:sldId id="461" r:id="rId26"/>
    <p:sldId id="462" r:id="rId27"/>
    <p:sldId id="463" r:id="rId28"/>
    <p:sldId id="484" r:id="rId29"/>
    <p:sldId id="485" r:id="rId30"/>
    <p:sldId id="465" r:id="rId31"/>
    <p:sldId id="487" r:id="rId32"/>
    <p:sldId id="486" r:id="rId33"/>
    <p:sldId id="489" r:id="rId34"/>
    <p:sldId id="488" r:id="rId35"/>
    <p:sldId id="466" r:id="rId36"/>
    <p:sldId id="490" r:id="rId37"/>
    <p:sldId id="467" r:id="rId38"/>
    <p:sldId id="491" r:id="rId39"/>
    <p:sldId id="470" r:id="rId40"/>
    <p:sldId id="473" r:id="rId41"/>
    <p:sldId id="436" r:id="rId42"/>
  </p:sldIdLst>
  <p:sldSz cx="6858000" cy="9144000" type="screen4x3"/>
  <p:notesSz cx="9926638" cy="6797675"/>
  <p:custDataLst>
    <p:tags r:id="rId45"/>
  </p:custDataLst>
  <p:defaultTextStyle>
    <a:defPPr>
      <a:defRPr lang="en-GB"/>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4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FF00"/>
    <a:srgbClr val="0641C6"/>
    <a:srgbClr val="333399"/>
    <a:srgbClr val="0066FF"/>
    <a:srgbClr val="3366FF"/>
    <a:srgbClr val="0099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5646" autoAdjust="0"/>
    <p:restoredTop sz="94550" autoAdjust="0"/>
  </p:normalViewPr>
  <p:slideViewPr>
    <p:cSldViewPr snapToGrid="0">
      <p:cViewPr>
        <p:scale>
          <a:sx n="33" d="100"/>
          <a:sy n="33" d="100"/>
        </p:scale>
        <p:origin x="1408" y="21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92"/>
    </p:cViewPr>
  </p:sorterViewPr>
  <p:notesViewPr>
    <p:cSldViewPr snapToGrid="0">
      <p:cViewPr varScale="1">
        <p:scale>
          <a:sx n="47" d="100"/>
          <a:sy n="47" d="100"/>
        </p:scale>
        <p:origin x="-2796" y="-90"/>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1" y="1"/>
            <a:ext cx="4301839"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defTabSz="952675">
              <a:defRPr sz="1300" smtClean="0">
                <a:latin typeface="Arial" charset="0"/>
              </a:defRPr>
            </a:lvl1pPr>
          </a:lstStyle>
          <a:p>
            <a:pPr>
              <a:defRPr/>
            </a:pPr>
            <a:endParaRPr lang="en-GB"/>
          </a:p>
        </p:txBody>
      </p:sp>
      <p:sp>
        <p:nvSpPr>
          <p:cNvPr id="35843" name="Rectangle 3"/>
          <p:cNvSpPr>
            <a:spLocks noGrp="1" noChangeArrowheads="1"/>
          </p:cNvSpPr>
          <p:nvPr>
            <p:ph type="dt" sz="quarter" idx="1"/>
          </p:nvPr>
        </p:nvSpPr>
        <p:spPr bwMode="auto">
          <a:xfrm>
            <a:off x="5622581" y="1"/>
            <a:ext cx="4301839"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algn="r" defTabSz="952675">
              <a:defRPr sz="1300" smtClean="0">
                <a:latin typeface="Arial" charset="0"/>
              </a:defRPr>
            </a:lvl1pPr>
          </a:lstStyle>
          <a:p>
            <a:pPr>
              <a:defRPr/>
            </a:pPr>
            <a:endParaRPr lang="en-GB"/>
          </a:p>
        </p:txBody>
      </p:sp>
      <p:sp>
        <p:nvSpPr>
          <p:cNvPr id="35845" name="Rectangle 5"/>
          <p:cNvSpPr>
            <a:spLocks noGrp="1" noChangeArrowheads="1"/>
          </p:cNvSpPr>
          <p:nvPr>
            <p:ph type="sldNum" sz="quarter" idx="3"/>
          </p:nvPr>
        </p:nvSpPr>
        <p:spPr bwMode="auto">
          <a:xfrm>
            <a:off x="5622581" y="6457107"/>
            <a:ext cx="4301839"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algn="r" defTabSz="952675">
              <a:defRPr sz="1300" smtClean="0">
                <a:latin typeface="Arial" charset="0"/>
              </a:defRPr>
            </a:lvl1pPr>
          </a:lstStyle>
          <a:p>
            <a:pPr>
              <a:defRPr/>
            </a:pPr>
            <a:fld id="{98AE70DA-BE83-4246-8033-0D4F5CED2481}" type="slidenum">
              <a:rPr lang="en-GB"/>
              <a:pPr>
                <a:defRPr/>
              </a:pPr>
              <a:t>‹#›</a:t>
            </a:fld>
            <a:endParaRPr lang="en-GB"/>
          </a:p>
        </p:txBody>
      </p:sp>
      <p:sp>
        <p:nvSpPr>
          <p:cNvPr id="6" name="Footer Placeholder 5"/>
          <p:cNvSpPr>
            <a:spLocks noGrp="1"/>
          </p:cNvSpPr>
          <p:nvPr>
            <p:ph type="ftr" sz="quarter" idx="2"/>
          </p:nvPr>
        </p:nvSpPr>
        <p:spPr>
          <a:xfrm>
            <a:off x="1" y="6457107"/>
            <a:ext cx="4301839" cy="339515"/>
          </a:xfrm>
          <a:prstGeom prst="rect">
            <a:avLst/>
          </a:prstGeom>
        </p:spPr>
        <p:txBody>
          <a:bodyPr vert="horz" lIns="87939" tIns="43970" rIns="87939" bIns="43970" rtlCol="0" anchor="b"/>
          <a:lstStyle>
            <a:lvl1pPr algn="l">
              <a:defRPr sz="1200"/>
            </a:lvl1pPr>
          </a:lstStyle>
          <a:p>
            <a:endParaRPr lang="en-US"/>
          </a:p>
        </p:txBody>
      </p:sp>
    </p:spTree>
    <p:extLst>
      <p:ext uri="{BB962C8B-B14F-4D97-AF65-F5344CB8AC3E}">
        <p14:creationId xmlns:p14="http://schemas.microsoft.com/office/powerpoint/2010/main" val="42721145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1" y="1"/>
            <a:ext cx="4301839"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defTabSz="952675">
              <a:defRPr sz="1300" smtClean="0">
                <a:latin typeface="Arial" charset="0"/>
              </a:defRPr>
            </a:lvl1pPr>
          </a:lstStyle>
          <a:p>
            <a:pPr>
              <a:defRPr/>
            </a:pPr>
            <a:endParaRPr lang="en-GB"/>
          </a:p>
        </p:txBody>
      </p:sp>
      <p:sp>
        <p:nvSpPr>
          <p:cNvPr id="10243" name="Rectangle 3"/>
          <p:cNvSpPr>
            <a:spLocks noGrp="1" noChangeArrowheads="1"/>
          </p:cNvSpPr>
          <p:nvPr>
            <p:ph type="dt" idx="1"/>
          </p:nvPr>
        </p:nvSpPr>
        <p:spPr bwMode="auto">
          <a:xfrm>
            <a:off x="5622581" y="1"/>
            <a:ext cx="4301839"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algn="r" defTabSz="952675">
              <a:defRPr sz="1300" smtClean="0">
                <a:latin typeface="Arial" charset="0"/>
              </a:defRPr>
            </a:lvl1pPr>
          </a:lstStyle>
          <a:p>
            <a:pPr>
              <a:defRPr/>
            </a:pPr>
            <a:endParaRPr lang="en-GB"/>
          </a:p>
        </p:txBody>
      </p:sp>
      <p:sp>
        <p:nvSpPr>
          <p:cNvPr id="22532" name="Rectangle 4"/>
          <p:cNvSpPr>
            <a:spLocks noGrp="1" noRot="1" noChangeAspect="1" noChangeArrowheads="1" noTextEdit="1"/>
          </p:cNvSpPr>
          <p:nvPr>
            <p:ph type="sldImg" idx="2"/>
          </p:nvPr>
        </p:nvSpPr>
        <p:spPr bwMode="auto">
          <a:xfrm>
            <a:off x="4010025" y="512763"/>
            <a:ext cx="1911350" cy="2547937"/>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992223" y="3228552"/>
            <a:ext cx="7942198" cy="3058796"/>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246" name="Rectangle 6"/>
          <p:cNvSpPr>
            <a:spLocks noGrp="1" noChangeArrowheads="1"/>
          </p:cNvSpPr>
          <p:nvPr>
            <p:ph type="ftr" sz="quarter" idx="4"/>
          </p:nvPr>
        </p:nvSpPr>
        <p:spPr bwMode="auto">
          <a:xfrm>
            <a:off x="1" y="6457107"/>
            <a:ext cx="4301839"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defTabSz="952675">
              <a:defRPr sz="1300" smtClean="0">
                <a:latin typeface="Arial" charset="0"/>
              </a:defRPr>
            </a:lvl1pPr>
          </a:lstStyle>
          <a:p>
            <a:pPr>
              <a:defRPr/>
            </a:pPr>
            <a:endParaRPr lang="en-GB"/>
          </a:p>
        </p:txBody>
      </p:sp>
      <p:sp>
        <p:nvSpPr>
          <p:cNvPr id="10247" name="Rectangle 7"/>
          <p:cNvSpPr>
            <a:spLocks noGrp="1" noChangeArrowheads="1"/>
          </p:cNvSpPr>
          <p:nvPr>
            <p:ph type="sldNum" sz="quarter" idx="5"/>
          </p:nvPr>
        </p:nvSpPr>
        <p:spPr bwMode="auto">
          <a:xfrm>
            <a:off x="5622581" y="6457107"/>
            <a:ext cx="4301839"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algn="r" defTabSz="952675">
              <a:defRPr sz="1300" smtClean="0">
                <a:latin typeface="Arial" charset="0"/>
              </a:defRPr>
            </a:lvl1pPr>
          </a:lstStyle>
          <a:p>
            <a:pPr>
              <a:defRPr/>
            </a:pPr>
            <a:fld id="{EE6A17AE-E383-4B2C-8367-33F482FFB8D0}" type="slidenum">
              <a:rPr lang="en-GB"/>
              <a:pPr>
                <a:defRPr/>
              </a:pPr>
              <a:t>‹#›</a:t>
            </a:fld>
            <a:endParaRPr lang="en-GB"/>
          </a:p>
        </p:txBody>
      </p:sp>
    </p:spTree>
    <p:extLst>
      <p:ext uri="{BB962C8B-B14F-4D97-AF65-F5344CB8AC3E}">
        <p14:creationId xmlns:p14="http://schemas.microsoft.com/office/powerpoint/2010/main" val="2975342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sldNum" sz="quarter" idx="5"/>
          </p:nvPr>
        </p:nvSpPr>
        <p:spPr>
          <a:noFill/>
        </p:spPr>
        <p:txBody>
          <a:bodyPr/>
          <a:lstStyle/>
          <a:p>
            <a:fld id="{7865E0CD-F49A-4276-ABDF-F07F48FC995C}" type="slidenum">
              <a:rPr lang="en-US" smtClean="0"/>
              <a:pPr/>
              <a:t>3</a:t>
            </a:fld>
            <a:endParaRPr lang="en-US"/>
          </a:p>
        </p:txBody>
      </p:sp>
      <p:sp>
        <p:nvSpPr>
          <p:cNvPr id="31747" name="Rectangle 2"/>
          <p:cNvSpPr>
            <a:spLocks noGrp="1" noRot="1" noChangeAspect="1" noChangeArrowheads="1" noTextEdit="1"/>
          </p:cNvSpPr>
          <p:nvPr>
            <p:ph type="sldImg"/>
          </p:nvPr>
        </p:nvSpPr>
        <p:spPr>
          <a:xfrm>
            <a:off x="4010025" y="514350"/>
            <a:ext cx="1906588" cy="2543175"/>
          </a:xfrm>
          <a:ln cap="flat"/>
        </p:spPr>
      </p:sp>
      <p:sp>
        <p:nvSpPr>
          <p:cNvPr id="31748" name="Rectangle 3"/>
          <p:cNvSpPr>
            <a:spLocks noGrp="1" noChangeArrowheads="1"/>
          </p:cNvSpPr>
          <p:nvPr>
            <p:ph type="body" idx="1"/>
          </p:nvPr>
        </p:nvSpPr>
        <p:spPr>
          <a:noFill/>
          <a:ln/>
        </p:spPr>
        <p:txBody>
          <a:bodyPr/>
          <a:lstStyle/>
          <a:p>
            <a:pPr eaLnBrk="1" hangingPunct="1"/>
            <a:endParaRPr lang="en-GB"/>
          </a:p>
        </p:txBody>
      </p:sp>
    </p:spTree>
    <p:extLst>
      <p:ext uri="{BB962C8B-B14F-4D97-AF65-F5344CB8AC3E}">
        <p14:creationId xmlns:p14="http://schemas.microsoft.com/office/powerpoint/2010/main" val="2438208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sldNum" sz="quarter" idx="5"/>
          </p:nvPr>
        </p:nvSpPr>
        <p:spPr>
          <a:noFill/>
        </p:spPr>
        <p:txBody>
          <a:bodyPr/>
          <a:lstStyle/>
          <a:p>
            <a:fld id="{3120F10B-DAE4-49A7-852B-1FBDF448BFE6}" type="slidenum">
              <a:rPr lang="en-US" smtClean="0"/>
              <a:pPr/>
              <a:t>6</a:t>
            </a:fld>
            <a:endParaRPr lang="en-US"/>
          </a:p>
        </p:txBody>
      </p:sp>
      <p:sp>
        <p:nvSpPr>
          <p:cNvPr id="32771" name="Rectangle 2"/>
          <p:cNvSpPr>
            <a:spLocks noGrp="1" noRot="1" noChangeAspect="1" noChangeArrowheads="1" noTextEdit="1"/>
          </p:cNvSpPr>
          <p:nvPr>
            <p:ph type="sldImg"/>
          </p:nvPr>
        </p:nvSpPr>
        <p:spPr>
          <a:xfrm>
            <a:off x="4010025" y="514350"/>
            <a:ext cx="1906588" cy="2543175"/>
          </a:xfrm>
          <a:ln cap="flat"/>
        </p:spPr>
      </p:sp>
      <p:sp>
        <p:nvSpPr>
          <p:cNvPr id="32772" name="Rectangle 3"/>
          <p:cNvSpPr>
            <a:spLocks noGrp="1" noChangeArrowheads="1"/>
          </p:cNvSpPr>
          <p:nvPr>
            <p:ph type="body" idx="1"/>
          </p:nvPr>
        </p:nvSpPr>
        <p:spPr>
          <a:noFill/>
          <a:ln/>
        </p:spPr>
        <p:txBody>
          <a:bodyPr/>
          <a:lstStyle/>
          <a:p>
            <a:pPr eaLnBrk="1" hangingPunct="1"/>
            <a:endParaRPr lang="en-GB"/>
          </a:p>
        </p:txBody>
      </p:sp>
    </p:spTree>
    <p:extLst>
      <p:ext uri="{BB962C8B-B14F-4D97-AF65-F5344CB8AC3E}">
        <p14:creationId xmlns:p14="http://schemas.microsoft.com/office/powerpoint/2010/main" val="212564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3004F20F-44BF-49D5-A590-3C4A73CC2270}" type="slidenum">
              <a:rPr lang="en-US" smtClean="0"/>
              <a:pPr/>
              <a:t>9</a:t>
            </a:fld>
            <a:endParaRPr lang="en-US"/>
          </a:p>
        </p:txBody>
      </p:sp>
      <p:sp>
        <p:nvSpPr>
          <p:cNvPr id="33795" name="Rectangle 2"/>
          <p:cNvSpPr>
            <a:spLocks noGrp="1" noRot="1" noChangeAspect="1" noChangeArrowheads="1" noTextEdit="1"/>
          </p:cNvSpPr>
          <p:nvPr>
            <p:ph type="sldImg"/>
          </p:nvPr>
        </p:nvSpPr>
        <p:spPr>
          <a:xfrm>
            <a:off x="4013200" y="520700"/>
            <a:ext cx="1903413" cy="2536825"/>
          </a:xfrm>
          <a:ln cap="flat"/>
        </p:spPr>
      </p:sp>
      <p:sp>
        <p:nvSpPr>
          <p:cNvPr id="33796" name="Rectangle 3"/>
          <p:cNvSpPr>
            <a:spLocks noGrp="1" noChangeArrowheads="1"/>
          </p:cNvSpPr>
          <p:nvPr>
            <p:ph type="body" idx="1"/>
          </p:nvPr>
        </p:nvSpPr>
        <p:spPr>
          <a:noFill/>
          <a:ln/>
        </p:spPr>
        <p:txBody>
          <a:bodyPr/>
          <a:lstStyle/>
          <a:p>
            <a:pPr eaLnBrk="1" hangingPunct="1"/>
            <a:endParaRPr lang="en-GB"/>
          </a:p>
        </p:txBody>
      </p:sp>
    </p:spTree>
    <p:extLst>
      <p:ext uri="{BB962C8B-B14F-4D97-AF65-F5344CB8AC3E}">
        <p14:creationId xmlns:p14="http://schemas.microsoft.com/office/powerpoint/2010/main" val="688363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sldNum" sz="quarter" idx="5"/>
          </p:nvPr>
        </p:nvSpPr>
        <p:spPr>
          <a:noFill/>
        </p:spPr>
        <p:txBody>
          <a:bodyPr/>
          <a:lstStyle/>
          <a:p>
            <a:fld id="{39049D5F-B15B-4F75-818F-EAD541F3EB97}" type="slidenum">
              <a:rPr lang="en-US" smtClean="0"/>
              <a:pPr/>
              <a:t>25</a:t>
            </a:fld>
            <a:endParaRPr lang="en-US"/>
          </a:p>
        </p:txBody>
      </p:sp>
      <p:sp>
        <p:nvSpPr>
          <p:cNvPr id="34819" name="Rectangle 2"/>
          <p:cNvSpPr>
            <a:spLocks noGrp="1" noRot="1" noChangeAspect="1" noChangeArrowheads="1" noTextEdit="1"/>
          </p:cNvSpPr>
          <p:nvPr>
            <p:ph type="sldImg"/>
          </p:nvPr>
        </p:nvSpPr>
        <p:spPr>
          <a:xfrm>
            <a:off x="4013200" y="520700"/>
            <a:ext cx="1903413" cy="2536825"/>
          </a:xfrm>
          <a:ln cap="flat"/>
        </p:spPr>
      </p:sp>
      <p:sp>
        <p:nvSpPr>
          <p:cNvPr id="34820" name="Rectangle 3"/>
          <p:cNvSpPr>
            <a:spLocks noGrp="1" noChangeArrowheads="1"/>
          </p:cNvSpPr>
          <p:nvPr>
            <p:ph type="body" idx="1"/>
          </p:nvPr>
        </p:nvSpPr>
        <p:spPr>
          <a:noFill/>
          <a:ln/>
        </p:spPr>
        <p:txBody>
          <a:bodyPr/>
          <a:lstStyle/>
          <a:p>
            <a:pPr eaLnBrk="1" hangingPunct="1"/>
            <a:endParaRPr lang="en-GB"/>
          </a:p>
        </p:txBody>
      </p:sp>
    </p:spTree>
    <p:extLst>
      <p:ext uri="{BB962C8B-B14F-4D97-AF65-F5344CB8AC3E}">
        <p14:creationId xmlns:p14="http://schemas.microsoft.com/office/powerpoint/2010/main" val="241145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Grp="1" noChangeArrowheads="1"/>
          </p:cNvSpPr>
          <p:nvPr>
            <p:ph type="sldNum" sz="quarter" idx="5"/>
          </p:nvPr>
        </p:nvSpPr>
        <p:spPr>
          <a:noFill/>
        </p:spPr>
        <p:txBody>
          <a:bodyPr/>
          <a:lstStyle/>
          <a:p>
            <a:fld id="{8ACD5592-3A32-4CFB-B40F-85238964B93C}" type="slidenum">
              <a:rPr lang="en-US" smtClean="0"/>
              <a:pPr/>
              <a:t>39</a:t>
            </a:fld>
            <a:endParaRPr lang="en-US"/>
          </a:p>
        </p:txBody>
      </p:sp>
      <p:sp>
        <p:nvSpPr>
          <p:cNvPr id="35843" name="Rectangle 2"/>
          <p:cNvSpPr>
            <a:spLocks noGrp="1" noChangeArrowheads="1"/>
          </p:cNvSpPr>
          <p:nvPr>
            <p:ph type="body" idx="1"/>
          </p:nvPr>
        </p:nvSpPr>
        <p:spPr>
          <a:xfrm>
            <a:off x="1256296" y="3221747"/>
            <a:ext cx="7766190" cy="3061154"/>
          </a:xfrm>
          <a:noFill/>
          <a:ln/>
        </p:spPr>
        <p:txBody>
          <a:bodyPr/>
          <a:lstStyle/>
          <a:p>
            <a:pPr eaLnBrk="1" hangingPunct="1"/>
            <a:endParaRPr lang="en-GB" sz="1100" dirty="0">
              <a:latin typeface="Times New Roman" pitchFamily="18" charset="0"/>
            </a:endParaRPr>
          </a:p>
        </p:txBody>
      </p:sp>
      <p:sp>
        <p:nvSpPr>
          <p:cNvPr id="35844" name="Rectangle 3"/>
          <p:cNvSpPr>
            <a:spLocks noGrp="1" noRot="1" noChangeAspect="1" noChangeArrowheads="1" noTextEdit="1"/>
          </p:cNvSpPr>
          <p:nvPr>
            <p:ph type="sldImg"/>
          </p:nvPr>
        </p:nvSpPr>
        <p:spPr>
          <a:xfrm>
            <a:off x="4135438" y="536575"/>
            <a:ext cx="1774825" cy="2366963"/>
          </a:xfrm>
          <a:ln cap="flat"/>
        </p:spPr>
      </p:sp>
    </p:spTree>
    <p:extLst>
      <p:ext uri="{BB962C8B-B14F-4D97-AF65-F5344CB8AC3E}">
        <p14:creationId xmlns:p14="http://schemas.microsoft.com/office/powerpoint/2010/main" val="32744968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6572250" cy="79248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1" name="Rectangle 6"/>
              <p:cNvSpPr>
                <a:spLocks noChangeArrowheads="1"/>
              </p:cNvSpPr>
              <p:nvPr/>
            </p:nvSpPr>
            <p:spPr bwMode="white">
              <a:xfrm>
                <a:off x="655" y="2352"/>
                <a:ext cx="4817" cy="1347"/>
              </a:xfrm>
              <a:prstGeom prst="rect">
                <a:avLst/>
              </a:prstGeom>
              <a:solidFill>
                <a:schemeClr val="bg1"/>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rgbClr val="FF9900"/>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a:p>
            </p:txBody>
          </p:sp>
        </p:grpSp>
      </p:grpSp>
      <p:sp>
        <p:nvSpPr>
          <p:cNvPr id="13" name="Rectangle 13"/>
          <p:cNvSpPr>
            <a:spLocks noChangeArrowheads="1"/>
          </p:cNvSpPr>
          <p:nvPr userDrawn="1"/>
        </p:nvSpPr>
        <p:spPr bwMode="auto">
          <a:xfrm>
            <a:off x="0" y="8636000"/>
            <a:ext cx="3789363" cy="508000"/>
          </a:xfrm>
          <a:prstGeom prst="rect">
            <a:avLst/>
          </a:prstGeom>
          <a:noFill/>
          <a:ln w="12700">
            <a:noFill/>
            <a:miter lim="800000"/>
            <a:headEnd/>
            <a:tailEnd/>
          </a:ln>
          <a:effectLst/>
        </p:spPr>
        <p:txBody>
          <a:bodyPr wrap="none" lIns="90488" tIns="44450" rIns="90488" bIns="44450" anchor="ctr"/>
          <a:lstStyle/>
          <a:p>
            <a:pPr eaLnBrk="0" hangingPunct="0">
              <a:defRPr/>
            </a:pPr>
            <a:r>
              <a:rPr lang="en-US" sz="800" dirty="0">
                <a:latin typeface="Arial" charset="0"/>
              </a:rPr>
              <a:t>Copyrights © Nanyang Polytechnic, 2018</a:t>
            </a:r>
          </a:p>
        </p:txBody>
      </p:sp>
      <p:sp>
        <p:nvSpPr>
          <p:cNvPr id="211979" name="Rectangle 11"/>
          <p:cNvSpPr>
            <a:spLocks noGrp="1" noChangeArrowheads="1"/>
          </p:cNvSpPr>
          <p:nvPr>
            <p:ph type="ctrTitle"/>
          </p:nvPr>
        </p:nvSpPr>
        <p:spPr>
          <a:xfrm>
            <a:off x="1543050" y="1524000"/>
            <a:ext cx="4972050" cy="2946400"/>
          </a:xfrm>
        </p:spPr>
        <p:txBody>
          <a:bodyPr/>
          <a:lstStyle>
            <a:lvl1pPr>
              <a:defRPr sz="4200"/>
            </a:lvl1pPr>
          </a:lstStyle>
          <a:p>
            <a:r>
              <a:rPr lang="en-GB"/>
              <a:t>Click to edit Master title style</a:t>
            </a:r>
          </a:p>
        </p:txBody>
      </p:sp>
      <p:sp>
        <p:nvSpPr>
          <p:cNvPr id="211980" name="Rectangle 12"/>
          <p:cNvSpPr>
            <a:spLocks noGrp="1" noChangeArrowheads="1"/>
          </p:cNvSpPr>
          <p:nvPr>
            <p:ph type="subTitle" idx="1"/>
          </p:nvPr>
        </p:nvSpPr>
        <p:spPr>
          <a:xfrm>
            <a:off x="1028700" y="5283200"/>
            <a:ext cx="5143500" cy="2133600"/>
          </a:xfrm>
        </p:spPr>
        <p:txBody>
          <a:bodyPr anchor="ctr"/>
          <a:lstStyle>
            <a:lvl1pPr marL="0" indent="0" algn="ctr">
              <a:buFont typeface="Wingdings" pitchFamily="2" charset="2"/>
              <a:buNone/>
              <a:defRPr/>
            </a:lvl1pPr>
          </a:lstStyle>
          <a:p>
            <a:r>
              <a:rPr lang="en-GB"/>
              <a:t>Click to edit Master subtitle style</a:t>
            </a:r>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85821" y="332617"/>
            <a:ext cx="1486429" cy="349400"/>
          </a:xfrm>
          <a:prstGeom prst="rect">
            <a:avLst/>
          </a:prstGeom>
        </p:spPr>
      </p:pic>
    </p:spTree>
    <p:custDataLst>
      <p:tags r:id="rId1"/>
    </p:custData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701800"/>
            <a:ext cx="2838450" cy="647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676650" y="1701800"/>
            <a:ext cx="2838450" cy="647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54600" y="277813"/>
            <a:ext cx="1500188" cy="7896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9275" y="277813"/>
            <a:ext cx="4352925" cy="7896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277813"/>
            <a:ext cx="6005513" cy="855662"/>
          </a:xfrm>
        </p:spPr>
        <p:txBody>
          <a:bodyPr/>
          <a:lstStyle/>
          <a:p>
            <a:r>
              <a:rPr lang="en-US"/>
              <a:t>Click to edit Master title style</a:t>
            </a:r>
          </a:p>
        </p:txBody>
      </p:sp>
      <p:sp>
        <p:nvSpPr>
          <p:cNvPr id="3" name="Text Placeholder 2"/>
          <p:cNvSpPr>
            <a:spLocks noGrp="1"/>
          </p:cNvSpPr>
          <p:nvPr>
            <p:ph type="body" sz="half" idx="1"/>
          </p:nvPr>
        </p:nvSpPr>
        <p:spPr>
          <a:xfrm>
            <a:off x="685800" y="1701800"/>
            <a:ext cx="2838450" cy="6472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676650" y="1701800"/>
            <a:ext cx="2838450" cy="6472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10947" name="Rectangle 3"/>
          <p:cNvSpPr>
            <a:spLocks noChangeArrowheads="1"/>
          </p:cNvSpPr>
          <p:nvPr/>
        </p:nvSpPr>
        <p:spPr bwMode="auto">
          <a:xfrm>
            <a:off x="0" y="0"/>
            <a:ext cx="457200" cy="6502400"/>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1027" name="Group 4"/>
          <p:cNvGrpSpPr>
            <a:grpSpLocks/>
          </p:cNvGrpSpPr>
          <p:nvPr/>
        </p:nvGrpSpPr>
        <p:grpSpPr bwMode="auto">
          <a:xfrm>
            <a:off x="376238" y="1160463"/>
            <a:ext cx="6229350" cy="242887"/>
            <a:chOff x="240" y="893"/>
            <a:chExt cx="5232" cy="115"/>
          </a:xfrm>
        </p:grpSpPr>
        <p:sp>
          <p:nvSpPr>
            <p:cNvPr id="210949" name="Rectangle 5"/>
            <p:cNvSpPr>
              <a:spLocks noChangeArrowheads="1"/>
            </p:cNvSpPr>
            <p:nvPr/>
          </p:nvSpPr>
          <p:spPr bwMode="auto">
            <a:xfrm>
              <a:off x="4320" y="893"/>
              <a:ext cx="1152" cy="115"/>
            </a:xfrm>
            <a:prstGeom prst="rect">
              <a:avLst/>
            </a:prstGeom>
            <a:solidFill>
              <a:srgbClr val="FFCC99"/>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210950" name="Line 6"/>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a:defRPr/>
              </a:pPr>
              <a:endParaRPr lang="en-US"/>
            </a:p>
          </p:txBody>
        </p:sp>
      </p:grpSp>
      <p:sp>
        <p:nvSpPr>
          <p:cNvPr id="1028" name="Rectangle 7"/>
          <p:cNvSpPr>
            <a:spLocks noGrp="1" noChangeArrowheads="1"/>
          </p:cNvSpPr>
          <p:nvPr>
            <p:ph type="title"/>
          </p:nvPr>
        </p:nvSpPr>
        <p:spPr bwMode="auto">
          <a:xfrm>
            <a:off x="549275" y="277813"/>
            <a:ext cx="6005513" cy="8556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9" name="Rectangle 8"/>
          <p:cNvSpPr>
            <a:spLocks noGrp="1" noChangeArrowheads="1"/>
          </p:cNvSpPr>
          <p:nvPr>
            <p:ph type="body" idx="1"/>
          </p:nvPr>
        </p:nvSpPr>
        <p:spPr bwMode="auto">
          <a:xfrm>
            <a:off x="685800" y="1701800"/>
            <a:ext cx="5829300" cy="6472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10953" name="Line 9"/>
          <p:cNvSpPr>
            <a:spLocks noChangeShapeType="1"/>
          </p:cNvSpPr>
          <p:nvPr/>
        </p:nvSpPr>
        <p:spPr bwMode="auto">
          <a:xfrm>
            <a:off x="0" y="6502400"/>
            <a:ext cx="457200" cy="0"/>
          </a:xfrm>
          <a:prstGeom prst="line">
            <a:avLst/>
          </a:prstGeom>
          <a:noFill/>
          <a:ln w="44450">
            <a:solidFill>
              <a:schemeClr val="bg2"/>
            </a:solidFill>
            <a:round/>
            <a:headEnd/>
            <a:tailEnd/>
          </a:ln>
          <a:effectLst/>
        </p:spPr>
        <p:txBody>
          <a:bodyPr/>
          <a:lstStyle/>
          <a:p>
            <a:pPr>
              <a:defRPr/>
            </a:pPr>
            <a:endParaRPr lang="en-US"/>
          </a:p>
        </p:txBody>
      </p:sp>
      <p:sp>
        <p:nvSpPr>
          <p:cNvPr id="210954" name="Rectangle 10"/>
          <p:cNvSpPr>
            <a:spLocks noChangeArrowheads="1"/>
          </p:cNvSpPr>
          <p:nvPr userDrawn="1"/>
        </p:nvSpPr>
        <p:spPr bwMode="auto">
          <a:xfrm>
            <a:off x="0" y="8636000"/>
            <a:ext cx="4464050" cy="508000"/>
          </a:xfrm>
          <a:prstGeom prst="rect">
            <a:avLst/>
          </a:prstGeom>
          <a:noFill/>
          <a:ln w="12700">
            <a:noFill/>
            <a:miter lim="800000"/>
            <a:headEnd/>
            <a:tailEnd/>
          </a:ln>
          <a:effectLst/>
        </p:spPr>
        <p:txBody>
          <a:bodyPr wrap="none" lIns="90488" tIns="44450" rIns="90488" bIns="44450" anchor="ctr"/>
          <a:lstStyle/>
          <a:p>
            <a:pPr eaLnBrk="0" hangingPunct="0">
              <a:defRPr/>
            </a:pPr>
            <a:r>
              <a:rPr lang="en-US" sz="800" dirty="0">
                <a:latin typeface="Arial" charset="0"/>
              </a:rPr>
              <a:t>Copyrights © Nanyang Polytechnic, 2018</a:t>
            </a:r>
            <a:r>
              <a:rPr lang="en-US" sz="800" baseline="0" dirty="0">
                <a:latin typeface="Arial" charset="0"/>
              </a:rPr>
              <a:t> </a:t>
            </a:r>
            <a:r>
              <a:rPr lang="en-US" sz="800" dirty="0">
                <a:latin typeface="Arial" charset="0"/>
              </a:rPr>
              <a:t> S2		</a:t>
            </a:r>
          </a:p>
        </p:txBody>
      </p:sp>
      <p:sp>
        <p:nvSpPr>
          <p:cNvPr id="210956" name="Rectangle 12"/>
          <p:cNvSpPr>
            <a:spLocks noChangeArrowheads="1"/>
          </p:cNvSpPr>
          <p:nvPr/>
        </p:nvSpPr>
        <p:spPr bwMode="auto">
          <a:xfrm>
            <a:off x="2444750" y="8739188"/>
            <a:ext cx="1933575" cy="273050"/>
          </a:xfrm>
          <a:prstGeom prst="rect">
            <a:avLst/>
          </a:prstGeom>
          <a:noFill/>
          <a:ln w="9525">
            <a:noFill/>
            <a:miter lim="800000"/>
            <a:headEnd/>
            <a:tailEnd/>
          </a:ln>
          <a:effectLst/>
        </p:spPr>
        <p:txBody>
          <a:bodyPr/>
          <a:lstStyle/>
          <a:p>
            <a:pPr algn="ctr">
              <a:defRPr/>
            </a:pPr>
            <a:r>
              <a:rPr lang="en-GB" sz="1000">
                <a:latin typeface="Arial" charset="0"/>
              </a:rPr>
              <a:t>Page </a:t>
            </a:r>
            <a:fld id="{E8060906-3A6C-4DE7-AD42-24BEE673FAC3}" type="slidenum">
              <a:rPr lang="en-GB" sz="1000">
                <a:latin typeface="Arial" charset="0"/>
              </a:rPr>
              <a:pPr algn="ctr">
                <a:defRPr/>
              </a:pPr>
              <a:t>‹#›</a:t>
            </a:fld>
            <a:endParaRPr lang="en-GB" sz="1000">
              <a:latin typeface="Arial" charset="0"/>
            </a:endParaRPr>
          </a:p>
        </p:txBody>
      </p:sp>
      <p:sp>
        <p:nvSpPr>
          <p:cNvPr id="210959" name="Text Box 15"/>
          <p:cNvSpPr txBox="1">
            <a:spLocks noChangeArrowheads="1"/>
          </p:cNvSpPr>
          <p:nvPr userDrawn="1"/>
        </p:nvSpPr>
        <p:spPr bwMode="auto">
          <a:xfrm>
            <a:off x="3935413" y="8755063"/>
            <a:ext cx="2808287" cy="214312"/>
          </a:xfrm>
          <a:prstGeom prst="rect">
            <a:avLst/>
          </a:prstGeom>
          <a:noFill/>
          <a:ln w="9525">
            <a:noFill/>
            <a:miter lim="800000"/>
            <a:headEnd/>
            <a:tailEnd/>
          </a:ln>
          <a:effectLst/>
        </p:spPr>
        <p:txBody>
          <a:bodyPr>
            <a:spAutoFit/>
          </a:bodyPr>
          <a:lstStyle/>
          <a:p>
            <a:pPr algn="r">
              <a:defRPr/>
            </a:pPr>
            <a:r>
              <a:rPr lang="en-GB" sz="800">
                <a:latin typeface="Arial" charset="0"/>
              </a:rPr>
              <a:t>IT1762 Data Structures and Algorithms</a:t>
            </a:r>
          </a:p>
        </p:txBody>
      </p:sp>
    </p:spTree>
    <p:custDataLst>
      <p:tags r:id="rId14"/>
    </p:custDataLst>
  </p:cSld>
  <p:clrMap bg1="lt1" tx1="dk1" bg2="lt2" tx2="dk2" accent1="accent1" accent2="accent2" accent3="accent3" accent4="accent4" accent5="accent5" accent6="accent6" hlink="hlink" folHlink="folHlink"/>
  <p:sldLayoutIdLst>
    <p:sldLayoutId id="2147483676"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imes New Roman" pitchFamily="18" charset="0"/>
        </a:defRPr>
      </a:lvl2pPr>
      <a:lvl3pPr algn="l" rtl="0" eaLnBrk="0" fontAlgn="base" hangingPunct="0">
        <a:spcBef>
          <a:spcPct val="0"/>
        </a:spcBef>
        <a:spcAft>
          <a:spcPct val="0"/>
        </a:spcAft>
        <a:defRPr sz="3600" b="1">
          <a:solidFill>
            <a:schemeClr val="tx2"/>
          </a:solidFill>
          <a:latin typeface="Times New Roman" pitchFamily="18" charset="0"/>
        </a:defRPr>
      </a:lvl3pPr>
      <a:lvl4pPr algn="l" rtl="0" eaLnBrk="0" fontAlgn="base" hangingPunct="0">
        <a:spcBef>
          <a:spcPct val="0"/>
        </a:spcBef>
        <a:spcAft>
          <a:spcPct val="0"/>
        </a:spcAft>
        <a:defRPr sz="3600" b="1">
          <a:solidFill>
            <a:schemeClr val="tx2"/>
          </a:solidFill>
          <a:latin typeface="Times New Roman" pitchFamily="18" charset="0"/>
        </a:defRPr>
      </a:lvl4pPr>
      <a:lvl5pPr algn="l" rtl="0" eaLnBrk="0" fontAlgn="base" hangingPunct="0">
        <a:spcBef>
          <a:spcPct val="0"/>
        </a:spcBef>
        <a:spcAft>
          <a:spcPct val="0"/>
        </a:spcAft>
        <a:defRPr sz="3600" b="1">
          <a:solidFill>
            <a:schemeClr val="tx2"/>
          </a:solidFill>
          <a:latin typeface="Times New Roman" pitchFamily="18" charset="0"/>
        </a:defRPr>
      </a:lvl5pPr>
      <a:lvl6pPr marL="457200" algn="l" rtl="0" fontAlgn="base">
        <a:spcBef>
          <a:spcPct val="0"/>
        </a:spcBef>
        <a:spcAft>
          <a:spcPct val="0"/>
        </a:spcAft>
        <a:defRPr sz="3600" b="1">
          <a:solidFill>
            <a:schemeClr val="tx2"/>
          </a:solidFill>
          <a:latin typeface="Times New Roman" pitchFamily="18" charset="0"/>
        </a:defRPr>
      </a:lvl6pPr>
      <a:lvl7pPr marL="914400" algn="l" rtl="0" fontAlgn="base">
        <a:spcBef>
          <a:spcPct val="0"/>
        </a:spcBef>
        <a:spcAft>
          <a:spcPct val="0"/>
        </a:spcAft>
        <a:defRPr sz="3600" b="1">
          <a:solidFill>
            <a:schemeClr val="tx2"/>
          </a:solidFill>
          <a:latin typeface="Times New Roman" pitchFamily="18" charset="0"/>
        </a:defRPr>
      </a:lvl7pPr>
      <a:lvl8pPr marL="1371600" algn="l" rtl="0" fontAlgn="base">
        <a:spcBef>
          <a:spcPct val="0"/>
        </a:spcBef>
        <a:spcAft>
          <a:spcPct val="0"/>
        </a:spcAft>
        <a:defRPr sz="3600" b="1">
          <a:solidFill>
            <a:schemeClr val="tx2"/>
          </a:solidFill>
          <a:latin typeface="Times New Roman" pitchFamily="18" charset="0"/>
        </a:defRPr>
      </a:lvl8pPr>
      <a:lvl9pPr marL="1828800" algn="l" rtl="0" fontAlgn="base">
        <a:spcBef>
          <a:spcPct val="0"/>
        </a:spcBef>
        <a:spcAft>
          <a:spcPct val="0"/>
        </a:spcAft>
        <a:defRPr sz="36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folHlink"/>
        </a:buClr>
        <a:buSzPct val="9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0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2.wmf"/><Relationship Id="rId4" Type="http://schemas.openxmlformats.org/officeDocument/2006/relationships/image" Target="../media/image4.wmf"/></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4.wmf"/></Relationships>
</file>

<file path=ppt/slides/_rels/slide2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8.xml.rels><?xml version="1.0" encoding="UTF-8" standalone="yes"?>
<Relationships xmlns="http://schemas.openxmlformats.org/package/2006/relationships"><Relationship Id="rId3" Type="http://schemas.openxmlformats.org/officeDocument/2006/relationships/hyperlink" Target="http://www.dotnetperls.com/object-array" TargetMode="Externa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0175" y="1493838"/>
            <a:ext cx="4972050" cy="2946400"/>
          </a:xfrm>
        </p:spPr>
        <p:txBody>
          <a:bodyPr/>
          <a:lstStyle/>
          <a:p>
            <a:pPr algn="ctr" eaLnBrk="1" hangingPunct="1"/>
            <a:r>
              <a:rPr lang="en-GB" sz="3800"/>
              <a:t>IT1762</a:t>
            </a:r>
            <a:br>
              <a:rPr lang="en-GB" sz="3800"/>
            </a:br>
            <a:r>
              <a:rPr lang="en-GB" sz="3800"/>
              <a:t>Data Structures &amp; Algorithms</a:t>
            </a:r>
          </a:p>
        </p:txBody>
      </p:sp>
      <p:sp>
        <p:nvSpPr>
          <p:cNvPr id="3075" name="Rectangle 3"/>
          <p:cNvSpPr>
            <a:spLocks noGrp="1" noChangeArrowheads="1"/>
          </p:cNvSpPr>
          <p:nvPr>
            <p:ph type="subTitle" idx="1"/>
          </p:nvPr>
        </p:nvSpPr>
        <p:spPr>
          <a:xfrm>
            <a:off x="679450" y="5043488"/>
            <a:ext cx="5834063" cy="2336800"/>
          </a:xfrm>
        </p:spPr>
        <p:txBody>
          <a:bodyPr/>
          <a:lstStyle/>
          <a:p>
            <a:pPr eaLnBrk="1" hangingPunct="1"/>
            <a:r>
              <a:rPr lang="en-GB" sz="2800" dirty="0"/>
              <a:t>Topic 4</a:t>
            </a:r>
          </a:p>
          <a:p>
            <a:pPr eaLnBrk="1" hangingPunct="1"/>
            <a:r>
              <a:rPr lang="en-GB" sz="2800" i="1" dirty="0">
                <a:solidFill>
                  <a:srgbClr val="FF0000"/>
                </a:solidFill>
              </a:rPr>
              <a:t>Class and Objects in C#</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bwMode="auto">
          <a:xfrm>
            <a:off x="456647" y="1492814"/>
            <a:ext cx="6188702" cy="6315075"/>
          </a:xfrm>
          <a:noFill/>
          <a:ln>
            <a:noFill/>
            <a:miter lim="800000"/>
            <a:headEnd/>
            <a:tailEnd/>
          </a:ln>
        </p:spPr>
        <p:txBody>
          <a:bodyPr vert="horz" wrap="square" lIns="91440" tIns="45720" rIns="91440" bIns="45720" numCol="1" anchor="t" anchorCtr="0" compatLnSpc="1">
            <a:prstTxWarp prst="textNoShape">
              <a:avLst/>
            </a:prstTxWarp>
          </a:bodyPr>
          <a:lstStyle/>
          <a:p>
            <a:pPr marL="538163" indent="-538163" eaLnBrk="1" hangingPunct="1">
              <a:lnSpc>
                <a:spcPct val="100000"/>
              </a:lnSpc>
              <a:spcBef>
                <a:spcPct val="50000"/>
              </a:spcBef>
              <a:buClr>
                <a:srgbClr val="033ED3"/>
              </a:buClr>
            </a:pPr>
            <a:r>
              <a:rPr lang="en-GB" sz="3200" dirty="0"/>
              <a:t>Understand classes &amp; objects.</a:t>
            </a:r>
          </a:p>
          <a:p>
            <a:pPr marL="538163" indent="-538163" eaLnBrk="1" hangingPunct="1">
              <a:lnSpc>
                <a:spcPct val="100000"/>
              </a:lnSpc>
              <a:spcBef>
                <a:spcPct val="50000"/>
              </a:spcBef>
              <a:buClr>
                <a:srgbClr val="033ED3"/>
              </a:buClr>
            </a:pPr>
            <a:r>
              <a:rPr lang="en-GB" sz="3200" dirty="0"/>
              <a:t>How to define a class</a:t>
            </a:r>
          </a:p>
          <a:p>
            <a:pPr marL="1123950" lvl="1" indent="-406400" eaLnBrk="1" hangingPunct="1">
              <a:lnSpc>
                <a:spcPct val="100000"/>
              </a:lnSpc>
              <a:buFont typeface="Wingdings" pitchFamily="2" charset="2"/>
              <a:buChar char="Ø"/>
            </a:pPr>
            <a:r>
              <a:rPr lang="en-GB" sz="3200" dirty="0"/>
              <a:t>data member</a:t>
            </a:r>
          </a:p>
          <a:p>
            <a:pPr marL="1123950" lvl="1" indent="-406400" eaLnBrk="1" hangingPunct="1">
              <a:lnSpc>
                <a:spcPct val="100000"/>
              </a:lnSpc>
              <a:buFont typeface="Wingdings" pitchFamily="2" charset="2"/>
              <a:buChar char="Ø"/>
            </a:pPr>
            <a:r>
              <a:rPr lang="en-GB" sz="3200" dirty="0"/>
              <a:t>method member</a:t>
            </a:r>
          </a:p>
          <a:p>
            <a:pPr marL="538163" indent="-538163" eaLnBrk="1" hangingPunct="1">
              <a:lnSpc>
                <a:spcPct val="100000"/>
              </a:lnSpc>
              <a:spcBef>
                <a:spcPct val="50000"/>
              </a:spcBef>
              <a:buClr>
                <a:srgbClr val="033ED3"/>
              </a:buClr>
            </a:pPr>
            <a:r>
              <a:rPr lang="en-GB" sz="3200" dirty="0"/>
              <a:t>How to create objects from a class.</a:t>
            </a:r>
            <a:endParaRPr lang="en-US" sz="3200" dirty="0"/>
          </a:p>
        </p:txBody>
      </p:sp>
      <p:sp>
        <p:nvSpPr>
          <p:cNvPr id="2" name="Rectangle 1"/>
          <p:cNvSpPr/>
          <p:nvPr/>
        </p:nvSpPr>
        <p:spPr>
          <a:xfrm>
            <a:off x="456647" y="602143"/>
            <a:ext cx="3679412" cy="707886"/>
          </a:xfrm>
          <a:prstGeom prst="rect">
            <a:avLst/>
          </a:prstGeom>
        </p:spPr>
        <p:txBody>
          <a:bodyPr wrap="square">
            <a:spAutoFit/>
          </a:bodyPr>
          <a:lstStyle/>
          <a:p>
            <a:pPr marL="538163" indent="-538163" eaLnBrk="1" hangingPunct="1">
              <a:lnSpc>
                <a:spcPct val="100000"/>
              </a:lnSpc>
              <a:spcBef>
                <a:spcPct val="50000"/>
              </a:spcBef>
              <a:buFont typeface="Wingdings" pitchFamily="2" charset="2"/>
              <a:buNone/>
            </a:pPr>
            <a:r>
              <a:rPr lang="en-GB" sz="4000" b="1" dirty="0">
                <a:solidFill>
                  <a:schemeClr val="hlink"/>
                </a:solidFill>
              </a:rPr>
              <a:t>Objectives:</a:t>
            </a:r>
          </a:p>
        </p:txBody>
      </p:sp>
    </p:spTree>
    <p:custDataLst>
      <p:tags r:id="rId1"/>
    </p:custDataLst>
    <p:extLst>
      <p:ext uri="{BB962C8B-B14F-4D97-AF65-F5344CB8AC3E}">
        <p14:creationId xmlns:p14="http://schemas.microsoft.com/office/powerpoint/2010/main" val="3416086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body" idx="1"/>
          </p:nvPr>
        </p:nvSpPr>
        <p:spPr bwMode="auto">
          <a:xfrm>
            <a:off x="465615" y="1274022"/>
            <a:ext cx="6102350" cy="8174037"/>
          </a:xfrm>
          <a:ln>
            <a:miter lim="800000"/>
            <a:headEnd/>
            <a:tailEnd/>
          </a:ln>
        </p:spPr>
        <p:txBody>
          <a:bodyPr vert="horz" wrap="square" lIns="92075" tIns="46038" rIns="92075" bIns="46038" numCol="1" anchor="t" anchorCtr="0" compatLnSpc="1">
            <a:prstTxWarp prst="textNoShape">
              <a:avLst/>
            </a:prstTxWarp>
          </a:bodyPr>
          <a:lstStyle/>
          <a:p>
            <a:pPr marL="342900" indent="-342900" eaLnBrk="1" hangingPunct="1">
              <a:lnSpc>
                <a:spcPct val="100000"/>
              </a:lnSpc>
              <a:spcBef>
                <a:spcPct val="50000"/>
              </a:spcBef>
              <a:defRPr/>
            </a:pPr>
            <a:r>
              <a:rPr lang="en-GB" sz="2000" dirty="0"/>
              <a:t>Classes are used to group data that belongs to the same object.</a:t>
            </a:r>
          </a:p>
          <a:p>
            <a:pPr marL="342900" indent="-342900" eaLnBrk="1" hangingPunct="1">
              <a:lnSpc>
                <a:spcPct val="100000"/>
              </a:lnSpc>
              <a:spcBef>
                <a:spcPct val="50000"/>
              </a:spcBef>
              <a:buFont typeface="Wingdings" pitchFamily="2" charset="2"/>
              <a:buNone/>
              <a:defRPr/>
            </a:pPr>
            <a:r>
              <a:rPr lang="en-GB" sz="2000" dirty="0"/>
              <a:t>	</a:t>
            </a:r>
            <a:r>
              <a:rPr lang="en-GB" sz="2000" i="1" dirty="0">
                <a:solidFill>
                  <a:srgbClr val="FF0000"/>
                </a:solidFill>
              </a:rPr>
              <a:t>Example of an object student – Jackie</a:t>
            </a:r>
          </a:p>
          <a:p>
            <a:pPr marL="342900" indent="-342900" eaLnBrk="1" hangingPunct="1">
              <a:lnSpc>
                <a:spcPct val="100000"/>
              </a:lnSpc>
              <a:spcBef>
                <a:spcPct val="50000"/>
              </a:spcBef>
              <a:defRPr/>
            </a:pPr>
            <a:r>
              <a:rPr lang="en-GB" sz="2000" dirty="0"/>
              <a:t>One advantage of Class – can store different types of data ( </a:t>
            </a:r>
            <a:r>
              <a:rPr lang="en-GB" sz="2000" dirty="0" err="1"/>
              <a:t>eg</a:t>
            </a:r>
            <a:r>
              <a:rPr lang="en-GB" sz="2000" dirty="0"/>
              <a:t>. compare to array )</a:t>
            </a:r>
          </a:p>
          <a:p>
            <a:pPr marL="342900" indent="-342900" eaLnBrk="1" hangingPunct="1">
              <a:lnSpc>
                <a:spcPct val="100000"/>
              </a:lnSpc>
              <a:spcBef>
                <a:spcPct val="50000"/>
              </a:spcBef>
              <a:spcAft>
                <a:spcPct val="50000"/>
              </a:spcAft>
              <a:defRPr/>
            </a:pPr>
            <a:r>
              <a:rPr lang="en-GB" sz="2000" dirty="0"/>
              <a:t>We can define a class like this:</a:t>
            </a:r>
          </a:p>
          <a:p>
            <a:pPr marL="342900" indent="-342900" eaLnBrk="1" hangingPunct="1">
              <a:lnSpc>
                <a:spcPct val="100000"/>
              </a:lnSpc>
              <a:spcBef>
                <a:spcPct val="0"/>
              </a:spcBef>
              <a:buFont typeface="Wingdings" pitchFamily="2" charset="2"/>
              <a:buNone/>
              <a:defRPr/>
            </a:pPr>
            <a:r>
              <a:rPr lang="en-GB" sz="2000" b="1" dirty="0">
                <a:solidFill>
                  <a:srgbClr val="FF0000"/>
                </a:solidFill>
                <a:latin typeface="Verdana" pitchFamily="34" charset="0"/>
              </a:rPr>
              <a:t>class</a:t>
            </a:r>
            <a:r>
              <a:rPr lang="en-GB" sz="2000" dirty="0">
                <a:solidFill>
                  <a:schemeClr val="accent5">
                    <a:lumMod val="50000"/>
                  </a:schemeClr>
                </a:solidFill>
                <a:latin typeface="Verdana" pitchFamily="34" charset="0"/>
              </a:rPr>
              <a:t> </a:t>
            </a:r>
            <a:r>
              <a:rPr lang="en-GB" sz="2000" i="1" dirty="0">
                <a:solidFill>
                  <a:schemeClr val="accent5">
                    <a:lumMod val="50000"/>
                  </a:schemeClr>
                </a:solidFill>
                <a:latin typeface="Verdana" pitchFamily="34" charset="0"/>
              </a:rPr>
              <a:t>class-name</a:t>
            </a:r>
          </a:p>
          <a:p>
            <a:pPr marL="342900" indent="-342900" eaLnBrk="1" hangingPunct="1">
              <a:lnSpc>
                <a:spcPct val="100000"/>
              </a:lnSpc>
              <a:spcBef>
                <a:spcPct val="0"/>
              </a:spcBef>
              <a:buFont typeface="Wingdings" pitchFamily="2" charset="2"/>
              <a:buNone/>
              <a:defRPr/>
            </a:pPr>
            <a:r>
              <a:rPr lang="en-GB" sz="2000" dirty="0">
                <a:solidFill>
                  <a:schemeClr val="accent5">
                    <a:lumMod val="50000"/>
                  </a:schemeClr>
                </a:solidFill>
                <a:latin typeface="Verdana" pitchFamily="34" charset="0"/>
              </a:rPr>
              <a:t>{</a:t>
            </a:r>
          </a:p>
          <a:p>
            <a:pPr marL="342900" indent="-342900" eaLnBrk="1" hangingPunct="1">
              <a:lnSpc>
                <a:spcPct val="100000"/>
              </a:lnSpc>
              <a:spcBef>
                <a:spcPct val="0"/>
              </a:spcBef>
              <a:buFont typeface="Wingdings" pitchFamily="2" charset="2"/>
              <a:buNone/>
              <a:defRPr/>
            </a:pPr>
            <a:r>
              <a:rPr lang="en-GB" sz="2000" dirty="0">
                <a:solidFill>
                  <a:schemeClr val="accent5">
                    <a:lumMod val="50000"/>
                  </a:schemeClr>
                </a:solidFill>
                <a:latin typeface="Verdana" pitchFamily="34" charset="0"/>
              </a:rPr>
              <a:t> 	private variables &amp; methods of the class </a:t>
            </a:r>
          </a:p>
          <a:p>
            <a:pPr marL="342900" indent="-342900" eaLnBrk="1" hangingPunct="1">
              <a:lnSpc>
                <a:spcPct val="100000"/>
              </a:lnSpc>
              <a:spcBef>
                <a:spcPct val="0"/>
              </a:spcBef>
              <a:buFont typeface="Wingdings" pitchFamily="2" charset="2"/>
              <a:buNone/>
              <a:defRPr/>
            </a:pPr>
            <a:r>
              <a:rPr lang="en-GB" sz="2000" dirty="0">
                <a:solidFill>
                  <a:schemeClr val="accent5">
                    <a:lumMod val="50000"/>
                  </a:schemeClr>
                </a:solidFill>
                <a:latin typeface="Verdana" pitchFamily="34" charset="0"/>
              </a:rPr>
              <a:t>	public variables &amp; methods of the class </a:t>
            </a:r>
          </a:p>
          <a:p>
            <a:pPr marL="342900" indent="-342900" eaLnBrk="1" hangingPunct="1">
              <a:lnSpc>
                <a:spcPct val="100000"/>
              </a:lnSpc>
              <a:spcBef>
                <a:spcPct val="0"/>
              </a:spcBef>
              <a:buFont typeface="Wingdings" pitchFamily="2" charset="2"/>
              <a:buNone/>
              <a:defRPr/>
            </a:pPr>
            <a:r>
              <a:rPr lang="en-GB" sz="2000" dirty="0">
                <a:solidFill>
                  <a:schemeClr val="accent5">
                    <a:lumMod val="50000"/>
                  </a:schemeClr>
                </a:solidFill>
                <a:latin typeface="Verdana" pitchFamily="34" charset="0"/>
              </a:rPr>
              <a:t>}</a:t>
            </a:r>
          </a:p>
          <a:p>
            <a:pPr marL="342900" indent="-342900" eaLnBrk="1" hangingPunct="1">
              <a:lnSpc>
                <a:spcPct val="100000"/>
              </a:lnSpc>
              <a:spcBef>
                <a:spcPct val="50000"/>
              </a:spcBef>
              <a:defRPr/>
            </a:pPr>
            <a:r>
              <a:rPr lang="en-GB" sz="2000" dirty="0"/>
              <a:t>A class is a </a:t>
            </a:r>
            <a:r>
              <a:rPr lang="en-GB" sz="2000" b="1" dirty="0">
                <a:solidFill>
                  <a:schemeClr val="hlink"/>
                </a:solidFill>
              </a:rPr>
              <a:t>Blueprint or Template</a:t>
            </a:r>
            <a:r>
              <a:rPr lang="en-GB" sz="2000" dirty="0"/>
              <a:t> to create </a:t>
            </a:r>
            <a:r>
              <a:rPr lang="en-GB" sz="2000" b="1" dirty="0"/>
              <a:t>OBJECTS</a:t>
            </a:r>
            <a:r>
              <a:rPr lang="en-GB" sz="2000" dirty="0"/>
              <a:t>.</a:t>
            </a:r>
          </a:p>
          <a:p>
            <a:pPr marL="342900" indent="-342900" eaLnBrk="1" hangingPunct="1">
              <a:lnSpc>
                <a:spcPct val="100000"/>
              </a:lnSpc>
              <a:spcBef>
                <a:spcPct val="50000"/>
              </a:spcBef>
              <a:buFont typeface="Wingdings" pitchFamily="2" charset="2"/>
              <a:buNone/>
              <a:defRPr/>
            </a:pPr>
            <a:r>
              <a:rPr lang="en-GB" sz="2000" dirty="0"/>
              <a:t>Example:</a:t>
            </a:r>
          </a:p>
          <a:p>
            <a:pPr marL="342900" indent="-342900" eaLnBrk="1" hangingPunct="1">
              <a:lnSpc>
                <a:spcPct val="100000"/>
              </a:lnSpc>
              <a:spcBef>
                <a:spcPct val="50000"/>
              </a:spcBef>
              <a:buFont typeface="Wingdings" pitchFamily="2" charset="2"/>
              <a:buNone/>
              <a:defRPr/>
            </a:pPr>
            <a:r>
              <a:rPr lang="en-GB" sz="2000" dirty="0"/>
              <a:t>	</a:t>
            </a:r>
            <a:r>
              <a:rPr lang="en-GB" sz="2000" dirty="0" err="1"/>
              <a:t>Handphone</a:t>
            </a:r>
            <a:r>
              <a:rPr lang="en-GB" sz="2000" dirty="0"/>
              <a:t> class </a:t>
            </a:r>
            <a:r>
              <a:rPr lang="en-GB" sz="2000" dirty="0">
                <a:sym typeface="Wingdings" pitchFamily="2" charset="2"/>
              </a:rPr>
              <a:t> HP design plan that allow us to produce real </a:t>
            </a:r>
            <a:r>
              <a:rPr lang="en-GB" sz="2000" dirty="0" err="1">
                <a:sym typeface="Wingdings" pitchFamily="2" charset="2"/>
              </a:rPr>
              <a:t>handphones</a:t>
            </a:r>
            <a:r>
              <a:rPr lang="en-GB" sz="2000" dirty="0">
                <a:sym typeface="Wingdings" pitchFamily="2" charset="2"/>
              </a:rPr>
              <a:t> such as Nokia, Samsung etc…</a:t>
            </a:r>
          </a:p>
          <a:p>
            <a:pPr marL="342900" indent="-342900" eaLnBrk="1" hangingPunct="1">
              <a:lnSpc>
                <a:spcPct val="100000"/>
              </a:lnSpc>
              <a:spcBef>
                <a:spcPct val="50000"/>
              </a:spcBef>
              <a:buFont typeface="Wingdings" pitchFamily="2" charset="2"/>
              <a:buNone/>
              <a:defRPr/>
            </a:pPr>
            <a:r>
              <a:rPr lang="en-GB" sz="2000" dirty="0">
                <a:sym typeface="Wingdings" pitchFamily="2" charset="2"/>
              </a:rPr>
              <a:t>	House class  building plan that help us to build actual buildings such as a terrace house.</a:t>
            </a:r>
            <a:endParaRPr lang="en-GB" sz="2000" dirty="0"/>
          </a:p>
        </p:txBody>
      </p:sp>
      <p:sp>
        <p:nvSpPr>
          <p:cNvPr id="2" name="Rectangle 1"/>
          <p:cNvSpPr/>
          <p:nvPr/>
        </p:nvSpPr>
        <p:spPr>
          <a:xfrm>
            <a:off x="458173" y="602145"/>
            <a:ext cx="5346336" cy="646331"/>
          </a:xfrm>
          <a:prstGeom prst="rect">
            <a:avLst/>
          </a:prstGeom>
        </p:spPr>
        <p:txBody>
          <a:bodyPr wrap="none">
            <a:spAutoFit/>
          </a:bodyPr>
          <a:lstStyle/>
          <a:p>
            <a:pPr marL="342900" indent="-342900" algn="ctr" eaLnBrk="1" hangingPunct="1">
              <a:lnSpc>
                <a:spcPct val="100000"/>
              </a:lnSpc>
              <a:spcBef>
                <a:spcPct val="50000"/>
              </a:spcBef>
              <a:buFont typeface="Wingdings" pitchFamily="2" charset="2"/>
              <a:buNone/>
              <a:defRPr/>
            </a:pPr>
            <a:r>
              <a:rPr lang="en-GB" sz="3600" b="1" dirty="0">
                <a:solidFill>
                  <a:schemeClr val="accent6">
                    <a:lumMod val="75000"/>
                  </a:schemeClr>
                </a:solidFill>
              </a:rPr>
              <a:t>Classes and Objects</a:t>
            </a:r>
          </a:p>
        </p:txBody>
      </p:sp>
    </p:spTree>
    <p:custDataLst>
      <p:tags r:id="rId1"/>
    </p:custDataLst>
    <p:extLst>
      <p:ext uri="{BB962C8B-B14F-4D97-AF65-F5344CB8AC3E}">
        <p14:creationId xmlns:p14="http://schemas.microsoft.com/office/powerpoint/2010/main" val="14193819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bwMode="auto">
          <a:xfrm>
            <a:off x="468310" y="1282694"/>
            <a:ext cx="5734050" cy="77089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00000"/>
              </a:lnSpc>
            </a:pPr>
            <a:r>
              <a:rPr lang="en-GB" sz="2000" dirty="0"/>
              <a:t>In the class definition, the </a:t>
            </a:r>
            <a:r>
              <a:rPr lang="en-GB" sz="2000" i="1" dirty="0"/>
              <a:t>class-name is </a:t>
            </a:r>
            <a:r>
              <a:rPr lang="en-GB" sz="2000" dirty="0"/>
              <a:t>a new type name defined by the programmer and is used to declare objects of the class.</a:t>
            </a:r>
          </a:p>
          <a:p>
            <a:pPr eaLnBrk="1" hangingPunct="1">
              <a:lnSpc>
                <a:spcPct val="100000"/>
              </a:lnSpc>
            </a:pPr>
            <a:r>
              <a:rPr lang="en-GB" sz="2000" dirty="0"/>
              <a:t>The programmer can create his/her own class to solve a particular problem.</a:t>
            </a:r>
          </a:p>
          <a:p>
            <a:pPr eaLnBrk="1" hangingPunct="1">
              <a:lnSpc>
                <a:spcPct val="100000"/>
              </a:lnSpc>
              <a:spcBef>
                <a:spcPct val="50000"/>
              </a:spcBef>
              <a:buFont typeface="Wingdings" pitchFamily="2" charset="2"/>
              <a:buNone/>
            </a:pPr>
            <a:r>
              <a:rPr lang="en-GB" sz="2000" b="1" dirty="0"/>
              <a:t>Example 1:</a:t>
            </a:r>
          </a:p>
          <a:p>
            <a:pPr eaLnBrk="1" hangingPunct="1">
              <a:lnSpc>
                <a:spcPct val="100000"/>
              </a:lnSpc>
              <a:spcBef>
                <a:spcPct val="50000"/>
              </a:spcBef>
            </a:pPr>
            <a:r>
              <a:rPr lang="en-GB" sz="2000" dirty="0"/>
              <a:t>Problem – design a computer program that handles </a:t>
            </a:r>
            <a:r>
              <a:rPr lang="en-GB" sz="2000" dirty="0" err="1"/>
              <a:t>handphone</a:t>
            </a:r>
            <a:r>
              <a:rPr lang="en-GB" sz="2000" dirty="0"/>
              <a:t> data.</a:t>
            </a:r>
          </a:p>
          <a:p>
            <a:pPr eaLnBrk="1" hangingPunct="1">
              <a:lnSpc>
                <a:spcPct val="100000"/>
              </a:lnSpc>
              <a:spcBef>
                <a:spcPct val="50000"/>
              </a:spcBef>
            </a:pPr>
            <a:r>
              <a:rPr lang="en-GB" sz="2000" dirty="0"/>
              <a:t>Solution – create a </a:t>
            </a:r>
            <a:r>
              <a:rPr lang="en-GB" sz="2000" dirty="0" err="1"/>
              <a:t>Handphone</a:t>
            </a:r>
            <a:r>
              <a:rPr lang="en-GB" sz="2000" dirty="0"/>
              <a:t> class.</a:t>
            </a:r>
          </a:p>
          <a:p>
            <a:pPr eaLnBrk="1" hangingPunct="1">
              <a:lnSpc>
                <a:spcPct val="100000"/>
              </a:lnSpc>
              <a:spcBef>
                <a:spcPct val="50000"/>
              </a:spcBef>
              <a:buFont typeface="Wingdings" pitchFamily="2" charset="2"/>
              <a:buNone/>
            </a:pPr>
            <a:r>
              <a:rPr lang="en-GB" sz="2000" b="1" dirty="0"/>
              <a:t>Example 2:</a:t>
            </a:r>
          </a:p>
          <a:p>
            <a:pPr eaLnBrk="1" hangingPunct="1">
              <a:lnSpc>
                <a:spcPct val="100000"/>
              </a:lnSpc>
              <a:spcBef>
                <a:spcPct val="50000"/>
              </a:spcBef>
            </a:pPr>
            <a:r>
              <a:rPr lang="en-GB" sz="2000" dirty="0"/>
              <a:t>Problem – design a computer program that handles student registration.</a:t>
            </a:r>
          </a:p>
          <a:p>
            <a:pPr eaLnBrk="1" hangingPunct="1">
              <a:lnSpc>
                <a:spcPct val="100000"/>
              </a:lnSpc>
              <a:spcBef>
                <a:spcPct val="50000"/>
              </a:spcBef>
            </a:pPr>
            <a:r>
              <a:rPr lang="en-GB" sz="2000" dirty="0"/>
              <a:t>Solution – create a Student class.</a:t>
            </a:r>
          </a:p>
          <a:p>
            <a:pPr eaLnBrk="1" hangingPunct="1"/>
            <a:endParaRPr lang="en-US" sz="2000" dirty="0"/>
          </a:p>
        </p:txBody>
      </p:sp>
      <p:sp>
        <p:nvSpPr>
          <p:cNvPr id="2" name="Rectangle 1"/>
          <p:cNvSpPr/>
          <p:nvPr/>
        </p:nvSpPr>
        <p:spPr>
          <a:xfrm>
            <a:off x="478360" y="633574"/>
            <a:ext cx="5947834" cy="523220"/>
          </a:xfrm>
          <a:prstGeom prst="rect">
            <a:avLst/>
          </a:prstGeom>
        </p:spPr>
        <p:txBody>
          <a:bodyPr wrap="square">
            <a:spAutoFit/>
          </a:bodyPr>
          <a:lstStyle/>
          <a:p>
            <a:pPr eaLnBrk="1" hangingPunct="1">
              <a:lnSpc>
                <a:spcPct val="100000"/>
              </a:lnSpc>
              <a:buFont typeface="Wingdings" pitchFamily="2" charset="2"/>
              <a:buNone/>
            </a:pPr>
            <a:r>
              <a:rPr lang="en-GB" sz="2800" b="1" dirty="0">
                <a:solidFill>
                  <a:schemeClr val="accent6">
                    <a:lumMod val="75000"/>
                  </a:schemeClr>
                </a:solidFill>
              </a:rPr>
              <a:t>Class Is User-Defined Type:</a:t>
            </a:r>
          </a:p>
        </p:txBody>
      </p:sp>
    </p:spTree>
    <p:custDataLst>
      <p:tags r:id="rId1"/>
    </p:custDataLst>
    <p:extLst>
      <p:ext uri="{BB962C8B-B14F-4D97-AF65-F5344CB8AC3E}">
        <p14:creationId xmlns:p14="http://schemas.microsoft.com/office/powerpoint/2010/main" val="429067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457748" y="2316298"/>
            <a:ext cx="1871663" cy="798513"/>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Class</a:t>
            </a:r>
          </a:p>
        </p:txBody>
      </p:sp>
      <p:sp>
        <p:nvSpPr>
          <p:cNvPr id="8195" name="Rectangle 3"/>
          <p:cNvSpPr>
            <a:spLocks noChangeArrowheads="1"/>
          </p:cNvSpPr>
          <p:nvPr/>
        </p:nvSpPr>
        <p:spPr bwMode="auto">
          <a:xfrm>
            <a:off x="514648" y="3997461"/>
            <a:ext cx="1871663" cy="795337"/>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 A</a:t>
            </a:r>
          </a:p>
        </p:txBody>
      </p:sp>
      <p:sp>
        <p:nvSpPr>
          <p:cNvPr id="8196" name="Rectangle 4"/>
          <p:cNvSpPr>
            <a:spLocks noChangeArrowheads="1"/>
          </p:cNvSpPr>
          <p:nvPr/>
        </p:nvSpPr>
        <p:spPr bwMode="auto">
          <a:xfrm>
            <a:off x="2602211" y="4011748"/>
            <a:ext cx="1871662" cy="798513"/>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 B</a:t>
            </a:r>
          </a:p>
        </p:txBody>
      </p:sp>
      <p:sp>
        <p:nvSpPr>
          <p:cNvPr id="8197" name="Rectangle 5"/>
          <p:cNvSpPr>
            <a:spLocks noChangeArrowheads="1"/>
          </p:cNvSpPr>
          <p:nvPr/>
        </p:nvSpPr>
        <p:spPr bwMode="auto">
          <a:xfrm>
            <a:off x="4716761" y="3972061"/>
            <a:ext cx="18716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 C</a:t>
            </a:r>
          </a:p>
        </p:txBody>
      </p:sp>
      <p:sp>
        <p:nvSpPr>
          <p:cNvPr id="8198" name="Line 6"/>
          <p:cNvSpPr>
            <a:spLocks noChangeShapeType="1"/>
          </p:cNvSpPr>
          <p:nvPr/>
        </p:nvSpPr>
        <p:spPr bwMode="auto">
          <a:xfrm flipH="1">
            <a:off x="1521123" y="3114811"/>
            <a:ext cx="1800225" cy="863600"/>
          </a:xfrm>
          <a:prstGeom prst="line">
            <a:avLst/>
          </a:prstGeom>
          <a:noFill/>
          <a:ln w="12700">
            <a:solidFill>
              <a:schemeClr val="tx1"/>
            </a:solidFill>
            <a:round/>
            <a:headEnd type="none" w="sm" len="sm"/>
            <a:tailEnd type="triangle" w="lg" len="lg"/>
          </a:ln>
        </p:spPr>
        <p:txBody>
          <a:bodyPr/>
          <a:lstStyle/>
          <a:p>
            <a:endParaRPr lang="en-US"/>
          </a:p>
        </p:txBody>
      </p:sp>
      <p:sp>
        <p:nvSpPr>
          <p:cNvPr id="8199" name="Line 7"/>
          <p:cNvSpPr>
            <a:spLocks noChangeShapeType="1"/>
          </p:cNvSpPr>
          <p:nvPr/>
        </p:nvSpPr>
        <p:spPr bwMode="auto">
          <a:xfrm>
            <a:off x="3321348" y="3114811"/>
            <a:ext cx="144463" cy="863600"/>
          </a:xfrm>
          <a:prstGeom prst="line">
            <a:avLst/>
          </a:prstGeom>
          <a:noFill/>
          <a:ln w="12700">
            <a:solidFill>
              <a:schemeClr val="tx1"/>
            </a:solidFill>
            <a:round/>
            <a:headEnd type="none" w="sm" len="sm"/>
            <a:tailEnd type="triangle" w="lg" len="lg"/>
          </a:ln>
        </p:spPr>
        <p:txBody>
          <a:bodyPr/>
          <a:lstStyle/>
          <a:p>
            <a:endParaRPr lang="en-US"/>
          </a:p>
        </p:txBody>
      </p:sp>
      <p:sp>
        <p:nvSpPr>
          <p:cNvPr id="8200" name="Line 8"/>
          <p:cNvSpPr>
            <a:spLocks noChangeShapeType="1"/>
          </p:cNvSpPr>
          <p:nvPr/>
        </p:nvSpPr>
        <p:spPr bwMode="auto">
          <a:xfrm>
            <a:off x="3321348" y="3114811"/>
            <a:ext cx="2160588" cy="863600"/>
          </a:xfrm>
          <a:prstGeom prst="line">
            <a:avLst/>
          </a:prstGeom>
          <a:noFill/>
          <a:ln w="12700">
            <a:solidFill>
              <a:schemeClr val="tx1"/>
            </a:solidFill>
            <a:round/>
            <a:headEnd type="none" w="sm" len="sm"/>
            <a:tailEnd type="triangle" w="lg" len="lg"/>
          </a:ln>
        </p:spPr>
        <p:txBody>
          <a:bodyPr/>
          <a:lstStyle/>
          <a:p>
            <a:endParaRPr lang="en-US"/>
          </a:p>
        </p:txBody>
      </p:sp>
      <p:sp>
        <p:nvSpPr>
          <p:cNvPr id="8201" name="Rectangle 9"/>
          <p:cNvSpPr>
            <a:spLocks noChangeArrowheads="1"/>
          </p:cNvSpPr>
          <p:nvPr/>
        </p:nvSpPr>
        <p:spPr bwMode="auto">
          <a:xfrm>
            <a:off x="2484736" y="5432561"/>
            <a:ext cx="18716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Class Car</a:t>
            </a:r>
          </a:p>
        </p:txBody>
      </p:sp>
      <p:sp>
        <p:nvSpPr>
          <p:cNvPr id="8202" name="Rectangle 10"/>
          <p:cNvSpPr>
            <a:spLocks noChangeArrowheads="1"/>
          </p:cNvSpPr>
          <p:nvPr/>
        </p:nvSpPr>
        <p:spPr bwMode="auto">
          <a:xfrm>
            <a:off x="541636" y="7112136"/>
            <a:ext cx="18716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a:t>
            </a:r>
          </a:p>
          <a:p>
            <a:pPr algn="ctr" eaLnBrk="0" hangingPunct="0"/>
            <a:r>
              <a:rPr lang="en-US" sz="2400"/>
              <a:t>Honda</a:t>
            </a:r>
          </a:p>
        </p:txBody>
      </p:sp>
      <p:sp>
        <p:nvSpPr>
          <p:cNvPr id="8203" name="Rectangle 11"/>
          <p:cNvSpPr>
            <a:spLocks noChangeArrowheads="1"/>
          </p:cNvSpPr>
          <p:nvPr/>
        </p:nvSpPr>
        <p:spPr bwMode="auto">
          <a:xfrm>
            <a:off x="2629198" y="7128011"/>
            <a:ext cx="1871663"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a:t>
            </a:r>
          </a:p>
          <a:p>
            <a:pPr algn="ctr" eaLnBrk="0" hangingPunct="0"/>
            <a:r>
              <a:rPr lang="en-US" sz="2400"/>
              <a:t>Suzuki</a:t>
            </a:r>
          </a:p>
        </p:txBody>
      </p:sp>
      <p:sp>
        <p:nvSpPr>
          <p:cNvPr id="8204" name="Rectangle 12"/>
          <p:cNvSpPr>
            <a:spLocks noChangeArrowheads="1"/>
          </p:cNvSpPr>
          <p:nvPr/>
        </p:nvSpPr>
        <p:spPr bwMode="auto">
          <a:xfrm>
            <a:off x="4743748" y="7089911"/>
            <a:ext cx="1871663" cy="795337"/>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a:t>Object</a:t>
            </a:r>
          </a:p>
          <a:p>
            <a:pPr algn="ctr" eaLnBrk="0" hangingPunct="0"/>
            <a:r>
              <a:rPr lang="en-US" sz="2400"/>
              <a:t>Toyota</a:t>
            </a:r>
          </a:p>
        </p:txBody>
      </p:sp>
      <p:sp>
        <p:nvSpPr>
          <p:cNvPr id="8205" name="Line 13"/>
          <p:cNvSpPr>
            <a:spLocks noChangeShapeType="1"/>
          </p:cNvSpPr>
          <p:nvPr/>
        </p:nvSpPr>
        <p:spPr bwMode="auto">
          <a:xfrm flipH="1">
            <a:off x="1548111" y="6229486"/>
            <a:ext cx="1800225" cy="866775"/>
          </a:xfrm>
          <a:prstGeom prst="line">
            <a:avLst/>
          </a:prstGeom>
          <a:noFill/>
          <a:ln w="12700">
            <a:solidFill>
              <a:schemeClr val="tx1"/>
            </a:solidFill>
            <a:round/>
            <a:headEnd type="none" w="sm" len="sm"/>
            <a:tailEnd type="triangle" w="lg" len="lg"/>
          </a:ln>
        </p:spPr>
        <p:txBody>
          <a:bodyPr/>
          <a:lstStyle/>
          <a:p>
            <a:endParaRPr lang="en-US"/>
          </a:p>
        </p:txBody>
      </p:sp>
      <p:sp>
        <p:nvSpPr>
          <p:cNvPr id="8206" name="Line 14"/>
          <p:cNvSpPr>
            <a:spLocks noChangeShapeType="1"/>
          </p:cNvSpPr>
          <p:nvPr/>
        </p:nvSpPr>
        <p:spPr bwMode="auto">
          <a:xfrm>
            <a:off x="3348336" y="6229486"/>
            <a:ext cx="144462" cy="866775"/>
          </a:xfrm>
          <a:prstGeom prst="line">
            <a:avLst/>
          </a:prstGeom>
          <a:noFill/>
          <a:ln w="12700">
            <a:solidFill>
              <a:schemeClr val="tx1"/>
            </a:solidFill>
            <a:round/>
            <a:headEnd type="none" w="sm" len="sm"/>
            <a:tailEnd type="triangle" w="lg" len="lg"/>
          </a:ln>
        </p:spPr>
        <p:txBody>
          <a:bodyPr/>
          <a:lstStyle/>
          <a:p>
            <a:endParaRPr lang="en-US"/>
          </a:p>
        </p:txBody>
      </p:sp>
      <p:sp>
        <p:nvSpPr>
          <p:cNvPr id="8207" name="Line 15"/>
          <p:cNvSpPr>
            <a:spLocks noChangeShapeType="1"/>
          </p:cNvSpPr>
          <p:nvPr/>
        </p:nvSpPr>
        <p:spPr bwMode="auto">
          <a:xfrm>
            <a:off x="3348336" y="6229486"/>
            <a:ext cx="2160587" cy="866775"/>
          </a:xfrm>
          <a:prstGeom prst="line">
            <a:avLst/>
          </a:prstGeom>
          <a:noFill/>
          <a:ln w="12700">
            <a:solidFill>
              <a:schemeClr val="tx1"/>
            </a:solidFill>
            <a:round/>
            <a:headEnd type="none" w="sm" len="sm"/>
            <a:tailEnd type="triangle" w="lg" len="lg"/>
          </a:ln>
        </p:spPr>
        <p:txBody>
          <a:bodyPr/>
          <a:lstStyle/>
          <a:p>
            <a:endParaRPr lang="en-US"/>
          </a:p>
        </p:txBody>
      </p:sp>
      <p:sp>
        <p:nvSpPr>
          <p:cNvPr id="8208" name="Text Box 16"/>
          <p:cNvSpPr txBox="1">
            <a:spLocks noChangeArrowheads="1"/>
          </p:cNvSpPr>
          <p:nvPr/>
        </p:nvSpPr>
        <p:spPr bwMode="auto">
          <a:xfrm>
            <a:off x="382725" y="1311411"/>
            <a:ext cx="6642338" cy="646331"/>
          </a:xfrm>
          <a:prstGeom prst="rect">
            <a:avLst/>
          </a:prstGeom>
          <a:noFill/>
          <a:ln w="12700">
            <a:noFill/>
            <a:miter lim="800000"/>
            <a:headEnd type="none" w="sm" len="sm"/>
            <a:tailEnd type="none" w="sm" len="sm"/>
          </a:ln>
        </p:spPr>
        <p:txBody>
          <a:bodyPr wrap="square">
            <a:spAutoFit/>
          </a:bodyPr>
          <a:lstStyle/>
          <a:p>
            <a:pPr>
              <a:spcBef>
                <a:spcPct val="50000"/>
              </a:spcBef>
            </a:pPr>
            <a:r>
              <a:rPr lang="en-US" dirty="0">
                <a:solidFill>
                  <a:srgbClr val="0000CC"/>
                </a:solidFill>
              </a:rPr>
              <a:t>A Class is a </a:t>
            </a:r>
            <a:r>
              <a:rPr lang="en-US" dirty="0">
                <a:solidFill>
                  <a:schemeClr val="hlink"/>
                </a:solidFill>
              </a:rPr>
              <a:t>NOT REAL</a:t>
            </a:r>
            <a:r>
              <a:rPr lang="en-US" dirty="0">
                <a:solidFill>
                  <a:srgbClr val="0000CC"/>
                </a:solidFill>
              </a:rPr>
              <a:t>.  It is a paper design like a Blueprint or Template.</a:t>
            </a:r>
          </a:p>
        </p:txBody>
      </p:sp>
      <p:sp>
        <p:nvSpPr>
          <p:cNvPr id="8209" name="Text Box 17"/>
          <p:cNvSpPr txBox="1">
            <a:spLocks noChangeArrowheads="1"/>
          </p:cNvSpPr>
          <p:nvPr/>
        </p:nvSpPr>
        <p:spPr bwMode="auto">
          <a:xfrm>
            <a:off x="265815" y="7971369"/>
            <a:ext cx="6349596" cy="923330"/>
          </a:xfrm>
          <a:prstGeom prst="rect">
            <a:avLst/>
          </a:prstGeom>
          <a:noFill/>
          <a:ln w="12700">
            <a:noFill/>
            <a:miter lim="800000"/>
            <a:headEnd type="none" w="sm" len="sm"/>
            <a:tailEnd type="none" w="sm" len="sm"/>
          </a:ln>
        </p:spPr>
        <p:txBody>
          <a:bodyPr wrap="square">
            <a:spAutoFit/>
          </a:bodyPr>
          <a:lstStyle/>
          <a:p>
            <a:pPr>
              <a:spcBef>
                <a:spcPct val="50000"/>
              </a:spcBef>
            </a:pPr>
            <a:r>
              <a:rPr lang="en-US" dirty="0">
                <a:solidFill>
                  <a:srgbClr val="0000CC"/>
                </a:solidFill>
              </a:rPr>
              <a:t>Objects are </a:t>
            </a:r>
            <a:r>
              <a:rPr lang="en-US" dirty="0">
                <a:solidFill>
                  <a:schemeClr val="hlink"/>
                </a:solidFill>
              </a:rPr>
              <a:t>REAL</a:t>
            </a:r>
            <a:r>
              <a:rPr lang="en-US" dirty="0">
                <a:solidFill>
                  <a:srgbClr val="0000CC"/>
                </a:solidFill>
              </a:rPr>
              <a:t>.  They are created from the Class definition. You create </a:t>
            </a:r>
            <a:r>
              <a:rPr lang="en-US" b="1" dirty="0">
                <a:solidFill>
                  <a:srgbClr val="FF0000"/>
                </a:solidFill>
              </a:rPr>
              <a:t>ONE</a:t>
            </a:r>
            <a:r>
              <a:rPr lang="en-US" dirty="0">
                <a:solidFill>
                  <a:srgbClr val="0000CC"/>
                </a:solidFill>
              </a:rPr>
              <a:t> class definition and instantiate </a:t>
            </a:r>
            <a:r>
              <a:rPr lang="en-US" b="1" dirty="0">
                <a:solidFill>
                  <a:srgbClr val="FF0000"/>
                </a:solidFill>
              </a:rPr>
              <a:t>MANY</a:t>
            </a:r>
            <a:r>
              <a:rPr lang="en-US" dirty="0">
                <a:solidFill>
                  <a:srgbClr val="0000CC"/>
                </a:solidFill>
              </a:rPr>
              <a:t> objects</a:t>
            </a:r>
          </a:p>
        </p:txBody>
      </p:sp>
      <p:sp>
        <p:nvSpPr>
          <p:cNvPr id="18" name="Rectangle 17"/>
          <p:cNvSpPr/>
          <p:nvPr/>
        </p:nvSpPr>
        <p:spPr>
          <a:xfrm>
            <a:off x="478360" y="633574"/>
            <a:ext cx="5947834" cy="523220"/>
          </a:xfrm>
          <a:prstGeom prst="rect">
            <a:avLst/>
          </a:prstGeom>
        </p:spPr>
        <p:txBody>
          <a:bodyPr wrap="square">
            <a:spAutoFit/>
          </a:bodyPr>
          <a:lstStyle/>
          <a:p>
            <a:pPr eaLnBrk="1" hangingPunct="1">
              <a:lnSpc>
                <a:spcPct val="100000"/>
              </a:lnSpc>
              <a:buFont typeface="Wingdings" pitchFamily="2" charset="2"/>
              <a:buNone/>
            </a:pPr>
            <a:r>
              <a:rPr lang="en-GB" sz="2800" b="1" dirty="0">
                <a:solidFill>
                  <a:schemeClr val="accent6">
                    <a:lumMod val="75000"/>
                  </a:schemeClr>
                </a:solidFill>
              </a:rPr>
              <a:t>Class Vs Objects</a:t>
            </a:r>
          </a:p>
        </p:txBody>
      </p:sp>
    </p:spTree>
    <p:custDataLst>
      <p:tags r:id="rId1"/>
    </p:custDataLst>
    <p:extLst>
      <p:ext uri="{BB962C8B-B14F-4D97-AF65-F5344CB8AC3E}">
        <p14:creationId xmlns:p14="http://schemas.microsoft.com/office/powerpoint/2010/main" val="2336607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bwMode="auto">
          <a:xfrm>
            <a:off x="479241" y="1263018"/>
            <a:ext cx="6173787" cy="6445587"/>
          </a:xfrm>
          <a:noFill/>
          <a:ln>
            <a:miter lim="800000"/>
            <a:headEnd/>
            <a:tailEnd/>
          </a:ln>
        </p:spPr>
        <p:txBody>
          <a:bodyPr vert="horz" wrap="square" lIns="92075" tIns="46038" rIns="92075" bIns="46038" numCol="1" anchor="t" anchorCtr="0" compatLnSpc="1">
            <a:prstTxWarp prst="textNoShape">
              <a:avLst/>
            </a:prstTxWarp>
          </a:bodyPr>
          <a:lstStyle/>
          <a:p>
            <a:pPr marL="342900" indent="-342900" eaLnBrk="1" hangingPunct="1">
              <a:lnSpc>
                <a:spcPct val="100000"/>
              </a:lnSpc>
              <a:spcBef>
                <a:spcPct val="20000"/>
              </a:spcBef>
            </a:pPr>
            <a:r>
              <a:rPr lang="en-US" sz="2000" dirty="0"/>
              <a:t>Among other things, a class contains data and methods.</a:t>
            </a:r>
          </a:p>
          <a:p>
            <a:pPr marL="342900" indent="-342900" eaLnBrk="1" hangingPunct="1">
              <a:lnSpc>
                <a:spcPct val="100000"/>
              </a:lnSpc>
              <a:spcBef>
                <a:spcPct val="20000"/>
              </a:spcBef>
              <a:buFont typeface="Wingdings" pitchFamily="2" charset="2"/>
              <a:buNone/>
            </a:pPr>
            <a:endParaRPr lang="en-GB" sz="2000" b="1" u="sng" dirty="0"/>
          </a:p>
          <a:p>
            <a:pPr marL="342900" indent="-342900" eaLnBrk="1" hangingPunct="1">
              <a:lnSpc>
                <a:spcPct val="100000"/>
              </a:lnSpc>
              <a:spcBef>
                <a:spcPct val="20000"/>
              </a:spcBef>
              <a:buFont typeface="Wingdings" pitchFamily="2" charset="2"/>
              <a:buNone/>
            </a:pPr>
            <a:r>
              <a:rPr lang="en-GB" sz="2000" b="1" u="sng" dirty="0"/>
              <a:t>Class Members (Data &amp; methods):</a:t>
            </a:r>
          </a:p>
          <a:p>
            <a:pPr marL="342900" indent="-342900" eaLnBrk="1" hangingPunct="1">
              <a:lnSpc>
                <a:spcPct val="100000"/>
              </a:lnSpc>
              <a:spcBef>
                <a:spcPct val="20000"/>
              </a:spcBef>
            </a:pPr>
            <a:r>
              <a:rPr lang="en-GB" sz="2000" b="1" dirty="0">
                <a:solidFill>
                  <a:srgbClr val="FF0000"/>
                </a:solidFill>
              </a:rPr>
              <a:t>Methods (what it can do?)</a:t>
            </a:r>
            <a:r>
              <a:rPr lang="en-GB" sz="2000" dirty="0"/>
              <a:t> and </a:t>
            </a:r>
            <a:r>
              <a:rPr lang="en-GB" sz="2000" b="1" dirty="0">
                <a:solidFill>
                  <a:srgbClr val="FF0000"/>
                </a:solidFill>
              </a:rPr>
              <a:t>variables (what it has?)</a:t>
            </a:r>
            <a:r>
              <a:rPr lang="en-GB" sz="2000" b="1" dirty="0"/>
              <a:t> </a:t>
            </a:r>
            <a:r>
              <a:rPr lang="en-GB" sz="2000" dirty="0"/>
              <a:t>declared inside a class declaration are said to be </a:t>
            </a:r>
            <a:r>
              <a:rPr lang="en-GB" sz="2000" i="1" dirty="0"/>
              <a:t>members </a:t>
            </a:r>
            <a:r>
              <a:rPr lang="en-GB" sz="2000" dirty="0"/>
              <a:t>of that class.</a:t>
            </a:r>
          </a:p>
          <a:p>
            <a:pPr marL="342900" indent="-342900" eaLnBrk="1" hangingPunct="1">
              <a:lnSpc>
                <a:spcPct val="100000"/>
              </a:lnSpc>
              <a:spcBef>
                <a:spcPct val="20000"/>
              </a:spcBef>
              <a:buFont typeface="Wingdings" pitchFamily="2" charset="2"/>
              <a:buNone/>
            </a:pPr>
            <a:endParaRPr lang="en-GB" sz="2000" b="1" u="sng" dirty="0"/>
          </a:p>
          <a:p>
            <a:pPr marL="342900" indent="-342900" eaLnBrk="1" hangingPunct="1">
              <a:lnSpc>
                <a:spcPct val="100000"/>
              </a:lnSpc>
              <a:spcBef>
                <a:spcPct val="20000"/>
              </a:spcBef>
              <a:buFont typeface="Wingdings" pitchFamily="2" charset="2"/>
              <a:buNone/>
            </a:pPr>
            <a:r>
              <a:rPr lang="en-GB" sz="2000" b="1" u="sng" dirty="0"/>
              <a:t>Members are Private by Default:</a:t>
            </a:r>
            <a:endParaRPr lang="en-GB" sz="2000" b="1" dirty="0"/>
          </a:p>
          <a:p>
            <a:pPr marL="342900" indent="-342900" eaLnBrk="1" hangingPunct="1">
              <a:lnSpc>
                <a:spcPct val="100000"/>
              </a:lnSpc>
              <a:spcBef>
                <a:spcPct val="20000"/>
              </a:spcBef>
            </a:pPr>
            <a:r>
              <a:rPr lang="en-GB" sz="2000" dirty="0"/>
              <a:t>By default, all methods and variables declared inside a class are </a:t>
            </a:r>
            <a:r>
              <a:rPr lang="en-GB" sz="2000" dirty="0">
                <a:solidFill>
                  <a:schemeClr val="hlink"/>
                </a:solidFill>
              </a:rPr>
              <a:t>private</a:t>
            </a:r>
            <a:r>
              <a:rPr lang="en-GB" sz="2000" dirty="0"/>
              <a:t> to that class.  This means that they are accessible only by other members of that class. </a:t>
            </a:r>
          </a:p>
          <a:p>
            <a:pPr marL="342900" indent="-342900" eaLnBrk="1" hangingPunct="1">
              <a:lnSpc>
                <a:spcPct val="100000"/>
              </a:lnSpc>
              <a:spcBef>
                <a:spcPct val="20000"/>
              </a:spcBef>
              <a:buFont typeface="Wingdings" pitchFamily="2" charset="2"/>
              <a:buNone/>
            </a:pPr>
            <a:endParaRPr lang="en-GB" sz="2000" b="1" u="sng" dirty="0"/>
          </a:p>
          <a:p>
            <a:pPr marL="342900" indent="-342900" eaLnBrk="1" hangingPunct="1">
              <a:lnSpc>
                <a:spcPct val="100000"/>
              </a:lnSpc>
              <a:spcBef>
                <a:spcPct val="20000"/>
              </a:spcBef>
              <a:buFont typeface="Wingdings" pitchFamily="2" charset="2"/>
              <a:buNone/>
            </a:pPr>
            <a:r>
              <a:rPr lang="en-GB" sz="2000" b="1" u="sng" dirty="0"/>
              <a:t>Public Members:</a:t>
            </a:r>
            <a:endParaRPr lang="en-GB" sz="2000" b="1" dirty="0"/>
          </a:p>
          <a:p>
            <a:pPr marL="342900" indent="-342900" eaLnBrk="1" hangingPunct="1">
              <a:lnSpc>
                <a:spcPct val="100000"/>
              </a:lnSpc>
              <a:spcBef>
                <a:spcPct val="20000"/>
              </a:spcBef>
            </a:pPr>
            <a:r>
              <a:rPr lang="en-GB" sz="2000" dirty="0"/>
              <a:t>To declare public class members, the </a:t>
            </a:r>
            <a:r>
              <a:rPr lang="en-GB" sz="2000" b="1" i="1" dirty="0">
                <a:solidFill>
                  <a:schemeClr val="hlink"/>
                </a:solidFill>
              </a:rPr>
              <a:t>public</a:t>
            </a:r>
            <a:r>
              <a:rPr lang="en-GB" sz="2000" b="1" dirty="0"/>
              <a:t> </a:t>
            </a:r>
            <a:r>
              <a:rPr lang="en-GB" sz="2000" dirty="0"/>
              <a:t>keyword is used.  Public members can be used by everybody.</a:t>
            </a:r>
          </a:p>
        </p:txBody>
      </p:sp>
      <p:sp>
        <p:nvSpPr>
          <p:cNvPr id="2" name="Rectangle 1"/>
          <p:cNvSpPr/>
          <p:nvPr/>
        </p:nvSpPr>
        <p:spPr>
          <a:xfrm>
            <a:off x="474486" y="612775"/>
            <a:ext cx="5532284" cy="584775"/>
          </a:xfrm>
          <a:prstGeom prst="rect">
            <a:avLst/>
          </a:prstGeom>
        </p:spPr>
        <p:txBody>
          <a:bodyPr wrap="none">
            <a:spAutoFit/>
          </a:bodyPr>
          <a:lstStyle/>
          <a:p>
            <a:pPr marL="342900" indent="-342900" eaLnBrk="1" hangingPunct="1">
              <a:lnSpc>
                <a:spcPct val="100000"/>
              </a:lnSpc>
              <a:spcBef>
                <a:spcPct val="20000"/>
              </a:spcBef>
              <a:buFont typeface="Wingdings" pitchFamily="2" charset="2"/>
              <a:buNone/>
            </a:pPr>
            <a:r>
              <a:rPr lang="en-GB" sz="3200" b="1" dirty="0">
                <a:solidFill>
                  <a:schemeClr val="accent6">
                    <a:lumMod val="75000"/>
                  </a:schemeClr>
                </a:solidFill>
              </a:rPr>
              <a:t>What’s Inside a Class ?</a:t>
            </a:r>
          </a:p>
        </p:txBody>
      </p:sp>
    </p:spTree>
    <p:custDataLst>
      <p:tags r:id="rId1"/>
    </p:custDataLst>
    <p:extLst>
      <p:ext uri="{BB962C8B-B14F-4D97-AF65-F5344CB8AC3E}">
        <p14:creationId xmlns:p14="http://schemas.microsoft.com/office/powerpoint/2010/main" val="38977867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bwMode="auto">
          <a:xfrm>
            <a:off x="463550" y="1349559"/>
            <a:ext cx="6256227" cy="1814231"/>
          </a:xfrm>
          <a:noFill/>
          <a:ln>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lnSpc>
                <a:spcPct val="100000"/>
              </a:lnSpc>
              <a:spcBef>
                <a:spcPct val="50000"/>
              </a:spcBef>
            </a:pPr>
            <a:r>
              <a:rPr lang="en-GB" sz="2800" b="1" dirty="0">
                <a:solidFill>
                  <a:schemeClr val="tx1"/>
                </a:solidFill>
              </a:rPr>
              <a:t>class – Person</a:t>
            </a:r>
            <a:br>
              <a:rPr lang="en-GB" sz="2800" b="1" dirty="0">
                <a:solidFill>
                  <a:srgbClr val="0000CC"/>
                </a:solidFill>
              </a:rPr>
            </a:br>
            <a:r>
              <a:rPr lang="en-GB" sz="2000" b="1" dirty="0">
                <a:solidFill>
                  <a:srgbClr val="FF0000"/>
                </a:solidFill>
              </a:rPr>
              <a:t>Member: data (it has.. ) </a:t>
            </a:r>
            <a:r>
              <a:rPr lang="en-GB" sz="2000" b="1" dirty="0" err="1">
                <a:solidFill>
                  <a:srgbClr val="FF0000"/>
                </a:solidFill>
              </a:rPr>
              <a:t>e.g</a:t>
            </a:r>
            <a:r>
              <a:rPr lang="en-GB" sz="2000" b="1" dirty="0">
                <a:solidFill>
                  <a:srgbClr val="FF0000"/>
                </a:solidFill>
              </a:rPr>
              <a:t> gender=‘F’, </a:t>
            </a:r>
            <a:r>
              <a:rPr lang="en-GB" sz="2000" b="1" dirty="0" err="1">
                <a:solidFill>
                  <a:srgbClr val="FF0000"/>
                </a:solidFill>
              </a:rPr>
              <a:t>hairColor</a:t>
            </a:r>
            <a:r>
              <a:rPr lang="en-GB" sz="2000" b="1" dirty="0">
                <a:solidFill>
                  <a:srgbClr val="FF0000"/>
                </a:solidFill>
              </a:rPr>
              <a:t>= Golden</a:t>
            </a:r>
            <a:br>
              <a:rPr lang="en-GB" sz="2000" dirty="0">
                <a:solidFill>
                  <a:schemeClr val="tx1"/>
                </a:solidFill>
              </a:rPr>
            </a:br>
            <a:r>
              <a:rPr lang="en-GB" sz="2000" b="1" dirty="0">
                <a:solidFill>
                  <a:srgbClr val="0000CC"/>
                </a:solidFill>
              </a:rPr>
              <a:t>Member: method (it can ..) </a:t>
            </a:r>
            <a:r>
              <a:rPr lang="en-GB" sz="2000" b="1" dirty="0" err="1">
                <a:solidFill>
                  <a:srgbClr val="0000CC"/>
                </a:solidFill>
              </a:rPr>
              <a:t>e.g</a:t>
            </a:r>
            <a:r>
              <a:rPr lang="en-GB" sz="2000" b="1" dirty="0">
                <a:solidFill>
                  <a:srgbClr val="0000CC"/>
                </a:solidFill>
              </a:rPr>
              <a:t> update(), display(), </a:t>
            </a:r>
            <a:r>
              <a:rPr lang="en-GB" sz="2000" b="1" dirty="0" err="1">
                <a:solidFill>
                  <a:srgbClr val="0000CC"/>
                </a:solidFill>
              </a:rPr>
              <a:t>setMotion</a:t>
            </a:r>
            <a:r>
              <a:rPr lang="en-GB" sz="2000" b="1" dirty="0">
                <a:solidFill>
                  <a:srgbClr val="0000CC"/>
                </a:solidFill>
              </a:rPr>
              <a:t>(), 	</a:t>
            </a:r>
            <a:r>
              <a:rPr lang="en-GB" sz="2000" b="1" dirty="0" err="1">
                <a:solidFill>
                  <a:srgbClr val="0000CC"/>
                </a:solidFill>
              </a:rPr>
              <a:t>changeHairstyle</a:t>
            </a:r>
            <a:r>
              <a:rPr lang="en-GB" sz="2000" b="1" dirty="0">
                <a:solidFill>
                  <a:srgbClr val="0000CC"/>
                </a:solidFill>
              </a:rPr>
              <a:t>()</a:t>
            </a:r>
            <a:endParaRPr lang="en-GB" sz="2800" b="1" dirty="0">
              <a:solidFill>
                <a:srgbClr val="0000CC"/>
              </a:solidFill>
            </a:endParaRPr>
          </a:p>
        </p:txBody>
      </p:sp>
      <p:pic>
        <p:nvPicPr>
          <p:cNvPr id="59398" name="Picture 6" descr="C:\temp\Temporary Internet Files\Content.IE5\2XJKH8BU\MCj04405140000[1].wmf"/>
          <p:cNvPicPr>
            <a:picLocks noChangeAspect="1" noChangeArrowheads="1"/>
          </p:cNvPicPr>
          <p:nvPr/>
        </p:nvPicPr>
        <p:blipFill>
          <a:blip r:embed="rId3" cstate="email">
            <a:duotone>
              <a:prstClr val="black"/>
              <a:schemeClr val="tx2">
                <a:tint val="45000"/>
                <a:satMod val="400000"/>
              </a:schemeClr>
            </a:duotone>
            <a:lum bright="-10000" contrast="40000"/>
            <a:extLst>
              <a:ext uri="{28A0092B-C50C-407E-A947-70E740481C1C}">
                <a14:useLocalDpi xmlns:a14="http://schemas.microsoft.com/office/drawing/2010/main"/>
              </a:ext>
            </a:extLst>
          </a:blip>
          <a:srcRect/>
          <a:stretch>
            <a:fillRect/>
          </a:stretch>
        </p:blipFill>
        <p:spPr bwMode="auto">
          <a:xfrm>
            <a:off x="928670" y="4748114"/>
            <a:ext cx="1447800" cy="1828800"/>
          </a:xfrm>
          <a:prstGeom prst="rect">
            <a:avLst/>
          </a:prstGeom>
          <a:noFill/>
        </p:spPr>
      </p:pic>
      <p:sp>
        <p:nvSpPr>
          <p:cNvPr id="10248" name="Rectangle 8"/>
          <p:cNvSpPr>
            <a:spLocks noChangeArrowheads="1"/>
          </p:cNvSpPr>
          <p:nvPr/>
        </p:nvSpPr>
        <p:spPr bwMode="auto">
          <a:xfrm>
            <a:off x="571480" y="4235906"/>
            <a:ext cx="2143145" cy="369332"/>
          </a:xfrm>
          <a:prstGeom prst="rect">
            <a:avLst/>
          </a:prstGeom>
          <a:noFill/>
          <a:ln w="9525">
            <a:noFill/>
            <a:miter lim="800000"/>
            <a:headEnd/>
            <a:tailEnd/>
          </a:ln>
        </p:spPr>
        <p:txBody>
          <a:bodyPr wrap="square">
            <a:spAutoFit/>
          </a:bodyPr>
          <a:lstStyle/>
          <a:p>
            <a:r>
              <a:rPr lang="en-GB" sz="1800" dirty="0">
                <a:solidFill>
                  <a:srgbClr val="0000CC"/>
                </a:solidFill>
              </a:rPr>
              <a:t>class : Person</a:t>
            </a:r>
            <a:endParaRPr lang="en-US" sz="1800" dirty="0"/>
          </a:p>
        </p:txBody>
      </p:sp>
      <p:grpSp>
        <p:nvGrpSpPr>
          <p:cNvPr id="20" name="Group 19"/>
          <p:cNvGrpSpPr/>
          <p:nvPr/>
        </p:nvGrpSpPr>
        <p:grpSpPr>
          <a:xfrm>
            <a:off x="3000375" y="5748240"/>
            <a:ext cx="1787525" cy="2643212"/>
            <a:chOff x="3000375" y="5429250"/>
            <a:chExt cx="1787525" cy="2643212"/>
          </a:xfrm>
        </p:grpSpPr>
        <p:pic>
          <p:nvPicPr>
            <p:cNvPr id="10244" name="Picture 3" descr="C:\temp\Temporary Internet Files\Content.IE5\V5TIPV2N\MCj04404820000[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000375" y="5429250"/>
              <a:ext cx="1787525" cy="2286000"/>
            </a:xfrm>
            <a:prstGeom prst="rect">
              <a:avLst/>
            </a:prstGeom>
            <a:noFill/>
            <a:ln w="9525">
              <a:noFill/>
              <a:miter lim="800000"/>
              <a:headEnd/>
              <a:tailEnd/>
            </a:ln>
          </p:spPr>
        </p:pic>
        <p:sp>
          <p:nvSpPr>
            <p:cNvPr id="10249" name="Rectangle 9"/>
            <p:cNvSpPr>
              <a:spLocks noChangeArrowheads="1"/>
            </p:cNvSpPr>
            <p:nvPr/>
          </p:nvSpPr>
          <p:spPr bwMode="auto">
            <a:xfrm>
              <a:off x="3500438" y="7702575"/>
              <a:ext cx="1285875" cy="369887"/>
            </a:xfrm>
            <a:prstGeom prst="rect">
              <a:avLst/>
            </a:prstGeom>
            <a:noFill/>
            <a:ln w="9525">
              <a:noFill/>
              <a:miter lim="800000"/>
              <a:headEnd/>
              <a:tailEnd/>
            </a:ln>
          </p:spPr>
          <p:txBody>
            <a:bodyPr>
              <a:spAutoFit/>
            </a:bodyPr>
            <a:lstStyle/>
            <a:p>
              <a:r>
                <a:rPr lang="en-GB" sz="1800" dirty="0">
                  <a:solidFill>
                    <a:srgbClr val="0000CC"/>
                  </a:solidFill>
                </a:rPr>
                <a:t>Ben</a:t>
              </a:r>
              <a:endParaRPr lang="en-US" sz="1800" dirty="0"/>
            </a:p>
          </p:txBody>
        </p:sp>
      </p:grpSp>
      <p:grpSp>
        <p:nvGrpSpPr>
          <p:cNvPr id="21" name="Group 20"/>
          <p:cNvGrpSpPr/>
          <p:nvPr/>
        </p:nvGrpSpPr>
        <p:grpSpPr>
          <a:xfrm>
            <a:off x="4786313" y="5748240"/>
            <a:ext cx="1785937" cy="2643212"/>
            <a:chOff x="4786313" y="5429250"/>
            <a:chExt cx="1785937" cy="2643212"/>
          </a:xfrm>
        </p:grpSpPr>
        <p:pic>
          <p:nvPicPr>
            <p:cNvPr id="10246" name="Picture 5" descr="C:\temp\Temporary Internet Files\Content.IE5\V5TIPV2N\MCj04404880000[1].wmf"/>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786313" y="5429250"/>
              <a:ext cx="1785937" cy="2286000"/>
            </a:xfrm>
            <a:prstGeom prst="rect">
              <a:avLst/>
            </a:prstGeom>
            <a:noFill/>
            <a:ln w="9525">
              <a:noFill/>
              <a:miter lim="800000"/>
              <a:headEnd/>
              <a:tailEnd/>
            </a:ln>
          </p:spPr>
        </p:pic>
        <p:sp>
          <p:nvSpPr>
            <p:cNvPr id="10250" name="Rectangle 10"/>
            <p:cNvSpPr>
              <a:spLocks noChangeArrowheads="1"/>
            </p:cNvSpPr>
            <p:nvPr/>
          </p:nvSpPr>
          <p:spPr bwMode="auto">
            <a:xfrm>
              <a:off x="5286375" y="7702575"/>
              <a:ext cx="1285875" cy="369887"/>
            </a:xfrm>
            <a:prstGeom prst="rect">
              <a:avLst/>
            </a:prstGeom>
            <a:noFill/>
            <a:ln w="9525">
              <a:noFill/>
              <a:miter lim="800000"/>
              <a:headEnd/>
              <a:tailEnd/>
            </a:ln>
          </p:spPr>
          <p:txBody>
            <a:bodyPr>
              <a:spAutoFit/>
            </a:bodyPr>
            <a:lstStyle/>
            <a:p>
              <a:r>
                <a:rPr lang="en-GB" sz="1800" dirty="0">
                  <a:solidFill>
                    <a:srgbClr val="0000CC"/>
                  </a:solidFill>
                </a:rPr>
                <a:t>Tom</a:t>
              </a:r>
              <a:endParaRPr lang="en-US" sz="1800" dirty="0"/>
            </a:p>
          </p:txBody>
        </p:sp>
      </p:grpSp>
      <p:grpSp>
        <p:nvGrpSpPr>
          <p:cNvPr id="18" name="Group 17"/>
          <p:cNvGrpSpPr/>
          <p:nvPr/>
        </p:nvGrpSpPr>
        <p:grpSpPr>
          <a:xfrm>
            <a:off x="2998788" y="3163790"/>
            <a:ext cx="1787525" cy="2627313"/>
            <a:chOff x="2998788" y="2844800"/>
            <a:chExt cx="1787525" cy="2627313"/>
          </a:xfrm>
        </p:grpSpPr>
        <p:pic>
          <p:nvPicPr>
            <p:cNvPr id="10243" name="Picture 2" descr="C:\temp\Temporary Internet Files\Content.IE5\KLAVS5E7\MCj04404800000[1].wmf"/>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998788" y="3214688"/>
              <a:ext cx="1787525" cy="2257425"/>
            </a:xfrm>
            <a:prstGeom prst="rect">
              <a:avLst/>
            </a:prstGeom>
            <a:noFill/>
            <a:ln w="9525">
              <a:noFill/>
              <a:miter lim="800000"/>
              <a:headEnd/>
              <a:tailEnd/>
            </a:ln>
          </p:spPr>
        </p:pic>
        <p:sp>
          <p:nvSpPr>
            <p:cNvPr id="10251" name="Rectangle 11"/>
            <p:cNvSpPr>
              <a:spLocks noChangeArrowheads="1"/>
            </p:cNvSpPr>
            <p:nvPr/>
          </p:nvSpPr>
          <p:spPr bwMode="auto">
            <a:xfrm>
              <a:off x="3500438" y="2844800"/>
              <a:ext cx="1285875" cy="369888"/>
            </a:xfrm>
            <a:prstGeom prst="rect">
              <a:avLst/>
            </a:prstGeom>
            <a:noFill/>
            <a:ln w="9525">
              <a:noFill/>
              <a:miter lim="800000"/>
              <a:headEnd/>
              <a:tailEnd/>
            </a:ln>
          </p:spPr>
          <p:txBody>
            <a:bodyPr>
              <a:spAutoFit/>
            </a:bodyPr>
            <a:lstStyle/>
            <a:p>
              <a:r>
                <a:rPr lang="en-GB" sz="1800" dirty="0">
                  <a:solidFill>
                    <a:srgbClr val="0000CC"/>
                  </a:solidFill>
                </a:rPr>
                <a:t>Mary</a:t>
              </a:r>
              <a:endParaRPr lang="en-US" sz="1800" dirty="0"/>
            </a:p>
          </p:txBody>
        </p:sp>
      </p:grpSp>
      <p:grpSp>
        <p:nvGrpSpPr>
          <p:cNvPr id="19" name="Group 18"/>
          <p:cNvGrpSpPr/>
          <p:nvPr/>
        </p:nvGrpSpPr>
        <p:grpSpPr>
          <a:xfrm>
            <a:off x="4786313" y="3163790"/>
            <a:ext cx="1787525" cy="2627313"/>
            <a:chOff x="4786313" y="2844800"/>
            <a:chExt cx="1787525" cy="2627313"/>
          </a:xfrm>
        </p:grpSpPr>
        <p:pic>
          <p:nvPicPr>
            <p:cNvPr id="10245" name="Picture 4" descr="C:\temp\Temporary Internet Files\Content.IE5\KLAVS5E7\MCj04404840000[1].wmf"/>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4786313" y="3214688"/>
              <a:ext cx="1787525" cy="2257425"/>
            </a:xfrm>
            <a:prstGeom prst="rect">
              <a:avLst/>
            </a:prstGeom>
            <a:noFill/>
            <a:ln w="9525">
              <a:noFill/>
              <a:miter lim="800000"/>
              <a:headEnd/>
              <a:tailEnd/>
            </a:ln>
          </p:spPr>
        </p:pic>
        <p:sp>
          <p:nvSpPr>
            <p:cNvPr id="10252" name="Rectangle 12"/>
            <p:cNvSpPr>
              <a:spLocks noChangeArrowheads="1"/>
            </p:cNvSpPr>
            <p:nvPr/>
          </p:nvSpPr>
          <p:spPr bwMode="auto">
            <a:xfrm>
              <a:off x="5286375" y="2844800"/>
              <a:ext cx="1285875" cy="369888"/>
            </a:xfrm>
            <a:prstGeom prst="rect">
              <a:avLst/>
            </a:prstGeom>
            <a:noFill/>
            <a:ln w="9525">
              <a:noFill/>
              <a:miter lim="800000"/>
              <a:headEnd/>
              <a:tailEnd/>
            </a:ln>
          </p:spPr>
          <p:txBody>
            <a:bodyPr>
              <a:spAutoFit/>
            </a:bodyPr>
            <a:lstStyle/>
            <a:p>
              <a:r>
                <a:rPr lang="en-GB" sz="1800" dirty="0">
                  <a:solidFill>
                    <a:srgbClr val="0000CC"/>
                  </a:solidFill>
                </a:rPr>
                <a:t>Sally</a:t>
              </a:r>
              <a:endParaRPr lang="en-US" sz="1800" dirty="0"/>
            </a:p>
          </p:txBody>
        </p:sp>
      </p:grpSp>
      <p:sp>
        <p:nvSpPr>
          <p:cNvPr id="23" name="Cloud 22"/>
          <p:cNvSpPr/>
          <p:nvPr/>
        </p:nvSpPr>
        <p:spPr bwMode="auto">
          <a:xfrm>
            <a:off x="71438" y="6695535"/>
            <a:ext cx="3286125" cy="2071687"/>
          </a:xfrm>
          <a:prstGeom prst="cloud">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a:lstStyle/>
          <a:p>
            <a:pPr>
              <a:defRPr/>
            </a:pPr>
            <a:r>
              <a:rPr lang="en-US" sz="1400" dirty="0">
                <a:solidFill>
                  <a:schemeClr val="tx1"/>
                </a:solidFill>
              </a:rPr>
              <a:t>From ONE class, you can create many objects of different member data. </a:t>
            </a:r>
          </a:p>
          <a:p>
            <a:pPr>
              <a:defRPr/>
            </a:pPr>
            <a:r>
              <a:rPr lang="en-US" sz="1400" dirty="0">
                <a:solidFill>
                  <a:schemeClr val="tx1"/>
                </a:solidFill>
              </a:rPr>
              <a:t>As a result, create many person objects.</a:t>
            </a:r>
          </a:p>
        </p:txBody>
      </p:sp>
      <p:sp>
        <p:nvSpPr>
          <p:cNvPr id="2" name="Rectangle 1"/>
          <p:cNvSpPr/>
          <p:nvPr/>
        </p:nvSpPr>
        <p:spPr>
          <a:xfrm>
            <a:off x="454517" y="676569"/>
            <a:ext cx="4652236" cy="584775"/>
          </a:xfrm>
          <a:prstGeom prst="rect">
            <a:avLst/>
          </a:prstGeom>
        </p:spPr>
        <p:txBody>
          <a:bodyPr wrap="none">
            <a:spAutoFit/>
          </a:bodyPr>
          <a:lstStyle/>
          <a:p>
            <a:r>
              <a:rPr lang="en-GB" sz="3200" b="1" dirty="0">
                <a:solidFill>
                  <a:schemeClr val="accent6">
                    <a:lumMod val="75000"/>
                  </a:schemeClr>
                </a:solidFill>
              </a:rPr>
              <a:t>Example of CLASS :</a:t>
            </a:r>
            <a:endParaRPr lang="en-SG" sz="3200" dirty="0">
              <a:solidFill>
                <a:schemeClr val="accent6">
                  <a:lumMod val="75000"/>
                </a:schemeClr>
              </a:solidFill>
            </a:endParaRPr>
          </a:p>
        </p:txBody>
      </p:sp>
    </p:spTree>
    <p:custDataLst>
      <p:tags r:id="rId1"/>
    </p:custDataLst>
    <p:extLst>
      <p:ext uri="{BB962C8B-B14F-4D97-AF65-F5344CB8AC3E}">
        <p14:creationId xmlns:p14="http://schemas.microsoft.com/office/powerpoint/2010/main" val="134373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bg/>
                                          </p:spTgt>
                                        </p:tgtEl>
                                        <p:attrNameLst>
                                          <p:attrName>style.visibility</p:attrName>
                                        </p:attrNameLst>
                                      </p:cBhvr>
                                      <p:to>
                                        <p:strVal val="visible"/>
                                      </p:to>
                                    </p:set>
                                    <p:anim calcmode="lin" valueType="num">
                                      <p:cBhvr additive="base">
                                        <p:cTn id="7" dur="500" fill="hold"/>
                                        <p:tgtEl>
                                          <p:spTgt spid="2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 calcmode="lin" valueType="num">
                                      <p:cBhvr additive="base">
                                        <p:cTn id="11"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xEl>
                                              <p:pRg st="1" end="1"/>
                                            </p:txEl>
                                          </p:spTgt>
                                        </p:tgtEl>
                                        <p:attrNameLst>
                                          <p:attrName>style.visibility</p:attrName>
                                        </p:attrNameLst>
                                      </p:cBhvr>
                                      <p:to>
                                        <p:strVal val="visible"/>
                                      </p:to>
                                    </p:set>
                                    <p:anim calcmode="lin" valueType="num">
                                      <p:cBhvr additive="base">
                                        <p:cTn id="15"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Rectangle 9"/>
          <p:cNvSpPr>
            <a:spLocks noChangeArrowheads="1"/>
          </p:cNvSpPr>
          <p:nvPr/>
        </p:nvSpPr>
        <p:spPr bwMode="auto">
          <a:xfrm>
            <a:off x="2296633" y="1424087"/>
            <a:ext cx="2059765"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dirty="0"/>
              <a:t>Class Person</a:t>
            </a:r>
          </a:p>
        </p:txBody>
      </p:sp>
      <p:sp>
        <p:nvSpPr>
          <p:cNvPr id="8202" name="Rectangle 10"/>
          <p:cNvSpPr>
            <a:spLocks noChangeArrowheads="1"/>
          </p:cNvSpPr>
          <p:nvPr/>
        </p:nvSpPr>
        <p:spPr bwMode="auto">
          <a:xfrm>
            <a:off x="541636" y="3103662"/>
            <a:ext cx="13190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dirty="0"/>
              <a:t>Object</a:t>
            </a:r>
          </a:p>
          <a:p>
            <a:pPr algn="ctr" eaLnBrk="0" hangingPunct="0"/>
            <a:r>
              <a:rPr lang="en-US" sz="2400" dirty="0"/>
              <a:t>Mary</a:t>
            </a:r>
          </a:p>
        </p:txBody>
      </p:sp>
      <p:sp>
        <p:nvSpPr>
          <p:cNvPr id="8205" name="Line 13"/>
          <p:cNvSpPr>
            <a:spLocks noChangeShapeType="1"/>
          </p:cNvSpPr>
          <p:nvPr/>
        </p:nvSpPr>
        <p:spPr bwMode="auto">
          <a:xfrm flipH="1">
            <a:off x="1548111" y="2221012"/>
            <a:ext cx="1800225" cy="866775"/>
          </a:xfrm>
          <a:prstGeom prst="line">
            <a:avLst/>
          </a:prstGeom>
          <a:noFill/>
          <a:ln w="12700">
            <a:solidFill>
              <a:schemeClr val="tx1"/>
            </a:solidFill>
            <a:round/>
            <a:headEnd type="none" w="sm" len="sm"/>
            <a:tailEnd type="triangle" w="lg" len="lg"/>
          </a:ln>
        </p:spPr>
        <p:txBody>
          <a:bodyPr/>
          <a:lstStyle/>
          <a:p>
            <a:endParaRPr lang="en-US"/>
          </a:p>
        </p:txBody>
      </p:sp>
      <p:sp>
        <p:nvSpPr>
          <p:cNvPr id="8206" name="Line 14"/>
          <p:cNvSpPr>
            <a:spLocks noChangeShapeType="1"/>
          </p:cNvSpPr>
          <p:nvPr/>
        </p:nvSpPr>
        <p:spPr bwMode="auto">
          <a:xfrm flipH="1">
            <a:off x="2881423" y="2221012"/>
            <a:ext cx="466913" cy="882650"/>
          </a:xfrm>
          <a:prstGeom prst="line">
            <a:avLst/>
          </a:prstGeom>
          <a:noFill/>
          <a:ln w="12700">
            <a:solidFill>
              <a:schemeClr val="tx1"/>
            </a:solidFill>
            <a:round/>
            <a:headEnd type="none" w="sm" len="sm"/>
            <a:tailEnd type="triangle" w="lg" len="lg"/>
          </a:ln>
        </p:spPr>
        <p:txBody>
          <a:bodyPr/>
          <a:lstStyle/>
          <a:p>
            <a:endParaRPr lang="en-US"/>
          </a:p>
        </p:txBody>
      </p:sp>
      <p:sp>
        <p:nvSpPr>
          <p:cNvPr id="8207" name="Line 15"/>
          <p:cNvSpPr>
            <a:spLocks noChangeShapeType="1"/>
          </p:cNvSpPr>
          <p:nvPr/>
        </p:nvSpPr>
        <p:spPr bwMode="auto">
          <a:xfrm>
            <a:off x="3348336" y="2221012"/>
            <a:ext cx="1252621" cy="895782"/>
          </a:xfrm>
          <a:prstGeom prst="line">
            <a:avLst/>
          </a:prstGeom>
          <a:noFill/>
          <a:ln w="12700">
            <a:solidFill>
              <a:schemeClr val="tx1"/>
            </a:solidFill>
            <a:round/>
            <a:headEnd type="none" w="sm" len="sm"/>
            <a:tailEnd type="triangle" w="lg" len="lg"/>
          </a:ln>
        </p:spPr>
        <p:txBody>
          <a:bodyPr/>
          <a:lstStyle/>
          <a:p>
            <a:endParaRPr lang="en-US"/>
          </a:p>
        </p:txBody>
      </p:sp>
      <p:sp>
        <p:nvSpPr>
          <p:cNvPr id="8209" name="Text Box 17"/>
          <p:cNvSpPr txBox="1">
            <a:spLocks noChangeArrowheads="1"/>
          </p:cNvSpPr>
          <p:nvPr/>
        </p:nvSpPr>
        <p:spPr bwMode="auto">
          <a:xfrm>
            <a:off x="541636" y="4579583"/>
            <a:ext cx="4306811" cy="1200329"/>
          </a:xfrm>
          <a:prstGeom prst="rect">
            <a:avLst/>
          </a:prstGeom>
          <a:noFill/>
          <a:ln w="12700">
            <a:noFill/>
            <a:miter lim="800000"/>
            <a:headEnd type="none" w="sm" len="sm"/>
            <a:tailEnd type="none" w="sm" len="sm"/>
          </a:ln>
        </p:spPr>
        <p:txBody>
          <a:bodyPr wrap="square">
            <a:spAutoFit/>
          </a:bodyPr>
          <a:lstStyle/>
          <a:p>
            <a:pPr>
              <a:spcBef>
                <a:spcPct val="50000"/>
              </a:spcBef>
            </a:pPr>
            <a:r>
              <a:rPr lang="en-US" dirty="0">
                <a:solidFill>
                  <a:srgbClr val="0000CC"/>
                </a:solidFill>
              </a:rPr>
              <a:t>Class Person is a template.</a:t>
            </a:r>
          </a:p>
          <a:p>
            <a:pPr>
              <a:spcBef>
                <a:spcPct val="50000"/>
              </a:spcBef>
            </a:pPr>
            <a:r>
              <a:rPr lang="en-US" dirty="0">
                <a:solidFill>
                  <a:srgbClr val="0000CC"/>
                </a:solidFill>
              </a:rPr>
              <a:t>From there, we create 4 Objects.  </a:t>
            </a:r>
          </a:p>
          <a:p>
            <a:pPr>
              <a:spcBef>
                <a:spcPct val="50000"/>
              </a:spcBef>
            </a:pPr>
            <a:r>
              <a:rPr lang="en-US" dirty="0">
                <a:solidFill>
                  <a:srgbClr val="0000CC"/>
                </a:solidFill>
              </a:rPr>
              <a:t>They are Mary, Sally, Ben and Tom.</a:t>
            </a:r>
          </a:p>
        </p:txBody>
      </p:sp>
      <p:sp>
        <p:nvSpPr>
          <p:cNvPr id="18" name="Rectangle 17"/>
          <p:cNvSpPr/>
          <p:nvPr/>
        </p:nvSpPr>
        <p:spPr>
          <a:xfrm>
            <a:off x="478360" y="633574"/>
            <a:ext cx="5947834" cy="523220"/>
          </a:xfrm>
          <a:prstGeom prst="rect">
            <a:avLst/>
          </a:prstGeom>
        </p:spPr>
        <p:txBody>
          <a:bodyPr wrap="square">
            <a:spAutoFit/>
          </a:bodyPr>
          <a:lstStyle/>
          <a:p>
            <a:pPr eaLnBrk="1" hangingPunct="1">
              <a:lnSpc>
                <a:spcPct val="100000"/>
              </a:lnSpc>
              <a:buFont typeface="Wingdings" pitchFamily="2" charset="2"/>
              <a:buNone/>
            </a:pPr>
            <a:r>
              <a:rPr lang="en-GB" sz="2800" b="1" dirty="0">
                <a:solidFill>
                  <a:schemeClr val="accent6">
                    <a:lumMod val="75000"/>
                  </a:schemeClr>
                </a:solidFill>
              </a:rPr>
              <a:t>Person Class and Objects</a:t>
            </a:r>
          </a:p>
        </p:txBody>
      </p:sp>
      <p:sp>
        <p:nvSpPr>
          <p:cNvPr id="19" name="Rectangle 10"/>
          <p:cNvSpPr>
            <a:spLocks noChangeArrowheads="1"/>
          </p:cNvSpPr>
          <p:nvPr/>
        </p:nvSpPr>
        <p:spPr bwMode="auto">
          <a:xfrm>
            <a:off x="2296633" y="3116794"/>
            <a:ext cx="13190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dirty="0"/>
              <a:t>Object</a:t>
            </a:r>
          </a:p>
          <a:p>
            <a:pPr algn="ctr" eaLnBrk="0" hangingPunct="0"/>
            <a:r>
              <a:rPr lang="en-US" sz="2400" dirty="0"/>
              <a:t>Sally</a:t>
            </a:r>
          </a:p>
        </p:txBody>
      </p:sp>
      <p:sp>
        <p:nvSpPr>
          <p:cNvPr id="20" name="Rectangle 10"/>
          <p:cNvSpPr>
            <a:spLocks noChangeArrowheads="1"/>
          </p:cNvSpPr>
          <p:nvPr/>
        </p:nvSpPr>
        <p:spPr bwMode="auto">
          <a:xfrm>
            <a:off x="3941426" y="3111159"/>
            <a:ext cx="13190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dirty="0"/>
              <a:t>Object</a:t>
            </a:r>
          </a:p>
          <a:p>
            <a:pPr algn="ctr" eaLnBrk="0" hangingPunct="0"/>
            <a:r>
              <a:rPr lang="en-US" sz="2400" dirty="0"/>
              <a:t>Ben</a:t>
            </a:r>
          </a:p>
        </p:txBody>
      </p:sp>
      <p:sp>
        <p:nvSpPr>
          <p:cNvPr id="21" name="Rectangle 10"/>
          <p:cNvSpPr>
            <a:spLocks noChangeArrowheads="1"/>
          </p:cNvSpPr>
          <p:nvPr/>
        </p:nvSpPr>
        <p:spPr bwMode="auto">
          <a:xfrm>
            <a:off x="5351691" y="3111159"/>
            <a:ext cx="1319062" cy="796925"/>
          </a:xfrm>
          <a:prstGeom prst="rect">
            <a:avLst/>
          </a:prstGeom>
          <a:noFill/>
          <a:ln w="12700">
            <a:solidFill>
              <a:schemeClr val="tx1"/>
            </a:solidFill>
            <a:miter lim="800000"/>
            <a:headEnd type="none" w="sm" len="sm"/>
            <a:tailEnd type="none" w="sm" len="sm"/>
          </a:ln>
        </p:spPr>
        <p:txBody>
          <a:bodyPr wrap="none" anchor="ctr"/>
          <a:lstStyle/>
          <a:p>
            <a:pPr algn="ctr" eaLnBrk="0" hangingPunct="0"/>
            <a:r>
              <a:rPr lang="en-US" sz="2400" dirty="0"/>
              <a:t>Object</a:t>
            </a:r>
          </a:p>
          <a:p>
            <a:pPr algn="ctr" eaLnBrk="0" hangingPunct="0"/>
            <a:r>
              <a:rPr lang="en-US" sz="2400" dirty="0"/>
              <a:t>Tom</a:t>
            </a:r>
          </a:p>
        </p:txBody>
      </p:sp>
      <p:sp>
        <p:nvSpPr>
          <p:cNvPr id="22" name="Line 15"/>
          <p:cNvSpPr>
            <a:spLocks noChangeShapeType="1"/>
          </p:cNvSpPr>
          <p:nvPr/>
        </p:nvSpPr>
        <p:spPr bwMode="auto">
          <a:xfrm>
            <a:off x="3348337" y="2221012"/>
            <a:ext cx="2662886" cy="866775"/>
          </a:xfrm>
          <a:prstGeom prst="line">
            <a:avLst/>
          </a:prstGeom>
          <a:noFill/>
          <a:ln w="12700">
            <a:solidFill>
              <a:schemeClr val="tx1"/>
            </a:solidFill>
            <a:round/>
            <a:headEnd type="none" w="sm" len="sm"/>
            <a:tailEnd type="triangle" w="lg" len="lg"/>
          </a:ln>
        </p:spPr>
        <p:txBody>
          <a:bodyPr/>
          <a:lstStyle/>
          <a:p>
            <a:endParaRPr lang="en-US"/>
          </a:p>
        </p:txBody>
      </p:sp>
    </p:spTree>
    <p:custDataLst>
      <p:tags r:id="rId1"/>
    </p:custDataLst>
    <p:extLst>
      <p:ext uri="{BB962C8B-B14F-4D97-AF65-F5344CB8AC3E}">
        <p14:creationId xmlns:p14="http://schemas.microsoft.com/office/powerpoint/2010/main" val="215069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bwMode="auto">
          <a:xfrm>
            <a:off x="428604" y="641532"/>
            <a:ext cx="5734050" cy="7710487"/>
          </a:xfrm>
          <a:noFill/>
          <a:ln>
            <a:miter lim="800000"/>
            <a:headEnd/>
            <a:tailEnd/>
          </a:ln>
        </p:spPr>
        <p:txBody>
          <a:bodyPr vert="horz" wrap="square" lIns="92075" tIns="46038" rIns="92075" bIns="46038" numCol="1" anchor="t" anchorCtr="0" compatLnSpc="1">
            <a:prstTxWarp prst="textNoShape">
              <a:avLst/>
            </a:prstTxWarp>
          </a:bodyPr>
          <a:lstStyle/>
          <a:p>
            <a:pPr eaLnBrk="1" hangingPunct="1">
              <a:lnSpc>
                <a:spcPct val="120000"/>
              </a:lnSpc>
              <a:buFont typeface="Wingdings" pitchFamily="2" charset="2"/>
              <a:buNone/>
            </a:pPr>
            <a:r>
              <a:rPr lang="en-GB" sz="3200" b="1" dirty="0">
                <a:solidFill>
                  <a:schemeClr val="accent6">
                    <a:lumMod val="75000"/>
                  </a:schemeClr>
                </a:solidFill>
              </a:rPr>
              <a:t>A class definition in C#:</a:t>
            </a:r>
            <a:endParaRPr lang="en-US" sz="2800" b="1" dirty="0">
              <a:solidFill>
                <a:schemeClr val="accent6">
                  <a:lumMod val="75000"/>
                </a:schemeClr>
              </a:solidFill>
              <a:latin typeface="Courier New" pitchFamily="49" charset="0"/>
            </a:endParaRPr>
          </a:p>
        </p:txBody>
      </p:sp>
      <p:sp>
        <p:nvSpPr>
          <p:cNvPr id="11267" name="Rectangle 3"/>
          <p:cNvSpPr>
            <a:spLocks noChangeArrowheads="1"/>
          </p:cNvSpPr>
          <p:nvPr/>
        </p:nvSpPr>
        <p:spPr bwMode="auto">
          <a:xfrm>
            <a:off x="404813" y="1403532"/>
            <a:ext cx="6113462" cy="7294305"/>
          </a:xfrm>
          <a:prstGeom prst="rect">
            <a:avLst/>
          </a:prstGeom>
          <a:noFill/>
          <a:ln w="12700">
            <a:noFill/>
            <a:miter lim="800000"/>
            <a:headEnd type="none" w="sm" len="sm"/>
            <a:tailEnd type="none" w="sm" len="sm"/>
          </a:ln>
        </p:spPr>
        <p:txBody>
          <a:bodyPr>
            <a:spAutoFit/>
          </a:bodyPr>
          <a:lstStyle/>
          <a:p>
            <a:pPr marL="347663" indent="-347663" eaLnBrk="0" hangingPunct="0">
              <a:lnSpc>
                <a:spcPct val="50000"/>
              </a:lnSpc>
              <a:spcBef>
                <a:spcPct val="50000"/>
              </a:spcBef>
            </a:pPr>
            <a:r>
              <a:rPr lang="en-GB" sz="2400" dirty="0">
                <a:latin typeface="Courier New" pitchFamily="49" charset="0"/>
              </a:rPr>
              <a:t>class Person // class name</a:t>
            </a:r>
          </a:p>
          <a:p>
            <a:pPr marL="347663" indent="-347663" eaLnBrk="0" hangingPunct="0">
              <a:lnSpc>
                <a:spcPct val="50000"/>
              </a:lnSpc>
              <a:spcBef>
                <a:spcPct val="50000"/>
              </a:spcBef>
            </a:pPr>
            <a:r>
              <a:rPr lang="en-GB" sz="2400" dirty="0">
                <a:latin typeface="Courier New" pitchFamily="49" charset="0"/>
              </a:rPr>
              <a:t>{</a:t>
            </a:r>
          </a:p>
          <a:p>
            <a:pPr marL="347663" indent="-347663" eaLnBrk="0" hangingPunct="0">
              <a:lnSpc>
                <a:spcPct val="50000"/>
              </a:lnSpc>
              <a:spcBef>
                <a:spcPct val="50000"/>
              </a:spcBef>
            </a:pPr>
            <a:r>
              <a:rPr lang="en-GB" sz="2000" dirty="0">
                <a:latin typeface="Courier New" pitchFamily="49" charset="0"/>
              </a:rPr>
              <a:t>   </a:t>
            </a:r>
            <a:r>
              <a:rPr lang="en-GB" sz="2000" dirty="0">
                <a:solidFill>
                  <a:schemeClr val="hlink"/>
                </a:solidFill>
              </a:rPr>
              <a:t>//declare data members</a:t>
            </a:r>
          </a:p>
          <a:p>
            <a:pPr marL="347663" indent="-347663" eaLnBrk="0" hangingPunct="0">
              <a:lnSpc>
                <a:spcPct val="50000"/>
              </a:lnSpc>
              <a:spcBef>
                <a:spcPct val="50000"/>
              </a:spcBef>
            </a:pPr>
            <a:r>
              <a:rPr lang="en-GB" sz="2000" dirty="0">
                <a:latin typeface="Courier New" pitchFamily="49" charset="0"/>
              </a:rPr>
              <a:t>   </a:t>
            </a:r>
            <a:r>
              <a:rPr lang="en-GB" sz="2000" dirty="0" err="1">
                <a:latin typeface="Courier New" pitchFamily="49" charset="0"/>
              </a:rPr>
              <a:t>int</a:t>
            </a:r>
            <a:r>
              <a:rPr lang="en-GB" sz="2000" dirty="0">
                <a:latin typeface="Courier New" pitchFamily="49" charset="0"/>
              </a:rPr>
              <a:t> age;  // default, it is private</a:t>
            </a:r>
          </a:p>
          <a:p>
            <a:pPr marL="347663" indent="-347663" eaLnBrk="0" hangingPunct="0">
              <a:lnSpc>
                <a:spcPct val="50000"/>
              </a:lnSpc>
              <a:spcBef>
                <a:spcPct val="50000"/>
              </a:spcBef>
            </a:pPr>
            <a:r>
              <a:rPr lang="en-GB" sz="2000" dirty="0">
                <a:latin typeface="Courier New" pitchFamily="49" charset="0"/>
              </a:rPr>
              <a:t>   </a:t>
            </a:r>
            <a:r>
              <a:rPr lang="en-GB" sz="2000" dirty="0">
                <a:solidFill>
                  <a:srgbClr val="00B050"/>
                </a:solidFill>
                <a:latin typeface="Courier New" pitchFamily="49" charset="0"/>
              </a:rPr>
              <a:t>private</a:t>
            </a:r>
            <a:r>
              <a:rPr lang="en-GB" sz="2000" dirty="0">
                <a:latin typeface="Courier New" pitchFamily="49" charset="0"/>
              </a:rPr>
              <a:t> string name;</a:t>
            </a:r>
          </a:p>
          <a:p>
            <a:pPr marL="347663" indent="-347663" eaLnBrk="0" hangingPunct="0">
              <a:lnSpc>
                <a:spcPct val="50000"/>
              </a:lnSpc>
              <a:spcBef>
                <a:spcPct val="50000"/>
              </a:spcBef>
            </a:pPr>
            <a:r>
              <a:rPr lang="en-GB" sz="2000" dirty="0">
                <a:latin typeface="Courier New" pitchFamily="49" charset="0"/>
              </a:rPr>
              <a:t>   </a:t>
            </a:r>
            <a:r>
              <a:rPr lang="en-GB" sz="2000" dirty="0">
                <a:solidFill>
                  <a:srgbClr val="CC00CC"/>
                </a:solidFill>
                <a:latin typeface="Courier New" pitchFamily="49" charset="0"/>
              </a:rPr>
              <a:t>public</a:t>
            </a:r>
            <a:r>
              <a:rPr lang="en-GB" sz="2000" dirty="0">
                <a:latin typeface="Courier New" pitchFamily="49" charset="0"/>
              </a:rPr>
              <a:t> float height;</a:t>
            </a:r>
          </a:p>
          <a:p>
            <a:pPr marL="347663" indent="-347663" eaLnBrk="0" hangingPunct="0">
              <a:lnSpc>
                <a:spcPct val="50000"/>
              </a:lnSpc>
              <a:spcBef>
                <a:spcPct val="50000"/>
              </a:spcBef>
            </a:pPr>
            <a:endParaRPr lang="en-GB" sz="2000" dirty="0">
              <a:latin typeface="Courier New" pitchFamily="49" charset="0"/>
            </a:endParaRPr>
          </a:p>
          <a:p>
            <a:pPr marL="347663" indent="-347663" eaLnBrk="0" hangingPunct="0">
              <a:lnSpc>
                <a:spcPct val="50000"/>
              </a:lnSpc>
              <a:spcBef>
                <a:spcPct val="50000"/>
              </a:spcBef>
            </a:pPr>
            <a:r>
              <a:rPr lang="en-GB" sz="2000" dirty="0">
                <a:latin typeface="Courier New" pitchFamily="49" charset="0"/>
              </a:rPr>
              <a:t>   </a:t>
            </a:r>
            <a:r>
              <a:rPr lang="en-GB" sz="2000" dirty="0">
                <a:solidFill>
                  <a:schemeClr val="hlink"/>
                </a:solidFill>
              </a:rPr>
              <a:t>//declare methods</a:t>
            </a:r>
          </a:p>
          <a:p>
            <a:pPr marL="347663" indent="-347663" eaLnBrk="0" hangingPunct="0">
              <a:lnSpc>
                <a:spcPct val="50000"/>
              </a:lnSpc>
              <a:spcBef>
                <a:spcPct val="50000"/>
              </a:spcBef>
            </a:pPr>
            <a:r>
              <a:rPr lang="en-GB" sz="2000" dirty="0">
                <a:latin typeface="Courier New" pitchFamily="49" charset="0"/>
              </a:rPr>
              <a:t>   </a:t>
            </a:r>
            <a:r>
              <a:rPr lang="en-GB" sz="2000" dirty="0">
                <a:solidFill>
                  <a:srgbClr val="CC00CC"/>
                </a:solidFill>
                <a:latin typeface="Courier New" pitchFamily="49" charset="0"/>
              </a:rPr>
              <a:t>public</a:t>
            </a:r>
            <a:r>
              <a:rPr lang="en-GB" sz="2000" dirty="0">
                <a:latin typeface="Courier New" pitchFamily="49" charset="0"/>
              </a:rPr>
              <a:t> void display( )</a:t>
            </a:r>
          </a:p>
          <a:p>
            <a:pPr marL="347663" indent="-347663" eaLnBrk="0" hangingPunct="0">
              <a:lnSpc>
                <a:spcPct val="50000"/>
              </a:lnSpc>
              <a:spcBef>
                <a:spcPct val="50000"/>
              </a:spcBef>
            </a:pPr>
            <a:r>
              <a:rPr lang="en-GB" sz="2000" dirty="0">
                <a:latin typeface="Courier New" pitchFamily="49" charset="0"/>
              </a:rPr>
              <a:t>   { .................... } </a:t>
            </a:r>
          </a:p>
          <a:p>
            <a:pPr marL="347663" indent="-347663" eaLnBrk="0" hangingPunct="0">
              <a:lnSpc>
                <a:spcPct val="50000"/>
              </a:lnSpc>
              <a:spcBef>
                <a:spcPct val="50000"/>
              </a:spcBef>
            </a:pPr>
            <a:r>
              <a:rPr lang="en-GB" sz="2400" dirty="0">
                <a:latin typeface="Courier New" pitchFamily="49" charset="0"/>
              </a:rPr>
              <a:t>}</a:t>
            </a:r>
          </a:p>
          <a:p>
            <a:pPr marL="347663" indent="-347663" eaLnBrk="0" hangingPunct="0"/>
            <a:endParaRPr lang="en-GB" sz="2000" dirty="0">
              <a:latin typeface="Courier New" pitchFamily="49" charset="0"/>
            </a:endParaRPr>
          </a:p>
          <a:p>
            <a:pPr marL="347663" indent="-347663" eaLnBrk="0" hangingPunct="0">
              <a:lnSpc>
                <a:spcPct val="110000"/>
              </a:lnSpc>
              <a:spcBef>
                <a:spcPct val="10000"/>
              </a:spcBef>
              <a:buClr>
                <a:schemeClr val="hlink"/>
              </a:buClr>
              <a:buFont typeface="Wingdings" pitchFamily="2" charset="2"/>
              <a:buChar char="Ø"/>
            </a:pPr>
            <a:r>
              <a:rPr lang="en-GB" sz="2400" b="0" dirty="0"/>
              <a:t>The keyword </a:t>
            </a:r>
            <a:r>
              <a:rPr lang="en-GB" sz="2400" i="1" dirty="0">
                <a:solidFill>
                  <a:srgbClr val="CC00CC"/>
                </a:solidFill>
              </a:rPr>
              <a:t>public</a:t>
            </a:r>
            <a:r>
              <a:rPr lang="en-GB" sz="2400" b="0" i="1" dirty="0"/>
              <a:t> </a:t>
            </a:r>
            <a:r>
              <a:rPr lang="en-GB" sz="2400" b="0" dirty="0"/>
              <a:t>allows the outside world to have direct access to any public members (either data or methods).</a:t>
            </a:r>
          </a:p>
          <a:p>
            <a:pPr marL="347663" indent="-347663" eaLnBrk="0" hangingPunct="0">
              <a:lnSpc>
                <a:spcPct val="110000"/>
              </a:lnSpc>
              <a:spcBef>
                <a:spcPct val="30000"/>
              </a:spcBef>
              <a:buClr>
                <a:schemeClr val="hlink"/>
              </a:buClr>
              <a:buFont typeface="Wingdings" pitchFamily="2" charset="2"/>
              <a:buChar char="Ø"/>
            </a:pPr>
            <a:r>
              <a:rPr lang="en-GB" sz="2400" b="0" dirty="0"/>
              <a:t>If no access modifier is stated, the default is </a:t>
            </a:r>
            <a:r>
              <a:rPr lang="en-GB" sz="2400" i="1" dirty="0">
                <a:solidFill>
                  <a:srgbClr val="00B050"/>
                </a:solidFill>
              </a:rPr>
              <a:t>private</a:t>
            </a:r>
            <a:r>
              <a:rPr lang="en-GB" sz="2400" b="0" dirty="0"/>
              <a:t>.</a:t>
            </a:r>
          </a:p>
          <a:p>
            <a:pPr marL="347663" indent="-347663" eaLnBrk="0" hangingPunct="0">
              <a:lnSpc>
                <a:spcPct val="110000"/>
              </a:lnSpc>
              <a:spcBef>
                <a:spcPct val="30000"/>
              </a:spcBef>
              <a:buClr>
                <a:schemeClr val="hlink"/>
              </a:buClr>
              <a:buFont typeface="Wingdings" pitchFamily="2" charset="2"/>
              <a:buChar char="Ø"/>
            </a:pPr>
            <a:r>
              <a:rPr lang="en-GB" sz="2400" b="0" dirty="0"/>
              <a:t>Here </a:t>
            </a:r>
            <a:r>
              <a:rPr lang="en-GB" sz="2400" b="0" i="1" dirty="0"/>
              <a:t>age</a:t>
            </a:r>
            <a:r>
              <a:rPr lang="en-GB" sz="2400" b="0" dirty="0"/>
              <a:t> and name are </a:t>
            </a:r>
            <a:r>
              <a:rPr lang="en-GB" sz="2400" i="1" dirty="0">
                <a:solidFill>
                  <a:srgbClr val="00B050"/>
                </a:solidFill>
              </a:rPr>
              <a:t>private</a:t>
            </a:r>
            <a:r>
              <a:rPr lang="en-GB" sz="2400" b="0" dirty="0"/>
              <a:t>, and </a:t>
            </a:r>
            <a:r>
              <a:rPr lang="en-GB" sz="2400" b="0" i="1" dirty="0"/>
              <a:t>height</a:t>
            </a:r>
            <a:r>
              <a:rPr lang="en-GB" sz="2400" b="0" dirty="0"/>
              <a:t> and </a:t>
            </a:r>
            <a:r>
              <a:rPr lang="en-GB" sz="2400" b="0" i="1" dirty="0"/>
              <a:t>display</a:t>
            </a:r>
            <a:r>
              <a:rPr lang="en-GB" sz="2400" b="0" dirty="0"/>
              <a:t>( ) are public.</a:t>
            </a:r>
            <a:endParaRPr lang="en-US" sz="2400" b="0" dirty="0"/>
          </a:p>
        </p:txBody>
      </p:sp>
    </p:spTree>
    <p:custDataLst>
      <p:tags r:id="rId1"/>
    </p:custDataLst>
    <p:extLst>
      <p:ext uri="{BB962C8B-B14F-4D97-AF65-F5344CB8AC3E}">
        <p14:creationId xmlns:p14="http://schemas.microsoft.com/office/powerpoint/2010/main" val="377329651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181" y="277813"/>
            <a:ext cx="6517755" cy="855662"/>
          </a:xfrm>
        </p:spPr>
        <p:txBody>
          <a:bodyPr/>
          <a:lstStyle/>
          <a:p>
            <a:r>
              <a:rPr lang="en-GB" dirty="0"/>
              <a:t>C# example1 on class and object</a:t>
            </a:r>
            <a:endParaRPr lang="en-SG" dirty="0"/>
          </a:p>
        </p:txBody>
      </p:sp>
      <p:sp>
        <p:nvSpPr>
          <p:cNvPr id="3" name="Content Placeholder 2"/>
          <p:cNvSpPr>
            <a:spLocks noGrp="1"/>
          </p:cNvSpPr>
          <p:nvPr>
            <p:ph idx="1"/>
          </p:nvPr>
        </p:nvSpPr>
        <p:spPr>
          <a:xfrm>
            <a:off x="473135" y="1233959"/>
            <a:ext cx="6182845" cy="3433732"/>
          </a:xfrm>
        </p:spPr>
        <p:txBody>
          <a:bodyPr/>
          <a:lstStyle/>
          <a:p>
            <a:r>
              <a:rPr lang="en-GB" dirty="0"/>
              <a:t>Here is an example in C# to show how</a:t>
            </a:r>
          </a:p>
          <a:p>
            <a:pPr lvl="1"/>
            <a:r>
              <a:rPr lang="en-GB" dirty="0"/>
              <a:t>To define a Class</a:t>
            </a:r>
          </a:p>
          <a:p>
            <a:pPr lvl="1"/>
            <a:r>
              <a:rPr lang="en-GB" dirty="0"/>
              <a:t>To apply One Class </a:t>
            </a:r>
          </a:p>
          <a:p>
            <a:pPr lvl="1"/>
            <a:r>
              <a:rPr lang="en-GB" dirty="0"/>
              <a:t>To create One Object with default values</a:t>
            </a:r>
          </a:p>
          <a:p>
            <a:pPr lvl="1"/>
            <a:r>
              <a:rPr lang="en-GB" dirty="0"/>
              <a:t>To update Object data </a:t>
            </a:r>
          </a:p>
          <a:p>
            <a:r>
              <a:rPr lang="en-GB" dirty="0"/>
              <a:t>Create the form and GUI as follows</a:t>
            </a:r>
          </a:p>
          <a:p>
            <a:r>
              <a:rPr lang="en-GB" dirty="0"/>
              <a:t>When user clicks on the button, it creates a object of Person class and display the data</a:t>
            </a:r>
          </a:p>
          <a:p>
            <a:pPr marL="0" indent="0">
              <a:buNone/>
            </a:pPr>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80" y="4728878"/>
            <a:ext cx="5079850" cy="42875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a:off x="4236493" y="5550243"/>
            <a:ext cx="1424762" cy="0"/>
          </a:xfrm>
          <a:prstGeom prst="straightConnector1">
            <a:avLst/>
          </a:prstGeom>
          <a:ln w="38100">
            <a:headEnd type="oval" w="med" len="med"/>
            <a:tailEnd type="triangle" w="med" len="med"/>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5565558" y="5348216"/>
            <a:ext cx="1015984" cy="369332"/>
          </a:xfrm>
          <a:prstGeom prst="rect">
            <a:avLst/>
          </a:prstGeom>
          <a:noFill/>
        </p:spPr>
        <p:txBody>
          <a:bodyPr wrap="none" rtlCol="0">
            <a:spAutoFit/>
          </a:bodyPr>
          <a:lstStyle/>
          <a:p>
            <a:r>
              <a:rPr lang="en-GB" dirty="0" err="1"/>
              <a:t>btnRun</a:t>
            </a:r>
            <a:endParaRPr lang="en-SG" dirty="0"/>
          </a:p>
        </p:txBody>
      </p:sp>
      <p:cxnSp>
        <p:nvCxnSpPr>
          <p:cNvPr id="9" name="Straight Arrow Connector 8"/>
          <p:cNvCxnSpPr/>
          <p:nvPr/>
        </p:nvCxnSpPr>
        <p:spPr>
          <a:xfrm>
            <a:off x="3588832" y="7382587"/>
            <a:ext cx="1424762" cy="0"/>
          </a:xfrm>
          <a:prstGeom prst="straightConnector1">
            <a:avLst/>
          </a:prstGeom>
          <a:ln w="38100">
            <a:headEnd type="oval" w="med" len="med"/>
            <a:tailEnd type="triangle" w="med" len="med"/>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4917897" y="7180560"/>
            <a:ext cx="1361078" cy="369332"/>
          </a:xfrm>
          <a:prstGeom prst="rect">
            <a:avLst/>
          </a:prstGeom>
          <a:noFill/>
        </p:spPr>
        <p:txBody>
          <a:bodyPr wrap="none" rtlCol="0">
            <a:spAutoFit/>
          </a:bodyPr>
          <a:lstStyle/>
          <a:p>
            <a:r>
              <a:rPr lang="en-GB" dirty="0" err="1"/>
              <a:t>rtbDisplay</a:t>
            </a:r>
            <a:endParaRPr lang="en-SG" dirty="0"/>
          </a:p>
        </p:txBody>
      </p:sp>
    </p:spTree>
    <p:custDataLst>
      <p:tags r:id="rId1"/>
    </p:custDataLst>
    <p:extLst>
      <p:ext uri="{BB962C8B-B14F-4D97-AF65-F5344CB8AC3E}">
        <p14:creationId xmlns:p14="http://schemas.microsoft.com/office/powerpoint/2010/main" val="99865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181" y="277813"/>
            <a:ext cx="6517755" cy="855662"/>
          </a:xfrm>
        </p:spPr>
        <p:txBody>
          <a:bodyPr/>
          <a:lstStyle/>
          <a:p>
            <a:r>
              <a:rPr lang="en-GB" dirty="0"/>
              <a:t>C# example1 on class and object</a:t>
            </a:r>
            <a:endParaRPr lang="en-SG" dirty="0"/>
          </a:p>
        </p:txBody>
      </p:sp>
      <p:sp>
        <p:nvSpPr>
          <p:cNvPr id="3" name="Content Placeholder 2"/>
          <p:cNvSpPr>
            <a:spLocks noGrp="1"/>
          </p:cNvSpPr>
          <p:nvPr>
            <p:ph idx="1"/>
          </p:nvPr>
        </p:nvSpPr>
        <p:spPr>
          <a:xfrm>
            <a:off x="483773" y="1425342"/>
            <a:ext cx="5829300" cy="594844"/>
          </a:xfrm>
        </p:spPr>
        <p:txBody>
          <a:bodyPr/>
          <a:lstStyle/>
          <a:p>
            <a:r>
              <a:rPr lang="en-GB" dirty="0"/>
              <a:t>The output of the application:</a:t>
            </a:r>
            <a:endParaRPr lang="en-SG"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11" y="2028160"/>
            <a:ext cx="622935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ular Callout 3"/>
          <p:cNvSpPr/>
          <p:nvPr/>
        </p:nvSpPr>
        <p:spPr>
          <a:xfrm>
            <a:off x="5178057" y="3232297"/>
            <a:ext cx="1477924" cy="648587"/>
          </a:xfrm>
          <a:prstGeom prst="wedgeRectCallout">
            <a:avLst>
              <a:gd name="adj1" fmla="val -67722"/>
              <a:gd name="adj2" fmla="val 4959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dirty="0"/>
              <a:t>Display default value</a:t>
            </a:r>
            <a:endParaRPr lang="en-SG" sz="1600" dirty="0"/>
          </a:p>
        </p:txBody>
      </p:sp>
      <p:sp>
        <p:nvSpPr>
          <p:cNvPr id="6" name="Rectangular Callout 5"/>
          <p:cNvSpPr/>
          <p:nvPr/>
        </p:nvSpPr>
        <p:spPr>
          <a:xfrm>
            <a:off x="5178057" y="4332766"/>
            <a:ext cx="1477924" cy="648587"/>
          </a:xfrm>
          <a:prstGeom prst="wedgeRectCallout">
            <a:avLst>
              <a:gd name="adj1" fmla="val -64125"/>
              <a:gd name="adj2" fmla="val -1597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dirty="0"/>
              <a:t>Display updated value</a:t>
            </a:r>
            <a:endParaRPr lang="en-SG" sz="1600" dirty="0"/>
          </a:p>
        </p:txBody>
      </p:sp>
    </p:spTree>
    <p:custDataLst>
      <p:tags r:id="rId1"/>
    </p:custDataLst>
    <p:extLst>
      <p:ext uri="{BB962C8B-B14F-4D97-AF65-F5344CB8AC3E}">
        <p14:creationId xmlns:p14="http://schemas.microsoft.com/office/powerpoint/2010/main" val="1189384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 code example1:</a:t>
            </a:r>
            <a:endParaRPr lang="en-SG" dirty="0"/>
          </a:p>
        </p:txBody>
      </p:sp>
      <p:sp>
        <p:nvSpPr>
          <p:cNvPr id="3" name="Content Placeholder 2"/>
          <p:cNvSpPr>
            <a:spLocks noGrp="1"/>
          </p:cNvSpPr>
          <p:nvPr>
            <p:ph idx="1"/>
          </p:nvPr>
        </p:nvSpPr>
        <p:spPr>
          <a:xfrm>
            <a:off x="547577" y="1297764"/>
            <a:ext cx="5829300" cy="403446"/>
          </a:xfrm>
        </p:spPr>
        <p:txBody>
          <a:bodyPr/>
          <a:lstStyle/>
          <a:p>
            <a:r>
              <a:rPr lang="en-GB" dirty="0"/>
              <a:t>Create a Person Class</a:t>
            </a:r>
            <a:endParaRPr lang="en-SG" dirty="0"/>
          </a:p>
        </p:txBody>
      </p:sp>
      <p:pic>
        <p:nvPicPr>
          <p:cNvPr id="205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27074" y="1718930"/>
            <a:ext cx="5495261" cy="733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Oval Callout 3"/>
          <p:cNvSpPr/>
          <p:nvPr/>
        </p:nvSpPr>
        <p:spPr>
          <a:xfrm>
            <a:off x="4274284" y="2743199"/>
            <a:ext cx="2264734" cy="1648046"/>
          </a:xfrm>
          <a:prstGeom prst="wedgeEllipseCallout">
            <a:avLst>
              <a:gd name="adj1" fmla="val -68096"/>
              <a:gd name="adj2" fmla="val 324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dirty="0"/>
              <a:t>Every Person has name, gender and </a:t>
            </a:r>
            <a:r>
              <a:rPr lang="en-GB" sz="1600" dirty="0" err="1"/>
              <a:t>haircolor</a:t>
            </a:r>
            <a:r>
              <a:rPr lang="en-GB" sz="1600" dirty="0"/>
              <a:t> (variables)</a:t>
            </a:r>
            <a:endParaRPr lang="en-SG" sz="1600" dirty="0"/>
          </a:p>
        </p:txBody>
      </p:sp>
      <p:sp>
        <p:nvSpPr>
          <p:cNvPr id="6" name="Oval Callout 5"/>
          <p:cNvSpPr/>
          <p:nvPr/>
        </p:nvSpPr>
        <p:spPr>
          <a:xfrm>
            <a:off x="3944677" y="5385595"/>
            <a:ext cx="2860158" cy="1546835"/>
          </a:xfrm>
          <a:prstGeom prst="wedgeEllipseCallout">
            <a:avLst>
              <a:gd name="adj1" fmla="val -63499"/>
              <a:gd name="adj2" fmla="val -4683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dirty="0"/>
              <a:t>Every Person can Display() (method). It displays the data to </a:t>
            </a:r>
            <a:r>
              <a:rPr lang="en-GB" sz="1600" dirty="0" err="1"/>
              <a:t>RichText</a:t>
            </a:r>
            <a:r>
              <a:rPr lang="en-GB" sz="1600" dirty="0"/>
              <a:t> Box</a:t>
            </a:r>
            <a:endParaRPr lang="en-SG" sz="1600" dirty="0"/>
          </a:p>
        </p:txBody>
      </p:sp>
      <p:sp>
        <p:nvSpPr>
          <p:cNvPr id="7" name="Oval Callout 6"/>
          <p:cNvSpPr/>
          <p:nvPr/>
        </p:nvSpPr>
        <p:spPr>
          <a:xfrm>
            <a:off x="3319120" y="7446744"/>
            <a:ext cx="3244701" cy="1605516"/>
          </a:xfrm>
          <a:prstGeom prst="wedgeEllipseCallout">
            <a:avLst>
              <a:gd name="adj1" fmla="val -63871"/>
              <a:gd name="adj2" fmla="val -3583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dirty="0"/>
              <a:t>Every Person can Update() (method). It sets the name to “Mary Sim” </a:t>
            </a:r>
            <a:r>
              <a:rPr lang="en-GB" sz="1600" dirty="0" err="1"/>
              <a:t>etc</a:t>
            </a:r>
            <a:endParaRPr lang="en-SG" sz="1600" dirty="0"/>
          </a:p>
        </p:txBody>
      </p:sp>
      <p:sp>
        <p:nvSpPr>
          <p:cNvPr id="5" name="Rectangle 4"/>
          <p:cNvSpPr/>
          <p:nvPr/>
        </p:nvSpPr>
        <p:spPr>
          <a:xfrm>
            <a:off x="2732569" y="3317358"/>
            <a:ext cx="1105786" cy="4359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p:cNvSpPr/>
          <p:nvPr/>
        </p:nvSpPr>
        <p:spPr>
          <a:xfrm>
            <a:off x="705295" y="4205176"/>
            <a:ext cx="1105786" cy="4359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p:cNvSpPr/>
          <p:nvPr/>
        </p:nvSpPr>
        <p:spPr>
          <a:xfrm>
            <a:off x="705295" y="6569148"/>
            <a:ext cx="1105786" cy="4359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133578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bwMode="auto">
          <a:xfrm>
            <a:off x="478465" y="95693"/>
            <a:ext cx="6068510" cy="1311610"/>
          </a:xfrm>
          <a:noFill/>
          <a:ln>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lnSpc>
                <a:spcPct val="100000"/>
              </a:lnSpc>
              <a:spcBef>
                <a:spcPct val="50000"/>
              </a:spcBef>
            </a:pPr>
            <a:r>
              <a:rPr lang="en-GB" b="1" dirty="0">
                <a:solidFill>
                  <a:srgbClr val="C00000"/>
                </a:solidFill>
              </a:rPr>
              <a:t>Explain the class definition:</a:t>
            </a:r>
            <a:br>
              <a:rPr lang="en-GB" b="1" dirty="0">
                <a:solidFill>
                  <a:srgbClr val="C00000"/>
                </a:solidFill>
              </a:rPr>
            </a:br>
            <a:r>
              <a:rPr lang="en-GB" b="1" dirty="0">
                <a:solidFill>
                  <a:srgbClr val="C00000"/>
                </a:solidFill>
              </a:rPr>
              <a:t>Person class</a:t>
            </a:r>
            <a:endParaRPr lang="en-GB" b="1" dirty="0">
              <a:solidFill>
                <a:schemeClr val="tx1"/>
              </a:solidFill>
            </a:endParaRPr>
          </a:p>
        </p:txBody>
      </p:sp>
      <p:pic>
        <p:nvPicPr>
          <p:cNvPr id="5" name="Picture 6" descr="C:\temp\Temporary Internet Files\Content.IE5\2XJKH8BU\MCj04405140000[1].wmf"/>
          <p:cNvPicPr>
            <a:picLocks noChangeAspect="1" noChangeArrowheads="1"/>
          </p:cNvPicPr>
          <p:nvPr/>
        </p:nvPicPr>
        <p:blipFill>
          <a:blip r:embed="rId3" cstate="print">
            <a:duotone>
              <a:prstClr val="black"/>
              <a:schemeClr val="tx2">
                <a:tint val="45000"/>
                <a:satMod val="400000"/>
              </a:schemeClr>
            </a:duotone>
            <a:lum bright="-10000" contrast="40000"/>
          </a:blip>
          <a:srcRect/>
          <a:stretch>
            <a:fillRect/>
          </a:stretch>
        </p:blipFill>
        <p:spPr bwMode="auto">
          <a:xfrm>
            <a:off x="5572164" y="1662495"/>
            <a:ext cx="1051914" cy="1328734"/>
          </a:xfrm>
          <a:prstGeom prst="rect">
            <a:avLst/>
          </a:prstGeom>
          <a:noFill/>
        </p:spPr>
      </p:pic>
      <p:sp>
        <p:nvSpPr>
          <p:cNvPr id="6" name="Rectangle 8"/>
          <p:cNvSpPr>
            <a:spLocks noChangeArrowheads="1"/>
          </p:cNvSpPr>
          <p:nvPr/>
        </p:nvSpPr>
        <p:spPr bwMode="auto">
          <a:xfrm>
            <a:off x="5481094" y="1305305"/>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Person</a:t>
            </a:r>
            <a:endParaRPr lang="en-US" sz="1800" dirty="0">
              <a:solidFill>
                <a:schemeClr val="accent2"/>
              </a:solidFill>
              <a:effectLst>
                <a:outerShdw blurRad="38100" dist="38100" dir="2700000" algn="tl">
                  <a:srgbClr val="000000">
                    <a:alpha val="43137"/>
                  </a:srgbClr>
                </a:outerShdw>
              </a:effectLst>
            </a:endParaRPr>
          </a:p>
        </p:txBody>
      </p:sp>
      <p:sp>
        <p:nvSpPr>
          <p:cNvPr id="2" name="Content Placeholder 1"/>
          <p:cNvSpPr>
            <a:spLocks noGrp="1"/>
          </p:cNvSpPr>
          <p:nvPr>
            <p:ph idx="1"/>
          </p:nvPr>
        </p:nvSpPr>
        <p:spPr>
          <a:xfrm>
            <a:off x="571480" y="1290338"/>
            <a:ext cx="5943620" cy="7598481"/>
          </a:xfrm>
        </p:spPr>
        <p:txBody>
          <a:bodyPr/>
          <a:lstStyle/>
          <a:p>
            <a:r>
              <a:rPr lang="en-GB" dirty="0"/>
              <a:t>Member data (default values):</a:t>
            </a:r>
          </a:p>
          <a:p>
            <a:pPr marL="0" indent="0">
              <a:buNone/>
            </a:pPr>
            <a:r>
              <a:rPr lang="en-GB" dirty="0"/>
              <a:t>name=“Dummy”, gender=‘F’,</a:t>
            </a:r>
          </a:p>
          <a:p>
            <a:pPr marL="0" indent="0">
              <a:buNone/>
            </a:pPr>
            <a:r>
              <a:rPr lang="en-GB" dirty="0" err="1"/>
              <a:t>hairColor</a:t>
            </a:r>
            <a:r>
              <a:rPr lang="en-GB" dirty="0"/>
              <a:t>= “Black”</a:t>
            </a:r>
          </a:p>
          <a:p>
            <a:pPr marL="0" indent="0">
              <a:buNone/>
            </a:pPr>
            <a:endParaRPr lang="en-GB" dirty="0"/>
          </a:p>
          <a:p>
            <a:r>
              <a:rPr lang="en-GB" dirty="0"/>
              <a:t>Member method :</a:t>
            </a:r>
          </a:p>
          <a:p>
            <a:pPr marL="0" indent="0">
              <a:buNone/>
            </a:pPr>
            <a:r>
              <a:rPr lang="en-GB" dirty="0"/>
              <a:t>Update (), Display ()</a:t>
            </a:r>
          </a:p>
          <a:p>
            <a:pPr marL="0" indent="0">
              <a:buNone/>
            </a:pPr>
            <a:endParaRPr lang="en-GB" dirty="0"/>
          </a:p>
          <a:p>
            <a:r>
              <a:rPr lang="en-GB" dirty="0"/>
              <a:t>Member data are </a:t>
            </a:r>
            <a:r>
              <a:rPr lang="en-GB" b="1" dirty="0">
                <a:solidFill>
                  <a:srgbClr val="FF0000"/>
                </a:solidFill>
              </a:rPr>
              <a:t>private</a:t>
            </a:r>
            <a:r>
              <a:rPr lang="en-GB" dirty="0"/>
              <a:t> but Member method are </a:t>
            </a:r>
            <a:r>
              <a:rPr lang="en-GB" b="1" dirty="0">
                <a:solidFill>
                  <a:srgbClr val="FF0000"/>
                </a:solidFill>
              </a:rPr>
              <a:t>public</a:t>
            </a:r>
          </a:p>
          <a:p>
            <a:r>
              <a:rPr lang="en-GB" b="1" dirty="0">
                <a:solidFill>
                  <a:srgbClr val="FF0000"/>
                </a:solidFill>
              </a:rPr>
              <a:t>Why? </a:t>
            </a:r>
            <a:r>
              <a:rPr lang="en-GB" dirty="0"/>
              <a:t>Data is only accessible within class but Method is accessible outside class</a:t>
            </a:r>
          </a:p>
          <a:p>
            <a:pPr marL="0" indent="0">
              <a:buNone/>
            </a:pPr>
            <a:endParaRPr lang="en-GB" b="1" dirty="0">
              <a:solidFill>
                <a:srgbClr val="FF0000"/>
              </a:solidFill>
            </a:endParaRPr>
          </a:p>
          <a:p>
            <a:r>
              <a:rPr lang="en-US" dirty="0">
                <a:latin typeface="Calibri" panose="020F0502020204030204" pitchFamily="34" charset="0"/>
              </a:rPr>
              <a:t>IMPT***: There is NO name, gender and </a:t>
            </a:r>
            <a:r>
              <a:rPr lang="en-US" dirty="0" err="1">
                <a:latin typeface="Calibri" panose="020F0502020204030204" pitchFamily="34" charset="0"/>
              </a:rPr>
              <a:t>haircolor</a:t>
            </a:r>
            <a:r>
              <a:rPr lang="en-US" dirty="0">
                <a:latin typeface="Calibri" panose="020F0502020204030204" pitchFamily="34" charset="0"/>
              </a:rPr>
              <a:t> variables declared in DISPLAY() and Update()</a:t>
            </a:r>
          </a:p>
          <a:p>
            <a:r>
              <a:rPr lang="en-GB" b="1" dirty="0">
                <a:solidFill>
                  <a:srgbClr val="FF0000"/>
                </a:solidFill>
              </a:rPr>
              <a:t>Why? </a:t>
            </a:r>
            <a:r>
              <a:rPr lang="en-US" dirty="0"/>
              <a:t>Because we use the data in the </a:t>
            </a:r>
            <a:r>
              <a:rPr lang="en-US" b="1" dirty="0">
                <a:solidFill>
                  <a:srgbClr val="FF0000"/>
                </a:solidFill>
              </a:rPr>
              <a:t>member data</a:t>
            </a:r>
          </a:p>
          <a:p>
            <a:endParaRPr lang="en-GB" b="1" dirty="0">
              <a:solidFill>
                <a:srgbClr val="FF0000"/>
              </a:solidFill>
            </a:endParaRPr>
          </a:p>
          <a:p>
            <a:endParaRPr lang="en-GB" b="1" dirty="0">
              <a:solidFill>
                <a:srgbClr val="FF0000"/>
              </a:solidFill>
            </a:endParaRPr>
          </a:p>
          <a:p>
            <a:pPr marL="0" indent="0">
              <a:buNone/>
            </a:pPr>
            <a:endParaRPr lang="en-SG" dirty="0"/>
          </a:p>
        </p:txBody>
      </p:sp>
    </p:spTree>
    <p:custDataLst>
      <p:tags r:id="rId1"/>
    </p:custDataLst>
    <p:extLst>
      <p:ext uri="{BB962C8B-B14F-4D97-AF65-F5344CB8AC3E}">
        <p14:creationId xmlns:p14="http://schemas.microsoft.com/office/powerpoint/2010/main" val="3307864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30" b="-2183"/>
          <a:stretch/>
        </p:blipFill>
        <p:spPr bwMode="auto">
          <a:xfrm>
            <a:off x="526435" y="1697515"/>
            <a:ext cx="6129545" cy="6968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C# code example continue</a:t>
            </a:r>
            <a:endParaRPr lang="en-SG" dirty="0"/>
          </a:p>
        </p:txBody>
      </p:sp>
      <p:sp>
        <p:nvSpPr>
          <p:cNvPr id="3" name="Content Placeholder 2"/>
          <p:cNvSpPr>
            <a:spLocks noGrp="1"/>
          </p:cNvSpPr>
          <p:nvPr>
            <p:ph idx="1"/>
          </p:nvPr>
        </p:nvSpPr>
        <p:spPr>
          <a:xfrm>
            <a:off x="547577" y="1297764"/>
            <a:ext cx="6108402" cy="403446"/>
          </a:xfrm>
        </p:spPr>
        <p:txBody>
          <a:bodyPr/>
          <a:lstStyle/>
          <a:p>
            <a:r>
              <a:rPr lang="en-GB" dirty="0"/>
              <a:t>Create a OBJECT from Person CLASS</a:t>
            </a:r>
            <a:endParaRPr lang="en-SG" dirty="0"/>
          </a:p>
        </p:txBody>
      </p:sp>
      <p:sp>
        <p:nvSpPr>
          <p:cNvPr id="4" name="Oval Callout 3"/>
          <p:cNvSpPr/>
          <p:nvPr/>
        </p:nvSpPr>
        <p:spPr>
          <a:xfrm>
            <a:off x="3870251" y="3040911"/>
            <a:ext cx="2541184" cy="1477923"/>
          </a:xfrm>
          <a:prstGeom prst="wedgeEllipseCallout">
            <a:avLst>
              <a:gd name="adj1" fmla="val -46295"/>
              <a:gd name="adj2" fmla="val 106071"/>
            </a:avLst>
          </a:prstGeom>
          <a:solidFill>
            <a:schemeClr val="bg1">
              <a:alpha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Create a Object of a Person, named as Mary</a:t>
            </a:r>
            <a:endParaRPr lang="en-SG" dirty="0"/>
          </a:p>
        </p:txBody>
      </p:sp>
      <p:sp>
        <p:nvSpPr>
          <p:cNvPr id="7" name="Oval Callout 6"/>
          <p:cNvSpPr/>
          <p:nvPr/>
        </p:nvSpPr>
        <p:spPr>
          <a:xfrm>
            <a:off x="3870250" y="6908437"/>
            <a:ext cx="2785729" cy="1605516"/>
          </a:xfrm>
          <a:prstGeom prst="wedgeEllipseCallout">
            <a:avLst>
              <a:gd name="adj1" fmla="val -52740"/>
              <a:gd name="adj2" fmla="val -6033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Call Mary’s member method to display and update </a:t>
            </a:r>
            <a:endParaRPr lang="en-SG" dirty="0"/>
          </a:p>
        </p:txBody>
      </p:sp>
    </p:spTree>
    <p:custDataLst>
      <p:tags r:id="rId1"/>
    </p:custDataLst>
    <p:extLst>
      <p:ext uri="{BB962C8B-B14F-4D97-AF65-F5344CB8AC3E}">
        <p14:creationId xmlns:p14="http://schemas.microsoft.com/office/powerpoint/2010/main" val="2640401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to create Object?</a:t>
            </a:r>
            <a:endParaRPr lang="en-SG" dirty="0"/>
          </a:p>
        </p:txBody>
      </p:sp>
      <p:sp>
        <p:nvSpPr>
          <p:cNvPr id="3" name="Content Placeholder 2"/>
          <p:cNvSpPr>
            <a:spLocks noGrp="1"/>
          </p:cNvSpPr>
          <p:nvPr>
            <p:ph idx="1"/>
          </p:nvPr>
        </p:nvSpPr>
        <p:spPr>
          <a:xfrm>
            <a:off x="499730" y="1244009"/>
            <a:ext cx="6015370" cy="7145079"/>
          </a:xfrm>
        </p:spPr>
        <p:txBody>
          <a:bodyPr/>
          <a:lstStyle/>
          <a:p>
            <a:r>
              <a:rPr lang="en-US" dirty="0">
                <a:solidFill>
                  <a:srgbClr val="FF0000"/>
                </a:solidFill>
              </a:rPr>
              <a:t>Person Mary = new Person( );</a:t>
            </a:r>
          </a:p>
          <a:p>
            <a:pPr marL="0" indent="0">
              <a:buNone/>
            </a:pPr>
            <a:r>
              <a:rPr lang="en-GB" sz="2000" dirty="0"/>
              <a:t>new is the Keyword to create an object.</a:t>
            </a:r>
          </a:p>
          <a:p>
            <a:pPr marL="0" indent="0">
              <a:buNone/>
            </a:pPr>
            <a:r>
              <a:rPr lang="en-GB" sz="2000" dirty="0"/>
              <a:t>Mary is the object name</a:t>
            </a:r>
          </a:p>
          <a:p>
            <a:pPr marL="0" indent="0">
              <a:buNone/>
            </a:pPr>
            <a:r>
              <a:rPr lang="en-GB" sz="2000" dirty="0"/>
              <a:t>Person is the class name</a:t>
            </a:r>
          </a:p>
          <a:p>
            <a:pPr marL="0" indent="0">
              <a:buNone/>
            </a:pPr>
            <a:r>
              <a:rPr lang="en-GB" sz="2000" dirty="0"/>
              <a:t>Person() is the constructor method to create an object</a:t>
            </a:r>
          </a:p>
          <a:p>
            <a:pPr marL="0" indent="0">
              <a:buNone/>
            </a:pPr>
            <a:endParaRPr lang="en-GB" dirty="0"/>
          </a:p>
          <a:p>
            <a:r>
              <a:rPr lang="en-GB" dirty="0" err="1">
                <a:solidFill>
                  <a:srgbClr val="FF0000"/>
                </a:solidFill>
              </a:rPr>
              <a:t>Mary.Update</a:t>
            </a:r>
            <a:r>
              <a:rPr lang="en-GB" dirty="0">
                <a:solidFill>
                  <a:srgbClr val="FF0000"/>
                </a:solidFill>
              </a:rPr>
              <a:t>(), </a:t>
            </a:r>
            <a:r>
              <a:rPr lang="en-GB" dirty="0" err="1">
                <a:solidFill>
                  <a:srgbClr val="FF0000"/>
                </a:solidFill>
              </a:rPr>
              <a:t>Mary.Display</a:t>
            </a:r>
            <a:r>
              <a:rPr lang="en-GB" dirty="0">
                <a:solidFill>
                  <a:srgbClr val="FF0000"/>
                </a:solidFill>
              </a:rPr>
              <a:t>()</a:t>
            </a:r>
          </a:p>
          <a:p>
            <a:pPr marL="0" indent="0" eaLnBrk="1" hangingPunct="1">
              <a:spcBef>
                <a:spcPct val="0"/>
              </a:spcBef>
              <a:buClrTx/>
              <a:buSzTx/>
              <a:buNone/>
            </a:pPr>
            <a:r>
              <a:rPr lang="en-US" sz="2000" dirty="0"/>
              <a:t>The symbol </a:t>
            </a:r>
            <a:r>
              <a:rPr lang="en-US" sz="2000" dirty="0">
                <a:solidFill>
                  <a:srgbClr val="C00000"/>
                </a:solidFill>
              </a:rPr>
              <a:t>‘.’</a:t>
            </a:r>
            <a:r>
              <a:rPr lang="en-US" sz="2000" dirty="0"/>
              <a:t> is working like </a:t>
            </a:r>
            <a:r>
              <a:rPr lang="en-US" sz="2000" dirty="0">
                <a:solidFill>
                  <a:srgbClr val="C00000"/>
                </a:solidFill>
              </a:rPr>
              <a:t>‘s</a:t>
            </a:r>
            <a:r>
              <a:rPr lang="en-US" sz="2000" dirty="0"/>
              <a:t> in English language. </a:t>
            </a:r>
          </a:p>
          <a:p>
            <a:pPr marL="0" indent="0" eaLnBrk="1" hangingPunct="1">
              <a:spcBef>
                <a:spcPct val="0"/>
              </a:spcBef>
              <a:buClrTx/>
              <a:buSzTx/>
              <a:buNone/>
            </a:pPr>
            <a:r>
              <a:rPr lang="en-US" sz="2000" dirty="0" err="1"/>
              <a:t>E.g</a:t>
            </a:r>
            <a:r>
              <a:rPr lang="en-US" sz="2000" dirty="0"/>
              <a:t> Object1.Update()  implies Object1’s update() method</a:t>
            </a:r>
          </a:p>
          <a:p>
            <a:pPr marL="0" indent="0">
              <a:buNone/>
            </a:pPr>
            <a:r>
              <a:rPr lang="en-GB" sz="2000" dirty="0" err="1"/>
              <a:t>Mary.Update</a:t>
            </a:r>
            <a:r>
              <a:rPr lang="en-GB" sz="2000" dirty="0"/>
              <a:t>() implies that you are calling the Update() of Mary object</a:t>
            </a:r>
          </a:p>
          <a:p>
            <a:pPr marL="0" indent="0">
              <a:buNone/>
            </a:pPr>
            <a:r>
              <a:rPr lang="en-GB" sz="2000" dirty="0" err="1"/>
              <a:t>Mary.Display</a:t>
            </a:r>
            <a:r>
              <a:rPr lang="en-GB" sz="2000" dirty="0"/>
              <a:t>() implies that you are calling the Display() of Mary object</a:t>
            </a:r>
          </a:p>
          <a:p>
            <a:pPr marL="0" indent="0">
              <a:buNone/>
            </a:pPr>
            <a:endParaRPr lang="en-GB" sz="2000" dirty="0"/>
          </a:p>
          <a:p>
            <a:r>
              <a:rPr lang="en-GB" dirty="0"/>
              <a:t>However, We </a:t>
            </a:r>
            <a:r>
              <a:rPr lang="en-GB" b="1" u="sng" dirty="0">
                <a:solidFill>
                  <a:srgbClr val="FF0000"/>
                </a:solidFill>
              </a:rPr>
              <a:t>cannot</a:t>
            </a:r>
            <a:r>
              <a:rPr lang="en-GB" dirty="0"/>
              <a:t> access to Mary.name because it is a </a:t>
            </a:r>
            <a:r>
              <a:rPr lang="en-GB" b="1" dirty="0">
                <a:solidFill>
                  <a:srgbClr val="FF0000"/>
                </a:solidFill>
              </a:rPr>
              <a:t>PRIVATE</a:t>
            </a:r>
            <a:r>
              <a:rPr lang="en-GB" dirty="0"/>
              <a:t> data</a:t>
            </a:r>
          </a:p>
          <a:p>
            <a:pPr marL="0" indent="0">
              <a:buNone/>
            </a:pPr>
            <a:endParaRPr lang="en-GB" dirty="0"/>
          </a:p>
          <a:p>
            <a:pPr marL="0" indent="0">
              <a:buNone/>
            </a:pPr>
            <a:endParaRPr lang="en-GB" dirty="0"/>
          </a:p>
          <a:p>
            <a:pPr marL="0" indent="0">
              <a:buNone/>
            </a:pPr>
            <a:endParaRPr lang="en-SG" dirty="0"/>
          </a:p>
        </p:txBody>
      </p:sp>
    </p:spTree>
    <p:custDataLst>
      <p:tags r:id="rId1"/>
    </p:custDataLst>
    <p:extLst>
      <p:ext uri="{BB962C8B-B14F-4D97-AF65-F5344CB8AC3E}">
        <p14:creationId xmlns:p14="http://schemas.microsoft.com/office/powerpoint/2010/main" val="1532388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029" t="19556" r="59453" b="6090"/>
          <a:stretch/>
        </p:blipFill>
        <p:spPr bwMode="auto">
          <a:xfrm>
            <a:off x="50209" y="137319"/>
            <a:ext cx="6694376" cy="856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019107" y="277813"/>
            <a:ext cx="2535681" cy="855662"/>
          </a:xfrm>
        </p:spPr>
        <p:txBody>
          <a:bodyPr/>
          <a:lstStyle/>
          <a:p>
            <a:pPr algn="ctr"/>
            <a:r>
              <a:rPr lang="en-GB" dirty="0"/>
              <a:t>Sequence of Codes</a:t>
            </a:r>
            <a:endParaRPr lang="en-SG" dirty="0"/>
          </a:p>
        </p:txBody>
      </p:sp>
      <p:sp>
        <p:nvSpPr>
          <p:cNvPr id="7" name="Rectangle 6"/>
          <p:cNvSpPr/>
          <p:nvPr/>
        </p:nvSpPr>
        <p:spPr>
          <a:xfrm>
            <a:off x="680484" y="1467293"/>
            <a:ext cx="4253023" cy="65382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Oval Callout 5"/>
          <p:cNvSpPr/>
          <p:nvPr/>
        </p:nvSpPr>
        <p:spPr>
          <a:xfrm>
            <a:off x="3785191" y="7101090"/>
            <a:ext cx="2991291" cy="1808994"/>
          </a:xfrm>
          <a:prstGeom prst="wedgeEllipseCallout">
            <a:avLst>
              <a:gd name="adj1" fmla="val -60791"/>
              <a:gd name="adj2" fmla="val -1869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Class definition is ABOVE the </a:t>
            </a:r>
            <a:r>
              <a:rPr lang="en-GB" dirty="0" err="1"/>
              <a:t>button_click</a:t>
            </a:r>
            <a:r>
              <a:rPr lang="en-GB" dirty="0"/>
              <a:t> method</a:t>
            </a:r>
            <a:endParaRPr lang="en-SG" dirty="0"/>
          </a:p>
        </p:txBody>
      </p:sp>
      <p:sp>
        <p:nvSpPr>
          <p:cNvPr id="5" name="Oval Callout 4"/>
          <p:cNvSpPr/>
          <p:nvPr/>
        </p:nvSpPr>
        <p:spPr>
          <a:xfrm>
            <a:off x="3397397" y="3646968"/>
            <a:ext cx="2785729" cy="1584252"/>
          </a:xfrm>
          <a:prstGeom prst="wedgeEllipseCallout">
            <a:avLst>
              <a:gd name="adj1" fmla="val -50450"/>
              <a:gd name="adj2" fmla="val -4867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Class definition is in class FORM1 </a:t>
            </a:r>
            <a:endParaRPr lang="en-SG" dirty="0"/>
          </a:p>
        </p:txBody>
      </p:sp>
    </p:spTree>
    <p:custDataLst>
      <p:tags r:id="rId1"/>
    </p:custDataLst>
    <p:extLst>
      <p:ext uri="{BB962C8B-B14F-4D97-AF65-F5344CB8AC3E}">
        <p14:creationId xmlns:p14="http://schemas.microsoft.com/office/powerpoint/2010/main" val="3724450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Observe the output</a:t>
            </a:r>
            <a:endParaRPr lang="en-SG" dirty="0"/>
          </a:p>
        </p:txBody>
      </p:sp>
      <p:sp>
        <p:nvSpPr>
          <p:cNvPr id="3" name="Content Placeholder 2"/>
          <p:cNvSpPr>
            <a:spLocks noGrp="1"/>
          </p:cNvSpPr>
          <p:nvPr>
            <p:ph idx="1"/>
          </p:nvPr>
        </p:nvSpPr>
        <p:spPr>
          <a:xfrm>
            <a:off x="685800" y="1297172"/>
            <a:ext cx="5829300" cy="7081284"/>
          </a:xfrm>
        </p:spPr>
        <p:txBody>
          <a:bodyPr/>
          <a:lstStyle/>
          <a:p>
            <a:r>
              <a:rPr lang="en-GB" dirty="0"/>
              <a:t>Run the application</a:t>
            </a:r>
          </a:p>
          <a:p>
            <a:r>
              <a:rPr lang="en-GB" dirty="0"/>
              <a:t>Observe the output</a:t>
            </a:r>
          </a:p>
          <a:p>
            <a:r>
              <a:rPr lang="en-GB" dirty="0"/>
              <a:t>Fill in the blanks:</a:t>
            </a:r>
          </a:p>
          <a:p>
            <a:pPr marL="0" indent="0">
              <a:buNone/>
            </a:pPr>
            <a:r>
              <a:rPr lang="en-GB" dirty="0"/>
              <a:t>Class name:</a:t>
            </a:r>
          </a:p>
          <a:p>
            <a:pPr marL="0" indent="0">
              <a:buNone/>
            </a:pPr>
            <a:endParaRPr lang="en-GB" dirty="0"/>
          </a:p>
          <a:p>
            <a:pPr marL="0" indent="0">
              <a:buNone/>
            </a:pPr>
            <a:r>
              <a:rPr lang="en-GB" dirty="0"/>
              <a:t>Object name:</a:t>
            </a:r>
          </a:p>
          <a:p>
            <a:pPr marL="0" indent="0">
              <a:buNone/>
            </a:pPr>
            <a:endParaRPr lang="en-GB" dirty="0"/>
          </a:p>
          <a:p>
            <a:pPr marL="0" indent="0">
              <a:buNone/>
            </a:pPr>
            <a:r>
              <a:rPr lang="en-GB" dirty="0"/>
              <a:t>Class member data:</a:t>
            </a:r>
          </a:p>
          <a:p>
            <a:pPr marL="0" indent="0">
              <a:buNone/>
            </a:pPr>
            <a:endParaRPr lang="en-GB" dirty="0"/>
          </a:p>
          <a:p>
            <a:pPr marL="0" indent="0">
              <a:buNone/>
            </a:pPr>
            <a:r>
              <a:rPr lang="en-GB" dirty="0"/>
              <a:t>Class member method:</a:t>
            </a:r>
          </a:p>
          <a:p>
            <a:pPr marL="0" indent="0">
              <a:buNone/>
            </a:pPr>
            <a:endParaRPr lang="en-GB" dirty="0"/>
          </a:p>
          <a:p>
            <a:pPr marL="0" indent="0">
              <a:buNone/>
            </a:pPr>
            <a:r>
              <a:rPr lang="en-GB" dirty="0"/>
              <a:t>How to create object?</a:t>
            </a:r>
          </a:p>
          <a:p>
            <a:pPr marL="0" indent="0">
              <a:buNone/>
            </a:pPr>
            <a:endParaRPr lang="en-GB" dirty="0"/>
          </a:p>
          <a:p>
            <a:pPr marL="0" indent="0">
              <a:buNone/>
            </a:pPr>
            <a:r>
              <a:rPr lang="en-GB" dirty="0"/>
              <a:t>How to call object member method?</a:t>
            </a:r>
          </a:p>
          <a:p>
            <a:pPr marL="0" indent="0">
              <a:buNone/>
            </a:pPr>
            <a:endParaRPr lang="en-GB" dirty="0"/>
          </a:p>
          <a:p>
            <a:pPr marL="0" indent="0">
              <a:buNone/>
            </a:pPr>
            <a:r>
              <a:rPr lang="en-GB" dirty="0"/>
              <a:t>How to access to object member data?</a:t>
            </a:r>
            <a:endParaRPr lang="en-SG" dirty="0"/>
          </a:p>
        </p:txBody>
      </p:sp>
      <p:sp>
        <p:nvSpPr>
          <p:cNvPr id="4" name="5-Point Star 3"/>
          <p:cNvSpPr/>
          <p:nvPr/>
        </p:nvSpPr>
        <p:spPr>
          <a:xfrm>
            <a:off x="4944139" y="10633"/>
            <a:ext cx="1414131" cy="1424762"/>
          </a:xfrm>
          <a:prstGeom prst="star5">
            <a:avLst/>
          </a:prstGeom>
          <a:solidFill>
            <a:schemeClr val="accent3">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2855147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651" y="277813"/>
            <a:ext cx="6645349" cy="855662"/>
          </a:xfrm>
        </p:spPr>
        <p:txBody>
          <a:bodyPr/>
          <a:lstStyle/>
          <a:p>
            <a:r>
              <a:rPr lang="en-GB" dirty="0"/>
              <a:t>C# example on class and object</a:t>
            </a:r>
            <a:endParaRPr lang="en-SG" dirty="0"/>
          </a:p>
        </p:txBody>
      </p:sp>
      <p:sp>
        <p:nvSpPr>
          <p:cNvPr id="3" name="Content Placeholder 2"/>
          <p:cNvSpPr>
            <a:spLocks noGrp="1"/>
          </p:cNvSpPr>
          <p:nvPr>
            <p:ph idx="1"/>
          </p:nvPr>
        </p:nvSpPr>
        <p:spPr>
          <a:xfrm>
            <a:off x="467833" y="1424763"/>
            <a:ext cx="6026002" cy="2690037"/>
          </a:xfrm>
        </p:spPr>
        <p:txBody>
          <a:bodyPr/>
          <a:lstStyle/>
          <a:p>
            <a:r>
              <a:rPr lang="en-GB" dirty="0"/>
              <a:t>Can we create multiple objects of the same class? YES</a:t>
            </a:r>
          </a:p>
          <a:p>
            <a:r>
              <a:rPr lang="en-GB" dirty="0"/>
              <a:t>How?</a:t>
            </a:r>
          </a:p>
          <a:p>
            <a:r>
              <a:rPr lang="en-GB" dirty="0"/>
              <a:t>For example, we would like to create 2 objects. Name as Tom and John of Person class.</a:t>
            </a:r>
          </a:p>
          <a:p>
            <a:endParaRPr lang="en-SG" dirty="0"/>
          </a:p>
        </p:txBody>
      </p:sp>
      <p:grpSp>
        <p:nvGrpSpPr>
          <p:cNvPr id="4" name="Group 3"/>
          <p:cNvGrpSpPr/>
          <p:nvPr/>
        </p:nvGrpSpPr>
        <p:grpSpPr>
          <a:xfrm>
            <a:off x="5206320" y="4120175"/>
            <a:ext cx="1327403" cy="1502614"/>
            <a:chOff x="2860518" y="5429250"/>
            <a:chExt cx="2598711" cy="3014190"/>
          </a:xfrm>
          <a:effectLst>
            <a:outerShdw blurRad="50800" dist="38100" dir="2700000" algn="tl" rotWithShape="0">
              <a:prstClr val="black">
                <a:alpha val="40000"/>
              </a:prstClr>
            </a:outerShdw>
          </a:effectLst>
        </p:grpSpPr>
        <p:pic>
          <p:nvPicPr>
            <p:cNvPr id="5" name="Picture 3" descr="C:\temp\Temporary Internet Files\Content.IE5\V5TIPV2N\MCj04404820000[1].wm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00375" y="5429250"/>
              <a:ext cx="1787525" cy="2286000"/>
            </a:xfrm>
            <a:prstGeom prst="rect">
              <a:avLst/>
            </a:prstGeom>
            <a:noFill/>
            <a:ln w="9525">
              <a:noFill/>
              <a:miter lim="800000"/>
              <a:headEnd/>
              <a:tailEnd/>
            </a:ln>
          </p:spPr>
        </p:pic>
        <p:sp>
          <p:nvSpPr>
            <p:cNvPr id="6" name="Rectangle 9"/>
            <p:cNvSpPr>
              <a:spLocks noChangeArrowheads="1"/>
            </p:cNvSpPr>
            <p:nvPr/>
          </p:nvSpPr>
          <p:spPr bwMode="auto">
            <a:xfrm>
              <a:off x="2860518" y="7702573"/>
              <a:ext cx="2598711" cy="740867"/>
            </a:xfrm>
            <a:prstGeom prst="rect">
              <a:avLst/>
            </a:prstGeom>
            <a:noFill/>
            <a:ln w="9525">
              <a:noFill/>
              <a:miter lim="800000"/>
              <a:headEnd/>
              <a:tailEnd/>
            </a:ln>
          </p:spPr>
          <p:txBody>
            <a:bodyPr wrap="square">
              <a:spAutoFit/>
            </a:bodyPr>
            <a:lstStyle/>
            <a:p>
              <a:r>
                <a:rPr lang="en-GB" sz="1800" dirty="0">
                  <a:solidFill>
                    <a:srgbClr val="0000CC"/>
                  </a:solidFill>
                </a:rPr>
                <a:t>Tom</a:t>
              </a:r>
              <a:endParaRPr lang="en-US" sz="1800" dirty="0"/>
            </a:p>
          </p:txBody>
        </p:sp>
      </p:grpSp>
      <p:grpSp>
        <p:nvGrpSpPr>
          <p:cNvPr id="7" name="Group 6"/>
          <p:cNvGrpSpPr/>
          <p:nvPr/>
        </p:nvGrpSpPr>
        <p:grpSpPr>
          <a:xfrm>
            <a:off x="5303716" y="6431789"/>
            <a:ext cx="1230007" cy="1547223"/>
            <a:chOff x="4885545" y="5559243"/>
            <a:chExt cx="2184360" cy="2815384"/>
          </a:xfrm>
          <a:effectLst>
            <a:outerShdw blurRad="50800" dist="38100" dir="2700000" algn="tl" rotWithShape="0">
              <a:prstClr val="black">
                <a:alpha val="40000"/>
              </a:prstClr>
            </a:outerShdw>
          </a:effectLst>
        </p:grpSpPr>
        <p:pic>
          <p:nvPicPr>
            <p:cNvPr id="8" name="Picture 5" descr="C:\temp\Temporary Internet Files\Content.IE5\V5TIPV2N\MCj04404880000[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979614" y="5559243"/>
              <a:ext cx="1582826" cy="202601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9" name="Rectangle 10"/>
            <p:cNvSpPr>
              <a:spLocks noChangeArrowheads="1"/>
            </p:cNvSpPr>
            <p:nvPr/>
          </p:nvSpPr>
          <p:spPr bwMode="auto">
            <a:xfrm>
              <a:off x="4885545" y="7702577"/>
              <a:ext cx="2184360" cy="672050"/>
            </a:xfrm>
            <a:prstGeom prst="rect">
              <a:avLst/>
            </a:prstGeom>
            <a:noFill/>
            <a:ln w="9525">
              <a:noFill/>
              <a:miter lim="800000"/>
              <a:headEnd/>
              <a:tailEnd/>
            </a:ln>
          </p:spPr>
          <p:txBody>
            <a:bodyPr wrap="square">
              <a:spAutoFit/>
            </a:bodyPr>
            <a:lstStyle/>
            <a:p>
              <a:r>
                <a:rPr lang="en-GB" sz="1800" dirty="0">
                  <a:solidFill>
                    <a:srgbClr val="0000CC"/>
                  </a:solidFill>
                </a:rPr>
                <a:t>John</a:t>
              </a:r>
              <a:endParaRPr lang="en-US" sz="1800" dirty="0"/>
            </a:p>
          </p:txBody>
        </p:sp>
      </p:grpSp>
      <p:pic>
        <p:nvPicPr>
          <p:cNvPr id="10" name="Picture 6" descr="C:\temp\Temporary Internet Files\Content.IE5\2XJKH8BU\MCj04405140000[1].wmf"/>
          <p:cNvPicPr>
            <a:picLocks noChangeAspect="1" noChangeArrowheads="1"/>
          </p:cNvPicPr>
          <p:nvPr/>
        </p:nvPicPr>
        <p:blipFill>
          <a:blip r:embed="rId5" cstate="email">
            <a:duotone>
              <a:prstClr val="black"/>
              <a:schemeClr val="tx2">
                <a:tint val="45000"/>
                <a:satMod val="400000"/>
              </a:schemeClr>
            </a:duotone>
            <a:lum bright="-10000" contrast="40000"/>
            <a:extLst>
              <a:ext uri="{28A0092B-C50C-407E-A947-70E740481C1C}">
                <a14:useLocalDpi xmlns:a14="http://schemas.microsoft.com/office/drawing/2010/main"/>
              </a:ext>
            </a:extLst>
          </a:blip>
          <a:srcRect/>
          <a:stretch>
            <a:fillRect/>
          </a:stretch>
        </p:blipFill>
        <p:spPr bwMode="auto">
          <a:xfrm>
            <a:off x="1999625" y="5320095"/>
            <a:ext cx="1051914" cy="1328734"/>
          </a:xfrm>
          <a:prstGeom prst="rect">
            <a:avLst/>
          </a:prstGeom>
          <a:noFill/>
        </p:spPr>
      </p:pic>
      <p:sp>
        <p:nvSpPr>
          <p:cNvPr id="11" name="Rectangle 8"/>
          <p:cNvSpPr>
            <a:spLocks noChangeArrowheads="1"/>
          </p:cNvSpPr>
          <p:nvPr/>
        </p:nvSpPr>
        <p:spPr bwMode="auto">
          <a:xfrm>
            <a:off x="1908555" y="4962905"/>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Person</a:t>
            </a:r>
            <a:endParaRPr lang="en-US" sz="1800" dirty="0">
              <a:solidFill>
                <a:schemeClr val="accent2"/>
              </a:solidFill>
              <a:effectLst>
                <a:outerShdw blurRad="38100" dist="38100" dir="2700000" algn="tl">
                  <a:srgbClr val="000000">
                    <a:alpha val="43137"/>
                  </a:srgbClr>
                </a:outerShdw>
              </a:effectLst>
            </a:endParaRPr>
          </a:p>
        </p:txBody>
      </p:sp>
      <p:cxnSp>
        <p:nvCxnSpPr>
          <p:cNvPr id="13" name="Straight Arrow Connector 12"/>
          <p:cNvCxnSpPr>
            <a:stCxn id="10" idx="3"/>
            <a:endCxn id="5" idx="1"/>
          </p:cNvCxnSpPr>
          <p:nvPr/>
        </p:nvCxnSpPr>
        <p:spPr>
          <a:xfrm flipV="1">
            <a:off x="3051539" y="4689976"/>
            <a:ext cx="2226219" cy="1294486"/>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10" idx="3"/>
            <a:endCxn id="8" idx="1"/>
          </p:cNvCxnSpPr>
          <p:nvPr/>
        </p:nvCxnSpPr>
        <p:spPr>
          <a:xfrm>
            <a:off x="3051539" y="5984462"/>
            <a:ext cx="2305147" cy="1004037"/>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17" name="Rectangle 8"/>
          <p:cNvSpPr>
            <a:spLocks noChangeArrowheads="1"/>
          </p:cNvSpPr>
          <p:nvPr/>
        </p:nvSpPr>
        <p:spPr bwMode="auto">
          <a:xfrm>
            <a:off x="5167038" y="3754336"/>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
        <p:nvSpPr>
          <p:cNvPr id="18" name="Rectangle 8"/>
          <p:cNvSpPr>
            <a:spLocks noChangeArrowheads="1"/>
          </p:cNvSpPr>
          <p:nvPr/>
        </p:nvSpPr>
        <p:spPr bwMode="auto">
          <a:xfrm>
            <a:off x="5220203" y="6065621"/>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Tree>
    <p:custDataLst>
      <p:tags r:id="rId1"/>
    </p:custDataLst>
    <p:extLst>
      <p:ext uri="{BB962C8B-B14F-4D97-AF65-F5344CB8AC3E}">
        <p14:creationId xmlns:p14="http://schemas.microsoft.com/office/powerpoint/2010/main" val="2978967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1357290"/>
            <a:ext cx="6172200" cy="7488998"/>
          </a:xfrm>
        </p:spPr>
        <p:txBody>
          <a:bodyPr/>
          <a:lstStyle/>
          <a:p>
            <a:r>
              <a:rPr lang="en-US" dirty="0"/>
              <a:t>No change in the Person class</a:t>
            </a:r>
          </a:p>
          <a:p>
            <a:r>
              <a:rPr lang="en-US" dirty="0"/>
              <a:t>But modify the </a:t>
            </a:r>
            <a:r>
              <a:rPr lang="en-US" dirty="0" err="1"/>
              <a:t>btnRun_Click</a:t>
            </a:r>
            <a:r>
              <a:rPr lang="en-US" dirty="0"/>
              <a:t>()</a:t>
            </a:r>
          </a:p>
          <a:p>
            <a:r>
              <a:rPr lang="en-US" dirty="0"/>
              <a:t>Run the application and observe the output</a:t>
            </a:r>
          </a:p>
        </p:txBody>
      </p:sp>
      <p:sp>
        <p:nvSpPr>
          <p:cNvPr id="4" name="Title 1"/>
          <p:cNvSpPr txBox="1">
            <a:spLocks/>
          </p:cNvSpPr>
          <p:nvPr/>
        </p:nvSpPr>
        <p:spPr bwMode="auto">
          <a:xfrm>
            <a:off x="359543" y="746508"/>
            <a:ext cx="6424029" cy="476249"/>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50000"/>
              </a:spcBef>
              <a:spcAft>
                <a:spcPct val="0"/>
              </a:spcAft>
              <a:buClrTx/>
              <a:buSzTx/>
              <a:buFontTx/>
              <a:buNone/>
              <a:tabLst/>
              <a:defRPr/>
            </a:pPr>
            <a:r>
              <a:rPr kumimoji="0" lang="en-GB" sz="2800" b="1" i="0" u="none" strike="noStrike" kern="0" cap="none" spc="0" normalizeH="0" baseline="0" noProof="0" dirty="0">
                <a:ln>
                  <a:noFill/>
                </a:ln>
                <a:solidFill>
                  <a:srgbClr val="C00000"/>
                </a:solidFill>
                <a:effectLst/>
                <a:uLnTx/>
                <a:uFillTx/>
                <a:latin typeface="+mn-lt"/>
                <a:ea typeface="+mj-ea"/>
                <a:cs typeface="+mj-cs"/>
              </a:rPr>
              <a:t>C# code: To Create 2 Person objects</a:t>
            </a:r>
            <a:br>
              <a:rPr kumimoji="0" lang="en-GB" sz="2800" b="1" i="0" u="none" strike="noStrike" kern="0" cap="none" spc="0" normalizeH="0" baseline="0" noProof="0" dirty="0">
                <a:ln>
                  <a:noFill/>
                </a:ln>
                <a:solidFill>
                  <a:srgbClr val="C00000"/>
                </a:solidFill>
                <a:effectLst/>
                <a:uLnTx/>
                <a:uFillTx/>
                <a:latin typeface="+mn-lt"/>
                <a:ea typeface="+mj-ea"/>
                <a:cs typeface="+mj-cs"/>
              </a:rPr>
            </a:br>
            <a:endParaRPr kumimoji="0" lang="en-GB" sz="2800" b="1" i="0" u="none" strike="noStrike" kern="0" cap="none" spc="0" normalizeH="0" baseline="0" noProof="0" dirty="0">
              <a:ln>
                <a:noFill/>
              </a:ln>
              <a:solidFill>
                <a:srgbClr val="C00000"/>
              </a:solidFill>
              <a:effectLst/>
              <a:uLnTx/>
              <a:uFillTx/>
              <a:latin typeface="+mn-lt"/>
              <a:ea typeface="+mj-ea"/>
              <a:cs typeface="+mj-cs"/>
            </a:endParaRPr>
          </a:p>
        </p:txBody>
      </p:sp>
      <p:sp>
        <p:nvSpPr>
          <p:cNvPr id="2" name="Rectangle 1"/>
          <p:cNvSpPr/>
          <p:nvPr/>
        </p:nvSpPr>
        <p:spPr>
          <a:xfrm>
            <a:off x="467852" y="3360301"/>
            <a:ext cx="4816548" cy="4801314"/>
          </a:xfrm>
          <a:prstGeom prst="rect">
            <a:avLst/>
          </a:prstGeom>
          <a:solidFill>
            <a:schemeClr val="bg1"/>
          </a:solidFill>
        </p:spPr>
        <p:txBody>
          <a:bodyPr wrap="square">
            <a:spAutoFit/>
          </a:bodyPr>
          <a:lstStyle/>
          <a:p>
            <a:r>
              <a:rPr lang="en-SG" dirty="0"/>
              <a:t>private void </a:t>
            </a:r>
            <a:r>
              <a:rPr lang="en-SG" dirty="0" err="1"/>
              <a:t>btnRun_Click</a:t>
            </a:r>
            <a:r>
              <a:rPr lang="en-SG" dirty="0"/>
              <a:t>(object sender, </a:t>
            </a:r>
            <a:r>
              <a:rPr lang="en-SG" dirty="0" err="1"/>
              <a:t>EventArgs</a:t>
            </a:r>
            <a:r>
              <a:rPr lang="en-SG" dirty="0"/>
              <a:t> e)</a:t>
            </a:r>
          </a:p>
          <a:p>
            <a:r>
              <a:rPr lang="en-SG" dirty="0"/>
              <a:t>{</a:t>
            </a:r>
          </a:p>
          <a:p>
            <a:r>
              <a:rPr lang="en-SG" dirty="0"/>
              <a:t>   // create 2 Person Objects</a:t>
            </a:r>
          </a:p>
          <a:p>
            <a:r>
              <a:rPr lang="en-SG" dirty="0"/>
              <a:t>   </a:t>
            </a:r>
            <a:r>
              <a:rPr lang="en-SG" dirty="0">
                <a:solidFill>
                  <a:srgbClr val="FF0000"/>
                </a:solidFill>
              </a:rPr>
              <a:t>Person Tom = new Person();</a:t>
            </a:r>
          </a:p>
          <a:p>
            <a:r>
              <a:rPr lang="en-SG" dirty="0">
                <a:solidFill>
                  <a:srgbClr val="FF0000"/>
                </a:solidFill>
              </a:rPr>
              <a:t>   Person John = new Person();</a:t>
            </a:r>
          </a:p>
          <a:p>
            <a:r>
              <a:rPr lang="en-SG" dirty="0"/>
              <a:t>            </a:t>
            </a:r>
          </a:p>
          <a:p>
            <a:r>
              <a:rPr lang="en-GB" dirty="0"/>
              <a:t>// call update and display ()</a:t>
            </a:r>
            <a:endParaRPr lang="en-SG" dirty="0"/>
          </a:p>
          <a:p>
            <a:r>
              <a:rPr lang="en-SG" dirty="0" err="1"/>
              <a:t>Tom.Update</a:t>
            </a:r>
            <a:r>
              <a:rPr lang="en-SG" dirty="0"/>
              <a:t>(); </a:t>
            </a:r>
            <a:r>
              <a:rPr lang="en-SG" dirty="0" err="1"/>
              <a:t>Tom.Display</a:t>
            </a:r>
            <a:r>
              <a:rPr lang="en-SG" dirty="0"/>
              <a:t>(</a:t>
            </a:r>
            <a:r>
              <a:rPr lang="en-SG" dirty="0" err="1"/>
              <a:t>rtbDisplay</a:t>
            </a:r>
            <a:r>
              <a:rPr lang="en-SG" dirty="0"/>
              <a:t>); </a:t>
            </a:r>
          </a:p>
          <a:p>
            <a:endParaRPr lang="en-GB" dirty="0"/>
          </a:p>
          <a:p>
            <a:r>
              <a:rPr lang="en-GB" dirty="0"/>
              <a:t>// call update and display ()</a:t>
            </a:r>
            <a:endParaRPr lang="en-SG" dirty="0"/>
          </a:p>
          <a:p>
            <a:r>
              <a:rPr lang="en-SG" dirty="0"/>
              <a:t>John. Update(); </a:t>
            </a:r>
          </a:p>
          <a:p>
            <a:r>
              <a:rPr lang="en-SG" dirty="0"/>
              <a:t>John. Display(</a:t>
            </a:r>
            <a:r>
              <a:rPr lang="en-SG" dirty="0" err="1"/>
              <a:t>rtbDisplay</a:t>
            </a:r>
            <a:r>
              <a:rPr lang="en-SG" dirty="0"/>
              <a:t>); </a:t>
            </a:r>
          </a:p>
          <a:p>
            <a:endParaRPr lang="en-GB" dirty="0"/>
          </a:p>
          <a:p>
            <a:endParaRPr lang="en-SG" dirty="0"/>
          </a:p>
          <a:p>
            <a:r>
              <a:rPr lang="en-SG" dirty="0"/>
              <a:t>} // end of </a:t>
            </a:r>
            <a:r>
              <a:rPr lang="en-SG" dirty="0" err="1"/>
              <a:t>btnRun_Click</a:t>
            </a:r>
            <a:endParaRPr lang="en-SG" dirty="0"/>
          </a:p>
        </p:txBody>
      </p:sp>
      <p:grpSp>
        <p:nvGrpSpPr>
          <p:cNvPr id="11" name="Group 10"/>
          <p:cNvGrpSpPr/>
          <p:nvPr/>
        </p:nvGrpSpPr>
        <p:grpSpPr>
          <a:xfrm>
            <a:off x="5392875" y="3970632"/>
            <a:ext cx="1327403" cy="1502614"/>
            <a:chOff x="2860518" y="5429250"/>
            <a:chExt cx="2598711" cy="3014190"/>
          </a:xfrm>
          <a:effectLst>
            <a:outerShdw blurRad="50800" dist="38100" dir="2700000" algn="tl" rotWithShape="0">
              <a:prstClr val="black">
                <a:alpha val="40000"/>
              </a:prstClr>
            </a:outerShdw>
          </a:effectLst>
        </p:grpSpPr>
        <p:pic>
          <p:nvPicPr>
            <p:cNvPr id="12" name="Picture 3" descr="C:\temp\Temporary Internet Files\Content.IE5\V5TIPV2N\MCj04404820000[1].wm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00375" y="5429250"/>
              <a:ext cx="1787525" cy="2286000"/>
            </a:xfrm>
            <a:prstGeom prst="rect">
              <a:avLst/>
            </a:prstGeom>
            <a:noFill/>
            <a:ln w="9525">
              <a:noFill/>
              <a:miter lim="800000"/>
              <a:headEnd/>
              <a:tailEnd/>
            </a:ln>
          </p:spPr>
        </p:pic>
        <p:sp>
          <p:nvSpPr>
            <p:cNvPr id="13" name="Rectangle 9"/>
            <p:cNvSpPr>
              <a:spLocks noChangeArrowheads="1"/>
            </p:cNvSpPr>
            <p:nvPr/>
          </p:nvSpPr>
          <p:spPr bwMode="auto">
            <a:xfrm>
              <a:off x="2860518" y="7702573"/>
              <a:ext cx="2598711" cy="740867"/>
            </a:xfrm>
            <a:prstGeom prst="rect">
              <a:avLst/>
            </a:prstGeom>
            <a:noFill/>
            <a:ln w="9525">
              <a:noFill/>
              <a:miter lim="800000"/>
              <a:headEnd/>
              <a:tailEnd/>
            </a:ln>
          </p:spPr>
          <p:txBody>
            <a:bodyPr wrap="square">
              <a:spAutoFit/>
            </a:bodyPr>
            <a:lstStyle/>
            <a:p>
              <a:r>
                <a:rPr lang="en-GB" sz="1800" dirty="0">
                  <a:solidFill>
                    <a:srgbClr val="0000CC"/>
                  </a:solidFill>
                </a:rPr>
                <a:t>Tom</a:t>
              </a:r>
              <a:endParaRPr lang="en-US" sz="1800" dirty="0"/>
            </a:p>
          </p:txBody>
        </p:sp>
      </p:grpSp>
      <p:grpSp>
        <p:nvGrpSpPr>
          <p:cNvPr id="14" name="Group 13"/>
          <p:cNvGrpSpPr/>
          <p:nvPr/>
        </p:nvGrpSpPr>
        <p:grpSpPr>
          <a:xfrm>
            <a:off x="5490271" y="6282246"/>
            <a:ext cx="1230007" cy="1547223"/>
            <a:chOff x="4885545" y="5559243"/>
            <a:chExt cx="2184360" cy="2815384"/>
          </a:xfrm>
          <a:effectLst>
            <a:outerShdw blurRad="50800" dist="38100" dir="2700000" algn="tl" rotWithShape="0">
              <a:prstClr val="black">
                <a:alpha val="40000"/>
              </a:prstClr>
            </a:outerShdw>
          </a:effectLst>
        </p:grpSpPr>
        <p:pic>
          <p:nvPicPr>
            <p:cNvPr id="15" name="Picture 5" descr="C:\temp\Temporary Internet Files\Content.IE5\V5TIPV2N\MCj04404880000[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979614" y="5559243"/>
              <a:ext cx="1582826" cy="202601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6" name="Rectangle 10"/>
            <p:cNvSpPr>
              <a:spLocks noChangeArrowheads="1"/>
            </p:cNvSpPr>
            <p:nvPr/>
          </p:nvSpPr>
          <p:spPr bwMode="auto">
            <a:xfrm>
              <a:off x="4885545" y="7702577"/>
              <a:ext cx="2184360" cy="672050"/>
            </a:xfrm>
            <a:prstGeom prst="rect">
              <a:avLst/>
            </a:prstGeom>
            <a:noFill/>
            <a:ln w="9525">
              <a:noFill/>
              <a:miter lim="800000"/>
              <a:headEnd/>
              <a:tailEnd/>
            </a:ln>
          </p:spPr>
          <p:txBody>
            <a:bodyPr wrap="square">
              <a:spAutoFit/>
            </a:bodyPr>
            <a:lstStyle/>
            <a:p>
              <a:r>
                <a:rPr lang="en-GB" sz="1800" dirty="0">
                  <a:solidFill>
                    <a:srgbClr val="0000CC"/>
                  </a:solidFill>
                </a:rPr>
                <a:t>John</a:t>
              </a:r>
              <a:endParaRPr lang="en-US" sz="1800" dirty="0"/>
            </a:p>
          </p:txBody>
        </p:sp>
      </p:grpSp>
      <p:sp>
        <p:nvSpPr>
          <p:cNvPr id="17" name="Rectangle 8"/>
          <p:cNvSpPr>
            <a:spLocks noChangeArrowheads="1"/>
          </p:cNvSpPr>
          <p:nvPr/>
        </p:nvSpPr>
        <p:spPr bwMode="auto">
          <a:xfrm>
            <a:off x="5353593" y="3604793"/>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
        <p:nvSpPr>
          <p:cNvPr id="18" name="Rectangle 8"/>
          <p:cNvSpPr>
            <a:spLocks noChangeArrowheads="1"/>
          </p:cNvSpPr>
          <p:nvPr/>
        </p:nvSpPr>
        <p:spPr bwMode="auto">
          <a:xfrm>
            <a:off x="5406758" y="5916078"/>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Tree>
    <p:custDataLst>
      <p:tags r:id="rId1"/>
    </p:custDataLst>
    <p:extLst>
      <p:ext uri="{BB962C8B-B14F-4D97-AF65-F5344CB8AC3E}">
        <p14:creationId xmlns:p14="http://schemas.microsoft.com/office/powerpoint/2010/main" val="205932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1357290"/>
            <a:ext cx="6172200" cy="3554952"/>
          </a:xfrm>
        </p:spPr>
        <p:txBody>
          <a:bodyPr/>
          <a:lstStyle/>
          <a:p>
            <a:r>
              <a:rPr lang="en-US" dirty="0"/>
              <a:t>To test your understand:</a:t>
            </a:r>
          </a:p>
          <a:p>
            <a:pPr lvl="1"/>
            <a:r>
              <a:rPr lang="en-US" dirty="0"/>
              <a:t>See! What is being displayed at the rich text box?</a:t>
            </a:r>
          </a:p>
          <a:p>
            <a:pPr lvl="1"/>
            <a:r>
              <a:rPr lang="en-US" dirty="0"/>
              <a:t>Think! Explain the result.</a:t>
            </a:r>
          </a:p>
          <a:p>
            <a:pPr lvl="1"/>
            <a:r>
              <a:rPr lang="en-US" dirty="0"/>
              <a:t>We have created 2 objects but why are they displaying the SAME result? </a:t>
            </a:r>
          </a:p>
          <a:p>
            <a:pPr lvl="1"/>
            <a:r>
              <a:rPr lang="en-US" dirty="0"/>
              <a:t>How to solve the problem?</a:t>
            </a:r>
          </a:p>
          <a:p>
            <a:pPr lvl="1"/>
            <a:r>
              <a:rPr lang="en-US" dirty="0"/>
              <a:t>Hints: </a:t>
            </a:r>
          </a:p>
          <a:p>
            <a:pPr lvl="2"/>
            <a:r>
              <a:rPr lang="en-US" dirty="0"/>
              <a:t>You need to change the GUI and  create update2() method to read input from textboxes</a:t>
            </a:r>
          </a:p>
        </p:txBody>
      </p:sp>
      <p:sp>
        <p:nvSpPr>
          <p:cNvPr id="4" name="Title 1"/>
          <p:cNvSpPr txBox="1">
            <a:spLocks/>
          </p:cNvSpPr>
          <p:nvPr/>
        </p:nvSpPr>
        <p:spPr bwMode="auto">
          <a:xfrm>
            <a:off x="359543" y="746508"/>
            <a:ext cx="6424029" cy="476249"/>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50000"/>
              </a:spcBef>
              <a:spcAft>
                <a:spcPct val="0"/>
              </a:spcAft>
              <a:buClrTx/>
              <a:buSzTx/>
              <a:buFontTx/>
              <a:buNone/>
              <a:tabLst/>
              <a:defRPr/>
            </a:pPr>
            <a:r>
              <a:rPr kumimoji="0" lang="en-GB" sz="2800" b="1" i="0" u="none" strike="noStrike" kern="0" cap="none" spc="0" normalizeH="0" baseline="0" noProof="0" dirty="0">
                <a:ln>
                  <a:noFill/>
                </a:ln>
                <a:solidFill>
                  <a:srgbClr val="C00000"/>
                </a:solidFill>
                <a:effectLst/>
                <a:uLnTx/>
                <a:uFillTx/>
                <a:latin typeface="+mn-lt"/>
                <a:ea typeface="+mj-ea"/>
                <a:cs typeface="+mj-cs"/>
              </a:rPr>
              <a:t>C# code: To Create 2 Person objects</a:t>
            </a:r>
            <a:br>
              <a:rPr kumimoji="0" lang="en-GB" sz="2800" b="1" i="0" u="none" strike="noStrike" kern="0" cap="none" spc="0" normalizeH="0" baseline="0" noProof="0" dirty="0">
                <a:ln>
                  <a:noFill/>
                </a:ln>
                <a:solidFill>
                  <a:srgbClr val="C00000"/>
                </a:solidFill>
                <a:effectLst/>
                <a:uLnTx/>
                <a:uFillTx/>
                <a:latin typeface="+mn-lt"/>
                <a:ea typeface="+mj-ea"/>
                <a:cs typeface="+mj-cs"/>
              </a:rPr>
            </a:br>
            <a:endParaRPr kumimoji="0" lang="en-GB" sz="2800" b="1" i="0" u="none" strike="noStrike" kern="0" cap="none" spc="0" normalizeH="0" baseline="0" noProof="0" dirty="0">
              <a:ln>
                <a:noFill/>
              </a:ln>
              <a:solidFill>
                <a:srgbClr val="C00000"/>
              </a:solidFill>
              <a:effectLst/>
              <a:uLnTx/>
              <a:uFillTx/>
              <a:latin typeface="+mn-lt"/>
              <a:ea typeface="+mj-ea"/>
              <a:cs typeface="+mj-cs"/>
            </a:endParaRPr>
          </a:p>
        </p:txBody>
      </p:sp>
      <p:grpSp>
        <p:nvGrpSpPr>
          <p:cNvPr id="11" name="Group 10"/>
          <p:cNvGrpSpPr/>
          <p:nvPr/>
        </p:nvGrpSpPr>
        <p:grpSpPr>
          <a:xfrm>
            <a:off x="5392875" y="5076464"/>
            <a:ext cx="1327403" cy="1502614"/>
            <a:chOff x="2860518" y="5429250"/>
            <a:chExt cx="2598711" cy="3014190"/>
          </a:xfrm>
          <a:effectLst>
            <a:outerShdw blurRad="50800" dist="38100" dir="2700000" algn="tl" rotWithShape="0">
              <a:prstClr val="black">
                <a:alpha val="40000"/>
              </a:prstClr>
            </a:outerShdw>
          </a:effectLst>
        </p:grpSpPr>
        <p:pic>
          <p:nvPicPr>
            <p:cNvPr id="12" name="Picture 3" descr="C:\temp\Temporary Internet Files\Content.IE5\V5TIPV2N\MCj04404820000[1].wm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000375" y="5429250"/>
              <a:ext cx="1787525" cy="2286000"/>
            </a:xfrm>
            <a:prstGeom prst="rect">
              <a:avLst/>
            </a:prstGeom>
            <a:noFill/>
            <a:ln w="9525">
              <a:noFill/>
              <a:miter lim="800000"/>
              <a:headEnd/>
              <a:tailEnd/>
            </a:ln>
          </p:spPr>
        </p:pic>
        <p:sp>
          <p:nvSpPr>
            <p:cNvPr id="13" name="Rectangle 9"/>
            <p:cNvSpPr>
              <a:spLocks noChangeArrowheads="1"/>
            </p:cNvSpPr>
            <p:nvPr/>
          </p:nvSpPr>
          <p:spPr bwMode="auto">
            <a:xfrm>
              <a:off x="2860518" y="7702573"/>
              <a:ext cx="2598711" cy="740867"/>
            </a:xfrm>
            <a:prstGeom prst="rect">
              <a:avLst/>
            </a:prstGeom>
            <a:noFill/>
            <a:ln w="9525">
              <a:noFill/>
              <a:miter lim="800000"/>
              <a:headEnd/>
              <a:tailEnd/>
            </a:ln>
          </p:spPr>
          <p:txBody>
            <a:bodyPr wrap="square">
              <a:spAutoFit/>
            </a:bodyPr>
            <a:lstStyle/>
            <a:p>
              <a:r>
                <a:rPr lang="en-GB" sz="1800" dirty="0">
                  <a:solidFill>
                    <a:srgbClr val="0000CC"/>
                  </a:solidFill>
                </a:rPr>
                <a:t>Tom</a:t>
              </a:r>
              <a:endParaRPr lang="en-US" sz="1800" dirty="0"/>
            </a:p>
          </p:txBody>
        </p:sp>
      </p:grpSp>
      <p:grpSp>
        <p:nvGrpSpPr>
          <p:cNvPr id="14" name="Group 13"/>
          <p:cNvGrpSpPr/>
          <p:nvPr/>
        </p:nvGrpSpPr>
        <p:grpSpPr>
          <a:xfrm>
            <a:off x="5490271" y="7154152"/>
            <a:ext cx="1230007" cy="1547223"/>
            <a:chOff x="4885545" y="5559243"/>
            <a:chExt cx="2184360" cy="2815384"/>
          </a:xfrm>
          <a:effectLst>
            <a:outerShdw blurRad="50800" dist="38100" dir="2700000" algn="tl" rotWithShape="0">
              <a:prstClr val="black">
                <a:alpha val="40000"/>
              </a:prstClr>
            </a:outerShdw>
          </a:effectLst>
        </p:grpSpPr>
        <p:pic>
          <p:nvPicPr>
            <p:cNvPr id="15" name="Picture 5" descr="C:\temp\Temporary Internet Files\Content.IE5\V5TIPV2N\MCj04404880000[1].wmf"/>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979614" y="5559243"/>
              <a:ext cx="1582826" cy="202601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6" name="Rectangle 10"/>
            <p:cNvSpPr>
              <a:spLocks noChangeArrowheads="1"/>
            </p:cNvSpPr>
            <p:nvPr/>
          </p:nvSpPr>
          <p:spPr bwMode="auto">
            <a:xfrm>
              <a:off x="4885545" y="7702577"/>
              <a:ext cx="2184360" cy="672050"/>
            </a:xfrm>
            <a:prstGeom prst="rect">
              <a:avLst/>
            </a:prstGeom>
            <a:noFill/>
            <a:ln w="9525">
              <a:noFill/>
              <a:miter lim="800000"/>
              <a:headEnd/>
              <a:tailEnd/>
            </a:ln>
          </p:spPr>
          <p:txBody>
            <a:bodyPr wrap="square">
              <a:spAutoFit/>
            </a:bodyPr>
            <a:lstStyle/>
            <a:p>
              <a:r>
                <a:rPr lang="en-GB" sz="1800" dirty="0">
                  <a:solidFill>
                    <a:srgbClr val="0000CC"/>
                  </a:solidFill>
                </a:rPr>
                <a:t>John</a:t>
              </a:r>
              <a:endParaRPr lang="en-US" sz="1800" dirty="0"/>
            </a:p>
          </p:txBody>
        </p:sp>
      </p:grpSp>
      <p:sp>
        <p:nvSpPr>
          <p:cNvPr id="17" name="Rectangle 8"/>
          <p:cNvSpPr>
            <a:spLocks noChangeArrowheads="1"/>
          </p:cNvSpPr>
          <p:nvPr/>
        </p:nvSpPr>
        <p:spPr bwMode="auto">
          <a:xfrm>
            <a:off x="5353593" y="4710625"/>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
        <p:nvSpPr>
          <p:cNvPr id="18" name="Rectangle 8"/>
          <p:cNvSpPr>
            <a:spLocks noChangeArrowheads="1"/>
          </p:cNvSpPr>
          <p:nvPr/>
        </p:nvSpPr>
        <p:spPr bwMode="auto">
          <a:xfrm>
            <a:off x="5406758" y="6787984"/>
            <a:ext cx="1142984" cy="369332"/>
          </a:xfrm>
          <a:prstGeom prst="rect">
            <a:avLst/>
          </a:prstGeom>
          <a:noFill/>
          <a:ln w="9525">
            <a:noFill/>
            <a:miter lim="800000"/>
            <a:headEnd/>
            <a:tailEnd/>
          </a:ln>
        </p:spPr>
        <p:txBody>
          <a:bodyPr wrap="square">
            <a:spAutoFit/>
          </a:bodyPr>
          <a:lstStyle/>
          <a:p>
            <a:pPr algn="ctr"/>
            <a:r>
              <a:rPr lang="en-GB" sz="1800" dirty="0">
                <a:solidFill>
                  <a:schemeClr val="accent2"/>
                </a:solidFill>
                <a:effectLst>
                  <a:outerShdw blurRad="38100" dist="38100" dir="2700000" algn="tl">
                    <a:srgbClr val="000000">
                      <a:alpha val="43137"/>
                    </a:srgbClr>
                  </a:outerShdw>
                </a:effectLst>
              </a:rPr>
              <a:t>Object</a:t>
            </a:r>
            <a:endParaRPr lang="en-US" sz="1800" dirty="0">
              <a:solidFill>
                <a:schemeClr val="accent2"/>
              </a:solidFill>
              <a:effectLst>
                <a:outerShdw blurRad="38100" dist="38100" dir="2700000" algn="tl">
                  <a:srgbClr val="000000">
                    <a:alpha val="43137"/>
                  </a:srgbClr>
                </a:outerShdw>
              </a:effectLst>
            </a:endParaRPr>
          </a:p>
        </p:txBody>
      </p:sp>
      <p:sp>
        <p:nvSpPr>
          <p:cNvPr id="5" name="Rectangle 4"/>
          <p:cNvSpPr/>
          <p:nvPr/>
        </p:nvSpPr>
        <p:spPr>
          <a:xfrm>
            <a:off x="491754" y="5246928"/>
            <a:ext cx="4744879" cy="2308324"/>
          </a:xfrm>
          <a:prstGeom prst="rect">
            <a:avLst/>
          </a:prstGeom>
          <a:ln>
            <a:solidFill>
              <a:schemeClr val="tx1"/>
            </a:solidFill>
          </a:ln>
        </p:spPr>
        <p:txBody>
          <a:bodyPr wrap="square">
            <a:spAutoFit/>
          </a:bodyPr>
          <a:lstStyle/>
          <a:p>
            <a:r>
              <a:rPr lang="en-SG" dirty="0"/>
              <a:t>public void Update2(</a:t>
            </a:r>
            <a:r>
              <a:rPr lang="en-SG" dirty="0" err="1"/>
              <a:t>TextBox</a:t>
            </a:r>
            <a:r>
              <a:rPr lang="en-SG" dirty="0"/>
              <a:t> </a:t>
            </a:r>
            <a:r>
              <a:rPr lang="en-SG" dirty="0" err="1"/>
              <a:t>myname</a:t>
            </a:r>
            <a:r>
              <a:rPr lang="en-SG" dirty="0"/>
              <a:t>, </a:t>
            </a:r>
            <a:r>
              <a:rPr lang="en-SG" dirty="0" err="1"/>
              <a:t>TextBox</a:t>
            </a:r>
            <a:r>
              <a:rPr lang="en-SG" dirty="0"/>
              <a:t> </a:t>
            </a:r>
            <a:r>
              <a:rPr lang="en-SG" dirty="0" err="1"/>
              <a:t>mygender</a:t>
            </a:r>
            <a:r>
              <a:rPr lang="en-SG" dirty="0"/>
              <a:t>, </a:t>
            </a:r>
            <a:r>
              <a:rPr lang="en-SG" dirty="0" err="1"/>
              <a:t>TextBox</a:t>
            </a:r>
            <a:r>
              <a:rPr lang="en-SG" dirty="0"/>
              <a:t> </a:t>
            </a:r>
            <a:r>
              <a:rPr lang="en-SG" dirty="0" err="1"/>
              <a:t>myhair</a:t>
            </a:r>
            <a:r>
              <a:rPr lang="en-SG" dirty="0"/>
              <a:t>)</a:t>
            </a:r>
          </a:p>
          <a:p>
            <a:r>
              <a:rPr lang="en-SG" dirty="0"/>
              <a:t> {</a:t>
            </a:r>
          </a:p>
          <a:p>
            <a:r>
              <a:rPr lang="en-SG" dirty="0"/>
              <a:t>    // update private data</a:t>
            </a:r>
          </a:p>
          <a:p>
            <a:r>
              <a:rPr lang="en-SG" dirty="0"/>
              <a:t>   name = </a:t>
            </a:r>
            <a:r>
              <a:rPr lang="en-SG" dirty="0" err="1"/>
              <a:t>myname.Text</a:t>
            </a:r>
            <a:r>
              <a:rPr lang="en-SG" dirty="0"/>
              <a:t>;</a:t>
            </a:r>
          </a:p>
          <a:p>
            <a:r>
              <a:rPr lang="en-SG" dirty="0"/>
              <a:t>   gender = </a:t>
            </a:r>
            <a:r>
              <a:rPr lang="en-SG" dirty="0" err="1"/>
              <a:t>char.Parse</a:t>
            </a:r>
            <a:r>
              <a:rPr lang="en-SG" dirty="0"/>
              <a:t>(</a:t>
            </a:r>
            <a:r>
              <a:rPr lang="en-SG" dirty="0" err="1"/>
              <a:t>mygender.Text</a:t>
            </a:r>
            <a:r>
              <a:rPr lang="en-SG" dirty="0"/>
              <a:t>);</a:t>
            </a:r>
          </a:p>
          <a:p>
            <a:r>
              <a:rPr lang="en-SG" dirty="0"/>
              <a:t>   </a:t>
            </a:r>
            <a:r>
              <a:rPr lang="en-SG" dirty="0" err="1"/>
              <a:t>haircolor</a:t>
            </a:r>
            <a:r>
              <a:rPr lang="en-SG" dirty="0"/>
              <a:t> = </a:t>
            </a:r>
            <a:r>
              <a:rPr lang="en-SG" dirty="0" err="1"/>
              <a:t>myhair.Text</a:t>
            </a:r>
            <a:r>
              <a:rPr lang="en-SG" dirty="0"/>
              <a:t>;</a:t>
            </a:r>
          </a:p>
          <a:p>
            <a:r>
              <a:rPr lang="en-SG" dirty="0"/>
              <a:t> }</a:t>
            </a:r>
          </a:p>
        </p:txBody>
      </p:sp>
    </p:spTree>
    <p:custDataLst>
      <p:tags r:id="rId1"/>
    </p:custDataLst>
    <p:extLst>
      <p:ext uri="{BB962C8B-B14F-4D97-AF65-F5344CB8AC3E}">
        <p14:creationId xmlns:p14="http://schemas.microsoft.com/office/powerpoint/2010/main" val="316971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bwMode="auto">
          <a:xfrm>
            <a:off x="447345" y="646706"/>
            <a:ext cx="5678487" cy="5969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dirty="0">
                <a:solidFill>
                  <a:srgbClr val="C00000"/>
                </a:solidFill>
                <a:latin typeface="+mn-lt"/>
              </a:rPr>
              <a:t>How to get started ?</a:t>
            </a:r>
            <a:endParaRPr lang="en-GB" dirty="0">
              <a:solidFill>
                <a:srgbClr val="C00000"/>
              </a:solidFill>
              <a:latin typeface="+mn-lt"/>
            </a:endParaRPr>
          </a:p>
        </p:txBody>
      </p:sp>
      <p:sp>
        <p:nvSpPr>
          <p:cNvPr id="454661" name="Text Box 5"/>
          <p:cNvSpPr txBox="1">
            <a:spLocks noChangeArrowheads="1"/>
          </p:cNvSpPr>
          <p:nvPr/>
        </p:nvSpPr>
        <p:spPr bwMode="auto">
          <a:xfrm>
            <a:off x="447345" y="1373272"/>
            <a:ext cx="6146800" cy="6883400"/>
          </a:xfrm>
          <a:prstGeom prst="rect">
            <a:avLst/>
          </a:prstGeom>
          <a:noFill/>
          <a:ln w="12700">
            <a:noFill/>
            <a:miter lim="800000"/>
            <a:headEnd type="none" w="sm" len="sm"/>
            <a:tailEnd type="none" w="sm" len="sm"/>
          </a:ln>
          <a:effectLst/>
        </p:spPr>
        <p:txBody>
          <a:bodyPr>
            <a:spAutoFit/>
          </a:bodyPr>
          <a:lstStyle/>
          <a:p>
            <a:pPr marL="457200" indent="-457200">
              <a:spcBef>
                <a:spcPct val="50000"/>
              </a:spcBef>
              <a:buClr>
                <a:srgbClr val="CC00CC"/>
              </a:buClr>
              <a:buFont typeface="Wingdings" pitchFamily="2" charset="2"/>
              <a:buChar char="J"/>
              <a:defRPr/>
            </a:pPr>
            <a:r>
              <a:rPr lang="en-US" sz="1800" dirty="0">
                <a:solidFill>
                  <a:schemeClr val="hlink"/>
                </a:solidFill>
              </a:rPr>
              <a:t>1</a:t>
            </a:r>
            <a:r>
              <a:rPr lang="en-US" sz="1800" baseline="30000" dirty="0">
                <a:solidFill>
                  <a:schemeClr val="hlink"/>
                </a:solidFill>
              </a:rPr>
              <a:t>st</a:t>
            </a:r>
            <a:r>
              <a:rPr lang="en-US" sz="1800" dirty="0">
                <a:solidFill>
                  <a:schemeClr val="hlink"/>
                </a:solidFill>
              </a:rPr>
              <a:t> Step - identify the </a:t>
            </a:r>
            <a:r>
              <a:rPr lang="en-US" sz="1800" dirty="0">
                <a:solidFill>
                  <a:schemeClr val="accent5">
                    <a:lumMod val="50000"/>
                  </a:schemeClr>
                </a:solidFill>
              </a:rPr>
              <a:t>OBJECT</a:t>
            </a:r>
            <a:r>
              <a:rPr lang="en-US" sz="1800" dirty="0">
                <a:solidFill>
                  <a:schemeClr val="hlink"/>
                </a:solidFill>
              </a:rPr>
              <a:t> that is required.</a:t>
            </a:r>
          </a:p>
          <a:p>
            <a:pPr marL="457200" indent="-457200">
              <a:spcBef>
                <a:spcPct val="50000"/>
              </a:spcBef>
              <a:buClr>
                <a:srgbClr val="CC00CC"/>
              </a:buClr>
              <a:buFont typeface="Wingdings" pitchFamily="2" charset="2"/>
              <a:buNone/>
              <a:defRPr/>
            </a:pPr>
            <a:r>
              <a:rPr lang="en-US" sz="1800" b="0" dirty="0"/>
              <a:t>Example: </a:t>
            </a:r>
          </a:p>
          <a:p>
            <a:pPr marL="457200" indent="-457200">
              <a:spcBef>
                <a:spcPct val="20000"/>
              </a:spcBef>
              <a:buClr>
                <a:srgbClr val="CC00CC"/>
              </a:buClr>
              <a:buFont typeface="Wingdings" pitchFamily="2" charset="2"/>
              <a:buNone/>
              <a:defRPr/>
            </a:pPr>
            <a:r>
              <a:rPr lang="en-US" sz="1800" b="0" dirty="0"/>
              <a:t>	</a:t>
            </a:r>
            <a:r>
              <a:rPr lang="en-US" sz="1800" b="0" i="1" dirty="0"/>
              <a:t>You wish to computerize a book rental store.  The main activities are purchase books, rent books out, and accept return books</a:t>
            </a:r>
            <a:r>
              <a:rPr lang="en-US" sz="1800" b="0" dirty="0"/>
              <a:t>.</a:t>
            </a:r>
          </a:p>
          <a:p>
            <a:pPr marL="457200" indent="-457200">
              <a:spcBef>
                <a:spcPct val="50000"/>
              </a:spcBef>
              <a:buClr>
                <a:srgbClr val="CC00CC"/>
              </a:buClr>
              <a:buFont typeface="Wingdings" pitchFamily="2" charset="2"/>
              <a:buChar char="J"/>
              <a:defRPr/>
            </a:pPr>
            <a:r>
              <a:rPr lang="en-US" sz="1800" dirty="0"/>
              <a:t>What Object are we interested in?</a:t>
            </a:r>
          </a:p>
          <a:p>
            <a:pPr marL="457200" indent="-457200">
              <a:spcBef>
                <a:spcPct val="50000"/>
              </a:spcBef>
              <a:buClr>
                <a:srgbClr val="CC00CC"/>
              </a:buClr>
              <a:buFont typeface="Wingdings" pitchFamily="2" charset="2"/>
              <a:buNone/>
              <a:defRPr/>
            </a:pPr>
            <a:endParaRPr lang="en-US" sz="1800" dirty="0"/>
          </a:p>
          <a:p>
            <a:pPr marL="457200" indent="-457200">
              <a:spcBef>
                <a:spcPct val="50000"/>
              </a:spcBef>
              <a:buClr>
                <a:srgbClr val="CC00CC"/>
              </a:buClr>
              <a:buFont typeface="Wingdings" pitchFamily="2" charset="2"/>
              <a:buChar char="J"/>
              <a:defRPr/>
            </a:pPr>
            <a:r>
              <a:rPr lang="en-US" sz="1800" dirty="0">
                <a:solidFill>
                  <a:schemeClr val="hlink"/>
                </a:solidFill>
              </a:rPr>
              <a:t>Next identify all the </a:t>
            </a:r>
            <a:r>
              <a:rPr lang="en-US" sz="1800" dirty="0">
                <a:solidFill>
                  <a:schemeClr val="accent5">
                    <a:lumMod val="50000"/>
                  </a:schemeClr>
                </a:solidFill>
              </a:rPr>
              <a:t>Data Members </a:t>
            </a:r>
            <a:r>
              <a:rPr lang="en-US" sz="1800" dirty="0">
                <a:solidFill>
                  <a:schemeClr val="hlink"/>
                </a:solidFill>
              </a:rPr>
              <a:t>(descriptors) and </a:t>
            </a:r>
            <a:r>
              <a:rPr lang="en-US" sz="1800" dirty="0">
                <a:solidFill>
                  <a:schemeClr val="accent5">
                    <a:lumMod val="50000"/>
                  </a:schemeClr>
                </a:solidFill>
              </a:rPr>
              <a:t>Method members </a:t>
            </a:r>
            <a:r>
              <a:rPr lang="en-US" sz="1800" dirty="0">
                <a:solidFill>
                  <a:schemeClr val="hlink"/>
                </a:solidFill>
              </a:rPr>
              <a:t>(actions or behavior)</a:t>
            </a:r>
          </a:p>
          <a:p>
            <a:pPr marL="457200" indent="-457200">
              <a:spcBef>
                <a:spcPct val="50000"/>
              </a:spcBef>
              <a:buClr>
                <a:srgbClr val="CC00CC"/>
              </a:buClr>
              <a:buFont typeface="Wingdings" pitchFamily="2" charset="2"/>
              <a:buChar char="J"/>
              <a:defRPr/>
            </a:pPr>
            <a:r>
              <a:rPr lang="en-US" sz="1800" dirty="0"/>
              <a:t>Data Members:</a:t>
            </a:r>
          </a:p>
          <a:p>
            <a:pPr marL="457200" indent="-457200">
              <a:spcBef>
                <a:spcPct val="50000"/>
              </a:spcBef>
              <a:buClr>
                <a:srgbClr val="CC00CC"/>
              </a:buClr>
              <a:buFont typeface="Wingdings" pitchFamily="2" charset="2"/>
              <a:buNone/>
              <a:defRPr/>
            </a:pPr>
            <a:endParaRPr lang="en-US" sz="1800" dirty="0"/>
          </a:p>
          <a:p>
            <a:pPr marL="457200" indent="-457200">
              <a:spcBef>
                <a:spcPct val="50000"/>
              </a:spcBef>
              <a:buClr>
                <a:srgbClr val="CC00CC"/>
              </a:buClr>
              <a:buFont typeface="Wingdings" pitchFamily="2" charset="2"/>
              <a:buChar char="J"/>
              <a:defRPr/>
            </a:pPr>
            <a:r>
              <a:rPr lang="en-US" sz="1800" dirty="0"/>
              <a:t>Method Members:</a:t>
            </a:r>
          </a:p>
          <a:p>
            <a:pPr marL="457200" indent="-457200">
              <a:spcBef>
                <a:spcPct val="50000"/>
              </a:spcBef>
              <a:buClr>
                <a:srgbClr val="CC00CC"/>
              </a:buClr>
              <a:buFont typeface="Wingdings" pitchFamily="2" charset="2"/>
              <a:buChar char="J"/>
              <a:defRPr/>
            </a:pPr>
            <a:endParaRPr lang="en-US" sz="1800" dirty="0"/>
          </a:p>
          <a:p>
            <a:pPr marL="457200" indent="-457200">
              <a:spcBef>
                <a:spcPct val="50000"/>
              </a:spcBef>
              <a:buClr>
                <a:srgbClr val="CC00CC"/>
              </a:buClr>
              <a:buFont typeface="Wingdings" pitchFamily="2" charset="2"/>
              <a:buChar char="J"/>
              <a:defRPr/>
            </a:pPr>
            <a:endParaRPr lang="en-US" sz="1800" dirty="0"/>
          </a:p>
          <a:p>
            <a:pPr marL="457200" indent="-457200">
              <a:spcBef>
                <a:spcPct val="50000"/>
              </a:spcBef>
              <a:buClr>
                <a:srgbClr val="CC00CC"/>
              </a:buClr>
              <a:buFont typeface="Wingdings" pitchFamily="2" charset="2"/>
              <a:buChar char="J"/>
              <a:defRPr/>
            </a:pPr>
            <a:r>
              <a:rPr lang="en-US" sz="1800" dirty="0">
                <a:solidFill>
                  <a:schemeClr val="hlink"/>
                </a:solidFill>
              </a:rPr>
              <a:t>2</a:t>
            </a:r>
            <a:r>
              <a:rPr lang="en-US" sz="1800" baseline="30000" dirty="0">
                <a:solidFill>
                  <a:schemeClr val="hlink"/>
                </a:solidFill>
              </a:rPr>
              <a:t>nd</a:t>
            </a:r>
            <a:r>
              <a:rPr lang="en-US" sz="1800" dirty="0">
                <a:solidFill>
                  <a:schemeClr val="hlink"/>
                </a:solidFill>
              </a:rPr>
              <a:t> Step</a:t>
            </a:r>
            <a:r>
              <a:rPr lang="en-US" sz="1800" dirty="0"/>
              <a:t> – Create the CLASS definition for the Object.  This is a template that is used to create the Real Object(s).</a:t>
            </a:r>
          </a:p>
          <a:p>
            <a:pPr marL="457200" indent="-457200">
              <a:spcBef>
                <a:spcPct val="50000"/>
              </a:spcBef>
              <a:buClr>
                <a:srgbClr val="CC00CC"/>
              </a:buClr>
              <a:buFont typeface="Wingdings" pitchFamily="2" charset="2"/>
              <a:buChar char="J"/>
              <a:defRPr/>
            </a:pPr>
            <a:r>
              <a:rPr lang="en-US" sz="1800" dirty="0">
                <a:solidFill>
                  <a:schemeClr val="hlink"/>
                </a:solidFill>
              </a:rPr>
              <a:t>3</a:t>
            </a:r>
            <a:r>
              <a:rPr lang="en-US" sz="1800" baseline="30000" dirty="0">
                <a:solidFill>
                  <a:schemeClr val="hlink"/>
                </a:solidFill>
              </a:rPr>
              <a:t>rd</a:t>
            </a:r>
            <a:r>
              <a:rPr lang="en-US" sz="1800" dirty="0">
                <a:solidFill>
                  <a:schemeClr val="hlink"/>
                </a:solidFill>
              </a:rPr>
              <a:t> Step</a:t>
            </a:r>
            <a:r>
              <a:rPr lang="en-US" sz="1800" dirty="0"/>
              <a:t> – Use the Class definition to create the Real Object(s).</a:t>
            </a:r>
            <a:endParaRPr lang="en-GB" sz="1800" dirty="0"/>
          </a:p>
        </p:txBody>
      </p:sp>
    </p:spTree>
    <p:custDataLst>
      <p:tags r:id="rId1"/>
    </p:custDataLst>
    <p:extLst>
      <p:ext uri="{BB962C8B-B14F-4D97-AF65-F5344CB8AC3E}">
        <p14:creationId xmlns:p14="http://schemas.microsoft.com/office/powerpoint/2010/main" val="1600414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bwMode="auto">
          <a:xfrm>
            <a:off x="588815" y="1606254"/>
            <a:ext cx="5734050" cy="7027383"/>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tx1"/>
              </a:buClr>
              <a:buFontTx/>
              <a:buAutoNum type="arabicPeriod"/>
            </a:pPr>
            <a:r>
              <a:rPr lang="en-GB" dirty="0"/>
              <a:t>You need to store the title, artist and price of some DVDs.</a:t>
            </a:r>
          </a:p>
          <a:p>
            <a:pPr marL="628650" lvl="1" indent="-57150" eaLnBrk="1" hangingPunct="1">
              <a:buClr>
                <a:schemeClr val="tx1"/>
              </a:buClr>
              <a:buFontTx/>
              <a:buAutoNum type="alphaLcParenR"/>
            </a:pPr>
            <a:r>
              <a:rPr lang="en-GB" sz="1800" dirty="0"/>
              <a:t>Decide what type of object is required.</a:t>
            </a:r>
          </a:p>
          <a:p>
            <a:pPr marL="628650" lvl="1" indent="-57150" eaLnBrk="1" hangingPunct="1">
              <a:buClr>
                <a:schemeClr val="tx1"/>
              </a:buClr>
              <a:buFontTx/>
              <a:buNone/>
            </a:pPr>
            <a:endParaRPr lang="en-GB" sz="1800" dirty="0"/>
          </a:p>
          <a:p>
            <a:pPr marL="628650" lvl="1" indent="-57150" eaLnBrk="1" hangingPunct="1">
              <a:buClr>
                <a:schemeClr val="tx1"/>
              </a:buClr>
              <a:buFontTx/>
              <a:buAutoNum type="alphaLcParenR" startAt="2"/>
            </a:pPr>
            <a:r>
              <a:rPr lang="en-GB" sz="1800" dirty="0"/>
              <a:t>Decide what data each object will store.</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r>
              <a:rPr lang="en-GB" sz="1800" dirty="0"/>
              <a:t>Complete the class definition</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None/>
            </a:pPr>
            <a:r>
              <a:rPr lang="en-GB" sz="1800" dirty="0">
                <a:latin typeface="Courier New" pitchFamily="49" charset="0"/>
              </a:rPr>
              <a:t>Class _____________</a:t>
            </a:r>
          </a:p>
          <a:p>
            <a:pPr marL="628650" lvl="1" indent="-57150" eaLnBrk="1" hangingPunct="1">
              <a:buClr>
                <a:schemeClr val="tx1"/>
              </a:buClr>
              <a:buFontTx/>
              <a:buNone/>
            </a:pPr>
            <a:r>
              <a:rPr lang="en-GB" sz="1800" dirty="0">
                <a:latin typeface="Courier New" pitchFamily="49" charset="0"/>
              </a:rPr>
              <a:t>{</a:t>
            </a:r>
          </a:p>
          <a:p>
            <a:pPr marL="628650" lvl="1" indent="-57150" eaLnBrk="1" hangingPunct="1">
              <a:buClr>
                <a:schemeClr val="tx1"/>
              </a:buClr>
              <a:buFontTx/>
              <a:buNone/>
            </a:pPr>
            <a:r>
              <a:rPr lang="en-GB" sz="1800" dirty="0">
                <a:latin typeface="Courier New" pitchFamily="49" charset="0"/>
              </a:rPr>
              <a:t>		string title;</a:t>
            </a:r>
          </a:p>
          <a:p>
            <a:pPr marL="628650" lvl="1" indent="-57150" eaLnBrk="1" hangingPunct="1">
              <a:buClr>
                <a:schemeClr val="tx1"/>
              </a:buClr>
              <a:buFontTx/>
              <a:buNone/>
            </a:pPr>
            <a:r>
              <a:rPr lang="en-GB" sz="1800" dirty="0">
                <a:latin typeface="Courier New" pitchFamily="49" charset="0"/>
              </a:rPr>
              <a:t>		string artist;</a:t>
            </a:r>
          </a:p>
          <a:p>
            <a:pPr marL="628650" lvl="1" indent="-57150" eaLnBrk="1" hangingPunct="1">
              <a:buClr>
                <a:schemeClr val="tx1"/>
              </a:buClr>
              <a:buFontTx/>
              <a:buNone/>
            </a:pPr>
            <a:r>
              <a:rPr lang="en-GB" sz="1800" dirty="0">
                <a:latin typeface="Courier New" pitchFamily="49" charset="0"/>
              </a:rPr>
              <a:t>		float price;</a:t>
            </a:r>
          </a:p>
          <a:p>
            <a:pPr marL="628650" lvl="1" indent="-57150" eaLnBrk="1" hangingPunct="1">
              <a:buClr>
                <a:schemeClr val="tx1"/>
              </a:buClr>
              <a:buFontTx/>
              <a:buNone/>
            </a:pPr>
            <a:r>
              <a:rPr lang="en-GB" sz="1800" dirty="0">
                <a:latin typeface="Courier New" pitchFamily="49" charset="0"/>
              </a:rPr>
              <a:t>}</a:t>
            </a:r>
          </a:p>
        </p:txBody>
      </p:sp>
      <p:sp>
        <p:nvSpPr>
          <p:cNvPr id="2" name="Rectangle 1"/>
          <p:cNvSpPr/>
          <p:nvPr/>
        </p:nvSpPr>
        <p:spPr>
          <a:xfrm>
            <a:off x="470491" y="431741"/>
            <a:ext cx="6217388" cy="830997"/>
          </a:xfrm>
          <a:prstGeom prst="rect">
            <a:avLst/>
          </a:prstGeom>
        </p:spPr>
        <p:txBody>
          <a:bodyPr wrap="square">
            <a:spAutoFit/>
          </a:bodyPr>
          <a:lstStyle/>
          <a:p>
            <a:pPr eaLnBrk="1" hangingPunct="1"/>
            <a:r>
              <a:rPr lang="en-GB" sz="2400" b="1" dirty="0"/>
              <a:t>Practical 4A- Part 1: </a:t>
            </a:r>
          </a:p>
          <a:p>
            <a:pPr eaLnBrk="1" hangingPunct="1"/>
            <a:r>
              <a:rPr lang="en-GB" sz="2400" b="1" dirty="0"/>
              <a:t>Classes with Data members</a:t>
            </a:r>
          </a:p>
        </p:txBody>
      </p:sp>
      <p:sp>
        <p:nvSpPr>
          <p:cNvPr id="4" name="5-Point Star 3"/>
          <p:cNvSpPr/>
          <p:nvPr/>
        </p:nvSpPr>
        <p:spPr>
          <a:xfrm>
            <a:off x="4944139" y="10633"/>
            <a:ext cx="1414131" cy="1424762"/>
          </a:xfrm>
          <a:prstGeom prst="star5">
            <a:avLst/>
          </a:prstGeom>
          <a:solidFill>
            <a:schemeClr val="accent3">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3069757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bwMode="auto">
          <a:xfrm>
            <a:off x="620713" y="1574391"/>
            <a:ext cx="5734050" cy="6240573"/>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tx1"/>
              </a:buClr>
              <a:buFontTx/>
              <a:buAutoNum type="arabicPeriod" startAt="2"/>
            </a:pPr>
            <a:r>
              <a:rPr lang="en-GB" dirty="0"/>
              <a:t>You need to store the name, age and height of some people.</a:t>
            </a:r>
          </a:p>
          <a:p>
            <a:pPr marL="628650" lvl="1" indent="-57150" eaLnBrk="1" hangingPunct="1">
              <a:buClr>
                <a:schemeClr val="tx1"/>
              </a:buClr>
              <a:buFontTx/>
              <a:buAutoNum type="alphaLcParenR"/>
            </a:pPr>
            <a:r>
              <a:rPr lang="en-GB" sz="1800" dirty="0"/>
              <a:t> Decide what type of object is required.</a:t>
            </a:r>
          </a:p>
          <a:p>
            <a:pPr marL="628650" lvl="1" indent="-57150" eaLnBrk="1" hangingPunct="1">
              <a:buClr>
                <a:schemeClr val="tx1"/>
              </a:buClr>
              <a:buFontTx/>
              <a:buNone/>
            </a:pPr>
            <a:endParaRPr lang="en-GB" sz="1800" dirty="0"/>
          </a:p>
          <a:p>
            <a:pPr marL="628650" lvl="1" indent="-57150" eaLnBrk="1" hangingPunct="1">
              <a:buClr>
                <a:schemeClr val="tx1"/>
              </a:buClr>
              <a:buFontTx/>
              <a:buAutoNum type="alphaLcParenR" startAt="2"/>
            </a:pPr>
            <a:r>
              <a:rPr lang="en-GB" sz="1800" dirty="0"/>
              <a:t> Decide what data each object will store.</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r>
              <a:rPr lang="en-GB" sz="1800" dirty="0"/>
              <a:t> Complete the class definition</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None/>
            </a:pPr>
            <a:r>
              <a:rPr lang="en-GB" sz="1800" dirty="0">
                <a:latin typeface="Courier New" pitchFamily="49" charset="0"/>
              </a:rPr>
              <a:t>class Person</a:t>
            </a:r>
          </a:p>
          <a:p>
            <a:pPr marL="628650" lvl="1" indent="-57150" eaLnBrk="1" hangingPunct="1">
              <a:buClr>
                <a:schemeClr val="tx1"/>
              </a:buClr>
              <a:buFontTx/>
              <a:buNone/>
            </a:pPr>
            <a:r>
              <a:rPr lang="en-GB" sz="1800" dirty="0">
                <a:latin typeface="Courier New" pitchFamily="49" charset="0"/>
              </a:rPr>
              <a:t>{</a:t>
            </a: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r>
              <a:rPr lang="en-GB" sz="1800" dirty="0">
                <a:latin typeface="Courier New" pitchFamily="49" charset="0"/>
              </a:rPr>
              <a:t>}</a:t>
            </a:r>
          </a:p>
        </p:txBody>
      </p:sp>
      <p:sp>
        <p:nvSpPr>
          <p:cNvPr id="3" name="Rectangle 2"/>
          <p:cNvSpPr/>
          <p:nvPr/>
        </p:nvSpPr>
        <p:spPr>
          <a:xfrm>
            <a:off x="470491" y="431741"/>
            <a:ext cx="6217388" cy="830997"/>
          </a:xfrm>
          <a:prstGeom prst="rect">
            <a:avLst/>
          </a:prstGeom>
        </p:spPr>
        <p:txBody>
          <a:bodyPr wrap="square">
            <a:spAutoFit/>
          </a:bodyPr>
          <a:lstStyle/>
          <a:p>
            <a:pPr eaLnBrk="1" hangingPunct="1"/>
            <a:r>
              <a:rPr lang="en-GB" sz="2400" b="1" dirty="0"/>
              <a:t>Practical 4A- Part 1: </a:t>
            </a:r>
          </a:p>
          <a:p>
            <a:pPr eaLnBrk="1" hangingPunct="1"/>
            <a:r>
              <a:rPr lang="en-GB" sz="2400" b="1" dirty="0"/>
              <a:t>Classes with Data members</a:t>
            </a:r>
          </a:p>
        </p:txBody>
      </p:sp>
    </p:spTree>
    <p:custDataLst>
      <p:tags r:id="rId1"/>
    </p:custDataLst>
    <p:extLst>
      <p:ext uri="{BB962C8B-B14F-4D97-AF65-F5344CB8AC3E}">
        <p14:creationId xmlns:p14="http://schemas.microsoft.com/office/powerpoint/2010/main" val="80739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620713" y="1510593"/>
            <a:ext cx="5734050" cy="6070452"/>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tx1"/>
              </a:buClr>
              <a:buFontTx/>
              <a:buAutoNum type="arabicPeriod" startAt="3"/>
            </a:pPr>
            <a:r>
              <a:rPr lang="en-GB" dirty="0"/>
              <a:t>You need to store the name, IC, and bank balance of customers.</a:t>
            </a:r>
          </a:p>
          <a:p>
            <a:pPr marL="628650" lvl="1" indent="-57150" eaLnBrk="1" hangingPunct="1">
              <a:buClr>
                <a:schemeClr val="tx1"/>
              </a:buClr>
              <a:buFontTx/>
              <a:buAutoNum type="alphaLcParenR"/>
            </a:pPr>
            <a:r>
              <a:rPr lang="en-GB" sz="1800" dirty="0"/>
              <a:t> Decide what type of object is required.</a:t>
            </a:r>
          </a:p>
          <a:p>
            <a:pPr marL="628650" lvl="1" indent="-57150" eaLnBrk="1" hangingPunct="1">
              <a:buClr>
                <a:schemeClr val="tx1"/>
              </a:buClr>
              <a:buFontTx/>
              <a:buNone/>
            </a:pPr>
            <a:endParaRPr lang="en-GB" sz="1800" dirty="0"/>
          </a:p>
          <a:p>
            <a:pPr marL="628650" lvl="1" indent="-57150" eaLnBrk="1" hangingPunct="1">
              <a:buClr>
                <a:schemeClr val="tx1"/>
              </a:buClr>
              <a:buFontTx/>
              <a:buAutoNum type="alphaLcParenR" startAt="2"/>
            </a:pPr>
            <a:r>
              <a:rPr lang="en-GB" sz="1800" dirty="0"/>
              <a:t> Decide what data each object will store.</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AutoNum type="alphaLcParenR" startAt="2"/>
            </a:pPr>
            <a:r>
              <a:rPr lang="en-GB" sz="1800" dirty="0"/>
              <a:t> Complete the class definition</a:t>
            </a:r>
          </a:p>
          <a:p>
            <a:pPr marL="628650" lvl="1" indent="-57150" eaLnBrk="1" hangingPunct="1">
              <a:buClr>
                <a:schemeClr val="tx1"/>
              </a:buClr>
              <a:buFontTx/>
              <a:buAutoNum type="alphaLcParenR" startAt="2"/>
            </a:pPr>
            <a:endParaRPr lang="en-GB" sz="1800" dirty="0"/>
          </a:p>
          <a:p>
            <a:pPr marL="628650" lvl="1" indent="-57150" eaLnBrk="1" hangingPunct="1">
              <a:buClr>
                <a:schemeClr val="tx1"/>
              </a:buClr>
              <a:buFontTx/>
              <a:buNone/>
            </a:pPr>
            <a:r>
              <a:rPr lang="en-GB" sz="1800" dirty="0">
                <a:latin typeface="Courier New" pitchFamily="49" charset="0"/>
              </a:rPr>
              <a:t>class Customer</a:t>
            </a:r>
          </a:p>
          <a:p>
            <a:pPr marL="628650" lvl="1" indent="-57150" eaLnBrk="1" hangingPunct="1">
              <a:buClr>
                <a:schemeClr val="tx1"/>
              </a:buClr>
              <a:buFontTx/>
              <a:buNone/>
            </a:pPr>
            <a:r>
              <a:rPr lang="en-GB" sz="1800" dirty="0">
                <a:latin typeface="Courier New" pitchFamily="49" charset="0"/>
              </a:rPr>
              <a:t>{</a:t>
            </a: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endParaRPr lang="en-GB" sz="1800" dirty="0">
              <a:latin typeface="Courier New" pitchFamily="49" charset="0"/>
            </a:endParaRPr>
          </a:p>
          <a:p>
            <a:pPr marL="628650" lvl="1" indent="-57150" eaLnBrk="1" hangingPunct="1">
              <a:buClr>
                <a:schemeClr val="tx1"/>
              </a:buClr>
              <a:buFontTx/>
              <a:buNone/>
            </a:pPr>
            <a:r>
              <a:rPr lang="en-GB" sz="1800" dirty="0">
                <a:latin typeface="Courier New" pitchFamily="49" charset="0"/>
              </a:rPr>
              <a:t>}</a:t>
            </a:r>
          </a:p>
        </p:txBody>
      </p:sp>
      <p:sp>
        <p:nvSpPr>
          <p:cNvPr id="3" name="Rectangle 2"/>
          <p:cNvSpPr/>
          <p:nvPr/>
        </p:nvSpPr>
        <p:spPr>
          <a:xfrm>
            <a:off x="470491" y="431741"/>
            <a:ext cx="6217388" cy="830997"/>
          </a:xfrm>
          <a:prstGeom prst="rect">
            <a:avLst/>
          </a:prstGeom>
        </p:spPr>
        <p:txBody>
          <a:bodyPr wrap="square">
            <a:spAutoFit/>
          </a:bodyPr>
          <a:lstStyle/>
          <a:p>
            <a:pPr eaLnBrk="1" hangingPunct="1"/>
            <a:r>
              <a:rPr lang="en-GB" sz="2400" b="1" dirty="0"/>
              <a:t>Practical 4A- Part 1: </a:t>
            </a:r>
          </a:p>
          <a:p>
            <a:pPr eaLnBrk="1" hangingPunct="1"/>
            <a:r>
              <a:rPr lang="en-GB" sz="2400" b="1" dirty="0"/>
              <a:t>Classes with Data members</a:t>
            </a:r>
          </a:p>
        </p:txBody>
      </p:sp>
    </p:spTree>
    <p:custDataLst>
      <p:tags r:id="rId1"/>
    </p:custDataLst>
    <p:extLst>
      <p:ext uri="{BB962C8B-B14F-4D97-AF65-F5344CB8AC3E}">
        <p14:creationId xmlns:p14="http://schemas.microsoft.com/office/powerpoint/2010/main" val="136148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bwMode="auto">
          <a:xfrm>
            <a:off x="476250" y="1263125"/>
            <a:ext cx="6094413" cy="7710487"/>
          </a:xfrm>
          <a:noFill/>
          <a:ln>
            <a:miter lim="800000"/>
            <a:headEnd/>
            <a:tailEnd/>
          </a:ln>
        </p:spPr>
        <p:txBody>
          <a:bodyPr vert="horz" wrap="square" lIns="92075" tIns="46038" rIns="92075" bIns="46038" numCol="1" anchor="t" anchorCtr="0" compatLnSpc="1">
            <a:prstTxWarp prst="textNoShape">
              <a:avLst/>
            </a:prstTxWarp>
          </a:bodyPr>
          <a:lstStyle/>
          <a:p>
            <a:pPr eaLnBrk="1" hangingPunct="1">
              <a:lnSpc>
                <a:spcPct val="100000"/>
              </a:lnSpc>
              <a:spcBef>
                <a:spcPct val="50000"/>
              </a:spcBef>
              <a:buFont typeface="Wingdings" pitchFamily="2" charset="2"/>
              <a:buChar char="Ø"/>
            </a:pPr>
            <a:r>
              <a:rPr lang="en-GB" dirty="0"/>
              <a:t>The definition of an object (i.e. the class)  can contain member methods.</a:t>
            </a:r>
          </a:p>
          <a:p>
            <a:pPr eaLnBrk="1" hangingPunct="1">
              <a:lnSpc>
                <a:spcPct val="100000"/>
              </a:lnSpc>
              <a:spcBef>
                <a:spcPct val="50000"/>
              </a:spcBef>
              <a:buFont typeface="Wingdings" pitchFamily="2" charset="2"/>
              <a:buChar char="Ø"/>
            </a:pPr>
            <a:r>
              <a:rPr lang="en-GB" dirty="0"/>
              <a:t>Member methods represent the </a:t>
            </a:r>
            <a:r>
              <a:rPr lang="en-GB" b="1" dirty="0">
                <a:solidFill>
                  <a:srgbClr val="FF0000"/>
                </a:solidFill>
              </a:rPr>
              <a:t>behaviour</a:t>
            </a:r>
            <a:r>
              <a:rPr lang="en-GB" dirty="0"/>
              <a:t> of the object or the </a:t>
            </a:r>
            <a:r>
              <a:rPr lang="en-GB" b="1" dirty="0">
                <a:solidFill>
                  <a:srgbClr val="FF0000"/>
                </a:solidFill>
              </a:rPr>
              <a:t>messages</a:t>
            </a:r>
            <a:r>
              <a:rPr lang="en-GB" dirty="0"/>
              <a:t> that can be passed to the object.</a:t>
            </a:r>
          </a:p>
          <a:p>
            <a:pPr eaLnBrk="1" hangingPunct="1">
              <a:lnSpc>
                <a:spcPct val="100000"/>
              </a:lnSpc>
              <a:spcBef>
                <a:spcPct val="50000"/>
              </a:spcBef>
              <a:buFont typeface="Wingdings" pitchFamily="2" charset="2"/>
              <a:buChar char="Ø"/>
            </a:pPr>
            <a:r>
              <a:rPr lang="en-GB" dirty="0"/>
              <a:t>Class methods are usually </a:t>
            </a:r>
            <a:r>
              <a:rPr lang="en-GB" b="1" dirty="0">
                <a:solidFill>
                  <a:schemeClr val="hlink"/>
                </a:solidFill>
              </a:rPr>
              <a:t>PUBLIC</a:t>
            </a:r>
            <a:r>
              <a:rPr lang="en-GB" dirty="0"/>
              <a:t> type.  This allows anyone to use them.</a:t>
            </a:r>
          </a:p>
          <a:p>
            <a:pPr eaLnBrk="1" hangingPunct="1">
              <a:lnSpc>
                <a:spcPct val="100000"/>
              </a:lnSpc>
              <a:spcBef>
                <a:spcPct val="50000"/>
              </a:spcBef>
              <a:buFont typeface="Wingdings" pitchFamily="2" charset="2"/>
              <a:buChar char="Ø"/>
            </a:pPr>
            <a:r>
              <a:rPr lang="en-GB" dirty="0"/>
              <a:t>Class data are usually </a:t>
            </a:r>
            <a:r>
              <a:rPr lang="en-GB" b="1" dirty="0">
                <a:solidFill>
                  <a:srgbClr val="FF0000"/>
                </a:solidFill>
              </a:rPr>
              <a:t>PRIVATE </a:t>
            </a:r>
            <a:r>
              <a:rPr lang="en-GB" dirty="0"/>
              <a:t>type. They are only accessible within CLASS</a:t>
            </a:r>
          </a:p>
          <a:p>
            <a:pPr eaLnBrk="1" hangingPunct="1">
              <a:lnSpc>
                <a:spcPct val="100000"/>
              </a:lnSpc>
              <a:spcBef>
                <a:spcPct val="50000"/>
              </a:spcBef>
              <a:buFont typeface="Wingdings" pitchFamily="2" charset="2"/>
              <a:buChar char="Ø"/>
            </a:pPr>
            <a:r>
              <a:rPr lang="en-GB" dirty="0"/>
              <a:t>We provide PUBLIC getter method to return the content of the private data </a:t>
            </a:r>
            <a:r>
              <a:rPr lang="en-GB" dirty="0" err="1"/>
              <a:t>e.g</a:t>
            </a:r>
            <a:r>
              <a:rPr lang="en-GB" dirty="0"/>
              <a:t> </a:t>
            </a:r>
          </a:p>
          <a:p>
            <a:pPr lvl="1" eaLnBrk="1" hangingPunct="1">
              <a:lnSpc>
                <a:spcPct val="100000"/>
              </a:lnSpc>
              <a:buFont typeface="Wingdings" pitchFamily="2" charset="2"/>
              <a:buChar char="Ø"/>
            </a:pPr>
            <a:r>
              <a:rPr lang="en-GB" b="1" i="1" dirty="0"/>
              <a:t>public </a:t>
            </a:r>
            <a:r>
              <a:rPr lang="en-GB" b="1" i="1" dirty="0" err="1"/>
              <a:t>int</a:t>
            </a:r>
            <a:r>
              <a:rPr lang="en-GB" b="1" i="1" dirty="0"/>
              <a:t> </a:t>
            </a:r>
            <a:r>
              <a:rPr lang="en-GB" b="1" i="1" dirty="0" err="1"/>
              <a:t>GetAge</a:t>
            </a:r>
            <a:r>
              <a:rPr lang="en-GB" b="1" i="1" dirty="0"/>
              <a:t>()</a:t>
            </a:r>
            <a:br>
              <a:rPr lang="en-GB" b="1" i="1" dirty="0"/>
            </a:br>
            <a:endParaRPr lang="en-GB" b="1" i="1" dirty="0"/>
          </a:p>
          <a:p>
            <a:pPr eaLnBrk="1" hangingPunct="1">
              <a:lnSpc>
                <a:spcPct val="100000"/>
              </a:lnSpc>
              <a:spcBef>
                <a:spcPct val="50000"/>
              </a:spcBef>
              <a:buFont typeface="Wingdings" pitchFamily="2" charset="2"/>
              <a:buChar char="Ø"/>
            </a:pPr>
            <a:r>
              <a:rPr lang="en-GB" dirty="0"/>
              <a:t>We provide PUBLIC setter method to set private data </a:t>
            </a:r>
            <a:r>
              <a:rPr lang="en-GB" dirty="0" err="1"/>
              <a:t>e.g</a:t>
            </a:r>
            <a:r>
              <a:rPr lang="en-GB" dirty="0"/>
              <a:t> </a:t>
            </a:r>
          </a:p>
          <a:p>
            <a:pPr lvl="1" eaLnBrk="1" hangingPunct="1">
              <a:lnSpc>
                <a:spcPct val="100000"/>
              </a:lnSpc>
              <a:buFont typeface="Wingdings" pitchFamily="2" charset="2"/>
              <a:buChar char="Ø"/>
            </a:pPr>
            <a:r>
              <a:rPr lang="en-GB" b="1" i="1" dirty="0"/>
              <a:t>public void </a:t>
            </a:r>
            <a:r>
              <a:rPr lang="en-GB" b="1" i="1" dirty="0" err="1"/>
              <a:t>SetAge</a:t>
            </a:r>
            <a:r>
              <a:rPr lang="en-GB" b="1" i="1" dirty="0"/>
              <a:t>(</a:t>
            </a:r>
            <a:r>
              <a:rPr lang="en-GB" b="1" i="1" dirty="0" err="1"/>
              <a:t>int</a:t>
            </a:r>
            <a:r>
              <a:rPr lang="en-GB" b="1" i="1" dirty="0"/>
              <a:t> x)</a:t>
            </a:r>
          </a:p>
          <a:p>
            <a:pPr eaLnBrk="1" hangingPunct="1">
              <a:lnSpc>
                <a:spcPct val="100000"/>
              </a:lnSpc>
              <a:spcBef>
                <a:spcPct val="50000"/>
              </a:spcBef>
              <a:buFont typeface="Wingdings" pitchFamily="2" charset="2"/>
              <a:buChar char="Ø"/>
            </a:pPr>
            <a:endParaRPr lang="en-GB" dirty="0"/>
          </a:p>
          <a:p>
            <a:pPr eaLnBrk="1" hangingPunct="1">
              <a:lnSpc>
                <a:spcPct val="100000"/>
              </a:lnSpc>
              <a:spcBef>
                <a:spcPct val="50000"/>
              </a:spcBef>
              <a:buFont typeface="Wingdings" pitchFamily="2" charset="2"/>
              <a:buChar char="Ø"/>
            </a:pPr>
            <a:endParaRPr lang="en-GB" dirty="0"/>
          </a:p>
          <a:p>
            <a:pPr eaLnBrk="1" hangingPunct="1">
              <a:lnSpc>
                <a:spcPct val="100000"/>
              </a:lnSpc>
              <a:spcBef>
                <a:spcPct val="0"/>
              </a:spcBef>
              <a:buClr>
                <a:schemeClr val="tx1"/>
              </a:buClr>
              <a:buFontTx/>
              <a:buNone/>
            </a:pPr>
            <a:endParaRPr lang="en-US" dirty="0"/>
          </a:p>
        </p:txBody>
      </p:sp>
      <p:sp>
        <p:nvSpPr>
          <p:cNvPr id="2" name="Rectangle 1"/>
          <p:cNvSpPr/>
          <p:nvPr/>
        </p:nvSpPr>
        <p:spPr>
          <a:xfrm>
            <a:off x="470491" y="718837"/>
            <a:ext cx="6249286" cy="523220"/>
          </a:xfrm>
          <a:prstGeom prst="rect">
            <a:avLst/>
          </a:prstGeom>
        </p:spPr>
        <p:txBody>
          <a:bodyPr wrap="square">
            <a:spAutoFit/>
          </a:bodyPr>
          <a:lstStyle/>
          <a:p>
            <a:r>
              <a:rPr lang="en-GB" sz="2800" b="1" dirty="0">
                <a:solidFill>
                  <a:schemeClr val="accent6">
                    <a:lumMod val="75000"/>
                  </a:schemeClr>
                </a:solidFill>
              </a:rPr>
              <a:t>Method Members in a Class</a:t>
            </a:r>
          </a:p>
        </p:txBody>
      </p:sp>
    </p:spTree>
    <p:custDataLst>
      <p:tags r:id="rId1"/>
    </p:custDataLst>
    <p:extLst>
      <p:ext uri="{BB962C8B-B14F-4D97-AF65-F5344CB8AC3E}">
        <p14:creationId xmlns:p14="http://schemas.microsoft.com/office/powerpoint/2010/main" val="270677568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9308" y="1285852"/>
            <a:ext cx="6172200" cy="7579852"/>
          </a:xfrm>
        </p:spPr>
        <p:txBody>
          <a:bodyPr/>
          <a:lstStyle/>
          <a:p>
            <a:pPr eaLnBrk="1" hangingPunct="1">
              <a:lnSpc>
                <a:spcPct val="100000"/>
              </a:lnSpc>
              <a:spcBef>
                <a:spcPct val="0"/>
              </a:spcBef>
              <a:buClr>
                <a:schemeClr val="tx1"/>
              </a:buClr>
              <a:buNone/>
            </a:pPr>
            <a:r>
              <a:rPr lang="en-GB" sz="2000" b="1" dirty="0">
                <a:solidFill>
                  <a:srgbClr val="0000CC"/>
                </a:solidFill>
              </a:rPr>
              <a:t>Way to access private data via Method members in class we need:</a:t>
            </a:r>
          </a:p>
          <a:p>
            <a:pPr marL="457200" indent="-457200" eaLnBrk="1" hangingPunct="1">
              <a:lnSpc>
                <a:spcPct val="100000"/>
              </a:lnSpc>
              <a:spcBef>
                <a:spcPct val="0"/>
              </a:spcBef>
              <a:buClr>
                <a:schemeClr val="tx1"/>
              </a:buClr>
              <a:buAutoNum type="arabicPeriod"/>
            </a:pPr>
            <a:r>
              <a:rPr lang="en-GB" sz="2000" b="1" dirty="0">
                <a:solidFill>
                  <a:schemeClr val="accent6">
                    <a:lumMod val="75000"/>
                  </a:schemeClr>
                </a:solidFill>
              </a:rPr>
              <a:t>Getter</a:t>
            </a:r>
            <a:r>
              <a:rPr lang="en-GB" sz="2000" b="1" dirty="0">
                <a:solidFill>
                  <a:srgbClr val="0000CC"/>
                </a:solidFill>
              </a:rPr>
              <a:t> and </a:t>
            </a:r>
            <a:r>
              <a:rPr lang="en-GB" sz="2000" b="1" dirty="0">
                <a:solidFill>
                  <a:schemeClr val="accent6">
                    <a:lumMod val="75000"/>
                  </a:schemeClr>
                </a:solidFill>
              </a:rPr>
              <a:t>Setter</a:t>
            </a:r>
            <a:r>
              <a:rPr lang="en-GB" sz="2000" b="1" dirty="0">
                <a:solidFill>
                  <a:srgbClr val="0000CC"/>
                </a:solidFill>
              </a:rPr>
              <a:t> methods . </a:t>
            </a:r>
          </a:p>
          <a:p>
            <a:pPr marL="0" indent="0" eaLnBrk="1" hangingPunct="1">
              <a:lnSpc>
                <a:spcPct val="100000"/>
              </a:lnSpc>
              <a:spcBef>
                <a:spcPct val="0"/>
              </a:spcBef>
              <a:buClr>
                <a:schemeClr val="tx1"/>
              </a:buClr>
              <a:buNone/>
            </a:pPr>
            <a:r>
              <a:rPr lang="en-GB" sz="2000" b="1" dirty="0">
                <a:solidFill>
                  <a:srgbClr val="0000CC"/>
                </a:solidFill>
              </a:rPr>
              <a:t>       </a:t>
            </a:r>
            <a:r>
              <a:rPr lang="en-GB" sz="2000" b="1" dirty="0"/>
              <a:t>It accesses the private data </a:t>
            </a:r>
          </a:p>
          <a:p>
            <a:pPr marL="0" indent="0" eaLnBrk="1" hangingPunct="1">
              <a:lnSpc>
                <a:spcPct val="100000"/>
              </a:lnSpc>
              <a:spcBef>
                <a:spcPct val="0"/>
              </a:spcBef>
              <a:buClr>
                <a:schemeClr val="tx1"/>
              </a:buClr>
              <a:buNone/>
            </a:pPr>
            <a:r>
              <a:rPr lang="en-GB" sz="2000" b="1" dirty="0"/>
              <a:t>       (without using  any window form elements)</a:t>
            </a:r>
          </a:p>
          <a:p>
            <a:pPr eaLnBrk="1" hangingPunct="1">
              <a:lnSpc>
                <a:spcPct val="100000"/>
              </a:lnSpc>
              <a:spcBef>
                <a:spcPct val="0"/>
              </a:spcBef>
              <a:buClr>
                <a:schemeClr val="tx1"/>
              </a:buClr>
              <a:buNone/>
            </a:pPr>
            <a:r>
              <a:rPr lang="en-GB" sz="2000" b="1" dirty="0">
                <a:solidFill>
                  <a:srgbClr val="008000"/>
                </a:solidFill>
              </a:rPr>
              <a:t>OR</a:t>
            </a:r>
            <a:endParaRPr lang="en-GB" sz="2000" b="1" dirty="0">
              <a:solidFill>
                <a:srgbClr val="0000CC"/>
              </a:solidFill>
            </a:endParaRPr>
          </a:p>
          <a:p>
            <a:pPr eaLnBrk="1" hangingPunct="1">
              <a:lnSpc>
                <a:spcPct val="100000"/>
              </a:lnSpc>
              <a:spcBef>
                <a:spcPct val="0"/>
              </a:spcBef>
              <a:buClr>
                <a:schemeClr val="tx1"/>
              </a:buClr>
              <a:buNone/>
            </a:pPr>
            <a:r>
              <a:rPr lang="en-GB" sz="2000" b="1" dirty="0"/>
              <a:t>2.     Update by reading user control (</a:t>
            </a:r>
            <a:r>
              <a:rPr lang="en-GB" sz="2000" b="1" dirty="0" err="1"/>
              <a:t>e.g</a:t>
            </a:r>
            <a:r>
              <a:rPr lang="en-GB" sz="2000" b="1" dirty="0"/>
              <a:t> textbox)</a:t>
            </a:r>
          </a:p>
          <a:p>
            <a:pPr eaLnBrk="1" hangingPunct="1">
              <a:lnSpc>
                <a:spcPct val="100000"/>
              </a:lnSpc>
              <a:spcBef>
                <a:spcPct val="0"/>
              </a:spcBef>
              <a:buClr>
                <a:schemeClr val="tx1"/>
              </a:buClr>
              <a:buNone/>
            </a:pPr>
            <a:endParaRPr lang="en-GB" b="1" dirty="0"/>
          </a:p>
          <a:p>
            <a:pPr eaLnBrk="1" hangingPunct="1">
              <a:lnSpc>
                <a:spcPct val="100000"/>
              </a:lnSpc>
              <a:spcBef>
                <a:spcPct val="0"/>
              </a:spcBef>
              <a:buClr>
                <a:schemeClr val="tx1"/>
              </a:buClr>
              <a:buFontTx/>
              <a:buNone/>
            </a:pPr>
            <a:r>
              <a:rPr lang="en-US" sz="1800" b="1" dirty="0">
                <a:latin typeface="Verdana" pitchFamily="34" charset="0"/>
              </a:rPr>
              <a:t>class Person</a:t>
            </a:r>
            <a:endParaRPr lang="en-GB" sz="1800" b="1" dirty="0">
              <a:latin typeface="Verdana" pitchFamily="34" charset="0"/>
            </a:endParaRPr>
          </a:p>
          <a:p>
            <a:pPr eaLnBrk="1" hangingPunct="1">
              <a:lnSpc>
                <a:spcPct val="100000"/>
              </a:lnSpc>
              <a:spcBef>
                <a:spcPct val="0"/>
              </a:spcBef>
              <a:buNone/>
            </a:pPr>
            <a:r>
              <a:rPr lang="en-US" sz="1800" b="1" dirty="0">
                <a:latin typeface="Verdana" pitchFamily="34" charset="0"/>
              </a:rPr>
              <a:t>{</a:t>
            </a:r>
          </a:p>
          <a:p>
            <a:pPr eaLnBrk="1" hangingPunct="1">
              <a:lnSpc>
                <a:spcPct val="100000"/>
              </a:lnSpc>
              <a:spcBef>
                <a:spcPct val="0"/>
              </a:spcBef>
              <a:buNone/>
            </a:pPr>
            <a:r>
              <a:rPr lang="en-US" sz="1800" b="1" dirty="0">
                <a:latin typeface="Verdana" pitchFamily="34" charset="0"/>
              </a:rPr>
              <a:t>  	</a:t>
            </a:r>
            <a:r>
              <a:rPr lang="en-US" sz="1800" b="1" dirty="0">
                <a:solidFill>
                  <a:srgbClr val="FF0000"/>
                </a:solidFill>
                <a:latin typeface="Verdana" pitchFamily="34" charset="0"/>
              </a:rPr>
              <a:t>private</a:t>
            </a:r>
            <a:r>
              <a:rPr lang="en-US" sz="1800" b="1" dirty="0">
                <a:latin typeface="Verdana" pitchFamily="34" charset="0"/>
              </a:rPr>
              <a:t> </a:t>
            </a:r>
            <a:r>
              <a:rPr lang="en-US" sz="1800" b="1" dirty="0" err="1">
                <a:latin typeface="Verdana" pitchFamily="34" charset="0"/>
              </a:rPr>
              <a:t>int</a:t>
            </a:r>
            <a:r>
              <a:rPr lang="en-US" sz="1800" b="1" dirty="0">
                <a:latin typeface="Verdana" pitchFamily="34" charset="0"/>
              </a:rPr>
              <a:t> age;</a:t>
            </a:r>
            <a:endParaRPr lang="en-GB" sz="1800" b="1" dirty="0">
              <a:latin typeface="Verdana" pitchFamily="34" charset="0"/>
            </a:endParaRPr>
          </a:p>
          <a:p>
            <a:pPr eaLnBrk="1" hangingPunct="1">
              <a:lnSpc>
                <a:spcPct val="100000"/>
              </a:lnSpc>
              <a:spcBef>
                <a:spcPct val="0"/>
              </a:spcBef>
              <a:buNone/>
            </a:pPr>
            <a:endParaRPr lang="en-US" sz="1800" b="1" dirty="0">
              <a:latin typeface="Verdana" pitchFamily="34" charset="0"/>
            </a:endParaRPr>
          </a:p>
          <a:p>
            <a:pPr eaLnBrk="1" hangingPunct="1">
              <a:lnSpc>
                <a:spcPct val="100000"/>
              </a:lnSpc>
              <a:spcBef>
                <a:spcPct val="0"/>
              </a:spcBef>
              <a:buNone/>
            </a:pPr>
            <a:r>
              <a:rPr lang="en-US" sz="1800" b="1" dirty="0">
                <a:latin typeface="Verdana" pitchFamily="34" charset="0"/>
              </a:rPr>
              <a:t>  	</a:t>
            </a:r>
            <a:r>
              <a:rPr lang="en-US" sz="1800" b="1" dirty="0">
                <a:solidFill>
                  <a:schemeClr val="hlink"/>
                </a:solidFill>
                <a:latin typeface="Verdana" pitchFamily="34" charset="0"/>
              </a:rPr>
              <a:t>public</a:t>
            </a:r>
            <a:r>
              <a:rPr lang="en-US" sz="1800" b="1" dirty="0">
                <a:latin typeface="Verdana" pitchFamily="34" charset="0"/>
              </a:rPr>
              <a:t> void </a:t>
            </a:r>
            <a:r>
              <a:rPr lang="en-GB" sz="1800" b="1" dirty="0" err="1">
                <a:latin typeface="Verdana" pitchFamily="34" charset="0"/>
              </a:rPr>
              <a:t>SetAge</a:t>
            </a:r>
            <a:r>
              <a:rPr lang="en-US" sz="1800" b="1" dirty="0">
                <a:latin typeface="Verdana" pitchFamily="34" charset="0"/>
              </a:rPr>
              <a:t>( </a:t>
            </a:r>
            <a:r>
              <a:rPr lang="en-US" sz="1800" b="1" dirty="0" err="1">
                <a:latin typeface="Verdana" pitchFamily="34" charset="0"/>
              </a:rPr>
              <a:t>int</a:t>
            </a:r>
            <a:r>
              <a:rPr lang="en-US" sz="1800" b="1" dirty="0">
                <a:latin typeface="Verdana" pitchFamily="34" charset="0"/>
              </a:rPr>
              <a:t> x</a:t>
            </a:r>
            <a:r>
              <a:rPr lang="en-GB" sz="1800" b="1" dirty="0">
                <a:latin typeface="Verdana" pitchFamily="34" charset="0"/>
              </a:rPr>
              <a:t> </a:t>
            </a:r>
            <a:r>
              <a:rPr lang="en-US" sz="1800" b="1" dirty="0">
                <a:latin typeface="Verdana" pitchFamily="34" charset="0"/>
              </a:rPr>
              <a:t>)</a:t>
            </a:r>
            <a:endParaRPr lang="en-GB" sz="1800" b="1" dirty="0">
              <a:latin typeface="Verdana" pitchFamily="34" charset="0"/>
            </a:endParaRPr>
          </a:p>
          <a:p>
            <a:pPr eaLnBrk="1" hangingPunct="1">
              <a:lnSpc>
                <a:spcPct val="100000"/>
              </a:lnSpc>
              <a:spcBef>
                <a:spcPct val="0"/>
              </a:spcBef>
              <a:buNone/>
            </a:pPr>
            <a:r>
              <a:rPr lang="en-GB" sz="1800" b="1" dirty="0">
                <a:latin typeface="Verdana" pitchFamily="34" charset="0"/>
              </a:rPr>
              <a:t> 	</a:t>
            </a:r>
            <a:r>
              <a:rPr lang="en-US" sz="1800" b="1" dirty="0">
                <a:latin typeface="Verdana" pitchFamily="34" charset="0"/>
              </a:rPr>
              <a:t>{</a:t>
            </a:r>
            <a:endParaRPr lang="en-GB" sz="1800" b="1" dirty="0">
              <a:latin typeface="Verdana" pitchFamily="34" charset="0"/>
            </a:endParaRPr>
          </a:p>
          <a:p>
            <a:pPr eaLnBrk="1" hangingPunct="1">
              <a:lnSpc>
                <a:spcPct val="100000"/>
              </a:lnSpc>
              <a:spcBef>
                <a:spcPct val="0"/>
              </a:spcBef>
              <a:buNone/>
            </a:pPr>
            <a:r>
              <a:rPr lang="en-GB" sz="1800" b="1" dirty="0">
                <a:latin typeface="Verdana" pitchFamily="34" charset="0"/>
              </a:rPr>
              <a:t> 		</a:t>
            </a:r>
            <a:r>
              <a:rPr lang="en-US" sz="1800" b="1" dirty="0">
                <a:latin typeface="Verdana" pitchFamily="34" charset="0"/>
              </a:rPr>
              <a:t>age = </a:t>
            </a:r>
            <a:r>
              <a:rPr lang="en-GB" sz="1800" b="1" dirty="0">
                <a:latin typeface="Verdana" pitchFamily="34" charset="0"/>
              </a:rPr>
              <a:t>x</a:t>
            </a:r>
            <a:r>
              <a:rPr lang="en-US" sz="1800" b="1" dirty="0">
                <a:latin typeface="Verdana" pitchFamily="34" charset="0"/>
              </a:rPr>
              <a:t>;  </a:t>
            </a:r>
            <a:r>
              <a:rPr lang="en-US" sz="1800" dirty="0">
                <a:latin typeface="Verdana" pitchFamily="34" charset="0"/>
              </a:rPr>
              <a:t>// modify the private data</a:t>
            </a:r>
            <a:endParaRPr lang="en-GB" sz="1800" dirty="0">
              <a:latin typeface="Verdana" pitchFamily="34" charset="0"/>
            </a:endParaRPr>
          </a:p>
          <a:p>
            <a:pPr eaLnBrk="1" hangingPunct="1">
              <a:lnSpc>
                <a:spcPct val="100000"/>
              </a:lnSpc>
              <a:spcBef>
                <a:spcPct val="0"/>
              </a:spcBef>
              <a:buNone/>
            </a:pPr>
            <a:r>
              <a:rPr lang="en-GB" sz="1800" b="1" dirty="0">
                <a:latin typeface="Verdana" pitchFamily="34" charset="0"/>
              </a:rPr>
              <a:t> </a:t>
            </a:r>
          </a:p>
          <a:p>
            <a:pPr eaLnBrk="1" hangingPunct="1">
              <a:lnSpc>
                <a:spcPct val="100000"/>
              </a:lnSpc>
              <a:spcBef>
                <a:spcPct val="0"/>
              </a:spcBef>
              <a:buNone/>
            </a:pPr>
            <a:r>
              <a:rPr lang="en-GB" sz="1800" b="1" dirty="0">
                <a:latin typeface="Verdana" pitchFamily="34" charset="0"/>
              </a:rPr>
              <a:t>	 </a:t>
            </a:r>
            <a:r>
              <a:rPr lang="en-US" sz="1800" b="1" dirty="0">
                <a:latin typeface="Verdana" pitchFamily="34" charset="0"/>
              </a:rPr>
              <a:t>}</a:t>
            </a:r>
            <a:endParaRPr lang="en-GB" sz="1800" b="1" dirty="0">
              <a:latin typeface="Verdana" pitchFamily="34" charset="0"/>
            </a:endParaRPr>
          </a:p>
          <a:p>
            <a:pPr eaLnBrk="1" hangingPunct="1">
              <a:lnSpc>
                <a:spcPct val="100000"/>
              </a:lnSpc>
              <a:spcBef>
                <a:spcPct val="0"/>
              </a:spcBef>
              <a:buNone/>
            </a:pPr>
            <a:endParaRPr lang="en-US" sz="1800" b="1" dirty="0">
              <a:latin typeface="Verdana" pitchFamily="34" charset="0"/>
            </a:endParaRPr>
          </a:p>
          <a:p>
            <a:pPr eaLnBrk="1" hangingPunct="1">
              <a:lnSpc>
                <a:spcPct val="100000"/>
              </a:lnSpc>
              <a:spcBef>
                <a:spcPct val="0"/>
              </a:spcBef>
              <a:buNone/>
            </a:pPr>
            <a:endParaRPr lang="en-US" sz="1800" b="1" dirty="0">
              <a:latin typeface="Verdana" pitchFamily="34" charset="0"/>
            </a:endParaRPr>
          </a:p>
          <a:p>
            <a:pPr eaLnBrk="1" hangingPunct="1">
              <a:lnSpc>
                <a:spcPct val="100000"/>
              </a:lnSpc>
              <a:spcBef>
                <a:spcPct val="0"/>
              </a:spcBef>
              <a:buNone/>
            </a:pPr>
            <a:r>
              <a:rPr lang="en-US" sz="1800" b="1" dirty="0">
                <a:latin typeface="Verdana" pitchFamily="34" charset="0"/>
              </a:rPr>
              <a:t>	</a:t>
            </a:r>
            <a:r>
              <a:rPr lang="en-US" sz="1800" b="1" dirty="0">
                <a:solidFill>
                  <a:schemeClr val="hlink"/>
                </a:solidFill>
                <a:latin typeface="Verdana" pitchFamily="34" charset="0"/>
              </a:rPr>
              <a:t>public</a:t>
            </a:r>
            <a:r>
              <a:rPr lang="en-US" sz="1800" b="1" dirty="0">
                <a:latin typeface="Verdana" pitchFamily="34" charset="0"/>
              </a:rPr>
              <a:t> </a:t>
            </a:r>
            <a:r>
              <a:rPr lang="en-US" sz="1800" b="1" dirty="0" err="1">
                <a:latin typeface="Verdana" pitchFamily="34" charset="0"/>
              </a:rPr>
              <a:t>int</a:t>
            </a:r>
            <a:r>
              <a:rPr lang="en-US" sz="1800" b="1" dirty="0">
                <a:latin typeface="Verdana" pitchFamily="34" charset="0"/>
              </a:rPr>
              <a:t>  Get</a:t>
            </a:r>
            <a:r>
              <a:rPr lang="en-GB" sz="1800" b="1" dirty="0">
                <a:latin typeface="Verdana" pitchFamily="34" charset="0"/>
              </a:rPr>
              <a:t>A</a:t>
            </a:r>
            <a:r>
              <a:rPr lang="en-US" sz="1800" b="1" dirty="0" err="1">
                <a:latin typeface="Verdana" pitchFamily="34" charset="0"/>
              </a:rPr>
              <a:t>ge</a:t>
            </a:r>
            <a:r>
              <a:rPr lang="en-US" sz="1800" b="1" dirty="0">
                <a:latin typeface="Verdana" pitchFamily="34" charset="0"/>
              </a:rPr>
              <a:t>( )</a:t>
            </a:r>
            <a:endParaRPr lang="en-GB" sz="1800" b="1" dirty="0">
              <a:latin typeface="Verdana" pitchFamily="34" charset="0"/>
            </a:endParaRPr>
          </a:p>
          <a:p>
            <a:pPr eaLnBrk="1" hangingPunct="1">
              <a:lnSpc>
                <a:spcPct val="100000"/>
              </a:lnSpc>
              <a:spcBef>
                <a:spcPct val="0"/>
              </a:spcBef>
              <a:buNone/>
            </a:pPr>
            <a:r>
              <a:rPr lang="en-US" sz="1800" b="1" dirty="0">
                <a:latin typeface="Verdana" pitchFamily="34" charset="0"/>
              </a:rPr>
              <a:t>	{</a:t>
            </a:r>
            <a:endParaRPr lang="en-GB" sz="1800" b="1" dirty="0">
              <a:latin typeface="Verdana" pitchFamily="34" charset="0"/>
            </a:endParaRPr>
          </a:p>
          <a:p>
            <a:pPr eaLnBrk="1" hangingPunct="1">
              <a:lnSpc>
                <a:spcPct val="100000"/>
              </a:lnSpc>
              <a:spcBef>
                <a:spcPct val="0"/>
              </a:spcBef>
              <a:buNone/>
            </a:pPr>
            <a:r>
              <a:rPr lang="en-GB" sz="1800" b="1" dirty="0">
                <a:latin typeface="Verdana" pitchFamily="34" charset="0"/>
              </a:rPr>
              <a:t> </a:t>
            </a:r>
            <a:r>
              <a:rPr lang="en-US" sz="1800" b="1" dirty="0">
                <a:latin typeface="Verdana" pitchFamily="34" charset="0"/>
              </a:rPr>
              <a:t> </a:t>
            </a:r>
            <a:r>
              <a:rPr lang="en-GB" sz="1800" b="1" dirty="0">
                <a:latin typeface="Verdana" pitchFamily="34" charset="0"/>
              </a:rPr>
              <a:t>  		</a:t>
            </a:r>
            <a:r>
              <a:rPr lang="en-US" sz="1800" b="1" dirty="0">
                <a:latin typeface="Verdana" pitchFamily="34" charset="0"/>
              </a:rPr>
              <a:t>return age;	</a:t>
            </a:r>
            <a:r>
              <a:rPr lang="en-US" sz="1800" dirty="0">
                <a:latin typeface="Verdana" pitchFamily="34" charset="0"/>
              </a:rPr>
              <a:t>// return private data</a:t>
            </a:r>
          </a:p>
          <a:p>
            <a:pPr eaLnBrk="1" hangingPunct="1">
              <a:lnSpc>
                <a:spcPct val="100000"/>
              </a:lnSpc>
              <a:spcBef>
                <a:spcPct val="0"/>
              </a:spcBef>
              <a:buNone/>
            </a:pPr>
            <a:endParaRPr lang="en-GB" sz="1800" dirty="0">
              <a:latin typeface="Verdana" pitchFamily="34" charset="0"/>
            </a:endParaRPr>
          </a:p>
          <a:p>
            <a:pPr eaLnBrk="1" hangingPunct="1">
              <a:lnSpc>
                <a:spcPct val="100000"/>
              </a:lnSpc>
              <a:spcBef>
                <a:spcPct val="0"/>
              </a:spcBef>
              <a:buNone/>
            </a:pPr>
            <a:r>
              <a:rPr lang="en-GB" sz="1800" b="1" dirty="0">
                <a:latin typeface="Verdana" pitchFamily="34" charset="0"/>
              </a:rPr>
              <a:t> </a:t>
            </a:r>
            <a:r>
              <a:rPr lang="en-US" sz="1800" b="1" dirty="0">
                <a:latin typeface="Verdana" pitchFamily="34" charset="0"/>
              </a:rPr>
              <a:t> 	}</a:t>
            </a:r>
          </a:p>
          <a:p>
            <a:pPr eaLnBrk="1" hangingPunct="1">
              <a:lnSpc>
                <a:spcPct val="100000"/>
              </a:lnSpc>
              <a:spcBef>
                <a:spcPct val="0"/>
              </a:spcBef>
              <a:buNone/>
            </a:pPr>
            <a:endParaRPr lang="en-US" sz="1800" b="1" dirty="0">
              <a:latin typeface="Verdana" pitchFamily="34" charset="0"/>
            </a:endParaRPr>
          </a:p>
          <a:p>
            <a:pPr eaLnBrk="1" hangingPunct="1">
              <a:lnSpc>
                <a:spcPct val="100000"/>
              </a:lnSpc>
              <a:spcBef>
                <a:spcPct val="0"/>
              </a:spcBef>
              <a:buNone/>
            </a:pPr>
            <a:r>
              <a:rPr lang="en-US" sz="1800" b="1" dirty="0">
                <a:latin typeface="Verdana" pitchFamily="34" charset="0"/>
              </a:rPr>
              <a:t>}</a:t>
            </a:r>
            <a:endParaRPr lang="en-GB" sz="1800" b="1" dirty="0">
              <a:latin typeface="Verdana" pitchFamily="34" charset="0"/>
            </a:endParaRPr>
          </a:p>
          <a:p>
            <a:endParaRPr lang="en-US" sz="1800" dirty="0"/>
          </a:p>
        </p:txBody>
      </p:sp>
      <p:sp>
        <p:nvSpPr>
          <p:cNvPr id="4" name="Cloud 3"/>
          <p:cNvSpPr/>
          <p:nvPr/>
        </p:nvSpPr>
        <p:spPr bwMode="auto">
          <a:xfrm>
            <a:off x="2719272" y="3647941"/>
            <a:ext cx="3848328" cy="1196347"/>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 age </a:t>
            </a:r>
            <a:r>
              <a:rPr lang="en-US" sz="1600" b="0" dirty="0">
                <a:latin typeface="Comic Sans MS" pitchFamily="66" charset="0"/>
              </a:rPr>
              <a:t>is </a:t>
            </a:r>
            <a:r>
              <a:rPr lang="en-US" sz="1600" dirty="0">
                <a:latin typeface="Comic Sans MS" pitchFamily="66" charset="0"/>
              </a:rPr>
              <a:t>private</a:t>
            </a:r>
            <a:r>
              <a:rPr lang="en-US" sz="1600" b="0" dirty="0">
                <a:latin typeface="Comic Sans MS" pitchFamily="66" charset="0"/>
              </a:rPr>
              <a:t> data. </a:t>
            </a:r>
          </a:p>
          <a:p>
            <a:pPr marL="0" marR="0" indent="0" algn="l" defTabSz="914400" rtl="0" eaLnBrk="1" fontAlgn="base" latinLnBrk="0" hangingPunct="1">
              <a:lnSpc>
                <a:spcPct val="100000"/>
              </a:lnSpc>
              <a:spcBef>
                <a:spcPct val="0"/>
              </a:spcBef>
              <a:spcAft>
                <a:spcPct val="0"/>
              </a:spcAft>
              <a:buClrTx/>
              <a:buSzTx/>
              <a:buFontTx/>
              <a:buNone/>
              <a:tabLst/>
            </a:pPr>
            <a:r>
              <a:rPr lang="en-US" sz="1600" b="0" dirty="0">
                <a:latin typeface="Comic Sans MS" pitchFamily="66" charset="0"/>
              </a:rPr>
              <a:t>It can only be accessed in Person class</a:t>
            </a:r>
            <a:endParaRPr kumimoji="0" lang="en-US" sz="1600" b="0" i="0" u="none" strike="noStrike" cap="none" normalizeH="0" baseline="0" dirty="0">
              <a:ln>
                <a:noFill/>
              </a:ln>
              <a:solidFill>
                <a:schemeClr val="tx1"/>
              </a:solidFill>
              <a:effectLst/>
              <a:latin typeface="Comic Sans MS" pitchFamily="66" charset="0"/>
            </a:endParaRPr>
          </a:p>
        </p:txBody>
      </p:sp>
      <p:sp>
        <p:nvSpPr>
          <p:cNvPr id="5" name="Cloud 4"/>
          <p:cNvSpPr/>
          <p:nvPr/>
        </p:nvSpPr>
        <p:spPr bwMode="auto">
          <a:xfrm>
            <a:off x="2860445" y="7729996"/>
            <a:ext cx="3432430" cy="1000132"/>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 age </a:t>
            </a:r>
            <a:r>
              <a:rPr lang="en-US" sz="1600" b="0" dirty="0">
                <a:latin typeface="Comic Sans MS" pitchFamily="66" charset="0"/>
              </a:rPr>
              <a:t>value can be return via  PUBLIC Getter method</a:t>
            </a:r>
            <a:endParaRPr kumimoji="0" lang="en-US" sz="1600" b="0" i="0" u="none" strike="noStrike" cap="none" normalizeH="0" baseline="0" dirty="0">
              <a:ln>
                <a:noFill/>
              </a:ln>
              <a:solidFill>
                <a:schemeClr val="tx1"/>
              </a:solidFill>
              <a:effectLst/>
              <a:latin typeface="Comic Sans MS" pitchFamily="66" charset="0"/>
            </a:endParaRPr>
          </a:p>
        </p:txBody>
      </p:sp>
      <p:sp>
        <p:nvSpPr>
          <p:cNvPr id="6" name="Cloud 5"/>
          <p:cNvSpPr/>
          <p:nvPr/>
        </p:nvSpPr>
        <p:spPr bwMode="auto">
          <a:xfrm>
            <a:off x="2719272" y="5829190"/>
            <a:ext cx="3714776" cy="976868"/>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 age </a:t>
            </a:r>
            <a:r>
              <a:rPr lang="en-US" sz="1600" b="0" dirty="0">
                <a:latin typeface="Comic Sans MS" pitchFamily="66" charset="0"/>
              </a:rPr>
              <a:t>value can be set to value x in the PUBLIC Setter method</a:t>
            </a:r>
            <a:endParaRPr kumimoji="0" lang="en-US" sz="1600" b="0" i="0" u="none" strike="noStrike" cap="none" normalizeH="0" baseline="0" dirty="0">
              <a:ln>
                <a:noFill/>
              </a:ln>
              <a:solidFill>
                <a:schemeClr val="tx1"/>
              </a:solidFill>
              <a:effectLst/>
              <a:latin typeface="Comic Sans MS" pitchFamily="66" charset="0"/>
            </a:endParaRPr>
          </a:p>
        </p:txBody>
      </p:sp>
      <p:sp>
        <p:nvSpPr>
          <p:cNvPr id="7" name="Rectangle 6"/>
          <p:cNvSpPr/>
          <p:nvPr/>
        </p:nvSpPr>
        <p:spPr>
          <a:xfrm>
            <a:off x="470491" y="241783"/>
            <a:ext cx="6249286" cy="954107"/>
          </a:xfrm>
          <a:prstGeom prst="rect">
            <a:avLst/>
          </a:prstGeom>
        </p:spPr>
        <p:txBody>
          <a:bodyPr wrap="square">
            <a:spAutoFit/>
          </a:bodyPr>
          <a:lstStyle/>
          <a:p>
            <a:r>
              <a:rPr lang="en-GB" sz="2800" b="1" dirty="0">
                <a:solidFill>
                  <a:schemeClr val="accent6">
                    <a:lumMod val="75000"/>
                  </a:schemeClr>
                </a:solidFill>
              </a:rPr>
              <a:t>Differential Learning:</a:t>
            </a:r>
          </a:p>
          <a:p>
            <a:r>
              <a:rPr lang="en-GB" sz="2800" b="1" dirty="0">
                <a:solidFill>
                  <a:schemeClr val="accent6">
                    <a:lumMod val="75000"/>
                  </a:schemeClr>
                </a:solidFill>
              </a:rPr>
              <a:t>Method Members in a Class</a:t>
            </a:r>
          </a:p>
        </p:txBody>
      </p:sp>
    </p:spTree>
    <p:custDataLst>
      <p:tags r:id="rId1"/>
    </p:custDataLst>
    <p:extLst>
      <p:ext uri="{BB962C8B-B14F-4D97-AF65-F5344CB8AC3E}">
        <p14:creationId xmlns:p14="http://schemas.microsoft.com/office/powerpoint/2010/main" val="161651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 calcmode="lin" valueType="num">
                                      <p:cBhvr additive="base">
                                        <p:cTn id="1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bg/>
                                          </p:spTgt>
                                        </p:tgtEl>
                                        <p:attrNameLst>
                                          <p:attrName>style.visibility</p:attrName>
                                        </p:attrNameLst>
                                      </p:cBhvr>
                                      <p:to>
                                        <p:strVal val="visible"/>
                                      </p:to>
                                    </p:set>
                                    <p:anim calcmode="lin" valueType="num">
                                      <p:cBhvr additive="base">
                                        <p:cTn id="21" dur="500" fill="hold"/>
                                        <p:tgtEl>
                                          <p:spTgt spid="6">
                                            <p:bg/>
                                          </p:spTgt>
                                        </p:tgtEl>
                                        <p:attrNameLst>
                                          <p:attrName>ppt_x</p:attrName>
                                        </p:attrNameLst>
                                      </p:cBhvr>
                                      <p:tavLst>
                                        <p:tav tm="0">
                                          <p:val>
                                            <p:strVal val="#ppt_x"/>
                                          </p:val>
                                        </p:tav>
                                        <p:tav tm="100000">
                                          <p:val>
                                            <p:strVal val="#ppt_x"/>
                                          </p:val>
                                        </p:tav>
                                      </p:tavLst>
                                    </p:anim>
                                    <p:anim calcmode="lin" valueType="num">
                                      <p:cBhvr additive="base">
                                        <p:cTn id="22" dur="500" fill="hold"/>
                                        <p:tgtEl>
                                          <p:spTgt spid="6">
                                            <p:bg/>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bg/>
                                          </p:spTgt>
                                        </p:tgtEl>
                                        <p:attrNameLst>
                                          <p:attrName>style.visibility</p:attrName>
                                        </p:attrNameLst>
                                      </p:cBhvr>
                                      <p:to>
                                        <p:strVal val="visible"/>
                                      </p:to>
                                    </p:set>
                                    <p:anim calcmode="lin" valueType="num">
                                      <p:cBhvr additive="base">
                                        <p:cTn id="31" dur="500" fill="hold"/>
                                        <p:tgtEl>
                                          <p:spTgt spid="5">
                                            <p:bg/>
                                          </p:spTgt>
                                        </p:tgtEl>
                                        <p:attrNameLst>
                                          <p:attrName>ppt_x</p:attrName>
                                        </p:attrNameLst>
                                      </p:cBhvr>
                                      <p:tavLst>
                                        <p:tav tm="0">
                                          <p:val>
                                            <p:strVal val="#ppt_x"/>
                                          </p:val>
                                        </p:tav>
                                        <p:tav tm="100000">
                                          <p:val>
                                            <p:strVal val="#ppt_x"/>
                                          </p:val>
                                        </p:tav>
                                      </p:tavLst>
                                    </p:anim>
                                    <p:anim calcmode="lin" valueType="num">
                                      <p:cBhvr additive="base">
                                        <p:cTn id="32" dur="500" fill="hold"/>
                                        <p:tgtEl>
                                          <p:spTgt spid="5">
                                            <p:bg/>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 calcmode="lin" valueType="num">
                                      <p:cBhvr additive="base">
                                        <p:cTn id="3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6" grpId="0" build="allAtOnce"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bwMode="auto">
          <a:xfrm>
            <a:off x="470491" y="1327121"/>
            <a:ext cx="5884272" cy="7455372"/>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00000"/>
              </a:lnSpc>
              <a:spcBef>
                <a:spcPct val="20000"/>
              </a:spcBef>
            </a:pPr>
            <a:r>
              <a:rPr lang="en-GB" sz="2000" dirty="0"/>
              <a:t>Class Methods (</a:t>
            </a:r>
            <a:r>
              <a:rPr lang="en-GB" sz="2000" dirty="0" err="1"/>
              <a:t>e.g</a:t>
            </a:r>
            <a:r>
              <a:rPr lang="en-GB" sz="2000" dirty="0"/>
              <a:t> Update() ) can access </a:t>
            </a:r>
            <a:r>
              <a:rPr lang="en-GB" sz="2000" dirty="0">
                <a:solidFill>
                  <a:schemeClr val="hlink"/>
                </a:solidFill>
              </a:rPr>
              <a:t>PRIVATE</a:t>
            </a:r>
            <a:r>
              <a:rPr lang="en-GB" sz="2000" dirty="0"/>
              <a:t> data members in the same class.</a:t>
            </a:r>
          </a:p>
          <a:p>
            <a:pPr eaLnBrk="1" hangingPunct="1">
              <a:lnSpc>
                <a:spcPct val="100000"/>
              </a:lnSpc>
              <a:spcBef>
                <a:spcPct val="50000"/>
              </a:spcBef>
              <a:buFont typeface="Wingdings" pitchFamily="2" charset="2"/>
              <a:buNone/>
            </a:pPr>
            <a:r>
              <a:rPr lang="en-GB" sz="2000" b="1" dirty="0"/>
              <a:t>Example:</a:t>
            </a:r>
          </a:p>
          <a:p>
            <a:pPr eaLnBrk="1" hangingPunct="1">
              <a:lnSpc>
                <a:spcPct val="100000"/>
              </a:lnSpc>
              <a:spcBef>
                <a:spcPct val="20000"/>
              </a:spcBef>
              <a:buFont typeface="Wingdings" pitchFamily="2" charset="2"/>
              <a:buNone/>
            </a:pPr>
            <a:r>
              <a:rPr lang="en-GB" sz="2000" dirty="0"/>
              <a:t>class Student</a:t>
            </a:r>
          </a:p>
          <a:p>
            <a:pPr eaLnBrk="1" hangingPunct="1">
              <a:lnSpc>
                <a:spcPct val="100000"/>
              </a:lnSpc>
              <a:spcBef>
                <a:spcPct val="20000"/>
              </a:spcBef>
              <a:buFont typeface="Wingdings" pitchFamily="2" charset="2"/>
              <a:buNone/>
            </a:pPr>
            <a:r>
              <a:rPr lang="en-GB" sz="2000" dirty="0"/>
              <a:t>{</a:t>
            </a:r>
          </a:p>
          <a:p>
            <a:pPr eaLnBrk="1" hangingPunct="1">
              <a:lnSpc>
                <a:spcPct val="100000"/>
              </a:lnSpc>
              <a:spcBef>
                <a:spcPct val="20000"/>
              </a:spcBef>
              <a:buFont typeface="Wingdings" pitchFamily="2" charset="2"/>
              <a:buNone/>
            </a:pPr>
            <a:r>
              <a:rPr lang="en-GB" sz="2000" dirty="0"/>
              <a:t>	</a:t>
            </a:r>
            <a:r>
              <a:rPr lang="en-GB" sz="2000" dirty="0" err="1"/>
              <a:t>int</a:t>
            </a:r>
            <a:r>
              <a:rPr lang="en-GB" sz="2000" dirty="0"/>
              <a:t> </a:t>
            </a:r>
            <a:r>
              <a:rPr lang="en-GB" sz="2000" dirty="0">
                <a:solidFill>
                  <a:srgbClr val="7030A0"/>
                </a:solidFill>
              </a:rPr>
              <a:t>age</a:t>
            </a:r>
            <a:r>
              <a:rPr lang="en-GB" sz="2000" dirty="0"/>
              <a:t>;  // private data</a:t>
            </a:r>
          </a:p>
          <a:p>
            <a:pPr eaLnBrk="1" hangingPunct="1">
              <a:lnSpc>
                <a:spcPct val="100000"/>
              </a:lnSpc>
              <a:spcBef>
                <a:spcPct val="20000"/>
              </a:spcBef>
              <a:buFont typeface="Wingdings" pitchFamily="2" charset="2"/>
              <a:buNone/>
            </a:pPr>
            <a:endParaRPr lang="en-GB" sz="2000" dirty="0"/>
          </a:p>
          <a:p>
            <a:pPr eaLnBrk="1" hangingPunct="1">
              <a:lnSpc>
                <a:spcPct val="100000"/>
              </a:lnSpc>
              <a:spcBef>
                <a:spcPct val="20000"/>
              </a:spcBef>
              <a:buFont typeface="Wingdings" pitchFamily="2" charset="2"/>
              <a:buNone/>
            </a:pPr>
            <a:r>
              <a:rPr lang="en-GB" sz="2000" dirty="0"/>
              <a:t>	//</a:t>
            </a:r>
            <a:r>
              <a:rPr lang="en-GB" sz="2000" dirty="0" err="1"/>
              <a:t>myage</a:t>
            </a:r>
            <a:r>
              <a:rPr lang="en-GB" sz="2000" dirty="0"/>
              <a:t> is the controls use to age of student</a:t>
            </a:r>
          </a:p>
          <a:p>
            <a:pPr eaLnBrk="1" hangingPunct="1">
              <a:lnSpc>
                <a:spcPct val="100000"/>
              </a:lnSpc>
              <a:spcBef>
                <a:spcPct val="20000"/>
              </a:spcBef>
              <a:buFont typeface="Wingdings" pitchFamily="2" charset="2"/>
              <a:buNone/>
            </a:pPr>
            <a:r>
              <a:rPr lang="en-GB" sz="2000" dirty="0"/>
              <a:t>	public void Update (</a:t>
            </a:r>
            <a:r>
              <a:rPr lang="en-GB" sz="2000" dirty="0" err="1"/>
              <a:t>textBox</a:t>
            </a:r>
            <a:r>
              <a:rPr lang="en-GB" sz="2000" dirty="0"/>
              <a:t> </a:t>
            </a:r>
            <a:r>
              <a:rPr lang="en-GB" sz="2000" dirty="0" err="1">
                <a:solidFill>
                  <a:srgbClr val="0070C0"/>
                </a:solidFill>
              </a:rPr>
              <a:t>myage</a:t>
            </a:r>
            <a:r>
              <a:rPr lang="en-GB" sz="2000" dirty="0"/>
              <a:t> )</a:t>
            </a:r>
          </a:p>
          <a:p>
            <a:pPr eaLnBrk="1" hangingPunct="1">
              <a:lnSpc>
                <a:spcPct val="100000"/>
              </a:lnSpc>
              <a:spcBef>
                <a:spcPct val="20000"/>
              </a:spcBef>
              <a:buFont typeface="Wingdings" pitchFamily="2" charset="2"/>
              <a:buNone/>
            </a:pPr>
            <a:r>
              <a:rPr lang="en-GB" sz="2000" dirty="0"/>
              <a:t>	{</a:t>
            </a:r>
          </a:p>
          <a:p>
            <a:pPr eaLnBrk="1" hangingPunct="1">
              <a:lnSpc>
                <a:spcPct val="100000"/>
              </a:lnSpc>
              <a:spcBef>
                <a:spcPct val="20000"/>
              </a:spcBef>
              <a:buFont typeface="Wingdings" pitchFamily="2" charset="2"/>
              <a:buNone/>
            </a:pPr>
            <a:r>
              <a:rPr lang="en-GB" sz="2000" dirty="0"/>
              <a:t>		a</a:t>
            </a:r>
            <a:r>
              <a:rPr lang="en-GB" sz="2000" dirty="0">
                <a:solidFill>
                  <a:srgbClr val="7030A0"/>
                </a:solidFill>
              </a:rPr>
              <a:t>ge</a:t>
            </a:r>
            <a:r>
              <a:rPr lang="en-GB" sz="2000" dirty="0"/>
              <a:t> = </a:t>
            </a:r>
            <a:r>
              <a:rPr lang="en-GB" sz="2000" dirty="0" err="1"/>
              <a:t>int.Parse</a:t>
            </a:r>
            <a:r>
              <a:rPr lang="en-GB" sz="2000" dirty="0"/>
              <a:t>(</a:t>
            </a:r>
            <a:r>
              <a:rPr lang="en-GB" sz="2000" dirty="0" err="1">
                <a:solidFill>
                  <a:srgbClr val="0070C0"/>
                </a:solidFill>
              </a:rPr>
              <a:t>myage</a:t>
            </a:r>
            <a:r>
              <a:rPr lang="en-GB" sz="2000" dirty="0" err="1"/>
              <a:t>.Text</a:t>
            </a:r>
            <a:r>
              <a:rPr lang="en-GB" sz="2000" dirty="0"/>
              <a:t>);</a:t>
            </a:r>
          </a:p>
          <a:p>
            <a:pPr eaLnBrk="1" hangingPunct="1">
              <a:lnSpc>
                <a:spcPct val="100000"/>
              </a:lnSpc>
              <a:spcBef>
                <a:spcPct val="20000"/>
              </a:spcBef>
              <a:buFont typeface="Wingdings" pitchFamily="2" charset="2"/>
              <a:buNone/>
            </a:pPr>
            <a:r>
              <a:rPr lang="en-GB" sz="2000" dirty="0"/>
              <a:t>	}</a:t>
            </a:r>
          </a:p>
          <a:p>
            <a:pPr eaLnBrk="1" hangingPunct="1">
              <a:lnSpc>
                <a:spcPct val="100000"/>
              </a:lnSpc>
              <a:spcBef>
                <a:spcPct val="20000"/>
              </a:spcBef>
              <a:buFont typeface="Wingdings" pitchFamily="2" charset="2"/>
              <a:buNone/>
            </a:pPr>
            <a:endParaRPr lang="en-GB" sz="2000" dirty="0"/>
          </a:p>
          <a:p>
            <a:pPr eaLnBrk="1" hangingPunct="1">
              <a:lnSpc>
                <a:spcPct val="100000"/>
              </a:lnSpc>
              <a:spcBef>
                <a:spcPct val="20000"/>
              </a:spcBef>
              <a:buFont typeface="Wingdings" pitchFamily="2" charset="2"/>
              <a:buNone/>
            </a:pPr>
            <a:endParaRPr lang="en-GB" sz="2000" dirty="0"/>
          </a:p>
          <a:p>
            <a:pPr eaLnBrk="1" hangingPunct="1">
              <a:lnSpc>
                <a:spcPct val="100000"/>
              </a:lnSpc>
              <a:spcBef>
                <a:spcPct val="20000"/>
              </a:spcBef>
              <a:buFont typeface="Wingdings" pitchFamily="2" charset="2"/>
              <a:buNone/>
            </a:pPr>
            <a:r>
              <a:rPr lang="en-GB" sz="2000" dirty="0"/>
              <a:t>} // end of class student</a:t>
            </a:r>
          </a:p>
        </p:txBody>
      </p:sp>
      <p:sp>
        <p:nvSpPr>
          <p:cNvPr id="3" name="Cloud 2"/>
          <p:cNvSpPr/>
          <p:nvPr/>
        </p:nvSpPr>
        <p:spPr bwMode="auto">
          <a:xfrm>
            <a:off x="756714" y="7217866"/>
            <a:ext cx="5803568" cy="937306"/>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age is </a:t>
            </a:r>
            <a:r>
              <a:rPr lang="en-US" sz="1600" b="0" dirty="0">
                <a:latin typeface="Comic Sans MS" pitchFamily="66" charset="0"/>
              </a:rPr>
              <a:t>private data. They can only be read in Student class</a:t>
            </a:r>
            <a:endParaRPr kumimoji="0" lang="en-US" sz="1600" b="0" i="0" u="none" strike="noStrike" cap="none" normalizeH="0" baseline="0" dirty="0">
              <a:ln>
                <a:noFill/>
              </a:ln>
              <a:solidFill>
                <a:schemeClr val="tx1"/>
              </a:solidFill>
              <a:effectLst/>
              <a:latin typeface="Comic Sans MS" pitchFamily="66" charset="0"/>
            </a:endParaRPr>
          </a:p>
        </p:txBody>
      </p:sp>
      <p:sp>
        <p:nvSpPr>
          <p:cNvPr id="4" name="Rectangle 3"/>
          <p:cNvSpPr/>
          <p:nvPr/>
        </p:nvSpPr>
        <p:spPr>
          <a:xfrm>
            <a:off x="470491" y="335389"/>
            <a:ext cx="6249286" cy="954107"/>
          </a:xfrm>
          <a:prstGeom prst="rect">
            <a:avLst/>
          </a:prstGeom>
        </p:spPr>
        <p:txBody>
          <a:bodyPr wrap="square">
            <a:spAutoFit/>
          </a:bodyPr>
          <a:lstStyle/>
          <a:p>
            <a:r>
              <a:rPr lang="en-GB" sz="2800" b="1" dirty="0">
                <a:solidFill>
                  <a:schemeClr val="accent6">
                    <a:lumMod val="75000"/>
                  </a:schemeClr>
                </a:solidFill>
              </a:rPr>
              <a:t>Differential Learning:</a:t>
            </a:r>
          </a:p>
          <a:p>
            <a:r>
              <a:rPr lang="en-GB" sz="2800" b="1" dirty="0">
                <a:solidFill>
                  <a:schemeClr val="accent6">
                    <a:lumMod val="75000"/>
                  </a:schemeClr>
                </a:solidFill>
              </a:rPr>
              <a:t>Method Members in a Class</a:t>
            </a:r>
          </a:p>
        </p:txBody>
      </p:sp>
    </p:spTree>
    <p:custDataLst>
      <p:tags r:id="rId1"/>
    </p:custDataLst>
    <p:extLst>
      <p:ext uri="{BB962C8B-B14F-4D97-AF65-F5344CB8AC3E}">
        <p14:creationId xmlns:p14="http://schemas.microsoft.com/office/powerpoint/2010/main" val="155780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bwMode="auto">
          <a:xfrm>
            <a:off x="479244" y="1297170"/>
            <a:ext cx="6165850" cy="7508900"/>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marL="0" indent="0" eaLnBrk="1" hangingPunct="1">
              <a:lnSpc>
                <a:spcPct val="100000"/>
              </a:lnSpc>
              <a:spcBef>
                <a:spcPct val="0"/>
              </a:spcBef>
              <a:buClr>
                <a:srgbClr val="000000"/>
              </a:buClr>
              <a:buFont typeface="Wingdings" pitchFamily="2" charset="2"/>
              <a:buNone/>
            </a:pPr>
            <a:r>
              <a:rPr lang="en-GB" sz="1600" dirty="0">
                <a:solidFill>
                  <a:srgbClr val="000000"/>
                </a:solidFill>
                <a:latin typeface="Verdana" pitchFamily="34" charset="0"/>
                <a:ea typeface="Times New Roman" pitchFamily="18" charset="0"/>
                <a:cs typeface="Arial" charset="0"/>
              </a:rPr>
              <a:t>Try the program below and understand how to create object and access its members and method.</a:t>
            </a:r>
          </a:p>
          <a:p>
            <a:pPr marL="0" indent="0" eaLnBrk="1" hangingPunct="1">
              <a:lnSpc>
                <a:spcPct val="100000"/>
              </a:lnSpc>
              <a:spcBef>
                <a:spcPct val="0"/>
              </a:spcBef>
              <a:buFont typeface="Wingdings" pitchFamily="2" charset="2"/>
              <a:buNone/>
            </a:pPr>
            <a:endParaRPr lang="en-GB" sz="1600" dirty="0">
              <a:latin typeface="Verdana" pitchFamily="34" charset="0"/>
              <a:ea typeface="Times New Roman" pitchFamily="18" charset="0"/>
              <a:cs typeface="Arial" charset="0"/>
            </a:endParaRP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class Person</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public string name;</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public float height;</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private int age; // private data</a:t>
            </a:r>
          </a:p>
          <a:p>
            <a:pPr marL="0" indent="0" eaLnBrk="1" hangingPunct="1">
              <a:lnSpc>
                <a:spcPct val="100000"/>
              </a:lnSpc>
              <a:spcBef>
                <a:spcPct val="0"/>
              </a:spcBef>
              <a:buFont typeface="Wingdings" pitchFamily="2" charset="2"/>
              <a:buNone/>
            </a:pPr>
            <a:endParaRPr lang="en-GB" sz="1600" noProof="1">
              <a:ea typeface="Times New Roman" pitchFamily="18" charset="0"/>
              <a:cs typeface="Arial" charset="0"/>
            </a:endParaRP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public int GetAge()  // getter method</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return age;   // return private data</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t>
            </a:r>
          </a:p>
          <a:p>
            <a:pPr marL="0" indent="0" eaLnBrk="1" hangingPunct="1">
              <a:lnSpc>
                <a:spcPct val="100000"/>
              </a:lnSpc>
              <a:spcBef>
                <a:spcPct val="0"/>
              </a:spcBef>
              <a:buFont typeface="Wingdings" pitchFamily="2" charset="2"/>
              <a:buNone/>
            </a:pPr>
            <a:endParaRPr lang="en-GB" sz="1600" noProof="1">
              <a:ea typeface="Times New Roman" pitchFamily="18" charset="0"/>
              <a:cs typeface="Arial" charset="0"/>
            </a:endParaRP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public void SetAge(int a) // setter method</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age = a; // set private data</a:t>
            </a:r>
          </a:p>
          <a:p>
            <a:pPr marL="0" indent="0" eaLnBrk="1" hangingPunct="1">
              <a:lnSpc>
                <a:spcPct val="100000"/>
              </a:lnSpc>
              <a:spcBef>
                <a:spcPct val="0"/>
              </a:spcBef>
              <a:buFont typeface="Wingdings" pitchFamily="2" charset="2"/>
              <a:buNone/>
            </a:pPr>
            <a:r>
              <a:rPr lang="en-GB" sz="1600" noProof="1">
                <a:ea typeface="Times New Roman" pitchFamily="18" charset="0"/>
                <a:cs typeface="Arial" charset="0"/>
              </a:rPr>
              <a:t>	}</a:t>
            </a:r>
          </a:p>
          <a:p>
            <a:pPr marL="0" indent="0" eaLnBrk="1" hangingPunct="1">
              <a:lnSpc>
                <a:spcPct val="100000"/>
              </a:lnSpc>
              <a:spcBef>
                <a:spcPct val="0"/>
              </a:spcBef>
              <a:buFont typeface="Wingdings" pitchFamily="2" charset="2"/>
              <a:buNone/>
            </a:pPr>
            <a:endParaRPr lang="en-GB" sz="1600" noProof="1">
              <a:ea typeface="Times New Roman" pitchFamily="18" charset="0"/>
              <a:cs typeface="Arial" charset="0"/>
            </a:endParaRPr>
          </a:p>
          <a:p>
            <a:pPr eaLnBrk="1" hangingPunct="1">
              <a:buNone/>
            </a:pPr>
            <a:r>
              <a:rPr lang="en-GB" sz="1600" dirty="0"/>
              <a:t>// </a:t>
            </a:r>
            <a:r>
              <a:rPr lang="en-GB" sz="1600" dirty="0" err="1"/>
              <a:t>myage</a:t>
            </a:r>
            <a:r>
              <a:rPr lang="en-GB" sz="1600" dirty="0"/>
              <a:t> is the controls use to update age of student</a:t>
            </a:r>
          </a:p>
          <a:p>
            <a:pPr eaLnBrk="1" hangingPunct="1">
              <a:buNone/>
            </a:pPr>
            <a:r>
              <a:rPr lang="en-GB" sz="1600" dirty="0"/>
              <a:t>// </a:t>
            </a:r>
            <a:r>
              <a:rPr lang="en-GB" sz="1600" dirty="0">
                <a:solidFill>
                  <a:schemeClr val="accent6"/>
                </a:solidFill>
              </a:rPr>
              <a:t>this is NOT the same method as setter. It accesses the window form element </a:t>
            </a:r>
            <a:r>
              <a:rPr lang="en-GB" sz="1600" dirty="0" err="1">
                <a:solidFill>
                  <a:schemeClr val="accent6"/>
                </a:solidFill>
              </a:rPr>
              <a:t>textBox</a:t>
            </a:r>
            <a:endParaRPr lang="en-GB" sz="1600" dirty="0">
              <a:solidFill>
                <a:schemeClr val="accent6"/>
              </a:solidFill>
            </a:endParaRPr>
          </a:p>
          <a:p>
            <a:pPr eaLnBrk="1" hangingPunct="1">
              <a:buNone/>
            </a:pPr>
            <a:r>
              <a:rPr lang="en-GB" sz="1600" dirty="0"/>
              <a:t>	public void Update (</a:t>
            </a:r>
            <a:r>
              <a:rPr lang="en-GB" sz="1600" dirty="0" err="1"/>
              <a:t>textBox</a:t>
            </a:r>
            <a:r>
              <a:rPr lang="en-GB" sz="1600" dirty="0"/>
              <a:t> </a:t>
            </a:r>
            <a:r>
              <a:rPr lang="en-GB" sz="1600" dirty="0" err="1">
                <a:solidFill>
                  <a:srgbClr val="0070C0"/>
                </a:solidFill>
              </a:rPr>
              <a:t>myage</a:t>
            </a:r>
            <a:r>
              <a:rPr lang="en-GB" sz="1600" dirty="0"/>
              <a:t> ) //public method</a:t>
            </a:r>
          </a:p>
          <a:p>
            <a:pPr eaLnBrk="1" hangingPunct="1">
              <a:buNone/>
            </a:pPr>
            <a:r>
              <a:rPr lang="en-GB" sz="1600" dirty="0"/>
              <a:t>	{</a:t>
            </a:r>
          </a:p>
          <a:p>
            <a:pPr eaLnBrk="1" hangingPunct="1">
              <a:buNone/>
            </a:pPr>
            <a:r>
              <a:rPr lang="en-GB" sz="1600" dirty="0"/>
              <a:t>		ag</a:t>
            </a:r>
            <a:r>
              <a:rPr lang="en-GB" sz="1600" dirty="0">
                <a:solidFill>
                  <a:srgbClr val="7030A0"/>
                </a:solidFill>
              </a:rPr>
              <a:t>e</a:t>
            </a:r>
            <a:r>
              <a:rPr lang="en-GB" sz="1600" dirty="0"/>
              <a:t> = </a:t>
            </a:r>
            <a:r>
              <a:rPr lang="en-GB" sz="1600" dirty="0" err="1"/>
              <a:t>int.Parse</a:t>
            </a:r>
            <a:r>
              <a:rPr lang="en-GB" sz="1600" dirty="0"/>
              <a:t>(</a:t>
            </a:r>
            <a:r>
              <a:rPr lang="en-GB" sz="1600" dirty="0" err="1">
                <a:solidFill>
                  <a:srgbClr val="0070C0"/>
                </a:solidFill>
              </a:rPr>
              <a:t>myage</a:t>
            </a:r>
            <a:r>
              <a:rPr lang="en-GB" sz="1600" dirty="0" err="1"/>
              <a:t>.Text</a:t>
            </a:r>
            <a:r>
              <a:rPr lang="en-GB" sz="1600" dirty="0"/>
              <a:t>); // age is private</a:t>
            </a:r>
          </a:p>
          <a:p>
            <a:pPr eaLnBrk="1" hangingPunct="1">
              <a:buNone/>
            </a:pPr>
            <a:r>
              <a:rPr lang="en-GB" sz="1600" dirty="0"/>
              <a:t>	}</a:t>
            </a:r>
          </a:p>
          <a:p>
            <a:pPr marL="0" indent="0" eaLnBrk="1" hangingPunct="1">
              <a:lnSpc>
                <a:spcPct val="100000"/>
              </a:lnSpc>
              <a:spcBef>
                <a:spcPct val="0"/>
              </a:spcBef>
              <a:buFont typeface="Wingdings" pitchFamily="2" charset="2"/>
              <a:buNone/>
            </a:pPr>
            <a:endParaRPr lang="en-GB" sz="1600" noProof="1">
              <a:latin typeface="Verdana" pitchFamily="34" charset="0"/>
              <a:ea typeface="Times New Roman" pitchFamily="18" charset="0"/>
              <a:cs typeface="Arial" charset="0"/>
            </a:endParaRPr>
          </a:p>
          <a:p>
            <a:pPr marL="0" indent="0" eaLnBrk="1" hangingPunct="1">
              <a:lnSpc>
                <a:spcPct val="100000"/>
              </a:lnSpc>
              <a:spcBef>
                <a:spcPct val="0"/>
              </a:spcBef>
              <a:buFont typeface="Wingdings" pitchFamily="2" charset="2"/>
              <a:buNone/>
            </a:pPr>
            <a:r>
              <a:rPr lang="en-GB" sz="1600" noProof="1">
                <a:latin typeface="Verdana" pitchFamily="34" charset="0"/>
                <a:ea typeface="Times New Roman" pitchFamily="18" charset="0"/>
                <a:cs typeface="Arial" charset="0"/>
              </a:rPr>
              <a:t>    }  // end class Person</a:t>
            </a:r>
          </a:p>
          <a:p>
            <a:pPr marL="0" indent="0" eaLnBrk="1" hangingPunct="1">
              <a:lnSpc>
                <a:spcPct val="100000"/>
              </a:lnSpc>
              <a:spcBef>
                <a:spcPct val="0"/>
              </a:spcBef>
              <a:buFont typeface="Wingdings" pitchFamily="2" charset="2"/>
              <a:buNone/>
            </a:pPr>
            <a:r>
              <a:rPr lang="en-GB" sz="1600" noProof="1">
                <a:latin typeface="Verdana" pitchFamily="34" charset="0"/>
                <a:ea typeface="Times New Roman" pitchFamily="18" charset="0"/>
                <a:cs typeface="Arial" charset="0"/>
              </a:rPr>
              <a:t>// continue in next silde on how to access the object</a:t>
            </a:r>
          </a:p>
          <a:p>
            <a:pPr marL="0" indent="0" eaLnBrk="1" hangingPunct="1">
              <a:lnSpc>
                <a:spcPct val="100000"/>
              </a:lnSpc>
              <a:spcBef>
                <a:spcPct val="0"/>
              </a:spcBef>
              <a:buFont typeface="Wingdings" pitchFamily="2" charset="2"/>
              <a:buNone/>
            </a:pPr>
            <a:r>
              <a:rPr lang="en-GB" sz="1600" noProof="1">
                <a:latin typeface="Verdana" pitchFamily="34" charset="0"/>
                <a:ea typeface="Times New Roman" pitchFamily="18" charset="0"/>
                <a:cs typeface="Arial" charset="0"/>
              </a:rPr>
              <a:t>    </a:t>
            </a:r>
            <a:endParaRPr lang="en-GB" sz="1600" dirty="0">
              <a:latin typeface="Verdana" pitchFamily="34" charset="0"/>
              <a:ea typeface="Times New Roman" pitchFamily="18" charset="0"/>
              <a:cs typeface="Arial" charset="0"/>
            </a:endParaRPr>
          </a:p>
        </p:txBody>
      </p:sp>
      <p:sp>
        <p:nvSpPr>
          <p:cNvPr id="4" name="Cloud 3"/>
          <p:cNvSpPr/>
          <p:nvPr/>
        </p:nvSpPr>
        <p:spPr bwMode="auto">
          <a:xfrm>
            <a:off x="3219002" y="2085340"/>
            <a:ext cx="3357586" cy="857256"/>
          </a:xfrm>
          <a:prstGeom prst="cloud">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MUST Try!! It is important ***</a:t>
            </a:r>
            <a:endParaRPr kumimoji="0" lang="en-US" sz="1600" b="0" i="0" u="none" strike="noStrike" cap="none" normalizeH="0" baseline="0" dirty="0">
              <a:ln>
                <a:noFill/>
              </a:ln>
              <a:solidFill>
                <a:schemeClr val="tx1"/>
              </a:solidFill>
              <a:effectLst/>
              <a:latin typeface="Comic Sans MS" pitchFamily="66" charset="0"/>
            </a:endParaRPr>
          </a:p>
        </p:txBody>
      </p:sp>
      <p:sp>
        <p:nvSpPr>
          <p:cNvPr id="5" name="Rectangle 4"/>
          <p:cNvSpPr/>
          <p:nvPr/>
        </p:nvSpPr>
        <p:spPr>
          <a:xfrm>
            <a:off x="407802" y="665666"/>
            <a:ext cx="6428932" cy="584775"/>
          </a:xfrm>
          <a:prstGeom prst="rect">
            <a:avLst/>
          </a:prstGeom>
        </p:spPr>
        <p:txBody>
          <a:bodyPr wrap="square">
            <a:spAutoFit/>
          </a:bodyPr>
          <a:lstStyle/>
          <a:p>
            <a:pPr marL="457200" indent="-457200" defTabSz="457200">
              <a:buClr>
                <a:schemeClr val="hlink"/>
              </a:buClr>
              <a:buFont typeface="Wingdings" pitchFamily="2" charset="2"/>
              <a:buNone/>
            </a:pPr>
            <a:r>
              <a:rPr lang="en-US" sz="3200" dirty="0">
                <a:solidFill>
                  <a:schemeClr val="accent6">
                    <a:lumMod val="75000"/>
                  </a:schemeClr>
                </a:solidFill>
              </a:rPr>
              <a:t>Creating </a:t>
            </a:r>
            <a:r>
              <a:rPr lang="en-GB" sz="3200" dirty="0">
                <a:solidFill>
                  <a:schemeClr val="accent6">
                    <a:lumMod val="75000"/>
                  </a:schemeClr>
                </a:solidFill>
              </a:rPr>
              <a:t>Objects from a Class</a:t>
            </a:r>
            <a:endParaRPr lang="en-US" sz="2800" dirty="0">
              <a:solidFill>
                <a:schemeClr val="accent6">
                  <a:lumMod val="75000"/>
                </a:schemeClr>
              </a:solidFill>
            </a:endParaRPr>
          </a:p>
        </p:txBody>
      </p:sp>
    </p:spTree>
    <p:custDataLst>
      <p:tags r:id="rId1"/>
    </p:custDataLst>
    <p:extLst>
      <p:ext uri="{BB962C8B-B14F-4D97-AF65-F5344CB8AC3E}">
        <p14:creationId xmlns:p14="http://schemas.microsoft.com/office/powerpoint/2010/main" val="89199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496" y="10915"/>
            <a:ext cx="6172200" cy="8846002"/>
          </a:xfrm>
          <a:solidFill>
            <a:srgbClr val="FFFFFF"/>
          </a:solidFill>
        </p:spPr>
        <p:txBody>
          <a:bodyPr/>
          <a:lstStyle/>
          <a:p>
            <a:pPr marL="0" indent="0" eaLnBrk="1" hangingPunct="1">
              <a:lnSpc>
                <a:spcPct val="100000"/>
              </a:lnSpc>
              <a:spcBef>
                <a:spcPct val="0"/>
              </a:spcBef>
              <a:buNone/>
            </a:pPr>
            <a:r>
              <a:rPr lang="en-GB" sz="1600" noProof="1">
                <a:ea typeface="Times New Roman" pitchFamily="18" charset="0"/>
                <a:cs typeface="Arial" charset="0"/>
              </a:rPr>
              <a:t>class Program</a:t>
            </a:r>
          </a:p>
          <a:p>
            <a:pPr marL="0" indent="0" eaLnBrk="1" hangingPunct="1">
              <a:lnSpc>
                <a:spcPct val="100000"/>
              </a:lnSpc>
              <a:spcBef>
                <a:spcPct val="0"/>
              </a:spcBef>
              <a:buNone/>
            </a:pPr>
            <a:r>
              <a:rPr lang="en-GB" sz="1600" noProof="1">
                <a:ea typeface="Times New Roman" pitchFamily="18" charset="0"/>
                <a:cs typeface="Arial" charset="0"/>
              </a:rPr>
              <a:t>    {</a:t>
            </a:r>
          </a:p>
          <a:p>
            <a:pPr marL="0" indent="0" eaLnBrk="1" hangingPunct="1">
              <a:lnSpc>
                <a:spcPct val="100000"/>
              </a:lnSpc>
              <a:spcBef>
                <a:spcPct val="0"/>
              </a:spcBef>
              <a:buNone/>
            </a:pPr>
            <a:endParaRPr lang="en-GB" sz="1600" noProof="1">
              <a:cs typeface="Arial" charset="0"/>
            </a:endParaRPr>
          </a:p>
          <a:p>
            <a:pPr marL="0" indent="0" eaLnBrk="1" hangingPunct="1">
              <a:lnSpc>
                <a:spcPct val="100000"/>
              </a:lnSpc>
              <a:spcBef>
                <a:spcPct val="0"/>
              </a:spcBef>
              <a:buNone/>
            </a:pPr>
            <a:r>
              <a:rPr lang="en-SG" sz="1600" dirty="0"/>
              <a:t>private void </a:t>
            </a:r>
            <a:r>
              <a:rPr lang="en-SG" sz="1600" dirty="0" err="1"/>
              <a:t>btnRun_Click</a:t>
            </a:r>
            <a:r>
              <a:rPr lang="en-SG" sz="1600" dirty="0"/>
              <a:t>(object sender, </a:t>
            </a:r>
            <a:r>
              <a:rPr lang="en-SG" sz="1600" dirty="0" err="1"/>
              <a:t>EventArgs</a:t>
            </a:r>
            <a:r>
              <a:rPr lang="en-SG" sz="1600" dirty="0"/>
              <a:t> e)</a:t>
            </a:r>
          </a:p>
          <a:p>
            <a:pPr marL="0" indent="0" eaLnBrk="1" hangingPunct="1">
              <a:lnSpc>
                <a:spcPct val="100000"/>
              </a:lnSpc>
              <a:spcBef>
                <a:spcPct val="0"/>
              </a:spcBef>
              <a:buNone/>
            </a:pPr>
            <a:r>
              <a:rPr lang="en-GB" sz="1600" dirty="0"/>
              <a:t>{</a:t>
            </a:r>
            <a:endParaRPr lang="en-SG" sz="1600" dirty="0"/>
          </a:p>
          <a:p>
            <a:pPr marL="0" indent="0" eaLnBrk="1" hangingPunct="1">
              <a:lnSpc>
                <a:spcPct val="100000"/>
              </a:lnSpc>
              <a:spcBef>
                <a:spcPct val="0"/>
              </a:spcBef>
              <a:buNone/>
            </a:pPr>
            <a:r>
              <a:rPr lang="en-GB" sz="1600" dirty="0">
                <a:ea typeface="Times New Roman" pitchFamily="18" charset="0"/>
                <a:cs typeface="Arial" charset="0"/>
              </a:rPr>
              <a:t>	</a:t>
            </a:r>
            <a:r>
              <a:rPr lang="en-GB" sz="1600" noProof="1">
                <a:ea typeface="Times New Roman" pitchFamily="18" charset="0"/>
                <a:cs typeface="Arial" charset="0"/>
              </a:rPr>
              <a:t>Person A = new Person();</a:t>
            </a:r>
          </a:p>
          <a:p>
            <a:pPr marL="0" indent="0" eaLnBrk="1" hangingPunct="1">
              <a:lnSpc>
                <a:spcPct val="100000"/>
              </a:lnSpc>
              <a:spcBef>
                <a:spcPct val="0"/>
              </a:spcBef>
              <a:buNone/>
            </a:pPr>
            <a:r>
              <a:rPr lang="en-GB" sz="1600" noProof="1">
                <a:ea typeface="Times New Roman" pitchFamily="18" charset="0"/>
                <a:cs typeface="Arial" charset="0"/>
              </a:rPr>
              <a:t>           </a:t>
            </a:r>
            <a:r>
              <a:rPr lang="en-GB" sz="1600" dirty="0">
                <a:ea typeface="Times New Roman" pitchFamily="18" charset="0"/>
                <a:cs typeface="Arial" charset="0"/>
              </a:rPr>
              <a:t>	</a:t>
            </a:r>
            <a:r>
              <a:rPr lang="en-GB" sz="1600" noProof="1">
                <a:ea typeface="Times New Roman" pitchFamily="18" charset="0"/>
                <a:cs typeface="Arial" charset="0"/>
              </a:rPr>
              <a:t>Person B = new Person();</a:t>
            </a:r>
          </a:p>
          <a:p>
            <a:pPr marL="0" indent="0" eaLnBrk="1" hangingPunct="1">
              <a:lnSpc>
                <a:spcPct val="100000"/>
              </a:lnSpc>
              <a:spcBef>
                <a:spcPct val="0"/>
              </a:spcBef>
              <a:buNone/>
            </a:pPr>
            <a:r>
              <a:rPr lang="en-GB" sz="1600" noProof="1">
                <a:ea typeface="Times New Roman" pitchFamily="18" charset="0"/>
                <a:cs typeface="Arial" charset="0"/>
              </a:rPr>
              <a:t>		</a:t>
            </a:r>
          </a:p>
          <a:p>
            <a:pPr marL="0" indent="0" eaLnBrk="1" hangingPunct="1">
              <a:lnSpc>
                <a:spcPct val="100000"/>
              </a:lnSpc>
              <a:spcBef>
                <a:spcPct val="0"/>
              </a:spcBef>
              <a:buNone/>
            </a:pPr>
            <a:r>
              <a:rPr lang="en-GB" sz="1600" noProof="1">
                <a:ea typeface="Times New Roman" pitchFamily="18" charset="0"/>
                <a:cs typeface="Arial" charset="0"/>
              </a:rPr>
              <a:t>	// update public data directly	</a:t>
            </a:r>
          </a:p>
          <a:p>
            <a:pPr marL="0" indent="0" eaLnBrk="1" hangingPunct="1">
              <a:lnSpc>
                <a:spcPct val="100000"/>
              </a:lnSpc>
              <a:spcBef>
                <a:spcPct val="0"/>
              </a:spcBef>
              <a:buNone/>
            </a:pPr>
            <a:r>
              <a:rPr lang="en-GB" sz="1600" noProof="1">
                <a:ea typeface="Times New Roman" pitchFamily="18" charset="0"/>
                <a:cs typeface="Arial" charset="0"/>
              </a:rPr>
              <a:t>    </a:t>
            </a:r>
            <a:r>
              <a:rPr lang="en-GB" sz="1600" dirty="0">
                <a:ea typeface="Times New Roman" pitchFamily="18" charset="0"/>
                <a:cs typeface="Arial" charset="0"/>
              </a:rPr>
              <a:t>	</a:t>
            </a:r>
            <a:r>
              <a:rPr lang="en-GB" sz="1600" noProof="1">
                <a:ea typeface="Times New Roman" pitchFamily="18" charset="0"/>
                <a:cs typeface="Arial" charset="0"/>
              </a:rPr>
              <a:t>A.name = “Ah Beng”;</a:t>
            </a:r>
          </a:p>
          <a:p>
            <a:pPr marL="0" indent="0" eaLnBrk="1" hangingPunct="1">
              <a:lnSpc>
                <a:spcPct val="100000"/>
              </a:lnSpc>
              <a:spcBef>
                <a:spcPct val="0"/>
              </a:spcBef>
              <a:buNone/>
            </a:pPr>
            <a:r>
              <a:rPr lang="en-GB" sz="1600" noProof="1">
                <a:ea typeface="Times New Roman" pitchFamily="18" charset="0"/>
                <a:cs typeface="Arial" charset="0"/>
              </a:rPr>
              <a:t>            </a:t>
            </a:r>
            <a:r>
              <a:rPr lang="en-GB" sz="1600" dirty="0">
                <a:ea typeface="Times New Roman" pitchFamily="18" charset="0"/>
                <a:cs typeface="Arial" charset="0"/>
              </a:rPr>
              <a:t>	</a:t>
            </a:r>
            <a:r>
              <a:rPr lang="en-GB" sz="1600" noProof="1">
                <a:ea typeface="Times New Roman" pitchFamily="18" charset="0"/>
                <a:cs typeface="Arial" charset="0"/>
              </a:rPr>
              <a:t>A.height = 1.72f;</a:t>
            </a:r>
          </a:p>
          <a:p>
            <a:pPr marL="0" indent="0" eaLnBrk="1" hangingPunct="1">
              <a:lnSpc>
                <a:spcPct val="100000"/>
              </a:lnSpc>
              <a:spcBef>
                <a:spcPct val="0"/>
              </a:spcBef>
              <a:buNone/>
            </a:pPr>
            <a:endParaRPr lang="en-GB" sz="1600" noProof="1">
              <a:ea typeface="Times New Roman" pitchFamily="18" charset="0"/>
              <a:cs typeface="Arial" charset="0"/>
            </a:endParaRPr>
          </a:p>
          <a:p>
            <a:pPr marL="0" indent="0" eaLnBrk="1" hangingPunct="1">
              <a:lnSpc>
                <a:spcPct val="100000"/>
              </a:lnSpc>
              <a:spcBef>
                <a:spcPct val="0"/>
              </a:spcBef>
              <a:buNone/>
            </a:pPr>
            <a:r>
              <a:rPr lang="en-GB" sz="1600" noProof="1">
                <a:ea typeface="Times New Roman" pitchFamily="18" charset="0"/>
                <a:cs typeface="Arial" charset="0"/>
              </a:rPr>
              <a:t>               B.name = “Ah Hua”;</a:t>
            </a:r>
          </a:p>
          <a:p>
            <a:pPr marL="0" indent="0" eaLnBrk="1" hangingPunct="1">
              <a:lnSpc>
                <a:spcPct val="100000"/>
              </a:lnSpc>
              <a:spcBef>
                <a:spcPct val="0"/>
              </a:spcBef>
              <a:buNone/>
            </a:pPr>
            <a:r>
              <a:rPr lang="en-GB" sz="1600" noProof="1">
                <a:ea typeface="Times New Roman" pitchFamily="18" charset="0"/>
                <a:cs typeface="Arial" charset="0"/>
              </a:rPr>
              <a:t>            </a:t>
            </a:r>
            <a:r>
              <a:rPr lang="en-GB" sz="1600" dirty="0">
                <a:ea typeface="Times New Roman" pitchFamily="18" charset="0"/>
                <a:cs typeface="Arial" charset="0"/>
              </a:rPr>
              <a:t>   </a:t>
            </a:r>
            <a:r>
              <a:rPr lang="en-GB" sz="1600" noProof="1">
                <a:ea typeface="Times New Roman" pitchFamily="18" charset="0"/>
                <a:cs typeface="Arial" charset="0"/>
              </a:rPr>
              <a:t>B.height = 1.65f;</a:t>
            </a:r>
          </a:p>
          <a:p>
            <a:pPr marL="0" indent="0" eaLnBrk="1" hangingPunct="1">
              <a:lnSpc>
                <a:spcPct val="100000"/>
              </a:lnSpc>
              <a:spcBef>
                <a:spcPct val="0"/>
              </a:spcBef>
              <a:buNone/>
            </a:pPr>
            <a:endParaRPr lang="en-GB" sz="1600" noProof="1">
              <a:ea typeface="Times New Roman" pitchFamily="18" charset="0"/>
              <a:cs typeface="Arial" charset="0"/>
            </a:endParaRPr>
          </a:p>
          <a:p>
            <a:pPr marL="0" indent="0" eaLnBrk="1" hangingPunct="1">
              <a:lnSpc>
                <a:spcPct val="100000"/>
              </a:lnSpc>
              <a:spcBef>
                <a:spcPct val="0"/>
              </a:spcBef>
              <a:buNone/>
            </a:pPr>
            <a:r>
              <a:rPr lang="en-GB" sz="1600" noProof="1">
                <a:ea typeface="Times New Roman" pitchFamily="18" charset="0"/>
                <a:cs typeface="Arial" charset="0"/>
              </a:rPr>
              <a:t>	// display public data</a:t>
            </a:r>
          </a:p>
          <a:p>
            <a:pPr marL="0" indent="0" eaLnBrk="1" hangingPunct="1">
              <a:lnSpc>
                <a:spcPct val="100000"/>
              </a:lnSpc>
              <a:spcBef>
                <a:spcPct val="0"/>
              </a:spcBef>
              <a:buNone/>
            </a:pPr>
            <a:r>
              <a:rPr lang="en-GB" sz="1600" noProof="1">
                <a:ea typeface="Times New Roman" pitchFamily="18" charset="0"/>
                <a:cs typeface="Arial" charset="0"/>
              </a:rPr>
              <a:t>	 rtbDisplay.Append ( "Person A:\n");</a:t>
            </a:r>
          </a:p>
          <a:p>
            <a:pPr marL="0" indent="0" eaLnBrk="1" hangingPunct="1">
              <a:lnSpc>
                <a:spcPct val="100000"/>
              </a:lnSpc>
              <a:spcBef>
                <a:spcPct val="0"/>
              </a:spcBef>
              <a:buNone/>
            </a:pPr>
            <a:r>
              <a:rPr lang="en-GB" sz="1600" noProof="1">
                <a:ea typeface="Times New Roman" pitchFamily="18" charset="0"/>
                <a:cs typeface="Arial" charset="0"/>
              </a:rPr>
              <a:t>	 rtbDisplay.Append ( "Name is" + A.name + “\n” );</a:t>
            </a:r>
          </a:p>
          <a:p>
            <a:pPr marL="0" indent="0" eaLnBrk="1" hangingPunct="1">
              <a:lnSpc>
                <a:spcPct val="100000"/>
              </a:lnSpc>
              <a:spcBef>
                <a:spcPct val="0"/>
              </a:spcBef>
              <a:buNone/>
            </a:pPr>
            <a:r>
              <a:rPr lang="en-GB" sz="1600" noProof="1">
                <a:ea typeface="Times New Roman" pitchFamily="18" charset="0"/>
                <a:cs typeface="Arial" charset="0"/>
              </a:rPr>
              <a:t>	 rtbDisplay.Append ( "Height  is " + A.height + “\n” );</a:t>
            </a:r>
          </a:p>
          <a:p>
            <a:pPr marL="0" indent="0" eaLnBrk="1" hangingPunct="1">
              <a:lnSpc>
                <a:spcPct val="100000"/>
              </a:lnSpc>
              <a:spcBef>
                <a:spcPct val="0"/>
              </a:spcBef>
              <a:buNone/>
            </a:pPr>
            <a:endParaRPr lang="en-GB" sz="1600" noProof="1">
              <a:ea typeface="Times New Roman" pitchFamily="18" charset="0"/>
              <a:cs typeface="Arial" charset="0"/>
            </a:endParaRPr>
          </a:p>
          <a:p>
            <a:pPr marL="0" indent="0" eaLnBrk="1" hangingPunct="1">
              <a:lnSpc>
                <a:spcPct val="100000"/>
              </a:lnSpc>
              <a:spcBef>
                <a:spcPct val="0"/>
              </a:spcBef>
              <a:buNone/>
            </a:pPr>
            <a:r>
              <a:rPr lang="en-GB" sz="1600" noProof="1">
                <a:ea typeface="Times New Roman" pitchFamily="18" charset="0"/>
                <a:cs typeface="Arial" charset="0"/>
              </a:rPr>
              <a:t>	 rtbDisplay.Append ( "Person B\n");</a:t>
            </a:r>
          </a:p>
          <a:p>
            <a:pPr marL="0" indent="0" eaLnBrk="1" hangingPunct="1">
              <a:lnSpc>
                <a:spcPct val="100000"/>
              </a:lnSpc>
              <a:spcBef>
                <a:spcPct val="0"/>
              </a:spcBef>
              <a:buNone/>
            </a:pPr>
            <a:r>
              <a:rPr lang="en-GB" sz="1600" noProof="1">
                <a:ea typeface="Times New Roman" pitchFamily="18" charset="0"/>
                <a:cs typeface="Arial" charset="0"/>
              </a:rPr>
              <a:t>	 rtbDisplay.Append ( "Name is" + B.name + “\n” );</a:t>
            </a:r>
          </a:p>
          <a:p>
            <a:pPr marL="0" indent="0" eaLnBrk="1" hangingPunct="1">
              <a:lnSpc>
                <a:spcPct val="100000"/>
              </a:lnSpc>
              <a:spcBef>
                <a:spcPct val="0"/>
              </a:spcBef>
              <a:buNone/>
            </a:pPr>
            <a:r>
              <a:rPr lang="en-GB" sz="1600" noProof="1">
                <a:ea typeface="Times New Roman" pitchFamily="18" charset="0"/>
                <a:cs typeface="Arial" charset="0"/>
              </a:rPr>
              <a:t>	 rtbDisplay.Append ( "Height  is " + B.height + “\n” );</a:t>
            </a:r>
          </a:p>
          <a:p>
            <a:pPr marL="0" indent="0" eaLnBrk="1" hangingPunct="1">
              <a:lnSpc>
                <a:spcPct val="100000"/>
              </a:lnSpc>
              <a:spcBef>
                <a:spcPct val="0"/>
              </a:spcBef>
              <a:buNone/>
            </a:pPr>
            <a:endParaRPr lang="en-GB" sz="1600" noProof="1">
              <a:ea typeface="Times New Roman" pitchFamily="18" charset="0"/>
              <a:cs typeface="Arial" charset="0"/>
            </a:endParaRPr>
          </a:p>
          <a:p>
            <a:pPr marL="0" indent="0" eaLnBrk="1" hangingPunct="1">
              <a:lnSpc>
                <a:spcPct val="100000"/>
              </a:lnSpc>
              <a:spcBef>
                <a:spcPct val="0"/>
              </a:spcBef>
              <a:buNone/>
            </a:pPr>
            <a:r>
              <a:rPr lang="en-GB" sz="1600" noProof="1">
                <a:ea typeface="Times New Roman" pitchFamily="18" charset="0"/>
                <a:cs typeface="Arial" charset="0"/>
              </a:rPr>
              <a:t>	// access private age</a:t>
            </a:r>
          </a:p>
          <a:p>
            <a:pPr marL="0" indent="0" eaLnBrk="1" hangingPunct="1">
              <a:lnSpc>
                <a:spcPct val="100000"/>
              </a:lnSpc>
              <a:spcBef>
                <a:spcPct val="0"/>
              </a:spcBef>
              <a:buNone/>
            </a:pPr>
            <a:r>
              <a:rPr lang="en-GB" sz="1600" noProof="1">
                <a:ea typeface="Times New Roman" pitchFamily="18" charset="0"/>
                <a:cs typeface="Arial" charset="0"/>
              </a:rPr>
              <a:t>	A.</a:t>
            </a:r>
            <a:r>
              <a:rPr lang="en-GB" sz="1600" b="1" noProof="1">
                <a:solidFill>
                  <a:srgbClr val="FF0000"/>
                </a:solidFill>
                <a:ea typeface="Times New Roman" pitchFamily="18" charset="0"/>
                <a:cs typeface="Arial" charset="0"/>
              </a:rPr>
              <a:t>SetAge</a:t>
            </a:r>
            <a:r>
              <a:rPr lang="en-GB" sz="1600" noProof="1">
                <a:ea typeface="Times New Roman" pitchFamily="18" charset="0"/>
                <a:cs typeface="Arial" charset="0"/>
              </a:rPr>
              <a:t>(18);</a:t>
            </a:r>
          </a:p>
          <a:p>
            <a:pPr marL="0" indent="0" eaLnBrk="1" hangingPunct="1">
              <a:lnSpc>
                <a:spcPct val="100000"/>
              </a:lnSpc>
              <a:spcBef>
                <a:spcPct val="0"/>
              </a:spcBef>
              <a:buNone/>
            </a:pPr>
            <a:r>
              <a:rPr lang="en-GB" sz="1600" dirty="0">
                <a:ea typeface="Times New Roman" pitchFamily="18" charset="0"/>
                <a:cs typeface="Arial" charset="0"/>
              </a:rPr>
              <a:t>	</a:t>
            </a:r>
            <a:r>
              <a:rPr lang="en-GB" sz="1600" dirty="0" err="1">
                <a:ea typeface="Times New Roman" pitchFamily="18" charset="0"/>
                <a:cs typeface="Arial" charset="0"/>
              </a:rPr>
              <a:t>B.</a:t>
            </a:r>
            <a:r>
              <a:rPr lang="en-GB" sz="1600" b="1" dirty="0" err="1">
                <a:solidFill>
                  <a:srgbClr val="FF0000"/>
                </a:solidFill>
                <a:ea typeface="Times New Roman" pitchFamily="18" charset="0"/>
                <a:cs typeface="Arial" charset="0"/>
              </a:rPr>
              <a:t>SetAge</a:t>
            </a:r>
            <a:r>
              <a:rPr lang="en-GB" sz="1600" b="1" dirty="0">
                <a:ea typeface="Times New Roman" pitchFamily="18" charset="0"/>
                <a:cs typeface="Arial" charset="0"/>
              </a:rPr>
              <a:t>(20)</a:t>
            </a:r>
            <a:endParaRPr lang="en-GB" sz="1600" noProof="1">
              <a:ea typeface="Times New Roman" pitchFamily="18" charset="0"/>
              <a:cs typeface="Arial" charset="0"/>
            </a:endParaRPr>
          </a:p>
          <a:p>
            <a:pPr marL="0" indent="0" eaLnBrk="1" hangingPunct="1">
              <a:lnSpc>
                <a:spcPct val="100000"/>
              </a:lnSpc>
              <a:spcBef>
                <a:spcPct val="0"/>
              </a:spcBef>
              <a:buNone/>
            </a:pPr>
            <a:r>
              <a:rPr lang="en-GB" sz="1600" noProof="1">
                <a:ea typeface="Times New Roman" pitchFamily="18" charset="0"/>
                <a:cs typeface="Arial" charset="0"/>
              </a:rPr>
              <a:t>	</a:t>
            </a:r>
          </a:p>
          <a:p>
            <a:pPr marL="0" indent="0" eaLnBrk="1" hangingPunct="1">
              <a:lnSpc>
                <a:spcPct val="100000"/>
              </a:lnSpc>
              <a:spcBef>
                <a:spcPct val="0"/>
              </a:spcBef>
              <a:buNone/>
            </a:pPr>
            <a:r>
              <a:rPr lang="en-GB" sz="1600" noProof="1">
                <a:ea typeface="Times New Roman" pitchFamily="18" charset="0"/>
                <a:cs typeface="Arial" charset="0"/>
              </a:rPr>
              <a:t>	// display private age</a:t>
            </a:r>
          </a:p>
          <a:p>
            <a:pPr marL="0" indent="0" eaLnBrk="1" hangingPunct="1">
              <a:spcBef>
                <a:spcPct val="0"/>
              </a:spcBef>
              <a:buNone/>
            </a:pPr>
            <a:r>
              <a:rPr lang="en-GB" sz="1600" noProof="1">
                <a:ea typeface="Times New Roman" pitchFamily="18" charset="0"/>
                <a:cs typeface="Arial" charset="0"/>
              </a:rPr>
              <a:t> 	 rtbDisplay.Append ( "Person A’s age is” + A.GetAge().ToString() +“\n"); </a:t>
            </a:r>
          </a:p>
          <a:p>
            <a:pPr marL="0" indent="0" eaLnBrk="1" hangingPunct="1">
              <a:spcBef>
                <a:spcPct val="0"/>
              </a:spcBef>
              <a:buNone/>
            </a:pPr>
            <a:r>
              <a:rPr lang="en-GB" sz="1600" noProof="1">
                <a:ea typeface="Times New Roman" pitchFamily="18" charset="0"/>
                <a:cs typeface="Arial" charset="0"/>
              </a:rPr>
              <a:t>	rtbDisplay.Append ( "Person B’s age is” + B.GetAge().ToString() +“\n");</a:t>
            </a:r>
          </a:p>
          <a:p>
            <a:pPr marL="0" indent="0" eaLnBrk="1" hangingPunct="1">
              <a:lnSpc>
                <a:spcPct val="100000"/>
              </a:lnSpc>
              <a:spcBef>
                <a:spcPct val="0"/>
              </a:spcBef>
              <a:buNone/>
            </a:pPr>
            <a:r>
              <a:rPr lang="en-GB" sz="1600" noProof="1">
                <a:ea typeface="Times New Roman" pitchFamily="18" charset="0"/>
                <a:cs typeface="Arial" charset="0"/>
              </a:rPr>
              <a:t>		</a:t>
            </a:r>
          </a:p>
          <a:p>
            <a:pPr marL="0" indent="0" eaLnBrk="1" hangingPunct="1">
              <a:lnSpc>
                <a:spcPct val="100000"/>
              </a:lnSpc>
              <a:spcBef>
                <a:spcPct val="0"/>
              </a:spcBef>
              <a:buNone/>
            </a:pPr>
            <a:r>
              <a:rPr lang="en-GB" sz="1600" noProof="1">
                <a:ea typeface="Times New Roman" pitchFamily="18" charset="0"/>
                <a:cs typeface="Arial" charset="0"/>
              </a:rPr>
              <a:t>        }</a:t>
            </a:r>
          </a:p>
          <a:p>
            <a:pPr marL="0" indent="0" eaLnBrk="1" hangingPunct="1">
              <a:lnSpc>
                <a:spcPct val="100000"/>
              </a:lnSpc>
              <a:spcBef>
                <a:spcPct val="0"/>
              </a:spcBef>
              <a:buNone/>
            </a:pPr>
            <a:r>
              <a:rPr lang="en-GB" sz="1600" noProof="1">
                <a:ea typeface="Times New Roman" pitchFamily="18" charset="0"/>
                <a:cs typeface="Arial" charset="0"/>
              </a:rPr>
              <a:t>    } // end class Program</a:t>
            </a:r>
            <a:endParaRPr lang="en-US" sz="1600" dirty="0"/>
          </a:p>
        </p:txBody>
      </p:sp>
      <p:sp>
        <p:nvSpPr>
          <p:cNvPr id="4" name="Cloud 3"/>
          <p:cNvSpPr/>
          <p:nvPr/>
        </p:nvSpPr>
        <p:spPr bwMode="auto">
          <a:xfrm>
            <a:off x="3692159" y="2071670"/>
            <a:ext cx="2643206" cy="1214446"/>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Use dot “.” to access Public data</a:t>
            </a:r>
            <a:endParaRPr kumimoji="0" lang="en-US" sz="1600" b="0" i="0" u="none" strike="noStrike" cap="none" normalizeH="0" baseline="0" dirty="0">
              <a:ln>
                <a:noFill/>
              </a:ln>
              <a:solidFill>
                <a:schemeClr val="tx1"/>
              </a:solidFill>
              <a:effectLst/>
              <a:latin typeface="Comic Sans MS" pitchFamily="66" charset="0"/>
            </a:endParaRPr>
          </a:p>
        </p:txBody>
      </p:sp>
      <p:sp>
        <p:nvSpPr>
          <p:cNvPr id="5" name="Cloud 4"/>
          <p:cNvSpPr/>
          <p:nvPr/>
        </p:nvSpPr>
        <p:spPr bwMode="auto">
          <a:xfrm>
            <a:off x="3500414" y="5836300"/>
            <a:ext cx="3357586" cy="1071570"/>
          </a:xfrm>
          <a:prstGeom prst="cloud">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Comic Sans MS" pitchFamily="66" charset="0"/>
              </a:rPr>
              <a:t>Call getter and setter methods to access Private data</a:t>
            </a:r>
            <a:endParaRPr kumimoji="0" lang="en-US" sz="1600" b="0" i="0" u="none" strike="noStrike" cap="none" normalizeH="0" baseline="0" dirty="0">
              <a:ln>
                <a:noFill/>
              </a:ln>
              <a:solidFill>
                <a:schemeClr val="tx1"/>
              </a:solidFill>
              <a:effectLst/>
              <a:latin typeface="Comic Sans MS" pitchFamily="66" charset="0"/>
            </a:endParaRPr>
          </a:p>
        </p:txBody>
      </p:sp>
    </p:spTree>
    <p:custDataLst>
      <p:tags r:id="rId1"/>
    </p:custDataLst>
    <p:extLst>
      <p:ext uri="{BB962C8B-B14F-4D97-AF65-F5344CB8AC3E}">
        <p14:creationId xmlns:p14="http://schemas.microsoft.com/office/powerpoint/2010/main" val="110717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bg/>
                                          </p:spTgt>
                                        </p:tgtEl>
                                        <p:attrNameLst>
                                          <p:attrName>style.visibility</p:attrName>
                                        </p:attrNameLst>
                                      </p:cBhvr>
                                      <p:to>
                                        <p:strVal val="visible"/>
                                      </p:to>
                                    </p:set>
                                    <p:anim calcmode="lin" valueType="num">
                                      <p:cBhvr additive="base">
                                        <p:cTn id="17" dur="500" fill="hold"/>
                                        <p:tgtEl>
                                          <p:spTgt spid="5">
                                            <p:bg/>
                                          </p:spTgt>
                                        </p:tgtEl>
                                        <p:attrNameLst>
                                          <p:attrName>ppt_x</p:attrName>
                                        </p:attrNameLst>
                                      </p:cBhvr>
                                      <p:tavLst>
                                        <p:tav tm="0">
                                          <p:val>
                                            <p:strVal val="#ppt_x"/>
                                          </p:val>
                                        </p:tav>
                                        <p:tav tm="100000">
                                          <p:val>
                                            <p:strVal val="#ppt_x"/>
                                          </p:val>
                                        </p:tav>
                                      </p:tavLst>
                                    </p:anim>
                                    <p:anim calcmode="lin" valueType="num">
                                      <p:cBhvr additive="base">
                                        <p:cTn id="18" dur="500" fill="hold"/>
                                        <p:tgtEl>
                                          <p:spTgt spid="5">
                                            <p:bg/>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 calcmode="lin" valueType="num">
                                      <p:cBhvr additive="base">
                                        <p:cTn id="2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bwMode="auto">
          <a:xfrm>
            <a:off x="470491" y="1297469"/>
            <a:ext cx="6305554" cy="4831727"/>
          </a:xfrm>
          <a:noFill/>
          <a:ln>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lnSpc>
                <a:spcPct val="100000"/>
              </a:lnSpc>
              <a:spcBef>
                <a:spcPct val="0"/>
              </a:spcBef>
              <a:buClr>
                <a:schemeClr val="tx1"/>
              </a:buClr>
              <a:buFontTx/>
              <a:buAutoNum type="arabicPeriod"/>
            </a:pPr>
            <a:r>
              <a:rPr lang="en-GB" sz="1800" dirty="0"/>
              <a:t>You need to store the title, artist and price of some DVDs. You are able to Update and Display the data.</a:t>
            </a:r>
          </a:p>
          <a:p>
            <a:pPr marL="342900" indent="-342900" eaLnBrk="1" hangingPunct="1">
              <a:lnSpc>
                <a:spcPct val="100000"/>
              </a:lnSpc>
              <a:spcBef>
                <a:spcPct val="0"/>
              </a:spcBef>
              <a:buClr>
                <a:schemeClr val="tx1"/>
              </a:buClr>
              <a:buNone/>
            </a:pPr>
            <a:r>
              <a:rPr lang="en-GB" sz="1800" dirty="0"/>
              <a:t>	Provide getter methods to get price of DVD such as </a:t>
            </a:r>
            <a:r>
              <a:rPr lang="en-GB" sz="1800" dirty="0" err="1"/>
              <a:t>GetPrice</a:t>
            </a:r>
            <a:r>
              <a:rPr lang="en-GB" sz="1800" dirty="0"/>
              <a:t>(). We will be using </a:t>
            </a:r>
            <a:r>
              <a:rPr lang="en-GB" sz="1800" dirty="0" err="1"/>
              <a:t>GetPrice</a:t>
            </a:r>
            <a:r>
              <a:rPr lang="en-GB" sz="1800" dirty="0"/>
              <a:t>() to compute the total price.</a:t>
            </a:r>
          </a:p>
          <a:p>
            <a:pPr marL="342900" indent="-342900" eaLnBrk="1" hangingPunct="1">
              <a:lnSpc>
                <a:spcPct val="100000"/>
              </a:lnSpc>
              <a:spcBef>
                <a:spcPct val="0"/>
              </a:spcBef>
              <a:buClr>
                <a:schemeClr val="tx1"/>
              </a:buClr>
              <a:buNone/>
            </a:pPr>
            <a:endParaRPr lang="en-GB" sz="1800" dirty="0"/>
          </a:p>
          <a:p>
            <a:pPr marL="342900" indent="-342900" eaLnBrk="1" hangingPunct="1">
              <a:lnSpc>
                <a:spcPct val="100000"/>
              </a:lnSpc>
              <a:spcBef>
                <a:spcPct val="0"/>
              </a:spcBef>
              <a:buClr>
                <a:schemeClr val="tx1"/>
              </a:buClr>
              <a:buNone/>
            </a:pPr>
            <a:r>
              <a:rPr lang="en-GB" sz="1800" dirty="0"/>
              <a:t>     </a:t>
            </a:r>
            <a:r>
              <a:rPr lang="en-GB" sz="1800" dirty="0">
                <a:latin typeface="Verdana" pitchFamily="34" charset="0"/>
              </a:rPr>
              <a:t>Complete the class definition with data members (ALL Private) and method members (ALL Public). Create an application. </a:t>
            </a:r>
          </a:p>
          <a:p>
            <a:pPr marL="1028700" lvl="2" indent="-57150" eaLnBrk="1" hangingPunct="1">
              <a:buClr>
                <a:schemeClr val="tx1"/>
              </a:buClr>
              <a:buFontTx/>
              <a:buAutoNum type="alphaLcParenR"/>
            </a:pPr>
            <a:r>
              <a:rPr lang="en-GB" sz="1600" dirty="0">
                <a:latin typeface="Verdana" pitchFamily="34" charset="0"/>
              </a:rPr>
              <a:t>When user clicks on Run button: it creates 2 DVD object</a:t>
            </a:r>
          </a:p>
          <a:p>
            <a:pPr marL="1028700" lvl="2" indent="-57150" eaLnBrk="1" hangingPunct="1">
              <a:buClr>
                <a:schemeClr val="tx1"/>
              </a:buClr>
              <a:buFontTx/>
              <a:buAutoNum type="alphaLcParenR"/>
            </a:pPr>
            <a:r>
              <a:rPr lang="en-GB" sz="1600" dirty="0">
                <a:latin typeface="Verdana" pitchFamily="34" charset="0"/>
              </a:rPr>
              <a:t> When user clicks on respective Update and Display buttons to update and display the data</a:t>
            </a:r>
          </a:p>
          <a:p>
            <a:pPr marL="1028700" lvl="2" indent="-57150" eaLnBrk="1" hangingPunct="1">
              <a:buClr>
                <a:schemeClr val="tx1"/>
              </a:buClr>
              <a:buFontTx/>
              <a:buAutoNum type="alphaLcParenR"/>
            </a:pPr>
            <a:r>
              <a:rPr lang="en-GB" sz="1600" dirty="0">
                <a:latin typeface="Verdana" pitchFamily="34" charset="0"/>
              </a:rPr>
              <a:t> When user clicks on Total button, it computes the total price of the 2 DVD</a:t>
            </a:r>
          </a:p>
          <a:p>
            <a:pPr marL="971550" lvl="2" indent="0" eaLnBrk="1" hangingPunct="1">
              <a:buClr>
                <a:schemeClr val="tx1"/>
              </a:buClr>
              <a:buNone/>
            </a:pPr>
            <a:endParaRPr lang="en-GB" sz="1600" dirty="0">
              <a:latin typeface="Verdana" pitchFamily="34" charset="0"/>
            </a:endParaRPr>
          </a:p>
          <a:p>
            <a:pPr marL="171450" indent="0" eaLnBrk="1" hangingPunct="1">
              <a:buClr>
                <a:schemeClr val="tx1"/>
              </a:buClr>
              <a:buNone/>
            </a:pPr>
            <a:r>
              <a:rPr lang="en-GB" sz="1800" dirty="0"/>
              <a:t>Part of the codes are provide. Fill in the blanks.</a:t>
            </a:r>
          </a:p>
        </p:txBody>
      </p:sp>
      <p:sp>
        <p:nvSpPr>
          <p:cNvPr id="4" name="Rectangle 3"/>
          <p:cNvSpPr/>
          <p:nvPr/>
        </p:nvSpPr>
        <p:spPr>
          <a:xfrm>
            <a:off x="470491" y="431741"/>
            <a:ext cx="6217388" cy="830997"/>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sp>
        <p:nvSpPr>
          <p:cNvPr id="2" name="5-Point Star 1"/>
          <p:cNvSpPr/>
          <p:nvPr/>
        </p:nvSpPr>
        <p:spPr>
          <a:xfrm>
            <a:off x="5637677" y="158438"/>
            <a:ext cx="1050202" cy="968720"/>
          </a:xfrm>
          <a:prstGeom prst="star5">
            <a:avLst/>
          </a:prstGeom>
          <a:solidFill>
            <a:schemeClr val="accent3">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1204388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701800"/>
            <a:ext cx="5829300" cy="615887"/>
          </a:xfrm>
        </p:spPr>
        <p:txBody>
          <a:bodyPr/>
          <a:lstStyle/>
          <a:p>
            <a:r>
              <a:rPr lang="en-GB" dirty="0"/>
              <a:t>Here is the GUI and samples of output</a:t>
            </a:r>
            <a:endParaRPr lang="en-SG"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963" y="2634558"/>
            <a:ext cx="5559974" cy="3410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70491" y="431741"/>
            <a:ext cx="6217388" cy="830997"/>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cxnSp>
        <p:nvCxnSpPr>
          <p:cNvPr id="7" name="Straight Arrow Connector 6"/>
          <p:cNvCxnSpPr/>
          <p:nvPr/>
        </p:nvCxnSpPr>
        <p:spPr>
          <a:xfrm flipH="1">
            <a:off x="3541313" y="5484073"/>
            <a:ext cx="1" cy="112263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2992028" y="6606702"/>
            <a:ext cx="1098570" cy="307777"/>
          </a:xfrm>
          <a:prstGeom prst="rect">
            <a:avLst/>
          </a:prstGeom>
          <a:noFill/>
          <a:ln w="3175">
            <a:solidFill>
              <a:schemeClr val="tx1"/>
            </a:solidFill>
          </a:ln>
        </p:spPr>
        <p:txBody>
          <a:bodyPr wrap="none" rtlCol="0">
            <a:spAutoFit/>
          </a:bodyPr>
          <a:lstStyle/>
          <a:p>
            <a:r>
              <a:rPr lang="en-GB" sz="1400" dirty="0" err="1"/>
              <a:t>rtbDisplay</a:t>
            </a:r>
            <a:endParaRPr lang="en-SG" sz="1400" dirty="0"/>
          </a:p>
        </p:txBody>
      </p:sp>
      <p:cxnSp>
        <p:nvCxnSpPr>
          <p:cNvPr id="12" name="Straight Arrow Connector 11"/>
          <p:cNvCxnSpPr>
            <a:endCxn id="13" idx="1"/>
          </p:cNvCxnSpPr>
          <p:nvPr/>
        </p:nvCxnSpPr>
        <p:spPr>
          <a:xfrm flipV="1">
            <a:off x="5205736" y="3821918"/>
            <a:ext cx="541658" cy="1"/>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5747394" y="3668029"/>
            <a:ext cx="867545" cy="307777"/>
          </a:xfrm>
          <a:prstGeom prst="rect">
            <a:avLst/>
          </a:prstGeom>
          <a:solidFill>
            <a:schemeClr val="accent3"/>
          </a:solidFill>
          <a:ln w="3175">
            <a:solidFill>
              <a:schemeClr val="tx1"/>
            </a:solidFill>
          </a:ln>
        </p:spPr>
        <p:txBody>
          <a:bodyPr wrap="none" rtlCol="0">
            <a:spAutoFit/>
          </a:bodyPr>
          <a:lstStyle/>
          <a:p>
            <a:r>
              <a:rPr lang="en-GB" sz="1400" dirty="0" err="1"/>
              <a:t>txtPrice</a:t>
            </a:r>
            <a:endParaRPr lang="en-SG" sz="1400" dirty="0"/>
          </a:p>
        </p:txBody>
      </p:sp>
      <p:cxnSp>
        <p:nvCxnSpPr>
          <p:cNvPr id="17" name="Straight Arrow Connector 16"/>
          <p:cNvCxnSpPr>
            <a:endCxn id="18" idx="1"/>
          </p:cNvCxnSpPr>
          <p:nvPr/>
        </p:nvCxnSpPr>
        <p:spPr>
          <a:xfrm flipV="1">
            <a:off x="5194506" y="3087084"/>
            <a:ext cx="541658" cy="2"/>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5736164" y="2933195"/>
            <a:ext cx="819455" cy="307777"/>
          </a:xfrm>
          <a:prstGeom prst="rect">
            <a:avLst/>
          </a:prstGeom>
          <a:solidFill>
            <a:schemeClr val="accent3"/>
          </a:solidFill>
          <a:ln w="3175">
            <a:solidFill>
              <a:schemeClr val="tx1"/>
            </a:solidFill>
          </a:ln>
        </p:spPr>
        <p:txBody>
          <a:bodyPr wrap="none" rtlCol="0">
            <a:spAutoFit/>
          </a:bodyPr>
          <a:lstStyle/>
          <a:p>
            <a:r>
              <a:rPr lang="en-GB" sz="1400" dirty="0" err="1"/>
              <a:t>txtTitle</a:t>
            </a:r>
            <a:endParaRPr lang="en-SG" sz="1400" dirty="0"/>
          </a:p>
        </p:txBody>
      </p:sp>
      <p:cxnSp>
        <p:nvCxnSpPr>
          <p:cNvPr id="19" name="Straight Arrow Connector 18"/>
          <p:cNvCxnSpPr>
            <a:endCxn id="20" idx="1"/>
          </p:cNvCxnSpPr>
          <p:nvPr/>
        </p:nvCxnSpPr>
        <p:spPr>
          <a:xfrm flipV="1">
            <a:off x="5199508" y="3459823"/>
            <a:ext cx="541658" cy="2"/>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741166" y="3305934"/>
            <a:ext cx="915635" cy="307777"/>
          </a:xfrm>
          <a:prstGeom prst="rect">
            <a:avLst/>
          </a:prstGeom>
          <a:solidFill>
            <a:schemeClr val="accent3"/>
          </a:solidFill>
          <a:ln w="3175">
            <a:solidFill>
              <a:schemeClr val="tx1"/>
            </a:solidFill>
          </a:ln>
        </p:spPr>
        <p:txBody>
          <a:bodyPr wrap="none" rtlCol="0">
            <a:spAutoFit/>
          </a:bodyPr>
          <a:lstStyle/>
          <a:p>
            <a:r>
              <a:rPr lang="en-GB" sz="1400" dirty="0" err="1"/>
              <a:t>txtArtist</a:t>
            </a:r>
            <a:endParaRPr lang="en-SG" sz="1400" dirty="0"/>
          </a:p>
        </p:txBody>
      </p:sp>
    </p:spTree>
    <p:custDataLst>
      <p:tags r:id="rId1"/>
    </p:custDataLst>
    <p:extLst>
      <p:ext uri="{BB962C8B-B14F-4D97-AF65-F5344CB8AC3E}">
        <p14:creationId xmlns:p14="http://schemas.microsoft.com/office/powerpoint/2010/main" val="2101897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sp>
        <p:nvSpPr>
          <p:cNvPr id="5" name="Text Box 3"/>
          <p:cNvSpPr txBox="1">
            <a:spLocks noChangeArrowheads="1"/>
          </p:cNvSpPr>
          <p:nvPr/>
        </p:nvSpPr>
        <p:spPr bwMode="auto">
          <a:xfrm>
            <a:off x="647792" y="1365940"/>
            <a:ext cx="5140325" cy="461665"/>
          </a:xfrm>
          <a:prstGeom prst="rect">
            <a:avLst/>
          </a:prstGeom>
          <a:noFill/>
          <a:ln w="12700">
            <a:noFill/>
            <a:miter lim="800000"/>
            <a:headEnd type="none" w="sm" len="sm"/>
            <a:tailEnd type="none" w="sm" len="sm"/>
          </a:ln>
        </p:spPr>
        <p:txBody>
          <a:bodyPr>
            <a:spAutoFit/>
          </a:bodyPr>
          <a:lstStyle/>
          <a:p>
            <a:pPr marL="342900" lvl="3"/>
            <a:r>
              <a:rPr lang="en-GB" sz="2400" dirty="0">
                <a:latin typeface="+mn-lt"/>
              </a:rPr>
              <a:t>Fill in the missing codes</a:t>
            </a:r>
          </a:p>
        </p:txBody>
      </p:sp>
      <p:sp>
        <p:nvSpPr>
          <p:cNvPr id="2" name="Rectangle 1"/>
          <p:cNvSpPr/>
          <p:nvPr/>
        </p:nvSpPr>
        <p:spPr>
          <a:xfrm>
            <a:off x="570945" y="1874006"/>
            <a:ext cx="5992817" cy="5909310"/>
          </a:xfrm>
          <a:prstGeom prst="rect">
            <a:avLst/>
          </a:prstGeom>
        </p:spPr>
        <p:txBody>
          <a:bodyPr wrap="square">
            <a:spAutoFit/>
          </a:bodyPr>
          <a:lstStyle/>
          <a:p>
            <a:endParaRPr lang="en-SG" sz="1400" dirty="0">
              <a:latin typeface="+mn-lt"/>
            </a:endParaRPr>
          </a:p>
          <a:p>
            <a:r>
              <a:rPr lang="en-SG" sz="1400" dirty="0">
                <a:latin typeface="+mn-lt"/>
              </a:rPr>
              <a:t>namespace </a:t>
            </a:r>
            <a:r>
              <a:rPr lang="en-SG" sz="1400" dirty="0" err="1">
                <a:latin typeface="+mn-lt"/>
              </a:rPr>
              <a:t>classAndobject</a:t>
            </a:r>
            <a:endParaRPr lang="en-SG" sz="1400" dirty="0">
              <a:latin typeface="+mn-lt"/>
            </a:endParaRPr>
          </a:p>
          <a:p>
            <a:r>
              <a:rPr lang="en-SG" sz="1400" dirty="0">
                <a:latin typeface="+mn-lt"/>
              </a:rPr>
              <a:t>{</a:t>
            </a:r>
          </a:p>
          <a:p>
            <a:r>
              <a:rPr lang="en-SG" sz="1400" dirty="0">
                <a:latin typeface="+mn-lt"/>
              </a:rPr>
              <a:t>    public partial class Form4Apart2Q1 : Form</a:t>
            </a:r>
          </a:p>
          <a:p>
            <a:r>
              <a:rPr lang="en-SG" sz="1400" dirty="0">
                <a:latin typeface="+mn-lt"/>
              </a:rPr>
              <a:t>    {</a:t>
            </a:r>
          </a:p>
          <a:p>
            <a:r>
              <a:rPr lang="en-SG" sz="1400" dirty="0">
                <a:latin typeface="+mn-lt"/>
              </a:rPr>
              <a:t>        public Form4Apart2Q1()</a:t>
            </a:r>
          </a:p>
          <a:p>
            <a:r>
              <a:rPr lang="en-SG" sz="1400" dirty="0">
                <a:latin typeface="+mn-lt"/>
              </a:rPr>
              <a:t>        {</a:t>
            </a:r>
          </a:p>
          <a:p>
            <a:r>
              <a:rPr lang="en-SG" sz="1400" dirty="0">
                <a:latin typeface="+mn-lt"/>
              </a:rPr>
              <a:t>            </a:t>
            </a:r>
            <a:r>
              <a:rPr lang="en-SG" sz="1400" dirty="0" err="1">
                <a:latin typeface="+mn-lt"/>
              </a:rPr>
              <a:t>InitializeComponent</a:t>
            </a:r>
            <a:r>
              <a:rPr lang="en-SG" sz="1400" dirty="0">
                <a:latin typeface="+mn-lt"/>
              </a:rPr>
              <a:t>();</a:t>
            </a:r>
          </a:p>
          <a:p>
            <a:r>
              <a:rPr lang="en-SG" sz="1400" dirty="0">
                <a:latin typeface="+mn-lt"/>
              </a:rPr>
              <a:t>        }</a:t>
            </a:r>
          </a:p>
          <a:p>
            <a:endParaRPr lang="en-SG" sz="1400" dirty="0">
              <a:latin typeface="+mn-lt"/>
            </a:endParaRPr>
          </a:p>
          <a:p>
            <a:r>
              <a:rPr lang="en-SG" sz="1400" dirty="0">
                <a:latin typeface="+mn-lt"/>
              </a:rPr>
              <a:t>        // class variable for two objects</a:t>
            </a:r>
          </a:p>
          <a:p>
            <a:r>
              <a:rPr lang="en-SG" sz="1400" dirty="0">
                <a:latin typeface="+mn-lt"/>
              </a:rPr>
              <a:t>        DVD d1, d2 ;</a:t>
            </a:r>
          </a:p>
          <a:p>
            <a:endParaRPr lang="en-GB" sz="1400" dirty="0">
              <a:latin typeface="+mn-lt"/>
            </a:endParaRPr>
          </a:p>
          <a:p>
            <a:r>
              <a:rPr lang="en-GB" sz="1400" dirty="0">
                <a:latin typeface="+mn-lt"/>
              </a:rPr>
              <a:t>        // Run button will create 2 objects</a:t>
            </a:r>
            <a:endParaRPr lang="en-SG" sz="1400" dirty="0">
              <a:latin typeface="+mn-lt"/>
            </a:endParaRPr>
          </a:p>
          <a:p>
            <a:r>
              <a:rPr lang="en-SG" sz="1400" dirty="0">
                <a:latin typeface="+mn-lt"/>
              </a:rPr>
              <a:t>        private void </a:t>
            </a:r>
            <a:r>
              <a:rPr lang="en-SG" sz="1400" dirty="0" err="1">
                <a:latin typeface="+mn-lt"/>
              </a:rPr>
              <a:t>btnRun_Click</a:t>
            </a:r>
            <a:r>
              <a:rPr lang="en-SG" sz="1400" dirty="0">
                <a:latin typeface="+mn-lt"/>
              </a:rPr>
              <a:t>(object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 create 2 DVD objects</a:t>
            </a:r>
          </a:p>
          <a:p>
            <a:r>
              <a:rPr lang="en-SG" sz="1400" dirty="0">
                <a:latin typeface="+mn-lt"/>
              </a:rPr>
              <a:t>            d1 = new DVD();  </a:t>
            </a:r>
          </a:p>
          <a:p>
            <a:r>
              <a:rPr lang="en-SG" sz="1400" dirty="0">
                <a:latin typeface="+mn-lt"/>
              </a:rPr>
              <a:t>            d2 = ____________________________ ;</a:t>
            </a:r>
          </a:p>
          <a:p>
            <a:endParaRPr lang="en-SG" sz="1400" dirty="0">
              <a:latin typeface="+mn-lt"/>
            </a:endParaRPr>
          </a:p>
          <a:p>
            <a:r>
              <a:rPr lang="en-SG" sz="1400" dirty="0">
                <a:latin typeface="+mn-lt"/>
              </a:rPr>
              <a:t>            </a:t>
            </a:r>
            <a:r>
              <a:rPr lang="en-SG" sz="1400" dirty="0" err="1">
                <a:latin typeface="+mn-lt"/>
              </a:rPr>
              <a:t>rtbDisplay.AppendText</a:t>
            </a:r>
            <a:r>
              <a:rPr lang="en-SG" sz="1400" dirty="0">
                <a:latin typeface="+mn-lt"/>
              </a:rPr>
              <a:t>("2 DVD objects are created! \n");</a:t>
            </a:r>
          </a:p>
          <a:p>
            <a:endParaRPr lang="en-SG" sz="1400" dirty="0">
              <a:latin typeface="+mn-lt"/>
            </a:endParaRPr>
          </a:p>
          <a:p>
            <a:r>
              <a:rPr lang="en-SG" sz="1400" dirty="0">
                <a:latin typeface="+mn-lt"/>
              </a:rPr>
              <a:t>        }</a:t>
            </a:r>
          </a:p>
          <a:p>
            <a:endParaRPr lang="en-SG" sz="1400" dirty="0">
              <a:latin typeface="+mn-lt"/>
            </a:endParaRPr>
          </a:p>
          <a:p>
            <a:endParaRPr lang="en-SG" sz="1400" dirty="0">
              <a:latin typeface="+mn-lt"/>
            </a:endParaRPr>
          </a:p>
          <a:p>
            <a:endParaRPr lang="en-SG" sz="1400" dirty="0">
              <a:latin typeface="+mn-lt"/>
            </a:endParaRPr>
          </a:p>
          <a:p>
            <a:endParaRPr lang="en-SG" sz="1400" dirty="0">
              <a:latin typeface="+mn-lt"/>
            </a:endParaRPr>
          </a:p>
        </p:txBody>
      </p:sp>
    </p:spTree>
    <p:custDataLst>
      <p:tags r:id="rId1"/>
    </p:custDataLst>
    <p:extLst>
      <p:ext uri="{BB962C8B-B14F-4D97-AF65-F5344CB8AC3E}">
        <p14:creationId xmlns:p14="http://schemas.microsoft.com/office/powerpoint/2010/main" val="664739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6581" y="1538157"/>
            <a:ext cx="5812325" cy="6555641"/>
          </a:xfrm>
          <a:prstGeom prst="rect">
            <a:avLst/>
          </a:prstGeom>
        </p:spPr>
        <p:txBody>
          <a:bodyPr wrap="square">
            <a:spAutoFit/>
          </a:bodyPr>
          <a:lstStyle/>
          <a:p>
            <a:r>
              <a:rPr lang="en-SG" sz="1400" dirty="0">
                <a:latin typeface="+mn-lt"/>
              </a:rPr>
              <a:t> class DVD</a:t>
            </a:r>
          </a:p>
          <a:p>
            <a:r>
              <a:rPr lang="en-SG" sz="1400" dirty="0">
                <a:latin typeface="+mn-lt"/>
              </a:rPr>
              <a:t>        {</a:t>
            </a:r>
          </a:p>
          <a:p>
            <a:r>
              <a:rPr lang="en-SG" sz="1400" dirty="0">
                <a:latin typeface="+mn-lt"/>
              </a:rPr>
              <a:t>            string title="default title";</a:t>
            </a:r>
          </a:p>
          <a:p>
            <a:r>
              <a:rPr lang="en-SG" sz="1400" dirty="0">
                <a:latin typeface="+mn-lt"/>
              </a:rPr>
              <a:t>            string artist = "default artist";</a:t>
            </a:r>
          </a:p>
          <a:p>
            <a:r>
              <a:rPr lang="en-SG" sz="1400" dirty="0">
                <a:latin typeface="+mn-lt"/>
              </a:rPr>
              <a:t>            float price = 0f;</a:t>
            </a:r>
          </a:p>
          <a:p>
            <a:endParaRPr lang="en-SG" sz="1400" dirty="0">
              <a:latin typeface="+mn-lt"/>
            </a:endParaRPr>
          </a:p>
          <a:p>
            <a:r>
              <a:rPr lang="en-SG" sz="1400" dirty="0">
                <a:latin typeface="+mn-lt"/>
              </a:rPr>
              <a:t> public void Update(</a:t>
            </a:r>
            <a:r>
              <a:rPr lang="en-SG" sz="1400" dirty="0" err="1">
                <a:latin typeface="+mn-lt"/>
              </a:rPr>
              <a:t>TextBox</a:t>
            </a:r>
            <a:r>
              <a:rPr lang="en-SG" sz="1400" dirty="0">
                <a:latin typeface="+mn-lt"/>
              </a:rPr>
              <a:t> </a:t>
            </a:r>
            <a:r>
              <a:rPr lang="en-SG" sz="1400" dirty="0" err="1">
                <a:latin typeface="+mn-lt"/>
              </a:rPr>
              <a:t>mytitle</a:t>
            </a:r>
            <a:r>
              <a:rPr lang="en-SG" sz="1400" dirty="0">
                <a:latin typeface="+mn-lt"/>
              </a:rPr>
              <a:t>, </a:t>
            </a:r>
            <a:r>
              <a:rPr lang="en-SG" sz="1400" dirty="0" err="1">
                <a:latin typeface="+mn-lt"/>
              </a:rPr>
              <a:t>TextBox</a:t>
            </a:r>
            <a:r>
              <a:rPr lang="en-SG" sz="1400" dirty="0">
                <a:latin typeface="+mn-lt"/>
              </a:rPr>
              <a:t> </a:t>
            </a:r>
            <a:r>
              <a:rPr lang="en-SG" sz="1400" dirty="0" err="1">
                <a:latin typeface="+mn-lt"/>
              </a:rPr>
              <a:t>myartist</a:t>
            </a:r>
            <a:r>
              <a:rPr lang="en-SG" sz="1400" dirty="0">
                <a:latin typeface="+mn-lt"/>
              </a:rPr>
              <a:t>, </a:t>
            </a:r>
            <a:r>
              <a:rPr lang="en-SG" sz="1400" dirty="0" err="1">
                <a:latin typeface="+mn-lt"/>
              </a:rPr>
              <a:t>TextBox</a:t>
            </a:r>
            <a:r>
              <a:rPr lang="en-SG" sz="1400" dirty="0">
                <a:latin typeface="+mn-lt"/>
              </a:rPr>
              <a:t> </a:t>
            </a:r>
            <a:r>
              <a:rPr lang="en-SG" sz="1400" dirty="0" err="1">
                <a:latin typeface="+mn-lt"/>
              </a:rPr>
              <a:t>myprice</a:t>
            </a:r>
            <a:r>
              <a:rPr lang="en-SG" sz="1400" dirty="0">
                <a:latin typeface="+mn-lt"/>
              </a:rPr>
              <a:t>)</a:t>
            </a:r>
          </a:p>
          <a:p>
            <a:r>
              <a:rPr lang="en-SG" sz="1400" dirty="0">
                <a:latin typeface="+mn-lt"/>
              </a:rPr>
              <a:t>            {</a:t>
            </a:r>
          </a:p>
          <a:p>
            <a:r>
              <a:rPr lang="en-SG" sz="1400" dirty="0">
                <a:latin typeface="+mn-lt"/>
              </a:rPr>
              <a:t>                title = </a:t>
            </a:r>
            <a:r>
              <a:rPr lang="en-SG" sz="1400" dirty="0" err="1">
                <a:latin typeface="+mn-lt"/>
              </a:rPr>
              <a:t>mytitle.Text</a:t>
            </a:r>
            <a:r>
              <a:rPr lang="en-SG" sz="1400" dirty="0">
                <a:latin typeface="+mn-lt"/>
              </a:rPr>
              <a:t>;</a:t>
            </a:r>
          </a:p>
          <a:p>
            <a:r>
              <a:rPr lang="en-SG" sz="1400" dirty="0">
                <a:latin typeface="+mn-lt"/>
              </a:rPr>
              <a:t>               __________  = </a:t>
            </a:r>
            <a:r>
              <a:rPr lang="en-SG" sz="1400" dirty="0" err="1">
                <a:latin typeface="+mn-lt"/>
              </a:rPr>
              <a:t>myartist.Text</a:t>
            </a:r>
            <a:r>
              <a:rPr lang="en-SG" sz="1400" dirty="0">
                <a:latin typeface="+mn-lt"/>
              </a:rPr>
              <a:t>;</a:t>
            </a:r>
          </a:p>
          <a:p>
            <a:r>
              <a:rPr lang="en-SG" sz="1400" dirty="0">
                <a:latin typeface="+mn-lt"/>
              </a:rPr>
              <a:t>               __________  = </a:t>
            </a:r>
            <a:r>
              <a:rPr lang="en-SG" sz="1400" dirty="0" err="1">
                <a:latin typeface="+mn-lt"/>
              </a:rPr>
              <a:t>float.Parse</a:t>
            </a:r>
            <a:r>
              <a:rPr lang="en-SG" sz="1400" dirty="0">
                <a:latin typeface="+mn-lt"/>
              </a:rPr>
              <a:t>( ________________ );</a:t>
            </a:r>
          </a:p>
          <a:p>
            <a:r>
              <a:rPr lang="en-SG" sz="1400" dirty="0">
                <a:latin typeface="+mn-lt"/>
              </a:rPr>
              <a:t>                </a:t>
            </a:r>
            <a:r>
              <a:rPr lang="en-SG" sz="1400" dirty="0" err="1">
                <a:latin typeface="+mn-lt"/>
              </a:rPr>
              <a:t>MessageBox.Show</a:t>
            </a:r>
            <a:r>
              <a:rPr lang="en-SG" sz="1400" dirty="0">
                <a:latin typeface="+mn-lt"/>
              </a:rPr>
              <a:t>("DVD updated!");</a:t>
            </a:r>
          </a:p>
          <a:p>
            <a:r>
              <a:rPr lang="en-SG" sz="1400" dirty="0">
                <a:latin typeface="+mn-lt"/>
              </a:rPr>
              <a:t>            }</a:t>
            </a:r>
          </a:p>
          <a:p>
            <a:endParaRPr lang="en-SG" sz="1400" dirty="0">
              <a:latin typeface="+mn-lt"/>
            </a:endParaRPr>
          </a:p>
          <a:p>
            <a:r>
              <a:rPr lang="en-SG" sz="1400" dirty="0">
                <a:latin typeface="+mn-lt"/>
              </a:rPr>
              <a:t> public void Display(</a:t>
            </a:r>
            <a:r>
              <a:rPr lang="en-SG" sz="1400" dirty="0" err="1">
                <a:latin typeface="+mn-lt"/>
              </a:rPr>
              <a:t>RichTextBox</a:t>
            </a:r>
            <a:r>
              <a:rPr lang="en-SG" sz="1400" dirty="0">
                <a:latin typeface="+mn-lt"/>
              </a:rPr>
              <a:t> </a:t>
            </a:r>
            <a:r>
              <a:rPr lang="en-SG" sz="1400" dirty="0" err="1">
                <a:latin typeface="+mn-lt"/>
              </a:rPr>
              <a:t>mydisplay</a:t>
            </a:r>
            <a:r>
              <a:rPr lang="en-SG" sz="1400" dirty="0">
                <a:latin typeface="+mn-lt"/>
              </a:rPr>
              <a:t>)</a:t>
            </a:r>
          </a:p>
          <a:p>
            <a:r>
              <a:rPr lang="en-SG" sz="1400" dirty="0">
                <a:latin typeface="+mn-lt"/>
              </a:rPr>
              <a:t>            {</a:t>
            </a:r>
          </a:p>
          <a:p>
            <a:r>
              <a:rPr lang="en-SG" sz="1400" dirty="0">
                <a:latin typeface="+mn-lt"/>
              </a:rPr>
              <a:t>                </a:t>
            </a:r>
            <a:r>
              <a:rPr lang="en-SG" sz="1400" dirty="0" err="1">
                <a:latin typeface="+mn-lt"/>
              </a:rPr>
              <a:t>mydisplay.AppendText</a:t>
            </a:r>
            <a:r>
              <a:rPr lang="en-SG" sz="1400" dirty="0">
                <a:latin typeface="+mn-lt"/>
              </a:rPr>
              <a:t>("Title is: " + title + " Artist is " + ______________  +  " Price is " + ___________.</a:t>
            </a:r>
            <a:r>
              <a:rPr lang="en-SG" sz="1400" dirty="0" err="1">
                <a:latin typeface="+mn-lt"/>
              </a:rPr>
              <a:t>ToString</a:t>
            </a:r>
            <a:r>
              <a:rPr lang="en-SG" sz="1400" dirty="0">
                <a:latin typeface="+mn-lt"/>
              </a:rPr>
              <a:t>("C") + "\n");</a:t>
            </a:r>
          </a:p>
          <a:p>
            <a:r>
              <a:rPr lang="en-SG" sz="1400" dirty="0">
                <a:latin typeface="+mn-lt"/>
              </a:rPr>
              <a:t>                </a:t>
            </a:r>
          </a:p>
          <a:p>
            <a:r>
              <a:rPr lang="en-SG" sz="1400" dirty="0">
                <a:latin typeface="+mn-lt"/>
              </a:rPr>
              <a:t>            }</a:t>
            </a:r>
          </a:p>
          <a:p>
            <a:endParaRPr lang="en-SG" sz="1400" dirty="0">
              <a:latin typeface="+mn-lt"/>
            </a:endParaRPr>
          </a:p>
          <a:p>
            <a:r>
              <a:rPr lang="en-SG" sz="1400" dirty="0">
                <a:latin typeface="+mn-lt"/>
              </a:rPr>
              <a:t>            // Getter method for </a:t>
            </a:r>
            <a:r>
              <a:rPr lang="en-SG" sz="1400" dirty="0" err="1">
                <a:latin typeface="+mn-lt"/>
              </a:rPr>
              <a:t>GetPrice</a:t>
            </a:r>
            <a:endParaRPr lang="en-SG" sz="1400" dirty="0">
              <a:latin typeface="+mn-lt"/>
            </a:endParaRPr>
          </a:p>
          <a:p>
            <a:r>
              <a:rPr lang="en-SG" sz="1400" dirty="0">
                <a:latin typeface="+mn-lt"/>
              </a:rPr>
              <a:t>            public _____________    </a:t>
            </a:r>
            <a:r>
              <a:rPr lang="en-SG" sz="1400" dirty="0" err="1">
                <a:latin typeface="+mn-lt"/>
              </a:rPr>
              <a:t>GetPrice</a:t>
            </a:r>
            <a:r>
              <a:rPr lang="en-SG" sz="1400" dirty="0">
                <a:latin typeface="+mn-lt"/>
              </a:rPr>
              <a:t>()</a:t>
            </a:r>
          </a:p>
          <a:p>
            <a:r>
              <a:rPr lang="en-SG" sz="1400" dirty="0">
                <a:latin typeface="+mn-lt"/>
              </a:rPr>
              <a:t>            {</a:t>
            </a:r>
          </a:p>
          <a:p>
            <a:r>
              <a:rPr lang="en-SG" sz="1400" dirty="0">
                <a:latin typeface="+mn-lt"/>
              </a:rPr>
              <a:t>                return __________________ ;</a:t>
            </a:r>
          </a:p>
          <a:p>
            <a:r>
              <a:rPr lang="en-SG" sz="1400" dirty="0">
                <a:latin typeface="+mn-lt"/>
              </a:rPr>
              <a:t>            }</a:t>
            </a:r>
          </a:p>
          <a:p>
            <a:r>
              <a:rPr lang="en-SG" sz="1400" dirty="0">
                <a:latin typeface="+mn-lt"/>
              </a:rPr>
              <a:t>            </a:t>
            </a:r>
          </a:p>
          <a:p>
            <a:endParaRPr lang="en-SG" sz="1400" dirty="0">
              <a:latin typeface="+mn-lt"/>
            </a:endParaRPr>
          </a:p>
          <a:p>
            <a:r>
              <a:rPr lang="en-SG" sz="1400" dirty="0">
                <a:latin typeface="+mn-lt"/>
              </a:rPr>
              <a:t>         } // end of Class</a:t>
            </a:r>
          </a:p>
        </p:txBody>
      </p:sp>
      <p:sp>
        <p:nvSpPr>
          <p:cNvPr id="5" name="Title 3"/>
          <p:cNvSpPr>
            <a:spLocks noGrp="1"/>
          </p:cNvSpPr>
          <p:nvPr>
            <p:ph type="title"/>
          </p:nvPr>
        </p:nvSpPr>
        <p:spPr>
          <a:xfrm>
            <a:off x="549275" y="277813"/>
            <a:ext cx="6005513" cy="855662"/>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spTree>
    <p:custDataLst>
      <p:tags r:id="rId1"/>
    </p:custDataLst>
    <p:extLst>
      <p:ext uri="{BB962C8B-B14F-4D97-AF65-F5344CB8AC3E}">
        <p14:creationId xmlns:p14="http://schemas.microsoft.com/office/powerpoint/2010/main" val="121286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7136" y="1410634"/>
            <a:ext cx="5645967" cy="7417415"/>
          </a:xfrm>
          <a:prstGeom prst="rect">
            <a:avLst/>
          </a:prstGeom>
        </p:spPr>
        <p:txBody>
          <a:bodyPr wrap="square">
            <a:spAutoFit/>
          </a:bodyPr>
          <a:lstStyle/>
          <a:p>
            <a:r>
              <a:rPr lang="en-SG" sz="1400" dirty="0">
                <a:latin typeface="+mn-lt"/>
              </a:rPr>
              <a:t> private void btnUpdateDVD1_Click(object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d1.Update(</a:t>
            </a:r>
            <a:r>
              <a:rPr lang="en-SG" sz="1400" dirty="0" err="1">
                <a:latin typeface="+mn-lt"/>
              </a:rPr>
              <a:t>txtTitle</a:t>
            </a:r>
            <a:r>
              <a:rPr lang="en-SG" sz="1400" dirty="0">
                <a:latin typeface="+mn-lt"/>
              </a:rPr>
              <a:t>, </a:t>
            </a:r>
            <a:r>
              <a:rPr lang="en-SG" sz="1400" dirty="0" err="1">
                <a:latin typeface="+mn-lt"/>
              </a:rPr>
              <a:t>txtArtist</a:t>
            </a:r>
            <a:r>
              <a:rPr lang="en-SG" sz="1400" dirty="0">
                <a:latin typeface="+mn-lt"/>
              </a:rPr>
              <a:t>, </a:t>
            </a:r>
            <a:r>
              <a:rPr lang="en-SG" sz="1400" dirty="0" err="1">
                <a:latin typeface="+mn-lt"/>
              </a:rPr>
              <a:t>txtPrice</a:t>
            </a:r>
            <a:r>
              <a:rPr lang="en-SG" sz="1400" dirty="0">
                <a:latin typeface="+mn-lt"/>
              </a:rPr>
              <a:t>);</a:t>
            </a:r>
          </a:p>
          <a:p>
            <a:endParaRPr lang="en-SG" sz="1400" dirty="0">
              <a:latin typeface="+mn-lt"/>
            </a:endParaRPr>
          </a:p>
          <a:p>
            <a:r>
              <a:rPr lang="en-SG" sz="1400" dirty="0">
                <a:latin typeface="+mn-lt"/>
              </a:rPr>
              <a:t>        }</a:t>
            </a:r>
          </a:p>
          <a:p>
            <a:endParaRPr lang="en-SG" sz="1400" dirty="0">
              <a:latin typeface="+mn-lt"/>
            </a:endParaRPr>
          </a:p>
          <a:p>
            <a:r>
              <a:rPr lang="en-SG" sz="1400" dirty="0">
                <a:latin typeface="+mn-lt"/>
              </a:rPr>
              <a:t>        private void btnUpdateDVD2_Click(object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___________.Update(______, ______, ________) ;</a:t>
            </a:r>
          </a:p>
          <a:p>
            <a:r>
              <a:rPr lang="en-SG" sz="1400" dirty="0">
                <a:latin typeface="+mn-lt"/>
              </a:rPr>
              <a:t>        }</a:t>
            </a:r>
          </a:p>
          <a:p>
            <a:endParaRPr lang="en-SG" sz="1400" dirty="0">
              <a:latin typeface="+mn-lt"/>
            </a:endParaRPr>
          </a:p>
          <a:p>
            <a:r>
              <a:rPr lang="en-SG" sz="1400" dirty="0">
                <a:latin typeface="+mn-lt"/>
              </a:rPr>
              <a:t>        private void btnDisplayDVD1_Click(object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d1.Display(</a:t>
            </a:r>
            <a:r>
              <a:rPr lang="en-SG" sz="1400" dirty="0" err="1">
                <a:latin typeface="+mn-lt"/>
              </a:rPr>
              <a:t>rtbDisplay</a:t>
            </a:r>
            <a:r>
              <a:rPr lang="en-SG" sz="1400" dirty="0">
                <a:latin typeface="+mn-lt"/>
              </a:rPr>
              <a:t>);</a:t>
            </a:r>
          </a:p>
          <a:p>
            <a:r>
              <a:rPr lang="en-SG" sz="1400" dirty="0">
                <a:latin typeface="+mn-lt"/>
              </a:rPr>
              <a:t>        }</a:t>
            </a:r>
          </a:p>
          <a:p>
            <a:endParaRPr lang="en-SG" sz="1400" dirty="0">
              <a:latin typeface="+mn-lt"/>
            </a:endParaRPr>
          </a:p>
          <a:p>
            <a:r>
              <a:rPr lang="en-SG" sz="1400" dirty="0">
                <a:latin typeface="+mn-lt"/>
              </a:rPr>
              <a:t>        private void btnDisplayDVD2_Click(object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___________.Display(___________);</a:t>
            </a:r>
          </a:p>
          <a:p>
            <a:r>
              <a:rPr lang="en-SG" sz="1400" dirty="0">
                <a:latin typeface="+mn-lt"/>
              </a:rPr>
              <a:t>        }</a:t>
            </a:r>
          </a:p>
          <a:p>
            <a:endParaRPr lang="en-SG" sz="1400" dirty="0">
              <a:latin typeface="+mn-lt"/>
            </a:endParaRPr>
          </a:p>
          <a:p>
            <a:r>
              <a:rPr lang="en-SG" sz="1400" dirty="0">
                <a:latin typeface="+mn-lt"/>
              </a:rPr>
              <a:t>        private void </a:t>
            </a:r>
            <a:r>
              <a:rPr lang="en-SG" sz="1400" dirty="0" err="1">
                <a:latin typeface="+mn-lt"/>
              </a:rPr>
              <a:t>btnTotal_Click</a:t>
            </a:r>
            <a:r>
              <a:rPr lang="en-SG" sz="1400" dirty="0">
                <a:latin typeface="+mn-lt"/>
              </a:rPr>
              <a:t>(object sender, </a:t>
            </a:r>
            <a:r>
              <a:rPr lang="en-SG" sz="1400" dirty="0" err="1">
                <a:latin typeface="+mn-lt"/>
              </a:rPr>
              <a:t>EventArgs</a:t>
            </a:r>
            <a:r>
              <a:rPr lang="en-SG" sz="1400" dirty="0">
                <a:latin typeface="+mn-lt"/>
              </a:rPr>
              <a:t> e)</a:t>
            </a:r>
          </a:p>
          <a:p>
            <a:r>
              <a:rPr lang="en-SG" sz="1400" dirty="0">
                <a:latin typeface="+mn-lt"/>
              </a:rPr>
              <a:t>        {</a:t>
            </a:r>
          </a:p>
          <a:p>
            <a:r>
              <a:rPr lang="en-SG" sz="1400" dirty="0">
                <a:latin typeface="+mn-lt"/>
              </a:rPr>
              <a:t>            ____________ total;</a:t>
            </a:r>
          </a:p>
          <a:p>
            <a:endParaRPr lang="en-SG" sz="1400" dirty="0">
              <a:latin typeface="+mn-lt"/>
            </a:endParaRPr>
          </a:p>
          <a:p>
            <a:r>
              <a:rPr lang="en-SG" sz="1400" dirty="0">
                <a:latin typeface="+mn-lt"/>
              </a:rPr>
              <a:t>            total = d1.GetPrice() + ______.____________;</a:t>
            </a:r>
          </a:p>
          <a:p>
            <a:r>
              <a:rPr lang="en-SG" sz="1400" dirty="0">
                <a:latin typeface="+mn-lt"/>
              </a:rPr>
              <a:t>            </a:t>
            </a:r>
            <a:r>
              <a:rPr lang="en-SG" sz="1400" dirty="0" err="1">
                <a:latin typeface="+mn-lt"/>
              </a:rPr>
              <a:t>rtbDisplay.AppendText</a:t>
            </a:r>
            <a:r>
              <a:rPr lang="en-SG" sz="1400" dirty="0">
                <a:latin typeface="+mn-lt"/>
              </a:rPr>
              <a:t>("Total DVD price is " + </a:t>
            </a:r>
            <a:r>
              <a:rPr lang="en-SG" sz="1400" dirty="0" err="1">
                <a:latin typeface="+mn-lt"/>
              </a:rPr>
              <a:t>total.ToString</a:t>
            </a:r>
            <a:r>
              <a:rPr lang="en-SG" sz="1400" dirty="0">
                <a:latin typeface="+mn-lt"/>
              </a:rPr>
              <a:t>("C") + "\n");</a:t>
            </a:r>
          </a:p>
          <a:p>
            <a:endParaRPr lang="en-SG" sz="1400" dirty="0">
              <a:latin typeface="+mn-lt"/>
            </a:endParaRPr>
          </a:p>
          <a:p>
            <a:r>
              <a:rPr lang="en-SG" sz="1400" dirty="0">
                <a:latin typeface="+mn-lt"/>
              </a:rPr>
              <a:t>        }</a:t>
            </a:r>
          </a:p>
          <a:p>
            <a:r>
              <a:rPr lang="en-SG" sz="1400" dirty="0">
                <a:latin typeface="+mn-lt"/>
              </a:rPr>
              <a:t>        </a:t>
            </a:r>
          </a:p>
          <a:p>
            <a:endParaRPr lang="en-SG" sz="1400" dirty="0">
              <a:latin typeface="+mn-lt"/>
            </a:endParaRPr>
          </a:p>
          <a:p>
            <a:r>
              <a:rPr lang="en-SG" sz="1400" dirty="0">
                <a:latin typeface="+mn-lt"/>
              </a:rPr>
              <a:t>    } // end of partial class</a:t>
            </a:r>
          </a:p>
          <a:p>
            <a:r>
              <a:rPr lang="en-SG" sz="1400" dirty="0">
                <a:latin typeface="+mn-lt"/>
              </a:rPr>
              <a:t>}    // end of namespace</a:t>
            </a:r>
          </a:p>
        </p:txBody>
      </p:sp>
      <p:sp>
        <p:nvSpPr>
          <p:cNvPr id="5" name="Title 3"/>
          <p:cNvSpPr>
            <a:spLocks noGrp="1"/>
          </p:cNvSpPr>
          <p:nvPr>
            <p:ph type="title"/>
          </p:nvPr>
        </p:nvSpPr>
        <p:spPr>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spTree>
    <p:custDataLst>
      <p:tags r:id="rId1"/>
    </p:custDataLst>
    <p:extLst>
      <p:ext uri="{BB962C8B-B14F-4D97-AF65-F5344CB8AC3E}">
        <p14:creationId xmlns:p14="http://schemas.microsoft.com/office/powerpoint/2010/main" val="3170176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bwMode="auto">
          <a:xfrm>
            <a:off x="500019" y="1322445"/>
            <a:ext cx="6172385" cy="3267662"/>
          </a:xfrm>
          <a:noFill/>
          <a:ln>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lnSpc>
                <a:spcPct val="100000"/>
              </a:lnSpc>
              <a:spcBef>
                <a:spcPct val="0"/>
              </a:spcBef>
              <a:buClr>
                <a:schemeClr val="tx1"/>
              </a:buClr>
              <a:buFontTx/>
              <a:buAutoNum type="arabicPeriod" startAt="2"/>
            </a:pPr>
            <a:r>
              <a:rPr lang="en-GB" sz="1600" dirty="0"/>
              <a:t>You need to store the name, age and height of some People and to Update and Display the data. Provide methods to set and get  age private data. Complete the class definition with data members (ALL Private) and method members (ALL Public). </a:t>
            </a:r>
          </a:p>
          <a:p>
            <a:pPr marL="0" indent="0" eaLnBrk="1" hangingPunct="1">
              <a:lnSpc>
                <a:spcPct val="100000"/>
              </a:lnSpc>
              <a:spcBef>
                <a:spcPct val="0"/>
              </a:spcBef>
              <a:buClr>
                <a:schemeClr val="tx1"/>
              </a:buClr>
              <a:buNone/>
            </a:pPr>
            <a:r>
              <a:rPr lang="en-GB" sz="1600" dirty="0"/>
              <a:t>     </a:t>
            </a:r>
          </a:p>
          <a:p>
            <a:pPr marL="0" indent="0" eaLnBrk="1" hangingPunct="1">
              <a:lnSpc>
                <a:spcPct val="100000"/>
              </a:lnSpc>
              <a:spcBef>
                <a:spcPct val="0"/>
              </a:spcBef>
              <a:buClr>
                <a:schemeClr val="tx1"/>
              </a:buClr>
              <a:buNone/>
            </a:pPr>
            <a:r>
              <a:rPr lang="en-GB" sz="1600" dirty="0"/>
              <a:t>      Create an application. </a:t>
            </a:r>
          </a:p>
          <a:p>
            <a:pPr marL="1028700" lvl="2" indent="-57150" eaLnBrk="1" hangingPunct="1">
              <a:buClr>
                <a:schemeClr val="tx1"/>
              </a:buClr>
              <a:buFontTx/>
              <a:buAutoNum type="alphaLcParenR"/>
            </a:pPr>
            <a:r>
              <a:rPr lang="en-GB" sz="1600" dirty="0"/>
              <a:t>When loads form, it creates 2 person objects</a:t>
            </a:r>
          </a:p>
          <a:p>
            <a:pPr marL="1028700" lvl="2" indent="-57150" eaLnBrk="1" hangingPunct="1">
              <a:buClr>
                <a:schemeClr val="tx1"/>
              </a:buClr>
              <a:buFontTx/>
              <a:buAutoNum type="alphaLcParenR"/>
            </a:pPr>
            <a:r>
              <a:rPr lang="en-GB" sz="1600" dirty="0"/>
              <a:t> When user clicks on respective Update and Display buttons to update and display the data</a:t>
            </a:r>
          </a:p>
          <a:p>
            <a:pPr marL="1028700" lvl="2" indent="-57150" eaLnBrk="1" hangingPunct="1">
              <a:buClr>
                <a:schemeClr val="tx1"/>
              </a:buClr>
              <a:buFontTx/>
              <a:buAutoNum type="alphaLcParenR"/>
            </a:pPr>
            <a:r>
              <a:rPr lang="en-GB" sz="1600" dirty="0"/>
              <a:t> When user clicks on Average  button, it computes the average age of the 2 persons</a:t>
            </a:r>
          </a:p>
          <a:p>
            <a:pPr marL="971550" lvl="2" indent="0" eaLnBrk="1" hangingPunct="1">
              <a:buClr>
                <a:schemeClr val="tx1"/>
              </a:buClr>
              <a:buNone/>
            </a:pPr>
            <a:endParaRPr lang="en-GB" sz="1600" dirty="0">
              <a:latin typeface="Verdana" pitchFamily="34" charset="0"/>
            </a:endParaRPr>
          </a:p>
        </p:txBody>
      </p:sp>
      <p:sp>
        <p:nvSpPr>
          <p:cNvPr id="4" name="Title 3"/>
          <p:cNvSpPr>
            <a:spLocks noGrp="1"/>
          </p:cNvSpPr>
          <p:nvPr>
            <p:ph type="title"/>
          </p:nvPr>
        </p:nvSpPr>
        <p:spPr>
          <a:xfrm>
            <a:off x="549275" y="277813"/>
            <a:ext cx="6005513" cy="855662"/>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030" y="4562945"/>
            <a:ext cx="5959563" cy="3427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flipH="1">
            <a:off x="3595634" y="6994955"/>
            <a:ext cx="1" cy="112263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3046349" y="8117584"/>
            <a:ext cx="1098570" cy="307777"/>
          </a:xfrm>
          <a:prstGeom prst="rect">
            <a:avLst/>
          </a:prstGeom>
          <a:noFill/>
          <a:ln w="3175">
            <a:solidFill>
              <a:schemeClr val="tx1"/>
            </a:solidFill>
          </a:ln>
        </p:spPr>
        <p:txBody>
          <a:bodyPr wrap="none" rtlCol="0">
            <a:spAutoFit/>
          </a:bodyPr>
          <a:lstStyle/>
          <a:p>
            <a:r>
              <a:rPr lang="en-GB" sz="1400" dirty="0" err="1"/>
              <a:t>rtbDisplay</a:t>
            </a:r>
            <a:endParaRPr lang="en-SG" sz="1400" dirty="0"/>
          </a:p>
        </p:txBody>
      </p:sp>
      <p:cxnSp>
        <p:nvCxnSpPr>
          <p:cNvPr id="8" name="Straight Arrow Connector 7"/>
          <p:cNvCxnSpPr>
            <a:endCxn id="9" idx="1"/>
          </p:cNvCxnSpPr>
          <p:nvPr/>
        </p:nvCxnSpPr>
        <p:spPr>
          <a:xfrm flipV="1">
            <a:off x="5260057" y="5694920"/>
            <a:ext cx="541658" cy="2"/>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5801715" y="5541031"/>
            <a:ext cx="1019831" cy="307777"/>
          </a:xfrm>
          <a:prstGeom prst="rect">
            <a:avLst/>
          </a:prstGeom>
          <a:solidFill>
            <a:schemeClr val="accent3"/>
          </a:solidFill>
          <a:ln w="3175">
            <a:solidFill>
              <a:schemeClr val="tx1"/>
            </a:solidFill>
          </a:ln>
        </p:spPr>
        <p:txBody>
          <a:bodyPr wrap="none" rtlCol="0">
            <a:spAutoFit/>
          </a:bodyPr>
          <a:lstStyle/>
          <a:p>
            <a:r>
              <a:rPr lang="en-GB" sz="1400" dirty="0" err="1"/>
              <a:t>txtHeight</a:t>
            </a:r>
            <a:endParaRPr lang="en-SG" sz="1400" dirty="0"/>
          </a:p>
        </p:txBody>
      </p:sp>
      <p:cxnSp>
        <p:nvCxnSpPr>
          <p:cNvPr id="10" name="Straight Arrow Connector 9"/>
          <p:cNvCxnSpPr>
            <a:endCxn id="11" idx="1"/>
          </p:cNvCxnSpPr>
          <p:nvPr/>
        </p:nvCxnSpPr>
        <p:spPr>
          <a:xfrm flipV="1">
            <a:off x="5248827" y="4960086"/>
            <a:ext cx="541658" cy="2"/>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5790485" y="4806197"/>
            <a:ext cx="955711" cy="307777"/>
          </a:xfrm>
          <a:prstGeom prst="rect">
            <a:avLst/>
          </a:prstGeom>
          <a:solidFill>
            <a:schemeClr val="accent3"/>
          </a:solidFill>
          <a:ln w="3175">
            <a:solidFill>
              <a:schemeClr val="tx1"/>
            </a:solidFill>
          </a:ln>
        </p:spPr>
        <p:txBody>
          <a:bodyPr wrap="none" rtlCol="0">
            <a:spAutoFit/>
          </a:bodyPr>
          <a:lstStyle/>
          <a:p>
            <a:r>
              <a:rPr lang="en-GB" sz="1400" dirty="0" err="1"/>
              <a:t>txtName</a:t>
            </a:r>
            <a:endParaRPr lang="en-SG" sz="1400" dirty="0"/>
          </a:p>
        </p:txBody>
      </p:sp>
      <p:cxnSp>
        <p:nvCxnSpPr>
          <p:cNvPr id="12" name="Straight Arrow Connector 11"/>
          <p:cNvCxnSpPr>
            <a:endCxn id="13" idx="1"/>
          </p:cNvCxnSpPr>
          <p:nvPr/>
        </p:nvCxnSpPr>
        <p:spPr>
          <a:xfrm flipV="1">
            <a:off x="5253829" y="5332825"/>
            <a:ext cx="541658" cy="2"/>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5795487" y="5178936"/>
            <a:ext cx="774571" cy="307777"/>
          </a:xfrm>
          <a:prstGeom prst="rect">
            <a:avLst/>
          </a:prstGeom>
          <a:solidFill>
            <a:schemeClr val="accent3"/>
          </a:solidFill>
          <a:ln w="3175">
            <a:solidFill>
              <a:schemeClr val="tx1"/>
            </a:solidFill>
          </a:ln>
        </p:spPr>
        <p:txBody>
          <a:bodyPr wrap="none" rtlCol="0">
            <a:spAutoFit/>
          </a:bodyPr>
          <a:lstStyle/>
          <a:p>
            <a:r>
              <a:rPr lang="en-GB" sz="1400" dirty="0" err="1"/>
              <a:t>txtAge</a:t>
            </a:r>
            <a:endParaRPr lang="en-SG" sz="1400" dirty="0"/>
          </a:p>
        </p:txBody>
      </p:sp>
      <p:sp>
        <p:nvSpPr>
          <p:cNvPr id="14" name="5-Point Star 13"/>
          <p:cNvSpPr/>
          <p:nvPr/>
        </p:nvSpPr>
        <p:spPr>
          <a:xfrm>
            <a:off x="4944139" y="10633"/>
            <a:ext cx="1414131" cy="1424762"/>
          </a:xfrm>
          <a:prstGeom prst="star5">
            <a:avLst/>
          </a:prstGeom>
          <a:solidFill>
            <a:schemeClr val="accent3">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ustDataLst>
      <p:tags r:id="rId1"/>
    </p:custDataLst>
    <p:extLst>
      <p:ext uri="{BB962C8B-B14F-4D97-AF65-F5344CB8AC3E}">
        <p14:creationId xmlns:p14="http://schemas.microsoft.com/office/powerpoint/2010/main" val="3177891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105" y="1303447"/>
            <a:ext cx="5829300" cy="6472238"/>
          </a:xfrm>
        </p:spPr>
        <p:txBody>
          <a:bodyPr/>
          <a:lstStyle/>
          <a:p>
            <a:pPr marL="0" indent="0">
              <a:buNone/>
            </a:pPr>
            <a:r>
              <a:rPr lang="en-GB" dirty="0"/>
              <a:t>Hints:</a:t>
            </a:r>
          </a:p>
          <a:p>
            <a:r>
              <a:rPr lang="en-GB" dirty="0"/>
              <a:t>Create 2 class variables for person </a:t>
            </a:r>
          </a:p>
          <a:p>
            <a:r>
              <a:rPr lang="en-GB" dirty="0"/>
              <a:t>In Load form event, create the 2 person objects</a:t>
            </a:r>
            <a:endParaRPr lang="en-SG" dirty="0"/>
          </a:p>
        </p:txBody>
      </p:sp>
      <p:sp>
        <p:nvSpPr>
          <p:cNvPr id="4" name="Title 3"/>
          <p:cNvSpPr>
            <a:spLocks noGrp="1"/>
          </p:cNvSpPr>
          <p:nvPr>
            <p:ph type="title"/>
          </p:nvPr>
        </p:nvSpPr>
        <p:spPr>
          <a:xfrm>
            <a:off x="549275" y="277813"/>
            <a:ext cx="6005513" cy="855662"/>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sp>
        <p:nvSpPr>
          <p:cNvPr id="5" name="Rectangle 4"/>
          <p:cNvSpPr/>
          <p:nvPr/>
        </p:nvSpPr>
        <p:spPr>
          <a:xfrm>
            <a:off x="646191" y="3370834"/>
            <a:ext cx="6044320" cy="2862322"/>
          </a:xfrm>
          <a:prstGeom prst="rect">
            <a:avLst/>
          </a:prstGeom>
          <a:solidFill>
            <a:srgbClr val="FFFFFF"/>
          </a:solidFill>
        </p:spPr>
        <p:txBody>
          <a:bodyPr wrap="square">
            <a:spAutoFit/>
          </a:bodyPr>
          <a:lstStyle/>
          <a:p>
            <a:r>
              <a:rPr lang="en-SG" dirty="0"/>
              <a:t>// Class variables</a:t>
            </a:r>
          </a:p>
          <a:p>
            <a:r>
              <a:rPr lang="en-SG" dirty="0"/>
              <a:t>        Person P1, P2;</a:t>
            </a:r>
          </a:p>
          <a:p>
            <a:endParaRPr lang="en-SG" dirty="0"/>
          </a:p>
          <a:p>
            <a:r>
              <a:rPr lang="en-SG" dirty="0"/>
              <a:t>private void Form4Apart2Q2_Load(object sender, </a:t>
            </a:r>
            <a:r>
              <a:rPr lang="en-SG" dirty="0" err="1"/>
              <a:t>EventArgs</a:t>
            </a:r>
            <a:r>
              <a:rPr lang="en-SG" dirty="0"/>
              <a:t> e)</a:t>
            </a:r>
          </a:p>
          <a:p>
            <a:r>
              <a:rPr lang="en-SG" dirty="0"/>
              <a:t>        {</a:t>
            </a:r>
          </a:p>
          <a:p>
            <a:r>
              <a:rPr lang="en-SG" dirty="0"/>
              <a:t>            // create objects when load form</a:t>
            </a:r>
          </a:p>
          <a:p>
            <a:r>
              <a:rPr lang="en-SG" dirty="0"/>
              <a:t>            P1 = new Person();</a:t>
            </a:r>
          </a:p>
          <a:p>
            <a:r>
              <a:rPr lang="en-SG" dirty="0"/>
              <a:t>            P2 = new Person();</a:t>
            </a:r>
          </a:p>
          <a:p>
            <a:r>
              <a:rPr lang="en-SG" dirty="0"/>
              <a:t>        }</a:t>
            </a:r>
          </a:p>
        </p:txBody>
      </p:sp>
      <p:sp>
        <p:nvSpPr>
          <p:cNvPr id="6" name="Rectangular Callout 5"/>
          <p:cNvSpPr/>
          <p:nvPr/>
        </p:nvSpPr>
        <p:spPr>
          <a:xfrm>
            <a:off x="1729213" y="6491334"/>
            <a:ext cx="4834550" cy="1720158"/>
          </a:xfrm>
          <a:prstGeom prst="wedgeRectCallout">
            <a:avLst>
              <a:gd name="adj1" fmla="val 2951"/>
              <a:gd name="adj2" fmla="val -10328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Double click on the form, IDE will create the _Load Method for you! </a:t>
            </a:r>
          </a:p>
          <a:p>
            <a:pPr algn="ctr"/>
            <a:r>
              <a:rPr lang="en-GB" dirty="0"/>
              <a:t>The P1 and P2 objects will be created when the Form is first loaded.</a:t>
            </a:r>
            <a:endParaRPr lang="en-SG" dirty="0"/>
          </a:p>
        </p:txBody>
      </p:sp>
    </p:spTree>
    <p:custDataLst>
      <p:tags r:id="rId1"/>
    </p:custDataLst>
    <p:extLst>
      <p:ext uri="{BB962C8B-B14F-4D97-AF65-F5344CB8AC3E}">
        <p14:creationId xmlns:p14="http://schemas.microsoft.com/office/powerpoint/2010/main" val="3373296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bwMode="auto">
          <a:xfrm>
            <a:off x="497941" y="1289050"/>
            <a:ext cx="6237837" cy="3680315"/>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00000"/>
              </a:lnSpc>
              <a:spcBef>
                <a:spcPct val="0"/>
              </a:spcBef>
              <a:buClr>
                <a:schemeClr val="tx1"/>
              </a:buClr>
              <a:buFontTx/>
              <a:buAutoNum type="arabicPeriod" startAt="3"/>
            </a:pPr>
            <a:r>
              <a:rPr lang="en-GB" sz="1600" dirty="0"/>
              <a:t>You need to store the name, IC, and bank balance of customers and to Update and Display the data.</a:t>
            </a:r>
          </a:p>
          <a:p>
            <a:pPr eaLnBrk="1" hangingPunct="1">
              <a:lnSpc>
                <a:spcPct val="100000"/>
              </a:lnSpc>
              <a:spcBef>
                <a:spcPct val="0"/>
              </a:spcBef>
              <a:buClr>
                <a:schemeClr val="tx1"/>
              </a:buClr>
              <a:buNone/>
            </a:pPr>
            <a:r>
              <a:rPr lang="en-GB" sz="1600" dirty="0"/>
              <a:t>      Provide setter and getter methods for  bank balance (the private data). </a:t>
            </a:r>
          </a:p>
          <a:p>
            <a:pPr eaLnBrk="1" hangingPunct="1">
              <a:lnSpc>
                <a:spcPct val="100000"/>
              </a:lnSpc>
              <a:spcBef>
                <a:spcPct val="0"/>
              </a:spcBef>
              <a:buClr>
                <a:schemeClr val="tx1"/>
              </a:buClr>
              <a:buNone/>
            </a:pPr>
            <a:endParaRPr lang="en-GB" sz="1600" dirty="0"/>
          </a:p>
          <a:p>
            <a:pPr marL="0" indent="0" eaLnBrk="1" hangingPunct="1">
              <a:lnSpc>
                <a:spcPct val="100000"/>
              </a:lnSpc>
              <a:spcBef>
                <a:spcPct val="0"/>
              </a:spcBef>
              <a:buClr>
                <a:schemeClr val="tx1"/>
              </a:buClr>
              <a:buNone/>
            </a:pPr>
            <a:r>
              <a:rPr lang="en-GB" sz="1600" dirty="0"/>
              <a:t> Create an application. </a:t>
            </a:r>
          </a:p>
          <a:p>
            <a:pPr marL="1028700" lvl="2" indent="-57150" eaLnBrk="1" hangingPunct="1">
              <a:buClr>
                <a:schemeClr val="tx1"/>
              </a:buClr>
              <a:buFontTx/>
              <a:buAutoNum type="alphaLcParenR"/>
            </a:pPr>
            <a:r>
              <a:rPr lang="en-GB" sz="1600" dirty="0"/>
              <a:t>When loads form, it creates 2 customers objects</a:t>
            </a:r>
          </a:p>
          <a:p>
            <a:pPr marL="1028700" lvl="2" indent="-57150" eaLnBrk="1" hangingPunct="1">
              <a:buClr>
                <a:schemeClr val="tx1"/>
              </a:buClr>
              <a:buFontTx/>
              <a:buAutoNum type="alphaLcParenR"/>
            </a:pPr>
            <a:r>
              <a:rPr lang="en-GB" sz="1600" dirty="0"/>
              <a:t> When user clicks on respective Update and Display buttons to update and display the data</a:t>
            </a:r>
          </a:p>
          <a:p>
            <a:pPr marL="1028700" lvl="2" indent="-57150" eaLnBrk="1" hangingPunct="1">
              <a:buClr>
                <a:schemeClr val="tx1"/>
              </a:buClr>
              <a:buFontTx/>
              <a:buAutoNum type="alphaLcParenR"/>
            </a:pPr>
            <a:r>
              <a:rPr lang="en-GB" sz="1600" dirty="0"/>
              <a:t> When user clicks on </a:t>
            </a:r>
            <a:r>
              <a:rPr lang="en-GB" sz="1600" dirty="0" err="1"/>
              <a:t>FindMax</a:t>
            </a:r>
            <a:r>
              <a:rPr lang="en-GB" sz="1600" dirty="0"/>
              <a:t>  button, it find the max balance and display it. </a:t>
            </a:r>
          </a:p>
          <a:p>
            <a:pPr marL="1028700" lvl="2" indent="-57150" eaLnBrk="1" hangingPunct="1">
              <a:buClr>
                <a:schemeClr val="tx1"/>
              </a:buClr>
              <a:buFontTx/>
              <a:buAutoNum type="alphaLcParenR"/>
            </a:pPr>
            <a:r>
              <a:rPr lang="en-GB" sz="1600" dirty="0">
                <a:solidFill>
                  <a:srgbClr val="FF0000"/>
                </a:solidFill>
              </a:rPr>
              <a:t>[Bonus!] Add a Clear button to clear the data of both customer objects. You need to call the setter methods to clear the date</a:t>
            </a:r>
            <a:endParaRPr lang="en-GB" sz="1600" dirty="0">
              <a:solidFill>
                <a:srgbClr val="FF0000"/>
              </a:solidFill>
              <a:latin typeface="Courier New" pitchFamily="49" charset="0"/>
            </a:endParaRPr>
          </a:p>
        </p:txBody>
      </p:sp>
      <p:sp>
        <p:nvSpPr>
          <p:cNvPr id="3" name="Title 3"/>
          <p:cNvSpPr>
            <a:spLocks noGrp="1"/>
          </p:cNvSpPr>
          <p:nvPr>
            <p:ph type="title"/>
          </p:nvPr>
        </p:nvSpPr>
        <p:spPr>
          <a:xfrm>
            <a:off x="549275" y="277813"/>
            <a:ext cx="6005513" cy="855662"/>
          </a:xfrm>
          <a:prstGeom prst="rect">
            <a:avLst/>
          </a:prstGeom>
        </p:spPr>
        <p:txBody>
          <a:bodyPr wrap="square">
            <a:spAutoFit/>
          </a:bodyPr>
          <a:lstStyle/>
          <a:p>
            <a:pPr eaLnBrk="1" hangingPunct="1"/>
            <a:r>
              <a:rPr lang="en-GB" sz="2400" b="1" dirty="0"/>
              <a:t>Practical 4A- Part 2: </a:t>
            </a:r>
          </a:p>
          <a:p>
            <a:pPr eaLnBrk="1" hangingPunct="1"/>
            <a:r>
              <a:rPr lang="en-GB" sz="2400" b="1" dirty="0"/>
              <a:t>Classes with Method members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74" y="4969365"/>
            <a:ext cx="6614346" cy="4059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ounded Rectangle 1"/>
          <p:cNvSpPr/>
          <p:nvPr/>
        </p:nvSpPr>
        <p:spPr>
          <a:xfrm>
            <a:off x="437322" y="7981122"/>
            <a:ext cx="2246243" cy="3876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Clear</a:t>
            </a:r>
            <a:endParaRPr lang="en-SG" dirty="0"/>
          </a:p>
        </p:txBody>
      </p:sp>
    </p:spTree>
    <p:custDataLst>
      <p:tags r:id="rId1"/>
    </p:custDataLst>
    <p:extLst>
      <p:ext uri="{BB962C8B-B14F-4D97-AF65-F5344CB8AC3E}">
        <p14:creationId xmlns:p14="http://schemas.microsoft.com/office/powerpoint/2010/main" val="1939574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a:t>
            </a:r>
            <a:endParaRPr lang="en-SG" dirty="0"/>
          </a:p>
        </p:txBody>
      </p:sp>
      <p:sp>
        <p:nvSpPr>
          <p:cNvPr id="3" name="Content Placeholder 2"/>
          <p:cNvSpPr>
            <a:spLocks noGrp="1"/>
          </p:cNvSpPr>
          <p:nvPr>
            <p:ph idx="1"/>
          </p:nvPr>
        </p:nvSpPr>
        <p:spPr>
          <a:xfrm>
            <a:off x="685800" y="1425341"/>
            <a:ext cx="5829300" cy="6636308"/>
          </a:xfrm>
        </p:spPr>
        <p:txBody>
          <a:bodyPr/>
          <a:lstStyle/>
          <a:p>
            <a:r>
              <a:rPr lang="en-GB" dirty="0"/>
              <a:t>Try to apply class and objects in your IT1762 project.</a:t>
            </a:r>
          </a:p>
          <a:p>
            <a:endParaRPr lang="en-GB" dirty="0"/>
          </a:p>
          <a:p>
            <a:pPr marL="0" indent="0">
              <a:buNone/>
            </a:pPr>
            <a:r>
              <a:rPr lang="en-GB" sz="2800" b="1" dirty="0"/>
              <a:t>Self Learn: Advance Objects</a:t>
            </a:r>
          </a:p>
          <a:p>
            <a:r>
              <a:rPr lang="en-GB" dirty="0"/>
              <a:t>Array of Objects</a:t>
            </a:r>
          </a:p>
          <a:p>
            <a:r>
              <a:rPr lang="en-GB" dirty="0"/>
              <a:t>It combines the concepts of Array, For loop, Class and Object</a:t>
            </a:r>
          </a:p>
          <a:p>
            <a:r>
              <a:rPr lang="en-SG" dirty="0">
                <a:hlinkClick r:id="rId3"/>
              </a:rPr>
              <a:t>http://www.dotnetperls.com/object-array</a:t>
            </a:r>
            <a:endParaRPr lang="en-SG" dirty="0"/>
          </a:p>
          <a:p>
            <a:r>
              <a:rPr lang="en-GB" dirty="0"/>
              <a:t>You need it to implement bonus features for your project. </a:t>
            </a:r>
            <a:r>
              <a:rPr lang="en-GB" dirty="0">
                <a:sym typeface="Wingdings" panose="05000000000000000000" pitchFamily="2" charset="2"/>
              </a:rPr>
              <a:t></a:t>
            </a:r>
            <a:endParaRPr lang="en-SG" dirty="0"/>
          </a:p>
        </p:txBody>
      </p:sp>
    </p:spTree>
    <p:custDataLst>
      <p:tags r:id="rId1"/>
    </p:custDataLst>
    <p:extLst>
      <p:ext uri="{BB962C8B-B14F-4D97-AF65-F5344CB8AC3E}">
        <p14:creationId xmlns:p14="http://schemas.microsoft.com/office/powerpoint/2010/main" val="2764741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bwMode="auto">
          <a:xfrm>
            <a:off x="685800" y="2336800"/>
            <a:ext cx="5802313" cy="5791200"/>
          </a:xfrm>
          <a:noFill/>
          <a:ln>
            <a:miter lim="800000"/>
            <a:headEnd/>
            <a:tailEnd/>
          </a:ln>
        </p:spPr>
        <p:txBody>
          <a:bodyPr vert="horz" wrap="square" lIns="92075" tIns="46038" rIns="92075" bIns="46038" numCol="1" anchor="t" anchorCtr="0" compatLnSpc="1">
            <a:prstTxWarp prst="textNoShape">
              <a:avLst/>
            </a:prstTxWarp>
          </a:bodyPr>
          <a:lstStyle/>
          <a:p>
            <a:pPr algn="just" eaLnBrk="1" hangingPunct="1"/>
            <a:endParaRPr lang="en-GB" sz="1800"/>
          </a:p>
          <a:p>
            <a:pPr eaLnBrk="1" hangingPunct="1">
              <a:lnSpc>
                <a:spcPct val="90000"/>
              </a:lnSpc>
              <a:buFont typeface="Wingdings" pitchFamily="2" charset="2"/>
              <a:buNone/>
            </a:pPr>
            <a:endParaRPr lang="en-US" sz="1800" u="sng"/>
          </a:p>
        </p:txBody>
      </p:sp>
      <p:sp>
        <p:nvSpPr>
          <p:cNvPr id="27651" name="Text Box 3"/>
          <p:cNvSpPr txBox="1">
            <a:spLocks noChangeArrowheads="1"/>
          </p:cNvSpPr>
          <p:nvPr/>
        </p:nvSpPr>
        <p:spPr bwMode="auto">
          <a:xfrm>
            <a:off x="1279525" y="2386013"/>
            <a:ext cx="184150" cy="338137"/>
          </a:xfrm>
          <a:prstGeom prst="rect">
            <a:avLst/>
          </a:prstGeom>
          <a:noFill/>
          <a:ln w="12700">
            <a:noFill/>
            <a:miter lim="800000"/>
            <a:headEnd type="none" w="sm" len="sm"/>
            <a:tailEnd type="none" w="sm" len="sm"/>
          </a:ln>
        </p:spPr>
        <p:txBody>
          <a:bodyPr wrap="none">
            <a:spAutoFit/>
          </a:bodyPr>
          <a:lstStyle/>
          <a:p>
            <a:pPr eaLnBrk="0" hangingPunct="0"/>
            <a:endParaRPr lang="en-GB" sz="1800"/>
          </a:p>
        </p:txBody>
      </p:sp>
      <p:sp>
        <p:nvSpPr>
          <p:cNvPr id="27652" name="Rectangle 4"/>
          <p:cNvSpPr>
            <a:spLocks noChangeArrowheads="1"/>
          </p:cNvSpPr>
          <p:nvPr/>
        </p:nvSpPr>
        <p:spPr bwMode="auto">
          <a:xfrm>
            <a:off x="429068" y="1421847"/>
            <a:ext cx="6308725" cy="5522161"/>
          </a:xfrm>
          <a:prstGeom prst="rect">
            <a:avLst/>
          </a:prstGeom>
          <a:noFill/>
          <a:ln w="9525">
            <a:noFill/>
            <a:miter lim="800000"/>
            <a:headEnd/>
            <a:tailEnd/>
          </a:ln>
        </p:spPr>
        <p:txBody>
          <a:bodyPr lIns="92075" tIns="46038" rIns="92075" bIns="46038"/>
          <a:lstStyle/>
          <a:p>
            <a:pPr marL="457200" indent="-457200" defTabSz="457200">
              <a:buClr>
                <a:schemeClr val="hlink"/>
              </a:buClr>
              <a:buFont typeface="Wingdings" pitchFamily="2" charset="2"/>
              <a:buChar char="q"/>
            </a:pPr>
            <a:r>
              <a:rPr lang="en-GB" b="0" dirty="0">
                <a:latin typeface="+mn-lt"/>
              </a:rPr>
              <a:t>Once a class has been defined, you can create many objects from this class, like declaring variables:</a:t>
            </a:r>
            <a:endParaRPr lang="en-US" b="0" dirty="0">
              <a:latin typeface="+mn-lt"/>
            </a:endParaRPr>
          </a:p>
          <a:p>
            <a:pPr marL="457200" indent="-457200" defTabSz="457200">
              <a:buClr>
                <a:schemeClr val="hlink"/>
              </a:buClr>
              <a:buFont typeface="Wingdings" pitchFamily="2" charset="2"/>
              <a:buNone/>
            </a:pPr>
            <a:r>
              <a:rPr lang="en-US" b="0" dirty="0">
                <a:latin typeface="+mn-lt"/>
              </a:rPr>
              <a:t> </a:t>
            </a:r>
            <a:r>
              <a:rPr lang="en-GB" b="0" dirty="0" err="1">
                <a:latin typeface="+mn-lt"/>
              </a:rPr>
              <a:t>eg</a:t>
            </a:r>
            <a:r>
              <a:rPr lang="en-GB" b="0" dirty="0">
                <a:latin typeface="+mn-lt"/>
              </a:rPr>
              <a:t>.</a:t>
            </a:r>
          </a:p>
          <a:p>
            <a:pPr marL="457200" indent="-457200" defTabSz="457200">
              <a:buClr>
                <a:schemeClr val="hlink"/>
              </a:buClr>
              <a:buFont typeface="Wingdings" pitchFamily="2" charset="2"/>
              <a:buNone/>
            </a:pPr>
            <a:r>
              <a:rPr lang="en-GB" b="0" dirty="0">
                <a:latin typeface="+mn-lt"/>
              </a:rPr>
              <a:t>			c</a:t>
            </a:r>
            <a:r>
              <a:rPr lang="en-US" b="0" dirty="0">
                <a:latin typeface="+mn-lt"/>
              </a:rPr>
              <a:t>lass</a:t>
            </a:r>
            <a:r>
              <a:rPr lang="en-GB" b="0" dirty="0">
                <a:latin typeface="+mn-lt"/>
              </a:rPr>
              <a:t> </a:t>
            </a:r>
            <a:r>
              <a:rPr lang="en-GB" b="0" dirty="0">
                <a:solidFill>
                  <a:schemeClr val="hlink"/>
                </a:solidFill>
                <a:latin typeface="+mn-lt"/>
              </a:rPr>
              <a:t>Person</a:t>
            </a:r>
            <a:r>
              <a:rPr lang="en-GB" b="0" dirty="0">
                <a:latin typeface="+mn-lt"/>
              </a:rPr>
              <a:t>{ … }</a:t>
            </a:r>
            <a:endParaRPr lang="en-US" b="0" dirty="0">
              <a:latin typeface="+mn-lt"/>
            </a:endParaRPr>
          </a:p>
          <a:p>
            <a:pPr marL="457200" indent="-457200" defTabSz="457200">
              <a:buClr>
                <a:schemeClr val="hlink"/>
              </a:buClr>
              <a:buFont typeface="Wingdings" pitchFamily="2" charset="2"/>
              <a:buNone/>
            </a:pPr>
            <a:r>
              <a:rPr lang="en-GB" b="0" dirty="0">
                <a:latin typeface="+mn-lt"/>
              </a:rPr>
              <a:t> 			</a:t>
            </a:r>
            <a:r>
              <a:rPr lang="en-GB" b="0" dirty="0">
                <a:solidFill>
                  <a:schemeClr val="hlink"/>
                </a:solidFill>
                <a:latin typeface="+mn-lt"/>
              </a:rPr>
              <a:t>Person</a:t>
            </a:r>
            <a:r>
              <a:rPr lang="en-GB" b="0" dirty="0">
                <a:latin typeface="+mn-lt"/>
              </a:rPr>
              <a:t> </a:t>
            </a:r>
            <a:r>
              <a:rPr lang="en-GB" b="0" dirty="0" err="1">
                <a:latin typeface="+mn-lt"/>
              </a:rPr>
              <a:t>limin</a:t>
            </a:r>
            <a:r>
              <a:rPr lang="en-GB" b="0" dirty="0">
                <a:latin typeface="+mn-lt"/>
              </a:rPr>
              <a:t> = </a:t>
            </a:r>
            <a:r>
              <a:rPr lang="en-GB" b="0" dirty="0">
                <a:solidFill>
                  <a:srgbClr val="0000CC"/>
                </a:solidFill>
                <a:latin typeface="+mn-lt"/>
              </a:rPr>
              <a:t>new</a:t>
            </a:r>
            <a:r>
              <a:rPr lang="en-GB" b="0" dirty="0">
                <a:latin typeface="+mn-lt"/>
              </a:rPr>
              <a:t> </a:t>
            </a:r>
            <a:r>
              <a:rPr lang="en-GB" b="0" dirty="0">
                <a:solidFill>
                  <a:schemeClr val="hlink"/>
                </a:solidFill>
                <a:latin typeface="+mn-lt"/>
              </a:rPr>
              <a:t>Person</a:t>
            </a:r>
            <a:r>
              <a:rPr lang="en-GB" b="0" dirty="0">
                <a:latin typeface="+mn-lt"/>
              </a:rPr>
              <a:t>();</a:t>
            </a:r>
          </a:p>
          <a:p>
            <a:pPr marL="457200" indent="-457200" defTabSz="457200">
              <a:buClr>
                <a:schemeClr val="hlink"/>
              </a:buClr>
              <a:buFont typeface="Wingdings" pitchFamily="2" charset="2"/>
              <a:buNone/>
            </a:pPr>
            <a:r>
              <a:rPr lang="en-GB" b="0" dirty="0">
                <a:latin typeface="+mn-lt"/>
              </a:rPr>
              <a:t>			</a:t>
            </a:r>
            <a:r>
              <a:rPr lang="en-GB" b="0" dirty="0">
                <a:solidFill>
                  <a:schemeClr val="hlink"/>
                </a:solidFill>
                <a:latin typeface="+mn-lt"/>
              </a:rPr>
              <a:t>Person</a:t>
            </a:r>
            <a:r>
              <a:rPr lang="en-GB" b="0" dirty="0">
                <a:latin typeface="+mn-lt"/>
              </a:rPr>
              <a:t> </a:t>
            </a:r>
            <a:r>
              <a:rPr lang="en-GB" b="0" dirty="0" err="1">
                <a:latin typeface="+mn-lt"/>
              </a:rPr>
              <a:t>thomas</a:t>
            </a:r>
            <a:r>
              <a:rPr lang="en-US" b="0" dirty="0">
                <a:latin typeface="+mn-lt"/>
              </a:rPr>
              <a:t> = </a:t>
            </a:r>
            <a:r>
              <a:rPr lang="en-US" b="0" dirty="0">
                <a:solidFill>
                  <a:srgbClr val="0000CC"/>
                </a:solidFill>
                <a:latin typeface="+mn-lt"/>
              </a:rPr>
              <a:t>new</a:t>
            </a:r>
            <a:r>
              <a:rPr lang="en-US" b="0" dirty="0">
                <a:latin typeface="+mn-lt"/>
              </a:rPr>
              <a:t> </a:t>
            </a:r>
            <a:r>
              <a:rPr lang="en-US" b="0" dirty="0">
                <a:solidFill>
                  <a:schemeClr val="hlink"/>
                </a:solidFill>
                <a:latin typeface="+mn-lt"/>
              </a:rPr>
              <a:t>Person</a:t>
            </a:r>
            <a:r>
              <a:rPr lang="en-US" b="0" dirty="0">
                <a:latin typeface="+mn-lt"/>
              </a:rPr>
              <a:t>();</a:t>
            </a:r>
          </a:p>
          <a:p>
            <a:pPr marL="457200" indent="-457200" defTabSz="457200">
              <a:buClr>
                <a:schemeClr val="hlink"/>
              </a:buClr>
              <a:buFont typeface="Wingdings" pitchFamily="2" charset="2"/>
              <a:buNone/>
            </a:pPr>
            <a:endParaRPr lang="en-US" dirty="0">
              <a:latin typeface="+mn-lt"/>
            </a:endParaRPr>
          </a:p>
          <a:p>
            <a:pPr marL="457200" indent="-457200" defTabSz="457200">
              <a:buClr>
                <a:schemeClr val="hlink"/>
              </a:buClr>
              <a:buFont typeface="Wingdings" pitchFamily="2" charset="2"/>
              <a:buNone/>
            </a:pPr>
            <a:r>
              <a:rPr lang="en-US" dirty="0">
                <a:latin typeface="+mn-lt"/>
              </a:rPr>
              <a:t>Syntax:</a:t>
            </a:r>
          </a:p>
          <a:p>
            <a:pPr marL="457200" indent="-457200" defTabSz="457200">
              <a:buClr>
                <a:schemeClr val="hlink"/>
              </a:buClr>
              <a:buFont typeface="Wingdings" pitchFamily="2" charset="2"/>
              <a:buNone/>
            </a:pPr>
            <a:r>
              <a:rPr lang="en-US" b="0" i="1" dirty="0" err="1">
                <a:solidFill>
                  <a:schemeClr val="hlink"/>
                </a:solidFill>
                <a:latin typeface="+mn-lt"/>
              </a:rPr>
              <a:t>class_name</a:t>
            </a:r>
            <a:r>
              <a:rPr lang="en-US" b="0" i="1" dirty="0">
                <a:solidFill>
                  <a:schemeClr val="hlink"/>
                </a:solidFill>
                <a:latin typeface="+mn-lt"/>
              </a:rPr>
              <a:t> </a:t>
            </a:r>
            <a:r>
              <a:rPr lang="en-US" b="0" i="1" dirty="0" err="1">
                <a:solidFill>
                  <a:schemeClr val="hlink"/>
                </a:solidFill>
                <a:latin typeface="+mn-lt"/>
              </a:rPr>
              <a:t>variable_name</a:t>
            </a:r>
            <a:r>
              <a:rPr lang="en-US" b="0" i="1" dirty="0">
                <a:solidFill>
                  <a:schemeClr val="hlink"/>
                </a:solidFill>
                <a:latin typeface="+mn-lt"/>
              </a:rPr>
              <a:t> = new </a:t>
            </a:r>
            <a:r>
              <a:rPr lang="en-US" b="0" i="1" dirty="0" err="1">
                <a:solidFill>
                  <a:schemeClr val="hlink"/>
                </a:solidFill>
                <a:latin typeface="+mn-lt"/>
              </a:rPr>
              <a:t>class_name</a:t>
            </a:r>
            <a:r>
              <a:rPr lang="en-US" b="0" i="1" dirty="0">
                <a:solidFill>
                  <a:schemeClr val="hlink"/>
                </a:solidFill>
                <a:latin typeface="+mn-lt"/>
              </a:rPr>
              <a:t>( );</a:t>
            </a:r>
          </a:p>
          <a:p>
            <a:pPr marL="457200" indent="-457200" defTabSz="457200">
              <a:buClr>
                <a:schemeClr val="hlink"/>
              </a:buClr>
              <a:buFont typeface="Wingdings" pitchFamily="2" charset="2"/>
              <a:buNone/>
            </a:pPr>
            <a:endParaRPr lang="en-US" b="0" dirty="0">
              <a:latin typeface="+mn-lt"/>
            </a:endParaRPr>
          </a:p>
          <a:p>
            <a:pPr marL="457200" indent="-457200" defTabSz="457200">
              <a:buClr>
                <a:schemeClr val="hlink"/>
              </a:buClr>
              <a:buFont typeface="Wingdings" pitchFamily="2" charset="2"/>
              <a:buNone/>
            </a:pPr>
            <a:r>
              <a:rPr lang="en-US" dirty="0">
                <a:solidFill>
                  <a:srgbClr val="0000CC"/>
                </a:solidFill>
                <a:latin typeface="+mn-lt"/>
              </a:rPr>
              <a:t>How to Use an </a:t>
            </a:r>
            <a:r>
              <a:rPr lang="en-GB" dirty="0">
                <a:solidFill>
                  <a:srgbClr val="0000CC"/>
                </a:solidFill>
                <a:latin typeface="+mn-lt"/>
              </a:rPr>
              <a:t>Object</a:t>
            </a:r>
            <a:r>
              <a:rPr lang="en-US" dirty="0">
                <a:latin typeface="+mn-lt"/>
              </a:rPr>
              <a:t> </a:t>
            </a:r>
          </a:p>
          <a:p>
            <a:pPr marL="457200" indent="-457200" defTabSz="457200">
              <a:buClr>
                <a:schemeClr val="hlink"/>
              </a:buClr>
              <a:buFont typeface="Wingdings" pitchFamily="2" charset="2"/>
              <a:buNone/>
            </a:pPr>
            <a:endParaRPr lang="en-US" dirty="0">
              <a:latin typeface="+mn-lt"/>
            </a:endParaRPr>
          </a:p>
          <a:p>
            <a:pPr marL="457200" indent="-457200" defTabSz="457200">
              <a:buClr>
                <a:schemeClr val="hlink"/>
              </a:buClr>
              <a:buFont typeface="Wingdings" pitchFamily="2" charset="2"/>
              <a:buChar char="q"/>
            </a:pPr>
            <a:r>
              <a:rPr lang="en-GB" b="0" dirty="0">
                <a:latin typeface="+mn-lt"/>
              </a:rPr>
              <a:t>The dot ‘.’ is used to refer to one of the members of the object.</a:t>
            </a:r>
            <a:endParaRPr lang="en-US" b="0" dirty="0">
              <a:latin typeface="+mn-lt"/>
            </a:endParaRPr>
          </a:p>
          <a:p>
            <a:pPr marL="457200" indent="-457200" defTabSz="457200">
              <a:buClr>
                <a:schemeClr val="hlink"/>
              </a:buClr>
              <a:buFont typeface="Wingdings" pitchFamily="2" charset="2"/>
              <a:buNone/>
            </a:pPr>
            <a:r>
              <a:rPr lang="en-GB" b="0" dirty="0" err="1">
                <a:latin typeface="+mn-lt"/>
              </a:rPr>
              <a:t>eg</a:t>
            </a:r>
            <a:r>
              <a:rPr lang="en-GB" b="0" dirty="0">
                <a:latin typeface="+mn-lt"/>
              </a:rPr>
              <a:t>.    </a:t>
            </a:r>
            <a:r>
              <a:rPr lang="en-GB" b="0" dirty="0" err="1">
                <a:latin typeface="+mn-lt"/>
              </a:rPr>
              <a:t>limin</a:t>
            </a:r>
            <a:r>
              <a:rPr lang="en-US" b="0" dirty="0">
                <a:latin typeface="+mn-lt"/>
              </a:rPr>
              <a:t>.</a:t>
            </a:r>
            <a:r>
              <a:rPr lang="en-GB" b="0" dirty="0">
                <a:latin typeface="+mn-lt"/>
              </a:rPr>
              <a:t>height</a:t>
            </a:r>
            <a:r>
              <a:rPr lang="en-US" b="0" dirty="0">
                <a:latin typeface="+mn-lt"/>
              </a:rPr>
              <a:t> = </a:t>
            </a:r>
            <a:r>
              <a:rPr lang="en-GB" b="0" dirty="0">
                <a:latin typeface="+mn-lt"/>
              </a:rPr>
              <a:t>1.65</a:t>
            </a:r>
            <a:r>
              <a:rPr lang="en-US" b="0" dirty="0">
                <a:latin typeface="+mn-lt"/>
              </a:rPr>
              <a:t>;</a:t>
            </a:r>
            <a:endParaRPr lang="en-GB" b="0" dirty="0">
              <a:latin typeface="+mn-lt"/>
            </a:endParaRPr>
          </a:p>
          <a:p>
            <a:pPr marL="457200" indent="-457200" defTabSz="457200">
              <a:buClr>
                <a:schemeClr val="hlink"/>
              </a:buClr>
              <a:buFont typeface="Wingdings" pitchFamily="2" charset="2"/>
              <a:buNone/>
            </a:pPr>
            <a:r>
              <a:rPr lang="en-GB" b="0" dirty="0">
                <a:latin typeface="+mn-lt"/>
              </a:rPr>
              <a:t>    	  </a:t>
            </a:r>
            <a:r>
              <a:rPr lang="en-GB" b="0" dirty="0" err="1">
                <a:latin typeface="+mn-lt"/>
              </a:rPr>
              <a:t>thomas</a:t>
            </a:r>
            <a:r>
              <a:rPr lang="en-US" b="0" dirty="0">
                <a:latin typeface="+mn-lt"/>
              </a:rPr>
              <a:t>.</a:t>
            </a:r>
            <a:r>
              <a:rPr lang="en-GB" b="0" dirty="0">
                <a:latin typeface="+mn-lt"/>
              </a:rPr>
              <a:t>height</a:t>
            </a:r>
            <a:r>
              <a:rPr lang="en-US" b="0" dirty="0">
                <a:latin typeface="+mn-lt"/>
              </a:rPr>
              <a:t> = </a:t>
            </a:r>
            <a:r>
              <a:rPr lang="en-GB" b="0" dirty="0">
                <a:latin typeface="+mn-lt"/>
              </a:rPr>
              <a:t>1.75</a:t>
            </a:r>
            <a:r>
              <a:rPr lang="en-US" b="0" dirty="0">
                <a:latin typeface="+mn-lt"/>
              </a:rPr>
              <a:t>;</a:t>
            </a:r>
          </a:p>
          <a:p>
            <a:pPr marL="457200" indent="-457200" defTabSz="457200">
              <a:buClr>
                <a:schemeClr val="hlink"/>
              </a:buClr>
              <a:buFont typeface="Wingdings" pitchFamily="2" charset="2"/>
              <a:buNone/>
            </a:pPr>
            <a:endParaRPr lang="en-GB" b="0" dirty="0">
              <a:latin typeface="+mn-lt"/>
            </a:endParaRPr>
          </a:p>
          <a:p>
            <a:pPr marL="457200" indent="-457200" defTabSz="457200">
              <a:buClr>
                <a:schemeClr val="hlink"/>
              </a:buClr>
              <a:buFont typeface="Wingdings" pitchFamily="2" charset="2"/>
              <a:buNone/>
            </a:pPr>
            <a:r>
              <a:rPr lang="en-GB" b="0" i="1" dirty="0">
                <a:latin typeface="+mn-lt"/>
              </a:rPr>
              <a:t>Note: you can use the dot ‘.’ only if the data member or method is </a:t>
            </a:r>
            <a:r>
              <a:rPr lang="en-GB" i="1" dirty="0">
                <a:solidFill>
                  <a:schemeClr val="hlink"/>
                </a:solidFill>
                <a:latin typeface="+mn-lt"/>
              </a:rPr>
              <a:t>PUBLIC</a:t>
            </a:r>
            <a:endParaRPr lang="en-US" b="0" dirty="0">
              <a:solidFill>
                <a:schemeClr val="hlink"/>
              </a:solidFill>
              <a:latin typeface="+mn-lt"/>
            </a:endParaRPr>
          </a:p>
        </p:txBody>
      </p:sp>
      <p:sp>
        <p:nvSpPr>
          <p:cNvPr id="2" name="Rectangle 1"/>
          <p:cNvSpPr/>
          <p:nvPr/>
        </p:nvSpPr>
        <p:spPr>
          <a:xfrm>
            <a:off x="471173" y="656613"/>
            <a:ext cx="5658020" cy="584775"/>
          </a:xfrm>
          <a:prstGeom prst="rect">
            <a:avLst/>
          </a:prstGeom>
        </p:spPr>
        <p:txBody>
          <a:bodyPr wrap="square">
            <a:spAutoFit/>
          </a:bodyPr>
          <a:lstStyle/>
          <a:p>
            <a:pPr marL="457200" indent="-457200" defTabSz="457200">
              <a:buClr>
                <a:schemeClr val="hlink"/>
              </a:buClr>
              <a:buFont typeface="Wingdings" pitchFamily="2" charset="2"/>
              <a:buNone/>
            </a:pPr>
            <a:r>
              <a:rPr lang="en-US" sz="3200" dirty="0">
                <a:latin typeface="+mn-lt"/>
              </a:rPr>
              <a:t>Creating </a:t>
            </a:r>
            <a:r>
              <a:rPr lang="en-GB" sz="3200" dirty="0">
                <a:latin typeface="+mn-lt"/>
              </a:rPr>
              <a:t>Objects from a Class</a:t>
            </a:r>
            <a:endParaRPr lang="en-US" sz="2800" dirty="0">
              <a:latin typeface="+mn-lt"/>
            </a:endParaRPr>
          </a:p>
        </p:txBody>
      </p:sp>
    </p:spTree>
    <p:custDataLst>
      <p:tags r:id="rId1"/>
    </p:custDataLst>
    <p:extLst>
      <p:ext uri="{BB962C8B-B14F-4D97-AF65-F5344CB8AC3E}">
        <p14:creationId xmlns:p14="http://schemas.microsoft.com/office/powerpoint/2010/main" val="371992212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506745" y="1433513"/>
            <a:ext cx="6021388" cy="6870515"/>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00000"/>
              </a:lnSpc>
              <a:spcBef>
                <a:spcPct val="20000"/>
              </a:spcBef>
            </a:pPr>
            <a:r>
              <a:rPr lang="en-US" sz="1800" dirty="0"/>
              <a:t>How to define a class</a:t>
            </a:r>
          </a:p>
          <a:p>
            <a:pPr eaLnBrk="1" hangingPunct="1">
              <a:lnSpc>
                <a:spcPct val="100000"/>
              </a:lnSpc>
              <a:spcBef>
                <a:spcPct val="20000"/>
              </a:spcBef>
              <a:buFont typeface="Wingdings" pitchFamily="2" charset="2"/>
              <a:buNone/>
            </a:pPr>
            <a:r>
              <a:rPr lang="en-US" sz="1800" dirty="0"/>
              <a:t>	</a:t>
            </a:r>
            <a:r>
              <a:rPr lang="en-US" sz="1800" dirty="0">
                <a:solidFill>
                  <a:schemeClr val="hlink"/>
                </a:solidFill>
                <a:latin typeface="Verdana" pitchFamily="34" charset="0"/>
              </a:rPr>
              <a:t>class</a:t>
            </a:r>
            <a:r>
              <a:rPr lang="en-US" sz="1800" dirty="0">
                <a:latin typeface="Verdana" pitchFamily="34" charset="0"/>
              </a:rPr>
              <a:t> &lt;</a:t>
            </a:r>
            <a:r>
              <a:rPr lang="en-US" sz="1800" dirty="0" err="1">
                <a:latin typeface="Verdana" pitchFamily="34" charset="0"/>
              </a:rPr>
              <a:t>class_Name</a:t>
            </a:r>
            <a:r>
              <a:rPr lang="en-US" sz="1800" dirty="0">
                <a:latin typeface="Verdana" pitchFamily="34" charset="0"/>
              </a:rPr>
              <a:t>&gt;</a:t>
            </a:r>
          </a:p>
          <a:p>
            <a:pPr eaLnBrk="1" hangingPunct="1">
              <a:lnSpc>
                <a:spcPct val="100000"/>
              </a:lnSpc>
              <a:spcBef>
                <a:spcPct val="20000"/>
              </a:spcBef>
              <a:buFont typeface="Wingdings" pitchFamily="2" charset="2"/>
              <a:buNone/>
            </a:pPr>
            <a:r>
              <a:rPr lang="en-US" sz="1800" dirty="0">
                <a:latin typeface="Verdana" pitchFamily="34" charset="0"/>
              </a:rPr>
              <a:t>	</a:t>
            </a:r>
            <a:r>
              <a:rPr lang="en-US" sz="1800" dirty="0">
                <a:solidFill>
                  <a:schemeClr val="hlink"/>
                </a:solidFill>
                <a:latin typeface="Verdana" pitchFamily="34" charset="0"/>
              </a:rPr>
              <a:t>{</a:t>
            </a:r>
          </a:p>
          <a:p>
            <a:pPr eaLnBrk="1" hangingPunct="1">
              <a:lnSpc>
                <a:spcPct val="100000"/>
              </a:lnSpc>
              <a:spcBef>
                <a:spcPct val="20000"/>
              </a:spcBef>
              <a:buFont typeface="Wingdings" pitchFamily="2" charset="2"/>
              <a:buNone/>
            </a:pPr>
            <a:r>
              <a:rPr lang="en-US" sz="1800" dirty="0">
                <a:latin typeface="Verdana" pitchFamily="34" charset="0"/>
              </a:rPr>
              <a:t>		&lt;class body&gt;</a:t>
            </a:r>
          </a:p>
          <a:p>
            <a:pPr eaLnBrk="1" hangingPunct="1">
              <a:lnSpc>
                <a:spcPct val="100000"/>
              </a:lnSpc>
              <a:spcBef>
                <a:spcPct val="20000"/>
              </a:spcBef>
              <a:buFont typeface="Wingdings" pitchFamily="2" charset="2"/>
              <a:buNone/>
            </a:pPr>
            <a:r>
              <a:rPr lang="en-US" sz="1800" dirty="0">
                <a:latin typeface="Verdana" pitchFamily="34" charset="0"/>
              </a:rPr>
              <a:t>	</a:t>
            </a:r>
            <a:r>
              <a:rPr lang="en-US" sz="1800" dirty="0">
                <a:solidFill>
                  <a:schemeClr val="hlink"/>
                </a:solidFill>
                <a:latin typeface="Verdana" pitchFamily="34" charset="0"/>
              </a:rPr>
              <a:t>}</a:t>
            </a:r>
          </a:p>
          <a:p>
            <a:pPr eaLnBrk="1" hangingPunct="1">
              <a:lnSpc>
                <a:spcPct val="100000"/>
              </a:lnSpc>
              <a:spcBef>
                <a:spcPct val="20000"/>
              </a:spcBef>
            </a:pPr>
            <a:endParaRPr lang="en-US" sz="1800" dirty="0">
              <a:latin typeface="Verdana" pitchFamily="34" charset="0"/>
            </a:endParaRPr>
          </a:p>
          <a:p>
            <a:pPr eaLnBrk="1" hangingPunct="1">
              <a:lnSpc>
                <a:spcPct val="100000"/>
              </a:lnSpc>
              <a:spcBef>
                <a:spcPct val="20000"/>
              </a:spcBef>
            </a:pPr>
            <a:r>
              <a:rPr lang="en-US" sz="1800" dirty="0">
                <a:latin typeface="Verdana" pitchFamily="34" charset="0"/>
              </a:rPr>
              <a:t>Define Data members of a class</a:t>
            </a:r>
          </a:p>
          <a:p>
            <a:pPr marL="857250" lvl="1" indent="-285750" eaLnBrk="1" hangingPunct="1">
              <a:lnSpc>
                <a:spcPct val="100000"/>
              </a:lnSpc>
              <a:spcBef>
                <a:spcPct val="20000"/>
              </a:spcBef>
            </a:pPr>
            <a:r>
              <a:rPr lang="en-US" sz="1800" dirty="0">
                <a:latin typeface="Verdana" pitchFamily="34" charset="0"/>
              </a:rPr>
              <a:t>Private type</a:t>
            </a:r>
          </a:p>
          <a:p>
            <a:pPr marL="857250" lvl="1" indent="-285750" eaLnBrk="1" hangingPunct="1">
              <a:lnSpc>
                <a:spcPct val="100000"/>
              </a:lnSpc>
              <a:spcBef>
                <a:spcPct val="20000"/>
              </a:spcBef>
            </a:pPr>
            <a:r>
              <a:rPr lang="en-US" sz="1800" dirty="0">
                <a:latin typeface="Verdana" pitchFamily="34" charset="0"/>
              </a:rPr>
              <a:t>Public type</a:t>
            </a:r>
          </a:p>
          <a:p>
            <a:pPr marL="857250" lvl="1" indent="-285750" eaLnBrk="1" hangingPunct="1">
              <a:lnSpc>
                <a:spcPct val="100000"/>
              </a:lnSpc>
              <a:spcBef>
                <a:spcPct val="20000"/>
              </a:spcBef>
            </a:pPr>
            <a:endParaRPr lang="en-US" sz="1800" dirty="0">
              <a:latin typeface="Verdana" pitchFamily="34" charset="0"/>
            </a:endParaRPr>
          </a:p>
          <a:p>
            <a:pPr eaLnBrk="1" hangingPunct="1">
              <a:lnSpc>
                <a:spcPct val="100000"/>
              </a:lnSpc>
              <a:spcBef>
                <a:spcPct val="20000"/>
              </a:spcBef>
            </a:pPr>
            <a:r>
              <a:rPr lang="en-US" sz="1800" dirty="0">
                <a:latin typeface="Verdana" pitchFamily="34" charset="0"/>
              </a:rPr>
              <a:t>Define Method members of a class</a:t>
            </a:r>
          </a:p>
          <a:p>
            <a:pPr marL="857250" lvl="1" indent="-285750" eaLnBrk="1" hangingPunct="1">
              <a:lnSpc>
                <a:spcPct val="100000"/>
              </a:lnSpc>
              <a:spcBef>
                <a:spcPct val="20000"/>
              </a:spcBef>
            </a:pPr>
            <a:r>
              <a:rPr lang="en-US" sz="1800" dirty="0">
                <a:latin typeface="Verdana" pitchFamily="34" charset="0"/>
              </a:rPr>
              <a:t>Usually Public type</a:t>
            </a:r>
          </a:p>
          <a:p>
            <a:pPr marL="857250" lvl="1" indent="-285750" eaLnBrk="1" hangingPunct="1">
              <a:lnSpc>
                <a:spcPct val="100000"/>
              </a:lnSpc>
              <a:spcBef>
                <a:spcPct val="20000"/>
              </a:spcBef>
            </a:pPr>
            <a:endParaRPr lang="en-US" sz="1800" dirty="0">
              <a:latin typeface="Verdana" pitchFamily="34" charset="0"/>
            </a:endParaRPr>
          </a:p>
          <a:p>
            <a:pPr eaLnBrk="1" hangingPunct="1">
              <a:lnSpc>
                <a:spcPct val="100000"/>
              </a:lnSpc>
              <a:spcBef>
                <a:spcPct val="20000"/>
              </a:spcBef>
            </a:pPr>
            <a:r>
              <a:rPr lang="en-US" sz="1800" dirty="0">
                <a:latin typeface="Verdana" pitchFamily="34" charset="0"/>
              </a:rPr>
              <a:t>Define Getter and Setting Methods members of a class</a:t>
            </a:r>
          </a:p>
          <a:p>
            <a:pPr marL="857250" lvl="1" indent="-285750" eaLnBrk="1" hangingPunct="1">
              <a:lnSpc>
                <a:spcPct val="100000"/>
              </a:lnSpc>
              <a:spcBef>
                <a:spcPct val="20000"/>
              </a:spcBef>
            </a:pPr>
            <a:r>
              <a:rPr lang="en-US" sz="1800" dirty="0">
                <a:latin typeface="Verdana" pitchFamily="34" charset="0"/>
              </a:rPr>
              <a:t>Public type</a:t>
            </a:r>
          </a:p>
          <a:p>
            <a:pPr marL="857250" lvl="1" indent="-285750" eaLnBrk="1" hangingPunct="1">
              <a:lnSpc>
                <a:spcPct val="100000"/>
              </a:lnSpc>
              <a:spcBef>
                <a:spcPct val="20000"/>
              </a:spcBef>
            </a:pPr>
            <a:r>
              <a:rPr lang="en-US" sz="1800" dirty="0">
                <a:latin typeface="Verdana" pitchFamily="34" charset="0"/>
              </a:rPr>
              <a:t>Return private data</a:t>
            </a:r>
          </a:p>
          <a:p>
            <a:pPr marL="857250" lvl="1" indent="-285750" eaLnBrk="1" hangingPunct="1">
              <a:lnSpc>
                <a:spcPct val="100000"/>
              </a:lnSpc>
              <a:spcBef>
                <a:spcPct val="20000"/>
              </a:spcBef>
            </a:pPr>
            <a:r>
              <a:rPr lang="en-US" sz="1800" dirty="0">
                <a:latin typeface="Verdana" pitchFamily="34" charset="0"/>
              </a:rPr>
              <a:t>Set private data</a:t>
            </a:r>
          </a:p>
          <a:p>
            <a:pPr marL="857250" lvl="1" indent="-285750" eaLnBrk="1" hangingPunct="1">
              <a:lnSpc>
                <a:spcPct val="100000"/>
              </a:lnSpc>
              <a:spcBef>
                <a:spcPct val="20000"/>
              </a:spcBef>
            </a:pPr>
            <a:endParaRPr lang="en-US" sz="1800" dirty="0">
              <a:latin typeface="Verdana" pitchFamily="34" charset="0"/>
            </a:endParaRPr>
          </a:p>
          <a:p>
            <a:pPr eaLnBrk="1" hangingPunct="1">
              <a:lnSpc>
                <a:spcPct val="100000"/>
              </a:lnSpc>
              <a:spcBef>
                <a:spcPct val="20000"/>
              </a:spcBef>
            </a:pPr>
            <a:r>
              <a:rPr lang="en-US" sz="1800" dirty="0">
                <a:latin typeface="Verdana" pitchFamily="34" charset="0"/>
              </a:rPr>
              <a:t>How to create Objects from a class.</a:t>
            </a:r>
          </a:p>
          <a:p>
            <a:pPr eaLnBrk="1" hangingPunct="1">
              <a:lnSpc>
                <a:spcPct val="100000"/>
              </a:lnSpc>
              <a:spcBef>
                <a:spcPct val="20000"/>
              </a:spcBef>
            </a:pPr>
            <a:endParaRPr lang="en-GB" sz="1800" dirty="0">
              <a:latin typeface="Verdana" pitchFamily="34" charset="0"/>
            </a:endParaRPr>
          </a:p>
        </p:txBody>
      </p:sp>
      <p:sp>
        <p:nvSpPr>
          <p:cNvPr id="2" name="Rectangle 1"/>
          <p:cNvSpPr/>
          <p:nvPr/>
        </p:nvSpPr>
        <p:spPr>
          <a:xfrm>
            <a:off x="541977" y="538338"/>
            <a:ext cx="2932213" cy="707886"/>
          </a:xfrm>
          <a:prstGeom prst="rect">
            <a:avLst/>
          </a:prstGeom>
        </p:spPr>
        <p:txBody>
          <a:bodyPr wrap="none">
            <a:spAutoFit/>
          </a:bodyPr>
          <a:lstStyle/>
          <a:p>
            <a:pPr eaLnBrk="1" hangingPunct="1">
              <a:lnSpc>
                <a:spcPct val="100000"/>
              </a:lnSpc>
              <a:spcBef>
                <a:spcPct val="20000"/>
              </a:spcBef>
              <a:buFont typeface="Wingdings" pitchFamily="2" charset="2"/>
              <a:buNone/>
            </a:pPr>
            <a:r>
              <a:rPr lang="en-US" sz="4000" b="1" dirty="0">
                <a:solidFill>
                  <a:schemeClr val="accent6">
                    <a:lumMod val="75000"/>
                  </a:schemeClr>
                </a:solidFill>
              </a:rPr>
              <a:t>Summary</a:t>
            </a:r>
          </a:p>
        </p:txBody>
      </p:sp>
    </p:spTree>
    <p:custDataLst>
      <p:tags r:id="rId1"/>
    </p:custDataLst>
    <p:extLst>
      <p:ext uri="{BB962C8B-B14F-4D97-AF65-F5344CB8AC3E}">
        <p14:creationId xmlns:p14="http://schemas.microsoft.com/office/powerpoint/2010/main" val="12931137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0175" y="1493838"/>
            <a:ext cx="4972050" cy="2946400"/>
          </a:xfrm>
        </p:spPr>
        <p:txBody>
          <a:bodyPr/>
          <a:lstStyle/>
          <a:p>
            <a:pPr algn="ctr" eaLnBrk="1" hangingPunct="1"/>
            <a:r>
              <a:rPr lang="en-GB" sz="3800" dirty="0"/>
              <a:t>IT1762</a:t>
            </a:r>
            <a:br>
              <a:rPr lang="en-GB" sz="3800" dirty="0"/>
            </a:br>
            <a:r>
              <a:rPr lang="en-GB" sz="3800" dirty="0"/>
              <a:t>Data Structures &amp; Algorithms</a:t>
            </a:r>
          </a:p>
        </p:txBody>
      </p:sp>
      <p:sp>
        <p:nvSpPr>
          <p:cNvPr id="3075" name="Rectangle 3"/>
          <p:cNvSpPr>
            <a:spLocks noGrp="1" noChangeArrowheads="1"/>
          </p:cNvSpPr>
          <p:nvPr>
            <p:ph type="subTitle" idx="1"/>
          </p:nvPr>
        </p:nvSpPr>
        <p:spPr>
          <a:xfrm>
            <a:off x="679450" y="5043488"/>
            <a:ext cx="5834063" cy="2336800"/>
          </a:xfrm>
        </p:spPr>
        <p:txBody>
          <a:bodyPr/>
          <a:lstStyle/>
          <a:p>
            <a:pPr eaLnBrk="1" hangingPunct="1"/>
            <a:r>
              <a:rPr lang="en-GB" sz="2800" dirty="0"/>
              <a:t>End of Topic 4</a:t>
            </a:r>
          </a:p>
          <a:p>
            <a:pPr eaLnBrk="1" hangingPunct="1"/>
            <a:r>
              <a:rPr lang="en-GB" sz="2800" i="1" dirty="0">
                <a:solidFill>
                  <a:srgbClr val="FF0000"/>
                </a:solidFill>
              </a:rPr>
              <a:t>Class and Objects in C#</a:t>
            </a:r>
          </a:p>
        </p:txBody>
      </p:sp>
    </p:spTree>
    <p:custDataLst>
      <p:tags r:id="rId1"/>
    </p:custDataLst>
    <p:extLst>
      <p:ext uri="{BB962C8B-B14F-4D97-AF65-F5344CB8AC3E}">
        <p14:creationId xmlns:p14="http://schemas.microsoft.com/office/powerpoint/2010/main" val="399339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10218</TotalTime>
  <Words>2586</Words>
  <Application>Microsoft Office PowerPoint</Application>
  <PresentationFormat>On-screen Show (4:3)</PresentationFormat>
  <Paragraphs>614</Paragraphs>
  <Slides>41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Comic Sans MS</vt:lpstr>
      <vt:lpstr>Courier New</vt:lpstr>
      <vt:lpstr>Times New Roman</vt:lpstr>
      <vt:lpstr>Verdana</vt:lpstr>
      <vt:lpstr>Wingdings</vt:lpstr>
      <vt:lpstr>Layers</vt:lpstr>
      <vt:lpstr>IT1762 Data Structures &amp; Algorithms</vt:lpstr>
      <vt:lpstr>PowerPoint Presentation</vt:lpstr>
      <vt:lpstr>PowerPoint Presentation</vt:lpstr>
      <vt:lpstr>PowerPoint Presentation</vt:lpstr>
      <vt:lpstr>PowerPoint Presentation</vt:lpstr>
      <vt:lpstr>PowerPoint Presentation</vt:lpstr>
      <vt:lpstr>class – Person Member: data (it has.. ) e.g gender=‘F’, hairColor= Golden Member: method (it can ..) e.g update(), display(), setMotion(),  changeHairstyle()</vt:lpstr>
      <vt:lpstr>PowerPoint Presentation</vt:lpstr>
      <vt:lpstr>PowerPoint Presentation</vt:lpstr>
      <vt:lpstr>C# example1 on class and object</vt:lpstr>
      <vt:lpstr>C# example1 on class and object</vt:lpstr>
      <vt:lpstr>C# code example1:</vt:lpstr>
      <vt:lpstr>Explain the class definition: Person class</vt:lpstr>
      <vt:lpstr>C# code example continue</vt:lpstr>
      <vt:lpstr>How to create Object?</vt:lpstr>
      <vt:lpstr>Sequence of Codes</vt:lpstr>
      <vt:lpstr>Observe the output</vt:lpstr>
      <vt:lpstr>C# example on class and object</vt:lpstr>
      <vt:lpstr>PowerPoint Presentation</vt:lpstr>
      <vt:lpstr>PowerPoint Presentation</vt:lpstr>
      <vt:lpstr>How to get started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4A- Part 2:  Classes with Method members</vt:lpstr>
      <vt:lpstr>Practical 4A- Part 2:  Classes with Method members</vt:lpstr>
      <vt:lpstr>Practical 4A- Part 2:  Classes with Method members</vt:lpstr>
      <vt:lpstr>Practical 4A- Part 2:  Classes with Method members</vt:lpstr>
      <vt:lpstr>Practical 4A- Part 2:  Classes with Method members</vt:lpstr>
      <vt:lpstr>Practical 4A- Part 2:  Classes with Method members</vt:lpstr>
      <vt:lpstr>Project</vt:lpstr>
      <vt:lpstr>PowerPoint Presentation</vt:lpstr>
      <vt:lpstr>PowerPoint Presentation</vt:lpstr>
      <vt:lpstr>IT1762 Data Structures &amp; Algorithms</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Computing</dc:title>
  <dc:creator>NYP</dc:creator>
  <cp:lastModifiedBy>TAN AI LIAN</cp:lastModifiedBy>
  <cp:revision>303</cp:revision>
  <cp:lastPrinted>2014-10-27T00:32:03Z</cp:lastPrinted>
  <dcterms:created xsi:type="dcterms:W3CDTF">2003-02-28T08:34:47Z</dcterms:created>
  <dcterms:modified xsi:type="dcterms:W3CDTF">2018-09-25T06:08:04Z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F41FD7FA-482F-4291-8ACA-1B52E1AA250A</vt:lpwstr>
  </property>
  <property fmtid="{D5CDD505-2E9C-101B-9397-08002B2CF9AE}" pid="3" name="ArticulatePath">
    <vt:lpwstr>IT1762 Topic 4 - Classes and Objects</vt:lpwstr>
  </property>
</Properties>
</file>