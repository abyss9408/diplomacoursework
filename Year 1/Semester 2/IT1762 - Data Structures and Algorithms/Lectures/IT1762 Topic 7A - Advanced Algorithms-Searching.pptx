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17"/>
  </p:notesMasterIdLst>
  <p:handoutMasterIdLst>
    <p:handoutMasterId r:id="rId18"/>
  </p:handoutMasterIdLst>
  <p:sldIdLst>
    <p:sldId id="256" r:id="rId2"/>
    <p:sldId id="388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84" r:id="rId16"/>
  </p:sldIdLst>
  <p:sldSz cx="6858000" cy="9144000" type="screen4x3"/>
  <p:notesSz cx="9926638" cy="6797675"/>
  <p:custDataLst>
    <p:tags r:id="rId1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0000FF"/>
    <a:srgbClr val="00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4" autoAdjust="0"/>
    <p:restoredTop sz="94455" autoAdjust="0"/>
  </p:normalViewPr>
  <p:slideViewPr>
    <p:cSldViewPr snapToGrid="0">
      <p:cViewPr>
        <p:scale>
          <a:sx n="75" d="100"/>
          <a:sy n="75" d="100"/>
        </p:scale>
        <p:origin x="1004" y="-10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093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093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1C24FB9D-886C-4E5E-9CE4-2A382B84C7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560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093" y="0"/>
            <a:ext cx="4302005" cy="34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8438" y="511175"/>
            <a:ext cx="1909762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126" y="3228592"/>
            <a:ext cx="7940386" cy="305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093" y="6457184"/>
            <a:ext cx="4302005" cy="33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69" tIns="46485" rIns="92969" bIns="4648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E178DDCB-BF89-403A-84BB-2F516348CD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6663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80506C-91CB-4952-A3CE-AFB42B47EB90}" type="slidenum">
              <a:rPr lang="en-US"/>
              <a:pPr/>
              <a:t>3</a:t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11613" y="517525"/>
            <a:ext cx="1905000" cy="2540000"/>
          </a:xfrm>
          <a:ln cap="flat"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17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2B6AC2-4DEB-4E93-AF16-BA1C352D9453}" type="slidenum">
              <a:rPr lang="en-US"/>
              <a:pPr/>
              <a:t>4</a:t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11613" y="517525"/>
            <a:ext cx="1905000" cy="2540000"/>
          </a:xfrm>
          <a:ln cap="flat"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6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1D08CB-B7C4-4B9B-9CCF-F21C96B484B6}" type="slidenum">
              <a:rPr lang="en-US"/>
              <a:pPr/>
              <a:t>5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11613" y="517525"/>
            <a:ext cx="1905000" cy="2540000"/>
          </a:xfrm>
          <a:ln cap="flat"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90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2340F-F8FF-4F3E-AC06-1F0C3662B70D}" type="slidenum">
              <a:rPr lang="en-US"/>
              <a:pPr/>
              <a:t>10</a:t>
            </a:fld>
            <a:endParaRPr lang="en-US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11613" y="517525"/>
            <a:ext cx="1905000" cy="2540000"/>
          </a:xfrm>
          <a:ln cap="flat"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39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/>
              <a:t>IT1762 Data Structures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6179BE9E-A586-4395-840D-FFD4C572EF2B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9389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390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10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472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789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94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860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01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29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929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271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435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67300" y="179388"/>
            <a:ext cx="1530350" cy="835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6250" y="179388"/>
            <a:ext cx="4438650" cy="835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6430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790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77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454025" y="1030288"/>
            <a:ext cx="6229350" cy="242887"/>
            <a:chOff x="240" y="893"/>
            <a:chExt cx="5232" cy="115"/>
          </a:xfrm>
        </p:grpSpPr>
        <p:sp>
          <p:nvSpPr>
            <p:cNvPr id="29286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287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179388"/>
            <a:ext cx="60483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619250"/>
            <a:ext cx="603885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87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		</a:t>
            </a:r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57FB524B-2D38-437C-8842-0136BB424370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58875" y="1524000"/>
            <a:ext cx="4972050" cy="2946400"/>
          </a:xfrm>
        </p:spPr>
        <p:txBody>
          <a:bodyPr/>
          <a:lstStyle/>
          <a:p>
            <a:pPr algn="r" eaLnBrk="1" hangingPunct="1"/>
            <a:r>
              <a:rPr lang="en-GB" dirty="0"/>
              <a:t>IT1762</a:t>
            </a:r>
            <a:br>
              <a:rPr lang="en-GB" dirty="0"/>
            </a:br>
            <a:r>
              <a:rPr lang="en-GB" dirty="0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47700" y="5138738"/>
            <a:ext cx="5834063" cy="2336800"/>
          </a:xfrm>
        </p:spPr>
        <p:txBody>
          <a:bodyPr/>
          <a:lstStyle/>
          <a:p>
            <a:pPr algn="r" eaLnBrk="1" hangingPunct="1"/>
            <a:r>
              <a:rPr lang="en-SG" sz="3200" dirty="0">
                <a:solidFill>
                  <a:srgbClr val="FF0000"/>
                </a:solidFill>
              </a:rPr>
              <a:t>Topic 7A</a:t>
            </a:r>
          </a:p>
          <a:p>
            <a:pPr algn="r" eaLnBrk="1" hangingPunct="1"/>
            <a:r>
              <a:rPr lang="en-SG" sz="3200" dirty="0">
                <a:solidFill>
                  <a:srgbClr val="FF0000"/>
                </a:solidFill>
              </a:rPr>
              <a:t>Advanced Algorithms</a:t>
            </a:r>
          </a:p>
          <a:p>
            <a:pPr algn="r" eaLnBrk="1" hangingPunct="1"/>
            <a:r>
              <a:rPr lang="en-GB" sz="3200" dirty="0">
                <a:solidFill>
                  <a:srgbClr val="FF0000"/>
                </a:solidFill>
              </a:rPr>
              <a:t>- Searching Algorithms</a:t>
            </a:r>
            <a:endParaRPr lang="en-SG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Instructional Learning 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76251" y="1181101"/>
            <a:ext cx="6296024" cy="3439026"/>
          </a:xfrm>
        </p:spPr>
        <p:txBody>
          <a:bodyPr/>
          <a:lstStyle/>
          <a:p>
            <a:pPr marL="457200" lvl="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GB" dirty="0"/>
              <a:t>Explain the Searching Algorithm</a:t>
            </a:r>
            <a:endParaRPr lang="en-SG" dirty="0"/>
          </a:p>
          <a:p>
            <a:pPr marL="45720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endParaRPr lang="en-US" dirty="0"/>
          </a:p>
          <a:p>
            <a:pPr marL="457200" indent="-457200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q"/>
            </a:pPr>
            <a:r>
              <a:rPr lang="en-US" dirty="0"/>
              <a:t>Describe Different Searching Algorithms</a:t>
            </a:r>
            <a:endParaRPr lang="en-US" sz="2000" dirty="0"/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Sequential Search</a:t>
            </a:r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Indexed Sequential Search</a:t>
            </a:r>
          </a:p>
          <a:p>
            <a:pPr marL="1150938" lvl="1" indent="-579438">
              <a:spcBef>
                <a:spcPct val="3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000" dirty="0"/>
              <a:t>Binary </a:t>
            </a:r>
            <a:r>
              <a:rPr lang="en-GB" sz="2000" dirty="0"/>
              <a:t>Tree </a:t>
            </a:r>
            <a:r>
              <a:rPr lang="en-US" sz="2000" dirty="0"/>
              <a:t>Search</a:t>
            </a:r>
            <a:endParaRPr lang="en-US" i="1" dirty="0"/>
          </a:p>
        </p:txBody>
      </p:sp>
      <p:pic>
        <p:nvPicPr>
          <p:cNvPr id="5" name="Picture 2" descr="C:\Users\tanail\AppData\Local\Microsoft\Windows\Temporary Internet Files\Content.IE5\RXI7DR66\MC90033566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989" y="4534390"/>
            <a:ext cx="3685703" cy="3903479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432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8150" y="1385885"/>
            <a:ext cx="6248400" cy="2747965"/>
          </a:xfrm>
          <a:noFill/>
          <a:ln/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Char char="q"/>
            </a:pPr>
            <a:r>
              <a:rPr lang="en-US" sz="2400" dirty="0"/>
              <a:t>Searching is the process of finding a desired </a:t>
            </a:r>
            <a:r>
              <a:rPr lang="en-US" sz="2400" i="1" dirty="0"/>
              <a:t>record</a:t>
            </a:r>
            <a:r>
              <a:rPr lang="en-US" sz="2400" dirty="0"/>
              <a:t> </a:t>
            </a:r>
            <a:r>
              <a:rPr lang="en-GB" sz="2400" dirty="0"/>
              <a:t>in a </a:t>
            </a:r>
            <a:r>
              <a:rPr lang="en-GB" sz="2400" i="1" dirty="0"/>
              <a:t>table or file</a:t>
            </a:r>
            <a:r>
              <a:rPr lang="en-GB" sz="2400" dirty="0"/>
              <a:t> </a:t>
            </a:r>
            <a:r>
              <a:rPr lang="en-US" sz="2400" dirty="0"/>
              <a:t>based on </a:t>
            </a:r>
            <a:r>
              <a:rPr lang="en-GB" sz="2400" dirty="0"/>
              <a:t>a</a:t>
            </a:r>
            <a:r>
              <a:rPr lang="en-US" sz="2400" dirty="0"/>
              <a:t> </a:t>
            </a:r>
            <a:r>
              <a:rPr lang="en-US" sz="2400" i="1" dirty="0"/>
              <a:t>key</a:t>
            </a:r>
            <a:r>
              <a:rPr lang="en-US" sz="2400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GB" sz="2200" dirty="0"/>
              <a:t>A </a:t>
            </a:r>
            <a:r>
              <a:rPr lang="en-US" sz="2200" b="1" i="1" dirty="0"/>
              <a:t>Table or file</a:t>
            </a:r>
            <a:r>
              <a:rPr lang="en-GB" sz="2200" b="1" i="1" dirty="0"/>
              <a:t> </a:t>
            </a:r>
            <a:r>
              <a:rPr lang="en-US" sz="2200" dirty="0"/>
              <a:t> </a:t>
            </a:r>
            <a:r>
              <a:rPr lang="en-GB" sz="2200" dirty="0"/>
              <a:t>is</a:t>
            </a:r>
            <a:r>
              <a:rPr lang="en-US" sz="2200" dirty="0"/>
              <a:t> of a group of elements</a:t>
            </a:r>
            <a:r>
              <a:rPr lang="en-GB" sz="2200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GB" sz="2200" dirty="0"/>
              <a:t>E</a:t>
            </a:r>
            <a:r>
              <a:rPr lang="en-US" sz="2200" dirty="0"/>
              <a:t>ach element  is a </a:t>
            </a:r>
            <a:r>
              <a:rPr lang="en-US" sz="2200" b="1" i="1" dirty="0"/>
              <a:t>Record</a:t>
            </a:r>
            <a:r>
              <a:rPr lang="en-US" sz="2200" dirty="0"/>
              <a:t>.</a:t>
            </a:r>
          </a:p>
        </p:txBody>
      </p:sp>
      <p:grpSp>
        <p:nvGrpSpPr>
          <p:cNvPr id="228355" name="Group 3"/>
          <p:cNvGrpSpPr>
            <a:grpSpLocks/>
          </p:cNvGrpSpPr>
          <p:nvPr/>
        </p:nvGrpSpPr>
        <p:grpSpPr bwMode="auto">
          <a:xfrm>
            <a:off x="838200" y="4643438"/>
            <a:ext cx="5334000" cy="3025775"/>
            <a:chOff x="768" y="3455"/>
            <a:chExt cx="3072" cy="2064"/>
          </a:xfrm>
        </p:grpSpPr>
        <p:grpSp>
          <p:nvGrpSpPr>
            <p:cNvPr id="228356" name="Group 4"/>
            <p:cNvGrpSpPr>
              <a:grpSpLocks/>
            </p:cNvGrpSpPr>
            <p:nvPr/>
          </p:nvGrpSpPr>
          <p:grpSpPr bwMode="auto">
            <a:xfrm>
              <a:off x="1535" y="3455"/>
              <a:ext cx="2304" cy="1104"/>
              <a:chOff x="1535" y="3455"/>
              <a:chExt cx="2304" cy="1104"/>
            </a:xfrm>
          </p:grpSpPr>
          <p:sp>
            <p:nvSpPr>
              <p:cNvPr id="228357" name="Line 5"/>
              <p:cNvSpPr>
                <a:spLocks noChangeShapeType="1"/>
              </p:cNvSpPr>
              <p:nvPr/>
            </p:nvSpPr>
            <p:spPr bwMode="auto">
              <a:xfrm>
                <a:off x="1535" y="3695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58" name="Line 6"/>
              <p:cNvSpPr>
                <a:spLocks noChangeShapeType="1"/>
              </p:cNvSpPr>
              <p:nvPr/>
            </p:nvSpPr>
            <p:spPr bwMode="auto">
              <a:xfrm flipV="1">
                <a:off x="2735" y="3455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59" name="Line 7"/>
              <p:cNvSpPr>
                <a:spLocks noChangeShapeType="1"/>
              </p:cNvSpPr>
              <p:nvPr/>
            </p:nvSpPr>
            <p:spPr bwMode="auto">
              <a:xfrm>
                <a:off x="2831" y="3455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60" name="Line 8"/>
              <p:cNvSpPr>
                <a:spLocks noChangeShapeType="1"/>
              </p:cNvSpPr>
              <p:nvPr/>
            </p:nvSpPr>
            <p:spPr bwMode="auto">
              <a:xfrm>
                <a:off x="3647" y="3695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61" name="Line 9"/>
              <p:cNvSpPr>
                <a:spLocks noChangeShapeType="1"/>
              </p:cNvSpPr>
              <p:nvPr/>
            </p:nvSpPr>
            <p:spPr bwMode="auto">
              <a:xfrm flipH="1" flipV="1">
                <a:off x="3551" y="3455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62" name="Line 10"/>
              <p:cNvSpPr>
                <a:spLocks noChangeShapeType="1"/>
              </p:cNvSpPr>
              <p:nvPr/>
            </p:nvSpPr>
            <p:spPr bwMode="auto">
              <a:xfrm>
                <a:off x="3839" y="3695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8363" name="Line 11"/>
            <p:cNvSpPr>
              <a:spLocks noChangeShapeType="1"/>
            </p:cNvSpPr>
            <p:nvPr/>
          </p:nvSpPr>
          <p:spPr bwMode="auto">
            <a:xfrm flipH="1">
              <a:off x="1680" y="4655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4" name="Line 12"/>
            <p:cNvSpPr>
              <a:spLocks noChangeShapeType="1"/>
            </p:cNvSpPr>
            <p:nvPr/>
          </p:nvSpPr>
          <p:spPr bwMode="auto">
            <a:xfrm flipH="1" flipV="1">
              <a:off x="1584" y="4415"/>
              <a:ext cx="9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5" name="Line 13"/>
            <p:cNvSpPr>
              <a:spLocks noChangeShapeType="1"/>
            </p:cNvSpPr>
            <p:nvPr/>
          </p:nvSpPr>
          <p:spPr bwMode="auto">
            <a:xfrm flipH="1">
              <a:off x="864" y="4415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6" name="Line 14"/>
            <p:cNvSpPr>
              <a:spLocks noChangeShapeType="1"/>
            </p:cNvSpPr>
            <p:nvPr/>
          </p:nvSpPr>
          <p:spPr bwMode="auto">
            <a:xfrm flipV="1">
              <a:off x="768" y="4415"/>
              <a:ext cx="9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7" name="Line 15"/>
            <p:cNvSpPr>
              <a:spLocks noChangeShapeType="1"/>
            </p:cNvSpPr>
            <p:nvPr/>
          </p:nvSpPr>
          <p:spPr bwMode="auto">
            <a:xfrm>
              <a:off x="768" y="4655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8" name="Line 16"/>
            <p:cNvSpPr>
              <a:spLocks noChangeShapeType="1"/>
            </p:cNvSpPr>
            <p:nvPr/>
          </p:nvSpPr>
          <p:spPr bwMode="auto">
            <a:xfrm>
              <a:off x="2880" y="4655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69" name="Line 17"/>
            <p:cNvSpPr>
              <a:spLocks noChangeShapeType="1"/>
            </p:cNvSpPr>
            <p:nvPr/>
          </p:nvSpPr>
          <p:spPr bwMode="auto">
            <a:xfrm>
              <a:off x="768" y="5519"/>
              <a:ext cx="2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8370" name="Group 18"/>
            <p:cNvGrpSpPr>
              <a:grpSpLocks/>
            </p:cNvGrpSpPr>
            <p:nvPr/>
          </p:nvGrpSpPr>
          <p:grpSpPr bwMode="auto">
            <a:xfrm>
              <a:off x="1008" y="4175"/>
              <a:ext cx="2112" cy="1104"/>
              <a:chOff x="1008" y="4175"/>
              <a:chExt cx="2112" cy="1104"/>
            </a:xfrm>
          </p:grpSpPr>
          <p:grpSp>
            <p:nvGrpSpPr>
              <p:cNvPr id="228371" name="Group 19"/>
              <p:cNvGrpSpPr>
                <a:grpSpLocks/>
              </p:cNvGrpSpPr>
              <p:nvPr/>
            </p:nvGrpSpPr>
            <p:grpSpPr bwMode="auto">
              <a:xfrm>
                <a:off x="1008" y="4175"/>
                <a:ext cx="2112" cy="240"/>
                <a:chOff x="1008" y="4175"/>
                <a:chExt cx="2112" cy="240"/>
              </a:xfrm>
            </p:grpSpPr>
            <p:sp>
              <p:nvSpPr>
                <p:cNvPr id="228372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920" y="4415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73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1824" y="4175"/>
                  <a:ext cx="96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74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104" y="4175"/>
                  <a:ext cx="72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7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008" y="4175"/>
                  <a:ext cx="96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28376" name="Line 24"/>
              <p:cNvSpPr>
                <a:spLocks noChangeShapeType="1"/>
              </p:cNvSpPr>
              <p:nvPr/>
            </p:nvSpPr>
            <p:spPr bwMode="auto">
              <a:xfrm>
                <a:off x="3120" y="4415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77" name="Line 25"/>
              <p:cNvSpPr>
                <a:spLocks noChangeShapeType="1"/>
              </p:cNvSpPr>
              <p:nvPr/>
            </p:nvSpPr>
            <p:spPr bwMode="auto">
              <a:xfrm>
                <a:off x="2880" y="5279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8378" name="Group 26"/>
            <p:cNvGrpSpPr>
              <a:grpSpLocks/>
            </p:cNvGrpSpPr>
            <p:nvPr/>
          </p:nvGrpSpPr>
          <p:grpSpPr bwMode="auto">
            <a:xfrm>
              <a:off x="1248" y="3935"/>
              <a:ext cx="2112" cy="1104"/>
              <a:chOff x="1248" y="3935"/>
              <a:chExt cx="2112" cy="1104"/>
            </a:xfrm>
          </p:grpSpPr>
          <p:grpSp>
            <p:nvGrpSpPr>
              <p:cNvPr id="228379" name="Group 27"/>
              <p:cNvGrpSpPr>
                <a:grpSpLocks/>
              </p:cNvGrpSpPr>
              <p:nvPr/>
            </p:nvGrpSpPr>
            <p:grpSpPr bwMode="auto">
              <a:xfrm>
                <a:off x="1248" y="3935"/>
                <a:ext cx="2112" cy="240"/>
                <a:chOff x="1248" y="3935"/>
                <a:chExt cx="2112" cy="240"/>
              </a:xfrm>
            </p:grpSpPr>
            <p:sp>
              <p:nvSpPr>
                <p:cNvPr id="228380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2160" y="4175"/>
                  <a:ext cx="12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81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2064" y="3935"/>
                  <a:ext cx="96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8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1344" y="3935"/>
                  <a:ext cx="72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8383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248" y="3935"/>
                  <a:ext cx="96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28384" name="Line 32"/>
              <p:cNvSpPr>
                <a:spLocks noChangeShapeType="1"/>
              </p:cNvSpPr>
              <p:nvPr/>
            </p:nvSpPr>
            <p:spPr bwMode="auto">
              <a:xfrm>
                <a:off x="3360" y="4175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385" name="Line 33"/>
              <p:cNvSpPr>
                <a:spLocks noChangeShapeType="1"/>
              </p:cNvSpPr>
              <p:nvPr/>
            </p:nvSpPr>
            <p:spPr bwMode="auto">
              <a:xfrm>
                <a:off x="3120" y="5039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8386" name="Rectangle 34"/>
            <p:cNvSpPr>
              <a:spLocks noChangeArrowheads="1"/>
            </p:cNvSpPr>
            <p:nvPr/>
          </p:nvSpPr>
          <p:spPr bwMode="auto">
            <a:xfrm>
              <a:off x="902" y="4462"/>
              <a:ext cx="400" cy="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GB" sz="2400" b="0"/>
                <a:t>Lee</a:t>
              </a:r>
              <a:endParaRPr lang="en-US" sz="2400" b="0"/>
            </a:p>
          </p:txBody>
        </p:sp>
        <p:sp>
          <p:nvSpPr>
            <p:cNvPr id="228387" name="Rectangle 35"/>
            <p:cNvSpPr>
              <a:spLocks noChangeArrowheads="1"/>
            </p:cNvSpPr>
            <p:nvPr/>
          </p:nvSpPr>
          <p:spPr bwMode="auto">
            <a:xfrm>
              <a:off x="1238" y="4174"/>
              <a:ext cx="438" cy="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GB" sz="2400" b="0"/>
                <a:t>Ong</a:t>
              </a:r>
              <a:endParaRPr lang="en-US" sz="2400" b="0"/>
            </a:p>
          </p:txBody>
        </p:sp>
        <p:sp>
          <p:nvSpPr>
            <p:cNvPr id="228388" name="Rectangle 36"/>
            <p:cNvSpPr>
              <a:spLocks noChangeArrowheads="1"/>
            </p:cNvSpPr>
            <p:nvPr/>
          </p:nvSpPr>
          <p:spPr bwMode="auto">
            <a:xfrm>
              <a:off x="1478" y="3934"/>
              <a:ext cx="409" cy="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GB" sz="2400" b="0"/>
                <a:t>Tan</a:t>
              </a:r>
              <a:endParaRPr lang="en-US" sz="2400" b="0"/>
            </a:p>
          </p:txBody>
        </p:sp>
        <p:sp>
          <p:nvSpPr>
            <p:cNvPr id="228389" name="Rectangle 37"/>
            <p:cNvSpPr>
              <a:spLocks noChangeArrowheads="1"/>
            </p:cNvSpPr>
            <p:nvPr/>
          </p:nvSpPr>
          <p:spPr bwMode="auto">
            <a:xfrm>
              <a:off x="2918" y="3502"/>
              <a:ext cx="361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GB" sz="2400" b="0"/>
                <a:t>Xui</a:t>
              </a:r>
              <a:endParaRPr lang="en-US" sz="2400" b="0"/>
            </a:p>
          </p:txBody>
        </p:sp>
        <p:sp>
          <p:nvSpPr>
            <p:cNvPr id="228390" name="Line 38"/>
            <p:cNvSpPr>
              <a:spLocks noChangeShapeType="1"/>
            </p:cNvSpPr>
            <p:nvPr/>
          </p:nvSpPr>
          <p:spPr bwMode="auto">
            <a:xfrm>
              <a:off x="1536" y="3695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91" name="Line 39"/>
            <p:cNvSpPr>
              <a:spLocks noChangeShapeType="1"/>
            </p:cNvSpPr>
            <p:nvPr/>
          </p:nvSpPr>
          <p:spPr bwMode="auto">
            <a:xfrm>
              <a:off x="3360" y="4559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92" name="Oval 40"/>
            <p:cNvSpPr>
              <a:spLocks noChangeArrowheads="1"/>
            </p:cNvSpPr>
            <p:nvPr/>
          </p:nvSpPr>
          <p:spPr bwMode="auto">
            <a:xfrm>
              <a:off x="3460" y="4947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93" name="Oval 41"/>
            <p:cNvSpPr>
              <a:spLocks noChangeArrowheads="1"/>
            </p:cNvSpPr>
            <p:nvPr/>
          </p:nvSpPr>
          <p:spPr bwMode="auto">
            <a:xfrm>
              <a:off x="3556" y="4803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94" name="Oval 42"/>
            <p:cNvSpPr>
              <a:spLocks noChangeArrowheads="1"/>
            </p:cNvSpPr>
            <p:nvPr/>
          </p:nvSpPr>
          <p:spPr bwMode="auto">
            <a:xfrm>
              <a:off x="3652" y="4659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8395" name="Rectangle 43"/>
          <p:cNvSpPr>
            <a:spLocks noChangeArrowheads="1"/>
          </p:cNvSpPr>
          <p:nvPr/>
        </p:nvSpPr>
        <p:spPr bwMode="auto">
          <a:xfrm>
            <a:off x="2133600" y="7810500"/>
            <a:ext cx="3303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2400" b="0"/>
              <a:t>Records and their keys</a:t>
            </a:r>
          </a:p>
        </p:txBody>
      </p:sp>
      <p:sp>
        <p:nvSpPr>
          <p:cNvPr id="2" name="Rectangle 1"/>
          <p:cNvSpPr/>
          <p:nvPr/>
        </p:nvSpPr>
        <p:spPr>
          <a:xfrm>
            <a:off x="480149" y="510659"/>
            <a:ext cx="51523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60629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nail\AppData\Local\Microsoft\Windows\Temporary Internet Files\Content.IE5\RXI7DR66\MC900412604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6" y="6181699"/>
            <a:ext cx="2945864" cy="265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04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323975"/>
            <a:ext cx="6038850" cy="6913563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GB" sz="2000" b="1" i="1" dirty="0"/>
              <a:t>A </a:t>
            </a:r>
            <a:r>
              <a:rPr lang="en-US" sz="2000" b="1" i="1" dirty="0">
                <a:solidFill>
                  <a:srgbClr val="FF0000"/>
                </a:solidFill>
              </a:rPr>
              <a:t>Key</a:t>
            </a:r>
            <a:r>
              <a:rPr lang="en-GB" sz="2000" b="1" i="1" dirty="0"/>
              <a:t> </a:t>
            </a:r>
            <a:r>
              <a:rPr lang="en-GB" sz="2000" dirty="0"/>
              <a:t>is</a:t>
            </a:r>
            <a:r>
              <a:rPr lang="en-US" sz="2000" dirty="0"/>
              <a:t> </a:t>
            </a:r>
            <a:r>
              <a:rPr lang="en-GB" sz="2000" dirty="0"/>
              <a:t>a field which identifies a</a:t>
            </a:r>
            <a:r>
              <a:rPr lang="en-US" sz="2000" dirty="0"/>
              <a:t> record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GB" sz="2000" dirty="0"/>
              <a:t>E</a:t>
            </a:r>
            <a:r>
              <a:rPr lang="en-US" sz="2000" dirty="0"/>
              <a:t>very file there is at least one key</a:t>
            </a:r>
          </a:p>
          <a:p>
            <a:pPr lvl="1">
              <a:lnSpc>
                <a:spcPct val="120000"/>
              </a:lnSpc>
              <a:buFontTx/>
              <a:buChar char="•"/>
            </a:pPr>
            <a:r>
              <a:rPr lang="en-US" sz="2000" dirty="0"/>
              <a:t> a </a:t>
            </a:r>
            <a:r>
              <a:rPr lang="en-US" sz="2000" b="1" i="1" dirty="0">
                <a:solidFill>
                  <a:srgbClr val="FF0000"/>
                </a:solidFill>
              </a:rPr>
              <a:t>primary</a:t>
            </a:r>
            <a:r>
              <a:rPr lang="en-US" sz="2000" dirty="0"/>
              <a:t> key is </a:t>
            </a:r>
            <a:r>
              <a:rPr lang="en-US" sz="2000" dirty="0" err="1"/>
              <a:t>uniquel</a:t>
            </a:r>
            <a:r>
              <a:rPr lang="en-GB" sz="2000" dirty="0"/>
              <a:t>y identifies</a:t>
            </a:r>
            <a:endParaRPr lang="en-US" sz="2000" dirty="0"/>
          </a:p>
          <a:p>
            <a:pPr lvl="1">
              <a:lnSpc>
                <a:spcPct val="120000"/>
              </a:lnSpc>
              <a:buFontTx/>
              <a:buChar char="•"/>
            </a:pPr>
            <a:r>
              <a:rPr lang="en-US" sz="2000" dirty="0"/>
              <a:t> a </a:t>
            </a:r>
            <a:r>
              <a:rPr lang="en-US" sz="2000" b="1" i="1" dirty="0">
                <a:solidFill>
                  <a:srgbClr val="FF0000"/>
                </a:solidFill>
              </a:rPr>
              <a:t>secondary</a:t>
            </a:r>
            <a:r>
              <a:rPr lang="en-US" sz="2000" dirty="0"/>
              <a:t> key </a:t>
            </a:r>
            <a:r>
              <a:rPr lang="en-GB" sz="2000" dirty="0"/>
              <a:t>does not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GB" sz="2000" dirty="0"/>
              <a:t>	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GB" sz="2000" dirty="0"/>
              <a:t>    An </a:t>
            </a:r>
            <a:r>
              <a:rPr lang="en-US" sz="2000" b="1" i="1" dirty="0"/>
              <a:t>Internal Search</a:t>
            </a:r>
            <a:r>
              <a:rPr lang="en-GB" sz="2000" b="1" i="1" dirty="0"/>
              <a:t> </a:t>
            </a:r>
            <a:r>
              <a:rPr lang="en-GB" sz="2000" dirty="0"/>
              <a:t>is where the</a:t>
            </a:r>
            <a:r>
              <a:rPr lang="en-US" sz="2000" dirty="0"/>
              <a:t> entire table is in the main memory during the search</a:t>
            </a:r>
            <a:r>
              <a:rPr lang="en-GB" sz="2000" dirty="0"/>
              <a:t>.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GB" sz="2000" dirty="0"/>
              <a:t>	An </a:t>
            </a:r>
            <a:r>
              <a:rPr lang="en-US" sz="2000" b="1" i="1" dirty="0"/>
              <a:t>External Search</a:t>
            </a:r>
            <a:r>
              <a:rPr lang="en-GB" sz="2000" b="1" i="1" dirty="0"/>
              <a:t> </a:t>
            </a:r>
            <a:r>
              <a:rPr lang="en-GB" sz="2000" dirty="0"/>
              <a:t>is where most of the</a:t>
            </a:r>
            <a:r>
              <a:rPr lang="en-US" sz="2000" dirty="0"/>
              <a:t> entire table is </a:t>
            </a:r>
            <a:r>
              <a:rPr lang="en-GB" sz="2000" dirty="0"/>
              <a:t>kept </a:t>
            </a:r>
            <a:r>
              <a:rPr lang="en-US" sz="2000" dirty="0"/>
              <a:t>in </a:t>
            </a:r>
            <a:r>
              <a:rPr lang="en-GB" sz="2000" dirty="0"/>
              <a:t>auxiliary</a:t>
            </a:r>
            <a:r>
              <a:rPr lang="en-US" sz="2000" dirty="0"/>
              <a:t> memory during the search</a:t>
            </a:r>
            <a:endParaRPr lang="en-GB" sz="2000" dirty="0"/>
          </a:p>
          <a:p>
            <a:pPr>
              <a:lnSpc>
                <a:spcPct val="120000"/>
              </a:lnSpc>
              <a:buFontTx/>
              <a:buNone/>
            </a:pPr>
            <a:r>
              <a:rPr lang="en-GB" sz="2000" dirty="0"/>
              <a:t>	</a:t>
            </a:r>
            <a:r>
              <a:rPr lang="en-US" sz="2000" dirty="0"/>
              <a:t>Whether or not the records in the file are sorted or not will determine which searching method can be used.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149" y="510659"/>
            <a:ext cx="51523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Algorithms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7008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0" name="Picture 2"/>
          <p:cNvPicPr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810000" y="4714875"/>
            <a:ext cx="244157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825" y="1357313"/>
            <a:ext cx="5734050" cy="2078906"/>
          </a:xfrm>
          <a:noFill/>
          <a:ln/>
        </p:spPr>
        <p:txBody>
          <a:bodyPr/>
          <a:lstStyle/>
          <a:p>
            <a:pPr>
              <a:buFont typeface="Wingdings" pitchFamily="2" charset="2"/>
              <a:buChar char="Œ"/>
            </a:pPr>
            <a:r>
              <a:rPr lang="en-GB" sz="3200" dirty="0"/>
              <a:t> </a:t>
            </a:r>
            <a:r>
              <a:rPr lang="en-US" sz="3200" dirty="0"/>
              <a:t>Sequential Search</a:t>
            </a:r>
          </a:p>
          <a:p>
            <a:pPr>
              <a:buFont typeface="Wingdings" pitchFamily="2" charset="2"/>
              <a:buChar char=""/>
            </a:pPr>
            <a:r>
              <a:rPr lang="en-GB" sz="3200" dirty="0"/>
              <a:t> </a:t>
            </a:r>
            <a:r>
              <a:rPr lang="en-US" sz="3200" dirty="0"/>
              <a:t>Indexed Sequential Search</a:t>
            </a:r>
          </a:p>
          <a:p>
            <a:pPr>
              <a:buFont typeface="Wingdings" pitchFamily="2" charset="2"/>
              <a:buChar char=""/>
            </a:pPr>
            <a:r>
              <a:rPr lang="en-US" sz="3200" dirty="0"/>
              <a:t> Binary </a:t>
            </a:r>
            <a:r>
              <a:rPr lang="en-GB" sz="3200" dirty="0"/>
              <a:t>Tree </a:t>
            </a:r>
            <a:r>
              <a:rPr lang="en-US" sz="3200" dirty="0"/>
              <a:t>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473" y="51065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3306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ChangeArrowheads="1"/>
          </p:cNvSpPr>
          <p:nvPr/>
        </p:nvSpPr>
        <p:spPr bwMode="auto">
          <a:xfrm>
            <a:off x="476250" y="1400175"/>
            <a:ext cx="5734050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Simplest form of searching method.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Search data </a:t>
            </a:r>
            <a:r>
              <a:rPr lang="en-US" sz="2400" b="0" u="sng" dirty="0">
                <a:latin typeface="+mn-lt"/>
              </a:rPr>
              <a:t>one by one </a:t>
            </a:r>
            <a:r>
              <a:rPr lang="en-US" sz="2400" b="0" dirty="0">
                <a:latin typeface="+mn-lt"/>
              </a:rPr>
              <a:t>sequentially until the desired key is found or end of the table is reached.</a:t>
            </a:r>
            <a:endParaRPr lang="en-GB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 Data need not be sorted beforehand.</a:t>
            </a:r>
            <a:endParaRPr lang="en-GB" sz="2400" b="0" dirty="0">
              <a:latin typeface="+mn-lt"/>
            </a:endParaRP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The algorithm examines each key in turn; upon finding one that matches the search argument, its index is returned. 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If no match is found, -1 is returned.</a:t>
            </a:r>
          </a:p>
          <a:p>
            <a:pPr marL="171450" indent="-171450" defTabSz="457200">
              <a:buSzPct val="100000"/>
            </a:pPr>
            <a:endParaRPr lang="en-US" sz="2400" b="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2" name="Rectangle 1"/>
          <p:cNvSpPr/>
          <p:nvPr/>
        </p:nvSpPr>
        <p:spPr>
          <a:xfrm>
            <a:off x="506404" y="663993"/>
            <a:ext cx="292259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  <a:buFont typeface="Wingdings" pitchFamily="2" charset="2"/>
              <a:buChar char="Œ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Sequential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85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ChangeArrowheads="1"/>
          </p:cNvSpPr>
          <p:nvPr/>
        </p:nvSpPr>
        <p:spPr bwMode="auto">
          <a:xfrm>
            <a:off x="763588" y="1116013"/>
            <a:ext cx="5734050" cy="41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spcBef>
                <a:spcPct val="90000"/>
              </a:spcBef>
              <a:buSzPct val="100000"/>
            </a:pPr>
            <a:r>
              <a:rPr lang="en-US" sz="2000" b="1" dirty="0">
                <a:latin typeface="+mn-lt"/>
              </a:rPr>
              <a:t>private </a:t>
            </a:r>
            <a:r>
              <a:rPr lang="en-US" sz="2000" b="1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+mn-lt"/>
              </a:rPr>
              <a:t> sequential(</a:t>
            </a:r>
            <a:r>
              <a:rPr lang="en-US" sz="2000" b="1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+mn-lt"/>
              </a:rPr>
              <a:t> [ ]x, </a:t>
            </a:r>
            <a:r>
              <a:rPr lang="en-US" sz="2000" b="1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+mn-lt"/>
              </a:rPr>
              <a:t> n, </a:t>
            </a:r>
            <a:r>
              <a:rPr lang="en-US" sz="2000" b="1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+mn-lt"/>
              </a:rPr>
              <a:t> key)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{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;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  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		/</a:t>
            </a:r>
            <a:r>
              <a:rPr lang="en-GB" sz="2000" dirty="0">
                <a:solidFill>
                  <a:srgbClr val="000000"/>
                </a:solidFill>
                <a:latin typeface="+mn-lt"/>
              </a:rPr>
              <a:t>/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scan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thr</a:t>
            </a:r>
            <a:r>
              <a:rPr lang="en-GB" sz="2000" dirty="0" err="1">
                <a:solidFill>
                  <a:srgbClr val="000000"/>
                </a:solidFill>
                <a:latin typeface="+mn-lt"/>
              </a:rPr>
              <a:t>ough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all elements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		for (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=0;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&lt;n;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++)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latin typeface="+mn-lt"/>
              </a:rPr>
              <a:t>			if (key == x[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])		//match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latin typeface="+mn-lt"/>
              </a:rPr>
              <a:t>				return 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;</a:t>
            </a:r>
            <a:endParaRPr lang="en-GB" sz="2000" dirty="0">
              <a:latin typeface="+mn-lt"/>
            </a:endParaRPr>
          </a:p>
          <a:p>
            <a:pPr marL="171450" indent="-171450" defTabSz="457200">
              <a:buSzPct val="100000"/>
            </a:pPr>
            <a:endParaRPr lang="en-US" sz="2000" dirty="0">
              <a:latin typeface="+mn-lt"/>
            </a:endParaRPr>
          </a:p>
          <a:p>
            <a:pPr marL="171450" indent="-171450" defTabSz="457200">
              <a:buSzPct val="100000"/>
            </a:pPr>
            <a:r>
              <a:rPr lang="en-US" sz="2000" dirty="0">
                <a:latin typeface="+mn-lt"/>
              </a:rPr>
              <a:t>		return -1;	</a:t>
            </a:r>
            <a:r>
              <a:rPr lang="en-GB" sz="2000" dirty="0">
                <a:latin typeface="+mn-lt"/>
              </a:rPr>
              <a:t> //</a:t>
            </a:r>
            <a:r>
              <a:rPr lang="en-US" sz="2000" dirty="0">
                <a:latin typeface="+mn-lt"/>
              </a:rPr>
              <a:t> no match</a:t>
            </a:r>
          </a:p>
          <a:p>
            <a:pPr marL="171450" indent="-171450" defTabSz="457200">
              <a:buSzPct val="100000"/>
            </a:pPr>
            <a:r>
              <a:rPr lang="en-US" sz="2000" dirty="0">
                <a:latin typeface="+mn-lt"/>
              </a:rPr>
              <a:t>	}</a:t>
            </a:r>
          </a:p>
        </p:txBody>
      </p:sp>
      <p:sp>
        <p:nvSpPr>
          <p:cNvPr id="235523" name="Text Box 3"/>
          <p:cNvSpPr txBox="1">
            <a:spLocks noChangeArrowheads="1"/>
          </p:cNvSpPr>
          <p:nvPr/>
        </p:nvSpPr>
        <p:spPr bwMode="auto">
          <a:xfrm>
            <a:off x="438473" y="5003800"/>
            <a:ext cx="6419527" cy="28623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hlink"/>
                </a:solidFill>
                <a:latin typeface="+mn-lt"/>
              </a:rPr>
              <a:t>Notes:</a:t>
            </a:r>
          </a:p>
          <a:p>
            <a:r>
              <a:rPr lang="en-US" sz="2000" i="1" dirty="0">
                <a:solidFill>
                  <a:srgbClr val="0000FF"/>
                </a:solidFill>
                <a:latin typeface="+mn-lt"/>
              </a:rPr>
              <a:t>The sequential method accepts 3 parameters (identify them) and returns index of array (what type is it?).</a:t>
            </a:r>
          </a:p>
          <a:p>
            <a:endParaRPr lang="en-US" sz="2000" i="1" dirty="0">
              <a:solidFill>
                <a:srgbClr val="0000FF"/>
              </a:solidFill>
              <a:latin typeface="+mn-lt"/>
            </a:endParaRPr>
          </a:p>
          <a:p>
            <a:r>
              <a:rPr lang="en-US" sz="2000" i="1" dirty="0">
                <a:solidFill>
                  <a:srgbClr val="0000FF"/>
                </a:solidFill>
                <a:latin typeface="+mn-lt"/>
              </a:rPr>
              <a:t>It compares each array cell value with the key value.</a:t>
            </a:r>
          </a:p>
          <a:p>
            <a:r>
              <a:rPr lang="en-US" sz="2000" i="1" dirty="0">
                <a:solidFill>
                  <a:srgbClr val="0000FF"/>
                </a:solidFill>
                <a:latin typeface="+mn-lt"/>
              </a:rPr>
              <a:t>If any array cell value matches the key value, it will return the _________ back.</a:t>
            </a:r>
          </a:p>
          <a:p>
            <a:r>
              <a:rPr lang="en-US" sz="2000" i="1" dirty="0">
                <a:solidFill>
                  <a:srgbClr val="0000FF"/>
                </a:solidFill>
                <a:latin typeface="+mn-lt"/>
              </a:rPr>
              <a:t>If none of the array cell values matches, the method will return ________ back.</a:t>
            </a:r>
          </a:p>
        </p:txBody>
      </p:sp>
      <p:sp>
        <p:nvSpPr>
          <p:cNvPr id="4" name="Cloud 3"/>
          <p:cNvSpPr/>
          <p:nvPr/>
        </p:nvSpPr>
        <p:spPr bwMode="auto">
          <a:xfrm>
            <a:off x="1785934" y="6885058"/>
            <a:ext cx="928694" cy="357190"/>
          </a:xfrm>
          <a:prstGeom prst="cloud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index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Cloud 4"/>
          <p:cNvSpPr/>
          <p:nvPr/>
        </p:nvSpPr>
        <p:spPr bwMode="auto">
          <a:xfrm>
            <a:off x="1928810" y="7528000"/>
            <a:ext cx="928694" cy="357190"/>
          </a:xfrm>
          <a:prstGeom prst="cloud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8" name="Rectangle 7"/>
          <p:cNvSpPr/>
          <p:nvPr/>
        </p:nvSpPr>
        <p:spPr>
          <a:xfrm>
            <a:off x="506404" y="663993"/>
            <a:ext cx="292259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  <a:buFont typeface="Wingdings" pitchFamily="2" charset="2"/>
              <a:buChar char="Œ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Sequential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313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ChangeArrowheads="1"/>
          </p:cNvSpPr>
          <p:nvPr/>
        </p:nvSpPr>
        <p:spPr bwMode="auto">
          <a:xfrm>
            <a:off x="476250" y="1181100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[ ]x</a:t>
            </a:r>
            <a:r>
              <a:rPr lang="en-US" sz="2400" b="0" dirty="0">
                <a:solidFill>
                  <a:srgbClr val="000000"/>
                </a:solidFill>
                <a:latin typeface="+mn-lt"/>
              </a:rPr>
              <a:t> is the array that contains the numbers to be searched. </a:t>
            </a:r>
            <a:endParaRPr lang="en-GB" sz="2400" b="0" dirty="0">
              <a:solidFill>
                <a:srgbClr val="000000"/>
              </a:solidFill>
              <a:latin typeface="+mn-lt"/>
            </a:endParaRPr>
          </a:p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2400" b="0" dirty="0">
                <a:solidFill>
                  <a:srgbClr val="000000"/>
                </a:solidFill>
                <a:latin typeface="+mn-lt"/>
              </a:rPr>
              <a:t> indicates the size of the array [ ]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x</a:t>
            </a:r>
            <a:r>
              <a:rPr lang="en-GB" sz="2400" b="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key</a:t>
            </a:r>
            <a:r>
              <a:rPr lang="en-US" sz="2400" b="0" dirty="0">
                <a:solidFill>
                  <a:srgbClr val="000000"/>
                </a:solidFill>
                <a:latin typeface="+mn-lt"/>
              </a:rPr>
              <a:t> is the value we are searching for.</a:t>
            </a:r>
            <a:endParaRPr lang="en-US" sz="2400" b="0" dirty="0">
              <a:latin typeface="+mn-lt"/>
            </a:endParaRPr>
          </a:p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Note that the array is used to represent a file, and the elements of the array are its records.</a:t>
            </a:r>
          </a:p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The key is the value we want to search for in the file.</a:t>
            </a:r>
          </a:p>
          <a:p>
            <a:pPr marL="171450" indent="-171450" defTabSz="457200"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+mn-lt"/>
              </a:rPr>
              <a:t>There is a match if the value of the key is found in the file.</a:t>
            </a:r>
          </a:p>
          <a:p>
            <a:pPr marL="171450" indent="-171450"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1800" b="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5" name="Rectangle 4"/>
          <p:cNvSpPr/>
          <p:nvPr/>
        </p:nvSpPr>
        <p:spPr>
          <a:xfrm>
            <a:off x="506404" y="663993"/>
            <a:ext cx="292259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  <a:buFont typeface="Wingdings" pitchFamily="2" charset="2"/>
              <a:buChar char="Œ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Sequential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21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ChangeArrowheads="1"/>
          </p:cNvSpPr>
          <p:nvPr/>
        </p:nvSpPr>
        <p:spPr bwMode="auto">
          <a:xfrm>
            <a:off x="476250" y="1285875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6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400" b="0" dirty="0">
                <a:latin typeface="+mn-lt"/>
              </a:rPr>
              <a:t>Example</a:t>
            </a:r>
            <a:r>
              <a:rPr lang="en-US" sz="2400" dirty="0">
                <a:latin typeface="+mn-lt"/>
              </a:rPr>
              <a:t>:</a:t>
            </a:r>
          </a:p>
          <a:p>
            <a:pPr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2400" b="0" dirty="0">
                <a:latin typeface="+mn-lt"/>
              </a:rPr>
              <a:t>Given a series of numbers in a file:</a:t>
            </a:r>
          </a:p>
          <a:p>
            <a:pPr lvl="1" indent="-171450" defTabSz="457200">
              <a:lnSpc>
                <a:spcPct val="9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dirty="0">
                <a:latin typeface="+mn-lt"/>
              </a:rPr>
              <a:t> 10, 34, 59, 207, 213, 890, 931, 1069</a:t>
            </a:r>
            <a:endParaRPr lang="en-US" sz="2400" b="0" dirty="0">
              <a:latin typeface="+mn-lt"/>
            </a:endParaRPr>
          </a:p>
          <a:p>
            <a:pPr marL="171450" indent="-171450" defTabSz="457200">
              <a:lnSpc>
                <a:spcPct val="160000"/>
              </a:lnSpc>
              <a:spcBef>
                <a:spcPct val="90000"/>
              </a:spcBef>
              <a:buSzPct val="100000"/>
            </a:pPr>
            <a:r>
              <a:rPr lang="en-US" sz="2400" b="0" dirty="0">
                <a:latin typeface="+mn-lt"/>
              </a:rPr>
              <a:t>What is returned from </a:t>
            </a:r>
            <a:r>
              <a:rPr lang="en-US" sz="2400" dirty="0">
                <a:latin typeface="+mn-lt"/>
              </a:rPr>
              <a:t>sequential()</a:t>
            </a:r>
            <a:endParaRPr lang="en-US" sz="2400" b="0" dirty="0">
              <a:latin typeface="+mn-lt"/>
            </a:endParaRPr>
          </a:p>
          <a:p>
            <a:pPr marL="857250" lvl="2" indent="-285750" defTabSz="457200">
              <a:lnSpc>
                <a:spcPct val="9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(a)	key = 890?</a:t>
            </a:r>
          </a:p>
          <a:p>
            <a:pPr marL="857250" lvl="2" indent="-285750" defTabSz="457200">
              <a:lnSpc>
                <a:spcPct val="90000"/>
              </a:lnSpc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en-US" sz="2400" b="0" dirty="0">
                <a:latin typeface="+mn-lt"/>
              </a:rPr>
              <a:t>(b)	key = 89?</a:t>
            </a:r>
          </a:p>
          <a:p>
            <a:pPr marL="171450" indent="-171450" defTabSz="457200">
              <a:buSzPct val="100000"/>
            </a:pPr>
            <a:endParaRPr lang="en-US" sz="2400" b="0" dirty="0">
              <a:latin typeface="+mn-lt"/>
            </a:endParaRPr>
          </a:p>
        </p:txBody>
      </p:sp>
      <p:grpSp>
        <p:nvGrpSpPr>
          <p:cNvPr id="237571" name="Group 3"/>
          <p:cNvGrpSpPr>
            <a:grpSpLocks/>
          </p:cNvGrpSpPr>
          <p:nvPr/>
        </p:nvGrpSpPr>
        <p:grpSpPr bwMode="auto">
          <a:xfrm>
            <a:off x="333375" y="6656388"/>
            <a:ext cx="5903913" cy="949325"/>
            <a:chOff x="351" y="3566"/>
            <a:chExt cx="3719" cy="647"/>
          </a:xfrm>
        </p:grpSpPr>
        <p:sp>
          <p:nvSpPr>
            <p:cNvPr id="237572" name="AutoShape 4"/>
            <p:cNvSpPr>
              <a:spLocks noChangeArrowheads="1"/>
            </p:cNvSpPr>
            <p:nvPr/>
          </p:nvSpPr>
          <p:spPr bwMode="auto">
            <a:xfrm>
              <a:off x="351" y="3792"/>
              <a:ext cx="471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3" name="AutoShape 5"/>
            <p:cNvSpPr>
              <a:spLocks noChangeArrowheads="1"/>
            </p:cNvSpPr>
            <p:nvPr/>
          </p:nvSpPr>
          <p:spPr bwMode="auto">
            <a:xfrm>
              <a:off x="804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4" name="AutoShape 6"/>
            <p:cNvSpPr>
              <a:spLocks noChangeArrowheads="1"/>
            </p:cNvSpPr>
            <p:nvPr/>
          </p:nvSpPr>
          <p:spPr bwMode="auto">
            <a:xfrm>
              <a:off x="1256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5" name="AutoShape 7"/>
            <p:cNvSpPr>
              <a:spLocks noChangeArrowheads="1"/>
            </p:cNvSpPr>
            <p:nvPr/>
          </p:nvSpPr>
          <p:spPr bwMode="auto">
            <a:xfrm>
              <a:off x="1707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6" name="AutoShape 8"/>
            <p:cNvSpPr>
              <a:spLocks noChangeArrowheads="1"/>
            </p:cNvSpPr>
            <p:nvPr/>
          </p:nvSpPr>
          <p:spPr bwMode="auto">
            <a:xfrm>
              <a:off x="216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7" name="AutoShape 9"/>
            <p:cNvSpPr>
              <a:spLocks noChangeArrowheads="1"/>
            </p:cNvSpPr>
            <p:nvPr/>
          </p:nvSpPr>
          <p:spPr bwMode="auto">
            <a:xfrm>
              <a:off x="264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78" name="Rectangle 10"/>
            <p:cNvSpPr>
              <a:spLocks noChangeArrowheads="1"/>
            </p:cNvSpPr>
            <p:nvPr/>
          </p:nvSpPr>
          <p:spPr bwMode="auto">
            <a:xfrm>
              <a:off x="533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37579" name="Rectangle 11"/>
            <p:cNvSpPr>
              <a:spLocks noChangeArrowheads="1"/>
            </p:cNvSpPr>
            <p:nvPr/>
          </p:nvSpPr>
          <p:spPr bwMode="auto">
            <a:xfrm>
              <a:off x="965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37580" name="Rectangle 12"/>
            <p:cNvSpPr>
              <a:spLocks noChangeArrowheads="1"/>
            </p:cNvSpPr>
            <p:nvPr/>
          </p:nvSpPr>
          <p:spPr bwMode="auto">
            <a:xfrm>
              <a:off x="1445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37581" name="Rectangle 13"/>
            <p:cNvSpPr>
              <a:spLocks noChangeArrowheads="1"/>
            </p:cNvSpPr>
            <p:nvPr/>
          </p:nvSpPr>
          <p:spPr bwMode="auto">
            <a:xfrm>
              <a:off x="187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37582" name="Rectangle 14"/>
            <p:cNvSpPr>
              <a:spLocks noChangeArrowheads="1"/>
            </p:cNvSpPr>
            <p:nvPr/>
          </p:nvSpPr>
          <p:spPr bwMode="auto">
            <a:xfrm>
              <a:off x="2309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37583" name="Rectangle 15"/>
            <p:cNvSpPr>
              <a:spLocks noChangeArrowheads="1"/>
            </p:cNvSpPr>
            <p:nvPr/>
          </p:nvSpPr>
          <p:spPr bwMode="auto">
            <a:xfrm>
              <a:off x="283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37584" name="AutoShape 16"/>
            <p:cNvSpPr>
              <a:spLocks noChangeArrowheads="1"/>
            </p:cNvSpPr>
            <p:nvPr/>
          </p:nvSpPr>
          <p:spPr bwMode="auto">
            <a:xfrm>
              <a:off x="312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85" name="AutoShape 17"/>
            <p:cNvSpPr>
              <a:spLocks noChangeArrowheads="1"/>
            </p:cNvSpPr>
            <p:nvPr/>
          </p:nvSpPr>
          <p:spPr bwMode="auto">
            <a:xfrm>
              <a:off x="3600" y="3792"/>
              <a:ext cx="470" cy="421"/>
            </a:xfrm>
            <a:prstGeom prst="roundRect">
              <a:avLst>
                <a:gd name="adj" fmla="val 12486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37586" name="Rectangle 18"/>
            <p:cNvSpPr>
              <a:spLocks noChangeArrowheads="1"/>
            </p:cNvSpPr>
            <p:nvPr/>
          </p:nvSpPr>
          <p:spPr bwMode="auto">
            <a:xfrm>
              <a:off x="3269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237587" name="Rectangle 19"/>
            <p:cNvSpPr>
              <a:spLocks noChangeArrowheads="1"/>
            </p:cNvSpPr>
            <p:nvPr/>
          </p:nvSpPr>
          <p:spPr bwMode="auto">
            <a:xfrm>
              <a:off x="3797" y="3566"/>
              <a:ext cx="7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000" b="0">
                  <a:solidFill>
                    <a:srgbClr val="000000"/>
                  </a:solidFill>
                </a:rPr>
                <a:t>7</a:t>
              </a:r>
            </a:p>
          </p:txBody>
        </p:sp>
      </p:grpSp>
      <p:sp>
        <p:nvSpPr>
          <p:cNvPr id="237588" name="Text Box 20"/>
          <p:cNvSpPr txBox="1">
            <a:spLocks noChangeArrowheads="1"/>
          </p:cNvSpPr>
          <p:nvPr/>
        </p:nvSpPr>
        <p:spPr bwMode="auto">
          <a:xfrm>
            <a:off x="409575" y="7078663"/>
            <a:ext cx="584647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10     34     59   207   213   890   931 1069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37589" name="AutoShape 21"/>
          <p:cNvSpPr>
            <a:spLocks noChangeArrowheads="1"/>
          </p:cNvSpPr>
          <p:nvPr/>
        </p:nvSpPr>
        <p:spPr bwMode="auto">
          <a:xfrm>
            <a:off x="3990975" y="7783513"/>
            <a:ext cx="746125" cy="617537"/>
          </a:xfrm>
          <a:prstGeom prst="roundRect">
            <a:avLst>
              <a:gd name="adj" fmla="val 12486"/>
            </a:avLst>
          </a:prstGeom>
          <a:solidFill>
            <a:srgbClr val="FFFFFF"/>
          </a:solidFill>
          <a:ln w="12700">
            <a:solidFill>
              <a:srgbClr val="2626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890</a:t>
            </a:r>
          </a:p>
        </p:txBody>
      </p:sp>
      <p:sp>
        <p:nvSpPr>
          <p:cNvPr id="237590" name="Text Box 22"/>
          <p:cNvSpPr txBox="1">
            <a:spLocks noChangeArrowheads="1"/>
          </p:cNvSpPr>
          <p:nvPr/>
        </p:nvSpPr>
        <p:spPr bwMode="auto">
          <a:xfrm>
            <a:off x="4143375" y="8416925"/>
            <a:ext cx="639021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25" name="Rectangle 24"/>
          <p:cNvSpPr/>
          <p:nvPr/>
        </p:nvSpPr>
        <p:spPr>
          <a:xfrm>
            <a:off x="506404" y="663993"/>
            <a:ext cx="292259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  <a:buFont typeface="Wingdings" pitchFamily="2" charset="2"/>
              <a:buChar char="Œ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Sequential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6971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319213"/>
            <a:ext cx="6153150" cy="4348162"/>
          </a:xfrm>
          <a:noFill/>
          <a:ln/>
        </p:spPr>
        <p:txBody>
          <a:bodyPr/>
          <a:lstStyle/>
          <a:p>
            <a:pPr>
              <a:buFont typeface="Wingdings" pitchFamily="2" charset="2"/>
              <a:buChar char="F"/>
            </a:pPr>
            <a:r>
              <a:rPr lang="en-US" sz="2400" dirty="0"/>
              <a:t>For a successful search (for </a:t>
            </a:r>
            <a:r>
              <a:rPr lang="en-GB" sz="2400" dirty="0"/>
              <a:t>a </a:t>
            </a:r>
            <a:r>
              <a:rPr lang="en-US" sz="2400" dirty="0"/>
              <a:t>table of </a:t>
            </a:r>
            <a:r>
              <a:rPr lang="en-US" sz="2400" i="1" dirty="0"/>
              <a:t>n</a:t>
            </a:r>
            <a:r>
              <a:rPr lang="en-US" sz="2400" dirty="0"/>
              <a:t> records)</a:t>
            </a:r>
            <a:br>
              <a:rPr lang="en-US" sz="2400" dirty="0"/>
            </a:br>
            <a:r>
              <a:rPr lang="en-US" sz="2400" dirty="0"/>
              <a:t>-  best time is </a:t>
            </a:r>
            <a:r>
              <a:rPr lang="en-US" sz="2400" i="1" dirty="0"/>
              <a:t>one</a:t>
            </a:r>
            <a:r>
              <a:rPr lang="en-US" sz="2400" dirty="0"/>
              <a:t> comparison</a:t>
            </a:r>
            <a:br>
              <a:rPr lang="en-US" sz="2400" dirty="0"/>
            </a:br>
            <a:r>
              <a:rPr lang="en-US" sz="2400" dirty="0"/>
              <a:t>-  worst time is </a:t>
            </a:r>
            <a:r>
              <a:rPr lang="en-US" sz="2400" i="1" dirty="0"/>
              <a:t>n</a:t>
            </a:r>
            <a:r>
              <a:rPr lang="en-US" sz="2400" dirty="0"/>
              <a:t> comparisons</a:t>
            </a:r>
            <a:br>
              <a:rPr lang="en-US" sz="2400" dirty="0"/>
            </a:br>
            <a:br>
              <a:rPr lang="en-US" sz="2400" i="1" dirty="0"/>
            </a:br>
            <a:r>
              <a:rPr lang="en-US" sz="2400" b="1" i="1" dirty="0"/>
              <a:t>Question</a:t>
            </a:r>
            <a:r>
              <a:rPr lang="en-US" sz="2400" dirty="0"/>
              <a:t> :  What is the average </a:t>
            </a:r>
            <a:r>
              <a:rPr lang="en-GB" sz="2400" dirty="0"/>
              <a:t># </a:t>
            </a:r>
            <a:r>
              <a:rPr lang="en-US" sz="2400" dirty="0"/>
              <a:t>of</a:t>
            </a:r>
            <a:br>
              <a:rPr lang="en-US" sz="2400" dirty="0"/>
            </a:br>
            <a:r>
              <a:rPr lang="en-US" sz="2400" dirty="0"/>
              <a:t>comparisons for a successful search?</a:t>
            </a:r>
          </a:p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400" i="1" dirty="0"/>
              <a:t>Note</a:t>
            </a:r>
            <a:r>
              <a:rPr lang="en-US" sz="2400" dirty="0"/>
              <a:t> : If the file or table is </a:t>
            </a:r>
            <a:r>
              <a:rPr lang="en-US" sz="2400" b="1" dirty="0">
                <a:solidFill>
                  <a:schemeClr val="hlink"/>
                </a:solidFill>
              </a:rPr>
              <a:t>unsorted</a:t>
            </a:r>
            <a:r>
              <a:rPr lang="en-US" sz="2400" dirty="0"/>
              <a:t>, a sequential search is the only method available.</a:t>
            </a:r>
          </a:p>
        </p:txBody>
      </p:sp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768350" y="3995738"/>
            <a:ext cx="5473700" cy="1368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074" name="Picture 2" descr="C:\Users\tanail\AppData\Local\Microsoft\Windows\Temporary Internet Files\Content.IE5\WOH74YVD\MC900187593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5686062"/>
            <a:ext cx="2533650" cy="281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506404" y="663993"/>
            <a:ext cx="292259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  <a:buFont typeface="Wingdings" pitchFamily="2" charset="2"/>
              <a:buChar char="Œ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Sequential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691523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ChangeArrowheads="1"/>
          </p:cNvSpPr>
          <p:nvPr/>
        </p:nvSpPr>
        <p:spPr bwMode="auto">
          <a:xfrm>
            <a:off x="485775" y="1147763"/>
            <a:ext cx="5734050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US" sz="2000" b="0" dirty="0">
                <a:latin typeface="+mn-lt"/>
              </a:rPr>
              <a:t>More efficient than sequential search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GB" sz="2000" b="0" dirty="0">
                <a:latin typeface="+mn-lt"/>
              </a:rPr>
              <a:t>The file of records is </a:t>
            </a:r>
            <a:r>
              <a:rPr lang="en-GB" sz="2000" dirty="0">
                <a:solidFill>
                  <a:schemeClr val="hlink"/>
                </a:solidFill>
                <a:latin typeface="+mn-lt"/>
              </a:rPr>
              <a:t>sorted</a:t>
            </a:r>
            <a:r>
              <a:rPr lang="en-GB" sz="2000" b="0" dirty="0">
                <a:latin typeface="+mn-lt"/>
              </a:rPr>
              <a:t> and the index of each record is copied to another table.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GB" sz="2000" b="0" dirty="0">
                <a:latin typeface="+mn-lt"/>
              </a:rPr>
              <a:t>The index table contains pointers to the records in the sorted file.</a:t>
            </a:r>
          </a:p>
          <a:p>
            <a:pPr marL="171450" indent="-171450" defTabSz="457200">
              <a:lnSpc>
                <a:spcPct val="120000"/>
              </a:lnSpc>
              <a:spcBef>
                <a:spcPct val="90000"/>
              </a:spcBef>
              <a:buSzPct val="100000"/>
              <a:buFontTx/>
              <a:buChar char="•"/>
            </a:pPr>
            <a:r>
              <a:rPr lang="en-GB" sz="2000" b="0" dirty="0">
                <a:latin typeface="+mn-lt"/>
              </a:rPr>
              <a:t>Searches are faster since you now only scan through the index table, but requires the file to be sorted.</a:t>
            </a:r>
            <a:endParaRPr lang="en-US" sz="2000" b="0" i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754054" y="635418"/>
            <a:ext cx="34531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Index Sequential Search</a:t>
            </a:r>
          </a:p>
        </p:txBody>
      </p:sp>
      <p:sp>
        <p:nvSpPr>
          <p:cNvPr id="2" name="Oval 1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pic>
        <p:nvPicPr>
          <p:cNvPr id="6146" name="Picture 2" descr="C:\Users\tanail\AppData\Local\Microsoft\Windows\Temporary Internet Files\Content.IE5\RXI7DR66\MC90003442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552" y="5571182"/>
            <a:ext cx="3580646" cy="346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284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666" name="Group 2"/>
          <p:cNvGrpSpPr>
            <a:grpSpLocks/>
          </p:cNvGrpSpPr>
          <p:nvPr/>
        </p:nvGrpSpPr>
        <p:grpSpPr bwMode="auto">
          <a:xfrm>
            <a:off x="546100" y="1760538"/>
            <a:ext cx="6094413" cy="4638675"/>
            <a:chOff x="242" y="2417"/>
            <a:chExt cx="3839" cy="3165"/>
          </a:xfrm>
        </p:grpSpPr>
        <p:sp>
          <p:nvSpPr>
            <p:cNvPr id="241667" name="AutoShape 3"/>
            <p:cNvSpPr>
              <a:spLocks noChangeArrowheads="1"/>
            </p:cNvSpPr>
            <p:nvPr/>
          </p:nvSpPr>
          <p:spPr bwMode="auto">
            <a:xfrm>
              <a:off x="363" y="3179"/>
              <a:ext cx="922" cy="1419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68" name="Line 4"/>
            <p:cNvSpPr>
              <a:spLocks noChangeShapeType="1"/>
            </p:cNvSpPr>
            <p:nvPr/>
          </p:nvSpPr>
          <p:spPr bwMode="auto">
            <a:xfrm>
              <a:off x="388" y="3387"/>
              <a:ext cx="89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69" name="Line 5"/>
            <p:cNvSpPr>
              <a:spLocks noChangeShapeType="1"/>
            </p:cNvSpPr>
            <p:nvPr/>
          </p:nvSpPr>
          <p:spPr bwMode="auto">
            <a:xfrm>
              <a:off x="388" y="3620"/>
              <a:ext cx="87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0" name="Line 6"/>
            <p:cNvSpPr>
              <a:spLocks noChangeShapeType="1"/>
            </p:cNvSpPr>
            <p:nvPr/>
          </p:nvSpPr>
          <p:spPr bwMode="auto">
            <a:xfrm>
              <a:off x="388" y="3854"/>
              <a:ext cx="878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1" name="Line 7"/>
            <p:cNvSpPr>
              <a:spLocks noChangeShapeType="1"/>
            </p:cNvSpPr>
            <p:nvPr/>
          </p:nvSpPr>
          <p:spPr bwMode="auto">
            <a:xfrm>
              <a:off x="374" y="4101"/>
              <a:ext cx="89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2" name="Line 8"/>
            <p:cNvSpPr>
              <a:spLocks noChangeShapeType="1"/>
            </p:cNvSpPr>
            <p:nvPr/>
          </p:nvSpPr>
          <p:spPr bwMode="auto">
            <a:xfrm>
              <a:off x="374" y="4321"/>
              <a:ext cx="892" cy="0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3" name="Rectangle 9"/>
            <p:cNvSpPr>
              <a:spLocks noChangeArrowheads="1"/>
            </p:cNvSpPr>
            <p:nvPr/>
          </p:nvSpPr>
          <p:spPr bwMode="auto">
            <a:xfrm>
              <a:off x="676" y="3202"/>
              <a:ext cx="128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41674" name="Rectangle 10"/>
            <p:cNvSpPr>
              <a:spLocks noChangeArrowheads="1"/>
            </p:cNvSpPr>
            <p:nvPr/>
          </p:nvSpPr>
          <p:spPr bwMode="auto">
            <a:xfrm>
              <a:off x="360" y="3360"/>
              <a:ext cx="804" cy="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marL="546100" lvl="1" indent="-88900" defTabSz="457200"/>
              <a:r>
                <a:rPr lang="en-US" sz="2400" b="0">
                  <a:solidFill>
                    <a:srgbClr val="000000"/>
                  </a:solidFill>
                </a:rPr>
                <a:t>199</a:t>
              </a:r>
            </a:p>
          </p:txBody>
        </p:sp>
        <p:sp>
          <p:nvSpPr>
            <p:cNvPr id="241675" name="Rectangle 11"/>
            <p:cNvSpPr>
              <a:spLocks noChangeArrowheads="1"/>
            </p:cNvSpPr>
            <p:nvPr/>
          </p:nvSpPr>
          <p:spPr bwMode="auto">
            <a:xfrm>
              <a:off x="626" y="3483"/>
              <a:ext cx="477" cy="5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410</a:t>
              </a:r>
            </a:p>
          </p:txBody>
        </p:sp>
        <p:sp>
          <p:nvSpPr>
            <p:cNvPr id="241676" name="AutoShape 12"/>
            <p:cNvSpPr>
              <a:spLocks noChangeArrowheads="1"/>
            </p:cNvSpPr>
            <p:nvPr/>
          </p:nvSpPr>
          <p:spPr bwMode="auto">
            <a:xfrm>
              <a:off x="2227" y="2670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7" name="AutoShape 13"/>
            <p:cNvSpPr>
              <a:spLocks noChangeArrowheads="1"/>
            </p:cNvSpPr>
            <p:nvPr/>
          </p:nvSpPr>
          <p:spPr bwMode="auto">
            <a:xfrm>
              <a:off x="2227" y="2862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8" name="AutoShape 14"/>
            <p:cNvSpPr>
              <a:spLocks noChangeArrowheads="1"/>
            </p:cNvSpPr>
            <p:nvPr/>
          </p:nvSpPr>
          <p:spPr bwMode="auto">
            <a:xfrm>
              <a:off x="2228" y="3055"/>
              <a:ext cx="1853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79" name="AutoShape 15"/>
            <p:cNvSpPr>
              <a:spLocks noChangeArrowheads="1"/>
            </p:cNvSpPr>
            <p:nvPr/>
          </p:nvSpPr>
          <p:spPr bwMode="auto">
            <a:xfrm>
              <a:off x="2227" y="3248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0" name="AutoShape 16"/>
            <p:cNvSpPr>
              <a:spLocks noChangeArrowheads="1"/>
            </p:cNvSpPr>
            <p:nvPr/>
          </p:nvSpPr>
          <p:spPr bwMode="auto">
            <a:xfrm>
              <a:off x="2227" y="3440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1" name="AutoShape 17"/>
            <p:cNvSpPr>
              <a:spLocks noChangeArrowheads="1"/>
            </p:cNvSpPr>
            <p:nvPr/>
          </p:nvSpPr>
          <p:spPr bwMode="auto">
            <a:xfrm>
              <a:off x="2227" y="3632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2" name="AutoShape 18"/>
            <p:cNvSpPr>
              <a:spLocks noChangeArrowheads="1"/>
            </p:cNvSpPr>
            <p:nvPr/>
          </p:nvSpPr>
          <p:spPr bwMode="auto">
            <a:xfrm>
              <a:off x="2228" y="3824"/>
              <a:ext cx="1853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3" name="AutoShape 19"/>
            <p:cNvSpPr>
              <a:spLocks noChangeArrowheads="1"/>
            </p:cNvSpPr>
            <p:nvPr/>
          </p:nvSpPr>
          <p:spPr bwMode="auto">
            <a:xfrm>
              <a:off x="2227" y="4016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4" name="AutoShape 20"/>
            <p:cNvSpPr>
              <a:spLocks noChangeArrowheads="1"/>
            </p:cNvSpPr>
            <p:nvPr/>
          </p:nvSpPr>
          <p:spPr bwMode="auto">
            <a:xfrm>
              <a:off x="2227" y="4208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5" name="AutoShape 21"/>
            <p:cNvSpPr>
              <a:spLocks noChangeArrowheads="1"/>
            </p:cNvSpPr>
            <p:nvPr/>
          </p:nvSpPr>
          <p:spPr bwMode="auto">
            <a:xfrm>
              <a:off x="2227" y="4401"/>
              <a:ext cx="1854" cy="209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6" name="AutoShape 22"/>
            <p:cNvSpPr>
              <a:spLocks noChangeArrowheads="1"/>
            </p:cNvSpPr>
            <p:nvPr/>
          </p:nvSpPr>
          <p:spPr bwMode="auto">
            <a:xfrm>
              <a:off x="2228" y="4593"/>
              <a:ext cx="1853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7" name="AutoShape 23"/>
            <p:cNvSpPr>
              <a:spLocks noChangeArrowheads="1"/>
            </p:cNvSpPr>
            <p:nvPr/>
          </p:nvSpPr>
          <p:spPr bwMode="auto">
            <a:xfrm>
              <a:off x="2227" y="4786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8" name="AutoShape 24"/>
            <p:cNvSpPr>
              <a:spLocks noChangeArrowheads="1"/>
            </p:cNvSpPr>
            <p:nvPr/>
          </p:nvSpPr>
          <p:spPr bwMode="auto">
            <a:xfrm>
              <a:off x="2227" y="4978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89" name="AutoShape 25"/>
            <p:cNvSpPr>
              <a:spLocks noChangeArrowheads="1"/>
            </p:cNvSpPr>
            <p:nvPr/>
          </p:nvSpPr>
          <p:spPr bwMode="auto">
            <a:xfrm>
              <a:off x="2227" y="5170"/>
              <a:ext cx="1854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90" name="AutoShape 26"/>
            <p:cNvSpPr>
              <a:spLocks noChangeArrowheads="1"/>
            </p:cNvSpPr>
            <p:nvPr/>
          </p:nvSpPr>
          <p:spPr bwMode="auto">
            <a:xfrm>
              <a:off x="2228" y="5362"/>
              <a:ext cx="1853" cy="210"/>
            </a:xfrm>
            <a:prstGeom prst="roundRect">
              <a:avLst>
                <a:gd name="adj" fmla="val 16639"/>
              </a:avLst>
            </a:prstGeom>
            <a:solidFill>
              <a:srgbClr val="FFFFFF"/>
            </a:solidFill>
            <a:ln w="12700">
              <a:solidFill>
                <a:srgbClr val="26262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691" name="Rectangle 27"/>
            <p:cNvSpPr>
              <a:spLocks noChangeArrowheads="1"/>
            </p:cNvSpPr>
            <p:nvPr/>
          </p:nvSpPr>
          <p:spPr bwMode="auto">
            <a:xfrm>
              <a:off x="2304" y="2640"/>
              <a:ext cx="128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241692" name="Rectangle 28"/>
            <p:cNvSpPr>
              <a:spLocks noChangeArrowheads="1"/>
            </p:cNvSpPr>
            <p:nvPr/>
          </p:nvSpPr>
          <p:spPr bwMode="auto">
            <a:xfrm>
              <a:off x="2304" y="2832"/>
              <a:ext cx="250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21</a:t>
              </a:r>
            </a:p>
          </p:txBody>
        </p:sp>
        <p:sp>
          <p:nvSpPr>
            <p:cNvPr id="241693" name="Rectangle 29"/>
            <p:cNvSpPr>
              <a:spLocks noChangeArrowheads="1"/>
            </p:cNvSpPr>
            <p:nvPr/>
          </p:nvSpPr>
          <p:spPr bwMode="auto">
            <a:xfrm>
              <a:off x="2266" y="3051"/>
              <a:ext cx="250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76</a:t>
              </a:r>
            </a:p>
          </p:txBody>
        </p:sp>
        <p:sp>
          <p:nvSpPr>
            <p:cNvPr id="241694" name="Rectangle 30"/>
            <p:cNvSpPr>
              <a:spLocks noChangeArrowheads="1"/>
            </p:cNvSpPr>
            <p:nvPr/>
          </p:nvSpPr>
          <p:spPr bwMode="auto">
            <a:xfrm>
              <a:off x="2279" y="3257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148</a:t>
              </a:r>
            </a:p>
          </p:txBody>
        </p:sp>
        <p:sp>
          <p:nvSpPr>
            <p:cNvPr id="241695" name="Rectangle 31"/>
            <p:cNvSpPr>
              <a:spLocks noChangeArrowheads="1"/>
            </p:cNvSpPr>
            <p:nvPr/>
          </p:nvSpPr>
          <p:spPr bwMode="auto">
            <a:xfrm>
              <a:off x="2266" y="3449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173</a:t>
              </a:r>
            </a:p>
          </p:txBody>
        </p:sp>
        <p:sp>
          <p:nvSpPr>
            <p:cNvPr id="241696" name="Rectangle 32"/>
            <p:cNvSpPr>
              <a:spLocks noChangeArrowheads="1"/>
            </p:cNvSpPr>
            <p:nvPr/>
          </p:nvSpPr>
          <p:spPr bwMode="auto">
            <a:xfrm>
              <a:off x="2265" y="3642"/>
              <a:ext cx="37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199</a:t>
              </a:r>
            </a:p>
          </p:txBody>
        </p:sp>
        <p:sp>
          <p:nvSpPr>
            <p:cNvPr id="241697" name="Rectangle 33"/>
            <p:cNvSpPr>
              <a:spLocks noChangeArrowheads="1"/>
            </p:cNvSpPr>
            <p:nvPr/>
          </p:nvSpPr>
          <p:spPr bwMode="auto">
            <a:xfrm>
              <a:off x="2280" y="3848"/>
              <a:ext cx="37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201</a:t>
              </a:r>
            </a:p>
          </p:txBody>
        </p:sp>
        <p:sp>
          <p:nvSpPr>
            <p:cNvPr id="241698" name="Rectangle 34"/>
            <p:cNvSpPr>
              <a:spLocks noChangeArrowheads="1"/>
            </p:cNvSpPr>
            <p:nvPr/>
          </p:nvSpPr>
          <p:spPr bwMode="auto">
            <a:xfrm>
              <a:off x="2266" y="4026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233</a:t>
              </a:r>
            </a:p>
          </p:txBody>
        </p:sp>
        <p:sp>
          <p:nvSpPr>
            <p:cNvPr id="241699" name="Rectangle 35"/>
            <p:cNvSpPr>
              <a:spLocks noChangeArrowheads="1"/>
            </p:cNvSpPr>
            <p:nvPr/>
          </p:nvSpPr>
          <p:spPr bwMode="auto">
            <a:xfrm>
              <a:off x="2252" y="4218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277</a:t>
              </a:r>
            </a:p>
          </p:txBody>
        </p:sp>
        <p:sp>
          <p:nvSpPr>
            <p:cNvPr id="241700" name="Rectangle 36"/>
            <p:cNvSpPr>
              <a:spLocks noChangeArrowheads="1"/>
            </p:cNvSpPr>
            <p:nvPr/>
          </p:nvSpPr>
          <p:spPr bwMode="auto">
            <a:xfrm>
              <a:off x="2252" y="4411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356</a:t>
              </a:r>
            </a:p>
          </p:txBody>
        </p:sp>
        <p:sp>
          <p:nvSpPr>
            <p:cNvPr id="241701" name="Rectangle 37"/>
            <p:cNvSpPr>
              <a:spLocks noChangeArrowheads="1"/>
            </p:cNvSpPr>
            <p:nvPr/>
          </p:nvSpPr>
          <p:spPr bwMode="auto">
            <a:xfrm>
              <a:off x="2266" y="4589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410</a:t>
              </a:r>
            </a:p>
          </p:txBody>
        </p:sp>
        <p:sp>
          <p:nvSpPr>
            <p:cNvPr id="241702" name="Rectangle 38"/>
            <p:cNvSpPr>
              <a:spLocks noChangeArrowheads="1"/>
            </p:cNvSpPr>
            <p:nvPr/>
          </p:nvSpPr>
          <p:spPr bwMode="auto">
            <a:xfrm>
              <a:off x="2265" y="4767"/>
              <a:ext cx="37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453</a:t>
              </a:r>
            </a:p>
          </p:txBody>
        </p:sp>
        <p:sp>
          <p:nvSpPr>
            <p:cNvPr id="241703" name="Rectangle 39"/>
            <p:cNvSpPr>
              <a:spLocks noChangeArrowheads="1"/>
            </p:cNvSpPr>
            <p:nvPr/>
          </p:nvSpPr>
          <p:spPr bwMode="auto">
            <a:xfrm>
              <a:off x="2279" y="5344"/>
              <a:ext cx="372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597</a:t>
              </a:r>
            </a:p>
          </p:txBody>
        </p:sp>
        <p:sp>
          <p:nvSpPr>
            <p:cNvPr id="241704" name="Rectangle 40"/>
            <p:cNvSpPr>
              <a:spLocks noChangeArrowheads="1"/>
            </p:cNvSpPr>
            <p:nvPr/>
          </p:nvSpPr>
          <p:spPr bwMode="auto">
            <a:xfrm>
              <a:off x="2260" y="4970"/>
              <a:ext cx="37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554</a:t>
              </a:r>
            </a:p>
          </p:txBody>
        </p:sp>
        <p:sp>
          <p:nvSpPr>
            <p:cNvPr id="241705" name="Rectangle 41"/>
            <p:cNvSpPr>
              <a:spLocks noChangeArrowheads="1"/>
            </p:cNvSpPr>
            <p:nvPr/>
          </p:nvSpPr>
          <p:spPr bwMode="auto">
            <a:xfrm>
              <a:off x="2252" y="5152"/>
              <a:ext cx="1245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578</a:t>
              </a:r>
            </a:p>
          </p:txBody>
        </p:sp>
        <p:sp>
          <p:nvSpPr>
            <p:cNvPr id="241706" name="Line 42"/>
            <p:cNvSpPr>
              <a:spLocks noChangeShapeType="1"/>
            </p:cNvSpPr>
            <p:nvPr/>
          </p:nvSpPr>
          <p:spPr bwMode="auto">
            <a:xfrm flipV="1">
              <a:off x="1235" y="2809"/>
              <a:ext cx="1015" cy="498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707" name="Line 43"/>
            <p:cNvSpPr>
              <a:spLocks noChangeShapeType="1"/>
            </p:cNvSpPr>
            <p:nvPr/>
          </p:nvSpPr>
          <p:spPr bwMode="auto">
            <a:xfrm>
              <a:off x="1223" y="3492"/>
              <a:ext cx="1002" cy="262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708" name="Line 44"/>
            <p:cNvSpPr>
              <a:spLocks noChangeShapeType="1"/>
            </p:cNvSpPr>
            <p:nvPr/>
          </p:nvSpPr>
          <p:spPr bwMode="auto">
            <a:xfrm>
              <a:off x="1209" y="3779"/>
              <a:ext cx="1002" cy="949"/>
            </a:xfrm>
            <a:prstGeom prst="line">
              <a:avLst/>
            </a:prstGeom>
            <a:noFill/>
            <a:ln w="12700">
              <a:solidFill>
                <a:srgbClr val="4B4B4B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41709" name="Rectangle 45"/>
            <p:cNvSpPr>
              <a:spLocks noChangeArrowheads="1"/>
            </p:cNvSpPr>
            <p:nvPr/>
          </p:nvSpPr>
          <p:spPr bwMode="auto">
            <a:xfrm>
              <a:off x="242" y="2894"/>
              <a:ext cx="115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>
                  <a:solidFill>
                    <a:srgbClr val="000000"/>
                  </a:solidFill>
                </a:rPr>
                <a:t>Index table</a:t>
              </a:r>
            </a:p>
          </p:txBody>
        </p:sp>
        <p:sp>
          <p:nvSpPr>
            <p:cNvPr id="241710" name="Rectangle 46"/>
            <p:cNvSpPr>
              <a:spLocks noChangeArrowheads="1"/>
            </p:cNvSpPr>
            <p:nvPr/>
          </p:nvSpPr>
          <p:spPr bwMode="auto">
            <a:xfrm>
              <a:off x="2789" y="2417"/>
              <a:ext cx="1143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>
                  <a:solidFill>
                    <a:srgbClr val="000000"/>
                  </a:solidFill>
                </a:rPr>
                <a:t>Sorted File</a:t>
              </a:r>
            </a:p>
          </p:txBody>
        </p:sp>
        <p:sp>
          <p:nvSpPr>
            <p:cNvPr id="241711" name="Rectangle 47"/>
            <p:cNvSpPr>
              <a:spLocks noChangeArrowheads="1"/>
            </p:cNvSpPr>
            <p:nvPr/>
          </p:nvSpPr>
          <p:spPr bwMode="auto">
            <a:xfrm>
              <a:off x="624" y="3840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defTabSz="457200"/>
              <a:r>
                <a:rPr lang="en-US" sz="2400" b="0">
                  <a:solidFill>
                    <a:srgbClr val="000000"/>
                  </a:solidFill>
                </a:rPr>
                <a:t>599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49" name="Rectangle 48"/>
          <p:cNvSpPr/>
          <p:nvPr/>
        </p:nvSpPr>
        <p:spPr>
          <a:xfrm>
            <a:off x="754054" y="635418"/>
            <a:ext cx="3453189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Index Sequential Search</a:t>
            </a:r>
          </a:p>
        </p:txBody>
      </p:sp>
      <p:sp>
        <p:nvSpPr>
          <p:cNvPr id="50" name="Oval 49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pic>
        <p:nvPicPr>
          <p:cNvPr id="51" name="Picture 2" descr="C:\Users\tanail\AppData\Local\Microsoft\Windows\Temporary Internet Files\Content.IE5\RXI7DR66\MC90003442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4" y="6438246"/>
            <a:ext cx="2685673" cy="260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8809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ChangeArrowheads="1"/>
          </p:cNvSpPr>
          <p:nvPr/>
        </p:nvSpPr>
        <p:spPr bwMode="auto">
          <a:xfrm>
            <a:off x="471488" y="1160463"/>
            <a:ext cx="5400675" cy="748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40000"/>
              </a:lnSpc>
              <a:spcBef>
                <a:spcPct val="70000"/>
              </a:spcBef>
              <a:buSzPct val="100000"/>
              <a:buFontTx/>
              <a:buChar char="•"/>
            </a:pPr>
            <a:r>
              <a:rPr lang="en-US" sz="2000" b="0" dirty="0"/>
              <a:t>A Binary Tree is a group of data       arranged in a tree-like structure.</a:t>
            </a:r>
          </a:p>
          <a:p>
            <a:pPr marL="171450" indent="-171450" defTabSz="457200">
              <a:lnSpc>
                <a:spcPct val="140000"/>
              </a:lnSpc>
              <a:spcBef>
                <a:spcPct val="70000"/>
              </a:spcBef>
              <a:buSzPct val="100000"/>
              <a:buFontTx/>
              <a:buChar char="•"/>
            </a:pPr>
            <a:r>
              <a:rPr lang="en-US" sz="2000" b="0" dirty="0"/>
              <a:t>Records in a sorted file is stored in a binary</a:t>
            </a:r>
            <a:r>
              <a:rPr lang="en-GB" sz="2000" b="0" dirty="0"/>
              <a:t> s</a:t>
            </a:r>
            <a:r>
              <a:rPr lang="en-US" sz="2000" b="0" dirty="0" err="1"/>
              <a:t>earch</a:t>
            </a:r>
            <a:r>
              <a:rPr lang="en-US" sz="2000" b="0" dirty="0"/>
              <a:t> tree based on a key.</a:t>
            </a:r>
          </a:p>
          <a:p>
            <a:pPr marL="171450" indent="-171450" defTabSz="457200">
              <a:lnSpc>
                <a:spcPct val="140000"/>
              </a:lnSpc>
              <a:spcBef>
                <a:spcPct val="70000"/>
              </a:spcBef>
              <a:buSzPct val="100000"/>
              <a:buFontTx/>
              <a:buChar char="•"/>
            </a:pPr>
            <a:r>
              <a:rPr lang="en-US" sz="2000" b="0" dirty="0"/>
              <a:t>Search is done by comparing the desired</a:t>
            </a:r>
            <a:r>
              <a:rPr lang="en-GB" sz="2000" b="0" dirty="0"/>
              <a:t> </a:t>
            </a:r>
            <a:r>
              <a:rPr lang="en-US" sz="2000" b="0" dirty="0"/>
              <a:t>key </a:t>
            </a:r>
            <a:r>
              <a:rPr lang="en-GB" sz="2000" b="0" dirty="0"/>
              <a:t>with the</a:t>
            </a:r>
            <a:r>
              <a:rPr lang="en-US" sz="2000" b="0" dirty="0"/>
              <a:t> key in each node, </a:t>
            </a:r>
            <a:br>
              <a:rPr lang="en-US" sz="2000" b="0" dirty="0"/>
            </a:br>
            <a:r>
              <a:rPr lang="en-US" sz="2000" b="0" dirty="0"/>
              <a:t>starting from the root of the search tree.</a:t>
            </a:r>
          </a:p>
          <a:p>
            <a:pPr marL="171450" indent="-171450" defTabSz="457200">
              <a:lnSpc>
                <a:spcPct val="140000"/>
              </a:lnSpc>
              <a:spcBef>
                <a:spcPct val="70000"/>
              </a:spcBef>
              <a:buSzPct val="100000"/>
              <a:buFontTx/>
              <a:buChar char="•"/>
            </a:pPr>
            <a:r>
              <a:rPr lang="en-US" sz="2000" b="0" dirty="0"/>
              <a:t>Search functions are easy to implement for binary trees.</a:t>
            </a:r>
            <a:endParaRPr lang="en-GB" sz="2000" b="0" dirty="0"/>
          </a:p>
          <a:p>
            <a:pPr marL="171450" indent="-171450" defTabSz="457200">
              <a:lnSpc>
                <a:spcPct val="140000"/>
              </a:lnSpc>
              <a:spcBef>
                <a:spcPct val="70000"/>
              </a:spcBef>
              <a:buSzPct val="100000"/>
              <a:buFontTx/>
              <a:buChar char="•"/>
            </a:pPr>
            <a:r>
              <a:rPr lang="en-US" sz="2000" b="0" dirty="0"/>
              <a:t>This function returns a pointer to the node in the tree that matches the key; otherwise, returns null:</a:t>
            </a:r>
          </a:p>
        </p:txBody>
      </p:sp>
      <p:grpSp>
        <p:nvGrpSpPr>
          <p:cNvPr id="242708" name="Group 20"/>
          <p:cNvGrpSpPr>
            <a:grpSpLocks/>
          </p:cNvGrpSpPr>
          <p:nvPr/>
        </p:nvGrpSpPr>
        <p:grpSpPr bwMode="auto">
          <a:xfrm>
            <a:off x="5013325" y="1254125"/>
            <a:ext cx="1447800" cy="1830387"/>
            <a:chOff x="3312" y="1063"/>
            <a:chExt cx="912" cy="1153"/>
          </a:xfrm>
        </p:grpSpPr>
        <p:sp>
          <p:nvSpPr>
            <p:cNvPr id="242691" name="Oval 3"/>
            <p:cNvSpPr>
              <a:spLocks noChangeArrowheads="1"/>
            </p:cNvSpPr>
            <p:nvPr/>
          </p:nvSpPr>
          <p:spPr bwMode="auto">
            <a:xfrm>
              <a:off x="3792" y="2083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2" name="Line 4"/>
            <p:cNvSpPr>
              <a:spLocks noChangeShapeType="1"/>
            </p:cNvSpPr>
            <p:nvPr/>
          </p:nvSpPr>
          <p:spPr bwMode="auto">
            <a:xfrm flipH="1" flipV="1">
              <a:off x="3696" y="1906"/>
              <a:ext cx="144" cy="1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3" name="Line 5"/>
            <p:cNvSpPr>
              <a:spLocks noChangeShapeType="1"/>
            </p:cNvSpPr>
            <p:nvPr/>
          </p:nvSpPr>
          <p:spPr bwMode="auto">
            <a:xfrm flipV="1">
              <a:off x="3888" y="1862"/>
              <a:ext cx="96" cy="2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4" name="Oval 6"/>
            <p:cNvSpPr>
              <a:spLocks noChangeArrowheads="1"/>
            </p:cNvSpPr>
            <p:nvPr/>
          </p:nvSpPr>
          <p:spPr bwMode="auto">
            <a:xfrm>
              <a:off x="3936" y="1729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5" name="Line 7"/>
            <p:cNvSpPr>
              <a:spLocks noChangeShapeType="1"/>
            </p:cNvSpPr>
            <p:nvPr/>
          </p:nvSpPr>
          <p:spPr bwMode="auto">
            <a:xfrm flipH="1" flipV="1">
              <a:off x="3840" y="1552"/>
              <a:ext cx="144" cy="1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6" name="Line 8"/>
            <p:cNvSpPr>
              <a:spLocks noChangeShapeType="1"/>
            </p:cNvSpPr>
            <p:nvPr/>
          </p:nvSpPr>
          <p:spPr bwMode="auto">
            <a:xfrm flipV="1">
              <a:off x="4032" y="1507"/>
              <a:ext cx="96" cy="2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7" name="Oval 9"/>
            <p:cNvSpPr>
              <a:spLocks noChangeArrowheads="1"/>
            </p:cNvSpPr>
            <p:nvPr/>
          </p:nvSpPr>
          <p:spPr bwMode="auto">
            <a:xfrm>
              <a:off x="3552" y="1773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8" name="Line 10"/>
            <p:cNvSpPr>
              <a:spLocks noChangeShapeType="1"/>
            </p:cNvSpPr>
            <p:nvPr/>
          </p:nvSpPr>
          <p:spPr bwMode="auto">
            <a:xfrm flipH="1" flipV="1">
              <a:off x="3408" y="1640"/>
              <a:ext cx="144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9" name="Line 11"/>
            <p:cNvSpPr>
              <a:spLocks noChangeShapeType="1"/>
            </p:cNvSpPr>
            <p:nvPr/>
          </p:nvSpPr>
          <p:spPr bwMode="auto">
            <a:xfrm flipV="1">
              <a:off x="3600" y="1552"/>
              <a:ext cx="0" cy="2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0" name="Oval 12"/>
            <p:cNvSpPr>
              <a:spLocks noChangeArrowheads="1"/>
            </p:cNvSpPr>
            <p:nvPr/>
          </p:nvSpPr>
          <p:spPr bwMode="auto">
            <a:xfrm>
              <a:off x="4080" y="1374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1" name="Oval 13"/>
            <p:cNvSpPr>
              <a:spLocks noChangeArrowheads="1"/>
            </p:cNvSpPr>
            <p:nvPr/>
          </p:nvSpPr>
          <p:spPr bwMode="auto">
            <a:xfrm>
              <a:off x="3744" y="1418"/>
              <a:ext cx="144" cy="1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2" name="Oval 14"/>
            <p:cNvSpPr>
              <a:spLocks noChangeArrowheads="1"/>
            </p:cNvSpPr>
            <p:nvPr/>
          </p:nvSpPr>
          <p:spPr bwMode="auto">
            <a:xfrm>
              <a:off x="3312" y="1507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3" name="Oval 15"/>
            <p:cNvSpPr>
              <a:spLocks noChangeArrowheads="1"/>
            </p:cNvSpPr>
            <p:nvPr/>
          </p:nvSpPr>
          <p:spPr bwMode="auto">
            <a:xfrm>
              <a:off x="3504" y="1418"/>
              <a:ext cx="144" cy="1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4" name="Line 16"/>
            <p:cNvSpPr>
              <a:spLocks noChangeShapeType="1"/>
            </p:cNvSpPr>
            <p:nvPr/>
          </p:nvSpPr>
          <p:spPr bwMode="auto">
            <a:xfrm flipH="1" flipV="1">
              <a:off x="3696" y="1241"/>
              <a:ext cx="96" cy="1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5" name="Oval 17"/>
            <p:cNvSpPr>
              <a:spLocks noChangeArrowheads="1"/>
            </p:cNvSpPr>
            <p:nvPr/>
          </p:nvSpPr>
          <p:spPr bwMode="auto">
            <a:xfrm>
              <a:off x="3600" y="1108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6" name="Line 18"/>
            <p:cNvSpPr>
              <a:spLocks noChangeShapeType="1"/>
            </p:cNvSpPr>
            <p:nvPr/>
          </p:nvSpPr>
          <p:spPr bwMode="auto">
            <a:xfrm flipH="1" flipV="1">
              <a:off x="4032" y="1196"/>
              <a:ext cx="9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7" name="Oval 19"/>
            <p:cNvSpPr>
              <a:spLocks noChangeArrowheads="1"/>
            </p:cNvSpPr>
            <p:nvPr/>
          </p:nvSpPr>
          <p:spPr bwMode="auto">
            <a:xfrm>
              <a:off x="3936" y="1063"/>
              <a:ext cx="144" cy="1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22" name="Rectangle 21"/>
          <p:cNvSpPr/>
          <p:nvPr/>
        </p:nvSpPr>
        <p:spPr>
          <a:xfrm>
            <a:off x="754054" y="635418"/>
            <a:ext cx="273183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Binary Tree Search</a:t>
            </a:r>
          </a:p>
        </p:txBody>
      </p:sp>
      <p:sp>
        <p:nvSpPr>
          <p:cNvPr id="23" name="Oval 22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466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ChangeArrowheads="1"/>
          </p:cNvSpPr>
          <p:nvPr/>
        </p:nvSpPr>
        <p:spPr bwMode="auto">
          <a:xfrm>
            <a:off x="476250" y="1304925"/>
            <a:ext cx="5976938" cy="739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171450" indent="-171450" defTabSz="457200">
              <a:lnSpc>
                <a:spcPct val="110000"/>
              </a:lnSpc>
              <a:spcBef>
                <a:spcPct val="90000"/>
              </a:spcBef>
              <a:buFontTx/>
              <a:buChar char="•"/>
            </a:pPr>
            <a:r>
              <a:rPr lang="en-US" sz="2400" b="0" i="1" u="sng" dirty="0"/>
              <a:t>Objective </a:t>
            </a:r>
            <a:endParaRPr lang="en-US" sz="2400" b="0" dirty="0"/>
          </a:p>
          <a:p>
            <a:pPr marL="171450" indent="-171450" defTabSz="457200">
              <a:lnSpc>
                <a:spcPct val="11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GB" sz="2400" b="0" dirty="0"/>
              <a:t>  </a:t>
            </a:r>
            <a:r>
              <a:rPr lang="en-US" sz="2000" b="0" dirty="0"/>
              <a:t>To provide a "direct"  access to the desired record based on the desired record key.</a:t>
            </a:r>
          </a:p>
          <a:p>
            <a:pPr marL="171450" indent="-171450" defTabSz="457200">
              <a:lnSpc>
                <a:spcPct val="110000"/>
              </a:lnSpc>
              <a:spcBef>
                <a:spcPct val="90000"/>
              </a:spcBef>
              <a:buFontTx/>
              <a:buChar char="•"/>
            </a:pPr>
            <a:r>
              <a:rPr lang="en-US" sz="2400" b="0" i="1" u="sng" dirty="0"/>
              <a:t>Implementation</a:t>
            </a:r>
          </a:p>
          <a:p>
            <a:pPr marL="171450" indent="-171450" defTabSz="457200">
              <a:lnSpc>
                <a:spcPct val="11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GB" sz="2400" b="0" dirty="0"/>
              <a:t>  </a:t>
            </a:r>
            <a:r>
              <a:rPr lang="en-US" sz="2000" b="0" dirty="0"/>
              <a:t>Based on a record key, each record is read from file and inserted at</a:t>
            </a:r>
            <a:r>
              <a:rPr lang="en-US" sz="2000" b="0" i="1" dirty="0"/>
              <a:t> particular </a:t>
            </a:r>
            <a:r>
              <a:rPr lang="en-US" sz="2000" b="0" dirty="0"/>
              <a:t>location of an array using a</a:t>
            </a:r>
            <a:r>
              <a:rPr lang="en-US" sz="2000" dirty="0"/>
              <a:t> Hash Function.</a:t>
            </a:r>
            <a:endParaRPr lang="en-US" sz="2000" b="0" dirty="0"/>
          </a:p>
          <a:p>
            <a:pPr marL="171450" indent="-171450" defTabSz="457200">
              <a:lnSpc>
                <a:spcPct val="110000"/>
              </a:lnSpc>
              <a:spcBef>
                <a:spcPct val="90000"/>
              </a:spcBef>
              <a:buFontTx/>
              <a:buChar char="•"/>
            </a:pPr>
            <a:r>
              <a:rPr lang="en-US" sz="2000" b="0" dirty="0"/>
              <a:t>Hash Function uses the record key and returns a value (</a:t>
            </a:r>
            <a:r>
              <a:rPr lang="en-US" sz="2000" dirty="0"/>
              <a:t>hash key</a:t>
            </a:r>
            <a:r>
              <a:rPr lang="en-US" sz="2000" b="0" dirty="0"/>
              <a:t>) which is the location of the record in the array.</a:t>
            </a:r>
          </a:p>
          <a:p>
            <a:pPr marL="171450" indent="-171450" defTabSz="457200">
              <a:lnSpc>
                <a:spcPct val="110000"/>
              </a:lnSpc>
              <a:spcBef>
                <a:spcPct val="90000"/>
              </a:spcBef>
              <a:buFontTx/>
              <a:buChar char="•"/>
            </a:pPr>
            <a:r>
              <a:rPr lang="en-US" sz="2000" b="0" dirty="0"/>
              <a:t>To </a:t>
            </a:r>
            <a:r>
              <a:rPr lang="en-US" sz="2000" b="0" i="1" dirty="0"/>
              <a:t>retrieve </a:t>
            </a:r>
            <a:r>
              <a:rPr lang="en-US" sz="2000" b="0" dirty="0"/>
              <a:t>a record, the record key is input into the Hash Function which returns a hash key</a:t>
            </a:r>
            <a:r>
              <a:rPr lang="en-US" sz="2400" b="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473" y="72509"/>
            <a:ext cx="52357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Searching</a:t>
            </a:r>
            <a:r>
              <a:rPr lang="en-GB" sz="3200" b="1" dirty="0"/>
              <a:t> Techniques</a:t>
            </a:r>
            <a:endParaRPr lang="en-US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754054" y="635418"/>
            <a:ext cx="1321196" cy="389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120000"/>
              </a:lnSpc>
              <a:spcBef>
                <a:spcPct val="90000"/>
              </a:spcBef>
              <a:buClr>
                <a:schemeClr val="hlink"/>
              </a:buClr>
              <a:buSzPct val="150000"/>
            </a:pPr>
            <a:r>
              <a:rPr lang="en-GB" dirty="0"/>
              <a:t> </a:t>
            </a:r>
            <a:r>
              <a:rPr lang="en-US" b="1" dirty="0">
                <a:solidFill>
                  <a:srgbClr val="FF0000"/>
                </a:solidFill>
              </a:rPr>
              <a:t>Hashing</a:t>
            </a:r>
          </a:p>
        </p:txBody>
      </p:sp>
      <p:sp>
        <p:nvSpPr>
          <p:cNvPr id="5" name="Oval 4"/>
          <p:cNvSpPr/>
          <p:nvPr/>
        </p:nvSpPr>
        <p:spPr>
          <a:xfrm>
            <a:off x="561975" y="710559"/>
            <a:ext cx="302102" cy="2762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927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275" y="2152651"/>
            <a:ext cx="5829300" cy="2363788"/>
          </a:xfrm>
          <a:noFill/>
          <a:ln/>
        </p:spPr>
        <p:txBody>
          <a:bodyPr/>
          <a:lstStyle/>
          <a:p>
            <a:pPr algn="r"/>
            <a:r>
              <a:rPr lang="en-GB" sz="4400" b="1" dirty="0">
                <a:latin typeface="Times New Roman" pitchFamily="18" charset="0"/>
              </a:rPr>
              <a:t>IT1762</a:t>
            </a:r>
            <a:br>
              <a:rPr lang="en-GB" sz="4400" b="1" dirty="0">
                <a:latin typeface="Times New Roman" pitchFamily="18" charset="0"/>
              </a:rPr>
            </a:br>
            <a:r>
              <a:rPr lang="en-GB" sz="4400" b="1" dirty="0">
                <a:latin typeface="Times New Roman" pitchFamily="18" charset="0"/>
              </a:rPr>
              <a:t>Data Structures and Algorithms</a:t>
            </a:r>
            <a:endParaRPr lang="en-US" sz="4400" b="1" dirty="0">
              <a:latin typeface="Times New Roman" pitchFamily="18" charset="0"/>
            </a:endParaRP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09738" y="5335588"/>
            <a:ext cx="4800600" cy="2336800"/>
          </a:xfrm>
        </p:spPr>
        <p:txBody>
          <a:bodyPr/>
          <a:lstStyle/>
          <a:p>
            <a:pPr algn="r"/>
            <a:r>
              <a:rPr lang="en-GB" sz="2800" dirty="0">
                <a:latin typeface="Verdana" pitchFamily="34" charset="0"/>
              </a:rPr>
              <a:t>End of Topic 7A</a:t>
            </a:r>
          </a:p>
          <a:p>
            <a:r>
              <a:rPr lang="en-GB" sz="2800" b="1" dirty="0">
                <a:solidFill>
                  <a:srgbClr val="FF0000"/>
                </a:solidFill>
                <a:latin typeface="Verdana" pitchFamily="34" charset="0"/>
              </a:rPr>
              <a:t>Advanced Algorithms</a:t>
            </a:r>
          </a:p>
          <a:p>
            <a:r>
              <a:rPr lang="en-GB" b="1" dirty="0">
                <a:solidFill>
                  <a:srgbClr val="FF0000"/>
                </a:solidFill>
                <a:latin typeface="Verdana" pitchFamily="34" charset="0"/>
              </a:rPr>
              <a:t>- Searching Algorithms</a:t>
            </a:r>
            <a:endParaRPr lang="en-US" sz="2800" b="1" dirty="0">
              <a:solidFill>
                <a:srgbClr val="FF0000"/>
              </a:solidFill>
              <a:latin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1932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5495</TotalTime>
  <Words>711</Words>
  <Application>Microsoft Office PowerPoint</Application>
  <PresentationFormat>On-screen Show (4:3)</PresentationFormat>
  <Paragraphs>149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Verdana</vt:lpstr>
      <vt:lpstr>Wingdings</vt:lpstr>
      <vt:lpstr>1_Layers</vt:lpstr>
      <vt:lpstr>IT1762 Data Structures &amp; Algorithms</vt:lpstr>
      <vt:lpstr>Instructional 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IT1762 Data Structures and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377</cp:revision>
  <cp:lastPrinted>2015-11-27T09:48:07Z</cp:lastPrinted>
  <dcterms:created xsi:type="dcterms:W3CDTF">2003-02-28T08:34:47Z</dcterms:created>
  <dcterms:modified xsi:type="dcterms:W3CDTF">2018-09-25T06:11:43Z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AB68C3D3-42E0-4649-A81C-E7CBF6506855</vt:lpwstr>
  </property>
  <property fmtid="{D5CDD505-2E9C-101B-9397-08002B2CF9AE}" pid="3" name="ArticulatePath">
    <vt:lpwstr>IT1762 Topic 7 - Advanced Algorithms</vt:lpwstr>
  </property>
</Properties>
</file>