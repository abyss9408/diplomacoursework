
<file path=[Content_Types].xml><?xml version="1.0" encoding="utf-8"?>
<Types xmlns="http://schemas.openxmlformats.org/package/2006/content-types">
  <Default Extension="png" ContentType="image/png"/>
  <Default Extension="tmp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48"/>
  </p:notesMasterIdLst>
  <p:handoutMasterIdLst>
    <p:handoutMasterId r:id="rId49"/>
  </p:handoutMasterIdLst>
  <p:sldIdLst>
    <p:sldId id="256" r:id="rId2"/>
    <p:sldId id="262" r:id="rId3"/>
    <p:sldId id="291" r:id="rId4"/>
    <p:sldId id="292" r:id="rId5"/>
    <p:sldId id="293" r:id="rId6"/>
    <p:sldId id="294" r:id="rId7"/>
    <p:sldId id="295" r:id="rId8"/>
    <p:sldId id="335" r:id="rId9"/>
    <p:sldId id="336" r:id="rId10"/>
    <p:sldId id="337" r:id="rId11"/>
    <p:sldId id="296" r:id="rId12"/>
    <p:sldId id="297" r:id="rId13"/>
    <p:sldId id="298" r:id="rId14"/>
    <p:sldId id="299" r:id="rId15"/>
    <p:sldId id="300" r:id="rId16"/>
    <p:sldId id="302" r:id="rId17"/>
    <p:sldId id="303" r:id="rId18"/>
    <p:sldId id="309" r:id="rId19"/>
    <p:sldId id="310" r:id="rId20"/>
    <p:sldId id="311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41" r:id="rId33"/>
    <p:sldId id="342" r:id="rId34"/>
    <p:sldId id="325" r:id="rId35"/>
    <p:sldId id="326" r:id="rId36"/>
    <p:sldId id="343" r:id="rId37"/>
    <p:sldId id="328" r:id="rId38"/>
    <p:sldId id="344" r:id="rId39"/>
    <p:sldId id="327" r:id="rId40"/>
    <p:sldId id="329" r:id="rId41"/>
    <p:sldId id="338" r:id="rId42"/>
    <p:sldId id="339" r:id="rId43"/>
    <p:sldId id="330" r:id="rId44"/>
    <p:sldId id="332" r:id="rId45"/>
    <p:sldId id="333" r:id="rId46"/>
    <p:sldId id="334" r:id="rId47"/>
  </p:sldIdLst>
  <p:sldSz cx="6858000" cy="9144000" type="screen4x3"/>
  <p:notesSz cx="9874250" cy="6797675"/>
  <p:custDataLst>
    <p:tags r:id="rId50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33CC"/>
    <a:srgbClr val="0000FF"/>
    <a:srgbClr val="0099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14" autoAdjust="0"/>
    <p:restoredTop sz="94455" autoAdjust="0"/>
  </p:normalViewPr>
  <p:slideViewPr>
    <p:cSldViewPr snapToGrid="0">
      <p:cViewPr>
        <p:scale>
          <a:sx n="86" d="100"/>
          <a:sy n="86" d="100"/>
        </p:scale>
        <p:origin x="780" y="-130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9301" cy="34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3417" y="0"/>
            <a:ext cx="4279301" cy="34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7184"/>
            <a:ext cx="4279301" cy="338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3417" y="6457184"/>
            <a:ext cx="4279301" cy="338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1C24FB9D-886C-4E5E-9CE4-2A382B84C7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5604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9301" cy="34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3417" y="0"/>
            <a:ext cx="4279301" cy="34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81450" y="511175"/>
            <a:ext cx="1911350" cy="2547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7885" y="3228592"/>
            <a:ext cx="7898480" cy="3059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7184"/>
            <a:ext cx="4279301" cy="338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3417" y="6457184"/>
            <a:ext cx="4279301" cy="338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E178DDCB-BF89-403A-84BB-2F516348CD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6663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ACE927-42E0-41DC-85DD-29618A0D7C8B}" type="slidenum">
              <a:rPr lang="en-US"/>
              <a:pPr/>
              <a:t>3</a:t>
            </a:fld>
            <a:endParaRPr lang="en-US"/>
          </a:p>
        </p:txBody>
      </p:sp>
      <p:sp>
        <p:nvSpPr>
          <p:cNvPr id="7065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3426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3AB65A-B752-463F-99C8-02DBE152BD99}" type="slidenum">
              <a:rPr lang="en-US"/>
              <a:pPr/>
              <a:t>4</a:t>
            </a:fld>
            <a:endParaRPr lang="en-US"/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066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1B79A5-D6F8-4723-901E-4E15778E860A}" type="slidenum">
              <a:rPr lang="en-US"/>
              <a:pPr/>
              <a:t>11</a:t>
            </a:fld>
            <a:endParaRPr lang="en-US"/>
          </a:p>
        </p:txBody>
      </p:sp>
      <p:sp>
        <p:nvSpPr>
          <p:cNvPr id="7782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197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6C39AB-2C3F-42C1-B241-2B74568ADCFE}" type="slidenum">
              <a:rPr lang="en-US"/>
              <a:pPr/>
              <a:t>12</a:t>
            </a:fld>
            <a:endParaRPr lang="en-US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95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F884FC-6C90-419F-9C6A-038A2ADEEDAA}" type="slidenum">
              <a:rPr lang="en-US"/>
              <a:pPr/>
              <a:t>13</a:t>
            </a:fld>
            <a:endParaRPr lang="en-US"/>
          </a:p>
        </p:txBody>
      </p:sp>
      <p:sp>
        <p:nvSpPr>
          <p:cNvPr id="7987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19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1579A3-9AD7-4586-AED1-2EE13341CF89}" type="slidenum">
              <a:rPr lang="en-US"/>
              <a:pPr/>
              <a:t>14</a:t>
            </a:fld>
            <a:endParaRPr lang="en-US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228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01C0AC-6B57-44EF-AD7D-90B7C4FB02C2}" type="slidenum">
              <a:rPr lang="en-US"/>
              <a:pPr/>
              <a:t>16</a:t>
            </a:fld>
            <a:endParaRPr lang="en-US"/>
          </a:p>
        </p:txBody>
      </p:sp>
      <p:sp>
        <p:nvSpPr>
          <p:cNvPr id="8192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358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79DDC4-1C1A-48F8-A45A-9BE856CC0001}" type="slidenum">
              <a:rPr lang="en-US"/>
              <a:pPr/>
              <a:t>18</a:t>
            </a:fld>
            <a:endParaRPr lang="en-US"/>
          </a:p>
        </p:txBody>
      </p:sp>
      <p:sp>
        <p:nvSpPr>
          <p:cNvPr id="9113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280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CF281F-0FE6-4171-8A37-94F065B745F8}" type="slidenum">
              <a:rPr lang="en-US"/>
              <a:pPr/>
              <a:t>19</a:t>
            </a:fld>
            <a:endParaRPr lang="en-US"/>
          </a:p>
        </p:txBody>
      </p:sp>
      <p:sp>
        <p:nvSpPr>
          <p:cNvPr id="9318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167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BEEF64-E4E9-4733-AB58-054126ABC2F5}" type="slidenum">
              <a:rPr lang="en-US"/>
              <a:pPr/>
              <a:t>20</a:t>
            </a:fld>
            <a:endParaRPr lang="en-US"/>
          </a:p>
        </p:txBody>
      </p:sp>
      <p:sp>
        <p:nvSpPr>
          <p:cNvPr id="952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530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E5130F-8793-480E-955C-69DAC48C8A6C}" type="slidenum">
              <a:rPr lang="en-US"/>
              <a:pPr/>
              <a:t>21</a:t>
            </a:fld>
            <a:endParaRPr lang="en-US"/>
          </a:p>
        </p:txBody>
      </p:sp>
      <p:sp>
        <p:nvSpPr>
          <p:cNvPr id="1177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293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1EA176-E323-4BBA-8151-0C2871D036B0}" type="slidenum">
              <a:rPr lang="en-US"/>
              <a:pPr/>
              <a:t>22</a:t>
            </a:fld>
            <a:endParaRPr lang="en-US"/>
          </a:p>
        </p:txBody>
      </p:sp>
      <p:sp>
        <p:nvSpPr>
          <p:cNvPr id="10445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3858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364B25-2CDE-45C4-BA53-7F7D4BA3ABDC}" type="slidenum">
              <a:rPr lang="en-US"/>
              <a:pPr/>
              <a:t>23</a:t>
            </a:fld>
            <a:endParaRPr lang="en-US"/>
          </a:p>
        </p:txBody>
      </p:sp>
      <p:sp>
        <p:nvSpPr>
          <p:cNvPr id="11981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963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74D6DD-F588-40B3-B405-098AAB4B0D8B}" type="slidenum">
              <a:rPr lang="en-US"/>
              <a:pPr/>
              <a:t>24</a:t>
            </a:fld>
            <a:endParaRPr lang="en-US"/>
          </a:p>
        </p:txBody>
      </p:sp>
      <p:sp>
        <p:nvSpPr>
          <p:cNvPr id="10649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14790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808593-F5BB-4250-B121-72129524498D}" type="slidenum">
              <a:rPr lang="en-US"/>
              <a:pPr/>
              <a:t>25</a:t>
            </a:fld>
            <a:endParaRPr lang="en-US"/>
          </a:p>
        </p:txBody>
      </p:sp>
      <p:sp>
        <p:nvSpPr>
          <p:cNvPr id="12185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0747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82C376-16D1-44A2-9C4F-4E14F68B9ABE}" type="slidenum">
              <a:rPr lang="en-US"/>
              <a:pPr/>
              <a:t>26</a:t>
            </a:fld>
            <a:endParaRPr lang="en-US"/>
          </a:p>
        </p:txBody>
      </p:sp>
      <p:sp>
        <p:nvSpPr>
          <p:cNvPr id="10854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863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0D9765-89D4-41C8-8E54-D0F0B36C2DDD}" type="slidenum">
              <a:rPr lang="en-US"/>
              <a:pPr/>
              <a:t>28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7041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DBC11E-16FA-4AB0-B549-542E7B984464}" type="slidenum">
              <a:rPr lang="en-US"/>
              <a:pPr/>
              <a:t>29</a:t>
            </a:fld>
            <a:endParaRPr lang="en-US"/>
          </a:p>
        </p:txBody>
      </p:sp>
      <p:sp>
        <p:nvSpPr>
          <p:cNvPr id="12390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533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388A17-60C1-4510-B33D-21A5ACAA4519}" type="slidenum">
              <a:rPr lang="en-US"/>
              <a:pPr/>
              <a:t>30</a:t>
            </a:fld>
            <a:endParaRPr lang="en-US"/>
          </a:p>
        </p:txBody>
      </p:sp>
      <p:sp>
        <p:nvSpPr>
          <p:cNvPr id="12800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8079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9E4682-5976-4DC1-A0BF-B8A4C5432FDB}" type="slidenum">
              <a:rPr lang="en-US"/>
              <a:pPr/>
              <a:t>31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87454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9pPr>
          </a:lstStyle>
          <a:p>
            <a:fld id="{E2F949D6-2545-40A8-8D9D-C67AC7A0EDC7}" type="slidenum">
              <a:rPr lang="en-US" altLang="en-US" sz="1200">
                <a:latin typeface="Trebuchet MS" pitchFamily="34" charset="0"/>
              </a:rPr>
              <a:pPr/>
              <a:t>32</a:t>
            </a:fld>
            <a:endParaRPr lang="en-US" altLang="en-US" sz="1200">
              <a:latin typeface="Trebuchet MS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81450" y="511175"/>
            <a:ext cx="1911350" cy="254793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7505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313C15-6F06-42C6-9CA9-09473C4EF7E8}" type="slidenum">
              <a:rPr lang="en-US"/>
              <a:pPr/>
              <a:t>34</a:t>
            </a:fld>
            <a:endParaRPr lang="en-US"/>
          </a:p>
        </p:txBody>
      </p:sp>
      <p:sp>
        <p:nvSpPr>
          <p:cNvPr id="13005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0927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DBC0B6-3E76-4371-A086-ABE808593AC3}" type="slidenum">
              <a:rPr lang="en-US"/>
              <a:pPr/>
              <a:t>35</a:t>
            </a:fld>
            <a:endParaRPr lang="en-US"/>
          </a:p>
        </p:txBody>
      </p:sp>
      <p:sp>
        <p:nvSpPr>
          <p:cNvPr id="1146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84625" y="517525"/>
            <a:ext cx="1906588" cy="25400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16567" y="3232645"/>
            <a:ext cx="7239520" cy="28595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399" tIns="46700" rIns="93399" bIns="4670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87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6572250" cy="79248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5" y="2352"/>
                <a:ext cx="4817" cy="1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3" name="Rectangle 13"/>
          <p:cNvSpPr>
            <a:spLocks noChangeArrowheads="1"/>
          </p:cNvSpPr>
          <p:nvPr userDrawn="1"/>
        </p:nvSpPr>
        <p:spPr bwMode="auto">
          <a:xfrm>
            <a:off x="0" y="8636000"/>
            <a:ext cx="3789363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>
              <a:defRPr/>
            </a:pPr>
            <a:r>
              <a:rPr lang="en-US" sz="800" dirty="0">
                <a:latin typeface="Arial" charset="0"/>
              </a:rPr>
              <a:t>Copyrights © Nanyang Polytechnic, 2018 S2</a:t>
            </a:r>
          </a:p>
        </p:txBody>
      </p:sp>
      <p:sp>
        <p:nvSpPr>
          <p:cNvPr id="14" name="Text Box 14"/>
          <p:cNvSpPr txBox="1">
            <a:spLocks noChangeArrowheads="1"/>
          </p:cNvSpPr>
          <p:nvPr userDrawn="1"/>
        </p:nvSpPr>
        <p:spPr bwMode="auto">
          <a:xfrm>
            <a:off x="1341438" y="468313"/>
            <a:ext cx="28082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GB" sz="1000"/>
              <a:t>IT1762 Data Structures and Algorithms</a:t>
            </a:r>
          </a:p>
        </p:txBody>
      </p:sp>
      <p:sp>
        <p:nvSpPr>
          <p:cNvPr id="15" name="Rectangle 15"/>
          <p:cNvSpPr>
            <a:spLocks noChangeArrowheads="1"/>
          </p:cNvSpPr>
          <p:nvPr userDrawn="1"/>
        </p:nvSpPr>
        <p:spPr bwMode="auto">
          <a:xfrm>
            <a:off x="4797425" y="8748713"/>
            <a:ext cx="1933575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GB" sz="1000">
                <a:latin typeface="Arial" charset="0"/>
              </a:rPr>
              <a:t>page </a:t>
            </a:r>
            <a:fld id="{6179BE9E-A586-4395-840D-FFD4C572EF2B}" type="slidenum">
              <a:rPr lang="en-GB" sz="1000">
                <a:latin typeface="Arial" charset="0"/>
              </a:rPr>
              <a:pPr algn="r">
                <a:defRPr/>
              </a:pPr>
              <a:t>‹#›</a:t>
            </a:fld>
            <a:endParaRPr lang="en-GB" sz="1000">
              <a:latin typeface="Arial" charset="0"/>
            </a:endParaRPr>
          </a:p>
        </p:txBody>
      </p:sp>
      <p:sp>
        <p:nvSpPr>
          <p:cNvPr id="293899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1543050" y="1524000"/>
            <a:ext cx="4972050" cy="2946400"/>
          </a:xfrm>
        </p:spPr>
        <p:txBody>
          <a:bodyPr/>
          <a:lstStyle>
            <a:lvl1pPr>
              <a:defRPr sz="3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93900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028700" y="5283200"/>
            <a:ext cx="5143500" cy="2133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 dirty="0"/>
              <a:t>Click to edit Master subtitle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3102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4720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7892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250" y="1619250"/>
            <a:ext cx="2943225" cy="6913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1875" y="1619250"/>
            <a:ext cx="2943225" cy="6913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3947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8600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017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298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929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2710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4354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67300" y="179388"/>
            <a:ext cx="1530350" cy="83534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6250" y="179388"/>
            <a:ext cx="4438650" cy="8353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6430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79388"/>
            <a:ext cx="6048375" cy="790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76250" y="1619250"/>
            <a:ext cx="2943225" cy="6913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1875" y="1619250"/>
            <a:ext cx="2943225" cy="6913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77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7" name="Rectangle 3"/>
          <p:cNvSpPr>
            <a:spLocks noChangeArrowheads="1"/>
          </p:cNvSpPr>
          <p:nvPr/>
        </p:nvSpPr>
        <p:spPr bwMode="auto">
          <a:xfrm>
            <a:off x="0" y="0"/>
            <a:ext cx="457200" cy="6502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pitchFamily="18" charset="0"/>
            </a:endParaRPr>
          </a:p>
        </p:txBody>
      </p:sp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454025" y="1030288"/>
            <a:ext cx="6229350" cy="242887"/>
            <a:chOff x="240" y="893"/>
            <a:chExt cx="5232" cy="115"/>
          </a:xfrm>
        </p:grpSpPr>
        <p:sp>
          <p:nvSpPr>
            <p:cNvPr id="292869" name="Rectangle 5"/>
            <p:cNvSpPr>
              <a:spLocks noChangeArrowheads="1"/>
            </p:cNvSpPr>
            <p:nvPr/>
          </p:nvSpPr>
          <p:spPr bwMode="auto">
            <a:xfrm>
              <a:off x="4320" y="893"/>
              <a:ext cx="1152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2870" name="Line 6"/>
            <p:cNvSpPr>
              <a:spLocks noChangeShapeType="1"/>
            </p:cNvSpPr>
            <p:nvPr/>
          </p:nvSpPr>
          <p:spPr bwMode="auto">
            <a:xfrm>
              <a:off x="240" y="941"/>
              <a:ext cx="523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28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549275" y="179388"/>
            <a:ext cx="604837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9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0" y="1619250"/>
            <a:ext cx="6038850" cy="691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92873" name="Line 9"/>
          <p:cNvSpPr>
            <a:spLocks noChangeShapeType="1"/>
          </p:cNvSpPr>
          <p:nvPr/>
        </p:nvSpPr>
        <p:spPr bwMode="auto">
          <a:xfrm>
            <a:off x="0" y="6502400"/>
            <a:ext cx="4572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2874" name="Rectangle 10"/>
          <p:cNvSpPr>
            <a:spLocks noChangeArrowheads="1"/>
          </p:cNvSpPr>
          <p:nvPr userDrawn="1"/>
        </p:nvSpPr>
        <p:spPr bwMode="auto">
          <a:xfrm>
            <a:off x="0" y="8636000"/>
            <a:ext cx="446405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>
              <a:defRPr/>
            </a:pPr>
            <a:r>
              <a:rPr lang="en-US" sz="800" dirty="0">
                <a:latin typeface="Arial" charset="0"/>
              </a:rPr>
              <a:t>Copyrights © Nanyang Polytechnic, 2018 S2		</a:t>
            </a:r>
          </a:p>
        </p:txBody>
      </p:sp>
      <p:sp>
        <p:nvSpPr>
          <p:cNvPr id="292876" name="Rectangle 12"/>
          <p:cNvSpPr>
            <a:spLocks noChangeArrowheads="1"/>
          </p:cNvSpPr>
          <p:nvPr/>
        </p:nvSpPr>
        <p:spPr bwMode="auto">
          <a:xfrm>
            <a:off x="4797425" y="8748713"/>
            <a:ext cx="1933575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GB" sz="1000">
                <a:latin typeface="Arial" charset="0"/>
              </a:rPr>
              <a:t>page </a:t>
            </a:r>
            <a:fld id="{57FB524B-2D38-437C-8842-0136BB424370}" type="slidenum">
              <a:rPr lang="en-GB" sz="1000">
                <a:latin typeface="Arial" charset="0"/>
              </a:rPr>
              <a:pPr algn="r">
                <a:defRPr/>
              </a:pPr>
              <a:t>‹#›</a:t>
            </a:fld>
            <a:endParaRPr lang="en-GB" sz="1000">
              <a:latin typeface="Arial" charset="0"/>
            </a:endParaRPr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us/library/system.collections.queue_members.aspx" TargetMode="External"/><Relationship Id="rId2" Type="http://schemas.openxmlformats.org/officeDocument/2006/relationships/hyperlink" Target="http://msdn.microsoft.com/en-us/library/system.collections.queue.aspx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us/library/system.collections.queue_members.aspx" TargetMode="External"/><Relationship Id="rId2" Type="http://schemas.openxmlformats.org/officeDocument/2006/relationships/hyperlink" Target="http://msdn.microsoft.com/en-us/library/system.collections.stack.aspx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Binary_tre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nova.umuc.edu/~jarc/idsv/lesson1.html" TargetMode="Externa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usfca.edu/~galles/visualization/BST.html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us/library/system.collections.ilist.aspx" TargetMode="External"/><Relationship Id="rId2" Type="http://schemas.openxmlformats.org/officeDocument/2006/relationships/hyperlink" Target="http://msdn.microsoft.com/en-us/library/system.collections.arraylist.aspx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hyperlink" Target="http://msdn.microsoft.com/en-us/library/k166wx47.aspx" TargetMode="External"/><Relationship Id="rId4" Type="http://schemas.openxmlformats.org/officeDocument/2006/relationships/hyperlink" Target="http://msdn.microsoft.com/en-us/library/system.collections.sortedlist.aspx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hyperlink" Target="http://msdn.microsoft.com/en-us/library/system.collections.stack.aspx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58875" y="1524000"/>
            <a:ext cx="4972050" cy="2946400"/>
          </a:xfrm>
        </p:spPr>
        <p:txBody>
          <a:bodyPr/>
          <a:lstStyle/>
          <a:p>
            <a:pPr algn="r" eaLnBrk="1" hangingPunct="1"/>
            <a:r>
              <a:rPr lang="en-GB"/>
              <a:t>IT1762</a:t>
            </a:r>
            <a:br>
              <a:rPr lang="en-GB"/>
            </a:br>
            <a:r>
              <a:rPr lang="en-GB"/>
              <a:t>Data Structures &amp;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47700" y="5138738"/>
            <a:ext cx="5834063" cy="2336800"/>
          </a:xfrm>
        </p:spPr>
        <p:txBody>
          <a:bodyPr/>
          <a:lstStyle/>
          <a:p>
            <a:pPr eaLnBrk="1" hangingPunct="1"/>
            <a:r>
              <a:rPr lang="en-SG" sz="3200" dirty="0">
                <a:solidFill>
                  <a:srgbClr val="FF0000"/>
                </a:solidFill>
              </a:rPr>
              <a:t>Topic 6</a:t>
            </a:r>
          </a:p>
          <a:p>
            <a:pPr eaLnBrk="1" hangingPunct="1"/>
            <a:r>
              <a:rPr lang="en-SG" sz="3200" dirty="0">
                <a:solidFill>
                  <a:srgbClr val="FF0000"/>
                </a:solidFill>
              </a:rPr>
              <a:t>Advanced Data Structures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Objectives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76251" y="1181100"/>
            <a:ext cx="6296024" cy="586632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2000" dirty="0"/>
              <a:t>Topics:</a:t>
            </a:r>
          </a:p>
          <a:p>
            <a:pPr marL="460375" indent="-393700">
              <a:spcBef>
                <a:spcPct val="50000"/>
              </a:spcBef>
              <a:buFontTx/>
              <a:buChar char="•"/>
            </a:pPr>
            <a:r>
              <a:rPr lang="en-US" sz="2000" b="1" dirty="0">
                <a:solidFill>
                  <a:schemeClr val="accent2"/>
                </a:solidFill>
              </a:rPr>
              <a:t>Queues, Stacks, Linked Lists, Binary Trees</a:t>
            </a:r>
          </a:p>
          <a:p>
            <a:pPr>
              <a:spcBef>
                <a:spcPct val="50000"/>
              </a:spcBef>
            </a:pPr>
            <a:endParaRPr lang="en-US" sz="2000" dirty="0"/>
          </a:p>
          <a:p>
            <a:pPr>
              <a:spcBef>
                <a:spcPct val="10000"/>
              </a:spcBef>
            </a:pPr>
            <a:r>
              <a:rPr lang="en-GB" sz="2000" dirty="0"/>
              <a:t>At the end of the lesson, you should be able to:</a:t>
            </a:r>
          </a:p>
          <a:p>
            <a:pPr marL="860425" lvl="1" indent="-39370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ü"/>
            </a:pPr>
            <a:r>
              <a:rPr lang="en-GB" sz="2000" dirty="0"/>
              <a:t>Understand the concept of a queue</a:t>
            </a:r>
          </a:p>
          <a:p>
            <a:pPr marL="860425" lvl="1" indent="-39370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ü"/>
            </a:pPr>
            <a:r>
              <a:rPr lang="en-GB" sz="2000" dirty="0"/>
              <a:t>Understand the concept of a stack.</a:t>
            </a:r>
          </a:p>
          <a:p>
            <a:pPr marL="860425" lvl="1" indent="-39370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ü"/>
            </a:pPr>
            <a:r>
              <a:rPr lang="en-GB" sz="2000" dirty="0"/>
              <a:t>Understand the concept of a linked list.</a:t>
            </a:r>
          </a:p>
          <a:p>
            <a:pPr marL="860425" lvl="1" indent="-39370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ü"/>
            </a:pPr>
            <a:r>
              <a:rPr lang="en-GB" sz="2000" dirty="0"/>
              <a:t>Understand how to traverse a binary tree.</a:t>
            </a:r>
          </a:p>
          <a:p>
            <a:pPr eaLnBrk="1" hangingPunct="1">
              <a:spcBef>
                <a:spcPct val="100000"/>
              </a:spcBef>
              <a:buFont typeface="Wingdings" pitchFamily="2" charset="2"/>
              <a:buNone/>
            </a:pPr>
            <a:r>
              <a:rPr lang="en-US" i="1" dirty="0"/>
              <a:t>	</a:t>
            </a:r>
          </a:p>
        </p:txBody>
      </p:sp>
      <p:pic>
        <p:nvPicPr>
          <p:cNvPr id="6" name="Picture 3" descr="C:\Users\tanail\AppData\Local\Microsoft\Windows\Temporary Internet Files\Content.IE5\6KSNL5KG\MC900335674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218" y="5629275"/>
            <a:ext cx="4436007" cy="2886075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idx="1"/>
          </p:nvPr>
        </p:nvSpPr>
        <p:spPr>
          <a:xfrm>
            <a:off x="466725" y="1233488"/>
            <a:ext cx="5935663" cy="4557712"/>
          </a:xfrm>
          <a:noFill/>
          <a:ln/>
        </p:spPr>
        <p:txBody>
          <a:bodyPr>
            <a:normAutofit/>
          </a:bodyPr>
          <a:lstStyle/>
          <a:p>
            <a:pPr marL="690563" lvl="1" indent="-404813">
              <a:lnSpc>
                <a:spcPct val="12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400" dirty="0"/>
              <a:t>A </a:t>
            </a:r>
            <a:r>
              <a:rPr lang="en-US" sz="2400" b="1" i="1" dirty="0"/>
              <a:t>queue</a:t>
            </a:r>
            <a:r>
              <a:rPr lang="en-US" sz="2400" dirty="0"/>
              <a:t> is a data structure</a:t>
            </a:r>
          </a:p>
          <a:p>
            <a:pPr marL="690563" lvl="1" indent="-404813">
              <a:lnSpc>
                <a:spcPct val="12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400" dirty="0"/>
              <a:t>It is a linear lists of information that are accessed in </a:t>
            </a:r>
            <a:r>
              <a:rPr lang="en-US" sz="2400" u="sng" dirty="0">
                <a:solidFill>
                  <a:srgbClr val="000000"/>
                </a:solidFill>
              </a:rPr>
              <a:t>F</a:t>
            </a:r>
            <a:r>
              <a:rPr lang="en-US" sz="2400" dirty="0">
                <a:solidFill>
                  <a:srgbClr val="000000"/>
                </a:solidFill>
              </a:rPr>
              <a:t>irst-</a:t>
            </a:r>
            <a:r>
              <a:rPr lang="en-US" sz="2400" u="sng" dirty="0">
                <a:solidFill>
                  <a:srgbClr val="000000"/>
                </a:solidFill>
              </a:rPr>
              <a:t>I</a:t>
            </a:r>
            <a:r>
              <a:rPr lang="en-US" sz="2400" dirty="0">
                <a:solidFill>
                  <a:srgbClr val="000000"/>
                </a:solidFill>
              </a:rPr>
              <a:t>n-</a:t>
            </a:r>
            <a:r>
              <a:rPr lang="en-US" sz="2400" u="sng" dirty="0">
                <a:solidFill>
                  <a:srgbClr val="000000"/>
                </a:solidFill>
              </a:rPr>
              <a:t>F</a:t>
            </a:r>
            <a:r>
              <a:rPr lang="en-US" sz="2400" dirty="0">
                <a:solidFill>
                  <a:srgbClr val="000000"/>
                </a:solidFill>
              </a:rPr>
              <a:t>irst-</a:t>
            </a:r>
            <a:r>
              <a:rPr lang="en-US" sz="2400" u="sng" dirty="0">
                <a:solidFill>
                  <a:srgbClr val="000000"/>
                </a:solidFill>
              </a:rPr>
              <a:t>O</a:t>
            </a:r>
            <a:r>
              <a:rPr lang="en-US" sz="2400" dirty="0">
                <a:solidFill>
                  <a:srgbClr val="000000"/>
                </a:solidFill>
              </a:rPr>
              <a:t>ut (sometimes called FIFO)</a:t>
            </a:r>
            <a:endParaRPr lang="en-US" sz="2400" dirty="0"/>
          </a:p>
          <a:p>
            <a:pPr marL="690563" lvl="1" indent="-404813">
              <a:lnSpc>
                <a:spcPct val="12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400" dirty="0"/>
              <a:t>items may be inserted at one end (</a:t>
            </a:r>
            <a:r>
              <a:rPr lang="en-US" sz="2400" i="1" dirty="0"/>
              <a:t>called the </a:t>
            </a:r>
            <a:r>
              <a:rPr lang="en-US" sz="2400" b="1" i="1" dirty="0"/>
              <a:t>rear</a:t>
            </a:r>
            <a:r>
              <a:rPr lang="en-US" sz="2400" i="1" dirty="0"/>
              <a:t> of queue</a:t>
            </a:r>
            <a:r>
              <a:rPr lang="en-US" sz="2400" dirty="0"/>
              <a:t>) and deleted at the other end (</a:t>
            </a:r>
            <a:r>
              <a:rPr lang="en-US" sz="2400" i="1" dirty="0"/>
              <a:t>called the </a:t>
            </a:r>
            <a:r>
              <a:rPr lang="en-US" sz="2400" b="1" i="1" dirty="0"/>
              <a:t>front</a:t>
            </a:r>
            <a:r>
              <a:rPr lang="en-US" sz="2400" i="1" dirty="0"/>
              <a:t> of the queue</a:t>
            </a:r>
            <a:r>
              <a:rPr lang="en-US" sz="2400" dirty="0"/>
              <a:t>).</a:t>
            </a:r>
            <a:endParaRPr lang="en-US" sz="2400" dirty="0">
              <a:solidFill>
                <a:srgbClr val="000000"/>
              </a:solidFill>
            </a:endParaRPr>
          </a:p>
          <a:p>
            <a:pPr marL="690563" lvl="1" indent="-404813">
              <a:buFont typeface="Wingdings" pitchFamily="2" charset="2"/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690563" lvl="1" indent="-404813">
              <a:buFont typeface="Wingdings" pitchFamily="2" charset="2"/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690563" lvl="1" indent="-404813">
              <a:buFont typeface="Wingdings" pitchFamily="2" charset="2"/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690563" lvl="1" indent="-404813">
              <a:buFont typeface="Wingdings" pitchFamily="2" charset="2"/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690563" lvl="1" indent="-404813">
              <a:buFont typeface="Wingdings" pitchFamily="2" charset="2"/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690563" lvl="1" indent="-404813">
              <a:buFont typeface="Wingdings" pitchFamily="2" charset="2"/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690563" lvl="1" indent="-404813">
              <a:buFont typeface="Wingdings" pitchFamily="2" charset="2"/>
              <a:buNone/>
            </a:pPr>
            <a:endParaRPr lang="en-US" sz="2400" dirty="0">
              <a:solidFill>
                <a:srgbClr val="000000"/>
              </a:solidFill>
            </a:endParaRPr>
          </a:p>
        </p:txBody>
      </p:sp>
      <p:grpSp>
        <p:nvGrpSpPr>
          <p:cNvPr id="69635" name="Group 3"/>
          <p:cNvGrpSpPr>
            <a:grpSpLocks/>
          </p:cNvGrpSpPr>
          <p:nvPr/>
        </p:nvGrpSpPr>
        <p:grpSpPr bwMode="auto">
          <a:xfrm>
            <a:off x="1052513" y="6217491"/>
            <a:ext cx="5370828" cy="2062907"/>
            <a:chOff x="756" y="2829"/>
            <a:chExt cx="3321" cy="1406"/>
          </a:xfrm>
        </p:grpSpPr>
        <p:grpSp>
          <p:nvGrpSpPr>
            <p:cNvPr id="69636" name="Group 4"/>
            <p:cNvGrpSpPr>
              <a:grpSpLocks/>
            </p:cNvGrpSpPr>
            <p:nvPr/>
          </p:nvGrpSpPr>
          <p:grpSpPr bwMode="auto">
            <a:xfrm>
              <a:off x="756" y="3543"/>
              <a:ext cx="3204" cy="692"/>
              <a:chOff x="756" y="3543"/>
              <a:chExt cx="3204" cy="692"/>
            </a:xfrm>
          </p:grpSpPr>
          <p:grpSp>
            <p:nvGrpSpPr>
              <p:cNvPr id="69637" name="Group 5"/>
              <p:cNvGrpSpPr>
                <a:grpSpLocks/>
              </p:cNvGrpSpPr>
              <p:nvPr/>
            </p:nvGrpSpPr>
            <p:grpSpPr bwMode="auto">
              <a:xfrm>
                <a:off x="1338" y="3555"/>
                <a:ext cx="344" cy="656"/>
                <a:chOff x="1338" y="3555"/>
                <a:chExt cx="344" cy="656"/>
              </a:xfrm>
            </p:grpSpPr>
            <p:sp>
              <p:nvSpPr>
                <p:cNvPr id="69638" name="Freeform 6"/>
                <p:cNvSpPr>
                  <a:spLocks/>
                </p:cNvSpPr>
                <p:nvPr/>
              </p:nvSpPr>
              <p:spPr bwMode="auto">
                <a:xfrm>
                  <a:off x="1338" y="3853"/>
                  <a:ext cx="344" cy="358"/>
                </a:xfrm>
                <a:custGeom>
                  <a:avLst/>
                  <a:gdLst/>
                  <a:ahLst/>
                  <a:cxnLst>
                    <a:cxn ang="0">
                      <a:pos x="236" y="105"/>
                    </a:cxn>
                    <a:cxn ang="0">
                      <a:pos x="228" y="86"/>
                    </a:cxn>
                    <a:cxn ang="0">
                      <a:pos x="220" y="77"/>
                    </a:cxn>
                    <a:cxn ang="0">
                      <a:pos x="190" y="54"/>
                    </a:cxn>
                    <a:cxn ang="0">
                      <a:pos x="139" y="27"/>
                    </a:cxn>
                    <a:cxn ang="0">
                      <a:pos x="103" y="9"/>
                    </a:cxn>
                    <a:cxn ang="0">
                      <a:pos x="83" y="0"/>
                    </a:cxn>
                    <a:cxn ang="0">
                      <a:pos x="78" y="0"/>
                    </a:cxn>
                    <a:cxn ang="0">
                      <a:pos x="62" y="30"/>
                    </a:cxn>
                    <a:cxn ang="0">
                      <a:pos x="45" y="58"/>
                    </a:cxn>
                    <a:cxn ang="0">
                      <a:pos x="26" y="120"/>
                    </a:cxn>
                    <a:cxn ang="0">
                      <a:pos x="2" y="258"/>
                    </a:cxn>
                    <a:cxn ang="0">
                      <a:pos x="0" y="357"/>
                    </a:cxn>
                    <a:cxn ang="0">
                      <a:pos x="338" y="356"/>
                    </a:cxn>
                    <a:cxn ang="0">
                      <a:pos x="341" y="344"/>
                    </a:cxn>
                    <a:cxn ang="0">
                      <a:pos x="343" y="334"/>
                    </a:cxn>
                    <a:cxn ang="0">
                      <a:pos x="332" y="317"/>
                    </a:cxn>
                    <a:cxn ang="0">
                      <a:pos x="327" y="292"/>
                    </a:cxn>
                    <a:cxn ang="0">
                      <a:pos x="311" y="265"/>
                    </a:cxn>
                    <a:cxn ang="0">
                      <a:pos x="310" y="226"/>
                    </a:cxn>
                    <a:cxn ang="0">
                      <a:pos x="293" y="185"/>
                    </a:cxn>
                    <a:cxn ang="0">
                      <a:pos x="278" y="148"/>
                    </a:cxn>
                    <a:cxn ang="0">
                      <a:pos x="248" y="125"/>
                    </a:cxn>
                    <a:cxn ang="0">
                      <a:pos x="236" y="108"/>
                    </a:cxn>
                    <a:cxn ang="0">
                      <a:pos x="225" y="100"/>
                    </a:cxn>
                    <a:cxn ang="0">
                      <a:pos x="224" y="82"/>
                    </a:cxn>
                    <a:cxn ang="0">
                      <a:pos x="236" y="105"/>
                    </a:cxn>
                  </a:cxnLst>
                  <a:rect l="0" t="0" r="r" b="b"/>
                  <a:pathLst>
                    <a:path w="344" h="358">
                      <a:moveTo>
                        <a:pt x="236" y="105"/>
                      </a:moveTo>
                      <a:lnTo>
                        <a:pt x="228" y="86"/>
                      </a:lnTo>
                      <a:lnTo>
                        <a:pt x="220" y="77"/>
                      </a:lnTo>
                      <a:lnTo>
                        <a:pt x="190" y="54"/>
                      </a:lnTo>
                      <a:lnTo>
                        <a:pt x="139" y="27"/>
                      </a:lnTo>
                      <a:lnTo>
                        <a:pt x="103" y="9"/>
                      </a:lnTo>
                      <a:lnTo>
                        <a:pt x="83" y="0"/>
                      </a:lnTo>
                      <a:lnTo>
                        <a:pt x="78" y="0"/>
                      </a:lnTo>
                      <a:lnTo>
                        <a:pt x="62" y="30"/>
                      </a:lnTo>
                      <a:lnTo>
                        <a:pt x="45" y="58"/>
                      </a:lnTo>
                      <a:lnTo>
                        <a:pt x="26" y="120"/>
                      </a:lnTo>
                      <a:lnTo>
                        <a:pt x="2" y="258"/>
                      </a:lnTo>
                      <a:lnTo>
                        <a:pt x="0" y="357"/>
                      </a:lnTo>
                      <a:lnTo>
                        <a:pt x="338" y="356"/>
                      </a:lnTo>
                      <a:lnTo>
                        <a:pt x="341" y="344"/>
                      </a:lnTo>
                      <a:lnTo>
                        <a:pt x="343" y="334"/>
                      </a:lnTo>
                      <a:lnTo>
                        <a:pt x="332" y="317"/>
                      </a:lnTo>
                      <a:lnTo>
                        <a:pt x="327" y="292"/>
                      </a:lnTo>
                      <a:lnTo>
                        <a:pt x="311" y="265"/>
                      </a:lnTo>
                      <a:lnTo>
                        <a:pt x="310" y="226"/>
                      </a:lnTo>
                      <a:lnTo>
                        <a:pt x="293" y="185"/>
                      </a:lnTo>
                      <a:lnTo>
                        <a:pt x="278" y="148"/>
                      </a:lnTo>
                      <a:lnTo>
                        <a:pt x="248" y="125"/>
                      </a:lnTo>
                      <a:lnTo>
                        <a:pt x="236" y="108"/>
                      </a:lnTo>
                      <a:lnTo>
                        <a:pt x="225" y="100"/>
                      </a:lnTo>
                      <a:lnTo>
                        <a:pt x="224" y="82"/>
                      </a:lnTo>
                      <a:lnTo>
                        <a:pt x="236" y="105"/>
                      </a:lnTo>
                    </a:path>
                  </a:pathLst>
                </a:custGeom>
                <a:solidFill>
                  <a:srgbClr val="262626"/>
                </a:solidFill>
                <a:ln w="12700" cap="rnd" cmpd="sng">
                  <a:solidFill>
                    <a:srgbClr val="262626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39" name="Freeform 7"/>
                <p:cNvSpPr>
                  <a:spLocks/>
                </p:cNvSpPr>
                <p:nvPr/>
              </p:nvSpPr>
              <p:spPr bwMode="auto">
                <a:xfrm>
                  <a:off x="1409" y="3555"/>
                  <a:ext cx="224" cy="265"/>
                </a:xfrm>
                <a:custGeom>
                  <a:avLst/>
                  <a:gdLst/>
                  <a:ahLst/>
                  <a:cxnLst>
                    <a:cxn ang="0">
                      <a:pos x="122" y="162"/>
                    </a:cxn>
                    <a:cxn ang="0">
                      <a:pos x="137" y="179"/>
                    </a:cxn>
                    <a:cxn ang="0">
                      <a:pos x="162" y="197"/>
                    </a:cxn>
                    <a:cxn ang="0">
                      <a:pos x="177" y="188"/>
                    </a:cxn>
                    <a:cxn ang="0">
                      <a:pos x="175" y="172"/>
                    </a:cxn>
                    <a:cxn ang="0">
                      <a:pos x="182" y="147"/>
                    </a:cxn>
                    <a:cxn ang="0">
                      <a:pos x="196" y="132"/>
                    </a:cxn>
                    <a:cxn ang="0">
                      <a:pos x="201" y="112"/>
                    </a:cxn>
                    <a:cxn ang="0">
                      <a:pos x="196" y="88"/>
                    </a:cxn>
                    <a:cxn ang="0">
                      <a:pos x="184" y="64"/>
                    </a:cxn>
                    <a:cxn ang="0">
                      <a:pos x="194" y="59"/>
                    </a:cxn>
                    <a:cxn ang="0">
                      <a:pos x="208" y="69"/>
                    </a:cxn>
                    <a:cxn ang="0">
                      <a:pos x="215" y="80"/>
                    </a:cxn>
                    <a:cxn ang="0">
                      <a:pos x="223" y="60"/>
                    </a:cxn>
                    <a:cxn ang="0">
                      <a:pos x="207" y="36"/>
                    </a:cxn>
                    <a:cxn ang="0">
                      <a:pos x="196" y="25"/>
                    </a:cxn>
                    <a:cxn ang="0">
                      <a:pos x="181" y="13"/>
                    </a:cxn>
                    <a:cxn ang="0">
                      <a:pos x="145" y="1"/>
                    </a:cxn>
                    <a:cxn ang="0">
                      <a:pos x="85" y="3"/>
                    </a:cxn>
                    <a:cxn ang="0">
                      <a:pos x="49" y="17"/>
                    </a:cxn>
                    <a:cxn ang="0">
                      <a:pos x="26" y="42"/>
                    </a:cxn>
                    <a:cxn ang="0">
                      <a:pos x="13" y="65"/>
                    </a:cxn>
                    <a:cxn ang="0">
                      <a:pos x="5" y="94"/>
                    </a:cxn>
                    <a:cxn ang="0">
                      <a:pos x="0" y="138"/>
                    </a:cxn>
                    <a:cxn ang="0">
                      <a:pos x="7" y="185"/>
                    </a:cxn>
                    <a:cxn ang="0">
                      <a:pos x="11" y="212"/>
                    </a:cxn>
                    <a:cxn ang="0">
                      <a:pos x="16" y="241"/>
                    </a:cxn>
                    <a:cxn ang="0">
                      <a:pos x="38" y="258"/>
                    </a:cxn>
                    <a:cxn ang="0">
                      <a:pos x="71" y="258"/>
                    </a:cxn>
                    <a:cxn ang="0">
                      <a:pos x="105" y="249"/>
                    </a:cxn>
                    <a:cxn ang="0">
                      <a:pos x="120" y="232"/>
                    </a:cxn>
                    <a:cxn ang="0">
                      <a:pos x="116" y="216"/>
                    </a:cxn>
                    <a:cxn ang="0">
                      <a:pos x="111" y="180"/>
                    </a:cxn>
                    <a:cxn ang="0">
                      <a:pos x="123" y="161"/>
                    </a:cxn>
                    <a:cxn ang="0">
                      <a:pos x="140" y="176"/>
                    </a:cxn>
                    <a:cxn ang="0">
                      <a:pos x="121" y="162"/>
                    </a:cxn>
                  </a:cxnLst>
                  <a:rect l="0" t="0" r="r" b="b"/>
                  <a:pathLst>
                    <a:path w="224" h="265">
                      <a:moveTo>
                        <a:pt x="121" y="162"/>
                      </a:moveTo>
                      <a:lnTo>
                        <a:pt x="122" y="162"/>
                      </a:lnTo>
                      <a:lnTo>
                        <a:pt x="133" y="164"/>
                      </a:lnTo>
                      <a:lnTo>
                        <a:pt x="137" y="179"/>
                      </a:lnTo>
                      <a:lnTo>
                        <a:pt x="153" y="193"/>
                      </a:lnTo>
                      <a:lnTo>
                        <a:pt x="162" y="197"/>
                      </a:lnTo>
                      <a:lnTo>
                        <a:pt x="174" y="194"/>
                      </a:lnTo>
                      <a:lnTo>
                        <a:pt x="177" y="188"/>
                      </a:lnTo>
                      <a:lnTo>
                        <a:pt x="175" y="182"/>
                      </a:lnTo>
                      <a:lnTo>
                        <a:pt x="175" y="172"/>
                      </a:lnTo>
                      <a:lnTo>
                        <a:pt x="177" y="159"/>
                      </a:lnTo>
                      <a:lnTo>
                        <a:pt x="182" y="147"/>
                      </a:lnTo>
                      <a:lnTo>
                        <a:pt x="188" y="138"/>
                      </a:lnTo>
                      <a:lnTo>
                        <a:pt x="196" y="132"/>
                      </a:lnTo>
                      <a:lnTo>
                        <a:pt x="203" y="126"/>
                      </a:lnTo>
                      <a:lnTo>
                        <a:pt x="201" y="112"/>
                      </a:lnTo>
                      <a:lnTo>
                        <a:pt x="198" y="100"/>
                      </a:lnTo>
                      <a:lnTo>
                        <a:pt x="196" y="88"/>
                      </a:lnTo>
                      <a:lnTo>
                        <a:pt x="188" y="78"/>
                      </a:lnTo>
                      <a:lnTo>
                        <a:pt x="184" y="64"/>
                      </a:lnTo>
                      <a:lnTo>
                        <a:pt x="189" y="62"/>
                      </a:lnTo>
                      <a:lnTo>
                        <a:pt x="194" y="59"/>
                      </a:lnTo>
                      <a:lnTo>
                        <a:pt x="199" y="62"/>
                      </a:lnTo>
                      <a:lnTo>
                        <a:pt x="208" y="69"/>
                      </a:lnTo>
                      <a:lnTo>
                        <a:pt x="213" y="76"/>
                      </a:lnTo>
                      <a:lnTo>
                        <a:pt x="215" y="80"/>
                      </a:lnTo>
                      <a:lnTo>
                        <a:pt x="222" y="72"/>
                      </a:lnTo>
                      <a:lnTo>
                        <a:pt x="223" y="60"/>
                      </a:lnTo>
                      <a:lnTo>
                        <a:pt x="218" y="47"/>
                      </a:lnTo>
                      <a:lnTo>
                        <a:pt x="207" y="36"/>
                      </a:lnTo>
                      <a:lnTo>
                        <a:pt x="201" y="30"/>
                      </a:lnTo>
                      <a:lnTo>
                        <a:pt x="196" y="25"/>
                      </a:lnTo>
                      <a:lnTo>
                        <a:pt x="188" y="17"/>
                      </a:lnTo>
                      <a:lnTo>
                        <a:pt x="181" y="13"/>
                      </a:lnTo>
                      <a:lnTo>
                        <a:pt x="164" y="5"/>
                      </a:lnTo>
                      <a:lnTo>
                        <a:pt x="145" y="1"/>
                      </a:lnTo>
                      <a:lnTo>
                        <a:pt x="117" y="0"/>
                      </a:lnTo>
                      <a:lnTo>
                        <a:pt x="85" y="3"/>
                      </a:lnTo>
                      <a:lnTo>
                        <a:pt x="61" y="10"/>
                      </a:lnTo>
                      <a:lnTo>
                        <a:pt x="49" y="17"/>
                      </a:lnTo>
                      <a:lnTo>
                        <a:pt x="33" y="31"/>
                      </a:lnTo>
                      <a:lnTo>
                        <a:pt x="26" y="42"/>
                      </a:lnTo>
                      <a:lnTo>
                        <a:pt x="20" y="53"/>
                      </a:lnTo>
                      <a:lnTo>
                        <a:pt x="13" y="65"/>
                      </a:lnTo>
                      <a:lnTo>
                        <a:pt x="9" y="81"/>
                      </a:lnTo>
                      <a:lnTo>
                        <a:pt x="5" y="94"/>
                      </a:lnTo>
                      <a:lnTo>
                        <a:pt x="2" y="112"/>
                      </a:lnTo>
                      <a:lnTo>
                        <a:pt x="0" y="138"/>
                      </a:lnTo>
                      <a:lnTo>
                        <a:pt x="4" y="163"/>
                      </a:lnTo>
                      <a:lnTo>
                        <a:pt x="7" y="185"/>
                      </a:lnTo>
                      <a:lnTo>
                        <a:pt x="9" y="200"/>
                      </a:lnTo>
                      <a:lnTo>
                        <a:pt x="11" y="212"/>
                      </a:lnTo>
                      <a:lnTo>
                        <a:pt x="13" y="223"/>
                      </a:lnTo>
                      <a:lnTo>
                        <a:pt x="16" y="241"/>
                      </a:lnTo>
                      <a:lnTo>
                        <a:pt x="23" y="255"/>
                      </a:lnTo>
                      <a:lnTo>
                        <a:pt x="38" y="258"/>
                      </a:lnTo>
                      <a:lnTo>
                        <a:pt x="57" y="264"/>
                      </a:lnTo>
                      <a:lnTo>
                        <a:pt x="71" y="258"/>
                      </a:lnTo>
                      <a:lnTo>
                        <a:pt x="92" y="255"/>
                      </a:lnTo>
                      <a:lnTo>
                        <a:pt x="105" y="249"/>
                      </a:lnTo>
                      <a:lnTo>
                        <a:pt x="113" y="238"/>
                      </a:lnTo>
                      <a:lnTo>
                        <a:pt x="120" y="232"/>
                      </a:lnTo>
                      <a:lnTo>
                        <a:pt x="123" y="229"/>
                      </a:lnTo>
                      <a:lnTo>
                        <a:pt x="116" y="216"/>
                      </a:lnTo>
                      <a:lnTo>
                        <a:pt x="112" y="199"/>
                      </a:lnTo>
                      <a:lnTo>
                        <a:pt x="111" y="180"/>
                      </a:lnTo>
                      <a:lnTo>
                        <a:pt x="117" y="168"/>
                      </a:lnTo>
                      <a:lnTo>
                        <a:pt x="123" y="161"/>
                      </a:lnTo>
                      <a:lnTo>
                        <a:pt x="133" y="164"/>
                      </a:lnTo>
                      <a:lnTo>
                        <a:pt x="140" y="176"/>
                      </a:lnTo>
                      <a:lnTo>
                        <a:pt x="145" y="187"/>
                      </a:lnTo>
                      <a:lnTo>
                        <a:pt x="121" y="162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40" name="Freeform 8"/>
                <p:cNvSpPr>
                  <a:spLocks/>
                </p:cNvSpPr>
                <p:nvPr/>
              </p:nvSpPr>
              <p:spPr bwMode="auto">
                <a:xfrm>
                  <a:off x="1429" y="3612"/>
                  <a:ext cx="233" cy="306"/>
                </a:xfrm>
                <a:custGeom>
                  <a:avLst/>
                  <a:gdLst/>
                  <a:ahLst/>
                  <a:cxnLst>
                    <a:cxn ang="0">
                      <a:pos x="179" y="0"/>
                    </a:cxn>
                    <a:cxn ang="0">
                      <a:pos x="194" y="14"/>
                    </a:cxn>
                    <a:cxn ang="0">
                      <a:pos x="206" y="34"/>
                    </a:cxn>
                    <a:cxn ang="0">
                      <a:pos x="214" y="63"/>
                    </a:cxn>
                    <a:cxn ang="0">
                      <a:pos x="215" y="81"/>
                    </a:cxn>
                    <a:cxn ang="0">
                      <a:pos x="213" y="106"/>
                    </a:cxn>
                    <a:cxn ang="0">
                      <a:pos x="223" y="136"/>
                    </a:cxn>
                    <a:cxn ang="0">
                      <a:pos x="232" y="157"/>
                    </a:cxn>
                    <a:cxn ang="0">
                      <a:pos x="230" y="168"/>
                    </a:cxn>
                    <a:cxn ang="0">
                      <a:pos x="224" y="172"/>
                    </a:cxn>
                    <a:cxn ang="0">
                      <a:pos x="219" y="173"/>
                    </a:cxn>
                    <a:cxn ang="0">
                      <a:pos x="215" y="185"/>
                    </a:cxn>
                    <a:cxn ang="0">
                      <a:pos x="216" y="204"/>
                    </a:cxn>
                    <a:cxn ang="0">
                      <a:pos x="211" y="217"/>
                    </a:cxn>
                    <a:cxn ang="0">
                      <a:pos x="209" y="230"/>
                    </a:cxn>
                    <a:cxn ang="0">
                      <a:pos x="202" y="243"/>
                    </a:cxn>
                    <a:cxn ang="0">
                      <a:pos x="198" y="262"/>
                    </a:cxn>
                    <a:cxn ang="0">
                      <a:pos x="185" y="278"/>
                    </a:cxn>
                    <a:cxn ang="0">
                      <a:pos x="165" y="281"/>
                    </a:cxn>
                    <a:cxn ang="0">
                      <a:pos x="145" y="282"/>
                    </a:cxn>
                    <a:cxn ang="0">
                      <a:pos x="133" y="290"/>
                    </a:cxn>
                    <a:cxn ang="0">
                      <a:pos x="127" y="300"/>
                    </a:cxn>
                    <a:cxn ang="0">
                      <a:pos x="99" y="274"/>
                    </a:cxn>
                    <a:cxn ang="0">
                      <a:pos x="60" y="249"/>
                    </a:cxn>
                    <a:cxn ang="0">
                      <a:pos x="17" y="226"/>
                    </a:cxn>
                    <a:cxn ang="0">
                      <a:pos x="0" y="217"/>
                    </a:cxn>
                    <a:cxn ang="0">
                      <a:pos x="5" y="206"/>
                    </a:cxn>
                    <a:cxn ang="0">
                      <a:pos x="17" y="197"/>
                    </a:cxn>
                    <a:cxn ang="0">
                      <a:pos x="59" y="197"/>
                    </a:cxn>
                    <a:cxn ang="0">
                      <a:pos x="90" y="167"/>
                    </a:cxn>
                    <a:cxn ang="0">
                      <a:pos x="92" y="143"/>
                    </a:cxn>
                    <a:cxn ang="0">
                      <a:pos x="96" y="105"/>
                    </a:cxn>
                    <a:cxn ang="0">
                      <a:pos x="119" y="117"/>
                    </a:cxn>
                    <a:cxn ang="0">
                      <a:pos x="144" y="121"/>
                    </a:cxn>
                    <a:cxn ang="0">
                      <a:pos x="159" y="86"/>
                    </a:cxn>
                    <a:cxn ang="0">
                      <a:pos x="174" y="63"/>
                    </a:cxn>
                    <a:cxn ang="0">
                      <a:pos x="163" y="17"/>
                    </a:cxn>
                    <a:cxn ang="0">
                      <a:pos x="174" y="0"/>
                    </a:cxn>
                  </a:cxnLst>
                  <a:rect l="0" t="0" r="r" b="b"/>
                  <a:pathLst>
                    <a:path w="233" h="306">
                      <a:moveTo>
                        <a:pt x="174" y="0"/>
                      </a:moveTo>
                      <a:lnTo>
                        <a:pt x="179" y="0"/>
                      </a:lnTo>
                      <a:lnTo>
                        <a:pt x="185" y="3"/>
                      </a:lnTo>
                      <a:lnTo>
                        <a:pt x="194" y="14"/>
                      </a:lnTo>
                      <a:lnTo>
                        <a:pt x="200" y="22"/>
                      </a:lnTo>
                      <a:lnTo>
                        <a:pt x="206" y="34"/>
                      </a:lnTo>
                      <a:lnTo>
                        <a:pt x="211" y="47"/>
                      </a:lnTo>
                      <a:lnTo>
                        <a:pt x="214" y="63"/>
                      </a:lnTo>
                      <a:lnTo>
                        <a:pt x="215" y="74"/>
                      </a:lnTo>
                      <a:lnTo>
                        <a:pt x="215" y="81"/>
                      </a:lnTo>
                      <a:lnTo>
                        <a:pt x="215" y="100"/>
                      </a:lnTo>
                      <a:lnTo>
                        <a:pt x="213" y="106"/>
                      </a:lnTo>
                      <a:lnTo>
                        <a:pt x="215" y="115"/>
                      </a:lnTo>
                      <a:lnTo>
                        <a:pt x="223" y="136"/>
                      </a:lnTo>
                      <a:lnTo>
                        <a:pt x="229" y="148"/>
                      </a:lnTo>
                      <a:lnTo>
                        <a:pt x="232" y="157"/>
                      </a:lnTo>
                      <a:lnTo>
                        <a:pt x="232" y="165"/>
                      </a:lnTo>
                      <a:lnTo>
                        <a:pt x="230" y="168"/>
                      </a:lnTo>
                      <a:lnTo>
                        <a:pt x="227" y="171"/>
                      </a:lnTo>
                      <a:lnTo>
                        <a:pt x="224" y="172"/>
                      </a:lnTo>
                      <a:lnTo>
                        <a:pt x="218" y="172"/>
                      </a:lnTo>
                      <a:lnTo>
                        <a:pt x="219" y="173"/>
                      </a:lnTo>
                      <a:lnTo>
                        <a:pt x="215" y="178"/>
                      </a:lnTo>
                      <a:lnTo>
                        <a:pt x="215" y="185"/>
                      </a:lnTo>
                      <a:lnTo>
                        <a:pt x="215" y="194"/>
                      </a:lnTo>
                      <a:lnTo>
                        <a:pt x="216" y="204"/>
                      </a:lnTo>
                      <a:lnTo>
                        <a:pt x="210" y="207"/>
                      </a:lnTo>
                      <a:lnTo>
                        <a:pt x="211" y="217"/>
                      </a:lnTo>
                      <a:lnTo>
                        <a:pt x="211" y="223"/>
                      </a:lnTo>
                      <a:lnTo>
                        <a:pt x="209" y="230"/>
                      </a:lnTo>
                      <a:lnTo>
                        <a:pt x="203" y="236"/>
                      </a:lnTo>
                      <a:lnTo>
                        <a:pt x="202" y="243"/>
                      </a:lnTo>
                      <a:lnTo>
                        <a:pt x="202" y="254"/>
                      </a:lnTo>
                      <a:lnTo>
                        <a:pt x="198" y="262"/>
                      </a:lnTo>
                      <a:lnTo>
                        <a:pt x="193" y="272"/>
                      </a:lnTo>
                      <a:lnTo>
                        <a:pt x="185" y="278"/>
                      </a:lnTo>
                      <a:lnTo>
                        <a:pt x="180" y="277"/>
                      </a:lnTo>
                      <a:lnTo>
                        <a:pt x="165" y="281"/>
                      </a:lnTo>
                      <a:lnTo>
                        <a:pt x="155" y="281"/>
                      </a:lnTo>
                      <a:lnTo>
                        <a:pt x="145" y="282"/>
                      </a:lnTo>
                      <a:lnTo>
                        <a:pt x="139" y="284"/>
                      </a:lnTo>
                      <a:lnTo>
                        <a:pt x="133" y="290"/>
                      </a:lnTo>
                      <a:lnTo>
                        <a:pt x="128" y="296"/>
                      </a:lnTo>
                      <a:lnTo>
                        <a:pt x="127" y="300"/>
                      </a:lnTo>
                      <a:lnTo>
                        <a:pt x="125" y="305"/>
                      </a:lnTo>
                      <a:lnTo>
                        <a:pt x="99" y="274"/>
                      </a:lnTo>
                      <a:lnTo>
                        <a:pt x="76" y="259"/>
                      </a:lnTo>
                      <a:lnTo>
                        <a:pt x="60" y="249"/>
                      </a:lnTo>
                      <a:lnTo>
                        <a:pt x="39" y="238"/>
                      </a:lnTo>
                      <a:lnTo>
                        <a:pt x="17" y="226"/>
                      </a:lnTo>
                      <a:lnTo>
                        <a:pt x="3" y="219"/>
                      </a:lnTo>
                      <a:lnTo>
                        <a:pt x="0" y="217"/>
                      </a:lnTo>
                      <a:lnTo>
                        <a:pt x="2" y="211"/>
                      </a:lnTo>
                      <a:lnTo>
                        <a:pt x="5" y="206"/>
                      </a:lnTo>
                      <a:lnTo>
                        <a:pt x="5" y="197"/>
                      </a:lnTo>
                      <a:lnTo>
                        <a:pt x="17" y="197"/>
                      </a:lnTo>
                      <a:lnTo>
                        <a:pt x="39" y="202"/>
                      </a:lnTo>
                      <a:lnTo>
                        <a:pt x="59" y="197"/>
                      </a:lnTo>
                      <a:lnTo>
                        <a:pt x="80" y="177"/>
                      </a:lnTo>
                      <a:lnTo>
                        <a:pt x="90" y="167"/>
                      </a:lnTo>
                      <a:lnTo>
                        <a:pt x="96" y="158"/>
                      </a:lnTo>
                      <a:lnTo>
                        <a:pt x="92" y="143"/>
                      </a:lnTo>
                      <a:lnTo>
                        <a:pt x="90" y="121"/>
                      </a:lnTo>
                      <a:lnTo>
                        <a:pt x="96" y="105"/>
                      </a:lnTo>
                      <a:lnTo>
                        <a:pt x="111" y="103"/>
                      </a:lnTo>
                      <a:lnTo>
                        <a:pt x="119" y="117"/>
                      </a:lnTo>
                      <a:lnTo>
                        <a:pt x="125" y="123"/>
                      </a:lnTo>
                      <a:lnTo>
                        <a:pt x="144" y="121"/>
                      </a:lnTo>
                      <a:lnTo>
                        <a:pt x="147" y="106"/>
                      </a:lnTo>
                      <a:lnTo>
                        <a:pt x="159" y="86"/>
                      </a:lnTo>
                      <a:lnTo>
                        <a:pt x="168" y="72"/>
                      </a:lnTo>
                      <a:lnTo>
                        <a:pt x="174" y="63"/>
                      </a:lnTo>
                      <a:lnTo>
                        <a:pt x="171" y="33"/>
                      </a:lnTo>
                      <a:lnTo>
                        <a:pt x="163" y="17"/>
                      </a:lnTo>
                      <a:lnTo>
                        <a:pt x="164" y="5"/>
                      </a:lnTo>
                      <a:lnTo>
                        <a:pt x="174" y="0"/>
                      </a:lnTo>
                    </a:path>
                  </a:pathLst>
                </a:custGeom>
                <a:solidFill>
                  <a:srgbClr val="363636"/>
                </a:solidFill>
                <a:ln w="12700" cap="rnd" cmpd="sng">
                  <a:solidFill>
                    <a:srgbClr val="0E0E0E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41" name="Freeform 9"/>
                <p:cNvSpPr>
                  <a:spLocks/>
                </p:cNvSpPr>
                <p:nvPr/>
              </p:nvSpPr>
              <p:spPr bwMode="auto">
                <a:xfrm>
                  <a:off x="1628" y="3781"/>
                  <a:ext cx="22" cy="2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8" y="9"/>
                    </a:cxn>
                    <a:cxn ang="0">
                      <a:pos x="10" y="20"/>
                    </a:cxn>
                    <a:cxn ang="0">
                      <a:pos x="11" y="25"/>
                    </a:cxn>
                    <a:cxn ang="0">
                      <a:pos x="16" y="28"/>
                    </a:cxn>
                    <a:cxn ang="0">
                      <a:pos x="16" y="22"/>
                    </a:cxn>
                    <a:cxn ang="0">
                      <a:pos x="16" y="17"/>
                    </a:cxn>
                    <a:cxn ang="0">
                      <a:pos x="15" y="9"/>
                    </a:cxn>
                    <a:cxn ang="0">
                      <a:pos x="17" y="6"/>
                    </a:cxn>
                    <a:cxn ang="0">
                      <a:pos x="21" y="3"/>
                    </a:cxn>
                    <a:cxn ang="0">
                      <a:pos x="3" y="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2" h="29">
                      <a:moveTo>
                        <a:pt x="0" y="0"/>
                      </a:moveTo>
                      <a:lnTo>
                        <a:pt x="8" y="9"/>
                      </a:lnTo>
                      <a:lnTo>
                        <a:pt x="10" y="20"/>
                      </a:lnTo>
                      <a:lnTo>
                        <a:pt x="11" y="25"/>
                      </a:lnTo>
                      <a:lnTo>
                        <a:pt x="16" y="28"/>
                      </a:lnTo>
                      <a:lnTo>
                        <a:pt x="16" y="22"/>
                      </a:lnTo>
                      <a:lnTo>
                        <a:pt x="16" y="17"/>
                      </a:lnTo>
                      <a:lnTo>
                        <a:pt x="15" y="9"/>
                      </a:lnTo>
                      <a:lnTo>
                        <a:pt x="17" y="6"/>
                      </a:lnTo>
                      <a:lnTo>
                        <a:pt x="21" y="3"/>
                      </a:lnTo>
                      <a:lnTo>
                        <a:pt x="3" y="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42" name="Freeform 10"/>
                <p:cNvSpPr>
                  <a:spLocks/>
                </p:cNvSpPr>
                <p:nvPr/>
              </p:nvSpPr>
              <p:spPr bwMode="auto">
                <a:xfrm>
                  <a:off x="1627" y="3763"/>
                  <a:ext cx="35" cy="28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3" y="4"/>
                    </a:cxn>
                    <a:cxn ang="0">
                      <a:pos x="0" y="11"/>
                    </a:cxn>
                    <a:cxn ang="0">
                      <a:pos x="0" y="16"/>
                    </a:cxn>
                    <a:cxn ang="0">
                      <a:pos x="2" y="19"/>
                    </a:cxn>
                    <a:cxn ang="0">
                      <a:pos x="5" y="21"/>
                    </a:cxn>
                    <a:cxn ang="0">
                      <a:pos x="8" y="27"/>
                    </a:cxn>
                    <a:cxn ang="0">
                      <a:pos x="10" y="22"/>
                    </a:cxn>
                    <a:cxn ang="0">
                      <a:pos x="13" y="22"/>
                    </a:cxn>
                    <a:cxn ang="0">
                      <a:pos x="18" y="22"/>
                    </a:cxn>
                    <a:cxn ang="0">
                      <a:pos x="23" y="22"/>
                    </a:cxn>
                    <a:cxn ang="0">
                      <a:pos x="28" y="22"/>
                    </a:cxn>
                    <a:cxn ang="0">
                      <a:pos x="31" y="20"/>
                    </a:cxn>
                    <a:cxn ang="0">
                      <a:pos x="34" y="16"/>
                    </a:cxn>
                    <a:cxn ang="0">
                      <a:pos x="34" y="11"/>
                    </a:cxn>
                    <a:cxn ang="0">
                      <a:pos x="29" y="17"/>
                    </a:cxn>
                    <a:cxn ang="0">
                      <a:pos x="28" y="19"/>
                    </a:cxn>
                    <a:cxn ang="0">
                      <a:pos x="21" y="21"/>
                    </a:cxn>
                    <a:cxn ang="0">
                      <a:pos x="14" y="21"/>
                    </a:cxn>
                    <a:cxn ang="0">
                      <a:pos x="6" y="19"/>
                    </a:cxn>
                    <a:cxn ang="0">
                      <a:pos x="4" y="16"/>
                    </a:cxn>
                    <a:cxn ang="0">
                      <a:pos x="2" y="12"/>
                    </a:cxn>
                    <a:cxn ang="0">
                      <a:pos x="4" y="9"/>
                    </a:cxn>
                    <a:cxn ang="0">
                      <a:pos x="5" y="6"/>
                    </a:cxn>
                    <a:cxn ang="0">
                      <a:pos x="6" y="4"/>
                    </a:cxn>
                    <a:cxn ang="0">
                      <a:pos x="10" y="2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35" h="28">
                      <a:moveTo>
                        <a:pt x="8" y="0"/>
                      </a:moveTo>
                      <a:lnTo>
                        <a:pt x="3" y="4"/>
                      </a:lnTo>
                      <a:lnTo>
                        <a:pt x="0" y="11"/>
                      </a:lnTo>
                      <a:lnTo>
                        <a:pt x="0" y="16"/>
                      </a:lnTo>
                      <a:lnTo>
                        <a:pt x="2" y="19"/>
                      </a:lnTo>
                      <a:lnTo>
                        <a:pt x="5" y="21"/>
                      </a:lnTo>
                      <a:lnTo>
                        <a:pt x="8" y="27"/>
                      </a:lnTo>
                      <a:lnTo>
                        <a:pt x="10" y="22"/>
                      </a:lnTo>
                      <a:lnTo>
                        <a:pt x="13" y="22"/>
                      </a:lnTo>
                      <a:lnTo>
                        <a:pt x="18" y="22"/>
                      </a:lnTo>
                      <a:lnTo>
                        <a:pt x="23" y="22"/>
                      </a:lnTo>
                      <a:lnTo>
                        <a:pt x="28" y="22"/>
                      </a:lnTo>
                      <a:lnTo>
                        <a:pt x="31" y="20"/>
                      </a:lnTo>
                      <a:lnTo>
                        <a:pt x="34" y="16"/>
                      </a:lnTo>
                      <a:lnTo>
                        <a:pt x="34" y="11"/>
                      </a:lnTo>
                      <a:lnTo>
                        <a:pt x="29" y="17"/>
                      </a:lnTo>
                      <a:lnTo>
                        <a:pt x="28" y="19"/>
                      </a:lnTo>
                      <a:lnTo>
                        <a:pt x="21" y="21"/>
                      </a:lnTo>
                      <a:lnTo>
                        <a:pt x="14" y="21"/>
                      </a:lnTo>
                      <a:lnTo>
                        <a:pt x="6" y="19"/>
                      </a:lnTo>
                      <a:lnTo>
                        <a:pt x="4" y="16"/>
                      </a:lnTo>
                      <a:lnTo>
                        <a:pt x="2" y="12"/>
                      </a:lnTo>
                      <a:lnTo>
                        <a:pt x="4" y="9"/>
                      </a:lnTo>
                      <a:lnTo>
                        <a:pt x="5" y="6"/>
                      </a:lnTo>
                      <a:lnTo>
                        <a:pt x="6" y="4"/>
                      </a:lnTo>
                      <a:lnTo>
                        <a:pt x="10" y="2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43" name="Freeform 11"/>
                <p:cNvSpPr>
                  <a:spLocks/>
                </p:cNvSpPr>
                <p:nvPr/>
              </p:nvSpPr>
              <p:spPr bwMode="auto">
                <a:xfrm>
                  <a:off x="1527" y="3730"/>
                  <a:ext cx="16" cy="48"/>
                </a:xfrm>
                <a:custGeom>
                  <a:avLst/>
                  <a:gdLst/>
                  <a:ahLst/>
                  <a:cxnLst>
                    <a:cxn ang="0">
                      <a:pos x="2" y="8"/>
                    </a:cxn>
                    <a:cxn ang="0">
                      <a:pos x="3" y="20"/>
                    </a:cxn>
                    <a:cxn ang="0">
                      <a:pos x="3" y="25"/>
                    </a:cxn>
                    <a:cxn ang="0">
                      <a:pos x="5" y="33"/>
                    </a:cxn>
                    <a:cxn ang="0">
                      <a:pos x="11" y="42"/>
                    </a:cxn>
                    <a:cxn ang="0">
                      <a:pos x="15" y="44"/>
                    </a:cxn>
                    <a:cxn ang="0">
                      <a:pos x="15" y="47"/>
                    </a:cxn>
                    <a:cxn ang="0">
                      <a:pos x="7" y="43"/>
                    </a:cxn>
                    <a:cxn ang="0">
                      <a:pos x="2" y="35"/>
                    </a:cxn>
                    <a:cxn ang="0">
                      <a:pos x="1" y="27"/>
                    </a:cxn>
                    <a:cxn ang="0">
                      <a:pos x="0" y="19"/>
                    </a:cxn>
                    <a:cxn ang="0">
                      <a:pos x="0" y="9"/>
                    </a:cxn>
                    <a:cxn ang="0">
                      <a:pos x="0" y="6"/>
                    </a:cxn>
                    <a:cxn ang="0">
                      <a:pos x="3" y="0"/>
                    </a:cxn>
                    <a:cxn ang="0">
                      <a:pos x="2" y="8"/>
                    </a:cxn>
                  </a:cxnLst>
                  <a:rect l="0" t="0" r="r" b="b"/>
                  <a:pathLst>
                    <a:path w="16" h="48">
                      <a:moveTo>
                        <a:pt x="2" y="8"/>
                      </a:moveTo>
                      <a:lnTo>
                        <a:pt x="3" y="20"/>
                      </a:lnTo>
                      <a:lnTo>
                        <a:pt x="3" y="25"/>
                      </a:lnTo>
                      <a:lnTo>
                        <a:pt x="5" y="33"/>
                      </a:lnTo>
                      <a:lnTo>
                        <a:pt x="11" y="42"/>
                      </a:lnTo>
                      <a:lnTo>
                        <a:pt x="15" y="44"/>
                      </a:lnTo>
                      <a:lnTo>
                        <a:pt x="15" y="47"/>
                      </a:lnTo>
                      <a:lnTo>
                        <a:pt x="7" y="43"/>
                      </a:lnTo>
                      <a:lnTo>
                        <a:pt x="2" y="35"/>
                      </a:lnTo>
                      <a:lnTo>
                        <a:pt x="1" y="27"/>
                      </a:ln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0" y="6"/>
                      </a:lnTo>
                      <a:lnTo>
                        <a:pt x="3" y="0"/>
                      </a:lnTo>
                      <a:lnTo>
                        <a:pt x="2" y="8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44" name="Freeform 12"/>
                <p:cNvSpPr>
                  <a:spLocks/>
                </p:cNvSpPr>
                <p:nvPr/>
              </p:nvSpPr>
              <p:spPr bwMode="auto">
                <a:xfrm>
                  <a:off x="1605" y="3714"/>
                  <a:ext cx="29" cy="20"/>
                </a:xfrm>
                <a:custGeom>
                  <a:avLst/>
                  <a:gdLst/>
                  <a:ahLst/>
                  <a:cxnLst>
                    <a:cxn ang="0">
                      <a:pos x="16" y="9"/>
                    </a:cxn>
                    <a:cxn ang="0">
                      <a:pos x="16" y="19"/>
                    </a:cxn>
                    <a:cxn ang="0">
                      <a:pos x="23" y="15"/>
                    </a:cxn>
                    <a:cxn ang="0">
                      <a:pos x="22" y="6"/>
                    </a:cxn>
                    <a:cxn ang="0">
                      <a:pos x="27" y="4"/>
                    </a:cxn>
                    <a:cxn ang="0">
                      <a:pos x="28" y="1"/>
                    </a:cxn>
                    <a:cxn ang="0">
                      <a:pos x="22" y="0"/>
                    </a:cxn>
                    <a:cxn ang="0">
                      <a:pos x="8" y="8"/>
                    </a:cxn>
                    <a:cxn ang="0">
                      <a:pos x="0" y="13"/>
                    </a:cxn>
                    <a:cxn ang="0">
                      <a:pos x="0" y="15"/>
                    </a:cxn>
                    <a:cxn ang="0">
                      <a:pos x="5" y="15"/>
                    </a:cxn>
                    <a:cxn ang="0">
                      <a:pos x="17" y="10"/>
                    </a:cxn>
                    <a:cxn ang="0">
                      <a:pos x="16" y="9"/>
                    </a:cxn>
                  </a:cxnLst>
                  <a:rect l="0" t="0" r="r" b="b"/>
                  <a:pathLst>
                    <a:path w="29" h="20">
                      <a:moveTo>
                        <a:pt x="16" y="9"/>
                      </a:moveTo>
                      <a:lnTo>
                        <a:pt x="16" y="19"/>
                      </a:lnTo>
                      <a:lnTo>
                        <a:pt x="23" y="15"/>
                      </a:lnTo>
                      <a:lnTo>
                        <a:pt x="22" y="6"/>
                      </a:lnTo>
                      <a:lnTo>
                        <a:pt x="27" y="4"/>
                      </a:lnTo>
                      <a:lnTo>
                        <a:pt x="28" y="1"/>
                      </a:lnTo>
                      <a:lnTo>
                        <a:pt x="22" y="0"/>
                      </a:lnTo>
                      <a:lnTo>
                        <a:pt x="8" y="8"/>
                      </a:lnTo>
                      <a:lnTo>
                        <a:pt x="0" y="13"/>
                      </a:lnTo>
                      <a:lnTo>
                        <a:pt x="0" y="15"/>
                      </a:lnTo>
                      <a:lnTo>
                        <a:pt x="5" y="15"/>
                      </a:lnTo>
                      <a:lnTo>
                        <a:pt x="17" y="10"/>
                      </a:lnTo>
                      <a:lnTo>
                        <a:pt x="16" y="9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45" name="Freeform 13"/>
                <p:cNvSpPr>
                  <a:spLocks/>
                </p:cNvSpPr>
                <p:nvPr/>
              </p:nvSpPr>
              <p:spPr bwMode="auto">
                <a:xfrm>
                  <a:off x="1611" y="3723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13" y="0"/>
                    </a:cxn>
                    <a:cxn ang="0">
                      <a:pos x="15" y="8"/>
                    </a:cxn>
                    <a:cxn ang="0">
                      <a:pos x="15" y="15"/>
                    </a:cxn>
                    <a:cxn ang="0">
                      <a:pos x="0" y="10"/>
                    </a:cxn>
                    <a:cxn ang="0">
                      <a:pos x="11" y="0"/>
                    </a:cxn>
                    <a:cxn ang="0">
                      <a:pos x="13" y="0"/>
                    </a:cxn>
                  </a:cxnLst>
                  <a:rect l="0" t="0" r="r" b="b"/>
                  <a:pathLst>
                    <a:path w="16" h="16">
                      <a:moveTo>
                        <a:pt x="13" y="0"/>
                      </a:moveTo>
                      <a:lnTo>
                        <a:pt x="15" y="8"/>
                      </a:lnTo>
                      <a:lnTo>
                        <a:pt x="15" y="15"/>
                      </a:lnTo>
                      <a:lnTo>
                        <a:pt x="0" y="10"/>
                      </a:lnTo>
                      <a:lnTo>
                        <a:pt x="11" y="0"/>
                      </a:lnTo>
                      <a:lnTo>
                        <a:pt x="13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46" name="Freeform 14"/>
                <p:cNvSpPr>
                  <a:spLocks/>
                </p:cNvSpPr>
                <p:nvPr/>
              </p:nvSpPr>
              <p:spPr bwMode="auto">
                <a:xfrm>
                  <a:off x="1609" y="3729"/>
                  <a:ext cx="21" cy="1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" y="1"/>
                    </a:cxn>
                    <a:cxn ang="0">
                      <a:pos x="8" y="1"/>
                    </a:cxn>
                    <a:cxn ang="0">
                      <a:pos x="12" y="1"/>
                    </a:cxn>
                    <a:cxn ang="0">
                      <a:pos x="14" y="3"/>
                    </a:cxn>
                    <a:cxn ang="0">
                      <a:pos x="17" y="8"/>
                    </a:cxn>
                    <a:cxn ang="0">
                      <a:pos x="19" y="12"/>
                    </a:cxn>
                    <a:cxn ang="0">
                      <a:pos x="20" y="12"/>
                    </a:cxn>
                    <a:cxn ang="0">
                      <a:pos x="19" y="15"/>
                    </a:cxn>
                    <a:cxn ang="0">
                      <a:pos x="12" y="8"/>
                    </a:cxn>
                    <a:cxn ang="0">
                      <a:pos x="1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1" h="16">
                      <a:moveTo>
                        <a:pt x="0" y="0"/>
                      </a:moveTo>
                      <a:lnTo>
                        <a:pt x="5" y="1"/>
                      </a:lnTo>
                      <a:lnTo>
                        <a:pt x="8" y="1"/>
                      </a:lnTo>
                      <a:lnTo>
                        <a:pt x="12" y="1"/>
                      </a:lnTo>
                      <a:lnTo>
                        <a:pt x="14" y="3"/>
                      </a:lnTo>
                      <a:lnTo>
                        <a:pt x="17" y="8"/>
                      </a:lnTo>
                      <a:lnTo>
                        <a:pt x="19" y="12"/>
                      </a:lnTo>
                      <a:lnTo>
                        <a:pt x="20" y="12"/>
                      </a:lnTo>
                      <a:lnTo>
                        <a:pt x="19" y="15"/>
                      </a:lnTo>
                      <a:lnTo>
                        <a:pt x="12" y="8"/>
                      </a:lnTo>
                      <a:lnTo>
                        <a:pt x="1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47" name="Freeform 15"/>
                <p:cNvSpPr>
                  <a:spLocks/>
                </p:cNvSpPr>
                <p:nvPr/>
              </p:nvSpPr>
              <p:spPr bwMode="auto">
                <a:xfrm>
                  <a:off x="1626" y="3721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5" y="4"/>
                    </a:cxn>
                    <a:cxn ang="0">
                      <a:pos x="15" y="9"/>
                    </a:cxn>
                    <a:cxn ang="0">
                      <a:pos x="5" y="15"/>
                    </a:cxn>
                    <a:cxn ang="0">
                      <a:pos x="3" y="15"/>
                    </a:cxn>
                    <a:cxn ang="0">
                      <a:pos x="0" y="13"/>
                    </a:cxn>
                    <a:cxn ang="0">
                      <a:pos x="12" y="6"/>
                    </a:cxn>
                    <a:cxn ang="0">
                      <a:pos x="5" y="0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6" h="16">
                      <a:moveTo>
                        <a:pt x="8" y="0"/>
                      </a:moveTo>
                      <a:lnTo>
                        <a:pt x="15" y="4"/>
                      </a:lnTo>
                      <a:lnTo>
                        <a:pt x="15" y="9"/>
                      </a:lnTo>
                      <a:lnTo>
                        <a:pt x="5" y="15"/>
                      </a:lnTo>
                      <a:lnTo>
                        <a:pt x="3" y="15"/>
                      </a:lnTo>
                      <a:lnTo>
                        <a:pt x="0" y="13"/>
                      </a:lnTo>
                      <a:lnTo>
                        <a:pt x="12" y="6"/>
                      </a:lnTo>
                      <a:lnTo>
                        <a:pt x="5" y="0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48" name="Freeform 16"/>
                <p:cNvSpPr>
                  <a:spLocks/>
                </p:cNvSpPr>
                <p:nvPr/>
              </p:nvSpPr>
              <p:spPr bwMode="auto">
                <a:xfrm>
                  <a:off x="1522" y="3771"/>
                  <a:ext cx="28" cy="26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16" y="22"/>
                    </a:cxn>
                    <a:cxn ang="0">
                      <a:pos x="27" y="22"/>
                    </a:cxn>
                    <a:cxn ang="0">
                      <a:pos x="16" y="25"/>
                    </a:cxn>
                    <a:cxn ang="0">
                      <a:pos x="11" y="22"/>
                    </a:cxn>
                    <a:cxn ang="0">
                      <a:pos x="0" y="5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28" h="26">
                      <a:moveTo>
                        <a:pt x="3" y="0"/>
                      </a:moveTo>
                      <a:lnTo>
                        <a:pt x="16" y="22"/>
                      </a:lnTo>
                      <a:lnTo>
                        <a:pt x="27" y="22"/>
                      </a:lnTo>
                      <a:lnTo>
                        <a:pt x="16" y="25"/>
                      </a:lnTo>
                      <a:lnTo>
                        <a:pt x="11" y="22"/>
                      </a:lnTo>
                      <a:lnTo>
                        <a:pt x="0" y="5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49" name="Freeform 17"/>
                <p:cNvSpPr>
                  <a:spLocks/>
                </p:cNvSpPr>
                <p:nvPr/>
              </p:nvSpPr>
              <p:spPr bwMode="auto">
                <a:xfrm>
                  <a:off x="1505" y="3811"/>
                  <a:ext cx="113" cy="107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2" y="0"/>
                    </a:cxn>
                    <a:cxn ang="0">
                      <a:pos x="4" y="2"/>
                    </a:cxn>
                    <a:cxn ang="0">
                      <a:pos x="6" y="4"/>
                    </a:cxn>
                    <a:cxn ang="0">
                      <a:pos x="8" y="7"/>
                    </a:cxn>
                    <a:cxn ang="0">
                      <a:pos x="10" y="9"/>
                    </a:cxn>
                    <a:cxn ang="0">
                      <a:pos x="10" y="14"/>
                    </a:cxn>
                    <a:cxn ang="0">
                      <a:pos x="12" y="20"/>
                    </a:cxn>
                    <a:cxn ang="0">
                      <a:pos x="15" y="28"/>
                    </a:cxn>
                    <a:cxn ang="0">
                      <a:pos x="18" y="34"/>
                    </a:cxn>
                    <a:cxn ang="0">
                      <a:pos x="22" y="40"/>
                    </a:cxn>
                    <a:cxn ang="0">
                      <a:pos x="25" y="45"/>
                    </a:cxn>
                    <a:cxn ang="0">
                      <a:pos x="30" y="48"/>
                    </a:cxn>
                    <a:cxn ang="0">
                      <a:pos x="35" y="51"/>
                    </a:cxn>
                    <a:cxn ang="0">
                      <a:pos x="40" y="55"/>
                    </a:cxn>
                    <a:cxn ang="0">
                      <a:pos x="44" y="56"/>
                    </a:cxn>
                    <a:cxn ang="0">
                      <a:pos x="47" y="58"/>
                    </a:cxn>
                    <a:cxn ang="0">
                      <a:pos x="52" y="59"/>
                    </a:cxn>
                    <a:cxn ang="0">
                      <a:pos x="57" y="61"/>
                    </a:cxn>
                    <a:cxn ang="0">
                      <a:pos x="61" y="62"/>
                    </a:cxn>
                    <a:cxn ang="0">
                      <a:pos x="65" y="64"/>
                    </a:cxn>
                    <a:cxn ang="0">
                      <a:pos x="70" y="64"/>
                    </a:cxn>
                    <a:cxn ang="0">
                      <a:pos x="72" y="66"/>
                    </a:cxn>
                    <a:cxn ang="0">
                      <a:pos x="75" y="67"/>
                    </a:cxn>
                    <a:cxn ang="0">
                      <a:pos x="78" y="68"/>
                    </a:cxn>
                    <a:cxn ang="0">
                      <a:pos x="83" y="68"/>
                    </a:cxn>
                    <a:cxn ang="0">
                      <a:pos x="85" y="70"/>
                    </a:cxn>
                    <a:cxn ang="0">
                      <a:pos x="89" y="72"/>
                    </a:cxn>
                    <a:cxn ang="0">
                      <a:pos x="93" y="73"/>
                    </a:cxn>
                    <a:cxn ang="0">
                      <a:pos x="96" y="74"/>
                    </a:cxn>
                    <a:cxn ang="0">
                      <a:pos x="100" y="77"/>
                    </a:cxn>
                    <a:cxn ang="0">
                      <a:pos x="105" y="77"/>
                    </a:cxn>
                    <a:cxn ang="0">
                      <a:pos x="108" y="77"/>
                    </a:cxn>
                    <a:cxn ang="0">
                      <a:pos x="112" y="78"/>
                    </a:cxn>
                    <a:cxn ang="0">
                      <a:pos x="108" y="82"/>
                    </a:cxn>
                    <a:cxn ang="0">
                      <a:pos x="104" y="83"/>
                    </a:cxn>
                    <a:cxn ang="0">
                      <a:pos x="100" y="84"/>
                    </a:cxn>
                    <a:cxn ang="0">
                      <a:pos x="95" y="84"/>
                    </a:cxn>
                    <a:cxn ang="0">
                      <a:pos x="92" y="84"/>
                    </a:cxn>
                    <a:cxn ang="0">
                      <a:pos x="87" y="84"/>
                    </a:cxn>
                    <a:cxn ang="0">
                      <a:pos x="82" y="84"/>
                    </a:cxn>
                    <a:cxn ang="0">
                      <a:pos x="79" y="84"/>
                    </a:cxn>
                    <a:cxn ang="0">
                      <a:pos x="75" y="84"/>
                    </a:cxn>
                    <a:cxn ang="0">
                      <a:pos x="71" y="84"/>
                    </a:cxn>
                    <a:cxn ang="0">
                      <a:pos x="66" y="85"/>
                    </a:cxn>
                    <a:cxn ang="0">
                      <a:pos x="63" y="87"/>
                    </a:cxn>
                    <a:cxn ang="0">
                      <a:pos x="59" y="89"/>
                    </a:cxn>
                    <a:cxn ang="0">
                      <a:pos x="55" y="94"/>
                    </a:cxn>
                    <a:cxn ang="0">
                      <a:pos x="52" y="98"/>
                    </a:cxn>
                    <a:cxn ang="0">
                      <a:pos x="52" y="101"/>
                    </a:cxn>
                    <a:cxn ang="0">
                      <a:pos x="51" y="106"/>
                    </a:cxn>
                    <a:cxn ang="0">
                      <a:pos x="36" y="95"/>
                    </a:cxn>
                    <a:cxn ang="0">
                      <a:pos x="24" y="78"/>
                    </a:cxn>
                    <a:cxn ang="0">
                      <a:pos x="15" y="62"/>
                    </a:cxn>
                    <a:cxn ang="0">
                      <a:pos x="8" y="47"/>
                    </a:cxn>
                    <a:cxn ang="0">
                      <a:pos x="4" y="39"/>
                    </a:cxn>
                    <a:cxn ang="0">
                      <a:pos x="2" y="34"/>
                    </a:cxn>
                    <a:cxn ang="0">
                      <a:pos x="0" y="28"/>
                    </a:cxn>
                    <a:cxn ang="0">
                      <a:pos x="0" y="20"/>
                    </a:cxn>
                    <a:cxn ang="0">
                      <a:pos x="0" y="14"/>
                    </a:cxn>
                    <a:cxn ang="0">
                      <a:pos x="0" y="8"/>
                    </a:cxn>
                  </a:cxnLst>
                  <a:rect l="0" t="0" r="r" b="b"/>
                  <a:pathLst>
                    <a:path w="113" h="107">
                      <a:moveTo>
                        <a:pt x="0" y="7"/>
                      </a:move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1" y="4"/>
                      </a:lnTo>
                      <a:lnTo>
                        <a:pt x="1" y="2"/>
                      </a:lnTo>
                      <a:lnTo>
                        <a:pt x="2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5" y="2"/>
                      </a:lnTo>
                      <a:lnTo>
                        <a:pt x="6" y="2"/>
                      </a:lnTo>
                      <a:lnTo>
                        <a:pt x="6" y="4"/>
                      </a:lnTo>
                      <a:lnTo>
                        <a:pt x="6" y="5"/>
                      </a:lnTo>
                      <a:lnTo>
                        <a:pt x="8" y="5"/>
                      </a:lnTo>
                      <a:lnTo>
                        <a:pt x="8" y="7"/>
                      </a:lnTo>
                      <a:lnTo>
                        <a:pt x="8" y="8"/>
                      </a:lnTo>
                      <a:lnTo>
                        <a:pt x="8" y="9"/>
                      </a:lnTo>
                      <a:lnTo>
                        <a:pt x="10" y="9"/>
                      </a:lnTo>
                      <a:lnTo>
                        <a:pt x="10" y="11"/>
                      </a:lnTo>
                      <a:lnTo>
                        <a:pt x="10" y="11"/>
                      </a:lnTo>
                      <a:lnTo>
                        <a:pt x="10" y="14"/>
                      </a:lnTo>
                      <a:lnTo>
                        <a:pt x="11" y="16"/>
                      </a:lnTo>
                      <a:lnTo>
                        <a:pt x="11" y="18"/>
                      </a:lnTo>
                      <a:lnTo>
                        <a:pt x="12" y="20"/>
                      </a:lnTo>
                      <a:lnTo>
                        <a:pt x="13" y="22"/>
                      </a:lnTo>
                      <a:lnTo>
                        <a:pt x="15" y="24"/>
                      </a:lnTo>
                      <a:lnTo>
                        <a:pt x="15" y="28"/>
                      </a:lnTo>
                      <a:lnTo>
                        <a:pt x="17" y="30"/>
                      </a:lnTo>
                      <a:lnTo>
                        <a:pt x="17" y="33"/>
                      </a:lnTo>
                      <a:lnTo>
                        <a:pt x="18" y="34"/>
                      </a:lnTo>
                      <a:lnTo>
                        <a:pt x="18" y="38"/>
                      </a:lnTo>
                      <a:lnTo>
                        <a:pt x="20" y="39"/>
                      </a:lnTo>
                      <a:lnTo>
                        <a:pt x="22" y="40"/>
                      </a:lnTo>
                      <a:lnTo>
                        <a:pt x="23" y="41"/>
                      </a:lnTo>
                      <a:lnTo>
                        <a:pt x="24" y="43"/>
                      </a:lnTo>
                      <a:lnTo>
                        <a:pt x="25" y="45"/>
                      </a:lnTo>
                      <a:lnTo>
                        <a:pt x="27" y="46"/>
                      </a:lnTo>
                      <a:lnTo>
                        <a:pt x="29" y="46"/>
                      </a:lnTo>
                      <a:lnTo>
                        <a:pt x="30" y="48"/>
                      </a:lnTo>
                      <a:lnTo>
                        <a:pt x="32" y="50"/>
                      </a:lnTo>
                      <a:lnTo>
                        <a:pt x="34" y="51"/>
                      </a:lnTo>
                      <a:lnTo>
                        <a:pt x="35" y="51"/>
                      </a:lnTo>
                      <a:lnTo>
                        <a:pt x="36" y="53"/>
                      </a:lnTo>
                      <a:lnTo>
                        <a:pt x="38" y="53"/>
                      </a:lnTo>
                      <a:lnTo>
                        <a:pt x="40" y="55"/>
                      </a:lnTo>
                      <a:lnTo>
                        <a:pt x="41" y="55"/>
                      </a:lnTo>
                      <a:lnTo>
                        <a:pt x="42" y="56"/>
                      </a:lnTo>
                      <a:lnTo>
                        <a:pt x="44" y="56"/>
                      </a:lnTo>
                      <a:lnTo>
                        <a:pt x="46" y="57"/>
                      </a:lnTo>
                      <a:lnTo>
                        <a:pt x="47" y="57"/>
                      </a:lnTo>
                      <a:lnTo>
                        <a:pt x="47" y="58"/>
                      </a:lnTo>
                      <a:lnTo>
                        <a:pt x="49" y="58"/>
                      </a:lnTo>
                      <a:lnTo>
                        <a:pt x="51" y="59"/>
                      </a:lnTo>
                      <a:lnTo>
                        <a:pt x="52" y="59"/>
                      </a:lnTo>
                      <a:lnTo>
                        <a:pt x="53" y="61"/>
                      </a:lnTo>
                      <a:lnTo>
                        <a:pt x="55" y="61"/>
                      </a:lnTo>
                      <a:lnTo>
                        <a:pt x="57" y="61"/>
                      </a:lnTo>
                      <a:lnTo>
                        <a:pt x="59" y="61"/>
                      </a:lnTo>
                      <a:lnTo>
                        <a:pt x="59" y="62"/>
                      </a:lnTo>
                      <a:lnTo>
                        <a:pt x="61" y="62"/>
                      </a:lnTo>
                      <a:lnTo>
                        <a:pt x="63" y="62"/>
                      </a:lnTo>
                      <a:lnTo>
                        <a:pt x="65" y="62"/>
                      </a:lnTo>
                      <a:lnTo>
                        <a:pt x="65" y="64"/>
                      </a:lnTo>
                      <a:lnTo>
                        <a:pt x="66" y="64"/>
                      </a:lnTo>
                      <a:lnTo>
                        <a:pt x="68" y="64"/>
                      </a:lnTo>
                      <a:lnTo>
                        <a:pt x="70" y="64"/>
                      </a:lnTo>
                      <a:lnTo>
                        <a:pt x="70" y="66"/>
                      </a:lnTo>
                      <a:lnTo>
                        <a:pt x="71" y="66"/>
                      </a:lnTo>
                      <a:lnTo>
                        <a:pt x="72" y="66"/>
                      </a:lnTo>
                      <a:lnTo>
                        <a:pt x="72" y="67"/>
                      </a:lnTo>
                      <a:lnTo>
                        <a:pt x="74" y="67"/>
                      </a:lnTo>
                      <a:lnTo>
                        <a:pt x="75" y="67"/>
                      </a:lnTo>
                      <a:lnTo>
                        <a:pt x="77" y="67"/>
                      </a:lnTo>
                      <a:lnTo>
                        <a:pt x="77" y="68"/>
                      </a:lnTo>
                      <a:lnTo>
                        <a:pt x="78" y="68"/>
                      </a:lnTo>
                      <a:lnTo>
                        <a:pt x="79" y="68"/>
                      </a:lnTo>
                      <a:lnTo>
                        <a:pt x="81" y="68"/>
                      </a:lnTo>
                      <a:lnTo>
                        <a:pt x="83" y="68"/>
                      </a:lnTo>
                      <a:lnTo>
                        <a:pt x="83" y="68"/>
                      </a:lnTo>
                      <a:lnTo>
                        <a:pt x="85" y="68"/>
                      </a:lnTo>
                      <a:lnTo>
                        <a:pt x="85" y="70"/>
                      </a:lnTo>
                      <a:lnTo>
                        <a:pt x="87" y="70"/>
                      </a:lnTo>
                      <a:lnTo>
                        <a:pt x="88" y="72"/>
                      </a:lnTo>
                      <a:lnTo>
                        <a:pt x="89" y="72"/>
                      </a:lnTo>
                      <a:lnTo>
                        <a:pt x="89" y="73"/>
                      </a:lnTo>
                      <a:lnTo>
                        <a:pt x="91" y="73"/>
                      </a:lnTo>
                      <a:lnTo>
                        <a:pt x="93" y="73"/>
                      </a:lnTo>
                      <a:lnTo>
                        <a:pt x="95" y="73"/>
                      </a:lnTo>
                      <a:lnTo>
                        <a:pt x="95" y="74"/>
                      </a:lnTo>
                      <a:lnTo>
                        <a:pt x="96" y="74"/>
                      </a:lnTo>
                      <a:lnTo>
                        <a:pt x="98" y="75"/>
                      </a:lnTo>
                      <a:lnTo>
                        <a:pt x="100" y="75"/>
                      </a:lnTo>
                      <a:lnTo>
                        <a:pt x="100" y="77"/>
                      </a:lnTo>
                      <a:lnTo>
                        <a:pt x="101" y="77"/>
                      </a:lnTo>
                      <a:lnTo>
                        <a:pt x="103" y="77"/>
                      </a:lnTo>
                      <a:lnTo>
                        <a:pt x="105" y="77"/>
                      </a:lnTo>
                      <a:lnTo>
                        <a:pt x="106" y="77"/>
                      </a:lnTo>
                      <a:lnTo>
                        <a:pt x="107" y="77"/>
                      </a:lnTo>
                      <a:lnTo>
                        <a:pt x="108" y="77"/>
                      </a:lnTo>
                      <a:lnTo>
                        <a:pt x="108" y="78"/>
                      </a:lnTo>
                      <a:lnTo>
                        <a:pt x="110" y="78"/>
                      </a:lnTo>
                      <a:lnTo>
                        <a:pt x="112" y="78"/>
                      </a:lnTo>
                      <a:lnTo>
                        <a:pt x="110" y="79"/>
                      </a:lnTo>
                      <a:lnTo>
                        <a:pt x="109" y="80"/>
                      </a:lnTo>
                      <a:lnTo>
                        <a:pt x="108" y="82"/>
                      </a:lnTo>
                      <a:lnTo>
                        <a:pt x="107" y="82"/>
                      </a:lnTo>
                      <a:lnTo>
                        <a:pt x="106" y="82"/>
                      </a:lnTo>
                      <a:lnTo>
                        <a:pt x="104" y="83"/>
                      </a:lnTo>
                      <a:lnTo>
                        <a:pt x="103" y="83"/>
                      </a:lnTo>
                      <a:lnTo>
                        <a:pt x="101" y="83"/>
                      </a:lnTo>
                      <a:lnTo>
                        <a:pt x="100" y="84"/>
                      </a:lnTo>
                      <a:lnTo>
                        <a:pt x="99" y="84"/>
                      </a:lnTo>
                      <a:lnTo>
                        <a:pt x="97" y="84"/>
                      </a:lnTo>
                      <a:lnTo>
                        <a:pt x="95" y="84"/>
                      </a:lnTo>
                      <a:lnTo>
                        <a:pt x="94" y="84"/>
                      </a:lnTo>
                      <a:lnTo>
                        <a:pt x="93" y="84"/>
                      </a:lnTo>
                      <a:lnTo>
                        <a:pt x="92" y="84"/>
                      </a:lnTo>
                      <a:lnTo>
                        <a:pt x="90" y="84"/>
                      </a:lnTo>
                      <a:lnTo>
                        <a:pt x="89" y="84"/>
                      </a:lnTo>
                      <a:lnTo>
                        <a:pt x="87" y="84"/>
                      </a:lnTo>
                      <a:lnTo>
                        <a:pt x="85" y="84"/>
                      </a:lnTo>
                      <a:lnTo>
                        <a:pt x="83" y="84"/>
                      </a:lnTo>
                      <a:lnTo>
                        <a:pt x="82" y="84"/>
                      </a:lnTo>
                      <a:lnTo>
                        <a:pt x="81" y="84"/>
                      </a:lnTo>
                      <a:lnTo>
                        <a:pt x="79" y="84"/>
                      </a:lnTo>
                      <a:lnTo>
                        <a:pt x="79" y="84"/>
                      </a:lnTo>
                      <a:lnTo>
                        <a:pt x="77" y="84"/>
                      </a:lnTo>
                      <a:lnTo>
                        <a:pt x="76" y="84"/>
                      </a:lnTo>
                      <a:lnTo>
                        <a:pt x="75" y="84"/>
                      </a:lnTo>
                      <a:lnTo>
                        <a:pt x="74" y="84"/>
                      </a:lnTo>
                      <a:lnTo>
                        <a:pt x="72" y="84"/>
                      </a:lnTo>
                      <a:lnTo>
                        <a:pt x="71" y="84"/>
                      </a:lnTo>
                      <a:lnTo>
                        <a:pt x="69" y="84"/>
                      </a:lnTo>
                      <a:lnTo>
                        <a:pt x="68" y="85"/>
                      </a:lnTo>
                      <a:lnTo>
                        <a:pt x="66" y="85"/>
                      </a:lnTo>
                      <a:lnTo>
                        <a:pt x="65" y="85"/>
                      </a:lnTo>
                      <a:lnTo>
                        <a:pt x="64" y="87"/>
                      </a:lnTo>
                      <a:lnTo>
                        <a:pt x="63" y="87"/>
                      </a:lnTo>
                      <a:lnTo>
                        <a:pt x="62" y="87"/>
                      </a:lnTo>
                      <a:lnTo>
                        <a:pt x="60" y="89"/>
                      </a:lnTo>
                      <a:lnTo>
                        <a:pt x="59" y="89"/>
                      </a:lnTo>
                      <a:lnTo>
                        <a:pt x="58" y="90"/>
                      </a:lnTo>
                      <a:lnTo>
                        <a:pt x="56" y="92"/>
                      </a:lnTo>
                      <a:lnTo>
                        <a:pt x="55" y="94"/>
                      </a:lnTo>
                      <a:lnTo>
                        <a:pt x="53" y="95"/>
                      </a:lnTo>
                      <a:lnTo>
                        <a:pt x="53" y="96"/>
                      </a:lnTo>
                      <a:lnTo>
                        <a:pt x="52" y="98"/>
                      </a:lnTo>
                      <a:lnTo>
                        <a:pt x="52" y="99"/>
                      </a:lnTo>
                      <a:lnTo>
                        <a:pt x="52" y="101"/>
                      </a:lnTo>
                      <a:lnTo>
                        <a:pt x="52" y="101"/>
                      </a:lnTo>
                      <a:lnTo>
                        <a:pt x="51" y="103"/>
                      </a:lnTo>
                      <a:lnTo>
                        <a:pt x="51" y="105"/>
                      </a:lnTo>
                      <a:lnTo>
                        <a:pt x="51" y="106"/>
                      </a:lnTo>
                      <a:lnTo>
                        <a:pt x="46" y="103"/>
                      </a:lnTo>
                      <a:lnTo>
                        <a:pt x="41" y="100"/>
                      </a:lnTo>
                      <a:lnTo>
                        <a:pt x="36" y="95"/>
                      </a:lnTo>
                      <a:lnTo>
                        <a:pt x="33" y="90"/>
                      </a:lnTo>
                      <a:lnTo>
                        <a:pt x="28" y="84"/>
                      </a:lnTo>
                      <a:lnTo>
                        <a:pt x="24" y="78"/>
                      </a:lnTo>
                      <a:lnTo>
                        <a:pt x="21" y="73"/>
                      </a:lnTo>
                      <a:lnTo>
                        <a:pt x="17" y="67"/>
                      </a:lnTo>
                      <a:lnTo>
                        <a:pt x="15" y="62"/>
                      </a:lnTo>
                      <a:lnTo>
                        <a:pt x="12" y="56"/>
                      </a:lnTo>
                      <a:lnTo>
                        <a:pt x="9" y="51"/>
                      </a:lnTo>
                      <a:lnTo>
                        <a:pt x="8" y="47"/>
                      </a:lnTo>
                      <a:lnTo>
                        <a:pt x="6" y="44"/>
                      </a:lnTo>
                      <a:lnTo>
                        <a:pt x="5" y="40"/>
                      </a:lnTo>
                      <a:lnTo>
                        <a:pt x="4" y="39"/>
                      </a:lnTo>
                      <a:lnTo>
                        <a:pt x="4" y="36"/>
                      </a:lnTo>
                      <a:lnTo>
                        <a:pt x="2" y="36"/>
                      </a:lnTo>
                      <a:lnTo>
                        <a:pt x="2" y="34"/>
                      </a:lnTo>
                      <a:lnTo>
                        <a:pt x="2" y="33"/>
                      </a:lnTo>
                      <a:lnTo>
                        <a:pt x="2" y="30"/>
                      </a:lnTo>
                      <a:lnTo>
                        <a:pt x="0" y="28"/>
                      </a:lnTo>
                      <a:lnTo>
                        <a:pt x="0" y="25"/>
                      </a:lnTo>
                      <a:lnTo>
                        <a:pt x="0" y="23"/>
                      </a:lnTo>
                      <a:lnTo>
                        <a:pt x="0" y="20"/>
                      </a:lnTo>
                      <a:lnTo>
                        <a:pt x="0" y="18"/>
                      </a:lnTo>
                      <a:lnTo>
                        <a:pt x="0" y="16"/>
                      </a:lnTo>
                      <a:lnTo>
                        <a:pt x="0" y="14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8"/>
                      </a:lnTo>
                      <a:lnTo>
                        <a:pt x="0" y="7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50" name="Freeform 18"/>
                <p:cNvSpPr>
                  <a:spLocks/>
                </p:cNvSpPr>
                <p:nvPr/>
              </p:nvSpPr>
              <p:spPr bwMode="auto">
                <a:xfrm>
                  <a:off x="1618" y="3807"/>
                  <a:ext cx="28" cy="16"/>
                </a:xfrm>
                <a:custGeom>
                  <a:avLst/>
                  <a:gdLst/>
                  <a:ahLst/>
                  <a:cxnLst>
                    <a:cxn ang="0">
                      <a:pos x="26" y="11"/>
                    </a:cxn>
                    <a:cxn ang="0">
                      <a:pos x="26" y="10"/>
                    </a:cxn>
                    <a:cxn ang="0">
                      <a:pos x="26" y="9"/>
                    </a:cxn>
                    <a:cxn ang="0">
                      <a:pos x="26" y="7"/>
                    </a:cxn>
                    <a:cxn ang="0">
                      <a:pos x="26" y="6"/>
                    </a:cxn>
                    <a:cxn ang="0">
                      <a:pos x="26" y="5"/>
                    </a:cxn>
                    <a:cxn ang="0">
                      <a:pos x="26" y="4"/>
                    </a:cxn>
                    <a:cxn ang="0">
                      <a:pos x="27" y="2"/>
                    </a:cxn>
                    <a:cxn ang="0">
                      <a:pos x="25" y="2"/>
                    </a:cxn>
                    <a:cxn ang="0">
                      <a:pos x="23" y="2"/>
                    </a:cxn>
                    <a:cxn ang="0">
                      <a:pos x="23" y="1"/>
                    </a:cxn>
                    <a:cxn ang="0">
                      <a:pos x="22" y="1"/>
                    </a:cxn>
                    <a:cxn ang="0">
                      <a:pos x="21" y="1"/>
                    </a:cxn>
                    <a:cxn ang="0">
                      <a:pos x="21" y="0"/>
                    </a:cxn>
                    <a:cxn ang="0">
                      <a:pos x="19" y="1"/>
                    </a:cxn>
                    <a:cxn ang="0">
                      <a:pos x="18" y="1"/>
                    </a:cxn>
                    <a:cxn ang="0">
                      <a:pos x="17" y="2"/>
                    </a:cxn>
                    <a:cxn ang="0">
                      <a:pos x="15" y="4"/>
                    </a:cxn>
                    <a:cxn ang="0">
                      <a:pos x="14" y="4"/>
                    </a:cxn>
                    <a:cxn ang="0">
                      <a:pos x="14" y="4"/>
                    </a:cxn>
                    <a:cxn ang="0">
                      <a:pos x="12" y="5"/>
                    </a:cxn>
                    <a:cxn ang="0">
                      <a:pos x="10" y="5"/>
                    </a:cxn>
                    <a:cxn ang="0">
                      <a:pos x="9" y="6"/>
                    </a:cxn>
                    <a:cxn ang="0">
                      <a:pos x="8" y="6"/>
                    </a:cxn>
                    <a:cxn ang="0">
                      <a:pos x="6" y="8"/>
                    </a:cxn>
                    <a:cxn ang="0">
                      <a:pos x="4" y="8"/>
                    </a:cxn>
                    <a:cxn ang="0">
                      <a:pos x="3" y="8"/>
                    </a:cxn>
                    <a:cxn ang="0">
                      <a:pos x="1" y="10"/>
                    </a:cxn>
                    <a:cxn ang="0">
                      <a:pos x="0" y="11"/>
                    </a:cxn>
                    <a:cxn ang="0">
                      <a:pos x="0" y="12"/>
                    </a:cxn>
                    <a:cxn ang="0">
                      <a:pos x="0" y="12"/>
                    </a:cxn>
                    <a:cxn ang="0">
                      <a:pos x="2" y="12"/>
                    </a:cxn>
                    <a:cxn ang="0">
                      <a:pos x="4" y="12"/>
                    </a:cxn>
                    <a:cxn ang="0">
                      <a:pos x="5" y="13"/>
                    </a:cxn>
                    <a:cxn ang="0">
                      <a:pos x="8" y="13"/>
                    </a:cxn>
                    <a:cxn ang="0">
                      <a:pos x="10" y="13"/>
                    </a:cxn>
                    <a:cxn ang="0">
                      <a:pos x="13" y="13"/>
                    </a:cxn>
                    <a:cxn ang="0">
                      <a:pos x="14" y="15"/>
                    </a:cxn>
                    <a:cxn ang="0">
                      <a:pos x="17" y="15"/>
                    </a:cxn>
                    <a:cxn ang="0">
                      <a:pos x="18" y="15"/>
                    </a:cxn>
                    <a:cxn ang="0">
                      <a:pos x="21" y="15"/>
                    </a:cxn>
                    <a:cxn ang="0">
                      <a:pos x="22" y="15"/>
                    </a:cxn>
                    <a:cxn ang="0">
                      <a:pos x="23" y="14"/>
                    </a:cxn>
                    <a:cxn ang="0">
                      <a:pos x="24" y="13"/>
                    </a:cxn>
                    <a:cxn ang="0">
                      <a:pos x="24" y="12"/>
                    </a:cxn>
                    <a:cxn ang="0">
                      <a:pos x="26" y="11"/>
                    </a:cxn>
                  </a:cxnLst>
                  <a:rect l="0" t="0" r="r" b="b"/>
                  <a:pathLst>
                    <a:path w="28" h="16">
                      <a:moveTo>
                        <a:pt x="26" y="11"/>
                      </a:moveTo>
                      <a:lnTo>
                        <a:pt x="26" y="10"/>
                      </a:lnTo>
                      <a:lnTo>
                        <a:pt x="26" y="9"/>
                      </a:lnTo>
                      <a:lnTo>
                        <a:pt x="26" y="7"/>
                      </a:lnTo>
                      <a:lnTo>
                        <a:pt x="26" y="6"/>
                      </a:lnTo>
                      <a:lnTo>
                        <a:pt x="26" y="5"/>
                      </a:lnTo>
                      <a:lnTo>
                        <a:pt x="26" y="4"/>
                      </a:lnTo>
                      <a:lnTo>
                        <a:pt x="27" y="2"/>
                      </a:lnTo>
                      <a:lnTo>
                        <a:pt x="25" y="2"/>
                      </a:lnTo>
                      <a:lnTo>
                        <a:pt x="23" y="2"/>
                      </a:lnTo>
                      <a:lnTo>
                        <a:pt x="23" y="1"/>
                      </a:lnTo>
                      <a:lnTo>
                        <a:pt x="22" y="1"/>
                      </a:lnTo>
                      <a:lnTo>
                        <a:pt x="21" y="1"/>
                      </a:lnTo>
                      <a:lnTo>
                        <a:pt x="21" y="0"/>
                      </a:lnTo>
                      <a:lnTo>
                        <a:pt x="19" y="1"/>
                      </a:lnTo>
                      <a:lnTo>
                        <a:pt x="18" y="1"/>
                      </a:lnTo>
                      <a:lnTo>
                        <a:pt x="17" y="2"/>
                      </a:lnTo>
                      <a:lnTo>
                        <a:pt x="15" y="4"/>
                      </a:lnTo>
                      <a:lnTo>
                        <a:pt x="14" y="4"/>
                      </a:lnTo>
                      <a:lnTo>
                        <a:pt x="14" y="4"/>
                      </a:lnTo>
                      <a:lnTo>
                        <a:pt x="12" y="5"/>
                      </a:lnTo>
                      <a:lnTo>
                        <a:pt x="10" y="5"/>
                      </a:lnTo>
                      <a:lnTo>
                        <a:pt x="9" y="6"/>
                      </a:lnTo>
                      <a:lnTo>
                        <a:pt x="8" y="6"/>
                      </a:lnTo>
                      <a:lnTo>
                        <a:pt x="6" y="8"/>
                      </a:lnTo>
                      <a:lnTo>
                        <a:pt x="4" y="8"/>
                      </a:lnTo>
                      <a:lnTo>
                        <a:pt x="3" y="8"/>
                      </a:lnTo>
                      <a:lnTo>
                        <a:pt x="1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3"/>
                      </a:lnTo>
                      <a:lnTo>
                        <a:pt x="8" y="13"/>
                      </a:lnTo>
                      <a:lnTo>
                        <a:pt x="10" y="13"/>
                      </a:lnTo>
                      <a:lnTo>
                        <a:pt x="13" y="13"/>
                      </a:lnTo>
                      <a:lnTo>
                        <a:pt x="14" y="15"/>
                      </a:lnTo>
                      <a:lnTo>
                        <a:pt x="17" y="15"/>
                      </a:lnTo>
                      <a:lnTo>
                        <a:pt x="18" y="15"/>
                      </a:lnTo>
                      <a:lnTo>
                        <a:pt x="21" y="15"/>
                      </a:lnTo>
                      <a:lnTo>
                        <a:pt x="22" y="15"/>
                      </a:lnTo>
                      <a:lnTo>
                        <a:pt x="23" y="14"/>
                      </a:lnTo>
                      <a:lnTo>
                        <a:pt x="24" y="13"/>
                      </a:lnTo>
                      <a:lnTo>
                        <a:pt x="24" y="12"/>
                      </a:lnTo>
                      <a:lnTo>
                        <a:pt x="26" y="11"/>
                      </a:lnTo>
                    </a:path>
                  </a:pathLst>
                </a:custGeom>
                <a:solidFill>
                  <a:srgbClr val="11111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51" name="Freeform 19"/>
                <p:cNvSpPr>
                  <a:spLocks/>
                </p:cNvSpPr>
                <p:nvPr/>
              </p:nvSpPr>
              <p:spPr bwMode="auto">
                <a:xfrm>
                  <a:off x="1618" y="3807"/>
                  <a:ext cx="28" cy="16"/>
                </a:xfrm>
                <a:custGeom>
                  <a:avLst/>
                  <a:gdLst/>
                  <a:ahLst/>
                  <a:cxnLst>
                    <a:cxn ang="0">
                      <a:pos x="21" y="15"/>
                    </a:cxn>
                    <a:cxn ang="0">
                      <a:pos x="22" y="15"/>
                    </a:cxn>
                    <a:cxn ang="0">
                      <a:pos x="23" y="14"/>
                    </a:cxn>
                    <a:cxn ang="0">
                      <a:pos x="25" y="13"/>
                    </a:cxn>
                    <a:cxn ang="0">
                      <a:pos x="27" y="11"/>
                    </a:cxn>
                    <a:cxn ang="0">
                      <a:pos x="27" y="10"/>
                    </a:cxn>
                    <a:cxn ang="0">
                      <a:pos x="27" y="9"/>
                    </a:cxn>
                    <a:cxn ang="0">
                      <a:pos x="27" y="7"/>
                    </a:cxn>
                    <a:cxn ang="0">
                      <a:pos x="26" y="7"/>
                    </a:cxn>
                    <a:cxn ang="0">
                      <a:pos x="26" y="6"/>
                    </a:cxn>
                    <a:cxn ang="0">
                      <a:pos x="26" y="4"/>
                    </a:cxn>
                    <a:cxn ang="0">
                      <a:pos x="26" y="2"/>
                    </a:cxn>
                    <a:cxn ang="0">
                      <a:pos x="24" y="2"/>
                    </a:cxn>
                    <a:cxn ang="0">
                      <a:pos x="23" y="2"/>
                    </a:cxn>
                    <a:cxn ang="0">
                      <a:pos x="23" y="1"/>
                    </a:cxn>
                    <a:cxn ang="0">
                      <a:pos x="22" y="1"/>
                    </a:cxn>
                    <a:cxn ang="0">
                      <a:pos x="21" y="1"/>
                    </a:cxn>
                    <a:cxn ang="0">
                      <a:pos x="21" y="0"/>
                    </a:cxn>
                    <a:cxn ang="0">
                      <a:pos x="19" y="1"/>
                    </a:cxn>
                    <a:cxn ang="0">
                      <a:pos x="18" y="1"/>
                    </a:cxn>
                    <a:cxn ang="0">
                      <a:pos x="17" y="2"/>
                    </a:cxn>
                    <a:cxn ang="0">
                      <a:pos x="15" y="4"/>
                    </a:cxn>
                    <a:cxn ang="0">
                      <a:pos x="14" y="4"/>
                    </a:cxn>
                    <a:cxn ang="0">
                      <a:pos x="14" y="4"/>
                    </a:cxn>
                    <a:cxn ang="0">
                      <a:pos x="12" y="6"/>
                    </a:cxn>
                    <a:cxn ang="0">
                      <a:pos x="10" y="6"/>
                    </a:cxn>
                    <a:cxn ang="0">
                      <a:pos x="9" y="7"/>
                    </a:cxn>
                    <a:cxn ang="0">
                      <a:pos x="8" y="7"/>
                    </a:cxn>
                    <a:cxn ang="0">
                      <a:pos x="6" y="9"/>
                    </a:cxn>
                    <a:cxn ang="0">
                      <a:pos x="4" y="9"/>
                    </a:cxn>
                    <a:cxn ang="0">
                      <a:pos x="3" y="9"/>
                    </a:cxn>
                    <a:cxn ang="0">
                      <a:pos x="1" y="11"/>
                    </a:cxn>
                    <a:cxn ang="0">
                      <a:pos x="0" y="13"/>
                    </a:cxn>
                    <a:cxn ang="0">
                      <a:pos x="0" y="14"/>
                    </a:cxn>
                    <a:cxn ang="0">
                      <a:pos x="0" y="14"/>
                    </a:cxn>
                    <a:cxn ang="0">
                      <a:pos x="1" y="14"/>
                    </a:cxn>
                    <a:cxn ang="0">
                      <a:pos x="3" y="14"/>
                    </a:cxn>
                    <a:cxn ang="0">
                      <a:pos x="4" y="14"/>
                    </a:cxn>
                    <a:cxn ang="0">
                      <a:pos x="5" y="14"/>
                    </a:cxn>
                    <a:cxn ang="0">
                      <a:pos x="7" y="14"/>
                    </a:cxn>
                    <a:cxn ang="0">
                      <a:pos x="10" y="14"/>
                    </a:cxn>
                    <a:cxn ang="0">
                      <a:pos x="11" y="15"/>
                    </a:cxn>
                    <a:cxn ang="0">
                      <a:pos x="13" y="15"/>
                    </a:cxn>
                    <a:cxn ang="0">
                      <a:pos x="14" y="15"/>
                    </a:cxn>
                    <a:cxn ang="0">
                      <a:pos x="17" y="15"/>
                    </a:cxn>
                    <a:cxn ang="0">
                      <a:pos x="18" y="15"/>
                    </a:cxn>
                    <a:cxn ang="0">
                      <a:pos x="19" y="15"/>
                    </a:cxn>
                    <a:cxn ang="0">
                      <a:pos x="20" y="15"/>
                    </a:cxn>
                    <a:cxn ang="0">
                      <a:pos x="21" y="15"/>
                    </a:cxn>
                  </a:cxnLst>
                  <a:rect l="0" t="0" r="r" b="b"/>
                  <a:pathLst>
                    <a:path w="28" h="16">
                      <a:moveTo>
                        <a:pt x="21" y="15"/>
                      </a:moveTo>
                      <a:lnTo>
                        <a:pt x="22" y="15"/>
                      </a:lnTo>
                      <a:lnTo>
                        <a:pt x="23" y="14"/>
                      </a:lnTo>
                      <a:lnTo>
                        <a:pt x="25" y="13"/>
                      </a:lnTo>
                      <a:lnTo>
                        <a:pt x="27" y="11"/>
                      </a:lnTo>
                      <a:lnTo>
                        <a:pt x="27" y="10"/>
                      </a:lnTo>
                      <a:lnTo>
                        <a:pt x="27" y="9"/>
                      </a:lnTo>
                      <a:lnTo>
                        <a:pt x="27" y="7"/>
                      </a:lnTo>
                      <a:lnTo>
                        <a:pt x="26" y="7"/>
                      </a:lnTo>
                      <a:lnTo>
                        <a:pt x="26" y="6"/>
                      </a:lnTo>
                      <a:lnTo>
                        <a:pt x="26" y="4"/>
                      </a:lnTo>
                      <a:lnTo>
                        <a:pt x="26" y="2"/>
                      </a:lnTo>
                      <a:lnTo>
                        <a:pt x="24" y="2"/>
                      </a:lnTo>
                      <a:lnTo>
                        <a:pt x="23" y="2"/>
                      </a:lnTo>
                      <a:lnTo>
                        <a:pt x="23" y="1"/>
                      </a:lnTo>
                      <a:lnTo>
                        <a:pt x="22" y="1"/>
                      </a:lnTo>
                      <a:lnTo>
                        <a:pt x="21" y="1"/>
                      </a:lnTo>
                      <a:lnTo>
                        <a:pt x="21" y="0"/>
                      </a:lnTo>
                      <a:lnTo>
                        <a:pt x="19" y="1"/>
                      </a:lnTo>
                      <a:lnTo>
                        <a:pt x="18" y="1"/>
                      </a:lnTo>
                      <a:lnTo>
                        <a:pt x="17" y="2"/>
                      </a:lnTo>
                      <a:lnTo>
                        <a:pt x="15" y="4"/>
                      </a:lnTo>
                      <a:lnTo>
                        <a:pt x="14" y="4"/>
                      </a:lnTo>
                      <a:lnTo>
                        <a:pt x="14" y="4"/>
                      </a:lnTo>
                      <a:lnTo>
                        <a:pt x="12" y="6"/>
                      </a:lnTo>
                      <a:lnTo>
                        <a:pt x="10" y="6"/>
                      </a:lnTo>
                      <a:lnTo>
                        <a:pt x="9" y="7"/>
                      </a:lnTo>
                      <a:lnTo>
                        <a:pt x="8" y="7"/>
                      </a:lnTo>
                      <a:lnTo>
                        <a:pt x="6" y="9"/>
                      </a:lnTo>
                      <a:lnTo>
                        <a:pt x="4" y="9"/>
                      </a:lnTo>
                      <a:lnTo>
                        <a:pt x="3" y="9"/>
                      </a:lnTo>
                      <a:lnTo>
                        <a:pt x="1" y="11"/>
                      </a:lnTo>
                      <a:lnTo>
                        <a:pt x="0" y="13"/>
                      </a:lnTo>
                      <a:lnTo>
                        <a:pt x="0" y="14"/>
                      </a:lnTo>
                      <a:lnTo>
                        <a:pt x="0" y="14"/>
                      </a:lnTo>
                      <a:lnTo>
                        <a:pt x="1" y="14"/>
                      </a:lnTo>
                      <a:lnTo>
                        <a:pt x="3" y="14"/>
                      </a:lnTo>
                      <a:lnTo>
                        <a:pt x="4" y="14"/>
                      </a:lnTo>
                      <a:lnTo>
                        <a:pt x="5" y="14"/>
                      </a:lnTo>
                      <a:lnTo>
                        <a:pt x="7" y="14"/>
                      </a:lnTo>
                      <a:lnTo>
                        <a:pt x="10" y="14"/>
                      </a:lnTo>
                      <a:lnTo>
                        <a:pt x="11" y="15"/>
                      </a:lnTo>
                      <a:lnTo>
                        <a:pt x="13" y="15"/>
                      </a:lnTo>
                      <a:lnTo>
                        <a:pt x="14" y="15"/>
                      </a:lnTo>
                      <a:lnTo>
                        <a:pt x="17" y="15"/>
                      </a:lnTo>
                      <a:lnTo>
                        <a:pt x="18" y="15"/>
                      </a:lnTo>
                      <a:lnTo>
                        <a:pt x="19" y="15"/>
                      </a:lnTo>
                      <a:lnTo>
                        <a:pt x="20" y="15"/>
                      </a:lnTo>
                      <a:lnTo>
                        <a:pt x="21" y="15"/>
                      </a:lnTo>
                    </a:path>
                  </a:pathLst>
                </a:custGeom>
                <a:solidFill>
                  <a:srgbClr val="11111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52" name="Freeform 20"/>
                <p:cNvSpPr>
                  <a:spLocks/>
                </p:cNvSpPr>
                <p:nvPr/>
              </p:nvSpPr>
              <p:spPr bwMode="auto">
                <a:xfrm>
                  <a:off x="1561" y="4078"/>
                  <a:ext cx="90" cy="48"/>
                </a:xfrm>
                <a:custGeom>
                  <a:avLst/>
                  <a:gdLst/>
                  <a:ahLst/>
                  <a:cxnLst>
                    <a:cxn ang="0">
                      <a:pos x="86" y="11"/>
                    </a:cxn>
                    <a:cxn ang="0">
                      <a:pos x="0" y="0"/>
                    </a:cxn>
                    <a:cxn ang="0">
                      <a:pos x="39" y="11"/>
                    </a:cxn>
                    <a:cxn ang="0">
                      <a:pos x="71" y="30"/>
                    </a:cxn>
                    <a:cxn ang="0">
                      <a:pos x="89" y="47"/>
                    </a:cxn>
                    <a:cxn ang="0">
                      <a:pos x="86" y="11"/>
                    </a:cxn>
                  </a:cxnLst>
                  <a:rect l="0" t="0" r="r" b="b"/>
                  <a:pathLst>
                    <a:path w="90" h="48">
                      <a:moveTo>
                        <a:pt x="86" y="11"/>
                      </a:moveTo>
                      <a:lnTo>
                        <a:pt x="0" y="0"/>
                      </a:lnTo>
                      <a:lnTo>
                        <a:pt x="39" y="11"/>
                      </a:lnTo>
                      <a:lnTo>
                        <a:pt x="71" y="30"/>
                      </a:lnTo>
                      <a:lnTo>
                        <a:pt x="89" y="47"/>
                      </a:lnTo>
                      <a:lnTo>
                        <a:pt x="86" y="11"/>
                      </a:lnTo>
                    </a:path>
                  </a:pathLst>
                </a:custGeom>
                <a:solidFill>
                  <a:srgbClr val="4C4C4C"/>
                </a:solidFill>
                <a:ln w="12700" cap="rnd" cmpd="sng">
                  <a:solidFill>
                    <a:srgbClr val="4C4C4C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53" name="Freeform 21"/>
                <p:cNvSpPr>
                  <a:spLocks/>
                </p:cNvSpPr>
                <p:nvPr/>
              </p:nvSpPr>
              <p:spPr bwMode="auto">
                <a:xfrm>
                  <a:off x="1583" y="4154"/>
                  <a:ext cx="99" cy="55"/>
                </a:xfrm>
                <a:custGeom>
                  <a:avLst/>
                  <a:gdLst/>
                  <a:ahLst/>
                  <a:cxnLst>
                    <a:cxn ang="0">
                      <a:pos x="85" y="18"/>
                    </a:cxn>
                    <a:cxn ang="0">
                      <a:pos x="0" y="0"/>
                    </a:cxn>
                    <a:cxn ang="0">
                      <a:pos x="64" y="31"/>
                    </a:cxn>
                    <a:cxn ang="0">
                      <a:pos x="91" y="54"/>
                    </a:cxn>
                    <a:cxn ang="0">
                      <a:pos x="98" y="32"/>
                    </a:cxn>
                    <a:cxn ang="0">
                      <a:pos x="85" y="18"/>
                    </a:cxn>
                  </a:cxnLst>
                  <a:rect l="0" t="0" r="r" b="b"/>
                  <a:pathLst>
                    <a:path w="99" h="55">
                      <a:moveTo>
                        <a:pt x="85" y="18"/>
                      </a:moveTo>
                      <a:lnTo>
                        <a:pt x="0" y="0"/>
                      </a:lnTo>
                      <a:lnTo>
                        <a:pt x="64" y="31"/>
                      </a:lnTo>
                      <a:lnTo>
                        <a:pt x="91" y="54"/>
                      </a:lnTo>
                      <a:lnTo>
                        <a:pt x="98" y="32"/>
                      </a:lnTo>
                      <a:lnTo>
                        <a:pt x="85" y="18"/>
                      </a:lnTo>
                    </a:path>
                  </a:pathLst>
                </a:custGeom>
                <a:solidFill>
                  <a:srgbClr val="4C4C4C"/>
                </a:solidFill>
                <a:ln w="12700" cap="rnd" cmpd="sng">
                  <a:solidFill>
                    <a:srgbClr val="4C4C4C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54" name="Freeform 22"/>
                <p:cNvSpPr>
                  <a:spLocks/>
                </p:cNvSpPr>
                <p:nvPr/>
              </p:nvSpPr>
              <p:spPr bwMode="auto">
                <a:xfrm>
                  <a:off x="1488" y="3970"/>
                  <a:ext cx="95" cy="84"/>
                </a:xfrm>
                <a:custGeom>
                  <a:avLst/>
                  <a:gdLst/>
                  <a:ahLst/>
                  <a:cxnLst>
                    <a:cxn ang="0">
                      <a:pos x="94" y="5"/>
                    </a:cxn>
                    <a:cxn ang="0">
                      <a:pos x="60" y="1"/>
                    </a:cxn>
                    <a:cxn ang="0">
                      <a:pos x="11" y="30"/>
                    </a:cxn>
                    <a:cxn ang="0">
                      <a:pos x="6" y="53"/>
                    </a:cxn>
                    <a:cxn ang="0">
                      <a:pos x="0" y="83"/>
                    </a:cxn>
                    <a:cxn ang="0">
                      <a:pos x="16" y="19"/>
                    </a:cxn>
                    <a:cxn ang="0">
                      <a:pos x="42" y="0"/>
                    </a:cxn>
                    <a:cxn ang="0">
                      <a:pos x="87" y="0"/>
                    </a:cxn>
                    <a:cxn ang="0">
                      <a:pos x="94" y="5"/>
                    </a:cxn>
                  </a:cxnLst>
                  <a:rect l="0" t="0" r="r" b="b"/>
                  <a:pathLst>
                    <a:path w="95" h="84">
                      <a:moveTo>
                        <a:pt x="94" y="5"/>
                      </a:moveTo>
                      <a:lnTo>
                        <a:pt x="60" y="1"/>
                      </a:lnTo>
                      <a:lnTo>
                        <a:pt x="11" y="30"/>
                      </a:lnTo>
                      <a:lnTo>
                        <a:pt x="6" y="53"/>
                      </a:lnTo>
                      <a:lnTo>
                        <a:pt x="0" y="83"/>
                      </a:lnTo>
                      <a:lnTo>
                        <a:pt x="16" y="19"/>
                      </a:lnTo>
                      <a:lnTo>
                        <a:pt x="42" y="0"/>
                      </a:lnTo>
                      <a:lnTo>
                        <a:pt x="87" y="0"/>
                      </a:lnTo>
                      <a:lnTo>
                        <a:pt x="94" y="5"/>
                      </a:lnTo>
                    </a:path>
                  </a:pathLst>
                </a:custGeom>
                <a:solidFill>
                  <a:srgbClr val="4C4C4C"/>
                </a:solidFill>
                <a:ln w="12700" cap="rnd" cmpd="sng">
                  <a:solidFill>
                    <a:srgbClr val="4C4C4C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55" name="Freeform 23"/>
                <p:cNvSpPr>
                  <a:spLocks/>
                </p:cNvSpPr>
                <p:nvPr/>
              </p:nvSpPr>
              <p:spPr bwMode="auto">
                <a:xfrm>
                  <a:off x="1627" y="3721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7"/>
                    </a:cxn>
                    <a:cxn ang="0">
                      <a:pos x="2" y="15"/>
                    </a:cxn>
                    <a:cxn ang="0">
                      <a:pos x="15" y="8"/>
                    </a:cxn>
                    <a:cxn ang="0">
                      <a:pos x="0" y="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16" h="16">
                      <a:moveTo>
                        <a:pt x="2" y="0"/>
                      </a:moveTo>
                      <a:lnTo>
                        <a:pt x="2" y="7"/>
                      </a:lnTo>
                      <a:lnTo>
                        <a:pt x="2" y="15"/>
                      </a:lnTo>
                      <a:lnTo>
                        <a:pt x="15" y="8"/>
                      </a:ln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353535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56" name="Freeform 24"/>
                <p:cNvSpPr>
                  <a:spLocks/>
                </p:cNvSpPr>
                <p:nvPr/>
              </p:nvSpPr>
              <p:spPr bwMode="auto">
                <a:xfrm>
                  <a:off x="1623" y="3837"/>
                  <a:ext cx="16" cy="23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8" y="0"/>
                    </a:cxn>
                    <a:cxn ang="0">
                      <a:pos x="9" y="0"/>
                    </a:cxn>
                    <a:cxn ang="0">
                      <a:pos x="8" y="1"/>
                    </a:cxn>
                    <a:cxn ang="0">
                      <a:pos x="8" y="1"/>
                    </a:cxn>
                    <a:cxn ang="0">
                      <a:pos x="6" y="2"/>
                    </a:cxn>
                    <a:cxn ang="0">
                      <a:pos x="5" y="4"/>
                    </a:cxn>
                    <a:cxn ang="0">
                      <a:pos x="4" y="5"/>
                    </a:cxn>
                    <a:cxn ang="0">
                      <a:pos x="2" y="6"/>
                    </a:cxn>
                    <a:cxn ang="0">
                      <a:pos x="1" y="8"/>
                    </a:cxn>
                    <a:cxn ang="0">
                      <a:pos x="0" y="9"/>
                    </a:cxn>
                    <a:cxn ang="0">
                      <a:pos x="0" y="10"/>
                    </a:cxn>
                    <a:cxn ang="0">
                      <a:pos x="0" y="11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15"/>
                    </a:cxn>
                    <a:cxn ang="0">
                      <a:pos x="0" y="16"/>
                    </a:cxn>
                    <a:cxn ang="0">
                      <a:pos x="2" y="16"/>
                    </a:cxn>
                    <a:cxn ang="0">
                      <a:pos x="2" y="17"/>
                    </a:cxn>
                    <a:cxn ang="0">
                      <a:pos x="2" y="18"/>
                    </a:cxn>
                    <a:cxn ang="0">
                      <a:pos x="3" y="18"/>
                    </a:cxn>
                    <a:cxn ang="0">
                      <a:pos x="3" y="20"/>
                    </a:cxn>
                    <a:cxn ang="0">
                      <a:pos x="5" y="20"/>
                    </a:cxn>
                    <a:cxn ang="0">
                      <a:pos x="5" y="22"/>
                    </a:cxn>
                    <a:cxn ang="0">
                      <a:pos x="6" y="20"/>
                    </a:cxn>
                    <a:cxn ang="0">
                      <a:pos x="6" y="18"/>
                    </a:cxn>
                    <a:cxn ang="0">
                      <a:pos x="8" y="17"/>
                    </a:cxn>
                    <a:cxn ang="0">
                      <a:pos x="6" y="17"/>
                    </a:cxn>
                    <a:cxn ang="0">
                      <a:pos x="6" y="17"/>
                    </a:cxn>
                    <a:cxn ang="0">
                      <a:pos x="6" y="15"/>
                    </a:cxn>
                    <a:cxn ang="0">
                      <a:pos x="6" y="13"/>
                    </a:cxn>
                    <a:cxn ang="0">
                      <a:pos x="8" y="11"/>
                    </a:cxn>
                    <a:cxn ang="0">
                      <a:pos x="8" y="10"/>
                    </a:cxn>
                    <a:cxn ang="0">
                      <a:pos x="9" y="10"/>
                    </a:cxn>
                    <a:cxn ang="0">
                      <a:pos x="11" y="8"/>
                    </a:cxn>
                    <a:cxn ang="0">
                      <a:pos x="13" y="6"/>
                    </a:cxn>
                    <a:cxn ang="0">
                      <a:pos x="14" y="6"/>
                    </a:cxn>
                    <a:cxn ang="0">
                      <a:pos x="15" y="5"/>
                    </a:cxn>
                    <a:cxn ang="0">
                      <a:pos x="14" y="5"/>
                    </a:cxn>
                    <a:cxn ang="0">
                      <a:pos x="14" y="4"/>
                    </a:cxn>
                    <a:cxn ang="0">
                      <a:pos x="14" y="2"/>
                    </a:cxn>
                    <a:cxn ang="0">
                      <a:pos x="12" y="2"/>
                    </a:cxn>
                    <a:cxn ang="0">
                      <a:pos x="12" y="1"/>
                    </a:cxn>
                    <a:cxn ang="0">
                      <a:pos x="12" y="0"/>
                    </a:cxn>
                    <a:cxn ang="0">
                      <a:pos x="10" y="0"/>
                    </a:cxn>
                    <a:cxn ang="0">
                      <a:pos x="8" y="0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6" h="23">
                      <a:moveTo>
                        <a:pt x="8" y="0"/>
                      </a:moveTo>
                      <a:lnTo>
                        <a:pt x="8" y="0"/>
                      </a:lnTo>
                      <a:lnTo>
                        <a:pt x="9" y="0"/>
                      </a:lnTo>
                      <a:lnTo>
                        <a:pt x="8" y="1"/>
                      </a:lnTo>
                      <a:lnTo>
                        <a:pt x="8" y="1"/>
                      </a:lnTo>
                      <a:lnTo>
                        <a:pt x="6" y="2"/>
                      </a:lnTo>
                      <a:lnTo>
                        <a:pt x="5" y="4"/>
                      </a:lnTo>
                      <a:lnTo>
                        <a:pt x="4" y="5"/>
                      </a:lnTo>
                      <a:lnTo>
                        <a:pt x="2" y="6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15"/>
                      </a:lnTo>
                      <a:lnTo>
                        <a:pt x="0" y="16"/>
                      </a:lnTo>
                      <a:lnTo>
                        <a:pt x="2" y="16"/>
                      </a:lnTo>
                      <a:lnTo>
                        <a:pt x="2" y="17"/>
                      </a:lnTo>
                      <a:lnTo>
                        <a:pt x="2" y="18"/>
                      </a:lnTo>
                      <a:lnTo>
                        <a:pt x="3" y="18"/>
                      </a:lnTo>
                      <a:lnTo>
                        <a:pt x="3" y="20"/>
                      </a:lnTo>
                      <a:lnTo>
                        <a:pt x="5" y="20"/>
                      </a:lnTo>
                      <a:lnTo>
                        <a:pt x="5" y="22"/>
                      </a:lnTo>
                      <a:lnTo>
                        <a:pt x="6" y="20"/>
                      </a:lnTo>
                      <a:lnTo>
                        <a:pt x="6" y="18"/>
                      </a:lnTo>
                      <a:lnTo>
                        <a:pt x="8" y="17"/>
                      </a:lnTo>
                      <a:lnTo>
                        <a:pt x="6" y="17"/>
                      </a:lnTo>
                      <a:lnTo>
                        <a:pt x="6" y="17"/>
                      </a:lnTo>
                      <a:lnTo>
                        <a:pt x="6" y="15"/>
                      </a:lnTo>
                      <a:lnTo>
                        <a:pt x="6" y="13"/>
                      </a:lnTo>
                      <a:lnTo>
                        <a:pt x="8" y="11"/>
                      </a:lnTo>
                      <a:lnTo>
                        <a:pt x="8" y="10"/>
                      </a:lnTo>
                      <a:lnTo>
                        <a:pt x="9" y="10"/>
                      </a:lnTo>
                      <a:lnTo>
                        <a:pt x="11" y="8"/>
                      </a:lnTo>
                      <a:lnTo>
                        <a:pt x="13" y="6"/>
                      </a:lnTo>
                      <a:lnTo>
                        <a:pt x="14" y="6"/>
                      </a:lnTo>
                      <a:lnTo>
                        <a:pt x="15" y="5"/>
                      </a:lnTo>
                      <a:lnTo>
                        <a:pt x="14" y="5"/>
                      </a:lnTo>
                      <a:lnTo>
                        <a:pt x="14" y="4"/>
                      </a:lnTo>
                      <a:lnTo>
                        <a:pt x="14" y="2"/>
                      </a:lnTo>
                      <a:lnTo>
                        <a:pt x="12" y="2"/>
                      </a:lnTo>
                      <a:lnTo>
                        <a:pt x="12" y="1"/>
                      </a:lnTo>
                      <a:lnTo>
                        <a:pt x="12" y="0"/>
                      </a:lnTo>
                      <a:lnTo>
                        <a:pt x="10" y="0"/>
                      </a:lnTo>
                      <a:lnTo>
                        <a:pt x="8" y="0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57" name="Freeform 25"/>
                <p:cNvSpPr>
                  <a:spLocks/>
                </p:cNvSpPr>
                <p:nvPr/>
              </p:nvSpPr>
              <p:spPr bwMode="auto">
                <a:xfrm>
                  <a:off x="1625" y="3839"/>
                  <a:ext cx="16" cy="28"/>
                </a:xfrm>
                <a:custGeom>
                  <a:avLst/>
                  <a:gdLst/>
                  <a:ahLst/>
                  <a:cxnLst>
                    <a:cxn ang="0">
                      <a:pos x="3" y="3"/>
                    </a:cxn>
                    <a:cxn ang="0">
                      <a:pos x="1" y="4"/>
                    </a:cxn>
                    <a:cxn ang="0">
                      <a:pos x="1" y="5"/>
                    </a:cxn>
                    <a:cxn ang="0">
                      <a:pos x="0" y="6"/>
                    </a:cxn>
                    <a:cxn ang="0">
                      <a:pos x="0" y="8"/>
                    </a:cxn>
                    <a:cxn ang="0">
                      <a:pos x="0" y="10"/>
                    </a:cxn>
                    <a:cxn ang="0">
                      <a:pos x="0" y="10"/>
                    </a:cxn>
                    <a:cxn ang="0">
                      <a:pos x="0" y="11"/>
                    </a:cxn>
                    <a:cxn ang="0">
                      <a:pos x="0" y="13"/>
                    </a:cxn>
                    <a:cxn ang="0">
                      <a:pos x="2" y="13"/>
                    </a:cxn>
                    <a:cxn ang="0">
                      <a:pos x="2" y="15"/>
                    </a:cxn>
                    <a:cxn ang="0">
                      <a:pos x="2" y="16"/>
                    </a:cxn>
                    <a:cxn ang="0">
                      <a:pos x="3" y="16"/>
                    </a:cxn>
                    <a:cxn ang="0">
                      <a:pos x="3" y="18"/>
                    </a:cxn>
                    <a:cxn ang="0">
                      <a:pos x="3" y="19"/>
                    </a:cxn>
                    <a:cxn ang="0">
                      <a:pos x="4" y="19"/>
                    </a:cxn>
                    <a:cxn ang="0">
                      <a:pos x="4" y="21"/>
                    </a:cxn>
                    <a:cxn ang="0">
                      <a:pos x="4" y="22"/>
                    </a:cxn>
                    <a:cxn ang="0">
                      <a:pos x="4" y="23"/>
                    </a:cxn>
                    <a:cxn ang="0">
                      <a:pos x="4" y="24"/>
                    </a:cxn>
                    <a:cxn ang="0">
                      <a:pos x="5" y="24"/>
                    </a:cxn>
                    <a:cxn ang="0">
                      <a:pos x="5" y="26"/>
                    </a:cxn>
                    <a:cxn ang="0">
                      <a:pos x="5" y="27"/>
                    </a:cxn>
                    <a:cxn ang="0">
                      <a:pos x="6" y="27"/>
                    </a:cxn>
                    <a:cxn ang="0">
                      <a:pos x="6" y="25"/>
                    </a:cxn>
                    <a:cxn ang="0">
                      <a:pos x="6" y="24"/>
                    </a:cxn>
                    <a:cxn ang="0">
                      <a:pos x="6" y="22"/>
                    </a:cxn>
                    <a:cxn ang="0">
                      <a:pos x="6" y="21"/>
                    </a:cxn>
                    <a:cxn ang="0">
                      <a:pos x="6" y="20"/>
                    </a:cxn>
                    <a:cxn ang="0">
                      <a:pos x="6" y="18"/>
                    </a:cxn>
                    <a:cxn ang="0">
                      <a:pos x="6" y="16"/>
                    </a:cxn>
                    <a:cxn ang="0">
                      <a:pos x="6" y="15"/>
                    </a:cxn>
                    <a:cxn ang="0">
                      <a:pos x="6" y="14"/>
                    </a:cxn>
                    <a:cxn ang="0">
                      <a:pos x="6" y="12"/>
                    </a:cxn>
                    <a:cxn ang="0">
                      <a:pos x="6" y="11"/>
                    </a:cxn>
                    <a:cxn ang="0">
                      <a:pos x="6" y="10"/>
                    </a:cxn>
                    <a:cxn ang="0">
                      <a:pos x="7" y="8"/>
                    </a:cxn>
                    <a:cxn ang="0">
                      <a:pos x="8" y="6"/>
                    </a:cxn>
                    <a:cxn ang="0">
                      <a:pos x="9" y="6"/>
                    </a:cxn>
                    <a:cxn ang="0">
                      <a:pos x="11" y="5"/>
                    </a:cxn>
                    <a:cxn ang="0">
                      <a:pos x="13" y="4"/>
                    </a:cxn>
                    <a:cxn ang="0">
                      <a:pos x="14" y="4"/>
                    </a:cxn>
                    <a:cxn ang="0">
                      <a:pos x="15" y="2"/>
                    </a:cxn>
                    <a:cxn ang="0">
                      <a:pos x="14" y="2"/>
                    </a:cxn>
                    <a:cxn ang="0">
                      <a:pos x="13" y="2"/>
                    </a:cxn>
                    <a:cxn ang="0">
                      <a:pos x="13" y="1"/>
                    </a:cxn>
                    <a:cxn ang="0">
                      <a:pos x="11" y="1"/>
                    </a:cxn>
                    <a:cxn ang="0">
                      <a:pos x="11" y="0"/>
                    </a:cxn>
                    <a:cxn ang="0">
                      <a:pos x="9" y="0"/>
                    </a:cxn>
                    <a:cxn ang="0">
                      <a:pos x="8" y="0"/>
                    </a:cxn>
                    <a:cxn ang="0">
                      <a:pos x="6" y="0"/>
                    </a:cxn>
                    <a:cxn ang="0">
                      <a:pos x="4" y="1"/>
                    </a:cxn>
                    <a:cxn ang="0">
                      <a:pos x="3" y="3"/>
                    </a:cxn>
                  </a:cxnLst>
                  <a:rect l="0" t="0" r="r" b="b"/>
                  <a:pathLst>
                    <a:path w="16" h="28">
                      <a:moveTo>
                        <a:pt x="3" y="3"/>
                      </a:moveTo>
                      <a:lnTo>
                        <a:pt x="1" y="4"/>
                      </a:lnTo>
                      <a:lnTo>
                        <a:pt x="1" y="5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3"/>
                      </a:lnTo>
                      <a:lnTo>
                        <a:pt x="2" y="13"/>
                      </a:lnTo>
                      <a:lnTo>
                        <a:pt x="2" y="15"/>
                      </a:lnTo>
                      <a:lnTo>
                        <a:pt x="2" y="16"/>
                      </a:lnTo>
                      <a:lnTo>
                        <a:pt x="3" y="16"/>
                      </a:lnTo>
                      <a:lnTo>
                        <a:pt x="3" y="18"/>
                      </a:lnTo>
                      <a:lnTo>
                        <a:pt x="3" y="19"/>
                      </a:lnTo>
                      <a:lnTo>
                        <a:pt x="4" y="19"/>
                      </a:lnTo>
                      <a:lnTo>
                        <a:pt x="4" y="21"/>
                      </a:lnTo>
                      <a:lnTo>
                        <a:pt x="4" y="22"/>
                      </a:lnTo>
                      <a:lnTo>
                        <a:pt x="4" y="23"/>
                      </a:lnTo>
                      <a:lnTo>
                        <a:pt x="4" y="24"/>
                      </a:lnTo>
                      <a:lnTo>
                        <a:pt x="5" y="24"/>
                      </a:lnTo>
                      <a:lnTo>
                        <a:pt x="5" y="26"/>
                      </a:lnTo>
                      <a:lnTo>
                        <a:pt x="5" y="27"/>
                      </a:lnTo>
                      <a:lnTo>
                        <a:pt x="6" y="27"/>
                      </a:lnTo>
                      <a:lnTo>
                        <a:pt x="6" y="25"/>
                      </a:lnTo>
                      <a:lnTo>
                        <a:pt x="6" y="24"/>
                      </a:lnTo>
                      <a:lnTo>
                        <a:pt x="6" y="22"/>
                      </a:lnTo>
                      <a:lnTo>
                        <a:pt x="6" y="21"/>
                      </a:lnTo>
                      <a:lnTo>
                        <a:pt x="6" y="20"/>
                      </a:lnTo>
                      <a:lnTo>
                        <a:pt x="6" y="18"/>
                      </a:lnTo>
                      <a:lnTo>
                        <a:pt x="6" y="16"/>
                      </a:lnTo>
                      <a:lnTo>
                        <a:pt x="6" y="15"/>
                      </a:lnTo>
                      <a:lnTo>
                        <a:pt x="6" y="14"/>
                      </a:lnTo>
                      <a:lnTo>
                        <a:pt x="6" y="12"/>
                      </a:lnTo>
                      <a:lnTo>
                        <a:pt x="6" y="11"/>
                      </a:lnTo>
                      <a:lnTo>
                        <a:pt x="6" y="10"/>
                      </a:lnTo>
                      <a:lnTo>
                        <a:pt x="7" y="8"/>
                      </a:lnTo>
                      <a:lnTo>
                        <a:pt x="8" y="6"/>
                      </a:lnTo>
                      <a:lnTo>
                        <a:pt x="9" y="6"/>
                      </a:lnTo>
                      <a:lnTo>
                        <a:pt x="11" y="5"/>
                      </a:lnTo>
                      <a:lnTo>
                        <a:pt x="13" y="4"/>
                      </a:lnTo>
                      <a:lnTo>
                        <a:pt x="14" y="4"/>
                      </a:lnTo>
                      <a:lnTo>
                        <a:pt x="15" y="2"/>
                      </a:lnTo>
                      <a:lnTo>
                        <a:pt x="14" y="2"/>
                      </a:lnTo>
                      <a:lnTo>
                        <a:pt x="13" y="2"/>
                      </a:lnTo>
                      <a:lnTo>
                        <a:pt x="13" y="1"/>
                      </a:lnTo>
                      <a:lnTo>
                        <a:pt x="11" y="1"/>
                      </a:lnTo>
                      <a:lnTo>
                        <a:pt x="11" y="0"/>
                      </a:lnTo>
                      <a:lnTo>
                        <a:pt x="9" y="0"/>
                      </a:lnTo>
                      <a:lnTo>
                        <a:pt x="8" y="0"/>
                      </a:lnTo>
                      <a:lnTo>
                        <a:pt x="6" y="0"/>
                      </a:lnTo>
                      <a:lnTo>
                        <a:pt x="4" y="1"/>
                      </a:lnTo>
                      <a:lnTo>
                        <a:pt x="3" y="3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58" name="Freeform 26"/>
                <p:cNvSpPr>
                  <a:spLocks/>
                </p:cNvSpPr>
                <p:nvPr/>
              </p:nvSpPr>
              <p:spPr bwMode="auto">
                <a:xfrm>
                  <a:off x="1524" y="3722"/>
                  <a:ext cx="21" cy="21"/>
                </a:xfrm>
                <a:custGeom>
                  <a:avLst/>
                  <a:gdLst/>
                  <a:ahLst/>
                  <a:cxnLst>
                    <a:cxn ang="0">
                      <a:pos x="20" y="10"/>
                    </a:cxn>
                    <a:cxn ang="0">
                      <a:pos x="20" y="8"/>
                    </a:cxn>
                    <a:cxn ang="0">
                      <a:pos x="18" y="8"/>
                    </a:cxn>
                    <a:cxn ang="0">
                      <a:pos x="16" y="8"/>
                    </a:cxn>
                    <a:cxn ang="0">
                      <a:pos x="16" y="7"/>
                    </a:cxn>
                    <a:cxn ang="0">
                      <a:pos x="15" y="7"/>
                    </a:cxn>
                    <a:cxn ang="0">
                      <a:pos x="14" y="7"/>
                    </a:cxn>
                    <a:cxn ang="0">
                      <a:pos x="14" y="6"/>
                    </a:cxn>
                    <a:cxn ang="0">
                      <a:pos x="13" y="6"/>
                    </a:cxn>
                    <a:cxn ang="0">
                      <a:pos x="12" y="6"/>
                    </a:cxn>
                    <a:cxn ang="0">
                      <a:pos x="12" y="4"/>
                    </a:cxn>
                    <a:cxn ang="0">
                      <a:pos x="10" y="4"/>
                    </a:cxn>
                    <a:cxn ang="0">
                      <a:pos x="10" y="3"/>
                    </a:cxn>
                    <a:cxn ang="0">
                      <a:pos x="8" y="3"/>
                    </a:cxn>
                    <a:cxn ang="0">
                      <a:pos x="7" y="3"/>
                    </a:cxn>
                    <a:cxn ang="0">
                      <a:pos x="6" y="3"/>
                    </a:cxn>
                    <a:cxn ang="0">
                      <a:pos x="4" y="4"/>
                    </a:cxn>
                    <a:cxn ang="0">
                      <a:pos x="2" y="4"/>
                    </a:cxn>
                    <a:cxn ang="0">
                      <a:pos x="1" y="4"/>
                    </a:cxn>
                    <a:cxn ang="0">
                      <a:pos x="0" y="6"/>
                    </a:cxn>
                    <a:cxn ang="0">
                      <a:pos x="0" y="7"/>
                    </a:cxn>
                    <a:cxn ang="0">
                      <a:pos x="0" y="8"/>
                    </a:cxn>
                    <a:cxn ang="0">
                      <a:pos x="0" y="9"/>
                    </a:cxn>
                    <a:cxn ang="0">
                      <a:pos x="0" y="11"/>
                    </a:cxn>
                    <a:cxn ang="0">
                      <a:pos x="0" y="13"/>
                    </a:cxn>
                    <a:cxn ang="0">
                      <a:pos x="0" y="14"/>
                    </a:cxn>
                    <a:cxn ang="0">
                      <a:pos x="0" y="15"/>
                    </a:cxn>
                    <a:cxn ang="0">
                      <a:pos x="0" y="17"/>
                    </a:cxn>
                    <a:cxn ang="0">
                      <a:pos x="0" y="19"/>
                    </a:cxn>
                    <a:cxn ang="0">
                      <a:pos x="0" y="20"/>
                    </a:cxn>
                    <a:cxn ang="0">
                      <a:pos x="0" y="20"/>
                    </a:cxn>
                    <a:cxn ang="0">
                      <a:pos x="0" y="18"/>
                    </a:cxn>
                    <a:cxn ang="0">
                      <a:pos x="0" y="17"/>
                    </a:cxn>
                    <a:cxn ang="0">
                      <a:pos x="0" y="15"/>
                    </a:cxn>
                    <a:cxn ang="0">
                      <a:pos x="0" y="14"/>
                    </a:cxn>
                    <a:cxn ang="0">
                      <a:pos x="0" y="13"/>
                    </a:cxn>
                    <a:cxn ang="0">
                      <a:pos x="0" y="12"/>
                    </a:cxn>
                    <a:cxn ang="0">
                      <a:pos x="0" y="10"/>
                    </a:cxn>
                    <a:cxn ang="0">
                      <a:pos x="0" y="8"/>
                    </a:cxn>
                    <a:cxn ang="0">
                      <a:pos x="0" y="7"/>
                    </a:cxn>
                    <a:cxn ang="0">
                      <a:pos x="0" y="6"/>
                    </a:cxn>
                    <a:cxn ang="0">
                      <a:pos x="2" y="4"/>
                    </a:cxn>
                    <a:cxn ang="0">
                      <a:pos x="2" y="2"/>
                    </a:cxn>
                    <a:cxn ang="0">
                      <a:pos x="4" y="0"/>
                    </a:cxn>
                    <a:cxn ang="0">
                      <a:pos x="5" y="0"/>
                    </a:cxn>
                    <a:cxn ang="0">
                      <a:pos x="6" y="0"/>
                    </a:cxn>
                    <a:cxn ang="0">
                      <a:pos x="7" y="0"/>
                    </a:cxn>
                    <a:cxn ang="0">
                      <a:pos x="8" y="0"/>
                    </a:cxn>
                    <a:cxn ang="0">
                      <a:pos x="10" y="0"/>
                    </a:cxn>
                    <a:cxn ang="0">
                      <a:pos x="11" y="0"/>
                    </a:cxn>
                    <a:cxn ang="0">
                      <a:pos x="13" y="0"/>
                    </a:cxn>
                    <a:cxn ang="0">
                      <a:pos x="13" y="1"/>
                    </a:cxn>
                    <a:cxn ang="0">
                      <a:pos x="14" y="1"/>
                    </a:cxn>
                    <a:cxn ang="0">
                      <a:pos x="14" y="3"/>
                    </a:cxn>
                    <a:cxn ang="0">
                      <a:pos x="14" y="4"/>
                    </a:cxn>
                    <a:cxn ang="0">
                      <a:pos x="16" y="4"/>
                    </a:cxn>
                    <a:cxn ang="0">
                      <a:pos x="16" y="6"/>
                    </a:cxn>
                    <a:cxn ang="0">
                      <a:pos x="16" y="7"/>
                    </a:cxn>
                    <a:cxn ang="0">
                      <a:pos x="18" y="7"/>
                    </a:cxn>
                    <a:cxn ang="0">
                      <a:pos x="18" y="8"/>
                    </a:cxn>
                    <a:cxn ang="0">
                      <a:pos x="20" y="8"/>
                    </a:cxn>
                    <a:cxn ang="0">
                      <a:pos x="20" y="10"/>
                    </a:cxn>
                  </a:cxnLst>
                  <a:rect l="0" t="0" r="r" b="b"/>
                  <a:pathLst>
                    <a:path w="21" h="21">
                      <a:moveTo>
                        <a:pt x="20" y="10"/>
                      </a:moveTo>
                      <a:lnTo>
                        <a:pt x="20" y="8"/>
                      </a:lnTo>
                      <a:lnTo>
                        <a:pt x="18" y="8"/>
                      </a:lnTo>
                      <a:lnTo>
                        <a:pt x="16" y="8"/>
                      </a:lnTo>
                      <a:lnTo>
                        <a:pt x="16" y="7"/>
                      </a:lnTo>
                      <a:lnTo>
                        <a:pt x="15" y="7"/>
                      </a:lnTo>
                      <a:lnTo>
                        <a:pt x="14" y="7"/>
                      </a:lnTo>
                      <a:lnTo>
                        <a:pt x="14" y="6"/>
                      </a:lnTo>
                      <a:lnTo>
                        <a:pt x="13" y="6"/>
                      </a:lnTo>
                      <a:lnTo>
                        <a:pt x="12" y="6"/>
                      </a:lnTo>
                      <a:lnTo>
                        <a:pt x="12" y="4"/>
                      </a:lnTo>
                      <a:lnTo>
                        <a:pt x="10" y="4"/>
                      </a:lnTo>
                      <a:lnTo>
                        <a:pt x="10" y="3"/>
                      </a:lnTo>
                      <a:lnTo>
                        <a:pt x="8" y="3"/>
                      </a:lnTo>
                      <a:lnTo>
                        <a:pt x="7" y="3"/>
                      </a:lnTo>
                      <a:lnTo>
                        <a:pt x="6" y="3"/>
                      </a:lnTo>
                      <a:lnTo>
                        <a:pt x="4" y="4"/>
                      </a:lnTo>
                      <a:lnTo>
                        <a:pt x="2" y="4"/>
                      </a:lnTo>
                      <a:lnTo>
                        <a:pt x="1" y="4"/>
                      </a:lnTo>
                      <a:lnTo>
                        <a:pt x="0" y="6"/>
                      </a:lnTo>
                      <a:lnTo>
                        <a:pt x="0" y="7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0" y="11"/>
                      </a:lnTo>
                      <a:lnTo>
                        <a:pt x="0" y="13"/>
                      </a:lnTo>
                      <a:lnTo>
                        <a:pt x="0" y="14"/>
                      </a:lnTo>
                      <a:lnTo>
                        <a:pt x="0" y="15"/>
                      </a:lnTo>
                      <a:lnTo>
                        <a:pt x="0" y="17"/>
                      </a:lnTo>
                      <a:lnTo>
                        <a:pt x="0" y="19"/>
                      </a:lnTo>
                      <a:lnTo>
                        <a:pt x="0" y="20"/>
                      </a:lnTo>
                      <a:lnTo>
                        <a:pt x="0" y="20"/>
                      </a:lnTo>
                      <a:lnTo>
                        <a:pt x="0" y="18"/>
                      </a:lnTo>
                      <a:lnTo>
                        <a:pt x="0" y="17"/>
                      </a:lnTo>
                      <a:lnTo>
                        <a:pt x="0" y="15"/>
                      </a:lnTo>
                      <a:lnTo>
                        <a:pt x="0" y="14"/>
                      </a:lnTo>
                      <a:lnTo>
                        <a:pt x="0" y="13"/>
                      </a:lnTo>
                      <a:lnTo>
                        <a:pt x="0" y="12"/>
                      </a:lnTo>
                      <a:lnTo>
                        <a:pt x="0" y="10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6" y="0"/>
                      </a:lnTo>
                      <a:lnTo>
                        <a:pt x="7" y="0"/>
                      </a:lnTo>
                      <a:lnTo>
                        <a:pt x="8" y="0"/>
                      </a:lnTo>
                      <a:lnTo>
                        <a:pt x="10" y="0"/>
                      </a:lnTo>
                      <a:lnTo>
                        <a:pt x="11" y="0"/>
                      </a:lnTo>
                      <a:lnTo>
                        <a:pt x="13" y="0"/>
                      </a:lnTo>
                      <a:lnTo>
                        <a:pt x="13" y="1"/>
                      </a:lnTo>
                      <a:lnTo>
                        <a:pt x="14" y="1"/>
                      </a:lnTo>
                      <a:lnTo>
                        <a:pt x="14" y="3"/>
                      </a:lnTo>
                      <a:lnTo>
                        <a:pt x="14" y="4"/>
                      </a:lnTo>
                      <a:lnTo>
                        <a:pt x="16" y="4"/>
                      </a:lnTo>
                      <a:lnTo>
                        <a:pt x="16" y="6"/>
                      </a:lnTo>
                      <a:lnTo>
                        <a:pt x="16" y="7"/>
                      </a:lnTo>
                      <a:lnTo>
                        <a:pt x="18" y="7"/>
                      </a:lnTo>
                      <a:lnTo>
                        <a:pt x="18" y="8"/>
                      </a:lnTo>
                      <a:lnTo>
                        <a:pt x="20" y="8"/>
                      </a:lnTo>
                      <a:lnTo>
                        <a:pt x="20" y="10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59" name="Freeform 27"/>
                <p:cNvSpPr>
                  <a:spLocks/>
                </p:cNvSpPr>
                <p:nvPr/>
              </p:nvSpPr>
              <p:spPr bwMode="auto">
                <a:xfrm>
                  <a:off x="1598" y="3694"/>
                  <a:ext cx="38" cy="16"/>
                </a:xfrm>
                <a:custGeom>
                  <a:avLst/>
                  <a:gdLst/>
                  <a:ahLst/>
                  <a:cxnLst>
                    <a:cxn ang="0">
                      <a:pos x="37" y="0"/>
                    </a:cxn>
                    <a:cxn ang="0">
                      <a:pos x="35" y="8"/>
                    </a:cxn>
                    <a:cxn ang="0">
                      <a:pos x="29" y="4"/>
                    </a:cxn>
                    <a:cxn ang="0">
                      <a:pos x="15" y="5"/>
                    </a:cxn>
                    <a:cxn ang="0">
                      <a:pos x="0" y="15"/>
                    </a:cxn>
                    <a:cxn ang="0">
                      <a:pos x="17" y="0"/>
                    </a:cxn>
                    <a:cxn ang="0">
                      <a:pos x="37" y="0"/>
                    </a:cxn>
                  </a:cxnLst>
                  <a:rect l="0" t="0" r="r" b="b"/>
                  <a:pathLst>
                    <a:path w="38" h="16">
                      <a:moveTo>
                        <a:pt x="37" y="0"/>
                      </a:moveTo>
                      <a:lnTo>
                        <a:pt x="35" y="8"/>
                      </a:lnTo>
                      <a:lnTo>
                        <a:pt x="29" y="4"/>
                      </a:lnTo>
                      <a:lnTo>
                        <a:pt x="15" y="5"/>
                      </a:lnTo>
                      <a:lnTo>
                        <a:pt x="0" y="15"/>
                      </a:lnTo>
                      <a:lnTo>
                        <a:pt x="17" y="0"/>
                      </a:lnTo>
                      <a:lnTo>
                        <a:pt x="37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60" name="Freeform 28"/>
                <p:cNvSpPr>
                  <a:spLocks/>
                </p:cNvSpPr>
                <p:nvPr/>
              </p:nvSpPr>
              <p:spPr bwMode="auto">
                <a:xfrm>
                  <a:off x="1400" y="3853"/>
                  <a:ext cx="187" cy="123"/>
                </a:xfrm>
                <a:custGeom>
                  <a:avLst/>
                  <a:gdLst/>
                  <a:ahLst/>
                  <a:cxnLst>
                    <a:cxn ang="0">
                      <a:pos x="16" y="3"/>
                    </a:cxn>
                    <a:cxn ang="0">
                      <a:pos x="0" y="48"/>
                    </a:cxn>
                    <a:cxn ang="0">
                      <a:pos x="22" y="60"/>
                    </a:cxn>
                    <a:cxn ang="0">
                      <a:pos x="70" y="76"/>
                    </a:cxn>
                    <a:cxn ang="0">
                      <a:pos x="102" y="86"/>
                    </a:cxn>
                    <a:cxn ang="0">
                      <a:pos x="131" y="98"/>
                    </a:cxn>
                    <a:cxn ang="0">
                      <a:pos x="160" y="108"/>
                    </a:cxn>
                    <a:cxn ang="0">
                      <a:pos x="179" y="118"/>
                    </a:cxn>
                    <a:cxn ang="0">
                      <a:pos x="186" y="122"/>
                    </a:cxn>
                    <a:cxn ang="0">
                      <a:pos x="169" y="89"/>
                    </a:cxn>
                    <a:cxn ang="0">
                      <a:pos x="144" y="66"/>
                    </a:cxn>
                    <a:cxn ang="0">
                      <a:pos x="124" y="53"/>
                    </a:cxn>
                    <a:cxn ang="0">
                      <a:pos x="85" y="33"/>
                    </a:cxn>
                    <a:cxn ang="0">
                      <a:pos x="50" y="15"/>
                    </a:cxn>
                    <a:cxn ang="0">
                      <a:pos x="22" y="2"/>
                    </a:cxn>
                    <a:cxn ang="0">
                      <a:pos x="17" y="0"/>
                    </a:cxn>
                    <a:cxn ang="0">
                      <a:pos x="16" y="3"/>
                    </a:cxn>
                  </a:cxnLst>
                  <a:rect l="0" t="0" r="r" b="b"/>
                  <a:pathLst>
                    <a:path w="187" h="123">
                      <a:moveTo>
                        <a:pt x="16" y="3"/>
                      </a:moveTo>
                      <a:lnTo>
                        <a:pt x="0" y="48"/>
                      </a:lnTo>
                      <a:lnTo>
                        <a:pt x="22" y="60"/>
                      </a:lnTo>
                      <a:lnTo>
                        <a:pt x="70" y="76"/>
                      </a:lnTo>
                      <a:lnTo>
                        <a:pt x="102" y="86"/>
                      </a:lnTo>
                      <a:lnTo>
                        <a:pt x="131" y="98"/>
                      </a:lnTo>
                      <a:lnTo>
                        <a:pt x="160" y="108"/>
                      </a:lnTo>
                      <a:lnTo>
                        <a:pt x="179" y="118"/>
                      </a:lnTo>
                      <a:lnTo>
                        <a:pt x="186" y="122"/>
                      </a:lnTo>
                      <a:lnTo>
                        <a:pt x="169" y="89"/>
                      </a:lnTo>
                      <a:lnTo>
                        <a:pt x="144" y="66"/>
                      </a:lnTo>
                      <a:lnTo>
                        <a:pt x="124" y="53"/>
                      </a:lnTo>
                      <a:lnTo>
                        <a:pt x="85" y="33"/>
                      </a:lnTo>
                      <a:lnTo>
                        <a:pt x="50" y="15"/>
                      </a:lnTo>
                      <a:lnTo>
                        <a:pt x="22" y="2"/>
                      </a:lnTo>
                      <a:lnTo>
                        <a:pt x="17" y="0"/>
                      </a:lnTo>
                      <a:lnTo>
                        <a:pt x="16" y="3"/>
                      </a:lnTo>
                    </a:path>
                  </a:pathLst>
                </a:custGeom>
                <a:solidFill>
                  <a:srgbClr val="262626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61" name="Freeform 29"/>
                <p:cNvSpPr>
                  <a:spLocks/>
                </p:cNvSpPr>
                <p:nvPr/>
              </p:nvSpPr>
              <p:spPr bwMode="auto">
                <a:xfrm>
                  <a:off x="1418" y="3826"/>
                  <a:ext cx="154" cy="118"/>
                </a:xfrm>
                <a:custGeom>
                  <a:avLst/>
                  <a:gdLst/>
                  <a:ahLst/>
                  <a:cxnLst>
                    <a:cxn ang="0">
                      <a:pos x="9" y="0"/>
                    </a:cxn>
                    <a:cxn ang="0">
                      <a:pos x="0" y="28"/>
                    </a:cxn>
                    <a:cxn ang="0">
                      <a:pos x="1" y="30"/>
                    </a:cxn>
                    <a:cxn ang="0">
                      <a:pos x="128" y="98"/>
                    </a:cxn>
                    <a:cxn ang="0">
                      <a:pos x="153" y="117"/>
                    </a:cxn>
                    <a:cxn ang="0">
                      <a:pos x="144" y="87"/>
                    </a:cxn>
                    <a:cxn ang="0">
                      <a:pos x="113" y="59"/>
                    </a:cxn>
                    <a:cxn ang="0">
                      <a:pos x="81" y="33"/>
                    </a:cxn>
                    <a:cxn ang="0">
                      <a:pos x="47" y="13"/>
                    </a:cxn>
                    <a:cxn ang="0">
                      <a:pos x="15" y="1"/>
                    </a:cxn>
                    <a:cxn ang="0">
                      <a:pos x="9" y="0"/>
                    </a:cxn>
                  </a:cxnLst>
                  <a:rect l="0" t="0" r="r" b="b"/>
                  <a:pathLst>
                    <a:path w="154" h="118">
                      <a:moveTo>
                        <a:pt x="9" y="0"/>
                      </a:moveTo>
                      <a:lnTo>
                        <a:pt x="0" y="28"/>
                      </a:lnTo>
                      <a:lnTo>
                        <a:pt x="1" y="30"/>
                      </a:lnTo>
                      <a:lnTo>
                        <a:pt x="128" y="98"/>
                      </a:lnTo>
                      <a:lnTo>
                        <a:pt x="153" y="117"/>
                      </a:lnTo>
                      <a:lnTo>
                        <a:pt x="144" y="87"/>
                      </a:lnTo>
                      <a:lnTo>
                        <a:pt x="113" y="59"/>
                      </a:lnTo>
                      <a:lnTo>
                        <a:pt x="81" y="33"/>
                      </a:lnTo>
                      <a:lnTo>
                        <a:pt x="47" y="13"/>
                      </a:lnTo>
                      <a:lnTo>
                        <a:pt x="15" y="1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80808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9662" name="Group 30"/>
              <p:cNvGrpSpPr>
                <a:grpSpLocks/>
              </p:cNvGrpSpPr>
              <p:nvPr/>
            </p:nvGrpSpPr>
            <p:grpSpPr bwMode="auto">
              <a:xfrm>
                <a:off x="1839" y="3579"/>
                <a:ext cx="513" cy="632"/>
                <a:chOff x="1839" y="3579"/>
                <a:chExt cx="513" cy="632"/>
              </a:xfrm>
            </p:grpSpPr>
            <p:sp>
              <p:nvSpPr>
                <p:cNvPr id="69663" name="Freeform 31"/>
                <p:cNvSpPr>
                  <a:spLocks/>
                </p:cNvSpPr>
                <p:nvPr/>
              </p:nvSpPr>
              <p:spPr bwMode="auto">
                <a:xfrm>
                  <a:off x="2171" y="3941"/>
                  <a:ext cx="181" cy="270"/>
                </a:xfrm>
                <a:custGeom>
                  <a:avLst/>
                  <a:gdLst/>
                  <a:ahLst/>
                  <a:cxnLst>
                    <a:cxn ang="0">
                      <a:pos x="90" y="269"/>
                    </a:cxn>
                    <a:cxn ang="0">
                      <a:pos x="180" y="11"/>
                    </a:cxn>
                    <a:cxn ang="0">
                      <a:pos x="84" y="0"/>
                    </a:cxn>
                    <a:cxn ang="0">
                      <a:pos x="0" y="244"/>
                    </a:cxn>
                    <a:cxn ang="0">
                      <a:pos x="90" y="269"/>
                    </a:cxn>
                  </a:cxnLst>
                  <a:rect l="0" t="0" r="r" b="b"/>
                  <a:pathLst>
                    <a:path w="181" h="270">
                      <a:moveTo>
                        <a:pt x="90" y="269"/>
                      </a:moveTo>
                      <a:lnTo>
                        <a:pt x="180" y="11"/>
                      </a:lnTo>
                      <a:lnTo>
                        <a:pt x="84" y="0"/>
                      </a:lnTo>
                      <a:lnTo>
                        <a:pt x="0" y="244"/>
                      </a:lnTo>
                      <a:lnTo>
                        <a:pt x="90" y="269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72727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64" name="Freeform 32"/>
                <p:cNvSpPr>
                  <a:spLocks/>
                </p:cNvSpPr>
                <p:nvPr/>
              </p:nvSpPr>
              <p:spPr bwMode="auto">
                <a:xfrm>
                  <a:off x="2213" y="4046"/>
                  <a:ext cx="110" cy="130"/>
                </a:xfrm>
                <a:custGeom>
                  <a:avLst/>
                  <a:gdLst/>
                  <a:ahLst/>
                  <a:cxnLst>
                    <a:cxn ang="0">
                      <a:pos x="0" y="90"/>
                    </a:cxn>
                    <a:cxn ang="0">
                      <a:pos x="15" y="107"/>
                    </a:cxn>
                    <a:cxn ang="0">
                      <a:pos x="23" y="129"/>
                    </a:cxn>
                    <a:cxn ang="0">
                      <a:pos x="28" y="124"/>
                    </a:cxn>
                    <a:cxn ang="0">
                      <a:pos x="32" y="122"/>
                    </a:cxn>
                    <a:cxn ang="0">
                      <a:pos x="37" y="121"/>
                    </a:cxn>
                    <a:cxn ang="0">
                      <a:pos x="44" y="119"/>
                    </a:cxn>
                    <a:cxn ang="0">
                      <a:pos x="49" y="119"/>
                    </a:cxn>
                    <a:cxn ang="0">
                      <a:pos x="61" y="116"/>
                    </a:cxn>
                    <a:cxn ang="0">
                      <a:pos x="68" y="112"/>
                    </a:cxn>
                    <a:cxn ang="0">
                      <a:pos x="75" y="106"/>
                    </a:cxn>
                    <a:cxn ang="0">
                      <a:pos x="81" y="102"/>
                    </a:cxn>
                    <a:cxn ang="0">
                      <a:pos x="89" y="95"/>
                    </a:cxn>
                    <a:cxn ang="0">
                      <a:pos x="96" y="83"/>
                    </a:cxn>
                    <a:cxn ang="0">
                      <a:pos x="99" y="77"/>
                    </a:cxn>
                    <a:cxn ang="0">
                      <a:pos x="102" y="71"/>
                    </a:cxn>
                    <a:cxn ang="0">
                      <a:pos x="104" y="64"/>
                    </a:cxn>
                    <a:cxn ang="0">
                      <a:pos x="104" y="54"/>
                    </a:cxn>
                    <a:cxn ang="0">
                      <a:pos x="105" y="50"/>
                    </a:cxn>
                    <a:cxn ang="0">
                      <a:pos x="107" y="44"/>
                    </a:cxn>
                    <a:cxn ang="0">
                      <a:pos x="109" y="34"/>
                    </a:cxn>
                    <a:cxn ang="0">
                      <a:pos x="109" y="26"/>
                    </a:cxn>
                    <a:cxn ang="0">
                      <a:pos x="109" y="16"/>
                    </a:cxn>
                    <a:cxn ang="0">
                      <a:pos x="107" y="10"/>
                    </a:cxn>
                    <a:cxn ang="0">
                      <a:pos x="107" y="3"/>
                    </a:cxn>
                    <a:cxn ang="0">
                      <a:pos x="105" y="0"/>
                    </a:cxn>
                    <a:cxn ang="0">
                      <a:pos x="104" y="5"/>
                    </a:cxn>
                    <a:cxn ang="0">
                      <a:pos x="100" y="11"/>
                    </a:cxn>
                    <a:cxn ang="0">
                      <a:pos x="98" y="23"/>
                    </a:cxn>
                    <a:cxn ang="0">
                      <a:pos x="93" y="34"/>
                    </a:cxn>
                    <a:cxn ang="0">
                      <a:pos x="92" y="39"/>
                    </a:cxn>
                    <a:cxn ang="0">
                      <a:pos x="88" y="41"/>
                    </a:cxn>
                    <a:cxn ang="0">
                      <a:pos x="79" y="45"/>
                    </a:cxn>
                    <a:cxn ang="0">
                      <a:pos x="90" y="23"/>
                    </a:cxn>
                    <a:cxn ang="0">
                      <a:pos x="90" y="19"/>
                    </a:cxn>
                    <a:cxn ang="0">
                      <a:pos x="85" y="15"/>
                    </a:cxn>
                    <a:cxn ang="0">
                      <a:pos x="81" y="16"/>
                    </a:cxn>
                    <a:cxn ang="0">
                      <a:pos x="73" y="22"/>
                    </a:cxn>
                    <a:cxn ang="0">
                      <a:pos x="66" y="25"/>
                    </a:cxn>
                    <a:cxn ang="0">
                      <a:pos x="55" y="34"/>
                    </a:cxn>
                    <a:cxn ang="0">
                      <a:pos x="47" y="39"/>
                    </a:cxn>
                    <a:cxn ang="0">
                      <a:pos x="37" y="45"/>
                    </a:cxn>
                    <a:cxn ang="0">
                      <a:pos x="30" y="48"/>
                    </a:cxn>
                    <a:cxn ang="0">
                      <a:pos x="23" y="53"/>
                    </a:cxn>
                    <a:cxn ang="0">
                      <a:pos x="20" y="58"/>
                    </a:cxn>
                    <a:cxn ang="0">
                      <a:pos x="14" y="65"/>
                    </a:cxn>
                    <a:cxn ang="0">
                      <a:pos x="8" y="74"/>
                    </a:cxn>
                    <a:cxn ang="0">
                      <a:pos x="5" y="82"/>
                    </a:cxn>
                    <a:cxn ang="0">
                      <a:pos x="0" y="88"/>
                    </a:cxn>
                    <a:cxn ang="0">
                      <a:pos x="0" y="90"/>
                    </a:cxn>
                    <a:cxn ang="0">
                      <a:pos x="5" y="94"/>
                    </a:cxn>
                    <a:cxn ang="0">
                      <a:pos x="10" y="100"/>
                    </a:cxn>
                    <a:cxn ang="0">
                      <a:pos x="0" y="90"/>
                    </a:cxn>
                  </a:cxnLst>
                  <a:rect l="0" t="0" r="r" b="b"/>
                  <a:pathLst>
                    <a:path w="110" h="130">
                      <a:moveTo>
                        <a:pt x="0" y="90"/>
                      </a:moveTo>
                      <a:lnTo>
                        <a:pt x="15" y="107"/>
                      </a:lnTo>
                      <a:lnTo>
                        <a:pt x="23" y="129"/>
                      </a:lnTo>
                      <a:lnTo>
                        <a:pt x="28" y="124"/>
                      </a:lnTo>
                      <a:lnTo>
                        <a:pt x="32" y="122"/>
                      </a:lnTo>
                      <a:lnTo>
                        <a:pt x="37" y="121"/>
                      </a:lnTo>
                      <a:lnTo>
                        <a:pt x="44" y="119"/>
                      </a:lnTo>
                      <a:lnTo>
                        <a:pt x="49" y="119"/>
                      </a:lnTo>
                      <a:lnTo>
                        <a:pt x="61" y="116"/>
                      </a:lnTo>
                      <a:lnTo>
                        <a:pt x="68" y="112"/>
                      </a:lnTo>
                      <a:lnTo>
                        <a:pt x="75" y="106"/>
                      </a:lnTo>
                      <a:lnTo>
                        <a:pt x="81" y="102"/>
                      </a:lnTo>
                      <a:lnTo>
                        <a:pt x="89" y="95"/>
                      </a:lnTo>
                      <a:lnTo>
                        <a:pt x="96" y="83"/>
                      </a:lnTo>
                      <a:lnTo>
                        <a:pt x="99" y="77"/>
                      </a:lnTo>
                      <a:lnTo>
                        <a:pt x="102" y="71"/>
                      </a:lnTo>
                      <a:lnTo>
                        <a:pt x="104" y="64"/>
                      </a:lnTo>
                      <a:lnTo>
                        <a:pt x="104" y="54"/>
                      </a:lnTo>
                      <a:lnTo>
                        <a:pt x="105" y="50"/>
                      </a:lnTo>
                      <a:lnTo>
                        <a:pt x="107" y="44"/>
                      </a:lnTo>
                      <a:lnTo>
                        <a:pt x="109" y="34"/>
                      </a:lnTo>
                      <a:lnTo>
                        <a:pt x="109" y="26"/>
                      </a:lnTo>
                      <a:lnTo>
                        <a:pt x="109" y="16"/>
                      </a:lnTo>
                      <a:lnTo>
                        <a:pt x="107" y="10"/>
                      </a:lnTo>
                      <a:lnTo>
                        <a:pt x="107" y="3"/>
                      </a:lnTo>
                      <a:lnTo>
                        <a:pt x="105" y="0"/>
                      </a:lnTo>
                      <a:lnTo>
                        <a:pt x="104" y="5"/>
                      </a:lnTo>
                      <a:lnTo>
                        <a:pt x="100" y="11"/>
                      </a:lnTo>
                      <a:lnTo>
                        <a:pt x="98" y="23"/>
                      </a:lnTo>
                      <a:lnTo>
                        <a:pt x="93" y="34"/>
                      </a:lnTo>
                      <a:lnTo>
                        <a:pt x="92" y="39"/>
                      </a:lnTo>
                      <a:lnTo>
                        <a:pt x="88" y="41"/>
                      </a:lnTo>
                      <a:lnTo>
                        <a:pt x="79" y="45"/>
                      </a:lnTo>
                      <a:lnTo>
                        <a:pt x="90" y="23"/>
                      </a:lnTo>
                      <a:lnTo>
                        <a:pt x="90" y="19"/>
                      </a:lnTo>
                      <a:lnTo>
                        <a:pt x="85" y="15"/>
                      </a:lnTo>
                      <a:lnTo>
                        <a:pt x="81" y="16"/>
                      </a:lnTo>
                      <a:lnTo>
                        <a:pt x="73" y="22"/>
                      </a:lnTo>
                      <a:lnTo>
                        <a:pt x="66" y="25"/>
                      </a:lnTo>
                      <a:lnTo>
                        <a:pt x="55" y="34"/>
                      </a:lnTo>
                      <a:lnTo>
                        <a:pt x="47" y="39"/>
                      </a:lnTo>
                      <a:lnTo>
                        <a:pt x="37" y="45"/>
                      </a:lnTo>
                      <a:lnTo>
                        <a:pt x="30" y="48"/>
                      </a:lnTo>
                      <a:lnTo>
                        <a:pt x="23" y="53"/>
                      </a:lnTo>
                      <a:lnTo>
                        <a:pt x="20" y="58"/>
                      </a:lnTo>
                      <a:lnTo>
                        <a:pt x="14" y="65"/>
                      </a:lnTo>
                      <a:lnTo>
                        <a:pt x="8" y="74"/>
                      </a:lnTo>
                      <a:lnTo>
                        <a:pt x="5" y="82"/>
                      </a:lnTo>
                      <a:lnTo>
                        <a:pt x="0" y="88"/>
                      </a:lnTo>
                      <a:lnTo>
                        <a:pt x="0" y="90"/>
                      </a:lnTo>
                      <a:lnTo>
                        <a:pt x="5" y="94"/>
                      </a:lnTo>
                      <a:lnTo>
                        <a:pt x="10" y="100"/>
                      </a:lnTo>
                      <a:lnTo>
                        <a:pt x="0" y="90"/>
                      </a:lnTo>
                    </a:path>
                  </a:pathLst>
                </a:custGeom>
                <a:solidFill>
                  <a:srgbClr val="2B2B2B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65" name="Freeform 33"/>
                <p:cNvSpPr>
                  <a:spLocks/>
                </p:cNvSpPr>
                <p:nvPr/>
              </p:nvSpPr>
              <p:spPr bwMode="auto">
                <a:xfrm>
                  <a:off x="2273" y="4070"/>
                  <a:ext cx="36" cy="33"/>
                </a:xfrm>
                <a:custGeom>
                  <a:avLst/>
                  <a:gdLst/>
                  <a:ahLst/>
                  <a:cxnLst>
                    <a:cxn ang="0">
                      <a:pos x="22" y="18"/>
                    </a:cxn>
                    <a:cxn ang="0">
                      <a:pos x="30" y="0"/>
                    </a:cxn>
                    <a:cxn ang="0">
                      <a:pos x="13" y="19"/>
                    </a:cxn>
                    <a:cxn ang="0">
                      <a:pos x="10" y="20"/>
                    </a:cxn>
                    <a:cxn ang="0">
                      <a:pos x="6" y="24"/>
                    </a:cxn>
                    <a:cxn ang="0">
                      <a:pos x="3" y="25"/>
                    </a:cxn>
                    <a:cxn ang="0">
                      <a:pos x="1" y="27"/>
                    </a:cxn>
                    <a:cxn ang="0">
                      <a:pos x="1" y="30"/>
                    </a:cxn>
                    <a:cxn ang="0">
                      <a:pos x="0" y="28"/>
                    </a:cxn>
                    <a:cxn ang="0">
                      <a:pos x="0" y="32"/>
                    </a:cxn>
                    <a:cxn ang="0">
                      <a:pos x="1" y="31"/>
                    </a:cxn>
                    <a:cxn ang="0">
                      <a:pos x="8" y="28"/>
                    </a:cxn>
                    <a:cxn ang="0">
                      <a:pos x="15" y="24"/>
                    </a:cxn>
                    <a:cxn ang="0">
                      <a:pos x="21" y="21"/>
                    </a:cxn>
                    <a:cxn ang="0">
                      <a:pos x="30" y="16"/>
                    </a:cxn>
                    <a:cxn ang="0">
                      <a:pos x="35" y="8"/>
                    </a:cxn>
                    <a:cxn ang="0">
                      <a:pos x="29" y="15"/>
                    </a:cxn>
                    <a:cxn ang="0">
                      <a:pos x="22" y="18"/>
                    </a:cxn>
                  </a:cxnLst>
                  <a:rect l="0" t="0" r="r" b="b"/>
                  <a:pathLst>
                    <a:path w="36" h="33">
                      <a:moveTo>
                        <a:pt x="22" y="18"/>
                      </a:moveTo>
                      <a:lnTo>
                        <a:pt x="30" y="0"/>
                      </a:lnTo>
                      <a:lnTo>
                        <a:pt x="13" y="19"/>
                      </a:lnTo>
                      <a:lnTo>
                        <a:pt x="10" y="20"/>
                      </a:lnTo>
                      <a:lnTo>
                        <a:pt x="6" y="24"/>
                      </a:lnTo>
                      <a:lnTo>
                        <a:pt x="3" y="25"/>
                      </a:lnTo>
                      <a:lnTo>
                        <a:pt x="1" y="27"/>
                      </a:lnTo>
                      <a:lnTo>
                        <a:pt x="1" y="30"/>
                      </a:lnTo>
                      <a:lnTo>
                        <a:pt x="0" y="28"/>
                      </a:lnTo>
                      <a:lnTo>
                        <a:pt x="0" y="32"/>
                      </a:lnTo>
                      <a:lnTo>
                        <a:pt x="1" y="31"/>
                      </a:lnTo>
                      <a:lnTo>
                        <a:pt x="8" y="28"/>
                      </a:lnTo>
                      <a:lnTo>
                        <a:pt x="15" y="24"/>
                      </a:lnTo>
                      <a:lnTo>
                        <a:pt x="21" y="21"/>
                      </a:lnTo>
                      <a:lnTo>
                        <a:pt x="30" y="16"/>
                      </a:lnTo>
                      <a:lnTo>
                        <a:pt x="35" y="8"/>
                      </a:lnTo>
                      <a:lnTo>
                        <a:pt x="29" y="15"/>
                      </a:lnTo>
                      <a:lnTo>
                        <a:pt x="22" y="18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66" name="Freeform 34"/>
                <p:cNvSpPr>
                  <a:spLocks/>
                </p:cNvSpPr>
                <p:nvPr/>
              </p:nvSpPr>
              <p:spPr bwMode="auto">
                <a:xfrm>
                  <a:off x="2288" y="4066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15" y="0"/>
                    </a:cxn>
                    <a:cxn ang="0">
                      <a:pos x="13" y="4"/>
                    </a:cxn>
                    <a:cxn ang="0">
                      <a:pos x="13" y="7"/>
                    </a:cxn>
                    <a:cxn ang="0">
                      <a:pos x="11" y="12"/>
                    </a:cxn>
                    <a:cxn ang="0">
                      <a:pos x="11" y="15"/>
                    </a:cxn>
                    <a:cxn ang="0">
                      <a:pos x="8" y="15"/>
                    </a:cxn>
                    <a:cxn ang="0">
                      <a:pos x="7" y="15"/>
                    </a:cxn>
                    <a:cxn ang="0">
                      <a:pos x="3" y="15"/>
                    </a:cxn>
                    <a:cxn ang="0">
                      <a:pos x="3" y="9"/>
                    </a:cxn>
                    <a:cxn ang="0">
                      <a:pos x="0" y="9"/>
                    </a:cxn>
                    <a:cxn ang="0">
                      <a:pos x="0" y="7"/>
                    </a:cxn>
                    <a:cxn ang="0">
                      <a:pos x="0" y="7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16" h="16">
                      <a:moveTo>
                        <a:pt x="15" y="0"/>
                      </a:moveTo>
                      <a:lnTo>
                        <a:pt x="13" y="4"/>
                      </a:lnTo>
                      <a:lnTo>
                        <a:pt x="13" y="7"/>
                      </a:lnTo>
                      <a:lnTo>
                        <a:pt x="11" y="12"/>
                      </a:lnTo>
                      <a:lnTo>
                        <a:pt x="11" y="15"/>
                      </a:lnTo>
                      <a:lnTo>
                        <a:pt x="8" y="15"/>
                      </a:lnTo>
                      <a:lnTo>
                        <a:pt x="7" y="15"/>
                      </a:lnTo>
                      <a:lnTo>
                        <a:pt x="3" y="15"/>
                      </a:lnTo>
                      <a:lnTo>
                        <a:pt x="3" y="9"/>
                      </a:lnTo>
                      <a:lnTo>
                        <a:pt x="0" y="9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4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67" name="Freeform 35"/>
                <p:cNvSpPr>
                  <a:spLocks/>
                </p:cNvSpPr>
                <p:nvPr/>
              </p:nvSpPr>
              <p:spPr bwMode="auto">
                <a:xfrm>
                  <a:off x="1855" y="3787"/>
                  <a:ext cx="390" cy="410"/>
                </a:xfrm>
                <a:custGeom>
                  <a:avLst/>
                  <a:gdLst/>
                  <a:ahLst/>
                  <a:cxnLst>
                    <a:cxn ang="0">
                      <a:pos x="76" y="0"/>
                    </a:cxn>
                    <a:cxn ang="0">
                      <a:pos x="105" y="33"/>
                    </a:cxn>
                    <a:cxn ang="0">
                      <a:pos x="183" y="87"/>
                    </a:cxn>
                    <a:cxn ang="0">
                      <a:pos x="199" y="124"/>
                    </a:cxn>
                    <a:cxn ang="0">
                      <a:pos x="213" y="159"/>
                    </a:cxn>
                    <a:cxn ang="0">
                      <a:pos x="232" y="207"/>
                    </a:cxn>
                    <a:cxn ang="0">
                      <a:pos x="238" y="246"/>
                    </a:cxn>
                    <a:cxn ang="0">
                      <a:pos x="245" y="297"/>
                    </a:cxn>
                    <a:cxn ang="0">
                      <a:pos x="289" y="344"/>
                    </a:cxn>
                    <a:cxn ang="0">
                      <a:pos x="345" y="326"/>
                    </a:cxn>
                    <a:cxn ang="0">
                      <a:pos x="358" y="333"/>
                    </a:cxn>
                    <a:cxn ang="0">
                      <a:pos x="371" y="352"/>
                    </a:cxn>
                    <a:cxn ang="0">
                      <a:pos x="384" y="374"/>
                    </a:cxn>
                    <a:cxn ang="0">
                      <a:pos x="389" y="387"/>
                    </a:cxn>
                    <a:cxn ang="0">
                      <a:pos x="366" y="409"/>
                    </a:cxn>
                    <a:cxn ang="0">
                      <a:pos x="0" y="128"/>
                    </a:cxn>
                    <a:cxn ang="0">
                      <a:pos x="6" y="109"/>
                    </a:cxn>
                    <a:cxn ang="0">
                      <a:pos x="35" y="69"/>
                    </a:cxn>
                    <a:cxn ang="0">
                      <a:pos x="64" y="43"/>
                    </a:cxn>
                    <a:cxn ang="0">
                      <a:pos x="81" y="39"/>
                    </a:cxn>
                    <a:cxn ang="0">
                      <a:pos x="76" y="0"/>
                    </a:cxn>
                  </a:cxnLst>
                  <a:rect l="0" t="0" r="r" b="b"/>
                  <a:pathLst>
                    <a:path w="390" h="410">
                      <a:moveTo>
                        <a:pt x="76" y="0"/>
                      </a:moveTo>
                      <a:lnTo>
                        <a:pt x="105" y="33"/>
                      </a:lnTo>
                      <a:lnTo>
                        <a:pt x="183" y="87"/>
                      </a:lnTo>
                      <a:lnTo>
                        <a:pt x="199" y="124"/>
                      </a:lnTo>
                      <a:lnTo>
                        <a:pt x="213" y="159"/>
                      </a:lnTo>
                      <a:lnTo>
                        <a:pt x="232" y="207"/>
                      </a:lnTo>
                      <a:lnTo>
                        <a:pt x="238" y="246"/>
                      </a:lnTo>
                      <a:lnTo>
                        <a:pt x="245" y="297"/>
                      </a:lnTo>
                      <a:lnTo>
                        <a:pt x="289" y="344"/>
                      </a:lnTo>
                      <a:lnTo>
                        <a:pt x="345" y="326"/>
                      </a:lnTo>
                      <a:lnTo>
                        <a:pt x="358" y="333"/>
                      </a:lnTo>
                      <a:lnTo>
                        <a:pt x="371" y="352"/>
                      </a:lnTo>
                      <a:lnTo>
                        <a:pt x="384" y="374"/>
                      </a:lnTo>
                      <a:lnTo>
                        <a:pt x="389" y="387"/>
                      </a:lnTo>
                      <a:lnTo>
                        <a:pt x="366" y="409"/>
                      </a:lnTo>
                      <a:lnTo>
                        <a:pt x="0" y="128"/>
                      </a:lnTo>
                      <a:lnTo>
                        <a:pt x="6" y="109"/>
                      </a:lnTo>
                      <a:lnTo>
                        <a:pt x="35" y="69"/>
                      </a:lnTo>
                      <a:lnTo>
                        <a:pt x="64" y="43"/>
                      </a:lnTo>
                      <a:lnTo>
                        <a:pt x="81" y="39"/>
                      </a:lnTo>
                      <a:lnTo>
                        <a:pt x="76" y="0"/>
                      </a:lnTo>
                    </a:path>
                  </a:pathLst>
                </a:custGeom>
                <a:solidFill>
                  <a:srgbClr val="4C4C4C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68" name="Freeform 36"/>
                <p:cNvSpPr>
                  <a:spLocks/>
                </p:cNvSpPr>
                <p:nvPr/>
              </p:nvSpPr>
              <p:spPr bwMode="auto">
                <a:xfrm>
                  <a:off x="2160" y="4041"/>
                  <a:ext cx="94" cy="97"/>
                </a:xfrm>
                <a:custGeom>
                  <a:avLst/>
                  <a:gdLst/>
                  <a:ahLst/>
                  <a:cxnLst>
                    <a:cxn ang="0">
                      <a:pos x="7" y="49"/>
                    </a:cxn>
                    <a:cxn ang="0">
                      <a:pos x="0" y="57"/>
                    </a:cxn>
                    <a:cxn ang="0">
                      <a:pos x="24" y="96"/>
                    </a:cxn>
                    <a:cxn ang="0">
                      <a:pos x="33" y="81"/>
                    </a:cxn>
                    <a:cxn ang="0">
                      <a:pos x="36" y="74"/>
                    </a:cxn>
                    <a:cxn ang="0">
                      <a:pos x="42" y="53"/>
                    </a:cxn>
                    <a:cxn ang="0">
                      <a:pos x="56" y="45"/>
                    </a:cxn>
                    <a:cxn ang="0">
                      <a:pos x="65" y="34"/>
                    </a:cxn>
                    <a:cxn ang="0">
                      <a:pos x="71" y="30"/>
                    </a:cxn>
                    <a:cxn ang="0">
                      <a:pos x="85" y="24"/>
                    </a:cxn>
                    <a:cxn ang="0">
                      <a:pos x="93" y="18"/>
                    </a:cxn>
                    <a:cxn ang="0">
                      <a:pos x="93" y="11"/>
                    </a:cxn>
                    <a:cxn ang="0">
                      <a:pos x="90" y="7"/>
                    </a:cxn>
                    <a:cxn ang="0">
                      <a:pos x="76" y="14"/>
                    </a:cxn>
                    <a:cxn ang="0">
                      <a:pos x="65" y="17"/>
                    </a:cxn>
                    <a:cxn ang="0">
                      <a:pos x="55" y="18"/>
                    </a:cxn>
                    <a:cxn ang="0">
                      <a:pos x="56" y="13"/>
                    </a:cxn>
                    <a:cxn ang="0">
                      <a:pos x="57" y="10"/>
                    </a:cxn>
                    <a:cxn ang="0">
                      <a:pos x="59" y="5"/>
                    </a:cxn>
                    <a:cxn ang="0">
                      <a:pos x="60" y="0"/>
                    </a:cxn>
                    <a:cxn ang="0">
                      <a:pos x="57" y="0"/>
                    </a:cxn>
                    <a:cxn ang="0">
                      <a:pos x="49" y="3"/>
                    </a:cxn>
                    <a:cxn ang="0">
                      <a:pos x="42" y="10"/>
                    </a:cxn>
                    <a:cxn ang="0">
                      <a:pos x="34" y="19"/>
                    </a:cxn>
                    <a:cxn ang="0">
                      <a:pos x="26" y="27"/>
                    </a:cxn>
                    <a:cxn ang="0">
                      <a:pos x="21" y="34"/>
                    </a:cxn>
                    <a:cxn ang="0">
                      <a:pos x="16" y="39"/>
                    </a:cxn>
                    <a:cxn ang="0">
                      <a:pos x="11" y="45"/>
                    </a:cxn>
                    <a:cxn ang="0">
                      <a:pos x="7" y="49"/>
                    </a:cxn>
                  </a:cxnLst>
                  <a:rect l="0" t="0" r="r" b="b"/>
                  <a:pathLst>
                    <a:path w="94" h="97">
                      <a:moveTo>
                        <a:pt x="7" y="49"/>
                      </a:moveTo>
                      <a:lnTo>
                        <a:pt x="0" y="57"/>
                      </a:lnTo>
                      <a:lnTo>
                        <a:pt x="24" y="96"/>
                      </a:lnTo>
                      <a:lnTo>
                        <a:pt x="33" y="81"/>
                      </a:lnTo>
                      <a:lnTo>
                        <a:pt x="36" y="74"/>
                      </a:lnTo>
                      <a:lnTo>
                        <a:pt x="42" y="53"/>
                      </a:lnTo>
                      <a:lnTo>
                        <a:pt x="56" y="45"/>
                      </a:lnTo>
                      <a:lnTo>
                        <a:pt x="65" y="34"/>
                      </a:lnTo>
                      <a:lnTo>
                        <a:pt x="71" y="30"/>
                      </a:lnTo>
                      <a:lnTo>
                        <a:pt x="85" y="24"/>
                      </a:lnTo>
                      <a:lnTo>
                        <a:pt x="93" y="18"/>
                      </a:lnTo>
                      <a:lnTo>
                        <a:pt x="93" y="11"/>
                      </a:lnTo>
                      <a:lnTo>
                        <a:pt x="90" y="7"/>
                      </a:lnTo>
                      <a:lnTo>
                        <a:pt x="76" y="14"/>
                      </a:lnTo>
                      <a:lnTo>
                        <a:pt x="65" y="17"/>
                      </a:lnTo>
                      <a:lnTo>
                        <a:pt x="55" y="18"/>
                      </a:lnTo>
                      <a:lnTo>
                        <a:pt x="56" y="13"/>
                      </a:lnTo>
                      <a:lnTo>
                        <a:pt x="57" y="10"/>
                      </a:lnTo>
                      <a:lnTo>
                        <a:pt x="59" y="5"/>
                      </a:lnTo>
                      <a:lnTo>
                        <a:pt x="60" y="0"/>
                      </a:lnTo>
                      <a:lnTo>
                        <a:pt x="57" y="0"/>
                      </a:lnTo>
                      <a:lnTo>
                        <a:pt x="49" y="3"/>
                      </a:lnTo>
                      <a:lnTo>
                        <a:pt x="42" y="10"/>
                      </a:lnTo>
                      <a:lnTo>
                        <a:pt x="34" y="19"/>
                      </a:lnTo>
                      <a:lnTo>
                        <a:pt x="26" y="27"/>
                      </a:lnTo>
                      <a:lnTo>
                        <a:pt x="21" y="34"/>
                      </a:lnTo>
                      <a:lnTo>
                        <a:pt x="16" y="39"/>
                      </a:lnTo>
                      <a:lnTo>
                        <a:pt x="11" y="45"/>
                      </a:lnTo>
                      <a:lnTo>
                        <a:pt x="7" y="49"/>
                      </a:lnTo>
                    </a:path>
                  </a:pathLst>
                </a:custGeom>
                <a:solidFill>
                  <a:srgbClr val="2B2B2B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69" name="Freeform 37"/>
                <p:cNvSpPr>
                  <a:spLocks/>
                </p:cNvSpPr>
                <p:nvPr/>
              </p:nvSpPr>
              <p:spPr bwMode="auto">
                <a:xfrm>
                  <a:off x="2243" y="4052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3" y="2"/>
                    </a:cxn>
                    <a:cxn ang="0">
                      <a:pos x="13" y="5"/>
                    </a:cxn>
                    <a:cxn ang="0">
                      <a:pos x="15" y="5"/>
                    </a:cxn>
                    <a:cxn ang="0">
                      <a:pos x="13" y="7"/>
                    </a:cxn>
                    <a:cxn ang="0">
                      <a:pos x="13" y="10"/>
                    </a:cxn>
                    <a:cxn ang="0">
                      <a:pos x="12" y="13"/>
                    </a:cxn>
                    <a:cxn ang="0">
                      <a:pos x="9" y="15"/>
                    </a:cxn>
                    <a:cxn ang="0">
                      <a:pos x="6" y="15"/>
                    </a:cxn>
                    <a:cxn ang="0">
                      <a:pos x="3" y="15"/>
                    </a:cxn>
                    <a:cxn ang="0">
                      <a:pos x="0" y="15"/>
                    </a:cxn>
                    <a:cxn ang="0">
                      <a:pos x="0" y="15"/>
                    </a:cxn>
                    <a:cxn ang="0">
                      <a:pos x="0" y="13"/>
                    </a:cxn>
                    <a:cxn ang="0">
                      <a:pos x="0" y="11"/>
                    </a:cxn>
                    <a:cxn ang="0">
                      <a:pos x="0" y="10"/>
                    </a:cxn>
                  </a:cxnLst>
                  <a:rect l="0" t="0" r="r" b="b"/>
                  <a:pathLst>
                    <a:path w="16" h="16">
                      <a:moveTo>
                        <a:pt x="13" y="0"/>
                      </a:moveTo>
                      <a:lnTo>
                        <a:pt x="13" y="0"/>
                      </a:lnTo>
                      <a:lnTo>
                        <a:pt x="13" y="2"/>
                      </a:lnTo>
                      <a:lnTo>
                        <a:pt x="13" y="5"/>
                      </a:lnTo>
                      <a:lnTo>
                        <a:pt x="15" y="5"/>
                      </a:lnTo>
                      <a:lnTo>
                        <a:pt x="13" y="7"/>
                      </a:lnTo>
                      <a:lnTo>
                        <a:pt x="13" y="10"/>
                      </a:lnTo>
                      <a:lnTo>
                        <a:pt x="12" y="13"/>
                      </a:lnTo>
                      <a:lnTo>
                        <a:pt x="9" y="15"/>
                      </a:lnTo>
                      <a:lnTo>
                        <a:pt x="6" y="15"/>
                      </a:lnTo>
                      <a:lnTo>
                        <a:pt x="3" y="15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0" y="13"/>
                      </a:lnTo>
                      <a:lnTo>
                        <a:pt x="0" y="11"/>
                      </a:lnTo>
                      <a:lnTo>
                        <a:pt x="0" y="10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70" name="Freeform 38"/>
                <p:cNvSpPr>
                  <a:spLocks/>
                </p:cNvSpPr>
                <p:nvPr/>
              </p:nvSpPr>
              <p:spPr bwMode="auto">
                <a:xfrm>
                  <a:off x="2035" y="3877"/>
                  <a:ext cx="152" cy="26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8" y="8"/>
                    </a:cxn>
                    <a:cxn ang="0">
                      <a:pos x="28" y="50"/>
                    </a:cxn>
                    <a:cxn ang="0">
                      <a:pos x="50" y="116"/>
                    </a:cxn>
                    <a:cxn ang="0">
                      <a:pos x="62" y="167"/>
                    </a:cxn>
                    <a:cxn ang="0">
                      <a:pos x="66" y="195"/>
                    </a:cxn>
                    <a:cxn ang="0">
                      <a:pos x="69" y="205"/>
                    </a:cxn>
                    <a:cxn ang="0">
                      <a:pos x="78" y="222"/>
                    </a:cxn>
                    <a:cxn ang="0">
                      <a:pos x="91" y="228"/>
                    </a:cxn>
                    <a:cxn ang="0">
                      <a:pos x="100" y="227"/>
                    </a:cxn>
                    <a:cxn ang="0">
                      <a:pos x="113" y="224"/>
                    </a:cxn>
                    <a:cxn ang="0">
                      <a:pos x="122" y="218"/>
                    </a:cxn>
                    <a:cxn ang="0">
                      <a:pos x="124" y="222"/>
                    </a:cxn>
                    <a:cxn ang="0">
                      <a:pos x="151" y="257"/>
                    </a:cxn>
                    <a:cxn ang="0">
                      <a:pos x="88" y="266"/>
                    </a:cxn>
                    <a:cxn ang="0">
                      <a:pos x="60" y="179"/>
                    </a:cxn>
                    <a:cxn ang="0">
                      <a:pos x="40" y="123"/>
                    </a:cxn>
                    <a:cxn ang="0">
                      <a:pos x="35" y="99"/>
                    </a:cxn>
                    <a:cxn ang="0">
                      <a:pos x="23" y="53"/>
                    </a:cxn>
                    <a:cxn ang="0">
                      <a:pos x="17" y="4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52" h="267">
                      <a:moveTo>
                        <a:pt x="0" y="0"/>
                      </a:moveTo>
                      <a:lnTo>
                        <a:pt x="8" y="8"/>
                      </a:lnTo>
                      <a:lnTo>
                        <a:pt x="28" y="50"/>
                      </a:lnTo>
                      <a:lnTo>
                        <a:pt x="50" y="116"/>
                      </a:lnTo>
                      <a:lnTo>
                        <a:pt x="62" y="167"/>
                      </a:lnTo>
                      <a:lnTo>
                        <a:pt x="66" y="195"/>
                      </a:lnTo>
                      <a:lnTo>
                        <a:pt x="69" y="205"/>
                      </a:lnTo>
                      <a:lnTo>
                        <a:pt x="78" y="222"/>
                      </a:lnTo>
                      <a:lnTo>
                        <a:pt x="91" y="228"/>
                      </a:lnTo>
                      <a:lnTo>
                        <a:pt x="100" y="227"/>
                      </a:lnTo>
                      <a:lnTo>
                        <a:pt x="113" y="224"/>
                      </a:lnTo>
                      <a:lnTo>
                        <a:pt x="122" y="218"/>
                      </a:lnTo>
                      <a:lnTo>
                        <a:pt x="124" y="222"/>
                      </a:lnTo>
                      <a:lnTo>
                        <a:pt x="151" y="257"/>
                      </a:lnTo>
                      <a:lnTo>
                        <a:pt x="88" y="266"/>
                      </a:lnTo>
                      <a:lnTo>
                        <a:pt x="60" y="179"/>
                      </a:lnTo>
                      <a:lnTo>
                        <a:pt x="40" y="123"/>
                      </a:lnTo>
                      <a:lnTo>
                        <a:pt x="35" y="99"/>
                      </a:lnTo>
                      <a:lnTo>
                        <a:pt x="23" y="53"/>
                      </a:lnTo>
                      <a:lnTo>
                        <a:pt x="17" y="4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71" name="Freeform 39"/>
                <p:cNvSpPr>
                  <a:spLocks/>
                </p:cNvSpPr>
                <p:nvPr/>
              </p:nvSpPr>
              <p:spPr bwMode="auto">
                <a:xfrm>
                  <a:off x="2160" y="4094"/>
                  <a:ext cx="25" cy="38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24" y="33"/>
                    </a:cxn>
                    <a:cxn ang="0">
                      <a:pos x="13" y="37"/>
                    </a:cxn>
                    <a:cxn ang="0">
                      <a:pos x="0" y="4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25" h="38">
                      <a:moveTo>
                        <a:pt x="5" y="0"/>
                      </a:moveTo>
                      <a:lnTo>
                        <a:pt x="24" y="33"/>
                      </a:lnTo>
                      <a:lnTo>
                        <a:pt x="13" y="37"/>
                      </a:lnTo>
                      <a:lnTo>
                        <a:pt x="0" y="4"/>
                      </a:lnTo>
                      <a:lnTo>
                        <a:pt x="5" y="0"/>
                      </a:lnTo>
                    </a:path>
                  </a:pathLst>
                </a:custGeom>
                <a:solidFill>
                  <a:srgbClr val="AFAFA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72" name="Freeform 40"/>
                <p:cNvSpPr>
                  <a:spLocks/>
                </p:cNvSpPr>
                <p:nvPr/>
              </p:nvSpPr>
              <p:spPr bwMode="auto">
                <a:xfrm>
                  <a:off x="1900" y="3579"/>
                  <a:ext cx="186" cy="244"/>
                </a:xfrm>
                <a:custGeom>
                  <a:avLst/>
                  <a:gdLst/>
                  <a:ahLst/>
                  <a:cxnLst>
                    <a:cxn ang="0">
                      <a:pos x="183" y="66"/>
                    </a:cxn>
                    <a:cxn ang="0">
                      <a:pos x="185" y="62"/>
                    </a:cxn>
                    <a:cxn ang="0">
                      <a:pos x="184" y="52"/>
                    </a:cxn>
                    <a:cxn ang="0">
                      <a:pos x="182" y="41"/>
                    </a:cxn>
                    <a:cxn ang="0">
                      <a:pos x="178" y="32"/>
                    </a:cxn>
                    <a:cxn ang="0">
                      <a:pos x="171" y="23"/>
                    </a:cxn>
                    <a:cxn ang="0">
                      <a:pos x="160" y="15"/>
                    </a:cxn>
                    <a:cxn ang="0">
                      <a:pos x="148" y="8"/>
                    </a:cxn>
                    <a:cxn ang="0">
                      <a:pos x="135" y="5"/>
                    </a:cxn>
                    <a:cxn ang="0">
                      <a:pos x="124" y="0"/>
                    </a:cxn>
                    <a:cxn ang="0">
                      <a:pos x="107" y="0"/>
                    </a:cxn>
                    <a:cxn ang="0">
                      <a:pos x="89" y="3"/>
                    </a:cxn>
                    <a:cxn ang="0">
                      <a:pos x="69" y="7"/>
                    </a:cxn>
                    <a:cxn ang="0">
                      <a:pos x="58" y="12"/>
                    </a:cxn>
                    <a:cxn ang="0">
                      <a:pos x="45" y="20"/>
                    </a:cxn>
                    <a:cxn ang="0">
                      <a:pos x="34" y="30"/>
                    </a:cxn>
                    <a:cxn ang="0">
                      <a:pos x="24" y="41"/>
                    </a:cxn>
                    <a:cxn ang="0">
                      <a:pos x="16" y="53"/>
                    </a:cxn>
                    <a:cxn ang="0">
                      <a:pos x="8" y="68"/>
                    </a:cxn>
                    <a:cxn ang="0">
                      <a:pos x="4" y="78"/>
                    </a:cxn>
                    <a:cxn ang="0">
                      <a:pos x="0" y="89"/>
                    </a:cxn>
                    <a:cxn ang="0">
                      <a:pos x="0" y="104"/>
                    </a:cxn>
                    <a:cxn ang="0">
                      <a:pos x="0" y="126"/>
                    </a:cxn>
                    <a:cxn ang="0">
                      <a:pos x="0" y="149"/>
                    </a:cxn>
                    <a:cxn ang="0">
                      <a:pos x="5" y="168"/>
                    </a:cxn>
                    <a:cxn ang="0">
                      <a:pos x="11" y="184"/>
                    </a:cxn>
                    <a:cxn ang="0">
                      <a:pos x="17" y="199"/>
                    </a:cxn>
                    <a:cxn ang="0">
                      <a:pos x="24" y="208"/>
                    </a:cxn>
                    <a:cxn ang="0">
                      <a:pos x="28" y="217"/>
                    </a:cxn>
                    <a:cxn ang="0">
                      <a:pos x="30" y="226"/>
                    </a:cxn>
                    <a:cxn ang="0">
                      <a:pos x="30" y="232"/>
                    </a:cxn>
                    <a:cxn ang="0">
                      <a:pos x="31" y="236"/>
                    </a:cxn>
                    <a:cxn ang="0">
                      <a:pos x="33" y="239"/>
                    </a:cxn>
                    <a:cxn ang="0">
                      <a:pos x="36" y="242"/>
                    </a:cxn>
                    <a:cxn ang="0">
                      <a:pos x="41" y="243"/>
                    </a:cxn>
                    <a:cxn ang="0">
                      <a:pos x="46" y="243"/>
                    </a:cxn>
                    <a:cxn ang="0">
                      <a:pos x="53" y="243"/>
                    </a:cxn>
                    <a:cxn ang="0">
                      <a:pos x="58" y="243"/>
                    </a:cxn>
                    <a:cxn ang="0">
                      <a:pos x="69" y="238"/>
                    </a:cxn>
                    <a:cxn ang="0">
                      <a:pos x="95" y="214"/>
                    </a:cxn>
                    <a:cxn ang="0">
                      <a:pos x="119" y="179"/>
                    </a:cxn>
                    <a:cxn ang="0">
                      <a:pos x="140" y="141"/>
                    </a:cxn>
                    <a:cxn ang="0">
                      <a:pos x="161" y="103"/>
                    </a:cxn>
                    <a:cxn ang="0">
                      <a:pos x="180" y="69"/>
                    </a:cxn>
                  </a:cxnLst>
                  <a:rect l="0" t="0" r="r" b="b"/>
                  <a:pathLst>
                    <a:path w="186" h="244">
                      <a:moveTo>
                        <a:pt x="180" y="69"/>
                      </a:moveTo>
                      <a:lnTo>
                        <a:pt x="182" y="68"/>
                      </a:lnTo>
                      <a:lnTo>
                        <a:pt x="183" y="66"/>
                      </a:lnTo>
                      <a:lnTo>
                        <a:pt x="183" y="65"/>
                      </a:lnTo>
                      <a:lnTo>
                        <a:pt x="183" y="64"/>
                      </a:lnTo>
                      <a:lnTo>
                        <a:pt x="185" y="62"/>
                      </a:lnTo>
                      <a:lnTo>
                        <a:pt x="185" y="59"/>
                      </a:lnTo>
                      <a:lnTo>
                        <a:pt x="185" y="55"/>
                      </a:lnTo>
                      <a:lnTo>
                        <a:pt x="184" y="52"/>
                      </a:lnTo>
                      <a:lnTo>
                        <a:pt x="184" y="47"/>
                      </a:lnTo>
                      <a:lnTo>
                        <a:pt x="182" y="44"/>
                      </a:lnTo>
                      <a:lnTo>
                        <a:pt x="182" y="41"/>
                      </a:lnTo>
                      <a:lnTo>
                        <a:pt x="180" y="38"/>
                      </a:lnTo>
                      <a:lnTo>
                        <a:pt x="180" y="34"/>
                      </a:lnTo>
                      <a:lnTo>
                        <a:pt x="178" y="32"/>
                      </a:lnTo>
                      <a:lnTo>
                        <a:pt x="176" y="29"/>
                      </a:lnTo>
                      <a:lnTo>
                        <a:pt x="174" y="26"/>
                      </a:lnTo>
                      <a:lnTo>
                        <a:pt x="171" y="23"/>
                      </a:lnTo>
                      <a:lnTo>
                        <a:pt x="168" y="22"/>
                      </a:lnTo>
                      <a:lnTo>
                        <a:pt x="164" y="18"/>
                      </a:lnTo>
                      <a:lnTo>
                        <a:pt x="160" y="15"/>
                      </a:lnTo>
                      <a:lnTo>
                        <a:pt x="157" y="11"/>
                      </a:lnTo>
                      <a:lnTo>
                        <a:pt x="152" y="10"/>
                      </a:lnTo>
                      <a:lnTo>
                        <a:pt x="148" y="8"/>
                      </a:lnTo>
                      <a:lnTo>
                        <a:pt x="143" y="7"/>
                      </a:lnTo>
                      <a:lnTo>
                        <a:pt x="140" y="5"/>
                      </a:lnTo>
                      <a:lnTo>
                        <a:pt x="135" y="5"/>
                      </a:lnTo>
                      <a:lnTo>
                        <a:pt x="131" y="3"/>
                      </a:lnTo>
                      <a:lnTo>
                        <a:pt x="127" y="1"/>
                      </a:lnTo>
                      <a:lnTo>
                        <a:pt x="124" y="0"/>
                      </a:lnTo>
                      <a:lnTo>
                        <a:pt x="118" y="0"/>
                      </a:lnTo>
                      <a:lnTo>
                        <a:pt x="112" y="0"/>
                      </a:lnTo>
                      <a:lnTo>
                        <a:pt x="107" y="0"/>
                      </a:lnTo>
                      <a:lnTo>
                        <a:pt x="102" y="0"/>
                      </a:lnTo>
                      <a:lnTo>
                        <a:pt x="95" y="2"/>
                      </a:lnTo>
                      <a:lnTo>
                        <a:pt x="89" y="3"/>
                      </a:lnTo>
                      <a:lnTo>
                        <a:pt x="81" y="5"/>
                      </a:lnTo>
                      <a:lnTo>
                        <a:pt x="74" y="5"/>
                      </a:lnTo>
                      <a:lnTo>
                        <a:pt x="69" y="7"/>
                      </a:lnTo>
                      <a:lnTo>
                        <a:pt x="67" y="8"/>
                      </a:lnTo>
                      <a:lnTo>
                        <a:pt x="62" y="11"/>
                      </a:lnTo>
                      <a:lnTo>
                        <a:pt x="58" y="12"/>
                      </a:lnTo>
                      <a:lnTo>
                        <a:pt x="54" y="16"/>
                      </a:lnTo>
                      <a:lnTo>
                        <a:pt x="50" y="17"/>
                      </a:lnTo>
                      <a:lnTo>
                        <a:pt x="45" y="20"/>
                      </a:lnTo>
                      <a:lnTo>
                        <a:pt x="43" y="23"/>
                      </a:lnTo>
                      <a:lnTo>
                        <a:pt x="38" y="27"/>
                      </a:lnTo>
                      <a:lnTo>
                        <a:pt x="34" y="30"/>
                      </a:lnTo>
                      <a:lnTo>
                        <a:pt x="30" y="34"/>
                      </a:lnTo>
                      <a:lnTo>
                        <a:pt x="28" y="37"/>
                      </a:lnTo>
                      <a:lnTo>
                        <a:pt x="24" y="41"/>
                      </a:lnTo>
                      <a:lnTo>
                        <a:pt x="21" y="46"/>
                      </a:lnTo>
                      <a:lnTo>
                        <a:pt x="17" y="50"/>
                      </a:lnTo>
                      <a:lnTo>
                        <a:pt x="16" y="53"/>
                      </a:lnTo>
                      <a:lnTo>
                        <a:pt x="12" y="59"/>
                      </a:lnTo>
                      <a:lnTo>
                        <a:pt x="11" y="64"/>
                      </a:lnTo>
                      <a:lnTo>
                        <a:pt x="8" y="68"/>
                      </a:lnTo>
                      <a:lnTo>
                        <a:pt x="6" y="71"/>
                      </a:lnTo>
                      <a:lnTo>
                        <a:pt x="5" y="75"/>
                      </a:lnTo>
                      <a:lnTo>
                        <a:pt x="4" y="78"/>
                      </a:lnTo>
                      <a:lnTo>
                        <a:pt x="2" y="82"/>
                      </a:lnTo>
                      <a:lnTo>
                        <a:pt x="2" y="85"/>
                      </a:lnTo>
                      <a:lnTo>
                        <a:pt x="0" y="89"/>
                      </a:lnTo>
                      <a:lnTo>
                        <a:pt x="0" y="94"/>
                      </a:lnTo>
                      <a:lnTo>
                        <a:pt x="0" y="99"/>
                      </a:lnTo>
                      <a:lnTo>
                        <a:pt x="0" y="104"/>
                      </a:lnTo>
                      <a:lnTo>
                        <a:pt x="0" y="111"/>
                      </a:lnTo>
                      <a:lnTo>
                        <a:pt x="0" y="118"/>
                      </a:lnTo>
                      <a:lnTo>
                        <a:pt x="0" y="126"/>
                      </a:lnTo>
                      <a:lnTo>
                        <a:pt x="0" y="135"/>
                      </a:lnTo>
                      <a:lnTo>
                        <a:pt x="0" y="142"/>
                      </a:lnTo>
                      <a:lnTo>
                        <a:pt x="0" y="149"/>
                      </a:lnTo>
                      <a:lnTo>
                        <a:pt x="1" y="155"/>
                      </a:lnTo>
                      <a:lnTo>
                        <a:pt x="3" y="162"/>
                      </a:lnTo>
                      <a:lnTo>
                        <a:pt x="5" y="168"/>
                      </a:lnTo>
                      <a:lnTo>
                        <a:pt x="6" y="173"/>
                      </a:lnTo>
                      <a:lnTo>
                        <a:pt x="8" y="179"/>
                      </a:lnTo>
                      <a:lnTo>
                        <a:pt x="11" y="184"/>
                      </a:lnTo>
                      <a:lnTo>
                        <a:pt x="12" y="190"/>
                      </a:lnTo>
                      <a:lnTo>
                        <a:pt x="16" y="194"/>
                      </a:lnTo>
                      <a:lnTo>
                        <a:pt x="17" y="199"/>
                      </a:lnTo>
                      <a:lnTo>
                        <a:pt x="20" y="202"/>
                      </a:lnTo>
                      <a:lnTo>
                        <a:pt x="22" y="206"/>
                      </a:lnTo>
                      <a:lnTo>
                        <a:pt x="24" y="208"/>
                      </a:lnTo>
                      <a:lnTo>
                        <a:pt x="26" y="212"/>
                      </a:lnTo>
                      <a:lnTo>
                        <a:pt x="28" y="214"/>
                      </a:lnTo>
                      <a:lnTo>
                        <a:pt x="28" y="217"/>
                      </a:lnTo>
                      <a:lnTo>
                        <a:pt x="28" y="220"/>
                      </a:lnTo>
                      <a:lnTo>
                        <a:pt x="28" y="224"/>
                      </a:lnTo>
                      <a:lnTo>
                        <a:pt x="30" y="226"/>
                      </a:lnTo>
                      <a:lnTo>
                        <a:pt x="30" y="228"/>
                      </a:lnTo>
                      <a:lnTo>
                        <a:pt x="30" y="230"/>
                      </a:lnTo>
                      <a:lnTo>
                        <a:pt x="30" y="232"/>
                      </a:lnTo>
                      <a:lnTo>
                        <a:pt x="31" y="232"/>
                      </a:lnTo>
                      <a:lnTo>
                        <a:pt x="31" y="234"/>
                      </a:lnTo>
                      <a:lnTo>
                        <a:pt x="31" y="236"/>
                      </a:lnTo>
                      <a:lnTo>
                        <a:pt x="31" y="238"/>
                      </a:lnTo>
                      <a:lnTo>
                        <a:pt x="31" y="239"/>
                      </a:lnTo>
                      <a:lnTo>
                        <a:pt x="33" y="239"/>
                      </a:lnTo>
                      <a:lnTo>
                        <a:pt x="34" y="240"/>
                      </a:lnTo>
                      <a:lnTo>
                        <a:pt x="36" y="240"/>
                      </a:lnTo>
                      <a:lnTo>
                        <a:pt x="36" y="242"/>
                      </a:lnTo>
                      <a:lnTo>
                        <a:pt x="38" y="242"/>
                      </a:lnTo>
                      <a:lnTo>
                        <a:pt x="39" y="243"/>
                      </a:lnTo>
                      <a:lnTo>
                        <a:pt x="41" y="243"/>
                      </a:lnTo>
                      <a:lnTo>
                        <a:pt x="43" y="243"/>
                      </a:lnTo>
                      <a:lnTo>
                        <a:pt x="45" y="243"/>
                      </a:lnTo>
                      <a:lnTo>
                        <a:pt x="46" y="243"/>
                      </a:lnTo>
                      <a:lnTo>
                        <a:pt x="50" y="243"/>
                      </a:lnTo>
                      <a:lnTo>
                        <a:pt x="51" y="243"/>
                      </a:lnTo>
                      <a:lnTo>
                        <a:pt x="53" y="243"/>
                      </a:lnTo>
                      <a:lnTo>
                        <a:pt x="55" y="243"/>
                      </a:lnTo>
                      <a:lnTo>
                        <a:pt x="57" y="243"/>
                      </a:lnTo>
                      <a:lnTo>
                        <a:pt x="58" y="243"/>
                      </a:lnTo>
                      <a:lnTo>
                        <a:pt x="60" y="243"/>
                      </a:lnTo>
                      <a:lnTo>
                        <a:pt x="61" y="243"/>
                      </a:lnTo>
                      <a:lnTo>
                        <a:pt x="69" y="238"/>
                      </a:lnTo>
                      <a:lnTo>
                        <a:pt x="78" y="232"/>
                      </a:lnTo>
                      <a:lnTo>
                        <a:pt x="86" y="224"/>
                      </a:lnTo>
                      <a:lnTo>
                        <a:pt x="95" y="214"/>
                      </a:lnTo>
                      <a:lnTo>
                        <a:pt x="103" y="203"/>
                      </a:lnTo>
                      <a:lnTo>
                        <a:pt x="112" y="191"/>
                      </a:lnTo>
                      <a:lnTo>
                        <a:pt x="119" y="179"/>
                      </a:lnTo>
                      <a:lnTo>
                        <a:pt x="127" y="166"/>
                      </a:lnTo>
                      <a:lnTo>
                        <a:pt x="134" y="154"/>
                      </a:lnTo>
                      <a:lnTo>
                        <a:pt x="140" y="141"/>
                      </a:lnTo>
                      <a:lnTo>
                        <a:pt x="146" y="128"/>
                      </a:lnTo>
                      <a:lnTo>
                        <a:pt x="155" y="115"/>
                      </a:lnTo>
                      <a:lnTo>
                        <a:pt x="161" y="103"/>
                      </a:lnTo>
                      <a:lnTo>
                        <a:pt x="168" y="90"/>
                      </a:lnTo>
                      <a:lnTo>
                        <a:pt x="174" y="80"/>
                      </a:lnTo>
                      <a:lnTo>
                        <a:pt x="180" y="69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73" name="Freeform 41"/>
                <p:cNvSpPr>
                  <a:spLocks/>
                </p:cNvSpPr>
                <p:nvPr/>
              </p:nvSpPr>
              <p:spPr bwMode="auto">
                <a:xfrm>
                  <a:off x="1928" y="3639"/>
                  <a:ext cx="181" cy="239"/>
                </a:xfrm>
                <a:custGeom>
                  <a:avLst/>
                  <a:gdLst/>
                  <a:ahLst/>
                  <a:cxnLst>
                    <a:cxn ang="0">
                      <a:pos x="113" y="2"/>
                    </a:cxn>
                    <a:cxn ang="0">
                      <a:pos x="135" y="0"/>
                    </a:cxn>
                    <a:cxn ang="0">
                      <a:pos x="151" y="5"/>
                    </a:cxn>
                    <a:cxn ang="0">
                      <a:pos x="158" y="23"/>
                    </a:cxn>
                    <a:cxn ang="0">
                      <a:pos x="165" y="56"/>
                    </a:cxn>
                    <a:cxn ang="0">
                      <a:pos x="161" y="70"/>
                    </a:cxn>
                    <a:cxn ang="0">
                      <a:pos x="164" y="77"/>
                    </a:cxn>
                    <a:cxn ang="0">
                      <a:pos x="175" y="96"/>
                    </a:cxn>
                    <a:cxn ang="0">
                      <a:pos x="180" y="111"/>
                    </a:cxn>
                    <a:cxn ang="0">
                      <a:pos x="175" y="119"/>
                    </a:cxn>
                    <a:cxn ang="0">
                      <a:pos x="169" y="122"/>
                    </a:cxn>
                    <a:cxn ang="0">
                      <a:pos x="167" y="140"/>
                    </a:cxn>
                    <a:cxn ang="0">
                      <a:pos x="166" y="156"/>
                    </a:cxn>
                    <a:cxn ang="0">
                      <a:pos x="163" y="174"/>
                    </a:cxn>
                    <a:cxn ang="0">
                      <a:pos x="162" y="192"/>
                    </a:cxn>
                    <a:cxn ang="0">
                      <a:pos x="137" y="209"/>
                    </a:cxn>
                    <a:cxn ang="0">
                      <a:pos x="111" y="223"/>
                    </a:cxn>
                    <a:cxn ang="0">
                      <a:pos x="107" y="229"/>
                    </a:cxn>
                    <a:cxn ang="0">
                      <a:pos x="107" y="237"/>
                    </a:cxn>
                    <a:cxn ang="0">
                      <a:pos x="76" y="219"/>
                    </a:cxn>
                    <a:cxn ang="0">
                      <a:pos x="38" y="194"/>
                    </a:cxn>
                    <a:cxn ang="0">
                      <a:pos x="11" y="173"/>
                    </a:cxn>
                    <a:cxn ang="0">
                      <a:pos x="1" y="157"/>
                    </a:cxn>
                    <a:cxn ang="0">
                      <a:pos x="30" y="148"/>
                    </a:cxn>
                    <a:cxn ang="0">
                      <a:pos x="41" y="127"/>
                    </a:cxn>
                    <a:cxn ang="0">
                      <a:pos x="42" y="122"/>
                    </a:cxn>
                    <a:cxn ang="0">
                      <a:pos x="35" y="108"/>
                    </a:cxn>
                    <a:cxn ang="0">
                      <a:pos x="30" y="89"/>
                    </a:cxn>
                    <a:cxn ang="0">
                      <a:pos x="30" y="69"/>
                    </a:cxn>
                    <a:cxn ang="0">
                      <a:pos x="39" y="63"/>
                    </a:cxn>
                    <a:cxn ang="0">
                      <a:pos x="59" y="68"/>
                    </a:cxn>
                    <a:cxn ang="0">
                      <a:pos x="76" y="83"/>
                    </a:cxn>
                    <a:cxn ang="0">
                      <a:pos x="92" y="89"/>
                    </a:cxn>
                    <a:cxn ang="0">
                      <a:pos x="108" y="2"/>
                    </a:cxn>
                  </a:cxnLst>
                  <a:rect l="0" t="0" r="r" b="b"/>
                  <a:pathLst>
                    <a:path w="181" h="239">
                      <a:moveTo>
                        <a:pt x="108" y="2"/>
                      </a:moveTo>
                      <a:lnTo>
                        <a:pt x="113" y="2"/>
                      </a:lnTo>
                      <a:lnTo>
                        <a:pt x="124" y="1"/>
                      </a:lnTo>
                      <a:lnTo>
                        <a:pt x="135" y="0"/>
                      </a:lnTo>
                      <a:lnTo>
                        <a:pt x="146" y="1"/>
                      </a:lnTo>
                      <a:lnTo>
                        <a:pt x="151" y="5"/>
                      </a:lnTo>
                      <a:lnTo>
                        <a:pt x="154" y="8"/>
                      </a:lnTo>
                      <a:lnTo>
                        <a:pt x="158" y="23"/>
                      </a:lnTo>
                      <a:lnTo>
                        <a:pt x="163" y="38"/>
                      </a:lnTo>
                      <a:lnTo>
                        <a:pt x="165" y="56"/>
                      </a:lnTo>
                      <a:lnTo>
                        <a:pt x="164" y="63"/>
                      </a:lnTo>
                      <a:lnTo>
                        <a:pt x="161" y="70"/>
                      </a:lnTo>
                      <a:lnTo>
                        <a:pt x="161" y="74"/>
                      </a:lnTo>
                      <a:lnTo>
                        <a:pt x="164" y="77"/>
                      </a:lnTo>
                      <a:lnTo>
                        <a:pt x="168" y="84"/>
                      </a:lnTo>
                      <a:lnTo>
                        <a:pt x="175" y="96"/>
                      </a:lnTo>
                      <a:lnTo>
                        <a:pt x="180" y="108"/>
                      </a:lnTo>
                      <a:lnTo>
                        <a:pt x="180" y="111"/>
                      </a:lnTo>
                      <a:lnTo>
                        <a:pt x="179" y="116"/>
                      </a:lnTo>
                      <a:lnTo>
                        <a:pt x="175" y="119"/>
                      </a:lnTo>
                      <a:lnTo>
                        <a:pt x="173" y="122"/>
                      </a:lnTo>
                      <a:lnTo>
                        <a:pt x="169" y="122"/>
                      </a:lnTo>
                      <a:lnTo>
                        <a:pt x="167" y="122"/>
                      </a:lnTo>
                      <a:lnTo>
                        <a:pt x="167" y="140"/>
                      </a:lnTo>
                      <a:lnTo>
                        <a:pt x="164" y="148"/>
                      </a:lnTo>
                      <a:lnTo>
                        <a:pt x="166" y="156"/>
                      </a:lnTo>
                      <a:lnTo>
                        <a:pt x="162" y="165"/>
                      </a:lnTo>
                      <a:lnTo>
                        <a:pt x="163" y="174"/>
                      </a:lnTo>
                      <a:lnTo>
                        <a:pt x="164" y="180"/>
                      </a:lnTo>
                      <a:lnTo>
                        <a:pt x="162" y="192"/>
                      </a:lnTo>
                      <a:lnTo>
                        <a:pt x="148" y="207"/>
                      </a:lnTo>
                      <a:lnTo>
                        <a:pt x="137" y="209"/>
                      </a:lnTo>
                      <a:lnTo>
                        <a:pt x="118" y="219"/>
                      </a:lnTo>
                      <a:lnTo>
                        <a:pt x="111" y="223"/>
                      </a:lnTo>
                      <a:lnTo>
                        <a:pt x="108" y="225"/>
                      </a:lnTo>
                      <a:lnTo>
                        <a:pt x="107" y="229"/>
                      </a:lnTo>
                      <a:lnTo>
                        <a:pt x="107" y="233"/>
                      </a:lnTo>
                      <a:lnTo>
                        <a:pt x="107" y="237"/>
                      </a:lnTo>
                      <a:lnTo>
                        <a:pt x="107" y="238"/>
                      </a:lnTo>
                      <a:lnTo>
                        <a:pt x="76" y="219"/>
                      </a:lnTo>
                      <a:lnTo>
                        <a:pt x="54" y="206"/>
                      </a:lnTo>
                      <a:lnTo>
                        <a:pt x="38" y="194"/>
                      </a:lnTo>
                      <a:lnTo>
                        <a:pt x="22" y="182"/>
                      </a:lnTo>
                      <a:lnTo>
                        <a:pt x="11" y="173"/>
                      </a:lnTo>
                      <a:lnTo>
                        <a:pt x="0" y="167"/>
                      </a:lnTo>
                      <a:lnTo>
                        <a:pt x="1" y="157"/>
                      </a:lnTo>
                      <a:lnTo>
                        <a:pt x="11" y="162"/>
                      </a:lnTo>
                      <a:lnTo>
                        <a:pt x="30" y="148"/>
                      </a:lnTo>
                      <a:lnTo>
                        <a:pt x="36" y="142"/>
                      </a:lnTo>
                      <a:lnTo>
                        <a:pt x="41" y="127"/>
                      </a:lnTo>
                      <a:lnTo>
                        <a:pt x="42" y="126"/>
                      </a:lnTo>
                      <a:lnTo>
                        <a:pt x="42" y="122"/>
                      </a:lnTo>
                      <a:lnTo>
                        <a:pt x="41" y="116"/>
                      </a:lnTo>
                      <a:lnTo>
                        <a:pt x="35" y="108"/>
                      </a:lnTo>
                      <a:lnTo>
                        <a:pt x="33" y="97"/>
                      </a:lnTo>
                      <a:lnTo>
                        <a:pt x="30" y="89"/>
                      </a:lnTo>
                      <a:lnTo>
                        <a:pt x="30" y="81"/>
                      </a:lnTo>
                      <a:lnTo>
                        <a:pt x="30" y="69"/>
                      </a:lnTo>
                      <a:lnTo>
                        <a:pt x="32" y="64"/>
                      </a:lnTo>
                      <a:lnTo>
                        <a:pt x="39" y="63"/>
                      </a:lnTo>
                      <a:lnTo>
                        <a:pt x="50" y="63"/>
                      </a:lnTo>
                      <a:lnTo>
                        <a:pt x="59" y="68"/>
                      </a:lnTo>
                      <a:lnTo>
                        <a:pt x="69" y="75"/>
                      </a:lnTo>
                      <a:lnTo>
                        <a:pt x="76" y="83"/>
                      </a:lnTo>
                      <a:lnTo>
                        <a:pt x="81" y="92"/>
                      </a:lnTo>
                      <a:lnTo>
                        <a:pt x="92" y="89"/>
                      </a:lnTo>
                      <a:lnTo>
                        <a:pt x="94" y="46"/>
                      </a:lnTo>
                      <a:lnTo>
                        <a:pt x="108" y="2"/>
                      </a:lnTo>
                    </a:path>
                  </a:pathLst>
                </a:custGeom>
                <a:solidFill>
                  <a:srgbClr val="2B2B2B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74" name="Freeform 42"/>
                <p:cNvSpPr>
                  <a:spLocks/>
                </p:cNvSpPr>
                <p:nvPr/>
              </p:nvSpPr>
              <p:spPr bwMode="auto">
                <a:xfrm>
                  <a:off x="2064" y="3708"/>
                  <a:ext cx="21" cy="16"/>
                </a:xfrm>
                <a:custGeom>
                  <a:avLst/>
                  <a:gdLst/>
                  <a:ahLst/>
                  <a:cxnLst>
                    <a:cxn ang="0">
                      <a:pos x="16" y="0"/>
                    </a:cxn>
                    <a:cxn ang="0">
                      <a:pos x="12" y="0"/>
                    </a:cxn>
                    <a:cxn ang="0">
                      <a:pos x="10" y="0"/>
                    </a:cxn>
                    <a:cxn ang="0">
                      <a:pos x="6" y="0"/>
                    </a:cxn>
                    <a:cxn ang="0">
                      <a:pos x="3" y="0"/>
                    </a:cxn>
                    <a:cxn ang="0">
                      <a:pos x="1" y="1"/>
                    </a:cxn>
                    <a:cxn ang="0">
                      <a:pos x="0" y="3"/>
                    </a:cxn>
                    <a:cxn ang="0">
                      <a:pos x="2" y="5"/>
                    </a:cxn>
                    <a:cxn ang="0">
                      <a:pos x="1" y="5"/>
                    </a:cxn>
                    <a:cxn ang="0">
                      <a:pos x="4" y="6"/>
                    </a:cxn>
                    <a:cxn ang="0">
                      <a:pos x="5" y="6"/>
                    </a:cxn>
                    <a:cxn ang="0">
                      <a:pos x="6" y="8"/>
                    </a:cxn>
                    <a:cxn ang="0">
                      <a:pos x="10" y="11"/>
                    </a:cxn>
                    <a:cxn ang="0">
                      <a:pos x="11" y="12"/>
                    </a:cxn>
                    <a:cxn ang="0">
                      <a:pos x="14" y="15"/>
                    </a:cxn>
                    <a:cxn ang="0">
                      <a:pos x="16" y="15"/>
                    </a:cxn>
                    <a:cxn ang="0">
                      <a:pos x="16" y="13"/>
                    </a:cxn>
                    <a:cxn ang="0">
                      <a:pos x="15" y="12"/>
                    </a:cxn>
                    <a:cxn ang="0">
                      <a:pos x="15" y="7"/>
                    </a:cxn>
                    <a:cxn ang="0">
                      <a:pos x="16" y="6"/>
                    </a:cxn>
                    <a:cxn ang="0">
                      <a:pos x="17" y="1"/>
                    </a:cxn>
                    <a:cxn ang="0">
                      <a:pos x="18" y="0"/>
                    </a:cxn>
                    <a:cxn ang="0">
                      <a:pos x="20" y="0"/>
                    </a:cxn>
                    <a:cxn ang="0">
                      <a:pos x="16" y="0"/>
                    </a:cxn>
                  </a:cxnLst>
                  <a:rect l="0" t="0" r="r" b="b"/>
                  <a:pathLst>
                    <a:path w="21" h="16">
                      <a:moveTo>
                        <a:pt x="16" y="0"/>
                      </a:moveTo>
                      <a:lnTo>
                        <a:pt x="12" y="0"/>
                      </a:lnTo>
                      <a:lnTo>
                        <a:pt x="10" y="0"/>
                      </a:lnTo>
                      <a:lnTo>
                        <a:pt x="6" y="0"/>
                      </a:lnTo>
                      <a:lnTo>
                        <a:pt x="3" y="0"/>
                      </a:ln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2" y="5"/>
                      </a:lnTo>
                      <a:lnTo>
                        <a:pt x="1" y="5"/>
                      </a:lnTo>
                      <a:lnTo>
                        <a:pt x="4" y="6"/>
                      </a:lnTo>
                      <a:lnTo>
                        <a:pt x="5" y="6"/>
                      </a:lnTo>
                      <a:lnTo>
                        <a:pt x="6" y="8"/>
                      </a:lnTo>
                      <a:lnTo>
                        <a:pt x="10" y="11"/>
                      </a:lnTo>
                      <a:lnTo>
                        <a:pt x="11" y="12"/>
                      </a:lnTo>
                      <a:lnTo>
                        <a:pt x="14" y="15"/>
                      </a:lnTo>
                      <a:lnTo>
                        <a:pt x="16" y="15"/>
                      </a:lnTo>
                      <a:lnTo>
                        <a:pt x="16" y="13"/>
                      </a:lnTo>
                      <a:lnTo>
                        <a:pt x="15" y="12"/>
                      </a:lnTo>
                      <a:lnTo>
                        <a:pt x="15" y="7"/>
                      </a:lnTo>
                      <a:lnTo>
                        <a:pt x="16" y="6"/>
                      </a:lnTo>
                      <a:lnTo>
                        <a:pt x="17" y="1"/>
                      </a:lnTo>
                      <a:lnTo>
                        <a:pt x="18" y="0"/>
                      </a:lnTo>
                      <a:lnTo>
                        <a:pt x="2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75" name="Freeform 43"/>
                <p:cNvSpPr>
                  <a:spLocks/>
                </p:cNvSpPr>
                <p:nvPr/>
              </p:nvSpPr>
              <p:spPr bwMode="auto">
                <a:xfrm>
                  <a:off x="2080" y="3801"/>
                  <a:ext cx="16" cy="41"/>
                </a:xfrm>
                <a:custGeom>
                  <a:avLst/>
                  <a:gdLst/>
                  <a:ahLst/>
                  <a:cxnLst>
                    <a:cxn ang="0">
                      <a:pos x="13" y="1"/>
                    </a:cxn>
                    <a:cxn ang="0">
                      <a:pos x="7" y="0"/>
                    </a:cxn>
                    <a:cxn ang="0">
                      <a:pos x="2" y="1"/>
                    </a:cxn>
                    <a:cxn ang="0">
                      <a:pos x="0" y="4"/>
                    </a:cxn>
                    <a:cxn ang="0">
                      <a:pos x="0" y="5"/>
                    </a:cxn>
                    <a:cxn ang="0">
                      <a:pos x="2" y="8"/>
                    </a:cxn>
                    <a:cxn ang="0">
                      <a:pos x="7" y="12"/>
                    </a:cxn>
                    <a:cxn ang="0">
                      <a:pos x="9" y="18"/>
                    </a:cxn>
                    <a:cxn ang="0">
                      <a:pos x="10" y="22"/>
                    </a:cxn>
                    <a:cxn ang="0">
                      <a:pos x="10" y="27"/>
                    </a:cxn>
                    <a:cxn ang="0">
                      <a:pos x="9" y="31"/>
                    </a:cxn>
                    <a:cxn ang="0">
                      <a:pos x="6" y="35"/>
                    </a:cxn>
                    <a:cxn ang="0">
                      <a:pos x="2" y="39"/>
                    </a:cxn>
                    <a:cxn ang="0">
                      <a:pos x="7" y="40"/>
                    </a:cxn>
                    <a:cxn ang="0">
                      <a:pos x="11" y="35"/>
                    </a:cxn>
                    <a:cxn ang="0">
                      <a:pos x="13" y="27"/>
                    </a:cxn>
                    <a:cxn ang="0">
                      <a:pos x="15" y="23"/>
                    </a:cxn>
                    <a:cxn ang="0">
                      <a:pos x="15" y="20"/>
                    </a:cxn>
                    <a:cxn ang="0">
                      <a:pos x="13" y="14"/>
                    </a:cxn>
                    <a:cxn ang="0">
                      <a:pos x="11" y="9"/>
                    </a:cxn>
                    <a:cxn ang="0">
                      <a:pos x="11" y="6"/>
                    </a:cxn>
                    <a:cxn ang="0">
                      <a:pos x="11" y="1"/>
                    </a:cxn>
                    <a:cxn ang="0">
                      <a:pos x="13" y="0"/>
                    </a:cxn>
                    <a:cxn ang="0">
                      <a:pos x="13" y="1"/>
                    </a:cxn>
                  </a:cxnLst>
                  <a:rect l="0" t="0" r="r" b="b"/>
                  <a:pathLst>
                    <a:path w="16" h="41">
                      <a:moveTo>
                        <a:pt x="13" y="1"/>
                      </a:moveTo>
                      <a:lnTo>
                        <a:pt x="7" y="0"/>
                      </a:lnTo>
                      <a:lnTo>
                        <a:pt x="2" y="1"/>
                      </a:lnTo>
                      <a:lnTo>
                        <a:pt x="0" y="4"/>
                      </a:lnTo>
                      <a:lnTo>
                        <a:pt x="0" y="5"/>
                      </a:lnTo>
                      <a:lnTo>
                        <a:pt x="2" y="8"/>
                      </a:lnTo>
                      <a:lnTo>
                        <a:pt x="7" y="12"/>
                      </a:lnTo>
                      <a:lnTo>
                        <a:pt x="9" y="18"/>
                      </a:lnTo>
                      <a:lnTo>
                        <a:pt x="10" y="22"/>
                      </a:lnTo>
                      <a:lnTo>
                        <a:pt x="10" y="27"/>
                      </a:lnTo>
                      <a:lnTo>
                        <a:pt x="9" y="31"/>
                      </a:lnTo>
                      <a:lnTo>
                        <a:pt x="6" y="35"/>
                      </a:lnTo>
                      <a:lnTo>
                        <a:pt x="2" y="39"/>
                      </a:lnTo>
                      <a:lnTo>
                        <a:pt x="7" y="40"/>
                      </a:lnTo>
                      <a:lnTo>
                        <a:pt x="11" y="35"/>
                      </a:lnTo>
                      <a:lnTo>
                        <a:pt x="13" y="27"/>
                      </a:lnTo>
                      <a:lnTo>
                        <a:pt x="15" y="23"/>
                      </a:lnTo>
                      <a:lnTo>
                        <a:pt x="15" y="20"/>
                      </a:lnTo>
                      <a:lnTo>
                        <a:pt x="13" y="14"/>
                      </a:lnTo>
                      <a:lnTo>
                        <a:pt x="11" y="9"/>
                      </a:lnTo>
                      <a:lnTo>
                        <a:pt x="11" y="6"/>
                      </a:lnTo>
                      <a:lnTo>
                        <a:pt x="11" y="1"/>
                      </a:lnTo>
                      <a:lnTo>
                        <a:pt x="13" y="0"/>
                      </a:lnTo>
                      <a:lnTo>
                        <a:pt x="13" y="1"/>
                      </a:lnTo>
                    </a:path>
                  </a:pathLst>
                </a:custGeom>
                <a:solidFill>
                  <a:srgbClr val="11111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76" name="Freeform 44"/>
                <p:cNvSpPr>
                  <a:spLocks/>
                </p:cNvSpPr>
                <p:nvPr/>
              </p:nvSpPr>
              <p:spPr bwMode="auto">
                <a:xfrm>
                  <a:off x="1958" y="3721"/>
                  <a:ext cx="33" cy="40"/>
                </a:xfrm>
                <a:custGeom>
                  <a:avLst/>
                  <a:gdLst/>
                  <a:ahLst/>
                  <a:cxnLst>
                    <a:cxn ang="0">
                      <a:pos x="1" y="11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3" y="14"/>
                    </a:cxn>
                    <a:cxn ang="0">
                      <a:pos x="5" y="21"/>
                    </a:cxn>
                    <a:cxn ang="0">
                      <a:pos x="9" y="28"/>
                    </a:cxn>
                    <a:cxn ang="0">
                      <a:pos x="15" y="34"/>
                    </a:cxn>
                    <a:cxn ang="0">
                      <a:pos x="20" y="34"/>
                    </a:cxn>
                    <a:cxn ang="0">
                      <a:pos x="27" y="33"/>
                    </a:cxn>
                    <a:cxn ang="0">
                      <a:pos x="28" y="27"/>
                    </a:cxn>
                    <a:cxn ang="0">
                      <a:pos x="32" y="34"/>
                    </a:cxn>
                    <a:cxn ang="0">
                      <a:pos x="27" y="37"/>
                    </a:cxn>
                    <a:cxn ang="0">
                      <a:pos x="21" y="37"/>
                    </a:cxn>
                    <a:cxn ang="0">
                      <a:pos x="16" y="39"/>
                    </a:cxn>
                    <a:cxn ang="0">
                      <a:pos x="10" y="34"/>
                    </a:cxn>
                    <a:cxn ang="0">
                      <a:pos x="7" y="29"/>
                    </a:cxn>
                    <a:cxn ang="0">
                      <a:pos x="3" y="23"/>
                    </a:cxn>
                    <a:cxn ang="0">
                      <a:pos x="2" y="20"/>
                    </a:cxn>
                    <a:cxn ang="0">
                      <a:pos x="1" y="11"/>
                    </a:cxn>
                  </a:cxnLst>
                  <a:rect l="0" t="0" r="r" b="b"/>
                  <a:pathLst>
                    <a:path w="33" h="40">
                      <a:moveTo>
                        <a:pt x="1" y="11"/>
                      </a:move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3" y="14"/>
                      </a:lnTo>
                      <a:lnTo>
                        <a:pt x="5" y="21"/>
                      </a:lnTo>
                      <a:lnTo>
                        <a:pt x="9" y="28"/>
                      </a:lnTo>
                      <a:lnTo>
                        <a:pt x="15" y="34"/>
                      </a:lnTo>
                      <a:lnTo>
                        <a:pt x="20" y="34"/>
                      </a:lnTo>
                      <a:lnTo>
                        <a:pt x="27" y="33"/>
                      </a:lnTo>
                      <a:lnTo>
                        <a:pt x="28" y="27"/>
                      </a:lnTo>
                      <a:lnTo>
                        <a:pt x="32" y="34"/>
                      </a:lnTo>
                      <a:lnTo>
                        <a:pt x="27" y="37"/>
                      </a:lnTo>
                      <a:lnTo>
                        <a:pt x="21" y="37"/>
                      </a:lnTo>
                      <a:lnTo>
                        <a:pt x="16" y="39"/>
                      </a:lnTo>
                      <a:lnTo>
                        <a:pt x="10" y="34"/>
                      </a:lnTo>
                      <a:lnTo>
                        <a:pt x="7" y="29"/>
                      </a:lnTo>
                      <a:lnTo>
                        <a:pt x="3" y="23"/>
                      </a:lnTo>
                      <a:lnTo>
                        <a:pt x="2" y="20"/>
                      </a:lnTo>
                      <a:lnTo>
                        <a:pt x="1" y="11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77" name="Freeform 45"/>
                <p:cNvSpPr>
                  <a:spLocks/>
                </p:cNvSpPr>
                <p:nvPr/>
              </p:nvSpPr>
              <p:spPr bwMode="auto">
                <a:xfrm>
                  <a:off x="1928" y="3796"/>
                  <a:ext cx="160" cy="85"/>
                </a:xfrm>
                <a:custGeom>
                  <a:avLst/>
                  <a:gdLst/>
                  <a:ahLst/>
                  <a:cxnLst>
                    <a:cxn ang="0">
                      <a:pos x="154" y="42"/>
                    </a:cxn>
                    <a:cxn ang="0">
                      <a:pos x="151" y="44"/>
                    </a:cxn>
                    <a:cxn ang="0">
                      <a:pos x="148" y="47"/>
                    </a:cxn>
                    <a:cxn ang="0">
                      <a:pos x="143" y="48"/>
                    </a:cxn>
                    <a:cxn ang="0">
                      <a:pos x="140" y="48"/>
                    </a:cxn>
                    <a:cxn ang="0">
                      <a:pos x="134" y="50"/>
                    </a:cxn>
                    <a:cxn ang="0">
                      <a:pos x="128" y="52"/>
                    </a:cxn>
                    <a:cxn ang="0">
                      <a:pos x="120" y="51"/>
                    </a:cxn>
                    <a:cxn ang="0">
                      <a:pos x="115" y="48"/>
                    </a:cxn>
                    <a:cxn ang="0">
                      <a:pos x="111" y="44"/>
                    </a:cxn>
                    <a:cxn ang="0">
                      <a:pos x="104" y="36"/>
                    </a:cxn>
                    <a:cxn ang="0">
                      <a:pos x="94" y="21"/>
                    </a:cxn>
                    <a:cxn ang="0">
                      <a:pos x="76" y="12"/>
                    </a:cxn>
                    <a:cxn ang="0">
                      <a:pos x="71" y="9"/>
                    </a:cxn>
                    <a:cxn ang="0">
                      <a:pos x="67" y="11"/>
                    </a:cxn>
                    <a:cxn ang="0">
                      <a:pos x="73" y="17"/>
                    </a:cxn>
                    <a:cxn ang="0">
                      <a:pos x="81" y="24"/>
                    </a:cxn>
                    <a:cxn ang="0">
                      <a:pos x="94" y="42"/>
                    </a:cxn>
                    <a:cxn ang="0">
                      <a:pos x="94" y="46"/>
                    </a:cxn>
                    <a:cxn ang="0">
                      <a:pos x="88" y="44"/>
                    </a:cxn>
                    <a:cxn ang="0">
                      <a:pos x="77" y="34"/>
                    </a:cxn>
                    <a:cxn ang="0">
                      <a:pos x="67" y="25"/>
                    </a:cxn>
                    <a:cxn ang="0">
                      <a:pos x="69" y="36"/>
                    </a:cxn>
                    <a:cxn ang="0">
                      <a:pos x="74" y="46"/>
                    </a:cxn>
                    <a:cxn ang="0">
                      <a:pos x="74" y="48"/>
                    </a:cxn>
                    <a:cxn ang="0">
                      <a:pos x="68" y="48"/>
                    </a:cxn>
                    <a:cxn ang="0">
                      <a:pos x="60" y="42"/>
                    </a:cxn>
                    <a:cxn ang="0">
                      <a:pos x="44" y="32"/>
                    </a:cxn>
                    <a:cxn ang="0">
                      <a:pos x="17" y="13"/>
                    </a:cxn>
                    <a:cxn ang="0">
                      <a:pos x="8" y="5"/>
                    </a:cxn>
                    <a:cxn ang="0">
                      <a:pos x="1" y="0"/>
                    </a:cxn>
                    <a:cxn ang="0">
                      <a:pos x="0" y="12"/>
                    </a:cxn>
                    <a:cxn ang="0">
                      <a:pos x="111" y="84"/>
                    </a:cxn>
                    <a:cxn ang="0">
                      <a:pos x="107" y="74"/>
                    </a:cxn>
                    <a:cxn ang="0">
                      <a:pos x="110" y="66"/>
                    </a:cxn>
                    <a:cxn ang="0">
                      <a:pos x="115" y="64"/>
                    </a:cxn>
                    <a:cxn ang="0">
                      <a:pos x="120" y="61"/>
                    </a:cxn>
                    <a:cxn ang="0">
                      <a:pos x="124" y="59"/>
                    </a:cxn>
                    <a:cxn ang="0">
                      <a:pos x="128" y="57"/>
                    </a:cxn>
                    <a:cxn ang="0">
                      <a:pos x="132" y="54"/>
                    </a:cxn>
                    <a:cxn ang="0">
                      <a:pos x="140" y="53"/>
                    </a:cxn>
                    <a:cxn ang="0">
                      <a:pos x="143" y="52"/>
                    </a:cxn>
                    <a:cxn ang="0">
                      <a:pos x="151" y="49"/>
                    </a:cxn>
                    <a:cxn ang="0">
                      <a:pos x="155" y="46"/>
                    </a:cxn>
                    <a:cxn ang="0">
                      <a:pos x="159" y="43"/>
                    </a:cxn>
                    <a:cxn ang="0">
                      <a:pos x="154" y="42"/>
                    </a:cxn>
                  </a:cxnLst>
                  <a:rect l="0" t="0" r="r" b="b"/>
                  <a:pathLst>
                    <a:path w="160" h="85">
                      <a:moveTo>
                        <a:pt x="154" y="42"/>
                      </a:moveTo>
                      <a:lnTo>
                        <a:pt x="151" y="44"/>
                      </a:lnTo>
                      <a:lnTo>
                        <a:pt x="148" y="47"/>
                      </a:lnTo>
                      <a:lnTo>
                        <a:pt x="143" y="48"/>
                      </a:lnTo>
                      <a:lnTo>
                        <a:pt x="140" y="48"/>
                      </a:lnTo>
                      <a:lnTo>
                        <a:pt x="134" y="50"/>
                      </a:lnTo>
                      <a:lnTo>
                        <a:pt x="128" y="52"/>
                      </a:lnTo>
                      <a:lnTo>
                        <a:pt x="120" y="51"/>
                      </a:lnTo>
                      <a:lnTo>
                        <a:pt x="115" y="48"/>
                      </a:lnTo>
                      <a:lnTo>
                        <a:pt x="111" y="44"/>
                      </a:lnTo>
                      <a:lnTo>
                        <a:pt x="104" y="36"/>
                      </a:lnTo>
                      <a:lnTo>
                        <a:pt x="94" y="21"/>
                      </a:lnTo>
                      <a:lnTo>
                        <a:pt x="76" y="12"/>
                      </a:lnTo>
                      <a:lnTo>
                        <a:pt x="71" y="9"/>
                      </a:lnTo>
                      <a:lnTo>
                        <a:pt x="67" y="11"/>
                      </a:lnTo>
                      <a:lnTo>
                        <a:pt x="73" y="17"/>
                      </a:lnTo>
                      <a:lnTo>
                        <a:pt x="81" y="24"/>
                      </a:lnTo>
                      <a:lnTo>
                        <a:pt x="94" y="42"/>
                      </a:lnTo>
                      <a:lnTo>
                        <a:pt x="94" y="46"/>
                      </a:lnTo>
                      <a:lnTo>
                        <a:pt x="88" y="44"/>
                      </a:lnTo>
                      <a:lnTo>
                        <a:pt x="77" y="34"/>
                      </a:lnTo>
                      <a:lnTo>
                        <a:pt x="67" y="25"/>
                      </a:lnTo>
                      <a:lnTo>
                        <a:pt x="69" y="36"/>
                      </a:lnTo>
                      <a:lnTo>
                        <a:pt x="74" y="46"/>
                      </a:lnTo>
                      <a:lnTo>
                        <a:pt x="74" y="48"/>
                      </a:lnTo>
                      <a:lnTo>
                        <a:pt x="68" y="48"/>
                      </a:lnTo>
                      <a:lnTo>
                        <a:pt x="60" y="42"/>
                      </a:lnTo>
                      <a:lnTo>
                        <a:pt x="44" y="32"/>
                      </a:lnTo>
                      <a:lnTo>
                        <a:pt x="17" y="13"/>
                      </a:lnTo>
                      <a:lnTo>
                        <a:pt x="8" y="5"/>
                      </a:lnTo>
                      <a:lnTo>
                        <a:pt x="1" y="0"/>
                      </a:lnTo>
                      <a:lnTo>
                        <a:pt x="0" y="12"/>
                      </a:lnTo>
                      <a:lnTo>
                        <a:pt x="111" y="84"/>
                      </a:lnTo>
                      <a:lnTo>
                        <a:pt x="107" y="74"/>
                      </a:lnTo>
                      <a:lnTo>
                        <a:pt x="110" y="66"/>
                      </a:lnTo>
                      <a:lnTo>
                        <a:pt x="115" y="64"/>
                      </a:lnTo>
                      <a:lnTo>
                        <a:pt x="120" y="61"/>
                      </a:lnTo>
                      <a:lnTo>
                        <a:pt x="124" y="59"/>
                      </a:lnTo>
                      <a:lnTo>
                        <a:pt x="128" y="57"/>
                      </a:lnTo>
                      <a:lnTo>
                        <a:pt x="132" y="54"/>
                      </a:lnTo>
                      <a:lnTo>
                        <a:pt x="140" y="53"/>
                      </a:lnTo>
                      <a:lnTo>
                        <a:pt x="143" y="52"/>
                      </a:lnTo>
                      <a:lnTo>
                        <a:pt x="151" y="49"/>
                      </a:lnTo>
                      <a:lnTo>
                        <a:pt x="155" y="46"/>
                      </a:lnTo>
                      <a:lnTo>
                        <a:pt x="159" y="43"/>
                      </a:lnTo>
                      <a:lnTo>
                        <a:pt x="154" y="42"/>
                      </a:lnTo>
                    </a:path>
                  </a:pathLst>
                </a:custGeom>
                <a:solidFill>
                  <a:srgbClr val="11111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78" name="Freeform 46"/>
                <p:cNvSpPr>
                  <a:spLocks/>
                </p:cNvSpPr>
                <p:nvPr/>
              </p:nvSpPr>
              <p:spPr bwMode="auto">
                <a:xfrm>
                  <a:off x="2070" y="3776"/>
                  <a:ext cx="28" cy="16"/>
                </a:xfrm>
                <a:custGeom>
                  <a:avLst/>
                  <a:gdLst/>
                  <a:ahLst/>
                  <a:cxnLst>
                    <a:cxn ang="0">
                      <a:pos x="25" y="0"/>
                    </a:cxn>
                    <a:cxn ang="0">
                      <a:pos x="26" y="2"/>
                    </a:cxn>
                    <a:cxn ang="0">
                      <a:pos x="27" y="6"/>
                    </a:cxn>
                    <a:cxn ang="0">
                      <a:pos x="25" y="9"/>
                    </a:cxn>
                    <a:cxn ang="0">
                      <a:pos x="24" y="12"/>
                    </a:cxn>
                    <a:cxn ang="0">
                      <a:pos x="23" y="15"/>
                    </a:cxn>
                    <a:cxn ang="0">
                      <a:pos x="12" y="14"/>
                    </a:cxn>
                    <a:cxn ang="0">
                      <a:pos x="9" y="13"/>
                    </a:cxn>
                    <a:cxn ang="0">
                      <a:pos x="4" y="13"/>
                    </a:cxn>
                    <a:cxn ang="0">
                      <a:pos x="2" y="15"/>
                    </a:cxn>
                    <a:cxn ang="0">
                      <a:pos x="0" y="15"/>
                    </a:cxn>
                    <a:cxn ang="0">
                      <a:pos x="0" y="11"/>
                    </a:cxn>
                    <a:cxn ang="0">
                      <a:pos x="5" y="10"/>
                    </a:cxn>
                    <a:cxn ang="0">
                      <a:pos x="14" y="8"/>
                    </a:cxn>
                    <a:cxn ang="0">
                      <a:pos x="18" y="6"/>
                    </a:cxn>
                    <a:cxn ang="0">
                      <a:pos x="23" y="3"/>
                    </a:cxn>
                    <a:cxn ang="0">
                      <a:pos x="23" y="0"/>
                    </a:cxn>
                    <a:cxn ang="0">
                      <a:pos x="24" y="0"/>
                    </a:cxn>
                    <a:cxn ang="0">
                      <a:pos x="25" y="0"/>
                    </a:cxn>
                  </a:cxnLst>
                  <a:rect l="0" t="0" r="r" b="b"/>
                  <a:pathLst>
                    <a:path w="28" h="16">
                      <a:moveTo>
                        <a:pt x="25" y="0"/>
                      </a:moveTo>
                      <a:lnTo>
                        <a:pt x="26" y="2"/>
                      </a:lnTo>
                      <a:lnTo>
                        <a:pt x="27" y="6"/>
                      </a:lnTo>
                      <a:lnTo>
                        <a:pt x="25" y="9"/>
                      </a:lnTo>
                      <a:lnTo>
                        <a:pt x="24" y="12"/>
                      </a:lnTo>
                      <a:lnTo>
                        <a:pt x="23" y="15"/>
                      </a:lnTo>
                      <a:lnTo>
                        <a:pt x="12" y="14"/>
                      </a:lnTo>
                      <a:lnTo>
                        <a:pt x="9" y="13"/>
                      </a:lnTo>
                      <a:lnTo>
                        <a:pt x="4" y="13"/>
                      </a:lnTo>
                      <a:lnTo>
                        <a:pt x="2" y="15"/>
                      </a:lnTo>
                      <a:lnTo>
                        <a:pt x="0" y="15"/>
                      </a:lnTo>
                      <a:lnTo>
                        <a:pt x="0" y="11"/>
                      </a:lnTo>
                      <a:lnTo>
                        <a:pt x="5" y="10"/>
                      </a:lnTo>
                      <a:lnTo>
                        <a:pt x="14" y="8"/>
                      </a:lnTo>
                      <a:lnTo>
                        <a:pt x="18" y="6"/>
                      </a:lnTo>
                      <a:lnTo>
                        <a:pt x="23" y="3"/>
                      </a:lnTo>
                      <a:lnTo>
                        <a:pt x="23" y="0"/>
                      </a:lnTo>
                      <a:lnTo>
                        <a:pt x="24" y="0"/>
                      </a:lnTo>
                      <a:lnTo>
                        <a:pt x="25" y="0"/>
                      </a:lnTo>
                    </a:path>
                  </a:pathLst>
                </a:custGeom>
                <a:solidFill>
                  <a:srgbClr val="151515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79" name="Freeform 47"/>
                <p:cNvSpPr>
                  <a:spLocks/>
                </p:cNvSpPr>
                <p:nvPr/>
              </p:nvSpPr>
              <p:spPr bwMode="auto">
                <a:xfrm>
                  <a:off x="2070" y="3787"/>
                  <a:ext cx="26" cy="1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8" y="0"/>
                    </a:cxn>
                    <a:cxn ang="0">
                      <a:pos x="14" y="1"/>
                    </a:cxn>
                    <a:cxn ang="0">
                      <a:pos x="17" y="0"/>
                    </a:cxn>
                    <a:cxn ang="0">
                      <a:pos x="21" y="1"/>
                    </a:cxn>
                    <a:cxn ang="0">
                      <a:pos x="25" y="2"/>
                    </a:cxn>
                    <a:cxn ang="0">
                      <a:pos x="25" y="6"/>
                    </a:cxn>
                    <a:cxn ang="0">
                      <a:pos x="25" y="8"/>
                    </a:cxn>
                    <a:cxn ang="0">
                      <a:pos x="25" y="9"/>
                    </a:cxn>
                    <a:cxn ang="0">
                      <a:pos x="23" y="12"/>
                    </a:cxn>
                    <a:cxn ang="0">
                      <a:pos x="22" y="16"/>
                    </a:cxn>
                    <a:cxn ang="0">
                      <a:pos x="20" y="16"/>
                    </a:cxn>
                    <a:cxn ang="0">
                      <a:pos x="16" y="12"/>
                    </a:cxn>
                    <a:cxn ang="0">
                      <a:pos x="12" y="8"/>
                    </a:cxn>
                    <a:cxn ang="0">
                      <a:pos x="9" y="5"/>
                    </a:cxn>
                    <a:cxn ang="0">
                      <a:pos x="5" y="3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6" h="17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8" y="0"/>
                      </a:lnTo>
                      <a:lnTo>
                        <a:pt x="14" y="1"/>
                      </a:lnTo>
                      <a:lnTo>
                        <a:pt x="17" y="0"/>
                      </a:lnTo>
                      <a:lnTo>
                        <a:pt x="21" y="1"/>
                      </a:lnTo>
                      <a:lnTo>
                        <a:pt x="25" y="2"/>
                      </a:lnTo>
                      <a:lnTo>
                        <a:pt x="25" y="6"/>
                      </a:lnTo>
                      <a:lnTo>
                        <a:pt x="25" y="8"/>
                      </a:lnTo>
                      <a:lnTo>
                        <a:pt x="25" y="9"/>
                      </a:lnTo>
                      <a:lnTo>
                        <a:pt x="23" y="12"/>
                      </a:lnTo>
                      <a:lnTo>
                        <a:pt x="22" y="16"/>
                      </a:lnTo>
                      <a:lnTo>
                        <a:pt x="20" y="16"/>
                      </a:lnTo>
                      <a:lnTo>
                        <a:pt x="16" y="12"/>
                      </a:lnTo>
                      <a:lnTo>
                        <a:pt x="12" y="8"/>
                      </a:lnTo>
                      <a:lnTo>
                        <a:pt x="9" y="5"/>
                      </a:lnTo>
                      <a:lnTo>
                        <a:pt x="5" y="3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80" name="Freeform 48"/>
                <p:cNvSpPr>
                  <a:spLocks/>
                </p:cNvSpPr>
                <p:nvPr/>
              </p:nvSpPr>
              <p:spPr bwMode="auto">
                <a:xfrm>
                  <a:off x="2069" y="3738"/>
                  <a:ext cx="23" cy="61"/>
                </a:xfrm>
                <a:custGeom>
                  <a:avLst/>
                  <a:gdLst/>
                  <a:ahLst/>
                  <a:cxnLst>
                    <a:cxn ang="0">
                      <a:pos x="17" y="0"/>
                    </a:cxn>
                    <a:cxn ang="0">
                      <a:pos x="21" y="5"/>
                    </a:cxn>
                    <a:cxn ang="0">
                      <a:pos x="22" y="6"/>
                    </a:cxn>
                    <a:cxn ang="0">
                      <a:pos x="19" y="6"/>
                    </a:cxn>
                    <a:cxn ang="0">
                      <a:pos x="16" y="6"/>
                    </a:cxn>
                    <a:cxn ang="0">
                      <a:pos x="17" y="12"/>
                    </a:cxn>
                    <a:cxn ang="0">
                      <a:pos x="17" y="15"/>
                    </a:cxn>
                    <a:cxn ang="0">
                      <a:pos x="19" y="19"/>
                    </a:cxn>
                    <a:cxn ang="0">
                      <a:pos x="22" y="20"/>
                    </a:cxn>
                    <a:cxn ang="0">
                      <a:pos x="17" y="25"/>
                    </a:cxn>
                    <a:cxn ang="0">
                      <a:pos x="15" y="26"/>
                    </a:cxn>
                    <a:cxn ang="0">
                      <a:pos x="11" y="29"/>
                    </a:cxn>
                    <a:cxn ang="0">
                      <a:pos x="9" y="36"/>
                    </a:cxn>
                    <a:cxn ang="0">
                      <a:pos x="5" y="41"/>
                    </a:cxn>
                    <a:cxn ang="0">
                      <a:pos x="3" y="49"/>
                    </a:cxn>
                    <a:cxn ang="0">
                      <a:pos x="3" y="54"/>
                    </a:cxn>
                    <a:cxn ang="0">
                      <a:pos x="0" y="60"/>
                    </a:cxn>
                    <a:cxn ang="0">
                      <a:pos x="0" y="58"/>
                    </a:cxn>
                    <a:cxn ang="0">
                      <a:pos x="0" y="57"/>
                    </a:cxn>
                    <a:cxn ang="0">
                      <a:pos x="0" y="52"/>
                    </a:cxn>
                    <a:cxn ang="0">
                      <a:pos x="0" y="48"/>
                    </a:cxn>
                    <a:cxn ang="0">
                      <a:pos x="2" y="42"/>
                    </a:cxn>
                    <a:cxn ang="0">
                      <a:pos x="0" y="37"/>
                    </a:cxn>
                    <a:cxn ang="0">
                      <a:pos x="3" y="34"/>
                    </a:cxn>
                    <a:cxn ang="0">
                      <a:pos x="5" y="29"/>
                    </a:cxn>
                    <a:cxn ang="0">
                      <a:pos x="11" y="20"/>
                    </a:cxn>
                    <a:cxn ang="0">
                      <a:pos x="11" y="15"/>
                    </a:cxn>
                    <a:cxn ang="0">
                      <a:pos x="11" y="8"/>
                    </a:cxn>
                    <a:cxn ang="0">
                      <a:pos x="13" y="1"/>
                    </a:cxn>
                    <a:cxn ang="0">
                      <a:pos x="16" y="0"/>
                    </a:cxn>
                    <a:cxn ang="0">
                      <a:pos x="17" y="0"/>
                    </a:cxn>
                  </a:cxnLst>
                  <a:rect l="0" t="0" r="r" b="b"/>
                  <a:pathLst>
                    <a:path w="23" h="61">
                      <a:moveTo>
                        <a:pt x="17" y="0"/>
                      </a:moveTo>
                      <a:lnTo>
                        <a:pt x="21" y="5"/>
                      </a:lnTo>
                      <a:lnTo>
                        <a:pt x="22" y="6"/>
                      </a:lnTo>
                      <a:lnTo>
                        <a:pt x="19" y="6"/>
                      </a:lnTo>
                      <a:lnTo>
                        <a:pt x="16" y="6"/>
                      </a:lnTo>
                      <a:lnTo>
                        <a:pt x="17" y="12"/>
                      </a:lnTo>
                      <a:lnTo>
                        <a:pt x="17" y="15"/>
                      </a:lnTo>
                      <a:lnTo>
                        <a:pt x="19" y="19"/>
                      </a:lnTo>
                      <a:lnTo>
                        <a:pt x="22" y="20"/>
                      </a:lnTo>
                      <a:lnTo>
                        <a:pt x="17" y="25"/>
                      </a:lnTo>
                      <a:lnTo>
                        <a:pt x="15" y="26"/>
                      </a:lnTo>
                      <a:lnTo>
                        <a:pt x="11" y="29"/>
                      </a:lnTo>
                      <a:lnTo>
                        <a:pt x="9" y="36"/>
                      </a:lnTo>
                      <a:lnTo>
                        <a:pt x="5" y="41"/>
                      </a:lnTo>
                      <a:lnTo>
                        <a:pt x="3" y="49"/>
                      </a:lnTo>
                      <a:lnTo>
                        <a:pt x="3" y="54"/>
                      </a:lnTo>
                      <a:lnTo>
                        <a:pt x="0" y="60"/>
                      </a:lnTo>
                      <a:lnTo>
                        <a:pt x="0" y="58"/>
                      </a:lnTo>
                      <a:lnTo>
                        <a:pt x="0" y="57"/>
                      </a:lnTo>
                      <a:lnTo>
                        <a:pt x="0" y="52"/>
                      </a:lnTo>
                      <a:lnTo>
                        <a:pt x="0" y="48"/>
                      </a:lnTo>
                      <a:lnTo>
                        <a:pt x="2" y="42"/>
                      </a:lnTo>
                      <a:lnTo>
                        <a:pt x="0" y="37"/>
                      </a:lnTo>
                      <a:lnTo>
                        <a:pt x="3" y="34"/>
                      </a:lnTo>
                      <a:lnTo>
                        <a:pt x="5" y="29"/>
                      </a:lnTo>
                      <a:lnTo>
                        <a:pt x="11" y="20"/>
                      </a:lnTo>
                      <a:lnTo>
                        <a:pt x="11" y="15"/>
                      </a:lnTo>
                      <a:lnTo>
                        <a:pt x="11" y="8"/>
                      </a:lnTo>
                      <a:lnTo>
                        <a:pt x="13" y="1"/>
                      </a:lnTo>
                      <a:lnTo>
                        <a:pt x="16" y="0"/>
                      </a:lnTo>
                      <a:lnTo>
                        <a:pt x="17" y="0"/>
                      </a:lnTo>
                    </a:path>
                  </a:pathLst>
                </a:custGeom>
                <a:solidFill>
                  <a:srgbClr val="11111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81" name="Freeform 49"/>
                <p:cNvSpPr>
                  <a:spLocks/>
                </p:cNvSpPr>
                <p:nvPr/>
              </p:nvSpPr>
              <p:spPr bwMode="auto">
                <a:xfrm>
                  <a:off x="2061" y="3684"/>
                  <a:ext cx="34" cy="19"/>
                </a:xfrm>
                <a:custGeom>
                  <a:avLst/>
                  <a:gdLst/>
                  <a:ahLst/>
                  <a:cxnLst>
                    <a:cxn ang="0">
                      <a:pos x="33" y="11"/>
                    </a:cxn>
                    <a:cxn ang="0">
                      <a:pos x="24" y="6"/>
                    </a:cxn>
                    <a:cxn ang="0">
                      <a:pos x="16" y="7"/>
                    </a:cxn>
                    <a:cxn ang="0">
                      <a:pos x="9" y="10"/>
                    </a:cxn>
                    <a:cxn ang="0">
                      <a:pos x="0" y="18"/>
                    </a:cxn>
                    <a:cxn ang="0">
                      <a:pos x="1" y="11"/>
                    </a:cxn>
                    <a:cxn ang="0">
                      <a:pos x="10" y="2"/>
                    </a:cxn>
                    <a:cxn ang="0">
                      <a:pos x="16" y="0"/>
                    </a:cxn>
                    <a:cxn ang="0">
                      <a:pos x="25" y="0"/>
                    </a:cxn>
                    <a:cxn ang="0">
                      <a:pos x="32" y="4"/>
                    </a:cxn>
                    <a:cxn ang="0">
                      <a:pos x="33" y="11"/>
                    </a:cxn>
                  </a:cxnLst>
                  <a:rect l="0" t="0" r="r" b="b"/>
                  <a:pathLst>
                    <a:path w="34" h="19">
                      <a:moveTo>
                        <a:pt x="33" y="11"/>
                      </a:moveTo>
                      <a:lnTo>
                        <a:pt x="24" y="6"/>
                      </a:lnTo>
                      <a:lnTo>
                        <a:pt x="16" y="7"/>
                      </a:lnTo>
                      <a:lnTo>
                        <a:pt x="9" y="10"/>
                      </a:lnTo>
                      <a:lnTo>
                        <a:pt x="0" y="18"/>
                      </a:lnTo>
                      <a:lnTo>
                        <a:pt x="1" y="11"/>
                      </a:lnTo>
                      <a:lnTo>
                        <a:pt x="10" y="2"/>
                      </a:lnTo>
                      <a:lnTo>
                        <a:pt x="16" y="0"/>
                      </a:lnTo>
                      <a:lnTo>
                        <a:pt x="25" y="0"/>
                      </a:lnTo>
                      <a:lnTo>
                        <a:pt x="32" y="4"/>
                      </a:lnTo>
                      <a:lnTo>
                        <a:pt x="33" y="11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82" name="Freeform 50"/>
                <p:cNvSpPr>
                  <a:spLocks/>
                </p:cNvSpPr>
                <p:nvPr/>
              </p:nvSpPr>
              <p:spPr bwMode="auto">
                <a:xfrm>
                  <a:off x="2070" y="3710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15" y="15"/>
                    </a:cxn>
                    <a:cxn ang="0">
                      <a:pos x="15" y="0"/>
                    </a:cxn>
                    <a:cxn ang="0">
                      <a:pos x="0" y="15"/>
                    </a:cxn>
                    <a:cxn ang="0">
                      <a:pos x="15" y="15"/>
                    </a:cxn>
                  </a:cxnLst>
                  <a:rect l="0" t="0" r="r" b="b"/>
                  <a:pathLst>
                    <a:path w="16" h="16">
                      <a:moveTo>
                        <a:pt x="15" y="15"/>
                      </a:moveTo>
                      <a:lnTo>
                        <a:pt x="15" y="0"/>
                      </a:lnTo>
                      <a:lnTo>
                        <a:pt x="0" y="15"/>
                      </a:lnTo>
                      <a:lnTo>
                        <a:pt x="15" y="15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83" name="Freeform 51"/>
                <p:cNvSpPr>
                  <a:spLocks/>
                </p:cNvSpPr>
                <p:nvPr/>
              </p:nvSpPr>
              <p:spPr bwMode="auto">
                <a:xfrm>
                  <a:off x="2072" y="3721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2" y="1"/>
                    </a:cxn>
                    <a:cxn ang="0">
                      <a:pos x="2" y="2"/>
                    </a:cxn>
                    <a:cxn ang="0">
                      <a:pos x="2" y="3"/>
                    </a:cxn>
                    <a:cxn ang="0">
                      <a:pos x="3" y="5"/>
                    </a:cxn>
                    <a:cxn ang="0">
                      <a:pos x="5" y="5"/>
                    </a:cxn>
                    <a:cxn ang="0">
                      <a:pos x="5" y="6"/>
                    </a:cxn>
                    <a:cxn ang="0">
                      <a:pos x="5" y="7"/>
                    </a:cxn>
                    <a:cxn ang="0">
                      <a:pos x="7" y="7"/>
                    </a:cxn>
                    <a:cxn ang="0">
                      <a:pos x="8" y="7"/>
                    </a:cxn>
                    <a:cxn ang="0">
                      <a:pos x="8" y="8"/>
                    </a:cxn>
                    <a:cxn ang="0">
                      <a:pos x="10" y="8"/>
                    </a:cxn>
                    <a:cxn ang="0">
                      <a:pos x="10" y="10"/>
                    </a:cxn>
                    <a:cxn ang="0">
                      <a:pos x="10" y="11"/>
                    </a:cxn>
                    <a:cxn ang="0">
                      <a:pos x="11" y="12"/>
                    </a:cxn>
                    <a:cxn ang="0">
                      <a:pos x="11" y="15"/>
                    </a:cxn>
                    <a:cxn ang="0">
                      <a:pos x="13" y="15"/>
                    </a:cxn>
                    <a:cxn ang="0">
                      <a:pos x="13" y="12"/>
                    </a:cxn>
                    <a:cxn ang="0">
                      <a:pos x="15" y="12"/>
                    </a:cxn>
                    <a:cxn ang="0">
                      <a:pos x="15" y="11"/>
                    </a:cxn>
                    <a:cxn ang="0">
                      <a:pos x="15" y="10"/>
                    </a:cxn>
                    <a:cxn ang="0">
                      <a:pos x="15" y="8"/>
                    </a:cxn>
                    <a:cxn ang="0">
                      <a:pos x="15" y="7"/>
                    </a:cxn>
                    <a:cxn ang="0">
                      <a:pos x="13" y="7"/>
                    </a:cxn>
                    <a:cxn ang="0">
                      <a:pos x="13" y="6"/>
                    </a:cxn>
                    <a:cxn ang="0">
                      <a:pos x="13" y="5"/>
                    </a:cxn>
                    <a:cxn ang="0">
                      <a:pos x="11" y="3"/>
                    </a:cxn>
                    <a:cxn ang="0">
                      <a:pos x="11" y="2"/>
                    </a:cxn>
                    <a:cxn ang="0">
                      <a:pos x="10" y="2"/>
                    </a:cxn>
                    <a:cxn ang="0">
                      <a:pos x="10" y="1"/>
                    </a:cxn>
                    <a:cxn ang="0">
                      <a:pos x="8" y="1"/>
                    </a:cxn>
                    <a:cxn ang="0">
                      <a:pos x="8" y="0"/>
                    </a:cxn>
                    <a:cxn ang="0">
                      <a:pos x="7" y="0"/>
                    </a:cxn>
                    <a:cxn ang="0">
                      <a:pos x="5" y="0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2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6" h="16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2" y="2"/>
                      </a:lnTo>
                      <a:lnTo>
                        <a:pt x="2" y="3"/>
                      </a:lnTo>
                      <a:lnTo>
                        <a:pt x="3" y="5"/>
                      </a:lnTo>
                      <a:lnTo>
                        <a:pt x="5" y="5"/>
                      </a:lnTo>
                      <a:lnTo>
                        <a:pt x="5" y="6"/>
                      </a:lnTo>
                      <a:lnTo>
                        <a:pt x="5" y="7"/>
                      </a:lnTo>
                      <a:lnTo>
                        <a:pt x="7" y="7"/>
                      </a:lnTo>
                      <a:lnTo>
                        <a:pt x="8" y="7"/>
                      </a:lnTo>
                      <a:lnTo>
                        <a:pt x="8" y="8"/>
                      </a:lnTo>
                      <a:lnTo>
                        <a:pt x="10" y="8"/>
                      </a:lnTo>
                      <a:lnTo>
                        <a:pt x="10" y="10"/>
                      </a:lnTo>
                      <a:lnTo>
                        <a:pt x="10" y="11"/>
                      </a:lnTo>
                      <a:lnTo>
                        <a:pt x="11" y="12"/>
                      </a:lnTo>
                      <a:lnTo>
                        <a:pt x="11" y="15"/>
                      </a:lnTo>
                      <a:lnTo>
                        <a:pt x="13" y="15"/>
                      </a:lnTo>
                      <a:lnTo>
                        <a:pt x="13" y="12"/>
                      </a:lnTo>
                      <a:lnTo>
                        <a:pt x="15" y="12"/>
                      </a:lnTo>
                      <a:lnTo>
                        <a:pt x="15" y="11"/>
                      </a:lnTo>
                      <a:lnTo>
                        <a:pt x="15" y="10"/>
                      </a:lnTo>
                      <a:lnTo>
                        <a:pt x="15" y="8"/>
                      </a:lnTo>
                      <a:lnTo>
                        <a:pt x="15" y="7"/>
                      </a:lnTo>
                      <a:lnTo>
                        <a:pt x="13" y="7"/>
                      </a:lnTo>
                      <a:lnTo>
                        <a:pt x="13" y="6"/>
                      </a:lnTo>
                      <a:lnTo>
                        <a:pt x="13" y="5"/>
                      </a:lnTo>
                      <a:lnTo>
                        <a:pt x="11" y="3"/>
                      </a:lnTo>
                      <a:lnTo>
                        <a:pt x="11" y="2"/>
                      </a:lnTo>
                      <a:lnTo>
                        <a:pt x="10" y="2"/>
                      </a:lnTo>
                      <a:lnTo>
                        <a:pt x="10" y="1"/>
                      </a:lnTo>
                      <a:lnTo>
                        <a:pt x="8" y="1"/>
                      </a:lnTo>
                      <a:lnTo>
                        <a:pt x="8" y="0"/>
                      </a:lnTo>
                      <a:lnTo>
                        <a:pt x="7" y="0"/>
                      </a:lnTo>
                      <a:lnTo>
                        <a:pt x="5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11111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84" name="Freeform 52"/>
                <p:cNvSpPr>
                  <a:spLocks/>
                </p:cNvSpPr>
                <p:nvPr/>
              </p:nvSpPr>
              <p:spPr bwMode="auto">
                <a:xfrm>
                  <a:off x="2070" y="3709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15" y="2"/>
                    </a:cxn>
                    <a:cxn ang="0">
                      <a:pos x="12" y="8"/>
                    </a:cxn>
                    <a:cxn ang="0">
                      <a:pos x="10" y="15"/>
                    </a:cxn>
                    <a:cxn ang="0">
                      <a:pos x="1" y="11"/>
                    </a:cxn>
                    <a:cxn ang="0">
                      <a:pos x="0" y="11"/>
                    </a:cxn>
                    <a:cxn ang="0">
                      <a:pos x="1" y="8"/>
                    </a:cxn>
                    <a:cxn ang="0">
                      <a:pos x="5" y="2"/>
                    </a:cxn>
                    <a:cxn ang="0">
                      <a:pos x="15" y="0"/>
                    </a:cxn>
                    <a:cxn ang="0">
                      <a:pos x="15" y="2"/>
                    </a:cxn>
                  </a:cxnLst>
                  <a:rect l="0" t="0" r="r" b="b"/>
                  <a:pathLst>
                    <a:path w="16" h="16">
                      <a:moveTo>
                        <a:pt x="15" y="2"/>
                      </a:moveTo>
                      <a:lnTo>
                        <a:pt x="12" y="8"/>
                      </a:lnTo>
                      <a:lnTo>
                        <a:pt x="10" y="15"/>
                      </a:lnTo>
                      <a:lnTo>
                        <a:pt x="1" y="11"/>
                      </a:lnTo>
                      <a:lnTo>
                        <a:pt x="0" y="11"/>
                      </a:lnTo>
                      <a:lnTo>
                        <a:pt x="1" y="8"/>
                      </a:lnTo>
                      <a:lnTo>
                        <a:pt x="5" y="2"/>
                      </a:lnTo>
                      <a:lnTo>
                        <a:pt x="15" y="0"/>
                      </a:lnTo>
                      <a:lnTo>
                        <a:pt x="15" y="2"/>
                      </a:lnTo>
                    </a:path>
                  </a:pathLst>
                </a:custGeom>
                <a:solidFill>
                  <a:srgbClr val="3B3B3B"/>
                </a:solidFill>
                <a:ln w="12700" cap="rnd" cmpd="sng">
                  <a:solidFill>
                    <a:srgbClr val="3B3B3B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85" name="Freeform 53"/>
                <p:cNvSpPr>
                  <a:spLocks/>
                </p:cNvSpPr>
                <p:nvPr/>
              </p:nvSpPr>
              <p:spPr bwMode="auto">
                <a:xfrm>
                  <a:off x="2089" y="3756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7" y="11"/>
                    </a:cxn>
                    <a:cxn ang="0">
                      <a:pos x="4" y="11"/>
                    </a:cxn>
                    <a:cxn ang="0">
                      <a:pos x="0" y="8"/>
                    </a:cxn>
                    <a:cxn ang="0">
                      <a:pos x="3" y="0"/>
                    </a:cxn>
                    <a:cxn ang="0">
                      <a:pos x="6" y="0"/>
                    </a:cxn>
                    <a:cxn ang="0">
                      <a:pos x="12" y="8"/>
                    </a:cxn>
                    <a:cxn ang="0">
                      <a:pos x="15" y="15"/>
                    </a:cxn>
                    <a:cxn ang="0">
                      <a:pos x="11" y="15"/>
                    </a:cxn>
                    <a:cxn ang="0">
                      <a:pos x="7" y="11"/>
                    </a:cxn>
                  </a:cxnLst>
                  <a:rect l="0" t="0" r="r" b="b"/>
                  <a:pathLst>
                    <a:path w="16" h="16">
                      <a:moveTo>
                        <a:pt x="7" y="11"/>
                      </a:moveTo>
                      <a:lnTo>
                        <a:pt x="4" y="11"/>
                      </a:lnTo>
                      <a:lnTo>
                        <a:pt x="0" y="8"/>
                      </a:lnTo>
                      <a:lnTo>
                        <a:pt x="3" y="0"/>
                      </a:lnTo>
                      <a:lnTo>
                        <a:pt x="6" y="0"/>
                      </a:lnTo>
                      <a:lnTo>
                        <a:pt x="12" y="8"/>
                      </a:lnTo>
                      <a:lnTo>
                        <a:pt x="15" y="15"/>
                      </a:lnTo>
                      <a:lnTo>
                        <a:pt x="11" y="15"/>
                      </a:lnTo>
                      <a:lnTo>
                        <a:pt x="7" y="11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86" name="Freeform 54"/>
                <p:cNvSpPr>
                  <a:spLocks/>
                </p:cNvSpPr>
                <p:nvPr/>
              </p:nvSpPr>
              <p:spPr bwMode="auto">
                <a:xfrm>
                  <a:off x="1972" y="3717"/>
                  <a:ext cx="16" cy="2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3"/>
                    </a:cxn>
                    <a:cxn ang="0">
                      <a:pos x="0" y="4"/>
                    </a:cxn>
                    <a:cxn ang="0">
                      <a:pos x="0" y="5"/>
                    </a:cxn>
                    <a:cxn ang="0">
                      <a:pos x="1" y="5"/>
                    </a:cxn>
                    <a:cxn ang="0">
                      <a:pos x="1" y="6"/>
                    </a:cxn>
                    <a:cxn ang="0">
                      <a:pos x="3" y="6"/>
                    </a:cxn>
                    <a:cxn ang="0">
                      <a:pos x="4" y="6"/>
                    </a:cxn>
                    <a:cxn ang="0">
                      <a:pos x="6" y="6"/>
                    </a:cxn>
                    <a:cxn ang="0">
                      <a:pos x="7" y="6"/>
                    </a:cxn>
                    <a:cxn ang="0">
                      <a:pos x="9" y="6"/>
                    </a:cxn>
                    <a:cxn ang="0">
                      <a:pos x="11" y="6"/>
                    </a:cxn>
                    <a:cxn ang="0">
                      <a:pos x="13" y="6"/>
                    </a:cxn>
                    <a:cxn ang="0">
                      <a:pos x="13" y="7"/>
                    </a:cxn>
                    <a:cxn ang="0">
                      <a:pos x="15" y="7"/>
                    </a:cxn>
                    <a:cxn ang="0">
                      <a:pos x="13" y="9"/>
                    </a:cxn>
                    <a:cxn ang="0">
                      <a:pos x="13" y="10"/>
                    </a:cxn>
                    <a:cxn ang="0">
                      <a:pos x="13" y="12"/>
                    </a:cxn>
                    <a:cxn ang="0">
                      <a:pos x="13" y="12"/>
                    </a:cxn>
                    <a:cxn ang="0">
                      <a:pos x="13" y="14"/>
                    </a:cxn>
                    <a:cxn ang="0">
                      <a:pos x="13" y="16"/>
                    </a:cxn>
                    <a:cxn ang="0">
                      <a:pos x="13" y="18"/>
                    </a:cxn>
                    <a:cxn ang="0">
                      <a:pos x="13" y="18"/>
                    </a:cxn>
                    <a:cxn ang="0">
                      <a:pos x="14" y="18"/>
                    </a:cxn>
                    <a:cxn ang="0">
                      <a:pos x="14" y="19"/>
                    </a:cxn>
                    <a:cxn ang="0">
                      <a:pos x="14" y="20"/>
                    </a:cxn>
                    <a:cxn ang="0">
                      <a:pos x="15" y="20"/>
                    </a:cxn>
                    <a:cxn ang="0">
                      <a:pos x="15" y="22"/>
                    </a:cxn>
                    <a:cxn ang="0">
                      <a:pos x="15" y="23"/>
                    </a:cxn>
                    <a:cxn ang="0">
                      <a:pos x="13" y="23"/>
                    </a:cxn>
                    <a:cxn ang="0">
                      <a:pos x="11" y="23"/>
                    </a:cxn>
                    <a:cxn ang="0">
                      <a:pos x="9" y="23"/>
                    </a:cxn>
                    <a:cxn ang="0">
                      <a:pos x="9" y="22"/>
                    </a:cxn>
                    <a:cxn ang="0">
                      <a:pos x="7" y="22"/>
                    </a:cxn>
                    <a:cxn ang="0">
                      <a:pos x="6" y="22"/>
                    </a:cxn>
                    <a:cxn ang="0">
                      <a:pos x="6" y="20"/>
                    </a:cxn>
                    <a:cxn ang="0">
                      <a:pos x="4" y="20"/>
                    </a:cxn>
                    <a:cxn ang="0">
                      <a:pos x="4" y="19"/>
                    </a:cxn>
                    <a:cxn ang="0">
                      <a:pos x="4" y="18"/>
                    </a:cxn>
                    <a:cxn ang="0">
                      <a:pos x="2" y="18"/>
                    </a:cxn>
                    <a:cxn ang="0">
                      <a:pos x="1" y="18"/>
                    </a:cxn>
                    <a:cxn ang="0">
                      <a:pos x="1" y="18"/>
                    </a:cxn>
                    <a:cxn ang="0">
                      <a:pos x="0" y="18"/>
                    </a:cxn>
                    <a:cxn ang="0">
                      <a:pos x="0" y="16"/>
                    </a:cxn>
                    <a:cxn ang="0">
                      <a:pos x="0" y="15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0" y="12"/>
                    </a:cxn>
                    <a:cxn ang="0">
                      <a:pos x="0" y="12"/>
                    </a:cxn>
                    <a:cxn ang="0">
                      <a:pos x="0" y="10"/>
                    </a:cxn>
                    <a:cxn ang="0">
                      <a:pos x="0" y="9"/>
                    </a:cxn>
                    <a:cxn ang="0">
                      <a:pos x="0" y="7"/>
                    </a:cxn>
                    <a:cxn ang="0">
                      <a:pos x="0" y="6"/>
                    </a:cxn>
                    <a:cxn ang="0">
                      <a:pos x="0" y="4"/>
                    </a:cxn>
                    <a:cxn ang="0">
                      <a:pos x="0" y="3"/>
                    </a:cxn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6" h="24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5"/>
                      </a:lnTo>
                      <a:lnTo>
                        <a:pt x="1" y="5"/>
                      </a:lnTo>
                      <a:lnTo>
                        <a:pt x="1" y="6"/>
                      </a:lnTo>
                      <a:lnTo>
                        <a:pt x="3" y="6"/>
                      </a:lnTo>
                      <a:lnTo>
                        <a:pt x="4" y="6"/>
                      </a:lnTo>
                      <a:lnTo>
                        <a:pt x="6" y="6"/>
                      </a:lnTo>
                      <a:lnTo>
                        <a:pt x="7" y="6"/>
                      </a:lnTo>
                      <a:lnTo>
                        <a:pt x="9" y="6"/>
                      </a:lnTo>
                      <a:lnTo>
                        <a:pt x="11" y="6"/>
                      </a:lnTo>
                      <a:lnTo>
                        <a:pt x="13" y="6"/>
                      </a:lnTo>
                      <a:lnTo>
                        <a:pt x="13" y="7"/>
                      </a:lnTo>
                      <a:lnTo>
                        <a:pt x="15" y="7"/>
                      </a:lnTo>
                      <a:lnTo>
                        <a:pt x="13" y="9"/>
                      </a:lnTo>
                      <a:lnTo>
                        <a:pt x="13" y="10"/>
                      </a:lnTo>
                      <a:lnTo>
                        <a:pt x="13" y="12"/>
                      </a:lnTo>
                      <a:lnTo>
                        <a:pt x="13" y="12"/>
                      </a:lnTo>
                      <a:lnTo>
                        <a:pt x="13" y="14"/>
                      </a:lnTo>
                      <a:lnTo>
                        <a:pt x="13" y="16"/>
                      </a:lnTo>
                      <a:lnTo>
                        <a:pt x="13" y="18"/>
                      </a:lnTo>
                      <a:lnTo>
                        <a:pt x="13" y="18"/>
                      </a:lnTo>
                      <a:lnTo>
                        <a:pt x="14" y="18"/>
                      </a:lnTo>
                      <a:lnTo>
                        <a:pt x="14" y="19"/>
                      </a:lnTo>
                      <a:lnTo>
                        <a:pt x="14" y="20"/>
                      </a:lnTo>
                      <a:lnTo>
                        <a:pt x="15" y="20"/>
                      </a:lnTo>
                      <a:lnTo>
                        <a:pt x="15" y="22"/>
                      </a:lnTo>
                      <a:lnTo>
                        <a:pt x="15" y="23"/>
                      </a:lnTo>
                      <a:lnTo>
                        <a:pt x="13" y="23"/>
                      </a:lnTo>
                      <a:lnTo>
                        <a:pt x="11" y="23"/>
                      </a:lnTo>
                      <a:lnTo>
                        <a:pt x="9" y="23"/>
                      </a:lnTo>
                      <a:lnTo>
                        <a:pt x="9" y="22"/>
                      </a:lnTo>
                      <a:lnTo>
                        <a:pt x="7" y="22"/>
                      </a:lnTo>
                      <a:lnTo>
                        <a:pt x="6" y="22"/>
                      </a:lnTo>
                      <a:lnTo>
                        <a:pt x="6" y="20"/>
                      </a:lnTo>
                      <a:lnTo>
                        <a:pt x="4" y="20"/>
                      </a:lnTo>
                      <a:lnTo>
                        <a:pt x="4" y="19"/>
                      </a:lnTo>
                      <a:lnTo>
                        <a:pt x="4" y="18"/>
                      </a:lnTo>
                      <a:lnTo>
                        <a:pt x="2" y="18"/>
                      </a:lnTo>
                      <a:lnTo>
                        <a:pt x="1" y="18"/>
                      </a:lnTo>
                      <a:lnTo>
                        <a:pt x="1" y="18"/>
                      </a:lnTo>
                      <a:lnTo>
                        <a:pt x="0" y="18"/>
                      </a:lnTo>
                      <a:lnTo>
                        <a:pt x="0" y="16"/>
                      </a:lnTo>
                      <a:lnTo>
                        <a:pt x="0" y="15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11111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87" name="Freeform 55"/>
                <p:cNvSpPr>
                  <a:spLocks/>
                </p:cNvSpPr>
                <p:nvPr/>
              </p:nvSpPr>
              <p:spPr bwMode="auto">
                <a:xfrm>
                  <a:off x="2014" y="3884"/>
                  <a:ext cx="32" cy="110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3" y="2"/>
                    </a:cxn>
                    <a:cxn ang="0">
                      <a:pos x="6" y="5"/>
                    </a:cxn>
                    <a:cxn ang="0">
                      <a:pos x="9" y="8"/>
                    </a:cxn>
                    <a:cxn ang="0">
                      <a:pos x="12" y="12"/>
                    </a:cxn>
                    <a:cxn ang="0">
                      <a:pos x="15" y="16"/>
                    </a:cxn>
                    <a:cxn ang="0">
                      <a:pos x="17" y="19"/>
                    </a:cxn>
                    <a:cxn ang="0">
                      <a:pos x="19" y="23"/>
                    </a:cxn>
                    <a:cxn ang="0">
                      <a:pos x="20" y="24"/>
                    </a:cxn>
                    <a:cxn ang="0">
                      <a:pos x="20" y="27"/>
                    </a:cxn>
                    <a:cxn ang="0">
                      <a:pos x="20" y="30"/>
                    </a:cxn>
                    <a:cxn ang="0">
                      <a:pos x="20" y="34"/>
                    </a:cxn>
                    <a:cxn ang="0">
                      <a:pos x="22" y="38"/>
                    </a:cxn>
                    <a:cxn ang="0">
                      <a:pos x="22" y="42"/>
                    </a:cxn>
                    <a:cxn ang="0">
                      <a:pos x="23" y="44"/>
                    </a:cxn>
                    <a:cxn ang="0">
                      <a:pos x="23" y="48"/>
                    </a:cxn>
                    <a:cxn ang="0">
                      <a:pos x="24" y="51"/>
                    </a:cxn>
                    <a:cxn ang="0">
                      <a:pos x="24" y="58"/>
                    </a:cxn>
                    <a:cxn ang="0">
                      <a:pos x="25" y="67"/>
                    </a:cxn>
                    <a:cxn ang="0">
                      <a:pos x="26" y="76"/>
                    </a:cxn>
                    <a:cxn ang="0">
                      <a:pos x="28" y="86"/>
                    </a:cxn>
                    <a:cxn ang="0">
                      <a:pos x="29" y="96"/>
                    </a:cxn>
                    <a:cxn ang="0">
                      <a:pos x="30" y="103"/>
                    </a:cxn>
                    <a:cxn ang="0">
                      <a:pos x="30" y="108"/>
                    </a:cxn>
                    <a:cxn ang="0">
                      <a:pos x="29" y="109"/>
                    </a:cxn>
                    <a:cxn ang="0">
                      <a:pos x="26" y="107"/>
                    </a:cxn>
                    <a:cxn ang="0">
                      <a:pos x="22" y="103"/>
                    </a:cxn>
                    <a:cxn ang="0">
                      <a:pos x="19" y="97"/>
                    </a:cxn>
                    <a:cxn ang="0">
                      <a:pos x="14" y="91"/>
                    </a:cxn>
                    <a:cxn ang="0">
                      <a:pos x="10" y="85"/>
                    </a:cxn>
                    <a:cxn ang="0">
                      <a:pos x="6" y="81"/>
                    </a:cxn>
                    <a:cxn ang="0">
                      <a:pos x="4" y="76"/>
                    </a:cxn>
                    <a:cxn ang="0">
                      <a:pos x="2" y="74"/>
                    </a:cxn>
                    <a:cxn ang="0">
                      <a:pos x="2" y="71"/>
                    </a:cxn>
                    <a:cxn ang="0">
                      <a:pos x="1" y="69"/>
                    </a:cxn>
                    <a:cxn ang="0">
                      <a:pos x="1" y="67"/>
                    </a:cxn>
                    <a:cxn ang="0">
                      <a:pos x="2" y="64"/>
                    </a:cxn>
                    <a:cxn ang="0">
                      <a:pos x="0" y="60"/>
                    </a:cxn>
                    <a:cxn ang="0">
                      <a:pos x="0" y="52"/>
                    </a:cxn>
                    <a:cxn ang="0">
                      <a:pos x="0" y="42"/>
                    </a:cxn>
                    <a:cxn ang="0">
                      <a:pos x="0" y="30"/>
                    </a:cxn>
                    <a:cxn ang="0">
                      <a:pos x="0" y="19"/>
                    </a:cxn>
                    <a:cxn ang="0">
                      <a:pos x="0" y="10"/>
                    </a:cxn>
                    <a:cxn ang="0">
                      <a:pos x="1" y="3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2" h="11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3" y="1"/>
                      </a:lnTo>
                      <a:lnTo>
                        <a:pt x="3" y="2"/>
                      </a:lnTo>
                      <a:lnTo>
                        <a:pt x="5" y="3"/>
                      </a:lnTo>
                      <a:lnTo>
                        <a:pt x="6" y="5"/>
                      </a:lnTo>
                      <a:lnTo>
                        <a:pt x="7" y="6"/>
                      </a:lnTo>
                      <a:lnTo>
                        <a:pt x="9" y="8"/>
                      </a:lnTo>
                      <a:lnTo>
                        <a:pt x="11" y="10"/>
                      </a:lnTo>
                      <a:lnTo>
                        <a:pt x="12" y="12"/>
                      </a:lnTo>
                      <a:lnTo>
                        <a:pt x="13" y="14"/>
                      </a:lnTo>
                      <a:lnTo>
                        <a:pt x="15" y="16"/>
                      </a:lnTo>
                      <a:lnTo>
                        <a:pt x="17" y="18"/>
                      </a:lnTo>
                      <a:lnTo>
                        <a:pt x="17" y="19"/>
                      </a:lnTo>
                      <a:lnTo>
                        <a:pt x="19" y="21"/>
                      </a:lnTo>
                      <a:lnTo>
                        <a:pt x="19" y="23"/>
                      </a:lnTo>
                      <a:lnTo>
                        <a:pt x="20" y="23"/>
                      </a:lnTo>
                      <a:lnTo>
                        <a:pt x="20" y="24"/>
                      </a:lnTo>
                      <a:lnTo>
                        <a:pt x="20" y="25"/>
                      </a:lnTo>
                      <a:lnTo>
                        <a:pt x="20" y="27"/>
                      </a:lnTo>
                      <a:lnTo>
                        <a:pt x="20" y="28"/>
                      </a:lnTo>
                      <a:lnTo>
                        <a:pt x="20" y="30"/>
                      </a:lnTo>
                      <a:lnTo>
                        <a:pt x="20" y="32"/>
                      </a:lnTo>
                      <a:lnTo>
                        <a:pt x="20" y="34"/>
                      </a:lnTo>
                      <a:lnTo>
                        <a:pt x="22" y="36"/>
                      </a:lnTo>
                      <a:lnTo>
                        <a:pt x="22" y="38"/>
                      </a:lnTo>
                      <a:lnTo>
                        <a:pt x="22" y="40"/>
                      </a:lnTo>
                      <a:lnTo>
                        <a:pt x="22" y="42"/>
                      </a:lnTo>
                      <a:lnTo>
                        <a:pt x="23" y="42"/>
                      </a:lnTo>
                      <a:lnTo>
                        <a:pt x="23" y="44"/>
                      </a:lnTo>
                      <a:lnTo>
                        <a:pt x="23" y="46"/>
                      </a:lnTo>
                      <a:lnTo>
                        <a:pt x="23" y="48"/>
                      </a:lnTo>
                      <a:lnTo>
                        <a:pt x="24" y="48"/>
                      </a:lnTo>
                      <a:lnTo>
                        <a:pt x="24" y="51"/>
                      </a:lnTo>
                      <a:lnTo>
                        <a:pt x="24" y="54"/>
                      </a:lnTo>
                      <a:lnTo>
                        <a:pt x="24" y="58"/>
                      </a:lnTo>
                      <a:lnTo>
                        <a:pt x="25" y="61"/>
                      </a:lnTo>
                      <a:lnTo>
                        <a:pt x="25" y="67"/>
                      </a:lnTo>
                      <a:lnTo>
                        <a:pt x="26" y="71"/>
                      </a:lnTo>
                      <a:lnTo>
                        <a:pt x="26" y="76"/>
                      </a:lnTo>
                      <a:lnTo>
                        <a:pt x="28" y="81"/>
                      </a:lnTo>
                      <a:lnTo>
                        <a:pt x="28" y="86"/>
                      </a:lnTo>
                      <a:lnTo>
                        <a:pt x="29" y="91"/>
                      </a:lnTo>
                      <a:lnTo>
                        <a:pt x="29" y="96"/>
                      </a:lnTo>
                      <a:lnTo>
                        <a:pt x="30" y="100"/>
                      </a:lnTo>
                      <a:lnTo>
                        <a:pt x="30" y="103"/>
                      </a:lnTo>
                      <a:lnTo>
                        <a:pt x="30" y="106"/>
                      </a:lnTo>
                      <a:lnTo>
                        <a:pt x="30" y="108"/>
                      </a:lnTo>
                      <a:lnTo>
                        <a:pt x="31" y="109"/>
                      </a:lnTo>
                      <a:lnTo>
                        <a:pt x="29" y="109"/>
                      </a:lnTo>
                      <a:lnTo>
                        <a:pt x="28" y="109"/>
                      </a:lnTo>
                      <a:lnTo>
                        <a:pt x="26" y="107"/>
                      </a:lnTo>
                      <a:lnTo>
                        <a:pt x="25" y="104"/>
                      </a:lnTo>
                      <a:lnTo>
                        <a:pt x="22" y="103"/>
                      </a:lnTo>
                      <a:lnTo>
                        <a:pt x="20" y="100"/>
                      </a:lnTo>
                      <a:lnTo>
                        <a:pt x="19" y="97"/>
                      </a:lnTo>
                      <a:lnTo>
                        <a:pt x="17" y="94"/>
                      </a:lnTo>
                      <a:lnTo>
                        <a:pt x="14" y="91"/>
                      </a:lnTo>
                      <a:lnTo>
                        <a:pt x="12" y="88"/>
                      </a:lnTo>
                      <a:lnTo>
                        <a:pt x="10" y="85"/>
                      </a:lnTo>
                      <a:lnTo>
                        <a:pt x="8" y="83"/>
                      </a:lnTo>
                      <a:lnTo>
                        <a:pt x="6" y="81"/>
                      </a:lnTo>
                      <a:lnTo>
                        <a:pt x="5" y="78"/>
                      </a:lnTo>
                      <a:lnTo>
                        <a:pt x="4" y="76"/>
                      </a:lnTo>
                      <a:lnTo>
                        <a:pt x="4" y="74"/>
                      </a:lnTo>
                      <a:lnTo>
                        <a:pt x="2" y="74"/>
                      </a:lnTo>
                      <a:lnTo>
                        <a:pt x="2" y="73"/>
                      </a:lnTo>
                      <a:lnTo>
                        <a:pt x="2" y="71"/>
                      </a:lnTo>
                      <a:lnTo>
                        <a:pt x="1" y="71"/>
                      </a:lnTo>
                      <a:lnTo>
                        <a:pt x="1" y="69"/>
                      </a:lnTo>
                      <a:lnTo>
                        <a:pt x="1" y="68"/>
                      </a:lnTo>
                      <a:lnTo>
                        <a:pt x="1" y="67"/>
                      </a:lnTo>
                      <a:lnTo>
                        <a:pt x="1" y="66"/>
                      </a:lnTo>
                      <a:lnTo>
                        <a:pt x="2" y="64"/>
                      </a:lnTo>
                      <a:lnTo>
                        <a:pt x="0" y="63"/>
                      </a:lnTo>
                      <a:lnTo>
                        <a:pt x="0" y="60"/>
                      </a:lnTo>
                      <a:lnTo>
                        <a:pt x="0" y="57"/>
                      </a:lnTo>
                      <a:lnTo>
                        <a:pt x="0" y="52"/>
                      </a:lnTo>
                      <a:lnTo>
                        <a:pt x="0" y="47"/>
                      </a:lnTo>
                      <a:lnTo>
                        <a:pt x="0" y="42"/>
                      </a:lnTo>
                      <a:lnTo>
                        <a:pt x="0" y="36"/>
                      </a:lnTo>
                      <a:lnTo>
                        <a:pt x="0" y="30"/>
                      </a:lnTo>
                      <a:lnTo>
                        <a:pt x="0" y="25"/>
                      </a:lnTo>
                      <a:lnTo>
                        <a:pt x="0" y="19"/>
                      </a:lnTo>
                      <a:lnTo>
                        <a:pt x="0" y="15"/>
                      </a:lnTo>
                      <a:lnTo>
                        <a:pt x="0" y="10"/>
                      </a:lnTo>
                      <a:lnTo>
                        <a:pt x="0" y="7"/>
                      </a:lnTo>
                      <a:lnTo>
                        <a:pt x="1" y="3"/>
                      </a:lnTo>
                      <a:lnTo>
                        <a:pt x="1" y="1"/>
                      </a:lnTo>
                      <a:lnTo>
                        <a:pt x="3" y="0"/>
                      </a:lnTo>
                    </a:path>
                  </a:pathLst>
                </a:custGeom>
                <a:solidFill>
                  <a:srgbClr val="AFAFA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88" name="Freeform 56"/>
                <p:cNvSpPr>
                  <a:spLocks/>
                </p:cNvSpPr>
                <p:nvPr/>
              </p:nvSpPr>
              <p:spPr bwMode="auto">
                <a:xfrm>
                  <a:off x="1928" y="3801"/>
                  <a:ext cx="96" cy="121"/>
                </a:xfrm>
                <a:custGeom>
                  <a:avLst/>
                  <a:gdLst/>
                  <a:ahLst/>
                  <a:cxnLst>
                    <a:cxn ang="0">
                      <a:pos x="95" y="69"/>
                    </a:cxn>
                    <a:cxn ang="0">
                      <a:pos x="92" y="74"/>
                    </a:cxn>
                    <a:cxn ang="0">
                      <a:pos x="89" y="85"/>
                    </a:cxn>
                    <a:cxn ang="0">
                      <a:pos x="85" y="97"/>
                    </a:cxn>
                    <a:cxn ang="0">
                      <a:pos x="85" y="112"/>
                    </a:cxn>
                    <a:cxn ang="0">
                      <a:pos x="85" y="120"/>
                    </a:cxn>
                    <a:cxn ang="0">
                      <a:pos x="39" y="64"/>
                    </a:cxn>
                    <a:cxn ang="0">
                      <a:pos x="24" y="48"/>
                    </a:cxn>
                    <a:cxn ang="0">
                      <a:pos x="11" y="32"/>
                    </a:cxn>
                    <a:cxn ang="0">
                      <a:pos x="3" y="13"/>
                    </a:cxn>
                    <a:cxn ang="0">
                      <a:pos x="0" y="8"/>
                    </a:cxn>
                    <a:cxn ang="0">
                      <a:pos x="0" y="0"/>
                    </a:cxn>
                    <a:cxn ang="0">
                      <a:pos x="13" y="10"/>
                    </a:cxn>
                    <a:cxn ang="0">
                      <a:pos x="90" y="65"/>
                    </a:cxn>
                    <a:cxn ang="0">
                      <a:pos x="95" y="69"/>
                    </a:cxn>
                  </a:cxnLst>
                  <a:rect l="0" t="0" r="r" b="b"/>
                  <a:pathLst>
                    <a:path w="96" h="121">
                      <a:moveTo>
                        <a:pt x="95" y="69"/>
                      </a:moveTo>
                      <a:lnTo>
                        <a:pt x="92" y="74"/>
                      </a:lnTo>
                      <a:lnTo>
                        <a:pt x="89" y="85"/>
                      </a:lnTo>
                      <a:lnTo>
                        <a:pt x="85" y="97"/>
                      </a:lnTo>
                      <a:lnTo>
                        <a:pt x="85" y="112"/>
                      </a:lnTo>
                      <a:lnTo>
                        <a:pt x="85" y="120"/>
                      </a:lnTo>
                      <a:lnTo>
                        <a:pt x="39" y="64"/>
                      </a:lnTo>
                      <a:lnTo>
                        <a:pt x="24" y="48"/>
                      </a:lnTo>
                      <a:lnTo>
                        <a:pt x="11" y="32"/>
                      </a:lnTo>
                      <a:lnTo>
                        <a:pt x="3" y="13"/>
                      </a:lnTo>
                      <a:lnTo>
                        <a:pt x="0" y="8"/>
                      </a:lnTo>
                      <a:lnTo>
                        <a:pt x="0" y="0"/>
                      </a:lnTo>
                      <a:lnTo>
                        <a:pt x="13" y="10"/>
                      </a:lnTo>
                      <a:lnTo>
                        <a:pt x="90" y="65"/>
                      </a:lnTo>
                      <a:lnTo>
                        <a:pt x="95" y="69"/>
                      </a:lnTo>
                    </a:path>
                  </a:pathLst>
                </a:custGeom>
                <a:solidFill>
                  <a:srgbClr val="E1E1E1"/>
                </a:solidFill>
                <a:ln w="12700" cap="rnd" cmpd="sng">
                  <a:solidFill>
                    <a:srgbClr val="E1E1E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89" name="Freeform 57"/>
                <p:cNvSpPr>
                  <a:spLocks/>
                </p:cNvSpPr>
                <p:nvPr/>
              </p:nvSpPr>
              <p:spPr bwMode="auto">
                <a:xfrm>
                  <a:off x="2071" y="3758"/>
                  <a:ext cx="27" cy="29"/>
                </a:xfrm>
                <a:custGeom>
                  <a:avLst/>
                  <a:gdLst/>
                  <a:ahLst/>
                  <a:cxnLst>
                    <a:cxn ang="0">
                      <a:pos x="24" y="3"/>
                    </a:cxn>
                    <a:cxn ang="0">
                      <a:pos x="24" y="4"/>
                    </a:cxn>
                    <a:cxn ang="0">
                      <a:pos x="24" y="5"/>
                    </a:cxn>
                    <a:cxn ang="0">
                      <a:pos x="24" y="6"/>
                    </a:cxn>
                    <a:cxn ang="0">
                      <a:pos x="24" y="8"/>
                    </a:cxn>
                    <a:cxn ang="0">
                      <a:pos x="25" y="8"/>
                    </a:cxn>
                    <a:cxn ang="0">
                      <a:pos x="25" y="10"/>
                    </a:cxn>
                    <a:cxn ang="0">
                      <a:pos x="25" y="11"/>
                    </a:cxn>
                    <a:cxn ang="0">
                      <a:pos x="25" y="13"/>
                    </a:cxn>
                    <a:cxn ang="0">
                      <a:pos x="26" y="13"/>
                    </a:cxn>
                    <a:cxn ang="0">
                      <a:pos x="26" y="15"/>
                    </a:cxn>
                    <a:cxn ang="0">
                      <a:pos x="26" y="17"/>
                    </a:cxn>
                    <a:cxn ang="0">
                      <a:pos x="25" y="18"/>
                    </a:cxn>
                    <a:cxn ang="0">
                      <a:pos x="25" y="19"/>
                    </a:cxn>
                    <a:cxn ang="0">
                      <a:pos x="23" y="20"/>
                    </a:cxn>
                    <a:cxn ang="0">
                      <a:pos x="22" y="20"/>
                    </a:cxn>
                    <a:cxn ang="0">
                      <a:pos x="22" y="21"/>
                    </a:cxn>
                    <a:cxn ang="0">
                      <a:pos x="20" y="23"/>
                    </a:cxn>
                    <a:cxn ang="0">
                      <a:pos x="19" y="23"/>
                    </a:cxn>
                    <a:cxn ang="0">
                      <a:pos x="18" y="23"/>
                    </a:cxn>
                    <a:cxn ang="0">
                      <a:pos x="17" y="23"/>
                    </a:cxn>
                    <a:cxn ang="0">
                      <a:pos x="15" y="25"/>
                    </a:cxn>
                    <a:cxn ang="0">
                      <a:pos x="14" y="25"/>
                    </a:cxn>
                    <a:cxn ang="0">
                      <a:pos x="13" y="25"/>
                    </a:cxn>
                    <a:cxn ang="0">
                      <a:pos x="11" y="26"/>
                    </a:cxn>
                    <a:cxn ang="0">
                      <a:pos x="9" y="26"/>
                    </a:cxn>
                    <a:cxn ang="0">
                      <a:pos x="8" y="27"/>
                    </a:cxn>
                    <a:cxn ang="0">
                      <a:pos x="7" y="27"/>
                    </a:cxn>
                    <a:cxn ang="0">
                      <a:pos x="5" y="28"/>
                    </a:cxn>
                    <a:cxn ang="0">
                      <a:pos x="4" y="28"/>
                    </a:cxn>
                    <a:cxn ang="0">
                      <a:pos x="2" y="28"/>
                    </a:cxn>
                    <a:cxn ang="0">
                      <a:pos x="1" y="28"/>
                    </a:cxn>
                    <a:cxn ang="0">
                      <a:pos x="0" y="28"/>
                    </a:cxn>
                    <a:cxn ang="0">
                      <a:pos x="0" y="26"/>
                    </a:cxn>
                    <a:cxn ang="0">
                      <a:pos x="0" y="25"/>
                    </a:cxn>
                    <a:cxn ang="0">
                      <a:pos x="0" y="23"/>
                    </a:cxn>
                    <a:cxn ang="0">
                      <a:pos x="0" y="22"/>
                    </a:cxn>
                    <a:cxn ang="0">
                      <a:pos x="0" y="20"/>
                    </a:cxn>
                    <a:cxn ang="0">
                      <a:pos x="0" y="19"/>
                    </a:cxn>
                    <a:cxn ang="0">
                      <a:pos x="1" y="18"/>
                    </a:cxn>
                    <a:cxn ang="0">
                      <a:pos x="2" y="17"/>
                    </a:cxn>
                    <a:cxn ang="0">
                      <a:pos x="3" y="16"/>
                    </a:cxn>
                    <a:cxn ang="0">
                      <a:pos x="3" y="15"/>
                    </a:cxn>
                    <a:cxn ang="0">
                      <a:pos x="4" y="13"/>
                    </a:cxn>
                    <a:cxn ang="0">
                      <a:pos x="5" y="11"/>
                    </a:cxn>
                    <a:cxn ang="0">
                      <a:pos x="6" y="11"/>
                    </a:cxn>
                    <a:cxn ang="0">
                      <a:pos x="8" y="10"/>
                    </a:cxn>
                    <a:cxn ang="0">
                      <a:pos x="9" y="8"/>
                    </a:cxn>
                    <a:cxn ang="0">
                      <a:pos x="11" y="7"/>
                    </a:cxn>
                    <a:cxn ang="0">
                      <a:pos x="13" y="5"/>
                    </a:cxn>
                    <a:cxn ang="0">
                      <a:pos x="13" y="5"/>
                    </a:cxn>
                    <a:cxn ang="0">
                      <a:pos x="15" y="3"/>
                    </a:cxn>
                    <a:cxn ang="0">
                      <a:pos x="17" y="1"/>
                    </a:cxn>
                    <a:cxn ang="0">
                      <a:pos x="18" y="0"/>
                    </a:cxn>
                    <a:cxn ang="0">
                      <a:pos x="19" y="0"/>
                    </a:cxn>
                    <a:cxn ang="0">
                      <a:pos x="21" y="0"/>
                    </a:cxn>
                    <a:cxn ang="0">
                      <a:pos x="22" y="0"/>
                    </a:cxn>
                    <a:cxn ang="0">
                      <a:pos x="23" y="0"/>
                    </a:cxn>
                    <a:cxn ang="0">
                      <a:pos x="23" y="1"/>
                    </a:cxn>
                    <a:cxn ang="0">
                      <a:pos x="23" y="2"/>
                    </a:cxn>
                    <a:cxn ang="0">
                      <a:pos x="23" y="3"/>
                    </a:cxn>
                    <a:cxn ang="0">
                      <a:pos x="24" y="3"/>
                    </a:cxn>
                  </a:cxnLst>
                  <a:rect l="0" t="0" r="r" b="b"/>
                  <a:pathLst>
                    <a:path w="27" h="29">
                      <a:moveTo>
                        <a:pt x="24" y="3"/>
                      </a:moveTo>
                      <a:lnTo>
                        <a:pt x="24" y="4"/>
                      </a:lnTo>
                      <a:lnTo>
                        <a:pt x="24" y="5"/>
                      </a:lnTo>
                      <a:lnTo>
                        <a:pt x="24" y="6"/>
                      </a:lnTo>
                      <a:lnTo>
                        <a:pt x="24" y="8"/>
                      </a:lnTo>
                      <a:lnTo>
                        <a:pt x="25" y="8"/>
                      </a:lnTo>
                      <a:lnTo>
                        <a:pt x="25" y="10"/>
                      </a:lnTo>
                      <a:lnTo>
                        <a:pt x="25" y="11"/>
                      </a:lnTo>
                      <a:lnTo>
                        <a:pt x="25" y="13"/>
                      </a:lnTo>
                      <a:lnTo>
                        <a:pt x="26" y="13"/>
                      </a:lnTo>
                      <a:lnTo>
                        <a:pt x="26" y="15"/>
                      </a:lnTo>
                      <a:lnTo>
                        <a:pt x="26" y="17"/>
                      </a:lnTo>
                      <a:lnTo>
                        <a:pt x="25" y="18"/>
                      </a:lnTo>
                      <a:lnTo>
                        <a:pt x="25" y="19"/>
                      </a:lnTo>
                      <a:lnTo>
                        <a:pt x="23" y="20"/>
                      </a:lnTo>
                      <a:lnTo>
                        <a:pt x="22" y="20"/>
                      </a:lnTo>
                      <a:lnTo>
                        <a:pt x="22" y="21"/>
                      </a:lnTo>
                      <a:lnTo>
                        <a:pt x="20" y="23"/>
                      </a:lnTo>
                      <a:lnTo>
                        <a:pt x="19" y="23"/>
                      </a:lnTo>
                      <a:lnTo>
                        <a:pt x="18" y="23"/>
                      </a:lnTo>
                      <a:lnTo>
                        <a:pt x="17" y="23"/>
                      </a:lnTo>
                      <a:lnTo>
                        <a:pt x="15" y="25"/>
                      </a:lnTo>
                      <a:lnTo>
                        <a:pt x="14" y="25"/>
                      </a:lnTo>
                      <a:lnTo>
                        <a:pt x="13" y="25"/>
                      </a:lnTo>
                      <a:lnTo>
                        <a:pt x="11" y="26"/>
                      </a:lnTo>
                      <a:lnTo>
                        <a:pt x="9" y="26"/>
                      </a:lnTo>
                      <a:lnTo>
                        <a:pt x="8" y="27"/>
                      </a:lnTo>
                      <a:lnTo>
                        <a:pt x="7" y="27"/>
                      </a:lnTo>
                      <a:lnTo>
                        <a:pt x="5" y="28"/>
                      </a:lnTo>
                      <a:lnTo>
                        <a:pt x="4" y="28"/>
                      </a:lnTo>
                      <a:lnTo>
                        <a:pt x="2" y="28"/>
                      </a:lnTo>
                      <a:lnTo>
                        <a:pt x="1" y="28"/>
                      </a:lnTo>
                      <a:lnTo>
                        <a:pt x="0" y="28"/>
                      </a:lnTo>
                      <a:lnTo>
                        <a:pt x="0" y="26"/>
                      </a:lnTo>
                      <a:lnTo>
                        <a:pt x="0" y="25"/>
                      </a:lnTo>
                      <a:lnTo>
                        <a:pt x="0" y="23"/>
                      </a:lnTo>
                      <a:lnTo>
                        <a:pt x="0" y="22"/>
                      </a:lnTo>
                      <a:lnTo>
                        <a:pt x="0" y="20"/>
                      </a:lnTo>
                      <a:lnTo>
                        <a:pt x="0" y="19"/>
                      </a:lnTo>
                      <a:lnTo>
                        <a:pt x="1" y="18"/>
                      </a:lnTo>
                      <a:lnTo>
                        <a:pt x="2" y="17"/>
                      </a:lnTo>
                      <a:lnTo>
                        <a:pt x="3" y="16"/>
                      </a:lnTo>
                      <a:lnTo>
                        <a:pt x="3" y="15"/>
                      </a:lnTo>
                      <a:lnTo>
                        <a:pt x="4" y="13"/>
                      </a:lnTo>
                      <a:lnTo>
                        <a:pt x="5" y="11"/>
                      </a:lnTo>
                      <a:lnTo>
                        <a:pt x="6" y="11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7"/>
                      </a:lnTo>
                      <a:lnTo>
                        <a:pt x="13" y="5"/>
                      </a:lnTo>
                      <a:lnTo>
                        <a:pt x="13" y="5"/>
                      </a:lnTo>
                      <a:lnTo>
                        <a:pt x="15" y="3"/>
                      </a:lnTo>
                      <a:lnTo>
                        <a:pt x="17" y="1"/>
                      </a:lnTo>
                      <a:lnTo>
                        <a:pt x="18" y="0"/>
                      </a:lnTo>
                      <a:lnTo>
                        <a:pt x="19" y="0"/>
                      </a:lnTo>
                      <a:lnTo>
                        <a:pt x="21" y="0"/>
                      </a:lnTo>
                      <a:lnTo>
                        <a:pt x="22" y="0"/>
                      </a:lnTo>
                      <a:lnTo>
                        <a:pt x="23" y="0"/>
                      </a:lnTo>
                      <a:lnTo>
                        <a:pt x="23" y="1"/>
                      </a:lnTo>
                      <a:lnTo>
                        <a:pt x="23" y="2"/>
                      </a:lnTo>
                      <a:lnTo>
                        <a:pt x="23" y="3"/>
                      </a:lnTo>
                      <a:lnTo>
                        <a:pt x="24" y="3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90" name="Freeform 58"/>
                <p:cNvSpPr>
                  <a:spLocks/>
                </p:cNvSpPr>
                <p:nvPr/>
              </p:nvSpPr>
              <p:spPr bwMode="auto">
                <a:xfrm>
                  <a:off x="2017" y="3869"/>
                  <a:ext cx="70" cy="162"/>
                </a:xfrm>
                <a:custGeom>
                  <a:avLst/>
                  <a:gdLst/>
                  <a:ahLst/>
                  <a:cxnLst>
                    <a:cxn ang="0">
                      <a:pos x="21" y="8"/>
                    </a:cxn>
                    <a:cxn ang="0">
                      <a:pos x="5" y="0"/>
                    </a:cxn>
                    <a:cxn ang="0">
                      <a:pos x="0" y="18"/>
                    </a:cxn>
                    <a:cxn ang="0">
                      <a:pos x="17" y="36"/>
                    </a:cxn>
                    <a:cxn ang="0">
                      <a:pos x="25" y="101"/>
                    </a:cxn>
                    <a:cxn ang="0">
                      <a:pos x="69" y="161"/>
                    </a:cxn>
                    <a:cxn ang="0">
                      <a:pos x="50" y="81"/>
                    </a:cxn>
                    <a:cxn ang="0">
                      <a:pos x="31" y="28"/>
                    </a:cxn>
                    <a:cxn ang="0">
                      <a:pos x="21" y="8"/>
                    </a:cxn>
                  </a:cxnLst>
                  <a:rect l="0" t="0" r="r" b="b"/>
                  <a:pathLst>
                    <a:path w="70" h="162">
                      <a:moveTo>
                        <a:pt x="21" y="8"/>
                      </a:moveTo>
                      <a:lnTo>
                        <a:pt x="5" y="0"/>
                      </a:lnTo>
                      <a:lnTo>
                        <a:pt x="0" y="18"/>
                      </a:lnTo>
                      <a:lnTo>
                        <a:pt x="17" y="36"/>
                      </a:lnTo>
                      <a:lnTo>
                        <a:pt x="25" y="101"/>
                      </a:lnTo>
                      <a:lnTo>
                        <a:pt x="69" y="161"/>
                      </a:lnTo>
                      <a:lnTo>
                        <a:pt x="50" y="81"/>
                      </a:lnTo>
                      <a:lnTo>
                        <a:pt x="31" y="28"/>
                      </a:lnTo>
                      <a:lnTo>
                        <a:pt x="21" y="8"/>
                      </a:lnTo>
                    </a:path>
                  </a:pathLst>
                </a:custGeom>
                <a:solidFill>
                  <a:srgbClr val="4C4C4C"/>
                </a:solidFill>
                <a:ln w="12700" cap="rnd" cmpd="sng">
                  <a:solidFill>
                    <a:srgbClr val="4C4C4C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91" name="Freeform 59"/>
                <p:cNvSpPr>
                  <a:spLocks/>
                </p:cNvSpPr>
                <p:nvPr/>
              </p:nvSpPr>
              <p:spPr bwMode="auto">
                <a:xfrm>
                  <a:off x="2064" y="3700"/>
                  <a:ext cx="23" cy="16"/>
                </a:xfrm>
                <a:custGeom>
                  <a:avLst/>
                  <a:gdLst/>
                  <a:ahLst/>
                  <a:cxnLst>
                    <a:cxn ang="0">
                      <a:pos x="22" y="1"/>
                    </a:cxn>
                    <a:cxn ang="0">
                      <a:pos x="21" y="2"/>
                    </a:cxn>
                    <a:cxn ang="0">
                      <a:pos x="21" y="3"/>
                    </a:cxn>
                    <a:cxn ang="0">
                      <a:pos x="19" y="3"/>
                    </a:cxn>
                    <a:cxn ang="0">
                      <a:pos x="18" y="3"/>
                    </a:cxn>
                    <a:cxn ang="0">
                      <a:pos x="16" y="3"/>
                    </a:cxn>
                    <a:cxn ang="0">
                      <a:pos x="15" y="3"/>
                    </a:cxn>
                    <a:cxn ang="0">
                      <a:pos x="13" y="5"/>
                    </a:cxn>
                    <a:cxn ang="0">
                      <a:pos x="13" y="5"/>
                    </a:cxn>
                    <a:cxn ang="0">
                      <a:pos x="11" y="5"/>
                    </a:cxn>
                    <a:cxn ang="0">
                      <a:pos x="9" y="6"/>
                    </a:cxn>
                    <a:cxn ang="0">
                      <a:pos x="9" y="6"/>
                    </a:cxn>
                    <a:cxn ang="0">
                      <a:pos x="7" y="8"/>
                    </a:cxn>
                    <a:cxn ang="0">
                      <a:pos x="5" y="11"/>
                    </a:cxn>
                    <a:cxn ang="0">
                      <a:pos x="4" y="11"/>
                    </a:cxn>
                    <a:cxn ang="0">
                      <a:pos x="3" y="12"/>
                    </a:cxn>
                    <a:cxn ang="0">
                      <a:pos x="1" y="13"/>
                    </a:cxn>
                    <a:cxn ang="0">
                      <a:pos x="0" y="15"/>
                    </a:cxn>
                    <a:cxn ang="0">
                      <a:pos x="0" y="12"/>
                    </a:cxn>
                    <a:cxn ang="0">
                      <a:pos x="1" y="10"/>
                    </a:cxn>
                    <a:cxn ang="0">
                      <a:pos x="2" y="8"/>
                    </a:cxn>
                    <a:cxn ang="0">
                      <a:pos x="4" y="6"/>
                    </a:cxn>
                    <a:cxn ang="0">
                      <a:pos x="5" y="6"/>
                    </a:cxn>
                    <a:cxn ang="0">
                      <a:pos x="6" y="3"/>
                    </a:cxn>
                    <a:cxn ang="0">
                      <a:pos x="8" y="2"/>
                    </a:cxn>
                    <a:cxn ang="0">
                      <a:pos x="9" y="2"/>
                    </a:cxn>
                    <a:cxn ang="0">
                      <a:pos x="10" y="1"/>
                    </a:cxn>
                    <a:cxn ang="0">
                      <a:pos x="12" y="1"/>
                    </a:cxn>
                    <a:cxn ang="0">
                      <a:pos x="13" y="1"/>
                    </a:cxn>
                    <a:cxn ang="0">
                      <a:pos x="14" y="1"/>
                    </a:cxn>
                    <a:cxn ang="0">
                      <a:pos x="16" y="1"/>
                    </a:cxn>
                    <a:cxn ang="0">
                      <a:pos x="18" y="1"/>
                    </a:cxn>
                    <a:cxn ang="0">
                      <a:pos x="19" y="0"/>
                    </a:cxn>
                    <a:cxn ang="0">
                      <a:pos x="20" y="0"/>
                    </a:cxn>
                    <a:cxn ang="0">
                      <a:pos x="21" y="0"/>
                    </a:cxn>
                    <a:cxn ang="0">
                      <a:pos x="22" y="0"/>
                    </a:cxn>
                    <a:cxn ang="0">
                      <a:pos x="22" y="1"/>
                    </a:cxn>
                  </a:cxnLst>
                  <a:rect l="0" t="0" r="r" b="b"/>
                  <a:pathLst>
                    <a:path w="23" h="16">
                      <a:moveTo>
                        <a:pt x="22" y="1"/>
                      </a:moveTo>
                      <a:lnTo>
                        <a:pt x="21" y="2"/>
                      </a:lnTo>
                      <a:lnTo>
                        <a:pt x="21" y="3"/>
                      </a:lnTo>
                      <a:lnTo>
                        <a:pt x="19" y="3"/>
                      </a:lnTo>
                      <a:lnTo>
                        <a:pt x="18" y="3"/>
                      </a:lnTo>
                      <a:lnTo>
                        <a:pt x="16" y="3"/>
                      </a:lnTo>
                      <a:lnTo>
                        <a:pt x="15" y="3"/>
                      </a:lnTo>
                      <a:lnTo>
                        <a:pt x="13" y="5"/>
                      </a:lnTo>
                      <a:lnTo>
                        <a:pt x="13" y="5"/>
                      </a:lnTo>
                      <a:lnTo>
                        <a:pt x="11" y="5"/>
                      </a:lnTo>
                      <a:lnTo>
                        <a:pt x="9" y="6"/>
                      </a:lnTo>
                      <a:lnTo>
                        <a:pt x="9" y="6"/>
                      </a:lnTo>
                      <a:lnTo>
                        <a:pt x="7" y="8"/>
                      </a:lnTo>
                      <a:lnTo>
                        <a:pt x="5" y="11"/>
                      </a:lnTo>
                      <a:lnTo>
                        <a:pt x="4" y="11"/>
                      </a:lnTo>
                      <a:lnTo>
                        <a:pt x="3" y="12"/>
                      </a:lnTo>
                      <a:lnTo>
                        <a:pt x="1" y="13"/>
                      </a:lnTo>
                      <a:lnTo>
                        <a:pt x="0" y="15"/>
                      </a:lnTo>
                      <a:lnTo>
                        <a:pt x="0" y="12"/>
                      </a:lnTo>
                      <a:lnTo>
                        <a:pt x="1" y="10"/>
                      </a:lnTo>
                      <a:lnTo>
                        <a:pt x="2" y="8"/>
                      </a:lnTo>
                      <a:lnTo>
                        <a:pt x="4" y="6"/>
                      </a:lnTo>
                      <a:lnTo>
                        <a:pt x="5" y="6"/>
                      </a:lnTo>
                      <a:lnTo>
                        <a:pt x="6" y="3"/>
                      </a:lnTo>
                      <a:lnTo>
                        <a:pt x="8" y="2"/>
                      </a:lnTo>
                      <a:lnTo>
                        <a:pt x="9" y="2"/>
                      </a:lnTo>
                      <a:lnTo>
                        <a:pt x="10" y="1"/>
                      </a:lnTo>
                      <a:lnTo>
                        <a:pt x="12" y="1"/>
                      </a:lnTo>
                      <a:lnTo>
                        <a:pt x="13" y="1"/>
                      </a:lnTo>
                      <a:lnTo>
                        <a:pt x="14" y="1"/>
                      </a:lnTo>
                      <a:lnTo>
                        <a:pt x="16" y="1"/>
                      </a:lnTo>
                      <a:lnTo>
                        <a:pt x="18" y="1"/>
                      </a:lnTo>
                      <a:lnTo>
                        <a:pt x="19" y="0"/>
                      </a:lnTo>
                      <a:lnTo>
                        <a:pt x="20" y="0"/>
                      </a:lnTo>
                      <a:lnTo>
                        <a:pt x="21" y="0"/>
                      </a:lnTo>
                      <a:lnTo>
                        <a:pt x="22" y="0"/>
                      </a:lnTo>
                      <a:lnTo>
                        <a:pt x="22" y="1"/>
                      </a:lnTo>
                    </a:path>
                  </a:pathLst>
                </a:custGeom>
                <a:solidFill>
                  <a:srgbClr val="151515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92" name="Freeform 60"/>
                <p:cNvSpPr>
                  <a:spLocks/>
                </p:cNvSpPr>
                <p:nvPr/>
              </p:nvSpPr>
              <p:spPr bwMode="auto">
                <a:xfrm>
                  <a:off x="1839" y="3809"/>
                  <a:ext cx="396" cy="394"/>
                </a:xfrm>
                <a:custGeom>
                  <a:avLst/>
                  <a:gdLst/>
                  <a:ahLst/>
                  <a:cxnLst>
                    <a:cxn ang="0">
                      <a:pos x="91" y="5"/>
                    </a:cxn>
                    <a:cxn ang="0">
                      <a:pos x="107" y="30"/>
                    </a:cxn>
                    <a:cxn ang="0">
                      <a:pos x="134" y="68"/>
                    </a:cxn>
                    <a:cxn ang="0">
                      <a:pos x="163" y="110"/>
                    </a:cxn>
                    <a:cxn ang="0">
                      <a:pos x="192" y="148"/>
                    </a:cxn>
                    <a:cxn ang="0">
                      <a:pos x="210" y="169"/>
                    </a:cxn>
                    <a:cxn ang="0">
                      <a:pos x="218" y="180"/>
                    </a:cxn>
                    <a:cxn ang="0">
                      <a:pos x="229" y="196"/>
                    </a:cxn>
                    <a:cxn ang="0">
                      <a:pos x="240" y="211"/>
                    </a:cxn>
                    <a:cxn ang="0">
                      <a:pos x="250" y="226"/>
                    </a:cxn>
                    <a:cxn ang="0">
                      <a:pos x="257" y="234"/>
                    </a:cxn>
                    <a:cxn ang="0">
                      <a:pos x="258" y="241"/>
                    </a:cxn>
                    <a:cxn ang="0">
                      <a:pos x="261" y="248"/>
                    </a:cxn>
                    <a:cxn ang="0">
                      <a:pos x="263" y="255"/>
                    </a:cxn>
                    <a:cxn ang="0">
                      <a:pos x="264" y="263"/>
                    </a:cxn>
                    <a:cxn ang="0">
                      <a:pos x="266" y="269"/>
                    </a:cxn>
                    <a:cxn ang="0">
                      <a:pos x="269" y="278"/>
                    </a:cxn>
                    <a:cxn ang="0">
                      <a:pos x="272" y="291"/>
                    </a:cxn>
                    <a:cxn ang="0">
                      <a:pos x="277" y="302"/>
                    </a:cxn>
                    <a:cxn ang="0">
                      <a:pos x="281" y="314"/>
                    </a:cxn>
                    <a:cxn ang="0">
                      <a:pos x="288" y="323"/>
                    </a:cxn>
                    <a:cxn ang="0">
                      <a:pos x="297" y="327"/>
                    </a:cxn>
                    <a:cxn ang="0">
                      <a:pos x="311" y="328"/>
                    </a:cxn>
                    <a:cxn ang="0">
                      <a:pos x="328" y="324"/>
                    </a:cxn>
                    <a:cxn ang="0">
                      <a:pos x="344" y="319"/>
                    </a:cxn>
                    <a:cxn ang="0">
                      <a:pos x="357" y="313"/>
                    </a:cxn>
                    <a:cxn ang="0">
                      <a:pos x="364" y="310"/>
                    </a:cxn>
                    <a:cxn ang="0">
                      <a:pos x="371" y="322"/>
                    </a:cxn>
                    <a:cxn ang="0">
                      <a:pos x="378" y="341"/>
                    </a:cxn>
                    <a:cxn ang="0">
                      <a:pos x="386" y="363"/>
                    </a:cxn>
                    <a:cxn ang="0">
                      <a:pos x="392" y="382"/>
                    </a:cxn>
                    <a:cxn ang="0">
                      <a:pos x="394" y="393"/>
                    </a:cxn>
                    <a:cxn ang="0">
                      <a:pos x="373" y="393"/>
                    </a:cxn>
                    <a:cxn ang="0">
                      <a:pos x="298" y="393"/>
                    </a:cxn>
                    <a:cxn ang="0">
                      <a:pos x="195" y="393"/>
                    </a:cxn>
                    <a:cxn ang="0">
                      <a:pos x="91" y="393"/>
                    </a:cxn>
                    <a:cxn ang="0">
                      <a:pos x="19" y="393"/>
                    </a:cxn>
                    <a:cxn ang="0">
                      <a:pos x="1" y="392"/>
                    </a:cxn>
                    <a:cxn ang="0">
                      <a:pos x="0" y="367"/>
                    </a:cxn>
                    <a:cxn ang="0">
                      <a:pos x="0" y="324"/>
                    </a:cxn>
                    <a:cxn ang="0">
                      <a:pos x="0" y="269"/>
                    </a:cxn>
                    <a:cxn ang="0">
                      <a:pos x="1" y="216"/>
                    </a:cxn>
                    <a:cxn ang="0">
                      <a:pos x="2" y="172"/>
                    </a:cxn>
                    <a:cxn ang="0">
                      <a:pos x="2" y="156"/>
                    </a:cxn>
                    <a:cxn ang="0">
                      <a:pos x="5" y="135"/>
                    </a:cxn>
                    <a:cxn ang="0">
                      <a:pos x="10" y="113"/>
                    </a:cxn>
                    <a:cxn ang="0">
                      <a:pos x="15" y="92"/>
                    </a:cxn>
                    <a:cxn ang="0">
                      <a:pos x="21" y="75"/>
                    </a:cxn>
                    <a:cxn ang="0">
                      <a:pos x="28" y="63"/>
                    </a:cxn>
                    <a:cxn ang="0">
                      <a:pos x="39" y="52"/>
                    </a:cxn>
                    <a:cxn ang="0">
                      <a:pos x="52" y="40"/>
                    </a:cxn>
                    <a:cxn ang="0">
                      <a:pos x="63" y="32"/>
                    </a:cxn>
                    <a:cxn ang="0">
                      <a:pos x="72" y="25"/>
                    </a:cxn>
                    <a:cxn ang="0">
                      <a:pos x="74" y="23"/>
                    </a:cxn>
                    <a:cxn ang="0">
                      <a:pos x="75" y="18"/>
                    </a:cxn>
                    <a:cxn ang="0">
                      <a:pos x="80" y="11"/>
                    </a:cxn>
                    <a:cxn ang="0">
                      <a:pos x="83" y="6"/>
                    </a:cxn>
                    <a:cxn ang="0">
                      <a:pos x="86" y="1"/>
                    </a:cxn>
                  </a:cxnLst>
                  <a:rect l="0" t="0" r="r" b="b"/>
                  <a:pathLst>
                    <a:path w="396" h="394">
                      <a:moveTo>
                        <a:pt x="88" y="0"/>
                      </a:moveTo>
                      <a:lnTo>
                        <a:pt x="89" y="1"/>
                      </a:lnTo>
                      <a:lnTo>
                        <a:pt x="91" y="5"/>
                      </a:lnTo>
                      <a:lnTo>
                        <a:pt x="95" y="11"/>
                      </a:lnTo>
                      <a:lnTo>
                        <a:pt x="101" y="20"/>
                      </a:lnTo>
                      <a:lnTo>
                        <a:pt x="107" y="30"/>
                      </a:lnTo>
                      <a:lnTo>
                        <a:pt x="115" y="42"/>
                      </a:lnTo>
                      <a:lnTo>
                        <a:pt x="124" y="54"/>
                      </a:lnTo>
                      <a:lnTo>
                        <a:pt x="134" y="68"/>
                      </a:lnTo>
                      <a:lnTo>
                        <a:pt x="143" y="81"/>
                      </a:lnTo>
                      <a:lnTo>
                        <a:pt x="153" y="96"/>
                      </a:lnTo>
                      <a:lnTo>
                        <a:pt x="163" y="110"/>
                      </a:lnTo>
                      <a:lnTo>
                        <a:pt x="173" y="123"/>
                      </a:lnTo>
                      <a:lnTo>
                        <a:pt x="182" y="136"/>
                      </a:lnTo>
                      <a:lnTo>
                        <a:pt x="192" y="148"/>
                      </a:lnTo>
                      <a:lnTo>
                        <a:pt x="200" y="158"/>
                      </a:lnTo>
                      <a:lnTo>
                        <a:pt x="209" y="167"/>
                      </a:lnTo>
                      <a:lnTo>
                        <a:pt x="210" y="169"/>
                      </a:lnTo>
                      <a:lnTo>
                        <a:pt x="212" y="172"/>
                      </a:lnTo>
                      <a:lnTo>
                        <a:pt x="215" y="176"/>
                      </a:lnTo>
                      <a:lnTo>
                        <a:pt x="218" y="180"/>
                      </a:lnTo>
                      <a:lnTo>
                        <a:pt x="222" y="185"/>
                      </a:lnTo>
                      <a:lnTo>
                        <a:pt x="225" y="191"/>
                      </a:lnTo>
                      <a:lnTo>
                        <a:pt x="229" y="196"/>
                      </a:lnTo>
                      <a:lnTo>
                        <a:pt x="233" y="201"/>
                      </a:lnTo>
                      <a:lnTo>
                        <a:pt x="236" y="207"/>
                      </a:lnTo>
                      <a:lnTo>
                        <a:pt x="240" y="211"/>
                      </a:lnTo>
                      <a:lnTo>
                        <a:pt x="243" y="217"/>
                      </a:lnTo>
                      <a:lnTo>
                        <a:pt x="247" y="221"/>
                      </a:lnTo>
                      <a:lnTo>
                        <a:pt x="250" y="226"/>
                      </a:lnTo>
                      <a:lnTo>
                        <a:pt x="253" y="229"/>
                      </a:lnTo>
                      <a:lnTo>
                        <a:pt x="254" y="232"/>
                      </a:lnTo>
                      <a:lnTo>
                        <a:pt x="257" y="234"/>
                      </a:lnTo>
                      <a:lnTo>
                        <a:pt x="257" y="237"/>
                      </a:lnTo>
                      <a:lnTo>
                        <a:pt x="258" y="238"/>
                      </a:lnTo>
                      <a:lnTo>
                        <a:pt x="258" y="241"/>
                      </a:lnTo>
                      <a:lnTo>
                        <a:pt x="259" y="243"/>
                      </a:lnTo>
                      <a:lnTo>
                        <a:pt x="259" y="245"/>
                      </a:lnTo>
                      <a:lnTo>
                        <a:pt x="261" y="248"/>
                      </a:lnTo>
                      <a:lnTo>
                        <a:pt x="261" y="251"/>
                      </a:lnTo>
                      <a:lnTo>
                        <a:pt x="263" y="253"/>
                      </a:lnTo>
                      <a:lnTo>
                        <a:pt x="263" y="255"/>
                      </a:lnTo>
                      <a:lnTo>
                        <a:pt x="263" y="259"/>
                      </a:lnTo>
                      <a:lnTo>
                        <a:pt x="263" y="261"/>
                      </a:lnTo>
                      <a:lnTo>
                        <a:pt x="264" y="263"/>
                      </a:lnTo>
                      <a:lnTo>
                        <a:pt x="264" y="266"/>
                      </a:lnTo>
                      <a:lnTo>
                        <a:pt x="266" y="268"/>
                      </a:lnTo>
                      <a:lnTo>
                        <a:pt x="266" y="269"/>
                      </a:lnTo>
                      <a:lnTo>
                        <a:pt x="268" y="271"/>
                      </a:lnTo>
                      <a:lnTo>
                        <a:pt x="268" y="276"/>
                      </a:lnTo>
                      <a:lnTo>
                        <a:pt x="269" y="278"/>
                      </a:lnTo>
                      <a:lnTo>
                        <a:pt x="270" y="283"/>
                      </a:lnTo>
                      <a:lnTo>
                        <a:pt x="271" y="286"/>
                      </a:lnTo>
                      <a:lnTo>
                        <a:pt x="272" y="291"/>
                      </a:lnTo>
                      <a:lnTo>
                        <a:pt x="274" y="295"/>
                      </a:lnTo>
                      <a:lnTo>
                        <a:pt x="275" y="300"/>
                      </a:lnTo>
                      <a:lnTo>
                        <a:pt x="277" y="302"/>
                      </a:lnTo>
                      <a:lnTo>
                        <a:pt x="279" y="307"/>
                      </a:lnTo>
                      <a:lnTo>
                        <a:pt x="280" y="311"/>
                      </a:lnTo>
                      <a:lnTo>
                        <a:pt x="281" y="314"/>
                      </a:lnTo>
                      <a:lnTo>
                        <a:pt x="284" y="318"/>
                      </a:lnTo>
                      <a:lnTo>
                        <a:pt x="286" y="320"/>
                      </a:lnTo>
                      <a:lnTo>
                        <a:pt x="288" y="323"/>
                      </a:lnTo>
                      <a:lnTo>
                        <a:pt x="291" y="324"/>
                      </a:lnTo>
                      <a:lnTo>
                        <a:pt x="294" y="325"/>
                      </a:lnTo>
                      <a:lnTo>
                        <a:pt x="297" y="327"/>
                      </a:lnTo>
                      <a:lnTo>
                        <a:pt x="301" y="329"/>
                      </a:lnTo>
                      <a:lnTo>
                        <a:pt x="306" y="329"/>
                      </a:lnTo>
                      <a:lnTo>
                        <a:pt x="311" y="328"/>
                      </a:lnTo>
                      <a:lnTo>
                        <a:pt x="316" y="327"/>
                      </a:lnTo>
                      <a:lnTo>
                        <a:pt x="322" y="326"/>
                      </a:lnTo>
                      <a:lnTo>
                        <a:pt x="328" y="324"/>
                      </a:lnTo>
                      <a:lnTo>
                        <a:pt x="334" y="322"/>
                      </a:lnTo>
                      <a:lnTo>
                        <a:pt x="338" y="320"/>
                      </a:lnTo>
                      <a:lnTo>
                        <a:pt x="344" y="319"/>
                      </a:lnTo>
                      <a:lnTo>
                        <a:pt x="349" y="318"/>
                      </a:lnTo>
                      <a:lnTo>
                        <a:pt x="354" y="315"/>
                      </a:lnTo>
                      <a:lnTo>
                        <a:pt x="357" y="313"/>
                      </a:lnTo>
                      <a:lnTo>
                        <a:pt x="361" y="312"/>
                      </a:lnTo>
                      <a:lnTo>
                        <a:pt x="362" y="312"/>
                      </a:lnTo>
                      <a:lnTo>
                        <a:pt x="364" y="310"/>
                      </a:lnTo>
                      <a:lnTo>
                        <a:pt x="366" y="313"/>
                      </a:lnTo>
                      <a:lnTo>
                        <a:pt x="368" y="317"/>
                      </a:lnTo>
                      <a:lnTo>
                        <a:pt x="371" y="322"/>
                      </a:lnTo>
                      <a:lnTo>
                        <a:pt x="374" y="327"/>
                      </a:lnTo>
                      <a:lnTo>
                        <a:pt x="376" y="335"/>
                      </a:lnTo>
                      <a:lnTo>
                        <a:pt x="378" y="341"/>
                      </a:lnTo>
                      <a:lnTo>
                        <a:pt x="381" y="349"/>
                      </a:lnTo>
                      <a:lnTo>
                        <a:pt x="384" y="355"/>
                      </a:lnTo>
                      <a:lnTo>
                        <a:pt x="386" y="363"/>
                      </a:lnTo>
                      <a:lnTo>
                        <a:pt x="389" y="370"/>
                      </a:lnTo>
                      <a:lnTo>
                        <a:pt x="390" y="376"/>
                      </a:lnTo>
                      <a:lnTo>
                        <a:pt x="392" y="382"/>
                      </a:lnTo>
                      <a:lnTo>
                        <a:pt x="392" y="387"/>
                      </a:lnTo>
                      <a:lnTo>
                        <a:pt x="394" y="390"/>
                      </a:lnTo>
                      <a:lnTo>
                        <a:pt x="394" y="393"/>
                      </a:lnTo>
                      <a:lnTo>
                        <a:pt x="395" y="393"/>
                      </a:lnTo>
                      <a:lnTo>
                        <a:pt x="387" y="393"/>
                      </a:lnTo>
                      <a:lnTo>
                        <a:pt x="373" y="393"/>
                      </a:lnTo>
                      <a:lnTo>
                        <a:pt x="353" y="393"/>
                      </a:lnTo>
                      <a:lnTo>
                        <a:pt x="328" y="393"/>
                      </a:lnTo>
                      <a:lnTo>
                        <a:pt x="298" y="393"/>
                      </a:lnTo>
                      <a:lnTo>
                        <a:pt x="265" y="393"/>
                      </a:lnTo>
                      <a:lnTo>
                        <a:pt x="230" y="393"/>
                      </a:lnTo>
                      <a:lnTo>
                        <a:pt x="195" y="393"/>
                      </a:lnTo>
                      <a:lnTo>
                        <a:pt x="158" y="393"/>
                      </a:lnTo>
                      <a:lnTo>
                        <a:pt x="124" y="393"/>
                      </a:lnTo>
                      <a:lnTo>
                        <a:pt x="91" y="393"/>
                      </a:lnTo>
                      <a:lnTo>
                        <a:pt x="63" y="393"/>
                      </a:lnTo>
                      <a:lnTo>
                        <a:pt x="38" y="393"/>
                      </a:lnTo>
                      <a:lnTo>
                        <a:pt x="19" y="393"/>
                      </a:lnTo>
                      <a:lnTo>
                        <a:pt x="6" y="393"/>
                      </a:lnTo>
                      <a:lnTo>
                        <a:pt x="3" y="393"/>
                      </a:lnTo>
                      <a:lnTo>
                        <a:pt x="1" y="392"/>
                      </a:lnTo>
                      <a:lnTo>
                        <a:pt x="1" y="387"/>
                      </a:lnTo>
                      <a:lnTo>
                        <a:pt x="0" y="378"/>
                      </a:lnTo>
                      <a:lnTo>
                        <a:pt x="0" y="367"/>
                      </a:lnTo>
                      <a:lnTo>
                        <a:pt x="0" y="355"/>
                      </a:lnTo>
                      <a:lnTo>
                        <a:pt x="0" y="341"/>
                      </a:lnTo>
                      <a:lnTo>
                        <a:pt x="0" y="324"/>
                      </a:lnTo>
                      <a:lnTo>
                        <a:pt x="0" y="306"/>
                      </a:lnTo>
                      <a:lnTo>
                        <a:pt x="0" y="288"/>
                      </a:lnTo>
                      <a:lnTo>
                        <a:pt x="0" y="269"/>
                      </a:lnTo>
                      <a:lnTo>
                        <a:pt x="0" y="251"/>
                      </a:lnTo>
                      <a:lnTo>
                        <a:pt x="1" y="233"/>
                      </a:lnTo>
                      <a:lnTo>
                        <a:pt x="1" y="216"/>
                      </a:lnTo>
                      <a:lnTo>
                        <a:pt x="1" y="200"/>
                      </a:lnTo>
                      <a:lnTo>
                        <a:pt x="1" y="185"/>
                      </a:lnTo>
                      <a:lnTo>
                        <a:pt x="2" y="172"/>
                      </a:lnTo>
                      <a:lnTo>
                        <a:pt x="2" y="168"/>
                      </a:lnTo>
                      <a:lnTo>
                        <a:pt x="2" y="162"/>
                      </a:lnTo>
                      <a:lnTo>
                        <a:pt x="2" y="156"/>
                      </a:lnTo>
                      <a:lnTo>
                        <a:pt x="3" y="150"/>
                      </a:lnTo>
                      <a:lnTo>
                        <a:pt x="3" y="143"/>
                      </a:lnTo>
                      <a:lnTo>
                        <a:pt x="5" y="135"/>
                      </a:lnTo>
                      <a:lnTo>
                        <a:pt x="6" y="127"/>
                      </a:lnTo>
                      <a:lnTo>
                        <a:pt x="8" y="120"/>
                      </a:lnTo>
                      <a:lnTo>
                        <a:pt x="10" y="113"/>
                      </a:lnTo>
                      <a:lnTo>
                        <a:pt x="11" y="105"/>
                      </a:lnTo>
                      <a:lnTo>
                        <a:pt x="13" y="98"/>
                      </a:lnTo>
                      <a:lnTo>
                        <a:pt x="15" y="92"/>
                      </a:lnTo>
                      <a:lnTo>
                        <a:pt x="17" y="86"/>
                      </a:lnTo>
                      <a:lnTo>
                        <a:pt x="19" y="80"/>
                      </a:lnTo>
                      <a:lnTo>
                        <a:pt x="21" y="75"/>
                      </a:lnTo>
                      <a:lnTo>
                        <a:pt x="23" y="69"/>
                      </a:lnTo>
                      <a:lnTo>
                        <a:pt x="25" y="67"/>
                      </a:lnTo>
                      <a:lnTo>
                        <a:pt x="28" y="63"/>
                      </a:lnTo>
                      <a:lnTo>
                        <a:pt x="32" y="60"/>
                      </a:lnTo>
                      <a:lnTo>
                        <a:pt x="35" y="56"/>
                      </a:lnTo>
                      <a:lnTo>
                        <a:pt x="39" y="52"/>
                      </a:lnTo>
                      <a:lnTo>
                        <a:pt x="44" y="48"/>
                      </a:lnTo>
                      <a:lnTo>
                        <a:pt x="48" y="45"/>
                      </a:lnTo>
                      <a:lnTo>
                        <a:pt x="52" y="40"/>
                      </a:lnTo>
                      <a:lnTo>
                        <a:pt x="56" y="37"/>
                      </a:lnTo>
                      <a:lnTo>
                        <a:pt x="60" y="34"/>
                      </a:lnTo>
                      <a:lnTo>
                        <a:pt x="63" y="32"/>
                      </a:lnTo>
                      <a:lnTo>
                        <a:pt x="67" y="28"/>
                      </a:lnTo>
                      <a:lnTo>
                        <a:pt x="69" y="27"/>
                      </a:lnTo>
                      <a:lnTo>
                        <a:pt x="72" y="25"/>
                      </a:lnTo>
                      <a:lnTo>
                        <a:pt x="73" y="24"/>
                      </a:lnTo>
                      <a:lnTo>
                        <a:pt x="74" y="23"/>
                      </a:lnTo>
                      <a:lnTo>
                        <a:pt x="74" y="23"/>
                      </a:lnTo>
                      <a:lnTo>
                        <a:pt x="74" y="21"/>
                      </a:lnTo>
                      <a:lnTo>
                        <a:pt x="75" y="19"/>
                      </a:lnTo>
                      <a:lnTo>
                        <a:pt x="75" y="18"/>
                      </a:lnTo>
                      <a:lnTo>
                        <a:pt x="77" y="16"/>
                      </a:lnTo>
                      <a:lnTo>
                        <a:pt x="79" y="14"/>
                      </a:lnTo>
                      <a:lnTo>
                        <a:pt x="80" y="11"/>
                      </a:lnTo>
                      <a:lnTo>
                        <a:pt x="80" y="10"/>
                      </a:lnTo>
                      <a:lnTo>
                        <a:pt x="81" y="8"/>
                      </a:lnTo>
                      <a:lnTo>
                        <a:pt x="83" y="6"/>
                      </a:lnTo>
                      <a:lnTo>
                        <a:pt x="85" y="3"/>
                      </a:lnTo>
                      <a:lnTo>
                        <a:pt x="85" y="2"/>
                      </a:lnTo>
                      <a:lnTo>
                        <a:pt x="86" y="1"/>
                      </a:lnTo>
                      <a:lnTo>
                        <a:pt x="86" y="0"/>
                      </a:lnTo>
                      <a:lnTo>
                        <a:pt x="88" y="0"/>
                      </a:lnTo>
                    </a:path>
                  </a:pathLst>
                </a:custGeom>
                <a:solidFill>
                  <a:srgbClr val="40404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93" name="Freeform 61"/>
                <p:cNvSpPr>
                  <a:spLocks/>
                </p:cNvSpPr>
                <p:nvPr/>
              </p:nvSpPr>
              <p:spPr bwMode="auto">
                <a:xfrm>
                  <a:off x="2307" y="4059"/>
                  <a:ext cx="16" cy="41"/>
                </a:xfrm>
                <a:custGeom>
                  <a:avLst/>
                  <a:gdLst/>
                  <a:ahLst/>
                  <a:cxnLst>
                    <a:cxn ang="0">
                      <a:pos x="15" y="0"/>
                    </a:cxn>
                    <a:cxn ang="0">
                      <a:pos x="14" y="0"/>
                    </a:cxn>
                    <a:cxn ang="0">
                      <a:pos x="14" y="2"/>
                    </a:cxn>
                    <a:cxn ang="0">
                      <a:pos x="14" y="3"/>
                    </a:cxn>
                    <a:cxn ang="0">
                      <a:pos x="13" y="4"/>
                    </a:cxn>
                    <a:cxn ang="0">
                      <a:pos x="13" y="5"/>
                    </a:cxn>
                    <a:cxn ang="0">
                      <a:pos x="13" y="7"/>
                    </a:cxn>
                    <a:cxn ang="0">
                      <a:pos x="13" y="9"/>
                    </a:cxn>
                    <a:cxn ang="0">
                      <a:pos x="12" y="10"/>
                    </a:cxn>
                    <a:cxn ang="0">
                      <a:pos x="12" y="12"/>
                    </a:cxn>
                    <a:cxn ang="0">
                      <a:pos x="12" y="14"/>
                    </a:cxn>
                    <a:cxn ang="0">
                      <a:pos x="12" y="15"/>
                    </a:cxn>
                    <a:cxn ang="0">
                      <a:pos x="12" y="17"/>
                    </a:cxn>
                    <a:cxn ang="0">
                      <a:pos x="12" y="18"/>
                    </a:cxn>
                    <a:cxn ang="0">
                      <a:pos x="12" y="20"/>
                    </a:cxn>
                    <a:cxn ang="0">
                      <a:pos x="10" y="21"/>
                    </a:cxn>
                    <a:cxn ang="0">
                      <a:pos x="9" y="23"/>
                    </a:cxn>
                    <a:cxn ang="0">
                      <a:pos x="7" y="25"/>
                    </a:cxn>
                    <a:cxn ang="0">
                      <a:pos x="7" y="25"/>
                    </a:cxn>
                    <a:cxn ang="0">
                      <a:pos x="5" y="27"/>
                    </a:cxn>
                    <a:cxn ang="0">
                      <a:pos x="5" y="29"/>
                    </a:cxn>
                    <a:cxn ang="0">
                      <a:pos x="4" y="30"/>
                    </a:cxn>
                    <a:cxn ang="0">
                      <a:pos x="2" y="32"/>
                    </a:cxn>
                    <a:cxn ang="0">
                      <a:pos x="2" y="34"/>
                    </a:cxn>
                    <a:cxn ang="0">
                      <a:pos x="1" y="35"/>
                    </a:cxn>
                    <a:cxn ang="0">
                      <a:pos x="1" y="36"/>
                    </a:cxn>
                    <a:cxn ang="0">
                      <a:pos x="0" y="38"/>
                    </a:cxn>
                    <a:cxn ang="0">
                      <a:pos x="0" y="39"/>
                    </a:cxn>
                    <a:cxn ang="0">
                      <a:pos x="0" y="40"/>
                    </a:cxn>
                  </a:cxnLst>
                  <a:rect l="0" t="0" r="r" b="b"/>
                  <a:pathLst>
                    <a:path w="16" h="41">
                      <a:moveTo>
                        <a:pt x="15" y="0"/>
                      </a:moveTo>
                      <a:lnTo>
                        <a:pt x="14" y="0"/>
                      </a:lnTo>
                      <a:lnTo>
                        <a:pt x="14" y="2"/>
                      </a:lnTo>
                      <a:lnTo>
                        <a:pt x="14" y="3"/>
                      </a:lnTo>
                      <a:lnTo>
                        <a:pt x="13" y="4"/>
                      </a:lnTo>
                      <a:lnTo>
                        <a:pt x="13" y="5"/>
                      </a:lnTo>
                      <a:lnTo>
                        <a:pt x="13" y="7"/>
                      </a:lnTo>
                      <a:lnTo>
                        <a:pt x="13" y="9"/>
                      </a:lnTo>
                      <a:lnTo>
                        <a:pt x="12" y="10"/>
                      </a:lnTo>
                      <a:lnTo>
                        <a:pt x="12" y="12"/>
                      </a:lnTo>
                      <a:lnTo>
                        <a:pt x="12" y="14"/>
                      </a:lnTo>
                      <a:lnTo>
                        <a:pt x="12" y="15"/>
                      </a:lnTo>
                      <a:lnTo>
                        <a:pt x="12" y="17"/>
                      </a:lnTo>
                      <a:lnTo>
                        <a:pt x="12" y="18"/>
                      </a:lnTo>
                      <a:lnTo>
                        <a:pt x="12" y="20"/>
                      </a:lnTo>
                      <a:lnTo>
                        <a:pt x="10" y="21"/>
                      </a:lnTo>
                      <a:lnTo>
                        <a:pt x="9" y="23"/>
                      </a:lnTo>
                      <a:lnTo>
                        <a:pt x="7" y="25"/>
                      </a:lnTo>
                      <a:lnTo>
                        <a:pt x="7" y="25"/>
                      </a:lnTo>
                      <a:lnTo>
                        <a:pt x="5" y="27"/>
                      </a:lnTo>
                      <a:lnTo>
                        <a:pt x="5" y="29"/>
                      </a:lnTo>
                      <a:lnTo>
                        <a:pt x="4" y="30"/>
                      </a:lnTo>
                      <a:lnTo>
                        <a:pt x="2" y="32"/>
                      </a:lnTo>
                      <a:lnTo>
                        <a:pt x="2" y="34"/>
                      </a:lnTo>
                      <a:lnTo>
                        <a:pt x="1" y="35"/>
                      </a:lnTo>
                      <a:lnTo>
                        <a:pt x="1" y="36"/>
                      </a:lnTo>
                      <a:lnTo>
                        <a:pt x="0" y="38"/>
                      </a:lnTo>
                      <a:lnTo>
                        <a:pt x="0" y="39"/>
                      </a:lnTo>
                      <a:lnTo>
                        <a:pt x="0" y="40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94" name="Freeform 62"/>
                <p:cNvSpPr>
                  <a:spLocks/>
                </p:cNvSpPr>
                <p:nvPr/>
              </p:nvSpPr>
              <p:spPr bwMode="auto">
                <a:xfrm>
                  <a:off x="2308" y="4078"/>
                  <a:ext cx="16" cy="37"/>
                </a:xfrm>
                <a:custGeom>
                  <a:avLst/>
                  <a:gdLst/>
                  <a:ahLst/>
                  <a:cxnLst>
                    <a:cxn ang="0">
                      <a:pos x="15" y="0"/>
                    </a:cxn>
                    <a:cxn ang="0">
                      <a:pos x="13" y="0"/>
                    </a:cxn>
                    <a:cxn ang="0">
                      <a:pos x="13" y="1"/>
                    </a:cxn>
                    <a:cxn ang="0">
                      <a:pos x="13" y="3"/>
                    </a:cxn>
                    <a:cxn ang="0">
                      <a:pos x="12" y="5"/>
                    </a:cxn>
                    <a:cxn ang="0">
                      <a:pos x="12" y="6"/>
                    </a:cxn>
                    <a:cxn ang="0">
                      <a:pos x="12" y="8"/>
                    </a:cxn>
                    <a:cxn ang="0">
                      <a:pos x="12" y="10"/>
                    </a:cxn>
                    <a:cxn ang="0">
                      <a:pos x="11" y="13"/>
                    </a:cxn>
                    <a:cxn ang="0">
                      <a:pos x="11" y="15"/>
                    </a:cxn>
                    <a:cxn ang="0">
                      <a:pos x="11" y="17"/>
                    </a:cxn>
                    <a:cxn ang="0">
                      <a:pos x="11" y="18"/>
                    </a:cxn>
                    <a:cxn ang="0">
                      <a:pos x="10" y="20"/>
                    </a:cxn>
                    <a:cxn ang="0">
                      <a:pos x="10" y="22"/>
                    </a:cxn>
                    <a:cxn ang="0">
                      <a:pos x="10" y="24"/>
                    </a:cxn>
                    <a:cxn ang="0">
                      <a:pos x="8" y="25"/>
                    </a:cxn>
                    <a:cxn ang="0">
                      <a:pos x="7" y="27"/>
                    </a:cxn>
                    <a:cxn ang="0">
                      <a:pos x="5" y="29"/>
                    </a:cxn>
                    <a:cxn ang="0">
                      <a:pos x="3" y="30"/>
                    </a:cxn>
                    <a:cxn ang="0">
                      <a:pos x="2" y="31"/>
                    </a:cxn>
                    <a:cxn ang="0">
                      <a:pos x="1" y="33"/>
                    </a:cxn>
                    <a:cxn ang="0">
                      <a:pos x="0" y="35"/>
                    </a:cxn>
                    <a:cxn ang="0">
                      <a:pos x="0" y="36"/>
                    </a:cxn>
                    <a:cxn ang="0">
                      <a:pos x="0" y="36"/>
                    </a:cxn>
                  </a:cxnLst>
                  <a:rect l="0" t="0" r="r" b="b"/>
                  <a:pathLst>
                    <a:path w="16" h="37">
                      <a:moveTo>
                        <a:pt x="15" y="0"/>
                      </a:moveTo>
                      <a:lnTo>
                        <a:pt x="13" y="0"/>
                      </a:lnTo>
                      <a:lnTo>
                        <a:pt x="13" y="1"/>
                      </a:lnTo>
                      <a:lnTo>
                        <a:pt x="13" y="3"/>
                      </a:lnTo>
                      <a:lnTo>
                        <a:pt x="12" y="5"/>
                      </a:lnTo>
                      <a:lnTo>
                        <a:pt x="12" y="6"/>
                      </a:lnTo>
                      <a:lnTo>
                        <a:pt x="12" y="8"/>
                      </a:lnTo>
                      <a:lnTo>
                        <a:pt x="12" y="10"/>
                      </a:lnTo>
                      <a:lnTo>
                        <a:pt x="11" y="13"/>
                      </a:lnTo>
                      <a:lnTo>
                        <a:pt x="11" y="15"/>
                      </a:lnTo>
                      <a:lnTo>
                        <a:pt x="11" y="17"/>
                      </a:lnTo>
                      <a:lnTo>
                        <a:pt x="11" y="18"/>
                      </a:lnTo>
                      <a:lnTo>
                        <a:pt x="10" y="20"/>
                      </a:lnTo>
                      <a:lnTo>
                        <a:pt x="10" y="22"/>
                      </a:lnTo>
                      <a:lnTo>
                        <a:pt x="10" y="24"/>
                      </a:lnTo>
                      <a:lnTo>
                        <a:pt x="8" y="25"/>
                      </a:lnTo>
                      <a:lnTo>
                        <a:pt x="7" y="27"/>
                      </a:lnTo>
                      <a:lnTo>
                        <a:pt x="5" y="29"/>
                      </a:lnTo>
                      <a:lnTo>
                        <a:pt x="3" y="30"/>
                      </a:lnTo>
                      <a:lnTo>
                        <a:pt x="2" y="31"/>
                      </a:lnTo>
                      <a:lnTo>
                        <a:pt x="1" y="33"/>
                      </a:lnTo>
                      <a:lnTo>
                        <a:pt x="0" y="35"/>
                      </a:lnTo>
                      <a:lnTo>
                        <a:pt x="0" y="36"/>
                      </a:lnTo>
                      <a:lnTo>
                        <a:pt x="0" y="36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95" name="Freeform 63"/>
                <p:cNvSpPr>
                  <a:spLocks/>
                </p:cNvSpPr>
                <p:nvPr/>
              </p:nvSpPr>
              <p:spPr bwMode="auto">
                <a:xfrm>
                  <a:off x="2310" y="4112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15" y="0"/>
                    </a:cxn>
                    <a:cxn ang="0">
                      <a:pos x="13" y="0"/>
                    </a:cxn>
                    <a:cxn ang="0">
                      <a:pos x="13" y="1"/>
                    </a:cxn>
                    <a:cxn ang="0">
                      <a:pos x="9" y="4"/>
                    </a:cxn>
                    <a:cxn ang="0">
                      <a:pos x="5" y="7"/>
                    </a:cxn>
                    <a:cxn ang="0">
                      <a:pos x="5" y="8"/>
                    </a:cxn>
                    <a:cxn ang="0">
                      <a:pos x="3" y="11"/>
                    </a:cxn>
                    <a:cxn ang="0">
                      <a:pos x="0" y="12"/>
                    </a:cxn>
                    <a:cxn ang="0">
                      <a:pos x="0" y="13"/>
                    </a:cxn>
                    <a:cxn ang="0">
                      <a:pos x="0" y="15"/>
                    </a:cxn>
                  </a:cxnLst>
                  <a:rect l="0" t="0" r="r" b="b"/>
                  <a:pathLst>
                    <a:path w="16" h="16">
                      <a:moveTo>
                        <a:pt x="15" y="0"/>
                      </a:moveTo>
                      <a:lnTo>
                        <a:pt x="13" y="0"/>
                      </a:lnTo>
                      <a:lnTo>
                        <a:pt x="13" y="1"/>
                      </a:lnTo>
                      <a:lnTo>
                        <a:pt x="9" y="4"/>
                      </a:lnTo>
                      <a:lnTo>
                        <a:pt x="5" y="7"/>
                      </a:lnTo>
                      <a:lnTo>
                        <a:pt x="5" y="8"/>
                      </a:lnTo>
                      <a:lnTo>
                        <a:pt x="3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0" y="15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96" name="Freeform 64"/>
                <p:cNvSpPr>
                  <a:spLocks/>
                </p:cNvSpPr>
                <p:nvPr/>
              </p:nvSpPr>
              <p:spPr bwMode="auto">
                <a:xfrm>
                  <a:off x="1913" y="3810"/>
                  <a:ext cx="172" cy="216"/>
                </a:xfrm>
                <a:custGeom>
                  <a:avLst/>
                  <a:gdLst/>
                  <a:ahLst/>
                  <a:cxnLst>
                    <a:cxn ang="0">
                      <a:pos x="0" y="29"/>
                    </a:cxn>
                    <a:cxn ang="0">
                      <a:pos x="11" y="54"/>
                    </a:cxn>
                    <a:cxn ang="0">
                      <a:pos x="38" y="90"/>
                    </a:cxn>
                    <a:cxn ang="0">
                      <a:pos x="54" y="123"/>
                    </a:cxn>
                    <a:cxn ang="0">
                      <a:pos x="70" y="123"/>
                    </a:cxn>
                    <a:cxn ang="0">
                      <a:pos x="79" y="152"/>
                    </a:cxn>
                    <a:cxn ang="0">
                      <a:pos x="171" y="215"/>
                    </a:cxn>
                    <a:cxn ang="0">
                      <a:pos x="92" y="111"/>
                    </a:cxn>
                    <a:cxn ang="0">
                      <a:pos x="51" y="51"/>
                    </a:cxn>
                    <a:cxn ang="0">
                      <a:pos x="14" y="0"/>
                    </a:cxn>
                    <a:cxn ang="0">
                      <a:pos x="0" y="22"/>
                    </a:cxn>
                  </a:cxnLst>
                  <a:rect l="0" t="0" r="r" b="b"/>
                  <a:pathLst>
                    <a:path w="172" h="216">
                      <a:moveTo>
                        <a:pt x="0" y="29"/>
                      </a:moveTo>
                      <a:lnTo>
                        <a:pt x="11" y="54"/>
                      </a:lnTo>
                      <a:lnTo>
                        <a:pt x="38" y="90"/>
                      </a:lnTo>
                      <a:lnTo>
                        <a:pt x="54" y="123"/>
                      </a:lnTo>
                      <a:lnTo>
                        <a:pt x="70" y="123"/>
                      </a:lnTo>
                      <a:lnTo>
                        <a:pt x="79" y="152"/>
                      </a:lnTo>
                      <a:lnTo>
                        <a:pt x="171" y="215"/>
                      </a:lnTo>
                      <a:lnTo>
                        <a:pt x="92" y="111"/>
                      </a:lnTo>
                      <a:lnTo>
                        <a:pt x="51" y="51"/>
                      </a:lnTo>
                      <a:lnTo>
                        <a:pt x="14" y="0"/>
                      </a:lnTo>
                      <a:lnTo>
                        <a:pt x="0" y="22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97" name="Freeform 65"/>
                <p:cNvSpPr>
                  <a:spLocks/>
                </p:cNvSpPr>
                <p:nvPr/>
              </p:nvSpPr>
              <p:spPr bwMode="auto">
                <a:xfrm>
                  <a:off x="2119" y="4138"/>
                  <a:ext cx="26" cy="47"/>
                </a:xfrm>
                <a:custGeom>
                  <a:avLst/>
                  <a:gdLst/>
                  <a:ahLst/>
                  <a:cxnLst>
                    <a:cxn ang="0">
                      <a:pos x="25" y="0"/>
                    </a:cxn>
                    <a:cxn ang="0">
                      <a:pos x="23" y="1"/>
                    </a:cxn>
                    <a:cxn ang="0">
                      <a:pos x="23" y="3"/>
                    </a:cxn>
                    <a:cxn ang="0">
                      <a:pos x="23" y="5"/>
                    </a:cxn>
                    <a:cxn ang="0">
                      <a:pos x="21" y="7"/>
                    </a:cxn>
                    <a:cxn ang="0">
                      <a:pos x="20" y="9"/>
                    </a:cxn>
                    <a:cxn ang="0">
                      <a:pos x="19" y="12"/>
                    </a:cxn>
                    <a:cxn ang="0">
                      <a:pos x="19" y="13"/>
                    </a:cxn>
                    <a:cxn ang="0">
                      <a:pos x="17" y="17"/>
                    </a:cxn>
                    <a:cxn ang="0">
                      <a:pos x="16" y="20"/>
                    </a:cxn>
                    <a:cxn ang="0">
                      <a:pos x="14" y="23"/>
                    </a:cxn>
                    <a:cxn ang="0">
                      <a:pos x="14" y="25"/>
                    </a:cxn>
                    <a:cxn ang="0">
                      <a:pos x="13" y="28"/>
                    </a:cxn>
                    <a:cxn ang="0">
                      <a:pos x="13" y="30"/>
                    </a:cxn>
                    <a:cxn ang="0">
                      <a:pos x="11" y="32"/>
                    </a:cxn>
                    <a:cxn ang="0">
                      <a:pos x="11" y="33"/>
                    </a:cxn>
                    <a:cxn ang="0">
                      <a:pos x="9" y="34"/>
                    </a:cxn>
                    <a:cxn ang="0">
                      <a:pos x="9" y="35"/>
                    </a:cxn>
                    <a:cxn ang="0">
                      <a:pos x="7" y="37"/>
                    </a:cxn>
                    <a:cxn ang="0">
                      <a:pos x="6" y="39"/>
                    </a:cxn>
                    <a:cxn ang="0">
                      <a:pos x="4" y="40"/>
                    </a:cxn>
                    <a:cxn ang="0">
                      <a:pos x="2" y="42"/>
                    </a:cxn>
                    <a:cxn ang="0">
                      <a:pos x="2" y="43"/>
                    </a:cxn>
                    <a:cxn ang="0">
                      <a:pos x="0" y="45"/>
                    </a:cxn>
                    <a:cxn ang="0">
                      <a:pos x="0" y="46"/>
                    </a:cxn>
                  </a:cxnLst>
                  <a:rect l="0" t="0" r="r" b="b"/>
                  <a:pathLst>
                    <a:path w="26" h="47">
                      <a:moveTo>
                        <a:pt x="25" y="0"/>
                      </a:moveTo>
                      <a:lnTo>
                        <a:pt x="23" y="1"/>
                      </a:lnTo>
                      <a:lnTo>
                        <a:pt x="23" y="3"/>
                      </a:lnTo>
                      <a:lnTo>
                        <a:pt x="23" y="5"/>
                      </a:lnTo>
                      <a:lnTo>
                        <a:pt x="21" y="7"/>
                      </a:lnTo>
                      <a:lnTo>
                        <a:pt x="20" y="9"/>
                      </a:lnTo>
                      <a:lnTo>
                        <a:pt x="19" y="12"/>
                      </a:lnTo>
                      <a:lnTo>
                        <a:pt x="19" y="13"/>
                      </a:lnTo>
                      <a:lnTo>
                        <a:pt x="17" y="17"/>
                      </a:lnTo>
                      <a:lnTo>
                        <a:pt x="16" y="20"/>
                      </a:lnTo>
                      <a:lnTo>
                        <a:pt x="14" y="23"/>
                      </a:lnTo>
                      <a:lnTo>
                        <a:pt x="14" y="25"/>
                      </a:lnTo>
                      <a:lnTo>
                        <a:pt x="13" y="28"/>
                      </a:lnTo>
                      <a:lnTo>
                        <a:pt x="13" y="30"/>
                      </a:lnTo>
                      <a:lnTo>
                        <a:pt x="11" y="32"/>
                      </a:lnTo>
                      <a:lnTo>
                        <a:pt x="11" y="33"/>
                      </a:lnTo>
                      <a:lnTo>
                        <a:pt x="9" y="34"/>
                      </a:lnTo>
                      <a:lnTo>
                        <a:pt x="9" y="35"/>
                      </a:lnTo>
                      <a:lnTo>
                        <a:pt x="7" y="37"/>
                      </a:lnTo>
                      <a:lnTo>
                        <a:pt x="6" y="39"/>
                      </a:lnTo>
                      <a:lnTo>
                        <a:pt x="4" y="40"/>
                      </a:lnTo>
                      <a:lnTo>
                        <a:pt x="2" y="42"/>
                      </a:lnTo>
                      <a:lnTo>
                        <a:pt x="2" y="43"/>
                      </a:lnTo>
                      <a:lnTo>
                        <a:pt x="0" y="45"/>
                      </a:lnTo>
                      <a:lnTo>
                        <a:pt x="0" y="46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9698" name="Group 66"/>
              <p:cNvGrpSpPr>
                <a:grpSpLocks/>
              </p:cNvGrpSpPr>
              <p:nvPr/>
            </p:nvGrpSpPr>
            <p:grpSpPr bwMode="auto">
              <a:xfrm>
                <a:off x="2375" y="3555"/>
                <a:ext cx="502" cy="656"/>
                <a:chOff x="2375" y="3555"/>
                <a:chExt cx="502" cy="656"/>
              </a:xfrm>
            </p:grpSpPr>
            <p:sp>
              <p:nvSpPr>
                <p:cNvPr id="69699" name="Freeform 67"/>
                <p:cNvSpPr>
                  <a:spLocks/>
                </p:cNvSpPr>
                <p:nvPr/>
              </p:nvSpPr>
              <p:spPr bwMode="auto">
                <a:xfrm>
                  <a:off x="2472" y="3557"/>
                  <a:ext cx="209" cy="255"/>
                </a:xfrm>
                <a:custGeom>
                  <a:avLst/>
                  <a:gdLst/>
                  <a:ahLst/>
                  <a:cxnLst>
                    <a:cxn ang="0">
                      <a:pos x="106" y="159"/>
                    </a:cxn>
                    <a:cxn ang="0">
                      <a:pos x="119" y="176"/>
                    </a:cxn>
                    <a:cxn ang="0">
                      <a:pos x="141" y="193"/>
                    </a:cxn>
                    <a:cxn ang="0">
                      <a:pos x="153" y="184"/>
                    </a:cxn>
                    <a:cxn ang="0">
                      <a:pos x="152" y="169"/>
                    </a:cxn>
                    <a:cxn ang="0">
                      <a:pos x="158" y="144"/>
                    </a:cxn>
                    <a:cxn ang="0">
                      <a:pos x="171" y="129"/>
                    </a:cxn>
                    <a:cxn ang="0">
                      <a:pos x="175" y="109"/>
                    </a:cxn>
                    <a:cxn ang="0">
                      <a:pos x="171" y="85"/>
                    </a:cxn>
                    <a:cxn ang="0">
                      <a:pos x="163" y="59"/>
                    </a:cxn>
                    <a:cxn ang="0">
                      <a:pos x="166" y="52"/>
                    </a:cxn>
                    <a:cxn ang="0">
                      <a:pos x="181" y="66"/>
                    </a:cxn>
                    <a:cxn ang="0">
                      <a:pos x="187" y="77"/>
                    </a:cxn>
                    <a:cxn ang="0">
                      <a:pos x="202" y="58"/>
                    </a:cxn>
                    <a:cxn ang="0">
                      <a:pos x="208" y="47"/>
                    </a:cxn>
                    <a:cxn ang="0">
                      <a:pos x="203" y="26"/>
                    </a:cxn>
                    <a:cxn ang="0">
                      <a:pos x="175" y="11"/>
                    </a:cxn>
                    <a:cxn ang="0">
                      <a:pos x="125" y="0"/>
                    </a:cxn>
                    <a:cxn ang="0">
                      <a:pos x="73" y="0"/>
                    </a:cxn>
                    <a:cxn ang="0">
                      <a:pos x="39" y="15"/>
                    </a:cxn>
                    <a:cxn ang="0">
                      <a:pos x="22" y="41"/>
                    </a:cxn>
                    <a:cxn ang="0">
                      <a:pos x="11" y="63"/>
                    </a:cxn>
                    <a:cxn ang="0">
                      <a:pos x="4" y="90"/>
                    </a:cxn>
                    <a:cxn ang="0">
                      <a:pos x="0" y="134"/>
                    </a:cxn>
                    <a:cxn ang="0">
                      <a:pos x="3" y="182"/>
                    </a:cxn>
                    <a:cxn ang="0">
                      <a:pos x="8" y="208"/>
                    </a:cxn>
                    <a:cxn ang="0">
                      <a:pos x="11" y="244"/>
                    </a:cxn>
                    <a:cxn ang="0">
                      <a:pos x="32" y="254"/>
                    </a:cxn>
                    <a:cxn ang="0">
                      <a:pos x="61" y="254"/>
                    </a:cxn>
                    <a:cxn ang="0">
                      <a:pos x="91" y="244"/>
                    </a:cxn>
                    <a:cxn ang="0">
                      <a:pos x="104" y="228"/>
                    </a:cxn>
                    <a:cxn ang="0">
                      <a:pos x="101" y="213"/>
                    </a:cxn>
                    <a:cxn ang="0">
                      <a:pos x="96" y="180"/>
                    </a:cxn>
                    <a:cxn ang="0">
                      <a:pos x="107" y="156"/>
                    </a:cxn>
                    <a:cxn ang="0">
                      <a:pos x="122" y="171"/>
                    </a:cxn>
                    <a:cxn ang="0">
                      <a:pos x="105" y="159"/>
                    </a:cxn>
                  </a:cxnLst>
                  <a:rect l="0" t="0" r="r" b="b"/>
                  <a:pathLst>
                    <a:path w="209" h="255">
                      <a:moveTo>
                        <a:pt x="105" y="159"/>
                      </a:moveTo>
                      <a:lnTo>
                        <a:pt x="106" y="159"/>
                      </a:lnTo>
                      <a:lnTo>
                        <a:pt x="116" y="162"/>
                      </a:lnTo>
                      <a:lnTo>
                        <a:pt x="119" y="176"/>
                      </a:lnTo>
                      <a:lnTo>
                        <a:pt x="133" y="188"/>
                      </a:lnTo>
                      <a:lnTo>
                        <a:pt x="141" y="193"/>
                      </a:lnTo>
                      <a:lnTo>
                        <a:pt x="152" y="189"/>
                      </a:lnTo>
                      <a:lnTo>
                        <a:pt x="153" y="184"/>
                      </a:lnTo>
                      <a:lnTo>
                        <a:pt x="152" y="178"/>
                      </a:lnTo>
                      <a:lnTo>
                        <a:pt x="152" y="169"/>
                      </a:lnTo>
                      <a:lnTo>
                        <a:pt x="153" y="157"/>
                      </a:lnTo>
                      <a:lnTo>
                        <a:pt x="158" y="144"/>
                      </a:lnTo>
                      <a:lnTo>
                        <a:pt x="163" y="135"/>
                      </a:lnTo>
                      <a:lnTo>
                        <a:pt x="171" y="129"/>
                      </a:lnTo>
                      <a:lnTo>
                        <a:pt x="177" y="121"/>
                      </a:lnTo>
                      <a:lnTo>
                        <a:pt x="175" y="109"/>
                      </a:lnTo>
                      <a:lnTo>
                        <a:pt x="172" y="97"/>
                      </a:lnTo>
                      <a:lnTo>
                        <a:pt x="171" y="85"/>
                      </a:lnTo>
                      <a:lnTo>
                        <a:pt x="163" y="75"/>
                      </a:lnTo>
                      <a:lnTo>
                        <a:pt x="163" y="59"/>
                      </a:lnTo>
                      <a:lnTo>
                        <a:pt x="162" y="50"/>
                      </a:lnTo>
                      <a:lnTo>
                        <a:pt x="166" y="52"/>
                      </a:lnTo>
                      <a:lnTo>
                        <a:pt x="173" y="58"/>
                      </a:lnTo>
                      <a:lnTo>
                        <a:pt x="181" y="66"/>
                      </a:lnTo>
                      <a:lnTo>
                        <a:pt x="186" y="72"/>
                      </a:lnTo>
                      <a:lnTo>
                        <a:pt x="187" y="77"/>
                      </a:lnTo>
                      <a:lnTo>
                        <a:pt x="193" y="70"/>
                      </a:lnTo>
                      <a:lnTo>
                        <a:pt x="202" y="58"/>
                      </a:lnTo>
                      <a:lnTo>
                        <a:pt x="203" y="53"/>
                      </a:lnTo>
                      <a:lnTo>
                        <a:pt x="208" y="47"/>
                      </a:lnTo>
                      <a:lnTo>
                        <a:pt x="208" y="38"/>
                      </a:lnTo>
                      <a:lnTo>
                        <a:pt x="203" y="26"/>
                      </a:lnTo>
                      <a:lnTo>
                        <a:pt x="198" y="18"/>
                      </a:lnTo>
                      <a:lnTo>
                        <a:pt x="175" y="11"/>
                      </a:lnTo>
                      <a:lnTo>
                        <a:pt x="152" y="6"/>
                      </a:lnTo>
                      <a:lnTo>
                        <a:pt x="125" y="0"/>
                      </a:lnTo>
                      <a:lnTo>
                        <a:pt x="101" y="0"/>
                      </a:lnTo>
                      <a:lnTo>
                        <a:pt x="73" y="0"/>
                      </a:lnTo>
                      <a:lnTo>
                        <a:pt x="53" y="6"/>
                      </a:lnTo>
                      <a:lnTo>
                        <a:pt x="39" y="15"/>
                      </a:lnTo>
                      <a:lnTo>
                        <a:pt x="28" y="28"/>
                      </a:lnTo>
                      <a:lnTo>
                        <a:pt x="22" y="41"/>
                      </a:lnTo>
                      <a:lnTo>
                        <a:pt x="16" y="49"/>
                      </a:lnTo>
                      <a:lnTo>
                        <a:pt x="11" y="63"/>
                      </a:lnTo>
                      <a:lnTo>
                        <a:pt x="7" y="77"/>
                      </a:lnTo>
                      <a:lnTo>
                        <a:pt x="4" y="90"/>
                      </a:lnTo>
                      <a:lnTo>
                        <a:pt x="1" y="109"/>
                      </a:lnTo>
                      <a:lnTo>
                        <a:pt x="0" y="134"/>
                      </a:lnTo>
                      <a:lnTo>
                        <a:pt x="1" y="160"/>
                      </a:lnTo>
                      <a:lnTo>
                        <a:pt x="3" y="182"/>
                      </a:lnTo>
                      <a:lnTo>
                        <a:pt x="5" y="193"/>
                      </a:lnTo>
                      <a:lnTo>
                        <a:pt x="8" y="208"/>
                      </a:lnTo>
                      <a:lnTo>
                        <a:pt x="9" y="225"/>
                      </a:lnTo>
                      <a:lnTo>
                        <a:pt x="11" y="244"/>
                      </a:lnTo>
                      <a:lnTo>
                        <a:pt x="19" y="254"/>
                      </a:lnTo>
                      <a:lnTo>
                        <a:pt x="32" y="254"/>
                      </a:lnTo>
                      <a:lnTo>
                        <a:pt x="49" y="254"/>
                      </a:lnTo>
                      <a:lnTo>
                        <a:pt x="61" y="254"/>
                      </a:lnTo>
                      <a:lnTo>
                        <a:pt x="79" y="250"/>
                      </a:lnTo>
                      <a:lnTo>
                        <a:pt x="91" y="244"/>
                      </a:lnTo>
                      <a:lnTo>
                        <a:pt x="100" y="236"/>
                      </a:lnTo>
                      <a:lnTo>
                        <a:pt x="104" y="228"/>
                      </a:lnTo>
                      <a:lnTo>
                        <a:pt x="107" y="225"/>
                      </a:lnTo>
                      <a:lnTo>
                        <a:pt x="101" y="213"/>
                      </a:lnTo>
                      <a:lnTo>
                        <a:pt x="98" y="195"/>
                      </a:lnTo>
                      <a:lnTo>
                        <a:pt x="96" y="180"/>
                      </a:lnTo>
                      <a:lnTo>
                        <a:pt x="96" y="163"/>
                      </a:lnTo>
                      <a:lnTo>
                        <a:pt x="107" y="156"/>
                      </a:lnTo>
                      <a:lnTo>
                        <a:pt x="116" y="160"/>
                      </a:lnTo>
                      <a:lnTo>
                        <a:pt x="122" y="171"/>
                      </a:lnTo>
                      <a:lnTo>
                        <a:pt x="127" y="182"/>
                      </a:lnTo>
                      <a:lnTo>
                        <a:pt x="105" y="159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00" name="Freeform 68"/>
                <p:cNvSpPr>
                  <a:spLocks/>
                </p:cNvSpPr>
                <p:nvPr/>
              </p:nvSpPr>
              <p:spPr bwMode="auto">
                <a:xfrm>
                  <a:off x="2710" y="3981"/>
                  <a:ext cx="167" cy="211"/>
                </a:xfrm>
                <a:custGeom>
                  <a:avLst/>
                  <a:gdLst/>
                  <a:ahLst/>
                  <a:cxnLst>
                    <a:cxn ang="0">
                      <a:pos x="4" y="172"/>
                    </a:cxn>
                    <a:cxn ang="0">
                      <a:pos x="25" y="210"/>
                    </a:cxn>
                    <a:cxn ang="0">
                      <a:pos x="36" y="205"/>
                    </a:cxn>
                    <a:cxn ang="0">
                      <a:pos x="50" y="192"/>
                    </a:cxn>
                    <a:cxn ang="0">
                      <a:pos x="63" y="192"/>
                    </a:cxn>
                    <a:cxn ang="0">
                      <a:pos x="83" y="179"/>
                    </a:cxn>
                    <a:cxn ang="0">
                      <a:pos x="99" y="167"/>
                    </a:cxn>
                    <a:cxn ang="0">
                      <a:pos x="122" y="152"/>
                    </a:cxn>
                    <a:cxn ang="0">
                      <a:pos x="143" y="141"/>
                    </a:cxn>
                    <a:cxn ang="0">
                      <a:pos x="154" y="125"/>
                    </a:cxn>
                    <a:cxn ang="0">
                      <a:pos x="142" y="124"/>
                    </a:cxn>
                    <a:cxn ang="0">
                      <a:pos x="115" y="133"/>
                    </a:cxn>
                    <a:cxn ang="0">
                      <a:pos x="109" y="131"/>
                    </a:cxn>
                    <a:cxn ang="0">
                      <a:pos x="138" y="119"/>
                    </a:cxn>
                    <a:cxn ang="0">
                      <a:pos x="155" y="111"/>
                    </a:cxn>
                    <a:cxn ang="0">
                      <a:pos x="161" y="104"/>
                    </a:cxn>
                    <a:cxn ang="0">
                      <a:pos x="162" y="92"/>
                    </a:cxn>
                    <a:cxn ang="0">
                      <a:pos x="147" y="92"/>
                    </a:cxn>
                    <a:cxn ang="0">
                      <a:pos x="133" y="99"/>
                    </a:cxn>
                    <a:cxn ang="0">
                      <a:pos x="106" y="109"/>
                    </a:cxn>
                    <a:cxn ang="0">
                      <a:pos x="132" y="93"/>
                    </a:cxn>
                    <a:cxn ang="0">
                      <a:pos x="161" y="86"/>
                    </a:cxn>
                    <a:cxn ang="0">
                      <a:pos x="166" y="79"/>
                    </a:cxn>
                    <a:cxn ang="0">
                      <a:pos x="164" y="70"/>
                    </a:cxn>
                    <a:cxn ang="0">
                      <a:pos x="149" y="68"/>
                    </a:cxn>
                    <a:cxn ang="0">
                      <a:pos x="138" y="73"/>
                    </a:cxn>
                    <a:cxn ang="0">
                      <a:pos x="112" y="85"/>
                    </a:cxn>
                    <a:cxn ang="0">
                      <a:pos x="99" y="88"/>
                    </a:cxn>
                    <a:cxn ang="0">
                      <a:pos x="113" y="77"/>
                    </a:cxn>
                    <a:cxn ang="0">
                      <a:pos x="125" y="70"/>
                    </a:cxn>
                    <a:cxn ang="0">
                      <a:pos x="138" y="62"/>
                    </a:cxn>
                    <a:cxn ang="0">
                      <a:pos x="148" y="53"/>
                    </a:cxn>
                    <a:cxn ang="0">
                      <a:pos x="150" y="47"/>
                    </a:cxn>
                    <a:cxn ang="0">
                      <a:pos x="150" y="38"/>
                    </a:cxn>
                    <a:cxn ang="0">
                      <a:pos x="138" y="35"/>
                    </a:cxn>
                    <a:cxn ang="0">
                      <a:pos x="118" y="43"/>
                    </a:cxn>
                    <a:cxn ang="0">
                      <a:pos x="108" y="52"/>
                    </a:cxn>
                    <a:cxn ang="0">
                      <a:pos x="100" y="55"/>
                    </a:cxn>
                    <a:cxn ang="0">
                      <a:pos x="85" y="61"/>
                    </a:cxn>
                    <a:cxn ang="0">
                      <a:pos x="74" y="65"/>
                    </a:cxn>
                    <a:cxn ang="0">
                      <a:pos x="58" y="72"/>
                    </a:cxn>
                    <a:cxn ang="0">
                      <a:pos x="50" y="65"/>
                    </a:cxn>
                    <a:cxn ang="0">
                      <a:pos x="53" y="44"/>
                    </a:cxn>
                    <a:cxn ang="0">
                      <a:pos x="53" y="28"/>
                    </a:cxn>
                    <a:cxn ang="0">
                      <a:pos x="52" y="11"/>
                    </a:cxn>
                    <a:cxn ang="0">
                      <a:pos x="46" y="0"/>
                    </a:cxn>
                    <a:cxn ang="0">
                      <a:pos x="39" y="0"/>
                    </a:cxn>
                    <a:cxn ang="0">
                      <a:pos x="36" y="5"/>
                    </a:cxn>
                    <a:cxn ang="0">
                      <a:pos x="35" y="35"/>
                    </a:cxn>
                    <a:cxn ang="0">
                      <a:pos x="23" y="64"/>
                    </a:cxn>
                    <a:cxn ang="0">
                      <a:pos x="18" y="76"/>
                    </a:cxn>
                    <a:cxn ang="0">
                      <a:pos x="14" y="106"/>
                    </a:cxn>
                    <a:cxn ang="0">
                      <a:pos x="11" y="128"/>
                    </a:cxn>
                    <a:cxn ang="0">
                      <a:pos x="3" y="145"/>
                    </a:cxn>
                  </a:cxnLst>
                  <a:rect l="0" t="0" r="r" b="b"/>
                  <a:pathLst>
                    <a:path w="167" h="211">
                      <a:moveTo>
                        <a:pt x="0" y="152"/>
                      </a:moveTo>
                      <a:lnTo>
                        <a:pt x="4" y="172"/>
                      </a:lnTo>
                      <a:lnTo>
                        <a:pt x="16" y="202"/>
                      </a:lnTo>
                      <a:lnTo>
                        <a:pt x="25" y="210"/>
                      </a:lnTo>
                      <a:lnTo>
                        <a:pt x="29" y="210"/>
                      </a:lnTo>
                      <a:lnTo>
                        <a:pt x="36" y="205"/>
                      </a:lnTo>
                      <a:lnTo>
                        <a:pt x="47" y="193"/>
                      </a:lnTo>
                      <a:lnTo>
                        <a:pt x="50" y="192"/>
                      </a:lnTo>
                      <a:lnTo>
                        <a:pt x="57" y="193"/>
                      </a:lnTo>
                      <a:lnTo>
                        <a:pt x="63" y="192"/>
                      </a:lnTo>
                      <a:lnTo>
                        <a:pt x="70" y="188"/>
                      </a:lnTo>
                      <a:lnTo>
                        <a:pt x="83" y="179"/>
                      </a:lnTo>
                      <a:lnTo>
                        <a:pt x="92" y="173"/>
                      </a:lnTo>
                      <a:lnTo>
                        <a:pt x="99" y="167"/>
                      </a:lnTo>
                      <a:lnTo>
                        <a:pt x="107" y="158"/>
                      </a:lnTo>
                      <a:lnTo>
                        <a:pt x="122" y="152"/>
                      </a:lnTo>
                      <a:lnTo>
                        <a:pt x="132" y="147"/>
                      </a:lnTo>
                      <a:lnTo>
                        <a:pt x="143" y="141"/>
                      </a:lnTo>
                      <a:lnTo>
                        <a:pt x="154" y="133"/>
                      </a:lnTo>
                      <a:lnTo>
                        <a:pt x="154" y="125"/>
                      </a:lnTo>
                      <a:lnTo>
                        <a:pt x="149" y="123"/>
                      </a:lnTo>
                      <a:lnTo>
                        <a:pt x="142" y="124"/>
                      </a:lnTo>
                      <a:lnTo>
                        <a:pt x="123" y="131"/>
                      </a:lnTo>
                      <a:lnTo>
                        <a:pt x="115" y="133"/>
                      </a:lnTo>
                      <a:lnTo>
                        <a:pt x="110" y="135"/>
                      </a:lnTo>
                      <a:lnTo>
                        <a:pt x="109" y="131"/>
                      </a:lnTo>
                      <a:lnTo>
                        <a:pt x="123" y="128"/>
                      </a:lnTo>
                      <a:lnTo>
                        <a:pt x="138" y="119"/>
                      </a:lnTo>
                      <a:lnTo>
                        <a:pt x="148" y="116"/>
                      </a:lnTo>
                      <a:lnTo>
                        <a:pt x="155" y="111"/>
                      </a:lnTo>
                      <a:lnTo>
                        <a:pt x="159" y="107"/>
                      </a:lnTo>
                      <a:lnTo>
                        <a:pt x="161" y="104"/>
                      </a:lnTo>
                      <a:lnTo>
                        <a:pt x="163" y="98"/>
                      </a:lnTo>
                      <a:lnTo>
                        <a:pt x="162" y="92"/>
                      </a:lnTo>
                      <a:lnTo>
                        <a:pt x="157" y="87"/>
                      </a:lnTo>
                      <a:lnTo>
                        <a:pt x="147" y="92"/>
                      </a:lnTo>
                      <a:lnTo>
                        <a:pt x="138" y="97"/>
                      </a:lnTo>
                      <a:lnTo>
                        <a:pt x="133" y="99"/>
                      </a:lnTo>
                      <a:lnTo>
                        <a:pt x="132" y="100"/>
                      </a:lnTo>
                      <a:lnTo>
                        <a:pt x="106" y="109"/>
                      </a:lnTo>
                      <a:lnTo>
                        <a:pt x="106" y="106"/>
                      </a:lnTo>
                      <a:lnTo>
                        <a:pt x="132" y="93"/>
                      </a:lnTo>
                      <a:lnTo>
                        <a:pt x="148" y="89"/>
                      </a:lnTo>
                      <a:lnTo>
                        <a:pt x="161" y="86"/>
                      </a:lnTo>
                      <a:lnTo>
                        <a:pt x="163" y="82"/>
                      </a:lnTo>
                      <a:lnTo>
                        <a:pt x="166" y="79"/>
                      </a:lnTo>
                      <a:lnTo>
                        <a:pt x="166" y="73"/>
                      </a:lnTo>
                      <a:lnTo>
                        <a:pt x="164" y="70"/>
                      </a:lnTo>
                      <a:lnTo>
                        <a:pt x="161" y="66"/>
                      </a:lnTo>
                      <a:lnTo>
                        <a:pt x="149" y="68"/>
                      </a:lnTo>
                      <a:lnTo>
                        <a:pt x="143" y="72"/>
                      </a:lnTo>
                      <a:lnTo>
                        <a:pt x="138" y="73"/>
                      </a:lnTo>
                      <a:lnTo>
                        <a:pt x="123" y="79"/>
                      </a:lnTo>
                      <a:lnTo>
                        <a:pt x="112" y="85"/>
                      </a:lnTo>
                      <a:lnTo>
                        <a:pt x="106" y="87"/>
                      </a:lnTo>
                      <a:lnTo>
                        <a:pt x="99" y="88"/>
                      </a:lnTo>
                      <a:lnTo>
                        <a:pt x="97" y="85"/>
                      </a:lnTo>
                      <a:lnTo>
                        <a:pt x="113" y="77"/>
                      </a:lnTo>
                      <a:lnTo>
                        <a:pt x="122" y="72"/>
                      </a:lnTo>
                      <a:lnTo>
                        <a:pt x="125" y="70"/>
                      </a:lnTo>
                      <a:lnTo>
                        <a:pt x="132" y="65"/>
                      </a:lnTo>
                      <a:lnTo>
                        <a:pt x="138" y="62"/>
                      </a:lnTo>
                      <a:lnTo>
                        <a:pt x="143" y="58"/>
                      </a:lnTo>
                      <a:lnTo>
                        <a:pt x="148" y="53"/>
                      </a:lnTo>
                      <a:lnTo>
                        <a:pt x="150" y="51"/>
                      </a:lnTo>
                      <a:lnTo>
                        <a:pt x="150" y="47"/>
                      </a:lnTo>
                      <a:lnTo>
                        <a:pt x="152" y="43"/>
                      </a:lnTo>
                      <a:lnTo>
                        <a:pt x="150" y="38"/>
                      </a:lnTo>
                      <a:lnTo>
                        <a:pt x="148" y="35"/>
                      </a:lnTo>
                      <a:lnTo>
                        <a:pt x="138" y="35"/>
                      </a:lnTo>
                      <a:lnTo>
                        <a:pt x="128" y="39"/>
                      </a:lnTo>
                      <a:lnTo>
                        <a:pt x="118" y="43"/>
                      </a:lnTo>
                      <a:lnTo>
                        <a:pt x="110" y="47"/>
                      </a:lnTo>
                      <a:lnTo>
                        <a:pt x="108" y="52"/>
                      </a:lnTo>
                      <a:lnTo>
                        <a:pt x="106" y="53"/>
                      </a:lnTo>
                      <a:lnTo>
                        <a:pt x="100" y="55"/>
                      </a:lnTo>
                      <a:lnTo>
                        <a:pt x="92" y="58"/>
                      </a:lnTo>
                      <a:lnTo>
                        <a:pt x="85" y="61"/>
                      </a:lnTo>
                      <a:lnTo>
                        <a:pt x="79" y="64"/>
                      </a:lnTo>
                      <a:lnTo>
                        <a:pt x="74" y="65"/>
                      </a:lnTo>
                      <a:lnTo>
                        <a:pt x="66" y="68"/>
                      </a:lnTo>
                      <a:lnTo>
                        <a:pt x="58" y="72"/>
                      </a:lnTo>
                      <a:lnTo>
                        <a:pt x="53" y="73"/>
                      </a:lnTo>
                      <a:lnTo>
                        <a:pt x="50" y="65"/>
                      </a:lnTo>
                      <a:lnTo>
                        <a:pt x="50" y="53"/>
                      </a:lnTo>
                      <a:lnTo>
                        <a:pt x="53" y="44"/>
                      </a:lnTo>
                      <a:lnTo>
                        <a:pt x="52" y="38"/>
                      </a:lnTo>
                      <a:lnTo>
                        <a:pt x="53" y="28"/>
                      </a:lnTo>
                      <a:lnTo>
                        <a:pt x="53" y="21"/>
                      </a:lnTo>
                      <a:lnTo>
                        <a:pt x="52" y="11"/>
                      </a:lnTo>
                      <a:lnTo>
                        <a:pt x="50" y="5"/>
                      </a:lnTo>
                      <a:lnTo>
                        <a:pt x="46" y="0"/>
                      </a:lnTo>
                      <a:lnTo>
                        <a:pt x="41" y="0"/>
                      </a:lnTo>
                      <a:lnTo>
                        <a:pt x="39" y="0"/>
                      </a:lnTo>
                      <a:lnTo>
                        <a:pt x="36" y="3"/>
                      </a:lnTo>
                      <a:lnTo>
                        <a:pt x="36" y="5"/>
                      </a:lnTo>
                      <a:lnTo>
                        <a:pt x="37" y="17"/>
                      </a:lnTo>
                      <a:lnTo>
                        <a:pt x="35" y="35"/>
                      </a:lnTo>
                      <a:lnTo>
                        <a:pt x="30" y="51"/>
                      </a:lnTo>
                      <a:lnTo>
                        <a:pt x="23" y="64"/>
                      </a:lnTo>
                      <a:lnTo>
                        <a:pt x="21" y="69"/>
                      </a:lnTo>
                      <a:lnTo>
                        <a:pt x="18" y="76"/>
                      </a:lnTo>
                      <a:lnTo>
                        <a:pt x="17" y="86"/>
                      </a:lnTo>
                      <a:lnTo>
                        <a:pt x="14" y="106"/>
                      </a:lnTo>
                      <a:lnTo>
                        <a:pt x="14" y="119"/>
                      </a:lnTo>
                      <a:lnTo>
                        <a:pt x="11" y="128"/>
                      </a:lnTo>
                      <a:lnTo>
                        <a:pt x="6" y="139"/>
                      </a:lnTo>
                      <a:lnTo>
                        <a:pt x="3" y="145"/>
                      </a:lnTo>
                      <a:lnTo>
                        <a:pt x="0" y="152"/>
                      </a:lnTo>
                    </a:path>
                  </a:pathLst>
                </a:custGeom>
                <a:solidFill>
                  <a:srgbClr val="8D8D8D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01" name="Freeform 69"/>
                <p:cNvSpPr>
                  <a:spLocks/>
                </p:cNvSpPr>
                <p:nvPr/>
              </p:nvSpPr>
              <p:spPr bwMode="auto">
                <a:xfrm>
                  <a:off x="2495" y="3555"/>
                  <a:ext cx="180" cy="51"/>
                </a:xfrm>
                <a:custGeom>
                  <a:avLst/>
                  <a:gdLst/>
                  <a:ahLst/>
                  <a:cxnLst>
                    <a:cxn ang="0">
                      <a:pos x="163" y="34"/>
                    </a:cxn>
                    <a:cxn ang="0">
                      <a:pos x="156" y="44"/>
                    </a:cxn>
                    <a:cxn ang="0">
                      <a:pos x="168" y="38"/>
                    </a:cxn>
                    <a:cxn ang="0">
                      <a:pos x="168" y="47"/>
                    </a:cxn>
                    <a:cxn ang="0">
                      <a:pos x="174" y="50"/>
                    </a:cxn>
                    <a:cxn ang="0">
                      <a:pos x="178" y="37"/>
                    </a:cxn>
                    <a:cxn ang="0">
                      <a:pos x="166" y="18"/>
                    </a:cxn>
                    <a:cxn ang="0">
                      <a:pos x="120" y="6"/>
                    </a:cxn>
                    <a:cxn ang="0">
                      <a:pos x="92" y="1"/>
                    </a:cxn>
                    <a:cxn ang="0">
                      <a:pos x="46" y="0"/>
                    </a:cxn>
                    <a:cxn ang="0">
                      <a:pos x="18" y="16"/>
                    </a:cxn>
                    <a:cxn ang="0">
                      <a:pos x="15" y="22"/>
                    </a:cxn>
                    <a:cxn ang="0">
                      <a:pos x="5" y="33"/>
                    </a:cxn>
                    <a:cxn ang="0">
                      <a:pos x="5" y="47"/>
                    </a:cxn>
                    <a:cxn ang="0">
                      <a:pos x="16" y="34"/>
                    </a:cxn>
                    <a:cxn ang="0">
                      <a:pos x="18" y="28"/>
                    </a:cxn>
                    <a:cxn ang="0">
                      <a:pos x="29" y="15"/>
                    </a:cxn>
                    <a:cxn ang="0">
                      <a:pos x="35" y="16"/>
                    </a:cxn>
                    <a:cxn ang="0">
                      <a:pos x="54" y="5"/>
                    </a:cxn>
                    <a:cxn ang="0">
                      <a:pos x="55" y="10"/>
                    </a:cxn>
                    <a:cxn ang="0">
                      <a:pos x="61" y="3"/>
                    </a:cxn>
                    <a:cxn ang="0">
                      <a:pos x="62" y="10"/>
                    </a:cxn>
                    <a:cxn ang="0">
                      <a:pos x="76" y="5"/>
                    </a:cxn>
                    <a:cxn ang="0">
                      <a:pos x="80" y="6"/>
                    </a:cxn>
                    <a:cxn ang="0">
                      <a:pos x="85" y="7"/>
                    </a:cxn>
                    <a:cxn ang="0">
                      <a:pos x="89" y="6"/>
                    </a:cxn>
                    <a:cxn ang="0">
                      <a:pos x="90" y="13"/>
                    </a:cxn>
                    <a:cxn ang="0">
                      <a:pos x="96" y="10"/>
                    </a:cxn>
                    <a:cxn ang="0">
                      <a:pos x="101" y="10"/>
                    </a:cxn>
                    <a:cxn ang="0">
                      <a:pos x="103" y="14"/>
                    </a:cxn>
                    <a:cxn ang="0">
                      <a:pos x="121" y="12"/>
                    </a:cxn>
                    <a:cxn ang="0">
                      <a:pos x="123" y="20"/>
                    </a:cxn>
                    <a:cxn ang="0">
                      <a:pos x="130" y="18"/>
                    </a:cxn>
                    <a:cxn ang="0">
                      <a:pos x="136" y="20"/>
                    </a:cxn>
                    <a:cxn ang="0">
                      <a:pos x="142" y="20"/>
                    </a:cxn>
                    <a:cxn ang="0">
                      <a:pos x="140" y="29"/>
                    </a:cxn>
                    <a:cxn ang="0">
                      <a:pos x="163" y="28"/>
                    </a:cxn>
                  </a:cxnLst>
                  <a:rect l="0" t="0" r="r" b="b"/>
                  <a:pathLst>
                    <a:path w="180" h="51">
                      <a:moveTo>
                        <a:pt x="163" y="28"/>
                      </a:moveTo>
                      <a:lnTo>
                        <a:pt x="163" y="34"/>
                      </a:lnTo>
                      <a:lnTo>
                        <a:pt x="160" y="39"/>
                      </a:lnTo>
                      <a:lnTo>
                        <a:pt x="156" y="44"/>
                      </a:lnTo>
                      <a:lnTo>
                        <a:pt x="168" y="32"/>
                      </a:lnTo>
                      <a:lnTo>
                        <a:pt x="168" y="38"/>
                      </a:lnTo>
                      <a:lnTo>
                        <a:pt x="168" y="44"/>
                      </a:lnTo>
                      <a:lnTo>
                        <a:pt x="168" y="47"/>
                      </a:lnTo>
                      <a:lnTo>
                        <a:pt x="174" y="42"/>
                      </a:lnTo>
                      <a:lnTo>
                        <a:pt x="174" y="50"/>
                      </a:lnTo>
                      <a:lnTo>
                        <a:pt x="179" y="45"/>
                      </a:lnTo>
                      <a:lnTo>
                        <a:pt x="178" y="37"/>
                      </a:lnTo>
                      <a:lnTo>
                        <a:pt x="174" y="22"/>
                      </a:lnTo>
                      <a:lnTo>
                        <a:pt x="166" y="18"/>
                      </a:lnTo>
                      <a:lnTo>
                        <a:pt x="139" y="11"/>
                      </a:lnTo>
                      <a:lnTo>
                        <a:pt x="120" y="6"/>
                      </a:lnTo>
                      <a:lnTo>
                        <a:pt x="104" y="3"/>
                      </a:lnTo>
                      <a:lnTo>
                        <a:pt x="92" y="1"/>
                      </a:lnTo>
                      <a:lnTo>
                        <a:pt x="65" y="0"/>
                      </a:lnTo>
                      <a:lnTo>
                        <a:pt x="46" y="0"/>
                      </a:lnTo>
                      <a:lnTo>
                        <a:pt x="29" y="7"/>
                      </a:lnTo>
                      <a:lnTo>
                        <a:pt x="18" y="16"/>
                      </a:lnTo>
                      <a:lnTo>
                        <a:pt x="16" y="20"/>
                      </a:lnTo>
                      <a:lnTo>
                        <a:pt x="15" y="22"/>
                      </a:lnTo>
                      <a:lnTo>
                        <a:pt x="10" y="25"/>
                      </a:lnTo>
                      <a:lnTo>
                        <a:pt x="5" y="33"/>
                      </a:lnTo>
                      <a:lnTo>
                        <a:pt x="0" y="42"/>
                      </a:lnTo>
                      <a:lnTo>
                        <a:pt x="5" y="47"/>
                      </a:lnTo>
                      <a:lnTo>
                        <a:pt x="16" y="37"/>
                      </a:lnTo>
                      <a:lnTo>
                        <a:pt x="16" y="34"/>
                      </a:lnTo>
                      <a:lnTo>
                        <a:pt x="11" y="34"/>
                      </a:lnTo>
                      <a:lnTo>
                        <a:pt x="18" y="28"/>
                      </a:lnTo>
                      <a:lnTo>
                        <a:pt x="24" y="22"/>
                      </a:lnTo>
                      <a:lnTo>
                        <a:pt x="29" y="15"/>
                      </a:lnTo>
                      <a:lnTo>
                        <a:pt x="33" y="13"/>
                      </a:lnTo>
                      <a:lnTo>
                        <a:pt x="35" y="16"/>
                      </a:lnTo>
                      <a:lnTo>
                        <a:pt x="49" y="8"/>
                      </a:lnTo>
                      <a:lnTo>
                        <a:pt x="54" y="5"/>
                      </a:lnTo>
                      <a:lnTo>
                        <a:pt x="56" y="5"/>
                      </a:lnTo>
                      <a:lnTo>
                        <a:pt x="55" y="10"/>
                      </a:lnTo>
                      <a:lnTo>
                        <a:pt x="58" y="6"/>
                      </a:lnTo>
                      <a:lnTo>
                        <a:pt x="61" y="3"/>
                      </a:lnTo>
                      <a:lnTo>
                        <a:pt x="65" y="4"/>
                      </a:lnTo>
                      <a:lnTo>
                        <a:pt x="62" y="10"/>
                      </a:lnTo>
                      <a:lnTo>
                        <a:pt x="72" y="1"/>
                      </a:lnTo>
                      <a:lnTo>
                        <a:pt x="76" y="5"/>
                      </a:lnTo>
                      <a:lnTo>
                        <a:pt x="74" y="7"/>
                      </a:lnTo>
                      <a:lnTo>
                        <a:pt x="80" y="6"/>
                      </a:lnTo>
                      <a:lnTo>
                        <a:pt x="78" y="11"/>
                      </a:lnTo>
                      <a:lnTo>
                        <a:pt x="85" y="7"/>
                      </a:lnTo>
                      <a:lnTo>
                        <a:pt x="88" y="5"/>
                      </a:lnTo>
                      <a:lnTo>
                        <a:pt x="89" y="6"/>
                      </a:lnTo>
                      <a:lnTo>
                        <a:pt x="87" y="11"/>
                      </a:lnTo>
                      <a:lnTo>
                        <a:pt x="90" y="13"/>
                      </a:lnTo>
                      <a:lnTo>
                        <a:pt x="93" y="8"/>
                      </a:lnTo>
                      <a:lnTo>
                        <a:pt x="96" y="10"/>
                      </a:lnTo>
                      <a:lnTo>
                        <a:pt x="97" y="11"/>
                      </a:lnTo>
                      <a:lnTo>
                        <a:pt x="101" y="10"/>
                      </a:lnTo>
                      <a:lnTo>
                        <a:pt x="103" y="11"/>
                      </a:lnTo>
                      <a:lnTo>
                        <a:pt x="103" y="14"/>
                      </a:lnTo>
                      <a:lnTo>
                        <a:pt x="106" y="16"/>
                      </a:lnTo>
                      <a:lnTo>
                        <a:pt x="121" y="12"/>
                      </a:lnTo>
                      <a:lnTo>
                        <a:pt x="123" y="12"/>
                      </a:lnTo>
                      <a:lnTo>
                        <a:pt x="123" y="20"/>
                      </a:lnTo>
                      <a:lnTo>
                        <a:pt x="127" y="16"/>
                      </a:lnTo>
                      <a:lnTo>
                        <a:pt x="130" y="18"/>
                      </a:lnTo>
                      <a:lnTo>
                        <a:pt x="136" y="18"/>
                      </a:lnTo>
                      <a:lnTo>
                        <a:pt x="136" y="20"/>
                      </a:lnTo>
                      <a:lnTo>
                        <a:pt x="133" y="25"/>
                      </a:lnTo>
                      <a:lnTo>
                        <a:pt x="142" y="20"/>
                      </a:lnTo>
                      <a:lnTo>
                        <a:pt x="146" y="22"/>
                      </a:lnTo>
                      <a:lnTo>
                        <a:pt x="140" y="29"/>
                      </a:lnTo>
                      <a:lnTo>
                        <a:pt x="144" y="31"/>
                      </a:lnTo>
                      <a:lnTo>
                        <a:pt x="163" y="28"/>
                      </a:lnTo>
                    </a:path>
                  </a:pathLst>
                </a:custGeom>
                <a:solidFill>
                  <a:srgbClr val="11111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02" name="Freeform 70"/>
                <p:cNvSpPr>
                  <a:spLocks/>
                </p:cNvSpPr>
                <p:nvPr/>
              </p:nvSpPr>
              <p:spPr bwMode="auto">
                <a:xfrm>
                  <a:off x="2504" y="3588"/>
                  <a:ext cx="132" cy="138"/>
                </a:xfrm>
                <a:custGeom>
                  <a:avLst/>
                  <a:gdLst/>
                  <a:ahLst/>
                  <a:cxnLst>
                    <a:cxn ang="0">
                      <a:pos x="0" y="29"/>
                    </a:cxn>
                    <a:cxn ang="0">
                      <a:pos x="6" y="34"/>
                    </a:cxn>
                    <a:cxn ang="0">
                      <a:pos x="11" y="32"/>
                    </a:cxn>
                    <a:cxn ang="0">
                      <a:pos x="22" y="31"/>
                    </a:cxn>
                    <a:cxn ang="0">
                      <a:pos x="37" y="27"/>
                    </a:cxn>
                    <a:cxn ang="0">
                      <a:pos x="48" y="28"/>
                    </a:cxn>
                    <a:cxn ang="0">
                      <a:pos x="52" y="35"/>
                    </a:cxn>
                    <a:cxn ang="0">
                      <a:pos x="68" y="33"/>
                    </a:cxn>
                    <a:cxn ang="0">
                      <a:pos x="77" y="40"/>
                    </a:cxn>
                    <a:cxn ang="0">
                      <a:pos x="79" y="48"/>
                    </a:cxn>
                    <a:cxn ang="0">
                      <a:pos x="86" y="56"/>
                    </a:cxn>
                    <a:cxn ang="0">
                      <a:pos x="91" y="57"/>
                    </a:cxn>
                    <a:cxn ang="0">
                      <a:pos x="95" y="74"/>
                    </a:cxn>
                    <a:cxn ang="0">
                      <a:pos x="97" y="83"/>
                    </a:cxn>
                    <a:cxn ang="0">
                      <a:pos x="96" y="96"/>
                    </a:cxn>
                    <a:cxn ang="0">
                      <a:pos x="100" y="106"/>
                    </a:cxn>
                    <a:cxn ang="0">
                      <a:pos x="106" y="120"/>
                    </a:cxn>
                    <a:cxn ang="0">
                      <a:pos x="109" y="137"/>
                    </a:cxn>
                    <a:cxn ang="0">
                      <a:pos x="115" y="102"/>
                    </a:cxn>
                    <a:cxn ang="0">
                      <a:pos x="129" y="85"/>
                    </a:cxn>
                    <a:cxn ang="0">
                      <a:pos x="127" y="85"/>
                    </a:cxn>
                    <a:cxn ang="0">
                      <a:pos x="105" y="103"/>
                    </a:cxn>
                    <a:cxn ang="0">
                      <a:pos x="117" y="80"/>
                    </a:cxn>
                    <a:cxn ang="0">
                      <a:pos x="127" y="66"/>
                    </a:cxn>
                    <a:cxn ang="0">
                      <a:pos x="121" y="63"/>
                    </a:cxn>
                    <a:cxn ang="0">
                      <a:pos x="123" y="57"/>
                    </a:cxn>
                    <a:cxn ang="0">
                      <a:pos x="109" y="66"/>
                    </a:cxn>
                    <a:cxn ang="0">
                      <a:pos x="120" y="46"/>
                    </a:cxn>
                    <a:cxn ang="0">
                      <a:pos x="118" y="25"/>
                    </a:cxn>
                    <a:cxn ang="0">
                      <a:pos x="103" y="31"/>
                    </a:cxn>
                    <a:cxn ang="0">
                      <a:pos x="113" y="15"/>
                    </a:cxn>
                    <a:cxn ang="0">
                      <a:pos x="99" y="27"/>
                    </a:cxn>
                    <a:cxn ang="0">
                      <a:pos x="96" y="16"/>
                    </a:cxn>
                    <a:cxn ang="0">
                      <a:pos x="95" y="11"/>
                    </a:cxn>
                    <a:cxn ang="0">
                      <a:pos x="83" y="23"/>
                    </a:cxn>
                    <a:cxn ang="0">
                      <a:pos x="86" y="8"/>
                    </a:cxn>
                    <a:cxn ang="0">
                      <a:pos x="79" y="13"/>
                    </a:cxn>
                    <a:cxn ang="0">
                      <a:pos x="78" y="2"/>
                    </a:cxn>
                    <a:cxn ang="0">
                      <a:pos x="69" y="5"/>
                    </a:cxn>
                    <a:cxn ang="0">
                      <a:pos x="63" y="10"/>
                    </a:cxn>
                    <a:cxn ang="0">
                      <a:pos x="59" y="3"/>
                    </a:cxn>
                    <a:cxn ang="0">
                      <a:pos x="48" y="14"/>
                    </a:cxn>
                    <a:cxn ang="0">
                      <a:pos x="48" y="5"/>
                    </a:cxn>
                    <a:cxn ang="0">
                      <a:pos x="35" y="17"/>
                    </a:cxn>
                    <a:cxn ang="0">
                      <a:pos x="37" y="5"/>
                    </a:cxn>
                    <a:cxn ang="0">
                      <a:pos x="33" y="8"/>
                    </a:cxn>
                    <a:cxn ang="0">
                      <a:pos x="28" y="7"/>
                    </a:cxn>
                    <a:cxn ang="0">
                      <a:pos x="22" y="7"/>
                    </a:cxn>
                    <a:cxn ang="0">
                      <a:pos x="12" y="19"/>
                    </a:cxn>
                    <a:cxn ang="0">
                      <a:pos x="17" y="9"/>
                    </a:cxn>
                    <a:cxn ang="0">
                      <a:pos x="7" y="22"/>
                    </a:cxn>
                  </a:cxnLst>
                  <a:rect l="0" t="0" r="r" b="b"/>
                  <a:pathLst>
                    <a:path w="132" h="138">
                      <a:moveTo>
                        <a:pt x="5" y="23"/>
                      </a:moveTo>
                      <a:lnTo>
                        <a:pt x="3" y="23"/>
                      </a:lnTo>
                      <a:lnTo>
                        <a:pt x="0" y="29"/>
                      </a:lnTo>
                      <a:lnTo>
                        <a:pt x="0" y="33"/>
                      </a:lnTo>
                      <a:lnTo>
                        <a:pt x="0" y="35"/>
                      </a:lnTo>
                      <a:lnTo>
                        <a:pt x="6" y="34"/>
                      </a:lnTo>
                      <a:lnTo>
                        <a:pt x="7" y="31"/>
                      </a:lnTo>
                      <a:lnTo>
                        <a:pt x="9" y="31"/>
                      </a:lnTo>
                      <a:lnTo>
                        <a:pt x="11" y="32"/>
                      </a:lnTo>
                      <a:lnTo>
                        <a:pt x="14" y="32"/>
                      </a:lnTo>
                      <a:lnTo>
                        <a:pt x="19" y="29"/>
                      </a:lnTo>
                      <a:lnTo>
                        <a:pt x="22" y="31"/>
                      </a:lnTo>
                      <a:lnTo>
                        <a:pt x="26" y="31"/>
                      </a:lnTo>
                      <a:lnTo>
                        <a:pt x="31" y="27"/>
                      </a:lnTo>
                      <a:lnTo>
                        <a:pt x="37" y="27"/>
                      </a:lnTo>
                      <a:lnTo>
                        <a:pt x="40" y="29"/>
                      </a:lnTo>
                      <a:lnTo>
                        <a:pt x="44" y="31"/>
                      </a:lnTo>
                      <a:lnTo>
                        <a:pt x="48" y="28"/>
                      </a:lnTo>
                      <a:lnTo>
                        <a:pt x="51" y="31"/>
                      </a:lnTo>
                      <a:lnTo>
                        <a:pt x="49" y="34"/>
                      </a:lnTo>
                      <a:lnTo>
                        <a:pt x="52" y="35"/>
                      </a:lnTo>
                      <a:lnTo>
                        <a:pt x="62" y="25"/>
                      </a:lnTo>
                      <a:lnTo>
                        <a:pt x="68" y="31"/>
                      </a:lnTo>
                      <a:lnTo>
                        <a:pt x="68" y="33"/>
                      </a:lnTo>
                      <a:lnTo>
                        <a:pt x="74" y="35"/>
                      </a:lnTo>
                      <a:lnTo>
                        <a:pt x="78" y="38"/>
                      </a:lnTo>
                      <a:lnTo>
                        <a:pt x="77" y="40"/>
                      </a:lnTo>
                      <a:lnTo>
                        <a:pt x="77" y="46"/>
                      </a:lnTo>
                      <a:lnTo>
                        <a:pt x="80" y="46"/>
                      </a:lnTo>
                      <a:lnTo>
                        <a:pt x="79" y="48"/>
                      </a:lnTo>
                      <a:lnTo>
                        <a:pt x="79" y="51"/>
                      </a:lnTo>
                      <a:lnTo>
                        <a:pt x="82" y="53"/>
                      </a:lnTo>
                      <a:lnTo>
                        <a:pt x="86" y="56"/>
                      </a:lnTo>
                      <a:lnTo>
                        <a:pt x="86" y="60"/>
                      </a:lnTo>
                      <a:lnTo>
                        <a:pt x="88" y="62"/>
                      </a:lnTo>
                      <a:lnTo>
                        <a:pt x="91" y="57"/>
                      </a:lnTo>
                      <a:lnTo>
                        <a:pt x="95" y="63"/>
                      </a:lnTo>
                      <a:lnTo>
                        <a:pt x="94" y="66"/>
                      </a:lnTo>
                      <a:lnTo>
                        <a:pt x="95" y="74"/>
                      </a:lnTo>
                      <a:lnTo>
                        <a:pt x="95" y="82"/>
                      </a:lnTo>
                      <a:lnTo>
                        <a:pt x="95" y="86"/>
                      </a:lnTo>
                      <a:lnTo>
                        <a:pt x="97" y="83"/>
                      </a:lnTo>
                      <a:lnTo>
                        <a:pt x="99" y="86"/>
                      </a:lnTo>
                      <a:lnTo>
                        <a:pt x="97" y="90"/>
                      </a:lnTo>
                      <a:lnTo>
                        <a:pt x="96" y="96"/>
                      </a:lnTo>
                      <a:lnTo>
                        <a:pt x="100" y="96"/>
                      </a:lnTo>
                      <a:lnTo>
                        <a:pt x="100" y="100"/>
                      </a:lnTo>
                      <a:lnTo>
                        <a:pt x="100" y="106"/>
                      </a:lnTo>
                      <a:lnTo>
                        <a:pt x="101" y="110"/>
                      </a:lnTo>
                      <a:lnTo>
                        <a:pt x="103" y="115"/>
                      </a:lnTo>
                      <a:lnTo>
                        <a:pt x="106" y="120"/>
                      </a:lnTo>
                      <a:lnTo>
                        <a:pt x="106" y="131"/>
                      </a:lnTo>
                      <a:lnTo>
                        <a:pt x="107" y="136"/>
                      </a:lnTo>
                      <a:lnTo>
                        <a:pt x="109" y="137"/>
                      </a:lnTo>
                      <a:lnTo>
                        <a:pt x="115" y="109"/>
                      </a:lnTo>
                      <a:lnTo>
                        <a:pt x="110" y="115"/>
                      </a:lnTo>
                      <a:lnTo>
                        <a:pt x="115" y="102"/>
                      </a:lnTo>
                      <a:lnTo>
                        <a:pt x="118" y="96"/>
                      </a:lnTo>
                      <a:lnTo>
                        <a:pt x="123" y="90"/>
                      </a:lnTo>
                      <a:lnTo>
                        <a:pt x="129" y="85"/>
                      </a:lnTo>
                      <a:lnTo>
                        <a:pt x="131" y="80"/>
                      </a:lnTo>
                      <a:lnTo>
                        <a:pt x="131" y="74"/>
                      </a:lnTo>
                      <a:lnTo>
                        <a:pt x="127" y="85"/>
                      </a:lnTo>
                      <a:lnTo>
                        <a:pt x="118" y="93"/>
                      </a:lnTo>
                      <a:lnTo>
                        <a:pt x="109" y="103"/>
                      </a:lnTo>
                      <a:lnTo>
                        <a:pt x="105" y="103"/>
                      </a:lnTo>
                      <a:lnTo>
                        <a:pt x="105" y="97"/>
                      </a:lnTo>
                      <a:lnTo>
                        <a:pt x="110" y="88"/>
                      </a:lnTo>
                      <a:lnTo>
                        <a:pt x="117" y="80"/>
                      </a:lnTo>
                      <a:lnTo>
                        <a:pt x="123" y="74"/>
                      </a:lnTo>
                      <a:lnTo>
                        <a:pt x="127" y="67"/>
                      </a:lnTo>
                      <a:lnTo>
                        <a:pt x="127" y="66"/>
                      </a:lnTo>
                      <a:lnTo>
                        <a:pt x="115" y="76"/>
                      </a:lnTo>
                      <a:lnTo>
                        <a:pt x="118" y="69"/>
                      </a:lnTo>
                      <a:lnTo>
                        <a:pt x="121" y="63"/>
                      </a:lnTo>
                      <a:lnTo>
                        <a:pt x="125" y="59"/>
                      </a:lnTo>
                      <a:lnTo>
                        <a:pt x="126" y="55"/>
                      </a:lnTo>
                      <a:lnTo>
                        <a:pt x="123" y="57"/>
                      </a:lnTo>
                      <a:lnTo>
                        <a:pt x="116" y="66"/>
                      </a:lnTo>
                      <a:lnTo>
                        <a:pt x="111" y="73"/>
                      </a:lnTo>
                      <a:lnTo>
                        <a:pt x="109" y="66"/>
                      </a:lnTo>
                      <a:lnTo>
                        <a:pt x="115" y="59"/>
                      </a:lnTo>
                      <a:lnTo>
                        <a:pt x="120" y="52"/>
                      </a:lnTo>
                      <a:lnTo>
                        <a:pt x="120" y="46"/>
                      </a:lnTo>
                      <a:lnTo>
                        <a:pt x="120" y="37"/>
                      </a:lnTo>
                      <a:lnTo>
                        <a:pt x="118" y="29"/>
                      </a:lnTo>
                      <a:lnTo>
                        <a:pt x="118" y="25"/>
                      </a:lnTo>
                      <a:lnTo>
                        <a:pt x="112" y="35"/>
                      </a:lnTo>
                      <a:lnTo>
                        <a:pt x="106" y="37"/>
                      </a:lnTo>
                      <a:lnTo>
                        <a:pt x="103" y="31"/>
                      </a:lnTo>
                      <a:lnTo>
                        <a:pt x="106" y="23"/>
                      </a:lnTo>
                      <a:lnTo>
                        <a:pt x="110" y="18"/>
                      </a:lnTo>
                      <a:lnTo>
                        <a:pt x="113" y="15"/>
                      </a:lnTo>
                      <a:lnTo>
                        <a:pt x="110" y="15"/>
                      </a:lnTo>
                      <a:lnTo>
                        <a:pt x="104" y="19"/>
                      </a:lnTo>
                      <a:lnTo>
                        <a:pt x="99" y="27"/>
                      </a:lnTo>
                      <a:lnTo>
                        <a:pt x="94" y="29"/>
                      </a:lnTo>
                      <a:lnTo>
                        <a:pt x="95" y="23"/>
                      </a:lnTo>
                      <a:lnTo>
                        <a:pt x="96" y="16"/>
                      </a:lnTo>
                      <a:lnTo>
                        <a:pt x="97" y="11"/>
                      </a:lnTo>
                      <a:lnTo>
                        <a:pt x="99" y="10"/>
                      </a:lnTo>
                      <a:lnTo>
                        <a:pt x="95" y="11"/>
                      </a:lnTo>
                      <a:lnTo>
                        <a:pt x="92" y="18"/>
                      </a:lnTo>
                      <a:lnTo>
                        <a:pt x="87" y="23"/>
                      </a:lnTo>
                      <a:lnTo>
                        <a:pt x="83" y="23"/>
                      </a:lnTo>
                      <a:lnTo>
                        <a:pt x="82" y="18"/>
                      </a:lnTo>
                      <a:lnTo>
                        <a:pt x="84" y="12"/>
                      </a:lnTo>
                      <a:lnTo>
                        <a:pt x="86" y="8"/>
                      </a:lnTo>
                      <a:lnTo>
                        <a:pt x="86" y="5"/>
                      </a:lnTo>
                      <a:lnTo>
                        <a:pt x="83" y="10"/>
                      </a:lnTo>
                      <a:lnTo>
                        <a:pt x="79" y="13"/>
                      </a:lnTo>
                      <a:lnTo>
                        <a:pt x="77" y="12"/>
                      </a:lnTo>
                      <a:lnTo>
                        <a:pt x="77" y="7"/>
                      </a:lnTo>
                      <a:lnTo>
                        <a:pt x="78" y="2"/>
                      </a:lnTo>
                      <a:lnTo>
                        <a:pt x="74" y="10"/>
                      </a:lnTo>
                      <a:lnTo>
                        <a:pt x="70" y="8"/>
                      </a:lnTo>
                      <a:lnTo>
                        <a:pt x="69" y="5"/>
                      </a:lnTo>
                      <a:lnTo>
                        <a:pt x="71" y="0"/>
                      </a:lnTo>
                      <a:lnTo>
                        <a:pt x="67" y="5"/>
                      </a:lnTo>
                      <a:lnTo>
                        <a:pt x="63" y="10"/>
                      </a:lnTo>
                      <a:lnTo>
                        <a:pt x="60" y="7"/>
                      </a:lnTo>
                      <a:lnTo>
                        <a:pt x="61" y="2"/>
                      </a:lnTo>
                      <a:lnTo>
                        <a:pt x="59" y="3"/>
                      </a:lnTo>
                      <a:lnTo>
                        <a:pt x="55" y="7"/>
                      </a:lnTo>
                      <a:lnTo>
                        <a:pt x="52" y="12"/>
                      </a:lnTo>
                      <a:lnTo>
                        <a:pt x="48" y="14"/>
                      </a:lnTo>
                      <a:lnTo>
                        <a:pt x="45" y="13"/>
                      </a:lnTo>
                      <a:lnTo>
                        <a:pt x="45" y="9"/>
                      </a:lnTo>
                      <a:lnTo>
                        <a:pt x="48" y="5"/>
                      </a:lnTo>
                      <a:lnTo>
                        <a:pt x="43" y="10"/>
                      </a:lnTo>
                      <a:lnTo>
                        <a:pt x="40" y="14"/>
                      </a:lnTo>
                      <a:lnTo>
                        <a:pt x="35" y="17"/>
                      </a:lnTo>
                      <a:lnTo>
                        <a:pt x="31" y="15"/>
                      </a:lnTo>
                      <a:lnTo>
                        <a:pt x="33" y="10"/>
                      </a:lnTo>
                      <a:lnTo>
                        <a:pt x="37" y="5"/>
                      </a:lnTo>
                      <a:lnTo>
                        <a:pt x="39" y="3"/>
                      </a:lnTo>
                      <a:lnTo>
                        <a:pt x="37" y="3"/>
                      </a:lnTo>
                      <a:lnTo>
                        <a:pt x="33" y="8"/>
                      </a:lnTo>
                      <a:lnTo>
                        <a:pt x="29" y="13"/>
                      </a:lnTo>
                      <a:lnTo>
                        <a:pt x="26" y="13"/>
                      </a:lnTo>
                      <a:lnTo>
                        <a:pt x="28" y="7"/>
                      </a:lnTo>
                      <a:lnTo>
                        <a:pt x="29" y="4"/>
                      </a:lnTo>
                      <a:lnTo>
                        <a:pt x="28" y="4"/>
                      </a:lnTo>
                      <a:lnTo>
                        <a:pt x="22" y="7"/>
                      </a:lnTo>
                      <a:lnTo>
                        <a:pt x="20" y="12"/>
                      </a:lnTo>
                      <a:lnTo>
                        <a:pt x="17" y="17"/>
                      </a:lnTo>
                      <a:lnTo>
                        <a:pt x="12" y="19"/>
                      </a:lnTo>
                      <a:lnTo>
                        <a:pt x="11" y="18"/>
                      </a:lnTo>
                      <a:lnTo>
                        <a:pt x="12" y="12"/>
                      </a:lnTo>
                      <a:lnTo>
                        <a:pt x="17" y="9"/>
                      </a:lnTo>
                      <a:lnTo>
                        <a:pt x="14" y="9"/>
                      </a:lnTo>
                      <a:lnTo>
                        <a:pt x="9" y="15"/>
                      </a:lnTo>
                      <a:lnTo>
                        <a:pt x="7" y="22"/>
                      </a:lnTo>
                      <a:lnTo>
                        <a:pt x="5" y="23"/>
                      </a:lnTo>
                    </a:path>
                  </a:pathLst>
                </a:custGeom>
                <a:solidFill>
                  <a:srgbClr val="11111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03" name="Freeform 71"/>
                <p:cNvSpPr>
                  <a:spLocks/>
                </p:cNvSpPr>
                <p:nvPr/>
              </p:nvSpPr>
              <p:spPr bwMode="auto">
                <a:xfrm>
                  <a:off x="2484" y="3601"/>
                  <a:ext cx="211" cy="310"/>
                </a:xfrm>
                <a:custGeom>
                  <a:avLst/>
                  <a:gdLst/>
                  <a:ahLst/>
                  <a:cxnLst>
                    <a:cxn ang="0">
                      <a:pos x="147" y="0"/>
                    </a:cxn>
                    <a:cxn ang="0">
                      <a:pos x="173" y="23"/>
                    </a:cxn>
                    <a:cxn ang="0">
                      <a:pos x="182" y="42"/>
                    </a:cxn>
                    <a:cxn ang="0">
                      <a:pos x="187" y="72"/>
                    </a:cxn>
                    <a:cxn ang="0">
                      <a:pos x="192" y="91"/>
                    </a:cxn>
                    <a:cxn ang="0">
                      <a:pos x="194" y="100"/>
                    </a:cxn>
                    <a:cxn ang="0">
                      <a:pos x="190" y="112"/>
                    </a:cxn>
                    <a:cxn ang="0">
                      <a:pos x="194" y="128"/>
                    </a:cxn>
                    <a:cxn ang="0">
                      <a:pos x="205" y="157"/>
                    </a:cxn>
                    <a:cxn ang="0">
                      <a:pos x="209" y="174"/>
                    </a:cxn>
                    <a:cxn ang="0">
                      <a:pos x="204" y="180"/>
                    </a:cxn>
                    <a:cxn ang="0">
                      <a:pos x="197" y="181"/>
                    </a:cxn>
                    <a:cxn ang="0">
                      <a:pos x="190" y="190"/>
                    </a:cxn>
                    <a:cxn ang="0">
                      <a:pos x="192" y="202"/>
                    </a:cxn>
                    <a:cxn ang="0">
                      <a:pos x="187" y="210"/>
                    </a:cxn>
                    <a:cxn ang="0">
                      <a:pos x="169" y="216"/>
                    </a:cxn>
                    <a:cxn ang="0">
                      <a:pos x="185" y="227"/>
                    </a:cxn>
                    <a:cxn ang="0">
                      <a:pos x="185" y="238"/>
                    </a:cxn>
                    <a:cxn ang="0">
                      <a:pos x="180" y="244"/>
                    </a:cxn>
                    <a:cxn ang="0">
                      <a:pos x="177" y="262"/>
                    </a:cxn>
                    <a:cxn ang="0">
                      <a:pos x="172" y="281"/>
                    </a:cxn>
                    <a:cxn ang="0">
                      <a:pos x="160" y="286"/>
                    </a:cxn>
                    <a:cxn ang="0">
                      <a:pos x="138" y="289"/>
                    </a:cxn>
                    <a:cxn ang="0">
                      <a:pos x="125" y="293"/>
                    </a:cxn>
                    <a:cxn ang="0">
                      <a:pos x="115" y="304"/>
                    </a:cxn>
                    <a:cxn ang="0">
                      <a:pos x="116" y="307"/>
                    </a:cxn>
                    <a:cxn ang="0">
                      <a:pos x="71" y="268"/>
                    </a:cxn>
                    <a:cxn ang="0">
                      <a:pos x="38" y="246"/>
                    </a:cxn>
                    <a:cxn ang="0">
                      <a:pos x="6" y="229"/>
                    </a:cxn>
                    <a:cxn ang="0">
                      <a:pos x="4" y="218"/>
                    </a:cxn>
                    <a:cxn ang="0">
                      <a:pos x="5" y="208"/>
                    </a:cxn>
                    <a:cxn ang="0">
                      <a:pos x="46" y="207"/>
                    </a:cxn>
                    <a:cxn ang="0">
                      <a:pos x="83" y="192"/>
                    </a:cxn>
                    <a:cxn ang="0">
                      <a:pos x="87" y="172"/>
                    </a:cxn>
                    <a:cxn ang="0">
                      <a:pos x="80" y="133"/>
                    </a:cxn>
                    <a:cxn ang="0">
                      <a:pos x="99" y="111"/>
                    </a:cxn>
                    <a:cxn ang="0">
                      <a:pos x="122" y="139"/>
                    </a:cxn>
                    <a:cxn ang="0">
                      <a:pos x="138" y="119"/>
                    </a:cxn>
                    <a:cxn ang="0">
                      <a:pos x="149" y="81"/>
                    </a:cxn>
                    <a:cxn ang="0">
                      <a:pos x="153" y="42"/>
                    </a:cxn>
                    <a:cxn ang="0">
                      <a:pos x="149" y="11"/>
                    </a:cxn>
                  </a:cxnLst>
                  <a:rect l="0" t="0" r="r" b="b"/>
                  <a:pathLst>
                    <a:path w="211" h="310">
                      <a:moveTo>
                        <a:pt x="146" y="0"/>
                      </a:moveTo>
                      <a:lnTo>
                        <a:pt x="147" y="0"/>
                      </a:lnTo>
                      <a:lnTo>
                        <a:pt x="164" y="13"/>
                      </a:lnTo>
                      <a:lnTo>
                        <a:pt x="173" y="23"/>
                      </a:lnTo>
                      <a:lnTo>
                        <a:pt x="177" y="33"/>
                      </a:lnTo>
                      <a:lnTo>
                        <a:pt x="182" y="42"/>
                      </a:lnTo>
                      <a:lnTo>
                        <a:pt x="185" y="58"/>
                      </a:lnTo>
                      <a:lnTo>
                        <a:pt x="187" y="72"/>
                      </a:lnTo>
                      <a:lnTo>
                        <a:pt x="189" y="85"/>
                      </a:lnTo>
                      <a:lnTo>
                        <a:pt x="192" y="91"/>
                      </a:lnTo>
                      <a:lnTo>
                        <a:pt x="194" y="95"/>
                      </a:lnTo>
                      <a:lnTo>
                        <a:pt x="194" y="100"/>
                      </a:lnTo>
                      <a:lnTo>
                        <a:pt x="194" y="106"/>
                      </a:lnTo>
                      <a:lnTo>
                        <a:pt x="190" y="112"/>
                      </a:lnTo>
                      <a:lnTo>
                        <a:pt x="190" y="118"/>
                      </a:lnTo>
                      <a:lnTo>
                        <a:pt x="194" y="128"/>
                      </a:lnTo>
                      <a:lnTo>
                        <a:pt x="201" y="145"/>
                      </a:lnTo>
                      <a:lnTo>
                        <a:pt x="205" y="157"/>
                      </a:lnTo>
                      <a:lnTo>
                        <a:pt x="210" y="166"/>
                      </a:lnTo>
                      <a:lnTo>
                        <a:pt x="209" y="174"/>
                      </a:lnTo>
                      <a:lnTo>
                        <a:pt x="207" y="178"/>
                      </a:lnTo>
                      <a:lnTo>
                        <a:pt x="204" y="180"/>
                      </a:lnTo>
                      <a:lnTo>
                        <a:pt x="202" y="181"/>
                      </a:lnTo>
                      <a:lnTo>
                        <a:pt x="197" y="181"/>
                      </a:lnTo>
                      <a:lnTo>
                        <a:pt x="194" y="179"/>
                      </a:lnTo>
                      <a:lnTo>
                        <a:pt x="190" y="190"/>
                      </a:lnTo>
                      <a:lnTo>
                        <a:pt x="190" y="194"/>
                      </a:lnTo>
                      <a:lnTo>
                        <a:pt x="192" y="202"/>
                      </a:lnTo>
                      <a:lnTo>
                        <a:pt x="190" y="207"/>
                      </a:lnTo>
                      <a:lnTo>
                        <a:pt x="187" y="210"/>
                      </a:lnTo>
                      <a:lnTo>
                        <a:pt x="180" y="213"/>
                      </a:lnTo>
                      <a:lnTo>
                        <a:pt x="169" y="216"/>
                      </a:lnTo>
                      <a:lnTo>
                        <a:pt x="181" y="224"/>
                      </a:lnTo>
                      <a:lnTo>
                        <a:pt x="185" y="227"/>
                      </a:lnTo>
                      <a:lnTo>
                        <a:pt x="187" y="232"/>
                      </a:lnTo>
                      <a:lnTo>
                        <a:pt x="185" y="238"/>
                      </a:lnTo>
                      <a:lnTo>
                        <a:pt x="179" y="242"/>
                      </a:lnTo>
                      <a:lnTo>
                        <a:pt x="180" y="244"/>
                      </a:lnTo>
                      <a:lnTo>
                        <a:pt x="179" y="252"/>
                      </a:lnTo>
                      <a:lnTo>
                        <a:pt x="177" y="262"/>
                      </a:lnTo>
                      <a:lnTo>
                        <a:pt x="177" y="271"/>
                      </a:lnTo>
                      <a:lnTo>
                        <a:pt x="172" y="281"/>
                      </a:lnTo>
                      <a:lnTo>
                        <a:pt x="165" y="287"/>
                      </a:lnTo>
                      <a:lnTo>
                        <a:pt x="160" y="286"/>
                      </a:lnTo>
                      <a:lnTo>
                        <a:pt x="147" y="289"/>
                      </a:lnTo>
                      <a:lnTo>
                        <a:pt x="138" y="289"/>
                      </a:lnTo>
                      <a:lnTo>
                        <a:pt x="130" y="290"/>
                      </a:lnTo>
                      <a:lnTo>
                        <a:pt x="125" y="293"/>
                      </a:lnTo>
                      <a:lnTo>
                        <a:pt x="120" y="299"/>
                      </a:lnTo>
                      <a:lnTo>
                        <a:pt x="115" y="304"/>
                      </a:lnTo>
                      <a:lnTo>
                        <a:pt x="114" y="309"/>
                      </a:lnTo>
                      <a:lnTo>
                        <a:pt x="116" y="307"/>
                      </a:lnTo>
                      <a:lnTo>
                        <a:pt x="89" y="284"/>
                      </a:lnTo>
                      <a:lnTo>
                        <a:pt x="71" y="268"/>
                      </a:lnTo>
                      <a:lnTo>
                        <a:pt x="56" y="258"/>
                      </a:lnTo>
                      <a:lnTo>
                        <a:pt x="38" y="246"/>
                      </a:lnTo>
                      <a:lnTo>
                        <a:pt x="19" y="235"/>
                      </a:lnTo>
                      <a:lnTo>
                        <a:pt x="6" y="229"/>
                      </a:lnTo>
                      <a:lnTo>
                        <a:pt x="0" y="226"/>
                      </a:lnTo>
                      <a:lnTo>
                        <a:pt x="4" y="218"/>
                      </a:lnTo>
                      <a:lnTo>
                        <a:pt x="5" y="209"/>
                      </a:lnTo>
                      <a:lnTo>
                        <a:pt x="5" y="208"/>
                      </a:lnTo>
                      <a:lnTo>
                        <a:pt x="16" y="208"/>
                      </a:lnTo>
                      <a:lnTo>
                        <a:pt x="46" y="207"/>
                      </a:lnTo>
                      <a:lnTo>
                        <a:pt x="67" y="202"/>
                      </a:lnTo>
                      <a:lnTo>
                        <a:pt x="83" y="192"/>
                      </a:lnTo>
                      <a:lnTo>
                        <a:pt x="91" y="184"/>
                      </a:lnTo>
                      <a:lnTo>
                        <a:pt x="87" y="172"/>
                      </a:lnTo>
                      <a:lnTo>
                        <a:pt x="83" y="152"/>
                      </a:lnTo>
                      <a:lnTo>
                        <a:pt x="80" y="133"/>
                      </a:lnTo>
                      <a:lnTo>
                        <a:pt x="85" y="114"/>
                      </a:lnTo>
                      <a:lnTo>
                        <a:pt x="99" y="111"/>
                      </a:lnTo>
                      <a:lnTo>
                        <a:pt x="112" y="125"/>
                      </a:lnTo>
                      <a:lnTo>
                        <a:pt x="122" y="139"/>
                      </a:lnTo>
                      <a:lnTo>
                        <a:pt x="138" y="140"/>
                      </a:lnTo>
                      <a:lnTo>
                        <a:pt x="138" y="119"/>
                      </a:lnTo>
                      <a:lnTo>
                        <a:pt x="143" y="95"/>
                      </a:lnTo>
                      <a:lnTo>
                        <a:pt x="149" y="81"/>
                      </a:lnTo>
                      <a:lnTo>
                        <a:pt x="159" y="74"/>
                      </a:lnTo>
                      <a:lnTo>
                        <a:pt x="153" y="42"/>
                      </a:lnTo>
                      <a:lnTo>
                        <a:pt x="145" y="27"/>
                      </a:lnTo>
                      <a:lnTo>
                        <a:pt x="149" y="11"/>
                      </a:lnTo>
                      <a:lnTo>
                        <a:pt x="146" y="0"/>
                      </a:lnTo>
                    </a:path>
                  </a:pathLst>
                </a:custGeom>
                <a:solidFill>
                  <a:srgbClr val="8D8D8D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04" name="Freeform 72"/>
                <p:cNvSpPr>
                  <a:spLocks/>
                </p:cNvSpPr>
                <p:nvPr/>
              </p:nvSpPr>
              <p:spPr bwMode="auto">
                <a:xfrm>
                  <a:off x="2662" y="3760"/>
                  <a:ext cx="20" cy="24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2" y="3"/>
                    </a:cxn>
                    <a:cxn ang="0">
                      <a:pos x="0" y="10"/>
                    </a:cxn>
                    <a:cxn ang="0">
                      <a:pos x="0" y="16"/>
                    </a:cxn>
                    <a:cxn ang="0">
                      <a:pos x="2" y="20"/>
                    </a:cxn>
                    <a:cxn ang="0">
                      <a:pos x="4" y="21"/>
                    </a:cxn>
                    <a:cxn ang="0">
                      <a:pos x="5" y="21"/>
                    </a:cxn>
                    <a:cxn ang="0">
                      <a:pos x="8" y="22"/>
                    </a:cxn>
                    <a:cxn ang="0">
                      <a:pos x="11" y="23"/>
                    </a:cxn>
                    <a:cxn ang="0">
                      <a:pos x="15" y="23"/>
                    </a:cxn>
                    <a:cxn ang="0">
                      <a:pos x="19" y="23"/>
                    </a:cxn>
                    <a:cxn ang="0">
                      <a:pos x="18" y="20"/>
                    </a:cxn>
                    <a:cxn ang="0">
                      <a:pos x="12" y="20"/>
                    </a:cxn>
                    <a:cxn ang="0">
                      <a:pos x="7" y="16"/>
                    </a:cxn>
                    <a:cxn ang="0">
                      <a:pos x="5" y="16"/>
                    </a:cxn>
                    <a:cxn ang="0">
                      <a:pos x="4" y="12"/>
                    </a:cxn>
                    <a:cxn ang="0">
                      <a:pos x="4" y="8"/>
                    </a:cxn>
                    <a:cxn ang="0">
                      <a:pos x="4" y="5"/>
                    </a:cxn>
                    <a:cxn ang="0">
                      <a:pos x="5" y="3"/>
                    </a:cxn>
                    <a:cxn ang="0">
                      <a:pos x="8" y="1"/>
                    </a:cxn>
                    <a:cxn ang="0">
                      <a:pos x="6" y="0"/>
                    </a:cxn>
                  </a:cxnLst>
                  <a:rect l="0" t="0" r="r" b="b"/>
                  <a:pathLst>
                    <a:path w="20" h="24">
                      <a:moveTo>
                        <a:pt x="6" y="0"/>
                      </a:moveTo>
                      <a:lnTo>
                        <a:pt x="2" y="3"/>
                      </a:lnTo>
                      <a:lnTo>
                        <a:pt x="0" y="10"/>
                      </a:lnTo>
                      <a:lnTo>
                        <a:pt x="0" y="16"/>
                      </a:lnTo>
                      <a:lnTo>
                        <a:pt x="2" y="20"/>
                      </a:lnTo>
                      <a:lnTo>
                        <a:pt x="4" y="21"/>
                      </a:lnTo>
                      <a:lnTo>
                        <a:pt x="5" y="21"/>
                      </a:lnTo>
                      <a:lnTo>
                        <a:pt x="8" y="22"/>
                      </a:lnTo>
                      <a:lnTo>
                        <a:pt x="11" y="23"/>
                      </a:lnTo>
                      <a:lnTo>
                        <a:pt x="15" y="23"/>
                      </a:lnTo>
                      <a:lnTo>
                        <a:pt x="19" y="23"/>
                      </a:lnTo>
                      <a:lnTo>
                        <a:pt x="18" y="20"/>
                      </a:lnTo>
                      <a:lnTo>
                        <a:pt x="12" y="20"/>
                      </a:lnTo>
                      <a:lnTo>
                        <a:pt x="7" y="16"/>
                      </a:lnTo>
                      <a:lnTo>
                        <a:pt x="5" y="16"/>
                      </a:lnTo>
                      <a:lnTo>
                        <a:pt x="4" y="12"/>
                      </a:lnTo>
                      <a:lnTo>
                        <a:pt x="4" y="8"/>
                      </a:lnTo>
                      <a:lnTo>
                        <a:pt x="4" y="5"/>
                      </a:lnTo>
                      <a:lnTo>
                        <a:pt x="5" y="3"/>
                      </a:lnTo>
                      <a:lnTo>
                        <a:pt x="8" y="1"/>
                      </a:lnTo>
                      <a:lnTo>
                        <a:pt x="6" y="0"/>
                      </a:lnTo>
                    </a:path>
                  </a:pathLst>
                </a:custGeom>
                <a:solidFill>
                  <a:srgbClr val="11111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05" name="Freeform 73"/>
                <p:cNvSpPr>
                  <a:spLocks/>
                </p:cNvSpPr>
                <p:nvPr/>
              </p:nvSpPr>
              <p:spPr bwMode="auto">
                <a:xfrm>
                  <a:off x="2573" y="3729"/>
                  <a:ext cx="16" cy="46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4"/>
                    </a:cxn>
                    <a:cxn ang="0">
                      <a:pos x="1" y="9"/>
                    </a:cxn>
                    <a:cxn ang="0">
                      <a:pos x="3" y="12"/>
                    </a:cxn>
                    <a:cxn ang="0">
                      <a:pos x="5" y="27"/>
                    </a:cxn>
                    <a:cxn ang="0">
                      <a:pos x="7" y="31"/>
                    </a:cxn>
                    <a:cxn ang="0">
                      <a:pos x="7" y="34"/>
                    </a:cxn>
                    <a:cxn ang="0">
                      <a:pos x="11" y="40"/>
                    </a:cxn>
                    <a:cxn ang="0">
                      <a:pos x="12" y="40"/>
                    </a:cxn>
                    <a:cxn ang="0">
                      <a:pos x="13" y="40"/>
                    </a:cxn>
                    <a:cxn ang="0">
                      <a:pos x="15" y="44"/>
                    </a:cxn>
                    <a:cxn ang="0">
                      <a:pos x="15" y="45"/>
                    </a:cxn>
                    <a:cxn ang="0">
                      <a:pos x="15" y="44"/>
                    </a:cxn>
                    <a:cxn ang="0">
                      <a:pos x="7" y="40"/>
                    </a:cxn>
                    <a:cxn ang="0">
                      <a:pos x="5" y="40"/>
                    </a:cxn>
                    <a:cxn ang="0">
                      <a:pos x="3" y="34"/>
                    </a:cxn>
                    <a:cxn ang="0">
                      <a:pos x="1" y="30"/>
                    </a:cxn>
                    <a:cxn ang="0">
                      <a:pos x="0" y="26"/>
                    </a:cxn>
                    <a:cxn ang="0">
                      <a:pos x="0" y="21"/>
                    </a:cxn>
                    <a:cxn ang="0">
                      <a:pos x="0" y="18"/>
                    </a:cxn>
                    <a:cxn ang="0">
                      <a:pos x="0" y="14"/>
                    </a:cxn>
                    <a:cxn ang="0">
                      <a:pos x="0" y="10"/>
                    </a:cxn>
                    <a:cxn ang="0">
                      <a:pos x="0" y="4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6" h="46">
                      <a:moveTo>
                        <a:pt x="1" y="0"/>
                      </a:moveTo>
                      <a:lnTo>
                        <a:pt x="1" y="4"/>
                      </a:lnTo>
                      <a:lnTo>
                        <a:pt x="1" y="9"/>
                      </a:lnTo>
                      <a:lnTo>
                        <a:pt x="3" y="12"/>
                      </a:lnTo>
                      <a:lnTo>
                        <a:pt x="5" y="27"/>
                      </a:lnTo>
                      <a:lnTo>
                        <a:pt x="7" y="31"/>
                      </a:lnTo>
                      <a:lnTo>
                        <a:pt x="7" y="34"/>
                      </a:lnTo>
                      <a:lnTo>
                        <a:pt x="11" y="40"/>
                      </a:lnTo>
                      <a:lnTo>
                        <a:pt x="12" y="40"/>
                      </a:lnTo>
                      <a:lnTo>
                        <a:pt x="13" y="40"/>
                      </a:lnTo>
                      <a:lnTo>
                        <a:pt x="15" y="44"/>
                      </a:lnTo>
                      <a:lnTo>
                        <a:pt x="15" y="45"/>
                      </a:lnTo>
                      <a:lnTo>
                        <a:pt x="15" y="44"/>
                      </a:lnTo>
                      <a:lnTo>
                        <a:pt x="7" y="40"/>
                      </a:lnTo>
                      <a:lnTo>
                        <a:pt x="5" y="40"/>
                      </a:lnTo>
                      <a:lnTo>
                        <a:pt x="3" y="34"/>
                      </a:lnTo>
                      <a:lnTo>
                        <a:pt x="1" y="30"/>
                      </a:lnTo>
                      <a:lnTo>
                        <a:pt x="0" y="26"/>
                      </a:lnTo>
                      <a:lnTo>
                        <a:pt x="0" y="21"/>
                      </a:lnTo>
                      <a:lnTo>
                        <a:pt x="0" y="18"/>
                      </a:lnTo>
                      <a:lnTo>
                        <a:pt x="0" y="14"/>
                      </a:lnTo>
                      <a:lnTo>
                        <a:pt x="0" y="10"/>
                      </a:lnTo>
                      <a:lnTo>
                        <a:pt x="0" y="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11111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06" name="Freeform 74"/>
                <p:cNvSpPr>
                  <a:spLocks/>
                </p:cNvSpPr>
                <p:nvPr/>
              </p:nvSpPr>
              <p:spPr bwMode="auto">
                <a:xfrm>
                  <a:off x="2578" y="3728"/>
                  <a:ext cx="16" cy="38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9" y="4"/>
                    </a:cxn>
                    <a:cxn ang="0">
                      <a:pos x="10" y="7"/>
                    </a:cxn>
                    <a:cxn ang="0">
                      <a:pos x="10" y="13"/>
                    </a:cxn>
                    <a:cxn ang="0">
                      <a:pos x="11" y="16"/>
                    </a:cxn>
                    <a:cxn ang="0">
                      <a:pos x="12" y="21"/>
                    </a:cxn>
                    <a:cxn ang="0">
                      <a:pos x="15" y="25"/>
                    </a:cxn>
                    <a:cxn ang="0">
                      <a:pos x="13" y="27"/>
                    </a:cxn>
                    <a:cxn ang="0">
                      <a:pos x="10" y="30"/>
                    </a:cxn>
                    <a:cxn ang="0">
                      <a:pos x="9" y="31"/>
                    </a:cxn>
                    <a:cxn ang="0">
                      <a:pos x="9" y="35"/>
                    </a:cxn>
                    <a:cxn ang="0">
                      <a:pos x="6" y="37"/>
                    </a:cxn>
                    <a:cxn ang="0">
                      <a:pos x="5" y="33"/>
                    </a:cxn>
                    <a:cxn ang="0">
                      <a:pos x="2" y="23"/>
                    </a:cxn>
                    <a:cxn ang="0">
                      <a:pos x="1" y="12"/>
                    </a:cxn>
                    <a:cxn ang="0">
                      <a:pos x="0" y="4"/>
                    </a:cxn>
                    <a:cxn ang="0">
                      <a:pos x="0" y="0"/>
                    </a:cxn>
                    <a:cxn ang="0">
                      <a:pos x="3" y="0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16" h="38">
                      <a:moveTo>
                        <a:pt x="7" y="0"/>
                      </a:moveTo>
                      <a:lnTo>
                        <a:pt x="9" y="4"/>
                      </a:lnTo>
                      <a:lnTo>
                        <a:pt x="10" y="7"/>
                      </a:lnTo>
                      <a:lnTo>
                        <a:pt x="10" y="13"/>
                      </a:lnTo>
                      <a:lnTo>
                        <a:pt x="11" y="16"/>
                      </a:lnTo>
                      <a:lnTo>
                        <a:pt x="12" y="21"/>
                      </a:lnTo>
                      <a:lnTo>
                        <a:pt x="15" y="25"/>
                      </a:lnTo>
                      <a:lnTo>
                        <a:pt x="13" y="27"/>
                      </a:lnTo>
                      <a:lnTo>
                        <a:pt x="10" y="30"/>
                      </a:lnTo>
                      <a:lnTo>
                        <a:pt x="9" y="31"/>
                      </a:lnTo>
                      <a:lnTo>
                        <a:pt x="9" y="35"/>
                      </a:lnTo>
                      <a:lnTo>
                        <a:pt x="6" y="37"/>
                      </a:lnTo>
                      <a:lnTo>
                        <a:pt x="5" y="33"/>
                      </a:lnTo>
                      <a:lnTo>
                        <a:pt x="2" y="23"/>
                      </a:lnTo>
                      <a:lnTo>
                        <a:pt x="1" y="12"/>
                      </a:lnTo>
                      <a:lnTo>
                        <a:pt x="0" y="4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rgbClr val="11111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07" name="Freeform 75"/>
                <p:cNvSpPr>
                  <a:spLocks/>
                </p:cNvSpPr>
                <p:nvPr/>
              </p:nvSpPr>
              <p:spPr bwMode="auto">
                <a:xfrm>
                  <a:off x="2653" y="3716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11" y="0"/>
                    </a:cxn>
                    <a:cxn ang="0">
                      <a:pos x="15" y="7"/>
                    </a:cxn>
                    <a:cxn ang="0">
                      <a:pos x="15" y="15"/>
                    </a:cxn>
                    <a:cxn ang="0">
                      <a:pos x="0" y="11"/>
                    </a:cxn>
                    <a:cxn ang="0">
                      <a:pos x="11" y="1"/>
                    </a:cxn>
                    <a:cxn ang="0">
                      <a:pos x="11" y="0"/>
                    </a:cxn>
                  </a:cxnLst>
                  <a:rect l="0" t="0" r="r" b="b"/>
                  <a:pathLst>
                    <a:path w="16" h="16">
                      <a:moveTo>
                        <a:pt x="11" y="0"/>
                      </a:moveTo>
                      <a:lnTo>
                        <a:pt x="15" y="7"/>
                      </a:lnTo>
                      <a:lnTo>
                        <a:pt x="15" y="15"/>
                      </a:lnTo>
                      <a:lnTo>
                        <a:pt x="0" y="11"/>
                      </a:lnTo>
                      <a:lnTo>
                        <a:pt x="11" y="1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08" name="Freeform 76"/>
                <p:cNvSpPr>
                  <a:spLocks/>
                </p:cNvSpPr>
                <p:nvPr/>
              </p:nvSpPr>
              <p:spPr bwMode="auto">
                <a:xfrm>
                  <a:off x="2651" y="3724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4" y="0"/>
                    </a:cxn>
                    <a:cxn ang="0">
                      <a:pos x="5" y="0"/>
                    </a:cxn>
                    <a:cxn ang="0">
                      <a:pos x="8" y="2"/>
                    </a:cxn>
                    <a:cxn ang="0">
                      <a:pos x="10" y="2"/>
                    </a:cxn>
                    <a:cxn ang="0">
                      <a:pos x="12" y="6"/>
                    </a:cxn>
                    <a:cxn ang="0">
                      <a:pos x="15" y="11"/>
                    </a:cxn>
                    <a:cxn ang="0">
                      <a:pos x="14" y="15"/>
                    </a:cxn>
                    <a:cxn ang="0">
                      <a:pos x="8" y="6"/>
                    </a:cxn>
                    <a:cxn ang="0">
                      <a:pos x="5" y="4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6" h="16">
                      <a:moveTo>
                        <a:pt x="1" y="0"/>
                      </a:move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8" y="2"/>
                      </a:lnTo>
                      <a:lnTo>
                        <a:pt x="10" y="2"/>
                      </a:lnTo>
                      <a:lnTo>
                        <a:pt x="12" y="6"/>
                      </a:lnTo>
                      <a:lnTo>
                        <a:pt x="15" y="11"/>
                      </a:lnTo>
                      <a:lnTo>
                        <a:pt x="14" y="15"/>
                      </a:lnTo>
                      <a:lnTo>
                        <a:pt x="8" y="6"/>
                      </a:lnTo>
                      <a:lnTo>
                        <a:pt x="5" y="4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4F4F4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09" name="Freeform 77"/>
                <p:cNvSpPr>
                  <a:spLocks/>
                </p:cNvSpPr>
                <p:nvPr/>
              </p:nvSpPr>
              <p:spPr bwMode="auto">
                <a:xfrm>
                  <a:off x="2650" y="3709"/>
                  <a:ext cx="21" cy="20"/>
                </a:xfrm>
                <a:custGeom>
                  <a:avLst/>
                  <a:gdLst/>
                  <a:ahLst/>
                  <a:cxnLst>
                    <a:cxn ang="0">
                      <a:pos x="10" y="10"/>
                    </a:cxn>
                    <a:cxn ang="0">
                      <a:pos x="11" y="19"/>
                    </a:cxn>
                    <a:cxn ang="0">
                      <a:pos x="15" y="15"/>
                    </a:cxn>
                    <a:cxn ang="0">
                      <a:pos x="15" y="5"/>
                    </a:cxn>
                    <a:cxn ang="0">
                      <a:pos x="16" y="3"/>
                    </a:cxn>
                    <a:cxn ang="0">
                      <a:pos x="20" y="0"/>
                    </a:cxn>
                    <a:cxn ang="0">
                      <a:pos x="15" y="0"/>
                    </a:cxn>
                    <a:cxn ang="0">
                      <a:pos x="10" y="5"/>
                    </a:cxn>
                    <a:cxn ang="0">
                      <a:pos x="3" y="12"/>
                    </a:cxn>
                    <a:cxn ang="0">
                      <a:pos x="0" y="15"/>
                    </a:cxn>
                    <a:cxn ang="0">
                      <a:pos x="3" y="17"/>
                    </a:cxn>
                    <a:cxn ang="0">
                      <a:pos x="11" y="8"/>
                    </a:cxn>
                    <a:cxn ang="0">
                      <a:pos x="10" y="10"/>
                    </a:cxn>
                  </a:cxnLst>
                  <a:rect l="0" t="0" r="r" b="b"/>
                  <a:pathLst>
                    <a:path w="21" h="20">
                      <a:moveTo>
                        <a:pt x="10" y="10"/>
                      </a:moveTo>
                      <a:lnTo>
                        <a:pt x="11" y="19"/>
                      </a:lnTo>
                      <a:lnTo>
                        <a:pt x="15" y="15"/>
                      </a:lnTo>
                      <a:lnTo>
                        <a:pt x="15" y="5"/>
                      </a:lnTo>
                      <a:lnTo>
                        <a:pt x="16" y="3"/>
                      </a:lnTo>
                      <a:lnTo>
                        <a:pt x="20" y="0"/>
                      </a:lnTo>
                      <a:lnTo>
                        <a:pt x="15" y="0"/>
                      </a:lnTo>
                      <a:lnTo>
                        <a:pt x="10" y="5"/>
                      </a:lnTo>
                      <a:lnTo>
                        <a:pt x="3" y="12"/>
                      </a:lnTo>
                      <a:lnTo>
                        <a:pt x="0" y="15"/>
                      </a:lnTo>
                      <a:lnTo>
                        <a:pt x="3" y="17"/>
                      </a:lnTo>
                      <a:lnTo>
                        <a:pt x="11" y="8"/>
                      </a:lnTo>
                      <a:lnTo>
                        <a:pt x="10" y="10"/>
                      </a:lnTo>
                    </a:path>
                  </a:pathLst>
                </a:custGeom>
                <a:solidFill>
                  <a:srgbClr val="5F5F5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10" name="Freeform 78"/>
                <p:cNvSpPr>
                  <a:spLocks/>
                </p:cNvSpPr>
                <p:nvPr/>
              </p:nvSpPr>
              <p:spPr bwMode="auto">
                <a:xfrm>
                  <a:off x="2643" y="3690"/>
                  <a:ext cx="32" cy="23"/>
                </a:xfrm>
                <a:custGeom>
                  <a:avLst/>
                  <a:gdLst/>
                  <a:ahLst/>
                  <a:cxnLst>
                    <a:cxn ang="0">
                      <a:pos x="29" y="2"/>
                    </a:cxn>
                    <a:cxn ang="0">
                      <a:pos x="23" y="0"/>
                    </a:cxn>
                    <a:cxn ang="0">
                      <a:pos x="15" y="2"/>
                    </a:cxn>
                    <a:cxn ang="0">
                      <a:pos x="8" y="9"/>
                    </a:cxn>
                    <a:cxn ang="0">
                      <a:pos x="4" y="15"/>
                    </a:cxn>
                    <a:cxn ang="0">
                      <a:pos x="0" y="22"/>
                    </a:cxn>
                    <a:cxn ang="0">
                      <a:pos x="8" y="13"/>
                    </a:cxn>
                    <a:cxn ang="0">
                      <a:pos x="17" y="5"/>
                    </a:cxn>
                    <a:cxn ang="0">
                      <a:pos x="25" y="7"/>
                    </a:cxn>
                    <a:cxn ang="0">
                      <a:pos x="29" y="8"/>
                    </a:cxn>
                    <a:cxn ang="0">
                      <a:pos x="31" y="7"/>
                    </a:cxn>
                    <a:cxn ang="0">
                      <a:pos x="29" y="2"/>
                    </a:cxn>
                  </a:cxnLst>
                  <a:rect l="0" t="0" r="r" b="b"/>
                  <a:pathLst>
                    <a:path w="32" h="23">
                      <a:moveTo>
                        <a:pt x="29" y="2"/>
                      </a:moveTo>
                      <a:lnTo>
                        <a:pt x="23" y="0"/>
                      </a:lnTo>
                      <a:lnTo>
                        <a:pt x="15" y="2"/>
                      </a:lnTo>
                      <a:lnTo>
                        <a:pt x="8" y="9"/>
                      </a:lnTo>
                      <a:lnTo>
                        <a:pt x="4" y="15"/>
                      </a:lnTo>
                      <a:lnTo>
                        <a:pt x="0" y="22"/>
                      </a:lnTo>
                      <a:lnTo>
                        <a:pt x="8" y="13"/>
                      </a:lnTo>
                      <a:lnTo>
                        <a:pt x="17" y="5"/>
                      </a:lnTo>
                      <a:lnTo>
                        <a:pt x="25" y="7"/>
                      </a:lnTo>
                      <a:lnTo>
                        <a:pt x="29" y="8"/>
                      </a:lnTo>
                      <a:lnTo>
                        <a:pt x="31" y="7"/>
                      </a:lnTo>
                      <a:lnTo>
                        <a:pt x="29" y="2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11" name="Freeform 79"/>
                <p:cNvSpPr>
                  <a:spLocks/>
                </p:cNvSpPr>
                <p:nvPr/>
              </p:nvSpPr>
              <p:spPr bwMode="auto">
                <a:xfrm>
                  <a:off x="2649" y="3803"/>
                  <a:ext cx="28" cy="16"/>
                </a:xfrm>
                <a:custGeom>
                  <a:avLst/>
                  <a:gdLst/>
                  <a:ahLst/>
                  <a:cxnLst>
                    <a:cxn ang="0">
                      <a:pos x="5" y="15"/>
                    </a:cxn>
                    <a:cxn ang="0">
                      <a:pos x="5" y="14"/>
                    </a:cxn>
                    <a:cxn ang="0">
                      <a:pos x="7" y="14"/>
                    </a:cxn>
                    <a:cxn ang="0">
                      <a:pos x="8" y="14"/>
                    </a:cxn>
                    <a:cxn ang="0">
                      <a:pos x="9" y="14"/>
                    </a:cxn>
                    <a:cxn ang="0">
                      <a:pos x="11" y="14"/>
                    </a:cxn>
                    <a:cxn ang="0">
                      <a:pos x="12" y="14"/>
                    </a:cxn>
                    <a:cxn ang="0">
                      <a:pos x="14" y="12"/>
                    </a:cxn>
                    <a:cxn ang="0">
                      <a:pos x="16" y="11"/>
                    </a:cxn>
                    <a:cxn ang="0">
                      <a:pos x="16" y="11"/>
                    </a:cxn>
                    <a:cxn ang="0">
                      <a:pos x="17" y="10"/>
                    </a:cxn>
                    <a:cxn ang="0">
                      <a:pos x="19" y="10"/>
                    </a:cxn>
                    <a:cxn ang="0">
                      <a:pos x="21" y="10"/>
                    </a:cxn>
                    <a:cxn ang="0">
                      <a:pos x="22" y="8"/>
                    </a:cxn>
                    <a:cxn ang="0">
                      <a:pos x="23" y="8"/>
                    </a:cxn>
                    <a:cxn ang="0">
                      <a:pos x="24" y="8"/>
                    </a:cxn>
                    <a:cxn ang="0">
                      <a:pos x="25" y="8"/>
                    </a:cxn>
                    <a:cxn ang="0">
                      <a:pos x="26" y="7"/>
                    </a:cxn>
                    <a:cxn ang="0">
                      <a:pos x="26" y="6"/>
                    </a:cxn>
                    <a:cxn ang="0">
                      <a:pos x="27" y="4"/>
                    </a:cxn>
                    <a:cxn ang="0">
                      <a:pos x="27" y="3"/>
                    </a:cxn>
                    <a:cxn ang="0">
                      <a:pos x="27" y="1"/>
                    </a:cxn>
                    <a:cxn ang="0">
                      <a:pos x="25" y="1"/>
                    </a:cxn>
                    <a:cxn ang="0">
                      <a:pos x="24" y="1"/>
                    </a:cxn>
                    <a:cxn ang="0">
                      <a:pos x="24" y="0"/>
                    </a:cxn>
                    <a:cxn ang="0">
                      <a:pos x="22" y="0"/>
                    </a:cxn>
                    <a:cxn ang="0">
                      <a:pos x="22" y="0"/>
                    </a:cxn>
                    <a:cxn ang="0">
                      <a:pos x="20" y="1"/>
                    </a:cxn>
                    <a:cxn ang="0">
                      <a:pos x="19" y="1"/>
                    </a:cxn>
                    <a:cxn ang="0">
                      <a:pos x="17" y="3"/>
                    </a:cxn>
                    <a:cxn ang="0">
                      <a:pos x="16" y="3"/>
                    </a:cxn>
                    <a:cxn ang="0">
                      <a:pos x="15" y="5"/>
                    </a:cxn>
                    <a:cxn ang="0">
                      <a:pos x="13" y="6"/>
                    </a:cxn>
                    <a:cxn ang="0">
                      <a:pos x="11" y="8"/>
                    </a:cxn>
                    <a:cxn ang="0">
                      <a:pos x="11" y="8"/>
                    </a:cxn>
                    <a:cxn ang="0">
                      <a:pos x="9" y="8"/>
                    </a:cxn>
                    <a:cxn ang="0">
                      <a:pos x="8" y="8"/>
                    </a:cxn>
                    <a:cxn ang="0">
                      <a:pos x="7" y="10"/>
                    </a:cxn>
                    <a:cxn ang="0">
                      <a:pos x="5" y="12"/>
                    </a:cxn>
                    <a:cxn ang="0">
                      <a:pos x="4" y="12"/>
                    </a:cxn>
                    <a:cxn ang="0">
                      <a:pos x="2" y="13"/>
                    </a:cxn>
                    <a:cxn ang="0">
                      <a:pos x="1" y="13"/>
                    </a:cxn>
                    <a:cxn ang="0">
                      <a:pos x="0" y="13"/>
                    </a:cxn>
                    <a:cxn ang="0">
                      <a:pos x="0" y="15"/>
                    </a:cxn>
                    <a:cxn ang="0">
                      <a:pos x="0" y="15"/>
                    </a:cxn>
                    <a:cxn ang="0">
                      <a:pos x="2" y="15"/>
                    </a:cxn>
                    <a:cxn ang="0">
                      <a:pos x="4" y="15"/>
                    </a:cxn>
                    <a:cxn ang="0">
                      <a:pos x="5" y="15"/>
                    </a:cxn>
                  </a:cxnLst>
                  <a:rect l="0" t="0" r="r" b="b"/>
                  <a:pathLst>
                    <a:path w="28" h="16">
                      <a:moveTo>
                        <a:pt x="5" y="15"/>
                      </a:moveTo>
                      <a:lnTo>
                        <a:pt x="5" y="14"/>
                      </a:lnTo>
                      <a:lnTo>
                        <a:pt x="7" y="14"/>
                      </a:lnTo>
                      <a:lnTo>
                        <a:pt x="8" y="14"/>
                      </a:lnTo>
                      <a:lnTo>
                        <a:pt x="9" y="14"/>
                      </a:lnTo>
                      <a:lnTo>
                        <a:pt x="11" y="14"/>
                      </a:lnTo>
                      <a:lnTo>
                        <a:pt x="12" y="14"/>
                      </a:lnTo>
                      <a:lnTo>
                        <a:pt x="14" y="12"/>
                      </a:lnTo>
                      <a:lnTo>
                        <a:pt x="16" y="11"/>
                      </a:lnTo>
                      <a:lnTo>
                        <a:pt x="16" y="11"/>
                      </a:lnTo>
                      <a:lnTo>
                        <a:pt x="17" y="10"/>
                      </a:lnTo>
                      <a:lnTo>
                        <a:pt x="19" y="10"/>
                      </a:lnTo>
                      <a:lnTo>
                        <a:pt x="21" y="10"/>
                      </a:lnTo>
                      <a:lnTo>
                        <a:pt x="22" y="8"/>
                      </a:lnTo>
                      <a:lnTo>
                        <a:pt x="23" y="8"/>
                      </a:lnTo>
                      <a:lnTo>
                        <a:pt x="24" y="8"/>
                      </a:lnTo>
                      <a:lnTo>
                        <a:pt x="25" y="8"/>
                      </a:lnTo>
                      <a:lnTo>
                        <a:pt x="26" y="7"/>
                      </a:lnTo>
                      <a:lnTo>
                        <a:pt x="26" y="6"/>
                      </a:lnTo>
                      <a:lnTo>
                        <a:pt x="27" y="4"/>
                      </a:lnTo>
                      <a:lnTo>
                        <a:pt x="27" y="3"/>
                      </a:lnTo>
                      <a:lnTo>
                        <a:pt x="27" y="1"/>
                      </a:lnTo>
                      <a:lnTo>
                        <a:pt x="25" y="1"/>
                      </a:lnTo>
                      <a:lnTo>
                        <a:pt x="24" y="1"/>
                      </a:lnTo>
                      <a:lnTo>
                        <a:pt x="24" y="0"/>
                      </a:lnTo>
                      <a:lnTo>
                        <a:pt x="22" y="0"/>
                      </a:lnTo>
                      <a:lnTo>
                        <a:pt x="22" y="0"/>
                      </a:lnTo>
                      <a:lnTo>
                        <a:pt x="20" y="1"/>
                      </a:lnTo>
                      <a:lnTo>
                        <a:pt x="19" y="1"/>
                      </a:lnTo>
                      <a:lnTo>
                        <a:pt x="17" y="3"/>
                      </a:lnTo>
                      <a:lnTo>
                        <a:pt x="16" y="3"/>
                      </a:lnTo>
                      <a:lnTo>
                        <a:pt x="15" y="5"/>
                      </a:lnTo>
                      <a:lnTo>
                        <a:pt x="13" y="6"/>
                      </a:lnTo>
                      <a:lnTo>
                        <a:pt x="11" y="8"/>
                      </a:lnTo>
                      <a:lnTo>
                        <a:pt x="11" y="8"/>
                      </a:lnTo>
                      <a:lnTo>
                        <a:pt x="9" y="8"/>
                      </a:lnTo>
                      <a:lnTo>
                        <a:pt x="8" y="8"/>
                      </a:lnTo>
                      <a:lnTo>
                        <a:pt x="7" y="10"/>
                      </a:lnTo>
                      <a:lnTo>
                        <a:pt x="5" y="12"/>
                      </a:lnTo>
                      <a:lnTo>
                        <a:pt x="4" y="12"/>
                      </a:lnTo>
                      <a:lnTo>
                        <a:pt x="2" y="13"/>
                      </a:lnTo>
                      <a:lnTo>
                        <a:pt x="1" y="13"/>
                      </a:lnTo>
                      <a:lnTo>
                        <a:pt x="0" y="13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2" y="15"/>
                      </a:lnTo>
                      <a:lnTo>
                        <a:pt x="4" y="15"/>
                      </a:lnTo>
                      <a:lnTo>
                        <a:pt x="5" y="15"/>
                      </a:lnTo>
                    </a:path>
                  </a:pathLst>
                </a:custGeom>
                <a:solidFill>
                  <a:srgbClr val="8D8D8D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12" name="Freeform 80"/>
                <p:cNvSpPr>
                  <a:spLocks/>
                </p:cNvSpPr>
                <p:nvPr/>
              </p:nvSpPr>
              <p:spPr bwMode="auto">
                <a:xfrm>
                  <a:off x="2569" y="3815"/>
                  <a:ext cx="83" cy="94"/>
                </a:xfrm>
                <a:custGeom>
                  <a:avLst/>
                  <a:gdLst/>
                  <a:ahLst/>
                  <a:cxnLst>
                    <a:cxn ang="0">
                      <a:pos x="11" y="26"/>
                    </a:cxn>
                    <a:cxn ang="0">
                      <a:pos x="12" y="29"/>
                    </a:cxn>
                    <a:cxn ang="0">
                      <a:pos x="14" y="33"/>
                    </a:cxn>
                    <a:cxn ang="0">
                      <a:pos x="15" y="37"/>
                    </a:cxn>
                    <a:cxn ang="0">
                      <a:pos x="16" y="40"/>
                    </a:cxn>
                    <a:cxn ang="0">
                      <a:pos x="19" y="41"/>
                    </a:cxn>
                    <a:cxn ang="0">
                      <a:pos x="20" y="45"/>
                    </a:cxn>
                    <a:cxn ang="0">
                      <a:pos x="23" y="46"/>
                    </a:cxn>
                    <a:cxn ang="0">
                      <a:pos x="26" y="47"/>
                    </a:cxn>
                    <a:cxn ang="0">
                      <a:pos x="28" y="51"/>
                    </a:cxn>
                    <a:cxn ang="0">
                      <a:pos x="31" y="52"/>
                    </a:cxn>
                    <a:cxn ang="0">
                      <a:pos x="31" y="55"/>
                    </a:cxn>
                    <a:cxn ang="0">
                      <a:pos x="35" y="57"/>
                    </a:cxn>
                    <a:cxn ang="0">
                      <a:pos x="37" y="58"/>
                    </a:cxn>
                    <a:cxn ang="0">
                      <a:pos x="39" y="61"/>
                    </a:cxn>
                    <a:cxn ang="0">
                      <a:pos x="41" y="63"/>
                    </a:cxn>
                    <a:cxn ang="0">
                      <a:pos x="45" y="64"/>
                    </a:cxn>
                    <a:cxn ang="0">
                      <a:pos x="48" y="65"/>
                    </a:cxn>
                    <a:cxn ang="0">
                      <a:pos x="50" y="68"/>
                    </a:cxn>
                    <a:cxn ang="0">
                      <a:pos x="53" y="70"/>
                    </a:cxn>
                    <a:cxn ang="0">
                      <a:pos x="56" y="70"/>
                    </a:cxn>
                    <a:cxn ang="0">
                      <a:pos x="59" y="72"/>
                    </a:cxn>
                    <a:cxn ang="0">
                      <a:pos x="63" y="72"/>
                    </a:cxn>
                    <a:cxn ang="0">
                      <a:pos x="68" y="72"/>
                    </a:cxn>
                    <a:cxn ang="0">
                      <a:pos x="74" y="72"/>
                    </a:cxn>
                    <a:cxn ang="0">
                      <a:pos x="80" y="72"/>
                    </a:cxn>
                    <a:cxn ang="0">
                      <a:pos x="78" y="74"/>
                    </a:cxn>
                    <a:cxn ang="0">
                      <a:pos x="73" y="76"/>
                    </a:cxn>
                    <a:cxn ang="0">
                      <a:pos x="68" y="76"/>
                    </a:cxn>
                    <a:cxn ang="0">
                      <a:pos x="63" y="76"/>
                    </a:cxn>
                    <a:cxn ang="0">
                      <a:pos x="59" y="76"/>
                    </a:cxn>
                    <a:cxn ang="0">
                      <a:pos x="54" y="76"/>
                    </a:cxn>
                    <a:cxn ang="0">
                      <a:pos x="51" y="76"/>
                    </a:cxn>
                    <a:cxn ang="0">
                      <a:pos x="46" y="77"/>
                    </a:cxn>
                    <a:cxn ang="0">
                      <a:pos x="43" y="79"/>
                    </a:cxn>
                    <a:cxn ang="0">
                      <a:pos x="40" y="82"/>
                    </a:cxn>
                    <a:cxn ang="0">
                      <a:pos x="37" y="86"/>
                    </a:cxn>
                    <a:cxn ang="0">
                      <a:pos x="34" y="90"/>
                    </a:cxn>
                    <a:cxn ang="0">
                      <a:pos x="25" y="90"/>
                    </a:cxn>
                    <a:cxn ang="0">
                      <a:pos x="18" y="82"/>
                    </a:cxn>
                    <a:cxn ang="0">
                      <a:pos x="13" y="77"/>
                    </a:cxn>
                    <a:cxn ang="0">
                      <a:pos x="10" y="71"/>
                    </a:cxn>
                    <a:cxn ang="0">
                      <a:pos x="6" y="65"/>
                    </a:cxn>
                    <a:cxn ang="0">
                      <a:pos x="3" y="58"/>
                    </a:cxn>
                    <a:cxn ang="0">
                      <a:pos x="0" y="53"/>
                    </a:cxn>
                    <a:cxn ang="0">
                      <a:pos x="0" y="40"/>
                    </a:cxn>
                    <a:cxn ang="0">
                      <a:pos x="0" y="24"/>
                    </a:cxn>
                    <a:cxn ang="0">
                      <a:pos x="0" y="10"/>
                    </a:cxn>
                    <a:cxn ang="0">
                      <a:pos x="1" y="1"/>
                    </a:cxn>
                    <a:cxn ang="0">
                      <a:pos x="3" y="1"/>
                    </a:cxn>
                    <a:cxn ang="0">
                      <a:pos x="5" y="6"/>
                    </a:cxn>
                    <a:cxn ang="0">
                      <a:pos x="7" y="12"/>
                    </a:cxn>
                    <a:cxn ang="0">
                      <a:pos x="8" y="19"/>
                    </a:cxn>
                    <a:cxn ang="0">
                      <a:pos x="10" y="23"/>
                    </a:cxn>
                  </a:cxnLst>
                  <a:rect l="0" t="0" r="r" b="b"/>
                  <a:pathLst>
                    <a:path w="83" h="94">
                      <a:moveTo>
                        <a:pt x="11" y="23"/>
                      </a:moveTo>
                      <a:lnTo>
                        <a:pt x="11" y="24"/>
                      </a:lnTo>
                      <a:lnTo>
                        <a:pt x="11" y="26"/>
                      </a:lnTo>
                      <a:lnTo>
                        <a:pt x="12" y="26"/>
                      </a:lnTo>
                      <a:lnTo>
                        <a:pt x="12" y="28"/>
                      </a:lnTo>
                      <a:lnTo>
                        <a:pt x="12" y="29"/>
                      </a:lnTo>
                      <a:lnTo>
                        <a:pt x="12" y="31"/>
                      </a:lnTo>
                      <a:lnTo>
                        <a:pt x="14" y="31"/>
                      </a:lnTo>
                      <a:lnTo>
                        <a:pt x="14" y="33"/>
                      </a:lnTo>
                      <a:lnTo>
                        <a:pt x="14" y="35"/>
                      </a:lnTo>
                      <a:lnTo>
                        <a:pt x="14" y="36"/>
                      </a:lnTo>
                      <a:lnTo>
                        <a:pt x="15" y="37"/>
                      </a:lnTo>
                      <a:lnTo>
                        <a:pt x="15" y="39"/>
                      </a:lnTo>
                      <a:lnTo>
                        <a:pt x="16" y="39"/>
                      </a:lnTo>
                      <a:lnTo>
                        <a:pt x="16" y="40"/>
                      </a:lnTo>
                      <a:lnTo>
                        <a:pt x="16" y="41"/>
                      </a:lnTo>
                      <a:lnTo>
                        <a:pt x="17" y="41"/>
                      </a:lnTo>
                      <a:lnTo>
                        <a:pt x="19" y="41"/>
                      </a:lnTo>
                      <a:lnTo>
                        <a:pt x="19" y="43"/>
                      </a:lnTo>
                      <a:lnTo>
                        <a:pt x="20" y="43"/>
                      </a:lnTo>
                      <a:lnTo>
                        <a:pt x="20" y="45"/>
                      </a:lnTo>
                      <a:lnTo>
                        <a:pt x="22" y="45"/>
                      </a:lnTo>
                      <a:lnTo>
                        <a:pt x="22" y="46"/>
                      </a:lnTo>
                      <a:lnTo>
                        <a:pt x="23" y="46"/>
                      </a:lnTo>
                      <a:lnTo>
                        <a:pt x="25" y="46"/>
                      </a:lnTo>
                      <a:lnTo>
                        <a:pt x="26" y="46"/>
                      </a:lnTo>
                      <a:lnTo>
                        <a:pt x="26" y="47"/>
                      </a:lnTo>
                      <a:lnTo>
                        <a:pt x="26" y="49"/>
                      </a:lnTo>
                      <a:lnTo>
                        <a:pt x="28" y="49"/>
                      </a:lnTo>
                      <a:lnTo>
                        <a:pt x="28" y="51"/>
                      </a:lnTo>
                      <a:lnTo>
                        <a:pt x="30" y="51"/>
                      </a:lnTo>
                      <a:lnTo>
                        <a:pt x="30" y="52"/>
                      </a:lnTo>
                      <a:lnTo>
                        <a:pt x="31" y="52"/>
                      </a:lnTo>
                      <a:lnTo>
                        <a:pt x="31" y="53"/>
                      </a:lnTo>
                      <a:lnTo>
                        <a:pt x="31" y="53"/>
                      </a:lnTo>
                      <a:lnTo>
                        <a:pt x="31" y="55"/>
                      </a:lnTo>
                      <a:lnTo>
                        <a:pt x="33" y="55"/>
                      </a:lnTo>
                      <a:lnTo>
                        <a:pt x="33" y="57"/>
                      </a:lnTo>
                      <a:lnTo>
                        <a:pt x="35" y="57"/>
                      </a:lnTo>
                      <a:lnTo>
                        <a:pt x="36" y="57"/>
                      </a:lnTo>
                      <a:lnTo>
                        <a:pt x="36" y="58"/>
                      </a:lnTo>
                      <a:lnTo>
                        <a:pt x="37" y="58"/>
                      </a:lnTo>
                      <a:lnTo>
                        <a:pt x="37" y="59"/>
                      </a:lnTo>
                      <a:lnTo>
                        <a:pt x="39" y="59"/>
                      </a:lnTo>
                      <a:lnTo>
                        <a:pt x="39" y="61"/>
                      </a:lnTo>
                      <a:lnTo>
                        <a:pt x="40" y="61"/>
                      </a:lnTo>
                      <a:lnTo>
                        <a:pt x="41" y="61"/>
                      </a:lnTo>
                      <a:lnTo>
                        <a:pt x="41" y="63"/>
                      </a:lnTo>
                      <a:lnTo>
                        <a:pt x="43" y="63"/>
                      </a:lnTo>
                      <a:lnTo>
                        <a:pt x="45" y="63"/>
                      </a:lnTo>
                      <a:lnTo>
                        <a:pt x="45" y="64"/>
                      </a:lnTo>
                      <a:lnTo>
                        <a:pt x="46" y="64"/>
                      </a:lnTo>
                      <a:lnTo>
                        <a:pt x="48" y="64"/>
                      </a:lnTo>
                      <a:lnTo>
                        <a:pt x="48" y="65"/>
                      </a:lnTo>
                      <a:lnTo>
                        <a:pt x="48" y="66"/>
                      </a:lnTo>
                      <a:lnTo>
                        <a:pt x="50" y="66"/>
                      </a:lnTo>
                      <a:lnTo>
                        <a:pt x="50" y="68"/>
                      </a:lnTo>
                      <a:lnTo>
                        <a:pt x="51" y="68"/>
                      </a:lnTo>
                      <a:lnTo>
                        <a:pt x="53" y="68"/>
                      </a:lnTo>
                      <a:lnTo>
                        <a:pt x="53" y="70"/>
                      </a:lnTo>
                      <a:lnTo>
                        <a:pt x="54" y="70"/>
                      </a:lnTo>
                      <a:lnTo>
                        <a:pt x="56" y="70"/>
                      </a:lnTo>
                      <a:lnTo>
                        <a:pt x="56" y="70"/>
                      </a:lnTo>
                      <a:lnTo>
                        <a:pt x="57" y="70"/>
                      </a:lnTo>
                      <a:lnTo>
                        <a:pt x="59" y="70"/>
                      </a:lnTo>
                      <a:lnTo>
                        <a:pt x="59" y="72"/>
                      </a:lnTo>
                      <a:lnTo>
                        <a:pt x="60" y="72"/>
                      </a:lnTo>
                      <a:lnTo>
                        <a:pt x="62" y="72"/>
                      </a:lnTo>
                      <a:lnTo>
                        <a:pt x="63" y="72"/>
                      </a:lnTo>
                      <a:lnTo>
                        <a:pt x="65" y="72"/>
                      </a:lnTo>
                      <a:lnTo>
                        <a:pt x="67" y="72"/>
                      </a:lnTo>
                      <a:lnTo>
                        <a:pt x="68" y="72"/>
                      </a:lnTo>
                      <a:lnTo>
                        <a:pt x="71" y="72"/>
                      </a:lnTo>
                      <a:lnTo>
                        <a:pt x="72" y="72"/>
                      </a:lnTo>
                      <a:lnTo>
                        <a:pt x="74" y="72"/>
                      </a:lnTo>
                      <a:lnTo>
                        <a:pt x="76" y="72"/>
                      </a:lnTo>
                      <a:lnTo>
                        <a:pt x="78" y="72"/>
                      </a:lnTo>
                      <a:lnTo>
                        <a:pt x="80" y="72"/>
                      </a:lnTo>
                      <a:lnTo>
                        <a:pt x="82" y="72"/>
                      </a:lnTo>
                      <a:lnTo>
                        <a:pt x="80" y="74"/>
                      </a:lnTo>
                      <a:lnTo>
                        <a:pt x="78" y="74"/>
                      </a:lnTo>
                      <a:lnTo>
                        <a:pt x="77" y="76"/>
                      </a:lnTo>
                      <a:lnTo>
                        <a:pt x="75" y="76"/>
                      </a:lnTo>
                      <a:lnTo>
                        <a:pt x="73" y="76"/>
                      </a:lnTo>
                      <a:lnTo>
                        <a:pt x="72" y="76"/>
                      </a:lnTo>
                      <a:lnTo>
                        <a:pt x="70" y="76"/>
                      </a:lnTo>
                      <a:lnTo>
                        <a:pt x="68" y="76"/>
                      </a:lnTo>
                      <a:lnTo>
                        <a:pt x="67" y="76"/>
                      </a:lnTo>
                      <a:lnTo>
                        <a:pt x="65" y="76"/>
                      </a:lnTo>
                      <a:lnTo>
                        <a:pt x="63" y="76"/>
                      </a:lnTo>
                      <a:lnTo>
                        <a:pt x="62" y="76"/>
                      </a:lnTo>
                      <a:lnTo>
                        <a:pt x="61" y="76"/>
                      </a:lnTo>
                      <a:lnTo>
                        <a:pt x="59" y="76"/>
                      </a:lnTo>
                      <a:lnTo>
                        <a:pt x="57" y="76"/>
                      </a:lnTo>
                      <a:lnTo>
                        <a:pt x="56" y="76"/>
                      </a:lnTo>
                      <a:lnTo>
                        <a:pt x="54" y="76"/>
                      </a:lnTo>
                      <a:lnTo>
                        <a:pt x="53" y="76"/>
                      </a:lnTo>
                      <a:lnTo>
                        <a:pt x="52" y="76"/>
                      </a:lnTo>
                      <a:lnTo>
                        <a:pt x="51" y="76"/>
                      </a:lnTo>
                      <a:lnTo>
                        <a:pt x="49" y="76"/>
                      </a:lnTo>
                      <a:lnTo>
                        <a:pt x="48" y="76"/>
                      </a:lnTo>
                      <a:lnTo>
                        <a:pt x="46" y="77"/>
                      </a:lnTo>
                      <a:lnTo>
                        <a:pt x="46" y="77"/>
                      </a:lnTo>
                      <a:lnTo>
                        <a:pt x="45" y="77"/>
                      </a:lnTo>
                      <a:lnTo>
                        <a:pt x="43" y="79"/>
                      </a:lnTo>
                      <a:lnTo>
                        <a:pt x="41" y="79"/>
                      </a:lnTo>
                      <a:lnTo>
                        <a:pt x="40" y="81"/>
                      </a:lnTo>
                      <a:lnTo>
                        <a:pt x="40" y="82"/>
                      </a:lnTo>
                      <a:lnTo>
                        <a:pt x="39" y="83"/>
                      </a:lnTo>
                      <a:lnTo>
                        <a:pt x="37" y="85"/>
                      </a:lnTo>
                      <a:lnTo>
                        <a:pt x="37" y="86"/>
                      </a:lnTo>
                      <a:lnTo>
                        <a:pt x="36" y="88"/>
                      </a:lnTo>
                      <a:lnTo>
                        <a:pt x="34" y="89"/>
                      </a:lnTo>
                      <a:lnTo>
                        <a:pt x="34" y="90"/>
                      </a:lnTo>
                      <a:lnTo>
                        <a:pt x="32" y="92"/>
                      </a:lnTo>
                      <a:lnTo>
                        <a:pt x="31" y="93"/>
                      </a:lnTo>
                      <a:lnTo>
                        <a:pt x="25" y="90"/>
                      </a:lnTo>
                      <a:lnTo>
                        <a:pt x="22" y="88"/>
                      </a:lnTo>
                      <a:lnTo>
                        <a:pt x="20" y="86"/>
                      </a:lnTo>
                      <a:lnTo>
                        <a:pt x="18" y="82"/>
                      </a:lnTo>
                      <a:lnTo>
                        <a:pt x="15" y="81"/>
                      </a:lnTo>
                      <a:lnTo>
                        <a:pt x="14" y="79"/>
                      </a:lnTo>
                      <a:lnTo>
                        <a:pt x="13" y="77"/>
                      </a:lnTo>
                      <a:lnTo>
                        <a:pt x="13" y="74"/>
                      </a:lnTo>
                      <a:lnTo>
                        <a:pt x="11" y="72"/>
                      </a:lnTo>
                      <a:lnTo>
                        <a:pt x="10" y="71"/>
                      </a:lnTo>
                      <a:lnTo>
                        <a:pt x="8" y="70"/>
                      </a:lnTo>
                      <a:lnTo>
                        <a:pt x="8" y="67"/>
                      </a:lnTo>
                      <a:lnTo>
                        <a:pt x="6" y="65"/>
                      </a:lnTo>
                      <a:lnTo>
                        <a:pt x="5" y="64"/>
                      </a:lnTo>
                      <a:lnTo>
                        <a:pt x="5" y="62"/>
                      </a:lnTo>
                      <a:lnTo>
                        <a:pt x="3" y="58"/>
                      </a:lnTo>
                      <a:lnTo>
                        <a:pt x="1" y="58"/>
                      </a:lnTo>
                      <a:lnTo>
                        <a:pt x="1" y="55"/>
                      </a:lnTo>
                      <a:lnTo>
                        <a:pt x="0" y="53"/>
                      </a:lnTo>
                      <a:lnTo>
                        <a:pt x="0" y="48"/>
                      </a:lnTo>
                      <a:lnTo>
                        <a:pt x="0" y="45"/>
                      </a:lnTo>
                      <a:lnTo>
                        <a:pt x="0" y="40"/>
                      </a:lnTo>
                      <a:lnTo>
                        <a:pt x="0" y="35"/>
                      </a:lnTo>
                      <a:lnTo>
                        <a:pt x="0" y="29"/>
                      </a:lnTo>
                      <a:lnTo>
                        <a:pt x="0" y="24"/>
                      </a:lnTo>
                      <a:lnTo>
                        <a:pt x="0" y="19"/>
                      </a:lnTo>
                      <a:lnTo>
                        <a:pt x="0" y="14"/>
                      </a:lnTo>
                      <a:lnTo>
                        <a:pt x="0" y="10"/>
                      </a:lnTo>
                      <a:lnTo>
                        <a:pt x="0" y="6"/>
                      </a:lnTo>
                      <a:lnTo>
                        <a:pt x="1" y="4"/>
                      </a:ln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1"/>
                      </a:lnTo>
                      <a:lnTo>
                        <a:pt x="3" y="3"/>
                      </a:lnTo>
                      <a:lnTo>
                        <a:pt x="5" y="4"/>
                      </a:lnTo>
                      <a:lnTo>
                        <a:pt x="5" y="6"/>
                      </a:lnTo>
                      <a:lnTo>
                        <a:pt x="5" y="8"/>
                      </a:lnTo>
                      <a:lnTo>
                        <a:pt x="5" y="11"/>
                      </a:lnTo>
                      <a:lnTo>
                        <a:pt x="7" y="12"/>
                      </a:lnTo>
                      <a:lnTo>
                        <a:pt x="7" y="15"/>
                      </a:lnTo>
                      <a:lnTo>
                        <a:pt x="8" y="17"/>
                      </a:lnTo>
                      <a:lnTo>
                        <a:pt x="8" y="19"/>
                      </a:lnTo>
                      <a:lnTo>
                        <a:pt x="10" y="21"/>
                      </a:lnTo>
                      <a:lnTo>
                        <a:pt x="10" y="22"/>
                      </a:lnTo>
                      <a:lnTo>
                        <a:pt x="10" y="23"/>
                      </a:lnTo>
                      <a:lnTo>
                        <a:pt x="10" y="23"/>
                      </a:lnTo>
                      <a:lnTo>
                        <a:pt x="11" y="23"/>
                      </a:lnTo>
                    </a:path>
                  </a:pathLst>
                </a:custGeom>
                <a:solidFill>
                  <a:srgbClr val="646464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13" name="Freeform 81"/>
                <p:cNvSpPr>
                  <a:spLocks/>
                </p:cNvSpPr>
                <p:nvPr/>
              </p:nvSpPr>
              <p:spPr bwMode="auto">
                <a:xfrm>
                  <a:off x="2469" y="3815"/>
                  <a:ext cx="131" cy="125"/>
                </a:xfrm>
                <a:custGeom>
                  <a:avLst/>
                  <a:gdLst/>
                  <a:ahLst/>
                  <a:cxnLst>
                    <a:cxn ang="0">
                      <a:pos x="19" y="0"/>
                    </a:cxn>
                    <a:cxn ang="0">
                      <a:pos x="19" y="3"/>
                    </a:cxn>
                    <a:cxn ang="0">
                      <a:pos x="21" y="4"/>
                    </a:cxn>
                    <a:cxn ang="0">
                      <a:pos x="21" y="5"/>
                    </a:cxn>
                    <a:cxn ang="0">
                      <a:pos x="23" y="6"/>
                    </a:cxn>
                    <a:cxn ang="0">
                      <a:pos x="24" y="7"/>
                    </a:cxn>
                    <a:cxn ang="0">
                      <a:pos x="26" y="9"/>
                    </a:cxn>
                    <a:cxn ang="0">
                      <a:pos x="29" y="10"/>
                    </a:cxn>
                    <a:cxn ang="0">
                      <a:pos x="32" y="14"/>
                    </a:cxn>
                    <a:cxn ang="0">
                      <a:pos x="38" y="17"/>
                    </a:cxn>
                    <a:cxn ang="0">
                      <a:pos x="43" y="21"/>
                    </a:cxn>
                    <a:cxn ang="0">
                      <a:pos x="49" y="26"/>
                    </a:cxn>
                    <a:cxn ang="0">
                      <a:pos x="54" y="28"/>
                    </a:cxn>
                    <a:cxn ang="0">
                      <a:pos x="58" y="32"/>
                    </a:cxn>
                    <a:cxn ang="0">
                      <a:pos x="63" y="34"/>
                    </a:cxn>
                    <a:cxn ang="0">
                      <a:pos x="66" y="37"/>
                    </a:cxn>
                    <a:cxn ang="0">
                      <a:pos x="71" y="40"/>
                    </a:cxn>
                    <a:cxn ang="0">
                      <a:pos x="76" y="43"/>
                    </a:cxn>
                    <a:cxn ang="0">
                      <a:pos x="81" y="47"/>
                    </a:cxn>
                    <a:cxn ang="0">
                      <a:pos x="86" y="49"/>
                    </a:cxn>
                    <a:cxn ang="0">
                      <a:pos x="90" y="53"/>
                    </a:cxn>
                    <a:cxn ang="0">
                      <a:pos x="95" y="56"/>
                    </a:cxn>
                    <a:cxn ang="0">
                      <a:pos x="98" y="59"/>
                    </a:cxn>
                    <a:cxn ang="0">
                      <a:pos x="100" y="62"/>
                    </a:cxn>
                    <a:cxn ang="0">
                      <a:pos x="103" y="64"/>
                    </a:cxn>
                    <a:cxn ang="0">
                      <a:pos x="106" y="67"/>
                    </a:cxn>
                    <a:cxn ang="0">
                      <a:pos x="109" y="69"/>
                    </a:cxn>
                    <a:cxn ang="0">
                      <a:pos x="112" y="71"/>
                    </a:cxn>
                    <a:cxn ang="0">
                      <a:pos x="114" y="75"/>
                    </a:cxn>
                    <a:cxn ang="0">
                      <a:pos x="117" y="78"/>
                    </a:cxn>
                    <a:cxn ang="0">
                      <a:pos x="119" y="79"/>
                    </a:cxn>
                    <a:cxn ang="0">
                      <a:pos x="120" y="81"/>
                    </a:cxn>
                    <a:cxn ang="0">
                      <a:pos x="121" y="83"/>
                    </a:cxn>
                    <a:cxn ang="0">
                      <a:pos x="122" y="86"/>
                    </a:cxn>
                    <a:cxn ang="0">
                      <a:pos x="124" y="87"/>
                    </a:cxn>
                    <a:cxn ang="0">
                      <a:pos x="125" y="90"/>
                    </a:cxn>
                    <a:cxn ang="0">
                      <a:pos x="127" y="92"/>
                    </a:cxn>
                    <a:cxn ang="0">
                      <a:pos x="128" y="92"/>
                    </a:cxn>
                    <a:cxn ang="0">
                      <a:pos x="130" y="93"/>
                    </a:cxn>
                    <a:cxn ang="0">
                      <a:pos x="130" y="96"/>
                    </a:cxn>
                    <a:cxn ang="0">
                      <a:pos x="129" y="98"/>
                    </a:cxn>
                    <a:cxn ang="0">
                      <a:pos x="127" y="102"/>
                    </a:cxn>
                    <a:cxn ang="0">
                      <a:pos x="127" y="105"/>
                    </a:cxn>
                    <a:cxn ang="0">
                      <a:pos x="125" y="108"/>
                    </a:cxn>
                    <a:cxn ang="0">
                      <a:pos x="125" y="110"/>
                    </a:cxn>
                    <a:cxn ang="0">
                      <a:pos x="124" y="114"/>
                    </a:cxn>
                    <a:cxn ang="0">
                      <a:pos x="124" y="117"/>
                    </a:cxn>
                    <a:cxn ang="0">
                      <a:pos x="117" y="122"/>
                    </a:cxn>
                    <a:cxn ang="0">
                      <a:pos x="102" y="124"/>
                    </a:cxn>
                    <a:cxn ang="0">
                      <a:pos x="82" y="119"/>
                    </a:cxn>
                    <a:cxn ang="0">
                      <a:pos x="63" y="110"/>
                    </a:cxn>
                    <a:cxn ang="0">
                      <a:pos x="43" y="97"/>
                    </a:cxn>
                    <a:cxn ang="0">
                      <a:pos x="24" y="81"/>
                    </a:cxn>
                    <a:cxn ang="0">
                      <a:pos x="10" y="65"/>
                    </a:cxn>
                    <a:cxn ang="0">
                      <a:pos x="1" y="48"/>
                    </a:cxn>
                    <a:cxn ang="0">
                      <a:pos x="0" y="38"/>
                    </a:cxn>
                    <a:cxn ang="0">
                      <a:pos x="0" y="35"/>
                    </a:cxn>
                    <a:cxn ang="0">
                      <a:pos x="2" y="29"/>
                    </a:cxn>
                    <a:cxn ang="0">
                      <a:pos x="5" y="22"/>
                    </a:cxn>
                    <a:cxn ang="0">
                      <a:pos x="9" y="17"/>
                    </a:cxn>
                    <a:cxn ang="0">
                      <a:pos x="12" y="12"/>
                    </a:cxn>
                    <a:cxn ang="0">
                      <a:pos x="15" y="7"/>
                    </a:cxn>
                    <a:cxn ang="0">
                      <a:pos x="17" y="2"/>
                    </a:cxn>
                  </a:cxnLst>
                  <a:rect l="0" t="0" r="r" b="b"/>
                  <a:pathLst>
                    <a:path w="131" h="125">
                      <a:moveTo>
                        <a:pt x="19" y="0"/>
                      </a:moveTo>
                      <a:lnTo>
                        <a:pt x="19" y="0"/>
                      </a:lnTo>
                      <a:lnTo>
                        <a:pt x="19" y="1"/>
                      </a:lnTo>
                      <a:lnTo>
                        <a:pt x="19" y="3"/>
                      </a:lnTo>
                      <a:lnTo>
                        <a:pt x="21" y="3"/>
                      </a:lnTo>
                      <a:lnTo>
                        <a:pt x="21" y="4"/>
                      </a:lnTo>
                      <a:lnTo>
                        <a:pt x="21" y="4"/>
                      </a:lnTo>
                      <a:lnTo>
                        <a:pt x="21" y="5"/>
                      </a:lnTo>
                      <a:lnTo>
                        <a:pt x="21" y="6"/>
                      </a:lnTo>
                      <a:lnTo>
                        <a:pt x="23" y="6"/>
                      </a:lnTo>
                      <a:lnTo>
                        <a:pt x="23" y="7"/>
                      </a:lnTo>
                      <a:lnTo>
                        <a:pt x="24" y="7"/>
                      </a:lnTo>
                      <a:lnTo>
                        <a:pt x="25" y="7"/>
                      </a:lnTo>
                      <a:lnTo>
                        <a:pt x="26" y="9"/>
                      </a:lnTo>
                      <a:lnTo>
                        <a:pt x="27" y="9"/>
                      </a:lnTo>
                      <a:lnTo>
                        <a:pt x="29" y="10"/>
                      </a:lnTo>
                      <a:lnTo>
                        <a:pt x="32" y="11"/>
                      </a:lnTo>
                      <a:lnTo>
                        <a:pt x="32" y="14"/>
                      </a:lnTo>
                      <a:lnTo>
                        <a:pt x="36" y="16"/>
                      </a:lnTo>
                      <a:lnTo>
                        <a:pt x="38" y="17"/>
                      </a:lnTo>
                      <a:lnTo>
                        <a:pt x="41" y="19"/>
                      </a:lnTo>
                      <a:lnTo>
                        <a:pt x="43" y="21"/>
                      </a:lnTo>
                      <a:lnTo>
                        <a:pt x="46" y="23"/>
                      </a:lnTo>
                      <a:lnTo>
                        <a:pt x="49" y="26"/>
                      </a:lnTo>
                      <a:lnTo>
                        <a:pt x="52" y="27"/>
                      </a:lnTo>
                      <a:lnTo>
                        <a:pt x="54" y="28"/>
                      </a:lnTo>
                      <a:lnTo>
                        <a:pt x="56" y="30"/>
                      </a:lnTo>
                      <a:lnTo>
                        <a:pt x="58" y="32"/>
                      </a:lnTo>
                      <a:lnTo>
                        <a:pt x="61" y="32"/>
                      </a:lnTo>
                      <a:lnTo>
                        <a:pt x="63" y="34"/>
                      </a:lnTo>
                      <a:lnTo>
                        <a:pt x="65" y="36"/>
                      </a:lnTo>
                      <a:lnTo>
                        <a:pt x="66" y="37"/>
                      </a:lnTo>
                      <a:lnTo>
                        <a:pt x="70" y="38"/>
                      </a:lnTo>
                      <a:lnTo>
                        <a:pt x="71" y="40"/>
                      </a:lnTo>
                      <a:lnTo>
                        <a:pt x="74" y="42"/>
                      </a:lnTo>
                      <a:lnTo>
                        <a:pt x="76" y="43"/>
                      </a:lnTo>
                      <a:lnTo>
                        <a:pt x="79" y="45"/>
                      </a:lnTo>
                      <a:lnTo>
                        <a:pt x="81" y="47"/>
                      </a:lnTo>
                      <a:lnTo>
                        <a:pt x="84" y="48"/>
                      </a:lnTo>
                      <a:lnTo>
                        <a:pt x="86" y="49"/>
                      </a:lnTo>
                      <a:lnTo>
                        <a:pt x="89" y="51"/>
                      </a:lnTo>
                      <a:lnTo>
                        <a:pt x="90" y="53"/>
                      </a:lnTo>
                      <a:lnTo>
                        <a:pt x="93" y="54"/>
                      </a:lnTo>
                      <a:lnTo>
                        <a:pt x="95" y="56"/>
                      </a:lnTo>
                      <a:lnTo>
                        <a:pt x="98" y="57"/>
                      </a:lnTo>
                      <a:lnTo>
                        <a:pt x="98" y="59"/>
                      </a:lnTo>
                      <a:lnTo>
                        <a:pt x="98" y="60"/>
                      </a:lnTo>
                      <a:lnTo>
                        <a:pt x="100" y="62"/>
                      </a:lnTo>
                      <a:lnTo>
                        <a:pt x="102" y="62"/>
                      </a:lnTo>
                      <a:lnTo>
                        <a:pt x="103" y="64"/>
                      </a:lnTo>
                      <a:lnTo>
                        <a:pt x="104" y="65"/>
                      </a:lnTo>
                      <a:lnTo>
                        <a:pt x="106" y="67"/>
                      </a:lnTo>
                      <a:lnTo>
                        <a:pt x="108" y="67"/>
                      </a:lnTo>
                      <a:lnTo>
                        <a:pt x="109" y="69"/>
                      </a:lnTo>
                      <a:lnTo>
                        <a:pt x="110" y="70"/>
                      </a:lnTo>
                      <a:lnTo>
                        <a:pt x="112" y="71"/>
                      </a:lnTo>
                      <a:lnTo>
                        <a:pt x="114" y="73"/>
                      </a:lnTo>
                      <a:lnTo>
                        <a:pt x="114" y="75"/>
                      </a:lnTo>
                      <a:lnTo>
                        <a:pt x="115" y="76"/>
                      </a:lnTo>
                      <a:lnTo>
                        <a:pt x="117" y="78"/>
                      </a:lnTo>
                      <a:lnTo>
                        <a:pt x="119" y="78"/>
                      </a:lnTo>
                      <a:lnTo>
                        <a:pt x="119" y="79"/>
                      </a:lnTo>
                      <a:lnTo>
                        <a:pt x="120" y="80"/>
                      </a:lnTo>
                      <a:lnTo>
                        <a:pt x="120" y="81"/>
                      </a:lnTo>
                      <a:lnTo>
                        <a:pt x="121" y="81"/>
                      </a:lnTo>
                      <a:lnTo>
                        <a:pt x="121" y="83"/>
                      </a:lnTo>
                      <a:lnTo>
                        <a:pt x="122" y="84"/>
                      </a:lnTo>
                      <a:lnTo>
                        <a:pt x="122" y="86"/>
                      </a:lnTo>
                      <a:lnTo>
                        <a:pt x="124" y="86"/>
                      </a:lnTo>
                      <a:lnTo>
                        <a:pt x="124" y="87"/>
                      </a:lnTo>
                      <a:lnTo>
                        <a:pt x="125" y="88"/>
                      </a:lnTo>
                      <a:lnTo>
                        <a:pt x="125" y="90"/>
                      </a:lnTo>
                      <a:lnTo>
                        <a:pt x="127" y="90"/>
                      </a:lnTo>
                      <a:lnTo>
                        <a:pt x="127" y="92"/>
                      </a:lnTo>
                      <a:lnTo>
                        <a:pt x="128" y="92"/>
                      </a:lnTo>
                      <a:lnTo>
                        <a:pt x="128" y="92"/>
                      </a:lnTo>
                      <a:lnTo>
                        <a:pt x="130" y="92"/>
                      </a:lnTo>
                      <a:lnTo>
                        <a:pt x="130" y="93"/>
                      </a:lnTo>
                      <a:lnTo>
                        <a:pt x="130" y="94"/>
                      </a:lnTo>
                      <a:lnTo>
                        <a:pt x="130" y="96"/>
                      </a:lnTo>
                      <a:lnTo>
                        <a:pt x="129" y="97"/>
                      </a:lnTo>
                      <a:lnTo>
                        <a:pt x="129" y="98"/>
                      </a:lnTo>
                      <a:lnTo>
                        <a:pt x="129" y="100"/>
                      </a:lnTo>
                      <a:lnTo>
                        <a:pt x="127" y="102"/>
                      </a:lnTo>
                      <a:lnTo>
                        <a:pt x="127" y="103"/>
                      </a:lnTo>
                      <a:lnTo>
                        <a:pt x="127" y="105"/>
                      </a:lnTo>
                      <a:lnTo>
                        <a:pt x="125" y="107"/>
                      </a:lnTo>
                      <a:lnTo>
                        <a:pt x="125" y="108"/>
                      </a:lnTo>
                      <a:lnTo>
                        <a:pt x="125" y="109"/>
                      </a:lnTo>
                      <a:lnTo>
                        <a:pt x="125" y="110"/>
                      </a:lnTo>
                      <a:lnTo>
                        <a:pt x="125" y="112"/>
                      </a:lnTo>
                      <a:lnTo>
                        <a:pt x="124" y="114"/>
                      </a:lnTo>
                      <a:lnTo>
                        <a:pt x="124" y="115"/>
                      </a:lnTo>
                      <a:lnTo>
                        <a:pt x="124" y="117"/>
                      </a:lnTo>
                      <a:lnTo>
                        <a:pt x="124" y="119"/>
                      </a:lnTo>
                      <a:lnTo>
                        <a:pt x="117" y="122"/>
                      </a:lnTo>
                      <a:lnTo>
                        <a:pt x="110" y="124"/>
                      </a:lnTo>
                      <a:lnTo>
                        <a:pt x="102" y="124"/>
                      </a:lnTo>
                      <a:lnTo>
                        <a:pt x="93" y="122"/>
                      </a:lnTo>
                      <a:lnTo>
                        <a:pt x="82" y="119"/>
                      </a:lnTo>
                      <a:lnTo>
                        <a:pt x="73" y="115"/>
                      </a:lnTo>
                      <a:lnTo>
                        <a:pt x="63" y="110"/>
                      </a:lnTo>
                      <a:lnTo>
                        <a:pt x="53" y="103"/>
                      </a:lnTo>
                      <a:lnTo>
                        <a:pt x="43" y="97"/>
                      </a:lnTo>
                      <a:lnTo>
                        <a:pt x="33" y="90"/>
                      </a:lnTo>
                      <a:lnTo>
                        <a:pt x="24" y="81"/>
                      </a:lnTo>
                      <a:lnTo>
                        <a:pt x="17" y="73"/>
                      </a:lnTo>
                      <a:lnTo>
                        <a:pt x="10" y="65"/>
                      </a:lnTo>
                      <a:lnTo>
                        <a:pt x="5" y="56"/>
                      </a:lnTo>
                      <a:lnTo>
                        <a:pt x="1" y="48"/>
                      </a:lnTo>
                      <a:lnTo>
                        <a:pt x="0" y="39"/>
                      </a:lnTo>
                      <a:lnTo>
                        <a:pt x="0" y="38"/>
                      </a:lnTo>
                      <a:lnTo>
                        <a:pt x="0" y="37"/>
                      </a:lnTo>
                      <a:lnTo>
                        <a:pt x="0" y="35"/>
                      </a:lnTo>
                      <a:lnTo>
                        <a:pt x="1" y="32"/>
                      </a:lnTo>
                      <a:lnTo>
                        <a:pt x="2" y="29"/>
                      </a:lnTo>
                      <a:lnTo>
                        <a:pt x="4" y="26"/>
                      </a:lnTo>
                      <a:lnTo>
                        <a:pt x="5" y="22"/>
                      </a:lnTo>
                      <a:lnTo>
                        <a:pt x="7" y="20"/>
                      </a:lnTo>
                      <a:lnTo>
                        <a:pt x="9" y="17"/>
                      </a:lnTo>
                      <a:lnTo>
                        <a:pt x="10" y="14"/>
                      </a:lnTo>
                      <a:lnTo>
                        <a:pt x="12" y="12"/>
                      </a:lnTo>
                      <a:lnTo>
                        <a:pt x="14" y="9"/>
                      </a:lnTo>
                      <a:lnTo>
                        <a:pt x="15" y="7"/>
                      </a:lnTo>
                      <a:lnTo>
                        <a:pt x="16" y="4"/>
                      </a:lnTo>
                      <a:lnTo>
                        <a:pt x="17" y="2"/>
                      </a:lnTo>
                      <a:lnTo>
                        <a:pt x="19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8F8F8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14" name="Freeform 82"/>
                <p:cNvSpPr>
                  <a:spLocks/>
                </p:cNvSpPr>
                <p:nvPr/>
              </p:nvSpPr>
              <p:spPr bwMode="auto">
                <a:xfrm>
                  <a:off x="2678" y="4127"/>
                  <a:ext cx="62" cy="81"/>
                </a:xfrm>
                <a:custGeom>
                  <a:avLst/>
                  <a:gdLst/>
                  <a:ahLst/>
                  <a:cxnLst>
                    <a:cxn ang="0">
                      <a:pos x="27" y="0"/>
                    </a:cxn>
                    <a:cxn ang="0">
                      <a:pos x="32" y="17"/>
                    </a:cxn>
                    <a:cxn ang="0">
                      <a:pos x="36" y="27"/>
                    </a:cxn>
                    <a:cxn ang="0">
                      <a:pos x="42" y="41"/>
                    </a:cxn>
                    <a:cxn ang="0">
                      <a:pos x="50" y="54"/>
                    </a:cxn>
                    <a:cxn ang="0">
                      <a:pos x="59" y="62"/>
                    </a:cxn>
                    <a:cxn ang="0">
                      <a:pos x="61" y="66"/>
                    </a:cxn>
                    <a:cxn ang="0">
                      <a:pos x="61" y="77"/>
                    </a:cxn>
                    <a:cxn ang="0">
                      <a:pos x="28" y="80"/>
                    </a:cxn>
                    <a:cxn ang="0">
                      <a:pos x="0" y="24"/>
                    </a:cxn>
                    <a:cxn ang="0">
                      <a:pos x="14" y="8"/>
                    </a:cxn>
                    <a:cxn ang="0">
                      <a:pos x="27" y="0"/>
                    </a:cxn>
                  </a:cxnLst>
                  <a:rect l="0" t="0" r="r" b="b"/>
                  <a:pathLst>
                    <a:path w="62" h="81">
                      <a:moveTo>
                        <a:pt x="27" y="0"/>
                      </a:moveTo>
                      <a:lnTo>
                        <a:pt x="32" y="17"/>
                      </a:lnTo>
                      <a:lnTo>
                        <a:pt x="36" y="27"/>
                      </a:lnTo>
                      <a:lnTo>
                        <a:pt x="42" y="41"/>
                      </a:lnTo>
                      <a:lnTo>
                        <a:pt x="50" y="54"/>
                      </a:lnTo>
                      <a:lnTo>
                        <a:pt x="59" y="62"/>
                      </a:lnTo>
                      <a:lnTo>
                        <a:pt x="61" y="66"/>
                      </a:lnTo>
                      <a:lnTo>
                        <a:pt x="61" y="77"/>
                      </a:lnTo>
                      <a:lnTo>
                        <a:pt x="28" y="80"/>
                      </a:lnTo>
                      <a:lnTo>
                        <a:pt x="0" y="24"/>
                      </a:lnTo>
                      <a:lnTo>
                        <a:pt x="14" y="8"/>
                      </a:lnTo>
                      <a:lnTo>
                        <a:pt x="27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8F8F8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15" name="Freeform 83"/>
                <p:cNvSpPr>
                  <a:spLocks/>
                </p:cNvSpPr>
                <p:nvPr/>
              </p:nvSpPr>
              <p:spPr bwMode="auto">
                <a:xfrm>
                  <a:off x="2375" y="3836"/>
                  <a:ext cx="343" cy="375"/>
                </a:xfrm>
                <a:custGeom>
                  <a:avLst/>
                  <a:gdLst/>
                  <a:ahLst/>
                  <a:cxnLst>
                    <a:cxn ang="0">
                      <a:pos x="230" y="114"/>
                    </a:cxn>
                    <a:cxn ang="0">
                      <a:pos x="225" y="100"/>
                    </a:cxn>
                    <a:cxn ang="0">
                      <a:pos x="219" y="93"/>
                    </a:cxn>
                    <a:cxn ang="0">
                      <a:pos x="192" y="70"/>
                    </a:cxn>
                    <a:cxn ang="0">
                      <a:pos x="167" y="45"/>
                    </a:cxn>
                    <a:cxn ang="0">
                      <a:pos x="129" y="16"/>
                    </a:cxn>
                    <a:cxn ang="0">
                      <a:pos x="101" y="0"/>
                    </a:cxn>
                    <a:cxn ang="0">
                      <a:pos x="88" y="21"/>
                    </a:cxn>
                    <a:cxn ang="0">
                      <a:pos x="62" y="48"/>
                    </a:cxn>
                    <a:cxn ang="0">
                      <a:pos x="46" y="70"/>
                    </a:cxn>
                    <a:cxn ang="0">
                      <a:pos x="33" y="93"/>
                    </a:cxn>
                    <a:cxn ang="0">
                      <a:pos x="23" y="113"/>
                    </a:cxn>
                    <a:cxn ang="0">
                      <a:pos x="15" y="141"/>
                    </a:cxn>
                    <a:cxn ang="0">
                      <a:pos x="8" y="175"/>
                    </a:cxn>
                    <a:cxn ang="0">
                      <a:pos x="3" y="210"/>
                    </a:cxn>
                    <a:cxn ang="0">
                      <a:pos x="0" y="279"/>
                    </a:cxn>
                    <a:cxn ang="0">
                      <a:pos x="0" y="325"/>
                    </a:cxn>
                    <a:cxn ang="0">
                      <a:pos x="0" y="371"/>
                    </a:cxn>
                    <a:cxn ang="0">
                      <a:pos x="342" y="374"/>
                    </a:cxn>
                    <a:cxn ang="0">
                      <a:pos x="332" y="359"/>
                    </a:cxn>
                    <a:cxn ang="0">
                      <a:pos x="326" y="348"/>
                    </a:cxn>
                    <a:cxn ang="0">
                      <a:pos x="316" y="329"/>
                    </a:cxn>
                    <a:cxn ang="0">
                      <a:pos x="312" y="306"/>
                    </a:cxn>
                    <a:cxn ang="0">
                      <a:pos x="301" y="276"/>
                    </a:cxn>
                    <a:cxn ang="0">
                      <a:pos x="292" y="237"/>
                    </a:cxn>
                    <a:cxn ang="0">
                      <a:pos x="282" y="200"/>
                    </a:cxn>
                    <a:cxn ang="0">
                      <a:pos x="273" y="175"/>
                    </a:cxn>
                    <a:cxn ang="0">
                      <a:pos x="262" y="154"/>
                    </a:cxn>
                    <a:cxn ang="0">
                      <a:pos x="247" y="140"/>
                    </a:cxn>
                    <a:cxn ang="0">
                      <a:pos x="237" y="128"/>
                    </a:cxn>
                    <a:cxn ang="0">
                      <a:pos x="230" y="114"/>
                    </a:cxn>
                  </a:cxnLst>
                  <a:rect l="0" t="0" r="r" b="b"/>
                  <a:pathLst>
                    <a:path w="343" h="375">
                      <a:moveTo>
                        <a:pt x="230" y="114"/>
                      </a:moveTo>
                      <a:lnTo>
                        <a:pt x="225" y="100"/>
                      </a:lnTo>
                      <a:lnTo>
                        <a:pt x="219" y="93"/>
                      </a:lnTo>
                      <a:lnTo>
                        <a:pt x="192" y="70"/>
                      </a:lnTo>
                      <a:lnTo>
                        <a:pt x="167" y="45"/>
                      </a:lnTo>
                      <a:lnTo>
                        <a:pt x="129" y="16"/>
                      </a:lnTo>
                      <a:lnTo>
                        <a:pt x="101" y="0"/>
                      </a:lnTo>
                      <a:lnTo>
                        <a:pt x="88" y="21"/>
                      </a:lnTo>
                      <a:lnTo>
                        <a:pt x="62" y="48"/>
                      </a:lnTo>
                      <a:lnTo>
                        <a:pt x="46" y="70"/>
                      </a:lnTo>
                      <a:lnTo>
                        <a:pt x="33" y="93"/>
                      </a:lnTo>
                      <a:lnTo>
                        <a:pt x="23" y="113"/>
                      </a:lnTo>
                      <a:lnTo>
                        <a:pt x="15" y="141"/>
                      </a:lnTo>
                      <a:lnTo>
                        <a:pt x="8" y="175"/>
                      </a:lnTo>
                      <a:lnTo>
                        <a:pt x="3" y="210"/>
                      </a:lnTo>
                      <a:lnTo>
                        <a:pt x="0" y="279"/>
                      </a:lnTo>
                      <a:lnTo>
                        <a:pt x="0" y="325"/>
                      </a:lnTo>
                      <a:lnTo>
                        <a:pt x="0" y="371"/>
                      </a:lnTo>
                      <a:lnTo>
                        <a:pt x="342" y="374"/>
                      </a:lnTo>
                      <a:lnTo>
                        <a:pt x="332" y="359"/>
                      </a:lnTo>
                      <a:lnTo>
                        <a:pt x="326" y="348"/>
                      </a:lnTo>
                      <a:lnTo>
                        <a:pt x="316" y="329"/>
                      </a:lnTo>
                      <a:lnTo>
                        <a:pt x="312" y="306"/>
                      </a:lnTo>
                      <a:lnTo>
                        <a:pt x="301" y="276"/>
                      </a:lnTo>
                      <a:lnTo>
                        <a:pt x="292" y="237"/>
                      </a:lnTo>
                      <a:lnTo>
                        <a:pt x="282" y="200"/>
                      </a:lnTo>
                      <a:lnTo>
                        <a:pt x="273" y="175"/>
                      </a:lnTo>
                      <a:lnTo>
                        <a:pt x="262" y="154"/>
                      </a:lnTo>
                      <a:lnTo>
                        <a:pt x="247" y="140"/>
                      </a:lnTo>
                      <a:lnTo>
                        <a:pt x="237" y="128"/>
                      </a:lnTo>
                      <a:lnTo>
                        <a:pt x="230" y="114"/>
                      </a:lnTo>
                    </a:path>
                  </a:pathLst>
                </a:custGeom>
                <a:solidFill>
                  <a:srgbClr val="808080"/>
                </a:solidFill>
                <a:ln w="12700" cap="rnd" cmpd="sng">
                  <a:solidFill>
                    <a:srgbClr val="80808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16" name="Freeform 84"/>
                <p:cNvSpPr>
                  <a:spLocks/>
                </p:cNvSpPr>
                <p:nvPr/>
              </p:nvSpPr>
              <p:spPr bwMode="auto">
                <a:xfrm>
                  <a:off x="2749" y="3982"/>
                  <a:ext cx="114" cy="149"/>
                </a:xfrm>
                <a:custGeom>
                  <a:avLst/>
                  <a:gdLst/>
                  <a:ahLst/>
                  <a:cxnLst>
                    <a:cxn ang="0">
                      <a:pos x="14" y="17"/>
                    </a:cxn>
                    <a:cxn ang="0">
                      <a:pos x="15" y="27"/>
                    </a:cxn>
                    <a:cxn ang="0">
                      <a:pos x="14" y="34"/>
                    </a:cxn>
                    <a:cxn ang="0">
                      <a:pos x="14" y="43"/>
                    </a:cxn>
                    <a:cxn ang="0">
                      <a:pos x="11" y="51"/>
                    </a:cxn>
                    <a:cxn ang="0">
                      <a:pos x="11" y="59"/>
                    </a:cxn>
                    <a:cxn ang="0">
                      <a:pos x="11" y="66"/>
                    </a:cxn>
                    <a:cxn ang="0">
                      <a:pos x="14" y="72"/>
                    </a:cxn>
                    <a:cxn ang="0">
                      <a:pos x="22" y="68"/>
                    </a:cxn>
                    <a:cxn ang="0">
                      <a:pos x="30" y="65"/>
                    </a:cxn>
                    <a:cxn ang="0">
                      <a:pos x="39" y="63"/>
                    </a:cxn>
                    <a:cxn ang="0">
                      <a:pos x="47" y="60"/>
                    </a:cxn>
                    <a:cxn ang="0">
                      <a:pos x="55" y="57"/>
                    </a:cxn>
                    <a:cxn ang="0">
                      <a:pos x="63" y="52"/>
                    </a:cxn>
                    <a:cxn ang="0">
                      <a:pos x="70" y="48"/>
                    </a:cxn>
                    <a:cxn ang="0">
                      <a:pos x="78" y="44"/>
                    </a:cxn>
                    <a:cxn ang="0">
                      <a:pos x="88" y="37"/>
                    </a:cxn>
                    <a:cxn ang="0">
                      <a:pos x="96" y="34"/>
                    </a:cxn>
                    <a:cxn ang="0">
                      <a:pos x="106" y="33"/>
                    </a:cxn>
                    <a:cxn ang="0">
                      <a:pos x="109" y="37"/>
                    </a:cxn>
                    <a:cxn ang="0">
                      <a:pos x="113" y="42"/>
                    </a:cxn>
                    <a:cxn ang="0">
                      <a:pos x="104" y="46"/>
                    </a:cxn>
                    <a:cxn ang="0">
                      <a:pos x="93" y="45"/>
                    </a:cxn>
                    <a:cxn ang="0">
                      <a:pos x="84" y="45"/>
                    </a:cxn>
                    <a:cxn ang="0">
                      <a:pos x="75" y="51"/>
                    </a:cxn>
                    <a:cxn ang="0">
                      <a:pos x="67" y="57"/>
                    </a:cxn>
                    <a:cxn ang="0">
                      <a:pos x="60" y="58"/>
                    </a:cxn>
                    <a:cxn ang="0">
                      <a:pos x="51" y="65"/>
                    </a:cxn>
                    <a:cxn ang="0">
                      <a:pos x="46" y="72"/>
                    </a:cxn>
                    <a:cxn ang="0">
                      <a:pos x="40" y="69"/>
                    </a:cxn>
                    <a:cxn ang="0">
                      <a:pos x="36" y="69"/>
                    </a:cxn>
                    <a:cxn ang="0">
                      <a:pos x="32" y="76"/>
                    </a:cxn>
                    <a:cxn ang="0">
                      <a:pos x="26" y="73"/>
                    </a:cxn>
                    <a:cxn ang="0">
                      <a:pos x="18" y="74"/>
                    </a:cxn>
                    <a:cxn ang="0">
                      <a:pos x="15" y="82"/>
                    </a:cxn>
                    <a:cxn ang="0">
                      <a:pos x="17" y="90"/>
                    </a:cxn>
                    <a:cxn ang="0">
                      <a:pos x="19" y="95"/>
                    </a:cxn>
                    <a:cxn ang="0">
                      <a:pos x="19" y="103"/>
                    </a:cxn>
                    <a:cxn ang="0">
                      <a:pos x="19" y="112"/>
                    </a:cxn>
                    <a:cxn ang="0">
                      <a:pos x="17" y="120"/>
                    </a:cxn>
                    <a:cxn ang="0">
                      <a:pos x="14" y="129"/>
                    </a:cxn>
                    <a:cxn ang="0">
                      <a:pos x="8" y="137"/>
                    </a:cxn>
                    <a:cxn ang="0">
                      <a:pos x="2" y="146"/>
                    </a:cxn>
                    <a:cxn ang="0">
                      <a:pos x="2" y="143"/>
                    </a:cxn>
                    <a:cxn ang="0">
                      <a:pos x="8" y="126"/>
                    </a:cxn>
                    <a:cxn ang="0">
                      <a:pos x="14" y="110"/>
                    </a:cxn>
                    <a:cxn ang="0">
                      <a:pos x="11" y="101"/>
                    </a:cxn>
                    <a:cxn ang="0">
                      <a:pos x="7" y="89"/>
                    </a:cxn>
                    <a:cxn ang="0">
                      <a:pos x="4" y="82"/>
                    </a:cxn>
                    <a:cxn ang="0">
                      <a:pos x="0" y="78"/>
                    </a:cxn>
                    <a:cxn ang="0">
                      <a:pos x="2" y="69"/>
                    </a:cxn>
                    <a:cxn ang="0">
                      <a:pos x="5" y="60"/>
                    </a:cxn>
                    <a:cxn ang="0">
                      <a:pos x="8" y="46"/>
                    </a:cxn>
                    <a:cxn ang="0">
                      <a:pos x="9" y="34"/>
                    </a:cxn>
                    <a:cxn ang="0">
                      <a:pos x="8" y="27"/>
                    </a:cxn>
                    <a:cxn ang="0">
                      <a:pos x="6" y="19"/>
                    </a:cxn>
                    <a:cxn ang="0">
                      <a:pos x="5" y="11"/>
                    </a:cxn>
                    <a:cxn ang="0">
                      <a:pos x="5" y="3"/>
                    </a:cxn>
                    <a:cxn ang="0">
                      <a:pos x="5" y="1"/>
                    </a:cxn>
                    <a:cxn ang="0">
                      <a:pos x="9" y="5"/>
                    </a:cxn>
                  </a:cxnLst>
                  <a:rect l="0" t="0" r="r" b="b"/>
                  <a:pathLst>
                    <a:path w="114" h="149">
                      <a:moveTo>
                        <a:pt x="14" y="11"/>
                      </a:moveTo>
                      <a:lnTo>
                        <a:pt x="14" y="12"/>
                      </a:lnTo>
                      <a:lnTo>
                        <a:pt x="14" y="13"/>
                      </a:lnTo>
                      <a:lnTo>
                        <a:pt x="14" y="15"/>
                      </a:lnTo>
                      <a:lnTo>
                        <a:pt x="14" y="16"/>
                      </a:lnTo>
                      <a:lnTo>
                        <a:pt x="14" y="17"/>
                      </a:lnTo>
                      <a:lnTo>
                        <a:pt x="14" y="19"/>
                      </a:lnTo>
                      <a:lnTo>
                        <a:pt x="14" y="21"/>
                      </a:lnTo>
                      <a:lnTo>
                        <a:pt x="15" y="22"/>
                      </a:lnTo>
                      <a:lnTo>
                        <a:pt x="15" y="23"/>
                      </a:lnTo>
                      <a:lnTo>
                        <a:pt x="15" y="25"/>
                      </a:lnTo>
                      <a:lnTo>
                        <a:pt x="15" y="27"/>
                      </a:lnTo>
                      <a:lnTo>
                        <a:pt x="15" y="28"/>
                      </a:lnTo>
                      <a:lnTo>
                        <a:pt x="15" y="29"/>
                      </a:lnTo>
                      <a:lnTo>
                        <a:pt x="15" y="31"/>
                      </a:lnTo>
                      <a:lnTo>
                        <a:pt x="15" y="32"/>
                      </a:lnTo>
                      <a:lnTo>
                        <a:pt x="16" y="32"/>
                      </a:lnTo>
                      <a:lnTo>
                        <a:pt x="14" y="34"/>
                      </a:lnTo>
                      <a:lnTo>
                        <a:pt x="14" y="35"/>
                      </a:lnTo>
                      <a:lnTo>
                        <a:pt x="14" y="37"/>
                      </a:lnTo>
                      <a:lnTo>
                        <a:pt x="14" y="38"/>
                      </a:lnTo>
                      <a:lnTo>
                        <a:pt x="14" y="40"/>
                      </a:lnTo>
                      <a:lnTo>
                        <a:pt x="14" y="41"/>
                      </a:lnTo>
                      <a:lnTo>
                        <a:pt x="14" y="43"/>
                      </a:lnTo>
                      <a:lnTo>
                        <a:pt x="14" y="44"/>
                      </a:lnTo>
                      <a:lnTo>
                        <a:pt x="12" y="45"/>
                      </a:lnTo>
                      <a:lnTo>
                        <a:pt x="12" y="46"/>
                      </a:lnTo>
                      <a:lnTo>
                        <a:pt x="12" y="48"/>
                      </a:lnTo>
                      <a:lnTo>
                        <a:pt x="11" y="50"/>
                      </a:lnTo>
                      <a:lnTo>
                        <a:pt x="11" y="51"/>
                      </a:lnTo>
                      <a:lnTo>
                        <a:pt x="11" y="52"/>
                      </a:lnTo>
                      <a:lnTo>
                        <a:pt x="11" y="54"/>
                      </a:lnTo>
                      <a:lnTo>
                        <a:pt x="11" y="55"/>
                      </a:lnTo>
                      <a:lnTo>
                        <a:pt x="11" y="57"/>
                      </a:lnTo>
                      <a:lnTo>
                        <a:pt x="11" y="58"/>
                      </a:lnTo>
                      <a:lnTo>
                        <a:pt x="11" y="59"/>
                      </a:lnTo>
                      <a:lnTo>
                        <a:pt x="11" y="60"/>
                      </a:lnTo>
                      <a:lnTo>
                        <a:pt x="11" y="62"/>
                      </a:lnTo>
                      <a:lnTo>
                        <a:pt x="11" y="63"/>
                      </a:lnTo>
                      <a:lnTo>
                        <a:pt x="11" y="65"/>
                      </a:lnTo>
                      <a:lnTo>
                        <a:pt x="11" y="66"/>
                      </a:lnTo>
                      <a:lnTo>
                        <a:pt x="11" y="66"/>
                      </a:lnTo>
                      <a:lnTo>
                        <a:pt x="11" y="68"/>
                      </a:lnTo>
                      <a:lnTo>
                        <a:pt x="11" y="69"/>
                      </a:lnTo>
                      <a:lnTo>
                        <a:pt x="12" y="69"/>
                      </a:lnTo>
                      <a:lnTo>
                        <a:pt x="12" y="71"/>
                      </a:lnTo>
                      <a:lnTo>
                        <a:pt x="14" y="71"/>
                      </a:lnTo>
                      <a:lnTo>
                        <a:pt x="14" y="72"/>
                      </a:lnTo>
                      <a:lnTo>
                        <a:pt x="16" y="72"/>
                      </a:lnTo>
                      <a:lnTo>
                        <a:pt x="17" y="72"/>
                      </a:lnTo>
                      <a:lnTo>
                        <a:pt x="18" y="70"/>
                      </a:lnTo>
                      <a:lnTo>
                        <a:pt x="19" y="70"/>
                      </a:lnTo>
                      <a:lnTo>
                        <a:pt x="21" y="68"/>
                      </a:lnTo>
                      <a:lnTo>
                        <a:pt x="22" y="68"/>
                      </a:lnTo>
                      <a:lnTo>
                        <a:pt x="23" y="67"/>
                      </a:lnTo>
                      <a:lnTo>
                        <a:pt x="25" y="67"/>
                      </a:lnTo>
                      <a:lnTo>
                        <a:pt x="26" y="67"/>
                      </a:lnTo>
                      <a:lnTo>
                        <a:pt x="28" y="65"/>
                      </a:lnTo>
                      <a:lnTo>
                        <a:pt x="28" y="65"/>
                      </a:lnTo>
                      <a:lnTo>
                        <a:pt x="30" y="65"/>
                      </a:lnTo>
                      <a:lnTo>
                        <a:pt x="32" y="65"/>
                      </a:lnTo>
                      <a:lnTo>
                        <a:pt x="33" y="63"/>
                      </a:lnTo>
                      <a:lnTo>
                        <a:pt x="34" y="63"/>
                      </a:lnTo>
                      <a:lnTo>
                        <a:pt x="35" y="63"/>
                      </a:lnTo>
                      <a:lnTo>
                        <a:pt x="37" y="63"/>
                      </a:lnTo>
                      <a:lnTo>
                        <a:pt x="39" y="63"/>
                      </a:lnTo>
                      <a:lnTo>
                        <a:pt x="39" y="63"/>
                      </a:lnTo>
                      <a:lnTo>
                        <a:pt x="40" y="63"/>
                      </a:lnTo>
                      <a:lnTo>
                        <a:pt x="42" y="63"/>
                      </a:lnTo>
                      <a:lnTo>
                        <a:pt x="44" y="61"/>
                      </a:lnTo>
                      <a:lnTo>
                        <a:pt x="45" y="61"/>
                      </a:lnTo>
                      <a:lnTo>
                        <a:pt x="47" y="60"/>
                      </a:lnTo>
                      <a:lnTo>
                        <a:pt x="48" y="60"/>
                      </a:lnTo>
                      <a:lnTo>
                        <a:pt x="49" y="58"/>
                      </a:lnTo>
                      <a:lnTo>
                        <a:pt x="50" y="58"/>
                      </a:lnTo>
                      <a:lnTo>
                        <a:pt x="51" y="58"/>
                      </a:lnTo>
                      <a:lnTo>
                        <a:pt x="53" y="58"/>
                      </a:lnTo>
                      <a:lnTo>
                        <a:pt x="55" y="57"/>
                      </a:lnTo>
                      <a:lnTo>
                        <a:pt x="57" y="55"/>
                      </a:lnTo>
                      <a:lnTo>
                        <a:pt x="57" y="55"/>
                      </a:lnTo>
                      <a:lnTo>
                        <a:pt x="58" y="54"/>
                      </a:lnTo>
                      <a:lnTo>
                        <a:pt x="60" y="54"/>
                      </a:lnTo>
                      <a:lnTo>
                        <a:pt x="62" y="52"/>
                      </a:lnTo>
                      <a:lnTo>
                        <a:pt x="63" y="52"/>
                      </a:lnTo>
                      <a:lnTo>
                        <a:pt x="65" y="51"/>
                      </a:lnTo>
                      <a:lnTo>
                        <a:pt x="66" y="51"/>
                      </a:lnTo>
                      <a:lnTo>
                        <a:pt x="66" y="50"/>
                      </a:lnTo>
                      <a:lnTo>
                        <a:pt x="68" y="50"/>
                      </a:lnTo>
                      <a:lnTo>
                        <a:pt x="69" y="48"/>
                      </a:lnTo>
                      <a:lnTo>
                        <a:pt x="70" y="48"/>
                      </a:lnTo>
                      <a:lnTo>
                        <a:pt x="72" y="46"/>
                      </a:lnTo>
                      <a:lnTo>
                        <a:pt x="73" y="45"/>
                      </a:lnTo>
                      <a:lnTo>
                        <a:pt x="74" y="45"/>
                      </a:lnTo>
                      <a:lnTo>
                        <a:pt x="75" y="44"/>
                      </a:lnTo>
                      <a:lnTo>
                        <a:pt x="77" y="44"/>
                      </a:lnTo>
                      <a:lnTo>
                        <a:pt x="78" y="44"/>
                      </a:lnTo>
                      <a:lnTo>
                        <a:pt x="79" y="42"/>
                      </a:lnTo>
                      <a:lnTo>
                        <a:pt x="81" y="42"/>
                      </a:lnTo>
                      <a:lnTo>
                        <a:pt x="83" y="40"/>
                      </a:lnTo>
                      <a:lnTo>
                        <a:pt x="85" y="39"/>
                      </a:lnTo>
                      <a:lnTo>
                        <a:pt x="86" y="39"/>
                      </a:lnTo>
                      <a:lnTo>
                        <a:pt x="88" y="37"/>
                      </a:lnTo>
                      <a:lnTo>
                        <a:pt x="89" y="37"/>
                      </a:lnTo>
                      <a:lnTo>
                        <a:pt x="90" y="36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4" y="34"/>
                      </a:lnTo>
                      <a:lnTo>
                        <a:pt x="96" y="34"/>
                      </a:lnTo>
                      <a:lnTo>
                        <a:pt x="97" y="34"/>
                      </a:lnTo>
                      <a:lnTo>
                        <a:pt x="99" y="34"/>
                      </a:lnTo>
                      <a:lnTo>
                        <a:pt x="101" y="34"/>
                      </a:lnTo>
                      <a:lnTo>
                        <a:pt x="102" y="34"/>
                      </a:lnTo>
                      <a:lnTo>
                        <a:pt x="104" y="34"/>
                      </a:lnTo>
                      <a:lnTo>
                        <a:pt x="106" y="33"/>
                      </a:lnTo>
                      <a:lnTo>
                        <a:pt x="106" y="34"/>
                      </a:lnTo>
                      <a:lnTo>
                        <a:pt x="107" y="34"/>
                      </a:lnTo>
                      <a:lnTo>
                        <a:pt x="107" y="35"/>
                      </a:lnTo>
                      <a:lnTo>
                        <a:pt x="108" y="35"/>
                      </a:lnTo>
                      <a:lnTo>
                        <a:pt x="108" y="37"/>
                      </a:lnTo>
                      <a:lnTo>
                        <a:pt x="109" y="37"/>
                      </a:lnTo>
                      <a:lnTo>
                        <a:pt x="109" y="38"/>
                      </a:lnTo>
                      <a:lnTo>
                        <a:pt x="111" y="38"/>
                      </a:lnTo>
                      <a:lnTo>
                        <a:pt x="111" y="40"/>
                      </a:lnTo>
                      <a:lnTo>
                        <a:pt x="111" y="40"/>
                      </a:lnTo>
                      <a:lnTo>
                        <a:pt x="113" y="40"/>
                      </a:lnTo>
                      <a:lnTo>
                        <a:pt x="113" y="42"/>
                      </a:lnTo>
                      <a:lnTo>
                        <a:pt x="113" y="43"/>
                      </a:lnTo>
                      <a:lnTo>
                        <a:pt x="111" y="45"/>
                      </a:lnTo>
                      <a:lnTo>
                        <a:pt x="109" y="45"/>
                      </a:lnTo>
                      <a:lnTo>
                        <a:pt x="108" y="46"/>
                      </a:lnTo>
                      <a:lnTo>
                        <a:pt x="107" y="46"/>
                      </a:lnTo>
                      <a:lnTo>
                        <a:pt x="104" y="46"/>
                      </a:lnTo>
                      <a:lnTo>
                        <a:pt x="102" y="46"/>
                      </a:lnTo>
                      <a:lnTo>
                        <a:pt x="101" y="46"/>
                      </a:lnTo>
                      <a:lnTo>
                        <a:pt x="99" y="45"/>
                      </a:lnTo>
                      <a:lnTo>
                        <a:pt x="96" y="45"/>
                      </a:lnTo>
                      <a:lnTo>
                        <a:pt x="95" y="45"/>
                      </a:lnTo>
                      <a:lnTo>
                        <a:pt x="93" y="45"/>
                      </a:lnTo>
                      <a:lnTo>
                        <a:pt x="91" y="45"/>
                      </a:lnTo>
                      <a:lnTo>
                        <a:pt x="90" y="45"/>
                      </a:lnTo>
                      <a:lnTo>
                        <a:pt x="89" y="45"/>
                      </a:lnTo>
                      <a:lnTo>
                        <a:pt x="87" y="45"/>
                      </a:lnTo>
                      <a:lnTo>
                        <a:pt x="85" y="44"/>
                      </a:lnTo>
                      <a:lnTo>
                        <a:pt x="84" y="45"/>
                      </a:lnTo>
                      <a:lnTo>
                        <a:pt x="83" y="45"/>
                      </a:lnTo>
                      <a:lnTo>
                        <a:pt x="81" y="47"/>
                      </a:lnTo>
                      <a:lnTo>
                        <a:pt x="80" y="47"/>
                      </a:lnTo>
                      <a:lnTo>
                        <a:pt x="79" y="49"/>
                      </a:lnTo>
                      <a:lnTo>
                        <a:pt x="77" y="50"/>
                      </a:lnTo>
                      <a:lnTo>
                        <a:pt x="75" y="51"/>
                      </a:lnTo>
                      <a:lnTo>
                        <a:pt x="74" y="52"/>
                      </a:lnTo>
                      <a:lnTo>
                        <a:pt x="73" y="53"/>
                      </a:lnTo>
                      <a:lnTo>
                        <a:pt x="71" y="55"/>
                      </a:lnTo>
                      <a:lnTo>
                        <a:pt x="70" y="56"/>
                      </a:lnTo>
                      <a:lnTo>
                        <a:pt x="68" y="57"/>
                      </a:lnTo>
                      <a:lnTo>
                        <a:pt x="67" y="57"/>
                      </a:lnTo>
                      <a:lnTo>
                        <a:pt x="66" y="58"/>
                      </a:lnTo>
                      <a:lnTo>
                        <a:pt x="65" y="58"/>
                      </a:lnTo>
                      <a:lnTo>
                        <a:pt x="63" y="58"/>
                      </a:lnTo>
                      <a:lnTo>
                        <a:pt x="63" y="57"/>
                      </a:lnTo>
                      <a:lnTo>
                        <a:pt x="62" y="58"/>
                      </a:lnTo>
                      <a:lnTo>
                        <a:pt x="60" y="58"/>
                      </a:lnTo>
                      <a:lnTo>
                        <a:pt x="58" y="60"/>
                      </a:lnTo>
                      <a:lnTo>
                        <a:pt x="57" y="61"/>
                      </a:lnTo>
                      <a:lnTo>
                        <a:pt x="56" y="63"/>
                      </a:lnTo>
                      <a:lnTo>
                        <a:pt x="54" y="63"/>
                      </a:lnTo>
                      <a:lnTo>
                        <a:pt x="52" y="65"/>
                      </a:lnTo>
                      <a:lnTo>
                        <a:pt x="51" y="65"/>
                      </a:lnTo>
                      <a:lnTo>
                        <a:pt x="50" y="67"/>
                      </a:lnTo>
                      <a:lnTo>
                        <a:pt x="50" y="68"/>
                      </a:lnTo>
                      <a:lnTo>
                        <a:pt x="50" y="69"/>
                      </a:lnTo>
                      <a:lnTo>
                        <a:pt x="48" y="71"/>
                      </a:lnTo>
                      <a:lnTo>
                        <a:pt x="48" y="72"/>
                      </a:lnTo>
                      <a:lnTo>
                        <a:pt x="46" y="72"/>
                      </a:lnTo>
                      <a:lnTo>
                        <a:pt x="45" y="72"/>
                      </a:lnTo>
                      <a:lnTo>
                        <a:pt x="43" y="72"/>
                      </a:lnTo>
                      <a:lnTo>
                        <a:pt x="43" y="71"/>
                      </a:lnTo>
                      <a:lnTo>
                        <a:pt x="42" y="71"/>
                      </a:lnTo>
                      <a:lnTo>
                        <a:pt x="42" y="69"/>
                      </a:lnTo>
                      <a:lnTo>
                        <a:pt x="40" y="69"/>
                      </a:lnTo>
                      <a:lnTo>
                        <a:pt x="39" y="69"/>
                      </a:lnTo>
                      <a:lnTo>
                        <a:pt x="39" y="68"/>
                      </a:lnTo>
                      <a:lnTo>
                        <a:pt x="38" y="68"/>
                      </a:lnTo>
                      <a:lnTo>
                        <a:pt x="38" y="67"/>
                      </a:lnTo>
                      <a:lnTo>
                        <a:pt x="36" y="68"/>
                      </a:lnTo>
                      <a:lnTo>
                        <a:pt x="36" y="69"/>
                      </a:lnTo>
                      <a:lnTo>
                        <a:pt x="36" y="71"/>
                      </a:lnTo>
                      <a:lnTo>
                        <a:pt x="34" y="73"/>
                      </a:lnTo>
                      <a:lnTo>
                        <a:pt x="34" y="74"/>
                      </a:lnTo>
                      <a:lnTo>
                        <a:pt x="34" y="75"/>
                      </a:lnTo>
                      <a:lnTo>
                        <a:pt x="33" y="76"/>
                      </a:lnTo>
                      <a:lnTo>
                        <a:pt x="32" y="76"/>
                      </a:lnTo>
                      <a:lnTo>
                        <a:pt x="30" y="76"/>
                      </a:lnTo>
                      <a:lnTo>
                        <a:pt x="29" y="76"/>
                      </a:lnTo>
                      <a:lnTo>
                        <a:pt x="29" y="74"/>
                      </a:lnTo>
                      <a:lnTo>
                        <a:pt x="28" y="74"/>
                      </a:lnTo>
                      <a:lnTo>
                        <a:pt x="26" y="74"/>
                      </a:lnTo>
                      <a:lnTo>
                        <a:pt x="26" y="73"/>
                      </a:lnTo>
                      <a:lnTo>
                        <a:pt x="24" y="73"/>
                      </a:lnTo>
                      <a:lnTo>
                        <a:pt x="22" y="73"/>
                      </a:lnTo>
                      <a:lnTo>
                        <a:pt x="22" y="72"/>
                      </a:lnTo>
                      <a:lnTo>
                        <a:pt x="21" y="74"/>
                      </a:lnTo>
                      <a:lnTo>
                        <a:pt x="20" y="74"/>
                      </a:lnTo>
                      <a:lnTo>
                        <a:pt x="18" y="74"/>
                      </a:lnTo>
                      <a:lnTo>
                        <a:pt x="17" y="76"/>
                      </a:lnTo>
                      <a:lnTo>
                        <a:pt x="17" y="77"/>
                      </a:lnTo>
                      <a:lnTo>
                        <a:pt x="16" y="78"/>
                      </a:lnTo>
                      <a:lnTo>
                        <a:pt x="15" y="80"/>
                      </a:lnTo>
                      <a:lnTo>
                        <a:pt x="15" y="80"/>
                      </a:lnTo>
                      <a:lnTo>
                        <a:pt x="15" y="82"/>
                      </a:lnTo>
                      <a:lnTo>
                        <a:pt x="15" y="84"/>
                      </a:lnTo>
                      <a:lnTo>
                        <a:pt x="15" y="85"/>
                      </a:lnTo>
                      <a:lnTo>
                        <a:pt x="15" y="86"/>
                      </a:lnTo>
                      <a:lnTo>
                        <a:pt x="17" y="86"/>
                      </a:lnTo>
                      <a:lnTo>
                        <a:pt x="17" y="88"/>
                      </a:lnTo>
                      <a:lnTo>
                        <a:pt x="17" y="90"/>
                      </a:lnTo>
                      <a:lnTo>
                        <a:pt x="17" y="91"/>
                      </a:lnTo>
                      <a:lnTo>
                        <a:pt x="18" y="91"/>
                      </a:lnTo>
                      <a:lnTo>
                        <a:pt x="18" y="93"/>
                      </a:lnTo>
                      <a:lnTo>
                        <a:pt x="18" y="94"/>
                      </a:lnTo>
                      <a:lnTo>
                        <a:pt x="18" y="95"/>
                      </a:lnTo>
                      <a:lnTo>
                        <a:pt x="19" y="95"/>
                      </a:lnTo>
                      <a:lnTo>
                        <a:pt x="19" y="96"/>
                      </a:lnTo>
                      <a:lnTo>
                        <a:pt x="19" y="97"/>
                      </a:lnTo>
                      <a:lnTo>
                        <a:pt x="19" y="99"/>
                      </a:lnTo>
                      <a:lnTo>
                        <a:pt x="19" y="100"/>
                      </a:lnTo>
                      <a:lnTo>
                        <a:pt x="19" y="102"/>
                      </a:lnTo>
                      <a:lnTo>
                        <a:pt x="19" y="103"/>
                      </a:lnTo>
                      <a:lnTo>
                        <a:pt x="19" y="104"/>
                      </a:lnTo>
                      <a:lnTo>
                        <a:pt x="19" y="106"/>
                      </a:lnTo>
                      <a:lnTo>
                        <a:pt x="19" y="108"/>
                      </a:lnTo>
                      <a:lnTo>
                        <a:pt x="19" y="109"/>
                      </a:lnTo>
                      <a:lnTo>
                        <a:pt x="19" y="111"/>
                      </a:lnTo>
                      <a:lnTo>
                        <a:pt x="19" y="112"/>
                      </a:lnTo>
                      <a:lnTo>
                        <a:pt x="19" y="114"/>
                      </a:lnTo>
                      <a:lnTo>
                        <a:pt x="19" y="115"/>
                      </a:lnTo>
                      <a:lnTo>
                        <a:pt x="19" y="117"/>
                      </a:lnTo>
                      <a:lnTo>
                        <a:pt x="17" y="119"/>
                      </a:lnTo>
                      <a:lnTo>
                        <a:pt x="17" y="120"/>
                      </a:lnTo>
                      <a:lnTo>
                        <a:pt x="17" y="120"/>
                      </a:lnTo>
                      <a:lnTo>
                        <a:pt x="17" y="122"/>
                      </a:lnTo>
                      <a:lnTo>
                        <a:pt x="17" y="124"/>
                      </a:lnTo>
                      <a:lnTo>
                        <a:pt x="15" y="126"/>
                      </a:lnTo>
                      <a:lnTo>
                        <a:pt x="15" y="126"/>
                      </a:lnTo>
                      <a:lnTo>
                        <a:pt x="15" y="127"/>
                      </a:lnTo>
                      <a:lnTo>
                        <a:pt x="14" y="129"/>
                      </a:lnTo>
                      <a:lnTo>
                        <a:pt x="14" y="130"/>
                      </a:lnTo>
                      <a:lnTo>
                        <a:pt x="12" y="131"/>
                      </a:lnTo>
                      <a:lnTo>
                        <a:pt x="11" y="133"/>
                      </a:lnTo>
                      <a:lnTo>
                        <a:pt x="11" y="134"/>
                      </a:lnTo>
                      <a:lnTo>
                        <a:pt x="9" y="136"/>
                      </a:lnTo>
                      <a:lnTo>
                        <a:pt x="8" y="137"/>
                      </a:lnTo>
                      <a:lnTo>
                        <a:pt x="6" y="138"/>
                      </a:lnTo>
                      <a:lnTo>
                        <a:pt x="6" y="140"/>
                      </a:lnTo>
                      <a:lnTo>
                        <a:pt x="5" y="142"/>
                      </a:lnTo>
                      <a:lnTo>
                        <a:pt x="4" y="143"/>
                      </a:lnTo>
                      <a:lnTo>
                        <a:pt x="2" y="144"/>
                      </a:lnTo>
                      <a:lnTo>
                        <a:pt x="2" y="146"/>
                      </a:lnTo>
                      <a:lnTo>
                        <a:pt x="1" y="147"/>
                      </a:lnTo>
                      <a:lnTo>
                        <a:pt x="1" y="148"/>
                      </a:lnTo>
                      <a:lnTo>
                        <a:pt x="0" y="148"/>
                      </a:lnTo>
                      <a:lnTo>
                        <a:pt x="0" y="147"/>
                      </a:lnTo>
                      <a:lnTo>
                        <a:pt x="0" y="146"/>
                      </a:lnTo>
                      <a:lnTo>
                        <a:pt x="2" y="143"/>
                      </a:lnTo>
                      <a:lnTo>
                        <a:pt x="2" y="142"/>
                      </a:lnTo>
                      <a:lnTo>
                        <a:pt x="4" y="138"/>
                      </a:lnTo>
                      <a:lnTo>
                        <a:pt x="5" y="135"/>
                      </a:lnTo>
                      <a:lnTo>
                        <a:pt x="6" y="131"/>
                      </a:lnTo>
                      <a:lnTo>
                        <a:pt x="6" y="129"/>
                      </a:lnTo>
                      <a:lnTo>
                        <a:pt x="8" y="126"/>
                      </a:lnTo>
                      <a:lnTo>
                        <a:pt x="10" y="123"/>
                      </a:lnTo>
                      <a:lnTo>
                        <a:pt x="11" y="120"/>
                      </a:lnTo>
                      <a:lnTo>
                        <a:pt x="11" y="118"/>
                      </a:lnTo>
                      <a:lnTo>
                        <a:pt x="13" y="114"/>
                      </a:lnTo>
                      <a:lnTo>
                        <a:pt x="13" y="113"/>
                      </a:lnTo>
                      <a:lnTo>
                        <a:pt x="14" y="110"/>
                      </a:lnTo>
                      <a:lnTo>
                        <a:pt x="13" y="109"/>
                      </a:lnTo>
                      <a:lnTo>
                        <a:pt x="13" y="108"/>
                      </a:lnTo>
                      <a:lnTo>
                        <a:pt x="12" y="106"/>
                      </a:lnTo>
                      <a:lnTo>
                        <a:pt x="12" y="104"/>
                      </a:lnTo>
                      <a:lnTo>
                        <a:pt x="11" y="103"/>
                      </a:lnTo>
                      <a:lnTo>
                        <a:pt x="11" y="101"/>
                      </a:lnTo>
                      <a:lnTo>
                        <a:pt x="11" y="99"/>
                      </a:lnTo>
                      <a:lnTo>
                        <a:pt x="11" y="96"/>
                      </a:lnTo>
                      <a:lnTo>
                        <a:pt x="9" y="95"/>
                      </a:lnTo>
                      <a:lnTo>
                        <a:pt x="9" y="93"/>
                      </a:lnTo>
                      <a:lnTo>
                        <a:pt x="7" y="91"/>
                      </a:lnTo>
                      <a:lnTo>
                        <a:pt x="7" y="89"/>
                      </a:lnTo>
                      <a:lnTo>
                        <a:pt x="5" y="88"/>
                      </a:lnTo>
                      <a:lnTo>
                        <a:pt x="5" y="86"/>
                      </a:lnTo>
                      <a:lnTo>
                        <a:pt x="5" y="85"/>
                      </a:lnTo>
                      <a:lnTo>
                        <a:pt x="5" y="84"/>
                      </a:lnTo>
                      <a:lnTo>
                        <a:pt x="4" y="84"/>
                      </a:lnTo>
                      <a:lnTo>
                        <a:pt x="4" y="82"/>
                      </a:lnTo>
                      <a:lnTo>
                        <a:pt x="2" y="82"/>
                      </a:lnTo>
                      <a:lnTo>
                        <a:pt x="2" y="81"/>
                      </a:lnTo>
                      <a:lnTo>
                        <a:pt x="2" y="80"/>
                      </a:lnTo>
                      <a:lnTo>
                        <a:pt x="0" y="80"/>
                      </a:lnTo>
                      <a:lnTo>
                        <a:pt x="0" y="78"/>
                      </a:lnTo>
                      <a:lnTo>
                        <a:pt x="0" y="78"/>
                      </a:lnTo>
                      <a:lnTo>
                        <a:pt x="0" y="77"/>
                      </a:lnTo>
                      <a:lnTo>
                        <a:pt x="0" y="75"/>
                      </a:lnTo>
                      <a:lnTo>
                        <a:pt x="0" y="74"/>
                      </a:lnTo>
                      <a:lnTo>
                        <a:pt x="0" y="72"/>
                      </a:lnTo>
                      <a:lnTo>
                        <a:pt x="0" y="71"/>
                      </a:lnTo>
                      <a:lnTo>
                        <a:pt x="2" y="69"/>
                      </a:lnTo>
                      <a:lnTo>
                        <a:pt x="2" y="68"/>
                      </a:lnTo>
                      <a:lnTo>
                        <a:pt x="4" y="66"/>
                      </a:lnTo>
                      <a:lnTo>
                        <a:pt x="4" y="64"/>
                      </a:lnTo>
                      <a:lnTo>
                        <a:pt x="5" y="63"/>
                      </a:lnTo>
                      <a:lnTo>
                        <a:pt x="5" y="62"/>
                      </a:lnTo>
                      <a:lnTo>
                        <a:pt x="5" y="60"/>
                      </a:lnTo>
                      <a:lnTo>
                        <a:pt x="5" y="58"/>
                      </a:lnTo>
                      <a:lnTo>
                        <a:pt x="6" y="56"/>
                      </a:lnTo>
                      <a:lnTo>
                        <a:pt x="6" y="54"/>
                      </a:lnTo>
                      <a:lnTo>
                        <a:pt x="6" y="51"/>
                      </a:lnTo>
                      <a:lnTo>
                        <a:pt x="6" y="50"/>
                      </a:lnTo>
                      <a:lnTo>
                        <a:pt x="8" y="46"/>
                      </a:lnTo>
                      <a:lnTo>
                        <a:pt x="8" y="45"/>
                      </a:lnTo>
                      <a:lnTo>
                        <a:pt x="8" y="43"/>
                      </a:lnTo>
                      <a:lnTo>
                        <a:pt x="8" y="41"/>
                      </a:lnTo>
                      <a:lnTo>
                        <a:pt x="9" y="38"/>
                      </a:lnTo>
                      <a:lnTo>
                        <a:pt x="9" y="36"/>
                      </a:lnTo>
                      <a:lnTo>
                        <a:pt x="9" y="34"/>
                      </a:lnTo>
                      <a:lnTo>
                        <a:pt x="9" y="33"/>
                      </a:lnTo>
                      <a:lnTo>
                        <a:pt x="11" y="29"/>
                      </a:lnTo>
                      <a:lnTo>
                        <a:pt x="9" y="29"/>
                      </a:lnTo>
                      <a:lnTo>
                        <a:pt x="9" y="28"/>
                      </a:lnTo>
                      <a:lnTo>
                        <a:pt x="9" y="27"/>
                      </a:lnTo>
                      <a:lnTo>
                        <a:pt x="8" y="27"/>
                      </a:lnTo>
                      <a:lnTo>
                        <a:pt x="8" y="25"/>
                      </a:lnTo>
                      <a:lnTo>
                        <a:pt x="8" y="23"/>
                      </a:lnTo>
                      <a:lnTo>
                        <a:pt x="8" y="22"/>
                      </a:lnTo>
                      <a:lnTo>
                        <a:pt x="6" y="22"/>
                      </a:lnTo>
                      <a:lnTo>
                        <a:pt x="6" y="20"/>
                      </a:lnTo>
                      <a:lnTo>
                        <a:pt x="6" y="19"/>
                      </a:lnTo>
                      <a:lnTo>
                        <a:pt x="6" y="17"/>
                      </a:lnTo>
                      <a:lnTo>
                        <a:pt x="6" y="16"/>
                      </a:lnTo>
                      <a:lnTo>
                        <a:pt x="6" y="15"/>
                      </a:lnTo>
                      <a:lnTo>
                        <a:pt x="6" y="13"/>
                      </a:lnTo>
                      <a:lnTo>
                        <a:pt x="5" y="13"/>
                      </a:lnTo>
                      <a:lnTo>
                        <a:pt x="5" y="11"/>
                      </a:lnTo>
                      <a:lnTo>
                        <a:pt x="5" y="10"/>
                      </a:lnTo>
                      <a:lnTo>
                        <a:pt x="5" y="9"/>
                      </a:lnTo>
                      <a:lnTo>
                        <a:pt x="5" y="7"/>
                      </a:lnTo>
                      <a:lnTo>
                        <a:pt x="5" y="5"/>
                      </a:lnTo>
                      <a:lnTo>
                        <a:pt x="5" y="5"/>
                      </a:lnTo>
                      <a:lnTo>
                        <a:pt x="5" y="3"/>
                      </a:lnTo>
                      <a:lnTo>
                        <a:pt x="5" y="2"/>
                      </a:lnTo>
                      <a:lnTo>
                        <a:pt x="5" y="1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5" y="1"/>
                      </a:lnTo>
                      <a:lnTo>
                        <a:pt x="6" y="1"/>
                      </a:lnTo>
                      <a:lnTo>
                        <a:pt x="6" y="2"/>
                      </a:lnTo>
                      <a:lnTo>
                        <a:pt x="8" y="2"/>
                      </a:lnTo>
                      <a:lnTo>
                        <a:pt x="8" y="3"/>
                      </a:lnTo>
                      <a:lnTo>
                        <a:pt x="9" y="4"/>
                      </a:lnTo>
                      <a:lnTo>
                        <a:pt x="9" y="5"/>
                      </a:lnTo>
                      <a:lnTo>
                        <a:pt x="11" y="5"/>
                      </a:lnTo>
                      <a:lnTo>
                        <a:pt x="11" y="7"/>
                      </a:lnTo>
                      <a:lnTo>
                        <a:pt x="12" y="9"/>
                      </a:lnTo>
                      <a:lnTo>
                        <a:pt x="12" y="11"/>
                      </a:lnTo>
                      <a:lnTo>
                        <a:pt x="14" y="11"/>
                      </a:lnTo>
                    </a:path>
                  </a:pathLst>
                </a:custGeom>
                <a:solidFill>
                  <a:srgbClr val="646464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17" name="Freeform 85"/>
                <p:cNvSpPr>
                  <a:spLocks/>
                </p:cNvSpPr>
                <p:nvPr/>
              </p:nvSpPr>
              <p:spPr bwMode="auto">
                <a:xfrm>
                  <a:off x="2808" y="4046"/>
                  <a:ext cx="65" cy="31"/>
                </a:xfrm>
                <a:custGeom>
                  <a:avLst/>
                  <a:gdLst/>
                  <a:ahLst/>
                  <a:cxnLst>
                    <a:cxn ang="0">
                      <a:pos x="63" y="3"/>
                    </a:cxn>
                    <a:cxn ang="0">
                      <a:pos x="62" y="1"/>
                    </a:cxn>
                    <a:cxn ang="0">
                      <a:pos x="60" y="0"/>
                    </a:cxn>
                    <a:cxn ang="0">
                      <a:pos x="59" y="0"/>
                    </a:cxn>
                    <a:cxn ang="0">
                      <a:pos x="56" y="0"/>
                    </a:cxn>
                    <a:cxn ang="0">
                      <a:pos x="54" y="0"/>
                    </a:cxn>
                    <a:cxn ang="0">
                      <a:pos x="50" y="1"/>
                    </a:cxn>
                    <a:cxn ang="0">
                      <a:pos x="48" y="2"/>
                    </a:cxn>
                    <a:cxn ang="0">
                      <a:pos x="45" y="4"/>
                    </a:cxn>
                    <a:cxn ang="0">
                      <a:pos x="43" y="4"/>
                    </a:cxn>
                    <a:cxn ang="0">
                      <a:pos x="41" y="5"/>
                    </a:cxn>
                    <a:cxn ang="0">
                      <a:pos x="39" y="6"/>
                    </a:cxn>
                    <a:cxn ang="0">
                      <a:pos x="37" y="7"/>
                    </a:cxn>
                    <a:cxn ang="0">
                      <a:pos x="33" y="9"/>
                    </a:cxn>
                    <a:cxn ang="0">
                      <a:pos x="30" y="10"/>
                    </a:cxn>
                    <a:cxn ang="0">
                      <a:pos x="27" y="11"/>
                    </a:cxn>
                    <a:cxn ang="0">
                      <a:pos x="25" y="12"/>
                    </a:cxn>
                    <a:cxn ang="0">
                      <a:pos x="22" y="13"/>
                    </a:cxn>
                    <a:cxn ang="0">
                      <a:pos x="21" y="14"/>
                    </a:cxn>
                    <a:cxn ang="0">
                      <a:pos x="18" y="16"/>
                    </a:cxn>
                    <a:cxn ang="0">
                      <a:pos x="16" y="16"/>
                    </a:cxn>
                    <a:cxn ang="0">
                      <a:pos x="12" y="18"/>
                    </a:cxn>
                    <a:cxn ang="0">
                      <a:pos x="10" y="19"/>
                    </a:cxn>
                    <a:cxn ang="0">
                      <a:pos x="7" y="21"/>
                    </a:cxn>
                    <a:cxn ang="0">
                      <a:pos x="5" y="22"/>
                    </a:cxn>
                    <a:cxn ang="0">
                      <a:pos x="1" y="22"/>
                    </a:cxn>
                    <a:cxn ang="0">
                      <a:pos x="0" y="23"/>
                    </a:cxn>
                    <a:cxn ang="0">
                      <a:pos x="0" y="25"/>
                    </a:cxn>
                    <a:cxn ang="0">
                      <a:pos x="1" y="27"/>
                    </a:cxn>
                    <a:cxn ang="0">
                      <a:pos x="3" y="29"/>
                    </a:cxn>
                    <a:cxn ang="0">
                      <a:pos x="4" y="30"/>
                    </a:cxn>
                    <a:cxn ang="0">
                      <a:pos x="7" y="29"/>
                    </a:cxn>
                    <a:cxn ang="0">
                      <a:pos x="10" y="27"/>
                    </a:cxn>
                    <a:cxn ang="0">
                      <a:pos x="13" y="25"/>
                    </a:cxn>
                    <a:cxn ang="0">
                      <a:pos x="16" y="24"/>
                    </a:cxn>
                    <a:cxn ang="0">
                      <a:pos x="18" y="23"/>
                    </a:cxn>
                    <a:cxn ang="0">
                      <a:pos x="21" y="21"/>
                    </a:cxn>
                    <a:cxn ang="0">
                      <a:pos x="21" y="19"/>
                    </a:cxn>
                    <a:cxn ang="0">
                      <a:pos x="24" y="18"/>
                    </a:cxn>
                    <a:cxn ang="0">
                      <a:pos x="25" y="16"/>
                    </a:cxn>
                    <a:cxn ang="0">
                      <a:pos x="28" y="15"/>
                    </a:cxn>
                    <a:cxn ang="0">
                      <a:pos x="31" y="14"/>
                    </a:cxn>
                    <a:cxn ang="0">
                      <a:pos x="33" y="13"/>
                    </a:cxn>
                    <a:cxn ang="0">
                      <a:pos x="36" y="13"/>
                    </a:cxn>
                    <a:cxn ang="0">
                      <a:pos x="38" y="13"/>
                    </a:cxn>
                    <a:cxn ang="0">
                      <a:pos x="40" y="12"/>
                    </a:cxn>
                    <a:cxn ang="0">
                      <a:pos x="43" y="10"/>
                    </a:cxn>
                    <a:cxn ang="0">
                      <a:pos x="47" y="7"/>
                    </a:cxn>
                    <a:cxn ang="0">
                      <a:pos x="49" y="5"/>
                    </a:cxn>
                    <a:cxn ang="0">
                      <a:pos x="53" y="4"/>
                    </a:cxn>
                    <a:cxn ang="0">
                      <a:pos x="56" y="3"/>
                    </a:cxn>
                    <a:cxn ang="0">
                      <a:pos x="59" y="3"/>
                    </a:cxn>
                    <a:cxn ang="0">
                      <a:pos x="62" y="3"/>
                    </a:cxn>
                    <a:cxn ang="0">
                      <a:pos x="64" y="3"/>
                    </a:cxn>
                  </a:cxnLst>
                  <a:rect l="0" t="0" r="r" b="b"/>
                  <a:pathLst>
                    <a:path w="65" h="31">
                      <a:moveTo>
                        <a:pt x="64" y="3"/>
                      </a:moveTo>
                      <a:lnTo>
                        <a:pt x="63" y="3"/>
                      </a:lnTo>
                      <a:lnTo>
                        <a:pt x="63" y="1"/>
                      </a:lnTo>
                      <a:lnTo>
                        <a:pt x="62" y="1"/>
                      </a:lnTo>
                      <a:lnTo>
                        <a:pt x="62" y="0"/>
                      </a:lnTo>
                      <a:lnTo>
                        <a:pt x="60" y="0"/>
                      </a:lnTo>
                      <a:lnTo>
                        <a:pt x="59" y="0"/>
                      </a:lnTo>
                      <a:lnTo>
                        <a:pt x="59" y="0"/>
                      </a:lnTo>
                      <a:lnTo>
                        <a:pt x="58" y="0"/>
                      </a:lnTo>
                      <a:lnTo>
                        <a:pt x="56" y="0"/>
                      </a:lnTo>
                      <a:lnTo>
                        <a:pt x="55" y="0"/>
                      </a:lnTo>
                      <a:lnTo>
                        <a:pt x="54" y="0"/>
                      </a:lnTo>
                      <a:lnTo>
                        <a:pt x="52" y="0"/>
                      </a:lnTo>
                      <a:lnTo>
                        <a:pt x="50" y="1"/>
                      </a:lnTo>
                      <a:lnTo>
                        <a:pt x="48" y="1"/>
                      </a:lnTo>
                      <a:lnTo>
                        <a:pt x="48" y="2"/>
                      </a:lnTo>
                      <a:lnTo>
                        <a:pt x="47" y="2"/>
                      </a:lnTo>
                      <a:lnTo>
                        <a:pt x="45" y="4"/>
                      </a:lnTo>
                      <a:lnTo>
                        <a:pt x="44" y="4"/>
                      </a:lnTo>
                      <a:lnTo>
                        <a:pt x="43" y="4"/>
                      </a:lnTo>
                      <a:lnTo>
                        <a:pt x="42" y="5"/>
                      </a:lnTo>
                      <a:lnTo>
                        <a:pt x="41" y="5"/>
                      </a:lnTo>
                      <a:lnTo>
                        <a:pt x="40" y="6"/>
                      </a:lnTo>
                      <a:lnTo>
                        <a:pt x="39" y="6"/>
                      </a:lnTo>
                      <a:lnTo>
                        <a:pt x="37" y="7"/>
                      </a:lnTo>
                      <a:lnTo>
                        <a:pt x="37" y="7"/>
                      </a:lnTo>
                      <a:lnTo>
                        <a:pt x="35" y="7"/>
                      </a:lnTo>
                      <a:lnTo>
                        <a:pt x="33" y="9"/>
                      </a:lnTo>
                      <a:lnTo>
                        <a:pt x="32" y="9"/>
                      </a:lnTo>
                      <a:lnTo>
                        <a:pt x="30" y="10"/>
                      </a:lnTo>
                      <a:lnTo>
                        <a:pt x="28" y="10"/>
                      </a:lnTo>
                      <a:lnTo>
                        <a:pt x="27" y="11"/>
                      </a:lnTo>
                      <a:lnTo>
                        <a:pt x="27" y="11"/>
                      </a:lnTo>
                      <a:lnTo>
                        <a:pt x="25" y="12"/>
                      </a:lnTo>
                      <a:lnTo>
                        <a:pt x="24" y="12"/>
                      </a:lnTo>
                      <a:lnTo>
                        <a:pt x="22" y="13"/>
                      </a:lnTo>
                      <a:lnTo>
                        <a:pt x="21" y="13"/>
                      </a:lnTo>
                      <a:lnTo>
                        <a:pt x="21" y="14"/>
                      </a:lnTo>
                      <a:lnTo>
                        <a:pt x="20" y="16"/>
                      </a:lnTo>
                      <a:lnTo>
                        <a:pt x="18" y="16"/>
                      </a:lnTo>
                      <a:lnTo>
                        <a:pt x="16" y="16"/>
                      </a:lnTo>
                      <a:lnTo>
                        <a:pt x="16" y="16"/>
                      </a:lnTo>
                      <a:lnTo>
                        <a:pt x="14" y="18"/>
                      </a:lnTo>
                      <a:lnTo>
                        <a:pt x="12" y="18"/>
                      </a:lnTo>
                      <a:lnTo>
                        <a:pt x="11" y="18"/>
                      </a:lnTo>
                      <a:lnTo>
                        <a:pt x="10" y="19"/>
                      </a:lnTo>
                      <a:lnTo>
                        <a:pt x="9" y="20"/>
                      </a:lnTo>
                      <a:lnTo>
                        <a:pt x="7" y="21"/>
                      </a:lnTo>
                      <a:lnTo>
                        <a:pt x="5" y="22"/>
                      </a:lnTo>
                      <a:lnTo>
                        <a:pt x="5" y="22"/>
                      </a:lnTo>
                      <a:lnTo>
                        <a:pt x="3" y="22"/>
                      </a:lnTo>
                      <a:lnTo>
                        <a:pt x="1" y="22"/>
                      </a:lnTo>
                      <a:lnTo>
                        <a:pt x="0" y="22"/>
                      </a:lnTo>
                      <a:lnTo>
                        <a:pt x="0" y="23"/>
                      </a:lnTo>
                      <a:lnTo>
                        <a:pt x="0" y="24"/>
                      </a:lnTo>
                      <a:lnTo>
                        <a:pt x="0" y="25"/>
                      </a:lnTo>
                      <a:lnTo>
                        <a:pt x="0" y="27"/>
                      </a:lnTo>
                      <a:lnTo>
                        <a:pt x="1" y="27"/>
                      </a:lnTo>
                      <a:lnTo>
                        <a:pt x="1" y="29"/>
                      </a:lnTo>
                      <a:lnTo>
                        <a:pt x="3" y="29"/>
                      </a:lnTo>
                      <a:lnTo>
                        <a:pt x="3" y="30"/>
                      </a:lnTo>
                      <a:lnTo>
                        <a:pt x="4" y="30"/>
                      </a:lnTo>
                      <a:lnTo>
                        <a:pt x="5" y="29"/>
                      </a:lnTo>
                      <a:lnTo>
                        <a:pt x="7" y="29"/>
                      </a:lnTo>
                      <a:lnTo>
                        <a:pt x="8" y="27"/>
                      </a:lnTo>
                      <a:lnTo>
                        <a:pt x="10" y="27"/>
                      </a:lnTo>
                      <a:lnTo>
                        <a:pt x="11" y="25"/>
                      </a:lnTo>
                      <a:lnTo>
                        <a:pt x="13" y="25"/>
                      </a:lnTo>
                      <a:lnTo>
                        <a:pt x="15" y="24"/>
                      </a:lnTo>
                      <a:lnTo>
                        <a:pt x="16" y="24"/>
                      </a:lnTo>
                      <a:lnTo>
                        <a:pt x="17" y="23"/>
                      </a:lnTo>
                      <a:lnTo>
                        <a:pt x="18" y="23"/>
                      </a:lnTo>
                      <a:lnTo>
                        <a:pt x="20" y="21"/>
                      </a:lnTo>
                      <a:lnTo>
                        <a:pt x="21" y="21"/>
                      </a:lnTo>
                      <a:lnTo>
                        <a:pt x="21" y="20"/>
                      </a:lnTo>
                      <a:lnTo>
                        <a:pt x="21" y="19"/>
                      </a:lnTo>
                      <a:lnTo>
                        <a:pt x="22" y="18"/>
                      </a:lnTo>
                      <a:lnTo>
                        <a:pt x="24" y="18"/>
                      </a:lnTo>
                      <a:lnTo>
                        <a:pt x="25" y="17"/>
                      </a:lnTo>
                      <a:lnTo>
                        <a:pt x="25" y="16"/>
                      </a:lnTo>
                      <a:lnTo>
                        <a:pt x="27" y="15"/>
                      </a:lnTo>
                      <a:lnTo>
                        <a:pt x="28" y="15"/>
                      </a:lnTo>
                      <a:lnTo>
                        <a:pt x="30" y="14"/>
                      </a:lnTo>
                      <a:lnTo>
                        <a:pt x="31" y="14"/>
                      </a:lnTo>
                      <a:lnTo>
                        <a:pt x="32" y="14"/>
                      </a:lnTo>
                      <a:lnTo>
                        <a:pt x="33" y="13"/>
                      </a:lnTo>
                      <a:lnTo>
                        <a:pt x="34" y="13"/>
                      </a:lnTo>
                      <a:lnTo>
                        <a:pt x="36" y="13"/>
                      </a:lnTo>
                      <a:lnTo>
                        <a:pt x="37" y="13"/>
                      </a:lnTo>
                      <a:lnTo>
                        <a:pt x="38" y="13"/>
                      </a:lnTo>
                      <a:lnTo>
                        <a:pt x="39" y="12"/>
                      </a:lnTo>
                      <a:lnTo>
                        <a:pt x="40" y="12"/>
                      </a:lnTo>
                      <a:lnTo>
                        <a:pt x="42" y="12"/>
                      </a:lnTo>
                      <a:lnTo>
                        <a:pt x="43" y="10"/>
                      </a:lnTo>
                      <a:lnTo>
                        <a:pt x="45" y="8"/>
                      </a:lnTo>
                      <a:lnTo>
                        <a:pt x="47" y="7"/>
                      </a:lnTo>
                      <a:lnTo>
                        <a:pt x="48" y="6"/>
                      </a:lnTo>
                      <a:lnTo>
                        <a:pt x="49" y="5"/>
                      </a:lnTo>
                      <a:lnTo>
                        <a:pt x="51" y="4"/>
                      </a:lnTo>
                      <a:lnTo>
                        <a:pt x="53" y="4"/>
                      </a:lnTo>
                      <a:lnTo>
                        <a:pt x="54" y="3"/>
                      </a:lnTo>
                      <a:lnTo>
                        <a:pt x="56" y="3"/>
                      </a:lnTo>
                      <a:lnTo>
                        <a:pt x="57" y="3"/>
                      </a:lnTo>
                      <a:lnTo>
                        <a:pt x="59" y="3"/>
                      </a:lnTo>
                      <a:lnTo>
                        <a:pt x="60" y="3"/>
                      </a:lnTo>
                      <a:lnTo>
                        <a:pt x="62" y="3"/>
                      </a:lnTo>
                      <a:lnTo>
                        <a:pt x="63" y="3"/>
                      </a:lnTo>
                      <a:lnTo>
                        <a:pt x="64" y="3"/>
                      </a:lnTo>
                    </a:path>
                  </a:pathLst>
                </a:custGeom>
                <a:solidFill>
                  <a:srgbClr val="646464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18" name="Freeform 86"/>
                <p:cNvSpPr>
                  <a:spLocks/>
                </p:cNvSpPr>
                <p:nvPr/>
              </p:nvSpPr>
              <p:spPr bwMode="auto">
                <a:xfrm>
                  <a:off x="2816" y="4069"/>
                  <a:ext cx="58" cy="29"/>
                </a:xfrm>
                <a:custGeom>
                  <a:avLst/>
                  <a:gdLst/>
                  <a:ahLst/>
                  <a:cxnLst>
                    <a:cxn ang="0">
                      <a:pos x="56" y="8"/>
                    </a:cxn>
                    <a:cxn ang="0">
                      <a:pos x="56" y="5"/>
                    </a:cxn>
                    <a:cxn ang="0">
                      <a:pos x="54" y="4"/>
                    </a:cxn>
                    <a:cxn ang="0">
                      <a:pos x="52" y="2"/>
                    </a:cxn>
                    <a:cxn ang="0">
                      <a:pos x="51" y="0"/>
                    </a:cxn>
                    <a:cxn ang="0">
                      <a:pos x="49" y="0"/>
                    </a:cxn>
                    <a:cxn ang="0">
                      <a:pos x="46" y="0"/>
                    </a:cxn>
                    <a:cxn ang="0">
                      <a:pos x="43" y="0"/>
                    </a:cxn>
                    <a:cxn ang="0">
                      <a:pos x="40" y="2"/>
                    </a:cxn>
                    <a:cxn ang="0">
                      <a:pos x="38" y="2"/>
                    </a:cxn>
                    <a:cxn ang="0">
                      <a:pos x="35" y="4"/>
                    </a:cxn>
                    <a:cxn ang="0">
                      <a:pos x="33" y="5"/>
                    </a:cxn>
                    <a:cxn ang="0">
                      <a:pos x="30" y="7"/>
                    </a:cxn>
                    <a:cxn ang="0">
                      <a:pos x="28" y="8"/>
                    </a:cxn>
                    <a:cxn ang="0">
                      <a:pos x="25" y="8"/>
                    </a:cxn>
                    <a:cxn ang="0">
                      <a:pos x="23" y="9"/>
                    </a:cxn>
                    <a:cxn ang="0">
                      <a:pos x="20" y="11"/>
                    </a:cxn>
                    <a:cxn ang="0">
                      <a:pos x="17" y="12"/>
                    </a:cxn>
                    <a:cxn ang="0">
                      <a:pos x="14" y="14"/>
                    </a:cxn>
                    <a:cxn ang="0">
                      <a:pos x="12" y="15"/>
                    </a:cxn>
                    <a:cxn ang="0">
                      <a:pos x="9" y="17"/>
                    </a:cxn>
                    <a:cxn ang="0">
                      <a:pos x="6" y="17"/>
                    </a:cxn>
                    <a:cxn ang="0">
                      <a:pos x="4" y="17"/>
                    </a:cxn>
                    <a:cxn ang="0">
                      <a:pos x="1" y="19"/>
                    </a:cxn>
                    <a:cxn ang="0">
                      <a:pos x="0" y="21"/>
                    </a:cxn>
                    <a:cxn ang="0">
                      <a:pos x="0" y="23"/>
                    </a:cxn>
                    <a:cxn ang="0">
                      <a:pos x="0" y="25"/>
                    </a:cxn>
                    <a:cxn ang="0">
                      <a:pos x="0" y="27"/>
                    </a:cxn>
                    <a:cxn ang="0">
                      <a:pos x="0" y="28"/>
                    </a:cxn>
                    <a:cxn ang="0">
                      <a:pos x="3" y="28"/>
                    </a:cxn>
                    <a:cxn ang="0">
                      <a:pos x="5" y="25"/>
                    </a:cxn>
                    <a:cxn ang="0">
                      <a:pos x="9" y="23"/>
                    </a:cxn>
                    <a:cxn ang="0">
                      <a:pos x="11" y="22"/>
                    </a:cxn>
                    <a:cxn ang="0">
                      <a:pos x="14" y="21"/>
                    </a:cxn>
                    <a:cxn ang="0">
                      <a:pos x="15" y="20"/>
                    </a:cxn>
                    <a:cxn ang="0">
                      <a:pos x="18" y="18"/>
                    </a:cxn>
                    <a:cxn ang="0">
                      <a:pos x="21" y="17"/>
                    </a:cxn>
                    <a:cxn ang="0">
                      <a:pos x="23" y="16"/>
                    </a:cxn>
                    <a:cxn ang="0">
                      <a:pos x="26" y="14"/>
                    </a:cxn>
                    <a:cxn ang="0">
                      <a:pos x="29" y="14"/>
                    </a:cxn>
                    <a:cxn ang="0">
                      <a:pos x="31" y="12"/>
                    </a:cxn>
                    <a:cxn ang="0">
                      <a:pos x="34" y="11"/>
                    </a:cxn>
                    <a:cxn ang="0">
                      <a:pos x="34" y="9"/>
                    </a:cxn>
                    <a:cxn ang="0">
                      <a:pos x="36" y="9"/>
                    </a:cxn>
                    <a:cxn ang="0">
                      <a:pos x="39" y="7"/>
                    </a:cxn>
                    <a:cxn ang="0">
                      <a:pos x="40" y="5"/>
                    </a:cxn>
                    <a:cxn ang="0">
                      <a:pos x="43" y="4"/>
                    </a:cxn>
                    <a:cxn ang="0">
                      <a:pos x="46" y="2"/>
                    </a:cxn>
                    <a:cxn ang="0">
                      <a:pos x="49" y="1"/>
                    </a:cxn>
                    <a:cxn ang="0">
                      <a:pos x="49" y="3"/>
                    </a:cxn>
                    <a:cxn ang="0">
                      <a:pos x="50" y="5"/>
                    </a:cxn>
                    <a:cxn ang="0">
                      <a:pos x="52" y="5"/>
                    </a:cxn>
                    <a:cxn ang="0">
                      <a:pos x="53" y="6"/>
                    </a:cxn>
                    <a:cxn ang="0">
                      <a:pos x="55" y="7"/>
                    </a:cxn>
                    <a:cxn ang="0">
                      <a:pos x="56" y="8"/>
                    </a:cxn>
                  </a:cxnLst>
                  <a:rect l="0" t="0" r="r" b="b"/>
                  <a:pathLst>
                    <a:path w="58" h="29">
                      <a:moveTo>
                        <a:pt x="57" y="8"/>
                      </a:moveTo>
                      <a:lnTo>
                        <a:pt x="56" y="8"/>
                      </a:lnTo>
                      <a:lnTo>
                        <a:pt x="56" y="6"/>
                      </a:lnTo>
                      <a:lnTo>
                        <a:pt x="56" y="5"/>
                      </a:lnTo>
                      <a:lnTo>
                        <a:pt x="56" y="4"/>
                      </a:lnTo>
                      <a:lnTo>
                        <a:pt x="54" y="4"/>
                      </a:lnTo>
                      <a:lnTo>
                        <a:pt x="54" y="2"/>
                      </a:lnTo>
                      <a:lnTo>
                        <a:pt x="52" y="2"/>
                      </a:lnTo>
                      <a:lnTo>
                        <a:pt x="52" y="0"/>
                      </a:lnTo>
                      <a:lnTo>
                        <a:pt x="51" y="0"/>
                      </a:lnTo>
                      <a:lnTo>
                        <a:pt x="49" y="0"/>
                      </a:lnTo>
                      <a:lnTo>
                        <a:pt x="49" y="0"/>
                      </a:lnTo>
                      <a:lnTo>
                        <a:pt x="48" y="0"/>
                      </a:lnTo>
                      <a:lnTo>
                        <a:pt x="46" y="0"/>
                      </a:lnTo>
                      <a:lnTo>
                        <a:pt x="45" y="0"/>
                      </a:lnTo>
                      <a:lnTo>
                        <a:pt x="43" y="0"/>
                      </a:lnTo>
                      <a:lnTo>
                        <a:pt x="41" y="2"/>
                      </a:lnTo>
                      <a:lnTo>
                        <a:pt x="40" y="2"/>
                      </a:lnTo>
                      <a:lnTo>
                        <a:pt x="40" y="2"/>
                      </a:lnTo>
                      <a:lnTo>
                        <a:pt x="38" y="2"/>
                      </a:lnTo>
                      <a:lnTo>
                        <a:pt x="36" y="4"/>
                      </a:lnTo>
                      <a:lnTo>
                        <a:pt x="35" y="4"/>
                      </a:lnTo>
                      <a:lnTo>
                        <a:pt x="34" y="5"/>
                      </a:lnTo>
                      <a:lnTo>
                        <a:pt x="33" y="5"/>
                      </a:lnTo>
                      <a:lnTo>
                        <a:pt x="32" y="6"/>
                      </a:lnTo>
                      <a:lnTo>
                        <a:pt x="30" y="7"/>
                      </a:lnTo>
                      <a:lnTo>
                        <a:pt x="29" y="8"/>
                      </a:lnTo>
                      <a:lnTo>
                        <a:pt x="28" y="8"/>
                      </a:lnTo>
                      <a:lnTo>
                        <a:pt x="27" y="8"/>
                      </a:lnTo>
                      <a:lnTo>
                        <a:pt x="25" y="8"/>
                      </a:lnTo>
                      <a:lnTo>
                        <a:pt x="23" y="9"/>
                      </a:lnTo>
                      <a:lnTo>
                        <a:pt x="23" y="9"/>
                      </a:lnTo>
                      <a:lnTo>
                        <a:pt x="21" y="11"/>
                      </a:lnTo>
                      <a:lnTo>
                        <a:pt x="20" y="11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2"/>
                      </a:lnTo>
                      <a:lnTo>
                        <a:pt x="14" y="14"/>
                      </a:lnTo>
                      <a:lnTo>
                        <a:pt x="13" y="15"/>
                      </a:lnTo>
                      <a:lnTo>
                        <a:pt x="12" y="15"/>
                      </a:lnTo>
                      <a:lnTo>
                        <a:pt x="11" y="17"/>
                      </a:lnTo>
                      <a:lnTo>
                        <a:pt x="9" y="17"/>
                      </a:lnTo>
                      <a:lnTo>
                        <a:pt x="7" y="17"/>
                      </a:lnTo>
                      <a:lnTo>
                        <a:pt x="6" y="17"/>
                      </a:lnTo>
                      <a:lnTo>
                        <a:pt x="5" y="17"/>
                      </a:lnTo>
                      <a:lnTo>
                        <a:pt x="4" y="17"/>
                      </a:lnTo>
                      <a:lnTo>
                        <a:pt x="2" y="18"/>
                      </a:lnTo>
                      <a:lnTo>
                        <a:pt x="1" y="19"/>
                      </a:lnTo>
                      <a:lnTo>
                        <a:pt x="0" y="20"/>
                      </a:lnTo>
                      <a:lnTo>
                        <a:pt x="0" y="21"/>
                      </a:lnTo>
                      <a:lnTo>
                        <a:pt x="0" y="22"/>
                      </a:lnTo>
                      <a:lnTo>
                        <a:pt x="0" y="23"/>
                      </a:lnTo>
                      <a:lnTo>
                        <a:pt x="0" y="24"/>
                      </a:lnTo>
                      <a:lnTo>
                        <a:pt x="0" y="25"/>
                      </a:lnTo>
                      <a:lnTo>
                        <a:pt x="0" y="26"/>
                      </a:lnTo>
                      <a:lnTo>
                        <a:pt x="0" y="27"/>
                      </a:lnTo>
                      <a:lnTo>
                        <a:pt x="0" y="28"/>
                      </a:lnTo>
                      <a:lnTo>
                        <a:pt x="0" y="28"/>
                      </a:lnTo>
                      <a:lnTo>
                        <a:pt x="2" y="28"/>
                      </a:lnTo>
                      <a:lnTo>
                        <a:pt x="3" y="28"/>
                      </a:lnTo>
                      <a:lnTo>
                        <a:pt x="5" y="26"/>
                      </a:lnTo>
                      <a:lnTo>
                        <a:pt x="5" y="25"/>
                      </a:lnTo>
                      <a:lnTo>
                        <a:pt x="7" y="25"/>
                      </a:lnTo>
                      <a:lnTo>
                        <a:pt x="9" y="23"/>
                      </a:lnTo>
                      <a:lnTo>
                        <a:pt x="10" y="23"/>
                      </a:lnTo>
                      <a:lnTo>
                        <a:pt x="11" y="22"/>
                      </a:lnTo>
                      <a:lnTo>
                        <a:pt x="13" y="21"/>
                      </a:lnTo>
                      <a:lnTo>
                        <a:pt x="14" y="21"/>
                      </a:lnTo>
                      <a:lnTo>
                        <a:pt x="16" y="20"/>
                      </a:lnTo>
                      <a:lnTo>
                        <a:pt x="15" y="20"/>
                      </a:lnTo>
                      <a:lnTo>
                        <a:pt x="17" y="19"/>
                      </a:lnTo>
                      <a:lnTo>
                        <a:pt x="18" y="18"/>
                      </a:lnTo>
                      <a:lnTo>
                        <a:pt x="20" y="17"/>
                      </a:lnTo>
                      <a:lnTo>
                        <a:pt x="21" y="17"/>
                      </a:lnTo>
                      <a:lnTo>
                        <a:pt x="23" y="16"/>
                      </a:lnTo>
                      <a:lnTo>
                        <a:pt x="23" y="16"/>
                      </a:lnTo>
                      <a:lnTo>
                        <a:pt x="24" y="16"/>
                      </a:lnTo>
                      <a:lnTo>
                        <a:pt x="26" y="14"/>
                      </a:lnTo>
                      <a:lnTo>
                        <a:pt x="28" y="14"/>
                      </a:lnTo>
                      <a:lnTo>
                        <a:pt x="29" y="14"/>
                      </a:lnTo>
                      <a:lnTo>
                        <a:pt x="30" y="12"/>
                      </a:lnTo>
                      <a:lnTo>
                        <a:pt x="31" y="12"/>
                      </a:lnTo>
                      <a:lnTo>
                        <a:pt x="32" y="12"/>
                      </a:lnTo>
                      <a:lnTo>
                        <a:pt x="34" y="11"/>
                      </a:lnTo>
                      <a:lnTo>
                        <a:pt x="34" y="10"/>
                      </a:lnTo>
                      <a:lnTo>
                        <a:pt x="34" y="9"/>
                      </a:lnTo>
                      <a:lnTo>
                        <a:pt x="36" y="8"/>
                      </a:lnTo>
                      <a:lnTo>
                        <a:pt x="36" y="9"/>
                      </a:lnTo>
                      <a:lnTo>
                        <a:pt x="37" y="9"/>
                      </a:lnTo>
                      <a:lnTo>
                        <a:pt x="39" y="7"/>
                      </a:lnTo>
                      <a:lnTo>
                        <a:pt x="40" y="5"/>
                      </a:lnTo>
                      <a:lnTo>
                        <a:pt x="40" y="5"/>
                      </a:lnTo>
                      <a:lnTo>
                        <a:pt x="42" y="4"/>
                      </a:lnTo>
                      <a:lnTo>
                        <a:pt x="43" y="4"/>
                      </a:lnTo>
                      <a:lnTo>
                        <a:pt x="45" y="2"/>
                      </a:lnTo>
                      <a:lnTo>
                        <a:pt x="46" y="2"/>
                      </a:lnTo>
                      <a:lnTo>
                        <a:pt x="47" y="2"/>
                      </a:lnTo>
                      <a:lnTo>
                        <a:pt x="49" y="1"/>
                      </a:lnTo>
                      <a:lnTo>
                        <a:pt x="49" y="2"/>
                      </a:lnTo>
                      <a:lnTo>
                        <a:pt x="49" y="3"/>
                      </a:lnTo>
                      <a:lnTo>
                        <a:pt x="50" y="3"/>
                      </a:lnTo>
                      <a:lnTo>
                        <a:pt x="50" y="5"/>
                      </a:lnTo>
                      <a:lnTo>
                        <a:pt x="51" y="5"/>
                      </a:lnTo>
                      <a:lnTo>
                        <a:pt x="52" y="5"/>
                      </a:lnTo>
                      <a:lnTo>
                        <a:pt x="52" y="6"/>
                      </a:lnTo>
                      <a:lnTo>
                        <a:pt x="53" y="6"/>
                      </a:lnTo>
                      <a:lnTo>
                        <a:pt x="53" y="7"/>
                      </a:lnTo>
                      <a:lnTo>
                        <a:pt x="55" y="7"/>
                      </a:lnTo>
                      <a:lnTo>
                        <a:pt x="55" y="8"/>
                      </a:lnTo>
                      <a:lnTo>
                        <a:pt x="56" y="8"/>
                      </a:lnTo>
                      <a:lnTo>
                        <a:pt x="57" y="8"/>
                      </a:lnTo>
                    </a:path>
                  </a:pathLst>
                </a:custGeom>
                <a:solidFill>
                  <a:srgbClr val="646464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19" name="Freeform 87"/>
                <p:cNvSpPr>
                  <a:spLocks/>
                </p:cNvSpPr>
                <p:nvPr/>
              </p:nvSpPr>
              <p:spPr bwMode="auto">
                <a:xfrm>
                  <a:off x="2820" y="4104"/>
                  <a:ext cx="45" cy="18"/>
                </a:xfrm>
                <a:custGeom>
                  <a:avLst/>
                  <a:gdLst/>
                  <a:ahLst/>
                  <a:cxnLst>
                    <a:cxn ang="0">
                      <a:pos x="0" y="12"/>
                    </a:cxn>
                    <a:cxn ang="0">
                      <a:pos x="0" y="15"/>
                    </a:cxn>
                    <a:cxn ang="0">
                      <a:pos x="1" y="17"/>
                    </a:cxn>
                    <a:cxn ang="0">
                      <a:pos x="5" y="16"/>
                    </a:cxn>
                    <a:cxn ang="0">
                      <a:pos x="5" y="17"/>
                    </a:cxn>
                    <a:cxn ang="0">
                      <a:pos x="9" y="16"/>
                    </a:cxn>
                    <a:cxn ang="0">
                      <a:pos x="12" y="14"/>
                    </a:cxn>
                    <a:cxn ang="0">
                      <a:pos x="15" y="14"/>
                    </a:cxn>
                    <a:cxn ang="0">
                      <a:pos x="18" y="10"/>
                    </a:cxn>
                    <a:cxn ang="0">
                      <a:pos x="20" y="9"/>
                    </a:cxn>
                    <a:cxn ang="0">
                      <a:pos x="21" y="10"/>
                    </a:cxn>
                    <a:cxn ang="0">
                      <a:pos x="24" y="10"/>
                    </a:cxn>
                    <a:cxn ang="0">
                      <a:pos x="28" y="8"/>
                    </a:cxn>
                    <a:cxn ang="0">
                      <a:pos x="30" y="5"/>
                    </a:cxn>
                    <a:cxn ang="0">
                      <a:pos x="33" y="5"/>
                    </a:cxn>
                    <a:cxn ang="0">
                      <a:pos x="36" y="5"/>
                    </a:cxn>
                    <a:cxn ang="0">
                      <a:pos x="39" y="5"/>
                    </a:cxn>
                    <a:cxn ang="0">
                      <a:pos x="42" y="5"/>
                    </a:cxn>
                    <a:cxn ang="0">
                      <a:pos x="42" y="3"/>
                    </a:cxn>
                    <a:cxn ang="0">
                      <a:pos x="41" y="1"/>
                    </a:cxn>
                    <a:cxn ang="0">
                      <a:pos x="40" y="0"/>
                    </a:cxn>
                    <a:cxn ang="0">
                      <a:pos x="39" y="0"/>
                    </a:cxn>
                    <a:cxn ang="0">
                      <a:pos x="36" y="0"/>
                    </a:cxn>
                    <a:cxn ang="0">
                      <a:pos x="33" y="0"/>
                    </a:cxn>
                    <a:cxn ang="0">
                      <a:pos x="30" y="0"/>
                    </a:cxn>
                    <a:cxn ang="0">
                      <a:pos x="28" y="1"/>
                    </a:cxn>
                    <a:cxn ang="0">
                      <a:pos x="25" y="3"/>
                    </a:cxn>
                    <a:cxn ang="0">
                      <a:pos x="22" y="5"/>
                    </a:cxn>
                    <a:cxn ang="0">
                      <a:pos x="19" y="6"/>
                    </a:cxn>
                    <a:cxn ang="0">
                      <a:pos x="17" y="8"/>
                    </a:cxn>
                    <a:cxn ang="0">
                      <a:pos x="14" y="8"/>
                    </a:cxn>
                    <a:cxn ang="0">
                      <a:pos x="12" y="9"/>
                    </a:cxn>
                    <a:cxn ang="0">
                      <a:pos x="10" y="9"/>
                    </a:cxn>
                    <a:cxn ang="0">
                      <a:pos x="6" y="9"/>
                    </a:cxn>
                    <a:cxn ang="0">
                      <a:pos x="3" y="11"/>
                    </a:cxn>
                    <a:cxn ang="0">
                      <a:pos x="0" y="11"/>
                    </a:cxn>
                  </a:cxnLst>
                  <a:rect l="0" t="0" r="r" b="b"/>
                  <a:pathLst>
                    <a:path w="45" h="18">
                      <a:moveTo>
                        <a:pt x="0" y="11"/>
                      </a:moveTo>
                      <a:lnTo>
                        <a:pt x="0" y="12"/>
                      </a:lnTo>
                      <a:lnTo>
                        <a:pt x="0" y="14"/>
                      </a:lnTo>
                      <a:lnTo>
                        <a:pt x="0" y="15"/>
                      </a:lnTo>
                      <a:lnTo>
                        <a:pt x="0" y="17"/>
                      </a:lnTo>
                      <a:lnTo>
                        <a:pt x="1" y="17"/>
                      </a:lnTo>
                      <a:lnTo>
                        <a:pt x="3" y="17"/>
                      </a:lnTo>
                      <a:lnTo>
                        <a:pt x="5" y="16"/>
                      </a:lnTo>
                      <a:lnTo>
                        <a:pt x="5" y="17"/>
                      </a:lnTo>
                      <a:lnTo>
                        <a:pt x="5" y="17"/>
                      </a:lnTo>
                      <a:lnTo>
                        <a:pt x="7" y="16"/>
                      </a:lnTo>
                      <a:lnTo>
                        <a:pt x="9" y="16"/>
                      </a:lnTo>
                      <a:lnTo>
                        <a:pt x="11" y="16"/>
                      </a:lnTo>
                      <a:lnTo>
                        <a:pt x="12" y="14"/>
                      </a:lnTo>
                      <a:lnTo>
                        <a:pt x="13" y="14"/>
                      </a:lnTo>
                      <a:lnTo>
                        <a:pt x="15" y="14"/>
                      </a:lnTo>
                      <a:lnTo>
                        <a:pt x="16" y="12"/>
                      </a:lnTo>
                      <a:lnTo>
                        <a:pt x="18" y="10"/>
                      </a:lnTo>
                      <a:lnTo>
                        <a:pt x="19" y="10"/>
                      </a:lnTo>
                      <a:lnTo>
                        <a:pt x="20" y="9"/>
                      </a:lnTo>
                      <a:lnTo>
                        <a:pt x="20" y="10"/>
                      </a:lnTo>
                      <a:lnTo>
                        <a:pt x="21" y="10"/>
                      </a:lnTo>
                      <a:lnTo>
                        <a:pt x="22" y="10"/>
                      </a:lnTo>
                      <a:lnTo>
                        <a:pt x="24" y="10"/>
                      </a:lnTo>
                      <a:lnTo>
                        <a:pt x="26" y="9"/>
                      </a:lnTo>
                      <a:lnTo>
                        <a:pt x="28" y="8"/>
                      </a:lnTo>
                      <a:lnTo>
                        <a:pt x="28" y="6"/>
                      </a:lnTo>
                      <a:lnTo>
                        <a:pt x="30" y="5"/>
                      </a:lnTo>
                      <a:lnTo>
                        <a:pt x="32" y="5"/>
                      </a:lnTo>
                      <a:lnTo>
                        <a:pt x="33" y="5"/>
                      </a:lnTo>
                      <a:lnTo>
                        <a:pt x="34" y="5"/>
                      </a:lnTo>
                      <a:lnTo>
                        <a:pt x="36" y="5"/>
                      </a:lnTo>
                      <a:lnTo>
                        <a:pt x="37" y="5"/>
                      </a:lnTo>
                      <a:lnTo>
                        <a:pt x="39" y="5"/>
                      </a:lnTo>
                      <a:lnTo>
                        <a:pt x="40" y="5"/>
                      </a:lnTo>
                      <a:lnTo>
                        <a:pt x="42" y="5"/>
                      </a:lnTo>
                      <a:lnTo>
                        <a:pt x="44" y="3"/>
                      </a:lnTo>
                      <a:lnTo>
                        <a:pt x="42" y="3"/>
                      </a:lnTo>
                      <a:lnTo>
                        <a:pt x="41" y="3"/>
                      </a:lnTo>
                      <a:lnTo>
                        <a:pt x="41" y="1"/>
                      </a:lnTo>
                      <a:lnTo>
                        <a:pt x="40" y="1"/>
                      </a:lnTo>
                      <a:lnTo>
                        <a:pt x="40" y="0"/>
                      </a:lnTo>
                      <a:lnTo>
                        <a:pt x="40" y="0"/>
                      </a:lnTo>
                      <a:lnTo>
                        <a:pt x="39" y="0"/>
                      </a:lnTo>
                      <a:lnTo>
                        <a:pt x="37" y="0"/>
                      </a:lnTo>
                      <a:lnTo>
                        <a:pt x="36" y="0"/>
                      </a:lnTo>
                      <a:lnTo>
                        <a:pt x="35" y="0"/>
                      </a:lnTo>
                      <a:lnTo>
                        <a:pt x="33" y="0"/>
                      </a:lnTo>
                      <a:lnTo>
                        <a:pt x="32" y="0"/>
                      </a:lnTo>
                      <a:lnTo>
                        <a:pt x="30" y="0"/>
                      </a:lnTo>
                      <a:lnTo>
                        <a:pt x="29" y="0"/>
                      </a:lnTo>
                      <a:lnTo>
                        <a:pt x="28" y="1"/>
                      </a:lnTo>
                      <a:lnTo>
                        <a:pt x="27" y="1"/>
                      </a:lnTo>
                      <a:lnTo>
                        <a:pt x="25" y="3"/>
                      </a:lnTo>
                      <a:lnTo>
                        <a:pt x="24" y="3"/>
                      </a:lnTo>
                      <a:lnTo>
                        <a:pt x="22" y="5"/>
                      </a:lnTo>
                      <a:lnTo>
                        <a:pt x="21" y="5"/>
                      </a:lnTo>
                      <a:lnTo>
                        <a:pt x="19" y="6"/>
                      </a:lnTo>
                      <a:lnTo>
                        <a:pt x="18" y="8"/>
                      </a:lnTo>
                      <a:lnTo>
                        <a:pt x="17" y="8"/>
                      </a:lnTo>
                      <a:lnTo>
                        <a:pt x="16" y="8"/>
                      </a:lnTo>
                      <a:lnTo>
                        <a:pt x="14" y="8"/>
                      </a:lnTo>
                      <a:lnTo>
                        <a:pt x="13" y="8"/>
                      </a:lnTo>
                      <a:lnTo>
                        <a:pt x="12" y="9"/>
                      </a:lnTo>
                      <a:lnTo>
                        <a:pt x="11" y="9"/>
                      </a:lnTo>
                      <a:lnTo>
                        <a:pt x="10" y="9"/>
                      </a:lnTo>
                      <a:lnTo>
                        <a:pt x="8" y="9"/>
                      </a:lnTo>
                      <a:lnTo>
                        <a:pt x="6" y="9"/>
                      </a:lnTo>
                      <a:lnTo>
                        <a:pt x="5" y="11"/>
                      </a:lnTo>
                      <a:lnTo>
                        <a:pt x="3" y="11"/>
                      </a:lnTo>
                      <a:lnTo>
                        <a:pt x="1" y="11"/>
                      </a:lnTo>
                      <a:lnTo>
                        <a:pt x="0" y="11"/>
                      </a:lnTo>
                    </a:path>
                  </a:pathLst>
                </a:custGeom>
                <a:solidFill>
                  <a:srgbClr val="646464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20" name="Freeform 88"/>
                <p:cNvSpPr>
                  <a:spLocks/>
                </p:cNvSpPr>
                <p:nvPr/>
              </p:nvSpPr>
              <p:spPr bwMode="auto">
                <a:xfrm>
                  <a:off x="2574" y="3780"/>
                  <a:ext cx="26" cy="17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2"/>
                    </a:cxn>
                    <a:cxn ang="0">
                      <a:pos x="3" y="4"/>
                    </a:cxn>
                    <a:cxn ang="0">
                      <a:pos x="5" y="5"/>
                    </a:cxn>
                    <a:cxn ang="0">
                      <a:pos x="6" y="6"/>
                    </a:cxn>
                    <a:cxn ang="0">
                      <a:pos x="7" y="8"/>
                    </a:cxn>
                    <a:cxn ang="0">
                      <a:pos x="9" y="9"/>
                    </a:cxn>
                    <a:cxn ang="0">
                      <a:pos x="10" y="11"/>
                    </a:cxn>
                    <a:cxn ang="0">
                      <a:pos x="12" y="11"/>
                    </a:cxn>
                    <a:cxn ang="0">
                      <a:pos x="15" y="11"/>
                    </a:cxn>
                    <a:cxn ang="0">
                      <a:pos x="18" y="10"/>
                    </a:cxn>
                    <a:cxn ang="0">
                      <a:pos x="21" y="8"/>
                    </a:cxn>
                    <a:cxn ang="0">
                      <a:pos x="21" y="5"/>
                    </a:cxn>
                    <a:cxn ang="0">
                      <a:pos x="22" y="3"/>
                    </a:cxn>
                    <a:cxn ang="0">
                      <a:pos x="24" y="0"/>
                    </a:cxn>
                    <a:cxn ang="0">
                      <a:pos x="25" y="0"/>
                    </a:cxn>
                    <a:cxn ang="0">
                      <a:pos x="25" y="4"/>
                    </a:cxn>
                    <a:cxn ang="0">
                      <a:pos x="25" y="6"/>
                    </a:cxn>
                    <a:cxn ang="0">
                      <a:pos x="25" y="9"/>
                    </a:cxn>
                    <a:cxn ang="0">
                      <a:pos x="24" y="12"/>
                    </a:cxn>
                    <a:cxn ang="0">
                      <a:pos x="20" y="16"/>
                    </a:cxn>
                    <a:cxn ang="0">
                      <a:pos x="19" y="16"/>
                    </a:cxn>
                    <a:cxn ang="0">
                      <a:pos x="16" y="16"/>
                    </a:cxn>
                    <a:cxn ang="0">
                      <a:pos x="13" y="16"/>
                    </a:cxn>
                    <a:cxn ang="0">
                      <a:pos x="11" y="16"/>
                    </a:cxn>
                    <a:cxn ang="0">
                      <a:pos x="10" y="15"/>
                    </a:cxn>
                    <a:cxn ang="0">
                      <a:pos x="8" y="14"/>
                    </a:cxn>
                    <a:cxn ang="0">
                      <a:pos x="6" y="12"/>
                    </a:cxn>
                    <a:cxn ang="0">
                      <a:pos x="5" y="11"/>
                    </a:cxn>
                    <a:cxn ang="0">
                      <a:pos x="4" y="9"/>
                    </a:cxn>
                    <a:cxn ang="0">
                      <a:pos x="2" y="7"/>
                    </a:cxn>
                    <a:cxn ang="0">
                      <a:pos x="0" y="5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26" h="17">
                      <a:moveTo>
                        <a:pt x="0" y="2"/>
                      </a:move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1" y="4"/>
                      </a:lnTo>
                      <a:lnTo>
                        <a:pt x="3" y="4"/>
                      </a:lnTo>
                      <a:lnTo>
                        <a:pt x="3" y="5"/>
                      </a:lnTo>
                      <a:lnTo>
                        <a:pt x="5" y="5"/>
                      </a:lnTo>
                      <a:lnTo>
                        <a:pt x="5" y="6"/>
                      </a:lnTo>
                      <a:lnTo>
                        <a:pt x="6" y="6"/>
                      </a:lnTo>
                      <a:lnTo>
                        <a:pt x="6" y="8"/>
                      </a:lnTo>
                      <a:lnTo>
                        <a:pt x="7" y="8"/>
                      </a:lnTo>
                      <a:lnTo>
                        <a:pt x="7" y="9"/>
                      </a:lnTo>
                      <a:lnTo>
                        <a:pt x="9" y="9"/>
                      </a:lnTo>
                      <a:lnTo>
                        <a:pt x="9" y="11"/>
                      </a:lnTo>
                      <a:lnTo>
                        <a:pt x="10" y="11"/>
                      </a:lnTo>
                      <a:lnTo>
                        <a:pt x="11" y="11"/>
                      </a:lnTo>
                      <a:lnTo>
                        <a:pt x="12" y="11"/>
                      </a:lnTo>
                      <a:lnTo>
                        <a:pt x="14" y="11"/>
                      </a:lnTo>
                      <a:lnTo>
                        <a:pt x="15" y="11"/>
                      </a:lnTo>
                      <a:lnTo>
                        <a:pt x="16" y="10"/>
                      </a:lnTo>
                      <a:lnTo>
                        <a:pt x="18" y="10"/>
                      </a:lnTo>
                      <a:lnTo>
                        <a:pt x="20" y="10"/>
                      </a:lnTo>
                      <a:lnTo>
                        <a:pt x="21" y="8"/>
                      </a:lnTo>
                      <a:lnTo>
                        <a:pt x="21" y="7"/>
                      </a:lnTo>
                      <a:lnTo>
                        <a:pt x="21" y="5"/>
                      </a:lnTo>
                      <a:lnTo>
                        <a:pt x="22" y="4"/>
                      </a:lnTo>
                      <a:lnTo>
                        <a:pt x="22" y="3"/>
                      </a:lnTo>
                      <a:lnTo>
                        <a:pt x="24" y="1"/>
                      </a:lnTo>
                      <a:lnTo>
                        <a:pt x="24" y="0"/>
                      </a:lnTo>
                      <a:lnTo>
                        <a:pt x="25" y="0"/>
                      </a:lnTo>
                      <a:lnTo>
                        <a:pt x="25" y="0"/>
                      </a:lnTo>
                      <a:lnTo>
                        <a:pt x="25" y="2"/>
                      </a:lnTo>
                      <a:lnTo>
                        <a:pt x="25" y="4"/>
                      </a:lnTo>
                      <a:lnTo>
                        <a:pt x="25" y="5"/>
                      </a:lnTo>
                      <a:lnTo>
                        <a:pt x="25" y="6"/>
                      </a:lnTo>
                      <a:lnTo>
                        <a:pt x="25" y="7"/>
                      </a:lnTo>
                      <a:lnTo>
                        <a:pt x="25" y="9"/>
                      </a:lnTo>
                      <a:lnTo>
                        <a:pt x="25" y="11"/>
                      </a:lnTo>
                      <a:lnTo>
                        <a:pt x="24" y="12"/>
                      </a:lnTo>
                      <a:lnTo>
                        <a:pt x="22" y="14"/>
                      </a:lnTo>
                      <a:lnTo>
                        <a:pt x="20" y="16"/>
                      </a:lnTo>
                      <a:lnTo>
                        <a:pt x="20" y="16"/>
                      </a:lnTo>
                      <a:lnTo>
                        <a:pt x="19" y="16"/>
                      </a:lnTo>
                      <a:lnTo>
                        <a:pt x="17" y="16"/>
                      </a:lnTo>
                      <a:lnTo>
                        <a:pt x="16" y="16"/>
                      </a:lnTo>
                      <a:lnTo>
                        <a:pt x="15" y="16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11" y="16"/>
                      </a:lnTo>
                      <a:lnTo>
                        <a:pt x="11" y="15"/>
                      </a:lnTo>
                      <a:lnTo>
                        <a:pt x="10" y="15"/>
                      </a:lnTo>
                      <a:lnTo>
                        <a:pt x="9" y="14"/>
                      </a:lnTo>
                      <a:lnTo>
                        <a:pt x="8" y="14"/>
                      </a:lnTo>
                      <a:lnTo>
                        <a:pt x="8" y="12"/>
                      </a:lnTo>
                      <a:lnTo>
                        <a:pt x="6" y="12"/>
                      </a:lnTo>
                      <a:lnTo>
                        <a:pt x="5" y="12"/>
                      </a:lnTo>
                      <a:lnTo>
                        <a:pt x="5" y="11"/>
                      </a:lnTo>
                      <a:lnTo>
                        <a:pt x="4" y="11"/>
                      </a:lnTo>
                      <a:lnTo>
                        <a:pt x="4" y="9"/>
                      </a:lnTo>
                      <a:lnTo>
                        <a:pt x="2" y="9"/>
                      </a:lnTo>
                      <a:lnTo>
                        <a:pt x="2" y="7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2"/>
                      </a:lnTo>
                    </a:path>
                  </a:pathLst>
                </a:custGeom>
                <a:solidFill>
                  <a:srgbClr val="646464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21" name="Freeform 89"/>
                <p:cNvSpPr>
                  <a:spLocks/>
                </p:cNvSpPr>
                <p:nvPr/>
              </p:nvSpPr>
              <p:spPr bwMode="auto">
                <a:xfrm>
                  <a:off x="2660" y="3832"/>
                  <a:ext cx="16" cy="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2" y="2"/>
                    </a:cxn>
                    <a:cxn ang="0">
                      <a:pos x="2" y="4"/>
                    </a:cxn>
                    <a:cxn ang="0">
                      <a:pos x="4" y="4"/>
                    </a:cxn>
                    <a:cxn ang="0">
                      <a:pos x="4" y="5"/>
                    </a:cxn>
                    <a:cxn ang="0">
                      <a:pos x="7" y="5"/>
                    </a:cxn>
                    <a:cxn ang="0">
                      <a:pos x="7" y="6"/>
                    </a:cxn>
                    <a:cxn ang="0">
                      <a:pos x="7" y="8"/>
                    </a:cxn>
                    <a:cxn ang="0">
                      <a:pos x="11" y="8"/>
                    </a:cxn>
                    <a:cxn ang="0">
                      <a:pos x="13" y="8"/>
                    </a:cxn>
                    <a:cxn ang="0">
                      <a:pos x="15" y="8"/>
                    </a:cxn>
                    <a:cxn ang="0">
                      <a:pos x="13" y="10"/>
                    </a:cxn>
                    <a:cxn ang="0">
                      <a:pos x="13" y="11"/>
                    </a:cxn>
                    <a:cxn ang="0">
                      <a:pos x="11" y="12"/>
                    </a:cxn>
                    <a:cxn ang="0">
                      <a:pos x="7" y="13"/>
                    </a:cxn>
                    <a:cxn ang="0">
                      <a:pos x="7" y="15"/>
                    </a:cxn>
                    <a:cxn ang="0">
                      <a:pos x="7" y="17"/>
                    </a:cxn>
                    <a:cxn ang="0">
                      <a:pos x="7" y="18"/>
                    </a:cxn>
                    <a:cxn ang="0">
                      <a:pos x="6" y="20"/>
                    </a:cxn>
                    <a:cxn ang="0">
                      <a:pos x="6" y="21"/>
                    </a:cxn>
                    <a:cxn ang="0">
                      <a:pos x="6" y="22"/>
                    </a:cxn>
                    <a:cxn ang="0">
                      <a:pos x="6" y="24"/>
                    </a:cxn>
                    <a:cxn ang="0">
                      <a:pos x="2" y="24"/>
                    </a:cxn>
                    <a:cxn ang="0">
                      <a:pos x="2" y="22"/>
                    </a:cxn>
                    <a:cxn ang="0">
                      <a:pos x="2" y="21"/>
                    </a:cxn>
                    <a:cxn ang="0">
                      <a:pos x="2" y="20"/>
                    </a:cxn>
                    <a:cxn ang="0">
                      <a:pos x="2" y="18"/>
                    </a:cxn>
                    <a:cxn ang="0">
                      <a:pos x="2" y="17"/>
                    </a:cxn>
                    <a:cxn ang="0">
                      <a:pos x="2" y="15"/>
                    </a:cxn>
                    <a:cxn ang="0">
                      <a:pos x="2" y="13"/>
                    </a:cxn>
                    <a:cxn ang="0">
                      <a:pos x="2" y="12"/>
                    </a:cxn>
                    <a:cxn ang="0">
                      <a:pos x="2" y="11"/>
                    </a:cxn>
                    <a:cxn ang="0">
                      <a:pos x="2" y="9"/>
                    </a:cxn>
                    <a:cxn ang="0">
                      <a:pos x="6" y="8"/>
                    </a:cxn>
                    <a:cxn ang="0">
                      <a:pos x="2" y="8"/>
                    </a:cxn>
                    <a:cxn ang="0">
                      <a:pos x="2" y="6"/>
                    </a:cxn>
                    <a:cxn ang="0">
                      <a:pos x="0" y="6"/>
                    </a:cxn>
                    <a:cxn ang="0">
                      <a:pos x="0" y="5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0" y="3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6" h="2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2" y="2"/>
                      </a:lnTo>
                      <a:lnTo>
                        <a:pt x="2" y="4"/>
                      </a:lnTo>
                      <a:lnTo>
                        <a:pt x="4" y="4"/>
                      </a:lnTo>
                      <a:lnTo>
                        <a:pt x="4" y="5"/>
                      </a:lnTo>
                      <a:lnTo>
                        <a:pt x="7" y="5"/>
                      </a:lnTo>
                      <a:lnTo>
                        <a:pt x="7" y="6"/>
                      </a:lnTo>
                      <a:lnTo>
                        <a:pt x="7" y="8"/>
                      </a:lnTo>
                      <a:lnTo>
                        <a:pt x="11" y="8"/>
                      </a:lnTo>
                      <a:lnTo>
                        <a:pt x="13" y="8"/>
                      </a:lnTo>
                      <a:lnTo>
                        <a:pt x="15" y="8"/>
                      </a:lnTo>
                      <a:lnTo>
                        <a:pt x="13" y="10"/>
                      </a:lnTo>
                      <a:lnTo>
                        <a:pt x="13" y="11"/>
                      </a:lnTo>
                      <a:lnTo>
                        <a:pt x="11" y="12"/>
                      </a:lnTo>
                      <a:lnTo>
                        <a:pt x="7" y="13"/>
                      </a:lnTo>
                      <a:lnTo>
                        <a:pt x="7" y="15"/>
                      </a:lnTo>
                      <a:lnTo>
                        <a:pt x="7" y="17"/>
                      </a:lnTo>
                      <a:lnTo>
                        <a:pt x="7" y="18"/>
                      </a:lnTo>
                      <a:lnTo>
                        <a:pt x="6" y="20"/>
                      </a:lnTo>
                      <a:lnTo>
                        <a:pt x="6" y="21"/>
                      </a:lnTo>
                      <a:lnTo>
                        <a:pt x="6" y="22"/>
                      </a:lnTo>
                      <a:lnTo>
                        <a:pt x="6" y="24"/>
                      </a:lnTo>
                      <a:lnTo>
                        <a:pt x="2" y="24"/>
                      </a:lnTo>
                      <a:lnTo>
                        <a:pt x="2" y="22"/>
                      </a:lnTo>
                      <a:lnTo>
                        <a:pt x="2" y="21"/>
                      </a:lnTo>
                      <a:lnTo>
                        <a:pt x="2" y="20"/>
                      </a:lnTo>
                      <a:lnTo>
                        <a:pt x="2" y="18"/>
                      </a:lnTo>
                      <a:lnTo>
                        <a:pt x="2" y="17"/>
                      </a:lnTo>
                      <a:lnTo>
                        <a:pt x="2" y="15"/>
                      </a:lnTo>
                      <a:lnTo>
                        <a:pt x="2" y="13"/>
                      </a:lnTo>
                      <a:lnTo>
                        <a:pt x="2" y="12"/>
                      </a:lnTo>
                      <a:lnTo>
                        <a:pt x="2" y="11"/>
                      </a:lnTo>
                      <a:lnTo>
                        <a:pt x="2" y="9"/>
                      </a:lnTo>
                      <a:lnTo>
                        <a:pt x="6" y="8"/>
                      </a:lnTo>
                      <a:lnTo>
                        <a:pt x="2" y="8"/>
                      </a:lnTo>
                      <a:lnTo>
                        <a:pt x="2" y="6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A9A9A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22" name="Freeform 90"/>
                <p:cNvSpPr>
                  <a:spLocks/>
                </p:cNvSpPr>
                <p:nvPr/>
              </p:nvSpPr>
              <p:spPr bwMode="auto">
                <a:xfrm>
                  <a:off x="2661" y="3714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5" y="5"/>
                    </a:cxn>
                    <a:cxn ang="0">
                      <a:pos x="15" y="8"/>
                    </a:cxn>
                    <a:cxn ang="0">
                      <a:pos x="12" y="12"/>
                    </a:cxn>
                    <a:cxn ang="0">
                      <a:pos x="10" y="15"/>
                    </a:cxn>
                    <a:cxn ang="0">
                      <a:pos x="1" y="12"/>
                    </a:cxn>
                    <a:cxn ang="0">
                      <a:pos x="0" y="9"/>
                    </a:cxn>
                    <a:cxn ang="0">
                      <a:pos x="0" y="5"/>
                    </a:cxn>
                    <a:cxn ang="0">
                      <a:pos x="12" y="0"/>
                    </a:cxn>
                  </a:cxnLst>
                  <a:rect l="0" t="0" r="r" b="b"/>
                  <a:pathLst>
                    <a:path w="16" h="16">
                      <a:moveTo>
                        <a:pt x="12" y="0"/>
                      </a:moveTo>
                      <a:lnTo>
                        <a:pt x="15" y="5"/>
                      </a:lnTo>
                      <a:lnTo>
                        <a:pt x="15" y="8"/>
                      </a:lnTo>
                      <a:lnTo>
                        <a:pt x="12" y="12"/>
                      </a:lnTo>
                      <a:lnTo>
                        <a:pt x="10" y="15"/>
                      </a:lnTo>
                      <a:lnTo>
                        <a:pt x="1" y="12"/>
                      </a:lnTo>
                      <a:lnTo>
                        <a:pt x="0" y="9"/>
                      </a:lnTo>
                      <a:lnTo>
                        <a:pt x="0" y="5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5A5A5A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9723" name="Group 91"/>
              <p:cNvGrpSpPr>
                <a:grpSpLocks/>
              </p:cNvGrpSpPr>
              <p:nvPr/>
            </p:nvGrpSpPr>
            <p:grpSpPr bwMode="auto">
              <a:xfrm>
                <a:off x="3505" y="3601"/>
                <a:ext cx="455" cy="634"/>
                <a:chOff x="3505" y="3601"/>
                <a:chExt cx="455" cy="634"/>
              </a:xfrm>
            </p:grpSpPr>
            <p:sp>
              <p:nvSpPr>
                <p:cNvPr id="69724" name="Freeform 92"/>
                <p:cNvSpPr>
                  <a:spLocks/>
                </p:cNvSpPr>
                <p:nvPr/>
              </p:nvSpPr>
              <p:spPr bwMode="auto">
                <a:xfrm>
                  <a:off x="3694" y="3846"/>
                  <a:ext cx="131" cy="105"/>
                </a:xfrm>
                <a:custGeom>
                  <a:avLst/>
                  <a:gdLst/>
                  <a:ahLst/>
                  <a:cxnLst>
                    <a:cxn ang="0">
                      <a:pos x="21" y="0"/>
                    </a:cxn>
                    <a:cxn ang="0">
                      <a:pos x="22" y="22"/>
                    </a:cxn>
                    <a:cxn ang="0">
                      <a:pos x="21" y="32"/>
                    </a:cxn>
                    <a:cxn ang="0">
                      <a:pos x="17" y="43"/>
                    </a:cxn>
                    <a:cxn ang="0">
                      <a:pos x="6" y="57"/>
                    </a:cxn>
                    <a:cxn ang="0">
                      <a:pos x="0" y="61"/>
                    </a:cxn>
                    <a:cxn ang="0">
                      <a:pos x="15" y="83"/>
                    </a:cxn>
                    <a:cxn ang="0">
                      <a:pos x="47" y="98"/>
                    </a:cxn>
                    <a:cxn ang="0">
                      <a:pos x="79" y="102"/>
                    </a:cxn>
                    <a:cxn ang="0">
                      <a:pos x="106" y="104"/>
                    </a:cxn>
                    <a:cxn ang="0">
                      <a:pos x="130" y="101"/>
                    </a:cxn>
                    <a:cxn ang="0">
                      <a:pos x="130" y="97"/>
                    </a:cxn>
                    <a:cxn ang="0">
                      <a:pos x="121" y="82"/>
                    </a:cxn>
                    <a:cxn ang="0">
                      <a:pos x="113" y="66"/>
                    </a:cxn>
                    <a:cxn ang="0">
                      <a:pos x="113" y="48"/>
                    </a:cxn>
                    <a:cxn ang="0">
                      <a:pos x="117" y="31"/>
                    </a:cxn>
                    <a:cxn ang="0">
                      <a:pos x="21" y="0"/>
                    </a:cxn>
                  </a:cxnLst>
                  <a:rect l="0" t="0" r="r" b="b"/>
                  <a:pathLst>
                    <a:path w="131" h="105">
                      <a:moveTo>
                        <a:pt x="21" y="0"/>
                      </a:moveTo>
                      <a:lnTo>
                        <a:pt x="22" y="22"/>
                      </a:lnTo>
                      <a:lnTo>
                        <a:pt x="21" y="32"/>
                      </a:lnTo>
                      <a:lnTo>
                        <a:pt x="17" y="43"/>
                      </a:lnTo>
                      <a:lnTo>
                        <a:pt x="6" y="57"/>
                      </a:lnTo>
                      <a:lnTo>
                        <a:pt x="0" y="61"/>
                      </a:lnTo>
                      <a:lnTo>
                        <a:pt x="15" y="83"/>
                      </a:lnTo>
                      <a:lnTo>
                        <a:pt x="47" y="98"/>
                      </a:lnTo>
                      <a:lnTo>
                        <a:pt x="79" y="102"/>
                      </a:lnTo>
                      <a:lnTo>
                        <a:pt x="106" y="104"/>
                      </a:lnTo>
                      <a:lnTo>
                        <a:pt x="130" y="101"/>
                      </a:lnTo>
                      <a:lnTo>
                        <a:pt x="130" y="97"/>
                      </a:lnTo>
                      <a:lnTo>
                        <a:pt x="121" y="82"/>
                      </a:lnTo>
                      <a:lnTo>
                        <a:pt x="113" y="66"/>
                      </a:lnTo>
                      <a:lnTo>
                        <a:pt x="113" y="48"/>
                      </a:lnTo>
                      <a:lnTo>
                        <a:pt x="117" y="31"/>
                      </a:lnTo>
                      <a:lnTo>
                        <a:pt x="21" y="0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25" name="Freeform 93"/>
                <p:cNvSpPr>
                  <a:spLocks/>
                </p:cNvSpPr>
                <p:nvPr/>
              </p:nvSpPr>
              <p:spPr bwMode="auto">
                <a:xfrm>
                  <a:off x="3505" y="3914"/>
                  <a:ext cx="455" cy="321"/>
                </a:xfrm>
                <a:custGeom>
                  <a:avLst/>
                  <a:gdLst/>
                  <a:ahLst/>
                  <a:cxnLst>
                    <a:cxn ang="0">
                      <a:pos x="180" y="0"/>
                    </a:cxn>
                    <a:cxn ang="0">
                      <a:pos x="137" y="10"/>
                    </a:cxn>
                    <a:cxn ang="0">
                      <a:pos x="88" y="15"/>
                    </a:cxn>
                    <a:cxn ang="0">
                      <a:pos x="64" y="20"/>
                    </a:cxn>
                    <a:cxn ang="0">
                      <a:pos x="45" y="45"/>
                    </a:cxn>
                    <a:cxn ang="0">
                      <a:pos x="25" y="101"/>
                    </a:cxn>
                    <a:cxn ang="0">
                      <a:pos x="0" y="320"/>
                    </a:cxn>
                    <a:cxn ang="0">
                      <a:pos x="454" y="320"/>
                    </a:cxn>
                    <a:cxn ang="0">
                      <a:pos x="450" y="207"/>
                    </a:cxn>
                    <a:cxn ang="0">
                      <a:pos x="431" y="73"/>
                    </a:cxn>
                    <a:cxn ang="0">
                      <a:pos x="422" y="53"/>
                    </a:cxn>
                    <a:cxn ang="0">
                      <a:pos x="381" y="34"/>
                    </a:cxn>
                    <a:cxn ang="0">
                      <a:pos x="325" y="19"/>
                    </a:cxn>
                    <a:cxn ang="0">
                      <a:pos x="308" y="11"/>
                    </a:cxn>
                    <a:cxn ang="0">
                      <a:pos x="309" y="218"/>
                    </a:cxn>
                    <a:cxn ang="0">
                      <a:pos x="180" y="1"/>
                    </a:cxn>
                    <a:cxn ang="0">
                      <a:pos x="180" y="0"/>
                    </a:cxn>
                  </a:cxnLst>
                  <a:rect l="0" t="0" r="r" b="b"/>
                  <a:pathLst>
                    <a:path w="455" h="321">
                      <a:moveTo>
                        <a:pt x="180" y="0"/>
                      </a:moveTo>
                      <a:lnTo>
                        <a:pt x="137" y="10"/>
                      </a:lnTo>
                      <a:lnTo>
                        <a:pt x="88" y="15"/>
                      </a:lnTo>
                      <a:lnTo>
                        <a:pt x="64" y="20"/>
                      </a:lnTo>
                      <a:lnTo>
                        <a:pt x="45" y="45"/>
                      </a:lnTo>
                      <a:lnTo>
                        <a:pt x="25" y="101"/>
                      </a:lnTo>
                      <a:lnTo>
                        <a:pt x="0" y="320"/>
                      </a:lnTo>
                      <a:lnTo>
                        <a:pt x="454" y="320"/>
                      </a:lnTo>
                      <a:lnTo>
                        <a:pt x="450" y="207"/>
                      </a:lnTo>
                      <a:lnTo>
                        <a:pt x="431" y="73"/>
                      </a:lnTo>
                      <a:lnTo>
                        <a:pt x="422" y="53"/>
                      </a:lnTo>
                      <a:lnTo>
                        <a:pt x="381" y="34"/>
                      </a:lnTo>
                      <a:lnTo>
                        <a:pt x="325" y="19"/>
                      </a:lnTo>
                      <a:lnTo>
                        <a:pt x="308" y="11"/>
                      </a:lnTo>
                      <a:lnTo>
                        <a:pt x="309" y="218"/>
                      </a:lnTo>
                      <a:lnTo>
                        <a:pt x="180" y="1"/>
                      </a:lnTo>
                      <a:lnTo>
                        <a:pt x="180" y="0"/>
                      </a:lnTo>
                    </a:path>
                  </a:pathLst>
                </a:custGeom>
                <a:solidFill>
                  <a:srgbClr val="212121"/>
                </a:solidFill>
                <a:ln w="12700" cap="rnd" cmpd="sng">
                  <a:solidFill>
                    <a:srgbClr val="21212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26" name="Freeform 94"/>
                <p:cNvSpPr>
                  <a:spLocks/>
                </p:cNvSpPr>
                <p:nvPr/>
              </p:nvSpPr>
              <p:spPr bwMode="auto">
                <a:xfrm>
                  <a:off x="3830" y="3933"/>
                  <a:ext cx="71" cy="29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3" y="78"/>
                    </a:cxn>
                    <a:cxn ang="0">
                      <a:pos x="38" y="110"/>
                    </a:cxn>
                    <a:cxn ang="0">
                      <a:pos x="67" y="138"/>
                    </a:cxn>
                    <a:cxn ang="0">
                      <a:pos x="67" y="184"/>
                    </a:cxn>
                    <a:cxn ang="0">
                      <a:pos x="59" y="223"/>
                    </a:cxn>
                    <a:cxn ang="0">
                      <a:pos x="44" y="286"/>
                    </a:cxn>
                    <a:cxn ang="0">
                      <a:pos x="41" y="297"/>
                    </a:cxn>
                    <a:cxn ang="0">
                      <a:pos x="49" y="274"/>
                    </a:cxn>
                    <a:cxn ang="0">
                      <a:pos x="70" y="185"/>
                    </a:cxn>
                    <a:cxn ang="0">
                      <a:pos x="69" y="135"/>
                    </a:cxn>
                    <a:cxn ang="0">
                      <a:pos x="41" y="109"/>
                    </a:cxn>
                    <a:cxn ang="0">
                      <a:pos x="57" y="75"/>
                    </a:cxn>
                    <a:cxn ang="0">
                      <a:pos x="41" y="49"/>
                    </a:cxn>
                    <a:cxn ang="0">
                      <a:pos x="3" y="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71" h="298">
                      <a:moveTo>
                        <a:pt x="0" y="0"/>
                      </a:moveTo>
                      <a:lnTo>
                        <a:pt x="53" y="78"/>
                      </a:lnTo>
                      <a:lnTo>
                        <a:pt x="38" y="110"/>
                      </a:lnTo>
                      <a:lnTo>
                        <a:pt x="67" y="138"/>
                      </a:lnTo>
                      <a:lnTo>
                        <a:pt x="67" y="184"/>
                      </a:lnTo>
                      <a:lnTo>
                        <a:pt x="59" y="223"/>
                      </a:lnTo>
                      <a:lnTo>
                        <a:pt x="44" y="286"/>
                      </a:lnTo>
                      <a:lnTo>
                        <a:pt x="41" y="297"/>
                      </a:lnTo>
                      <a:lnTo>
                        <a:pt x="49" y="274"/>
                      </a:lnTo>
                      <a:lnTo>
                        <a:pt x="70" y="185"/>
                      </a:lnTo>
                      <a:lnTo>
                        <a:pt x="69" y="135"/>
                      </a:lnTo>
                      <a:lnTo>
                        <a:pt x="41" y="109"/>
                      </a:lnTo>
                      <a:lnTo>
                        <a:pt x="57" y="75"/>
                      </a:lnTo>
                      <a:lnTo>
                        <a:pt x="41" y="49"/>
                      </a:lnTo>
                      <a:lnTo>
                        <a:pt x="3" y="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1A1A1A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27" name="Freeform 95"/>
                <p:cNvSpPr>
                  <a:spLocks/>
                </p:cNvSpPr>
                <p:nvPr/>
              </p:nvSpPr>
              <p:spPr bwMode="auto">
                <a:xfrm>
                  <a:off x="3658" y="3923"/>
                  <a:ext cx="113" cy="31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9" y="19"/>
                    </a:cxn>
                    <a:cxn ang="0">
                      <a:pos x="11" y="45"/>
                    </a:cxn>
                    <a:cxn ang="0">
                      <a:pos x="17" y="79"/>
                    </a:cxn>
                    <a:cxn ang="0">
                      <a:pos x="17" y="83"/>
                    </a:cxn>
                    <a:cxn ang="0">
                      <a:pos x="26" y="81"/>
                    </a:cxn>
                    <a:cxn ang="0">
                      <a:pos x="32" y="84"/>
                    </a:cxn>
                    <a:cxn ang="0">
                      <a:pos x="28" y="88"/>
                    </a:cxn>
                    <a:cxn ang="0">
                      <a:pos x="22" y="88"/>
                    </a:cxn>
                    <a:cxn ang="0">
                      <a:pos x="22" y="107"/>
                    </a:cxn>
                    <a:cxn ang="0">
                      <a:pos x="42" y="163"/>
                    </a:cxn>
                    <a:cxn ang="0">
                      <a:pos x="56" y="198"/>
                    </a:cxn>
                    <a:cxn ang="0">
                      <a:pos x="73" y="233"/>
                    </a:cxn>
                    <a:cxn ang="0">
                      <a:pos x="100" y="300"/>
                    </a:cxn>
                    <a:cxn ang="0">
                      <a:pos x="105" y="309"/>
                    </a:cxn>
                    <a:cxn ang="0">
                      <a:pos x="112" y="307"/>
                    </a:cxn>
                    <a:cxn ang="0">
                      <a:pos x="66" y="212"/>
                    </a:cxn>
                    <a:cxn ang="0">
                      <a:pos x="49" y="182"/>
                    </a:cxn>
                    <a:cxn ang="0">
                      <a:pos x="40" y="157"/>
                    </a:cxn>
                    <a:cxn ang="0">
                      <a:pos x="26" y="116"/>
                    </a:cxn>
                    <a:cxn ang="0">
                      <a:pos x="23" y="99"/>
                    </a:cxn>
                    <a:cxn ang="0">
                      <a:pos x="23" y="92"/>
                    </a:cxn>
                    <a:cxn ang="0">
                      <a:pos x="32" y="89"/>
                    </a:cxn>
                    <a:cxn ang="0">
                      <a:pos x="34" y="84"/>
                    </a:cxn>
                    <a:cxn ang="0">
                      <a:pos x="32" y="79"/>
                    </a:cxn>
                    <a:cxn ang="0">
                      <a:pos x="19" y="79"/>
                    </a:cxn>
                    <a:cxn ang="0">
                      <a:pos x="11" y="35"/>
                    </a:cxn>
                    <a:cxn ang="0">
                      <a:pos x="2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13" h="3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9" y="19"/>
                      </a:lnTo>
                      <a:lnTo>
                        <a:pt x="11" y="45"/>
                      </a:lnTo>
                      <a:lnTo>
                        <a:pt x="17" y="79"/>
                      </a:lnTo>
                      <a:lnTo>
                        <a:pt x="17" y="83"/>
                      </a:lnTo>
                      <a:lnTo>
                        <a:pt x="26" y="81"/>
                      </a:lnTo>
                      <a:lnTo>
                        <a:pt x="32" y="84"/>
                      </a:lnTo>
                      <a:lnTo>
                        <a:pt x="28" y="88"/>
                      </a:lnTo>
                      <a:lnTo>
                        <a:pt x="22" y="88"/>
                      </a:lnTo>
                      <a:lnTo>
                        <a:pt x="22" y="107"/>
                      </a:lnTo>
                      <a:lnTo>
                        <a:pt x="42" y="163"/>
                      </a:lnTo>
                      <a:lnTo>
                        <a:pt x="56" y="198"/>
                      </a:lnTo>
                      <a:lnTo>
                        <a:pt x="73" y="233"/>
                      </a:lnTo>
                      <a:lnTo>
                        <a:pt x="100" y="300"/>
                      </a:lnTo>
                      <a:lnTo>
                        <a:pt x="105" y="309"/>
                      </a:lnTo>
                      <a:lnTo>
                        <a:pt x="112" y="307"/>
                      </a:lnTo>
                      <a:lnTo>
                        <a:pt x="66" y="212"/>
                      </a:lnTo>
                      <a:lnTo>
                        <a:pt x="49" y="182"/>
                      </a:lnTo>
                      <a:lnTo>
                        <a:pt x="40" y="157"/>
                      </a:lnTo>
                      <a:lnTo>
                        <a:pt x="26" y="116"/>
                      </a:lnTo>
                      <a:lnTo>
                        <a:pt x="23" y="99"/>
                      </a:lnTo>
                      <a:lnTo>
                        <a:pt x="23" y="92"/>
                      </a:lnTo>
                      <a:lnTo>
                        <a:pt x="32" y="89"/>
                      </a:lnTo>
                      <a:lnTo>
                        <a:pt x="34" y="84"/>
                      </a:lnTo>
                      <a:lnTo>
                        <a:pt x="32" y="79"/>
                      </a:lnTo>
                      <a:lnTo>
                        <a:pt x="19" y="79"/>
                      </a:lnTo>
                      <a:lnTo>
                        <a:pt x="11" y="35"/>
                      </a:lnTo>
                      <a:lnTo>
                        <a:pt x="2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1A1A1A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28" name="Freeform 96"/>
                <p:cNvSpPr>
                  <a:spLocks/>
                </p:cNvSpPr>
                <p:nvPr/>
              </p:nvSpPr>
              <p:spPr bwMode="auto">
                <a:xfrm>
                  <a:off x="3712" y="3868"/>
                  <a:ext cx="128" cy="260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27" y="20"/>
                    </a:cxn>
                    <a:cxn ang="0">
                      <a:pos x="45" y="73"/>
                    </a:cxn>
                    <a:cxn ang="0">
                      <a:pos x="50" y="38"/>
                    </a:cxn>
                    <a:cxn ang="0">
                      <a:pos x="59" y="41"/>
                    </a:cxn>
                    <a:cxn ang="0">
                      <a:pos x="71" y="41"/>
                    </a:cxn>
                    <a:cxn ang="0">
                      <a:pos x="77" y="39"/>
                    </a:cxn>
                    <a:cxn ang="0">
                      <a:pos x="83" y="34"/>
                    </a:cxn>
                    <a:cxn ang="0">
                      <a:pos x="89" y="29"/>
                    </a:cxn>
                    <a:cxn ang="0">
                      <a:pos x="98" y="50"/>
                    </a:cxn>
                    <a:cxn ang="0">
                      <a:pos x="127" y="119"/>
                    </a:cxn>
                    <a:cxn ang="0">
                      <a:pos x="108" y="256"/>
                    </a:cxn>
                    <a:cxn ang="0">
                      <a:pos x="74" y="259"/>
                    </a:cxn>
                    <a:cxn ang="0">
                      <a:pos x="0" y="43"/>
                    </a:cxn>
                    <a:cxn ang="0">
                      <a:pos x="4" y="29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28" h="260">
                      <a:moveTo>
                        <a:pt x="8" y="0"/>
                      </a:moveTo>
                      <a:lnTo>
                        <a:pt x="27" y="20"/>
                      </a:lnTo>
                      <a:lnTo>
                        <a:pt x="45" y="73"/>
                      </a:lnTo>
                      <a:lnTo>
                        <a:pt x="50" y="38"/>
                      </a:lnTo>
                      <a:lnTo>
                        <a:pt x="59" y="41"/>
                      </a:lnTo>
                      <a:lnTo>
                        <a:pt x="71" y="41"/>
                      </a:lnTo>
                      <a:lnTo>
                        <a:pt x="77" y="39"/>
                      </a:lnTo>
                      <a:lnTo>
                        <a:pt x="83" y="34"/>
                      </a:lnTo>
                      <a:lnTo>
                        <a:pt x="89" y="29"/>
                      </a:lnTo>
                      <a:lnTo>
                        <a:pt x="98" y="50"/>
                      </a:lnTo>
                      <a:lnTo>
                        <a:pt x="127" y="119"/>
                      </a:lnTo>
                      <a:lnTo>
                        <a:pt x="108" y="256"/>
                      </a:lnTo>
                      <a:lnTo>
                        <a:pt x="74" y="259"/>
                      </a:lnTo>
                      <a:lnTo>
                        <a:pt x="0" y="43"/>
                      </a:lnTo>
                      <a:lnTo>
                        <a:pt x="4" y="29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rgbClr val="353535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29" name="Freeform 97"/>
                <p:cNvSpPr>
                  <a:spLocks/>
                </p:cNvSpPr>
                <p:nvPr/>
              </p:nvSpPr>
              <p:spPr bwMode="auto">
                <a:xfrm>
                  <a:off x="3667" y="3874"/>
                  <a:ext cx="149" cy="264"/>
                </a:xfrm>
                <a:custGeom>
                  <a:avLst/>
                  <a:gdLst/>
                  <a:ahLst/>
                  <a:cxnLst>
                    <a:cxn ang="0">
                      <a:pos x="28" y="2"/>
                    </a:cxn>
                    <a:cxn ang="0">
                      <a:pos x="0" y="45"/>
                    </a:cxn>
                    <a:cxn ang="0">
                      <a:pos x="6" y="73"/>
                    </a:cxn>
                    <a:cxn ang="0">
                      <a:pos x="10" y="102"/>
                    </a:cxn>
                    <a:cxn ang="0">
                      <a:pos x="14" y="119"/>
                    </a:cxn>
                    <a:cxn ang="0">
                      <a:pos x="17" y="126"/>
                    </a:cxn>
                    <a:cxn ang="0">
                      <a:pos x="41" y="126"/>
                    </a:cxn>
                    <a:cxn ang="0">
                      <a:pos x="51" y="126"/>
                    </a:cxn>
                    <a:cxn ang="0">
                      <a:pos x="67" y="133"/>
                    </a:cxn>
                    <a:cxn ang="0">
                      <a:pos x="60" y="154"/>
                    </a:cxn>
                    <a:cxn ang="0">
                      <a:pos x="57" y="160"/>
                    </a:cxn>
                    <a:cxn ang="0">
                      <a:pos x="97" y="210"/>
                    </a:cxn>
                    <a:cxn ang="0">
                      <a:pos x="117" y="235"/>
                    </a:cxn>
                    <a:cxn ang="0">
                      <a:pos x="133" y="250"/>
                    </a:cxn>
                    <a:cxn ang="0">
                      <a:pos x="148" y="263"/>
                    </a:cxn>
                    <a:cxn ang="0">
                      <a:pos x="146" y="251"/>
                    </a:cxn>
                    <a:cxn ang="0">
                      <a:pos x="130" y="226"/>
                    </a:cxn>
                    <a:cxn ang="0">
                      <a:pos x="115" y="184"/>
                    </a:cxn>
                    <a:cxn ang="0">
                      <a:pos x="102" y="149"/>
                    </a:cxn>
                    <a:cxn ang="0">
                      <a:pos x="91" y="124"/>
                    </a:cxn>
                    <a:cxn ang="0">
                      <a:pos x="69" y="81"/>
                    </a:cxn>
                    <a:cxn ang="0">
                      <a:pos x="63" y="68"/>
                    </a:cxn>
                    <a:cxn ang="0">
                      <a:pos x="48" y="40"/>
                    </a:cxn>
                    <a:cxn ang="0">
                      <a:pos x="40" y="27"/>
                    </a:cxn>
                    <a:cxn ang="0">
                      <a:pos x="34" y="8"/>
                    </a:cxn>
                    <a:cxn ang="0">
                      <a:pos x="32" y="0"/>
                    </a:cxn>
                    <a:cxn ang="0">
                      <a:pos x="28" y="2"/>
                    </a:cxn>
                  </a:cxnLst>
                  <a:rect l="0" t="0" r="r" b="b"/>
                  <a:pathLst>
                    <a:path w="149" h="264">
                      <a:moveTo>
                        <a:pt x="28" y="2"/>
                      </a:moveTo>
                      <a:lnTo>
                        <a:pt x="0" y="45"/>
                      </a:lnTo>
                      <a:lnTo>
                        <a:pt x="6" y="73"/>
                      </a:lnTo>
                      <a:lnTo>
                        <a:pt x="10" y="102"/>
                      </a:lnTo>
                      <a:lnTo>
                        <a:pt x="14" y="119"/>
                      </a:lnTo>
                      <a:lnTo>
                        <a:pt x="17" y="126"/>
                      </a:lnTo>
                      <a:lnTo>
                        <a:pt x="41" y="126"/>
                      </a:lnTo>
                      <a:lnTo>
                        <a:pt x="51" y="126"/>
                      </a:lnTo>
                      <a:lnTo>
                        <a:pt x="67" y="133"/>
                      </a:lnTo>
                      <a:lnTo>
                        <a:pt x="60" y="154"/>
                      </a:lnTo>
                      <a:lnTo>
                        <a:pt x="57" y="160"/>
                      </a:lnTo>
                      <a:lnTo>
                        <a:pt x="97" y="210"/>
                      </a:lnTo>
                      <a:lnTo>
                        <a:pt x="117" y="235"/>
                      </a:lnTo>
                      <a:lnTo>
                        <a:pt x="133" y="250"/>
                      </a:lnTo>
                      <a:lnTo>
                        <a:pt x="148" y="263"/>
                      </a:lnTo>
                      <a:lnTo>
                        <a:pt x="146" y="251"/>
                      </a:lnTo>
                      <a:lnTo>
                        <a:pt x="130" y="226"/>
                      </a:lnTo>
                      <a:lnTo>
                        <a:pt x="115" y="184"/>
                      </a:lnTo>
                      <a:lnTo>
                        <a:pt x="102" y="149"/>
                      </a:lnTo>
                      <a:lnTo>
                        <a:pt x="91" y="124"/>
                      </a:lnTo>
                      <a:lnTo>
                        <a:pt x="69" y="81"/>
                      </a:lnTo>
                      <a:lnTo>
                        <a:pt x="63" y="68"/>
                      </a:lnTo>
                      <a:lnTo>
                        <a:pt x="48" y="40"/>
                      </a:lnTo>
                      <a:lnTo>
                        <a:pt x="40" y="27"/>
                      </a:lnTo>
                      <a:lnTo>
                        <a:pt x="34" y="8"/>
                      </a:lnTo>
                      <a:lnTo>
                        <a:pt x="32" y="0"/>
                      </a:lnTo>
                      <a:lnTo>
                        <a:pt x="28" y="2"/>
                      </a:lnTo>
                    </a:path>
                  </a:pathLst>
                </a:custGeom>
                <a:solidFill>
                  <a:srgbClr val="E1E1E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30" name="Freeform 98"/>
                <p:cNvSpPr>
                  <a:spLocks/>
                </p:cNvSpPr>
                <p:nvPr/>
              </p:nvSpPr>
              <p:spPr bwMode="auto">
                <a:xfrm>
                  <a:off x="3749" y="4064"/>
                  <a:ext cx="9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" y="21"/>
                    </a:cxn>
                    <a:cxn ang="0">
                      <a:pos x="17" y="42"/>
                    </a:cxn>
                    <a:cxn ang="0">
                      <a:pos x="34" y="75"/>
                    </a:cxn>
                    <a:cxn ang="0">
                      <a:pos x="51" y="116"/>
                    </a:cxn>
                    <a:cxn ang="0">
                      <a:pos x="61" y="146"/>
                    </a:cxn>
                    <a:cxn ang="0">
                      <a:pos x="63" y="161"/>
                    </a:cxn>
                    <a:cxn ang="0">
                      <a:pos x="65" y="170"/>
                    </a:cxn>
                    <a:cxn ang="0">
                      <a:pos x="87" y="170"/>
                    </a:cxn>
                    <a:cxn ang="0">
                      <a:pos x="87" y="129"/>
                    </a:cxn>
                    <a:cxn ang="0">
                      <a:pos x="90" y="94"/>
                    </a:cxn>
                    <a:cxn ang="0">
                      <a:pos x="90" y="74"/>
                    </a:cxn>
                    <a:cxn ang="0">
                      <a:pos x="89" y="53"/>
                    </a:cxn>
                    <a:cxn ang="0">
                      <a:pos x="84" y="34"/>
                    </a:cxn>
                    <a:cxn ang="0">
                      <a:pos x="79" y="13"/>
                    </a:cxn>
                    <a:cxn ang="0">
                      <a:pos x="66" y="68"/>
                    </a:cxn>
                    <a:cxn ang="0">
                      <a:pos x="21" y="29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91" h="171">
                      <a:moveTo>
                        <a:pt x="0" y="0"/>
                      </a:moveTo>
                      <a:lnTo>
                        <a:pt x="7" y="21"/>
                      </a:lnTo>
                      <a:lnTo>
                        <a:pt x="17" y="42"/>
                      </a:lnTo>
                      <a:lnTo>
                        <a:pt x="34" y="75"/>
                      </a:lnTo>
                      <a:lnTo>
                        <a:pt x="51" y="116"/>
                      </a:lnTo>
                      <a:lnTo>
                        <a:pt x="61" y="146"/>
                      </a:lnTo>
                      <a:lnTo>
                        <a:pt x="63" y="161"/>
                      </a:lnTo>
                      <a:lnTo>
                        <a:pt x="65" y="170"/>
                      </a:lnTo>
                      <a:lnTo>
                        <a:pt x="87" y="170"/>
                      </a:lnTo>
                      <a:lnTo>
                        <a:pt x="87" y="129"/>
                      </a:lnTo>
                      <a:lnTo>
                        <a:pt x="90" y="94"/>
                      </a:lnTo>
                      <a:lnTo>
                        <a:pt x="90" y="74"/>
                      </a:lnTo>
                      <a:lnTo>
                        <a:pt x="89" y="53"/>
                      </a:lnTo>
                      <a:lnTo>
                        <a:pt x="84" y="34"/>
                      </a:lnTo>
                      <a:lnTo>
                        <a:pt x="79" y="13"/>
                      </a:lnTo>
                      <a:lnTo>
                        <a:pt x="66" y="68"/>
                      </a:lnTo>
                      <a:lnTo>
                        <a:pt x="21" y="2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0C0C0"/>
                </a:solidFill>
                <a:ln w="12700" cap="rnd" cmpd="sng">
                  <a:solidFill>
                    <a:srgbClr val="C0C0C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31" name="Freeform 99"/>
                <p:cNvSpPr>
                  <a:spLocks/>
                </p:cNvSpPr>
                <p:nvPr/>
              </p:nvSpPr>
              <p:spPr bwMode="auto">
                <a:xfrm>
                  <a:off x="3807" y="3910"/>
                  <a:ext cx="60" cy="22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23"/>
                    </a:cxn>
                    <a:cxn ang="0">
                      <a:pos x="5" y="49"/>
                    </a:cxn>
                    <a:cxn ang="0">
                      <a:pos x="6" y="82"/>
                    </a:cxn>
                    <a:cxn ang="0">
                      <a:pos x="6" y="129"/>
                    </a:cxn>
                    <a:cxn ang="0">
                      <a:pos x="5" y="159"/>
                    </a:cxn>
                    <a:cxn ang="0">
                      <a:pos x="5" y="188"/>
                    </a:cxn>
                    <a:cxn ang="0">
                      <a:pos x="5" y="212"/>
                    </a:cxn>
                    <a:cxn ang="0">
                      <a:pos x="9" y="228"/>
                    </a:cxn>
                    <a:cxn ang="0">
                      <a:pos x="22" y="184"/>
                    </a:cxn>
                    <a:cxn ang="0">
                      <a:pos x="30" y="159"/>
                    </a:cxn>
                    <a:cxn ang="0">
                      <a:pos x="40" y="137"/>
                    </a:cxn>
                    <a:cxn ang="0">
                      <a:pos x="43" y="127"/>
                    </a:cxn>
                    <a:cxn ang="0">
                      <a:pos x="32" y="111"/>
                    </a:cxn>
                    <a:cxn ang="0">
                      <a:pos x="28" y="101"/>
                    </a:cxn>
                    <a:cxn ang="0">
                      <a:pos x="30" y="92"/>
                    </a:cxn>
                    <a:cxn ang="0">
                      <a:pos x="42" y="93"/>
                    </a:cxn>
                    <a:cxn ang="0">
                      <a:pos x="54" y="101"/>
                    </a:cxn>
                    <a:cxn ang="0">
                      <a:pos x="59" y="104"/>
                    </a:cxn>
                    <a:cxn ang="0">
                      <a:pos x="48" y="84"/>
                    </a:cxn>
                    <a:cxn ang="0">
                      <a:pos x="33" y="54"/>
                    </a:cxn>
                    <a:cxn ang="0">
                      <a:pos x="18" y="31"/>
                    </a:cxn>
                    <a:cxn ang="0">
                      <a:pos x="8" y="14"/>
                    </a:cxn>
                    <a:cxn ang="0">
                      <a:pos x="5" y="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60" h="229">
                      <a:moveTo>
                        <a:pt x="0" y="0"/>
                      </a:moveTo>
                      <a:lnTo>
                        <a:pt x="2" y="23"/>
                      </a:lnTo>
                      <a:lnTo>
                        <a:pt x="5" y="49"/>
                      </a:lnTo>
                      <a:lnTo>
                        <a:pt x="6" y="82"/>
                      </a:lnTo>
                      <a:lnTo>
                        <a:pt x="6" y="129"/>
                      </a:lnTo>
                      <a:lnTo>
                        <a:pt x="5" y="159"/>
                      </a:lnTo>
                      <a:lnTo>
                        <a:pt x="5" y="188"/>
                      </a:lnTo>
                      <a:lnTo>
                        <a:pt x="5" y="212"/>
                      </a:lnTo>
                      <a:lnTo>
                        <a:pt x="9" y="228"/>
                      </a:lnTo>
                      <a:lnTo>
                        <a:pt x="22" y="184"/>
                      </a:lnTo>
                      <a:lnTo>
                        <a:pt x="30" y="159"/>
                      </a:lnTo>
                      <a:lnTo>
                        <a:pt x="40" y="137"/>
                      </a:lnTo>
                      <a:lnTo>
                        <a:pt x="43" y="127"/>
                      </a:lnTo>
                      <a:lnTo>
                        <a:pt x="32" y="111"/>
                      </a:lnTo>
                      <a:lnTo>
                        <a:pt x="28" y="101"/>
                      </a:lnTo>
                      <a:lnTo>
                        <a:pt x="30" y="92"/>
                      </a:lnTo>
                      <a:lnTo>
                        <a:pt x="42" y="93"/>
                      </a:lnTo>
                      <a:lnTo>
                        <a:pt x="54" y="101"/>
                      </a:lnTo>
                      <a:lnTo>
                        <a:pt x="59" y="104"/>
                      </a:lnTo>
                      <a:lnTo>
                        <a:pt x="48" y="84"/>
                      </a:lnTo>
                      <a:lnTo>
                        <a:pt x="33" y="54"/>
                      </a:lnTo>
                      <a:lnTo>
                        <a:pt x="18" y="31"/>
                      </a:lnTo>
                      <a:lnTo>
                        <a:pt x="8" y="14"/>
                      </a:lnTo>
                      <a:lnTo>
                        <a:pt x="5" y="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E1E1E1"/>
                </a:solidFill>
                <a:ln w="12700" cap="rnd" cmpd="sng">
                  <a:solidFill>
                    <a:srgbClr val="E1E1E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32" name="Freeform 100"/>
                <p:cNvSpPr>
                  <a:spLocks/>
                </p:cNvSpPr>
                <p:nvPr/>
              </p:nvSpPr>
              <p:spPr bwMode="auto">
                <a:xfrm>
                  <a:off x="3700" y="3874"/>
                  <a:ext cx="18" cy="29"/>
                </a:xfrm>
                <a:custGeom>
                  <a:avLst/>
                  <a:gdLst/>
                  <a:ahLst/>
                  <a:cxnLst>
                    <a:cxn ang="0">
                      <a:pos x="6" y="28"/>
                    </a:cxn>
                    <a:cxn ang="0">
                      <a:pos x="17" y="0"/>
                    </a:cxn>
                    <a:cxn ang="0">
                      <a:pos x="0" y="0"/>
                    </a:cxn>
                    <a:cxn ang="0">
                      <a:pos x="6" y="28"/>
                    </a:cxn>
                  </a:cxnLst>
                  <a:rect l="0" t="0" r="r" b="b"/>
                  <a:pathLst>
                    <a:path w="18" h="29">
                      <a:moveTo>
                        <a:pt x="6" y="28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6" y="28"/>
                      </a:lnTo>
                    </a:path>
                  </a:pathLst>
                </a:custGeom>
                <a:solidFill>
                  <a:srgbClr val="A2A2A2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33" name="Freeform 101"/>
                <p:cNvSpPr>
                  <a:spLocks/>
                </p:cNvSpPr>
                <p:nvPr/>
              </p:nvSpPr>
              <p:spPr bwMode="auto">
                <a:xfrm>
                  <a:off x="3639" y="3601"/>
                  <a:ext cx="259" cy="270"/>
                </a:xfrm>
                <a:custGeom>
                  <a:avLst/>
                  <a:gdLst/>
                  <a:ahLst/>
                  <a:cxnLst>
                    <a:cxn ang="0">
                      <a:pos x="89" y="124"/>
                    </a:cxn>
                    <a:cxn ang="0">
                      <a:pos x="102" y="128"/>
                    </a:cxn>
                    <a:cxn ang="0">
                      <a:pos x="106" y="121"/>
                    </a:cxn>
                    <a:cxn ang="0">
                      <a:pos x="121" y="120"/>
                    </a:cxn>
                    <a:cxn ang="0">
                      <a:pos x="121" y="116"/>
                    </a:cxn>
                    <a:cxn ang="0">
                      <a:pos x="128" y="120"/>
                    </a:cxn>
                    <a:cxn ang="0">
                      <a:pos x="168" y="104"/>
                    </a:cxn>
                    <a:cxn ang="0">
                      <a:pos x="196" y="125"/>
                    </a:cxn>
                    <a:cxn ang="0">
                      <a:pos x="205" y="162"/>
                    </a:cxn>
                    <a:cxn ang="0">
                      <a:pos x="206" y="191"/>
                    </a:cxn>
                    <a:cxn ang="0">
                      <a:pos x="211" y="192"/>
                    </a:cxn>
                    <a:cxn ang="0">
                      <a:pos x="213" y="205"/>
                    </a:cxn>
                    <a:cxn ang="0">
                      <a:pos x="203" y="226"/>
                    </a:cxn>
                    <a:cxn ang="0">
                      <a:pos x="200" y="227"/>
                    </a:cxn>
                    <a:cxn ang="0">
                      <a:pos x="191" y="255"/>
                    </a:cxn>
                    <a:cxn ang="0">
                      <a:pos x="180" y="269"/>
                    </a:cxn>
                    <a:cxn ang="0">
                      <a:pos x="202" y="253"/>
                    </a:cxn>
                    <a:cxn ang="0">
                      <a:pos x="208" y="241"/>
                    </a:cxn>
                    <a:cxn ang="0">
                      <a:pos x="218" y="234"/>
                    </a:cxn>
                    <a:cxn ang="0">
                      <a:pos x="225" y="227"/>
                    </a:cxn>
                    <a:cxn ang="0">
                      <a:pos x="236" y="201"/>
                    </a:cxn>
                    <a:cxn ang="0">
                      <a:pos x="248" y="184"/>
                    </a:cxn>
                    <a:cxn ang="0">
                      <a:pos x="253" y="173"/>
                    </a:cxn>
                    <a:cxn ang="0">
                      <a:pos x="258" y="143"/>
                    </a:cxn>
                    <a:cxn ang="0">
                      <a:pos x="252" y="120"/>
                    </a:cxn>
                    <a:cxn ang="0">
                      <a:pos x="249" y="102"/>
                    </a:cxn>
                    <a:cxn ang="0">
                      <a:pos x="241" y="81"/>
                    </a:cxn>
                    <a:cxn ang="0">
                      <a:pos x="232" y="62"/>
                    </a:cxn>
                    <a:cxn ang="0">
                      <a:pos x="223" y="59"/>
                    </a:cxn>
                    <a:cxn ang="0">
                      <a:pos x="220" y="50"/>
                    </a:cxn>
                    <a:cxn ang="0">
                      <a:pos x="208" y="32"/>
                    </a:cxn>
                    <a:cxn ang="0">
                      <a:pos x="179" y="12"/>
                    </a:cxn>
                    <a:cxn ang="0">
                      <a:pos x="161" y="11"/>
                    </a:cxn>
                    <a:cxn ang="0">
                      <a:pos x="145" y="1"/>
                    </a:cxn>
                    <a:cxn ang="0">
                      <a:pos x="126" y="0"/>
                    </a:cxn>
                    <a:cxn ang="0">
                      <a:pos x="112" y="6"/>
                    </a:cxn>
                    <a:cxn ang="0">
                      <a:pos x="93" y="1"/>
                    </a:cxn>
                    <a:cxn ang="0">
                      <a:pos x="86" y="7"/>
                    </a:cxn>
                    <a:cxn ang="0">
                      <a:pos x="56" y="31"/>
                    </a:cxn>
                    <a:cxn ang="0">
                      <a:pos x="56" y="42"/>
                    </a:cxn>
                    <a:cxn ang="0">
                      <a:pos x="25" y="84"/>
                    </a:cxn>
                    <a:cxn ang="0">
                      <a:pos x="18" y="96"/>
                    </a:cxn>
                    <a:cxn ang="0">
                      <a:pos x="16" y="104"/>
                    </a:cxn>
                    <a:cxn ang="0">
                      <a:pos x="6" y="116"/>
                    </a:cxn>
                    <a:cxn ang="0">
                      <a:pos x="0" y="119"/>
                    </a:cxn>
                    <a:cxn ang="0">
                      <a:pos x="3" y="127"/>
                    </a:cxn>
                    <a:cxn ang="0">
                      <a:pos x="8" y="140"/>
                    </a:cxn>
                    <a:cxn ang="0">
                      <a:pos x="8" y="162"/>
                    </a:cxn>
                    <a:cxn ang="0">
                      <a:pos x="10" y="198"/>
                    </a:cxn>
                    <a:cxn ang="0">
                      <a:pos x="47" y="242"/>
                    </a:cxn>
                    <a:cxn ang="0">
                      <a:pos x="57" y="246"/>
                    </a:cxn>
                    <a:cxn ang="0">
                      <a:pos x="78" y="254"/>
                    </a:cxn>
                    <a:cxn ang="0">
                      <a:pos x="74" y="246"/>
                    </a:cxn>
                    <a:cxn ang="0">
                      <a:pos x="70" y="210"/>
                    </a:cxn>
                    <a:cxn ang="0">
                      <a:pos x="70" y="198"/>
                    </a:cxn>
                    <a:cxn ang="0">
                      <a:pos x="70" y="180"/>
                    </a:cxn>
                    <a:cxn ang="0">
                      <a:pos x="73" y="156"/>
                    </a:cxn>
                    <a:cxn ang="0">
                      <a:pos x="77" y="145"/>
                    </a:cxn>
                    <a:cxn ang="0">
                      <a:pos x="84" y="134"/>
                    </a:cxn>
                    <a:cxn ang="0">
                      <a:pos x="89" y="131"/>
                    </a:cxn>
                    <a:cxn ang="0">
                      <a:pos x="89" y="124"/>
                    </a:cxn>
                  </a:cxnLst>
                  <a:rect l="0" t="0" r="r" b="b"/>
                  <a:pathLst>
                    <a:path w="259" h="270">
                      <a:moveTo>
                        <a:pt x="89" y="124"/>
                      </a:moveTo>
                      <a:lnTo>
                        <a:pt x="102" y="128"/>
                      </a:lnTo>
                      <a:lnTo>
                        <a:pt x="106" y="121"/>
                      </a:lnTo>
                      <a:lnTo>
                        <a:pt x="121" y="120"/>
                      </a:lnTo>
                      <a:lnTo>
                        <a:pt x="121" y="116"/>
                      </a:lnTo>
                      <a:lnTo>
                        <a:pt x="128" y="120"/>
                      </a:lnTo>
                      <a:lnTo>
                        <a:pt x="168" y="104"/>
                      </a:lnTo>
                      <a:lnTo>
                        <a:pt x="196" y="125"/>
                      </a:lnTo>
                      <a:lnTo>
                        <a:pt x="205" y="162"/>
                      </a:lnTo>
                      <a:lnTo>
                        <a:pt x="206" y="191"/>
                      </a:lnTo>
                      <a:lnTo>
                        <a:pt x="211" y="192"/>
                      </a:lnTo>
                      <a:lnTo>
                        <a:pt x="213" y="205"/>
                      </a:lnTo>
                      <a:lnTo>
                        <a:pt x="203" y="226"/>
                      </a:lnTo>
                      <a:lnTo>
                        <a:pt x="200" y="227"/>
                      </a:lnTo>
                      <a:lnTo>
                        <a:pt x="191" y="255"/>
                      </a:lnTo>
                      <a:lnTo>
                        <a:pt x="180" y="269"/>
                      </a:lnTo>
                      <a:lnTo>
                        <a:pt x="202" y="253"/>
                      </a:lnTo>
                      <a:lnTo>
                        <a:pt x="208" y="241"/>
                      </a:lnTo>
                      <a:lnTo>
                        <a:pt x="218" y="234"/>
                      </a:lnTo>
                      <a:lnTo>
                        <a:pt x="225" y="227"/>
                      </a:lnTo>
                      <a:lnTo>
                        <a:pt x="236" y="201"/>
                      </a:lnTo>
                      <a:lnTo>
                        <a:pt x="248" y="184"/>
                      </a:lnTo>
                      <a:lnTo>
                        <a:pt x="253" y="173"/>
                      </a:lnTo>
                      <a:lnTo>
                        <a:pt x="258" y="143"/>
                      </a:lnTo>
                      <a:lnTo>
                        <a:pt x="252" y="120"/>
                      </a:lnTo>
                      <a:lnTo>
                        <a:pt x="249" y="102"/>
                      </a:lnTo>
                      <a:lnTo>
                        <a:pt x="241" y="81"/>
                      </a:lnTo>
                      <a:lnTo>
                        <a:pt x="232" y="62"/>
                      </a:lnTo>
                      <a:lnTo>
                        <a:pt x="223" y="59"/>
                      </a:lnTo>
                      <a:lnTo>
                        <a:pt x="220" y="50"/>
                      </a:lnTo>
                      <a:lnTo>
                        <a:pt x="208" y="32"/>
                      </a:lnTo>
                      <a:lnTo>
                        <a:pt x="179" y="12"/>
                      </a:lnTo>
                      <a:lnTo>
                        <a:pt x="161" y="11"/>
                      </a:lnTo>
                      <a:lnTo>
                        <a:pt x="145" y="1"/>
                      </a:lnTo>
                      <a:lnTo>
                        <a:pt x="126" y="0"/>
                      </a:lnTo>
                      <a:lnTo>
                        <a:pt x="112" y="6"/>
                      </a:lnTo>
                      <a:lnTo>
                        <a:pt x="93" y="1"/>
                      </a:lnTo>
                      <a:lnTo>
                        <a:pt x="86" y="7"/>
                      </a:lnTo>
                      <a:lnTo>
                        <a:pt x="56" y="31"/>
                      </a:lnTo>
                      <a:lnTo>
                        <a:pt x="56" y="42"/>
                      </a:lnTo>
                      <a:lnTo>
                        <a:pt x="25" y="84"/>
                      </a:lnTo>
                      <a:lnTo>
                        <a:pt x="18" y="96"/>
                      </a:lnTo>
                      <a:lnTo>
                        <a:pt x="16" y="104"/>
                      </a:lnTo>
                      <a:lnTo>
                        <a:pt x="6" y="116"/>
                      </a:lnTo>
                      <a:lnTo>
                        <a:pt x="0" y="119"/>
                      </a:lnTo>
                      <a:lnTo>
                        <a:pt x="3" y="127"/>
                      </a:lnTo>
                      <a:lnTo>
                        <a:pt x="8" y="140"/>
                      </a:lnTo>
                      <a:lnTo>
                        <a:pt x="8" y="162"/>
                      </a:lnTo>
                      <a:lnTo>
                        <a:pt x="10" y="198"/>
                      </a:lnTo>
                      <a:lnTo>
                        <a:pt x="47" y="242"/>
                      </a:lnTo>
                      <a:lnTo>
                        <a:pt x="57" y="246"/>
                      </a:lnTo>
                      <a:lnTo>
                        <a:pt x="78" y="254"/>
                      </a:lnTo>
                      <a:lnTo>
                        <a:pt x="74" y="246"/>
                      </a:lnTo>
                      <a:lnTo>
                        <a:pt x="70" y="210"/>
                      </a:lnTo>
                      <a:lnTo>
                        <a:pt x="70" y="198"/>
                      </a:lnTo>
                      <a:lnTo>
                        <a:pt x="70" y="180"/>
                      </a:lnTo>
                      <a:lnTo>
                        <a:pt x="73" y="156"/>
                      </a:lnTo>
                      <a:lnTo>
                        <a:pt x="77" y="145"/>
                      </a:lnTo>
                      <a:lnTo>
                        <a:pt x="84" y="134"/>
                      </a:lnTo>
                      <a:lnTo>
                        <a:pt x="89" y="131"/>
                      </a:lnTo>
                      <a:lnTo>
                        <a:pt x="89" y="124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34" name="Freeform 102"/>
                <p:cNvSpPr>
                  <a:spLocks/>
                </p:cNvSpPr>
                <p:nvPr/>
              </p:nvSpPr>
              <p:spPr bwMode="auto">
                <a:xfrm>
                  <a:off x="3667" y="3624"/>
                  <a:ext cx="204" cy="161"/>
                </a:xfrm>
                <a:custGeom>
                  <a:avLst/>
                  <a:gdLst/>
                  <a:ahLst/>
                  <a:cxnLst>
                    <a:cxn ang="0">
                      <a:pos x="119" y="5"/>
                    </a:cxn>
                    <a:cxn ang="0">
                      <a:pos x="128" y="4"/>
                    </a:cxn>
                    <a:cxn ang="0">
                      <a:pos x="134" y="11"/>
                    </a:cxn>
                    <a:cxn ang="0">
                      <a:pos x="149" y="19"/>
                    </a:cxn>
                    <a:cxn ang="0">
                      <a:pos x="144" y="34"/>
                    </a:cxn>
                    <a:cxn ang="0">
                      <a:pos x="155" y="32"/>
                    </a:cxn>
                    <a:cxn ang="0">
                      <a:pos x="180" y="40"/>
                    </a:cxn>
                    <a:cxn ang="0">
                      <a:pos x="187" y="52"/>
                    </a:cxn>
                    <a:cxn ang="0">
                      <a:pos x="191" y="53"/>
                    </a:cxn>
                    <a:cxn ang="0">
                      <a:pos x="203" y="72"/>
                    </a:cxn>
                    <a:cxn ang="0">
                      <a:pos x="199" y="80"/>
                    </a:cxn>
                    <a:cxn ang="0">
                      <a:pos x="198" y="93"/>
                    </a:cxn>
                    <a:cxn ang="0">
                      <a:pos x="194" y="89"/>
                    </a:cxn>
                    <a:cxn ang="0">
                      <a:pos x="194" y="80"/>
                    </a:cxn>
                    <a:cxn ang="0">
                      <a:pos x="182" y="68"/>
                    </a:cxn>
                    <a:cxn ang="0">
                      <a:pos x="186" y="60"/>
                    </a:cxn>
                    <a:cxn ang="0">
                      <a:pos x="162" y="55"/>
                    </a:cxn>
                    <a:cxn ang="0">
                      <a:pos x="145" y="57"/>
                    </a:cxn>
                    <a:cxn ang="0">
                      <a:pos x="138" y="47"/>
                    </a:cxn>
                    <a:cxn ang="0">
                      <a:pos x="125" y="52"/>
                    </a:cxn>
                    <a:cxn ang="0">
                      <a:pos x="113" y="46"/>
                    </a:cxn>
                    <a:cxn ang="0">
                      <a:pos x="108" y="42"/>
                    </a:cxn>
                    <a:cxn ang="0">
                      <a:pos x="102" y="44"/>
                    </a:cxn>
                    <a:cxn ang="0">
                      <a:pos x="103" y="52"/>
                    </a:cxn>
                    <a:cxn ang="0">
                      <a:pos x="95" y="47"/>
                    </a:cxn>
                    <a:cxn ang="0">
                      <a:pos x="88" y="50"/>
                    </a:cxn>
                    <a:cxn ang="0">
                      <a:pos x="71" y="57"/>
                    </a:cxn>
                    <a:cxn ang="0">
                      <a:pos x="51" y="61"/>
                    </a:cxn>
                    <a:cxn ang="0">
                      <a:pos x="29" y="102"/>
                    </a:cxn>
                    <a:cxn ang="0">
                      <a:pos x="33" y="109"/>
                    </a:cxn>
                    <a:cxn ang="0">
                      <a:pos x="13" y="120"/>
                    </a:cxn>
                    <a:cxn ang="0">
                      <a:pos x="24" y="138"/>
                    </a:cxn>
                    <a:cxn ang="0">
                      <a:pos x="9" y="144"/>
                    </a:cxn>
                    <a:cxn ang="0">
                      <a:pos x="13" y="153"/>
                    </a:cxn>
                    <a:cxn ang="0">
                      <a:pos x="6" y="160"/>
                    </a:cxn>
                    <a:cxn ang="0">
                      <a:pos x="3" y="135"/>
                    </a:cxn>
                    <a:cxn ang="0">
                      <a:pos x="0" y="119"/>
                    </a:cxn>
                    <a:cxn ang="0">
                      <a:pos x="0" y="114"/>
                    </a:cxn>
                    <a:cxn ang="0">
                      <a:pos x="6" y="90"/>
                    </a:cxn>
                    <a:cxn ang="0">
                      <a:pos x="16" y="67"/>
                    </a:cxn>
                    <a:cxn ang="0">
                      <a:pos x="24" y="67"/>
                    </a:cxn>
                    <a:cxn ang="0">
                      <a:pos x="43" y="59"/>
                    </a:cxn>
                    <a:cxn ang="0">
                      <a:pos x="37" y="47"/>
                    </a:cxn>
                    <a:cxn ang="0">
                      <a:pos x="48" y="35"/>
                    </a:cxn>
                    <a:cxn ang="0">
                      <a:pos x="74" y="28"/>
                    </a:cxn>
                    <a:cxn ang="0">
                      <a:pos x="80" y="28"/>
                    </a:cxn>
                    <a:cxn ang="0">
                      <a:pos x="82" y="22"/>
                    </a:cxn>
                    <a:cxn ang="0">
                      <a:pos x="104" y="28"/>
                    </a:cxn>
                    <a:cxn ang="0">
                      <a:pos x="104" y="8"/>
                    </a:cxn>
                  </a:cxnLst>
                  <a:rect l="0" t="0" r="r" b="b"/>
                  <a:pathLst>
                    <a:path w="204" h="161">
                      <a:moveTo>
                        <a:pt x="114" y="8"/>
                      </a:moveTo>
                      <a:lnTo>
                        <a:pt x="116" y="5"/>
                      </a:lnTo>
                      <a:lnTo>
                        <a:pt x="119" y="5"/>
                      </a:lnTo>
                      <a:lnTo>
                        <a:pt x="122" y="5"/>
                      </a:lnTo>
                      <a:lnTo>
                        <a:pt x="126" y="4"/>
                      </a:lnTo>
                      <a:lnTo>
                        <a:pt x="128" y="4"/>
                      </a:lnTo>
                      <a:lnTo>
                        <a:pt x="131" y="4"/>
                      </a:lnTo>
                      <a:lnTo>
                        <a:pt x="133" y="10"/>
                      </a:lnTo>
                      <a:lnTo>
                        <a:pt x="134" y="11"/>
                      </a:lnTo>
                      <a:lnTo>
                        <a:pt x="138" y="17"/>
                      </a:lnTo>
                      <a:lnTo>
                        <a:pt x="148" y="19"/>
                      </a:lnTo>
                      <a:lnTo>
                        <a:pt x="149" y="19"/>
                      </a:lnTo>
                      <a:lnTo>
                        <a:pt x="149" y="20"/>
                      </a:lnTo>
                      <a:lnTo>
                        <a:pt x="145" y="27"/>
                      </a:lnTo>
                      <a:lnTo>
                        <a:pt x="144" y="34"/>
                      </a:lnTo>
                      <a:lnTo>
                        <a:pt x="145" y="33"/>
                      </a:lnTo>
                      <a:lnTo>
                        <a:pt x="151" y="32"/>
                      </a:lnTo>
                      <a:lnTo>
                        <a:pt x="155" y="32"/>
                      </a:lnTo>
                      <a:lnTo>
                        <a:pt x="174" y="35"/>
                      </a:lnTo>
                      <a:lnTo>
                        <a:pt x="179" y="38"/>
                      </a:lnTo>
                      <a:lnTo>
                        <a:pt x="180" y="40"/>
                      </a:lnTo>
                      <a:lnTo>
                        <a:pt x="185" y="45"/>
                      </a:lnTo>
                      <a:lnTo>
                        <a:pt x="186" y="49"/>
                      </a:lnTo>
                      <a:lnTo>
                        <a:pt x="187" y="52"/>
                      </a:lnTo>
                      <a:lnTo>
                        <a:pt x="187" y="55"/>
                      </a:lnTo>
                      <a:lnTo>
                        <a:pt x="188" y="55"/>
                      </a:lnTo>
                      <a:lnTo>
                        <a:pt x="191" y="53"/>
                      </a:lnTo>
                      <a:lnTo>
                        <a:pt x="192" y="54"/>
                      </a:lnTo>
                      <a:lnTo>
                        <a:pt x="199" y="58"/>
                      </a:lnTo>
                      <a:lnTo>
                        <a:pt x="203" y="72"/>
                      </a:lnTo>
                      <a:lnTo>
                        <a:pt x="201" y="75"/>
                      </a:lnTo>
                      <a:lnTo>
                        <a:pt x="200" y="76"/>
                      </a:lnTo>
                      <a:lnTo>
                        <a:pt x="199" y="80"/>
                      </a:lnTo>
                      <a:lnTo>
                        <a:pt x="200" y="83"/>
                      </a:lnTo>
                      <a:lnTo>
                        <a:pt x="199" y="89"/>
                      </a:lnTo>
                      <a:lnTo>
                        <a:pt x="198" y="93"/>
                      </a:lnTo>
                      <a:lnTo>
                        <a:pt x="197" y="93"/>
                      </a:lnTo>
                      <a:lnTo>
                        <a:pt x="196" y="92"/>
                      </a:lnTo>
                      <a:lnTo>
                        <a:pt x="194" y="89"/>
                      </a:lnTo>
                      <a:lnTo>
                        <a:pt x="192" y="86"/>
                      </a:lnTo>
                      <a:lnTo>
                        <a:pt x="192" y="83"/>
                      </a:lnTo>
                      <a:lnTo>
                        <a:pt x="194" y="80"/>
                      </a:lnTo>
                      <a:lnTo>
                        <a:pt x="192" y="79"/>
                      </a:lnTo>
                      <a:lnTo>
                        <a:pt x="184" y="69"/>
                      </a:lnTo>
                      <a:lnTo>
                        <a:pt x="182" y="68"/>
                      </a:lnTo>
                      <a:lnTo>
                        <a:pt x="184" y="68"/>
                      </a:lnTo>
                      <a:lnTo>
                        <a:pt x="187" y="62"/>
                      </a:lnTo>
                      <a:lnTo>
                        <a:pt x="186" y="60"/>
                      </a:lnTo>
                      <a:lnTo>
                        <a:pt x="185" y="59"/>
                      </a:lnTo>
                      <a:lnTo>
                        <a:pt x="179" y="57"/>
                      </a:lnTo>
                      <a:lnTo>
                        <a:pt x="162" y="55"/>
                      </a:lnTo>
                      <a:lnTo>
                        <a:pt x="157" y="53"/>
                      </a:lnTo>
                      <a:lnTo>
                        <a:pt x="157" y="52"/>
                      </a:lnTo>
                      <a:lnTo>
                        <a:pt x="145" y="57"/>
                      </a:lnTo>
                      <a:lnTo>
                        <a:pt x="137" y="63"/>
                      </a:lnTo>
                      <a:lnTo>
                        <a:pt x="138" y="56"/>
                      </a:lnTo>
                      <a:lnTo>
                        <a:pt x="138" y="47"/>
                      </a:lnTo>
                      <a:lnTo>
                        <a:pt x="137" y="46"/>
                      </a:lnTo>
                      <a:lnTo>
                        <a:pt x="131" y="47"/>
                      </a:lnTo>
                      <a:lnTo>
                        <a:pt x="125" y="52"/>
                      </a:lnTo>
                      <a:lnTo>
                        <a:pt x="124" y="53"/>
                      </a:lnTo>
                      <a:lnTo>
                        <a:pt x="116" y="51"/>
                      </a:lnTo>
                      <a:lnTo>
                        <a:pt x="113" y="46"/>
                      </a:lnTo>
                      <a:lnTo>
                        <a:pt x="112" y="45"/>
                      </a:lnTo>
                      <a:lnTo>
                        <a:pt x="110" y="44"/>
                      </a:lnTo>
                      <a:lnTo>
                        <a:pt x="108" y="42"/>
                      </a:lnTo>
                      <a:lnTo>
                        <a:pt x="104" y="42"/>
                      </a:lnTo>
                      <a:lnTo>
                        <a:pt x="103" y="42"/>
                      </a:lnTo>
                      <a:lnTo>
                        <a:pt x="102" y="44"/>
                      </a:lnTo>
                      <a:lnTo>
                        <a:pt x="103" y="47"/>
                      </a:lnTo>
                      <a:lnTo>
                        <a:pt x="103" y="48"/>
                      </a:lnTo>
                      <a:lnTo>
                        <a:pt x="103" y="52"/>
                      </a:lnTo>
                      <a:lnTo>
                        <a:pt x="102" y="51"/>
                      </a:lnTo>
                      <a:lnTo>
                        <a:pt x="99" y="49"/>
                      </a:lnTo>
                      <a:lnTo>
                        <a:pt x="95" y="47"/>
                      </a:lnTo>
                      <a:lnTo>
                        <a:pt x="91" y="46"/>
                      </a:lnTo>
                      <a:lnTo>
                        <a:pt x="88" y="47"/>
                      </a:lnTo>
                      <a:lnTo>
                        <a:pt x="88" y="50"/>
                      </a:lnTo>
                      <a:lnTo>
                        <a:pt x="78" y="49"/>
                      </a:lnTo>
                      <a:lnTo>
                        <a:pt x="75" y="57"/>
                      </a:lnTo>
                      <a:lnTo>
                        <a:pt x="71" y="57"/>
                      </a:lnTo>
                      <a:lnTo>
                        <a:pt x="68" y="56"/>
                      </a:lnTo>
                      <a:lnTo>
                        <a:pt x="63" y="60"/>
                      </a:lnTo>
                      <a:lnTo>
                        <a:pt x="51" y="61"/>
                      </a:lnTo>
                      <a:lnTo>
                        <a:pt x="39" y="70"/>
                      </a:lnTo>
                      <a:lnTo>
                        <a:pt x="34" y="88"/>
                      </a:lnTo>
                      <a:lnTo>
                        <a:pt x="29" y="102"/>
                      </a:lnTo>
                      <a:lnTo>
                        <a:pt x="29" y="104"/>
                      </a:lnTo>
                      <a:lnTo>
                        <a:pt x="29" y="108"/>
                      </a:lnTo>
                      <a:lnTo>
                        <a:pt x="33" y="109"/>
                      </a:lnTo>
                      <a:lnTo>
                        <a:pt x="26" y="116"/>
                      </a:lnTo>
                      <a:lnTo>
                        <a:pt x="17" y="120"/>
                      </a:lnTo>
                      <a:lnTo>
                        <a:pt x="13" y="120"/>
                      </a:lnTo>
                      <a:lnTo>
                        <a:pt x="10" y="124"/>
                      </a:lnTo>
                      <a:lnTo>
                        <a:pt x="15" y="127"/>
                      </a:lnTo>
                      <a:lnTo>
                        <a:pt x="24" y="138"/>
                      </a:lnTo>
                      <a:lnTo>
                        <a:pt x="22" y="140"/>
                      </a:lnTo>
                      <a:lnTo>
                        <a:pt x="10" y="141"/>
                      </a:lnTo>
                      <a:lnTo>
                        <a:pt x="9" y="144"/>
                      </a:lnTo>
                      <a:lnTo>
                        <a:pt x="10" y="148"/>
                      </a:lnTo>
                      <a:lnTo>
                        <a:pt x="11" y="152"/>
                      </a:lnTo>
                      <a:lnTo>
                        <a:pt x="13" y="153"/>
                      </a:lnTo>
                      <a:lnTo>
                        <a:pt x="9" y="160"/>
                      </a:lnTo>
                      <a:lnTo>
                        <a:pt x="8" y="160"/>
                      </a:lnTo>
                      <a:lnTo>
                        <a:pt x="6" y="160"/>
                      </a:lnTo>
                      <a:lnTo>
                        <a:pt x="4" y="156"/>
                      </a:lnTo>
                      <a:lnTo>
                        <a:pt x="0" y="143"/>
                      </a:lnTo>
                      <a:lnTo>
                        <a:pt x="3" y="135"/>
                      </a:lnTo>
                      <a:lnTo>
                        <a:pt x="7" y="129"/>
                      </a:lnTo>
                      <a:lnTo>
                        <a:pt x="5" y="125"/>
                      </a:lnTo>
                      <a:lnTo>
                        <a:pt x="0" y="119"/>
                      </a:lnTo>
                      <a:lnTo>
                        <a:pt x="0" y="118"/>
                      </a:lnTo>
                      <a:lnTo>
                        <a:pt x="0" y="115"/>
                      </a:lnTo>
                      <a:lnTo>
                        <a:pt x="0" y="114"/>
                      </a:lnTo>
                      <a:lnTo>
                        <a:pt x="9" y="103"/>
                      </a:lnTo>
                      <a:lnTo>
                        <a:pt x="9" y="97"/>
                      </a:lnTo>
                      <a:lnTo>
                        <a:pt x="6" y="90"/>
                      </a:lnTo>
                      <a:lnTo>
                        <a:pt x="14" y="78"/>
                      </a:lnTo>
                      <a:lnTo>
                        <a:pt x="16" y="73"/>
                      </a:lnTo>
                      <a:lnTo>
                        <a:pt x="16" y="67"/>
                      </a:lnTo>
                      <a:lnTo>
                        <a:pt x="20" y="68"/>
                      </a:lnTo>
                      <a:lnTo>
                        <a:pt x="22" y="68"/>
                      </a:lnTo>
                      <a:lnTo>
                        <a:pt x="24" y="67"/>
                      </a:lnTo>
                      <a:lnTo>
                        <a:pt x="27" y="64"/>
                      </a:lnTo>
                      <a:lnTo>
                        <a:pt x="30" y="57"/>
                      </a:lnTo>
                      <a:lnTo>
                        <a:pt x="43" y="59"/>
                      </a:lnTo>
                      <a:lnTo>
                        <a:pt x="43" y="57"/>
                      </a:lnTo>
                      <a:lnTo>
                        <a:pt x="42" y="53"/>
                      </a:lnTo>
                      <a:lnTo>
                        <a:pt x="37" y="47"/>
                      </a:lnTo>
                      <a:lnTo>
                        <a:pt x="35" y="46"/>
                      </a:lnTo>
                      <a:lnTo>
                        <a:pt x="37" y="43"/>
                      </a:lnTo>
                      <a:lnTo>
                        <a:pt x="48" y="35"/>
                      </a:lnTo>
                      <a:lnTo>
                        <a:pt x="56" y="32"/>
                      </a:lnTo>
                      <a:lnTo>
                        <a:pt x="74" y="30"/>
                      </a:lnTo>
                      <a:lnTo>
                        <a:pt x="74" y="28"/>
                      </a:lnTo>
                      <a:lnTo>
                        <a:pt x="76" y="29"/>
                      </a:lnTo>
                      <a:lnTo>
                        <a:pt x="77" y="29"/>
                      </a:lnTo>
                      <a:lnTo>
                        <a:pt x="80" y="28"/>
                      </a:lnTo>
                      <a:lnTo>
                        <a:pt x="82" y="27"/>
                      </a:lnTo>
                      <a:lnTo>
                        <a:pt x="81" y="22"/>
                      </a:lnTo>
                      <a:lnTo>
                        <a:pt x="82" y="22"/>
                      </a:lnTo>
                      <a:lnTo>
                        <a:pt x="85" y="23"/>
                      </a:lnTo>
                      <a:lnTo>
                        <a:pt x="97" y="31"/>
                      </a:lnTo>
                      <a:lnTo>
                        <a:pt x="104" y="28"/>
                      </a:lnTo>
                      <a:lnTo>
                        <a:pt x="102" y="17"/>
                      </a:lnTo>
                      <a:lnTo>
                        <a:pt x="102" y="11"/>
                      </a:lnTo>
                      <a:lnTo>
                        <a:pt x="104" y="8"/>
                      </a:lnTo>
                      <a:lnTo>
                        <a:pt x="110" y="0"/>
                      </a:lnTo>
                      <a:lnTo>
                        <a:pt x="114" y="8"/>
                      </a:lnTo>
                    </a:path>
                  </a:pathLst>
                </a:custGeom>
                <a:solidFill>
                  <a:srgbClr val="40404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35" name="Freeform 103"/>
                <p:cNvSpPr>
                  <a:spLocks/>
                </p:cNvSpPr>
                <p:nvPr/>
              </p:nvSpPr>
              <p:spPr bwMode="auto">
                <a:xfrm>
                  <a:off x="3708" y="3696"/>
                  <a:ext cx="152" cy="211"/>
                </a:xfrm>
                <a:custGeom>
                  <a:avLst/>
                  <a:gdLst/>
                  <a:ahLst/>
                  <a:cxnLst>
                    <a:cxn ang="0">
                      <a:pos x="136" y="89"/>
                    </a:cxn>
                    <a:cxn ang="0">
                      <a:pos x="146" y="90"/>
                    </a:cxn>
                    <a:cxn ang="0">
                      <a:pos x="151" y="106"/>
                    </a:cxn>
                    <a:cxn ang="0">
                      <a:pos x="149" y="117"/>
                    </a:cxn>
                    <a:cxn ang="0">
                      <a:pos x="143" y="114"/>
                    </a:cxn>
                    <a:cxn ang="0">
                      <a:pos x="135" y="127"/>
                    </a:cxn>
                    <a:cxn ang="0">
                      <a:pos x="129" y="152"/>
                    </a:cxn>
                    <a:cxn ang="0">
                      <a:pos x="116" y="168"/>
                    </a:cxn>
                    <a:cxn ang="0">
                      <a:pos x="97" y="187"/>
                    </a:cxn>
                    <a:cxn ang="0">
                      <a:pos x="80" y="207"/>
                    </a:cxn>
                    <a:cxn ang="0">
                      <a:pos x="65" y="210"/>
                    </a:cxn>
                    <a:cxn ang="0">
                      <a:pos x="53" y="205"/>
                    </a:cxn>
                    <a:cxn ang="0">
                      <a:pos x="38" y="194"/>
                    </a:cxn>
                    <a:cxn ang="0">
                      <a:pos x="16" y="173"/>
                    </a:cxn>
                    <a:cxn ang="0">
                      <a:pos x="7" y="158"/>
                    </a:cxn>
                    <a:cxn ang="0">
                      <a:pos x="3" y="139"/>
                    </a:cxn>
                    <a:cxn ang="0">
                      <a:pos x="0" y="118"/>
                    </a:cxn>
                    <a:cxn ang="0">
                      <a:pos x="0" y="101"/>
                    </a:cxn>
                    <a:cxn ang="0">
                      <a:pos x="1" y="76"/>
                    </a:cxn>
                    <a:cxn ang="0">
                      <a:pos x="10" y="36"/>
                    </a:cxn>
                    <a:cxn ang="0">
                      <a:pos x="24" y="27"/>
                    </a:cxn>
                    <a:cxn ang="0">
                      <a:pos x="49" y="17"/>
                    </a:cxn>
                    <a:cxn ang="0">
                      <a:pos x="59" y="17"/>
                    </a:cxn>
                    <a:cxn ang="0">
                      <a:pos x="81" y="5"/>
                    </a:cxn>
                    <a:cxn ang="0">
                      <a:pos x="99" y="0"/>
                    </a:cxn>
                    <a:cxn ang="0">
                      <a:pos x="122" y="15"/>
                    </a:cxn>
                    <a:cxn ang="0">
                      <a:pos x="133" y="30"/>
                    </a:cxn>
                    <a:cxn ang="0">
                      <a:pos x="139" y="68"/>
                    </a:cxn>
                    <a:cxn ang="0">
                      <a:pos x="135" y="90"/>
                    </a:cxn>
                    <a:cxn ang="0">
                      <a:pos x="136" y="89"/>
                    </a:cxn>
                  </a:cxnLst>
                  <a:rect l="0" t="0" r="r" b="b"/>
                  <a:pathLst>
                    <a:path w="152" h="211">
                      <a:moveTo>
                        <a:pt x="136" y="89"/>
                      </a:moveTo>
                      <a:lnTo>
                        <a:pt x="146" y="90"/>
                      </a:lnTo>
                      <a:lnTo>
                        <a:pt x="151" y="106"/>
                      </a:lnTo>
                      <a:lnTo>
                        <a:pt x="149" y="117"/>
                      </a:lnTo>
                      <a:lnTo>
                        <a:pt x="143" y="114"/>
                      </a:lnTo>
                      <a:lnTo>
                        <a:pt x="135" y="127"/>
                      </a:lnTo>
                      <a:lnTo>
                        <a:pt x="129" y="152"/>
                      </a:lnTo>
                      <a:lnTo>
                        <a:pt x="116" y="168"/>
                      </a:lnTo>
                      <a:lnTo>
                        <a:pt x="97" y="187"/>
                      </a:lnTo>
                      <a:lnTo>
                        <a:pt x="80" y="207"/>
                      </a:lnTo>
                      <a:lnTo>
                        <a:pt x="65" y="210"/>
                      </a:lnTo>
                      <a:lnTo>
                        <a:pt x="53" y="205"/>
                      </a:lnTo>
                      <a:lnTo>
                        <a:pt x="38" y="194"/>
                      </a:lnTo>
                      <a:lnTo>
                        <a:pt x="16" y="173"/>
                      </a:lnTo>
                      <a:lnTo>
                        <a:pt x="7" y="158"/>
                      </a:lnTo>
                      <a:lnTo>
                        <a:pt x="3" y="139"/>
                      </a:lnTo>
                      <a:lnTo>
                        <a:pt x="0" y="118"/>
                      </a:lnTo>
                      <a:lnTo>
                        <a:pt x="0" y="101"/>
                      </a:lnTo>
                      <a:lnTo>
                        <a:pt x="1" y="76"/>
                      </a:lnTo>
                      <a:lnTo>
                        <a:pt x="10" y="36"/>
                      </a:lnTo>
                      <a:lnTo>
                        <a:pt x="24" y="27"/>
                      </a:lnTo>
                      <a:lnTo>
                        <a:pt x="49" y="17"/>
                      </a:lnTo>
                      <a:lnTo>
                        <a:pt x="59" y="17"/>
                      </a:lnTo>
                      <a:lnTo>
                        <a:pt x="81" y="5"/>
                      </a:lnTo>
                      <a:lnTo>
                        <a:pt x="99" y="0"/>
                      </a:lnTo>
                      <a:lnTo>
                        <a:pt x="122" y="15"/>
                      </a:lnTo>
                      <a:lnTo>
                        <a:pt x="133" y="30"/>
                      </a:lnTo>
                      <a:lnTo>
                        <a:pt x="139" y="68"/>
                      </a:lnTo>
                      <a:lnTo>
                        <a:pt x="135" y="90"/>
                      </a:lnTo>
                      <a:lnTo>
                        <a:pt x="136" y="89"/>
                      </a:lnTo>
                    </a:path>
                  </a:pathLst>
                </a:custGeom>
                <a:solidFill>
                  <a:srgbClr val="353535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36" name="Freeform 104"/>
                <p:cNvSpPr>
                  <a:spLocks/>
                </p:cNvSpPr>
                <p:nvPr/>
              </p:nvSpPr>
              <p:spPr bwMode="auto">
                <a:xfrm>
                  <a:off x="3722" y="3753"/>
                  <a:ext cx="42" cy="16"/>
                </a:xfrm>
                <a:custGeom>
                  <a:avLst/>
                  <a:gdLst/>
                  <a:ahLst/>
                  <a:cxnLst>
                    <a:cxn ang="0">
                      <a:pos x="3" y="5"/>
                    </a:cxn>
                    <a:cxn ang="0">
                      <a:pos x="0" y="9"/>
                    </a:cxn>
                    <a:cxn ang="0">
                      <a:pos x="0" y="12"/>
                    </a:cxn>
                    <a:cxn ang="0">
                      <a:pos x="1" y="15"/>
                    </a:cxn>
                    <a:cxn ang="0">
                      <a:pos x="3" y="12"/>
                    </a:cxn>
                    <a:cxn ang="0">
                      <a:pos x="6" y="9"/>
                    </a:cxn>
                    <a:cxn ang="0">
                      <a:pos x="11" y="6"/>
                    </a:cxn>
                    <a:cxn ang="0">
                      <a:pos x="21" y="4"/>
                    </a:cxn>
                    <a:cxn ang="0">
                      <a:pos x="28" y="5"/>
                    </a:cxn>
                    <a:cxn ang="0">
                      <a:pos x="35" y="10"/>
                    </a:cxn>
                    <a:cxn ang="0">
                      <a:pos x="37" y="15"/>
                    </a:cxn>
                    <a:cxn ang="0">
                      <a:pos x="41" y="12"/>
                    </a:cxn>
                    <a:cxn ang="0">
                      <a:pos x="40" y="8"/>
                    </a:cxn>
                    <a:cxn ang="0">
                      <a:pos x="34" y="2"/>
                    </a:cxn>
                    <a:cxn ang="0">
                      <a:pos x="26" y="0"/>
                    </a:cxn>
                    <a:cxn ang="0">
                      <a:pos x="19" y="0"/>
                    </a:cxn>
                    <a:cxn ang="0">
                      <a:pos x="11" y="0"/>
                    </a:cxn>
                    <a:cxn ang="0">
                      <a:pos x="6" y="4"/>
                    </a:cxn>
                    <a:cxn ang="0">
                      <a:pos x="3" y="5"/>
                    </a:cxn>
                  </a:cxnLst>
                  <a:rect l="0" t="0" r="r" b="b"/>
                  <a:pathLst>
                    <a:path w="42" h="16">
                      <a:moveTo>
                        <a:pt x="3" y="5"/>
                      </a:moveTo>
                      <a:lnTo>
                        <a:pt x="0" y="9"/>
                      </a:lnTo>
                      <a:lnTo>
                        <a:pt x="0" y="12"/>
                      </a:lnTo>
                      <a:lnTo>
                        <a:pt x="1" y="15"/>
                      </a:lnTo>
                      <a:lnTo>
                        <a:pt x="3" y="12"/>
                      </a:lnTo>
                      <a:lnTo>
                        <a:pt x="6" y="9"/>
                      </a:lnTo>
                      <a:lnTo>
                        <a:pt x="11" y="6"/>
                      </a:lnTo>
                      <a:lnTo>
                        <a:pt x="21" y="4"/>
                      </a:lnTo>
                      <a:lnTo>
                        <a:pt x="28" y="5"/>
                      </a:lnTo>
                      <a:lnTo>
                        <a:pt x="35" y="10"/>
                      </a:lnTo>
                      <a:lnTo>
                        <a:pt x="37" y="15"/>
                      </a:lnTo>
                      <a:lnTo>
                        <a:pt x="41" y="12"/>
                      </a:lnTo>
                      <a:lnTo>
                        <a:pt x="40" y="8"/>
                      </a:lnTo>
                      <a:lnTo>
                        <a:pt x="34" y="2"/>
                      </a:lnTo>
                      <a:lnTo>
                        <a:pt x="26" y="0"/>
                      </a:lnTo>
                      <a:lnTo>
                        <a:pt x="19" y="0"/>
                      </a:lnTo>
                      <a:lnTo>
                        <a:pt x="11" y="0"/>
                      </a:lnTo>
                      <a:lnTo>
                        <a:pt x="6" y="4"/>
                      </a:lnTo>
                      <a:lnTo>
                        <a:pt x="3" y="5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37" name="Freeform 105"/>
                <p:cNvSpPr>
                  <a:spLocks/>
                </p:cNvSpPr>
                <p:nvPr/>
              </p:nvSpPr>
              <p:spPr bwMode="auto">
                <a:xfrm>
                  <a:off x="3734" y="3769"/>
                  <a:ext cx="25" cy="16"/>
                </a:xfrm>
                <a:custGeom>
                  <a:avLst/>
                  <a:gdLst/>
                  <a:ahLst/>
                  <a:cxnLst>
                    <a:cxn ang="0">
                      <a:pos x="0" y="8"/>
                    </a:cxn>
                    <a:cxn ang="0">
                      <a:pos x="0" y="7"/>
                    </a:cxn>
                    <a:cxn ang="0">
                      <a:pos x="0" y="4"/>
                    </a:cxn>
                    <a:cxn ang="0">
                      <a:pos x="1" y="4"/>
                    </a:cxn>
                    <a:cxn ang="0">
                      <a:pos x="3" y="2"/>
                    </a:cxn>
                    <a:cxn ang="0">
                      <a:pos x="4" y="1"/>
                    </a:cxn>
                    <a:cxn ang="0">
                      <a:pos x="5" y="1"/>
                    </a:cxn>
                    <a:cxn ang="0">
                      <a:pos x="7" y="0"/>
                    </a:cxn>
                    <a:cxn ang="0">
                      <a:pos x="8" y="0"/>
                    </a:cxn>
                    <a:cxn ang="0">
                      <a:pos x="10" y="0"/>
                    </a:cxn>
                    <a:cxn ang="0">
                      <a:pos x="12" y="0"/>
                    </a:cxn>
                    <a:cxn ang="0">
                      <a:pos x="13" y="0"/>
                    </a:cxn>
                    <a:cxn ang="0">
                      <a:pos x="15" y="0"/>
                    </a:cxn>
                    <a:cxn ang="0">
                      <a:pos x="16" y="0"/>
                    </a:cxn>
                    <a:cxn ang="0">
                      <a:pos x="17" y="0"/>
                    </a:cxn>
                    <a:cxn ang="0">
                      <a:pos x="17" y="1"/>
                    </a:cxn>
                    <a:cxn ang="0">
                      <a:pos x="17" y="3"/>
                    </a:cxn>
                    <a:cxn ang="0">
                      <a:pos x="18" y="3"/>
                    </a:cxn>
                    <a:cxn ang="0">
                      <a:pos x="18" y="5"/>
                    </a:cxn>
                    <a:cxn ang="0">
                      <a:pos x="19" y="5"/>
                    </a:cxn>
                    <a:cxn ang="0">
                      <a:pos x="19" y="7"/>
                    </a:cxn>
                    <a:cxn ang="0">
                      <a:pos x="20" y="7"/>
                    </a:cxn>
                    <a:cxn ang="0">
                      <a:pos x="20" y="9"/>
                    </a:cxn>
                    <a:cxn ang="0">
                      <a:pos x="20" y="10"/>
                    </a:cxn>
                    <a:cxn ang="0">
                      <a:pos x="22" y="10"/>
                    </a:cxn>
                    <a:cxn ang="0">
                      <a:pos x="22" y="12"/>
                    </a:cxn>
                    <a:cxn ang="0">
                      <a:pos x="23" y="12"/>
                    </a:cxn>
                    <a:cxn ang="0">
                      <a:pos x="24" y="12"/>
                    </a:cxn>
                    <a:cxn ang="0">
                      <a:pos x="23" y="13"/>
                    </a:cxn>
                    <a:cxn ang="0">
                      <a:pos x="21" y="13"/>
                    </a:cxn>
                    <a:cxn ang="0">
                      <a:pos x="20" y="15"/>
                    </a:cxn>
                    <a:cxn ang="0">
                      <a:pos x="18" y="15"/>
                    </a:cxn>
                    <a:cxn ang="0">
                      <a:pos x="16" y="15"/>
                    </a:cxn>
                    <a:cxn ang="0">
                      <a:pos x="15" y="15"/>
                    </a:cxn>
                    <a:cxn ang="0">
                      <a:pos x="14" y="15"/>
                    </a:cxn>
                    <a:cxn ang="0">
                      <a:pos x="12" y="15"/>
                    </a:cxn>
                    <a:cxn ang="0">
                      <a:pos x="12" y="13"/>
                    </a:cxn>
                    <a:cxn ang="0">
                      <a:pos x="11" y="13"/>
                    </a:cxn>
                    <a:cxn ang="0">
                      <a:pos x="9" y="13"/>
                    </a:cxn>
                    <a:cxn ang="0">
                      <a:pos x="8" y="13"/>
                    </a:cxn>
                    <a:cxn ang="0">
                      <a:pos x="7" y="13"/>
                    </a:cxn>
                    <a:cxn ang="0">
                      <a:pos x="5" y="13"/>
                    </a:cxn>
                    <a:cxn ang="0">
                      <a:pos x="4" y="13"/>
                    </a:cxn>
                    <a:cxn ang="0">
                      <a:pos x="4" y="12"/>
                    </a:cxn>
                    <a:cxn ang="0">
                      <a:pos x="2" y="12"/>
                    </a:cxn>
                    <a:cxn ang="0">
                      <a:pos x="1" y="12"/>
                    </a:cxn>
                    <a:cxn ang="0">
                      <a:pos x="1" y="10"/>
                    </a:cxn>
                    <a:cxn ang="0">
                      <a:pos x="0" y="10"/>
                    </a:cxn>
                    <a:cxn ang="0">
                      <a:pos x="0" y="9"/>
                    </a:cxn>
                    <a:cxn ang="0">
                      <a:pos x="0" y="9"/>
                    </a:cxn>
                    <a:cxn ang="0">
                      <a:pos x="0" y="8"/>
                    </a:cxn>
                  </a:cxnLst>
                  <a:rect l="0" t="0" r="r" b="b"/>
                  <a:pathLst>
                    <a:path w="25" h="16">
                      <a:moveTo>
                        <a:pt x="0" y="8"/>
                      </a:moveTo>
                      <a:lnTo>
                        <a:pt x="0" y="7"/>
                      </a:lnTo>
                      <a:lnTo>
                        <a:pt x="0" y="4"/>
                      </a:lnTo>
                      <a:lnTo>
                        <a:pt x="1" y="4"/>
                      </a:lnTo>
                      <a:lnTo>
                        <a:pt x="3" y="2"/>
                      </a:lnTo>
                      <a:lnTo>
                        <a:pt x="4" y="1"/>
                      </a:lnTo>
                      <a:lnTo>
                        <a:pt x="5" y="1"/>
                      </a:lnTo>
                      <a:lnTo>
                        <a:pt x="7" y="0"/>
                      </a:lnTo>
                      <a:lnTo>
                        <a:pt x="8" y="0"/>
                      </a:lnTo>
                      <a:lnTo>
                        <a:pt x="10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0"/>
                      </a:lnTo>
                      <a:lnTo>
                        <a:pt x="17" y="0"/>
                      </a:lnTo>
                      <a:lnTo>
                        <a:pt x="17" y="1"/>
                      </a:lnTo>
                      <a:lnTo>
                        <a:pt x="17" y="3"/>
                      </a:lnTo>
                      <a:lnTo>
                        <a:pt x="18" y="3"/>
                      </a:lnTo>
                      <a:lnTo>
                        <a:pt x="18" y="5"/>
                      </a:lnTo>
                      <a:lnTo>
                        <a:pt x="19" y="5"/>
                      </a:lnTo>
                      <a:lnTo>
                        <a:pt x="19" y="7"/>
                      </a:lnTo>
                      <a:lnTo>
                        <a:pt x="20" y="7"/>
                      </a:lnTo>
                      <a:lnTo>
                        <a:pt x="20" y="9"/>
                      </a:lnTo>
                      <a:lnTo>
                        <a:pt x="20" y="10"/>
                      </a:lnTo>
                      <a:lnTo>
                        <a:pt x="22" y="10"/>
                      </a:lnTo>
                      <a:lnTo>
                        <a:pt x="22" y="12"/>
                      </a:lnTo>
                      <a:lnTo>
                        <a:pt x="23" y="12"/>
                      </a:lnTo>
                      <a:lnTo>
                        <a:pt x="24" y="12"/>
                      </a:lnTo>
                      <a:lnTo>
                        <a:pt x="23" y="13"/>
                      </a:lnTo>
                      <a:lnTo>
                        <a:pt x="21" y="13"/>
                      </a:lnTo>
                      <a:lnTo>
                        <a:pt x="20" y="15"/>
                      </a:lnTo>
                      <a:lnTo>
                        <a:pt x="18" y="15"/>
                      </a:lnTo>
                      <a:lnTo>
                        <a:pt x="16" y="15"/>
                      </a:lnTo>
                      <a:lnTo>
                        <a:pt x="15" y="15"/>
                      </a:lnTo>
                      <a:lnTo>
                        <a:pt x="14" y="15"/>
                      </a:lnTo>
                      <a:lnTo>
                        <a:pt x="12" y="15"/>
                      </a:lnTo>
                      <a:lnTo>
                        <a:pt x="12" y="13"/>
                      </a:lnTo>
                      <a:lnTo>
                        <a:pt x="11" y="13"/>
                      </a:lnTo>
                      <a:lnTo>
                        <a:pt x="9" y="13"/>
                      </a:lnTo>
                      <a:lnTo>
                        <a:pt x="8" y="13"/>
                      </a:lnTo>
                      <a:lnTo>
                        <a:pt x="7" y="13"/>
                      </a:lnTo>
                      <a:lnTo>
                        <a:pt x="5" y="13"/>
                      </a:lnTo>
                      <a:lnTo>
                        <a:pt x="4" y="13"/>
                      </a:lnTo>
                      <a:lnTo>
                        <a:pt x="4" y="12"/>
                      </a:lnTo>
                      <a:lnTo>
                        <a:pt x="2" y="12"/>
                      </a:lnTo>
                      <a:lnTo>
                        <a:pt x="1" y="12"/>
                      </a:lnTo>
                      <a:lnTo>
                        <a:pt x="1" y="10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FFFF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38" name="Freeform 106"/>
                <p:cNvSpPr>
                  <a:spLocks/>
                </p:cNvSpPr>
                <p:nvPr/>
              </p:nvSpPr>
              <p:spPr bwMode="auto">
                <a:xfrm>
                  <a:off x="3732" y="3766"/>
                  <a:ext cx="30" cy="16"/>
                </a:xfrm>
                <a:custGeom>
                  <a:avLst/>
                  <a:gdLst/>
                  <a:ahLst/>
                  <a:cxnLst>
                    <a:cxn ang="0">
                      <a:pos x="29" y="10"/>
                    </a:cxn>
                    <a:cxn ang="0">
                      <a:pos x="24" y="4"/>
                    </a:cxn>
                    <a:cxn ang="0">
                      <a:pos x="15" y="0"/>
                    </a:cxn>
                    <a:cxn ang="0">
                      <a:pos x="9" y="0"/>
                    </a:cxn>
                    <a:cxn ang="0">
                      <a:pos x="3" y="3"/>
                    </a:cxn>
                    <a:cxn ang="0">
                      <a:pos x="0" y="8"/>
                    </a:cxn>
                    <a:cxn ang="0">
                      <a:pos x="0" y="9"/>
                    </a:cxn>
                    <a:cxn ang="0">
                      <a:pos x="5" y="5"/>
                    </a:cxn>
                    <a:cxn ang="0">
                      <a:pos x="9" y="4"/>
                    </a:cxn>
                    <a:cxn ang="0">
                      <a:pos x="8" y="8"/>
                    </a:cxn>
                    <a:cxn ang="0">
                      <a:pos x="8" y="9"/>
                    </a:cxn>
                    <a:cxn ang="0">
                      <a:pos x="9" y="12"/>
                    </a:cxn>
                    <a:cxn ang="0">
                      <a:pos x="9" y="14"/>
                    </a:cxn>
                    <a:cxn ang="0">
                      <a:pos x="17" y="15"/>
                    </a:cxn>
                    <a:cxn ang="0">
                      <a:pos x="19" y="13"/>
                    </a:cxn>
                    <a:cxn ang="0">
                      <a:pos x="20" y="11"/>
                    </a:cxn>
                    <a:cxn ang="0">
                      <a:pos x="20" y="9"/>
                    </a:cxn>
                    <a:cxn ang="0">
                      <a:pos x="19" y="6"/>
                    </a:cxn>
                    <a:cxn ang="0">
                      <a:pos x="20" y="8"/>
                    </a:cxn>
                    <a:cxn ang="0">
                      <a:pos x="24" y="9"/>
                    </a:cxn>
                    <a:cxn ang="0">
                      <a:pos x="26" y="12"/>
                    </a:cxn>
                    <a:cxn ang="0">
                      <a:pos x="24" y="15"/>
                    </a:cxn>
                    <a:cxn ang="0">
                      <a:pos x="28" y="14"/>
                    </a:cxn>
                    <a:cxn ang="0">
                      <a:pos x="29" y="10"/>
                    </a:cxn>
                  </a:cxnLst>
                  <a:rect l="0" t="0" r="r" b="b"/>
                  <a:pathLst>
                    <a:path w="30" h="16">
                      <a:moveTo>
                        <a:pt x="29" y="10"/>
                      </a:moveTo>
                      <a:lnTo>
                        <a:pt x="24" y="4"/>
                      </a:lnTo>
                      <a:lnTo>
                        <a:pt x="15" y="0"/>
                      </a:lnTo>
                      <a:lnTo>
                        <a:pt x="9" y="0"/>
                      </a:lnTo>
                      <a:lnTo>
                        <a:pt x="3" y="3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5" y="5"/>
                      </a:lnTo>
                      <a:lnTo>
                        <a:pt x="9" y="4"/>
                      </a:lnTo>
                      <a:lnTo>
                        <a:pt x="8" y="8"/>
                      </a:lnTo>
                      <a:lnTo>
                        <a:pt x="8" y="9"/>
                      </a:lnTo>
                      <a:lnTo>
                        <a:pt x="9" y="12"/>
                      </a:lnTo>
                      <a:lnTo>
                        <a:pt x="9" y="14"/>
                      </a:lnTo>
                      <a:lnTo>
                        <a:pt x="17" y="15"/>
                      </a:lnTo>
                      <a:lnTo>
                        <a:pt x="19" y="13"/>
                      </a:lnTo>
                      <a:lnTo>
                        <a:pt x="20" y="11"/>
                      </a:lnTo>
                      <a:lnTo>
                        <a:pt x="20" y="9"/>
                      </a:lnTo>
                      <a:lnTo>
                        <a:pt x="19" y="6"/>
                      </a:lnTo>
                      <a:lnTo>
                        <a:pt x="20" y="8"/>
                      </a:lnTo>
                      <a:lnTo>
                        <a:pt x="24" y="9"/>
                      </a:lnTo>
                      <a:lnTo>
                        <a:pt x="26" y="12"/>
                      </a:lnTo>
                      <a:lnTo>
                        <a:pt x="24" y="15"/>
                      </a:lnTo>
                      <a:lnTo>
                        <a:pt x="28" y="14"/>
                      </a:lnTo>
                      <a:lnTo>
                        <a:pt x="29" y="1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39" name="Freeform 107"/>
                <p:cNvSpPr>
                  <a:spLocks/>
                </p:cNvSpPr>
                <p:nvPr/>
              </p:nvSpPr>
              <p:spPr bwMode="auto">
                <a:xfrm>
                  <a:off x="3763" y="3819"/>
                  <a:ext cx="39" cy="16"/>
                </a:xfrm>
                <a:custGeom>
                  <a:avLst/>
                  <a:gdLst/>
                  <a:ahLst/>
                  <a:cxnLst>
                    <a:cxn ang="0">
                      <a:pos x="5" y="1"/>
                    </a:cxn>
                    <a:cxn ang="0">
                      <a:pos x="6" y="0"/>
                    </a:cxn>
                    <a:cxn ang="0">
                      <a:pos x="6" y="2"/>
                    </a:cxn>
                    <a:cxn ang="0">
                      <a:pos x="7" y="4"/>
                    </a:cxn>
                    <a:cxn ang="0">
                      <a:pos x="7" y="9"/>
                    </a:cxn>
                    <a:cxn ang="0">
                      <a:pos x="10" y="9"/>
                    </a:cxn>
                    <a:cxn ang="0">
                      <a:pos x="12" y="9"/>
                    </a:cxn>
                    <a:cxn ang="0">
                      <a:pos x="13" y="7"/>
                    </a:cxn>
                    <a:cxn ang="0">
                      <a:pos x="13" y="3"/>
                    </a:cxn>
                    <a:cxn ang="0">
                      <a:pos x="15" y="2"/>
                    </a:cxn>
                    <a:cxn ang="0">
                      <a:pos x="15" y="5"/>
                    </a:cxn>
                    <a:cxn ang="0">
                      <a:pos x="15" y="9"/>
                    </a:cxn>
                    <a:cxn ang="0">
                      <a:pos x="16" y="10"/>
                    </a:cxn>
                    <a:cxn ang="0">
                      <a:pos x="18" y="10"/>
                    </a:cxn>
                    <a:cxn ang="0">
                      <a:pos x="22" y="10"/>
                    </a:cxn>
                    <a:cxn ang="0">
                      <a:pos x="24" y="10"/>
                    </a:cxn>
                    <a:cxn ang="0">
                      <a:pos x="27" y="8"/>
                    </a:cxn>
                    <a:cxn ang="0">
                      <a:pos x="29" y="7"/>
                    </a:cxn>
                    <a:cxn ang="0">
                      <a:pos x="31" y="9"/>
                    </a:cxn>
                    <a:cxn ang="0">
                      <a:pos x="32" y="10"/>
                    </a:cxn>
                    <a:cxn ang="0">
                      <a:pos x="35" y="7"/>
                    </a:cxn>
                    <a:cxn ang="0">
                      <a:pos x="35" y="3"/>
                    </a:cxn>
                    <a:cxn ang="0">
                      <a:pos x="35" y="0"/>
                    </a:cxn>
                    <a:cxn ang="0">
                      <a:pos x="37" y="1"/>
                    </a:cxn>
                    <a:cxn ang="0">
                      <a:pos x="37" y="4"/>
                    </a:cxn>
                    <a:cxn ang="0">
                      <a:pos x="38" y="7"/>
                    </a:cxn>
                    <a:cxn ang="0">
                      <a:pos x="37" y="10"/>
                    </a:cxn>
                    <a:cxn ang="0">
                      <a:pos x="35" y="12"/>
                    </a:cxn>
                    <a:cxn ang="0">
                      <a:pos x="32" y="13"/>
                    </a:cxn>
                    <a:cxn ang="0">
                      <a:pos x="30" y="12"/>
                    </a:cxn>
                    <a:cxn ang="0">
                      <a:pos x="28" y="12"/>
                    </a:cxn>
                    <a:cxn ang="0">
                      <a:pos x="25" y="13"/>
                    </a:cxn>
                    <a:cxn ang="0">
                      <a:pos x="22" y="15"/>
                    </a:cxn>
                    <a:cxn ang="0">
                      <a:pos x="20" y="15"/>
                    </a:cxn>
                    <a:cxn ang="0">
                      <a:pos x="16" y="15"/>
                    </a:cxn>
                    <a:cxn ang="0">
                      <a:pos x="16" y="13"/>
                    </a:cxn>
                    <a:cxn ang="0">
                      <a:pos x="14" y="13"/>
                    </a:cxn>
                    <a:cxn ang="0">
                      <a:pos x="12" y="13"/>
                    </a:cxn>
                    <a:cxn ang="0">
                      <a:pos x="10" y="15"/>
                    </a:cxn>
                    <a:cxn ang="0">
                      <a:pos x="9" y="13"/>
                    </a:cxn>
                    <a:cxn ang="0">
                      <a:pos x="6" y="13"/>
                    </a:cxn>
                    <a:cxn ang="0">
                      <a:pos x="5" y="11"/>
                    </a:cxn>
                    <a:cxn ang="0">
                      <a:pos x="5" y="9"/>
                    </a:cxn>
                    <a:cxn ang="0">
                      <a:pos x="2" y="11"/>
                    </a:cxn>
                    <a:cxn ang="0">
                      <a:pos x="0" y="13"/>
                    </a:cxn>
                    <a:cxn ang="0">
                      <a:pos x="0" y="11"/>
                    </a:cxn>
                    <a:cxn ang="0">
                      <a:pos x="2" y="8"/>
                    </a:cxn>
                  </a:cxnLst>
                  <a:rect l="0" t="0" r="r" b="b"/>
                  <a:pathLst>
                    <a:path w="39" h="16">
                      <a:moveTo>
                        <a:pt x="4" y="3"/>
                      </a:moveTo>
                      <a:lnTo>
                        <a:pt x="5" y="1"/>
                      </a:lnTo>
                      <a:lnTo>
                        <a:pt x="5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2"/>
                      </a:lnTo>
                      <a:lnTo>
                        <a:pt x="6" y="4"/>
                      </a:lnTo>
                      <a:lnTo>
                        <a:pt x="7" y="4"/>
                      </a:lnTo>
                      <a:lnTo>
                        <a:pt x="7" y="7"/>
                      </a:lnTo>
                      <a:lnTo>
                        <a:pt x="7" y="9"/>
                      </a:lnTo>
                      <a:lnTo>
                        <a:pt x="9" y="9"/>
                      </a:lnTo>
                      <a:lnTo>
                        <a:pt x="10" y="9"/>
                      </a:lnTo>
                      <a:lnTo>
                        <a:pt x="11" y="9"/>
                      </a:lnTo>
                      <a:lnTo>
                        <a:pt x="12" y="9"/>
                      </a:lnTo>
                      <a:lnTo>
                        <a:pt x="13" y="8"/>
                      </a:lnTo>
                      <a:lnTo>
                        <a:pt x="13" y="7"/>
                      </a:lnTo>
                      <a:lnTo>
                        <a:pt x="13" y="4"/>
                      </a:lnTo>
                      <a:lnTo>
                        <a:pt x="13" y="3"/>
                      </a:lnTo>
                      <a:lnTo>
                        <a:pt x="15" y="1"/>
                      </a:lnTo>
                      <a:lnTo>
                        <a:pt x="15" y="2"/>
                      </a:lnTo>
                      <a:lnTo>
                        <a:pt x="15" y="3"/>
                      </a:lnTo>
                      <a:lnTo>
                        <a:pt x="15" y="5"/>
                      </a:lnTo>
                      <a:lnTo>
                        <a:pt x="15" y="7"/>
                      </a:lnTo>
                      <a:lnTo>
                        <a:pt x="15" y="9"/>
                      </a:lnTo>
                      <a:lnTo>
                        <a:pt x="16" y="9"/>
                      </a:lnTo>
                      <a:lnTo>
                        <a:pt x="16" y="10"/>
                      </a:lnTo>
                      <a:lnTo>
                        <a:pt x="16" y="10"/>
                      </a:lnTo>
                      <a:lnTo>
                        <a:pt x="18" y="10"/>
                      </a:lnTo>
                      <a:lnTo>
                        <a:pt x="20" y="10"/>
                      </a:lnTo>
                      <a:lnTo>
                        <a:pt x="22" y="10"/>
                      </a:lnTo>
                      <a:lnTo>
                        <a:pt x="23" y="10"/>
                      </a:lnTo>
                      <a:lnTo>
                        <a:pt x="24" y="10"/>
                      </a:lnTo>
                      <a:lnTo>
                        <a:pt x="26" y="9"/>
                      </a:lnTo>
                      <a:lnTo>
                        <a:pt x="27" y="8"/>
                      </a:lnTo>
                      <a:lnTo>
                        <a:pt x="28" y="8"/>
                      </a:lnTo>
                      <a:lnTo>
                        <a:pt x="29" y="7"/>
                      </a:lnTo>
                      <a:lnTo>
                        <a:pt x="29" y="9"/>
                      </a:lnTo>
                      <a:lnTo>
                        <a:pt x="31" y="9"/>
                      </a:lnTo>
                      <a:lnTo>
                        <a:pt x="31" y="10"/>
                      </a:lnTo>
                      <a:lnTo>
                        <a:pt x="32" y="10"/>
                      </a:lnTo>
                      <a:lnTo>
                        <a:pt x="33" y="9"/>
                      </a:lnTo>
                      <a:lnTo>
                        <a:pt x="35" y="7"/>
                      </a:lnTo>
                      <a:lnTo>
                        <a:pt x="35" y="5"/>
                      </a:lnTo>
                      <a:lnTo>
                        <a:pt x="35" y="3"/>
                      </a:lnTo>
                      <a:lnTo>
                        <a:pt x="35" y="1"/>
                      </a:lnTo>
                      <a:lnTo>
                        <a:pt x="35" y="0"/>
                      </a:lnTo>
                      <a:lnTo>
                        <a:pt x="37" y="0"/>
                      </a:lnTo>
                      <a:lnTo>
                        <a:pt x="37" y="1"/>
                      </a:lnTo>
                      <a:lnTo>
                        <a:pt x="37" y="2"/>
                      </a:lnTo>
                      <a:lnTo>
                        <a:pt x="37" y="4"/>
                      </a:lnTo>
                      <a:lnTo>
                        <a:pt x="37" y="7"/>
                      </a:lnTo>
                      <a:lnTo>
                        <a:pt x="38" y="7"/>
                      </a:lnTo>
                      <a:lnTo>
                        <a:pt x="37" y="9"/>
                      </a:lnTo>
                      <a:lnTo>
                        <a:pt x="37" y="10"/>
                      </a:lnTo>
                      <a:lnTo>
                        <a:pt x="35" y="11"/>
                      </a:lnTo>
                      <a:lnTo>
                        <a:pt x="35" y="12"/>
                      </a:lnTo>
                      <a:lnTo>
                        <a:pt x="33" y="13"/>
                      </a:lnTo>
                      <a:lnTo>
                        <a:pt x="32" y="13"/>
                      </a:lnTo>
                      <a:lnTo>
                        <a:pt x="30" y="13"/>
                      </a:lnTo>
                      <a:lnTo>
                        <a:pt x="30" y="12"/>
                      </a:lnTo>
                      <a:lnTo>
                        <a:pt x="29" y="12"/>
                      </a:lnTo>
                      <a:lnTo>
                        <a:pt x="28" y="12"/>
                      </a:lnTo>
                      <a:lnTo>
                        <a:pt x="27" y="13"/>
                      </a:lnTo>
                      <a:lnTo>
                        <a:pt x="25" y="13"/>
                      </a:lnTo>
                      <a:lnTo>
                        <a:pt x="23" y="15"/>
                      </a:lnTo>
                      <a:lnTo>
                        <a:pt x="22" y="15"/>
                      </a:lnTo>
                      <a:lnTo>
                        <a:pt x="21" y="15"/>
                      </a:lnTo>
                      <a:lnTo>
                        <a:pt x="20" y="15"/>
                      </a:lnTo>
                      <a:lnTo>
                        <a:pt x="18" y="15"/>
                      </a:lnTo>
                      <a:lnTo>
                        <a:pt x="16" y="15"/>
                      </a:lnTo>
                      <a:lnTo>
                        <a:pt x="16" y="13"/>
                      </a:lnTo>
                      <a:lnTo>
                        <a:pt x="16" y="13"/>
                      </a:lnTo>
                      <a:lnTo>
                        <a:pt x="16" y="11"/>
                      </a:lnTo>
                      <a:lnTo>
                        <a:pt x="14" y="13"/>
                      </a:lnTo>
                      <a:lnTo>
                        <a:pt x="13" y="13"/>
                      </a:lnTo>
                      <a:lnTo>
                        <a:pt x="12" y="13"/>
                      </a:lnTo>
                      <a:lnTo>
                        <a:pt x="11" y="15"/>
                      </a:lnTo>
                      <a:lnTo>
                        <a:pt x="10" y="15"/>
                      </a:lnTo>
                      <a:lnTo>
                        <a:pt x="9" y="15"/>
                      </a:lnTo>
                      <a:lnTo>
                        <a:pt x="9" y="13"/>
                      </a:lnTo>
                      <a:lnTo>
                        <a:pt x="7" y="13"/>
                      </a:lnTo>
                      <a:lnTo>
                        <a:pt x="6" y="13"/>
                      </a:lnTo>
                      <a:lnTo>
                        <a:pt x="6" y="11"/>
                      </a:lnTo>
                      <a:lnTo>
                        <a:pt x="5" y="11"/>
                      </a:lnTo>
                      <a:lnTo>
                        <a:pt x="5" y="10"/>
                      </a:lnTo>
                      <a:lnTo>
                        <a:pt x="5" y="9"/>
                      </a:lnTo>
                      <a:lnTo>
                        <a:pt x="3" y="10"/>
                      </a:lnTo>
                      <a:lnTo>
                        <a:pt x="2" y="11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1" y="10"/>
                      </a:lnTo>
                      <a:lnTo>
                        <a:pt x="2" y="8"/>
                      </a:lnTo>
                      <a:lnTo>
                        <a:pt x="4" y="3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40" name="Freeform 108"/>
                <p:cNvSpPr>
                  <a:spLocks/>
                </p:cNvSpPr>
                <p:nvPr/>
              </p:nvSpPr>
              <p:spPr bwMode="auto">
                <a:xfrm>
                  <a:off x="3795" y="3750"/>
                  <a:ext cx="39" cy="18"/>
                </a:xfrm>
                <a:custGeom>
                  <a:avLst/>
                  <a:gdLst/>
                  <a:ahLst/>
                  <a:cxnLst>
                    <a:cxn ang="0">
                      <a:pos x="0" y="13"/>
                    </a:cxn>
                    <a:cxn ang="0">
                      <a:pos x="0" y="17"/>
                    </a:cxn>
                    <a:cxn ang="0">
                      <a:pos x="3" y="14"/>
                    </a:cxn>
                    <a:cxn ang="0">
                      <a:pos x="8" y="10"/>
                    </a:cxn>
                    <a:cxn ang="0">
                      <a:pos x="14" y="5"/>
                    </a:cxn>
                    <a:cxn ang="0">
                      <a:pos x="19" y="4"/>
                    </a:cxn>
                    <a:cxn ang="0">
                      <a:pos x="25" y="3"/>
                    </a:cxn>
                    <a:cxn ang="0">
                      <a:pos x="33" y="6"/>
                    </a:cxn>
                    <a:cxn ang="0">
                      <a:pos x="38" y="5"/>
                    </a:cxn>
                    <a:cxn ang="0">
                      <a:pos x="33" y="2"/>
                    </a:cxn>
                    <a:cxn ang="0">
                      <a:pos x="25" y="0"/>
                    </a:cxn>
                    <a:cxn ang="0">
                      <a:pos x="16" y="0"/>
                    </a:cxn>
                    <a:cxn ang="0">
                      <a:pos x="10" y="3"/>
                    </a:cxn>
                    <a:cxn ang="0">
                      <a:pos x="5" y="7"/>
                    </a:cxn>
                    <a:cxn ang="0">
                      <a:pos x="3" y="10"/>
                    </a:cxn>
                    <a:cxn ang="0">
                      <a:pos x="0" y="13"/>
                    </a:cxn>
                  </a:cxnLst>
                  <a:rect l="0" t="0" r="r" b="b"/>
                  <a:pathLst>
                    <a:path w="39" h="18">
                      <a:moveTo>
                        <a:pt x="0" y="13"/>
                      </a:moveTo>
                      <a:lnTo>
                        <a:pt x="0" y="17"/>
                      </a:lnTo>
                      <a:lnTo>
                        <a:pt x="3" y="14"/>
                      </a:lnTo>
                      <a:lnTo>
                        <a:pt x="8" y="10"/>
                      </a:lnTo>
                      <a:lnTo>
                        <a:pt x="14" y="5"/>
                      </a:lnTo>
                      <a:lnTo>
                        <a:pt x="19" y="4"/>
                      </a:lnTo>
                      <a:lnTo>
                        <a:pt x="25" y="3"/>
                      </a:lnTo>
                      <a:lnTo>
                        <a:pt x="33" y="6"/>
                      </a:lnTo>
                      <a:lnTo>
                        <a:pt x="38" y="5"/>
                      </a:lnTo>
                      <a:lnTo>
                        <a:pt x="33" y="2"/>
                      </a:lnTo>
                      <a:lnTo>
                        <a:pt x="25" y="0"/>
                      </a:lnTo>
                      <a:lnTo>
                        <a:pt x="16" y="0"/>
                      </a:lnTo>
                      <a:lnTo>
                        <a:pt x="10" y="3"/>
                      </a:lnTo>
                      <a:lnTo>
                        <a:pt x="5" y="7"/>
                      </a:lnTo>
                      <a:lnTo>
                        <a:pt x="3" y="10"/>
                      </a:lnTo>
                      <a:lnTo>
                        <a:pt x="0" y="13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41" name="Freeform 109"/>
                <p:cNvSpPr>
                  <a:spLocks/>
                </p:cNvSpPr>
                <p:nvPr/>
              </p:nvSpPr>
              <p:spPr bwMode="auto">
                <a:xfrm>
                  <a:off x="3801" y="3772"/>
                  <a:ext cx="29" cy="16"/>
                </a:xfrm>
                <a:custGeom>
                  <a:avLst/>
                  <a:gdLst/>
                  <a:ahLst/>
                  <a:cxnLst>
                    <a:cxn ang="0">
                      <a:pos x="28" y="5"/>
                    </a:cxn>
                    <a:cxn ang="0">
                      <a:pos x="26" y="5"/>
                    </a:cxn>
                    <a:cxn ang="0">
                      <a:pos x="24" y="5"/>
                    </a:cxn>
                    <a:cxn ang="0">
                      <a:pos x="24" y="2"/>
                    </a:cxn>
                    <a:cxn ang="0">
                      <a:pos x="23" y="2"/>
                    </a:cxn>
                    <a:cxn ang="0">
                      <a:pos x="23" y="0"/>
                    </a:cxn>
                    <a:cxn ang="0">
                      <a:pos x="21" y="0"/>
                    </a:cxn>
                    <a:cxn ang="0">
                      <a:pos x="20" y="0"/>
                    </a:cxn>
                    <a:cxn ang="0">
                      <a:pos x="18" y="0"/>
                    </a:cxn>
                    <a:cxn ang="0">
                      <a:pos x="17" y="0"/>
                    </a:cxn>
                    <a:cxn ang="0">
                      <a:pos x="17" y="0"/>
                    </a:cxn>
                    <a:cxn ang="0">
                      <a:pos x="16" y="0"/>
                    </a:cxn>
                    <a:cxn ang="0">
                      <a:pos x="15" y="0"/>
                    </a:cxn>
                    <a:cxn ang="0">
                      <a:pos x="14" y="0"/>
                    </a:cxn>
                    <a:cxn ang="0">
                      <a:pos x="12" y="0"/>
                    </a:cxn>
                    <a:cxn ang="0">
                      <a:pos x="11" y="0"/>
                    </a:cxn>
                    <a:cxn ang="0">
                      <a:pos x="9" y="0"/>
                    </a:cxn>
                    <a:cxn ang="0">
                      <a:pos x="8" y="0"/>
                    </a:cxn>
                    <a:cxn ang="0">
                      <a:pos x="6" y="0"/>
                    </a:cxn>
                    <a:cxn ang="0">
                      <a:pos x="5" y="0"/>
                    </a:cxn>
                    <a:cxn ang="0">
                      <a:pos x="4" y="2"/>
                    </a:cxn>
                    <a:cxn ang="0">
                      <a:pos x="2" y="2"/>
                    </a:cxn>
                    <a:cxn ang="0">
                      <a:pos x="0" y="5"/>
                    </a:cxn>
                    <a:cxn ang="0">
                      <a:pos x="0" y="6"/>
                    </a:cxn>
                    <a:cxn ang="0">
                      <a:pos x="0" y="8"/>
                    </a:cxn>
                    <a:cxn ang="0">
                      <a:pos x="0" y="10"/>
                    </a:cxn>
                    <a:cxn ang="0">
                      <a:pos x="0" y="12"/>
                    </a:cxn>
                    <a:cxn ang="0">
                      <a:pos x="0" y="12"/>
                    </a:cxn>
                    <a:cxn ang="0">
                      <a:pos x="2" y="12"/>
                    </a:cxn>
                    <a:cxn ang="0">
                      <a:pos x="4" y="12"/>
                    </a:cxn>
                    <a:cxn ang="0">
                      <a:pos x="5" y="12"/>
                    </a:cxn>
                    <a:cxn ang="0">
                      <a:pos x="6" y="12"/>
                    </a:cxn>
                    <a:cxn ang="0">
                      <a:pos x="8" y="12"/>
                    </a:cxn>
                    <a:cxn ang="0">
                      <a:pos x="10" y="12"/>
                    </a:cxn>
                    <a:cxn ang="0">
                      <a:pos x="10" y="15"/>
                    </a:cxn>
                    <a:cxn ang="0">
                      <a:pos x="11" y="15"/>
                    </a:cxn>
                    <a:cxn ang="0">
                      <a:pos x="12" y="15"/>
                    </a:cxn>
                    <a:cxn ang="0">
                      <a:pos x="14" y="15"/>
                    </a:cxn>
                    <a:cxn ang="0">
                      <a:pos x="15" y="12"/>
                    </a:cxn>
                    <a:cxn ang="0">
                      <a:pos x="17" y="12"/>
                    </a:cxn>
                    <a:cxn ang="0">
                      <a:pos x="18" y="12"/>
                    </a:cxn>
                    <a:cxn ang="0">
                      <a:pos x="20" y="12"/>
                    </a:cxn>
                    <a:cxn ang="0">
                      <a:pos x="21" y="12"/>
                    </a:cxn>
                    <a:cxn ang="0">
                      <a:pos x="23" y="10"/>
                    </a:cxn>
                    <a:cxn ang="0">
                      <a:pos x="23" y="10"/>
                    </a:cxn>
                    <a:cxn ang="0">
                      <a:pos x="25" y="7"/>
                    </a:cxn>
                    <a:cxn ang="0">
                      <a:pos x="26" y="6"/>
                    </a:cxn>
                    <a:cxn ang="0">
                      <a:pos x="28" y="5"/>
                    </a:cxn>
                  </a:cxnLst>
                  <a:rect l="0" t="0" r="r" b="b"/>
                  <a:pathLst>
                    <a:path w="29" h="16">
                      <a:moveTo>
                        <a:pt x="28" y="5"/>
                      </a:moveTo>
                      <a:lnTo>
                        <a:pt x="26" y="5"/>
                      </a:lnTo>
                      <a:lnTo>
                        <a:pt x="24" y="5"/>
                      </a:lnTo>
                      <a:lnTo>
                        <a:pt x="24" y="2"/>
                      </a:lnTo>
                      <a:lnTo>
                        <a:pt x="23" y="2"/>
                      </a:lnTo>
                      <a:lnTo>
                        <a:pt x="23" y="0"/>
                      </a:lnTo>
                      <a:lnTo>
                        <a:pt x="21" y="0"/>
                      </a:lnTo>
                      <a:lnTo>
                        <a:pt x="20" y="0"/>
                      </a:lnTo>
                      <a:lnTo>
                        <a:pt x="18" y="0"/>
                      </a:lnTo>
                      <a:lnTo>
                        <a:pt x="17" y="0"/>
                      </a:lnTo>
                      <a:lnTo>
                        <a:pt x="17" y="0"/>
                      </a:lnTo>
                      <a:lnTo>
                        <a:pt x="16" y="0"/>
                      </a:lnTo>
                      <a:lnTo>
                        <a:pt x="15" y="0"/>
                      </a:lnTo>
                      <a:lnTo>
                        <a:pt x="14" y="0"/>
                      </a:lnTo>
                      <a:lnTo>
                        <a:pt x="12" y="0"/>
                      </a:lnTo>
                      <a:lnTo>
                        <a:pt x="11" y="0"/>
                      </a:lnTo>
                      <a:lnTo>
                        <a:pt x="9" y="0"/>
                      </a:lnTo>
                      <a:lnTo>
                        <a:pt x="8" y="0"/>
                      </a:lnTo>
                      <a:lnTo>
                        <a:pt x="6" y="0"/>
                      </a:lnTo>
                      <a:lnTo>
                        <a:pt x="5" y="0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6" y="12"/>
                      </a:lnTo>
                      <a:lnTo>
                        <a:pt x="8" y="12"/>
                      </a:lnTo>
                      <a:lnTo>
                        <a:pt x="10" y="12"/>
                      </a:lnTo>
                      <a:lnTo>
                        <a:pt x="10" y="15"/>
                      </a:lnTo>
                      <a:lnTo>
                        <a:pt x="11" y="15"/>
                      </a:lnTo>
                      <a:lnTo>
                        <a:pt x="12" y="15"/>
                      </a:lnTo>
                      <a:lnTo>
                        <a:pt x="14" y="15"/>
                      </a:lnTo>
                      <a:lnTo>
                        <a:pt x="15" y="12"/>
                      </a:lnTo>
                      <a:lnTo>
                        <a:pt x="17" y="12"/>
                      </a:lnTo>
                      <a:lnTo>
                        <a:pt x="18" y="12"/>
                      </a:lnTo>
                      <a:lnTo>
                        <a:pt x="20" y="12"/>
                      </a:lnTo>
                      <a:lnTo>
                        <a:pt x="21" y="12"/>
                      </a:lnTo>
                      <a:lnTo>
                        <a:pt x="23" y="10"/>
                      </a:lnTo>
                      <a:lnTo>
                        <a:pt x="23" y="10"/>
                      </a:lnTo>
                      <a:lnTo>
                        <a:pt x="25" y="7"/>
                      </a:lnTo>
                      <a:lnTo>
                        <a:pt x="26" y="6"/>
                      </a:lnTo>
                      <a:lnTo>
                        <a:pt x="28" y="5"/>
                      </a:lnTo>
                    </a:path>
                  </a:pathLst>
                </a:custGeom>
                <a:solidFill>
                  <a:srgbClr val="FFFFF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42" name="Freeform 110"/>
                <p:cNvSpPr>
                  <a:spLocks/>
                </p:cNvSpPr>
                <p:nvPr/>
              </p:nvSpPr>
              <p:spPr bwMode="auto">
                <a:xfrm>
                  <a:off x="3799" y="3766"/>
                  <a:ext cx="32" cy="18"/>
                </a:xfrm>
                <a:custGeom>
                  <a:avLst/>
                  <a:gdLst/>
                  <a:ahLst/>
                  <a:cxnLst>
                    <a:cxn ang="0">
                      <a:pos x="7" y="1"/>
                    </a:cxn>
                    <a:cxn ang="0">
                      <a:pos x="4" y="4"/>
                    </a:cxn>
                    <a:cxn ang="0">
                      <a:pos x="0" y="11"/>
                    </a:cxn>
                    <a:cxn ang="0">
                      <a:pos x="0" y="13"/>
                    </a:cxn>
                    <a:cxn ang="0">
                      <a:pos x="6" y="15"/>
                    </a:cxn>
                    <a:cxn ang="0">
                      <a:pos x="2" y="11"/>
                    </a:cxn>
                    <a:cxn ang="0">
                      <a:pos x="9" y="5"/>
                    </a:cxn>
                    <a:cxn ang="0">
                      <a:pos x="9" y="10"/>
                    </a:cxn>
                    <a:cxn ang="0">
                      <a:pos x="11" y="15"/>
                    </a:cxn>
                    <a:cxn ang="0">
                      <a:pos x="15" y="17"/>
                    </a:cxn>
                    <a:cxn ang="0">
                      <a:pos x="19" y="14"/>
                    </a:cxn>
                    <a:cxn ang="0">
                      <a:pos x="20" y="9"/>
                    </a:cxn>
                    <a:cxn ang="0">
                      <a:pos x="18" y="5"/>
                    </a:cxn>
                    <a:cxn ang="0">
                      <a:pos x="29" y="10"/>
                    </a:cxn>
                    <a:cxn ang="0">
                      <a:pos x="31" y="9"/>
                    </a:cxn>
                    <a:cxn ang="0">
                      <a:pos x="23" y="3"/>
                    </a:cxn>
                    <a:cxn ang="0">
                      <a:pos x="17" y="0"/>
                    </a:cxn>
                    <a:cxn ang="0">
                      <a:pos x="13" y="0"/>
                    </a:cxn>
                    <a:cxn ang="0">
                      <a:pos x="7" y="1"/>
                    </a:cxn>
                  </a:cxnLst>
                  <a:rect l="0" t="0" r="r" b="b"/>
                  <a:pathLst>
                    <a:path w="32" h="18">
                      <a:moveTo>
                        <a:pt x="7" y="1"/>
                      </a:moveTo>
                      <a:lnTo>
                        <a:pt x="4" y="4"/>
                      </a:lnTo>
                      <a:lnTo>
                        <a:pt x="0" y="11"/>
                      </a:lnTo>
                      <a:lnTo>
                        <a:pt x="0" y="13"/>
                      </a:lnTo>
                      <a:lnTo>
                        <a:pt x="6" y="15"/>
                      </a:lnTo>
                      <a:lnTo>
                        <a:pt x="2" y="11"/>
                      </a:lnTo>
                      <a:lnTo>
                        <a:pt x="9" y="5"/>
                      </a:lnTo>
                      <a:lnTo>
                        <a:pt x="9" y="10"/>
                      </a:lnTo>
                      <a:lnTo>
                        <a:pt x="11" y="15"/>
                      </a:lnTo>
                      <a:lnTo>
                        <a:pt x="15" y="17"/>
                      </a:lnTo>
                      <a:lnTo>
                        <a:pt x="19" y="14"/>
                      </a:lnTo>
                      <a:lnTo>
                        <a:pt x="20" y="9"/>
                      </a:lnTo>
                      <a:lnTo>
                        <a:pt x="18" y="5"/>
                      </a:lnTo>
                      <a:lnTo>
                        <a:pt x="29" y="10"/>
                      </a:lnTo>
                      <a:lnTo>
                        <a:pt x="31" y="9"/>
                      </a:lnTo>
                      <a:lnTo>
                        <a:pt x="23" y="3"/>
                      </a:lnTo>
                      <a:lnTo>
                        <a:pt x="17" y="0"/>
                      </a:lnTo>
                      <a:lnTo>
                        <a:pt x="13" y="0"/>
                      </a:lnTo>
                      <a:lnTo>
                        <a:pt x="7" y="1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43" name="Freeform 111"/>
                <p:cNvSpPr>
                  <a:spLocks/>
                </p:cNvSpPr>
                <p:nvPr/>
              </p:nvSpPr>
              <p:spPr bwMode="auto">
                <a:xfrm>
                  <a:off x="3790" y="3760"/>
                  <a:ext cx="16" cy="30"/>
                </a:xfrm>
                <a:custGeom>
                  <a:avLst/>
                  <a:gdLst/>
                  <a:ahLst/>
                  <a:cxnLst>
                    <a:cxn ang="0">
                      <a:pos x="15" y="0"/>
                    </a:cxn>
                    <a:cxn ang="0">
                      <a:pos x="14" y="0"/>
                    </a:cxn>
                    <a:cxn ang="0">
                      <a:pos x="13" y="0"/>
                    </a:cxn>
                    <a:cxn ang="0">
                      <a:pos x="12" y="1"/>
                    </a:cxn>
                    <a:cxn ang="0">
                      <a:pos x="11" y="1"/>
                    </a:cxn>
                    <a:cxn ang="0">
                      <a:pos x="9" y="3"/>
                    </a:cxn>
                    <a:cxn ang="0">
                      <a:pos x="7" y="3"/>
                    </a:cxn>
                    <a:cxn ang="0">
                      <a:pos x="5" y="4"/>
                    </a:cxn>
                    <a:cxn ang="0">
                      <a:pos x="3" y="6"/>
                    </a:cxn>
                    <a:cxn ang="0">
                      <a:pos x="2" y="6"/>
                    </a:cxn>
                    <a:cxn ang="0">
                      <a:pos x="1" y="6"/>
                    </a:cxn>
                    <a:cxn ang="0">
                      <a:pos x="0" y="8"/>
                    </a:cxn>
                    <a:cxn ang="0">
                      <a:pos x="0" y="9"/>
                    </a:cxn>
                    <a:cxn ang="0">
                      <a:pos x="0" y="10"/>
                    </a:cxn>
                    <a:cxn ang="0">
                      <a:pos x="0" y="12"/>
                    </a:cxn>
                    <a:cxn ang="0">
                      <a:pos x="0" y="13"/>
                    </a:cxn>
                    <a:cxn ang="0">
                      <a:pos x="0" y="14"/>
                    </a:cxn>
                    <a:cxn ang="0">
                      <a:pos x="0" y="16"/>
                    </a:cxn>
                    <a:cxn ang="0">
                      <a:pos x="0" y="18"/>
                    </a:cxn>
                    <a:cxn ang="0">
                      <a:pos x="0" y="19"/>
                    </a:cxn>
                    <a:cxn ang="0">
                      <a:pos x="0" y="20"/>
                    </a:cxn>
                    <a:cxn ang="0">
                      <a:pos x="0" y="22"/>
                    </a:cxn>
                    <a:cxn ang="0">
                      <a:pos x="0" y="23"/>
                    </a:cxn>
                    <a:cxn ang="0">
                      <a:pos x="0" y="24"/>
                    </a:cxn>
                    <a:cxn ang="0">
                      <a:pos x="0" y="25"/>
                    </a:cxn>
                    <a:cxn ang="0">
                      <a:pos x="0" y="27"/>
                    </a:cxn>
                    <a:cxn ang="0">
                      <a:pos x="0" y="29"/>
                    </a:cxn>
                    <a:cxn ang="0">
                      <a:pos x="1" y="29"/>
                    </a:cxn>
                    <a:cxn ang="0">
                      <a:pos x="1" y="27"/>
                    </a:cxn>
                    <a:cxn ang="0">
                      <a:pos x="1" y="25"/>
                    </a:cxn>
                    <a:cxn ang="0">
                      <a:pos x="2" y="24"/>
                    </a:cxn>
                    <a:cxn ang="0">
                      <a:pos x="2" y="22"/>
                    </a:cxn>
                    <a:cxn ang="0">
                      <a:pos x="2" y="20"/>
                    </a:cxn>
                    <a:cxn ang="0">
                      <a:pos x="2" y="19"/>
                    </a:cxn>
                    <a:cxn ang="0">
                      <a:pos x="3" y="18"/>
                    </a:cxn>
                    <a:cxn ang="0">
                      <a:pos x="3" y="17"/>
                    </a:cxn>
                    <a:cxn ang="0">
                      <a:pos x="5" y="15"/>
                    </a:cxn>
                    <a:cxn ang="0">
                      <a:pos x="5" y="13"/>
                    </a:cxn>
                    <a:cxn ang="0">
                      <a:pos x="7" y="12"/>
                    </a:cxn>
                    <a:cxn ang="0">
                      <a:pos x="7" y="10"/>
                    </a:cxn>
                    <a:cxn ang="0">
                      <a:pos x="9" y="9"/>
                    </a:cxn>
                    <a:cxn ang="0">
                      <a:pos x="9" y="8"/>
                    </a:cxn>
                    <a:cxn ang="0">
                      <a:pos x="11" y="6"/>
                    </a:cxn>
                    <a:cxn ang="0">
                      <a:pos x="11" y="5"/>
                    </a:cxn>
                    <a:cxn ang="0">
                      <a:pos x="13" y="3"/>
                    </a:cxn>
                    <a:cxn ang="0">
                      <a:pos x="13" y="2"/>
                    </a:cxn>
                    <a:cxn ang="0">
                      <a:pos x="14" y="0"/>
                    </a:cxn>
                    <a:cxn ang="0">
                      <a:pos x="15" y="0"/>
                    </a:cxn>
                  </a:cxnLst>
                  <a:rect l="0" t="0" r="r" b="b"/>
                  <a:pathLst>
                    <a:path w="16" h="30">
                      <a:moveTo>
                        <a:pt x="15" y="0"/>
                      </a:moveTo>
                      <a:lnTo>
                        <a:pt x="14" y="0"/>
                      </a:lnTo>
                      <a:lnTo>
                        <a:pt x="13" y="0"/>
                      </a:lnTo>
                      <a:lnTo>
                        <a:pt x="12" y="1"/>
                      </a:lnTo>
                      <a:lnTo>
                        <a:pt x="11" y="1"/>
                      </a:lnTo>
                      <a:lnTo>
                        <a:pt x="9" y="3"/>
                      </a:lnTo>
                      <a:lnTo>
                        <a:pt x="7" y="3"/>
                      </a:lnTo>
                      <a:lnTo>
                        <a:pt x="5" y="4"/>
                      </a:lnTo>
                      <a:lnTo>
                        <a:pt x="3" y="6"/>
                      </a:lnTo>
                      <a:lnTo>
                        <a:pt x="2" y="6"/>
                      </a:lnTo>
                      <a:lnTo>
                        <a:pt x="1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0" y="18"/>
                      </a:lnTo>
                      <a:lnTo>
                        <a:pt x="0" y="19"/>
                      </a:lnTo>
                      <a:lnTo>
                        <a:pt x="0" y="20"/>
                      </a:lnTo>
                      <a:lnTo>
                        <a:pt x="0" y="22"/>
                      </a:lnTo>
                      <a:lnTo>
                        <a:pt x="0" y="23"/>
                      </a:lnTo>
                      <a:lnTo>
                        <a:pt x="0" y="24"/>
                      </a:lnTo>
                      <a:lnTo>
                        <a:pt x="0" y="25"/>
                      </a:lnTo>
                      <a:lnTo>
                        <a:pt x="0" y="27"/>
                      </a:lnTo>
                      <a:lnTo>
                        <a:pt x="0" y="29"/>
                      </a:lnTo>
                      <a:lnTo>
                        <a:pt x="1" y="29"/>
                      </a:lnTo>
                      <a:lnTo>
                        <a:pt x="1" y="27"/>
                      </a:lnTo>
                      <a:lnTo>
                        <a:pt x="1" y="25"/>
                      </a:lnTo>
                      <a:lnTo>
                        <a:pt x="2" y="24"/>
                      </a:lnTo>
                      <a:lnTo>
                        <a:pt x="2" y="22"/>
                      </a:lnTo>
                      <a:lnTo>
                        <a:pt x="2" y="20"/>
                      </a:lnTo>
                      <a:lnTo>
                        <a:pt x="2" y="19"/>
                      </a:lnTo>
                      <a:lnTo>
                        <a:pt x="3" y="18"/>
                      </a:lnTo>
                      <a:lnTo>
                        <a:pt x="3" y="17"/>
                      </a:lnTo>
                      <a:lnTo>
                        <a:pt x="5" y="15"/>
                      </a:lnTo>
                      <a:lnTo>
                        <a:pt x="5" y="13"/>
                      </a:lnTo>
                      <a:lnTo>
                        <a:pt x="7" y="12"/>
                      </a:lnTo>
                      <a:lnTo>
                        <a:pt x="7" y="10"/>
                      </a:lnTo>
                      <a:lnTo>
                        <a:pt x="9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5"/>
                      </a:lnTo>
                      <a:lnTo>
                        <a:pt x="13" y="3"/>
                      </a:lnTo>
                      <a:lnTo>
                        <a:pt x="13" y="2"/>
                      </a:lnTo>
                      <a:lnTo>
                        <a:pt x="14" y="0"/>
                      </a:lnTo>
                      <a:lnTo>
                        <a:pt x="15" y="0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44" name="Freeform 112"/>
                <p:cNvSpPr>
                  <a:spLocks/>
                </p:cNvSpPr>
                <p:nvPr/>
              </p:nvSpPr>
              <p:spPr bwMode="auto">
                <a:xfrm>
                  <a:off x="3758" y="3847"/>
                  <a:ext cx="50" cy="16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8" y="0"/>
                    </a:cxn>
                    <a:cxn ang="0">
                      <a:pos x="11" y="0"/>
                    </a:cxn>
                    <a:cxn ang="0">
                      <a:pos x="13" y="0"/>
                    </a:cxn>
                    <a:cxn ang="0">
                      <a:pos x="16" y="0"/>
                    </a:cxn>
                    <a:cxn ang="0">
                      <a:pos x="17" y="1"/>
                    </a:cxn>
                    <a:cxn ang="0">
                      <a:pos x="20" y="1"/>
                    </a:cxn>
                    <a:cxn ang="0">
                      <a:pos x="21" y="3"/>
                    </a:cxn>
                    <a:cxn ang="0">
                      <a:pos x="22" y="4"/>
                    </a:cxn>
                    <a:cxn ang="0">
                      <a:pos x="23" y="3"/>
                    </a:cxn>
                    <a:cxn ang="0">
                      <a:pos x="24" y="0"/>
                    </a:cxn>
                    <a:cxn ang="0">
                      <a:pos x="27" y="0"/>
                    </a:cxn>
                    <a:cxn ang="0">
                      <a:pos x="29" y="0"/>
                    </a:cxn>
                    <a:cxn ang="0">
                      <a:pos x="33" y="0"/>
                    </a:cxn>
                    <a:cxn ang="0">
                      <a:pos x="35" y="0"/>
                    </a:cxn>
                    <a:cxn ang="0">
                      <a:pos x="37" y="0"/>
                    </a:cxn>
                    <a:cxn ang="0">
                      <a:pos x="39" y="0"/>
                    </a:cxn>
                    <a:cxn ang="0">
                      <a:pos x="41" y="1"/>
                    </a:cxn>
                    <a:cxn ang="0">
                      <a:pos x="44" y="1"/>
                    </a:cxn>
                    <a:cxn ang="0">
                      <a:pos x="46" y="2"/>
                    </a:cxn>
                    <a:cxn ang="0">
                      <a:pos x="47" y="3"/>
                    </a:cxn>
                    <a:cxn ang="0">
                      <a:pos x="47" y="4"/>
                    </a:cxn>
                    <a:cxn ang="0">
                      <a:pos x="44" y="6"/>
                    </a:cxn>
                    <a:cxn ang="0">
                      <a:pos x="42" y="7"/>
                    </a:cxn>
                    <a:cxn ang="0">
                      <a:pos x="40" y="9"/>
                    </a:cxn>
                    <a:cxn ang="0">
                      <a:pos x="37" y="10"/>
                    </a:cxn>
                    <a:cxn ang="0">
                      <a:pos x="34" y="12"/>
                    </a:cxn>
                    <a:cxn ang="0">
                      <a:pos x="32" y="13"/>
                    </a:cxn>
                    <a:cxn ang="0">
                      <a:pos x="29" y="14"/>
                    </a:cxn>
                    <a:cxn ang="0">
                      <a:pos x="26" y="15"/>
                    </a:cxn>
                    <a:cxn ang="0">
                      <a:pos x="23" y="15"/>
                    </a:cxn>
                    <a:cxn ang="0">
                      <a:pos x="21" y="15"/>
                    </a:cxn>
                    <a:cxn ang="0">
                      <a:pos x="18" y="15"/>
                    </a:cxn>
                    <a:cxn ang="0">
                      <a:pos x="16" y="14"/>
                    </a:cxn>
                    <a:cxn ang="0">
                      <a:pos x="15" y="13"/>
                    </a:cxn>
                    <a:cxn ang="0">
                      <a:pos x="11" y="13"/>
                    </a:cxn>
                    <a:cxn ang="0">
                      <a:pos x="10" y="11"/>
                    </a:cxn>
                    <a:cxn ang="0">
                      <a:pos x="7" y="11"/>
                    </a:cxn>
                    <a:cxn ang="0">
                      <a:pos x="5" y="9"/>
                    </a:cxn>
                    <a:cxn ang="0">
                      <a:pos x="5" y="7"/>
                    </a:cxn>
                    <a:cxn ang="0">
                      <a:pos x="3" y="6"/>
                    </a:cxn>
                    <a:cxn ang="0">
                      <a:pos x="0" y="6"/>
                    </a:cxn>
                    <a:cxn ang="0">
                      <a:pos x="0" y="3"/>
                    </a:cxn>
                    <a:cxn ang="0">
                      <a:pos x="0" y="1"/>
                    </a:cxn>
                    <a:cxn ang="0">
                      <a:pos x="3" y="1"/>
                    </a:cxn>
                  </a:cxnLst>
                  <a:rect l="0" t="0" r="r" b="b"/>
                  <a:pathLst>
                    <a:path w="50" h="16">
                      <a:moveTo>
                        <a:pt x="5" y="1"/>
                      </a:moveTo>
                      <a:lnTo>
                        <a:pt x="6" y="0"/>
                      </a:lnTo>
                      <a:lnTo>
                        <a:pt x="7" y="0"/>
                      </a:lnTo>
                      <a:lnTo>
                        <a:pt x="8" y="0"/>
                      </a:lnTo>
                      <a:lnTo>
                        <a:pt x="9" y="0"/>
                      </a:lnTo>
                      <a:lnTo>
                        <a:pt x="11" y="0"/>
                      </a:lnTo>
                      <a:lnTo>
                        <a:pt x="11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0"/>
                      </a:lnTo>
                      <a:lnTo>
                        <a:pt x="17" y="0"/>
                      </a:lnTo>
                      <a:lnTo>
                        <a:pt x="17" y="1"/>
                      </a:lnTo>
                      <a:lnTo>
                        <a:pt x="18" y="1"/>
                      </a:lnTo>
                      <a:lnTo>
                        <a:pt x="20" y="1"/>
                      </a:lnTo>
                      <a:lnTo>
                        <a:pt x="20" y="3"/>
                      </a:lnTo>
                      <a:lnTo>
                        <a:pt x="21" y="3"/>
                      </a:lnTo>
                      <a:lnTo>
                        <a:pt x="21" y="4"/>
                      </a:lnTo>
                      <a:lnTo>
                        <a:pt x="22" y="4"/>
                      </a:lnTo>
                      <a:lnTo>
                        <a:pt x="23" y="4"/>
                      </a:lnTo>
                      <a:lnTo>
                        <a:pt x="23" y="3"/>
                      </a:lnTo>
                      <a:lnTo>
                        <a:pt x="24" y="1"/>
                      </a:lnTo>
                      <a:lnTo>
                        <a:pt x="24" y="0"/>
                      </a:lnTo>
                      <a:lnTo>
                        <a:pt x="26" y="0"/>
                      </a:lnTo>
                      <a:lnTo>
                        <a:pt x="27" y="0"/>
                      </a:lnTo>
                      <a:lnTo>
                        <a:pt x="28" y="0"/>
                      </a:lnTo>
                      <a:lnTo>
                        <a:pt x="29" y="0"/>
                      </a:lnTo>
                      <a:lnTo>
                        <a:pt x="31" y="0"/>
                      </a:lnTo>
                      <a:lnTo>
                        <a:pt x="33" y="0"/>
                      </a:lnTo>
                      <a:lnTo>
                        <a:pt x="34" y="0"/>
                      </a:lnTo>
                      <a:lnTo>
                        <a:pt x="35" y="0"/>
                      </a:lnTo>
                      <a:lnTo>
                        <a:pt x="37" y="0"/>
                      </a:lnTo>
                      <a:lnTo>
                        <a:pt x="37" y="0"/>
                      </a:lnTo>
                      <a:lnTo>
                        <a:pt x="38" y="0"/>
                      </a:lnTo>
                      <a:lnTo>
                        <a:pt x="39" y="0"/>
                      </a:lnTo>
                      <a:lnTo>
                        <a:pt x="41" y="0"/>
                      </a:lnTo>
                      <a:lnTo>
                        <a:pt x="41" y="1"/>
                      </a:lnTo>
                      <a:lnTo>
                        <a:pt x="43" y="1"/>
                      </a:lnTo>
                      <a:lnTo>
                        <a:pt x="44" y="1"/>
                      </a:lnTo>
                      <a:lnTo>
                        <a:pt x="44" y="2"/>
                      </a:lnTo>
                      <a:lnTo>
                        <a:pt x="46" y="2"/>
                      </a:lnTo>
                      <a:lnTo>
                        <a:pt x="46" y="3"/>
                      </a:lnTo>
                      <a:lnTo>
                        <a:pt x="47" y="3"/>
                      </a:lnTo>
                      <a:lnTo>
                        <a:pt x="49" y="3"/>
                      </a:lnTo>
                      <a:lnTo>
                        <a:pt x="47" y="4"/>
                      </a:lnTo>
                      <a:lnTo>
                        <a:pt x="45" y="6"/>
                      </a:lnTo>
                      <a:lnTo>
                        <a:pt x="44" y="6"/>
                      </a:lnTo>
                      <a:lnTo>
                        <a:pt x="43" y="6"/>
                      </a:lnTo>
                      <a:lnTo>
                        <a:pt x="42" y="7"/>
                      </a:lnTo>
                      <a:lnTo>
                        <a:pt x="42" y="8"/>
                      </a:lnTo>
                      <a:lnTo>
                        <a:pt x="40" y="9"/>
                      </a:lnTo>
                      <a:lnTo>
                        <a:pt x="38" y="10"/>
                      </a:lnTo>
                      <a:lnTo>
                        <a:pt x="37" y="10"/>
                      </a:lnTo>
                      <a:lnTo>
                        <a:pt x="35" y="12"/>
                      </a:lnTo>
                      <a:lnTo>
                        <a:pt x="34" y="12"/>
                      </a:lnTo>
                      <a:lnTo>
                        <a:pt x="33" y="13"/>
                      </a:lnTo>
                      <a:lnTo>
                        <a:pt x="32" y="13"/>
                      </a:lnTo>
                      <a:lnTo>
                        <a:pt x="30" y="14"/>
                      </a:lnTo>
                      <a:lnTo>
                        <a:pt x="29" y="14"/>
                      </a:lnTo>
                      <a:lnTo>
                        <a:pt x="27" y="14"/>
                      </a:lnTo>
                      <a:lnTo>
                        <a:pt x="26" y="15"/>
                      </a:lnTo>
                      <a:lnTo>
                        <a:pt x="25" y="15"/>
                      </a:lnTo>
                      <a:lnTo>
                        <a:pt x="23" y="15"/>
                      </a:lnTo>
                      <a:lnTo>
                        <a:pt x="22" y="15"/>
                      </a:lnTo>
                      <a:lnTo>
                        <a:pt x="21" y="15"/>
                      </a:lnTo>
                      <a:lnTo>
                        <a:pt x="20" y="15"/>
                      </a:lnTo>
                      <a:lnTo>
                        <a:pt x="18" y="15"/>
                      </a:lnTo>
                      <a:lnTo>
                        <a:pt x="18" y="14"/>
                      </a:lnTo>
                      <a:lnTo>
                        <a:pt x="16" y="14"/>
                      </a:lnTo>
                      <a:lnTo>
                        <a:pt x="15" y="14"/>
                      </a:lnTo>
                      <a:lnTo>
                        <a:pt x="15" y="13"/>
                      </a:lnTo>
                      <a:lnTo>
                        <a:pt x="13" y="13"/>
                      </a:lnTo>
                      <a:lnTo>
                        <a:pt x="11" y="13"/>
                      </a:lnTo>
                      <a:lnTo>
                        <a:pt x="11" y="11"/>
                      </a:lnTo>
                      <a:lnTo>
                        <a:pt x="10" y="11"/>
                      </a:lnTo>
                      <a:lnTo>
                        <a:pt x="9" y="11"/>
                      </a:lnTo>
                      <a:lnTo>
                        <a:pt x="7" y="11"/>
                      </a:lnTo>
                      <a:lnTo>
                        <a:pt x="7" y="9"/>
                      </a:lnTo>
                      <a:lnTo>
                        <a:pt x="5" y="9"/>
                      </a:lnTo>
                      <a:lnTo>
                        <a:pt x="5" y="7"/>
                      </a:lnTo>
                      <a:lnTo>
                        <a:pt x="5" y="7"/>
                      </a:lnTo>
                      <a:lnTo>
                        <a:pt x="5" y="6"/>
                      </a:lnTo>
                      <a:lnTo>
                        <a:pt x="3" y="6"/>
                      </a:lnTo>
                      <a:lnTo>
                        <a:pt x="1" y="6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2" y="1"/>
                      </a:lnTo>
                      <a:lnTo>
                        <a:pt x="3" y="1"/>
                      </a:lnTo>
                      <a:lnTo>
                        <a:pt x="5" y="1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45" name="Oval 113"/>
                <p:cNvSpPr>
                  <a:spLocks noChangeArrowheads="1"/>
                </p:cNvSpPr>
                <p:nvPr/>
              </p:nvSpPr>
              <p:spPr bwMode="auto">
                <a:xfrm>
                  <a:off x="3839" y="3820"/>
                  <a:ext cx="10" cy="11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C1C1C">
                        <a:gamma/>
                        <a:tint val="40000"/>
                        <a:invGamma/>
                      </a:srgbClr>
                    </a:gs>
                    <a:gs pos="100000">
                      <a:srgbClr val="1C1C1C"/>
                    </a:gs>
                  </a:gsLst>
                  <a:path path="shape">
                    <a:fillToRect l="50000" t="50000" r="50000" b="50000"/>
                  </a:path>
                </a:gradFill>
                <a:ln w="12700">
                  <a:solidFill>
                    <a:srgbClr val="1C1C1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746" name="Freeform 114"/>
                <p:cNvSpPr>
                  <a:spLocks/>
                </p:cNvSpPr>
                <p:nvPr/>
              </p:nvSpPr>
              <p:spPr bwMode="auto">
                <a:xfrm>
                  <a:off x="3697" y="3788"/>
                  <a:ext cx="16" cy="31"/>
                </a:xfrm>
                <a:custGeom>
                  <a:avLst/>
                  <a:gdLst/>
                  <a:ahLst/>
                  <a:cxnLst>
                    <a:cxn ang="0">
                      <a:pos x="14" y="0"/>
                    </a:cxn>
                    <a:cxn ang="0">
                      <a:pos x="13" y="0"/>
                    </a:cxn>
                    <a:cxn ang="0">
                      <a:pos x="2" y="0"/>
                    </a:cxn>
                    <a:cxn ang="0">
                      <a:pos x="0" y="11"/>
                    </a:cxn>
                    <a:cxn ang="0">
                      <a:pos x="7" y="23"/>
                    </a:cxn>
                    <a:cxn ang="0">
                      <a:pos x="13" y="30"/>
                    </a:cxn>
                    <a:cxn ang="0">
                      <a:pos x="15" y="26"/>
                    </a:cxn>
                    <a:cxn ang="0">
                      <a:pos x="14" y="0"/>
                    </a:cxn>
                  </a:cxnLst>
                  <a:rect l="0" t="0" r="r" b="b"/>
                  <a:pathLst>
                    <a:path w="16" h="31">
                      <a:moveTo>
                        <a:pt x="14" y="0"/>
                      </a:moveTo>
                      <a:lnTo>
                        <a:pt x="13" y="0"/>
                      </a:lnTo>
                      <a:lnTo>
                        <a:pt x="2" y="0"/>
                      </a:lnTo>
                      <a:lnTo>
                        <a:pt x="0" y="11"/>
                      </a:lnTo>
                      <a:lnTo>
                        <a:pt x="7" y="23"/>
                      </a:lnTo>
                      <a:lnTo>
                        <a:pt x="13" y="30"/>
                      </a:lnTo>
                      <a:lnTo>
                        <a:pt x="15" y="26"/>
                      </a:lnTo>
                      <a:lnTo>
                        <a:pt x="14" y="0"/>
                      </a:lnTo>
                    </a:path>
                  </a:pathLst>
                </a:custGeom>
                <a:solidFill>
                  <a:srgbClr val="353535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47" name="Oval 115"/>
                <p:cNvSpPr>
                  <a:spLocks noChangeArrowheads="1"/>
                </p:cNvSpPr>
                <p:nvPr/>
              </p:nvSpPr>
              <p:spPr bwMode="auto">
                <a:xfrm>
                  <a:off x="3701" y="3814"/>
                  <a:ext cx="8" cy="11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C1C1C">
                        <a:gamma/>
                        <a:tint val="40000"/>
                        <a:invGamma/>
                      </a:srgbClr>
                    </a:gs>
                    <a:gs pos="100000">
                      <a:srgbClr val="1C1C1C"/>
                    </a:gs>
                  </a:gsLst>
                  <a:path path="shape">
                    <a:fillToRect l="50000" t="50000" r="50000" b="50000"/>
                  </a:path>
                </a:gradFill>
                <a:ln w="12700">
                  <a:solidFill>
                    <a:srgbClr val="1C1C1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748" name="Freeform 116"/>
                <p:cNvSpPr>
                  <a:spLocks/>
                </p:cNvSpPr>
                <p:nvPr/>
              </p:nvSpPr>
              <p:spPr bwMode="auto">
                <a:xfrm>
                  <a:off x="3790" y="3776"/>
                  <a:ext cx="16" cy="41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3"/>
                    </a:cxn>
                    <a:cxn ang="0">
                      <a:pos x="2" y="6"/>
                    </a:cxn>
                    <a:cxn ang="0">
                      <a:pos x="2" y="9"/>
                    </a:cxn>
                    <a:cxn ang="0">
                      <a:pos x="2" y="11"/>
                    </a:cxn>
                    <a:cxn ang="0">
                      <a:pos x="2" y="15"/>
                    </a:cxn>
                    <a:cxn ang="0">
                      <a:pos x="2" y="20"/>
                    </a:cxn>
                    <a:cxn ang="0">
                      <a:pos x="2" y="23"/>
                    </a:cxn>
                    <a:cxn ang="0">
                      <a:pos x="2" y="26"/>
                    </a:cxn>
                    <a:cxn ang="0">
                      <a:pos x="2" y="30"/>
                    </a:cxn>
                    <a:cxn ang="0">
                      <a:pos x="3" y="32"/>
                    </a:cxn>
                    <a:cxn ang="0">
                      <a:pos x="3" y="35"/>
                    </a:cxn>
                    <a:cxn ang="0">
                      <a:pos x="5" y="36"/>
                    </a:cxn>
                    <a:cxn ang="0">
                      <a:pos x="8" y="37"/>
                    </a:cxn>
                    <a:cxn ang="0">
                      <a:pos x="8" y="40"/>
                    </a:cxn>
                    <a:cxn ang="0">
                      <a:pos x="15" y="38"/>
                    </a:cxn>
                    <a:cxn ang="0">
                      <a:pos x="11" y="37"/>
                    </a:cxn>
                    <a:cxn ang="0">
                      <a:pos x="8" y="35"/>
                    </a:cxn>
                    <a:cxn ang="0">
                      <a:pos x="5" y="34"/>
                    </a:cxn>
                    <a:cxn ang="0">
                      <a:pos x="2" y="32"/>
                    </a:cxn>
                    <a:cxn ang="0">
                      <a:pos x="2" y="30"/>
                    </a:cxn>
                    <a:cxn ang="0">
                      <a:pos x="0" y="28"/>
                    </a:cxn>
                    <a:cxn ang="0">
                      <a:pos x="0" y="25"/>
                    </a:cxn>
                    <a:cxn ang="0">
                      <a:pos x="0" y="23"/>
                    </a:cxn>
                    <a:cxn ang="0">
                      <a:pos x="0" y="20"/>
                    </a:cxn>
                    <a:cxn ang="0">
                      <a:pos x="0" y="17"/>
                    </a:cxn>
                    <a:cxn ang="0">
                      <a:pos x="0" y="15"/>
                    </a:cxn>
                    <a:cxn ang="0">
                      <a:pos x="0" y="11"/>
                    </a:cxn>
                    <a:cxn ang="0">
                      <a:pos x="0" y="9"/>
                    </a:cxn>
                    <a:cxn ang="0">
                      <a:pos x="0" y="8"/>
                    </a:cxn>
                    <a:cxn ang="0">
                      <a:pos x="0" y="5"/>
                    </a:cxn>
                    <a:cxn ang="0">
                      <a:pos x="0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16" h="41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2" y="2"/>
                      </a:lnTo>
                      <a:lnTo>
                        <a:pt x="2" y="3"/>
                      </a:lnTo>
                      <a:lnTo>
                        <a:pt x="2" y="5"/>
                      </a:lnTo>
                      <a:lnTo>
                        <a:pt x="2" y="6"/>
                      </a:lnTo>
                      <a:lnTo>
                        <a:pt x="2" y="8"/>
                      </a:lnTo>
                      <a:lnTo>
                        <a:pt x="2" y="9"/>
                      </a:lnTo>
                      <a:lnTo>
                        <a:pt x="2" y="10"/>
                      </a:lnTo>
                      <a:lnTo>
                        <a:pt x="2" y="11"/>
                      </a:lnTo>
                      <a:lnTo>
                        <a:pt x="2" y="13"/>
                      </a:lnTo>
                      <a:lnTo>
                        <a:pt x="2" y="15"/>
                      </a:lnTo>
                      <a:lnTo>
                        <a:pt x="2" y="16"/>
                      </a:lnTo>
                      <a:lnTo>
                        <a:pt x="2" y="20"/>
                      </a:lnTo>
                      <a:lnTo>
                        <a:pt x="2" y="21"/>
                      </a:lnTo>
                      <a:lnTo>
                        <a:pt x="2" y="23"/>
                      </a:lnTo>
                      <a:lnTo>
                        <a:pt x="2" y="25"/>
                      </a:lnTo>
                      <a:lnTo>
                        <a:pt x="2" y="26"/>
                      </a:lnTo>
                      <a:lnTo>
                        <a:pt x="2" y="28"/>
                      </a:lnTo>
                      <a:lnTo>
                        <a:pt x="2" y="30"/>
                      </a:lnTo>
                      <a:lnTo>
                        <a:pt x="3" y="30"/>
                      </a:lnTo>
                      <a:lnTo>
                        <a:pt x="3" y="32"/>
                      </a:lnTo>
                      <a:lnTo>
                        <a:pt x="3" y="34"/>
                      </a:lnTo>
                      <a:lnTo>
                        <a:pt x="3" y="35"/>
                      </a:lnTo>
                      <a:lnTo>
                        <a:pt x="3" y="36"/>
                      </a:lnTo>
                      <a:lnTo>
                        <a:pt x="5" y="36"/>
                      </a:lnTo>
                      <a:lnTo>
                        <a:pt x="5" y="37"/>
                      </a:lnTo>
                      <a:lnTo>
                        <a:pt x="8" y="37"/>
                      </a:lnTo>
                      <a:lnTo>
                        <a:pt x="8" y="39"/>
                      </a:lnTo>
                      <a:lnTo>
                        <a:pt x="8" y="40"/>
                      </a:lnTo>
                      <a:lnTo>
                        <a:pt x="11" y="40"/>
                      </a:lnTo>
                      <a:lnTo>
                        <a:pt x="15" y="38"/>
                      </a:lnTo>
                      <a:lnTo>
                        <a:pt x="11" y="38"/>
                      </a:lnTo>
                      <a:lnTo>
                        <a:pt x="11" y="37"/>
                      </a:lnTo>
                      <a:lnTo>
                        <a:pt x="8" y="37"/>
                      </a:lnTo>
                      <a:lnTo>
                        <a:pt x="8" y="35"/>
                      </a:lnTo>
                      <a:lnTo>
                        <a:pt x="5" y="35"/>
                      </a:lnTo>
                      <a:lnTo>
                        <a:pt x="5" y="34"/>
                      </a:lnTo>
                      <a:lnTo>
                        <a:pt x="5" y="32"/>
                      </a:lnTo>
                      <a:lnTo>
                        <a:pt x="2" y="32"/>
                      </a:lnTo>
                      <a:lnTo>
                        <a:pt x="2" y="30"/>
                      </a:lnTo>
                      <a:lnTo>
                        <a:pt x="2" y="30"/>
                      </a:lnTo>
                      <a:lnTo>
                        <a:pt x="2" y="28"/>
                      </a:lnTo>
                      <a:lnTo>
                        <a:pt x="0" y="28"/>
                      </a:lnTo>
                      <a:lnTo>
                        <a:pt x="0" y="26"/>
                      </a:lnTo>
                      <a:lnTo>
                        <a:pt x="0" y="25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0" y="21"/>
                      </a:lnTo>
                      <a:lnTo>
                        <a:pt x="0" y="20"/>
                      </a:lnTo>
                      <a:lnTo>
                        <a:pt x="0" y="18"/>
                      </a:lnTo>
                      <a:lnTo>
                        <a:pt x="0" y="17"/>
                      </a:lnTo>
                      <a:lnTo>
                        <a:pt x="0" y="16"/>
                      </a:lnTo>
                      <a:lnTo>
                        <a:pt x="0" y="15"/>
                      </a:lnTo>
                      <a:lnTo>
                        <a:pt x="0" y="13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49" name="Freeform 117"/>
                <p:cNvSpPr>
                  <a:spLocks/>
                </p:cNvSpPr>
                <p:nvPr/>
              </p:nvSpPr>
              <p:spPr bwMode="auto">
                <a:xfrm>
                  <a:off x="3758" y="3851"/>
                  <a:ext cx="48" cy="1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2" y="1"/>
                    </a:cxn>
                    <a:cxn ang="0">
                      <a:pos x="4" y="1"/>
                    </a:cxn>
                    <a:cxn ang="0">
                      <a:pos x="5" y="1"/>
                    </a:cxn>
                    <a:cxn ang="0">
                      <a:pos x="7" y="1"/>
                    </a:cxn>
                    <a:cxn ang="0">
                      <a:pos x="8" y="7"/>
                    </a:cxn>
                    <a:cxn ang="0">
                      <a:pos x="10" y="7"/>
                    </a:cxn>
                    <a:cxn ang="0">
                      <a:pos x="11" y="7"/>
                    </a:cxn>
                    <a:cxn ang="0">
                      <a:pos x="13" y="7"/>
                    </a:cxn>
                    <a:cxn ang="0">
                      <a:pos x="14" y="7"/>
                    </a:cxn>
                    <a:cxn ang="0">
                      <a:pos x="16" y="7"/>
                    </a:cxn>
                    <a:cxn ang="0">
                      <a:pos x="17" y="7"/>
                    </a:cxn>
                    <a:cxn ang="0">
                      <a:pos x="18" y="7"/>
                    </a:cxn>
                    <a:cxn ang="0">
                      <a:pos x="18" y="12"/>
                    </a:cxn>
                    <a:cxn ang="0">
                      <a:pos x="20" y="12"/>
                    </a:cxn>
                    <a:cxn ang="0">
                      <a:pos x="21" y="12"/>
                    </a:cxn>
                    <a:cxn ang="0">
                      <a:pos x="21" y="15"/>
                    </a:cxn>
                    <a:cxn ang="0">
                      <a:pos x="22" y="15"/>
                    </a:cxn>
                    <a:cxn ang="0">
                      <a:pos x="24" y="15"/>
                    </a:cxn>
                    <a:cxn ang="0">
                      <a:pos x="25" y="15"/>
                    </a:cxn>
                    <a:cxn ang="0">
                      <a:pos x="26" y="9"/>
                    </a:cxn>
                    <a:cxn ang="0">
                      <a:pos x="26" y="9"/>
                    </a:cxn>
                    <a:cxn ang="0">
                      <a:pos x="28" y="7"/>
                    </a:cxn>
                    <a:cxn ang="0">
                      <a:pos x="30" y="7"/>
                    </a:cxn>
                    <a:cxn ang="0">
                      <a:pos x="32" y="7"/>
                    </a:cxn>
                    <a:cxn ang="0">
                      <a:pos x="33" y="7"/>
                    </a:cxn>
                    <a:cxn ang="0">
                      <a:pos x="34" y="7"/>
                    </a:cxn>
                    <a:cxn ang="0">
                      <a:pos x="36" y="7"/>
                    </a:cxn>
                    <a:cxn ang="0">
                      <a:pos x="37" y="7"/>
                    </a:cxn>
                    <a:cxn ang="0">
                      <a:pos x="39" y="1"/>
                    </a:cxn>
                    <a:cxn ang="0">
                      <a:pos x="40" y="1"/>
                    </a:cxn>
                    <a:cxn ang="0">
                      <a:pos x="42" y="1"/>
                    </a:cxn>
                    <a:cxn ang="0">
                      <a:pos x="42" y="1"/>
                    </a:cxn>
                    <a:cxn ang="0">
                      <a:pos x="44" y="1"/>
                    </a:cxn>
                    <a:cxn ang="0">
                      <a:pos x="46" y="1"/>
                    </a:cxn>
                    <a:cxn ang="0">
                      <a:pos x="47" y="1"/>
                    </a:cxn>
                  </a:cxnLst>
                  <a:rect l="0" t="0" r="r" b="b"/>
                  <a:pathLst>
                    <a:path w="48" h="16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4" y="1"/>
                      </a:lnTo>
                      <a:lnTo>
                        <a:pt x="5" y="1"/>
                      </a:lnTo>
                      <a:lnTo>
                        <a:pt x="7" y="1"/>
                      </a:lnTo>
                      <a:lnTo>
                        <a:pt x="8" y="7"/>
                      </a:lnTo>
                      <a:lnTo>
                        <a:pt x="10" y="7"/>
                      </a:lnTo>
                      <a:lnTo>
                        <a:pt x="11" y="7"/>
                      </a:lnTo>
                      <a:lnTo>
                        <a:pt x="13" y="7"/>
                      </a:lnTo>
                      <a:lnTo>
                        <a:pt x="14" y="7"/>
                      </a:lnTo>
                      <a:lnTo>
                        <a:pt x="16" y="7"/>
                      </a:lnTo>
                      <a:lnTo>
                        <a:pt x="17" y="7"/>
                      </a:lnTo>
                      <a:lnTo>
                        <a:pt x="18" y="7"/>
                      </a:lnTo>
                      <a:lnTo>
                        <a:pt x="18" y="12"/>
                      </a:lnTo>
                      <a:lnTo>
                        <a:pt x="20" y="12"/>
                      </a:lnTo>
                      <a:lnTo>
                        <a:pt x="21" y="12"/>
                      </a:lnTo>
                      <a:lnTo>
                        <a:pt x="21" y="15"/>
                      </a:lnTo>
                      <a:lnTo>
                        <a:pt x="22" y="15"/>
                      </a:lnTo>
                      <a:lnTo>
                        <a:pt x="24" y="15"/>
                      </a:lnTo>
                      <a:lnTo>
                        <a:pt x="25" y="15"/>
                      </a:lnTo>
                      <a:lnTo>
                        <a:pt x="26" y="9"/>
                      </a:lnTo>
                      <a:lnTo>
                        <a:pt x="26" y="9"/>
                      </a:lnTo>
                      <a:lnTo>
                        <a:pt x="28" y="7"/>
                      </a:lnTo>
                      <a:lnTo>
                        <a:pt x="30" y="7"/>
                      </a:lnTo>
                      <a:lnTo>
                        <a:pt x="32" y="7"/>
                      </a:lnTo>
                      <a:lnTo>
                        <a:pt x="33" y="7"/>
                      </a:lnTo>
                      <a:lnTo>
                        <a:pt x="34" y="7"/>
                      </a:lnTo>
                      <a:lnTo>
                        <a:pt x="36" y="7"/>
                      </a:lnTo>
                      <a:lnTo>
                        <a:pt x="37" y="7"/>
                      </a:lnTo>
                      <a:lnTo>
                        <a:pt x="39" y="1"/>
                      </a:lnTo>
                      <a:lnTo>
                        <a:pt x="40" y="1"/>
                      </a:lnTo>
                      <a:lnTo>
                        <a:pt x="42" y="1"/>
                      </a:lnTo>
                      <a:lnTo>
                        <a:pt x="42" y="1"/>
                      </a:lnTo>
                      <a:lnTo>
                        <a:pt x="44" y="1"/>
                      </a:lnTo>
                      <a:lnTo>
                        <a:pt x="46" y="1"/>
                      </a:lnTo>
                      <a:lnTo>
                        <a:pt x="47" y="1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50" name="Oval 118"/>
                <p:cNvSpPr>
                  <a:spLocks noChangeArrowheads="1"/>
                </p:cNvSpPr>
                <p:nvPr/>
              </p:nvSpPr>
              <p:spPr bwMode="auto">
                <a:xfrm>
                  <a:off x="3741" y="3772"/>
                  <a:ext cx="16" cy="16"/>
                </a:xfrm>
                <a:prstGeom prst="ellipse">
                  <a:avLst/>
                </a:pr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751" name="Oval 119"/>
                <p:cNvSpPr>
                  <a:spLocks noChangeArrowheads="1"/>
                </p:cNvSpPr>
                <p:nvPr/>
              </p:nvSpPr>
              <p:spPr bwMode="auto">
                <a:xfrm>
                  <a:off x="3809" y="3772"/>
                  <a:ext cx="16" cy="16"/>
                </a:xfrm>
                <a:prstGeom prst="ellipse">
                  <a:avLst/>
                </a:pr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752" name="Oval 120"/>
                <p:cNvSpPr>
                  <a:spLocks noChangeArrowheads="1"/>
                </p:cNvSpPr>
                <p:nvPr/>
              </p:nvSpPr>
              <p:spPr bwMode="auto">
                <a:xfrm>
                  <a:off x="3811" y="4159"/>
                  <a:ext cx="16" cy="18"/>
                </a:xfrm>
                <a:prstGeom prst="ellipse">
                  <a:avLst/>
                </a:prstGeom>
                <a:solidFill>
                  <a:srgbClr val="E1E1E1"/>
                </a:soli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9753" name="Group 121"/>
              <p:cNvGrpSpPr>
                <a:grpSpLocks/>
              </p:cNvGrpSpPr>
              <p:nvPr/>
            </p:nvGrpSpPr>
            <p:grpSpPr bwMode="auto">
              <a:xfrm>
                <a:off x="756" y="3602"/>
                <a:ext cx="452" cy="601"/>
                <a:chOff x="756" y="3602"/>
                <a:chExt cx="452" cy="601"/>
              </a:xfrm>
            </p:grpSpPr>
            <p:sp>
              <p:nvSpPr>
                <p:cNvPr id="69754" name="Freeform 122"/>
                <p:cNvSpPr>
                  <a:spLocks/>
                </p:cNvSpPr>
                <p:nvPr/>
              </p:nvSpPr>
              <p:spPr bwMode="auto">
                <a:xfrm>
                  <a:off x="756" y="3884"/>
                  <a:ext cx="424" cy="319"/>
                </a:xfrm>
                <a:custGeom>
                  <a:avLst/>
                  <a:gdLst/>
                  <a:ahLst/>
                  <a:cxnLst>
                    <a:cxn ang="0">
                      <a:pos x="214" y="5"/>
                    </a:cxn>
                    <a:cxn ang="0">
                      <a:pos x="166" y="7"/>
                    </a:cxn>
                    <a:cxn ang="0">
                      <a:pos x="128" y="0"/>
                    </a:cxn>
                    <a:cxn ang="0">
                      <a:pos x="62" y="44"/>
                    </a:cxn>
                    <a:cxn ang="0">
                      <a:pos x="31" y="76"/>
                    </a:cxn>
                    <a:cxn ang="0">
                      <a:pos x="18" y="107"/>
                    </a:cxn>
                    <a:cxn ang="0">
                      <a:pos x="7" y="144"/>
                    </a:cxn>
                    <a:cxn ang="0">
                      <a:pos x="0" y="318"/>
                    </a:cxn>
                    <a:cxn ang="0">
                      <a:pos x="412" y="318"/>
                    </a:cxn>
                    <a:cxn ang="0">
                      <a:pos x="423" y="318"/>
                    </a:cxn>
                    <a:cxn ang="0">
                      <a:pos x="415" y="294"/>
                    </a:cxn>
                    <a:cxn ang="0">
                      <a:pos x="401" y="262"/>
                    </a:cxn>
                    <a:cxn ang="0">
                      <a:pos x="401" y="227"/>
                    </a:cxn>
                    <a:cxn ang="0">
                      <a:pos x="388" y="175"/>
                    </a:cxn>
                    <a:cxn ang="0">
                      <a:pos x="385" y="139"/>
                    </a:cxn>
                    <a:cxn ang="0">
                      <a:pos x="276" y="57"/>
                    </a:cxn>
                    <a:cxn ang="0">
                      <a:pos x="229" y="9"/>
                    </a:cxn>
                    <a:cxn ang="0">
                      <a:pos x="221" y="5"/>
                    </a:cxn>
                    <a:cxn ang="0">
                      <a:pos x="214" y="5"/>
                    </a:cxn>
                  </a:cxnLst>
                  <a:rect l="0" t="0" r="r" b="b"/>
                  <a:pathLst>
                    <a:path w="424" h="319">
                      <a:moveTo>
                        <a:pt x="214" y="5"/>
                      </a:moveTo>
                      <a:lnTo>
                        <a:pt x="166" y="7"/>
                      </a:lnTo>
                      <a:lnTo>
                        <a:pt x="128" y="0"/>
                      </a:lnTo>
                      <a:lnTo>
                        <a:pt x="62" y="44"/>
                      </a:lnTo>
                      <a:lnTo>
                        <a:pt x="31" y="76"/>
                      </a:lnTo>
                      <a:lnTo>
                        <a:pt x="18" y="107"/>
                      </a:lnTo>
                      <a:lnTo>
                        <a:pt x="7" y="144"/>
                      </a:lnTo>
                      <a:lnTo>
                        <a:pt x="0" y="318"/>
                      </a:lnTo>
                      <a:lnTo>
                        <a:pt x="412" y="318"/>
                      </a:lnTo>
                      <a:lnTo>
                        <a:pt x="423" y="318"/>
                      </a:lnTo>
                      <a:lnTo>
                        <a:pt x="415" y="294"/>
                      </a:lnTo>
                      <a:lnTo>
                        <a:pt x="401" y="262"/>
                      </a:lnTo>
                      <a:lnTo>
                        <a:pt x="401" y="227"/>
                      </a:lnTo>
                      <a:lnTo>
                        <a:pt x="388" y="175"/>
                      </a:lnTo>
                      <a:lnTo>
                        <a:pt x="385" y="139"/>
                      </a:lnTo>
                      <a:lnTo>
                        <a:pt x="276" y="57"/>
                      </a:lnTo>
                      <a:lnTo>
                        <a:pt x="229" y="9"/>
                      </a:lnTo>
                      <a:lnTo>
                        <a:pt x="221" y="5"/>
                      </a:lnTo>
                      <a:lnTo>
                        <a:pt x="214" y="5"/>
                      </a:lnTo>
                    </a:path>
                  </a:pathLst>
                </a:custGeom>
                <a:solidFill>
                  <a:srgbClr val="4C4C4C"/>
                </a:solidFill>
                <a:ln w="12700" cap="rnd" cmpd="sng">
                  <a:solidFill>
                    <a:srgbClr val="4C4C4C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55" name="Freeform 123"/>
                <p:cNvSpPr>
                  <a:spLocks/>
                </p:cNvSpPr>
                <p:nvPr/>
              </p:nvSpPr>
              <p:spPr bwMode="auto">
                <a:xfrm>
                  <a:off x="980" y="4006"/>
                  <a:ext cx="137" cy="131"/>
                </a:xfrm>
                <a:custGeom>
                  <a:avLst/>
                  <a:gdLst/>
                  <a:ahLst/>
                  <a:cxnLst>
                    <a:cxn ang="0">
                      <a:pos x="135" y="6"/>
                    </a:cxn>
                    <a:cxn ang="0">
                      <a:pos x="131" y="6"/>
                    </a:cxn>
                    <a:cxn ang="0">
                      <a:pos x="126" y="5"/>
                    </a:cxn>
                    <a:cxn ang="0">
                      <a:pos x="122" y="4"/>
                    </a:cxn>
                    <a:cxn ang="0">
                      <a:pos x="116" y="3"/>
                    </a:cxn>
                    <a:cxn ang="0">
                      <a:pos x="112" y="1"/>
                    </a:cxn>
                    <a:cxn ang="0">
                      <a:pos x="109" y="0"/>
                    </a:cxn>
                    <a:cxn ang="0">
                      <a:pos x="109" y="0"/>
                    </a:cxn>
                    <a:cxn ang="0">
                      <a:pos x="106" y="0"/>
                    </a:cxn>
                    <a:cxn ang="0">
                      <a:pos x="103" y="2"/>
                    </a:cxn>
                    <a:cxn ang="0">
                      <a:pos x="99" y="4"/>
                    </a:cxn>
                    <a:cxn ang="0">
                      <a:pos x="96" y="4"/>
                    </a:cxn>
                    <a:cxn ang="0">
                      <a:pos x="93" y="5"/>
                    </a:cxn>
                    <a:cxn ang="0">
                      <a:pos x="89" y="5"/>
                    </a:cxn>
                    <a:cxn ang="0">
                      <a:pos x="85" y="6"/>
                    </a:cxn>
                    <a:cxn ang="0">
                      <a:pos x="80" y="8"/>
                    </a:cxn>
                    <a:cxn ang="0">
                      <a:pos x="74" y="10"/>
                    </a:cxn>
                    <a:cxn ang="0">
                      <a:pos x="69" y="11"/>
                    </a:cxn>
                    <a:cxn ang="0">
                      <a:pos x="63" y="12"/>
                    </a:cxn>
                    <a:cxn ang="0">
                      <a:pos x="59" y="14"/>
                    </a:cxn>
                    <a:cxn ang="0">
                      <a:pos x="54" y="16"/>
                    </a:cxn>
                    <a:cxn ang="0">
                      <a:pos x="52" y="18"/>
                    </a:cxn>
                    <a:cxn ang="0">
                      <a:pos x="49" y="20"/>
                    </a:cxn>
                    <a:cxn ang="0">
                      <a:pos x="45" y="24"/>
                    </a:cxn>
                    <a:cxn ang="0">
                      <a:pos x="40" y="29"/>
                    </a:cxn>
                    <a:cxn ang="0">
                      <a:pos x="37" y="32"/>
                    </a:cxn>
                    <a:cxn ang="0">
                      <a:pos x="32" y="37"/>
                    </a:cxn>
                    <a:cxn ang="0">
                      <a:pos x="27" y="41"/>
                    </a:cxn>
                    <a:cxn ang="0">
                      <a:pos x="23" y="44"/>
                    </a:cxn>
                    <a:cxn ang="0">
                      <a:pos x="22" y="47"/>
                    </a:cxn>
                    <a:cxn ang="0">
                      <a:pos x="20" y="51"/>
                    </a:cxn>
                    <a:cxn ang="0">
                      <a:pos x="17" y="56"/>
                    </a:cxn>
                    <a:cxn ang="0">
                      <a:pos x="14" y="62"/>
                    </a:cxn>
                    <a:cxn ang="0">
                      <a:pos x="12" y="66"/>
                    </a:cxn>
                    <a:cxn ang="0">
                      <a:pos x="9" y="72"/>
                    </a:cxn>
                    <a:cxn ang="0">
                      <a:pos x="6" y="77"/>
                    </a:cxn>
                    <a:cxn ang="0">
                      <a:pos x="4" y="81"/>
                    </a:cxn>
                    <a:cxn ang="0">
                      <a:pos x="2" y="86"/>
                    </a:cxn>
                    <a:cxn ang="0">
                      <a:pos x="0" y="91"/>
                    </a:cxn>
                    <a:cxn ang="0">
                      <a:pos x="0" y="97"/>
                    </a:cxn>
                    <a:cxn ang="0">
                      <a:pos x="1" y="105"/>
                    </a:cxn>
                    <a:cxn ang="0">
                      <a:pos x="3" y="112"/>
                    </a:cxn>
                    <a:cxn ang="0">
                      <a:pos x="4" y="118"/>
                    </a:cxn>
                    <a:cxn ang="0">
                      <a:pos x="5" y="124"/>
                    </a:cxn>
                    <a:cxn ang="0">
                      <a:pos x="6" y="129"/>
                    </a:cxn>
                    <a:cxn ang="0">
                      <a:pos x="7" y="130"/>
                    </a:cxn>
                  </a:cxnLst>
                  <a:rect l="0" t="0" r="r" b="b"/>
                  <a:pathLst>
                    <a:path w="137" h="131">
                      <a:moveTo>
                        <a:pt x="136" y="6"/>
                      </a:moveTo>
                      <a:lnTo>
                        <a:pt x="135" y="6"/>
                      </a:lnTo>
                      <a:lnTo>
                        <a:pt x="133" y="6"/>
                      </a:lnTo>
                      <a:lnTo>
                        <a:pt x="131" y="6"/>
                      </a:lnTo>
                      <a:lnTo>
                        <a:pt x="128" y="6"/>
                      </a:lnTo>
                      <a:lnTo>
                        <a:pt x="126" y="5"/>
                      </a:lnTo>
                      <a:lnTo>
                        <a:pt x="124" y="5"/>
                      </a:lnTo>
                      <a:lnTo>
                        <a:pt x="122" y="4"/>
                      </a:lnTo>
                      <a:lnTo>
                        <a:pt x="119" y="4"/>
                      </a:lnTo>
                      <a:lnTo>
                        <a:pt x="116" y="3"/>
                      </a:lnTo>
                      <a:lnTo>
                        <a:pt x="114" y="3"/>
                      </a:lnTo>
                      <a:lnTo>
                        <a:pt x="112" y="1"/>
                      </a:lnTo>
                      <a:lnTo>
                        <a:pt x="110" y="1"/>
                      </a:lnTo>
                      <a:lnTo>
                        <a:pt x="109" y="0"/>
                      </a:lnTo>
                      <a:lnTo>
                        <a:pt x="109" y="0"/>
                      </a:lnTo>
                      <a:lnTo>
                        <a:pt x="109" y="0"/>
                      </a:lnTo>
                      <a:lnTo>
                        <a:pt x="108" y="0"/>
                      </a:lnTo>
                      <a:lnTo>
                        <a:pt x="106" y="0"/>
                      </a:lnTo>
                      <a:lnTo>
                        <a:pt x="104" y="2"/>
                      </a:lnTo>
                      <a:lnTo>
                        <a:pt x="103" y="2"/>
                      </a:lnTo>
                      <a:lnTo>
                        <a:pt x="101" y="2"/>
                      </a:lnTo>
                      <a:lnTo>
                        <a:pt x="99" y="4"/>
                      </a:lnTo>
                      <a:lnTo>
                        <a:pt x="98" y="4"/>
                      </a:lnTo>
                      <a:lnTo>
                        <a:pt x="96" y="4"/>
                      </a:lnTo>
                      <a:lnTo>
                        <a:pt x="94" y="4"/>
                      </a:lnTo>
                      <a:lnTo>
                        <a:pt x="93" y="5"/>
                      </a:lnTo>
                      <a:lnTo>
                        <a:pt x="91" y="5"/>
                      </a:lnTo>
                      <a:lnTo>
                        <a:pt x="89" y="5"/>
                      </a:lnTo>
                      <a:lnTo>
                        <a:pt x="87" y="6"/>
                      </a:lnTo>
                      <a:lnTo>
                        <a:pt x="85" y="6"/>
                      </a:lnTo>
                      <a:lnTo>
                        <a:pt x="82" y="8"/>
                      </a:lnTo>
                      <a:lnTo>
                        <a:pt x="80" y="8"/>
                      </a:lnTo>
                      <a:lnTo>
                        <a:pt x="77" y="10"/>
                      </a:lnTo>
                      <a:lnTo>
                        <a:pt x="74" y="10"/>
                      </a:lnTo>
                      <a:lnTo>
                        <a:pt x="71" y="11"/>
                      </a:lnTo>
                      <a:lnTo>
                        <a:pt x="69" y="11"/>
                      </a:lnTo>
                      <a:lnTo>
                        <a:pt x="65" y="12"/>
                      </a:lnTo>
                      <a:lnTo>
                        <a:pt x="63" y="12"/>
                      </a:lnTo>
                      <a:lnTo>
                        <a:pt x="60" y="14"/>
                      </a:lnTo>
                      <a:lnTo>
                        <a:pt x="59" y="14"/>
                      </a:lnTo>
                      <a:lnTo>
                        <a:pt x="55" y="16"/>
                      </a:lnTo>
                      <a:lnTo>
                        <a:pt x="54" y="16"/>
                      </a:lnTo>
                      <a:lnTo>
                        <a:pt x="53" y="18"/>
                      </a:lnTo>
                      <a:lnTo>
                        <a:pt x="52" y="18"/>
                      </a:lnTo>
                      <a:lnTo>
                        <a:pt x="50" y="19"/>
                      </a:lnTo>
                      <a:lnTo>
                        <a:pt x="49" y="20"/>
                      </a:lnTo>
                      <a:lnTo>
                        <a:pt x="47" y="22"/>
                      </a:lnTo>
                      <a:lnTo>
                        <a:pt x="45" y="24"/>
                      </a:lnTo>
                      <a:lnTo>
                        <a:pt x="42" y="27"/>
                      </a:lnTo>
                      <a:lnTo>
                        <a:pt x="40" y="29"/>
                      </a:lnTo>
                      <a:lnTo>
                        <a:pt x="38" y="31"/>
                      </a:lnTo>
                      <a:lnTo>
                        <a:pt x="37" y="32"/>
                      </a:lnTo>
                      <a:lnTo>
                        <a:pt x="33" y="36"/>
                      </a:lnTo>
                      <a:lnTo>
                        <a:pt x="32" y="37"/>
                      </a:lnTo>
                      <a:lnTo>
                        <a:pt x="29" y="39"/>
                      </a:lnTo>
                      <a:lnTo>
                        <a:pt x="27" y="41"/>
                      </a:lnTo>
                      <a:lnTo>
                        <a:pt x="25" y="43"/>
                      </a:lnTo>
                      <a:lnTo>
                        <a:pt x="23" y="44"/>
                      </a:lnTo>
                      <a:lnTo>
                        <a:pt x="22" y="46"/>
                      </a:lnTo>
                      <a:lnTo>
                        <a:pt x="22" y="47"/>
                      </a:lnTo>
                      <a:lnTo>
                        <a:pt x="21" y="49"/>
                      </a:lnTo>
                      <a:lnTo>
                        <a:pt x="20" y="51"/>
                      </a:lnTo>
                      <a:lnTo>
                        <a:pt x="18" y="55"/>
                      </a:lnTo>
                      <a:lnTo>
                        <a:pt x="17" y="56"/>
                      </a:lnTo>
                      <a:lnTo>
                        <a:pt x="16" y="60"/>
                      </a:lnTo>
                      <a:lnTo>
                        <a:pt x="14" y="62"/>
                      </a:lnTo>
                      <a:lnTo>
                        <a:pt x="12" y="64"/>
                      </a:lnTo>
                      <a:lnTo>
                        <a:pt x="12" y="66"/>
                      </a:lnTo>
                      <a:lnTo>
                        <a:pt x="10" y="69"/>
                      </a:lnTo>
                      <a:lnTo>
                        <a:pt x="9" y="72"/>
                      </a:lnTo>
                      <a:lnTo>
                        <a:pt x="7" y="75"/>
                      </a:lnTo>
                      <a:lnTo>
                        <a:pt x="6" y="77"/>
                      </a:lnTo>
                      <a:lnTo>
                        <a:pt x="5" y="80"/>
                      </a:lnTo>
                      <a:lnTo>
                        <a:pt x="4" y="81"/>
                      </a:lnTo>
                      <a:lnTo>
                        <a:pt x="2" y="84"/>
                      </a:lnTo>
                      <a:lnTo>
                        <a:pt x="2" y="86"/>
                      </a:lnTo>
                      <a:lnTo>
                        <a:pt x="0" y="88"/>
                      </a:lnTo>
                      <a:lnTo>
                        <a:pt x="0" y="91"/>
                      </a:lnTo>
                      <a:lnTo>
                        <a:pt x="0" y="94"/>
                      </a:lnTo>
                      <a:lnTo>
                        <a:pt x="0" y="97"/>
                      </a:lnTo>
                      <a:lnTo>
                        <a:pt x="0" y="101"/>
                      </a:lnTo>
                      <a:lnTo>
                        <a:pt x="1" y="105"/>
                      </a:lnTo>
                      <a:lnTo>
                        <a:pt x="1" y="108"/>
                      </a:lnTo>
                      <a:lnTo>
                        <a:pt x="3" y="112"/>
                      </a:lnTo>
                      <a:lnTo>
                        <a:pt x="3" y="115"/>
                      </a:lnTo>
                      <a:lnTo>
                        <a:pt x="4" y="118"/>
                      </a:lnTo>
                      <a:lnTo>
                        <a:pt x="4" y="122"/>
                      </a:lnTo>
                      <a:lnTo>
                        <a:pt x="5" y="124"/>
                      </a:lnTo>
                      <a:lnTo>
                        <a:pt x="5" y="127"/>
                      </a:lnTo>
                      <a:lnTo>
                        <a:pt x="6" y="129"/>
                      </a:lnTo>
                      <a:lnTo>
                        <a:pt x="6" y="130"/>
                      </a:lnTo>
                      <a:lnTo>
                        <a:pt x="7" y="130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56" name="Freeform 124"/>
                <p:cNvSpPr>
                  <a:spLocks/>
                </p:cNvSpPr>
                <p:nvPr/>
              </p:nvSpPr>
              <p:spPr bwMode="auto">
                <a:xfrm>
                  <a:off x="1096" y="4106"/>
                  <a:ext cx="78" cy="82"/>
                </a:xfrm>
                <a:custGeom>
                  <a:avLst/>
                  <a:gdLst/>
                  <a:ahLst/>
                  <a:cxnLst>
                    <a:cxn ang="0">
                      <a:pos x="71" y="46"/>
                    </a:cxn>
                    <a:cxn ang="0">
                      <a:pos x="51" y="37"/>
                    </a:cxn>
                    <a:cxn ang="0">
                      <a:pos x="45" y="29"/>
                    </a:cxn>
                    <a:cxn ang="0">
                      <a:pos x="34" y="25"/>
                    </a:cxn>
                    <a:cxn ang="0">
                      <a:pos x="0" y="0"/>
                    </a:cxn>
                    <a:cxn ang="0">
                      <a:pos x="44" y="39"/>
                    </a:cxn>
                    <a:cxn ang="0">
                      <a:pos x="58" y="53"/>
                    </a:cxn>
                    <a:cxn ang="0">
                      <a:pos x="66" y="63"/>
                    </a:cxn>
                    <a:cxn ang="0">
                      <a:pos x="77" y="81"/>
                    </a:cxn>
                    <a:cxn ang="0">
                      <a:pos x="71" y="46"/>
                    </a:cxn>
                  </a:cxnLst>
                  <a:rect l="0" t="0" r="r" b="b"/>
                  <a:pathLst>
                    <a:path w="78" h="82">
                      <a:moveTo>
                        <a:pt x="71" y="46"/>
                      </a:moveTo>
                      <a:lnTo>
                        <a:pt x="51" y="37"/>
                      </a:lnTo>
                      <a:lnTo>
                        <a:pt x="45" y="29"/>
                      </a:lnTo>
                      <a:lnTo>
                        <a:pt x="34" y="25"/>
                      </a:lnTo>
                      <a:lnTo>
                        <a:pt x="0" y="0"/>
                      </a:lnTo>
                      <a:lnTo>
                        <a:pt x="44" y="39"/>
                      </a:lnTo>
                      <a:lnTo>
                        <a:pt x="58" y="53"/>
                      </a:lnTo>
                      <a:lnTo>
                        <a:pt x="66" y="63"/>
                      </a:lnTo>
                      <a:lnTo>
                        <a:pt x="77" y="81"/>
                      </a:lnTo>
                      <a:lnTo>
                        <a:pt x="71" y="46"/>
                      </a:lnTo>
                    </a:path>
                  </a:pathLst>
                </a:custGeom>
                <a:solidFill>
                  <a:srgbClr val="262626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57" name="Freeform 125"/>
                <p:cNvSpPr>
                  <a:spLocks/>
                </p:cNvSpPr>
                <p:nvPr/>
              </p:nvSpPr>
              <p:spPr bwMode="auto">
                <a:xfrm>
                  <a:off x="1019" y="3929"/>
                  <a:ext cx="149" cy="128"/>
                </a:xfrm>
                <a:custGeom>
                  <a:avLst/>
                  <a:gdLst/>
                  <a:ahLst/>
                  <a:cxnLst>
                    <a:cxn ang="0">
                      <a:pos x="12" y="7"/>
                    </a:cxn>
                    <a:cxn ang="0">
                      <a:pos x="14" y="7"/>
                    </a:cxn>
                    <a:cxn ang="0">
                      <a:pos x="28" y="19"/>
                    </a:cxn>
                    <a:cxn ang="0">
                      <a:pos x="35" y="25"/>
                    </a:cxn>
                    <a:cxn ang="0">
                      <a:pos x="46" y="26"/>
                    </a:cxn>
                    <a:cxn ang="0">
                      <a:pos x="58" y="28"/>
                    </a:cxn>
                    <a:cxn ang="0">
                      <a:pos x="75" y="31"/>
                    </a:cxn>
                    <a:cxn ang="0">
                      <a:pos x="87" y="34"/>
                    </a:cxn>
                    <a:cxn ang="0">
                      <a:pos x="105" y="40"/>
                    </a:cxn>
                    <a:cxn ang="0">
                      <a:pos x="120" y="46"/>
                    </a:cxn>
                    <a:cxn ang="0">
                      <a:pos x="122" y="47"/>
                    </a:cxn>
                    <a:cxn ang="0">
                      <a:pos x="122" y="50"/>
                    </a:cxn>
                    <a:cxn ang="0">
                      <a:pos x="116" y="54"/>
                    </a:cxn>
                    <a:cxn ang="0">
                      <a:pos x="114" y="60"/>
                    </a:cxn>
                    <a:cxn ang="0">
                      <a:pos x="108" y="64"/>
                    </a:cxn>
                    <a:cxn ang="0">
                      <a:pos x="104" y="67"/>
                    </a:cxn>
                    <a:cxn ang="0">
                      <a:pos x="114" y="74"/>
                    </a:cxn>
                    <a:cxn ang="0">
                      <a:pos x="121" y="80"/>
                    </a:cxn>
                    <a:cxn ang="0">
                      <a:pos x="127" y="81"/>
                    </a:cxn>
                    <a:cxn ang="0">
                      <a:pos x="135" y="87"/>
                    </a:cxn>
                    <a:cxn ang="0">
                      <a:pos x="140" y="89"/>
                    </a:cxn>
                    <a:cxn ang="0">
                      <a:pos x="146" y="98"/>
                    </a:cxn>
                    <a:cxn ang="0">
                      <a:pos x="148" y="105"/>
                    </a:cxn>
                    <a:cxn ang="0">
                      <a:pos x="146" y="111"/>
                    </a:cxn>
                    <a:cxn ang="0">
                      <a:pos x="144" y="116"/>
                    </a:cxn>
                    <a:cxn ang="0">
                      <a:pos x="137" y="127"/>
                    </a:cxn>
                    <a:cxn ang="0">
                      <a:pos x="126" y="127"/>
                    </a:cxn>
                    <a:cxn ang="0">
                      <a:pos x="120" y="125"/>
                    </a:cxn>
                    <a:cxn ang="0">
                      <a:pos x="120" y="113"/>
                    </a:cxn>
                    <a:cxn ang="0">
                      <a:pos x="118" y="105"/>
                    </a:cxn>
                    <a:cxn ang="0">
                      <a:pos x="116" y="98"/>
                    </a:cxn>
                    <a:cxn ang="0">
                      <a:pos x="106" y="91"/>
                    </a:cxn>
                    <a:cxn ang="0">
                      <a:pos x="100" y="85"/>
                    </a:cxn>
                    <a:cxn ang="0">
                      <a:pos x="92" y="79"/>
                    </a:cxn>
                    <a:cxn ang="0">
                      <a:pos x="81" y="73"/>
                    </a:cxn>
                    <a:cxn ang="0">
                      <a:pos x="71" y="67"/>
                    </a:cxn>
                    <a:cxn ang="0">
                      <a:pos x="64" y="58"/>
                    </a:cxn>
                    <a:cxn ang="0">
                      <a:pos x="55" y="50"/>
                    </a:cxn>
                    <a:cxn ang="0">
                      <a:pos x="41" y="44"/>
                    </a:cxn>
                    <a:cxn ang="0">
                      <a:pos x="36" y="36"/>
                    </a:cxn>
                    <a:cxn ang="0">
                      <a:pos x="29" y="29"/>
                    </a:cxn>
                    <a:cxn ang="0">
                      <a:pos x="24" y="23"/>
                    </a:cxn>
                    <a:cxn ang="0">
                      <a:pos x="17" y="13"/>
                    </a:cxn>
                    <a:cxn ang="0">
                      <a:pos x="5" y="4"/>
                    </a:cxn>
                    <a:cxn ang="0">
                      <a:pos x="0" y="0"/>
                    </a:cxn>
                    <a:cxn ang="0">
                      <a:pos x="12" y="7"/>
                    </a:cxn>
                  </a:cxnLst>
                  <a:rect l="0" t="0" r="r" b="b"/>
                  <a:pathLst>
                    <a:path w="149" h="128">
                      <a:moveTo>
                        <a:pt x="12" y="7"/>
                      </a:moveTo>
                      <a:lnTo>
                        <a:pt x="14" y="7"/>
                      </a:lnTo>
                      <a:lnTo>
                        <a:pt x="28" y="19"/>
                      </a:lnTo>
                      <a:lnTo>
                        <a:pt x="35" y="25"/>
                      </a:lnTo>
                      <a:lnTo>
                        <a:pt x="46" y="26"/>
                      </a:lnTo>
                      <a:lnTo>
                        <a:pt x="58" y="28"/>
                      </a:lnTo>
                      <a:lnTo>
                        <a:pt x="75" y="31"/>
                      </a:lnTo>
                      <a:lnTo>
                        <a:pt x="87" y="34"/>
                      </a:lnTo>
                      <a:lnTo>
                        <a:pt x="105" y="40"/>
                      </a:lnTo>
                      <a:lnTo>
                        <a:pt x="120" y="46"/>
                      </a:lnTo>
                      <a:lnTo>
                        <a:pt x="122" y="47"/>
                      </a:lnTo>
                      <a:lnTo>
                        <a:pt x="122" y="50"/>
                      </a:lnTo>
                      <a:lnTo>
                        <a:pt x="116" y="54"/>
                      </a:lnTo>
                      <a:lnTo>
                        <a:pt x="114" y="60"/>
                      </a:lnTo>
                      <a:lnTo>
                        <a:pt x="108" y="64"/>
                      </a:lnTo>
                      <a:lnTo>
                        <a:pt x="104" y="67"/>
                      </a:lnTo>
                      <a:lnTo>
                        <a:pt x="114" y="74"/>
                      </a:lnTo>
                      <a:lnTo>
                        <a:pt x="121" y="80"/>
                      </a:lnTo>
                      <a:lnTo>
                        <a:pt x="127" y="81"/>
                      </a:lnTo>
                      <a:lnTo>
                        <a:pt x="135" y="87"/>
                      </a:lnTo>
                      <a:lnTo>
                        <a:pt x="140" y="89"/>
                      </a:lnTo>
                      <a:lnTo>
                        <a:pt x="146" y="98"/>
                      </a:lnTo>
                      <a:lnTo>
                        <a:pt x="148" y="105"/>
                      </a:lnTo>
                      <a:lnTo>
                        <a:pt x="146" y="111"/>
                      </a:lnTo>
                      <a:lnTo>
                        <a:pt x="144" y="116"/>
                      </a:lnTo>
                      <a:lnTo>
                        <a:pt x="137" y="127"/>
                      </a:lnTo>
                      <a:lnTo>
                        <a:pt x="126" y="127"/>
                      </a:lnTo>
                      <a:lnTo>
                        <a:pt x="120" y="125"/>
                      </a:lnTo>
                      <a:lnTo>
                        <a:pt x="120" y="113"/>
                      </a:lnTo>
                      <a:lnTo>
                        <a:pt x="118" y="105"/>
                      </a:lnTo>
                      <a:lnTo>
                        <a:pt x="116" y="98"/>
                      </a:lnTo>
                      <a:lnTo>
                        <a:pt x="106" y="91"/>
                      </a:lnTo>
                      <a:lnTo>
                        <a:pt x="100" y="85"/>
                      </a:lnTo>
                      <a:lnTo>
                        <a:pt x="92" y="79"/>
                      </a:lnTo>
                      <a:lnTo>
                        <a:pt x="81" y="73"/>
                      </a:lnTo>
                      <a:lnTo>
                        <a:pt x="71" y="67"/>
                      </a:lnTo>
                      <a:lnTo>
                        <a:pt x="64" y="58"/>
                      </a:lnTo>
                      <a:lnTo>
                        <a:pt x="55" y="50"/>
                      </a:lnTo>
                      <a:lnTo>
                        <a:pt x="41" y="44"/>
                      </a:lnTo>
                      <a:lnTo>
                        <a:pt x="36" y="36"/>
                      </a:lnTo>
                      <a:lnTo>
                        <a:pt x="29" y="29"/>
                      </a:lnTo>
                      <a:lnTo>
                        <a:pt x="24" y="23"/>
                      </a:lnTo>
                      <a:lnTo>
                        <a:pt x="17" y="13"/>
                      </a:lnTo>
                      <a:lnTo>
                        <a:pt x="5" y="4"/>
                      </a:lnTo>
                      <a:lnTo>
                        <a:pt x="0" y="0"/>
                      </a:lnTo>
                      <a:lnTo>
                        <a:pt x="12" y="7"/>
                      </a:lnTo>
                    </a:path>
                  </a:pathLst>
                </a:custGeom>
                <a:solidFill>
                  <a:srgbClr val="262626"/>
                </a:solidFill>
                <a:ln w="12700" cap="rnd" cmpd="sng">
                  <a:solidFill>
                    <a:srgbClr val="262626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58" name="Freeform 126"/>
                <p:cNvSpPr>
                  <a:spLocks/>
                </p:cNvSpPr>
                <p:nvPr/>
              </p:nvSpPr>
              <p:spPr bwMode="auto">
                <a:xfrm>
                  <a:off x="1050" y="3958"/>
                  <a:ext cx="118" cy="99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7" y="5"/>
                    </a:cxn>
                    <a:cxn ang="0">
                      <a:pos x="11" y="8"/>
                    </a:cxn>
                    <a:cxn ang="0">
                      <a:pos x="16" y="11"/>
                    </a:cxn>
                    <a:cxn ang="0">
                      <a:pos x="15" y="16"/>
                    </a:cxn>
                    <a:cxn ang="0">
                      <a:pos x="17" y="18"/>
                    </a:cxn>
                    <a:cxn ang="0">
                      <a:pos x="22" y="16"/>
                    </a:cxn>
                    <a:cxn ang="0">
                      <a:pos x="28" y="17"/>
                    </a:cxn>
                    <a:cxn ang="0">
                      <a:pos x="33" y="18"/>
                    </a:cxn>
                    <a:cxn ang="0">
                      <a:pos x="34" y="24"/>
                    </a:cxn>
                    <a:cxn ang="0">
                      <a:pos x="37" y="29"/>
                    </a:cxn>
                    <a:cxn ang="0">
                      <a:pos x="42" y="29"/>
                    </a:cxn>
                    <a:cxn ang="0">
                      <a:pos x="49" y="29"/>
                    </a:cxn>
                    <a:cxn ang="0">
                      <a:pos x="53" y="33"/>
                    </a:cxn>
                    <a:cxn ang="0">
                      <a:pos x="57" y="35"/>
                    </a:cxn>
                    <a:cxn ang="0">
                      <a:pos x="61" y="38"/>
                    </a:cxn>
                    <a:cxn ang="0">
                      <a:pos x="61" y="46"/>
                    </a:cxn>
                    <a:cxn ang="0">
                      <a:pos x="70" y="46"/>
                    </a:cxn>
                    <a:cxn ang="0">
                      <a:pos x="74" y="47"/>
                    </a:cxn>
                    <a:cxn ang="0">
                      <a:pos x="75" y="52"/>
                    </a:cxn>
                    <a:cxn ang="0">
                      <a:pos x="80" y="55"/>
                    </a:cxn>
                    <a:cxn ang="0">
                      <a:pos x="85" y="55"/>
                    </a:cxn>
                    <a:cxn ang="0">
                      <a:pos x="89" y="58"/>
                    </a:cxn>
                    <a:cxn ang="0">
                      <a:pos x="91" y="61"/>
                    </a:cxn>
                    <a:cxn ang="0">
                      <a:pos x="92" y="67"/>
                    </a:cxn>
                    <a:cxn ang="0">
                      <a:pos x="95" y="70"/>
                    </a:cxn>
                    <a:cxn ang="0">
                      <a:pos x="100" y="72"/>
                    </a:cxn>
                    <a:cxn ang="0">
                      <a:pos x="106" y="69"/>
                    </a:cxn>
                    <a:cxn ang="0">
                      <a:pos x="111" y="72"/>
                    </a:cxn>
                    <a:cxn ang="0">
                      <a:pos x="115" y="75"/>
                    </a:cxn>
                    <a:cxn ang="0">
                      <a:pos x="112" y="80"/>
                    </a:cxn>
                    <a:cxn ang="0">
                      <a:pos x="106" y="84"/>
                    </a:cxn>
                    <a:cxn ang="0">
                      <a:pos x="107" y="89"/>
                    </a:cxn>
                    <a:cxn ang="0">
                      <a:pos x="107" y="93"/>
                    </a:cxn>
                    <a:cxn ang="0">
                      <a:pos x="101" y="98"/>
                    </a:cxn>
                    <a:cxn ang="0">
                      <a:pos x="97" y="94"/>
                    </a:cxn>
                    <a:cxn ang="0">
                      <a:pos x="95" y="93"/>
                    </a:cxn>
                    <a:cxn ang="0">
                      <a:pos x="89" y="93"/>
                    </a:cxn>
                    <a:cxn ang="0">
                      <a:pos x="87" y="87"/>
                    </a:cxn>
                    <a:cxn ang="0">
                      <a:pos x="85" y="81"/>
                    </a:cxn>
                    <a:cxn ang="0">
                      <a:pos x="85" y="75"/>
                    </a:cxn>
                    <a:cxn ang="0">
                      <a:pos x="89" y="67"/>
                    </a:cxn>
                    <a:cxn ang="0">
                      <a:pos x="81" y="67"/>
                    </a:cxn>
                    <a:cxn ang="0">
                      <a:pos x="76" y="64"/>
                    </a:cxn>
                    <a:cxn ang="0">
                      <a:pos x="73" y="60"/>
                    </a:cxn>
                    <a:cxn ang="0">
                      <a:pos x="73" y="54"/>
                    </a:cxn>
                    <a:cxn ang="0">
                      <a:pos x="70" y="52"/>
                    </a:cxn>
                    <a:cxn ang="0">
                      <a:pos x="63" y="52"/>
                    </a:cxn>
                    <a:cxn ang="0">
                      <a:pos x="57" y="52"/>
                    </a:cxn>
                    <a:cxn ang="0">
                      <a:pos x="57" y="45"/>
                    </a:cxn>
                    <a:cxn ang="0">
                      <a:pos x="56" y="38"/>
                    </a:cxn>
                    <a:cxn ang="0">
                      <a:pos x="50" y="38"/>
                    </a:cxn>
                    <a:cxn ang="0">
                      <a:pos x="44" y="41"/>
                    </a:cxn>
                    <a:cxn ang="0">
                      <a:pos x="37" y="37"/>
                    </a:cxn>
                    <a:cxn ang="0">
                      <a:pos x="33" y="29"/>
                    </a:cxn>
                    <a:cxn ang="0">
                      <a:pos x="27" y="25"/>
                    </a:cxn>
                    <a:cxn ang="0">
                      <a:pos x="22" y="23"/>
                    </a:cxn>
                    <a:cxn ang="0">
                      <a:pos x="17" y="20"/>
                    </a:cxn>
                    <a:cxn ang="0">
                      <a:pos x="12" y="17"/>
                    </a:cxn>
                    <a:cxn ang="0">
                      <a:pos x="8" y="15"/>
                    </a:cxn>
                    <a:cxn ang="0">
                      <a:pos x="5" y="11"/>
                    </a:cxn>
                    <a:cxn ang="0">
                      <a:pos x="1" y="8"/>
                    </a:cxn>
                    <a:cxn ang="0">
                      <a:pos x="0" y="3"/>
                    </a:cxn>
                  </a:cxnLst>
                  <a:rect l="0" t="0" r="r" b="b"/>
                  <a:pathLst>
                    <a:path w="118" h="9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2" y="3"/>
                      </a:lnTo>
                      <a:lnTo>
                        <a:pt x="4" y="3"/>
                      </a:lnTo>
                      <a:lnTo>
                        <a:pt x="4" y="4"/>
                      </a:lnTo>
                      <a:lnTo>
                        <a:pt x="5" y="4"/>
                      </a:lnTo>
                      <a:lnTo>
                        <a:pt x="7" y="5"/>
                      </a:lnTo>
                      <a:lnTo>
                        <a:pt x="8" y="5"/>
                      </a:lnTo>
                      <a:lnTo>
                        <a:pt x="8" y="6"/>
                      </a:lnTo>
                      <a:lnTo>
                        <a:pt x="10" y="6"/>
                      </a:lnTo>
                      <a:lnTo>
                        <a:pt x="11" y="6"/>
                      </a:lnTo>
                      <a:lnTo>
                        <a:pt x="11" y="8"/>
                      </a:lnTo>
                      <a:lnTo>
                        <a:pt x="12" y="8"/>
                      </a:lnTo>
                      <a:lnTo>
                        <a:pt x="12" y="9"/>
                      </a:lnTo>
                      <a:lnTo>
                        <a:pt x="14" y="9"/>
                      </a:lnTo>
                      <a:lnTo>
                        <a:pt x="14" y="11"/>
                      </a:lnTo>
                      <a:lnTo>
                        <a:pt x="16" y="11"/>
                      </a:lnTo>
                      <a:lnTo>
                        <a:pt x="16" y="11"/>
                      </a:lnTo>
                      <a:lnTo>
                        <a:pt x="16" y="11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6"/>
                      </a:lnTo>
                      <a:lnTo>
                        <a:pt x="16" y="16"/>
                      </a:lnTo>
                      <a:lnTo>
                        <a:pt x="16" y="17"/>
                      </a:lnTo>
                      <a:lnTo>
                        <a:pt x="16" y="17"/>
                      </a:lnTo>
                      <a:lnTo>
                        <a:pt x="16" y="18"/>
                      </a:lnTo>
                      <a:lnTo>
                        <a:pt x="17" y="18"/>
                      </a:lnTo>
                      <a:lnTo>
                        <a:pt x="19" y="17"/>
                      </a:lnTo>
                      <a:lnTo>
                        <a:pt x="20" y="16"/>
                      </a:lnTo>
                      <a:lnTo>
                        <a:pt x="22" y="15"/>
                      </a:lnTo>
                      <a:lnTo>
                        <a:pt x="22" y="16"/>
                      </a:lnTo>
                      <a:lnTo>
                        <a:pt x="22" y="16"/>
                      </a:lnTo>
                      <a:lnTo>
                        <a:pt x="24" y="16"/>
                      </a:lnTo>
                      <a:lnTo>
                        <a:pt x="24" y="17"/>
                      </a:lnTo>
                      <a:lnTo>
                        <a:pt x="25" y="17"/>
                      </a:lnTo>
                      <a:lnTo>
                        <a:pt x="26" y="17"/>
                      </a:lnTo>
                      <a:lnTo>
                        <a:pt x="28" y="17"/>
                      </a:lnTo>
                      <a:lnTo>
                        <a:pt x="28" y="18"/>
                      </a:lnTo>
                      <a:lnTo>
                        <a:pt x="29" y="18"/>
                      </a:lnTo>
                      <a:lnTo>
                        <a:pt x="31" y="18"/>
                      </a:lnTo>
                      <a:lnTo>
                        <a:pt x="33" y="18"/>
                      </a:lnTo>
                      <a:lnTo>
                        <a:pt x="33" y="18"/>
                      </a:lnTo>
                      <a:lnTo>
                        <a:pt x="33" y="20"/>
                      </a:lnTo>
                      <a:lnTo>
                        <a:pt x="33" y="21"/>
                      </a:lnTo>
                      <a:lnTo>
                        <a:pt x="34" y="21"/>
                      </a:lnTo>
                      <a:lnTo>
                        <a:pt x="34" y="23"/>
                      </a:lnTo>
                      <a:lnTo>
                        <a:pt x="34" y="24"/>
                      </a:lnTo>
                      <a:lnTo>
                        <a:pt x="34" y="26"/>
                      </a:lnTo>
                      <a:lnTo>
                        <a:pt x="36" y="26"/>
                      </a:lnTo>
                      <a:lnTo>
                        <a:pt x="36" y="27"/>
                      </a:lnTo>
                      <a:lnTo>
                        <a:pt x="37" y="27"/>
                      </a:lnTo>
                      <a:lnTo>
                        <a:pt x="37" y="29"/>
                      </a:lnTo>
                      <a:lnTo>
                        <a:pt x="39" y="29"/>
                      </a:lnTo>
                      <a:lnTo>
                        <a:pt x="39" y="29"/>
                      </a:lnTo>
                      <a:lnTo>
                        <a:pt x="39" y="29"/>
                      </a:lnTo>
                      <a:lnTo>
                        <a:pt x="41" y="29"/>
                      </a:lnTo>
                      <a:lnTo>
                        <a:pt x="42" y="29"/>
                      </a:lnTo>
                      <a:lnTo>
                        <a:pt x="43" y="29"/>
                      </a:lnTo>
                      <a:lnTo>
                        <a:pt x="44" y="29"/>
                      </a:lnTo>
                      <a:lnTo>
                        <a:pt x="46" y="29"/>
                      </a:lnTo>
                      <a:lnTo>
                        <a:pt x="47" y="29"/>
                      </a:lnTo>
                      <a:lnTo>
                        <a:pt x="49" y="29"/>
                      </a:lnTo>
                      <a:lnTo>
                        <a:pt x="49" y="31"/>
                      </a:lnTo>
                      <a:lnTo>
                        <a:pt x="50" y="31"/>
                      </a:lnTo>
                      <a:lnTo>
                        <a:pt x="51" y="31"/>
                      </a:lnTo>
                      <a:lnTo>
                        <a:pt x="51" y="33"/>
                      </a:lnTo>
                      <a:lnTo>
                        <a:pt x="53" y="33"/>
                      </a:lnTo>
                      <a:lnTo>
                        <a:pt x="55" y="33"/>
                      </a:lnTo>
                      <a:lnTo>
                        <a:pt x="55" y="34"/>
                      </a:lnTo>
                      <a:lnTo>
                        <a:pt x="56" y="34"/>
                      </a:lnTo>
                      <a:lnTo>
                        <a:pt x="57" y="34"/>
                      </a:lnTo>
                      <a:lnTo>
                        <a:pt x="57" y="35"/>
                      </a:lnTo>
                      <a:lnTo>
                        <a:pt x="59" y="35"/>
                      </a:lnTo>
                      <a:lnTo>
                        <a:pt x="61" y="35"/>
                      </a:lnTo>
                      <a:lnTo>
                        <a:pt x="61" y="37"/>
                      </a:lnTo>
                      <a:lnTo>
                        <a:pt x="61" y="38"/>
                      </a:lnTo>
                      <a:lnTo>
                        <a:pt x="61" y="38"/>
                      </a:lnTo>
                      <a:lnTo>
                        <a:pt x="61" y="40"/>
                      </a:lnTo>
                      <a:lnTo>
                        <a:pt x="61" y="41"/>
                      </a:lnTo>
                      <a:lnTo>
                        <a:pt x="61" y="43"/>
                      </a:lnTo>
                      <a:lnTo>
                        <a:pt x="61" y="44"/>
                      </a:lnTo>
                      <a:lnTo>
                        <a:pt x="61" y="46"/>
                      </a:lnTo>
                      <a:lnTo>
                        <a:pt x="63" y="46"/>
                      </a:lnTo>
                      <a:lnTo>
                        <a:pt x="65" y="46"/>
                      </a:lnTo>
                      <a:lnTo>
                        <a:pt x="67" y="46"/>
                      </a:lnTo>
                      <a:lnTo>
                        <a:pt x="68" y="46"/>
                      </a:lnTo>
                      <a:lnTo>
                        <a:pt x="70" y="46"/>
                      </a:lnTo>
                      <a:lnTo>
                        <a:pt x="72" y="46"/>
                      </a:lnTo>
                      <a:lnTo>
                        <a:pt x="73" y="46"/>
                      </a:lnTo>
                      <a:lnTo>
                        <a:pt x="74" y="45"/>
                      </a:lnTo>
                      <a:lnTo>
                        <a:pt x="74" y="46"/>
                      </a:lnTo>
                      <a:lnTo>
                        <a:pt x="74" y="47"/>
                      </a:lnTo>
                      <a:lnTo>
                        <a:pt x="74" y="49"/>
                      </a:lnTo>
                      <a:lnTo>
                        <a:pt x="74" y="51"/>
                      </a:lnTo>
                      <a:lnTo>
                        <a:pt x="74" y="52"/>
                      </a:lnTo>
                      <a:lnTo>
                        <a:pt x="74" y="52"/>
                      </a:lnTo>
                      <a:lnTo>
                        <a:pt x="75" y="52"/>
                      </a:lnTo>
                      <a:lnTo>
                        <a:pt x="75" y="53"/>
                      </a:lnTo>
                      <a:lnTo>
                        <a:pt x="77" y="53"/>
                      </a:lnTo>
                      <a:lnTo>
                        <a:pt x="77" y="55"/>
                      </a:lnTo>
                      <a:lnTo>
                        <a:pt x="78" y="55"/>
                      </a:lnTo>
                      <a:lnTo>
                        <a:pt x="80" y="55"/>
                      </a:lnTo>
                      <a:lnTo>
                        <a:pt x="81" y="55"/>
                      </a:lnTo>
                      <a:lnTo>
                        <a:pt x="82" y="55"/>
                      </a:lnTo>
                      <a:lnTo>
                        <a:pt x="83" y="55"/>
                      </a:lnTo>
                      <a:lnTo>
                        <a:pt x="84" y="55"/>
                      </a:lnTo>
                      <a:lnTo>
                        <a:pt x="85" y="55"/>
                      </a:lnTo>
                      <a:lnTo>
                        <a:pt x="87" y="53"/>
                      </a:lnTo>
                      <a:lnTo>
                        <a:pt x="87" y="55"/>
                      </a:lnTo>
                      <a:lnTo>
                        <a:pt x="87" y="57"/>
                      </a:lnTo>
                      <a:lnTo>
                        <a:pt x="87" y="58"/>
                      </a:lnTo>
                      <a:lnTo>
                        <a:pt x="89" y="58"/>
                      </a:lnTo>
                      <a:lnTo>
                        <a:pt x="89" y="59"/>
                      </a:lnTo>
                      <a:lnTo>
                        <a:pt x="89" y="60"/>
                      </a:lnTo>
                      <a:lnTo>
                        <a:pt x="90" y="60"/>
                      </a:lnTo>
                      <a:lnTo>
                        <a:pt x="90" y="61"/>
                      </a:lnTo>
                      <a:lnTo>
                        <a:pt x="91" y="61"/>
                      </a:lnTo>
                      <a:lnTo>
                        <a:pt x="92" y="61"/>
                      </a:lnTo>
                      <a:lnTo>
                        <a:pt x="92" y="63"/>
                      </a:lnTo>
                      <a:lnTo>
                        <a:pt x="92" y="64"/>
                      </a:lnTo>
                      <a:lnTo>
                        <a:pt x="92" y="65"/>
                      </a:lnTo>
                      <a:lnTo>
                        <a:pt x="92" y="67"/>
                      </a:lnTo>
                      <a:lnTo>
                        <a:pt x="92" y="68"/>
                      </a:lnTo>
                      <a:lnTo>
                        <a:pt x="92" y="69"/>
                      </a:lnTo>
                      <a:lnTo>
                        <a:pt x="94" y="69"/>
                      </a:lnTo>
                      <a:lnTo>
                        <a:pt x="94" y="70"/>
                      </a:lnTo>
                      <a:lnTo>
                        <a:pt x="95" y="70"/>
                      </a:lnTo>
                      <a:lnTo>
                        <a:pt x="96" y="70"/>
                      </a:lnTo>
                      <a:lnTo>
                        <a:pt x="96" y="71"/>
                      </a:lnTo>
                      <a:lnTo>
                        <a:pt x="98" y="71"/>
                      </a:lnTo>
                      <a:lnTo>
                        <a:pt x="100" y="71"/>
                      </a:lnTo>
                      <a:lnTo>
                        <a:pt x="100" y="72"/>
                      </a:lnTo>
                      <a:lnTo>
                        <a:pt x="101" y="72"/>
                      </a:lnTo>
                      <a:lnTo>
                        <a:pt x="102" y="70"/>
                      </a:lnTo>
                      <a:lnTo>
                        <a:pt x="104" y="70"/>
                      </a:lnTo>
                      <a:lnTo>
                        <a:pt x="105" y="70"/>
                      </a:lnTo>
                      <a:lnTo>
                        <a:pt x="106" y="69"/>
                      </a:lnTo>
                      <a:lnTo>
                        <a:pt x="106" y="70"/>
                      </a:lnTo>
                      <a:lnTo>
                        <a:pt x="107" y="70"/>
                      </a:lnTo>
                      <a:lnTo>
                        <a:pt x="109" y="70"/>
                      </a:lnTo>
                      <a:lnTo>
                        <a:pt x="109" y="72"/>
                      </a:lnTo>
                      <a:lnTo>
                        <a:pt x="111" y="72"/>
                      </a:lnTo>
                      <a:lnTo>
                        <a:pt x="112" y="72"/>
                      </a:lnTo>
                      <a:lnTo>
                        <a:pt x="112" y="74"/>
                      </a:lnTo>
                      <a:lnTo>
                        <a:pt x="113" y="74"/>
                      </a:lnTo>
                      <a:lnTo>
                        <a:pt x="115" y="74"/>
                      </a:lnTo>
                      <a:lnTo>
                        <a:pt x="115" y="75"/>
                      </a:lnTo>
                      <a:lnTo>
                        <a:pt x="117" y="75"/>
                      </a:lnTo>
                      <a:lnTo>
                        <a:pt x="116" y="77"/>
                      </a:lnTo>
                      <a:lnTo>
                        <a:pt x="115" y="78"/>
                      </a:lnTo>
                      <a:lnTo>
                        <a:pt x="114" y="80"/>
                      </a:lnTo>
                      <a:lnTo>
                        <a:pt x="112" y="80"/>
                      </a:lnTo>
                      <a:lnTo>
                        <a:pt x="111" y="81"/>
                      </a:lnTo>
                      <a:lnTo>
                        <a:pt x="110" y="81"/>
                      </a:lnTo>
                      <a:lnTo>
                        <a:pt x="108" y="81"/>
                      </a:lnTo>
                      <a:lnTo>
                        <a:pt x="106" y="82"/>
                      </a:lnTo>
                      <a:lnTo>
                        <a:pt x="106" y="84"/>
                      </a:lnTo>
                      <a:lnTo>
                        <a:pt x="106" y="85"/>
                      </a:lnTo>
                      <a:lnTo>
                        <a:pt x="106" y="87"/>
                      </a:lnTo>
                      <a:lnTo>
                        <a:pt x="106" y="87"/>
                      </a:lnTo>
                      <a:lnTo>
                        <a:pt x="107" y="87"/>
                      </a:lnTo>
                      <a:lnTo>
                        <a:pt x="107" y="89"/>
                      </a:lnTo>
                      <a:lnTo>
                        <a:pt x="107" y="90"/>
                      </a:lnTo>
                      <a:lnTo>
                        <a:pt x="108" y="90"/>
                      </a:lnTo>
                      <a:lnTo>
                        <a:pt x="108" y="91"/>
                      </a:lnTo>
                      <a:lnTo>
                        <a:pt x="109" y="91"/>
                      </a:lnTo>
                      <a:lnTo>
                        <a:pt x="107" y="93"/>
                      </a:lnTo>
                      <a:lnTo>
                        <a:pt x="107" y="93"/>
                      </a:lnTo>
                      <a:lnTo>
                        <a:pt x="106" y="95"/>
                      </a:lnTo>
                      <a:lnTo>
                        <a:pt x="104" y="96"/>
                      </a:lnTo>
                      <a:lnTo>
                        <a:pt x="102" y="98"/>
                      </a:lnTo>
                      <a:lnTo>
                        <a:pt x="101" y="98"/>
                      </a:lnTo>
                      <a:lnTo>
                        <a:pt x="101" y="97"/>
                      </a:lnTo>
                      <a:lnTo>
                        <a:pt x="99" y="97"/>
                      </a:lnTo>
                      <a:lnTo>
                        <a:pt x="99" y="96"/>
                      </a:lnTo>
                      <a:lnTo>
                        <a:pt x="99" y="94"/>
                      </a:lnTo>
                      <a:lnTo>
                        <a:pt x="97" y="94"/>
                      </a:lnTo>
                      <a:lnTo>
                        <a:pt x="97" y="93"/>
                      </a:lnTo>
                      <a:lnTo>
                        <a:pt x="97" y="92"/>
                      </a:lnTo>
                      <a:lnTo>
                        <a:pt x="95" y="92"/>
                      </a:lnTo>
                      <a:lnTo>
                        <a:pt x="95" y="91"/>
                      </a:lnTo>
                      <a:lnTo>
                        <a:pt x="95" y="93"/>
                      </a:lnTo>
                      <a:lnTo>
                        <a:pt x="94" y="93"/>
                      </a:lnTo>
                      <a:lnTo>
                        <a:pt x="92" y="93"/>
                      </a:lnTo>
                      <a:lnTo>
                        <a:pt x="90" y="93"/>
                      </a:lnTo>
                      <a:lnTo>
                        <a:pt x="89" y="93"/>
                      </a:lnTo>
                      <a:lnTo>
                        <a:pt x="89" y="93"/>
                      </a:lnTo>
                      <a:lnTo>
                        <a:pt x="87" y="93"/>
                      </a:lnTo>
                      <a:lnTo>
                        <a:pt x="87" y="92"/>
                      </a:lnTo>
                      <a:lnTo>
                        <a:pt x="87" y="90"/>
                      </a:lnTo>
                      <a:lnTo>
                        <a:pt x="87" y="89"/>
                      </a:lnTo>
                      <a:lnTo>
                        <a:pt x="87" y="87"/>
                      </a:lnTo>
                      <a:lnTo>
                        <a:pt x="85" y="87"/>
                      </a:lnTo>
                      <a:lnTo>
                        <a:pt x="85" y="86"/>
                      </a:lnTo>
                      <a:lnTo>
                        <a:pt x="85" y="85"/>
                      </a:lnTo>
                      <a:lnTo>
                        <a:pt x="85" y="83"/>
                      </a:lnTo>
                      <a:lnTo>
                        <a:pt x="85" y="81"/>
                      </a:lnTo>
                      <a:lnTo>
                        <a:pt x="85" y="81"/>
                      </a:lnTo>
                      <a:lnTo>
                        <a:pt x="85" y="79"/>
                      </a:lnTo>
                      <a:lnTo>
                        <a:pt x="85" y="78"/>
                      </a:lnTo>
                      <a:lnTo>
                        <a:pt x="85" y="76"/>
                      </a:lnTo>
                      <a:lnTo>
                        <a:pt x="85" y="75"/>
                      </a:lnTo>
                      <a:lnTo>
                        <a:pt x="87" y="73"/>
                      </a:lnTo>
                      <a:lnTo>
                        <a:pt x="87" y="72"/>
                      </a:lnTo>
                      <a:lnTo>
                        <a:pt x="89" y="70"/>
                      </a:lnTo>
                      <a:lnTo>
                        <a:pt x="89" y="69"/>
                      </a:lnTo>
                      <a:lnTo>
                        <a:pt x="89" y="67"/>
                      </a:lnTo>
                      <a:lnTo>
                        <a:pt x="87" y="67"/>
                      </a:lnTo>
                      <a:lnTo>
                        <a:pt x="85" y="67"/>
                      </a:lnTo>
                      <a:lnTo>
                        <a:pt x="84" y="67"/>
                      </a:lnTo>
                      <a:lnTo>
                        <a:pt x="83" y="67"/>
                      </a:lnTo>
                      <a:lnTo>
                        <a:pt x="81" y="67"/>
                      </a:lnTo>
                      <a:lnTo>
                        <a:pt x="81" y="65"/>
                      </a:lnTo>
                      <a:lnTo>
                        <a:pt x="79" y="65"/>
                      </a:lnTo>
                      <a:lnTo>
                        <a:pt x="78" y="65"/>
                      </a:lnTo>
                      <a:lnTo>
                        <a:pt x="76" y="65"/>
                      </a:lnTo>
                      <a:lnTo>
                        <a:pt x="76" y="64"/>
                      </a:lnTo>
                      <a:lnTo>
                        <a:pt x="74" y="64"/>
                      </a:lnTo>
                      <a:lnTo>
                        <a:pt x="74" y="62"/>
                      </a:lnTo>
                      <a:lnTo>
                        <a:pt x="73" y="62"/>
                      </a:lnTo>
                      <a:lnTo>
                        <a:pt x="73" y="61"/>
                      </a:lnTo>
                      <a:lnTo>
                        <a:pt x="73" y="60"/>
                      </a:lnTo>
                      <a:lnTo>
                        <a:pt x="73" y="58"/>
                      </a:lnTo>
                      <a:lnTo>
                        <a:pt x="73" y="58"/>
                      </a:lnTo>
                      <a:lnTo>
                        <a:pt x="73" y="57"/>
                      </a:lnTo>
                      <a:lnTo>
                        <a:pt x="73" y="56"/>
                      </a:lnTo>
                      <a:lnTo>
                        <a:pt x="73" y="54"/>
                      </a:lnTo>
                      <a:lnTo>
                        <a:pt x="71" y="54"/>
                      </a:lnTo>
                      <a:lnTo>
                        <a:pt x="71" y="53"/>
                      </a:lnTo>
                      <a:lnTo>
                        <a:pt x="70" y="53"/>
                      </a:lnTo>
                      <a:lnTo>
                        <a:pt x="70" y="52"/>
                      </a:lnTo>
                      <a:lnTo>
                        <a:pt x="70" y="52"/>
                      </a:lnTo>
                      <a:lnTo>
                        <a:pt x="68" y="52"/>
                      </a:lnTo>
                      <a:lnTo>
                        <a:pt x="67" y="52"/>
                      </a:lnTo>
                      <a:lnTo>
                        <a:pt x="66" y="52"/>
                      </a:lnTo>
                      <a:lnTo>
                        <a:pt x="65" y="52"/>
                      </a:lnTo>
                      <a:lnTo>
                        <a:pt x="63" y="52"/>
                      </a:lnTo>
                      <a:lnTo>
                        <a:pt x="61" y="52"/>
                      </a:lnTo>
                      <a:lnTo>
                        <a:pt x="60" y="52"/>
                      </a:lnTo>
                      <a:lnTo>
                        <a:pt x="60" y="52"/>
                      </a:lnTo>
                      <a:lnTo>
                        <a:pt x="58" y="52"/>
                      </a:lnTo>
                      <a:lnTo>
                        <a:pt x="57" y="52"/>
                      </a:lnTo>
                      <a:lnTo>
                        <a:pt x="57" y="50"/>
                      </a:lnTo>
                      <a:lnTo>
                        <a:pt x="56" y="50"/>
                      </a:lnTo>
                      <a:lnTo>
                        <a:pt x="56" y="48"/>
                      </a:lnTo>
                      <a:lnTo>
                        <a:pt x="56" y="46"/>
                      </a:lnTo>
                      <a:lnTo>
                        <a:pt x="57" y="45"/>
                      </a:lnTo>
                      <a:lnTo>
                        <a:pt x="57" y="43"/>
                      </a:lnTo>
                      <a:lnTo>
                        <a:pt x="57" y="41"/>
                      </a:lnTo>
                      <a:lnTo>
                        <a:pt x="56" y="41"/>
                      </a:lnTo>
                      <a:lnTo>
                        <a:pt x="56" y="40"/>
                      </a:lnTo>
                      <a:lnTo>
                        <a:pt x="56" y="38"/>
                      </a:lnTo>
                      <a:lnTo>
                        <a:pt x="55" y="38"/>
                      </a:lnTo>
                      <a:lnTo>
                        <a:pt x="53" y="38"/>
                      </a:lnTo>
                      <a:lnTo>
                        <a:pt x="51" y="38"/>
                      </a:lnTo>
                      <a:lnTo>
                        <a:pt x="50" y="38"/>
                      </a:lnTo>
                      <a:lnTo>
                        <a:pt x="50" y="38"/>
                      </a:lnTo>
                      <a:lnTo>
                        <a:pt x="48" y="39"/>
                      </a:lnTo>
                      <a:lnTo>
                        <a:pt x="48" y="40"/>
                      </a:lnTo>
                      <a:lnTo>
                        <a:pt x="47" y="41"/>
                      </a:lnTo>
                      <a:lnTo>
                        <a:pt x="45" y="41"/>
                      </a:lnTo>
                      <a:lnTo>
                        <a:pt x="44" y="41"/>
                      </a:lnTo>
                      <a:lnTo>
                        <a:pt x="42" y="41"/>
                      </a:lnTo>
                      <a:lnTo>
                        <a:pt x="42" y="40"/>
                      </a:lnTo>
                      <a:lnTo>
                        <a:pt x="40" y="40"/>
                      </a:lnTo>
                      <a:lnTo>
                        <a:pt x="39" y="38"/>
                      </a:lnTo>
                      <a:lnTo>
                        <a:pt x="37" y="37"/>
                      </a:lnTo>
                      <a:lnTo>
                        <a:pt x="37" y="35"/>
                      </a:lnTo>
                      <a:lnTo>
                        <a:pt x="35" y="34"/>
                      </a:lnTo>
                      <a:lnTo>
                        <a:pt x="33" y="33"/>
                      </a:lnTo>
                      <a:lnTo>
                        <a:pt x="33" y="31"/>
                      </a:lnTo>
                      <a:lnTo>
                        <a:pt x="33" y="29"/>
                      </a:lnTo>
                      <a:lnTo>
                        <a:pt x="31" y="29"/>
                      </a:lnTo>
                      <a:lnTo>
                        <a:pt x="30" y="28"/>
                      </a:lnTo>
                      <a:lnTo>
                        <a:pt x="28" y="27"/>
                      </a:lnTo>
                      <a:lnTo>
                        <a:pt x="28" y="25"/>
                      </a:lnTo>
                      <a:lnTo>
                        <a:pt x="27" y="25"/>
                      </a:lnTo>
                      <a:lnTo>
                        <a:pt x="26" y="25"/>
                      </a:lnTo>
                      <a:lnTo>
                        <a:pt x="25" y="25"/>
                      </a:lnTo>
                      <a:lnTo>
                        <a:pt x="25" y="23"/>
                      </a:lnTo>
                      <a:lnTo>
                        <a:pt x="23" y="23"/>
                      </a:lnTo>
                      <a:lnTo>
                        <a:pt x="22" y="23"/>
                      </a:lnTo>
                      <a:lnTo>
                        <a:pt x="22" y="22"/>
                      </a:lnTo>
                      <a:lnTo>
                        <a:pt x="20" y="22"/>
                      </a:lnTo>
                      <a:lnTo>
                        <a:pt x="19" y="22"/>
                      </a:lnTo>
                      <a:lnTo>
                        <a:pt x="17" y="22"/>
                      </a:lnTo>
                      <a:lnTo>
                        <a:pt x="17" y="20"/>
                      </a:lnTo>
                      <a:lnTo>
                        <a:pt x="16" y="20"/>
                      </a:lnTo>
                      <a:lnTo>
                        <a:pt x="16" y="18"/>
                      </a:lnTo>
                      <a:lnTo>
                        <a:pt x="14" y="18"/>
                      </a:lnTo>
                      <a:lnTo>
                        <a:pt x="12" y="18"/>
                      </a:lnTo>
                      <a:lnTo>
                        <a:pt x="12" y="17"/>
                      </a:lnTo>
                      <a:lnTo>
                        <a:pt x="11" y="17"/>
                      </a:lnTo>
                      <a:lnTo>
                        <a:pt x="11" y="17"/>
                      </a:lnTo>
                      <a:lnTo>
                        <a:pt x="9" y="17"/>
                      </a:lnTo>
                      <a:lnTo>
                        <a:pt x="9" y="15"/>
                      </a:lnTo>
                      <a:lnTo>
                        <a:pt x="8" y="15"/>
                      </a:lnTo>
                      <a:lnTo>
                        <a:pt x="7" y="15"/>
                      </a:lnTo>
                      <a:lnTo>
                        <a:pt x="7" y="13"/>
                      </a:lnTo>
                      <a:lnTo>
                        <a:pt x="5" y="13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4" y="11"/>
                      </a:lnTo>
                      <a:lnTo>
                        <a:pt x="3" y="11"/>
                      </a:lnTo>
                      <a:lnTo>
                        <a:pt x="3" y="9"/>
                      </a:lnTo>
                      <a:lnTo>
                        <a:pt x="1" y="9"/>
                      </a:lnTo>
                      <a:lnTo>
                        <a:pt x="1" y="8"/>
                      </a:lnTo>
                      <a:lnTo>
                        <a:pt x="1" y="6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59" name="Freeform 127"/>
                <p:cNvSpPr>
                  <a:spLocks/>
                </p:cNvSpPr>
                <p:nvPr/>
              </p:nvSpPr>
              <p:spPr bwMode="auto">
                <a:xfrm>
                  <a:off x="1099" y="3984"/>
                  <a:ext cx="63" cy="4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8" y="13"/>
                    </a:cxn>
                    <a:cxn ang="0">
                      <a:pos x="28" y="19"/>
                    </a:cxn>
                    <a:cxn ang="0">
                      <a:pos x="32" y="21"/>
                    </a:cxn>
                    <a:cxn ang="0">
                      <a:pos x="38" y="24"/>
                    </a:cxn>
                    <a:cxn ang="0">
                      <a:pos x="40" y="24"/>
                    </a:cxn>
                    <a:cxn ang="0">
                      <a:pos x="47" y="27"/>
                    </a:cxn>
                    <a:cxn ang="0">
                      <a:pos x="53" y="32"/>
                    </a:cxn>
                    <a:cxn ang="0">
                      <a:pos x="62" y="38"/>
                    </a:cxn>
                    <a:cxn ang="0">
                      <a:pos x="62" y="45"/>
                    </a:cxn>
                    <a:cxn ang="0">
                      <a:pos x="57" y="44"/>
                    </a:cxn>
                    <a:cxn ang="0">
                      <a:pos x="54" y="37"/>
                    </a:cxn>
                    <a:cxn ang="0">
                      <a:pos x="47" y="32"/>
                    </a:cxn>
                    <a:cxn ang="0">
                      <a:pos x="43" y="35"/>
                    </a:cxn>
                    <a:cxn ang="0">
                      <a:pos x="36" y="27"/>
                    </a:cxn>
                    <a:cxn ang="0">
                      <a:pos x="26" y="19"/>
                    </a:cxn>
                    <a:cxn ang="0">
                      <a:pos x="23" y="19"/>
                    </a:cxn>
                    <a:cxn ang="0">
                      <a:pos x="21" y="12"/>
                    </a:cxn>
                    <a:cxn ang="0">
                      <a:pos x="12" y="1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63" h="46">
                      <a:moveTo>
                        <a:pt x="0" y="0"/>
                      </a:moveTo>
                      <a:lnTo>
                        <a:pt x="28" y="13"/>
                      </a:lnTo>
                      <a:lnTo>
                        <a:pt x="28" y="19"/>
                      </a:lnTo>
                      <a:lnTo>
                        <a:pt x="32" y="21"/>
                      </a:lnTo>
                      <a:lnTo>
                        <a:pt x="38" y="24"/>
                      </a:lnTo>
                      <a:lnTo>
                        <a:pt x="40" y="24"/>
                      </a:lnTo>
                      <a:lnTo>
                        <a:pt x="47" y="27"/>
                      </a:lnTo>
                      <a:lnTo>
                        <a:pt x="53" y="32"/>
                      </a:lnTo>
                      <a:lnTo>
                        <a:pt x="62" y="38"/>
                      </a:lnTo>
                      <a:lnTo>
                        <a:pt x="62" y="45"/>
                      </a:lnTo>
                      <a:lnTo>
                        <a:pt x="57" y="44"/>
                      </a:lnTo>
                      <a:lnTo>
                        <a:pt x="54" y="37"/>
                      </a:lnTo>
                      <a:lnTo>
                        <a:pt x="47" y="32"/>
                      </a:lnTo>
                      <a:lnTo>
                        <a:pt x="43" y="35"/>
                      </a:lnTo>
                      <a:lnTo>
                        <a:pt x="36" y="27"/>
                      </a:lnTo>
                      <a:lnTo>
                        <a:pt x="26" y="19"/>
                      </a:lnTo>
                      <a:lnTo>
                        <a:pt x="23" y="19"/>
                      </a:lnTo>
                      <a:lnTo>
                        <a:pt x="21" y="12"/>
                      </a:lnTo>
                      <a:lnTo>
                        <a:pt x="12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60" name="Freeform 128"/>
                <p:cNvSpPr>
                  <a:spLocks/>
                </p:cNvSpPr>
                <p:nvPr/>
              </p:nvSpPr>
              <p:spPr bwMode="auto">
                <a:xfrm>
                  <a:off x="1105" y="3974"/>
                  <a:ext cx="31" cy="16"/>
                </a:xfrm>
                <a:custGeom>
                  <a:avLst/>
                  <a:gdLst/>
                  <a:ahLst/>
                  <a:cxnLst>
                    <a:cxn ang="0">
                      <a:pos x="1" y="1"/>
                    </a:cxn>
                    <a:cxn ang="0">
                      <a:pos x="4" y="0"/>
                    </a:cxn>
                    <a:cxn ang="0">
                      <a:pos x="4" y="2"/>
                    </a:cxn>
                    <a:cxn ang="0">
                      <a:pos x="5" y="3"/>
                    </a:cxn>
                    <a:cxn ang="0">
                      <a:pos x="6" y="3"/>
                    </a:cxn>
                    <a:cxn ang="0">
                      <a:pos x="8" y="5"/>
                    </a:cxn>
                    <a:cxn ang="0">
                      <a:pos x="10" y="7"/>
                    </a:cxn>
                    <a:cxn ang="0">
                      <a:pos x="10" y="10"/>
                    </a:cxn>
                    <a:cxn ang="0">
                      <a:pos x="11" y="11"/>
                    </a:cxn>
                    <a:cxn ang="0">
                      <a:pos x="13" y="11"/>
                    </a:cxn>
                    <a:cxn ang="0">
                      <a:pos x="17" y="11"/>
                    </a:cxn>
                    <a:cxn ang="0">
                      <a:pos x="19" y="9"/>
                    </a:cxn>
                    <a:cxn ang="0">
                      <a:pos x="22" y="7"/>
                    </a:cxn>
                    <a:cxn ang="0">
                      <a:pos x="25" y="7"/>
                    </a:cxn>
                    <a:cxn ang="0">
                      <a:pos x="29" y="5"/>
                    </a:cxn>
                    <a:cxn ang="0">
                      <a:pos x="28" y="9"/>
                    </a:cxn>
                    <a:cxn ang="0">
                      <a:pos x="28" y="13"/>
                    </a:cxn>
                    <a:cxn ang="0">
                      <a:pos x="29" y="14"/>
                    </a:cxn>
                    <a:cxn ang="0">
                      <a:pos x="30" y="15"/>
                    </a:cxn>
                    <a:cxn ang="0">
                      <a:pos x="26" y="15"/>
                    </a:cxn>
                    <a:cxn ang="0">
                      <a:pos x="25" y="14"/>
                    </a:cxn>
                    <a:cxn ang="0">
                      <a:pos x="22" y="14"/>
                    </a:cxn>
                    <a:cxn ang="0">
                      <a:pos x="20" y="13"/>
                    </a:cxn>
                    <a:cxn ang="0">
                      <a:pos x="18" y="13"/>
                    </a:cxn>
                    <a:cxn ang="0">
                      <a:pos x="17" y="15"/>
                    </a:cxn>
                    <a:cxn ang="0">
                      <a:pos x="13" y="15"/>
                    </a:cxn>
                    <a:cxn ang="0">
                      <a:pos x="12" y="14"/>
                    </a:cxn>
                    <a:cxn ang="0">
                      <a:pos x="10" y="12"/>
                    </a:cxn>
                    <a:cxn ang="0">
                      <a:pos x="7" y="12"/>
                    </a:cxn>
                    <a:cxn ang="0">
                      <a:pos x="6" y="11"/>
                    </a:cxn>
                    <a:cxn ang="0">
                      <a:pos x="4" y="10"/>
                    </a:cxn>
                    <a:cxn ang="0">
                      <a:pos x="2" y="8"/>
                    </a:cxn>
                    <a:cxn ang="0">
                      <a:pos x="2" y="5"/>
                    </a:cxn>
                    <a:cxn ang="0">
                      <a:pos x="1" y="4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31" h="16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4" y="0"/>
                      </a:lnTo>
                      <a:lnTo>
                        <a:pt x="4" y="1"/>
                      </a:lnTo>
                      <a:lnTo>
                        <a:pt x="4" y="2"/>
                      </a:lnTo>
                      <a:lnTo>
                        <a:pt x="5" y="2"/>
                      </a:lnTo>
                      <a:lnTo>
                        <a:pt x="5" y="3"/>
                      </a:lnTo>
                      <a:lnTo>
                        <a:pt x="6" y="3"/>
                      </a:lnTo>
                      <a:lnTo>
                        <a:pt x="6" y="3"/>
                      </a:lnTo>
                      <a:lnTo>
                        <a:pt x="6" y="5"/>
                      </a:lnTo>
                      <a:lnTo>
                        <a:pt x="8" y="5"/>
                      </a:lnTo>
                      <a:lnTo>
                        <a:pt x="8" y="7"/>
                      </a:lnTo>
                      <a:lnTo>
                        <a:pt x="10" y="7"/>
                      </a:lnTo>
                      <a:lnTo>
                        <a:pt x="10" y="9"/>
                      </a:lnTo>
                      <a:lnTo>
                        <a:pt x="10" y="10"/>
                      </a:lnTo>
                      <a:lnTo>
                        <a:pt x="11" y="10"/>
                      </a:lnTo>
                      <a:lnTo>
                        <a:pt x="11" y="11"/>
                      </a:lnTo>
                      <a:lnTo>
                        <a:pt x="12" y="11"/>
                      </a:lnTo>
                      <a:lnTo>
                        <a:pt x="13" y="11"/>
                      </a:lnTo>
                      <a:lnTo>
                        <a:pt x="15" y="11"/>
                      </a:lnTo>
                      <a:lnTo>
                        <a:pt x="17" y="11"/>
                      </a:lnTo>
                      <a:lnTo>
                        <a:pt x="18" y="11"/>
                      </a:lnTo>
                      <a:lnTo>
                        <a:pt x="19" y="9"/>
                      </a:lnTo>
                      <a:lnTo>
                        <a:pt x="20" y="9"/>
                      </a:lnTo>
                      <a:lnTo>
                        <a:pt x="22" y="7"/>
                      </a:lnTo>
                      <a:lnTo>
                        <a:pt x="24" y="7"/>
                      </a:lnTo>
                      <a:lnTo>
                        <a:pt x="25" y="7"/>
                      </a:lnTo>
                      <a:lnTo>
                        <a:pt x="27" y="7"/>
                      </a:lnTo>
                      <a:lnTo>
                        <a:pt x="29" y="5"/>
                      </a:lnTo>
                      <a:lnTo>
                        <a:pt x="28" y="7"/>
                      </a:lnTo>
                      <a:lnTo>
                        <a:pt x="28" y="9"/>
                      </a:lnTo>
                      <a:lnTo>
                        <a:pt x="28" y="11"/>
                      </a:lnTo>
                      <a:lnTo>
                        <a:pt x="28" y="13"/>
                      </a:lnTo>
                      <a:lnTo>
                        <a:pt x="28" y="14"/>
                      </a:lnTo>
                      <a:lnTo>
                        <a:pt x="29" y="14"/>
                      </a:lnTo>
                      <a:lnTo>
                        <a:pt x="29" y="15"/>
                      </a:lnTo>
                      <a:lnTo>
                        <a:pt x="30" y="15"/>
                      </a:lnTo>
                      <a:lnTo>
                        <a:pt x="28" y="15"/>
                      </a:lnTo>
                      <a:lnTo>
                        <a:pt x="26" y="15"/>
                      </a:lnTo>
                      <a:lnTo>
                        <a:pt x="25" y="15"/>
                      </a:lnTo>
                      <a:lnTo>
                        <a:pt x="25" y="14"/>
                      </a:lnTo>
                      <a:lnTo>
                        <a:pt x="24" y="14"/>
                      </a:lnTo>
                      <a:lnTo>
                        <a:pt x="22" y="14"/>
                      </a:lnTo>
                      <a:lnTo>
                        <a:pt x="22" y="13"/>
                      </a:lnTo>
                      <a:lnTo>
                        <a:pt x="20" y="13"/>
                      </a:lnTo>
                      <a:lnTo>
                        <a:pt x="20" y="12"/>
                      </a:lnTo>
                      <a:lnTo>
                        <a:pt x="18" y="13"/>
                      </a:lnTo>
                      <a:lnTo>
                        <a:pt x="18" y="14"/>
                      </a:lnTo>
                      <a:lnTo>
                        <a:pt x="17" y="15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2" y="15"/>
                      </a:lnTo>
                      <a:lnTo>
                        <a:pt x="12" y="14"/>
                      </a:lnTo>
                      <a:lnTo>
                        <a:pt x="10" y="14"/>
                      </a:lnTo>
                      <a:lnTo>
                        <a:pt x="10" y="12"/>
                      </a:lnTo>
                      <a:lnTo>
                        <a:pt x="8" y="12"/>
                      </a:lnTo>
                      <a:lnTo>
                        <a:pt x="7" y="12"/>
                      </a:lnTo>
                      <a:lnTo>
                        <a:pt x="6" y="12"/>
                      </a:lnTo>
                      <a:lnTo>
                        <a:pt x="6" y="11"/>
                      </a:lnTo>
                      <a:lnTo>
                        <a:pt x="4" y="11"/>
                      </a:lnTo>
                      <a:lnTo>
                        <a:pt x="4" y="10"/>
                      </a:lnTo>
                      <a:lnTo>
                        <a:pt x="4" y="8"/>
                      </a:lnTo>
                      <a:lnTo>
                        <a:pt x="2" y="8"/>
                      </a:lnTo>
                      <a:lnTo>
                        <a:pt x="2" y="7"/>
                      </a:lnTo>
                      <a:lnTo>
                        <a:pt x="2" y="5"/>
                      </a:lnTo>
                      <a:lnTo>
                        <a:pt x="1" y="5"/>
                      </a:lnTo>
                      <a:lnTo>
                        <a:pt x="1" y="4"/>
                      </a:lnTo>
                      <a:lnTo>
                        <a:pt x="1" y="2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61" name="Freeform 129"/>
                <p:cNvSpPr>
                  <a:spLocks/>
                </p:cNvSpPr>
                <p:nvPr/>
              </p:nvSpPr>
              <p:spPr bwMode="auto">
                <a:xfrm>
                  <a:off x="1091" y="3974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3" y="0"/>
                    </a:cxn>
                    <a:cxn ang="0">
                      <a:pos x="5" y="0"/>
                    </a:cxn>
                    <a:cxn ang="0">
                      <a:pos x="8" y="0"/>
                    </a:cxn>
                    <a:cxn ang="0">
                      <a:pos x="11" y="0"/>
                    </a:cxn>
                    <a:cxn ang="0">
                      <a:pos x="12" y="0"/>
                    </a:cxn>
                    <a:cxn ang="0">
                      <a:pos x="15" y="0"/>
                    </a:cxn>
                    <a:cxn ang="0">
                      <a:pos x="13" y="5"/>
                    </a:cxn>
                    <a:cxn ang="0">
                      <a:pos x="12" y="8"/>
                    </a:cxn>
                    <a:cxn ang="0">
                      <a:pos x="11" y="15"/>
                    </a:cxn>
                    <a:cxn ang="0">
                      <a:pos x="9" y="15"/>
                    </a:cxn>
                    <a:cxn ang="0">
                      <a:pos x="7" y="15"/>
                    </a:cxn>
                    <a:cxn ang="0">
                      <a:pos x="4" y="15"/>
                    </a:cxn>
                    <a:cxn ang="0">
                      <a:pos x="1" y="15"/>
                    </a:cxn>
                    <a:cxn ang="0">
                      <a:pos x="1" y="8"/>
                    </a:cxn>
                    <a:cxn ang="0">
                      <a:pos x="0" y="8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6" h="16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3" y="0"/>
                      </a:lnTo>
                      <a:lnTo>
                        <a:pt x="5" y="0"/>
                      </a:lnTo>
                      <a:lnTo>
                        <a:pt x="8" y="0"/>
                      </a:lnTo>
                      <a:lnTo>
                        <a:pt x="11" y="0"/>
                      </a:lnTo>
                      <a:lnTo>
                        <a:pt x="12" y="0"/>
                      </a:lnTo>
                      <a:lnTo>
                        <a:pt x="15" y="0"/>
                      </a:lnTo>
                      <a:lnTo>
                        <a:pt x="13" y="5"/>
                      </a:lnTo>
                      <a:lnTo>
                        <a:pt x="12" y="8"/>
                      </a:lnTo>
                      <a:lnTo>
                        <a:pt x="11" y="15"/>
                      </a:lnTo>
                      <a:lnTo>
                        <a:pt x="9" y="15"/>
                      </a:lnTo>
                      <a:lnTo>
                        <a:pt x="7" y="15"/>
                      </a:lnTo>
                      <a:lnTo>
                        <a:pt x="4" y="15"/>
                      </a:lnTo>
                      <a:lnTo>
                        <a:pt x="1" y="15"/>
                      </a:lnTo>
                      <a:lnTo>
                        <a:pt x="1" y="8"/>
                      </a:lnTo>
                      <a:lnTo>
                        <a:pt x="0" y="8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FFF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62" name="Freeform 130"/>
                <p:cNvSpPr>
                  <a:spLocks/>
                </p:cNvSpPr>
                <p:nvPr/>
              </p:nvSpPr>
              <p:spPr bwMode="auto">
                <a:xfrm>
                  <a:off x="1084" y="3964"/>
                  <a:ext cx="54" cy="16"/>
                </a:xfrm>
                <a:custGeom>
                  <a:avLst/>
                  <a:gdLst/>
                  <a:ahLst/>
                  <a:cxnLst>
                    <a:cxn ang="0">
                      <a:pos x="52" y="12"/>
                    </a:cxn>
                    <a:cxn ang="0">
                      <a:pos x="50" y="11"/>
                    </a:cxn>
                    <a:cxn ang="0">
                      <a:pos x="48" y="10"/>
                    </a:cxn>
                    <a:cxn ang="0">
                      <a:pos x="48" y="9"/>
                    </a:cxn>
                    <a:cxn ang="0">
                      <a:pos x="44" y="9"/>
                    </a:cxn>
                    <a:cxn ang="0">
                      <a:pos x="43" y="8"/>
                    </a:cxn>
                    <a:cxn ang="0">
                      <a:pos x="41" y="8"/>
                    </a:cxn>
                    <a:cxn ang="0">
                      <a:pos x="40" y="7"/>
                    </a:cxn>
                    <a:cxn ang="0">
                      <a:pos x="37" y="8"/>
                    </a:cxn>
                    <a:cxn ang="0">
                      <a:pos x="34" y="8"/>
                    </a:cxn>
                    <a:cxn ang="0">
                      <a:pos x="32" y="7"/>
                    </a:cxn>
                    <a:cxn ang="0">
                      <a:pos x="30" y="7"/>
                    </a:cxn>
                    <a:cxn ang="0">
                      <a:pos x="28" y="5"/>
                    </a:cxn>
                    <a:cxn ang="0">
                      <a:pos x="27" y="3"/>
                    </a:cxn>
                    <a:cxn ang="0">
                      <a:pos x="24" y="3"/>
                    </a:cxn>
                    <a:cxn ang="0">
                      <a:pos x="22" y="2"/>
                    </a:cxn>
                    <a:cxn ang="0">
                      <a:pos x="21" y="2"/>
                    </a:cxn>
                    <a:cxn ang="0">
                      <a:pos x="19" y="3"/>
                    </a:cxn>
                    <a:cxn ang="0">
                      <a:pos x="16" y="5"/>
                    </a:cxn>
                    <a:cxn ang="0">
                      <a:pos x="12" y="5"/>
                    </a:cxn>
                    <a:cxn ang="0">
                      <a:pos x="10" y="4"/>
                    </a:cxn>
                    <a:cxn ang="0">
                      <a:pos x="9" y="2"/>
                    </a:cxn>
                    <a:cxn ang="0">
                      <a:pos x="9" y="0"/>
                    </a:cxn>
                    <a:cxn ang="0">
                      <a:pos x="7" y="0"/>
                    </a:cxn>
                    <a:cxn ang="0">
                      <a:pos x="5" y="2"/>
                    </a:cxn>
                    <a:cxn ang="0">
                      <a:pos x="2" y="2"/>
                    </a:cxn>
                    <a:cxn ang="0">
                      <a:pos x="0" y="3"/>
                    </a:cxn>
                    <a:cxn ang="0">
                      <a:pos x="1" y="5"/>
                    </a:cxn>
                    <a:cxn ang="0">
                      <a:pos x="5" y="5"/>
                    </a:cxn>
                    <a:cxn ang="0">
                      <a:pos x="7" y="5"/>
                    </a:cxn>
                    <a:cxn ang="0">
                      <a:pos x="9" y="7"/>
                    </a:cxn>
                    <a:cxn ang="0">
                      <a:pos x="10" y="7"/>
                    </a:cxn>
                    <a:cxn ang="0">
                      <a:pos x="12" y="8"/>
                    </a:cxn>
                    <a:cxn ang="0">
                      <a:pos x="15" y="8"/>
                    </a:cxn>
                    <a:cxn ang="0">
                      <a:pos x="16" y="10"/>
                    </a:cxn>
                    <a:cxn ang="0">
                      <a:pos x="20" y="10"/>
                    </a:cxn>
                    <a:cxn ang="0">
                      <a:pos x="23" y="10"/>
                    </a:cxn>
                    <a:cxn ang="0">
                      <a:pos x="26" y="10"/>
                    </a:cxn>
                    <a:cxn ang="0">
                      <a:pos x="27" y="12"/>
                    </a:cxn>
                    <a:cxn ang="0">
                      <a:pos x="30" y="12"/>
                    </a:cxn>
                    <a:cxn ang="0">
                      <a:pos x="32" y="12"/>
                    </a:cxn>
                    <a:cxn ang="0">
                      <a:pos x="33" y="13"/>
                    </a:cxn>
                    <a:cxn ang="0">
                      <a:pos x="37" y="13"/>
                    </a:cxn>
                    <a:cxn ang="0">
                      <a:pos x="39" y="13"/>
                    </a:cxn>
                    <a:cxn ang="0">
                      <a:pos x="40" y="15"/>
                    </a:cxn>
                    <a:cxn ang="0">
                      <a:pos x="43" y="15"/>
                    </a:cxn>
                    <a:cxn ang="0">
                      <a:pos x="46" y="15"/>
                    </a:cxn>
                    <a:cxn ang="0">
                      <a:pos x="49" y="15"/>
                    </a:cxn>
                    <a:cxn ang="0">
                      <a:pos x="53" y="13"/>
                    </a:cxn>
                  </a:cxnLst>
                  <a:rect l="0" t="0" r="r" b="b"/>
                  <a:pathLst>
                    <a:path w="54" h="16">
                      <a:moveTo>
                        <a:pt x="53" y="12"/>
                      </a:moveTo>
                      <a:lnTo>
                        <a:pt x="52" y="12"/>
                      </a:lnTo>
                      <a:lnTo>
                        <a:pt x="50" y="12"/>
                      </a:lnTo>
                      <a:lnTo>
                        <a:pt x="50" y="11"/>
                      </a:lnTo>
                      <a:lnTo>
                        <a:pt x="48" y="11"/>
                      </a:lnTo>
                      <a:lnTo>
                        <a:pt x="48" y="10"/>
                      </a:lnTo>
                      <a:lnTo>
                        <a:pt x="48" y="10"/>
                      </a:lnTo>
                      <a:lnTo>
                        <a:pt x="48" y="9"/>
                      </a:lnTo>
                      <a:lnTo>
                        <a:pt x="46" y="9"/>
                      </a:lnTo>
                      <a:lnTo>
                        <a:pt x="44" y="9"/>
                      </a:lnTo>
                      <a:lnTo>
                        <a:pt x="43" y="9"/>
                      </a:lnTo>
                      <a:lnTo>
                        <a:pt x="43" y="8"/>
                      </a:lnTo>
                      <a:lnTo>
                        <a:pt x="42" y="8"/>
                      </a:lnTo>
                      <a:lnTo>
                        <a:pt x="41" y="8"/>
                      </a:lnTo>
                      <a:lnTo>
                        <a:pt x="40" y="8"/>
                      </a:lnTo>
                      <a:lnTo>
                        <a:pt x="40" y="7"/>
                      </a:lnTo>
                      <a:lnTo>
                        <a:pt x="38" y="8"/>
                      </a:lnTo>
                      <a:lnTo>
                        <a:pt x="37" y="8"/>
                      </a:lnTo>
                      <a:lnTo>
                        <a:pt x="36" y="8"/>
                      </a:lnTo>
                      <a:lnTo>
                        <a:pt x="34" y="8"/>
                      </a:lnTo>
                      <a:lnTo>
                        <a:pt x="32" y="8"/>
                      </a:lnTo>
                      <a:lnTo>
                        <a:pt x="32" y="7"/>
                      </a:lnTo>
                      <a:lnTo>
                        <a:pt x="32" y="7"/>
                      </a:lnTo>
                      <a:lnTo>
                        <a:pt x="30" y="7"/>
                      </a:lnTo>
                      <a:lnTo>
                        <a:pt x="30" y="5"/>
                      </a:lnTo>
                      <a:lnTo>
                        <a:pt x="28" y="5"/>
                      </a:lnTo>
                      <a:lnTo>
                        <a:pt x="27" y="5"/>
                      </a:lnTo>
                      <a:lnTo>
                        <a:pt x="27" y="3"/>
                      </a:lnTo>
                      <a:lnTo>
                        <a:pt x="26" y="3"/>
                      </a:lnTo>
                      <a:lnTo>
                        <a:pt x="24" y="3"/>
                      </a:lnTo>
                      <a:lnTo>
                        <a:pt x="24" y="2"/>
                      </a:lnTo>
                      <a:lnTo>
                        <a:pt x="22" y="2"/>
                      </a:lnTo>
                      <a:lnTo>
                        <a:pt x="22" y="1"/>
                      </a:lnTo>
                      <a:lnTo>
                        <a:pt x="21" y="2"/>
                      </a:lnTo>
                      <a:lnTo>
                        <a:pt x="20" y="2"/>
                      </a:lnTo>
                      <a:lnTo>
                        <a:pt x="19" y="3"/>
                      </a:lnTo>
                      <a:lnTo>
                        <a:pt x="17" y="5"/>
                      </a:lnTo>
                      <a:lnTo>
                        <a:pt x="16" y="5"/>
                      </a:lnTo>
                      <a:lnTo>
                        <a:pt x="14" y="5"/>
                      </a:lnTo>
                      <a:lnTo>
                        <a:pt x="12" y="5"/>
                      </a:lnTo>
                      <a:lnTo>
                        <a:pt x="12" y="4"/>
                      </a:lnTo>
                      <a:lnTo>
                        <a:pt x="10" y="4"/>
                      </a:lnTo>
                      <a:lnTo>
                        <a:pt x="10" y="2"/>
                      </a:lnTo>
                      <a:lnTo>
                        <a:pt x="9" y="2"/>
                      </a:lnTo>
                      <a:lnTo>
                        <a:pt x="9" y="1"/>
                      </a:lnTo>
                      <a:lnTo>
                        <a:pt x="9" y="0"/>
                      </a:lnTo>
                      <a:lnTo>
                        <a:pt x="8" y="0"/>
                      </a:lnTo>
                      <a:lnTo>
                        <a:pt x="7" y="0"/>
                      </a:lnTo>
                      <a:lnTo>
                        <a:pt x="6" y="0"/>
                      </a:lnTo>
                      <a:lnTo>
                        <a:pt x="5" y="2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1" y="5"/>
                      </a:lnTo>
                      <a:lnTo>
                        <a:pt x="3" y="5"/>
                      </a:lnTo>
                      <a:lnTo>
                        <a:pt x="5" y="5"/>
                      </a:lnTo>
                      <a:lnTo>
                        <a:pt x="6" y="5"/>
                      </a:lnTo>
                      <a:lnTo>
                        <a:pt x="7" y="5"/>
                      </a:lnTo>
                      <a:lnTo>
                        <a:pt x="9" y="5"/>
                      </a:lnTo>
                      <a:lnTo>
                        <a:pt x="9" y="7"/>
                      </a:lnTo>
                      <a:lnTo>
                        <a:pt x="10" y="7"/>
                      </a:lnTo>
                      <a:lnTo>
                        <a:pt x="10" y="7"/>
                      </a:lnTo>
                      <a:lnTo>
                        <a:pt x="12" y="7"/>
                      </a:lnTo>
                      <a:lnTo>
                        <a:pt x="12" y="8"/>
                      </a:lnTo>
                      <a:lnTo>
                        <a:pt x="14" y="8"/>
                      </a:lnTo>
                      <a:lnTo>
                        <a:pt x="15" y="8"/>
                      </a:lnTo>
                      <a:lnTo>
                        <a:pt x="16" y="8"/>
                      </a:lnTo>
                      <a:lnTo>
                        <a:pt x="16" y="10"/>
                      </a:lnTo>
                      <a:lnTo>
                        <a:pt x="18" y="10"/>
                      </a:lnTo>
                      <a:lnTo>
                        <a:pt x="20" y="10"/>
                      </a:lnTo>
                      <a:lnTo>
                        <a:pt x="21" y="10"/>
                      </a:lnTo>
                      <a:lnTo>
                        <a:pt x="23" y="10"/>
                      </a:lnTo>
                      <a:lnTo>
                        <a:pt x="24" y="10"/>
                      </a:lnTo>
                      <a:lnTo>
                        <a:pt x="26" y="10"/>
                      </a:lnTo>
                      <a:lnTo>
                        <a:pt x="26" y="12"/>
                      </a:lnTo>
                      <a:lnTo>
                        <a:pt x="27" y="12"/>
                      </a:lnTo>
                      <a:lnTo>
                        <a:pt x="28" y="12"/>
                      </a:lnTo>
                      <a:lnTo>
                        <a:pt x="30" y="12"/>
                      </a:lnTo>
                      <a:lnTo>
                        <a:pt x="31" y="12"/>
                      </a:lnTo>
                      <a:lnTo>
                        <a:pt x="32" y="12"/>
                      </a:lnTo>
                      <a:lnTo>
                        <a:pt x="32" y="13"/>
                      </a:lnTo>
                      <a:lnTo>
                        <a:pt x="33" y="13"/>
                      </a:lnTo>
                      <a:lnTo>
                        <a:pt x="35" y="13"/>
                      </a:lnTo>
                      <a:lnTo>
                        <a:pt x="37" y="13"/>
                      </a:lnTo>
                      <a:lnTo>
                        <a:pt x="37" y="13"/>
                      </a:lnTo>
                      <a:lnTo>
                        <a:pt x="39" y="13"/>
                      </a:lnTo>
                      <a:lnTo>
                        <a:pt x="39" y="15"/>
                      </a:lnTo>
                      <a:lnTo>
                        <a:pt x="40" y="15"/>
                      </a:lnTo>
                      <a:lnTo>
                        <a:pt x="41" y="15"/>
                      </a:lnTo>
                      <a:lnTo>
                        <a:pt x="43" y="15"/>
                      </a:lnTo>
                      <a:lnTo>
                        <a:pt x="44" y="15"/>
                      </a:lnTo>
                      <a:lnTo>
                        <a:pt x="46" y="15"/>
                      </a:lnTo>
                      <a:lnTo>
                        <a:pt x="48" y="15"/>
                      </a:lnTo>
                      <a:lnTo>
                        <a:pt x="49" y="15"/>
                      </a:lnTo>
                      <a:lnTo>
                        <a:pt x="51" y="15"/>
                      </a:lnTo>
                      <a:lnTo>
                        <a:pt x="53" y="13"/>
                      </a:lnTo>
                      <a:lnTo>
                        <a:pt x="53" y="12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63" name="Freeform 131"/>
                <p:cNvSpPr>
                  <a:spLocks/>
                </p:cNvSpPr>
                <p:nvPr/>
              </p:nvSpPr>
              <p:spPr bwMode="auto">
                <a:xfrm>
                  <a:off x="1059" y="3958"/>
                  <a:ext cx="33" cy="16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0" y="7"/>
                    </a:cxn>
                    <a:cxn ang="0">
                      <a:pos x="0" y="7"/>
                    </a:cxn>
                    <a:cxn ang="0">
                      <a:pos x="0" y="9"/>
                    </a:cxn>
                    <a:cxn ang="0">
                      <a:pos x="1" y="9"/>
                    </a:cxn>
                    <a:cxn ang="0">
                      <a:pos x="3" y="9"/>
                    </a:cxn>
                    <a:cxn ang="0">
                      <a:pos x="3" y="12"/>
                    </a:cxn>
                    <a:cxn ang="0">
                      <a:pos x="5" y="12"/>
                    </a:cxn>
                    <a:cxn ang="0">
                      <a:pos x="6" y="12"/>
                    </a:cxn>
                    <a:cxn ang="0">
                      <a:pos x="7" y="12"/>
                    </a:cxn>
                    <a:cxn ang="0">
                      <a:pos x="7" y="15"/>
                    </a:cxn>
                    <a:cxn ang="0">
                      <a:pos x="8" y="15"/>
                    </a:cxn>
                    <a:cxn ang="0">
                      <a:pos x="10" y="15"/>
                    </a:cxn>
                    <a:cxn ang="0">
                      <a:pos x="12" y="15"/>
                    </a:cxn>
                    <a:cxn ang="0">
                      <a:pos x="13" y="15"/>
                    </a:cxn>
                    <a:cxn ang="0">
                      <a:pos x="15" y="15"/>
                    </a:cxn>
                    <a:cxn ang="0">
                      <a:pos x="17" y="15"/>
                    </a:cxn>
                    <a:cxn ang="0">
                      <a:pos x="20" y="12"/>
                    </a:cxn>
                    <a:cxn ang="0">
                      <a:pos x="22" y="12"/>
                    </a:cxn>
                    <a:cxn ang="0">
                      <a:pos x="24" y="12"/>
                    </a:cxn>
                    <a:cxn ang="0">
                      <a:pos x="25" y="12"/>
                    </a:cxn>
                    <a:cxn ang="0">
                      <a:pos x="27" y="12"/>
                    </a:cxn>
                    <a:cxn ang="0">
                      <a:pos x="29" y="12"/>
                    </a:cxn>
                    <a:cxn ang="0">
                      <a:pos x="31" y="12"/>
                    </a:cxn>
                    <a:cxn ang="0">
                      <a:pos x="32" y="9"/>
                    </a:cxn>
                    <a:cxn ang="0">
                      <a:pos x="31" y="9"/>
                    </a:cxn>
                    <a:cxn ang="0">
                      <a:pos x="31" y="7"/>
                    </a:cxn>
                    <a:cxn ang="0">
                      <a:pos x="29" y="7"/>
                    </a:cxn>
                    <a:cxn ang="0">
                      <a:pos x="28" y="7"/>
                    </a:cxn>
                    <a:cxn ang="0">
                      <a:pos x="28" y="4"/>
                    </a:cxn>
                    <a:cxn ang="0">
                      <a:pos x="26" y="7"/>
                    </a:cxn>
                    <a:cxn ang="0">
                      <a:pos x="25" y="7"/>
                    </a:cxn>
                    <a:cxn ang="0">
                      <a:pos x="24" y="9"/>
                    </a:cxn>
                    <a:cxn ang="0">
                      <a:pos x="22" y="9"/>
                    </a:cxn>
                    <a:cxn ang="0">
                      <a:pos x="20" y="9"/>
                    </a:cxn>
                    <a:cxn ang="0">
                      <a:pos x="19" y="9"/>
                    </a:cxn>
                    <a:cxn ang="0">
                      <a:pos x="18" y="9"/>
                    </a:cxn>
                    <a:cxn ang="0">
                      <a:pos x="17" y="9"/>
                    </a:cxn>
                    <a:cxn ang="0">
                      <a:pos x="17" y="7"/>
                    </a:cxn>
                    <a:cxn ang="0">
                      <a:pos x="16" y="7"/>
                    </a:cxn>
                    <a:cxn ang="0">
                      <a:pos x="16" y="4"/>
                    </a:cxn>
                    <a:cxn ang="0">
                      <a:pos x="16" y="1"/>
                    </a:cxn>
                    <a:cxn ang="0">
                      <a:pos x="16" y="0"/>
                    </a:cxn>
                    <a:cxn ang="0">
                      <a:pos x="14" y="1"/>
                    </a:cxn>
                    <a:cxn ang="0">
                      <a:pos x="13" y="1"/>
                    </a:cxn>
                    <a:cxn ang="0">
                      <a:pos x="12" y="1"/>
                    </a:cxn>
                    <a:cxn ang="0">
                      <a:pos x="10" y="4"/>
                    </a:cxn>
                    <a:cxn ang="0">
                      <a:pos x="9" y="4"/>
                    </a:cxn>
                    <a:cxn ang="0">
                      <a:pos x="7" y="4"/>
                    </a:cxn>
                    <a:cxn ang="0">
                      <a:pos x="6" y="4"/>
                    </a:cxn>
                    <a:cxn ang="0">
                      <a:pos x="5" y="4"/>
                    </a:cxn>
                    <a:cxn ang="0">
                      <a:pos x="3" y="4"/>
                    </a:cxn>
                    <a:cxn ang="0">
                      <a:pos x="1" y="4"/>
                    </a:cxn>
                    <a:cxn ang="0">
                      <a:pos x="1" y="1"/>
                    </a:cxn>
                    <a:cxn ang="0">
                      <a:pos x="0" y="4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33" h="16">
                      <a:moveTo>
                        <a:pt x="0" y="4"/>
                      </a:move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0" y="9"/>
                      </a:lnTo>
                      <a:lnTo>
                        <a:pt x="1" y="9"/>
                      </a:lnTo>
                      <a:lnTo>
                        <a:pt x="3" y="9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6" y="12"/>
                      </a:lnTo>
                      <a:lnTo>
                        <a:pt x="7" y="12"/>
                      </a:lnTo>
                      <a:lnTo>
                        <a:pt x="7" y="15"/>
                      </a:lnTo>
                      <a:lnTo>
                        <a:pt x="8" y="15"/>
                      </a:lnTo>
                      <a:lnTo>
                        <a:pt x="10" y="15"/>
                      </a:lnTo>
                      <a:lnTo>
                        <a:pt x="12" y="15"/>
                      </a:lnTo>
                      <a:lnTo>
                        <a:pt x="13" y="15"/>
                      </a:lnTo>
                      <a:lnTo>
                        <a:pt x="15" y="15"/>
                      </a:lnTo>
                      <a:lnTo>
                        <a:pt x="17" y="15"/>
                      </a:lnTo>
                      <a:lnTo>
                        <a:pt x="20" y="12"/>
                      </a:lnTo>
                      <a:lnTo>
                        <a:pt x="22" y="12"/>
                      </a:lnTo>
                      <a:lnTo>
                        <a:pt x="24" y="12"/>
                      </a:lnTo>
                      <a:lnTo>
                        <a:pt x="25" y="12"/>
                      </a:lnTo>
                      <a:lnTo>
                        <a:pt x="27" y="12"/>
                      </a:lnTo>
                      <a:lnTo>
                        <a:pt x="29" y="12"/>
                      </a:lnTo>
                      <a:lnTo>
                        <a:pt x="31" y="12"/>
                      </a:lnTo>
                      <a:lnTo>
                        <a:pt x="32" y="9"/>
                      </a:lnTo>
                      <a:lnTo>
                        <a:pt x="31" y="9"/>
                      </a:lnTo>
                      <a:lnTo>
                        <a:pt x="31" y="7"/>
                      </a:lnTo>
                      <a:lnTo>
                        <a:pt x="29" y="7"/>
                      </a:lnTo>
                      <a:lnTo>
                        <a:pt x="28" y="7"/>
                      </a:lnTo>
                      <a:lnTo>
                        <a:pt x="28" y="4"/>
                      </a:lnTo>
                      <a:lnTo>
                        <a:pt x="26" y="7"/>
                      </a:lnTo>
                      <a:lnTo>
                        <a:pt x="25" y="7"/>
                      </a:lnTo>
                      <a:lnTo>
                        <a:pt x="24" y="9"/>
                      </a:lnTo>
                      <a:lnTo>
                        <a:pt x="22" y="9"/>
                      </a:lnTo>
                      <a:lnTo>
                        <a:pt x="20" y="9"/>
                      </a:lnTo>
                      <a:lnTo>
                        <a:pt x="19" y="9"/>
                      </a:lnTo>
                      <a:lnTo>
                        <a:pt x="18" y="9"/>
                      </a:lnTo>
                      <a:lnTo>
                        <a:pt x="17" y="9"/>
                      </a:lnTo>
                      <a:lnTo>
                        <a:pt x="17" y="7"/>
                      </a:lnTo>
                      <a:lnTo>
                        <a:pt x="16" y="7"/>
                      </a:lnTo>
                      <a:lnTo>
                        <a:pt x="16" y="4"/>
                      </a:lnTo>
                      <a:lnTo>
                        <a:pt x="16" y="1"/>
                      </a:lnTo>
                      <a:lnTo>
                        <a:pt x="16" y="0"/>
                      </a:lnTo>
                      <a:lnTo>
                        <a:pt x="14" y="1"/>
                      </a:lnTo>
                      <a:lnTo>
                        <a:pt x="13" y="1"/>
                      </a:lnTo>
                      <a:lnTo>
                        <a:pt x="12" y="1"/>
                      </a:lnTo>
                      <a:lnTo>
                        <a:pt x="10" y="4"/>
                      </a:lnTo>
                      <a:lnTo>
                        <a:pt x="9" y="4"/>
                      </a:lnTo>
                      <a:lnTo>
                        <a:pt x="7" y="4"/>
                      </a:lnTo>
                      <a:lnTo>
                        <a:pt x="6" y="4"/>
                      </a:lnTo>
                      <a:lnTo>
                        <a:pt x="5" y="4"/>
                      </a:lnTo>
                      <a:lnTo>
                        <a:pt x="3" y="4"/>
                      </a:lnTo>
                      <a:lnTo>
                        <a:pt x="1" y="4"/>
                      </a:lnTo>
                      <a:lnTo>
                        <a:pt x="1" y="1"/>
                      </a:lnTo>
                      <a:lnTo>
                        <a:pt x="0" y="4"/>
                      </a:lnTo>
                      <a:lnTo>
                        <a:pt x="0" y="4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64" name="Freeform 132"/>
                <p:cNvSpPr>
                  <a:spLocks/>
                </p:cNvSpPr>
                <p:nvPr/>
              </p:nvSpPr>
              <p:spPr bwMode="auto">
                <a:xfrm>
                  <a:off x="1071" y="3965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0" y="9"/>
                    </a:cxn>
                    <a:cxn ang="0">
                      <a:pos x="0" y="15"/>
                    </a:cxn>
                    <a:cxn ang="0">
                      <a:pos x="3" y="15"/>
                    </a:cxn>
                    <a:cxn ang="0">
                      <a:pos x="5" y="15"/>
                    </a:cxn>
                    <a:cxn ang="0">
                      <a:pos x="7" y="15"/>
                    </a:cxn>
                    <a:cxn ang="0">
                      <a:pos x="9" y="15"/>
                    </a:cxn>
                    <a:cxn ang="0">
                      <a:pos x="12" y="15"/>
                    </a:cxn>
                    <a:cxn ang="0">
                      <a:pos x="15" y="12"/>
                    </a:cxn>
                    <a:cxn ang="0">
                      <a:pos x="13" y="12"/>
                    </a:cxn>
                    <a:cxn ang="0">
                      <a:pos x="13" y="7"/>
                    </a:cxn>
                    <a:cxn ang="0">
                      <a:pos x="12" y="7"/>
                    </a:cxn>
                    <a:cxn ang="0">
                      <a:pos x="12" y="4"/>
                    </a:cxn>
                    <a:cxn ang="0">
                      <a:pos x="9" y="4"/>
                    </a:cxn>
                    <a:cxn ang="0">
                      <a:pos x="8" y="4"/>
                    </a:cxn>
                    <a:cxn ang="0">
                      <a:pos x="8" y="1"/>
                    </a:cxn>
                    <a:cxn ang="0">
                      <a:pos x="5" y="1"/>
                    </a:cxn>
                    <a:cxn ang="0">
                      <a:pos x="5" y="0"/>
                    </a:cxn>
                    <a:cxn ang="0">
                      <a:pos x="4" y="1"/>
                    </a:cxn>
                    <a:cxn ang="0">
                      <a:pos x="1" y="1"/>
                    </a:cxn>
                    <a:cxn ang="0">
                      <a:pos x="0" y="4"/>
                    </a:cxn>
                    <a:cxn ang="0">
                      <a:pos x="0" y="7"/>
                    </a:cxn>
                    <a:cxn ang="0">
                      <a:pos x="0" y="9"/>
                    </a:cxn>
                    <a:cxn ang="0">
                      <a:pos x="0" y="9"/>
                    </a:cxn>
                  </a:cxnLst>
                  <a:rect l="0" t="0" r="r" b="b"/>
                  <a:pathLst>
                    <a:path w="16" h="16">
                      <a:moveTo>
                        <a:pt x="0" y="9"/>
                      </a:moveTo>
                      <a:lnTo>
                        <a:pt x="0" y="15"/>
                      </a:lnTo>
                      <a:lnTo>
                        <a:pt x="3" y="15"/>
                      </a:lnTo>
                      <a:lnTo>
                        <a:pt x="5" y="15"/>
                      </a:lnTo>
                      <a:lnTo>
                        <a:pt x="7" y="15"/>
                      </a:lnTo>
                      <a:lnTo>
                        <a:pt x="9" y="15"/>
                      </a:lnTo>
                      <a:lnTo>
                        <a:pt x="12" y="15"/>
                      </a:lnTo>
                      <a:lnTo>
                        <a:pt x="15" y="12"/>
                      </a:lnTo>
                      <a:lnTo>
                        <a:pt x="13" y="12"/>
                      </a:lnTo>
                      <a:lnTo>
                        <a:pt x="13" y="7"/>
                      </a:lnTo>
                      <a:lnTo>
                        <a:pt x="12" y="7"/>
                      </a:lnTo>
                      <a:lnTo>
                        <a:pt x="12" y="4"/>
                      </a:lnTo>
                      <a:lnTo>
                        <a:pt x="9" y="4"/>
                      </a:lnTo>
                      <a:lnTo>
                        <a:pt x="8" y="4"/>
                      </a:lnTo>
                      <a:lnTo>
                        <a:pt x="8" y="1"/>
                      </a:lnTo>
                      <a:lnTo>
                        <a:pt x="5" y="1"/>
                      </a:lnTo>
                      <a:lnTo>
                        <a:pt x="5" y="0"/>
                      </a:lnTo>
                      <a:lnTo>
                        <a:pt x="4" y="1"/>
                      </a:lnTo>
                      <a:lnTo>
                        <a:pt x="1" y="1"/>
                      </a:lnTo>
                      <a:lnTo>
                        <a:pt x="0" y="4"/>
                      </a:lnTo>
                      <a:lnTo>
                        <a:pt x="0" y="7"/>
                      </a:lnTo>
                      <a:lnTo>
                        <a:pt x="0" y="9"/>
                      </a:lnTo>
                      <a:lnTo>
                        <a:pt x="0" y="9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65" name="Freeform 133"/>
                <p:cNvSpPr>
                  <a:spLocks/>
                </p:cNvSpPr>
                <p:nvPr/>
              </p:nvSpPr>
              <p:spPr bwMode="auto">
                <a:xfrm>
                  <a:off x="1145" y="3852"/>
                  <a:ext cx="20" cy="38"/>
                </a:xfrm>
                <a:custGeom>
                  <a:avLst/>
                  <a:gdLst/>
                  <a:ahLst/>
                  <a:cxnLst>
                    <a:cxn ang="0">
                      <a:pos x="17" y="1"/>
                    </a:cxn>
                    <a:cxn ang="0">
                      <a:pos x="19" y="0"/>
                    </a:cxn>
                    <a:cxn ang="0">
                      <a:pos x="18" y="8"/>
                    </a:cxn>
                    <a:cxn ang="0">
                      <a:pos x="18" y="12"/>
                    </a:cxn>
                    <a:cxn ang="0">
                      <a:pos x="18" y="17"/>
                    </a:cxn>
                    <a:cxn ang="0">
                      <a:pos x="18" y="24"/>
                    </a:cxn>
                    <a:cxn ang="0">
                      <a:pos x="18" y="27"/>
                    </a:cxn>
                    <a:cxn ang="0">
                      <a:pos x="18" y="30"/>
                    </a:cxn>
                    <a:cxn ang="0">
                      <a:pos x="17" y="33"/>
                    </a:cxn>
                    <a:cxn ang="0">
                      <a:pos x="14" y="36"/>
                    </a:cxn>
                    <a:cxn ang="0">
                      <a:pos x="6" y="37"/>
                    </a:cxn>
                    <a:cxn ang="0">
                      <a:pos x="0" y="33"/>
                    </a:cxn>
                    <a:cxn ang="0">
                      <a:pos x="17" y="1"/>
                    </a:cxn>
                  </a:cxnLst>
                  <a:rect l="0" t="0" r="r" b="b"/>
                  <a:pathLst>
                    <a:path w="20" h="38">
                      <a:moveTo>
                        <a:pt x="17" y="1"/>
                      </a:moveTo>
                      <a:lnTo>
                        <a:pt x="19" y="0"/>
                      </a:lnTo>
                      <a:lnTo>
                        <a:pt x="18" y="8"/>
                      </a:lnTo>
                      <a:lnTo>
                        <a:pt x="18" y="12"/>
                      </a:lnTo>
                      <a:lnTo>
                        <a:pt x="18" y="17"/>
                      </a:lnTo>
                      <a:lnTo>
                        <a:pt x="18" y="24"/>
                      </a:lnTo>
                      <a:lnTo>
                        <a:pt x="18" y="27"/>
                      </a:lnTo>
                      <a:lnTo>
                        <a:pt x="18" y="30"/>
                      </a:lnTo>
                      <a:lnTo>
                        <a:pt x="17" y="33"/>
                      </a:lnTo>
                      <a:lnTo>
                        <a:pt x="14" y="36"/>
                      </a:lnTo>
                      <a:lnTo>
                        <a:pt x="6" y="37"/>
                      </a:lnTo>
                      <a:lnTo>
                        <a:pt x="0" y="33"/>
                      </a:lnTo>
                      <a:lnTo>
                        <a:pt x="17" y="1"/>
                      </a:lnTo>
                    </a:path>
                  </a:pathLst>
                </a:custGeom>
                <a:solidFill>
                  <a:srgbClr val="9A9A9A"/>
                </a:solidFill>
                <a:ln w="12700" cap="rnd" cmpd="sng">
                  <a:solidFill>
                    <a:srgbClr val="9A9A9A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66" name="Freeform 134"/>
                <p:cNvSpPr>
                  <a:spLocks/>
                </p:cNvSpPr>
                <p:nvPr/>
              </p:nvSpPr>
              <p:spPr bwMode="auto">
                <a:xfrm>
                  <a:off x="1168" y="3812"/>
                  <a:ext cx="16" cy="22"/>
                </a:xfrm>
                <a:custGeom>
                  <a:avLst/>
                  <a:gdLst/>
                  <a:ahLst/>
                  <a:cxnLst>
                    <a:cxn ang="0">
                      <a:pos x="7" y="3"/>
                    </a:cxn>
                    <a:cxn ang="0">
                      <a:pos x="5" y="3"/>
                    </a:cxn>
                    <a:cxn ang="0">
                      <a:pos x="3" y="5"/>
                    </a:cxn>
                    <a:cxn ang="0">
                      <a:pos x="3" y="6"/>
                    </a:cxn>
                    <a:cxn ang="0">
                      <a:pos x="5" y="8"/>
                    </a:cxn>
                    <a:cxn ang="0">
                      <a:pos x="0" y="13"/>
                    </a:cxn>
                    <a:cxn ang="0">
                      <a:pos x="0" y="17"/>
                    </a:cxn>
                    <a:cxn ang="0">
                      <a:pos x="15" y="21"/>
                    </a:cxn>
                    <a:cxn ang="0">
                      <a:pos x="15" y="12"/>
                    </a:cxn>
                    <a:cxn ang="0">
                      <a:pos x="15" y="8"/>
                    </a:cxn>
                    <a:cxn ang="0">
                      <a:pos x="15" y="4"/>
                    </a:cxn>
                    <a:cxn ang="0">
                      <a:pos x="15" y="0"/>
                    </a:cxn>
                    <a:cxn ang="0">
                      <a:pos x="7" y="3"/>
                    </a:cxn>
                  </a:cxnLst>
                  <a:rect l="0" t="0" r="r" b="b"/>
                  <a:pathLst>
                    <a:path w="16" h="22">
                      <a:moveTo>
                        <a:pt x="7" y="3"/>
                      </a:moveTo>
                      <a:lnTo>
                        <a:pt x="5" y="3"/>
                      </a:lnTo>
                      <a:lnTo>
                        <a:pt x="3" y="5"/>
                      </a:lnTo>
                      <a:lnTo>
                        <a:pt x="3" y="6"/>
                      </a:lnTo>
                      <a:lnTo>
                        <a:pt x="5" y="8"/>
                      </a:lnTo>
                      <a:lnTo>
                        <a:pt x="0" y="13"/>
                      </a:lnTo>
                      <a:lnTo>
                        <a:pt x="0" y="17"/>
                      </a:lnTo>
                      <a:lnTo>
                        <a:pt x="15" y="21"/>
                      </a:lnTo>
                      <a:lnTo>
                        <a:pt x="15" y="12"/>
                      </a:lnTo>
                      <a:lnTo>
                        <a:pt x="15" y="8"/>
                      </a:lnTo>
                      <a:lnTo>
                        <a:pt x="15" y="4"/>
                      </a:lnTo>
                      <a:lnTo>
                        <a:pt x="15" y="0"/>
                      </a:lnTo>
                      <a:lnTo>
                        <a:pt x="7" y="3"/>
                      </a:lnTo>
                    </a:path>
                  </a:pathLst>
                </a:custGeom>
                <a:solidFill>
                  <a:srgbClr val="9A9A9A"/>
                </a:solidFill>
                <a:ln w="12700" cap="rnd" cmpd="sng">
                  <a:solidFill>
                    <a:srgbClr val="9A9A9A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67" name="Freeform 135"/>
                <p:cNvSpPr>
                  <a:spLocks/>
                </p:cNvSpPr>
                <p:nvPr/>
              </p:nvSpPr>
              <p:spPr bwMode="auto">
                <a:xfrm>
                  <a:off x="964" y="3653"/>
                  <a:ext cx="235" cy="295"/>
                </a:xfrm>
                <a:custGeom>
                  <a:avLst/>
                  <a:gdLst/>
                  <a:ahLst/>
                  <a:cxnLst>
                    <a:cxn ang="0">
                      <a:pos x="156" y="2"/>
                    </a:cxn>
                    <a:cxn ang="0">
                      <a:pos x="184" y="17"/>
                    </a:cxn>
                    <a:cxn ang="0">
                      <a:pos x="190" y="22"/>
                    </a:cxn>
                    <a:cxn ang="0">
                      <a:pos x="195" y="25"/>
                    </a:cxn>
                    <a:cxn ang="0">
                      <a:pos x="201" y="30"/>
                    </a:cxn>
                    <a:cxn ang="0">
                      <a:pos x="209" y="40"/>
                    </a:cxn>
                    <a:cxn ang="0">
                      <a:pos x="217" y="51"/>
                    </a:cxn>
                    <a:cxn ang="0">
                      <a:pos x="218" y="62"/>
                    </a:cxn>
                    <a:cxn ang="0">
                      <a:pos x="218" y="69"/>
                    </a:cxn>
                    <a:cxn ang="0">
                      <a:pos x="218" y="75"/>
                    </a:cxn>
                    <a:cxn ang="0">
                      <a:pos x="218" y="81"/>
                    </a:cxn>
                    <a:cxn ang="0">
                      <a:pos x="215" y="86"/>
                    </a:cxn>
                    <a:cxn ang="0">
                      <a:pos x="212" y="91"/>
                    </a:cxn>
                    <a:cxn ang="0">
                      <a:pos x="212" y="99"/>
                    </a:cxn>
                    <a:cxn ang="0">
                      <a:pos x="212" y="108"/>
                    </a:cxn>
                    <a:cxn ang="0">
                      <a:pos x="218" y="122"/>
                    </a:cxn>
                    <a:cxn ang="0">
                      <a:pos x="223" y="127"/>
                    </a:cxn>
                    <a:cxn ang="0">
                      <a:pos x="228" y="134"/>
                    </a:cxn>
                    <a:cxn ang="0">
                      <a:pos x="233" y="140"/>
                    </a:cxn>
                    <a:cxn ang="0">
                      <a:pos x="234" y="145"/>
                    </a:cxn>
                    <a:cxn ang="0">
                      <a:pos x="234" y="153"/>
                    </a:cxn>
                    <a:cxn ang="0">
                      <a:pos x="227" y="156"/>
                    </a:cxn>
                    <a:cxn ang="0">
                      <a:pos x="219" y="158"/>
                    </a:cxn>
                    <a:cxn ang="0">
                      <a:pos x="213" y="156"/>
                    </a:cxn>
                    <a:cxn ang="0">
                      <a:pos x="207" y="161"/>
                    </a:cxn>
                    <a:cxn ang="0">
                      <a:pos x="204" y="168"/>
                    </a:cxn>
                    <a:cxn ang="0">
                      <a:pos x="204" y="175"/>
                    </a:cxn>
                    <a:cxn ang="0">
                      <a:pos x="204" y="195"/>
                    </a:cxn>
                    <a:cxn ang="0">
                      <a:pos x="196" y="200"/>
                    </a:cxn>
                    <a:cxn ang="0">
                      <a:pos x="194" y="208"/>
                    </a:cxn>
                    <a:cxn ang="0">
                      <a:pos x="194" y="223"/>
                    </a:cxn>
                    <a:cxn ang="0">
                      <a:pos x="187" y="228"/>
                    </a:cxn>
                    <a:cxn ang="0">
                      <a:pos x="192" y="231"/>
                    </a:cxn>
                    <a:cxn ang="0">
                      <a:pos x="190" y="233"/>
                    </a:cxn>
                    <a:cxn ang="0">
                      <a:pos x="182" y="238"/>
                    </a:cxn>
                    <a:cxn ang="0">
                      <a:pos x="160" y="236"/>
                    </a:cxn>
                    <a:cxn ang="0">
                      <a:pos x="136" y="235"/>
                    </a:cxn>
                    <a:cxn ang="0">
                      <a:pos x="134" y="237"/>
                    </a:cxn>
                    <a:cxn ang="0">
                      <a:pos x="122" y="247"/>
                    </a:cxn>
                    <a:cxn ang="0">
                      <a:pos x="118" y="248"/>
                    </a:cxn>
                    <a:cxn ang="0">
                      <a:pos x="107" y="259"/>
                    </a:cxn>
                    <a:cxn ang="0">
                      <a:pos x="101" y="267"/>
                    </a:cxn>
                    <a:cxn ang="0">
                      <a:pos x="92" y="273"/>
                    </a:cxn>
                    <a:cxn ang="0">
                      <a:pos x="88" y="279"/>
                    </a:cxn>
                    <a:cxn ang="0">
                      <a:pos x="84" y="284"/>
                    </a:cxn>
                    <a:cxn ang="0">
                      <a:pos x="74" y="294"/>
                    </a:cxn>
                    <a:cxn ang="0">
                      <a:pos x="27" y="241"/>
                    </a:cxn>
                    <a:cxn ang="0">
                      <a:pos x="16" y="234"/>
                    </a:cxn>
                    <a:cxn ang="0">
                      <a:pos x="15" y="204"/>
                    </a:cxn>
                    <a:cxn ang="0">
                      <a:pos x="8" y="180"/>
                    </a:cxn>
                    <a:cxn ang="0">
                      <a:pos x="5" y="165"/>
                    </a:cxn>
                    <a:cxn ang="0">
                      <a:pos x="0" y="140"/>
                    </a:cxn>
                    <a:cxn ang="0">
                      <a:pos x="1" y="117"/>
                    </a:cxn>
                    <a:cxn ang="0">
                      <a:pos x="12" y="99"/>
                    </a:cxn>
                    <a:cxn ang="0">
                      <a:pos x="17" y="80"/>
                    </a:cxn>
                    <a:cxn ang="0">
                      <a:pos x="32" y="62"/>
                    </a:cxn>
                    <a:cxn ang="0">
                      <a:pos x="46" y="51"/>
                    </a:cxn>
                    <a:cxn ang="0">
                      <a:pos x="100" y="19"/>
                    </a:cxn>
                    <a:cxn ang="0">
                      <a:pos x="124" y="6"/>
                    </a:cxn>
                    <a:cxn ang="0">
                      <a:pos x="147" y="0"/>
                    </a:cxn>
                    <a:cxn ang="0">
                      <a:pos x="154" y="1"/>
                    </a:cxn>
                    <a:cxn ang="0">
                      <a:pos x="156" y="2"/>
                    </a:cxn>
                  </a:cxnLst>
                  <a:rect l="0" t="0" r="r" b="b"/>
                  <a:pathLst>
                    <a:path w="235" h="295">
                      <a:moveTo>
                        <a:pt x="156" y="2"/>
                      </a:moveTo>
                      <a:lnTo>
                        <a:pt x="184" y="17"/>
                      </a:lnTo>
                      <a:lnTo>
                        <a:pt x="190" y="22"/>
                      </a:lnTo>
                      <a:lnTo>
                        <a:pt x="195" y="25"/>
                      </a:lnTo>
                      <a:lnTo>
                        <a:pt x="201" y="30"/>
                      </a:lnTo>
                      <a:lnTo>
                        <a:pt x="209" y="40"/>
                      </a:lnTo>
                      <a:lnTo>
                        <a:pt x="217" y="51"/>
                      </a:lnTo>
                      <a:lnTo>
                        <a:pt x="218" y="62"/>
                      </a:lnTo>
                      <a:lnTo>
                        <a:pt x="218" y="69"/>
                      </a:lnTo>
                      <a:lnTo>
                        <a:pt x="218" y="75"/>
                      </a:lnTo>
                      <a:lnTo>
                        <a:pt x="218" y="81"/>
                      </a:lnTo>
                      <a:lnTo>
                        <a:pt x="215" y="86"/>
                      </a:lnTo>
                      <a:lnTo>
                        <a:pt x="212" y="91"/>
                      </a:lnTo>
                      <a:lnTo>
                        <a:pt x="212" y="99"/>
                      </a:lnTo>
                      <a:lnTo>
                        <a:pt x="212" y="108"/>
                      </a:lnTo>
                      <a:lnTo>
                        <a:pt x="218" y="122"/>
                      </a:lnTo>
                      <a:lnTo>
                        <a:pt x="223" y="127"/>
                      </a:lnTo>
                      <a:lnTo>
                        <a:pt x="228" y="134"/>
                      </a:lnTo>
                      <a:lnTo>
                        <a:pt x="233" y="140"/>
                      </a:lnTo>
                      <a:lnTo>
                        <a:pt x="234" y="145"/>
                      </a:lnTo>
                      <a:lnTo>
                        <a:pt x="234" y="153"/>
                      </a:lnTo>
                      <a:lnTo>
                        <a:pt x="227" y="156"/>
                      </a:lnTo>
                      <a:lnTo>
                        <a:pt x="219" y="158"/>
                      </a:lnTo>
                      <a:lnTo>
                        <a:pt x="213" y="156"/>
                      </a:lnTo>
                      <a:lnTo>
                        <a:pt x="207" y="161"/>
                      </a:lnTo>
                      <a:lnTo>
                        <a:pt x="204" y="168"/>
                      </a:lnTo>
                      <a:lnTo>
                        <a:pt x="204" y="175"/>
                      </a:lnTo>
                      <a:lnTo>
                        <a:pt x="204" y="195"/>
                      </a:lnTo>
                      <a:lnTo>
                        <a:pt x="196" y="200"/>
                      </a:lnTo>
                      <a:lnTo>
                        <a:pt x="194" y="208"/>
                      </a:lnTo>
                      <a:lnTo>
                        <a:pt x="194" y="223"/>
                      </a:lnTo>
                      <a:lnTo>
                        <a:pt x="187" y="228"/>
                      </a:lnTo>
                      <a:lnTo>
                        <a:pt x="192" y="231"/>
                      </a:lnTo>
                      <a:lnTo>
                        <a:pt x="190" y="233"/>
                      </a:lnTo>
                      <a:lnTo>
                        <a:pt x="182" y="238"/>
                      </a:lnTo>
                      <a:lnTo>
                        <a:pt x="160" y="236"/>
                      </a:lnTo>
                      <a:lnTo>
                        <a:pt x="136" y="235"/>
                      </a:lnTo>
                      <a:lnTo>
                        <a:pt x="134" y="237"/>
                      </a:lnTo>
                      <a:lnTo>
                        <a:pt x="122" y="247"/>
                      </a:lnTo>
                      <a:lnTo>
                        <a:pt x="118" y="248"/>
                      </a:lnTo>
                      <a:lnTo>
                        <a:pt x="107" y="259"/>
                      </a:lnTo>
                      <a:lnTo>
                        <a:pt x="101" y="267"/>
                      </a:lnTo>
                      <a:lnTo>
                        <a:pt x="92" y="273"/>
                      </a:lnTo>
                      <a:lnTo>
                        <a:pt x="88" y="279"/>
                      </a:lnTo>
                      <a:lnTo>
                        <a:pt x="84" y="284"/>
                      </a:lnTo>
                      <a:lnTo>
                        <a:pt x="74" y="294"/>
                      </a:lnTo>
                      <a:lnTo>
                        <a:pt x="27" y="241"/>
                      </a:lnTo>
                      <a:lnTo>
                        <a:pt x="16" y="234"/>
                      </a:lnTo>
                      <a:lnTo>
                        <a:pt x="15" y="204"/>
                      </a:lnTo>
                      <a:lnTo>
                        <a:pt x="8" y="180"/>
                      </a:lnTo>
                      <a:lnTo>
                        <a:pt x="5" y="165"/>
                      </a:lnTo>
                      <a:lnTo>
                        <a:pt x="0" y="140"/>
                      </a:lnTo>
                      <a:lnTo>
                        <a:pt x="1" y="117"/>
                      </a:lnTo>
                      <a:lnTo>
                        <a:pt x="12" y="99"/>
                      </a:lnTo>
                      <a:lnTo>
                        <a:pt x="17" y="80"/>
                      </a:lnTo>
                      <a:lnTo>
                        <a:pt x="32" y="62"/>
                      </a:lnTo>
                      <a:lnTo>
                        <a:pt x="46" y="51"/>
                      </a:lnTo>
                      <a:lnTo>
                        <a:pt x="100" y="19"/>
                      </a:lnTo>
                      <a:lnTo>
                        <a:pt x="124" y="6"/>
                      </a:lnTo>
                      <a:lnTo>
                        <a:pt x="147" y="0"/>
                      </a:lnTo>
                      <a:lnTo>
                        <a:pt x="154" y="1"/>
                      </a:lnTo>
                      <a:lnTo>
                        <a:pt x="156" y="2"/>
                      </a:lnTo>
                    </a:path>
                  </a:pathLst>
                </a:custGeom>
                <a:solidFill>
                  <a:srgbClr val="8D8D8D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68" name="Freeform 136"/>
                <p:cNvSpPr>
                  <a:spLocks/>
                </p:cNvSpPr>
                <p:nvPr/>
              </p:nvSpPr>
              <p:spPr bwMode="auto">
                <a:xfrm>
                  <a:off x="1015" y="3837"/>
                  <a:ext cx="149" cy="116"/>
                </a:xfrm>
                <a:custGeom>
                  <a:avLst/>
                  <a:gdLst/>
                  <a:ahLst/>
                  <a:cxnLst>
                    <a:cxn ang="0">
                      <a:pos x="13" y="14"/>
                    </a:cxn>
                    <a:cxn ang="0">
                      <a:pos x="17" y="18"/>
                    </a:cxn>
                    <a:cxn ang="0">
                      <a:pos x="22" y="21"/>
                    </a:cxn>
                    <a:cxn ang="0">
                      <a:pos x="34" y="25"/>
                    </a:cxn>
                    <a:cxn ang="0">
                      <a:pos x="49" y="29"/>
                    </a:cxn>
                    <a:cxn ang="0">
                      <a:pos x="68" y="27"/>
                    </a:cxn>
                    <a:cxn ang="0">
                      <a:pos x="84" y="25"/>
                    </a:cxn>
                    <a:cxn ang="0">
                      <a:pos x="92" y="25"/>
                    </a:cxn>
                    <a:cxn ang="0">
                      <a:pos x="99" y="29"/>
                    </a:cxn>
                    <a:cxn ang="0">
                      <a:pos x="109" y="38"/>
                    </a:cxn>
                    <a:cxn ang="0">
                      <a:pos x="118" y="45"/>
                    </a:cxn>
                    <a:cxn ang="0">
                      <a:pos x="126" y="47"/>
                    </a:cxn>
                    <a:cxn ang="0">
                      <a:pos x="136" y="45"/>
                    </a:cxn>
                    <a:cxn ang="0">
                      <a:pos x="143" y="46"/>
                    </a:cxn>
                    <a:cxn ang="0">
                      <a:pos x="146" y="43"/>
                    </a:cxn>
                    <a:cxn ang="0">
                      <a:pos x="148" y="39"/>
                    </a:cxn>
                    <a:cxn ang="0">
                      <a:pos x="148" y="45"/>
                    </a:cxn>
                    <a:cxn ang="0">
                      <a:pos x="146" y="49"/>
                    </a:cxn>
                    <a:cxn ang="0">
                      <a:pos x="143" y="52"/>
                    </a:cxn>
                    <a:cxn ang="0">
                      <a:pos x="136" y="55"/>
                    </a:cxn>
                    <a:cxn ang="0">
                      <a:pos x="130" y="57"/>
                    </a:cxn>
                    <a:cxn ang="0">
                      <a:pos x="120" y="57"/>
                    </a:cxn>
                    <a:cxn ang="0">
                      <a:pos x="107" y="58"/>
                    </a:cxn>
                    <a:cxn ang="0">
                      <a:pos x="98" y="60"/>
                    </a:cxn>
                    <a:cxn ang="0">
                      <a:pos x="77" y="65"/>
                    </a:cxn>
                    <a:cxn ang="0">
                      <a:pos x="57" y="79"/>
                    </a:cxn>
                    <a:cxn ang="0">
                      <a:pos x="40" y="99"/>
                    </a:cxn>
                    <a:cxn ang="0">
                      <a:pos x="37" y="110"/>
                    </a:cxn>
                    <a:cxn ang="0">
                      <a:pos x="35" y="115"/>
                    </a:cxn>
                    <a:cxn ang="0">
                      <a:pos x="22" y="105"/>
                    </a:cxn>
                    <a:cxn ang="0">
                      <a:pos x="15" y="94"/>
                    </a:cxn>
                    <a:cxn ang="0">
                      <a:pos x="28" y="98"/>
                    </a:cxn>
                    <a:cxn ang="0">
                      <a:pos x="37" y="92"/>
                    </a:cxn>
                    <a:cxn ang="0">
                      <a:pos x="51" y="81"/>
                    </a:cxn>
                    <a:cxn ang="0">
                      <a:pos x="52" y="75"/>
                    </a:cxn>
                    <a:cxn ang="0">
                      <a:pos x="52" y="70"/>
                    </a:cxn>
                    <a:cxn ang="0">
                      <a:pos x="57" y="64"/>
                    </a:cxn>
                    <a:cxn ang="0">
                      <a:pos x="60" y="63"/>
                    </a:cxn>
                    <a:cxn ang="0">
                      <a:pos x="65" y="61"/>
                    </a:cxn>
                    <a:cxn ang="0">
                      <a:pos x="67" y="58"/>
                    </a:cxn>
                    <a:cxn ang="0">
                      <a:pos x="68" y="57"/>
                    </a:cxn>
                    <a:cxn ang="0">
                      <a:pos x="73" y="57"/>
                    </a:cxn>
                    <a:cxn ang="0">
                      <a:pos x="75" y="52"/>
                    </a:cxn>
                    <a:cxn ang="0">
                      <a:pos x="83" y="51"/>
                    </a:cxn>
                    <a:cxn ang="0">
                      <a:pos x="67" y="42"/>
                    </a:cxn>
                    <a:cxn ang="0">
                      <a:pos x="59" y="37"/>
                    </a:cxn>
                    <a:cxn ang="0">
                      <a:pos x="51" y="34"/>
                    </a:cxn>
                    <a:cxn ang="0">
                      <a:pos x="45" y="33"/>
                    </a:cxn>
                    <a:cxn ang="0">
                      <a:pos x="41" y="32"/>
                    </a:cxn>
                    <a:cxn ang="0">
                      <a:pos x="35" y="29"/>
                    </a:cxn>
                    <a:cxn ang="0">
                      <a:pos x="32" y="29"/>
                    </a:cxn>
                    <a:cxn ang="0">
                      <a:pos x="27" y="28"/>
                    </a:cxn>
                    <a:cxn ang="0">
                      <a:pos x="0" y="15"/>
                    </a:cxn>
                    <a:cxn ang="0">
                      <a:pos x="11" y="0"/>
                    </a:cxn>
                    <a:cxn ang="0">
                      <a:pos x="13" y="14"/>
                    </a:cxn>
                  </a:cxnLst>
                  <a:rect l="0" t="0" r="r" b="b"/>
                  <a:pathLst>
                    <a:path w="149" h="116">
                      <a:moveTo>
                        <a:pt x="13" y="14"/>
                      </a:moveTo>
                      <a:lnTo>
                        <a:pt x="17" y="18"/>
                      </a:lnTo>
                      <a:lnTo>
                        <a:pt x="22" y="21"/>
                      </a:lnTo>
                      <a:lnTo>
                        <a:pt x="34" y="25"/>
                      </a:lnTo>
                      <a:lnTo>
                        <a:pt x="49" y="29"/>
                      </a:lnTo>
                      <a:lnTo>
                        <a:pt x="68" y="27"/>
                      </a:lnTo>
                      <a:lnTo>
                        <a:pt x="84" y="25"/>
                      </a:lnTo>
                      <a:lnTo>
                        <a:pt x="92" y="25"/>
                      </a:lnTo>
                      <a:lnTo>
                        <a:pt x="99" y="29"/>
                      </a:lnTo>
                      <a:lnTo>
                        <a:pt x="109" y="38"/>
                      </a:lnTo>
                      <a:lnTo>
                        <a:pt x="118" y="45"/>
                      </a:lnTo>
                      <a:lnTo>
                        <a:pt x="126" y="47"/>
                      </a:lnTo>
                      <a:lnTo>
                        <a:pt x="136" y="45"/>
                      </a:lnTo>
                      <a:lnTo>
                        <a:pt x="143" y="46"/>
                      </a:lnTo>
                      <a:lnTo>
                        <a:pt x="146" y="43"/>
                      </a:lnTo>
                      <a:lnTo>
                        <a:pt x="148" y="39"/>
                      </a:lnTo>
                      <a:lnTo>
                        <a:pt x="148" y="45"/>
                      </a:lnTo>
                      <a:lnTo>
                        <a:pt x="146" y="49"/>
                      </a:lnTo>
                      <a:lnTo>
                        <a:pt x="143" y="52"/>
                      </a:lnTo>
                      <a:lnTo>
                        <a:pt x="136" y="55"/>
                      </a:lnTo>
                      <a:lnTo>
                        <a:pt x="130" y="57"/>
                      </a:lnTo>
                      <a:lnTo>
                        <a:pt x="120" y="57"/>
                      </a:lnTo>
                      <a:lnTo>
                        <a:pt x="107" y="58"/>
                      </a:lnTo>
                      <a:lnTo>
                        <a:pt x="98" y="60"/>
                      </a:lnTo>
                      <a:lnTo>
                        <a:pt x="77" y="65"/>
                      </a:lnTo>
                      <a:lnTo>
                        <a:pt x="57" y="79"/>
                      </a:lnTo>
                      <a:lnTo>
                        <a:pt x="40" y="99"/>
                      </a:lnTo>
                      <a:lnTo>
                        <a:pt x="37" y="110"/>
                      </a:lnTo>
                      <a:lnTo>
                        <a:pt x="35" y="115"/>
                      </a:lnTo>
                      <a:lnTo>
                        <a:pt x="22" y="105"/>
                      </a:lnTo>
                      <a:lnTo>
                        <a:pt x="15" y="94"/>
                      </a:lnTo>
                      <a:lnTo>
                        <a:pt x="28" y="98"/>
                      </a:lnTo>
                      <a:lnTo>
                        <a:pt x="37" y="92"/>
                      </a:lnTo>
                      <a:lnTo>
                        <a:pt x="51" y="81"/>
                      </a:lnTo>
                      <a:lnTo>
                        <a:pt x="52" y="75"/>
                      </a:lnTo>
                      <a:lnTo>
                        <a:pt x="52" y="70"/>
                      </a:lnTo>
                      <a:lnTo>
                        <a:pt x="57" y="64"/>
                      </a:lnTo>
                      <a:lnTo>
                        <a:pt x="60" y="63"/>
                      </a:lnTo>
                      <a:lnTo>
                        <a:pt x="65" y="61"/>
                      </a:lnTo>
                      <a:lnTo>
                        <a:pt x="67" y="58"/>
                      </a:lnTo>
                      <a:lnTo>
                        <a:pt x="68" y="57"/>
                      </a:lnTo>
                      <a:lnTo>
                        <a:pt x="73" y="57"/>
                      </a:lnTo>
                      <a:lnTo>
                        <a:pt x="75" y="52"/>
                      </a:lnTo>
                      <a:lnTo>
                        <a:pt x="83" y="51"/>
                      </a:lnTo>
                      <a:lnTo>
                        <a:pt x="67" y="42"/>
                      </a:lnTo>
                      <a:lnTo>
                        <a:pt x="59" y="37"/>
                      </a:lnTo>
                      <a:lnTo>
                        <a:pt x="51" y="34"/>
                      </a:lnTo>
                      <a:lnTo>
                        <a:pt x="45" y="33"/>
                      </a:lnTo>
                      <a:lnTo>
                        <a:pt x="41" y="32"/>
                      </a:lnTo>
                      <a:lnTo>
                        <a:pt x="35" y="29"/>
                      </a:lnTo>
                      <a:lnTo>
                        <a:pt x="32" y="29"/>
                      </a:lnTo>
                      <a:lnTo>
                        <a:pt x="27" y="28"/>
                      </a:lnTo>
                      <a:lnTo>
                        <a:pt x="0" y="15"/>
                      </a:lnTo>
                      <a:lnTo>
                        <a:pt x="11" y="0"/>
                      </a:lnTo>
                      <a:lnTo>
                        <a:pt x="13" y="14"/>
                      </a:lnTo>
                    </a:path>
                  </a:pathLst>
                </a:custGeom>
                <a:solidFill>
                  <a:srgbClr val="646464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69" name="Freeform 137"/>
                <p:cNvSpPr>
                  <a:spLocks/>
                </p:cNvSpPr>
                <p:nvPr/>
              </p:nvSpPr>
              <p:spPr bwMode="auto">
                <a:xfrm>
                  <a:off x="974" y="3758"/>
                  <a:ext cx="20" cy="30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4" y="8"/>
                    </a:cxn>
                    <a:cxn ang="0">
                      <a:pos x="6" y="12"/>
                    </a:cxn>
                    <a:cxn ang="0">
                      <a:pos x="11" y="12"/>
                    </a:cxn>
                    <a:cxn ang="0">
                      <a:pos x="15" y="8"/>
                    </a:cxn>
                    <a:cxn ang="0">
                      <a:pos x="14" y="16"/>
                    </a:cxn>
                    <a:cxn ang="0">
                      <a:pos x="15" y="24"/>
                    </a:cxn>
                    <a:cxn ang="0">
                      <a:pos x="19" y="29"/>
                    </a:cxn>
                    <a:cxn ang="0">
                      <a:pos x="9" y="27"/>
                    </a:cxn>
                    <a:cxn ang="0">
                      <a:pos x="4" y="24"/>
                    </a:cxn>
                    <a:cxn ang="0">
                      <a:pos x="0" y="16"/>
                    </a:cxn>
                    <a:cxn ang="0">
                      <a:pos x="0" y="3"/>
                    </a:cxn>
                    <a:cxn ang="0">
                      <a:pos x="10" y="0"/>
                    </a:cxn>
                  </a:cxnLst>
                  <a:rect l="0" t="0" r="r" b="b"/>
                  <a:pathLst>
                    <a:path w="20" h="30">
                      <a:moveTo>
                        <a:pt x="10" y="0"/>
                      </a:moveTo>
                      <a:lnTo>
                        <a:pt x="4" y="8"/>
                      </a:lnTo>
                      <a:lnTo>
                        <a:pt x="6" y="12"/>
                      </a:lnTo>
                      <a:lnTo>
                        <a:pt x="11" y="12"/>
                      </a:lnTo>
                      <a:lnTo>
                        <a:pt x="15" y="8"/>
                      </a:lnTo>
                      <a:lnTo>
                        <a:pt x="14" y="16"/>
                      </a:lnTo>
                      <a:lnTo>
                        <a:pt x="15" y="24"/>
                      </a:lnTo>
                      <a:lnTo>
                        <a:pt x="19" y="29"/>
                      </a:lnTo>
                      <a:lnTo>
                        <a:pt x="9" y="27"/>
                      </a:lnTo>
                      <a:lnTo>
                        <a:pt x="4" y="24"/>
                      </a:lnTo>
                      <a:lnTo>
                        <a:pt x="0" y="16"/>
                      </a:lnTo>
                      <a:lnTo>
                        <a:pt x="0" y="3"/>
                      </a:lnTo>
                      <a:lnTo>
                        <a:pt x="1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70" name="Freeform 138"/>
                <p:cNvSpPr>
                  <a:spLocks/>
                </p:cNvSpPr>
                <p:nvPr/>
              </p:nvSpPr>
              <p:spPr bwMode="auto">
                <a:xfrm>
                  <a:off x="1123" y="3781"/>
                  <a:ext cx="50" cy="50"/>
                </a:xfrm>
                <a:custGeom>
                  <a:avLst/>
                  <a:gdLst/>
                  <a:ahLst/>
                  <a:cxnLst>
                    <a:cxn ang="0">
                      <a:pos x="36" y="7"/>
                    </a:cxn>
                    <a:cxn ang="0">
                      <a:pos x="34" y="12"/>
                    </a:cxn>
                    <a:cxn ang="0">
                      <a:pos x="35" y="14"/>
                    </a:cxn>
                    <a:cxn ang="0">
                      <a:pos x="43" y="12"/>
                    </a:cxn>
                    <a:cxn ang="0">
                      <a:pos x="48" y="9"/>
                    </a:cxn>
                    <a:cxn ang="0">
                      <a:pos x="49" y="7"/>
                    </a:cxn>
                    <a:cxn ang="0">
                      <a:pos x="48" y="4"/>
                    </a:cxn>
                    <a:cxn ang="0">
                      <a:pos x="45" y="1"/>
                    </a:cxn>
                    <a:cxn ang="0">
                      <a:pos x="40" y="0"/>
                    </a:cxn>
                    <a:cxn ang="0">
                      <a:pos x="34" y="0"/>
                    </a:cxn>
                    <a:cxn ang="0">
                      <a:pos x="19" y="12"/>
                    </a:cxn>
                    <a:cxn ang="0">
                      <a:pos x="11" y="18"/>
                    </a:cxn>
                    <a:cxn ang="0">
                      <a:pos x="5" y="22"/>
                    </a:cxn>
                    <a:cxn ang="0">
                      <a:pos x="5" y="30"/>
                    </a:cxn>
                    <a:cxn ang="0">
                      <a:pos x="0" y="43"/>
                    </a:cxn>
                    <a:cxn ang="0">
                      <a:pos x="0" y="49"/>
                    </a:cxn>
                    <a:cxn ang="0">
                      <a:pos x="2" y="42"/>
                    </a:cxn>
                    <a:cxn ang="0">
                      <a:pos x="10" y="27"/>
                    </a:cxn>
                    <a:cxn ang="0">
                      <a:pos x="13" y="23"/>
                    </a:cxn>
                    <a:cxn ang="0">
                      <a:pos x="26" y="15"/>
                    </a:cxn>
                    <a:cxn ang="0">
                      <a:pos x="37" y="8"/>
                    </a:cxn>
                    <a:cxn ang="0">
                      <a:pos x="36" y="7"/>
                    </a:cxn>
                  </a:cxnLst>
                  <a:rect l="0" t="0" r="r" b="b"/>
                  <a:pathLst>
                    <a:path w="50" h="50">
                      <a:moveTo>
                        <a:pt x="36" y="7"/>
                      </a:moveTo>
                      <a:lnTo>
                        <a:pt x="34" y="12"/>
                      </a:lnTo>
                      <a:lnTo>
                        <a:pt x="35" y="14"/>
                      </a:lnTo>
                      <a:lnTo>
                        <a:pt x="43" y="12"/>
                      </a:lnTo>
                      <a:lnTo>
                        <a:pt x="48" y="9"/>
                      </a:lnTo>
                      <a:lnTo>
                        <a:pt x="49" y="7"/>
                      </a:lnTo>
                      <a:lnTo>
                        <a:pt x="48" y="4"/>
                      </a:lnTo>
                      <a:lnTo>
                        <a:pt x="45" y="1"/>
                      </a:lnTo>
                      <a:lnTo>
                        <a:pt x="40" y="0"/>
                      </a:lnTo>
                      <a:lnTo>
                        <a:pt x="34" y="0"/>
                      </a:lnTo>
                      <a:lnTo>
                        <a:pt x="19" y="12"/>
                      </a:lnTo>
                      <a:lnTo>
                        <a:pt x="11" y="18"/>
                      </a:lnTo>
                      <a:lnTo>
                        <a:pt x="5" y="22"/>
                      </a:lnTo>
                      <a:lnTo>
                        <a:pt x="5" y="30"/>
                      </a:lnTo>
                      <a:lnTo>
                        <a:pt x="0" y="43"/>
                      </a:lnTo>
                      <a:lnTo>
                        <a:pt x="0" y="49"/>
                      </a:lnTo>
                      <a:lnTo>
                        <a:pt x="2" y="42"/>
                      </a:lnTo>
                      <a:lnTo>
                        <a:pt x="10" y="27"/>
                      </a:lnTo>
                      <a:lnTo>
                        <a:pt x="13" y="23"/>
                      </a:lnTo>
                      <a:lnTo>
                        <a:pt x="26" y="15"/>
                      </a:lnTo>
                      <a:lnTo>
                        <a:pt x="37" y="8"/>
                      </a:lnTo>
                      <a:lnTo>
                        <a:pt x="36" y="7"/>
                      </a:lnTo>
                    </a:path>
                  </a:pathLst>
                </a:custGeom>
                <a:solidFill>
                  <a:srgbClr val="646464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71" name="Freeform 139"/>
                <p:cNvSpPr>
                  <a:spLocks/>
                </p:cNvSpPr>
                <p:nvPr/>
              </p:nvSpPr>
              <p:spPr bwMode="auto">
                <a:xfrm>
                  <a:off x="1128" y="3831"/>
                  <a:ext cx="50" cy="16"/>
                </a:xfrm>
                <a:custGeom>
                  <a:avLst/>
                  <a:gdLst/>
                  <a:ahLst/>
                  <a:cxnLst>
                    <a:cxn ang="0">
                      <a:pos x="44" y="11"/>
                    </a:cxn>
                    <a:cxn ang="0">
                      <a:pos x="47" y="9"/>
                    </a:cxn>
                    <a:cxn ang="0">
                      <a:pos x="49" y="6"/>
                    </a:cxn>
                    <a:cxn ang="0">
                      <a:pos x="47" y="3"/>
                    </a:cxn>
                    <a:cxn ang="0">
                      <a:pos x="47" y="2"/>
                    </a:cxn>
                    <a:cxn ang="0">
                      <a:pos x="42" y="0"/>
                    </a:cxn>
                    <a:cxn ang="0">
                      <a:pos x="38" y="0"/>
                    </a:cxn>
                    <a:cxn ang="0">
                      <a:pos x="33" y="0"/>
                    </a:cxn>
                    <a:cxn ang="0">
                      <a:pos x="27" y="2"/>
                    </a:cxn>
                    <a:cxn ang="0">
                      <a:pos x="19" y="3"/>
                    </a:cxn>
                    <a:cxn ang="0">
                      <a:pos x="13" y="4"/>
                    </a:cxn>
                    <a:cxn ang="0">
                      <a:pos x="5" y="3"/>
                    </a:cxn>
                    <a:cxn ang="0">
                      <a:pos x="0" y="2"/>
                    </a:cxn>
                    <a:cxn ang="0">
                      <a:pos x="42" y="15"/>
                    </a:cxn>
                    <a:cxn ang="0">
                      <a:pos x="42" y="13"/>
                    </a:cxn>
                    <a:cxn ang="0">
                      <a:pos x="44" y="11"/>
                    </a:cxn>
                  </a:cxnLst>
                  <a:rect l="0" t="0" r="r" b="b"/>
                  <a:pathLst>
                    <a:path w="50" h="16">
                      <a:moveTo>
                        <a:pt x="44" y="11"/>
                      </a:moveTo>
                      <a:lnTo>
                        <a:pt x="47" y="9"/>
                      </a:lnTo>
                      <a:lnTo>
                        <a:pt x="49" y="6"/>
                      </a:lnTo>
                      <a:lnTo>
                        <a:pt x="47" y="3"/>
                      </a:lnTo>
                      <a:lnTo>
                        <a:pt x="47" y="2"/>
                      </a:lnTo>
                      <a:lnTo>
                        <a:pt x="42" y="0"/>
                      </a:lnTo>
                      <a:lnTo>
                        <a:pt x="38" y="0"/>
                      </a:lnTo>
                      <a:lnTo>
                        <a:pt x="33" y="0"/>
                      </a:lnTo>
                      <a:lnTo>
                        <a:pt x="27" y="2"/>
                      </a:lnTo>
                      <a:lnTo>
                        <a:pt x="19" y="3"/>
                      </a:lnTo>
                      <a:lnTo>
                        <a:pt x="13" y="4"/>
                      </a:lnTo>
                      <a:lnTo>
                        <a:pt x="5" y="3"/>
                      </a:lnTo>
                      <a:lnTo>
                        <a:pt x="0" y="2"/>
                      </a:lnTo>
                      <a:lnTo>
                        <a:pt x="42" y="15"/>
                      </a:lnTo>
                      <a:lnTo>
                        <a:pt x="42" y="13"/>
                      </a:lnTo>
                      <a:lnTo>
                        <a:pt x="44" y="11"/>
                      </a:lnTo>
                    </a:path>
                  </a:pathLst>
                </a:custGeom>
                <a:solidFill>
                  <a:srgbClr val="646464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72" name="Freeform 140"/>
                <p:cNvSpPr>
                  <a:spLocks/>
                </p:cNvSpPr>
                <p:nvPr/>
              </p:nvSpPr>
              <p:spPr bwMode="auto">
                <a:xfrm>
                  <a:off x="1151" y="3799"/>
                  <a:ext cx="48" cy="17"/>
                </a:xfrm>
                <a:custGeom>
                  <a:avLst/>
                  <a:gdLst/>
                  <a:ahLst/>
                  <a:cxnLst>
                    <a:cxn ang="0">
                      <a:pos x="2" y="3"/>
                    </a:cxn>
                    <a:cxn ang="0">
                      <a:pos x="1" y="8"/>
                    </a:cxn>
                    <a:cxn ang="0">
                      <a:pos x="5" y="12"/>
                    </a:cxn>
                    <a:cxn ang="0">
                      <a:pos x="8" y="13"/>
                    </a:cxn>
                    <a:cxn ang="0">
                      <a:pos x="11" y="13"/>
                    </a:cxn>
                    <a:cxn ang="0">
                      <a:pos x="16" y="9"/>
                    </a:cxn>
                    <a:cxn ang="0">
                      <a:pos x="21" y="8"/>
                    </a:cxn>
                    <a:cxn ang="0">
                      <a:pos x="26" y="6"/>
                    </a:cxn>
                    <a:cxn ang="0">
                      <a:pos x="29" y="7"/>
                    </a:cxn>
                    <a:cxn ang="0">
                      <a:pos x="32" y="8"/>
                    </a:cxn>
                    <a:cxn ang="0">
                      <a:pos x="33" y="11"/>
                    </a:cxn>
                    <a:cxn ang="0">
                      <a:pos x="38" y="11"/>
                    </a:cxn>
                    <a:cxn ang="0">
                      <a:pos x="43" y="8"/>
                    </a:cxn>
                    <a:cxn ang="0">
                      <a:pos x="45" y="8"/>
                    </a:cxn>
                    <a:cxn ang="0">
                      <a:pos x="47" y="4"/>
                    </a:cxn>
                    <a:cxn ang="0">
                      <a:pos x="45" y="8"/>
                    </a:cxn>
                    <a:cxn ang="0">
                      <a:pos x="41" y="11"/>
                    </a:cxn>
                    <a:cxn ang="0">
                      <a:pos x="38" y="12"/>
                    </a:cxn>
                    <a:cxn ang="0">
                      <a:pos x="32" y="13"/>
                    </a:cxn>
                    <a:cxn ang="0">
                      <a:pos x="26" y="11"/>
                    </a:cxn>
                    <a:cxn ang="0">
                      <a:pos x="20" y="16"/>
                    </a:cxn>
                    <a:cxn ang="0">
                      <a:pos x="17" y="16"/>
                    </a:cxn>
                    <a:cxn ang="0">
                      <a:pos x="7" y="16"/>
                    </a:cxn>
                    <a:cxn ang="0">
                      <a:pos x="5" y="14"/>
                    </a:cxn>
                    <a:cxn ang="0">
                      <a:pos x="2" y="11"/>
                    </a:cxn>
                    <a:cxn ang="0">
                      <a:pos x="0" y="8"/>
                    </a:cxn>
                    <a:cxn ang="0">
                      <a:pos x="0" y="3"/>
                    </a:cxn>
                    <a:cxn ang="0">
                      <a:pos x="1" y="2"/>
                    </a:cxn>
                    <a:cxn ang="0">
                      <a:pos x="3" y="0"/>
                    </a:cxn>
                    <a:cxn ang="0">
                      <a:pos x="4" y="0"/>
                    </a:cxn>
                    <a:cxn ang="0">
                      <a:pos x="2" y="3"/>
                    </a:cxn>
                  </a:cxnLst>
                  <a:rect l="0" t="0" r="r" b="b"/>
                  <a:pathLst>
                    <a:path w="48" h="17">
                      <a:moveTo>
                        <a:pt x="2" y="3"/>
                      </a:moveTo>
                      <a:lnTo>
                        <a:pt x="1" y="8"/>
                      </a:lnTo>
                      <a:lnTo>
                        <a:pt x="5" y="12"/>
                      </a:lnTo>
                      <a:lnTo>
                        <a:pt x="8" y="13"/>
                      </a:lnTo>
                      <a:lnTo>
                        <a:pt x="11" y="13"/>
                      </a:lnTo>
                      <a:lnTo>
                        <a:pt x="16" y="9"/>
                      </a:lnTo>
                      <a:lnTo>
                        <a:pt x="21" y="8"/>
                      </a:lnTo>
                      <a:lnTo>
                        <a:pt x="26" y="6"/>
                      </a:lnTo>
                      <a:lnTo>
                        <a:pt x="29" y="7"/>
                      </a:lnTo>
                      <a:lnTo>
                        <a:pt x="32" y="8"/>
                      </a:lnTo>
                      <a:lnTo>
                        <a:pt x="33" y="11"/>
                      </a:lnTo>
                      <a:lnTo>
                        <a:pt x="38" y="11"/>
                      </a:lnTo>
                      <a:lnTo>
                        <a:pt x="43" y="8"/>
                      </a:lnTo>
                      <a:lnTo>
                        <a:pt x="45" y="8"/>
                      </a:lnTo>
                      <a:lnTo>
                        <a:pt x="47" y="4"/>
                      </a:lnTo>
                      <a:lnTo>
                        <a:pt x="45" y="8"/>
                      </a:lnTo>
                      <a:lnTo>
                        <a:pt x="41" y="11"/>
                      </a:lnTo>
                      <a:lnTo>
                        <a:pt x="38" y="12"/>
                      </a:lnTo>
                      <a:lnTo>
                        <a:pt x="32" y="13"/>
                      </a:lnTo>
                      <a:lnTo>
                        <a:pt x="26" y="11"/>
                      </a:lnTo>
                      <a:lnTo>
                        <a:pt x="20" y="16"/>
                      </a:lnTo>
                      <a:lnTo>
                        <a:pt x="17" y="16"/>
                      </a:lnTo>
                      <a:lnTo>
                        <a:pt x="7" y="16"/>
                      </a:lnTo>
                      <a:lnTo>
                        <a:pt x="5" y="14"/>
                      </a:lnTo>
                      <a:lnTo>
                        <a:pt x="2" y="11"/>
                      </a:lnTo>
                      <a:lnTo>
                        <a:pt x="0" y="8"/>
                      </a:lnTo>
                      <a:lnTo>
                        <a:pt x="0" y="3"/>
                      </a:lnTo>
                      <a:lnTo>
                        <a:pt x="1" y="2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2" y="3"/>
                      </a:lnTo>
                    </a:path>
                  </a:pathLst>
                </a:custGeom>
                <a:solidFill>
                  <a:srgbClr val="646464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73" name="Freeform 141"/>
                <p:cNvSpPr>
                  <a:spLocks/>
                </p:cNvSpPr>
                <p:nvPr/>
              </p:nvSpPr>
              <p:spPr bwMode="auto">
                <a:xfrm>
                  <a:off x="1105" y="3716"/>
                  <a:ext cx="68" cy="26"/>
                </a:xfrm>
                <a:custGeom>
                  <a:avLst/>
                  <a:gdLst/>
                  <a:ahLst/>
                  <a:cxnLst>
                    <a:cxn ang="0">
                      <a:pos x="64" y="25"/>
                    </a:cxn>
                    <a:cxn ang="0">
                      <a:pos x="62" y="24"/>
                    </a:cxn>
                    <a:cxn ang="0">
                      <a:pos x="60" y="22"/>
                    </a:cxn>
                    <a:cxn ang="0">
                      <a:pos x="58" y="19"/>
                    </a:cxn>
                    <a:cxn ang="0">
                      <a:pos x="55" y="19"/>
                    </a:cxn>
                    <a:cxn ang="0">
                      <a:pos x="52" y="16"/>
                    </a:cxn>
                    <a:cxn ang="0">
                      <a:pos x="50" y="14"/>
                    </a:cxn>
                    <a:cxn ang="0">
                      <a:pos x="48" y="13"/>
                    </a:cxn>
                    <a:cxn ang="0">
                      <a:pos x="45" y="13"/>
                    </a:cxn>
                    <a:cxn ang="0">
                      <a:pos x="44" y="11"/>
                    </a:cxn>
                    <a:cxn ang="0">
                      <a:pos x="41" y="10"/>
                    </a:cxn>
                    <a:cxn ang="0">
                      <a:pos x="39" y="8"/>
                    </a:cxn>
                    <a:cxn ang="0">
                      <a:pos x="36" y="8"/>
                    </a:cxn>
                    <a:cxn ang="0">
                      <a:pos x="34" y="6"/>
                    </a:cxn>
                    <a:cxn ang="0">
                      <a:pos x="32" y="6"/>
                    </a:cxn>
                    <a:cxn ang="0">
                      <a:pos x="30" y="6"/>
                    </a:cxn>
                    <a:cxn ang="0">
                      <a:pos x="28" y="6"/>
                    </a:cxn>
                    <a:cxn ang="0">
                      <a:pos x="25" y="8"/>
                    </a:cxn>
                    <a:cxn ang="0">
                      <a:pos x="22" y="9"/>
                    </a:cxn>
                    <a:cxn ang="0">
                      <a:pos x="18" y="9"/>
                    </a:cxn>
                    <a:cxn ang="0">
                      <a:pos x="16" y="9"/>
                    </a:cxn>
                    <a:cxn ang="0">
                      <a:pos x="13" y="9"/>
                    </a:cxn>
                    <a:cxn ang="0">
                      <a:pos x="11" y="10"/>
                    </a:cxn>
                    <a:cxn ang="0">
                      <a:pos x="10" y="10"/>
                    </a:cxn>
                    <a:cxn ang="0">
                      <a:pos x="6" y="10"/>
                    </a:cxn>
                    <a:cxn ang="0">
                      <a:pos x="4" y="11"/>
                    </a:cxn>
                    <a:cxn ang="0">
                      <a:pos x="1" y="11"/>
                    </a:cxn>
                    <a:cxn ang="0">
                      <a:pos x="1" y="11"/>
                    </a:cxn>
                    <a:cxn ang="0">
                      <a:pos x="4" y="11"/>
                    </a:cxn>
                    <a:cxn ang="0">
                      <a:pos x="7" y="9"/>
                    </a:cxn>
                    <a:cxn ang="0">
                      <a:pos x="10" y="9"/>
                    </a:cxn>
                    <a:cxn ang="0">
                      <a:pos x="12" y="7"/>
                    </a:cxn>
                    <a:cxn ang="0">
                      <a:pos x="15" y="6"/>
                    </a:cxn>
                    <a:cxn ang="0">
                      <a:pos x="18" y="5"/>
                    </a:cxn>
                    <a:cxn ang="0">
                      <a:pos x="20" y="5"/>
                    </a:cxn>
                    <a:cxn ang="0">
                      <a:pos x="23" y="5"/>
                    </a:cxn>
                    <a:cxn ang="0">
                      <a:pos x="27" y="3"/>
                    </a:cxn>
                    <a:cxn ang="0">
                      <a:pos x="29" y="1"/>
                    </a:cxn>
                    <a:cxn ang="0">
                      <a:pos x="32" y="0"/>
                    </a:cxn>
                    <a:cxn ang="0">
                      <a:pos x="35" y="0"/>
                    </a:cxn>
                    <a:cxn ang="0">
                      <a:pos x="37" y="0"/>
                    </a:cxn>
                    <a:cxn ang="0">
                      <a:pos x="39" y="1"/>
                    </a:cxn>
                    <a:cxn ang="0">
                      <a:pos x="40" y="1"/>
                    </a:cxn>
                    <a:cxn ang="0">
                      <a:pos x="42" y="3"/>
                    </a:cxn>
                    <a:cxn ang="0">
                      <a:pos x="43" y="4"/>
                    </a:cxn>
                    <a:cxn ang="0">
                      <a:pos x="45" y="5"/>
                    </a:cxn>
                    <a:cxn ang="0">
                      <a:pos x="47" y="5"/>
                    </a:cxn>
                    <a:cxn ang="0">
                      <a:pos x="49" y="6"/>
                    </a:cxn>
                    <a:cxn ang="0">
                      <a:pos x="51" y="6"/>
                    </a:cxn>
                    <a:cxn ang="0">
                      <a:pos x="51" y="7"/>
                    </a:cxn>
                    <a:cxn ang="0">
                      <a:pos x="53" y="9"/>
                    </a:cxn>
                    <a:cxn ang="0">
                      <a:pos x="56" y="10"/>
                    </a:cxn>
                    <a:cxn ang="0">
                      <a:pos x="57" y="13"/>
                    </a:cxn>
                    <a:cxn ang="0">
                      <a:pos x="60" y="13"/>
                    </a:cxn>
                    <a:cxn ang="0">
                      <a:pos x="62" y="15"/>
                    </a:cxn>
                    <a:cxn ang="0">
                      <a:pos x="63" y="16"/>
                    </a:cxn>
                    <a:cxn ang="0">
                      <a:pos x="63" y="19"/>
                    </a:cxn>
                    <a:cxn ang="0">
                      <a:pos x="65" y="20"/>
                    </a:cxn>
                    <a:cxn ang="0">
                      <a:pos x="65" y="22"/>
                    </a:cxn>
                    <a:cxn ang="0">
                      <a:pos x="65" y="25"/>
                    </a:cxn>
                  </a:cxnLst>
                  <a:rect l="0" t="0" r="r" b="b"/>
                  <a:pathLst>
                    <a:path w="68" h="26">
                      <a:moveTo>
                        <a:pt x="65" y="25"/>
                      </a:moveTo>
                      <a:lnTo>
                        <a:pt x="64" y="25"/>
                      </a:lnTo>
                      <a:lnTo>
                        <a:pt x="62" y="25"/>
                      </a:lnTo>
                      <a:lnTo>
                        <a:pt x="62" y="24"/>
                      </a:lnTo>
                      <a:lnTo>
                        <a:pt x="61" y="24"/>
                      </a:lnTo>
                      <a:lnTo>
                        <a:pt x="60" y="22"/>
                      </a:lnTo>
                      <a:lnTo>
                        <a:pt x="58" y="21"/>
                      </a:lnTo>
                      <a:lnTo>
                        <a:pt x="58" y="19"/>
                      </a:lnTo>
                      <a:lnTo>
                        <a:pt x="56" y="19"/>
                      </a:lnTo>
                      <a:lnTo>
                        <a:pt x="55" y="19"/>
                      </a:lnTo>
                      <a:lnTo>
                        <a:pt x="53" y="18"/>
                      </a:lnTo>
                      <a:lnTo>
                        <a:pt x="52" y="16"/>
                      </a:lnTo>
                      <a:lnTo>
                        <a:pt x="51" y="16"/>
                      </a:lnTo>
                      <a:lnTo>
                        <a:pt x="50" y="14"/>
                      </a:lnTo>
                      <a:lnTo>
                        <a:pt x="48" y="13"/>
                      </a:lnTo>
                      <a:lnTo>
                        <a:pt x="48" y="13"/>
                      </a:lnTo>
                      <a:lnTo>
                        <a:pt x="46" y="13"/>
                      </a:lnTo>
                      <a:lnTo>
                        <a:pt x="45" y="13"/>
                      </a:lnTo>
                      <a:lnTo>
                        <a:pt x="45" y="11"/>
                      </a:lnTo>
                      <a:lnTo>
                        <a:pt x="44" y="11"/>
                      </a:lnTo>
                      <a:lnTo>
                        <a:pt x="43" y="10"/>
                      </a:lnTo>
                      <a:lnTo>
                        <a:pt x="41" y="10"/>
                      </a:lnTo>
                      <a:lnTo>
                        <a:pt x="41" y="8"/>
                      </a:lnTo>
                      <a:lnTo>
                        <a:pt x="39" y="8"/>
                      </a:lnTo>
                      <a:lnTo>
                        <a:pt x="38" y="8"/>
                      </a:lnTo>
                      <a:lnTo>
                        <a:pt x="36" y="8"/>
                      </a:lnTo>
                      <a:lnTo>
                        <a:pt x="36" y="6"/>
                      </a:lnTo>
                      <a:lnTo>
                        <a:pt x="34" y="6"/>
                      </a:lnTo>
                      <a:lnTo>
                        <a:pt x="34" y="6"/>
                      </a:lnTo>
                      <a:lnTo>
                        <a:pt x="32" y="6"/>
                      </a:lnTo>
                      <a:lnTo>
                        <a:pt x="32" y="5"/>
                      </a:lnTo>
                      <a:lnTo>
                        <a:pt x="30" y="6"/>
                      </a:lnTo>
                      <a:lnTo>
                        <a:pt x="29" y="6"/>
                      </a:lnTo>
                      <a:lnTo>
                        <a:pt x="28" y="6"/>
                      </a:lnTo>
                      <a:lnTo>
                        <a:pt x="27" y="8"/>
                      </a:lnTo>
                      <a:lnTo>
                        <a:pt x="25" y="8"/>
                      </a:lnTo>
                      <a:lnTo>
                        <a:pt x="23" y="8"/>
                      </a:lnTo>
                      <a:lnTo>
                        <a:pt x="22" y="9"/>
                      </a:lnTo>
                      <a:lnTo>
                        <a:pt x="20" y="9"/>
                      </a:lnTo>
                      <a:lnTo>
                        <a:pt x="18" y="9"/>
                      </a:lnTo>
                      <a:lnTo>
                        <a:pt x="17" y="9"/>
                      </a:lnTo>
                      <a:lnTo>
                        <a:pt x="16" y="9"/>
                      </a:lnTo>
                      <a:lnTo>
                        <a:pt x="15" y="9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1" y="10"/>
                      </a:lnTo>
                      <a:lnTo>
                        <a:pt x="11" y="10"/>
                      </a:lnTo>
                      <a:lnTo>
                        <a:pt x="10" y="10"/>
                      </a:lnTo>
                      <a:lnTo>
                        <a:pt x="8" y="10"/>
                      </a:lnTo>
                      <a:lnTo>
                        <a:pt x="6" y="10"/>
                      </a:lnTo>
                      <a:lnTo>
                        <a:pt x="5" y="10"/>
                      </a:lnTo>
                      <a:lnTo>
                        <a:pt x="4" y="11"/>
                      </a:lnTo>
                      <a:lnTo>
                        <a:pt x="2" y="11"/>
                      </a:lnTo>
                      <a:lnTo>
                        <a:pt x="1" y="11"/>
                      </a:lnTo>
                      <a:lnTo>
                        <a:pt x="0" y="11"/>
                      </a:lnTo>
                      <a:lnTo>
                        <a:pt x="1" y="11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8" y="9"/>
                      </a:lnTo>
                      <a:lnTo>
                        <a:pt x="10" y="9"/>
                      </a:lnTo>
                      <a:lnTo>
                        <a:pt x="11" y="9"/>
                      </a:lnTo>
                      <a:lnTo>
                        <a:pt x="12" y="7"/>
                      </a:lnTo>
                      <a:lnTo>
                        <a:pt x="14" y="6"/>
                      </a:lnTo>
                      <a:lnTo>
                        <a:pt x="15" y="6"/>
                      </a:lnTo>
                      <a:lnTo>
                        <a:pt x="17" y="5"/>
                      </a:lnTo>
                      <a:lnTo>
                        <a:pt x="18" y="5"/>
                      </a:lnTo>
                      <a:lnTo>
                        <a:pt x="19" y="5"/>
                      </a:lnTo>
                      <a:lnTo>
                        <a:pt x="20" y="5"/>
                      </a:lnTo>
                      <a:lnTo>
                        <a:pt x="22" y="5"/>
                      </a:lnTo>
                      <a:lnTo>
                        <a:pt x="23" y="5"/>
                      </a:lnTo>
                      <a:lnTo>
                        <a:pt x="25" y="3"/>
                      </a:lnTo>
                      <a:lnTo>
                        <a:pt x="27" y="3"/>
                      </a:lnTo>
                      <a:lnTo>
                        <a:pt x="28" y="1"/>
                      </a:lnTo>
                      <a:lnTo>
                        <a:pt x="29" y="1"/>
                      </a:lnTo>
                      <a:lnTo>
                        <a:pt x="30" y="1"/>
                      </a:lnTo>
                      <a:lnTo>
                        <a:pt x="32" y="0"/>
                      </a:lnTo>
                      <a:lnTo>
                        <a:pt x="34" y="0"/>
                      </a:lnTo>
                      <a:lnTo>
                        <a:pt x="35" y="0"/>
                      </a:lnTo>
                      <a:lnTo>
                        <a:pt x="35" y="0"/>
                      </a:lnTo>
                      <a:lnTo>
                        <a:pt x="37" y="0"/>
                      </a:lnTo>
                      <a:lnTo>
                        <a:pt x="37" y="1"/>
                      </a:lnTo>
                      <a:lnTo>
                        <a:pt x="39" y="1"/>
                      </a:lnTo>
                      <a:lnTo>
                        <a:pt x="39" y="1"/>
                      </a:lnTo>
                      <a:lnTo>
                        <a:pt x="40" y="1"/>
                      </a:lnTo>
                      <a:lnTo>
                        <a:pt x="42" y="1"/>
                      </a:lnTo>
                      <a:lnTo>
                        <a:pt x="42" y="3"/>
                      </a:lnTo>
                      <a:lnTo>
                        <a:pt x="43" y="3"/>
                      </a:lnTo>
                      <a:lnTo>
                        <a:pt x="43" y="4"/>
                      </a:lnTo>
                      <a:lnTo>
                        <a:pt x="45" y="4"/>
                      </a:lnTo>
                      <a:lnTo>
                        <a:pt x="45" y="5"/>
                      </a:lnTo>
                      <a:lnTo>
                        <a:pt x="45" y="5"/>
                      </a:lnTo>
                      <a:lnTo>
                        <a:pt x="47" y="5"/>
                      </a:lnTo>
                      <a:lnTo>
                        <a:pt x="47" y="6"/>
                      </a:lnTo>
                      <a:lnTo>
                        <a:pt x="49" y="6"/>
                      </a:lnTo>
                      <a:lnTo>
                        <a:pt x="51" y="6"/>
                      </a:lnTo>
                      <a:lnTo>
                        <a:pt x="51" y="6"/>
                      </a:lnTo>
                      <a:lnTo>
                        <a:pt x="51" y="7"/>
                      </a:lnTo>
                      <a:lnTo>
                        <a:pt x="51" y="7"/>
                      </a:lnTo>
                      <a:lnTo>
                        <a:pt x="51" y="9"/>
                      </a:lnTo>
                      <a:lnTo>
                        <a:pt x="53" y="9"/>
                      </a:lnTo>
                      <a:lnTo>
                        <a:pt x="54" y="10"/>
                      </a:lnTo>
                      <a:lnTo>
                        <a:pt x="56" y="10"/>
                      </a:lnTo>
                      <a:lnTo>
                        <a:pt x="56" y="12"/>
                      </a:lnTo>
                      <a:lnTo>
                        <a:pt x="57" y="13"/>
                      </a:lnTo>
                      <a:lnTo>
                        <a:pt x="59" y="13"/>
                      </a:lnTo>
                      <a:lnTo>
                        <a:pt x="60" y="13"/>
                      </a:lnTo>
                      <a:lnTo>
                        <a:pt x="60" y="15"/>
                      </a:lnTo>
                      <a:lnTo>
                        <a:pt x="62" y="15"/>
                      </a:lnTo>
                      <a:lnTo>
                        <a:pt x="62" y="16"/>
                      </a:lnTo>
                      <a:lnTo>
                        <a:pt x="63" y="16"/>
                      </a:lnTo>
                      <a:lnTo>
                        <a:pt x="63" y="18"/>
                      </a:lnTo>
                      <a:lnTo>
                        <a:pt x="63" y="19"/>
                      </a:lnTo>
                      <a:lnTo>
                        <a:pt x="65" y="19"/>
                      </a:lnTo>
                      <a:lnTo>
                        <a:pt x="65" y="20"/>
                      </a:lnTo>
                      <a:lnTo>
                        <a:pt x="67" y="20"/>
                      </a:lnTo>
                      <a:lnTo>
                        <a:pt x="65" y="22"/>
                      </a:lnTo>
                      <a:lnTo>
                        <a:pt x="65" y="24"/>
                      </a:lnTo>
                      <a:lnTo>
                        <a:pt x="65" y="25"/>
                      </a:lnTo>
                    </a:path>
                  </a:pathLst>
                </a:custGeom>
                <a:solidFill>
                  <a:srgbClr val="C0C0C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74" name="Freeform 142"/>
                <p:cNvSpPr>
                  <a:spLocks/>
                </p:cNvSpPr>
                <p:nvPr/>
              </p:nvSpPr>
              <p:spPr bwMode="auto">
                <a:xfrm>
                  <a:off x="971" y="3790"/>
                  <a:ext cx="81" cy="162"/>
                </a:xfrm>
                <a:custGeom>
                  <a:avLst/>
                  <a:gdLst/>
                  <a:ahLst/>
                  <a:cxnLst>
                    <a:cxn ang="0">
                      <a:pos x="0" y="7"/>
                    </a:cxn>
                    <a:cxn ang="0">
                      <a:pos x="0" y="0"/>
                    </a:cxn>
                    <a:cxn ang="0">
                      <a:pos x="5" y="9"/>
                    </a:cxn>
                    <a:cxn ang="0">
                      <a:pos x="10" y="14"/>
                    </a:cxn>
                    <a:cxn ang="0">
                      <a:pos x="14" y="20"/>
                    </a:cxn>
                    <a:cxn ang="0">
                      <a:pos x="17" y="28"/>
                    </a:cxn>
                    <a:cxn ang="0">
                      <a:pos x="23" y="32"/>
                    </a:cxn>
                    <a:cxn ang="0">
                      <a:pos x="31" y="32"/>
                    </a:cxn>
                    <a:cxn ang="0">
                      <a:pos x="33" y="37"/>
                    </a:cxn>
                    <a:cxn ang="0">
                      <a:pos x="35" y="43"/>
                    </a:cxn>
                    <a:cxn ang="0">
                      <a:pos x="46" y="65"/>
                    </a:cxn>
                    <a:cxn ang="0">
                      <a:pos x="70" y="72"/>
                    </a:cxn>
                    <a:cxn ang="0">
                      <a:pos x="62" y="83"/>
                    </a:cxn>
                    <a:cxn ang="0">
                      <a:pos x="53" y="91"/>
                    </a:cxn>
                    <a:cxn ang="0">
                      <a:pos x="46" y="99"/>
                    </a:cxn>
                    <a:cxn ang="0">
                      <a:pos x="38" y="105"/>
                    </a:cxn>
                    <a:cxn ang="0">
                      <a:pos x="28" y="110"/>
                    </a:cxn>
                    <a:cxn ang="0">
                      <a:pos x="55" y="134"/>
                    </a:cxn>
                    <a:cxn ang="0">
                      <a:pos x="64" y="148"/>
                    </a:cxn>
                    <a:cxn ang="0">
                      <a:pos x="80" y="161"/>
                    </a:cxn>
                    <a:cxn ang="0">
                      <a:pos x="64" y="156"/>
                    </a:cxn>
                    <a:cxn ang="0">
                      <a:pos x="8" y="102"/>
                    </a:cxn>
                    <a:cxn ang="0">
                      <a:pos x="52" y="79"/>
                    </a:cxn>
                    <a:cxn ang="0">
                      <a:pos x="22" y="44"/>
                    </a:cxn>
                    <a:cxn ang="0">
                      <a:pos x="4" y="16"/>
                    </a:cxn>
                    <a:cxn ang="0">
                      <a:pos x="0" y="7"/>
                    </a:cxn>
                  </a:cxnLst>
                  <a:rect l="0" t="0" r="r" b="b"/>
                  <a:pathLst>
                    <a:path w="81" h="162">
                      <a:moveTo>
                        <a:pt x="0" y="7"/>
                      </a:moveTo>
                      <a:lnTo>
                        <a:pt x="0" y="0"/>
                      </a:lnTo>
                      <a:lnTo>
                        <a:pt x="5" y="9"/>
                      </a:lnTo>
                      <a:lnTo>
                        <a:pt x="10" y="14"/>
                      </a:lnTo>
                      <a:lnTo>
                        <a:pt x="14" y="20"/>
                      </a:lnTo>
                      <a:lnTo>
                        <a:pt x="17" y="28"/>
                      </a:lnTo>
                      <a:lnTo>
                        <a:pt x="23" y="32"/>
                      </a:lnTo>
                      <a:lnTo>
                        <a:pt x="31" y="32"/>
                      </a:lnTo>
                      <a:lnTo>
                        <a:pt x="33" y="37"/>
                      </a:lnTo>
                      <a:lnTo>
                        <a:pt x="35" y="43"/>
                      </a:lnTo>
                      <a:lnTo>
                        <a:pt x="46" y="65"/>
                      </a:lnTo>
                      <a:lnTo>
                        <a:pt x="70" y="72"/>
                      </a:lnTo>
                      <a:lnTo>
                        <a:pt x="62" y="83"/>
                      </a:lnTo>
                      <a:lnTo>
                        <a:pt x="53" y="91"/>
                      </a:lnTo>
                      <a:lnTo>
                        <a:pt x="46" y="99"/>
                      </a:lnTo>
                      <a:lnTo>
                        <a:pt x="38" y="105"/>
                      </a:lnTo>
                      <a:lnTo>
                        <a:pt x="28" y="110"/>
                      </a:lnTo>
                      <a:lnTo>
                        <a:pt x="55" y="134"/>
                      </a:lnTo>
                      <a:lnTo>
                        <a:pt x="64" y="148"/>
                      </a:lnTo>
                      <a:lnTo>
                        <a:pt x="80" y="161"/>
                      </a:lnTo>
                      <a:lnTo>
                        <a:pt x="64" y="156"/>
                      </a:lnTo>
                      <a:lnTo>
                        <a:pt x="8" y="102"/>
                      </a:lnTo>
                      <a:lnTo>
                        <a:pt x="52" y="79"/>
                      </a:lnTo>
                      <a:lnTo>
                        <a:pt x="22" y="44"/>
                      </a:lnTo>
                      <a:lnTo>
                        <a:pt x="4" y="16"/>
                      </a:lnTo>
                      <a:lnTo>
                        <a:pt x="0" y="7"/>
                      </a:lnTo>
                    </a:path>
                  </a:pathLst>
                </a:custGeom>
                <a:solidFill>
                  <a:srgbClr val="646464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75" name="Oval 143"/>
                <p:cNvSpPr>
                  <a:spLocks noChangeArrowheads="1"/>
                </p:cNvSpPr>
                <p:nvPr/>
              </p:nvSpPr>
              <p:spPr bwMode="auto">
                <a:xfrm>
                  <a:off x="983" y="3818"/>
                  <a:ext cx="45" cy="3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C1C1C">
                        <a:gamma/>
                        <a:tint val="40000"/>
                        <a:invGamma/>
                      </a:srgbClr>
                    </a:gs>
                    <a:gs pos="100000">
                      <a:srgbClr val="1C1C1C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776" name="Freeform 144"/>
                <p:cNvSpPr>
                  <a:spLocks/>
                </p:cNvSpPr>
                <p:nvPr/>
              </p:nvSpPr>
              <p:spPr bwMode="auto">
                <a:xfrm>
                  <a:off x="825" y="3602"/>
                  <a:ext cx="383" cy="298"/>
                </a:xfrm>
                <a:custGeom>
                  <a:avLst/>
                  <a:gdLst/>
                  <a:ahLst/>
                  <a:cxnLst>
                    <a:cxn ang="0">
                      <a:pos x="250" y="107"/>
                    </a:cxn>
                    <a:cxn ang="0">
                      <a:pos x="193" y="127"/>
                    </a:cxn>
                    <a:cxn ang="0">
                      <a:pos x="164" y="146"/>
                    </a:cxn>
                    <a:cxn ang="0">
                      <a:pos x="154" y="169"/>
                    </a:cxn>
                    <a:cxn ang="0">
                      <a:pos x="150" y="200"/>
                    </a:cxn>
                    <a:cxn ang="0">
                      <a:pos x="184" y="237"/>
                    </a:cxn>
                    <a:cxn ang="0">
                      <a:pos x="205" y="252"/>
                    </a:cxn>
                    <a:cxn ang="0">
                      <a:pos x="208" y="266"/>
                    </a:cxn>
                    <a:cxn ang="0">
                      <a:pos x="190" y="281"/>
                    </a:cxn>
                    <a:cxn ang="0">
                      <a:pos x="181" y="287"/>
                    </a:cxn>
                    <a:cxn ang="0">
                      <a:pos x="144" y="297"/>
                    </a:cxn>
                    <a:cxn ang="0">
                      <a:pos x="105" y="293"/>
                    </a:cxn>
                    <a:cxn ang="0">
                      <a:pos x="94" y="297"/>
                    </a:cxn>
                    <a:cxn ang="0">
                      <a:pos x="56" y="288"/>
                    </a:cxn>
                    <a:cxn ang="0">
                      <a:pos x="20" y="268"/>
                    </a:cxn>
                    <a:cxn ang="0">
                      <a:pos x="0" y="238"/>
                    </a:cxn>
                    <a:cxn ang="0">
                      <a:pos x="25" y="187"/>
                    </a:cxn>
                    <a:cxn ang="0">
                      <a:pos x="29" y="144"/>
                    </a:cxn>
                    <a:cxn ang="0">
                      <a:pos x="62" y="74"/>
                    </a:cxn>
                    <a:cxn ang="0">
                      <a:pos x="92" y="35"/>
                    </a:cxn>
                    <a:cxn ang="0">
                      <a:pos x="123" y="11"/>
                    </a:cxn>
                    <a:cxn ang="0">
                      <a:pos x="167" y="0"/>
                    </a:cxn>
                    <a:cxn ang="0">
                      <a:pos x="219" y="11"/>
                    </a:cxn>
                    <a:cxn ang="0">
                      <a:pos x="269" y="13"/>
                    </a:cxn>
                    <a:cxn ang="0">
                      <a:pos x="307" y="23"/>
                    </a:cxn>
                    <a:cxn ang="0">
                      <a:pos x="345" y="32"/>
                    </a:cxn>
                    <a:cxn ang="0">
                      <a:pos x="361" y="41"/>
                    </a:cxn>
                    <a:cxn ang="0">
                      <a:pos x="377" y="58"/>
                    </a:cxn>
                    <a:cxn ang="0">
                      <a:pos x="382" y="72"/>
                    </a:cxn>
                    <a:cxn ang="0">
                      <a:pos x="380" y="110"/>
                    </a:cxn>
                    <a:cxn ang="0">
                      <a:pos x="354" y="136"/>
                    </a:cxn>
                    <a:cxn ang="0">
                      <a:pos x="358" y="119"/>
                    </a:cxn>
                    <a:cxn ang="0">
                      <a:pos x="352" y="96"/>
                    </a:cxn>
                    <a:cxn ang="0">
                      <a:pos x="342" y="81"/>
                    </a:cxn>
                    <a:cxn ang="0">
                      <a:pos x="319" y="64"/>
                    </a:cxn>
                    <a:cxn ang="0">
                      <a:pos x="288" y="53"/>
                    </a:cxn>
                    <a:cxn ang="0">
                      <a:pos x="281" y="65"/>
                    </a:cxn>
                    <a:cxn ang="0">
                      <a:pos x="270" y="88"/>
                    </a:cxn>
                  </a:cxnLst>
                  <a:rect l="0" t="0" r="r" b="b"/>
                  <a:pathLst>
                    <a:path w="383" h="298">
                      <a:moveTo>
                        <a:pt x="270" y="88"/>
                      </a:moveTo>
                      <a:lnTo>
                        <a:pt x="250" y="107"/>
                      </a:lnTo>
                      <a:lnTo>
                        <a:pt x="225" y="116"/>
                      </a:lnTo>
                      <a:lnTo>
                        <a:pt x="193" y="127"/>
                      </a:lnTo>
                      <a:lnTo>
                        <a:pt x="184" y="136"/>
                      </a:lnTo>
                      <a:lnTo>
                        <a:pt x="164" y="146"/>
                      </a:lnTo>
                      <a:lnTo>
                        <a:pt x="159" y="150"/>
                      </a:lnTo>
                      <a:lnTo>
                        <a:pt x="154" y="169"/>
                      </a:lnTo>
                      <a:lnTo>
                        <a:pt x="152" y="184"/>
                      </a:lnTo>
                      <a:lnTo>
                        <a:pt x="150" y="200"/>
                      </a:lnTo>
                      <a:lnTo>
                        <a:pt x="163" y="218"/>
                      </a:lnTo>
                      <a:lnTo>
                        <a:pt x="184" y="237"/>
                      </a:lnTo>
                      <a:lnTo>
                        <a:pt x="198" y="247"/>
                      </a:lnTo>
                      <a:lnTo>
                        <a:pt x="205" y="252"/>
                      </a:lnTo>
                      <a:lnTo>
                        <a:pt x="218" y="256"/>
                      </a:lnTo>
                      <a:lnTo>
                        <a:pt x="208" y="266"/>
                      </a:lnTo>
                      <a:lnTo>
                        <a:pt x="202" y="272"/>
                      </a:lnTo>
                      <a:lnTo>
                        <a:pt x="190" y="281"/>
                      </a:lnTo>
                      <a:lnTo>
                        <a:pt x="177" y="282"/>
                      </a:lnTo>
                      <a:lnTo>
                        <a:pt x="181" y="287"/>
                      </a:lnTo>
                      <a:lnTo>
                        <a:pt x="164" y="294"/>
                      </a:lnTo>
                      <a:lnTo>
                        <a:pt x="144" y="297"/>
                      </a:lnTo>
                      <a:lnTo>
                        <a:pt x="113" y="295"/>
                      </a:lnTo>
                      <a:lnTo>
                        <a:pt x="105" y="293"/>
                      </a:lnTo>
                      <a:lnTo>
                        <a:pt x="103" y="297"/>
                      </a:lnTo>
                      <a:lnTo>
                        <a:pt x="94" y="297"/>
                      </a:lnTo>
                      <a:lnTo>
                        <a:pt x="71" y="292"/>
                      </a:lnTo>
                      <a:lnTo>
                        <a:pt x="56" y="288"/>
                      </a:lnTo>
                      <a:lnTo>
                        <a:pt x="42" y="279"/>
                      </a:lnTo>
                      <a:lnTo>
                        <a:pt x="20" y="268"/>
                      </a:lnTo>
                      <a:lnTo>
                        <a:pt x="11" y="260"/>
                      </a:lnTo>
                      <a:lnTo>
                        <a:pt x="0" y="238"/>
                      </a:lnTo>
                      <a:lnTo>
                        <a:pt x="8" y="222"/>
                      </a:lnTo>
                      <a:lnTo>
                        <a:pt x="25" y="187"/>
                      </a:lnTo>
                      <a:lnTo>
                        <a:pt x="23" y="166"/>
                      </a:lnTo>
                      <a:lnTo>
                        <a:pt x="29" y="144"/>
                      </a:lnTo>
                      <a:lnTo>
                        <a:pt x="48" y="101"/>
                      </a:lnTo>
                      <a:lnTo>
                        <a:pt x="62" y="74"/>
                      </a:lnTo>
                      <a:lnTo>
                        <a:pt x="76" y="52"/>
                      </a:lnTo>
                      <a:lnTo>
                        <a:pt x="92" y="35"/>
                      </a:lnTo>
                      <a:lnTo>
                        <a:pt x="109" y="21"/>
                      </a:lnTo>
                      <a:lnTo>
                        <a:pt x="123" y="11"/>
                      </a:lnTo>
                      <a:lnTo>
                        <a:pt x="144" y="5"/>
                      </a:lnTo>
                      <a:lnTo>
                        <a:pt x="167" y="0"/>
                      </a:lnTo>
                      <a:lnTo>
                        <a:pt x="193" y="0"/>
                      </a:lnTo>
                      <a:lnTo>
                        <a:pt x="219" y="11"/>
                      </a:lnTo>
                      <a:lnTo>
                        <a:pt x="244" y="14"/>
                      </a:lnTo>
                      <a:lnTo>
                        <a:pt x="269" y="13"/>
                      </a:lnTo>
                      <a:lnTo>
                        <a:pt x="286" y="14"/>
                      </a:lnTo>
                      <a:lnTo>
                        <a:pt x="307" y="23"/>
                      </a:lnTo>
                      <a:lnTo>
                        <a:pt x="326" y="26"/>
                      </a:lnTo>
                      <a:lnTo>
                        <a:pt x="345" y="32"/>
                      </a:lnTo>
                      <a:lnTo>
                        <a:pt x="356" y="37"/>
                      </a:lnTo>
                      <a:lnTo>
                        <a:pt x="361" y="41"/>
                      </a:lnTo>
                      <a:lnTo>
                        <a:pt x="366" y="45"/>
                      </a:lnTo>
                      <a:lnTo>
                        <a:pt x="377" y="58"/>
                      </a:lnTo>
                      <a:lnTo>
                        <a:pt x="380" y="65"/>
                      </a:lnTo>
                      <a:lnTo>
                        <a:pt x="382" y="72"/>
                      </a:lnTo>
                      <a:lnTo>
                        <a:pt x="382" y="93"/>
                      </a:lnTo>
                      <a:lnTo>
                        <a:pt x="380" y="110"/>
                      </a:lnTo>
                      <a:lnTo>
                        <a:pt x="373" y="120"/>
                      </a:lnTo>
                      <a:lnTo>
                        <a:pt x="354" y="136"/>
                      </a:lnTo>
                      <a:lnTo>
                        <a:pt x="357" y="127"/>
                      </a:lnTo>
                      <a:lnTo>
                        <a:pt x="358" y="119"/>
                      </a:lnTo>
                      <a:lnTo>
                        <a:pt x="355" y="103"/>
                      </a:lnTo>
                      <a:lnTo>
                        <a:pt x="352" y="96"/>
                      </a:lnTo>
                      <a:lnTo>
                        <a:pt x="347" y="89"/>
                      </a:lnTo>
                      <a:lnTo>
                        <a:pt x="342" y="81"/>
                      </a:lnTo>
                      <a:lnTo>
                        <a:pt x="332" y="72"/>
                      </a:lnTo>
                      <a:lnTo>
                        <a:pt x="319" y="64"/>
                      </a:lnTo>
                      <a:lnTo>
                        <a:pt x="304" y="58"/>
                      </a:lnTo>
                      <a:lnTo>
                        <a:pt x="288" y="53"/>
                      </a:lnTo>
                      <a:lnTo>
                        <a:pt x="286" y="58"/>
                      </a:lnTo>
                      <a:lnTo>
                        <a:pt x="281" y="65"/>
                      </a:lnTo>
                      <a:lnTo>
                        <a:pt x="274" y="75"/>
                      </a:lnTo>
                      <a:lnTo>
                        <a:pt x="270" y="88"/>
                      </a:lnTo>
                    </a:path>
                  </a:pathLst>
                </a:custGeom>
                <a:solidFill>
                  <a:srgbClr val="E1E1E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77" name="Freeform 145"/>
                <p:cNvSpPr>
                  <a:spLocks/>
                </p:cNvSpPr>
                <p:nvPr/>
              </p:nvSpPr>
              <p:spPr bwMode="auto">
                <a:xfrm>
                  <a:off x="957" y="3637"/>
                  <a:ext cx="107" cy="223"/>
                </a:xfrm>
                <a:custGeom>
                  <a:avLst/>
                  <a:gdLst/>
                  <a:ahLst/>
                  <a:cxnLst>
                    <a:cxn ang="0">
                      <a:pos x="106" y="1"/>
                    </a:cxn>
                    <a:cxn ang="0">
                      <a:pos x="94" y="0"/>
                    </a:cxn>
                    <a:cxn ang="0">
                      <a:pos x="82" y="3"/>
                    </a:cxn>
                    <a:cxn ang="0">
                      <a:pos x="70" y="7"/>
                    </a:cxn>
                    <a:cxn ang="0">
                      <a:pos x="56" y="17"/>
                    </a:cxn>
                    <a:cxn ang="0">
                      <a:pos x="52" y="23"/>
                    </a:cxn>
                    <a:cxn ang="0">
                      <a:pos x="46" y="34"/>
                    </a:cxn>
                    <a:cxn ang="0">
                      <a:pos x="44" y="43"/>
                    </a:cxn>
                    <a:cxn ang="0">
                      <a:pos x="33" y="66"/>
                    </a:cxn>
                    <a:cxn ang="0">
                      <a:pos x="26" y="86"/>
                    </a:cxn>
                    <a:cxn ang="0">
                      <a:pos x="20" y="117"/>
                    </a:cxn>
                    <a:cxn ang="0">
                      <a:pos x="11" y="141"/>
                    </a:cxn>
                    <a:cxn ang="0">
                      <a:pos x="9" y="155"/>
                    </a:cxn>
                    <a:cxn ang="0">
                      <a:pos x="16" y="181"/>
                    </a:cxn>
                    <a:cxn ang="0">
                      <a:pos x="26" y="199"/>
                    </a:cxn>
                    <a:cxn ang="0">
                      <a:pos x="50" y="222"/>
                    </a:cxn>
                    <a:cxn ang="0">
                      <a:pos x="36" y="214"/>
                    </a:cxn>
                    <a:cxn ang="0">
                      <a:pos x="4" y="190"/>
                    </a:cxn>
                    <a:cxn ang="0">
                      <a:pos x="0" y="164"/>
                    </a:cxn>
                    <a:cxn ang="0">
                      <a:pos x="2" y="136"/>
                    </a:cxn>
                    <a:cxn ang="0">
                      <a:pos x="7" y="105"/>
                    </a:cxn>
                    <a:cxn ang="0">
                      <a:pos x="18" y="77"/>
                    </a:cxn>
                    <a:cxn ang="0">
                      <a:pos x="60" y="22"/>
                    </a:cxn>
                    <a:cxn ang="0">
                      <a:pos x="78" y="10"/>
                    </a:cxn>
                    <a:cxn ang="0">
                      <a:pos x="88" y="5"/>
                    </a:cxn>
                    <a:cxn ang="0">
                      <a:pos x="106" y="1"/>
                    </a:cxn>
                  </a:cxnLst>
                  <a:rect l="0" t="0" r="r" b="b"/>
                  <a:pathLst>
                    <a:path w="107" h="223">
                      <a:moveTo>
                        <a:pt x="106" y="1"/>
                      </a:moveTo>
                      <a:lnTo>
                        <a:pt x="94" y="0"/>
                      </a:lnTo>
                      <a:lnTo>
                        <a:pt x="82" y="3"/>
                      </a:lnTo>
                      <a:lnTo>
                        <a:pt x="70" y="7"/>
                      </a:lnTo>
                      <a:lnTo>
                        <a:pt x="56" y="17"/>
                      </a:lnTo>
                      <a:lnTo>
                        <a:pt x="52" y="23"/>
                      </a:lnTo>
                      <a:lnTo>
                        <a:pt x="46" y="34"/>
                      </a:lnTo>
                      <a:lnTo>
                        <a:pt x="44" y="43"/>
                      </a:lnTo>
                      <a:lnTo>
                        <a:pt x="33" y="66"/>
                      </a:lnTo>
                      <a:lnTo>
                        <a:pt x="26" y="86"/>
                      </a:lnTo>
                      <a:lnTo>
                        <a:pt x="20" y="117"/>
                      </a:lnTo>
                      <a:lnTo>
                        <a:pt x="11" y="141"/>
                      </a:lnTo>
                      <a:lnTo>
                        <a:pt x="9" y="155"/>
                      </a:lnTo>
                      <a:lnTo>
                        <a:pt x="16" y="181"/>
                      </a:lnTo>
                      <a:lnTo>
                        <a:pt x="26" y="199"/>
                      </a:lnTo>
                      <a:lnTo>
                        <a:pt x="50" y="222"/>
                      </a:lnTo>
                      <a:lnTo>
                        <a:pt x="36" y="214"/>
                      </a:lnTo>
                      <a:lnTo>
                        <a:pt x="4" y="190"/>
                      </a:lnTo>
                      <a:lnTo>
                        <a:pt x="0" y="164"/>
                      </a:lnTo>
                      <a:lnTo>
                        <a:pt x="2" y="136"/>
                      </a:lnTo>
                      <a:lnTo>
                        <a:pt x="7" y="105"/>
                      </a:lnTo>
                      <a:lnTo>
                        <a:pt x="18" y="77"/>
                      </a:lnTo>
                      <a:lnTo>
                        <a:pt x="60" y="22"/>
                      </a:lnTo>
                      <a:lnTo>
                        <a:pt x="78" y="10"/>
                      </a:lnTo>
                      <a:lnTo>
                        <a:pt x="88" y="5"/>
                      </a:lnTo>
                      <a:lnTo>
                        <a:pt x="106" y="1"/>
                      </a:lnTo>
                    </a:path>
                  </a:pathLst>
                </a:custGeom>
                <a:solidFill>
                  <a:srgbClr val="FFFFF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78" name="Freeform 146"/>
                <p:cNvSpPr>
                  <a:spLocks/>
                </p:cNvSpPr>
                <p:nvPr/>
              </p:nvSpPr>
              <p:spPr bwMode="auto">
                <a:xfrm>
                  <a:off x="1001" y="3643"/>
                  <a:ext cx="107" cy="64"/>
                </a:xfrm>
                <a:custGeom>
                  <a:avLst/>
                  <a:gdLst/>
                  <a:ahLst/>
                  <a:cxnLst>
                    <a:cxn ang="0">
                      <a:pos x="59" y="0"/>
                    </a:cxn>
                    <a:cxn ang="0">
                      <a:pos x="48" y="5"/>
                    </a:cxn>
                    <a:cxn ang="0">
                      <a:pos x="24" y="20"/>
                    </a:cxn>
                    <a:cxn ang="0">
                      <a:pos x="17" y="31"/>
                    </a:cxn>
                    <a:cxn ang="0">
                      <a:pos x="8" y="41"/>
                    </a:cxn>
                    <a:cxn ang="0">
                      <a:pos x="0" y="53"/>
                    </a:cxn>
                    <a:cxn ang="0">
                      <a:pos x="0" y="63"/>
                    </a:cxn>
                    <a:cxn ang="0">
                      <a:pos x="27" y="34"/>
                    </a:cxn>
                    <a:cxn ang="0">
                      <a:pos x="48" y="23"/>
                    </a:cxn>
                    <a:cxn ang="0">
                      <a:pos x="73" y="16"/>
                    </a:cxn>
                    <a:cxn ang="0">
                      <a:pos x="63" y="26"/>
                    </a:cxn>
                    <a:cxn ang="0">
                      <a:pos x="93" y="11"/>
                    </a:cxn>
                    <a:cxn ang="0">
                      <a:pos x="106" y="9"/>
                    </a:cxn>
                    <a:cxn ang="0">
                      <a:pos x="89" y="3"/>
                    </a:cxn>
                    <a:cxn ang="0">
                      <a:pos x="73" y="0"/>
                    </a:cxn>
                    <a:cxn ang="0">
                      <a:pos x="59" y="0"/>
                    </a:cxn>
                  </a:cxnLst>
                  <a:rect l="0" t="0" r="r" b="b"/>
                  <a:pathLst>
                    <a:path w="107" h="64">
                      <a:moveTo>
                        <a:pt x="59" y="0"/>
                      </a:moveTo>
                      <a:lnTo>
                        <a:pt x="48" y="5"/>
                      </a:lnTo>
                      <a:lnTo>
                        <a:pt x="24" y="20"/>
                      </a:lnTo>
                      <a:lnTo>
                        <a:pt x="17" y="31"/>
                      </a:lnTo>
                      <a:lnTo>
                        <a:pt x="8" y="41"/>
                      </a:lnTo>
                      <a:lnTo>
                        <a:pt x="0" y="53"/>
                      </a:lnTo>
                      <a:lnTo>
                        <a:pt x="0" y="63"/>
                      </a:lnTo>
                      <a:lnTo>
                        <a:pt x="27" y="34"/>
                      </a:lnTo>
                      <a:lnTo>
                        <a:pt x="48" y="23"/>
                      </a:lnTo>
                      <a:lnTo>
                        <a:pt x="73" y="16"/>
                      </a:lnTo>
                      <a:lnTo>
                        <a:pt x="63" y="26"/>
                      </a:lnTo>
                      <a:lnTo>
                        <a:pt x="93" y="11"/>
                      </a:lnTo>
                      <a:lnTo>
                        <a:pt x="106" y="9"/>
                      </a:lnTo>
                      <a:lnTo>
                        <a:pt x="89" y="3"/>
                      </a:lnTo>
                      <a:lnTo>
                        <a:pt x="73" y="0"/>
                      </a:lnTo>
                      <a:lnTo>
                        <a:pt x="59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F7F7F7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79" name="Freeform 147"/>
                <p:cNvSpPr>
                  <a:spLocks/>
                </p:cNvSpPr>
                <p:nvPr/>
              </p:nvSpPr>
              <p:spPr bwMode="auto">
                <a:xfrm>
                  <a:off x="889" y="3632"/>
                  <a:ext cx="145" cy="258"/>
                </a:xfrm>
                <a:custGeom>
                  <a:avLst/>
                  <a:gdLst/>
                  <a:ahLst/>
                  <a:cxnLst>
                    <a:cxn ang="0">
                      <a:pos x="138" y="3"/>
                    </a:cxn>
                    <a:cxn ang="0">
                      <a:pos x="130" y="3"/>
                    </a:cxn>
                    <a:cxn ang="0">
                      <a:pos x="121" y="5"/>
                    </a:cxn>
                    <a:cxn ang="0">
                      <a:pos x="112" y="11"/>
                    </a:cxn>
                    <a:cxn ang="0">
                      <a:pos x="106" y="18"/>
                    </a:cxn>
                    <a:cxn ang="0">
                      <a:pos x="98" y="24"/>
                    </a:cxn>
                    <a:cxn ang="0">
                      <a:pos x="86" y="28"/>
                    </a:cxn>
                    <a:cxn ang="0">
                      <a:pos x="76" y="32"/>
                    </a:cxn>
                    <a:cxn ang="0">
                      <a:pos x="71" y="37"/>
                    </a:cxn>
                    <a:cxn ang="0">
                      <a:pos x="64" y="46"/>
                    </a:cxn>
                    <a:cxn ang="0">
                      <a:pos x="57" y="53"/>
                    </a:cxn>
                    <a:cxn ang="0">
                      <a:pos x="52" y="63"/>
                    </a:cxn>
                    <a:cxn ang="0">
                      <a:pos x="49" y="71"/>
                    </a:cxn>
                    <a:cxn ang="0">
                      <a:pos x="49" y="78"/>
                    </a:cxn>
                    <a:cxn ang="0">
                      <a:pos x="48" y="86"/>
                    </a:cxn>
                    <a:cxn ang="0">
                      <a:pos x="50" y="93"/>
                    </a:cxn>
                    <a:cxn ang="0">
                      <a:pos x="51" y="102"/>
                    </a:cxn>
                    <a:cxn ang="0">
                      <a:pos x="49" y="106"/>
                    </a:cxn>
                    <a:cxn ang="0">
                      <a:pos x="45" y="114"/>
                    </a:cxn>
                    <a:cxn ang="0">
                      <a:pos x="40" y="123"/>
                    </a:cxn>
                    <a:cxn ang="0">
                      <a:pos x="37" y="131"/>
                    </a:cxn>
                    <a:cxn ang="0">
                      <a:pos x="36" y="138"/>
                    </a:cxn>
                    <a:cxn ang="0">
                      <a:pos x="36" y="146"/>
                    </a:cxn>
                    <a:cxn ang="0">
                      <a:pos x="37" y="153"/>
                    </a:cxn>
                    <a:cxn ang="0">
                      <a:pos x="37" y="161"/>
                    </a:cxn>
                    <a:cxn ang="0">
                      <a:pos x="38" y="169"/>
                    </a:cxn>
                    <a:cxn ang="0">
                      <a:pos x="39" y="177"/>
                    </a:cxn>
                    <a:cxn ang="0">
                      <a:pos x="56" y="199"/>
                    </a:cxn>
                    <a:cxn ang="0">
                      <a:pos x="80" y="227"/>
                    </a:cxn>
                    <a:cxn ang="0">
                      <a:pos x="90" y="241"/>
                    </a:cxn>
                    <a:cxn ang="0">
                      <a:pos x="80" y="240"/>
                    </a:cxn>
                    <a:cxn ang="0">
                      <a:pos x="63" y="236"/>
                    </a:cxn>
                    <a:cxn ang="0">
                      <a:pos x="47" y="228"/>
                    </a:cxn>
                    <a:cxn ang="0">
                      <a:pos x="36" y="220"/>
                    </a:cxn>
                    <a:cxn ang="0">
                      <a:pos x="29" y="213"/>
                    </a:cxn>
                    <a:cxn ang="0">
                      <a:pos x="23" y="211"/>
                    </a:cxn>
                    <a:cxn ang="0">
                      <a:pos x="18" y="223"/>
                    </a:cxn>
                    <a:cxn ang="0">
                      <a:pos x="27" y="244"/>
                    </a:cxn>
                    <a:cxn ang="0">
                      <a:pos x="35" y="257"/>
                    </a:cxn>
                    <a:cxn ang="0">
                      <a:pos x="28" y="251"/>
                    </a:cxn>
                    <a:cxn ang="0">
                      <a:pos x="11" y="233"/>
                    </a:cxn>
                    <a:cxn ang="0">
                      <a:pos x="0" y="211"/>
                    </a:cxn>
                    <a:cxn ang="0">
                      <a:pos x="1" y="199"/>
                    </a:cxn>
                    <a:cxn ang="0">
                      <a:pos x="5" y="186"/>
                    </a:cxn>
                    <a:cxn ang="0">
                      <a:pos x="6" y="174"/>
                    </a:cxn>
                    <a:cxn ang="0">
                      <a:pos x="10" y="164"/>
                    </a:cxn>
                    <a:cxn ang="0">
                      <a:pos x="13" y="155"/>
                    </a:cxn>
                    <a:cxn ang="0">
                      <a:pos x="18" y="145"/>
                    </a:cxn>
                    <a:cxn ang="0">
                      <a:pos x="22" y="137"/>
                    </a:cxn>
                    <a:cxn ang="0">
                      <a:pos x="23" y="128"/>
                    </a:cxn>
                    <a:cxn ang="0">
                      <a:pos x="25" y="117"/>
                    </a:cxn>
                    <a:cxn ang="0">
                      <a:pos x="29" y="105"/>
                    </a:cxn>
                    <a:cxn ang="0">
                      <a:pos x="30" y="94"/>
                    </a:cxn>
                    <a:cxn ang="0">
                      <a:pos x="37" y="77"/>
                    </a:cxn>
                    <a:cxn ang="0">
                      <a:pos x="41" y="63"/>
                    </a:cxn>
                    <a:cxn ang="0">
                      <a:pos x="51" y="50"/>
                    </a:cxn>
                    <a:cxn ang="0">
                      <a:pos x="73" y="29"/>
                    </a:cxn>
                    <a:cxn ang="0">
                      <a:pos x="93" y="11"/>
                    </a:cxn>
                    <a:cxn ang="0">
                      <a:pos x="102" y="6"/>
                    </a:cxn>
                    <a:cxn ang="0">
                      <a:pos x="110" y="4"/>
                    </a:cxn>
                    <a:cxn ang="0">
                      <a:pos x="119" y="0"/>
                    </a:cxn>
                    <a:cxn ang="0">
                      <a:pos x="128" y="0"/>
                    </a:cxn>
                    <a:cxn ang="0">
                      <a:pos x="138" y="1"/>
                    </a:cxn>
                  </a:cxnLst>
                  <a:rect l="0" t="0" r="r" b="b"/>
                  <a:pathLst>
                    <a:path w="145" h="258">
                      <a:moveTo>
                        <a:pt x="144" y="1"/>
                      </a:moveTo>
                      <a:lnTo>
                        <a:pt x="142" y="3"/>
                      </a:lnTo>
                      <a:lnTo>
                        <a:pt x="141" y="3"/>
                      </a:lnTo>
                      <a:lnTo>
                        <a:pt x="139" y="3"/>
                      </a:lnTo>
                      <a:lnTo>
                        <a:pt x="138" y="3"/>
                      </a:lnTo>
                      <a:lnTo>
                        <a:pt x="137" y="3"/>
                      </a:lnTo>
                      <a:lnTo>
                        <a:pt x="135" y="3"/>
                      </a:lnTo>
                      <a:lnTo>
                        <a:pt x="133" y="3"/>
                      </a:lnTo>
                      <a:lnTo>
                        <a:pt x="132" y="3"/>
                      </a:lnTo>
                      <a:lnTo>
                        <a:pt x="130" y="3"/>
                      </a:lnTo>
                      <a:lnTo>
                        <a:pt x="128" y="3"/>
                      </a:lnTo>
                      <a:lnTo>
                        <a:pt x="127" y="4"/>
                      </a:lnTo>
                      <a:lnTo>
                        <a:pt x="126" y="4"/>
                      </a:lnTo>
                      <a:lnTo>
                        <a:pt x="124" y="4"/>
                      </a:lnTo>
                      <a:lnTo>
                        <a:pt x="121" y="5"/>
                      </a:lnTo>
                      <a:lnTo>
                        <a:pt x="119" y="5"/>
                      </a:lnTo>
                      <a:lnTo>
                        <a:pt x="117" y="7"/>
                      </a:lnTo>
                      <a:lnTo>
                        <a:pt x="116" y="7"/>
                      </a:lnTo>
                      <a:lnTo>
                        <a:pt x="114" y="9"/>
                      </a:lnTo>
                      <a:lnTo>
                        <a:pt x="112" y="11"/>
                      </a:lnTo>
                      <a:lnTo>
                        <a:pt x="111" y="12"/>
                      </a:lnTo>
                      <a:lnTo>
                        <a:pt x="110" y="13"/>
                      </a:lnTo>
                      <a:lnTo>
                        <a:pt x="108" y="15"/>
                      </a:lnTo>
                      <a:lnTo>
                        <a:pt x="106" y="17"/>
                      </a:lnTo>
                      <a:lnTo>
                        <a:pt x="106" y="18"/>
                      </a:lnTo>
                      <a:lnTo>
                        <a:pt x="104" y="19"/>
                      </a:lnTo>
                      <a:lnTo>
                        <a:pt x="103" y="21"/>
                      </a:lnTo>
                      <a:lnTo>
                        <a:pt x="102" y="23"/>
                      </a:lnTo>
                      <a:lnTo>
                        <a:pt x="101" y="23"/>
                      </a:lnTo>
                      <a:lnTo>
                        <a:pt x="98" y="24"/>
                      </a:lnTo>
                      <a:lnTo>
                        <a:pt x="95" y="24"/>
                      </a:lnTo>
                      <a:lnTo>
                        <a:pt x="92" y="26"/>
                      </a:lnTo>
                      <a:lnTo>
                        <a:pt x="90" y="26"/>
                      </a:lnTo>
                      <a:lnTo>
                        <a:pt x="87" y="28"/>
                      </a:lnTo>
                      <a:lnTo>
                        <a:pt x="86" y="28"/>
                      </a:lnTo>
                      <a:lnTo>
                        <a:pt x="83" y="29"/>
                      </a:lnTo>
                      <a:lnTo>
                        <a:pt x="81" y="29"/>
                      </a:lnTo>
                      <a:lnTo>
                        <a:pt x="80" y="30"/>
                      </a:lnTo>
                      <a:lnTo>
                        <a:pt x="78" y="30"/>
                      </a:lnTo>
                      <a:lnTo>
                        <a:pt x="76" y="32"/>
                      </a:lnTo>
                      <a:lnTo>
                        <a:pt x="75" y="32"/>
                      </a:lnTo>
                      <a:lnTo>
                        <a:pt x="74" y="34"/>
                      </a:lnTo>
                      <a:lnTo>
                        <a:pt x="73" y="34"/>
                      </a:lnTo>
                      <a:lnTo>
                        <a:pt x="73" y="35"/>
                      </a:lnTo>
                      <a:lnTo>
                        <a:pt x="71" y="37"/>
                      </a:lnTo>
                      <a:lnTo>
                        <a:pt x="70" y="39"/>
                      </a:lnTo>
                      <a:lnTo>
                        <a:pt x="69" y="41"/>
                      </a:lnTo>
                      <a:lnTo>
                        <a:pt x="68" y="42"/>
                      </a:lnTo>
                      <a:lnTo>
                        <a:pt x="66" y="44"/>
                      </a:lnTo>
                      <a:lnTo>
                        <a:pt x="64" y="46"/>
                      </a:lnTo>
                      <a:lnTo>
                        <a:pt x="63" y="47"/>
                      </a:lnTo>
                      <a:lnTo>
                        <a:pt x="61" y="49"/>
                      </a:lnTo>
                      <a:lnTo>
                        <a:pt x="60" y="50"/>
                      </a:lnTo>
                      <a:lnTo>
                        <a:pt x="58" y="52"/>
                      </a:lnTo>
                      <a:lnTo>
                        <a:pt x="57" y="53"/>
                      </a:lnTo>
                      <a:lnTo>
                        <a:pt x="55" y="54"/>
                      </a:lnTo>
                      <a:lnTo>
                        <a:pt x="53" y="58"/>
                      </a:lnTo>
                      <a:lnTo>
                        <a:pt x="53" y="59"/>
                      </a:lnTo>
                      <a:lnTo>
                        <a:pt x="52" y="61"/>
                      </a:lnTo>
                      <a:lnTo>
                        <a:pt x="52" y="63"/>
                      </a:lnTo>
                      <a:lnTo>
                        <a:pt x="51" y="64"/>
                      </a:lnTo>
                      <a:lnTo>
                        <a:pt x="51" y="66"/>
                      </a:lnTo>
                      <a:lnTo>
                        <a:pt x="51" y="68"/>
                      </a:lnTo>
                      <a:lnTo>
                        <a:pt x="51" y="70"/>
                      </a:lnTo>
                      <a:lnTo>
                        <a:pt x="49" y="71"/>
                      </a:lnTo>
                      <a:lnTo>
                        <a:pt x="49" y="73"/>
                      </a:lnTo>
                      <a:lnTo>
                        <a:pt x="49" y="75"/>
                      </a:lnTo>
                      <a:lnTo>
                        <a:pt x="49" y="76"/>
                      </a:lnTo>
                      <a:lnTo>
                        <a:pt x="49" y="77"/>
                      </a:lnTo>
                      <a:lnTo>
                        <a:pt x="49" y="78"/>
                      </a:lnTo>
                      <a:lnTo>
                        <a:pt x="48" y="80"/>
                      </a:lnTo>
                      <a:lnTo>
                        <a:pt x="48" y="82"/>
                      </a:lnTo>
                      <a:lnTo>
                        <a:pt x="48" y="83"/>
                      </a:lnTo>
                      <a:lnTo>
                        <a:pt x="48" y="84"/>
                      </a:lnTo>
                      <a:lnTo>
                        <a:pt x="48" y="86"/>
                      </a:lnTo>
                      <a:lnTo>
                        <a:pt x="48" y="87"/>
                      </a:lnTo>
                      <a:lnTo>
                        <a:pt x="48" y="88"/>
                      </a:lnTo>
                      <a:lnTo>
                        <a:pt x="50" y="90"/>
                      </a:lnTo>
                      <a:lnTo>
                        <a:pt x="50" y="92"/>
                      </a:lnTo>
                      <a:lnTo>
                        <a:pt x="50" y="93"/>
                      </a:lnTo>
                      <a:lnTo>
                        <a:pt x="50" y="95"/>
                      </a:lnTo>
                      <a:lnTo>
                        <a:pt x="51" y="97"/>
                      </a:lnTo>
                      <a:lnTo>
                        <a:pt x="51" y="99"/>
                      </a:lnTo>
                      <a:lnTo>
                        <a:pt x="51" y="100"/>
                      </a:lnTo>
                      <a:lnTo>
                        <a:pt x="51" y="102"/>
                      </a:lnTo>
                      <a:lnTo>
                        <a:pt x="52" y="102"/>
                      </a:lnTo>
                      <a:lnTo>
                        <a:pt x="51" y="103"/>
                      </a:lnTo>
                      <a:lnTo>
                        <a:pt x="51" y="104"/>
                      </a:lnTo>
                      <a:lnTo>
                        <a:pt x="49" y="105"/>
                      </a:lnTo>
                      <a:lnTo>
                        <a:pt x="49" y="106"/>
                      </a:lnTo>
                      <a:lnTo>
                        <a:pt x="47" y="108"/>
                      </a:lnTo>
                      <a:lnTo>
                        <a:pt x="47" y="110"/>
                      </a:lnTo>
                      <a:lnTo>
                        <a:pt x="46" y="111"/>
                      </a:lnTo>
                      <a:lnTo>
                        <a:pt x="45" y="112"/>
                      </a:lnTo>
                      <a:lnTo>
                        <a:pt x="45" y="114"/>
                      </a:lnTo>
                      <a:lnTo>
                        <a:pt x="43" y="116"/>
                      </a:lnTo>
                      <a:lnTo>
                        <a:pt x="43" y="117"/>
                      </a:lnTo>
                      <a:lnTo>
                        <a:pt x="41" y="119"/>
                      </a:lnTo>
                      <a:lnTo>
                        <a:pt x="41" y="121"/>
                      </a:lnTo>
                      <a:lnTo>
                        <a:pt x="40" y="123"/>
                      </a:lnTo>
                      <a:lnTo>
                        <a:pt x="40" y="124"/>
                      </a:lnTo>
                      <a:lnTo>
                        <a:pt x="39" y="126"/>
                      </a:lnTo>
                      <a:lnTo>
                        <a:pt x="39" y="128"/>
                      </a:lnTo>
                      <a:lnTo>
                        <a:pt x="37" y="129"/>
                      </a:lnTo>
                      <a:lnTo>
                        <a:pt x="37" y="131"/>
                      </a:lnTo>
                      <a:lnTo>
                        <a:pt x="37" y="133"/>
                      </a:lnTo>
                      <a:lnTo>
                        <a:pt x="37" y="134"/>
                      </a:lnTo>
                      <a:lnTo>
                        <a:pt x="36" y="135"/>
                      </a:lnTo>
                      <a:lnTo>
                        <a:pt x="36" y="136"/>
                      </a:lnTo>
                      <a:lnTo>
                        <a:pt x="36" y="138"/>
                      </a:lnTo>
                      <a:lnTo>
                        <a:pt x="36" y="140"/>
                      </a:lnTo>
                      <a:lnTo>
                        <a:pt x="36" y="141"/>
                      </a:lnTo>
                      <a:lnTo>
                        <a:pt x="36" y="143"/>
                      </a:lnTo>
                      <a:lnTo>
                        <a:pt x="36" y="145"/>
                      </a:lnTo>
                      <a:lnTo>
                        <a:pt x="36" y="146"/>
                      </a:lnTo>
                      <a:lnTo>
                        <a:pt x="36" y="148"/>
                      </a:lnTo>
                      <a:lnTo>
                        <a:pt x="36" y="150"/>
                      </a:lnTo>
                      <a:lnTo>
                        <a:pt x="36" y="152"/>
                      </a:lnTo>
                      <a:lnTo>
                        <a:pt x="37" y="152"/>
                      </a:lnTo>
                      <a:lnTo>
                        <a:pt x="37" y="153"/>
                      </a:lnTo>
                      <a:lnTo>
                        <a:pt x="37" y="155"/>
                      </a:lnTo>
                      <a:lnTo>
                        <a:pt x="37" y="157"/>
                      </a:lnTo>
                      <a:lnTo>
                        <a:pt x="37" y="158"/>
                      </a:lnTo>
                      <a:lnTo>
                        <a:pt x="37" y="159"/>
                      </a:lnTo>
                      <a:lnTo>
                        <a:pt x="37" y="161"/>
                      </a:lnTo>
                      <a:lnTo>
                        <a:pt x="37" y="163"/>
                      </a:lnTo>
                      <a:lnTo>
                        <a:pt x="38" y="164"/>
                      </a:lnTo>
                      <a:lnTo>
                        <a:pt x="38" y="165"/>
                      </a:lnTo>
                      <a:lnTo>
                        <a:pt x="38" y="167"/>
                      </a:lnTo>
                      <a:lnTo>
                        <a:pt x="38" y="169"/>
                      </a:lnTo>
                      <a:lnTo>
                        <a:pt x="39" y="170"/>
                      </a:lnTo>
                      <a:lnTo>
                        <a:pt x="39" y="171"/>
                      </a:lnTo>
                      <a:lnTo>
                        <a:pt x="39" y="172"/>
                      </a:lnTo>
                      <a:lnTo>
                        <a:pt x="39" y="174"/>
                      </a:lnTo>
                      <a:lnTo>
                        <a:pt x="39" y="177"/>
                      </a:lnTo>
                      <a:lnTo>
                        <a:pt x="40" y="181"/>
                      </a:lnTo>
                      <a:lnTo>
                        <a:pt x="43" y="185"/>
                      </a:lnTo>
                      <a:lnTo>
                        <a:pt x="46" y="188"/>
                      </a:lnTo>
                      <a:lnTo>
                        <a:pt x="51" y="194"/>
                      </a:lnTo>
                      <a:lnTo>
                        <a:pt x="56" y="199"/>
                      </a:lnTo>
                      <a:lnTo>
                        <a:pt x="61" y="205"/>
                      </a:lnTo>
                      <a:lnTo>
                        <a:pt x="66" y="210"/>
                      </a:lnTo>
                      <a:lnTo>
                        <a:pt x="71" y="216"/>
                      </a:lnTo>
                      <a:lnTo>
                        <a:pt x="76" y="221"/>
                      </a:lnTo>
                      <a:lnTo>
                        <a:pt x="80" y="227"/>
                      </a:lnTo>
                      <a:lnTo>
                        <a:pt x="85" y="230"/>
                      </a:lnTo>
                      <a:lnTo>
                        <a:pt x="87" y="235"/>
                      </a:lnTo>
                      <a:lnTo>
                        <a:pt x="90" y="238"/>
                      </a:lnTo>
                      <a:lnTo>
                        <a:pt x="92" y="240"/>
                      </a:lnTo>
                      <a:lnTo>
                        <a:pt x="90" y="241"/>
                      </a:lnTo>
                      <a:lnTo>
                        <a:pt x="89" y="241"/>
                      </a:lnTo>
                      <a:lnTo>
                        <a:pt x="87" y="241"/>
                      </a:lnTo>
                      <a:lnTo>
                        <a:pt x="86" y="240"/>
                      </a:lnTo>
                      <a:lnTo>
                        <a:pt x="82" y="240"/>
                      </a:lnTo>
                      <a:lnTo>
                        <a:pt x="80" y="240"/>
                      </a:lnTo>
                      <a:lnTo>
                        <a:pt x="76" y="240"/>
                      </a:lnTo>
                      <a:lnTo>
                        <a:pt x="74" y="238"/>
                      </a:lnTo>
                      <a:lnTo>
                        <a:pt x="69" y="238"/>
                      </a:lnTo>
                      <a:lnTo>
                        <a:pt x="66" y="236"/>
                      </a:lnTo>
                      <a:lnTo>
                        <a:pt x="63" y="236"/>
                      </a:lnTo>
                      <a:lnTo>
                        <a:pt x="59" y="234"/>
                      </a:lnTo>
                      <a:lnTo>
                        <a:pt x="56" y="234"/>
                      </a:lnTo>
                      <a:lnTo>
                        <a:pt x="53" y="232"/>
                      </a:lnTo>
                      <a:lnTo>
                        <a:pt x="50" y="230"/>
                      </a:lnTo>
                      <a:lnTo>
                        <a:pt x="47" y="228"/>
                      </a:lnTo>
                      <a:lnTo>
                        <a:pt x="45" y="227"/>
                      </a:lnTo>
                      <a:lnTo>
                        <a:pt x="43" y="225"/>
                      </a:lnTo>
                      <a:lnTo>
                        <a:pt x="40" y="223"/>
                      </a:lnTo>
                      <a:lnTo>
                        <a:pt x="39" y="222"/>
                      </a:lnTo>
                      <a:lnTo>
                        <a:pt x="36" y="220"/>
                      </a:lnTo>
                      <a:lnTo>
                        <a:pt x="35" y="218"/>
                      </a:lnTo>
                      <a:lnTo>
                        <a:pt x="34" y="216"/>
                      </a:lnTo>
                      <a:lnTo>
                        <a:pt x="32" y="215"/>
                      </a:lnTo>
                      <a:lnTo>
                        <a:pt x="30" y="215"/>
                      </a:lnTo>
                      <a:lnTo>
                        <a:pt x="29" y="213"/>
                      </a:lnTo>
                      <a:lnTo>
                        <a:pt x="27" y="213"/>
                      </a:lnTo>
                      <a:lnTo>
                        <a:pt x="26" y="211"/>
                      </a:lnTo>
                      <a:lnTo>
                        <a:pt x="24" y="211"/>
                      </a:lnTo>
                      <a:lnTo>
                        <a:pt x="23" y="211"/>
                      </a:lnTo>
                      <a:lnTo>
                        <a:pt x="23" y="211"/>
                      </a:lnTo>
                      <a:lnTo>
                        <a:pt x="20" y="212"/>
                      </a:lnTo>
                      <a:lnTo>
                        <a:pt x="18" y="213"/>
                      </a:lnTo>
                      <a:lnTo>
                        <a:pt x="18" y="216"/>
                      </a:lnTo>
                      <a:lnTo>
                        <a:pt x="18" y="219"/>
                      </a:lnTo>
                      <a:lnTo>
                        <a:pt x="18" y="223"/>
                      </a:lnTo>
                      <a:lnTo>
                        <a:pt x="20" y="227"/>
                      </a:lnTo>
                      <a:lnTo>
                        <a:pt x="22" y="232"/>
                      </a:lnTo>
                      <a:lnTo>
                        <a:pt x="23" y="235"/>
                      </a:lnTo>
                      <a:lnTo>
                        <a:pt x="25" y="240"/>
                      </a:lnTo>
                      <a:lnTo>
                        <a:pt x="27" y="244"/>
                      </a:lnTo>
                      <a:lnTo>
                        <a:pt x="29" y="247"/>
                      </a:lnTo>
                      <a:lnTo>
                        <a:pt x="31" y="251"/>
                      </a:lnTo>
                      <a:lnTo>
                        <a:pt x="33" y="253"/>
                      </a:lnTo>
                      <a:lnTo>
                        <a:pt x="34" y="255"/>
                      </a:lnTo>
                      <a:lnTo>
                        <a:pt x="35" y="257"/>
                      </a:lnTo>
                      <a:lnTo>
                        <a:pt x="36" y="256"/>
                      </a:lnTo>
                      <a:lnTo>
                        <a:pt x="34" y="256"/>
                      </a:lnTo>
                      <a:lnTo>
                        <a:pt x="33" y="255"/>
                      </a:lnTo>
                      <a:lnTo>
                        <a:pt x="29" y="253"/>
                      </a:lnTo>
                      <a:lnTo>
                        <a:pt x="28" y="251"/>
                      </a:lnTo>
                      <a:lnTo>
                        <a:pt x="24" y="247"/>
                      </a:lnTo>
                      <a:lnTo>
                        <a:pt x="21" y="244"/>
                      </a:lnTo>
                      <a:lnTo>
                        <a:pt x="18" y="240"/>
                      </a:lnTo>
                      <a:lnTo>
                        <a:pt x="15" y="236"/>
                      </a:lnTo>
                      <a:lnTo>
                        <a:pt x="11" y="233"/>
                      </a:lnTo>
                      <a:lnTo>
                        <a:pt x="8" y="228"/>
                      </a:lnTo>
                      <a:lnTo>
                        <a:pt x="5" y="223"/>
                      </a:lnTo>
                      <a:lnTo>
                        <a:pt x="3" y="219"/>
                      </a:lnTo>
                      <a:lnTo>
                        <a:pt x="1" y="216"/>
                      </a:lnTo>
                      <a:lnTo>
                        <a:pt x="0" y="211"/>
                      </a:lnTo>
                      <a:lnTo>
                        <a:pt x="0" y="208"/>
                      </a:lnTo>
                      <a:lnTo>
                        <a:pt x="1" y="204"/>
                      </a:lnTo>
                      <a:lnTo>
                        <a:pt x="1" y="202"/>
                      </a:lnTo>
                      <a:lnTo>
                        <a:pt x="1" y="200"/>
                      </a:lnTo>
                      <a:lnTo>
                        <a:pt x="1" y="199"/>
                      </a:lnTo>
                      <a:lnTo>
                        <a:pt x="3" y="196"/>
                      </a:lnTo>
                      <a:lnTo>
                        <a:pt x="3" y="194"/>
                      </a:lnTo>
                      <a:lnTo>
                        <a:pt x="4" y="191"/>
                      </a:lnTo>
                      <a:lnTo>
                        <a:pt x="4" y="188"/>
                      </a:lnTo>
                      <a:lnTo>
                        <a:pt x="5" y="186"/>
                      </a:lnTo>
                      <a:lnTo>
                        <a:pt x="5" y="184"/>
                      </a:lnTo>
                      <a:lnTo>
                        <a:pt x="5" y="181"/>
                      </a:lnTo>
                      <a:lnTo>
                        <a:pt x="5" y="178"/>
                      </a:lnTo>
                      <a:lnTo>
                        <a:pt x="6" y="175"/>
                      </a:lnTo>
                      <a:lnTo>
                        <a:pt x="6" y="174"/>
                      </a:lnTo>
                      <a:lnTo>
                        <a:pt x="8" y="170"/>
                      </a:lnTo>
                      <a:lnTo>
                        <a:pt x="8" y="170"/>
                      </a:lnTo>
                      <a:lnTo>
                        <a:pt x="10" y="166"/>
                      </a:lnTo>
                      <a:lnTo>
                        <a:pt x="10" y="165"/>
                      </a:lnTo>
                      <a:lnTo>
                        <a:pt x="10" y="164"/>
                      </a:lnTo>
                      <a:lnTo>
                        <a:pt x="10" y="162"/>
                      </a:lnTo>
                      <a:lnTo>
                        <a:pt x="11" y="160"/>
                      </a:lnTo>
                      <a:lnTo>
                        <a:pt x="11" y="158"/>
                      </a:lnTo>
                      <a:lnTo>
                        <a:pt x="13" y="157"/>
                      </a:lnTo>
                      <a:lnTo>
                        <a:pt x="13" y="155"/>
                      </a:lnTo>
                      <a:lnTo>
                        <a:pt x="15" y="152"/>
                      </a:lnTo>
                      <a:lnTo>
                        <a:pt x="15" y="151"/>
                      </a:lnTo>
                      <a:lnTo>
                        <a:pt x="17" y="149"/>
                      </a:lnTo>
                      <a:lnTo>
                        <a:pt x="17" y="147"/>
                      </a:lnTo>
                      <a:lnTo>
                        <a:pt x="18" y="145"/>
                      </a:lnTo>
                      <a:lnTo>
                        <a:pt x="18" y="143"/>
                      </a:lnTo>
                      <a:lnTo>
                        <a:pt x="20" y="141"/>
                      </a:lnTo>
                      <a:lnTo>
                        <a:pt x="20" y="140"/>
                      </a:lnTo>
                      <a:lnTo>
                        <a:pt x="22" y="138"/>
                      </a:lnTo>
                      <a:lnTo>
                        <a:pt x="22" y="137"/>
                      </a:lnTo>
                      <a:lnTo>
                        <a:pt x="22" y="135"/>
                      </a:lnTo>
                      <a:lnTo>
                        <a:pt x="22" y="134"/>
                      </a:lnTo>
                      <a:lnTo>
                        <a:pt x="23" y="131"/>
                      </a:lnTo>
                      <a:lnTo>
                        <a:pt x="23" y="129"/>
                      </a:lnTo>
                      <a:lnTo>
                        <a:pt x="23" y="128"/>
                      </a:lnTo>
                      <a:lnTo>
                        <a:pt x="23" y="126"/>
                      </a:lnTo>
                      <a:lnTo>
                        <a:pt x="25" y="123"/>
                      </a:lnTo>
                      <a:lnTo>
                        <a:pt x="25" y="121"/>
                      </a:lnTo>
                      <a:lnTo>
                        <a:pt x="25" y="119"/>
                      </a:lnTo>
                      <a:lnTo>
                        <a:pt x="25" y="117"/>
                      </a:lnTo>
                      <a:lnTo>
                        <a:pt x="27" y="114"/>
                      </a:lnTo>
                      <a:lnTo>
                        <a:pt x="27" y="112"/>
                      </a:lnTo>
                      <a:lnTo>
                        <a:pt x="27" y="111"/>
                      </a:lnTo>
                      <a:lnTo>
                        <a:pt x="27" y="109"/>
                      </a:lnTo>
                      <a:lnTo>
                        <a:pt x="29" y="105"/>
                      </a:lnTo>
                      <a:lnTo>
                        <a:pt x="29" y="105"/>
                      </a:lnTo>
                      <a:lnTo>
                        <a:pt x="29" y="103"/>
                      </a:lnTo>
                      <a:lnTo>
                        <a:pt x="29" y="100"/>
                      </a:lnTo>
                      <a:lnTo>
                        <a:pt x="30" y="97"/>
                      </a:lnTo>
                      <a:lnTo>
                        <a:pt x="30" y="94"/>
                      </a:lnTo>
                      <a:lnTo>
                        <a:pt x="32" y="91"/>
                      </a:lnTo>
                      <a:lnTo>
                        <a:pt x="34" y="87"/>
                      </a:lnTo>
                      <a:lnTo>
                        <a:pt x="35" y="83"/>
                      </a:lnTo>
                      <a:lnTo>
                        <a:pt x="35" y="80"/>
                      </a:lnTo>
                      <a:lnTo>
                        <a:pt x="37" y="77"/>
                      </a:lnTo>
                      <a:lnTo>
                        <a:pt x="38" y="74"/>
                      </a:lnTo>
                      <a:lnTo>
                        <a:pt x="40" y="70"/>
                      </a:lnTo>
                      <a:lnTo>
                        <a:pt x="40" y="68"/>
                      </a:lnTo>
                      <a:lnTo>
                        <a:pt x="41" y="64"/>
                      </a:lnTo>
                      <a:lnTo>
                        <a:pt x="41" y="63"/>
                      </a:lnTo>
                      <a:lnTo>
                        <a:pt x="43" y="60"/>
                      </a:lnTo>
                      <a:lnTo>
                        <a:pt x="43" y="59"/>
                      </a:lnTo>
                      <a:lnTo>
                        <a:pt x="45" y="57"/>
                      </a:lnTo>
                      <a:lnTo>
                        <a:pt x="47" y="53"/>
                      </a:lnTo>
                      <a:lnTo>
                        <a:pt x="51" y="50"/>
                      </a:lnTo>
                      <a:lnTo>
                        <a:pt x="54" y="46"/>
                      </a:lnTo>
                      <a:lnTo>
                        <a:pt x="59" y="42"/>
                      </a:lnTo>
                      <a:lnTo>
                        <a:pt x="64" y="37"/>
                      </a:lnTo>
                      <a:lnTo>
                        <a:pt x="69" y="32"/>
                      </a:lnTo>
                      <a:lnTo>
                        <a:pt x="73" y="29"/>
                      </a:lnTo>
                      <a:lnTo>
                        <a:pt x="78" y="24"/>
                      </a:lnTo>
                      <a:lnTo>
                        <a:pt x="82" y="21"/>
                      </a:lnTo>
                      <a:lnTo>
                        <a:pt x="87" y="17"/>
                      </a:lnTo>
                      <a:lnTo>
                        <a:pt x="90" y="14"/>
                      </a:lnTo>
                      <a:lnTo>
                        <a:pt x="93" y="11"/>
                      </a:lnTo>
                      <a:lnTo>
                        <a:pt x="95" y="10"/>
                      </a:lnTo>
                      <a:lnTo>
                        <a:pt x="98" y="8"/>
                      </a:lnTo>
                      <a:lnTo>
                        <a:pt x="98" y="8"/>
                      </a:lnTo>
                      <a:lnTo>
                        <a:pt x="100" y="8"/>
                      </a:lnTo>
                      <a:lnTo>
                        <a:pt x="102" y="6"/>
                      </a:lnTo>
                      <a:lnTo>
                        <a:pt x="104" y="6"/>
                      </a:lnTo>
                      <a:lnTo>
                        <a:pt x="105" y="5"/>
                      </a:lnTo>
                      <a:lnTo>
                        <a:pt x="106" y="5"/>
                      </a:lnTo>
                      <a:lnTo>
                        <a:pt x="108" y="4"/>
                      </a:lnTo>
                      <a:lnTo>
                        <a:pt x="110" y="4"/>
                      </a:lnTo>
                      <a:lnTo>
                        <a:pt x="111" y="3"/>
                      </a:lnTo>
                      <a:lnTo>
                        <a:pt x="112" y="3"/>
                      </a:lnTo>
                      <a:lnTo>
                        <a:pt x="114" y="1"/>
                      </a:lnTo>
                      <a:lnTo>
                        <a:pt x="116" y="1"/>
                      </a:lnTo>
                      <a:lnTo>
                        <a:pt x="119" y="0"/>
                      </a:lnTo>
                      <a:lnTo>
                        <a:pt x="120" y="0"/>
                      </a:lnTo>
                      <a:lnTo>
                        <a:pt x="121" y="0"/>
                      </a:lnTo>
                      <a:lnTo>
                        <a:pt x="123" y="0"/>
                      </a:lnTo>
                      <a:lnTo>
                        <a:pt x="127" y="0"/>
                      </a:lnTo>
                      <a:lnTo>
                        <a:pt x="128" y="0"/>
                      </a:lnTo>
                      <a:lnTo>
                        <a:pt x="130" y="0"/>
                      </a:lnTo>
                      <a:lnTo>
                        <a:pt x="132" y="0"/>
                      </a:lnTo>
                      <a:lnTo>
                        <a:pt x="135" y="0"/>
                      </a:lnTo>
                      <a:lnTo>
                        <a:pt x="136" y="1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1" y="1"/>
                      </a:lnTo>
                      <a:lnTo>
                        <a:pt x="143" y="1"/>
                      </a:lnTo>
                      <a:lnTo>
                        <a:pt x="144" y="1"/>
                      </a:lnTo>
                    </a:path>
                  </a:pathLst>
                </a:custGeom>
                <a:solidFill>
                  <a:srgbClr val="C0C0C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80" name="Freeform 148"/>
                <p:cNvSpPr>
                  <a:spLocks/>
                </p:cNvSpPr>
                <p:nvPr/>
              </p:nvSpPr>
              <p:spPr bwMode="auto">
                <a:xfrm>
                  <a:off x="849" y="3729"/>
                  <a:ext cx="47" cy="152"/>
                </a:xfrm>
                <a:custGeom>
                  <a:avLst/>
                  <a:gdLst/>
                  <a:ahLst/>
                  <a:cxnLst>
                    <a:cxn ang="0">
                      <a:pos x="17" y="75"/>
                    </a:cxn>
                    <a:cxn ang="0">
                      <a:pos x="19" y="71"/>
                    </a:cxn>
                    <a:cxn ang="0">
                      <a:pos x="21" y="66"/>
                    </a:cxn>
                    <a:cxn ang="0">
                      <a:pos x="23" y="61"/>
                    </a:cxn>
                    <a:cxn ang="0">
                      <a:pos x="23" y="56"/>
                    </a:cxn>
                    <a:cxn ang="0">
                      <a:pos x="26" y="51"/>
                    </a:cxn>
                    <a:cxn ang="0">
                      <a:pos x="28" y="45"/>
                    </a:cxn>
                    <a:cxn ang="0">
                      <a:pos x="33" y="36"/>
                    </a:cxn>
                    <a:cxn ang="0">
                      <a:pos x="35" y="30"/>
                    </a:cxn>
                    <a:cxn ang="0">
                      <a:pos x="38" y="23"/>
                    </a:cxn>
                    <a:cxn ang="0">
                      <a:pos x="41" y="16"/>
                    </a:cxn>
                    <a:cxn ang="0">
                      <a:pos x="41" y="12"/>
                    </a:cxn>
                    <a:cxn ang="0">
                      <a:pos x="42" y="7"/>
                    </a:cxn>
                    <a:cxn ang="0">
                      <a:pos x="44" y="3"/>
                    </a:cxn>
                    <a:cxn ang="0">
                      <a:pos x="44" y="1"/>
                    </a:cxn>
                    <a:cxn ang="0">
                      <a:pos x="41" y="8"/>
                    </a:cxn>
                    <a:cxn ang="0">
                      <a:pos x="40" y="16"/>
                    </a:cxn>
                    <a:cxn ang="0">
                      <a:pos x="36" y="25"/>
                    </a:cxn>
                    <a:cxn ang="0">
                      <a:pos x="35" y="35"/>
                    </a:cxn>
                    <a:cxn ang="0">
                      <a:pos x="33" y="42"/>
                    </a:cxn>
                    <a:cxn ang="0">
                      <a:pos x="30" y="54"/>
                    </a:cxn>
                    <a:cxn ang="0">
                      <a:pos x="26" y="68"/>
                    </a:cxn>
                    <a:cxn ang="0">
                      <a:pos x="23" y="82"/>
                    </a:cxn>
                    <a:cxn ang="0">
                      <a:pos x="19" y="96"/>
                    </a:cxn>
                    <a:cxn ang="0">
                      <a:pos x="18" y="104"/>
                    </a:cxn>
                    <a:cxn ang="0">
                      <a:pos x="21" y="118"/>
                    </a:cxn>
                    <a:cxn ang="0">
                      <a:pos x="27" y="130"/>
                    </a:cxn>
                    <a:cxn ang="0">
                      <a:pos x="35" y="140"/>
                    </a:cxn>
                    <a:cxn ang="0">
                      <a:pos x="41" y="148"/>
                    </a:cxn>
                    <a:cxn ang="0">
                      <a:pos x="45" y="151"/>
                    </a:cxn>
                    <a:cxn ang="0">
                      <a:pos x="44" y="150"/>
                    </a:cxn>
                    <a:cxn ang="0">
                      <a:pos x="40" y="149"/>
                    </a:cxn>
                    <a:cxn ang="0">
                      <a:pos x="35" y="145"/>
                    </a:cxn>
                    <a:cxn ang="0">
                      <a:pos x="26" y="142"/>
                    </a:cxn>
                    <a:cxn ang="0">
                      <a:pos x="17" y="137"/>
                    </a:cxn>
                    <a:cxn ang="0">
                      <a:pos x="11" y="133"/>
                    </a:cxn>
                    <a:cxn ang="0">
                      <a:pos x="6" y="128"/>
                    </a:cxn>
                    <a:cxn ang="0">
                      <a:pos x="2" y="124"/>
                    </a:cxn>
                    <a:cxn ang="0">
                      <a:pos x="0" y="120"/>
                    </a:cxn>
                    <a:cxn ang="0">
                      <a:pos x="0" y="115"/>
                    </a:cxn>
                    <a:cxn ang="0">
                      <a:pos x="0" y="111"/>
                    </a:cxn>
                    <a:cxn ang="0">
                      <a:pos x="1" y="108"/>
                    </a:cxn>
                    <a:cxn ang="0">
                      <a:pos x="4" y="103"/>
                    </a:cxn>
                    <a:cxn ang="0">
                      <a:pos x="5" y="97"/>
                    </a:cxn>
                    <a:cxn ang="0">
                      <a:pos x="7" y="92"/>
                    </a:cxn>
                    <a:cxn ang="0">
                      <a:pos x="7" y="87"/>
                    </a:cxn>
                    <a:cxn ang="0">
                      <a:pos x="7" y="82"/>
                    </a:cxn>
                    <a:cxn ang="0">
                      <a:pos x="7" y="79"/>
                    </a:cxn>
                    <a:cxn ang="0">
                      <a:pos x="7" y="76"/>
                    </a:cxn>
                    <a:cxn ang="0">
                      <a:pos x="8" y="79"/>
                    </a:cxn>
                    <a:cxn ang="0">
                      <a:pos x="10" y="81"/>
                    </a:cxn>
                    <a:cxn ang="0">
                      <a:pos x="12" y="84"/>
                    </a:cxn>
                    <a:cxn ang="0">
                      <a:pos x="17" y="79"/>
                    </a:cxn>
                  </a:cxnLst>
                  <a:rect l="0" t="0" r="r" b="b"/>
                  <a:pathLst>
                    <a:path w="47" h="152">
                      <a:moveTo>
                        <a:pt x="17" y="79"/>
                      </a:moveTo>
                      <a:lnTo>
                        <a:pt x="17" y="77"/>
                      </a:lnTo>
                      <a:lnTo>
                        <a:pt x="17" y="75"/>
                      </a:lnTo>
                      <a:lnTo>
                        <a:pt x="19" y="73"/>
                      </a:lnTo>
                      <a:lnTo>
                        <a:pt x="19" y="72"/>
                      </a:lnTo>
                      <a:lnTo>
                        <a:pt x="19" y="71"/>
                      </a:lnTo>
                      <a:lnTo>
                        <a:pt x="19" y="69"/>
                      </a:lnTo>
                      <a:lnTo>
                        <a:pt x="21" y="67"/>
                      </a:lnTo>
                      <a:lnTo>
                        <a:pt x="21" y="66"/>
                      </a:lnTo>
                      <a:lnTo>
                        <a:pt x="21" y="64"/>
                      </a:lnTo>
                      <a:lnTo>
                        <a:pt x="21" y="63"/>
                      </a:lnTo>
                      <a:lnTo>
                        <a:pt x="23" y="61"/>
                      </a:lnTo>
                      <a:lnTo>
                        <a:pt x="23" y="60"/>
                      </a:lnTo>
                      <a:lnTo>
                        <a:pt x="23" y="58"/>
                      </a:lnTo>
                      <a:lnTo>
                        <a:pt x="23" y="56"/>
                      </a:lnTo>
                      <a:lnTo>
                        <a:pt x="24" y="54"/>
                      </a:lnTo>
                      <a:lnTo>
                        <a:pt x="24" y="53"/>
                      </a:lnTo>
                      <a:lnTo>
                        <a:pt x="26" y="51"/>
                      </a:lnTo>
                      <a:lnTo>
                        <a:pt x="26" y="49"/>
                      </a:lnTo>
                      <a:lnTo>
                        <a:pt x="28" y="47"/>
                      </a:lnTo>
                      <a:lnTo>
                        <a:pt x="28" y="45"/>
                      </a:lnTo>
                      <a:lnTo>
                        <a:pt x="29" y="42"/>
                      </a:lnTo>
                      <a:lnTo>
                        <a:pt x="31" y="40"/>
                      </a:lnTo>
                      <a:lnTo>
                        <a:pt x="33" y="36"/>
                      </a:lnTo>
                      <a:lnTo>
                        <a:pt x="33" y="35"/>
                      </a:lnTo>
                      <a:lnTo>
                        <a:pt x="35" y="31"/>
                      </a:lnTo>
                      <a:lnTo>
                        <a:pt x="35" y="30"/>
                      </a:lnTo>
                      <a:lnTo>
                        <a:pt x="36" y="27"/>
                      </a:lnTo>
                      <a:lnTo>
                        <a:pt x="36" y="25"/>
                      </a:lnTo>
                      <a:lnTo>
                        <a:pt x="38" y="23"/>
                      </a:lnTo>
                      <a:lnTo>
                        <a:pt x="39" y="21"/>
                      </a:lnTo>
                      <a:lnTo>
                        <a:pt x="41" y="18"/>
                      </a:lnTo>
                      <a:lnTo>
                        <a:pt x="41" y="16"/>
                      </a:lnTo>
                      <a:lnTo>
                        <a:pt x="41" y="15"/>
                      </a:lnTo>
                      <a:lnTo>
                        <a:pt x="41" y="13"/>
                      </a:lnTo>
                      <a:lnTo>
                        <a:pt x="41" y="12"/>
                      </a:lnTo>
                      <a:lnTo>
                        <a:pt x="41" y="11"/>
                      </a:lnTo>
                      <a:lnTo>
                        <a:pt x="41" y="9"/>
                      </a:lnTo>
                      <a:lnTo>
                        <a:pt x="42" y="7"/>
                      </a:lnTo>
                      <a:lnTo>
                        <a:pt x="42" y="6"/>
                      </a:lnTo>
                      <a:lnTo>
                        <a:pt x="42" y="5"/>
                      </a:lnTo>
                      <a:lnTo>
                        <a:pt x="44" y="3"/>
                      </a:lnTo>
                      <a:lnTo>
                        <a:pt x="44" y="1"/>
                      </a:lnTo>
                      <a:lnTo>
                        <a:pt x="45" y="0"/>
                      </a:lnTo>
                      <a:lnTo>
                        <a:pt x="44" y="1"/>
                      </a:lnTo>
                      <a:lnTo>
                        <a:pt x="43" y="4"/>
                      </a:lnTo>
                      <a:lnTo>
                        <a:pt x="43" y="6"/>
                      </a:lnTo>
                      <a:lnTo>
                        <a:pt x="41" y="8"/>
                      </a:lnTo>
                      <a:lnTo>
                        <a:pt x="41" y="11"/>
                      </a:lnTo>
                      <a:lnTo>
                        <a:pt x="40" y="14"/>
                      </a:lnTo>
                      <a:lnTo>
                        <a:pt x="40" y="16"/>
                      </a:lnTo>
                      <a:lnTo>
                        <a:pt x="38" y="19"/>
                      </a:lnTo>
                      <a:lnTo>
                        <a:pt x="38" y="23"/>
                      </a:lnTo>
                      <a:lnTo>
                        <a:pt x="36" y="25"/>
                      </a:lnTo>
                      <a:lnTo>
                        <a:pt x="36" y="29"/>
                      </a:lnTo>
                      <a:lnTo>
                        <a:pt x="35" y="32"/>
                      </a:lnTo>
                      <a:lnTo>
                        <a:pt x="35" y="35"/>
                      </a:lnTo>
                      <a:lnTo>
                        <a:pt x="35" y="37"/>
                      </a:lnTo>
                      <a:lnTo>
                        <a:pt x="35" y="39"/>
                      </a:lnTo>
                      <a:lnTo>
                        <a:pt x="33" y="42"/>
                      </a:lnTo>
                      <a:lnTo>
                        <a:pt x="32" y="46"/>
                      </a:lnTo>
                      <a:lnTo>
                        <a:pt x="30" y="51"/>
                      </a:lnTo>
                      <a:lnTo>
                        <a:pt x="30" y="54"/>
                      </a:lnTo>
                      <a:lnTo>
                        <a:pt x="29" y="59"/>
                      </a:lnTo>
                      <a:lnTo>
                        <a:pt x="28" y="63"/>
                      </a:lnTo>
                      <a:lnTo>
                        <a:pt x="26" y="68"/>
                      </a:lnTo>
                      <a:lnTo>
                        <a:pt x="26" y="72"/>
                      </a:lnTo>
                      <a:lnTo>
                        <a:pt x="24" y="77"/>
                      </a:lnTo>
                      <a:lnTo>
                        <a:pt x="23" y="82"/>
                      </a:lnTo>
                      <a:lnTo>
                        <a:pt x="21" y="87"/>
                      </a:lnTo>
                      <a:lnTo>
                        <a:pt x="21" y="91"/>
                      </a:lnTo>
                      <a:lnTo>
                        <a:pt x="19" y="96"/>
                      </a:lnTo>
                      <a:lnTo>
                        <a:pt x="19" y="98"/>
                      </a:lnTo>
                      <a:lnTo>
                        <a:pt x="18" y="102"/>
                      </a:lnTo>
                      <a:lnTo>
                        <a:pt x="18" y="104"/>
                      </a:lnTo>
                      <a:lnTo>
                        <a:pt x="18" y="109"/>
                      </a:lnTo>
                      <a:lnTo>
                        <a:pt x="19" y="114"/>
                      </a:lnTo>
                      <a:lnTo>
                        <a:pt x="21" y="118"/>
                      </a:lnTo>
                      <a:lnTo>
                        <a:pt x="23" y="121"/>
                      </a:lnTo>
                      <a:lnTo>
                        <a:pt x="24" y="127"/>
                      </a:lnTo>
                      <a:lnTo>
                        <a:pt x="27" y="130"/>
                      </a:lnTo>
                      <a:lnTo>
                        <a:pt x="29" y="133"/>
                      </a:lnTo>
                      <a:lnTo>
                        <a:pt x="33" y="137"/>
                      </a:lnTo>
                      <a:lnTo>
                        <a:pt x="35" y="140"/>
                      </a:lnTo>
                      <a:lnTo>
                        <a:pt x="36" y="144"/>
                      </a:lnTo>
                      <a:lnTo>
                        <a:pt x="38" y="147"/>
                      </a:lnTo>
                      <a:lnTo>
                        <a:pt x="41" y="148"/>
                      </a:lnTo>
                      <a:lnTo>
                        <a:pt x="42" y="150"/>
                      </a:lnTo>
                      <a:lnTo>
                        <a:pt x="44" y="151"/>
                      </a:lnTo>
                      <a:lnTo>
                        <a:pt x="45" y="151"/>
                      </a:lnTo>
                      <a:lnTo>
                        <a:pt x="46" y="150"/>
                      </a:lnTo>
                      <a:lnTo>
                        <a:pt x="45" y="150"/>
                      </a:lnTo>
                      <a:lnTo>
                        <a:pt x="44" y="150"/>
                      </a:lnTo>
                      <a:lnTo>
                        <a:pt x="42" y="150"/>
                      </a:lnTo>
                      <a:lnTo>
                        <a:pt x="42" y="149"/>
                      </a:lnTo>
                      <a:lnTo>
                        <a:pt x="40" y="149"/>
                      </a:lnTo>
                      <a:lnTo>
                        <a:pt x="38" y="147"/>
                      </a:lnTo>
                      <a:lnTo>
                        <a:pt x="36" y="147"/>
                      </a:lnTo>
                      <a:lnTo>
                        <a:pt x="35" y="145"/>
                      </a:lnTo>
                      <a:lnTo>
                        <a:pt x="31" y="145"/>
                      </a:lnTo>
                      <a:lnTo>
                        <a:pt x="29" y="144"/>
                      </a:lnTo>
                      <a:lnTo>
                        <a:pt x="26" y="142"/>
                      </a:lnTo>
                      <a:lnTo>
                        <a:pt x="24" y="140"/>
                      </a:lnTo>
                      <a:lnTo>
                        <a:pt x="21" y="139"/>
                      </a:lnTo>
                      <a:lnTo>
                        <a:pt x="17" y="137"/>
                      </a:lnTo>
                      <a:lnTo>
                        <a:pt x="14" y="135"/>
                      </a:lnTo>
                      <a:lnTo>
                        <a:pt x="12" y="133"/>
                      </a:lnTo>
                      <a:lnTo>
                        <a:pt x="11" y="133"/>
                      </a:lnTo>
                      <a:lnTo>
                        <a:pt x="10" y="132"/>
                      </a:lnTo>
                      <a:lnTo>
                        <a:pt x="8" y="130"/>
                      </a:lnTo>
                      <a:lnTo>
                        <a:pt x="6" y="128"/>
                      </a:lnTo>
                      <a:lnTo>
                        <a:pt x="5" y="127"/>
                      </a:lnTo>
                      <a:lnTo>
                        <a:pt x="4" y="125"/>
                      </a:lnTo>
                      <a:lnTo>
                        <a:pt x="2" y="124"/>
                      </a:lnTo>
                      <a:lnTo>
                        <a:pt x="2" y="122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8"/>
                      </a:lnTo>
                      <a:lnTo>
                        <a:pt x="0" y="116"/>
                      </a:lnTo>
                      <a:lnTo>
                        <a:pt x="0" y="115"/>
                      </a:lnTo>
                      <a:lnTo>
                        <a:pt x="0" y="114"/>
                      </a:lnTo>
                      <a:lnTo>
                        <a:pt x="0" y="113"/>
                      </a:lnTo>
                      <a:lnTo>
                        <a:pt x="0" y="111"/>
                      </a:lnTo>
                      <a:lnTo>
                        <a:pt x="0" y="110"/>
                      </a:lnTo>
                      <a:lnTo>
                        <a:pt x="1" y="109"/>
                      </a:lnTo>
                      <a:lnTo>
                        <a:pt x="1" y="108"/>
                      </a:lnTo>
                      <a:lnTo>
                        <a:pt x="2" y="106"/>
                      </a:lnTo>
                      <a:lnTo>
                        <a:pt x="2" y="104"/>
                      </a:lnTo>
                      <a:lnTo>
                        <a:pt x="4" y="103"/>
                      </a:lnTo>
                      <a:lnTo>
                        <a:pt x="4" y="101"/>
                      </a:lnTo>
                      <a:lnTo>
                        <a:pt x="4" y="99"/>
                      </a:lnTo>
                      <a:lnTo>
                        <a:pt x="5" y="97"/>
                      </a:lnTo>
                      <a:lnTo>
                        <a:pt x="6" y="96"/>
                      </a:lnTo>
                      <a:lnTo>
                        <a:pt x="6" y="94"/>
                      </a:lnTo>
                      <a:lnTo>
                        <a:pt x="7" y="92"/>
                      </a:lnTo>
                      <a:lnTo>
                        <a:pt x="7" y="91"/>
                      </a:lnTo>
                      <a:lnTo>
                        <a:pt x="7" y="89"/>
                      </a:lnTo>
                      <a:lnTo>
                        <a:pt x="7" y="87"/>
                      </a:lnTo>
                      <a:lnTo>
                        <a:pt x="7" y="85"/>
                      </a:lnTo>
                      <a:lnTo>
                        <a:pt x="7" y="84"/>
                      </a:lnTo>
                      <a:lnTo>
                        <a:pt x="7" y="82"/>
                      </a:lnTo>
                      <a:lnTo>
                        <a:pt x="7" y="81"/>
                      </a:lnTo>
                      <a:lnTo>
                        <a:pt x="7" y="80"/>
                      </a:lnTo>
                      <a:lnTo>
                        <a:pt x="7" y="79"/>
                      </a:lnTo>
                      <a:lnTo>
                        <a:pt x="7" y="77"/>
                      </a:lnTo>
                      <a:lnTo>
                        <a:pt x="7" y="75"/>
                      </a:lnTo>
                      <a:lnTo>
                        <a:pt x="7" y="76"/>
                      </a:lnTo>
                      <a:lnTo>
                        <a:pt x="7" y="77"/>
                      </a:lnTo>
                      <a:lnTo>
                        <a:pt x="8" y="77"/>
                      </a:lnTo>
                      <a:lnTo>
                        <a:pt x="8" y="79"/>
                      </a:lnTo>
                      <a:lnTo>
                        <a:pt x="9" y="80"/>
                      </a:lnTo>
                      <a:lnTo>
                        <a:pt x="9" y="81"/>
                      </a:lnTo>
                      <a:lnTo>
                        <a:pt x="10" y="81"/>
                      </a:lnTo>
                      <a:lnTo>
                        <a:pt x="10" y="83"/>
                      </a:lnTo>
                      <a:lnTo>
                        <a:pt x="11" y="84"/>
                      </a:lnTo>
                      <a:lnTo>
                        <a:pt x="12" y="84"/>
                      </a:lnTo>
                      <a:lnTo>
                        <a:pt x="14" y="84"/>
                      </a:lnTo>
                      <a:lnTo>
                        <a:pt x="16" y="82"/>
                      </a:lnTo>
                      <a:lnTo>
                        <a:pt x="17" y="79"/>
                      </a:lnTo>
                    </a:path>
                  </a:pathLst>
                </a:custGeom>
                <a:solidFill>
                  <a:srgbClr val="C0C0C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81" name="Freeform 149"/>
                <p:cNvSpPr>
                  <a:spLocks/>
                </p:cNvSpPr>
                <p:nvPr/>
              </p:nvSpPr>
              <p:spPr bwMode="auto">
                <a:xfrm>
                  <a:off x="913" y="3610"/>
                  <a:ext cx="270" cy="47"/>
                </a:xfrm>
                <a:custGeom>
                  <a:avLst/>
                  <a:gdLst/>
                  <a:ahLst/>
                  <a:cxnLst>
                    <a:cxn ang="0">
                      <a:pos x="169" y="9"/>
                    </a:cxn>
                    <a:cxn ang="0">
                      <a:pos x="181" y="8"/>
                    </a:cxn>
                    <a:cxn ang="0">
                      <a:pos x="190" y="9"/>
                    </a:cxn>
                    <a:cxn ang="0">
                      <a:pos x="198" y="10"/>
                    </a:cxn>
                    <a:cxn ang="0">
                      <a:pos x="207" y="13"/>
                    </a:cxn>
                    <a:cxn ang="0">
                      <a:pos x="217" y="15"/>
                    </a:cxn>
                    <a:cxn ang="0">
                      <a:pos x="225" y="17"/>
                    </a:cxn>
                    <a:cxn ang="0">
                      <a:pos x="233" y="20"/>
                    </a:cxn>
                    <a:cxn ang="0">
                      <a:pos x="243" y="22"/>
                    </a:cxn>
                    <a:cxn ang="0">
                      <a:pos x="252" y="25"/>
                    </a:cxn>
                    <a:cxn ang="0">
                      <a:pos x="259" y="29"/>
                    </a:cxn>
                    <a:cxn ang="0">
                      <a:pos x="268" y="33"/>
                    </a:cxn>
                    <a:cxn ang="0">
                      <a:pos x="262" y="33"/>
                    </a:cxn>
                    <a:cxn ang="0">
                      <a:pos x="252" y="33"/>
                    </a:cxn>
                    <a:cxn ang="0">
                      <a:pos x="241" y="35"/>
                    </a:cxn>
                    <a:cxn ang="0">
                      <a:pos x="228" y="38"/>
                    </a:cxn>
                    <a:cxn ang="0">
                      <a:pos x="219" y="29"/>
                    </a:cxn>
                    <a:cxn ang="0">
                      <a:pos x="210" y="17"/>
                    </a:cxn>
                    <a:cxn ang="0">
                      <a:pos x="202" y="18"/>
                    </a:cxn>
                    <a:cxn ang="0">
                      <a:pos x="205" y="26"/>
                    </a:cxn>
                    <a:cxn ang="0">
                      <a:pos x="205" y="33"/>
                    </a:cxn>
                    <a:cxn ang="0">
                      <a:pos x="200" y="27"/>
                    </a:cxn>
                    <a:cxn ang="0">
                      <a:pos x="194" y="24"/>
                    </a:cxn>
                    <a:cxn ang="0">
                      <a:pos x="191" y="17"/>
                    </a:cxn>
                    <a:cxn ang="0">
                      <a:pos x="185" y="13"/>
                    </a:cxn>
                    <a:cxn ang="0">
                      <a:pos x="181" y="20"/>
                    </a:cxn>
                    <a:cxn ang="0">
                      <a:pos x="181" y="26"/>
                    </a:cxn>
                    <a:cxn ang="0">
                      <a:pos x="174" y="23"/>
                    </a:cxn>
                    <a:cxn ang="0">
                      <a:pos x="170" y="17"/>
                    </a:cxn>
                    <a:cxn ang="0">
                      <a:pos x="163" y="13"/>
                    </a:cxn>
                    <a:cxn ang="0">
                      <a:pos x="159" y="18"/>
                    </a:cxn>
                    <a:cxn ang="0">
                      <a:pos x="165" y="23"/>
                    </a:cxn>
                    <a:cxn ang="0">
                      <a:pos x="163" y="22"/>
                    </a:cxn>
                    <a:cxn ang="0">
                      <a:pos x="156" y="17"/>
                    </a:cxn>
                    <a:cxn ang="0">
                      <a:pos x="151" y="14"/>
                    </a:cxn>
                    <a:cxn ang="0">
                      <a:pos x="146" y="19"/>
                    </a:cxn>
                    <a:cxn ang="0">
                      <a:pos x="152" y="25"/>
                    </a:cxn>
                    <a:cxn ang="0">
                      <a:pos x="151" y="25"/>
                    </a:cxn>
                    <a:cxn ang="0">
                      <a:pos x="143" y="19"/>
                    </a:cxn>
                    <a:cxn ang="0">
                      <a:pos x="132" y="16"/>
                    </a:cxn>
                    <a:cxn ang="0">
                      <a:pos x="123" y="14"/>
                    </a:cxn>
                    <a:cxn ang="0">
                      <a:pos x="116" y="11"/>
                    </a:cxn>
                    <a:cxn ang="0">
                      <a:pos x="106" y="8"/>
                    </a:cxn>
                    <a:cxn ang="0">
                      <a:pos x="97" y="7"/>
                    </a:cxn>
                    <a:cxn ang="0">
                      <a:pos x="90" y="6"/>
                    </a:cxn>
                    <a:cxn ang="0">
                      <a:pos x="78" y="8"/>
                    </a:cxn>
                    <a:cxn ang="0">
                      <a:pos x="68" y="11"/>
                    </a:cxn>
                    <a:cxn ang="0">
                      <a:pos x="58" y="12"/>
                    </a:cxn>
                    <a:cxn ang="0">
                      <a:pos x="30" y="23"/>
                    </a:cxn>
                    <a:cxn ang="0">
                      <a:pos x="3" y="41"/>
                    </a:cxn>
                    <a:cxn ang="0">
                      <a:pos x="3" y="41"/>
                    </a:cxn>
                    <a:cxn ang="0">
                      <a:pos x="23" y="23"/>
                    </a:cxn>
                    <a:cxn ang="0">
                      <a:pos x="45" y="11"/>
                    </a:cxn>
                    <a:cxn ang="0">
                      <a:pos x="56" y="8"/>
                    </a:cxn>
                    <a:cxn ang="0">
                      <a:pos x="67" y="5"/>
                    </a:cxn>
                    <a:cxn ang="0">
                      <a:pos x="78" y="2"/>
                    </a:cxn>
                    <a:cxn ang="0">
                      <a:pos x="94" y="0"/>
                    </a:cxn>
                    <a:cxn ang="0">
                      <a:pos x="112" y="1"/>
                    </a:cxn>
                    <a:cxn ang="0">
                      <a:pos x="118" y="4"/>
                    </a:cxn>
                    <a:cxn ang="0">
                      <a:pos x="125" y="7"/>
                    </a:cxn>
                    <a:cxn ang="0">
                      <a:pos x="134" y="9"/>
                    </a:cxn>
                    <a:cxn ang="0">
                      <a:pos x="145" y="9"/>
                    </a:cxn>
                    <a:cxn ang="0">
                      <a:pos x="154" y="9"/>
                    </a:cxn>
                  </a:cxnLst>
                  <a:rect l="0" t="0" r="r" b="b"/>
                  <a:pathLst>
                    <a:path w="270" h="47">
                      <a:moveTo>
                        <a:pt x="161" y="9"/>
                      </a:moveTo>
                      <a:lnTo>
                        <a:pt x="162" y="9"/>
                      </a:lnTo>
                      <a:lnTo>
                        <a:pt x="163" y="9"/>
                      </a:lnTo>
                      <a:lnTo>
                        <a:pt x="165" y="9"/>
                      </a:lnTo>
                      <a:lnTo>
                        <a:pt x="167" y="9"/>
                      </a:lnTo>
                      <a:lnTo>
                        <a:pt x="168" y="9"/>
                      </a:lnTo>
                      <a:lnTo>
                        <a:pt x="169" y="9"/>
                      </a:lnTo>
                      <a:lnTo>
                        <a:pt x="171" y="9"/>
                      </a:lnTo>
                      <a:lnTo>
                        <a:pt x="173" y="9"/>
                      </a:lnTo>
                      <a:lnTo>
                        <a:pt x="174" y="9"/>
                      </a:lnTo>
                      <a:lnTo>
                        <a:pt x="176" y="9"/>
                      </a:lnTo>
                      <a:lnTo>
                        <a:pt x="177" y="9"/>
                      </a:lnTo>
                      <a:lnTo>
                        <a:pt x="180" y="8"/>
                      </a:lnTo>
                      <a:lnTo>
                        <a:pt x="181" y="8"/>
                      </a:lnTo>
                      <a:lnTo>
                        <a:pt x="182" y="8"/>
                      </a:lnTo>
                      <a:lnTo>
                        <a:pt x="184" y="8"/>
                      </a:lnTo>
                      <a:lnTo>
                        <a:pt x="185" y="8"/>
                      </a:lnTo>
                      <a:lnTo>
                        <a:pt x="187" y="8"/>
                      </a:lnTo>
                      <a:lnTo>
                        <a:pt x="188" y="8"/>
                      </a:lnTo>
                      <a:lnTo>
                        <a:pt x="188" y="9"/>
                      </a:lnTo>
                      <a:lnTo>
                        <a:pt x="190" y="9"/>
                      </a:lnTo>
                      <a:lnTo>
                        <a:pt x="191" y="9"/>
                      </a:lnTo>
                      <a:lnTo>
                        <a:pt x="192" y="9"/>
                      </a:lnTo>
                      <a:lnTo>
                        <a:pt x="194" y="9"/>
                      </a:lnTo>
                      <a:lnTo>
                        <a:pt x="195" y="9"/>
                      </a:lnTo>
                      <a:lnTo>
                        <a:pt x="196" y="9"/>
                      </a:lnTo>
                      <a:lnTo>
                        <a:pt x="196" y="10"/>
                      </a:lnTo>
                      <a:lnTo>
                        <a:pt x="198" y="10"/>
                      </a:lnTo>
                      <a:lnTo>
                        <a:pt x="200" y="10"/>
                      </a:lnTo>
                      <a:lnTo>
                        <a:pt x="202" y="10"/>
                      </a:lnTo>
                      <a:lnTo>
                        <a:pt x="202" y="11"/>
                      </a:lnTo>
                      <a:lnTo>
                        <a:pt x="203" y="11"/>
                      </a:lnTo>
                      <a:lnTo>
                        <a:pt x="205" y="11"/>
                      </a:lnTo>
                      <a:lnTo>
                        <a:pt x="207" y="11"/>
                      </a:lnTo>
                      <a:lnTo>
                        <a:pt x="207" y="13"/>
                      </a:lnTo>
                      <a:lnTo>
                        <a:pt x="208" y="13"/>
                      </a:lnTo>
                      <a:lnTo>
                        <a:pt x="210" y="13"/>
                      </a:lnTo>
                      <a:lnTo>
                        <a:pt x="211" y="13"/>
                      </a:lnTo>
                      <a:lnTo>
                        <a:pt x="212" y="15"/>
                      </a:lnTo>
                      <a:lnTo>
                        <a:pt x="213" y="15"/>
                      </a:lnTo>
                      <a:lnTo>
                        <a:pt x="215" y="15"/>
                      </a:lnTo>
                      <a:lnTo>
                        <a:pt x="217" y="15"/>
                      </a:lnTo>
                      <a:lnTo>
                        <a:pt x="217" y="17"/>
                      </a:lnTo>
                      <a:lnTo>
                        <a:pt x="219" y="17"/>
                      </a:lnTo>
                      <a:lnTo>
                        <a:pt x="219" y="17"/>
                      </a:lnTo>
                      <a:lnTo>
                        <a:pt x="220" y="17"/>
                      </a:lnTo>
                      <a:lnTo>
                        <a:pt x="221" y="17"/>
                      </a:lnTo>
                      <a:lnTo>
                        <a:pt x="223" y="17"/>
                      </a:lnTo>
                      <a:lnTo>
                        <a:pt x="225" y="17"/>
                      </a:lnTo>
                      <a:lnTo>
                        <a:pt x="226" y="17"/>
                      </a:lnTo>
                      <a:lnTo>
                        <a:pt x="226" y="18"/>
                      </a:lnTo>
                      <a:lnTo>
                        <a:pt x="228" y="18"/>
                      </a:lnTo>
                      <a:lnTo>
                        <a:pt x="230" y="18"/>
                      </a:lnTo>
                      <a:lnTo>
                        <a:pt x="231" y="18"/>
                      </a:lnTo>
                      <a:lnTo>
                        <a:pt x="233" y="18"/>
                      </a:lnTo>
                      <a:lnTo>
                        <a:pt x="233" y="20"/>
                      </a:lnTo>
                      <a:lnTo>
                        <a:pt x="235" y="20"/>
                      </a:lnTo>
                      <a:lnTo>
                        <a:pt x="236" y="20"/>
                      </a:lnTo>
                      <a:lnTo>
                        <a:pt x="237" y="20"/>
                      </a:lnTo>
                      <a:lnTo>
                        <a:pt x="238" y="22"/>
                      </a:lnTo>
                      <a:lnTo>
                        <a:pt x="240" y="22"/>
                      </a:lnTo>
                      <a:lnTo>
                        <a:pt x="241" y="22"/>
                      </a:lnTo>
                      <a:lnTo>
                        <a:pt x="243" y="22"/>
                      </a:lnTo>
                      <a:lnTo>
                        <a:pt x="243" y="23"/>
                      </a:lnTo>
                      <a:lnTo>
                        <a:pt x="245" y="23"/>
                      </a:lnTo>
                      <a:lnTo>
                        <a:pt x="247" y="23"/>
                      </a:lnTo>
                      <a:lnTo>
                        <a:pt x="248" y="23"/>
                      </a:lnTo>
                      <a:lnTo>
                        <a:pt x="249" y="25"/>
                      </a:lnTo>
                      <a:lnTo>
                        <a:pt x="251" y="25"/>
                      </a:lnTo>
                      <a:lnTo>
                        <a:pt x="252" y="25"/>
                      </a:lnTo>
                      <a:lnTo>
                        <a:pt x="253" y="25"/>
                      </a:lnTo>
                      <a:lnTo>
                        <a:pt x="253" y="26"/>
                      </a:lnTo>
                      <a:lnTo>
                        <a:pt x="254" y="26"/>
                      </a:lnTo>
                      <a:lnTo>
                        <a:pt x="255" y="27"/>
                      </a:lnTo>
                      <a:lnTo>
                        <a:pt x="257" y="27"/>
                      </a:lnTo>
                      <a:lnTo>
                        <a:pt x="258" y="29"/>
                      </a:lnTo>
                      <a:lnTo>
                        <a:pt x="259" y="29"/>
                      </a:lnTo>
                      <a:lnTo>
                        <a:pt x="260" y="30"/>
                      </a:lnTo>
                      <a:lnTo>
                        <a:pt x="262" y="30"/>
                      </a:lnTo>
                      <a:lnTo>
                        <a:pt x="262" y="32"/>
                      </a:lnTo>
                      <a:lnTo>
                        <a:pt x="264" y="32"/>
                      </a:lnTo>
                      <a:lnTo>
                        <a:pt x="264" y="33"/>
                      </a:lnTo>
                      <a:lnTo>
                        <a:pt x="266" y="33"/>
                      </a:lnTo>
                      <a:lnTo>
                        <a:pt x="268" y="33"/>
                      </a:lnTo>
                      <a:lnTo>
                        <a:pt x="269" y="33"/>
                      </a:lnTo>
                      <a:lnTo>
                        <a:pt x="268" y="33"/>
                      </a:lnTo>
                      <a:lnTo>
                        <a:pt x="267" y="33"/>
                      </a:lnTo>
                      <a:lnTo>
                        <a:pt x="265" y="33"/>
                      </a:lnTo>
                      <a:lnTo>
                        <a:pt x="264" y="33"/>
                      </a:lnTo>
                      <a:lnTo>
                        <a:pt x="263" y="33"/>
                      </a:lnTo>
                      <a:lnTo>
                        <a:pt x="262" y="33"/>
                      </a:lnTo>
                      <a:lnTo>
                        <a:pt x="260" y="33"/>
                      </a:lnTo>
                      <a:lnTo>
                        <a:pt x="259" y="33"/>
                      </a:lnTo>
                      <a:lnTo>
                        <a:pt x="258" y="33"/>
                      </a:lnTo>
                      <a:lnTo>
                        <a:pt x="256" y="33"/>
                      </a:lnTo>
                      <a:lnTo>
                        <a:pt x="254" y="33"/>
                      </a:lnTo>
                      <a:lnTo>
                        <a:pt x="253" y="33"/>
                      </a:lnTo>
                      <a:lnTo>
                        <a:pt x="252" y="33"/>
                      </a:lnTo>
                      <a:lnTo>
                        <a:pt x="250" y="35"/>
                      </a:lnTo>
                      <a:lnTo>
                        <a:pt x="248" y="35"/>
                      </a:lnTo>
                      <a:lnTo>
                        <a:pt x="247" y="35"/>
                      </a:lnTo>
                      <a:lnTo>
                        <a:pt x="245" y="35"/>
                      </a:lnTo>
                      <a:lnTo>
                        <a:pt x="244" y="35"/>
                      </a:lnTo>
                      <a:lnTo>
                        <a:pt x="242" y="35"/>
                      </a:lnTo>
                      <a:lnTo>
                        <a:pt x="241" y="35"/>
                      </a:lnTo>
                      <a:lnTo>
                        <a:pt x="239" y="35"/>
                      </a:lnTo>
                      <a:lnTo>
                        <a:pt x="237" y="35"/>
                      </a:lnTo>
                      <a:lnTo>
                        <a:pt x="236" y="35"/>
                      </a:lnTo>
                      <a:lnTo>
                        <a:pt x="234" y="37"/>
                      </a:lnTo>
                      <a:lnTo>
                        <a:pt x="232" y="37"/>
                      </a:lnTo>
                      <a:lnTo>
                        <a:pt x="229" y="38"/>
                      </a:lnTo>
                      <a:lnTo>
                        <a:pt x="228" y="38"/>
                      </a:lnTo>
                      <a:lnTo>
                        <a:pt x="226" y="38"/>
                      </a:lnTo>
                      <a:lnTo>
                        <a:pt x="225" y="37"/>
                      </a:lnTo>
                      <a:lnTo>
                        <a:pt x="224" y="35"/>
                      </a:lnTo>
                      <a:lnTo>
                        <a:pt x="224" y="34"/>
                      </a:lnTo>
                      <a:lnTo>
                        <a:pt x="222" y="32"/>
                      </a:lnTo>
                      <a:lnTo>
                        <a:pt x="220" y="30"/>
                      </a:lnTo>
                      <a:lnTo>
                        <a:pt x="219" y="29"/>
                      </a:lnTo>
                      <a:lnTo>
                        <a:pt x="219" y="26"/>
                      </a:lnTo>
                      <a:lnTo>
                        <a:pt x="218" y="25"/>
                      </a:lnTo>
                      <a:lnTo>
                        <a:pt x="216" y="23"/>
                      </a:lnTo>
                      <a:lnTo>
                        <a:pt x="214" y="22"/>
                      </a:lnTo>
                      <a:lnTo>
                        <a:pt x="213" y="20"/>
                      </a:lnTo>
                      <a:lnTo>
                        <a:pt x="211" y="19"/>
                      </a:lnTo>
                      <a:lnTo>
                        <a:pt x="210" y="17"/>
                      </a:lnTo>
                      <a:lnTo>
                        <a:pt x="208" y="17"/>
                      </a:lnTo>
                      <a:lnTo>
                        <a:pt x="208" y="16"/>
                      </a:lnTo>
                      <a:lnTo>
                        <a:pt x="207" y="17"/>
                      </a:lnTo>
                      <a:lnTo>
                        <a:pt x="205" y="17"/>
                      </a:lnTo>
                      <a:lnTo>
                        <a:pt x="203" y="17"/>
                      </a:lnTo>
                      <a:lnTo>
                        <a:pt x="202" y="17"/>
                      </a:lnTo>
                      <a:lnTo>
                        <a:pt x="202" y="18"/>
                      </a:lnTo>
                      <a:lnTo>
                        <a:pt x="202" y="20"/>
                      </a:lnTo>
                      <a:lnTo>
                        <a:pt x="202" y="22"/>
                      </a:lnTo>
                      <a:lnTo>
                        <a:pt x="202" y="22"/>
                      </a:lnTo>
                      <a:lnTo>
                        <a:pt x="202" y="23"/>
                      </a:lnTo>
                      <a:lnTo>
                        <a:pt x="203" y="25"/>
                      </a:lnTo>
                      <a:lnTo>
                        <a:pt x="203" y="26"/>
                      </a:lnTo>
                      <a:lnTo>
                        <a:pt x="205" y="26"/>
                      </a:lnTo>
                      <a:lnTo>
                        <a:pt x="205" y="28"/>
                      </a:lnTo>
                      <a:lnTo>
                        <a:pt x="207" y="29"/>
                      </a:lnTo>
                      <a:lnTo>
                        <a:pt x="207" y="31"/>
                      </a:lnTo>
                      <a:lnTo>
                        <a:pt x="208" y="31"/>
                      </a:lnTo>
                      <a:lnTo>
                        <a:pt x="208" y="33"/>
                      </a:lnTo>
                      <a:lnTo>
                        <a:pt x="207" y="33"/>
                      </a:lnTo>
                      <a:lnTo>
                        <a:pt x="205" y="33"/>
                      </a:lnTo>
                      <a:lnTo>
                        <a:pt x="205" y="31"/>
                      </a:lnTo>
                      <a:lnTo>
                        <a:pt x="203" y="31"/>
                      </a:lnTo>
                      <a:lnTo>
                        <a:pt x="203" y="29"/>
                      </a:lnTo>
                      <a:lnTo>
                        <a:pt x="202" y="29"/>
                      </a:lnTo>
                      <a:lnTo>
                        <a:pt x="202" y="29"/>
                      </a:lnTo>
                      <a:lnTo>
                        <a:pt x="200" y="29"/>
                      </a:lnTo>
                      <a:lnTo>
                        <a:pt x="200" y="27"/>
                      </a:lnTo>
                      <a:lnTo>
                        <a:pt x="198" y="27"/>
                      </a:lnTo>
                      <a:lnTo>
                        <a:pt x="198" y="26"/>
                      </a:lnTo>
                      <a:lnTo>
                        <a:pt x="197" y="26"/>
                      </a:lnTo>
                      <a:lnTo>
                        <a:pt x="197" y="25"/>
                      </a:lnTo>
                      <a:lnTo>
                        <a:pt x="196" y="25"/>
                      </a:lnTo>
                      <a:lnTo>
                        <a:pt x="196" y="24"/>
                      </a:lnTo>
                      <a:lnTo>
                        <a:pt x="194" y="24"/>
                      </a:lnTo>
                      <a:lnTo>
                        <a:pt x="194" y="23"/>
                      </a:lnTo>
                      <a:lnTo>
                        <a:pt x="193" y="23"/>
                      </a:lnTo>
                      <a:lnTo>
                        <a:pt x="193" y="21"/>
                      </a:lnTo>
                      <a:lnTo>
                        <a:pt x="193" y="20"/>
                      </a:lnTo>
                      <a:lnTo>
                        <a:pt x="193" y="18"/>
                      </a:lnTo>
                      <a:lnTo>
                        <a:pt x="191" y="18"/>
                      </a:lnTo>
                      <a:lnTo>
                        <a:pt x="191" y="17"/>
                      </a:lnTo>
                      <a:lnTo>
                        <a:pt x="190" y="17"/>
                      </a:lnTo>
                      <a:lnTo>
                        <a:pt x="190" y="16"/>
                      </a:lnTo>
                      <a:lnTo>
                        <a:pt x="188" y="16"/>
                      </a:lnTo>
                      <a:lnTo>
                        <a:pt x="188" y="15"/>
                      </a:lnTo>
                      <a:lnTo>
                        <a:pt x="187" y="15"/>
                      </a:lnTo>
                      <a:lnTo>
                        <a:pt x="187" y="13"/>
                      </a:lnTo>
                      <a:lnTo>
                        <a:pt x="185" y="13"/>
                      </a:lnTo>
                      <a:lnTo>
                        <a:pt x="185" y="13"/>
                      </a:lnTo>
                      <a:lnTo>
                        <a:pt x="183" y="13"/>
                      </a:lnTo>
                      <a:lnTo>
                        <a:pt x="182" y="13"/>
                      </a:lnTo>
                      <a:lnTo>
                        <a:pt x="181" y="15"/>
                      </a:lnTo>
                      <a:lnTo>
                        <a:pt x="181" y="17"/>
                      </a:lnTo>
                      <a:lnTo>
                        <a:pt x="181" y="18"/>
                      </a:lnTo>
                      <a:lnTo>
                        <a:pt x="181" y="20"/>
                      </a:lnTo>
                      <a:lnTo>
                        <a:pt x="183" y="20"/>
                      </a:lnTo>
                      <a:lnTo>
                        <a:pt x="183" y="22"/>
                      </a:lnTo>
                      <a:lnTo>
                        <a:pt x="183" y="23"/>
                      </a:lnTo>
                      <a:lnTo>
                        <a:pt x="183" y="24"/>
                      </a:lnTo>
                      <a:lnTo>
                        <a:pt x="184" y="24"/>
                      </a:lnTo>
                      <a:lnTo>
                        <a:pt x="183" y="26"/>
                      </a:lnTo>
                      <a:lnTo>
                        <a:pt x="181" y="26"/>
                      </a:lnTo>
                      <a:lnTo>
                        <a:pt x="180" y="26"/>
                      </a:lnTo>
                      <a:lnTo>
                        <a:pt x="180" y="25"/>
                      </a:lnTo>
                      <a:lnTo>
                        <a:pt x="178" y="25"/>
                      </a:lnTo>
                      <a:lnTo>
                        <a:pt x="177" y="25"/>
                      </a:lnTo>
                      <a:lnTo>
                        <a:pt x="177" y="23"/>
                      </a:lnTo>
                      <a:lnTo>
                        <a:pt x="175" y="23"/>
                      </a:lnTo>
                      <a:lnTo>
                        <a:pt x="174" y="23"/>
                      </a:lnTo>
                      <a:lnTo>
                        <a:pt x="174" y="22"/>
                      </a:lnTo>
                      <a:lnTo>
                        <a:pt x="172" y="22"/>
                      </a:lnTo>
                      <a:lnTo>
                        <a:pt x="172" y="20"/>
                      </a:lnTo>
                      <a:lnTo>
                        <a:pt x="172" y="19"/>
                      </a:lnTo>
                      <a:lnTo>
                        <a:pt x="172" y="17"/>
                      </a:lnTo>
                      <a:lnTo>
                        <a:pt x="170" y="17"/>
                      </a:lnTo>
                      <a:lnTo>
                        <a:pt x="170" y="17"/>
                      </a:lnTo>
                      <a:lnTo>
                        <a:pt x="170" y="15"/>
                      </a:lnTo>
                      <a:lnTo>
                        <a:pt x="168" y="15"/>
                      </a:lnTo>
                      <a:lnTo>
                        <a:pt x="168" y="13"/>
                      </a:lnTo>
                      <a:lnTo>
                        <a:pt x="168" y="11"/>
                      </a:lnTo>
                      <a:lnTo>
                        <a:pt x="167" y="13"/>
                      </a:lnTo>
                      <a:lnTo>
                        <a:pt x="165" y="13"/>
                      </a:lnTo>
                      <a:lnTo>
                        <a:pt x="163" y="13"/>
                      </a:lnTo>
                      <a:lnTo>
                        <a:pt x="163" y="13"/>
                      </a:lnTo>
                      <a:lnTo>
                        <a:pt x="161" y="15"/>
                      </a:lnTo>
                      <a:lnTo>
                        <a:pt x="160" y="15"/>
                      </a:lnTo>
                      <a:lnTo>
                        <a:pt x="159" y="15"/>
                      </a:lnTo>
                      <a:lnTo>
                        <a:pt x="159" y="17"/>
                      </a:lnTo>
                      <a:lnTo>
                        <a:pt x="159" y="17"/>
                      </a:lnTo>
                      <a:lnTo>
                        <a:pt x="159" y="18"/>
                      </a:lnTo>
                      <a:lnTo>
                        <a:pt x="161" y="18"/>
                      </a:lnTo>
                      <a:lnTo>
                        <a:pt x="161" y="20"/>
                      </a:lnTo>
                      <a:lnTo>
                        <a:pt x="163" y="20"/>
                      </a:lnTo>
                      <a:lnTo>
                        <a:pt x="163" y="22"/>
                      </a:lnTo>
                      <a:lnTo>
                        <a:pt x="163" y="22"/>
                      </a:lnTo>
                      <a:lnTo>
                        <a:pt x="163" y="23"/>
                      </a:lnTo>
                      <a:lnTo>
                        <a:pt x="165" y="23"/>
                      </a:lnTo>
                      <a:lnTo>
                        <a:pt x="166" y="23"/>
                      </a:lnTo>
                      <a:lnTo>
                        <a:pt x="167" y="23"/>
                      </a:lnTo>
                      <a:lnTo>
                        <a:pt x="165" y="24"/>
                      </a:lnTo>
                      <a:lnTo>
                        <a:pt x="164" y="24"/>
                      </a:lnTo>
                      <a:lnTo>
                        <a:pt x="164" y="23"/>
                      </a:lnTo>
                      <a:lnTo>
                        <a:pt x="163" y="23"/>
                      </a:lnTo>
                      <a:lnTo>
                        <a:pt x="163" y="22"/>
                      </a:lnTo>
                      <a:lnTo>
                        <a:pt x="162" y="22"/>
                      </a:lnTo>
                      <a:lnTo>
                        <a:pt x="162" y="20"/>
                      </a:lnTo>
                      <a:lnTo>
                        <a:pt x="160" y="20"/>
                      </a:lnTo>
                      <a:lnTo>
                        <a:pt x="159" y="18"/>
                      </a:lnTo>
                      <a:lnTo>
                        <a:pt x="157" y="18"/>
                      </a:lnTo>
                      <a:lnTo>
                        <a:pt x="157" y="17"/>
                      </a:lnTo>
                      <a:lnTo>
                        <a:pt x="156" y="17"/>
                      </a:lnTo>
                      <a:lnTo>
                        <a:pt x="156" y="17"/>
                      </a:lnTo>
                      <a:lnTo>
                        <a:pt x="154" y="17"/>
                      </a:lnTo>
                      <a:lnTo>
                        <a:pt x="154" y="15"/>
                      </a:lnTo>
                      <a:lnTo>
                        <a:pt x="153" y="15"/>
                      </a:lnTo>
                      <a:lnTo>
                        <a:pt x="152" y="15"/>
                      </a:lnTo>
                      <a:lnTo>
                        <a:pt x="151" y="15"/>
                      </a:lnTo>
                      <a:lnTo>
                        <a:pt x="151" y="14"/>
                      </a:lnTo>
                      <a:lnTo>
                        <a:pt x="149" y="15"/>
                      </a:lnTo>
                      <a:lnTo>
                        <a:pt x="147" y="15"/>
                      </a:lnTo>
                      <a:lnTo>
                        <a:pt x="146" y="15"/>
                      </a:lnTo>
                      <a:lnTo>
                        <a:pt x="146" y="17"/>
                      </a:lnTo>
                      <a:lnTo>
                        <a:pt x="146" y="17"/>
                      </a:lnTo>
                      <a:lnTo>
                        <a:pt x="146" y="17"/>
                      </a:lnTo>
                      <a:lnTo>
                        <a:pt x="146" y="19"/>
                      </a:lnTo>
                      <a:lnTo>
                        <a:pt x="147" y="19"/>
                      </a:lnTo>
                      <a:lnTo>
                        <a:pt x="147" y="21"/>
                      </a:lnTo>
                      <a:lnTo>
                        <a:pt x="149" y="21"/>
                      </a:lnTo>
                      <a:lnTo>
                        <a:pt x="149" y="23"/>
                      </a:lnTo>
                      <a:lnTo>
                        <a:pt x="151" y="23"/>
                      </a:lnTo>
                      <a:lnTo>
                        <a:pt x="151" y="25"/>
                      </a:lnTo>
                      <a:lnTo>
                        <a:pt x="152" y="25"/>
                      </a:lnTo>
                      <a:lnTo>
                        <a:pt x="152" y="26"/>
                      </a:lnTo>
                      <a:lnTo>
                        <a:pt x="153" y="26"/>
                      </a:lnTo>
                      <a:lnTo>
                        <a:pt x="154" y="26"/>
                      </a:lnTo>
                      <a:lnTo>
                        <a:pt x="153" y="26"/>
                      </a:lnTo>
                      <a:lnTo>
                        <a:pt x="152" y="26"/>
                      </a:lnTo>
                      <a:lnTo>
                        <a:pt x="152" y="25"/>
                      </a:lnTo>
                      <a:lnTo>
                        <a:pt x="151" y="25"/>
                      </a:lnTo>
                      <a:lnTo>
                        <a:pt x="151" y="23"/>
                      </a:lnTo>
                      <a:lnTo>
                        <a:pt x="150" y="23"/>
                      </a:lnTo>
                      <a:lnTo>
                        <a:pt x="149" y="23"/>
                      </a:lnTo>
                      <a:lnTo>
                        <a:pt x="147" y="23"/>
                      </a:lnTo>
                      <a:lnTo>
                        <a:pt x="146" y="21"/>
                      </a:lnTo>
                      <a:lnTo>
                        <a:pt x="145" y="21"/>
                      </a:lnTo>
                      <a:lnTo>
                        <a:pt x="143" y="19"/>
                      </a:lnTo>
                      <a:lnTo>
                        <a:pt x="140" y="17"/>
                      </a:lnTo>
                      <a:lnTo>
                        <a:pt x="139" y="17"/>
                      </a:lnTo>
                      <a:lnTo>
                        <a:pt x="137" y="17"/>
                      </a:lnTo>
                      <a:lnTo>
                        <a:pt x="136" y="17"/>
                      </a:lnTo>
                      <a:lnTo>
                        <a:pt x="135" y="17"/>
                      </a:lnTo>
                      <a:lnTo>
                        <a:pt x="134" y="16"/>
                      </a:lnTo>
                      <a:lnTo>
                        <a:pt x="132" y="16"/>
                      </a:lnTo>
                      <a:lnTo>
                        <a:pt x="130" y="16"/>
                      </a:lnTo>
                      <a:lnTo>
                        <a:pt x="130" y="15"/>
                      </a:lnTo>
                      <a:lnTo>
                        <a:pt x="129" y="15"/>
                      </a:lnTo>
                      <a:lnTo>
                        <a:pt x="128" y="15"/>
                      </a:lnTo>
                      <a:lnTo>
                        <a:pt x="126" y="15"/>
                      </a:lnTo>
                      <a:lnTo>
                        <a:pt x="125" y="14"/>
                      </a:lnTo>
                      <a:lnTo>
                        <a:pt x="123" y="14"/>
                      </a:lnTo>
                      <a:lnTo>
                        <a:pt x="123" y="12"/>
                      </a:lnTo>
                      <a:lnTo>
                        <a:pt x="122" y="12"/>
                      </a:lnTo>
                      <a:lnTo>
                        <a:pt x="121" y="12"/>
                      </a:lnTo>
                      <a:lnTo>
                        <a:pt x="119" y="12"/>
                      </a:lnTo>
                      <a:lnTo>
                        <a:pt x="118" y="12"/>
                      </a:lnTo>
                      <a:lnTo>
                        <a:pt x="116" y="12"/>
                      </a:lnTo>
                      <a:lnTo>
                        <a:pt x="116" y="11"/>
                      </a:lnTo>
                      <a:lnTo>
                        <a:pt x="114" y="11"/>
                      </a:lnTo>
                      <a:lnTo>
                        <a:pt x="112" y="11"/>
                      </a:lnTo>
                      <a:lnTo>
                        <a:pt x="112" y="10"/>
                      </a:lnTo>
                      <a:lnTo>
                        <a:pt x="112" y="10"/>
                      </a:lnTo>
                      <a:lnTo>
                        <a:pt x="112" y="8"/>
                      </a:lnTo>
                      <a:lnTo>
                        <a:pt x="108" y="8"/>
                      </a:lnTo>
                      <a:lnTo>
                        <a:pt x="106" y="8"/>
                      </a:lnTo>
                      <a:lnTo>
                        <a:pt x="105" y="8"/>
                      </a:lnTo>
                      <a:lnTo>
                        <a:pt x="104" y="8"/>
                      </a:lnTo>
                      <a:lnTo>
                        <a:pt x="102" y="8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9" y="7"/>
                      </a:lnTo>
                      <a:lnTo>
                        <a:pt x="97" y="7"/>
                      </a:lnTo>
                      <a:lnTo>
                        <a:pt x="96" y="7"/>
                      </a:lnTo>
                      <a:lnTo>
                        <a:pt x="95" y="7"/>
                      </a:lnTo>
                      <a:lnTo>
                        <a:pt x="95" y="5"/>
                      </a:lnTo>
                      <a:lnTo>
                        <a:pt x="95" y="6"/>
                      </a:lnTo>
                      <a:lnTo>
                        <a:pt x="93" y="6"/>
                      </a:lnTo>
                      <a:lnTo>
                        <a:pt x="92" y="6"/>
                      </a:lnTo>
                      <a:lnTo>
                        <a:pt x="90" y="6"/>
                      </a:lnTo>
                      <a:lnTo>
                        <a:pt x="89" y="8"/>
                      </a:lnTo>
                      <a:lnTo>
                        <a:pt x="87" y="8"/>
                      </a:lnTo>
                      <a:lnTo>
                        <a:pt x="86" y="8"/>
                      </a:lnTo>
                      <a:lnTo>
                        <a:pt x="84" y="8"/>
                      </a:lnTo>
                      <a:lnTo>
                        <a:pt x="82" y="8"/>
                      </a:lnTo>
                      <a:lnTo>
                        <a:pt x="80" y="8"/>
                      </a:lnTo>
                      <a:lnTo>
                        <a:pt x="78" y="8"/>
                      </a:lnTo>
                      <a:lnTo>
                        <a:pt x="78" y="8"/>
                      </a:lnTo>
                      <a:lnTo>
                        <a:pt x="76" y="10"/>
                      </a:lnTo>
                      <a:lnTo>
                        <a:pt x="74" y="10"/>
                      </a:lnTo>
                      <a:lnTo>
                        <a:pt x="73" y="10"/>
                      </a:lnTo>
                      <a:lnTo>
                        <a:pt x="71" y="11"/>
                      </a:lnTo>
                      <a:lnTo>
                        <a:pt x="70" y="11"/>
                      </a:lnTo>
                      <a:lnTo>
                        <a:pt x="68" y="11"/>
                      </a:lnTo>
                      <a:lnTo>
                        <a:pt x="67" y="11"/>
                      </a:lnTo>
                      <a:lnTo>
                        <a:pt x="66" y="12"/>
                      </a:lnTo>
                      <a:lnTo>
                        <a:pt x="64" y="12"/>
                      </a:lnTo>
                      <a:lnTo>
                        <a:pt x="63" y="12"/>
                      </a:lnTo>
                      <a:lnTo>
                        <a:pt x="61" y="12"/>
                      </a:lnTo>
                      <a:lnTo>
                        <a:pt x="60" y="12"/>
                      </a:lnTo>
                      <a:lnTo>
                        <a:pt x="58" y="12"/>
                      </a:lnTo>
                      <a:lnTo>
                        <a:pt x="56" y="12"/>
                      </a:lnTo>
                      <a:lnTo>
                        <a:pt x="55" y="12"/>
                      </a:lnTo>
                      <a:lnTo>
                        <a:pt x="49" y="15"/>
                      </a:lnTo>
                      <a:lnTo>
                        <a:pt x="45" y="17"/>
                      </a:lnTo>
                      <a:lnTo>
                        <a:pt x="39" y="18"/>
                      </a:lnTo>
                      <a:lnTo>
                        <a:pt x="35" y="20"/>
                      </a:lnTo>
                      <a:lnTo>
                        <a:pt x="30" y="23"/>
                      </a:lnTo>
                      <a:lnTo>
                        <a:pt x="25" y="26"/>
                      </a:lnTo>
                      <a:lnTo>
                        <a:pt x="21" y="29"/>
                      </a:lnTo>
                      <a:lnTo>
                        <a:pt x="16" y="32"/>
                      </a:lnTo>
                      <a:lnTo>
                        <a:pt x="12" y="35"/>
                      </a:lnTo>
                      <a:lnTo>
                        <a:pt x="8" y="37"/>
                      </a:lnTo>
                      <a:lnTo>
                        <a:pt x="5" y="41"/>
                      </a:lnTo>
                      <a:lnTo>
                        <a:pt x="3" y="41"/>
                      </a:lnTo>
                      <a:lnTo>
                        <a:pt x="1" y="44"/>
                      </a:lnTo>
                      <a:lnTo>
                        <a:pt x="0" y="45"/>
                      </a:lnTo>
                      <a:lnTo>
                        <a:pt x="0" y="46"/>
                      </a:lnTo>
                      <a:lnTo>
                        <a:pt x="0" y="45"/>
                      </a:lnTo>
                      <a:lnTo>
                        <a:pt x="0" y="44"/>
                      </a:lnTo>
                      <a:lnTo>
                        <a:pt x="1" y="43"/>
                      </a:lnTo>
                      <a:lnTo>
                        <a:pt x="3" y="41"/>
                      </a:lnTo>
                      <a:lnTo>
                        <a:pt x="5" y="39"/>
                      </a:lnTo>
                      <a:lnTo>
                        <a:pt x="7" y="36"/>
                      </a:lnTo>
                      <a:lnTo>
                        <a:pt x="11" y="34"/>
                      </a:lnTo>
                      <a:lnTo>
                        <a:pt x="13" y="30"/>
                      </a:lnTo>
                      <a:lnTo>
                        <a:pt x="16" y="29"/>
                      </a:lnTo>
                      <a:lnTo>
                        <a:pt x="20" y="26"/>
                      </a:lnTo>
                      <a:lnTo>
                        <a:pt x="23" y="23"/>
                      </a:lnTo>
                      <a:lnTo>
                        <a:pt x="28" y="20"/>
                      </a:lnTo>
                      <a:lnTo>
                        <a:pt x="30" y="18"/>
                      </a:lnTo>
                      <a:lnTo>
                        <a:pt x="34" y="17"/>
                      </a:lnTo>
                      <a:lnTo>
                        <a:pt x="38" y="15"/>
                      </a:lnTo>
                      <a:lnTo>
                        <a:pt x="42" y="12"/>
                      </a:lnTo>
                      <a:lnTo>
                        <a:pt x="44" y="12"/>
                      </a:lnTo>
                      <a:lnTo>
                        <a:pt x="45" y="11"/>
                      </a:lnTo>
                      <a:lnTo>
                        <a:pt x="47" y="11"/>
                      </a:lnTo>
                      <a:lnTo>
                        <a:pt x="48" y="11"/>
                      </a:lnTo>
                      <a:lnTo>
                        <a:pt x="50" y="10"/>
                      </a:lnTo>
                      <a:lnTo>
                        <a:pt x="51" y="10"/>
                      </a:lnTo>
                      <a:lnTo>
                        <a:pt x="52" y="10"/>
                      </a:lnTo>
                      <a:lnTo>
                        <a:pt x="54" y="8"/>
                      </a:lnTo>
                      <a:lnTo>
                        <a:pt x="56" y="8"/>
                      </a:lnTo>
                      <a:lnTo>
                        <a:pt x="57" y="8"/>
                      </a:lnTo>
                      <a:lnTo>
                        <a:pt x="59" y="6"/>
                      </a:lnTo>
                      <a:lnTo>
                        <a:pt x="61" y="6"/>
                      </a:lnTo>
                      <a:lnTo>
                        <a:pt x="62" y="6"/>
                      </a:lnTo>
                      <a:lnTo>
                        <a:pt x="64" y="5"/>
                      </a:lnTo>
                      <a:lnTo>
                        <a:pt x="65" y="5"/>
                      </a:lnTo>
                      <a:lnTo>
                        <a:pt x="67" y="5"/>
                      </a:lnTo>
                      <a:lnTo>
                        <a:pt x="68" y="5"/>
                      </a:lnTo>
                      <a:lnTo>
                        <a:pt x="70" y="4"/>
                      </a:lnTo>
                      <a:lnTo>
                        <a:pt x="71" y="4"/>
                      </a:lnTo>
                      <a:lnTo>
                        <a:pt x="73" y="4"/>
                      </a:lnTo>
                      <a:lnTo>
                        <a:pt x="74" y="2"/>
                      </a:lnTo>
                      <a:lnTo>
                        <a:pt x="76" y="2"/>
                      </a:lnTo>
                      <a:lnTo>
                        <a:pt x="78" y="2"/>
                      </a:lnTo>
                      <a:lnTo>
                        <a:pt x="78" y="2"/>
                      </a:lnTo>
                      <a:lnTo>
                        <a:pt x="80" y="0"/>
                      </a:lnTo>
                      <a:lnTo>
                        <a:pt x="82" y="0"/>
                      </a:lnTo>
                      <a:lnTo>
                        <a:pt x="85" y="0"/>
                      </a:lnTo>
                      <a:lnTo>
                        <a:pt x="88" y="0"/>
                      </a:lnTo>
                      <a:lnTo>
                        <a:pt x="91" y="0"/>
                      </a:lnTo>
                      <a:lnTo>
                        <a:pt x="94" y="0"/>
                      </a:lnTo>
                      <a:lnTo>
                        <a:pt x="96" y="0"/>
                      </a:lnTo>
                      <a:lnTo>
                        <a:pt x="100" y="0"/>
                      </a:lnTo>
                      <a:lnTo>
                        <a:pt x="103" y="0"/>
                      </a:lnTo>
                      <a:lnTo>
                        <a:pt x="105" y="1"/>
                      </a:lnTo>
                      <a:lnTo>
                        <a:pt x="107" y="1"/>
                      </a:lnTo>
                      <a:lnTo>
                        <a:pt x="109" y="1"/>
                      </a:lnTo>
                      <a:lnTo>
                        <a:pt x="112" y="1"/>
                      </a:lnTo>
                      <a:lnTo>
                        <a:pt x="112" y="1"/>
                      </a:lnTo>
                      <a:lnTo>
                        <a:pt x="114" y="1"/>
                      </a:lnTo>
                      <a:lnTo>
                        <a:pt x="115" y="1"/>
                      </a:lnTo>
                      <a:lnTo>
                        <a:pt x="117" y="1"/>
                      </a:lnTo>
                      <a:lnTo>
                        <a:pt x="117" y="3"/>
                      </a:lnTo>
                      <a:lnTo>
                        <a:pt x="118" y="3"/>
                      </a:lnTo>
                      <a:lnTo>
                        <a:pt x="118" y="4"/>
                      </a:lnTo>
                      <a:lnTo>
                        <a:pt x="119" y="4"/>
                      </a:lnTo>
                      <a:lnTo>
                        <a:pt x="119" y="5"/>
                      </a:lnTo>
                      <a:lnTo>
                        <a:pt x="121" y="5"/>
                      </a:lnTo>
                      <a:lnTo>
                        <a:pt x="122" y="5"/>
                      </a:lnTo>
                      <a:lnTo>
                        <a:pt x="123" y="5"/>
                      </a:lnTo>
                      <a:lnTo>
                        <a:pt x="123" y="7"/>
                      </a:lnTo>
                      <a:lnTo>
                        <a:pt x="125" y="7"/>
                      </a:lnTo>
                      <a:lnTo>
                        <a:pt x="127" y="7"/>
                      </a:lnTo>
                      <a:lnTo>
                        <a:pt x="129" y="7"/>
                      </a:lnTo>
                      <a:lnTo>
                        <a:pt x="129" y="8"/>
                      </a:lnTo>
                      <a:lnTo>
                        <a:pt x="130" y="8"/>
                      </a:lnTo>
                      <a:lnTo>
                        <a:pt x="132" y="8"/>
                      </a:lnTo>
                      <a:lnTo>
                        <a:pt x="134" y="8"/>
                      </a:lnTo>
                      <a:lnTo>
                        <a:pt x="134" y="9"/>
                      </a:lnTo>
                      <a:lnTo>
                        <a:pt x="135" y="9"/>
                      </a:lnTo>
                      <a:lnTo>
                        <a:pt x="137" y="9"/>
                      </a:lnTo>
                      <a:lnTo>
                        <a:pt x="139" y="9"/>
                      </a:lnTo>
                      <a:lnTo>
                        <a:pt x="140" y="9"/>
                      </a:lnTo>
                      <a:lnTo>
                        <a:pt x="142" y="9"/>
                      </a:lnTo>
                      <a:lnTo>
                        <a:pt x="143" y="9"/>
                      </a:lnTo>
                      <a:lnTo>
                        <a:pt x="145" y="9"/>
                      </a:lnTo>
                      <a:lnTo>
                        <a:pt x="146" y="9"/>
                      </a:lnTo>
                      <a:lnTo>
                        <a:pt x="148" y="9"/>
                      </a:lnTo>
                      <a:lnTo>
                        <a:pt x="150" y="8"/>
                      </a:lnTo>
                      <a:lnTo>
                        <a:pt x="150" y="9"/>
                      </a:lnTo>
                      <a:lnTo>
                        <a:pt x="151" y="9"/>
                      </a:lnTo>
                      <a:lnTo>
                        <a:pt x="153" y="9"/>
                      </a:lnTo>
                      <a:lnTo>
                        <a:pt x="154" y="9"/>
                      </a:lnTo>
                      <a:lnTo>
                        <a:pt x="156" y="9"/>
                      </a:lnTo>
                      <a:lnTo>
                        <a:pt x="157" y="9"/>
                      </a:lnTo>
                      <a:lnTo>
                        <a:pt x="159" y="9"/>
                      </a:lnTo>
                      <a:lnTo>
                        <a:pt x="161" y="9"/>
                      </a:lnTo>
                    </a:path>
                  </a:pathLst>
                </a:custGeom>
                <a:solidFill>
                  <a:srgbClr val="C0C0C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82" name="Freeform 150"/>
                <p:cNvSpPr>
                  <a:spLocks/>
                </p:cNvSpPr>
                <p:nvPr/>
              </p:nvSpPr>
              <p:spPr bwMode="auto">
                <a:xfrm>
                  <a:off x="1142" y="3656"/>
                  <a:ext cx="57" cy="7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7" y="0"/>
                    </a:cxn>
                    <a:cxn ang="0">
                      <a:pos x="10" y="0"/>
                    </a:cxn>
                    <a:cxn ang="0">
                      <a:pos x="14" y="1"/>
                    </a:cxn>
                    <a:cxn ang="0">
                      <a:pos x="18" y="1"/>
                    </a:cxn>
                    <a:cxn ang="0">
                      <a:pos x="21" y="3"/>
                    </a:cxn>
                    <a:cxn ang="0">
                      <a:pos x="25" y="3"/>
                    </a:cxn>
                    <a:cxn ang="0">
                      <a:pos x="30" y="3"/>
                    </a:cxn>
                    <a:cxn ang="0">
                      <a:pos x="32" y="4"/>
                    </a:cxn>
                    <a:cxn ang="0">
                      <a:pos x="36" y="6"/>
                    </a:cxn>
                    <a:cxn ang="0">
                      <a:pos x="38" y="6"/>
                    </a:cxn>
                    <a:cxn ang="0">
                      <a:pos x="41" y="8"/>
                    </a:cxn>
                    <a:cxn ang="0">
                      <a:pos x="42" y="12"/>
                    </a:cxn>
                    <a:cxn ang="0">
                      <a:pos x="46" y="12"/>
                    </a:cxn>
                    <a:cxn ang="0">
                      <a:pos x="46" y="15"/>
                    </a:cxn>
                    <a:cxn ang="0">
                      <a:pos x="48" y="18"/>
                    </a:cxn>
                    <a:cxn ang="0">
                      <a:pos x="49" y="20"/>
                    </a:cxn>
                    <a:cxn ang="0">
                      <a:pos x="51" y="23"/>
                    </a:cxn>
                    <a:cxn ang="0">
                      <a:pos x="52" y="25"/>
                    </a:cxn>
                    <a:cxn ang="0">
                      <a:pos x="53" y="28"/>
                    </a:cxn>
                    <a:cxn ang="0">
                      <a:pos x="54" y="30"/>
                    </a:cxn>
                    <a:cxn ang="0">
                      <a:pos x="54" y="35"/>
                    </a:cxn>
                    <a:cxn ang="0">
                      <a:pos x="56" y="38"/>
                    </a:cxn>
                    <a:cxn ang="0">
                      <a:pos x="56" y="42"/>
                    </a:cxn>
                    <a:cxn ang="0">
                      <a:pos x="55" y="46"/>
                    </a:cxn>
                    <a:cxn ang="0">
                      <a:pos x="55" y="50"/>
                    </a:cxn>
                    <a:cxn ang="0">
                      <a:pos x="54" y="55"/>
                    </a:cxn>
                    <a:cxn ang="0">
                      <a:pos x="52" y="60"/>
                    </a:cxn>
                    <a:cxn ang="0">
                      <a:pos x="49" y="64"/>
                    </a:cxn>
                    <a:cxn ang="0">
                      <a:pos x="47" y="68"/>
                    </a:cxn>
                    <a:cxn ang="0">
                      <a:pos x="46" y="70"/>
                    </a:cxn>
                    <a:cxn ang="0">
                      <a:pos x="46" y="65"/>
                    </a:cxn>
                    <a:cxn ang="0">
                      <a:pos x="49" y="56"/>
                    </a:cxn>
                    <a:cxn ang="0">
                      <a:pos x="48" y="47"/>
                    </a:cxn>
                    <a:cxn ang="0">
                      <a:pos x="46" y="38"/>
                    </a:cxn>
                    <a:cxn ang="0">
                      <a:pos x="41" y="32"/>
                    </a:cxn>
                    <a:cxn ang="0">
                      <a:pos x="40" y="28"/>
                    </a:cxn>
                    <a:cxn ang="0">
                      <a:pos x="37" y="24"/>
                    </a:cxn>
                    <a:cxn ang="0">
                      <a:pos x="36" y="21"/>
                    </a:cxn>
                    <a:cxn ang="0">
                      <a:pos x="35" y="18"/>
                    </a:cxn>
                    <a:cxn ang="0">
                      <a:pos x="31" y="17"/>
                    </a:cxn>
                    <a:cxn ang="0">
                      <a:pos x="31" y="14"/>
                    </a:cxn>
                    <a:cxn ang="0">
                      <a:pos x="27" y="13"/>
                    </a:cxn>
                    <a:cxn ang="0">
                      <a:pos x="25" y="10"/>
                    </a:cxn>
                    <a:cxn ang="0">
                      <a:pos x="23" y="8"/>
                    </a:cxn>
                    <a:cxn ang="0">
                      <a:pos x="20" y="6"/>
                    </a:cxn>
                    <a:cxn ang="0">
                      <a:pos x="16" y="6"/>
                    </a:cxn>
                    <a:cxn ang="0">
                      <a:pos x="14" y="5"/>
                    </a:cxn>
                    <a:cxn ang="0">
                      <a:pos x="9" y="5"/>
                    </a:cxn>
                    <a:cxn ang="0">
                      <a:pos x="7" y="3"/>
                    </a:cxn>
                    <a:cxn ang="0">
                      <a:pos x="4" y="2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57" h="7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7" y="0"/>
                      </a:lnTo>
                      <a:lnTo>
                        <a:pt x="8" y="0"/>
                      </a:lnTo>
                      <a:lnTo>
                        <a:pt x="9" y="0"/>
                      </a:lnTo>
                      <a:lnTo>
                        <a:pt x="10" y="0"/>
                      </a:lnTo>
                      <a:lnTo>
                        <a:pt x="12" y="0"/>
                      </a:lnTo>
                      <a:lnTo>
                        <a:pt x="14" y="0"/>
                      </a:lnTo>
                      <a:lnTo>
                        <a:pt x="14" y="1"/>
                      </a:lnTo>
                      <a:lnTo>
                        <a:pt x="15" y="1"/>
                      </a:lnTo>
                      <a:lnTo>
                        <a:pt x="16" y="1"/>
                      </a:lnTo>
                      <a:lnTo>
                        <a:pt x="18" y="1"/>
                      </a:lnTo>
                      <a:lnTo>
                        <a:pt x="20" y="1"/>
                      </a:lnTo>
                      <a:lnTo>
                        <a:pt x="21" y="1"/>
                      </a:lnTo>
                      <a:lnTo>
                        <a:pt x="21" y="3"/>
                      </a:lnTo>
                      <a:lnTo>
                        <a:pt x="23" y="3"/>
                      </a:lnTo>
                      <a:lnTo>
                        <a:pt x="24" y="3"/>
                      </a:lnTo>
                      <a:lnTo>
                        <a:pt x="25" y="3"/>
                      </a:lnTo>
                      <a:lnTo>
                        <a:pt x="27" y="3"/>
                      </a:lnTo>
                      <a:lnTo>
                        <a:pt x="28" y="3"/>
                      </a:lnTo>
                      <a:lnTo>
                        <a:pt x="30" y="3"/>
                      </a:lnTo>
                      <a:lnTo>
                        <a:pt x="30" y="4"/>
                      </a:lnTo>
                      <a:lnTo>
                        <a:pt x="31" y="4"/>
                      </a:lnTo>
                      <a:lnTo>
                        <a:pt x="32" y="4"/>
                      </a:lnTo>
                      <a:lnTo>
                        <a:pt x="34" y="4"/>
                      </a:lnTo>
                      <a:lnTo>
                        <a:pt x="34" y="6"/>
                      </a:lnTo>
                      <a:lnTo>
                        <a:pt x="36" y="6"/>
                      </a:lnTo>
                      <a:lnTo>
                        <a:pt x="36" y="6"/>
                      </a:lnTo>
                      <a:lnTo>
                        <a:pt x="38" y="6"/>
                      </a:lnTo>
                      <a:lnTo>
                        <a:pt x="38" y="6"/>
                      </a:lnTo>
                      <a:lnTo>
                        <a:pt x="40" y="6"/>
                      </a:lnTo>
                      <a:lnTo>
                        <a:pt x="40" y="8"/>
                      </a:lnTo>
                      <a:lnTo>
                        <a:pt x="41" y="8"/>
                      </a:lnTo>
                      <a:lnTo>
                        <a:pt x="41" y="10"/>
                      </a:lnTo>
                      <a:lnTo>
                        <a:pt x="42" y="10"/>
                      </a:lnTo>
                      <a:lnTo>
                        <a:pt x="42" y="12"/>
                      </a:lnTo>
                      <a:lnTo>
                        <a:pt x="44" y="12"/>
                      </a:lnTo>
                      <a:lnTo>
                        <a:pt x="46" y="12"/>
                      </a:lnTo>
                      <a:lnTo>
                        <a:pt x="46" y="12"/>
                      </a:lnTo>
                      <a:lnTo>
                        <a:pt x="46" y="13"/>
                      </a:lnTo>
                      <a:lnTo>
                        <a:pt x="46" y="13"/>
                      </a:lnTo>
                      <a:lnTo>
                        <a:pt x="46" y="15"/>
                      </a:lnTo>
                      <a:lnTo>
                        <a:pt x="46" y="16"/>
                      </a:lnTo>
                      <a:lnTo>
                        <a:pt x="48" y="16"/>
                      </a:lnTo>
                      <a:lnTo>
                        <a:pt x="48" y="18"/>
                      </a:lnTo>
                      <a:lnTo>
                        <a:pt x="48" y="18"/>
                      </a:lnTo>
                      <a:lnTo>
                        <a:pt x="49" y="18"/>
                      </a:lnTo>
                      <a:lnTo>
                        <a:pt x="49" y="20"/>
                      </a:lnTo>
                      <a:lnTo>
                        <a:pt x="51" y="20"/>
                      </a:lnTo>
                      <a:lnTo>
                        <a:pt x="51" y="22"/>
                      </a:lnTo>
                      <a:lnTo>
                        <a:pt x="51" y="23"/>
                      </a:lnTo>
                      <a:lnTo>
                        <a:pt x="51" y="24"/>
                      </a:lnTo>
                      <a:lnTo>
                        <a:pt x="51" y="25"/>
                      </a:lnTo>
                      <a:lnTo>
                        <a:pt x="52" y="25"/>
                      </a:lnTo>
                      <a:lnTo>
                        <a:pt x="52" y="27"/>
                      </a:lnTo>
                      <a:lnTo>
                        <a:pt x="52" y="28"/>
                      </a:lnTo>
                      <a:lnTo>
                        <a:pt x="53" y="28"/>
                      </a:lnTo>
                      <a:lnTo>
                        <a:pt x="53" y="30"/>
                      </a:lnTo>
                      <a:lnTo>
                        <a:pt x="54" y="30"/>
                      </a:lnTo>
                      <a:lnTo>
                        <a:pt x="54" y="30"/>
                      </a:lnTo>
                      <a:lnTo>
                        <a:pt x="54" y="31"/>
                      </a:lnTo>
                      <a:lnTo>
                        <a:pt x="54" y="33"/>
                      </a:lnTo>
                      <a:lnTo>
                        <a:pt x="54" y="35"/>
                      </a:lnTo>
                      <a:lnTo>
                        <a:pt x="54" y="36"/>
                      </a:lnTo>
                      <a:lnTo>
                        <a:pt x="56" y="36"/>
                      </a:lnTo>
                      <a:lnTo>
                        <a:pt x="56" y="38"/>
                      </a:lnTo>
                      <a:lnTo>
                        <a:pt x="56" y="39"/>
                      </a:lnTo>
                      <a:lnTo>
                        <a:pt x="56" y="41"/>
                      </a:lnTo>
                      <a:lnTo>
                        <a:pt x="56" y="42"/>
                      </a:lnTo>
                      <a:lnTo>
                        <a:pt x="55" y="43"/>
                      </a:lnTo>
                      <a:lnTo>
                        <a:pt x="55" y="44"/>
                      </a:lnTo>
                      <a:lnTo>
                        <a:pt x="55" y="46"/>
                      </a:lnTo>
                      <a:lnTo>
                        <a:pt x="55" y="47"/>
                      </a:lnTo>
                      <a:lnTo>
                        <a:pt x="55" y="48"/>
                      </a:lnTo>
                      <a:lnTo>
                        <a:pt x="55" y="50"/>
                      </a:lnTo>
                      <a:lnTo>
                        <a:pt x="54" y="52"/>
                      </a:lnTo>
                      <a:lnTo>
                        <a:pt x="54" y="54"/>
                      </a:lnTo>
                      <a:lnTo>
                        <a:pt x="54" y="55"/>
                      </a:lnTo>
                      <a:lnTo>
                        <a:pt x="54" y="57"/>
                      </a:lnTo>
                      <a:lnTo>
                        <a:pt x="54" y="58"/>
                      </a:lnTo>
                      <a:lnTo>
                        <a:pt x="52" y="60"/>
                      </a:lnTo>
                      <a:lnTo>
                        <a:pt x="51" y="61"/>
                      </a:lnTo>
                      <a:lnTo>
                        <a:pt x="49" y="62"/>
                      </a:lnTo>
                      <a:lnTo>
                        <a:pt x="49" y="64"/>
                      </a:lnTo>
                      <a:lnTo>
                        <a:pt x="48" y="65"/>
                      </a:lnTo>
                      <a:lnTo>
                        <a:pt x="47" y="66"/>
                      </a:lnTo>
                      <a:lnTo>
                        <a:pt x="47" y="68"/>
                      </a:lnTo>
                      <a:lnTo>
                        <a:pt x="46" y="70"/>
                      </a:lnTo>
                      <a:lnTo>
                        <a:pt x="46" y="71"/>
                      </a:lnTo>
                      <a:lnTo>
                        <a:pt x="46" y="70"/>
                      </a:lnTo>
                      <a:lnTo>
                        <a:pt x="46" y="68"/>
                      </a:lnTo>
                      <a:lnTo>
                        <a:pt x="46" y="66"/>
                      </a:lnTo>
                      <a:lnTo>
                        <a:pt x="46" y="65"/>
                      </a:lnTo>
                      <a:lnTo>
                        <a:pt x="47" y="62"/>
                      </a:lnTo>
                      <a:lnTo>
                        <a:pt x="47" y="60"/>
                      </a:lnTo>
                      <a:lnTo>
                        <a:pt x="49" y="56"/>
                      </a:lnTo>
                      <a:lnTo>
                        <a:pt x="49" y="54"/>
                      </a:lnTo>
                      <a:lnTo>
                        <a:pt x="49" y="50"/>
                      </a:lnTo>
                      <a:lnTo>
                        <a:pt x="48" y="47"/>
                      </a:lnTo>
                      <a:lnTo>
                        <a:pt x="48" y="44"/>
                      </a:lnTo>
                      <a:lnTo>
                        <a:pt x="47" y="41"/>
                      </a:lnTo>
                      <a:lnTo>
                        <a:pt x="46" y="38"/>
                      </a:lnTo>
                      <a:lnTo>
                        <a:pt x="45" y="36"/>
                      </a:lnTo>
                      <a:lnTo>
                        <a:pt x="43" y="32"/>
                      </a:lnTo>
                      <a:lnTo>
                        <a:pt x="41" y="32"/>
                      </a:lnTo>
                      <a:lnTo>
                        <a:pt x="41" y="30"/>
                      </a:lnTo>
                      <a:lnTo>
                        <a:pt x="40" y="30"/>
                      </a:lnTo>
                      <a:lnTo>
                        <a:pt x="40" y="28"/>
                      </a:lnTo>
                      <a:lnTo>
                        <a:pt x="38" y="28"/>
                      </a:lnTo>
                      <a:lnTo>
                        <a:pt x="38" y="26"/>
                      </a:lnTo>
                      <a:lnTo>
                        <a:pt x="37" y="24"/>
                      </a:lnTo>
                      <a:lnTo>
                        <a:pt x="37" y="23"/>
                      </a:lnTo>
                      <a:lnTo>
                        <a:pt x="36" y="23"/>
                      </a:lnTo>
                      <a:lnTo>
                        <a:pt x="36" y="21"/>
                      </a:lnTo>
                      <a:lnTo>
                        <a:pt x="35" y="21"/>
                      </a:lnTo>
                      <a:lnTo>
                        <a:pt x="35" y="19"/>
                      </a:lnTo>
                      <a:lnTo>
                        <a:pt x="35" y="18"/>
                      </a:lnTo>
                      <a:lnTo>
                        <a:pt x="35" y="17"/>
                      </a:lnTo>
                      <a:lnTo>
                        <a:pt x="33" y="17"/>
                      </a:lnTo>
                      <a:lnTo>
                        <a:pt x="31" y="17"/>
                      </a:lnTo>
                      <a:lnTo>
                        <a:pt x="31" y="16"/>
                      </a:lnTo>
                      <a:lnTo>
                        <a:pt x="31" y="16"/>
                      </a:lnTo>
                      <a:lnTo>
                        <a:pt x="31" y="14"/>
                      </a:lnTo>
                      <a:lnTo>
                        <a:pt x="29" y="14"/>
                      </a:lnTo>
                      <a:lnTo>
                        <a:pt x="29" y="13"/>
                      </a:lnTo>
                      <a:lnTo>
                        <a:pt x="27" y="13"/>
                      </a:lnTo>
                      <a:lnTo>
                        <a:pt x="27" y="12"/>
                      </a:lnTo>
                      <a:lnTo>
                        <a:pt x="25" y="12"/>
                      </a:lnTo>
                      <a:lnTo>
                        <a:pt x="25" y="10"/>
                      </a:lnTo>
                      <a:lnTo>
                        <a:pt x="25" y="10"/>
                      </a:lnTo>
                      <a:lnTo>
                        <a:pt x="25" y="8"/>
                      </a:lnTo>
                      <a:lnTo>
                        <a:pt x="23" y="8"/>
                      </a:lnTo>
                      <a:lnTo>
                        <a:pt x="22" y="8"/>
                      </a:lnTo>
                      <a:lnTo>
                        <a:pt x="20" y="8"/>
                      </a:lnTo>
                      <a:lnTo>
                        <a:pt x="20" y="6"/>
                      </a:lnTo>
                      <a:lnTo>
                        <a:pt x="19" y="6"/>
                      </a:lnTo>
                      <a:lnTo>
                        <a:pt x="18" y="6"/>
                      </a:lnTo>
                      <a:lnTo>
                        <a:pt x="16" y="6"/>
                      </a:lnTo>
                      <a:lnTo>
                        <a:pt x="16" y="5"/>
                      </a:lnTo>
                      <a:lnTo>
                        <a:pt x="15" y="5"/>
                      </a:lnTo>
                      <a:lnTo>
                        <a:pt x="14" y="5"/>
                      </a:lnTo>
                      <a:lnTo>
                        <a:pt x="12" y="5"/>
                      </a:lnTo>
                      <a:lnTo>
                        <a:pt x="10" y="5"/>
                      </a:lnTo>
                      <a:lnTo>
                        <a:pt x="9" y="5"/>
                      </a:lnTo>
                      <a:lnTo>
                        <a:pt x="9" y="3"/>
                      </a:lnTo>
                      <a:lnTo>
                        <a:pt x="8" y="3"/>
                      </a:lnTo>
                      <a:lnTo>
                        <a:pt x="7" y="3"/>
                      </a:lnTo>
                      <a:lnTo>
                        <a:pt x="5" y="3"/>
                      </a:lnTo>
                      <a:lnTo>
                        <a:pt x="5" y="2"/>
                      </a:lnTo>
                      <a:lnTo>
                        <a:pt x="4" y="2"/>
                      </a:lnTo>
                      <a:lnTo>
                        <a:pt x="4" y="1"/>
                      </a:lnTo>
                      <a:lnTo>
                        <a:pt x="2" y="1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E1E1E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83" name="Freeform 151"/>
                <p:cNvSpPr>
                  <a:spLocks/>
                </p:cNvSpPr>
                <p:nvPr/>
              </p:nvSpPr>
              <p:spPr bwMode="auto">
                <a:xfrm>
                  <a:off x="1153" y="3668"/>
                  <a:ext cx="37" cy="60"/>
                </a:xfrm>
                <a:custGeom>
                  <a:avLst/>
                  <a:gdLst/>
                  <a:ahLst/>
                  <a:cxnLst>
                    <a:cxn ang="0">
                      <a:pos x="34" y="48"/>
                    </a:cxn>
                    <a:cxn ang="0">
                      <a:pos x="34" y="52"/>
                    </a:cxn>
                    <a:cxn ang="0">
                      <a:pos x="34" y="56"/>
                    </a:cxn>
                    <a:cxn ang="0">
                      <a:pos x="34" y="58"/>
                    </a:cxn>
                    <a:cxn ang="0">
                      <a:pos x="34" y="53"/>
                    </a:cxn>
                    <a:cxn ang="0">
                      <a:pos x="34" y="48"/>
                    </a:cxn>
                    <a:cxn ang="0">
                      <a:pos x="34" y="43"/>
                    </a:cxn>
                    <a:cxn ang="0">
                      <a:pos x="35" y="39"/>
                    </a:cxn>
                    <a:cxn ang="0">
                      <a:pos x="32" y="37"/>
                    </a:cxn>
                    <a:cxn ang="0">
                      <a:pos x="31" y="34"/>
                    </a:cxn>
                    <a:cxn ang="0">
                      <a:pos x="30" y="32"/>
                    </a:cxn>
                    <a:cxn ang="0">
                      <a:pos x="27" y="30"/>
                    </a:cxn>
                    <a:cxn ang="0">
                      <a:pos x="26" y="27"/>
                    </a:cxn>
                    <a:cxn ang="0">
                      <a:pos x="24" y="25"/>
                    </a:cxn>
                    <a:cxn ang="0">
                      <a:pos x="23" y="22"/>
                    </a:cxn>
                    <a:cxn ang="0">
                      <a:pos x="21" y="18"/>
                    </a:cxn>
                    <a:cxn ang="0">
                      <a:pos x="20" y="17"/>
                    </a:cxn>
                    <a:cxn ang="0">
                      <a:pos x="17" y="15"/>
                    </a:cxn>
                    <a:cxn ang="0">
                      <a:pos x="15" y="12"/>
                    </a:cxn>
                    <a:cxn ang="0">
                      <a:pos x="14" y="9"/>
                    </a:cxn>
                    <a:cxn ang="0">
                      <a:pos x="12" y="6"/>
                    </a:cxn>
                    <a:cxn ang="0">
                      <a:pos x="10" y="5"/>
                    </a:cxn>
                    <a:cxn ang="0">
                      <a:pos x="6" y="5"/>
                    </a:cxn>
                    <a:cxn ang="0">
                      <a:pos x="3" y="3"/>
                    </a:cxn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4" y="1"/>
                    </a:cxn>
                    <a:cxn ang="0">
                      <a:pos x="6" y="3"/>
                    </a:cxn>
                    <a:cxn ang="0">
                      <a:pos x="12" y="3"/>
                    </a:cxn>
                    <a:cxn ang="0">
                      <a:pos x="13" y="5"/>
                    </a:cxn>
                    <a:cxn ang="0">
                      <a:pos x="17" y="6"/>
                    </a:cxn>
                    <a:cxn ang="0">
                      <a:pos x="20" y="6"/>
                    </a:cxn>
                    <a:cxn ang="0">
                      <a:pos x="21" y="8"/>
                    </a:cxn>
                    <a:cxn ang="0">
                      <a:pos x="23" y="10"/>
                    </a:cxn>
                    <a:cxn ang="0">
                      <a:pos x="24" y="15"/>
                    </a:cxn>
                    <a:cxn ang="0">
                      <a:pos x="27" y="18"/>
                    </a:cxn>
                    <a:cxn ang="0">
                      <a:pos x="29" y="22"/>
                    </a:cxn>
                    <a:cxn ang="0">
                      <a:pos x="30" y="25"/>
                    </a:cxn>
                    <a:cxn ang="0">
                      <a:pos x="31" y="29"/>
                    </a:cxn>
                    <a:cxn ang="0">
                      <a:pos x="34" y="30"/>
                    </a:cxn>
                    <a:cxn ang="0">
                      <a:pos x="36" y="34"/>
                    </a:cxn>
                    <a:cxn ang="0">
                      <a:pos x="36" y="39"/>
                    </a:cxn>
                    <a:cxn ang="0">
                      <a:pos x="36" y="43"/>
                    </a:cxn>
                  </a:cxnLst>
                  <a:rect l="0" t="0" r="r" b="b"/>
                  <a:pathLst>
                    <a:path w="37" h="60">
                      <a:moveTo>
                        <a:pt x="36" y="45"/>
                      </a:moveTo>
                      <a:lnTo>
                        <a:pt x="34" y="46"/>
                      </a:lnTo>
                      <a:lnTo>
                        <a:pt x="34" y="48"/>
                      </a:lnTo>
                      <a:lnTo>
                        <a:pt x="34" y="49"/>
                      </a:lnTo>
                      <a:lnTo>
                        <a:pt x="34" y="50"/>
                      </a:lnTo>
                      <a:lnTo>
                        <a:pt x="34" y="52"/>
                      </a:lnTo>
                      <a:lnTo>
                        <a:pt x="34" y="53"/>
                      </a:lnTo>
                      <a:lnTo>
                        <a:pt x="34" y="54"/>
                      </a:lnTo>
                      <a:lnTo>
                        <a:pt x="34" y="56"/>
                      </a:lnTo>
                      <a:lnTo>
                        <a:pt x="34" y="58"/>
                      </a:lnTo>
                      <a:lnTo>
                        <a:pt x="34" y="59"/>
                      </a:lnTo>
                      <a:lnTo>
                        <a:pt x="34" y="58"/>
                      </a:lnTo>
                      <a:lnTo>
                        <a:pt x="34" y="56"/>
                      </a:lnTo>
                      <a:lnTo>
                        <a:pt x="34" y="54"/>
                      </a:lnTo>
                      <a:lnTo>
                        <a:pt x="34" y="53"/>
                      </a:lnTo>
                      <a:lnTo>
                        <a:pt x="34" y="51"/>
                      </a:lnTo>
                      <a:lnTo>
                        <a:pt x="34" y="49"/>
                      </a:lnTo>
                      <a:lnTo>
                        <a:pt x="34" y="48"/>
                      </a:lnTo>
                      <a:lnTo>
                        <a:pt x="34" y="46"/>
                      </a:lnTo>
                      <a:lnTo>
                        <a:pt x="34" y="44"/>
                      </a:lnTo>
                      <a:lnTo>
                        <a:pt x="34" y="43"/>
                      </a:lnTo>
                      <a:lnTo>
                        <a:pt x="34" y="42"/>
                      </a:lnTo>
                      <a:lnTo>
                        <a:pt x="34" y="41"/>
                      </a:lnTo>
                      <a:lnTo>
                        <a:pt x="35" y="39"/>
                      </a:lnTo>
                      <a:lnTo>
                        <a:pt x="33" y="39"/>
                      </a:lnTo>
                      <a:lnTo>
                        <a:pt x="33" y="37"/>
                      </a:lnTo>
                      <a:lnTo>
                        <a:pt x="32" y="37"/>
                      </a:lnTo>
                      <a:lnTo>
                        <a:pt x="32" y="36"/>
                      </a:lnTo>
                      <a:lnTo>
                        <a:pt x="31" y="36"/>
                      </a:lnTo>
                      <a:lnTo>
                        <a:pt x="31" y="34"/>
                      </a:lnTo>
                      <a:lnTo>
                        <a:pt x="31" y="33"/>
                      </a:lnTo>
                      <a:lnTo>
                        <a:pt x="30" y="33"/>
                      </a:lnTo>
                      <a:lnTo>
                        <a:pt x="30" y="32"/>
                      </a:lnTo>
                      <a:lnTo>
                        <a:pt x="29" y="32"/>
                      </a:lnTo>
                      <a:lnTo>
                        <a:pt x="29" y="30"/>
                      </a:lnTo>
                      <a:lnTo>
                        <a:pt x="27" y="30"/>
                      </a:lnTo>
                      <a:lnTo>
                        <a:pt x="27" y="29"/>
                      </a:lnTo>
                      <a:lnTo>
                        <a:pt x="27" y="27"/>
                      </a:lnTo>
                      <a:lnTo>
                        <a:pt x="26" y="27"/>
                      </a:lnTo>
                      <a:lnTo>
                        <a:pt x="26" y="26"/>
                      </a:lnTo>
                      <a:lnTo>
                        <a:pt x="26" y="24"/>
                      </a:lnTo>
                      <a:lnTo>
                        <a:pt x="24" y="25"/>
                      </a:lnTo>
                      <a:lnTo>
                        <a:pt x="23" y="25"/>
                      </a:lnTo>
                      <a:lnTo>
                        <a:pt x="23" y="24"/>
                      </a:lnTo>
                      <a:lnTo>
                        <a:pt x="23" y="22"/>
                      </a:lnTo>
                      <a:lnTo>
                        <a:pt x="21" y="22"/>
                      </a:lnTo>
                      <a:lnTo>
                        <a:pt x="21" y="20"/>
                      </a:lnTo>
                      <a:lnTo>
                        <a:pt x="21" y="18"/>
                      </a:lnTo>
                      <a:lnTo>
                        <a:pt x="21" y="18"/>
                      </a:lnTo>
                      <a:lnTo>
                        <a:pt x="21" y="17"/>
                      </a:lnTo>
                      <a:lnTo>
                        <a:pt x="20" y="17"/>
                      </a:lnTo>
                      <a:lnTo>
                        <a:pt x="18" y="17"/>
                      </a:lnTo>
                      <a:lnTo>
                        <a:pt x="18" y="15"/>
                      </a:lnTo>
                      <a:lnTo>
                        <a:pt x="17" y="15"/>
                      </a:lnTo>
                      <a:lnTo>
                        <a:pt x="17" y="13"/>
                      </a:lnTo>
                      <a:lnTo>
                        <a:pt x="17" y="12"/>
                      </a:lnTo>
                      <a:lnTo>
                        <a:pt x="15" y="12"/>
                      </a:lnTo>
                      <a:lnTo>
                        <a:pt x="15" y="10"/>
                      </a:lnTo>
                      <a:lnTo>
                        <a:pt x="15" y="9"/>
                      </a:lnTo>
                      <a:lnTo>
                        <a:pt x="14" y="9"/>
                      </a:lnTo>
                      <a:lnTo>
                        <a:pt x="14" y="8"/>
                      </a:lnTo>
                      <a:lnTo>
                        <a:pt x="14" y="6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6"/>
                      </a:lnTo>
                      <a:lnTo>
                        <a:pt x="10" y="5"/>
                      </a:lnTo>
                      <a:lnTo>
                        <a:pt x="8" y="5"/>
                      </a:lnTo>
                      <a:lnTo>
                        <a:pt x="6" y="5"/>
                      </a:lnTo>
                      <a:lnTo>
                        <a:pt x="6" y="5"/>
                      </a:lnTo>
                      <a:lnTo>
                        <a:pt x="6" y="3"/>
                      </a:lnTo>
                      <a:lnTo>
                        <a:pt x="4" y="3"/>
                      </a:lnTo>
                      <a:lnTo>
                        <a:pt x="3" y="3"/>
                      </a:lnTo>
                      <a:lnTo>
                        <a:pt x="1" y="3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3" y="1"/>
                      </a:lnTo>
                      <a:lnTo>
                        <a:pt x="4" y="1"/>
                      </a:lnTo>
                      <a:lnTo>
                        <a:pt x="4" y="3"/>
                      </a:lnTo>
                      <a:lnTo>
                        <a:pt x="6" y="3"/>
                      </a:lnTo>
                      <a:lnTo>
                        <a:pt x="6" y="3"/>
                      </a:lnTo>
                      <a:lnTo>
                        <a:pt x="8" y="3"/>
                      </a:lnTo>
                      <a:lnTo>
                        <a:pt x="10" y="3"/>
                      </a:lnTo>
                      <a:lnTo>
                        <a:pt x="12" y="3"/>
                      </a:lnTo>
                      <a:lnTo>
                        <a:pt x="12" y="4"/>
                      </a:lnTo>
                      <a:lnTo>
                        <a:pt x="13" y="4"/>
                      </a:lnTo>
                      <a:lnTo>
                        <a:pt x="13" y="5"/>
                      </a:lnTo>
                      <a:lnTo>
                        <a:pt x="15" y="5"/>
                      </a:lnTo>
                      <a:lnTo>
                        <a:pt x="17" y="5"/>
                      </a:lnTo>
                      <a:lnTo>
                        <a:pt x="17" y="6"/>
                      </a:lnTo>
                      <a:lnTo>
                        <a:pt x="18" y="6"/>
                      </a:lnTo>
                      <a:lnTo>
                        <a:pt x="19" y="6"/>
                      </a:lnTo>
                      <a:lnTo>
                        <a:pt x="20" y="6"/>
                      </a:lnTo>
                      <a:lnTo>
                        <a:pt x="20" y="7"/>
                      </a:lnTo>
                      <a:lnTo>
                        <a:pt x="20" y="8"/>
                      </a:lnTo>
                      <a:lnTo>
                        <a:pt x="21" y="8"/>
                      </a:lnTo>
                      <a:lnTo>
                        <a:pt x="21" y="9"/>
                      </a:lnTo>
                      <a:lnTo>
                        <a:pt x="21" y="10"/>
                      </a:lnTo>
                      <a:lnTo>
                        <a:pt x="23" y="10"/>
                      </a:lnTo>
                      <a:lnTo>
                        <a:pt x="23" y="12"/>
                      </a:lnTo>
                      <a:lnTo>
                        <a:pt x="24" y="13"/>
                      </a:lnTo>
                      <a:lnTo>
                        <a:pt x="24" y="15"/>
                      </a:lnTo>
                      <a:lnTo>
                        <a:pt x="25" y="15"/>
                      </a:lnTo>
                      <a:lnTo>
                        <a:pt x="25" y="17"/>
                      </a:lnTo>
                      <a:lnTo>
                        <a:pt x="27" y="18"/>
                      </a:lnTo>
                      <a:lnTo>
                        <a:pt x="27" y="20"/>
                      </a:lnTo>
                      <a:lnTo>
                        <a:pt x="29" y="20"/>
                      </a:lnTo>
                      <a:lnTo>
                        <a:pt x="29" y="22"/>
                      </a:lnTo>
                      <a:lnTo>
                        <a:pt x="29" y="24"/>
                      </a:lnTo>
                      <a:lnTo>
                        <a:pt x="30" y="24"/>
                      </a:lnTo>
                      <a:lnTo>
                        <a:pt x="30" y="25"/>
                      </a:lnTo>
                      <a:lnTo>
                        <a:pt x="30" y="27"/>
                      </a:lnTo>
                      <a:lnTo>
                        <a:pt x="31" y="27"/>
                      </a:lnTo>
                      <a:lnTo>
                        <a:pt x="31" y="29"/>
                      </a:lnTo>
                      <a:lnTo>
                        <a:pt x="33" y="29"/>
                      </a:lnTo>
                      <a:lnTo>
                        <a:pt x="33" y="30"/>
                      </a:lnTo>
                      <a:lnTo>
                        <a:pt x="34" y="30"/>
                      </a:lnTo>
                      <a:lnTo>
                        <a:pt x="36" y="30"/>
                      </a:lnTo>
                      <a:lnTo>
                        <a:pt x="36" y="32"/>
                      </a:lnTo>
                      <a:lnTo>
                        <a:pt x="36" y="34"/>
                      </a:lnTo>
                      <a:lnTo>
                        <a:pt x="36" y="36"/>
                      </a:lnTo>
                      <a:lnTo>
                        <a:pt x="36" y="37"/>
                      </a:lnTo>
                      <a:lnTo>
                        <a:pt x="36" y="39"/>
                      </a:lnTo>
                      <a:lnTo>
                        <a:pt x="36" y="40"/>
                      </a:lnTo>
                      <a:lnTo>
                        <a:pt x="36" y="42"/>
                      </a:lnTo>
                      <a:lnTo>
                        <a:pt x="36" y="43"/>
                      </a:lnTo>
                      <a:lnTo>
                        <a:pt x="36" y="44"/>
                      </a:lnTo>
                      <a:lnTo>
                        <a:pt x="36" y="45"/>
                      </a:lnTo>
                    </a:path>
                  </a:pathLst>
                </a:custGeom>
                <a:solidFill>
                  <a:srgbClr val="A2A2A2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84" name="Freeform 152"/>
                <p:cNvSpPr>
                  <a:spLocks/>
                </p:cNvSpPr>
                <p:nvPr/>
              </p:nvSpPr>
              <p:spPr bwMode="auto">
                <a:xfrm>
                  <a:off x="1017" y="3666"/>
                  <a:ext cx="45" cy="38"/>
                </a:xfrm>
                <a:custGeom>
                  <a:avLst/>
                  <a:gdLst/>
                  <a:ahLst/>
                  <a:cxnLst>
                    <a:cxn ang="0">
                      <a:pos x="0" y="34"/>
                    </a:cxn>
                    <a:cxn ang="0">
                      <a:pos x="3" y="31"/>
                    </a:cxn>
                    <a:cxn ang="0">
                      <a:pos x="5" y="29"/>
                    </a:cxn>
                    <a:cxn ang="0">
                      <a:pos x="8" y="26"/>
                    </a:cxn>
                    <a:cxn ang="0">
                      <a:pos x="11" y="23"/>
                    </a:cxn>
                    <a:cxn ang="0">
                      <a:pos x="14" y="20"/>
                    </a:cxn>
                    <a:cxn ang="0">
                      <a:pos x="17" y="18"/>
                    </a:cxn>
                    <a:cxn ang="0">
                      <a:pos x="20" y="16"/>
                    </a:cxn>
                    <a:cxn ang="0">
                      <a:pos x="23" y="14"/>
                    </a:cxn>
                    <a:cxn ang="0">
                      <a:pos x="27" y="12"/>
                    </a:cxn>
                    <a:cxn ang="0">
                      <a:pos x="30" y="10"/>
                    </a:cxn>
                    <a:cxn ang="0">
                      <a:pos x="33" y="8"/>
                    </a:cxn>
                    <a:cxn ang="0">
                      <a:pos x="35" y="6"/>
                    </a:cxn>
                    <a:cxn ang="0">
                      <a:pos x="39" y="3"/>
                    </a:cxn>
                    <a:cxn ang="0">
                      <a:pos x="42" y="1"/>
                    </a:cxn>
                    <a:cxn ang="0">
                      <a:pos x="43" y="1"/>
                    </a:cxn>
                    <a:cxn ang="0">
                      <a:pos x="43" y="3"/>
                    </a:cxn>
                    <a:cxn ang="0">
                      <a:pos x="42" y="6"/>
                    </a:cxn>
                    <a:cxn ang="0">
                      <a:pos x="42" y="9"/>
                    </a:cxn>
                    <a:cxn ang="0">
                      <a:pos x="41" y="12"/>
                    </a:cxn>
                    <a:cxn ang="0">
                      <a:pos x="39" y="15"/>
                    </a:cxn>
                    <a:cxn ang="0">
                      <a:pos x="35" y="19"/>
                    </a:cxn>
                    <a:cxn ang="0">
                      <a:pos x="33" y="19"/>
                    </a:cxn>
                    <a:cxn ang="0">
                      <a:pos x="29" y="23"/>
                    </a:cxn>
                    <a:cxn ang="0">
                      <a:pos x="26" y="25"/>
                    </a:cxn>
                    <a:cxn ang="0">
                      <a:pos x="23" y="27"/>
                    </a:cxn>
                    <a:cxn ang="0">
                      <a:pos x="21" y="28"/>
                    </a:cxn>
                    <a:cxn ang="0">
                      <a:pos x="17" y="29"/>
                    </a:cxn>
                    <a:cxn ang="0">
                      <a:pos x="14" y="31"/>
                    </a:cxn>
                    <a:cxn ang="0">
                      <a:pos x="11" y="31"/>
                    </a:cxn>
                    <a:cxn ang="0">
                      <a:pos x="9" y="32"/>
                    </a:cxn>
                    <a:cxn ang="0">
                      <a:pos x="5" y="35"/>
                    </a:cxn>
                    <a:cxn ang="0">
                      <a:pos x="3" y="37"/>
                    </a:cxn>
                    <a:cxn ang="0">
                      <a:pos x="0" y="37"/>
                    </a:cxn>
                  </a:cxnLst>
                  <a:rect l="0" t="0" r="r" b="b"/>
                  <a:pathLst>
                    <a:path w="45" h="38">
                      <a:moveTo>
                        <a:pt x="0" y="36"/>
                      </a:moveTo>
                      <a:lnTo>
                        <a:pt x="0" y="34"/>
                      </a:lnTo>
                      <a:lnTo>
                        <a:pt x="2" y="32"/>
                      </a:lnTo>
                      <a:lnTo>
                        <a:pt x="3" y="31"/>
                      </a:lnTo>
                      <a:lnTo>
                        <a:pt x="5" y="30"/>
                      </a:lnTo>
                      <a:lnTo>
                        <a:pt x="5" y="29"/>
                      </a:lnTo>
                      <a:lnTo>
                        <a:pt x="6" y="28"/>
                      </a:lnTo>
                      <a:lnTo>
                        <a:pt x="8" y="26"/>
                      </a:lnTo>
                      <a:lnTo>
                        <a:pt x="10" y="25"/>
                      </a:lnTo>
                      <a:lnTo>
                        <a:pt x="11" y="23"/>
                      </a:lnTo>
                      <a:lnTo>
                        <a:pt x="12" y="22"/>
                      </a:lnTo>
                      <a:lnTo>
                        <a:pt x="14" y="20"/>
                      </a:lnTo>
                      <a:lnTo>
                        <a:pt x="16" y="19"/>
                      </a:lnTo>
                      <a:lnTo>
                        <a:pt x="17" y="18"/>
                      </a:lnTo>
                      <a:lnTo>
                        <a:pt x="18" y="18"/>
                      </a:lnTo>
                      <a:lnTo>
                        <a:pt x="20" y="16"/>
                      </a:lnTo>
                      <a:lnTo>
                        <a:pt x="22" y="16"/>
                      </a:lnTo>
                      <a:lnTo>
                        <a:pt x="23" y="14"/>
                      </a:lnTo>
                      <a:lnTo>
                        <a:pt x="25" y="12"/>
                      </a:lnTo>
                      <a:lnTo>
                        <a:pt x="27" y="12"/>
                      </a:lnTo>
                      <a:lnTo>
                        <a:pt x="28" y="11"/>
                      </a:lnTo>
                      <a:lnTo>
                        <a:pt x="30" y="10"/>
                      </a:lnTo>
                      <a:lnTo>
                        <a:pt x="32" y="10"/>
                      </a:lnTo>
                      <a:lnTo>
                        <a:pt x="33" y="8"/>
                      </a:lnTo>
                      <a:lnTo>
                        <a:pt x="33" y="8"/>
                      </a:lnTo>
                      <a:lnTo>
                        <a:pt x="35" y="6"/>
                      </a:lnTo>
                      <a:lnTo>
                        <a:pt x="37" y="5"/>
                      </a:lnTo>
                      <a:lnTo>
                        <a:pt x="39" y="3"/>
                      </a:lnTo>
                      <a:lnTo>
                        <a:pt x="40" y="3"/>
                      </a:lnTo>
                      <a:lnTo>
                        <a:pt x="42" y="1"/>
                      </a:lnTo>
                      <a:lnTo>
                        <a:pt x="44" y="0"/>
                      </a:lnTo>
                      <a:lnTo>
                        <a:pt x="43" y="1"/>
                      </a:lnTo>
                      <a:lnTo>
                        <a:pt x="43" y="2"/>
                      </a:lnTo>
                      <a:lnTo>
                        <a:pt x="43" y="3"/>
                      </a:lnTo>
                      <a:lnTo>
                        <a:pt x="43" y="5"/>
                      </a:lnTo>
                      <a:lnTo>
                        <a:pt x="42" y="6"/>
                      </a:lnTo>
                      <a:lnTo>
                        <a:pt x="42" y="7"/>
                      </a:lnTo>
                      <a:lnTo>
                        <a:pt x="42" y="9"/>
                      </a:lnTo>
                      <a:lnTo>
                        <a:pt x="42" y="11"/>
                      </a:lnTo>
                      <a:lnTo>
                        <a:pt x="41" y="12"/>
                      </a:lnTo>
                      <a:lnTo>
                        <a:pt x="40" y="13"/>
                      </a:lnTo>
                      <a:lnTo>
                        <a:pt x="39" y="15"/>
                      </a:lnTo>
                      <a:lnTo>
                        <a:pt x="37" y="17"/>
                      </a:lnTo>
                      <a:lnTo>
                        <a:pt x="35" y="19"/>
                      </a:lnTo>
                      <a:lnTo>
                        <a:pt x="33" y="19"/>
                      </a:lnTo>
                      <a:lnTo>
                        <a:pt x="33" y="19"/>
                      </a:lnTo>
                      <a:lnTo>
                        <a:pt x="31" y="21"/>
                      </a:lnTo>
                      <a:lnTo>
                        <a:pt x="29" y="23"/>
                      </a:lnTo>
                      <a:lnTo>
                        <a:pt x="28" y="24"/>
                      </a:lnTo>
                      <a:lnTo>
                        <a:pt x="26" y="25"/>
                      </a:lnTo>
                      <a:lnTo>
                        <a:pt x="25" y="25"/>
                      </a:lnTo>
                      <a:lnTo>
                        <a:pt x="23" y="27"/>
                      </a:lnTo>
                      <a:lnTo>
                        <a:pt x="22" y="27"/>
                      </a:lnTo>
                      <a:lnTo>
                        <a:pt x="21" y="28"/>
                      </a:lnTo>
                      <a:lnTo>
                        <a:pt x="19" y="28"/>
                      </a:lnTo>
                      <a:lnTo>
                        <a:pt x="17" y="29"/>
                      </a:lnTo>
                      <a:lnTo>
                        <a:pt x="16" y="31"/>
                      </a:lnTo>
                      <a:lnTo>
                        <a:pt x="14" y="31"/>
                      </a:lnTo>
                      <a:lnTo>
                        <a:pt x="12" y="31"/>
                      </a:lnTo>
                      <a:lnTo>
                        <a:pt x="11" y="31"/>
                      </a:lnTo>
                      <a:lnTo>
                        <a:pt x="10" y="31"/>
                      </a:lnTo>
                      <a:lnTo>
                        <a:pt x="9" y="32"/>
                      </a:lnTo>
                      <a:lnTo>
                        <a:pt x="7" y="33"/>
                      </a:lnTo>
                      <a:lnTo>
                        <a:pt x="5" y="35"/>
                      </a:lnTo>
                      <a:lnTo>
                        <a:pt x="5" y="35"/>
                      </a:lnTo>
                      <a:lnTo>
                        <a:pt x="3" y="37"/>
                      </a:lnTo>
                      <a:lnTo>
                        <a:pt x="1" y="37"/>
                      </a:lnTo>
                      <a:lnTo>
                        <a:pt x="0" y="37"/>
                      </a:lnTo>
                      <a:lnTo>
                        <a:pt x="0" y="36"/>
                      </a:lnTo>
                    </a:path>
                  </a:pathLst>
                </a:custGeom>
                <a:solidFill>
                  <a:srgbClr val="E1E1E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85" name="Freeform 153"/>
                <p:cNvSpPr>
                  <a:spLocks/>
                </p:cNvSpPr>
                <p:nvPr/>
              </p:nvSpPr>
              <p:spPr bwMode="auto">
                <a:xfrm>
                  <a:off x="1033" y="3662"/>
                  <a:ext cx="56" cy="44"/>
                </a:xfrm>
                <a:custGeom>
                  <a:avLst/>
                  <a:gdLst/>
                  <a:ahLst/>
                  <a:cxnLst>
                    <a:cxn ang="0">
                      <a:pos x="0" y="42"/>
                    </a:cxn>
                    <a:cxn ang="0">
                      <a:pos x="3" y="39"/>
                    </a:cxn>
                    <a:cxn ang="0">
                      <a:pos x="6" y="36"/>
                    </a:cxn>
                    <a:cxn ang="0">
                      <a:pos x="10" y="32"/>
                    </a:cxn>
                    <a:cxn ang="0">
                      <a:pos x="12" y="31"/>
                    </a:cxn>
                    <a:cxn ang="0">
                      <a:pos x="15" y="30"/>
                    </a:cxn>
                    <a:cxn ang="0">
                      <a:pos x="17" y="28"/>
                    </a:cxn>
                    <a:cxn ang="0">
                      <a:pos x="21" y="25"/>
                    </a:cxn>
                    <a:cxn ang="0">
                      <a:pos x="23" y="24"/>
                    </a:cxn>
                    <a:cxn ang="0">
                      <a:pos x="26" y="21"/>
                    </a:cxn>
                    <a:cxn ang="0">
                      <a:pos x="28" y="19"/>
                    </a:cxn>
                    <a:cxn ang="0">
                      <a:pos x="32" y="17"/>
                    </a:cxn>
                    <a:cxn ang="0">
                      <a:pos x="33" y="14"/>
                    </a:cxn>
                    <a:cxn ang="0">
                      <a:pos x="34" y="12"/>
                    </a:cxn>
                    <a:cxn ang="0">
                      <a:pos x="38" y="9"/>
                    </a:cxn>
                    <a:cxn ang="0">
                      <a:pos x="40" y="6"/>
                    </a:cxn>
                    <a:cxn ang="0">
                      <a:pos x="43" y="6"/>
                    </a:cxn>
                    <a:cxn ang="0">
                      <a:pos x="46" y="2"/>
                    </a:cxn>
                    <a:cxn ang="0">
                      <a:pos x="50" y="0"/>
                    </a:cxn>
                    <a:cxn ang="0">
                      <a:pos x="52" y="0"/>
                    </a:cxn>
                    <a:cxn ang="0">
                      <a:pos x="55" y="0"/>
                    </a:cxn>
                    <a:cxn ang="0">
                      <a:pos x="53" y="2"/>
                    </a:cxn>
                    <a:cxn ang="0">
                      <a:pos x="50" y="4"/>
                    </a:cxn>
                    <a:cxn ang="0">
                      <a:pos x="47" y="6"/>
                    </a:cxn>
                    <a:cxn ang="0">
                      <a:pos x="44" y="7"/>
                    </a:cxn>
                    <a:cxn ang="0">
                      <a:pos x="42" y="11"/>
                    </a:cxn>
                    <a:cxn ang="0">
                      <a:pos x="39" y="14"/>
                    </a:cxn>
                    <a:cxn ang="0">
                      <a:pos x="38" y="16"/>
                    </a:cxn>
                    <a:cxn ang="0">
                      <a:pos x="35" y="19"/>
                    </a:cxn>
                    <a:cxn ang="0">
                      <a:pos x="32" y="23"/>
                    </a:cxn>
                    <a:cxn ang="0">
                      <a:pos x="28" y="25"/>
                    </a:cxn>
                    <a:cxn ang="0">
                      <a:pos x="26" y="28"/>
                    </a:cxn>
                    <a:cxn ang="0">
                      <a:pos x="23" y="30"/>
                    </a:cxn>
                    <a:cxn ang="0">
                      <a:pos x="20" y="32"/>
                    </a:cxn>
                    <a:cxn ang="0">
                      <a:pos x="16" y="35"/>
                    </a:cxn>
                    <a:cxn ang="0">
                      <a:pos x="13" y="37"/>
                    </a:cxn>
                    <a:cxn ang="0">
                      <a:pos x="11" y="37"/>
                    </a:cxn>
                    <a:cxn ang="0">
                      <a:pos x="8" y="38"/>
                    </a:cxn>
                    <a:cxn ang="0">
                      <a:pos x="5" y="39"/>
                    </a:cxn>
                    <a:cxn ang="0">
                      <a:pos x="2" y="42"/>
                    </a:cxn>
                    <a:cxn ang="0">
                      <a:pos x="0" y="43"/>
                    </a:cxn>
                  </a:cxnLst>
                  <a:rect l="0" t="0" r="r" b="b"/>
                  <a:pathLst>
                    <a:path w="56" h="44">
                      <a:moveTo>
                        <a:pt x="0" y="43"/>
                      </a:moveTo>
                      <a:lnTo>
                        <a:pt x="0" y="42"/>
                      </a:lnTo>
                      <a:lnTo>
                        <a:pt x="1" y="41"/>
                      </a:lnTo>
                      <a:lnTo>
                        <a:pt x="3" y="39"/>
                      </a:lnTo>
                      <a:lnTo>
                        <a:pt x="5" y="37"/>
                      </a:lnTo>
                      <a:lnTo>
                        <a:pt x="6" y="36"/>
                      </a:lnTo>
                      <a:lnTo>
                        <a:pt x="8" y="34"/>
                      </a:lnTo>
                      <a:lnTo>
                        <a:pt x="10" y="32"/>
                      </a:lnTo>
                      <a:lnTo>
                        <a:pt x="11" y="32"/>
                      </a:lnTo>
                      <a:lnTo>
                        <a:pt x="12" y="31"/>
                      </a:lnTo>
                      <a:lnTo>
                        <a:pt x="14" y="30"/>
                      </a:lnTo>
                      <a:lnTo>
                        <a:pt x="15" y="30"/>
                      </a:lnTo>
                      <a:lnTo>
                        <a:pt x="16" y="28"/>
                      </a:lnTo>
                      <a:lnTo>
                        <a:pt x="17" y="28"/>
                      </a:lnTo>
                      <a:lnTo>
                        <a:pt x="19" y="26"/>
                      </a:lnTo>
                      <a:lnTo>
                        <a:pt x="21" y="25"/>
                      </a:lnTo>
                      <a:lnTo>
                        <a:pt x="22" y="25"/>
                      </a:lnTo>
                      <a:lnTo>
                        <a:pt x="23" y="24"/>
                      </a:lnTo>
                      <a:lnTo>
                        <a:pt x="24" y="23"/>
                      </a:lnTo>
                      <a:lnTo>
                        <a:pt x="26" y="21"/>
                      </a:lnTo>
                      <a:lnTo>
                        <a:pt x="28" y="19"/>
                      </a:lnTo>
                      <a:lnTo>
                        <a:pt x="28" y="19"/>
                      </a:lnTo>
                      <a:lnTo>
                        <a:pt x="30" y="18"/>
                      </a:lnTo>
                      <a:lnTo>
                        <a:pt x="32" y="17"/>
                      </a:lnTo>
                      <a:lnTo>
                        <a:pt x="32" y="16"/>
                      </a:lnTo>
                      <a:lnTo>
                        <a:pt x="33" y="14"/>
                      </a:lnTo>
                      <a:lnTo>
                        <a:pt x="33" y="13"/>
                      </a:lnTo>
                      <a:lnTo>
                        <a:pt x="34" y="12"/>
                      </a:lnTo>
                      <a:lnTo>
                        <a:pt x="36" y="11"/>
                      </a:lnTo>
                      <a:lnTo>
                        <a:pt x="38" y="9"/>
                      </a:lnTo>
                      <a:lnTo>
                        <a:pt x="39" y="7"/>
                      </a:lnTo>
                      <a:lnTo>
                        <a:pt x="40" y="6"/>
                      </a:lnTo>
                      <a:lnTo>
                        <a:pt x="42" y="6"/>
                      </a:lnTo>
                      <a:lnTo>
                        <a:pt x="43" y="6"/>
                      </a:lnTo>
                      <a:lnTo>
                        <a:pt x="44" y="4"/>
                      </a:lnTo>
                      <a:lnTo>
                        <a:pt x="46" y="2"/>
                      </a:lnTo>
                      <a:lnTo>
                        <a:pt x="48" y="2"/>
                      </a:lnTo>
                      <a:lnTo>
                        <a:pt x="50" y="0"/>
                      </a:lnTo>
                      <a:lnTo>
                        <a:pt x="50" y="0"/>
                      </a:lnTo>
                      <a:lnTo>
                        <a:pt x="52" y="0"/>
                      </a:lnTo>
                      <a:lnTo>
                        <a:pt x="53" y="0"/>
                      </a:lnTo>
                      <a:lnTo>
                        <a:pt x="55" y="0"/>
                      </a:lnTo>
                      <a:lnTo>
                        <a:pt x="53" y="1"/>
                      </a:lnTo>
                      <a:lnTo>
                        <a:pt x="53" y="2"/>
                      </a:lnTo>
                      <a:lnTo>
                        <a:pt x="51" y="4"/>
                      </a:lnTo>
                      <a:lnTo>
                        <a:pt x="50" y="4"/>
                      </a:lnTo>
                      <a:lnTo>
                        <a:pt x="48" y="6"/>
                      </a:lnTo>
                      <a:lnTo>
                        <a:pt x="47" y="6"/>
                      </a:lnTo>
                      <a:lnTo>
                        <a:pt x="45" y="6"/>
                      </a:lnTo>
                      <a:lnTo>
                        <a:pt x="44" y="7"/>
                      </a:lnTo>
                      <a:lnTo>
                        <a:pt x="42" y="9"/>
                      </a:lnTo>
                      <a:lnTo>
                        <a:pt x="42" y="11"/>
                      </a:lnTo>
                      <a:lnTo>
                        <a:pt x="40" y="12"/>
                      </a:lnTo>
                      <a:lnTo>
                        <a:pt x="39" y="14"/>
                      </a:lnTo>
                      <a:lnTo>
                        <a:pt x="39" y="15"/>
                      </a:lnTo>
                      <a:lnTo>
                        <a:pt x="38" y="16"/>
                      </a:lnTo>
                      <a:lnTo>
                        <a:pt x="36" y="18"/>
                      </a:lnTo>
                      <a:lnTo>
                        <a:pt x="35" y="19"/>
                      </a:lnTo>
                      <a:lnTo>
                        <a:pt x="33" y="21"/>
                      </a:lnTo>
                      <a:lnTo>
                        <a:pt x="32" y="23"/>
                      </a:lnTo>
                      <a:lnTo>
                        <a:pt x="30" y="24"/>
                      </a:lnTo>
                      <a:lnTo>
                        <a:pt x="28" y="25"/>
                      </a:lnTo>
                      <a:lnTo>
                        <a:pt x="27" y="26"/>
                      </a:lnTo>
                      <a:lnTo>
                        <a:pt x="26" y="28"/>
                      </a:lnTo>
                      <a:lnTo>
                        <a:pt x="24" y="30"/>
                      </a:lnTo>
                      <a:lnTo>
                        <a:pt x="23" y="30"/>
                      </a:lnTo>
                      <a:lnTo>
                        <a:pt x="22" y="31"/>
                      </a:lnTo>
                      <a:lnTo>
                        <a:pt x="20" y="32"/>
                      </a:lnTo>
                      <a:lnTo>
                        <a:pt x="18" y="33"/>
                      </a:lnTo>
                      <a:lnTo>
                        <a:pt x="16" y="35"/>
                      </a:lnTo>
                      <a:lnTo>
                        <a:pt x="15" y="35"/>
                      </a:lnTo>
                      <a:lnTo>
                        <a:pt x="13" y="37"/>
                      </a:lnTo>
                      <a:lnTo>
                        <a:pt x="12" y="37"/>
                      </a:lnTo>
                      <a:lnTo>
                        <a:pt x="11" y="37"/>
                      </a:lnTo>
                      <a:lnTo>
                        <a:pt x="9" y="38"/>
                      </a:lnTo>
                      <a:lnTo>
                        <a:pt x="8" y="38"/>
                      </a:lnTo>
                      <a:lnTo>
                        <a:pt x="7" y="38"/>
                      </a:lnTo>
                      <a:lnTo>
                        <a:pt x="5" y="39"/>
                      </a:lnTo>
                      <a:lnTo>
                        <a:pt x="4" y="41"/>
                      </a:lnTo>
                      <a:lnTo>
                        <a:pt x="2" y="42"/>
                      </a:lnTo>
                      <a:lnTo>
                        <a:pt x="0" y="43"/>
                      </a:lnTo>
                      <a:lnTo>
                        <a:pt x="0" y="43"/>
                      </a:lnTo>
                    </a:path>
                  </a:pathLst>
                </a:custGeom>
                <a:solidFill>
                  <a:srgbClr val="E1E1E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86" name="Freeform 154"/>
                <p:cNvSpPr>
                  <a:spLocks/>
                </p:cNvSpPr>
                <p:nvPr/>
              </p:nvSpPr>
              <p:spPr bwMode="auto">
                <a:xfrm>
                  <a:off x="1034" y="3658"/>
                  <a:ext cx="67" cy="54"/>
                </a:xfrm>
                <a:custGeom>
                  <a:avLst/>
                  <a:gdLst/>
                  <a:ahLst/>
                  <a:cxnLst>
                    <a:cxn ang="0">
                      <a:pos x="1" y="52"/>
                    </a:cxn>
                    <a:cxn ang="0">
                      <a:pos x="4" y="51"/>
                    </a:cxn>
                    <a:cxn ang="0">
                      <a:pos x="7" y="49"/>
                    </a:cxn>
                    <a:cxn ang="0">
                      <a:pos x="10" y="49"/>
                    </a:cxn>
                    <a:cxn ang="0">
                      <a:pos x="13" y="48"/>
                    </a:cxn>
                    <a:cxn ang="0">
                      <a:pos x="15" y="47"/>
                    </a:cxn>
                    <a:cxn ang="0">
                      <a:pos x="18" y="45"/>
                    </a:cxn>
                    <a:cxn ang="0">
                      <a:pos x="21" y="44"/>
                    </a:cxn>
                    <a:cxn ang="0">
                      <a:pos x="24" y="44"/>
                    </a:cxn>
                    <a:cxn ang="0">
                      <a:pos x="26" y="42"/>
                    </a:cxn>
                    <a:cxn ang="0">
                      <a:pos x="29" y="40"/>
                    </a:cxn>
                    <a:cxn ang="0">
                      <a:pos x="31" y="39"/>
                    </a:cxn>
                    <a:cxn ang="0">
                      <a:pos x="34" y="36"/>
                    </a:cxn>
                    <a:cxn ang="0">
                      <a:pos x="37" y="33"/>
                    </a:cxn>
                    <a:cxn ang="0">
                      <a:pos x="40" y="31"/>
                    </a:cxn>
                    <a:cxn ang="0">
                      <a:pos x="42" y="29"/>
                    </a:cxn>
                    <a:cxn ang="0">
                      <a:pos x="42" y="26"/>
                    </a:cxn>
                    <a:cxn ang="0">
                      <a:pos x="43" y="24"/>
                    </a:cxn>
                    <a:cxn ang="0">
                      <a:pos x="43" y="21"/>
                    </a:cxn>
                    <a:cxn ang="0">
                      <a:pos x="45" y="18"/>
                    </a:cxn>
                    <a:cxn ang="0">
                      <a:pos x="45" y="15"/>
                    </a:cxn>
                    <a:cxn ang="0">
                      <a:pos x="48" y="12"/>
                    </a:cxn>
                    <a:cxn ang="0">
                      <a:pos x="51" y="9"/>
                    </a:cxn>
                    <a:cxn ang="0">
                      <a:pos x="54" y="6"/>
                    </a:cxn>
                    <a:cxn ang="0">
                      <a:pos x="56" y="6"/>
                    </a:cxn>
                    <a:cxn ang="0">
                      <a:pos x="58" y="4"/>
                    </a:cxn>
                    <a:cxn ang="0">
                      <a:pos x="61" y="2"/>
                    </a:cxn>
                    <a:cxn ang="0">
                      <a:pos x="64" y="0"/>
                    </a:cxn>
                    <a:cxn ang="0">
                      <a:pos x="65" y="1"/>
                    </a:cxn>
                    <a:cxn ang="0">
                      <a:pos x="63" y="4"/>
                    </a:cxn>
                    <a:cxn ang="0">
                      <a:pos x="61" y="6"/>
                    </a:cxn>
                    <a:cxn ang="0">
                      <a:pos x="58" y="9"/>
                    </a:cxn>
                    <a:cxn ang="0">
                      <a:pos x="55" y="12"/>
                    </a:cxn>
                    <a:cxn ang="0">
                      <a:pos x="54" y="14"/>
                    </a:cxn>
                    <a:cxn ang="0">
                      <a:pos x="52" y="17"/>
                    </a:cxn>
                    <a:cxn ang="0">
                      <a:pos x="50" y="19"/>
                    </a:cxn>
                    <a:cxn ang="0">
                      <a:pos x="50" y="22"/>
                    </a:cxn>
                    <a:cxn ang="0">
                      <a:pos x="48" y="24"/>
                    </a:cxn>
                    <a:cxn ang="0">
                      <a:pos x="47" y="28"/>
                    </a:cxn>
                    <a:cxn ang="0">
                      <a:pos x="46" y="30"/>
                    </a:cxn>
                    <a:cxn ang="0">
                      <a:pos x="45" y="33"/>
                    </a:cxn>
                    <a:cxn ang="0">
                      <a:pos x="42" y="36"/>
                    </a:cxn>
                    <a:cxn ang="0">
                      <a:pos x="40" y="39"/>
                    </a:cxn>
                    <a:cxn ang="0">
                      <a:pos x="36" y="42"/>
                    </a:cxn>
                    <a:cxn ang="0">
                      <a:pos x="33" y="44"/>
                    </a:cxn>
                    <a:cxn ang="0">
                      <a:pos x="30" y="45"/>
                    </a:cxn>
                    <a:cxn ang="0">
                      <a:pos x="27" y="47"/>
                    </a:cxn>
                    <a:cxn ang="0">
                      <a:pos x="25" y="47"/>
                    </a:cxn>
                    <a:cxn ang="0">
                      <a:pos x="21" y="48"/>
                    </a:cxn>
                    <a:cxn ang="0">
                      <a:pos x="18" y="49"/>
                    </a:cxn>
                    <a:cxn ang="0">
                      <a:pos x="14" y="51"/>
                    </a:cxn>
                    <a:cxn ang="0">
                      <a:pos x="10" y="51"/>
                    </a:cxn>
                    <a:cxn ang="0">
                      <a:pos x="6" y="53"/>
                    </a:cxn>
                    <a:cxn ang="0">
                      <a:pos x="3" y="53"/>
                    </a:cxn>
                    <a:cxn ang="0">
                      <a:pos x="0" y="53"/>
                    </a:cxn>
                    <a:cxn ang="0">
                      <a:pos x="0" y="52"/>
                    </a:cxn>
                  </a:cxnLst>
                  <a:rect l="0" t="0" r="r" b="b"/>
                  <a:pathLst>
                    <a:path w="67" h="54">
                      <a:moveTo>
                        <a:pt x="0" y="52"/>
                      </a:moveTo>
                      <a:lnTo>
                        <a:pt x="1" y="52"/>
                      </a:lnTo>
                      <a:lnTo>
                        <a:pt x="2" y="52"/>
                      </a:lnTo>
                      <a:lnTo>
                        <a:pt x="4" y="51"/>
                      </a:lnTo>
                      <a:lnTo>
                        <a:pt x="5" y="51"/>
                      </a:lnTo>
                      <a:lnTo>
                        <a:pt x="7" y="49"/>
                      </a:lnTo>
                      <a:lnTo>
                        <a:pt x="8" y="49"/>
                      </a:lnTo>
                      <a:lnTo>
                        <a:pt x="10" y="49"/>
                      </a:lnTo>
                      <a:lnTo>
                        <a:pt x="11" y="49"/>
                      </a:lnTo>
                      <a:lnTo>
                        <a:pt x="13" y="48"/>
                      </a:lnTo>
                      <a:lnTo>
                        <a:pt x="14" y="48"/>
                      </a:lnTo>
                      <a:lnTo>
                        <a:pt x="15" y="47"/>
                      </a:lnTo>
                      <a:lnTo>
                        <a:pt x="16" y="47"/>
                      </a:lnTo>
                      <a:lnTo>
                        <a:pt x="18" y="45"/>
                      </a:lnTo>
                      <a:lnTo>
                        <a:pt x="20" y="45"/>
                      </a:lnTo>
                      <a:lnTo>
                        <a:pt x="21" y="44"/>
                      </a:lnTo>
                      <a:lnTo>
                        <a:pt x="23" y="44"/>
                      </a:lnTo>
                      <a:lnTo>
                        <a:pt x="24" y="44"/>
                      </a:lnTo>
                      <a:lnTo>
                        <a:pt x="25" y="42"/>
                      </a:lnTo>
                      <a:lnTo>
                        <a:pt x="26" y="42"/>
                      </a:lnTo>
                      <a:lnTo>
                        <a:pt x="27" y="42"/>
                      </a:lnTo>
                      <a:lnTo>
                        <a:pt x="29" y="40"/>
                      </a:lnTo>
                      <a:lnTo>
                        <a:pt x="30" y="39"/>
                      </a:lnTo>
                      <a:lnTo>
                        <a:pt x="31" y="39"/>
                      </a:lnTo>
                      <a:lnTo>
                        <a:pt x="32" y="37"/>
                      </a:lnTo>
                      <a:lnTo>
                        <a:pt x="34" y="36"/>
                      </a:lnTo>
                      <a:lnTo>
                        <a:pt x="36" y="35"/>
                      </a:lnTo>
                      <a:lnTo>
                        <a:pt x="37" y="33"/>
                      </a:lnTo>
                      <a:lnTo>
                        <a:pt x="38" y="33"/>
                      </a:lnTo>
                      <a:lnTo>
                        <a:pt x="40" y="31"/>
                      </a:lnTo>
                      <a:lnTo>
                        <a:pt x="41" y="30"/>
                      </a:lnTo>
                      <a:lnTo>
                        <a:pt x="42" y="29"/>
                      </a:lnTo>
                      <a:lnTo>
                        <a:pt x="42" y="27"/>
                      </a:lnTo>
                      <a:lnTo>
                        <a:pt x="42" y="26"/>
                      </a:lnTo>
                      <a:lnTo>
                        <a:pt x="43" y="24"/>
                      </a:lnTo>
                      <a:lnTo>
                        <a:pt x="43" y="24"/>
                      </a:lnTo>
                      <a:lnTo>
                        <a:pt x="43" y="22"/>
                      </a:lnTo>
                      <a:lnTo>
                        <a:pt x="43" y="21"/>
                      </a:lnTo>
                      <a:lnTo>
                        <a:pt x="45" y="19"/>
                      </a:lnTo>
                      <a:lnTo>
                        <a:pt x="45" y="18"/>
                      </a:lnTo>
                      <a:lnTo>
                        <a:pt x="45" y="17"/>
                      </a:lnTo>
                      <a:lnTo>
                        <a:pt x="45" y="15"/>
                      </a:lnTo>
                      <a:lnTo>
                        <a:pt x="46" y="13"/>
                      </a:lnTo>
                      <a:lnTo>
                        <a:pt x="48" y="12"/>
                      </a:lnTo>
                      <a:lnTo>
                        <a:pt x="50" y="11"/>
                      </a:lnTo>
                      <a:lnTo>
                        <a:pt x="51" y="9"/>
                      </a:lnTo>
                      <a:lnTo>
                        <a:pt x="52" y="8"/>
                      </a:lnTo>
                      <a:lnTo>
                        <a:pt x="54" y="6"/>
                      </a:lnTo>
                      <a:lnTo>
                        <a:pt x="55" y="6"/>
                      </a:lnTo>
                      <a:lnTo>
                        <a:pt x="56" y="6"/>
                      </a:lnTo>
                      <a:lnTo>
                        <a:pt x="57" y="4"/>
                      </a:lnTo>
                      <a:lnTo>
                        <a:pt x="58" y="4"/>
                      </a:lnTo>
                      <a:lnTo>
                        <a:pt x="60" y="2"/>
                      </a:lnTo>
                      <a:lnTo>
                        <a:pt x="61" y="2"/>
                      </a:lnTo>
                      <a:lnTo>
                        <a:pt x="63" y="1"/>
                      </a:lnTo>
                      <a:lnTo>
                        <a:pt x="64" y="0"/>
                      </a:lnTo>
                      <a:lnTo>
                        <a:pt x="66" y="0"/>
                      </a:lnTo>
                      <a:lnTo>
                        <a:pt x="65" y="1"/>
                      </a:lnTo>
                      <a:lnTo>
                        <a:pt x="64" y="2"/>
                      </a:lnTo>
                      <a:lnTo>
                        <a:pt x="63" y="4"/>
                      </a:lnTo>
                      <a:lnTo>
                        <a:pt x="62" y="4"/>
                      </a:lnTo>
                      <a:lnTo>
                        <a:pt x="61" y="6"/>
                      </a:lnTo>
                      <a:lnTo>
                        <a:pt x="59" y="7"/>
                      </a:lnTo>
                      <a:lnTo>
                        <a:pt x="58" y="9"/>
                      </a:lnTo>
                      <a:lnTo>
                        <a:pt x="56" y="11"/>
                      </a:lnTo>
                      <a:lnTo>
                        <a:pt x="55" y="12"/>
                      </a:lnTo>
                      <a:lnTo>
                        <a:pt x="55" y="12"/>
                      </a:lnTo>
                      <a:lnTo>
                        <a:pt x="54" y="14"/>
                      </a:lnTo>
                      <a:lnTo>
                        <a:pt x="52" y="16"/>
                      </a:lnTo>
                      <a:lnTo>
                        <a:pt x="52" y="17"/>
                      </a:lnTo>
                      <a:lnTo>
                        <a:pt x="51" y="18"/>
                      </a:lnTo>
                      <a:lnTo>
                        <a:pt x="50" y="19"/>
                      </a:lnTo>
                      <a:lnTo>
                        <a:pt x="50" y="20"/>
                      </a:lnTo>
                      <a:lnTo>
                        <a:pt x="50" y="22"/>
                      </a:lnTo>
                      <a:lnTo>
                        <a:pt x="48" y="24"/>
                      </a:lnTo>
                      <a:lnTo>
                        <a:pt x="48" y="24"/>
                      </a:lnTo>
                      <a:lnTo>
                        <a:pt x="48" y="26"/>
                      </a:lnTo>
                      <a:lnTo>
                        <a:pt x="47" y="28"/>
                      </a:lnTo>
                      <a:lnTo>
                        <a:pt x="47" y="29"/>
                      </a:lnTo>
                      <a:lnTo>
                        <a:pt x="46" y="30"/>
                      </a:lnTo>
                      <a:lnTo>
                        <a:pt x="46" y="31"/>
                      </a:lnTo>
                      <a:lnTo>
                        <a:pt x="45" y="33"/>
                      </a:lnTo>
                      <a:lnTo>
                        <a:pt x="43" y="35"/>
                      </a:lnTo>
                      <a:lnTo>
                        <a:pt x="42" y="36"/>
                      </a:lnTo>
                      <a:lnTo>
                        <a:pt x="41" y="37"/>
                      </a:lnTo>
                      <a:lnTo>
                        <a:pt x="40" y="39"/>
                      </a:lnTo>
                      <a:lnTo>
                        <a:pt x="38" y="41"/>
                      </a:lnTo>
                      <a:lnTo>
                        <a:pt x="36" y="42"/>
                      </a:lnTo>
                      <a:lnTo>
                        <a:pt x="35" y="42"/>
                      </a:lnTo>
                      <a:lnTo>
                        <a:pt x="33" y="44"/>
                      </a:lnTo>
                      <a:lnTo>
                        <a:pt x="32" y="45"/>
                      </a:lnTo>
                      <a:lnTo>
                        <a:pt x="30" y="45"/>
                      </a:lnTo>
                      <a:lnTo>
                        <a:pt x="29" y="45"/>
                      </a:lnTo>
                      <a:lnTo>
                        <a:pt x="27" y="47"/>
                      </a:lnTo>
                      <a:lnTo>
                        <a:pt x="26" y="47"/>
                      </a:lnTo>
                      <a:lnTo>
                        <a:pt x="25" y="47"/>
                      </a:lnTo>
                      <a:lnTo>
                        <a:pt x="23" y="47"/>
                      </a:lnTo>
                      <a:lnTo>
                        <a:pt x="21" y="48"/>
                      </a:lnTo>
                      <a:lnTo>
                        <a:pt x="20" y="48"/>
                      </a:lnTo>
                      <a:lnTo>
                        <a:pt x="18" y="49"/>
                      </a:lnTo>
                      <a:lnTo>
                        <a:pt x="16" y="49"/>
                      </a:lnTo>
                      <a:lnTo>
                        <a:pt x="14" y="51"/>
                      </a:lnTo>
                      <a:lnTo>
                        <a:pt x="12" y="51"/>
                      </a:lnTo>
                      <a:lnTo>
                        <a:pt x="10" y="51"/>
                      </a:lnTo>
                      <a:lnTo>
                        <a:pt x="9" y="51"/>
                      </a:lnTo>
                      <a:lnTo>
                        <a:pt x="6" y="53"/>
                      </a:lnTo>
                      <a:lnTo>
                        <a:pt x="5" y="53"/>
                      </a:lnTo>
                      <a:lnTo>
                        <a:pt x="3" y="53"/>
                      </a:lnTo>
                      <a:lnTo>
                        <a:pt x="2" y="53"/>
                      </a:lnTo>
                      <a:lnTo>
                        <a:pt x="0" y="53"/>
                      </a:lnTo>
                      <a:lnTo>
                        <a:pt x="0" y="53"/>
                      </a:lnTo>
                      <a:lnTo>
                        <a:pt x="0" y="52"/>
                      </a:lnTo>
                    </a:path>
                  </a:pathLst>
                </a:custGeom>
                <a:solidFill>
                  <a:srgbClr val="A2A2A2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87" name="Freeform 155"/>
                <p:cNvSpPr>
                  <a:spLocks/>
                </p:cNvSpPr>
                <p:nvPr/>
              </p:nvSpPr>
              <p:spPr bwMode="auto">
                <a:xfrm>
                  <a:off x="1012" y="3664"/>
                  <a:ext cx="89" cy="64"/>
                </a:xfrm>
                <a:custGeom>
                  <a:avLst/>
                  <a:gdLst/>
                  <a:ahLst/>
                  <a:cxnLst>
                    <a:cxn ang="0">
                      <a:pos x="3" y="60"/>
                    </a:cxn>
                    <a:cxn ang="0">
                      <a:pos x="6" y="58"/>
                    </a:cxn>
                    <a:cxn ang="0">
                      <a:pos x="11" y="55"/>
                    </a:cxn>
                    <a:cxn ang="0">
                      <a:pos x="16" y="52"/>
                    </a:cxn>
                    <a:cxn ang="0">
                      <a:pos x="20" y="52"/>
                    </a:cxn>
                    <a:cxn ang="0">
                      <a:pos x="25" y="51"/>
                    </a:cxn>
                    <a:cxn ang="0">
                      <a:pos x="29" y="51"/>
                    </a:cxn>
                    <a:cxn ang="0">
                      <a:pos x="33" y="51"/>
                    </a:cxn>
                    <a:cxn ang="0">
                      <a:pos x="37" y="50"/>
                    </a:cxn>
                    <a:cxn ang="0">
                      <a:pos x="41" y="48"/>
                    </a:cxn>
                    <a:cxn ang="0">
                      <a:pos x="46" y="47"/>
                    </a:cxn>
                    <a:cxn ang="0">
                      <a:pos x="50" y="45"/>
                    </a:cxn>
                    <a:cxn ang="0">
                      <a:pos x="54" y="44"/>
                    </a:cxn>
                    <a:cxn ang="0">
                      <a:pos x="59" y="43"/>
                    </a:cxn>
                    <a:cxn ang="0">
                      <a:pos x="62" y="39"/>
                    </a:cxn>
                    <a:cxn ang="0">
                      <a:pos x="67" y="37"/>
                    </a:cxn>
                    <a:cxn ang="0">
                      <a:pos x="68" y="32"/>
                    </a:cxn>
                    <a:cxn ang="0">
                      <a:pos x="71" y="28"/>
                    </a:cxn>
                    <a:cxn ang="0">
                      <a:pos x="71" y="24"/>
                    </a:cxn>
                    <a:cxn ang="0">
                      <a:pos x="74" y="19"/>
                    </a:cxn>
                    <a:cxn ang="0">
                      <a:pos x="76" y="15"/>
                    </a:cxn>
                    <a:cxn ang="0">
                      <a:pos x="78" y="12"/>
                    </a:cxn>
                    <a:cxn ang="0">
                      <a:pos x="80" y="8"/>
                    </a:cxn>
                    <a:cxn ang="0">
                      <a:pos x="84" y="3"/>
                    </a:cxn>
                    <a:cxn ang="0">
                      <a:pos x="86" y="1"/>
                    </a:cxn>
                    <a:cxn ang="0">
                      <a:pos x="84" y="6"/>
                    </a:cxn>
                    <a:cxn ang="0">
                      <a:pos x="82" y="11"/>
                    </a:cxn>
                    <a:cxn ang="0">
                      <a:pos x="79" y="15"/>
                    </a:cxn>
                    <a:cxn ang="0">
                      <a:pos x="78" y="19"/>
                    </a:cxn>
                    <a:cxn ang="0">
                      <a:pos x="76" y="24"/>
                    </a:cxn>
                    <a:cxn ang="0">
                      <a:pos x="73" y="29"/>
                    </a:cxn>
                    <a:cxn ang="0">
                      <a:pos x="72" y="32"/>
                    </a:cxn>
                    <a:cxn ang="0">
                      <a:pos x="68" y="37"/>
                    </a:cxn>
                    <a:cxn ang="0">
                      <a:pos x="65" y="41"/>
                    </a:cxn>
                    <a:cxn ang="0">
                      <a:pos x="61" y="44"/>
                    </a:cxn>
                    <a:cxn ang="0">
                      <a:pos x="57" y="46"/>
                    </a:cxn>
                    <a:cxn ang="0">
                      <a:pos x="53" y="48"/>
                    </a:cxn>
                    <a:cxn ang="0">
                      <a:pos x="48" y="51"/>
                    </a:cxn>
                    <a:cxn ang="0">
                      <a:pos x="44" y="51"/>
                    </a:cxn>
                    <a:cxn ang="0">
                      <a:pos x="40" y="52"/>
                    </a:cxn>
                    <a:cxn ang="0">
                      <a:pos x="36" y="54"/>
                    </a:cxn>
                    <a:cxn ang="0">
                      <a:pos x="31" y="54"/>
                    </a:cxn>
                    <a:cxn ang="0">
                      <a:pos x="28" y="56"/>
                    </a:cxn>
                    <a:cxn ang="0">
                      <a:pos x="23" y="56"/>
                    </a:cxn>
                    <a:cxn ang="0">
                      <a:pos x="20" y="56"/>
                    </a:cxn>
                    <a:cxn ang="0">
                      <a:pos x="15" y="57"/>
                    </a:cxn>
                    <a:cxn ang="0">
                      <a:pos x="10" y="59"/>
                    </a:cxn>
                    <a:cxn ang="0">
                      <a:pos x="5" y="61"/>
                    </a:cxn>
                    <a:cxn ang="0">
                      <a:pos x="1" y="63"/>
                    </a:cxn>
                  </a:cxnLst>
                  <a:rect l="0" t="0" r="r" b="b"/>
                  <a:pathLst>
                    <a:path w="89" h="64">
                      <a:moveTo>
                        <a:pt x="0" y="63"/>
                      </a:moveTo>
                      <a:lnTo>
                        <a:pt x="1" y="62"/>
                      </a:lnTo>
                      <a:lnTo>
                        <a:pt x="3" y="60"/>
                      </a:lnTo>
                      <a:lnTo>
                        <a:pt x="5" y="60"/>
                      </a:lnTo>
                      <a:lnTo>
                        <a:pt x="5" y="58"/>
                      </a:lnTo>
                      <a:lnTo>
                        <a:pt x="6" y="58"/>
                      </a:lnTo>
                      <a:lnTo>
                        <a:pt x="8" y="57"/>
                      </a:lnTo>
                      <a:lnTo>
                        <a:pt x="10" y="57"/>
                      </a:lnTo>
                      <a:lnTo>
                        <a:pt x="11" y="55"/>
                      </a:lnTo>
                      <a:lnTo>
                        <a:pt x="13" y="54"/>
                      </a:lnTo>
                      <a:lnTo>
                        <a:pt x="15" y="54"/>
                      </a:lnTo>
                      <a:lnTo>
                        <a:pt x="16" y="52"/>
                      </a:lnTo>
                      <a:lnTo>
                        <a:pt x="17" y="52"/>
                      </a:lnTo>
                      <a:lnTo>
                        <a:pt x="19" y="52"/>
                      </a:lnTo>
                      <a:lnTo>
                        <a:pt x="20" y="52"/>
                      </a:lnTo>
                      <a:lnTo>
                        <a:pt x="22" y="52"/>
                      </a:lnTo>
                      <a:lnTo>
                        <a:pt x="23" y="51"/>
                      </a:lnTo>
                      <a:lnTo>
                        <a:pt x="25" y="51"/>
                      </a:lnTo>
                      <a:lnTo>
                        <a:pt x="26" y="51"/>
                      </a:lnTo>
                      <a:lnTo>
                        <a:pt x="28" y="51"/>
                      </a:lnTo>
                      <a:lnTo>
                        <a:pt x="29" y="51"/>
                      </a:lnTo>
                      <a:lnTo>
                        <a:pt x="31" y="51"/>
                      </a:lnTo>
                      <a:lnTo>
                        <a:pt x="31" y="51"/>
                      </a:lnTo>
                      <a:lnTo>
                        <a:pt x="33" y="51"/>
                      </a:lnTo>
                      <a:lnTo>
                        <a:pt x="34" y="51"/>
                      </a:lnTo>
                      <a:lnTo>
                        <a:pt x="36" y="50"/>
                      </a:lnTo>
                      <a:lnTo>
                        <a:pt x="37" y="50"/>
                      </a:lnTo>
                      <a:lnTo>
                        <a:pt x="38" y="50"/>
                      </a:lnTo>
                      <a:lnTo>
                        <a:pt x="40" y="48"/>
                      </a:lnTo>
                      <a:lnTo>
                        <a:pt x="41" y="48"/>
                      </a:lnTo>
                      <a:lnTo>
                        <a:pt x="43" y="48"/>
                      </a:lnTo>
                      <a:lnTo>
                        <a:pt x="45" y="47"/>
                      </a:lnTo>
                      <a:lnTo>
                        <a:pt x="46" y="47"/>
                      </a:lnTo>
                      <a:lnTo>
                        <a:pt x="47" y="47"/>
                      </a:lnTo>
                      <a:lnTo>
                        <a:pt x="48" y="47"/>
                      </a:lnTo>
                      <a:lnTo>
                        <a:pt x="50" y="45"/>
                      </a:lnTo>
                      <a:lnTo>
                        <a:pt x="52" y="45"/>
                      </a:lnTo>
                      <a:lnTo>
                        <a:pt x="53" y="44"/>
                      </a:lnTo>
                      <a:lnTo>
                        <a:pt x="54" y="44"/>
                      </a:lnTo>
                      <a:lnTo>
                        <a:pt x="56" y="44"/>
                      </a:lnTo>
                      <a:lnTo>
                        <a:pt x="57" y="43"/>
                      </a:lnTo>
                      <a:lnTo>
                        <a:pt x="59" y="43"/>
                      </a:lnTo>
                      <a:lnTo>
                        <a:pt x="60" y="43"/>
                      </a:lnTo>
                      <a:lnTo>
                        <a:pt x="62" y="41"/>
                      </a:lnTo>
                      <a:lnTo>
                        <a:pt x="62" y="39"/>
                      </a:lnTo>
                      <a:lnTo>
                        <a:pt x="63" y="39"/>
                      </a:lnTo>
                      <a:lnTo>
                        <a:pt x="65" y="38"/>
                      </a:lnTo>
                      <a:lnTo>
                        <a:pt x="67" y="37"/>
                      </a:lnTo>
                      <a:lnTo>
                        <a:pt x="67" y="36"/>
                      </a:lnTo>
                      <a:lnTo>
                        <a:pt x="68" y="34"/>
                      </a:lnTo>
                      <a:lnTo>
                        <a:pt x="68" y="32"/>
                      </a:lnTo>
                      <a:lnTo>
                        <a:pt x="70" y="31"/>
                      </a:lnTo>
                      <a:lnTo>
                        <a:pt x="70" y="30"/>
                      </a:lnTo>
                      <a:lnTo>
                        <a:pt x="71" y="28"/>
                      </a:lnTo>
                      <a:lnTo>
                        <a:pt x="71" y="27"/>
                      </a:lnTo>
                      <a:lnTo>
                        <a:pt x="71" y="25"/>
                      </a:lnTo>
                      <a:lnTo>
                        <a:pt x="71" y="24"/>
                      </a:lnTo>
                      <a:lnTo>
                        <a:pt x="73" y="22"/>
                      </a:lnTo>
                      <a:lnTo>
                        <a:pt x="73" y="21"/>
                      </a:lnTo>
                      <a:lnTo>
                        <a:pt x="74" y="19"/>
                      </a:lnTo>
                      <a:lnTo>
                        <a:pt x="74" y="18"/>
                      </a:lnTo>
                      <a:lnTo>
                        <a:pt x="74" y="17"/>
                      </a:lnTo>
                      <a:lnTo>
                        <a:pt x="76" y="15"/>
                      </a:lnTo>
                      <a:lnTo>
                        <a:pt x="77" y="13"/>
                      </a:lnTo>
                      <a:lnTo>
                        <a:pt x="77" y="12"/>
                      </a:lnTo>
                      <a:lnTo>
                        <a:pt x="78" y="12"/>
                      </a:lnTo>
                      <a:lnTo>
                        <a:pt x="78" y="11"/>
                      </a:lnTo>
                      <a:lnTo>
                        <a:pt x="80" y="9"/>
                      </a:lnTo>
                      <a:lnTo>
                        <a:pt x="80" y="8"/>
                      </a:lnTo>
                      <a:lnTo>
                        <a:pt x="82" y="6"/>
                      </a:lnTo>
                      <a:lnTo>
                        <a:pt x="83" y="5"/>
                      </a:lnTo>
                      <a:lnTo>
                        <a:pt x="84" y="3"/>
                      </a:lnTo>
                      <a:lnTo>
                        <a:pt x="86" y="1"/>
                      </a:lnTo>
                      <a:lnTo>
                        <a:pt x="88" y="0"/>
                      </a:lnTo>
                      <a:lnTo>
                        <a:pt x="86" y="1"/>
                      </a:lnTo>
                      <a:lnTo>
                        <a:pt x="86" y="2"/>
                      </a:lnTo>
                      <a:lnTo>
                        <a:pt x="84" y="4"/>
                      </a:lnTo>
                      <a:lnTo>
                        <a:pt x="84" y="6"/>
                      </a:lnTo>
                      <a:lnTo>
                        <a:pt x="83" y="7"/>
                      </a:lnTo>
                      <a:lnTo>
                        <a:pt x="83" y="9"/>
                      </a:lnTo>
                      <a:lnTo>
                        <a:pt x="82" y="11"/>
                      </a:lnTo>
                      <a:lnTo>
                        <a:pt x="80" y="12"/>
                      </a:lnTo>
                      <a:lnTo>
                        <a:pt x="80" y="13"/>
                      </a:lnTo>
                      <a:lnTo>
                        <a:pt x="79" y="15"/>
                      </a:lnTo>
                      <a:lnTo>
                        <a:pt x="79" y="17"/>
                      </a:lnTo>
                      <a:lnTo>
                        <a:pt x="78" y="19"/>
                      </a:lnTo>
                      <a:lnTo>
                        <a:pt x="78" y="19"/>
                      </a:lnTo>
                      <a:lnTo>
                        <a:pt x="77" y="21"/>
                      </a:lnTo>
                      <a:lnTo>
                        <a:pt x="77" y="22"/>
                      </a:lnTo>
                      <a:lnTo>
                        <a:pt x="76" y="24"/>
                      </a:lnTo>
                      <a:lnTo>
                        <a:pt x="74" y="25"/>
                      </a:lnTo>
                      <a:lnTo>
                        <a:pt x="74" y="27"/>
                      </a:lnTo>
                      <a:lnTo>
                        <a:pt x="73" y="29"/>
                      </a:lnTo>
                      <a:lnTo>
                        <a:pt x="72" y="30"/>
                      </a:lnTo>
                      <a:lnTo>
                        <a:pt x="72" y="31"/>
                      </a:lnTo>
                      <a:lnTo>
                        <a:pt x="72" y="32"/>
                      </a:lnTo>
                      <a:lnTo>
                        <a:pt x="71" y="33"/>
                      </a:lnTo>
                      <a:lnTo>
                        <a:pt x="70" y="35"/>
                      </a:lnTo>
                      <a:lnTo>
                        <a:pt x="68" y="37"/>
                      </a:lnTo>
                      <a:lnTo>
                        <a:pt x="67" y="38"/>
                      </a:lnTo>
                      <a:lnTo>
                        <a:pt x="67" y="39"/>
                      </a:lnTo>
                      <a:lnTo>
                        <a:pt x="65" y="41"/>
                      </a:lnTo>
                      <a:lnTo>
                        <a:pt x="63" y="43"/>
                      </a:lnTo>
                      <a:lnTo>
                        <a:pt x="62" y="43"/>
                      </a:lnTo>
                      <a:lnTo>
                        <a:pt x="61" y="44"/>
                      </a:lnTo>
                      <a:lnTo>
                        <a:pt x="59" y="45"/>
                      </a:lnTo>
                      <a:lnTo>
                        <a:pt x="58" y="45"/>
                      </a:lnTo>
                      <a:lnTo>
                        <a:pt x="57" y="46"/>
                      </a:lnTo>
                      <a:lnTo>
                        <a:pt x="55" y="48"/>
                      </a:lnTo>
                      <a:lnTo>
                        <a:pt x="54" y="48"/>
                      </a:lnTo>
                      <a:lnTo>
                        <a:pt x="53" y="48"/>
                      </a:lnTo>
                      <a:lnTo>
                        <a:pt x="52" y="50"/>
                      </a:lnTo>
                      <a:lnTo>
                        <a:pt x="50" y="50"/>
                      </a:lnTo>
                      <a:lnTo>
                        <a:pt x="48" y="51"/>
                      </a:lnTo>
                      <a:lnTo>
                        <a:pt x="47" y="51"/>
                      </a:lnTo>
                      <a:lnTo>
                        <a:pt x="46" y="51"/>
                      </a:lnTo>
                      <a:lnTo>
                        <a:pt x="44" y="51"/>
                      </a:lnTo>
                      <a:lnTo>
                        <a:pt x="43" y="51"/>
                      </a:lnTo>
                      <a:lnTo>
                        <a:pt x="41" y="52"/>
                      </a:lnTo>
                      <a:lnTo>
                        <a:pt x="40" y="52"/>
                      </a:lnTo>
                      <a:lnTo>
                        <a:pt x="38" y="53"/>
                      </a:lnTo>
                      <a:lnTo>
                        <a:pt x="37" y="53"/>
                      </a:lnTo>
                      <a:lnTo>
                        <a:pt x="36" y="54"/>
                      </a:lnTo>
                      <a:lnTo>
                        <a:pt x="34" y="54"/>
                      </a:lnTo>
                      <a:lnTo>
                        <a:pt x="32" y="54"/>
                      </a:lnTo>
                      <a:lnTo>
                        <a:pt x="31" y="54"/>
                      </a:lnTo>
                      <a:lnTo>
                        <a:pt x="31" y="56"/>
                      </a:lnTo>
                      <a:lnTo>
                        <a:pt x="30" y="56"/>
                      </a:lnTo>
                      <a:lnTo>
                        <a:pt x="28" y="56"/>
                      </a:lnTo>
                      <a:lnTo>
                        <a:pt x="26" y="56"/>
                      </a:lnTo>
                      <a:lnTo>
                        <a:pt x="25" y="56"/>
                      </a:lnTo>
                      <a:lnTo>
                        <a:pt x="23" y="56"/>
                      </a:lnTo>
                      <a:lnTo>
                        <a:pt x="22" y="56"/>
                      </a:lnTo>
                      <a:lnTo>
                        <a:pt x="20" y="56"/>
                      </a:lnTo>
                      <a:lnTo>
                        <a:pt x="20" y="56"/>
                      </a:lnTo>
                      <a:lnTo>
                        <a:pt x="18" y="56"/>
                      </a:lnTo>
                      <a:lnTo>
                        <a:pt x="16" y="57"/>
                      </a:lnTo>
                      <a:lnTo>
                        <a:pt x="15" y="57"/>
                      </a:lnTo>
                      <a:lnTo>
                        <a:pt x="13" y="58"/>
                      </a:lnTo>
                      <a:lnTo>
                        <a:pt x="11" y="58"/>
                      </a:lnTo>
                      <a:lnTo>
                        <a:pt x="10" y="59"/>
                      </a:lnTo>
                      <a:lnTo>
                        <a:pt x="8" y="59"/>
                      </a:lnTo>
                      <a:lnTo>
                        <a:pt x="7" y="59"/>
                      </a:lnTo>
                      <a:lnTo>
                        <a:pt x="5" y="61"/>
                      </a:lnTo>
                      <a:lnTo>
                        <a:pt x="4" y="62"/>
                      </a:lnTo>
                      <a:lnTo>
                        <a:pt x="3" y="62"/>
                      </a:lnTo>
                      <a:lnTo>
                        <a:pt x="1" y="63"/>
                      </a:lnTo>
                      <a:lnTo>
                        <a:pt x="0" y="63"/>
                      </a:lnTo>
                      <a:lnTo>
                        <a:pt x="0" y="63"/>
                      </a:lnTo>
                    </a:path>
                  </a:pathLst>
                </a:custGeom>
                <a:solidFill>
                  <a:srgbClr val="E1E1E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88" name="Freeform 156"/>
                <p:cNvSpPr>
                  <a:spLocks/>
                </p:cNvSpPr>
                <p:nvPr/>
              </p:nvSpPr>
              <p:spPr bwMode="auto">
                <a:xfrm>
                  <a:off x="1154" y="3652"/>
                  <a:ext cx="50" cy="31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5" y="0"/>
                    </a:cxn>
                    <a:cxn ang="0">
                      <a:pos x="8" y="0"/>
                    </a:cxn>
                    <a:cxn ang="0">
                      <a:pos x="12" y="0"/>
                    </a:cxn>
                    <a:cxn ang="0">
                      <a:pos x="14" y="0"/>
                    </a:cxn>
                    <a:cxn ang="0">
                      <a:pos x="18" y="0"/>
                    </a:cxn>
                    <a:cxn ang="0">
                      <a:pos x="19" y="0"/>
                    </a:cxn>
                    <a:cxn ang="0">
                      <a:pos x="23" y="0"/>
                    </a:cxn>
                    <a:cxn ang="0">
                      <a:pos x="25" y="0"/>
                    </a:cxn>
                    <a:cxn ang="0">
                      <a:pos x="28" y="0"/>
                    </a:cxn>
                    <a:cxn ang="0">
                      <a:pos x="29" y="1"/>
                    </a:cxn>
                    <a:cxn ang="0">
                      <a:pos x="31" y="2"/>
                    </a:cxn>
                    <a:cxn ang="0">
                      <a:pos x="32" y="3"/>
                    </a:cxn>
                    <a:cxn ang="0">
                      <a:pos x="34" y="5"/>
                    </a:cxn>
                    <a:cxn ang="0">
                      <a:pos x="36" y="6"/>
                    </a:cxn>
                    <a:cxn ang="0">
                      <a:pos x="37" y="7"/>
                    </a:cxn>
                    <a:cxn ang="0">
                      <a:pos x="38" y="8"/>
                    </a:cxn>
                    <a:cxn ang="0">
                      <a:pos x="40" y="10"/>
                    </a:cxn>
                    <a:cxn ang="0">
                      <a:pos x="41" y="11"/>
                    </a:cxn>
                    <a:cxn ang="0">
                      <a:pos x="43" y="12"/>
                    </a:cxn>
                    <a:cxn ang="0">
                      <a:pos x="43" y="15"/>
                    </a:cxn>
                    <a:cxn ang="0">
                      <a:pos x="44" y="16"/>
                    </a:cxn>
                    <a:cxn ang="0">
                      <a:pos x="44" y="19"/>
                    </a:cxn>
                    <a:cxn ang="0">
                      <a:pos x="44" y="22"/>
                    </a:cxn>
                    <a:cxn ang="0">
                      <a:pos x="46" y="24"/>
                    </a:cxn>
                    <a:cxn ang="0">
                      <a:pos x="46" y="26"/>
                    </a:cxn>
                    <a:cxn ang="0">
                      <a:pos x="48" y="28"/>
                    </a:cxn>
                    <a:cxn ang="0">
                      <a:pos x="49" y="30"/>
                    </a:cxn>
                    <a:cxn ang="0">
                      <a:pos x="47" y="29"/>
                    </a:cxn>
                    <a:cxn ang="0">
                      <a:pos x="47" y="26"/>
                    </a:cxn>
                    <a:cxn ang="0">
                      <a:pos x="46" y="25"/>
                    </a:cxn>
                    <a:cxn ang="0">
                      <a:pos x="46" y="23"/>
                    </a:cxn>
                    <a:cxn ang="0">
                      <a:pos x="44" y="21"/>
                    </a:cxn>
                    <a:cxn ang="0">
                      <a:pos x="43" y="20"/>
                    </a:cxn>
                    <a:cxn ang="0">
                      <a:pos x="42" y="18"/>
                    </a:cxn>
                    <a:cxn ang="0">
                      <a:pos x="41" y="17"/>
                    </a:cxn>
                    <a:cxn ang="0">
                      <a:pos x="39" y="15"/>
                    </a:cxn>
                    <a:cxn ang="0">
                      <a:pos x="37" y="13"/>
                    </a:cxn>
                    <a:cxn ang="0">
                      <a:pos x="36" y="13"/>
                    </a:cxn>
                    <a:cxn ang="0">
                      <a:pos x="34" y="12"/>
                    </a:cxn>
                    <a:cxn ang="0">
                      <a:pos x="33" y="10"/>
                    </a:cxn>
                    <a:cxn ang="0">
                      <a:pos x="31" y="8"/>
                    </a:cxn>
                    <a:cxn ang="0">
                      <a:pos x="29" y="8"/>
                    </a:cxn>
                    <a:cxn ang="0">
                      <a:pos x="27" y="7"/>
                    </a:cxn>
                    <a:cxn ang="0">
                      <a:pos x="25" y="6"/>
                    </a:cxn>
                    <a:cxn ang="0">
                      <a:pos x="25" y="5"/>
                    </a:cxn>
                    <a:cxn ang="0">
                      <a:pos x="23" y="3"/>
                    </a:cxn>
                    <a:cxn ang="0">
                      <a:pos x="20" y="3"/>
                    </a:cxn>
                    <a:cxn ang="0">
                      <a:pos x="18" y="3"/>
                    </a:cxn>
                    <a:cxn ang="0">
                      <a:pos x="16" y="2"/>
                    </a:cxn>
                    <a:cxn ang="0">
                      <a:pos x="12" y="2"/>
                    </a:cxn>
                    <a:cxn ang="0">
                      <a:pos x="11" y="0"/>
                    </a:cxn>
                    <a:cxn ang="0">
                      <a:pos x="8" y="0"/>
                    </a:cxn>
                    <a:cxn ang="0">
                      <a:pos x="6" y="0"/>
                    </a:cxn>
                    <a:cxn ang="0">
                      <a:pos x="4" y="0"/>
                    </a:cxn>
                    <a:cxn ang="0">
                      <a:pos x="2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0" h="31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3" y="0"/>
                      </a:lnTo>
                      <a:lnTo>
                        <a:pt x="5" y="0"/>
                      </a:lnTo>
                      <a:lnTo>
                        <a:pt x="6" y="0"/>
                      </a:lnTo>
                      <a:lnTo>
                        <a:pt x="8" y="0"/>
                      </a:lnTo>
                      <a:lnTo>
                        <a:pt x="10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4" y="0"/>
                      </a:lnTo>
                      <a:lnTo>
                        <a:pt x="16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lnTo>
                        <a:pt x="19" y="0"/>
                      </a:lnTo>
                      <a:lnTo>
                        <a:pt x="21" y="0"/>
                      </a:lnTo>
                      <a:lnTo>
                        <a:pt x="23" y="0"/>
                      </a:lnTo>
                      <a:lnTo>
                        <a:pt x="24" y="0"/>
                      </a:lnTo>
                      <a:lnTo>
                        <a:pt x="25" y="0"/>
                      </a:lnTo>
                      <a:lnTo>
                        <a:pt x="27" y="0"/>
                      </a:lnTo>
                      <a:lnTo>
                        <a:pt x="28" y="0"/>
                      </a:lnTo>
                      <a:lnTo>
                        <a:pt x="28" y="1"/>
                      </a:lnTo>
                      <a:lnTo>
                        <a:pt x="29" y="1"/>
                      </a:lnTo>
                      <a:lnTo>
                        <a:pt x="29" y="2"/>
                      </a:lnTo>
                      <a:lnTo>
                        <a:pt x="31" y="2"/>
                      </a:lnTo>
                      <a:lnTo>
                        <a:pt x="31" y="3"/>
                      </a:lnTo>
                      <a:lnTo>
                        <a:pt x="32" y="3"/>
                      </a:lnTo>
                      <a:lnTo>
                        <a:pt x="34" y="3"/>
                      </a:lnTo>
                      <a:lnTo>
                        <a:pt x="34" y="5"/>
                      </a:lnTo>
                      <a:lnTo>
                        <a:pt x="36" y="5"/>
                      </a:lnTo>
                      <a:lnTo>
                        <a:pt x="36" y="6"/>
                      </a:lnTo>
                      <a:lnTo>
                        <a:pt x="37" y="6"/>
                      </a:lnTo>
                      <a:lnTo>
                        <a:pt x="37" y="7"/>
                      </a:lnTo>
                      <a:lnTo>
                        <a:pt x="38" y="7"/>
                      </a:lnTo>
                      <a:lnTo>
                        <a:pt x="38" y="8"/>
                      </a:lnTo>
                      <a:lnTo>
                        <a:pt x="40" y="8"/>
                      </a:lnTo>
                      <a:lnTo>
                        <a:pt x="40" y="10"/>
                      </a:lnTo>
                      <a:lnTo>
                        <a:pt x="40" y="11"/>
                      </a:lnTo>
                      <a:lnTo>
                        <a:pt x="41" y="11"/>
                      </a:lnTo>
                      <a:lnTo>
                        <a:pt x="41" y="12"/>
                      </a:lnTo>
                      <a:lnTo>
                        <a:pt x="43" y="12"/>
                      </a:lnTo>
                      <a:lnTo>
                        <a:pt x="43" y="14"/>
                      </a:lnTo>
                      <a:lnTo>
                        <a:pt x="43" y="15"/>
                      </a:lnTo>
                      <a:lnTo>
                        <a:pt x="43" y="16"/>
                      </a:lnTo>
                      <a:lnTo>
                        <a:pt x="44" y="16"/>
                      </a:lnTo>
                      <a:lnTo>
                        <a:pt x="44" y="18"/>
                      </a:lnTo>
                      <a:lnTo>
                        <a:pt x="44" y="19"/>
                      </a:lnTo>
                      <a:lnTo>
                        <a:pt x="44" y="21"/>
                      </a:lnTo>
                      <a:lnTo>
                        <a:pt x="44" y="22"/>
                      </a:lnTo>
                      <a:lnTo>
                        <a:pt x="46" y="22"/>
                      </a:lnTo>
                      <a:lnTo>
                        <a:pt x="46" y="24"/>
                      </a:lnTo>
                      <a:lnTo>
                        <a:pt x="46" y="25"/>
                      </a:lnTo>
                      <a:lnTo>
                        <a:pt x="46" y="26"/>
                      </a:lnTo>
                      <a:lnTo>
                        <a:pt x="48" y="26"/>
                      </a:lnTo>
                      <a:lnTo>
                        <a:pt x="48" y="28"/>
                      </a:lnTo>
                      <a:lnTo>
                        <a:pt x="48" y="30"/>
                      </a:lnTo>
                      <a:lnTo>
                        <a:pt x="49" y="30"/>
                      </a:lnTo>
                      <a:lnTo>
                        <a:pt x="47" y="30"/>
                      </a:lnTo>
                      <a:lnTo>
                        <a:pt x="47" y="29"/>
                      </a:lnTo>
                      <a:lnTo>
                        <a:pt x="47" y="28"/>
                      </a:lnTo>
                      <a:lnTo>
                        <a:pt x="47" y="26"/>
                      </a:lnTo>
                      <a:lnTo>
                        <a:pt x="46" y="26"/>
                      </a:lnTo>
                      <a:lnTo>
                        <a:pt x="46" y="25"/>
                      </a:lnTo>
                      <a:lnTo>
                        <a:pt x="46" y="24"/>
                      </a:lnTo>
                      <a:lnTo>
                        <a:pt x="46" y="23"/>
                      </a:lnTo>
                      <a:lnTo>
                        <a:pt x="44" y="23"/>
                      </a:lnTo>
                      <a:lnTo>
                        <a:pt x="44" y="21"/>
                      </a:lnTo>
                      <a:lnTo>
                        <a:pt x="43" y="21"/>
                      </a:lnTo>
                      <a:lnTo>
                        <a:pt x="43" y="20"/>
                      </a:lnTo>
                      <a:lnTo>
                        <a:pt x="43" y="18"/>
                      </a:lnTo>
                      <a:lnTo>
                        <a:pt x="42" y="18"/>
                      </a:lnTo>
                      <a:lnTo>
                        <a:pt x="42" y="17"/>
                      </a:lnTo>
                      <a:lnTo>
                        <a:pt x="41" y="17"/>
                      </a:lnTo>
                      <a:lnTo>
                        <a:pt x="41" y="15"/>
                      </a:lnTo>
                      <a:lnTo>
                        <a:pt x="39" y="15"/>
                      </a:lnTo>
                      <a:lnTo>
                        <a:pt x="37" y="15"/>
                      </a:lnTo>
                      <a:lnTo>
                        <a:pt x="37" y="13"/>
                      </a:lnTo>
                      <a:lnTo>
                        <a:pt x="37" y="13"/>
                      </a:lnTo>
                      <a:lnTo>
                        <a:pt x="36" y="13"/>
                      </a:lnTo>
                      <a:lnTo>
                        <a:pt x="36" y="12"/>
                      </a:lnTo>
                      <a:lnTo>
                        <a:pt x="34" y="12"/>
                      </a:lnTo>
                      <a:lnTo>
                        <a:pt x="33" y="12"/>
                      </a:lnTo>
                      <a:lnTo>
                        <a:pt x="33" y="10"/>
                      </a:lnTo>
                      <a:lnTo>
                        <a:pt x="31" y="10"/>
                      </a:lnTo>
                      <a:lnTo>
                        <a:pt x="31" y="8"/>
                      </a:lnTo>
                      <a:lnTo>
                        <a:pt x="30" y="8"/>
                      </a:lnTo>
                      <a:lnTo>
                        <a:pt x="29" y="8"/>
                      </a:lnTo>
                      <a:lnTo>
                        <a:pt x="29" y="7"/>
                      </a:lnTo>
                      <a:lnTo>
                        <a:pt x="27" y="7"/>
                      </a:lnTo>
                      <a:lnTo>
                        <a:pt x="27" y="6"/>
                      </a:lnTo>
                      <a:lnTo>
                        <a:pt x="25" y="6"/>
                      </a:lnTo>
                      <a:lnTo>
                        <a:pt x="25" y="6"/>
                      </a:lnTo>
                      <a:lnTo>
                        <a:pt x="25" y="5"/>
                      </a:lnTo>
                      <a:lnTo>
                        <a:pt x="23" y="5"/>
                      </a:lnTo>
                      <a:lnTo>
                        <a:pt x="23" y="3"/>
                      </a:lnTo>
                      <a:lnTo>
                        <a:pt x="21" y="3"/>
                      </a:lnTo>
                      <a:lnTo>
                        <a:pt x="20" y="3"/>
                      </a:lnTo>
                      <a:lnTo>
                        <a:pt x="18" y="3"/>
                      </a:lnTo>
                      <a:lnTo>
                        <a:pt x="18" y="3"/>
                      </a:lnTo>
                      <a:lnTo>
                        <a:pt x="18" y="2"/>
                      </a:lnTo>
                      <a:lnTo>
                        <a:pt x="16" y="2"/>
                      </a:lnTo>
                      <a:lnTo>
                        <a:pt x="14" y="2"/>
                      </a:lnTo>
                      <a:lnTo>
                        <a:pt x="12" y="2"/>
                      </a:lnTo>
                      <a:lnTo>
                        <a:pt x="12" y="0"/>
                      </a:lnTo>
                      <a:lnTo>
                        <a:pt x="11" y="0"/>
                      </a:lnTo>
                      <a:lnTo>
                        <a:pt x="10" y="0"/>
                      </a:lnTo>
                      <a:lnTo>
                        <a:pt x="8" y="0"/>
                      </a:lnTo>
                      <a:lnTo>
                        <a:pt x="7" y="0"/>
                      </a:lnTo>
                      <a:lnTo>
                        <a:pt x="6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A2A2A2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89" name="Freeform 157"/>
                <p:cNvSpPr>
                  <a:spLocks/>
                </p:cNvSpPr>
                <p:nvPr/>
              </p:nvSpPr>
              <p:spPr bwMode="auto">
                <a:xfrm>
                  <a:off x="1096" y="3738"/>
                  <a:ext cx="29" cy="22"/>
                </a:xfrm>
                <a:custGeom>
                  <a:avLst/>
                  <a:gdLst/>
                  <a:ahLst/>
                  <a:cxnLst>
                    <a:cxn ang="0">
                      <a:pos x="25" y="0"/>
                    </a:cxn>
                    <a:cxn ang="0">
                      <a:pos x="19" y="3"/>
                    </a:cxn>
                    <a:cxn ang="0">
                      <a:pos x="14" y="5"/>
                    </a:cxn>
                    <a:cxn ang="0">
                      <a:pos x="10" y="8"/>
                    </a:cxn>
                    <a:cxn ang="0">
                      <a:pos x="0" y="12"/>
                    </a:cxn>
                    <a:cxn ang="0">
                      <a:pos x="7" y="14"/>
                    </a:cxn>
                    <a:cxn ang="0">
                      <a:pos x="13" y="16"/>
                    </a:cxn>
                    <a:cxn ang="0">
                      <a:pos x="17" y="17"/>
                    </a:cxn>
                    <a:cxn ang="0">
                      <a:pos x="22" y="19"/>
                    </a:cxn>
                    <a:cxn ang="0">
                      <a:pos x="28" y="21"/>
                    </a:cxn>
                    <a:cxn ang="0">
                      <a:pos x="24" y="10"/>
                    </a:cxn>
                    <a:cxn ang="0">
                      <a:pos x="24" y="6"/>
                    </a:cxn>
                    <a:cxn ang="0">
                      <a:pos x="24" y="4"/>
                    </a:cxn>
                    <a:cxn ang="0">
                      <a:pos x="25" y="1"/>
                    </a:cxn>
                    <a:cxn ang="0">
                      <a:pos x="25" y="0"/>
                    </a:cxn>
                  </a:cxnLst>
                  <a:rect l="0" t="0" r="r" b="b"/>
                  <a:pathLst>
                    <a:path w="29" h="22">
                      <a:moveTo>
                        <a:pt x="25" y="0"/>
                      </a:moveTo>
                      <a:lnTo>
                        <a:pt x="19" y="3"/>
                      </a:lnTo>
                      <a:lnTo>
                        <a:pt x="14" y="5"/>
                      </a:lnTo>
                      <a:lnTo>
                        <a:pt x="10" y="8"/>
                      </a:lnTo>
                      <a:lnTo>
                        <a:pt x="0" y="12"/>
                      </a:lnTo>
                      <a:lnTo>
                        <a:pt x="7" y="14"/>
                      </a:lnTo>
                      <a:lnTo>
                        <a:pt x="13" y="16"/>
                      </a:lnTo>
                      <a:lnTo>
                        <a:pt x="17" y="17"/>
                      </a:lnTo>
                      <a:lnTo>
                        <a:pt x="22" y="19"/>
                      </a:lnTo>
                      <a:lnTo>
                        <a:pt x="28" y="21"/>
                      </a:lnTo>
                      <a:lnTo>
                        <a:pt x="24" y="10"/>
                      </a:lnTo>
                      <a:lnTo>
                        <a:pt x="24" y="6"/>
                      </a:lnTo>
                      <a:lnTo>
                        <a:pt x="24" y="4"/>
                      </a:lnTo>
                      <a:lnTo>
                        <a:pt x="25" y="1"/>
                      </a:lnTo>
                      <a:lnTo>
                        <a:pt x="25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90" name="Freeform 158"/>
                <p:cNvSpPr>
                  <a:spLocks/>
                </p:cNvSpPr>
                <p:nvPr/>
              </p:nvSpPr>
              <p:spPr bwMode="auto">
                <a:xfrm>
                  <a:off x="1110" y="3744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12" y="15"/>
                    </a:cxn>
                    <a:cxn ang="0">
                      <a:pos x="5" y="10"/>
                    </a:cxn>
                    <a:cxn ang="0">
                      <a:pos x="0" y="8"/>
                    </a:cxn>
                    <a:cxn ang="0">
                      <a:pos x="0" y="4"/>
                    </a:cxn>
                    <a:cxn ang="0">
                      <a:pos x="3" y="2"/>
                    </a:cxn>
                    <a:cxn ang="0">
                      <a:pos x="6" y="0"/>
                    </a:cxn>
                    <a:cxn ang="0">
                      <a:pos x="10" y="0"/>
                    </a:cxn>
                    <a:cxn ang="0">
                      <a:pos x="15" y="2"/>
                    </a:cxn>
                    <a:cxn ang="0">
                      <a:pos x="12" y="15"/>
                    </a:cxn>
                  </a:cxnLst>
                  <a:rect l="0" t="0" r="r" b="b"/>
                  <a:pathLst>
                    <a:path w="16" h="16">
                      <a:moveTo>
                        <a:pt x="12" y="15"/>
                      </a:moveTo>
                      <a:lnTo>
                        <a:pt x="5" y="10"/>
                      </a:lnTo>
                      <a:lnTo>
                        <a:pt x="0" y="8"/>
                      </a:lnTo>
                      <a:lnTo>
                        <a:pt x="0" y="4"/>
                      </a:lnTo>
                      <a:lnTo>
                        <a:pt x="3" y="2"/>
                      </a:lnTo>
                      <a:lnTo>
                        <a:pt x="6" y="0"/>
                      </a:lnTo>
                      <a:lnTo>
                        <a:pt x="10" y="0"/>
                      </a:lnTo>
                      <a:lnTo>
                        <a:pt x="15" y="2"/>
                      </a:lnTo>
                      <a:lnTo>
                        <a:pt x="12" y="15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91" name="Freeform 159"/>
                <p:cNvSpPr>
                  <a:spLocks/>
                </p:cNvSpPr>
                <p:nvPr/>
              </p:nvSpPr>
              <p:spPr bwMode="auto">
                <a:xfrm>
                  <a:off x="1003" y="3722"/>
                  <a:ext cx="196" cy="75"/>
                </a:xfrm>
                <a:custGeom>
                  <a:avLst/>
                  <a:gdLst/>
                  <a:ahLst/>
                  <a:cxnLst>
                    <a:cxn ang="0">
                      <a:pos x="49" y="12"/>
                    </a:cxn>
                    <a:cxn ang="0">
                      <a:pos x="100" y="10"/>
                    </a:cxn>
                    <a:cxn ang="0">
                      <a:pos x="122" y="9"/>
                    </a:cxn>
                    <a:cxn ang="0">
                      <a:pos x="132" y="0"/>
                    </a:cxn>
                    <a:cxn ang="0">
                      <a:pos x="147" y="0"/>
                    </a:cxn>
                    <a:cxn ang="0">
                      <a:pos x="155" y="4"/>
                    </a:cxn>
                    <a:cxn ang="0">
                      <a:pos x="161" y="8"/>
                    </a:cxn>
                    <a:cxn ang="0">
                      <a:pos x="167" y="16"/>
                    </a:cxn>
                    <a:cxn ang="0">
                      <a:pos x="168" y="29"/>
                    </a:cxn>
                    <a:cxn ang="0">
                      <a:pos x="174" y="24"/>
                    </a:cxn>
                    <a:cxn ang="0">
                      <a:pos x="184" y="23"/>
                    </a:cxn>
                    <a:cxn ang="0">
                      <a:pos x="190" y="25"/>
                    </a:cxn>
                    <a:cxn ang="0">
                      <a:pos x="193" y="31"/>
                    </a:cxn>
                    <a:cxn ang="0">
                      <a:pos x="194" y="43"/>
                    </a:cxn>
                    <a:cxn ang="0">
                      <a:pos x="191" y="53"/>
                    </a:cxn>
                    <a:cxn ang="0">
                      <a:pos x="172" y="37"/>
                    </a:cxn>
                    <a:cxn ang="0">
                      <a:pos x="167" y="43"/>
                    </a:cxn>
                    <a:cxn ang="0">
                      <a:pos x="162" y="55"/>
                    </a:cxn>
                    <a:cxn ang="0">
                      <a:pos x="158" y="62"/>
                    </a:cxn>
                    <a:cxn ang="0">
                      <a:pos x="152" y="68"/>
                    </a:cxn>
                    <a:cxn ang="0">
                      <a:pos x="141" y="74"/>
                    </a:cxn>
                    <a:cxn ang="0">
                      <a:pos x="130" y="71"/>
                    </a:cxn>
                    <a:cxn ang="0">
                      <a:pos x="123" y="66"/>
                    </a:cxn>
                    <a:cxn ang="0">
                      <a:pos x="119" y="59"/>
                    </a:cxn>
                    <a:cxn ang="0">
                      <a:pos x="117" y="42"/>
                    </a:cxn>
                    <a:cxn ang="0">
                      <a:pos x="117" y="31"/>
                    </a:cxn>
                    <a:cxn ang="0">
                      <a:pos x="119" y="17"/>
                    </a:cxn>
                    <a:cxn ang="0">
                      <a:pos x="92" y="14"/>
                    </a:cxn>
                    <a:cxn ang="0">
                      <a:pos x="52" y="15"/>
                    </a:cxn>
                    <a:cxn ang="0">
                      <a:pos x="26" y="17"/>
                    </a:cxn>
                    <a:cxn ang="0">
                      <a:pos x="4" y="18"/>
                    </a:cxn>
                    <a:cxn ang="0">
                      <a:pos x="12" y="12"/>
                    </a:cxn>
                  </a:cxnLst>
                  <a:rect l="0" t="0" r="r" b="b"/>
                  <a:pathLst>
                    <a:path w="196" h="75">
                      <a:moveTo>
                        <a:pt x="24" y="12"/>
                      </a:moveTo>
                      <a:lnTo>
                        <a:pt x="49" y="12"/>
                      </a:lnTo>
                      <a:lnTo>
                        <a:pt x="77" y="11"/>
                      </a:lnTo>
                      <a:lnTo>
                        <a:pt x="100" y="10"/>
                      </a:lnTo>
                      <a:lnTo>
                        <a:pt x="117" y="8"/>
                      </a:lnTo>
                      <a:lnTo>
                        <a:pt x="122" y="9"/>
                      </a:lnTo>
                      <a:lnTo>
                        <a:pt x="127" y="6"/>
                      </a:lnTo>
                      <a:lnTo>
                        <a:pt x="132" y="0"/>
                      </a:lnTo>
                      <a:lnTo>
                        <a:pt x="139" y="0"/>
                      </a:lnTo>
                      <a:lnTo>
                        <a:pt x="147" y="0"/>
                      </a:lnTo>
                      <a:lnTo>
                        <a:pt x="151" y="0"/>
                      </a:lnTo>
                      <a:lnTo>
                        <a:pt x="155" y="4"/>
                      </a:lnTo>
                      <a:lnTo>
                        <a:pt x="157" y="5"/>
                      </a:lnTo>
                      <a:lnTo>
                        <a:pt x="161" y="8"/>
                      </a:lnTo>
                      <a:lnTo>
                        <a:pt x="164" y="12"/>
                      </a:lnTo>
                      <a:lnTo>
                        <a:pt x="167" y="16"/>
                      </a:lnTo>
                      <a:lnTo>
                        <a:pt x="169" y="21"/>
                      </a:lnTo>
                      <a:lnTo>
                        <a:pt x="168" y="29"/>
                      </a:lnTo>
                      <a:lnTo>
                        <a:pt x="172" y="27"/>
                      </a:lnTo>
                      <a:lnTo>
                        <a:pt x="174" y="24"/>
                      </a:lnTo>
                      <a:lnTo>
                        <a:pt x="179" y="24"/>
                      </a:lnTo>
                      <a:lnTo>
                        <a:pt x="184" y="23"/>
                      </a:lnTo>
                      <a:lnTo>
                        <a:pt x="187" y="24"/>
                      </a:lnTo>
                      <a:lnTo>
                        <a:pt x="190" y="25"/>
                      </a:lnTo>
                      <a:lnTo>
                        <a:pt x="193" y="28"/>
                      </a:lnTo>
                      <a:lnTo>
                        <a:pt x="193" y="31"/>
                      </a:lnTo>
                      <a:lnTo>
                        <a:pt x="195" y="37"/>
                      </a:lnTo>
                      <a:lnTo>
                        <a:pt x="194" y="43"/>
                      </a:lnTo>
                      <a:lnTo>
                        <a:pt x="193" y="49"/>
                      </a:lnTo>
                      <a:lnTo>
                        <a:pt x="191" y="53"/>
                      </a:lnTo>
                      <a:lnTo>
                        <a:pt x="189" y="58"/>
                      </a:lnTo>
                      <a:lnTo>
                        <a:pt x="172" y="37"/>
                      </a:lnTo>
                      <a:lnTo>
                        <a:pt x="168" y="35"/>
                      </a:lnTo>
                      <a:lnTo>
                        <a:pt x="167" y="43"/>
                      </a:lnTo>
                      <a:lnTo>
                        <a:pt x="165" y="47"/>
                      </a:lnTo>
                      <a:lnTo>
                        <a:pt x="162" y="55"/>
                      </a:lnTo>
                      <a:lnTo>
                        <a:pt x="161" y="58"/>
                      </a:lnTo>
                      <a:lnTo>
                        <a:pt x="158" y="62"/>
                      </a:lnTo>
                      <a:lnTo>
                        <a:pt x="156" y="65"/>
                      </a:lnTo>
                      <a:lnTo>
                        <a:pt x="152" y="68"/>
                      </a:lnTo>
                      <a:lnTo>
                        <a:pt x="147" y="72"/>
                      </a:lnTo>
                      <a:lnTo>
                        <a:pt x="141" y="74"/>
                      </a:lnTo>
                      <a:lnTo>
                        <a:pt x="134" y="74"/>
                      </a:lnTo>
                      <a:lnTo>
                        <a:pt x="130" y="71"/>
                      </a:lnTo>
                      <a:lnTo>
                        <a:pt x="125" y="68"/>
                      </a:lnTo>
                      <a:lnTo>
                        <a:pt x="123" y="66"/>
                      </a:lnTo>
                      <a:lnTo>
                        <a:pt x="121" y="62"/>
                      </a:lnTo>
                      <a:lnTo>
                        <a:pt x="119" y="59"/>
                      </a:lnTo>
                      <a:lnTo>
                        <a:pt x="118" y="51"/>
                      </a:lnTo>
                      <a:lnTo>
                        <a:pt x="117" y="42"/>
                      </a:lnTo>
                      <a:lnTo>
                        <a:pt x="117" y="36"/>
                      </a:lnTo>
                      <a:lnTo>
                        <a:pt x="117" y="31"/>
                      </a:lnTo>
                      <a:lnTo>
                        <a:pt x="117" y="26"/>
                      </a:lnTo>
                      <a:lnTo>
                        <a:pt x="119" y="17"/>
                      </a:lnTo>
                      <a:lnTo>
                        <a:pt x="112" y="15"/>
                      </a:lnTo>
                      <a:lnTo>
                        <a:pt x="92" y="14"/>
                      </a:lnTo>
                      <a:lnTo>
                        <a:pt x="72" y="14"/>
                      </a:lnTo>
                      <a:lnTo>
                        <a:pt x="52" y="15"/>
                      </a:lnTo>
                      <a:lnTo>
                        <a:pt x="34" y="15"/>
                      </a:lnTo>
                      <a:lnTo>
                        <a:pt x="26" y="17"/>
                      </a:lnTo>
                      <a:lnTo>
                        <a:pt x="12" y="18"/>
                      </a:lnTo>
                      <a:lnTo>
                        <a:pt x="4" y="18"/>
                      </a:lnTo>
                      <a:lnTo>
                        <a:pt x="0" y="19"/>
                      </a:lnTo>
                      <a:lnTo>
                        <a:pt x="12" y="12"/>
                      </a:lnTo>
                      <a:lnTo>
                        <a:pt x="24" y="12"/>
                      </a:lnTo>
                    </a:path>
                  </a:pathLst>
                </a:custGeom>
                <a:solidFill>
                  <a:srgbClr val="4C4C4C"/>
                </a:solidFill>
                <a:ln w="12700" cap="rnd" cmpd="sng">
                  <a:solidFill>
                    <a:srgbClr val="8F8F8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92" name="Freeform 160"/>
                <p:cNvSpPr>
                  <a:spLocks/>
                </p:cNvSpPr>
                <p:nvPr/>
              </p:nvSpPr>
              <p:spPr bwMode="auto">
                <a:xfrm>
                  <a:off x="1125" y="3729"/>
                  <a:ext cx="41" cy="63"/>
                </a:xfrm>
                <a:custGeom>
                  <a:avLst/>
                  <a:gdLst/>
                  <a:ahLst/>
                  <a:cxnLst>
                    <a:cxn ang="0">
                      <a:pos x="26" y="0"/>
                    </a:cxn>
                    <a:cxn ang="0">
                      <a:pos x="29" y="1"/>
                    </a:cxn>
                    <a:cxn ang="0">
                      <a:pos x="33" y="3"/>
                    </a:cxn>
                    <a:cxn ang="0">
                      <a:pos x="36" y="6"/>
                    </a:cxn>
                    <a:cxn ang="0">
                      <a:pos x="40" y="8"/>
                    </a:cxn>
                    <a:cxn ang="0">
                      <a:pos x="40" y="14"/>
                    </a:cxn>
                    <a:cxn ang="0">
                      <a:pos x="40" y="22"/>
                    </a:cxn>
                    <a:cxn ang="0">
                      <a:pos x="38" y="29"/>
                    </a:cxn>
                    <a:cxn ang="0">
                      <a:pos x="38" y="33"/>
                    </a:cxn>
                    <a:cxn ang="0">
                      <a:pos x="37" y="39"/>
                    </a:cxn>
                    <a:cxn ang="0">
                      <a:pos x="35" y="44"/>
                    </a:cxn>
                    <a:cxn ang="0">
                      <a:pos x="34" y="49"/>
                    </a:cxn>
                    <a:cxn ang="0">
                      <a:pos x="32" y="53"/>
                    </a:cxn>
                    <a:cxn ang="0">
                      <a:pos x="28" y="57"/>
                    </a:cxn>
                    <a:cxn ang="0">
                      <a:pos x="25" y="61"/>
                    </a:cxn>
                    <a:cxn ang="0">
                      <a:pos x="20" y="62"/>
                    </a:cxn>
                    <a:cxn ang="0">
                      <a:pos x="17" y="62"/>
                    </a:cxn>
                    <a:cxn ang="0">
                      <a:pos x="14" y="62"/>
                    </a:cxn>
                    <a:cxn ang="0">
                      <a:pos x="10" y="61"/>
                    </a:cxn>
                    <a:cxn ang="0">
                      <a:pos x="6" y="60"/>
                    </a:cxn>
                    <a:cxn ang="0">
                      <a:pos x="5" y="57"/>
                    </a:cxn>
                    <a:cxn ang="0">
                      <a:pos x="1" y="55"/>
                    </a:cxn>
                    <a:cxn ang="0">
                      <a:pos x="0" y="50"/>
                    </a:cxn>
                    <a:cxn ang="0">
                      <a:pos x="0" y="46"/>
                    </a:cxn>
                    <a:cxn ang="0">
                      <a:pos x="0" y="43"/>
                    </a:cxn>
                    <a:cxn ang="0">
                      <a:pos x="0" y="39"/>
                    </a:cxn>
                    <a:cxn ang="0">
                      <a:pos x="1" y="32"/>
                    </a:cxn>
                    <a:cxn ang="0">
                      <a:pos x="1" y="25"/>
                    </a:cxn>
                    <a:cxn ang="0">
                      <a:pos x="3" y="17"/>
                    </a:cxn>
                    <a:cxn ang="0">
                      <a:pos x="5" y="12"/>
                    </a:cxn>
                    <a:cxn ang="0">
                      <a:pos x="10" y="8"/>
                    </a:cxn>
                    <a:cxn ang="0">
                      <a:pos x="15" y="5"/>
                    </a:cxn>
                    <a:cxn ang="0">
                      <a:pos x="20" y="1"/>
                    </a:cxn>
                    <a:cxn ang="0">
                      <a:pos x="22" y="0"/>
                    </a:cxn>
                    <a:cxn ang="0">
                      <a:pos x="26" y="0"/>
                    </a:cxn>
                  </a:cxnLst>
                  <a:rect l="0" t="0" r="r" b="b"/>
                  <a:pathLst>
                    <a:path w="41" h="63">
                      <a:moveTo>
                        <a:pt x="26" y="0"/>
                      </a:moveTo>
                      <a:lnTo>
                        <a:pt x="29" y="1"/>
                      </a:lnTo>
                      <a:lnTo>
                        <a:pt x="33" y="3"/>
                      </a:lnTo>
                      <a:lnTo>
                        <a:pt x="36" y="6"/>
                      </a:lnTo>
                      <a:lnTo>
                        <a:pt x="40" y="8"/>
                      </a:lnTo>
                      <a:lnTo>
                        <a:pt x="40" y="14"/>
                      </a:lnTo>
                      <a:lnTo>
                        <a:pt x="40" y="22"/>
                      </a:lnTo>
                      <a:lnTo>
                        <a:pt x="38" y="29"/>
                      </a:lnTo>
                      <a:lnTo>
                        <a:pt x="38" y="33"/>
                      </a:lnTo>
                      <a:lnTo>
                        <a:pt x="37" y="39"/>
                      </a:lnTo>
                      <a:lnTo>
                        <a:pt x="35" y="44"/>
                      </a:lnTo>
                      <a:lnTo>
                        <a:pt x="34" y="49"/>
                      </a:lnTo>
                      <a:lnTo>
                        <a:pt x="32" y="53"/>
                      </a:lnTo>
                      <a:lnTo>
                        <a:pt x="28" y="57"/>
                      </a:lnTo>
                      <a:lnTo>
                        <a:pt x="25" y="61"/>
                      </a:lnTo>
                      <a:lnTo>
                        <a:pt x="20" y="62"/>
                      </a:lnTo>
                      <a:lnTo>
                        <a:pt x="17" y="62"/>
                      </a:lnTo>
                      <a:lnTo>
                        <a:pt x="14" y="62"/>
                      </a:lnTo>
                      <a:lnTo>
                        <a:pt x="10" y="61"/>
                      </a:lnTo>
                      <a:lnTo>
                        <a:pt x="6" y="60"/>
                      </a:lnTo>
                      <a:lnTo>
                        <a:pt x="5" y="57"/>
                      </a:lnTo>
                      <a:lnTo>
                        <a:pt x="1" y="55"/>
                      </a:lnTo>
                      <a:lnTo>
                        <a:pt x="0" y="50"/>
                      </a:lnTo>
                      <a:lnTo>
                        <a:pt x="0" y="46"/>
                      </a:lnTo>
                      <a:lnTo>
                        <a:pt x="0" y="43"/>
                      </a:lnTo>
                      <a:lnTo>
                        <a:pt x="0" y="39"/>
                      </a:lnTo>
                      <a:lnTo>
                        <a:pt x="1" y="32"/>
                      </a:lnTo>
                      <a:lnTo>
                        <a:pt x="1" y="25"/>
                      </a:lnTo>
                      <a:lnTo>
                        <a:pt x="3" y="17"/>
                      </a:lnTo>
                      <a:lnTo>
                        <a:pt x="5" y="12"/>
                      </a:lnTo>
                      <a:lnTo>
                        <a:pt x="10" y="8"/>
                      </a:lnTo>
                      <a:lnTo>
                        <a:pt x="15" y="5"/>
                      </a:lnTo>
                      <a:lnTo>
                        <a:pt x="20" y="1"/>
                      </a:lnTo>
                      <a:lnTo>
                        <a:pt x="22" y="0"/>
                      </a:lnTo>
                      <a:lnTo>
                        <a:pt x="26" y="0"/>
                      </a:lnTo>
                    </a:path>
                  </a:pathLst>
                </a:custGeom>
                <a:solidFill>
                  <a:srgbClr val="8D8D8D"/>
                </a:solidFill>
                <a:ln w="12700" cap="rnd" cmpd="sng">
                  <a:solidFill>
                    <a:srgbClr val="8F8F8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93" name="Freeform 161"/>
                <p:cNvSpPr>
                  <a:spLocks/>
                </p:cNvSpPr>
                <p:nvPr/>
              </p:nvSpPr>
              <p:spPr bwMode="auto">
                <a:xfrm>
                  <a:off x="1175" y="3744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0" y="15"/>
                    </a:cxn>
                    <a:cxn ang="0">
                      <a:pos x="1" y="8"/>
                    </a:cxn>
                    <a:cxn ang="0">
                      <a:pos x="1" y="5"/>
                    </a:cxn>
                    <a:cxn ang="0">
                      <a:pos x="7" y="0"/>
                    </a:cxn>
                    <a:cxn ang="0">
                      <a:pos x="7" y="5"/>
                    </a:cxn>
                    <a:cxn ang="0">
                      <a:pos x="12" y="5"/>
                    </a:cxn>
                    <a:cxn ang="0">
                      <a:pos x="12" y="8"/>
                    </a:cxn>
                    <a:cxn ang="0">
                      <a:pos x="15" y="8"/>
                    </a:cxn>
                    <a:cxn ang="0">
                      <a:pos x="12" y="11"/>
                    </a:cxn>
                    <a:cxn ang="0">
                      <a:pos x="7" y="11"/>
                    </a:cxn>
                    <a:cxn ang="0">
                      <a:pos x="4" y="11"/>
                    </a:cxn>
                    <a:cxn ang="0">
                      <a:pos x="1" y="15"/>
                    </a:cxn>
                    <a:cxn ang="0">
                      <a:pos x="0" y="15"/>
                    </a:cxn>
                  </a:cxnLst>
                  <a:rect l="0" t="0" r="r" b="b"/>
                  <a:pathLst>
                    <a:path w="16" h="16">
                      <a:moveTo>
                        <a:pt x="0" y="15"/>
                      </a:moveTo>
                      <a:lnTo>
                        <a:pt x="1" y="8"/>
                      </a:lnTo>
                      <a:lnTo>
                        <a:pt x="1" y="5"/>
                      </a:lnTo>
                      <a:lnTo>
                        <a:pt x="7" y="0"/>
                      </a:lnTo>
                      <a:lnTo>
                        <a:pt x="7" y="5"/>
                      </a:lnTo>
                      <a:lnTo>
                        <a:pt x="12" y="5"/>
                      </a:lnTo>
                      <a:lnTo>
                        <a:pt x="12" y="8"/>
                      </a:lnTo>
                      <a:lnTo>
                        <a:pt x="15" y="8"/>
                      </a:lnTo>
                      <a:lnTo>
                        <a:pt x="12" y="11"/>
                      </a:lnTo>
                      <a:lnTo>
                        <a:pt x="7" y="11"/>
                      </a:lnTo>
                      <a:lnTo>
                        <a:pt x="4" y="11"/>
                      </a:lnTo>
                      <a:lnTo>
                        <a:pt x="1" y="15"/>
                      </a:lnTo>
                      <a:lnTo>
                        <a:pt x="0" y="15"/>
                      </a:lnTo>
                    </a:path>
                  </a:pathLst>
                </a:custGeom>
                <a:solidFill>
                  <a:srgbClr val="4F4F4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94" name="Freeform 162"/>
                <p:cNvSpPr>
                  <a:spLocks/>
                </p:cNvSpPr>
                <p:nvPr/>
              </p:nvSpPr>
              <p:spPr bwMode="auto">
                <a:xfrm>
                  <a:off x="1185" y="3749"/>
                  <a:ext cx="16" cy="31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23"/>
                    </a:cxn>
                    <a:cxn ang="0">
                      <a:pos x="8" y="30"/>
                    </a:cxn>
                    <a:cxn ang="0">
                      <a:pos x="12" y="20"/>
                    </a:cxn>
                    <a:cxn ang="0">
                      <a:pos x="15" y="10"/>
                    </a:cxn>
                    <a:cxn ang="0">
                      <a:pos x="13" y="7"/>
                    </a:cxn>
                    <a:cxn ang="0">
                      <a:pos x="13" y="4"/>
                    </a:cxn>
                    <a:cxn ang="0">
                      <a:pos x="12" y="2"/>
                    </a:cxn>
                    <a:cxn ang="0">
                      <a:pos x="9" y="0"/>
                    </a:cxn>
                    <a:cxn ang="0">
                      <a:pos x="4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6" h="31">
                      <a:moveTo>
                        <a:pt x="0" y="1"/>
                      </a:moveTo>
                      <a:lnTo>
                        <a:pt x="0" y="23"/>
                      </a:lnTo>
                      <a:lnTo>
                        <a:pt x="8" y="30"/>
                      </a:lnTo>
                      <a:lnTo>
                        <a:pt x="12" y="20"/>
                      </a:lnTo>
                      <a:lnTo>
                        <a:pt x="15" y="10"/>
                      </a:lnTo>
                      <a:lnTo>
                        <a:pt x="13" y="7"/>
                      </a:lnTo>
                      <a:lnTo>
                        <a:pt x="13" y="4"/>
                      </a:lnTo>
                      <a:lnTo>
                        <a:pt x="12" y="2"/>
                      </a:lnTo>
                      <a:lnTo>
                        <a:pt x="9" y="0"/>
                      </a:lnTo>
                      <a:lnTo>
                        <a:pt x="4" y="0"/>
                      </a:lnTo>
                      <a:lnTo>
                        <a:pt x="0" y="1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95" name="Freeform 163"/>
                <p:cNvSpPr>
                  <a:spLocks/>
                </p:cNvSpPr>
                <p:nvPr/>
              </p:nvSpPr>
              <p:spPr bwMode="auto">
                <a:xfrm>
                  <a:off x="1125" y="3738"/>
                  <a:ext cx="35" cy="30"/>
                </a:xfrm>
                <a:custGeom>
                  <a:avLst/>
                  <a:gdLst/>
                  <a:ahLst/>
                  <a:cxnLst>
                    <a:cxn ang="0">
                      <a:pos x="16" y="0"/>
                    </a:cxn>
                    <a:cxn ang="0">
                      <a:pos x="22" y="3"/>
                    </a:cxn>
                    <a:cxn ang="0">
                      <a:pos x="28" y="6"/>
                    </a:cxn>
                    <a:cxn ang="0">
                      <a:pos x="34" y="9"/>
                    </a:cxn>
                    <a:cxn ang="0">
                      <a:pos x="26" y="13"/>
                    </a:cxn>
                    <a:cxn ang="0">
                      <a:pos x="26" y="16"/>
                    </a:cxn>
                    <a:cxn ang="0">
                      <a:pos x="28" y="18"/>
                    </a:cxn>
                    <a:cxn ang="0">
                      <a:pos x="19" y="15"/>
                    </a:cxn>
                    <a:cxn ang="0">
                      <a:pos x="19" y="25"/>
                    </a:cxn>
                    <a:cxn ang="0">
                      <a:pos x="19" y="28"/>
                    </a:cxn>
                    <a:cxn ang="0">
                      <a:pos x="16" y="29"/>
                    </a:cxn>
                    <a:cxn ang="0">
                      <a:pos x="7" y="24"/>
                    </a:cxn>
                    <a:cxn ang="0">
                      <a:pos x="1" y="22"/>
                    </a:cxn>
                    <a:cxn ang="0">
                      <a:pos x="0" y="17"/>
                    </a:cxn>
                    <a:cxn ang="0">
                      <a:pos x="2" y="5"/>
                    </a:cxn>
                    <a:cxn ang="0">
                      <a:pos x="10" y="0"/>
                    </a:cxn>
                    <a:cxn ang="0">
                      <a:pos x="16" y="0"/>
                    </a:cxn>
                  </a:cxnLst>
                  <a:rect l="0" t="0" r="r" b="b"/>
                  <a:pathLst>
                    <a:path w="35" h="30">
                      <a:moveTo>
                        <a:pt x="16" y="0"/>
                      </a:moveTo>
                      <a:lnTo>
                        <a:pt x="22" y="3"/>
                      </a:lnTo>
                      <a:lnTo>
                        <a:pt x="28" y="6"/>
                      </a:lnTo>
                      <a:lnTo>
                        <a:pt x="34" y="9"/>
                      </a:lnTo>
                      <a:lnTo>
                        <a:pt x="26" y="13"/>
                      </a:lnTo>
                      <a:lnTo>
                        <a:pt x="26" y="16"/>
                      </a:lnTo>
                      <a:lnTo>
                        <a:pt x="28" y="18"/>
                      </a:lnTo>
                      <a:lnTo>
                        <a:pt x="19" y="15"/>
                      </a:lnTo>
                      <a:lnTo>
                        <a:pt x="19" y="25"/>
                      </a:lnTo>
                      <a:lnTo>
                        <a:pt x="19" y="28"/>
                      </a:lnTo>
                      <a:lnTo>
                        <a:pt x="16" y="29"/>
                      </a:lnTo>
                      <a:lnTo>
                        <a:pt x="7" y="24"/>
                      </a:lnTo>
                      <a:lnTo>
                        <a:pt x="1" y="22"/>
                      </a:lnTo>
                      <a:lnTo>
                        <a:pt x="0" y="17"/>
                      </a:lnTo>
                      <a:lnTo>
                        <a:pt x="2" y="5"/>
                      </a:lnTo>
                      <a:lnTo>
                        <a:pt x="1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96" name="Oval 164"/>
                <p:cNvSpPr>
                  <a:spLocks noChangeArrowheads="1"/>
                </p:cNvSpPr>
                <p:nvPr/>
              </p:nvSpPr>
              <p:spPr bwMode="auto">
                <a:xfrm>
                  <a:off x="1131" y="3747"/>
                  <a:ext cx="16" cy="16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797" name="Freeform 165"/>
                <p:cNvSpPr>
                  <a:spLocks/>
                </p:cNvSpPr>
                <p:nvPr/>
              </p:nvSpPr>
              <p:spPr bwMode="auto">
                <a:xfrm>
                  <a:off x="1175" y="3750"/>
                  <a:ext cx="16" cy="23"/>
                </a:xfrm>
                <a:custGeom>
                  <a:avLst/>
                  <a:gdLst/>
                  <a:ahLst/>
                  <a:cxnLst>
                    <a:cxn ang="0">
                      <a:pos x="13" y="0"/>
                    </a:cxn>
                    <a:cxn ang="0">
                      <a:pos x="6" y="1"/>
                    </a:cxn>
                    <a:cxn ang="0">
                      <a:pos x="0" y="4"/>
                    </a:cxn>
                    <a:cxn ang="0">
                      <a:pos x="0" y="10"/>
                    </a:cxn>
                    <a:cxn ang="0">
                      <a:pos x="15" y="22"/>
                    </a:cxn>
                    <a:cxn ang="0">
                      <a:pos x="13" y="0"/>
                    </a:cxn>
                  </a:cxnLst>
                  <a:rect l="0" t="0" r="r" b="b"/>
                  <a:pathLst>
                    <a:path w="16" h="23">
                      <a:moveTo>
                        <a:pt x="13" y="0"/>
                      </a:moveTo>
                      <a:lnTo>
                        <a:pt x="6" y="1"/>
                      </a:lnTo>
                      <a:lnTo>
                        <a:pt x="0" y="4"/>
                      </a:lnTo>
                      <a:lnTo>
                        <a:pt x="0" y="10"/>
                      </a:lnTo>
                      <a:lnTo>
                        <a:pt x="15" y="22"/>
                      </a:lnTo>
                      <a:lnTo>
                        <a:pt x="13" y="0"/>
                      </a:lnTo>
                    </a:path>
                  </a:pathLst>
                </a:custGeom>
                <a:solidFill>
                  <a:srgbClr val="8D8D8D"/>
                </a:solidFill>
                <a:ln w="12700" cap="rnd" cmpd="sng">
                  <a:solidFill>
                    <a:srgbClr val="8F8F8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98" name="Freeform 166"/>
                <p:cNvSpPr>
                  <a:spLocks/>
                </p:cNvSpPr>
                <p:nvPr/>
              </p:nvSpPr>
              <p:spPr bwMode="auto">
                <a:xfrm>
                  <a:off x="1173" y="3756"/>
                  <a:ext cx="17" cy="16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7" y="0"/>
                    </a:cxn>
                    <a:cxn ang="0">
                      <a:pos x="16" y="1"/>
                    </a:cxn>
                    <a:cxn ang="0">
                      <a:pos x="11" y="5"/>
                    </a:cxn>
                    <a:cxn ang="0">
                      <a:pos x="11" y="7"/>
                    </a:cxn>
                    <a:cxn ang="0">
                      <a:pos x="8" y="15"/>
                    </a:cxn>
                    <a:cxn ang="0">
                      <a:pos x="4" y="7"/>
                    </a:cxn>
                    <a:cxn ang="0">
                      <a:pos x="0" y="2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7" h="16">
                      <a:moveTo>
                        <a:pt x="1" y="0"/>
                      </a:moveTo>
                      <a:lnTo>
                        <a:pt x="7" y="0"/>
                      </a:lnTo>
                      <a:lnTo>
                        <a:pt x="16" y="1"/>
                      </a:lnTo>
                      <a:lnTo>
                        <a:pt x="11" y="5"/>
                      </a:lnTo>
                      <a:lnTo>
                        <a:pt x="11" y="7"/>
                      </a:lnTo>
                      <a:lnTo>
                        <a:pt x="8" y="15"/>
                      </a:lnTo>
                      <a:lnTo>
                        <a:pt x="4" y="7"/>
                      </a:lnTo>
                      <a:lnTo>
                        <a:pt x="0" y="2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799" name="Oval 167"/>
                <p:cNvSpPr>
                  <a:spLocks noChangeArrowheads="1"/>
                </p:cNvSpPr>
                <p:nvPr/>
              </p:nvSpPr>
              <p:spPr bwMode="auto">
                <a:xfrm>
                  <a:off x="1180" y="3758"/>
                  <a:ext cx="16" cy="16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800" name="Freeform 168"/>
                <p:cNvSpPr>
                  <a:spLocks/>
                </p:cNvSpPr>
                <p:nvPr/>
              </p:nvSpPr>
              <p:spPr bwMode="auto">
                <a:xfrm>
                  <a:off x="1129" y="3833"/>
                  <a:ext cx="43" cy="1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3" y="1"/>
                    </a:cxn>
                    <a:cxn ang="0">
                      <a:pos x="4" y="4"/>
                    </a:cxn>
                    <a:cxn ang="0">
                      <a:pos x="5" y="4"/>
                    </a:cxn>
                    <a:cxn ang="0">
                      <a:pos x="6" y="4"/>
                    </a:cxn>
                    <a:cxn ang="0">
                      <a:pos x="9" y="4"/>
                    </a:cxn>
                    <a:cxn ang="0">
                      <a:pos x="10" y="6"/>
                    </a:cxn>
                    <a:cxn ang="0">
                      <a:pos x="12" y="6"/>
                    </a:cxn>
                    <a:cxn ang="0">
                      <a:pos x="13" y="6"/>
                    </a:cxn>
                    <a:cxn ang="0">
                      <a:pos x="16" y="6"/>
                    </a:cxn>
                    <a:cxn ang="0">
                      <a:pos x="18" y="9"/>
                    </a:cxn>
                    <a:cxn ang="0">
                      <a:pos x="20" y="9"/>
                    </a:cxn>
                    <a:cxn ang="0">
                      <a:pos x="21" y="9"/>
                    </a:cxn>
                    <a:cxn ang="0">
                      <a:pos x="22" y="9"/>
                    </a:cxn>
                    <a:cxn ang="0">
                      <a:pos x="22" y="10"/>
                    </a:cxn>
                    <a:cxn ang="0">
                      <a:pos x="23" y="10"/>
                    </a:cxn>
                    <a:cxn ang="0">
                      <a:pos x="25" y="10"/>
                    </a:cxn>
                    <a:cxn ang="0">
                      <a:pos x="26" y="10"/>
                    </a:cxn>
                    <a:cxn ang="0">
                      <a:pos x="28" y="10"/>
                    </a:cxn>
                    <a:cxn ang="0">
                      <a:pos x="28" y="12"/>
                    </a:cxn>
                    <a:cxn ang="0">
                      <a:pos x="30" y="12"/>
                    </a:cxn>
                    <a:cxn ang="0">
                      <a:pos x="32" y="12"/>
                    </a:cxn>
                    <a:cxn ang="0">
                      <a:pos x="33" y="12"/>
                    </a:cxn>
                    <a:cxn ang="0">
                      <a:pos x="35" y="12"/>
                    </a:cxn>
                    <a:cxn ang="0">
                      <a:pos x="35" y="15"/>
                    </a:cxn>
                    <a:cxn ang="0">
                      <a:pos x="36" y="15"/>
                    </a:cxn>
                    <a:cxn ang="0">
                      <a:pos x="37" y="15"/>
                    </a:cxn>
                    <a:cxn ang="0">
                      <a:pos x="38" y="15"/>
                    </a:cxn>
                    <a:cxn ang="0">
                      <a:pos x="40" y="15"/>
                    </a:cxn>
                    <a:cxn ang="0">
                      <a:pos x="42" y="15"/>
                    </a:cxn>
                  </a:cxnLst>
                  <a:rect l="0" t="0" r="r" b="b"/>
                  <a:pathLst>
                    <a:path w="43" h="16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lnTo>
                        <a:pt x="3" y="1"/>
                      </a:lnTo>
                      <a:lnTo>
                        <a:pt x="4" y="4"/>
                      </a:lnTo>
                      <a:lnTo>
                        <a:pt x="5" y="4"/>
                      </a:lnTo>
                      <a:lnTo>
                        <a:pt x="6" y="4"/>
                      </a:lnTo>
                      <a:lnTo>
                        <a:pt x="9" y="4"/>
                      </a:lnTo>
                      <a:lnTo>
                        <a:pt x="10" y="6"/>
                      </a:lnTo>
                      <a:lnTo>
                        <a:pt x="12" y="6"/>
                      </a:lnTo>
                      <a:lnTo>
                        <a:pt x="13" y="6"/>
                      </a:lnTo>
                      <a:lnTo>
                        <a:pt x="16" y="6"/>
                      </a:lnTo>
                      <a:lnTo>
                        <a:pt x="18" y="9"/>
                      </a:lnTo>
                      <a:lnTo>
                        <a:pt x="20" y="9"/>
                      </a:lnTo>
                      <a:lnTo>
                        <a:pt x="21" y="9"/>
                      </a:lnTo>
                      <a:lnTo>
                        <a:pt x="22" y="9"/>
                      </a:lnTo>
                      <a:lnTo>
                        <a:pt x="22" y="10"/>
                      </a:lnTo>
                      <a:lnTo>
                        <a:pt x="23" y="10"/>
                      </a:lnTo>
                      <a:lnTo>
                        <a:pt x="25" y="10"/>
                      </a:lnTo>
                      <a:lnTo>
                        <a:pt x="26" y="10"/>
                      </a:lnTo>
                      <a:lnTo>
                        <a:pt x="28" y="10"/>
                      </a:lnTo>
                      <a:lnTo>
                        <a:pt x="28" y="12"/>
                      </a:lnTo>
                      <a:lnTo>
                        <a:pt x="30" y="12"/>
                      </a:lnTo>
                      <a:lnTo>
                        <a:pt x="32" y="12"/>
                      </a:lnTo>
                      <a:lnTo>
                        <a:pt x="33" y="12"/>
                      </a:lnTo>
                      <a:lnTo>
                        <a:pt x="35" y="12"/>
                      </a:lnTo>
                      <a:lnTo>
                        <a:pt x="35" y="15"/>
                      </a:lnTo>
                      <a:lnTo>
                        <a:pt x="36" y="15"/>
                      </a:lnTo>
                      <a:lnTo>
                        <a:pt x="37" y="15"/>
                      </a:lnTo>
                      <a:lnTo>
                        <a:pt x="38" y="15"/>
                      </a:lnTo>
                      <a:lnTo>
                        <a:pt x="40" y="15"/>
                      </a:lnTo>
                      <a:lnTo>
                        <a:pt x="42" y="15"/>
                      </a:lnTo>
                    </a:path>
                  </a:pathLst>
                </a:custGeom>
                <a:noFill/>
                <a:ln w="12700" cap="rnd" cmpd="sng">
                  <a:solidFill>
                    <a:srgbClr val="40404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01" name="Freeform 169"/>
                <p:cNvSpPr>
                  <a:spLocks/>
                </p:cNvSpPr>
                <p:nvPr/>
              </p:nvSpPr>
              <p:spPr bwMode="auto">
                <a:xfrm>
                  <a:off x="1145" y="3843"/>
                  <a:ext cx="19" cy="16"/>
                </a:xfrm>
                <a:custGeom>
                  <a:avLst/>
                  <a:gdLst/>
                  <a:ahLst/>
                  <a:cxnLst>
                    <a:cxn ang="0">
                      <a:pos x="18" y="10"/>
                    </a:cxn>
                    <a:cxn ang="0">
                      <a:pos x="17" y="11"/>
                    </a:cxn>
                    <a:cxn ang="0">
                      <a:pos x="17" y="13"/>
                    </a:cxn>
                    <a:cxn ang="0">
                      <a:pos x="16" y="15"/>
                    </a:cxn>
                    <a:cxn ang="0">
                      <a:pos x="15" y="15"/>
                    </a:cxn>
                    <a:cxn ang="0">
                      <a:pos x="15" y="13"/>
                    </a:cxn>
                    <a:cxn ang="0">
                      <a:pos x="14" y="13"/>
                    </a:cxn>
                    <a:cxn ang="0">
                      <a:pos x="14" y="11"/>
                    </a:cxn>
                    <a:cxn ang="0">
                      <a:pos x="14" y="9"/>
                    </a:cxn>
                    <a:cxn ang="0">
                      <a:pos x="13" y="9"/>
                    </a:cxn>
                    <a:cxn ang="0">
                      <a:pos x="12" y="9"/>
                    </a:cxn>
                    <a:cxn ang="0">
                      <a:pos x="10" y="9"/>
                    </a:cxn>
                    <a:cxn ang="0">
                      <a:pos x="10" y="7"/>
                    </a:cxn>
                    <a:cxn ang="0">
                      <a:pos x="9" y="7"/>
                    </a:cxn>
                    <a:cxn ang="0">
                      <a:pos x="7" y="5"/>
                    </a:cxn>
                    <a:cxn ang="0">
                      <a:pos x="5" y="5"/>
                    </a:cxn>
                    <a:cxn ang="0">
                      <a:pos x="5" y="3"/>
                    </a:cxn>
                    <a:cxn ang="0">
                      <a:pos x="4" y="3"/>
                    </a:cxn>
                    <a:cxn ang="0">
                      <a:pos x="3" y="2"/>
                    </a:cxn>
                    <a:cxn ang="0">
                      <a:pos x="1" y="2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3" y="2"/>
                    </a:cxn>
                    <a:cxn ang="0">
                      <a:pos x="4" y="2"/>
                    </a:cxn>
                    <a:cxn ang="0">
                      <a:pos x="6" y="3"/>
                    </a:cxn>
                    <a:cxn ang="0">
                      <a:pos x="8" y="3"/>
                    </a:cxn>
                    <a:cxn ang="0">
                      <a:pos x="9" y="5"/>
                    </a:cxn>
                    <a:cxn ang="0">
                      <a:pos x="10" y="5"/>
                    </a:cxn>
                    <a:cxn ang="0">
                      <a:pos x="12" y="7"/>
                    </a:cxn>
                    <a:cxn ang="0">
                      <a:pos x="14" y="7"/>
                    </a:cxn>
                    <a:cxn ang="0">
                      <a:pos x="14" y="9"/>
                    </a:cxn>
                    <a:cxn ang="0">
                      <a:pos x="15" y="9"/>
                    </a:cxn>
                    <a:cxn ang="0">
                      <a:pos x="16" y="9"/>
                    </a:cxn>
                    <a:cxn ang="0">
                      <a:pos x="16" y="10"/>
                    </a:cxn>
                    <a:cxn ang="0">
                      <a:pos x="17" y="10"/>
                    </a:cxn>
                    <a:cxn ang="0">
                      <a:pos x="18" y="10"/>
                    </a:cxn>
                  </a:cxnLst>
                  <a:rect l="0" t="0" r="r" b="b"/>
                  <a:pathLst>
                    <a:path w="19" h="16">
                      <a:moveTo>
                        <a:pt x="18" y="10"/>
                      </a:moveTo>
                      <a:lnTo>
                        <a:pt x="17" y="11"/>
                      </a:lnTo>
                      <a:lnTo>
                        <a:pt x="17" y="13"/>
                      </a:lnTo>
                      <a:lnTo>
                        <a:pt x="16" y="15"/>
                      </a:lnTo>
                      <a:lnTo>
                        <a:pt x="15" y="15"/>
                      </a:lnTo>
                      <a:lnTo>
                        <a:pt x="15" y="13"/>
                      </a:lnTo>
                      <a:lnTo>
                        <a:pt x="14" y="13"/>
                      </a:lnTo>
                      <a:lnTo>
                        <a:pt x="14" y="11"/>
                      </a:lnTo>
                      <a:lnTo>
                        <a:pt x="14" y="9"/>
                      </a:lnTo>
                      <a:lnTo>
                        <a:pt x="13" y="9"/>
                      </a:lnTo>
                      <a:lnTo>
                        <a:pt x="12" y="9"/>
                      </a:lnTo>
                      <a:lnTo>
                        <a:pt x="10" y="9"/>
                      </a:lnTo>
                      <a:lnTo>
                        <a:pt x="10" y="7"/>
                      </a:lnTo>
                      <a:lnTo>
                        <a:pt x="9" y="7"/>
                      </a:lnTo>
                      <a:lnTo>
                        <a:pt x="7" y="5"/>
                      </a:lnTo>
                      <a:lnTo>
                        <a:pt x="5" y="5"/>
                      </a:lnTo>
                      <a:lnTo>
                        <a:pt x="5" y="3"/>
                      </a:lnTo>
                      <a:lnTo>
                        <a:pt x="4" y="3"/>
                      </a:lnTo>
                      <a:lnTo>
                        <a:pt x="3" y="2"/>
                      </a:lnTo>
                      <a:lnTo>
                        <a:pt x="1" y="2"/>
                      </a:lnTo>
                      <a:lnTo>
                        <a:pt x="1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3" y="2"/>
                      </a:lnTo>
                      <a:lnTo>
                        <a:pt x="4" y="2"/>
                      </a:lnTo>
                      <a:lnTo>
                        <a:pt x="6" y="3"/>
                      </a:lnTo>
                      <a:lnTo>
                        <a:pt x="8" y="3"/>
                      </a:lnTo>
                      <a:lnTo>
                        <a:pt x="9" y="5"/>
                      </a:lnTo>
                      <a:lnTo>
                        <a:pt x="10" y="5"/>
                      </a:lnTo>
                      <a:lnTo>
                        <a:pt x="12" y="7"/>
                      </a:lnTo>
                      <a:lnTo>
                        <a:pt x="14" y="7"/>
                      </a:lnTo>
                      <a:lnTo>
                        <a:pt x="14" y="9"/>
                      </a:lnTo>
                      <a:lnTo>
                        <a:pt x="15" y="9"/>
                      </a:lnTo>
                      <a:lnTo>
                        <a:pt x="16" y="9"/>
                      </a:lnTo>
                      <a:lnTo>
                        <a:pt x="16" y="10"/>
                      </a:lnTo>
                      <a:lnTo>
                        <a:pt x="17" y="10"/>
                      </a:lnTo>
                      <a:lnTo>
                        <a:pt x="18" y="10"/>
                      </a:lnTo>
                    </a:path>
                  </a:pathLst>
                </a:custGeom>
                <a:solidFill>
                  <a:srgbClr val="646464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9802" name="Group 170"/>
              <p:cNvGrpSpPr>
                <a:grpSpLocks/>
              </p:cNvGrpSpPr>
              <p:nvPr/>
            </p:nvGrpSpPr>
            <p:grpSpPr bwMode="auto">
              <a:xfrm>
                <a:off x="2899" y="3543"/>
                <a:ext cx="600" cy="690"/>
                <a:chOff x="2899" y="3543"/>
                <a:chExt cx="600" cy="690"/>
              </a:xfrm>
            </p:grpSpPr>
            <p:sp>
              <p:nvSpPr>
                <p:cNvPr id="69803" name="Freeform 171"/>
                <p:cNvSpPr>
                  <a:spLocks/>
                </p:cNvSpPr>
                <p:nvPr/>
              </p:nvSpPr>
              <p:spPr bwMode="auto">
                <a:xfrm>
                  <a:off x="3307" y="3863"/>
                  <a:ext cx="192" cy="177"/>
                </a:xfrm>
                <a:custGeom>
                  <a:avLst/>
                  <a:gdLst/>
                  <a:ahLst/>
                  <a:cxnLst>
                    <a:cxn ang="0">
                      <a:pos x="30" y="176"/>
                    </a:cxn>
                    <a:cxn ang="0">
                      <a:pos x="62" y="144"/>
                    </a:cxn>
                    <a:cxn ang="0">
                      <a:pos x="84" y="134"/>
                    </a:cxn>
                    <a:cxn ang="0">
                      <a:pos x="120" y="123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69" y="68"/>
                    </a:cxn>
                    <a:cxn ang="0">
                      <a:pos x="169" y="56"/>
                    </a:cxn>
                    <a:cxn ang="0">
                      <a:pos x="152" y="36"/>
                    </a:cxn>
                    <a:cxn ang="0">
                      <a:pos x="164" y="29"/>
                    </a:cxn>
                    <a:cxn ang="0">
                      <a:pos x="188" y="13"/>
                    </a:cxn>
                    <a:cxn ang="0">
                      <a:pos x="191" y="5"/>
                    </a:cxn>
                    <a:cxn ang="0">
                      <a:pos x="185" y="0"/>
                    </a:cxn>
                    <a:cxn ang="0">
                      <a:pos x="168" y="11"/>
                    </a:cxn>
                    <a:cxn ang="0">
                      <a:pos x="142" y="24"/>
                    </a:cxn>
                    <a:cxn ang="0">
                      <a:pos x="112" y="35"/>
                    </a:cxn>
                    <a:cxn ang="0">
                      <a:pos x="86" y="61"/>
                    </a:cxn>
                    <a:cxn ang="0">
                      <a:pos x="62" y="80"/>
                    </a:cxn>
                    <a:cxn ang="0">
                      <a:pos x="35" y="100"/>
                    </a:cxn>
                    <a:cxn ang="0">
                      <a:pos x="0" y="116"/>
                    </a:cxn>
                    <a:cxn ang="0">
                      <a:pos x="30" y="176"/>
                    </a:cxn>
                  </a:cxnLst>
                  <a:rect l="0" t="0" r="r" b="b"/>
                  <a:pathLst>
                    <a:path w="192" h="177">
                      <a:moveTo>
                        <a:pt x="30" y="176"/>
                      </a:moveTo>
                      <a:lnTo>
                        <a:pt x="62" y="144"/>
                      </a:lnTo>
                      <a:lnTo>
                        <a:pt x="84" y="134"/>
                      </a:lnTo>
                      <a:lnTo>
                        <a:pt x="120" y="123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69" y="68"/>
                      </a:lnTo>
                      <a:lnTo>
                        <a:pt x="169" y="56"/>
                      </a:lnTo>
                      <a:lnTo>
                        <a:pt x="152" y="36"/>
                      </a:lnTo>
                      <a:lnTo>
                        <a:pt x="164" y="29"/>
                      </a:lnTo>
                      <a:lnTo>
                        <a:pt x="188" y="13"/>
                      </a:lnTo>
                      <a:lnTo>
                        <a:pt x="191" y="5"/>
                      </a:lnTo>
                      <a:lnTo>
                        <a:pt x="185" y="0"/>
                      </a:lnTo>
                      <a:lnTo>
                        <a:pt x="168" y="11"/>
                      </a:lnTo>
                      <a:lnTo>
                        <a:pt x="142" y="24"/>
                      </a:lnTo>
                      <a:lnTo>
                        <a:pt x="112" y="35"/>
                      </a:lnTo>
                      <a:lnTo>
                        <a:pt x="86" y="61"/>
                      </a:lnTo>
                      <a:lnTo>
                        <a:pt x="62" y="80"/>
                      </a:lnTo>
                      <a:lnTo>
                        <a:pt x="35" y="100"/>
                      </a:lnTo>
                      <a:lnTo>
                        <a:pt x="0" y="116"/>
                      </a:lnTo>
                      <a:lnTo>
                        <a:pt x="30" y="176"/>
                      </a:lnTo>
                    </a:path>
                  </a:pathLst>
                </a:custGeom>
                <a:solidFill>
                  <a:srgbClr val="353535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04" name="Freeform 172"/>
                <p:cNvSpPr>
                  <a:spLocks/>
                </p:cNvSpPr>
                <p:nvPr/>
              </p:nvSpPr>
              <p:spPr bwMode="auto">
                <a:xfrm>
                  <a:off x="3319" y="3867"/>
                  <a:ext cx="169" cy="153"/>
                </a:xfrm>
                <a:custGeom>
                  <a:avLst/>
                  <a:gdLst/>
                  <a:ahLst/>
                  <a:cxnLst>
                    <a:cxn ang="0">
                      <a:pos x="85" y="38"/>
                    </a:cxn>
                    <a:cxn ang="0">
                      <a:pos x="68" y="57"/>
                    </a:cxn>
                    <a:cxn ang="0">
                      <a:pos x="36" y="81"/>
                    </a:cxn>
                    <a:cxn ang="0">
                      <a:pos x="0" y="109"/>
                    </a:cxn>
                    <a:cxn ang="0">
                      <a:pos x="22" y="152"/>
                    </a:cxn>
                    <a:cxn ang="0">
                      <a:pos x="68" y="125"/>
                    </a:cxn>
                    <a:cxn ang="0">
                      <a:pos x="64" y="118"/>
                    </a:cxn>
                    <a:cxn ang="0">
                      <a:pos x="62" y="111"/>
                    </a:cxn>
                    <a:cxn ang="0">
                      <a:pos x="72" y="107"/>
                    </a:cxn>
                    <a:cxn ang="0">
                      <a:pos x="81" y="111"/>
                    </a:cxn>
                    <a:cxn ang="0">
                      <a:pos x="90" y="115"/>
                    </a:cxn>
                    <a:cxn ang="0">
                      <a:pos x="101" y="111"/>
                    </a:cxn>
                    <a:cxn ang="0">
                      <a:pos x="120" y="96"/>
                    </a:cxn>
                    <a:cxn ang="0">
                      <a:pos x="131" y="96"/>
                    </a:cxn>
                    <a:cxn ang="0">
                      <a:pos x="138" y="88"/>
                    </a:cxn>
                    <a:cxn ang="0">
                      <a:pos x="134" y="80"/>
                    </a:cxn>
                    <a:cxn ang="0">
                      <a:pos x="141" y="69"/>
                    </a:cxn>
                    <a:cxn ang="0">
                      <a:pos x="136" y="61"/>
                    </a:cxn>
                    <a:cxn ang="0">
                      <a:pos x="136" y="55"/>
                    </a:cxn>
                    <a:cxn ang="0">
                      <a:pos x="141" y="52"/>
                    </a:cxn>
                    <a:cxn ang="0">
                      <a:pos x="128" y="41"/>
                    </a:cxn>
                    <a:cxn ang="0">
                      <a:pos x="124" y="35"/>
                    </a:cxn>
                    <a:cxn ang="0">
                      <a:pos x="168" y="5"/>
                    </a:cxn>
                    <a:cxn ang="0">
                      <a:pos x="165" y="0"/>
                    </a:cxn>
                    <a:cxn ang="0">
                      <a:pos x="157" y="4"/>
                    </a:cxn>
                    <a:cxn ang="0">
                      <a:pos x="141" y="12"/>
                    </a:cxn>
                    <a:cxn ang="0">
                      <a:pos x="128" y="17"/>
                    </a:cxn>
                    <a:cxn ang="0">
                      <a:pos x="114" y="26"/>
                    </a:cxn>
                    <a:cxn ang="0">
                      <a:pos x="99" y="31"/>
                    </a:cxn>
                    <a:cxn ang="0">
                      <a:pos x="85" y="38"/>
                    </a:cxn>
                  </a:cxnLst>
                  <a:rect l="0" t="0" r="r" b="b"/>
                  <a:pathLst>
                    <a:path w="169" h="153">
                      <a:moveTo>
                        <a:pt x="85" y="38"/>
                      </a:moveTo>
                      <a:lnTo>
                        <a:pt x="68" y="57"/>
                      </a:lnTo>
                      <a:lnTo>
                        <a:pt x="36" y="81"/>
                      </a:lnTo>
                      <a:lnTo>
                        <a:pt x="0" y="109"/>
                      </a:lnTo>
                      <a:lnTo>
                        <a:pt x="22" y="152"/>
                      </a:lnTo>
                      <a:lnTo>
                        <a:pt x="68" y="125"/>
                      </a:lnTo>
                      <a:lnTo>
                        <a:pt x="64" y="118"/>
                      </a:lnTo>
                      <a:lnTo>
                        <a:pt x="62" y="111"/>
                      </a:lnTo>
                      <a:lnTo>
                        <a:pt x="72" y="107"/>
                      </a:lnTo>
                      <a:lnTo>
                        <a:pt x="81" y="111"/>
                      </a:lnTo>
                      <a:lnTo>
                        <a:pt x="90" y="115"/>
                      </a:lnTo>
                      <a:lnTo>
                        <a:pt x="101" y="111"/>
                      </a:lnTo>
                      <a:lnTo>
                        <a:pt x="120" y="96"/>
                      </a:lnTo>
                      <a:lnTo>
                        <a:pt x="131" y="96"/>
                      </a:lnTo>
                      <a:lnTo>
                        <a:pt x="138" y="88"/>
                      </a:lnTo>
                      <a:lnTo>
                        <a:pt x="134" y="80"/>
                      </a:lnTo>
                      <a:lnTo>
                        <a:pt x="141" y="69"/>
                      </a:lnTo>
                      <a:lnTo>
                        <a:pt x="136" y="61"/>
                      </a:lnTo>
                      <a:lnTo>
                        <a:pt x="136" y="55"/>
                      </a:lnTo>
                      <a:lnTo>
                        <a:pt x="141" y="52"/>
                      </a:lnTo>
                      <a:lnTo>
                        <a:pt x="128" y="41"/>
                      </a:lnTo>
                      <a:lnTo>
                        <a:pt x="124" y="35"/>
                      </a:lnTo>
                      <a:lnTo>
                        <a:pt x="168" y="5"/>
                      </a:lnTo>
                      <a:lnTo>
                        <a:pt x="165" y="0"/>
                      </a:lnTo>
                      <a:lnTo>
                        <a:pt x="157" y="4"/>
                      </a:lnTo>
                      <a:lnTo>
                        <a:pt x="141" y="12"/>
                      </a:lnTo>
                      <a:lnTo>
                        <a:pt x="128" y="17"/>
                      </a:lnTo>
                      <a:lnTo>
                        <a:pt x="114" y="26"/>
                      </a:lnTo>
                      <a:lnTo>
                        <a:pt x="99" y="31"/>
                      </a:lnTo>
                      <a:lnTo>
                        <a:pt x="85" y="38"/>
                      </a:lnTo>
                    </a:path>
                  </a:pathLst>
                </a:custGeom>
                <a:solidFill>
                  <a:srgbClr val="363636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05" name="Freeform 173"/>
                <p:cNvSpPr>
                  <a:spLocks/>
                </p:cNvSpPr>
                <p:nvPr/>
              </p:nvSpPr>
              <p:spPr bwMode="auto">
                <a:xfrm>
                  <a:off x="2899" y="3543"/>
                  <a:ext cx="252" cy="324"/>
                </a:xfrm>
                <a:custGeom>
                  <a:avLst/>
                  <a:gdLst/>
                  <a:ahLst/>
                  <a:cxnLst>
                    <a:cxn ang="0">
                      <a:pos x="115" y="0"/>
                    </a:cxn>
                    <a:cxn ang="0">
                      <a:pos x="100" y="0"/>
                    </a:cxn>
                    <a:cxn ang="0">
                      <a:pos x="84" y="5"/>
                    </a:cxn>
                    <a:cxn ang="0">
                      <a:pos x="73" y="11"/>
                    </a:cxn>
                    <a:cxn ang="0">
                      <a:pos x="57" y="21"/>
                    </a:cxn>
                    <a:cxn ang="0">
                      <a:pos x="44" y="35"/>
                    </a:cxn>
                    <a:cxn ang="0">
                      <a:pos x="33" y="52"/>
                    </a:cxn>
                    <a:cxn ang="0">
                      <a:pos x="26" y="70"/>
                    </a:cxn>
                    <a:cxn ang="0">
                      <a:pos x="22" y="101"/>
                    </a:cxn>
                    <a:cxn ang="0">
                      <a:pos x="18" y="123"/>
                    </a:cxn>
                    <a:cxn ang="0">
                      <a:pos x="5" y="166"/>
                    </a:cxn>
                    <a:cxn ang="0">
                      <a:pos x="0" y="208"/>
                    </a:cxn>
                    <a:cxn ang="0">
                      <a:pos x="4" y="245"/>
                    </a:cxn>
                    <a:cxn ang="0">
                      <a:pos x="11" y="272"/>
                    </a:cxn>
                    <a:cxn ang="0">
                      <a:pos x="16" y="288"/>
                    </a:cxn>
                    <a:cxn ang="0">
                      <a:pos x="28" y="306"/>
                    </a:cxn>
                    <a:cxn ang="0">
                      <a:pos x="39" y="323"/>
                    </a:cxn>
                    <a:cxn ang="0">
                      <a:pos x="193" y="288"/>
                    </a:cxn>
                    <a:cxn ang="0">
                      <a:pos x="201" y="284"/>
                    </a:cxn>
                    <a:cxn ang="0">
                      <a:pos x="207" y="273"/>
                    </a:cxn>
                    <a:cxn ang="0">
                      <a:pos x="221" y="261"/>
                    </a:cxn>
                    <a:cxn ang="0">
                      <a:pos x="236" y="243"/>
                    </a:cxn>
                    <a:cxn ang="0">
                      <a:pos x="243" y="232"/>
                    </a:cxn>
                    <a:cxn ang="0">
                      <a:pos x="248" y="219"/>
                    </a:cxn>
                    <a:cxn ang="0">
                      <a:pos x="251" y="196"/>
                    </a:cxn>
                    <a:cxn ang="0">
                      <a:pos x="250" y="178"/>
                    </a:cxn>
                    <a:cxn ang="0">
                      <a:pos x="245" y="150"/>
                    </a:cxn>
                    <a:cxn ang="0">
                      <a:pos x="238" y="123"/>
                    </a:cxn>
                    <a:cxn ang="0">
                      <a:pos x="224" y="93"/>
                    </a:cxn>
                    <a:cxn ang="0">
                      <a:pos x="215" y="67"/>
                    </a:cxn>
                    <a:cxn ang="0">
                      <a:pos x="204" y="47"/>
                    </a:cxn>
                    <a:cxn ang="0">
                      <a:pos x="190" y="29"/>
                    </a:cxn>
                    <a:cxn ang="0">
                      <a:pos x="168" y="17"/>
                    </a:cxn>
                    <a:cxn ang="0">
                      <a:pos x="139" y="12"/>
                    </a:cxn>
                    <a:cxn ang="0">
                      <a:pos x="115" y="0"/>
                    </a:cxn>
                  </a:cxnLst>
                  <a:rect l="0" t="0" r="r" b="b"/>
                  <a:pathLst>
                    <a:path w="252" h="324">
                      <a:moveTo>
                        <a:pt x="115" y="0"/>
                      </a:moveTo>
                      <a:lnTo>
                        <a:pt x="100" y="0"/>
                      </a:lnTo>
                      <a:lnTo>
                        <a:pt x="84" y="5"/>
                      </a:lnTo>
                      <a:lnTo>
                        <a:pt x="73" y="11"/>
                      </a:lnTo>
                      <a:lnTo>
                        <a:pt x="57" y="21"/>
                      </a:lnTo>
                      <a:lnTo>
                        <a:pt x="44" y="35"/>
                      </a:lnTo>
                      <a:lnTo>
                        <a:pt x="33" y="52"/>
                      </a:lnTo>
                      <a:lnTo>
                        <a:pt x="26" y="70"/>
                      </a:lnTo>
                      <a:lnTo>
                        <a:pt x="22" y="101"/>
                      </a:lnTo>
                      <a:lnTo>
                        <a:pt x="18" y="123"/>
                      </a:lnTo>
                      <a:lnTo>
                        <a:pt x="5" y="166"/>
                      </a:lnTo>
                      <a:lnTo>
                        <a:pt x="0" y="208"/>
                      </a:lnTo>
                      <a:lnTo>
                        <a:pt x="4" y="245"/>
                      </a:lnTo>
                      <a:lnTo>
                        <a:pt x="11" y="272"/>
                      </a:lnTo>
                      <a:lnTo>
                        <a:pt x="16" y="288"/>
                      </a:lnTo>
                      <a:lnTo>
                        <a:pt x="28" y="306"/>
                      </a:lnTo>
                      <a:lnTo>
                        <a:pt x="39" y="323"/>
                      </a:lnTo>
                      <a:lnTo>
                        <a:pt x="193" y="288"/>
                      </a:lnTo>
                      <a:lnTo>
                        <a:pt x="201" y="284"/>
                      </a:lnTo>
                      <a:lnTo>
                        <a:pt x="207" y="273"/>
                      </a:lnTo>
                      <a:lnTo>
                        <a:pt x="221" y="261"/>
                      </a:lnTo>
                      <a:lnTo>
                        <a:pt x="236" y="243"/>
                      </a:lnTo>
                      <a:lnTo>
                        <a:pt x="243" y="232"/>
                      </a:lnTo>
                      <a:lnTo>
                        <a:pt x="248" y="219"/>
                      </a:lnTo>
                      <a:lnTo>
                        <a:pt x="251" y="196"/>
                      </a:lnTo>
                      <a:lnTo>
                        <a:pt x="250" y="178"/>
                      </a:lnTo>
                      <a:lnTo>
                        <a:pt x="245" y="150"/>
                      </a:lnTo>
                      <a:lnTo>
                        <a:pt x="238" y="123"/>
                      </a:lnTo>
                      <a:lnTo>
                        <a:pt x="224" y="93"/>
                      </a:lnTo>
                      <a:lnTo>
                        <a:pt x="215" y="67"/>
                      </a:lnTo>
                      <a:lnTo>
                        <a:pt x="204" y="47"/>
                      </a:lnTo>
                      <a:lnTo>
                        <a:pt x="190" y="29"/>
                      </a:lnTo>
                      <a:lnTo>
                        <a:pt x="168" y="17"/>
                      </a:lnTo>
                      <a:lnTo>
                        <a:pt x="139" y="12"/>
                      </a:lnTo>
                      <a:lnTo>
                        <a:pt x="115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06" name="Freeform 174"/>
                <p:cNvSpPr>
                  <a:spLocks/>
                </p:cNvSpPr>
                <p:nvPr/>
              </p:nvSpPr>
              <p:spPr bwMode="auto">
                <a:xfrm>
                  <a:off x="2933" y="3823"/>
                  <a:ext cx="157" cy="41"/>
                </a:xfrm>
                <a:custGeom>
                  <a:avLst/>
                  <a:gdLst/>
                  <a:ahLst/>
                  <a:cxnLst>
                    <a:cxn ang="0">
                      <a:pos x="0" y="27"/>
                    </a:cxn>
                    <a:cxn ang="0">
                      <a:pos x="16" y="40"/>
                    </a:cxn>
                    <a:cxn ang="0">
                      <a:pos x="156" y="0"/>
                    </a:cxn>
                    <a:cxn ang="0">
                      <a:pos x="0" y="27"/>
                    </a:cxn>
                  </a:cxnLst>
                  <a:rect l="0" t="0" r="r" b="b"/>
                  <a:pathLst>
                    <a:path w="157" h="41">
                      <a:moveTo>
                        <a:pt x="0" y="27"/>
                      </a:moveTo>
                      <a:lnTo>
                        <a:pt x="16" y="40"/>
                      </a:lnTo>
                      <a:lnTo>
                        <a:pt x="156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07" name="Freeform 175"/>
                <p:cNvSpPr>
                  <a:spLocks/>
                </p:cNvSpPr>
                <p:nvPr/>
              </p:nvSpPr>
              <p:spPr bwMode="auto">
                <a:xfrm>
                  <a:off x="2903" y="3816"/>
                  <a:ext cx="472" cy="417"/>
                </a:xfrm>
                <a:custGeom>
                  <a:avLst/>
                  <a:gdLst/>
                  <a:ahLst/>
                  <a:cxnLst>
                    <a:cxn ang="0">
                      <a:pos x="18" y="48"/>
                    </a:cxn>
                    <a:cxn ang="0">
                      <a:pos x="15" y="57"/>
                    </a:cxn>
                    <a:cxn ang="0">
                      <a:pos x="7" y="75"/>
                    </a:cxn>
                    <a:cxn ang="0">
                      <a:pos x="5" y="83"/>
                    </a:cxn>
                    <a:cxn ang="0">
                      <a:pos x="3" y="92"/>
                    </a:cxn>
                    <a:cxn ang="0">
                      <a:pos x="0" y="110"/>
                    </a:cxn>
                    <a:cxn ang="0">
                      <a:pos x="0" y="140"/>
                    </a:cxn>
                    <a:cxn ang="0">
                      <a:pos x="11" y="190"/>
                    </a:cxn>
                    <a:cxn ang="0">
                      <a:pos x="28" y="245"/>
                    </a:cxn>
                    <a:cxn ang="0">
                      <a:pos x="38" y="269"/>
                    </a:cxn>
                    <a:cxn ang="0">
                      <a:pos x="56" y="316"/>
                    </a:cxn>
                    <a:cxn ang="0">
                      <a:pos x="62" y="366"/>
                    </a:cxn>
                    <a:cxn ang="0">
                      <a:pos x="73" y="408"/>
                    </a:cxn>
                    <a:cxn ang="0">
                      <a:pos x="73" y="411"/>
                    </a:cxn>
                    <a:cxn ang="0">
                      <a:pos x="333" y="416"/>
                    </a:cxn>
                    <a:cxn ang="0">
                      <a:pos x="326" y="356"/>
                    </a:cxn>
                    <a:cxn ang="0">
                      <a:pos x="316" y="320"/>
                    </a:cxn>
                    <a:cxn ang="0">
                      <a:pos x="348" y="302"/>
                    </a:cxn>
                    <a:cxn ang="0">
                      <a:pos x="398" y="276"/>
                    </a:cxn>
                    <a:cxn ang="0">
                      <a:pos x="418" y="267"/>
                    </a:cxn>
                    <a:cxn ang="0">
                      <a:pos x="471" y="244"/>
                    </a:cxn>
                    <a:cxn ang="0">
                      <a:pos x="464" y="197"/>
                    </a:cxn>
                    <a:cxn ang="0">
                      <a:pos x="443" y="144"/>
                    </a:cxn>
                    <a:cxn ang="0">
                      <a:pos x="406" y="162"/>
                    </a:cxn>
                    <a:cxn ang="0">
                      <a:pos x="382" y="172"/>
                    </a:cxn>
                    <a:cxn ang="0">
                      <a:pos x="336" y="195"/>
                    </a:cxn>
                    <a:cxn ang="0">
                      <a:pos x="299" y="202"/>
                    </a:cxn>
                    <a:cxn ang="0">
                      <a:pos x="295" y="176"/>
                    </a:cxn>
                    <a:cxn ang="0">
                      <a:pos x="287" y="88"/>
                    </a:cxn>
                    <a:cxn ang="0">
                      <a:pos x="280" y="54"/>
                    </a:cxn>
                    <a:cxn ang="0">
                      <a:pos x="256" y="27"/>
                    </a:cxn>
                    <a:cxn ang="0">
                      <a:pos x="225" y="11"/>
                    </a:cxn>
                    <a:cxn ang="0">
                      <a:pos x="182" y="0"/>
                    </a:cxn>
                    <a:cxn ang="0">
                      <a:pos x="105" y="12"/>
                    </a:cxn>
                    <a:cxn ang="0">
                      <a:pos x="18" y="48"/>
                    </a:cxn>
                  </a:cxnLst>
                  <a:rect l="0" t="0" r="r" b="b"/>
                  <a:pathLst>
                    <a:path w="472" h="417">
                      <a:moveTo>
                        <a:pt x="18" y="48"/>
                      </a:moveTo>
                      <a:lnTo>
                        <a:pt x="15" y="57"/>
                      </a:lnTo>
                      <a:lnTo>
                        <a:pt x="7" y="75"/>
                      </a:lnTo>
                      <a:lnTo>
                        <a:pt x="5" y="83"/>
                      </a:lnTo>
                      <a:lnTo>
                        <a:pt x="3" y="92"/>
                      </a:lnTo>
                      <a:lnTo>
                        <a:pt x="0" y="110"/>
                      </a:lnTo>
                      <a:lnTo>
                        <a:pt x="0" y="140"/>
                      </a:lnTo>
                      <a:lnTo>
                        <a:pt x="11" y="190"/>
                      </a:lnTo>
                      <a:lnTo>
                        <a:pt x="28" y="245"/>
                      </a:lnTo>
                      <a:lnTo>
                        <a:pt x="38" y="269"/>
                      </a:lnTo>
                      <a:lnTo>
                        <a:pt x="56" y="316"/>
                      </a:lnTo>
                      <a:lnTo>
                        <a:pt x="62" y="366"/>
                      </a:lnTo>
                      <a:lnTo>
                        <a:pt x="73" y="408"/>
                      </a:lnTo>
                      <a:lnTo>
                        <a:pt x="73" y="411"/>
                      </a:lnTo>
                      <a:lnTo>
                        <a:pt x="333" y="416"/>
                      </a:lnTo>
                      <a:lnTo>
                        <a:pt x="326" y="356"/>
                      </a:lnTo>
                      <a:lnTo>
                        <a:pt x="316" y="320"/>
                      </a:lnTo>
                      <a:lnTo>
                        <a:pt x="348" y="302"/>
                      </a:lnTo>
                      <a:lnTo>
                        <a:pt x="398" y="276"/>
                      </a:lnTo>
                      <a:lnTo>
                        <a:pt x="418" y="267"/>
                      </a:lnTo>
                      <a:lnTo>
                        <a:pt x="471" y="244"/>
                      </a:lnTo>
                      <a:lnTo>
                        <a:pt x="464" y="197"/>
                      </a:lnTo>
                      <a:lnTo>
                        <a:pt x="443" y="144"/>
                      </a:lnTo>
                      <a:lnTo>
                        <a:pt x="406" y="162"/>
                      </a:lnTo>
                      <a:lnTo>
                        <a:pt x="382" y="172"/>
                      </a:lnTo>
                      <a:lnTo>
                        <a:pt x="336" y="195"/>
                      </a:lnTo>
                      <a:lnTo>
                        <a:pt x="299" y="202"/>
                      </a:lnTo>
                      <a:lnTo>
                        <a:pt x="295" y="176"/>
                      </a:lnTo>
                      <a:lnTo>
                        <a:pt x="287" y="88"/>
                      </a:lnTo>
                      <a:lnTo>
                        <a:pt x="280" y="54"/>
                      </a:lnTo>
                      <a:lnTo>
                        <a:pt x="256" y="27"/>
                      </a:lnTo>
                      <a:lnTo>
                        <a:pt x="225" y="11"/>
                      </a:lnTo>
                      <a:lnTo>
                        <a:pt x="182" y="0"/>
                      </a:lnTo>
                      <a:lnTo>
                        <a:pt x="105" y="12"/>
                      </a:lnTo>
                      <a:lnTo>
                        <a:pt x="18" y="48"/>
                      </a:lnTo>
                    </a:path>
                  </a:pathLst>
                </a:custGeom>
                <a:solidFill>
                  <a:srgbClr val="676767"/>
                </a:solidFill>
                <a:ln w="12700" cap="rnd" cmpd="sng">
                  <a:solidFill>
                    <a:srgbClr val="676767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08" name="Freeform 176"/>
                <p:cNvSpPr>
                  <a:spLocks/>
                </p:cNvSpPr>
                <p:nvPr/>
              </p:nvSpPr>
              <p:spPr bwMode="auto">
                <a:xfrm>
                  <a:off x="2985" y="4089"/>
                  <a:ext cx="246" cy="136"/>
                </a:xfrm>
                <a:custGeom>
                  <a:avLst/>
                  <a:gdLst/>
                  <a:ahLst/>
                  <a:cxnLst>
                    <a:cxn ang="0">
                      <a:pos x="0" y="135"/>
                    </a:cxn>
                    <a:cxn ang="0">
                      <a:pos x="6" y="123"/>
                    </a:cxn>
                    <a:cxn ang="0">
                      <a:pos x="10" y="112"/>
                    </a:cxn>
                    <a:cxn ang="0">
                      <a:pos x="38" y="81"/>
                    </a:cxn>
                    <a:cxn ang="0">
                      <a:pos x="50" y="69"/>
                    </a:cxn>
                    <a:cxn ang="0">
                      <a:pos x="60" y="57"/>
                    </a:cxn>
                    <a:cxn ang="0">
                      <a:pos x="77" y="50"/>
                    </a:cxn>
                    <a:cxn ang="0">
                      <a:pos x="95" y="46"/>
                    </a:cxn>
                    <a:cxn ang="0">
                      <a:pos x="71" y="31"/>
                    </a:cxn>
                    <a:cxn ang="0">
                      <a:pos x="39" y="13"/>
                    </a:cxn>
                    <a:cxn ang="0">
                      <a:pos x="27" y="0"/>
                    </a:cxn>
                    <a:cxn ang="0">
                      <a:pos x="61" y="18"/>
                    </a:cxn>
                    <a:cxn ang="0">
                      <a:pos x="79" y="27"/>
                    </a:cxn>
                    <a:cxn ang="0">
                      <a:pos x="119" y="44"/>
                    </a:cxn>
                    <a:cxn ang="0">
                      <a:pos x="137" y="51"/>
                    </a:cxn>
                    <a:cxn ang="0">
                      <a:pos x="171" y="60"/>
                    </a:cxn>
                    <a:cxn ang="0">
                      <a:pos x="188" y="60"/>
                    </a:cxn>
                    <a:cxn ang="0">
                      <a:pos x="228" y="51"/>
                    </a:cxn>
                    <a:cxn ang="0">
                      <a:pos x="236" y="74"/>
                    </a:cxn>
                    <a:cxn ang="0">
                      <a:pos x="229" y="84"/>
                    </a:cxn>
                    <a:cxn ang="0">
                      <a:pos x="238" y="102"/>
                    </a:cxn>
                    <a:cxn ang="0">
                      <a:pos x="245" y="134"/>
                    </a:cxn>
                    <a:cxn ang="0">
                      <a:pos x="0" y="135"/>
                    </a:cxn>
                  </a:cxnLst>
                  <a:rect l="0" t="0" r="r" b="b"/>
                  <a:pathLst>
                    <a:path w="246" h="136">
                      <a:moveTo>
                        <a:pt x="0" y="135"/>
                      </a:moveTo>
                      <a:lnTo>
                        <a:pt x="6" y="123"/>
                      </a:lnTo>
                      <a:lnTo>
                        <a:pt x="10" y="112"/>
                      </a:lnTo>
                      <a:lnTo>
                        <a:pt x="38" y="81"/>
                      </a:lnTo>
                      <a:lnTo>
                        <a:pt x="50" y="69"/>
                      </a:lnTo>
                      <a:lnTo>
                        <a:pt x="60" y="57"/>
                      </a:lnTo>
                      <a:lnTo>
                        <a:pt x="77" y="50"/>
                      </a:lnTo>
                      <a:lnTo>
                        <a:pt x="95" y="46"/>
                      </a:lnTo>
                      <a:lnTo>
                        <a:pt x="71" y="31"/>
                      </a:lnTo>
                      <a:lnTo>
                        <a:pt x="39" y="13"/>
                      </a:lnTo>
                      <a:lnTo>
                        <a:pt x="27" y="0"/>
                      </a:lnTo>
                      <a:lnTo>
                        <a:pt x="61" y="18"/>
                      </a:lnTo>
                      <a:lnTo>
                        <a:pt x="79" y="27"/>
                      </a:lnTo>
                      <a:lnTo>
                        <a:pt x="119" y="44"/>
                      </a:lnTo>
                      <a:lnTo>
                        <a:pt x="137" y="51"/>
                      </a:lnTo>
                      <a:lnTo>
                        <a:pt x="171" y="60"/>
                      </a:lnTo>
                      <a:lnTo>
                        <a:pt x="188" y="60"/>
                      </a:lnTo>
                      <a:lnTo>
                        <a:pt x="228" y="51"/>
                      </a:lnTo>
                      <a:lnTo>
                        <a:pt x="236" y="74"/>
                      </a:lnTo>
                      <a:lnTo>
                        <a:pt x="229" y="84"/>
                      </a:lnTo>
                      <a:lnTo>
                        <a:pt x="238" y="102"/>
                      </a:lnTo>
                      <a:lnTo>
                        <a:pt x="245" y="134"/>
                      </a:lnTo>
                      <a:lnTo>
                        <a:pt x="0" y="135"/>
                      </a:lnTo>
                    </a:path>
                  </a:pathLst>
                </a:custGeom>
                <a:solidFill>
                  <a:srgbClr val="565656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09" name="Freeform 177"/>
                <p:cNvSpPr>
                  <a:spLocks/>
                </p:cNvSpPr>
                <p:nvPr/>
              </p:nvSpPr>
              <p:spPr bwMode="auto">
                <a:xfrm>
                  <a:off x="2918" y="3820"/>
                  <a:ext cx="456" cy="307"/>
                </a:xfrm>
                <a:custGeom>
                  <a:avLst/>
                  <a:gdLst/>
                  <a:ahLst/>
                  <a:cxnLst>
                    <a:cxn ang="0">
                      <a:pos x="168" y="8"/>
                    </a:cxn>
                    <a:cxn ang="0">
                      <a:pos x="154" y="28"/>
                    </a:cxn>
                    <a:cxn ang="0">
                      <a:pos x="118" y="35"/>
                    </a:cxn>
                    <a:cxn ang="0">
                      <a:pos x="92" y="32"/>
                    </a:cxn>
                    <a:cxn ang="0">
                      <a:pos x="28" y="23"/>
                    </a:cxn>
                    <a:cxn ang="0">
                      <a:pos x="9" y="62"/>
                    </a:cxn>
                    <a:cxn ang="0">
                      <a:pos x="47" y="123"/>
                    </a:cxn>
                    <a:cxn ang="0">
                      <a:pos x="94" y="136"/>
                    </a:cxn>
                    <a:cxn ang="0">
                      <a:pos x="20" y="135"/>
                    </a:cxn>
                    <a:cxn ang="0">
                      <a:pos x="17" y="169"/>
                    </a:cxn>
                    <a:cxn ang="0">
                      <a:pos x="70" y="224"/>
                    </a:cxn>
                    <a:cxn ang="0">
                      <a:pos x="78" y="222"/>
                    </a:cxn>
                    <a:cxn ang="0">
                      <a:pos x="188" y="224"/>
                    </a:cxn>
                    <a:cxn ang="0">
                      <a:pos x="141" y="239"/>
                    </a:cxn>
                    <a:cxn ang="0">
                      <a:pos x="121" y="247"/>
                    </a:cxn>
                    <a:cxn ang="0">
                      <a:pos x="184" y="288"/>
                    </a:cxn>
                    <a:cxn ang="0">
                      <a:pos x="220" y="298"/>
                    </a:cxn>
                    <a:cxn ang="0">
                      <a:pos x="275" y="277"/>
                    </a:cxn>
                    <a:cxn ang="0">
                      <a:pos x="287" y="239"/>
                    </a:cxn>
                    <a:cxn ang="0">
                      <a:pos x="292" y="295"/>
                    </a:cxn>
                    <a:cxn ang="0">
                      <a:pos x="336" y="281"/>
                    </a:cxn>
                    <a:cxn ang="0">
                      <a:pos x="455" y="236"/>
                    </a:cxn>
                    <a:cxn ang="0">
                      <a:pos x="419" y="144"/>
                    </a:cxn>
                    <a:cxn ang="0">
                      <a:pos x="347" y="180"/>
                    </a:cxn>
                    <a:cxn ang="0">
                      <a:pos x="322" y="239"/>
                    </a:cxn>
                    <a:cxn ang="0">
                      <a:pos x="305" y="244"/>
                    </a:cxn>
                    <a:cxn ang="0">
                      <a:pos x="320" y="192"/>
                    </a:cxn>
                    <a:cxn ang="0">
                      <a:pos x="297" y="214"/>
                    </a:cxn>
                    <a:cxn ang="0">
                      <a:pos x="285" y="222"/>
                    </a:cxn>
                    <a:cxn ang="0">
                      <a:pos x="277" y="207"/>
                    </a:cxn>
                    <a:cxn ang="0">
                      <a:pos x="255" y="250"/>
                    </a:cxn>
                    <a:cxn ang="0">
                      <a:pos x="234" y="271"/>
                    </a:cxn>
                    <a:cxn ang="0">
                      <a:pos x="258" y="210"/>
                    </a:cxn>
                    <a:cxn ang="0">
                      <a:pos x="165" y="193"/>
                    </a:cxn>
                    <a:cxn ang="0">
                      <a:pos x="178" y="187"/>
                    </a:cxn>
                    <a:cxn ang="0">
                      <a:pos x="202" y="164"/>
                    </a:cxn>
                    <a:cxn ang="0">
                      <a:pos x="147" y="165"/>
                    </a:cxn>
                    <a:cxn ang="0">
                      <a:pos x="216" y="175"/>
                    </a:cxn>
                    <a:cxn ang="0">
                      <a:pos x="123" y="171"/>
                    </a:cxn>
                    <a:cxn ang="0">
                      <a:pos x="70" y="141"/>
                    </a:cxn>
                    <a:cxn ang="0">
                      <a:pos x="153" y="148"/>
                    </a:cxn>
                    <a:cxn ang="0">
                      <a:pos x="141" y="128"/>
                    </a:cxn>
                    <a:cxn ang="0">
                      <a:pos x="56" y="114"/>
                    </a:cxn>
                    <a:cxn ang="0">
                      <a:pos x="13" y="71"/>
                    </a:cxn>
                    <a:cxn ang="0">
                      <a:pos x="62" y="100"/>
                    </a:cxn>
                    <a:cxn ang="0">
                      <a:pos x="56" y="83"/>
                    </a:cxn>
                    <a:cxn ang="0">
                      <a:pos x="72" y="82"/>
                    </a:cxn>
                    <a:cxn ang="0">
                      <a:pos x="101" y="90"/>
                    </a:cxn>
                    <a:cxn ang="0">
                      <a:pos x="136" y="80"/>
                    </a:cxn>
                    <a:cxn ang="0">
                      <a:pos x="157" y="91"/>
                    </a:cxn>
                    <a:cxn ang="0">
                      <a:pos x="206" y="153"/>
                    </a:cxn>
                    <a:cxn ang="0">
                      <a:pos x="250" y="190"/>
                    </a:cxn>
                    <a:cxn ang="0">
                      <a:pos x="279" y="184"/>
                    </a:cxn>
                    <a:cxn ang="0">
                      <a:pos x="263" y="112"/>
                    </a:cxn>
                    <a:cxn ang="0">
                      <a:pos x="264" y="51"/>
                    </a:cxn>
                    <a:cxn ang="0">
                      <a:pos x="241" y="23"/>
                    </a:cxn>
                    <a:cxn ang="0">
                      <a:pos x="185" y="0"/>
                    </a:cxn>
                  </a:cxnLst>
                  <a:rect l="0" t="0" r="r" b="b"/>
                  <a:pathLst>
                    <a:path w="456" h="307">
                      <a:moveTo>
                        <a:pt x="167" y="0"/>
                      </a:moveTo>
                      <a:lnTo>
                        <a:pt x="168" y="8"/>
                      </a:lnTo>
                      <a:lnTo>
                        <a:pt x="167" y="19"/>
                      </a:lnTo>
                      <a:lnTo>
                        <a:pt x="154" y="28"/>
                      </a:lnTo>
                      <a:lnTo>
                        <a:pt x="138" y="32"/>
                      </a:lnTo>
                      <a:lnTo>
                        <a:pt x="118" y="35"/>
                      </a:lnTo>
                      <a:lnTo>
                        <a:pt x="103" y="35"/>
                      </a:lnTo>
                      <a:lnTo>
                        <a:pt x="92" y="32"/>
                      </a:lnTo>
                      <a:lnTo>
                        <a:pt x="73" y="17"/>
                      </a:lnTo>
                      <a:lnTo>
                        <a:pt x="28" y="23"/>
                      </a:lnTo>
                      <a:lnTo>
                        <a:pt x="14" y="46"/>
                      </a:lnTo>
                      <a:lnTo>
                        <a:pt x="9" y="62"/>
                      </a:lnTo>
                      <a:lnTo>
                        <a:pt x="0" y="104"/>
                      </a:lnTo>
                      <a:lnTo>
                        <a:pt x="47" y="123"/>
                      </a:lnTo>
                      <a:lnTo>
                        <a:pt x="67" y="123"/>
                      </a:lnTo>
                      <a:lnTo>
                        <a:pt x="94" y="136"/>
                      </a:lnTo>
                      <a:lnTo>
                        <a:pt x="65" y="140"/>
                      </a:lnTo>
                      <a:lnTo>
                        <a:pt x="20" y="135"/>
                      </a:lnTo>
                      <a:lnTo>
                        <a:pt x="14" y="141"/>
                      </a:lnTo>
                      <a:lnTo>
                        <a:pt x="17" y="169"/>
                      </a:lnTo>
                      <a:lnTo>
                        <a:pt x="37" y="193"/>
                      </a:lnTo>
                      <a:lnTo>
                        <a:pt x="70" y="224"/>
                      </a:lnTo>
                      <a:lnTo>
                        <a:pt x="87" y="234"/>
                      </a:lnTo>
                      <a:lnTo>
                        <a:pt x="78" y="222"/>
                      </a:lnTo>
                      <a:lnTo>
                        <a:pt x="161" y="223"/>
                      </a:lnTo>
                      <a:lnTo>
                        <a:pt x="188" y="224"/>
                      </a:lnTo>
                      <a:lnTo>
                        <a:pt x="180" y="227"/>
                      </a:lnTo>
                      <a:lnTo>
                        <a:pt x="141" y="239"/>
                      </a:lnTo>
                      <a:lnTo>
                        <a:pt x="124" y="246"/>
                      </a:lnTo>
                      <a:lnTo>
                        <a:pt x="121" y="247"/>
                      </a:lnTo>
                      <a:lnTo>
                        <a:pt x="163" y="283"/>
                      </a:lnTo>
                      <a:lnTo>
                        <a:pt x="184" y="288"/>
                      </a:lnTo>
                      <a:lnTo>
                        <a:pt x="213" y="299"/>
                      </a:lnTo>
                      <a:lnTo>
                        <a:pt x="220" y="298"/>
                      </a:lnTo>
                      <a:lnTo>
                        <a:pt x="265" y="306"/>
                      </a:lnTo>
                      <a:lnTo>
                        <a:pt x="275" y="277"/>
                      </a:lnTo>
                      <a:lnTo>
                        <a:pt x="277" y="251"/>
                      </a:lnTo>
                      <a:lnTo>
                        <a:pt x="287" y="239"/>
                      </a:lnTo>
                      <a:lnTo>
                        <a:pt x="284" y="290"/>
                      </a:lnTo>
                      <a:lnTo>
                        <a:pt x="292" y="295"/>
                      </a:lnTo>
                      <a:lnTo>
                        <a:pt x="300" y="294"/>
                      </a:lnTo>
                      <a:lnTo>
                        <a:pt x="336" y="281"/>
                      </a:lnTo>
                      <a:lnTo>
                        <a:pt x="382" y="262"/>
                      </a:lnTo>
                      <a:lnTo>
                        <a:pt x="455" y="236"/>
                      </a:lnTo>
                      <a:lnTo>
                        <a:pt x="442" y="182"/>
                      </a:lnTo>
                      <a:lnTo>
                        <a:pt x="419" y="144"/>
                      </a:lnTo>
                      <a:lnTo>
                        <a:pt x="384" y="162"/>
                      </a:lnTo>
                      <a:lnTo>
                        <a:pt x="347" y="180"/>
                      </a:lnTo>
                      <a:lnTo>
                        <a:pt x="335" y="206"/>
                      </a:lnTo>
                      <a:lnTo>
                        <a:pt x="322" y="239"/>
                      </a:lnTo>
                      <a:lnTo>
                        <a:pt x="315" y="248"/>
                      </a:lnTo>
                      <a:lnTo>
                        <a:pt x="305" y="244"/>
                      </a:lnTo>
                      <a:lnTo>
                        <a:pt x="326" y="191"/>
                      </a:lnTo>
                      <a:lnTo>
                        <a:pt x="320" y="192"/>
                      </a:lnTo>
                      <a:lnTo>
                        <a:pt x="310" y="200"/>
                      </a:lnTo>
                      <a:lnTo>
                        <a:pt x="297" y="214"/>
                      </a:lnTo>
                      <a:lnTo>
                        <a:pt x="294" y="222"/>
                      </a:lnTo>
                      <a:lnTo>
                        <a:pt x="285" y="222"/>
                      </a:lnTo>
                      <a:lnTo>
                        <a:pt x="289" y="198"/>
                      </a:lnTo>
                      <a:lnTo>
                        <a:pt x="277" y="207"/>
                      </a:lnTo>
                      <a:lnTo>
                        <a:pt x="272" y="238"/>
                      </a:lnTo>
                      <a:lnTo>
                        <a:pt x="255" y="250"/>
                      </a:lnTo>
                      <a:lnTo>
                        <a:pt x="233" y="287"/>
                      </a:lnTo>
                      <a:lnTo>
                        <a:pt x="234" y="271"/>
                      </a:lnTo>
                      <a:lnTo>
                        <a:pt x="255" y="222"/>
                      </a:lnTo>
                      <a:lnTo>
                        <a:pt x="258" y="210"/>
                      </a:lnTo>
                      <a:lnTo>
                        <a:pt x="211" y="199"/>
                      </a:lnTo>
                      <a:lnTo>
                        <a:pt x="165" y="193"/>
                      </a:lnTo>
                      <a:lnTo>
                        <a:pt x="165" y="186"/>
                      </a:lnTo>
                      <a:lnTo>
                        <a:pt x="178" y="187"/>
                      </a:lnTo>
                      <a:lnTo>
                        <a:pt x="227" y="179"/>
                      </a:lnTo>
                      <a:lnTo>
                        <a:pt x="202" y="164"/>
                      </a:lnTo>
                      <a:lnTo>
                        <a:pt x="183" y="160"/>
                      </a:lnTo>
                      <a:lnTo>
                        <a:pt x="147" y="165"/>
                      </a:lnTo>
                      <a:lnTo>
                        <a:pt x="163" y="168"/>
                      </a:lnTo>
                      <a:lnTo>
                        <a:pt x="216" y="175"/>
                      </a:lnTo>
                      <a:lnTo>
                        <a:pt x="165" y="182"/>
                      </a:lnTo>
                      <a:lnTo>
                        <a:pt x="123" y="171"/>
                      </a:lnTo>
                      <a:lnTo>
                        <a:pt x="73" y="152"/>
                      </a:lnTo>
                      <a:lnTo>
                        <a:pt x="70" y="141"/>
                      </a:lnTo>
                      <a:lnTo>
                        <a:pt x="126" y="148"/>
                      </a:lnTo>
                      <a:lnTo>
                        <a:pt x="153" y="148"/>
                      </a:lnTo>
                      <a:lnTo>
                        <a:pt x="186" y="152"/>
                      </a:lnTo>
                      <a:lnTo>
                        <a:pt x="141" y="128"/>
                      </a:lnTo>
                      <a:lnTo>
                        <a:pt x="73" y="115"/>
                      </a:lnTo>
                      <a:lnTo>
                        <a:pt x="56" y="114"/>
                      </a:lnTo>
                      <a:lnTo>
                        <a:pt x="13" y="75"/>
                      </a:lnTo>
                      <a:lnTo>
                        <a:pt x="13" y="71"/>
                      </a:lnTo>
                      <a:lnTo>
                        <a:pt x="26" y="85"/>
                      </a:lnTo>
                      <a:lnTo>
                        <a:pt x="62" y="100"/>
                      </a:lnTo>
                      <a:lnTo>
                        <a:pt x="77" y="102"/>
                      </a:lnTo>
                      <a:lnTo>
                        <a:pt x="56" y="83"/>
                      </a:lnTo>
                      <a:lnTo>
                        <a:pt x="49" y="72"/>
                      </a:lnTo>
                      <a:lnTo>
                        <a:pt x="72" y="82"/>
                      </a:lnTo>
                      <a:lnTo>
                        <a:pt x="93" y="96"/>
                      </a:lnTo>
                      <a:lnTo>
                        <a:pt x="101" y="90"/>
                      </a:lnTo>
                      <a:lnTo>
                        <a:pt x="146" y="114"/>
                      </a:lnTo>
                      <a:lnTo>
                        <a:pt x="136" y="80"/>
                      </a:lnTo>
                      <a:lnTo>
                        <a:pt x="142" y="66"/>
                      </a:lnTo>
                      <a:lnTo>
                        <a:pt x="157" y="91"/>
                      </a:lnTo>
                      <a:lnTo>
                        <a:pt x="165" y="112"/>
                      </a:lnTo>
                      <a:lnTo>
                        <a:pt x="206" y="153"/>
                      </a:lnTo>
                      <a:lnTo>
                        <a:pt x="231" y="164"/>
                      </a:lnTo>
                      <a:lnTo>
                        <a:pt x="250" y="190"/>
                      </a:lnTo>
                      <a:lnTo>
                        <a:pt x="274" y="188"/>
                      </a:lnTo>
                      <a:lnTo>
                        <a:pt x="279" y="184"/>
                      </a:lnTo>
                      <a:lnTo>
                        <a:pt x="275" y="128"/>
                      </a:lnTo>
                      <a:lnTo>
                        <a:pt x="263" y="112"/>
                      </a:lnTo>
                      <a:lnTo>
                        <a:pt x="270" y="86"/>
                      </a:lnTo>
                      <a:lnTo>
                        <a:pt x="264" y="51"/>
                      </a:lnTo>
                      <a:lnTo>
                        <a:pt x="252" y="34"/>
                      </a:lnTo>
                      <a:lnTo>
                        <a:pt x="241" y="23"/>
                      </a:lnTo>
                      <a:lnTo>
                        <a:pt x="209" y="7"/>
                      </a:lnTo>
                      <a:lnTo>
                        <a:pt x="185" y="0"/>
                      </a:lnTo>
                      <a:lnTo>
                        <a:pt x="167" y="0"/>
                      </a:lnTo>
                    </a:path>
                  </a:pathLst>
                </a:custGeom>
                <a:solidFill>
                  <a:srgbClr val="9F9F9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10" name="Freeform 178"/>
                <p:cNvSpPr>
                  <a:spLocks/>
                </p:cNvSpPr>
                <p:nvPr/>
              </p:nvSpPr>
              <p:spPr bwMode="auto">
                <a:xfrm>
                  <a:off x="2962" y="4085"/>
                  <a:ext cx="52" cy="9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10" y="11"/>
                    </a:cxn>
                    <a:cxn ang="0">
                      <a:pos x="18" y="33"/>
                    </a:cxn>
                    <a:cxn ang="0">
                      <a:pos x="10" y="47"/>
                    </a:cxn>
                    <a:cxn ang="0">
                      <a:pos x="22" y="91"/>
                    </a:cxn>
                    <a:cxn ang="0">
                      <a:pos x="51" y="14"/>
                    </a:cxn>
                    <a:cxn ang="0">
                      <a:pos x="35" y="5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2" h="9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0" y="11"/>
                      </a:lnTo>
                      <a:lnTo>
                        <a:pt x="18" y="33"/>
                      </a:lnTo>
                      <a:lnTo>
                        <a:pt x="10" y="47"/>
                      </a:lnTo>
                      <a:lnTo>
                        <a:pt x="22" y="91"/>
                      </a:lnTo>
                      <a:lnTo>
                        <a:pt x="51" y="14"/>
                      </a:lnTo>
                      <a:lnTo>
                        <a:pt x="35" y="5"/>
                      </a:ln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4C4C4C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11" name="Oval 179"/>
                <p:cNvSpPr>
                  <a:spLocks noChangeArrowheads="1"/>
                </p:cNvSpPr>
                <p:nvPr/>
              </p:nvSpPr>
              <p:spPr bwMode="auto">
                <a:xfrm rot="8880000">
                  <a:off x="3064" y="3871"/>
                  <a:ext cx="8" cy="13"/>
                </a:xfrm>
                <a:prstGeom prst="ellipse">
                  <a:avLst/>
                </a:prstGeom>
                <a:solidFill>
                  <a:srgbClr val="ECECEC"/>
                </a:solidFill>
                <a:ln w="12700">
                  <a:solidFill>
                    <a:srgbClr val="ECECE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812" name="Oval 180"/>
                <p:cNvSpPr>
                  <a:spLocks noChangeArrowheads="1"/>
                </p:cNvSpPr>
                <p:nvPr/>
              </p:nvSpPr>
              <p:spPr bwMode="auto">
                <a:xfrm rot="8940000">
                  <a:off x="3081" y="3905"/>
                  <a:ext cx="9" cy="13"/>
                </a:xfrm>
                <a:prstGeom prst="ellipse">
                  <a:avLst/>
                </a:prstGeom>
                <a:solidFill>
                  <a:srgbClr val="ECECEC"/>
                </a:solidFill>
                <a:ln w="12700">
                  <a:solidFill>
                    <a:srgbClr val="ECECE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813" name="Oval 181"/>
                <p:cNvSpPr>
                  <a:spLocks noChangeArrowheads="1"/>
                </p:cNvSpPr>
                <p:nvPr/>
              </p:nvSpPr>
              <p:spPr bwMode="auto">
                <a:xfrm>
                  <a:off x="3351" y="4046"/>
                  <a:ext cx="8" cy="8"/>
                </a:xfrm>
                <a:prstGeom prst="ellipse">
                  <a:avLst/>
                </a:prstGeom>
                <a:solidFill>
                  <a:srgbClr val="ECECEC"/>
                </a:solidFill>
                <a:ln w="12700">
                  <a:solidFill>
                    <a:srgbClr val="ECECE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814" name="Oval 182"/>
                <p:cNvSpPr>
                  <a:spLocks noChangeArrowheads="1"/>
                </p:cNvSpPr>
                <p:nvPr/>
              </p:nvSpPr>
              <p:spPr bwMode="auto">
                <a:xfrm>
                  <a:off x="3322" y="4062"/>
                  <a:ext cx="8" cy="8"/>
                </a:xfrm>
                <a:prstGeom prst="ellipse">
                  <a:avLst/>
                </a:prstGeom>
                <a:solidFill>
                  <a:srgbClr val="ECECEC"/>
                </a:solidFill>
                <a:ln w="12700">
                  <a:solidFill>
                    <a:srgbClr val="ECECE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815" name="Freeform 183"/>
                <p:cNvSpPr>
                  <a:spLocks/>
                </p:cNvSpPr>
                <p:nvPr/>
              </p:nvSpPr>
              <p:spPr bwMode="auto">
                <a:xfrm>
                  <a:off x="2987" y="3745"/>
                  <a:ext cx="85" cy="109"/>
                </a:xfrm>
                <a:custGeom>
                  <a:avLst/>
                  <a:gdLst/>
                  <a:ahLst/>
                  <a:cxnLst>
                    <a:cxn ang="0">
                      <a:pos x="82" y="16"/>
                    </a:cxn>
                    <a:cxn ang="0">
                      <a:pos x="79" y="21"/>
                    </a:cxn>
                    <a:cxn ang="0">
                      <a:pos x="77" y="25"/>
                    </a:cxn>
                    <a:cxn ang="0">
                      <a:pos x="72" y="30"/>
                    </a:cxn>
                    <a:cxn ang="0">
                      <a:pos x="68" y="34"/>
                    </a:cxn>
                    <a:cxn ang="0">
                      <a:pos x="64" y="38"/>
                    </a:cxn>
                    <a:cxn ang="0">
                      <a:pos x="60" y="40"/>
                    </a:cxn>
                    <a:cxn ang="0">
                      <a:pos x="56" y="42"/>
                    </a:cxn>
                    <a:cxn ang="0">
                      <a:pos x="51" y="45"/>
                    </a:cxn>
                    <a:cxn ang="0">
                      <a:pos x="48" y="49"/>
                    </a:cxn>
                    <a:cxn ang="0">
                      <a:pos x="43" y="52"/>
                    </a:cxn>
                    <a:cxn ang="0">
                      <a:pos x="39" y="57"/>
                    </a:cxn>
                    <a:cxn ang="0">
                      <a:pos x="39" y="63"/>
                    </a:cxn>
                    <a:cxn ang="0">
                      <a:pos x="41" y="69"/>
                    </a:cxn>
                    <a:cxn ang="0">
                      <a:pos x="44" y="76"/>
                    </a:cxn>
                    <a:cxn ang="0">
                      <a:pos x="45" y="83"/>
                    </a:cxn>
                    <a:cxn ang="0">
                      <a:pos x="48" y="86"/>
                    </a:cxn>
                    <a:cxn ang="0">
                      <a:pos x="51" y="91"/>
                    </a:cxn>
                    <a:cxn ang="0">
                      <a:pos x="56" y="91"/>
                    </a:cxn>
                    <a:cxn ang="0">
                      <a:pos x="64" y="95"/>
                    </a:cxn>
                    <a:cxn ang="0">
                      <a:pos x="72" y="97"/>
                    </a:cxn>
                    <a:cxn ang="0">
                      <a:pos x="75" y="99"/>
                    </a:cxn>
                    <a:cxn ang="0">
                      <a:pos x="73" y="102"/>
                    </a:cxn>
                    <a:cxn ang="0">
                      <a:pos x="67" y="105"/>
                    </a:cxn>
                    <a:cxn ang="0">
                      <a:pos x="59" y="106"/>
                    </a:cxn>
                    <a:cxn ang="0">
                      <a:pos x="50" y="108"/>
                    </a:cxn>
                    <a:cxn ang="0">
                      <a:pos x="39" y="108"/>
                    </a:cxn>
                    <a:cxn ang="0">
                      <a:pos x="33" y="107"/>
                    </a:cxn>
                    <a:cxn ang="0">
                      <a:pos x="28" y="105"/>
                    </a:cxn>
                    <a:cxn ang="0">
                      <a:pos x="22" y="100"/>
                    </a:cxn>
                    <a:cxn ang="0">
                      <a:pos x="16" y="97"/>
                    </a:cxn>
                    <a:cxn ang="0">
                      <a:pos x="10" y="93"/>
                    </a:cxn>
                    <a:cxn ang="0">
                      <a:pos x="8" y="90"/>
                    </a:cxn>
                    <a:cxn ang="0">
                      <a:pos x="7" y="86"/>
                    </a:cxn>
                    <a:cxn ang="0">
                      <a:pos x="10" y="82"/>
                    </a:cxn>
                    <a:cxn ang="0">
                      <a:pos x="11" y="78"/>
                    </a:cxn>
                    <a:cxn ang="0">
                      <a:pos x="13" y="74"/>
                    </a:cxn>
                    <a:cxn ang="0">
                      <a:pos x="13" y="68"/>
                    </a:cxn>
                    <a:cxn ang="0">
                      <a:pos x="14" y="63"/>
                    </a:cxn>
                    <a:cxn ang="0">
                      <a:pos x="14" y="58"/>
                    </a:cxn>
                    <a:cxn ang="0">
                      <a:pos x="16" y="54"/>
                    </a:cxn>
                    <a:cxn ang="0">
                      <a:pos x="15" y="50"/>
                    </a:cxn>
                    <a:cxn ang="0">
                      <a:pos x="14" y="45"/>
                    </a:cxn>
                    <a:cxn ang="0">
                      <a:pos x="12" y="41"/>
                    </a:cxn>
                    <a:cxn ang="0">
                      <a:pos x="11" y="36"/>
                    </a:cxn>
                    <a:cxn ang="0">
                      <a:pos x="9" y="32"/>
                    </a:cxn>
                    <a:cxn ang="0">
                      <a:pos x="9" y="27"/>
                    </a:cxn>
                    <a:cxn ang="0">
                      <a:pos x="6" y="26"/>
                    </a:cxn>
                    <a:cxn ang="0">
                      <a:pos x="3" y="24"/>
                    </a:cxn>
                    <a:cxn ang="0">
                      <a:pos x="2" y="22"/>
                    </a:cxn>
                    <a:cxn ang="0">
                      <a:pos x="1" y="19"/>
                    </a:cxn>
                    <a:cxn ang="0">
                      <a:pos x="0" y="16"/>
                    </a:cxn>
                    <a:cxn ang="0">
                      <a:pos x="0" y="13"/>
                    </a:cxn>
                    <a:cxn ang="0">
                      <a:pos x="2" y="10"/>
                    </a:cxn>
                    <a:cxn ang="0">
                      <a:pos x="17" y="3"/>
                    </a:cxn>
                    <a:cxn ang="0">
                      <a:pos x="34" y="1"/>
                    </a:cxn>
                    <a:cxn ang="0">
                      <a:pos x="54" y="0"/>
                    </a:cxn>
                    <a:cxn ang="0">
                      <a:pos x="71" y="3"/>
                    </a:cxn>
                    <a:cxn ang="0">
                      <a:pos x="84" y="9"/>
                    </a:cxn>
                    <a:cxn ang="0">
                      <a:pos x="84" y="13"/>
                    </a:cxn>
                  </a:cxnLst>
                  <a:rect l="0" t="0" r="r" b="b"/>
                  <a:pathLst>
                    <a:path w="85" h="109">
                      <a:moveTo>
                        <a:pt x="84" y="13"/>
                      </a:moveTo>
                      <a:lnTo>
                        <a:pt x="82" y="15"/>
                      </a:lnTo>
                      <a:lnTo>
                        <a:pt x="82" y="16"/>
                      </a:lnTo>
                      <a:lnTo>
                        <a:pt x="80" y="17"/>
                      </a:lnTo>
                      <a:lnTo>
                        <a:pt x="80" y="19"/>
                      </a:lnTo>
                      <a:lnTo>
                        <a:pt x="79" y="21"/>
                      </a:lnTo>
                      <a:lnTo>
                        <a:pt x="79" y="22"/>
                      </a:lnTo>
                      <a:lnTo>
                        <a:pt x="77" y="24"/>
                      </a:lnTo>
                      <a:lnTo>
                        <a:pt x="77" y="25"/>
                      </a:lnTo>
                      <a:lnTo>
                        <a:pt x="75" y="27"/>
                      </a:lnTo>
                      <a:lnTo>
                        <a:pt x="73" y="28"/>
                      </a:lnTo>
                      <a:lnTo>
                        <a:pt x="72" y="30"/>
                      </a:lnTo>
                      <a:lnTo>
                        <a:pt x="72" y="31"/>
                      </a:lnTo>
                      <a:lnTo>
                        <a:pt x="70" y="33"/>
                      </a:lnTo>
                      <a:lnTo>
                        <a:pt x="68" y="34"/>
                      </a:lnTo>
                      <a:lnTo>
                        <a:pt x="68" y="36"/>
                      </a:lnTo>
                      <a:lnTo>
                        <a:pt x="66" y="36"/>
                      </a:lnTo>
                      <a:lnTo>
                        <a:pt x="64" y="38"/>
                      </a:lnTo>
                      <a:lnTo>
                        <a:pt x="63" y="38"/>
                      </a:lnTo>
                      <a:lnTo>
                        <a:pt x="62" y="40"/>
                      </a:lnTo>
                      <a:lnTo>
                        <a:pt x="60" y="40"/>
                      </a:lnTo>
                      <a:lnTo>
                        <a:pt x="59" y="41"/>
                      </a:lnTo>
                      <a:lnTo>
                        <a:pt x="57" y="42"/>
                      </a:lnTo>
                      <a:lnTo>
                        <a:pt x="56" y="42"/>
                      </a:lnTo>
                      <a:lnTo>
                        <a:pt x="54" y="44"/>
                      </a:lnTo>
                      <a:lnTo>
                        <a:pt x="52" y="45"/>
                      </a:lnTo>
                      <a:lnTo>
                        <a:pt x="51" y="45"/>
                      </a:lnTo>
                      <a:lnTo>
                        <a:pt x="51" y="46"/>
                      </a:lnTo>
                      <a:lnTo>
                        <a:pt x="49" y="48"/>
                      </a:lnTo>
                      <a:lnTo>
                        <a:pt x="48" y="49"/>
                      </a:lnTo>
                      <a:lnTo>
                        <a:pt x="46" y="51"/>
                      </a:lnTo>
                      <a:lnTo>
                        <a:pt x="45" y="51"/>
                      </a:lnTo>
                      <a:lnTo>
                        <a:pt x="43" y="52"/>
                      </a:lnTo>
                      <a:lnTo>
                        <a:pt x="41" y="53"/>
                      </a:lnTo>
                      <a:lnTo>
                        <a:pt x="39" y="55"/>
                      </a:lnTo>
                      <a:lnTo>
                        <a:pt x="39" y="57"/>
                      </a:lnTo>
                      <a:lnTo>
                        <a:pt x="39" y="58"/>
                      </a:lnTo>
                      <a:lnTo>
                        <a:pt x="39" y="61"/>
                      </a:lnTo>
                      <a:lnTo>
                        <a:pt x="39" y="63"/>
                      </a:lnTo>
                      <a:lnTo>
                        <a:pt x="39" y="65"/>
                      </a:lnTo>
                      <a:lnTo>
                        <a:pt x="41" y="67"/>
                      </a:lnTo>
                      <a:lnTo>
                        <a:pt x="41" y="69"/>
                      </a:lnTo>
                      <a:lnTo>
                        <a:pt x="42" y="71"/>
                      </a:lnTo>
                      <a:lnTo>
                        <a:pt x="42" y="74"/>
                      </a:lnTo>
                      <a:lnTo>
                        <a:pt x="44" y="76"/>
                      </a:lnTo>
                      <a:lnTo>
                        <a:pt x="44" y="80"/>
                      </a:lnTo>
                      <a:lnTo>
                        <a:pt x="45" y="81"/>
                      </a:lnTo>
                      <a:lnTo>
                        <a:pt x="45" y="83"/>
                      </a:lnTo>
                      <a:lnTo>
                        <a:pt x="46" y="85"/>
                      </a:lnTo>
                      <a:lnTo>
                        <a:pt x="46" y="86"/>
                      </a:lnTo>
                      <a:lnTo>
                        <a:pt x="48" y="86"/>
                      </a:lnTo>
                      <a:lnTo>
                        <a:pt x="48" y="88"/>
                      </a:lnTo>
                      <a:lnTo>
                        <a:pt x="49" y="89"/>
                      </a:lnTo>
                      <a:lnTo>
                        <a:pt x="51" y="91"/>
                      </a:lnTo>
                      <a:lnTo>
                        <a:pt x="52" y="91"/>
                      </a:lnTo>
                      <a:lnTo>
                        <a:pt x="54" y="91"/>
                      </a:lnTo>
                      <a:lnTo>
                        <a:pt x="56" y="91"/>
                      </a:lnTo>
                      <a:lnTo>
                        <a:pt x="59" y="93"/>
                      </a:lnTo>
                      <a:lnTo>
                        <a:pt x="62" y="93"/>
                      </a:lnTo>
                      <a:lnTo>
                        <a:pt x="64" y="95"/>
                      </a:lnTo>
                      <a:lnTo>
                        <a:pt x="67" y="97"/>
                      </a:lnTo>
                      <a:lnTo>
                        <a:pt x="68" y="97"/>
                      </a:lnTo>
                      <a:lnTo>
                        <a:pt x="72" y="97"/>
                      </a:lnTo>
                      <a:lnTo>
                        <a:pt x="73" y="99"/>
                      </a:lnTo>
                      <a:lnTo>
                        <a:pt x="74" y="99"/>
                      </a:lnTo>
                      <a:lnTo>
                        <a:pt x="75" y="99"/>
                      </a:lnTo>
                      <a:lnTo>
                        <a:pt x="76" y="99"/>
                      </a:lnTo>
                      <a:lnTo>
                        <a:pt x="74" y="101"/>
                      </a:lnTo>
                      <a:lnTo>
                        <a:pt x="73" y="102"/>
                      </a:lnTo>
                      <a:lnTo>
                        <a:pt x="72" y="103"/>
                      </a:lnTo>
                      <a:lnTo>
                        <a:pt x="70" y="103"/>
                      </a:lnTo>
                      <a:lnTo>
                        <a:pt x="67" y="105"/>
                      </a:lnTo>
                      <a:lnTo>
                        <a:pt x="65" y="105"/>
                      </a:lnTo>
                      <a:lnTo>
                        <a:pt x="62" y="106"/>
                      </a:lnTo>
                      <a:lnTo>
                        <a:pt x="59" y="106"/>
                      </a:lnTo>
                      <a:lnTo>
                        <a:pt x="56" y="108"/>
                      </a:lnTo>
                      <a:lnTo>
                        <a:pt x="52" y="108"/>
                      </a:lnTo>
                      <a:lnTo>
                        <a:pt x="50" y="108"/>
                      </a:lnTo>
                      <a:lnTo>
                        <a:pt x="46" y="108"/>
                      </a:lnTo>
                      <a:lnTo>
                        <a:pt x="43" y="108"/>
                      </a:lnTo>
                      <a:lnTo>
                        <a:pt x="39" y="108"/>
                      </a:lnTo>
                      <a:lnTo>
                        <a:pt x="36" y="108"/>
                      </a:lnTo>
                      <a:lnTo>
                        <a:pt x="34" y="107"/>
                      </a:lnTo>
                      <a:lnTo>
                        <a:pt x="33" y="107"/>
                      </a:lnTo>
                      <a:lnTo>
                        <a:pt x="32" y="107"/>
                      </a:lnTo>
                      <a:lnTo>
                        <a:pt x="30" y="106"/>
                      </a:lnTo>
                      <a:lnTo>
                        <a:pt x="28" y="105"/>
                      </a:lnTo>
                      <a:lnTo>
                        <a:pt x="26" y="103"/>
                      </a:lnTo>
                      <a:lnTo>
                        <a:pt x="24" y="102"/>
                      </a:lnTo>
                      <a:lnTo>
                        <a:pt x="22" y="100"/>
                      </a:lnTo>
                      <a:lnTo>
                        <a:pt x="20" y="99"/>
                      </a:lnTo>
                      <a:lnTo>
                        <a:pt x="17" y="97"/>
                      </a:lnTo>
                      <a:lnTo>
                        <a:pt x="16" y="97"/>
                      </a:lnTo>
                      <a:lnTo>
                        <a:pt x="13" y="95"/>
                      </a:lnTo>
                      <a:lnTo>
                        <a:pt x="11" y="93"/>
                      </a:lnTo>
                      <a:lnTo>
                        <a:pt x="10" y="93"/>
                      </a:lnTo>
                      <a:lnTo>
                        <a:pt x="9" y="91"/>
                      </a:lnTo>
                      <a:lnTo>
                        <a:pt x="8" y="91"/>
                      </a:lnTo>
                      <a:lnTo>
                        <a:pt x="8" y="90"/>
                      </a:lnTo>
                      <a:lnTo>
                        <a:pt x="7" y="90"/>
                      </a:lnTo>
                      <a:lnTo>
                        <a:pt x="7" y="88"/>
                      </a:lnTo>
                      <a:lnTo>
                        <a:pt x="7" y="86"/>
                      </a:lnTo>
                      <a:lnTo>
                        <a:pt x="7" y="85"/>
                      </a:lnTo>
                      <a:lnTo>
                        <a:pt x="9" y="83"/>
                      </a:lnTo>
                      <a:lnTo>
                        <a:pt x="10" y="82"/>
                      </a:lnTo>
                      <a:lnTo>
                        <a:pt x="10" y="81"/>
                      </a:lnTo>
                      <a:lnTo>
                        <a:pt x="11" y="80"/>
                      </a:lnTo>
                      <a:lnTo>
                        <a:pt x="11" y="78"/>
                      </a:lnTo>
                      <a:lnTo>
                        <a:pt x="11" y="76"/>
                      </a:lnTo>
                      <a:lnTo>
                        <a:pt x="13" y="74"/>
                      </a:lnTo>
                      <a:lnTo>
                        <a:pt x="13" y="74"/>
                      </a:lnTo>
                      <a:lnTo>
                        <a:pt x="13" y="72"/>
                      </a:lnTo>
                      <a:lnTo>
                        <a:pt x="13" y="70"/>
                      </a:lnTo>
                      <a:lnTo>
                        <a:pt x="13" y="68"/>
                      </a:lnTo>
                      <a:lnTo>
                        <a:pt x="13" y="67"/>
                      </a:lnTo>
                      <a:lnTo>
                        <a:pt x="13" y="65"/>
                      </a:lnTo>
                      <a:lnTo>
                        <a:pt x="14" y="63"/>
                      </a:lnTo>
                      <a:lnTo>
                        <a:pt x="14" y="62"/>
                      </a:lnTo>
                      <a:lnTo>
                        <a:pt x="14" y="60"/>
                      </a:lnTo>
                      <a:lnTo>
                        <a:pt x="14" y="58"/>
                      </a:lnTo>
                      <a:lnTo>
                        <a:pt x="16" y="57"/>
                      </a:lnTo>
                      <a:lnTo>
                        <a:pt x="16" y="56"/>
                      </a:lnTo>
                      <a:lnTo>
                        <a:pt x="16" y="54"/>
                      </a:lnTo>
                      <a:lnTo>
                        <a:pt x="16" y="52"/>
                      </a:lnTo>
                      <a:lnTo>
                        <a:pt x="17" y="50"/>
                      </a:lnTo>
                      <a:lnTo>
                        <a:pt x="15" y="50"/>
                      </a:lnTo>
                      <a:lnTo>
                        <a:pt x="15" y="48"/>
                      </a:lnTo>
                      <a:lnTo>
                        <a:pt x="14" y="47"/>
                      </a:lnTo>
                      <a:lnTo>
                        <a:pt x="14" y="45"/>
                      </a:lnTo>
                      <a:lnTo>
                        <a:pt x="12" y="44"/>
                      </a:lnTo>
                      <a:lnTo>
                        <a:pt x="12" y="42"/>
                      </a:lnTo>
                      <a:lnTo>
                        <a:pt x="12" y="41"/>
                      </a:lnTo>
                      <a:lnTo>
                        <a:pt x="12" y="40"/>
                      </a:lnTo>
                      <a:lnTo>
                        <a:pt x="11" y="38"/>
                      </a:lnTo>
                      <a:lnTo>
                        <a:pt x="11" y="36"/>
                      </a:lnTo>
                      <a:lnTo>
                        <a:pt x="10" y="34"/>
                      </a:lnTo>
                      <a:lnTo>
                        <a:pt x="10" y="33"/>
                      </a:lnTo>
                      <a:lnTo>
                        <a:pt x="9" y="32"/>
                      </a:lnTo>
                      <a:lnTo>
                        <a:pt x="9" y="30"/>
                      </a:lnTo>
                      <a:lnTo>
                        <a:pt x="9" y="28"/>
                      </a:lnTo>
                      <a:lnTo>
                        <a:pt x="9" y="27"/>
                      </a:lnTo>
                      <a:lnTo>
                        <a:pt x="7" y="27"/>
                      </a:lnTo>
                      <a:lnTo>
                        <a:pt x="6" y="27"/>
                      </a:lnTo>
                      <a:lnTo>
                        <a:pt x="6" y="26"/>
                      </a:lnTo>
                      <a:lnTo>
                        <a:pt x="5" y="26"/>
                      </a:lnTo>
                      <a:lnTo>
                        <a:pt x="5" y="24"/>
                      </a:lnTo>
                      <a:lnTo>
                        <a:pt x="3" y="24"/>
                      </a:lnTo>
                      <a:lnTo>
                        <a:pt x="2" y="24"/>
                      </a:lnTo>
                      <a:lnTo>
                        <a:pt x="2" y="23"/>
                      </a:lnTo>
                      <a:lnTo>
                        <a:pt x="2" y="22"/>
                      </a:lnTo>
                      <a:lnTo>
                        <a:pt x="2" y="21"/>
                      </a:lnTo>
                      <a:lnTo>
                        <a:pt x="1" y="21"/>
                      </a:lnTo>
                      <a:lnTo>
                        <a:pt x="1" y="19"/>
                      </a:lnTo>
                      <a:lnTo>
                        <a:pt x="0" y="19"/>
                      </a:lnTo>
                      <a:lnTo>
                        <a:pt x="0" y="17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15"/>
                      </a:lnTo>
                      <a:lnTo>
                        <a:pt x="0" y="13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2" y="10"/>
                      </a:lnTo>
                      <a:lnTo>
                        <a:pt x="6" y="7"/>
                      </a:lnTo>
                      <a:lnTo>
                        <a:pt x="11" y="6"/>
                      </a:lnTo>
                      <a:lnTo>
                        <a:pt x="17" y="3"/>
                      </a:lnTo>
                      <a:lnTo>
                        <a:pt x="22" y="3"/>
                      </a:lnTo>
                      <a:lnTo>
                        <a:pt x="28" y="1"/>
                      </a:lnTo>
                      <a:lnTo>
                        <a:pt x="34" y="1"/>
                      </a:lnTo>
                      <a:lnTo>
                        <a:pt x="42" y="0"/>
                      </a:lnTo>
                      <a:lnTo>
                        <a:pt x="48" y="0"/>
                      </a:lnTo>
                      <a:lnTo>
                        <a:pt x="54" y="0"/>
                      </a:lnTo>
                      <a:lnTo>
                        <a:pt x="60" y="1"/>
                      </a:lnTo>
                      <a:lnTo>
                        <a:pt x="67" y="1"/>
                      </a:lnTo>
                      <a:lnTo>
                        <a:pt x="71" y="3"/>
                      </a:lnTo>
                      <a:lnTo>
                        <a:pt x="76" y="5"/>
                      </a:lnTo>
                      <a:lnTo>
                        <a:pt x="79" y="7"/>
                      </a:lnTo>
                      <a:lnTo>
                        <a:pt x="84" y="9"/>
                      </a:lnTo>
                      <a:lnTo>
                        <a:pt x="84" y="11"/>
                      </a:lnTo>
                      <a:lnTo>
                        <a:pt x="84" y="11"/>
                      </a:lnTo>
                      <a:lnTo>
                        <a:pt x="84" y="13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16" name="Freeform 184"/>
                <p:cNvSpPr>
                  <a:spLocks/>
                </p:cNvSpPr>
                <p:nvPr/>
              </p:nvSpPr>
              <p:spPr bwMode="auto">
                <a:xfrm>
                  <a:off x="3027" y="3758"/>
                  <a:ext cx="57" cy="94"/>
                </a:xfrm>
                <a:custGeom>
                  <a:avLst/>
                  <a:gdLst/>
                  <a:ahLst/>
                  <a:cxnLst>
                    <a:cxn ang="0">
                      <a:pos x="34" y="18"/>
                    </a:cxn>
                    <a:cxn ang="0">
                      <a:pos x="28" y="22"/>
                    </a:cxn>
                    <a:cxn ang="0">
                      <a:pos x="22" y="25"/>
                    </a:cxn>
                    <a:cxn ang="0">
                      <a:pos x="5" y="30"/>
                    </a:cxn>
                    <a:cxn ang="0">
                      <a:pos x="0" y="43"/>
                    </a:cxn>
                    <a:cxn ang="0">
                      <a:pos x="6" y="72"/>
                    </a:cxn>
                    <a:cxn ang="0">
                      <a:pos x="15" y="85"/>
                    </a:cxn>
                    <a:cxn ang="0">
                      <a:pos x="28" y="93"/>
                    </a:cxn>
                    <a:cxn ang="0">
                      <a:pos x="44" y="89"/>
                    </a:cxn>
                    <a:cxn ang="0">
                      <a:pos x="51" y="84"/>
                    </a:cxn>
                    <a:cxn ang="0">
                      <a:pos x="56" y="77"/>
                    </a:cxn>
                    <a:cxn ang="0">
                      <a:pos x="56" y="67"/>
                    </a:cxn>
                    <a:cxn ang="0">
                      <a:pos x="45" y="45"/>
                    </a:cxn>
                    <a:cxn ang="0">
                      <a:pos x="44" y="0"/>
                    </a:cxn>
                    <a:cxn ang="0">
                      <a:pos x="34" y="18"/>
                    </a:cxn>
                  </a:cxnLst>
                  <a:rect l="0" t="0" r="r" b="b"/>
                  <a:pathLst>
                    <a:path w="57" h="94">
                      <a:moveTo>
                        <a:pt x="34" y="18"/>
                      </a:moveTo>
                      <a:lnTo>
                        <a:pt x="28" y="22"/>
                      </a:lnTo>
                      <a:lnTo>
                        <a:pt x="22" y="25"/>
                      </a:lnTo>
                      <a:lnTo>
                        <a:pt x="5" y="30"/>
                      </a:lnTo>
                      <a:lnTo>
                        <a:pt x="0" y="43"/>
                      </a:lnTo>
                      <a:lnTo>
                        <a:pt x="6" y="72"/>
                      </a:lnTo>
                      <a:lnTo>
                        <a:pt x="15" y="85"/>
                      </a:lnTo>
                      <a:lnTo>
                        <a:pt x="28" y="93"/>
                      </a:lnTo>
                      <a:lnTo>
                        <a:pt x="44" y="89"/>
                      </a:lnTo>
                      <a:lnTo>
                        <a:pt x="51" y="84"/>
                      </a:lnTo>
                      <a:lnTo>
                        <a:pt x="56" y="77"/>
                      </a:lnTo>
                      <a:lnTo>
                        <a:pt x="56" y="67"/>
                      </a:lnTo>
                      <a:lnTo>
                        <a:pt x="45" y="45"/>
                      </a:lnTo>
                      <a:lnTo>
                        <a:pt x="44" y="0"/>
                      </a:lnTo>
                      <a:lnTo>
                        <a:pt x="34" y="18"/>
                      </a:lnTo>
                    </a:path>
                  </a:pathLst>
                </a:custGeom>
                <a:solidFill>
                  <a:srgbClr val="363636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17" name="Freeform 185"/>
                <p:cNvSpPr>
                  <a:spLocks/>
                </p:cNvSpPr>
                <p:nvPr/>
              </p:nvSpPr>
              <p:spPr bwMode="auto">
                <a:xfrm>
                  <a:off x="2959" y="3647"/>
                  <a:ext cx="49" cy="46"/>
                </a:xfrm>
                <a:custGeom>
                  <a:avLst/>
                  <a:gdLst/>
                  <a:ahLst/>
                  <a:cxnLst>
                    <a:cxn ang="0">
                      <a:pos x="35" y="0"/>
                    </a:cxn>
                    <a:cxn ang="0">
                      <a:pos x="48" y="15"/>
                    </a:cxn>
                    <a:cxn ang="0">
                      <a:pos x="39" y="32"/>
                    </a:cxn>
                    <a:cxn ang="0">
                      <a:pos x="19" y="45"/>
                    </a:cxn>
                    <a:cxn ang="0">
                      <a:pos x="0" y="42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49" h="46">
                      <a:moveTo>
                        <a:pt x="35" y="0"/>
                      </a:moveTo>
                      <a:lnTo>
                        <a:pt x="48" y="15"/>
                      </a:lnTo>
                      <a:lnTo>
                        <a:pt x="39" y="32"/>
                      </a:lnTo>
                      <a:lnTo>
                        <a:pt x="19" y="45"/>
                      </a:lnTo>
                      <a:lnTo>
                        <a:pt x="0" y="42"/>
                      </a:lnTo>
                      <a:lnTo>
                        <a:pt x="35" y="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18" name="Freeform 186"/>
                <p:cNvSpPr>
                  <a:spLocks/>
                </p:cNvSpPr>
                <p:nvPr/>
              </p:nvSpPr>
              <p:spPr bwMode="auto">
                <a:xfrm>
                  <a:off x="2956" y="3587"/>
                  <a:ext cx="132" cy="193"/>
                </a:xfrm>
                <a:custGeom>
                  <a:avLst/>
                  <a:gdLst/>
                  <a:ahLst/>
                  <a:cxnLst>
                    <a:cxn ang="0">
                      <a:pos x="39" y="55"/>
                    </a:cxn>
                    <a:cxn ang="0">
                      <a:pos x="32" y="66"/>
                    </a:cxn>
                    <a:cxn ang="0">
                      <a:pos x="42" y="80"/>
                    </a:cxn>
                    <a:cxn ang="0">
                      <a:pos x="48" y="85"/>
                    </a:cxn>
                    <a:cxn ang="0">
                      <a:pos x="43" y="91"/>
                    </a:cxn>
                    <a:cxn ang="0">
                      <a:pos x="38" y="94"/>
                    </a:cxn>
                    <a:cxn ang="0">
                      <a:pos x="33" y="96"/>
                    </a:cxn>
                    <a:cxn ang="0">
                      <a:pos x="28" y="98"/>
                    </a:cxn>
                    <a:cxn ang="0">
                      <a:pos x="24" y="98"/>
                    </a:cxn>
                    <a:cxn ang="0">
                      <a:pos x="19" y="98"/>
                    </a:cxn>
                    <a:cxn ang="0">
                      <a:pos x="12" y="97"/>
                    </a:cxn>
                    <a:cxn ang="0">
                      <a:pos x="14" y="93"/>
                    </a:cxn>
                    <a:cxn ang="0">
                      <a:pos x="14" y="88"/>
                    </a:cxn>
                    <a:cxn ang="0">
                      <a:pos x="26" y="72"/>
                    </a:cxn>
                    <a:cxn ang="0">
                      <a:pos x="6" y="97"/>
                    </a:cxn>
                    <a:cxn ang="0">
                      <a:pos x="0" y="111"/>
                    </a:cxn>
                    <a:cxn ang="0">
                      <a:pos x="7" y="137"/>
                    </a:cxn>
                    <a:cxn ang="0">
                      <a:pos x="24" y="157"/>
                    </a:cxn>
                    <a:cxn ang="0">
                      <a:pos x="30" y="174"/>
                    </a:cxn>
                    <a:cxn ang="0">
                      <a:pos x="60" y="187"/>
                    </a:cxn>
                    <a:cxn ang="0">
                      <a:pos x="78" y="192"/>
                    </a:cxn>
                    <a:cxn ang="0">
                      <a:pos x="88" y="190"/>
                    </a:cxn>
                    <a:cxn ang="0">
                      <a:pos x="99" y="186"/>
                    </a:cxn>
                    <a:cxn ang="0">
                      <a:pos x="105" y="180"/>
                    </a:cxn>
                    <a:cxn ang="0">
                      <a:pos x="113" y="168"/>
                    </a:cxn>
                    <a:cxn ang="0">
                      <a:pos x="126" y="132"/>
                    </a:cxn>
                    <a:cxn ang="0">
                      <a:pos x="131" y="114"/>
                    </a:cxn>
                    <a:cxn ang="0">
                      <a:pos x="129" y="103"/>
                    </a:cxn>
                    <a:cxn ang="0">
                      <a:pos x="127" y="91"/>
                    </a:cxn>
                    <a:cxn ang="0">
                      <a:pos x="123" y="76"/>
                    </a:cxn>
                    <a:cxn ang="0">
                      <a:pos x="117" y="65"/>
                    </a:cxn>
                    <a:cxn ang="0">
                      <a:pos x="114" y="45"/>
                    </a:cxn>
                    <a:cxn ang="0">
                      <a:pos x="107" y="30"/>
                    </a:cxn>
                    <a:cxn ang="0">
                      <a:pos x="94" y="12"/>
                    </a:cxn>
                    <a:cxn ang="0">
                      <a:pos x="83" y="0"/>
                    </a:cxn>
                    <a:cxn ang="0">
                      <a:pos x="76" y="18"/>
                    </a:cxn>
                    <a:cxn ang="0">
                      <a:pos x="58" y="30"/>
                    </a:cxn>
                    <a:cxn ang="0">
                      <a:pos x="49" y="38"/>
                    </a:cxn>
                    <a:cxn ang="0">
                      <a:pos x="42" y="47"/>
                    </a:cxn>
                    <a:cxn ang="0">
                      <a:pos x="39" y="55"/>
                    </a:cxn>
                  </a:cxnLst>
                  <a:rect l="0" t="0" r="r" b="b"/>
                  <a:pathLst>
                    <a:path w="132" h="193">
                      <a:moveTo>
                        <a:pt x="39" y="55"/>
                      </a:moveTo>
                      <a:lnTo>
                        <a:pt x="32" y="66"/>
                      </a:lnTo>
                      <a:lnTo>
                        <a:pt x="42" y="80"/>
                      </a:lnTo>
                      <a:lnTo>
                        <a:pt x="48" y="85"/>
                      </a:lnTo>
                      <a:lnTo>
                        <a:pt x="43" y="91"/>
                      </a:lnTo>
                      <a:lnTo>
                        <a:pt x="38" y="94"/>
                      </a:lnTo>
                      <a:lnTo>
                        <a:pt x="33" y="96"/>
                      </a:lnTo>
                      <a:lnTo>
                        <a:pt x="28" y="98"/>
                      </a:lnTo>
                      <a:lnTo>
                        <a:pt x="24" y="98"/>
                      </a:lnTo>
                      <a:lnTo>
                        <a:pt x="19" y="98"/>
                      </a:lnTo>
                      <a:lnTo>
                        <a:pt x="12" y="97"/>
                      </a:lnTo>
                      <a:lnTo>
                        <a:pt x="14" y="93"/>
                      </a:lnTo>
                      <a:lnTo>
                        <a:pt x="14" y="88"/>
                      </a:lnTo>
                      <a:lnTo>
                        <a:pt x="26" y="72"/>
                      </a:lnTo>
                      <a:lnTo>
                        <a:pt x="6" y="97"/>
                      </a:lnTo>
                      <a:lnTo>
                        <a:pt x="0" y="111"/>
                      </a:lnTo>
                      <a:lnTo>
                        <a:pt x="7" y="137"/>
                      </a:lnTo>
                      <a:lnTo>
                        <a:pt x="24" y="157"/>
                      </a:lnTo>
                      <a:lnTo>
                        <a:pt x="30" y="174"/>
                      </a:lnTo>
                      <a:lnTo>
                        <a:pt x="60" y="187"/>
                      </a:lnTo>
                      <a:lnTo>
                        <a:pt x="78" y="192"/>
                      </a:lnTo>
                      <a:lnTo>
                        <a:pt x="88" y="190"/>
                      </a:lnTo>
                      <a:lnTo>
                        <a:pt x="99" y="186"/>
                      </a:lnTo>
                      <a:lnTo>
                        <a:pt x="105" y="180"/>
                      </a:lnTo>
                      <a:lnTo>
                        <a:pt x="113" y="168"/>
                      </a:lnTo>
                      <a:lnTo>
                        <a:pt x="126" y="132"/>
                      </a:lnTo>
                      <a:lnTo>
                        <a:pt x="131" y="114"/>
                      </a:lnTo>
                      <a:lnTo>
                        <a:pt x="129" y="103"/>
                      </a:lnTo>
                      <a:lnTo>
                        <a:pt x="127" y="91"/>
                      </a:lnTo>
                      <a:lnTo>
                        <a:pt x="123" y="76"/>
                      </a:lnTo>
                      <a:lnTo>
                        <a:pt x="117" y="65"/>
                      </a:lnTo>
                      <a:lnTo>
                        <a:pt x="114" y="45"/>
                      </a:lnTo>
                      <a:lnTo>
                        <a:pt x="107" y="30"/>
                      </a:lnTo>
                      <a:lnTo>
                        <a:pt x="94" y="12"/>
                      </a:lnTo>
                      <a:lnTo>
                        <a:pt x="83" y="0"/>
                      </a:lnTo>
                      <a:lnTo>
                        <a:pt x="76" y="18"/>
                      </a:lnTo>
                      <a:lnTo>
                        <a:pt x="58" y="30"/>
                      </a:lnTo>
                      <a:lnTo>
                        <a:pt x="49" y="38"/>
                      </a:lnTo>
                      <a:lnTo>
                        <a:pt x="42" y="47"/>
                      </a:lnTo>
                      <a:lnTo>
                        <a:pt x="39" y="55"/>
                      </a:lnTo>
                    </a:path>
                  </a:pathLst>
                </a:custGeom>
                <a:solidFill>
                  <a:srgbClr val="363636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19" name="Freeform 187"/>
                <p:cNvSpPr>
                  <a:spLocks/>
                </p:cNvSpPr>
                <p:nvPr/>
              </p:nvSpPr>
              <p:spPr bwMode="auto">
                <a:xfrm>
                  <a:off x="3011" y="3696"/>
                  <a:ext cx="35" cy="20"/>
                </a:xfrm>
                <a:custGeom>
                  <a:avLst/>
                  <a:gdLst/>
                  <a:ahLst/>
                  <a:cxnLst>
                    <a:cxn ang="0">
                      <a:pos x="26" y="6"/>
                    </a:cxn>
                    <a:cxn ang="0">
                      <a:pos x="22" y="4"/>
                    </a:cxn>
                    <a:cxn ang="0">
                      <a:pos x="22" y="7"/>
                    </a:cxn>
                    <a:cxn ang="0">
                      <a:pos x="17" y="11"/>
                    </a:cxn>
                    <a:cxn ang="0">
                      <a:pos x="12" y="11"/>
                    </a:cxn>
                    <a:cxn ang="0">
                      <a:pos x="10" y="7"/>
                    </a:cxn>
                    <a:cxn ang="0">
                      <a:pos x="6" y="11"/>
                    </a:cxn>
                    <a:cxn ang="0">
                      <a:pos x="0" y="10"/>
                    </a:cxn>
                    <a:cxn ang="0">
                      <a:pos x="0" y="14"/>
                    </a:cxn>
                    <a:cxn ang="0">
                      <a:pos x="1" y="18"/>
                    </a:cxn>
                    <a:cxn ang="0">
                      <a:pos x="6" y="19"/>
                    </a:cxn>
                    <a:cxn ang="0">
                      <a:pos x="10" y="14"/>
                    </a:cxn>
                    <a:cxn ang="0">
                      <a:pos x="21" y="15"/>
                    </a:cxn>
                    <a:cxn ang="0">
                      <a:pos x="25" y="13"/>
                    </a:cxn>
                    <a:cxn ang="0">
                      <a:pos x="29" y="12"/>
                    </a:cxn>
                    <a:cxn ang="0">
                      <a:pos x="33" y="8"/>
                    </a:cxn>
                    <a:cxn ang="0">
                      <a:pos x="34" y="5"/>
                    </a:cxn>
                    <a:cxn ang="0">
                      <a:pos x="34" y="0"/>
                    </a:cxn>
                    <a:cxn ang="0">
                      <a:pos x="29" y="5"/>
                    </a:cxn>
                    <a:cxn ang="0">
                      <a:pos x="26" y="6"/>
                    </a:cxn>
                  </a:cxnLst>
                  <a:rect l="0" t="0" r="r" b="b"/>
                  <a:pathLst>
                    <a:path w="35" h="20">
                      <a:moveTo>
                        <a:pt x="26" y="6"/>
                      </a:moveTo>
                      <a:lnTo>
                        <a:pt x="22" y="4"/>
                      </a:lnTo>
                      <a:lnTo>
                        <a:pt x="22" y="7"/>
                      </a:lnTo>
                      <a:lnTo>
                        <a:pt x="17" y="11"/>
                      </a:lnTo>
                      <a:lnTo>
                        <a:pt x="12" y="11"/>
                      </a:lnTo>
                      <a:lnTo>
                        <a:pt x="10" y="7"/>
                      </a:lnTo>
                      <a:lnTo>
                        <a:pt x="6" y="11"/>
                      </a:lnTo>
                      <a:lnTo>
                        <a:pt x="0" y="10"/>
                      </a:lnTo>
                      <a:lnTo>
                        <a:pt x="0" y="14"/>
                      </a:lnTo>
                      <a:lnTo>
                        <a:pt x="1" y="18"/>
                      </a:lnTo>
                      <a:lnTo>
                        <a:pt x="6" y="19"/>
                      </a:lnTo>
                      <a:lnTo>
                        <a:pt x="10" y="14"/>
                      </a:lnTo>
                      <a:lnTo>
                        <a:pt x="21" y="15"/>
                      </a:lnTo>
                      <a:lnTo>
                        <a:pt x="25" y="13"/>
                      </a:lnTo>
                      <a:lnTo>
                        <a:pt x="29" y="12"/>
                      </a:lnTo>
                      <a:lnTo>
                        <a:pt x="33" y="8"/>
                      </a:lnTo>
                      <a:lnTo>
                        <a:pt x="34" y="5"/>
                      </a:lnTo>
                      <a:lnTo>
                        <a:pt x="34" y="0"/>
                      </a:lnTo>
                      <a:lnTo>
                        <a:pt x="29" y="5"/>
                      </a:lnTo>
                      <a:lnTo>
                        <a:pt x="26" y="6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20" name="Freeform 188"/>
                <p:cNvSpPr>
                  <a:spLocks/>
                </p:cNvSpPr>
                <p:nvPr/>
              </p:nvSpPr>
              <p:spPr bwMode="auto">
                <a:xfrm>
                  <a:off x="2989" y="3675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2"/>
                    </a:cxn>
                    <a:cxn ang="0">
                      <a:pos x="3" y="7"/>
                    </a:cxn>
                    <a:cxn ang="0">
                      <a:pos x="0" y="15"/>
                    </a:cxn>
                    <a:cxn ang="0">
                      <a:pos x="8" y="10"/>
                    </a:cxn>
                    <a:cxn ang="0">
                      <a:pos x="15" y="5"/>
                    </a:cxn>
                    <a:cxn ang="0">
                      <a:pos x="7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6" h="16">
                      <a:moveTo>
                        <a:pt x="0" y="0"/>
                      </a:moveTo>
                      <a:lnTo>
                        <a:pt x="1" y="2"/>
                      </a:lnTo>
                      <a:lnTo>
                        <a:pt x="3" y="7"/>
                      </a:lnTo>
                      <a:lnTo>
                        <a:pt x="0" y="15"/>
                      </a:lnTo>
                      <a:lnTo>
                        <a:pt x="8" y="10"/>
                      </a:lnTo>
                      <a:lnTo>
                        <a:pt x="15" y="5"/>
                      </a:lnTo>
                      <a:lnTo>
                        <a:pt x="7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FFF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21" name="Freeform 189"/>
                <p:cNvSpPr>
                  <a:spLocks/>
                </p:cNvSpPr>
                <p:nvPr/>
              </p:nvSpPr>
              <p:spPr bwMode="auto">
                <a:xfrm>
                  <a:off x="2973" y="3677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7" y="5"/>
                    </a:cxn>
                    <a:cxn ang="0">
                      <a:pos x="10" y="10"/>
                    </a:cxn>
                    <a:cxn ang="0">
                      <a:pos x="15" y="15"/>
                    </a:cxn>
                    <a:cxn ang="0">
                      <a:pos x="7" y="15"/>
                    </a:cxn>
                    <a:cxn ang="0">
                      <a:pos x="0" y="15"/>
                    </a:cxn>
                    <a:cxn ang="0">
                      <a:pos x="5" y="2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6" h="16">
                      <a:moveTo>
                        <a:pt x="8" y="0"/>
                      </a:moveTo>
                      <a:lnTo>
                        <a:pt x="7" y="5"/>
                      </a:lnTo>
                      <a:lnTo>
                        <a:pt x="10" y="10"/>
                      </a:lnTo>
                      <a:lnTo>
                        <a:pt x="15" y="15"/>
                      </a:lnTo>
                      <a:lnTo>
                        <a:pt x="7" y="15"/>
                      </a:lnTo>
                      <a:lnTo>
                        <a:pt x="0" y="15"/>
                      </a:lnTo>
                      <a:lnTo>
                        <a:pt x="5" y="2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22" name="Freeform 190"/>
                <p:cNvSpPr>
                  <a:spLocks/>
                </p:cNvSpPr>
                <p:nvPr/>
              </p:nvSpPr>
              <p:spPr bwMode="auto">
                <a:xfrm>
                  <a:off x="2977" y="3653"/>
                  <a:ext cx="41" cy="57"/>
                </a:xfrm>
                <a:custGeom>
                  <a:avLst/>
                  <a:gdLst/>
                  <a:ahLst/>
                  <a:cxnLst>
                    <a:cxn ang="0">
                      <a:pos x="15" y="0"/>
                    </a:cxn>
                    <a:cxn ang="0">
                      <a:pos x="15" y="3"/>
                    </a:cxn>
                    <a:cxn ang="0">
                      <a:pos x="16" y="5"/>
                    </a:cxn>
                    <a:cxn ang="0">
                      <a:pos x="17" y="6"/>
                    </a:cxn>
                    <a:cxn ang="0">
                      <a:pos x="20" y="6"/>
                    </a:cxn>
                    <a:cxn ang="0">
                      <a:pos x="23" y="6"/>
                    </a:cxn>
                    <a:cxn ang="0">
                      <a:pos x="24" y="7"/>
                    </a:cxn>
                    <a:cxn ang="0">
                      <a:pos x="27" y="7"/>
                    </a:cxn>
                    <a:cxn ang="0">
                      <a:pos x="29" y="9"/>
                    </a:cxn>
                    <a:cxn ang="0">
                      <a:pos x="29" y="12"/>
                    </a:cxn>
                    <a:cxn ang="0">
                      <a:pos x="29" y="15"/>
                    </a:cxn>
                    <a:cxn ang="0">
                      <a:pos x="30" y="17"/>
                    </a:cxn>
                    <a:cxn ang="0">
                      <a:pos x="30" y="19"/>
                    </a:cxn>
                    <a:cxn ang="0">
                      <a:pos x="31" y="21"/>
                    </a:cxn>
                    <a:cxn ang="0">
                      <a:pos x="33" y="22"/>
                    </a:cxn>
                    <a:cxn ang="0">
                      <a:pos x="33" y="24"/>
                    </a:cxn>
                    <a:cxn ang="0">
                      <a:pos x="33" y="27"/>
                    </a:cxn>
                    <a:cxn ang="0">
                      <a:pos x="33" y="30"/>
                    </a:cxn>
                    <a:cxn ang="0">
                      <a:pos x="33" y="34"/>
                    </a:cxn>
                    <a:cxn ang="0">
                      <a:pos x="35" y="34"/>
                    </a:cxn>
                    <a:cxn ang="0">
                      <a:pos x="35" y="38"/>
                    </a:cxn>
                    <a:cxn ang="0">
                      <a:pos x="35" y="40"/>
                    </a:cxn>
                    <a:cxn ang="0">
                      <a:pos x="35" y="44"/>
                    </a:cxn>
                    <a:cxn ang="0">
                      <a:pos x="37" y="45"/>
                    </a:cxn>
                    <a:cxn ang="0">
                      <a:pos x="39" y="47"/>
                    </a:cxn>
                    <a:cxn ang="0">
                      <a:pos x="38" y="48"/>
                    </a:cxn>
                    <a:cxn ang="0">
                      <a:pos x="35" y="48"/>
                    </a:cxn>
                    <a:cxn ang="0">
                      <a:pos x="34" y="48"/>
                    </a:cxn>
                    <a:cxn ang="0">
                      <a:pos x="32" y="47"/>
                    </a:cxn>
                    <a:cxn ang="0">
                      <a:pos x="29" y="51"/>
                    </a:cxn>
                    <a:cxn ang="0">
                      <a:pos x="29" y="53"/>
                    </a:cxn>
                    <a:cxn ang="0">
                      <a:pos x="29" y="56"/>
                    </a:cxn>
                    <a:cxn ang="0">
                      <a:pos x="27" y="54"/>
                    </a:cxn>
                    <a:cxn ang="0">
                      <a:pos x="26" y="50"/>
                    </a:cxn>
                    <a:cxn ang="0">
                      <a:pos x="25" y="45"/>
                    </a:cxn>
                    <a:cxn ang="0">
                      <a:pos x="25" y="39"/>
                    </a:cxn>
                    <a:cxn ang="0">
                      <a:pos x="25" y="34"/>
                    </a:cxn>
                    <a:cxn ang="0">
                      <a:pos x="25" y="28"/>
                    </a:cxn>
                    <a:cxn ang="0">
                      <a:pos x="25" y="24"/>
                    </a:cxn>
                    <a:cxn ang="0">
                      <a:pos x="25" y="22"/>
                    </a:cxn>
                    <a:cxn ang="0">
                      <a:pos x="23" y="22"/>
                    </a:cxn>
                    <a:cxn ang="0">
                      <a:pos x="22" y="20"/>
                    </a:cxn>
                    <a:cxn ang="0">
                      <a:pos x="21" y="18"/>
                    </a:cxn>
                    <a:cxn ang="0">
                      <a:pos x="17" y="18"/>
                    </a:cxn>
                    <a:cxn ang="0">
                      <a:pos x="16" y="17"/>
                    </a:cxn>
                    <a:cxn ang="0">
                      <a:pos x="15" y="15"/>
                    </a:cxn>
                    <a:cxn ang="0">
                      <a:pos x="12" y="15"/>
                    </a:cxn>
                    <a:cxn ang="0">
                      <a:pos x="9" y="15"/>
                    </a:cxn>
                    <a:cxn ang="0">
                      <a:pos x="5" y="15"/>
                    </a:cxn>
                    <a:cxn ang="0">
                      <a:pos x="3" y="16"/>
                    </a:cxn>
                    <a:cxn ang="0">
                      <a:pos x="0" y="17"/>
                    </a:cxn>
                    <a:cxn ang="0">
                      <a:pos x="0" y="17"/>
                    </a:cxn>
                    <a:cxn ang="0">
                      <a:pos x="2" y="14"/>
                    </a:cxn>
                    <a:cxn ang="0">
                      <a:pos x="5" y="11"/>
                    </a:cxn>
                    <a:cxn ang="0">
                      <a:pos x="7" y="8"/>
                    </a:cxn>
                    <a:cxn ang="0">
                      <a:pos x="11" y="5"/>
                    </a:cxn>
                    <a:cxn ang="0">
                      <a:pos x="13" y="1"/>
                    </a:cxn>
                    <a:cxn ang="0">
                      <a:pos x="15" y="0"/>
                    </a:cxn>
                  </a:cxnLst>
                  <a:rect l="0" t="0" r="r" b="b"/>
                  <a:pathLst>
                    <a:path w="41" h="57">
                      <a:moveTo>
                        <a:pt x="15" y="0"/>
                      </a:moveTo>
                      <a:lnTo>
                        <a:pt x="15" y="0"/>
                      </a:lnTo>
                      <a:lnTo>
                        <a:pt x="15" y="1"/>
                      </a:lnTo>
                      <a:lnTo>
                        <a:pt x="15" y="3"/>
                      </a:lnTo>
                      <a:lnTo>
                        <a:pt x="16" y="3"/>
                      </a:lnTo>
                      <a:lnTo>
                        <a:pt x="16" y="5"/>
                      </a:lnTo>
                      <a:lnTo>
                        <a:pt x="17" y="5"/>
                      </a:lnTo>
                      <a:lnTo>
                        <a:pt x="17" y="6"/>
                      </a:lnTo>
                      <a:lnTo>
                        <a:pt x="18" y="6"/>
                      </a:lnTo>
                      <a:lnTo>
                        <a:pt x="20" y="6"/>
                      </a:lnTo>
                      <a:lnTo>
                        <a:pt x="21" y="6"/>
                      </a:lnTo>
                      <a:lnTo>
                        <a:pt x="23" y="6"/>
                      </a:lnTo>
                      <a:lnTo>
                        <a:pt x="23" y="7"/>
                      </a:lnTo>
                      <a:lnTo>
                        <a:pt x="24" y="7"/>
                      </a:lnTo>
                      <a:lnTo>
                        <a:pt x="26" y="7"/>
                      </a:lnTo>
                      <a:lnTo>
                        <a:pt x="27" y="7"/>
                      </a:lnTo>
                      <a:lnTo>
                        <a:pt x="29" y="7"/>
                      </a:lnTo>
                      <a:lnTo>
                        <a:pt x="29" y="9"/>
                      </a:lnTo>
                      <a:lnTo>
                        <a:pt x="29" y="11"/>
                      </a:lnTo>
                      <a:lnTo>
                        <a:pt x="29" y="12"/>
                      </a:lnTo>
                      <a:lnTo>
                        <a:pt x="29" y="13"/>
                      </a:lnTo>
                      <a:lnTo>
                        <a:pt x="29" y="15"/>
                      </a:lnTo>
                      <a:lnTo>
                        <a:pt x="30" y="15"/>
                      </a:lnTo>
                      <a:lnTo>
                        <a:pt x="30" y="17"/>
                      </a:lnTo>
                      <a:lnTo>
                        <a:pt x="30" y="17"/>
                      </a:lnTo>
                      <a:lnTo>
                        <a:pt x="30" y="19"/>
                      </a:lnTo>
                      <a:lnTo>
                        <a:pt x="31" y="19"/>
                      </a:lnTo>
                      <a:lnTo>
                        <a:pt x="31" y="21"/>
                      </a:lnTo>
                      <a:lnTo>
                        <a:pt x="31" y="22"/>
                      </a:lnTo>
                      <a:lnTo>
                        <a:pt x="33" y="22"/>
                      </a:lnTo>
                      <a:lnTo>
                        <a:pt x="33" y="23"/>
                      </a:lnTo>
                      <a:lnTo>
                        <a:pt x="33" y="24"/>
                      </a:lnTo>
                      <a:lnTo>
                        <a:pt x="33" y="25"/>
                      </a:lnTo>
                      <a:lnTo>
                        <a:pt x="33" y="27"/>
                      </a:lnTo>
                      <a:lnTo>
                        <a:pt x="33" y="28"/>
                      </a:lnTo>
                      <a:lnTo>
                        <a:pt x="33" y="30"/>
                      </a:lnTo>
                      <a:lnTo>
                        <a:pt x="33" y="32"/>
                      </a:lnTo>
                      <a:lnTo>
                        <a:pt x="33" y="34"/>
                      </a:lnTo>
                      <a:lnTo>
                        <a:pt x="33" y="34"/>
                      </a:lnTo>
                      <a:lnTo>
                        <a:pt x="35" y="34"/>
                      </a:lnTo>
                      <a:lnTo>
                        <a:pt x="35" y="36"/>
                      </a:lnTo>
                      <a:lnTo>
                        <a:pt x="35" y="38"/>
                      </a:lnTo>
                      <a:lnTo>
                        <a:pt x="35" y="39"/>
                      </a:lnTo>
                      <a:lnTo>
                        <a:pt x="35" y="40"/>
                      </a:lnTo>
                      <a:lnTo>
                        <a:pt x="35" y="42"/>
                      </a:lnTo>
                      <a:lnTo>
                        <a:pt x="35" y="44"/>
                      </a:lnTo>
                      <a:lnTo>
                        <a:pt x="37" y="44"/>
                      </a:lnTo>
                      <a:lnTo>
                        <a:pt x="37" y="45"/>
                      </a:lnTo>
                      <a:lnTo>
                        <a:pt x="37" y="47"/>
                      </a:lnTo>
                      <a:lnTo>
                        <a:pt x="39" y="47"/>
                      </a:lnTo>
                      <a:lnTo>
                        <a:pt x="40" y="47"/>
                      </a:lnTo>
                      <a:lnTo>
                        <a:pt x="38" y="48"/>
                      </a:lnTo>
                      <a:lnTo>
                        <a:pt x="37" y="48"/>
                      </a:lnTo>
                      <a:lnTo>
                        <a:pt x="35" y="48"/>
                      </a:lnTo>
                      <a:lnTo>
                        <a:pt x="35" y="48"/>
                      </a:lnTo>
                      <a:lnTo>
                        <a:pt x="34" y="48"/>
                      </a:lnTo>
                      <a:lnTo>
                        <a:pt x="32" y="48"/>
                      </a:lnTo>
                      <a:lnTo>
                        <a:pt x="32" y="47"/>
                      </a:lnTo>
                      <a:lnTo>
                        <a:pt x="30" y="49"/>
                      </a:lnTo>
                      <a:lnTo>
                        <a:pt x="29" y="51"/>
                      </a:lnTo>
                      <a:lnTo>
                        <a:pt x="29" y="51"/>
                      </a:lnTo>
                      <a:lnTo>
                        <a:pt x="29" y="53"/>
                      </a:lnTo>
                      <a:lnTo>
                        <a:pt x="29" y="55"/>
                      </a:lnTo>
                      <a:lnTo>
                        <a:pt x="29" y="56"/>
                      </a:lnTo>
                      <a:lnTo>
                        <a:pt x="28" y="56"/>
                      </a:lnTo>
                      <a:lnTo>
                        <a:pt x="27" y="54"/>
                      </a:lnTo>
                      <a:lnTo>
                        <a:pt x="26" y="52"/>
                      </a:lnTo>
                      <a:lnTo>
                        <a:pt x="26" y="50"/>
                      </a:lnTo>
                      <a:lnTo>
                        <a:pt x="25" y="48"/>
                      </a:lnTo>
                      <a:lnTo>
                        <a:pt x="25" y="45"/>
                      </a:lnTo>
                      <a:lnTo>
                        <a:pt x="25" y="41"/>
                      </a:lnTo>
                      <a:lnTo>
                        <a:pt x="25" y="39"/>
                      </a:lnTo>
                      <a:lnTo>
                        <a:pt x="25" y="37"/>
                      </a:lnTo>
                      <a:lnTo>
                        <a:pt x="25" y="34"/>
                      </a:lnTo>
                      <a:lnTo>
                        <a:pt x="25" y="31"/>
                      </a:lnTo>
                      <a:lnTo>
                        <a:pt x="25" y="28"/>
                      </a:lnTo>
                      <a:lnTo>
                        <a:pt x="25" y="26"/>
                      </a:lnTo>
                      <a:lnTo>
                        <a:pt x="25" y="24"/>
                      </a:lnTo>
                      <a:lnTo>
                        <a:pt x="25" y="23"/>
                      </a:lnTo>
                      <a:lnTo>
                        <a:pt x="25" y="22"/>
                      </a:lnTo>
                      <a:lnTo>
                        <a:pt x="24" y="22"/>
                      </a:lnTo>
                      <a:lnTo>
                        <a:pt x="23" y="22"/>
                      </a:lnTo>
                      <a:lnTo>
                        <a:pt x="23" y="20"/>
                      </a:lnTo>
                      <a:lnTo>
                        <a:pt x="22" y="20"/>
                      </a:lnTo>
                      <a:lnTo>
                        <a:pt x="21" y="20"/>
                      </a:lnTo>
                      <a:lnTo>
                        <a:pt x="21" y="18"/>
                      </a:lnTo>
                      <a:lnTo>
                        <a:pt x="19" y="18"/>
                      </a:lnTo>
                      <a:lnTo>
                        <a:pt x="17" y="18"/>
                      </a:lnTo>
                      <a:lnTo>
                        <a:pt x="17" y="17"/>
                      </a:lnTo>
                      <a:lnTo>
                        <a:pt x="16" y="17"/>
                      </a:lnTo>
                      <a:lnTo>
                        <a:pt x="16" y="15"/>
                      </a:lnTo>
                      <a:lnTo>
                        <a:pt x="15" y="15"/>
                      </a:lnTo>
                      <a:lnTo>
                        <a:pt x="14" y="15"/>
                      </a:lnTo>
                      <a:lnTo>
                        <a:pt x="12" y="15"/>
                      </a:lnTo>
                      <a:lnTo>
                        <a:pt x="11" y="15"/>
                      </a:lnTo>
                      <a:lnTo>
                        <a:pt x="9" y="15"/>
                      </a:lnTo>
                      <a:lnTo>
                        <a:pt x="7" y="15"/>
                      </a:lnTo>
                      <a:lnTo>
                        <a:pt x="5" y="15"/>
                      </a:lnTo>
                      <a:lnTo>
                        <a:pt x="4" y="16"/>
                      </a:lnTo>
                      <a:lnTo>
                        <a:pt x="3" y="16"/>
                      </a:lnTo>
                      <a:lnTo>
                        <a:pt x="2" y="17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1" y="15"/>
                      </a:lnTo>
                      <a:lnTo>
                        <a:pt x="2" y="14"/>
                      </a:lnTo>
                      <a:lnTo>
                        <a:pt x="4" y="12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7" y="8"/>
                      </a:lnTo>
                      <a:lnTo>
                        <a:pt x="9" y="6"/>
                      </a:lnTo>
                      <a:lnTo>
                        <a:pt x="11" y="5"/>
                      </a:lnTo>
                      <a:lnTo>
                        <a:pt x="11" y="3"/>
                      </a:lnTo>
                      <a:lnTo>
                        <a:pt x="13" y="1"/>
                      </a:lnTo>
                      <a:lnTo>
                        <a:pt x="13" y="0"/>
                      </a:lnTo>
                      <a:lnTo>
                        <a:pt x="15" y="0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23" name="Freeform 191"/>
                <p:cNvSpPr>
                  <a:spLocks/>
                </p:cNvSpPr>
                <p:nvPr/>
              </p:nvSpPr>
              <p:spPr bwMode="auto">
                <a:xfrm>
                  <a:off x="2981" y="3652"/>
                  <a:ext cx="24" cy="16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18" y="3"/>
                    </a:cxn>
                    <a:cxn ang="0">
                      <a:pos x="21" y="5"/>
                    </a:cxn>
                    <a:cxn ang="0">
                      <a:pos x="23" y="13"/>
                    </a:cxn>
                    <a:cxn ang="0">
                      <a:pos x="18" y="13"/>
                    </a:cxn>
                    <a:cxn ang="0">
                      <a:pos x="12" y="13"/>
                    </a:cxn>
                    <a:cxn ang="0">
                      <a:pos x="0" y="15"/>
                    </a:cxn>
                    <a:cxn ang="0">
                      <a:pos x="6" y="0"/>
                    </a:cxn>
                  </a:cxnLst>
                  <a:rect l="0" t="0" r="r" b="b"/>
                  <a:pathLst>
                    <a:path w="24" h="16">
                      <a:moveTo>
                        <a:pt x="6" y="0"/>
                      </a:moveTo>
                      <a:lnTo>
                        <a:pt x="18" y="3"/>
                      </a:lnTo>
                      <a:lnTo>
                        <a:pt x="21" y="5"/>
                      </a:lnTo>
                      <a:lnTo>
                        <a:pt x="23" y="13"/>
                      </a:lnTo>
                      <a:lnTo>
                        <a:pt x="18" y="13"/>
                      </a:lnTo>
                      <a:lnTo>
                        <a:pt x="12" y="13"/>
                      </a:lnTo>
                      <a:lnTo>
                        <a:pt x="0" y="15"/>
                      </a:lnTo>
                      <a:lnTo>
                        <a:pt x="6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24" name="Freeform 192"/>
                <p:cNvSpPr>
                  <a:spLocks/>
                </p:cNvSpPr>
                <p:nvPr/>
              </p:nvSpPr>
              <p:spPr bwMode="auto">
                <a:xfrm>
                  <a:off x="2957" y="3698"/>
                  <a:ext cx="60" cy="81"/>
                </a:xfrm>
                <a:custGeom>
                  <a:avLst/>
                  <a:gdLst/>
                  <a:ahLst/>
                  <a:cxnLst>
                    <a:cxn ang="0">
                      <a:pos x="1" y="2"/>
                    </a:cxn>
                    <a:cxn ang="0">
                      <a:pos x="3" y="5"/>
                    </a:cxn>
                    <a:cxn ang="0">
                      <a:pos x="7" y="7"/>
                    </a:cxn>
                    <a:cxn ang="0">
                      <a:pos x="12" y="11"/>
                    </a:cxn>
                    <a:cxn ang="0">
                      <a:pos x="18" y="12"/>
                    </a:cxn>
                    <a:cxn ang="0">
                      <a:pos x="22" y="15"/>
                    </a:cxn>
                    <a:cxn ang="0">
                      <a:pos x="26" y="18"/>
                    </a:cxn>
                    <a:cxn ang="0">
                      <a:pos x="26" y="23"/>
                    </a:cxn>
                    <a:cxn ang="0">
                      <a:pos x="26" y="28"/>
                    </a:cxn>
                    <a:cxn ang="0">
                      <a:pos x="26" y="31"/>
                    </a:cxn>
                    <a:cxn ang="0">
                      <a:pos x="26" y="37"/>
                    </a:cxn>
                    <a:cxn ang="0">
                      <a:pos x="26" y="42"/>
                    </a:cxn>
                    <a:cxn ang="0">
                      <a:pos x="27" y="45"/>
                    </a:cxn>
                    <a:cxn ang="0">
                      <a:pos x="29" y="49"/>
                    </a:cxn>
                    <a:cxn ang="0">
                      <a:pos x="30" y="52"/>
                    </a:cxn>
                    <a:cxn ang="0">
                      <a:pos x="30" y="56"/>
                    </a:cxn>
                    <a:cxn ang="0">
                      <a:pos x="32" y="59"/>
                    </a:cxn>
                    <a:cxn ang="0">
                      <a:pos x="34" y="62"/>
                    </a:cxn>
                    <a:cxn ang="0">
                      <a:pos x="37" y="64"/>
                    </a:cxn>
                    <a:cxn ang="0">
                      <a:pos x="40" y="68"/>
                    </a:cxn>
                    <a:cxn ang="0">
                      <a:pos x="43" y="69"/>
                    </a:cxn>
                    <a:cxn ang="0">
                      <a:pos x="46" y="73"/>
                    </a:cxn>
                    <a:cxn ang="0">
                      <a:pos x="50" y="74"/>
                    </a:cxn>
                    <a:cxn ang="0">
                      <a:pos x="51" y="77"/>
                    </a:cxn>
                    <a:cxn ang="0">
                      <a:pos x="54" y="79"/>
                    </a:cxn>
                    <a:cxn ang="0">
                      <a:pos x="58" y="79"/>
                    </a:cxn>
                    <a:cxn ang="0">
                      <a:pos x="55" y="80"/>
                    </a:cxn>
                    <a:cxn ang="0">
                      <a:pos x="49" y="77"/>
                    </a:cxn>
                    <a:cxn ang="0">
                      <a:pos x="42" y="73"/>
                    </a:cxn>
                    <a:cxn ang="0">
                      <a:pos x="35" y="68"/>
                    </a:cxn>
                    <a:cxn ang="0">
                      <a:pos x="30" y="64"/>
                    </a:cxn>
                    <a:cxn ang="0">
                      <a:pos x="27" y="62"/>
                    </a:cxn>
                    <a:cxn ang="0">
                      <a:pos x="24" y="58"/>
                    </a:cxn>
                    <a:cxn ang="0">
                      <a:pos x="24" y="54"/>
                    </a:cxn>
                    <a:cxn ang="0">
                      <a:pos x="22" y="49"/>
                    </a:cxn>
                    <a:cxn ang="0">
                      <a:pos x="20" y="46"/>
                    </a:cxn>
                    <a:cxn ang="0">
                      <a:pos x="18" y="43"/>
                    </a:cxn>
                    <a:cxn ang="0">
                      <a:pos x="18" y="40"/>
                    </a:cxn>
                    <a:cxn ang="0">
                      <a:pos x="14" y="37"/>
                    </a:cxn>
                    <a:cxn ang="0">
                      <a:pos x="13" y="35"/>
                    </a:cxn>
                    <a:cxn ang="0">
                      <a:pos x="10" y="33"/>
                    </a:cxn>
                    <a:cxn ang="0">
                      <a:pos x="8" y="29"/>
                    </a:cxn>
                    <a:cxn ang="0">
                      <a:pos x="6" y="26"/>
                    </a:cxn>
                    <a:cxn ang="0">
                      <a:pos x="4" y="22"/>
                    </a:cxn>
                    <a:cxn ang="0">
                      <a:pos x="0" y="17"/>
                    </a:cxn>
                    <a:cxn ang="0">
                      <a:pos x="0" y="12"/>
                    </a:cxn>
                    <a:cxn ang="0">
                      <a:pos x="0" y="7"/>
                    </a:cxn>
                    <a:cxn ang="0">
                      <a:pos x="0" y="3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60" h="8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2"/>
                      </a:lnTo>
                      <a:lnTo>
                        <a:pt x="1" y="3"/>
                      </a:lnTo>
                      <a:lnTo>
                        <a:pt x="3" y="3"/>
                      </a:lnTo>
                      <a:lnTo>
                        <a:pt x="3" y="5"/>
                      </a:lnTo>
                      <a:lnTo>
                        <a:pt x="5" y="6"/>
                      </a:lnTo>
                      <a:lnTo>
                        <a:pt x="6" y="7"/>
                      </a:lnTo>
                      <a:lnTo>
                        <a:pt x="7" y="7"/>
                      </a:lnTo>
                      <a:lnTo>
                        <a:pt x="8" y="9"/>
                      </a:lnTo>
                      <a:lnTo>
                        <a:pt x="10" y="9"/>
                      </a:lnTo>
                      <a:lnTo>
                        <a:pt x="12" y="11"/>
                      </a:lnTo>
                      <a:lnTo>
                        <a:pt x="14" y="11"/>
                      </a:lnTo>
                      <a:lnTo>
                        <a:pt x="16" y="12"/>
                      </a:lnTo>
                      <a:lnTo>
                        <a:pt x="18" y="12"/>
                      </a:lnTo>
                      <a:lnTo>
                        <a:pt x="19" y="13"/>
                      </a:lnTo>
                      <a:lnTo>
                        <a:pt x="22" y="13"/>
                      </a:lnTo>
                      <a:lnTo>
                        <a:pt x="22" y="15"/>
                      </a:lnTo>
                      <a:lnTo>
                        <a:pt x="24" y="16"/>
                      </a:lnTo>
                      <a:lnTo>
                        <a:pt x="24" y="18"/>
                      </a:lnTo>
                      <a:lnTo>
                        <a:pt x="26" y="18"/>
                      </a:lnTo>
                      <a:lnTo>
                        <a:pt x="26" y="19"/>
                      </a:lnTo>
                      <a:lnTo>
                        <a:pt x="26" y="21"/>
                      </a:lnTo>
                      <a:lnTo>
                        <a:pt x="26" y="23"/>
                      </a:lnTo>
                      <a:lnTo>
                        <a:pt x="26" y="24"/>
                      </a:lnTo>
                      <a:lnTo>
                        <a:pt x="26" y="26"/>
                      </a:lnTo>
                      <a:lnTo>
                        <a:pt x="26" y="28"/>
                      </a:lnTo>
                      <a:lnTo>
                        <a:pt x="26" y="30"/>
                      </a:lnTo>
                      <a:lnTo>
                        <a:pt x="26" y="31"/>
                      </a:lnTo>
                      <a:lnTo>
                        <a:pt x="26" y="31"/>
                      </a:lnTo>
                      <a:lnTo>
                        <a:pt x="26" y="33"/>
                      </a:lnTo>
                      <a:lnTo>
                        <a:pt x="26" y="35"/>
                      </a:lnTo>
                      <a:lnTo>
                        <a:pt x="26" y="37"/>
                      </a:lnTo>
                      <a:lnTo>
                        <a:pt x="26" y="38"/>
                      </a:lnTo>
                      <a:lnTo>
                        <a:pt x="26" y="40"/>
                      </a:lnTo>
                      <a:lnTo>
                        <a:pt x="26" y="42"/>
                      </a:lnTo>
                      <a:lnTo>
                        <a:pt x="27" y="42"/>
                      </a:lnTo>
                      <a:lnTo>
                        <a:pt x="27" y="43"/>
                      </a:lnTo>
                      <a:lnTo>
                        <a:pt x="27" y="45"/>
                      </a:lnTo>
                      <a:lnTo>
                        <a:pt x="27" y="46"/>
                      </a:lnTo>
                      <a:lnTo>
                        <a:pt x="29" y="47"/>
                      </a:lnTo>
                      <a:lnTo>
                        <a:pt x="29" y="49"/>
                      </a:lnTo>
                      <a:lnTo>
                        <a:pt x="29" y="50"/>
                      </a:lnTo>
                      <a:lnTo>
                        <a:pt x="29" y="52"/>
                      </a:lnTo>
                      <a:lnTo>
                        <a:pt x="30" y="52"/>
                      </a:lnTo>
                      <a:lnTo>
                        <a:pt x="30" y="54"/>
                      </a:lnTo>
                      <a:lnTo>
                        <a:pt x="30" y="55"/>
                      </a:lnTo>
                      <a:lnTo>
                        <a:pt x="30" y="56"/>
                      </a:lnTo>
                      <a:lnTo>
                        <a:pt x="31" y="57"/>
                      </a:lnTo>
                      <a:lnTo>
                        <a:pt x="31" y="59"/>
                      </a:lnTo>
                      <a:lnTo>
                        <a:pt x="32" y="59"/>
                      </a:lnTo>
                      <a:lnTo>
                        <a:pt x="32" y="61"/>
                      </a:lnTo>
                      <a:lnTo>
                        <a:pt x="34" y="61"/>
                      </a:lnTo>
                      <a:lnTo>
                        <a:pt x="34" y="62"/>
                      </a:lnTo>
                      <a:lnTo>
                        <a:pt x="36" y="63"/>
                      </a:lnTo>
                      <a:lnTo>
                        <a:pt x="36" y="64"/>
                      </a:lnTo>
                      <a:lnTo>
                        <a:pt x="37" y="64"/>
                      </a:lnTo>
                      <a:lnTo>
                        <a:pt x="37" y="66"/>
                      </a:lnTo>
                      <a:lnTo>
                        <a:pt x="39" y="66"/>
                      </a:lnTo>
                      <a:lnTo>
                        <a:pt x="40" y="68"/>
                      </a:lnTo>
                      <a:lnTo>
                        <a:pt x="42" y="68"/>
                      </a:lnTo>
                      <a:lnTo>
                        <a:pt x="42" y="69"/>
                      </a:lnTo>
                      <a:lnTo>
                        <a:pt x="43" y="69"/>
                      </a:lnTo>
                      <a:lnTo>
                        <a:pt x="44" y="71"/>
                      </a:lnTo>
                      <a:lnTo>
                        <a:pt x="46" y="71"/>
                      </a:lnTo>
                      <a:lnTo>
                        <a:pt x="46" y="73"/>
                      </a:lnTo>
                      <a:lnTo>
                        <a:pt x="48" y="73"/>
                      </a:lnTo>
                      <a:lnTo>
                        <a:pt x="48" y="74"/>
                      </a:lnTo>
                      <a:lnTo>
                        <a:pt x="50" y="74"/>
                      </a:lnTo>
                      <a:lnTo>
                        <a:pt x="50" y="75"/>
                      </a:lnTo>
                      <a:lnTo>
                        <a:pt x="51" y="75"/>
                      </a:lnTo>
                      <a:lnTo>
                        <a:pt x="51" y="77"/>
                      </a:lnTo>
                      <a:lnTo>
                        <a:pt x="53" y="77"/>
                      </a:lnTo>
                      <a:lnTo>
                        <a:pt x="54" y="77"/>
                      </a:lnTo>
                      <a:lnTo>
                        <a:pt x="54" y="79"/>
                      </a:lnTo>
                      <a:lnTo>
                        <a:pt x="55" y="79"/>
                      </a:lnTo>
                      <a:lnTo>
                        <a:pt x="57" y="79"/>
                      </a:lnTo>
                      <a:lnTo>
                        <a:pt x="58" y="79"/>
                      </a:lnTo>
                      <a:lnTo>
                        <a:pt x="59" y="79"/>
                      </a:lnTo>
                      <a:lnTo>
                        <a:pt x="57" y="80"/>
                      </a:lnTo>
                      <a:lnTo>
                        <a:pt x="55" y="80"/>
                      </a:lnTo>
                      <a:lnTo>
                        <a:pt x="54" y="79"/>
                      </a:lnTo>
                      <a:lnTo>
                        <a:pt x="51" y="79"/>
                      </a:lnTo>
                      <a:lnTo>
                        <a:pt x="49" y="77"/>
                      </a:lnTo>
                      <a:lnTo>
                        <a:pt x="47" y="76"/>
                      </a:lnTo>
                      <a:lnTo>
                        <a:pt x="45" y="74"/>
                      </a:lnTo>
                      <a:lnTo>
                        <a:pt x="42" y="73"/>
                      </a:lnTo>
                      <a:lnTo>
                        <a:pt x="39" y="72"/>
                      </a:lnTo>
                      <a:lnTo>
                        <a:pt x="36" y="70"/>
                      </a:lnTo>
                      <a:lnTo>
                        <a:pt x="35" y="68"/>
                      </a:lnTo>
                      <a:lnTo>
                        <a:pt x="32" y="68"/>
                      </a:lnTo>
                      <a:lnTo>
                        <a:pt x="31" y="66"/>
                      </a:lnTo>
                      <a:lnTo>
                        <a:pt x="30" y="64"/>
                      </a:lnTo>
                      <a:lnTo>
                        <a:pt x="29" y="62"/>
                      </a:lnTo>
                      <a:lnTo>
                        <a:pt x="27" y="62"/>
                      </a:lnTo>
                      <a:lnTo>
                        <a:pt x="27" y="62"/>
                      </a:lnTo>
                      <a:lnTo>
                        <a:pt x="25" y="61"/>
                      </a:lnTo>
                      <a:lnTo>
                        <a:pt x="25" y="59"/>
                      </a:lnTo>
                      <a:lnTo>
                        <a:pt x="24" y="58"/>
                      </a:lnTo>
                      <a:lnTo>
                        <a:pt x="24" y="56"/>
                      </a:lnTo>
                      <a:lnTo>
                        <a:pt x="24" y="55"/>
                      </a:lnTo>
                      <a:lnTo>
                        <a:pt x="24" y="54"/>
                      </a:lnTo>
                      <a:lnTo>
                        <a:pt x="23" y="52"/>
                      </a:lnTo>
                      <a:lnTo>
                        <a:pt x="23" y="50"/>
                      </a:lnTo>
                      <a:lnTo>
                        <a:pt x="22" y="49"/>
                      </a:lnTo>
                      <a:lnTo>
                        <a:pt x="22" y="47"/>
                      </a:lnTo>
                      <a:lnTo>
                        <a:pt x="20" y="47"/>
                      </a:lnTo>
                      <a:lnTo>
                        <a:pt x="20" y="46"/>
                      </a:lnTo>
                      <a:lnTo>
                        <a:pt x="20" y="45"/>
                      </a:lnTo>
                      <a:lnTo>
                        <a:pt x="20" y="43"/>
                      </a:lnTo>
                      <a:lnTo>
                        <a:pt x="18" y="43"/>
                      </a:lnTo>
                      <a:lnTo>
                        <a:pt x="18" y="42"/>
                      </a:lnTo>
                      <a:lnTo>
                        <a:pt x="18" y="42"/>
                      </a:lnTo>
                      <a:lnTo>
                        <a:pt x="18" y="40"/>
                      </a:lnTo>
                      <a:lnTo>
                        <a:pt x="16" y="40"/>
                      </a:lnTo>
                      <a:lnTo>
                        <a:pt x="16" y="38"/>
                      </a:lnTo>
                      <a:lnTo>
                        <a:pt x="14" y="37"/>
                      </a:lnTo>
                      <a:lnTo>
                        <a:pt x="14" y="37"/>
                      </a:lnTo>
                      <a:lnTo>
                        <a:pt x="13" y="37"/>
                      </a:lnTo>
                      <a:lnTo>
                        <a:pt x="13" y="35"/>
                      </a:lnTo>
                      <a:lnTo>
                        <a:pt x="12" y="35"/>
                      </a:lnTo>
                      <a:lnTo>
                        <a:pt x="12" y="33"/>
                      </a:lnTo>
                      <a:lnTo>
                        <a:pt x="10" y="33"/>
                      </a:lnTo>
                      <a:lnTo>
                        <a:pt x="10" y="31"/>
                      </a:lnTo>
                      <a:lnTo>
                        <a:pt x="8" y="31"/>
                      </a:lnTo>
                      <a:lnTo>
                        <a:pt x="8" y="29"/>
                      </a:lnTo>
                      <a:lnTo>
                        <a:pt x="7" y="29"/>
                      </a:lnTo>
                      <a:lnTo>
                        <a:pt x="7" y="27"/>
                      </a:lnTo>
                      <a:lnTo>
                        <a:pt x="6" y="26"/>
                      </a:lnTo>
                      <a:lnTo>
                        <a:pt x="6" y="24"/>
                      </a:lnTo>
                      <a:lnTo>
                        <a:pt x="4" y="23"/>
                      </a:lnTo>
                      <a:lnTo>
                        <a:pt x="4" y="22"/>
                      </a:lnTo>
                      <a:lnTo>
                        <a:pt x="2" y="20"/>
                      </a:lnTo>
                      <a:lnTo>
                        <a:pt x="2" y="18"/>
                      </a:lnTo>
                      <a:lnTo>
                        <a:pt x="0" y="17"/>
                      </a:lnTo>
                      <a:lnTo>
                        <a:pt x="0" y="15"/>
                      </a:lnTo>
                      <a:lnTo>
                        <a:pt x="0" y="13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9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25" name="Freeform 193"/>
                <p:cNvSpPr>
                  <a:spLocks/>
                </p:cNvSpPr>
                <p:nvPr/>
              </p:nvSpPr>
              <p:spPr bwMode="auto">
                <a:xfrm>
                  <a:off x="3033" y="3681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5" y="15"/>
                    </a:cxn>
                    <a:cxn ang="0">
                      <a:pos x="1" y="7"/>
                    </a:cxn>
                    <a:cxn ang="0">
                      <a:pos x="0" y="0"/>
                    </a:cxn>
                    <a:cxn ang="0">
                      <a:pos x="15" y="6"/>
                    </a:cxn>
                    <a:cxn ang="0">
                      <a:pos x="5" y="15"/>
                    </a:cxn>
                  </a:cxnLst>
                  <a:rect l="0" t="0" r="r" b="b"/>
                  <a:pathLst>
                    <a:path w="16" h="16">
                      <a:moveTo>
                        <a:pt x="5" y="15"/>
                      </a:moveTo>
                      <a:lnTo>
                        <a:pt x="1" y="7"/>
                      </a:lnTo>
                      <a:lnTo>
                        <a:pt x="0" y="0"/>
                      </a:lnTo>
                      <a:lnTo>
                        <a:pt x="15" y="6"/>
                      </a:lnTo>
                      <a:lnTo>
                        <a:pt x="5" y="15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26" name="Freeform 194"/>
                <p:cNvSpPr>
                  <a:spLocks/>
                </p:cNvSpPr>
                <p:nvPr/>
              </p:nvSpPr>
              <p:spPr bwMode="auto">
                <a:xfrm>
                  <a:off x="2946" y="3589"/>
                  <a:ext cx="92" cy="254"/>
                </a:xfrm>
                <a:custGeom>
                  <a:avLst/>
                  <a:gdLst/>
                  <a:ahLst/>
                  <a:cxnLst>
                    <a:cxn ang="0">
                      <a:pos x="86" y="4"/>
                    </a:cxn>
                    <a:cxn ang="0">
                      <a:pos x="79" y="13"/>
                    </a:cxn>
                    <a:cxn ang="0">
                      <a:pos x="70" y="21"/>
                    </a:cxn>
                    <a:cxn ang="0">
                      <a:pos x="64" y="29"/>
                    </a:cxn>
                    <a:cxn ang="0">
                      <a:pos x="55" y="40"/>
                    </a:cxn>
                    <a:cxn ang="0">
                      <a:pos x="49" y="48"/>
                    </a:cxn>
                    <a:cxn ang="0">
                      <a:pos x="44" y="56"/>
                    </a:cxn>
                    <a:cxn ang="0">
                      <a:pos x="34" y="69"/>
                    </a:cxn>
                    <a:cxn ang="0">
                      <a:pos x="25" y="82"/>
                    </a:cxn>
                    <a:cxn ang="0">
                      <a:pos x="19" y="88"/>
                    </a:cxn>
                    <a:cxn ang="0">
                      <a:pos x="13" y="95"/>
                    </a:cxn>
                    <a:cxn ang="0">
                      <a:pos x="6" y="103"/>
                    </a:cxn>
                    <a:cxn ang="0">
                      <a:pos x="2" y="113"/>
                    </a:cxn>
                    <a:cxn ang="0">
                      <a:pos x="0" y="125"/>
                    </a:cxn>
                    <a:cxn ang="0">
                      <a:pos x="0" y="139"/>
                    </a:cxn>
                    <a:cxn ang="0">
                      <a:pos x="0" y="147"/>
                    </a:cxn>
                    <a:cxn ang="0">
                      <a:pos x="3" y="155"/>
                    </a:cxn>
                    <a:cxn ang="0">
                      <a:pos x="8" y="163"/>
                    </a:cxn>
                    <a:cxn ang="0">
                      <a:pos x="10" y="170"/>
                    </a:cxn>
                    <a:cxn ang="0">
                      <a:pos x="10" y="178"/>
                    </a:cxn>
                    <a:cxn ang="0">
                      <a:pos x="10" y="188"/>
                    </a:cxn>
                    <a:cxn ang="0">
                      <a:pos x="10" y="194"/>
                    </a:cxn>
                    <a:cxn ang="0">
                      <a:pos x="7" y="201"/>
                    </a:cxn>
                    <a:cxn ang="0">
                      <a:pos x="5" y="209"/>
                    </a:cxn>
                    <a:cxn ang="0">
                      <a:pos x="4" y="218"/>
                    </a:cxn>
                    <a:cxn ang="0">
                      <a:pos x="6" y="223"/>
                    </a:cxn>
                    <a:cxn ang="0">
                      <a:pos x="10" y="229"/>
                    </a:cxn>
                    <a:cxn ang="0">
                      <a:pos x="13" y="235"/>
                    </a:cxn>
                    <a:cxn ang="0">
                      <a:pos x="11" y="241"/>
                    </a:cxn>
                    <a:cxn ang="0">
                      <a:pos x="10" y="248"/>
                    </a:cxn>
                    <a:cxn ang="0">
                      <a:pos x="13" y="253"/>
                    </a:cxn>
                    <a:cxn ang="0">
                      <a:pos x="20" y="248"/>
                    </a:cxn>
                    <a:cxn ang="0">
                      <a:pos x="27" y="243"/>
                    </a:cxn>
                    <a:cxn ang="0">
                      <a:pos x="33" y="236"/>
                    </a:cxn>
                    <a:cxn ang="0">
                      <a:pos x="36" y="230"/>
                    </a:cxn>
                    <a:cxn ang="0">
                      <a:pos x="42" y="220"/>
                    </a:cxn>
                    <a:cxn ang="0">
                      <a:pos x="42" y="207"/>
                    </a:cxn>
                    <a:cxn ang="0">
                      <a:pos x="40" y="193"/>
                    </a:cxn>
                    <a:cxn ang="0">
                      <a:pos x="37" y="184"/>
                    </a:cxn>
                    <a:cxn ang="0">
                      <a:pos x="37" y="177"/>
                    </a:cxn>
                    <a:cxn ang="0">
                      <a:pos x="34" y="170"/>
                    </a:cxn>
                    <a:cxn ang="0">
                      <a:pos x="33" y="163"/>
                    </a:cxn>
                    <a:cxn ang="0">
                      <a:pos x="32" y="157"/>
                    </a:cxn>
                    <a:cxn ang="0">
                      <a:pos x="30" y="151"/>
                    </a:cxn>
                    <a:cxn ang="0">
                      <a:pos x="27" y="147"/>
                    </a:cxn>
                    <a:cxn ang="0">
                      <a:pos x="21" y="144"/>
                    </a:cxn>
                    <a:cxn ang="0">
                      <a:pos x="18" y="139"/>
                    </a:cxn>
                    <a:cxn ang="0">
                      <a:pos x="15" y="131"/>
                    </a:cxn>
                    <a:cxn ang="0">
                      <a:pos x="10" y="122"/>
                    </a:cxn>
                    <a:cxn ang="0">
                      <a:pos x="9" y="112"/>
                    </a:cxn>
                    <a:cxn ang="0">
                      <a:pos x="11" y="106"/>
                    </a:cxn>
                    <a:cxn ang="0">
                      <a:pos x="13" y="100"/>
                    </a:cxn>
                    <a:cxn ang="0">
                      <a:pos x="20" y="94"/>
                    </a:cxn>
                    <a:cxn ang="0">
                      <a:pos x="27" y="88"/>
                    </a:cxn>
                    <a:cxn ang="0">
                      <a:pos x="35" y="75"/>
                    </a:cxn>
                    <a:cxn ang="0">
                      <a:pos x="43" y="64"/>
                    </a:cxn>
                    <a:cxn ang="0">
                      <a:pos x="48" y="53"/>
                    </a:cxn>
                    <a:cxn ang="0">
                      <a:pos x="55" y="39"/>
                    </a:cxn>
                    <a:cxn ang="0">
                      <a:pos x="64" y="30"/>
                    </a:cxn>
                    <a:cxn ang="0">
                      <a:pos x="71" y="26"/>
                    </a:cxn>
                    <a:cxn ang="0">
                      <a:pos x="79" y="19"/>
                    </a:cxn>
                    <a:cxn ang="0">
                      <a:pos x="83" y="12"/>
                    </a:cxn>
                    <a:cxn ang="0">
                      <a:pos x="87" y="5"/>
                    </a:cxn>
                  </a:cxnLst>
                  <a:rect l="0" t="0" r="r" b="b"/>
                  <a:pathLst>
                    <a:path w="92" h="254">
                      <a:moveTo>
                        <a:pt x="91" y="0"/>
                      </a:moveTo>
                      <a:lnTo>
                        <a:pt x="89" y="0"/>
                      </a:lnTo>
                      <a:lnTo>
                        <a:pt x="88" y="1"/>
                      </a:lnTo>
                      <a:lnTo>
                        <a:pt x="86" y="3"/>
                      </a:lnTo>
                      <a:lnTo>
                        <a:pt x="86" y="4"/>
                      </a:lnTo>
                      <a:lnTo>
                        <a:pt x="85" y="5"/>
                      </a:lnTo>
                      <a:lnTo>
                        <a:pt x="83" y="6"/>
                      </a:lnTo>
                      <a:lnTo>
                        <a:pt x="82" y="8"/>
                      </a:lnTo>
                      <a:lnTo>
                        <a:pt x="81" y="10"/>
                      </a:lnTo>
                      <a:lnTo>
                        <a:pt x="79" y="13"/>
                      </a:lnTo>
                      <a:lnTo>
                        <a:pt x="77" y="14"/>
                      </a:lnTo>
                      <a:lnTo>
                        <a:pt x="75" y="16"/>
                      </a:lnTo>
                      <a:lnTo>
                        <a:pt x="74" y="17"/>
                      </a:lnTo>
                      <a:lnTo>
                        <a:pt x="72" y="19"/>
                      </a:lnTo>
                      <a:lnTo>
                        <a:pt x="70" y="21"/>
                      </a:lnTo>
                      <a:lnTo>
                        <a:pt x="69" y="23"/>
                      </a:lnTo>
                      <a:lnTo>
                        <a:pt x="68" y="24"/>
                      </a:lnTo>
                      <a:lnTo>
                        <a:pt x="66" y="25"/>
                      </a:lnTo>
                      <a:lnTo>
                        <a:pt x="64" y="27"/>
                      </a:lnTo>
                      <a:lnTo>
                        <a:pt x="64" y="29"/>
                      </a:lnTo>
                      <a:lnTo>
                        <a:pt x="62" y="31"/>
                      </a:lnTo>
                      <a:lnTo>
                        <a:pt x="60" y="33"/>
                      </a:lnTo>
                      <a:lnTo>
                        <a:pt x="59" y="35"/>
                      </a:lnTo>
                      <a:lnTo>
                        <a:pt x="57" y="36"/>
                      </a:lnTo>
                      <a:lnTo>
                        <a:pt x="55" y="40"/>
                      </a:lnTo>
                      <a:lnTo>
                        <a:pt x="54" y="41"/>
                      </a:lnTo>
                      <a:lnTo>
                        <a:pt x="52" y="43"/>
                      </a:lnTo>
                      <a:lnTo>
                        <a:pt x="51" y="45"/>
                      </a:lnTo>
                      <a:lnTo>
                        <a:pt x="50" y="47"/>
                      </a:lnTo>
                      <a:lnTo>
                        <a:pt x="49" y="48"/>
                      </a:lnTo>
                      <a:lnTo>
                        <a:pt x="48" y="49"/>
                      </a:lnTo>
                      <a:lnTo>
                        <a:pt x="47" y="51"/>
                      </a:lnTo>
                      <a:lnTo>
                        <a:pt x="47" y="52"/>
                      </a:lnTo>
                      <a:lnTo>
                        <a:pt x="45" y="54"/>
                      </a:lnTo>
                      <a:lnTo>
                        <a:pt x="44" y="56"/>
                      </a:lnTo>
                      <a:lnTo>
                        <a:pt x="42" y="59"/>
                      </a:lnTo>
                      <a:lnTo>
                        <a:pt x="40" y="61"/>
                      </a:lnTo>
                      <a:lnTo>
                        <a:pt x="38" y="64"/>
                      </a:lnTo>
                      <a:lnTo>
                        <a:pt x="37" y="65"/>
                      </a:lnTo>
                      <a:lnTo>
                        <a:pt x="34" y="69"/>
                      </a:lnTo>
                      <a:lnTo>
                        <a:pt x="32" y="72"/>
                      </a:lnTo>
                      <a:lnTo>
                        <a:pt x="30" y="76"/>
                      </a:lnTo>
                      <a:lnTo>
                        <a:pt x="28" y="77"/>
                      </a:lnTo>
                      <a:lnTo>
                        <a:pt x="27" y="80"/>
                      </a:lnTo>
                      <a:lnTo>
                        <a:pt x="25" y="82"/>
                      </a:lnTo>
                      <a:lnTo>
                        <a:pt x="23" y="83"/>
                      </a:lnTo>
                      <a:lnTo>
                        <a:pt x="23" y="84"/>
                      </a:lnTo>
                      <a:lnTo>
                        <a:pt x="21" y="86"/>
                      </a:lnTo>
                      <a:lnTo>
                        <a:pt x="20" y="88"/>
                      </a:lnTo>
                      <a:lnTo>
                        <a:pt x="19" y="88"/>
                      </a:lnTo>
                      <a:lnTo>
                        <a:pt x="18" y="89"/>
                      </a:lnTo>
                      <a:lnTo>
                        <a:pt x="16" y="91"/>
                      </a:lnTo>
                      <a:lnTo>
                        <a:pt x="15" y="93"/>
                      </a:lnTo>
                      <a:lnTo>
                        <a:pt x="13" y="94"/>
                      </a:lnTo>
                      <a:lnTo>
                        <a:pt x="13" y="95"/>
                      </a:lnTo>
                      <a:lnTo>
                        <a:pt x="11" y="97"/>
                      </a:lnTo>
                      <a:lnTo>
                        <a:pt x="10" y="98"/>
                      </a:lnTo>
                      <a:lnTo>
                        <a:pt x="9" y="100"/>
                      </a:lnTo>
                      <a:lnTo>
                        <a:pt x="8" y="101"/>
                      </a:lnTo>
                      <a:lnTo>
                        <a:pt x="6" y="103"/>
                      </a:lnTo>
                      <a:lnTo>
                        <a:pt x="5" y="105"/>
                      </a:lnTo>
                      <a:lnTo>
                        <a:pt x="5" y="106"/>
                      </a:lnTo>
                      <a:lnTo>
                        <a:pt x="3" y="109"/>
                      </a:lnTo>
                      <a:lnTo>
                        <a:pt x="3" y="111"/>
                      </a:lnTo>
                      <a:lnTo>
                        <a:pt x="2" y="113"/>
                      </a:lnTo>
                      <a:lnTo>
                        <a:pt x="2" y="115"/>
                      </a:lnTo>
                      <a:lnTo>
                        <a:pt x="0" y="118"/>
                      </a:lnTo>
                      <a:lnTo>
                        <a:pt x="0" y="121"/>
                      </a:lnTo>
                      <a:lnTo>
                        <a:pt x="0" y="124"/>
                      </a:lnTo>
                      <a:lnTo>
                        <a:pt x="0" y="125"/>
                      </a:lnTo>
                      <a:lnTo>
                        <a:pt x="0" y="129"/>
                      </a:lnTo>
                      <a:lnTo>
                        <a:pt x="0" y="131"/>
                      </a:lnTo>
                      <a:lnTo>
                        <a:pt x="0" y="135"/>
                      </a:lnTo>
                      <a:lnTo>
                        <a:pt x="0" y="136"/>
                      </a:lnTo>
                      <a:lnTo>
                        <a:pt x="0" y="139"/>
                      </a:lnTo>
                      <a:lnTo>
                        <a:pt x="0" y="141"/>
                      </a:lnTo>
                      <a:lnTo>
                        <a:pt x="0" y="142"/>
                      </a:lnTo>
                      <a:lnTo>
                        <a:pt x="0" y="144"/>
                      </a:lnTo>
                      <a:lnTo>
                        <a:pt x="0" y="146"/>
                      </a:lnTo>
                      <a:lnTo>
                        <a:pt x="0" y="147"/>
                      </a:lnTo>
                      <a:lnTo>
                        <a:pt x="0" y="148"/>
                      </a:lnTo>
                      <a:lnTo>
                        <a:pt x="2" y="150"/>
                      </a:lnTo>
                      <a:lnTo>
                        <a:pt x="2" y="152"/>
                      </a:lnTo>
                      <a:lnTo>
                        <a:pt x="3" y="153"/>
                      </a:lnTo>
                      <a:lnTo>
                        <a:pt x="3" y="155"/>
                      </a:lnTo>
                      <a:lnTo>
                        <a:pt x="5" y="156"/>
                      </a:lnTo>
                      <a:lnTo>
                        <a:pt x="5" y="158"/>
                      </a:lnTo>
                      <a:lnTo>
                        <a:pt x="6" y="159"/>
                      </a:lnTo>
                      <a:lnTo>
                        <a:pt x="6" y="161"/>
                      </a:lnTo>
                      <a:lnTo>
                        <a:pt x="8" y="163"/>
                      </a:lnTo>
                      <a:lnTo>
                        <a:pt x="8" y="165"/>
                      </a:lnTo>
                      <a:lnTo>
                        <a:pt x="9" y="166"/>
                      </a:lnTo>
                      <a:lnTo>
                        <a:pt x="9" y="168"/>
                      </a:lnTo>
                      <a:lnTo>
                        <a:pt x="10" y="168"/>
                      </a:lnTo>
                      <a:lnTo>
                        <a:pt x="10" y="170"/>
                      </a:lnTo>
                      <a:lnTo>
                        <a:pt x="10" y="171"/>
                      </a:lnTo>
                      <a:lnTo>
                        <a:pt x="10" y="172"/>
                      </a:lnTo>
                      <a:lnTo>
                        <a:pt x="10" y="174"/>
                      </a:lnTo>
                      <a:lnTo>
                        <a:pt x="10" y="177"/>
                      </a:lnTo>
                      <a:lnTo>
                        <a:pt x="10" y="178"/>
                      </a:lnTo>
                      <a:lnTo>
                        <a:pt x="10" y="180"/>
                      </a:lnTo>
                      <a:lnTo>
                        <a:pt x="11" y="182"/>
                      </a:lnTo>
                      <a:lnTo>
                        <a:pt x="10" y="184"/>
                      </a:lnTo>
                      <a:lnTo>
                        <a:pt x="10" y="186"/>
                      </a:lnTo>
                      <a:lnTo>
                        <a:pt x="10" y="188"/>
                      </a:lnTo>
                      <a:lnTo>
                        <a:pt x="10" y="189"/>
                      </a:lnTo>
                      <a:lnTo>
                        <a:pt x="10" y="190"/>
                      </a:lnTo>
                      <a:lnTo>
                        <a:pt x="10" y="192"/>
                      </a:lnTo>
                      <a:lnTo>
                        <a:pt x="10" y="194"/>
                      </a:lnTo>
                      <a:lnTo>
                        <a:pt x="10" y="194"/>
                      </a:lnTo>
                      <a:lnTo>
                        <a:pt x="9" y="196"/>
                      </a:lnTo>
                      <a:lnTo>
                        <a:pt x="9" y="198"/>
                      </a:lnTo>
                      <a:lnTo>
                        <a:pt x="9" y="199"/>
                      </a:lnTo>
                      <a:lnTo>
                        <a:pt x="9" y="200"/>
                      </a:lnTo>
                      <a:lnTo>
                        <a:pt x="7" y="201"/>
                      </a:lnTo>
                      <a:lnTo>
                        <a:pt x="7" y="203"/>
                      </a:lnTo>
                      <a:lnTo>
                        <a:pt x="6" y="205"/>
                      </a:lnTo>
                      <a:lnTo>
                        <a:pt x="6" y="206"/>
                      </a:lnTo>
                      <a:lnTo>
                        <a:pt x="5" y="207"/>
                      </a:lnTo>
                      <a:lnTo>
                        <a:pt x="5" y="209"/>
                      </a:lnTo>
                      <a:lnTo>
                        <a:pt x="5" y="211"/>
                      </a:lnTo>
                      <a:lnTo>
                        <a:pt x="5" y="212"/>
                      </a:lnTo>
                      <a:lnTo>
                        <a:pt x="4" y="214"/>
                      </a:lnTo>
                      <a:lnTo>
                        <a:pt x="4" y="216"/>
                      </a:lnTo>
                      <a:lnTo>
                        <a:pt x="4" y="218"/>
                      </a:lnTo>
                      <a:lnTo>
                        <a:pt x="5" y="218"/>
                      </a:lnTo>
                      <a:lnTo>
                        <a:pt x="5" y="219"/>
                      </a:lnTo>
                      <a:lnTo>
                        <a:pt x="5" y="221"/>
                      </a:lnTo>
                      <a:lnTo>
                        <a:pt x="5" y="223"/>
                      </a:lnTo>
                      <a:lnTo>
                        <a:pt x="6" y="223"/>
                      </a:lnTo>
                      <a:lnTo>
                        <a:pt x="6" y="224"/>
                      </a:lnTo>
                      <a:lnTo>
                        <a:pt x="8" y="225"/>
                      </a:lnTo>
                      <a:lnTo>
                        <a:pt x="8" y="227"/>
                      </a:lnTo>
                      <a:lnTo>
                        <a:pt x="10" y="227"/>
                      </a:lnTo>
                      <a:lnTo>
                        <a:pt x="10" y="229"/>
                      </a:lnTo>
                      <a:lnTo>
                        <a:pt x="11" y="230"/>
                      </a:lnTo>
                      <a:lnTo>
                        <a:pt x="11" y="231"/>
                      </a:lnTo>
                      <a:lnTo>
                        <a:pt x="13" y="231"/>
                      </a:lnTo>
                      <a:lnTo>
                        <a:pt x="13" y="233"/>
                      </a:lnTo>
                      <a:lnTo>
                        <a:pt x="13" y="235"/>
                      </a:lnTo>
                      <a:lnTo>
                        <a:pt x="15" y="235"/>
                      </a:lnTo>
                      <a:lnTo>
                        <a:pt x="14" y="236"/>
                      </a:lnTo>
                      <a:lnTo>
                        <a:pt x="14" y="238"/>
                      </a:lnTo>
                      <a:lnTo>
                        <a:pt x="13" y="239"/>
                      </a:lnTo>
                      <a:lnTo>
                        <a:pt x="11" y="241"/>
                      </a:lnTo>
                      <a:lnTo>
                        <a:pt x="11" y="242"/>
                      </a:lnTo>
                      <a:lnTo>
                        <a:pt x="11" y="243"/>
                      </a:lnTo>
                      <a:lnTo>
                        <a:pt x="10" y="245"/>
                      </a:lnTo>
                      <a:lnTo>
                        <a:pt x="10" y="247"/>
                      </a:lnTo>
                      <a:lnTo>
                        <a:pt x="10" y="248"/>
                      </a:lnTo>
                      <a:lnTo>
                        <a:pt x="10" y="250"/>
                      </a:lnTo>
                      <a:lnTo>
                        <a:pt x="10" y="251"/>
                      </a:lnTo>
                      <a:lnTo>
                        <a:pt x="10" y="253"/>
                      </a:lnTo>
                      <a:lnTo>
                        <a:pt x="11" y="253"/>
                      </a:lnTo>
                      <a:lnTo>
                        <a:pt x="13" y="253"/>
                      </a:lnTo>
                      <a:lnTo>
                        <a:pt x="15" y="252"/>
                      </a:lnTo>
                      <a:lnTo>
                        <a:pt x="16" y="250"/>
                      </a:lnTo>
                      <a:lnTo>
                        <a:pt x="18" y="249"/>
                      </a:lnTo>
                      <a:lnTo>
                        <a:pt x="19" y="249"/>
                      </a:lnTo>
                      <a:lnTo>
                        <a:pt x="20" y="248"/>
                      </a:lnTo>
                      <a:lnTo>
                        <a:pt x="21" y="247"/>
                      </a:lnTo>
                      <a:lnTo>
                        <a:pt x="23" y="247"/>
                      </a:lnTo>
                      <a:lnTo>
                        <a:pt x="25" y="245"/>
                      </a:lnTo>
                      <a:lnTo>
                        <a:pt x="26" y="245"/>
                      </a:lnTo>
                      <a:lnTo>
                        <a:pt x="27" y="243"/>
                      </a:lnTo>
                      <a:lnTo>
                        <a:pt x="27" y="242"/>
                      </a:lnTo>
                      <a:lnTo>
                        <a:pt x="29" y="241"/>
                      </a:lnTo>
                      <a:lnTo>
                        <a:pt x="30" y="239"/>
                      </a:lnTo>
                      <a:lnTo>
                        <a:pt x="32" y="238"/>
                      </a:lnTo>
                      <a:lnTo>
                        <a:pt x="33" y="236"/>
                      </a:lnTo>
                      <a:lnTo>
                        <a:pt x="33" y="235"/>
                      </a:lnTo>
                      <a:lnTo>
                        <a:pt x="34" y="233"/>
                      </a:lnTo>
                      <a:lnTo>
                        <a:pt x="34" y="232"/>
                      </a:lnTo>
                      <a:lnTo>
                        <a:pt x="36" y="230"/>
                      </a:lnTo>
                      <a:lnTo>
                        <a:pt x="36" y="230"/>
                      </a:lnTo>
                      <a:lnTo>
                        <a:pt x="37" y="228"/>
                      </a:lnTo>
                      <a:lnTo>
                        <a:pt x="37" y="226"/>
                      </a:lnTo>
                      <a:lnTo>
                        <a:pt x="39" y="224"/>
                      </a:lnTo>
                      <a:lnTo>
                        <a:pt x="40" y="223"/>
                      </a:lnTo>
                      <a:lnTo>
                        <a:pt x="42" y="220"/>
                      </a:lnTo>
                      <a:lnTo>
                        <a:pt x="42" y="218"/>
                      </a:lnTo>
                      <a:lnTo>
                        <a:pt x="42" y="215"/>
                      </a:lnTo>
                      <a:lnTo>
                        <a:pt x="42" y="212"/>
                      </a:lnTo>
                      <a:lnTo>
                        <a:pt x="43" y="209"/>
                      </a:lnTo>
                      <a:lnTo>
                        <a:pt x="42" y="207"/>
                      </a:lnTo>
                      <a:lnTo>
                        <a:pt x="42" y="204"/>
                      </a:lnTo>
                      <a:lnTo>
                        <a:pt x="42" y="200"/>
                      </a:lnTo>
                      <a:lnTo>
                        <a:pt x="42" y="198"/>
                      </a:lnTo>
                      <a:lnTo>
                        <a:pt x="40" y="196"/>
                      </a:lnTo>
                      <a:lnTo>
                        <a:pt x="40" y="193"/>
                      </a:lnTo>
                      <a:lnTo>
                        <a:pt x="39" y="190"/>
                      </a:lnTo>
                      <a:lnTo>
                        <a:pt x="39" y="187"/>
                      </a:lnTo>
                      <a:lnTo>
                        <a:pt x="37" y="187"/>
                      </a:lnTo>
                      <a:lnTo>
                        <a:pt x="37" y="185"/>
                      </a:lnTo>
                      <a:lnTo>
                        <a:pt x="37" y="184"/>
                      </a:lnTo>
                      <a:lnTo>
                        <a:pt x="37" y="183"/>
                      </a:lnTo>
                      <a:lnTo>
                        <a:pt x="37" y="181"/>
                      </a:lnTo>
                      <a:lnTo>
                        <a:pt x="37" y="180"/>
                      </a:lnTo>
                      <a:lnTo>
                        <a:pt x="37" y="178"/>
                      </a:lnTo>
                      <a:lnTo>
                        <a:pt x="37" y="177"/>
                      </a:lnTo>
                      <a:lnTo>
                        <a:pt x="35" y="175"/>
                      </a:lnTo>
                      <a:lnTo>
                        <a:pt x="35" y="173"/>
                      </a:lnTo>
                      <a:lnTo>
                        <a:pt x="35" y="172"/>
                      </a:lnTo>
                      <a:lnTo>
                        <a:pt x="35" y="171"/>
                      </a:lnTo>
                      <a:lnTo>
                        <a:pt x="34" y="170"/>
                      </a:lnTo>
                      <a:lnTo>
                        <a:pt x="34" y="168"/>
                      </a:lnTo>
                      <a:lnTo>
                        <a:pt x="34" y="166"/>
                      </a:lnTo>
                      <a:lnTo>
                        <a:pt x="34" y="165"/>
                      </a:lnTo>
                      <a:lnTo>
                        <a:pt x="33" y="165"/>
                      </a:lnTo>
                      <a:lnTo>
                        <a:pt x="33" y="163"/>
                      </a:lnTo>
                      <a:lnTo>
                        <a:pt x="33" y="161"/>
                      </a:lnTo>
                      <a:lnTo>
                        <a:pt x="33" y="160"/>
                      </a:lnTo>
                      <a:lnTo>
                        <a:pt x="33" y="159"/>
                      </a:lnTo>
                      <a:lnTo>
                        <a:pt x="32" y="159"/>
                      </a:lnTo>
                      <a:lnTo>
                        <a:pt x="32" y="157"/>
                      </a:lnTo>
                      <a:lnTo>
                        <a:pt x="32" y="156"/>
                      </a:lnTo>
                      <a:lnTo>
                        <a:pt x="32" y="154"/>
                      </a:lnTo>
                      <a:lnTo>
                        <a:pt x="32" y="153"/>
                      </a:lnTo>
                      <a:lnTo>
                        <a:pt x="32" y="151"/>
                      </a:lnTo>
                      <a:lnTo>
                        <a:pt x="30" y="151"/>
                      </a:lnTo>
                      <a:lnTo>
                        <a:pt x="30" y="150"/>
                      </a:lnTo>
                      <a:lnTo>
                        <a:pt x="28" y="150"/>
                      </a:lnTo>
                      <a:lnTo>
                        <a:pt x="28" y="148"/>
                      </a:lnTo>
                      <a:lnTo>
                        <a:pt x="27" y="148"/>
                      </a:lnTo>
                      <a:lnTo>
                        <a:pt x="27" y="147"/>
                      </a:lnTo>
                      <a:lnTo>
                        <a:pt x="26" y="147"/>
                      </a:lnTo>
                      <a:lnTo>
                        <a:pt x="26" y="146"/>
                      </a:lnTo>
                      <a:lnTo>
                        <a:pt x="24" y="146"/>
                      </a:lnTo>
                      <a:lnTo>
                        <a:pt x="23" y="144"/>
                      </a:lnTo>
                      <a:lnTo>
                        <a:pt x="21" y="144"/>
                      </a:lnTo>
                      <a:lnTo>
                        <a:pt x="21" y="142"/>
                      </a:lnTo>
                      <a:lnTo>
                        <a:pt x="20" y="142"/>
                      </a:lnTo>
                      <a:lnTo>
                        <a:pt x="20" y="141"/>
                      </a:lnTo>
                      <a:lnTo>
                        <a:pt x="20" y="139"/>
                      </a:lnTo>
                      <a:lnTo>
                        <a:pt x="18" y="139"/>
                      </a:lnTo>
                      <a:lnTo>
                        <a:pt x="17" y="137"/>
                      </a:lnTo>
                      <a:lnTo>
                        <a:pt x="16" y="135"/>
                      </a:lnTo>
                      <a:lnTo>
                        <a:pt x="16" y="134"/>
                      </a:lnTo>
                      <a:lnTo>
                        <a:pt x="15" y="132"/>
                      </a:lnTo>
                      <a:lnTo>
                        <a:pt x="15" y="131"/>
                      </a:lnTo>
                      <a:lnTo>
                        <a:pt x="13" y="129"/>
                      </a:lnTo>
                      <a:lnTo>
                        <a:pt x="13" y="127"/>
                      </a:lnTo>
                      <a:lnTo>
                        <a:pt x="11" y="125"/>
                      </a:lnTo>
                      <a:lnTo>
                        <a:pt x="11" y="124"/>
                      </a:lnTo>
                      <a:lnTo>
                        <a:pt x="10" y="122"/>
                      </a:lnTo>
                      <a:lnTo>
                        <a:pt x="10" y="119"/>
                      </a:lnTo>
                      <a:lnTo>
                        <a:pt x="9" y="118"/>
                      </a:lnTo>
                      <a:lnTo>
                        <a:pt x="9" y="116"/>
                      </a:lnTo>
                      <a:lnTo>
                        <a:pt x="9" y="114"/>
                      </a:lnTo>
                      <a:lnTo>
                        <a:pt x="9" y="112"/>
                      </a:lnTo>
                      <a:lnTo>
                        <a:pt x="9" y="112"/>
                      </a:lnTo>
                      <a:lnTo>
                        <a:pt x="10" y="110"/>
                      </a:lnTo>
                      <a:lnTo>
                        <a:pt x="10" y="108"/>
                      </a:lnTo>
                      <a:lnTo>
                        <a:pt x="10" y="107"/>
                      </a:lnTo>
                      <a:lnTo>
                        <a:pt x="11" y="106"/>
                      </a:lnTo>
                      <a:lnTo>
                        <a:pt x="11" y="105"/>
                      </a:lnTo>
                      <a:lnTo>
                        <a:pt x="11" y="104"/>
                      </a:lnTo>
                      <a:lnTo>
                        <a:pt x="13" y="102"/>
                      </a:lnTo>
                      <a:lnTo>
                        <a:pt x="13" y="100"/>
                      </a:lnTo>
                      <a:lnTo>
                        <a:pt x="13" y="100"/>
                      </a:lnTo>
                      <a:lnTo>
                        <a:pt x="15" y="98"/>
                      </a:lnTo>
                      <a:lnTo>
                        <a:pt x="16" y="96"/>
                      </a:lnTo>
                      <a:lnTo>
                        <a:pt x="17" y="96"/>
                      </a:lnTo>
                      <a:lnTo>
                        <a:pt x="19" y="94"/>
                      </a:lnTo>
                      <a:lnTo>
                        <a:pt x="20" y="94"/>
                      </a:lnTo>
                      <a:lnTo>
                        <a:pt x="21" y="93"/>
                      </a:lnTo>
                      <a:lnTo>
                        <a:pt x="23" y="91"/>
                      </a:lnTo>
                      <a:lnTo>
                        <a:pt x="25" y="89"/>
                      </a:lnTo>
                      <a:lnTo>
                        <a:pt x="26" y="88"/>
                      </a:lnTo>
                      <a:lnTo>
                        <a:pt x="27" y="88"/>
                      </a:lnTo>
                      <a:lnTo>
                        <a:pt x="29" y="86"/>
                      </a:lnTo>
                      <a:lnTo>
                        <a:pt x="31" y="83"/>
                      </a:lnTo>
                      <a:lnTo>
                        <a:pt x="32" y="81"/>
                      </a:lnTo>
                      <a:lnTo>
                        <a:pt x="34" y="78"/>
                      </a:lnTo>
                      <a:lnTo>
                        <a:pt x="35" y="75"/>
                      </a:lnTo>
                      <a:lnTo>
                        <a:pt x="38" y="70"/>
                      </a:lnTo>
                      <a:lnTo>
                        <a:pt x="38" y="70"/>
                      </a:lnTo>
                      <a:lnTo>
                        <a:pt x="40" y="68"/>
                      </a:lnTo>
                      <a:lnTo>
                        <a:pt x="42" y="66"/>
                      </a:lnTo>
                      <a:lnTo>
                        <a:pt x="43" y="64"/>
                      </a:lnTo>
                      <a:lnTo>
                        <a:pt x="43" y="63"/>
                      </a:lnTo>
                      <a:lnTo>
                        <a:pt x="45" y="60"/>
                      </a:lnTo>
                      <a:lnTo>
                        <a:pt x="47" y="57"/>
                      </a:lnTo>
                      <a:lnTo>
                        <a:pt x="48" y="54"/>
                      </a:lnTo>
                      <a:lnTo>
                        <a:pt x="48" y="53"/>
                      </a:lnTo>
                      <a:lnTo>
                        <a:pt x="50" y="49"/>
                      </a:lnTo>
                      <a:lnTo>
                        <a:pt x="51" y="47"/>
                      </a:lnTo>
                      <a:lnTo>
                        <a:pt x="53" y="43"/>
                      </a:lnTo>
                      <a:lnTo>
                        <a:pt x="54" y="41"/>
                      </a:lnTo>
                      <a:lnTo>
                        <a:pt x="55" y="39"/>
                      </a:lnTo>
                      <a:lnTo>
                        <a:pt x="57" y="38"/>
                      </a:lnTo>
                      <a:lnTo>
                        <a:pt x="59" y="35"/>
                      </a:lnTo>
                      <a:lnTo>
                        <a:pt x="60" y="33"/>
                      </a:lnTo>
                      <a:lnTo>
                        <a:pt x="62" y="32"/>
                      </a:lnTo>
                      <a:lnTo>
                        <a:pt x="64" y="30"/>
                      </a:lnTo>
                      <a:lnTo>
                        <a:pt x="65" y="30"/>
                      </a:lnTo>
                      <a:lnTo>
                        <a:pt x="66" y="29"/>
                      </a:lnTo>
                      <a:lnTo>
                        <a:pt x="68" y="28"/>
                      </a:lnTo>
                      <a:lnTo>
                        <a:pt x="70" y="26"/>
                      </a:lnTo>
                      <a:lnTo>
                        <a:pt x="71" y="26"/>
                      </a:lnTo>
                      <a:lnTo>
                        <a:pt x="73" y="24"/>
                      </a:lnTo>
                      <a:lnTo>
                        <a:pt x="75" y="23"/>
                      </a:lnTo>
                      <a:lnTo>
                        <a:pt x="76" y="21"/>
                      </a:lnTo>
                      <a:lnTo>
                        <a:pt x="77" y="21"/>
                      </a:lnTo>
                      <a:lnTo>
                        <a:pt x="79" y="19"/>
                      </a:lnTo>
                      <a:lnTo>
                        <a:pt x="81" y="17"/>
                      </a:lnTo>
                      <a:lnTo>
                        <a:pt x="82" y="16"/>
                      </a:lnTo>
                      <a:lnTo>
                        <a:pt x="82" y="15"/>
                      </a:lnTo>
                      <a:lnTo>
                        <a:pt x="83" y="13"/>
                      </a:lnTo>
                      <a:lnTo>
                        <a:pt x="83" y="12"/>
                      </a:lnTo>
                      <a:lnTo>
                        <a:pt x="85" y="11"/>
                      </a:lnTo>
                      <a:lnTo>
                        <a:pt x="85" y="9"/>
                      </a:lnTo>
                      <a:lnTo>
                        <a:pt x="86" y="7"/>
                      </a:lnTo>
                      <a:lnTo>
                        <a:pt x="87" y="6"/>
                      </a:lnTo>
                      <a:lnTo>
                        <a:pt x="87" y="5"/>
                      </a:lnTo>
                      <a:lnTo>
                        <a:pt x="89" y="3"/>
                      </a:lnTo>
                      <a:lnTo>
                        <a:pt x="89" y="1"/>
                      </a:lnTo>
                      <a:lnTo>
                        <a:pt x="91" y="0"/>
                      </a:lnTo>
                    </a:path>
                  </a:pathLst>
                </a:custGeom>
                <a:solidFill>
                  <a:srgbClr val="2F2F2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27" name="Freeform 195"/>
                <p:cNvSpPr>
                  <a:spLocks/>
                </p:cNvSpPr>
                <p:nvPr/>
              </p:nvSpPr>
              <p:spPr bwMode="auto">
                <a:xfrm>
                  <a:off x="3041" y="3586"/>
                  <a:ext cx="77" cy="235"/>
                </a:xfrm>
                <a:custGeom>
                  <a:avLst/>
                  <a:gdLst/>
                  <a:ahLst/>
                  <a:cxnLst>
                    <a:cxn ang="0">
                      <a:pos x="2" y="3"/>
                    </a:cxn>
                    <a:cxn ang="0">
                      <a:pos x="11" y="15"/>
                    </a:cxn>
                    <a:cxn ang="0">
                      <a:pos x="20" y="27"/>
                    </a:cxn>
                    <a:cxn ang="0">
                      <a:pos x="22" y="34"/>
                    </a:cxn>
                    <a:cxn ang="0">
                      <a:pos x="25" y="39"/>
                    </a:cxn>
                    <a:cxn ang="0">
                      <a:pos x="27" y="45"/>
                    </a:cxn>
                    <a:cxn ang="0">
                      <a:pos x="28" y="51"/>
                    </a:cxn>
                    <a:cxn ang="0">
                      <a:pos x="30" y="58"/>
                    </a:cxn>
                    <a:cxn ang="0">
                      <a:pos x="33" y="63"/>
                    </a:cxn>
                    <a:cxn ang="0">
                      <a:pos x="35" y="69"/>
                    </a:cxn>
                    <a:cxn ang="0">
                      <a:pos x="38" y="81"/>
                    </a:cxn>
                    <a:cxn ang="0">
                      <a:pos x="44" y="92"/>
                    </a:cxn>
                    <a:cxn ang="0">
                      <a:pos x="45" y="99"/>
                    </a:cxn>
                    <a:cxn ang="0">
                      <a:pos x="45" y="106"/>
                    </a:cxn>
                    <a:cxn ang="0">
                      <a:pos x="45" y="114"/>
                    </a:cxn>
                    <a:cxn ang="0">
                      <a:pos x="43" y="121"/>
                    </a:cxn>
                    <a:cxn ang="0">
                      <a:pos x="41" y="129"/>
                    </a:cxn>
                    <a:cxn ang="0">
                      <a:pos x="40" y="136"/>
                    </a:cxn>
                    <a:cxn ang="0">
                      <a:pos x="38" y="143"/>
                    </a:cxn>
                    <a:cxn ang="0">
                      <a:pos x="37" y="152"/>
                    </a:cxn>
                    <a:cxn ang="0">
                      <a:pos x="35" y="160"/>
                    </a:cxn>
                    <a:cxn ang="0">
                      <a:pos x="35" y="166"/>
                    </a:cxn>
                    <a:cxn ang="0">
                      <a:pos x="35" y="175"/>
                    </a:cxn>
                    <a:cxn ang="0">
                      <a:pos x="39" y="183"/>
                    </a:cxn>
                    <a:cxn ang="0">
                      <a:pos x="44" y="193"/>
                    </a:cxn>
                    <a:cxn ang="0">
                      <a:pos x="46" y="201"/>
                    </a:cxn>
                    <a:cxn ang="0">
                      <a:pos x="49" y="207"/>
                    </a:cxn>
                    <a:cxn ang="0">
                      <a:pos x="55" y="213"/>
                    </a:cxn>
                    <a:cxn ang="0">
                      <a:pos x="59" y="217"/>
                    </a:cxn>
                    <a:cxn ang="0">
                      <a:pos x="57" y="224"/>
                    </a:cxn>
                    <a:cxn ang="0">
                      <a:pos x="54" y="231"/>
                    </a:cxn>
                    <a:cxn ang="0">
                      <a:pos x="57" y="233"/>
                    </a:cxn>
                    <a:cxn ang="0">
                      <a:pos x="65" y="225"/>
                    </a:cxn>
                    <a:cxn ang="0">
                      <a:pos x="72" y="219"/>
                    </a:cxn>
                    <a:cxn ang="0">
                      <a:pos x="76" y="211"/>
                    </a:cxn>
                    <a:cxn ang="0">
                      <a:pos x="72" y="206"/>
                    </a:cxn>
                    <a:cxn ang="0">
                      <a:pos x="67" y="200"/>
                    </a:cxn>
                    <a:cxn ang="0">
                      <a:pos x="62" y="192"/>
                    </a:cxn>
                    <a:cxn ang="0">
                      <a:pos x="59" y="185"/>
                    </a:cxn>
                    <a:cxn ang="0">
                      <a:pos x="54" y="176"/>
                    </a:cxn>
                    <a:cxn ang="0">
                      <a:pos x="50" y="166"/>
                    </a:cxn>
                    <a:cxn ang="0">
                      <a:pos x="49" y="157"/>
                    </a:cxn>
                    <a:cxn ang="0">
                      <a:pos x="51" y="143"/>
                    </a:cxn>
                    <a:cxn ang="0">
                      <a:pos x="53" y="131"/>
                    </a:cxn>
                    <a:cxn ang="0">
                      <a:pos x="55" y="117"/>
                    </a:cxn>
                    <a:cxn ang="0">
                      <a:pos x="53" y="99"/>
                    </a:cxn>
                    <a:cxn ang="0">
                      <a:pos x="49" y="82"/>
                    </a:cxn>
                    <a:cxn ang="0">
                      <a:pos x="45" y="67"/>
                    </a:cxn>
                    <a:cxn ang="0">
                      <a:pos x="33" y="44"/>
                    </a:cxn>
                    <a:cxn ang="0">
                      <a:pos x="20" y="23"/>
                    </a:cxn>
                    <a:cxn ang="0">
                      <a:pos x="5" y="5"/>
                    </a:cxn>
                    <a:cxn ang="0">
                      <a:pos x="1" y="3"/>
                    </a:cxn>
                  </a:cxnLst>
                  <a:rect l="0" t="0" r="r" b="b"/>
                  <a:pathLst>
                    <a:path w="77" h="23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3"/>
                      </a:lnTo>
                      <a:lnTo>
                        <a:pt x="2" y="3"/>
                      </a:lnTo>
                      <a:lnTo>
                        <a:pt x="3" y="6"/>
                      </a:lnTo>
                      <a:lnTo>
                        <a:pt x="5" y="7"/>
                      </a:lnTo>
                      <a:lnTo>
                        <a:pt x="6" y="10"/>
                      </a:lnTo>
                      <a:lnTo>
                        <a:pt x="9" y="11"/>
                      </a:lnTo>
                      <a:lnTo>
                        <a:pt x="11" y="15"/>
                      </a:lnTo>
                      <a:lnTo>
                        <a:pt x="12" y="17"/>
                      </a:lnTo>
                      <a:lnTo>
                        <a:pt x="14" y="20"/>
                      </a:lnTo>
                      <a:lnTo>
                        <a:pt x="16" y="22"/>
                      </a:lnTo>
                      <a:lnTo>
                        <a:pt x="18" y="25"/>
                      </a:lnTo>
                      <a:lnTo>
                        <a:pt x="20" y="27"/>
                      </a:lnTo>
                      <a:lnTo>
                        <a:pt x="21" y="29"/>
                      </a:lnTo>
                      <a:lnTo>
                        <a:pt x="22" y="29"/>
                      </a:lnTo>
                      <a:lnTo>
                        <a:pt x="22" y="31"/>
                      </a:lnTo>
                      <a:lnTo>
                        <a:pt x="22" y="33"/>
                      </a:lnTo>
                      <a:lnTo>
                        <a:pt x="22" y="34"/>
                      </a:lnTo>
                      <a:lnTo>
                        <a:pt x="23" y="34"/>
                      </a:lnTo>
                      <a:lnTo>
                        <a:pt x="23" y="35"/>
                      </a:lnTo>
                      <a:lnTo>
                        <a:pt x="23" y="37"/>
                      </a:lnTo>
                      <a:lnTo>
                        <a:pt x="23" y="39"/>
                      </a:lnTo>
                      <a:lnTo>
                        <a:pt x="25" y="39"/>
                      </a:lnTo>
                      <a:lnTo>
                        <a:pt x="25" y="41"/>
                      </a:lnTo>
                      <a:lnTo>
                        <a:pt x="25" y="41"/>
                      </a:lnTo>
                      <a:lnTo>
                        <a:pt x="25" y="43"/>
                      </a:lnTo>
                      <a:lnTo>
                        <a:pt x="27" y="43"/>
                      </a:lnTo>
                      <a:lnTo>
                        <a:pt x="27" y="45"/>
                      </a:lnTo>
                      <a:lnTo>
                        <a:pt x="27" y="47"/>
                      </a:lnTo>
                      <a:lnTo>
                        <a:pt x="27" y="48"/>
                      </a:lnTo>
                      <a:lnTo>
                        <a:pt x="28" y="48"/>
                      </a:lnTo>
                      <a:lnTo>
                        <a:pt x="28" y="50"/>
                      </a:lnTo>
                      <a:lnTo>
                        <a:pt x="28" y="51"/>
                      </a:lnTo>
                      <a:lnTo>
                        <a:pt x="28" y="52"/>
                      </a:lnTo>
                      <a:lnTo>
                        <a:pt x="30" y="52"/>
                      </a:lnTo>
                      <a:lnTo>
                        <a:pt x="30" y="54"/>
                      </a:lnTo>
                      <a:lnTo>
                        <a:pt x="30" y="56"/>
                      </a:lnTo>
                      <a:lnTo>
                        <a:pt x="30" y="58"/>
                      </a:lnTo>
                      <a:lnTo>
                        <a:pt x="32" y="58"/>
                      </a:lnTo>
                      <a:lnTo>
                        <a:pt x="32" y="59"/>
                      </a:lnTo>
                      <a:lnTo>
                        <a:pt x="32" y="61"/>
                      </a:lnTo>
                      <a:lnTo>
                        <a:pt x="32" y="63"/>
                      </a:lnTo>
                      <a:lnTo>
                        <a:pt x="33" y="63"/>
                      </a:lnTo>
                      <a:lnTo>
                        <a:pt x="33" y="64"/>
                      </a:lnTo>
                      <a:lnTo>
                        <a:pt x="33" y="66"/>
                      </a:lnTo>
                      <a:lnTo>
                        <a:pt x="35" y="66"/>
                      </a:lnTo>
                      <a:lnTo>
                        <a:pt x="35" y="68"/>
                      </a:lnTo>
                      <a:lnTo>
                        <a:pt x="35" y="69"/>
                      </a:lnTo>
                      <a:lnTo>
                        <a:pt x="35" y="71"/>
                      </a:lnTo>
                      <a:lnTo>
                        <a:pt x="37" y="73"/>
                      </a:lnTo>
                      <a:lnTo>
                        <a:pt x="37" y="76"/>
                      </a:lnTo>
                      <a:lnTo>
                        <a:pt x="38" y="77"/>
                      </a:lnTo>
                      <a:lnTo>
                        <a:pt x="38" y="81"/>
                      </a:lnTo>
                      <a:lnTo>
                        <a:pt x="40" y="82"/>
                      </a:lnTo>
                      <a:lnTo>
                        <a:pt x="40" y="85"/>
                      </a:lnTo>
                      <a:lnTo>
                        <a:pt x="42" y="88"/>
                      </a:lnTo>
                      <a:lnTo>
                        <a:pt x="42" y="91"/>
                      </a:lnTo>
                      <a:lnTo>
                        <a:pt x="44" y="92"/>
                      </a:lnTo>
                      <a:lnTo>
                        <a:pt x="44" y="94"/>
                      </a:lnTo>
                      <a:lnTo>
                        <a:pt x="44" y="96"/>
                      </a:lnTo>
                      <a:lnTo>
                        <a:pt x="44" y="98"/>
                      </a:lnTo>
                      <a:lnTo>
                        <a:pt x="45" y="98"/>
                      </a:lnTo>
                      <a:lnTo>
                        <a:pt x="45" y="99"/>
                      </a:lnTo>
                      <a:lnTo>
                        <a:pt x="45" y="100"/>
                      </a:lnTo>
                      <a:lnTo>
                        <a:pt x="45" y="102"/>
                      </a:lnTo>
                      <a:lnTo>
                        <a:pt x="45" y="104"/>
                      </a:lnTo>
                      <a:lnTo>
                        <a:pt x="45" y="105"/>
                      </a:lnTo>
                      <a:lnTo>
                        <a:pt x="45" y="106"/>
                      </a:lnTo>
                      <a:lnTo>
                        <a:pt x="45" y="108"/>
                      </a:lnTo>
                      <a:lnTo>
                        <a:pt x="45" y="109"/>
                      </a:lnTo>
                      <a:lnTo>
                        <a:pt x="45" y="111"/>
                      </a:lnTo>
                      <a:lnTo>
                        <a:pt x="45" y="112"/>
                      </a:lnTo>
                      <a:lnTo>
                        <a:pt x="45" y="114"/>
                      </a:lnTo>
                      <a:lnTo>
                        <a:pt x="44" y="116"/>
                      </a:lnTo>
                      <a:lnTo>
                        <a:pt x="44" y="117"/>
                      </a:lnTo>
                      <a:lnTo>
                        <a:pt x="44" y="118"/>
                      </a:lnTo>
                      <a:lnTo>
                        <a:pt x="44" y="119"/>
                      </a:lnTo>
                      <a:lnTo>
                        <a:pt x="43" y="121"/>
                      </a:lnTo>
                      <a:lnTo>
                        <a:pt x="43" y="123"/>
                      </a:lnTo>
                      <a:lnTo>
                        <a:pt x="43" y="124"/>
                      </a:lnTo>
                      <a:lnTo>
                        <a:pt x="43" y="125"/>
                      </a:lnTo>
                      <a:lnTo>
                        <a:pt x="41" y="127"/>
                      </a:lnTo>
                      <a:lnTo>
                        <a:pt x="41" y="129"/>
                      </a:lnTo>
                      <a:lnTo>
                        <a:pt x="41" y="130"/>
                      </a:lnTo>
                      <a:lnTo>
                        <a:pt x="41" y="131"/>
                      </a:lnTo>
                      <a:lnTo>
                        <a:pt x="40" y="133"/>
                      </a:lnTo>
                      <a:lnTo>
                        <a:pt x="40" y="135"/>
                      </a:lnTo>
                      <a:lnTo>
                        <a:pt x="40" y="136"/>
                      </a:lnTo>
                      <a:lnTo>
                        <a:pt x="39" y="138"/>
                      </a:lnTo>
                      <a:lnTo>
                        <a:pt x="39" y="140"/>
                      </a:lnTo>
                      <a:lnTo>
                        <a:pt x="39" y="141"/>
                      </a:lnTo>
                      <a:lnTo>
                        <a:pt x="39" y="142"/>
                      </a:lnTo>
                      <a:lnTo>
                        <a:pt x="38" y="143"/>
                      </a:lnTo>
                      <a:lnTo>
                        <a:pt x="38" y="145"/>
                      </a:lnTo>
                      <a:lnTo>
                        <a:pt x="38" y="146"/>
                      </a:lnTo>
                      <a:lnTo>
                        <a:pt x="38" y="148"/>
                      </a:lnTo>
                      <a:lnTo>
                        <a:pt x="37" y="151"/>
                      </a:lnTo>
                      <a:lnTo>
                        <a:pt x="37" y="152"/>
                      </a:lnTo>
                      <a:lnTo>
                        <a:pt x="37" y="154"/>
                      </a:lnTo>
                      <a:lnTo>
                        <a:pt x="37" y="156"/>
                      </a:lnTo>
                      <a:lnTo>
                        <a:pt x="35" y="158"/>
                      </a:lnTo>
                      <a:lnTo>
                        <a:pt x="35" y="158"/>
                      </a:lnTo>
                      <a:lnTo>
                        <a:pt x="35" y="160"/>
                      </a:lnTo>
                      <a:lnTo>
                        <a:pt x="35" y="161"/>
                      </a:lnTo>
                      <a:lnTo>
                        <a:pt x="35" y="163"/>
                      </a:lnTo>
                      <a:lnTo>
                        <a:pt x="35" y="164"/>
                      </a:lnTo>
                      <a:lnTo>
                        <a:pt x="35" y="165"/>
                      </a:lnTo>
                      <a:lnTo>
                        <a:pt x="35" y="166"/>
                      </a:lnTo>
                      <a:lnTo>
                        <a:pt x="35" y="168"/>
                      </a:lnTo>
                      <a:lnTo>
                        <a:pt x="35" y="169"/>
                      </a:lnTo>
                      <a:lnTo>
                        <a:pt x="35" y="170"/>
                      </a:lnTo>
                      <a:lnTo>
                        <a:pt x="35" y="173"/>
                      </a:lnTo>
                      <a:lnTo>
                        <a:pt x="35" y="175"/>
                      </a:lnTo>
                      <a:lnTo>
                        <a:pt x="35" y="176"/>
                      </a:lnTo>
                      <a:lnTo>
                        <a:pt x="37" y="177"/>
                      </a:lnTo>
                      <a:lnTo>
                        <a:pt x="37" y="181"/>
                      </a:lnTo>
                      <a:lnTo>
                        <a:pt x="38" y="182"/>
                      </a:lnTo>
                      <a:lnTo>
                        <a:pt x="39" y="183"/>
                      </a:lnTo>
                      <a:lnTo>
                        <a:pt x="40" y="185"/>
                      </a:lnTo>
                      <a:lnTo>
                        <a:pt x="40" y="188"/>
                      </a:lnTo>
                      <a:lnTo>
                        <a:pt x="42" y="190"/>
                      </a:lnTo>
                      <a:lnTo>
                        <a:pt x="42" y="192"/>
                      </a:lnTo>
                      <a:lnTo>
                        <a:pt x="44" y="193"/>
                      </a:lnTo>
                      <a:lnTo>
                        <a:pt x="44" y="195"/>
                      </a:lnTo>
                      <a:lnTo>
                        <a:pt x="45" y="197"/>
                      </a:lnTo>
                      <a:lnTo>
                        <a:pt x="45" y="199"/>
                      </a:lnTo>
                      <a:lnTo>
                        <a:pt x="46" y="200"/>
                      </a:lnTo>
                      <a:lnTo>
                        <a:pt x="46" y="201"/>
                      </a:lnTo>
                      <a:lnTo>
                        <a:pt x="46" y="203"/>
                      </a:lnTo>
                      <a:lnTo>
                        <a:pt x="46" y="205"/>
                      </a:lnTo>
                      <a:lnTo>
                        <a:pt x="48" y="205"/>
                      </a:lnTo>
                      <a:lnTo>
                        <a:pt x="48" y="206"/>
                      </a:lnTo>
                      <a:lnTo>
                        <a:pt x="49" y="207"/>
                      </a:lnTo>
                      <a:lnTo>
                        <a:pt x="50" y="209"/>
                      </a:lnTo>
                      <a:lnTo>
                        <a:pt x="52" y="209"/>
                      </a:lnTo>
                      <a:lnTo>
                        <a:pt x="52" y="211"/>
                      </a:lnTo>
                      <a:lnTo>
                        <a:pt x="54" y="211"/>
                      </a:lnTo>
                      <a:lnTo>
                        <a:pt x="55" y="213"/>
                      </a:lnTo>
                      <a:lnTo>
                        <a:pt x="56" y="213"/>
                      </a:lnTo>
                      <a:lnTo>
                        <a:pt x="56" y="215"/>
                      </a:lnTo>
                      <a:lnTo>
                        <a:pt x="57" y="215"/>
                      </a:lnTo>
                      <a:lnTo>
                        <a:pt x="57" y="217"/>
                      </a:lnTo>
                      <a:lnTo>
                        <a:pt x="59" y="217"/>
                      </a:lnTo>
                      <a:lnTo>
                        <a:pt x="59" y="218"/>
                      </a:lnTo>
                      <a:lnTo>
                        <a:pt x="59" y="219"/>
                      </a:lnTo>
                      <a:lnTo>
                        <a:pt x="59" y="221"/>
                      </a:lnTo>
                      <a:lnTo>
                        <a:pt x="57" y="223"/>
                      </a:lnTo>
                      <a:lnTo>
                        <a:pt x="57" y="224"/>
                      </a:lnTo>
                      <a:lnTo>
                        <a:pt x="56" y="225"/>
                      </a:lnTo>
                      <a:lnTo>
                        <a:pt x="56" y="226"/>
                      </a:lnTo>
                      <a:lnTo>
                        <a:pt x="55" y="228"/>
                      </a:lnTo>
                      <a:lnTo>
                        <a:pt x="55" y="229"/>
                      </a:lnTo>
                      <a:lnTo>
                        <a:pt x="54" y="231"/>
                      </a:lnTo>
                      <a:lnTo>
                        <a:pt x="54" y="233"/>
                      </a:lnTo>
                      <a:lnTo>
                        <a:pt x="55" y="233"/>
                      </a:lnTo>
                      <a:lnTo>
                        <a:pt x="55" y="234"/>
                      </a:lnTo>
                      <a:lnTo>
                        <a:pt x="55" y="234"/>
                      </a:lnTo>
                      <a:lnTo>
                        <a:pt x="57" y="233"/>
                      </a:lnTo>
                      <a:lnTo>
                        <a:pt x="59" y="231"/>
                      </a:lnTo>
                      <a:lnTo>
                        <a:pt x="60" y="229"/>
                      </a:lnTo>
                      <a:lnTo>
                        <a:pt x="62" y="228"/>
                      </a:lnTo>
                      <a:lnTo>
                        <a:pt x="64" y="226"/>
                      </a:lnTo>
                      <a:lnTo>
                        <a:pt x="65" y="225"/>
                      </a:lnTo>
                      <a:lnTo>
                        <a:pt x="66" y="223"/>
                      </a:lnTo>
                      <a:lnTo>
                        <a:pt x="67" y="223"/>
                      </a:lnTo>
                      <a:lnTo>
                        <a:pt x="69" y="222"/>
                      </a:lnTo>
                      <a:lnTo>
                        <a:pt x="71" y="221"/>
                      </a:lnTo>
                      <a:lnTo>
                        <a:pt x="72" y="219"/>
                      </a:lnTo>
                      <a:lnTo>
                        <a:pt x="72" y="217"/>
                      </a:lnTo>
                      <a:lnTo>
                        <a:pt x="74" y="216"/>
                      </a:lnTo>
                      <a:lnTo>
                        <a:pt x="75" y="215"/>
                      </a:lnTo>
                      <a:lnTo>
                        <a:pt x="75" y="213"/>
                      </a:lnTo>
                      <a:lnTo>
                        <a:pt x="76" y="211"/>
                      </a:lnTo>
                      <a:lnTo>
                        <a:pt x="75" y="211"/>
                      </a:lnTo>
                      <a:lnTo>
                        <a:pt x="75" y="210"/>
                      </a:lnTo>
                      <a:lnTo>
                        <a:pt x="74" y="209"/>
                      </a:lnTo>
                      <a:lnTo>
                        <a:pt x="74" y="207"/>
                      </a:lnTo>
                      <a:lnTo>
                        <a:pt x="72" y="206"/>
                      </a:lnTo>
                      <a:lnTo>
                        <a:pt x="71" y="205"/>
                      </a:lnTo>
                      <a:lnTo>
                        <a:pt x="71" y="203"/>
                      </a:lnTo>
                      <a:lnTo>
                        <a:pt x="71" y="201"/>
                      </a:lnTo>
                      <a:lnTo>
                        <a:pt x="69" y="201"/>
                      </a:lnTo>
                      <a:lnTo>
                        <a:pt x="67" y="200"/>
                      </a:lnTo>
                      <a:lnTo>
                        <a:pt x="66" y="199"/>
                      </a:lnTo>
                      <a:lnTo>
                        <a:pt x="66" y="197"/>
                      </a:lnTo>
                      <a:lnTo>
                        <a:pt x="64" y="195"/>
                      </a:lnTo>
                      <a:lnTo>
                        <a:pt x="63" y="193"/>
                      </a:lnTo>
                      <a:lnTo>
                        <a:pt x="62" y="192"/>
                      </a:lnTo>
                      <a:lnTo>
                        <a:pt x="62" y="190"/>
                      </a:lnTo>
                      <a:lnTo>
                        <a:pt x="60" y="190"/>
                      </a:lnTo>
                      <a:lnTo>
                        <a:pt x="60" y="188"/>
                      </a:lnTo>
                      <a:lnTo>
                        <a:pt x="59" y="187"/>
                      </a:lnTo>
                      <a:lnTo>
                        <a:pt x="59" y="185"/>
                      </a:lnTo>
                      <a:lnTo>
                        <a:pt x="57" y="183"/>
                      </a:lnTo>
                      <a:lnTo>
                        <a:pt x="56" y="182"/>
                      </a:lnTo>
                      <a:lnTo>
                        <a:pt x="55" y="181"/>
                      </a:lnTo>
                      <a:lnTo>
                        <a:pt x="55" y="177"/>
                      </a:lnTo>
                      <a:lnTo>
                        <a:pt x="54" y="176"/>
                      </a:lnTo>
                      <a:lnTo>
                        <a:pt x="54" y="174"/>
                      </a:lnTo>
                      <a:lnTo>
                        <a:pt x="52" y="172"/>
                      </a:lnTo>
                      <a:lnTo>
                        <a:pt x="52" y="169"/>
                      </a:lnTo>
                      <a:lnTo>
                        <a:pt x="50" y="167"/>
                      </a:lnTo>
                      <a:lnTo>
                        <a:pt x="50" y="166"/>
                      </a:lnTo>
                      <a:lnTo>
                        <a:pt x="50" y="164"/>
                      </a:lnTo>
                      <a:lnTo>
                        <a:pt x="50" y="162"/>
                      </a:lnTo>
                      <a:lnTo>
                        <a:pt x="49" y="160"/>
                      </a:lnTo>
                      <a:lnTo>
                        <a:pt x="49" y="158"/>
                      </a:lnTo>
                      <a:lnTo>
                        <a:pt x="49" y="157"/>
                      </a:lnTo>
                      <a:lnTo>
                        <a:pt x="49" y="154"/>
                      </a:lnTo>
                      <a:lnTo>
                        <a:pt x="49" y="152"/>
                      </a:lnTo>
                      <a:lnTo>
                        <a:pt x="49" y="149"/>
                      </a:lnTo>
                      <a:lnTo>
                        <a:pt x="49" y="146"/>
                      </a:lnTo>
                      <a:lnTo>
                        <a:pt x="51" y="143"/>
                      </a:lnTo>
                      <a:lnTo>
                        <a:pt x="51" y="142"/>
                      </a:lnTo>
                      <a:lnTo>
                        <a:pt x="51" y="139"/>
                      </a:lnTo>
                      <a:lnTo>
                        <a:pt x="51" y="136"/>
                      </a:lnTo>
                      <a:lnTo>
                        <a:pt x="53" y="133"/>
                      </a:lnTo>
                      <a:lnTo>
                        <a:pt x="53" y="131"/>
                      </a:lnTo>
                      <a:lnTo>
                        <a:pt x="54" y="129"/>
                      </a:lnTo>
                      <a:lnTo>
                        <a:pt x="54" y="127"/>
                      </a:lnTo>
                      <a:lnTo>
                        <a:pt x="55" y="124"/>
                      </a:lnTo>
                      <a:lnTo>
                        <a:pt x="55" y="121"/>
                      </a:lnTo>
                      <a:lnTo>
                        <a:pt x="55" y="117"/>
                      </a:lnTo>
                      <a:lnTo>
                        <a:pt x="55" y="115"/>
                      </a:lnTo>
                      <a:lnTo>
                        <a:pt x="55" y="110"/>
                      </a:lnTo>
                      <a:lnTo>
                        <a:pt x="53" y="107"/>
                      </a:lnTo>
                      <a:lnTo>
                        <a:pt x="53" y="102"/>
                      </a:lnTo>
                      <a:lnTo>
                        <a:pt x="53" y="99"/>
                      </a:lnTo>
                      <a:lnTo>
                        <a:pt x="53" y="94"/>
                      </a:lnTo>
                      <a:lnTo>
                        <a:pt x="51" y="91"/>
                      </a:lnTo>
                      <a:lnTo>
                        <a:pt x="51" y="88"/>
                      </a:lnTo>
                      <a:lnTo>
                        <a:pt x="49" y="85"/>
                      </a:lnTo>
                      <a:lnTo>
                        <a:pt x="49" y="82"/>
                      </a:lnTo>
                      <a:lnTo>
                        <a:pt x="48" y="79"/>
                      </a:lnTo>
                      <a:lnTo>
                        <a:pt x="48" y="76"/>
                      </a:lnTo>
                      <a:lnTo>
                        <a:pt x="48" y="73"/>
                      </a:lnTo>
                      <a:lnTo>
                        <a:pt x="48" y="70"/>
                      </a:lnTo>
                      <a:lnTo>
                        <a:pt x="45" y="67"/>
                      </a:lnTo>
                      <a:lnTo>
                        <a:pt x="44" y="63"/>
                      </a:lnTo>
                      <a:lnTo>
                        <a:pt x="41" y="58"/>
                      </a:lnTo>
                      <a:lnTo>
                        <a:pt x="39" y="54"/>
                      </a:lnTo>
                      <a:lnTo>
                        <a:pt x="37" y="49"/>
                      </a:lnTo>
                      <a:lnTo>
                        <a:pt x="33" y="44"/>
                      </a:lnTo>
                      <a:lnTo>
                        <a:pt x="31" y="40"/>
                      </a:lnTo>
                      <a:lnTo>
                        <a:pt x="29" y="35"/>
                      </a:lnTo>
                      <a:lnTo>
                        <a:pt x="26" y="32"/>
                      </a:lnTo>
                      <a:lnTo>
                        <a:pt x="22" y="27"/>
                      </a:lnTo>
                      <a:lnTo>
                        <a:pt x="20" y="23"/>
                      </a:lnTo>
                      <a:lnTo>
                        <a:pt x="16" y="18"/>
                      </a:lnTo>
                      <a:lnTo>
                        <a:pt x="13" y="15"/>
                      </a:lnTo>
                      <a:lnTo>
                        <a:pt x="10" y="11"/>
                      </a:lnTo>
                      <a:lnTo>
                        <a:pt x="6" y="9"/>
                      </a:lnTo>
                      <a:lnTo>
                        <a:pt x="5" y="5"/>
                      </a:lnTo>
                      <a:lnTo>
                        <a:pt x="4" y="5"/>
                      </a:lnTo>
                      <a:lnTo>
                        <a:pt x="3" y="5"/>
                      </a:lnTo>
                      <a:lnTo>
                        <a:pt x="3" y="5"/>
                      </a:lnTo>
                      <a:lnTo>
                        <a:pt x="1" y="5"/>
                      </a:lnTo>
                      <a:lnTo>
                        <a:pt x="1" y="3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80808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28" name="Freeform 196"/>
                <p:cNvSpPr>
                  <a:spLocks/>
                </p:cNvSpPr>
                <p:nvPr/>
              </p:nvSpPr>
              <p:spPr bwMode="auto">
                <a:xfrm>
                  <a:off x="2967" y="3561"/>
                  <a:ext cx="74" cy="91"/>
                </a:xfrm>
                <a:custGeom>
                  <a:avLst/>
                  <a:gdLst/>
                  <a:ahLst/>
                  <a:cxnLst>
                    <a:cxn ang="0">
                      <a:pos x="66" y="26"/>
                    </a:cxn>
                    <a:cxn ang="0">
                      <a:pos x="56" y="28"/>
                    </a:cxn>
                    <a:cxn ang="0">
                      <a:pos x="49" y="32"/>
                    </a:cxn>
                    <a:cxn ang="0">
                      <a:pos x="41" y="37"/>
                    </a:cxn>
                    <a:cxn ang="0">
                      <a:pos x="34" y="43"/>
                    </a:cxn>
                    <a:cxn ang="0">
                      <a:pos x="28" y="49"/>
                    </a:cxn>
                    <a:cxn ang="0">
                      <a:pos x="22" y="56"/>
                    </a:cxn>
                    <a:cxn ang="0">
                      <a:pos x="13" y="68"/>
                    </a:cxn>
                    <a:cxn ang="0">
                      <a:pos x="6" y="78"/>
                    </a:cxn>
                    <a:cxn ang="0">
                      <a:pos x="1" y="86"/>
                    </a:cxn>
                    <a:cxn ang="0">
                      <a:pos x="1" y="87"/>
                    </a:cxn>
                    <a:cxn ang="0">
                      <a:pos x="10" y="75"/>
                    </a:cxn>
                    <a:cxn ang="0">
                      <a:pos x="23" y="58"/>
                    </a:cxn>
                    <a:cxn ang="0">
                      <a:pos x="38" y="41"/>
                    </a:cxn>
                    <a:cxn ang="0">
                      <a:pos x="54" y="27"/>
                    </a:cxn>
                    <a:cxn ang="0">
                      <a:pos x="59" y="23"/>
                    </a:cxn>
                    <a:cxn ang="0">
                      <a:pos x="48" y="23"/>
                    </a:cxn>
                    <a:cxn ang="0">
                      <a:pos x="38" y="25"/>
                    </a:cxn>
                    <a:cxn ang="0">
                      <a:pos x="26" y="28"/>
                    </a:cxn>
                    <a:cxn ang="0">
                      <a:pos x="13" y="32"/>
                    </a:cxn>
                    <a:cxn ang="0">
                      <a:pos x="2" y="36"/>
                    </a:cxn>
                    <a:cxn ang="0">
                      <a:pos x="4" y="35"/>
                    </a:cxn>
                    <a:cxn ang="0">
                      <a:pos x="11" y="32"/>
                    </a:cxn>
                    <a:cxn ang="0">
                      <a:pos x="22" y="28"/>
                    </a:cxn>
                    <a:cxn ang="0">
                      <a:pos x="37" y="24"/>
                    </a:cxn>
                    <a:cxn ang="0">
                      <a:pos x="56" y="22"/>
                    </a:cxn>
                    <a:cxn ang="0">
                      <a:pos x="54" y="17"/>
                    </a:cxn>
                    <a:cxn ang="0">
                      <a:pos x="49" y="13"/>
                    </a:cxn>
                    <a:cxn ang="0">
                      <a:pos x="43" y="6"/>
                    </a:cxn>
                    <a:cxn ang="0">
                      <a:pos x="39" y="3"/>
                    </a:cxn>
                    <a:cxn ang="0">
                      <a:pos x="37" y="0"/>
                    </a:cxn>
                    <a:cxn ang="0">
                      <a:pos x="39" y="2"/>
                    </a:cxn>
                    <a:cxn ang="0">
                      <a:pos x="43" y="6"/>
                    </a:cxn>
                    <a:cxn ang="0">
                      <a:pos x="49" y="12"/>
                    </a:cxn>
                    <a:cxn ang="0">
                      <a:pos x="55" y="17"/>
                    </a:cxn>
                    <a:cxn ang="0">
                      <a:pos x="60" y="20"/>
                    </a:cxn>
                    <a:cxn ang="0">
                      <a:pos x="64" y="17"/>
                    </a:cxn>
                    <a:cxn ang="0">
                      <a:pos x="65" y="12"/>
                    </a:cxn>
                    <a:cxn ang="0">
                      <a:pos x="68" y="9"/>
                    </a:cxn>
                    <a:cxn ang="0">
                      <a:pos x="68" y="11"/>
                    </a:cxn>
                    <a:cxn ang="0">
                      <a:pos x="67" y="14"/>
                    </a:cxn>
                    <a:cxn ang="0">
                      <a:pos x="67" y="18"/>
                    </a:cxn>
                    <a:cxn ang="0">
                      <a:pos x="68" y="22"/>
                    </a:cxn>
                    <a:cxn ang="0">
                      <a:pos x="70" y="24"/>
                    </a:cxn>
                    <a:cxn ang="0">
                      <a:pos x="73" y="25"/>
                    </a:cxn>
                  </a:cxnLst>
                  <a:rect l="0" t="0" r="r" b="b"/>
                  <a:pathLst>
                    <a:path w="74" h="91">
                      <a:moveTo>
                        <a:pt x="73" y="25"/>
                      </a:moveTo>
                      <a:lnTo>
                        <a:pt x="69" y="26"/>
                      </a:lnTo>
                      <a:lnTo>
                        <a:pt x="66" y="26"/>
                      </a:lnTo>
                      <a:lnTo>
                        <a:pt x="62" y="27"/>
                      </a:lnTo>
                      <a:lnTo>
                        <a:pt x="60" y="27"/>
                      </a:lnTo>
                      <a:lnTo>
                        <a:pt x="56" y="28"/>
                      </a:lnTo>
                      <a:lnTo>
                        <a:pt x="54" y="29"/>
                      </a:lnTo>
                      <a:lnTo>
                        <a:pt x="51" y="31"/>
                      </a:lnTo>
                      <a:lnTo>
                        <a:pt x="49" y="32"/>
                      </a:lnTo>
                      <a:lnTo>
                        <a:pt x="45" y="34"/>
                      </a:lnTo>
                      <a:lnTo>
                        <a:pt x="45" y="35"/>
                      </a:lnTo>
                      <a:lnTo>
                        <a:pt x="41" y="37"/>
                      </a:lnTo>
                      <a:lnTo>
                        <a:pt x="39" y="39"/>
                      </a:lnTo>
                      <a:lnTo>
                        <a:pt x="36" y="41"/>
                      </a:lnTo>
                      <a:lnTo>
                        <a:pt x="34" y="43"/>
                      </a:lnTo>
                      <a:lnTo>
                        <a:pt x="33" y="45"/>
                      </a:lnTo>
                      <a:lnTo>
                        <a:pt x="31" y="46"/>
                      </a:lnTo>
                      <a:lnTo>
                        <a:pt x="28" y="49"/>
                      </a:lnTo>
                      <a:lnTo>
                        <a:pt x="26" y="51"/>
                      </a:lnTo>
                      <a:lnTo>
                        <a:pt x="22" y="54"/>
                      </a:lnTo>
                      <a:lnTo>
                        <a:pt x="22" y="56"/>
                      </a:lnTo>
                      <a:lnTo>
                        <a:pt x="18" y="61"/>
                      </a:lnTo>
                      <a:lnTo>
                        <a:pt x="16" y="64"/>
                      </a:lnTo>
                      <a:lnTo>
                        <a:pt x="13" y="68"/>
                      </a:lnTo>
                      <a:lnTo>
                        <a:pt x="11" y="71"/>
                      </a:lnTo>
                      <a:lnTo>
                        <a:pt x="8" y="75"/>
                      </a:lnTo>
                      <a:lnTo>
                        <a:pt x="6" y="78"/>
                      </a:lnTo>
                      <a:lnTo>
                        <a:pt x="5" y="81"/>
                      </a:lnTo>
                      <a:lnTo>
                        <a:pt x="3" y="84"/>
                      </a:lnTo>
                      <a:lnTo>
                        <a:pt x="1" y="86"/>
                      </a:lnTo>
                      <a:lnTo>
                        <a:pt x="0" y="88"/>
                      </a:lnTo>
                      <a:lnTo>
                        <a:pt x="0" y="90"/>
                      </a:lnTo>
                      <a:lnTo>
                        <a:pt x="1" y="87"/>
                      </a:lnTo>
                      <a:lnTo>
                        <a:pt x="4" y="85"/>
                      </a:lnTo>
                      <a:lnTo>
                        <a:pt x="6" y="79"/>
                      </a:lnTo>
                      <a:lnTo>
                        <a:pt x="10" y="75"/>
                      </a:lnTo>
                      <a:lnTo>
                        <a:pt x="13" y="70"/>
                      </a:lnTo>
                      <a:lnTo>
                        <a:pt x="18" y="64"/>
                      </a:lnTo>
                      <a:lnTo>
                        <a:pt x="23" y="58"/>
                      </a:lnTo>
                      <a:lnTo>
                        <a:pt x="28" y="52"/>
                      </a:lnTo>
                      <a:lnTo>
                        <a:pt x="33" y="46"/>
                      </a:lnTo>
                      <a:lnTo>
                        <a:pt x="38" y="41"/>
                      </a:lnTo>
                      <a:lnTo>
                        <a:pt x="45" y="35"/>
                      </a:lnTo>
                      <a:lnTo>
                        <a:pt x="49" y="32"/>
                      </a:lnTo>
                      <a:lnTo>
                        <a:pt x="54" y="27"/>
                      </a:lnTo>
                      <a:lnTo>
                        <a:pt x="59" y="25"/>
                      </a:lnTo>
                      <a:lnTo>
                        <a:pt x="64" y="23"/>
                      </a:lnTo>
                      <a:lnTo>
                        <a:pt x="59" y="23"/>
                      </a:lnTo>
                      <a:lnTo>
                        <a:pt x="56" y="23"/>
                      </a:lnTo>
                      <a:lnTo>
                        <a:pt x="51" y="23"/>
                      </a:lnTo>
                      <a:lnTo>
                        <a:pt x="48" y="23"/>
                      </a:lnTo>
                      <a:lnTo>
                        <a:pt x="44" y="24"/>
                      </a:lnTo>
                      <a:lnTo>
                        <a:pt x="40" y="24"/>
                      </a:lnTo>
                      <a:lnTo>
                        <a:pt x="38" y="25"/>
                      </a:lnTo>
                      <a:lnTo>
                        <a:pt x="34" y="25"/>
                      </a:lnTo>
                      <a:lnTo>
                        <a:pt x="29" y="27"/>
                      </a:lnTo>
                      <a:lnTo>
                        <a:pt x="26" y="28"/>
                      </a:lnTo>
                      <a:lnTo>
                        <a:pt x="22" y="29"/>
                      </a:lnTo>
                      <a:lnTo>
                        <a:pt x="18" y="30"/>
                      </a:lnTo>
                      <a:lnTo>
                        <a:pt x="13" y="32"/>
                      </a:lnTo>
                      <a:lnTo>
                        <a:pt x="10" y="33"/>
                      </a:lnTo>
                      <a:lnTo>
                        <a:pt x="5" y="34"/>
                      </a:lnTo>
                      <a:lnTo>
                        <a:pt x="2" y="36"/>
                      </a:lnTo>
                      <a:lnTo>
                        <a:pt x="1" y="37"/>
                      </a:lnTo>
                      <a:lnTo>
                        <a:pt x="2" y="37"/>
                      </a:lnTo>
                      <a:lnTo>
                        <a:pt x="4" y="35"/>
                      </a:lnTo>
                      <a:lnTo>
                        <a:pt x="5" y="34"/>
                      </a:lnTo>
                      <a:lnTo>
                        <a:pt x="7" y="33"/>
                      </a:lnTo>
                      <a:lnTo>
                        <a:pt x="11" y="32"/>
                      </a:lnTo>
                      <a:lnTo>
                        <a:pt x="14" y="30"/>
                      </a:lnTo>
                      <a:lnTo>
                        <a:pt x="17" y="29"/>
                      </a:lnTo>
                      <a:lnTo>
                        <a:pt x="22" y="28"/>
                      </a:lnTo>
                      <a:lnTo>
                        <a:pt x="27" y="26"/>
                      </a:lnTo>
                      <a:lnTo>
                        <a:pt x="32" y="24"/>
                      </a:lnTo>
                      <a:lnTo>
                        <a:pt x="37" y="24"/>
                      </a:lnTo>
                      <a:lnTo>
                        <a:pt x="43" y="23"/>
                      </a:lnTo>
                      <a:lnTo>
                        <a:pt x="50" y="23"/>
                      </a:lnTo>
                      <a:lnTo>
                        <a:pt x="56" y="22"/>
                      </a:lnTo>
                      <a:lnTo>
                        <a:pt x="56" y="21"/>
                      </a:lnTo>
                      <a:lnTo>
                        <a:pt x="55" y="19"/>
                      </a:lnTo>
                      <a:lnTo>
                        <a:pt x="54" y="17"/>
                      </a:lnTo>
                      <a:lnTo>
                        <a:pt x="52" y="16"/>
                      </a:lnTo>
                      <a:lnTo>
                        <a:pt x="51" y="15"/>
                      </a:lnTo>
                      <a:lnTo>
                        <a:pt x="49" y="13"/>
                      </a:lnTo>
                      <a:lnTo>
                        <a:pt x="47" y="10"/>
                      </a:lnTo>
                      <a:lnTo>
                        <a:pt x="45" y="8"/>
                      </a:lnTo>
                      <a:lnTo>
                        <a:pt x="43" y="6"/>
                      </a:lnTo>
                      <a:lnTo>
                        <a:pt x="41" y="5"/>
                      </a:lnTo>
                      <a:lnTo>
                        <a:pt x="39" y="3"/>
                      </a:lnTo>
                      <a:lnTo>
                        <a:pt x="39" y="3"/>
                      </a:lnTo>
                      <a:lnTo>
                        <a:pt x="38" y="1"/>
                      </a:lnTo>
                      <a:lnTo>
                        <a:pt x="37" y="0"/>
                      </a:lnTo>
                      <a:lnTo>
                        <a:pt x="37" y="0"/>
                      </a:lnTo>
                      <a:lnTo>
                        <a:pt x="37" y="0"/>
                      </a:lnTo>
                      <a:lnTo>
                        <a:pt x="38" y="0"/>
                      </a:lnTo>
                      <a:lnTo>
                        <a:pt x="39" y="2"/>
                      </a:lnTo>
                      <a:lnTo>
                        <a:pt x="39" y="3"/>
                      </a:lnTo>
                      <a:lnTo>
                        <a:pt x="41" y="5"/>
                      </a:lnTo>
                      <a:lnTo>
                        <a:pt x="43" y="6"/>
                      </a:lnTo>
                      <a:lnTo>
                        <a:pt x="45" y="8"/>
                      </a:lnTo>
                      <a:lnTo>
                        <a:pt x="47" y="10"/>
                      </a:lnTo>
                      <a:lnTo>
                        <a:pt x="49" y="12"/>
                      </a:lnTo>
                      <a:lnTo>
                        <a:pt x="51" y="14"/>
                      </a:lnTo>
                      <a:lnTo>
                        <a:pt x="52" y="16"/>
                      </a:lnTo>
                      <a:lnTo>
                        <a:pt x="55" y="17"/>
                      </a:lnTo>
                      <a:lnTo>
                        <a:pt x="56" y="18"/>
                      </a:lnTo>
                      <a:lnTo>
                        <a:pt x="58" y="19"/>
                      </a:lnTo>
                      <a:lnTo>
                        <a:pt x="60" y="20"/>
                      </a:lnTo>
                      <a:lnTo>
                        <a:pt x="62" y="19"/>
                      </a:lnTo>
                      <a:lnTo>
                        <a:pt x="62" y="18"/>
                      </a:lnTo>
                      <a:lnTo>
                        <a:pt x="64" y="17"/>
                      </a:lnTo>
                      <a:lnTo>
                        <a:pt x="64" y="16"/>
                      </a:lnTo>
                      <a:lnTo>
                        <a:pt x="65" y="14"/>
                      </a:lnTo>
                      <a:lnTo>
                        <a:pt x="65" y="12"/>
                      </a:lnTo>
                      <a:lnTo>
                        <a:pt x="65" y="11"/>
                      </a:lnTo>
                      <a:lnTo>
                        <a:pt x="67" y="10"/>
                      </a:lnTo>
                      <a:lnTo>
                        <a:pt x="68" y="9"/>
                      </a:lnTo>
                      <a:lnTo>
                        <a:pt x="69" y="8"/>
                      </a:lnTo>
                      <a:lnTo>
                        <a:pt x="68" y="9"/>
                      </a:lnTo>
                      <a:lnTo>
                        <a:pt x="68" y="11"/>
                      </a:lnTo>
                      <a:lnTo>
                        <a:pt x="68" y="11"/>
                      </a:lnTo>
                      <a:lnTo>
                        <a:pt x="67" y="13"/>
                      </a:lnTo>
                      <a:lnTo>
                        <a:pt x="67" y="14"/>
                      </a:lnTo>
                      <a:lnTo>
                        <a:pt x="67" y="16"/>
                      </a:lnTo>
                      <a:lnTo>
                        <a:pt x="67" y="17"/>
                      </a:lnTo>
                      <a:lnTo>
                        <a:pt x="67" y="18"/>
                      </a:lnTo>
                      <a:lnTo>
                        <a:pt x="68" y="18"/>
                      </a:lnTo>
                      <a:lnTo>
                        <a:pt x="68" y="20"/>
                      </a:lnTo>
                      <a:lnTo>
                        <a:pt x="68" y="22"/>
                      </a:lnTo>
                      <a:lnTo>
                        <a:pt x="70" y="22"/>
                      </a:lnTo>
                      <a:lnTo>
                        <a:pt x="70" y="23"/>
                      </a:lnTo>
                      <a:lnTo>
                        <a:pt x="70" y="24"/>
                      </a:lnTo>
                      <a:lnTo>
                        <a:pt x="72" y="24"/>
                      </a:lnTo>
                      <a:lnTo>
                        <a:pt x="72" y="25"/>
                      </a:lnTo>
                      <a:lnTo>
                        <a:pt x="73" y="25"/>
                      </a:lnTo>
                    </a:path>
                  </a:pathLst>
                </a:custGeom>
                <a:solidFill>
                  <a:srgbClr val="4F4F4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29" name="Freeform 197"/>
                <p:cNvSpPr>
                  <a:spLocks/>
                </p:cNvSpPr>
                <p:nvPr/>
              </p:nvSpPr>
              <p:spPr bwMode="auto">
                <a:xfrm>
                  <a:off x="3034" y="3570"/>
                  <a:ext cx="96" cy="98"/>
                </a:xfrm>
                <a:custGeom>
                  <a:avLst/>
                  <a:gdLst/>
                  <a:ahLst/>
                  <a:cxnLst>
                    <a:cxn ang="0">
                      <a:pos x="21" y="8"/>
                    </a:cxn>
                    <a:cxn ang="0">
                      <a:pos x="24" y="12"/>
                    </a:cxn>
                    <a:cxn ang="0">
                      <a:pos x="29" y="14"/>
                    </a:cxn>
                    <a:cxn ang="0">
                      <a:pos x="32" y="14"/>
                    </a:cxn>
                    <a:cxn ang="0">
                      <a:pos x="37" y="16"/>
                    </a:cxn>
                    <a:cxn ang="0">
                      <a:pos x="39" y="16"/>
                    </a:cxn>
                    <a:cxn ang="0">
                      <a:pos x="42" y="16"/>
                    </a:cxn>
                    <a:cxn ang="0">
                      <a:pos x="44" y="16"/>
                    </a:cxn>
                    <a:cxn ang="0">
                      <a:pos x="45" y="18"/>
                    </a:cxn>
                    <a:cxn ang="0">
                      <a:pos x="48" y="20"/>
                    </a:cxn>
                    <a:cxn ang="0">
                      <a:pos x="51" y="24"/>
                    </a:cxn>
                    <a:cxn ang="0">
                      <a:pos x="56" y="29"/>
                    </a:cxn>
                    <a:cxn ang="0">
                      <a:pos x="61" y="33"/>
                    </a:cxn>
                    <a:cxn ang="0">
                      <a:pos x="66" y="38"/>
                    </a:cxn>
                    <a:cxn ang="0">
                      <a:pos x="69" y="42"/>
                    </a:cxn>
                    <a:cxn ang="0">
                      <a:pos x="73" y="48"/>
                    </a:cxn>
                    <a:cxn ang="0">
                      <a:pos x="76" y="55"/>
                    </a:cxn>
                    <a:cxn ang="0">
                      <a:pos x="79" y="63"/>
                    </a:cxn>
                    <a:cxn ang="0">
                      <a:pos x="83" y="72"/>
                    </a:cxn>
                    <a:cxn ang="0">
                      <a:pos x="86" y="80"/>
                    </a:cxn>
                    <a:cxn ang="0">
                      <a:pos x="90" y="87"/>
                    </a:cxn>
                    <a:cxn ang="0">
                      <a:pos x="91" y="94"/>
                    </a:cxn>
                    <a:cxn ang="0">
                      <a:pos x="93" y="97"/>
                    </a:cxn>
                    <a:cxn ang="0">
                      <a:pos x="93" y="97"/>
                    </a:cxn>
                    <a:cxn ang="0">
                      <a:pos x="92" y="92"/>
                    </a:cxn>
                    <a:cxn ang="0">
                      <a:pos x="90" y="85"/>
                    </a:cxn>
                    <a:cxn ang="0">
                      <a:pos x="88" y="76"/>
                    </a:cxn>
                    <a:cxn ang="0">
                      <a:pos x="83" y="65"/>
                    </a:cxn>
                    <a:cxn ang="0">
                      <a:pos x="78" y="51"/>
                    </a:cxn>
                    <a:cxn ang="0">
                      <a:pos x="70" y="39"/>
                    </a:cxn>
                    <a:cxn ang="0">
                      <a:pos x="61" y="27"/>
                    </a:cxn>
                    <a:cxn ang="0">
                      <a:pos x="53" y="18"/>
                    </a:cxn>
                    <a:cxn ang="0">
                      <a:pos x="50" y="16"/>
                    </a:cxn>
                    <a:cxn ang="0">
                      <a:pos x="45" y="12"/>
                    </a:cxn>
                    <a:cxn ang="0">
                      <a:pos x="42" y="8"/>
                    </a:cxn>
                    <a:cxn ang="0">
                      <a:pos x="37" y="7"/>
                    </a:cxn>
                    <a:cxn ang="0">
                      <a:pos x="32" y="5"/>
                    </a:cxn>
                    <a:cxn ang="0">
                      <a:pos x="28" y="3"/>
                    </a:cxn>
                    <a:cxn ang="0">
                      <a:pos x="23" y="1"/>
                    </a:cxn>
                    <a:cxn ang="0">
                      <a:pos x="21" y="0"/>
                    </a:cxn>
                    <a:cxn ang="0">
                      <a:pos x="17" y="0"/>
                    </a:cxn>
                    <a:cxn ang="0">
                      <a:pos x="13" y="1"/>
                    </a:cxn>
                    <a:cxn ang="0">
                      <a:pos x="11" y="1"/>
                    </a:cxn>
                    <a:cxn ang="0">
                      <a:pos x="6" y="3"/>
                    </a:cxn>
                    <a:cxn ang="0">
                      <a:pos x="4" y="4"/>
                    </a:cxn>
                    <a:cxn ang="0">
                      <a:pos x="1" y="6"/>
                    </a:cxn>
                    <a:cxn ang="0">
                      <a:pos x="0" y="6"/>
                    </a:cxn>
                    <a:cxn ang="0">
                      <a:pos x="0" y="7"/>
                    </a:cxn>
                    <a:cxn ang="0">
                      <a:pos x="3" y="7"/>
                    </a:cxn>
                    <a:cxn ang="0">
                      <a:pos x="6" y="7"/>
                    </a:cxn>
                    <a:cxn ang="0">
                      <a:pos x="10" y="6"/>
                    </a:cxn>
                    <a:cxn ang="0">
                      <a:pos x="12" y="6"/>
                    </a:cxn>
                    <a:cxn ang="0">
                      <a:pos x="15" y="7"/>
                    </a:cxn>
                    <a:cxn ang="0">
                      <a:pos x="18" y="7"/>
                    </a:cxn>
                  </a:cxnLst>
                  <a:rect l="0" t="0" r="r" b="b"/>
                  <a:pathLst>
                    <a:path w="96" h="98">
                      <a:moveTo>
                        <a:pt x="20" y="7"/>
                      </a:moveTo>
                      <a:lnTo>
                        <a:pt x="21" y="8"/>
                      </a:lnTo>
                      <a:lnTo>
                        <a:pt x="22" y="10"/>
                      </a:lnTo>
                      <a:lnTo>
                        <a:pt x="24" y="12"/>
                      </a:lnTo>
                      <a:lnTo>
                        <a:pt x="28" y="12"/>
                      </a:lnTo>
                      <a:lnTo>
                        <a:pt x="29" y="14"/>
                      </a:lnTo>
                      <a:lnTo>
                        <a:pt x="30" y="14"/>
                      </a:lnTo>
                      <a:lnTo>
                        <a:pt x="32" y="14"/>
                      </a:lnTo>
                      <a:lnTo>
                        <a:pt x="35" y="14"/>
                      </a:lnTo>
                      <a:lnTo>
                        <a:pt x="37" y="16"/>
                      </a:lnTo>
                      <a:lnTo>
                        <a:pt x="38" y="16"/>
                      </a:lnTo>
                      <a:lnTo>
                        <a:pt x="39" y="16"/>
                      </a:lnTo>
                      <a:lnTo>
                        <a:pt x="40" y="16"/>
                      </a:lnTo>
                      <a:lnTo>
                        <a:pt x="42" y="16"/>
                      </a:lnTo>
                      <a:lnTo>
                        <a:pt x="44" y="15"/>
                      </a:lnTo>
                      <a:lnTo>
                        <a:pt x="44" y="16"/>
                      </a:lnTo>
                      <a:lnTo>
                        <a:pt x="45" y="16"/>
                      </a:lnTo>
                      <a:lnTo>
                        <a:pt x="45" y="18"/>
                      </a:lnTo>
                      <a:lnTo>
                        <a:pt x="46" y="18"/>
                      </a:lnTo>
                      <a:lnTo>
                        <a:pt x="48" y="20"/>
                      </a:lnTo>
                      <a:lnTo>
                        <a:pt x="50" y="22"/>
                      </a:lnTo>
                      <a:lnTo>
                        <a:pt x="51" y="24"/>
                      </a:lnTo>
                      <a:lnTo>
                        <a:pt x="55" y="25"/>
                      </a:lnTo>
                      <a:lnTo>
                        <a:pt x="56" y="29"/>
                      </a:lnTo>
                      <a:lnTo>
                        <a:pt x="59" y="30"/>
                      </a:lnTo>
                      <a:lnTo>
                        <a:pt x="61" y="33"/>
                      </a:lnTo>
                      <a:lnTo>
                        <a:pt x="64" y="35"/>
                      </a:lnTo>
                      <a:lnTo>
                        <a:pt x="66" y="38"/>
                      </a:lnTo>
                      <a:lnTo>
                        <a:pt x="67" y="40"/>
                      </a:lnTo>
                      <a:lnTo>
                        <a:pt x="69" y="42"/>
                      </a:lnTo>
                      <a:lnTo>
                        <a:pt x="72" y="44"/>
                      </a:lnTo>
                      <a:lnTo>
                        <a:pt x="73" y="48"/>
                      </a:lnTo>
                      <a:lnTo>
                        <a:pt x="74" y="50"/>
                      </a:lnTo>
                      <a:lnTo>
                        <a:pt x="76" y="55"/>
                      </a:lnTo>
                      <a:lnTo>
                        <a:pt x="78" y="58"/>
                      </a:lnTo>
                      <a:lnTo>
                        <a:pt x="79" y="63"/>
                      </a:lnTo>
                      <a:lnTo>
                        <a:pt x="81" y="67"/>
                      </a:lnTo>
                      <a:lnTo>
                        <a:pt x="83" y="72"/>
                      </a:lnTo>
                      <a:lnTo>
                        <a:pt x="85" y="75"/>
                      </a:lnTo>
                      <a:lnTo>
                        <a:pt x="86" y="80"/>
                      </a:lnTo>
                      <a:lnTo>
                        <a:pt x="88" y="84"/>
                      </a:lnTo>
                      <a:lnTo>
                        <a:pt x="90" y="87"/>
                      </a:lnTo>
                      <a:lnTo>
                        <a:pt x="91" y="91"/>
                      </a:lnTo>
                      <a:lnTo>
                        <a:pt x="91" y="94"/>
                      </a:lnTo>
                      <a:lnTo>
                        <a:pt x="93" y="96"/>
                      </a:lnTo>
                      <a:lnTo>
                        <a:pt x="93" y="97"/>
                      </a:lnTo>
                      <a:lnTo>
                        <a:pt x="95" y="97"/>
                      </a:lnTo>
                      <a:lnTo>
                        <a:pt x="93" y="97"/>
                      </a:lnTo>
                      <a:lnTo>
                        <a:pt x="93" y="95"/>
                      </a:lnTo>
                      <a:lnTo>
                        <a:pt x="92" y="92"/>
                      </a:lnTo>
                      <a:lnTo>
                        <a:pt x="92" y="89"/>
                      </a:lnTo>
                      <a:lnTo>
                        <a:pt x="90" y="85"/>
                      </a:lnTo>
                      <a:lnTo>
                        <a:pt x="90" y="81"/>
                      </a:lnTo>
                      <a:lnTo>
                        <a:pt x="88" y="76"/>
                      </a:lnTo>
                      <a:lnTo>
                        <a:pt x="86" y="70"/>
                      </a:lnTo>
                      <a:lnTo>
                        <a:pt x="83" y="65"/>
                      </a:lnTo>
                      <a:lnTo>
                        <a:pt x="81" y="58"/>
                      </a:lnTo>
                      <a:lnTo>
                        <a:pt x="78" y="51"/>
                      </a:lnTo>
                      <a:lnTo>
                        <a:pt x="74" y="45"/>
                      </a:lnTo>
                      <a:lnTo>
                        <a:pt x="70" y="39"/>
                      </a:lnTo>
                      <a:lnTo>
                        <a:pt x="66" y="32"/>
                      </a:lnTo>
                      <a:lnTo>
                        <a:pt x="61" y="27"/>
                      </a:lnTo>
                      <a:lnTo>
                        <a:pt x="56" y="20"/>
                      </a:lnTo>
                      <a:lnTo>
                        <a:pt x="53" y="18"/>
                      </a:lnTo>
                      <a:lnTo>
                        <a:pt x="52" y="17"/>
                      </a:lnTo>
                      <a:lnTo>
                        <a:pt x="50" y="16"/>
                      </a:lnTo>
                      <a:lnTo>
                        <a:pt x="49" y="13"/>
                      </a:lnTo>
                      <a:lnTo>
                        <a:pt x="45" y="12"/>
                      </a:lnTo>
                      <a:lnTo>
                        <a:pt x="44" y="10"/>
                      </a:lnTo>
                      <a:lnTo>
                        <a:pt x="42" y="8"/>
                      </a:lnTo>
                      <a:lnTo>
                        <a:pt x="40" y="7"/>
                      </a:lnTo>
                      <a:lnTo>
                        <a:pt x="37" y="7"/>
                      </a:lnTo>
                      <a:lnTo>
                        <a:pt x="35" y="6"/>
                      </a:lnTo>
                      <a:lnTo>
                        <a:pt x="32" y="5"/>
                      </a:lnTo>
                      <a:lnTo>
                        <a:pt x="30" y="3"/>
                      </a:lnTo>
                      <a:lnTo>
                        <a:pt x="28" y="3"/>
                      </a:lnTo>
                      <a:lnTo>
                        <a:pt x="26" y="1"/>
                      </a:lnTo>
                      <a:lnTo>
                        <a:pt x="23" y="1"/>
                      </a:lnTo>
                      <a:lnTo>
                        <a:pt x="22" y="0"/>
                      </a:lnTo>
                      <a:lnTo>
                        <a:pt x="21" y="0"/>
                      </a:lnTo>
                      <a:lnTo>
                        <a:pt x="19" y="0"/>
                      </a:lnTo>
                      <a:lnTo>
                        <a:pt x="17" y="0"/>
                      </a:lnTo>
                      <a:lnTo>
                        <a:pt x="16" y="0"/>
                      </a:lnTo>
                      <a:lnTo>
                        <a:pt x="13" y="1"/>
                      </a:lnTo>
                      <a:lnTo>
                        <a:pt x="12" y="1"/>
                      </a:lnTo>
                      <a:lnTo>
                        <a:pt x="11" y="1"/>
                      </a:lnTo>
                      <a:lnTo>
                        <a:pt x="9" y="1"/>
                      </a:lnTo>
                      <a:lnTo>
                        <a:pt x="6" y="3"/>
                      </a:lnTo>
                      <a:lnTo>
                        <a:pt x="5" y="3"/>
                      </a:lnTo>
                      <a:lnTo>
                        <a:pt x="4" y="4"/>
                      </a:lnTo>
                      <a:lnTo>
                        <a:pt x="3" y="4"/>
                      </a:lnTo>
                      <a:lnTo>
                        <a:pt x="1" y="6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2" y="7"/>
                      </a:lnTo>
                      <a:lnTo>
                        <a:pt x="3" y="7"/>
                      </a:lnTo>
                      <a:lnTo>
                        <a:pt x="5" y="7"/>
                      </a:lnTo>
                      <a:lnTo>
                        <a:pt x="6" y="7"/>
                      </a:lnTo>
                      <a:lnTo>
                        <a:pt x="8" y="6"/>
                      </a:lnTo>
                      <a:lnTo>
                        <a:pt x="10" y="6"/>
                      </a:lnTo>
                      <a:lnTo>
                        <a:pt x="11" y="6"/>
                      </a:lnTo>
                      <a:lnTo>
                        <a:pt x="12" y="6"/>
                      </a:lnTo>
                      <a:lnTo>
                        <a:pt x="14" y="6"/>
                      </a:lnTo>
                      <a:lnTo>
                        <a:pt x="15" y="7"/>
                      </a:lnTo>
                      <a:lnTo>
                        <a:pt x="16" y="7"/>
                      </a:lnTo>
                      <a:lnTo>
                        <a:pt x="18" y="7"/>
                      </a:lnTo>
                      <a:lnTo>
                        <a:pt x="20" y="7"/>
                      </a:lnTo>
                    </a:path>
                  </a:pathLst>
                </a:custGeom>
                <a:solidFill>
                  <a:srgbClr val="4F4F4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30" name="Freeform 198"/>
                <p:cNvSpPr>
                  <a:spLocks/>
                </p:cNvSpPr>
                <p:nvPr/>
              </p:nvSpPr>
              <p:spPr bwMode="auto">
                <a:xfrm>
                  <a:off x="2908" y="3679"/>
                  <a:ext cx="47" cy="151"/>
                </a:xfrm>
                <a:custGeom>
                  <a:avLst/>
                  <a:gdLst/>
                  <a:ahLst/>
                  <a:cxnLst>
                    <a:cxn ang="0">
                      <a:pos x="18" y="42"/>
                    </a:cxn>
                    <a:cxn ang="0">
                      <a:pos x="5" y="69"/>
                    </a:cxn>
                    <a:cxn ang="0">
                      <a:pos x="6" y="96"/>
                    </a:cxn>
                    <a:cxn ang="0">
                      <a:pos x="10" y="113"/>
                    </a:cxn>
                    <a:cxn ang="0">
                      <a:pos x="20" y="130"/>
                    </a:cxn>
                    <a:cxn ang="0">
                      <a:pos x="33" y="150"/>
                    </a:cxn>
                    <a:cxn ang="0">
                      <a:pos x="6" y="109"/>
                    </a:cxn>
                    <a:cxn ang="0">
                      <a:pos x="0" y="86"/>
                    </a:cxn>
                    <a:cxn ang="0">
                      <a:pos x="5" y="60"/>
                    </a:cxn>
                    <a:cxn ang="0">
                      <a:pos x="28" y="16"/>
                    </a:cxn>
                    <a:cxn ang="0">
                      <a:pos x="46" y="0"/>
                    </a:cxn>
                    <a:cxn ang="0">
                      <a:pos x="18" y="42"/>
                    </a:cxn>
                  </a:cxnLst>
                  <a:rect l="0" t="0" r="r" b="b"/>
                  <a:pathLst>
                    <a:path w="47" h="151">
                      <a:moveTo>
                        <a:pt x="18" y="42"/>
                      </a:moveTo>
                      <a:lnTo>
                        <a:pt x="5" y="69"/>
                      </a:lnTo>
                      <a:lnTo>
                        <a:pt x="6" y="96"/>
                      </a:lnTo>
                      <a:lnTo>
                        <a:pt x="10" y="113"/>
                      </a:lnTo>
                      <a:lnTo>
                        <a:pt x="20" y="130"/>
                      </a:lnTo>
                      <a:lnTo>
                        <a:pt x="33" y="150"/>
                      </a:lnTo>
                      <a:lnTo>
                        <a:pt x="6" y="109"/>
                      </a:lnTo>
                      <a:lnTo>
                        <a:pt x="0" y="86"/>
                      </a:lnTo>
                      <a:lnTo>
                        <a:pt x="5" y="60"/>
                      </a:lnTo>
                      <a:lnTo>
                        <a:pt x="28" y="16"/>
                      </a:lnTo>
                      <a:lnTo>
                        <a:pt x="46" y="0"/>
                      </a:lnTo>
                      <a:lnTo>
                        <a:pt x="18" y="42"/>
                      </a:lnTo>
                    </a:path>
                  </a:pathLst>
                </a:custGeom>
                <a:solidFill>
                  <a:srgbClr val="80808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31" name="Freeform 199"/>
                <p:cNvSpPr>
                  <a:spLocks/>
                </p:cNvSpPr>
                <p:nvPr/>
              </p:nvSpPr>
              <p:spPr bwMode="auto">
                <a:xfrm>
                  <a:off x="3029" y="3640"/>
                  <a:ext cx="30" cy="28"/>
                </a:xfrm>
                <a:custGeom>
                  <a:avLst/>
                  <a:gdLst/>
                  <a:ahLst/>
                  <a:cxnLst>
                    <a:cxn ang="0">
                      <a:pos x="17" y="0"/>
                    </a:cxn>
                    <a:cxn ang="0">
                      <a:pos x="24" y="3"/>
                    </a:cxn>
                    <a:cxn ang="0">
                      <a:pos x="29" y="11"/>
                    </a:cxn>
                    <a:cxn ang="0">
                      <a:pos x="1" y="27"/>
                    </a:cxn>
                    <a:cxn ang="0">
                      <a:pos x="0" y="18"/>
                    </a:cxn>
                    <a:cxn ang="0">
                      <a:pos x="0" y="11"/>
                    </a:cxn>
                    <a:cxn ang="0">
                      <a:pos x="6" y="5"/>
                    </a:cxn>
                    <a:cxn ang="0">
                      <a:pos x="17" y="0"/>
                    </a:cxn>
                  </a:cxnLst>
                  <a:rect l="0" t="0" r="r" b="b"/>
                  <a:pathLst>
                    <a:path w="30" h="28">
                      <a:moveTo>
                        <a:pt x="17" y="0"/>
                      </a:moveTo>
                      <a:lnTo>
                        <a:pt x="24" y="3"/>
                      </a:lnTo>
                      <a:lnTo>
                        <a:pt x="29" y="11"/>
                      </a:lnTo>
                      <a:lnTo>
                        <a:pt x="1" y="27"/>
                      </a:lnTo>
                      <a:lnTo>
                        <a:pt x="0" y="18"/>
                      </a:lnTo>
                      <a:lnTo>
                        <a:pt x="0" y="11"/>
                      </a:lnTo>
                      <a:lnTo>
                        <a:pt x="6" y="5"/>
                      </a:lnTo>
                      <a:lnTo>
                        <a:pt x="17" y="0"/>
                      </a:lnTo>
                    </a:path>
                  </a:pathLst>
                </a:custGeom>
                <a:solidFill>
                  <a:srgbClr val="0E0E0E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32" name="Freeform 200"/>
                <p:cNvSpPr>
                  <a:spLocks/>
                </p:cNvSpPr>
                <p:nvPr/>
              </p:nvSpPr>
              <p:spPr bwMode="auto">
                <a:xfrm>
                  <a:off x="3031" y="3647"/>
                  <a:ext cx="29" cy="21"/>
                </a:xfrm>
                <a:custGeom>
                  <a:avLst/>
                  <a:gdLst/>
                  <a:ahLst/>
                  <a:cxnLst>
                    <a:cxn ang="0">
                      <a:pos x="0" y="20"/>
                    </a:cxn>
                    <a:cxn ang="0">
                      <a:pos x="9" y="19"/>
                    </a:cxn>
                    <a:cxn ang="0">
                      <a:pos x="16" y="16"/>
                    </a:cxn>
                    <a:cxn ang="0">
                      <a:pos x="20" y="13"/>
                    </a:cxn>
                    <a:cxn ang="0">
                      <a:pos x="23" y="10"/>
                    </a:cxn>
                    <a:cxn ang="0">
                      <a:pos x="28" y="5"/>
                    </a:cxn>
                    <a:cxn ang="0">
                      <a:pos x="22" y="1"/>
                    </a:cxn>
                    <a:cxn ang="0">
                      <a:pos x="17" y="0"/>
                    </a:cxn>
                    <a:cxn ang="0">
                      <a:pos x="13" y="0"/>
                    </a:cxn>
                    <a:cxn ang="0">
                      <a:pos x="7" y="2"/>
                    </a:cxn>
                    <a:cxn ang="0">
                      <a:pos x="4" y="5"/>
                    </a:cxn>
                    <a:cxn ang="0">
                      <a:pos x="1" y="11"/>
                    </a:cxn>
                    <a:cxn ang="0">
                      <a:pos x="0" y="20"/>
                    </a:cxn>
                  </a:cxnLst>
                  <a:rect l="0" t="0" r="r" b="b"/>
                  <a:pathLst>
                    <a:path w="29" h="21">
                      <a:moveTo>
                        <a:pt x="0" y="20"/>
                      </a:moveTo>
                      <a:lnTo>
                        <a:pt x="9" y="19"/>
                      </a:lnTo>
                      <a:lnTo>
                        <a:pt x="16" y="16"/>
                      </a:lnTo>
                      <a:lnTo>
                        <a:pt x="20" y="13"/>
                      </a:lnTo>
                      <a:lnTo>
                        <a:pt x="23" y="10"/>
                      </a:lnTo>
                      <a:lnTo>
                        <a:pt x="28" y="5"/>
                      </a:lnTo>
                      <a:lnTo>
                        <a:pt x="22" y="1"/>
                      </a:lnTo>
                      <a:lnTo>
                        <a:pt x="17" y="0"/>
                      </a:lnTo>
                      <a:lnTo>
                        <a:pt x="13" y="0"/>
                      </a:lnTo>
                      <a:lnTo>
                        <a:pt x="7" y="2"/>
                      </a:lnTo>
                      <a:lnTo>
                        <a:pt x="4" y="5"/>
                      </a:lnTo>
                      <a:lnTo>
                        <a:pt x="1" y="11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33" name="Freeform 201"/>
                <p:cNvSpPr>
                  <a:spLocks/>
                </p:cNvSpPr>
                <p:nvPr/>
              </p:nvSpPr>
              <p:spPr bwMode="auto">
                <a:xfrm>
                  <a:off x="3046" y="3653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" y="3"/>
                    </a:cxn>
                    <a:cxn ang="0">
                      <a:pos x="4" y="8"/>
                    </a:cxn>
                    <a:cxn ang="0">
                      <a:pos x="4" y="11"/>
                    </a:cxn>
                    <a:cxn ang="0">
                      <a:pos x="0" y="15"/>
                    </a:cxn>
                    <a:cxn ang="0">
                      <a:pos x="10" y="11"/>
                    </a:cxn>
                    <a:cxn ang="0">
                      <a:pos x="15" y="5"/>
                    </a:cxn>
                    <a:cxn ang="0">
                      <a:pos x="4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6" h="16">
                      <a:moveTo>
                        <a:pt x="0" y="0"/>
                      </a:moveTo>
                      <a:lnTo>
                        <a:pt x="3" y="3"/>
                      </a:lnTo>
                      <a:lnTo>
                        <a:pt x="4" y="8"/>
                      </a:lnTo>
                      <a:lnTo>
                        <a:pt x="4" y="11"/>
                      </a:lnTo>
                      <a:lnTo>
                        <a:pt x="0" y="15"/>
                      </a:lnTo>
                      <a:lnTo>
                        <a:pt x="10" y="11"/>
                      </a:lnTo>
                      <a:lnTo>
                        <a:pt x="15" y="5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34" name="Freeform 202"/>
                <p:cNvSpPr>
                  <a:spLocks/>
                </p:cNvSpPr>
                <p:nvPr/>
              </p:nvSpPr>
              <p:spPr bwMode="auto">
                <a:xfrm>
                  <a:off x="3029" y="3630"/>
                  <a:ext cx="35" cy="20"/>
                </a:xfrm>
                <a:custGeom>
                  <a:avLst/>
                  <a:gdLst/>
                  <a:ahLst/>
                  <a:cxnLst>
                    <a:cxn ang="0">
                      <a:pos x="0" y="19"/>
                    </a:cxn>
                    <a:cxn ang="0">
                      <a:pos x="8" y="10"/>
                    </a:cxn>
                    <a:cxn ang="0">
                      <a:pos x="16" y="7"/>
                    </a:cxn>
                    <a:cxn ang="0">
                      <a:pos x="21" y="5"/>
                    </a:cxn>
                    <a:cxn ang="0">
                      <a:pos x="26" y="5"/>
                    </a:cxn>
                    <a:cxn ang="0">
                      <a:pos x="29" y="6"/>
                    </a:cxn>
                    <a:cxn ang="0">
                      <a:pos x="34" y="8"/>
                    </a:cxn>
                    <a:cxn ang="0">
                      <a:pos x="31" y="5"/>
                    </a:cxn>
                    <a:cxn ang="0">
                      <a:pos x="26" y="0"/>
                    </a:cxn>
                    <a:cxn ang="0">
                      <a:pos x="21" y="0"/>
                    </a:cxn>
                    <a:cxn ang="0">
                      <a:pos x="16" y="1"/>
                    </a:cxn>
                    <a:cxn ang="0">
                      <a:pos x="8" y="6"/>
                    </a:cxn>
                    <a:cxn ang="0">
                      <a:pos x="2" y="10"/>
                    </a:cxn>
                    <a:cxn ang="0">
                      <a:pos x="0" y="13"/>
                    </a:cxn>
                    <a:cxn ang="0">
                      <a:pos x="0" y="18"/>
                    </a:cxn>
                    <a:cxn ang="0">
                      <a:pos x="0" y="19"/>
                    </a:cxn>
                  </a:cxnLst>
                  <a:rect l="0" t="0" r="r" b="b"/>
                  <a:pathLst>
                    <a:path w="35" h="20">
                      <a:moveTo>
                        <a:pt x="0" y="19"/>
                      </a:moveTo>
                      <a:lnTo>
                        <a:pt x="8" y="10"/>
                      </a:lnTo>
                      <a:lnTo>
                        <a:pt x="16" y="7"/>
                      </a:lnTo>
                      <a:lnTo>
                        <a:pt x="21" y="5"/>
                      </a:lnTo>
                      <a:lnTo>
                        <a:pt x="26" y="5"/>
                      </a:lnTo>
                      <a:lnTo>
                        <a:pt x="29" y="6"/>
                      </a:lnTo>
                      <a:lnTo>
                        <a:pt x="34" y="8"/>
                      </a:lnTo>
                      <a:lnTo>
                        <a:pt x="31" y="5"/>
                      </a:lnTo>
                      <a:lnTo>
                        <a:pt x="26" y="0"/>
                      </a:lnTo>
                      <a:lnTo>
                        <a:pt x="21" y="0"/>
                      </a:lnTo>
                      <a:lnTo>
                        <a:pt x="16" y="1"/>
                      </a:lnTo>
                      <a:lnTo>
                        <a:pt x="8" y="6"/>
                      </a:lnTo>
                      <a:lnTo>
                        <a:pt x="2" y="10"/>
                      </a:lnTo>
                      <a:lnTo>
                        <a:pt x="0" y="13"/>
                      </a:lnTo>
                      <a:lnTo>
                        <a:pt x="0" y="18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35" name="Freeform 203"/>
                <p:cNvSpPr>
                  <a:spLocks/>
                </p:cNvSpPr>
                <p:nvPr/>
              </p:nvSpPr>
              <p:spPr bwMode="auto">
                <a:xfrm>
                  <a:off x="3034" y="3659"/>
                  <a:ext cx="16" cy="16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5" y="2"/>
                    </a:cxn>
                    <a:cxn ang="0">
                      <a:pos x="9" y="8"/>
                    </a:cxn>
                    <a:cxn ang="0">
                      <a:pos x="15" y="10"/>
                    </a:cxn>
                    <a:cxn ang="0">
                      <a:pos x="0" y="15"/>
                    </a:cxn>
                    <a:cxn ang="0">
                      <a:pos x="0" y="7"/>
                    </a:cxn>
                    <a:cxn ang="0">
                      <a:pos x="3" y="0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16" h="16">
                      <a:moveTo>
                        <a:pt x="7" y="0"/>
                      </a:moveTo>
                      <a:lnTo>
                        <a:pt x="5" y="2"/>
                      </a:lnTo>
                      <a:lnTo>
                        <a:pt x="9" y="8"/>
                      </a:lnTo>
                      <a:lnTo>
                        <a:pt x="15" y="10"/>
                      </a:lnTo>
                      <a:lnTo>
                        <a:pt x="0" y="15"/>
                      </a:lnTo>
                      <a:lnTo>
                        <a:pt x="0" y="7"/>
                      </a:lnTo>
                      <a:lnTo>
                        <a:pt x="3" y="0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836" name="Oval 204"/>
                <p:cNvSpPr>
                  <a:spLocks noChangeArrowheads="1"/>
                </p:cNvSpPr>
                <p:nvPr/>
              </p:nvSpPr>
              <p:spPr bwMode="auto">
                <a:xfrm>
                  <a:off x="3044" y="3656"/>
                  <a:ext cx="16" cy="16"/>
                </a:xfrm>
                <a:prstGeom prst="ellipse">
                  <a:avLst/>
                </a:pr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837" name="Oval 205"/>
                <p:cNvSpPr>
                  <a:spLocks noChangeArrowheads="1"/>
                </p:cNvSpPr>
                <p:nvPr/>
              </p:nvSpPr>
              <p:spPr bwMode="auto">
                <a:xfrm>
                  <a:off x="2985" y="3677"/>
                  <a:ext cx="16" cy="16"/>
                </a:xfrm>
                <a:prstGeom prst="ellipse">
                  <a:avLst/>
                </a:pr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838" name="Freeform 206"/>
                <p:cNvSpPr>
                  <a:spLocks/>
                </p:cNvSpPr>
                <p:nvPr/>
              </p:nvSpPr>
              <p:spPr bwMode="auto">
                <a:xfrm>
                  <a:off x="3010" y="3722"/>
                  <a:ext cx="48" cy="19"/>
                </a:xfrm>
                <a:custGeom>
                  <a:avLst/>
                  <a:gdLst/>
                  <a:ahLst/>
                  <a:cxnLst>
                    <a:cxn ang="0">
                      <a:pos x="39" y="1"/>
                    </a:cxn>
                    <a:cxn ang="0">
                      <a:pos x="37" y="3"/>
                    </a:cxn>
                    <a:cxn ang="0">
                      <a:pos x="36" y="2"/>
                    </a:cxn>
                    <a:cxn ang="0">
                      <a:pos x="33" y="2"/>
                    </a:cxn>
                    <a:cxn ang="0">
                      <a:pos x="30" y="2"/>
                    </a:cxn>
                    <a:cxn ang="0">
                      <a:pos x="29" y="1"/>
                    </a:cxn>
                    <a:cxn ang="0">
                      <a:pos x="26" y="3"/>
                    </a:cxn>
                    <a:cxn ang="0">
                      <a:pos x="24" y="5"/>
                    </a:cxn>
                    <a:cxn ang="0">
                      <a:pos x="20" y="6"/>
                    </a:cxn>
                    <a:cxn ang="0">
                      <a:pos x="19" y="5"/>
                    </a:cxn>
                    <a:cxn ang="0">
                      <a:pos x="18" y="5"/>
                    </a:cxn>
                    <a:cxn ang="0">
                      <a:pos x="17" y="4"/>
                    </a:cxn>
                    <a:cxn ang="0">
                      <a:pos x="13" y="6"/>
                    </a:cxn>
                    <a:cxn ang="0">
                      <a:pos x="11" y="7"/>
                    </a:cxn>
                    <a:cxn ang="0">
                      <a:pos x="11" y="9"/>
                    </a:cxn>
                    <a:cxn ang="0">
                      <a:pos x="8" y="10"/>
                    </a:cxn>
                    <a:cxn ang="0">
                      <a:pos x="5" y="11"/>
                    </a:cxn>
                    <a:cxn ang="0">
                      <a:pos x="2" y="13"/>
                    </a:cxn>
                    <a:cxn ang="0">
                      <a:pos x="0" y="14"/>
                    </a:cxn>
                    <a:cxn ang="0">
                      <a:pos x="1" y="16"/>
                    </a:cxn>
                    <a:cxn ang="0">
                      <a:pos x="4" y="16"/>
                    </a:cxn>
                    <a:cxn ang="0">
                      <a:pos x="7" y="16"/>
                    </a:cxn>
                    <a:cxn ang="0">
                      <a:pos x="10" y="17"/>
                    </a:cxn>
                    <a:cxn ang="0">
                      <a:pos x="13" y="17"/>
                    </a:cxn>
                    <a:cxn ang="0">
                      <a:pos x="17" y="17"/>
                    </a:cxn>
                    <a:cxn ang="0">
                      <a:pos x="18" y="18"/>
                    </a:cxn>
                    <a:cxn ang="0">
                      <a:pos x="19" y="18"/>
                    </a:cxn>
                    <a:cxn ang="0">
                      <a:pos x="23" y="16"/>
                    </a:cxn>
                    <a:cxn ang="0">
                      <a:pos x="26" y="14"/>
                    </a:cxn>
                    <a:cxn ang="0">
                      <a:pos x="28" y="13"/>
                    </a:cxn>
                    <a:cxn ang="0">
                      <a:pos x="30" y="12"/>
                    </a:cxn>
                    <a:cxn ang="0">
                      <a:pos x="34" y="11"/>
                    </a:cxn>
                    <a:cxn ang="0">
                      <a:pos x="36" y="9"/>
                    </a:cxn>
                    <a:cxn ang="0">
                      <a:pos x="39" y="8"/>
                    </a:cxn>
                    <a:cxn ang="0">
                      <a:pos x="42" y="6"/>
                    </a:cxn>
                    <a:cxn ang="0">
                      <a:pos x="46" y="2"/>
                    </a:cxn>
                    <a:cxn ang="0">
                      <a:pos x="47" y="0"/>
                    </a:cxn>
                    <a:cxn ang="0">
                      <a:pos x="45" y="0"/>
                    </a:cxn>
                    <a:cxn ang="0">
                      <a:pos x="42" y="0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48" h="19">
                      <a:moveTo>
                        <a:pt x="41" y="0"/>
                      </a:moveTo>
                      <a:lnTo>
                        <a:pt x="39" y="1"/>
                      </a:lnTo>
                      <a:lnTo>
                        <a:pt x="37" y="1"/>
                      </a:lnTo>
                      <a:lnTo>
                        <a:pt x="37" y="3"/>
                      </a:lnTo>
                      <a:lnTo>
                        <a:pt x="36" y="3"/>
                      </a:lnTo>
                      <a:lnTo>
                        <a:pt x="36" y="2"/>
                      </a:lnTo>
                      <a:lnTo>
                        <a:pt x="35" y="2"/>
                      </a:lnTo>
                      <a:lnTo>
                        <a:pt x="33" y="2"/>
                      </a:lnTo>
                      <a:lnTo>
                        <a:pt x="31" y="2"/>
                      </a:lnTo>
                      <a:lnTo>
                        <a:pt x="30" y="2"/>
                      </a:lnTo>
                      <a:lnTo>
                        <a:pt x="29" y="2"/>
                      </a:lnTo>
                      <a:lnTo>
                        <a:pt x="29" y="1"/>
                      </a:lnTo>
                      <a:lnTo>
                        <a:pt x="27" y="3"/>
                      </a:lnTo>
                      <a:lnTo>
                        <a:pt x="26" y="3"/>
                      </a:lnTo>
                      <a:lnTo>
                        <a:pt x="24" y="5"/>
                      </a:lnTo>
                      <a:lnTo>
                        <a:pt x="24" y="5"/>
                      </a:lnTo>
                      <a:lnTo>
                        <a:pt x="22" y="6"/>
                      </a:lnTo>
                      <a:lnTo>
                        <a:pt x="20" y="6"/>
                      </a:lnTo>
                      <a:lnTo>
                        <a:pt x="19" y="6"/>
                      </a:lnTo>
                      <a:lnTo>
                        <a:pt x="19" y="5"/>
                      </a:lnTo>
                      <a:lnTo>
                        <a:pt x="18" y="5"/>
                      </a:lnTo>
                      <a:lnTo>
                        <a:pt x="18" y="5"/>
                      </a:lnTo>
                      <a:lnTo>
                        <a:pt x="17" y="5"/>
                      </a:lnTo>
                      <a:lnTo>
                        <a:pt x="17" y="4"/>
                      </a:lnTo>
                      <a:lnTo>
                        <a:pt x="15" y="6"/>
                      </a:lnTo>
                      <a:lnTo>
                        <a:pt x="13" y="6"/>
                      </a:lnTo>
                      <a:lnTo>
                        <a:pt x="12" y="7"/>
                      </a:lnTo>
                      <a:lnTo>
                        <a:pt x="11" y="7"/>
                      </a:lnTo>
                      <a:lnTo>
                        <a:pt x="11" y="8"/>
                      </a:lnTo>
                      <a:lnTo>
                        <a:pt x="11" y="9"/>
                      </a:lnTo>
                      <a:lnTo>
                        <a:pt x="10" y="10"/>
                      </a:lnTo>
                      <a:lnTo>
                        <a:pt x="8" y="10"/>
                      </a:lnTo>
                      <a:lnTo>
                        <a:pt x="6" y="11"/>
                      </a:lnTo>
                      <a:lnTo>
                        <a:pt x="5" y="11"/>
                      </a:lnTo>
                      <a:lnTo>
                        <a:pt x="3" y="13"/>
                      </a:lnTo>
                      <a:lnTo>
                        <a:pt x="2" y="13"/>
                      </a:lnTo>
                      <a:lnTo>
                        <a:pt x="1" y="13"/>
                      </a:ln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1" y="16"/>
                      </a:lnTo>
                      <a:lnTo>
                        <a:pt x="2" y="16"/>
                      </a:lnTo>
                      <a:lnTo>
                        <a:pt x="4" y="16"/>
                      </a:lnTo>
                      <a:lnTo>
                        <a:pt x="6" y="16"/>
                      </a:lnTo>
                      <a:lnTo>
                        <a:pt x="7" y="16"/>
                      </a:lnTo>
                      <a:lnTo>
                        <a:pt x="8" y="17"/>
                      </a:lnTo>
                      <a:lnTo>
                        <a:pt x="10" y="17"/>
                      </a:lnTo>
                      <a:lnTo>
                        <a:pt x="12" y="17"/>
                      </a:lnTo>
                      <a:lnTo>
                        <a:pt x="13" y="17"/>
                      </a:lnTo>
                      <a:lnTo>
                        <a:pt x="15" y="17"/>
                      </a:lnTo>
                      <a:lnTo>
                        <a:pt x="17" y="17"/>
                      </a:lnTo>
                      <a:lnTo>
                        <a:pt x="17" y="18"/>
                      </a:lnTo>
                      <a:lnTo>
                        <a:pt x="18" y="18"/>
                      </a:lnTo>
                      <a:lnTo>
                        <a:pt x="18" y="18"/>
                      </a:lnTo>
                      <a:lnTo>
                        <a:pt x="19" y="18"/>
                      </a:lnTo>
                      <a:lnTo>
                        <a:pt x="21" y="16"/>
                      </a:lnTo>
                      <a:lnTo>
                        <a:pt x="23" y="16"/>
                      </a:lnTo>
                      <a:lnTo>
                        <a:pt x="24" y="14"/>
                      </a:lnTo>
                      <a:lnTo>
                        <a:pt x="26" y="14"/>
                      </a:lnTo>
                      <a:lnTo>
                        <a:pt x="27" y="14"/>
                      </a:lnTo>
                      <a:lnTo>
                        <a:pt x="28" y="13"/>
                      </a:lnTo>
                      <a:lnTo>
                        <a:pt x="29" y="13"/>
                      </a:lnTo>
                      <a:lnTo>
                        <a:pt x="30" y="12"/>
                      </a:lnTo>
                      <a:lnTo>
                        <a:pt x="32" y="11"/>
                      </a:lnTo>
                      <a:lnTo>
                        <a:pt x="34" y="11"/>
                      </a:lnTo>
                      <a:lnTo>
                        <a:pt x="36" y="9"/>
                      </a:lnTo>
                      <a:lnTo>
                        <a:pt x="36" y="9"/>
                      </a:lnTo>
                      <a:lnTo>
                        <a:pt x="38" y="8"/>
                      </a:lnTo>
                      <a:lnTo>
                        <a:pt x="39" y="8"/>
                      </a:lnTo>
                      <a:lnTo>
                        <a:pt x="41" y="6"/>
                      </a:lnTo>
                      <a:lnTo>
                        <a:pt x="42" y="6"/>
                      </a:lnTo>
                      <a:lnTo>
                        <a:pt x="44" y="4"/>
                      </a:lnTo>
                      <a:lnTo>
                        <a:pt x="46" y="2"/>
                      </a:lnTo>
                      <a:lnTo>
                        <a:pt x="46" y="1"/>
                      </a:lnTo>
                      <a:lnTo>
                        <a:pt x="47" y="0"/>
                      </a:lnTo>
                      <a:lnTo>
                        <a:pt x="46" y="0"/>
                      </a:lnTo>
                      <a:lnTo>
                        <a:pt x="45" y="0"/>
                      </a:lnTo>
                      <a:lnTo>
                        <a:pt x="44" y="0"/>
                      </a:lnTo>
                      <a:lnTo>
                        <a:pt x="42" y="0"/>
                      </a:lnTo>
                      <a:lnTo>
                        <a:pt x="42" y="0"/>
                      </a:lnTo>
                      <a:lnTo>
                        <a:pt x="41" y="0"/>
                      </a:lnTo>
                    </a:path>
                  </a:pathLst>
                </a:custGeom>
                <a:solidFill>
                  <a:srgbClr val="212121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69839" name="Line 207"/>
            <p:cNvSpPr>
              <a:spLocks noChangeShapeType="1"/>
            </p:cNvSpPr>
            <p:nvPr/>
          </p:nvSpPr>
          <p:spPr bwMode="auto">
            <a:xfrm>
              <a:off x="1048" y="3102"/>
              <a:ext cx="0" cy="481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840" name="Line 208"/>
            <p:cNvSpPr>
              <a:spLocks noChangeShapeType="1"/>
            </p:cNvSpPr>
            <p:nvPr/>
          </p:nvSpPr>
          <p:spPr bwMode="auto">
            <a:xfrm>
              <a:off x="3741" y="3102"/>
              <a:ext cx="0" cy="474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841" name="Rectangle 209"/>
            <p:cNvSpPr>
              <a:spLocks noChangeArrowheads="1"/>
            </p:cNvSpPr>
            <p:nvPr/>
          </p:nvSpPr>
          <p:spPr bwMode="auto">
            <a:xfrm>
              <a:off x="881" y="2829"/>
              <a:ext cx="681" cy="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2400" b="0" i="1" dirty="0">
                  <a:solidFill>
                    <a:srgbClr val="000000"/>
                  </a:solidFill>
                </a:rPr>
                <a:t>rear</a:t>
              </a:r>
            </a:p>
          </p:txBody>
        </p:sp>
        <p:sp>
          <p:nvSpPr>
            <p:cNvPr id="69842" name="Rectangle 210"/>
            <p:cNvSpPr>
              <a:spLocks noChangeArrowheads="1"/>
            </p:cNvSpPr>
            <p:nvPr/>
          </p:nvSpPr>
          <p:spPr bwMode="auto">
            <a:xfrm>
              <a:off x="3332" y="2836"/>
              <a:ext cx="745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2400" b="0" i="1" dirty="0">
                  <a:solidFill>
                    <a:srgbClr val="000000"/>
                  </a:solidFill>
                </a:rPr>
                <a:t>front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2966598" y="6227762"/>
            <a:ext cx="1154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b="1" dirty="0"/>
              <a:t>Queue</a:t>
            </a:r>
            <a:r>
              <a:rPr lang="en-GB" b="1" dirty="0"/>
              <a:t>s</a:t>
            </a:r>
            <a:endParaRPr lang="en-US" dirty="0"/>
          </a:p>
        </p:txBody>
      </p:sp>
      <p:sp>
        <p:nvSpPr>
          <p:cNvPr id="212" name="Rectangle 2"/>
          <p:cNvSpPr>
            <a:spLocks noGrp="1" noChangeArrowheads="1"/>
          </p:cNvSpPr>
          <p:nvPr>
            <p:ph type="title"/>
          </p:nvPr>
        </p:nvSpPr>
        <p:spPr>
          <a:xfrm>
            <a:off x="1240921" y="179388"/>
            <a:ext cx="5356729" cy="790575"/>
          </a:xfrm>
        </p:spPr>
        <p:txBody>
          <a:bodyPr/>
          <a:lstStyle/>
          <a:p>
            <a:pPr eaLnBrk="1" hangingPunct="1"/>
            <a:r>
              <a:rPr lang="en-US" b="1" dirty="0"/>
              <a:t>Queue</a:t>
            </a:r>
          </a:p>
        </p:txBody>
      </p:sp>
      <p:sp>
        <p:nvSpPr>
          <p:cNvPr id="3" name="8-Point Star 2"/>
          <p:cNvSpPr/>
          <p:nvPr/>
        </p:nvSpPr>
        <p:spPr>
          <a:xfrm>
            <a:off x="368709" y="117987"/>
            <a:ext cx="872211" cy="811161"/>
          </a:xfrm>
          <a:prstGeom prst="star8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en-SG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08959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idx="1"/>
          </p:nvPr>
        </p:nvSpPr>
        <p:spPr>
          <a:xfrm>
            <a:off x="476250" y="1279525"/>
            <a:ext cx="6048375" cy="7391400"/>
          </a:xfrm>
          <a:noFill/>
          <a:ln/>
        </p:spPr>
        <p:txBody>
          <a:bodyPr>
            <a:normAutofit lnSpcReduction="10000"/>
          </a:bodyPr>
          <a:lstStyle/>
          <a:p>
            <a:pPr lvl="1" indent="-277813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400" dirty="0">
                <a:solidFill>
                  <a:srgbClr val="000000"/>
                </a:solidFill>
              </a:rPr>
              <a:t>	A line at a bank cash-online or a group of cars waiting at a toll booth are all familiar example of queue.</a:t>
            </a:r>
          </a:p>
          <a:p>
            <a:pPr lvl="1" indent="-277813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en-GB" sz="24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400" b="1" dirty="0"/>
              <a:t>Some Queue Methods &amp; Properties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 b="1" dirty="0">
              <a:solidFill>
                <a:srgbClr val="000000"/>
              </a:solidFill>
            </a:endParaRPr>
          </a:p>
          <a:p>
            <a:pPr lvl="1" indent="-277813"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400" b="1" dirty="0" err="1"/>
              <a:t>Enqueue</a:t>
            </a:r>
            <a:r>
              <a:rPr lang="en-US" sz="2400" b="1" dirty="0"/>
              <a:t>( )</a:t>
            </a:r>
            <a:r>
              <a:rPr lang="en-US" sz="2400" dirty="0"/>
              <a:t> - add an object at </a:t>
            </a:r>
            <a:r>
              <a:rPr lang="en-GB" sz="2400" dirty="0"/>
              <a:t>the </a:t>
            </a:r>
            <a:r>
              <a:rPr lang="en-US" sz="2400" dirty="0"/>
              <a:t>end</a:t>
            </a:r>
            <a:r>
              <a:rPr lang="en-GB" sz="2400" dirty="0"/>
              <a:t> </a:t>
            </a:r>
            <a:r>
              <a:rPr lang="en-US" sz="2400" dirty="0"/>
              <a:t>of</a:t>
            </a:r>
            <a:r>
              <a:rPr lang="en-GB" sz="2400" dirty="0"/>
              <a:t> the </a:t>
            </a:r>
            <a:r>
              <a:rPr lang="en-US" sz="2400" dirty="0"/>
              <a:t>queue</a:t>
            </a:r>
          </a:p>
          <a:p>
            <a:pPr lvl="1" indent="-277813"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400" b="1" dirty="0" err="1"/>
              <a:t>Dequeue</a:t>
            </a:r>
            <a:r>
              <a:rPr lang="en-US" sz="2400" b="1" dirty="0"/>
              <a:t>()</a:t>
            </a:r>
            <a:r>
              <a:rPr lang="en-US" sz="2400" dirty="0"/>
              <a:t> - remove an object  from </a:t>
            </a:r>
            <a:r>
              <a:rPr lang="en-GB" sz="2400" dirty="0"/>
              <a:t>the </a:t>
            </a:r>
            <a:r>
              <a:rPr lang="en-US" sz="2400" dirty="0"/>
              <a:t>front</a:t>
            </a:r>
            <a:r>
              <a:rPr lang="en-GB" sz="2400" dirty="0"/>
              <a:t> </a:t>
            </a:r>
            <a:r>
              <a:rPr lang="en-US" sz="2400" dirty="0"/>
              <a:t>of </a:t>
            </a:r>
            <a:r>
              <a:rPr lang="en-GB" sz="2400" dirty="0"/>
              <a:t>the </a:t>
            </a:r>
            <a:r>
              <a:rPr lang="en-US" sz="2400" dirty="0"/>
              <a:t>queue</a:t>
            </a:r>
          </a:p>
          <a:p>
            <a:pPr lvl="1" indent="-277813"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400" b="1" dirty="0"/>
              <a:t>Clear(</a:t>
            </a:r>
            <a:r>
              <a:rPr lang="en-US" sz="2400" dirty="0"/>
              <a:t> ) - removes all objects in the queue.</a:t>
            </a:r>
          </a:p>
          <a:p>
            <a:pPr lvl="1" indent="-277813"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en-GB" sz="2400" b="1" dirty="0"/>
              <a:t>Contains( )</a:t>
            </a:r>
            <a:r>
              <a:rPr lang="en-GB" sz="2400" dirty="0"/>
              <a:t> – checks if an element is in the queue.</a:t>
            </a:r>
            <a:endParaRPr lang="en-US" sz="2400" dirty="0"/>
          </a:p>
          <a:p>
            <a:pPr lvl="1" indent="-277813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en-GB" sz="2400" dirty="0"/>
          </a:p>
          <a:p>
            <a:pPr lvl="1" indent="-277813"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400" b="1" dirty="0"/>
              <a:t>Count</a:t>
            </a:r>
            <a:r>
              <a:rPr lang="en-US" sz="2400" dirty="0"/>
              <a:t>	- get number of elements in the queue (property)</a:t>
            </a:r>
          </a:p>
          <a:p>
            <a:pPr lvl="1" indent="-277813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en-GB" sz="2400" dirty="0"/>
          </a:p>
          <a:p>
            <a:pPr lvl="1" indent="-277813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GB" sz="2400" i="1" dirty="0"/>
              <a:t>(go to self-study materials for a full list </a:t>
            </a:r>
          </a:p>
          <a:p>
            <a:pPr lvl="1" indent="-277813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GB" sz="2400" i="1" dirty="0"/>
              <a:t>of queue methods and properties)</a:t>
            </a:r>
            <a:endParaRPr lang="en-US" sz="2400" i="1" dirty="0"/>
          </a:p>
          <a:p>
            <a:pPr lvl="1" indent="-277813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dirty="0"/>
          </a:p>
          <a:p>
            <a:pPr lvl="1" indent="-277813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en-GB" sz="2400" dirty="0">
              <a:solidFill>
                <a:srgbClr val="0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6370" y="454968"/>
            <a:ext cx="23419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indent="-277813"/>
            <a:r>
              <a:rPr lang="en-US" sz="3200" dirty="0">
                <a:solidFill>
                  <a:srgbClr val="0033CC"/>
                </a:solidFill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00131506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MSDN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50" y="1143000"/>
            <a:ext cx="6038850" cy="3019425"/>
          </a:xfrm>
        </p:spPr>
        <p:txBody>
          <a:bodyPr/>
          <a:lstStyle/>
          <a:p>
            <a:pPr>
              <a:buNone/>
            </a:pPr>
            <a:r>
              <a:rPr lang="en-US" sz="2800" dirty="0"/>
              <a:t>About Queue Object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Visit the online MSDN library</a:t>
            </a:r>
          </a:p>
          <a:p>
            <a:pPr marL="0" indent="0">
              <a:buNone/>
            </a:pPr>
            <a:r>
              <a:rPr lang="en-US" sz="2400" dirty="0">
                <a:hlinkClick r:id="rId2"/>
              </a:rPr>
              <a:t>http://msdn.microsoft.com/en-us/library/system.collections.queue.aspx</a:t>
            </a:r>
            <a:endParaRPr lang="en-US" sz="2400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List the Queue Class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Members, Methods and Properties</a:t>
            </a:r>
            <a:endParaRPr lang="en-US" dirty="0">
              <a:hlinkClick r:id="rId3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Rounded Rectangular Callout 3"/>
          <p:cNvSpPr/>
          <p:nvPr/>
        </p:nvSpPr>
        <p:spPr>
          <a:xfrm>
            <a:off x="549281" y="4675189"/>
            <a:ext cx="6089644" cy="1162577"/>
          </a:xfrm>
          <a:prstGeom prst="wedgeRoundRectCallout">
            <a:avLst>
              <a:gd name="adj1" fmla="val -22300"/>
              <a:gd name="adj2" fmla="val -109576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2000" dirty="0">
                <a:solidFill>
                  <a:schemeClr val="tx1"/>
                </a:solidFill>
              </a:rPr>
              <a:t>Visit the Queue Class Object and learn about its method and properties</a:t>
            </a:r>
            <a:endParaRPr lang="en-SG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143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1438" y="1714480"/>
            <a:ext cx="6715148" cy="581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loud 4"/>
          <p:cNvSpPr/>
          <p:nvPr/>
        </p:nvSpPr>
        <p:spPr bwMode="auto">
          <a:xfrm>
            <a:off x="642918" y="642910"/>
            <a:ext cx="5929354" cy="1285884"/>
          </a:xfrm>
          <a:prstGeom prst="cloud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1"/>
                </a:solidFill>
                <a:latin typeface="Arial" charset="0"/>
              </a:rPr>
              <a:t>Let’s review the Methods in Queue class </a:t>
            </a:r>
            <a:r>
              <a:rPr lang="en-US" dirty="0" err="1">
                <a:solidFill>
                  <a:schemeClr val="tx1"/>
                </a:solidFill>
                <a:latin typeface="Arial" charset="0"/>
              </a:rPr>
              <a:t>e.g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charset="0"/>
              </a:rPr>
              <a:t>Dequeue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 (), </a:t>
            </a:r>
            <a:r>
              <a:rPr lang="en-US" dirty="0" err="1">
                <a:solidFill>
                  <a:schemeClr val="tx1"/>
                </a:solidFill>
                <a:latin typeface="Arial" charset="0"/>
              </a:rPr>
              <a:t>Enqueue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() </a:t>
            </a: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14290" y="3357554"/>
            <a:ext cx="6072230" cy="500066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43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3550" y="152400"/>
            <a:ext cx="6048375" cy="981075"/>
          </a:xfrm>
        </p:spPr>
        <p:txBody>
          <a:bodyPr/>
          <a:lstStyle/>
          <a:p>
            <a:r>
              <a:rPr lang="en-GB" sz="2400" dirty="0"/>
              <a:t>Example1:</a:t>
            </a:r>
            <a:br>
              <a:rPr lang="en-GB" dirty="0"/>
            </a:br>
            <a:r>
              <a:rPr lang="en-GB" dirty="0"/>
              <a:t>Application of Queue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171575"/>
            <a:ext cx="6038850" cy="3581400"/>
          </a:xfrm>
        </p:spPr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008000"/>
                </a:solidFill>
              </a:rPr>
              <a:t>Queues</a:t>
            </a:r>
            <a:r>
              <a:rPr lang="en-US" sz="1800" dirty="0"/>
              <a:t> are used to simulate situations where people have to wait in line. One scenario is to create a new Queue object to store name of customers in a queue waiting to be served. </a:t>
            </a:r>
            <a:br>
              <a:rPr lang="en-US" sz="1800" dirty="0"/>
            </a:br>
            <a:endParaRPr lang="en-US" sz="1800" dirty="0"/>
          </a:p>
          <a:p>
            <a:pPr>
              <a:buFontTx/>
              <a:buChar char="-"/>
            </a:pPr>
            <a:r>
              <a:rPr lang="en-US" sz="1800" dirty="0"/>
              <a:t>Program reads in customer’s name who is waiting in the queue</a:t>
            </a:r>
          </a:p>
          <a:p>
            <a:pPr>
              <a:buFontTx/>
              <a:buChar char="-"/>
            </a:pPr>
            <a:r>
              <a:rPr lang="en-US" sz="1800" dirty="0"/>
              <a:t>Implement a Queue class to do the following :</a:t>
            </a:r>
          </a:p>
          <a:p>
            <a:pPr lvl="1">
              <a:buFontTx/>
              <a:buChar char="-"/>
            </a:pPr>
            <a:r>
              <a:rPr lang="en-US" sz="1600" dirty="0"/>
              <a:t>Serving Queue</a:t>
            </a:r>
          </a:p>
          <a:p>
            <a:pPr lvl="1">
              <a:buFontTx/>
              <a:buChar char="-"/>
            </a:pPr>
            <a:r>
              <a:rPr lang="en-US" sz="1600" dirty="0"/>
              <a:t>Adding to Queue</a:t>
            </a:r>
          </a:p>
          <a:p>
            <a:pPr lvl="1">
              <a:buFontTx/>
              <a:buChar char="-"/>
            </a:pPr>
            <a:r>
              <a:rPr lang="en-US" sz="1600" dirty="0"/>
              <a:t>Print Queue</a:t>
            </a:r>
          </a:p>
          <a:p>
            <a:pPr lvl="1">
              <a:buFontTx/>
              <a:buChar char="-"/>
            </a:pPr>
            <a:r>
              <a:rPr lang="en-US" sz="1600" dirty="0"/>
              <a:t>Clear Queue</a:t>
            </a:r>
          </a:p>
        </p:txBody>
      </p:sp>
      <p:pic>
        <p:nvPicPr>
          <p:cNvPr id="6" name="Picture 5" descr="Form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31" y="4769963"/>
            <a:ext cx="4549535" cy="36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357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463550" y="152400"/>
            <a:ext cx="6048375" cy="981075"/>
          </a:xfrm>
        </p:spPr>
        <p:txBody>
          <a:bodyPr/>
          <a:lstStyle/>
          <a:p>
            <a:r>
              <a:rPr lang="en-GB" sz="2400" dirty="0"/>
              <a:t>Example1:</a:t>
            </a:r>
            <a:br>
              <a:rPr lang="en-GB" dirty="0"/>
            </a:br>
            <a:r>
              <a:rPr lang="en-GB" dirty="0"/>
              <a:t>Application of Queue</a:t>
            </a: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457200" y="1289626"/>
            <a:ext cx="61722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SG" sz="1400" dirty="0"/>
              <a:t>using </a:t>
            </a:r>
            <a:r>
              <a:rPr lang="en-SG" sz="1400" dirty="0" err="1"/>
              <a:t>System.Collections</a:t>
            </a:r>
            <a:r>
              <a:rPr lang="en-SG" sz="1400" dirty="0"/>
              <a:t>; // where Queue object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7675" y="2651701"/>
            <a:ext cx="6172200" cy="46166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SG" sz="1400" dirty="0"/>
              <a:t> // class Queue</a:t>
            </a:r>
          </a:p>
          <a:p>
            <a:r>
              <a:rPr lang="en-SG" sz="1400" dirty="0"/>
              <a:t>        Queue </a:t>
            </a:r>
            <a:r>
              <a:rPr lang="en-SG" sz="1400" dirty="0" err="1"/>
              <a:t>myQueue</a:t>
            </a:r>
            <a:r>
              <a:rPr lang="en-SG" sz="1400" dirty="0"/>
              <a:t> = new Queue(); // create a queue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SG" sz="1400" dirty="0"/>
          </a:p>
          <a:p>
            <a:r>
              <a:rPr lang="en-SG" sz="1400" dirty="0"/>
              <a:t>        private void </a:t>
            </a:r>
            <a:r>
              <a:rPr lang="en-SG" sz="1400" b="1" dirty="0" err="1"/>
              <a:t>BtnServing_Click</a:t>
            </a:r>
            <a:r>
              <a:rPr lang="en-SG" sz="1400" dirty="0"/>
              <a:t>(object sender, </a:t>
            </a:r>
            <a:r>
              <a:rPr lang="en-SG" sz="1400" dirty="0" err="1"/>
              <a:t>EventArgs</a:t>
            </a:r>
            <a:r>
              <a:rPr lang="en-SG" sz="1400" dirty="0"/>
              <a:t> e)</a:t>
            </a:r>
          </a:p>
          <a:p>
            <a:r>
              <a:rPr lang="en-SG" sz="1400" dirty="0"/>
              <a:t>        {</a:t>
            </a:r>
          </a:p>
          <a:p>
            <a:r>
              <a:rPr lang="en-SG" sz="1400" dirty="0"/>
              <a:t>            string </a:t>
            </a:r>
            <a:r>
              <a:rPr lang="en-SG" sz="1400" dirty="0" err="1"/>
              <a:t>servingName</a:t>
            </a:r>
            <a:r>
              <a:rPr lang="en-SG" sz="1400" dirty="0"/>
              <a:t>;</a:t>
            </a:r>
          </a:p>
          <a:p>
            <a:endParaRPr lang="en-GB" sz="1400" dirty="0"/>
          </a:p>
          <a:p>
            <a:r>
              <a:rPr lang="en-SG" sz="1400" b="1" dirty="0">
                <a:solidFill>
                  <a:srgbClr val="008000"/>
                </a:solidFill>
              </a:rPr>
              <a:t>            // there is item in queue</a:t>
            </a:r>
            <a:endParaRPr lang="en-SG" sz="1400" dirty="0"/>
          </a:p>
          <a:p>
            <a:r>
              <a:rPr lang="en-SG" sz="1400" dirty="0"/>
              <a:t>            if (</a:t>
            </a:r>
            <a:r>
              <a:rPr lang="en-SG" sz="1400" b="1" dirty="0" err="1">
                <a:solidFill>
                  <a:schemeClr val="accent2"/>
                </a:solidFill>
              </a:rPr>
              <a:t>myQueue.Count</a:t>
            </a:r>
            <a:r>
              <a:rPr lang="en-SG" sz="1400" dirty="0"/>
              <a:t>!=0)</a:t>
            </a:r>
            <a:endParaRPr lang="en-SG" sz="1400" b="1" dirty="0">
              <a:solidFill>
                <a:srgbClr val="008000"/>
              </a:solidFill>
            </a:endParaRPr>
          </a:p>
          <a:p>
            <a:r>
              <a:rPr lang="en-SG" sz="1400" dirty="0"/>
              <a:t>            {</a:t>
            </a:r>
          </a:p>
          <a:p>
            <a:r>
              <a:rPr lang="en-SG" sz="1400" dirty="0"/>
              <a:t>                </a:t>
            </a:r>
            <a:r>
              <a:rPr lang="en-SG" sz="1400" dirty="0" err="1"/>
              <a:t>servingName</a:t>
            </a:r>
            <a:r>
              <a:rPr lang="en-SG" sz="1400" dirty="0"/>
              <a:t> = (string) </a:t>
            </a:r>
            <a:r>
              <a:rPr lang="en-SG" sz="1400" b="1" dirty="0" err="1">
                <a:solidFill>
                  <a:schemeClr val="accent2"/>
                </a:solidFill>
              </a:rPr>
              <a:t>myQueue.Dequeue</a:t>
            </a:r>
            <a:r>
              <a:rPr lang="en-SG" sz="1400" dirty="0"/>
              <a:t>();</a:t>
            </a:r>
          </a:p>
          <a:p>
            <a:r>
              <a:rPr lang="en-SG" sz="1400" dirty="0"/>
              <a:t>                </a:t>
            </a:r>
            <a:r>
              <a:rPr lang="en-SG" sz="1400" dirty="0" err="1"/>
              <a:t>rtbResult.AppendText</a:t>
            </a:r>
            <a:r>
              <a:rPr lang="en-SG" sz="1400" dirty="0"/>
              <a:t>(" It is serving " + </a:t>
            </a:r>
            <a:r>
              <a:rPr lang="en-SG" sz="1400" dirty="0" err="1"/>
              <a:t>servingName</a:t>
            </a:r>
            <a:r>
              <a:rPr lang="en-SG" sz="1400" dirty="0"/>
              <a:t> + "\n");</a:t>
            </a:r>
          </a:p>
          <a:p>
            <a:r>
              <a:rPr lang="en-SG" sz="1400" dirty="0"/>
              <a:t>            }</a:t>
            </a:r>
          </a:p>
          <a:p>
            <a:r>
              <a:rPr lang="en-SG" sz="1400" dirty="0"/>
              <a:t>            else</a:t>
            </a:r>
          </a:p>
          <a:p>
            <a:r>
              <a:rPr lang="en-SG" sz="1400" dirty="0"/>
              <a:t>            {</a:t>
            </a:r>
          </a:p>
          <a:p>
            <a:r>
              <a:rPr lang="en-SG" sz="1400" dirty="0"/>
              <a:t>                </a:t>
            </a:r>
            <a:r>
              <a:rPr lang="en-SG" sz="1400" dirty="0" err="1"/>
              <a:t>rtbResult.AppendText</a:t>
            </a:r>
            <a:r>
              <a:rPr lang="en-SG" sz="1400" dirty="0"/>
              <a:t>(" Queue is emptied. \n");</a:t>
            </a:r>
          </a:p>
          <a:p>
            <a:r>
              <a:rPr lang="en-SG" sz="1400" dirty="0"/>
              <a:t>            }</a:t>
            </a:r>
          </a:p>
          <a:p>
            <a:r>
              <a:rPr lang="en-SG" sz="1400" dirty="0"/>
              <a:t>        }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466725" y="1714501"/>
            <a:ext cx="2733676" cy="266700"/>
          </a:xfrm>
          <a:prstGeom prst="wedgeRoundRectCallout">
            <a:avLst>
              <a:gd name="adj1" fmla="val 9407"/>
              <a:gd name="adj2" fmla="val -111790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GB" sz="1400" dirty="0">
                <a:solidFill>
                  <a:schemeClr val="tx1"/>
                </a:solidFill>
              </a:rPr>
              <a:t>To use the Queue Class Object</a:t>
            </a:r>
            <a:endParaRPr lang="en-SG" sz="1400" b="1" dirty="0">
              <a:solidFill>
                <a:schemeClr val="tx1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2257424" y="2309817"/>
            <a:ext cx="4124325" cy="341883"/>
          </a:xfrm>
          <a:prstGeom prst="wedgeRoundRectCallout">
            <a:avLst>
              <a:gd name="adj1" fmla="val -29622"/>
              <a:gd name="adj2" fmla="val 139959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GB" sz="1400" dirty="0">
                <a:solidFill>
                  <a:schemeClr val="tx1"/>
                </a:solidFill>
              </a:rPr>
              <a:t>To create a new Queue Object</a:t>
            </a:r>
            <a:endParaRPr lang="en-SG" sz="1400" b="1" dirty="0">
              <a:solidFill>
                <a:schemeClr val="tx1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1762125" y="3486151"/>
            <a:ext cx="3562350" cy="257174"/>
          </a:xfrm>
          <a:prstGeom prst="wedgeRoundRectCallout">
            <a:avLst>
              <a:gd name="adj1" fmla="val -34681"/>
              <a:gd name="adj2" fmla="val 142798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GB" sz="1400" dirty="0">
                <a:solidFill>
                  <a:schemeClr val="tx1"/>
                </a:solidFill>
              </a:rPr>
              <a:t>To serve a Customer from the </a:t>
            </a:r>
            <a:r>
              <a:rPr lang="en-GB" sz="1400" b="1" dirty="0" err="1">
                <a:solidFill>
                  <a:srgbClr val="008000"/>
                </a:solidFill>
              </a:rPr>
              <a:t>myQueue</a:t>
            </a:r>
            <a:endParaRPr lang="en-SG" sz="1400" b="1" dirty="0">
              <a:solidFill>
                <a:srgbClr val="008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7675" y="7501235"/>
            <a:ext cx="61722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When user clicks on </a:t>
            </a:r>
            <a:r>
              <a:rPr lang="en-US" sz="1400" b="1" dirty="0">
                <a:solidFill>
                  <a:srgbClr val="008000"/>
                </a:solidFill>
              </a:rPr>
              <a:t>Serving Queue </a:t>
            </a:r>
            <a:r>
              <a:rPr lang="en-US" sz="1400" dirty="0"/>
              <a:t>button, program checks there is  any item in the queue. If true, program call </a:t>
            </a:r>
            <a:r>
              <a:rPr lang="en-US" sz="1400" dirty="0" err="1"/>
              <a:t>Dequeue</a:t>
            </a:r>
            <a:r>
              <a:rPr lang="en-US" sz="1400" dirty="0"/>
              <a:t> method to remove the item.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3200402" y="4979075"/>
            <a:ext cx="2619374" cy="323850"/>
          </a:xfrm>
          <a:prstGeom prst="wedgeRoundRectCallout">
            <a:avLst>
              <a:gd name="adj1" fmla="val -53294"/>
              <a:gd name="adj2" fmla="val 98900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GB" sz="1400" dirty="0">
                <a:solidFill>
                  <a:schemeClr val="tx1"/>
                </a:solidFill>
              </a:rPr>
              <a:t>Cast the object to </a:t>
            </a:r>
            <a:r>
              <a:rPr lang="en-GB" sz="1400" b="1" dirty="0">
                <a:solidFill>
                  <a:schemeClr val="accent2"/>
                </a:solidFill>
              </a:rPr>
              <a:t>string type</a:t>
            </a:r>
            <a:endParaRPr lang="en-SG" sz="1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41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463550" y="152400"/>
            <a:ext cx="6048375" cy="981075"/>
          </a:xfrm>
        </p:spPr>
        <p:txBody>
          <a:bodyPr/>
          <a:lstStyle/>
          <a:p>
            <a:r>
              <a:rPr lang="en-GB" sz="2400" dirty="0"/>
              <a:t>Example1:</a:t>
            </a:r>
            <a:br>
              <a:rPr lang="en-GB" dirty="0"/>
            </a:br>
            <a:r>
              <a:rPr lang="en-GB" dirty="0"/>
              <a:t>Application of Queue</a:t>
            </a: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485774" y="1695331"/>
            <a:ext cx="6010275" cy="59093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SG" sz="1400" dirty="0"/>
              <a:t>       private void </a:t>
            </a:r>
            <a:r>
              <a:rPr lang="en-SG" sz="1400" dirty="0" err="1"/>
              <a:t>btnAdd_Click</a:t>
            </a:r>
            <a:r>
              <a:rPr lang="en-SG" sz="1400" dirty="0"/>
              <a:t>(object sender, </a:t>
            </a:r>
            <a:r>
              <a:rPr lang="en-SG" sz="1400" dirty="0" err="1"/>
              <a:t>EventArgs</a:t>
            </a:r>
            <a:r>
              <a:rPr lang="en-SG" sz="1400" dirty="0"/>
              <a:t> e)</a:t>
            </a:r>
          </a:p>
          <a:p>
            <a:r>
              <a:rPr lang="en-SG" sz="1400" dirty="0"/>
              <a:t>        {</a:t>
            </a:r>
          </a:p>
          <a:p>
            <a:r>
              <a:rPr lang="en-SG" sz="1400" dirty="0"/>
              <a:t>            string </a:t>
            </a:r>
            <a:r>
              <a:rPr lang="en-SG" sz="1400" dirty="0" err="1"/>
              <a:t>qname</a:t>
            </a:r>
            <a:r>
              <a:rPr lang="en-SG" sz="1400" dirty="0"/>
              <a:t> =</a:t>
            </a:r>
            <a:r>
              <a:rPr lang="en-SG" sz="1400" dirty="0" err="1"/>
              <a:t>txtQueueName.Text</a:t>
            </a:r>
            <a:r>
              <a:rPr lang="en-SG" sz="1400" dirty="0"/>
              <a:t> ;</a:t>
            </a:r>
          </a:p>
          <a:p>
            <a:endParaRPr lang="en-SG" sz="1400" dirty="0"/>
          </a:p>
          <a:p>
            <a:r>
              <a:rPr lang="en-SG" sz="1400" dirty="0"/>
              <a:t>            </a:t>
            </a:r>
            <a:r>
              <a:rPr lang="en-SG" sz="1400" dirty="0" err="1"/>
              <a:t>myQueue.Enqueue</a:t>
            </a:r>
            <a:r>
              <a:rPr lang="en-SG" sz="1400" dirty="0"/>
              <a:t>(</a:t>
            </a:r>
            <a:r>
              <a:rPr lang="en-SG" sz="1400" dirty="0" err="1"/>
              <a:t>qname</a:t>
            </a:r>
            <a:r>
              <a:rPr lang="en-SG" sz="1400" dirty="0"/>
              <a:t>);</a:t>
            </a:r>
          </a:p>
          <a:p>
            <a:r>
              <a:rPr lang="en-SG" sz="1400" dirty="0"/>
              <a:t>            </a:t>
            </a:r>
            <a:r>
              <a:rPr lang="en-SG" sz="1400" dirty="0" err="1"/>
              <a:t>rtbResult.AppendText</a:t>
            </a:r>
            <a:r>
              <a:rPr lang="en-SG" sz="1400" dirty="0"/>
              <a:t>(" Adding " + </a:t>
            </a:r>
            <a:r>
              <a:rPr lang="en-SG" sz="1400" dirty="0" err="1"/>
              <a:t>qname</a:t>
            </a:r>
            <a:r>
              <a:rPr lang="en-SG" sz="1400" dirty="0"/>
              <a:t> + " into queue \n");</a:t>
            </a:r>
          </a:p>
          <a:p>
            <a:endParaRPr lang="en-SG" sz="1400" dirty="0"/>
          </a:p>
          <a:p>
            <a:r>
              <a:rPr lang="en-SG" sz="1400" dirty="0"/>
              <a:t>        }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SG" sz="1400" dirty="0"/>
          </a:p>
          <a:p>
            <a:r>
              <a:rPr lang="en-SG" sz="1400" dirty="0"/>
              <a:t>        private void </a:t>
            </a:r>
            <a:r>
              <a:rPr lang="en-SG" sz="1400" dirty="0" err="1"/>
              <a:t>BtnPrint_Click</a:t>
            </a:r>
            <a:r>
              <a:rPr lang="en-SG" sz="1400" dirty="0"/>
              <a:t>(object sender, </a:t>
            </a:r>
            <a:r>
              <a:rPr lang="en-SG" sz="1400" dirty="0" err="1"/>
              <a:t>EventArgs</a:t>
            </a:r>
            <a:r>
              <a:rPr lang="en-SG" sz="1400" dirty="0"/>
              <a:t> e)</a:t>
            </a:r>
          </a:p>
          <a:p>
            <a:r>
              <a:rPr lang="en-SG" sz="1400" dirty="0"/>
              <a:t>        {</a:t>
            </a:r>
          </a:p>
          <a:p>
            <a:r>
              <a:rPr lang="en-SG" sz="1400" dirty="0"/>
              <a:t>            </a:t>
            </a:r>
            <a:r>
              <a:rPr lang="en-SG" sz="1400" dirty="0" err="1"/>
              <a:t>rtbResult.AppendText</a:t>
            </a:r>
            <a:r>
              <a:rPr lang="en-SG" sz="1400" dirty="0"/>
              <a:t>(" Items in queue are: ");</a:t>
            </a:r>
          </a:p>
          <a:p>
            <a:r>
              <a:rPr lang="en-SG" sz="1400" dirty="0"/>
              <a:t>            // printing all items</a:t>
            </a:r>
          </a:p>
          <a:p>
            <a:r>
              <a:rPr lang="en-SG" sz="1400" dirty="0"/>
              <a:t>            </a:t>
            </a:r>
            <a:r>
              <a:rPr lang="en-SG" sz="1400" dirty="0" err="1"/>
              <a:t>foreach</a:t>
            </a:r>
            <a:r>
              <a:rPr lang="en-SG" sz="1400" dirty="0"/>
              <a:t> (string item in </a:t>
            </a:r>
            <a:r>
              <a:rPr lang="en-SG" sz="1400" dirty="0" err="1"/>
              <a:t>myQueue</a:t>
            </a:r>
            <a:r>
              <a:rPr lang="en-SG" sz="1400" dirty="0"/>
              <a:t>)</a:t>
            </a:r>
          </a:p>
          <a:p>
            <a:r>
              <a:rPr lang="en-SG" sz="1400" dirty="0"/>
              <a:t>            {</a:t>
            </a:r>
          </a:p>
          <a:p>
            <a:r>
              <a:rPr lang="en-SG" sz="1400" dirty="0"/>
              <a:t>                </a:t>
            </a:r>
            <a:r>
              <a:rPr lang="en-SG" sz="1400" dirty="0" err="1"/>
              <a:t>rtbResult.AppendText</a:t>
            </a:r>
            <a:r>
              <a:rPr lang="en-SG" sz="1400" dirty="0"/>
              <a:t>(item + "  ");</a:t>
            </a:r>
          </a:p>
          <a:p>
            <a:r>
              <a:rPr lang="en-SG" sz="1400" dirty="0"/>
              <a:t>            }</a:t>
            </a:r>
          </a:p>
          <a:p>
            <a:r>
              <a:rPr lang="en-SG" sz="1400" dirty="0"/>
              <a:t>        }</a:t>
            </a:r>
          </a:p>
          <a:p>
            <a:endParaRPr lang="en-GB" sz="1400" dirty="0"/>
          </a:p>
          <a:p>
            <a:endParaRPr lang="en-SG" sz="1400" dirty="0"/>
          </a:p>
          <a:p>
            <a:endParaRPr lang="en-SG" sz="1400" dirty="0"/>
          </a:p>
          <a:p>
            <a:r>
              <a:rPr lang="en-SG" sz="1400" dirty="0"/>
              <a:t>        private void </a:t>
            </a:r>
            <a:r>
              <a:rPr lang="en-SG" sz="1400" dirty="0" err="1"/>
              <a:t>btnClear_Click</a:t>
            </a:r>
            <a:r>
              <a:rPr lang="en-SG" sz="1400" dirty="0"/>
              <a:t>(object sender, </a:t>
            </a:r>
            <a:r>
              <a:rPr lang="en-SG" sz="1400" dirty="0" err="1"/>
              <a:t>EventArgs</a:t>
            </a:r>
            <a:r>
              <a:rPr lang="en-SG" sz="1400" dirty="0"/>
              <a:t> e)</a:t>
            </a:r>
          </a:p>
          <a:p>
            <a:r>
              <a:rPr lang="en-SG" sz="1400" dirty="0"/>
              <a:t>        {</a:t>
            </a:r>
          </a:p>
          <a:p>
            <a:r>
              <a:rPr lang="en-SG" sz="1400" dirty="0"/>
              <a:t>            </a:t>
            </a:r>
            <a:r>
              <a:rPr lang="en-SG" sz="1400" dirty="0" err="1"/>
              <a:t>myQueue.Clear</a:t>
            </a:r>
            <a:r>
              <a:rPr lang="en-SG" sz="1400" dirty="0"/>
              <a:t>(); // clear the queue</a:t>
            </a:r>
          </a:p>
          <a:p>
            <a:r>
              <a:rPr lang="en-SG" sz="1400" dirty="0"/>
              <a:t>        }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1143000" y="1257300"/>
            <a:ext cx="3562350" cy="323850"/>
          </a:xfrm>
          <a:prstGeom prst="wedgeRoundRectCallout">
            <a:avLst>
              <a:gd name="adj1" fmla="val 1951"/>
              <a:gd name="adj2" fmla="val 95958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GB" sz="1400" dirty="0">
                <a:solidFill>
                  <a:schemeClr val="tx1"/>
                </a:solidFill>
              </a:rPr>
              <a:t>To add a Customer  into the </a:t>
            </a:r>
            <a:r>
              <a:rPr lang="en-GB" sz="1400" b="1" dirty="0" err="1">
                <a:solidFill>
                  <a:srgbClr val="008000"/>
                </a:solidFill>
              </a:rPr>
              <a:t>myQueue</a:t>
            </a:r>
            <a:endParaRPr lang="en-SG" sz="1400" b="1" dirty="0">
              <a:solidFill>
                <a:srgbClr val="008000"/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1076325" y="3619500"/>
            <a:ext cx="2209800" cy="323850"/>
          </a:xfrm>
          <a:prstGeom prst="wedgeRoundRectCallout">
            <a:avLst>
              <a:gd name="adj1" fmla="val 2959"/>
              <a:gd name="adj2" fmla="val 104781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GB" sz="1400" dirty="0">
                <a:solidFill>
                  <a:schemeClr val="tx1"/>
                </a:solidFill>
              </a:rPr>
              <a:t>To print </a:t>
            </a:r>
            <a:r>
              <a:rPr lang="en-GB" sz="1400" b="1" dirty="0" err="1">
                <a:solidFill>
                  <a:srgbClr val="008000"/>
                </a:solidFill>
              </a:rPr>
              <a:t>myQueue</a:t>
            </a:r>
            <a:endParaRPr lang="en-SG" sz="1400" b="1" dirty="0">
              <a:solidFill>
                <a:srgbClr val="008000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1695450" y="6162675"/>
            <a:ext cx="2209800" cy="323850"/>
          </a:xfrm>
          <a:prstGeom prst="wedgeRoundRectCallout">
            <a:avLst>
              <a:gd name="adj1" fmla="val 2959"/>
              <a:gd name="adj2" fmla="val 104781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GB" sz="1400" dirty="0">
                <a:solidFill>
                  <a:schemeClr val="tx1"/>
                </a:solidFill>
              </a:rPr>
              <a:t>To clear </a:t>
            </a:r>
            <a:r>
              <a:rPr lang="en-GB" sz="1400" b="1" dirty="0" err="1">
                <a:solidFill>
                  <a:srgbClr val="008000"/>
                </a:solidFill>
              </a:rPr>
              <a:t>myQueue</a:t>
            </a:r>
            <a:endParaRPr lang="en-SG" sz="1400" b="1" dirty="0">
              <a:solidFill>
                <a:srgbClr val="008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5774" y="7604641"/>
            <a:ext cx="601027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When user clicks on </a:t>
            </a:r>
            <a:r>
              <a:rPr lang="en-US" sz="1200" b="1" dirty="0">
                <a:solidFill>
                  <a:srgbClr val="008000"/>
                </a:solidFill>
              </a:rPr>
              <a:t>Adding to Queue </a:t>
            </a:r>
            <a:r>
              <a:rPr lang="en-US" sz="1200" dirty="0"/>
              <a:t>button, program reads the customer’s name and add it into queue. </a:t>
            </a:r>
          </a:p>
          <a:p>
            <a:r>
              <a:rPr lang="en-US" sz="1200" dirty="0"/>
              <a:t>When user clicks on </a:t>
            </a:r>
            <a:r>
              <a:rPr lang="en-US" sz="1200" b="1" dirty="0">
                <a:solidFill>
                  <a:srgbClr val="008000"/>
                </a:solidFill>
              </a:rPr>
              <a:t>Print Queue </a:t>
            </a:r>
            <a:r>
              <a:rPr lang="en-US" sz="1200" dirty="0"/>
              <a:t>button, program print the items from the queue.</a:t>
            </a:r>
          </a:p>
          <a:p>
            <a:r>
              <a:rPr lang="en-US" sz="1200" dirty="0"/>
              <a:t>When user clicks on </a:t>
            </a:r>
            <a:r>
              <a:rPr lang="en-US" sz="1200" b="1" dirty="0">
                <a:solidFill>
                  <a:srgbClr val="008000"/>
                </a:solidFill>
              </a:rPr>
              <a:t>Clear Queue </a:t>
            </a:r>
            <a:r>
              <a:rPr lang="en-US" sz="1200" dirty="0"/>
              <a:t>button, program empties the queue</a:t>
            </a:r>
          </a:p>
        </p:txBody>
      </p:sp>
    </p:spTree>
    <p:extLst>
      <p:ext uri="{BB962C8B-B14F-4D97-AF65-F5344CB8AC3E}">
        <p14:creationId xmlns:p14="http://schemas.microsoft.com/office/powerpoint/2010/main" val="80320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50" y="1162050"/>
            <a:ext cx="6038850" cy="2686050"/>
          </a:xfrm>
        </p:spPr>
        <p:txBody>
          <a:bodyPr/>
          <a:lstStyle/>
          <a:p>
            <a:r>
              <a:rPr lang="en-GB" sz="2000" dirty="0"/>
              <a:t>Sample of output with the following action:</a:t>
            </a:r>
          </a:p>
          <a:p>
            <a:pPr marL="971550" lvl="1" indent="-514350">
              <a:buAutoNum type="arabicPeriod"/>
            </a:pPr>
            <a:r>
              <a:rPr lang="en-GB" sz="2000" dirty="0"/>
              <a:t>Serving an empty queue</a:t>
            </a:r>
          </a:p>
          <a:p>
            <a:pPr marL="971550" lvl="1" indent="-514350">
              <a:buAutoNum type="arabicPeriod"/>
            </a:pPr>
            <a:r>
              <a:rPr lang="en-GB" sz="2000" dirty="0"/>
              <a:t>Add in </a:t>
            </a:r>
            <a:r>
              <a:rPr lang="en-GB" sz="2000" dirty="0" err="1"/>
              <a:t>John,sally</a:t>
            </a:r>
            <a:r>
              <a:rPr lang="en-GB" sz="2000" dirty="0"/>
              <a:t> and ally</a:t>
            </a:r>
          </a:p>
          <a:p>
            <a:pPr marL="971550" lvl="1" indent="-514350">
              <a:buAutoNum type="arabicPeriod"/>
            </a:pPr>
            <a:r>
              <a:rPr lang="en-GB" sz="2000" dirty="0"/>
              <a:t>Serving john, sally and ally</a:t>
            </a:r>
          </a:p>
          <a:p>
            <a:pPr marL="971550" lvl="1" indent="-514350">
              <a:buAutoNum type="arabicPeriod"/>
            </a:pPr>
            <a:r>
              <a:rPr lang="en-GB" sz="2000" dirty="0"/>
              <a:t>Print empty queue</a:t>
            </a:r>
          </a:p>
          <a:p>
            <a:pPr marL="971550" lvl="1" indent="-514350">
              <a:buAutoNum type="arabicPeriod"/>
            </a:pPr>
            <a:r>
              <a:rPr lang="en-GB" sz="2000" dirty="0"/>
              <a:t>Add ally</a:t>
            </a:r>
          </a:p>
          <a:p>
            <a:pPr marL="971550" lvl="1" indent="-514350">
              <a:buAutoNum type="arabicPeriod"/>
            </a:pPr>
            <a:r>
              <a:rPr lang="en-GB" sz="2000" dirty="0"/>
              <a:t>Print queue</a:t>
            </a:r>
            <a:endParaRPr lang="en-SG" sz="2000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463550" y="152400"/>
            <a:ext cx="6048375" cy="981075"/>
          </a:xfrm>
        </p:spPr>
        <p:txBody>
          <a:bodyPr/>
          <a:lstStyle/>
          <a:p>
            <a:r>
              <a:rPr lang="en-GB" sz="2400" dirty="0"/>
              <a:t>Example1:</a:t>
            </a:r>
            <a:br>
              <a:rPr lang="en-GB" dirty="0"/>
            </a:br>
            <a:r>
              <a:rPr lang="en-GB" dirty="0"/>
              <a:t>Application of Queue</a:t>
            </a:r>
            <a:endParaRPr lang="en-SG" dirty="0"/>
          </a:p>
        </p:txBody>
      </p:sp>
      <p:pic>
        <p:nvPicPr>
          <p:cNvPr id="5" name="Picture 4" descr="Form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32" y="4408013"/>
            <a:ext cx="4549535" cy="36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03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idx="1"/>
          </p:nvPr>
        </p:nvSpPr>
        <p:spPr>
          <a:xfrm>
            <a:off x="449263" y="1133475"/>
            <a:ext cx="5856287" cy="4867275"/>
          </a:xfrm>
          <a:noFill/>
          <a:ln/>
        </p:spPr>
        <p:txBody>
          <a:bodyPr/>
          <a:lstStyle/>
          <a:p>
            <a:pPr lvl="1">
              <a:lnSpc>
                <a:spcPct val="120000"/>
              </a:lnSpc>
            </a:pPr>
            <a:r>
              <a:rPr lang="en-US" sz="2400" dirty="0">
                <a:solidFill>
                  <a:srgbClr val="000000"/>
                </a:solidFill>
              </a:rPr>
              <a:t>A </a:t>
            </a:r>
            <a:r>
              <a:rPr lang="en-US" sz="2400" b="1" i="1" dirty="0">
                <a:solidFill>
                  <a:srgbClr val="000000"/>
                </a:solidFill>
              </a:rPr>
              <a:t>stack</a:t>
            </a:r>
            <a:r>
              <a:rPr lang="en-US" sz="2400" dirty="0">
                <a:solidFill>
                  <a:srgbClr val="000000"/>
                </a:solidFill>
              </a:rPr>
              <a:t> is a list of items in which items are inserted and deleted at one end, called the </a:t>
            </a:r>
            <a:r>
              <a:rPr lang="en-US" sz="2400" b="1" i="1" dirty="0">
                <a:solidFill>
                  <a:srgbClr val="000000"/>
                </a:solidFill>
              </a:rPr>
              <a:t>top</a:t>
            </a:r>
            <a:r>
              <a:rPr lang="en-US" sz="2400" b="1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of the stack.</a:t>
            </a:r>
            <a:endParaRPr lang="en-US" sz="2400" dirty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sz="2400" b="1" u="sng" dirty="0">
                <a:solidFill>
                  <a:srgbClr val="000000"/>
                </a:solidFill>
              </a:rPr>
              <a:t>Example</a:t>
            </a:r>
            <a:endParaRPr lang="en-US" sz="2400" dirty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sz="2400" dirty="0">
                <a:solidFill>
                  <a:srgbClr val="000000"/>
                </a:solidFill>
              </a:rPr>
              <a:t>	Like a </a:t>
            </a:r>
            <a:r>
              <a:rPr lang="en-US" sz="2400" i="1" dirty="0">
                <a:solidFill>
                  <a:srgbClr val="000000"/>
                </a:solidFill>
              </a:rPr>
              <a:t>stack</a:t>
            </a:r>
            <a:r>
              <a:rPr lang="en-US" sz="2400" dirty="0">
                <a:solidFill>
                  <a:srgbClr val="000000"/>
                </a:solidFill>
              </a:rPr>
              <a:t> of pancakes serving on a plate.</a:t>
            </a:r>
          </a:p>
          <a:p>
            <a:pPr lvl="2">
              <a:lnSpc>
                <a:spcPct val="120000"/>
              </a:lnSpc>
            </a:pPr>
            <a:r>
              <a:rPr lang="en-US" sz="2400" dirty="0"/>
              <a:t>You would start eating from the top of the stack.</a:t>
            </a:r>
          </a:p>
          <a:p>
            <a:pPr lvl="2">
              <a:lnSpc>
                <a:spcPct val="120000"/>
              </a:lnSpc>
            </a:pPr>
            <a:r>
              <a:rPr lang="en-US" sz="2400" dirty="0">
                <a:solidFill>
                  <a:srgbClr val="000000"/>
                </a:solidFill>
              </a:rPr>
              <a:t>New serving of pancake, will be served on the top of the stack</a:t>
            </a:r>
          </a:p>
          <a:p>
            <a:pPr lvl="2">
              <a:lnSpc>
                <a:spcPct val="120000"/>
              </a:lnSpc>
              <a:buFont typeface="Wingdings" pitchFamily="2" charset="2"/>
              <a:buNone/>
            </a:pPr>
            <a:endParaRPr lang="en-US" sz="2400" dirty="0"/>
          </a:p>
        </p:txBody>
      </p:sp>
      <p:pic>
        <p:nvPicPr>
          <p:cNvPr id="2051" name="Picture 3" descr="C:\Users\tanail\AppData\Local\Microsoft\Windows\Temporary Internet Files\Content.IE5\6KSNL5KG\MC900281091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025" y="5932300"/>
            <a:ext cx="2638048" cy="2870498"/>
          </a:xfrm>
          <a:prstGeom prst="rect">
            <a:avLst/>
          </a:prstGeom>
          <a:noFill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294141" y="371112"/>
            <a:ext cx="5356729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en-US" b="1" kern="0" dirty="0"/>
              <a:t>Stacks</a:t>
            </a:r>
          </a:p>
        </p:txBody>
      </p:sp>
      <p:sp>
        <p:nvSpPr>
          <p:cNvPr id="6" name="8-Point Star 5"/>
          <p:cNvSpPr/>
          <p:nvPr/>
        </p:nvSpPr>
        <p:spPr>
          <a:xfrm>
            <a:off x="421929" y="309711"/>
            <a:ext cx="872211" cy="811161"/>
          </a:xfrm>
          <a:prstGeom prst="star8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en-SG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6443580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idx="1"/>
          </p:nvPr>
        </p:nvSpPr>
        <p:spPr>
          <a:xfrm>
            <a:off x="463550" y="1223169"/>
            <a:ext cx="5734050" cy="7391400"/>
          </a:xfrm>
          <a:noFill/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400" dirty="0"/>
              <a:t>Insertion and deletion of items are done at the </a:t>
            </a:r>
            <a:r>
              <a:rPr lang="en-US" sz="2400" b="1" i="1" dirty="0"/>
              <a:t>top</a:t>
            </a:r>
            <a:r>
              <a:rPr lang="en-US" sz="2400" dirty="0"/>
              <a:t> of the stack</a:t>
            </a:r>
          </a:p>
          <a:p>
            <a:pPr>
              <a:lnSpc>
                <a:spcPct val="120000"/>
              </a:lnSpc>
            </a:pPr>
            <a:r>
              <a:rPr lang="en-US" sz="2400" u="sng" dirty="0"/>
              <a:t>L</a:t>
            </a:r>
            <a:r>
              <a:rPr lang="en-US" sz="2400" dirty="0"/>
              <a:t>ast-</a:t>
            </a:r>
            <a:r>
              <a:rPr lang="en-US" sz="2400" u="sng" dirty="0"/>
              <a:t>I</a:t>
            </a:r>
            <a:r>
              <a:rPr lang="en-US" sz="2400" dirty="0"/>
              <a:t>n-</a:t>
            </a:r>
            <a:r>
              <a:rPr lang="en-US" sz="2400" u="sng" dirty="0"/>
              <a:t>F</a:t>
            </a:r>
            <a:r>
              <a:rPr lang="en-US" sz="2400" dirty="0"/>
              <a:t>irst-</a:t>
            </a:r>
            <a:r>
              <a:rPr lang="en-US" sz="2400" u="sng" dirty="0"/>
              <a:t>O</a:t>
            </a:r>
            <a:r>
              <a:rPr lang="en-US" sz="2400" dirty="0"/>
              <a:t>ut (LIFO)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Two operations - </a:t>
            </a:r>
            <a:r>
              <a:rPr lang="en-US" sz="2400" i="1" dirty="0"/>
              <a:t>push</a:t>
            </a:r>
            <a:r>
              <a:rPr lang="en-US" sz="2400" dirty="0"/>
              <a:t> &amp; </a:t>
            </a:r>
            <a:r>
              <a:rPr lang="en-US" sz="2400" i="1" dirty="0"/>
              <a:t>pop</a:t>
            </a:r>
          </a:p>
        </p:txBody>
      </p:sp>
      <p:sp>
        <p:nvSpPr>
          <p:cNvPr id="18435" name="AutoShape 3"/>
          <p:cNvSpPr>
            <a:spLocks noChangeArrowheads="1"/>
          </p:cNvSpPr>
          <p:nvPr/>
        </p:nvSpPr>
        <p:spPr bwMode="auto">
          <a:xfrm>
            <a:off x="966788" y="5741988"/>
            <a:ext cx="1066800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E</a:t>
            </a:r>
          </a:p>
        </p:txBody>
      </p:sp>
      <p:sp>
        <p:nvSpPr>
          <p:cNvPr id="18436" name="AutoShape 4"/>
          <p:cNvSpPr>
            <a:spLocks noChangeArrowheads="1"/>
          </p:cNvSpPr>
          <p:nvPr/>
        </p:nvSpPr>
        <p:spPr bwMode="auto">
          <a:xfrm>
            <a:off x="966788" y="5929313"/>
            <a:ext cx="1066800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D</a:t>
            </a:r>
          </a:p>
        </p:txBody>
      </p:sp>
      <p:sp>
        <p:nvSpPr>
          <p:cNvPr id="18437" name="AutoShape 5"/>
          <p:cNvSpPr>
            <a:spLocks noChangeArrowheads="1"/>
          </p:cNvSpPr>
          <p:nvPr/>
        </p:nvSpPr>
        <p:spPr bwMode="auto">
          <a:xfrm>
            <a:off x="966788" y="6115050"/>
            <a:ext cx="1066800" cy="188913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C</a:t>
            </a:r>
          </a:p>
        </p:txBody>
      </p:sp>
      <p:sp>
        <p:nvSpPr>
          <p:cNvPr id="18438" name="AutoShape 6"/>
          <p:cNvSpPr>
            <a:spLocks noChangeArrowheads="1"/>
          </p:cNvSpPr>
          <p:nvPr/>
        </p:nvSpPr>
        <p:spPr bwMode="auto">
          <a:xfrm>
            <a:off x="966788" y="6303963"/>
            <a:ext cx="1066800" cy="185737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B</a:t>
            </a:r>
          </a:p>
        </p:txBody>
      </p:sp>
      <p:sp>
        <p:nvSpPr>
          <p:cNvPr id="18439" name="AutoShape 7"/>
          <p:cNvSpPr>
            <a:spLocks noChangeArrowheads="1"/>
          </p:cNvSpPr>
          <p:nvPr/>
        </p:nvSpPr>
        <p:spPr bwMode="auto">
          <a:xfrm>
            <a:off x="966788" y="6489700"/>
            <a:ext cx="1066800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A</a:t>
            </a:r>
          </a:p>
        </p:txBody>
      </p:sp>
      <p:sp>
        <p:nvSpPr>
          <p:cNvPr id="18440" name="AutoShape 8"/>
          <p:cNvSpPr>
            <a:spLocks noChangeArrowheads="1"/>
          </p:cNvSpPr>
          <p:nvPr/>
        </p:nvSpPr>
        <p:spPr bwMode="auto">
          <a:xfrm>
            <a:off x="2409825" y="5741988"/>
            <a:ext cx="1068388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E</a:t>
            </a:r>
          </a:p>
        </p:txBody>
      </p:sp>
      <p:sp>
        <p:nvSpPr>
          <p:cNvPr id="18441" name="AutoShape 9"/>
          <p:cNvSpPr>
            <a:spLocks noChangeArrowheads="1"/>
          </p:cNvSpPr>
          <p:nvPr/>
        </p:nvSpPr>
        <p:spPr bwMode="auto">
          <a:xfrm>
            <a:off x="2409825" y="5929313"/>
            <a:ext cx="1068388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D</a:t>
            </a:r>
          </a:p>
        </p:txBody>
      </p:sp>
      <p:sp>
        <p:nvSpPr>
          <p:cNvPr id="18442" name="AutoShape 10"/>
          <p:cNvSpPr>
            <a:spLocks noChangeArrowheads="1"/>
          </p:cNvSpPr>
          <p:nvPr/>
        </p:nvSpPr>
        <p:spPr bwMode="auto">
          <a:xfrm>
            <a:off x="2409825" y="6115050"/>
            <a:ext cx="1068388" cy="188913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C</a:t>
            </a:r>
          </a:p>
        </p:txBody>
      </p:sp>
      <p:sp>
        <p:nvSpPr>
          <p:cNvPr id="18443" name="AutoShape 11"/>
          <p:cNvSpPr>
            <a:spLocks noChangeArrowheads="1"/>
          </p:cNvSpPr>
          <p:nvPr/>
        </p:nvSpPr>
        <p:spPr bwMode="auto">
          <a:xfrm>
            <a:off x="2409825" y="6303963"/>
            <a:ext cx="1068388" cy="185737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B</a:t>
            </a:r>
          </a:p>
        </p:txBody>
      </p:sp>
      <p:sp>
        <p:nvSpPr>
          <p:cNvPr id="18444" name="AutoShape 12"/>
          <p:cNvSpPr>
            <a:spLocks noChangeArrowheads="1"/>
          </p:cNvSpPr>
          <p:nvPr/>
        </p:nvSpPr>
        <p:spPr bwMode="auto">
          <a:xfrm>
            <a:off x="2409825" y="6489700"/>
            <a:ext cx="1068388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A</a:t>
            </a:r>
          </a:p>
        </p:txBody>
      </p:sp>
      <p:sp>
        <p:nvSpPr>
          <p:cNvPr id="18445" name="AutoShape 13"/>
          <p:cNvSpPr>
            <a:spLocks noChangeArrowheads="1"/>
          </p:cNvSpPr>
          <p:nvPr/>
        </p:nvSpPr>
        <p:spPr bwMode="auto">
          <a:xfrm>
            <a:off x="2409825" y="5272088"/>
            <a:ext cx="1068388" cy="185737"/>
          </a:xfrm>
          <a:prstGeom prst="roundRect">
            <a:avLst>
              <a:gd name="adj" fmla="val 12495"/>
            </a:avLst>
          </a:prstGeom>
          <a:solidFill>
            <a:srgbClr val="0099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G</a:t>
            </a:r>
          </a:p>
        </p:txBody>
      </p:sp>
      <p:sp>
        <p:nvSpPr>
          <p:cNvPr id="18446" name="AutoShape 14"/>
          <p:cNvSpPr>
            <a:spLocks noChangeArrowheads="1"/>
          </p:cNvSpPr>
          <p:nvPr/>
        </p:nvSpPr>
        <p:spPr bwMode="auto">
          <a:xfrm>
            <a:off x="3854450" y="5553075"/>
            <a:ext cx="1068388" cy="190500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F</a:t>
            </a:r>
          </a:p>
        </p:txBody>
      </p:sp>
      <p:sp>
        <p:nvSpPr>
          <p:cNvPr id="18447" name="AutoShape 15"/>
          <p:cNvSpPr>
            <a:spLocks noChangeArrowheads="1"/>
          </p:cNvSpPr>
          <p:nvPr/>
        </p:nvSpPr>
        <p:spPr bwMode="auto">
          <a:xfrm>
            <a:off x="3854450" y="5741988"/>
            <a:ext cx="1068388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E</a:t>
            </a:r>
          </a:p>
        </p:txBody>
      </p:sp>
      <p:sp>
        <p:nvSpPr>
          <p:cNvPr id="18448" name="AutoShape 16"/>
          <p:cNvSpPr>
            <a:spLocks noChangeArrowheads="1"/>
          </p:cNvSpPr>
          <p:nvPr/>
        </p:nvSpPr>
        <p:spPr bwMode="auto">
          <a:xfrm>
            <a:off x="3854450" y="5929313"/>
            <a:ext cx="1068388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D</a:t>
            </a:r>
          </a:p>
        </p:txBody>
      </p:sp>
      <p:sp>
        <p:nvSpPr>
          <p:cNvPr id="18449" name="AutoShape 17"/>
          <p:cNvSpPr>
            <a:spLocks noChangeArrowheads="1"/>
          </p:cNvSpPr>
          <p:nvPr/>
        </p:nvSpPr>
        <p:spPr bwMode="auto">
          <a:xfrm>
            <a:off x="3854450" y="6115050"/>
            <a:ext cx="1068388" cy="188913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C</a:t>
            </a:r>
          </a:p>
        </p:txBody>
      </p:sp>
      <p:sp>
        <p:nvSpPr>
          <p:cNvPr id="18450" name="AutoShape 18"/>
          <p:cNvSpPr>
            <a:spLocks noChangeArrowheads="1"/>
          </p:cNvSpPr>
          <p:nvPr/>
        </p:nvSpPr>
        <p:spPr bwMode="auto">
          <a:xfrm>
            <a:off x="3854450" y="6303963"/>
            <a:ext cx="1068388" cy="185737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B</a:t>
            </a:r>
          </a:p>
        </p:txBody>
      </p:sp>
      <p:sp>
        <p:nvSpPr>
          <p:cNvPr id="18451" name="AutoShape 19"/>
          <p:cNvSpPr>
            <a:spLocks noChangeArrowheads="1"/>
          </p:cNvSpPr>
          <p:nvPr/>
        </p:nvSpPr>
        <p:spPr bwMode="auto">
          <a:xfrm>
            <a:off x="3854450" y="6489700"/>
            <a:ext cx="1068388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A</a:t>
            </a:r>
          </a:p>
        </p:txBody>
      </p:sp>
      <p:sp>
        <p:nvSpPr>
          <p:cNvPr id="18452" name="AutoShape 20"/>
          <p:cNvSpPr>
            <a:spLocks noChangeArrowheads="1"/>
          </p:cNvSpPr>
          <p:nvPr/>
        </p:nvSpPr>
        <p:spPr bwMode="auto">
          <a:xfrm>
            <a:off x="5251450" y="5553075"/>
            <a:ext cx="1066800" cy="190500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F</a:t>
            </a:r>
          </a:p>
        </p:txBody>
      </p:sp>
      <p:sp>
        <p:nvSpPr>
          <p:cNvPr id="18453" name="AutoShape 21"/>
          <p:cNvSpPr>
            <a:spLocks noChangeArrowheads="1"/>
          </p:cNvSpPr>
          <p:nvPr/>
        </p:nvSpPr>
        <p:spPr bwMode="auto">
          <a:xfrm>
            <a:off x="5251450" y="5741988"/>
            <a:ext cx="1066800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E</a:t>
            </a:r>
          </a:p>
        </p:txBody>
      </p:sp>
      <p:sp>
        <p:nvSpPr>
          <p:cNvPr id="18454" name="AutoShape 22"/>
          <p:cNvSpPr>
            <a:spLocks noChangeArrowheads="1"/>
          </p:cNvSpPr>
          <p:nvPr/>
        </p:nvSpPr>
        <p:spPr bwMode="auto">
          <a:xfrm>
            <a:off x="5251450" y="5929313"/>
            <a:ext cx="1066800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D</a:t>
            </a:r>
          </a:p>
        </p:txBody>
      </p:sp>
      <p:sp>
        <p:nvSpPr>
          <p:cNvPr id="18455" name="AutoShape 23"/>
          <p:cNvSpPr>
            <a:spLocks noChangeArrowheads="1"/>
          </p:cNvSpPr>
          <p:nvPr/>
        </p:nvSpPr>
        <p:spPr bwMode="auto">
          <a:xfrm>
            <a:off x="5251450" y="6115050"/>
            <a:ext cx="1066800" cy="188913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C</a:t>
            </a:r>
          </a:p>
        </p:txBody>
      </p:sp>
      <p:sp>
        <p:nvSpPr>
          <p:cNvPr id="18456" name="AutoShape 24"/>
          <p:cNvSpPr>
            <a:spLocks noChangeArrowheads="1"/>
          </p:cNvSpPr>
          <p:nvPr/>
        </p:nvSpPr>
        <p:spPr bwMode="auto">
          <a:xfrm>
            <a:off x="5251450" y="6303963"/>
            <a:ext cx="1066800" cy="185737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B</a:t>
            </a:r>
          </a:p>
        </p:txBody>
      </p:sp>
      <p:sp>
        <p:nvSpPr>
          <p:cNvPr id="18457" name="AutoShape 25"/>
          <p:cNvSpPr>
            <a:spLocks noChangeArrowheads="1"/>
          </p:cNvSpPr>
          <p:nvPr/>
        </p:nvSpPr>
        <p:spPr bwMode="auto">
          <a:xfrm>
            <a:off x="5251450" y="6489700"/>
            <a:ext cx="1066800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A</a:t>
            </a:r>
          </a:p>
        </p:txBody>
      </p:sp>
      <p:sp>
        <p:nvSpPr>
          <p:cNvPr id="18458" name="AutoShape 26"/>
          <p:cNvSpPr>
            <a:spLocks noChangeArrowheads="1"/>
          </p:cNvSpPr>
          <p:nvPr/>
        </p:nvSpPr>
        <p:spPr bwMode="auto">
          <a:xfrm>
            <a:off x="1370013" y="4789488"/>
            <a:ext cx="227012" cy="604837"/>
          </a:xfrm>
          <a:prstGeom prst="downArrow">
            <a:avLst>
              <a:gd name="adj1" fmla="val 50000"/>
              <a:gd name="adj2" fmla="val 13322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59" name="AutoShape 27"/>
          <p:cNvSpPr>
            <a:spLocks noChangeArrowheads="1"/>
          </p:cNvSpPr>
          <p:nvPr/>
        </p:nvSpPr>
        <p:spPr bwMode="auto">
          <a:xfrm>
            <a:off x="2816225" y="4645025"/>
            <a:ext cx="227013" cy="604838"/>
          </a:xfrm>
          <a:prstGeom prst="downArrow">
            <a:avLst>
              <a:gd name="adj1" fmla="val 50000"/>
              <a:gd name="adj2" fmla="val 13322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60" name="AutoShape 28"/>
          <p:cNvSpPr>
            <a:spLocks noChangeArrowheads="1"/>
          </p:cNvSpPr>
          <p:nvPr/>
        </p:nvSpPr>
        <p:spPr bwMode="auto">
          <a:xfrm>
            <a:off x="5607050" y="4503738"/>
            <a:ext cx="274638" cy="555625"/>
          </a:xfrm>
          <a:prstGeom prst="upArrow">
            <a:avLst>
              <a:gd name="adj1" fmla="val 50000"/>
              <a:gd name="adj2" fmla="val 10114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61" name="AutoShape 29"/>
          <p:cNvSpPr>
            <a:spLocks noChangeArrowheads="1"/>
          </p:cNvSpPr>
          <p:nvPr/>
        </p:nvSpPr>
        <p:spPr bwMode="auto">
          <a:xfrm>
            <a:off x="3854450" y="5367338"/>
            <a:ext cx="1068388" cy="185737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G</a:t>
            </a:r>
          </a:p>
        </p:txBody>
      </p:sp>
      <p:sp>
        <p:nvSpPr>
          <p:cNvPr id="18462" name="AutoShape 30"/>
          <p:cNvSpPr>
            <a:spLocks noChangeArrowheads="1"/>
          </p:cNvSpPr>
          <p:nvPr/>
        </p:nvSpPr>
        <p:spPr bwMode="auto">
          <a:xfrm>
            <a:off x="2409825" y="5553075"/>
            <a:ext cx="1068388" cy="190500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F</a:t>
            </a:r>
          </a:p>
        </p:txBody>
      </p:sp>
      <p:sp>
        <p:nvSpPr>
          <p:cNvPr id="18463" name="AutoShape 31"/>
          <p:cNvSpPr>
            <a:spLocks noChangeArrowheads="1"/>
          </p:cNvSpPr>
          <p:nvPr/>
        </p:nvSpPr>
        <p:spPr bwMode="auto">
          <a:xfrm>
            <a:off x="966788" y="5459413"/>
            <a:ext cx="1066800" cy="187325"/>
          </a:xfrm>
          <a:prstGeom prst="roundRect">
            <a:avLst>
              <a:gd name="adj" fmla="val 12495"/>
            </a:avLst>
          </a:prstGeom>
          <a:solidFill>
            <a:srgbClr val="0099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F</a:t>
            </a:r>
          </a:p>
        </p:txBody>
      </p:sp>
      <p:sp>
        <p:nvSpPr>
          <p:cNvPr id="18464" name="AutoShape 32"/>
          <p:cNvSpPr>
            <a:spLocks noChangeArrowheads="1"/>
          </p:cNvSpPr>
          <p:nvPr/>
        </p:nvSpPr>
        <p:spPr bwMode="auto">
          <a:xfrm>
            <a:off x="5251450" y="5130800"/>
            <a:ext cx="1066800" cy="185738"/>
          </a:xfrm>
          <a:prstGeom prst="roundRect">
            <a:avLst>
              <a:gd name="adj" fmla="val 12495"/>
            </a:avLst>
          </a:prstGeom>
          <a:solidFill>
            <a:srgbClr val="0099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 sz="1800">
                <a:latin typeface="Times New Roman" pitchFamily="18" charset="0"/>
              </a:rPr>
              <a:t>G</a:t>
            </a:r>
          </a:p>
        </p:txBody>
      </p:sp>
      <p:sp>
        <p:nvSpPr>
          <p:cNvPr id="33" name="Rectangle 2"/>
          <p:cNvSpPr>
            <a:spLocks noGrp="1" noChangeArrowheads="1"/>
          </p:cNvSpPr>
          <p:nvPr>
            <p:ph type="title"/>
          </p:nvPr>
        </p:nvSpPr>
        <p:spPr>
          <a:xfrm>
            <a:off x="463550" y="322263"/>
            <a:ext cx="6048375" cy="790575"/>
          </a:xfrm>
        </p:spPr>
        <p:txBody>
          <a:bodyPr/>
          <a:lstStyle/>
          <a:p>
            <a:pPr eaLnBrk="1" hangingPunct="1"/>
            <a:r>
              <a:rPr lang="en-US" dirty="0"/>
              <a:t>Stacks – Push &amp; Pop</a:t>
            </a:r>
          </a:p>
        </p:txBody>
      </p:sp>
    </p:spTree>
    <p:extLst>
      <p:ext uri="{BB962C8B-B14F-4D97-AF65-F5344CB8AC3E}">
        <p14:creationId xmlns:p14="http://schemas.microsoft.com/office/powerpoint/2010/main" val="318506918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304924"/>
            <a:ext cx="5810250" cy="6924675"/>
          </a:xfrm>
          <a:noFill/>
          <a:ln/>
        </p:spPr>
        <p:txBody>
          <a:bodyPr/>
          <a:lstStyle/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400" b="1" dirty="0"/>
              <a:t>Push( )</a:t>
            </a:r>
            <a:r>
              <a:rPr lang="en-US" sz="2400" dirty="0"/>
              <a:t> 	</a:t>
            </a:r>
            <a:r>
              <a:rPr lang="en-GB" sz="2400" dirty="0"/>
              <a:t>	</a:t>
            </a:r>
            <a:r>
              <a:rPr lang="en-US" sz="2400" dirty="0"/>
              <a:t>- place an item on </a:t>
            </a:r>
            <a:r>
              <a:rPr lang="en-GB" sz="2400" dirty="0"/>
              <a:t>the</a:t>
            </a:r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2400" dirty="0"/>
              <a:t>		   </a:t>
            </a:r>
            <a:r>
              <a:rPr lang="en-US" sz="2400" dirty="0"/>
              <a:t>top of</a:t>
            </a:r>
            <a:r>
              <a:rPr lang="en-GB" sz="2400" dirty="0"/>
              <a:t> the </a:t>
            </a:r>
            <a:r>
              <a:rPr lang="en-US" sz="2400" dirty="0"/>
              <a:t>stack</a:t>
            </a:r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 b="1" dirty="0"/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400" b="1" dirty="0"/>
              <a:t>Pop(</a:t>
            </a:r>
            <a:r>
              <a:rPr lang="en-GB" sz="2400" b="1" dirty="0"/>
              <a:t> </a:t>
            </a:r>
            <a:r>
              <a:rPr lang="en-US" sz="2400" b="1" dirty="0"/>
              <a:t>)</a:t>
            </a:r>
            <a:r>
              <a:rPr lang="en-US" sz="2400" dirty="0"/>
              <a:t>		- remove the item from </a:t>
            </a:r>
            <a:r>
              <a:rPr lang="en-GB" sz="2400" dirty="0"/>
              <a:t>the</a:t>
            </a:r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2400" dirty="0"/>
              <a:t>		   </a:t>
            </a:r>
            <a:r>
              <a:rPr lang="en-US" sz="2400" dirty="0"/>
              <a:t>top</a:t>
            </a:r>
            <a:r>
              <a:rPr lang="en-GB" sz="2400" dirty="0"/>
              <a:t> </a:t>
            </a:r>
            <a:r>
              <a:rPr lang="en-US" sz="2400" dirty="0"/>
              <a:t>of </a:t>
            </a:r>
            <a:r>
              <a:rPr lang="en-GB" sz="2400" dirty="0"/>
              <a:t>the </a:t>
            </a:r>
            <a:r>
              <a:rPr lang="en-US" sz="2400" dirty="0"/>
              <a:t>stack</a:t>
            </a:r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 b="1" dirty="0"/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400" b="1" dirty="0"/>
              <a:t>Count	</a:t>
            </a:r>
            <a:r>
              <a:rPr lang="en-GB" sz="2400" dirty="0"/>
              <a:t>	</a:t>
            </a:r>
            <a:r>
              <a:rPr lang="en-US" sz="2400" dirty="0"/>
              <a:t>- get the number of  </a:t>
            </a:r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400" dirty="0"/>
              <a:t> 	   elements in the stack</a:t>
            </a:r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sz="2400" b="1" dirty="0"/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2400" b="1" dirty="0"/>
              <a:t>Clear( ) </a:t>
            </a:r>
            <a:r>
              <a:rPr lang="en-GB" sz="2400" dirty="0"/>
              <a:t>	-  removes all elements in  </a:t>
            </a:r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2400" dirty="0"/>
              <a:t> 	   the stack.</a:t>
            </a:r>
            <a:endParaRPr lang="en-US" sz="2400" dirty="0"/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 dirty="0"/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400" b="1" dirty="0"/>
              <a:t>Peek( )	</a:t>
            </a:r>
            <a:r>
              <a:rPr lang="en-US" sz="2400" dirty="0"/>
              <a:t>	- return the value of top</a:t>
            </a:r>
            <a:endParaRPr lang="en-GB" sz="2400" dirty="0"/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2400" dirty="0"/>
              <a:t>		   </a:t>
            </a:r>
            <a:r>
              <a:rPr lang="en-US" sz="2400" dirty="0"/>
              <a:t>item</a:t>
            </a:r>
            <a:r>
              <a:rPr lang="en-GB" sz="2400" dirty="0"/>
              <a:t> </a:t>
            </a:r>
            <a:r>
              <a:rPr lang="en-US" sz="2400" dirty="0"/>
              <a:t>without removing it</a:t>
            </a:r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sz="2400" dirty="0"/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2400" i="1" dirty="0"/>
              <a:t>(go to self-study materials for a full list of </a:t>
            </a:r>
          </a:p>
          <a:p>
            <a:pPr marL="1790700" indent="-17907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2400" i="1" dirty="0"/>
              <a:t>stack operations)</a:t>
            </a:r>
            <a:endParaRPr lang="en-US" sz="2400" i="1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63550" y="85725"/>
            <a:ext cx="6048375" cy="1027114"/>
          </a:xfrm>
        </p:spPr>
        <p:txBody>
          <a:bodyPr/>
          <a:lstStyle/>
          <a:p>
            <a:pPr eaLnBrk="1" hangingPunct="1"/>
            <a:r>
              <a:rPr lang="en-US" sz="2800" dirty="0"/>
              <a:t>Stacks –</a:t>
            </a:r>
            <a:br>
              <a:rPr lang="en-US" dirty="0"/>
            </a:br>
            <a:r>
              <a:rPr lang="en-US" dirty="0"/>
              <a:t>Methods &amp; Properties</a:t>
            </a:r>
          </a:p>
        </p:txBody>
      </p:sp>
    </p:spTree>
    <p:extLst>
      <p:ext uri="{BB962C8B-B14F-4D97-AF65-F5344CB8AC3E}">
        <p14:creationId xmlns:p14="http://schemas.microsoft.com/office/powerpoint/2010/main" val="316620160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AutoShape 3"/>
          <p:cNvSpPr>
            <a:spLocks noChangeArrowheads="1"/>
          </p:cNvSpPr>
          <p:nvPr/>
        </p:nvSpPr>
        <p:spPr bwMode="auto">
          <a:xfrm>
            <a:off x="738188" y="2868613"/>
            <a:ext cx="1066800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E</a:t>
            </a:r>
          </a:p>
        </p:txBody>
      </p:sp>
      <p:sp>
        <p:nvSpPr>
          <p:cNvPr id="20484" name="AutoShape 4"/>
          <p:cNvSpPr>
            <a:spLocks noChangeArrowheads="1"/>
          </p:cNvSpPr>
          <p:nvPr/>
        </p:nvSpPr>
        <p:spPr bwMode="auto">
          <a:xfrm>
            <a:off x="738188" y="3055938"/>
            <a:ext cx="1066800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D</a:t>
            </a:r>
          </a:p>
        </p:txBody>
      </p:sp>
      <p:sp>
        <p:nvSpPr>
          <p:cNvPr id="20485" name="AutoShape 5"/>
          <p:cNvSpPr>
            <a:spLocks noChangeArrowheads="1"/>
          </p:cNvSpPr>
          <p:nvPr/>
        </p:nvSpPr>
        <p:spPr bwMode="auto">
          <a:xfrm>
            <a:off x="738188" y="3241675"/>
            <a:ext cx="1066800" cy="188913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C</a:t>
            </a:r>
          </a:p>
        </p:txBody>
      </p:sp>
      <p:sp>
        <p:nvSpPr>
          <p:cNvPr id="20486" name="AutoShape 6"/>
          <p:cNvSpPr>
            <a:spLocks noChangeArrowheads="1"/>
          </p:cNvSpPr>
          <p:nvPr/>
        </p:nvSpPr>
        <p:spPr bwMode="auto">
          <a:xfrm>
            <a:off x="738188" y="3430588"/>
            <a:ext cx="1066800" cy="185737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B</a:t>
            </a:r>
          </a:p>
        </p:txBody>
      </p:sp>
      <p:sp>
        <p:nvSpPr>
          <p:cNvPr id="20487" name="AutoShape 7"/>
          <p:cNvSpPr>
            <a:spLocks noChangeArrowheads="1"/>
          </p:cNvSpPr>
          <p:nvPr/>
        </p:nvSpPr>
        <p:spPr bwMode="auto">
          <a:xfrm>
            <a:off x="738188" y="3616325"/>
            <a:ext cx="1066800" cy="188913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A</a:t>
            </a:r>
          </a:p>
        </p:txBody>
      </p:sp>
      <p:sp>
        <p:nvSpPr>
          <p:cNvPr id="20488" name="AutoShape 8"/>
          <p:cNvSpPr>
            <a:spLocks noChangeArrowheads="1"/>
          </p:cNvSpPr>
          <p:nvPr/>
        </p:nvSpPr>
        <p:spPr bwMode="auto">
          <a:xfrm>
            <a:off x="2181225" y="2868613"/>
            <a:ext cx="1068388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E</a:t>
            </a:r>
          </a:p>
        </p:txBody>
      </p:sp>
      <p:sp>
        <p:nvSpPr>
          <p:cNvPr id="20489" name="AutoShape 9"/>
          <p:cNvSpPr>
            <a:spLocks noChangeArrowheads="1"/>
          </p:cNvSpPr>
          <p:nvPr/>
        </p:nvSpPr>
        <p:spPr bwMode="auto">
          <a:xfrm>
            <a:off x="2181225" y="3055938"/>
            <a:ext cx="1068388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D</a:t>
            </a:r>
          </a:p>
        </p:txBody>
      </p:sp>
      <p:sp>
        <p:nvSpPr>
          <p:cNvPr id="20490" name="AutoShape 10"/>
          <p:cNvSpPr>
            <a:spLocks noChangeArrowheads="1"/>
          </p:cNvSpPr>
          <p:nvPr/>
        </p:nvSpPr>
        <p:spPr bwMode="auto">
          <a:xfrm>
            <a:off x="2181225" y="3241675"/>
            <a:ext cx="1068388" cy="188913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C</a:t>
            </a:r>
          </a:p>
        </p:txBody>
      </p:sp>
      <p:sp>
        <p:nvSpPr>
          <p:cNvPr id="20491" name="AutoShape 11"/>
          <p:cNvSpPr>
            <a:spLocks noChangeArrowheads="1"/>
          </p:cNvSpPr>
          <p:nvPr/>
        </p:nvSpPr>
        <p:spPr bwMode="auto">
          <a:xfrm>
            <a:off x="2181225" y="3430588"/>
            <a:ext cx="1068388" cy="185737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B</a:t>
            </a:r>
          </a:p>
        </p:txBody>
      </p:sp>
      <p:sp>
        <p:nvSpPr>
          <p:cNvPr id="20492" name="AutoShape 12"/>
          <p:cNvSpPr>
            <a:spLocks noChangeArrowheads="1"/>
          </p:cNvSpPr>
          <p:nvPr/>
        </p:nvSpPr>
        <p:spPr bwMode="auto">
          <a:xfrm>
            <a:off x="2181225" y="3616325"/>
            <a:ext cx="1068388" cy="188913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A</a:t>
            </a:r>
          </a:p>
        </p:txBody>
      </p:sp>
      <p:sp>
        <p:nvSpPr>
          <p:cNvPr id="20493" name="AutoShape 13"/>
          <p:cNvSpPr>
            <a:spLocks noChangeArrowheads="1"/>
          </p:cNvSpPr>
          <p:nvPr/>
        </p:nvSpPr>
        <p:spPr bwMode="auto">
          <a:xfrm>
            <a:off x="2181225" y="2397125"/>
            <a:ext cx="1068388" cy="188913"/>
          </a:xfrm>
          <a:prstGeom prst="roundRect">
            <a:avLst>
              <a:gd name="adj" fmla="val 12495"/>
            </a:avLst>
          </a:prstGeom>
          <a:solidFill>
            <a:srgbClr val="0099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G</a:t>
            </a:r>
          </a:p>
        </p:txBody>
      </p:sp>
      <p:sp>
        <p:nvSpPr>
          <p:cNvPr id="20494" name="AutoShape 14"/>
          <p:cNvSpPr>
            <a:spLocks noChangeArrowheads="1"/>
          </p:cNvSpPr>
          <p:nvPr/>
        </p:nvSpPr>
        <p:spPr bwMode="auto">
          <a:xfrm>
            <a:off x="3625850" y="2681288"/>
            <a:ext cx="1068388" cy="188912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F</a:t>
            </a:r>
          </a:p>
        </p:txBody>
      </p:sp>
      <p:sp>
        <p:nvSpPr>
          <p:cNvPr id="20495" name="AutoShape 15"/>
          <p:cNvSpPr>
            <a:spLocks noChangeArrowheads="1"/>
          </p:cNvSpPr>
          <p:nvPr/>
        </p:nvSpPr>
        <p:spPr bwMode="auto">
          <a:xfrm>
            <a:off x="3625850" y="2868613"/>
            <a:ext cx="1068388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E</a:t>
            </a:r>
          </a:p>
        </p:txBody>
      </p:sp>
      <p:sp>
        <p:nvSpPr>
          <p:cNvPr id="20496" name="AutoShape 16"/>
          <p:cNvSpPr>
            <a:spLocks noChangeArrowheads="1"/>
          </p:cNvSpPr>
          <p:nvPr/>
        </p:nvSpPr>
        <p:spPr bwMode="auto">
          <a:xfrm>
            <a:off x="3625850" y="3055938"/>
            <a:ext cx="1068388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D</a:t>
            </a:r>
          </a:p>
        </p:txBody>
      </p:sp>
      <p:sp>
        <p:nvSpPr>
          <p:cNvPr id="20497" name="AutoShape 17"/>
          <p:cNvSpPr>
            <a:spLocks noChangeArrowheads="1"/>
          </p:cNvSpPr>
          <p:nvPr/>
        </p:nvSpPr>
        <p:spPr bwMode="auto">
          <a:xfrm>
            <a:off x="3625850" y="3241675"/>
            <a:ext cx="1068388" cy="188913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C</a:t>
            </a:r>
          </a:p>
        </p:txBody>
      </p:sp>
      <p:sp>
        <p:nvSpPr>
          <p:cNvPr id="20498" name="AutoShape 18"/>
          <p:cNvSpPr>
            <a:spLocks noChangeArrowheads="1"/>
          </p:cNvSpPr>
          <p:nvPr/>
        </p:nvSpPr>
        <p:spPr bwMode="auto">
          <a:xfrm>
            <a:off x="3625850" y="3430588"/>
            <a:ext cx="1068388" cy="185737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B</a:t>
            </a:r>
          </a:p>
        </p:txBody>
      </p:sp>
      <p:sp>
        <p:nvSpPr>
          <p:cNvPr id="20499" name="AutoShape 19"/>
          <p:cNvSpPr>
            <a:spLocks noChangeArrowheads="1"/>
          </p:cNvSpPr>
          <p:nvPr/>
        </p:nvSpPr>
        <p:spPr bwMode="auto">
          <a:xfrm>
            <a:off x="3625850" y="3616325"/>
            <a:ext cx="1068388" cy="188913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A</a:t>
            </a:r>
          </a:p>
        </p:txBody>
      </p:sp>
      <p:sp>
        <p:nvSpPr>
          <p:cNvPr id="20500" name="AutoShape 20"/>
          <p:cNvSpPr>
            <a:spLocks noChangeArrowheads="1"/>
          </p:cNvSpPr>
          <p:nvPr/>
        </p:nvSpPr>
        <p:spPr bwMode="auto">
          <a:xfrm>
            <a:off x="5022850" y="2681288"/>
            <a:ext cx="1066800" cy="188912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F</a:t>
            </a:r>
          </a:p>
        </p:txBody>
      </p:sp>
      <p:sp>
        <p:nvSpPr>
          <p:cNvPr id="20501" name="AutoShape 21"/>
          <p:cNvSpPr>
            <a:spLocks noChangeArrowheads="1"/>
          </p:cNvSpPr>
          <p:nvPr/>
        </p:nvSpPr>
        <p:spPr bwMode="auto">
          <a:xfrm>
            <a:off x="5022850" y="2868613"/>
            <a:ext cx="1066800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E</a:t>
            </a:r>
          </a:p>
        </p:txBody>
      </p:sp>
      <p:sp>
        <p:nvSpPr>
          <p:cNvPr id="20502" name="AutoShape 22"/>
          <p:cNvSpPr>
            <a:spLocks noChangeArrowheads="1"/>
          </p:cNvSpPr>
          <p:nvPr/>
        </p:nvSpPr>
        <p:spPr bwMode="auto">
          <a:xfrm>
            <a:off x="5022850" y="3055938"/>
            <a:ext cx="1066800" cy="187325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D</a:t>
            </a:r>
          </a:p>
        </p:txBody>
      </p:sp>
      <p:sp>
        <p:nvSpPr>
          <p:cNvPr id="20503" name="AutoShape 23"/>
          <p:cNvSpPr>
            <a:spLocks noChangeArrowheads="1"/>
          </p:cNvSpPr>
          <p:nvPr/>
        </p:nvSpPr>
        <p:spPr bwMode="auto">
          <a:xfrm>
            <a:off x="5022850" y="3241675"/>
            <a:ext cx="1066800" cy="188913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C</a:t>
            </a:r>
          </a:p>
        </p:txBody>
      </p:sp>
      <p:sp>
        <p:nvSpPr>
          <p:cNvPr id="20504" name="AutoShape 24"/>
          <p:cNvSpPr>
            <a:spLocks noChangeArrowheads="1"/>
          </p:cNvSpPr>
          <p:nvPr/>
        </p:nvSpPr>
        <p:spPr bwMode="auto">
          <a:xfrm>
            <a:off x="5022850" y="3430588"/>
            <a:ext cx="1066800" cy="185737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B</a:t>
            </a:r>
          </a:p>
        </p:txBody>
      </p:sp>
      <p:sp>
        <p:nvSpPr>
          <p:cNvPr id="20505" name="AutoShape 25"/>
          <p:cNvSpPr>
            <a:spLocks noChangeArrowheads="1"/>
          </p:cNvSpPr>
          <p:nvPr/>
        </p:nvSpPr>
        <p:spPr bwMode="auto">
          <a:xfrm>
            <a:off x="5022850" y="3616325"/>
            <a:ext cx="1066800" cy="188913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A</a:t>
            </a:r>
          </a:p>
        </p:txBody>
      </p:sp>
      <p:sp>
        <p:nvSpPr>
          <p:cNvPr id="20506" name="AutoShape 26"/>
          <p:cNvSpPr>
            <a:spLocks noChangeArrowheads="1"/>
          </p:cNvSpPr>
          <p:nvPr/>
        </p:nvSpPr>
        <p:spPr bwMode="auto">
          <a:xfrm>
            <a:off x="1141413" y="1914525"/>
            <a:ext cx="227012" cy="604838"/>
          </a:xfrm>
          <a:prstGeom prst="downArrow">
            <a:avLst>
              <a:gd name="adj1" fmla="val 50000"/>
              <a:gd name="adj2" fmla="val 13323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07" name="AutoShape 27"/>
          <p:cNvSpPr>
            <a:spLocks noChangeArrowheads="1"/>
          </p:cNvSpPr>
          <p:nvPr/>
        </p:nvSpPr>
        <p:spPr bwMode="auto">
          <a:xfrm>
            <a:off x="2587625" y="1770063"/>
            <a:ext cx="227013" cy="606425"/>
          </a:xfrm>
          <a:prstGeom prst="downArrow">
            <a:avLst>
              <a:gd name="adj1" fmla="val 50000"/>
              <a:gd name="adj2" fmla="val 13357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08" name="AutoShape 28"/>
          <p:cNvSpPr>
            <a:spLocks noChangeArrowheads="1"/>
          </p:cNvSpPr>
          <p:nvPr/>
        </p:nvSpPr>
        <p:spPr bwMode="auto">
          <a:xfrm>
            <a:off x="5378450" y="1628775"/>
            <a:ext cx="274638" cy="557213"/>
          </a:xfrm>
          <a:prstGeom prst="upArrow">
            <a:avLst>
              <a:gd name="adj1" fmla="val 50000"/>
              <a:gd name="adj2" fmla="val 101436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09" name="AutoShape 29"/>
          <p:cNvSpPr>
            <a:spLocks noChangeArrowheads="1"/>
          </p:cNvSpPr>
          <p:nvPr/>
        </p:nvSpPr>
        <p:spPr bwMode="auto">
          <a:xfrm>
            <a:off x="3625850" y="2492375"/>
            <a:ext cx="1068388" cy="188913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G</a:t>
            </a:r>
          </a:p>
        </p:txBody>
      </p:sp>
      <p:sp>
        <p:nvSpPr>
          <p:cNvPr id="20510" name="AutoShape 30"/>
          <p:cNvSpPr>
            <a:spLocks noChangeArrowheads="1"/>
          </p:cNvSpPr>
          <p:nvPr/>
        </p:nvSpPr>
        <p:spPr bwMode="auto">
          <a:xfrm>
            <a:off x="2181225" y="2681288"/>
            <a:ext cx="1068388" cy="188912"/>
          </a:xfrm>
          <a:prstGeom prst="roundRect">
            <a:avLst>
              <a:gd name="adj" fmla="val 12495"/>
            </a:avLst>
          </a:prstGeom>
          <a:solidFill>
            <a:srgbClr val="66FF33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F</a:t>
            </a:r>
          </a:p>
        </p:txBody>
      </p:sp>
      <p:sp>
        <p:nvSpPr>
          <p:cNvPr id="20511" name="AutoShape 31"/>
          <p:cNvSpPr>
            <a:spLocks noChangeArrowheads="1"/>
          </p:cNvSpPr>
          <p:nvPr/>
        </p:nvSpPr>
        <p:spPr bwMode="auto">
          <a:xfrm>
            <a:off x="738188" y="2587625"/>
            <a:ext cx="1066800" cy="185738"/>
          </a:xfrm>
          <a:prstGeom prst="roundRect">
            <a:avLst>
              <a:gd name="adj" fmla="val 12495"/>
            </a:avLst>
          </a:prstGeom>
          <a:solidFill>
            <a:srgbClr val="0099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F</a:t>
            </a:r>
          </a:p>
        </p:txBody>
      </p:sp>
      <p:sp>
        <p:nvSpPr>
          <p:cNvPr id="20512" name="AutoShape 32"/>
          <p:cNvSpPr>
            <a:spLocks noChangeArrowheads="1"/>
          </p:cNvSpPr>
          <p:nvPr/>
        </p:nvSpPr>
        <p:spPr bwMode="auto">
          <a:xfrm>
            <a:off x="5022850" y="2255838"/>
            <a:ext cx="1066800" cy="185737"/>
          </a:xfrm>
          <a:prstGeom prst="roundRect">
            <a:avLst>
              <a:gd name="adj" fmla="val 12495"/>
            </a:avLst>
          </a:prstGeom>
          <a:solidFill>
            <a:srgbClr val="0099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r>
              <a:rPr lang="en-US">
                <a:latin typeface="Times New Roman" pitchFamily="18" charset="0"/>
              </a:rPr>
              <a:t>G</a:t>
            </a:r>
          </a:p>
        </p:txBody>
      </p:sp>
      <p:sp>
        <p:nvSpPr>
          <p:cNvPr id="20513" name="Rectangle 33"/>
          <p:cNvSpPr>
            <a:spLocks noChangeArrowheads="1"/>
          </p:cNvSpPr>
          <p:nvPr/>
        </p:nvSpPr>
        <p:spPr bwMode="auto">
          <a:xfrm>
            <a:off x="692150" y="4067175"/>
            <a:ext cx="5822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l"/>
            <a:r>
              <a:rPr lang="en-GB" sz="2400" b="0">
                <a:solidFill>
                  <a:srgbClr val="000000"/>
                </a:solidFill>
              </a:rPr>
              <a:t>P</a:t>
            </a:r>
            <a:r>
              <a:rPr lang="en-US" sz="2400" b="0">
                <a:solidFill>
                  <a:srgbClr val="000000"/>
                </a:solidFill>
              </a:rPr>
              <a:t>ush</a:t>
            </a:r>
            <a:r>
              <a:rPr lang="en-GB" sz="2400" b="0">
                <a:solidFill>
                  <a:srgbClr val="000000"/>
                </a:solidFill>
              </a:rPr>
              <a:t>(</a:t>
            </a:r>
            <a:r>
              <a:rPr lang="en-US" sz="2400" b="0">
                <a:solidFill>
                  <a:srgbClr val="000000"/>
                </a:solidFill>
              </a:rPr>
              <a:t>’F’);   Push(’G’);   f=full();    i=Pop();</a:t>
            </a:r>
          </a:p>
        </p:txBody>
      </p:sp>
      <p:sp>
        <p:nvSpPr>
          <p:cNvPr id="20515" name="Text Box 35"/>
          <p:cNvSpPr txBox="1">
            <a:spLocks noChangeArrowheads="1"/>
          </p:cNvSpPr>
          <p:nvPr/>
        </p:nvSpPr>
        <p:spPr bwMode="auto">
          <a:xfrm>
            <a:off x="836613" y="5170488"/>
            <a:ext cx="5113337" cy="3095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endParaRPr lang="en-GB"/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3550" y="322263"/>
            <a:ext cx="6048375" cy="790575"/>
          </a:xfrm>
        </p:spPr>
        <p:txBody>
          <a:bodyPr/>
          <a:lstStyle/>
          <a:p>
            <a:pPr eaLnBrk="1" hangingPunct="1"/>
            <a:r>
              <a:rPr lang="en-US" dirty="0"/>
              <a:t>Stacks – Push &amp; Pop</a:t>
            </a:r>
          </a:p>
        </p:txBody>
      </p:sp>
    </p:spTree>
    <p:extLst>
      <p:ext uri="{BB962C8B-B14F-4D97-AF65-F5344CB8AC3E}">
        <p14:creationId xmlns:p14="http://schemas.microsoft.com/office/powerpoint/2010/main" val="271875541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1100"/>
            <a:ext cx="6038850" cy="6913563"/>
          </a:xfrm>
        </p:spPr>
        <p:txBody>
          <a:bodyPr/>
          <a:lstStyle/>
          <a:p>
            <a:pPr>
              <a:buNone/>
            </a:pPr>
            <a:r>
              <a:rPr lang="en-US" sz="2800" dirty="0"/>
              <a:t>About Stack Object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Visit the online MSDN library</a:t>
            </a:r>
          </a:p>
          <a:p>
            <a:pPr>
              <a:buNone/>
            </a:pPr>
            <a:r>
              <a:rPr lang="en-US" dirty="0">
                <a:hlinkClick r:id="rId2"/>
              </a:rPr>
              <a:t>http://msdn.microsoft.com/en-us/library/system.collections.stack.aspx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List the Stack Class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Members, Methods and Properties</a:t>
            </a:r>
            <a:endParaRPr lang="en-US" dirty="0">
              <a:hlinkClick r:id="rId3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MSDN website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549281" y="5245366"/>
            <a:ext cx="6089644" cy="1162577"/>
          </a:xfrm>
          <a:prstGeom prst="wedgeRoundRectCallout">
            <a:avLst>
              <a:gd name="adj1" fmla="val -22300"/>
              <a:gd name="adj2" fmla="val -109576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2000" dirty="0">
                <a:solidFill>
                  <a:schemeClr val="tx1"/>
                </a:solidFill>
              </a:rPr>
              <a:t>Visit the Stack Class Object and learn about its method and properties</a:t>
            </a:r>
            <a:endParaRPr lang="en-SG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83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idx="1"/>
          </p:nvPr>
        </p:nvSpPr>
        <p:spPr>
          <a:xfrm>
            <a:off x="404813" y="1200150"/>
            <a:ext cx="6048375" cy="6946900"/>
          </a:xfrm>
          <a:noFill/>
          <a:ln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A</a:t>
            </a:r>
            <a:r>
              <a:rPr lang="en-US" sz="2400" b="1" dirty="0"/>
              <a:t> Linked List </a:t>
            </a:r>
            <a:r>
              <a:rPr lang="en-US" sz="2400" dirty="0"/>
              <a:t>is a</a:t>
            </a:r>
            <a:r>
              <a:rPr lang="en-US" sz="2400" b="1" i="1" dirty="0"/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dynamic</a:t>
            </a:r>
            <a:r>
              <a:rPr lang="en-US" sz="2400" b="1" i="1" dirty="0"/>
              <a:t> </a:t>
            </a:r>
            <a:r>
              <a:rPr lang="en-US" sz="2400" dirty="0"/>
              <a:t>data structure.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i.e. storage can grow and shrink according to needs without restriction (apart from physical memory constraints).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It consists of objects called </a:t>
            </a:r>
            <a:r>
              <a:rPr lang="en-US" sz="2400" b="1" dirty="0"/>
              <a:t>nodes </a:t>
            </a:r>
            <a:r>
              <a:rPr lang="en-US" sz="2400" dirty="0"/>
              <a:t>that are</a:t>
            </a:r>
            <a:r>
              <a:rPr lang="en-US" sz="2400" b="1" dirty="0"/>
              <a:t> </a:t>
            </a:r>
            <a:r>
              <a:rPr lang="en-US" sz="2400" dirty="0"/>
              <a:t>logically linked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Each node contains at least 2 fields:</a:t>
            </a:r>
            <a:br>
              <a:rPr lang="en-US" sz="2400" dirty="0"/>
            </a:br>
            <a:r>
              <a:rPr lang="en-US" sz="2400" dirty="0"/>
              <a:t>-   one field contains the address of </a:t>
            </a:r>
            <a:r>
              <a:rPr lang="en-GB" sz="2400" dirty="0"/>
              <a:t>the 		</a:t>
            </a:r>
            <a:r>
              <a:rPr lang="en-US" sz="2400" dirty="0"/>
              <a:t>next node</a:t>
            </a:r>
            <a:br>
              <a:rPr lang="en-US" sz="2400" dirty="0"/>
            </a:br>
            <a:r>
              <a:rPr lang="en-US" sz="2400" dirty="0"/>
              <a:t>-   other fields contain information</a:t>
            </a:r>
          </a:p>
        </p:txBody>
      </p:sp>
      <p:grpSp>
        <p:nvGrpSpPr>
          <p:cNvPr id="80899" name="Group 3"/>
          <p:cNvGrpSpPr>
            <a:grpSpLocks/>
          </p:cNvGrpSpPr>
          <p:nvPr/>
        </p:nvGrpSpPr>
        <p:grpSpPr bwMode="auto">
          <a:xfrm>
            <a:off x="228600" y="6845909"/>
            <a:ext cx="6591300" cy="1456716"/>
            <a:chOff x="192" y="3421"/>
            <a:chExt cx="4152" cy="994"/>
          </a:xfrm>
        </p:grpSpPr>
        <p:sp>
          <p:nvSpPr>
            <p:cNvPr id="80900" name="AutoShape 4"/>
            <p:cNvSpPr>
              <a:spLocks noChangeArrowheads="1"/>
            </p:cNvSpPr>
            <p:nvPr/>
          </p:nvSpPr>
          <p:spPr bwMode="auto">
            <a:xfrm>
              <a:off x="570" y="3652"/>
              <a:ext cx="352" cy="613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01" name="AutoShape 5"/>
            <p:cNvSpPr>
              <a:spLocks noChangeArrowheads="1"/>
            </p:cNvSpPr>
            <p:nvPr/>
          </p:nvSpPr>
          <p:spPr bwMode="auto">
            <a:xfrm>
              <a:off x="902" y="3652"/>
              <a:ext cx="352" cy="613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02" name="Rectangle 6"/>
            <p:cNvSpPr>
              <a:spLocks noChangeArrowheads="1"/>
            </p:cNvSpPr>
            <p:nvPr/>
          </p:nvSpPr>
          <p:spPr bwMode="auto">
            <a:xfrm>
              <a:off x="560" y="3423"/>
              <a:ext cx="998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800" b="1" i="1" dirty="0">
                  <a:solidFill>
                    <a:schemeClr val="accent2"/>
                  </a:solidFill>
                </a:rPr>
                <a:t>next</a:t>
              </a:r>
            </a:p>
          </p:txBody>
        </p:sp>
        <p:sp>
          <p:nvSpPr>
            <p:cNvPr id="80903" name="Rectangle 7"/>
            <p:cNvSpPr>
              <a:spLocks noChangeArrowheads="1"/>
            </p:cNvSpPr>
            <p:nvPr/>
          </p:nvSpPr>
          <p:spPr bwMode="auto">
            <a:xfrm>
              <a:off x="757" y="4256"/>
              <a:ext cx="356" cy="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>
                  <a:solidFill>
                    <a:srgbClr val="000000"/>
                  </a:solidFill>
                </a:rPr>
                <a:t>node</a:t>
              </a:r>
            </a:p>
          </p:txBody>
        </p:sp>
        <p:sp>
          <p:nvSpPr>
            <p:cNvPr id="80904" name="Line 8"/>
            <p:cNvSpPr>
              <a:spLocks noChangeShapeType="1"/>
            </p:cNvSpPr>
            <p:nvPr/>
          </p:nvSpPr>
          <p:spPr bwMode="auto">
            <a:xfrm>
              <a:off x="1140" y="3947"/>
              <a:ext cx="341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05" name="AutoShape 9"/>
            <p:cNvSpPr>
              <a:spLocks noChangeArrowheads="1"/>
            </p:cNvSpPr>
            <p:nvPr/>
          </p:nvSpPr>
          <p:spPr bwMode="auto">
            <a:xfrm>
              <a:off x="1513" y="3652"/>
              <a:ext cx="350" cy="613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06" name="AutoShape 10"/>
            <p:cNvSpPr>
              <a:spLocks noChangeArrowheads="1"/>
            </p:cNvSpPr>
            <p:nvPr/>
          </p:nvSpPr>
          <p:spPr bwMode="auto">
            <a:xfrm>
              <a:off x="1844" y="3652"/>
              <a:ext cx="352" cy="613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07" name="Rectangle 11"/>
            <p:cNvSpPr>
              <a:spLocks noChangeArrowheads="1"/>
            </p:cNvSpPr>
            <p:nvPr/>
          </p:nvSpPr>
          <p:spPr bwMode="auto">
            <a:xfrm>
              <a:off x="1502" y="3423"/>
              <a:ext cx="1001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800" b="1" i="1" dirty="0">
                  <a:solidFill>
                    <a:schemeClr val="accent2"/>
                  </a:solidFill>
                </a:rPr>
                <a:t>next</a:t>
              </a:r>
            </a:p>
          </p:txBody>
        </p:sp>
        <p:sp>
          <p:nvSpPr>
            <p:cNvPr id="80908" name="Rectangle 12"/>
            <p:cNvSpPr>
              <a:spLocks noChangeArrowheads="1"/>
            </p:cNvSpPr>
            <p:nvPr/>
          </p:nvSpPr>
          <p:spPr bwMode="auto">
            <a:xfrm>
              <a:off x="1700" y="4256"/>
              <a:ext cx="356" cy="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>
                  <a:solidFill>
                    <a:srgbClr val="000000"/>
                  </a:solidFill>
                </a:rPr>
                <a:t>node</a:t>
              </a:r>
            </a:p>
          </p:txBody>
        </p:sp>
        <p:sp>
          <p:nvSpPr>
            <p:cNvPr id="80909" name="Line 13"/>
            <p:cNvSpPr>
              <a:spLocks noChangeShapeType="1"/>
            </p:cNvSpPr>
            <p:nvPr/>
          </p:nvSpPr>
          <p:spPr bwMode="auto">
            <a:xfrm>
              <a:off x="2083" y="3947"/>
              <a:ext cx="341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0" name="AutoShape 14"/>
            <p:cNvSpPr>
              <a:spLocks noChangeArrowheads="1"/>
            </p:cNvSpPr>
            <p:nvPr/>
          </p:nvSpPr>
          <p:spPr bwMode="auto">
            <a:xfrm>
              <a:off x="2438" y="3652"/>
              <a:ext cx="352" cy="613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1" name="AutoShape 15"/>
            <p:cNvSpPr>
              <a:spLocks noChangeArrowheads="1"/>
            </p:cNvSpPr>
            <p:nvPr/>
          </p:nvSpPr>
          <p:spPr bwMode="auto">
            <a:xfrm>
              <a:off x="2769" y="3652"/>
              <a:ext cx="353" cy="613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2" name="Rectangle 16"/>
            <p:cNvSpPr>
              <a:spLocks noChangeArrowheads="1"/>
            </p:cNvSpPr>
            <p:nvPr/>
          </p:nvSpPr>
          <p:spPr bwMode="auto">
            <a:xfrm>
              <a:off x="2428" y="3423"/>
              <a:ext cx="1000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800" b="1" i="1" dirty="0">
                  <a:solidFill>
                    <a:schemeClr val="accent2"/>
                  </a:solidFill>
                </a:rPr>
                <a:t>next</a:t>
              </a:r>
            </a:p>
          </p:txBody>
        </p:sp>
        <p:sp>
          <p:nvSpPr>
            <p:cNvPr id="80913" name="Rectangle 17"/>
            <p:cNvSpPr>
              <a:spLocks noChangeArrowheads="1"/>
            </p:cNvSpPr>
            <p:nvPr/>
          </p:nvSpPr>
          <p:spPr bwMode="auto">
            <a:xfrm>
              <a:off x="2625" y="4256"/>
              <a:ext cx="355" cy="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>
                  <a:solidFill>
                    <a:srgbClr val="000000"/>
                  </a:solidFill>
                </a:rPr>
                <a:t>node</a:t>
              </a:r>
            </a:p>
          </p:txBody>
        </p:sp>
        <p:sp>
          <p:nvSpPr>
            <p:cNvPr id="80914" name="Line 18"/>
            <p:cNvSpPr>
              <a:spLocks noChangeShapeType="1"/>
            </p:cNvSpPr>
            <p:nvPr/>
          </p:nvSpPr>
          <p:spPr bwMode="auto">
            <a:xfrm>
              <a:off x="3008" y="3947"/>
              <a:ext cx="341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5" name="AutoShape 19"/>
            <p:cNvSpPr>
              <a:spLocks noChangeArrowheads="1"/>
            </p:cNvSpPr>
            <p:nvPr/>
          </p:nvSpPr>
          <p:spPr bwMode="auto">
            <a:xfrm>
              <a:off x="3365" y="3652"/>
              <a:ext cx="353" cy="613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6" name="AutoShape 20"/>
            <p:cNvSpPr>
              <a:spLocks noChangeArrowheads="1"/>
            </p:cNvSpPr>
            <p:nvPr/>
          </p:nvSpPr>
          <p:spPr bwMode="auto">
            <a:xfrm>
              <a:off x="3698" y="3652"/>
              <a:ext cx="352" cy="613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7" name="Rectangle 21"/>
            <p:cNvSpPr>
              <a:spLocks noChangeArrowheads="1"/>
            </p:cNvSpPr>
            <p:nvPr/>
          </p:nvSpPr>
          <p:spPr bwMode="auto">
            <a:xfrm>
              <a:off x="3343" y="3421"/>
              <a:ext cx="1001" cy="2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800" b="1" i="1" dirty="0">
                  <a:solidFill>
                    <a:schemeClr val="accent2"/>
                  </a:solidFill>
                </a:rPr>
                <a:t>next</a:t>
              </a:r>
            </a:p>
          </p:txBody>
        </p:sp>
        <p:sp>
          <p:nvSpPr>
            <p:cNvPr id="80918" name="Rectangle 22"/>
            <p:cNvSpPr>
              <a:spLocks noChangeArrowheads="1"/>
            </p:cNvSpPr>
            <p:nvPr/>
          </p:nvSpPr>
          <p:spPr bwMode="auto">
            <a:xfrm>
              <a:off x="3552" y="4256"/>
              <a:ext cx="356" cy="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>
                  <a:solidFill>
                    <a:srgbClr val="000000"/>
                  </a:solidFill>
                </a:rPr>
                <a:t>node</a:t>
              </a:r>
            </a:p>
          </p:txBody>
        </p:sp>
        <p:sp>
          <p:nvSpPr>
            <p:cNvPr id="80919" name="Line 23"/>
            <p:cNvSpPr>
              <a:spLocks noChangeShapeType="1"/>
            </p:cNvSpPr>
            <p:nvPr/>
          </p:nvSpPr>
          <p:spPr bwMode="auto">
            <a:xfrm>
              <a:off x="282" y="3951"/>
              <a:ext cx="255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20" name="Rectangle 24"/>
            <p:cNvSpPr>
              <a:spLocks noChangeArrowheads="1"/>
            </p:cNvSpPr>
            <p:nvPr/>
          </p:nvSpPr>
          <p:spPr bwMode="auto">
            <a:xfrm>
              <a:off x="192" y="3747"/>
              <a:ext cx="276" cy="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 dirty="0">
                  <a:solidFill>
                    <a:srgbClr val="000000"/>
                  </a:solidFill>
                </a:rPr>
                <a:t>list</a:t>
              </a:r>
            </a:p>
          </p:txBody>
        </p:sp>
        <p:grpSp>
          <p:nvGrpSpPr>
            <p:cNvPr id="80921" name="Group 25"/>
            <p:cNvGrpSpPr>
              <a:grpSpLocks/>
            </p:cNvGrpSpPr>
            <p:nvPr/>
          </p:nvGrpSpPr>
          <p:grpSpPr bwMode="auto">
            <a:xfrm>
              <a:off x="3984" y="3983"/>
              <a:ext cx="288" cy="96"/>
              <a:chOff x="3984" y="3983"/>
              <a:chExt cx="288" cy="96"/>
            </a:xfrm>
          </p:grpSpPr>
          <p:sp>
            <p:nvSpPr>
              <p:cNvPr id="80922" name="Freeform 26"/>
              <p:cNvSpPr>
                <a:spLocks/>
              </p:cNvSpPr>
              <p:nvPr/>
            </p:nvSpPr>
            <p:spPr bwMode="auto">
              <a:xfrm>
                <a:off x="3984" y="3983"/>
                <a:ext cx="211" cy="7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0" y="0"/>
                  </a:cxn>
                  <a:cxn ang="0">
                    <a:pos x="210" y="78"/>
                  </a:cxn>
                </a:cxnLst>
                <a:rect l="0" t="0" r="r" b="b"/>
                <a:pathLst>
                  <a:path w="211" h="79">
                    <a:moveTo>
                      <a:pt x="0" y="0"/>
                    </a:moveTo>
                    <a:lnTo>
                      <a:pt x="210" y="0"/>
                    </a:lnTo>
                    <a:lnTo>
                      <a:pt x="210" y="78"/>
                    </a:lnTo>
                  </a:path>
                </a:pathLst>
              </a:custGeom>
              <a:noFill/>
              <a:ln w="12700" cap="rnd" cmpd="sng">
                <a:solidFill>
                  <a:srgbClr val="4B4B4B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23" name="Line 27"/>
              <p:cNvSpPr>
                <a:spLocks noChangeShapeType="1"/>
              </p:cNvSpPr>
              <p:nvPr/>
            </p:nvSpPr>
            <p:spPr bwMode="auto">
              <a:xfrm>
                <a:off x="4128" y="4060"/>
                <a:ext cx="144" cy="0"/>
              </a:xfrm>
              <a:prstGeom prst="line">
                <a:avLst/>
              </a:prstGeom>
              <a:noFill/>
              <a:ln w="12700">
                <a:solidFill>
                  <a:srgbClr val="4B4B4B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924" name="Line 28"/>
              <p:cNvSpPr>
                <a:spLocks noChangeShapeType="1"/>
              </p:cNvSpPr>
              <p:nvPr/>
            </p:nvSpPr>
            <p:spPr bwMode="auto">
              <a:xfrm>
                <a:off x="4173" y="4079"/>
                <a:ext cx="54" cy="0"/>
              </a:xfrm>
              <a:prstGeom prst="line">
                <a:avLst/>
              </a:prstGeom>
              <a:noFill/>
              <a:ln w="12700">
                <a:solidFill>
                  <a:srgbClr val="4B4B4B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1" name="Rectangle 2"/>
          <p:cNvSpPr txBox="1">
            <a:spLocks noChangeArrowheads="1"/>
          </p:cNvSpPr>
          <p:nvPr/>
        </p:nvSpPr>
        <p:spPr bwMode="auto">
          <a:xfrm>
            <a:off x="1234571" y="371117"/>
            <a:ext cx="5356729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en-US" b="1" kern="0" dirty="0"/>
              <a:t>Linked Lists</a:t>
            </a:r>
          </a:p>
        </p:txBody>
      </p:sp>
      <p:sp>
        <p:nvSpPr>
          <p:cNvPr id="32" name="8-Point Star 31"/>
          <p:cNvSpPr/>
          <p:nvPr/>
        </p:nvSpPr>
        <p:spPr>
          <a:xfrm>
            <a:off x="362359" y="309716"/>
            <a:ext cx="872211" cy="811161"/>
          </a:xfrm>
          <a:prstGeom prst="star8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en-SG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119580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654050" y="1141257"/>
            <a:ext cx="5734050" cy="739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171450" indent="-171450" algn="l" defTabSz="457200">
              <a:lnSpc>
                <a:spcPct val="160000"/>
              </a:lnSpc>
              <a:spcBef>
                <a:spcPct val="90000"/>
              </a:spcBef>
              <a:buSzPct val="100000"/>
            </a:pPr>
            <a:r>
              <a:rPr lang="en-US" sz="2800" b="1" dirty="0">
                <a:solidFill>
                  <a:srgbClr val="008000"/>
                </a:solidFill>
              </a:rPr>
              <a:t>Insertion</a:t>
            </a:r>
          </a:p>
        </p:txBody>
      </p:sp>
      <p:grpSp>
        <p:nvGrpSpPr>
          <p:cNvPr id="89091" name="Group 3"/>
          <p:cNvGrpSpPr>
            <a:grpSpLocks/>
          </p:cNvGrpSpPr>
          <p:nvPr/>
        </p:nvGrpSpPr>
        <p:grpSpPr bwMode="auto">
          <a:xfrm>
            <a:off x="588963" y="3868738"/>
            <a:ext cx="6043612" cy="1477962"/>
            <a:chOff x="629" y="2639"/>
            <a:chExt cx="3807" cy="1009"/>
          </a:xfrm>
        </p:grpSpPr>
        <p:sp>
          <p:nvSpPr>
            <p:cNvPr id="89092" name="AutoShape 4"/>
            <p:cNvSpPr>
              <a:spLocks noChangeArrowheads="1"/>
            </p:cNvSpPr>
            <p:nvPr/>
          </p:nvSpPr>
          <p:spPr bwMode="auto">
            <a:xfrm>
              <a:off x="1808" y="3069"/>
              <a:ext cx="606" cy="273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3" name="Line 5"/>
            <p:cNvSpPr>
              <a:spLocks noChangeShapeType="1"/>
            </p:cNvSpPr>
            <p:nvPr/>
          </p:nvSpPr>
          <p:spPr bwMode="auto">
            <a:xfrm>
              <a:off x="2109" y="3070"/>
              <a:ext cx="0" cy="271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4" name="Line 6"/>
            <p:cNvSpPr>
              <a:spLocks noChangeShapeType="1"/>
            </p:cNvSpPr>
            <p:nvPr/>
          </p:nvSpPr>
          <p:spPr bwMode="auto">
            <a:xfrm>
              <a:off x="2312" y="3224"/>
              <a:ext cx="303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5" name="Rectangle 7"/>
            <p:cNvSpPr>
              <a:spLocks noChangeArrowheads="1"/>
            </p:cNvSpPr>
            <p:nvPr/>
          </p:nvSpPr>
          <p:spPr bwMode="auto">
            <a:xfrm>
              <a:off x="1684" y="2906"/>
              <a:ext cx="106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800" b="1" i="1" dirty="0">
                  <a:solidFill>
                    <a:srgbClr val="FF0000"/>
                  </a:solidFill>
                </a:rPr>
                <a:t>next</a:t>
              </a:r>
            </a:p>
          </p:txBody>
        </p:sp>
        <p:sp>
          <p:nvSpPr>
            <p:cNvPr id="89096" name="AutoShape 8"/>
            <p:cNvSpPr>
              <a:spLocks noChangeArrowheads="1"/>
            </p:cNvSpPr>
            <p:nvPr/>
          </p:nvSpPr>
          <p:spPr bwMode="auto">
            <a:xfrm>
              <a:off x="2632" y="3069"/>
              <a:ext cx="608" cy="273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7" name="Line 9"/>
            <p:cNvSpPr>
              <a:spLocks noChangeShapeType="1"/>
            </p:cNvSpPr>
            <p:nvPr/>
          </p:nvSpPr>
          <p:spPr bwMode="auto">
            <a:xfrm>
              <a:off x="2935" y="3070"/>
              <a:ext cx="0" cy="271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8" name="Line 10"/>
            <p:cNvSpPr>
              <a:spLocks noChangeShapeType="1"/>
            </p:cNvSpPr>
            <p:nvPr/>
          </p:nvSpPr>
          <p:spPr bwMode="auto">
            <a:xfrm>
              <a:off x="3137" y="3224"/>
              <a:ext cx="303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9" name="Rectangle 11"/>
            <p:cNvSpPr>
              <a:spLocks noChangeArrowheads="1"/>
            </p:cNvSpPr>
            <p:nvPr/>
          </p:nvSpPr>
          <p:spPr bwMode="auto">
            <a:xfrm>
              <a:off x="2647" y="2906"/>
              <a:ext cx="1127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800" b="1" i="1" dirty="0">
                  <a:solidFill>
                    <a:schemeClr val="accent2"/>
                  </a:solidFill>
                </a:rPr>
                <a:t>next</a:t>
              </a:r>
            </a:p>
          </p:txBody>
        </p:sp>
        <p:sp>
          <p:nvSpPr>
            <p:cNvPr id="89100" name="Rectangle 12"/>
            <p:cNvSpPr>
              <a:spLocks noChangeArrowheads="1"/>
            </p:cNvSpPr>
            <p:nvPr/>
          </p:nvSpPr>
          <p:spPr bwMode="auto">
            <a:xfrm>
              <a:off x="828" y="3490"/>
              <a:ext cx="689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 dirty="0" err="1">
                  <a:solidFill>
                    <a:srgbClr val="000000"/>
                  </a:solidFill>
                </a:rPr>
                <a:t>mylist</a:t>
              </a:r>
              <a:endParaRPr lang="en-US" sz="1800" b="0" i="1" dirty="0">
                <a:solidFill>
                  <a:srgbClr val="000000"/>
                </a:solidFill>
              </a:endParaRPr>
            </a:p>
          </p:txBody>
        </p:sp>
        <p:sp>
          <p:nvSpPr>
            <p:cNvPr id="89101" name="Rectangle 13"/>
            <p:cNvSpPr>
              <a:spLocks noChangeArrowheads="1"/>
            </p:cNvSpPr>
            <p:nvPr/>
          </p:nvSpPr>
          <p:spPr bwMode="auto">
            <a:xfrm>
              <a:off x="1938" y="3143"/>
              <a:ext cx="106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2500" b="0" i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89102" name="Rectangle 14"/>
            <p:cNvSpPr>
              <a:spLocks noChangeArrowheads="1"/>
            </p:cNvSpPr>
            <p:nvPr/>
          </p:nvSpPr>
          <p:spPr bwMode="auto">
            <a:xfrm>
              <a:off x="2748" y="3143"/>
              <a:ext cx="105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2500" b="0" i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89103" name="AutoShape 15"/>
            <p:cNvSpPr>
              <a:spLocks noChangeArrowheads="1"/>
            </p:cNvSpPr>
            <p:nvPr/>
          </p:nvSpPr>
          <p:spPr bwMode="auto">
            <a:xfrm>
              <a:off x="3442" y="3069"/>
              <a:ext cx="606" cy="273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04" name="Line 16"/>
            <p:cNvSpPr>
              <a:spLocks noChangeShapeType="1"/>
            </p:cNvSpPr>
            <p:nvPr/>
          </p:nvSpPr>
          <p:spPr bwMode="auto">
            <a:xfrm>
              <a:off x="3745" y="3070"/>
              <a:ext cx="0" cy="271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05" name="Rectangle 17"/>
            <p:cNvSpPr>
              <a:spLocks noChangeArrowheads="1"/>
            </p:cNvSpPr>
            <p:nvPr/>
          </p:nvSpPr>
          <p:spPr bwMode="auto">
            <a:xfrm>
              <a:off x="3492" y="2906"/>
              <a:ext cx="944" cy="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800" b="1" i="1" dirty="0">
                  <a:solidFill>
                    <a:schemeClr val="accent2"/>
                  </a:solidFill>
                </a:rPr>
                <a:t>next</a:t>
              </a:r>
            </a:p>
          </p:txBody>
        </p:sp>
        <p:sp>
          <p:nvSpPr>
            <p:cNvPr id="89106" name="Rectangle 18"/>
            <p:cNvSpPr>
              <a:spLocks noChangeArrowheads="1"/>
            </p:cNvSpPr>
            <p:nvPr/>
          </p:nvSpPr>
          <p:spPr bwMode="auto">
            <a:xfrm>
              <a:off x="3557" y="3143"/>
              <a:ext cx="104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2500" b="0" i="1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89107" name="AutoShape 19"/>
            <p:cNvSpPr>
              <a:spLocks noChangeArrowheads="1"/>
            </p:cNvSpPr>
            <p:nvPr/>
          </p:nvSpPr>
          <p:spPr bwMode="auto">
            <a:xfrm>
              <a:off x="921" y="2841"/>
              <a:ext cx="606" cy="272"/>
            </a:xfrm>
            <a:prstGeom prst="roundRect">
              <a:avLst>
                <a:gd name="adj" fmla="val 12495"/>
              </a:avLst>
            </a:prstGeom>
            <a:solidFill>
              <a:srgbClr val="C0C0C0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08" name="Line 20"/>
            <p:cNvSpPr>
              <a:spLocks noChangeShapeType="1"/>
            </p:cNvSpPr>
            <p:nvPr/>
          </p:nvSpPr>
          <p:spPr bwMode="auto">
            <a:xfrm>
              <a:off x="1223" y="2843"/>
              <a:ext cx="0" cy="27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09" name="Rectangle 21"/>
            <p:cNvSpPr>
              <a:spLocks noChangeArrowheads="1"/>
            </p:cNvSpPr>
            <p:nvPr/>
          </p:nvSpPr>
          <p:spPr bwMode="auto">
            <a:xfrm>
              <a:off x="935" y="2639"/>
              <a:ext cx="873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800" b="1" i="1" dirty="0">
                  <a:solidFill>
                    <a:srgbClr val="FF0000"/>
                  </a:solidFill>
                </a:rPr>
                <a:t>next</a:t>
              </a:r>
            </a:p>
          </p:txBody>
        </p:sp>
        <p:sp>
          <p:nvSpPr>
            <p:cNvPr id="89110" name="Rectangle 22"/>
            <p:cNvSpPr>
              <a:spLocks noChangeArrowheads="1"/>
            </p:cNvSpPr>
            <p:nvPr/>
          </p:nvSpPr>
          <p:spPr bwMode="auto">
            <a:xfrm>
              <a:off x="1037" y="2916"/>
              <a:ext cx="104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2500" b="0" i="1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89111" name="Line 23"/>
            <p:cNvSpPr>
              <a:spLocks noChangeShapeType="1"/>
            </p:cNvSpPr>
            <p:nvPr/>
          </p:nvSpPr>
          <p:spPr bwMode="auto">
            <a:xfrm>
              <a:off x="715" y="2992"/>
              <a:ext cx="202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12" name="Rectangle 24"/>
            <p:cNvSpPr>
              <a:spLocks noChangeArrowheads="1"/>
            </p:cNvSpPr>
            <p:nvPr/>
          </p:nvSpPr>
          <p:spPr bwMode="auto">
            <a:xfrm>
              <a:off x="629" y="2925"/>
              <a:ext cx="104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89113" name="Line 25"/>
            <p:cNvSpPr>
              <a:spLocks noChangeShapeType="1"/>
            </p:cNvSpPr>
            <p:nvPr/>
          </p:nvSpPr>
          <p:spPr bwMode="auto">
            <a:xfrm flipV="1">
              <a:off x="1107" y="3223"/>
              <a:ext cx="606" cy="271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prstDash val="dashDot"/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14" name="Freeform 26"/>
            <p:cNvSpPr>
              <a:spLocks/>
            </p:cNvSpPr>
            <p:nvPr/>
          </p:nvSpPr>
          <p:spPr bwMode="auto">
            <a:xfrm>
              <a:off x="713" y="3044"/>
              <a:ext cx="164" cy="453"/>
            </a:xfrm>
            <a:custGeom>
              <a:avLst/>
              <a:gdLst/>
              <a:ahLst/>
              <a:cxnLst>
                <a:cxn ang="0">
                  <a:pos x="163" y="0"/>
                </a:cxn>
                <a:cxn ang="0">
                  <a:pos x="132" y="20"/>
                </a:cxn>
                <a:cxn ang="0">
                  <a:pos x="105" y="42"/>
                </a:cxn>
                <a:cxn ang="0">
                  <a:pos x="81" y="66"/>
                </a:cxn>
                <a:cxn ang="0">
                  <a:pos x="60" y="92"/>
                </a:cxn>
                <a:cxn ang="0">
                  <a:pos x="42" y="120"/>
                </a:cxn>
                <a:cxn ang="0">
                  <a:pos x="27" y="147"/>
                </a:cxn>
                <a:cxn ang="0">
                  <a:pos x="15" y="177"/>
                </a:cxn>
                <a:cxn ang="0">
                  <a:pos x="8" y="207"/>
                </a:cxn>
                <a:cxn ang="0">
                  <a:pos x="1" y="239"/>
                </a:cxn>
                <a:cxn ang="0">
                  <a:pos x="0" y="270"/>
                </a:cxn>
                <a:cxn ang="0">
                  <a:pos x="1" y="301"/>
                </a:cxn>
                <a:cxn ang="0">
                  <a:pos x="6" y="333"/>
                </a:cxn>
                <a:cxn ang="0">
                  <a:pos x="14" y="364"/>
                </a:cxn>
                <a:cxn ang="0">
                  <a:pos x="26" y="394"/>
                </a:cxn>
                <a:cxn ang="0">
                  <a:pos x="41" y="424"/>
                </a:cxn>
                <a:cxn ang="0">
                  <a:pos x="62" y="452"/>
                </a:cxn>
              </a:cxnLst>
              <a:rect l="0" t="0" r="r" b="b"/>
              <a:pathLst>
                <a:path w="164" h="453">
                  <a:moveTo>
                    <a:pt x="163" y="0"/>
                  </a:moveTo>
                  <a:lnTo>
                    <a:pt x="132" y="20"/>
                  </a:lnTo>
                  <a:lnTo>
                    <a:pt x="105" y="42"/>
                  </a:lnTo>
                  <a:lnTo>
                    <a:pt x="81" y="66"/>
                  </a:lnTo>
                  <a:lnTo>
                    <a:pt x="60" y="92"/>
                  </a:lnTo>
                  <a:lnTo>
                    <a:pt x="42" y="120"/>
                  </a:lnTo>
                  <a:lnTo>
                    <a:pt x="27" y="147"/>
                  </a:lnTo>
                  <a:lnTo>
                    <a:pt x="15" y="177"/>
                  </a:lnTo>
                  <a:lnTo>
                    <a:pt x="8" y="207"/>
                  </a:lnTo>
                  <a:lnTo>
                    <a:pt x="1" y="239"/>
                  </a:lnTo>
                  <a:lnTo>
                    <a:pt x="0" y="270"/>
                  </a:lnTo>
                  <a:lnTo>
                    <a:pt x="1" y="301"/>
                  </a:lnTo>
                  <a:lnTo>
                    <a:pt x="6" y="333"/>
                  </a:lnTo>
                  <a:lnTo>
                    <a:pt x="14" y="364"/>
                  </a:lnTo>
                  <a:lnTo>
                    <a:pt x="26" y="394"/>
                  </a:lnTo>
                  <a:lnTo>
                    <a:pt x="41" y="424"/>
                  </a:lnTo>
                  <a:lnTo>
                    <a:pt x="62" y="452"/>
                  </a:lnTo>
                </a:path>
              </a:pathLst>
            </a:custGeom>
            <a:noFill/>
            <a:ln w="12700" cap="rnd" cmpd="sng">
              <a:solidFill>
                <a:srgbClr val="4B4B4B"/>
              </a:solidFill>
              <a:prstDash val="solid"/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15" name="Line 27"/>
            <p:cNvSpPr>
              <a:spLocks noChangeShapeType="1"/>
            </p:cNvSpPr>
            <p:nvPr/>
          </p:nvSpPr>
          <p:spPr bwMode="auto">
            <a:xfrm>
              <a:off x="1421" y="2949"/>
              <a:ext cx="303" cy="18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9116" name="Group 28"/>
            <p:cNvGrpSpPr>
              <a:grpSpLocks/>
            </p:cNvGrpSpPr>
            <p:nvPr/>
          </p:nvGrpSpPr>
          <p:grpSpPr bwMode="auto">
            <a:xfrm>
              <a:off x="3933" y="3202"/>
              <a:ext cx="291" cy="209"/>
              <a:chOff x="3933" y="3202"/>
              <a:chExt cx="291" cy="209"/>
            </a:xfrm>
          </p:grpSpPr>
          <p:sp>
            <p:nvSpPr>
              <p:cNvPr id="89117" name="Freeform 29"/>
              <p:cNvSpPr>
                <a:spLocks/>
              </p:cNvSpPr>
              <p:nvPr/>
            </p:nvSpPr>
            <p:spPr bwMode="auto">
              <a:xfrm>
                <a:off x="3933" y="3202"/>
                <a:ext cx="214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3" y="0"/>
                  </a:cxn>
                  <a:cxn ang="0">
                    <a:pos x="213" y="169"/>
                  </a:cxn>
                </a:cxnLst>
                <a:rect l="0" t="0" r="r" b="b"/>
                <a:pathLst>
                  <a:path w="214" h="170">
                    <a:moveTo>
                      <a:pt x="0" y="0"/>
                    </a:moveTo>
                    <a:lnTo>
                      <a:pt x="213" y="0"/>
                    </a:lnTo>
                    <a:lnTo>
                      <a:pt x="213" y="169"/>
                    </a:lnTo>
                  </a:path>
                </a:pathLst>
              </a:custGeom>
              <a:noFill/>
              <a:ln w="12700" cap="rnd" cmpd="sng">
                <a:solidFill>
                  <a:srgbClr val="4B4B4B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18" name="Line 30"/>
              <p:cNvSpPr>
                <a:spLocks noChangeShapeType="1"/>
              </p:cNvSpPr>
              <p:nvPr/>
            </p:nvSpPr>
            <p:spPr bwMode="auto">
              <a:xfrm>
                <a:off x="4079" y="3370"/>
                <a:ext cx="145" cy="0"/>
              </a:xfrm>
              <a:prstGeom prst="line">
                <a:avLst/>
              </a:prstGeom>
              <a:noFill/>
              <a:ln w="12700">
                <a:solidFill>
                  <a:srgbClr val="4B4B4B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9119" name="Line 31"/>
              <p:cNvSpPr>
                <a:spLocks noChangeShapeType="1"/>
              </p:cNvSpPr>
              <p:nvPr/>
            </p:nvSpPr>
            <p:spPr bwMode="auto">
              <a:xfrm>
                <a:off x="4124" y="3411"/>
                <a:ext cx="54" cy="0"/>
              </a:xfrm>
              <a:prstGeom prst="line">
                <a:avLst/>
              </a:prstGeom>
              <a:noFill/>
              <a:ln w="12700">
                <a:solidFill>
                  <a:srgbClr val="4B4B4B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89120" name="Group 32"/>
          <p:cNvGrpSpPr>
            <a:grpSpLocks/>
          </p:cNvGrpSpPr>
          <p:nvPr/>
        </p:nvGrpSpPr>
        <p:grpSpPr bwMode="auto">
          <a:xfrm>
            <a:off x="333375" y="2108200"/>
            <a:ext cx="5910263" cy="1446213"/>
            <a:chOff x="210" y="1439"/>
            <a:chExt cx="3530" cy="986"/>
          </a:xfrm>
        </p:grpSpPr>
        <p:sp>
          <p:nvSpPr>
            <p:cNvPr id="89121" name="AutoShape 33"/>
            <p:cNvSpPr>
              <a:spLocks noChangeArrowheads="1"/>
            </p:cNvSpPr>
            <p:nvPr/>
          </p:nvSpPr>
          <p:spPr bwMode="auto">
            <a:xfrm>
              <a:off x="915" y="2103"/>
              <a:ext cx="606" cy="272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2" name="Line 34"/>
            <p:cNvSpPr>
              <a:spLocks noChangeShapeType="1"/>
            </p:cNvSpPr>
            <p:nvPr/>
          </p:nvSpPr>
          <p:spPr bwMode="auto">
            <a:xfrm>
              <a:off x="1217" y="2104"/>
              <a:ext cx="0" cy="272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3" name="Line 35"/>
            <p:cNvSpPr>
              <a:spLocks noChangeShapeType="1"/>
            </p:cNvSpPr>
            <p:nvPr/>
          </p:nvSpPr>
          <p:spPr bwMode="auto">
            <a:xfrm>
              <a:off x="1420" y="2259"/>
              <a:ext cx="302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4" name="Rectangle 36"/>
            <p:cNvSpPr>
              <a:spLocks noChangeArrowheads="1"/>
            </p:cNvSpPr>
            <p:nvPr/>
          </p:nvSpPr>
          <p:spPr bwMode="auto">
            <a:xfrm>
              <a:off x="840" y="1926"/>
              <a:ext cx="1097" cy="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9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900" b="1" i="1" dirty="0">
                  <a:solidFill>
                    <a:srgbClr val="FF0000"/>
                  </a:solidFill>
                </a:rPr>
                <a:t>next</a:t>
              </a:r>
            </a:p>
          </p:txBody>
        </p:sp>
        <p:sp>
          <p:nvSpPr>
            <p:cNvPr id="89125" name="AutoShape 37"/>
            <p:cNvSpPr>
              <a:spLocks noChangeArrowheads="1"/>
            </p:cNvSpPr>
            <p:nvPr/>
          </p:nvSpPr>
          <p:spPr bwMode="auto">
            <a:xfrm>
              <a:off x="1740" y="2103"/>
              <a:ext cx="607" cy="272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6" name="Line 38"/>
            <p:cNvSpPr>
              <a:spLocks noChangeShapeType="1"/>
            </p:cNvSpPr>
            <p:nvPr/>
          </p:nvSpPr>
          <p:spPr bwMode="auto">
            <a:xfrm>
              <a:off x="2043" y="2104"/>
              <a:ext cx="0" cy="272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7" name="Line 39"/>
            <p:cNvSpPr>
              <a:spLocks noChangeShapeType="1"/>
            </p:cNvSpPr>
            <p:nvPr/>
          </p:nvSpPr>
          <p:spPr bwMode="auto">
            <a:xfrm>
              <a:off x="2245" y="2259"/>
              <a:ext cx="304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8" name="Rectangle 40"/>
            <p:cNvSpPr>
              <a:spLocks noChangeArrowheads="1"/>
            </p:cNvSpPr>
            <p:nvPr/>
          </p:nvSpPr>
          <p:spPr bwMode="auto">
            <a:xfrm>
              <a:off x="1790" y="1919"/>
              <a:ext cx="1083" cy="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800" b="1" i="1" dirty="0">
                  <a:solidFill>
                    <a:srgbClr val="FF0000"/>
                  </a:solidFill>
                </a:rPr>
                <a:t>next</a:t>
              </a:r>
            </a:p>
          </p:txBody>
        </p:sp>
        <p:sp>
          <p:nvSpPr>
            <p:cNvPr id="89129" name="Line 41"/>
            <p:cNvSpPr>
              <a:spLocks noChangeShapeType="1"/>
            </p:cNvSpPr>
            <p:nvPr/>
          </p:nvSpPr>
          <p:spPr bwMode="auto">
            <a:xfrm>
              <a:off x="726" y="2254"/>
              <a:ext cx="202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0" name="Rectangle 42"/>
            <p:cNvSpPr>
              <a:spLocks noChangeArrowheads="1"/>
            </p:cNvSpPr>
            <p:nvPr/>
          </p:nvSpPr>
          <p:spPr bwMode="auto">
            <a:xfrm>
              <a:off x="210" y="2160"/>
              <a:ext cx="574" cy="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 dirty="0" err="1">
                  <a:solidFill>
                    <a:srgbClr val="000000"/>
                  </a:solidFill>
                </a:rPr>
                <a:t>mylist</a:t>
              </a:r>
              <a:endParaRPr lang="en-US" sz="1800" b="0" i="1" dirty="0">
                <a:solidFill>
                  <a:srgbClr val="000000"/>
                </a:solidFill>
              </a:endParaRPr>
            </a:p>
          </p:txBody>
        </p:sp>
        <p:sp>
          <p:nvSpPr>
            <p:cNvPr id="89131" name="Rectangle 43"/>
            <p:cNvSpPr>
              <a:spLocks noChangeArrowheads="1"/>
            </p:cNvSpPr>
            <p:nvPr/>
          </p:nvSpPr>
          <p:spPr bwMode="auto">
            <a:xfrm>
              <a:off x="1046" y="2177"/>
              <a:ext cx="106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2500" b="0" i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89132" name="Rectangle 44"/>
            <p:cNvSpPr>
              <a:spLocks noChangeArrowheads="1"/>
            </p:cNvSpPr>
            <p:nvPr/>
          </p:nvSpPr>
          <p:spPr bwMode="auto">
            <a:xfrm>
              <a:off x="1856" y="2177"/>
              <a:ext cx="104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2500" b="0" i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89133" name="AutoShape 45"/>
            <p:cNvSpPr>
              <a:spLocks noChangeArrowheads="1"/>
            </p:cNvSpPr>
            <p:nvPr/>
          </p:nvSpPr>
          <p:spPr bwMode="auto">
            <a:xfrm>
              <a:off x="2549" y="2103"/>
              <a:ext cx="607" cy="272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4" name="Line 46"/>
            <p:cNvSpPr>
              <a:spLocks noChangeShapeType="1"/>
            </p:cNvSpPr>
            <p:nvPr/>
          </p:nvSpPr>
          <p:spPr bwMode="auto">
            <a:xfrm>
              <a:off x="2852" y="2104"/>
              <a:ext cx="0" cy="272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5" name="Rectangle 47"/>
            <p:cNvSpPr>
              <a:spLocks noChangeArrowheads="1"/>
            </p:cNvSpPr>
            <p:nvPr/>
          </p:nvSpPr>
          <p:spPr bwMode="auto">
            <a:xfrm>
              <a:off x="2648" y="1916"/>
              <a:ext cx="1092" cy="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800" b="1" i="1" dirty="0">
                  <a:solidFill>
                    <a:srgbClr val="FF0000"/>
                  </a:solidFill>
                </a:rPr>
                <a:t>next</a:t>
              </a:r>
            </a:p>
          </p:txBody>
        </p:sp>
        <p:sp>
          <p:nvSpPr>
            <p:cNvPr id="89136" name="Rectangle 48"/>
            <p:cNvSpPr>
              <a:spLocks noChangeArrowheads="1"/>
            </p:cNvSpPr>
            <p:nvPr/>
          </p:nvSpPr>
          <p:spPr bwMode="auto">
            <a:xfrm>
              <a:off x="2665" y="2177"/>
              <a:ext cx="104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2500" b="0" i="1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89137" name="AutoShape 49"/>
            <p:cNvSpPr>
              <a:spLocks noChangeArrowheads="1"/>
            </p:cNvSpPr>
            <p:nvPr/>
          </p:nvSpPr>
          <p:spPr bwMode="auto">
            <a:xfrm>
              <a:off x="910" y="1605"/>
              <a:ext cx="607" cy="273"/>
            </a:xfrm>
            <a:prstGeom prst="roundRect">
              <a:avLst>
                <a:gd name="adj" fmla="val 12495"/>
              </a:avLst>
            </a:prstGeom>
            <a:solidFill>
              <a:srgbClr val="C0C0C0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8" name="Line 50"/>
            <p:cNvSpPr>
              <a:spLocks noChangeShapeType="1"/>
            </p:cNvSpPr>
            <p:nvPr/>
          </p:nvSpPr>
          <p:spPr bwMode="auto">
            <a:xfrm>
              <a:off x="1223" y="1606"/>
              <a:ext cx="0" cy="272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9" name="Rectangle 51"/>
            <p:cNvSpPr>
              <a:spLocks noChangeArrowheads="1"/>
            </p:cNvSpPr>
            <p:nvPr/>
          </p:nvSpPr>
          <p:spPr bwMode="auto">
            <a:xfrm>
              <a:off x="935" y="1439"/>
              <a:ext cx="973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800" b="1" i="1" dirty="0">
                  <a:solidFill>
                    <a:srgbClr val="FF0000"/>
                  </a:solidFill>
                </a:rPr>
                <a:t>next</a:t>
              </a:r>
            </a:p>
          </p:txBody>
        </p:sp>
        <p:sp>
          <p:nvSpPr>
            <p:cNvPr id="89140" name="Rectangle 52"/>
            <p:cNvSpPr>
              <a:spLocks noChangeArrowheads="1"/>
            </p:cNvSpPr>
            <p:nvPr/>
          </p:nvSpPr>
          <p:spPr bwMode="auto">
            <a:xfrm>
              <a:off x="1037" y="1679"/>
              <a:ext cx="104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2500" b="0" i="1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89141" name="Line 53"/>
            <p:cNvSpPr>
              <a:spLocks noChangeShapeType="1"/>
            </p:cNvSpPr>
            <p:nvPr/>
          </p:nvSpPr>
          <p:spPr bwMode="auto">
            <a:xfrm>
              <a:off x="715" y="1756"/>
              <a:ext cx="202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2" name="Rectangle 54"/>
            <p:cNvSpPr>
              <a:spLocks noChangeArrowheads="1"/>
            </p:cNvSpPr>
            <p:nvPr/>
          </p:nvSpPr>
          <p:spPr bwMode="auto">
            <a:xfrm>
              <a:off x="629" y="1689"/>
              <a:ext cx="104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89143" name="Freeform 55"/>
            <p:cNvSpPr>
              <a:spLocks/>
            </p:cNvSpPr>
            <p:nvPr/>
          </p:nvSpPr>
          <p:spPr bwMode="auto">
            <a:xfrm>
              <a:off x="1432" y="1752"/>
              <a:ext cx="191" cy="1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0" y="0"/>
                </a:cxn>
                <a:cxn ang="0">
                  <a:pos x="190" y="131"/>
                </a:cxn>
              </a:cxnLst>
              <a:rect l="0" t="0" r="r" b="b"/>
              <a:pathLst>
                <a:path w="191" h="132">
                  <a:moveTo>
                    <a:pt x="0" y="0"/>
                  </a:moveTo>
                  <a:lnTo>
                    <a:pt x="190" y="0"/>
                  </a:lnTo>
                  <a:lnTo>
                    <a:pt x="190" y="131"/>
                  </a:lnTo>
                </a:path>
              </a:pathLst>
            </a:custGeom>
            <a:noFill/>
            <a:ln w="12700" cap="rnd" cmpd="sng">
              <a:solidFill>
                <a:srgbClr val="4B4B4B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44" name="Line 56"/>
            <p:cNvSpPr>
              <a:spLocks noChangeShapeType="1"/>
            </p:cNvSpPr>
            <p:nvPr/>
          </p:nvSpPr>
          <p:spPr bwMode="auto">
            <a:xfrm>
              <a:off x="1579" y="1883"/>
              <a:ext cx="122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5" name="Line 57"/>
            <p:cNvSpPr>
              <a:spLocks noChangeShapeType="1"/>
            </p:cNvSpPr>
            <p:nvPr/>
          </p:nvSpPr>
          <p:spPr bwMode="auto">
            <a:xfrm>
              <a:off x="1612" y="1902"/>
              <a:ext cx="45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9146" name="Group 58"/>
            <p:cNvGrpSpPr>
              <a:grpSpLocks/>
            </p:cNvGrpSpPr>
            <p:nvPr/>
          </p:nvGrpSpPr>
          <p:grpSpPr bwMode="auto">
            <a:xfrm>
              <a:off x="3058" y="2215"/>
              <a:ext cx="292" cy="210"/>
              <a:chOff x="3058" y="2215"/>
              <a:chExt cx="292" cy="210"/>
            </a:xfrm>
          </p:grpSpPr>
          <p:sp>
            <p:nvSpPr>
              <p:cNvPr id="89147" name="Freeform 59"/>
              <p:cNvSpPr>
                <a:spLocks/>
              </p:cNvSpPr>
              <p:nvPr/>
            </p:nvSpPr>
            <p:spPr bwMode="auto">
              <a:xfrm>
                <a:off x="3058" y="2215"/>
                <a:ext cx="214" cy="1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3" y="0"/>
                  </a:cxn>
                  <a:cxn ang="0">
                    <a:pos x="213" y="171"/>
                  </a:cxn>
                </a:cxnLst>
                <a:rect l="0" t="0" r="r" b="b"/>
                <a:pathLst>
                  <a:path w="214" h="172">
                    <a:moveTo>
                      <a:pt x="0" y="0"/>
                    </a:moveTo>
                    <a:lnTo>
                      <a:pt x="213" y="0"/>
                    </a:lnTo>
                    <a:lnTo>
                      <a:pt x="213" y="171"/>
                    </a:lnTo>
                  </a:path>
                </a:pathLst>
              </a:custGeom>
              <a:noFill/>
              <a:ln w="12700" cap="rnd" cmpd="sng">
                <a:solidFill>
                  <a:srgbClr val="4B4B4B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48" name="Line 60"/>
              <p:cNvSpPr>
                <a:spLocks noChangeShapeType="1"/>
              </p:cNvSpPr>
              <p:nvPr/>
            </p:nvSpPr>
            <p:spPr bwMode="auto">
              <a:xfrm>
                <a:off x="3206" y="2385"/>
                <a:ext cx="144" cy="0"/>
              </a:xfrm>
              <a:prstGeom prst="line">
                <a:avLst/>
              </a:prstGeom>
              <a:noFill/>
              <a:ln w="12700">
                <a:solidFill>
                  <a:srgbClr val="4B4B4B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9149" name="Line 61"/>
              <p:cNvSpPr>
                <a:spLocks noChangeShapeType="1"/>
              </p:cNvSpPr>
              <p:nvPr/>
            </p:nvSpPr>
            <p:spPr bwMode="auto">
              <a:xfrm>
                <a:off x="3248" y="2425"/>
                <a:ext cx="57" cy="0"/>
              </a:xfrm>
              <a:prstGeom prst="line">
                <a:avLst/>
              </a:prstGeom>
              <a:noFill/>
              <a:ln w="12700">
                <a:solidFill>
                  <a:srgbClr val="4B4B4B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89150" name="Rectangle 62"/>
          <p:cNvSpPr>
            <a:spLocks noChangeArrowheads="1"/>
          </p:cNvSpPr>
          <p:nvPr/>
        </p:nvSpPr>
        <p:spPr bwMode="auto">
          <a:xfrm>
            <a:off x="609600" y="7505700"/>
            <a:ext cx="6096000" cy="96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GB" sz="2000" b="0" dirty="0">
                <a:solidFill>
                  <a:srgbClr val="000000"/>
                </a:solidFill>
                <a:latin typeface="+mn-lt"/>
              </a:rPr>
              <a:t>Try the program in the next slide</a:t>
            </a:r>
            <a:endParaRPr lang="en-US" sz="2000" b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9151" name="Rectangle 63"/>
          <p:cNvSpPr>
            <a:spLocks noChangeArrowheads="1"/>
          </p:cNvSpPr>
          <p:nvPr/>
        </p:nvSpPr>
        <p:spPr bwMode="auto">
          <a:xfrm>
            <a:off x="777875" y="5737225"/>
            <a:ext cx="3794125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000" i="1" u="sng" dirty="0">
                <a:solidFill>
                  <a:srgbClr val="000000"/>
                </a:solidFill>
              </a:rPr>
              <a:t>Algorithm</a:t>
            </a:r>
            <a:r>
              <a:rPr lang="en-US" sz="2000" b="0" dirty="0">
                <a:solidFill>
                  <a:srgbClr val="000000"/>
                </a:solidFill>
              </a:rPr>
              <a:t> (pseudo-code)</a:t>
            </a:r>
          </a:p>
        </p:txBody>
      </p:sp>
      <p:grpSp>
        <p:nvGrpSpPr>
          <p:cNvPr id="89152" name="Group 64"/>
          <p:cNvGrpSpPr>
            <a:grpSpLocks/>
          </p:cNvGrpSpPr>
          <p:nvPr/>
        </p:nvGrpSpPr>
        <p:grpSpPr bwMode="auto">
          <a:xfrm>
            <a:off x="161925" y="6255468"/>
            <a:ext cx="6735822" cy="708894"/>
            <a:chOff x="288" y="4268"/>
            <a:chExt cx="4055" cy="483"/>
          </a:xfrm>
        </p:grpSpPr>
        <p:sp>
          <p:nvSpPr>
            <p:cNvPr id="89153" name="AutoShape 65"/>
            <p:cNvSpPr>
              <a:spLocks noChangeArrowheads="1"/>
            </p:cNvSpPr>
            <p:nvPr/>
          </p:nvSpPr>
          <p:spPr bwMode="auto">
            <a:xfrm>
              <a:off x="1757" y="4417"/>
              <a:ext cx="636" cy="286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54" name="Line 66"/>
            <p:cNvSpPr>
              <a:spLocks noChangeShapeType="1"/>
            </p:cNvSpPr>
            <p:nvPr/>
          </p:nvSpPr>
          <p:spPr bwMode="auto">
            <a:xfrm>
              <a:off x="2074" y="4418"/>
              <a:ext cx="0" cy="284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55" name="Line 67"/>
            <p:cNvSpPr>
              <a:spLocks noChangeShapeType="1"/>
            </p:cNvSpPr>
            <p:nvPr/>
          </p:nvSpPr>
          <p:spPr bwMode="auto">
            <a:xfrm>
              <a:off x="2286" y="4581"/>
              <a:ext cx="316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56" name="Rectangle 68"/>
            <p:cNvSpPr>
              <a:spLocks noChangeArrowheads="1"/>
            </p:cNvSpPr>
            <p:nvPr/>
          </p:nvSpPr>
          <p:spPr bwMode="auto">
            <a:xfrm>
              <a:off x="1676" y="4273"/>
              <a:ext cx="944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9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900" b="1" i="1" dirty="0">
                  <a:solidFill>
                    <a:schemeClr val="accent2"/>
                  </a:solidFill>
                </a:rPr>
                <a:t>next</a:t>
              </a:r>
            </a:p>
          </p:txBody>
        </p:sp>
        <p:sp>
          <p:nvSpPr>
            <p:cNvPr id="89157" name="AutoShape 69"/>
            <p:cNvSpPr>
              <a:spLocks noChangeArrowheads="1"/>
            </p:cNvSpPr>
            <p:nvPr/>
          </p:nvSpPr>
          <p:spPr bwMode="auto">
            <a:xfrm>
              <a:off x="2634" y="4411"/>
              <a:ext cx="635" cy="286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58" name="Line 70"/>
            <p:cNvSpPr>
              <a:spLocks noChangeShapeType="1"/>
            </p:cNvSpPr>
            <p:nvPr/>
          </p:nvSpPr>
          <p:spPr bwMode="auto">
            <a:xfrm>
              <a:off x="2951" y="4412"/>
              <a:ext cx="0" cy="285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59" name="Line 71"/>
            <p:cNvSpPr>
              <a:spLocks noChangeShapeType="1"/>
            </p:cNvSpPr>
            <p:nvPr/>
          </p:nvSpPr>
          <p:spPr bwMode="auto">
            <a:xfrm>
              <a:off x="3162" y="4574"/>
              <a:ext cx="317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60" name="Rectangle 72"/>
            <p:cNvSpPr>
              <a:spLocks noChangeArrowheads="1"/>
            </p:cNvSpPr>
            <p:nvPr/>
          </p:nvSpPr>
          <p:spPr bwMode="auto">
            <a:xfrm>
              <a:off x="2553" y="4268"/>
              <a:ext cx="944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9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900" b="1" i="1" dirty="0">
                  <a:solidFill>
                    <a:schemeClr val="accent2"/>
                  </a:solidFill>
                </a:rPr>
                <a:t>next</a:t>
              </a:r>
            </a:p>
          </p:txBody>
        </p:sp>
        <p:sp>
          <p:nvSpPr>
            <p:cNvPr id="89161" name="Rectangle 73"/>
            <p:cNvSpPr>
              <a:spLocks noChangeArrowheads="1"/>
            </p:cNvSpPr>
            <p:nvPr/>
          </p:nvSpPr>
          <p:spPr bwMode="auto">
            <a:xfrm>
              <a:off x="1908" y="4489"/>
              <a:ext cx="110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2500" b="0" i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89162" name="Rectangle 74"/>
            <p:cNvSpPr>
              <a:spLocks noChangeArrowheads="1"/>
            </p:cNvSpPr>
            <p:nvPr/>
          </p:nvSpPr>
          <p:spPr bwMode="auto">
            <a:xfrm>
              <a:off x="2754" y="4489"/>
              <a:ext cx="110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2500" b="0" i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89163" name="AutoShape 75"/>
            <p:cNvSpPr>
              <a:spLocks noChangeArrowheads="1"/>
            </p:cNvSpPr>
            <p:nvPr/>
          </p:nvSpPr>
          <p:spPr bwMode="auto">
            <a:xfrm>
              <a:off x="3480" y="4411"/>
              <a:ext cx="635" cy="286"/>
            </a:xfrm>
            <a:prstGeom prst="roundRect">
              <a:avLst>
                <a:gd name="adj" fmla="val 12495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64" name="Line 76"/>
            <p:cNvSpPr>
              <a:spLocks noChangeShapeType="1"/>
            </p:cNvSpPr>
            <p:nvPr/>
          </p:nvSpPr>
          <p:spPr bwMode="auto">
            <a:xfrm>
              <a:off x="3797" y="4412"/>
              <a:ext cx="0" cy="285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65" name="Rectangle 77"/>
            <p:cNvSpPr>
              <a:spLocks noChangeArrowheads="1"/>
            </p:cNvSpPr>
            <p:nvPr/>
          </p:nvSpPr>
          <p:spPr bwMode="auto">
            <a:xfrm>
              <a:off x="3399" y="4268"/>
              <a:ext cx="944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9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900" b="1" i="1" dirty="0">
                  <a:solidFill>
                    <a:schemeClr val="accent2"/>
                  </a:solidFill>
                </a:rPr>
                <a:t>next</a:t>
              </a:r>
            </a:p>
          </p:txBody>
        </p:sp>
        <p:sp>
          <p:nvSpPr>
            <p:cNvPr id="89166" name="Rectangle 78"/>
            <p:cNvSpPr>
              <a:spLocks noChangeArrowheads="1"/>
            </p:cNvSpPr>
            <p:nvPr/>
          </p:nvSpPr>
          <p:spPr bwMode="auto">
            <a:xfrm>
              <a:off x="3601" y="4489"/>
              <a:ext cx="110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2500" b="0" i="1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89167" name="Line 79"/>
            <p:cNvSpPr>
              <a:spLocks noChangeShapeType="1"/>
            </p:cNvSpPr>
            <p:nvPr/>
          </p:nvSpPr>
          <p:spPr bwMode="auto">
            <a:xfrm>
              <a:off x="675" y="4447"/>
              <a:ext cx="211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68" name="Rectangle 80"/>
            <p:cNvSpPr>
              <a:spLocks noChangeArrowheads="1"/>
            </p:cNvSpPr>
            <p:nvPr/>
          </p:nvSpPr>
          <p:spPr bwMode="auto">
            <a:xfrm>
              <a:off x="288" y="4398"/>
              <a:ext cx="525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 dirty="0" err="1">
                  <a:solidFill>
                    <a:srgbClr val="000000"/>
                  </a:solidFill>
                </a:rPr>
                <a:t>mylist</a:t>
              </a:r>
              <a:endParaRPr lang="en-US" sz="1800" b="0" i="1" dirty="0">
                <a:solidFill>
                  <a:srgbClr val="000000"/>
                </a:solidFill>
              </a:endParaRPr>
            </a:p>
          </p:txBody>
        </p:sp>
        <p:sp>
          <p:nvSpPr>
            <p:cNvPr id="89169" name="AutoShape 81"/>
            <p:cNvSpPr>
              <a:spLocks noChangeArrowheads="1"/>
            </p:cNvSpPr>
            <p:nvPr/>
          </p:nvSpPr>
          <p:spPr bwMode="auto">
            <a:xfrm>
              <a:off x="906" y="4411"/>
              <a:ext cx="634" cy="286"/>
            </a:xfrm>
            <a:prstGeom prst="roundRect">
              <a:avLst>
                <a:gd name="adj" fmla="val 12495"/>
              </a:avLst>
            </a:prstGeom>
            <a:solidFill>
              <a:srgbClr val="C0C0C0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70" name="Line 82"/>
            <p:cNvSpPr>
              <a:spLocks noChangeShapeType="1"/>
            </p:cNvSpPr>
            <p:nvPr/>
          </p:nvSpPr>
          <p:spPr bwMode="auto">
            <a:xfrm>
              <a:off x="1221" y="4412"/>
              <a:ext cx="0" cy="285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71" name="Rectangle 83"/>
            <p:cNvSpPr>
              <a:spLocks noChangeArrowheads="1"/>
            </p:cNvSpPr>
            <p:nvPr/>
          </p:nvSpPr>
          <p:spPr bwMode="auto">
            <a:xfrm>
              <a:off x="824" y="4268"/>
              <a:ext cx="944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900" b="0" i="1" dirty="0">
                  <a:solidFill>
                    <a:srgbClr val="000000"/>
                  </a:solidFill>
                </a:rPr>
                <a:t>info   </a:t>
              </a:r>
              <a:r>
                <a:rPr lang="en-US" sz="1900" b="1" i="1" dirty="0">
                  <a:solidFill>
                    <a:schemeClr val="accent2"/>
                  </a:solidFill>
                </a:rPr>
                <a:t>next</a:t>
              </a:r>
            </a:p>
          </p:txBody>
        </p:sp>
        <p:sp>
          <p:nvSpPr>
            <p:cNvPr id="89172" name="Rectangle 84"/>
            <p:cNvSpPr>
              <a:spLocks noChangeArrowheads="1"/>
            </p:cNvSpPr>
            <p:nvPr/>
          </p:nvSpPr>
          <p:spPr bwMode="auto">
            <a:xfrm>
              <a:off x="1027" y="4489"/>
              <a:ext cx="10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2500" b="0" i="1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89173" name="Line 85"/>
            <p:cNvSpPr>
              <a:spLocks noChangeShapeType="1"/>
            </p:cNvSpPr>
            <p:nvPr/>
          </p:nvSpPr>
          <p:spPr bwMode="auto">
            <a:xfrm>
              <a:off x="691" y="4617"/>
              <a:ext cx="211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74" name="Rectangle 86"/>
            <p:cNvSpPr>
              <a:spLocks noChangeArrowheads="1"/>
            </p:cNvSpPr>
            <p:nvPr/>
          </p:nvSpPr>
          <p:spPr bwMode="auto">
            <a:xfrm>
              <a:off x="600" y="4547"/>
              <a:ext cx="110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89175" name="Line 87"/>
            <p:cNvSpPr>
              <a:spLocks noChangeShapeType="1"/>
            </p:cNvSpPr>
            <p:nvPr/>
          </p:nvSpPr>
          <p:spPr bwMode="auto">
            <a:xfrm>
              <a:off x="1438" y="4569"/>
              <a:ext cx="320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9176" name="Group 88"/>
            <p:cNvGrpSpPr>
              <a:grpSpLocks/>
            </p:cNvGrpSpPr>
            <p:nvPr/>
          </p:nvGrpSpPr>
          <p:grpSpPr bwMode="auto">
            <a:xfrm>
              <a:off x="3994" y="4531"/>
              <a:ext cx="305" cy="220"/>
              <a:chOff x="3994" y="4531"/>
              <a:chExt cx="305" cy="220"/>
            </a:xfrm>
          </p:grpSpPr>
          <p:sp>
            <p:nvSpPr>
              <p:cNvPr id="89177" name="Freeform 89"/>
              <p:cNvSpPr>
                <a:spLocks/>
              </p:cNvSpPr>
              <p:nvPr/>
            </p:nvSpPr>
            <p:spPr bwMode="auto">
              <a:xfrm>
                <a:off x="3994" y="4531"/>
                <a:ext cx="224" cy="17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3" y="0"/>
                  </a:cxn>
                  <a:cxn ang="0">
                    <a:pos x="223" y="177"/>
                  </a:cxn>
                </a:cxnLst>
                <a:rect l="0" t="0" r="r" b="b"/>
                <a:pathLst>
                  <a:path w="224" h="178">
                    <a:moveTo>
                      <a:pt x="0" y="0"/>
                    </a:moveTo>
                    <a:lnTo>
                      <a:pt x="223" y="0"/>
                    </a:lnTo>
                    <a:lnTo>
                      <a:pt x="223" y="177"/>
                    </a:lnTo>
                  </a:path>
                </a:pathLst>
              </a:custGeom>
              <a:noFill/>
              <a:ln w="12700" cap="rnd" cmpd="sng">
                <a:solidFill>
                  <a:srgbClr val="4B4B4B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78" name="Line 90"/>
              <p:cNvSpPr>
                <a:spLocks noChangeShapeType="1"/>
              </p:cNvSpPr>
              <p:nvPr/>
            </p:nvSpPr>
            <p:spPr bwMode="auto">
              <a:xfrm>
                <a:off x="4147" y="4708"/>
                <a:ext cx="152" cy="0"/>
              </a:xfrm>
              <a:prstGeom prst="line">
                <a:avLst/>
              </a:prstGeom>
              <a:noFill/>
              <a:ln w="12700">
                <a:solidFill>
                  <a:srgbClr val="4B4B4B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9179" name="Line 91"/>
              <p:cNvSpPr>
                <a:spLocks noChangeShapeType="1"/>
              </p:cNvSpPr>
              <p:nvPr/>
            </p:nvSpPr>
            <p:spPr bwMode="auto">
              <a:xfrm>
                <a:off x="4194" y="4751"/>
                <a:ext cx="58" cy="0"/>
              </a:xfrm>
              <a:prstGeom prst="line">
                <a:avLst/>
              </a:prstGeom>
              <a:noFill/>
              <a:ln w="12700">
                <a:solidFill>
                  <a:srgbClr val="4B4B4B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89180" name="Text Box 92"/>
          <p:cNvSpPr txBox="1">
            <a:spLocks noChangeArrowheads="1"/>
          </p:cNvSpPr>
          <p:nvPr/>
        </p:nvSpPr>
        <p:spPr bwMode="auto">
          <a:xfrm>
            <a:off x="3810000" y="1898650"/>
            <a:ext cx="2822575" cy="64633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b="0"/>
              <a:t>Adding a node at the</a:t>
            </a:r>
          </a:p>
          <a:p>
            <a:pPr algn="l"/>
            <a:r>
              <a:rPr lang="en-US"/>
              <a:t>front</a:t>
            </a:r>
            <a:r>
              <a:rPr lang="en-US" b="0"/>
              <a:t> of the linked list</a:t>
            </a:r>
          </a:p>
        </p:txBody>
      </p:sp>
      <p:sp>
        <p:nvSpPr>
          <p:cNvPr id="93" name="Title 1"/>
          <p:cNvSpPr txBox="1">
            <a:spLocks/>
          </p:cNvSpPr>
          <p:nvPr/>
        </p:nvSpPr>
        <p:spPr>
          <a:xfrm>
            <a:off x="475535" y="356364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Linked Lists Operations</a:t>
            </a:r>
          </a:p>
        </p:txBody>
      </p:sp>
    </p:spTree>
    <p:extLst>
      <p:ext uri="{BB962C8B-B14F-4D97-AF65-F5344CB8AC3E}">
        <p14:creationId xmlns:p14="http://schemas.microsoft.com/office/powerpoint/2010/main" val="2583423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idx="1"/>
          </p:nvPr>
        </p:nvSpPr>
        <p:spPr>
          <a:xfrm>
            <a:off x="476250" y="1162050"/>
            <a:ext cx="6038850" cy="7370763"/>
          </a:xfrm>
          <a:noFill/>
          <a:ln/>
        </p:spPr>
        <p:txBody>
          <a:bodyPr/>
          <a:lstStyle/>
          <a:p>
            <a:pPr>
              <a:buFont typeface="Wingdings" pitchFamily="2" charset="2"/>
              <a:buChar char=" "/>
            </a:pPr>
            <a:r>
              <a:rPr lang="en-US" sz="2400" b="1" dirty="0">
                <a:solidFill>
                  <a:srgbClr val="008000"/>
                </a:solidFill>
              </a:rPr>
              <a:t>Insertion a node between 2 nodes</a:t>
            </a:r>
          </a:p>
          <a:p>
            <a:pPr lvl="1">
              <a:buFont typeface="Wingdings" pitchFamily="2" charset="2"/>
              <a:buChar char="F"/>
            </a:pPr>
            <a:r>
              <a:rPr lang="en-US" sz="2000" dirty="0"/>
              <a:t>Insertion </a:t>
            </a:r>
            <a:r>
              <a:rPr lang="en-US" sz="2000" b="1" dirty="0"/>
              <a:t>after</a:t>
            </a:r>
            <a:r>
              <a:rPr lang="en-US" sz="2000" dirty="0"/>
              <a:t> a node (pointed by p)</a:t>
            </a:r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Char char="F"/>
            </a:pPr>
            <a:endParaRPr lang="en-US" sz="2000" dirty="0"/>
          </a:p>
          <a:p>
            <a:pPr lvl="1">
              <a:buFont typeface="Wingdings" pitchFamily="2" charset="2"/>
              <a:buChar char="F"/>
            </a:pPr>
            <a:endParaRPr lang="en-US" sz="2000" dirty="0"/>
          </a:p>
          <a:p>
            <a:pPr lvl="1">
              <a:buFont typeface="Wingdings" pitchFamily="2" charset="2"/>
              <a:buChar char="F"/>
            </a:pPr>
            <a:endParaRPr lang="en-US" sz="2000" dirty="0"/>
          </a:p>
          <a:p>
            <a:pPr lvl="1">
              <a:buFont typeface="Wingdings" pitchFamily="2" charset="2"/>
              <a:buChar char="F"/>
            </a:pPr>
            <a:endParaRPr lang="en-US" sz="2000" dirty="0"/>
          </a:p>
          <a:p>
            <a:pPr lvl="1">
              <a:buFont typeface="Wingdings" pitchFamily="2" charset="2"/>
              <a:buChar char="F"/>
            </a:pPr>
            <a:endParaRPr lang="en-US" sz="2000" dirty="0"/>
          </a:p>
          <a:p>
            <a:pPr lvl="1">
              <a:buFont typeface="Wingdings" pitchFamily="2" charset="2"/>
              <a:buChar char="F"/>
            </a:pPr>
            <a:r>
              <a:rPr lang="en-US" sz="2000" dirty="0"/>
              <a:t>Insertion </a:t>
            </a:r>
            <a:r>
              <a:rPr lang="en-US" sz="2000" b="1" dirty="0"/>
              <a:t>before</a:t>
            </a:r>
            <a:r>
              <a:rPr lang="en-US" sz="2000" dirty="0"/>
              <a:t> a node (pointed by p)</a:t>
            </a:r>
          </a:p>
          <a:p>
            <a:pPr lvl="1">
              <a:buFont typeface="Wingdings" pitchFamily="2" charset="2"/>
              <a:buNone/>
            </a:pPr>
            <a:endParaRPr lang="en-US" sz="2000" u="sng" dirty="0"/>
          </a:p>
          <a:p>
            <a:pPr lvl="1">
              <a:buFont typeface="Wingdings" pitchFamily="2" charset="2"/>
              <a:buNone/>
            </a:pPr>
            <a:endParaRPr lang="en-US" sz="2000" u="sng" dirty="0"/>
          </a:p>
          <a:p>
            <a:pPr lvl="1">
              <a:buFont typeface="Wingdings" pitchFamily="2" charset="2"/>
              <a:buNone/>
            </a:pPr>
            <a:endParaRPr lang="en-US" sz="2000" u="sng" dirty="0"/>
          </a:p>
          <a:p>
            <a:pPr lvl="1">
              <a:buFont typeface="Wingdings" pitchFamily="2" charset="2"/>
              <a:buNone/>
            </a:pPr>
            <a:endParaRPr lang="en-US" sz="2000" u="sng" dirty="0"/>
          </a:p>
          <a:p>
            <a:pPr lvl="1">
              <a:buFont typeface="Wingdings" pitchFamily="2" charset="2"/>
              <a:buNone/>
            </a:pPr>
            <a:endParaRPr lang="en-US" sz="2000" u="sng" dirty="0"/>
          </a:p>
          <a:p>
            <a:pPr lvl="1">
              <a:buFont typeface="Wingdings" pitchFamily="2" charset="2"/>
              <a:buNone/>
            </a:pPr>
            <a:endParaRPr lang="en-US" sz="2000" u="sng" dirty="0"/>
          </a:p>
          <a:p>
            <a:pPr lvl="1">
              <a:buFont typeface="Wingdings" pitchFamily="2" charset="2"/>
              <a:buNone/>
            </a:pPr>
            <a:endParaRPr lang="en-US" sz="2000" u="sng" dirty="0"/>
          </a:p>
          <a:p>
            <a:pPr lvl="2">
              <a:buFont typeface="Wingdings" pitchFamily="2" charset="2"/>
              <a:buNone/>
            </a:pPr>
            <a:endParaRPr lang="en-US" sz="1800" dirty="0"/>
          </a:p>
        </p:txBody>
      </p:sp>
      <p:sp>
        <p:nvSpPr>
          <p:cNvPr id="90115" name="AutoShape 3"/>
          <p:cNvSpPr>
            <a:spLocks noChangeArrowheads="1"/>
          </p:cNvSpPr>
          <p:nvPr/>
        </p:nvSpPr>
        <p:spPr bwMode="auto">
          <a:xfrm>
            <a:off x="1836738" y="2563813"/>
            <a:ext cx="1090612" cy="436562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16" name="Line 4"/>
          <p:cNvSpPr>
            <a:spLocks noChangeShapeType="1"/>
          </p:cNvSpPr>
          <p:nvPr/>
        </p:nvSpPr>
        <p:spPr bwMode="auto">
          <a:xfrm>
            <a:off x="2379663" y="2566988"/>
            <a:ext cx="0" cy="43180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17" name="Line 5"/>
          <p:cNvSpPr>
            <a:spLocks noChangeShapeType="1"/>
          </p:cNvSpPr>
          <p:nvPr/>
        </p:nvSpPr>
        <p:spPr bwMode="auto">
          <a:xfrm>
            <a:off x="2744788" y="2813050"/>
            <a:ext cx="542925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18" name="AutoShape 6"/>
          <p:cNvSpPr>
            <a:spLocks noChangeArrowheads="1"/>
          </p:cNvSpPr>
          <p:nvPr/>
        </p:nvSpPr>
        <p:spPr bwMode="auto">
          <a:xfrm>
            <a:off x="3317875" y="2563813"/>
            <a:ext cx="1092200" cy="436562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19" name="Line 7"/>
          <p:cNvSpPr>
            <a:spLocks noChangeShapeType="1"/>
          </p:cNvSpPr>
          <p:nvPr/>
        </p:nvSpPr>
        <p:spPr bwMode="auto">
          <a:xfrm>
            <a:off x="3862388" y="2566988"/>
            <a:ext cx="0" cy="43180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0" name="Line 8"/>
          <p:cNvSpPr>
            <a:spLocks noChangeShapeType="1"/>
          </p:cNvSpPr>
          <p:nvPr/>
        </p:nvSpPr>
        <p:spPr bwMode="auto">
          <a:xfrm>
            <a:off x="4224338" y="2813050"/>
            <a:ext cx="544512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1" name="Line 9"/>
          <p:cNvSpPr>
            <a:spLocks noChangeShapeType="1"/>
          </p:cNvSpPr>
          <p:nvPr/>
        </p:nvSpPr>
        <p:spPr bwMode="auto">
          <a:xfrm>
            <a:off x="1498600" y="2803525"/>
            <a:ext cx="361950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2" name="Rectangle 10"/>
          <p:cNvSpPr>
            <a:spLocks noChangeArrowheads="1"/>
          </p:cNvSpPr>
          <p:nvPr/>
        </p:nvSpPr>
        <p:spPr bwMode="auto">
          <a:xfrm>
            <a:off x="1143000" y="2660650"/>
            <a:ext cx="401638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b="0" i="1">
                <a:solidFill>
                  <a:srgbClr val="000000"/>
                </a:solidFill>
              </a:rPr>
              <a:t>list</a:t>
            </a:r>
          </a:p>
        </p:txBody>
      </p:sp>
      <p:sp>
        <p:nvSpPr>
          <p:cNvPr id="90123" name="Rectangle 11"/>
          <p:cNvSpPr>
            <a:spLocks noChangeArrowheads="1"/>
          </p:cNvSpPr>
          <p:nvPr/>
        </p:nvSpPr>
        <p:spPr bwMode="auto">
          <a:xfrm>
            <a:off x="2074863" y="2681288"/>
            <a:ext cx="187325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90124" name="Rectangle 12"/>
          <p:cNvSpPr>
            <a:spLocks noChangeArrowheads="1"/>
          </p:cNvSpPr>
          <p:nvPr/>
        </p:nvSpPr>
        <p:spPr bwMode="auto">
          <a:xfrm>
            <a:off x="3525838" y="2681288"/>
            <a:ext cx="187325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90125" name="AutoShape 13"/>
          <p:cNvSpPr>
            <a:spLocks noChangeArrowheads="1"/>
          </p:cNvSpPr>
          <p:nvPr/>
        </p:nvSpPr>
        <p:spPr bwMode="auto">
          <a:xfrm>
            <a:off x="4770438" y="2563813"/>
            <a:ext cx="1090612" cy="436562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6" name="Line 14"/>
          <p:cNvSpPr>
            <a:spLocks noChangeShapeType="1"/>
          </p:cNvSpPr>
          <p:nvPr/>
        </p:nvSpPr>
        <p:spPr bwMode="auto">
          <a:xfrm>
            <a:off x="5314950" y="2566988"/>
            <a:ext cx="0" cy="43180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7" name="Rectangle 15"/>
          <p:cNvSpPr>
            <a:spLocks noChangeArrowheads="1"/>
          </p:cNvSpPr>
          <p:nvPr/>
        </p:nvSpPr>
        <p:spPr bwMode="auto">
          <a:xfrm>
            <a:off x="4979988" y="2681288"/>
            <a:ext cx="187325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90128" name="AutoShape 16"/>
          <p:cNvSpPr>
            <a:spLocks noChangeArrowheads="1"/>
          </p:cNvSpPr>
          <p:nvPr/>
        </p:nvSpPr>
        <p:spPr bwMode="auto">
          <a:xfrm>
            <a:off x="3105150" y="3722688"/>
            <a:ext cx="1090613" cy="438150"/>
          </a:xfrm>
          <a:prstGeom prst="roundRect">
            <a:avLst>
              <a:gd name="adj" fmla="val 12495"/>
            </a:avLst>
          </a:prstGeom>
          <a:solidFill>
            <a:srgbClr val="C0C0C0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9" name="Line 17"/>
          <p:cNvSpPr>
            <a:spLocks noChangeShapeType="1"/>
          </p:cNvSpPr>
          <p:nvPr/>
        </p:nvSpPr>
        <p:spPr bwMode="auto">
          <a:xfrm>
            <a:off x="3648075" y="3725863"/>
            <a:ext cx="0" cy="433387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30" name="Line 18"/>
          <p:cNvSpPr>
            <a:spLocks noChangeShapeType="1"/>
          </p:cNvSpPr>
          <p:nvPr/>
        </p:nvSpPr>
        <p:spPr bwMode="auto">
          <a:xfrm>
            <a:off x="2765425" y="3963988"/>
            <a:ext cx="363538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31" name="Rectangle 19"/>
          <p:cNvSpPr>
            <a:spLocks noChangeArrowheads="1"/>
          </p:cNvSpPr>
          <p:nvPr/>
        </p:nvSpPr>
        <p:spPr bwMode="auto">
          <a:xfrm>
            <a:off x="3343275" y="3843338"/>
            <a:ext cx="187325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90132" name="Freeform 20"/>
          <p:cNvSpPr>
            <a:spLocks/>
          </p:cNvSpPr>
          <p:nvPr/>
        </p:nvSpPr>
        <p:spPr bwMode="auto">
          <a:xfrm>
            <a:off x="4014788" y="2949575"/>
            <a:ext cx="1092200" cy="1016000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75" y="684"/>
              </a:cxn>
              <a:cxn ang="0">
                <a:pos x="148" y="670"/>
              </a:cxn>
              <a:cxn ang="0">
                <a:pos x="217" y="650"/>
              </a:cxn>
              <a:cxn ang="0">
                <a:pos x="284" y="623"/>
              </a:cxn>
              <a:cxn ang="0">
                <a:pos x="346" y="592"/>
              </a:cxn>
              <a:cxn ang="0">
                <a:pos x="405" y="556"/>
              </a:cxn>
              <a:cxn ang="0">
                <a:pos x="459" y="515"/>
              </a:cxn>
              <a:cxn ang="0">
                <a:pos x="509" y="469"/>
              </a:cxn>
              <a:cxn ang="0">
                <a:pos x="551" y="420"/>
              </a:cxn>
              <a:cxn ang="0">
                <a:pos x="590" y="368"/>
              </a:cxn>
              <a:cxn ang="0">
                <a:pos x="623" y="313"/>
              </a:cxn>
              <a:cxn ang="0">
                <a:pos x="649" y="254"/>
              </a:cxn>
              <a:cxn ang="0">
                <a:pos x="668" y="194"/>
              </a:cxn>
              <a:cxn ang="0">
                <a:pos x="682" y="130"/>
              </a:cxn>
              <a:cxn ang="0">
                <a:pos x="687" y="66"/>
              </a:cxn>
              <a:cxn ang="0">
                <a:pos x="687" y="0"/>
              </a:cxn>
            </a:cxnLst>
            <a:rect l="0" t="0" r="r" b="b"/>
            <a:pathLst>
              <a:path w="688" h="694">
                <a:moveTo>
                  <a:pt x="0" y="693"/>
                </a:moveTo>
                <a:lnTo>
                  <a:pt x="75" y="684"/>
                </a:lnTo>
                <a:lnTo>
                  <a:pt x="148" y="670"/>
                </a:lnTo>
                <a:lnTo>
                  <a:pt x="217" y="650"/>
                </a:lnTo>
                <a:lnTo>
                  <a:pt x="284" y="623"/>
                </a:lnTo>
                <a:lnTo>
                  <a:pt x="346" y="592"/>
                </a:lnTo>
                <a:lnTo>
                  <a:pt x="405" y="556"/>
                </a:lnTo>
                <a:lnTo>
                  <a:pt x="459" y="515"/>
                </a:lnTo>
                <a:lnTo>
                  <a:pt x="509" y="469"/>
                </a:lnTo>
                <a:lnTo>
                  <a:pt x="551" y="420"/>
                </a:lnTo>
                <a:lnTo>
                  <a:pt x="590" y="368"/>
                </a:lnTo>
                <a:lnTo>
                  <a:pt x="623" y="313"/>
                </a:lnTo>
                <a:lnTo>
                  <a:pt x="649" y="254"/>
                </a:lnTo>
                <a:lnTo>
                  <a:pt x="668" y="194"/>
                </a:lnTo>
                <a:lnTo>
                  <a:pt x="682" y="130"/>
                </a:lnTo>
                <a:lnTo>
                  <a:pt x="687" y="66"/>
                </a:lnTo>
                <a:lnTo>
                  <a:pt x="687" y="0"/>
                </a:lnTo>
              </a:path>
            </a:pathLst>
          </a:custGeom>
          <a:noFill/>
          <a:ln w="12700" cap="rnd" cmpd="sng">
            <a:solidFill>
              <a:srgbClr val="4B4B4B"/>
            </a:solidFill>
            <a:prstDash val="dash"/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33" name="Freeform 21"/>
          <p:cNvSpPr>
            <a:spLocks/>
          </p:cNvSpPr>
          <p:nvPr/>
        </p:nvSpPr>
        <p:spPr bwMode="auto">
          <a:xfrm>
            <a:off x="3467100" y="2951163"/>
            <a:ext cx="733425" cy="725487"/>
          </a:xfrm>
          <a:custGeom>
            <a:avLst/>
            <a:gdLst/>
            <a:ahLst/>
            <a:cxnLst>
              <a:cxn ang="0">
                <a:pos x="461" y="0"/>
              </a:cxn>
              <a:cxn ang="0">
                <a:pos x="408" y="8"/>
              </a:cxn>
              <a:cxn ang="0">
                <a:pos x="359" y="19"/>
              </a:cxn>
              <a:cxn ang="0">
                <a:pos x="311" y="35"/>
              </a:cxn>
              <a:cxn ang="0">
                <a:pos x="265" y="54"/>
              </a:cxn>
              <a:cxn ang="0">
                <a:pos x="222" y="78"/>
              </a:cxn>
              <a:cxn ang="0">
                <a:pos x="183" y="104"/>
              </a:cxn>
              <a:cxn ang="0">
                <a:pos x="146" y="133"/>
              </a:cxn>
              <a:cxn ang="0">
                <a:pos x="114" y="165"/>
              </a:cxn>
              <a:cxn ang="0">
                <a:pos x="85" y="200"/>
              </a:cxn>
              <a:cxn ang="0">
                <a:pos x="59" y="238"/>
              </a:cxn>
              <a:cxn ang="0">
                <a:pos x="37" y="277"/>
              </a:cxn>
              <a:cxn ang="0">
                <a:pos x="22" y="317"/>
              </a:cxn>
              <a:cxn ang="0">
                <a:pos x="9" y="360"/>
              </a:cxn>
              <a:cxn ang="0">
                <a:pos x="1" y="404"/>
              </a:cxn>
              <a:cxn ang="0">
                <a:pos x="0" y="449"/>
              </a:cxn>
              <a:cxn ang="0">
                <a:pos x="3" y="494"/>
              </a:cxn>
            </a:cxnLst>
            <a:rect l="0" t="0" r="r" b="b"/>
            <a:pathLst>
              <a:path w="462" h="495">
                <a:moveTo>
                  <a:pt x="461" y="0"/>
                </a:moveTo>
                <a:lnTo>
                  <a:pt x="408" y="8"/>
                </a:lnTo>
                <a:lnTo>
                  <a:pt x="359" y="19"/>
                </a:lnTo>
                <a:lnTo>
                  <a:pt x="311" y="35"/>
                </a:lnTo>
                <a:lnTo>
                  <a:pt x="265" y="54"/>
                </a:lnTo>
                <a:lnTo>
                  <a:pt x="222" y="78"/>
                </a:lnTo>
                <a:lnTo>
                  <a:pt x="183" y="104"/>
                </a:lnTo>
                <a:lnTo>
                  <a:pt x="146" y="133"/>
                </a:lnTo>
                <a:lnTo>
                  <a:pt x="114" y="165"/>
                </a:lnTo>
                <a:lnTo>
                  <a:pt x="85" y="200"/>
                </a:lnTo>
                <a:lnTo>
                  <a:pt x="59" y="238"/>
                </a:lnTo>
                <a:lnTo>
                  <a:pt x="37" y="277"/>
                </a:lnTo>
                <a:lnTo>
                  <a:pt x="22" y="317"/>
                </a:lnTo>
                <a:lnTo>
                  <a:pt x="9" y="360"/>
                </a:lnTo>
                <a:lnTo>
                  <a:pt x="1" y="404"/>
                </a:lnTo>
                <a:lnTo>
                  <a:pt x="0" y="449"/>
                </a:lnTo>
                <a:lnTo>
                  <a:pt x="3" y="494"/>
                </a:lnTo>
              </a:path>
            </a:pathLst>
          </a:custGeom>
          <a:noFill/>
          <a:ln w="12700" cap="rnd" cmpd="sng">
            <a:solidFill>
              <a:srgbClr val="4B4B4B"/>
            </a:solidFill>
            <a:prstDash val="dash"/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34" name="Rectangle 22"/>
          <p:cNvSpPr>
            <a:spLocks noChangeArrowheads="1"/>
          </p:cNvSpPr>
          <p:nvPr/>
        </p:nvSpPr>
        <p:spPr bwMode="auto">
          <a:xfrm>
            <a:off x="2592388" y="3859213"/>
            <a:ext cx="187325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b="0" i="1">
                <a:solidFill>
                  <a:srgbClr val="000000"/>
                </a:solidFill>
              </a:rPr>
              <a:t>q</a:t>
            </a:r>
          </a:p>
        </p:txBody>
      </p:sp>
      <p:grpSp>
        <p:nvGrpSpPr>
          <p:cNvPr id="90135" name="Group 23"/>
          <p:cNvGrpSpPr>
            <a:grpSpLocks/>
          </p:cNvGrpSpPr>
          <p:nvPr/>
        </p:nvGrpSpPr>
        <p:grpSpPr bwMode="auto">
          <a:xfrm>
            <a:off x="2776538" y="1944688"/>
            <a:ext cx="882650" cy="544512"/>
            <a:chOff x="1797" y="836"/>
            <a:chExt cx="556" cy="371"/>
          </a:xfrm>
        </p:grpSpPr>
        <p:sp>
          <p:nvSpPr>
            <p:cNvPr id="90136" name="Freeform 24"/>
            <p:cNvSpPr>
              <a:spLocks/>
            </p:cNvSpPr>
            <p:nvPr/>
          </p:nvSpPr>
          <p:spPr bwMode="auto">
            <a:xfrm>
              <a:off x="1896" y="908"/>
              <a:ext cx="457" cy="299"/>
            </a:xfrm>
            <a:custGeom>
              <a:avLst/>
              <a:gdLst/>
              <a:ahLst/>
              <a:cxnLst>
                <a:cxn ang="0">
                  <a:pos x="456" y="298"/>
                </a:cxn>
                <a:cxn ang="0">
                  <a:pos x="446" y="263"/>
                </a:cxn>
                <a:cxn ang="0">
                  <a:pos x="435" y="230"/>
                </a:cxn>
                <a:cxn ang="0">
                  <a:pos x="419" y="198"/>
                </a:cxn>
                <a:cxn ang="0">
                  <a:pos x="402" y="167"/>
                </a:cxn>
                <a:cxn ang="0">
                  <a:pos x="379" y="139"/>
                </a:cxn>
                <a:cxn ang="0">
                  <a:pos x="355" y="114"/>
                </a:cxn>
                <a:cxn ang="0">
                  <a:pos x="327" y="91"/>
                </a:cxn>
                <a:cxn ang="0">
                  <a:pos x="298" y="68"/>
                </a:cxn>
                <a:cxn ang="0">
                  <a:pos x="265" y="51"/>
                </a:cxn>
                <a:cxn ang="0">
                  <a:pos x="232" y="34"/>
                </a:cxn>
                <a:cxn ang="0">
                  <a:pos x="196" y="20"/>
                </a:cxn>
                <a:cxn ang="0">
                  <a:pos x="159" y="10"/>
                </a:cxn>
                <a:cxn ang="0">
                  <a:pos x="119" y="4"/>
                </a:cxn>
                <a:cxn ang="0">
                  <a:pos x="80" y="0"/>
                </a:cxn>
                <a:cxn ang="0">
                  <a:pos x="39" y="0"/>
                </a:cxn>
                <a:cxn ang="0">
                  <a:pos x="0" y="1"/>
                </a:cxn>
              </a:cxnLst>
              <a:rect l="0" t="0" r="r" b="b"/>
              <a:pathLst>
                <a:path w="457" h="299">
                  <a:moveTo>
                    <a:pt x="456" y="298"/>
                  </a:moveTo>
                  <a:lnTo>
                    <a:pt x="446" y="263"/>
                  </a:lnTo>
                  <a:lnTo>
                    <a:pt x="435" y="230"/>
                  </a:lnTo>
                  <a:lnTo>
                    <a:pt x="419" y="198"/>
                  </a:lnTo>
                  <a:lnTo>
                    <a:pt x="402" y="167"/>
                  </a:lnTo>
                  <a:lnTo>
                    <a:pt x="379" y="139"/>
                  </a:lnTo>
                  <a:lnTo>
                    <a:pt x="355" y="114"/>
                  </a:lnTo>
                  <a:lnTo>
                    <a:pt x="327" y="91"/>
                  </a:lnTo>
                  <a:lnTo>
                    <a:pt x="298" y="68"/>
                  </a:lnTo>
                  <a:lnTo>
                    <a:pt x="265" y="51"/>
                  </a:lnTo>
                  <a:lnTo>
                    <a:pt x="232" y="34"/>
                  </a:lnTo>
                  <a:lnTo>
                    <a:pt x="196" y="20"/>
                  </a:lnTo>
                  <a:lnTo>
                    <a:pt x="159" y="10"/>
                  </a:lnTo>
                  <a:lnTo>
                    <a:pt x="119" y="4"/>
                  </a:lnTo>
                  <a:lnTo>
                    <a:pt x="80" y="0"/>
                  </a:lnTo>
                  <a:lnTo>
                    <a:pt x="39" y="0"/>
                  </a:lnTo>
                  <a:lnTo>
                    <a:pt x="0" y="1"/>
                  </a:lnTo>
                </a:path>
              </a:pathLst>
            </a:custGeom>
            <a:noFill/>
            <a:ln w="12700" cap="rnd" cmpd="sng">
              <a:solidFill>
                <a:srgbClr val="4B4B4B"/>
              </a:solidFill>
              <a:prstDash val="solid"/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0137" name="Rectangle 25"/>
            <p:cNvSpPr>
              <a:spLocks noChangeArrowheads="1"/>
            </p:cNvSpPr>
            <p:nvPr/>
          </p:nvSpPr>
          <p:spPr bwMode="auto">
            <a:xfrm>
              <a:off x="1797" y="836"/>
              <a:ext cx="11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>
                  <a:solidFill>
                    <a:srgbClr val="000000"/>
                  </a:solidFill>
                </a:rPr>
                <a:t>p</a:t>
              </a:r>
            </a:p>
          </p:txBody>
        </p:sp>
      </p:grpSp>
      <p:grpSp>
        <p:nvGrpSpPr>
          <p:cNvPr id="90138" name="Group 26"/>
          <p:cNvGrpSpPr>
            <a:grpSpLocks/>
          </p:cNvGrpSpPr>
          <p:nvPr/>
        </p:nvGrpSpPr>
        <p:grpSpPr bwMode="auto">
          <a:xfrm>
            <a:off x="5613400" y="2738438"/>
            <a:ext cx="523875" cy="336550"/>
            <a:chOff x="3584" y="1376"/>
            <a:chExt cx="330" cy="230"/>
          </a:xfrm>
        </p:grpSpPr>
        <p:sp>
          <p:nvSpPr>
            <p:cNvPr id="90139" name="Freeform 27"/>
            <p:cNvSpPr>
              <a:spLocks/>
            </p:cNvSpPr>
            <p:nvPr/>
          </p:nvSpPr>
          <p:spPr bwMode="auto">
            <a:xfrm>
              <a:off x="3584" y="1376"/>
              <a:ext cx="243" cy="1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" y="0"/>
                </a:cxn>
                <a:cxn ang="0">
                  <a:pos x="242" y="187"/>
                </a:cxn>
              </a:cxnLst>
              <a:rect l="0" t="0" r="r" b="b"/>
              <a:pathLst>
                <a:path w="243" h="188">
                  <a:moveTo>
                    <a:pt x="0" y="0"/>
                  </a:moveTo>
                  <a:lnTo>
                    <a:pt x="242" y="0"/>
                  </a:lnTo>
                  <a:lnTo>
                    <a:pt x="242" y="187"/>
                  </a:lnTo>
                </a:path>
              </a:pathLst>
            </a:custGeom>
            <a:noFill/>
            <a:ln w="12700" cap="rnd" cmpd="sng">
              <a:solidFill>
                <a:srgbClr val="4B4B4B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0140" name="Line 28"/>
            <p:cNvSpPr>
              <a:spLocks noChangeShapeType="1"/>
            </p:cNvSpPr>
            <p:nvPr/>
          </p:nvSpPr>
          <p:spPr bwMode="auto">
            <a:xfrm>
              <a:off x="3750" y="1562"/>
              <a:ext cx="164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41" name="Line 29"/>
            <p:cNvSpPr>
              <a:spLocks noChangeShapeType="1"/>
            </p:cNvSpPr>
            <p:nvPr/>
          </p:nvSpPr>
          <p:spPr bwMode="auto">
            <a:xfrm>
              <a:off x="3801" y="1606"/>
              <a:ext cx="62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0142" name="Text Box 30"/>
          <p:cNvSpPr txBox="1">
            <a:spLocks noChangeArrowheads="1"/>
          </p:cNvSpPr>
          <p:nvPr/>
        </p:nvSpPr>
        <p:spPr bwMode="auto">
          <a:xfrm>
            <a:off x="3124200" y="4097338"/>
            <a:ext cx="1120775" cy="3111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/>
              <a:t>new node</a:t>
            </a:r>
          </a:p>
        </p:txBody>
      </p:sp>
      <p:sp>
        <p:nvSpPr>
          <p:cNvPr id="90143" name="Line 31"/>
          <p:cNvSpPr>
            <a:spLocks noChangeShapeType="1"/>
          </p:cNvSpPr>
          <p:nvPr/>
        </p:nvSpPr>
        <p:spPr bwMode="auto">
          <a:xfrm>
            <a:off x="4454525" y="6007100"/>
            <a:ext cx="50165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44" name="AutoShape 32"/>
          <p:cNvSpPr>
            <a:spLocks noChangeArrowheads="1"/>
          </p:cNvSpPr>
          <p:nvPr/>
        </p:nvSpPr>
        <p:spPr bwMode="auto">
          <a:xfrm>
            <a:off x="2241550" y="5743575"/>
            <a:ext cx="1009650" cy="458788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45" name="Line 33"/>
          <p:cNvSpPr>
            <a:spLocks noChangeShapeType="1"/>
          </p:cNvSpPr>
          <p:nvPr/>
        </p:nvSpPr>
        <p:spPr bwMode="auto">
          <a:xfrm>
            <a:off x="3082925" y="6007100"/>
            <a:ext cx="503238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46" name="AutoShape 34"/>
          <p:cNvSpPr>
            <a:spLocks noChangeArrowheads="1"/>
          </p:cNvSpPr>
          <p:nvPr/>
        </p:nvSpPr>
        <p:spPr bwMode="auto">
          <a:xfrm>
            <a:off x="3570288" y="5743575"/>
            <a:ext cx="1008062" cy="458788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47" name="Line 35"/>
          <p:cNvSpPr>
            <a:spLocks noChangeShapeType="1"/>
          </p:cNvSpPr>
          <p:nvPr/>
        </p:nvSpPr>
        <p:spPr bwMode="auto">
          <a:xfrm>
            <a:off x="1930400" y="5997575"/>
            <a:ext cx="333375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48" name="Rectangle 36"/>
          <p:cNvSpPr>
            <a:spLocks noChangeArrowheads="1"/>
          </p:cNvSpPr>
          <p:nvPr/>
        </p:nvSpPr>
        <p:spPr bwMode="auto">
          <a:xfrm>
            <a:off x="1600200" y="5845175"/>
            <a:ext cx="373063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b="0" i="1">
                <a:solidFill>
                  <a:srgbClr val="000000"/>
                </a:solidFill>
              </a:rPr>
              <a:t>list</a:t>
            </a:r>
          </a:p>
        </p:txBody>
      </p:sp>
      <p:sp>
        <p:nvSpPr>
          <p:cNvPr id="90149" name="Rectangle 37"/>
          <p:cNvSpPr>
            <a:spLocks noChangeArrowheads="1"/>
          </p:cNvSpPr>
          <p:nvPr/>
        </p:nvSpPr>
        <p:spPr bwMode="auto">
          <a:xfrm>
            <a:off x="2460625" y="5868988"/>
            <a:ext cx="174625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90150" name="Rectangle 38"/>
          <p:cNvSpPr>
            <a:spLocks noChangeArrowheads="1"/>
          </p:cNvSpPr>
          <p:nvPr/>
        </p:nvSpPr>
        <p:spPr bwMode="auto">
          <a:xfrm>
            <a:off x="3805238" y="5868988"/>
            <a:ext cx="174625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90151" name="AutoShape 39"/>
          <p:cNvSpPr>
            <a:spLocks noChangeArrowheads="1"/>
          </p:cNvSpPr>
          <p:nvPr/>
        </p:nvSpPr>
        <p:spPr bwMode="auto">
          <a:xfrm>
            <a:off x="4959350" y="5743575"/>
            <a:ext cx="1008063" cy="458788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52" name="Rectangle 40"/>
          <p:cNvSpPr>
            <a:spLocks noChangeArrowheads="1"/>
          </p:cNvSpPr>
          <p:nvPr/>
        </p:nvSpPr>
        <p:spPr bwMode="auto">
          <a:xfrm>
            <a:off x="5127625" y="5845175"/>
            <a:ext cx="174625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90153" name="AutoShape 41"/>
          <p:cNvSpPr>
            <a:spLocks noChangeArrowheads="1"/>
          </p:cNvSpPr>
          <p:nvPr/>
        </p:nvSpPr>
        <p:spPr bwMode="auto">
          <a:xfrm>
            <a:off x="3414713" y="6962775"/>
            <a:ext cx="1009650" cy="458788"/>
          </a:xfrm>
          <a:prstGeom prst="roundRect">
            <a:avLst>
              <a:gd name="adj" fmla="val 12495"/>
            </a:avLst>
          </a:prstGeom>
          <a:solidFill>
            <a:srgbClr val="C0C0C0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54" name="Line 42"/>
          <p:cNvSpPr>
            <a:spLocks noChangeShapeType="1"/>
          </p:cNvSpPr>
          <p:nvPr/>
        </p:nvSpPr>
        <p:spPr bwMode="auto">
          <a:xfrm>
            <a:off x="3101975" y="7215188"/>
            <a:ext cx="336550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55" name="Rectangle 43"/>
          <p:cNvSpPr>
            <a:spLocks noChangeArrowheads="1"/>
          </p:cNvSpPr>
          <p:nvPr/>
        </p:nvSpPr>
        <p:spPr bwMode="auto">
          <a:xfrm>
            <a:off x="3635375" y="7086600"/>
            <a:ext cx="173038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90156" name="Freeform 44"/>
          <p:cNvSpPr>
            <a:spLocks/>
          </p:cNvSpPr>
          <p:nvPr/>
        </p:nvSpPr>
        <p:spPr bwMode="auto">
          <a:xfrm>
            <a:off x="4264025" y="6164263"/>
            <a:ext cx="1009650" cy="1068387"/>
          </a:xfrm>
          <a:custGeom>
            <a:avLst/>
            <a:gdLst/>
            <a:ahLst/>
            <a:cxnLst>
              <a:cxn ang="0">
                <a:pos x="0" y="727"/>
              </a:cxn>
              <a:cxn ang="0">
                <a:pos x="69" y="718"/>
              </a:cxn>
              <a:cxn ang="0">
                <a:pos x="136" y="703"/>
              </a:cxn>
              <a:cxn ang="0">
                <a:pos x="201" y="682"/>
              </a:cxn>
              <a:cxn ang="0">
                <a:pos x="262" y="653"/>
              </a:cxn>
              <a:cxn ang="0">
                <a:pos x="320" y="621"/>
              </a:cxn>
              <a:cxn ang="0">
                <a:pos x="373" y="583"/>
              </a:cxn>
              <a:cxn ang="0">
                <a:pos x="423" y="540"/>
              </a:cxn>
              <a:cxn ang="0">
                <a:pos x="469" y="492"/>
              </a:cxn>
              <a:cxn ang="0">
                <a:pos x="510" y="441"/>
              </a:cxn>
              <a:cxn ang="0">
                <a:pos x="545" y="386"/>
              </a:cxn>
              <a:cxn ang="0">
                <a:pos x="575" y="328"/>
              </a:cxn>
              <a:cxn ang="0">
                <a:pos x="599" y="266"/>
              </a:cxn>
              <a:cxn ang="0">
                <a:pos x="617" y="204"/>
              </a:cxn>
              <a:cxn ang="0">
                <a:pos x="629" y="136"/>
              </a:cxn>
              <a:cxn ang="0">
                <a:pos x="635" y="69"/>
              </a:cxn>
              <a:cxn ang="0">
                <a:pos x="634" y="0"/>
              </a:cxn>
            </a:cxnLst>
            <a:rect l="0" t="0" r="r" b="b"/>
            <a:pathLst>
              <a:path w="636" h="728">
                <a:moveTo>
                  <a:pt x="0" y="727"/>
                </a:moveTo>
                <a:lnTo>
                  <a:pt x="69" y="718"/>
                </a:lnTo>
                <a:lnTo>
                  <a:pt x="136" y="703"/>
                </a:lnTo>
                <a:lnTo>
                  <a:pt x="201" y="682"/>
                </a:lnTo>
                <a:lnTo>
                  <a:pt x="262" y="653"/>
                </a:lnTo>
                <a:lnTo>
                  <a:pt x="320" y="621"/>
                </a:lnTo>
                <a:lnTo>
                  <a:pt x="373" y="583"/>
                </a:lnTo>
                <a:lnTo>
                  <a:pt x="423" y="540"/>
                </a:lnTo>
                <a:lnTo>
                  <a:pt x="469" y="492"/>
                </a:lnTo>
                <a:lnTo>
                  <a:pt x="510" y="441"/>
                </a:lnTo>
                <a:lnTo>
                  <a:pt x="545" y="386"/>
                </a:lnTo>
                <a:lnTo>
                  <a:pt x="575" y="328"/>
                </a:lnTo>
                <a:lnTo>
                  <a:pt x="599" y="266"/>
                </a:lnTo>
                <a:lnTo>
                  <a:pt x="617" y="204"/>
                </a:lnTo>
                <a:lnTo>
                  <a:pt x="629" y="136"/>
                </a:lnTo>
                <a:lnTo>
                  <a:pt x="635" y="69"/>
                </a:lnTo>
                <a:lnTo>
                  <a:pt x="634" y="0"/>
                </a:lnTo>
              </a:path>
            </a:pathLst>
          </a:custGeom>
          <a:noFill/>
          <a:ln w="12700" cap="rnd" cmpd="sng">
            <a:solidFill>
              <a:srgbClr val="4B4B4B"/>
            </a:solidFill>
            <a:prstDash val="dash"/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57" name="Freeform 45"/>
          <p:cNvSpPr>
            <a:spLocks/>
          </p:cNvSpPr>
          <p:nvPr/>
        </p:nvSpPr>
        <p:spPr bwMode="auto">
          <a:xfrm>
            <a:off x="3749675" y="6148388"/>
            <a:ext cx="681038" cy="763587"/>
          </a:xfrm>
          <a:custGeom>
            <a:avLst/>
            <a:gdLst/>
            <a:ahLst/>
            <a:cxnLst>
              <a:cxn ang="0">
                <a:pos x="428" y="0"/>
              </a:cxn>
              <a:cxn ang="0">
                <a:pos x="378" y="8"/>
              </a:cxn>
              <a:cxn ang="0">
                <a:pos x="332" y="21"/>
              </a:cxn>
              <a:cxn ang="0">
                <a:pos x="288" y="37"/>
              </a:cxn>
              <a:cxn ang="0">
                <a:pos x="246" y="57"/>
              </a:cxn>
              <a:cxn ang="0">
                <a:pos x="206" y="82"/>
              </a:cxn>
              <a:cxn ang="0">
                <a:pos x="169" y="110"/>
              </a:cxn>
              <a:cxn ang="0">
                <a:pos x="136" y="141"/>
              </a:cxn>
              <a:cxn ang="0">
                <a:pos x="106" y="174"/>
              </a:cxn>
              <a:cxn ang="0">
                <a:pos x="78" y="211"/>
              </a:cxn>
              <a:cxn ang="0">
                <a:pos x="55" y="250"/>
              </a:cxn>
              <a:cxn ang="0">
                <a:pos x="35" y="291"/>
              </a:cxn>
              <a:cxn ang="0">
                <a:pos x="20" y="333"/>
              </a:cxn>
              <a:cxn ang="0">
                <a:pos x="8" y="379"/>
              </a:cxn>
              <a:cxn ang="0">
                <a:pos x="2" y="424"/>
              </a:cxn>
              <a:cxn ang="0">
                <a:pos x="0" y="471"/>
              </a:cxn>
              <a:cxn ang="0">
                <a:pos x="4" y="519"/>
              </a:cxn>
            </a:cxnLst>
            <a:rect l="0" t="0" r="r" b="b"/>
            <a:pathLst>
              <a:path w="429" h="520">
                <a:moveTo>
                  <a:pt x="428" y="0"/>
                </a:moveTo>
                <a:lnTo>
                  <a:pt x="378" y="8"/>
                </a:lnTo>
                <a:lnTo>
                  <a:pt x="332" y="21"/>
                </a:lnTo>
                <a:lnTo>
                  <a:pt x="288" y="37"/>
                </a:lnTo>
                <a:lnTo>
                  <a:pt x="246" y="57"/>
                </a:lnTo>
                <a:lnTo>
                  <a:pt x="206" y="82"/>
                </a:lnTo>
                <a:lnTo>
                  <a:pt x="169" y="110"/>
                </a:lnTo>
                <a:lnTo>
                  <a:pt x="136" y="141"/>
                </a:lnTo>
                <a:lnTo>
                  <a:pt x="106" y="174"/>
                </a:lnTo>
                <a:lnTo>
                  <a:pt x="78" y="211"/>
                </a:lnTo>
                <a:lnTo>
                  <a:pt x="55" y="250"/>
                </a:lnTo>
                <a:lnTo>
                  <a:pt x="35" y="291"/>
                </a:lnTo>
                <a:lnTo>
                  <a:pt x="20" y="333"/>
                </a:lnTo>
                <a:lnTo>
                  <a:pt x="8" y="379"/>
                </a:lnTo>
                <a:lnTo>
                  <a:pt x="2" y="424"/>
                </a:lnTo>
                <a:lnTo>
                  <a:pt x="0" y="471"/>
                </a:lnTo>
                <a:lnTo>
                  <a:pt x="4" y="519"/>
                </a:lnTo>
              </a:path>
            </a:pathLst>
          </a:custGeom>
          <a:noFill/>
          <a:ln w="12700" cap="rnd" cmpd="sng">
            <a:solidFill>
              <a:srgbClr val="4B4B4B"/>
            </a:solidFill>
            <a:prstDash val="dash"/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58" name="Rectangle 46"/>
          <p:cNvSpPr>
            <a:spLocks noChangeArrowheads="1"/>
          </p:cNvSpPr>
          <p:nvPr/>
        </p:nvSpPr>
        <p:spPr bwMode="auto">
          <a:xfrm>
            <a:off x="2940050" y="7104063"/>
            <a:ext cx="173038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b="0" i="1">
                <a:solidFill>
                  <a:srgbClr val="000000"/>
                </a:solidFill>
              </a:rPr>
              <a:t>q</a:t>
            </a:r>
          </a:p>
        </p:txBody>
      </p:sp>
      <p:grpSp>
        <p:nvGrpSpPr>
          <p:cNvPr id="90159" name="Group 47"/>
          <p:cNvGrpSpPr>
            <a:grpSpLocks/>
          </p:cNvGrpSpPr>
          <p:nvPr/>
        </p:nvGrpSpPr>
        <p:grpSpPr bwMode="auto">
          <a:xfrm>
            <a:off x="4457700" y="5103813"/>
            <a:ext cx="815975" cy="571500"/>
            <a:chOff x="2808" y="2974"/>
            <a:chExt cx="514" cy="390"/>
          </a:xfrm>
        </p:grpSpPr>
        <p:sp>
          <p:nvSpPr>
            <p:cNvPr id="90160" name="Freeform 48"/>
            <p:cNvSpPr>
              <a:spLocks/>
            </p:cNvSpPr>
            <p:nvPr/>
          </p:nvSpPr>
          <p:spPr bwMode="auto">
            <a:xfrm>
              <a:off x="2897" y="3049"/>
              <a:ext cx="425" cy="315"/>
            </a:xfrm>
            <a:custGeom>
              <a:avLst/>
              <a:gdLst/>
              <a:ahLst/>
              <a:cxnLst>
                <a:cxn ang="0">
                  <a:pos x="424" y="314"/>
                </a:cxn>
                <a:cxn ang="0">
                  <a:pos x="415" y="277"/>
                </a:cxn>
                <a:cxn ang="0">
                  <a:pos x="405" y="242"/>
                </a:cxn>
                <a:cxn ang="0">
                  <a:pos x="390" y="209"/>
                </a:cxn>
                <a:cxn ang="0">
                  <a:pos x="374" y="177"/>
                </a:cxn>
                <a:cxn ang="0">
                  <a:pos x="352" y="147"/>
                </a:cxn>
                <a:cxn ang="0">
                  <a:pos x="330" y="120"/>
                </a:cxn>
                <a:cxn ang="0">
                  <a:pos x="304" y="95"/>
                </a:cxn>
                <a:cxn ang="0">
                  <a:pos x="278" y="72"/>
                </a:cxn>
                <a:cxn ang="0">
                  <a:pos x="247" y="53"/>
                </a:cxn>
                <a:cxn ang="0">
                  <a:pos x="216" y="36"/>
                </a:cxn>
                <a:cxn ang="0">
                  <a:pos x="182" y="22"/>
                </a:cxn>
                <a:cxn ang="0">
                  <a:pos x="148" y="11"/>
                </a:cxn>
                <a:cxn ang="0">
                  <a:pos x="111" y="5"/>
                </a:cxn>
                <a:cxn ang="0">
                  <a:pos x="75" y="0"/>
                </a:cxn>
                <a:cxn ang="0">
                  <a:pos x="37" y="0"/>
                </a:cxn>
                <a:cxn ang="0">
                  <a:pos x="0" y="2"/>
                </a:cxn>
              </a:cxnLst>
              <a:rect l="0" t="0" r="r" b="b"/>
              <a:pathLst>
                <a:path w="425" h="315">
                  <a:moveTo>
                    <a:pt x="424" y="314"/>
                  </a:moveTo>
                  <a:lnTo>
                    <a:pt x="415" y="277"/>
                  </a:lnTo>
                  <a:lnTo>
                    <a:pt x="405" y="242"/>
                  </a:lnTo>
                  <a:lnTo>
                    <a:pt x="390" y="209"/>
                  </a:lnTo>
                  <a:lnTo>
                    <a:pt x="374" y="177"/>
                  </a:lnTo>
                  <a:lnTo>
                    <a:pt x="352" y="147"/>
                  </a:lnTo>
                  <a:lnTo>
                    <a:pt x="330" y="120"/>
                  </a:lnTo>
                  <a:lnTo>
                    <a:pt x="304" y="95"/>
                  </a:lnTo>
                  <a:lnTo>
                    <a:pt x="278" y="72"/>
                  </a:lnTo>
                  <a:lnTo>
                    <a:pt x="247" y="53"/>
                  </a:lnTo>
                  <a:lnTo>
                    <a:pt x="216" y="36"/>
                  </a:lnTo>
                  <a:lnTo>
                    <a:pt x="182" y="22"/>
                  </a:lnTo>
                  <a:lnTo>
                    <a:pt x="148" y="11"/>
                  </a:lnTo>
                  <a:lnTo>
                    <a:pt x="111" y="5"/>
                  </a:lnTo>
                  <a:lnTo>
                    <a:pt x="75" y="0"/>
                  </a:lnTo>
                  <a:lnTo>
                    <a:pt x="37" y="0"/>
                  </a:lnTo>
                  <a:lnTo>
                    <a:pt x="0" y="2"/>
                  </a:lnTo>
                </a:path>
              </a:pathLst>
            </a:custGeom>
            <a:noFill/>
            <a:ln w="12700" cap="rnd" cmpd="sng">
              <a:solidFill>
                <a:srgbClr val="4B4B4B"/>
              </a:solidFill>
              <a:prstDash val="solid"/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0161" name="Rectangle 49"/>
            <p:cNvSpPr>
              <a:spLocks noChangeArrowheads="1"/>
            </p:cNvSpPr>
            <p:nvPr/>
          </p:nvSpPr>
          <p:spPr bwMode="auto">
            <a:xfrm>
              <a:off x="2808" y="2974"/>
              <a:ext cx="10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>
                  <a:solidFill>
                    <a:srgbClr val="000000"/>
                  </a:solidFill>
                </a:rPr>
                <a:t>p</a:t>
              </a:r>
            </a:p>
          </p:txBody>
        </p:sp>
      </p:grpSp>
      <p:grpSp>
        <p:nvGrpSpPr>
          <p:cNvPr id="90162" name="Group 50"/>
          <p:cNvGrpSpPr>
            <a:grpSpLocks/>
          </p:cNvGrpSpPr>
          <p:nvPr/>
        </p:nvGrpSpPr>
        <p:grpSpPr bwMode="auto">
          <a:xfrm>
            <a:off x="5784850" y="5970588"/>
            <a:ext cx="484188" cy="350837"/>
            <a:chOff x="3644" y="3565"/>
            <a:chExt cx="305" cy="240"/>
          </a:xfrm>
        </p:grpSpPr>
        <p:sp>
          <p:nvSpPr>
            <p:cNvPr id="90163" name="Freeform 51"/>
            <p:cNvSpPr>
              <a:spLocks/>
            </p:cNvSpPr>
            <p:nvPr/>
          </p:nvSpPr>
          <p:spPr bwMode="auto">
            <a:xfrm>
              <a:off x="3644" y="3565"/>
              <a:ext cx="223" cy="1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2" y="0"/>
                </a:cxn>
                <a:cxn ang="0">
                  <a:pos x="222" y="195"/>
                </a:cxn>
              </a:cxnLst>
              <a:rect l="0" t="0" r="r" b="b"/>
              <a:pathLst>
                <a:path w="223" h="196">
                  <a:moveTo>
                    <a:pt x="0" y="0"/>
                  </a:moveTo>
                  <a:lnTo>
                    <a:pt x="222" y="0"/>
                  </a:lnTo>
                  <a:lnTo>
                    <a:pt x="222" y="195"/>
                  </a:lnTo>
                </a:path>
              </a:pathLst>
            </a:custGeom>
            <a:noFill/>
            <a:ln w="12700" cap="rnd" cmpd="sng">
              <a:solidFill>
                <a:srgbClr val="4B4B4B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0164" name="Line 52"/>
            <p:cNvSpPr>
              <a:spLocks noChangeShapeType="1"/>
            </p:cNvSpPr>
            <p:nvPr/>
          </p:nvSpPr>
          <p:spPr bwMode="auto">
            <a:xfrm>
              <a:off x="3796" y="3759"/>
              <a:ext cx="153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5" name="Line 53"/>
            <p:cNvSpPr>
              <a:spLocks noChangeShapeType="1"/>
            </p:cNvSpPr>
            <p:nvPr/>
          </p:nvSpPr>
          <p:spPr bwMode="auto">
            <a:xfrm>
              <a:off x="3844" y="3805"/>
              <a:ext cx="58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0166" name="Line 54"/>
          <p:cNvSpPr>
            <a:spLocks noChangeShapeType="1"/>
          </p:cNvSpPr>
          <p:nvPr/>
        </p:nvSpPr>
        <p:spPr bwMode="auto">
          <a:xfrm>
            <a:off x="2724150" y="5756275"/>
            <a:ext cx="0" cy="43180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67" name="Line 55"/>
          <p:cNvSpPr>
            <a:spLocks noChangeShapeType="1"/>
          </p:cNvSpPr>
          <p:nvPr/>
        </p:nvSpPr>
        <p:spPr bwMode="auto">
          <a:xfrm>
            <a:off x="4095750" y="5756275"/>
            <a:ext cx="0" cy="43180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68" name="Line 56"/>
          <p:cNvSpPr>
            <a:spLocks noChangeShapeType="1"/>
          </p:cNvSpPr>
          <p:nvPr/>
        </p:nvSpPr>
        <p:spPr bwMode="auto">
          <a:xfrm>
            <a:off x="5467350" y="5756275"/>
            <a:ext cx="0" cy="43180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69" name="Line 57"/>
          <p:cNvSpPr>
            <a:spLocks noChangeShapeType="1"/>
          </p:cNvSpPr>
          <p:nvPr/>
        </p:nvSpPr>
        <p:spPr bwMode="auto">
          <a:xfrm>
            <a:off x="3943350" y="6953250"/>
            <a:ext cx="0" cy="43180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70" name="Text Box 58"/>
          <p:cNvSpPr txBox="1">
            <a:spLocks noChangeArrowheads="1"/>
          </p:cNvSpPr>
          <p:nvPr/>
        </p:nvSpPr>
        <p:spPr bwMode="auto">
          <a:xfrm>
            <a:off x="3352800" y="7359650"/>
            <a:ext cx="1120775" cy="3095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/>
              <a:t>new node</a:t>
            </a:r>
          </a:p>
        </p:txBody>
      </p:sp>
      <p:sp>
        <p:nvSpPr>
          <p:cNvPr id="59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Linked Lists Operations</a:t>
            </a:r>
          </a:p>
        </p:txBody>
      </p:sp>
    </p:spTree>
    <p:extLst>
      <p:ext uri="{BB962C8B-B14F-4D97-AF65-F5344CB8AC3E}">
        <p14:creationId xmlns:p14="http://schemas.microsoft.com/office/powerpoint/2010/main" val="233298843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idx="1"/>
          </p:nvPr>
        </p:nvSpPr>
        <p:spPr>
          <a:xfrm>
            <a:off x="476250" y="1143000"/>
            <a:ext cx="6038850" cy="7389813"/>
          </a:xfrm>
          <a:noFill/>
          <a:ln/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8000"/>
                </a:solidFill>
              </a:rPr>
              <a:t>Deletion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1800" dirty="0"/>
              <a:t>(removing a node from the front):</a:t>
            </a:r>
          </a:p>
          <a:p>
            <a:pPr marL="0" indent="0">
              <a:buNone/>
            </a:pPr>
            <a:r>
              <a:rPr lang="en-US" sz="1800" dirty="0"/>
              <a:t>This can be easily done by making the head pointer (list) point to the next node.</a:t>
            </a:r>
            <a:endParaRPr lang="en-US" sz="1800" b="1" dirty="0"/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auto">
          <a:xfrm>
            <a:off x="762000" y="6400800"/>
            <a:ext cx="5715000" cy="140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b="0">
                <a:solidFill>
                  <a:srgbClr val="000000"/>
                </a:solidFill>
              </a:rPr>
              <a:t>/*target the front node */</a:t>
            </a:r>
            <a:endParaRPr lang="en-US" sz="2000" b="0">
              <a:solidFill>
                <a:srgbClr val="000000"/>
              </a:solidFill>
              <a:latin typeface="Courier New" pitchFamily="49" charset="0"/>
            </a:endParaRPr>
          </a:p>
          <a:p>
            <a:pPr algn="l" defTabSz="457200"/>
            <a:r>
              <a:rPr lang="en-US" sz="1800" b="0">
                <a:solidFill>
                  <a:srgbClr val="000000"/>
                </a:solidFill>
              </a:rPr>
              <a:t>/* reassign pointer list */</a:t>
            </a:r>
            <a:endParaRPr lang="en-US" sz="2000" b="0">
              <a:solidFill>
                <a:srgbClr val="000000"/>
              </a:solidFill>
              <a:latin typeface="Courier New" pitchFamily="49" charset="0"/>
            </a:endParaRPr>
          </a:p>
          <a:p>
            <a:pPr algn="l" defTabSz="457200"/>
            <a:r>
              <a:rPr lang="en-US" sz="1800" b="0">
                <a:solidFill>
                  <a:srgbClr val="000000"/>
                </a:solidFill>
              </a:rPr>
              <a:t>/* get data from target */</a:t>
            </a:r>
            <a:endParaRPr lang="en-US" sz="2000" b="0">
              <a:solidFill>
                <a:srgbClr val="000000"/>
              </a:solidFill>
              <a:latin typeface="Courier New" pitchFamily="49" charset="0"/>
            </a:endParaRPr>
          </a:p>
          <a:p>
            <a:pPr algn="l" defTabSz="457200"/>
            <a:r>
              <a:rPr lang="en-US" sz="1800" b="0">
                <a:solidFill>
                  <a:srgbClr val="000000"/>
                </a:solidFill>
              </a:rPr>
              <a:t>/* delete target node */</a:t>
            </a:r>
            <a:endParaRPr lang="en-US" sz="2000" b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777875" y="6018213"/>
            <a:ext cx="379412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000" i="1" u="sng">
                <a:solidFill>
                  <a:srgbClr val="000000"/>
                </a:solidFill>
              </a:rPr>
              <a:t>Algorithm</a:t>
            </a:r>
            <a:r>
              <a:rPr lang="en-US" sz="2000" b="0">
                <a:solidFill>
                  <a:srgbClr val="000000"/>
                </a:solidFill>
              </a:rPr>
              <a:t> (pseudo code)  :</a:t>
            </a:r>
          </a:p>
        </p:txBody>
      </p:sp>
      <p:sp>
        <p:nvSpPr>
          <p:cNvPr id="92165" name="AutoShape 5"/>
          <p:cNvSpPr>
            <a:spLocks noChangeArrowheads="1"/>
          </p:cNvSpPr>
          <p:nvPr/>
        </p:nvSpPr>
        <p:spPr bwMode="auto">
          <a:xfrm>
            <a:off x="2376488" y="2743200"/>
            <a:ext cx="985837" cy="385763"/>
          </a:xfrm>
          <a:prstGeom prst="roundRect">
            <a:avLst>
              <a:gd name="adj" fmla="val 12495"/>
            </a:avLst>
          </a:prstGeom>
          <a:solidFill>
            <a:srgbClr val="C0C0C0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66" name="Line 6"/>
          <p:cNvSpPr>
            <a:spLocks noChangeShapeType="1"/>
          </p:cNvSpPr>
          <p:nvPr/>
        </p:nvSpPr>
        <p:spPr bwMode="auto">
          <a:xfrm>
            <a:off x="2867025" y="2743200"/>
            <a:ext cx="0" cy="385763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67" name="Line 7"/>
          <p:cNvSpPr>
            <a:spLocks noChangeShapeType="1"/>
          </p:cNvSpPr>
          <p:nvPr/>
        </p:nvSpPr>
        <p:spPr bwMode="auto">
          <a:xfrm>
            <a:off x="3197225" y="2963863"/>
            <a:ext cx="492125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68" name="Rectangle 8"/>
          <p:cNvSpPr>
            <a:spLocks noChangeArrowheads="1"/>
          </p:cNvSpPr>
          <p:nvPr/>
        </p:nvSpPr>
        <p:spPr bwMode="auto">
          <a:xfrm>
            <a:off x="2398712" y="2527300"/>
            <a:ext cx="1420283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900" b="0" i="1" dirty="0">
                <a:solidFill>
                  <a:srgbClr val="000000"/>
                </a:solidFill>
              </a:rPr>
              <a:t>info   next</a:t>
            </a:r>
          </a:p>
        </p:txBody>
      </p:sp>
      <p:sp>
        <p:nvSpPr>
          <p:cNvPr id="92169" name="AutoShape 9"/>
          <p:cNvSpPr>
            <a:spLocks noChangeArrowheads="1"/>
          </p:cNvSpPr>
          <p:nvPr/>
        </p:nvSpPr>
        <p:spPr bwMode="auto">
          <a:xfrm>
            <a:off x="3716338" y="2743200"/>
            <a:ext cx="985837" cy="385763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0" name="Line 10"/>
          <p:cNvSpPr>
            <a:spLocks noChangeShapeType="1"/>
          </p:cNvSpPr>
          <p:nvPr/>
        </p:nvSpPr>
        <p:spPr bwMode="auto">
          <a:xfrm>
            <a:off x="4208463" y="2743200"/>
            <a:ext cx="0" cy="385763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1" name="Line 11"/>
          <p:cNvSpPr>
            <a:spLocks noChangeShapeType="1"/>
          </p:cNvSpPr>
          <p:nvPr/>
        </p:nvSpPr>
        <p:spPr bwMode="auto">
          <a:xfrm>
            <a:off x="4538663" y="2963863"/>
            <a:ext cx="490537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2" name="Rectangle 12"/>
          <p:cNvSpPr>
            <a:spLocks noChangeArrowheads="1"/>
          </p:cNvSpPr>
          <p:nvPr/>
        </p:nvSpPr>
        <p:spPr bwMode="auto">
          <a:xfrm>
            <a:off x="3740150" y="2527300"/>
            <a:ext cx="1420284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900" b="0" i="1">
                <a:solidFill>
                  <a:srgbClr val="000000"/>
                </a:solidFill>
              </a:rPr>
              <a:t>info   next</a:t>
            </a:r>
          </a:p>
        </p:txBody>
      </p:sp>
      <p:sp>
        <p:nvSpPr>
          <p:cNvPr id="92173" name="Line 13"/>
          <p:cNvSpPr>
            <a:spLocks noChangeShapeType="1"/>
          </p:cNvSpPr>
          <p:nvPr/>
        </p:nvSpPr>
        <p:spPr bwMode="auto">
          <a:xfrm>
            <a:off x="2070100" y="2955925"/>
            <a:ext cx="327025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4" name="Rectangle 14"/>
          <p:cNvSpPr>
            <a:spLocks noChangeArrowheads="1"/>
          </p:cNvSpPr>
          <p:nvPr/>
        </p:nvSpPr>
        <p:spPr bwMode="auto">
          <a:xfrm>
            <a:off x="1747838" y="2825750"/>
            <a:ext cx="363537" cy="22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i="1">
                <a:solidFill>
                  <a:srgbClr val="000000"/>
                </a:solidFill>
              </a:rPr>
              <a:t>list</a:t>
            </a:r>
            <a:endParaRPr lang="en-US" sz="1800" b="0" i="1">
              <a:solidFill>
                <a:srgbClr val="000000"/>
              </a:solidFill>
            </a:endParaRPr>
          </a:p>
        </p:txBody>
      </p:sp>
      <p:sp>
        <p:nvSpPr>
          <p:cNvPr id="92175" name="Rectangle 15"/>
          <p:cNvSpPr>
            <a:spLocks noChangeArrowheads="1"/>
          </p:cNvSpPr>
          <p:nvPr/>
        </p:nvSpPr>
        <p:spPr bwMode="auto">
          <a:xfrm>
            <a:off x="2590800" y="2847975"/>
            <a:ext cx="169863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92176" name="Rectangle 16"/>
          <p:cNvSpPr>
            <a:spLocks noChangeArrowheads="1"/>
          </p:cNvSpPr>
          <p:nvPr/>
        </p:nvSpPr>
        <p:spPr bwMode="auto">
          <a:xfrm>
            <a:off x="3905250" y="2847975"/>
            <a:ext cx="169863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2177" name="AutoShape 17"/>
          <p:cNvSpPr>
            <a:spLocks noChangeArrowheads="1"/>
          </p:cNvSpPr>
          <p:nvPr/>
        </p:nvSpPr>
        <p:spPr bwMode="auto">
          <a:xfrm>
            <a:off x="5032375" y="2743200"/>
            <a:ext cx="985838" cy="385763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8" name="Line 18"/>
          <p:cNvSpPr>
            <a:spLocks noChangeShapeType="1"/>
          </p:cNvSpPr>
          <p:nvPr/>
        </p:nvSpPr>
        <p:spPr bwMode="auto">
          <a:xfrm>
            <a:off x="5522913" y="2743200"/>
            <a:ext cx="0" cy="385763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9" name="Rectangle 19"/>
          <p:cNvSpPr>
            <a:spLocks noChangeArrowheads="1"/>
          </p:cNvSpPr>
          <p:nvPr/>
        </p:nvSpPr>
        <p:spPr bwMode="auto">
          <a:xfrm>
            <a:off x="5054600" y="2527300"/>
            <a:ext cx="14224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900" b="0" i="1">
                <a:solidFill>
                  <a:srgbClr val="000000"/>
                </a:solidFill>
              </a:rPr>
              <a:t>info   next</a:t>
            </a:r>
          </a:p>
        </p:txBody>
      </p:sp>
      <p:sp>
        <p:nvSpPr>
          <p:cNvPr id="92180" name="Rectangle 20"/>
          <p:cNvSpPr>
            <a:spLocks noChangeArrowheads="1"/>
          </p:cNvSpPr>
          <p:nvPr/>
        </p:nvSpPr>
        <p:spPr bwMode="auto">
          <a:xfrm>
            <a:off x="5218113" y="2847975"/>
            <a:ext cx="17145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92181" name="AutoShape 21"/>
          <p:cNvSpPr>
            <a:spLocks noChangeArrowheads="1"/>
          </p:cNvSpPr>
          <p:nvPr/>
        </p:nvSpPr>
        <p:spPr bwMode="auto">
          <a:xfrm>
            <a:off x="2346325" y="3519488"/>
            <a:ext cx="987425" cy="385762"/>
          </a:xfrm>
          <a:prstGeom prst="roundRect">
            <a:avLst>
              <a:gd name="adj" fmla="val 12495"/>
            </a:avLst>
          </a:prstGeom>
          <a:solidFill>
            <a:srgbClr val="C0C0C0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82" name="Line 22"/>
          <p:cNvSpPr>
            <a:spLocks noChangeShapeType="1"/>
          </p:cNvSpPr>
          <p:nvPr/>
        </p:nvSpPr>
        <p:spPr bwMode="auto">
          <a:xfrm>
            <a:off x="2838450" y="3521075"/>
            <a:ext cx="0" cy="384175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83" name="Line 23"/>
          <p:cNvSpPr>
            <a:spLocks noChangeShapeType="1"/>
          </p:cNvSpPr>
          <p:nvPr/>
        </p:nvSpPr>
        <p:spPr bwMode="auto">
          <a:xfrm>
            <a:off x="3168650" y="3740150"/>
            <a:ext cx="490538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84" name="Rectangle 24"/>
          <p:cNvSpPr>
            <a:spLocks noChangeArrowheads="1"/>
          </p:cNvSpPr>
          <p:nvPr/>
        </p:nvSpPr>
        <p:spPr bwMode="auto">
          <a:xfrm>
            <a:off x="2370137" y="3306763"/>
            <a:ext cx="142028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900" b="0" i="1">
                <a:solidFill>
                  <a:srgbClr val="000000"/>
                </a:solidFill>
              </a:rPr>
              <a:t>info   next</a:t>
            </a:r>
          </a:p>
        </p:txBody>
      </p:sp>
      <p:sp>
        <p:nvSpPr>
          <p:cNvPr id="92185" name="AutoShape 25"/>
          <p:cNvSpPr>
            <a:spLocks noChangeArrowheads="1"/>
          </p:cNvSpPr>
          <p:nvPr/>
        </p:nvSpPr>
        <p:spPr bwMode="auto">
          <a:xfrm>
            <a:off x="3687763" y="3519488"/>
            <a:ext cx="985837" cy="385762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86" name="Line 26"/>
          <p:cNvSpPr>
            <a:spLocks noChangeShapeType="1"/>
          </p:cNvSpPr>
          <p:nvPr/>
        </p:nvSpPr>
        <p:spPr bwMode="auto">
          <a:xfrm>
            <a:off x="4178300" y="3521075"/>
            <a:ext cx="0" cy="384175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87" name="Line 27"/>
          <p:cNvSpPr>
            <a:spLocks noChangeShapeType="1"/>
          </p:cNvSpPr>
          <p:nvPr/>
        </p:nvSpPr>
        <p:spPr bwMode="auto">
          <a:xfrm>
            <a:off x="4510088" y="3740150"/>
            <a:ext cx="490537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88" name="Rectangle 28"/>
          <p:cNvSpPr>
            <a:spLocks noChangeArrowheads="1"/>
          </p:cNvSpPr>
          <p:nvPr/>
        </p:nvSpPr>
        <p:spPr bwMode="auto">
          <a:xfrm>
            <a:off x="3711575" y="3306763"/>
            <a:ext cx="1420284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900" b="0" i="1">
                <a:solidFill>
                  <a:srgbClr val="000000"/>
                </a:solidFill>
              </a:rPr>
              <a:t>info   next</a:t>
            </a:r>
          </a:p>
        </p:txBody>
      </p:sp>
      <p:sp>
        <p:nvSpPr>
          <p:cNvPr id="92189" name="Line 29"/>
          <p:cNvSpPr>
            <a:spLocks noChangeShapeType="1"/>
          </p:cNvSpPr>
          <p:nvPr/>
        </p:nvSpPr>
        <p:spPr bwMode="auto">
          <a:xfrm>
            <a:off x="2039938" y="3733800"/>
            <a:ext cx="327025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90" name="Rectangle 30"/>
          <p:cNvSpPr>
            <a:spLocks noChangeArrowheads="1"/>
          </p:cNvSpPr>
          <p:nvPr/>
        </p:nvSpPr>
        <p:spPr bwMode="auto">
          <a:xfrm>
            <a:off x="1600200" y="3654425"/>
            <a:ext cx="365125" cy="22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i="1">
                <a:solidFill>
                  <a:srgbClr val="000000"/>
                </a:solidFill>
              </a:rPr>
              <a:t>list</a:t>
            </a:r>
            <a:endParaRPr lang="en-US" sz="1800" b="0" i="1">
              <a:solidFill>
                <a:srgbClr val="000000"/>
              </a:solidFill>
            </a:endParaRPr>
          </a:p>
        </p:txBody>
      </p:sp>
      <p:sp>
        <p:nvSpPr>
          <p:cNvPr id="92191" name="Rectangle 31"/>
          <p:cNvSpPr>
            <a:spLocks noChangeArrowheads="1"/>
          </p:cNvSpPr>
          <p:nvPr/>
        </p:nvSpPr>
        <p:spPr bwMode="auto">
          <a:xfrm>
            <a:off x="2560638" y="3624263"/>
            <a:ext cx="171450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92192" name="Rectangle 32"/>
          <p:cNvSpPr>
            <a:spLocks noChangeArrowheads="1"/>
          </p:cNvSpPr>
          <p:nvPr/>
        </p:nvSpPr>
        <p:spPr bwMode="auto">
          <a:xfrm>
            <a:off x="3875088" y="3624263"/>
            <a:ext cx="169862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2193" name="AutoShape 33"/>
          <p:cNvSpPr>
            <a:spLocks noChangeArrowheads="1"/>
          </p:cNvSpPr>
          <p:nvPr/>
        </p:nvSpPr>
        <p:spPr bwMode="auto">
          <a:xfrm>
            <a:off x="5002213" y="3519488"/>
            <a:ext cx="987425" cy="385762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94" name="Line 34"/>
          <p:cNvSpPr>
            <a:spLocks noChangeShapeType="1"/>
          </p:cNvSpPr>
          <p:nvPr/>
        </p:nvSpPr>
        <p:spPr bwMode="auto">
          <a:xfrm>
            <a:off x="5494338" y="3521075"/>
            <a:ext cx="0" cy="384175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95" name="Rectangle 35"/>
          <p:cNvSpPr>
            <a:spLocks noChangeArrowheads="1"/>
          </p:cNvSpPr>
          <p:nvPr/>
        </p:nvSpPr>
        <p:spPr bwMode="auto">
          <a:xfrm>
            <a:off x="5026025" y="3306763"/>
            <a:ext cx="1420284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900" b="0" i="1">
                <a:solidFill>
                  <a:srgbClr val="000000"/>
                </a:solidFill>
              </a:rPr>
              <a:t>info   next</a:t>
            </a:r>
          </a:p>
        </p:txBody>
      </p:sp>
      <p:sp>
        <p:nvSpPr>
          <p:cNvPr id="92196" name="Rectangle 36"/>
          <p:cNvSpPr>
            <a:spLocks noChangeArrowheads="1"/>
          </p:cNvSpPr>
          <p:nvPr/>
        </p:nvSpPr>
        <p:spPr bwMode="auto">
          <a:xfrm>
            <a:off x="5191125" y="3624263"/>
            <a:ext cx="169863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92197" name="Line 37"/>
          <p:cNvSpPr>
            <a:spLocks noChangeShapeType="1"/>
          </p:cNvSpPr>
          <p:nvPr/>
        </p:nvSpPr>
        <p:spPr bwMode="auto">
          <a:xfrm>
            <a:off x="1524000" y="3371850"/>
            <a:ext cx="762000" cy="282575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98" name="Rectangle 38"/>
          <p:cNvSpPr>
            <a:spLocks noChangeArrowheads="1"/>
          </p:cNvSpPr>
          <p:nvPr/>
        </p:nvSpPr>
        <p:spPr bwMode="auto">
          <a:xfrm>
            <a:off x="1371600" y="3162300"/>
            <a:ext cx="169863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b="0" i="1">
                <a:solidFill>
                  <a:srgbClr val="000000"/>
                </a:solidFill>
              </a:rPr>
              <a:t>p</a:t>
            </a:r>
          </a:p>
        </p:txBody>
      </p:sp>
      <p:sp>
        <p:nvSpPr>
          <p:cNvPr id="92199" name="AutoShape 39"/>
          <p:cNvSpPr>
            <a:spLocks noChangeArrowheads="1"/>
          </p:cNvSpPr>
          <p:nvPr/>
        </p:nvSpPr>
        <p:spPr bwMode="auto">
          <a:xfrm>
            <a:off x="2368550" y="4400550"/>
            <a:ext cx="984250" cy="385763"/>
          </a:xfrm>
          <a:prstGeom prst="roundRect">
            <a:avLst>
              <a:gd name="adj" fmla="val 12495"/>
            </a:avLst>
          </a:prstGeom>
          <a:solidFill>
            <a:srgbClr val="C0C0C0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00" name="Line 40"/>
          <p:cNvSpPr>
            <a:spLocks noChangeShapeType="1"/>
          </p:cNvSpPr>
          <p:nvPr/>
        </p:nvSpPr>
        <p:spPr bwMode="auto">
          <a:xfrm>
            <a:off x="2859088" y="4400550"/>
            <a:ext cx="0" cy="384175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01" name="Line 41"/>
          <p:cNvSpPr>
            <a:spLocks noChangeShapeType="1"/>
          </p:cNvSpPr>
          <p:nvPr/>
        </p:nvSpPr>
        <p:spPr bwMode="auto">
          <a:xfrm>
            <a:off x="3189288" y="4621213"/>
            <a:ext cx="492125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02" name="Rectangle 42"/>
          <p:cNvSpPr>
            <a:spLocks noChangeArrowheads="1"/>
          </p:cNvSpPr>
          <p:nvPr/>
        </p:nvSpPr>
        <p:spPr bwMode="auto">
          <a:xfrm>
            <a:off x="2390775" y="4186238"/>
            <a:ext cx="1420284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900" b="0" i="1">
                <a:solidFill>
                  <a:srgbClr val="000000"/>
                </a:solidFill>
              </a:rPr>
              <a:t>info   next</a:t>
            </a:r>
          </a:p>
        </p:txBody>
      </p:sp>
      <p:sp>
        <p:nvSpPr>
          <p:cNvPr id="92203" name="AutoShape 43"/>
          <p:cNvSpPr>
            <a:spLocks noChangeArrowheads="1"/>
          </p:cNvSpPr>
          <p:nvPr/>
        </p:nvSpPr>
        <p:spPr bwMode="auto">
          <a:xfrm>
            <a:off x="3708400" y="4400550"/>
            <a:ext cx="985838" cy="385763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04" name="Line 44"/>
          <p:cNvSpPr>
            <a:spLocks noChangeShapeType="1"/>
          </p:cNvSpPr>
          <p:nvPr/>
        </p:nvSpPr>
        <p:spPr bwMode="auto">
          <a:xfrm>
            <a:off x="4200525" y="4400550"/>
            <a:ext cx="0" cy="384175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05" name="Line 45"/>
          <p:cNvSpPr>
            <a:spLocks noChangeShapeType="1"/>
          </p:cNvSpPr>
          <p:nvPr/>
        </p:nvSpPr>
        <p:spPr bwMode="auto">
          <a:xfrm>
            <a:off x="4529138" y="4621213"/>
            <a:ext cx="492125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06" name="Rectangle 46"/>
          <p:cNvSpPr>
            <a:spLocks noChangeArrowheads="1"/>
          </p:cNvSpPr>
          <p:nvPr/>
        </p:nvSpPr>
        <p:spPr bwMode="auto">
          <a:xfrm>
            <a:off x="3732212" y="4186238"/>
            <a:ext cx="142028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900" b="0" i="1">
                <a:solidFill>
                  <a:srgbClr val="000000"/>
                </a:solidFill>
              </a:rPr>
              <a:t>info   next</a:t>
            </a:r>
          </a:p>
        </p:txBody>
      </p:sp>
      <p:sp>
        <p:nvSpPr>
          <p:cNvPr id="92207" name="Rectangle 47"/>
          <p:cNvSpPr>
            <a:spLocks noChangeArrowheads="1"/>
          </p:cNvSpPr>
          <p:nvPr/>
        </p:nvSpPr>
        <p:spPr bwMode="auto">
          <a:xfrm>
            <a:off x="2514600" y="4919663"/>
            <a:ext cx="363538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i="1">
                <a:solidFill>
                  <a:srgbClr val="000000"/>
                </a:solidFill>
              </a:rPr>
              <a:t>list</a:t>
            </a:r>
            <a:endParaRPr lang="en-US" sz="1800" b="0" i="1">
              <a:solidFill>
                <a:srgbClr val="000000"/>
              </a:solidFill>
            </a:endParaRPr>
          </a:p>
        </p:txBody>
      </p:sp>
      <p:sp>
        <p:nvSpPr>
          <p:cNvPr id="92208" name="Rectangle 48"/>
          <p:cNvSpPr>
            <a:spLocks noChangeArrowheads="1"/>
          </p:cNvSpPr>
          <p:nvPr/>
        </p:nvSpPr>
        <p:spPr bwMode="auto">
          <a:xfrm>
            <a:off x="2581275" y="4503738"/>
            <a:ext cx="169863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92209" name="Rectangle 49"/>
          <p:cNvSpPr>
            <a:spLocks noChangeArrowheads="1"/>
          </p:cNvSpPr>
          <p:nvPr/>
        </p:nvSpPr>
        <p:spPr bwMode="auto">
          <a:xfrm>
            <a:off x="3897313" y="4503738"/>
            <a:ext cx="169862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2210" name="AutoShape 50"/>
          <p:cNvSpPr>
            <a:spLocks noChangeArrowheads="1"/>
          </p:cNvSpPr>
          <p:nvPr/>
        </p:nvSpPr>
        <p:spPr bwMode="auto">
          <a:xfrm>
            <a:off x="5022850" y="4400550"/>
            <a:ext cx="985838" cy="385763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11" name="Line 51"/>
          <p:cNvSpPr>
            <a:spLocks noChangeShapeType="1"/>
          </p:cNvSpPr>
          <p:nvPr/>
        </p:nvSpPr>
        <p:spPr bwMode="auto">
          <a:xfrm>
            <a:off x="5514975" y="4400550"/>
            <a:ext cx="0" cy="384175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12" name="Rectangle 52"/>
          <p:cNvSpPr>
            <a:spLocks noChangeArrowheads="1"/>
          </p:cNvSpPr>
          <p:nvPr/>
        </p:nvSpPr>
        <p:spPr bwMode="auto">
          <a:xfrm>
            <a:off x="5046662" y="4186238"/>
            <a:ext cx="142028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900" b="0" i="1">
                <a:solidFill>
                  <a:srgbClr val="000000"/>
                </a:solidFill>
              </a:rPr>
              <a:t>info   next</a:t>
            </a:r>
          </a:p>
        </p:txBody>
      </p:sp>
      <p:sp>
        <p:nvSpPr>
          <p:cNvPr id="92213" name="Rectangle 53"/>
          <p:cNvSpPr>
            <a:spLocks noChangeArrowheads="1"/>
          </p:cNvSpPr>
          <p:nvPr/>
        </p:nvSpPr>
        <p:spPr bwMode="auto">
          <a:xfrm>
            <a:off x="5210175" y="4503738"/>
            <a:ext cx="17145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92214" name="Freeform 54"/>
          <p:cNvSpPr>
            <a:spLocks/>
          </p:cNvSpPr>
          <p:nvPr/>
        </p:nvSpPr>
        <p:spPr bwMode="auto">
          <a:xfrm>
            <a:off x="2889250" y="4806950"/>
            <a:ext cx="987425" cy="284163"/>
          </a:xfrm>
          <a:custGeom>
            <a:avLst/>
            <a:gdLst/>
            <a:ahLst/>
            <a:cxnLst>
              <a:cxn ang="0">
                <a:pos x="0" y="175"/>
              </a:cxn>
              <a:cxn ang="0">
                <a:pos x="42" y="184"/>
              </a:cxn>
              <a:cxn ang="0">
                <a:pos x="85" y="189"/>
              </a:cxn>
              <a:cxn ang="0">
                <a:pos x="128" y="193"/>
              </a:cxn>
              <a:cxn ang="0">
                <a:pos x="172" y="193"/>
              </a:cxn>
              <a:cxn ang="0">
                <a:pos x="214" y="190"/>
              </a:cxn>
              <a:cxn ang="0">
                <a:pos x="257" y="185"/>
              </a:cxn>
              <a:cxn ang="0">
                <a:pos x="299" y="178"/>
              </a:cxn>
              <a:cxn ang="0">
                <a:pos x="341" y="166"/>
              </a:cxn>
              <a:cxn ang="0">
                <a:pos x="380" y="155"/>
              </a:cxn>
              <a:cxn ang="0">
                <a:pos x="419" y="139"/>
              </a:cxn>
              <a:cxn ang="0">
                <a:pos x="457" y="122"/>
              </a:cxn>
              <a:cxn ang="0">
                <a:pos x="493" y="102"/>
              </a:cxn>
              <a:cxn ang="0">
                <a:pos x="527" y="80"/>
              </a:cxn>
              <a:cxn ang="0">
                <a:pos x="561" y="55"/>
              </a:cxn>
              <a:cxn ang="0">
                <a:pos x="592" y="29"/>
              </a:cxn>
              <a:cxn ang="0">
                <a:pos x="621" y="0"/>
              </a:cxn>
            </a:cxnLst>
            <a:rect l="0" t="0" r="r" b="b"/>
            <a:pathLst>
              <a:path w="622" h="194">
                <a:moveTo>
                  <a:pt x="0" y="175"/>
                </a:moveTo>
                <a:lnTo>
                  <a:pt x="42" y="184"/>
                </a:lnTo>
                <a:lnTo>
                  <a:pt x="85" y="189"/>
                </a:lnTo>
                <a:lnTo>
                  <a:pt x="128" y="193"/>
                </a:lnTo>
                <a:lnTo>
                  <a:pt x="172" y="193"/>
                </a:lnTo>
                <a:lnTo>
                  <a:pt x="214" y="190"/>
                </a:lnTo>
                <a:lnTo>
                  <a:pt x="257" y="185"/>
                </a:lnTo>
                <a:lnTo>
                  <a:pt x="299" y="178"/>
                </a:lnTo>
                <a:lnTo>
                  <a:pt x="341" y="166"/>
                </a:lnTo>
                <a:lnTo>
                  <a:pt x="380" y="155"/>
                </a:lnTo>
                <a:lnTo>
                  <a:pt x="419" y="139"/>
                </a:lnTo>
                <a:lnTo>
                  <a:pt x="457" y="122"/>
                </a:lnTo>
                <a:lnTo>
                  <a:pt x="493" y="102"/>
                </a:lnTo>
                <a:lnTo>
                  <a:pt x="527" y="80"/>
                </a:lnTo>
                <a:lnTo>
                  <a:pt x="561" y="55"/>
                </a:lnTo>
                <a:lnTo>
                  <a:pt x="592" y="29"/>
                </a:lnTo>
                <a:lnTo>
                  <a:pt x="621" y="0"/>
                </a:lnTo>
              </a:path>
            </a:pathLst>
          </a:custGeom>
          <a:noFill/>
          <a:ln w="12700" cap="rnd" cmpd="sng">
            <a:solidFill>
              <a:srgbClr val="4B4B4B"/>
            </a:solidFill>
            <a:prstDash val="solid"/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15" name="Line 55"/>
          <p:cNvSpPr>
            <a:spLocks noChangeShapeType="1"/>
          </p:cNvSpPr>
          <p:nvPr/>
        </p:nvSpPr>
        <p:spPr bwMode="auto">
          <a:xfrm>
            <a:off x="1722438" y="4276725"/>
            <a:ext cx="655637" cy="257175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16" name="Rectangle 56"/>
          <p:cNvSpPr>
            <a:spLocks noChangeArrowheads="1"/>
          </p:cNvSpPr>
          <p:nvPr/>
        </p:nvSpPr>
        <p:spPr bwMode="auto">
          <a:xfrm>
            <a:off x="1524000" y="4146550"/>
            <a:ext cx="169863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b="0" i="1">
                <a:solidFill>
                  <a:srgbClr val="000000"/>
                </a:solidFill>
              </a:rPr>
              <a:t>p</a:t>
            </a:r>
          </a:p>
        </p:txBody>
      </p:sp>
      <p:sp>
        <p:nvSpPr>
          <p:cNvPr id="92217" name="AutoShape 57"/>
          <p:cNvSpPr>
            <a:spLocks noChangeArrowheads="1"/>
          </p:cNvSpPr>
          <p:nvPr/>
        </p:nvSpPr>
        <p:spPr bwMode="auto">
          <a:xfrm>
            <a:off x="1225550" y="5451475"/>
            <a:ext cx="985838" cy="385763"/>
          </a:xfrm>
          <a:prstGeom prst="roundRect">
            <a:avLst>
              <a:gd name="adj" fmla="val 12495"/>
            </a:avLst>
          </a:prstGeom>
          <a:solidFill>
            <a:srgbClr val="C0C0C0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18" name="Line 58"/>
          <p:cNvSpPr>
            <a:spLocks noChangeShapeType="1"/>
          </p:cNvSpPr>
          <p:nvPr/>
        </p:nvSpPr>
        <p:spPr bwMode="auto">
          <a:xfrm>
            <a:off x="1717675" y="5453063"/>
            <a:ext cx="0" cy="384175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19" name="Line 59"/>
          <p:cNvSpPr>
            <a:spLocks noChangeShapeType="1"/>
          </p:cNvSpPr>
          <p:nvPr/>
        </p:nvSpPr>
        <p:spPr bwMode="auto">
          <a:xfrm>
            <a:off x="2085975" y="5616575"/>
            <a:ext cx="1647825" cy="635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20" name="Rectangle 60"/>
          <p:cNvSpPr>
            <a:spLocks noChangeArrowheads="1"/>
          </p:cNvSpPr>
          <p:nvPr/>
        </p:nvSpPr>
        <p:spPr bwMode="auto">
          <a:xfrm>
            <a:off x="1249362" y="5238750"/>
            <a:ext cx="142028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900" b="0" i="1">
                <a:solidFill>
                  <a:srgbClr val="000000"/>
                </a:solidFill>
              </a:rPr>
              <a:t>info   next</a:t>
            </a:r>
          </a:p>
        </p:txBody>
      </p:sp>
      <p:sp>
        <p:nvSpPr>
          <p:cNvPr id="92221" name="AutoShape 61"/>
          <p:cNvSpPr>
            <a:spLocks noChangeArrowheads="1"/>
          </p:cNvSpPr>
          <p:nvPr/>
        </p:nvSpPr>
        <p:spPr bwMode="auto">
          <a:xfrm>
            <a:off x="3692525" y="5448300"/>
            <a:ext cx="985838" cy="387350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22" name="Line 62"/>
          <p:cNvSpPr>
            <a:spLocks noChangeShapeType="1"/>
          </p:cNvSpPr>
          <p:nvPr/>
        </p:nvSpPr>
        <p:spPr bwMode="auto">
          <a:xfrm>
            <a:off x="4184650" y="5449888"/>
            <a:ext cx="0" cy="385762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23" name="Line 63"/>
          <p:cNvSpPr>
            <a:spLocks noChangeShapeType="1"/>
          </p:cNvSpPr>
          <p:nvPr/>
        </p:nvSpPr>
        <p:spPr bwMode="auto">
          <a:xfrm>
            <a:off x="4513263" y="5670550"/>
            <a:ext cx="492125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24" name="Rectangle 64"/>
          <p:cNvSpPr>
            <a:spLocks noChangeArrowheads="1"/>
          </p:cNvSpPr>
          <p:nvPr/>
        </p:nvSpPr>
        <p:spPr bwMode="auto">
          <a:xfrm>
            <a:off x="3716337" y="5235575"/>
            <a:ext cx="142028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900" b="0" i="1">
                <a:solidFill>
                  <a:srgbClr val="000000"/>
                </a:solidFill>
              </a:rPr>
              <a:t>info   next</a:t>
            </a:r>
          </a:p>
        </p:txBody>
      </p:sp>
      <p:sp>
        <p:nvSpPr>
          <p:cNvPr id="92225" name="Line 65"/>
          <p:cNvSpPr>
            <a:spLocks noChangeShapeType="1"/>
          </p:cNvSpPr>
          <p:nvPr/>
        </p:nvSpPr>
        <p:spPr bwMode="auto">
          <a:xfrm>
            <a:off x="919163" y="5664200"/>
            <a:ext cx="327025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26" name="Rectangle 66"/>
          <p:cNvSpPr>
            <a:spLocks noChangeArrowheads="1"/>
          </p:cNvSpPr>
          <p:nvPr/>
        </p:nvSpPr>
        <p:spPr bwMode="auto">
          <a:xfrm>
            <a:off x="2971800" y="5694363"/>
            <a:ext cx="365125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i="1">
                <a:solidFill>
                  <a:srgbClr val="000000"/>
                </a:solidFill>
              </a:rPr>
              <a:t>list</a:t>
            </a:r>
            <a:endParaRPr lang="en-US" sz="1800" b="0" i="1">
              <a:solidFill>
                <a:srgbClr val="000000"/>
              </a:solidFill>
            </a:endParaRPr>
          </a:p>
        </p:txBody>
      </p:sp>
      <p:sp>
        <p:nvSpPr>
          <p:cNvPr id="92227" name="Rectangle 67"/>
          <p:cNvSpPr>
            <a:spLocks noChangeArrowheads="1"/>
          </p:cNvSpPr>
          <p:nvPr/>
        </p:nvSpPr>
        <p:spPr bwMode="auto">
          <a:xfrm>
            <a:off x="1439863" y="5556250"/>
            <a:ext cx="169862" cy="22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92228" name="Rectangle 68"/>
          <p:cNvSpPr>
            <a:spLocks noChangeArrowheads="1"/>
          </p:cNvSpPr>
          <p:nvPr/>
        </p:nvSpPr>
        <p:spPr bwMode="auto">
          <a:xfrm>
            <a:off x="3879850" y="5554663"/>
            <a:ext cx="169863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2229" name="AutoShape 69"/>
          <p:cNvSpPr>
            <a:spLocks noChangeArrowheads="1"/>
          </p:cNvSpPr>
          <p:nvPr/>
        </p:nvSpPr>
        <p:spPr bwMode="auto">
          <a:xfrm>
            <a:off x="5006975" y="5448300"/>
            <a:ext cx="985838" cy="387350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30" name="Line 70"/>
          <p:cNvSpPr>
            <a:spLocks noChangeShapeType="1"/>
          </p:cNvSpPr>
          <p:nvPr/>
        </p:nvSpPr>
        <p:spPr bwMode="auto">
          <a:xfrm>
            <a:off x="5497513" y="5449888"/>
            <a:ext cx="0" cy="385762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31" name="Rectangle 71"/>
          <p:cNvSpPr>
            <a:spLocks noChangeArrowheads="1"/>
          </p:cNvSpPr>
          <p:nvPr/>
        </p:nvSpPr>
        <p:spPr bwMode="auto">
          <a:xfrm>
            <a:off x="5029200" y="5235575"/>
            <a:ext cx="14224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900" b="0" i="1">
                <a:solidFill>
                  <a:srgbClr val="000000"/>
                </a:solidFill>
              </a:rPr>
              <a:t>info   next</a:t>
            </a:r>
          </a:p>
        </p:txBody>
      </p:sp>
      <p:sp>
        <p:nvSpPr>
          <p:cNvPr id="92232" name="Rectangle 72"/>
          <p:cNvSpPr>
            <a:spLocks noChangeArrowheads="1"/>
          </p:cNvSpPr>
          <p:nvPr/>
        </p:nvSpPr>
        <p:spPr bwMode="auto">
          <a:xfrm>
            <a:off x="5194300" y="5554663"/>
            <a:ext cx="171450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92233" name="Line 73"/>
          <p:cNvSpPr>
            <a:spLocks noChangeShapeType="1"/>
          </p:cNvSpPr>
          <p:nvPr/>
        </p:nvSpPr>
        <p:spPr bwMode="auto">
          <a:xfrm>
            <a:off x="3368675" y="5762625"/>
            <a:ext cx="328613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34" name="Rectangle 74"/>
          <p:cNvSpPr>
            <a:spLocks noChangeArrowheads="1"/>
          </p:cNvSpPr>
          <p:nvPr/>
        </p:nvSpPr>
        <p:spPr bwMode="auto">
          <a:xfrm>
            <a:off x="762000" y="5505450"/>
            <a:ext cx="169863" cy="22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b="0" i="1">
                <a:solidFill>
                  <a:srgbClr val="000000"/>
                </a:solidFill>
              </a:rPr>
              <a:t>p</a:t>
            </a:r>
          </a:p>
        </p:txBody>
      </p:sp>
      <p:grpSp>
        <p:nvGrpSpPr>
          <p:cNvPr id="92235" name="Group 75"/>
          <p:cNvGrpSpPr>
            <a:grpSpLocks/>
          </p:cNvGrpSpPr>
          <p:nvPr/>
        </p:nvGrpSpPr>
        <p:grpSpPr bwMode="auto">
          <a:xfrm>
            <a:off x="5838825" y="2924175"/>
            <a:ext cx="473075" cy="296863"/>
            <a:chOff x="3678" y="1446"/>
            <a:chExt cx="298" cy="203"/>
          </a:xfrm>
        </p:grpSpPr>
        <p:sp>
          <p:nvSpPr>
            <p:cNvPr id="92236" name="Freeform 76"/>
            <p:cNvSpPr>
              <a:spLocks/>
            </p:cNvSpPr>
            <p:nvPr/>
          </p:nvSpPr>
          <p:spPr bwMode="auto">
            <a:xfrm>
              <a:off x="3678" y="1446"/>
              <a:ext cx="219" cy="1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" y="0"/>
                </a:cxn>
                <a:cxn ang="0">
                  <a:pos x="218" y="164"/>
                </a:cxn>
              </a:cxnLst>
              <a:rect l="0" t="0" r="r" b="b"/>
              <a:pathLst>
                <a:path w="219" h="165">
                  <a:moveTo>
                    <a:pt x="0" y="0"/>
                  </a:moveTo>
                  <a:lnTo>
                    <a:pt x="218" y="0"/>
                  </a:lnTo>
                  <a:lnTo>
                    <a:pt x="218" y="164"/>
                  </a:lnTo>
                </a:path>
              </a:pathLst>
            </a:custGeom>
            <a:noFill/>
            <a:ln w="12700" cap="rnd" cmpd="sng">
              <a:solidFill>
                <a:srgbClr val="4B4B4B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37" name="Line 77"/>
            <p:cNvSpPr>
              <a:spLocks noChangeShapeType="1"/>
            </p:cNvSpPr>
            <p:nvPr/>
          </p:nvSpPr>
          <p:spPr bwMode="auto">
            <a:xfrm>
              <a:off x="3828" y="1610"/>
              <a:ext cx="148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38" name="Line 78"/>
            <p:cNvSpPr>
              <a:spLocks noChangeShapeType="1"/>
            </p:cNvSpPr>
            <p:nvPr/>
          </p:nvSpPr>
          <p:spPr bwMode="auto">
            <a:xfrm>
              <a:off x="3874" y="1649"/>
              <a:ext cx="56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239" name="Group 79"/>
          <p:cNvGrpSpPr>
            <a:grpSpLocks/>
          </p:cNvGrpSpPr>
          <p:nvPr/>
        </p:nvGrpSpPr>
        <p:grpSpPr bwMode="auto">
          <a:xfrm>
            <a:off x="5821363" y="3695700"/>
            <a:ext cx="471487" cy="298450"/>
            <a:chOff x="3667" y="1972"/>
            <a:chExt cx="297" cy="204"/>
          </a:xfrm>
        </p:grpSpPr>
        <p:sp>
          <p:nvSpPr>
            <p:cNvPr id="92240" name="Freeform 80"/>
            <p:cNvSpPr>
              <a:spLocks/>
            </p:cNvSpPr>
            <p:nvPr/>
          </p:nvSpPr>
          <p:spPr bwMode="auto">
            <a:xfrm>
              <a:off x="3667" y="1972"/>
              <a:ext cx="219" cy="1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" y="0"/>
                </a:cxn>
                <a:cxn ang="0">
                  <a:pos x="218" y="165"/>
                </a:cxn>
              </a:cxnLst>
              <a:rect l="0" t="0" r="r" b="b"/>
              <a:pathLst>
                <a:path w="219" h="166">
                  <a:moveTo>
                    <a:pt x="0" y="0"/>
                  </a:moveTo>
                  <a:lnTo>
                    <a:pt x="218" y="0"/>
                  </a:lnTo>
                  <a:lnTo>
                    <a:pt x="218" y="165"/>
                  </a:lnTo>
                </a:path>
              </a:pathLst>
            </a:custGeom>
            <a:noFill/>
            <a:ln w="12700" cap="rnd" cmpd="sng">
              <a:solidFill>
                <a:srgbClr val="4B4B4B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41" name="Line 81"/>
            <p:cNvSpPr>
              <a:spLocks noChangeShapeType="1"/>
            </p:cNvSpPr>
            <p:nvPr/>
          </p:nvSpPr>
          <p:spPr bwMode="auto">
            <a:xfrm>
              <a:off x="3816" y="2136"/>
              <a:ext cx="148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42" name="Line 82"/>
            <p:cNvSpPr>
              <a:spLocks noChangeShapeType="1"/>
            </p:cNvSpPr>
            <p:nvPr/>
          </p:nvSpPr>
          <p:spPr bwMode="auto">
            <a:xfrm>
              <a:off x="3862" y="2176"/>
              <a:ext cx="57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243" name="Group 83"/>
          <p:cNvGrpSpPr>
            <a:grpSpLocks/>
          </p:cNvGrpSpPr>
          <p:nvPr/>
        </p:nvGrpSpPr>
        <p:grpSpPr bwMode="auto">
          <a:xfrm>
            <a:off x="5819775" y="4583113"/>
            <a:ext cx="473075" cy="296862"/>
            <a:chOff x="3666" y="2578"/>
            <a:chExt cx="298" cy="203"/>
          </a:xfrm>
        </p:grpSpPr>
        <p:sp>
          <p:nvSpPr>
            <p:cNvPr id="92244" name="Freeform 84"/>
            <p:cNvSpPr>
              <a:spLocks/>
            </p:cNvSpPr>
            <p:nvPr/>
          </p:nvSpPr>
          <p:spPr bwMode="auto">
            <a:xfrm>
              <a:off x="3666" y="2578"/>
              <a:ext cx="219" cy="1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" y="0"/>
                </a:cxn>
                <a:cxn ang="0">
                  <a:pos x="218" y="165"/>
                </a:cxn>
              </a:cxnLst>
              <a:rect l="0" t="0" r="r" b="b"/>
              <a:pathLst>
                <a:path w="219" h="166">
                  <a:moveTo>
                    <a:pt x="0" y="0"/>
                  </a:moveTo>
                  <a:lnTo>
                    <a:pt x="218" y="0"/>
                  </a:lnTo>
                  <a:lnTo>
                    <a:pt x="218" y="165"/>
                  </a:lnTo>
                </a:path>
              </a:pathLst>
            </a:custGeom>
            <a:noFill/>
            <a:ln w="12700" cap="rnd" cmpd="sng">
              <a:solidFill>
                <a:srgbClr val="4B4B4B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45" name="Line 85"/>
            <p:cNvSpPr>
              <a:spLocks noChangeShapeType="1"/>
            </p:cNvSpPr>
            <p:nvPr/>
          </p:nvSpPr>
          <p:spPr bwMode="auto">
            <a:xfrm>
              <a:off x="3816" y="2742"/>
              <a:ext cx="148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46" name="Line 86"/>
            <p:cNvSpPr>
              <a:spLocks noChangeShapeType="1"/>
            </p:cNvSpPr>
            <p:nvPr/>
          </p:nvSpPr>
          <p:spPr bwMode="auto">
            <a:xfrm>
              <a:off x="3861" y="2781"/>
              <a:ext cx="57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247" name="Group 87"/>
          <p:cNvGrpSpPr>
            <a:grpSpLocks/>
          </p:cNvGrpSpPr>
          <p:nvPr/>
        </p:nvGrpSpPr>
        <p:grpSpPr bwMode="auto">
          <a:xfrm>
            <a:off x="5802313" y="5640388"/>
            <a:ext cx="473075" cy="298450"/>
            <a:chOff x="3655" y="3300"/>
            <a:chExt cx="298" cy="203"/>
          </a:xfrm>
        </p:grpSpPr>
        <p:sp>
          <p:nvSpPr>
            <p:cNvPr id="92248" name="Freeform 88"/>
            <p:cNvSpPr>
              <a:spLocks/>
            </p:cNvSpPr>
            <p:nvPr/>
          </p:nvSpPr>
          <p:spPr bwMode="auto">
            <a:xfrm>
              <a:off x="3655" y="3300"/>
              <a:ext cx="219" cy="1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" y="0"/>
                </a:cxn>
                <a:cxn ang="0">
                  <a:pos x="218" y="165"/>
                </a:cxn>
              </a:cxnLst>
              <a:rect l="0" t="0" r="r" b="b"/>
              <a:pathLst>
                <a:path w="219" h="166">
                  <a:moveTo>
                    <a:pt x="0" y="0"/>
                  </a:moveTo>
                  <a:lnTo>
                    <a:pt x="218" y="0"/>
                  </a:lnTo>
                  <a:lnTo>
                    <a:pt x="218" y="165"/>
                  </a:lnTo>
                </a:path>
              </a:pathLst>
            </a:custGeom>
            <a:noFill/>
            <a:ln w="12700" cap="rnd" cmpd="sng">
              <a:solidFill>
                <a:srgbClr val="4B4B4B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49" name="Line 89"/>
            <p:cNvSpPr>
              <a:spLocks noChangeShapeType="1"/>
            </p:cNvSpPr>
            <p:nvPr/>
          </p:nvSpPr>
          <p:spPr bwMode="auto">
            <a:xfrm>
              <a:off x="3804" y="3464"/>
              <a:ext cx="149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50" name="Line 90"/>
            <p:cNvSpPr>
              <a:spLocks noChangeShapeType="1"/>
            </p:cNvSpPr>
            <p:nvPr/>
          </p:nvSpPr>
          <p:spPr bwMode="auto">
            <a:xfrm>
              <a:off x="3850" y="3503"/>
              <a:ext cx="57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251" name="Line 91"/>
          <p:cNvSpPr>
            <a:spLocks noChangeShapeType="1"/>
          </p:cNvSpPr>
          <p:nvPr/>
        </p:nvSpPr>
        <p:spPr bwMode="auto">
          <a:xfrm>
            <a:off x="2590800" y="5411788"/>
            <a:ext cx="228600" cy="422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52" name="Line 92"/>
          <p:cNvSpPr>
            <a:spLocks noChangeShapeType="1"/>
          </p:cNvSpPr>
          <p:nvPr/>
        </p:nvSpPr>
        <p:spPr bwMode="auto">
          <a:xfrm flipH="1">
            <a:off x="2590800" y="5411788"/>
            <a:ext cx="228600" cy="422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Linked Lists Operations</a:t>
            </a:r>
          </a:p>
        </p:txBody>
      </p:sp>
    </p:spTree>
    <p:extLst>
      <p:ext uri="{BB962C8B-B14F-4D97-AF65-F5344CB8AC3E}">
        <p14:creationId xmlns:p14="http://schemas.microsoft.com/office/powerpoint/2010/main" val="295131016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idx="1"/>
          </p:nvPr>
        </p:nvSpPr>
        <p:spPr>
          <a:xfrm>
            <a:off x="549275" y="1200150"/>
            <a:ext cx="5734050" cy="7391400"/>
          </a:xfrm>
          <a:noFill/>
          <a:ln/>
        </p:spPr>
        <p:txBody>
          <a:bodyPr/>
          <a:lstStyle/>
          <a:p>
            <a:pPr lvl="1">
              <a:buFont typeface="Wingdings" pitchFamily="2" charset="2"/>
              <a:buChar char="F"/>
            </a:pPr>
            <a:r>
              <a:rPr lang="en-US" sz="2000" dirty="0"/>
              <a:t>Delete </a:t>
            </a:r>
            <a:r>
              <a:rPr lang="en-US" sz="2000" b="1" dirty="0"/>
              <a:t>first</a:t>
            </a:r>
            <a:r>
              <a:rPr lang="en-US" sz="2000" dirty="0"/>
              <a:t> node (front of list)</a:t>
            </a:r>
          </a:p>
          <a:p>
            <a:pPr lvl="2">
              <a:buFont typeface="Wingdings" pitchFamily="2" charset="2"/>
              <a:buChar char="G"/>
            </a:pPr>
            <a:r>
              <a:rPr lang="en-US" sz="2000" dirty="0"/>
              <a:t>Easily done:</a:t>
            </a:r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Char char="F"/>
            </a:pPr>
            <a:r>
              <a:rPr lang="en-US" sz="2000" dirty="0">
                <a:solidFill>
                  <a:srgbClr val="000000"/>
                </a:solidFill>
              </a:rPr>
              <a:t>Deleting any node p</a:t>
            </a:r>
            <a:r>
              <a:rPr lang="en-US" sz="2000" i="1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(somewhere within the list)</a:t>
            </a:r>
            <a:endParaRPr lang="en-US" sz="2000" dirty="0"/>
          </a:p>
          <a:p>
            <a:pPr lvl="2">
              <a:buFont typeface="Wingdings" pitchFamily="2" charset="2"/>
              <a:buChar char="G"/>
            </a:pPr>
            <a:r>
              <a:rPr lang="en-US" sz="2000" dirty="0">
                <a:solidFill>
                  <a:srgbClr val="000000"/>
                </a:solidFill>
              </a:rPr>
              <a:t>2 reference links (r and p) are needed</a:t>
            </a:r>
          </a:p>
          <a:p>
            <a:pPr lvl="2">
              <a:buFont typeface="Wingdings" pitchFamily="2" charset="2"/>
              <a:buChar char="G"/>
            </a:pPr>
            <a:r>
              <a:rPr lang="en-US" sz="2000" dirty="0">
                <a:solidFill>
                  <a:srgbClr val="000000"/>
                </a:solidFill>
              </a:rPr>
              <a:t>Need to access the previous node r</a:t>
            </a:r>
          </a:p>
          <a:p>
            <a:pPr lvl="2">
              <a:buFont typeface="Wingdings" pitchFamily="2" charset="2"/>
              <a:buChar char="G"/>
            </a:pPr>
            <a:r>
              <a:rPr lang="en-US" sz="2000" dirty="0">
                <a:solidFill>
                  <a:srgbClr val="000000"/>
                </a:solidFill>
              </a:rPr>
              <a:t>r is always one node behind p</a:t>
            </a:r>
          </a:p>
        </p:txBody>
      </p:sp>
      <p:sp>
        <p:nvSpPr>
          <p:cNvPr id="94211" name="AutoShape 3"/>
          <p:cNvSpPr>
            <a:spLocks noChangeArrowheads="1"/>
          </p:cNvSpPr>
          <p:nvPr/>
        </p:nvSpPr>
        <p:spPr bwMode="auto">
          <a:xfrm>
            <a:off x="2854325" y="2649538"/>
            <a:ext cx="823913" cy="436562"/>
          </a:xfrm>
          <a:prstGeom prst="roundRect">
            <a:avLst>
              <a:gd name="adj" fmla="val 12495"/>
            </a:avLst>
          </a:prstGeom>
          <a:solidFill>
            <a:srgbClr val="C0C0C0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12" name="Line 4"/>
          <p:cNvSpPr>
            <a:spLocks noChangeShapeType="1"/>
          </p:cNvSpPr>
          <p:nvPr/>
        </p:nvSpPr>
        <p:spPr bwMode="auto">
          <a:xfrm>
            <a:off x="3265488" y="2651125"/>
            <a:ext cx="0" cy="433388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13" name="Line 5"/>
          <p:cNvSpPr>
            <a:spLocks noChangeShapeType="1"/>
          </p:cNvSpPr>
          <p:nvPr/>
        </p:nvSpPr>
        <p:spPr bwMode="auto">
          <a:xfrm>
            <a:off x="3541713" y="2898775"/>
            <a:ext cx="411162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14" name="AutoShape 6"/>
          <p:cNvSpPr>
            <a:spLocks noChangeArrowheads="1"/>
          </p:cNvSpPr>
          <p:nvPr/>
        </p:nvSpPr>
        <p:spPr bwMode="auto">
          <a:xfrm>
            <a:off x="3978275" y="2649538"/>
            <a:ext cx="823913" cy="436562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15" name="Line 7"/>
          <p:cNvSpPr>
            <a:spLocks noChangeShapeType="1"/>
          </p:cNvSpPr>
          <p:nvPr/>
        </p:nvSpPr>
        <p:spPr bwMode="auto">
          <a:xfrm>
            <a:off x="4389438" y="2651125"/>
            <a:ext cx="0" cy="433388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16" name="Line 8"/>
          <p:cNvSpPr>
            <a:spLocks noChangeShapeType="1"/>
          </p:cNvSpPr>
          <p:nvPr/>
        </p:nvSpPr>
        <p:spPr bwMode="auto">
          <a:xfrm>
            <a:off x="4665663" y="2898775"/>
            <a:ext cx="411162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17" name="Line 9"/>
          <p:cNvSpPr>
            <a:spLocks noChangeShapeType="1"/>
          </p:cNvSpPr>
          <p:nvPr/>
        </p:nvSpPr>
        <p:spPr bwMode="auto">
          <a:xfrm>
            <a:off x="2597150" y="2890838"/>
            <a:ext cx="274638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18" name="Rectangle 10"/>
          <p:cNvSpPr>
            <a:spLocks noChangeArrowheads="1"/>
          </p:cNvSpPr>
          <p:nvPr/>
        </p:nvSpPr>
        <p:spPr bwMode="auto">
          <a:xfrm>
            <a:off x="2328863" y="2746375"/>
            <a:ext cx="303212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b="0" i="1">
                <a:solidFill>
                  <a:srgbClr val="000000"/>
                </a:solidFill>
              </a:rPr>
              <a:t>list</a:t>
            </a:r>
          </a:p>
        </p:txBody>
      </p:sp>
      <p:sp>
        <p:nvSpPr>
          <p:cNvPr id="94219" name="Rectangle 11"/>
          <p:cNvSpPr>
            <a:spLocks noChangeArrowheads="1"/>
          </p:cNvSpPr>
          <p:nvPr/>
        </p:nvSpPr>
        <p:spPr bwMode="auto">
          <a:xfrm>
            <a:off x="3033713" y="2768600"/>
            <a:ext cx="142875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94220" name="Rectangle 12"/>
          <p:cNvSpPr>
            <a:spLocks noChangeArrowheads="1"/>
          </p:cNvSpPr>
          <p:nvPr/>
        </p:nvSpPr>
        <p:spPr bwMode="auto">
          <a:xfrm>
            <a:off x="4133850" y="2768600"/>
            <a:ext cx="144463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94221" name="AutoShape 13"/>
          <p:cNvSpPr>
            <a:spLocks noChangeArrowheads="1"/>
          </p:cNvSpPr>
          <p:nvPr/>
        </p:nvSpPr>
        <p:spPr bwMode="auto">
          <a:xfrm>
            <a:off x="5078413" y="2649538"/>
            <a:ext cx="823912" cy="436562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22" name="Line 14"/>
          <p:cNvSpPr>
            <a:spLocks noChangeShapeType="1"/>
          </p:cNvSpPr>
          <p:nvPr/>
        </p:nvSpPr>
        <p:spPr bwMode="auto">
          <a:xfrm>
            <a:off x="5489575" y="2651125"/>
            <a:ext cx="0" cy="433388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23" name="Rectangle 15"/>
          <p:cNvSpPr>
            <a:spLocks noChangeArrowheads="1"/>
          </p:cNvSpPr>
          <p:nvPr/>
        </p:nvSpPr>
        <p:spPr bwMode="auto">
          <a:xfrm>
            <a:off x="5235575" y="2768600"/>
            <a:ext cx="142875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94224" name="Freeform 16"/>
          <p:cNvSpPr>
            <a:spLocks/>
          </p:cNvSpPr>
          <p:nvPr/>
        </p:nvSpPr>
        <p:spPr bwMode="auto">
          <a:xfrm>
            <a:off x="2352675" y="2122488"/>
            <a:ext cx="719138" cy="488950"/>
          </a:xfrm>
          <a:custGeom>
            <a:avLst/>
            <a:gdLst/>
            <a:ahLst/>
            <a:cxnLst>
              <a:cxn ang="0">
                <a:pos x="452" y="333"/>
              </a:cxn>
              <a:cxn ang="0">
                <a:pos x="438" y="293"/>
              </a:cxn>
              <a:cxn ang="0">
                <a:pos x="423" y="254"/>
              </a:cxn>
              <a:cxn ang="0">
                <a:pos x="405" y="218"/>
              </a:cxn>
              <a:cxn ang="0">
                <a:pos x="385" y="183"/>
              </a:cxn>
              <a:cxn ang="0">
                <a:pos x="361" y="152"/>
              </a:cxn>
              <a:cxn ang="0">
                <a:pos x="336" y="123"/>
              </a:cxn>
              <a:cxn ang="0">
                <a:pos x="308" y="97"/>
              </a:cxn>
              <a:cxn ang="0">
                <a:pos x="279" y="73"/>
              </a:cxn>
              <a:cxn ang="0">
                <a:pos x="248" y="54"/>
              </a:cxn>
              <a:cxn ang="0">
                <a:pos x="215" y="35"/>
              </a:cxn>
              <a:cxn ang="0">
                <a:pos x="181" y="22"/>
              </a:cxn>
              <a:cxn ang="0">
                <a:pos x="146" y="10"/>
              </a:cxn>
              <a:cxn ang="0">
                <a:pos x="110" y="3"/>
              </a:cxn>
              <a:cxn ang="0">
                <a:pos x="74" y="0"/>
              </a:cxn>
              <a:cxn ang="0">
                <a:pos x="36" y="1"/>
              </a:cxn>
              <a:cxn ang="0">
                <a:pos x="0" y="4"/>
              </a:cxn>
            </a:cxnLst>
            <a:rect l="0" t="0" r="r" b="b"/>
            <a:pathLst>
              <a:path w="453" h="334">
                <a:moveTo>
                  <a:pt x="452" y="333"/>
                </a:moveTo>
                <a:lnTo>
                  <a:pt x="438" y="293"/>
                </a:lnTo>
                <a:lnTo>
                  <a:pt x="423" y="254"/>
                </a:lnTo>
                <a:lnTo>
                  <a:pt x="405" y="218"/>
                </a:lnTo>
                <a:lnTo>
                  <a:pt x="385" y="183"/>
                </a:lnTo>
                <a:lnTo>
                  <a:pt x="361" y="152"/>
                </a:lnTo>
                <a:lnTo>
                  <a:pt x="336" y="123"/>
                </a:lnTo>
                <a:lnTo>
                  <a:pt x="308" y="97"/>
                </a:lnTo>
                <a:lnTo>
                  <a:pt x="279" y="73"/>
                </a:lnTo>
                <a:lnTo>
                  <a:pt x="248" y="54"/>
                </a:lnTo>
                <a:lnTo>
                  <a:pt x="215" y="35"/>
                </a:lnTo>
                <a:lnTo>
                  <a:pt x="181" y="22"/>
                </a:lnTo>
                <a:lnTo>
                  <a:pt x="146" y="10"/>
                </a:lnTo>
                <a:lnTo>
                  <a:pt x="110" y="3"/>
                </a:lnTo>
                <a:lnTo>
                  <a:pt x="74" y="0"/>
                </a:lnTo>
                <a:lnTo>
                  <a:pt x="36" y="1"/>
                </a:lnTo>
                <a:lnTo>
                  <a:pt x="0" y="4"/>
                </a:lnTo>
              </a:path>
            </a:pathLst>
          </a:custGeom>
          <a:noFill/>
          <a:ln w="12700" cap="rnd" cmpd="sng">
            <a:solidFill>
              <a:srgbClr val="4B4B4B"/>
            </a:solidFill>
            <a:prstDash val="solid"/>
            <a:round/>
            <a:headEnd type="stealth" w="med" len="lg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4225" name="Rectangle 17"/>
          <p:cNvSpPr>
            <a:spLocks noChangeArrowheads="1"/>
          </p:cNvSpPr>
          <p:nvPr/>
        </p:nvSpPr>
        <p:spPr bwMode="auto">
          <a:xfrm>
            <a:off x="2209800" y="2008188"/>
            <a:ext cx="141288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b="0" i="1">
                <a:solidFill>
                  <a:srgbClr val="000000"/>
                </a:solidFill>
              </a:rPr>
              <a:t>p</a:t>
            </a:r>
          </a:p>
        </p:txBody>
      </p:sp>
      <p:sp>
        <p:nvSpPr>
          <p:cNvPr id="94226" name="Freeform 18"/>
          <p:cNvSpPr>
            <a:spLocks/>
          </p:cNvSpPr>
          <p:nvPr/>
        </p:nvSpPr>
        <p:spPr bwMode="auto">
          <a:xfrm>
            <a:off x="2520950" y="2160588"/>
            <a:ext cx="1601788" cy="549275"/>
          </a:xfrm>
          <a:custGeom>
            <a:avLst/>
            <a:gdLst/>
            <a:ahLst/>
            <a:cxnLst>
              <a:cxn ang="0">
                <a:pos x="1008" y="373"/>
              </a:cxn>
              <a:cxn ang="0">
                <a:pos x="965" y="286"/>
              </a:cxn>
              <a:cxn ang="0">
                <a:pos x="916" y="209"/>
              </a:cxn>
              <a:cxn ang="0">
                <a:pos x="858" y="145"/>
              </a:cxn>
              <a:cxn ang="0">
                <a:pos x="794" y="93"/>
              </a:cxn>
              <a:cxn ang="0">
                <a:pos x="726" y="52"/>
              </a:cxn>
              <a:cxn ang="0">
                <a:pos x="654" y="23"/>
              </a:cxn>
              <a:cxn ang="0">
                <a:pos x="579" y="5"/>
              </a:cxn>
              <a:cxn ang="0">
                <a:pos x="503" y="0"/>
              </a:cxn>
              <a:cxn ang="0">
                <a:pos x="426" y="5"/>
              </a:cxn>
              <a:cxn ang="0">
                <a:pos x="351" y="23"/>
              </a:cxn>
              <a:cxn ang="0">
                <a:pos x="279" y="52"/>
              </a:cxn>
              <a:cxn ang="0">
                <a:pos x="211" y="93"/>
              </a:cxn>
              <a:cxn ang="0">
                <a:pos x="147" y="145"/>
              </a:cxn>
              <a:cxn ang="0">
                <a:pos x="90" y="209"/>
              </a:cxn>
              <a:cxn ang="0">
                <a:pos x="40" y="286"/>
              </a:cxn>
              <a:cxn ang="0">
                <a:pos x="0" y="373"/>
              </a:cxn>
            </a:cxnLst>
            <a:rect l="0" t="0" r="r" b="b"/>
            <a:pathLst>
              <a:path w="1009" h="374">
                <a:moveTo>
                  <a:pt x="1008" y="373"/>
                </a:moveTo>
                <a:lnTo>
                  <a:pt x="965" y="286"/>
                </a:lnTo>
                <a:lnTo>
                  <a:pt x="916" y="209"/>
                </a:lnTo>
                <a:lnTo>
                  <a:pt x="858" y="145"/>
                </a:lnTo>
                <a:lnTo>
                  <a:pt x="794" y="93"/>
                </a:lnTo>
                <a:lnTo>
                  <a:pt x="726" y="52"/>
                </a:lnTo>
                <a:lnTo>
                  <a:pt x="654" y="23"/>
                </a:lnTo>
                <a:lnTo>
                  <a:pt x="579" y="5"/>
                </a:lnTo>
                <a:lnTo>
                  <a:pt x="503" y="0"/>
                </a:lnTo>
                <a:lnTo>
                  <a:pt x="426" y="5"/>
                </a:lnTo>
                <a:lnTo>
                  <a:pt x="351" y="23"/>
                </a:lnTo>
                <a:lnTo>
                  <a:pt x="279" y="52"/>
                </a:lnTo>
                <a:lnTo>
                  <a:pt x="211" y="93"/>
                </a:lnTo>
                <a:lnTo>
                  <a:pt x="147" y="145"/>
                </a:lnTo>
                <a:lnTo>
                  <a:pt x="90" y="209"/>
                </a:lnTo>
                <a:lnTo>
                  <a:pt x="40" y="286"/>
                </a:lnTo>
                <a:lnTo>
                  <a:pt x="0" y="373"/>
                </a:lnTo>
              </a:path>
            </a:pathLst>
          </a:custGeom>
          <a:noFill/>
          <a:ln w="12700" cap="rnd" cmpd="sng">
            <a:solidFill>
              <a:srgbClr val="4B4B4B"/>
            </a:solidFill>
            <a:prstDash val="dash"/>
            <a:round/>
            <a:headEnd type="stealth" w="med" len="lg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4227" name="Rectangle 19"/>
          <p:cNvSpPr>
            <a:spLocks noChangeArrowheads="1"/>
          </p:cNvSpPr>
          <p:nvPr/>
        </p:nvSpPr>
        <p:spPr bwMode="auto">
          <a:xfrm>
            <a:off x="3795713" y="3286125"/>
            <a:ext cx="2027237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000" b="0" dirty="0">
                <a:solidFill>
                  <a:srgbClr val="000000"/>
                </a:solidFill>
              </a:rPr>
              <a:t>list = p-&gt;next;</a:t>
            </a:r>
          </a:p>
        </p:txBody>
      </p:sp>
      <p:grpSp>
        <p:nvGrpSpPr>
          <p:cNvPr id="94228" name="Group 20"/>
          <p:cNvGrpSpPr>
            <a:grpSpLocks/>
          </p:cNvGrpSpPr>
          <p:nvPr/>
        </p:nvGrpSpPr>
        <p:grpSpPr bwMode="auto">
          <a:xfrm>
            <a:off x="5710238" y="2871788"/>
            <a:ext cx="395287" cy="333375"/>
            <a:chOff x="3802" y="1691"/>
            <a:chExt cx="249" cy="228"/>
          </a:xfrm>
        </p:grpSpPr>
        <p:sp>
          <p:nvSpPr>
            <p:cNvPr id="94229" name="Freeform 21"/>
            <p:cNvSpPr>
              <a:spLocks/>
            </p:cNvSpPr>
            <p:nvPr/>
          </p:nvSpPr>
          <p:spPr bwMode="auto">
            <a:xfrm>
              <a:off x="3802" y="1691"/>
              <a:ext cx="184" cy="1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3" y="0"/>
                </a:cxn>
                <a:cxn ang="0">
                  <a:pos x="183" y="185"/>
                </a:cxn>
              </a:cxnLst>
              <a:rect l="0" t="0" r="r" b="b"/>
              <a:pathLst>
                <a:path w="184" h="186">
                  <a:moveTo>
                    <a:pt x="0" y="0"/>
                  </a:moveTo>
                  <a:lnTo>
                    <a:pt x="183" y="0"/>
                  </a:lnTo>
                  <a:lnTo>
                    <a:pt x="183" y="185"/>
                  </a:lnTo>
                </a:path>
              </a:pathLst>
            </a:custGeom>
            <a:noFill/>
            <a:ln w="12700" cap="rnd" cmpd="sng">
              <a:solidFill>
                <a:srgbClr val="4B4B4B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4230" name="Line 22"/>
            <p:cNvSpPr>
              <a:spLocks noChangeShapeType="1"/>
            </p:cNvSpPr>
            <p:nvPr/>
          </p:nvSpPr>
          <p:spPr bwMode="auto">
            <a:xfrm>
              <a:off x="3927" y="1875"/>
              <a:ext cx="124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31" name="Line 23"/>
            <p:cNvSpPr>
              <a:spLocks noChangeShapeType="1"/>
            </p:cNvSpPr>
            <p:nvPr/>
          </p:nvSpPr>
          <p:spPr bwMode="auto">
            <a:xfrm>
              <a:off x="3965" y="1919"/>
              <a:ext cx="48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4232" name="AutoShape 24"/>
          <p:cNvSpPr>
            <a:spLocks noChangeArrowheads="1"/>
          </p:cNvSpPr>
          <p:nvPr/>
        </p:nvSpPr>
        <p:spPr bwMode="auto">
          <a:xfrm>
            <a:off x="4965700" y="6632575"/>
            <a:ext cx="823913" cy="433388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33" name="AutoShape 25"/>
          <p:cNvSpPr>
            <a:spLocks noChangeArrowheads="1"/>
          </p:cNvSpPr>
          <p:nvPr/>
        </p:nvSpPr>
        <p:spPr bwMode="auto">
          <a:xfrm>
            <a:off x="1608138" y="6632575"/>
            <a:ext cx="825500" cy="433388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34" name="Line 26"/>
          <p:cNvSpPr>
            <a:spLocks noChangeShapeType="1"/>
          </p:cNvSpPr>
          <p:nvPr/>
        </p:nvSpPr>
        <p:spPr bwMode="auto">
          <a:xfrm>
            <a:off x="2005013" y="6634163"/>
            <a:ext cx="0" cy="43180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35" name="Line 27"/>
          <p:cNvSpPr>
            <a:spLocks noChangeShapeType="1"/>
          </p:cNvSpPr>
          <p:nvPr/>
        </p:nvSpPr>
        <p:spPr bwMode="auto">
          <a:xfrm>
            <a:off x="2281238" y="6880225"/>
            <a:ext cx="412750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36" name="AutoShape 28"/>
          <p:cNvSpPr>
            <a:spLocks noChangeArrowheads="1"/>
          </p:cNvSpPr>
          <p:nvPr/>
        </p:nvSpPr>
        <p:spPr bwMode="auto">
          <a:xfrm>
            <a:off x="2716213" y="6632575"/>
            <a:ext cx="823912" cy="433388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37" name="Line 29"/>
          <p:cNvSpPr>
            <a:spLocks noChangeShapeType="1"/>
          </p:cNvSpPr>
          <p:nvPr/>
        </p:nvSpPr>
        <p:spPr bwMode="auto">
          <a:xfrm>
            <a:off x="3128963" y="6634163"/>
            <a:ext cx="0" cy="43180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38" name="Line 30"/>
          <p:cNvSpPr>
            <a:spLocks noChangeShapeType="1"/>
          </p:cNvSpPr>
          <p:nvPr/>
        </p:nvSpPr>
        <p:spPr bwMode="auto">
          <a:xfrm>
            <a:off x="3403600" y="6880225"/>
            <a:ext cx="412750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39" name="Line 31"/>
          <p:cNvSpPr>
            <a:spLocks noChangeShapeType="1"/>
          </p:cNvSpPr>
          <p:nvPr/>
        </p:nvSpPr>
        <p:spPr bwMode="auto">
          <a:xfrm>
            <a:off x="1336675" y="6870700"/>
            <a:ext cx="273050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40" name="Rectangle 32"/>
          <p:cNvSpPr>
            <a:spLocks noChangeArrowheads="1"/>
          </p:cNvSpPr>
          <p:nvPr/>
        </p:nvSpPr>
        <p:spPr bwMode="auto">
          <a:xfrm>
            <a:off x="967131" y="6727825"/>
            <a:ext cx="470471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b="0" i="1" dirty="0">
                <a:solidFill>
                  <a:srgbClr val="000000"/>
                </a:solidFill>
              </a:rPr>
              <a:t>list</a:t>
            </a:r>
          </a:p>
        </p:txBody>
      </p:sp>
      <p:sp>
        <p:nvSpPr>
          <p:cNvPr id="94241" name="Rectangle 33"/>
          <p:cNvSpPr>
            <a:spLocks noChangeArrowheads="1"/>
          </p:cNvSpPr>
          <p:nvPr/>
        </p:nvSpPr>
        <p:spPr bwMode="auto">
          <a:xfrm>
            <a:off x="1773238" y="6750050"/>
            <a:ext cx="142875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94242" name="Rectangle 34"/>
          <p:cNvSpPr>
            <a:spLocks noChangeArrowheads="1"/>
          </p:cNvSpPr>
          <p:nvPr/>
        </p:nvSpPr>
        <p:spPr bwMode="auto">
          <a:xfrm>
            <a:off x="2873375" y="6750050"/>
            <a:ext cx="142875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94243" name="AutoShape 35"/>
          <p:cNvSpPr>
            <a:spLocks noChangeArrowheads="1"/>
          </p:cNvSpPr>
          <p:nvPr/>
        </p:nvSpPr>
        <p:spPr bwMode="auto">
          <a:xfrm>
            <a:off x="3819525" y="6632575"/>
            <a:ext cx="822325" cy="433388"/>
          </a:xfrm>
          <a:prstGeom prst="roundRect">
            <a:avLst>
              <a:gd name="adj" fmla="val 12495"/>
            </a:avLst>
          </a:prstGeom>
          <a:solidFill>
            <a:srgbClr val="C0C0C0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44" name="Line 36"/>
          <p:cNvSpPr>
            <a:spLocks noChangeShapeType="1"/>
          </p:cNvSpPr>
          <p:nvPr/>
        </p:nvSpPr>
        <p:spPr bwMode="auto">
          <a:xfrm>
            <a:off x="4229100" y="6634163"/>
            <a:ext cx="0" cy="43180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45" name="Rectangle 37"/>
          <p:cNvSpPr>
            <a:spLocks noChangeArrowheads="1"/>
          </p:cNvSpPr>
          <p:nvPr/>
        </p:nvSpPr>
        <p:spPr bwMode="auto">
          <a:xfrm>
            <a:off x="3975100" y="6750050"/>
            <a:ext cx="141288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94246" name="Freeform 38"/>
          <p:cNvSpPr>
            <a:spLocks/>
          </p:cNvSpPr>
          <p:nvPr/>
        </p:nvSpPr>
        <p:spPr bwMode="auto">
          <a:xfrm>
            <a:off x="2495550" y="7089775"/>
            <a:ext cx="490538" cy="368300"/>
          </a:xfrm>
          <a:custGeom>
            <a:avLst/>
            <a:gdLst/>
            <a:ahLst/>
            <a:cxnLst>
              <a:cxn ang="0">
                <a:pos x="0" y="251"/>
              </a:cxn>
              <a:cxn ang="0">
                <a:pos x="23" y="247"/>
              </a:cxn>
              <a:cxn ang="0">
                <a:pos x="49" y="242"/>
              </a:cxn>
              <a:cxn ang="0">
                <a:pos x="72" y="235"/>
              </a:cxn>
              <a:cxn ang="0">
                <a:pos x="96" y="224"/>
              </a:cxn>
              <a:cxn ang="0">
                <a:pos x="118" y="213"/>
              </a:cxn>
              <a:cxn ang="0">
                <a:pos x="140" y="200"/>
              </a:cxn>
              <a:cxn ang="0">
                <a:pos x="161" y="187"/>
              </a:cxn>
              <a:cxn ang="0">
                <a:pos x="182" y="170"/>
              </a:cxn>
              <a:cxn ang="0">
                <a:pos x="201" y="154"/>
              </a:cxn>
              <a:cxn ang="0">
                <a:pos x="220" y="135"/>
              </a:cxn>
              <a:cxn ang="0">
                <a:pos x="237" y="116"/>
              </a:cxn>
              <a:cxn ang="0">
                <a:pos x="254" y="95"/>
              </a:cxn>
              <a:cxn ang="0">
                <a:pos x="269" y="73"/>
              </a:cxn>
              <a:cxn ang="0">
                <a:pos x="283" y="50"/>
              </a:cxn>
              <a:cxn ang="0">
                <a:pos x="295" y="26"/>
              </a:cxn>
              <a:cxn ang="0">
                <a:pos x="308" y="0"/>
              </a:cxn>
            </a:cxnLst>
            <a:rect l="0" t="0" r="r" b="b"/>
            <a:pathLst>
              <a:path w="309" h="252">
                <a:moveTo>
                  <a:pt x="0" y="251"/>
                </a:moveTo>
                <a:lnTo>
                  <a:pt x="23" y="247"/>
                </a:lnTo>
                <a:lnTo>
                  <a:pt x="49" y="242"/>
                </a:lnTo>
                <a:lnTo>
                  <a:pt x="72" y="235"/>
                </a:lnTo>
                <a:lnTo>
                  <a:pt x="96" y="224"/>
                </a:lnTo>
                <a:lnTo>
                  <a:pt x="118" y="213"/>
                </a:lnTo>
                <a:lnTo>
                  <a:pt x="140" y="200"/>
                </a:lnTo>
                <a:lnTo>
                  <a:pt x="161" y="187"/>
                </a:lnTo>
                <a:lnTo>
                  <a:pt x="182" y="170"/>
                </a:lnTo>
                <a:lnTo>
                  <a:pt x="201" y="154"/>
                </a:lnTo>
                <a:lnTo>
                  <a:pt x="220" y="135"/>
                </a:lnTo>
                <a:lnTo>
                  <a:pt x="237" y="116"/>
                </a:lnTo>
                <a:lnTo>
                  <a:pt x="254" y="95"/>
                </a:lnTo>
                <a:lnTo>
                  <a:pt x="269" y="73"/>
                </a:lnTo>
                <a:lnTo>
                  <a:pt x="283" y="50"/>
                </a:lnTo>
                <a:lnTo>
                  <a:pt x="295" y="26"/>
                </a:lnTo>
                <a:lnTo>
                  <a:pt x="308" y="0"/>
                </a:lnTo>
              </a:path>
            </a:pathLst>
          </a:custGeom>
          <a:noFill/>
          <a:ln w="12700" cap="rnd" cmpd="sng">
            <a:solidFill>
              <a:srgbClr val="4B4B4B"/>
            </a:solidFill>
            <a:prstDash val="solid"/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4247" name="Rectangle 39"/>
          <p:cNvSpPr>
            <a:spLocks noChangeArrowheads="1"/>
          </p:cNvSpPr>
          <p:nvPr/>
        </p:nvSpPr>
        <p:spPr bwMode="auto">
          <a:xfrm>
            <a:off x="2324100" y="7304088"/>
            <a:ext cx="173038" cy="28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1800" b="0" i="1">
                <a:solidFill>
                  <a:srgbClr val="000000"/>
                </a:solidFill>
              </a:rPr>
              <a:t>r</a:t>
            </a:r>
          </a:p>
        </p:txBody>
      </p:sp>
      <p:grpSp>
        <p:nvGrpSpPr>
          <p:cNvPr id="94248" name="Group 40"/>
          <p:cNvGrpSpPr>
            <a:grpSpLocks/>
          </p:cNvGrpSpPr>
          <p:nvPr/>
        </p:nvGrpSpPr>
        <p:grpSpPr bwMode="auto">
          <a:xfrm>
            <a:off x="3144838" y="6070600"/>
            <a:ext cx="895350" cy="571500"/>
            <a:chOff x="2269" y="2997"/>
            <a:chExt cx="564" cy="390"/>
          </a:xfrm>
        </p:grpSpPr>
        <p:sp>
          <p:nvSpPr>
            <p:cNvPr id="94249" name="Freeform 41"/>
            <p:cNvSpPr>
              <a:spLocks/>
            </p:cNvSpPr>
            <p:nvPr/>
          </p:nvSpPr>
          <p:spPr bwMode="auto">
            <a:xfrm>
              <a:off x="2380" y="3053"/>
              <a:ext cx="453" cy="334"/>
            </a:xfrm>
            <a:custGeom>
              <a:avLst/>
              <a:gdLst/>
              <a:ahLst/>
              <a:cxnLst>
                <a:cxn ang="0">
                  <a:pos x="452" y="333"/>
                </a:cxn>
                <a:cxn ang="0">
                  <a:pos x="438" y="293"/>
                </a:cxn>
                <a:cxn ang="0">
                  <a:pos x="423" y="254"/>
                </a:cxn>
                <a:cxn ang="0">
                  <a:pos x="405" y="218"/>
                </a:cxn>
                <a:cxn ang="0">
                  <a:pos x="385" y="183"/>
                </a:cxn>
                <a:cxn ang="0">
                  <a:pos x="361" y="152"/>
                </a:cxn>
                <a:cxn ang="0">
                  <a:pos x="336" y="122"/>
                </a:cxn>
                <a:cxn ang="0">
                  <a:pos x="308" y="97"/>
                </a:cxn>
                <a:cxn ang="0">
                  <a:pos x="279" y="73"/>
                </a:cxn>
                <a:cxn ang="0">
                  <a:pos x="248" y="53"/>
                </a:cxn>
                <a:cxn ang="0">
                  <a:pos x="215" y="35"/>
                </a:cxn>
                <a:cxn ang="0">
                  <a:pos x="181" y="21"/>
                </a:cxn>
                <a:cxn ang="0">
                  <a:pos x="146" y="10"/>
                </a:cxn>
                <a:cxn ang="0">
                  <a:pos x="110" y="3"/>
                </a:cxn>
                <a:cxn ang="0">
                  <a:pos x="74" y="0"/>
                </a:cxn>
                <a:cxn ang="0">
                  <a:pos x="36" y="0"/>
                </a:cxn>
                <a:cxn ang="0">
                  <a:pos x="0" y="3"/>
                </a:cxn>
              </a:cxnLst>
              <a:rect l="0" t="0" r="r" b="b"/>
              <a:pathLst>
                <a:path w="453" h="334">
                  <a:moveTo>
                    <a:pt x="452" y="333"/>
                  </a:moveTo>
                  <a:lnTo>
                    <a:pt x="438" y="293"/>
                  </a:lnTo>
                  <a:lnTo>
                    <a:pt x="423" y="254"/>
                  </a:lnTo>
                  <a:lnTo>
                    <a:pt x="405" y="218"/>
                  </a:lnTo>
                  <a:lnTo>
                    <a:pt x="385" y="183"/>
                  </a:lnTo>
                  <a:lnTo>
                    <a:pt x="361" y="152"/>
                  </a:lnTo>
                  <a:lnTo>
                    <a:pt x="336" y="122"/>
                  </a:lnTo>
                  <a:lnTo>
                    <a:pt x="308" y="97"/>
                  </a:lnTo>
                  <a:lnTo>
                    <a:pt x="279" y="73"/>
                  </a:lnTo>
                  <a:lnTo>
                    <a:pt x="248" y="53"/>
                  </a:lnTo>
                  <a:lnTo>
                    <a:pt x="215" y="35"/>
                  </a:lnTo>
                  <a:lnTo>
                    <a:pt x="181" y="21"/>
                  </a:lnTo>
                  <a:lnTo>
                    <a:pt x="146" y="10"/>
                  </a:lnTo>
                  <a:lnTo>
                    <a:pt x="110" y="3"/>
                  </a:lnTo>
                  <a:lnTo>
                    <a:pt x="74" y="0"/>
                  </a:lnTo>
                  <a:lnTo>
                    <a:pt x="36" y="0"/>
                  </a:lnTo>
                  <a:lnTo>
                    <a:pt x="0" y="3"/>
                  </a:lnTo>
                </a:path>
              </a:pathLst>
            </a:custGeom>
            <a:noFill/>
            <a:ln w="12700" cap="rnd" cmpd="sng">
              <a:solidFill>
                <a:srgbClr val="4B4B4B"/>
              </a:solidFill>
              <a:prstDash val="solid"/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4250" name="Rectangle 42"/>
            <p:cNvSpPr>
              <a:spLocks noChangeArrowheads="1"/>
            </p:cNvSpPr>
            <p:nvPr/>
          </p:nvSpPr>
          <p:spPr bwMode="auto">
            <a:xfrm>
              <a:off x="2269" y="2997"/>
              <a:ext cx="93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l" defTabSz="457200"/>
              <a:r>
                <a:rPr lang="en-US" sz="1800" b="0" i="1">
                  <a:solidFill>
                    <a:srgbClr val="000000"/>
                  </a:solidFill>
                </a:rPr>
                <a:t>p</a:t>
              </a:r>
            </a:p>
          </p:txBody>
        </p:sp>
      </p:grpSp>
      <p:sp>
        <p:nvSpPr>
          <p:cNvPr id="94251" name="Line 43"/>
          <p:cNvSpPr>
            <a:spLocks noChangeShapeType="1"/>
          </p:cNvSpPr>
          <p:nvPr/>
        </p:nvSpPr>
        <p:spPr bwMode="auto">
          <a:xfrm>
            <a:off x="5362575" y="6634163"/>
            <a:ext cx="0" cy="43180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52" name="Rectangle 44"/>
          <p:cNvSpPr>
            <a:spLocks noChangeArrowheads="1"/>
          </p:cNvSpPr>
          <p:nvPr/>
        </p:nvSpPr>
        <p:spPr bwMode="auto">
          <a:xfrm>
            <a:off x="5129213" y="6750050"/>
            <a:ext cx="141287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500" b="0" i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4253" name="Line 45"/>
          <p:cNvSpPr>
            <a:spLocks noChangeShapeType="1"/>
          </p:cNvSpPr>
          <p:nvPr/>
        </p:nvSpPr>
        <p:spPr bwMode="auto">
          <a:xfrm>
            <a:off x="4533900" y="6865938"/>
            <a:ext cx="409575" cy="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54" name="Freeform 46"/>
          <p:cNvSpPr>
            <a:spLocks/>
          </p:cNvSpPr>
          <p:nvPr/>
        </p:nvSpPr>
        <p:spPr bwMode="auto">
          <a:xfrm>
            <a:off x="3455988" y="6207125"/>
            <a:ext cx="1603375" cy="547688"/>
          </a:xfrm>
          <a:custGeom>
            <a:avLst/>
            <a:gdLst/>
            <a:ahLst/>
            <a:cxnLst>
              <a:cxn ang="0">
                <a:pos x="1009" y="373"/>
              </a:cxn>
              <a:cxn ang="0">
                <a:pos x="967" y="286"/>
              </a:cxn>
              <a:cxn ang="0">
                <a:pos x="917" y="210"/>
              </a:cxn>
              <a:cxn ang="0">
                <a:pos x="860" y="146"/>
              </a:cxn>
              <a:cxn ang="0">
                <a:pos x="796" y="93"/>
              </a:cxn>
              <a:cxn ang="0">
                <a:pos x="726" y="53"/>
              </a:cxn>
              <a:cxn ang="0">
                <a:pos x="655" y="23"/>
              </a:cxn>
              <a:cxn ang="0">
                <a:pos x="580" y="6"/>
              </a:cxn>
              <a:cxn ang="0">
                <a:pos x="504" y="0"/>
              </a:cxn>
              <a:cxn ang="0">
                <a:pos x="427" y="6"/>
              </a:cxn>
              <a:cxn ang="0">
                <a:pos x="352" y="23"/>
              </a:cxn>
              <a:cxn ang="0">
                <a:pos x="279" y="53"/>
              </a:cxn>
              <a:cxn ang="0">
                <a:pos x="211" y="93"/>
              </a:cxn>
              <a:cxn ang="0">
                <a:pos x="148" y="146"/>
              </a:cxn>
              <a:cxn ang="0">
                <a:pos x="90" y="210"/>
              </a:cxn>
              <a:cxn ang="0">
                <a:pos x="40" y="286"/>
              </a:cxn>
              <a:cxn ang="0">
                <a:pos x="0" y="373"/>
              </a:cxn>
            </a:cxnLst>
            <a:rect l="0" t="0" r="r" b="b"/>
            <a:pathLst>
              <a:path w="1010" h="374">
                <a:moveTo>
                  <a:pt x="1009" y="373"/>
                </a:moveTo>
                <a:lnTo>
                  <a:pt x="967" y="286"/>
                </a:lnTo>
                <a:lnTo>
                  <a:pt x="917" y="210"/>
                </a:lnTo>
                <a:lnTo>
                  <a:pt x="860" y="146"/>
                </a:lnTo>
                <a:lnTo>
                  <a:pt x="796" y="93"/>
                </a:lnTo>
                <a:lnTo>
                  <a:pt x="726" y="53"/>
                </a:lnTo>
                <a:lnTo>
                  <a:pt x="655" y="23"/>
                </a:lnTo>
                <a:lnTo>
                  <a:pt x="580" y="6"/>
                </a:lnTo>
                <a:lnTo>
                  <a:pt x="504" y="0"/>
                </a:lnTo>
                <a:lnTo>
                  <a:pt x="427" y="6"/>
                </a:lnTo>
                <a:lnTo>
                  <a:pt x="352" y="23"/>
                </a:lnTo>
                <a:lnTo>
                  <a:pt x="279" y="53"/>
                </a:lnTo>
                <a:lnTo>
                  <a:pt x="211" y="93"/>
                </a:lnTo>
                <a:lnTo>
                  <a:pt x="148" y="146"/>
                </a:lnTo>
                <a:lnTo>
                  <a:pt x="90" y="210"/>
                </a:lnTo>
                <a:lnTo>
                  <a:pt x="40" y="286"/>
                </a:lnTo>
                <a:lnTo>
                  <a:pt x="0" y="373"/>
                </a:lnTo>
              </a:path>
            </a:pathLst>
          </a:custGeom>
          <a:noFill/>
          <a:ln w="12700" cap="rnd" cmpd="sng">
            <a:solidFill>
              <a:srgbClr val="4B4B4B"/>
            </a:solidFill>
            <a:prstDash val="dash"/>
            <a:round/>
            <a:headEnd type="stealth" w="med" len="lg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4255" name="Rectangle 47"/>
          <p:cNvSpPr>
            <a:spLocks noChangeArrowheads="1"/>
          </p:cNvSpPr>
          <p:nvPr/>
        </p:nvSpPr>
        <p:spPr bwMode="auto">
          <a:xfrm>
            <a:off x="2716213" y="7156450"/>
            <a:ext cx="4046536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000" b="0">
                <a:solidFill>
                  <a:srgbClr val="000000"/>
                </a:solidFill>
              </a:rPr>
              <a:t>r ref next = p ref next;</a:t>
            </a:r>
          </a:p>
        </p:txBody>
      </p:sp>
      <p:grpSp>
        <p:nvGrpSpPr>
          <p:cNvPr id="94256" name="Group 48"/>
          <p:cNvGrpSpPr>
            <a:grpSpLocks/>
          </p:cNvGrpSpPr>
          <p:nvPr/>
        </p:nvGrpSpPr>
        <p:grpSpPr bwMode="auto">
          <a:xfrm>
            <a:off x="5624513" y="6850063"/>
            <a:ext cx="395287" cy="336550"/>
            <a:chOff x="3831" y="3529"/>
            <a:chExt cx="249" cy="229"/>
          </a:xfrm>
        </p:grpSpPr>
        <p:sp>
          <p:nvSpPr>
            <p:cNvPr id="94257" name="Freeform 49"/>
            <p:cNvSpPr>
              <a:spLocks/>
            </p:cNvSpPr>
            <p:nvPr/>
          </p:nvSpPr>
          <p:spPr bwMode="auto">
            <a:xfrm>
              <a:off x="3831" y="3529"/>
              <a:ext cx="183" cy="1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2" y="0"/>
                </a:cxn>
                <a:cxn ang="0">
                  <a:pos x="182" y="186"/>
                </a:cxn>
              </a:cxnLst>
              <a:rect l="0" t="0" r="r" b="b"/>
              <a:pathLst>
                <a:path w="183" h="187">
                  <a:moveTo>
                    <a:pt x="0" y="0"/>
                  </a:moveTo>
                  <a:lnTo>
                    <a:pt x="182" y="0"/>
                  </a:lnTo>
                  <a:lnTo>
                    <a:pt x="182" y="186"/>
                  </a:lnTo>
                </a:path>
              </a:pathLst>
            </a:custGeom>
            <a:noFill/>
            <a:ln w="12700" cap="rnd" cmpd="sng">
              <a:solidFill>
                <a:srgbClr val="4B4B4B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4258" name="Line 50"/>
            <p:cNvSpPr>
              <a:spLocks noChangeShapeType="1"/>
            </p:cNvSpPr>
            <p:nvPr/>
          </p:nvSpPr>
          <p:spPr bwMode="auto">
            <a:xfrm>
              <a:off x="3956" y="3714"/>
              <a:ext cx="124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59" name="Line 51"/>
            <p:cNvSpPr>
              <a:spLocks noChangeShapeType="1"/>
            </p:cNvSpPr>
            <p:nvPr/>
          </p:nvSpPr>
          <p:spPr bwMode="auto">
            <a:xfrm>
              <a:off x="3994" y="3758"/>
              <a:ext cx="48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Linked Lists Operations</a:t>
            </a:r>
          </a:p>
        </p:txBody>
      </p:sp>
    </p:spTree>
    <p:extLst>
      <p:ext uri="{BB962C8B-B14F-4D97-AF65-F5344CB8AC3E}">
        <p14:creationId xmlns:p14="http://schemas.microsoft.com/office/powerpoint/2010/main" val="5469440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idx="1"/>
          </p:nvPr>
        </p:nvSpPr>
        <p:spPr>
          <a:xfrm>
            <a:off x="592138" y="1533497"/>
            <a:ext cx="5734050" cy="5610253"/>
          </a:xfrm>
          <a:noFill/>
          <a:ln/>
        </p:spPr>
        <p:txBody>
          <a:bodyPr/>
          <a:lstStyle/>
          <a:p>
            <a:pPr marL="396875" indent="-396875">
              <a:lnSpc>
                <a:spcPct val="12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</a:rPr>
              <a:t>A binary tree is a data structure that consists of a node called the </a:t>
            </a:r>
            <a:r>
              <a:rPr lang="en-US" sz="2400" b="1" dirty="0">
                <a:solidFill>
                  <a:srgbClr val="000000"/>
                </a:solidFill>
              </a:rPr>
              <a:t>Root</a:t>
            </a:r>
            <a:r>
              <a:rPr lang="en-US" sz="2400" dirty="0">
                <a:solidFill>
                  <a:srgbClr val="000000"/>
                </a:solidFill>
              </a:rPr>
              <a:t> that has only </a:t>
            </a:r>
            <a:r>
              <a:rPr lang="en-US" sz="2400" b="1" dirty="0">
                <a:solidFill>
                  <a:srgbClr val="000000"/>
                </a:solidFill>
              </a:rPr>
              <a:t>2</a:t>
            </a:r>
            <a:r>
              <a:rPr lang="en-US" sz="2400" dirty="0">
                <a:solidFill>
                  <a:srgbClr val="000000"/>
                </a:solidFill>
              </a:rPr>
              <a:t> branches</a:t>
            </a:r>
            <a:r>
              <a:rPr lang="en-US" sz="2400" dirty="0"/>
              <a:t>.</a:t>
            </a:r>
          </a:p>
          <a:p>
            <a:pPr marL="396875" indent="-396875">
              <a:lnSpc>
                <a:spcPct val="12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</a:rPr>
              <a:t>Linked lists can only </a:t>
            </a:r>
            <a:r>
              <a:rPr lang="en-GB" sz="2400" dirty="0">
                <a:solidFill>
                  <a:srgbClr val="000000"/>
                </a:solidFill>
              </a:rPr>
              <a:t>be </a:t>
            </a:r>
            <a:r>
              <a:rPr lang="en-US" sz="2400" dirty="0">
                <a:solidFill>
                  <a:srgbClr val="000000"/>
                </a:solidFill>
              </a:rPr>
              <a:t>use</a:t>
            </a:r>
            <a:r>
              <a:rPr lang="en-GB" sz="2400" dirty="0">
                <a:solidFill>
                  <a:srgbClr val="000000"/>
                </a:solidFill>
              </a:rPr>
              <a:t>d</a:t>
            </a:r>
            <a:r>
              <a:rPr lang="en-US" sz="2400" dirty="0">
                <a:solidFill>
                  <a:srgbClr val="000000"/>
                </a:solidFill>
              </a:rPr>
              <a:t> to support sequential searching, i.e., it is necessary to move through the elements one position at a time.</a:t>
            </a:r>
          </a:p>
          <a:p>
            <a:pPr marL="396875" indent="-396875">
              <a:lnSpc>
                <a:spcPct val="12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400" dirty="0"/>
              <a:t>Using </a:t>
            </a:r>
            <a:r>
              <a:rPr lang="en-GB" sz="2400" dirty="0"/>
              <a:t>a </a:t>
            </a:r>
            <a:r>
              <a:rPr lang="en-US" sz="2400" dirty="0"/>
              <a:t>binary tree as the data structure overcomes the disadvantage of the linked list implementation.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226261" y="337010"/>
            <a:ext cx="5356729" cy="790575"/>
          </a:xfrm>
        </p:spPr>
        <p:txBody>
          <a:bodyPr/>
          <a:lstStyle/>
          <a:p>
            <a:pPr eaLnBrk="1" hangingPunct="1"/>
            <a:r>
              <a:rPr lang="en-US" b="1" dirty="0"/>
              <a:t>Binary Tree</a:t>
            </a:r>
          </a:p>
        </p:txBody>
      </p:sp>
      <p:sp>
        <p:nvSpPr>
          <p:cNvPr id="5" name="8-Point Star 4"/>
          <p:cNvSpPr/>
          <p:nvPr/>
        </p:nvSpPr>
        <p:spPr>
          <a:xfrm>
            <a:off x="354049" y="275609"/>
            <a:ext cx="872211" cy="811161"/>
          </a:xfrm>
          <a:prstGeom prst="star8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4</a:t>
            </a:r>
            <a:endParaRPr lang="en-SG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7477366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Oval 3"/>
          <p:cNvSpPr>
            <a:spLocks noChangeArrowheads="1"/>
          </p:cNvSpPr>
          <p:nvPr/>
        </p:nvSpPr>
        <p:spPr bwMode="auto">
          <a:xfrm>
            <a:off x="2740025" y="2368550"/>
            <a:ext cx="427038" cy="4254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28" name="Oval 4"/>
          <p:cNvSpPr>
            <a:spLocks noChangeArrowheads="1"/>
          </p:cNvSpPr>
          <p:nvPr/>
        </p:nvSpPr>
        <p:spPr bwMode="auto">
          <a:xfrm>
            <a:off x="1582738" y="2967038"/>
            <a:ext cx="427037" cy="4270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29" name="Oval 5"/>
          <p:cNvSpPr>
            <a:spLocks noChangeArrowheads="1"/>
          </p:cNvSpPr>
          <p:nvPr/>
        </p:nvSpPr>
        <p:spPr bwMode="auto">
          <a:xfrm>
            <a:off x="4108450" y="2844800"/>
            <a:ext cx="425450" cy="4254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30" name="Oval 6"/>
          <p:cNvSpPr>
            <a:spLocks noChangeArrowheads="1"/>
          </p:cNvSpPr>
          <p:nvPr/>
        </p:nvSpPr>
        <p:spPr bwMode="auto">
          <a:xfrm>
            <a:off x="5143500" y="3514725"/>
            <a:ext cx="427038" cy="42386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31" name="Oval 7"/>
          <p:cNvSpPr>
            <a:spLocks noChangeArrowheads="1"/>
          </p:cNvSpPr>
          <p:nvPr/>
        </p:nvSpPr>
        <p:spPr bwMode="auto">
          <a:xfrm>
            <a:off x="2301875" y="3933825"/>
            <a:ext cx="425450" cy="4270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32" name="Oval 8"/>
          <p:cNvSpPr>
            <a:spLocks noChangeArrowheads="1"/>
          </p:cNvSpPr>
          <p:nvPr/>
        </p:nvSpPr>
        <p:spPr bwMode="auto">
          <a:xfrm>
            <a:off x="846138" y="3970338"/>
            <a:ext cx="425450" cy="4270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33" name="Oval 9"/>
          <p:cNvSpPr>
            <a:spLocks noChangeArrowheads="1"/>
          </p:cNvSpPr>
          <p:nvPr/>
        </p:nvSpPr>
        <p:spPr bwMode="auto">
          <a:xfrm>
            <a:off x="4441825" y="4144963"/>
            <a:ext cx="425450" cy="4286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34" name="Rectangle 10"/>
          <p:cNvSpPr>
            <a:spLocks noChangeArrowheads="1"/>
          </p:cNvSpPr>
          <p:nvPr/>
        </p:nvSpPr>
        <p:spPr bwMode="auto">
          <a:xfrm>
            <a:off x="2897188" y="2509838"/>
            <a:ext cx="163512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03435" name="Rectangle 11"/>
          <p:cNvSpPr>
            <a:spLocks noChangeArrowheads="1"/>
          </p:cNvSpPr>
          <p:nvPr/>
        </p:nvSpPr>
        <p:spPr bwMode="auto">
          <a:xfrm>
            <a:off x="1755775" y="3090863"/>
            <a:ext cx="163513" cy="25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03436" name="Rectangle 12"/>
          <p:cNvSpPr>
            <a:spLocks noChangeArrowheads="1"/>
          </p:cNvSpPr>
          <p:nvPr/>
        </p:nvSpPr>
        <p:spPr bwMode="auto">
          <a:xfrm>
            <a:off x="1020763" y="4111625"/>
            <a:ext cx="176212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03437" name="Rectangle 13"/>
          <p:cNvSpPr>
            <a:spLocks noChangeArrowheads="1"/>
          </p:cNvSpPr>
          <p:nvPr/>
        </p:nvSpPr>
        <p:spPr bwMode="auto">
          <a:xfrm>
            <a:off x="2387600" y="4022725"/>
            <a:ext cx="163513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103438" name="Rectangle 14"/>
          <p:cNvSpPr>
            <a:spLocks noChangeArrowheads="1"/>
          </p:cNvSpPr>
          <p:nvPr/>
        </p:nvSpPr>
        <p:spPr bwMode="auto">
          <a:xfrm>
            <a:off x="4246563" y="2949575"/>
            <a:ext cx="176212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03439" name="Rectangle 15"/>
          <p:cNvSpPr>
            <a:spLocks noChangeArrowheads="1"/>
          </p:cNvSpPr>
          <p:nvPr/>
        </p:nvSpPr>
        <p:spPr bwMode="auto">
          <a:xfrm>
            <a:off x="5281613" y="3630613"/>
            <a:ext cx="150812" cy="23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F</a:t>
            </a:r>
          </a:p>
        </p:txBody>
      </p:sp>
      <p:sp>
        <p:nvSpPr>
          <p:cNvPr id="103440" name="Rectangle 16"/>
          <p:cNvSpPr>
            <a:spLocks noChangeArrowheads="1"/>
          </p:cNvSpPr>
          <p:nvPr/>
        </p:nvSpPr>
        <p:spPr bwMode="auto">
          <a:xfrm>
            <a:off x="4545013" y="4298950"/>
            <a:ext cx="1905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G</a:t>
            </a:r>
          </a:p>
        </p:txBody>
      </p:sp>
      <p:sp>
        <p:nvSpPr>
          <p:cNvPr id="103441" name="Rectangle 17"/>
          <p:cNvSpPr>
            <a:spLocks noChangeArrowheads="1"/>
          </p:cNvSpPr>
          <p:nvPr/>
        </p:nvSpPr>
        <p:spPr bwMode="auto">
          <a:xfrm>
            <a:off x="2697163" y="2011363"/>
            <a:ext cx="712787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i="1">
                <a:solidFill>
                  <a:srgbClr val="000000"/>
                </a:solidFill>
              </a:rPr>
              <a:t>Root</a:t>
            </a:r>
          </a:p>
        </p:txBody>
      </p:sp>
      <p:sp>
        <p:nvSpPr>
          <p:cNvPr id="103442" name="Line 18"/>
          <p:cNvSpPr>
            <a:spLocks noChangeShapeType="1"/>
          </p:cNvSpPr>
          <p:nvPr/>
        </p:nvSpPr>
        <p:spPr bwMode="auto">
          <a:xfrm flipH="1">
            <a:off x="1973263" y="2628900"/>
            <a:ext cx="769937" cy="409575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43" name="Line 19"/>
          <p:cNvSpPr>
            <a:spLocks noChangeShapeType="1"/>
          </p:cNvSpPr>
          <p:nvPr/>
        </p:nvSpPr>
        <p:spPr bwMode="auto">
          <a:xfrm>
            <a:off x="3219450" y="2628900"/>
            <a:ext cx="892175" cy="339725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44" name="Line 20"/>
          <p:cNvSpPr>
            <a:spLocks noChangeShapeType="1"/>
          </p:cNvSpPr>
          <p:nvPr/>
        </p:nvSpPr>
        <p:spPr bwMode="auto">
          <a:xfrm flipH="1">
            <a:off x="1149350" y="3341688"/>
            <a:ext cx="523875" cy="665162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45" name="Line 21"/>
          <p:cNvSpPr>
            <a:spLocks noChangeShapeType="1"/>
          </p:cNvSpPr>
          <p:nvPr/>
        </p:nvSpPr>
        <p:spPr bwMode="auto">
          <a:xfrm>
            <a:off x="4552950" y="3173413"/>
            <a:ext cx="646113" cy="430212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46" name="Line 22"/>
          <p:cNvSpPr>
            <a:spLocks noChangeShapeType="1"/>
          </p:cNvSpPr>
          <p:nvPr/>
        </p:nvSpPr>
        <p:spPr bwMode="auto">
          <a:xfrm>
            <a:off x="1920875" y="3341688"/>
            <a:ext cx="454025" cy="611187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47" name="Line 23"/>
          <p:cNvSpPr>
            <a:spLocks noChangeShapeType="1"/>
          </p:cNvSpPr>
          <p:nvPr/>
        </p:nvSpPr>
        <p:spPr bwMode="auto">
          <a:xfrm flipH="1">
            <a:off x="4814888" y="3886200"/>
            <a:ext cx="436562" cy="331788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48" name="Line 24"/>
          <p:cNvSpPr>
            <a:spLocks noChangeShapeType="1"/>
          </p:cNvSpPr>
          <p:nvPr/>
        </p:nvSpPr>
        <p:spPr bwMode="auto">
          <a:xfrm>
            <a:off x="1746250" y="2371725"/>
            <a:ext cx="595313" cy="474663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49" name="Line 25"/>
          <p:cNvSpPr>
            <a:spLocks noChangeShapeType="1"/>
          </p:cNvSpPr>
          <p:nvPr/>
        </p:nvSpPr>
        <p:spPr bwMode="auto">
          <a:xfrm flipH="1">
            <a:off x="3568700" y="2452688"/>
            <a:ext cx="641350" cy="338137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50" name="Rectangle 26"/>
          <p:cNvSpPr>
            <a:spLocks noChangeArrowheads="1"/>
          </p:cNvSpPr>
          <p:nvPr/>
        </p:nvSpPr>
        <p:spPr bwMode="auto">
          <a:xfrm>
            <a:off x="981075" y="2109788"/>
            <a:ext cx="1076325" cy="32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103451" name="Rectangle 27"/>
          <p:cNvSpPr>
            <a:spLocks noChangeArrowheads="1"/>
          </p:cNvSpPr>
          <p:nvPr/>
        </p:nvSpPr>
        <p:spPr bwMode="auto">
          <a:xfrm>
            <a:off x="4027487" y="2109788"/>
            <a:ext cx="1329531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103452" name="Oval 28"/>
          <p:cNvSpPr>
            <a:spLocks noChangeArrowheads="1"/>
          </p:cNvSpPr>
          <p:nvPr/>
        </p:nvSpPr>
        <p:spPr bwMode="auto">
          <a:xfrm>
            <a:off x="5873750" y="4216400"/>
            <a:ext cx="425450" cy="355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53" name="Line 29"/>
          <p:cNvSpPr>
            <a:spLocks noChangeShapeType="1"/>
          </p:cNvSpPr>
          <p:nvPr/>
        </p:nvSpPr>
        <p:spPr bwMode="auto">
          <a:xfrm>
            <a:off x="5543550" y="3876675"/>
            <a:ext cx="457200" cy="333375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54" name="Rectangle 30"/>
          <p:cNvSpPr>
            <a:spLocks noChangeArrowheads="1"/>
          </p:cNvSpPr>
          <p:nvPr/>
        </p:nvSpPr>
        <p:spPr bwMode="auto">
          <a:xfrm>
            <a:off x="5943600" y="4311650"/>
            <a:ext cx="29845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42" y="5560872"/>
            <a:ext cx="50720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6875" indent="-396875" algn="l">
              <a:lnSpc>
                <a:spcPct val="120000"/>
              </a:lnSpc>
              <a:buClr>
                <a:schemeClr val="hlink"/>
              </a:buClr>
            </a:pPr>
            <a:r>
              <a:rPr lang="en-US" sz="2000" b="0" dirty="0"/>
              <a:t>More about Binary Tree:</a:t>
            </a:r>
          </a:p>
          <a:p>
            <a:pPr marL="396875" indent="-396875" algn="l">
              <a:lnSpc>
                <a:spcPct val="120000"/>
              </a:lnSpc>
              <a:buClr>
                <a:schemeClr val="hlink"/>
              </a:buClr>
            </a:pPr>
            <a:r>
              <a:rPr lang="en-US" sz="2000" u="sng" dirty="0">
                <a:hlinkClick r:id="rId3"/>
              </a:rPr>
              <a:t>http://en.wikipedia.org/wiki/Binary_tree#Definitions_for_rooted_trees</a:t>
            </a:r>
            <a:endParaRPr lang="en-US" sz="2000" u="sng" dirty="0"/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A Simple Binary Tree</a:t>
            </a:r>
          </a:p>
        </p:txBody>
      </p:sp>
    </p:spTree>
    <p:extLst>
      <p:ext uri="{BB962C8B-B14F-4D97-AF65-F5344CB8AC3E}">
        <p14:creationId xmlns:p14="http://schemas.microsoft.com/office/powerpoint/2010/main" val="139309832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94" name="Rectangle 10"/>
          <p:cNvSpPr>
            <a:spLocks noChangeArrowheads="1"/>
          </p:cNvSpPr>
          <p:nvPr/>
        </p:nvSpPr>
        <p:spPr bwMode="auto">
          <a:xfrm>
            <a:off x="1455738" y="2165350"/>
            <a:ext cx="4500562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07963" indent="-207963" algn="l" defTabSz="457200"/>
            <a:br>
              <a:rPr lang="en-US" sz="2400" b="0">
                <a:solidFill>
                  <a:srgbClr val="000000"/>
                </a:solidFill>
              </a:rPr>
            </a:br>
            <a:br>
              <a:rPr lang="en-US" sz="2400" b="0">
                <a:solidFill>
                  <a:srgbClr val="000000"/>
                </a:solidFill>
              </a:rPr>
            </a:br>
            <a:br>
              <a:rPr lang="en-US" sz="2400" b="0">
                <a:solidFill>
                  <a:srgbClr val="000000"/>
                </a:solidFill>
              </a:rPr>
            </a:br>
            <a:br>
              <a:rPr lang="en-US" sz="2400" b="0">
                <a:solidFill>
                  <a:srgbClr val="000000"/>
                </a:solidFill>
              </a:rPr>
            </a:br>
            <a:endParaRPr lang="en-US" sz="2400" b="0">
              <a:solidFill>
                <a:srgbClr val="000000"/>
              </a:solidFill>
            </a:endParaRPr>
          </a:p>
        </p:txBody>
      </p:sp>
      <p:sp>
        <p:nvSpPr>
          <p:cNvPr id="118795" name="AutoShape 11"/>
          <p:cNvSpPr>
            <a:spLocks noChangeArrowheads="1"/>
          </p:cNvSpPr>
          <p:nvPr/>
        </p:nvSpPr>
        <p:spPr bwMode="auto">
          <a:xfrm>
            <a:off x="769938" y="2989263"/>
            <a:ext cx="2741612" cy="2076450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796" name="AutoShape 12"/>
          <p:cNvSpPr>
            <a:spLocks noChangeArrowheads="1"/>
          </p:cNvSpPr>
          <p:nvPr/>
        </p:nvSpPr>
        <p:spPr bwMode="auto">
          <a:xfrm>
            <a:off x="3695700" y="2989263"/>
            <a:ext cx="2740025" cy="2076450"/>
          </a:xfrm>
          <a:prstGeom prst="roundRect">
            <a:avLst>
              <a:gd name="adj" fmla="val 12495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797" name="Oval 13"/>
          <p:cNvSpPr>
            <a:spLocks noChangeArrowheads="1"/>
          </p:cNvSpPr>
          <p:nvPr/>
        </p:nvSpPr>
        <p:spPr bwMode="auto">
          <a:xfrm>
            <a:off x="3140075" y="2141538"/>
            <a:ext cx="395288" cy="41116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798" name="Oval 14"/>
          <p:cNvSpPr>
            <a:spLocks noChangeArrowheads="1"/>
          </p:cNvSpPr>
          <p:nvPr/>
        </p:nvSpPr>
        <p:spPr bwMode="auto">
          <a:xfrm>
            <a:off x="1778000" y="3163888"/>
            <a:ext cx="395288" cy="40798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799" name="Oval 15"/>
          <p:cNvSpPr>
            <a:spLocks noChangeArrowheads="1"/>
          </p:cNvSpPr>
          <p:nvPr/>
        </p:nvSpPr>
        <p:spPr bwMode="auto">
          <a:xfrm>
            <a:off x="4891088" y="3119438"/>
            <a:ext cx="393700" cy="41116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0" name="Oval 16"/>
          <p:cNvSpPr>
            <a:spLocks noChangeArrowheads="1"/>
          </p:cNvSpPr>
          <p:nvPr/>
        </p:nvSpPr>
        <p:spPr bwMode="auto">
          <a:xfrm>
            <a:off x="3140075" y="2141538"/>
            <a:ext cx="395288" cy="41116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1" name="Oval 17"/>
          <p:cNvSpPr>
            <a:spLocks noChangeArrowheads="1"/>
          </p:cNvSpPr>
          <p:nvPr/>
        </p:nvSpPr>
        <p:spPr bwMode="auto">
          <a:xfrm>
            <a:off x="2416175" y="3762375"/>
            <a:ext cx="395288" cy="4079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2" name="Oval 18"/>
          <p:cNvSpPr>
            <a:spLocks noChangeArrowheads="1"/>
          </p:cNvSpPr>
          <p:nvPr/>
        </p:nvSpPr>
        <p:spPr bwMode="auto">
          <a:xfrm>
            <a:off x="5840413" y="3613150"/>
            <a:ext cx="382587" cy="381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3" name="Oval 19"/>
          <p:cNvSpPr>
            <a:spLocks noChangeArrowheads="1"/>
          </p:cNvSpPr>
          <p:nvPr/>
        </p:nvSpPr>
        <p:spPr bwMode="auto">
          <a:xfrm>
            <a:off x="1038225" y="3805238"/>
            <a:ext cx="395288" cy="4095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4" name="Oval 20"/>
          <p:cNvSpPr>
            <a:spLocks noChangeArrowheads="1"/>
          </p:cNvSpPr>
          <p:nvPr/>
        </p:nvSpPr>
        <p:spPr bwMode="auto">
          <a:xfrm>
            <a:off x="3140075" y="2141538"/>
            <a:ext cx="395288" cy="41116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5" name="Oval 21"/>
          <p:cNvSpPr>
            <a:spLocks noChangeArrowheads="1"/>
          </p:cNvSpPr>
          <p:nvPr/>
        </p:nvSpPr>
        <p:spPr bwMode="auto">
          <a:xfrm>
            <a:off x="3140075" y="2141538"/>
            <a:ext cx="395288" cy="41116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6" name="Oval 22"/>
          <p:cNvSpPr>
            <a:spLocks noChangeArrowheads="1"/>
          </p:cNvSpPr>
          <p:nvPr/>
        </p:nvSpPr>
        <p:spPr bwMode="auto">
          <a:xfrm>
            <a:off x="3979863" y="3571875"/>
            <a:ext cx="395287" cy="4079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7" name="Oval 23"/>
          <p:cNvSpPr>
            <a:spLocks noChangeArrowheads="1"/>
          </p:cNvSpPr>
          <p:nvPr/>
        </p:nvSpPr>
        <p:spPr bwMode="auto">
          <a:xfrm>
            <a:off x="5314950" y="4141788"/>
            <a:ext cx="395288" cy="40798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8" name="Line 24"/>
          <p:cNvSpPr>
            <a:spLocks noChangeShapeType="1"/>
          </p:cNvSpPr>
          <p:nvPr/>
        </p:nvSpPr>
        <p:spPr bwMode="auto">
          <a:xfrm flipH="1">
            <a:off x="2103438" y="2495550"/>
            <a:ext cx="1122362" cy="727075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9" name="Line 25"/>
          <p:cNvSpPr>
            <a:spLocks noChangeShapeType="1"/>
          </p:cNvSpPr>
          <p:nvPr/>
        </p:nvSpPr>
        <p:spPr bwMode="auto">
          <a:xfrm flipH="1">
            <a:off x="1379538" y="3514725"/>
            <a:ext cx="441325" cy="334963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10" name="Line 26"/>
          <p:cNvSpPr>
            <a:spLocks noChangeShapeType="1"/>
          </p:cNvSpPr>
          <p:nvPr/>
        </p:nvSpPr>
        <p:spPr bwMode="auto">
          <a:xfrm>
            <a:off x="2103438" y="3514725"/>
            <a:ext cx="398462" cy="290513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11" name="Line 27"/>
          <p:cNvSpPr>
            <a:spLocks noChangeShapeType="1"/>
          </p:cNvSpPr>
          <p:nvPr/>
        </p:nvSpPr>
        <p:spPr bwMode="auto">
          <a:xfrm>
            <a:off x="3513138" y="2436813"/>
            <a:ext cx="1433512" cy="771525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12" name="Line 28"/>
          <p:cNvSpPr>
            <a:spLocks noChangeShapeType="1"/>
          </p:cNvSpPr>
          <p:nvPr/>
        </p:nvSpPr>
        <p:spPr bwMode="auto">
          <a:xfrm flipH="1">
            <a:off x="4349750" y="3427413"/>
            <a:ext cx="582613" cy="29210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13" name="Line 29"/>
          <p:cNvSpPr>
            <a:spLocks noChangeShapeType="1"/>
          </p:cNvSpPr>
          <p:nvPr/>
        </p:nvSpPr>
        <p:spPr bwMode="auto">
          <a:xfrm>
            <a:off x="5246688" y="3413125"/>
            <a:ext cx="636587" cy="29210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14" name="Rectangle 30"/>
          <p:cNvSpPr>
            <a:spLocks noChangeArrowheads="1"/>
          </p:cNvSpPr>
          <p:nvPr/>
        </p:nvSpPr>
        <p:spPr bwMode="auto">
          <a:xfrm>
            <a:off x="3248025" y="2212975"/>
            <a:ext cx="13335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18815" name="Rectangle 31"/>
          <p:cNvSpPr>
            <a:spLocks noChangeArrowheads="1"/>
          </p:cNvSpPr>
          <p:nvPr/>
        </p:nvSpPr>
        <p:spPr bwMode="auto">
          <a:xfrm>
            <a:off x="1900238" y="3279775"/>
            <a:ext cx="1333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18816" name="Rectangle 32"/>
          <p:cNvSpPr>
            <a:spLocks noChangeArrowheads="1"/>
          </p:cNvSpPr>
          <p:nvPr/>
        </p:nvSpPr>
        <p:spPr bwMode="auto">
          <a:xfrm>
            <a:off x="2566988" y="3848100"/>
            <a:ext cx="14446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18817" name="Rectangle 33"/>
          <p:cNvSpPr>
            <a:spLocks noChangeArrowheads="1"/>
          </p:cNvSpPr>
          <p:nvPr/>
        </p:nvSpPr>
        <p:spPr bwMode="auto">
          <a:xfrm>
            <a:off x="1162050" y="3890963"/>
            <a:ext cx="14446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18818" name="Rectangle 34"/>
          <p:cNvSpPr>
            <a:spLocks noChangeArrowheads="1"/>
          </p:cNvSpPr>
          <p:nvPr/>
        </p:nvSpPr>
        <p:spPr bwMode="auto">
          <a:xfrm>
            <a:off x="4968875" y="3208338"/>
            <a:ext cx="18415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118819" name="Rectangle 35"/>
          <p:cNvSpPr>
            <a:spLocks noChangeArrowheads="1"/>
          </p:cNvSpPr>
          <p:nvPr/>
        </p:nvSpPr>
        <p:spPr bwMode="auto">
          <a:xfrm>
            <a:off x="4087813" y="3713163"/>
            <a:ext cx="125412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F</a:t>
            </a:r>
          </a:p>
        </p:txBody>
      </p:sp>
      <p:sp>
        <p:nvSpPr>
          <p:cNvPr id="118820" name="Rectangle 36"/>
          <p:cNvSpPr>
            <a:spLocks noChangeArrowheads="1"/>
          </p:cNvSpPr>
          <p:nvPr/>
        </p:nvSpPr>
        <p:spPr bwMode="auto">
          <a:xfrm>
            <a:off x="5945188" y="3676650"/>
            <a:ext cx="1603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G</a:t>
            </a:r>
          </a:p>
        </p:txBody>
      </p:sp>
      <p:sp>
        <p:nvSpPr>
          <p:cNvPr id="118821" name="Rectangle 37"/>
          <p:cNvSpPr>
            <a:spLocks noChangeArrowheads="1"/>
          </p:cNvSpPr>
          <p:nvPr/>
        </p:nvSpPr>
        <p:spPr bwMode="auto">
          <a:xfrm>
            <a:off x="5467350" y="4241800"/>
            <a:ext cx="1428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H</a:t>
            </a:r>
          </a:p>
        </p:txBody>
      </p:sp>
      <p:sp>
        <p:nvSpPr>
          <p:cNvPr id="118822" name="Line 38"/>
          <p:cNvSpPr>
            <a:spLocks noChangeShapeType="1"/>
          </p:cNvSpPr>
          <p:nvPr/>
        </p:nvSpPr>
        <p:spPr bwMode="auto">
          <a:xfrm>
            <a:off x="1322388" y="2597150"/>
            <a:ext cx="582612" cy="407988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23" name="Rectangle 39"/>
          <p:cNvSpPr>
            <a:spLocks noChangeArrowheads="1"/>
          </p:cNvSpPr>
          <p:nvPr/>
        </p:nvSpPr>
        <p:spPr bwMode="auto">
          <a:xfrm>
            <a:off x="161925" y="2225675"/>
            <a:ext cx="25622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 dirty="0">
                <a:solidFill>
                  <a:srgbClr val="000000"/>
                </a:solidFill>
              </a:rPr>
              <a:t>left </a:t>
            </a:r>
            <a:r>
              <a:rPr lang="en-US" sz="2400" b="0" dirty="0" err="1">
                <a:solidFill>
                  <a:srgbClr val="000000"/>
                </a:solidFill>
              </a:rPr>
              <a:t>subtree</a:t>
            </a:r>
            <a:r>
              <a:rPr lang="en-US" sz="2400" b="0" dirty="0">
                <a:solidFill>
                  <a:srgbClr val="000000"/>
                </a:solidFill>
              </a:rPr>
              <a:t> of A </a:t>
            </a:r>
          </a:p>
        </p:txBody>
      </p:sp>
      <p:sp>
        <p:nvSpPr>
          <p:cNvPr id="118824" name="Rectangle 40"/>
          <p:cNvSpPr>
            <a:spLocks noChangeArrowheads="1"/>
          </p:cNvSpPr>
          <p:nvPr/>
        </p:nvSpPr>
        <p:spPr bwMode="auto">
          <a:xfrm>
            <a:off x="4083844" y="2211388"/>
            <a:ext cx="2707481" cy="39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 dirty="0">
                <a:solidFill>
                  <a:srgbClr val="000000"/>
                </a:solidFill>
              </a:rPr>
              <a:t>right </a:t>
            </a:r>
            <a:r>
              <a:rPr lang="en-US" sz="2400" b="0" dirty="0" err="1">
                <a:solidFill>
                  <a:srgbClr val="000000"/>
                </a:solidFill>
              </a:rPr>
              <a:t>subtree</a:t>
            </a:r>
            <a:r>
              <a:rPr lang="en-US" sz="2400" b="0" dirty="0">
                <a:solidFill>
                  <a:srgbClr val="000000"/>
                </a:solidFill>
              </a:rPr>
              <a:t> of A </a:t>
            </a:r>
          </a:p>
        </p:txBody>
      </p:sp>
      <p:sp>
        <p:nvSpPr>
          <p:cNvPr id="118825" name="Line 41"/>
          <p:cNvSpPr>
            <a:spLocks noChangeShapeType="1"/>
          </p:cNvSpPr>
          <p:nvPr/>
        </p:nvSpPr>
        <p:spPr bwMode="auto">
          <a:xfrm flipH="1">
            <a:off x="5330825" y="2538413"/>
            <a:ext cx="552450" cy="422275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26" name="Rectangle 42"/>
          <p:cNvSpPr>
            <a:spLocks noChangeArrowheads="1"/>
          </p:cNvSpPr>
          <p:nvPr/>
        </p:nvSpPr>
        <p:spPr bwMode="auto">
          <a:xfrm>
            <a:off x="2981325" y="1749425"/>
            <a:ext cx="134143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defTabSz="457200"/>
            <a:r>
              <a:rPr lang="en-US" sz="2400" b="0" dirty="0">
                <a:solidFill>
                  <a:srgbClr val="000000"/>
                </a:solidFill>
              </a:rPr>
              <a:t>Root</a:t>
            </a:r>
          </a:p>
        </p:txBody>
      </p:sp>
      <p:sp>
        <p:nvSpPr>
          <p:cNvPr id="118827" name="Rectangle 43"/>
          <p:cNvSpPr>
            <a:spLocks noChangeArrowheads="1"/>
          </p:cNvSpPr>
          <p:nvPr/>
        </p:nvSpPr>
        <p:spPr bwMode="auto">
          <a:xfrm>
            <a:off x="914400" y="4362450"/>
            <a:ext cx="2400300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 i="1">
                <a:solidFill>
                  <a:srgbClr val="000000"/>
                </a:solidFill>
              </a:rPr>
              <a:t>B is the root of </a:t>
            </a:r>
            <a:r>
              <a:rPr lang="en-GB" sz="2400" b="0" i="1">
                <a:solidFill>
                  <a:srgbClr val="000000"/>
                </a:solidFill>
              </a:rPr>
              <a:t>the left subtree</a:t>
            </a:r>
            <a:endParaRPr lang="en-US" sz="2400" b="0" i="1">
              <a:solidFill>
                <a:srgbClr val="000000"/>
              </a:solidFill>
            </a:endParaRPr>
          </a:p>
        </p:txBody>
      </p:sp>
      <p:sp>
        <p:nvSpPr>
          <p:cNvPr id="118828" name="Line 44"/>
          <p:cNvSpPr>
            <a:spLocks noChangeShapeType="1"/>
          </p:cNvSpPr>
          <p:nvPr/>
        </p:nvSpPr>
        <p:spPr bwMode="auto">
          <a:xfrm flipH="1">
            <a:off x="5614988" y="3937000"/>
            <a:ext cx="325437" cy="247650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A Simple Binary Tree</a:t>
            </a:r>
          </a:p>
        </p:txBody>
      </p:sp>
    </p:spTree>
    <p:extLst>
      <p:ext uri="{BB962C8B-B14F-4D97-AF65-F5344CB8AC3E}">
        <p14:creationId xmlns:p14="http://schemas.microsoft.com/office/powerpoint/2010/main" val="177751256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2743200" y="1617663"/>
            <a:ext cx="15240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07963" indent="-207963" algn="l" defTabSz="457200"/>
            <a:r>
              <a:rPr lang="en-US" sz="2400">
                <a:solidFill>
                  <a:srgbClr val="000000"/>
                </a:solidFill>
              </a:rPr>
              <a:t>Root</a:t>
            </a:r>
          </a:p>
        </p:txBody>
      </p:sp>
      <p:pic>
        <p:nvPicPr>
          <p:cNvPr id="105476" name="Picture 4"/>
          <p:cNvPicPr>
            <a:picLocks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873125" y="2035175"/>
            <a:ext cx="5518150" cy="296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4114800" y="2322513"/>
            <a:ext cx="24193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Right</a:t>
            </a:r>
            <a:r>
              <a:rPr lang="en-US" sz="2400">
                <a:solidFill>
                  <a:srgbClr val="000000"/>
                </a:solidFill>
              </a:rPr>
              <a:t> Child</a:t>
            </a:r>
            <a:r>
              <a:rPr lang="en-US" sz="2400" b="0">
                <a:solidFill>
                  <a:srgbClr val="000000"/>
                </a:solidFill>
              </a:rPr>
              <a:t> of A</a:t>
            </a:r>
          </a:p>
        </p:txBody>
      </p:sp>
      <p:sp>
        <p:nvSpPr>
          <p:cNvPr id="105478" name="Rectangle 6"/>
          <p:cNvSpPr>
            <a:spLocks noChangeArrowheads="1"/>
          </p:cNvSpPr>
          <p:nvPr/>
        </p:nvSpPr>
        <p:spPr bwMode="auto">
          <a:xfrm>
            <a:off x="3581400" y="1547813"/>
            <a:ext cx="3038475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(</a:t>
            </a:r>
            <a:r>
              <a:rPr lang="en-US" sz="2400">
                <a:solidFill>
                  <a:srgbClr val="000000"/>
                </a:solidFill>
              </a:rPr>
              <a:t>Parent</a:t>
            </a:r>
            <a:r>
              <a:rPr lang="en-US" sz="2400" b="0">
                <a:solidFill>
                  <a:srgbClr val="000000"/>
                </a:solidFill>
              </a:rPr>
              <a:t> of B &amp; C)</a:t>
            </a:r>
          </a:p>
        </p:txBody>
      </p:sp>
      <p:sp>
        <p:nvSpPr>
          <p:cNvPr id="105479" name="Rectangle 7"/>
          <p:cNvSpPr>
            <a:spLocks noChangeArrowheads="1"/>
          </p:cNvSpPr>
          <p:nvPr/>
        </p:nvSpPr>
        <p:spPr bwMode="auto">
          <a:xfrm>
            <a:off x="3429000" y="4724400"/>
            <a:ext cx="2549525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Left Child of F</a:t>
            </a:r>
            <a:br>
              <a:rPr lang="en-US" sz="2400" b="0">
                <a:solidFill>
                  <a:srgbClr val="000000"/>
                </a:solidFill>
              </a:rPr>
            </a:br>
            <a:r>
              <a:rPr lang="en-US" sz="2400" b="0">
                <a:solidFill>
                  <a:srgbClr val="000000"/>
                </a:solidFill>
              </a:rPr>
              <a:t>(</a:t>
            </a:r>
            <a:r>
              <a:rPr lang="en-US" sz="2400">
                <a:solidFill>
                  <a:srgbClr val="000000"/>
                </a:solidFill>
              </a:rPr>
              <a:t>Grandchild</a:t>
            </a:r>
            <a:r>
              <a:rPr lang="en-US" sz="2400" b="0">
                <a:solidFill>
                  <a:srgbClr val="000000"/>
                </a:solidFill>
              </a:rPr>
              <a:t> of C)</a:t>
            </a:r>
          </a:p>
        </p:txBody>
      </p:sp>
      <p:sp>
        <p:nvSpPr>
          <p:cNvPr id="105480" name="Line 8"/>
          <p:cNvSpPr>
            <a:spLocks noChangeShapeType="1"/>
          </p:cNvSpPr>
          <p:nvPr/>
        </p:nvSpPr>
        <p:spPr bwMode="auto">
          <a:xfrm flipV="1">
            <a:off x="1219200" y="4714875"/>
            <a:ext cx="581025" cy="188913"/>
          </a:xfrm>
          <a:prstGeom prst="line">
            <a:avLst/>
          </a:prstGeom>
          <a:noFill/>
          <a:ln w="12700">
            <a:solidFill>
              <a:srgbClr val="4B4B4B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5481" name="Rectangle 9"/>
          <p:cNvSpPr>
            <a:spLocks noChangeArrowheads="1"/>
          </p:cNvSpPr>
          <p:nvPr/>
        </p:nvSpPr>
        <p:spPr bwMode="auto">
          <a:xfrm>
            <a:off x="609600" y="5118100"/>
            <a:ext cx="291623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>
                <a:solidFill>
                  <a:srgbClr val="000000"/>
                </a:solidFill>
              </a:rPr>
              <a:t>leaf</a:t>
            </a:r>
            <a:br>
              <a:rPr lang="en-US" sz="2400">
                <a:solidFill>
                  <a:srgbClr val="000000"/>
                </a:solidFill>
              </a:rPr>
            </a:br>
            <a:r>
              <a:rPr lang="en-US" sz="2400" b="0">
                <a:solidFill>
                  <a:srgbClr val="000000"/>
                </a:solidFill>
              </a:rPr>
              <a:t>(a node with no children)</a:t>
            </a:r>
          </a:p>
        </p:txBody>
      </p:sp>
      <p:sp>
        <p:nvSpPr>
          <p:cNvPr id="105517" name="Rectangle 45"/>
          <p:cNvSpPr>
            <a:spLocks noChangeArrowheads="1"/>
          </p:cNvSpPr>
          <p:nvPr/>
        </p:nvSpPr>
        <p:spPr bwMode="auto">
          <a:xfrm>
            <a:off x="463550" y="1125538"/>
            <a:ext cx="2713884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/>
            <a:r>
              <a:rPr lang="en-US" sz="2400" b="1" dirty="0">
                <a:solidFill>
                  <a:srgbClr val="008000"/>
                </a:solidFill>
              </a:rPr>
              <a:t>Terminal Node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A Simple Binary Tree</a:t>
            </a:r>
          </a:p>
        </p:txBody>
      </p:sp>
    </p:spTree>
    <p:extLst>
      <p:ext uri="{BB962C8B-B14F-4D97-AF65-F5344CB8AC3E}">
        <p14:creationId xmlns:p14="http://schemas.microsoft.com/office/powerpoint/2010/main" val="344262773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idx="1"/>
          </p:nvPr>
        </p:nvSpPr>
        <p:spPr>
          <a:xfrm>
            <a:off x="476250" y="1171574"/>
            <a:ext cx="6038850" cy="7361239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sz="2400" b="1" dirty="0">
                <a:solidFill>
                  <a:srgbClr val="008000"/>
                </a:solidFill>
              </a:rPr>
              <a:t>Level of Node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is defined as the number of branches in the path from the node to the Root</a:t>
            </a:r>
            <a:r>
              <a:rPr lang="en-GB" sz="2400" dirty="0"/>
              <a:t>.</a:t>
            </a:r>
            <a:endParaRPr lang="en-US" sz="24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 b="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400" b="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b="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b="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b="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b="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b="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b="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b="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b="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b="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b="1" u="sng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b="1" u="sng" dirty="0">
              <a:solidFill>
                <a:srgbClr val="000000"/>
              </a:solidFill>
            </a:endParaRPr>
          </a:p>
        </p:txBody>
      </p:sp>
      <p:pic>
        <p:nvPicPr>
          <p:cNvPr id="120862" name="Picture 30"/>
          <p:cNvPicPr>
            <a:picLocks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62000" y="2817813"/>
            <a:ext cx="5638800" cy="3865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0863" name="Text Box 31"/>
          <p:cNvSpPr txBox="1">
            <a:spLocks noChangeArrowheads="1"/>
          </p:cNvSpPr>
          <p:nvPr/>
        </p:nvSpPr>
        <p:spPr bwMode="auto">
          <a:xfrm>
            <a:off x="990600" y="3095625"/>
            <a:ext cx="1371600" cy="422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2400" b="0"/>
              <a:t>Level 0</a:t>
            </a:r>
            <a:endParaRPr lang="en-US" sz="2400" b="0"/>
          </a:p>
        </p:txBody>
      </p:sp>
      <p:sp>
        <p:nvSpPr>
          <p:cNvPr id="120864" name="Text Box 32"/>
          <p:cNvSpPr txBox="1">
            <a:spLocks noChangeArrowheads="1"/>
          </p:cNvSpPr>
          <p:nvPr/>
        </p:nvSpPr>
        <p:spPr bwMode="auto">
          <a:xfrm>
            <a:off x="2514600" y="4010025"/>
            <a:ext cx="1371600" cy="422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2400" b="0"/>
              <a:t>Level 1</a:t>
            </a:r>
            <a:endParaRPr lang="en-US" sz="2400" b="0"/>
          </a:p>
        </p:txBody>
      </p:sp>
      <p:sp>
        <p:nvSpPr>
          <p:cNvPr id="120865" name="Text Box 33"/>
          <p:cNvSpPr txBox="1">
            <a:spLocks noChangeArrowheads="1"/>
          </p:cNvSpPr>
          <p:nvPr/>
        </p:nvSpPr>
        <p:spPr bwMode="auto">
          <a:xfrm>
            <a:off x="1676400" y="4784725"/>
            <a:ext cx="1371600" cy="422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2400" b="0"/>
              <a:t>Level 2</a:t>
            </a:r>
            <a:endParaRPr lang="en-US" sz="2400" b="0"/>
          </a:p>
        </p:txBody>
      </p:sp>
      <p:sp>
        <p:nvSpPr>
          <p:cNvPr id="120866" name="Text Box 34"/>
          <p:cNvSpPr txBox="1">
            <a:spLocks noChangeArrowheads="1"/>
          </p:cNvSpPr>
          <p:nvPr/>
        </p:nvSpPr>
        <p:spPr bwMode="auto">
          <a:xfrm>
            <a:off x="1066800" y="5910263"/>
            <a:ext cx="1371600" cy="422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2400" b="0"/>
              <a:t>Level 3</a:t>
            </a:r>
            <a:endParaRPr lang="en-US" sz="2400" b="0"/>
          </a:p>
        </p:txBody>
      </p:sp>
      <p:sp>
        <p:nvSpPr>
          <p:cNvPr id="120867" name="Line 35"/>
          <p:cNvSpPr>
            <a:spLocks noChangeShapeType="1"/>
          </p:cNvSpPr>
          <p:nvPr/>
        </p:nvSpPr>
        <p:spPr bwMode="auto">
          <a:xfrm>
            <a:off x="2514600" y="6121400"/>
            <a:ext cx="25908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0868" name="Line 36"/>
          <p:cNvSpPr>
            <a:spLocks noChangeShapeType="1"/>
          </p:cNvSpPr>
          <p:nvPr/>
        </p:nvSpPr>
        <p:spPr bwMode="auto">
          <a:xfrm>
            <a:off x="3124200" y="4924425"/>
            <a:ext cx="25908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0869" name="Line 37"/>
          <p:cNvSpPr>
            <a:spLocks noChangeShapeType="1"/>
          </p:cNvSpPr>
          <p:nvPr/>
        </p:nvSpPr>
        <p:spPr bwMode="auto">
          <a:xfrm>
            <a:off x="1828800" y="4221163"/>
            <a:ext cx="25908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0870" name="Line 38"/>
          <p:cNvSpPr>
            <a:spLocks noChangeShapeType="1"/>
          </p:cNvSpPr>
          <p:nvPr/>
        </p:nvSpPr>
        <p:spPr bwMode="auto">
          <a:xfrm>
            <a:off x="2133600" y="3306763"/>
            <a:ext cx="25908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A Simple Binary Tree</a:t>
            </a:r>
          </a:p>
        </p:txBody>
      </p:sp>
    </p:spTree>
    <p:extLst>
      <p:ext uri="{BB962C8B-B14F-4D97-AF65-F5344CB8AC3E}">
        <p14:creationId xmlns:p14="http://schemas.microsoft.com/office/powerpoint/2010/main" val="145973493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idx="1"/>
          </p:nvPr>
        </p:nvSpPr>
        <p:spPr>
          <a:xfrm>
            <a:off x="476250" y="1112838"/>
            <a:ext cx="6038850" cy="7419975"/>
          </a:xfrm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400" b="1" u="sng" dirty="0">
                <a:solidFill>
                  <a:srgbClr val="008000"/>
                </a:solidFill>
              </a:rPr>
              <a:t>Height (or depth)</a:t>
            </a:r>
            <a:r>
              <a:rPr lang="en-US" sz="2400" b="1" dirty="0">
                <a:solidFill>
                  <a:srgbClr val="008000"/>
                </a:solidFill>
              </a:rPr>
              <a:t>  </a:t>
            </a:r>
            <a:r>
              <a:rPr lang="en-US" sz="2400" dirty="0">
                <a:solidFill>
                  <a:srgbClr val="000000"/>
                </a:solidFill>
              </a:rPr>
              <a:t>of a binary tree </a:t>
            </a:r>
            <a:endParaRPr lang="en-US" sz="2400" b="1" dirty="0">
              <a:solidFill>
                <a:srgbClr val="00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sz="2400" dirty="0"/>
              <a:t>is the</a:t>
            </a:r>
            <a:r>
              <a:rPr lang="en-US" sz="2400" i="1" dirty="0"/>
              <a:t> maximum</a:t>
            </a:r>
            <a:r>
              <a:rPr lang="en-US" sz="2400" dirty="0"/>
              <a:t> level of any node in the tree.</a:t>
            </a:r>
          </a:p>
        </p:txBody>
      </p:sp>
      <p:pic>
        <p:nvPicPr>
          <p:cNvPr id="107548" name="Picture 28"/>
          <p:cNvPicPr>
            <a:picLocks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62000" y="2827338"/>
            <a:ext cx="5638800" cy="3865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7549" name="Rectangle 29"/>
          <p:cNvSpPr>
            <a:spLocks noChangeArrowheads="1"/>
          </p:cNvSpPr>
          <p:nvPr/>
        </p:nvSpPr>
        <p:spPr bwMode="auto">
          <a:xfrm>
            <a:off x="1165225" y="7402513"/>
            <a:ext cx="232251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l"/>
            <a:r>
              <a:rPr lang="en-US" sz="2400" b="0" dirty="0"/>
              <a:t>Height = ?</a:t>
            </a:r>
          </a:p>
        </p:txBody>
      </p:sp>
      <p:sp>
        <p:nvSpPr>
          <p:cNvPr id="6" name="Cloud 5"/>
          <p:cNvSpPr/>
          <p:nvPr/>
        </p:nvSpPr>
        <p:spPr bwMode="auto">
          <a:xfrm>
            <a:off x="4214818" y="7143768"/>
            <a:ext cx="1071570" cy="785818"/>
          </a:xfrm>
          <a:prstGeom prst="cloud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A Simple Binary Tree</a:t>
            </a:r>
          </a:p>
        </p:txBody>
      </p:sp>
    </p:spTree>
    <p:extLst>
      <p:ext uri="{BB962C8B-B14F-4D97-AF65-F5344CB8AC3E}">
        <p14:creationId xmlns:p14="http://schemas.microsoft.com/office/powerpoint/2010/main" val="24927508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476250" y="1112838"/>
            <a:ext cx="5734050" cy="710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171450" indent="-171450" algn="l" defTabSz="457200">
              <a:lnSpc>
                <a:spcPct val="160000"/>
              </a:lnSpc>
              <a:spcBef>
                <a:spcPct val="90000"/>
              </a:spcBef>
              <a:buSzPct val="100000"/>
            </a:pPr>
            <a:r>
              <a:rPr lang="en-US" sz="2400" b="1" u="sng" dirty="0">
                <a:solidFill>
                  <a:srgbClr val="008000"/>
                </a:solidFill>
              </a:rPr>
              <a:t>Balance of A Node</a:t>
            </a:r>
          </a:p>
          <a:p>
            <a:pPr marL="171450" indent="-171450" algn="l" defTabSz="457200">
              <a:lnSpc>
                <a:spcPct val="16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b="0" dirty="0"/>
              <a:t>The balance of a node is defined as the height of its left </a:t>
            </a:r>
            <a:r>
              <a:rPr lang="en-US" sz="2400" b="0" dirty="0" err="1"/>
              <a:t>subtree</a:t>
            </a:r>
            <a:r>
              <a:rPr lang="en-US" sz="2400" b="0" dirty="0"/>
              <a:t> minus the height of its right </a:t>
            </a:r>
            <a:r>
              <a:rPr lang="en-US" sz="2400" b="0" dirty="0" err="1"/>
              <a:t>subtree</a:t>
            </a:r>
            <a:br>
              <a:rPr lang="en-US" sz="2400" b="0" dirty="0"/>
            </a:br>
            <a:br>
              <a:rPr lang="en-US" sz="2400" b="0" dirty="0"/>
            </a:br>
            <a:br>
              <a:rPr lang="en-US" sz="2400" b="0" dirty="0"/>
            </a:br>
            <a:br>
              <a:rPr lang="en-US" sz="2400" b="0" dirty="0"/>
            </a:br>
            <a:br>
              <a:rPr lang="en-US" sz="2400" b="0" dirty="0"/>
            </a:br>
            <a:br>
              <a:rPr lang="en-US" sz="2400" b="0" dirty="0"/>
            </a:br>
            <a:r>
              <a:rPr lang="en-US" sz="2400" b="0" dirty="0"/>
              <a:t>Note: the number in the node indicates the balance</a:t>
            </a:r>
          </a:p>
        </p:txBody>
      </p:sp>
      <p:pic>
        <p:nvPicPr>
          <p:cNvPr id="115715" name="Picture 3"/>
          <p:cNvPicPr>
            <a:picLocks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85800" y="4040188"/>
            <a:ext cx="4386263" cy="2151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5716" name="Line 4"/>
          <p:cNvSpPr>
            <a:spLocks noChangeShapeType="1"/>
          </p:cNvSpPr>
          <p:nvPr/>
        </p:nvSpPr>
        <p:spPr bwMode="auto">
          <a:xfrm flipH="1">
            <a:off x="2971800" y="4251325"/>
            <a:ext cx="25146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7" name="Line 5"/>
          <p:cNvSpPr>
            <a:spLocks noChangeShapeType="1"/>
          </p:cNvSpPr>
          <p:nvPr/>
        </p:nvSpPr>
        <p:spPr bwMode="auto">
          <a:xfrm flipH="1">
            <a:off x="3810000" y="4743450"/>
            <a:ext cx="1676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8" name="Line 6"/>
          <p:cNvSpPr>
            <a:spLocks noChangeShapeType="1"/>
          </p:cNvSpPr>
          <p:nvPr/>
        </p:nvSpPr>
        <p:spPr bwMode="auto">
          <a:xfrm flipH="1">
            <a:off x="4495800" y="5446713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9" name="Line 7"/>
          <p:cNvSpPr>
            <a:spLocks noChangeShapeType="1"/>
          </p:cNvSpPr>
          <p:nvPr/>
        </p:nvSpPr>
        <p:spPr bwMode="auto">
          <a:xfrm flipH="1">
            <a:off x="5105400" y="6010275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0" name="Text Box 8"/>
          <p:cNvSpPr txBox="1">
            <a:spLocks noChangeArrowheads="1"/>
          </p:cNvSpPr>
          <p:nvPr/>
        </p:nvSpPr>
        <p:spPr bwMode="auto">
          <a:xfrm>
            <a:off x="5562600" y="4081463"/>
            <a:ext cx="1066800" cy="422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b="0"/>
              <a:t>level 0</a:t>
            </a:r>
            <a:endParaRPr lang="en-US" sz="2400"/>
          </a:p>
        </p:txBody>
      </p:sp>
      <p:sp>
        <p:nvSpPr>
          <p:cNvPr id="115721" name="Text Box 9"/>
          <p:cNvSpPr txBox="1">
            <a:spLocks noChangeArrowheads="1"/>
          </p:cNvSpPr>
          <p:nvPr/>
        </p:nvSpPr>
        <p:spPr bwMode="auto">
          <a:xfrm>
            <a:off x="5562600" y="4573588"/>
            <a:ext cx="1066800" cy="422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b="0"/>
              <a:t>level 1</a:t>
            </a:r>
            <a:endParaRPr lang="en-US" sz="2400"/>
          </a:p>
        </p:txBody>
      </p:sp>
      <p:sp>
        <p:nvSpPr>
          <p:cNvPr id="115722" name="Text Box 10"/>
          <p:cNvSpPr txBox="1">
            <a:spLocks noChangeArrowheads="1"/>
          </p:cNvSpPr>
          <p:nvPr/>
        </p:nvSpPr>
        <p:spPr bwMode="auto">
          <a:xfrm>
            <a:off x="5562600" y="5276850"/>
            <a:ext cx="1066800" cy="422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b="0"/>
              <a:t>level 2</a:t>
            </a:r>
            <a:endParaRPr lang="en-US" sz="2400"/>
          </a:p>
        </p:txBody>
      </p:sp>
      <p:sp>
        <p:nvSpPr>
          <p:cNvPr id="115723" name="Text Box 11"/>
          <p:cNvSpPr txBox="1">
            <a:spLocks noChangeArrowheads="1"/>
          </p:cNvSpPr>
          <p:nvPr/>
        </p:nvSpPr>
        <p:spPr bwMode="auto">
          <a:xfrm>
            <a:off x="5562600" y="5838825"/>
            <a:ext cx="1066800" cy="422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b="0"/>
              <a:t>level 3</a:t>
            </a:r>
            <a:endParaRPr lang="en-US" sz="2400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A Simple Binary Tree</a:t>
            </a:r>
          </a:p>
        </p:txBody>
      </p:sp>
    </p:spTree>
    <p:extLst>
      <p:ext uri="{BB962C8B-B14F-4D97-AF65-F5344CB8AC3E}">
        <p14:creationId xmlns:p14="http://schemas.microsoft.com/office/powerpoint/2010/main" val="25270283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idx="1"/>
          </p:nvPr>
        </p:nvSpPr>
        <p:spPr>
          <a:xfrm>
            <a:off x="466725" y="1147763"/>
            <a:ext cx="5975350" cy="7391400"/>
          </a:xfrm>
          <a:noFill/>
          <a:ln/>
        </p:spPr>
        <p:txBody>
          <a:bodyPr/>
          <a:lstStyle/>
          <a:p>
            <a:pPr marL="690563" lvl="1" indent="-404813">
              <a:lnSpc>
                <a:spcPct val="12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000" dirty="0"/>
              <a:t>The items in binary tree can be inserted, deleted, and accessed in any order.</a:t>
            </a:r>
          </a:p>
          <a:p>
            <a:pPr marL="690563" lvl="1" indent="-404813">
              <a:lnSpc>
                <a:spcPct val="12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000" dirty="0"/>
              <a:t>Although they are easy to visualize, trees present difficult programming problems.</a:t>
            </a:r>
          </a:p>
          <a:p>
            <a:pPr marL="690563" lvl="1" indent="-404813">
              <a:lnSpc>
                <a:spcPct val="120000"/>
              </a:lnSpc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</a:rPr>
              <a:t>Tree traversals - to visit each node in the tree.</a:t>
            </a:r>
          </a:p>
          <a:p>
            <a:pPr marL="1141413" lvl="2">
              <a:lnSpc>
                <a:spcPct val="120000"/>
              </a:lnSpc>
            </a:pPr>
            <a:r>
              <a:rPr lang="en-US" sz="2400" dirty="0"/>
              <a:t>Three ways to traverse a tree</a:t>
            </a:r>
          </a:p>
          <a:p>
            <a:pPr marL="1141413" lvl="2">
              <a:lnSpc>
                <a:spcPct val="120000"/>
              </a:lnSpc>
              <a:buFont typeface="Wingdings" pitchFamily="2" charset="2"/>
              <a:buChar char="Œ"/>
            </a:pPr>
            <a:r>
              <a:rPr lang="en-US" sz="2400" b="1" i="1" dirty="0">
                <a:solidFill>
                  <a:srgbClr val="000000"/>
                </a:solidFill>
              </a:rPr>
              <a:t>Preorder</a:t>
            </a:r>
            <a:r>
              <a:rPr lang="en-US" sz="2400" dirty="0">
                <a:solidFill>
                  <a:srgbClr val="000000"/>
                </a:solidFill>
              </a:rPr>
              <a:t> (VLR)</a:t>
            </a:r>
          </a:p>
          <a:p>
            <a:pPr marL="1141413" lvl="2">
              <a:lnSpc>
                <a:spcPct val="120000"/>
              </a:lnSpc>
              <a:buFont typeface="Wingdings" pitchFamily="2" charset="2"/>
              <a:buChar char=""/>
            </a:pPr>
            <a:r>
              <a:rPr lang="en-US" sz="2400" b="1" i="1" dirty="0" err="1">
                <a:solidFill>
                  <a:srgbClr val="000000"/>
                </a:solidFill>
              </a:rPr>
              <a:t>Inorder</a:t>
            </a:r>
            <a:r>
              <a:rPr lang="en-US" sz="2400" dirty="0">
                <a:solidFill>
                  <a:srgbClr val="000000"/>
                </a:solidFill>
              </a:rPr>
              <a:t> (LVR)</a:t>
            </a:r>
          </a:p>
          <a:p>
            <a:pPr marL="1141413" lvl="2">
              <a:lnSpc>
                <a:spcPct val="120000"/>
              </a:lnSpc>
              <a:buFont typeface="Wingdings" pitchFamily="2" charset="2"/>
              <a:buChar char=""/>
            </a:pPr>
            <a:r>
              <a:rPr lang="en-US" sz="2400" b="1" i="1" dirty="0" err="1">
                <a:solidFill>
                  <a:srgbClr val="000000"/>
                </a:solidFill>
              </a:rPr>
              <a:t>Postorder</a:t>
            </a:r>
            <a:r>
              <a:rPr lang="en-US" sz="2400" dirty="0">
                <a:solidFill>
                  <a:srgbClr val="000000"/>
                </a:solidFill>
              </a:rPr>
              <a:t> (LRV)</a:t>
            </a:r>
          </a:p>
          <a:p>
            <a:pPr marL="1141413" lvl="2">
              <a:lnSpc>
                <a:spcPct val="120000"/>
              </a:lnSpc>
              <a:buFont typeface="Wingdings" pitchFamily="2" charset="2"/>
              <a:buNone/>
            </a:pPr>
            <a:r>
              <a:rPr lang="en-US" sz="2400" dirty="0">
                <a:solidFill>
                  <a:srgbClr val="000000"/>
                </a:solidFill>
              </a:rPr>
              <a:t>(V - visit node   L - visit left node </a:t>
            </a:r>
            <a:endParaRPr lang="en-GB" sz="2400" dirty="0">
              <a:solidFill>
                <a:srgbClr val="000000"/>
              </a:solidFill>
            </a:endParaRPr>
          </a:p>
          <a:p>
            <a:pPr marL="1141413" lvl="2">
              <a:lnSpc>
                <a:spcPct val="120000"/>
              </a:lnSpc>
              <a:buFont typeface="Wingdings" pitchFamily="2" charset="2"/>
              <a:buNone/>
            </a:pPr>
            <a:r>
              <a:rPr lang="en-US" sz="2400" dirty="0">
                <a:solidFill>
                  <a:srgbClr val="000000"/>
                </a:solidFill>
              </a:rPr>
              <a:t> R - visit right node)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A Simple Binary Tree</a:t>
            </a:r>
          </a:p>
        </p:txBody>
      </p:sp>
    </p:spTree>
    <p:extLst>
      <p:ext uri="{BB962C8B-B14F-4D97-AF65-F5344CB8AC3E}">
        <p14:creationId xmlns:p14="http://schemas.microsoft.com/office/powerpoint/2010/main" val="106642536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idx="1"/>
          </p:nvPr>
        </p:nvSpPr>
        <p:spPr>
          <a:xfrm>
            <a:off x="476250" y="1181100"/>
            <a:ext cx="6038850" cy="7351713"/>
          </a:xfrm>
          <a:noFill/>
          <a:ln/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sz="2000" b="1" u="sng" dirty="0"/>
              <a:t>Preorder</a:t>
            </a:r>
            <a:r>
              <a:rPr lang="en-US" sz="2000" dirty="0"/>
              <a:t> (VLR)</a:t>
            </a: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4B4B4B"/>
              </a:buClr>
              <a:buSzPct val="70000"/>
              <a:buFont typeface="Arial" charset="0"/>
              <a:buChar char="–"/>
            </a:pPr>
            <a:r>
              <a:rPr lang="en-US" sz="2000" dirty="0">
                <a:solidFill>
                  <a:srgbClr val="000000"/>
                </a:solidFill>
              </a:rPr>
              <a:t>Visit the root</a:t>
            </a: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4B4B4B"/>
              </a:buClr>
              <a:buSzPct val="70000"/>
              <a:buFont typeface="Arial" charset="0"/>
              <a:buChar char="–"/>
            </a:pPr>
            <a:r>
              <a:rPr lang="en-US" sz="2000" dirty="0">
                <a:solidFill>
                  <a:srgbClr val="000000"/>
                </a:solidFill>
              </a:rPr>
              <a:t>Traverse the left </a:t>
            </a:r>
            <a:r>
              <a:rPr lang="en-US" sz="2000" dirty="0" err="1">
                <a:solidFill>
                  <a:srgbClr val="000000"/>
                </a:solidFill>
              </a:rPr>
              <a:t>subtree</a:t>
            </a: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4B4B4B"/>
              </a:buClr>
              <a:buSzPct val="70000"/>
              <a:buFont typeface="Arial" charset="0"/>
              <a:buChar char="–"/>
            </a:pPr>
            <a:r>
              <a:rPr lang="en-US" sz="2000" dirty="0">
                <a:solidFill>
                  <a:srgbClr val="000000"/>
                </a:solidFill>
              </a:rPr>
              <a:t>Traverse the right </a:t>
            </a:r>
            <a:r>
              <a:rPr lang="en-US" sz="2000" dirty="0" err="1">
                <a:solidFill>
                  <a:srgbClr val="000000"/>
                </a:solidFill>
              </a:rPr>
              <a:t>subtree</a:t>
            </a:r>
            <a:endParaRPr lang="en-US" sz="2000" b="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2000" b="1" dirty="0">
              <a:solidFill>
                <a:srgbClr val="000000"/>
              </a:solidFill>
            </a:endParaRPr>
          </a:p>
        </p:txBody>
      </p:sp>
      <p:pic>
        <p:nvPicPr>
          <p:cNvPr id="122883" name="Picture 3"/>
          <p:cNvPicPr>
            <a:picLocks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457200" y="2814638"/>
            <a:ext cx="5981700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1600200" y="7458075"/>
            <a:ext cx="24558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 dirty="0">
                <a:solidFill>
                  <a:srgbClr val="000000"/>
                </a:solidFill>
              </a:rPr>
              <a:t>Answer:</a:t>
            </a:r>
          </a:p>
        </p:txBody>
      </p:sp>
      <p:sp>
        <p:nvSpPr>
          <p:cNvPr id="122885" name="Rectangle 5"/>
          <p:cNvSpPr>
            <a:spLocks noChangeArrowheads="1"/>
          </p:cNvSpPr>
          <p:nvPr/>
        </p:nvSpPr>
        <p:spPr bwMode="auto">
          <a:xfrm>
            <a:off x="4343400" y="7458075"/>
            <a:ext cx="19224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ABCDFGE</a:t>
            </a:r>
          </a:p>
        </p:txBody>
      </p:sp>
      <p:sp>
        <p:nvSpPr>
          <p:cNvPr id="122886" name="Freeform 6"/>
          <p:cNvSpPr>
            <a:spLocks/>
          </p:cNvSpPr>
          <p:nvPr/>
        </p:nvSpPr>
        <p:spPr bwMode="auto">
          <a:xfrm>
            <a:off x="546100" y="3025775"/>
            <a:ext cx="5892800" cy="4022725"/>
          </a:xfrm>
          <a:custGeom>
            <a:avLst/>
            <a:gdLst/>
            <a:ahLst/>
            <a:cxnLst>
              <a:cxn ang="0">
                <a:pos x="640" y="48"/>
              </a:cxn>
              <a:cxn ang="0">
                <a:pos x="160" y="240"/>
              </a:cxn>
              <a:cxn ang="0">
                <a:pos x="16" y="480"/>
              </a:cxn>
              <a:cxn ang="0">
                <a:pos x="64" y="720"/>
              </a:cxn>
              <a:cxn ang="0">
                <a:pos x="304" y="816"/>
              </a:cxn>
              <a:cxn ang="0">
                <a:pos x="592" y="672"/>
              </a:cxn>
              <a:cxn ang="0">
                <a:pos x="832" y="480"/>
              </a:cxn>
              <a:cxn ang="0">
                <a:pos x="1072" y="432"/>
              </a:cxn>
              <a:cxn ang="0">
                <a:pos x="1216" y="480"/>
              </a:cxn>
              <a:cxn ang="0">
                <a:pos x="880" y="864"/>
              </a:cxn>
              <a:cxn ang="0">
                <a:pos x="544" y="1344"/>
              </a:cxn>
              <a:cxn ang="0">
                <a:pos x="688" y="1584"/>
              </a:cxn>
              <a:cxn ang="0">
                <a:pos x="976" y="1584"/>
              </a:cxn>
              <a:cxn ang="0">
                <a:pos x="1168" y="1248"/>
              </a:cxn>
              <a:cxn ang="0">
                <a:pos x="1216" y="1152"/>
              </a:cxn>
              <a:cxn ang="0">
                <a:pos x="1312" y="1152"/>
              </a:cxn>
              <a:cxn ang="0">
                <a:pos x="1312" y="1440"/>
              </a:cxn>
              <a:cxn ang="0">
                <a:pos x="1504" y="1584"/>
              </a:cxn>
              <a:cxn ang="0">
                <a:pos x="1792" y="1488"/>
              </a:cxn>
              <a:cxn ang="0">
                <a:pos x="1840" y="1200"/>
              </a:cxn>
              <a:cxn ang="0">
                <a:pos x="1504" y="960"/>
              </a:cxn>
              <a:cxn ang="0">
                <a:pos x="1456" y="816"/>
              </a:cxn>
              <a:cxn ang="0">
                <a:pos x="1696" y="720"/>
              </a:cxn>
              <a:cxn ang="0">
                <a:pos x="1840" y="912"/>
              </a:cxn>
              <a:cxn ang="0">
                <a:pos x="1984" y="1104"/>
              </a:cxn>
              <a:cxn ang="0">
                <a:pos x="2320" y="1008"/>
              </a:cxn>
              <a:cxn ang="0">
                <a:pos x="2368" y="672"/>
              </a:cxn>
              <a:cxn ang="0">
                <a:pos x="2032" y="432"/>
              </a:cxn>
              <a:cxn ang="0">
                <a:pos x="1168" y="0"/>
              </a:cxn>
            </a:cxnLst>
            <a:rect l="0" t="0" r="r" b="b"/>
            <a:pathLst>
              <a:path w="2416" h="1640">
                <a:moveTo>
                  <a:pt x="640" y="48"/>
                </a:moveTo>
                <a:cubicBezTo>
                  <a:pt x="452" y="108"/>
                  <a:pt x="264" y="168"/>
                  <a:pt x="160" y="240"/>
                </a:cubicBezTo>
                <a:cubicBezTo>
                  <a:pt x="56" y="312"/>
                  <a:pt x="32" y="400"/>
                  <a:pt x="16" y="480"/>
                </a:cubicBezTo>
                <a:cubicBezTo>
                  <a:pt x="0" y="560"/>
                  <a:pt x="16" y="664"/>
                  <a:pt x="64" y="720"/>
                </a:cubicBezTo>
                <a:cubicBezTo>
                  <a:pt x="112" y="776"/>
                  <a:pt x="216" y="824"/>
                  <a:pt x="304" y="816"/>
                </a:cubicBezTo>
                <a:cubicBezTo>
                  <a:pt x="392" y="808"/>
                  <a:pt x="504" y="728"/>
                  <a:pt x="592" y="672"/>
                </a:cubicBezTo>
                <a:cubicBezTo>
                  <a:pt x="680" y="616"/>
                  <a:pt x="752" y="520"/>
                  <a:pt x="832" y="480"/>
                </a:cubicBezTo>
                <a:cubicBezTo>
                  <a:pt x="912" y="440"/>
                  <a:pt x="1008" y="432"/>
                  <a:pt x="1072" y="432"/>
                </a:cubicBezTo>
                <a:cubicBezTo>
                  <a:pt x="1136" y="432"/>
                  <a:pt x="1248" y="408"/>
                  <a:pt x="1216" y="480"/>
                </a:cubicBezTo>
                <a:cubicBezTo>
                  <a:pt x="1184" y="552"/>
                  <a:pt x="992" y="720"/>
                  <a:pt x="880" y="864"/>
                </a:cubicBezTo>
                <a:cubicBezTo>
                  <a:pt x="768" y="1008"/>
                  <a:pt x="576" y="1224"/>
                  <a:pt x="544" y="1344"/>
                </a:cubicBezTo>
                <a:cubicBezTo>
                  <a:pt x="512" y="1464"/>
                  <a:pt x="616" y="1544"/>
                  <a:pt x="688" y="1584"/>
                </a:cubicBezTo>
                <a:cubicBezTo>
                  <a:pt x="760" y="1624"/>
                  <a:pt x="896" y="1640"/>
                  <a:pt x="976" y="1584"/>
                </a:cubicBezTo>
                <a:cubicBezTo>
                  <a:pt x="1056" y="1528"/>
                  <a:pt x="1128" y="1320"/>
                  <a:pt x="1168" y="1248"/>
                </a:cubicBezTo>
                <a:cubicBezTo>
                  <a:pt x="1208" y="1176"/>
                  <a:pt x="1192" y="1168"/>
                  <a:pt x="1216" y="1152"/>
                </a:cubicBezTo>
                <a:cubicBezTo>
                  <a:pt x="1240" y="1136"/>
                  <a:pt x="1296" y="1104"/>
                  <a:pt x="1312" y="1152"/>
                </a:cubicBezTo>
                <a:cubicBezTo>
                  <a:pt x="1328" y="1200"/>
                  <a:pt x="1280" y="1368"/>
                  <a:pt x="1312" y="1440"/>
                </a:cubicBezTo>
                <a:cubicBezTo>
                  <a:pt x="1344" y="1512"/>
                  <a:pt x="1424" y="1576"/>
                  <a:pt x="1504" y="1584"/>
                </a:cubicBezTo>
                <a:cubicBezTo>
                  <a:pt x="1584" y="1592"/>
                  <a:pt x="1736" y="1552"/>
                  <a:pt x="1792" y="1488"/>
                </a:cubicBezTo>
                <a:cubicBezTo>
                  <a:pt x="1848" y="1424"/>
                  <a:pt x="1888" y="1288"/>
                  <a:pt x="1840" y="1200"/>
                </a:cubicBezTo>
                <a:cubicBezTo>
                  <a:pt x="1792" y="1112"/>
                  <a:pt x="1568" y="1024"/>
                  <a:pt x="1504" y="960"/>
                </a:cubicBezTo>
                <a:cubicBezTo>
                  <a:pt x="1440" y="896"/>
                  <a:pt x="1424" y="856"/>
                  <a:pt x="1456" y="816"/>
                </a:cubicBezTo>
                <a:cubicBezTo>
                  <a:pt x="1488" y="776"/>
                  <a:pt x="1632" y="704"/>
                  <a:pt x="1696" y="720"/>
                </a:cubicBezTo>
                <a:cubicBezTo>
                  <a:pt x="1760" y="736"/>
                  <a:pt x="1792" y="848"/>
                  <a:pt x="1840" y="912"/>
                </a:cubicBezTo>
                <a:cubicBezTo>
                  <a:pt x="1888" y="976"/>
                  <a:pt x="1904" y="1088"/>
                  <a:pt x="1984" y="1104"/>
                </a:cubicBezTo>
                <a:cubicBezTo>
                  <a:pt x="2064" y="1120"/>
                  <a:pt x="2256" y="1080"/>
                  <a:pt x="2320" y="1008"/>
                </a:cubicBezTo>
                <a:cubicBezTo>
                  <a:pt x="2384" y="936"/>
                  <a:pt x="2416" y="768"/>
                  <a:pt x="2368" y="672"/>
                </a:cubicBezTo>
                <a:cubicBezTo>
                  <a:pt x="2320" y="576"/>
                  <a:pt x="2232" y="544"/>
                  <a:pt x="2032" y="432"/>
                </a:cubicBezTo>
                <a:cubicBezTo>
                  <a:pt x="1832" y="320"/>
                  <a:pt x="1500" y="160"/>
                  <a:pt x="1168" y="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ysDot"/>
            <a:round/>
            <a:headEnd type="none" w="sm" len="sm"/>
            <a:tailEnd type="stealth" w="lg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A Simple Binary Tree</a:t>
            </a:r>
          </a:p>
        </p:txBody>
      </p:sp>
    </p:spTree>
    <p:extLst>
      <p:ext uri="{BB962C8B-B14F-4D97-AF65-F5344CB8AC3E}">
        <p14:creationId xmlns:p14="http://schemas.microsoft.com/office/powerpoint/2010/main" val="83815536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idx="1"/>
          </p:nvPr>
        </p:nvSpPr>
        <p:spPr>
          <a:xfrm>
            <a:off x="476250" y="1112838"/>
            <a:ext cx="6038850" cy="7419975"/>
          </a:xfrm>
          <a:noFill/>
          <a:ln/>
        </p:spPr>
        <p:txBody>
          <a:bodyPr/>
          <a:lstStyle/>
          <a:p>
            <a:pPr lvl="2">
              <a:buFont typeface="Wingdings" pitchFamily="2" charset="2"/>
              <a:buNone/>
            </a:pPr>
            <a:endParaRPr lang="en-US" sz="1600" dirty="0"/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sz="2400" b="1" u="sng" dirty="0" err="1"/>
              <a:t>Inorder</a:t>
            </a:r>
            <a:r>
              <a:rPr lang="en-US" sz="2400" dirty="0"/>
              <a:t> (LVR)</a:t>
            </a: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4B4B4B"/>
              </a:buClr>
              <a:buSzPct val="70000"/>
              <a:buFont typeface="Arial" charset="0"/>
              <a:buChar char="–"/>
            </a:pPr>
            <a:r>
              <a:rPr lang="en-US" sz="2400" dirty="0">
                <a:solidFill>
                  <a:srgbClr val="000000"/>
                </a:solidFill>
              </a:rPr>
              <a:t>Traverse the left </a:t>
            </a:r>
            <a:r>
              <a:rPr lang="en-US" sz="2400" dirty="0" err="1">
                <a:solidFill>
                  <a:srgbClr val="000000"/>
                </a:solidFill>
              </a:rPr>
              <a:t>subtree</a:t>
            </a:r>
            <a:r>
              <a:rPr lang="en-US" sz="2400" dirty="0">
                <a:solidFill>
                  <a:srgbClr val="000000"/>
                </a:solidFill>
              </a:rPr>
              <a:t> in </a:t>
            </a:r>
            <a:r>
              <a:rPr lang="en-US" sz="2400" dirty="0" err="1">
                <a:solidFill>
                  <a:srgbClr val="000000"/>
                </a:solidFill>
              </a:rPr>
              <a:t>inorder</a:t>
            </a:r>
            <a:endParaRPr lang="en-US" sz="24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4B4B4B"/>
              </a:buClr>
              <a:buSzPct val="70000"/>
              <a:buFont typeface="Arial" charset="0"/>
              <a:buChar char="–"/>
            </a:pPr>
            <a:r>
              <a:rPr lang="en-US" sz="2400" dirty="0">
                <a:solidFill>
                  <a:srgbClr val="000000"/>
                </a:solidFill>
              </a:rPr>
              <a:t>Visit the root</a:t>
            </a: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4B4B4B"/>
              </a:buClr>
              <a:buSzPct val="70000"/>
              <a:buFont typeface="Arial" charset="0"/>
              <a:buChar char="–"/>
            </a:pPr>
            <a:r>
              <a:rPr lang="en-US" sz="2400" dirty="0">
                <a:solidFill>
                  <a:srgbClr val="000000"/>
                </a:solidFill>
              </a:rPr>
              <a:t>Traverse the right </a:t>
            </a:r>
            <a:r>
              <a:rPr lang="en-US" sz="2400" dirty="0" err="1">
                <a:solidFill>
                  <a:srgbClr val="000000"/>
                </a:solidFill>
              </a:rPr>
              <a:t>subtree</a:t>
            </a:r>
            <a:r>
              <a:rPr lang="en-US" sz="2400" dirty="0">
                <a:solidFill>
                  <a:srgbClr val="000000"/>
                </a:solidFill>
              </a:rPr>
              <a:t> in </a:t>
            </a:r>
            <a:r>
              <a:rPr lang="en-US" sz="2400" dirty="0" err="1">
                <a:solidFill>
                  <a:srgbClr val="000000"/>
                </a:solidFill>
              </a:rPr>
              <a:t>inorder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26979" name="Picture 3"/>
          <p:cNvPicPr>
            <a:picLocks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09600" y="3417888"/>
            <a:ext cx="5600700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6980" name="Rectangle 4"/>
          <p:cNvSpPr>
            <a:spLocks noChangeArrowheads="1"/>
          </p:cNvSpPr>
          <p:nvPr/>
        </p:nvSpPr>
        <p:spPr bwMode="auto">
          <a:xfrm>
            <a:off x="1076325" y="7529513"/>
            <a:ext cx="1706563" cy="38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 dirty="0">
                <a:solidFill>
                  <a:srgbClr val="000000"/>
                </a:solidFill>
              </a:rPr>
              <a:t>Answer:</a:t>
            </a:r>
          </a:p>
        </p:txBody>
      </p:sp>
      <p:sp>
        <p:nvSpPr>
          <p:cNvPr id="126981" name="Rectangle 5"/>
          <p:cNvSpPr>
            <a:spLocks noChangeArrowheads="1"/>
          </p:cNvSpPr>
          <p:nvPr/>
        </p:nvSpPr>
        <p:spPr bwMode="auto">
          <a:xfrm>
            <a:off x="2971800" y="7529513"/>
            <a:ext cx="2286000" cy="38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BAFDGCE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A Simple Binary Tree</a:t>
            </a:r>
          </a:p>
        </p:txBody>
      </p:sp>
    </p:spTree>
    <p:extLst>
      <p:ext uri="{BB962C8B-B14F-4D97-AF65-F5344CB8AC3E}">
        <p14:creationId xmlns:p14="http://schemas.microsoft.com/office/powerpoint/2010/main" val="102424405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idx="1"/>
          </p:nvPr>
        </p:nvSpPr>
        <p:spPr>
          <a:xfrm>
            <a:off x="476250" y="1112838"/>
            <a:ext cx="6038850" cy="7419975"/>
          </a:xfrm>
          <a:noFill/>
          <a:ln/>
        </p:spPr>
        <p:txBody>
          <a:bodyPr/>
          <a:lstStyle/>
          <a:p>
            <a:pPr lvl="2">
              <a:buFont typeface="Wingdings" pitchFamily="2" charset="2"/>
              <a:buNone/>
            </a:pPr>
            <a:endParaRPr lang="en-US" sz="1600" dirty="0"/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GB" sz="2400" b="1" u="sng" dirty="0"/>
              <a:t>Post</a:t>
            </a:r>
            <a:r>
              <a:rPr lang="en-US" sz="2400" b="1" u="sng" dirty="0"/>
              <a:t>order</a:t>
            </a:r>
            <a:r>
              <a:rPr lang="en-US" sz="2400" dirty="0"/>
              <a:t> (LR</a:t>
            </a:r>
            <a:r>
              <a:rPr lang="en-GB" sz="2400" dirty="0"/>
              <a:t>V</a:t>
            </a:r>
            <a:r>
              <a:rPr lang="en-US" sz="2400" dirty="0"/>
              <a:t>)</a:t>
            </a: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4B4B4B"/>
              </a:buClr>
              <a:buSzPct val="70000"/>
              <a:buFont typeface="Arial" charset="0"/>
              <a:buChar char="–"/>
            </a:pPr>
            <a:r>
              <a:rPr lang="en-US" sz="2400" dirty="0">
                <a:solidFill>
                  <a:srgbClr val="000000"/>
                </a:solidFill>
              </a:rPr>
              <a:t>Traverse the left </a:t>
            </a:r>
            <a:r>
              <a:rPr lang="en-US" sz="2400" dirty="0" err="1">
                <a:solidFill>
                  <a:srgbClr val="000000"/>
                </a:solidFill>
              </a:rPr>
              <a:t>subtree</a:t>
            </a:r>
            <a:r>
              <a:rPr lang="en-US" sz="2400" dirty="0">
                <a:solidFill>
                  <a:srgbClr val="000000"/>
                </a:solidFill>
              </a:rPr>
              <a:t> in </a:t>
            </a:r>
            <a:r>
              <a:rPr lang="en-GB" sz="2400" dirty="0">
                <a:solidFill>
                  <a:srgbClr val="000000"/>
                </a:solidFill>
              </a:rPr>
              <a:t>post</a:t>
            </a:r>
            <a:r>
              <a:rPr lang="en-US" sz="2400" dirty="0">
                <a:solidFill>
                  <a:srgbClr val="000000"/>
                </a:solidFill>
              </a:rPr>
              <a:t>order</a:t>
            </a: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4B4B4B"/>
              </a:buClr>
              <a:buSzPct val="70000"/>
              <a:buFont typeface="Arial" charset="0"/>
              <a:buChar char="–"/>
            </a:pPr>
            <a:r>
              <a:rPr lang="en-US" sz="2400" dirty="0">
                <a:solidFill>
                  <a:srgbClr val="000000"/>
                </a:solidFill>
              </a:rPr>
              <a:t>Traverse the right </a:t>
            </a:r>
            <a:r>
              <a:rPr lang="en-US" sz="2400" dirty="0" err="1">
                <a:solidFill>
                  <a:srgbClr val="000000"/>
                </a:solidFill>
              </a:rPr>
              <a:t>subtree</a:t>
            </a:r>
            <a:r>
              <a:rPr lang="en-US" sz="2400" dirty="0">
                <a:solidFill>
                  <a:srgbClr val="000000"/>
                </a:solidFill>
              </a:rPr>
              <a:t> in </a:t>
            </a:r>
            <a:r>
              <a:rPr lang="en-GB" sz="2400" dirty="0">
                <a:solidFill>
                  <a:srgbClr val="000000"/>
                </a:solidFill>
              </a:rPr>
              <a:t>post</a:t>
            </a:r>
            <a:r>
              <a:rPr lang="en-US" sz="2400" dirty="0">
                <a:solidFill>
                  <a:srgbClr val="000000"/>
                </a:solidFill>
              </a:rPr>
              <a:t>order</a:t>
            </a:r>
            <a:endParaRPr lang="en-US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4B4B4B"/>
              </a:buClr>
              <a:buSzPct val="70000"/>
              <a:buFont typeface="Arial" charset="0"/>
              <a:buChar char="–"/>
            </a:pPr>
            <a:r>
              <a:rPr lang="en-US" sz="2400" dirty="0">
                <a:solidFill>
                  <a:srgbClr val="000000"/>
                </a:solidFill>
              </a:rPr>
              <a:t>Visit the root</a:t>
            </a:r>
          </a:p>
        </p:txBody>
      </p:sp>
      <p:pic>
        <p:nvPicPr>
          <p:cNvPr id="124931" name="Picture 3"/>
          <p:cNvPicPr>
            <a:picLocks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09600" y="3417888"/>
            <a:ext cx="5600700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4932" name="Rectangle 4"/>
          <p:cNvSpPr>
            <a:spLocks noChangeArrowheads="1"/>
          </p:cNvSpPr>
          <p:nvPr/>
        </p:nvSpPr>
        <p:spPr bwMode="auto">
          <a:xfrm>
            <a:off x="1114425" y="7529513"/>
            <a:ext cx="1668463" cy="38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 dirty="0">
                <a:solidFill>
                  <a:srgbClr val="000000"/>
                </a:solidFill>
              </a:rPr>
              <a:t>Answer:</a:t>
            </a:r>
          </a:p>
        </p:txBody>
      </p:sp>
      <p:sp>
        <p:nvSpPr>
          <p:cNvPr id="124936" name="Rectangle 8"/>
          <p:cNvSpPr>
            <a:spLocks noChangeArrowheads="1"/>
          </p:cNvSpPr>
          <p:nvPr/>
        </p:nvSpPr>
        <p:spPr bwMode="auto">
          <a:xfrm>
            <a:off x="2971800" y="7529513"/>
            <a:ext cx="2286000" cy="38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b="0">
                <a:solidFill>
                  <a:srgbClr val="000000"/>
                </a:solidFill>
              </a:rPr>
              <a:t>BFG</a:t>
            </a:r>
            <a:r>
              <a:rPr lang="en-GB" sz="2400" b="0">
                <a:solidFill>
                  <a:srgbClr val="000000"/>
                </a:solidFill>
              </a:rPr>
              <a:t>D</a:t>
            </a:r>
            <a:r>
              <a:rPr lang="en-US" sz="2400" b="0">
                <a:solidFill>
                  <a:srgbClr val="000000"/>
                </a:solidFill>
              </a:rPr>
              <a:t>E</a:t>
            </a:r>
            <a:r>
              <a:rPr lang="en-GB" sz="2400" b="0">
                <a:solidFill>
                  <a:srgbClr val="000000"/>
                </a:solidFill>
              </a:rPr>
              <a:t>CA</a:t>
            </a:r>
            <a:endParaRPr lang="en-US" sz="2400" b="0">
              <a:solidFill>
                <a:srgbClr val="00000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A Simple Binary Tree</a:t>
            </a:r>
          </a:p>
        </p:txBody>
      </p:sp>
    </p:spTree>
    <p:extLst>
      <p:ext uri="{BB962C8B-B14F-4D97-AF65-F5344CB8AC3E}">
        <p14:creationId xmlns:p14="http://schemas.microsoft.com/office/powerpoint/2010/main" val="68812271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5429250" y="8534400"/>
            <a:ext cx="142875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273F05-F72A-46DF-8B8F-46B718B9A164}" type="slidenum">
              <a:rPr lang="en-US" altLang="en-US" sz="1400">
                <a:latin typeface="Arial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>
              <a:latin typeface="Arial" pitchFamily="34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461814" y="179388"/>
            <a:ext cx="6048375" cy="9656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Summary:</a:t>
            </a:r>
            <a:br>
              <a:rPr lang="en-US" altLang="en-US" dirty="0"/>
            </a:br>
            <a:r>
              <a:rPr lang="en-US" altLang="en-US" dirty="0"/>
              <a:t>Tree traversals using </a:t>
            </a:r>
            <a:r>
              <a:rPr lang="ja-JP" altLang="en-US" dirty="0">
                <a:latin typeface="Arial" pitchFamily="34" charset="0"/>
              </a:rPr>
              <a:t>“</a:t>
            </a:r>
            <a:r>
              <a:rPr lang="en-US" altLang="ja-JP" dirty="0"/>
              <a:t>flags</a:t>
            </a:r>
            <a:r>
              <a:rPr lang="ja-JP" altLang="en-US" dirty="0">
                <a:latin typeface="Arial" pitchFamily="34" charset="0"/>
              </a:rPr>
              <a:t>”</a:t>
            </a:r>
            <a:endParaRPr lang="en-US" altLang="en-US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42791" y="1280181"/>
            <a:ext cx="6291964" cy="152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The order in which the nodes are visited during a tree traversal can be easily determined by imagining there is a </a:t>
            </a:r>
            <a:r>
              <a:rPr lang="ja-JP" altLang="en-US" sz="2400" dirty="0">
                <a:latin typeface="Arial" pitchFamily="34" charset="0"/>
              </a:rPr>
              <a:t>“</a:t>
            </a:r>
            <a:r>
              <a:rPr lang="en-US" altLang="ja-JP" sz="2400" dirty="0"/>
              <a:t>flag</a:t>
            </a:r>
            <a:r>
              <a:rPr lang="ja-JP" altLang="en-US" sz="2400" dirty="0">
                <a:latin typeface="Arial" pitchFamily="34" charset="0"/>
              </a:rPr>
              <a:t>”</a:t>
            </a:r>
            <a:r>
              <a:rPr lang="en-US" altLang="ja-JP" sz="2400" dirty="0"/>
              <a:t> attached to each node, as follows:</a:t>
            </a:r>
            <a:endParaRPr lang="en-US" altLang="en-US" sz="2400" dirty="0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85641" y="4531381"/>
            <a:ext cx="5886450" cy="711200"/>
          </a:xfrm>
        </p:spPr>
        <p:txBody>
          <a:bodyPr/>
          <a:lstStyle/>
          <a:p>
            <a:pPr eaLnBrk="1" hangingPunct="1"/>
            <a:r>
              <a:rPr lang="en-US" altLang="en-US" sz="2400"/>
              <a:t>To traverse the tree, collect the flags:</a:t>
            </a:r>
          </a:p>
        </p:txBody>
      </p:sp>
      <p:grpSp>
        <p:nvGrpSpPr>
          <p:cNvPr id="2" name="Group 117"/>
          <p:cNvGrpSpPr>
            <a:grpSpLocks/>
          </p:cNvGrpSpPr>
          <p:nvPr/>
        </p:nvGrpSpPr>
        <p:grpSpPr bwMode="auto">
          <a:xfrm>
            <a:off x="1185740" y="3108981"/>
            <a:ext cx="1328859" cy="1458384"/>
            <a:chOff x="720" y="1728"/>
            <a:chExt cx="768" cy="689"/>
          </a:xfrm>
        </p:grpSpPr>
        <p:sp>
          <p:nvSpPr>
            <p:cNvPr id="18547" name="Oval 5"/>
            <p:cNvSpPr>
              <a:spLocks noChangeArrowheads="1"/>
            </p:cNvSpPr>
            <p:nvPr/>
          </p:nvSpPr>
          <p:spPr bwMode="auto">
            <a:xfrm>
              <a:off x="1056" y="1728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sp>
          <p:nvSpPr>
            <p:cNvPr id="18548" name="Line 6"/>
            <p:cNvSpPr>
              <a:spLocks noChangeShapeType="1"/>
            </p:cNvSpPr>
            <p:nvPr/>
          </p:nvSpPr>
          <p:spPr bwMode="auto">
            <a:xfrm flipH="1">
              <a:off x="912" y="1920"/>
              <a:ext cx="192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549" name="Line 7"/>
            <p:cNvSpPr>
              <a:spLocks noChangeShapeType="1"/>
            </p:cNvSpPr>
            <p:nvPr/>
          </p:nvSpPr>
          <p:spPr bwMode="auto">
            <a:xfrm>
              <a:off x="1200" y="1920"/>
              <a:ext cx="144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550" name="AutoShape 14"/>
            <p:cNvSpPr>
              <a:spLocks noChangeArrowheads="1"/>
            </p:cNvSpPr>
            <p:nvPr/>
          </p:nvSpPr>
          <p:spPr bwMode="auto">
            <a:xfrm>
              <a:off x="912" y="1799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sp>
          <p:nvSpPr>
            <p:cNvPr id="18551" name="Line 15"/>
            <p:cNvSpPr>
              <a:spLocks noChangeShapeType="1"/>
            </p:cNvSpPr>
            <p:nvPr/>
          </p:nvSpPr>
          <p:spPr bwMode="auto">
            <a:xfrm flipH="1">
              <a:off x="960" y="1824"/>
              <a:ext cx="96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552" name="Text Box 21"/>
            <p:cNvSpPr txBox="1">
              <a:spLocks noChangeArrowheads="1"/>
            </p:cNvSpPr>
            <p:nvPr/>
          </p:nvSpPr>
          <p:spPr bwMode="auto">
            <a:xfrm>
              <a:off x="720" y="2112"/>
              <a:ext cx="768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rebuchet MS" pitchFamily="34" charset="0"/>
                </a:rPr>
                <a:t>preorder</a:t>
              </a:r>
            </a:p>
          </p:txBody>
        </p:sp>
      </p:grpSp>
      <p:grpSp>
        <p:nvGrpSpPr>
          <p:cNvPr id="3" name="Group 118"/>
          <p:cNvGrpSpPr>
            <a:grpSpLocks/>
          </p:cNvGrpSpPr>
          <p:nvPr/>
        </p:nvGrpSpPr>
        <p:grpSpPr bwMode="auto">
          <a:xfrm>
            <a:off x="3071690" y="3108981"/>
            <a:ext cx="1443160" cy="1458384"/>
            <a:chOff x="1680" y="1728"/>
            <a:chExt cx="768" cy="689"/>
          </a:xfrm>
        </p:grpSpPr>
        <p:sp>
          <p:nvSpPr>
            <p:cNvPr id="18541" name="Oval 8"/>
            <p:cNvSpPr>
              <a:spLocks noChangeArrowheads="1"/>
            </p:cNvSpPr>
            <p:nvPr/>
          </p:nvSpPr>
          <p:spPr bwMode="auto">
            <a:xfrm>
              <a:off x="2016" y="1728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sp>
          <p:nvSpPr>
            <p:cNvPr id="18542" name="Line 9"/>
            <p:cNvSpPr>
              <a:spLocks noChangeShapeType="1"/>
            </p:cNvSpPr>
            <p:nvPr/>
          </p:nvSpPr>
          <p:spPr bwMode="auto">
            <a:xfrm flipH="1">
              <a:off x="1872" y="1920"/>
              <a:ext cx="192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543" name="Line 10"/>
            <p:cNvSpPr>
              <a:spLocks noChangeShapeType="1"/>
            </p:cNvSpPr>
            <p:nvPr/>
          </p:nvSpPr>
          <p:spPr bwMode="auto">
            <a:xfrm>
              <a:off x="2160" y="1920"/>
              <a:ext cx="144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544" name="AutoShape 16"/>
            <p:cNvSpPr>
              <a:spLocks noChangeArrowheads="1"/>
            </p:cNvSpPr>
            <p:nvPr/>
          </p:nvSpPr>
          <p:spPr bwMode="auto">
            <a:xfrm rot="-5400000">
              <a:off x="2089" y="2021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sp>
          <p:nvSpPr>
            <p:cNvPr id="18545" name="Line 17"/>
            <p:cNvSpPr>
              <a:spLocks noChangeShapeType="1"/>
            </p:cNvSpPr>
            <p:nvPr/>
          </p:nvSpPr>
          <p:spPr bwMode="auto">
            <a:xfrm rot="16200000" flipH="1">
              <a:off x="2064" y="1968"/>
              <a:ext cx="96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546" name="Text Box 22"/>
            <p:cNvSpPr txBox="1">
              <a:spLocks noChangeArrowheads="1"/>
            </p:cNvSpPr>
            <p:nvPr/>
          </p:nvSpPr>
          <p:spPr bwMode="auto">
            <a:xfrm>
              <a:off x="1680" y="2112"/>
              <a:ext cx="768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rebuchet MS" pitchFamily="34" charset="0"/>
                </a:rPr>
                <a:t>inorder</a:t>
              </a:r>
            </a:p>
          </p:txBody>
        </p:sp>
      </p:grpSp>
      <p:grpSp>
        <p:nvGrpSpPr>
          <p:cNvPr id="4" name="Group 119"/>
          <p:cNvGrpSpPr>
            <a:grpSpLocks/>
          </p:cNvGrpSpPr>
          <p:nvPr/>
        </p:nvGrpSpPr>
        <p:grpSpPr bwMode="auto">
          <a:xfrm>
            <a:off x="4900490" y="3108981"/>
            <a:ext cx="1443159" cy="1458384"/>
            <a:chOff x="2688" y="1728"/>
            <a:chExt cx="768" cy="689"/>
          </a:xfrm>
        </p:grpSpPr>
        <p:sp>
          <p:nvSpPr>
            <p:cNvPr id="18534" name="Oval 11"/>
            <p:cNvSpPr>
              <a:spLocks noChangeArrowheads="1"/>
            </p:cNvSpPr>
            <p:nvPr/>
          </p:nvSpPr>
          <p:spPr bwMode="auto">
            <a:xfrm>
              <a:off x="2976" y="1728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sp>
          <p:nvSpPr>
            <p:cNvPr id="18535" name="Line 12"/>
            <p:cNvSpPr>
              <a:spLocks noChangeShapeType="1"/>
            </p:cNvSpPr>
            <p:nvPr/>
          </p:nvSpPr>
          <p:spPr bwMode="auto">
            <a:xfrm flipH="1">
              <a:off x="2832" y="1920"/>
              <a:ext cx="192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536" name="Line 13"/>
            <p:cNvSpPr>
              <a:spLocks noChangeShapeType="1"/>
            </p:cNvSpPr>
            <p:nvPr/>
          </p:nvSpPr>
          <p:spPr bwMode="auto">
            <a:xfrm>
              <a:off x="3120" y="1920"/>
              <a:ext cx="144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grpSp>
          <p:nvGrpSpPr>
            <p:cNvPr id="18537" name="Group 20"/>
            <p:cNvGrpSpPr>
              <a:grpSpLocks/>
            </p:cNvGrpSpPr>
            <p:nvPr/>
          </p:nvGrpSpPr>
          <p:grpSpPr bwMode="auto">
            <a:xfrm flipH="1">
              <a:off x="3178" y="1804"/>
              <a:ext cx="144" cy="48"/>
              <a:chOff x="1008" y="1895"/>
              <a:chExt cx="144" cy="48"/>
            </a:xfrm>
          </p:grpSpPr>
          <p:sp>
            <p:nvSpPr>
              <p:cNvPr id="18539" name="AutoShape 18"/>
              <p:cNvSpPr>
                <a:spLocks noChangeArrowheads="1"/>
              </p:cNvSpPr>
              <p:nvPr/>
            </p:nvSpPr>
            <p:spPr bwMode="auto">
              <a:xfrm>
                <a:off x="1008" y="1895"/>
                <a:ext cx="48" cy="48"/>
              </a:xfrm>
              <a:prstGeom prst="flowChartConnector">
                <a:avLst/>
              </a:prstGeom>
              <a:solidFill>
                <a:srgbClr val="FF0000"/>
              </a:solidFill>
              <a:ln w="222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" charset="0"/>
                </a:endParaRPr>
              </a:p>
            </p:txBody>
          </p:sp>
          <p:sp>
            <p:nvSpPr>
              <p:cNvPr id="18540" name="Line 19"/>
              <p:cNvSpPr>
                <a:spLocks noChangeShapeType="1"/>
              </p:cNvSpPr>
              <p:nvPr/>
            </p:nvSpPr>
            <p:spPr bwMode="auto">
              <a:xfrm flipH="1">
                <a:off x="1056" y="1920"/>
                <a:ext cx="96" cy="0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18538" name="Text Box 23"/>
            <p:cNvSpPr txBox="1">
              <a:spLocks noChangeArrowheads="1"/>
            </p:cNvSpPr>
            <p:nvPr/>
          </p:nvSpPr>
          <p:spPr bwMode="auto">
            <a:xfrm>
              <a:off x="2688" y="2112"/>
              <a:ext cx="768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rebuchet MS" pitchFamily="34" charset="0"/>
                </a:rPr>
                <a:t>postorder</a:t>
              </a:r>
            </a:p>
          </p:txBody>
        </p:sp>
      </p:grpSp>
      <p:grpSp>
        <p:nvGrpSpPr>
          <p:cNvPr id="6" name="Group 120"/>
          <p:cNvGrpSpPr>
            <a:grpSpLocks/>
          </p:cNvGrpSpPr>
          <p:nvPr/>
        </p:nvGrpSpPr>
        <p:grpSpPr bwMode="auto">
          <a:xfrm>
            <a:off x="667819" y="5445781"/>
            <a:ext cx="1718072" cy="1828800"/>
            <a:chOff x="621" y="2832"/>
            <a:chExt cx="1443" cy="864"/>
          </a:xfrm>
        </p:grpSpPr>
        <p:sp>
          <p:nvSpPr>
            <p:cNvPr id="18507" name="Oval 24"/>
            <p:cNvSpPr>
              <a:spLocks noChangeArrowheads="1"/>
            </p:cNvSpPr>
            <p:nvPr/>
          </p:nvSpPr>
          <p:spPr bwMode="auto">
            <a:xfrm>
              <a:off x="1344" y="2832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A</a:t>
              </a:r>
            </a:p>
          </p:txBody>
        </p:sp>
        <p:sp>
          <p:nvSpPr>
            <p:cNvPr id="18508" name="Oval 25"/>
            <p:cNvSpPr>
              <a:spLocks noChangeArrowheads="1"/>
            </p:cNvSpPr>
            <p:nvPr/>
          </p:nvSpPr>
          <p:spPr bwMode="auto">
            <a:xfrm>
              <a:off x="912" y="3168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B</a:t>
              </a:r>
            </a:p>
          </p:txBody>
        </p:sp>
        <p:sp>
          <p:nvSpPr>
            <p:cNvPr id="18509" name="Oval 26"/>
            <p:cNvSpPr>
              <a:spLocks noChangeArrowheads="1"/>
            </p:cNvSpPr>
            <p:nvPr/>
          </p:nvSpPr>
          <p:spPr bwMode="auto">
            <a:xfrm>
              <a:off x="1680" y="3168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C</a:t>
              </a:r>
            </a:p>
          </p:txBody>
        </p:sp>
        <p:sp>
          <p:nvSpPr>
            <p:cNvPr id="18510" name="Oval 27"/>
            <p:cNvSpPr>
              <a:spLocks noChangeArrowheads="1"/>
            </p:cNvSpPr>
            <p:nvPr/>
          </p:nvSpPr>
          <p:spPr bwMode="auto">
            <a:xfrm>
              <a:off x="720" y="3504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D</a:t>
              </a:r>
            </a:p>
          </p:txBody>
        </p:sp>
        <p:sp>
          <p:nvSpPr>
            <p:cNvPr id="18511" name="Oval 28"/>
            <p:cNvSpPr>
              <a:spLocks noChangeArrowheads="1"/>
            </p:cNvSpPr>
            <p:nvPr/>
          </p:nvSpPr>
          <p:spPr bwMode="auto">
            <a:xfrm>
              <a:off x="1104" y="3504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E</a:t>
              </a:r>
            </a:p>
          </p:txBody>
        </p:sp>
        <p:sp>
          <p:nvSpPr>
            <p:cNvPr id="18512" name="Oval 29"/>
            <p:cNvSpPr>
              <a:spLocks noChangeArrowheads="1"/>
            </p:cNvSpPr>
            <p:nvPr/>
          </p:nvSpPr>
          <p:spPr bwMode="auto">
            <a:xfrm>
              <a:off x="1488" y="3504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F</a:t>
              </a:r>
            </a:p>
          </p:txBody>
        </p:sp>
        <p:sp>
          <p:nvSpPr>
            <p:cNvPr id="18513" name="Oval 30"/>
            <p:cNvSpPr>
              <a:spLocks noChangeArrowheads="1"/>
            </p:cNvSpPr>
            <p:nvPr/>
          </p:nvSpPr>
          <p:spPr bwMode="auto">
            <a:xfrm>
              <a:off x="1872" y="3504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G</a:t>
              </a:r>
            </a:p>
          </p:txBody>
        </p:sp>
        <p:cxnSp>
          <p:nvCxnSpPr>
            <p:cNvPr id="18514" name="AutoShape 31"/>
            <p:cNvCxnSpPr>
              <a:cxnSpLocks noChangeShapeType="1"/>
              <a:stCxn id="18507" idx="3"/>
              <a:endCxn id="18508" idx="7"/>
            </p:cNvCxnSpPr>
            <p:nvPr/>
          </p:nvCxnSpPr>
          <p:spPr bwMode="auto">
            <a:xfrm flipH="1">
              <a:off x="1076" y="3003"/>
              <a:ext cx="296" cy="186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5" name="AutoShape 32"/>
            <p:cNvCxnSpPr>
              <a:cxnSpLocks noChangeShapeType="1"/>
              <a:stCxn id="18507" idx="5"/>
              <a:endCxn id="18509" idx="1"/>
            </p:cNvCxnSpPr>
            <p:nvPr/>
          </p:nvCxnSpPr>
          <p:spPr bwMode="auto">
            <a:xfrm>
              <a:off x="1508" y="3003"/>
              <a:ext cx="200" cy="186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6" name="AutoShape 33"/>
            <p:cNvCxnSpPr>
              <a:cxnSpLocks noChangeShapeType="1"/>
              <a:stCxn id="18508" idx="3"/>
              <a:endCxn id="18510" idx="0"/>
            </p:cNvCxnSpPr>
            <p:nvPr/>
          </p:nvCxnSpPr>
          <p:spPr bwMode="auto">
            <a:xfrm flipH="1">
              <a:off x="816" y="3339"/>
              <a:ext cx="124" cy="15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7" name="AutoShape 34"/>
            <p:cNvCxnSpPr>
              <a:cxnSpLocks noChangeShapeType="1"/>
              <a:stCxn id="18508" idx="5"/>
              <a:endCxn id="18511" idx="0"/>
            </p:cNvCxnSpPr>
            <p:nvPr/>
          </p:nvCxnSpPr>
          <p:spPr bwMode="auto">
            <a:xfrm>
              <a:off x="1076" y="3339"/>
              <a:ext cx="124" cy="15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8" name="AutoShape 35"/>
            <p:cNvCxnSpPr>
              <a:cxnSpLocks noChangeShapeType="1"/>
              <a:stCxn id="18509" idx="3"/>
              <a:endCxn id="18512" idx="0"/>
            </p:cNvCxnSpPr>
            <p:nvPr/>
          </p:nvCxnSpPr>
          <p:spPr bwMode="auto">
            <a:xfrm flipH="1">
              <a:off x="1584" y="3339"/>
              <a:ext cx="124" cy="15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9" name="AutoShape 36"/>
            <p:cNvCxnSpPr>
              <a:cxnSpLocks noChangeShapeType="1"/>
              <a:stCxn id="18509" idx="5"/>
              <a:endCxn id="18513" idx="0"/>
            </p:cNvCxnSpPr>
            <p:nvPr/>
          </p:nvCxnSpPr>
          <p:spPr bwMode="auto">
            <a:xfrm>
              <a:off x="1844" y="3339"/>
              <a:ext cx="124" cy="15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520" name="AutoShape 37"/>
            <p:cNvSpPr>
              <a:spLocks noChangeArrowheads="1"/>
            </p:cNvSpPr>
            <p:nvPr/>
          </p:nvSpPr>
          <p:spPr bwMode="auto">
            <a:xfrm>
              <a:off x="998" y="3575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521" name="AutoShape 43"/>
            <p:cNvCxnSpPr>
              <a:cxnSpLocks noChangeShapeType="1"/>
              <a:stCxn id="18520" idx="6"/>
              <a:endCxn id="18511" idx="2"/>
            </p:cNvCxnSpPr>
            <p:nvPr/>
          </p:nvCxnSpPr>
          <p:spPr bwMode="auto">
            <a:xfrm>
              <a:off x="1053" y="3599"/>
              <a:ext cx="44" cy="1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522" name="AutoShape 44"/>
            <p:cNvSpPr>
              <a:spLocks noChangeArrowheads="1"/>
            </p:cNvSpPr>
            <p:nvPr/>
          </p:nvSpPr>
          <p:spPr bwMode="auto">
            <a:xfrm>
              <a:off x="1387" y="3567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523" name="AutoShape 45"/>
            <p:cNvCxnSpPr>
              <a:cxnSpLocks noChangeShapeType="1"/>
              <a:stCxn id="18522" idx="6"/>
            </p:cNvCxnSpPr>
            <p:nvPr/>
          </p:nvCxnSpPr>
          <p:spPr bwMode="auto">
            <a:xfrm>
              <a:off x="1442" y="3591"/>
              <a:ext cx="44" cy="1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524" name="AutoShape 46"/>
            <p:cNvSpPr>
              <a:spLocks noChangeArrowheads="1"/>
            </p:cNvSpPr>
            <p:nvPr/>
          </p:nvSpPr>
          <p:spPr bwMode="auto">
            <a:xfrm>
              <a:off x="1773" y="3562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525" name="AutoShape 47"/>
            <p:cNvCxnSpPr>
              <a:cxnSpLocks noChangeShapeType="1"/>
              <a:stCxn id="18524" idx="6"/>
            </p:cNvCxnSpPr>
            <p:nvPr/>
          </p:nvCxnSpPr>
          <p:spPr bwMode="auto">
            <a:xfrm>
              <a:off x="1828" y="3586"/>
              <a:ext cx="44" cy="1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526" name="AutoShape 48"/>
            <p:cNvSpPr>
              <a:spLocks noChangeArrowheads="1"/>
            </p:cNvSpPr>
            <p:nvPr/>
          </p:nvSpPr>
          <p:spPr bwMode="auto">
            <a:xfrm>
              <a:off x="621" y="3572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527" name="AutoShape 49"/>
            <p:cNvCxnSpPr>
              <a:cxnSpLocks noChangeShapeType="1"/>
              <a:stCxn id="18526" idx="6"/>
            </p:cNvCxnSpPr>
            <p:nvPr/>
          </p:nvCxnSpPr>
          <p:spPr bwMode="auto">
            <a:xfrm>
              <a:off x="676" y="3596"/>
              <a:ext cx="44" cy="1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528" name="AutoShape 50"/>
            <p:cNvSpPr>
              <a:spLocks noChangeArrowheads="1"/>
            </p:cNvSpPr>
            <p:nvPr/>
          </p:nvSpPr>
          <p:spPr bwMode="auto">
            <a:xfrm>
              <a:off x="1581" y="3241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529" name="AutoShape 51"/>
            <p:cNvCxnSpPr>
              <a:cxnSpLocks noChangeShapeType="1"/>
              <a:stCxn id="18528" idx="6"/>
            </p:cNvCxnSpPr>
            <p:nvPr/>
          </p:nvCxnSpPr>
          <p:spPr bwMode="auto">
            <a:xfrm>
              <a:off x="1636" y="3265"/>
              <a:ext cx="44" cy="1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530" name="AutoShape 52"/>
            <p:cNvSpPr>
              <a:spLocks noChangeArrowheads="1"/>
            </p:cNvSpPr>
            <p:nvPr/>
          </p:nvSpPr>
          <p:spPr bwMode="auto">
            <a:xfrm>
              <a:off x="1245" y="2903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531" name="AutoShape 53"/>
            <p:cNvCxnSpPr>
              <a:cxnSpLocks noChangeShapeType="1"/>
              <a:stCxn id="18530" idx="6"/>
            </p:cNvCxnSpPr>
            <p:nvPr/>
          </p:nvCxnSpPr>
          <p:spPr bwMode="auto">
            <a:xfrm>
              <a:off x="1300" y="2927"/>
              <a:ext cx="44" cy="1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532" name="AutoShape 54"/>
            <p:cNvSpPr>
              <a:spLocks noChangeArrowheads="1"/>
            </p:cNvSpPr>
            <p:nvPr/>
          </p:nvSpPr>
          <p:spPr bwMode="auto">
            <a:xfrm>
              <a:off x="808" y="3244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533" name="AutoShape 55"/>
            <p:cNvCxnSpPr>
              <a:cxnSpLocks noChangeShapeType="1"/>
              <a:stCxn id="18532" idx="6"/>
            </p:cNvCxnSpPr>
            <p:nvPr/>
          </p:nvCxnSpPr>
          <p:spPr bwMode="auto">
            <a:xfrm>
              <a:off x="863" y="3268"/>
              <a:ext cx="44" cy="1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Group 124"/>
          <p:cNvGrpSpPr>
            <a:grpSpLocks/>
          </p:cNvGrpSpPr>
          <p:nvPr/>
        </p:nvGrpSpPr>
        <p:grpSpPr bwMode="auto">
          <a:xfrm>
            <a:off x="4500441" y="5445781"/>
            <a:ext cx="1719263" cy="1828800"/>
            <a:chOff x="3840" y="2832"/>
            <a:chExt cx="1444" cy="864"/>
          </a:xfrm>
        </p:grpSpPr>
        <p:sp>
          <p:nvSpPr>
            <p:cNvPr id="18480" name="Oval 69"/>
            <p:cNvSpPr>
              <a:spLocks noChangeArrowheads="1"/>
            </p:cNvSpPr>
            <p:nvPr/>
          </p:nvSpPr>
          <p:spPr bwMode="auto">
            <a:xfrm>
              <a:off x="4464" y="2832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A</a:t>
              </a:r>
            </a:p>
          </p:txBody>
        </p:sp>
        <p:sp>
          <p:nvSpPr>
            <p:cNvPr id="18481" name="Oval 70"/>
            <p:cNvSpPr>
              <a:spLocks noChangeArrowheads="1"/>
            </p:cNvSpPr>
            <p:nvPr/>
          </p:nvSpPr>
          <p:spPr bwMode="auto">
            <a:xfrm>
              <a:off x="4032" y="3168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B</a:t>
              </a:r>
            </a:p>
          </p:txBody>
        </p:sp>
        <p:sp>
          <p:nvSpPr>
            <p:cNvPr id="18482" name="Oval 71"/>
            <p:cNvSpPr>
              <a:spLocks noChangeArrowheads="1"/>
            </p:cNvSpPr>
            <p:nvPr/>
          </p:nvSpPr>
          <p:spPr bwMode="auto">
            <a:xfrm>
              <a:off x="4800" y="3168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C</a:t>
              </a:r>
            </a:p>
          </p:txBody>
        </p:sp>
        <p:sp>
          <p:nvSpPr>
            <p:cNvPr id="18483" name="Oval 72"/>
            <p:cNvSpPr>
              <a:spLocks noChangeArrowheads="1"/>
            </p:cNvSpPr>
            <p:nvPr/>
          </p:nvSpPr>
          <p:spPr bwMode="auto">
            <a:xfrm>
              <a:off x="3840" y="3504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D</a:t>
              </a:r>
            </a:p>
          </p:txBody>
        </p:sp>
        <p:sp>
          <p:nvSpPr>
            <p:cNvPr id="18484" name="Oval 73"/>
            <p:cNvSpPr>
              <a:spLocks noChangeArrowheads="1"/>
            </p:cNvSpPr>
            <p:nvPr/>
          </p:nvSpPr>
          <p:spPr bwMode="auto">
            <a:xfrm>
              <a:off x="4224" y="3504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E</a:t>
              </a:r>
            </a:p>
          </p:txBody>
        </p:sp>
        <p:sp>
          <p:nvSpPr>
            <p:cNvPr id="18485" name="Oval 74"/>
            <p:cNvSpPr>
              <a:spLocks noChangeArrowheads="1"/>
            </p:cNvSpPr>
            <p:nvPr/>
          </p:nvSpPr>
          <p:spPr bwMode="auto">
            <a:xfrm>
              <a:off x="4608" y="3504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F</a:t>
              </a:r>
            </a:p>
          </p:txBody>
        </p:sp>
        <p:sp>
          <p:nvSpPr>
            <p:cNvPr id="18486" name="Oval 75"/>
            <p:cNvSpPr>
              <a:spLocks noChangeArrowheads="1"/>
            </p:cNvSpPr>
            <p:nvPr/>
          </p:nvSpPr>
          <p:spPr bwMode="auto">
            <a:xfrm>
              <a:off x="4992" y="3504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G</a:t>
              </a:r>
            </a:p>
          </p:txBody>
        </p:sp>
        <p:cxnSp>
          <p:nvCxnSpPr>
            <p:cNvPr id="18487" name="AutoShape 76"/>
            <p:cNvCxnSpPr>
              <a:cxnSpLocks noChangeShapeType="1"/>
              <a:stCxn id="18480" idx="3"/>
              <a:endCxn id="18481" idx="7"/>
            </p:cNvCxnSpPr>
            <p:nvPr/>
          </p:nvCxnSpPr>
          <p:spPr bwMode="auto">
            <a:xfrm flipH="1">
              <a:off x="4196" y="3003"/>
              <a:ext cx="296" cy="186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88" name="AutoShape 77"/>
            <p:cNvCxnSpPr>
              <a:cxnSpLocks noChangeShapeType="1"/>
              <a:stCxn id="18480" idx="5"/>
              <a:endCxn id="18482" idx="1"/>
            </p:cNvCxnSpPr>
            <p:nvPr/>
          </p:nvCxnSpPr>
          <p:spPr bwMode="auto">
            <a:xfrm>
              <a:off x="4628" y="3003"/>
              <a:ext cx="200" cy="186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89" name="AutoShape 78"/>
            <p:cNvCxnSpPr>
              <a:cxnSpLocks noChangeShapeType="1"/>
              <a:stCxn id="18481" idx="3"/>
              <a:endCxn id="18483" idx="0"/>
            </p:cNvCxnSpPr>
            <p:nvPr/>
          </p:nvCxnSpPr>
          <p:spPr bwMode="auto">
            <a:xfrm flipH="1">
              <a:off x="3936" y="3339"/>
              <a:ext cx="124" cy="15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0" name="AutoShape 79"/>
            <p:cNvCxnSpPr>
              <a:cxnSpLocks noChangeShapeType="1"/>
              <a:stCxn id="18481" idx="5"/>
              <a:endCxn id="18484" idx="0"/>
            </p:cNvCxnSpPr>
            <p:nvPr/>
          </p:nvCxnSpPr>
          <p:spPr bwMode="auto">
            <a:xfrm>
              <a:off x="4196" y="3339"/>
              <a:ext cx="124" cy="15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1" name="AutoShape 80"/>
            <p:cNvCxnSpPr>
              <a:cxnSpLocks noChangeShapeType="1"/>
              <a:stCxn id="18482" idx="3"/>
              <a:endCxn id="18485" idx="0"/>
            </p:cNvCxnSpPr>
            <p:nvPr/>
          </p:nvCxnSpPr>
          <p:spPr bwMode="auto">
            <a:xfrm flipH="1">
              <a:off x="4704" y="3339"/>
              <a:ext cx="124" cy="15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2" name="AutoShape 81"/>
            <p:cNvCxnSpPr>
              <a:cxnSpLocks noChangeShapeType="1"/>
              <a:stCxn id="18482" idx="5"/>
              <a:endCxn id="18486" idx="0"/>
            </p:cNvCxnSpPr>
            <p:nvPr/>
          </p:nvCxnSpPr>
          <p:spPr bwMode="auto">
            <a:xfrm>
              <a:off x="4964" y="3339"/>
              <a:ext cx="124" cy="15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93" name="AutoShape 82"/>
            <p:cNvSpPr>
              <a:spLocks noChangeArrowheads="1"/>
            </p:cNvSpPr>
            <p:nvPr/>
          </p:nvSpPr>
          <p:spPr bwMode="auto">
            <a:xfrm flipH="1">
              <a:off x="4707" y="2900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494" name="AutoShape 83"/>
            <p:cNvCxnSpPr>
              <a:cxnSpLocks noChangeShapeType="1"/>
              <a:stCxn id="18493" idx="6"/>
            </p:cNvCxnSpPr>
            <p:nvPr/>
          </p:nvCxnSpPr>
          <p:spPr bwMode="auto">
            <a:xfrm flipH="1">
              <a:off x="4656" y="2923"/>
              <a:ext cx="44" cy="1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95" name="AutoShape 84"/>
            <p:cNvSpPr>
              <a:spLocks noChangeArrowheads="1"/>
            </p:cNvSpPr>
            <p:nvPr/>
          </p:nvSpPr>
          <p:spPr bwMode="auto">
            <a:xfrm flipH="1">
              <a:off x="4275" y="3231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496" name="AutoShape 85"/>
            <p:cNvCxnSpPr>
              <a:cxnSpLocks noChangeShapeType="1"/>
              <a:stCxn id="18495" idx="6"/>
            </p:cNvCxnSpPr>
            <p:nvPr/>
          </p:nvCxnSpPr>
          <p:spPr bwMode="auto">
            <a:xfrm flipH="1">
              <a:off x="4224" y="3254"/>
              <a:ext cx="44" cy="1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97" name="AutoShape 86"/>
            <p:cNvSpPr>
              <a:spLocks noChangeArrowheads="1"/>
            </p:cNvSpPr>
            <p:nvPr/>
          </p:nvSpPr>
          <p:spPr bwMode="auto">
            <a:xfrm flipH="1">
              <a:off x="5045" y="3249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498" name="AutoShape 87"/>
            <p:cNvCxnSpPr>
              <a:cxnSpLocks noChangeShapeType="1"/>
              <a:stCxn id="18497" idx="6"/>
            </p:cNvCxnSpPr>
            <p:nvPr/>
          </p:nvCxnSpPr>
          <p:spPr bwMode="auto">
            <a:xfrm flipH="1">
              <a:off x="4994" y="3272"/>
              <a:ext cx="44" cy="1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99" name="AutoShape 88"/>
            <p:cNvSpPr>
              <a:spLocks noChangeArrowheads="1"/>
            </p:cNvSpPr>
            <p:nvPr/>
          </p:nvSpPr>
          <p:spPr bwMode="auto">
            <a:xfrm flipH="1">
              <a:off x="4084" y="3572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500" name="AutoShape 89"/>
            <p:cNvCxnSpPr>
              <a:cxnSpLocks noChangeShapeType="1"/>
              <a:stCxn id="18499" idx="6"/>
            </p:cNvCxnSpPr>
            <p:nvPr/>
          </p:nvCxnSpPr>
          <p:spPr bwMode="auto">
            <a:xfrm flipH="1">
              <a:off x="4033" y="3595"/>
              <a:ext cx="44" cy="1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501" name="AutoShape 90"/>
            <p:cNvSpPr>
              <a:spLocks noChangeArrowheads="1"/>
            </p:cNvSpPr>
            <p:nvPr/>
          </p:nvSpPr>
          <p:spPr bwMode="auto">
            <a:xfrm flipH="1">
              <a:off x="4464" y="3571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502" name="AutoShape 91"/>
            <p:cNvCxnSpPr>
              <a:cxnSpLocks noChangeShapeType="1"/>
              <a:stCxn id="18501" idx="6"/>
            </p:cNvCxnSpPr>
            <p:nvPr/>
          </p:nvCxnSpPr>
          <p:spPr bwMode="auto">
            <a:xfrm flipH="1">
              <a:off x="4413" y="3594"/>
              <a:ext cx="44" cy="1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503" name="AutoShape 92"/>
            <p:cNvSpPr>
              <a:spLocks noChangeArrowheads="1"/>
            </p:cNvSpPr>
            <p:nvPr/>
          </p:nvSpPr>
          <p:spPr bwMode="auto">
            <a:xfrm flipH="1">
              <a:off x="4851" y="3566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504" name="AutoShape 93"/>
            <p:cNvCxnSpPr>
              <a:cxnSpLocks noChangeShapeType="1"/>
              <a:stCxn id="18503" idx="6"/>
            </p:cNvCxnSpPr>
            <p:nvPr/>
          </p:nvCxnSpPr>
          <p:spPr bwMode="auto">
            <a:xfrm flipH="1">
              <a:off x="4800" y="3589"/>
              <a:ext cx="44" cy="1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505" name="AutoShape 94"/>
            <p:cNvSpPr>
              <a:spLocks noChangeArrowheads="1"/>
            </p:cNvSpPr>
            <p:nvPr/>
          </p:nvSpPr>
          <p:spPr bwMode="auto">
            <a:xfrm flipH="1">
              <a:off x="5236" y="3576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506" name="AutoShape 95"/>
            <p:cNvCxnSpPr>
              <a:cxnSpLocks noChangeShapeType="1"/>
              <a:stCxn id="18505" idx="6"/>
            </p:cNvCxnSpPr>
            <p:nvPr/>
          </p:nvCxnSpPr>
          <p:spPr bwMode="auto">
            <a:xfrm flipH="1">
              <a:off x="5185" y="3599"/>
              <a:ext cx="44" cy="1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" name="Group 122"/>
          <p:cNvGrpSpPr>
            <a:grpSpLocks/>
          </p:cNvGrpSpPr>
          <p:nvPr/>
        </p:nvGrpSpPr>
        <p:grpSpPr bwMode="auto">
          <a:xfrm>
            <a:off x="2743200" y="6000752"/>
            <a:ext cx="1600200" cy="2076449"/>
            <a:chOff x="2304" y="2832"/>
            <a:chExt cx="1344" cy="981"/>
          </a:xfrm>
        </p:grpSpPr>
        <p:sp>
          <p:nvSpPr>
            <p:cNvPr id="18453" name="Oval 56"/>
            <p:cNvSpPr>
              <a:spLocks noChangeArrowheads="1"/>
            </p:cNvSpPr>
            <p:nvPr/>
          </p:nvSpPr>
          <p:spPr bwMode="auto">
            <a:xfrm>
              <a:off x="2928" y="2832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A</a:t>
              </a:r>
            </a:p>
          </p:txBody>
        </p:sp>
        <p:sp>
          <p:nvSpPr>
            <p:cNvPr id="18454" name="Oval 57"/>
            <p:cNvSpPr>
              <a:spLocks noChangeArrowheads="1"/>
            </p:cNvSpPr>
            <p:nvPr/>
          </p:nvSpPr>
          <p:spPr bwMode="auto">
            <a:xfrm>
              <a:off x="2496" y="3168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B</a:t>
              </a:r>
            </a:p>
          </p:txBody>
        </p:sp>
        <p:sp>
          <p:nvSpPr>
            <p:cNvPr id="18455" name="Oval 58"/>
            <p:cNvSpPr>
              <a:spLocks noChangeArrowheads="1"/>
            </p:cNvSpPr>
            <p:nvPr/>
          </p:nvSpPr>
          <p:spPr bwMode="auto">
            <a:xfrm>
              <a:off x="3264" y="3168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C</a:t>
              </a:r>
            </a:p>
          </p:txBody>
        </p:sp>
        <p:sp>
          <p:nvSpPr>
            <p:cNvPr id="18456" name="Oval 59"/>
            <p:cNvSpPr>
              <a:spLocks noChangeArrowheads="1"/>
            </p:cNvSpPr>
            <p:nvPr/>
          </p:nvSpPr>
          <p:spPr bwMode="auto">
            <a:xfrm>
              <a:off x="2304" y="3504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D</a:t>
              </a:r>
            </a:p>
          </p:txBody>
        </p:sp>
        <p:sp>
          <p:nvSpPr>
            <p:cNvPr id="18457" name="Oval 60"/>
            <p:cNvSpPr>
              <a:spLocks noChangeArrowheads="1"/>
            </p:cNvSpPr>
            <p:nvPr/>
          </p:nvSpPr>
          <p:spPr bwMode="auto">
            <a:xfrm>
              <a:off x="2688" y="3504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E</a:t>
              </a:r>
            </a:p>
          </p:txBody>
        </p:sp>
        <p:sp>
          <p:nvSpPr>
            <p:cNvPr id="18458" name="Oval 61"/>
            <p:cNvSpPr>
              <a:spLocks noChangeArrowheads="1"/>
            </p:cNvSpPr>
            <p:nvPr/>
          </p:nvSpPr>
          <p:spPr bwMode="auto">
            <a:xfrm>
              <a:off x="3072" y="3504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F</a:t>
              </a:r>
            </a:p>
          </p:txBody>
        </p:sp>
        <p:sp>
          <p:nvSpPr>
            <p:cNvPr id="18459" name="Oval 62"/>
            <p:cNvSpPr>
              <a:spLocks noChangeArrowheads="1"/>
            </p:cNvSpPr>
            <p:nvPr/>
          </p:nvSpPr>
          <p:spPr bwMode="auto">
            <a:xfrm>
              <a:off x="3456" y="3504"/>
              <a:ext cx="192" cy="19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G</a:t>
              </a:r>
            </a:p>
          </p:txBody>
        </p:sp>
        <p:cxnSp>
          <p:nvCxnSpPr>
            <p:cNvPr id="18460" name="AutoShape 63"/>
            <p:cNvCxnSpPr>
              <a:cxnSpLocks noChangeShapeType="1"/>
              <a:stCxn id="18453" idx="3"/>
              <a:endCxn id="18454" idx="7"/>
            </p:cNvCxnSpPr>
            <p:nvPr/>
          </p:nvCxnSpPr>
          <p:spPr bwMode="auto">
            <a:xfrm flipH="1">
              <a:off x="2660" y="3003"/>
              <a:ext cx="296" cy="186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1" name="AutoShape 64"/>
            <p:cNvCxnSpPr>
              <a:cxnSpLocks noChangeShapeType="1"/>
              <a:stCxn id="18453" idx="5"/>
              <a:endCxn id="18455" idx="1"/>
            </p:cNvCxnSpPr>
            <p:nvPr/>
          </p:nvCxnSpPr>
          <p:spPr bwMode="auto">
            <a:xfrm>
              <a:off x="3092" y="3003"/>
              <a:ext cx="200" cy="186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2" name="AutoShape 65"/>
            <p:cNvCxnSpPr>
              <a:cxnSpLocks noChangeShapeType="1"/>
              <a:stCxn id="18454" idx="3"/>
              <a:endCxn id="18456" idx="0"/>
            </p:cNvCxnSpPr>
            <p:nvPr/>
          </p:nvCxnSpPr>
          <p:spPr bwMode="auto">
            <a:xfrm flipH="1">
              <a:off x="2400" y="3339"/>
              <a:ext cx="124" cy="15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3" name="AutoShape 66"/>
            <p:cNvCxnSpPr>
              <a:cxnSpLocks noChangeShapeType="1"/>
              <a:stCxn id="18454" idx="5"/>
              <a:endCxn id="18457" idx="0"/>
            </p:cNvCxnSpPr>
            <p:nvPr/>
          </p:nvCxnSpPr>
          <p:spPr bwMode="auto">
            <a:xfrm>
              <a:off x="2660" y="3339"/>
              <a:ext cx="124" cy="15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4" name="AutoShape 67"/>
            <p:cNvCxnSpPr>
              <a:cxnSpLocks noChangeShapeType="1"/>
              <a:stCxn id="18455" idx="3"/>
              <a:endCxn id="18458" idx="0"/>
            </p:cNvCxnSpPr>
            <p:nvPr/>
          </p:nvCxnSpPr>
          <p:spPr bwMode="auto">
            <a:xfrm flipH="1">
              <a:off x="3168" y="3339"/>
              <a:ext cx="124" cy="15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5" name="AutoShape 68"/>
            <p:cNvCxnSpPr>
              <a:cxnSpLocks noChangeShapeType="1"/>
              <a:stCxn id="18455" idx="5"/>
              <a:endCxn id="18459" idx="0"/>
            </p:cNvCxnSpPr>
            <p:nvPr/>
          </p:nvCxnSpPr>
          <p:spPr bwMode="auto">
            <a:xfrm>
              <a:off x="3428" y="3339"/>
              <a:ext cx="124" cy="15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66" name="AutoShape 96"/>
            <p:cNvSpPr>
              <a:spLocks noChangeArrowheads="1"/>
            </p:cNvSpPr>
            <p:nvPr/>
          </p:nvSpPr>
          <p:spPr bwMode="auto">
            <a:xfrm rot="5400000" flipH="1">
              <a:off x="3000" y="3096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467" name="AutoShape 98"/>
            <p:cNvCxnSpPr>
              <a:cxnSpLocks noChangeShapeType="1"/>
              <a:stCxn id="18466" idx="6"/>
              <a:endCxn id="18453" idx="4"/>
            </p:cNvCxnSpPr>
            <p:nvPr/>
          </p:nvCxnSpPr>
          <p:spPr bwMode="auto">
            <a:xfrm flipV="1">
              <a:off x="3024" y="3031"/>
              <a:ext cx="0" cy="58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68" name="AutoShape 99"/>
            <p:cNvSpPr>
              <a:spLocks noChangeArrowheads="1"/>
            </p:cNvSpPr>
            <p:nvPr/>
          </p:nvSpPr>
          <p:spPr bwMode="auto">
            <a:xfrm rot="5400000" flipH="1">
              <a:off x="2560" y="3424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469" name="AutoShape 100"/>
            <p:cNvCxnSpPr>
              <a:cxnSpLocks noChangeShapeType="1"/>
              <a:stCxn id="18468" idx="6"/>
            </p:cNvCxnSpPr>
            <p:nvPr/>
          </p:nvCxnSpPr>
          <p:spPr bwMode="auto">
            <a:xfrm flipV="1">
              <a:off x="2584" y="3359"/>
              <a:ext cx="0" cy="58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70" name="AutoShape 101"/>
            <p:cNvSpPr>
              <a:spLocks noChangeArrowheads="1"/>
            </p:cNvSpPr>
            <p:nvPr/>
          </p:nvSpPr>
          <p:spPr bwMode="auto">
            <a:xfrm rot="5400000" flipH="1">
              <a:off x="3344" y="3421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471" name="AutoShape 102"/>
            <p:cNvCxnSpPr>
              <a:cxnSpLocks noChangeShapeType="1"/>
              <a:stCxn id="18470" idx="6"/>
            </p:cNvCxnSpPr>
            <p:nvPr/>
          </p:nvCxnSpPr>
          <p:spPr bwMode="auto">
            <a:xfrm flipV="1">
              <a:off x="3368" y="3356"/>
              <a:ext cx="0" cy="58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72" name="AutoShape 103"/>
            <p:cNvSpPr>
              <a:spLocks noChangeArrowheads="1"/>
            </p:cNvSpPr>
            <p:nvPr/>
          </p:nvSpPr>
          <p:spPr bwMode="auto">
            <a:xfrm rot="5400000" flipH="1">
              <a:off x="2380" y="3764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473" name="AutoShape 104"/>
            <p:cNvCxnSpPr>
              <a:cxnSpLocks noChangeShapeType="1"/>
              <a:stCxn id="18472" idx="6"/>
            </p:cNvCxnSpPr>
            <p:nvPr/>
          </p:nvCxnSpPr>
          <p:spPr bwMode="auto">
            <a:xfrm flipV="1">
              <a:off x="2404" y="3699"/>
              <a:ext cx="0" cy="58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74" name="AutoShape 105"/>
            <p:cNvSpPr>
              <a:spLocks noChangeArrowheads="1"/>
            </p:cNvSpPr>
            <p:nvPr/>
          </p:nvSpPr>
          <p:spPr bwMode="auto">
            <a:xfrm rot="5400000" flipH="1">
              <a:off x="2760" y="3761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475" name="AutoShape 106"/>
            <p:cNvCxnSpPr>
              <a:cxnSpLocks noChangeShapeType="1"/>
              <a:stCxn id="18474" idx="6"/>
            </p:cNvCxnSpPr>
            <p:nvPr/>
          </p:nvCxnSpPr>
          <p:spPr bwMode="auto">
            <a:xfrm flipV="1">
              <a:off x="2784" y="3696"/>
              <a:ext cx="0" cy="58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76" name="AutoShape 107"/>
            <p:cNvSpPr>
              <a:spLocks noChangeArrowheads="1"/>
            </p:cNvSpPr>
            <p:nvPr/>
          </p:nvSpPr>
          <p:spPr bwMode="auto">
            <a:xfrm rot="5400000" flipH="1">
              <a:off x="3140" y="3761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477" name="AutoShape 108"/>
            <p:cNvCxnSpPr>
              <a:cxnSpLocks noChangeShapeType="1"/>
              <a:stCxn id="18476" idx="6"/>
            </p:cNvCxnSpPr>
            <p:nvPr/>
          </p:nvCxnSpPr>
          <p:spPr bwMode="auto">
            <a:xfrm flipV="1">
              <a:off x="3164" y="3696"/>
              <a:ext cx="0" cy="58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78" name="AutoShape 109"/>
            <p:cNvSpPr>
              <a:spLocks noChangeArrowheads="1"/>
            </p:cNvSpPr>
            <p:nvPr/>
          </p:nvSpPr>
          <p:spPr bwMode="auto">
            <a:xfrm rot="5400000" flipH="1">
              <a:off x="3536" y="3765"/>
              <a:ext cx="48" cy="48"/>
            </a:xfrm>
            <a:prstGeom prst="flowChartConnector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" charset="0"/>
              </a:endParaRPr>
            </a:p>
          </p:txBody>
        </p:sp>
        <p:cxnSp>
          <p:nvCxnSpPr>
            <p:cNvPr id="18479" name="AutoShape 110"/>
            <p:cNvCxnSpPr>
              <a:cxnSpLocks noChangeShapeType="1"/>
              <a:stCxn id="18478" idx="6"/>
            </p:cNvCxnSpPr>
            <p:nvPr/>
          </p:nvCxnSpPr>
          <p:spPr bwMode="auto">
            <a:xfrm flipV="1">
              <a:off x="3560" y="3700"/>
              <a:ext cx="0" cy="58"/>
            </a:xfrm>
            <a:prstGeom prst="straightConnector1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9" name="Group 126"/>
          <p:cNvGrpSpPr>
            <a:grpSpLocks/>
          </p:cNvGrpSpPr>
          <p:nvPr/>
        </p:nvGrpSpPr>
        <p:grpSpPr bwMode="auto">
          <a:xfrm>
            <a:off x="685800" y="5345835"/>
            <a:ext cx="1828800" cy="2673350"/>
            <a:chOff x="576" y="2766"/>
            <a:chExt cx="1536" cy="1263"/>
          </a:xfrm>
        </p:grpSpPr>
        <p:sp>
          <p:nvSpPr>
            <p:cNvPr id="18451" name="Freeform 111"/>
            <p:cNvSpPr>
              <a:spLocks/>
            </p:cNvSpPr>
            <p:nvPr/>
          </p:nvSpPr>
          <p:spPr bwMode="auto">
            <a:xfrm>
              <a:off x="597" y="2766"/>
              <a:ext cx="1391" cy="1055"/>
            </a:xfrm>
            <a:custGeom>
              <a:avLst/>
              <a:gdLst>
                <a:gd name="T0" fmla="*/ 683 w 1391"/>
                <a:gd name="T1" fmla="*/ 0 h 1055"/>
                <a:gd name="T2" fmla="*/ 678 w 1391"/>
                <a:gd name="T3" fmla="*/ 70 h 1055"/>
                <a:gd name="T4" fmla="*/ 661 w 1391"/>
                <a:gd name="T5" fmla="*/ 167 h 1055"/>
                <a:gd name="T6" fmla="*/ 555 w 1391"/>
                <a:gd name="T7" fmla="*/ 242 h 1055"/>
                <a:gd name="T8" fmla="*/ 485 w 1391"/>
                <a:gd name="T9" fmla="*/ 277 h 1055"/>
                <a:gd name="T10" fmla="*/ 458 w 1391"/>
                <a:gd name="T11" fmla="*/ 285 h 1055"/>
                <a:gd name="T12" fmla="*/ 406 w 1391"/>
                <a:gd name="T13" fmla="*/ 316 h 1055"/>
                <a:gd name="T14" fmla="*/ 326 w 1391"/>
                <a:gd name="T15" fmla="*/ 391 h 1055"/>
                <a:gd name="T16" fmla="*/ 291 w 1391"/>
                <a:gd name="T17" fmla="*/ 417 h 1055"/>
                <a:gd name="T18" fmla="*/ 238 w 1391"/>
                <a:gd name="T19" fmla="*/ 457 h 1055"/>
                <a:gd name="T20" fmla="*/ 216 w 1391"/>
                <a:gd name="T21" fmla="*/ 510 h 1055"/>
                <a:gd name="T22" fmla="*/ 177 w 1391"/>
                <a:gd name="T23" fmla="*/ 576 h 1055"/>
                <a:gd name="T24" fmla="*/ 85 w 1391"/>
                <a:gd name="T25" fmla="*/ 734 h 1055"/>
                <a:gd name="T26" fmla="*/ 32 w 1391"/>
                <a:gd name="T27" fmla="*/ 822 h 1055"/>
                <a:gd name="T28" fmla="*/ 1 w 1391"/>
                <a:gd name="T29" fmla="*/ 914 h 1055"/>
                <a:gd name="T30" fmla="*/ 5 w 1391"/>
                <a:gd name="T31" fmla="*/ 998 h 1055"/>
                <a:gd name="T32" fmla="*/ 120 w 1391"/>
                <a:gd name="T33" fmla="*/ 1055 h 1055"/>
                <a:gd name="T34" fmla="*/ 247 w 1391"/>
                <a:gd name="T35" fmla="*/ 1033 h 1055"/>
                <a:gd name="T36" fmla="*/ 300 w 1391"/>
                <a:gd name="T37" fmla="*/ 1002 h 1055"/>
                <a:gd name="T38" fmla="*/ 331 w 1391"/>
                <a:gd name="T39" fmla="*/ 963 h 1055"/>
                <a:gd name="T40" fmla="*/ 401 w 1391"/>
                <a:gd name="T41" fmla="*/ 857 h 1055"/>
                <a:gd name="T42" fmla="*/ 432 w 1391"/>
                <a:gd name="T43" fmla="*/ 861 h 1055"/>
                <a:gd name="T44" fmla="*/ 449 w 1391"/>
                <a:gd name="T45" fmla="*/ 888 h 1055"/>
                <a:gd name="T46" fmla="*/ 476 w 1391"/>
                <a:gd name="T47" fmla="*/ 971 h 1055"/>
                <a:gd name="T48" fmla="*/ 489 w 1391"/>
                <a:gd name="T49" fmla="*/ 998 h 1055"/>
                <a:gd name="T50" fmla="*/ 529 w 1391"/>
                <a:gd name="T51" fmla="*/ 1011 h 1055"/>
                <a:gd name="T52" fmla="*/ 691 w 1391"/>
                <a:gd name="T53" fmla="*/ 989 h 1055"/>
                <a:gd name="T54" fmla="*/ 735 w 1391"/>
                <a:gd name="T55" fmla="*/ 923 h 1055"/>
                <a:gd name="T56" fmla="*/ 735 w 1391"/>
                <a:gd name="T57" fmla="*/ 800 h 1055"/>
                <a:gd name="T58" fmla="*/ 713 w 1391"/>
                <a:gd name="T59" fmla="*/ 760 h 1055"/>
                <a:gd name="T60" fmla="*/ 704 w 1391"/>
                <a:gd name="T61" fmla="*/ 747 h 1055"/>
                <a:gd name="T62" fmla="*/ 669 w 1391"/>
                <a:gd name="T63" fmla="*/ 668 h 1055"/>
                <a:gd name="T64" fmla="*/ 661 w 1391"/>
                <a:gd name="T65" fmla="*/ 633 h 1055"/>
                <a:gd name="T66" fmla="*/ 665 w 1391"/>
                <a:gd name="T67" fmla="*/ 541 h 1055"/>
                <a:gd name="T68" fmla="*/ 810 w 1391"/>
                <a:gd name="T69" fmla="*/ 448 h 1055"/>
                <a:gd name="T70" fmla="*/ 986 w 1391"/>
                <a:gd name="T71" fmla="*/ 483 h 1055"/>
                <a:gd name="T72" fmla="*/ 986 w 1391"/>
                <a:gd name="T73" fmla="*/ 562 h 1055"/>
                <a:gd name="T74" fmla="*/ 968 w 1391"/>
                <a:gd name="T75" fmla="*/ 589 h 1055"/>
                <a:gd name="T76" fmla="*/ 920 w 1391"/>
                <a:gd name="T77" fmla="*/ 655 h 1055"/>
                <a:gd name="T78" fmla="*/ 854 w 1391"/>
                <a:gd name="T79" fmla="*/ 725 h 1055"/>
                <a:gd name="T80" fmla="*/ 823 w 1391"/>
                <a:gd name="T81" fmla="*/ 760 h 1055"/>
                <a:gd name="T82" fmla="*/ 801 w 1391"/>
                <a:gd name="T83" fmla="*/ 800 h 1055"/>
                <a:gd name="T84" fmla="*/ 788 w 1391"/>
                <a:gd name="T85" fmla="*/ 839 h 1055"/>
                <a:gd name="T86" fmla="*/ 792 w 1391"/>
                <a:gd name="T87" fmla="*/ 897 h 1055"/>
                <a:gd name="T88" fmla="*/ 938 w 1391"/>
                <a:gd name="T89" fmla="*/ 1029 h 1055"/>
                <a:gd name="T90" fmla="*/ 1043 w 1391"/>
                <a:gd name="T91" fmla="*/ 1011 h 1055"/>
                <a:gd name="T92" fmla="*/ 1091 w 1391"/>
                <a:gd name="T93" fmla="*/ 963 h 1055"/>
                <a:gd name="T94" fmla="*/ 1105 w 1391"/>
                <a:gd name="T95" fmla="*/ 949 h 1055"/>
                <a:gd name="T96" fmla="*/ 1109 w 1391"/>
                <a:gd name="T97" fmla="*/ 787 h 1055"/>
                <a:gd name="T98" fmla="*/ 1135 w 1391"/>
                <a:gd name="T99" fmla="*/ 690 h 1055"/>
                <a:gd name="T100" fmla="*/ 1166 w 1391"/>
                <a:gd name="T101" fmla="*/ 694 h 1055"/>
                <a:gd name="T102" fmla="*/ 1184 w 1391"/>
                <a:gd name="T103" fmla="*/ 752 h 1055"/>
                <a:gd name="T104" fmla="*/ 1206 w 1391"/>
                <a:gd name="T105" fmla="*/ 839 h 1055"/>
                <a:gd name="T106" fmla="*/ 1228 w 1391"/>
                <a:gd name="T107" fmla="*/ 936 h 1055"/>
                <a:gd name="T108" fmla="*/ 1259 w 1391"/>
                <a:gd name="T109" fmla="*/ 989 h 1055"/>
                <a:gd name="T110" fmla="*/ 1324 w 1391"/>
                <a:gd name="T111" fmla="*/ 1033 h 1055"/>
                <a:gd name="T112" fmla="*/ 1382 w 1391"/>
                <a:gd name="T113" fmla="*/ 1051 h 105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391"/>
                <a:gd name="T172" fmla="*/ 0 h 1055"/>
                <a:gd name="T173" fmla="*/ 1391 w 1391"/>
                <a:gd name="T174" fmla="*/ 1055 h 1055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391" h="1055">
                  <a:moveTo>
                    <a:pt x="683" y="0"/>
                  </a:moveTo>
                  <a:cubicBezTo>
                    <a:pt x="690" y="24"/>
                    <a:pt x="684" y="47"/>
                    <a:pt x="678" y="70"/>
                  </a:cubicBezTo>
                  <a:cubicBezTo>
                    <a:pt x="677" y="83"/>
                    <a:pt x="671" y="154"/>
                    <a:pt x="661" y="167"/>
                  </a:cubicBezTo>
                  <a:cubicBezTo>
                    <a:pt x="639" y="194"/>
                    <a:pt x="585" y="224"/>
                    <a:pt x="555" y="242"/>
                  </a:cubicBezTo>
                  <a:cubicBezTo>
                    <a:pt x="534" y="255"/>
                    <a:pt x="508" y="268"/>
                    <a:pt x="485" y="277"/>
                  </a:cubicBezTo>
                  <a:cubicBezTo>
                    <a:pt x="476" y="280"/>
                    <a:pt x="458" y="285"/>
                    <a:pt x="458" y="285"/>
                  </a:cubicBezTo>
                  <a:cubicBezTo>
                    <a:pt x="440" y="298"/>
                    <a:pt x="426" y="310"/>
                    <a:pt x="406" y="316"/>
                  </a:cubicBezTo>
                  <a:cubicBezTo>
                    <a:pt x="379" y="341"/>
                    <a:pt x="358" y="371"/>
                    <a:pt x="326" y="391"/>
                  </a:cubicBezTo>
                  <a:cubicBezTo>
                    <a:pt x="316" y="407"/>
                    <a:pt x="307" y="407"/>
                    <a:pt x="291" y="417"/>
                  </a:cubicBezTo>
                  <a:cubicBezTo>
                    <a:pt x="272" y="430"/>
                    <a:pt x="257" y="445"/>
                    <a:pt x="238" y="457"/>
                  </a:cubicBezTo>
                  <a:cubicBezTo>
                    <a:pt x="232" y="477"/>
                    <a:pt x="228" y="493"/>
                    <a:pt x="216" y="510"/>
                  </a:cubicBezTo>
                  <a:cubicBezTo>
                    <a:pt x="209" y="533"/>
                    <a:pt x="190" y="555"/>
                    <a:pt x="177" y="576"/>
                  </a:cubicBezTo>
                  <a:cubicBezTo>
                    <a:pt x="144" y="628"/>
                    <a:pt x="130" y="689"/>
                    <a:pt x="85" y="734"/>
                  </a:cubicBezTo>
                  <a:cubicBezTo>
                    <a:pt x="73" y="766"/>
                    <a:pt x="48" y="792"/>
                    <a:pt x="32" y="822"/>
                  </a:cubicBezTo>
                  <a:cubicBezTo>
                    <a:pt x="18" y="848"/>
                    <a:pt x="10" y="885"/>
                    <a:pt x="1" y="914"/>
                  </a:cubicBezTo>
                  <a:cubicBezTo>
                    <a:pt x="2" y="942"/>
                    <a:pt x="0" y="971"/>
                    <a:pt x="5" y="998"/>
                  </a:cubicBezTo>
                  <a:cubicBezTo>
                    <a:pt x="13" y="1038"/>
                    <a:pt x="89" y="1045"/>
                    <a:pt x="120" y="1055"/>
                  </a:cubicBezTo>
                  <a:cubicBezTo>
                    <a:pt x="168" y="1052"/>
                    <a:pt x="203" y="1047"/>
                    <a:pt x="247" y="1033"/>
                  </a:cubicBezTo>
                  <a:cubicBezTo>
                    <a:pt x="265" y="1021"/>
                    <a:pt x="280" y="1010"/>
                    <a:pt x="300" y="1002"/>
                  </a:cubicBezTo>
                  <a:cubicBezTo>
                    <a:pt x="312" y="990"/>
                    <a:pt x="331" y="963"/>
                    <a:pt x="331" y="963"/>
                  </a:cubicBezTo>
                  <a:cubicBezTo>
                    <a:pt x="342" y="924"/>
                    <a:pt x="360" y="870"/>
                    <a:pt x="401" y="857"/>
                  </a:cubicBezTo>
                  <a:cubicBezTo>
                    <a:pt x="411" y="858"/>
                    <a:pt x="422" y="857"/>
                    <a:pt x="432" y="861"/>
                  </a:cubicBezTo>
                  <a:cubicBezTo>
                    <a:pt x="445" y="866"/>
                    <a:pt x="445" y="877"/>
                    <a:pt x="449" y="888"/>
                  </a:cubicBezTo>
                  <a:cubicBezTo>
                    <a:pt x="458" y="915"/>
                    <a:pt x="467" y="943"/>
                    <a:pt x="476" y="971"/>
                  </a:cubicBezTo>
                  <a:cubicBezTo>
                    <a:pt x="479" y="981"/>
                    <a:pt x="479" y="991"/>
                    <a:pt x="489" y="998"/>
                  </a:cubicBezTo>
                  <a:cubicBezTo>
                    <a:pt x="497" y="1005"/>
                    <a:pt x="519" y="1008"/>
                    <a:pt x="529" y="1011"/>
                  </a:cubicBezTo>
                  <a:cubicBezTo>
                    <a:pt x="590" y="1008"/>
                    <a:pt x="635" y="1006"/>
                    <a:pt x="691" y="989"/>
                  </a:cubicBezTo>
                  <a:cubicBezTo>
                    <a:pt x="706" y="967"/>
                    <a:pt x="720" y="945"/>
                    <a:pt x="735" y="923"/>
                  </a:cubicBezTo>
                  <a:cubicBezTo>
                    <a:pt x="749" y="873"/>
                    <a:pt x="743" y="902"/>
                    <a:pt x="735" y="800"/>
                  </a:cubicBezTo>
                  <a:cubicBezTo>
                    <a:pt x="734" y="786"/>
                    <a:pt x="719" y="769"/>
                    <a:pt x="713" y="760"/>
                  </a:cubicBezTo>
                  <a:cubicBezTo>
                    <a:pt x="710" y="756"/>
                    <a:pt x="704" y="747"/>
                    <a:pt x="704" y="747"/>
                  </a:cubicBezTo>
                  <a:cubicBezTo>
                    <a:pt x="695" y="719"/>
                    <a:pt x="686" y="692"/>
                    <a:pt x="669" y="668"/>
                  </a:cubicBezTo>
                  <a:cubicBezTo>
                    <a:pt x="667" y="656"/>
                    <a:pt x="661" y="645"/>
                    <a:pt x="661" y="633"/>
                  </a:cubicBezTo>
                  <a:cubicBezTo>
                    <a:pt x="661" y="602"/>
                    <a:pt x="663" y="572"/>
                    <a:pt x="665" y="541"/>
                  </a:cubicBezTo>
                  <a:cubicBezTo>
                    <a:pt x="670" y="481"/>
                    <a:pt x="767" y="465"/>
                    <a:pt x="810" y="448"/>
                  </a:cubicBezTo>
                  <a:cubicBezTo>
                    <a:pt x="880" y="452"/>
                    <a:pt x="929" y="448"/>
                    <a:pt x="986" y="483"/>
                  </a:cubicBezTo>
                  <a:cubicBezTo>
                    <a:pt x="1005" y="512"/>
                    <a:pt x="996" y="530"/>
                    <a:pt x="986" y="562"/>
                  </a:cubicBezTo>
                  <a:cubicBezTo>
                    <a:pt x="983" y="572"/>
                    <a:pt x="968" y="589"/>
                    <a:pt x="968" y="589"/>
                  </a:cubicBezTo>
                  <a:cubicBezTo>
                    <a:pt x="960" y="614"/>
                    <a:pt x="935" y="633"/>
                    <a:pt x="920" y="655"/>
                  </a:cubicBezTo>
                  <a:cubicBezTo>
                    <a:pt x="911" y="684"/>
                    <a:pt x="878" y="708"/>
                    <a:pt x="854" y="725"/>
                  </a:cubicBezTo>
                  <a:cubicBezTo>
                    <a:pt x="833" y="756"/>
                    <a:pt x="845" y="746"/>
                    <a:pt x="823" y="760"/>
                  </a:cubicBezTo>
                  <a:cubicBezTo>
                    <a:pt x="819" y="775"/>
                    <a:pt x="801" y="800"/>
                    <a:pt x="801" y="800"/>
                  </a:cubicBezTo>
                  <a:cubicBezTo>
                    <a:pt x="797" y="813"/>
                    <a:pt x="792" y="826"/>
                    <a:pt x="788" y="839"/>
                  </a:cubicBezTo>
                  <a:cubicBezTo>
                    <a:pt x="789" y="858"/>
                    <a:pt x="790" y="878"/>
                    <a:pt x="792" y="897"/>
                  </a:cubicBezTo>
                  <a:cubicBezTo>
                    <a:pt x="802" y="994"/>
                    <a:pt x="856" y="1006"/>
                    <a:pt x="938" y="1029"/>
                  </a:cubicBezTo>
                  <a:cubicBezTo>
                    <a:pt x="978" y="1025"/>
                    <a:pt x="1007" y="1022"/>
                    <a:pt x="1043" y="1011"/>
                  </a:cubicBezTo>
                  <a:cubicBezTo>
                    <a:pt x="1061" y="998"/>
                    <a:pt x="1075" y="979"/>
                    <a:pt x="1091" y="963"/>
                  </a:cubicBezTo>
                  <a:cubicBezTo>
                    <a:pt x="1096" y="958"/>
                    <a:pt x="1105" y="949"/>
                    <a:pt x="1105" y="949"/>
                  </a:cubicBezTo>
                  <a:cubicBezTo>
                    <a:pt x="1126" y="880"/>
                    <a:pt x="1113" y="932"/>
                    <a:pt x="1109" y="787"/>
                  </a:cubicBezTo>
                  <a:cubicBezTo>
                    <a:pt x="1112" y="731"/>
                    <a:pt x="1098" y="716"/>
                    <a:pt x="1135" y="690"/>
                  </a:cubicBezTo>
                  <a:cubicBezTo>
                    <a:pt x="1145" y="691"/>
                    <a:pt x="1156" y="690"/>
                    <a:pt x="1166" y="694"/>
                  </a:cubicBezTo>
                  <a:cubicBezTo>
                    <a:pt x="1181" y="701"/>
                    <a:pt x="1180" y="738"/>
                    <a:pt x="1184" y="752"/>
                  </a:cubicBezTo>
                  <a:cubicBezTo>
                    <a:pt x="1191" y="781"/>
                    <a:pt x="1201" y="809"/>
                    <a:pt x="1206" y="839"/>
                  </a:cubicBezTo>
                  <a:cubicBezTo>
                    <a:pt x="1211" y="870"/>
                    <a:pt x="1213" y="908"/>
                    <a:pt x="1228" y="936"/>
                  </a:cubicBezTo>
                  <a:cubicBezTo>
                    <a:pt x="1236" y="950"/>
                    <a:pt x="1247" y="978"/>
                    <a:pt x="1259" y="989"/>
                  </a:cubicBezTo>
                  <a:cubicBezTo>
                    <a:pt x="1277" y="1005"/>
                    <a:pt x="1304" y="1019"/>
                    <a:pt x="1324" y="1033"/>
                  </a:cubicBezTo>
                  <a:cubicBezTo>
                    <a:pt x="1337" y="1042"/>
                    <a:pt x="1391" y="1039"/>
                    <a:pt x="1382" y="1051"/>
                  </a:cubicBezTo>
                </a:path>
              </a:pathLst>
            </a:custGeom>
            <a:noFill/>
            <a:ln w="9525" cap="flat" cmpd="sng">
              <a:solidFill>
                <a:schemeClr val="folHlink"/>
              </a:solidFill>
              <a:prstDash val="solid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452" name="Text Box 114"/>
            <p:cNvSpPr txBox="1">
              <a:spLocks noChangeArrowheads="1"/>
            </p:cNvSpPr>
            <p:nvPr/>
          </p:nvSpPr>
          <p:spPr bwMode="auto">
            <a:xfrm>
              <a:off x="576" y="3840"/>
              <a:ext cx="1536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Trebuchet MS" pitchFamily="34" charset="0"/>
                </a:rPr>
                <a:t>A B D E C F G</a:t>
              </a:r>
            </a:p>
          </p:txBody>
        </p:sp>
      </p:grpSp>
      <p:grpSp>
        <p:nvGrpSpPr>
          <p:cNvPr id="10" name="Group 127"/>
          <p:cNvGrpSpPr>
            <a:grpSpLocks/>
          </p:cNvGrpSpPr>
          <p:nvPr/>
        </p:nvGrpSpPr>
        <p:grpSpPr bwMode="auto">
          <a:xfrm>
            <a:off x="2601516" y="6011333"/>
            <a:ext cx="1913334" cy="2516716"/>
            <a:chOff x="2185" y="2840"/>
            <a:chExt cx="1607" cy="1189"/>
          </a:xfrm>
        </p:grpSpPr>
        <p:sp>
          <p:nvSpPr>
            <p:cNvPr id="18449" name="Freeform 112"/>
            <p:cNvSpPr>
              <a:spLocks/>
            </p:cNvSpPr>
            <p:nvPr/>
          </p:nvSpPr>
          <p:spPr bwMode="auto">
            <a:xfrm>
              <a:off x="2185" y="2840"/>
              <a:ext cx="1517" cy="1007"/>
            </a:xfrm>
            <a:custGeom>
              <a:avLst/>
              <a:gdLst>
                <a:gd name="T0" fmla="*/ 625 w 1517"/>
                <a:gd name="T1" fmla="*/ 0 h 1007"/>
                <a:gd name="T2" fmla="*/ 589 w 1517"/>
                <a:gd name="T3" fmla="*/ 58 h 1007"/>
                <a:gd name="T4" fmla="*/ 576 w 1517"/>
                <a:gd name="T5" fmla="*/ 66 h 1007"/>
                <a:gd name="T6" fmla="*/ 537 w 1517"/>
                <a:gd name="T7" fmla="*/ 106 h 1007"/>
                <a:gd name="T8" fmla="*/ 462 w 1517"/>
                <a:gd name="T9" fmla="*/ 172 h 1007"/>
                <a:gd name="T10" fmla="*/ 374 w 1517"/>
                <a:gd name="T11" fmla="*/ 229 h 1007"/>
                <a:gd name="T12" fmla="*/ 167 w 1517"/>
                <a:gd name="T13" fmla="*/ 414 h 1007"/>
                <a:gd name="T14" fmla="*/ 141 w 1517"/>
                <a:gd name="T15" fmla="*/ 462 h 1007"/>
                <a:gd name="T16" fmla="*/ 84 w 1517"/>
                <a:gd name="T17" fmla="*/ 546 h 1007"/>
                <a:gd name="T18" fmla="*/ 71 w 1517"/>
                <a:gd name="T19" fmla="*/ 581 h 1007"/>
                <a:gd name="T20" fmla="*/ 57 w 1517"/>
                <a:gd name="T21" fmla="*/ 616 h 1007"/>
                <a:gd name="T22" fmla="*/ 5 w 1517"/>
                <a:gd name="T23" fmla="*/ 840 h 1007"/>
                <a:gd name="T24" fmla="*/ 13 w 1517"/>
                <a:gd name="T25" fmla="*/ 902 h 1007"/>
                <a:gd name="T26" fmla="*/ 57 w 1517"/>
                <a:gd name="T27" fmla="*/ 919 h 1007"/>
                <a:gd name="T28" fmla="*/ 172 w 1517"/>
                <a:gd name="T29" fmla="*/ 946 h 1007"/>
                <a:gd name="T30" fmla="*/ 304 w 1517"/>
                <a:gd name="T31" fmla="*/ 928 h 1007"/>
                <a:gd name="T32" fmla="*/ 378 w 1517"/>
                <a:gd name="T33" fmla="*/ 823 h 1007"/>
                <a:gd name="T34" fmla="*/ 356 w 1517"/>
                <a:gd name="T35" fmla="*/ 678 h 1007"/>
                <a:gd name="T36" fmla="*/ 343 w 1517"/>
                <a:gd name="T37" fmla="*/ 634 h 1007"/>
                <a:gd name="T38" fmla="*/ 392 w 1517"/>
                <a:gd name="T39" fmla="*/ 603 h 1007"/>
                <a:gd name="T40" fmla="*/ 422 w 1517"/>
                <a:gd name="T41" fmla="*/ 638 h 1007"/>
                <a:gd name="T42" fmla="*/ 418 w 1517"/>
                <a:gd name="T43" fmla="*/ 748 h 1007"/>
                <a:gd name="T44" fmla="*/ 422 w 1517"/>
                <a:gd name="T45" fmla="*/ 823 h 1007"/>
                <a:gd name="T46" fmla="*/ 559 w 1517"/>
                <a:gd name="T47" fmla="*/ 915 h 1007"/>
                <a:gd name="T48" fmla="*/ 607 w 1517"/>
                <a:gd name="T49" fmla="*/ 928 h 1007"/>
                <a:gd name="T50" fmla="*/ 691 w 1517"/>
                <a:gd name="T51" fmla="*/ 919 h 1007"/>
                <a:gd name="T52" fmla="*/ 726 w 1517"/>
                <a:gd name="T53" fmla="*/ 875 h 1007"/>
                <a:gd name="T54" fmla="*/ 735 w 1517"/>
                <a:gd name="T55" fmla="*/ 862 h 1007"/>
                <a:gd name="T56" fmla="*/ 774 w 1517"/>
                <a:gd name="T57" fmla="*/ 735 h 1007"/>
                <a:gd name="T58" fmla="*/ 664 w 1517"/>
                <a:gd name="T59" fmla="*/ 445 h 1007"/>
                <a:gd name="T60" fmla="*/ 743 w 1517"/>
                <a:gd name="T61" fmla="*/ 295 h 1007"/>
                <a:gd name="T62" fmla="*/ 853 w 1517"/>
                <a:gd name="T63" fmla="*/ 299 h 1007"/>
                <a:gd name="T64" fmla="*/ 880 w 1517"/>
                <a:gd name="T65" fmla="*/ 339 h 1007"/>
                <a:gd name="T66" fmla="*/ 902 w 1517"/>
                <a:gd name="T67" fmla="*/ 396 h 1007"/>
                <a:gd name="T68" fmla="*/ 866 w 1517"/>
                <a:gd name="T69" fmla="*/ 541 h 1007"/>
                <a:gd name="T70" fmla="*/ 805 w 1517"/>
                <a:gd name="T71" fmla="*/ 730 h 1007"/>
                <a:gd name="T72" fmla="*/ 836 w 1517"/>
                <a:gd name="T73" fmla="*/ 893 h 1007"/>
                <a:gd name="T74" fmla="*/ 915 w 1517"/>
                <a:gd name="T75" fmla="*/ 928 h 1007"/>
                <a:gd name="T76" fmla="*/ 963 w 1517"/>
                <a:gd name="T77" fmla="*/ 941 h 1007"/>
                <a:gd name="T78" fmla="*/ 1078 w 1517"/>
                <a:gd name="T79" fmla="*/ 928 h 1007"/>
                <a:gd name="T80" fmla="*/ 1152 w 1517"/>
                <a:gd name="T81" fmla="*/ 836 h 1007"/>
                <a:gd name="T82" fmla="*/ 1117 w 1517"/>
                <a:gd name="T83" fmla="*/ 673 h 1007"/>
                <a:gd name="T84" fmla="*/ 1170 w 1517"/>
                <a:gd name="T85" fmla="*/ 616 h 1007"/>
                <a:gd name="T86" fmla="*/ 1196 w 1517"/>
                <a:gd name="T87" fmla="*/ 620 h 1007"/>
                <a:gd name="T88" fmla="*/ 1201 w 1517"/>
                <a:gd name="T89" fmla="*/ 634 h 1007"/>
                <a:gd name="T90" fmla="*/ 1218 w 1517"/>
                <a:gd name="T91" fmla="*/ 695 h 1007"/>
                <a:gd name="T92" fmla="*/ 1262 w 1517"/>
                <a:gd name="T93" fmla="*/ 893 h 1007"/>
                <a:gd name="T94" fmla="*/ 1328 w 1517"/>
                <a:gd name="T95" fmla="*/ 928 h 1007"/>
                <a:gd name="T96" fmla="*/ 1372 w 1517"/>
                <a:gd name="T97" fmla="*/ 946 h 1007"/>
                <a:gd name="T98" fmla="*/ 1385 w 1517"/>
                <a:gd name="T99" fmla="*/ 950 h 1007"/>
                <a:gd name="T100" fmla="*/ 1456 w 1517"/>
                <a:gd name="T101" fmla="*/ 985 h 1007"/>
                <a:gd name="T102" fmla="*/ 1517 w 1517"/>
                <a:gd name="T103" fmla="*/ 1007 h 100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517"/>
                <a:gd name="T157" fmla="*/ 0 h 1007"/>
                <a:gd name="T158" fmla="*/ 1517 w 1517"/>
                <a:gd name="T159" fmla="*/ 1007 h 100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517" h="1007">
                  <a:moveTo>
                    <a:pt x="625" y="0"/>
                  </a:moveTo>
                  <a:cubicBezTo>
                    <a:pt x="612" y="20"/>
                    <a:pt x="606" y="41"/>
                    <a:pt x="589" y="58"/>
                  </a:cubicBezTo>
                  <a:cubicBezTo>
                    <a:pt x="585" y="62"/>
                    <a:pt x="580" y="63"/>
                    <a:pt x="576" y="66"/>
                  </a:cubicBezTo>
                  <a:cubicBezTo>
                    <a:pt x="562" y="79"/>
                    <a:pt x="549" y="92"/>
                    <a:pt x="537" y="106"/>
                  </a:cubicBezTo>
                  <a:cubicBezTo>
                    <a:pt x="515" y="133"/>
                    <a:pt x="497" y="161"/>
                    <a:pt x="462" y="172"/>
                  </a:cubicBezTo>
                  <a:cubicBezTo>
                    <a:pt x="438" y="196"/>
                    <a:pt x="400" y="205"/>
                    <a:pt x="374" y="229"/>
                  </a:cubicBezTo>
                  <a:cubicBezTo>
                    <a:pt x="305" y="291"/>
                    <a:pt x="227" y="343"/>
                    <a:pt x="167" y="414"/>
                  </a:cubicBezTo>
                  <a:cubicBezTo>
                    <a:pt x="155" y="428"/>
                    <a:pt x="151" y="446"/>
                    <a:pt x="141" y="462"/>
                  </a:cubicBezTo>
                  <a:cubicBezTo>
                    <a:pt x="124" y="490"/>
                    <a:pt x="102" y="517"/>
                    <a:pt x="84" y="546"/>
                  </a:cubicBezTo>
                  <a:cubicBezTo>
                    <a:pt x="77" y="557"/>
                    <a:pt x="76" y="569"/>
                    <a:pt x="71" y="581"/>
                  </a:cubicBezTo>
                  <a:cubicBezTo>
                    <a:pt x="66" y="593"/>
                    <a:pt x="57" y="616"/>
                    <a:pt x="57" y="616"/>
                  </a:cubicBezTo>
                  <a:cubicBezTo>
                    <a:pt x="45" y="692"/>
                    <a:pt x="17" y="764"/>
                    <a:pt x="5" y="840"/>
                  </a:cubicBezTo>
                  <a:cubicBezTo>
                    <a:pt x="7" y="861"/>
                    <a:pt x="0" y="886"/>
                    <a:pt x="13" y="902"/>
                  </a:cubicBezTo>
                  <a:cubicBezTo>
                    <a:pt x="23" y="914"/>
                    <a:pt x="43" y="915"/>
                    <a:pt x="57" y="919"/>
                  </a:cubicBezTo>
                  <a:cubicBezTo>
                    <a:pt x="97" y="931"/>
                    <a:pt x="130" y="941"/>
                    <a:pt x="172" y="946"/>
                  </a:cubicBezTo>
                  <a:cubicBezTo>
                    <a:pt x="220" y="943"/>
                    <a:pt x="259" y="941"/>
                    <a:pt x="304" y="928"/>
                  </a:cubicBezTo>
                  <a:cubicBezTo>
                    <a:pt x="347" y="898"/>
                    <a:pt x="369" y="874"/>
                    <a:pt x="378" y="823"/>
                  </a:cubicBezTo>
                  <a:cubicBezTo>
                    <a:pt x="376" y="777"/>
                    <a:pt x="384" y="719"/>
                    <a:pt x="356" y="678"/>
                  </a:cubicBezTo>
                  <a:cubicBezTo>
                    <a:pt x="352" y="663"/>
                    <a:pt x="349" y="648"/>
                    <a:pt x="343" y="634"/>
                  </a:cubicBezTo>
                  <a:cubicBezTo>
                    <a:pt x="351" y="611"/>
                    <a:pt x="369" y="608"/>
                    <a:pt x="392" y="603"/>
                  </a:cubicBezTo>
                  <a:cubicBezTo>
                    <a:pt x="413" y="609"/>
                    <a:pt x="417" y="617"/>
                    <a:pt x="422" y="638"/>
                  </a:cubicBezTo>
                  <a:cubicBezTo>
                    <a:pt x="421" y="675"/>
                    <a:pt x="418" y="711"/>
                    <a:pt x="418" y="748"/>
                  </a:cubicBezTo>
                  <a:cubicBezTo>
                    <a:pt x="418" y="773"/>
                    <a:pt x="420" y="798"/>
                    <a:pt x="422" y="823"/>
                  </a:cubicBezTo>
                  <a:cubicBezTo>
                    <a:pt x="430" y="908"/>
                    <a:pt x="485" y="910"/>
                    <a:pt x="559" y="915"/>
                  </a:cubicBezTo>
                  <a:cubicBezTo>
                    <a:pt x="575" y="919"/>
                    <a:pt x="591" y="923"/>
                    <a:pt x="607" y="928"/>
                  </a:cubicBezTo>
                  <a:cubicBezTo>
                    <a:pt x="635" y="926"/>
                    <a:pt x="668" y="935"/>
                    <a:pt x="691" y="919"/>
                  </a:cubicBezTo>
                  <a:cubicBezTo>
                    <a:pt x="703" y="911"/>
                    <a:pt x="721" y="882"/>
                    <a:pt x="726" y="875"/>
                  </a:cubicBezTo>
                  <a:cubicBezTo>
                    <a:pt x="729" y="871"/>
                    <a:pt x="735" y="862"/>
                    <a:pt x="735" y="862"/>
                  </a:cubicBezTo>
                  <a:cubicBezTo>
                    <a:pt x="748" y="819"/>
                    <a:pt x="764" y="779"/>
                    <a:pt x="774" y="735"/>
                  </a:cubicBezTo>
                  <a:cubicBezTo>
                    <a:pt x="764" y="628"/>
                    <a:pt x="684" y="550"/>
                    <a:pt x="664" y="445"/>
                  </a:cubicBezTo>
                  <a:cubicBezTo>
                    <a:pt x="669" y="374"/>
                    <a:pt x="661" y="310"/>
                    <a:pt x="743" y="295"/>
                  </a:cubicBezTo>
                  <a:cubicBezTo>
                    <a:pt x="780" y="296"/>
                    <a:pt x="817" y="290"/>
                    <a:pt x="853" y="299"/>
                  </a:cubicBezTo>
                  <a:cubicBezTo>
                    <a:pt x="869" y="303"/>
                    <a:pt x="880" y="339"/>
                    <a:pt x="880" y="339"/>
                  </a:cubicBezTo>
                  <a:cubicBezTo>
                    <a:pt x="886" y="358"/>
                    <a:pt x="895" y="377"/>
                    <a:pt x="902" y="396"/>
                  </a:cubicBezTo>
                  <a:cubicBezTo>
                    <a:pt x="898" y="440"/>
                    <a:pt x="893" y="502"/>
                    <a:pt x="866" y="541"/>
                  </a:cubicBezTo>
                  <a:cubicBezTo>
                    <a:pt x="847" y="604"/>
                    <a:pt x="820" y="666"/>
                    <a:pt x="805" y="730"/>
                  </a:cubicBezTo>
                  <a:cubicBezTo>
                    <a:pt x="805" y="736"/>
                    <a:pt x="793" y="880"/>
                    <a:pt x="836" y="893"/>
                  </a:cubicBezTo>
                  <a:cubicBezTo>
                    <a:pt x="859" y="909"/>
                    <a:pt x="889" y="919"/>
                    <a:pt x="915" y="928"/>
                  </a:cubicBezTo>
                  <a:cubicBezTo>
                    <a:pt x="931" y="933"/>
                    <a:pt x="963" y="941"/>
                    <a:pt x="963" y="941"/>
                  </a:cubicBezTo>
                  <a:cubicBezTo>
                    <a:pt x="1024" y="938"/>
                    <a:pt x="1035" y="943"/>
                    <a:pt x="1078" y="928"/>
                  </a:cubicBezTo>
                  <a:cubicBezTo>
                    <a:pt x="1115" y="901"/>
                    <a:pt x="1141" y="882"/>
                    <a:pt x="1152" y="836"/>
                  </a:cubicBezTo>
                  <a:cubicBezTo>
                    <a:pt x="1148" y="777"/>
                    <a:pt x="1138" y="728"/>
                    <a:pt x="1117" y="673"/>
                  </a:cubicBezTo>
                  <a:cubicBezTo>
                    <a:pt x="1124" y="641"/>
                    <a:pt x="1138" y="626"/>
                    <a:pt x="1170" y="616"/>
                  </a:cubicBezTo>
                  <a:cubicBezTo>
                    <a:pt x="1179" y="617"/>
                    <a:pt x="1188" y="616"/>
                    <a:pt x="1196" y="620"/>
                  </a:cubicBezTo>
                  <a:cubicBezTo>
                    <a:pt x="1200" y="622"/>
                    <a:pt x="1200" y="629"/>
                    <a:pt x="1201" y="634"/>
                  </a:cubicBezTo>
                  <a:cubicBezTo>
                    <a:pt x="1207" y="656"/>
                    <a:pt x="1212" y="674"/>
                    <a:pt x="1218" y="695"/>
                  </a:cubicBezTo>
                  <a:cubicBezTo>
                    <a:pt x="1215" y="748"/>
                    <a:pt x="1188" y="870"/>
                    <a:pt x="1262" y="893"/>
                  </a:cubicBezTo>
                  <a:cubicBezTo>
                    <a:pt x="1280" y="906"/>
                    <a:pt x="1307" y="921"/>
                    <a:pt x="1328" y="928"/>
                  </a:cubicBezTo>
                  <a:cubicBezTo>
                    <a:pt x="1350" y="943"/>
                    <a:pt x="1335" y="935"/>
                    <a:pt x="1372" y="946"/>
                  </a:cubicBezTo>
                  <a:cubicBezTo>
                    <a:pt x="1376" y="947"/>
                    <a:pt x="1385" y="950"/>
                    <a:pt x="1385" y="950"/>
                  </a:cubicBezTo>
                  <a:cubicBezTo>
                    <a:pt x="1406" y="964"/>
                    <a:pt x="1432" y="976"/>
                    <a:pt x="1456" y="985"/>
                  </a:cubicBezTo>
                  <a:cubicBezTo>
                    <a:pt x="1471" y="990"/>
                    <a:pt x="1505" y="995"/>
                    <a:pt x="1517" y="1007"/>
                  </a:cubicBezTo>
                </a:path>
              </a:pathLst>
            </a:custGeom>
            <a:noFill/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450" name="Text Box 115"/>
            <p:cNvSpPr txBox="1">
              <a:spLocks noChangeArrowheads="1"/>
            </p:cNvSpPr>
            <p:nvPr/>
          </p:nvSpPr>
          <p:spPr bwMode="auto">
            <a:xfrm>
              <a:off x="2256" y="3840"/>
              <a:ext cx="1536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D B E A F C G</a:t>
              </a:r>
            </a:p>
          </p:txBody>
        </p:sp>
      </p:grpSp>
      <p:grpSp>
        <p:nvGrpSpPr>
          <p:cNvPr id="11" name="Group 128"/>
          <p:cNvGrpSpPr>
            <a:grpSpLocks/>
          </p:cNvGrpSpPr>
          <p:nvPr/>
        </p:nvGrpSpPr>
        <p:grpSpPr bwMode="auto">
          <a:xfrm>
            <a:off x="4457700" y="5199978"/>
            <a:ext cx="1885950" cy="2620432"/>
            <a:chOff x="3744" y="2791"/>
            <a:chExt cx="1584" cy="1238"/>
          </a:xfrm>
        </p:grpSpPr>
        <p:sp>
          <p:nvSpPr>
            <p:cNvPr id="18447" name="Freeform 113"/>
            <p:cNvSpPr>
              <a:spLocks/>
            </p:cNvSpPr>
            <p:nvPr/>
          </p:nvSpPr>
          <p:spPr bwMode="auto">
            <a:xfrm>
              <a:off x="3744" y="2791"/>
              <a:ext cx="1559" cy="1098"/>
            </a:xfrm>
            <a:custGeom>
              <a:avLst/>
              <a:gdLst>
                <a:gd name="T0" fmla="*/ 569 w 1559"/>
                <a:gd name="T1" fmla="*/ 120 h 1098"/>
                <a:gd name="T2" fmla="*/ 341 w 1559"/>
                <a:gd name="T3" fmla="*/ 278 h 1098"/>
                <a:gd name="T4" fmla="*/ 139 w 1559"/>
                <a:gd name="T5" fmla="*/ 454 h 1098"/>
                <a:gd name="T6" fmla="*/ 59 w 1559"/>
                <a:gd name="T7" fmla="*/ 564 h 1098"/>
                <a:gd name="T8" fmla="*/ 15 w 1559"/>
                <a:gd name="T9" fmla="*/ 836 h 1098"/>
                <a:gd name="T10" fmla="*/ 191 w 1559"/>
                <a:gd name="T11" fmla="*/ 1012 h 1098"/>
                <a:gd name="T12" fmla="*/ 345 w 1559"/>
                <a:gd name="T13" fmla="*/ 933 h 1098"/>
                <a:gd name="T14" fmla="*/ 358 w 1559"/>
                <a:gd name="T15" fmla="*/ 810 h 1098"/>
                <a:gd name="T16" fmla="*/ 328 w 1559"/>
                <a:gd name="T17" fmla="*/ 696 h 1098"/>
                <a:gd name="T18" fmla="*/ 424 w 1559"/>
                <a:gd name="T19" fmla="*/ 674 h 1098"/>
                <a:gd name="T20" fmla="*/ 508 w 1559"/>
                <a:gd name="T21" fmla="*/ 1043 h 1098"/>
                <a:gd name="T22" fmla="*/ 706 w 1559"/>
                <a:gd name="T23" fmla="*/ 1039 h 1098"/>
                <a:gd name="T24" fmla="*/ 745 w 1559"/>
                <a:gd name="T25" fmla="*/ 819 h 1098"/>
                <a:gd name="T26" fmla="*/ 710 w 1559"/>
                <a:gd name="T27" fmla="*/ 766 h 1098"/>
                <a:gd name="T28" fmla="*/ 605 w 1559"/>
                <a:gd name="T29" fmla="*/ 595 h 1098"/>
                <a:gd name="T30" fmla="*/ 565 w 1559"/>
                <a:gd name="T31" fmla="*/ 498 h 1098"/>
                <a:gd name="T32" fmla="*/ 591 w 1559"/>
                <a:gd name="T33" fmla="*/ 419 h 1098"/>
                <a:gd name="T34" fmla="*/ 873 w 1559"/>
                <a:gd name="T35" fmla="*/ 379 h 1098"/>
                <a:gd name="T36" fmla="*/ 868 w 1559"/>
                <a:gd name="T37" fmla="*/ 612 h 1098"/>
                <a:gd name="T38" fmla="*/ 833 w 1559"/>
                <a:gd name="T39" fmla="*/ 709 h 1098"/>
                <a:gd name="T40" fmla="*/ 816 w 1559"/>
                <a:gd name="T41" fmla="*/ 920 h 1098"/>
                <a:gd name="T42" fmla="*/ 978 w 1559"/>
                <a:gd name="T43" fmla="*/ 1083 h 1098"/>
                <a:gd name="T44" fmla="*/ 1167 w 1559"/>
                <a:gd name="T45" fmla="*/ 973 h 1098"/>
                <a:gd name="T46" fmla="*/ 1106 w 1559"/>
                <a:gd name="T47" fmla="*/ 775 h 1098"/>
                <a:gd name="T48" fmla="*/ 1141 w 1559"/>
                <a:gd name="T49" fmla="*/ 661 h 1098"/>
                <a:gd name="T50" fmla="*/ 1181 w 1559"/>
                <a:gd name="T51" fmla="*/ 691 h 1098"/>
                <a:gd name="T52" fmla="*/ 1229 w 1559"/>
                <a:gd name="T53" fmla="*/ 964 h 1098"/>
                <a:gd name="T54" fmla="*/ 1321 w 1559"/>
                <a:gd name="T55" fmla="*/ 1043 h 1098"/>
                <a:gd name="T56" fmla="*/ 1524 w 1559"/>
                <a:gd name="T57" fmla="*/ 1004 h 1098"/>
                <a:gd name="T58" fmla="*/ 1537 w 1559"/>
                <a:gd name="T59" fmla="*/ 819 h 1098"/>
                <a:gd name="T60" fmla="*/ 1484 w 1559"/>
                <a:gd name="T61" fmla="*/ 749 h 1098"/>
                <a:gd name="T62" fmla="*/ 1330 w 1559"/>
                <a:gd name="T63" fmla="*/ 494 h 1098"/>
                <a:gd name="T64" fmla="*/ 1216 w 1559"/>
                <a:gd name="T65" fmla="*/ 353 h 1098"/>
                <a:gd name="T66" fmla="*/ 1027 w 1559"/>
                <a:gd name="T67" fmla="*/ 203 h 1098"/>
                <a:gd name="T68" fmla="*/ 974 w 1559"/>
                <a:gd name="T69" fmla="*/ 137 h 1098"/>
                <a:gd name="T70" fmla="*/ 1009 w 1559"/>
                <a:gd name="T71" fmla="*/ 1 h 1098"/>
                <a:gd name="T72" fmla="*/ 1141 w 1559"/>
                <a:gd name="T73" fmla="*/ 32 h 109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559"/>
                <a:gd name="T112" fmla="*/ 0 h 1098"/>
                <a:gd name="T113" fmla="*/ 1559 w 1559"/>
                <a:gd name="T114" fmla="*/ 1098 h 109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559" h="1098">
                  <a:moveTo>
                    <a:pt x="644" y="45"/>
                  </a:moveTo>
                  <a:cubicBezTo>
                    <a:pt x="634" y="76"/>
                    <a:pt x="596" y="102"/>
                    <a:pt x="569" y="120"/>
                  </a:cubicBezTo>
                  <a:cubicBezTo>
                    <a:pt x="552" y="148"/>
                    <a:pt x="513" y="163"/>
                    <a:pt x="486" y="181"/>
                  </a:cubicBezTo>
                  <a:cubicBezTo>
                    <a:pt x="438" y="214"/>
                    <a:pt x="389" y="245"/>
                    <a:pt x="341" y="278"/>
                  </a:cubicBezTo>
                  <a:cubicBezTo>
                    <a:pt x="293" y="311"/>
                    <a:pt x="254" y="357"/>
                    <a:pt x="209" y="392"/>
                  </a:cubicBezTo>
                  <a:cubicBezTo>
                    <a:pt x="186" y="410"/>
                    <a:pt x="157" y="431"/>
                    <a:pt x="139" y="454"/>
                  </a:cubicBezTo>
                  <a:cubicBezTo>
                    <a:pt x="119" y="480"/>
                    <a:pt x="100" y="514"/>
                    <a:pt x="77" y="537"/>
                  </a:cubicBezTo>
                  <a:cubicBezTo>
                    <a:pt x="68" y="569"/>
                    <a:pt x="81" y="532"/>
                    <a:pt x="59" y="564"/>
                  </a:cubicBezTo>
                  <a:cubicBezTo>
                    <a:pt x="44" y="585"/>
                    <a:pt x="35" y="612"/>
                    <a:pt x="20" y="634"/>
                  </a:cubicBezTo>
                  <a:cubicBezTo>
                    <a:pt x="0" y="707"/>
                    <a:pt x="10" y="726"/>
                    <a:pt x="15" y="836"/>
                  </a:cubicBezTo>
                  <a:cubicBezTo>
                    <a:pt x="18" y="899"/>
                    <a:pt x="58" y="937"/>
                    <a:pt x="108" y="968"/>
                  </a:cubicBezTo>
                  <a:cubicBezTo>
                    <a:pt x="148" y="993"/>
                    <a:pt x="137" y="1005"/>
                    <a:pt x="191" y="1012"/>
                  </a:cubicBezTo>
                  <a:cubicBezTo>
                    <a:pt x="242" y="1009"/>
                    <a:pt x="255" y="1013"/>
                    <a:pt x="292" y="999"/>
                  </a:cubicBezTo>
                  <a:cubicBezTo>
                    <a:pt x="316" y="976"/>
                    <a:pt x="327" y="959"/>
                    <a:pt x="345" y="933"/>
                  </a:cubicBezTo>
                  <a:cubicBezTo>
                    <a:pt x="351" y="914"/>
                    <a:pt x="356" y="895"/>
                    <a:pt x="363" y="876"/>
                  </a:cubicBezTo>
                  <a:cubicBezTo>
                    <a:pt x="361" y="854"/>
                    <a:pt x="361" y="832"/>
                    <a:pt x="358" y="810"/>
                  </a:cubicBezTo>
                  <a:cubicBezTo>
                    <a:pt x="354" y="781"/>
                    <a:pt x="333" y="758"/>
                    <a:pt x="323" y="731"/>
                  </a:cubicBezTo>
                  <a:cubicBezTo>
                    <a:pt x="325" y="719"/>
                    <a:pt x="322" y="706"/>
                    <a:pt x="328" y="696"/>
                  </a:cubicBezTo>
                  <a:cubicBezTo>
                    <a:pt x="339" y="678"/>
                    <a:pt x="371" y="673"/>
                    <a:pt x="389" y="669"/>
                  </a:cubicBezTo>
                  <a:cubicBezTo>
                    <a:pt x="401" y="671"/>
                    <a:pt x="413" y="670"/>
                    <a:pt x="424" y="674"/>
                  </a:cubicBezTo>
                  <a:cubicBezTo>
                    <a:pt x="443" y="682"/>
                    <a:pt x="444" y="740"/>
                    <a:pt x="446" y="753"/>
                  </a:cubicBezTo>
                  <a:cubicBezTo>
                    <a:pt x="447" y="797"/>
                    <a:pt x="424" y="998"/>
                    <a:pt x="508" y="1043"/>
                  </a:cubicBezTo>
                  <a:cubicBezTo>
                    <a:pt x="528" y="1054"/>
                    <a:pt x="552" y="1054"/>
                    <a:pt x="574" y="1056"/>
                  </a:cubicBezTo>
                  <a:cubicBezTo>
                    <a:pt x="635" y="1053"/>
                    <a:pt x="657" y="1054"/>
                    <a:pt x="706" y="1039"/>
                  </a:cubicBezTo>
                  <a:cubicBezTo>
                    <a:pt x="738" y="1006"/>
                    <a:pt x="756" y="975"/>
                    <a:pt x="772" y="933"/>
                  </a:cubicBezTo>
                  <a:cubicBezTo>
                    <a:pt x="765" y="899"/>
                    <a:pt x="761" y="849"/>
                    <a:pt x="745" y="819"/>
                  </a:cubicBezTo>
                  <a:cubicBezTo>
                    <a:pt x="734" y="799"/>
                    <a:pt x="738" y="812"/>
                    <a:pt x="723" y="793"/>
                  </a:cubicBezTo>
                  <a:cubicBezTo>
                    <a:pt x="684" y="743"/>
                    <a:pt x="741" y="811"/>
                    <a:pt x="710" y="766"/>
                  </a:cubicBezTo>
                  <a:cubicBezTo>
                    <a:pt x="701" y="753"/>
                    <a:pt x="686" y="738"/>
                    <a:pt x="675" y="727"/>
                  </a:cubicBezTo>
                  <a:cubicBezTo>
                    <a:pt x="662" y="680"/>
                    <a:pt x="626" y="639"/>
                    <a:pt x="605" y="595"/>
                  </a:cubicBezTo>
                  <a:cubicBezTo>
                    <a:pt x="597" y="579"/>
                    <a:pt x="597" y="566"/>
                    <a:pt x="587" y="551"/>
                  </a:cubicBezTo>
                  <a:cubicBezTo>
                    <a:pt x="582" y="532"/>
                    <a:pt x="576" y="514"/>
                    <a:pt x="565" y="498"/>
                  </a:cubicBezTo>
                  <a:cubicBezTo>
                    <a:pt x="562" y="489"/>
                    <a:pt x="556" y="481"/>
                    <a:pt x="556" y="472"/>
                  </a:cubicBezTo>
                  <a:cubicBezTo>
                    <a:pt x="556" y="449"/>
                    <a:pt x="576" y="432"/>
                    <a:pt x="591" y="419"/>
                  </a:cubicBezTo>
                  <a:cubicBezTo>
                    <a:pt x="643" y="376"/>
                    <a:pt x="696" y="362"/>
                    <a:pt x="763" y="353"/>
                  </a:cubicBezTo>
                  <a:cubicBezTo>
                    <a:pt x="812" y="356"/>
                    <a:pt x="835" y="353"/>
                    <a:pt x="873" y="379"/>
                  </a:cubicBezTo>
                  <a:cubicBezTo>
                    <a:pt x="886" y="397"/>
                    <a:pt x="895" y="418"/>
                    <a:pt x="908" y="436"/>
                  </a:cubicBezTo>
                  <a:cubicBezTo>
                    <a:pt x="924" y="492"/>
                    <a:pt x="901" y="564"/>
                    <a:pt x="868" y="612"/>
                  </a:cubicBezTo>
                  <a:cubicBezTo>
                    <a:pt x="862" y="633"/>
                    <a:pt x="853" y="645"/>
                    <a:pt x="846" y="665"/>
                  </a:cubicBezTo>
                  <a:cubicBezTo>
                    <a:pt x="841" y="680"/>
                    <a:pt x="839" y="695"/>
                    <a:pt x="833" y="709"/>
                  </a:cubicBezTo>
                  <a:cubicBezTo>
                    <a:pt x="827" y="742"/>
                    <a:pt x="817" y="773"/>
                    <a:pt x="811" y="806"/>
                  </a:cubicBezTo>
                  <a:cubicBezTo>
                    <a:pt x="813" y="844"/>
                    <a:pt x="813" y="882"/>
                    <a:pt x="816" y="920"/>
                  </a:cubicBezTo>
                  <a:cubicBezTo>
                    <a:pt x="820" y="977"/>
                    <a:pt x="870" y="1042"/>
                    <a:pt x="921" y="1065"/>
                  </a:cubicBezTo>
                  <a:cubicBezTo>
                    <a:pt x="939" y="1073"/>
                    <a:pt x="960" y="1076"/>
                    <a:pt x="978" y="1083"/>
                  </a:cubicBezTo>
                  <a:cubicBezTo>
                    <a:pt x="1101" y="1078"/>
                    <a:pt x="1091" y="1098"/>
                    <a:pt x="1150" y="1034"/>
                  </a:cubicBezTo>
                  <a:cubicBezTo>
                    <a:pt x="1156" y="1013"/>
                    <a:pt x="1163" y="995"/>
                    <a:pt x="1167" y="973"/>
                  </a:cubicBezTo>
                  <a:cubicBezTo>
                    <a:pt x="1164" y="927"/>
                    <a:pt x="1164" y="870"/>
                    <a:pt x="1141" y="828"/>
                  </a:cubicBezTo>
                  <a:cubicBezTo>
                    <a:pt x="1131" y="810"/>
                    <a:pt x="1116" y="793"/>
                    <a:pt x="1106" y="775"/>
                  </a:cubicBezTo>
                  <a:cubicBezTo>
                    <a:pt x="1097" y="759"/>
                    <a:pt x="1095" y="739"/>
                    <a:pt x="1088" y="722"/>
                  </a:cubicBezTo>
                  <a:cubicBezTo>
                    <a:pt x="1095" y="678"/>
                    <a:pt x="1099" y="670"/>
                    <a:pt x="1141" y="661"/>
                  </a:cubicBezTo>
                  <a:cubicBezTo>
                    <a:pt x="1151" y="662"/>
                    <a:pt x="1163" y="660"/>
                    <a:pt x="1172" y="665"/>
                  </a:cubicBezTo>
                  <a:cubicBezTo>
                    <a:pt x="1180" y="669"/>
                    <a:pt x="1178" y="682"/>
                    <a:pt x="1181" y="691"/>
                  </a:cubicBezTo>
                  <a:cubicBezTo>
                    <a:pt x="1188" y="712"/>
                    <a:pt x="1190" y="726"/>
                    <a:pt x="1203" y="744"/>
                  </a:cubicBezTo>
                  <a:cubicBezTo>
                    <a:pt x="1225" y="814"/>
                    <a:pt x="1208" y="892"/>
                    <a:pt x="1229" y="964"/>
                  </a:cubicBezTo>
                  <a:cubicBezTo>
                    <a:pt x="1235" y="986"/>
                    <a:pt x="1242" y="1014"/>
                    <a:pt x="1264" y="1026"/>
                  </a:cubicBezTo>
                  <a:cubicBezTo>
                    <a:pt x="1277" y="1033"/>
                    <a:pt x="1306" y="1040"/>
                    <a:pt x="1321" y="1043"/>
                  </a:cubicBezTo>
                  <a:cubicBezTo>
                    <a:pt x="1406" y="1040"/>
                    <a:pt x="1420" y="1043"/>
                    <a:pt x="1480" y="1030"/>
                  </a:cubicBezTo>
                  <a:cubicBezTo>
                    <a:pt x="1511" y="1008"/>
                    <a:pt x="1496" y="1016"/>
                    <a:pt x="1524" y="1004"/>
                  </a:cubicBezTo>
                  <a:cubicBezTo>
                    <a:pt x="1543" y="984"/>
                    <a:pt x="1550" y="971"/>
                    <a:pt x="1559" y="946"/>
                  </a:cubicBezTo>
                  <a:cubicBezTo>
                    <a:pt x="1555" y="911"/>
                    <a:pt x="1557" y="850"/>
                    <a:pt x="1537" y="819"/>
                  </a:cubicBezTo>
                  <a:cubicBezTo>
                    <a:pt x="1534" y="814"/>
                    <a:pt x="1527" y="811"/>
                    <a:pt x="1524" y="806"/>
                  </a:cubicBezTo>
                  <a:cubicBezTo>
                    <a:pt x="1508" y="781"/>
                    <a:pt x="1508" y="764"/>
                    <a:pt x="1484" y="749"/>
                  </a:cubicBezTo>
                  <a:cubicBezTo>
                    <a:pt x="1448" y="693"/>
                    <a:pt x="1417" y="632"/>
                    <a:pt x="1387" y="573"/>
                  </a:cubicBezTo>
                  <a:cubicBezTo>
                    <a:pt x="1372" y="544"/>
                    <a:pt x="1349" y="520"/>
                    <a:pt x="1330" y="494"/>
                  </a:cubicBezTo>
                  <a:cubicBezTo>
                    <a:pt x="1314" y="472"/>
                    <a:pt x="1306" y="443"/>
                    <a:pt x="1286" y="423"/>
                  </a:cubicBezTo>
                  <a:cubicBezTo>
                    <a:pt x="1268" y="405"/>
                    <a:pt x="1239" y="365"/>
                    <a:pt x="1216" y="353"/>
                  </a:cubicBezTo>
                  <a:cubicBezTo>
                    <a:pt x="1199" y="344"/>
                    <a:pt x="1182" y="333"/>
                    <a:pt x="1167" y="322"/>
                  </a:cubicBezTo>
                  <a:cubicBezTo>
                    <a:pt x="1116" y="286"/>
                    <a:pt x="1072" y="245"/>
                    <a:pt x="1027" y="203"/>
                  </a:cubicBezTo>
                  <a:cubicBezTo>
                    <a:pt x="1014" y="191"/>
                    <a:pt x="1002" y="178"/>
                    <a:pt x="992" y="164"/>
                  </a:cubicBezTo>
                  <a:cubicBezTo>
                    <a:pt x="985" y="155"/>
                    <a:pt x="980" y="146"/>
                    <a:pt x="974" y="137"/>
                  </a:cubicBezTo>
                  <a:cubicBezTo>
                    <a:pt x="971" y="133"/>
                    <a:pt x="965" y="124"/>
                    <a:pt x="965" y="124"/>
                  </a:cubicBezTo>
                  <a:cubicBezTo>
                    <a:pt x="953" y="73"/>
                    <a:pt x="953" y="11"/>
                    <a:pt x="1009" y="1"/>
                  </a:cubicBezTo>
                  <a:cubicBezTo>
                    <a:pt x="1081" y="4"/>
                    <a:pt x="1078" y="0"/>
                    <a:pt x="1123" y="14"/>
                  </a:cubicBezTo>
                  <a:cubicBezTo>
                    <a:pt x="1137" y="23"/>
                    <a:pt x="1159" y="22"/>
                    <a:pt x="1141" y="32"/>
                  </a:cubicBezTo>
                </a:path>
              </a:pathLst>
            </a:custGeom>
            <a:noFill/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448" name="Text Box 116"/>
            <p:cNvSpPr txBox="1">
              <a:spLocks noChangeArrowheads="1"/>
            </p:cNvSpPr>
            <p:nvPr/>
          </p:nvSpPr>
          <p:spPr bwMode="auto">
            <a:xfrm>
              <a:off x="3792" y="3840"/>
              <a:ext cx="1536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rebuchet MS" pitchFamily="34" charset="0"/>
                </a:rPr>
                <a:t>D E B F G C A</a:t>
              </a:r>
            </a:p>
          </p:txBody>
        </p:sp>
      </p:grpSp>
      <p:sp>
        <p:nvSpPr>
          <p:cNvPr id="5" name="Cloud 4"/>
          <p:cNvSpPr/>
          <p:nvPr/>
        </p:nvSpPr>
        <p:spPr>
          <a:xfrm>
            <a:off x="500932" y="8026401"/>
            <a:ext cx="1764506" cy="501648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Preorder</a:t>
            </a:r>
            <a:endParaRPr lang="en-SG" sz="1400" dirty="0"/>
          </a:p>
        </p:txBody>
      </p:sp>
      <p:sp>
        <p:nvSpPr>
          <p:cNvPr id="122" name="Cloud 121"/>
          <p:cNvSpPr/>
          <p:nvPr/>
        </p:nvSpPr>
        <p:spPr>
          <a:xfrm>
            <a:off x="2685462" y="8493153"/>
            <a:ext cx="1764506" cy="501648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Inorder</a:t>
            </a:r>
            <a:endParaRPr lang="en-SG" sz="1400" dirty="0"/>
          </a:p>
        </p:txBody>
      </p:sp>
      <p:sp>
        <p:nvSpPr>
          <p:cNvPr id="123" name="Cloud 122"/>
          <p:cNvSpPr/>
          <p:nvPr/>
        </p:nvSpPr>
        <p:spPr>
          <a:xfrm>
            <a:off x="4642126" y="7767110"/>
            <a:ext cx="1764506" cy="501648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Postorder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51570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bldLvl="5" autoUpdateAnimBg="0"/>
      <p:bldP spid="28676" grpId="0" build="p" bldLvl="4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Tree traversals 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0348" y="1277357"/>
            <a:ext cx="6059722" cy="6913563"/>
          </a:xfrm>
        </p:spPr>
        <p:txBody>
          <a:bodyPr/>
          <a:lstStyle/>
          <a:p>
            <a:r>
              <a:rPr lang="en-GB" dirty="0"/>
              <a:t>Animation explaining the tree traversal orders:</a:t>
            </a:r>
          </a:p>
          <a:p>
            <a:pPr lvl="1"/>
            <a:r>
              <a:rPr lang="en-GB" dirty="0" err="1"/>
              <a:t>Preorder</a:t>
            </a:r>
            <a:endParaRPr lang="en-GB" dirty="0"/>
          </a:p>
          <a:p>
            <a:pPr lvl="1"/>
            <a:r>
              <a:rPr lang="en-GB" dirty="0" err="1"/>
              <a:t>Inorder</a:t>
            </a:r>
            <a:endParaRPr lang="en-GB" dirty="0"/>
          </a:p>
          <a:p>
            <a:pPr lvl="1"/>
            <a:r>
              <a:rPr lang="en-GB" dirty="0" err="1"/>
              <a:t>Postorder</a:t>
            </a:r>
            <a:endParaRPr lang="en-GB" dirty="0"/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SG" dirty="0">
              <a:hlinkClick r:id="rId2"/>
            </a:endParaRPr>
          </a:p>
          <a:p>
            <a:r>
              <a:rPr lang="en-SG" u="sng" dirty="0">
                <a:hlinkClick r:id="rId2"/>
              </a:rPr>
              <a:t>http://nova.umuc.edu/~jarc/idsv/lesson1.html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486192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idx="1"/>
          </p:nvPr>
        </p:nvSpPr>
        <p:spPr>
          <a:xfrm>
            <a:off x="463550" y="1181128"/>
            <a:ext cx="5734050" cy="2114522"/>
          </a:xfrm>
          <a:noFill/>
          <a:ln/>
        </p:spPr>
        <p:txBody>
          <a:bodyPr/>
          <a:lstStyle/>
          <a:p>
            <a:pPr>
              <a:lnSpc>
                <a:spcPct val="100000"/>
              </a:lnSpc>
              <a:buFontTx/>
              <a:buNone/>
            </a:pPr>
            <a:r>
              <a:rPr lang="en-US" sz="2000" dirty="0"/>
              <a:t>Traverse the tree in preorder, </a:t>
            </a:r>
            <a:r>
              <a:rPr lang="en-US" sz="2000" dirty="0" err="1"/>
              <a:t>inorder</a:t>
            </a:r>
            <a:r>
              <a:rPr lang="en-US" sz="2000" dirty="0"/>
              <a:t> and </a:t>
            </a:r>
            <a:r>
              <a:rPr lang="en-US" sz="2000" dirty="0" err="1"/>
              <a:t>postorder</a:t>
            </a:r>
            <a:r>
              <a:rPr lang="en-US" sz="2000" dirty="0"/>
              <a:t>.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129027" name="Picture 3"/>
          <p:cNvPicPr>
            <a:picLocks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428604" y="3071802"/>
            <a:ext cx="6172200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9028" name="Rectangle 4"/>
          <p:cNvSpPr>
            <a:spLocks noChangeArrowheads="1"/>
          </p:cNvSpPr>
          <p:nvPr/>
        </p:nvSpPr>
        <p:spPr bwMode="auto">
          <a:xfrm>
            <a:off x="1066800" y="2085964"/>
            <a:ext cx="2647952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 defTabSz="457200"/>
            <a:r>
              <a:rPr lang="en-US" sz="2400" dirty="0">
                <a:solidFill>
                  <a:srgbClr val="000000"/>
                </a:solidFill>
              </a:rPr>
              <a:t>Preorder (VLR) :</a:t>
            </a:r>
          </a:p>
          <a:p>
            <a:pPr algn="l" defTabSz="457200"/>
            <a:r>
              <a:rPr lang="en-US" sz="2400" dirty="0" err="1">
                <a:solidFill>
                  <a:srgbClr val="000000"/>
                </a:solidFill>
              </a:rPr>
              <a:t>Inorder</a:t>
            </a:r>
            <a:r>
              <a:rPr lang="en-US" sz="2400" dirty="0">
                <a:solidFill>
                  <a:srgbClr val="000000"/>
                </a:solidFill>
              </a:rPr>
              <a:t> (LVR) :</a:t>
            </a:r>
          </a:p>
          <a:p>
            <a:pPr algn="l" defTabSz="457200"/>
            <a:r>
              <a:rPr lang="en-US" sz="2400" dirty="0" err="1">
                <a:solidFill>
                  <a:srgbClr val="000000"/>
                </a:solidFill>
              </a:rPr>
              <a:t>Postorder</a:t>
            </a:r>
            <a:r>
              <a:rPr lang="en-US" sz="2400" dirty="0">
                <a:solidFill>
                  <a:srgbClr val="000000"/>
                </a:solidFill>
              </a:rPr>
              <a:t> (LRV):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Try this exercise</a:t>
            </a:r>
          </a:p>
        </p:txBody>
      </p:sp>
      <p:sp>
        <p:nvSpPr>
          <p:cNvPr id="2" name="Rectangle 1"/>
          <p:cNvSpPr/>
          <p:nvPr/>
        </p:nvSpPr>
        <p:spPr>
          <a:xfrm>
            <a:off x="215899" y="7434252"/>
            <a:ext cx="6543675" cy="12858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eaLnBrk="0" hangingPunct="0"/>
            <a:r>
              <a:rPr lang="en-US" b="1" dirty="0">
                <a:solidFill>
                  <a:schemeClr val="tx1"/>
                </a:solidFill>
                <a:latin typeface="Arial" charset="0"/>
              </a:rPr>
              <a:t>Preorder (VLR): 14,4,3,9,7,5,15,18,16,17,20</a:t>
            </a:r>
          </a:p>
          <a:p>
            <a:pPr eaLnBrk="0" hangingPunct="0"/>
            <a:r>
              <a:rPr lang="en-US" dirty="0" err="1">
                <a:solidFill>
                  <a:schemeClr val="tx1"/>
                </a:solidFill>
                <a:latin typeface="Arial" charset="0"/>
              </a:rPr>
              <a:t>Inorder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 (LVR):3,4,5,7,9,14,15,16,17,18,20</a:t>
            </a:r>
          </a:p>
          <a:p>
            <a:pPr eaLnBrk="0" hangingPunct="0"/>
            <a:r>
              <a:rPr lang="en-US" dirty="0" err="1">
                <a:solidFill>
                  <a:schemeClr val="tx1"/>
                </a:solidFill>
                <a:latin typeface="Arial" charset="0"/>
              </a:rPr>
              <a:t>Postorder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(LRV):3,5,7,9,4,17,16,20,18,15,14 </a:t>
            </a:r>
            <a:endParaRPr lang="en-US" b="1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4391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 sz="2400" dirty="0">
                <a:solidFill>
                  <a:srgbClr val="000000"/>
                </a:solidFill>
              </a:rPr>
              <a:t>When we traverse a </a:t>
            </a:r>
            <a:r>
              <a:rPr lang="en-GB" sz="2400" i="1" dirty="0">
                <a:solidFill>
                  <a:srgbClr val="000000"/>
                </a:solidFill>
              </a:rPr>
              <a:t>sorted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binary tree in </a:t>
            </a:r>
            <a:r>
              <a:rPr lang="en-US" sz="2400" dirty="0" err="1">
                <a:solidFill>
                  <a:srgbClr val="000000"/>
                </a:solidFill>
              </a:rPr>
              <a:t>inorder</a:t>
            </a:r>
            <a:r>
              <a:rPr lang="en-US" sz="2400" dirty="0">
                <a:solidFill>
                  <a:srgbClr val="000000"/>
                </a:solidFill>
              </a:rPr>
              <a:t> (LVR), the numbers are in ascending order.</a:t>
            </a:r>
          </a:p>
          <a:p>
            <a:r>
              <a:rPr lang="en-US" sz="2400" dirty="0"/>
              <a:t>In a sorted binary tree, the </a:t>
            </a:r>
            <a:r>
              <a:rPr lang="en-US" sz="2400" dirty="0" err="1"/>
              <a:t>subtree</a:t>
            </a:r>
            <a:r>
              <a:rPr lang="en-US" sz="2400" dirty="0"/>
              <a:t> on the left contains nodes that are less than or equal to the root; those on the right </a:t>
            </a:r>
            <a:r>
              <a:rPr lang="en-US" sz="2400" dirty="0" err="1"/>
              <a:t>subtree</a:t>
            </a:r>
            <a:r>
              <a:rPr lang="en-US" sz="2400" dirty="0"/>
              <a:t> are greater.</a:t>
            </a:r>
          </a:p>
          <a:p>
            <a:endParaRPr lang="en-US" sz="2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Sorted Binary Tree</a:t>
            </a:r>
          </a:p>
        </p:txBody>
      </p:sp>
    </p:spTree>
    <p:extLst>
      <p:ext uri="{BB962C8B-B14F-4D97-AF65-F5344CB8AC3E}">
        <p14:creationId xmlns:p14="http://schemas.microsoft.com/office/powerpoint/2010/main" val="2768394434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Sorted Binary 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50" y="1327356"/>
            <a:ext cx="6038850" cy="7205458"/>
          </a:xfrm>
        </p:spPr>
        <p:txBody>
          <a:bodyPr/>
          <a:lstStyle/>
          <a:p>
            <a:r>
              <a:rPr lang="en-US" dirty="0"/>
              <a:t>An Interactive lesson:</a:t>
            </a:r>
          </a:p>
          <a:p>
            <a:pPr>
              <a:buFontTx/>
              <a:buNone/>
            </a:pPr>
            <a:r>
              <a:rPr lang="en-US" dirty="0"/>
              <a:t>1. Visit this lesson </a:t>
            </a:r>
            <a:r>
              <a:rPr lang="en-GB" dirty="0">
                <a:hlinkClick r:id="rId2"/>
              </a:rPr>
              <a:t>https://www.cs.usfca.edu/~galles/visualization/BST.html</a:t>
            </a:r>
            <a:endParaRPr lang="en-GB" dirty="0"/>
          </a:p>
          <a:p>
            <a:pPr>
              <a:buNone/>
            </a:pPr>
            <a:r>
              <a:rPr lang="en-GB" dirty="0"/>
              <a:t>2.</a:t>
            </a:r>
            <a:r>
              <a:rPr lang="en-US" dirty="0"/>
              <a:t> Explore how to insert value, delete value and find value in a Binary Tree.</a:t>
            </a:r>
          </a:p>
          <a:p>
            <a:pPr>
              <a:buFontTx/>
              <a:buNone/>
            </a:pPr>
            <a:r>
              <a:rPr lang="en-GB" dirty="0"/>
              <a:t>3. Build a sorted binary as shown in the figure 1 (next slide).</a:t>
            </a:r>
          </a:p>
          <a:p>
            <a:pPr>
              <a:buFontTx/>
              <a:buNone/>
            </a:pPr>
            <a:r>
              <a:rPr lang="en-GB" dirty="0"/>
              <a:t>4. You need to insert  values “Mary”, “Fred”, “Tim” … “Zen”</a:t>
            </a:r>
          </a:p>
          <a:p>
            <a:pPr>
              <a:buFontTx/>
              <a:buNone/>
            </a:pPr>
            <a:r>
              <a:rPr lang="en-GB" dirty="0"/>
              <a:t>5. Observe how value is added into the binary tree</a:t>
            </a:r>
          </a:p>
          <a:p>
            <a:pPr>
              <a:buFontTx/>
              <a:buNone/>
            </a:pPr>
            <a:r>
              <a:rPr lang="en-GB" dirty="0"/>
              <a:t>6. You may explore Delete and Find functions too.</a:t>
            </a:r>
          </a:p>
          <a:p>
            <a:pPr>
              <a:buFontTx/>
              <a:buNone/>
            </a:pPr>
            <a:endParaRPr lang="en-GB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672362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Oval 2"/>
          <p:cNvSpPr>
            <a:spLocks noChangeArrowheads="1"/>
          </p:cNvSpPr>
          <p:nvPr/>
        </p:nvSpPr>
        <p:spPr bwMode="auto">
          <a:xfrm>
            <a:off x="2862263" y="1211263"/>
            <a:ext cx="660398" cy="398462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Mary</a:t>
            </a:r>
            <a:endParaRPr lang="en-GB" sz="1200"/>
          </a:p>
        </p:txBody>
      </p:sp>
      <p:sp>
        <p:nvSpPr>
          <p:cNvPr id="148483" name="Oval 3"/>
          <p:cNvSpPr>
            <a:spLocks noChangeArrowheads="1"/>
          </p:cNvSpPr>
          <p:nvPr/>
        </p:nvSpPr>
        <p:spPr bwMode="auto">
          <a:xfrm>
            <a:off x="1122363" y="2103438"/>
            <a:ext cx="660398" cy="398462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Fred</a:t>
            </a:r>
            <a:endParaRPr lang="en-GB" sz="1200"/>
          </a:p>
        </p:txBody>
      </p:sp>
      <p:sp>
        <p:nvSpPr>
          <p:cNvPr id="148484" name="Oval 4"/>
          <p:cNvSpPr>
            <a:spLocks noChangeArrowheads="1"/>
          </p:cNvSpPr>
          <p:nvPr/>
        </p:nvSpPr>
        <p:spPr bwMode="auto">
          <a:xfrm>
            <a:off x="692150" y="2844800"/>
            <a:ext cx="660400" cy="39846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Dan</a:t>
            </a:r>
            <a:endParaRPr lang="en-GB" sz="1200"/>
          </a:p>
        </p:txBody>
      </p:sp>
      <p:sp>
        <p:nvSpPr>
          <p:cNvPr id="148485" name="Oval 5"/>
          <p:cNvSpPr>
            <a:spLocks noChangeArrowheads="1"/>
          </p:cNvSpPr>
          <p:nvPr/>
        </p:nvSpPr>
        <p:spPr bwMode="auto">
          <a:xfrm>
            <a:off x="1989138" y="2844800"/>
            <a:ext cx="660398" cy="39846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Harry</a:t>
            </a:r>
            <a:endParaRPr lang="en-GB" sz="1200"/>
          </a:p>
        </p:txBody>
      </p:sp>
      <p:sp>
        <p:nvSpPr>
          <p:cNvPr id="148486" name="Oval 6"/>
          <p:cNvSpPr>
            <a:spLocks noChangeArrowheads="1"/>
          </p:cNvSpPr>
          <p:nvPr/>
        </p:nvSpPr>
        <p:spPr bwMode="auto">
          <a:xfrm>
            <a:off x="260350" y="3641725"/>
            <a:ext cx="660400" cy="39846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Alan</a:t>
            </a:r>
            <a:endParaRPr lang="en-GB" sz="1200"/>
          </a:p>
        </p:txBody>
      </p:sp>
      <p:sp>
        <p:nvSpPr>
          <p:cNvPr id="148487" name="Oval 7"/>
          <p:cNvSpPr>
            <a:spLocks noChangeArrowheads="1"/>
          </p:cNvSpPr>
          <p:nvPr/>
        </p:nvSpPr>
        <p:spPr bwMode="auto">
          <a:xfrm>
            <a:off x="981075" y="3641725"/>
            <a:ext cx="660400" cy="39846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Ed</a:t>
            </a:r>
            <a:endParaRPr lang="en-GB" sz="1200"/>
          </a:p>
        </p:txBody>
      </p:sp>
      <p:sp>
        <p:nvSpPr>
          <p:cNvPr id="148488" name="Oval 8"/>
          <p:cNvSpPr>
            <a:spLocks noChangeArrowheads="1"/>
          </p:cNvSpPr>
          <p:nvPr/>
        </p:nvSpPr>
        <p:spPr bwMode="auto">
          <a:xfrm>
            <a:off x="1700213" y="3641725"/>
            <a:ext cx="660398" cy="39846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Greg</a:t>
            </a:r>
            <a:endParaRPr lang="en-GB" sz="1200"/>
          </a:p>
        </p:txBody>
      </p:sp>
      <p:sp>
        <p:nvSpPr>
          <p:cNvPr id="148489" name="Oval 9"/>
          <p:cNvSpPr>
            <a:spLocks noChangeArrowheads="1"/>
          </p:cNvSpPr>
          <p:nvPr/>
        </p:nvSpPr>
        <p:spPr bwMode="auto">
          <a:xfrm>
            <a:off x="2587625" y="3641725"/>
            <a:ext cx="660400" cy="39846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Keith</a:t>
            </a:r>
            <a:endParaRPr lang="en-GB" sz="1200"/>
          </a:p>
        </p:txBody>
      </p:sp>
      <p:sp>
        <p:nvSpPr>
          <p:cNvPr id="148490" name="Oval 10"/>
          <p:cNvSpPr>
            <a:spLocks noChangeArrowheads="1"/>
          </p:cNvSpPr>
          <p:nvPr/>
        </p:nvSpPr>
        <p:spPr bwMode="auto">
          <a:xfrm>
            <a:off x="4768850" y="2046288"/>
            <a:ext cx="660400" cy="398462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Tim</a:t>
            </a:r>
            <a:endParaRPr lang="en-GB" sz="1200"/>
          </a:p>
        </p:txBody>
      </p:sp>
      <p:sp>
        <p:nvSpPr>
          <p:cNvPr id="148491" name="Oval 11"/>
          <p:cNvSpPr>
            <a:spLocks noChangeArrowheads="1"/>
          </p:cNvSpPr>
          <p:nvPr/>
        </p:nvSpPr>
        <p:spPr bwMode="auto">
          <a:xfrm>
            <a:off x="3976688" y="2776538"/>
            <a:ext cx="660398" cy="398462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Pete</a:t>
            </a:r>
            <a:endParaRPr lang="en-GB" sz="1200"/>
          </a:p>
        </p:txBody>
      </p:sp>
      <p:sp>
        <p:nvSpPr>
          <p:cNvPr id="148492" name="Oval 12"/>
          <p:cNvSpPr>
            <a:spLocks noChangeArrowheads="1"/>
          </p:cNvSpPr>
          <p:nvPr/>
        </p:nvSpPr>
        <p:spPr bwMode="auto">
          <a:xfrm>
            <a:off x="5589588" y="2776538"/>
            <a:ext cx="660398" cy="398462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Harry</a:t>
            </a:r>
            <a:endParaRPr lang="en-GB" sz="1200"/>
          </a:p>
        </p:txBody>
      </p:sp>
      <p:sp>
        <p:nvSpPr>
          <p:cNvPr id="148493" name="Oval 13"/>
          <p:cNvSpPr>
            <a:spLocks noChangeArrowheads="1"/>
          </p:cNvSpPr>
          <p:nvPr/>
        </p:nvSpPr>
        <p:spPr bwMode="auto">
          <a:xfrm>
            <a:off x="3468688" y="3536950"/>
            <a:ext cx="660398" cy="39846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Nas</a:t>
            </a:r>
            <a:endParaRPr lang="en-GB" sz="1200"/>
          </a:p>
        </p:txBody>
      </p:sp>
      <p:sp>
        <p:nvSpPr>
          <p:cNvPr id="148494" name="Oval 14"/>
          <p:cNvSpPr>
            <a:spLocks noChangeArrowheads="1"/>
          </p:cNvSpPr>
          <p:nvPr/>
        </p:nvSpPr>
        <p:spPr bwMode="auto">
          <a:xfrm>
            <a:off x="4437063" y="3508375"/>
            <a:ext cx="660398" cy="39846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Sed</a:t>
            </a:r>
            <a:endParaRPr lang="en-GB" sz="1200"/>
          </a:p>
        </p:txBody>
      </p:sp>
      <p:sp>
        <p:nvSpPr>
          <p:cNvPr id="148495" name="Oval 15"/>
          <p:cNvSpPr>
            <a:spLocks noChangeArrowheads="1"/>
          </p:cNvSpPr>
          <p:nvPr/>
        </p:nvSpPr>
        <p:spPr bwMode="auto">
          <a:xfrm>
            <a:off x="5157788" y="3508375"/>
            <a:ext cx="660398" cy="39846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Walt</a:t>
            </a:r>
            <a:endParaRPr lang="en-GB" sz="1200"/>
          </a:p>
        </p:txBody>
      </p:sp>
      <p:sp>
        <p:nvSpPr>
          <p:cNvPr id="148496" name="Oval 16"/>
          <p:cNvSpPr>
            <a:spLocks noChangeArrowheads="1"/>
          </p:cNvSpPr>
          <p:nvPr/>
        </p:nvSpPr>
        <p:spPr bwMode="auto">
          <a:xfrm>
            <a:off x="6092825" y="3508375"/>
            <a:ext cx="660400" cy="39846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Zen</a:t>
            </a:r>
            <a:endParaRPr lang="en-GB" sz="1200"/>
          </a:p>
        </p:txBody>
      </p:sp>
      <p:sp>
        <p:nvSpPr>
          <p:cNvPr id="148497" name="Line 17"/>
          <p:cNvSpPr>
            <a:spLocks noChangeShapeType="1"/>
          </p:cNvSpPr>
          <p:nvPr/>
        </p:nvSpPr>
        <p:spPr bwMode="auto">
          <a:xfrm flipH="1">
            <a:off x="1700211" y="1447800"/>
            <a:ext cx="1234243" cy="7318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498" name="Line 18"/>
          <p:cNvSpPr>
            <a:spLocks noChangeShapeType="1"/>
          </p:cNvSpPr>
          <p:nvPr/>
        </p:nvSpPr>
        <p:spPr bwMode="auto">
          <a:xfrm flipH="1">
            <a:off x="765252" y="2446338"/>
            <a:ext cx="549122" cy="463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499" name="Line 19"/>
          <p:cNvSpPr>
            <a:spLocks noChangeShapeType="1"/>
          </p:cNvSpPr>
          <p:nvPr/>
        </p:nvSpPr>
        <p:spPr bwMode="auto">
          <a:xfrm flipH="1">
            <a:off x="476249" y="3243263"/>
            <a:ext cx="549124" cy="398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500" name="Line 20"/>
          <p:cNvSpPr>
            <a:spLocks noChangeShapeType="1"/>
          </p:cNvSpPr>
          <p:nvPr/>
        </p:nvSpPr>
        <p:spPr bwMode="auto">
          <a:xfrm>
            <a:off x="981075" y="3243263"/>
            <a:ext cx="328990" cy="398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501" name="Line 21"/>
          <p:cNvSpPr>
            <a:spLocks noChangeShapeType="1"/>
          </p:cNvSpPr>
          <p:nvPr/>
        </p:nvSpPr>
        <p:spPr bwMode="auto">
          <a:xfrm flipH="1">
            <a:off x="1916112" y="3243263"/>
            <a:ext cx="331408" cy="398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502" name="Line 22"/>
          <p:cNvSpPr>
            <a:spLocks noChangeShapeType="1"/>
          </p:cNvSpPr>
          <p:nvPr/>
        </p:nvSpPr>
        <p:spPr bwMode="auto">
          <a:xfrm>
            <a:off x="2276475" y="3243263"/>
            <a:ext cx="657980" cy="398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503" name="Line 23"/>
          <p:cNvSpPr>
            <a:spLocks noChangeShapeType="1"/>
          </p:cNvSpPr>
          <p:nvPr/>
        </p:nvSpPr>
        <p:spPr bwMode="auto">
          <a:xfrm>
            <a:off x="1700213" y="2446338"/>
            <a:ext cx="660398" cy="398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504" name="Line 24"/>
          <p:cNvSpPr>
            <a:spLocks noChangeShapeType="1"/>
          </p:cNvSpPr>
          <p:nvPr/>
        </p:nvSpPr>
        <p:spPr bwMode="auto">
          <a:xfrm>
            <a:off x="3513136" y="1447799"/>
            <a:ext cx="1516064" cy="59848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505" name="Line 25"/>
          <p:cNvSpPr>
            <a:spLocks noChangeShapeType="1"/>
          </p:cNvSpPr>
          <p:nvPr/>
        </p:nvSpPr>
        <p:spPr bwMode="auto">
          <a:xfrm flipH="1">
            <a:off x="4098320" y="2378076"/>
            <a:ext cx="769256" cy="398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506" name="Line 26"/>
          <p:cNvSpPr>
            <a:spLocks noChangeShapeType="1"/>
          </p:cNvSpPr>
          <p:nvPr/>
        </p:nvSpPr>
        <p:spPr bwMode="auto">
          <a:xfrm flipH="1">
            <a:off x="3933825" y="3175000"/>
            <a:ext cx="328990" cy="40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507" name="Line 27"/>
          <p:cNvSpPr>
            <a:spLocks noChangeShapeType="1"/>
          </p:cNvSpPr>
          <p:nvPr/>
        </p:nvSpPr>
        <p:spPr bwMode="auto">
          <a:xfrm>
            <a:off x="4221163" y="3175000"/>
            <a:ext cx="437846" cy="333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508" name="Line 28"/>
          <p:cNvSpPr>
            <a:spLocks noChangeShapeType="1"/>
          </p:cNvSpPr>
          <p:nvPr/>
        </p:nvSpPr>
        <p:spPr bwMode="auto">
          <a:xfrm flipH="1">
            <a:off x="5373688" y="3175000"/>
            <a:ext cx="549122" cy="333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509" name="Line 29"/>
          <p:cNvSpPr>
            <a:spLocks noChangeShapeType="1"/>
          </p:cNvSpPr>
          <p:nvPr/>
        </p:nvSpPr>
        <p:spPr bwMode="auto">
          <a:xfrm>
            <a:off x="5805488" y="3175000"/>
            <a:ext cx="657980" cy="333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510" name="Line 30"/>
          <p:cNvSpPr>
            <a:spLocks noChangeShapeType="1"/>
          </p:cNvSpPr>
          <p:nvPr/>
        </p:nvSpPr>
        <p:spPr bwMode="auto">
          <a:xfrm>
            <a:off x="5300211" y="2421732"/>
            <a:ext cx="834267" cy="42306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511" name="Oval 31"/>
          <p:cNvSpPr>
            <a:spLocks noChangeArrowheads="1"/>
          </p:cNvSpPr>
          <p:nvPr/>
        </p:nvSpPr>
        <p:spPr bwMode="auto">
          <a:xfrm>
            <a:off x="4076700" y="4173538"/>
            <a:ext cx="660400" cy="398462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sz="1200"/>
              <a:t>Sam</a:t>
            </a:r>
            <a:endParaRPr lang="en-GB" sz="1200"/>
          </a:p>
        </p:txBody>
      </p:sp>
      <p:sp>
        <p:nvSpPr>
          <p:cNvPr id="148512" name="Line 32"/>
          <p:cNvSpPr>
            <a:spLocks noChangeShapeType="1"/>
          </p:cNvSpPr>
          <p:nvPr/>
        </p:nvSpPr>
        <p:spPr bwMode="auto">
          <a:xfrm flipH="1">
            <a:off x="4437063" y="3906838"/>
            <a:ext cx="220132" cy="331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513" name="Text Box 33"/>
          <p:cNvSpPr txBox="1">
            <a:spLocks noChangeArrowheads="1"/>
          </p:cNvSpPr>
          <p:nvPr/>
        </p:nvSpPr>
        <p:spPr bwMode="auto">
          <a:xfrm>
            <a:off x="692150" y="4734495"/>
            <a:ext cx="5832475" cy="386259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"/>
              </a:spcBef>
              <a:buClr>
                <a:schemeClr val="hlink"/>
              </a:buClr>
            </a:pPr>
            <a:r>
              <a:rPr lang="en-US" sz="2000" dirty="0"/>
              <a:t>Here is the algorithm for insertion:</a:t>
            </a:r>
          </a:p>
          <a:p>
            <a:pPr marL="466725" indent="-466725" algn="l">
              <a:spcBef>
                <a:spcPct val="5000"/>
              </a:spcBef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000" dirty="0"/>
              <a:t>Insert “Sam” into the tree</a:t>
            </a:r>
          </a:p>
          <a:p>
            <a:pPr marL="466725" indent="-466725" algn="l">
              <a:spcBef>
                <a:spcPct val="5000"/>
              </a:spcBef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000" dirty="0"/>
              <a:t>Compare Sam to Mary – Sam &gt; Mary so follow the right child pointer to Tim</a:t>
            </a:r>
          </a:p>
          <a:p>
            <a:pPr marL="466725" indent="-466725" algn="l">
              <a:spcBef>
                <a:spcPct val="5000"/>
              </a:spcBef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000" dirty="0"/>
              <a:t>Compare Sam to Tim – Sam &lt; Tim, so follow the left child to Pete.</a:t>
            </a:r>
          </a:p>
          <a:p>
            <a:pPr marL="466725" indent="-466725" algn="l">
              <a:spcBef>
                <a:spcPct val="5000"/>
              </a:spcBef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000" dirty="0"/>
              <a:t>Sam is &gt; Pete, so follow right child pointer to Sed.</a:t>
            </a:r>
          </a:p>
          <a:p>
            <a:pPr marL="466725" indent="-466725" algn="l">
              <a:spcBef>
                <a:spcPct val="5000"/>
              </a:spcBef>
              <a:buClr>
                <a:schemeClr val="hlink"/>
              </a:buClr>
              <a:buFont typeface="Wingdings" pitchFamily="2" charset="2"/>
              <a:buChar char="q"/>
            </a:pPr>
            <a:r>
              <a:rPr lang="en-US" sz="2000" dirty="0"/>
              <a:t>Sam is a leaf node, so Sam may be added as one of its children.  The left child is chosen because Sam is less than Sed.</a:t>
            </a:r>
            <a:endParaRPr lang="en-GB" sz="2000" dirty="0"/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Sorted Binary Tree</a:t>
            </a:r>
          </a:p>
        </p:txBody>
      </p:sp>
      <p:sp>
        <p:nvSpPr>
          <p:cNvPr id="2" name="Rectangle 1"/>
          <p:cNvSpPr/>
          <p:nvPr/>
        </p:nvSpPr>
        <p:spPr>
          <a:xfrm>
            <a:off x="680781" y="4238625"/>
            <a:ext cx="113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Figure 1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68274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Sample of Binary Tree</a:t>
            </a:r>
            <a:endParaRPr lang="en-S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2962" y="899651"/>
            <a:ext cx="6515037" cy="7595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8463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489" name="Group 33"/>
          <p:cNvGrpSpPr>
            <a:grpSpLocks/>
          </p:cNvGrpSpPr>
          <p:nvPr/>
        </p:nvGrpSpPr>
        <p:grpSpPr bwMode="auto">
          <a:xfrm>
            <a:off x="95125" y="1146174"/>
            <a:ext cx="6686675" cy="3082925"/>
            <a:chOff x="64" y="661"/>
            <a:chExt cx="4047" cy="1884"/>
          </a:xfrm>
        </p:grpSpPr>
        <p:sp>
          <p:nvSpPr>
            <p:cNvPr id="147458" name="Oval 2"/>
            <p:cNvSpPr>
              <a:spLocks noChangeArrowheads="1"/>
            </p:cNvSpPr>
            <p:nvPr/>
          </p:nvSpPr>
          <p:spPr bwMode="auto">
            <a:xfrm>
              <a:off x="1797" y="661"/>
              <a:ext cx="354" cy="25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1200" dirty="0"/>
                <a:t>Mary</a:t>
              </a:r>
              <a:endParaRPr lang="en-GB" sz="1200" dirty="0"/>
            </a:p>
          </p:txBody>
        </p:sp>
        <p:sp>
          <p:nvSpPr>
            <p:cNvPr id="147459" name="Oval 3"/>
            <p:cNvSpPr>
              <a:spLocks noChangeArrowheads="1"/>
            </p:cNvSpPr>
            <p:nvPr/>
          </p:nvSpPr>
          <p:spPr bwMode="auto">
            <a:xfrm>
              <a:off x="761" y="1313"/>
              <a:ext cx="362" cy="25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1200" dirty="0"/>
                <a:t>Fred</a:t>
              </a:r>
              <a:endParaRPr lang="en-GB" sz="1200" dirty="0"/>
            </a:p>
          </p:txBody>
        </p:sp>
        <p:sp>
          <p:nvSpPr>
            <p:cNvPr id="147460" name="Oval 4"/>
            <p:cNvSpPr>
              <a:spLocks noChangeArrowheads="1"/>
            </p:cNvSpPr>
            <p:nvPr/>
          </p:nvSpPr>
          <p:spPr bwMode="auto">
            <a:xfrm>
              <a:off x="436" y="1792"/>
              <a:ext cx="408" cy="25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1200" dirty="0"/>
                <a:t>Dan</a:t>
              </a:r>
              <a:endParaRPr lang="en-GB" sz="1200" dirty="0"/>
            </a:p>
          </p:txBody>
        </p:sp>
        <p:sp>
          <p:nvSpPr>
            <p:cNvPr id="147461" name="Oval 5"/>
            <p:cNvSpPr>
              <a:spLocks noChangeArrowheads="1"/>
            </p:cNvSpPr>
            <p:nvPr/>
          </p:nvSpPr>
          <p:spPr bwMode="auto">
            <a:xfrm>
              <a:off x="1253" y="1792"/>
              <a:ext cx="408" cy="25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1200"/>
                <a:t>Harry</a:t>
              </a:r>
              <a:endParaRPr lang="en-GB" sz="1200"/>
            </a:p>
          </p:txBody>
        </p:sp>
        <p:sp>
          <p:nvSpPr>
            <p:cNvPr id="147462" name="Oval 6"/>
            <p:cNvSpPr>
              <a:spLocks noChangeArrowheads="1"/>
            </p:cNvSpPr>
            <p:nvPr/>
          </p:nvSpPr>
          <p:spPr bwMode="auto">
            <a:xfrm>
              <a:off x="64" y="2294"/>
              <a:ext cx="373" cy="25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1200"/>
                <a:t>Alan</a:t>
              </a:r>
              <a:endParaRPr lang="en-GB" sz="1200"/>
            </a:p>
          </p:txBody>
        </p:sp>
        <p:sp>
          <p:nvSpPr>
            <p:cNvPr id="147463" name="Oval 7"/>
            <p:cNvSpPr>
              <a:spLocks noChangeArrowheads="1"/>
            </p:cNvSpPr>
            <p:nvPr/>
          </p:nvSpPr>
          <p:spPr bwMode="auto">
            <a:xfrm>
              <a:off x="518" y="2294"/>
              <a:ext cx="373" cy="25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1200"/>
                <a:t>Ed</a:t>
              </a:r>
              <a:endParaRPr lang="en-GB" sz="1200"/>
            </a:p>
          </p:txBody>
        </p:sp>
        <p:sp>
          <p:nvSpPr>
            <p:cNvPr id="147464" name="Oval 8"/>
            <p:cNvSpPr>
              <a:spLocks noChangeArrowheads="1"/>
            </p:cNvSpPr>
            <p:nvPr/>
          </p:nvSpPr>
          <p:spPr bwMode="auto">
            <a:xfrm>
              <a:off x="971" y="2294"/>
              <a:ext cx="373" cy="25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1200"/>
                <a:t>Greg</a:t>
              </a:r>
              <a:endParaRPr lang="en-GB" sz="1200"/>
            </a:p>
          </p:txBody>
        </p:sp>
        <p:sp>
          <p:nvSpPr>
            <p:cNvPr id="147465" name="Oval 9"/>
            <p:cNvSpPr>
              <a:spLocks noChangeArrowheads="1"/>
            </p:cNvSpPr>
            <p:nvPr/>
          </p:nvSpPr>
          <p:spPr bwMode="auto">
            <a:xfrm>
              <a:off x="1470" y="2294"/>
              <a:ext cx="373" cy="25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1200"/>
                <a:t>Keith</a:t>
              </a:r>
              <a:endParaRPr lang="en-GB" sz="1200"/>
            </a:p>
          </p:txBody>
        </p:sp>
        <p:sp>
          <p:nvSpPr>
            <p:cNvPr id="147466" name="Oval 10"/>
            <p:cNvSpPr>
              <a:spLocks noChangeArrowheads="1"/>
            </p:cNvSpPr>
            <p:nvPr/>
          </p:nvSpPr>
          <p:spPr bwMode="auto">
            <a:xfrm>
              <a:off x="2914" y="1289"/>
              <a:ext cx="335" cy="25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1200" dirty="0"/>
                <a:t>Tim</a:t>
              </a:r>
              <a:endParaRPr lang="en-GB" sz="1200" dirty="0"/>
            </a:p>
          </p:txBody>
        </p:sp>
        <p:sp>
          <p:nvSpPr>
            <p:cNvPr id="147467" name="Oval 11"/>
            <p:cNvSpPr>
              <a:spLocks noChangeArrowheads="1"/>
            </p:cNvSpPr>
            <p:nvPr/>
          </p:nvSpPr>
          <p:spPr bwMode="auto">
            <a:xfrm>
              <a:off x="2373" y="1761"/>
              <a:ext cx="408" cy="25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1200" dirty="0"/>
                <a:t>Pete</a:t>
              </a:r>
              <a:endParaRPr lang="en-GB" sz="1200" dirty="0"/>
            </a:p>
          </p:txBody>
        </p:sp>
        <p:sp>
          <p:nvSpPr>
            <p:cNvPr id="147468" name="Oval 12"/>
            <p:cNvSpPr>
              <a:spLocks noChangeArrowheads="1"/>
            </p:cNvSpPr>
            <p:nvPr/>
          </p:nvSpPr>
          <p:spPr bwMode="auto">
            <a:xfrm>
              <a:off x="3521" y="1749"/>
              <a:ext cx="408" cy="25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1200"/>
                <a:t>Walt</a:t>
              </a:r>
              <a:endParaRPr lang="en-GB" sz="1200"/>
            </a:p>
          </p:txBody>
        </p:sp>
        <p:sp>
          <p:nvSpPr>
            <p:cNvPr id="147469" name="Oval 13"/>
            <p:cNvSpPr>
              <a:spLocks noChangeArrowheads="1"/>
            </p:cNvSpPr>
            <p:nvPr/>
          </p:nvSpPr>
          <p:spPr bwMode="auto">
            <a:xfrm>
              <a:off x="2151" y="2210"/>
              <a:ext cx="373" cy="25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1200"/>
                <a:t>Nas</a:t>
              </a:r>
              <a:endParaRPr lang="en-GB" sz="1200"/>
            </a:p>
          </p:txBody>
        </p:sp>
        <p:sp>
          <p:nvSpPr>
            <p:cNvPr id="147470" name="Oval 14"/>
            <p:cNvSpPr>
              <a:spLocks noChangeArrowheads="1"/>
            </p:cNvSpPr>
            <p:nvPr/>
          </p:nvSpPr>
          <p:spPr bwMode="auto">
            <a:xfrm>
              <a:off x="2695" y="2210"/>
              <a:ext cx="373" cy="25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1200"/>
                <a:t>Sed</a:t>
              </a:r>
              <a:endParaRPr lang="en-GB" sz="1200"/>
            </a:p>
          </p:txBody>
        </p:sp>
        <p:sp>
          <p:nvSpPr>
            <p:cNvPr id="147471" name="Oval 15"/>
            <p:cNvSpPr>
              <a:spLocks noChangeArrowheads="1"/>
            </p:cNvSpPr>
            <p:nvPr/>
          </p:nvSpPr>
          <p:spPr bwMode="auto">
            <a:xfrm>
              <a:off x="3149" y="2210"/>
              <a:ext cx="373" cy="25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1200"/>
                <a:t>Vios</a:t>
              </a:r>
              <a:endParaRPr lang="en-GB" sz="1200"/>
            </a:p>
          </p:txBody>
        </p:sp>
        <p:sp>
          <p:nvSpPr>
            <p:cNvPr id="147472" name="Oval 16"/>
            <p:cNvSpPr>
              <a:spLocks noChangeArrowheads="1"/>
            </p:cNvSpPr>
            <p:nvPr/>
          </p:nvSpPr>
          <p:spPr bwMode="auto">
            <a:xfrm>
              <a:off x="3738" y="2210"/>
              <a:ext cx="373" cy="25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1200"/>
                <a:t>Zen</a:t>
              </a:r>
              <a:endParaRPr lang="en-GB" sz="1200"/>
            </a:p>
          </p:txBody>
        </p:sp>
        <p:sp>
          <p:nvSpPr>
            <p:cNvPr id="147473" name="Line 17"/>
            <p:cNvSpPr>
              <a:spLocks noChangeShapeType="1"/>
            </p:cNvSpPr>
            <p:nvPr/>
          </p:nvSpPr>
          <p:spPr bwMode="auto">
            <a:xfrm flipH="1">
              <a:off x="1071" y="870"/>
              <a:ext cx="771" cy="5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7474" name="Line 18"/>
            <p:cNvSpPr>
              <a:spLocks noChangeShapeType="1"/>
            </p:cNvSpPr>
            <p:nvPr/>
          </p:nvSpPr>
          <p:spPr bwMode="auto">
            <a:xfrm flipH="1">
              <a:off x="663" y="1541"/>
              <a:ext cx="227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7475" name="Line 19"/>
            <p:cNvSpPr>
              <a:spLocks noChangeShapeType="1"/>
            </p:cNvSpPr>
            <p:nvPr/>
          </p:nvSpPr>
          <p:spPr bwMode="auto">
            <a:xfrm flipH="1">
              <a:off x="300" y="2043"/>
              <a:ext cx="227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7476" name="Line 20"/>
            <p:cNvSpPr>
              <a:spLocks noChangeShapeType="1"/>
            </p:cNvSpPr>
            <p:nvPr/>
          </p:nvSpPr>
          <p:spPr bwMode="auto">
            <a:xfrm>
              <a:off x="618" y="2043"/>
              <a:ext cx="136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7477" name="Line 21"/>
            <p:cNvSpPr>
              <a:spLocks noChangeShapeType="1"/>
            </p:cNvSpPr>
            <p:nvPr/>
          </p:nvSpPr>
          <p:spPr bwMode="auto">
            <a:xfrm flipH="1">
              <a:off x="1207" y="2043"/>
              <a:ext cx="137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7478" name="Line 22"/>
            <p:cNvSpPr>
              <a:spLocks noChangeShapeType="1"/>
            </p:cNvSpPr>
            <p:nvPr/>
          </p:nvSpPr>
          <p:spPr bwMode="auto">
            <a:xfrm>
              <a:off x="1434" y="2043"/>
              <a:ext cx="272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7479" name="Line 23"/>
            <p:cNvSpPr>
              <a:spLocks noChangeShapeType="1"/>
            </p:cNvSpPr>
            <p:nvPr/>
          </p:nvSpPr>
          <p:spPr bwMode="auto">
            <a:xfrm>
              <a:off x="1071" y="1541"/>
              <a:ext cx="273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7480" name="Line 24"/>
            <p:cNvSpPr>
              <a:spLocks noChangeShapeType="1"/>
            </p:cNvSpPr>
            <p:nvPr/>
          </p:nvSpPr>
          <p:spPr bwMode="auto">
            <a:xfrm>
              <a:off x="2069" y="828"/>
              <a:ext cx="907" cy="5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7481" name="Line 25"/>
            <p:cNvSpPr>
              <a:spLocks noChangeShapeType="1"/>
            </p:cNvSpPr>
            <p:nvPr/>
          </p:nvSpPr>
          <p:spPr bwMode="auto">
            <a:xfrm flipH="1">
              <a:off x="2704" y="1541"/>
              <a:ext cx="318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7482" name="Line 26"/>
            <p:cNvSpPr>
              <a:spLocks noChangeShapeType="1"/>
            </p:cNvSpPr>
            <p:nvPr/>
          </p:nvSpPr>
          <p:spPr bwMode="auto">
            <a:xfrm flipH="1">
              <a:off x="2478" y="2000"/>
              <a:ext cx="136" cy="2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7483" name="Line 27"/>
            <p:cNvSpPr>
              <a:spLocks noChangeShapeType="1"/>
            </p:cNvSpPr>
            <p:nvPr/>
          </p:nvSpPr>
          <p:spPr bwMode="auto">
            <a:xfrm>
              <a:off x="2659" y="2000"/>
              <a:ext cx="18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7484" name="Line 28"/>
            <p:cNvSpPr>
              <a:spLocks noChangeShapeType="1"/>
            </p:cNvSpPr>
            <p:nvPr/>
          </p:nvSpPr>
          <p:spPr bwMode="auto">
            <a:xfrm flipH="1">
              <a:off x="3385" y="2000"/>
              <a:ext cx="227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7485" name="Line 29"/>
            <p:cNvSpPr>
              <a:spLocks noChangeShapeType="1"/>
            </p:cNvSpPr>
            <p:nvPr/>
          </p:nvSpPr>
          <p:spPr bwMode="auto">
            <a:xfrm>
              <a:off x="3657" y="2000"/>
              <a:ext cx="272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7486" name="Line 30"/>
            <p:cNvSpPr>
              <a:spLocks noChangeShapeType="1"/>
            </p:cNvSpPr>
            <p:nvPr/>
          </p:nvSpPr>
          <p:spPr bwMode="auto">
            <a:xfrm>
              <a:off x="3113" y="1541"/>
              <a:ext cx="453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147487" name="Text Box 31"/>
          <p:cNvSpPr txBox="1">
            <a:spLocks noChangeArrowheads="1"/>
          </p:cNvSpPr>
          <p:nvPr/>
        </p:nvSpPr>
        <p:spPr bwMode="auto">
          <a:xfrm>
            <a:off x="475532" y="4273550"/>
            <a:ext cx="6036393" cy="480131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Now, apply </a:t>
            </a:r>
            <a:r>
              <a:rPr lang="en-US" sz="1800" b="1" dirty="0"/>
              <a:t>In order traversal</a:t>
            </a:r>
            <a:r>
              <a:rPr lang="en-US" dirty="0"/>
              <a:t>. It </a:t>
            </a:r>
            <a:r>
              <a:rPr lang="en-US" sz="1800" dirty="0"/>
              <a:t>gives the result below:</a:t>
            </a:r>
          </a:p>
          <a:p>
            <a:pPr algn="l"/>
            <a:r>
              <a:rPr lang="en-US" sz="1800" dirty="0"/>
              <a:t>Alan</a:t>
            </a:r>
          </a:p>
          <a:p>
            <a:pPr algn="l"/>
            <a:r>
              <a:rPr lang="en-US" sz="1800" dirty="0"/>
              <a:t>Dan</a:t>
            </a:r>
          </a:p>
          <a:p>
            <a:pPr algn="l"/>
            <a:r>
              <a:rPr lang="en-US" sz="1800" dirty="0"/>
              <a:t>Ed</a:t>
            </a:r>
          </a:p>
          <a:p>
            <a:pPr algn="l"/>
            <a:r>
              <a:rPr lang="en-US" sz="1800" dirty="0"/>
              <a:t>Fred</a:t>
            </a:r>
          </a:p>
          <a:p>
            <a:pPr algn="l"/>
            <a:r>
              <a:rPr lang="en-US" sz="1800" dirty="0"/>
              <a:t>Greg</a:t>
            </a:r>
          </a:p>
          <a:p>
            <a:pPr algn="l"/>
            <a:r>
              <a:rPr lang="en-US" sz="1800" dirty="0"/>
              <a:t>Harry</a:t>
            </a:r>
          </a:p>
          <a:p>
            <a:pPr algn="l"/>
            <a:r>
              <a:rPr lang="en-US" sz="1800" dirty="0"/>
              <a:t>Keith</a:t>
            </a:r>
          </a:p>
          <a:p>
            <a:pPr algn="l"/>
            <a:r>
              <a:rPr lang="en-US" sz="1800" dirty="0"/>
              <a:t>Mary</a:t>
            </a:r>
          </a:p>
          <a:p>
            <a:pPr algn="l"/>
            <a:r>
              <a:rPr lang="en-US" sz="1800" dirty="0" err="1"/>
              <a:t>Nas</a:t>
            </a:r>
            <a:endParaRPr lang="en-US" sz="1800" dirty="0"/>
          </a:p>
          <a:p>
            <a:pPr algn="l"/>
            <a:r>
              <a:rPr lang="en-US" sz="1800" dirty="0"/>
              <a:t>Pete</a:t>
            </a:r>
          </a:p>
          <a:p>
            <a:pPr algn="l"/>
            <a:r>
              <a:rPr lang="en-US" sz="1800" dirty="0" err="1"/>
              <a:t>Sed</a:t>
            </a:r>
            <a:endParaRPr lang="en-US" sz="1800" dirty="0"/>
          </a:p>
          <a:p>
            <a:pPr algn="l"/>
            <a:r>
              <a:rPr lang="en-US" sz="1800" dirty="0"/>
              <a:t>Tim</a:t>
            </a:r>
          </a:p>
          <a:p>
            <a:pPr algn="l"/>
            <a:r>
              <a:rPr lang="en-US" sz="1800" dirty="0" err="1"/>
              <a:t>Vios</a:t>
            </a:r>
            <a:endParaRPr lang="en-US" sz="1800" dirty="0"/>
          </a:p>
          <a:p>
            <a:pPr algn="l"/>
            <a:r>
              <a:rPr lang="en-US" sz="1800" dirty="0"/>
              <a:t>Walt</a:t>
            </a:r>
          </a:p>
          <a:p>
            <a:pPr algn="l"/>
            <a:r>
              <a:rPr lang="en-US" sz="1800" dirty="0"/>
              <a:t>Zen</a:t>
            </a:r>
            <a:endParaRPr lang="en-GB" sz="1800" dirty="0"/>
          </a:p>
        </p:txBody>
      </p:sp>
      <p:sp>
        <p:nvSpPr>
          <p:cNvPr id="147488" name="Text Box 32"/>
          <p:cNvSpPr txBox="1">
            <a:spLocks noChangeArrowheads="1"/>
          </p:cNvSpPr>
          <p:nvPr/>
        </p:nvSpPr>
        <p:spPr bwMode="auto">
          <a:xfrm>
            <a:off x="2437990" y="5384800"/>
            <a:ext cx="4035664" cy="1569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hlink"/>
                </a:solidFill>
              </a:rPr>
              <a:t>Notice the names are in alphabetical order</a:t>
            </a: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463550" y="322263"/>
            <a:ext cx="6048375" cy="7905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Sorted Binary Tree</a:t>
            </a:r>
          </a:p>
        </p:txBody>
      </p:sp>
    </p:spTree>
    <p:extLst>
      <p:ext uri="{BB962C8B-B14F-4D97-AF65-F5344CB8AC3E}">
        <p14:creationId xmlns:p14="http://schemas.microsoft.com/office/powerpoint/2010/main" val="32549700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/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b="1" dirty="0" err="1"/>
              <a:t>System.Collections</a:t>
            </a:r>
            <a:r>
              <a:rPr lang="en-US" sz="2000" b="1" dirty="0"/>
              <a:t> Namespace in MSDN</a:t>
            </a:r>
            <a:endParaRPr lang="en-GB" sz="2000" b="1" dirty="0">
              <a:solidFill>
                <a:srgbClr val="000000"/>
              </a:solidFill>
            </a:endParaRPr>
          </a:p>
          <a:p>
            <a:pPr>
              <a:buNone/>
            </a:pPr>
            <a:r>
              <a:rPr lang="en-GB" sz="1600" dirty="0"/>
              <a:t>The </a:t>
            </a:r>
            <a:r>
              <a:rPr lang="en-GB" sz="1600" dirty="0" err="1"/>
              <a:t>System.Collections</a:t>
            </a:r>
            <a:r>
              <a:rPr lang="en-GB" sz="1600" dirty="0"/>
              <a:t> namespace contains interfaces and classes that define various collections of objects, such as lists, queues, bit arrays, hash tables and dictionaries. </a:t>
            </a:r>
          </a:p>
          <a:p>
            <a:pPr>
              <a:buNone/>
            </a:pPr>
            <a:r>
              <a:rPr lang="en-GB" sz="1600" dirty="0"/>
              <a:t>Some useful data structures are:</a:t>
            </a:r>
          </a:p>
          <a:p>
            <a:r>
              <a:rPr lang="en-GB" sz="1600" dirty="0" err="1">
                <a:hlinkClick r:id="rId2"/>
              </a:rPr>
              <a:t>ArrayList</a:t>
            </a:r>
            <a:r>
              <a:rPr lang="en-GB" sz="1600" dirty="0"/>
              <a:t> Implements the </a:t>
            </a:r>
            <a:r>
              <a:rPr lang="en-GB" sz="1600" dirty="0" err="1">
                <a:hlinkClick r:id="rId3"/>
              </a:rPr>
              <a:t>IList</a:t>
            </a:r>
            <a:r>
              <a:rPr lang="en-GB" sz="1600" dirty="0"/>
              <a:t> interface using an array whose size is dynamically increased as required. </a:t>
            </a:r>
          </a:p>
          <a:p>
            <a:r>
              <a:rPr lang="en-GB" sz="1600" dirty="0" err="1">
                <a:hlinkClick r:id="rId4"/>
              </a:rPr>
              <a:t>SortedList</a:t>
            </a:r>
            <a:r>
              <a:rPr lang="en-GB" sz="1600" dirty="0"/>
              <a:t> Represents a collection of key/value pairs that are sorted by the keys and are accessible by key and by index</a:t>
            </a:r>
          </a:p>
          <a:p>
            <a:r>
              <a:rPr lang="en-GB" sz="1600" dirty="0"/>
              <a:t>Find out more from the MSDN Web: </a:t>
            </a:r>
          </a:p>
          <a:p>
            <a:pPr lvl="1"/>
            <a:r>
              <a:rPr lang="en-GB" sz="1600" dirty="0">
                <a:hlinkClick r:id="rId5"/>
              </a:rPr>
              <a:t>http://msdn.microsoft.com/en-us/library/k166wx47.aspx</a:t>
            </a:r>
            <a:endParaRPr lang="en-GB" sz="1600" dirty="0"/>
          </a:p>
          <a:p>
            <a:pPr lvl="1"/>
            <a:r>
              <a:rPr lang="en-GB" sz="1600" dirty="0"/>
              <a:t>About </a:t>
            </a:r>
            <a:r>
              <a:rPr lang="en-GB" sz="1600" dirty="0" err="1"/>
              <a:t>System.Collections</a:t>
            </a:r>
            <a:r>
              <a:rPr lang="en-GB" sz="1600" dirty="0"/>
              <a:t> Namespace</a:t>
            </a:r>
          </a:p>
          <a:p>
            <a:pPr lvl="1"/>
            <a:r>
              <a:rPr lang="en-GB" sz="1600" dirty="0"/>
              <a:t>Look into the Class definition, Constructor, Methods, Properties of </a:t>
            </a:r>
            <a:r>
              <a:rPr lang="en-GB" sz="1600" b="1" dirty="0" err="1">
                <a:solidFill>
                  <a:srgbClr val="FF0000"/>
                </a:solidFill>
              </a:rPr>
              <a:t>ArrayList</a:t>
            </a:r>
            <a:r>
              <a:rPr lang="en-GB" sz="1600" dirty="0"/>
              <a:t> and </a:t>
            </a:r>
            <a:r>
              <a:rPr lang="en-GB" sz="1600" b="1" dirty="0" err="1">
                <a:solidFill>
                  <a:srgbClr val="FF0000"/>
                </a:solidFill>
              </a:rPr>
              <a:t>SortedList</a:t>
            </a:r>
            <a:endParaRPr lang="en-GB" sz="1600" b="1" dirty="0">
              <a:solidFill>
                <a:srgbClr val="FF0000"/>
              </a:solidFill>
            </a:endParaRPr>
          </a:p>
          <a:p>
            <a:endParaRPr lang="en-GB" dirty="0"/>
          </a:p>
        </p:txBody>
      </p:sp>
      <p:sp>
        <p:nvSpPr>
          <p:cNvPr id="4" name="Cloud 3"/>
          <p:cNvSpPr/>
          <p:nvPr/>
        </p:nvSpPr>
        <p:spPr bwMode="auto">
          <a:xfrm>
            <a:off x="476250" y="6038850"/>
            <a:ext cx="5353050" cy="2038349"/>
          </a:xfrm>
          <a:prstGeom prst="cloud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Understand how the data structure works.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 It is useful for the project work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pic>
        <p:nvPicPr>
          <p:cNvPr id="6" name="Picture 4" descr="C:\Users\tanail\AppData\Local\Microsoft\Windows\Temporary Internet Files\Content.IE5\WOH74YVD\MC900353912[1]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274" y="6724222"/>
            <a:ext cx="2774793" cy="207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93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3550" y="179388"/>
            <a:ext cx="6048375" cy="954087"/>
          </a:xfrm>
        </p:spPr>
        <p:txBody>
          <a:bodyPr/>
          <a:lstStyle/>
          <a:p>
            <a:r>
              <a:rPr lang="en-GB" sz="2400" dirty="0"/>
              <a:t>Example2:</a:t>
            </a:r>
            <a:br>
              <a:rPr lang="en-GB" dirty="0"/>
            </a:br>
            <a:r>
              <a:rPr lang="en-GB" dirty="0"/>
              <a:t>Application of </a:t>
            </a:r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171575"/>
            <a:ext cx="6267450" cy="3667126"/>
          </a:xfrm>
        </p:spPr>
        <p:txBody>
          <a:bodyPr/>
          <a:lstStyle/>
          <a:p>
            <a:pPr>
              <a:buNone/>
            </a:pPr>
            <a:r>
              <a:rPr lang="en-US" sz="1600" dirty="0"/>
              <a:t>The advantage of using </a:t>
            </a:r>
            <a:r>
              <a:rPr lang="en-US" sz="1600" b="1" dirty="0" err="1">
                <a:solidFill>
                  <a:srgbClr val="008000"/>
                </a:solidFill>
              </a:rPr>
              <a:t>ArrayList</a:t>
            </a:r>
            <a:r>
              <a:rPr lang="en-US" sz="1600" b="1" dirty="0">
                <a:solidFill>
                  <a:srgbClr val="008000"/>
                </a:solidFill>
              </a:rPr>
              <a:t>:</a:t>
            </a:r>
          </a:p>
          <a:p>
            <a:pPr>
              <a:buFont typeface="Wingdings" pitchFamily="2" charset="2"/>
              <a:buChar char="§"/>
            </a:pPr>
            <a:r>
              <a:rPr lang="en-US" sz="1600" dirty="0"/>
              <a:t>It </a:t>
            </a:r>
            <a:r>
              <a:rPr lang="en-US" sz="1600" dirty="0">
                <a:solidFill>
                  <a:schemeClr val="accent2"/>
                </a:solidFill>
              </a:rPr>
              <a:t>resizes</a:t>
            </a:r>
            <a:r>
              <a:rPr lang="en-US" sz="1600" dirty="0"/>
              <a:t> itself when the array is out of storage space.</a:t>
            </a:r>
          </a:p>
          <a:p>
            <a:pPr>
              <a:buFont typeface="Wingdings" pitchFamily="2" charset="2"/>
              <a:buChar char="§"/>
            </a:pPr>
            <a:r>
              <a:rPr lang="en-US" sz="1600" dirty="0"/>
              <a:t>It provides method to </a:t>
            </a:r>
            <a:r>
              <a:rPr lang="en-US" sz="1600" dirty="0">
                <a:solidFill>
                  <a:schemeClr val="accent2"/>
                </a:solidFill>
              </a:rPr>
              <a:t>sort</a:t>
            </a:r>
            <a:r>
              <a:rPr lang="en-US" sz="1600" dirty="0"/>
              <a:t> ALL items in the </a:t>
            </a:r>
            <a:r>
              <a:rPr lang="en-US" sz="1600" dirty="0" err="1"/>
              <a:t>arraylist</a:t>
            </a:r>
            <a:r>
              <a:rPr lang="en-US" sz="1600" dirty="0"/>
              <a:t>.</a:t>
            </a:r>
          </a:p>
          <a:p>
            <a:pPr>
              <a:buNone/>
            </a:pPr>
            <a:r>
              <a:rPr lang="en-US" sz="1600" dirty="0"/>
              <a:t> But </a:t>
            </a:r>
            <a:r>
              <a:rPr lang="en-US" sz="1600" b="1" dirty="0" err="1">
                <a:solidFill>
                  <a:srgbClr val="008000"/>
                </a:solidFill>
              </a:rPr>
              <a:t>ArrayList</a:t>
            </a:r>
            <a:r>
              <a:rPr lang="en-US" sz="1600" b="1" dirty="0">
                <a:solidFill>
                  <a:srgbClr val="008000"/>
                </a:solidFill>
              </a:rPr>
              <a:t> </a:t>
            </a:r>
            <a:r>
              <a:rPr lang="en-US" sz="1600" dirty="0"/>
              <a:t>are not used like standard arrays. 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/>
              <a:t>This example shows how to add an item (string </a:t>
            </a:r>
            <a:r>
              <a:rPr lang="en-US" sz="1600" dirty="0" err="1"/>
              <a:t>CustomerName</a:t>
            </a:r>
            <a:r>
              <a:rPr lang="en-US" sz="1600" dirty="0"/>
              <a:t>) using </a:t>
            </a:r>
            <a:r>
              <a:rPr lang="en-US" sz="1600" b="1" dirty="0" err="1">
                <a:solidFill>
                  <a:srgbClr val="008000"/>
                </a:solidFill>
              </a:rPr>
              <a:t>ArrayList</a:t>
            </a:r>
            <a:r>
              <a:rPr lang="en-US" sz="1600" dirty="0"/>
              <a:t>.</a:t>
            </a:r>
          </a:p>
          <a:p>
            <a:pPr>
              <a:buFontTx/>
              <a:buChar char="-"/>
            </a:pPr>
            <a:r>
              <a:rPr lang="en-US" sz="1600" dirty="0"/>
              <a:t>Program reads in customer’s name </a:t>
            </a:r>
          </a:p>
          <a:p>
            <a:pPr>
              <a:buFontTx/>
              <a:buChar char="-"/>
            </a:pPr>
            <a:r>
              <a:rPr lang="en-US" sz="1600" dirty="0"/>
              <a:t>Implement a </a:t>
            </a:r>
            <a:r>
              <a:rPr lang="en-US" sz="1600" b="1" dirty="0" err="1">
                <a:solidFill>
                  <a:srgbClr val="008000"/>
                </a:solidFill>
              </a:rPr>
              <a:t>ArrayList</a:t>
            </a:r>
            <a:r>
              <a:rPr lang="en-US" sz="1600" dirty="0"/>
              <a:t> class to do the following :</a:t>
            </a:r>
          </a:p>
          <a:p>
            <a:pPr lvl="1">
              <a:buFontTx/>
              <a:buChar char="-"/>
            </a:pPr>
            <a:r>
              <a:rPr lang="en-US" sz="1600" b="1" dirty="0"/>
              <a:t>Add item</a:t>
            </a:r>
          </a:p>
          <a:p>
            <a:pPr lvl="1">
              <a:buFontTx/>
              <a:buChar char="-"/>
            </a:pPr>
            <a:r>
              <a:rPr lang="en-US" sz="1600" b="1" dirty="0"/>
              <a:t>Sort item</a:t>
            </a:r>
          </a:p>
          <a:p>
            <a:pPr lvl="1">
              <a:buFontTx/>
              <a:buChar char="-"/>
            </a:pPr>
            <a:r>
              <a:rPr lang="en-US" sz="1600" b="1" dirty="0"/>
              <a:t>Print item</a:t>
            </a:r>
          </a:p>
        </p:txBody>
      </p:sp>
      <p:pic>
        <p:nvPicPr>
          <p:cNvPr id="2" name="Picture 1" descr="Ex2_ArrayLis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34" y="4790915"/>
            <a:ext cx="4625741" cy="3657917"/>
          </a:xfrm>
          <a:prstGeom prst="rect">
            <a:avLst/>
          </a:prstGeom>
        </p:spPr>
      </p:pic>
      <p:pic>
        <p:nvPicPr>
          <p:cNvPr id="6" name="Picture 4" descr="C:\Users\tanail\AppData\Local\Microsoft\Windows\Temporary Internet Files\Content.IE5\WOH74YVD\MC90035391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274" y="6724222"/>
            <a:ext cx="2774793" cy="207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4874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3550" y="179388"/>
            <a:ext cx="6048375" cy="954087"/>
          </a:xfrm>
        </p:spPr>
        <p:txBody>
          <a:bodyPr/>
          <a:lstStyle/>
          <a:p>
            <a:r>
              <a:rPr lang="en-GB" sz="2400" dirty="0"/>
              <a:t>Example2:</a:t>
            </a:r>
            <a:br>
              <a:rPr lang="en-GB" dirty="0"/>
            </a:br>
            <a:r>
              <a:rPr lang="en-GB" dirty="0"/>
              <a:t>Application of </a:t>
            </a:r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1305610"/>
            <a:ext cx="56007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SG" sz="1400" b="1" dirty="0">
                <a:solidFill>
                  <a:srgbClr val="008000"/>
                </a:solidFill>
              </a:rPr>
              <a:t>// To use </a:t>
            </a:r>
            <a:r>
              <a:rPr lang="en-SG" sz="1400" b="1" dirty="0" err="1">
                <a:solidFill>
                  <a:srgbClr val="008000"/>
                </a:solidFill>
              </a:rPr>
              <a:t>ArrayList</a:t>
            </a:r>
            <a:r>
              <a:rPr lang="en-SG" sz="1400" b="1" dirty="0">
                <a:solidFill>
                  <a:srgbClr val="008000"/>
                </a:solidFill>
              </a:rPr>
              <a:t> class</a:t>
            </a:r>
          </a:p>
          <a:p>
            <a:r>
              <a:rPr lang="en-SG" sz="1400" dirty="0"/>
              <a:t>using </a:t>
            </a:r>
            <a:r>
              <a:rPr lang="en-SG" sz="1400" dirty="0" err="1"/>
              <a:t>System.Collections</a:t>
            </a:r>
            <a:r>
              <a:rPr lang="en-SG" sz="1400" dirty="0"/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725" y="1914138"/>
            <a:ext cx="6229350" cy="65556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SG" sz="1400" b="1" dirty="0">
                <a:solidFill>
                  <a:srgbClr val="008000"/>
                </a:solidFill>
              </a:rPr>
              <a:t> //create </a:t>
            </a:r>
            <a:r>
              <a:rPr lang="en-SG" sz="1400" b="1" dirty="0" err="1">
                <a:solidFill>
                  <a:srgbClr val="008000"/>
                </a:solidFill>
              </a:rPr>
              <a:t>ArrayList</a:t>
            </a:r>
            <a:r>
              <a:rPr lang="en-SG" sz="1400" b="1" dirty="0">
                <a:solidFill>
                  <a:srgbClr val="008000"/>
                </a:solidFill>
              </a:rPr>
              <a:t> object</a:t>
            </a:r>
          </a:p>
          <a:p>
            <a:r>
              <a:rPr lang="en-SG" sz="1400" dirty="0"/>
              <a:t>        </a:t>
            </a:r>
            <a:r>
              <a:rPr lang="en-SG" sz="1400" dirty="0" err="1">
                <a:solidFill>
                  <a:schemeClr val="accent2"/>
                </a:solidFill>
              </a:rPr>
              <a:t>ArrayList</a:t>
            </a:r>
            <a:r>
              <a:rPr lang="en-SG" sz="1400" dirty="0"/>
              <a:t> </a:t>
            </a:r>
            <a:r>
              <a:rPr lang="en-SG" sz="1400" dirty="0" err="1"/>
              <a:t>CustomerAL</a:t>
            </a:r>
            <a:r>
              <a:rPr lang="en-SG" sz="1400" dirty="0"/>
              <a:t> = new </a:t>
            </a:r>
            <a:r>
              <a:rPr lang="en-SG" sz="1400" dirty="0" err="1">
                <a:solidFill>
                  <a:schemeClr val="accent2"/>
                </a:solidFill>
              </a:rPr>
              <a:t>ArrayList</a:t>
            </a:r>
            <a:r>
              <a:rPr lang="en-SG" sz="1400" dirty="0"/>
              <a:t>();</a:t>
            </a:r>
          </a:p>
          <a:p>
            <a:endParaRPr lang="en-SG" sz="1400" dirty="0"/>
          </a:p>
          <a:p>
            <a:r>
              <a:rPr lang="en-SG" sz="1400" dirty="0"/>
              <a:t>        private void </a:t>
            </a:r>
            <a:r>
              <a:rPr lang="en-SG" sz="1400" dirty="0" err="1"/>
              <a:t>BtnAddItem_Click</a:t>
            </a:r>
            <a:r>
              <a:rPr lang="en-SG" sz="1400" dirty="0"/>
              <a:t>(object sender, </a:t>
            </a:r>
            <a:r>
              <a:rPr lang="en-SG" sz="1400" dirty="0" err="1"/>
              <a:t>EventArgs</a:t>
            </a:r>
            <a:r>
              <a:rPr lang="en-SG" sz="1400" dirty="0"/>
              <a:t> e)</a:t>
            </a:r>
          </a:p>
          <a:p>
            <a:r>
              <a:rPr lang="en-SG" sz="1400" dirty="0"/>
              <a:t>        {</a:t>
            </a:r>
          </a:p>
          <a:p>
            <a:r>
              <a:rPr lang="en-SG" sz="1400" dirty="0"/>
              <a:t>            string </a:t>
            </a:r>
            <a:r>
              <a:rPr lang="en-SG" sz="1400" dirty="0" err="1"/>
              <a:t>custName</a:t>
            </a:r>
            <a:r>
              <a:rPr lang="en-SG" sz="1400" dirty="0"/>
              <a:t> = </a:t>
            </a:r>
            <a:r>
              <a:rPr lang="en-SG" sz="1400" dirty="0" err="1"/>
              <a:t>txtCustName.Text</a:t>
            </a:r>
            <a:r>
              <a:rPr lang="en-SG" sz="1400" dirty="0"/>
              <a:t>;</a:t>
            </a:r>
          </a:p>
          <a:p>
            <a:endParaRPr lang="en-SG" sz="1400" dirty="0"/>
          </a:p>
          <a:p>
            <a:r>
              <a:rPr lang="en-SG" sz="1400" b="1" dirty="0">
                <a:solidFill>
                  <a:srgbClr val="008000"/>
                </a:solidFill>
              </a:rPr>
              <a:t>            // add an item</a:t>
            </a:r>
          </a:p>
          <a:p>
            <a:r>
              <a:rPr lang="en-SG" sz="1400" dirty="0"/>
              <a:t>            </a:t>
            </a:r>
            <a:r>
              <a:rPr lang="en-SG" sz="1400" dirty="0" err="1"/>
              <a:t>CustomerAL.</a:t>
            </a:r>
            <a:r>
              <a:rPr lang="en-SG" sz="1400" dirty="0" err="1">
                <a:solidFill>
                  <a:schemeClr val="accent2"/>
                </a:solidFill>
              </a:rPr>
              <a:t>Add</a:t>
            </a:r>
            <a:r>
              <a:rPr lang="en-SG" sz="1400" dirty="0"/>
              <a:t>(</a:t>
            </a:r>
            <a:r>
              <a:rPr lang="en-SG" sz="1400" dirty="0" err="1"/>
              <a:t>custName</a:t>
            </a:r>
            <a:r>
              <a:rPr lang="en-SG" sz="1400" dirty="0"/>
              <a:t>);</a:t>
            </a:r>
          </a:p>
          <a:p>
            <a:r>
              <a:rPr lang="en-SG" sz="1400" dirty="0"/>
              <a:t>            </a:t>
            </a:r>
            <a:r>
              <a:rPr lang="en-SG" sz="1400" dirty="0" err="1"/>
              <a:t>rtbResult.AppendText</a:t>
            </a:r>
            <a:r>
              <a:rPr lang="en-SG" sz="1400" dirty="0"/>
              <a:t>("Customer names :" + </a:t>
            </a:r>
            <a:r>
              <a:rPr lang="en-SG" sz="1400" dirty="0" err="1"/>
              <a:t>custName</a:t>
            </a:r>
            <a:r>
              <a:rPr lang="en-SG" sz="1400" dirty="0"/>
              <a:t> + " added\n");</a:t>
            </a:r>
          </a:p>
          <a:p>
            <a:endParaRPr lang="en-SG" sz="1400" dirty="0"/>
          </a:p>
          <a:p>
            <a:r>
              <a:rPr lang="en-SG" sz="1400" dirty="0"/>
              <a:t>        }</a:t>
            </a:r>
          </a:p>
          <a:p>
            <a:endParaRPr lang="en-SG" sz="1400" dirty="0"/>
          </a:p>
          <a:p>
            <a:r>
              <a:rPr lang="en-SG" sz="1400" dirty="0"/>
              <a:t>        private void </a:t>
            </a:r>
            <a:r>
              <a:rPr lang="en-SG" sz="1400" dirty="0" err="1"/>
              <a:t>BtnSort_Click</a:t>
            </a:r>
            <a:r>
              <a:rPr lang="en-SG" sz="1400" dirty="0"/>
              <a:t>(object sender, </a:t>
            </a:r>
            <a:r>
              <a:rPr lang="en-SG" sz="1400" dirty="0" err="1"/>
              <a:t>EventArgs</a:t>
            </a:r>
            <a:r>
              <a:rPr lang="en-SG" sz="1400" dirty="0"/>
              <a:t> e)</a:t>
            </a:r>
          </a:p>
          <a:p>
            <a:r>
              <a:rPr lang="en-SG" sz="1400" dirty="0"/>
              <a:t>        {</a:t>
            </a:r>
          </a:p>
          <a:p>
            <a:r>
              <a:rPr lang="en-SG" sz="1400" dirty="0"/>
              <a:t>            </a:t>
            </a:r>
            <a:r>
              <a:rPr lang="en-SG" sz="1400" dirty="0" err="1"/>
              <a:t>CustomerAL.Sort</a:t>
            </a:r>
            <a:r>
              <a:rPr lang="en-SG" sz="1400" dirty="0"/>
              <a:t>();</a:t>
            </a:r>
            <a:r>
              <a:rPr lang="en-SG" sz="1400" b="1" dirty="0">
                <a:solidFill>
                  <a:srgbClr val="008000"/>
                </a:solidFill>
              </a:rPr>
              <a:t> // sort </a:t>
            </a:r>
            <a:r>
              <a:rPr lang="en-SG" sz="1400" b="1" dirty="0" err="1">
                <a:solidFill>
                  <a:srgbClr val="008000"/>
                </a:solidFill>
              </a:rPr>
              <a:t>arraylist</a:t>
            </a:r>
            <a:endParaRPr lang="en-SG" sz="1400" b="1" dirty="0">
              <a:solidFill>
                <a:srgbClr val="008000"/>
              </a:solidFill>
            </a:endParaRPr>
          </a:p>
          <a:p>
            <a:r>
              <a:rPr lang="en-SG" sz="1400" dirty="0"/>
              <a:t>            </a:t>
            </a:r>
            <a:r>
              <a:rPr lang="en-SG" sz="1400" dirty="0" err="1"/>
              <a:t>rtbResult.AppendText</a:t>
            </a:r>
            <a:r>
              <a:rPr lang="en-SG" sz="1400" dirty="0"/>
              <a:t>("Customer names sorted\n");</a:t>
            </a:r>
          </a:p>
          <a:p>
            <a:r>
              <a:rPr lang="en-SG" sz="1400" dirty="0"/>
              <a:t>        }</a:t>
            </a:r>
          </a:p>
          <a:p>
            <a:endParaRPr lang="en-SG" sz="1400" dirty="0"/>
          </a:p>
          <a:p>
            <a:r>
              <a:rPr lang="en-SG" sz="1400" dirty="0"/>
              <a:t>        private void </a:t>
            </a:r>
            <a:r>
              <a:rPr lang="en-SG" sz="1400" dirty="0" err="1"/>
              <a:t>BtnPrint_Click</a:t>
            </a:r>
            <a:r>
              <a:rPr lang="en-SG" sz="1400" dirty="0"/>
              <a:t>(object sender, </a:t>
            </a:r>
            <a:r>
              <a:rPr lang="en-SG" sz="1400" dirty="0" err="1"/>
              <a:t>EventArgs</a:t>
            </a:r>
            <a:r>
              <a:rPr lang="en-SG" sz="1400" dirty="0"/>
              <a:t> e)</a:t>
            </a:r>
          </a:p>
          <a:p>
            <a:r>
              <a:rPr lang="en-SG" sz="1400" dirty="0"/>
              <a:t>        {</a:t>
            </a:r>
          </a:p>
          <a:p>
            <a:r>
              <a:rPr lang="en-SG" sz="1400" dirty="0"/>
              <a:t>            </a:t>
            </a:r>
            <a:r>
              <a:rPr lang="en-SG" sz="1400" dirty="0" err="1"/>
              <a:t>rtbResult.AppendText</a:t>
            </a:r>
            <a:r>
              <a:rPr lang="en-SG" sz="1400" dirty="0"/>
              <a:t>(" Items in array list are: ");</a:t>
            </a:r>
          </a:p>
          <a:p>
            <a:r>
              <a:rPr lang="en-SG" sz="1400" dirty="0"/>
              <a:t>            </a:t>
            </a:r>
            <a:r>
              <a:rPr lang="en-SG" sz="1400" b="1" dirty="0">
                <a:solidFill>
                  <a:srgbClr val="008000"/>
                </a:solidFill>
              </a:rPr>
              <a:t>// printing all items</a:t>
            </a:r>
          </a:p>
          <a:p>
            <a:r>
              <a:rPr lang="en-SG" sz="1400" dirty="0"/>
              <a:t>            </a:t>
            </a:r>
            <a:r>
              <a:rPr lang="en-SG" sz="1400" dirty="0" err="1"/>
              <a:t>foreach</a:t>
            </a:r>
            <a:r>
              <a:rPr lang="en-SG" sz="1400" dirty="0"/>
              <a:t> (</a:t>
            </a:r>
            <a:r>
              <a:rPr lang="en-SG" sz="1400" dirty="0">
                <a:solidFill>
                  <a:schemeClr val="accent2"/>
                </a:solidFill>
              </a:rPr>
              <a:t>string item in </a:t>
            </a:r>
            <a:r>
              <a:rPr lang="en-SG" sz="1400" dirty="0" err="1">
                <a:solidFill>
                  <a:schemeClr val="accent2"/>
                </a:solidFill>
              </a:rPr>
              <a:t>CustomerAL</a:t>
            </a:r>
            <a:r>
              <a:rPr lang="en-SG" sz="1400" dirty="0"/>
              <a:t>)</a:t>
            </a:r>
          </a:p>
          <a:p>
            <a:r>
              <a:rPr lang="en-SG" sz="1400" dirty="0"/>
              <a:t>            {</a:t>
            </a:r>
          </a:p>
          <a:p>
            <a:r>
              <a:rPr lang="en-SG" sz="1400" dirty="0"/>
              <a:t>                </a:t>
            </a:r>
            <a:r>
              <a:rPr lang="en-SG" sz="1400" dirty="0" err="1"/>
              <a:t>rtbResult.AppendText</a:t>
            </a:r>
            <a:r>
              <a:rPr lang="en-SG" sz="1400" dirty="0"/>
              <a:t>(item + "  ");</a:t>
            </a:r>
          </a:p>
          <a:p>
            <a:r>
              <a:rPr lang="en-SG" sz="1400" dirty="0"/>
              <a:t>            }</a:t>
            </a:r>
          </a:p>
          <a:p>
            <a:endParaRPr lang="en-SG" sz="1400" dirty="0"/>
          </a:p>
          <a:p>
            <a:r>
              <a:rPr lang="en-SG" sz="1400" dirty="0"/>
              <a:t>            </a:t>
            </a:r>
            <a:r>
              <a:rPr lang="en-SG" sz="1400" dirty="0" err="1"/>
              <a:t>rtbResult.AppendText</a:t>
            </a:r>
            <a:r>
              <a:rPr lang="en-SG" sz="1400" dirty="0"/>
              <a:t>("\n");</a:t>
            </a:r>
          </a:p>
          <a:p>
            <a:r>
              <a:rPr lang="en-SG" sz="1400" dirty="0"/>
              <a:t>        }</a:t>
            </a:r>
          </a:p>
        </p:txBody>
      </p:sp>
      <p:pic>
        <p:nvPicPr>
          <p:cNvPr id="10" name="Picture 4" descr="C:\Users\tanail\AppData\Local\Microsoft\Windows\Temporary Internet Files\Content.IE5\WOH74YVD\MC900353912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274" y="6724222"/>
            <a:ext cx="2774793" cy="207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77495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6172200" cy="923925"/>
          </a:xfrm>
        </p:spPr>
        <p:txBody>
          <a:bodyPr/>
          <a:lstStyle/>
          <a:p>
            <a:r>
              <a:rPr lang="en-GB" sz="2400" b="1" dirty="0"/>
              <a:t>Practical 6:	</a:t>
            </a:r>
            <a:br>
              <a:rPr lang="en-GB" sz="2400" b="1" dirty="0"/>
            </a:br>
            <a:r>
              <a:rPr lang="en-GB" sz="2400" b="1" dirty="0"/>
              <a:t>Advanced Data Structures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455" y="1333500"/>
            <a:ext cx="6224569" cy="4105275"/>
          </a:xfrm>
        </p:spPr>
        <p:txBody>
          <a:bodyPr/>
          <a:lstStyle/>
          <a:p>
            <a:pPr>
              <a:buNone/>
            </a:pPr>
            <a:r>
              <a:rPr lang="en-GB" sz="2000" dirty="0"/>
              <a:t>1. There is a list of card numbers: </a:t>
            </a:r>
            <a:r>
              <a:rPr lang="en-GB" sz="2000" b="1" dirty="0">
                <a:solidFill>
                  <a:srgbClr val="FF0000"/>
                </a:solidFill>
              </a:rPr>
              <a:t>20 10 30 45 22 3</a:t>
            </a:r>
          </a:p>
          <a:p>
            <a:pPr>
              <a:buNone/>
            </a:pPr>
            <a:r>
              <a:rPr lang="en-GB" sz="2000" dirty="0"/>
              <a:t>Complete the following tasks:</a:t>
            </a:r>
          </a:p>
          <a:p>
            <a:pPr lvl="1">
              <a:buFont typeface="Wingdings" pitchFamily="2" charset="2"/>
              <a:buChar char="Ø"/>
            </a:pPr>
            <a:r>
              <a:rPr lang="en-GB" sz="2000" dirty="0"/>
              <a:t> Draw a sorted binary tree for the above nodes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</a:rPr>
              <a:t>Traverse the sorted binary tree in </a:t>
            </a:r>
            <a:r>
              <a:rPr lang="en-US" sz="2000" dirty="0" err="1">
                <a:solidFill>
                  <a:srgbClr val="000000"/>
                </a:solidFill>
              </a:rPr>
              <a:t>inorder</a:t>
            </a:r>
            <a:r>
              <a:rPr lang="en-US" sz="2000" dirty="0">
                <a:solidFill>
                  <a:srgbClr val="000000"/>
                </a:solidFill>
              </a:rPr>
              <a:t> (LVR). Hints - the card numbers will be arranged in ascending order.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</a:rPr>
              <a:t>Traverse the sorted binary tree in preorder (VLR)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</a:rPr>
              <a:t>Traverse the sorted binary tree in </a:t>
            </a:r>
            <a:r>
              <a:rPr lang="en-US" sz="2000" dirty="0" err="1">
                <a:solidFill>
                  <a:srgbClr val="000000"/>
                </a:solidFill>
              </a:rPr>
              <a:t>postorder</a:t>
            </a:r>
            <a:r>
              <a:rPr lang="en-US" sz="2000" dirty="0">
                <a:solidFill>
                  <a:srgbClr val="000000"/>
                </a:solidFill>
              </a:rPr>
              <a:t> (LRV)</a:t>
            </a:r>
          </a:p>
          <a:p>
            <a:pPr lvl="1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42812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>
          <a:xfrm>
            <a:off x="466704" y="1257272"/>
            <a:ext cx="6048396" cy="744381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30000"/>
              </a:spcBef>
              <a:buNone/>
            </a:pPr>
            <a:r>
              <a:rPr lang="en-GB" sz="1600" dirty="0"/>
              <a:t>2. An insurance company needs to have a stack object so that it can store the menu numbers that a customer has selected on their dial-up customer service hotline. Implement a stack to Push an order when it receives a menu number (</a:t>
            </a:r>
            <a:r>
              <a:rPr lang="en-GB" sz="1600" dirty="0" err="1"/>
              <a:t>int</a:t>
            </a:r>
            <a:r>
              <a:rPr lang="en-GB" sz="1600" dirty="0"/>
              <a:t>) and Pop the menu number when it is being served. It allows user to print the stack list too.</a:t>
            </a:r>
          </a:p>
          <a:p>
            <a:pPr marL="342900" indent="-342900">
              <a:lnSpc>
                <a:spcPct val="100000"/>
              </a:lnSpc>
              <a:spcBef>
                <a:spcPct val="30000"/>
              </a:spcBef>
              <a:buFontTx/>
              <a:buAutoNum type="alphaLcParenR"/>
            </a:pPr>
            <a:r>
              <a:rPr lang="en-GB" sz="1600" dirty="0"/>
              <a:t>Create a window application using a stack object. It allows user to push or pop or print menu numbers on the stack. </a:t>
            </a:r>
          </a:p>
          <a:p>
            <a:pPr marL="342900" indent="-342900">
              <a:lnSpc>
                <a:spcPct val="100000"/>
              </a:lnSpc>
              <a:spcBef>
                <a:spcPct val="30000"/>
              </a:spcBef>
              <a:buFontTx/>
              <a:buAutoNum type="alphaLcParenR"/>
            </a:pPr>
            <a:r>
              <a:rPr lang="en-GB" sz="1600" dirty="0"/>
              <a:t>Prompt error message when user attempts to pop an empty stack.</a:t>
            </a:r>
          </a:p>
          <a:p>
            <a:pPr>
              <a:buNone/>
            </a:pPr>
            <a:r>
              <a:rPr lang="en-US" sz="1600" b="1" dirty="0"/>
              <a:t> Hints:</a:t>
            </a:r>
          </a:p>
          <a:p>
            <a:pPr lvl="1">
              <a:buNone/>
            </a:pPr>
            <a:r>
              <a:rPr lang="en-US" sz="1600" dirty="0"/>
              <a:t>Visit the online MSDN library on how to apply STACK object</a:t>
            </a:r>
          </a:p>
          <a:p>
            <a:pPr>
              <a:lnSpc>
                <a:spcPct val="100000"/>
              </a:lnSpc>
              <a:buNone/>
            </a:pPr>
            <a:r>
              <a:rPr lang="en-US" sz="1600" dirty="0">
                <a:hlinkClick r:id="rId2"/>
              </a:rPr>
              <a:t>http://msdn.microsoft.com/en-us/library/system.collections.stack.aspx</a:t>
            </a:r>
            <a:endParaRPr lang="en-US" sz="1600" dirty="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6172200" cy="923925"/>
          </a:xfrm>
        </p:spPr>
        <p:txBody>
          <a:bodyPr/>
          <a:lstStyle/>
          <a:p>
            <a:r>
              <a:rPr lang="en-GB" sz="2400" b="1" dirty="0"/>
              <a:t>Practical 6:	</a:t>
            </a:r>
            <a:br>
              <a:rPr lang="en-GB" sz="2400" b="1" dirty="0"/>
            </a:br>
            <a:r>
              <a:rPr lang="en-GB" sz="2400" b="1" dirty="0"/>
              <a:t>Advanced Data Structures</a:t>
            </a:r>
            <a:endParaRPr lang="en-US" sz="2400" dirty="0"/>
          </a:p>
        </p:txBody>
      </p:sp>
      <p:pic>
        <p:nvPicPr>
          <p:cNvPr id="2" name="Picture 1" descr="Q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07" y="5413880"/>
            <a:ext cx="4549535" cy="300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788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67" y="1166785"/>
            <a:ext cx="6238881" cy="1204940"/>
          </a:xfrm>
        </p:spPr>
        <p:txBody>
          <a:bodyPr/>
          <a:lstStyle/>
          <a:p>
            <a:pPr>
              <a:buNone/>
            </a:pPr>
            <a:r>
              <a:rPr lang="en-GB" sz="2400" dirty="0"/>
              <a:t>3. Knowing how the </a:t>
            </a:r>
            <a:r>
              <a:rPr lang="en-GB" sz="2400" b="1" dirty="0"/>
              <a:t>QUEUE and ARRAYLIST</a:t>
            </a:r>
            <a:r>
              <a:rPr lang="en-GB" sz="2400" dirty="0"/>
              <a:t> objects work,  are you ready to apply these objects for your project? 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1031" name="Picture 7" descr="C:\temp\Temporary Internet Files\Content.IE5\KLAVS5E7\MPj04412370000[1].jpg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05957" y="2647949"/>
            <a:ext cx="6073667" cy="3829051"/>
          </a:xfrm>
          <a:prstGeom prst="rect">
            <a:avLst/>
          </a:prstGeom>
          <a:noFill/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6172200" cy="923925"/>
          </a:xfrm>
        </p:spPr>
        <p:txBody>
          <a:bodyPr/>
          <a:lstStyle/>
          <a:p>
            <a:r>
              <a:rPr lang="en-GB" sz="2400" b="1" dirty="0"/>
              <a:t>Practical 7:	</a:t>
            </a:r>
            <a:br>
              <a:rPr lang="en-GB" sz="2400" b="1" dirty="0"/>
            </a:br>
            <a:r>
              <a:rPr lang="en-GB" sz="2400" b="1" dirty="0"/>
              <a:t>Advanced Data Structures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4734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58875" y="1524000"/>
            <a:ext cx="4972050" cy="2946400"/>
          </a:xfrm>
        </p:spPr>
        <p:txBody>
          <a:bodyPr/>
          <a:lstStyle/>
          <a:p>
            <a:pPr algn="r" eaLnBrk="1" hangingPunct="1"/>
            <a:r>
              <a:rPr lang="en-GB"/>
              <a:t>IT1762</a:t>
            </a:r>
            <a:br>
              <a:rPr lang="en-GB"/>
            </a:br>
            <a:r>
              <a:rPr lang="en-GB"/>
              <a:t>Data Structures &amp;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47700" y="5138738"/>
            <a:ext cx="5834063" cy="2336800"/>
          </a:xfrm>
        </p:spPr>
        <p:txBody>
          <a:bodyPr/>
          <a:lstStyle/>
          <a:p>
            <a:pPr eaLnBrk="1" hangingPunct="1"/>
            <a:r>
              <a:rPr lang="en-SG" sz="3200" dirty="0">
                <a:solidFill>
                  <a:srgbClr val="FF0000"/>
                </a:solidFill>
              </a:rPr>
              <a:t>End of </a:t>
            </a:r>
            <a:r>
              <a:rPr lang="en-SG" sz="3200">
                <a:solidFill>
                  <a:srgbClr val="FF0000"/>
                </a:solidFill>
              </a:rPr>
              <a:t>Topic 6</a:t>
            </a:r>
            <a:endParaRPr lang="en-SG" sz="3200" dirty="0">
              <a:solidFill>
                <a:srgbClr val="FF0000"/>
              </a:solidFill>
            </a:endParaRPr>
          </a:p>
          <a:p>
            <a:pPr eaLnBrk="1" hangingPunct="1"/>
            <a:r>
              <a:rPr lang="en-SG" sz="3200" dirty="0">
                <a:solidFill>
                  <a:srgbClr val="FF0000"/>
                </a:solidFill>
              </a:rPr>
              <a:t>Advanced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18880526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4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6698</TotalTime>
  <Words>2726</Words>
  <Application>Microsoft Office PowerPoint</Application>
  <PresentationFormat>On-screen Show (4:3)</PresentationFormat>
  <Paragraphs>691</Paragraphs>
  <Slides>46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MS PGothic</vt:lpstr>
      <vt:lpstr>Arial</vt:lpstr>
      <vt:lpstr>Comic Sans MS</vt:lpstr>
      <vt:lpstr>Courier New</vt:lpstr>
      <vt:lpstr>Times</vt:lpstr>
      <vt:lpstr>Times New Roman</vt:lpstr>
      <vt:lpstr>Trebuchet MS</vt:lpstr>
      <vt:lpstr>Verdana</vt:lpstr>
      <vt:lpstr>Wingdings</vt:lpstr>
      <vt:lpstr>1_Layers</vt:lpstr>
      <vt:lpstr>IT1762 Data Structures &amp; Algorithms</vt:lpstr>
      <vt:lpstr>Objectives</vt:lpstr>
      <vt:lpstr>Queue</vt:lpstr>
      <vt:lpstr>PowerPoint Presentation</vt:lpstr>
      <vt:lpstr>MSDN website</vt:lpstr>
      <vt:lpstr>PowerPoint Presentation</vt:lpstr>
      <vt:lpstr>Example1: Application of Queue</vt:lpstr>
      <vt:lpstr>Example1: Application of Queue</vt:lpstr>
      <vt:lpstr>Example1: Application of Queue</vt:lpstr>
      <vt:lpstr>Example1: Application of Queue</vt:lpstr>
      <vt:lpstr>PowerPoint Presentation</vt:lpstr>
      <vt:lpstr>Stacks – Push &amp; Pop</vt:lpstr>
      <vt:lpstr>Stacks – Methods &amp; Properties</vt:lpstr>
      <vt:lpstr>Stacks – Push &amp; Pop</vt:lpstr>
      <vt:lpstr>MSDN website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Binary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Summary: Tree traversals using “flags”</vt:lpstr>
      <vt:lpstr>Tree traversals </vt:lpstr>
      <vt:lpstr>PowerPoint Presentation</vt:lpstr>
      <vt:lpstr>PowerPoint Presentation</vt:lpstr>
      <vt:lpstr>Sorted Binary Tree</vt:lpstr>
      <vt:lpstr>PowerPoint Presentation</vt:lpstr>
      <vt:lpstr>Sample of Binary Tree</vt:lpstr>
      <vt:lpstr>PowerPoint Presentation</vt:lpstr>
      <vt:lpstr>ArrayList / Sorted List</vt:lpstr>
      <vt:lpstr>Example2: Application of ArrayList</vt:lpstr>
      <vt:lpstr>Example2: Application of ArrayList</vt:lpstr>
      <vt:lpstr>Practical 6:  Advanced Data Structures</vt:lpstr>
      <vt:lpstr>Practical 6:  Advanced Data Structures</vt:lpstr>
      <vt:lpstr>Practical 7:  Advanced Data Structures</vt:lpstr>
      <vt:lpstr>IT1762 Data Structures &amp; Algorithms</vt:lpstr>
    </vt:vector>
  </TitlesOfParts>
  <Company>Nanyang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Computing</dc:title>
  <dc:creator>NYP</dc:creator>
  <cp:lastModifiedBy>TAN AI LIAN</cp:lastModifiedBy>
  <cp:revision>361</cp:revision>
  <cp:lastPrinted>2011-12-16T06:11:10Z</cp:lastPrinted>
  <dcterms:created xsi:type="dcterms:W3CDTF">2003-02-28T08:34:47Z</dcterms:created>
  <dcterms:modified xsi:type="dcterms:W3CDTF">2018-09-25T06:10:19Z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D31F2F8C-0B93-40A6-A30D-DB96DB62C95C</vt:lpwstr>
  </property>
  <property fmtid="{D5CDD505-2E9C-101B-9397-08002B2CF9AE}" pid="3" name="ArticulatePath">
    <vt:lpwstr>IT1762 Topic 6 - Advanced Data Structures v6</vt:lpwstr>
  </property>
</Properties>
</file>